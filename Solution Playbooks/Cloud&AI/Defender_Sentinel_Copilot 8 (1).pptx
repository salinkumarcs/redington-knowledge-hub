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145708206" r:id="rId2"/>
    <p:sldId id="2147479982" r:id="rId3"/>
    <p:sldId id="2147479966" r:id="rId4"/>
    <p:sldId id="2147479965" r:id="rId5"/>
    <p:sldId id="2147479977" r:id="rId6"/>
    <p:sldId id="2147479964" r:id="rId7"/>
    <p:sldId id="2147479978" r:id="rId8"/>
    <p:sldId id="2147479974" r:id="rId9"/>
    <p:sldId id="2147479969" r:id="rId10"/>
    <p:sldId id="2147479979" r:id="rId11"/>
    <p:sldId id="2147479980" r:id="rId12"/>
    <p:sldId id="2147479983" r:id="rId13"/>
    <p:sldId id="2147479984" r:id="rId14"/>
    <p:sldId id="2147479981" r:id="rId15"/>
    <p:sldId id="2145708207" r:id="rId16"/>
    <p:sldId id="21457080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C51E"/>
    <a:srgbClr val="0F8FC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557" autoAdjust="0"/>
  </p:normalViewPr>
  <p:slideViewPr>
    <p:cSldViewPr snapToGrid="0">
      <p:cViewPr varScale="1">
        <p:scale>
          <a:sx n="64" d="100"/>
          <a:sy n="64" d="100"/>
        </p:scale>
        <p:origin x="748" y="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varaj N S" userId="8d2b93e9-360e-4c8a-b97a-9f022a936f13" providerId="ADAL" clId="{A190A093-90AB-4341-BA77-DDB109F23894}"/>
    <pc:docChg chg="undo custSel addSld delSld modSld sldOrd">
      <pc:chgData name="Uvaraj N S" userId="8d2b93e9-360e-4c8a-b97a-9f022a936f13" providerId="ADAL" clId="{A190A093-90AB-4341-BA77-DDB109F23894}" dt="2024-09-25T13:32:01.753" v="428"/>
      <pc:docMkLst>
        <pc:docMk/>
      </pc:docMkLst>
      <pc:sldChg chg="mod modShow">
        <pc:chgData name="Uvaraj N S" userId="8d2b93e9-360e-4c8a-b97a-9f022a936f13" providerId="ADAL" clId="{A190A093-90AB-4341-BA77-DDB109F23894}" dt="2024-09-18T05:49:13.909" v="43" actId="729"/>
        <pc:sldMkLst>
          <pc:docMk/>
          <pc:sldMk cId="1526128457" sldId="2145708075"/>
        </pc:sldMkLst>
      </pc:sldChg>
      <pc:sldChg chg="addSp delSp modSp mod modNotesTx">
        <pc:chgData name="Uvaraj N S" userId="8d2b93e9-360e-4c8a-b97a-9f022a936f13" providerId="ADAL" clId="{A190A093-90AB-4341-BA77-DDB109F23894}" dt="2024-09-23T03:53:14.459" v="362" actId="20577"/>
        <pc:sldMkLst>
          <pc:docMk/>
          <pc:sldMk cId="3752522814" sldId="2145708206"/>
        </pc:sldMkLst>
      </pc:sldChg>
      <pc:sldChg chg="mod modShow">
        <pc:chgData name="Uvaraj N S" userId="8d2b93e9-360e-4c8a-b97a-9f022a936f13" providerId="ADAL" clId="{A190A093-90AB-4341-BA77-DDB109F23894}" dt="2024-09-18T05:49:08.651" v="42" actId="729"/>
        <pc:sldMkLst>
          <pc:docMk/>
          <pc:sldMk cId="3741950277" sldId="2145708207"/>
        </pc:sldMkLst>
      </pc:sldChg>
      <pc:sldChg chg="modNotesTx">
        <pc:chgData name="Uvaraj N S" userId="8d2b93e9-360e-4c8a-b97a-9f022a936f13" providerId="ADAL" clId="{A190A093-90AB-4341-BA77-DDB109F23894}" dt="2024-09-20T07:37:13.970" v="306"/>
        <pc:sldMkLst>
          <pc:docMk/>
          <pc:sldMk cId="1282541410" sldId="2147479964"/>
        </pc:sldMkLst>
      </pc:sldChg>
      <pc:sldChg chg="modNotesTx">
        <pc:chgData name="Uvaraj N S" userId="8d2b93e9-360e-4c8a-b97a-9f022a936f13" providerId="ADAL" clId="{A190A093-90AB-4341-BA77-DDB109F23894}" dt="2024-09-20T07:35:05.195" v="304"/>
        <pc:sldMkLst>
          <pc:docMk/>
          <pc:sldMk cId="1115544055" sldId="2147479965"/>
        </pc:sldMkLst>
      </pc:sldChg>
      <pc:sldChg chg="ord modNotesTx">
        <pc:chgData name="Uvaraj N S" userId="8d2b93e9-360e-4c8a-b97a-9f022a936f13" providerId="ADAL" clId="{A190A093-90AB-4341-BA77-DDB109F23894}" dt="2024-09-20T07:34:31.441" v="303"/>
        <pc:sldMkLst>
          <pc:docMk/>
          <pc:sldMk cId="1896471575" sldId="2147479966"/>
        </pc:sldMkLst>
      </pc:sldChg>
      <pc:sldChg chg="modNotesTx">
        <pc:chgData name="Uvaraj N S" userId="8d2b93e9-360e-4c8a-b97a-9f022a936f13" providerId="ADAL" clId="{A190A093-90AB-4341-BA77-DDB109F23894}" dt="2024-09-20T07:38:51.790" v="309"/>
        <pc:sldMkLst>
          <pc:docMk/>
          <pc:sldMk cId="1097279384" sldId="2147479969"/>
        </pc:sldMkLst>
      </pc:sldChg>
      <pc:sldChg chg="modNotesTx">
        <pc:chgData name="Uvaraj N S" userId="8d2b93e9-360e-4c8a-b97a-9f022a936f13" providerId="ADAL" clId="{A190A093-90AB-4341-BA77-DDB109F23894}" dt="2024-09-20T07:38:23.673" v="308"/>
        <pc:sldMkLst>
          <pc:docMk/>
          <pc:sldMk cId="2339341531" sldId="2147479974"/>
        </pc:sldMkLst>
      </pc:sldChg>
      <pc:sldChg chg="addSp modSp del">
        <pc:chgData name="Uvaraj N S" userId="8d2b93e9-360e-4c8a-b97a-9f022a936f13" providerId="ADAL" clId="{A190A093-90AB-4341-BA77-DDB109F23894}" dt="2024-09-18T05:59:30.716" v="221" actId="47"/>
        <pc:sldMkLst>
          <pc:docMk/>
          <pc:sldMk cId="3315085941" sldId="2147479975"/>
        </pc:sldMkLst>
      </pc:sldChg>
      <pc:sldChg chg="modNotesTx">
        <pc:chgData name="Uvaraj N S" userId="8d2b93e9-360e-4c8a-b97a-9f022a936f13" providerId="ADAL" clId="{A190A093-90AB-4341-BA77-DDB109F23894}" dt="2024-09-20T07:35:30.298" v="305"/>
        <pc:sldMkLst>
          <pc:docMk/>
          <pc:sldMk cId="2895806814" sldId="2147479977"/>
        </pc:sldMkLst>
      </pc:sldChg>
      <pc:sldChg chg="modNotesTx">
        <pc:chgData name="Uvaraj N S" userId="8d2b93e9-360e-4c8a-b97a-9f022a936f13" providerId="ADAL" clId="{A190A093-90AB-4341-BA77-DDB109F23894}" dt="2024-09-20T07:37:46.105" v="307"/>
        <pc:sldMkLst>
          <pc:docMk/>
          <pc:sldMk cId="1383756806" sldId="2147479978"/>
        </pc:sldMkLst>
      </pc:sldChg>
      <pc:sldChg chg="modSp add mod modNotesTx">
        <pc:chgData name="Uvaraj N S" userId="8d2b93e9-360e-4c8a-b97a-9f022a936f13" providerId="ADAL" clId="{A190A093-90AB-4341-BA77-DDB109F23894}" dt="2024-09-20T07:39:11.939" v="310"/>
        <pc:sldMkLst>
          <pc:docMk/>
          <pc:sldMk cId="1384664389" sldId="2147479979"/>
        </pc:sldMkLst>
      </pc:sldChg>
      <pc:sldChg chg="addSp delSp modSp add mod modNotesTx">
        <pc:chgData name="Uvaraj N S" userId="8d2b93e9-360e-4c8a-b97a-9f022a936f13" providerId="ADAL" clId="{A190A093-90AB-4341-BA77-DDB109F23894}" dt="2024-09-20T07:39:38.624" v="311"/>
        <pc:sldMkLst>
          <pc:docMk/>
          <pc:sldMk cId="1994559008" sldId="2147479980"/>
        </pc:sldMkLst>
      </pc:sldChg>
      <pc:sldChg chg="addSp delSp modSp add mod modShow modNotesTx">
        <pc:chgData name="Uvaraj N S" userId="8d2b93e9-360e-4c8a-b97a-9f022a936f13" providerId="ADAL" clId="{A190A093-90AB-4341-BA77-DDB109F23894}" dt="2024-09-23T03:52:47.618" v="360" actId="478"/>
        <pc:sldMkLst>
          <pc:docMk/>
          <pc:sldMk cId="1136017348" sldId="2147479981"/>
        </pc:sldMkLst>
      </pc:sldChg>
      <pc:sldChg chg="add modNotesTx">
        <pc:chgData name="Uvaraj N S" userId="8d2b93e9-360e-4c8a-b97a-9f022a936f13" providerId="ADAL" clId="{A190A093-90AB-4341-BA77-DDB109F23894}" dt="2024-09-20T07:34:04.101" v="302"/>
        <pc:sldMkLst>
          <pc:docMk/>
          <pc:sldMk cId="3853966269" sldId="2147479982"/>
        </pc:sldMkLst>
      </pc:sldChg>
      <pc:sldChg chg="add del">
        <pc:chgData name="Uvaraj N S" userId="8d2b93e9-360e-4c8a-b97a-9f022a936f13" providerId="ADAL" clId="{A190A093-90AB-4341-BA77-DDB109F23894}" dt="2024-09-25T13:32:01.753" v="428"/>
        <pc:sldMkLst>
          <pc:docMk/>
          <pc:sldMk cId="1811314591" sldId="2147479983"/>
        </pc:sldMkLst>
      </pc:sldChg>
      <pc:sldChg chg="addSp delSp modSp add del mod ord modNotesTx">
        <pc:chgData name="Uvaraj N S" userId="8d2b93e9-360e-4c8a-b97a-9f022a936f13" providerId="ADAL" clId="{A190A093-90AB-4341-BA77-DDB109F23894}" dt="2024-09-25T13:31:20.570" v="418" actId="47"/>
        <pc:sldMkLst>
          <pc:docMk/>
          <pc:sldMk cId="2587386039" sldId="2147479983"/>
        </pc:sldMkLst>
      </pc:sldChg>
      <pc:sldChg chg="add del">
        <pc:chgData name="Uvaraj N S" userId="8d2b93e9-360e-4c8a-b97a-9f022a936f13" providerId="ADAL" clId="{A190A093-90AB-4341-BA77-DDB109F23894}" dt="2024-09-25T13:31:25.277" v="419" actId="47"/>
        <pc:sldMkLst>
          <pc:docMk/>
          <pc:sldMk cId="1041050413" sldId="2147479984"/>
        </pc:sldMkLst>
      </pc:sldChg>
      <pc:sldChg chg="add del">
        <pc:chgData name="Uvaraj N S" userId="8d2b93e9-360e-4c8a-b97a-9f022a936f13" providerId="ADAL" clId="{A190A093-90AB-4341-BA77-DDB109F23894}" dt="2024-09-25T13:32:01.753" v="428"/>
        <pc:sldMkLst>
          <pc:docMk/>
          <pc:sldMk cId="1395824936" sldId="2147479984"/>
        </pc:sldMkLst>
      </pc:sldChg>
      <pc:sldChg chg="add del">
        <pc:chgData name="Uvaraj N S" userId="8d2b93e9-360e-4c8a-b97a-9f022a936f13" providerId="ADAL" clId="{A190A093-90AB-4341-BA77-DDB109F23894}" dt="2024-09-25T13:32:01.753" v="428"/>
        <pc:sldMkLst>
          <pc:docMk/>
          <pc:sldMk cId="1547236301" sldId="2147479985"/>
        </pc:sldMkLst>
      </pc:sldChg>
      <pc:sldChg chg="add del">
        <pc:chgData name="Uvaraj N S" userId="8d2b93e9-360e-4c8a-b97a-9f022a936f13" providerId="ADAL" clId="{A190A093-90AB-4341-BA77-DDB109F23894}" dt="2024-09-25T13:31:27.179" v="420" actId="47"/>
        <pc:sldMkLst>
          <pc:docMk/>
          <pc:sldMk cId="3076377822" sldId="2147479985"/>
        </pc:sldMkLst>
      </pc:sldChg>
      <pc:sldChg chg="add del">
        <pc:chgData name="Uvaraj N S" userId="8d2b93e9-360e-4c8a-b97a-9f022a936f13" providerId="ADAL" clId="{A190A093-90AB-4341-BA77-DDB109F23894}" dt="2024-09-25T13:31:29.729" v="421" actId="47"/>
        <pc:sldMkLst>
          <pc:docMk/>
          <pc:sldMk cId="2072495014" sldId="2147479986"/>
        </pc:sldMkLst>
      </pc:sldChg>
      <pc:sldChg chg="add del">
        <pc:chgData name="Uvaraj N S" userId="8d2b93e9-360e-4c8a-b97a-9f022a936f13" providerId="ADAL" clId="{A190A093-90AB-4341-BA77-DDB109F23894}" dt="2024-09-25T13:32:01.753" v="428"/>
        <pc:sldMkLst>
          <pc:docMk/>
          <pc:sldMk cId="3938041333" sldId="2147479986"/>
        </pc:sldMkLst>
      </pc:sldChg>
      <pc:sldChg chg="add del">
        <pc:chgData name="Uvaraj N S" userId="8d2b93e9-360e-4c8a-b97a-9f022a936f13" providerId="ADAL" clId="{A190A093-90AB-4341-BA77-DDB109F23894}" dt="2024-09-25T13:31:32.560" v="422" actId="47"/>
        <pc:sldMkLst>
          <pc:docMk/>
          <pc:sldMk cId="1283888398" sldId="2147479987"/>
        </pc:sldMkLst>
      </pc:sldChg>
      <pc:sldChg chg="add del">
        <pc:chgData name="Uvaraj N S" userId="8d2b93e9-360e-4c8a-b97a-9f022a936f13" providerId="ADAL" clId="{A190A093-90AB-4341-BA77-DDB109F23894}" dt="2024-09-25T13:31:34.698" v="423" actId="47"/>
        <pc:sldMkLst>
          <pc:docMk/>
          <pc:sldMk cId="927254229" sldId="2147479988"/>
        </pc:sldMkLst>
      </pc:sldChg>
      <pc:sldChg chg="add del">
        <pc:chgData name="Uvaraj N S" userId="8d2b93e9-360e-4c8a-b97a-9f022a936f13" providerId="ADAL" clId="{A190A093-90AB-4341-BA77-DDB109F23894}" dt="2024-09-25T13:31:36.601" v="424" actId="47"/>
        <pc:sldMkLst>
          <pc:docMk/>
          <pc:sldMk cId="841315491" sldId="2147479989"/>
        </pc:sldMkLst>
      </pc:sldChg>
      <pc:sldChg chg="add del">
        <pc:chgData name="Uvaraj N S" userId="8d2b93e9-360e-4c8a-b97a-9f022a936f13" providerId="ADAL" clId="{A190A093-90AB-4341-BA77-DDB109F23894}" dt="2024-09-25T13:31:38.654" v="425" actId="47"/>
        <pc:sldMkLst>
          <pc:docMk/>
          <pc:sldMk cId="978905144" sldId="2147479990"/>
        </pc:sldMkLst>
      </pc:sldChg>
      <pc:sldChg chg="add del">
        <pc:chgData name="Uvaraj N S" userId="8d2b93e9-360e-4c8a-b97a-9f022a936f13" providerId="ADAL" clId="{A190A093-90AB-4341-BA77-DDB109F23894}" dt="2024-09-25T13:31:39.882" v="426" actId="47"/>
        <pc:sldMkLst>
          <pc:docMk/>
          <pc:sldMk cId="3717884429" sldId="2147479991"/>
        </pc:sldMkLst>
      </pc:sldChg>
      <pc:sldMasterChg chg="delSldLayout">
        <pc:chgData name="Uvaraj N S" userId="8d2b93e9-360e-4c8a-b97a-9f022a936f13" providerId="ADAL" clId="{A190A093-90AB-4341-BA77-DDB109F23894}" dt="2024-09-18T05:59:30.716" v="221" actId="47"/>
        <pc:sldMasterMkLst>
          <pc:docMk/>
          <pc:sldMasterMk cId="2979585182" sldId="2147483660"/>
        </pc:sldMasterMkLst>
        <pc:sldLayoutChg chg="del">
          <pc:chgData name="Uvaraj N S" userId="8d2b93e9-360e-4c8a-b97a-9f022a936f13" providerId="ADAL" clId="{A190A093-90AB-4341-BA77-DDB109F23894}" dt="2024-09-18T05:59:30.716" v="221" actId="47"/>
          <pc:sldLayoutMkLst>
            <pc:docMk/>
            <pc:sldMasterMk cId="2979585182" sldId="2147483660"/>
            <pc:sldLayoutMk cId="2487305795" sldId="2147483677"/>
          </pc:sldLayoutMkLst>
        </pc:sldLayoutChg>
      </pc:sldMasterChg>
    </pc:docChg>
  </pc:docChgLst>
  <pc:docChgLst>
    <pc:chgData name="Uvaraj N S" userId="8d2b93e9-360e-4c8a-b97a-9f022a936f13" providerId="ADAL" clId="{CDE5C8C9-A1B7-4A97-980E-E1058CDE24C4}"/>
    <pc:docChg chg="modSld">
      <pc:chgData name="Uvaraj N S" userId="8d2b93e9-360e-4c8a-b97a-9f022a936f13" providerId="ADAL" clId="{CDE5C8C9-A1B7-4A97-980E-E1058CDE24C4}" dt="2025-04-14T07:56:34.858" v="0" actId="729"/>
      <pc:docMkLst>
        <pc:docMk/>
      </pc:docMkLst>
      <pc:sldChg chg="mod modShow">
        <pc:chgData name="Uvaraj N S" userId="8d2b93e9-360e-4c8a-b97a-9f022a936f13" providerId="ADAL" clId="{CDE5C8C9-A1B7-4A97-980E-E1058CDE24C4}" dt="2025-04-14T07:56:34.858" v="0" actId="729"/>
        <pc:sldMkLst>
          <pc:docMk/>
          <pc:sldMk cId="1115544055" sldId="2147479965"/>
        </pc:sldMkLst>
      </pc:sldChg>
    </pc:docChg>
  </pc:docChgLst>
  <pc:docChgLst>
    <pc:chgData name="Uvaraj N S" userId="8d2b93e9-360e-4c8a-b97a-9f022a936f13" providerId="ADAL" clId="{50DB142E-C401-4864-8E26-AE46121B656E}"/>
    <pc:docChg chg="undo custSel addSld delSld modSld sldOrd">
      <pc:chgData name="Uvaraj N S" userId="8d2b93e9-360e-4c8a-b97a-9f022a936f13" providerId="ADAL" clId="{50DB142E-C401-4864-8E26-AE46121B656E}" dt="2024-12-16T04:35:02.497" v="491" actId="14100"/>
      <pc:docMkLst>
        <pc:docMk/>
      </pc:docMkLst>
      <pc:sldChg chg="delSp modSp mod">
        <pc:chgData name="Uvaraj N S" userId="8d2b93e9-360e-4c8a-b97a-9f022a936f13" providerId="ADAL" clId="{50DB142E-C401-4864-8E26-AE46121B656E}" dt="2024-11-26T11:32:24.185" v="33"/>
        <pc:sldMkLst>
          <pc:docMk/>
          <pc:sldMk cId="3752522814" sldId="2145708206"/>
        </pc:sldMkLst>
      </pc:sldChg>
      <pc:sldChg chg="mod modShow">
        <pc:chgData name="Uvaraj N S" userId="8d2b93e9-360e-4c8a-b97a-9f022a936f13" providerId="ADAL" clId="{50DB142E-C401-4864-8E26-AE46121B656E}" dt="2024-11-26T07:54:17.441" v="23" actId="729"/>
        <pc:sldMkLst>
          <pc:docMk/>
          <pc:sldMk cId="1115544055" sldId="2147479965"/>
        </pc:sldMkLst>
      </pc:sldChg>
      <pc:sldChg chg="mod modShow">
        <pc:chgData name="Uvaraj N S" userId="8d2b93e9-360e-4c8a-b97a-9f022a936f13" providerId="ADAL" clId="{50DB142E-C401-4864-8E26-AE46121B656E}" dt="2024-11-26T07:54:56.698" v="24" actId="729"/>
        <pc:sldMkLst>
          <pc:docMk/>
          <pc:sldMk cId="1383756806" sldId="2147479978"/>
        </pc:sldMkLst>
      </pc:sldChg>
      <pc:sldChg chg="ord">
        <pc:chgData name="Uvaraj N S" userId="8d2b93e9-360e-4c8a-b97a-9f022a936f13" providerId="ADAL" clId="{50DB142E-C401-4864-8E26-AE46121B656E}" dt="2024-12-06T06:02:54.938" v="467"/>
        <pc:sldMkLst>
          <pc:docMk/>
          <pc:sldMk cId="1136017348" sldId="2147479981"/>
        </pc:sldMkLst>
      </pc:sldChg>
      <pc:sldChg chg="modSp mod">
        <pc:chgData name="Uvaraj N S" userId="8d2b93e9-360e-4c8a-b97a-9f022a936f13" providerId="ADAL" clId="{50DB142E-C401-4864-8E26-AE46121B656E}" dt="2024-11-26T07:53:25.387" v="22" actId="1076"/>
        <pc:sldMkLst>
          <pc:docMk/>
          <pc:sldMk cId="3853966269" sldId="2147479982"/>
        </pc:sldMkLst>
      </pc:sldChg>
      <pc:sldChg chg="addSp delSp modSp add mod ord modShow modNotesTx">
        <pc:chgData name="Uvaraj N S" userId="8d2b93e9-360e-4c8a-b97a-9f022a936f13" providerId="ADAL" clId="{50DB142E-C401-4864-8E26-AE46121B656E}" dt="2024-12-16T04:34:46.810" v="488" actId="20577"/>
        <pc:sldMkLst>
          <pc:docMk/>
          <pc:sldMk cId="436901587" sldId="2147479983"/>
        </pc:sldMkLst>
      </pc:sldChg>
      <pc:sldChg chg="new del">
        <pc:chgData name="Uvaraj N S" userId="8d2b93e9-360e-4c8a-b97a-9f022a936f13" providerId="ADAL" clId="{50DB142E-C401-4864-8E26-AE46121B656E}" dt="2024-11-26T07:52:51.032" v="15" actId="680"/>
        <pc:sldMkLst>
          <pc:docMk/>
          <pc:sldMk cId="1693852634" sldId="2147479983"/>
        </pc:sldMkLst>
      </pc:sldChg>
      <pc:sldChg chg="addSp delSp modSp add mod ord modShow">
        <pc:chgData name="Uvaraj N S" userId="8d2b93e9-360e-4c8a-b97a-9f022a936f13" providerId="ADAL" clId="{50DB142E-C401-4864-8E26-AE46121B656E}" dt="2024-12-16T04:35:02.497" v="491" actId="14100"/>
        <pc:sldMkLst>
          <pc:docMk/>
          <pc:sldMk cId="1280025862" sldId="2147479984"/>
        </pc:sldMkLst>
      </pc:sldChg>
    </pc:docChg>
  </pc:docChgLst>
  <pc:docChgLst>
    <pc:chgData name="Uvaraj N S" userId="8d2b93e9-360e-4c8a-b97a-9f022a936f13" providerId="ADAL" clId="{06976956-C9BF-48CB-B272-3FA44D2F7C6F}"/>
    <pc:docChg chg="modSld">
      <pc:chgData name="Uvaraj N S" userId="8d2b93e9-360e-4c8a-b97a-9f022a936f13" providerId="ADAL" clId="{06976956-C9BF-48CB-B272-3FA44D2F7C6F}" dt="2025-01-13T06:01:13.714" v="11" actId="20577"/>
      <pc:docMkLst>
        <pc:docMk/>
      </pc:docMkLst>
      <pc:sldChg chg="modSp mod">
        <pc:chgData name="Uvaraj N S" userId="8d2b93e9-360e-4c8a-b97a-9f022a936f13" providerId="ADAL" clId="{06976956-C9BF-48CB-B272-3FA44D2F7C6F}" dt="2025-01-13T06:01:13.714" v="11" actId="20577"/>
        <pc:sldMkLst>
          <pc:docMk/>
          <pc:sldMk cId="1280025862" sldId="21474799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99D605-8DB8-4B7A-AC26-89AB289DEAF9}" type="datetimeFigureOut">
              <a:rPr lang="en-IN" smtClean="0"/>
              <a:t>14-04-25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F81095-33B6-4161-91C7-88FCE510B894}" type="slidenum">
              <a:rPr lang="en-IN" smtClean="0"/>
              <a:t>‹#›</a:t>
            </a:fld>
            <a:endParaRPr lang="en-IN"/>
          </a:p>
        </p:txBody>
      </p:sp>
    </p:spTree>
    <p:extLst>
      <p:ext uri="{BB962C8B-B14F-4D97-AF65-F5344CB8AC3E}">
        <p14:creationId xmlns:p14="http://schemas.microsoft.com/office/powerpoint/2010/main" val="44091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Welcome, and thank you for joining us today.</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today’s increasingly complex and evolving cybersecurity landscape and businesses migrate more critical workloads to the cloud, the attack surface continues to expand. With more endpoints, more data, and more complex infrastructures, cyberattacks have become increasingly sophisticated. In fact, reports show that cloud-related security incidents are rising, with data breaches and ransomware attacks being among the most prevalent.</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The question isn’t whether you will face security threats, but how prepared you are to deal with them when they happen</a:t>
            </a:r>
            <a:endParaRPr lang="en-IN" dirty="0"/>
          </a:p>
        </p:txBody>
      </p:sp>
      <p:sp>
        <p:nvSpPr>
          <p:cNvPr id="4" name="Slide Number Placeholder 3"/>
          <p:cNvSpPr>
            <a:spLocks noGrp="1"/>
          </p:cNvSpPr>
          <p:nvPr>
            <p:ph type="sldNum" sz="quarter" idx="5"/>
          </p:nvPr>
        </p:nvSpPr>
        <p:spPr/>
        <p:txBody>
          <a:bodyPr/>
          <a:lstStyle/>
          <a:p>
            <a:fld id="{16F81095-33B6-4161-91C7-88FCE510B894}" type="slidenum">
              <a:rPr lang="en-IN" smtClean="0"/>
              <a:t>1</a:t>
            </a:fld>
            <a:endParaRPr lang="en-IN"/>
          </a:p>
        </p:txBody>
      </p:sp>
    </p:spTree>
    <p:extLst>
      <p:ext uri="{BB962C8B-B14F-4D97-AF65-F5344CB8AC3E}">
        <p14:creationId xmlns:p14="http://schemas.microsoft.com/office/powerpoint/2010/main" val="3006802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So, what exactly is Azure Defender for Cloud?</a:t>
            </a:r>
          </a:p>
          <a:p>
            <a:r>
              <a:rPr lang="en-IN" sz="1800" dirty="0">
                <a:effectLst/>
                <a:latin typeface="Calibri" panose="020F0502020204030204" pitchFamily="34" charset="0"/>
                <a:ea typeface="Calibri" panose="020F0502020204030204" pitchFamily="34" charset="0"/>
                <a:cs typeface="Times New Roman" panose="02020603050405020304" pitchFamily="18" charset="0"/>
              </a:rPr>
              <a:t>It’s Microsoft’s comprehensive, cloud-native security solution that provides advanced threat protection for your cloud and hybrid workloads. It goes beyond traditional security tools by offering unified security management and advanced threat detection across your entire IT infrastructure – not just in Azure, but also across hybrid environments and even other cloud platforms like AWS and Google Cloud. With Azure Defender, you’re able to manage security centrally while automating responses to incidents, freeing up your team to focus on what really matters</a:t>
            </a:r>
            <a:endParaRPr lang="en-IN" dirty="0"/>
          </a:p>
        </p:txBody>
      </p:sp>
      <p:sp>
        <p:nvSpPr>
          <p:cNvPr id="4" name="Slide Number Placeholder 3"/>
          <p:cNvSpPr>
            <a:spLocks noGrp="1"/>
          </p:cNvSpPr>
          <p:nvPr>
            <p:ph type="sldNum" sz="quarter" idx="5"/>
          </p:nvPr>
        </p:nvSpPr>
        <p:spPr/>
        <p:txBody>
          <a:bodyPr/>
          <a:lstStyle/>
          <a:p>
            <a:fld id="{16F81095-33B6-4161-91C7-88FCE510B894}" type="slidenum">
              <a:rPr lang="en-IN" smtClean="0"/>
              <a:t>2</a:t>
            </a:fld>
            <a:endParaRPr lang="en-IN"/>
          </a:p>
        </p:txBody>
      </p:sp>
    </p:spTree>
    <p:extLst>
      <p:ext uri="{BB962C8B-B14F-4D97-AF65-F5344CB8AC3E}">
        <p14:creationId xmlns:p14="http://schemas.microsoft.com/office/powerpoint/2010/main" val="98619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13ba2596057_0_281:notes"/>
          <p:cNvSpPr txBox="1">
            <a:spLocks noGrp="1"/>
          </p:cNvSpPr>
          <p:nvPr>
            <p:ph type="body" idx="1"/>
          </p:nvPr>
        </p:nvSpPr>
        <p:spPr>
          <a:xfrm>
            <a:off x="685791" y="4343387"/>
            <a:ext cx="5486400" cy="4114800"/>
          </a:xfrm>
          <a:prstGeom prst="rect">
            <a:avLst/>
          </a:prstGeom>
          <a:noFill/>
          <a:ln>
            <a:noFill/>
          </a:ln>
        </p:spPr>
        <p:txBody>
          <a:bodyPr spcFirstLastPara="1" wrap="square" lIns="91425" tIns="91425" rIns="91425" bIns="91425" anchor="t" anchorCtr="0">
            <a:noAutofit/>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How Does it Work?</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"Azure Defender for Cloud provides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layered protection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across all critical workloads. Here’s how it works: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Assessment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Azure Defender continually assesses your security posture, offering visibility into potential vulnerabilities and security misconfigurations.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It proactively monitors and protects all layers of your cloud resources—applications, VMs, databases, storage, containers, and more.</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Threat Detection and Response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Azure Defender detects potential security threats using built-in AI and threat intelligence, offering alerts and automated response options to mitigate risks before they become a major issue."_</a:t>
            </a:r>
          </a:p>
          <a:p>
            <a:pPr marL="0" lvl="0" indent="0" algn="l" rtl="0">
              <a:lnSpc>
                <a:spcPct val="100000"/>
              </a:lnSpc>
              <a:spcBef>
                <a:spcPts val="0"/>
              </a:spcBef>
              <a:spcAft>
                <a:spcPts val="0"/>
              </a:spcAft>
              <a:buSzPts val="1100"/>
              <a:buNone/>
            </a:pPr>
            <a:endParaRPr dirty="0"/>
          </a:p>
        </p:txBody>
      </p:sp>
      <p:sp>
        <p:nvSpPr>
          <p:cNvPr id="391" name="Google Shape;391;g13ba2596057_0_2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2587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6b92e3894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"Let’s dive into some of the key features that make Azure Defender for Cloud so powerful: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Unified Security Management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Azure Defender offers centralized visibility across all your workloads, whether they’re running in Azure, on-premises, or in other clouds.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Advanced Threat Detection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It uses AI and machine learning to detect potential threats early, helping you respond faster to suspicious activities.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Integrated Threat Intelligence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Azure Defender leverages real-time threat intelligence from Microsoft’s global network to protect your cloud resources.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Automated Remediation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By integrating with Microsoft Sentinel and other SIEM tools, you can set up automated responses to security events, reducing the time spent manually addressing incidents.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Compliance Management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Azure Defender helps ensure that your workloads comply with industry standards like PCI DSS, HIPAA, and ISO 27001 by offering continuous monitoring and security recommendations.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lvl="0" indent="0" algn="l" rtl="0">
              <a:spcBef>
                <a:spcPts val="0"/>
              </a:spcBef>
              <a:spcAft>
                <a:spcPts val="0"/>
              </a:spcAft>
              <a:buNone/>
            </a:pPr>
            <a:endParaRPr dirty="0"/>
          </a:p>
        </p:txBody>
      </p:sp>
      <p:sp>
        <p:nvSpPr>
          <p:cNvPr id="268" name="Google Shape;268;g146b92e3894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707779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6b92e3894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"Now, let’s take a look at some real-world scenarios where Azure Defender for Cloud excels: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Hybrid Cloud Security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Many organizations operate in hybrid environments with workloads split between on-premises and the cloud. Azure Defender provides seamless protection across both, ensuring that your entire ecosystem is secured.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Container Security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With the rise of containerized applications, securing those containers is crucial. Azure Defender automatically protects your Kubernetes clusters and containerized workloads from vulnerabilities and threats.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Database and Storage Protection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Azure Defender ensures that your most valuable data, whether it’s stored in databases or Azure Storage, is continuously monitored and protected against unauthorized access or exploitation.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lvl="0" indent="0" algn="l" rtl="0">
              <a:spcBef>
                <a:spcPts val="0"/>
              </a:spcBef>
              <a:spcAft>
                <a:spcPts val="0"/>
              </a:spcAft>
              <a:buNone/>
            </a:pPr>
            <a:endParaRPr dirty="0"/>
          </a:p>
        </p:txBody>
      </p:sp>
      <p:sp>
        <p:nvSpPr>
          <p:cNvPr id="268" name="Google Shape;268;g146b92e3894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69189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Before we dive into Azure Sentinel, lets understand that organizations are dealing with an explosion of data, cloud services, remote workforces, and complex security threats. Security teams face challenges such as alert fatigue, siloed data, and the increasing sophistication of attacks like ransomware, insider threats, and nation-state actors.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is where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Azure Sentinel</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Microsoft’s cloud-native SIEM (Security Information and Event Management) and SOAR (Security Orchestration Automated Response) solution, comes into play. With Azure Sentinel, your organization gains access to advanced threat detection, investigation, and response capabilities—all powered by the intelligence and scalability of the cloud.</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Our goal today is to explore how Azure Sentinel can help your organization streamline security operations, enhance threat visibility, and take advantage of automation to respond faster to incidents—all while reducing costs and complexity. Let's dive into how this next-generation security platform can empower your security team to stay ahead of today’s cyber threats.</a:t>
            </a:r>
          </a:p>
          <a:p>
            <a:endParaRPr lang="en-IN" dirty="0"/>
          </a:p>
        </p:txBody>
      </p:sp>
      <p:sp>
        <p:nvSpPr>
          <p:cNvPr id="4" name="Slide Number Placeholder 3"/>
          <p:cNvSpPr>
            <a:spLocks noGrp="1"/>
          </p:cNvSpPr>
          <p:nvPr>
            <p:ph type="sldNum" sz="quarter" idx="5"/>
          </p:nvPr>
        </p:nvSpPr>
        <p:spPr/>
        <p:txBody>
          <a:bodyPr/>
          <a:lstStyle/>
          <a:p>
            <a:fld id="{16F81095-33B6-4161-91C7-88FCE510B894}" type="slidenum">
              <a:rPr lang="en-IN" smtClean="0"/>
              <a:t>6</a:t>
            </a:fld>
            <a:endParaRPr lang="en-IN"/>
          </a:p>
        </p:txBody>
      </p:sp>
    </p:spTree>
    <p:extLst>
      <p:ext uri="{BB962C8B-B14F-4D97-AF65-F5344CB8AC3E}">
        <p14:creationId xmlns:p14="http://schemas.microsoft.com/office/powerpoint/2010/main" val="16692937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6b92e3894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What is Azure Sentinel?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Speaker:</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Azure Sentinel is Microsoft’s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cloud-native SIEM (Security Information and Event Management)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SOAR (Security Orchestration Automated Response)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platform. Unlike traditional SIEMs, Azure Sentinel offers the agility and scalability of the cloud, allowing you to collect data across your entire organization, detect threats, investigate incidents, and respond in real-time.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offers several key benefits: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Unified Visibility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It aggregates data from all your platforms, including Azure, on-premises systems, and other cloud providers.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Artificial Intelligence and Automation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AI-driven threat detection and automated responses help reduce the workload for your security teams.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Scalability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As a cloud service, Sentinel scales with your business needs without the costs and complexity of traditional on-prem solutions.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Integration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 Seamless integration with Microsoft 365, Azure services, and third-party systems ensures you can manage security across your environment from a single pane of glass.</a:t>
            </a:r>
          </a:p>
          <a:p>
            <a:pPr marL="0" lvl="0" indent="0" algn="l" rtl="0">
              <a:spcBef>
                <a:spcPts val="0"/>
              </a:spcBef>
              <a:spcAft>
                <a:spcPts val="0"/>
              </a:spcAft>
              <a:buNone/>
            </a:pPr>
            <a:endParaRPr dirty="0"/>
          </a:p>
        </p:txBody>
      </p:sp>
      <p:sp>
        <p:nvSpPr>
          <p:cNvPr id="268" name="Google Shape;268;g146b92e3894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1498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Core Features of Azure Sentinel</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Let’s take a closer look at some of the core features of Azure Sentinel:</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Data Collection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Sentinel can collect data from any source, including Microsoft services, other clouds, and on-prem environments. It integrates with over 100 connectors, including popular security tools like Firewalls, endpoint detection systems, and network devices.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Analytics and Threat Detection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Sentinel uses built-in machine learning and AI to detect anomalies and alert you to potential threats. This reduces false positives and allows your team to focus on the real issues.</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Investigation and Response</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Azure Sentinel provides rich investigation tools, enabling your team to visualize attack timelines, identify root causes, and respond faster to incidents. Through automated playbooks, you can create workflows that respond to specific threats—drastically reducing incident response time.</a:t>
            </a:r>
          </a:p>
          <a:p>
            <a:pPr marL="342900" lvl="0" indent="-342900">
              <a:lnSpc>
                <a:spcPct val="107000"/>
              </a:lnSpc>
              <a:spcAft>
                <a:spcPts val="800"/>
              </a:spcAft>
              <a:buFont typeface="+mj-lt"/>
              <a:buAutoNum type="arabicPeriod"/>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Hunting Capabilities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For security analysts, Sentinel offers a powerful hunting dashboard where they can query historical data, create custom detections, and proactively search for threats.</a:t>
            </a:r>
          </a:p>
          <a:p>
            <a:endParaRPr lang="en-IN" dirty="0"/>
          </a:p>
        </p:txBody>
      </p:sp>
      <p:sp>
        <p:nvSpPr>
          <p:cNvPr id="4" name="Slide Number Placeholder 3"/>
          <p:cNvSpPr>
            <a:spLocks noGrp="1"/>
          </p:cNvSpPr>
          <p:nvPr>
            <p:ph type="sldNum" sz="quarter" idx="5"/>
          </p:nvPr>
        </p:nvSpPr>
        <p:spPr/>
        <p:txBody>
          <a:bodyPr/>
          <a:lstStyle/>
          <a:p>
            <a:fld id="{9CEF4044-99EB-43BB-8804-1F5415A55CD5}" type="slidenum">
              <a:rPr lang="en-IN" smtClean="0"/>
              <a:t>8</a:t>
            </a:fld>
            <a:endParaRPr lang="en-IN"/>
          </a:p>
        </p:txBody>
      </p:sp>
    </p:spTree>
    <p:extLst>
      <p:ext uri="{BB962C8B-B14F-4D97-AF65-F5344CB8AC3E}">
        <p14:creationId xmlns:p14="http://schemas.microsoft.com/office/powerpoint/2010/main" val="3456729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46b92e3894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To illustrate the impact of Azure Sentinel, let’s talk about a real-world case. [Example Company], a global retail organization, faced challenges with disparate security tools, alert overload, and slow response times. After deploying Azure Sentinel, they integrated all their security data into one platform, leveraged AI to reduce false positives by 60%, and cut down incident response time by 75% using automated playbooks.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allowed their security team to focus on higher-value activities, rather than being bogged down with manual incident management.</a:t>
            </a:r>
          </a:p>
          <a:p>
            <a:pPr marL="0" lvl="0" indent="0" algn="l" rtl="0">
              <a:spcBef>
                <a:spcPts val="0"/>
              </a:spcBef>
              <a:spcAft>
                <a:spcPts val="0"/>
              </a:spcAft>
              <a:buNone/>
            </a:pPr>
            <a:endParaRPr dirty="0"/>
          </a:p>
        </p:txBody>
      </p:sp>
      <p:sp>
        <p:nvSpPr>
          <p:cNvPr id="268" name="Google Shape;268;g146b92e3894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7822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Microsoft Copilot for Security (Copilot for Security) is a generative AI-powered security solution that helps increase the efficiency and capabilities of defenders to improve security outcomes at machine speed and scale.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Copilot for Security helps support security professionals in end-to-end scenarios such as incident response, threat hunting, intelligence gathering, and posture management.</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Its Designed with integration in mind :-</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offers a standalone experience and also seamlessly integrates with products in the Microsoft Security portfolio. Copilot for Security integrates with products such as Microsoft Defender XDR, Microsoft Sentinel, Microsoft Intune, and other third-party services such as ServiceNow.</a:t>
            </a:r>
          </a:p>
          <a:p>
            <a:endParaRPr lang="en-IN" dirty="0"/>
          </a:p>
        </p:txBody>
      </p:sp>
      <p:sp>
        <p:nvSpPr>
          <p:cNvPr id="4" name="Slide Number Placeholder 3"/>
          <p:cNvSpPr>
            <a:spLocks noGrp="1"/>
          </p:cNvSpPr>
          <p:nvPr>
            <p:ph type="sldNum" sz="quarter" idx="5"/>
          </p:nvPr>
        </p:nvSpPr>
        <p:spPr/>
        <p:txBody>
          <a:bodyPr/>
          <a:lstStyle/>
          <a:p>
            <a:fld id="{16F81095-33B6-4161-91C7-88FCE510B894}" type="slidenum">
              <a:rPr lang="en-IN" smtClean="0"/>
              <a:t>10</a:t>
            </a:fld>
            <a:endParaRPr lang="en-IN"/>
          </a:p>
        </p:txBody>
      </p:sp>
    </p:spTree>
    <p:extLst>
      <p:ext uri="{BB962C8B-B14F-4D97-AF65-F5344CB8AC3E}">
        <p14:creationId xmlns:p14="http://schemas.microsoft.com/office/powerpoint/2010/main" val="3174250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Here's an explanation of how Microsoft Copilot for Security works:</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User prompts from security products are sent to Copilot for Security.</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Copilot for Security then preprocesses the input prompt through an approach called grounding, which improves the specificity of the prompt to help you get answers that are relevant and actionable to your prompt. it accesses plugins for preprocessing, then sends the modified prompt to the language model.</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Copilot for Security takes the response from the language model and post-processes it. This post-processing includes accessing plugins to gain contextualized information.</a:t>
            </a:r>
          </a:p>
          <a:p>
            <a:pPr marL="342900" lvl="0" indent="-342900">
              <a:lnSpc>
                <a:spcPct val="107000"/>
              </a:lnSpc>
              <a:spcAft>
                <a:spcPts val="800"/>
              </a:spcAft>
              <a:buSzPts val="1000"/>
              <a:buFont typeface="Symbol" panose="05050102010706020507" pitchFamily="18" charset="2"/>
              <a:buChar char=""/>
              <a:tabLst>
                <a:tab pos="457200" algn="l"/>
              </a:tabLs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Copilot for Security returns the response, where the user can review and assess the response.</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Copilot for Security iteratively processes and orchestrates these sophisticated services to help produce results that are relevant to your organization because they're contextually based on your organizational data.</a:t>
            </a:r>
          </a:p>
          <a:p>
            <a:endParaRPr lang="en-IN" dirty="0"/>
          </a:p>
        </p:txBody>
      </p:sp>
    </p:spTree>
    <p:extLst>
      <p:ext uri="{BB962C8B-B14F-4D97-AF65-F5344CB8AC3E}">
        <p14:creationId xmlns:p14="http://schemas.microsoft.com/office/powerpoint/2010/main" val="3799522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57919ACD-4272-A294-8F79-AFF0A28DD728}"/>
            </a:ext>
          </a:extLst>
        </p:cNvPr>
        <p:cNvGrpSpPr/>
        <p:nvPr/>
      </p:nvGrpSpPr>
      <p:grpSpPr>
        <a:xfrm>
          <a:off x="0" y="0"/>
          <a:ext cx="0" cy="0"/>
          <a:chOff x="0" y="0"/>
          <a:chExt cx="0" cy="0"/>
        </a:xfrm>
      </p:grpSpPr>
      <p:sp>
        <p:nvSpPr>
          <p:cNvPr id="267" name="Google Shape;267;g146b92e3894_0_252:notes">
            <a:extLst>
              <a:ext uri="{FF2B5EF4-FFF2-40B4-BE49-F238E27FC236}">
                <a16:creationId xmlns:a16="http://schemas.microsoft.com/office/drawing/2014/main" id="{7EC940C9-68B1-AF29-5E7B-119AF73B63F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68" name="Google Shape;268;g146b92e3894_0_252:notes">
            <a:extLst>
              <a:ext uri="{FF2B5EF4-FFF2-40B4-BE49-F238E27FC236}">
                <a16:creationId xmlns:a16="http://schemas.microsoft.com/office/drawing/2014/main" id="{2264FEBC-18C4-92CF-A43B-6531F47B27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1723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E062AA82-35F9-B9A3-011F-18F647220C9A}"/>
            </a:ext>
          </a:extLst>
        </p:cNvPr>
        <p:cNvGrpSpPr/>
        <p:nvPr/>
      </p:nvGrpSpPr>
      <p:grpSpPr>
        <a:xfrm>
          <a:off x="0" y="0"/>
          <a:ext cx="0" cy="0"/>
          <a:chOff x="0" y="0"/>
          <a:chExt cx="0" cy="0"/>
        </a:xfrm>
      </p:grpSpPr>
      <p:sp>
        <p:nvSpPr>
          <p:cNvPr id="267" name="Google Shape;267;g146b92e3894_0_252:notes">
            <a:extLst>
              <a:ext uri="{FF2B5EF4-FFF2-40B4-BE49-F238E27FC236}">
                <a16:creationId xmlns:a16="http://schemas.microsoft.com/office/drawing/2014/main" id="{FB6C6F01-03BB-B484-E89B-0863172578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To illustrate the impact of Azure Sentinel, let’s talk about a real-world case. [Example Company], a global retail organization, faced challenges with disparate security tools, alert overload, and slow response times. After deploying Azure Sentinel, they integrated all their security data into one platform, leveraged AI to reduce false positives by 60%, and cut down incident response time by 75% using automated playbooks.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This allowed their security team to focus on higher-value activities, rather than being bogged down with manual incident management.</a:t>
            </a:r>
          </a:p>
          <a:p>
            <a:pPr marL="0" lvl="0" indent="0" algn="l" rtl="0">
              <a:spcBef>
                <a:spcPts val="0"/>
              </a:spcBef>
              <a:spcAft>
                <a:spcPts val="0"/>
              </a:spcAft>
              <a:buNone/>
            </a:pPr>
            <a:endParaRPr dirty="0"/>
          </a:p>
        </p:txBody>
      </p:sp>
      <p:sp>
        <p:nvSpPr>
          <p:cNvPr id="268" name="Google Shape;268;g146b92e3894_0_252:notes">
            <a:extLst>
              <a:ext uri="{FF2B5EF4-FFF2-40B4-BE49-F238E27FC236}">
                <a16:creationId xmlns:a16="http://schemas.microsoft.com/office/drawing/2014/main" id="{90BCC781-D879-51D3-0472-7FD3522308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545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Any Questions</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Closing Statement: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That wraps up our presentation today. I hope you’ve found this session valuable, and we look forward to partnering with you on your cybersecurity journey. Thank you!</a:t>
            </a:r>
          </a:p>
          <a:p>
            <a:endParaRPr lang="en-IN" dirty="0"/>
          </a:p>
        </p:txBody>
      </p:sp>
    </p:spTree>
    <p:extLst>
      <p:ext uri="{BB962C8B-B14F-4D97-AF65-F5344CB8AC3E}">
        <p14:creationId xmlns:p14="http://schemas.microsoft.com/office/powerpoint/2010/main" val="13285908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83347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GB"/>
              <a:t>Click to edit Master title style</a:t>
            </a:r>
            <a:endParaRPr lang="en-US"/>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9940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73767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GB"/>
              <a:t>Click to edit Master title style</a:t>
            </a:r>
            <a:endParaRPr lang="en-US"/>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5938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81922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GB"/>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GB"/>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5879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098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0785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GB"/>
              <a:t>Click to edit Master title style</a:t>
            </a:r>
            <a:endParaRPr lang="en-US"/>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7301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GB"/>
              <a:t>Click to edit Master title style</a:t>
            </a:r>
            <a:endParaRPr lang="en-US"/>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r>
              <a:rPr lang="en-GB"/>
              <a:t>Click icon to add picture</a:t>
            </a:r>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GB"/>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783228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03203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2092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4734370" y="0"/>
            <a:ext cx="7457630" cy="6858000"/>
          </a:xfrm>
          <a:prstGeom prst="rect">
            <a:avLst/>
          </a:prstGeom>
          <a:solidFill>
            <a:schemeClr val="accent1"/>
          </a:solidFill>
        </p:spPr>
        <p:txBody>
          <a:bodyPr/>
          <a:lstStyle>
            <a:lvl1pPr>
              <a:defRPr>
                <a:latin typeface="Calibri"/>
              </a:defRPr>
            </a:lvl1pPr>
          </a:lstStyle>
          <a:p>
            <a:endParaRPr lang="en-GB" dirty="0"/>
          </a:p>
        </p:txBody>
      </p:sp>
    </p:spTree>
    <p:extLst>
      <p:ext uri="{BB962C8B-B14F-4D97-AF65-F5344CB8AC3E}">
        <p14:creationId xmlns:p14="http://schemas.microsoft.com/office/powerpoint/2010/main" val="3949785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54"/>
        <p:cNvGrpSpPr/>
        <p:nvPr/>
      </p:nvGrpSpPr>
      <p:grpSpPr>
        <a:xfrm>
          <a:off x="0" y="0"/>
          <a:ext cx="0" cy="0"/>
          <a:chOff x="0" y="0"/>
          <a:chExt cx="0" cy="0"/>
        </a:xfrm>
      </p:grpSpPr>
      <p:sp>
        <p:nvSpPr>
          <p:cNvPr id="55" name="Google Shape;55;p15"/>
          <p:cNvSpPr>
            <a:spLocks noGrp="1"/>
          </p:cNvSpPr>
          <p:nvPr>
            <p:ph type="pic" idx="2"/>
          </p:nvPr>
        </p:nvSpPr>
        <p:spPr>
          <a:xfrm>
            <a:off x="0" y="0"/>
            <a:ext cx="3848100" cy="6858000"/>
          </a:xfrm>
          <a:prstGeom prst="rect">
            <a:avLst/>
          </a:prstGeom>
          <a:noFill/>
          <a:ln>
            <a:noFill/>
          </a:ln>
        </p:spPr>
      </p:sp>
    </p:spTree>
    <p:extLst>
      <p:ext uri="{BB962C8B-B14F-4D97-AF65-F5344CB8AC3E}">
        <p14:creationId xmlns:p14="http://schemas.microsoft.com/office/powerpoint/2010/main" val="35881225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0_Title Slide">
  <p:cSld name="20_Title Slide">
    <p:spTree>
      <p:nvGrpSpPr>
        <p:cNvPr id="1" name="Shape 56"/>
        <p:cNvGrpSpPr/>
        <p:nvPr/>
      </p:nvGrpSpPr>
      <p:grpSpPr>
        <a:xfrm>
          <a:off x="0" y="0"/>
          <a:ext cx="0" cy="0"/>
          <a:chOff x="0" y="0"/>
          <a:chExt cx="0" cy="0"/>
        </a:xfrm>
      </p:grpSpPr>
      <p:sp>
        <p:nvSpPr>
          <p:cNvPr id="57" name="Google Shape;57;p15"/>
          <p:cNvSpPr txBox="1">
            <a:spLocks noGrp="1"/>
          </p:cNvSpPr>
          <p:nvPr>
            <p:ph type="body" idx="1"/>
          </p:nvPr>
        </p:nvSpPr>
        <p:spPr>
          <a:xfrm>
            <a:off x="903288" y="966788"/>
            <a:ext cx="4094000" cy="724000"/>
          </a:xfrm>
          <a:prstGeom prst="rect">
            <a:avLst/>
          </a:prstGeom>
          <a:noFill/>
          <a:ln>
            <a:noFill/>
          </a:ln>
        </p:spPr>
        <p:txBody>
          <a:bodyPr spcFirstLastPara="1" wrap="square" lIns="68575" tIns="34275" rIns="68575" bIns="34275" anchor="ctr" anchorCtr="0">
            <a:normAutofit/>
          </a:bodyPr>
          <a:lstStyle>
            <a:lvl1pPr marL="609585" lvl="0" indent="-304792" algn="l" rtl="0">
              <a:lnSpc>
                <a:spcPct val="100000"/>
              </a:lnSpc>
              <a:spcBef>
                <a:spcPts val="1067"/>
              </a:spcBef>
              <a:spcAft>
                <a:spcPts val="0"/>
              </a:spcAft>
              <a:buClr>
                <a:schemeClr val="dk1"/>
              </a:buClr>
              <a:buSzPts val="3000"/>
              <a:buNone/>
              <a:defRPr sz="4000" b="1">
                <a:latin typeface="Lato"/>
                <a:ea typeface="Lato"/>
                <a:cs typeface="Lato"/>
                <a:sym typeface="Lato"/>
              </a:defRPr>
            </a:lvl1pPr>
            <a:lvl2pPr marL="1219170" lvl="1" indent="-423323" algn="l" rtl="0">
              <a:lnSpc>
                <a:spcPct val="90000"/>
              </a:lnSpc>
              <a:spcBef>
                <a:spcPts val="1600"/>
              </a:spcBef>
              <a:spcAft>
                <a:spcPts val="0"/>
              </a:spcAft>
              <a:buClr>
                <a:schemeClr val="dk1"/>
              </a:buClr>
              <a:buSzPts val="1400"/>
              <a:buChar char="○"/>
              <a:defRPr/>
            </a:lvl2pPr>
            <a:lvl3pPr marL="1828754" lvl="2" indent="-423323" algn="l" rtl="0">
              <a:lnSpc>
                <a:spcPct val="90000"/>
              </a:lnSpc>
              <a:spcBef>
                <a:spcPts val="1600"/>
              </a:spcBef>
              <a:spcAft>
                <a:spcPts val="0"/>
              </a:spcAft>
              <a:buClr>
                <a:schemeClr val="dk1"/>
              </a:buClr>
              <a:buSzPts val="1400"/>
              <a:buChar char="■"/>
              <a:defRPr/>
            </a:lvl3pPr>
            <a:lvl4pPr marL="2438339" lvl="3" indent="-423323" algn="l" rtl="0">
              <a:lnSpc>
                <a:spcPct val="90000"/>
              </a:lnSpc>
              <a:spcBef>
                <a:spcPts val="1600"/>
              </a:spcBef>
              <a:spcAft>
                <a:spcPts val="0"/>
              </a:spcAft>
              <a:buClr>
                <a:schemeClr val="dk1"/>
              </a:buClr>
              <a:buSzPts val="1400"/>
              <a:buChar char="●"/>
              <a:defRPr/>
            </a:lvl4pPr>
            <a:lvl5pPr marL="3047924" lvl="4" indent="-423323" algn="l" rtl="0">
              <a:lnSpc>
                <a:spcPct val="90000"/>
              </a:lnSpc>
              <a:spcBef>
                <a:spcPts val="1600"/>
              </a:spcBef>
              <a:spcAft>
                <a:spcPts val="0"/>
              </a:spcAft>
              <a:buClr>
                <a:schemeClr val="dk1"/>
              </a:buClr>
              <a:buSzPts val="1400"/>
              <a:buChar char="○"/>
              <a:defRPr/>
            </a:lvl5pPr>
            <a:lvl6pPr marL="3657509" lvl="5" indent="-423323" algn="l" rtl="0">
              <a:lnSpc>
                <a:spcPct val="90000"/>
              </a:lnSpc>
              <a:spcBef>
                <a:spcPts val="1600"/>
              </a:spcBef>
              <a:spcAft>
                <a:spcPts val="0"/>
              </a:spcAft>
              <a:buClr>
                <a:schemeClr val="dk1"/>
              </a:buClr>
              <a:buSzPts val="1400"/>
              <a:buChar char="■"/>
              <a:defRPr/>
            </a:lvl6pPr>
            <a:lvl7pPr marL="4267093" lvl="6" indent="-423323" algn="l" rtl="0">
              <a:lnSpc>
                <a:spcPct val="90000"/>
              </a:lnSpc>
              <a:spcBef>
                <a:spcPts val="1600"/>
              </a:spcBef>
              <a:spcAft>
                <a:spcPts val="0"/>
              </a:spcAft>
              <a:buClr>
                <a:schemeClr val="dk1"/>
              </a:buClr>
              <a:buSzPts val="1400"/>
              <a:buChar char="●"/>
              <a:defRPr/>
            </a:lvl7pPr>
            <a:lvl8pPr marL="4876678" lvl="7" indent="-423323" algn="l" rtl="0">
              <a:lnSpc>
                <a:spcPct val="90000"/>
              </a:lnSpc>
              <a:spcBef>
                <a:spcPts val="1600"/>
              </a:spcBef>
              <a:spcAft>
                <a:spcPts val="0"/>
              </a:spcAft>
              <a:buClr>
                <a:schemeClr val="dk1"/>
              </a:buClr>
              <a:buSzPts val="1400"/>
              <a:buChar char="○"/>
              <a:defRPr/>
            </a:lvl8pPr>
            <a:lvl9pPr marL="5486263" lvl="8" indent="-423323" algn="l" rtl="0">
              <a:lnSpc>
                <a:spcPct val="90000"/>
              </a:lnSpc>
              <a:spcBef>
                <a:spcPts val="1600"/>
              </a:spcBef>
              <a:spcAft>
                <a:spcPts val="1600"/>
              </a:spcAft>
              <a:buClr>
                <a:schemeClr val="dk1"/>
              </a:buClr>
              <a:buSzPts val="1400"/>
              <a:buChar char="■"/>
              <a:defRPr/>
            </a:lvl9pPr>
          </a:lstStyle>
          <a:p>
            <a:endParaRPr/>
          </a:p>
        </p:txBody>
      </p:sp>
    </p:spTree>
    <p:extLst>
      <p:ext uri="{BB962C8B-B14F-4D97-AF65-F5344CB8AC3E}">
        <p14:creationId xmlns:p14="http://schemas.microsoft.com/office/powerpoint/2010/main" val="39857883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8_Custom Layout">
  <p:cSld name="8_Custom Layout">
    <p:spTree>
      <p:nvGrpSpPr>
        <p:cNvPr id="1" name="Shape 62"/>
        <p:cNvGrpSpPr/>
        <p:nvPr/>
      </p:nvGrpSpPr>
      <p:grpSpPr>
        <a:xfrm>
          <a:off x="0" y="0"/>
          <a:ext cx="0" cy="0"/>
          <a:chOff x="0" y="0"/>
          <a:chExt cx="0" cy="0"/>
        </a:xfrm>
      </p:grpSpPr>
      <p:sp>
        <p:nvSpPr>
          <p:cNvPr id="63" name="Google Shape;63;p17"/>
          <p:cNvSpPr>
            <a:spLocks noGrp="1"/>
          </p:cNvSpPr>
          <p:nvPr>
            <p:ph type="pic" idx="2"/>
          </p:nvPr>
        </p:nvSpPr>
        <p:spPr>
          <a:xfrm>
            <a:off x="0" y="0"/>
            <a:ext cx="4953000" cy="6858000"/>
          </a:xfrm>
          <a:prstGeom prst="rect">
            <a:avLst/>
          </a:prstGeom>
          <a:noFill/>
          <a:ln>
            <a:noFill/>
          </a:ln>
        </p:spPr>
      </p:sp>
    </p:spTree>
    <p:extLst>
      <p:ext uri="{BB962C8B-B14F-4D97-AF65-F5344CB8AC3E}">
        <p14:creationId xmlns:p14="http://schemas.microsoft.com/office/powerpoint/2010/main" val="472205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Google Shape;450;p65">
            <a:extLst>
              <a:ext uri="{FF2B5EF4-FFF2-40B4-BE49-F238E27FC236}">
                <a16:creationId xmlns:a16="http://schemas.microsoft.com/office/drawing/2014/main" id="{FEDF61B4-A3B4-A13E-A892-978B50C3D8E3}"/>
              </a:ext>
            </a:extLst>
          </p:cNvPr>
          <p:cNvPicPr preferRelativeResize="0"/>
          <p:nvPr userDrawn="1"/>
        </p:nvPicPr>
        <p:blipFill rotWithShape="1">
          <a:blip r:embed="rId17">
            <a:alphaModFix/>
          </a:blip>
          <a:srcRect t="7806" b="7798"/>
          <a:stretch/>
        </p:blipFill>
        <p:spPr>
          <a:xfrm>
            <a:off x="0" y="0"/>
            <a:ext cx="12192000" cy="6858000"/>
          </a:xfrm>
          <a:prstGeom prst="rect">
            <a:avLst/>
          </a:prstGeom>
          <a:noFill/>
          <a:ln>
            <a:noFill/>
          </a:ln>
        </p:spPr>
      </p:pic>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4/14/2025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9795851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8" r:id="rId15"/>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0.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openxmlformats.org/officeDocument/2006/relationships/image" Target="../media/image38.emf"/><Relationship Id="rId4" Type="http://schemas.openxmlformats.org/officeDocument/2006/relationships/image" Target="../media/image3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F674A711-CA74-A4CD-9EFC-973AFBF1F9F6}"/>
              </a:ext>
            </a:extLst>
          </p:cNvPr>
          <p:cNvPicPr>
            <a:picLocks noGrp="1" noChangeAspect="1"/>
          </p:cNvPicPr>
          <p:nvPr>
            <p:ph type="pic" sz="quarter" idx="10"/>
          </p:nvPr>
        </p:nvPicPr>
        <p:blipFill>
          <a:blip r:embed="rId3"/>
          <a:srcRect l="16832" r="16832"/>
          <a:stretch>
            <a:fillRect/>
          </a:stretch>
        </p:blipFill>
        <p:spPr/>
      </p:pic>
      <p:sp>
        <p:nvSpPr>
          <p:cNvPr id="3" name="Freeform 13"/>
          <p:cNvSpPr>
            <a:spLocks/>
          </p:cNvSpPr>
          <p:nvPr/>
        </p:nvSpPr>
        <p:spPr bwMode="auto">
          <a:xfrm>
            <a:off x="81280" y="0"/>
            <a:ext cx="6455902" cy="6858000"/>
          </a:xfrm>
          <a:custGeom>
            <a:avLst/>
            <a:gdLst>
              <a:gd name="T0" fmla="*/ 0 w 305"/>
              <a:gd name="T1" fmla="*/ 324 h 324"/>
              <a:gd name="T2" fmla="*/ 251 w 305"/>
              <a:gd name="T3" fmla="*/ 324 h 324"/>
              <a:gd name="T4" fmla="*/ 305 w 305"/>
              <a:gd name="T5" fmla="*/ 168 h 324"/>
              <a:gd name="T6" fmla="*/ 305 w 305"/>
              <a:gd name="T7" fmla="*/ 156 h 324"/>
              <a:gd name="T8" fmla="*/ 251 w 305"/>
              <a:gd name="T9" fmla="*/ 0 h 324"/>
              <a:gd name="T10" fmla="*/ 0 w 305"/>
              <a:gd name="T11" fmla="*/ 0 h 324"/>
              <a:gd name="T12" fmla="*/ 0 w 305"/>
              <a:gd name="T13" fmla="*/ 324 h 324"/>
            </a:gdLst>
            <a:ahLst/>
            <a:cxnLst>
              <a:cxn ang="0">
                <a:pos x="T0" y="T1"/>
              </a:cxn>
              <a:cxn ang="0">
                <a:pos x="T2" y="T3"/>
              </a:cxn>
              <a:cxn ang="0">
                <a:pos x="T4" y="T5"/>
              </a:cxn>
              <a:cxn ang="0">
                <a:pos x="T6" y="T7"/>
              </a:cxn>
              <a:cxn ang="0">
                <a:pos x="T8" y="T9"/>
              </a:cxn>
              <a:cxn ang="0">
                <a:pos x="T10" y="T11"/>
              </a:cxn>
              <a:cxn ang="0">
                <a:pos x="T12" y="T13"/>
              </a:cxn>
            </a:cxnLst>
            <a:rect l="0" t="0" r="r" b="b"/>
            <a:pathLst>
              <a:path w="305" h="324">
                <a:moveTo>
                  <a:pt x="0" y="324"/>
                </a:moveTo>
                <a:cubicBezTo>
                  <a:pt x="251" y="324"/>
                  <a:pt x="251" y="324"/>
                  <a:pt x="251" y="324"/>
                </a:cubicBezTo>
                <a:cubicBezTo>
                  <a:pt x="285" y="281"/>
                  <a:pt x="305" y="227"/>
                  <a:pt x="305" y="168"/>
                </a:cubicBezTo>
                <a:cubicBezTo>
                  <a:pt x="305" y="156"/>
                  <a:pt x="305" y="156"/>
                  <a:pt x="305" y="156"/>
                </a:cubicBezTo>
                <a:cubicBezTo>
                  <a:pt x="305" y="97"/>
                  <a:pt x="285" y="43"/>
                  <a:pt x="251" y="0"/>
                </a:cubicBezTo>
                <a:cubicBezTo>
                  <a:pt x="0" y="0"/>
                  <a:pt x="0" y="0"/>
                  <a:pt x="0" y="0"/>
                </a:cubicBezTo>
                <a:lnTo>
                  <a:pt x="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latin typeface="Calibri"/>
            </a:endParaRPr>
          </a:p>
        </p:txBody>
      </p:sp>
      <p:pic>
        <p:nvPicPr>
          <p:cNvPr id="4" name="Google Shape;194;p55">
            <a:extLst>
              <a:ext uri="{FF2B5EF4-FFF2-40B4-BE49-F238E27FC236}">
                <a16:creationId xmlns:a16="http://schemas.microsoft.com/office/drawing/2014/main" id="{B632E544-6244-6207-752B-ADEEC66015A8}"/>
              </a:ext>
            </a:extLst>
          </p:cNvPr>
          <p:cNvPicPr preferRelativeResize="0"/>
          <p:nvPr/>
        </p:nvPicPr>
        <p:blipFill>
          <a:blip r:embed="rId4">
            <a:alphaModFix/>
          </a:blip>
          <a:stretch>
            <a:fillRect/>
          </a:stretch>
        </p:blipFill>
        <p:spPr>
          <a:xfrm>
            <a:off x="270705" y="181178"/>
            <a:ext cx="2635055" cy="611302"/>
          </a:xfrm>
          <a:prstGeom prst="rect">
            <a:avLst/>
          </a:prstGeom>
          <a:noFill/>
          <a:ln>
            <a:noFill/>
          </a:ln>
        </p:spPr>
      </p:pic>
      <p:sp>
        <p:nvSpPr>
          <p:cNvPr id="24" name="Google Shape;196;p55">
            <a:extLst>
              <a:ext uri="{FF2B5EF4-FFF2-40B4-BE49-F238E27FC236}">
                <a16:creationId xmlns:a16="http://schemas.microsoft.com/office/drawing/2014/main" id="{F44F8E55-E8DB-E932-AB95-47844A24D58F}"/>
              </a:ext>
            </a:extLst>
          </p:cNvPr>
          <p:cNvSpPr/>
          <p:nvPr/>
        </p:nvSpPr>
        <p:spPr>
          <a:xfrm>
            <a:off x="1141759" y="3847052"/>
            <a:ext cx="3528000" cy="88400"/>
          </a:xfrm>
          <a:prstGeom prst="roundRect">
            <a:avLst>
              <a:gd name="adj" fmla="val 50000"/>
            </a:avLst>
          </a:prstGeom>
          <a:gradFill>
            <a:gsLst>
              <a:gs pos="0">
                <a:srgbClr val="016938"/>
              </a:gs>
              <a:gs pos="100000">
                <a:srgbClr val="6CBF4A"/>
              </a:gs>
            </a:gsLst>
            <a:lin ang="2700006" scaled="0"/>
          </a:gradFill>
          <a:ln>
            <a:noFill/>
          </a:ln>
          <a:effectLst>
            <a:outerShdw blurRad="200025" dist="19050" dir="5400000" algn="bl" rotWithShape="0">
              <a:srgbClr val="000000">
                <a:alpha val="20000"/>
              </a:srgbClr>
            </a:outerShdw>
          </a:effectLst>
        </p:spPr>
        <p:txBody>
          <a:bodyPr spcFirstLastPara="1" wrap="square" lIns="91433" tIns="45700" rIns="91433" bIns="45700" anchor="ctr" anchorCtr="0">
            <a:noAutofit/>
          </a:bodyPr>
          <a:lstStyle/>
          <a:p>
            <a:pPr algn="ctr">
              <a:buSzPts val="1400"/>
            </a:pPr>
            <a:endParaRPr sz="1867">
              <a:solidFill>
                <a:srgbClr val="FFFFFF"/>
              </a:solidFill>
              <a:latin typeface="Open Sans"/>
              <a:ea typeface="Open Sans"/>
              <a:cs typeface="Open Sans"/>
              <a:sym typeface="Open Sans"/>
            </a:endParaRPr>
          </a:p>
        </p:txBody>
      </p:sp>
      <p:sp>
        <p:nvSpPr>
          <p:cNvPr id="5" name="Rectangle 4">
            <a:extLst>
              <a:ext uri="{FF2B5EF4-FFF2-40B4-BE49-F238E27FC236}">
                <a16:creationId xmlns:a16="http://schemas.microsoft.com/office/drawing/2014/main" id="{B26C6E52-E2A2-B969-5212-FBB41E75F865}"/>
              </a:ext>
            </a:extLst>
          </p:cNvPr>
          <p:cNvSpPr/>
          <p:nvPr/>
        </p:nvSpPr>
        <p:spPr>
          <a:xfrm>
            <a:off x="-2247139" y="3206972"/>
            <a:ext cx="10610597" cy="584775"/>
          </a:xfrm>
          <a:prstGeom prst="rect">
            <a:avLst/>
          </a:prstGeom>
          <a:noFill/>
        </p:spPr>
        <p:txBody>
          <a:bodyPr wrap="square" lIns="91440" tIns="45720" rIns="91440" bIns="45720">
            <a:spAutoFit/>
          </a:bodyPr>
          <a:lstStyle/>
          <a:p>
            <a:pPr algn="ctr"/>
            <a:r>
              <a:rPr lang="en-US" sz="3200" dirty="0">
                <a:ln w="0"/>
                <a:solidFill>
                  <a:schemeClr val="accent3"/>
                </a:solidFill>
                <a:effectLst>
                  <a:reflection blurRad="6350" stA="53000" endA="300" endPos="35500" dir="5400000" sy="-90000" algn="bl" rotWithShape="0"/>
                </a:effectLst>
                <a:latin typeface="Congenial Black" panose="020F0502020204030204" pitchFamily="2" charset="0"/>
                <a:ea typeface="Crimson Pro" pitchFamily="34" charset="-122"/>
                <a:cs typeface="Crimson Pro" pitchFamily="34" charset="-120"/>
              </a:rPr>
              <a:t>Azure </a:t>
            </a:r>
            <a:r>
              <a:rPr lang="en-US" sz="3200" cap="none" spc="0" dirty="0">
                <a:ln w="0"/>
                <a:solidFill>
                  <a:schemeClr val="accent3"/>
                </a:solidFill>
                <a:effectLst>
                  <a:reflection blurRad="6350" stA="53000" endA="300" endPos="35500" dir="5400000" sy="-90000" algn="bl" rotWithShape="0"/>
                </a:effectLst>
                <a:latin typeface="Congenial Black" panose="020F0502020204030204" pitchFamily="2" charset="0"/>
                <a:ea typeface="Crimson Pro" pitchFamily="34" charset="-122"/>
                <a:cs typeface="Crimson Pro" pitchFamily="34" charset="-120"/>
              </a:rPr>
              <a:t>Security</a:t>
            </a:r>
            <a:endParaRPr lang="en-IN" sz="3200" cap="none" spc="0" dirty="0">
              <a:ln w="0"/>
              <a:solidFill>
                <a:schemeClr val="accent3"/>
              </a:solidFill>
              <a:effectLst>
                <a:reflection blurRad="6350" stA="53000" endA="300" endPos="35500" dir="5400000" sy="-90000" algn="bl" rotWithShape="0"/>
              </a:effectLst>
              <a:latin typeface="Congenial Black" panose="020F0502020204030204" pitchFamily="2" charset="0"/>
            </a:endParaRPr>
          </a:p>
        </p:txBody>
      </p:sp>
    </p:spTree>
    <p:extLst>
      <p:ext uri="{BB962C8B-B14F-4D97-AF65-F5344CB8AC3E}">
        <p14:creationId xmlns:p14="http://schemas.microsoft.com/office/powerpoint/2010/main" val="3752522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F674A711-CA74-A4CD-9EFC-973AFBF1F9F6}"/>
              </a:ext>
            </a:extLst>
          </p:cNvPr>
          <p:cNvPicPr>
            <a:picLocks noGrp="1" noChangeAspect="1"/>
          </p:cNvPicPr>
          <p:nvPr>
            <p:ph type="pic" sz="quarter" idx="10"/>
          </p:nvPr>
        </p:nvPicPr>
        <p:blipFill>
          <a:blip r:embed="rId3"/>
          <a:srcRect l="16832" r="16832"/>
          <a:stretch>
            <a:fillRect/>
          </a:stretch>
        </p:blipFill>
        <p:spPr/>
      </p:pic>
      <p:sp>
        <p:nvSpPr>
          <p:cNvPr id="3" name="Freeform 13"/>
          <p:cNvSpPr>
            <a:spLocks/>
          </p:cNvSpPr>
          <p:nvPr/>
        </p:nvSpPr>
        <p:spPr bwMode="auto">
          <a:xfrm>
            <a:off x="81280" y="0"/>
            <a:ext cx="6455902" cy="6858000"/>
          </a:xfrm>
          <a:custGeom>
            <a:avLst/>
            <a:gdLst>
              <a:gd name="T0" fmla="*/ 0 w 305"/>
              <a:gd name="T1" fmla="*/ 324 h 324"/>
              <a:gd name="T2" fmla="*/ 251 w 305"/>
              <a:gd name="T3" fmla="*/ 324 h 324"/>
              <a:gd name="T4" fmla="*/ 305 w 305"/>
              <a:gd name="T5" fmla="*/ 168 h 324"/>
              <a:gd name="T6" fmla="*/ 305 w 305"/>
              <a:gd name="T7" fmla="*/ 156 h 324"/>
              <a:gd name="T8" fmla="*/ 251 w 305"/>
              <a:gd name="T9" fmla="*/ 0 h 324"/>
              <a:gd name="T10" fmla="*/ 0 w 305"/>
              <a:gd name="T11" fmla="*/ 0 h 324"/>
              <a:gd name="T12" fmla="*/ 0 w 305"/>
              <a:gd name="T13" fmla="*/ 324 h 324"/>
            </a:gdLst>
            <a:ahLst/>
            <a:cxnLst>
              <a:cxn ang="0">
                <a:pos x="T0" y="T1"/>
              </a:cxn>
              <a:cxn ang="0">
                <a:pos x="T2" y="T3"/>
              </a:cxn>
              <a:cxn ang="0">
                <a:pos x="T4" y="T5"/>
              </a:cxn>
              <a:cxn ang="0">
                <a:pos x="T6" y="T7"/>
              </a:cxn>
              <a:cxn ang="0">
                <a:pos x="T8" y="T9"/>
              </a:cxn>
              <a:cxn ang="0">
                <a:pos x="T10" y="T11"/>
              </a:cxn>
              <a:cxn ang="0">
                <a:pos x="T12" y="T13"/>
              </a:cxn>
            </a:cxnLst>
            <a:rect l="0" t="0" r="r" b="b"/>
            <a:pathLst>
              <a:path w="305" h="324">
                <a:moveTo>
                  <a:pt x="0" y="324"/>
                </a:moveTo>
                <a:cubicBezTo>
                  <a:pt x="251" y="324"/>
                  <a:pt x="251" y="324"/>
                  <a:pt x="251" y="324"/>
                </a:cubicBezTo>
                <a:cubicBezTo>
                  <a:pt x="285" y="281"/>
                  <a:pt x="305" y="227"/>
                  <a:pt x="305" y="168"/>
                </a:cubicBezTo>
                <a:cubicBezTo>
                  <a:pt x="305" y="156"/>
                  <a:pt x="305" y="156"/>
                  <a:pt x="305" y="156"/>
                </a:cubicBezTo>
                <a:cubicBezTo>
                  <a:pt x="305" y="97"/>
                  <a:pt x="285" y="43"/>
                  <a:pt x="251" y="0"/>
                </a:cubicBezTo>
                <a:cubicBezTo>
                  <a:pt x="0" y="0"/>
                  <a:pt x="0" y="0"/>
                  <a:pt x="0" y="0"/>
                </a:cubicBezTo>
                <a:lnTo>
                  <a:pt x="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latin typeface="Calibri"/>
            </a:endParaRPr>
          </a:p>
        </p:txBody>
      </p:sp>
      <p:sp>
        <p:nvSpPr>
          <p:cNvPr id="5" name="TextBox 4"/>
          <p:cNvSpPr txBox="1"/>
          <p:nvPr/>
        </p:nvSpPr>
        <p:spPr>
          <a:xfrm>
            <a:off x="733564" y="3510379"/>
            <a:ext cx="4993075" cy="1200329"/>
          </a:xfrm>
          <a:prstGeom prst="rect">
            <a:avLst/>
          </a:prstGeom>
          <a:noFill/>
        </p:spPr>
        <p:txBody>
          <a:bodyPr wrap="square" rtlCol="0" anchor="t">
            <a:spAutoFit/>
          </a:bodyPr>
          <a:lstStyle/>
          <a:p>
            <a:r>
              <a:rPr lang="en-US" i="1" dirty="0">
                <a:solidFill>
                  <a:srgbClr val="4C4C4D"/>
                </a:solidFill>
                <a:latin typeface="Heebo" pitchFamily="34" charset="0"/>
                <a:ea typeface="Heebo" pitchFamily="34" charset="-122"/>
                <a:cs typeface="Heebo" pitchFamily="34" charset="-120"/>
              </a:rPr>
              <a:t>Microsoft Defender is a comprehensive cybersecurity solution that helps organizations protect their devices, data, and users from cyberattacks</a:t>
            </a:r>
            <a:endParaRPr lang="en-GB" i="1" dirty="0">
              <a:solidFill>
                <a:schemeClr val="accent1">
                  <a:lumMod val="75000"/>
                </a:schemeClr>
              </a:solidFill>
              <a:latin typeface="+mn-lt"/>
              <a:ea typeface="Franklin Gothic Medium"/>
              <a:cs typeface="Franklin Gothic Medium"/>
            </a:endParaRPr>
          </a:p>
        </p:txBody>
      </p:sp>
      <p:pic>
        <p:nvPicPr>
          <p:cNvPr id="4" name="Google Shape;194;p55">
            <a:extLst>
              <a:ext uri="{FF2B5EF4-FFF2-40B4-BE49-F238E27FC236}">
                <a16:creationId xmlns:a16="http://schemas.microsoft.com/office/drawing/2014/main" id="{B632E544-6244-6207-752B-ADEEC66015A8}"/>
              </a:ext>
            </a:extLst>
          </p:cNvPr>
          <p:cNvPicPr preferRelativeResize="0"/>
          <p:nvPr/>
        </p:nvPicPr>
        <p:blipFill>
          <a:blip r:embed="rId4">
            <a:alphaModFix/>
          </a:blip>
          <a:stretch>
            <a:fillRect/>
          </a:stretch>
        </p:blipFill>
        <p:spPr>
          <a:xfrm>
            <a:off x="270705" y="181178"/>
            <a:ext cx="2635055" cy="611302"/>
          </a:xfrm>
          <a:prstGeom prst="rect">
            <a:avLst/>
          </a:prstGeom>
          <a:noFill/>
          <a:ln>
            <a:noFill/>
          </a:ln>
        </p:spPr>
      </p:pic>
      <p:sp>
        <p:nvSpPr>
          <p:cNvPr id="24" name="Google Shape;196;p55">
            <a:extLst>
              <a:ext uri="{FF2B5EF4-FFF2-40B4-BE49-F238E27FC236}">
                <a16:creationId xmlns:a16="http://schemas.microsoft.com/office/drawing/2014/main" id="{F44F8E55-E8DB-E932-AB95-47844A24D58F}"/>
              </a:ext>
            </a:extLst>
          </p:cNvPr>
          <p:cNvSpPr/>
          <p:nvPr/>
        </p:nvSpPr>
        <p:spPr>
          <a:xfrm>
            <a:off x="712856" y="5039672"/>
            <a:ext cx="3528000" cy="88400"/>
          </a:xfrm>
          <a:prstGeom prst="roundRect">
            <a:avLst>
              <a:gd name="adj" fmla="val 50000"/>
            </a:avLst>
          </a:prstGeom>
          <a:gradFill>
            <a:gsLst>
              <a:gs pos="0">
                <a:srgbClr val="016938"/>
              </a:gs>
              <a:gs pos="100000">
                <a:srgbClr val="6CBF4A"/>
              </a:gs>
            </a:gsLst>
            <a:lin ang="2700006" scaled="0"/>
          </a:gradFill>
          <a:ln>
            <a:noFill/>
          </a:ln>
          <a:effectLst>
            <a:outerShdw blurRad="200025" dist="19050" dir="5400000" algn="bl" rotWithShape="0">
              <a:srgbClr val="000000">
                <a:alpha val="20000"/>
              </a:srgbClr>
            </a:outerShdw>
          </a:effectLst>
        </p:spPr>
        <p:txBody>
          <a:bodyPr spcFirstLastPara="1" wrap="square" lIns="91433" tIns="45700" rIns="91433" bIns="45700" anchor="ctr" anchorCtr="0">
            <a:noAutofit/>
          </a:bodyPr>
          <a:lstStyle/>
          <a:p>
            <a:pPr algn="ctr">
              <a:buSzPts val="1400"/>
            </a:pPr>
            <a:endParaRPr sz="1867">
              <a:solidFill>
                <a:srgbClr val="FFFFFF"/>
              </a:solidFill>
              <a:latin typeface="Open Sans"/>
              <a:ea typeface="Open Sans"/>
              <a:cs typeface="Open Sans"/>
              <a:sym typeface="Open Sans"/>
            </a:endParaRPr>
          </a:p>
        </p:txBody>
      </p:sp>
      <p:sp>
        <p:nvSpPr>
          <p:cNvPr id="2" name="Rectangle 1">
            <a:extLst>
              <a:ext uri="{FF2B5EF4-FFF2-40B4-BE49-F238E27FC236}">
                <a16:creationId xmlns:a16="http://schemas.microsoft.com/office/drawing/2014/main" id="{96E33002-8239-6F06-BAA8-3CF7A0E94C41}"/>
              </a:ext>
            </a:extLst>
          </p:cNvPr>
          <p:cNvSpPr/>
          <p:nvPr/>
        </p:nvSpPr>
        <p:spPr>
          <a:xfrm>
            <a:off x="-2399539" y="2320926"/>
            <a:ext cx="10610597" cy="1077218"/>
          </a:xfrm>
          <a:prstGeom prst="rect">
            <a:avLst/>
          </a:prstGeom>
          <a:noFill/>
        </p:spPr>
        <p:txBody>
          <a:bodyPr wrap="square" lIns="91440" tIns="45720" rIns="91440" bIns="45720">
            <a:spAutoFit/>
          </a:bodyPr>
          <a:lstStyle/>
          <a:p>
            <a:pPr algn="ctr"/>
            <a:r>
              <a:rPr lang="en-US" sz="3200" cap="none" spc="0" dirty="0">
                <a:ln w="0"/>
                <a:solidFill>
                  <a:schemeClr val="accent3"/>
                </a:solidFill>
                <a:effectLst>
                  <a:reflection blurRad="6350" stA="53000" endA="300" endPos="35500" dir="5400000" sy="-90000" algn="bl" rotWithShape="0"/>
                </a:effectLst>
                <a:latin typeface="Congenial Black" panose="020F0502020204030204" pitchFamily="2" charset="0"/>
                <a:ea typeface="Crimson Pro" pitchFamily="34" charset="-122"/>
                <a:cs typeface="Crimson Pro" pitchFamily="34" charset="-120"/>
              </a:rPr>
              <a:t>MICROSOFT DEFENDER </a:t>
            </a:r>
          </a:p>
          <a:p>
            <a:pPr algn="ctr"/>
            <a:r>
              <a:rPr lang="en-US" sz="3200" cap="none" spc="0" dirty="0">
                <a:ln w="0"/>
                <a:solidFill>
                  <a:schemeClr val="accent3"/>
                </a:solidFill>
                <a:effectLst>
                  <a:reflection blurRad="6350" stA="53000" endA="300" endPos="35500" dir="5400000" sy="-90000" algn="bl" rotWithShape="0"/>
                </a:effectLst>
                <a:latin typeface="Congenial Black" panose="020F0502020204030204" pitchFamily="2" charset="0"/>
                <a:ea typeface="Crimson Pro" pitchFamily="34" charset="-122"/>
                <a:cs typeface="Crimson Pro" pitchFamily="34" charset="-120"/>
              </a:rPr>
              <a:t>For Cloud</a:t>
            </a:r>
            <a:endParaRPr lang="en-IN" sz="3200" cap="none" spc="0" dirty="0">
              <a:ln w="0"/>
              <a:solidFill>
                <a:schemeClr val="accent3"/>
              </a:solidFill>
              <a:effectLst>
                <a:reflection blurRad="6350" stA="53000" endA="300" endPos="35500" dir="5400000" sy="-90000" algn="bl" rotWithShape="0"/>
              </a:effectLst>
              <a:latin typeface="Congenial Black" panose="020F0502020204030204" pitchFamily="2" charset="0"/>
            </a:endParaRPr>
          </a:p>
        </p:txBody>
      </p:sp>
    </p:spTree>
    <p:extLst>
      <p:ext uri="{BB962C8B-B14F-4D97-AF65-F5344CB8AC3E}">
        <p14:creationId xmlns:p14="http://schemas.microsoft.com/office/powerpoint/2010/main" val="385396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pic>
        <p:nvPicPr>
          <p:cNvPr id="393" name="Google Shape;393;p63"/>
          <p:cNvPicPr preferRelativeResize="0"/>
          <p:nvPr/>
        </p:nvPicPr>
        <p:blipFill rotWithShape="1">
          <a:blip r:embed="rId3">
            <a:alphaModFix/>
          </a:blip>
          <a:srcRect t="7806" b="7798"/>
          <a:stretch/>
        </p:blipFill>
        <p:spPr>
          <a:xfrm>
            <a:off x="51961" y="0"/>
            <a:ext cx="12192004" cy="6858001"/>
          </a:xfrm>
          <a:prstGeom prst="rect">
            <a:avLst/>
          </a:prstGeom>
          <a:noFill/>
          <a:ln>
            <a:noFill/>
          </a:ln>
        </p:spPr>
      </p:pic>
      <p:cxnSp>
        <p:nvCxnSpPr>
          <p:cNvPr id="397" name="Google Shape;397;p63"/>
          <p:cNvCxnSpPr/>
          <p:nvPr/>
        </p:nvCxnSpPr>
        <p:spPr>
          <a:xfrm>
            <a:off x="6251133" y="1079210"/>
            <a:ext cx="0" cy="2069600"/>
          </a:xfrm>
          <a:prstGeom prst="straightConnector1">
            <a:avLst/>
          </a:prstGeom>
          <a:noFill/>
          <a:ln w="9525" cap="flat" cmpd="sng">
            <a:solidFill>
              <a:srgbClr val="B7B7B7"/>
            </a:solidFill>
            <a:prstDash val="solid"/>
            <a:round/>
            <a:headEnd type="none" w="med" len="med"/>
            <a:tailEnd type="none" w="med" len="med"/>
          </a:ln>
        </p:spPr>
      </p:cxnSp>
      <p:pic>
        <p:nvPicPr>
          <p:cNvPr id="398" name="Google Shape;398;p63"/>
          <p:cNvPicPr preferRelativeResize="0"/>
          <p:nvPr/>
        </p:nvPicPr>
        <p:blipFill>
          <a:blip r:embed="rId4">
            <a:alphaModFix/>
          </a:blip>
          <a:srcRect r="24622"/>
          <a:stretch/>
        </p:blipFill>
        <p:spPr>
          <a:xfrm>
            <a:off x="1177848" y="3231521"/>
            <a:ext cx="8606574" cy="3342395"/>
          </a:xfrm>
          <a:prstGeom prst="rect">
            <a:avLst/>
          </a:prstGeom>
          <a:noFill/>
          <a:ln>
            <a:noFill/>
          </a:ln>
        </p:spPr>
      </p:pic>
      <p:sp>
        <p:nvSpPr>
          <p:cNvPr id="399" name="Google Shape;399;p63"/>
          <p:cNvSpPr txBox="1"/>
          <p:nvPr/>
        </p:nvSpPr>
        <p:spPr>
          <a:xfrm>
            <a:off x="1216006" y="4872966"/>
            <a:ext cx="2636000" cy="1361871"/>
          </a:xfrm>
          <a:prstGeom prst="rect">
            <a:avLst/>
          </a:prstGeom>
          <a:noFill/>
          <a:ln>
            <a:noFill/>
          </a:ln>
        </p:spPr>
        <p:txBody>
          <a:bodyPr spcFirstLastPara="1" wrap="square" lIns="121900" tIns="121900" rIns="121900" bIns="121900" anchor="t" anchorCtr="0">
            <a:spAutoFit/>
          </a:bodyPr>
          <a:lstStyle/>
          <a:p>
            <a:pPr marL="0" indent="0">
              <a:lnSpc>
                <a:spcPts val="2850"/>
              </a:lnSpc>
              <a:buNone/>
            </a:pPr>
            <a:r>
              <a:rPr lang="en-US" sz="1200" dirty="0">
                <a:solidFill>
                  <a:schemeClr val="bg1"/>
                </a:solidFill>
                <a:latin typeface="Heebo" pitchFamily="34" charset="0"/>
                <a:ea typeface="Heebo" pitchFamily="34" charset="-122"/>
                <a:cs typeface="Heebo" pitchFamily="34" charset="-120"/>
              </a:rPr>
              <a:t>Access real-time threat intelligence from Microsoft's global network to stay ahead of emerging threats.</a:t>
            </a:r>
            <a:endParaRPr lang="en-US" sz="1200" dirty="0">
              <a:solidFill>
                <a:schemeClr val="bg1"/>
              </a:solidFill>
            </a:endParaRPr>
          </a:p>
        </p:txBody>
      </p:sp>
      <p:sp>
        <p:nvSpPr>
          <p:cNvPr id="400" name="Google Shape;400;p63"/>
          <p:cNvSpPr txBox="1"/>
          <p:nvPr/>
        </p:nvSpPr>
        <p:spPr>
          <a:xfrm>
            <a:off x="1584608" y="4248151"/>
            <a:ext cx="2636000" cy="605254"/>
          </a:xfrm>
          <a:prstGeom prst="rect">
            <a:avLst/>
          </a:prstGeom>
          <a:noFill/>
          <a:ln>
            <a:noFill/>
          </a:ln>
        </p:spPr>
        <p:txBody>
          <a:bodyPr spcFirstLastPara="1" wrap="square" lIns="121900" tIns="121900" rIns="121900" bIns="121900" anchor="t" anchorCtr="0">
            <a:spAutoFit/>
          </a:bodyPr>
          <a:lstStyle/>
          <a:p>
            <a:pPr marL="0" indent="0">
              <a:lnSpc>
                <a:spcPts val="2750"/>
              </a:lnSpc>
              <a:buNone/>
            </a:pPr>
            <a:r>
              <a:rPr lang="en-US" sz="1400" b="1" dirty="0">
                <a:solidFill>
                  <a:schemeClr val="bg1"/>
                </a:solidFill>
                <a:latin typeface="Crimson Pro" pitchFamily="34" charset="0"/>
                <a:ea typeface="Crimson Pro" pitchFamily="34" charset="-122"/>
                <a:cs typeface="Crimson Pro" pitchFamily="34" charset="-120"/>
              </a:rPr>
              <a:t>Threat Intelligence</a:t>
            </a:r>
            <a:endParaRPr lang="en-US" sz="1400" b="1" dirty="0">
              <a:solidFill>
                <a:schemeClr val="bg1"/>
              </a:solidFill>
            </a:endParaRPr>
          </a:p>
        </p:txBody>
      </p:sp>
      <p:sp>
        <p:nvSpPr>
          <p:cNvPr id="401" name="Google Shape;401;p63"/>
          <p:cNvSpPr txBox="1"/>
          <p:nvPr/>
        </p:nvSpPr>
        <p:spPr>
          <a:xfrm>
            <a:off x="4109735" y="4942429"/>
            <a:ext cx="2742800" cy="1166946"/>
          </a:xfrm>
          <a:prstGeom prst="rect">
            <a:avLst/>
          </a:prstGeom>
          <a:noFill/>
          <a:ln>
            <a:noFill/>
          </a:ln>
        </p:spPr>
        <p:txBody>
          <a:bodyPr spcFirstLastPara="1" wrap="square" lIns="121900" tIns="121900" rIns="121900" bIns="121900" anchor="t" anchorCtr="0">
            <a:spAutoFit/>
          </a:bodyPr>
          <a:lstStyle/>
          <a:p>
            <a:pPr>
              <a:lnSpc>
                <a:spcPct val="150000"/>
              </a:lnSpc>
              <a:spcBef>
                <a:spcPts val="667"/>
              </a:spcBef>
              <a:buClr>
                <a:schemeClr val="lt1"/>
              </a:buClr>
              <a:buSzPts val="900"/>
            </a:pPr>
            <a:r>
              <a:rPr lang="en-US" sz="1200" dirty="0">
                <a:solidFill>
                  <a:schemeClr val="bg1"/>
                </a:solidFill>
                <a:latin typeface="Heebo" pitchFamily="34" charset="0"/>
                <a:cs typeface="Heebo" pitchFamily="34" charset="-120"/>
              </a:rPr>
              <a:t>Identify and prioritize vulnerabilities across your IT environment, and remediate them proactively</a:t>
            </a:r>
            <a:endParaRPr sz="1200" dirty="0">
              <a:solidFill>
                <a:schemeClr val="bg1"/>
              </a:solidFill>
              <a:latin typeface="Heebo" pitchFamily="34" charset="0"/>
              <a:cs typeface="Heebo" pitchFamily="34" charset="-120"/>
              <a:sym typeface="Lato"/>
            </a:endParaRPr>
          </a:p>
        </p:txBody>
      </p:sp>
      <p:sp>
        <p:nvSpPr>
          <p:cNvPr id="402" name="Google Shape;402;p63"/>
          <p:cNvSpPr txBox="1"/>
          <p:nvPr/>
        </p:nvSpPr>
        <p:spPr>
          <a:xfrm>
            <a:off x="4296715" y="4238252"/>
            <a:ext cx="2636000" cy="605254"/>
          </a:xfrm>
          <a:prstGeom prst="rect">
            <a:avLst/>
          </a:prstGeom>
          <a:noFill/>
          <a:ln>
            <a:noFill/>
          </a:ln>
        </p:spPr>
        <p:txBody>
          <a:bodyPr spcFirstLastPara="1" wrap="square" lIns="121900" tIns="121900" rIns="121900" bIns="121900" anchor="t" anchorCtr="0">
            <a:spAutoFit/>
          </a:bodyPr>
          <a:lstStyle/>
          <a:p>
            <a:pPr marL="0" indent="0">
              <a:lnSpc>
                <a:spcPts val="2750"/>
              </a:lnSpc>
              <a:buNone/>
            </a:pPr>
            <a:r>
              <a:rPr lang="en-US" sz="1400" b="1" dirty="0">
                <a:solidFill>
                  <a:schemeClr val="bg1"/>
                </a:solidFill>
                <a:latin typeface="Crimson Pro" pitchFamily="34" charset="0"/>
                <a:ea typeface="Crimson Pro" pitchFamily="34" charset="-122"/>
                <a:cs typeface="Crimson Pro" pitchFamily="34" charset="-120"/>
              </a:rPr>
              <a:t>Vulnerability Management</a:t>
            </a:r>
            <a:endParaRPr lang="en-US" sz="1400" b="1" dirty="0">
              <a:solidFill>
                <a:schemeClr val="bg1"/>
              </a:solidFill>
            </a:endParaRPr>
          </a:p>
        </p:txBody>
      </p:sp>
      <p:sp>
        <p:nvSpPr>
          <p:cNvPr id="403" name="Google Shape;403;p63"/>
          <p:cNvSpPr txBox="1"/>
          <p:nvPr/>
        </p:nvSpPr>
        <p:spPr>
          <a:xfrm>
            <a:off x="7110264" y="4957150"/>
            <a:ext cx="2636000" cy="1361871"/>
          </a:xfrm>
          <a:prstGeom prst="rect">
            <a:avLst/>
          </a:prstGeom>
          <a:noFill/>
          <a:ln>
            <a:noFill/>
          </a:ln>
        </p:spPr>
        <p:txBody>
          <a:bodyPr spcFirstLastPara="1" wrap="square" lIns="121900" tIns="121900" rIns="121900" bIns="121900" anchor="t" anchorCtr="0">
            <a:spAutoFit/>
          </a:bodyPr>
          <a:lstStyle/>
          <a:p>
            <a:pPr marL="0" indent="0">
              <a:lnSpc>
                <a:spcPts val="2850"/>
              </a:lnSpc>
              <a:buNone/>
            </a:pPr>
            <a:r>
              <a:rPr lang="en-US" sz="1200" dirty="0">
                <a:solidFill>
                  <a:schemeClr val="bg1"/>
                </a:solidFill>
                <a:latin typeface="Heebo" pitchFamily="34" charset="0"/>
                <a:ea typeface="Heebo" pitchFamily="34" charset="-122"/>
                <a:cs typeface="Heebo" pitchFamily="34" charset="-120"/>
              </a:rPr>
              <a:t>Provides advanced capabilities for detecting, investigating, and responding to endpoint attacks.</a:t>
            </a:r>
            <a:endParaRPr lang="en-US" sz="1200" dirty="0">
              <a:solidFill>
                <a:schemeClr val="bg1"/>
              </a:solidFill>
            </a:endParaRPr>
          </a:p>
        </p:txBody>
      </p:sp>
      <p:sp>
        <p:nvSpPr>
          <p:cNvPr id="405" name="Google Shape;405;p63"/>
          <p:cNvSpPr txBox="1"/>
          <p:nvPr/>
        </p:nvSpPr>
        <p:spPr>
          <a:xfrm>
            <a:off x="7311722" y="4211266"/>
            <a:ext cx="2472699" cy="1323399"/>
          </a:xfrm>
          <a:prstGeom prst="rect">
            <a:avLst/>
          </a:prstGeom>
          <a:noFill/>
          <a:ln>
            <a:noFill/>
          </a:ln>
        </p:spPr>
        <p:txBody>
          <a:bodyPr spcFirstLastPara="1" wrap="square" lIns="121900" tIns="121900" rIns="121900" bIns="121900" anchor="t" anchorCtr="0">
            <a:spAutoFit/>
          </a:bodyPr>
          <a:lstStyle/>
          <a:p>
            <a:pPr marL="0" indent="0">
              <a:lnSpc>
                <a:spcPts val="2750"/>
              </a:lnSpc>
              <a:buNone/>
            </a:pPr>
            <a:r>
              <a:rPr lang="en-US" sz="1400" b="1" dirty="0">
                <a:solidFill>
                  <a:schemeClr val="bg1"/>
                </a:solidFill>
                <a:latin typeface="Crimson Pro" pitchFamily="34" charset="0"/>
                <a:ea typeface="Crimson Pro" pitchFamily="34" charset="-122"/>
                <a:cs typeface="Crimson Pro" pitchFamily="34" charset="-120"/>
              </a:rPr>
              <a:t>Endpoint Detection and Response (EDR)</a:t>
            </a:r>
          </a:p>
          <a:p>
            <a:pPr marL="0" indent="0">
              <a:lnSpc>
                <a:spcPts val="2750"/>
              </a:lnSpc>
              <a:buNone/>
            </a:pPr>
            <a:endParaRPr lang="en-US" sz="1400" b="1" dirty="0">
              <a:solidFill>
                <a:schemeClr val="bg1"/>
              </a:solidFill>
            </a:endParaRPr>
          </a:p>
        </p:txBody>
      </p:sp>
      <p:grpSp>
        <p:nvGrpSpPr>
          <p:cNvPr id="7" name="Group 6">
            <a:extLst>
              <a:ext uri="{FF2B5EF4-FFF2-40B4-BE49-F238E27FC236}">
                <a16:creationId xmlns:a16="http://schemas.microsoft.com/office/drawing/2014/main" id="{4F1D3502-3A49-1EBA-6091-8D25393390A4}"/>
              </a:ext>
            </a:extLst>
          </p:cNvPr>
          <p:cNvGrpSpPr/>
          <p:nvPr/>
        </p:nvGrpSpPr>
        <p:grpSpPr>
          <a:xfrm>
            <a:off x="7928583" y="3408492"/>
            <a:ext cx="859971" cy="810199"/>
            <a:chOff x="7191607" y="3244079"/>
            <a:chExt cx="859971" cy="810199"/>
          </a:xfrm>
        </p:grpSpPr>
        <p:sp>
          <p:nvSpPr>
            <p:cNvPr id="3" name="Oval 2">
              <a:extLst>
                <a:ext uri="{FF2B5EF4-FFF2-40B4-BE49-F238E27FC236}">
                  <a16:creationId xmlns:a16="http://schemas.microsoft.com/office/drawing/2014/main" id="{53597469-BB87-E4C1-6D85-773E996F859D}"/>
                </a:ext>
              </a:extLst>
            </p:cNvPr>
            <p:cNvSpPr/>
            <p:nvPr/>
          </p:nvSpPr>
          <p:spPr>
            <a:xfrm>
              <a:off x="7191607" y="3244079"/>
              <a:ext cx="859971" cy="810199"/>
            </a:xfrm>
            <a:prstGeom prst="ellipse">
              <a:avLst/>
            </a:prstGeom>
            <a:solidFill>
              <a:srgbClr val="0F8F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12" descr="Maintenance - Free construction and tools icons">
              <a:extLst>
                <a:ext uri="{FF2B5EF4-FFF2-40B4-BE49-F238E27FC236}">
                  <a16:creationId xmlns:a16="http://schemas.microsoft.com/office/drawing/2014/main" id="{7B249569-329D-3F3E-CEE7-3FFC966A7867}"/>
                </a:ext>
              </a:extLst>
            </p:cNvPr>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7318103" y="3344337"/>
              <a:ext cx="599095" cy="599095"/>
            </a:xfrm>
            <a:prstGeom prst="rect">
              <a:avLst/>
            </a:prstGeom>
            <a:noFill/>
            <a:extLst>
              <a:ext uri="{909E8E84-426E-40DD-AFC4-6F175D3DCCD1}">
                <a14:hiddenFill xmlns:a14="http://schemas.microsoft.com/office/drawing/2010/main">
                  <a:solidFill>
                    <a:srgbClr val="FFFFFF"/>
                  </a:solidFill>
                </a14:hiddenFill>
              </a:ext>
            </a:extLst>
          </p:spPr>
        </p:pic>
      </p:grpSp>
      <p:sp>
        <p:nvSpPr>
          <p:cNvPr id="8" name="Text 0">
            <a:extLst>
              <a:ext uri="{FF2B5EF4-FFF2-40B4-BE49-F238E27FC236}">
                <a16:creationId xmlns:a16="http://schemas.microsoft.com/office/drawing/2014/main" id="{35AD9AA8-020D-0ACD-D825-902EFC444193}"/>
              </a:ext>
            </a:extLst>
          </p:cNvPr>
          <p:cNvSpPr/>
          <p:nvPr/>
        </p:nvSpPr>
        <p:spPr>
          <a:xfrm>
            <a:off x="368138" y="136844"/>
            <a:ext cx="8935287" cy="1347788"/>
          </a:xfrm>
          <a:prstGeom prst="rect">
            <a:avLst/>
          </a:prstGeom>
          <a:noFill/>
          <a:ln/>
        </p:spPr>
        <p:txBody>
          <a:bodyPr wrap="square" lIns="0" tIns="0" rIns="0" bIns="0" rtlCol="0" anchor="t"/>
          <a:lstStyle/>
          <a:p>
            <a:pPr indent="0">
              <a:lnSpc>
                <a:spcPts val="5300"/>
              </a:lnSpc>
              <a:buClr>
                <a:schemeClr val="dk1"/>
              </a:buClr>
              <a:buSzPts val="1100"/>
              <a:buNone/>
            </a:pPr>
            <a:r>
              <a:rPr lang="en-US" sz="4000" b="1" dirty="0">
                <a:solidFill>
                  <a:srgbClr val="00953A"/>
                </a:solidFill>
                <a:latin typeface="Roboto Condensed"/>
                <a:ea typeface="Roboto Condensed"/>
                <a:cs typeface="Roboto Condensed"/>
              </a:rPr>
              <a:t>Cloud Security </a:t>
            </a:r>
            <a:r>
              <a:rPr lang="en-US" sz="4000" b="1" dirty="0">
                <a:solidFill>
                  <a:srgbClr val="026A38"/>
                </a:solidFill>
                <a:latin typeface="Roboto Condensed"/>
                <a:ea typeface="Roboto Condensed"/>
                <a:cs typeface="Roboto Condensed"/>
              </a:rPr>
              <a:t>with Microsoft Defender</a:t>
            </a:r>
          </a:p>
        </p:txBody>
      </p:sp>
      <p:pic>
        <p:nvPicPr>
          <p:cNvPr id="9" name="Image 2" descr="preencoded.png">
            <a:extLst>
              <a:ext uri="{FF2B5EF4-FFF2-40B4-BE49-F238E27FC236}">
                <a16:creationId xmlns:a16="http://schemas.microsoft.com/office/drawing/2014/main" id="{953F1586-A77A-FCB0-5166-780962F3063C}"/>
              </a:ext>
            </a:extLst>
          </p:cNvPr>
          <p:cNvPicPr>
            <a:picLocks noChangeAspect="1"/>
          </p:cNvPicPr>
          <p:nvPr/>
        </p:nvPicPr>
        <p:blipFill>
          <a:blip r:embed="rId6"/>
          <a:stretch>
            <a:fillRect/>
          </a:stretch>
        </p:blipFill>
        <p:spPr>
          <a:xfrm>
            <a:off x="206138" y="1100755"/>
            <a:ext cx="324000" cy="518373"/>
          </a:xfrm>
          <a:prstGeom prst="rect">
            <a:avLst/>
          </a:prstGeom>
          <a:solidFill>
            <a:schemeClr val="accent2">
              <a:lumMod val="75000"/>
            </a:schemeClr>
          </a:solidFill>
        </p:spPr>
      </p:pic>
      <p:sp>
        <p:nvSpPr>
          <p:cNvPr id="10" name="Text 1">
            <a:extLst>
              <a:ext uri="{FF2B5EF4-FFF2-40B4-BE49-F238E27FC236}">
                <a16:creationId xmlns:a16="http://schemas.microsoft.com/office/drawing/2014/main" id="{149A2D91-CD72-8113-9779-2EC5284141B2}"/>
              </a:ext>
            </a:extLst>
          </p:cNvPr>
          <p:cNvSpPr/>
          <p:nvPr/>
        </p:nvSpPr>
        <p:spPr>
          <a:xfrm>
            <a:off x="699793" y="994105"/>
            <a:ext cx="4989195" cy="336947"/>
          </a:xfrm>
          <a:prstGeom prst="rect">
            <a:avLst/>
          </a:prstGeom>
          <a:noFill/>
          <a:ln/>
        </p:spPr>
        <p:txBody>
          <a:bodyPr wrap="none" lIns="0" tIns="0" rIns="0" bIns="0" rtlCol="0" anchor="t"/>
          <a:lstStyle/>
          <a:p>
            <a:pPr marL="0" indent="0" algn="l">
              <a:lnSpc>
                <a:spcPts val="2650"/>
              </a:lnSpc>
              <a:buNone/>
            </a:pPr>
            <a:r>
              <a:rPr lang="en-US" sz="1400" b="1" dirty="0">
                <a:solidFill>
                  <a:srgbClr val="4C4C4D"/>
                </a:solidFill>
                <a:latin typeface="Crimson Pro" pitchFamily="34" charset="0"/>
                <a:ea typeface="Crimson Pro" pitchFamily="34" charset="-122"/>
                <a:cs typeface="Crimson Pro" pitchFamily="34" charset="-120"/>
              </a:rPr>
              <a:t>Cloud Security Posture Management (CSPM)</a:t>
            </a:r>
            <a:endParaRPr lang="en-US" sz="1400" b="1" dirty="0"/>
          </a:p>
        </p:txBody>
      </p:sp>
      <p:pic>
        <p:nvPicPr>
          <p:cNvPr id="12" name="Image 3" descr="preencoded.png">
            <a:extLst>
              <a:ext uri="{FF2B5EF4-FFF2-40B4-BE49-F238E27FC236}">
                <a16:creationId xmlns:a16="http://schemas.microsoft.com/office/drawing/2014/main" id="{E49FAE4A-B8E0-D8BB-58DF-914F53AB2F77}"/>
              </a:ext>
            </a:extLst>
          </p:cNvPr>
          <p:cNvPicPr>
            <a:picLocks noChangeAspect="1"/>
          </p:cNvPicPr>
          <p:nvPr/>
        </p:nvPicPr>
        <p:blipFill>
          <a:blip r:embed="rId7"/>
          <a:stretch>
            <a:fillRect/>
          </a:stretch>
        </p:blipFill>
        <p:spPr>
          <a:xfrm>
            <a:off x="206138" y="1847862"/>
            <a:ext cx="324000" cy="518373"/>
          </a:xfrm>
          <a:prstGeom prst="rect">
            <a:avLst/>
          </a:prstGeom>
          <a:solidFill>
            <a:schemeClr val="accent2">
              <a:lumMod val="75000"/>
            </a:schemeClr>
          </a:solidFill>
        </p:spPr>
      </p:pic>
      <p:sp>
        <p:nvSpPr>
          <p:cNvPr id="13" name="Text 3">
            <a:extLst>
              <a:ext uri="{FF2B5EF4-FFF2-40B4-BE49-F238E27FC236}">
                <a16:creationId xmlns:a16="http://schemas.microsoft.com/office/drawing/2014/main" id="{4DCB1ECF-7D14-15C0-3430-15AD53D3B23A}"/>
              </a:ext>
            </a:extLst>
          </p:cNvPr>
          <p:cNvSpPr/>
          <p:nvPr/>
        </p:nvSpPr>
        <p:spPr>
          <a:xfrm>
            <a:off x="729921" y="1780424"/>
            <a:ext cx="5035748" cy="336947"/>
          </a:xfrm>
          <a:prstGeom prst="rect">
            <a:avLst/>
          </a:prstGeom>
          <a:noFill/>
          <a:ln/>
        </p:spPr>
        <p:txBody>
          <a:bodyPr wrap="none" lIns="0" tIns="0" rIns="0" bIns="0" rtlCol="0" anchor="t"/>
          <a:lstStyle/>
          <a:p>
            <a:pPr marL="0" indent="0" algn="l">
              <a:lnSpc>
                <a:spcPts val="2650"/>
              </a:lnSpc>
              <a:buNone/>
            </a:pPr>
            <a:r>
              <a:rPr lang="en-US" sz="1400" b="1" dirty="0">
                <a:solidFill>
                  <a:srgbClr val="4C4C4D"/>
                </a:solidFill>
                <a:latin typeface="Crimson Pro" pitchFamily="34" charset="0"/>
                <a:ea typeface="Crimson Pro" pitchFamily="34" charset="-122"/>
                <a:cs typeface="Crimson Pro" pitchFamily="34" charset="-120"/>
              </a:rPr>
              <a:t>Cloud Workload Protection Platform (CWPP)</a:t>
            </a:r>
            <a:endParaRPr lang="en-US" sz="1400" b="1" dirty="0"/>
          </a:p>
        </p:txBody>
      </p:sp>
      <p:sp>
        <p:nvSpPr>
          <p:cNvPr id="14" name="Text 4">
            <a:extLst>
              <a:ext uri="{FF2B5EF4-FFF2-40B4-BE49-F238E27FC236}">
                <a16:creationId xmlns:a16="http://schemas.microsoft.com/office/drawing/2014/main" id="{78140FB9-15D9-5D2B-7092-E77072B01CBA}"/>
              </a:ext>
            </a:extLst>
          </p:cNvPr>
          <p:cNvSpPr/>
          <p:nvPr/>
        </p:nvSpPr>
        <p:spPr>
          <a:xfrm>
            <a:off x="723320" y="2114010"/>
            <a:ext cx="6232922" cy="689848"/>
          </a:xfrm>
          <a:prstGeom prst="rect">
            <a:avLst/>
          </a:prstGeom>
          <a:noFill/>
          <a:ln/>
        </p:spPr>
        <p:txBody>
          <a:bodyPr wrap="square" lIns="0" tIns="0" rIns="0" bIns="0" rtlCol="0" anchor="t"/>
          <a:lstStyle/>
          <a:p>
            <a:pPr marL="0" indent="0" algn="l">
              <a:lnSpc>
                <a:spcPts val="2700"/>
              </a:lnSpc>
              <a:buNone/>
            </a:pPr>
            <a:r>
              <a:rPr lang="en-US" sz="1100" dirty="0">
                <a:solidFill>
                  <a:srgbClr val="4C4C4D"/>
                </a:solidFill>
                <a:latin typeface="Heebo" pitchFamily="34" charset="0"/>
                <a:cs typeface="Heebo" pitchFamily="34" charset="-120"/>
              </a:rPr>
              <a:t>Protects cloud workloads from attacks,  targeting virtual machines and containers.</a:t>
            </a:r>
          </a:p>
        </p:txBody>
      </p:sp>
      <p:pic>
        <p:nvPicPr>
          <p:cNvPr id="15" name="Image 4" descr="preencoded.png">
            <a:extLst>
              <a:ext uri="{FF2B5EF4-FFF2-40B4-BE49-F238E27FC236}">
                <a16:creationId xmlns:a16="http://schemas.microsoft.com/office/drawing/2014/main" id="{4AC2A45D-45EC-4E1F-3251-CCD510CCA33C}"/>
              </a:ext>
            </a:extLst>
          </p:cNvPr>
          <p:cNvPicPr>
            <a:picLocks noChangeAspect="1"/>
          </p:cNvPicPr>
          <p:nvPr/>
        </p:nvPicPr>
        <p:blipFill>
          <a:blip r:embed="rId8"/>
          <a:stretch>
            <a:fillRect/>
          </a:stretch>
        </p:blipFill>
        <p:spPr>
          <a:xfrm>
            <a:off x="206138" y="2435799"/>
            <a:ext cx="324000" cy="578223"/>
          </a:xfrm>
          <a:prstGeom prst="rect">
            <a:avLst/>
          </a:prstGeom>
          <a:solidFill>
            <a:schemeClr val="accent2">
              <a:lumMod val="75000"/>
            </a:schemeClr>
          </a:solidFill>
        </p:spPr>
      </p:pic>
      <p:sp>
        <p:nvSpPr>
          <p:cNvPr id="16" name="Text 5">
            <a:extLst>
              <a:ext uri="{FF2B5EF4-FFF2-40B4-BE49-F238E27FC236}">
                <a16:creationId xmlns:a16="http://schemas.microsoft.com/office/drawing/2014/main" id="{687D8D6D-6C1E-7DD8-93FE-B1146F10F7C3}"/>
              </a:ext>
            </a:extLst>
          </p:cNvPr>
          <p:cNvSpPr/>
          <p:nvPr/>
        </p:nvSpPr>
        <p:spPr>
          <a:xfrm>
            <a:off x="676286" y="2541673"/>
            <a:ext cx="6232922" cy="673894"/>
          </a:xfrm>
          <a:prstGeom prst="rect">
            <a:avLst/>
          </a:prstGeom>
          <a:noFill/>
          <a:ln/>
        </p:spPr>
        <p:txBody>
          <a:bodyPr wrap="square" lIns="0" tIns="0" rIns="0" bIns="0" rtlCol="0" anchor="t"/>
          <a:lstStyle/>
          <a:p>
            <a:pPr marL="0" indent="0" algn="l">
              <a:lnSpc>
                <a:spcPts val="2650"/>
              </a:lnSpc>
              <a:buNone/>
            </a:pPr>
            <a:r>
              <a:rPr lang="en-US" sz="1400" b="1" dirty="0">
                <a:solidFill>
                  <a:srgbClr val="4C4C4D"/>
                </a:solidFill>
                <a:latin typeface="Crimson Pro" pitchFamily="34" charset="0"/>
                <a:ea typeface="Crimson Pro" pitchFamily="34" charset="-122"/>
                <a:cs typeface="Crimson Pro" pitchFamily="34" charset="-120"/>
              </a:rPr>
              <a:t>DevOps Security Management</a:t>
            </a:r>
            <a:endParaRPr lang="en-US" sz="1400" b="1" dirty="0"/>
          </a:p>
        </p:txBody>
      </p:sp>
      <p:sp>
        <p:nvSpPr>
          <p:cNvPr id="17" name="Text 6">
            <a:extLst>
              <a:ext uri="{FF2B5EF4-FFF2-40B4-BE49-F238E27FC236}">
                <a16:creationId xmlns:a16="http://schemas.microsoft.com/office/drawing/2014/main" id="{799E29DF-71E5-8F3D-F41C-62617A3F4563}"/>
              </a:ext>
            </a:extLst>
          </p:cNvPr>
          <p:cNvSpPr/>
          <p:nvPr/>
        </p:nvSpPr>
        <p:spPr>
          <a:xfrm>
            <a:off x="699793" y="2857806"/>
            <a:ext cx="6232922" cy="689848"/>
          </a:xfrm>
          <a:prstGeom prst="rect">
            <a:avLst/>
          </a:prstGeom>
          <a:noFill/>
          <a:ln/>
        </p:spPr>
        <p:txBody>
          <a:bodyPr wrap="square" lIns="0" tIns="0" rIns="0" bIns="0" rtlCol="0" anchor="t"/>
          <a:lstStyle/>
          <a:p>
            <a:pPr>
              <a:lnSpc>
                <a:spcPts val="2700"/>
              </a:lnSpc>
            </a:pPr>
            <a:r>
              <a:rPr lang="en-US" altLang="en-US" sz="1100" dirty="0">
                <a:solidFill>
                  <a:srgbClr val="4C4C4D"/>
                </a:solidFill>
                <a:latin typeface="Heebo" pitchFamily="34" charset="0"/>
                <a:cs typeface="Heebo" pitchFamily="34" charset="-120"/>
              </a:rPr>
              <a:t>DevSecOps</a:t>
            </a:r>
            <a:r>
              <a:rPr lang="en-US" altLang="en-US" sz="1200" dirty="0">
                <a:solidFill>
                  <a:srgbClr val="4C4C4D"/>
                </a:solidFill>
                <a:latin typeface="Heebo" pitchFamily="34" charset="0"/>
                <a:cs typeface="Heebo" pitchFamily="34" charset="-120"/>
              </a:rPr>
              <a:t> solution unifying code-level security across multicloud and pipelines</a:t>
            </a:r>
          </a:p>
          <a:p>
            <a:pPr marL="0" indent="0" algn="l">
              <a:lnSpc>
                <a:spcPts val="2700"/>
              </a:lnSpc>
              <a:buNone/>
            </a:pPr>
            <a:r>
              <a:rPr lang="en-US" sz="1200" dirty="0">
                <a:solidFill>
                  <a:srgbClr val="4C4C4D"/>
                </a:solidFill>
                <a:latin typeface="Heebo" pitchFamily="34" charset="0"/>
                <a:cs typeface="Heebo" pitchFamily="34" charset="-120"/>
              </a:rPr>
              <a:t>.</a:t>
            </a:r>
          </a:p>
        </p:txBody>
      </p:sp>
      <p:sp>
        <p:nvSpPr>
          <p:cNvPr id="19" name="TextBox 18">
            <a:extLst>
              <a:ext uri="{FF2B5EF4-FFF2-40B4-BE49-F238E27FC236}">
                <a16:creationId xmlns:a16="http://schemas.microsoft.com/office/drawing/2014/main" id="{551C1979-02DC-DCBD-A563-F65BE99C212D}"/>
              </a:ext>
            </a:extLst>
          </p:cNvPr>
          <p:cNvSpPr txBox="1"/>
          <p:nvPr/>
        </p:nvSpPr>
        <p:spPr>
          <a:xfrm>
            <a:off x="634284" y="1263451"/>
            <a:ext cx="5788647" cy="394339"/>
          </a:xfrm>
          <a:prstGeom prst="rect">
            <a:avLst/>
          </a:prstGeom>
          <a:noFill/>
        </p:spPr>
        <p:txBody>
          <a:bodyPr wrap="square">
            <a:spAutoFit/>
          </a:bodyPr>
          <a:lstStyle/>
          <a:p>
            <a:pPr marL="0" indent="0" algn="l">
              <a:lnSpc>
                <a:spcPts val="2700"/>
              </a:lnSpc>
              <a:buNone/>
            </a:pPr>
            <a:r>
              <a:rPr lang="en-US" sz="1100" dirty="0">
                <a:solidFill>
                  <a:srgbClr val="4C4C4D"/>
                </a:solidFill>
                <a:latin typeface="Heebo" pitchFamily="34" charset="0"/>
                <a:ea typeface="Heebo" pitchFamily="34" charset="-122"/>
                <a:cs typeface="Heebo" pitchFamily="34" charset="-120"/>
              </a:rPr>
              <a:t>Provides visibility cloud security posture, identify misconfigurations and vulnerabilities.</a:t>
            </a:r>
            <a:endParaRPr lang="en-US" sz="1100" dirty="0"/>
          </a:p>
        </p:txBody>
      </p:sp>
      <p:pic>
        <p:nvPicPr>
          <p:cNvPr id="18" name="Picture 17" descr="A green and white logo with text&#10;&#10;Description automatically generated">
            <a:extLst>
              <a:ext uri="{FF2B5EF4-FFF2-40B4-BE49-F238E27FC236}">
                <a16:creationId xmlns:a16="http://schemas.microsoft.com/office/drawing/2014/main" id="{204587B6-651C-6606-9F0E-B0BB49213E7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19473" y="1160986"/>
            <a:ext cx="5836886" cy="1796464"/>
          </a:xfrm>
          <a:prstGeom prst="rect">
            <a:avLst/>
          </a:prstGeom>
        </p:spPr>
      </p:pic>
    </p:spTree>
    <p:extLst>
      <p:ext uri="{BB962C8B-B14F-4D97-AF65-F5344CB8AC3E}">
        <p14:creationId xmlns:p14="http://schemas.microsoft.com/office/powerpoint/2010/main" val="1896471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9"/>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pic>
        <p:nvPicPr>
          <p:cNvPr id="271" name="Google Shape;271;p59"/>
          <p:cNvPicPr preferRelativeResize="0"/>
          <p:nvPr/>
        </p:nvPicPr>
        <p:blipFill>
          <a:blip r:embed="rId4">
            <a:clrChange>
              <a:clrFrom>
                <a:srgbClr val="FFFFFF"/>
              </a:clrFrom>
              <a:clrTo>
                <a:srgbClr val="FFFFFF">
                  <a:alpha val="0"/>
                </a:srgbClr>
              </a:clrTo>
            </a:clrChange>
            <a:alphaModFix/>
          </a:blip>
          <a:stretch>
            <a:fillRect/>
          </a:stretch>
        </p:blipFill>
        <p:spPr>
          <a:xfrm>
            <a:off x="1051413" y="1825358"/>
            <a:ext cx="908016" cy="803409"/>
          </a:xfrm>
          <a:prstGeom prst="rect">
            <a:avLst/>
          </a:prstGeom>
          <a:noFill/>
          <a:ln>
            <a:noFill/>
          </a:ln>
        </p:spPr>
      </p:pic>
      <p:sp>
        <p:nvSpPr>
          <p:cNvPr id="272" name="Google Shape;272;p59"/>
          <p:cNvSpPr txBox="1"/>
          <p:nvPr/>
        </p:nvSpPr>
        <p:spPr>
          <a:xfrm>
            <a:off x="683229" y="2891196"/>
            <a:ext cx="2650714" cy="612690"/>
          </a:xfrm>
          <a:prstGeom prst="rect">
            <a:avLst/>
          </a:prstGeom>
          <a:noFill/>
          <a:ln>
            <a:noFill/>
          </a:ln>
        </p:spPr>
        <p:txBody>
          <a:bodyPr spcFirstLastPara="1" wrap="square" lIns="91433" tIns="91433" rIns="91433" bIns="91433" anchor="t" anchorCtr="0">
            <a:noAutofit/>
          </a:bodyPr>
          <a:lstStyle/>
          <a:p>
            <a:pPr indent="0" algn="ctr">
              <a:lnSpc>
                <a:spcPts val="2500"/>
              </a:lnSpc>
              <a:spcBef>
                <a:spcPts val="1333"/>
              </a:spcBef>
              <a:buNone/>
            </a:pPr>
            <a:r>
              <a:rPr lang="en-US" sz="1467" b="1" dirty="0">
                <a:solidFill>
                  <a:srgbClr val="00953A"/>
                </a:solidFill>
                <a:latin typeface="Lato"/>
                <a:ea typeface="Lato"/>
                <a:cs typeface="Lato"/>
              </a:rPr>
              <a:t>Unified Threat Protection</a:t>
            </a:r>
          </a:p>
          <a:p>
            <a:pPr marL="0" indent="0">
              <a:lnSpc>
                <a:spcPct val="150000"/>
              </a:lnSpc>
              <a:buNone/>
            </a:pPr>
            <a:endParaRPr lang="en-US" sz="1400" dirty="0">
              <a:solidFill>
                <a:srgbClr val="4C4C4D"/>
              </a:solidFill>
              <a:latin typeface="Heebo" pitchFamily="34" charset="0"/>
              <a:ea typeface="Heebo" pitchFamily="34" charset="-122"/>
              <a:cs typeface="Heebo" pitchFamily="34" charset="-120"/>
            </a:endParaRPr>
          </a:p>
        </p:txBody>
      </p:sp>
      <p:sp>
        <p:nvSpPr>
          <p:cNvPr id="274" name="Google Shape;274;p59"/>
          <p:cNvSpPr txBox="1"/>
          <p:nvPr/>
        </p:nvSpPr>
        <p:spPr>
          <a:xfrm>
            <a:off x="3445285" y="2859398"/>
            <a:ext cx="2650715" cy="2528574"/>
          </a:xfrm>
          <a:prstGeom prst="rect">
            <a:avLst/>
          </a:prstGeom>
          <a:noFill/>
          <a:ln>
            <a:noFill/>
          </a:ln>
        </p:spPr>
        <p:txBody>
          <a:bodyPr spcFirstLastPara="1" wrap="square" lIns="91433" tIns="91433" rIns="91433" bIns="91433" anchor="t" anchorCtr="0">
            <a:noAutofit/>
          </a:bodyPr>
          <a:lstStyle/>
          <a:p>
            <a:pPr indent="0">
              <a:lnSpc>
                <a:spcPts val="2500"/>
              </a:lnSpc>
              <a:spcBef>
                <a:spcPts val="1333"/>
              </a:spcBef>
              <a:buNone/>
            </a:pPr>
            <a:r>
              <a:rPr lang="en-US" sz="1467" b="1" dirty="0">
                <a:solidFill>
                  <a:srgbClr val="00953A"/>
                </a:solidFill>
                <a:latin typeface="Lato"/>
                <a:ea typeface="Lato"/>
                <a:cs typeface="Lato"/>
              </a:rPr>
              <a:t>Advanced Threat Detection</a:t>
            </a:r>
          </a:p>
          <a:p>
            <a:pPr indent="0">
              <a:lnSpc>
                <a:spcPts val="2500"/>
              </a:lnSpc>
              <a:spcBef>
                <a:spcPts val="1333"/>
              </a:spcBef>
              <a:buNone/>
            </a:pPr>
            <a:r>
              <a:rPr lang="en-US" sz="1400" dirty="0">
                <a:solidFill>
                  <a:srgbClr val="4C4C4D"/>
                </a:solidFill>
                <a:latin typeface="Heebo" pitchFamily="34" charset="0"/>
                <a:cs typeface="Heebo" pitchFamily="34" charset="-120"/>
              </a:rPr>
              <a:t>Leverage advanced technologies like machine learning and behavioral analysis to identify and respond to sophisticated threats</a:t>
            </a:r>
            <a:endParaRPr sz="1400" dirty="0">
              <a:solidFill>
                <a:srgbClr val="4C4C4D"/>
              </a:solidFill>
              <a:latin typeface="Heebo" pitchFamily="34" charset="0"/>
              <a:cs typeface="Heebo" pitchFamily="34" charset="-120"/>
              <a:sym typeface="Lato"/>
            </a:endParaRPr>
          </a:p>
        </p:txBody>
      </p:sp>
      <p:pic>
        <p:nvPicPr>
          <p:cNvPr id="275" name="Google Shape;275;p59"/>
          <p:cNvPicPr preferRelativeResize="0"/>
          <p:nvPr/>
        </p:nvPicPr>
        <p:blipFill>
          <a:blip r:embed="rId5">
            <a:clrChange>
              <a:clrFrom>
                <a:srgbClr val="FFFFFF"/>
              </a:clrFrom>
              <a:clrTo>
                <a:srgbClr val="FFFFFF">
                  <a:alpha val="0"/>
                </a:srgbClr>
              </a:clrTo>
            </a:clrChange>
            <a:alphaModFix/>
          </a:blip>
          <a:stretch>
            <a:fillRect/>
          </a:stretch>
        </p:blipFill>
        <p:spPr>
          <a:xfrm>
            <a:off x="7292852" y="1809034"/>
            <a:ext cx="804921" cy="819733"/>
          </a:xfrm>
          <a:prstGeom prst="rect">
            <a:avLst/>
          </a:prstGeom>
          <a:noFill/>
          <a:ln>
            <a:noFill/>
          </a:ln>
        </p:spPr>
      </p:pic>
      <p:sp>
        <p:nvSpPr>
          <p:cNvPr id="276" name="Google Shape;276;p59"/>
          <p:cNvSpPr txBox="1"/>
          <p:nvPr/>
        </p:nvSpPr>
        <p:spPr>
          <a:xfrm>
            <a:off x="6419112" y="2859398"/>
            <a:ext cx="2552400" cy="2528574"/>
          </a:xfrm>
          <a:prstGeom prst="rect">
            <a:avLst/>
          </a:prstGeom>
          <a:noFill/>
          <a:ln>
            <a:noFill/>
          </a:ln>
        </p:spPr>
        <p:txBody>
          <a:bodyPr spcFirstLastPara="1" wrap="square" lIns="91433" tIns="91433" rIns="91433" bIns="91433" anchor="t" anchorCtr="0">
            <a:noAutofit/>
          </a:bodyPr>
          <a:lstStyle/>
          <a:p>
            <a:pPr>
              <a:lnSpc>
                <a:spcPts val="2500"/>
              </a:lnSpc>
              <a:spcBef>
                <a:spcPts val="1333"/>
              </a:spcBef>
            </a:pPr>
            <a:r>
              <a:rPr lang="en-US" sz="1467" b="1" dirty="0">
                <a:solidFill>
                  <a:srgbClr val="00953A"/>
                </a:solidFill>
                <a:latin typeface="Lato"/>
                <a:ea typeface="Lato"/>
                <a:cs typeface="Lato"/>
              </a:rPr>
              <a:t>Automated Response</a:t>
            </a:r>
          </a:p>
          <a:p>
            <a:pPr>
              <a:lnSpc>
                <a:spcPts val="2550"/>
              </a:lnSpc>
              <a:spcBef>
                <a:spcPts val="1333"/>
              </a:spcBef>
            </a:pPr>
            <a:r>
              <a:rPr lang="en-US" sz="1400" dirty="0">
                <a:solidFill>
                  <a:srgbClr val="4C4C4D"/>
                </a:solidFill>
                <a:latin typeface="Heebo" pitchFamily="34" charset="0"/>
                <a:cs typeface="Heebo" pitchFamily="34" charset="-120"/>
              </a:rPr>
              <a:t>Automate threat remediation and incident response tasks to minimize the impact of attacks</a:t>
            </a:r>
            <a:endParaRPr sz="1400" dirty="0">
              <a:solidFill>
                <a:srgbClr val="4C4C4D"/>
              </a:solidFill>
              <a:latin typeface="Heebo" pitchFamily="34" charset="0"/>
              <a:cs typeface="Heebo" pitchFamily="34" charset="-120"/>
              <a:sym typeface="Lato"/>
            </a:endParaRPr>
          </a:p>
        </p:txBody>
      </p:sp>
      <p:pic>
        <p:nvPicPr>
          <p:cNvPr id="277" name="Google Shape;277;p59"/>
          <p:cNvPicPr preferRelativeResize="0"/>
          <p:nvPr/>
        </p:nvPicPr>
        <p:blipFill>
          <a:blip r:embed="rId6">
            <a:clrChange>
              <a:clrFrom>
                <a:srgbClr val="FFFFFF"/>
              </a:clrFrom>
              <a:clrTo>
                <a:srgbClr val="FFFFFF">
                  <a:alpha val="0"/>
                </a:srgbClr>
              </a:clrTo>
            </a:clrChange>
            <a:alphaModFix/>
          </a:blip>
          <a:stretch>
            <a:fillRect/>
          </a:stretch>
        </p:blipFill>
        <p:spPr>
          <a:xfrm>
            <a:off x="10006069" y="1815443"/>
            <a:ext cx="804911" cy="806915"/>
          </a:xfrm>
          <a:prstGeom prst="rect">
            <a:avLst/>
          </a:prstGeom>
          <a:noFill/>
          <a:ln>
            <a:noFill/>
          </a:ln>
        </p:spPr>
      </p:pic>
      <p:sp>
        <p:nvSpPr>
          <p:cNvPr id="278" name="Google Shape;278;p59"/>
          <p:cNvSpPr txBox="1"/>
          <p:nvPr/>
        </p:nvSpPr>
        <p:spPr>
          <a:xfrm>
            <a:off x="9022775" y="2859399"/>
            <a:ext cx="2771498" cy="3073315"/>
          </a:xfrm>
          <a:prstGeom prst="rect">
            <a:avLst/>
          </a:prstGeom>
          <a:noFill/>
          <a:ln>
            <a:noFill/>
          </a:ln>
        </p:spPr>
        <p:txBody>
          <a:bodyPr spcFirstLastPara="1" wrap="square" lIns="91433" tIns="91433" rIns="91433" bIns="91433" anchor="t" anchorCtr="0">
            <a:noAutofit/>
          </a:bodyPr>
          <a:lstStyle/>
          <a:p>
            <a:pPr indent="0">
              <a:lnSpc>
                <a:spcPts val="2500"/>
              </a:lnSpc>
              <a:spcBef>
                <a:spcPts val="1333"/>
              </a:spcBef>
              <a:buNone/>
            </a:pPr>
            <a:r>
              <a:rPr lang="en-US" sz="1467" b="1" dirty="0">
                <a:solidFill>
                  <a:srgbClr val="00953A"/>
                </a:solidFill>
                <a:latin typeface="Lato"/>
                <a:ea typeface="Lato"/>
                <a:cs typeface="Lato"/>
              </a:rPr>
              <a:t>Security Posture Management</a:t>
            </a:r>
          </a:p>
          <a:p>
            <a:pPr indent="0">
              <a:lnSpc>
                <a:spcPts val="2550"/>
              </a:lnSpc>
              <a:spcBef>
                <a:spcPts val="1333"/>
              </a:spcBef>
              <a:buNone/>
            </a:pPr>
            <a:r>
              <a:rPr lang="en-US" sz="1400" dirty="0">
                <a:solidFill>
                  <a:srgbClr val="4C4C4D"/>
                </a:solidFill>
                <a:latin typeface="Heebo" pitchFamily="34" charset="0"/>
                <a:cs typeface="Heebo" pitchFamily="34" charset="-120"/>
              </a:rPr>
              <a:t>Gain insights into your security posture and identify vulnerabilities that could be exploited by attackers.</a:t>
            </a:r>
          </a:p>
        </p:txBody>
      </p:sp>
      <p:pic>
        <p:nvPicPr>
          <p:cNvPr id="279" name="Google Shape;279;p59"/>
          <p:cNvPicPr preferRelativeResize="0"/>
          <p:nvPr/>
        </p:nvPicPr>
        <p:blipFill>
          <a:blip r:embed="rId7">
            <a:clrChange>
              <a:clrFrom>
                <a:srgbClr val="FFFFFF"/>
              </a:clrFrom>
              <a:clrTo>
                <a:srgbClr val="FFFFFF">
                  <a:alpha val="0"/>
                </a:srgbClr>
              </a:clrTo>
            </a:clrChange>
            <a:alphaModFix/>
          </a:blip>
          <a:stretch>
            <a:fillRect/>
          </a:stretch>
        </p:blipFill>
        <p:spPr>
          <a:xfrm>
            <a:off x="4340021" y="1817196"/>
            <a:ext cx="804908" cy="803408"/>
          </a:xfrm>
          <a:prstGeom prst="rect">
            <a:avLst/>
          </a:prstGeom>
          <a:noFill/>
          <a:ln>
            <a:noFill/>
          </a:ln>
        </p:spPr>
      </p:pic>
      <p:sp>
        <p:nvSpPr>
          <p:cNvPr id="286" name="Google Shape;286;p59"/>
          <p:cNvSpPr txBox="1"/>
          <p:nvPr/>
        </p:nvSpPr>
        <p:spPr>
          <a:xfrm>
            <a:off x="676135" y="252079"/>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 sz="4000" b="1" dirty="0">
                <a:solidFill>
                  <a:srgbClr val="00953A"/>
                </a:solidFill>
                <a:latin typeface="Roboto Condensed"/>
                <a:ea typeface="Roboto Condensed"/>
                <a:cs typeface="Roboto Condensed"/>
                <a:sym typeface="Roboto Condensed"/>
              </a:rPr>
              <a:t>Key Features &amp; </a:t>
            </a:r>
            <a:r>
              <a:rPr lang="en" sz="4000" b="1" dirty="0">
                <a:solidFill>
                  <a:srgbClr val="026A38"/>
                </a:solidFill>
                <a:latin typeface="Roboto Condensed"/>
                <a:ea typeface="Roboto Condensed"/>
                <a:cs typeface="Roboto Condensed"/>
                <a:sym typeface="Roboto Condensed"/>
              </a:rPr>
              <a:t>Capabilities</a:t>
            </a:r>
            <a:endParaRPr sz="4000" b="1" dirty="0">
              <a:solidFill>
                <a:srgbClr val="026A38"/>
              </a:solidFill>
              <a:latin typeface="Roboto Condensed"/>
              <a:ea typeface="Roboto Condensed"/>
              <a:cs typeface="Roboto Condensed"/>
              <a:sym typeface="Roboto Condensed"/>
            </a:endParaRPr>
          </a:p>
        </p:txBody>
      </p:sp>
      <p:sp>
        <p:nvSpPr>
          <p:cNvPr id="2" name="Google Shape;272;p59">
            <a:extLst>
              <a:ext uri="{FF2B5EF4-FFF2-40B4-BE49-F238E27FC236}">
                <a16:creationId xmlns:a16="http://schemas.microsoft.com/office/drawing/2014/main" id="{D8CEDE9C-7F1E-DB6C-C411-5E31C140EA2A}"/>
              </a:ext>
            </a:extLst>
          </p:cNvPr>
          <p:cNvSpPr txBox="1"/>
          <p:nvPr/>
        </p:nvSpPr>
        <p:spPr>
          <a:xfrm>
            <a:off x="781543" y="3197541"/>
            <a:ext cx="2552400" cy="3073316"/>
          </a:xfrm>
          <a:prstGeom prst="rect">
            <a:avLst/>
          </a:prstGeom>
          <a:noFill/>
          <a:ln>
            <a:noFill/>
          </a:ln>
        </p:spPr>
        <p:txBody>
          <a:bodyPr spcFirstLastPara="1" wrap="square" lIns="91433" tIns="91433" rIns="91433" bIns="91433" anchor="t" anchorCtr="0">
            <a:noAutofit/>
          </a:bodyPr>
          <a:lstStyle/>
          <a:p>
            <a:pPr marL="0" indent="0">
              <a:lnSpc>
                <a:spcPct val="150000"/>
              </a:lnSpc>
              <a:buNone/>
            </a:pPr>
            <a:endParaRPr lang="en-US" sz="1400" dirty="0">
              <a:solidFill>
                <a:srgbClr val="4C4C4D"/>
              </a:solidFill>
              <a:latin typeface="Heebo" pitchFamily="34" charset="0"/>
              <a:ea typeface="Heebo" pitchFamily="34" charset="-122"/>
              <a:cs typeface="Heebo" pitchFamily="34" charset="-120"/>
            </a:endParaRPr>
          </a:p>
          <a:p>
            <a:pPr marL="0" indent="0">
              <a:lnSpc>
                <a:spcPct val="150000"/>
              </a:lnSpc>
              <a:buNone/>
            </a:pPr>
            <a:r>
              <a:rPr lang="en-US" sz="1400" dirty="0">
                <a:solidFill>
                  <a:srgbClr val="4C4C4D"/>
                </a:solidFill>
                <a:latin typeface="Heebo" pitchFamily="34" charset="0"/>
                <a:ea typeface="Heebo" pitchFamily="34" charset="-122"/>
                <a:cs typeface="Heebo" pitchFamily="34" charset="-120"/>
              </a:rPr>
              <a:t>Microsoft Defender provides a unified approach to threat protection, covering endpoints, email, cloud applications, and more.</a:t>
            </a:r>
            <a:endParaRPr lang="en-US" sz="1400" dirty="0"/>
          </a:p>
        </p:txBody>
      </p:sp>
    </p:spTree>
    <p:extLst>
      <p:ext uri="{BB962C8B-B14F-4D97-AF65-F5344CB8AC3E}">
        <p14:creationId xmlns:p14="http://schemas.microsoft.com/office/powerpoint/2010/main" val="1115544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9"/>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sp>
        <p:nvSpPr>
          <p:cNvPr id="286" name="Google Shape;286;p59"/>
          <p:cNvSpPr txBox="1"/>
          <p:nvPr/>
        </p:nvSpPr>
        <p:spPr>
          <a:xfrm>
            <a:off x="676135" y="154395"/>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US" sz="4000" b="1" dirty="0">
                <a:solidFill>
                  <a:srgbClr val="00953A"/>
                </a:solidFill>
                <a:latin typeface="Roboto Condensed"/>
                <a:ea typeface="Roboto Condensed"/>
                <a:cs typeface="Roboto Condensed"/>
              </a:rPr>
              <a:t>Customer </a:t>
            </a:r>
            <a:r>
              <a:rPr lang="en-US" sz="4000" b="1" dirty="0">
                <a:solidFill>
                  <a:srgbClr val="026A38"/>
                </a:solidFill>
                <a:latin typeface="Roboto Condensed"/>
                <a:ea typeface="Roboto Condensed"/>
                <a:cs typeface="Roboto Condensed"/>
              </a:rPr>
              <a:t>Success Stories</a:t>
            </a:r>
            <a:endParaRPr sz="4000" b="1" dirty="0">
              <a:solidFill>
                <a:srgbClr val="026A38"/>
              </a:solidFill>
              <a:latin typeface="Roboto Condensed"/>
              <a:ea typeface="Roboto Condensed"/>
              <a:cs typeface="Roboto Condensed"/>
              <a:sym typeface="Roboto Condensed"/>
            </a:endParaRPr>
          </a:p>
        </p:txBody>
      </p:sp>
      <p:pic>
        <p:nvPicPr>
          <p:cNvPr id="3" name="Image 0" descr="preencoded.png">
            <a:extLst>
              <a:ext uri="{FF2B5EF4-FFF2-40B4-BE49-F238E27FC236}">
                <a16:creationId xmlns:a16="http://schemas.microsoft.com/office/drawing/2014/main" id="{4207B201-2E1C-E350-0773-00602A1476F8}"/>
              </a:ext>
            </a:extLst>
          </p:cNvPr>
          <p:cNvPicPr>
            <a:picLocks noChangeAspect="1"/>
          </p:cNvPicPr>
          <p:nvPr/>
        </p:nvPicPr>
        <p:blipFill>
          <a:blip r:embed="rId4"/>
          <a:stretch>
            <a:fillRect/>
          </a:stretch>
        </p:blipFill>
        <p:spPr>
          <a:xfrm>
            <a:off x="661492" y="1924845"/>
            <a:ext cx="3433961" cy="2122289"/>
          </a:xfrm>
          <a:prstGeom prst="rect">
            <a:avLst/>
          </a:prstGeom>
        </p:spPr>
      </p:pic>
      <p:sp>
        <p:nvSpPr>
          <p:cNvPr id="4" name="Text 1">
            <a:extLst>
              <a:ext uri="{FF2B5EF4-FFF2-40B4-BE49-F238E27FC236}">
                <a16:creationId xmlns:a16="http://schemas.microsoft.com/office/drawing/2014/main" id="{BB74F497-AE7F-B758-4645-7AD34B575942}"/>
              </a:ext>
            </a:extLst>
          </p:cNvPr>
          <p:cNvSpPr/>
          <p:nvPr/>
        </p:nvSpPr>
        <p:spPr>
          <a:xfrm>
            <a:off x="661492" y="4283373"/>
            <a:ext cx="2655888" cy="295275"/>
          </a:xfrm>
          <a:prstGeom prst="rect">
            <a:avLst/>
          </a:prstGeom>
          <a:noFill/>
          <a:ln/>
        </p:spPr>
        <p:txBody>
          <a:bodyPr wrap="none" lIns="0" tIns="0" rIns="0" bIns="0" rtlCol="0" anchor="t"/>
          <a:lstStyle/>
          <a:p>
            <a:pPr>
              <a:lnSpc>
                <a:spcPts val="2292"/>
              </a:lnSpc>
            </a:pPr>
            <a:r>
              <a:rPr lang="en-US" sz="1833" b="1" dirty="0">
                <a:solidFill>
                  <a:schemeClr val="accent3">
                    <a:lumMod val="75000"/>
                  </a:schemeClr>
                </a:solidFill>
                <a:latin typeface="Crimson Pro" pitchFamily="34" charset="0"/>
                <a:ea typeface="Crimson Pro" pitchFamily="34" charset="-122"/>
                <a:cs typeface="Crimson Pro" pitchFamily="34" charset="-120"/>
              </a:rPr>
              <a:t>Improved Threat Detection</a:t>
            </a:r>
            <a:endParaRPr lang="en-US" sz="1833" b="1" dirty="0">
              <a:solidFill>
                <a:schemeClr val="accent3">
                  <a:lumMod val="75000"/>
                </a:schemeClr>
              </a:solidFill>
            </a:endParaRPr>
          </a:p>
        </p:txBody>
      </p:sp>
      <p:sp>
        <p:nvSpPr>
          <p:cNvPr id="5" name="Text 2">
            <a:extLst>
              <a:ext uri="{FF2B5EF4-FFF2-40B4-BE49-F238E27FC236}">
                <a16:creationId xmlns:a16="http://schemas.microsoft.com/office/drawing/2014/main" id="{6AAB9D10-2347-D0C8-0734-B66703EF7072}"/>
              </a:ext>
            </a:extLst>
          </p:cNvPr>
          <p:cNvSpPr/>
          <p:nvPr/>
        </p:nvSpPr>
        <p:spPr>
          <a:xfrm>
            <a:off x="661492" y="4692055"/>
            <a:ext cx="3433961" cy="907257"/>
          </a:xfrm>
          <a:prstGeom prst="rect">
            <a:avLst/>
          </a:prstGeom>
          <a:noFill/>
          <a:ln/>
        </p:spPr>
        <p:txBody>
          <a:bodyPr wrap="square" lIns="0" tIns="0" rIns="0" bIns="0" rtlCol="0" anchor="t"/>
          <a:lstStyle/>
          <a:p>
            <a:pPr>
              <a:lnSpc>
                <a:spcPts val="2375"/>
              </a:lnSpc>
            </a:pPr>
            <a:r>
              <a:rPr lang="en-US" sz="1458" dirty="0">
                <a:solidFill>
                  <a:srgbClr val="4C4C4D"/>
                </a:solidFill>
                <a:latin typeface="Heebo" pitchFamily="34" charset="0"/>
                <a:ea typeface="Heebo" pitchFamily="34" charset="-122"/>
                <a:cs typeface="Heebo" pitchFamily="34" charset="-120"/>
              </a:rPr>
              <a:t>Customers have reported significant improvements in their ability to detect and respond to threats.</a:t>
            </a:r>
            <a:endParaRPr lang="en-US" sz="1458" dirty="0"/>
          </a:p>
        </p:txBody>
      </p:sp>
      <p:pic>
        <p:nvPicPr>
          <p:cNvPr id="6" name="Image 1" descr="preencoded.png">
            <a:extLst>
              <a:ext uri="{FF2B5EF4-FFF2-40B4-BE49-F238E27FC236}">
                <a16:creationId xmlns:a16="http://schemas.microsoft.com/office/drawing/2014/main" id="{059D6ADD-00F8-ABD0-BD4F-013B2A7B861D}"/>
              </a:ext>
            </a:extLst>
          </p:cNvPr>
          <p:cNvPicPr>
            <a:picLocks noChangeAspect="1"/>
          </p:cNvPicPr>
          <p:nvPr/>
        </p:nvPicPr>
        <p:blipFill>
          <a:blip r:embed="rId5"/>
          <a:stretch>
            <a:fillRect/>
          </a:stretch>
        </p:blipFill>
        <p:spPr>
          <a:xfrm>
            <a:off x="4378920" y="1924844"/>
            <a:ext cx="3434060" cy="2122388"/>
          </a:xfrm>
          <a:prstGeom prst="rect">
            <a:avLst/>
          </a:prstGeom>
        </p:spPr>
      </p:pic>
      <p:sp>
        <p:nvSpPr>
          <p:cNvPr id="7" name="Text 3">
            <a:extLst>
              <a:ext uri="{FF2B5EF4-FFF2-40B4-BE49-F238E27FC236}">
                <a16:creationId xmlns:a16="http://schemas.microsoft.com/office/drawing/2014/main" id="{381B1FC5-0E81-004C-AE55-D0F5FEC80BDB}"/>
              </a:ext>
            </a:extLst>
          </p:cNvPr>
          <p:cNvSpPr/>
          <p:nvPr/>
        </p:nvSpPr>
        <p:spPr>
          <a:xfrm>
            <a:off x="4378920" y="4283472"/>
            <a:ext cx="2653208" cy="295275"/>
          </a:xfrm>
          <a:prstGeom prst="rect">
            <a:avLst/>
          </a:prstGeom>
          <a:noFill/>
          <a:ln/>
        </p:spPr>
        <p:txBody>
          <a:bodyPr wrap="none" lIns="0" tIns="0" rIns="0" bIns="0" rtlCol="0" anchor="t"/>
          <a:lstStyle/>
          <a:p>
            <a:pPr>
              <a:lnSpc>
                <a:spcPts val="2292"/>
              </a:lnSpc>
            </a:pPr>
            <a:r>
              <a:rPr lang="en-US" sz="1833" b="1" dirty="0">
                <a:solidFill>
                  <a:schemeClr val="accent3">
                    <a:lumMod val="75000"/>
                  </a:schemeClr>
                </a:solidFill>
                <a:latin typeface="Crimson Pro" pitchFamily="34" charset="0"/>
                <a:ea typeface="Crimson Pro" pitchFamily="34" charset="-122"/>
                <a:cs typeface="Crimson Pro" pitchFamily="34" charset="-120"/>
              </a:rPr>
              <a:t>Reduced Security Incidents</a:t>
            </a:r>
            <a:endParaRPr lang="en-US" sz="1833" b="1" dirty="0">
              <a:solidFill>
                <a:schemeClr val="accent3">
                  <a:lumMod val="75000"/>
                </a:schemeClr>
              </a:solidFill>
            </a:endParaRPr>
          </a:p>
        </p:txBody>
      </p:sp>
      <p:sp>
        <p:nvSpPr>
          <p:cNvPr id="8" name="Text 4">
            <a:extLst>
              <a:ext uri="{FF2B5EF4-FFF2-40B4-BE49-F238E27FC236}">
                <a16:creationId xmlns:a16="http://schemas.microsoft.com/office/drawing/2014/main" id="{6495AFC4-1440-2380-0847-453E8E5C6A3E}"/>
              </a:ext>
            </a:extLst>
          </p:cNvPr>
          <p:cNvSpPr/>
          <p:nvPr/>
        </p:nvSpPr>
        <p:spPr>
          <a:xfrm>
            <a:off x="4378920" y="4692154"/>
            <a:ext cx="3434060" cy="1209675"/>
          </a:xfrm>
          <a:prstGeom prst="rect">
            <a:avLst/>
          </a:prstGeom>
          <a:noFill/>
          <a:ln/>
        </p:spPr>
        <p:txBody>
          <a:bodyPr wrap="square" lIns="0" tIns="0" rIns="0" bIns="0" rtlCol="0" anchor="t"/>
          <a:lstStyle/>
          <a:p>
            <a:pPr>
              <a:lnSpc>
                <a:spcPts val="2375"/>
              </a:lnSpc>
            </a:pPr>
            <a:r>
              <a:rPr lang="en-US" sz="1458" dirty="0">
                <a:solidFill>
                  <a:srgbClr val="4C4C4D"/>
                </a:solidFill>
                <a:latin typeface="Heebo" pitchFamily="34" charset="0"/>
                <a:ea typeface="Heebo" pitchFamily="34" charset="-122"/>
                <a:cs typeface="Heebo" pitchFamily="34" charset="-120"/>
              </a:rPr>
              <a:t>Microsoft Defender has helped organizations reduce the number of security incidents and minimize their impact.</a:t>
            </a:r>
            <a:endParaRPr lang="en-US" sz="1458" dirty="0"/>
          </a:p>
        </p:txBody>
      </p:sp>
      <p:pic>
        <p:nvPicPr>
          <p:cNvPr id="9" name="Image 2" descr="preencoded.png">
            <a:extLst>
              <a:ext uri="{FF2B5EF4-FFF2-40B4-BE49-F238E27FC236}">
                <a16:creationId xmlns:a16="http://schemas.microsoft.com/office/drawing/2014/main" id="{5A414B8F-2930-D6AD-B835-CBE4FC8764FB}"/>
              </a:ext>
            </a:extLst>
          </p:cNvPr>
          <p:cNvPicPr>
            <a:picLocks noChangeAspect="1"/>
          </p:cNvPicPr>
          <p:nvPr/>
        </p:nvPicPr>
        <p:blipFill>
          <a:blip r:embed="rId6"/>
          <a:stretch>
            <a:fillRect/>
          </a:stretch>
        </p:blipFill>
        <p:spPr>
          <a:xfrm>
            <a:off x="8096449" y="1924845"/>
            <a:ext cx="3433961" cy="2122289"/>
          </a:xfrm>
          <a:prstGeom prst="rect">
            <a:avLst/>
          </a:prstGeom>
        </p:spPr>
      </p:pic>
      <p:sp>
        <p:nvSpPr>
          <p:cNvPr id="10" name="Text 5">
            <a:extLst>
              <a:ext uri="{FF2B5EF4-FFF2-40B4-BE49-F238E27FC236}">
                <a16:creationId xmlns:a16="http://schemas.microsoft.com/office/drawing/2014/main" id="{7CF3FC56-DD83-1034-5FA4-78EA8753CE43}"/>
              </a:ext>
            </a:extLst>
          </p:cNvPr>
          <p:cNvSpPr/>
          <p:nvPr/>
        </p:nvSpPr>
        <p:spPr>
          <a:xfrm>
            <a:off x="8096449" y="4283373"/>
            <a:ext cx="2362696" cy="295275"/>
          </a:xfrm>
          <a:prstGeom prst="rect">
            <a:avLst/>
          </a:prstGeom>
          <a:noFill/>
          <a:ln/>
        </p:spPr>
        <p:txBody>
          <a:bodyPr wrap="none" lIns="0" tIns="0" rIns="0" bIns="0" rtlCol="0" anchor="t"/>
          <a:lstStyle/>
          <a:p>
            <a:pPr>
              <a:lnSpc>
                <a:spcPts val="2292"/>
              </a:lnSpc>
            </a:pPr>
            <a:r>
              <a:rPr lang="en-US" sz="1833" b="1" dirty="0">
                <a:solidFill>
                  <a:schemeClr val="accent3">
                    <a:lumMod val="75000"/>
                  </a:schemeClr>
                </a:solidFill>
                <a:latin typeface="Crimson Pro" pitchFamily="34" charset="0"/>
                <a:ea typeface="Crimson Pro" pitchFamily="34" charset="-122"/>
                <a:cs typeface="Crimson Pro" pitchFamily="34" charset="-120"/>
              </a:rPr>
              <a:t>Increased Productivity</a:t>
            </a:r>
            <a:endParaRPr lang="en-US" sz="1833" b="1" dirty="0">
              <a:solidFill>
                <a:schemeClr val="accent3">
                  <a:lumMod val="75000"/>
                </a:schemeClr>
              </a:solidFill>
            </a:endParaRPr>
          </a:p>
        </p:txBody>
      </p:sp>
      <p:sp>
        <p:nvSpPr>
          <p:cNvPr id="11" name="Text 6">
            <a:extLst>
              <a:ext uri="{FF2B5EF4-FFF2-40B4-BE49-F238E27FC236}">
                <a16:creationId xmlns:a16="http://schemas.microsoft.com/office/drawing/2014/main" id="{CF08F573-8051-3356-1048-898911B9C720}"/>
              </a:ext>
            </a:extLst>
          </p:cNvPr>
          <p:cNvSpPr/>
          <p:nvPr/>
        </p:nvSpPr>
        <p:spPr>
          <a:xfrm>
            <a:off x="8096449" y="4692055"/>
            <a:ext cx="3433961" cy="907257"/>
          </a:xfrm>
          <a:prstGeom prst="rect">
            <a:avLst/>
          </a:prstGeom>
          <a:noFill/>
          <a:ln/>
        </p:spPr>
        <p:txBody>
          <a:bodyPr wrap="square" lIns="0" tIns="0" rIns="0" bIns="0" rtlCol="0" anchor="t"/>
          <a:lstStyle/>
          <a:p>
            <a:pPr>
              <a:lnSpc>
                <a:spcPts val="2375"/>
              </a:lnSpc>
            </a:pPr>
            <a:r>
              <a:rPr lang="en-US" sz="1458" dirty="0">
                <a:solidFill>
                  <a:srgbClr val="4C4C4D"/>
                </a:solidFill>
                <a:latin typeface="Heebo" pitchFamily="34" charset="0"/>
                <a:ea typeface="Heebo" pitchFamily="34" charset="-122"/>
                <a:cs typeface="Heebo" pitchFamily="34" charset="-120"/>
              </a:rPr>
              <a:t>By automating security tasks, Microsoft Defender has freed up security teams to focus on more strategic initiatives.</a:t>
            </a:r>
            <a:endParaRPr lang="en-US" sz="1458" dirty="0"/>
          </a:p>
        </p:txBody>
      </p:sp>
    </p:spTree>
    <p:extLst>
      <p:ext uri="{BB962C8B-B14F-4D97-AF65-F5344CB8AC3E}">
        <p14:creationId xmlns:p14="http://schemas.microsoft.com/office/powerpoint/2010/main" val="289580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F674A711-CA74-A4CD-9EFC-973AFBF1F9F6}"/>
              </a:ext>
            </a:extLst>
          </p:cNvPr>
          <p:cNvPicPr>
            <a:picLocks noGrp="1" noChangeAspect="1"/>
          </p:cNvPicPr>
          <p:nvPr>
            <p:ph type="pic" sz="quarter" idx="10"/>
          </p:nvPr>
        </p:nvPicPr>
        <p:blipFill>
          <a:blip r:embed="rId3"/>
          <a:srcRect l="16832" r="16832"/>
          <a:stretch>
            <a:fillRect/>
          </a:stretch>
        </p:blipFill>
        <p:spPr/>
      </p:pic>
      <p:sp>
        <p:nvSpPr>
          <p:cNvPr id="3" name="Freeform 13"/>
          <p:cNvSpPr>
            <a:spLocks/>
          </p:cNvSpPr>
          <p:nvPr/>
        </p:nvSpPr>
        <p:spPr bwMode="auto">
          <a:xfrm>
            <a:off x="217712" y="0"/>
            <a:ext cx="6455902" cy="6858000"/>
          </a:xfrm>
          <a:custGeom>
            <a:avLst/>
            <a:gdLst>
              <a:gd name="T0" fmla="*/ 0 w 305"/>
              <a:gd name="T1" fmla="*/ 324 h 324"/>
              <a:gd name="T2" fmla="*/ 251 w 305"/>
              <a:gd name="T3" fmla="*/ 324 h 324"/>
              <a:gd name="T4" fmla="*/ 305 w 305"/>
              <a:gd name="T5" fmla="*/ 168 h 324"/>
              <a:gd name="T6" fmla="*/ 305 w 305"/>
              <a:gd name="T7" fmla="*/ 156 h 324"/>
              <a:gd name="T8" fmla="*/ 251 w 305"/>
              <a:gd name="T9" fmla="*/ 0 h 324"/>
              <a:gd name="T10" fmla="*/ 0 w 305"/>
              <a:gd name="T11" fmla="*/ 0 h 324"/>
              <a:gd name="T12" fmla="*/ 0 w 305"/>
              <a:gd name="T13" fmla="*/ 324 h 324"/>
            </a:gdLst>
            <a:ahLst/>
            <a:cxnLst>
              <a:cxn ang="0">
                <a:pos x="T0" y="T1"/>
              </a:cxn>
              <a:cxn ang="0">
                <a:pos x="T2" y="T3"/>
              </a:cxn>
              <a:cxn ang="0">
                <a:pos x="T4" y="T5"/>
              </a:cxn>
              <a:cxn ang="0">
                <a:pos x="T6" y="T7"/>
              </a:cxn>
              <a:cxn ang="0">
                <a:pos x="T8" y="T9"/>
              </a:cxn>
              <a:cxn ang="0">
                <a:pos x="T10" y="T11"/>
              </a:cxn>
              <a:cxn ang="0">
                <a:pos x="T12" y="T13"/>
              </a:cxn>
            </a:cxnLst>
            <a:rect l="0" t="0" r="r" b="b"/>
            <a:pathLst>
              <a:path w="305" h="324">
                <a:moveTo>
                  <a:pt x="0" y="324"/>
                </a:moveTo>
                <a:cubicBezTo>
                  <a:pt x="251" y="324"/>
                  <a:pt x="251" y="324"/>
                  <a:pt x="251" y="324"/>
                </a:cubicBezTo>
                <a:cubicBezTo>
                  <a:pt x="285" y="281"/>
                  <a:pt x="305" y="227"/>
                  <a:pt x="305" y="168"/>
                </a:cubicBezTo>
                <a:cubicBezTo>
                  <a:pt x="305" y="156"/>
                  <a:pt x="305" y="156"/>
                  <a:pt x="305" y="156"/>
                </a:cubicBezTo>
                <a:cubicBezTo>
                  <a:pt x="305" y="97"/>
                  <a:pt x="285" y="43"/>
                  <a:pt x="251" y="0"/>
                </a:cubicBezTo>
                <a:cubicBezTo>
                  <a:pt x="0" y="0"/>
                  <a:pt x="0" y="0"/>
                  <a:pt x="0" y="0"/>
                </a:cubicBezTo>
                <a:lnTo>
                  <a:pt x="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latin typeface="Calibri"/>
            </a:endParaRPr>
          </a:p>
        </p:txBody>
      </p:sp>
      <p:sp>
        <p:nvSpPr>
          <p:cNvPr id="5" name="TextBox 4"/>
          <p:cNvSpPr txBox="1"/>
          <p:nvPr/>
        </p:nvSpPr>
        <p:spPr>
          <a:xfrm>
            <a:off x="949126" y="3572308"/>
            <a:ext cx="4993075" cy="1174168"/>
          </a:xfrm>
          <a:prstGeom prst="rect">
            <a:avLst/>
          </a:prstGeom>
          <a:noFill/>
        </p:spPr>
        <p:txBody>
          <a:bodyPr wrap="square" rtlCol="0" anchor="t">
            <a:spAutoFit/>
          </a:bodyPr>
          <a:lstStyle/>
          <a:p>
            <a:pPr marL="0" indent="0">
              <a:lnSpc>
                <a:spcPts val="2850"/>
              </a:lnSpc>
              <a:buNone/>
            </a:pPr>
            <a:r>
              <a:rPr lang="en-US" sz="1800" i="1" dirty="0">
                <a:latin typeface="Epilogue" pitchFamily="34" charset="0"/>
                <a:ea typeface="Epilogue" pitchFamily="34" charset="-122"/>
                <a:cs typeface="Epilogue" pitchFamily="34" charset="-120"/>
              </a:rPr>
              <a:t>Azure Sentinel is a cloud-native SIEM that helps you detect and respond to threats across your enterprise.</a:t>
            </a:r>
            <a:endParaRPr lang="en-US" sz="1800" i="1" dirty="0"/>
          </a:p>
        </p:txBody>
      </p:sp>
      <p:sp>
        <p:nvSpPr>
          <p:cNvPr id="7" name="TextBox 6"/>
          <p:cNvSpPr txBox="1"/>
          <p:nvPr/>
        </p:nvSpPr>
        <p:spPr>
          <a:xfrm>
            <a:off x="731412" y="2779828"/>
            <a:ext cx="4490828" cy="584775"/>
          </a:xfrm>
          <a:prstGeom prst="rect">
            <a:avLst/>
          </a:prstGeom>
          <a:noFill/>
        </p:spPr>
        <p:txBody>
          <a:bodyPr wrap="square" rtlCol="0" anchor="ctr">
            <a:spAutoFit/>
          </a:bodyPr>
          <a:lstStyle/>
          <a:p>
            <a:pPr indent="0" algn="ctr">
              <a:buNone/>
            </a:pPr>
            <a:r>
              <a:rPr lang="en-US" sz="3200" dirty="0">
                <a:ln w="0"/>
                <a:solidFill>
                  <a:schemeClr val="accent3"/>
                </a:solidFill>
                <a:effectLst>
                  <a:reflection blurRad="6350" stA="53000" endA="300" endPos="35500" dir="5400000" sy="-90000" algn="bl" rotWithShape="0"/>
                </a:effectLst>
                <a:latin typeface="Congenial Black" panose="020F0502020204030204" pitchFamily="2" charset="0"/>
              </a:rPr>
              <a:t>AZURE SENTINEL</a:t>
            </a:r>
          </a:p>
        </p:txBody>
      </p:sp>
      <p:pic>
        <p:nvPicPr>
          <p:cNvPr id="4" name="Google Shape;194;p55">
            <a:extLst>
              <a:ext uri="{FF2B5EF4-FFF2-40B4-BE49-F238E27FC236}">
                <a16:creationId xmlns:a16="http://schemas.microsoft.com/office/drawing/2014/main" id="{B632E544-6244-6207-752B-ADEEC66015A8}"/>
              </a:ext>
            </a:extLst>
          </p:cNvPr>
          <p:cNvPicPr preferRelativeResize="0"/>
          <p:nvPr/>
        </p:nvPicPr>
        <p:blipFill>
          <a:blip r:embed="rId4">
            <a:alphaModFix/>
          </a:blip>
          <a:stretch>
            <a:fillRect/>
          </a:stretch>
        </p:blipFill>
        <p:spPr>
          <a:xfrm>
            <a:off x="270705" y="181178"/>
            <a:ext cx="2635055" cy="611302"/>
          </a:xfrm>
          <a:prstGeom prst="rect">
            <a:avLst/>
          </a:prstGeom>
          <a:noFill/>
          <a:ln>
            <a:noFill/>
          </a:ln>
        </p:spPr>
      </p:pic>
      <p:sp>
        <p:nvSpPr>
          <p:cNvPr id="24" name="Google Shape;196;p55">
            <a:extLst>
              <a:ext uri="{FF2B5EF4-FFF2-40B4-BE49-F238E27FC236}">
                <a16:creationId xmlns:a16="http://schemas.microsoft.com/office/drawing/2014/main" id="{F44F8E55-E8DB-E932-AB95-47844A24D58F}"/>
              </a:ext>
            </a:extLst>
          </p:cNvPr>
          <p:cNvSpPr/>
          <p:nvPr/>
        </p:nvSpPr>
        <p:spPr>
          <a:xfrm>
            <a:off x="1077748" y="5022901"/>
            <a:ext cx="3528000" cy="88400"/>
          </a:xfrm>
          <a:prstGeom prst="roundRect">
            <a:avLst>
              <a:gd name="adj" fmla="val 50000"/>
            </a:avLst>
          </a:prstGeom>
          <a:gradFill>
            <a:gsLst>
              <a:gs pos="0">
                <a:srgbClr val="016938"/>
              </a:gs>
              <a:gs pos="100000">
                <a:srgbClr val="6CBF4A"/>
              </a:gs>
            </a:gsLst>
            <a:lin ang="2700006" scaled="0"/>
          </a:gradFill>
          <a:ln>
            <a:noFill/>
          </a:ln>
          <a:effectLst>
            <a:outerShdw blurRad="200025" dist="19050" dir="5400000" algn="bl" rotWithShape="0">
              <a:srgbClr val="000000">
                <a:alpha val="20000"/>
              </a:srgbClr>
            </a:outerShdw>
          </a:effectLst>
        </p:spPr>
        <p:txBody>
          <a:bodyPr spcFirstLastPara="1" wrap="square" lIns="91433" tIns="45700" rIns="91433" bIns="45700" anchor="ctr" anchorCtr="0">
            <a:noAutofit/>
          </a:bodyPr>
          <a:lstStyle/>
          <a:p>
            <a:pPr algn="ctr">
              <a:buSzPts val="1400"/>
            </a:pPr>
            <a:endParaRPr sz="1867">
              <a:solidFill>
                <a:srgbClr val="FFFFFF"/>
              </a:solidFill>
              <a:latin typeface="Open Sans"/>
              <a:ea typeface="Open Sans"/>
              <a:cs typeface="Open Sans"/>
              <a:sym typeface="Open Sans"/>
            </a:endParaRPr>
          </a:p>
        </p:txBody>
      </p:sp>
    </p:spTree>
    <p:extLst>
      <p:ext uri="{BB962C8B-B14F-4D97-AF65-F5344CB8AC3E}">
        <p14:creationId xmlns:p14="http://schemas.microsoft.com/office/powerpoint/2010/main" val="1282541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269"/>
        <p:cNvGrpSpPr/>
        <p:nvPr/>
      </p:nvGrpSpPr>
      <p:grpSpPr>
        <a:xfrm>
          <a:off x="0" y="0"/>
          <a:ext cx="0" cy="0"/>
          <a:chOff x="0" y="0"/>
          <a:chExt cx="0" cy="0"/>
        </a:xfrm>
      </p:grpSpPr>
      <p:pic>
        <p:nvPicPr>
          <p:cNvPr id="270" name="Google Shape;270;p59"/>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sp>
        <p:nvSpPr>
          <p:cNvPr id="286" name="Google Shape;286;p59"/>
          <p:cNvSpPr txBox="1"/>
          <p:nvPr/>
        </p:nvSpPr>
        <p:spPr>
          <a:xfrm>
            <a:off x="646505" y="198189"/>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IN" sz="3200" b="1" dirty="0">
                <a:solidFill>
                  <a:srgbClr val="00953A"/>
                </a:solidFill>
                <a:latin typeface="Roboto Condensed"/>
                <a:ea typeface="Roboto Condensed"/>
                <a:cs typeface="Roboto Condensed"/>
                <a:sym typeface="Roboto Condensed"/>
              </a:rPr>
              <a:t>AZURE SENTINEL </a:t>
            </a:r>
            <a:r>
              <a:rPr lang="en-IN" sz="4000" b="1" dirty="0">
                <a:solidFill>
                  <a:srgbClr val="026A38"/>
                </a:solidFill>
                <a:latin typeface="Roboto Condensed"/>
                <a:ea typeface="Roboto Condensed"/>
                <a:cs typeface="Roboto Condensed"/>
                <a:sym typeface="Roboto Condensed"/>
              </a:rPr>
              <a:t>- Overview</a:t>
            </a:r>
          </a:p>
        </p:txBody>
      </p:sp>
      <p:sp>
        <p:nvSpPr>
          <p:cNvPr id="4" name="TextBox 3">
            <a:extLst>
              <a:ext uri="{FF2B5EF4-FFF2-40B4-BE49-F238E27FC236}">
                <a16:creationId xmlns:a16="http://schemas.microsoft.com/office/drawing/2014/main" id="{192B3D09-FAD6-1C94-7C3A-F70C096F82BC}"/>
              </a:ext>
            </a:extLst>
          </p:cNvPr>
          <p:cNvSpPr txBox="1"/>
          <p:nvPr/>
        </p:nvSpPr>
        <p:spPr>
          <a:xfrm>
            <a:off x="4068404" y="4737224"/>
            <a:ext cx="1959179" cy="324000"/>
          </a:xfrm>
          <a:prstGeom prst="rect">
            <a:avLst/>
          </a:prstGeom>
          <a:solidFill>
            <a:schemeClr val="accent3">
              <a:lumMod val="75000"/>
            </a:schemeClr>
          </a:solidFill>
          <a:ln w="0">
            <a:noFill/>
            <a:prstDash val="solid"/>
            <a:round/>
            <a:headEnd/>
            <a:tailEnd/>
          </a:ln>
          <a:effectLst>
            <a:outerShdw blurRad="50800" dist="76200" dir="2700000" algn="tl" rotWithShape="0">
              <a:prstClr val="black">
                <a:alpha val="40000"/>
              </a:prstClr>
            </a:outerShdw>
          </a:effectLst>
        </p:spPr>
        <p:txBody>
          <a:bodyPr vert="horz" wrap="square" lIns="68580" tIns="34290" rIns="68580" bIns="34290" numCol="1" anchor="ctr" anchorCtr="0" compatLnSpc="1">
            <a:prstTxWarp prst="textNoShape">
              <a:avLst/>
            </a:prstTxWarp>
          </a:bodyPr>
          <a:lstStyle>
            <a:defPPr>
              <a:defRPr lang="en-US"/>
            </a:defPPr>
            <a:lvl1pPr>
              <a:defRPr sz="1053"/>
            </a:lvl1pPr>
          </a:lstStyle>
          <a:p>
            <a:pPr algn="ctr"/>
            <a:r>
              <a:rPr lang="en-US" sz="1100" b="1" dirty="0">
                <a:solidFill>
                  <a:schemeClr val="bg1"/>
                </a:solidFill>
              </a:rPr>
              <a:t>Security Orchestration </a:t>
            </a:r>
          </a:p>
        </p:txBody>
      </p:sp>
      <p:sp>
        <p:nvSpPr>
          <p:cNvPr id="5" name="TextBox 4">
            <a:extLst>
              <a:ext uri="{FF2B5EF4-FFF2-40B4-BE49-F238E27FC236}">
                <a16:creationId xmlns:a16="http://schemas.microsoft.com/office/drawing/2014/main" id="{98E9ED4F-A846-6CAD-06E6-055943F863B7}"/>
              </a:ext>
            </a:extLst>
          </p:cNvPr>
          <p:cNvSpPr txBox="1"/>
          <p:nvPr/>
        </p:nvSpPr>
        <p:spPr>
          <a:xfrm>
            <a:off x="7008591" y="4737205"/>
            <a:ext cx="2190493" cy="368592"/>
          </a:xfrm>
          <a:prstGeom prst="rect">
            <a:avLst/>
          </a:prstGeom>
          <a:solidFill>
            <a:schemeClr val="accent3">
              <a:lumMod val="75000"/>
            </a:schemeClr>
          </a:solidFill>
          <a:ln w="0">
            <a:noFill/>
            <a:prstDash val="solid"/>
            <a:round/>
            <a:headEnd/>
            <a:tailEnd/>
          </a:ln>
          <a:effectLst>
            <a:outerShdw blurRad="50800" dist="76200" dir="2700000" algn="tl" rotWithShape="0">
              <a:prstClr val="black">
                <a:alpha val="40000"/>
              </a:prstClr>
            </a:outerShdw>
          </a:effectLst>
        </p:spPr>
        <p:txBody>
          <a:bodyPr vert="horz" wrap="square" lIns="68580" tIns="34290" rIns="68580" bIns="34290" numCol="1" anchor="ctr" anchorCtr="0" compatLnSpc="1">
            <a:prstTxWarp prst="textNoShape">
              <a:avLst/>
            </a:prstTxWarp>
          </a:bodyPr>
          <a:lstStyle>
            <a:defPPr>
              <a:defRPr lang="en-US"/>
            </a:defPPr>
            <a:lvl1pPr>
              <a:defRPr sz="1053"/>
            </a:lvl1pPr>
          </a:lstStyle>
          <a:p>
            <a:r>
              <a:rPr lang="en-US" sz="1100" b="1" dirty="0">
                <a:solidFill>
                  <a:schemeClr val="bg1"/>
                </a:solidFill>
              </a:rPr>
              <a:t>Centralized Security Management 	</a:t>
            </a:r>
            <a:endParaRPr lang="en-IN" sz="1100" b="1" dirty="0">
              <a:solidFill>
                <a:schemeClr val="bg1"/>
              </a:solidFill>
            </a:endParaRPr>
          </a:p>
        </p:txBody>
      </p:sp>
      <p:pic>
        <p:nvPicPr>
          <p:cNvPr id="8" name="image3.png">
            <a:extLst>
              <a:ext uri="{FF2B5EF4-FFF2-40B4-BE49-F238E27FC236}">
                <a16:creationId xmlns:a16="http://schemas.microsoft.com/office/drawing/2014/main" id="{0A0629B0-FBF8-9082-474C-DFD86E66A380}"/>
              </a:ext>
            </a:extLst>
          </p:cNvPr>
          <p:cNvPicPr>
            <a:picLocks noChangeAspect="1"/>
          </p:cNvPicPr>
          <p:nvPr/>
        </p:nvPicPr>
        <p:blipFill>
          <a:blip r:embed="rId4" cstate="print"/>
          <a:stretch>
            <a:fillRect/>
          </a:stretch>
        </p:blipFill>
        <p:spPr>
          <a:xfrm>
            <a:off x="1221019" y="5464840"/>
            <a:ext cx="237491" cy="237491"/>
          </a:xfrm>
          <a:prstGeom prst="rect">
            <a:avLst/>
          </a:prstGeom>
        </p:spPr>
      </p:pic>
      <p:sp>
        <p:nvSpPr>
          <p:cNvPr id="13" name="TextBox 12">
            <a:extLst>
              <a:ext uri="{FF2B5EF4-FFF2-40B4-BE49-F238E27FC236}">
                <a16:creationId xmlns:a16="http://schemas.microsoft.com/office/drawing/2014/main" id="{C27B3838-A431-E916-3A39-B85599A095EC}"/>
              </a:ext>
            </a:extLst>
          </p:cNvPr>
          <p:cNvSpPr txBox="1"/>
          <p:nvPr/>
        </p:nvSpPr>
        <p:spPr>
          <a:xfrm>
            <a:off x="1389839" y="5390619"/>
            <a:ext cx="1209675" cy="3693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Anomaly detection</a:t>
            </a:r>
            <a:endParaRPr lang="en-IN" sz="1000" kern="1200" dirty="0"/>
          </a:p>
        </p:txBody>
      </p:sp>
      <p:sp>
        <p:nvSpPr>
          <p:cNvPr id="14" name="TextBox 13">
            <a:extLst>
              <a:ext uri="{FF2B5EF4-FFF2-40B4-BE49-F238E27FC236}">
                <a16:creationId xmlns:a16="http://schemas.microsoft.com/office/drawing/2014/main" id="{2CDDDFEF-5299-EB5A-7FA2-A2A303398FD9}"/>
              </a:ext>
            </a:extLst>
          </p:cNvPr>
          <p:cNvSpPr txBox="1"/>
          <p:nvPr/>
        </p:nvSpPr>
        <p:spPr>
          <a:xfrm>
            <a:off x="1395186" y="5827381"/>
            <a:ext cx="1209675" cy="3693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Behavioral analysis</a:t>
            </a:r>
            <a:endParaRPr lang="en-IN" sz="1000" kern="1200" dirty="0"/>
          </a:p>
        </p:txBody>
      </p:sp>
      <p:sp>
        <p:nvSpPr>
          <p:cNvPr id="15" name="TextBox 14">
            <a:extLst>
              <a:ext uri="{FF2B5EF4-FFF2-40B4-BE49-F238E27FC236}">
                <a16:creationId xmlns:a16="http://schemas.microsoft.com/office/drawing/2014/main" id="{1FDB53F1-BEBB-7B70-9DA7-0FF5A00291E3}"/>
              </a:ext>
            </a:extLst>
          </p:cNvPr>
          <p:cNvSpPr txBox="1"/>
          <p:nvPr/>
        </p:nvSpPr>
        <p:spPr>
          <a:xfrm>
            <a:off x="1305017" y="6307781"/>
            <a:ext cx="1556594" cy="3693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Threat intelligence integration</a:t>
            </a:r>
            <a:endParaRPr lang="en-IN" sz="1000" kern="1200" dirty="0"/>
          </a:p>
        </p:txBody>
      </p:sp>
      <p:sp>
        <p:nvSpPr>
          <p:cNvPr id="18" name="Rectangle 17">
            <a:extLst>
              <a:ext uri="{FF2B5EF4-FFF2-40B4-BE49-F238E27FC236}">
                <a16:creationId xmlns:a16="http://schemas.microsoft.com/office/drawing/2014/main" id="{C337116F-EEFA-2BC1-4838-0B6D6B8E7EAB}"/>
              </a:ext>
            </a:extLst>
          </p:cNvPr>
          <p:cNvSpPr/>
          <p:nvPr/>
        </p:nvSpPr>
        <p:spPr>
          <a:xfrm>
            <a:off x="1135935" y="5247792"/>
            <a:ext cx="1717481" cy="1412019"/>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1DFD65B5-259F-9D81-A570-2197871976A5}"/>
              </a:ext>
            </a:extLst>
          </p:cNvPr>
          <p:cNvSpPr/>
          <p:nvPr/>
        </p:nvSpPr>
        <p:spPr>
          <a:xfrm>
            <a:off x="4047456" y="5246163"/>
            <a:ext cx="1959179" cy="143095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spcBef>
                <a:spcPts val="610"/>
              </a:spcBef>
              <a:spcAft>
                <a:spcPts val="0"/>
              </a:spcAft>
            </a:pPr>
            <a:endParaRPr lang="en-IN" sz="1000">
              <a:solidFill>
                <a:srgbClr val="2E363C"/>
              </a:solidFill>
              <a:ea typeface="Microsoft Sans Serif" panose="020B0604020202020204" pitchFamily="34" charset="0"/>
            </a:endParaRPr>
          </a:p>
        </p:txBody>
      </p:sp>
      <p:pic>
        <p:nvPicPr>
          <p:cNvPr id="24" name="image20.jpeg">
            <a:extLst>
              <a:ext uri="{FF2B5EF4-FFF2-40B4-BE49-F238E27FC236}">
                <a16:creationId xmlns:a16="http://schemas.microsoft.com/office/drawing/2014/main" id="{C0AC360B-C528-CAAE-FFA5-DE3CDB852F80}"/>
              </a:ext>
            </a:extLst>
          </p:cNvPr>
          <p:cNvPicPr>
            <a:picLocks noChangeAspect="1"/>
          </p:cNvPicPr>
          <p:nvPr/>
        </p:nvPicPr>
        <p:blipFill>
          <a:blip r:embed="rId5" cstate="print"/>
          <a:stretch>
            <a:fillRect/>
          </a:stretch>
        </p:blipFill>
        <p:spPr>
          <a:xfrm>
            <a:off x="4122508" y="5490112"/>
            <a:ext cx="338138" cy="336635"/>
          </a:xfrm>
          <a:prstGeom prst="rect">
            <a:avLst/>
          </a:prstGeom>
        </p:spPr>
      </p:pic>
      <p:pic>
        <p:nvPicPr>
          <p:cNvPr id="25" name="image21.png">
            <a:extLst>
              <a:ext uri="{FF2B5EF4-FFF2-40B4-BE49-F238E27FC236}">
                <a16:creationId xmlns:a16="http://schemas.microsoft.com/office/drawing/2014/main" id="{B8AA6518-D070-D898-6133-D682D9325164}"/>
              </a:ext>
            </a:extLst>
          </p:cNvPr>
          <p:cNvPicPr>
            <a:picLocks noChangeAspect="1"/>
          </p:cNvPicPr>
          <p:nvPr/>
        </p:nvPicPr>
        <p:blipFill>
          <a:blip r:embed="rId6" cstate="print"/>
          <a:stretch>
            <a:fillRect/>
          </a:stretch>
        </p:blipFill>
        <p:spPr>
          <a:xfrm>
            <a:off x="4151083" y="5904745"/>
            <a:ext cx="253048" cy="235805"/>
          </a:xfrm>
          <a:prstGeom prst="rect">
            <a:avLst/>
          </a:prstGeom>
        </p:spPr>
      </p:pic>
      <p:pic>
        <p:nvPicPr>
          <p:cNvPr id="26" name="image22.jpeg">
            <a:extLst>
              <a:ext uri="{FF2B5EF4-FFF2-40B4-BE49-F238E27FC236}">
                <a16:creationId xmlns:a16="http://schemas.microsoft.com/office/drawing/2014/main" id="{76DC552C-D133-EFDA-672D-AF33F0F18AED}"/>
              </a:ext>
            </a:extLst>
          </p:cNvPr>
          <p:cNvPicPr>
            <a:picLocks noChangeAspect="1"/>
          </p:cNvPicPr>
          <p:nvPr/>
        </p:nvPicPr>
        <p:blipFill>
          <a:blip r:embed="rId7" cstate="print"/>
          <a:stretch>
            <a:fillRect/>
          </a:stretch>
        </p:blipFill>
        <p:spPr>
          <a:xfrm>
            <a:off x="4147448" y="6277086"/>
            <a:ext cx="304308" cy="285260"/>
          </a:xfrm>
          <a:prstGeom prst="rect">
            <a:avLst/>
          </a:prstGeom>
        </p:spPr>
      </p:pic>
      <p:pic>
        <p:nvPicPr>
          <p:cNvPr id="28" name="image24.png">
            <a:extLst>
              <a:ext uri="{FF2B5EF4-FFF2-40B4-BE49-F238E27FC236}">
                <a16:creationId xmlns:a16="http://schemas.microsoft.com/office/drawing/2014/main" id="{BA9028AC-9D3F-494B-E166-0617B0F5BD42}"/>
              </a:ext>
            </a:extLst>
          </p:cNvPr>
          <p:cNvPicPr>
            <a:picLocks noChangeAspect="1"/>
          </p:cNvPicPr>
          <p:nvPr/>
        </p:nvPicPr>
        <p:blipFill>
          <a:blip r:embed="rId8" cstate="print"/>
          <a:stretch>
            <a:fillRect/>
          </a:stretch>
        </p:blipFill>
        <p:spPr>
          <a:xfrm>
            <a:off x="1183910" y="5950907"/>
            <a:ext cx="222684" cy="197981"/>
          </a:xfrm>
          <a:prstGeom prst="rect">
            <a:avLst/>
          </a:prstGeom>
        </p:spPr>
      </p:pic>
      <p:sp>
        <p:nvSpPr>
          <p:cNvPr id="30" name="TextBox 29">
            <a:extLst>
              <a:ext uri="{FF2B5EF4-FFF2-40B4-BE49-F238E27FC236}">
                <a16:creationId xmlns:a16="http://schemas.microsoft.com/office/drawing/2014/main" id="{F78B00AC-0FDD-18D1-A008-FB90039BFB25}"/>
              </a:ext>
            </a:extLst>
          </p:cNvPr>
          <p:cNvSpPr txBox="1"/>
          <p:nvPr/>
        </p:nvSpPr>
        <p:spPr>
          <a:xfrm>
            <a:off x="4465443" y="5529119"/>
            <a:ext cx="1584000" cy="2308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Incident management</a:t>
            </a:r>
            <a:endParaRPr lang="en-IN" sz="1000" kern="1200" dirty="0"/>
          </a:p>
        </p:txBody>
      </p:sp>
      <p:sp>
        <p:nvSpPr>
          <p:cNvPr id="31" name="TextBox 30">
            <a:extLst>
              <a:ext uri="{FF2B5EF4-FFF2-40B4-BE49-F238E27FC236}">
                <a16:creationId xmlns:a16="http://schemas.microsoft.com/office/drawing/2014/main" id="{FFD93180-C391-42FF-45A2-53851DB1FAE1}"/>
              </a:ext>
            </a:extLst>
          </p:cNvPr>
          <p:cNvSpPr txBox="1"/>
          <p:nvPr/>
        </p:nvSpPr>
        <p:spPr>
          <a:xfrm>
            <a:off x="4453262" y="5905682"/>
            <a:ext cx="1584000" cy="2308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Playbook automation</a:t>
            </a:r>
            <a:endParaRPr lang="en-IN" sz="1000" kern="1200" dirty="0"/>
          </a:p>
        </p:txBody>
      </p:sp>
      <p:sp>
        <p:nvSpPr>
          <p:cNvPr id="32" name="TextBox 31">
            <a:extLst>
              <a:ext uri="{FF2B5EF4-FFF2-40B4-BE49-F238E27FC236}">
                <a16:creationId xmlns:a16="http://schemas.microsoft.com/office/drawing/2014/main" id="{A28D9D01-59BB-1DEC-77A8-50235A3466A5}"/>
              </a:ext>
            </a:extLst>
          </p:cNvPr>
          <p:cNvSpPr txBox="1"/>
          <p:nvPr/>
        </p:nvSpPr>
        <p:spPr>
          <a:xfrm>
            <a:off x="4275702" y="6277085"/>
            <a:ext cx="1584000" cy="23083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1000" kern="1200" dirty="0">
                <a:latin typeface="Epilogue" pitchFamily="34" charset="0"/>
                <a:ea typeface="Epilogue" pitchFamily="34" charset="-122"/>
                <a:cs typeface="Epilogue" pitchFamily="34" charset="-120"/>
              </a:rPr>
              <a:t>Threat hunting</a:t>
            </a:r>
            <a:endParaRPr lang="en-IN" sz="1000" kern="1200" dirty="0"/>
          </a:p>
        </p:txBody>
      </p:sp>
      <p:pic>
        <p:nvPicPr>
          <p:cNvPr id="37" name="image27.png">
            <a:extLst>
              <a:ext uri="{FF2B5EF4-FFF2-40B4-BE49-F238E27FC236}">
                <a16:creationId xmlns:a16="http://schemas.microsoft.com/office/drawing/2014/main" id="{C5E20E83-5F60-98F5-E77B-4D43F2A961E1}"/>
              </a:ext>
            </a:extLst>
          </p:cNvPr>
          <p:cNvPicPr>
            <a:picLocks noChangeAspect="1"/>
          </p:cNvPicPr>
          <p:nvPr/>
        </p:nvPicPr>
        <p:blipFill>
          <a:blip r:embed="rId9" cstate="print"/>
          <a:stretch>
            <a:fillRect/>
          </a:stretch>
        </p:blipFill>
        <p:spPr>
          <a:xfrm>
            <a:off x="7142102" y="5392809"/>
            <a:ext cx="262750" cy="262750"/>
          </a:xfrm>
          <a:prstGeom prst="rect">
            <a:avLst/>
          </a:prstGeom>
        </p:spPr>
      </p:pic>
      <p:pic>
        <p:nvPicPr>
          <p:cNvPr id="38" name="image28.png">
            <a:extLst>
              <a:ext uri="{FF2B5EF4-FFF2-40B4-BE49-F238E27FC236}">
                <a16:creationId xmlns:a16="http://schemas.microsoft.com/office/drawing/2014/main" id="{A7D5FF58-65CE-3074-6536-EEDC2D67DD85}"/>
              </a:ext>
            </a:extLst>
          </p:cNvPr>
          <p:cNvPicPr>
            <a:picLocks noChangeAspect="1"/>
          </p:cNvPicPr>
          <p:nvPr/>
        </p:nvPicPr>
        <p:blipFill>
          <a:blip r:embed="rId10" cstate="print"/>
          <a:stretch>
            <a:fillRect/>
          </a:stretch>
        </p:blipFill>
        <p:spPr>
          <a:xfrm>
            <a:off x="7191127" y="6229668"/>
            <a:ext cx="304308" cy="234126"/>
          </a:xfrm>
          <a:prstGeom prst="rect">
            <a:avLst/>
          </a:prstGeom>
        </p:spPr>
      </p:pic>
      <p:grpSp>
        <p:nvGrpSpPr>
          <p:cNvPr id="6" name="Group 5">
            <a:extLst>
              <a:ext uri="{FF2B5EF4-FFF2-40B4-BE49-F238E27FC236}">
                <a16:creationId xmlns:a16="http://schemas.microsoft.com/office/drawing/2014/main" id="{A2F3CD48-4417-C227-CD27-2F22D3A2F392}"/>
              </a:ext>
            </a:extLst>
          </p:cNvPr>
          <p:cNvGrpSpPr/>
          <p:nvPr/>
        </p:nvGrpSpPr>
        <p:grpSpPr>
          <a:xfrm>
            <a:off x="7008591" y="5247663"/>
            <a:ext cx="1894567" cy="1429450"/>
            <a:chOff x="1572657" y="4632237"/>
            <a:chExt cx="1907091" cy="1953238"/>
          </a:xfrm>
        </p:grpSpPr>
        <p:sp>
          <p:nvSpPr>
            <p:cNvPr id="36" name="Rectangle 35">
              <a:extLst>
                <a:ext uri="{FF2B5EF4-FFF2-40B4-BE49-F238E27FC236}">
                  <a16:creationId xmlns:a16="http://schemas.microsoft.com/office/drawing/2014/main" id="{5968F9D1-31B1-6181-3178-4D76B29EA6D5}"/>
                </a:ext>
              </a:extLst>
            </p:cNvPr>
            <p:cNvSpPr/>
            <p:nvPr/>
          </p:nvSpPr>
          <p:spPr>
            <a:xfrm>
              <a:off x="1572657" y="4632237"/>
              <a:ext cx="1888819" cy="1953238"/>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2075">
                <a:spcBef>
                  <a:spcPts val="610"/>
                </a:spcBef>
                <a:spcAft>
                  <a:spcPts val="0"/>
                </a:spcAft>
              </a:pPr>
              <a:endParaRPr lang="en-IN" sz="1000">
                <a:solidFill>
                  <a:srgbClr val="2E363C"/>
                </a:solidFill>
                <a:ea typeface="Microsoft Sans Serif" panose="020B0604020202020204" pitchFamily="34" charset="0"/>
              </a:endParaRPr>
            </a:p>
          </p:txBody>
        </p:sp>
        <p:sp>
          <p:nvSpPr>
            <p:cNvPr id="40" name="TextBox 39">
              <a:extLst>
                <a:ext uri="{FF2B5EF4-FFF2-40B4-BE49-F238E27FC236}">
                  <a16:creationId xmlns:a16="http://schemas.microsoft.com/office/drawing/2014/main" id="{5173E4BA-8299-0AAF-2A88-F26DA9E0C847}"/>
                </a:ext>
              </a:extLst>
            </p:cNvPr>
            <p:cNvSpPr txBox="1"/>
            <p:nvPr/>
          </p:nvSpPr>
          <p:spPr>
            <a:xfrm>
              <a:off x="1935720" y="4847964"/>
              <a:ext cx="1482069" cy="341633"/>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900" kern="1200" dirty="0">
                  <a:latin typeface="Epilogue" pitchFamily="34" charset="0"/>
                  <a:ea typeface="Epilogue" pitchFamily="34" charset="-122"/>
                  <a:cs typeface="Epilogue" pitchFamily="34" charset="-120"/>
                </a:rPr>
                <a:t>Data collection and ingestion</a:t>
              </a:r>
              <a:endParaRPr lang="en-IN" sz="900" kern="1200" dirty="0"/>
            </a:p>
          </p:txBody>
        </p:sp>
        <p:sp>
          <p:nvSpPr>
            <p:cNvPr id="41" name="TextBox 40">
              <a:extLst>
                <a:ext uri="{FF2B5EF4-FFF2-40B4-BE49-F238E27FC236}">
                  <a16:creationId xmlns:a16="http://schemas.microsoft.com/office/drawing/2014/main" id="{2AE4D129-6B5F-3507-5886-0D0319EFC1AE}"/>
                </a:ext>
              </a:extLst>
            </p:cNvPr>
            <p:cNvSpPr txBox="1"/>
            <p:nvPr/>
          </p:nvSpPr>
          <p:spPr>
            <a:xfrm>
              <a:off x="1844182" y="5924811"/>
              <a:ext cx="1482069" cy="466815"/>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900" kern="1200" dirty="0">
                  <a:latin typeface="Epilogue" pitchFamily="34" charset="0"/>
                  <a:ea typeface="Epilogue" pitchFamily="34" charset="-122"/>
                  <a:cs typeface="Epilogue" pitchFamily="34" charset="-120"/>
                </a:rPr>
                <a:t>Security posture management</a:t>
              </a:r>
              <a:endParaRPr lang="en-IN" sz="900" kern="1200" dirty="0"/>
            </a:p>
          </p:txBody>
        </p:sp>
        <p:sp>
          <p:nvSpPr>
            <p:cNvPr id="268" name="TextBox 267">
              <a:extLst>
                <a:ext uri="{FF2B5EF4-FFF2-40B4-BE49-F238E27FC236}">
                  <a16:creationId xmlns:a16="http://schemas.microsoft.com/office/drawing/2014/main" id="{F0EB752D-252B-1ABF-6403-8DF0F63ECD19}"/>
                </a:ext>
              </a:extLst>
            </p:cNvPr>
            <p:cNvSpPr txBox="1"/>
            <p:nvPr/>
          </p:nvSpPr>
          <p:spPr>
            <a:xfrm>
              <a:off x="1997679" y="5499192"/>
              <a:ext cx="1482069" cy="216982"/>
            </a:xfrm>
            <a:prstGeom prst="rect">
              <a:avLst/>
            </a:prstGeom>
            <a:noFill/>
          </p:spPr>
          <p:txBody>
            <a:bodyPr wrap="square">
              <a:spAutoFit/>
            </a:bodyPr>
            <a:lstStyle/>
            <a:p>
              <a:pPr marL="0" lvl="0" indent="0" algn="ctr" defTabSz="533400">
                <a:lnSpc>
                  <a:spcPct val="90000"/>
                </a:lnSpc>
                <a:spcBef>
                  <a:spcPct val="0"/>
                </a:spcBef>
                <a:spcAft>
                  <a:spcPct val="35000"/>
                </a:spcAft>
                <a:buNone/>
              </a:pPr>
              <a:r>
                <a:rPr lang="en-US" sz="900" kern="1200" dirty="0">
                  <a:latin typeface="Epilogue" pitchFamily="34" charset="0"/>
                  <a:ea typeface="Epilogue" pitchFamily="34" charset="-122"/>
                  <a:cs typeface="Epilogue" pitchFamily="34" charset="-120"/>
                </a:rPr>
                <a:t>Alerting and reporting</a:t>
              </a:r>
              <a:endParaRPr lang="en-IN" sz="900" kern="1200" dirty="0"/>
            </a:p>
          </p:txBody>
        </p:sp>
      </p:grpSp>
      <p:pic>
        <p:nvPicPr>
          <p:cNvPr id="3084" name="Picture 12" descr="Health Monitoring Svg Png Icon Free Download (#372046) - OnlineWebFonts.COM">
            <a:extLst>
              <a:ext uri="{FF2B5EF4-FFF2-40B4-BE49-F238E27FC236}">
                <a16:creationId xmlns:a16="http://schemas.microsoft.com/office/drawing/2014/main" id="{61D3A2AB-366F-09A9-E7E6-F8709CA013C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29636" y="6340129"/>
            <a:ext cx="220259" cy="22185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performance monitor Icon - Free PNG &amp; SVG 1520978 - Noun Project">
            <a:extLst>
              <a:ext uri="{FF2B5EF4-FFF2-40B4-BE49-F238E27FC236}">
                <a16:creationId xmlns:a16="http://schemas.microsoft.com/office/drawing/2014/main" id="{3FD651E4-5B2F-84ED-B686-DCC8436E04F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62440" y="5847477"/>
            <a:ext cx="311483" cy="31148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1B0D157-251D-82A7-FA75-3593E2E9B01A}"/>
              </a:ext>
            </a:extLst>
          </p:cNvPr>
          <p:cNvPicPr>
            <a:picLocks noChangeAspect="1"/>
          </p:cNvPicPr>
          <p:nvPr/>
        </p:nvPicPr>
        <p:blipFill>
          <a:blip r:embed="rId13"/>
          <a:stretch>
            <a:fillRect/>
          </a:stretch>
        </p:blipFill>
        <p:spPr>
          <a:xfrm>
            <a:off x="2600816" y="1070595"/>
            <a:ext cx="6990368" cy="3672292"/>
          </a:xfrm>
          <a:prstGeom prst="rect">
            <a:avLst/>
          </a:prstGeom>
        </p:spPr>
      </p:pic>
      <p:sp>
        <p:nvSpPr>
          <p:cNvPr id="2" name="TextBox 1">
            <a:extLst>
              <a:ext uri="{FF2B5EF4-FFF2-40B4-BE49-F238E27FC236}">
                <a16:creationId xmlns:a16="http://schemas.microsoft.com/office/drawing/2014/main" id="{0F85D8CB-D606-D91F-A3A1-753B9CA49F8B}"/>
              </a:ext>
            </a:extLst>
          </p:cNvPr>
          <p:cNvSpPr txBox="1"/>
          <p:nvPr/>
        </p:nvSpPr>
        <p:spPr>
          <a:xfrm>
            <a:off x="1041986" y="4740271"/>
            <a:ext cx="1959179" cy="324000"/>
          </a:xfrm>
          <a:prstGeom prst="rect">
            <a:avLst/>
          </a:prstGeom>
          <a:solidFill>
            <a:schemeClr val="accent3">
              <a:lumMod val="75000"/>
            </a:schemeClr>
          </a:solidFill>
          <a:ln w="0">
            <a:noFill/>
            <a:prstDash val="solid"/>
            <a:round/>
            <a:headEnd/>
            <a:tailEnd/>
          </a:ln>
          <a:effectLst>
            <a:outerShdw blurRad="50800" dist="76200" dir="2700000" algn="tl" rotWithShape="0">
              <a:prstClr val="black">
                <a:alpha val="40000"/>
              </a:prstClr>
            </a:outerShdw>
          </a:effectLst>
        </p:spPr>
        <p:txBody>
          <a:bodyPr vert="horz" wrap="square" lIns="68580" tIns="34290" rIns="68580" bIns="34290" numCol="1" anchor="ctr" anchorCtr="0" compatLnSpc="1">
            <a:prstTxWarp prst="textNoShape">
              <a:avLst/>
            </a:prstTxWarp>
          </a:bodyPr>
          <a:lstStyle>
            <a:defPPr>
              <a:defRPr lang="en-US"/>
            </a:defPPr>
            <a:lvl1pPr>
              <a:defRPr sz="1053"/>
            </a:lvl1pPr>
          </a:lstStyle>
          <a:p>
            <a:pPr algn="ctr"/>
            <a:r>
              <a:rPr lang="en-US" sz="1100" b="1" dirty="0">
                <a:solidFill>
                  <a:schemeClr val="bg1"/>
                </a:solidFill>
              </a:rPr>
              <a:t>    </a:t>
            </a:r>
          </a:p>
          <a:p>
            <a:pPr algn="ctr"/>
            <a:r>
              <a:rPr lang="en-US" sz="1100" b="1" kern="1200" dirty="0">
                <a:solidFill>
                  <a:schemeClr val="bg1"/>
                </a:solidFill>
              </a:rPr>
              <a:t>Threat Detection </a:t>
            </a:r>
          </a:p>
          <a:p>
            <a:pPr algn="ctr"/>
            <a:endParaRPr lang="en-IN" sz="1100" dirty="0">
              <a:solidFill>
                <a:schemeClr val="bg1"/>
              </a:solidFill>
            </a:endParaRPr>
          </a:p>
        </p:txBody>
      </p:sp>
    </p:spTree>
    <p:extLst>
      <p:ext uri="{BB962C8B-B14F-4D97-AF65-F5344CB8AC3E}">
        <p14:creationId xmlns:p14="http://schemas.microsoft.com/office/powerpoint/2010/main" val="1383756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 name="object 2">
            <a:extLst>
              <a:ext uri="{FF2B5EF4-FFF2-40B4-BE49-F238E27FC236}">
                <a16:creationId xmlns:a16="http://schemas.microsoft.com/office/drawing/2014/main" id="{8BB24E12-1367-6655-DE90-41F9FB572AE1}"/>
              </a:ext>
            </a:extLst>
          </p:cNvPr>
          <p:cNvGrpSpPr/>
          <p:nvPr/>
        </p:nvGrpSpPr>
        <p:grpSpPr>
          <a:xfrm>
            <a:off x="166155" y="3163548"/>
            <a:ext cx="7314057" cy="2937295"/>
            <a:chOff x="775811" y="1930400"/>
            <a:chExt cx="7067528" cy="3047394"/>
          </a:xfrm>
        </p:grpSpPr>
        <p:sp>
          <p:nvSpPr>
            <p:cNvPr id="68" name="object 4">
              <a:extLst>
                <a:ext uri="{FF2B5EF4-FFF2-40B4-BE49-F238E27FC236}">
                  <a16:creationId xmlns:a16="http://schemas.microsoft.com/office/drawing/2014/main" id="{F1DA6FAC-55DF-6A6E-0466-E39FFB57E9DF}"/>
                </a:ext>
              </a:extLst>
            </p:cNvPr>
            <p:cNvSpPr/>
            <p:nvPr/>
          </p:nvSpPr>
          <p:spPr>
            <a:xfrm>
              <a:off x="775811" y="2375197"/>
              <a:ext cx="2209800" cy="2551151"/>
            </a:xfrm>
            <a:prstGeom prst="flowChartAlternateProcess">
              <a:avLst/>
            </a:prstGeom>
            <a:solidFill>
              <a:schemeClr val="accent3">
                <a:lumMod val="75000"/>
              </a:schemeClr>
            </a:solidFill>
          </p:spPr>
          <p:txBody>
            <a:bodyPr wrap="square" lIns="0" tIns="0" rIns="0" bIns="0" rtlCol="0"/>
            <a:lstStyle/>
            <a:p>
              <a:endParaRPr sz="1200" dirty="0"/>
            </a:p>
          </p:txBody>
        </p:sp>
        <p:sp>
          <p:nvSpPr>
            <p:cNvPr id="73" name="object 9">
              <a:extLst>
                <a:ext uri="{FF2B5EF4-FFF2-40B4-BE49-F238E27FC236}">
                  <a16:creationId xmlns:a16="http://schemas.microsoft.com/office/drawing/2014/main" id="{DFB045F7-7B28-3B94-01DC-5452C776B83C}"/>
                </a:ext>
              </a:extLst>
            </p:cNvPr>
            <p:cNvSpPr/>
            <p:nvPr/>
          </p:nvSpPr>
          <p:spPr>
            <a:xfrm>
              <a:off x="3133493" y="2411687"/>
              <a:ext cx="2209800" cy="2543996"/>
            </a:xfrm>
            <a:prstGeom prst="flowChartAlternateProcess">
              <a:avLst/>
            </a:prstGeom>
            <a:solidFill>
              <a:schemeClr val="accent3">
                <a:lumMod val="75000"/>
              </a:schemeClr>
            </a:solidFill>
          </p:spPr>
          <p:txBody>
            <a:bodyPr wrap="square" lIns="0" tIns="0" rIns="0" bIns="0" rtlCol="0"/>
            <a:lstStyle/>
            <a:p>
              <a:endParaRPr sz="1200"/>
            </a:p>
          </p:txBody>
        </p:sp>
        <p:sp>
          <p:nvSpPr>
            <p:cNvPr id="75" name="object 11">
              <a:extLst>
                <a:ext uri="{FF2B5EF4-FFF2-40B4-BE49-F238E27FC236}">
                  <a16:creationId xmlns:a16="http://schemas.microsoft.com/office/drawing/2014/main" id="{BC3016D3-DF4A-69A2-CC25-9C402400CA21}"/>
                </a:ext>
              </a:extLst>
            </p:cNvPr>
            <p:cNvSpPr/>
            <p:nvPr/>
          </p:nvSpPr>
          <p:spPr>
            <a:xfrm>
              <a:off x="6455835" y="1930400"/>
              <a:ext cx="940212" cy="793216"/>
            </a:xfrm>
            <a:custGeom>
              <a:avLst/>
              <a:gdLst/>
              <a:ahLst/>
              <a:cxnLst/>
              <a:rect l="l" t="t" r="r" b="b"/>
              <a:pathLst>
                <a:path w="1088390" h="931544">
                  <a:moveTo>
                    <a:pt x="932738" y="0"/>
                  </a:moveTo>
                  <a:lnTo>
                    <a:pt x="155232" y="0"/>
                  </a:lnTo>
                  <a:lnTo>
                    <a:pt x="106164" y="7913"/>
                  </a:lnTo>
                  <a:lnTo>
                    <a:pt x="63551" y="29948"/>
                  </a:lnTo>
                  <a:lnTo>
                    <a:pt x="29949" y="63548"/>
                  </a:lnTo>
                  <a:lnTo>
                    <a:pt x="7913" y="106158"/>
                  </a:lnTo>
                  <a:lnTo>
                    <a:pt x="0" y="155219"/>
                  </a:lnTo>
                  <a:lnTo>
                    <a:pt x="0" y="776097"/>
                  </a:lnTo>
                  <a:lnTo>
                    <a:pt x="7913" y="825164"/>
                  </a:lnTo>
                  <a:lnTo>
                    <a:pt x="29949" y="867777"/>
                  </a:lnTo>
                  <a:lnTo>
                    <a:pt x="63551" y="901379"/>
                  </a:lnTo>
                  <a:lnTo>
                    <a:pt x="106164" y="923415"/>
                  </a:lnTo>
                  <a:lnTo>
                    <a:pt x="155232" y="931329"/>
                  </a:lnTo>
                  <a:lnTo>
                    <a:pt x="932738" y="931329"/>
                  </a:lnTo>
                  <a:lnTo>
                    <a:pt x="981806" y="923415"/>
                  </a:lnTo>
                  <a:lnTo>
                    <a:pt x="1024419" y="901379"/>
                  </a:lnTo>
                  <a:lnTo>
                    <a:pt x="1058021" y="867777"/>
                  </a:lnTo>
                  <a:lnTo>
                    <a:pt x="1080057" y="825164"/>
                  </a:lnTo>
                  <a:lnTo>
                    <a:pt x="1087970" y="776097"/>
                  </a:lnTo>
                  <a:lnTo>
                    <a:pt x="1087970" y="155219"/>
                  </a:lnTo>
                  <a:lnTo>
                    <a:pt x="1080057" y="106158"/>
                  </a:lnTo>
                  <a:lnTo>
                    <a:pt x="1058021" y="63548"/>
                  </a:lnTo>
                  <a:lnTo>
                    <a:pt x="1024419" y="29948"/>
                  </a:lnTo>
                  <a:lnTo>
                    <a:pt x="981806" y="7913"/>
                  </a:lnTo>
                  <a:lnTo>
                    <a:pt x="932738" y="0"/>
                  </a:lnTo>
                  <a:close/>
                </a:path>
              </a:pathLst>
            </a:custGeom>
            <a:solidFill>
              <a:srgbClr val="FFFFFF"/>
            </a:solidFill>
          </p:spPr>
          <p:txBody>
            <a:bodyPr wrap="square" lIns="0" tIns="0" rIns="0" bIns="0" rtlCol="0"/>
            <a:lstStyle/>
            <a:p>
              <a:endParaRPr sz="1200"/>
            </a:p>
          </p:txBody>
        </p:sp>
        <p:sp>
          <p:nvSpPr>
            <p:cNvPr id="76" name="object 12">
              <a:extLst>
                <a:ext uri="{FF2B5EF4-FFF2-40B4-BE49-F238E27FC236}">
                  <a16:creationId xmlns:a16="http://schemas.microsoft.com/office/drawing/2014/main" id="{7D62A839-9094-5CA9-EAB8-7AC65399DFE5}"/>
                </a:ext>
              </a:extLst>
            </p:cNvPr>
            <p:cNvSpPr/>
            <p:nvPr/>
          </p:nvSpPr>
          <p:spPr>
            <a:xfrm>
              <a:off x="5551093" y="2327008"/>
              <a:ext cx="2292246" cy="2650786"/>
            </a:xfrm>
            <a:prstGeom prst="flowChartAlternateProcess">
              <a:avLst/>
            </a:prstGeom>
            <a:solidFill>
              <a:schemeClr val="accent3">
                <a:lumMod val="75000"/>
              </a:schemeClr>
            </a:solidFill>
          </p:spPr>
          <p:txBody>
            <a:bodyPr wrap="square" lIns="0" tIns="0" rIns="0" bIns="0" rtlCol="0"/>
            <a:lstStyle/>
            <a:p>
              <a:endParaRPr sz="1200" dirty="0"/>
            </a:p>
          </p:txBody>
        </p:sp>
      </p:grpSp>
      <p:sp>
        <p:nvSpPr>
          <p:cNvPr id="29" name="object 18">
            <a:extLst>
              <a:ext uri="{FF2B5EF4-FFF2-40B4-BE49-F238E27FC236}">
                <a16:creationId xmlns:a16="http://schemas.microsoft.com/office/drawing/2014/main" id="{9316D496-D058-F963-6813-AD421A38D01E}"/>
              </a:ext>
            </a:extLst>
          </p:cNvPr>
          <p:cNvSpPr txBox="1"/>
          <p:nvPr/>
        </p:nvSpPr>
        <p:spPr>
          <a:xfrm>
            <a:off x="7785160" y="2442623"/>
            <a:ext cx="1872702" cy="1290952"/>
          </a:xfrm>
          <a:prstGeom prst="rect">
            <a:avLst/>
          </a:prstGeom>
        </p:spPr>
        <p:txBody>
          <a:bodyPr vert="horz" wrap="square" lIns="0" tIns="8467" rIns="0" bIns="0" rtlCol="0">
            <a:spAutoFit/>
          </a:bodyPr>
          <a:lstStyle/>
          <a:p>
            <a:pPr marL="8467">
              <a:spcBef>
                <a:spcPts val="67"/>
              </a:spcBef>
            </a:pPr>
            <a:endParaRPr lang="en-US" sz="1600" spc="-50" dirty="0">
              <a:solidFill>
                <a:srgbClr val="FFFFFF"/>
              </a:solidFill>
              <a:latin typeface="Trebuchet MS"/>
              <a:cs typeface="Trebuchet MS"/>
            </a:endParaRPr>
          </a:p>
          <a:p>
            <a:pPr marL="8467">
              <a:spcBef>
                <a:spcPts val="67"/>
              </a:spcBef>
            </a:pPr>
            <a:endParaRPr lang="en-IN" sz="1600" spc="-50" dirty="0">
              <a:solidFill>
                <a:srgbClr val="FFFFFF"/>
              </a:solidFill>
              <a:latin typeface="Trebuchet MS"/>
              <a:cs typeface="Trebuchet MS"/>
            </a:endParaRPr>
          </a:p>
          <a:p>
            <a:pPr marL="8467">
              <a:spcBef>
                <a:spcPts val="67"/>
              </a:spcBef>
            </a:pPr>
            <a:endParaRPr lang="en-IN" sz="1600" spc="-50" dirty="0">
              <a:solidFill>
                <a:srgbClr val="FFFFFF"/>
              </a:solidFill>
              <a:latin typeface="Trebuchet MS"/>
              <a:cs typeface="Trebuchet MS"/>
            </a:endParaRPr>
          </a:p>
          <a:p>
            <a:pPr marL="8467">
              <a:spcBef>
                <a:spcPts val="67"/>
              </a:spcBef>
            </a:pPr>
            <a:endParaRPr lang="en-IN" sz="1600" spc="-50" dirty="0">
              <a:solidFill>
                <a:srgbClr val="FFFFFF"/>
              </a:solidFill>
              <a:latin typeface="Trebuchet MS"/>
              <a:cs typeface="Trebuchet MS"/>
            </a:endParaRPr>
          </a:p>
          <a:p>
            <a:pPr marL="8467">
              <a:spcBef>
                <a:spcPts val="67"/>
              </a:spcBef>
            </a:pPr>
            <a:endParaRPr lang="en-IN" sz="1600" spc="-50" dirty="0">
              <a:solidFill>
                <a:srgbClr val="FFFFFF"/>
              </a:solidFill>
              <a:latin typeface="Trebuchet MS"/>
              <a:cs typeface="Trebuchet MS"/>
            </a:endParaRPr>
          </a:p>
        </p:txBody>
      </p:sp>
      <p:sp>
        <p:nvSpPr>
          <p:cNvPr id="34" name="object 21">
            <a:extLst>
              <a:ext uri="{FF2B5EF4-FFF2-40B4-BE49-F238E27FC236}">
                <a16:creationId xmlns:a16="http://schemas.microsoft.com/office/drawing/2014/main" id="{37137B35-FBF8-BA67-2C05-630E904A8CB7}"/>
              </a:ext>
            </a:extLst>
          </p:cNvPr>
          <p:cNvSpPr txBox="1"/>
          <p:nvPr/>
        </p:nvSpPr>
        <p:spPr>
          <a:xfrm>
            <a:off x="321036" y="3930276"/>
            <a:ext cx="1897697" cy="1213281"/>
          </a:xfrm>
          <a:prstGeom prst="rect">
            <a:avLst/>
          </a:prstGeom>
          <a:ln w="12700">
            <a:noFill/>
          </a:ln>
        </p:spPr>
        <p:txBody>
          <a:bodyPr vert="horz" wrap="square" lIns="0" tIns="0" rIns="0" bIns="0" rtlCol="0">
            <a:spAutoFit/>
          </a:bodyPr>
          <a:lstStyle/>
          <a:p>
            <a:pPr>
              <a:spcBef>
                <a:spcPts val="20"/>
              </a:spcBef>
            </a:pPr>
            <a:endParaRPr sz="1067" dirty="0">
              <a:latin typeface="Trebuchet MS" panose="020B0603020202020204" pitchFamily="34" charset="0"/>
              <a:cs typeface="Trebuchet MS"/>
            </a:endParaRPr>
          </a:p>
          <a:p>
            <a:pPr>
              <a:lnSpc>
                <a:spcPts val="2250"/>
              </a:lnSpc>
            </a:pPr>
            <a:r>
              <a:rPr lang="en-US" sz="1100" dirty="0">
                <a:solidFill>
                  <a:srgbClr val="EBECEF"/>
                </a:solidFill>
                <a:latin typeface="Epilogue" pitchFamily="34" charset="0"/>
                <a:ea typeface="Epilogue" pitchFamily="34" charset="-122"/>
                <a:cs typeface="Epilogue" pitchFamily="34" charset="-120"/>
              </a:rPr>
              <a:t>Monitor and analyze security events in real-time, enabling rapid identification of threats.</a:t>
            </a:r>
            <a:endParaRPr lang="en-US" sz="1100" dirty="0"/>
          </a:p>
          <a:p>
            <a:pPr marL="228611" indent="-228611">
              <a:buFont typeface="Wingdings" panose="05000000000000000000" pitchFamily="2" charset="2"/>
              <a:buChar char="§"/>
              <a:tabLst>
                <a:tab pos="198553" algn="l"/>
                <a:tab pos="198977" algn="l"/>
              </a:tabLst>
            </a:pPr>
            <a:endParaRPr sz="1067" dirty="0">
              <a:solidFill>
                <a:schemeClr val="bg1"/>
              </a:solidFill>
              <a:latin typeface="Lucida Sans" panose="020B0602030504020204" pitchFamily="34" charset="0"/>
            </a:endParaRPr>
          </a:p>
        </p:txBody>
      </p:sp>
      <p:sp>
        <p:nvSpPr>
          <p:cNvPr id="67" name="object 24">
            <a:extLst>
              <a:ext uri="{FF2B5EF4-FFF2-40B4-BE49-F238E27FC236}">
                <a16:creationId xmlns:a16="http://schemas.microsoft.com/office/drawing/2014/main" id="{3A30082C-216B-0D6E-B9DB-849C62801CEB}"/>
              </a:ext>
            </a:extLst>
          </p:cNvPr>
          <p:cNvSpPr txBox="1"/>
          <p:nvPr/>
        </p:nvSpPr>
        <p:spPr>
          <a:xfrm>
            <a:off x="2875086" y="4025757"/>
            <a:ext cx="2002813" cy="1350520"/>
          </a:xfrm>
          <a:prstGeom prst="rect">
            <a:avLst/>
          </a:prstGeom>
        </p:spPr>
        <p:txBody>
          <a:bodyPr vert="horz" wrap="square" lIns="0" tIns="8467" rIns="0" bIns="0" rtlCol="0">
            <a:spAutoFit/>
          </a:bodyPr>
          <a:lstStyle/>
          <a:p>
            <a:pPr>
              <a:lnSpc>
                <a:spcPts val="2250"/>
              </a:lnSpc>
            </a:pPr>
            <a:r>
              <a:rPr lang="en-US" sz="1100" dirty="0">
                <a:solidFill>
                  <a:srgbClr val="EBECEF"/>
                </a:solidFill>
                <a:latin typeface="Epilogue" pitchFamily="34" charset="0"/>
                <a:ea typeface="Epilogue" pitchFamily="34" charset="-122"/>
                <a:cs typeface="Epilogue" pitchFamily="34" charset="-120"/>
              </a:rPr>
              <a:t>Utilize machine learning algorithms to detect unusual patterns and identify potential threats.</a:t>
            </a:r>
            <a:endParaRPr lang="en-US" sz="1100" dirty="0"/>
          </a:p>
          <a:p>
            <a:pPr marL="228611" indent="-228611">
              <a:lnSpc>
                <a:spcPct val="107000"/>
              </a:lnSpc>
              <a:buFont typeface="Wingdings" panose="05000000000000000000" pitchFamily="2" charset="2"/>
              <a:buChar char="§"/>
              <a:tabLst>
                <a:tab pos="198553" algn="l"/>
                <a:tab pos="198977" algn="l"/>
              </a:tabLst>
            </a:pPr>
            <a:endParaRPr sz="1067" dirty="0">
              <a:solidFill>
                <a:schemeClr val="bg1"/>
              </a:solidFill>
              <a:latin typeface="Lucida Sans" panose="020B0602030504020204" pitchFamily="34" charset="0"/>
            </a:endParaRPr>
          </a:p>
        </p:txBody>
      </p:sp>
      <p:sp>
        <p:nvSpPr>
          <p:cNvPr id="3" name="TextBox 2">
            <a:extLst>
              <a:ext uri="{FF2B5EF4-FFF2-40B4-BE49-F238E27FC236}">
                <a16:creationId xmlns:a16="http://schemas.microsoft.com/office/drawing/2014/main" id="{B96A17CE-5F8E-E5DE-3AF1-07A0B45C69FD}"/>
              </a:ext>
            </a:extLst>
          </p:cNvPr>
          <p:cNvSpPr txBox="1"/>
          <p:nvPr/>
        </p:nvSpPr>
        <p:spPr>
          <a:xfrm>
            <a:off x="946309" y="363719"/>
            <a:ext cx="8792938" cy="707886"/>
          </a:xfrm>
          <a:prstGeom prst="rect">
            <a:avLst/>
          </a:prstGeom>
          <a:noFill/>
        </p:spPr>
        <p:txBody>
          <a:bodyPr wrap="square">
            <a:spAutoFit/>
          </a:bodyPr>
          <a:lstStyle/>
          <a:p>
            <a:pPr defTabSz="821097" eaLnBrk="0" fontAlgn="base" hangingPunct="0">
              <a:spcAft>
                <a:spcPct val="0"/>
              </a:spcAft>
              <a:buClr>
                <a:prstClr val="black"/>
              </a:buClr>
              <a:buSzPts val="1100"/>
              <a:defRPr/>
            </a:pPr>
            <a:r>
              <a:rPr lang="en-IN" sz="3200" b="1" dirty="0">
                <a:solidFill>
                  <a:srgbClr val="00953A"/>
                </a:solidFill>
                <a:latin typeface="Roboto Condensed"/>
                <a:ea typeface="Roboto Condensed"/>
                <a:cs typeface="Roboto Condensed"/>
              </a:rPr>
              <a:t>KEY FEATURES </a:t>
            </a:r>
            <a:r>
              <a:rPr lang="en-IN" sz="4000" b="1" dirty="0">
                <a:solidFill>
                  <a:srgbClr val="026A38"/>
                </a:solidFill>
                <a:latin typeface="Roboto Condensed"/>
                <a:ea typeface="Roboto Condensed"/>
                <a:cs typeface="Roboto Condensed"/>
              </a:rPr>
              <a:t>Azure Sentinel</a:t>
            </a:r>
          </a:p>
        </p:txBody>
      </p:sp>
      <p:pic>
        <p:nvPicPr>
          <p:cNvPr id="86" name="Picture 85">
            <a:extLst>
              <a:ext uri="{FF2B5EF4-FFF2-40B4-BE49-F238E27FC236}">
                <a16:creationId xmlns:a16="http://schemas.microsoft.com/office/drawing/2014/main" id="{AB046340-7AE6-CBE5-DA33-36D5CD0EB8EB}"/>
              </a:ext>
            </a:extLst>
          </p:cNvPr>
          <p:cNvPicPr/>
          <p:nvPr/>
        </p:nvPicPr>
        <p:blipFill>
          <a:blip r:embed="rId3"/>
          <a:stretch>
            <a:fillRect/>
          </a:stretch>
        </p:blipFill>
        <p:spPr>
          <a:xfrm>
            <a:off x="11170" y="1"/>
            <a:ext cx="501920" cy="829001"/>
          </a:xfrm>
          <a:prstGeom prst="rect">
            <a:avLst/>
          </a:prstGeom>
        </p:spPr>
      </p:pic>
      <p:sp>
        <p:nvSpPr>
          <p:cNvPr id="127" name="object 24">
            <a:extLst>
              <a:ext uri="{FF2B5EF4-FFF2-40B4-BE49-F238E27FC236}">
                <a16:creationId xmlns:a16="http://schemas.microsoft.com/office/drawing/2014/main" id="{B5762CEB-32C7-99D6-2F22-FD2E4C651F02}"/>
              </a:ext>
            </a:extLst>
          </p:cNvPr>
          <p:cNvSpPr txBox="1"/>
          <p:nvPr/>
        </p:nvSpPr>
        <p:spPr>
          <a:xfrm>
            <a:off x="5268324" y="4135732"/>
            <a:ext cx="2180715" cy="1055568"/>
          </a:xfrm>
          <a:prstGeom prst="rect">
            <a:avLst/>
          </a:prstGeom>
        </p:spPr>
        <p:txBody>
          <a:bodyPr vert="horz" wrap="square" lIns="0" tIns="8467" rIns="0" bIns="0" rtlCol="0">
            <a:spAutoFit/>
          </a:bodyPr>
          <a:lstStyle/>
          <a:p>
            <a:pPr>
              <a:lnSpc>
                <a:spcPts val="2250"/>
              </a:lnSpc>
            </a:pPr>
            <a:r>
              <a:rPr lang="en-US" sz="1100" dirty="0">
                <a:solidFill>
                  <a:srgbClr val="EBECEF"/>
                </a:solidFill>
                <a:latin typeface="Epilogue" pitchFamily="34" charset="0"/>
                <a:ea typeface="Epilogue" pitchFamily="34" charset="-122"/>
                <a:cs typeface="Epilogue" pitchFamily="34" charset="-120"/>
              </a:rPr>
              <a:t>Leverage threat intelligence feeds to enrich security data and enhance detection capabilities.</a:t>
            </a:r>
            <a:endParaRPr lang="en-US" sz="1100" dirty="0"/>
          </a:p>
          <a:p>
            <a:pPr marL="228611" indent="-228611">
              <a:lnSpc>
                <a:spcPct val="107000"/>
              </a:lnSpc>
              <a:buFont typeface="Symbol" panose="05050102010706020507" pitchFamily="18" charset="2"/>
              <a:buChar char=""/>
              <a:tabLst>
                <a:tab pos="198553" algn="l"/>
                <a:tab pos="198977" algn="l"/>
              </a:tabLst>
            </a:pPr>
            <a:endParaRPr sz="1067" dirty="0">
              <a:latin typeface="Lucida Sans" panose="020B0602030504020204" pitchFamily="34" charset="0"/>
            </a:endParaRPr>
          </a:p>
        </p:txBody>
      </p:sp>
      <p:grpSp>
        <p:nvGrpSpPr>
          <p:cNvPr id="129" name="Group 128">
            <a:extLst>
              <a:ext uri="{FF2B5EF4-FFF2-40B4-BE49-F238E27FC236}">
                <a16:creationId xmlns:a16="http://schemas.microsoft.com/office/drawing/2014/main" id="{7576D325-EC53-3A11-5F36-DCB58D12817F}"/>
              </a:ext>
            </a:extLst>
          </p:cNvPr>
          <p:cNvGrpSpPr/>
          <p:nvPr/>
        </p:nvGrpSpPr>
        <p:grpSpPr>
          <a:xfrm>
            <a:off x="6180132" y="897085"/>
            <a:ext cx="11096739" cy="4903623"/>
            <a:chOff x="81544" y="1348532"/>
            <a:chExt cx="5915872" cy="5185973"/>
          </a:xfrm>
        </p:grpSpPr>
        <p:grpSp>
          <p:nvGrpSpPr>
            <p:cNvPr id="130" name="Group 129">
              <a:extLst>
                <a:ext uri="{FF2B5EF4-FFF2-40B4-BE49-F238E27FC236}">
                  <a16:creationId xmlns:a16="http://schemas.microsoft.com/office/drawing/2014/main" id="{E5495677-DDC6-C6D6-894F-4AAA0DD0872D}"/>
                </a:ext>
              </a:extLst>
            </p:cNvPr>
            <p:cNvGrpSpPr/>
            <p:nvPr/>
          </p:nvGrpSpPr>
          <p:grpSpPr>
            <a:xfrm>
              <a:off x="1152251" y="1348532"/>
              <a:ext cx="4845163" cy="1712565"/>
              <a:chOff x="1588597" y="531813"/>
              <a:chExt cx="5416550" cy="1914526"/>
            </a:xfrm>
          </p:grpSpPr>
          <p:sp>
            <p:nvSpPr>
              <p:cNvPr id="153" name="Rectangle 6">
                <a:extLst>
                  <a:ext uri="{FF2B5EF4-FFF2-40B4-BE49-F238E27FC236}">
                    <a16:creationId xmlns:a16="http://schemas.microsoft.com/office/drawing/2014/main" id="{92D100DC-BB9A-D38D-85BC-B28C15FC08F0}"/>
                  </a:ext>
                </a:extLst>
              </p:cNvPr>
              <p:cNvSpPr>
                <a:spLocks noChangeArrowheads="1"/>
              </p:cNvSpPr>
              <p:nvPr/>
            </p:nvSpPr>
            <p:spPr bwMode="auto">
              <a:xfrm>
                <a:off x="1588597" y="1155701"/>
                <a:ext cx="5416550" cy="12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4" name="Freeform 15">
                <a:extLst>
                  <a:ext uri="{FF2B5EF4-FFF2-40B4-BE49-F238E27FC236}">
                    <a16:creationId xmlns:a16="http://schemas.microsoft.com/office/drawing/2014/main" id="{262F81DE-0A16-C4EE-DFE1-E21A033FD2B1}"/>
                  </a:ext>
                </a:extLst>
              </p:cNvPr>
              <p:cNvSpPr>
                <a:spLocks/>
              </p:cNvSpPr>
              <p:nvPr/>
            </p:nvSpPr>
            <p:spPr bwMode="auto">
              <a:xfrm>
                <a:off x="1588597" y="531813"/>
                <a:ext cx="2259165" cy="1908175"/>
              </a:xfrm>
              <a:custGeom>
                <a:avLst/>
                <a:gdLst>
                  <a:gd name="T0" fmla="*/ 0 w 1124"/>
                  <a:gd name="T1" fmla="*/ 393 h 1202"/>
                  <a:gd name="T2" fmla="*/ 876 w 1124"/>
                  <a:gd name="T3" fmla="*/ 0 h 1202"/>
                  <a:gd name="T4" fmla="*/ 1124 w 1124"/>
                  <a:gd name="T5" fmla="*/ 282 h 1202"/>
                  <a:gd name="T6" fmla="*/ 933 w 1124"/>
                  <a:gd name="T7" fmla="*/ 801 h 1202"/>
                  <a:gd name="T8" fmla="*/ 0 w 1124"/>
                  <a:gd name="T9" fmla="*/ 1202 h 1202"/>
                  <a:gd name="T10" fmla="*/ 0 w 1124"/>
                  <a:gd name="T11" fmla="*/ 393 h 1202"/>
                </a:gdLst>
                <a:ahLst/>
                <a:cxnLst>
                  <a:cxn ang="0">
                    <a:pos x="T0" y="T1"/>
                  </a:cxn>
                  <a:cxn ang="0">
                    <a:pos x="T2" y="T3"/>
                  </a:cxn>
                  <a:cxn ang="0">
                    <a:pos x="T4" y="T5"/>
                  </a:cxn>
                  <a:cxn ang="0">
                    <a:pos x="T6" y="T7"/>
                  </a:cxn>
                  <a:cxn ang="0">
                    <a:pos x="T8" y="T9"/>
                  </a:cxn>
                  <a:cxn ang="0">
                    <a:pos x="T10" y="T11"/>
                  </a:cxn>
                </a:cxnLst>
                <a:rect l="0" t="0" r="r" b="b"/>
                <a:pathLst>
                  <a:path w="1124" h="1202">
                    <a:moveTo>
                      <a:pt x="0" y="393"/>
                    </a:moveTo>
                    <a:lnTo>
                      <a:pt x="876" y="0"/>
                    </a:lnTo>
                    <a:lnTo>
                      <a:pt x="1124" y="282"/>
                    </a:lnTo>
                    <a:lnTo>
                      <a:pt x="933" y="801"/>
                    </a:lnTo>
                    <a:lnTo>
                      <a:pt x="0" y="1202"/>
                    </a:lnTo>
                    <a:lnTo>
                      <a:pt x="0" y="393"/>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5" name="Freeform 16">
                <a:extLst>
                  <a:ext uri="{FF2B5EF4-FFF2-40B4-BE49-F238E27FC236}">
                    <a16:creationId xmlns:a16="http://schemas.microsoft.com/office/drawing/2014/main" id="{C0B38576-DFC7-0E98-8F98-8685071B51BA}"/>
                  </a:ext>
                </a:extLst>
              </p:cNvPr>
              <p:cNvSpPr>
                <a:spLocks/>
              </p:cNvSpPr>
              <p:nvPr/>
            </p:nvSpPr>
            <p:spPr bwMode="auto">
              <a:xfrm>
                <a:off x="1588597" y="531813"/>
                <a:ext cx="1784350" cy="1908175"/>
              </a:xfrm>
              <a:custGeom>
                <a:avLst/>
                <a:gdLst>
                  <a:gd name="T0" fmla="*/ 0 w 1124"/>
                  <a:gd name="T1" fmla="*/ 393 h 1202"/>
                  <a:gd name="T2" fmla="*/ 876 w 1124"/>
                  <a:gd name="T3" fmla="*/ 0 h 1202"/>
                  <a:gd name="T4" fmla="*/ 1124 w 1124"/>
                  <a:gd name="T5" fmla="*/ 282 h 1202"/>
                  <a:gd name="T6" fmla="*/ 933 w 1124"/>
                  <a:gd name="T7" fmla="*/ 801 h 1202"/>
                  <a:gd name="T8" fmla="*/ 0 w 1124"/>
                  <a:gd name="T9" fmla="*/ 1202 h 1202"/>
                  <a:gd name="T10" fmla="*/ 0 w 1124"/>
                  <a:gd name="T11" fmla="*/ 393 h 1202"/>
                </a:gdLst>
                <a:ahLst/>
                <a:cxnLst>
                  <a:cxn ang="0">
                    <a:pos x="T0" y="T1"/>
                  </a:cxn>
                  <a:cxn ang="0">
                    <a:pos x="T2" y="T3"/>
                  </a:cxn>
                  <a:cxn ang="0">
                    <a:pos x="T4" y="T5"/>
                  </a:cxn>
                  <a:cxn ang="0">
                    <a:pos x="T6" y="T7"/>
                  </a:cxn>
                  <a:cxn ang="0">
                    <a:pos x="T8" y="T9"/>
                  </a:cxn>
                  <a:cxn ang="0">
                    <a:pos x="T10" y="T11"/>
                  </a:cxn>
                </a:cxnLst>
                <a:rect l="0" t="0" r="r" b="b"/>
                <a:pathLst>
                  <a:path w="1124" h="1202">
                    <a:moveTo>
                      <a:pt x="0" y="393"/>
                    </a:moveTo>
                    <a:lnTo>
                      <a:pt x="876" y="0"/>
                    </a:lnTo>
                    <a:lnTo>
                      <a:pt x="1124" y="282"/>
                    </a:lnTo>
                    <a:lnTo>
                      <a:pt x="933" y="801"/>
                    </a:lnTo>
                    <a:lnTo>
                      <a:pt x="0" y="1202"/>
                    </a:lnTo>
                    <a:lnTo>
                      <a:pt x="0" y="39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6" name="Freeform 21">
                <a:extLst>
                  <a:ext uri="{FF2B5EF4-FFF2-40B4-BE49-F238E27FC236}">
                    <a16:creationId xmlns:a16="http://schemas.microsoft.com/office/drawing/2014/main" id="{B869B430-5736-A22D-B917-8DC0D86E8935}"/>
                  </a:ext>
                </a:extLst>
              </p:cNvPr>
              <p:cNvSpPr>
                <a:spLocks/>
              </p:cNvSpPr>
              <p:nvPr/>
            </p:nvSpPr>
            <p:spPr bwMode="auto">
              <a:xfrm>
                <a:off x="3110140" y="634482"/>
                <a:ext cx="393700" cy="1271588"/>
              </a:xfrm>
              <a:custGeom>
                <a:avLst/>
                <a:gdLst>
                  <a:gd name="T0" fmla="*/ 0 w 248"/>
                  <a:gd name="T1" fmla="*/ 0 h 801"/>
                  <a:gd name="T2" fmla="*/ 205 w 248"/>
                  <a:gd name="T3" fmla="*/ 288 h 801"/>
                  <a:gd name="T4" fmla="*/ 57 w 248"/>
                  <a:gd name="T5" fmla="*/ 801 h 801"/>
                  <a:gd name="T6" fmla="*/ 248 w 248"/>
                  <a:gd name="T7" fmla="*/ 282 h 801"/>
                  <a:gd name="T8" fmla="*/ 0 w 248"/>
                  <a:gd name="T9" fmla="*/ 0 h 801"/>
                </a:gdLst>
                <a:ahLst/>
                <a:cxnLst>
                  <a:cxn ang="0">
                    <a:pos x="T0" y="T1"/>
                  </a:cxn>
                  <a:cxn ang="0">
                    <a:pos x="T2" y="T3"/>
                  </a:cxn>
                  <a:cxn ang="0">
                    <a:pos x="T4" y="T5"/>
                  </a:cxn>
                  <a:cxn ang="0">
                    <a:pos x="T6" y="T7"/>
                  </a:cxn>
                  <a:cxn ang="0">
                    <a:pos x="T8" y="T9"/>
                  </a:cxn>
                </a:cxnLst>
                <a:rect l="0" t="0" r="r" b="b"/>
                <a:pathLst>
                  <a:path w="248" h="801">
                    <a:moveTo>
                      <a:pt x="0" y="0"/>
                    </a:moveTo>
                    <a:lnTo>
                      <a:pt x="205" y="288"/>
                    </a:lnTo>
                    <a:lnTo>
                      <a:pt x="57" y="801"/>
                    </a:lnTo>
                    <a:lnTo>
                      <a:pt x="248" y="282"/>
                    </a:lnTo>
                    <a:lnTo>
                      <a:pt x="0" y="0"/>
                    </a:ln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7" name="Freeform 22">
                <a:extLst>
                  <a:ext uri="{FF2B5EF4-FFF2-40B4-BE49-F238E27FC236}">
                    <a16:creationId xmlns:a16="http://schemas.microsoft.com/office/drawing/2014/main" id="{886F366F-AF46-D586-5D50-3B93B0C9C772}"/>
                  </a:ext>
                </a:extLst>
              </p:cNvPr>
              <p:cNvSpPr>
                <a:spLocks/>
              </p:cNvSpPr>
              <p:nvPr/>
            </p:nvSpPr>
            <p:spPr bwMode="auto">
              <a:xfrm>
                <a:off x="2979247" y="531813"/>
                <a:ext cx="393700" cy="1271588"/>
              </a:xfrm>
              <a:custGeom>
                <a:avLst/>
                <a:gdLst>
                  <a:gd name="T0" fmla="*/ 0 w 248"/>
                  <a:gd name="T1" fmla="*/ 0 h 801"/>
                  <a:gd name="T2" fmla="*/ 205 w 248"/>
                  <a:gd name="T3" fmla="*/ 288 h 801"/>
                  <a:gd name="T4" fmla="*/ 57 w 248"/>
                  <a:gd name="T5" fmla="*/ 801 h 801"/>
                  <a:gd name="T6" fmla="*/ 248 w 248"/>
                  <a:gd name="T7" fmla="*/ 282 h 801"/>
                  <a:gd name="T8" fmla="*/ 0 w 248"/>
                  <a:gd name="T9" fmla="*/ 0 h 801"/>
                </a:gdLst>
                <a:ahLst/>
                <a:cxnLst>
                  <a:cxn ang="0">
                    <a:pos x="T0" y="T1"/>
                  </a:cxn>
                  <a:cxn ang="0">
                    <a:pos x="T2" y="T3"/>
                  </a:cxn>
                  <a:cxn ang="0">
                    <a:pos x="T4" y="T5"/>
                  </a:cxn>
                  <a:cxn ang="0">
                    <a:pos x="T6" y="T7"/>
                  </a:cxn>
                  <a:cxn ang="0">
                    <a:pos x="T8" y="T9"/>
                  </a:cxn>
                </a:cxnLst>
                <a:rect l="0" t="0" r="r" b="b"/>
                <a:pathLst>
                  <a:path w="248" h="801">
                    <a:moveTo>
                      <a:pt x="0" y="0"/>
                    </a:moveTo>
                    <a:lnTo>
                      <a:pt x="205" y="288"/>
                    </a:lnTo>
                    <a:lnTo>
                      <a:pt x="57" y="801"/>
                    </a:lnTo>
                    <a:lnTo>
                      <a:pt x="248" y="28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8" name="Freeform 23">
                <a:extLst>
                  <a:ext uri="{FF2B5EF4-FFF2-40B4-BE49-F238E27FC236}">
                    <a16:creationId xmlns:a16="http://schemas.microsoft.com/office/drawing/2014/main" id="{131F8272-457B-05E0-7C90-C0B20B69D9E3}"/>
                  </a:ext>
                </a:extLst>
              </p:cNvPr>
              <p:cNvSpPr>
                <a:spLocks/>
              </p:cNvSpPr>
              <p:nvPr/>
            </p:nvSpPr>
            <p:spPr bwMode="auto">
              <a:xfrm>
                <a:off x="2118822" y="2212976"/>
                <a:ext cx="53975" cy="58738"/>
              </a:xfrm>
              <a:custGeom>
                <a:avLst/>
                <a:gdLst>
                  <a:gd name="T0" fmla="*/ 2 w 34"/>
                  <a:gd name="T1" fmla="*/ 0 h 37"/>
                  <a:gd name="T2" fmla="*/ 0 w 34"/>
                  <a:gd name="T3" fmla="*/ 0 h 37"/>
                  <a:gd name="T4" fmla="*/ 34 w 34"/>
                  <a:gd name="T5" fmla="*/ 37 h 37"/>
                  <a:gd name="T6" fmla="*/ 34 w 34"/>
                  <a:gd name="T7" fmla="*/ 35 h 37"/>
                  <a:gd name="T8" fmla="*/ 2 w 34"/>
                  <a:gd name="T9" fmla="*/ 0 h 37"/>
                </a:gdLst>
                <a:ahLst/>
                <a:cxnLst>
                  <a:cxn ang="0">
                    <a:pos x="T0" y="T1"/>
                  </a:cxn>
                  <a:cxn ang="0">
                    <a:pos x="T2" y="T3"/>
                  </a:cxn>
                  <a:cxn ang="0">
                    <a:pos x="T4" y="T5"/>
                  </a:cxn>
                  <a:cxn ang="0">
                    <a:pos x="T6" y="T7"/>
                  </a:cxn>
                  <a:cxn ang="0">
                    <a:pos x="T8" y="T9"/>
                  </a:cxn>
                </a:cxnLst>
                <a:rect l="0" t="0" r="r" b="b"/>
                <a:pathLst>
                  <a:path w="34" h="37">
                    <a:moveTo>
                      <a:pt x="2" y="0"/>
                    </a:moveTo>
                    <a:lnTo>
                      <a:pt x="0" y="0"/>
                    </a:lnTo>
                    <a:lnTo>
                      <a:pt x="34" y="37"/>
                    </a:lnTo>
                    <a:lnTo>
                      <a:pt x="34" y="35"/>
                    </a:lnTo>
                    <a:lnTo>
                      <a:pt x="2" y="0"/>
                    </a:lnTo>
                    <a:close/>
                  </a:path>
                </a:pathLst>
              </a:custGeom>
              <a:solidFill>
                <a:srgbClr val="FF86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9" name="Freeform 24">
                <a:extLst>
                  <a:ext uri="{FF2B5EF4-FFF2-40B4-BE49-F238E27FC236}">
                    <a16:creationId xmlns:a16="http://schemas.microsoft.com/office/drawing/2014/main" id="{371185A6-E2D5-981C-C447-EA1936E99D17}"/>
                  </a:ext>
                </a:extLst>
              </p:cNvPr>
              <p:cNvSpPr>
                <a:spLocks/>
              </p:cNvSpPr>
              <p:nvPr/>
            </p:nvSpPr>
            <p:spPr bwMode="auto">
              <a:xfrm>
                <a:off x="2118822" y="2212976"/>
                <a:ext cx="53975" cy="58738"/>
              </a:xfrm>
              <a:custGeom>
                <a:avLst/>
                <a:gdLst>
                  <a:gd name="T0" fmla="*/ 2 w 34"/>
                  <a:gd name="T1" fmla="*/ 0 h 37"/>
                  <a:gd name="T2" fmla="*/ 0 w 34"/>
                  <a:gd name="T3" fmla="*/ 0 h 37"/>
                  <a:gd name="T4" fmla="*/ 34 w 34"/>
                  <a:gd name="T5" fmla="*/ 37 h 37"/>
                  <a:gd name="T6" fmla="*/ 34 w 34"/>
                  <a:gd name="T7" fmla="*/ 35 h 37"/>
                  <a:gd name="T8" fmla="*/ 2 w 34"/>
                  <a:gd name="T9" fmla="*/ 0 h 37"/>
                </a:gdLst>
                <a:ahLst/>
                <a:cxnLst>
                  <a:cxn ang="0">
                    <a:pos x="T0" y="T1"/>
                  </a:cxn>
                  <a:cxn ang="0">
                    <a:pos x="T2" y="T3"/>
                  </a:cxn>
                  <a:cxn ang="0">
                    <a:pos x="T4" y="T5"/>
                  </a:cxn>
                  <a:cxn ang="0">
                    <a:pos x="T6" y="T7"/>
                  </a:cxn>
                  <a:cxn ang="0">
                    <a:pos x="T8" y="T9"/>
                  </a:cxn>
                </a:cxnLst>
                <a:rect l="0" t="0" r="r" b="b"/>
                <a:pathLst>
                  <a:path w="34" h="37">
                    <a:moveTo>
                      <a:pt x="2" y="0"/>
                    </a:moveTo>
                    <a:lnTo>
                      <a:pt x="0" y="0"/>
                    </a:lnTo>
                    <a:lnTo>
                      <a:pt x="34" y="37"/>
                    </a:lnTo>
                    <a:lnTo>
                      <a:pt x="34" y="35"/>
                    </a:lnTo>
                    <a:lnTo>
                      <a:pt x="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60" name="Freeform 25">
                <a:extLst>
                  <a:ext uri="{FF2B5EF4-FFF2-40B4-BE49-F238E27FC236}">
                    <a16:creationId xmlns:a16="http://schemas.microsoft.com/office/drawing/2014/main" id="{9B744EAD-48FD-867E-15BB-436A2B8E2FA0}"/>
                  </a:ext>
                </a:extLst>
              </p:cNvPr>
              <p:cNvSpPr>
                <a:spLocks/>
              </p:cNvSpPr>
              <p:nvPr/>
            </p:nvSpPr>
            <p:spPr bwMode="auto">
              <a:xfrm>
                <a:off x="1779097" y="1820863"/>
                <a:ext cx="342900" cy="392113"/>
              </a:xfrm>
              <a:custGeom>
                <a:avLst/>
                <a:gdLst>
                  <a:gd name="T0" fmla="*/ 0 w 216"/>
                  <a:gd name="T1" fmla="*/ 0 h 247"/>
                  <a:gd name="T2" fmla="*/ 9 w 216"/>
                  <a:gd name="T3" fmla="*/ 12 h 247"/>
                  <a:gd name="T4" fmla="*/ 214 w 216"/>
                  <a:gd name="T5" fmla="*/ 247 h 247"/>
                  <a:gd name="T6" fmla="*/ 216 w 216"/>
                  <a:gd name="T7" fmla="*/ 247 h 247"/>
                  <a:gd name="T8" fmla="*/ 0 w 216"/>
                  <a:gd name="T9" fmla="*/ 0 h 247"/>
                </a:gdLst>
                <a:ahLst/>
                <a:cxnLst>
                  <a:cxn ang="0">
                    <a:pos x="T0" y="T1"/>
                  </a:cxn>
                  <a:cxn ang="0">
                    <a:pos x="T2" y="T3"/>
                  </a:cxn>
                  <a:cxn ang="0">
                    <a:pos x="T4" y="T5"/>
                  </a:cxn>
                  <a:cxn ang="0">
                    <a:pos x="T6" y="T7"/>
                  </a:cxn>
                  <a:cxn ang="0">
                    <a:pos x="T8" y="T9"/>
                  </a:cxn>
                </a:cxnLst>
                <a:rect l="0" t="0" r="r" b="b"/>
                <a:pathLst>
                  <a:path w="216" h="247">
                    <a:moveTo>
                      <a:pt x="0" y="0"/>
                    </a:moveTo>
                    <a:lnTo>
                      <a:pt x="9" y="12"/>
                    </a:lnTo>
                    <a:lnTo>
                      <a:pt x="214" y="247"/>
                    </a:lnTo>
                    <a:lnTo>
                      <a:pt x="216" y="247"/>
                    </a:lnTo>
                    <a:lnTo>
                      <a:pt x="0" y="0"/>
                    </a:lnTo>
                    <a:close/>
                  </a:path>
                </a:pathLst>
              </a:custGeom>
              <a:solidFill>
                <a:srgbClr val="FFA8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61" name="Freeform 26">
                <a:extLst>
                  <a:ext uri="{FF2B5EF4-FFF2-40B4-BE49-F238E27FC236}">
                    <a16:creationId xmlns:a16="http://schemas.microsoft.com/office/drawing/2014/main" id="{CD305704-0052-12D2-8AEA-3F1CB40C2F6F}"/>
                  </a:ext>
                </a:extLst>
              </p:cNvPr>
              <p:cNvSpPr>
                <a:spLocks/>
              </p:cNvSpPr>
              <p:nvPr/>
            </p:nvSpPr>
            <p:spPr bwMode="auto">
              <a:xfrm>
                <a:off x="1779097" y="1820863"/>
                <a:ext cx="342900" cy="392113"/>
              </a:xfrm>
              <a:custGeom>
                <a:avLst/>
                <a:gdLst>
                  <a:gd name="T0" fmla="*/ 0 w 216"/>
                  <a:gd name="T1" fmla="*/ 0 h 247"/>
                  <a:gd name="T2" fmla="*/ 9 w 216"/>
                  <a:gd name="T3" fmla="*/ 12 h 247"/>
                  <a:gd name="T4" fmla="*/ 214 w 216"/>
                  <a:gd name="T5" fmla="*/ 247 h 247"/>
                  <a:gd name="T6" fmla="*/ 216 w 216"/>
                  <a:gd name="T7" fmla="*/ 247 h 247"/>
                  <a:gd name="T8" fmla="*/ 0 w 216"/>
                  <a:gd name="T9" fmla="*/ 0 h 247"/>
                </a:gdLst>
                <a:ahLst/>
                <a:cxnLst>
                  <a:cxn ang="0">
                    <a:pos x="T0" y="T1"/>
                  </a:cxn>
                  <a:cxn ang="0">
                    <a:pos x="T2" y="T3"/>
                  </a:cxn>
                  <a:cxn ang="0">
                    <a:pos x="T4" y="T5"/>
                  </a:cxn>
                  <a:cxn ang="0">
                    <a:pos x="T6" y="T7"/>
                  </a:cxn>
                  <a:cxn ang="0">
                    <a:pos x="T8" y="T9"/>
                  </a:cxn>
                </a:cxnLst>
                <a:rect l="0" t="0" r="r" b="b"/>
                <a:pathLst>
                  <a:path w="216" h="247">
                    <a:moveTo>
                      <a:pt x="0" y="0"/>
                    </a:moveTo>
                    <a:lnTo>
                      <a:pt x="9" y="12"/>
                    </a:lnTo>
                    <a:lnTo>
                      <a:pt x="214" y="247"/>
                    </a:lnTo>
                    <a:lnTo>
                      <a:pt x="216" y="24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grpSp>
        <p:grpSp>
          <p:nvGrpSpPr>
            <p:cNvPr id="131" name="Group 130">
              <a:extLst>
                <a:ext uri="{FF2B5EF4-FFF2-40B4-BE49-F238E27FC236}">
                  <a16:creationId xmlns:a16="http://schemas.microsoft.com/office/drawing/2014/main" id="{D3EA346A-76A9-EC81-47D3-921CF93DE2FE}"/>
                </a:ext>
              </a:extLst>
            </p:cNvPr>
            <p:cNvGrpSpPr/>
            <p:nvPr/>
          </p:nvGrpSpPr>
          <p:grpSpPr>
            <a:xfrm>
              <a:off x="81544" y="2505862"/>
              <a:ext cx="5915870" cy="1712564"/>
              <a:chOff x="391622" y="1825626"/>
              <a:chExt cx="6613525" cy="1914525"/>
            </a:xfrm>
          </p:grpSpPr>
          <p:sp>
            <p:nvSpPr>
              <p:cNvPr id="145" name="Rectangle 12">
                <a:extLst>
                  <a:ext uri="{FF2B5EF4-FFF2-40B4-BE49-F238E27FC236}">
                    <a16:creationId xmlns:a16="http://schemas.microsoft.com/office/drawing/2014/main" id="{AC60BB25-808C-3E53-B9A3-2D63D145FD13}"/>
                  </a:ext>
                </a:extLst>
              </p:cNvPr>
              <p:cNvSpPr>
                <a:spLocks noChangeArrowheads="1"/>
              </p:cNvSpPr>
              <p:nvPr/>
            </p:nvSpPr>
            <p:spPr bwMode="auto">
              <a:xfrm>
                <a:off x="391622" y="2446338"/>
                <a:ext cx="6613525"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47" name="Freeform 20">
                <a:extLst>
                  <a:ext uri="{FF2B5EF4-FFF2-40B4-BE49-F238E27FC236}">
                    <a16:creationId xmlns:a16="http://schemas.microsoft.com/office/drawing/2014/main" id="{F422E696-F920-0409-088E-9B596032DCB8}"/>
                  </a:ext>
                </a:extLst>
              </p:cNvPr>
              <p:cNvSpPr>
                <a:spLocks/>
              </p:cNvSpPr>
              <p:nvPr/>
            </p:nvSpPr>
            <p:spPr bwMode="auto">
              <a:xfrm>
                <a:off x="391622" y="1825626"/>
                <a:ext cx="1781175" cy="1906588"/>
              </a:xfrm>
              <a:custGeom>
                <a:avLst/>
                <a:gdLst>
                  <a:gd name="T0" fmla="*/ 0 w 1122"/>
                  <a:gd name="T1" fmla="*/ 393 h 1201"/>
                  <a:gd name="T2" fmla="*/ 874 w 1122"/>
                  <a:gd name="T3" fmla="*/ 0 h 1201"/>
                  <a:gd name="T4" fmla="*/ 1122 w 1122"/>
                  <a:gd name="T5" fmla="*/ 281 h 1201"/>
                  <a:gd name="T6" fmla="*/ 933 w 1122"/>
                  <a:gd name="T7" fmla="*/ 801 h 1201"/>
                  <a:gd name="T8" fmla="*/ 0 w 1122"/>
                  <a:gd name="T9" fmla="*/ 1201 h 1201"/>
                  <a:gd name="T10" fmla="*/ 0 w 1122"/>
                  <a:gd name="T11" fmla="*/ 393 h 1201"/>
                </a:gdLst>
                <a:ahLst/>
                <a:cxnLst>
                  <a:cxn ang="0">
                    <a:pos x="T0" y="T1"/>
                  </a:cxn>
                  <a:cxn ang="0">
                    <a:pos x="T2" y="T3"/>
                  </a:cxn>
                  <a:cxn ang="0">
                    <a:pos x="T4" y="T5"/>
                  </a:cxn>
                  <a:cxn ang="0">
                    <a:pos x="T6" y="T7"/>
                  </a:cxn>
                  <a:cxn ang="0">
                    <a:pos x="T8" y="T9"/>
                  </a:cxn>
                  <a:cxn ang="0">
                    <a:pos x="T10" y="T11"/>
                  </a:cxn>
                </a:cxnLst>
                <a:rect l="0" t="0" r="r" b="b"/>
                <a:pathLst>
                  <a:path w="1122" h="1201">
                    <a:moveTo>
                      <a:pt x="0" y="393"/>
                    </a:moveTo>
                    <a:lnTo>
                      <a:pt x="874" y="0"/>
                    </a:lnTo>
                    <a:lnTo>
                      <a:pt x="1122" y="281"/>
                    </a:lnTo>
                    <a:lnTo>
                      <a:pt x="933" y="801"/>
                    </a:lnTo>
                    <a:lnTo>
                      <a:pt x="0" y="1201"/>
                    </a:lnTo>
                    <a:lnTo>
                      <a:pt x="0" y="39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49" name="Freeform 28">
                <a:extLst>
                  <a:ext uri="{FF2B5EF4-FFF2-40B4-BE49-F238E27FC236}">
                    <a16:creationId xmlns:a16="http://schemas.microsoft.com/office/drawing/2014/main" id="{3DA130A4-545C-FDDB-C2BF-02795BD80395}"/>
                  </a:ext>
                </a:extLst>
              </p:cNvPr>
              <p:cNvSpPr>
                <a:spLocks/>
              </p:cNvSpPr>
              <p:nvPr/>
            </p:nvSpPr>
            <p:spPr bwMode="auto">
              <a:xfrm>
                <a:off x="1793385" y="1839913"/>
                <a:ext cx="379413" cy="1255713"/>
              </a:xfrm>
              <a:custGeom>
                <a:avLst/>
                <a:gdLst>
                  <a:gd name="T0" fmla="*/ 0 w 239"/>
                  <a:gd name="T1" fmla="*/ 0 h 791"/>
                  <a:gd name="T2" fmla="*/ 197 w 239"/>
                  <a:gd name="T3" fmla="*/ 275 h 791"/>
                  <a:gd name="T4" fmla="*/ 50 w 239"/>
                  <a:gd name="T5" fmla="*/ 791 h 791"/>
                  <a:gd name="T6" fmla="*/ 239 w 239"/>
                  <a:gd name="T7" fmla="*/ 272 h 791"/>
                  <a:gd name="T8" fmla="*/ 205 w 239"/>
                  <a:gd name="T9" fmla="*/ 235 h 791"/>
                  <a:gd name="T10" fmla="*/ 0 w 239"/>
                  <a:gd name="T11" fmla="*/ 0 h 791"/>
                </a:gdLst>
                <a:ahLst/>
                <a:cxnLst>
                  <a:cxn ang="0">
                    <a:pos x="T0" y="T1"/>
                  </a:cxn>
                  <a:cxn ang="0">
                    <a:pos x="T2" y="T3"/>
                  </a:cxn>
                  <a:cxn ang="0">
                    <a:pos x="T4" y="T5"/>
                  </a:cxn>
                  <a:cxn ang="0">
                    <a:pos x="T6" y="T7"/>
                  </a:cxn>
                  <a:cxn ang="0">
                    <a:pos x="T8" y="T9"/>
                  </a:cxn>
                  <a:cxn ang="0">
                    <a:pos x="T10" y="T11"/>
                  </a:cxn>
                </a:cxnLst>
                <a:rect l="0" t="0" r="r" b="b"/>
                <a:pathLst>
                  <a:path w="239" h="791">
                    <a:moveTo>
                      <a:pt x="0" y="0"/>
                    </a:moveTo>
                    <a:lnTo>
                      <a:pt x="197" y="275"/>
                    </a:lnTo>
                    <a:lnTo>
                      <a:pt x="50" y="791"/>
                    </a:lnTo>
                    <a:lnTo>
                      <a:pt x="239" y="272"/>
                    </a:lnTo>
                    <a:lnTo>
                      <a:pt x="205" y="235"/>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0" name="Freeform 29">
                <a:extLst>
                  <a:ext uri="{FF2B5EF4-FFF2-40B4-BE49-F238E27FC236}">
                    <a16:creationId xmlns:a16="http://schemas.microsoft.com/office/drawing/2014/main" id="{0EFC874F-88A6-151A-A9E4-BA8DBC1AD5F9}"/>
                  </a:ext>
                </a:extLst>
              </p:cNvPr>
              <p:cNvSpPr>
                <a:spLocks/>
              </p:cNvSpPr>
              <p:nvPr/>
            </p:nvSpPr>
            <p:spPr bwMode="auto">
              <a:xfrm>
                <a:off x="3314210" y="3121026"/>
                <a:ext cx="392113" cy="447675"/>
              </a:xfrm>
              <a:custGeom>
                <a:avLst/>
                <a:gdLst>
                  <a:gd name="T0" fmla="*/ 0 w 247"/>
                  <a:gd name="T1" fmla="*/ 0 h 282"/>
                  <a:gd name="T2" fmla="*/ 3 w 247"/>
                  <a:gd name="T3" fmla="*/ 3 h 282"/>
                  <a:gd name="T4" fmla="*/ 247 w 247"/>
                  <a:gd name="T5" fmla="*/ 282 h 282"/>
                  <a:gd name="T6" fmla="*/ 247 w 247"/>
                  <a:gd name="T7" fmla="*/ 282 h 282"/>
                  <a:gd name="T8" fmla="*/ 0 w 247"/>
                  <a:gd name="T9" fmla="*/ 0 h 282"/>
                </a:gdLst>
                <a:ahLst/>
                <a:cxnLst>
                  <a:cxn ang="0">
                    <a:pos x="T0" y="T1"/>
                  </a:cxn>
                  <a:cxn ang="0">
                    <a:pos x="T2" y="T3"/>
                  </a:cxn>
                  <a:cxn ang="0">
                    <a:pos x="T4" y="T5"/>
                  </a:cxn>
                  <a:cxn ang="0">
                    <a:pos x="T6" y="T7"/>
                  </a:cxn>
                  <a:cxn ang="0">
                    <a:pos x="T8" y="T9"/>
                  </a:cxn>
                </a:cxnLst>
                <a:rect l="0" t="0" r="r" b="b"/>
                <a:pathLst>
                  <a:path w="247" h="282">
                    <a:moveTo>
                      <a:pt x="0" y="0"/>
                    </a:moveTo>
                    <a:lnTo>
                      <a:pt x="3" y="3"/>
                    </a:lnTo>
                    <a:lnTo>
                      <a:pt x="247" y="282"/>
                    </a:lnTo>
                    <a:lnTo>
                      <a:pt x="247" y="282"/>
                    </a:lnTo>
                    <a:lnTo>
                      <a:pt x="0" y="0"/>
                    </a:lnTo>
                    <a:close/>
                  </a:path>
                </a:pathLst>
              </a:custGeom>
              <a:solidFill>
                <a:srgbClr val="7C70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51" name="Freeform 30">
                <a:extLst>
                  <a:ext uri="{FF2B5EF4-FFF2-40B4-BE49-F238E27FC236}">
                    <a16:creationId xmlns:a16="http://schemas.microsoft.com/office/drawing/2014/main" id="{E1810C70-B476-3696-4590-3880751F6AED}"/>
                  </a:ext>
                </a:extLst>
              </p:cNvPr>
              <p:cNvSpPr>
                <a:spLocks/>
              </p:cNvSpPr>
              <p:nvPr/>
            </p:nvSpPr>
            <p:spPr bwMode="auto">
              <a:xfrm>
                <a:off x="3314210" y="3121026"/>
                <a:ext cx="392113" cy="447675"/>
              </a:xfrm>
              <a:custGeom>
                <a:avLst/>
                <a:gdLst>
                  <a:gd name="T0" fmla="*/ 0 w 247"/>
                  <a:gd name="T1" fmla="*/ 0 h 282"/>
                  <a:gd name="T2" fmla="*/ 3 w 247"/>
                  <a:gd name="T3" fmla="*/ 3 h 282"/>
                  <a:gd name="T4" fmla="*/ 247 w 247"/>
                  <a:gd name="T5" fmla="*/ 282 h 282"/>
                  <a:gd name="T6" fmla="*/ 247 w 247"/>
                  <a:gd name="T7" fmla="*/ 282 h 282"/>
                  <a:gd name="T8" fmla="*/ 0 w 247"/>
                  <a:gd name="T9" fmla="*/ 0 h 282"/>
                </a:gdLst>
                <a:ahLst/>
                <a:cxnLst>
                  <a:cxn ang="0">
                    <a:pos x="T0" y="T1"/>
                  </a:cxn>
                  <a:cxn ang="0">
                    <a:pos x="T2" y="T3"/>
                  </a:cxn>
                  <a:cxn ang="0">
                    <a:pos x="T4" y="T5"/>
                  </a:cxn>
                  <a:cxn ang="0">
                    <a:pos x="T6" y="T7"/>
                  </a:cxn>
                  <a:cxn ang="0">
                    <a:pos x="T8" y="T9"/>
                  </a:cxn>
                </a:cxnLst>
                <a:rect l="0" t="0" r="r" b="b"/>
                <a:pathLst>
                  <a:path w="247" h="282">
                    <a:moveTo>
                      <a:pt x="0" y="0"/>
                    </a:moveTo>
                    <a:lnTo>
                      <a:pt x="3" y="3"/>
                    </a:lnTo>
                    <a:lnTo>
                      <a:pt x="247" y="282"/>
                    </a:lnTo>
                    <a:lnTo>
                      <a:pt x="247" y="28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grpSp>
        <p:grpSp>
          <p:nvGrpSpPr>
            <p:cNvPr id="132" name="Group 131">
              <a:extLst>
                <a:ext uri="{FF2B5EF4-FFF2-40B4-BE49-F238E27FC236}">
                  <a16:creationId xmlns:a16="http://schemas.microsoft.com/office/drawing/2014/main" id="{E2856692-382E-5368-3676-1B901D711E32}"/>
                </a:ext>
              </a:extLst>
            </p:cNvPr>
            <p:cNvGrpSpPr/>
            <p:nvPr/>
          </p:nvGrpSpPr>
          <p:grpSpPr>
            <a:xfrm>
              <a:off x="1453299" y="3664610"/>
              <a:ext cx="4544116" cy="1709724"/>
              <a:chOff x="1925147" y="3121026"/>
              <a:chExt cx="5080000" cy="1911350"/>
            </a:xfrm>
          </p:grpSpPr>
          <p:sp>
            <p:nvSpPr>
              <p:cNvPr id="138" name="Rectangle 8">
                <a:extLst>
                  <a:ext uri="{FF2B5EF4-FFF2-40B4-BE49-F238E27FC236}">
                    <a16:creationId xmlns:a16="http://schemas.microsoft.com/office/drawing/2014/main" id="{483C48C0-D24F-9F50-2B9E-147C0111F1EE}"/>
                  </a:ext>
                </a:extLst>
              </p:cNvPr>
              <p:cNvSpPr>
                <a:spLocks noChangeArrowheads="1"/>
              </p:cNvSpPr>
              <p:nvPr/>
            </p:nvSpPr>
            <p:spPr bwMode="auto">
              <a:xfrm>
                <a:off x="1925147" y="3740151"/>
                <a:ext cx="5080000"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40" name="Freeform 18">
                <a:extLst>
                  <a:ext uri="{FF2B5EF4-FFF2-40B4-BE49-F238E27FC236}">
                    <a16:creationId xmlns:a16="http://schemas.microsoft.com/office/drawing/2014/main" id="{62AF41DC-7F69-A773-05DE-62D2EA872F88}"/>
                  </a:ext>
                </a:extLst>
              </p:cNvPr>
              <p:cNvSpPr>
                <a:spLocks/>
              </p:cNvSpPr>
              <p:nvPr/>
            </p:nvSpPr>
            <p:spPr bwMode="auto">
              <a:xfrm>
                <a:off x="1925147" y="3121026"/>
                <a:ext cx="1781175" cy="1908175"/>
              </a:xfrm>
              <a:custGeom>
                <a:avLst/>
                <a:gdLst>
                  <a:gd name="T0" fmla="*/ 0 w 1122"/>
                  <a:gd name="T1" fmla="*/ 394 h 1202"/>
                  <a:gd name="T2" fmla="*/ 875 w 1122"/>
                  <a:gd name="T3" fmla="*/ 0 h 1202"/>
                  <a:gd name="T4" fmla="*/ 1122 w 1122"/>
                  <a:gd name="T5" fmla="*/ 282 h 1202"/>
                  <a:gd name="T6" fmla="*/ 933 w 1122"/>
                  <a:gd name="T7" fmla="*/ 802 h 1202"/>
                  <a:gd name="T8" fmla="*/ 0 w 1122"/>
                  <a:gd name="T9" fmla="*/ 1202 h 1202"/>
                  <a:gd name="T10" fmla="*/ 0 w 1122"/>
                  <a:gd name="T11" fmla="*/ 394 h 1202"/>
                </a:gdLst>
                <a:ahLst/>
                <a:cxnLst>
                  <a:cxn ang="0">
                    <a:pos x="T0" y="T1"/>
                  </a:cxn>
                  <a:cxn ang="0">
                    <a:pos x="T2" y="T3"/>
                  </a:cxn>
                  <a:cxn ang="0">
                    <a:pos x="T4" y="T5"/>
                  </a:cxn>
                  <a:cxn ang="0">
                    <a:pos x="T6" y="T7"/>
                  </a:cxn>
                  <a:cxn ang="0">
                    <a:pos x="T8" y="T9"/>
                  </a:cxn>
                  <a:cxn ang="0">
                    <a:pos x="T10" y="T11"/>
                  </a:cxn>
                </a:cxnLst>
                <a:rect l="0" t="0" r="r" b="b"/>
                <a:pathLst>
                  <a:path w="1122" h="1202">
                    <a:moveTo>
                      <a:pt x="0" y="394"/>
                    </a:moveTo>
                    <a:lnTo>
                      <a:pt x="875" y="0"/>
                    </a:lnTo>
                    <a:lnTo>
                      <a:pt x="1122" y="282"/>
                    </a:lnTo>
                    <a:lnTo>
                      <a:pt x="933" y="802"/>
                    </a:lnTo>
                    <a:lnTo>
                      <a:pt x="0" y="1202"/>
                    </a:lnTo>
                    <a:lnTo>
                      <a:pt x="0" y="39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42" name="Freeform 32">
                <a:extLst>
                  <a:ext uri="{FF2B5EF4-FFF2-40B4-BE49-F238E27FC236}">
                    <a16:creationId xmlns:a16="http://schemas.microsoft.com/office/drawing/2014/main" id="{4622D069-8873-8D44-B917-4C0AC5CAEAA0}"/>
                  </a:ext>
                </a:extLst>
              </p:cNvPr>
              <p:cNvSpPr>
                <a:spLocks/>
              </p:cNvSpPr>
              <p:nvPr/>
            </p:nvSpPr>
            <p:spPr bwMode="auto">
              <a:xfrm>
                <a:off x="3318972" y="3125788"/>
                <a:ext cx="387350" cy="1266825"/>
              </a:xfrm>
              <a:custGeom>
                <a:avLst/>
                <a:gdLst>
                  <a:gd name="T0" fmla="*/ 0 w 244"/>
                  <a:gd name="T1" fmla="*/ 0 h 798"/>
                  <a:gd name="T2" fmla="*/ 202 w 244"/>
                  <a:gd name="T3" fmla="*/ 284 h 798"/>
                  <a:gd name="T4" fmla="*/ 55 w 244"/>
                  <a:gd name="T5" fmla="*/ 798 h 798"/>
                  <a:gd name="T6" fmla="*/ 244 w 244"/>
                  <a:gd name="T7" fmla="*/ 279 h 798"/>
                  <a:gd name="T8" fmla="*/ 0 w 244"/>
                  <a:gd name="T9" fmla="*/ 0 h 798"/>
                </a:gdLst>
                <a:ahLst/>
                <a:cxnLst>
                  <a:cxn ang="0">
                    <a:pos x="T0" y="T1"/>
                  </a:cxn>
                  <a:cxn ang="0">
                    <a:pos x="T2" y="T3"/>
                  </a:cxn>
                  <a:cxn ang="0">
                    <a:pos x="T4" y="T5"/>
                  </a:cxn>
                  <a:cxn ang="0">
                    <a:pos x="T6" y="T7"/>
                  </a:cxn>
                  <a:cxn ang="0">
                    <a:pos x="T8" y="T9"/>
                  </a:cxn>
                </a:cxnLst>
                <a:rect l="0" t="0" r="r" b="b"/>
                <a:pathLst>
                  <a:path w="244" h="798">
                    <a:moveTo>
                      <a:pt x="0" y="0"/>
                    </a:moveTo>
                    <a:lnTo>
                      <a:pt x="202" y="284"/>
                    </a:lnTo>
                    <a:lnTo>
                      <a:pt x="55" y="798"/>
                    </a:lnTo>
                    <a:lnTo>
                      <a:pt x="244" y="279"/>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grpSp>
        <p:grpSp>
          <p:nvGrpSpPr>
            <p:cNvPr id="133" name="Group 132">
              <a:extLst>
                <a:ext uri="{FF2B5EF4-FFF2-40B4-BE49-F238E27FC236}">
                  <a16:creationId xmlns:a16="http://schemas.microsoft.com/office/drawing/2014/main" id="{3B5BE275-4D89-5A5B-C524-89B466EFD26A}"/>
                </a:ext>
              </a:extLst>
            </p:cNvPr>
            <p:cNvGrpSpPr/>
            <p:nvPr/>
          </p:nvGrpSpPr>
          <p:grpSpPr>
            <a:xfrm>
              <a:off x="2096576" y="4829041"/>
              <a:ext cx="3900840" cy="1705464"/>
              <a:chOff x="2644285" y="4422776"/>
              <a:chExt cx="4360863" cy="1906588"/>
            </a:xfrm>
          </p:grpSpPr>
          <p:sp>
            <p:nvSpPr>
              <p:cNvPr id="134" name="Rectangle 10">
                <a:extLst>
                  <a:ext uri="{FF2B5EF4-FFF2-40B4-BE49-F238E27FC236}">
                    <a16:creationId xmlns:a16="http://schemas.microsoft.com/office/drawing/2014/main" id="{D4314DC7-215F-E801-BCB9-A43398D6785C}"/>
                  </a:ext>
                </a:extLst>
              </p:cNvPr>
              <p:cNvSpPr>
                <a:spLocks noChangeArrowheads="1"/>
              </p:cNvSpPr>
              <p:nvPr/>
            </p:nvSpPr>
            <p:spPr bwMode="auto">
              <a:xfrm>
                <a:off x="2644285" y="5032376"/>
                <a:ext cx="4360863" cy="129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35" name="Freeform 14">
                <a:extLst>
                  <a:ext uri="{FF2B5EF4-FFF2-40B4-BE49-F238E27FC236}">
                    <a16:creationId xmlns:a16="http://schemas.microsoft.com/office/drawing/2014/main" id="{966C00DA-73E1-3075-F162-38A3D359118A}"/>
                  </a:ext>
                </a:extLst>
              </p:cNvPr>
              <p:cNvSpPr>
                <a:spLocks/>
              </p:cNvSpPr>
              <p:nvPr/>
            </p:nvSpPr>
            <p:spPr bwMode="auto">
              <a:xfrm>
                <a:off x="2644285" y="4422776"/>
                <a:ext cx="1781175" cy="1906588"/>
              </a:xfrm>
              <a:custGeom>
                <a:avLst/>
                <a:gdLst>
                  <a:gd name="T0" fmla="*/ 0 w 1122"/>
                  <a:gd name="T1" fmla="*/ 393 h 1201"/>
                  <a:gd name="T2" fmla="*/ 875 w 1122"/>
                  <a:gd name="T3" fmla="*/ 0 h 1201"/>
                  <a:gd name="T4" fmla="*/ 1122 w 1122"/>
                  <a:gd name="T5" fmla="*/ 281 h 1201"/>
                  <a:gd name="T6" fmla="*/ 933 w 1122"/>
                  <a:gd name="T7" fmla="*/ 801 h 1201"/>
                  <a:gd name="T8" fmla="*/ 0 w 1122"/>
                  <a:gd name="T9" fmla="*/ 1201 h 1201"/>
                  <a:gd name="T10" fmla="*/ 0 w 1122"/>
                  <a:gd name="T11" fmla="*/ 393 h 1201"/>
                </a:gdLst>
                <a:ahLst/>
                <a:cxnLst>
                  <a:cxn ang="0">
                    <a:pos x="T0" y="T1"/>
                  </a:cxn>
                  <a:cxn ang="0">
                    <a:pos x="T2" y="T3"/>
                  </a:cxn>
                  <a:cxn ang="0">
                    <a:pos x="T4" y="T5"/>
                  </a:cxn>
                  <a:cxn ang="0">
                    <a:pos x="T6" y="T7"/>
                  </a:cxn>
                  <a:cxn ang="0">
                    <a:pos x="T8" y="T9"/>
                  </a:cxn>
                  <a:cxn ang="0">
                    <a:pos x="T10" y="T11"/>
                  </a:cxn>
                </a:cxnLst>
                <a:rect l="0" t="0" r="r" b="b"/>
                <a:pathLst>
                  <a:path w="1122" h="1201">
                    <a:moveTo>
                      <a:pt x="0" y="393"/>
                    </a:moveTo>
                    <a:lnTo>
                      <a:pt x="875" y="0"/>
                    </a:lnTo>
                    <a:lnTo>
                      <a:pt x="1122" y="281"/>
                    </a:lnTo>
                    <a:lnTo>
                      <a:pt x="933" y="801"/>
                    </a:lnTo>
                    <a:lnTo>
                      <a:pt x="0" y="1201"/>
                    </a:lnTo>
                    <a:lnTo>
                      <a:pt x="0" y="39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sp>
            <p:nvSpPr>
              <p:cNvPr id="136" name="Freeform 34">
                <a:extLst>
                  <a:ext uri="{FF2B5EF4-FFF2-40B4-BE49-F238E27FC236}">
                    <a16:creationId xmlns:a16="http://schemas.microsoft.com/office/drawing/2014/main" id="{ECC641E3-8D9E-A22E-75A4-1B9E4399E465}"/>
                  </a:ext>
                </a:extLst>
              </p:cNvPr>
              <p:cNvSpPr>
                <a:spLocks/>
              </p:cNvSpPr>
              <p:nvPr/>
            </p:nvSpPr>
            <p:spPr bwMode="auto">
              <a:xfrm>
                <a:off x="4033347" y="4422776"/>
                <a:ext cx="392113" cy="1271588"/>
              </a:xfrm>
              <a:custGeom>
                <a:avLst/>
                <a:gdLst>
                  <a:gd name="T0" fmla="*/ 0 w 247"/>
                  <a:gd name="T1" fmla="*/ 0 h 801"/>
                  <a:gd name="T2" fmla="*/ 205 w 247"/>
                  <a:gd name="T3" fmla="*/ 288 h 801"/>
                  <a:gd name="T4" fmla="*/ 58 w 247"/>
                  <a:gd name="T5" fmla="*/ 801 h 801"/>
                  <a:gd name="T6" fmla="*/ 247 w 247"/>
                  <a:gd name="T7" fmla="*/ 281 h 801"/>
                  <a:gd name="T8" fmla="*/ 0 w 247"/>
                  <a:gd name="T9" fmla="*/ 0 h 801"/>
                </a:gdLst>
                <a:ahLst/>
                <a:cxnLst>
                  <a:cxn ang="0">
                    <a:pos x="T0" y="T1"/>
                  </a:cxn>
                  <a:cxn ang="0">
                    <a:pos x="T2" y="T3"/>
                  </a:cxn>
                  <a:cxn ang="0">
                    <a:pos x="T4" y="T5"/>
                  </a:cxn>
                  <a:cxn ang="0">
                    <a:pos x="T6" y="T7"/>
                  </a:cxn>
                  <a:cxn ang="0">
                    <a:pos x="T8" y="T9"/>
                  </a:cxn>
                </a:cxnLst>
                <a:rect l="0" t="0" r="r" b="b"/>
                <a:pathLst>
                  <a:path w="247" h="801">
                    <a:moveTo>
                      <a:pt x="0" y="0"/>
                    </a:moveTo>
                    <a:lnTo>
                      <a:pt x="205" y="288"/>
                    </a:lnTo>
                    <a:lnTo>
                      <a:pt x="58" y="801"/>
                    </a:lnTo>
                    <a:lnTo>
                      <a:pt x="247" y="281"/>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46">
                  <a:buClr>
                    <a:srgbClr val="000000"/>
                  </a:buClr>
                  <a:defRPr/>
                </a:pPr>
                <a:endParaRPr lang="en-GB" sz="1400" kern="0" dirty="0">
                  <a:solidFill>
                    <a:srgbClr val="000000"/>
                  </a:solidFill>
                  <a:latin typeface="Calibri"/>
                  <a:cs typeface="Arial"/>
                  <a:sym typeface="Arial"/>
                </a:endParaRPr>
              </a:p>
            </p:txBody>
          </p:sp>
        </p:grpSp>
      </p:grpSp>
      <p:sp>
        <p:nvSpPr>
          <p:cNvPr id="164" name="Rectangle 163">
            <a:extLst>
              <a:ext uri="{FF2B5EF4-FFF2-40B4-BE49-F238E27FC236}">
                <a16:creationId xmlns:a16="http://schemas.microsoft.com/office/drawing/2014/main" id="{F26FAEB0-0BFC-BB01-263D-DF92A1304A45}"/>
              </a:ext>
            </a:extLst>
          </p:cNvPr>
          <p:cNvSpPr/>
          <p:nvPr/>
        </p:nvSpPr>
        <p:spPr>
          <a:xfrm rot="20891072">
            <a:off x="8298052" y="1331055"/>
            <a:ext cx="2111389" cy="5650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46">
              <a:lnSpc>
                <a:spcPct val="150000"/>
              </a:lnSpc>
              <a:buClr>
                <a:srgbClr val="000000"/>
              </a:buClr>
              <a:defRPr/>
            </a:pPr>
            <a:r>
              <a:rPr lang="en-GB" kern="0" dirty="0">
                <a:solidFill>
                  <a:prstClr val="white"/>
                </a:solidFill>
                <a:latin typeface="Franklin Gothic Medium"/>
                <a:ea typeface="Franklin Gothic Medium"/>
                <a:cs typeface="Franklin Gothic Medium"/>
                <a:sym typeface="Arial"/>
              </a:rPr>
              <a:t>Incident Response &amp; Automation</a:t>
            </a:r>
          </a:p>
        </p:txBody>
      </p:sp>
      <p:sp>
        <p:nvSpPr>
          <p:cNvPr id="5" name="Flowchart: Alternate Process 4">
            <a:extLst>
              <a:ext uri="{FF2B5EF4-FFF2-40B4-BE49-F238E27FC236}">
                <a16:creationId xmlns:a16="http://schemas.microsoft.com/office/drawing/2014/main" id="{FA8F9879-EFA1-C1D5-5573-F9AA39972C86}"/>
              </a:ext>
            </a:extLst>
          </p:cNvPr>
          <p:cNvSpPr/>
          <p:nvPr/>
        </p:nvSpPr>
        <p:spPr>
          <a:xfrm>
            <a:off x="5417224" y="2666069"/>
            <a:ext cx="1578767" cy="709507"/>
          </a:xfrm>
          <a:prstGeom prst="flowChartAlternateProcess">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167"/>
              </a:lnSpc>
            </a:pPr>
            <a:r>
              <a:rPr lang="en-US" sz="1200" dirty="0">
                <a:solidFill>
                  <a:srgbClr val="EBECEF"/>
                </a:solidFill>
                <a:latin typeface="Fraunces" pitchFamily="34" charset="0"/>
                <a:ea typeface="Fraunces" pitchFamily="34" charset="-122"/>
                <a:cs typeface="Fraunces" pitchFamily="34" charset="-120"/>
              </a:rPr>
              <a:t>Threat Intelligence Integration</a:t>
            </a:r>
            <a:endParaRPr lang="en-US" sz="1200" dirty="0"/>
          </a:p>
        </p:txBody>
      </p:sp>
      <p:sp>
        <p:nvSpPr>
          <p:cNvPr id="6" name="Flowchart: Alternate Process 5">
            <a:extLst>
              <a:ext uri="{FF2B5EF4-FFF2-40B4-BE49-F238E27FC236}">
                <a16:creationId xmlns:a16="http://schemas.microsoft.com/office/drawing/2014/main" id="{E2372AA3-4CDD-5D30-83B8-62E36A69B32F}"/>
              </a:ext>
            </a:extLst>
          </p:cNvPr>
          <p:cNvSpPr/>
          <p:nvPr/>
        </p:nvSpPr>
        <p:spPr>
          <a:xfrm>
            <a:off x="2836388" y="2652785"/>
            <a:ext cx="1578767" cy="709507"/>
          </a:xfrm>
          <a:prstGeom prst="flowChartAlternateProcess">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167"/>
              </a:lnSpc>
            </a:pPr>
            <a:r>
              <a:rPr lang="en-US" sz="1200" dirty="0">
                <a:solidFill>
                  <a:srgbClr val="EBECEF"/>
                </a:solidFill>
                <a:latin typeface="Fraunces" pitchFamily="34" charset="0"/>
                <a:ea typeface="Fraunces" pitchFamily="34" charset="-122"/>
                <a:cs typeface="Fraunces" pitchFamily="34" charset="-120"/>
              </a:rPr>
              <a:t>Advanced Analytics</a:t>
            </a:r>
            <a:endParaRPr lang="en-US" sz="1200" dirty="0"/>
          </a:p>
        </p:txBody>
      </p:sp>
      <p:sp>
        <p:nvSpPr>
          <p:cNvPr id="4" name="Flowchart: Alternate Process 3">
            <a:extLst>
              <a:ext uri="{FF2B5EF4-FFF2-40B4-BE49-F238E27FC236}">
                <a16:creationId xmlns:a16="http://schemas.microsoft.com/office/drawing/2014/main" id="{A12ADB9B-ABE0-B25B-C221-62A9EACEEE75}"/>
              </a:ext>
            </a:extLst>
          </p:cNvPr>
          <p:cNvSpPr/>
          <p:nvPr/>
        </p:nvSpPr>
        <p:spPr>
          <a:xfrm>
            <a:off x="418644" y="2752138"/>
            <a:ext cx="1578767" cy="636794"/>
          </a:xfrm>
          <a:prstGeom prst="flowChartAlternateProcess">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ts val="2167"/>
              </a:lnSpc>
            </a:pPr>
            <a:r>
              <a:rPr lang="en-US" sz="1200" dirty="0">
                <a:solidFill>
                  <a:srgbClr val="EBECEF"/>
                </a:solidFill>
                <a:latin typeface="Fraunces" pitchFamily="34" charset="0"/>
                <a:ea typeface="Fraunces" pitchFamily="34" charset="-122"/>
                <a:cs typeface="Fraunces" pitchFamily="34" charset="-120"/>
              </a:rPr>
              <a:t>Real-time Threat Detection</a:t>
            </a:r>
            <a:endParaRPr lang="en-US" sz="1200" dirty="0"/>
          </a:p>
        </p:txBody>
      </p:sp>
      <p:sp>
        <p:nvSpPr>
          <p:cNvPr id="2" name="Oval 1">
            <a:extLst>
              <a:ext uri="{FF2B5EF4-FFF2-40B4-BE49-F238E27FC236}">
                <a16:creationId xmlns:a16="http://schemas.microsoft.com/office/drawing/2014/main" id="{3DBB2347-E2FA-1249-102A-5650425CD531}"/>
              </a:ext>
            </a:extLst>
          </p:cNvPr>
          <p:cNvSpPr>
            <a:spLocks noChangeArrowheads="1"/>
          </p:cNvSpPr>
          <p:nvPr/>
        </p:nvSpPr>
        <p:spPr bwMode="auto">
          <a:xfrm>
            <a:off x="1807521" y="5562522"/>
            <a:ext cx="1260000" cy="1224000"/>
          </a:xfrm>
          <a:prstGeom prst="ellipse">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GB" dirty="0">
              <a:solidFill>
                <a:schemeClr val="tx2"/>
              </a:solidFill>
              <a:latin typeface="Calibri"/>
            </a:endParaRPr>
          </a:p>
        </p:txBody>
      </p:sp>
      <p:pic>
        <p:nvPicPr>
          <p:cNvPr id="7" name="Picture 2" descr="Ideate Icons - Free SVG &amp; PNG Ideate Images - Noun Project">
            <a:extLst>
              <a:ext uri="{FF2B5EF4-FFF2-40B4-BE49-F238E27FC236}">
                <a16:creationId xmlns:a16="http://schemas.microsoft.com/office/drawing/2014/main" id="{9CD38331-BAFC-53B9-5CB9-F15C47B524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15975" y="5771867"/>
            <a:ext cx="807905" cy="807905"/>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a:extLst>
              <a:ext uri="{FF2B5EF4-FFF2-40B4-BE49-F238E27FC236}">
                <a16:creationId xmlns:a16="http://schemas.microsoft.com/office/drawing/2014/main" id="{CD7CE987-FB8E-42CB-4CCA-5F0CDA22A1CE}"/>
              </a:ext>
            </a:extLst>
          </p:cNvPr>
          <p:cNvGrpSpPr/>
          <p:nvPr/>
        </p:nvGrpSpPr>
        <p:grpSpPr>
          <a:xfrm>
            <a:off x="7912724" y="2526685"/>
            <a:ext cx="4066414" cy="3750948"/>
            <a:chOff x="530422" y="1354733"/>
            <a:chExt cx="6559155" cy="4715792"/>
          </a:xfrm>
        </p:grpSpPr>
        <p:pic>
          <p:nvPicPr>
            <p:cNvPr id="9" name="Image 2" descr="preencoded.png">
              <a:extLst>
                <a:ext uri="{FF2B5EF4-FFF2-40B4-BE49-F238E27FC236}">
                  <a16:creationId xmlns:a16="http://schemas.microsoft.com/office/drawing/2014/main" id="{0AC40FA9-E48A-D5DA-64AC-027BFAFA4A11}"/>
                </a:ext>
              </a:extLst>
            </p:cNvPr>
            <p:cNvPicPr>
              <a:picLocks noChangeAspect="1"/>
            </p:cNvPicPr>
            <p:nvPr/>
          </p:nvPicPr>
          <p:blipFill>
            <a:blip r:embed="rId5"/>
            <a:stretch>
              <a:fillRect/>
            </a:stretch>
          </p:blipFill>
          <p:spPr>
            <a:xfrm>
              <a:off x="530422" y="1354733"/>
              <a:ext cx="795337" cy="1078731"/>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10" name="Text 1">
              <a:extLst>
                <a:ext uri="{FF2B5EF4-FFF2-40B4-BE49-F238E27FC236}">
                  <a16:creationId xmlns:a16="http://schemas.microsoft.com/office/drawing/2014/main" id="{9B03E368-1661-959E-00B6-5540E31D645F}"/>
                </a:ext>
              </a:extLst>
            </p:cNvPr>
            <p:cNvSpPr/>
            <p:nvPr/>
          </p:nvSpPr>
          <p:spPr>
            <a:xfrm>
              <a:off x="1515468" y="1506240"/>
              <a:ext cx="1894383" cy="236736"/>
            </a:xfrm>
            <a:prstGeom prst="rect">
              <a:avLst/>
            </a:prstGeom>
            <a:noFill/>
            <a:ln/>
          </p:spPr>
          <p:txBody>
            <a:bodyPr wrap="none" lIns="0" tIns="0" rIns="0" bIns="0" rtlCol="0" anchor="t"/>
            <a:lstStyle/>
            <a:p>
              <a:pPr>
                <a:lnSpc>
                  <a:spcPts val="1833"/>
                </a:lnSpc>
              </a:pPr>
              <a:r>
                <a:rPr lang="en-US" sz="1458" b="1" dirty="0">
                  <a:latin typeface="Fraunces" pitchFamily="34" charset="0"/>
                  <a:ea typeface="Fraunces" pitchFamily="34" charset="-122"/>
                  <a:cs typeface="Fraunces" pitchFamily="34" charset="-120"/>
                </a:rPr>
                <a:t>Incident Detection</a:t>
              </a:r>
              <a:endParaRPr lang="en-US" sz="1458" b="1" dirty="0"/>
            </a:p>
          </p:txBody>
        </p:sp>
        <p:sp>
          <p:nvSpPr>
            <p:cNvPr id="11" name="Text 2">
              <a:extLst>
                <a:ext uri="{FF2B5EF4-FFF2-40B4-BE49-F238E27FC236}">
                  <a16:creationId xmlns:a16="http://schemas.microsoft.com/office/drawing/2014/main" id="{6A2D62C8-3183-2082-1156-1A047ADE7D9D}"/>
                </a:ext>
              </a:extLst>
            </p:cNvPr>
            <p:cNvSpPr/>
            <p:nvPr/>
          </p:nvSpPr>
          <p:spPr>
            <a:xfrm>
              <a:off x="1515468" y="1833860"/>
              <a:ext cx="5574109" cy="484783"/>
            </a:xfrm>
            <a:prstGeom prst="rect">
              <a:avLst/>
            </a:prstGeom>
            <a:noFill/>
            <a:ln/>
          </p:spPr>
          <p:txBody>
            <a:bodyPr wrap="square" lIns="0" tIns="0" rIns="0" bIns="0" rtlCol="0" anchor="t"/>
            <a:lstStyle/>
            <a:p>
              <a:pPr>
                <a:lnSpc>
                  <a:spcPts val="1875"/>
                </a:lnSpc>
              </a:pPr>
              <a:r>
                <a:rPr lang="en-US" sz="1167" dirty="0">
                  <a:latin typeface="Epilogue" pitchFamily="34" charset="0"/>
                  <a:ea typeface="Epilogue" pitchFamily="34" charset="-122"/>
                  <a:cs typeface="Epilogue" pitchFamily="34" charset="-120"/>
                </a:rPr>
                <a:t>Trigger alerts and notifications based on predefined rules and security events.</a:t>
              </a:r>
              <a:endParaRPr lang="en-US" sz="1167" dirty="0"/>
            </a:p>
          </p:txBody>
        </p:sp>
        <p:pic>
          <p:nvPicPr>
            <p:cNvPr id="12" name="Image 3" descr="preencoded.png">
              <a:extLst>
                <a:ext uri="{FF2B5EF4-FFF2-40B4-BE49-F238E27FC236}">
                  <a16:creationId xmlns:a16="http://schemas.microsoft.com/office/drawing/2014/main" id="{5ECA87C9-5AC4-2865-9ED3-7BB7B977A251}"/>
                </a:ext>
              </a:extLst>
            </p:cNvPr>
            <p:cNvPicPr>
              <a:picLocks noChangeAspect="1"/>
            </p:cNvPicPr>
            <p:nvPr/>
          </p:nvPicPr>
          <p:blipFill>
            <a:blip r:embed="rId6"/>
            <a:stretch>
              <a:fillRect/>
            </a:stretch>
          </p:blipFill>
          <p:spPr>
            <a:xfrm>
              <a:off x="530422" y="2567087"/>
              <a:ext cx="795337" cy="1078731"/>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13" name="Text 3">
              <a:extLst>
                <a:ext uri="{FF2B5EF4-FFF2-40B4-BE49-F238E27FC236}">
                  <a16:creationId xmlns:a16="http://schemas.microsoft.com/office/drawing/2014/main" id="{24C9BF14-ADB9-6CF1-2C02-32458CAB3E91}"/>
                </a:ext>
              </a:extLst>
            </p:cNvPr>
            <p:cNvSpPr/>
            <p:nvPr/>
          </p:nvSpPr>
          <p:spPr>
            <a:xfrm>
              <a:off x="1515468" y="2718595"/>
              <a:ext cx="1989138" cy="236736"/>
            </a:xfrm>
            <a:prstGeom prst="rect">
              <a:avLst/>
            </a:prstGeom>
            <a:noFill/>
            <a:ln/>
          </p:spPr>
          <p:txBody>
            <a:bodyPr wrap="none" lIns="0" tIns="0" rIns="0" bIns="0" rtlCol="0" anchor="t"/>
            <a:lstStyle/>
            <a:p>
              <a:pPr>
                <a:lnSpc>
                  <a:spcPts val="1833"/>
                </a:lnSpc>
              </a:pPr>
              <a:r>
                <a:rPr lang="en-US" sz="1458" b="1" dirty="0">
                  <a:latin typeface="Fraunces" pitchFamily="34" charset="0"/>
                  <a:ea typeface="Fraunces" pitchFamily="34" charset="-122"/>
                  <a:cs typeface="Fraunces" pitchFamily="34" charset="-120"/>
                </a:rPr>
                <a:t>Incident Investigation</a:t>
              </a:r>
              <a:endParaRPr lang="en-US" sz="1458" b="1" dirty="0"/>
            </a:p>
          </p:txBody>
        </p:sp>
        <p:sp>
          <p:nvSpPr>
            <p:cNvPr id="14" name="Text 4">
              <a:extLst>
                <a:ext uri="{FF2B5EF4-FFF2-40B4-BE49-F238E27FC236}">
                  <a16:creationId xmlns:a16="http://schemas.microsoft.com/office/drawing/2014/main" id="{AE1B25BF-D395-CADC-DC17-181D5BD36A4E}"/>
                </a:ext>
              </a:extLst>
            </p:cNvPr>
            <p:cNvSpPr/>
            <p:nvPr/>
          </p:nvSpPr>
          <p:spPr>
            <a:xfrm>
              <a:off x="1515468" y="3046214"/>
              <a:ext cx="5574109" cy="484783"/>
            </a:xfrm>
            <a:prstGeom prst="rect">
              <a:avLst/>
            </a:prstGeom>
            <a:noFill/>
            <a:ln/>
          </p:spPr>
          <p:txBody>
            <a:bodyPr wrap="square" lIns="0" tIns="0" rIns="0" bIns="0" rtlCol="0" anchor="t"/>
            <a:lstStyle/>
            <a:p>
              <a:pPr>
                <a:lnSpc>
                  <a:spcPts val="1875"/>
                </a:lnSpc>
              </a:pPr>
              <a:r>
                <a:rPr lang="en-US" sz="1167" dirty="0">
                  <a:latin typeface="Epilogue" pitchFamily="34" charset="0"/>
                  <a:ea typeface="Epilogue" pitchFamily="34" charset="-122"/>
                  <a:cs typeface="Epilogue" pitchFamily="34" charset="-120"/>
                </a:rPr>
                <a:t>Gather and analyze relevant security data to understand the nature and scope of the incident.</a:t>
              </a:r>
              <a:endParaRPr lang="en-US" sz="1167" dirty="0"/>
            </a:p>
          </p:txBody>
        </p:sp>
        <p:pic>
          <p:nvPicPr>
            <p:cNvPr id="15" name="Image 4" descr="preencoded.png">
              <a:extLst>
                <a:ext uri="{FF2B5EF4-FFF2-40B4-BE49-F238E27FC236}">
                  <a16:creationId xmlns:a16="http://schemas.microsoft.com/office/drawing/2014/main" id="{A82CE9A8-16E1-FCA8-D2F2-1894B5F81B42}"/>
                </a:ext>
              </a:extLst>
            </p:cNvPr>
            <p:cNvPicPr>
              <a:picLocks noChangeAspect="1"/>
            </p:cNvPicPr>
            <p:nvPr/>
          </p:nvPicPr>
          <p:blipFill>
            <a:blip r:embed="rId7"/>
            <a:stretch>
              <a:fillRect/>
            </a:stretch>
          </p:blipFill>
          <p:spPr>
            <a:xfrm>
              <a:off x="530422" y="3779439"/>
              <a:ext cx="795337" cy="1078731"/>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16" name="Text 5">
              <a:extLst>
                <a:ext uri="{FF2B5EF4-FFF2-40B4-BE49-F238E27FC236}">
                  <a16:creationId xmlns:a16="http://schemas.microsoft.com/office/drawing/2014/main" id="{191DDB59-2D21-AAE5-14BB-B26EFA53AA50}"/>
                </a:ext>
              </a:extLst>
            </p:cNvPr>
            <p:cNvSpPr/>
            <p:nvPr/>
          </p:nvSpPr>
          <p:spPr>
            <a:xfrm>
              <a:off x="1515468" y="3930948"/>
              <a:ext cx="1986856" cy="236736"/>
            </a:xfrm>
            <a:prstGeom prst="rect">
              <a:avLst/>
            </a:prstGeom>
            <a:noFill/>
            <a:ln/>
          </p:spPr>
          <p:txBody>
            <a:bodyPr wrap="none" lIns="0" tIns="0" rIns="0" bIns="0" rtlCol="0" anchor="t"/>
            <a:lstStyle/>
            <a:p>
              <a:pPr>
                <a:lnSpc>
                  <a:spcPts val="1833"/>
                </a:lnSpc>
              </a:pPr>
              <a:r>
                <a:rPr lang="en-US" sz="1458" b="1" dirty="0">
                  <a:latin typeface="Fraunces" pitchFamily="34" charset="0"/>
                  <a:ea typeface="Fraunces" pitchFamily="34" charset="-122"/>
                  <a:cs typeface="Fraunces" pitchFamily="34" charset="-120"/>
                </a:rPr>
                <a:t>Incident Containment</a:t>
              </a:r>
              <a:endParaRPr lang="en-US" sz="1458" b="1" dirty="0"/>
            </a:p>
          </p:txBody>
        </p:sp>
        <p:sp>
          <p:nvSpPr>
            <p:cNvPr id="17" name="Text 6">
              <a:extLst>
                <a:ext uri="{FF2B5EF4-FFF2-40B4-BE49-F238E27FC236}">
                  <a16:creationId xmlns:a16="http://schemas.microsoft.com/office/drawing/2014/main" id="{29062682-DC8A-C8C0-81E6-1A6B4FF86BE1}"/>
                </a:ext>
              </a:extLst>
            </p:cNvPr>
            <p:cNvSpPr/>
            <p:nvPr/>
          </p:nvSpPr>
          <p:spPr>
            <a:xfrm>
              <a:off x="1515468" y="4258569"/>
              <a:ext cx="5574109" cy="484783"/>
            </a:xfrm>
            <a:prstGeom prst="rect">
              <a:avLst/>
            </a:prstGeom>
            <a:noFill/>
            <a:ln/>
          </p:spPr>
          <p:txBody>
            <a:bodyPr wrap="square" lIns="0" tIns="0" rIns="0" bIns="0" rtlCol="0" anchor="t"/>
            <a:lstStyle/>
            <a:p>
              <a:pPr>
                <a:lnSpc>
                  <a:spcPts val="1875"/>
                </a:lnSpc>
              </a:pPr>
              <a:r>
                <a:rPr lang="en-US" sz="1167" dirty="0">
                  <a:latin typeface="Epilogue" pitchFamily="34" charset="0"/>
                  <a:ea typeface="Epilogue" pitchFamily="34" charset="-122"/>
                  <a:cs typeface="Epilogue" pitchFamily="34" charset="-120"/>
                </a:rPr>
                <a:t>Implement necessary actions to mitigate the impact of the incident and prevent further damage.</a:t>
              </a:r>
              <a:endParaRPr lang="en-US" sz="1167" dirty="0"/>
            </a:p>
          </p:txBody>
        </p:sp>
        <p:pic>
          <p:nvPicPr>
            <p:cNvPr id="18" name="Image 5" descr="preencoded.png">
              <a:extLst>
                <a:ext uri="{FF2B5EF4-FFF2-40B4-BE49-F238E27FC236}">
                  <a16:creationId xmlns:a16="http://schemas.microsoft.com/office/drawing/2014/main" id="{40AC3BB8-0050-70FA-19B2-2DEE55647610}"/>
                </a:ext>
              </a:extLst>
            </p:cNvPr>
            <p:cNvPicPr>
              <a:picLocks noChangeAspect="1"/>
            </p:cNvPicPr>
            <p:nvPr/>
          </p:nvPicPr>
          <p:blipFill>
            <a:blip r:embed="rId8"/>
            <a:stretch>
              <a:fillRect/>
            </a:stretch>
          </p:blipFill>
          <p:spPr>
            <a:xfrm>
              <a:off x="530422" y="4991794"/>
              <a:ext cx="795337" cy="1078731"/>
            </a:xfrm>
            <a:prstGeom prst="rect">
              <a:avLst/>
            </a:prstGeo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19" name="Text 7">
              <a:extLst>
                <a:ext uri="{FF2B5EF4-FFF2-40B4-BE49-F238E27FC236}">
                  <a16:creationId xmlns:a16="http://schemas.microsoft.com/office/drawing/2014/main" id="{9DA98AA9-79D1-4AF1-AA1F-ECF9BFC341FD}"/>
                </a:ext>
              </a:extLst>
            </p:cNvPr>
            <p:cNvSpPr/>
            <p:nvPr/>
          </p:nvSpPr>
          <p:spPr>
            <a:xfrm>
              <a:off x="1515468" y="5143302"/>
              <a:ext cx="1956693" cy="236736"/>
            </a:xfrm>
            <a:prstGeom prst="rect">
              <a:avLst/>
            </a:prstGeom>
            <a:noFill/>
            <a:ln/>
          </p:spPr>
          <p:txBody>
            <a:bodyPr wrap="none" lIns="0" tIns="0" rIns="0" bIns="0" rtlCol="0" anchor="t"/>
            <a:lstStyle/>
            <a:p>
              <a:pPr>
                <a:lnSpc>
                  <a:spcPts val="1833"/>
                </a:lnSpc>
              </a:pPr>
              <a:r>
                <a:rPr lang="en-US" sz="1458" b="1" dirty="0">
                  <a:latin typeface="Fraunces" pitchFamily="34" charset="0"/>
                  <a:ea typeface="Fraunces" pitchFamily="34" charset="-122"/>
                  <a:cs typeface="Fraunces" pitchFamily="34" charset="-120"/>
                </a:rPr>
                <a:t>Incident Remediation</a:t>
              </a:r>
              <a:endParaRPr lang="en-US" sz="1458" b="1" dirty="0"/>
            </a:p>
          </p:txBody>
        </p:sp>
        <p:sp>
          <p:nvSpPr>
            <p:cNvPr id="20" name="Text 8">
              <a:extLst>
                <a:ext uri="{FF2B5EF4-FFF2-40B4-BE49-F238E27FC236}">
                  <a16:creationId xmlns:a16="http://schemas.microsoft.com/office/drawing/2014/main" id="{C3428044-75DE-05E7-2D28-7612E99C9360}"/>
                </a:ext>
              </a:extLst>
            </p:cNvPr>
            <p:cNvSpPr/>
            <p:nvPr/>
          </p:nvSpPr>
          <p:spPr>
            <a:xfrm>
              <a:off x="1515468" y="5470922"/>
              <a:ext cx="5574109" cy="484783"/>
            </a:xfrm>
            <a:prstGeom prst="rect">
              <a:avLst/>
            </a:prstGeom>
            <a:noFill/>
            <a:ln/>
          </p:spPr>
          <p:txBody>
            <a:bodyPr wrap="square" lIns="0" tIns="0" rIns="0" bIns="0" rtlCol="0" anchor="t"/>
            <a:lstStyle/>
            <a:p>
              <a:pPr>
                <a:lnSpc>
                  <a:spcPts val="1875"/>
                </a:lnSpc>
              </a:pPr>
              <a:r>
                <a:rPr lang="en-US" sz="1167" dirty="0">
                  <a:latin typeface="Epilogue" pitchFamily="34" charset="0"/>
                  <a:ea typeface="Epilogue" pitchFamily="34" charset="-122"/>
                  <a:cs typeface="Epilogue" pitchFamily="34" charset="-120"/>
                </a:rPr>
                <a:t>Restore affected systems and data to a secure state and implement preventive measures.</a:t>
              </a:r>
              <a:endParaRPr lang="en-US" sz="1167" dirty="0"/>
            </a:p>
          </p:txBody>
        </p:sp>
      </p:grpSp>
      <p:sp>
        <p:nvSpPr>
          <p:cNvPr id="22" name="Text 0">
            <a:extLst>
              <a:ext uri="{FF2B5EF4-FFF2-40B4-BE49-F238E27FC236}">
                <a16:creationId xmlns:a16="http://schemas.microsoft.com/office/drawing/2014/main" id="{41E195D0-A212-BE73-3DC7-56E6BAC94848}"/>
              </a:ext>
            </a:extLst>
          </p:cNvPr>
          <p:cNvSpPr/>
          <p:nvPr/>
        </p:nvSpPr>
        <p:spPr>
          <a:xfrm>
            <a:off x="577643" y="1576368"/>
            <a:ext cx="6343749" cy="473571"/>
          </a:xfrm>
          <a:prstGeom prst="rect">
            <a:avLst/>
          </a:prstGeom>
          <a:noFill/>
          <a:ln/>
        </p:spPr>
        <p:txBody>
          <a:bodyPr wrap="none" lIns="0" tIns="0" rIns="0" bIns="0" rtlCol="0" anchor="t"/>
          <a:lstStyle/>
          <a:p>
            <a:pPr>
              <a:lnSpc>
                <a:spcPts val="4375"/>
              </a:lnSpc>
            </a:pPr>
            <a:r>
              <a:rPr lang="en-US" sz="3200" dirty="0">
                <a:latin typeface="Fraunces" pitchFamily="34" charset="0"/>
                <a:ea typeface="Fraunces" pitchFamily="34" charset="-122"/>
                <a:cs typeface="Fraunces" pitchFamily="34" charset="-120"/>
              </a:rPr>
              <a:t>Threat Detection and Investigation</a:t>
            </a:r>
            <a:endParaRPr lang="en-US" sz="3200" dirty="0"/>
          </a:p>
        </p:txBody>
      </p:sp>
      <p:sp>
        <p:nvSpPr>
          <p:cNvPr id="25" name="Oval 24">
            <a:extLst>
              <a:ext uri="{FF2B5EF4-FFF2-40B4-BE49-F238E27FC236}">
                <a16:creationId xmlns:a16="http://schemas.microsoft.com/office/drawing/2014/main" id="{5F9494FD-98E3-2A08-8A0C-D365F17607F4}"/>
              </a:ext>
            </a:extLst>
          </p:cNvPr>
          <p:cNvSpPr>
            <a:spLocks noChangeArrowheads="1"/>
          </p:cNvSpPr>
          <p:nvPr/>
        </p:nvSpPr>
        <p:spPr bwMode="auto">
          <a:xfrm>
            <a:off x="4462492" y="5634000"/>
            <a:ext cx="1260000" cy="1224000"/>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GB" dirty="0">
              <a:solidFill>
                <a:schemeClr val="tx2"/>
              </a:solidFill>
              <a:latin typeface="Calibri"/>
            </a:endParaRPr>
          </a:p>
        </p:txBody>
      </p:sp>
      <p:pic>
        <p:nvPicPr>
          <p:cNvPr id="26" name="Picture 6">
            <a:extLst>
              <a:ext uri="{FF2B5EF4-FFF2-40B4-BE49-F238E27FC236}">
                <a16:creationId xmlns:a16="http://schemas.microsoft.com/office/drawing/2014/main" id="{F0C53902-FD61-9D89-B1A9-1C24487F7A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0977" y="5926999"/>
            <a:ext cx="603030" cy="597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34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59"/>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pic>
        <p:nvPicPr>
          <p:cNvPr id="271" name="Google Shape;271;p59"/>
          <p:cNvPicPr preferRelativeResize="0"/>
          <p:nvPr/>
        </p:nvPicPr>
        <p:blipFill>
          <a:blip r:embed="rId4">
            <a:clrChange>
              <a:clrFrom>
                <a:srgbClr val="FFFFFF"/>
              </a:clrFrom>
              <a:clrTo>
                <a:srgbClr val="FFFFFF">
                  <a:alpha val="0"/>
                </a:srgbClr>
              </a:clrTo>
            </a:clrChange>
            <a:alphaModFix/>
          </a:blip>
          <a:stretch>
            <a:fillRect/>
          </a:stretch>
        </p:blipFill>
        <p:spPr>
          <a:xfrm>
            <a:off x="1051413" y="1825358"/>
            <a:ext cx="908016" cy="803409"/>
          </a:xfrm>
          <a:prstGeom prst="rect">
            <a:avLst/>
          </a:prstGeom>
          <a:noFill/>
          <a:ln>
            <a:noFill/>
          </a:ln>
        </p:spPr>
      </p:pic>
      <p:pic>
        <p:nvPicPr>
          <p:cNvPr id="275" name="Google Shape;275;p59"/>
          <p:cNvPicPr preferRelativeResize="0"/>
          <p:nvPr/>
        </p:nvPicPr>
        <p:blipFill>
          <a:blip r:embed="rId5">
            <a:clrChange>
              <a:clrFrom>
                <a:srgbClr val="FFFFFF"/>
              </a:clrFrom>
              <a:clrTo>
                <a:srgbClr val="FFFFFF">
                  <a:alpha val="0"/>
                </a:srgbClr>
              </a:clrTo>
            </a:clrChange>
            <a:alphaModFix/>
          </a:blip>
          <a:stretch>
            <a:fillRect/>
          </a:stretch>
        </p:blipFill>
        <p:spPr>
          <a:xfrm>
            <a:off x="7123060" y="1800871"/>
            <a:ext cx="804921" cy="819733"/>
          </a:xfrm>
          <a:prstGeom prst="rect">
            <a:avLst/>
          </a:prstGeom>
          <a:noFill/>
          <a:ln>
            <a:noFill/>
          </a:ln>
        </p:spPr>
      </p:pic>
      <p:pic>
        <p:nvPicPr>
          <p:cNvPr id="277" name="Google Shape;277;p59"/>
          <p:cNvPicPr preferRelativeResize="0"/>
          <p:nvPr/>
        </p:nvPicPr>
        <p:blipFill>
          <a:blip r:embed="rId6">
            <a:clrChange>
              <a:clrFrom>
                <a:srgbClr val="FFFFFF"/>
              </a:clrFrom>
              <a:clrTo>
                <a:srgbClr val="FFFFFF">
                  <a:alpha val="0"/>
                </a:srgbClr>
              </a:clrTo>
            </a:clrChange>
            <a:alphaModFix/>
          </a:blip>
          <a:stretch>
            <a:fillRect/>
          </a:stretch>
        </p:blipFill>
        <p:spPr>
          <a:xfrm>
            <a:off x="10006069" y="1815443"/>
            <a:ext cx="804911" cy="806915"/>
          </a:xfrm>
          <a:prstGeom prst="rect">
            <a:avLst/>
          </a:prstGeom>
          <a:noFill/>
          <a:ln>
            <a:noFill/>
          </a:ln>
        </p:spPr>
      </p:pic>
      <p:pic>
        <p:nvPicPr>
          <p:cNvPr id="279" name="Google Shape;279;p59"/>
          <p:cNvPicPr preferRelativeResize="0"/>
          <p:nvPr/>
        </p:nvPicPr>
        <p:blipFill>
          <a:blip r:embed="rId7">
            <a:clrChange>
              <a:clrFrom>
                <a:srgbClr val="FFFFFF"/>
              </a:clrFrom>
              <a:clrTo>
                <a:srgbClr val="FFFFFF">
                  <a:alpha val="0"/>
                </a:srgbClr>
              </a:clrTo>
            </a:clrChange>
            <a:alphaModFix/>
          </a:blip>
          <a:stretch>
            <a:fillRect/>
          </a:stretch>
        </p:blipFill>
        <p:spPr>
          <a:xfrm>
            <a:off x="4340021" y="1817196"/>
            <a:ext cx="804908" cy="803408"/>
          </a:xfrm>
          <a:prstGeom prst="rect">
            <a:avLst/>
          </a:prstGeom>
          <a:noFill/>
          <a:ln>
            <a:noFill/>
          </a:ln>
        </p:spPr>
      </p:pic>
      <p:sp>
        <p:nvSpPr>
          <p:cNvPr id="286" name="Google Shape;286;p59"/>
          <p:cNvSpPr txBox="1"/>
          <p:nvPr/>
        </p:nvSpPr>
        <p:spPr>
          <a:xfrm>
            <a:off x="579235" y="458867"/>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 sz="4000" b="1" dirty="0">
                <a:solidFill>
                  <a:srgbClr val="00953A"/>
                </a:solidFill>
                <a:latin typeface="Roboto Condensed"/>
                <a:ea typeface="Roboto Condensed"/>
                <a:cs typeface="Roboto Condensed"/>
                <a:sym typeface="Roboto Condensed"/>
              </a:rPr>
              <a:t>Customer </a:t>
            </a:r>
            <a:r>
              <a:rPr lang="en" sz="4000" b="1" dirty="0">
                <a:solidFill>
                  <a:srgbClr val="026A38"/>
                </a:solidFill>
                <a:latin typeface="Roboto Condensed"/>
                <a:ea typeface="Roboto Condensed"/>
                <a:cs typeface="Roboto Condensed"/>
                <a:sym typeface="Roboto Condensed"/>
              </a:rPr>
              <a:t>Success Stories</a:t>
            </a:r>
            <a:endParaRPr sz="4000" b="1" dirty="0">
              <a:solidFill>
                <a:srgbClr val="026A38"/>
              </a:solidFill>
              <a:latin typeface="Roboto Condensed"/>
              <a:ea typeface="Roboto Condensed"/>
              <a:cs typeface="Roboto Condensed"/>
              <a:sym typeface="Roboto Condensed"/>
            </a:endParaRPr>
          </a:p>
        </p:txBody>
      </p:sp>
      <p:sp>
        <p:nvSpPr>
          <p:cNvPr id="2" name="Text 1">
            <a:extLst>
              <a:ext uri="{FF2B5EF4-FFF2-40B4-BE49-F238E27FC236}">
                <a16:creationId xmlns:a16="http://schemas.microsoft.com/office/drawing/2014/main" id="{6909EB4B-B660-3FB3-B526-638A4FBCB1B6}"/>
              </a:ext>
            </a:extLst>
          </p:cNvPr>
          <p:cNvSpPr/>
          <p:nvPr/>
        </p:nvSpPr>
        <p:spPr>
          <a:xfrm>
            <a:off x="107547" y="2995782"/>
            <a:ext cx="3032760" cy="679133"/>
          </a:xfrm>
          <a:prstGeom prst="rect">
            <a:avLst/>
          </a:prstGeom>
          <a:noFill/>
          <a:ln/>
        </p:spPr>
        <p:txBody>
          <a:bodyPr wrap="square" lIns="0" tIns="0" rIns="0" bIns="0" rtlCol="0" anchor="t"/>
          <a:lstStyle/>
          <a:p>
            <a:pPr algn="ctr">
              <a:lnSpc>
                <a:spcPts val="2500"/>
              </a:lnSpc>
              <a:spcBef>
                <a:spcPts val="1333"/>
              </a:spcBef>
            </a:pPr>
            <a:r>
              <a:rPr lang="en-US" sz="1467" b="1" dirty="0">
                <a:solidFill>
                  <a:srgbClr val="00953A"/>
                </a:solidFill>
                <a:latin typeface="Lato"/>
                <a:ea typeface="Lato"/>
                <a:cs typeface="Lato"/>
              </a:rPr>
              <a:t>Improved Threat Visibility</a:t>
            </a:r>
          </a:p>
        </p:txBody>
      </p:sp>
      <p:sp>
        <p:nvSpPr>
          <p:cNvPr id="3" name="Text 2">
            <a:extLst>
              <a:ext uri="{FF2B5EF4-FFF2-40B4-BE49-F238E27FC236}">
                <a16:creationId xmlns:a16="http://schemas.microsoft.com/office/drawing/2014/main" id="{D53E06EE-B2DF-D4F1-3517-69025B96C36B}"/>
              </a:ext>
            </a:extLst>
          </p:cNvPr>
          <p:cNvSpPr/>
          <p:nvPr/>
        </p:nvSpPr>
        <p:spPr>
          <a:xfrm>
            <a:off x="549485" y="3490446"/>
            <a:ext cx="2570627" cy="1391126"/>
          </a:xfrm>
          <a:prstGeom prst="rect">
            <a:avLst/>
          </a:prstGeom>
          <a:noFill/>
          <a:ln/>
        </p:spPr>
        <p:txBody>
          <a:bodyPr wrap="square" lIns="0" tIns="0" rIns="0" bIns="0" rtlCol="0" anchor="t"/>
          <a:lstStyle/>
          <a:p>
            <a:pPr>
              <a:lnSpc>
                <a:spcPts val="2550"/>
              </a:lnSpc>
            </a:pPr>
            <a:r>
              <a:rPr lang="en-US" sz="1400" dirty="0">
                <a:solidFill>
                  <a:srgbClr val="4C4C4D"/>
                </a:solidFill>
                <a:latin typeface="Heebo" pitchFamily="34" charset="0"/>
                <a:cs typeface="Heebo" pitchFamily="34" charset="-120"/>
              </a:rPr>
              <a:t>Customers have reported significant improvements in threat visibility and detection capabilities.</a:t>
            </a:r>
          </a:p>
        </p:txBody>
      </p:sp>
      <p:sp>
        <p:nvSpPr>
          <p:cNvPr id="4" name="Text 3">
            <a:extLst>
              <a:ext uri="{FF2B5EF4-FFF2-40B4-BE49-F238E27FC236}">
                <a16:creationId xmlns:a16="http://schemas.microsoft.com/office/drawing/2014/main" id="{1C0314C6-2D76-C553-6277-9007A4058CA0}"/>
              </a:ext>
            </a:extLst>
          </p:cNvPr>
          <p:cNvSpPr/>
          <p:nvPr/>
        </p:nvSpPr>
        <p:spPr>
          <a:xfrm>
            <a:off x="2726072" y="2987619"/>
            <a:ext cx="3032760" cy="679133"/>
          </a:xfrm>
          <a:prstGeom prst="rect">
            <a:avLst/>
          </a:prstGeom>
          <a:noFill/>
          <a:ln/>
        </p:spPr>
        <p:txBody>
          <a:bodyPr wrap="square" lIns="0" tIns="0" rIns="0" bIns="0" rtlCol="0" anchor="t"/>
          <a:lstStyle/>
          <a:p>
            <a:pPr indent="0" algn="ctr">
              <a:lnSpc>
                <a:spcPts val="2500"/>
              </a:lnSpc>
              <a:spcBef>
                <a:spcPts val="1333"/>
              </a:spcBef>
              <a:buNone/>
            </a:pPr>
            <a:r>
              <a:rPr lang="en-US" sz="1467" b="1" dirty="0">
                <a:solidFill>
                  <a:srgbClr val="00953A"/>
                </a:solidFill>
                <a:latin typeface="Lato"/>
                <a:ea typeface="Lato"/>
                <a:cs typeface="Lato"/>
              </a:rPr>
              <a:t>Enhanced Security Posture</a:t>
            </a:r>
          </a:p>
        </p:txBody>
      </p:sp>
      <p:sp>
        <p:nvSpPr>
          <p:cNvPr id="5" name="Text 4">
            <a:extLst>
              <a:ext uri="{FF2B5EF4-FFF2-40B4-BE49-F238E27FC236}">
                <a16:creationId xmlns:a16="http://schemas.microsoft.com/office/drawing/2014/main" id="{9AB39AA1-4385-B5E0-FB31-955D0AF2589A}"/>
              </a:ext>
            </a:extLst>
          </p:cNvPr>
          <p:cNvSpPr/>
          <p:nvPr/>
        </p:nvSpPr>
        <p:spPr>
          <a:xfrm>
            <a:off x="3120112" y="3490446"/>
            <a:ext cx="2428670" cy="1391126"/>
          </a:xfrm>
          <a:prstGeom prst="rect">
            <a:avLst/>
          </a:prstGeom>
          <a:noFill/>
          <a:ln/>
        </p:spPr>
        <p:txBody>
          <a:bodyPr wrap="square" lIns="0" tIns="0" rIns="0" bIns="0" rtlCol="0" anchor="t"/>
          <a:lstStyle/>
          <a:p>
            <a:pPr indent="0">
              <a:lnSpc>
                <a:spcPts val="2550"/>
              </a:lnSpc>
              <a:buNone/>
            </a:pPr>
            <a:r>
              <a:rPr lang="en-US" sz="1400" dirty="0">
                <a:solidFill>
                  <a:srgbClr val="4C4C4D"/>
                </a:solidFill>
                <a:latin typeface="Heebo" pitchFamily="34" charset="0"/>
                <a:cs typeface="Heebo" pitchFamily="34" charset="-120"/>
              </a:rPr>
              <a:t>Azure Sentinel has helped customers strengthen their security posture and reduce their risk profile.</a:t>
            </a:r>
          </a:p>
        </p:txBody>
      </p:sp>
      <p:sp>
        <p:nvSpPr>
          <p:cNvPr id="6" name="Text 5">
            <a:extLst>
              <a:ext uri="{FF2B5EF4-FFF2-40B4-BE49-F238E27FC236}">
                <a16:creationId xmlns:a16="http://schemas.microsoft.com/office/drawing/2014/main" id="{1AB97737-A3B9-9205-6C84-FE947F419DFA}"/>
              </a:ext>
            </a:extLst>
          </p:cNvPr>
          <p:cNvSpPr/>
          <p:nvPr/>
        </p:nvSpPr>
        <p:spPr>
          <a:xfrm>
            <a:off x="5942822" y="2985865"/>
            <a:ext cx="3032760" cy="679133"/>
          </a:xfrm>
          <a:prstGeom prst="rect">
            <a:avLst/>
          </a:prstGeom>
          <a:noFill/>
          <a:ln/>
        </p:spPr>
        <p:txBody>
          <a:bodyPr wrap="square" lIns="0" tIns="0" rIns="0" bIns="0" rtlCol="0" anchor="t"/>
          <a:lstStyle/>
          <a:p>
            <a:pPr algn="ctr">
              <a:lnSpc>
                <a:spcPts val="2500"/>
              </a:lnSpc>
              <a:spcBef>
                <a:spcPts val="1333"/>
              </a:spcBef>
            </a:pPr>
            <a:r>
              <a:rPr lang="en-US" sz="1467" b="1" dirty="0">
                <a:solidFill>
                  <a:srgbClr val="00953A"/>
                </a:solidFill>
                <a:latin typeface="Lato"/>
                <a:ea typeface="Lato"/>
                <a:cs typeface="Lato"/>
              </a:rPr>
              <a:t>Streamlined Incident Response</a:t>
            </a:r>
          </a:p>
        </p:txBody>
      </p:sp>
      <p:sp>
        <p:nvSpPr>
          <p:cNvPr id="7" name="Text 6">
            <a:extLst>
              <a:ext uri="{FF2B5EF4-FFF2-40B4-BE49-F238E27FC236}">
                <a16:creationId xmlns:a16="http://schemas.microsoft.com/office/drawing/2014/main" id="{0B29DC05-EDA9-4092-0EB6-5C33130DEF60}"/>
              </a:ext>
            </a:extLst>
          </p:cNvPr>
          <p:cNvSpPr/>
          <p:nvPr/>
        </p:nvSpPr>
        <p:spPr>
          <a:xfrm>
            <a:off x="6152872" y="3429000"/>
            <a:ext cx="2650743" cy="1391126"/>
          </a:xfrm>
          <a:prstGeom prst="rect">
            <a:avLst/>
          </a:prstGeom>
          <a:noFill/>
          <a:ln/>
        </p:spPr>
        <p:txBody>
          <a:bodyPr wrap="square" lIns="0" tIns="0" rIns="0" bIns="0" rtlCol="0" anchor="t"/>
          <a:lstStyle/>
          <a:p>
            <a:pPr marL="0" indent="0" algn="l">
              <a:lnSpc>
                <a:spcPts val="2700"/>
              </a:lnSpc>
              <a:buNone/>
            </a:pPr>
            <a:r>
              <a:rPr lang="en-US" sz="1400" dirty="0">
                <a:solidFill>
                  <a:srgbClr val="4C4C4D"/>
                </a:solidFill>
                <a:latin typeface="Heebo" pitchFamily="34" charset="0"/>
                <a:cs typeface="Heebo" pitchFamily="34" charset="-120"/>
              </a:rPr>
              <a:t>Customers have experienced faster and more efficient incident response processes</a:t>
            </a:r>
            <a:r>
              <a:rPr lang="en-US" sz="1700" dirty="0">
                <a:solidFill>
                  <a:srgbClr val="FF0000"/>
                </a:solidFill>
                <a:latin typeface="Epilogue" pitchFamily="34" charset="0"/>
                <a:ea typeface="Epilogue" pitchFamily="34" charset="-122"/>
                <a:cs typeface="Epilogue" pitchFamily="34" charset="-120"/>
              </a:rPr>
              <a:t>.</a:t>
            </a:r>
            <a:endParaRPr lang="en-US" sz="1700" dirty="0">
              <a:solidFill>
                <a:srgbClr val="FF0000"/>
              </a:solidFill>
            </a:endParaRPr>
          </a:p>
        </p:txBody>
      </p:sp>
      <p:sp>
        <p:nvSpPr>
          <p:cNvPr id="8" name="Text 7">
            <a:extLst>
              <a:ext uri="{FF2B5EF4-FFF2-40B4-BE49-F238E27FC236}">
                <a16:creationId xmlns:a16="http://schemas.microsoft.com/office/drawing/2014/main" id="{4BD5C64E-1727-1A79-6ACC-385EE5737F6D}"/>
              </a:ext>
            </a:extLst>
          </p:cNvPr>
          <p:cNvSpPr/>
          <p:nvPr/>
        </p:nvSpPr>
        <p:spPr>
          <a:xfrm>
            <a:off x="8802665" y="2987619"/>
            <a:ext cx="2997637" cy="339566"/>
          </a:xfrm>
          <a:prstGeom prst="rect">
            <a:avLst/>
          </a:prstGeom>
          <a:noFill/>
          <a:ln/>
        </p:spPr>
        <p:txBody>
          <a:bodyPr wrap="none" lIns="0" tIns="0" rIns="0" bIns="0" rtlCol="0" anchor="t"/>
          <a:lstStyle/>
          <a:p>
            <a:pPr indent="0" algn="ctr">
              <a:lnSpc>
                <a:spcPts val="2500"/>
              </a:lnSpc>
              <a:spcBef>
                <a:spcPts val="1333"/>
              </a:spcBef>
              <a:buNone/>
            </a:pPr>
            <a:r>
              <a:rPr lang="en-US" sz="1467" b="1" dirty="0">
                <a:solidFill>
                  <a:srgbClr val="00953A"/>
                </a:solidFill>
                <a:latin typeface="Lato"/>
                <a:ea typeface="Lato"/>
                <a:cs typeface="Lato"/>
              </a:rPr>
              <a:t>Increased Security ROI</a:t>
            </a:r>
          </a:p>
        </p:txBody>
      </p:sp>
      <p:sp>
        <p:nvSpPr>
          <p:cNvPr id="9" name="Text 8">
            <a:extLst>
              <a:ext uri="{FF2B5EF4-FFF2-40B4-BE49-F238E27FC236}">
                <a16:creationId xmlns:a16="http://schemas.microsoft.com/office/drawing/2014/main" id="{B930B70B-50DD-1179-0BBD-851874BD5F77}"/>
              </a:ext>
            </a:extLst>
          </p:cNvPr>
          <p:cNvSpPr/>
          <p:nvPr/>
        </p:nvSpPr>
        <p:spPr>
          <a:xfrm>
            <a:off x="9294600" y="3429000"/>
            <a:ext cx="2428670" cy="1738908"/>
          </a:xfrm>
          <a:prstGeom prst="rect">
            <a:avLst/>
          </a:prstGeom>
          <a:noFill/>
          <a:ln/>
        </p:spPr>
        <p:txBody>
          <a:bodyPr wrap="square" lIns="0" tIns="0" rIns="0" bIns="0" rtlCol="0" anchor="t"/>
          <a:lstStyle/>
          <a:p>
            <a:pPr marL="0" indent="0" algn="l">
              <a:lnSpc>
                <a:spcPts val="2700"/>
              </a:lnSpc>
              <a:buNone/>
            </a:pPr>
            <a:r>
              <a:rPr lang="en-US" sz="1400" dirty="0">
                <a:solidFill>
                  <a:srgbClr val="4C4C4D"/>
                </a:solidFill>
                <a:latin typeface="Heebo" pitchFamily="34" charset="0"/>
                <a:cs typeface="Heebo" pitchFamily="34" charset="-120"/>
              </a:rPr>
              <a:t>Customers have achieved a positive return on investment through improved security and reduced security costs.</a:t>
            </a:r>
          </a:p>
        </p:txBody>
      </p:sp>
    </p:spTree>
    <p:extLst>
      <p:ext uri="{BB962C8B-B14F-4D97-AF65-F5344CB8AC3E}">
        <p14:creationId xmlns:p14="http://schemas.microsoft.com/office/powerpoint/2010/main" val="1097279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F674A711-CA74-A4CD-9EFC-973AFBF1F9F6}"/>
              </a:ext>
            </a:extLst>
          </p:cNvPr>
          <p:cNvPicPr>
            <a:picLocks noGrp="1" noChangeAspect="1"/>
          </p:cNvPicPr>
          <p:nvPr>
            <p:ph type="pic" sz="quarter" idx="10"/>
          </p:nvPr>
        </p:nvPicPr>
        <p:blipFill>
          <a:blip r:embed="rId3"/>
          <a:srcRect l="16832" r="16832"/>
          <a:stretch>
            <a:fillRect/>
          </a:stretch>
        </p:blipFill>
        <p:spPr/>
      </p:pic>
      <p:sp>
        <p:nvSpPr>
          <p:cNvPr id="3" name="Freeform 13"/>
          <p:cNvSpPr>
            <a:spLocks/>
          </p:cNvSpPr>
          <p:nvPr/>
        </p:nvSpPr>
        <p:spPr bwMode="auto">
          <a:xfrm>
            <a:off x="0" y="0"/>
            <a:ext cx="6455902" cy="6858000"/>
          </a:xfrm>
          <a:custGeom>
            <a:avLst/>
            <a:gdLst>
              <a:gd name="T0" fmla="*/ 0 w 305"/>
              <a:gd name="T1" fmla="*/ 324 h 324"/>
              <a:gd name="T2" fmla="*/ 251 w 305"/>
              <a:gd name="T3" fmla="*/ 324 h 324"/>
              <a:gd name="T4" fmla="*/ 305 w 305"/>
              <a:gd name="T5" fmla="*/ 168 h 324"/>
              <a:gd name="T6" fmla="*/ 305 w 305"/>
              <a:gd name="T7" fmla="*/ 156 h 324"/>
              <a:gd name="T8" fmla="*/ 251 w 305"/>
              <a:gd name="T9" fmla="*/ 0 h 324"/>
              <a:gd name="T10" fmla="*/ 0 w 305"/>
              <a:gd name="T11" fmla="*/ 0 h 324"/>
              <a:gd name="T12" fmla="*/ 0 w 305"/>
              <a:gd name="T13" fmla="*/ 324 h 324"/>
            </a:gdLst>
            <a:ahLst/>
            <a:cxnLst>
              <a:cxn ang="0">
                <a:pos x="T0" y="T1"/>
              </a:cxn>
              <a:cxn ang="0">
                <a:pos x="T2" y="T3"/>
              </a:cxn>
              <a:cxn ang="0">
                <a:pos x="T4" y="T5"/>
              </a:cxn>
              <a:cxn ang="0">
                <a:pos x="T6" y="T7"/>
              </a:cxn>
              <a:cxn ang="0">
                <a:pos x="T8" y="T9"/>
              </a:cxn>
              <a:cxn ang="0">
                <a:pos x="T10" y="T11"/>
              </a:cxn>
              <a:cxn ang="0">
                <a:pos x="T12" y="T13"/>
              </a:cxn>
            </a:cxnLst>
            <a:rect l="0" t="0" r="r" b="b"/>
            <a:pathLst>
              <a:path w="305" h="324">
                <a:moveTo>
                  <a:pt x="0" y="324"/>
                </a:moveTo>
                <a:cubicBezTo>
                  <a:pt x="251" y="324"/>
                  <a:pt x="251" y="324"/>
                  <a:pt x="251" y="324"/>
                </a:cubicBezTo>
                <a:cubicBezTo>
                  <a:pt x="285" y="281"/>
                  <a:pt x="305" y="227"/>
                  <a:pt x="305" y="168"/>
                </a:cubicBezTo>
                <a:cubicBezTo>
                  <a:pt x="305" y="156"/>
                  <a:pt x="305" y="156"/>
                  <a:pt x="305" y="156"/>
                </a:cubicBezTo>
                <a:cubicBezTo>
                  <a:pt x="305" y="97"/>
                  <a:pt x="285" y="43"/>
                  <a:pt x="251" y="0"/>
                </a:cubicBezTo>
                <a:cubicBezTo>
                  <a:pt x="0" y="0"/>
                  <a:pt x="0" y="0"/>
                  <a:pt x="0" y="0"/>
                </a:cubicBezTo>
                <a:lnTo>
                  <a:pt x="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latin typeface="Calibri"/>
            </a:endParaRPr>
          </a:p>
        </p:txBody>
      </p:sp>
      <p:sp>
        <p:nvSpPr>
          <p:cNvPr id="5" name="TextBox 4"/>
          <p:cNvSpPr txBox="1"/>
          <p:nvPr/>
        </p:nvSpPr>
        <p:spPr>
          <a:xfrm>
            <a:off x="731413" y="3185858"/>
            <a:ext cx="4993075" cy="1917897"/>
          </a:xfrm>
          <a:prstGeom prst="rect">
            <a:avLst/>
          </a:prstGeom>
          <a:noFill/>
        </p:spPr>
        <p:txBody>
          <a:bodyPr wrap="square" rtlCol="0" anchor="t">
            <a:spAutoFit/>
          </a:bodyPr>
          <a:lstStyle/>
          <a:p>
            <a:pPr marL="0" indent="0">
              <a:lnSpc>
                <a:spcPts val="2850"/>
              </a:lnSpc>
              <a:buNone/>
            </a:pPr>
            <a:r>
              <a:rPr lang="en-US" i="1" dirty="0">
                <a:solidFill>
                  <a:srgbClr val="3B4E4E"/>
                </a:solidFill>
                <a:latin typeface="Overpass" pitchFamily="34" charset="0"/>
                <a:ea typeface="Overpass" pitchFamily="34" charset="-122"/>
              </a:rPr>
              <a:t>Microsoft Copilot for Security (Copilot for Security) is a generative AI-powered security solution that helps increase the efficiency and capabilities of defenders to improve security outcomes at machine speed and scale</a:t>
            </a:r>
          </a:p>
        </p:txBody>
      </p:sp>
      <p:sp>
        <p:nvSpPr>
          <p:cNvPr id="7" name="TextBox 6"/>
          <p:cNvSpPr txBox="1"/>
          <p:nvPr/>
        </p:nvSpPr>
        <p:spPr>
          <a:xfrm>
            <a:off x="584146" y="1242377"/>
            <a:ext cx="4490828" cy="1943481"/>
          </a:xfrm>
          <a:prstGeom prst="rect">
            <a:avLst/>
          </a:prstGeom>
          <a:noFill/>
        </p:spPr>
        <p:txBody>
          <a:bodyPr wrap="square" rtlCol="0" anchor="ctr">
            <a:spAutoFit/>
          </a:bodyPr>
          <a:lstStyle/>
          <a:p>
            <a:pPr algn="ctr">
              <a:lnSpc>
                <a:spcPts val="7700"/>
              </a:lnSpc>
            </a:pPr>
            <a:r>
              <a:rPr lang="en-US" sz="3200" dirty="0">
                <a:ln w="0"/>
                <a:solidFill>
                  <a:schemeClr val="accent3"/>
                </a:solidFill>
                <a:effectLst>
                  <a:reflection blurRad="6350" stA="53000" endA="300" endPos="35500" dir="5400000" sy="-90000" algn="bl" rotWithShape="0"/>
                </a:effectLst>
                <a:latin typeface="Congenial Black" panose="020F0502020204030204" pitchFamily="2" charset="0"/>
              </a:rPr>
              <a:t>MICROSOFT COPILOT FOR SECURITY</a:t>
            </a:r>
          </a:p>
        </p:txBody>
      </p:sp>
      <p:pic>
        <p:nvPicPr>
          <p:cNvPr id="4" name="Google Shape;194;p55">
            <a:extLst>
              <a:ext uri="{FF2B5EF4-FFF2-40B4-BE49-F238E27FC236}">
                <a16:creationId xmlns:a16="http://schemas.microsoft.com/office/drawing/2014/main" id="{B632E544-6244-6207-752B-ADEEC66015A8}"/>
              </a:ext>
            </a:extLst>
          </p:cNvPr>
          <p:cNvPicPr preferRelativeResize="0"/>
          <p:nvPr/>
        </p:nvPicPr>
        <p:blipFill>
          <a:blip r:embed="rId4">
            <a:alphaModFix/>
          </a:blip>
          <a:stretch>
            <a:fillRect/>
          </a:stretch>
        </p:blipFill>
        <p:spPr>
          <a:xfrm>
            <a:off x="270705" y="181178"/>
            <a:ext cx="2635055" cy="611302"/>
          </a:xfrm>
          <a:prstGeom prst="rect">
            <a:avLst/>
          </a:prstGeom>
          <a:noFill/>
          <a:ln>
            <a:noFill/>
          </a:ln>
        </p:spPr>
      </p:pic>
      <p:sp>
        <p:nvSpPr>
          <p:cNvPr id="24" name="Google Shape;196;p55">
            <a:extLst>
              <a:ext uri="{FF2B5EF4-FFF2-40B4-BE49-F238E27FC236}">
                <a16:creationId xmlns:a16="http://schemas.microsoft.com/office/drawing/2014/main" id="{F44F8E55-E8DB-E932-AB95-47844A24D58F}"/>
              </a:ext>
            </a:extLst>
          </p:cNvPr>
          <p:cNvSpPr/>
          <p:nvPr/>
        </p:nvSpPr>
        <p:spPr>
          <a:xfrm>
            <a:off x="731413" y="5847612"/>
            <a:ext cx="3528000" cy="88400"/>
          </a:xfrm>
          <a:prstGeom prst="roundRect">
            <a:avLst>
              <a:gd name="adj" fmla="val 50000"/>
            </a:avLst>
          </a:prstGeom>
          <a:gradFill>
            <a:gsLst>
              <a:gs pos="0">
                <a:srgbClr val="016938"/>
              </a:gs>
              <a:gs pos="100000">
                <a:srgbClr val="6CBF4A"/>
              </a:gs>
            </a:gsLst>
            <a:lin ang="2700006" scaled="0"/>
          </a:gradFill>
          <a:ln>
            <a:noFill/>
          </a:ln>
          <a:effectLst>
            <a:outerShdw blurRad="200025" dist="19050" dir="5400000" algn="bl" rotWithShape="0">
              <a:srgbClr val="000000">
                <a:alpha val="20000"/>
              </a:srgbClr>
            </a:outerShdw>
          </a:effectLst>
        </p:spPr>
        <p:txBody>
          <a:bodyPr spcFirstLastPara="1" wrap="square" lIns="91433" tIns="45700" rIns="91433" bIns="45700" anchor="ctr" anchorCtr="0">
            <a:noAutofit/>
          </a:bodyPr>
          <a:lstStyle/>
          <a:p>
            <a:pPr algn="ctr">
              <a:buSzPts val="1400"/>
            </a:pPr>
            <a:endParaRPr sz="1867">
              <a:solidFill>
                <a:srgbClr val="FFFFFF"/>
              </a:solidFill>
              <a:latin typeface="Open Sans"/>
              <a:ea typeface="Open Sans"/>
              <a:cs typeface="Open Sans"/>
              <a:sym typeface="Open Sans"/>
            </a:endParaRPr>
          </a:p>
        </p:txBody>
      </p:sp>
    </p:spTree>
    <p:extLst>
      <p:ext uri="{BB962C8B-B14F-4D97-AF65-F5344CB8AC3E}">
        <p14:creationId xmlns:p14="http://schemas.microsoft.com/office/powerpoint/2010/main" val="1384664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BD45AE71-D30F-F69E-B4AB-F856869F93CF}"/>
              </a:ext>
            </a:extLst>
          </p:cNvPr>
          <p:cNvSpPr/>
          <p:nvPr/>
        </p:nvSpPr>
        <p:spPr>
          <a:xfrm>
            <a:off x="7365818" y="5736990"/>
            <a:ext cx="2751748" cy="1169551"/>
          </a:xfrm>
          <a:prstGeom prst="rect">
            <a:avLst/>
          </a:prstGeom>
        </p:spPr>
        <p:txBody>
          <a:bodyPr wrap="square">
            <a:spAutoFit/>
          </a:bodyPr>
          <a:lstStyle/>
          <a:p>
            <a:pPr marL="171450" indent="-171450">
              <a:buSzPct val="100000"/>
              <a:buFont typeface="Arial" panose="020B0604020202020204" pitchFamily="34" charset="0"/>
              <a:buChar char="•"/>
            </a:pPr>
            <a:r>
              <a:rPr lang="en-US" sz="1100" dirty="0">
                <a:solidFill>
                  <a:schemeClr val="bg1"/>
                </a:solidFill>
                <a:latin typeface="Overpass" pitchFamily="34" charset="0"/>
              </a:rPr>
              <a:t>Improved efficiency</a:t>
            </a:r>
          </a:p>
          <a:p>
            <a:pPr marL="171450" indent="-171450" fontAlgn="base">
              <a:spcBef>
                <a:spcPts val="200"/>
              </a:spcBef>
              <a:spcAft>
                <a:spcPts val="600"/>
              </a:spcAft>
              <a:buClr>
                <a:prstClr val="white"/>
              </a:buClr>
              <a:buSzPct val="100000"/>
              <a:buFont typeface="Arial" panose="020B0604020202020204" pitchFamily="34" charset="0"/>
              <a:buChar char="•"/>
              <a:defRPr/>
            </a:pPr>
            <a:r>
              <a:rPr lang="en-US" sz="1100" dirty="0">
                <a:solidFill>
                  <a:schemeClr val="bg1"/>
                </a:solidFill>
                <a:latin typeface="Overpass" pitchFamily="34" charset="0"/>
              </a:rPr>
              <a:t>Consistent brand messaging</a:t>
            </a:r>
          </a:p>
          <a:p>
            <a:pPr marL="171450" indent="-171450">
              <a:buSzPct val="100000"/>
              <a:buFont typeface="Arial" panose="020B0604020202020204" pitchFamily="34" charset="0"/>
              <a:buChar char="•"/>
            </a:pPr>
            <a:r>
              <a:rPr lang="en-US" sz="1100" dirty="0">
                <a:solidFill>
                  <a:schemeClr val="bg1"/>
                </a:solidFill>
                <a:latin typeface="Overpass" pitchFamily="34" charset="0"/>
              </a:rPr>
              <a:t>Reduced errors</a:t>
            </a:r>
          </a:p>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endParaRPr lang="en-US" altLang="en-US" sz="1100" b="1" kern="1200" dirty="0">
              <a:solidFill>
                <a:prstClr val="white"/>
              </a:solidFill>
              <a:latin typeface="+mj-lt"/>
              <a:ea typeface="Microsoft JhengHei" panose="020B0604030504040204" pitchFamily="34" charset="-120"/>
              <a:cs typeface="Arial" panose="020B0604020202020204" pitchFamily="34" charset="0"/>
            </a:endParaRPr>
          </a:p>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endParaRPr kumimoji="0" lang="en-US" altLang="en-US" sz="11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endParaRPr>
          </a:p>
        </p:txBody>
      </p:sp>
      <p:sp>
        <p:nvSpPr>
          <p:cNvPr id="7" name="Google Shape;286;p59">
            <a:extLst>
              <a:ext uri="{FF2B5EF4-FFF2-40B4-BE49-F238E27FC236}">
                <a16:creationId xmlns:a16="http://schemas.microsoft.com/office/drawing/2014/main" id="{3C4758F0-71EC-DA12-CD28-C7958314BF8D}"/>
              </a:ext>
            </a:extLst>
          </p:cNvPr>
          <p:cNvSpPr txBox="1"/>
          <p:nvPr/>
        </p:nvSpPr>
        <p:spPr>
          <a:xfrm>
            <a:off x="348302" y="273309"/>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IN" sz="4000" b="1" dirty="0">
                <a:solidFill>
                  <a:srgbClr val="026A38"/>
                </a:solidFill>
                <a:latin typeface="Roboto Condensed"/>
                <a:ea typeface="Roboto Condensed"/>
                <a:cs typeface="Roboto Condensed"/>
                <a:sym typeface="Roboto Condensed"/>
              </a:rPr>
              <a:t>How it Works ?</a:t>
            </a:r>
          </a:p>
        </p:txBody>
      </p:sp>
      <p:pic>
        <p:nvPicPr>
          <p:cNvPr id="5" name="Picture 4">
            <a:extLst>
              <a:ext uri="{FF2B5EF4-FFF2-40B4-BE49-F238E27FC236}">
                <a16:creationId xmlns:a16="http://schemas.microsoft.com/office/drawing/2014/main" id="{988FE086-D5B8-627B-FEDC-A95F0DB7939F}"/>
              </a:ext>
            </a:extLst>
          </p:cNvPr>
          <p:cNvPicPr>
            <a:picLocks noChangeAspect="1"/>
          </p:cNvPicPr>
          <p:nvPr/>
        </p:nvPicPr>
        <p:blipFill>
          <a:blip r:embed="rId3"/>
          <a:stretch>
            <a:fillRect/>
          </a:stretch>
        </p:blipFill>
        <p:spPr>
          <a:xfrm>
            <a:off x="927061" y="981155"/>
            <a:ext cx="10337877" cy="5787444"/>
          </a:xfrm>
          <a:prstGeom prst="rect">
            <a:avLst/>
          </a:prstGeom>
        </p:spPr>
      </p:pic>
    </p:spTree>
    <p:extLst>
      <p:ext uri="{BB962C8B-B14F-4D97-AF65-F5344CB8AC3E}">
        <p14:creationId xmlns:p14="http://schemas.microsoft.com/office/powerpoint/2010/main" val="1994559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737693F8-E83B-EE09-EC1B-4AE06CA9B759}"/>
            </a:ext>
          </a:extLst>
        </p:cNvPr>
        <p:cNvGrpSpPr/>
        <p:nvPr/>
      </p:nvGrpSpPr>
      <p:grpSpPr>
        <a:xfrm>
          <a:off x="0" y="0"/>
          <a:ext cx="0" cy="0"/>
          <a:chOff x="0" y="0"/>
          <a:chExt cx="0" cy="0"/>
        </a:xfrm>
      </p:grpSpPr>
      <p:pic>
        <p:nvPicPr>
          <p:cNvPr id="270" name="Google Shape;270;p59">
            <a:extLst>
              <a:ext uri="{FF2B5EF4-FFF2-40B4-BE49-F238E27FC236}">
                <a16:creationId xmlns:a16="http://schemas.microsoft.com/office/drawing/2014/main" id="{FE6563D3-5350-E747-69FD-6FBF6F9591C7}"/>
              </a:ext>
            </a:extLst>
          </p:cNvPr>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sp>
        <p:nvSpPr>
          <p:cNvPr id="286" name="Google Shape;286;p59">
            <a:extLst>
              <a:ext uri="{FF2B5EF4-FFF2-40B4-BE49-F238E27FC236}">
                <a16:creationId xmlns:a16="http://schemas.microsoft.com/office/drawing/2014/main" id="{2D2EC176-8BF6-EDA3-0A94-25A189655F40}"/>
              </a:ext>
            </a:extLst>
          </p:cNvPr>
          <p:cNvSpPr txBox="1"/>
          <p:nvPr/>
        </p:nvSpPr>
        <p:spPr>
          <a:xfrm>
            <a:off x="0" y="458867"/>
            <a:ext cx="12192000" cy="853527"/>
          </a:xfrm>
          <a:prstGeom prst="rect">
            <a:avLst/>
          </a:prstGeom>
          <a:noFill/>
          <a:ln>
            <a:noFill/>
          </a:ln>
        </p:spPr>
        <p:txBody>
          <a:bodyPr spcFirstLastPara="1" wrap="square" lIns="91433" tIns="45700" rIns="91433" bIns="45700" anchor="t" anchorCtr="0">
            <a:spAutoFit/>
          </a:bodyPr>
          <a:lstStyle/>
          <a:p>
            <a:pPr algn="ctr">
              <a:lnSpc>
                <a:spcPct val="107000"/>
              </a:lnSpc>
              <a:spcAft>
                <a:spcPts val="800"/>
              </a:spcAft>
              <a:buClr>
                <a:schemeClr val="dk1"/>
              </a:buClr>
              <a:buSzPts val="1100"/>
            </a:pPr>
            <a:r>
              <a:rPr lang="en-US" sz="4000" b="1" dirty="0">
                <a:solidFill>
                  <a:srgbClr val="00953A"/>
                </a:solidFill>
                <a:latin typeface="Roboto Condensed"/>
                <a:ea typeface="Roboto Condensed"/>
                <a:cs typeface="Roboto Condensed"/>
              </a:rPr>
              <a:t>Redington Azure Security Premier League (RASPL) </a:t>
            </a:r>
            <a:endParaRPr lang="en-IN" sz="4000" b="1" dirty="0">
              <a:solidFill>
                <a:srgbClr val="00953A"/>
              </a:solidFill>
              <a:latin typeface="Roboto Condensed"/>
              <a:ea typeface="Roboto Condensed"/>
              <a:cs typeface="Roboto Condensed"/>
            </a:endParaRPr>
          </a:p>
        </p:txBody>
      </p:sp>
      <p:sp>
        <p:nvSpPr>
          <p:cNvPr id="11" name="TextBox 10">
            <a:extLst>
              <a:ext uri="{FF2B5EF4-FFF2-40B4-BE49-F238E27FC236}">
                <a16:creationId xmlns:a16="http://schemas.microsoft.com/office/drawing/2014/main" id="{C71DE50D-04C3-A8DC-2FF5-0E00FA6E847B}"/>
              </a:ext>
            </a:extLst>
          </p:cNvPr>
          <p:cNvSpPr txBox="1"/>
          <p:nvPr/>
        </p:nvSpPr>
        <p:spPr>
          <a:xfrm>
            <a:off x="884580" y="1119046"/>
            <a:ext cx="7103166" cy="3489930"/>
          </a:xfrm>
          <a:prstGeom prst="rect">
            <a:avLst/>
          </a:prstGeom>
          <a:noFill/>
        </p:spPr>
        <p:txBody>
          <a:bodyPr wrap="square">
            <a:spAutoFit/>
          </a:bodyPr>
          <a:lstStyle/>
          <a:p>
            <a:pPr>
              <a:lnSpc>
                <a:spcPct val="107000"/>
              </a:lnSpc>
              <a:spcAft>
                <a:spcPts val="800"/>
              </a:spcAft>
            </a:pPr>
            <a:r>
              <a:rPr lang="en-US" sz="1800" u="sng" kern="100" dirty="0">
                <a:effectLst/>
                <a:latin typeface="Calibri" panose="020F0502020204030204" pitchFamily="34" charset="0"/>
                <a:ea typeface="Calibri" panose="020F0502020204030204" pitchFamily="34" charset="0"/>
                <a:cs typeface="Times New Roman" panose="02020603050405020304" pitchFamily="18" charset="0"/>
              </a:rPr>
              <a:t>Categories: -</a:t>
            </a:r>
            <a:endParaRPr lang="en-IN" sz="1800" u="sng"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Max Number of Opportunity Generated * -- Fresh sales ID required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Max revenue generated * -- Valid PO submitted to Redington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Number of launches* – Valid PO submitted to Redington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Opportunity Generated – Slab Mentioned Below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Launches – Slab Mentioned Below </a:t>
            </a:r>
          </a:p>
          <a:p>
            <a:pPr lvl="0">
              <a:lnSpc>
                <a:spcPct val="107000"/>
              </a:lnSpc>
              <a:spcAft>
                <a:spcPts val="800"/>
              </a:spcAft>
            </a:pPr>
            <a:r>
              <a:rPr lang="en-US" sz="1800" u="sng" dirty="0">
                <a:effectLst/>
                <a:latin typeface="Calibri" panose="020F0502020204030204" pitchFamily="34" charset="0"/>
                <a:ea typeface="Calibri" panose="020F0502020204030204" pitchFamily="34" charset="0"/>
                <a:cs typeface="Times New Roman" panose="02020603050405020304" pitchFamily="18" charset="0"/>
              </a:rPr>
              <a:t>Qualifying Criteria: -  (1, 2, 3)</a:t>
            </a:r>
          </a:p>
          <a:p>
            <a:pPr>
              <a:lnSpc>
                <a:spcPct val="107000"/>
              </a:lnSpc>
              <a:spcAft>
                <a:spcPts val="800"/>
              </a:spcAft>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Minimum Qualification criteria is 12 unique customers, or Value should be more than 10k.</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IN" u="sng" kern="100" dirty="0">
              <a:latin typeface="Calibri" panose="020F0502020204030204" pitchFamily="34" charset="0"/>
              <a:ea typeface="Calibri" panose="020F0502020204030204" pitchFamily="34" charset="0"/>
              <a:cs typeface="Times New Roman" panose="02020603050405020304" pitchFamily="18" charset="0"/>
            </a:endParaRPr>
          </a:p>
          <a:p>
            <a:pPr lvl="0">
              <a:lnSpc>
                <a:spcPct val="107000"/>
              </a:lnSpc>
              <a:spcAft>
                <a:spcPts val="800"/>
              </a:spcAft>
            </a:pPr>
            <a:endParaRPr lang="en-US" kern="100"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9266EA19-B38C-1743-AAB4-28311DF50532}"/>
              </a:ext>
            </a:extLst>
          </p:cNvPr>
          <p:cNvGraphicFramePr>
            <a:graphicFrameLocks noGrp="1"/>
          </p:cNvGraphicFramePr>
          <p:nvPr>
            <p:extLst>
              <p:ext uri="{D42A27DB-BD31-4B8C-83A1-F6EECF244321}">
                <p14:modId xmlns:p14="http://schemas.microsoft.com/office/powerpoint/2010/main" val="2015675103"/>
              </p:ext>
            </p:extLst>
          </p:nvPr>
        </p:nvGraphicFramePr>
        <p:xfrm>
          <a:off x="884580" y="4143177"/>
          <a:ext cx="6659220" cy="1941979"/>
        </p:xfrm>
        <a:graphic>
          <a:graphicData uri="http://schemas.openxmlformats.org/drawingml/2006/table">
            <a:tbl>
              <a:tblPr firstRow="1" firstCol="1" bandRow="1">
                <a:tableStyleId>{5C22544A-7EE6-4342-B048-85BDC9FD1C3A}</a:tableStyleId>
              </a:tblPr>
              <a:tblGrid>
                <a:gridCol w="1115637">
                  <a:extLst>
                    <a:ext uri="{9D8B030D-6E8A-4147-A177-3AD203B41FA5}">
                      <a16:colId xmlns:a16="http://schemas.microsoft.com/office/drawing/2014/main" val="31195246"/>
                    </a:ext>
                  </a:extLst>
                </a:gridCol>
                <a:gridCol w="868773">
                  <a:extLst>
                    <a:ext uri="{9D8B030D-6E8A-4147-A177-3AD203B41FA5}">
                      <a16:colId xmlns:a16="http://schemas.microsoft.com/office/drawing/2014/main" val="3332863645"/>
                    </a:ext>
                  </a:extLst>
                </a:gridCol>
                <a:gridCol w="788609">
                  <a:extLst>
                    <a:ext uri="{9D8B030D-6E8A-4147-A177-3AD203B41FA5}">
                      <a16:colId xmlns:a16="http://schemas.microsoft.com/office/drawing/2014/main" val="1835841461"/>
                    </a:ext>
                  </a:extLst>
                </a:gridCol>
                <a:gridCol w="765313">
                  <a:extLst>
                    <a:ext uri="{9D8B030D-6E8A-4147-A177-3AD203B41FA5}">
                      <a16:colId xmlns:a16="http://schemas.microsoft.com/office/drawing/2014/main" val="3685908470"/>
                    </a:ext>
                  </a:extLst>
                </a:gridCol>
                <a:gridCol w="1155561">
                  <a:extLst>
                    <a:ext uri="{9D8B030D-6E8A-4147-A177-3AD203B41FA5}">
                      <a16:colId xmlns:a16="http://schemas.microsoft.com/office/drawing/2014/main" val="2256706833"/>
                    </a:ext>
                  </a:extLst>
                </a:gridCol>
                <a:gridCol w="1965327">
                  <a:extLst>
                    <a:ext uri="{9D8B030D-6E8A-4147-A177-3AD203B41FA5}">
                      <a16:colId xmlns:a16="http://schemas.microsoft.com/office/drawing/2014/main" val="3428676091"/>
                    </a:ext>
                  </a:extLst>
                </a:gridCol>
              </a:tblGrid>
              <a:tr h="481028">
                <a:tc>
                  <a:txBody>
                    <a:bodyPr/>
                    <a:lstStyle/>
                    <a:p>
                      <a:pPr>
                        <a:lnSpc>
                          <a:spcPct val="107000"/>
                        </a:lnSpc>
                      </a:pPr>
                      <a:endParaRPr lang="en-IN" sz="1400" kern="100" dirty="0">
                        <a:effectLst/>
                        <a:latin typeface="+mj-lt"/>
                        <a:cs typeface="Times New Roman" panose="02020603050405020304" pitchFamily="18" charset="0"/>
                      </a:endParaRPr>
                    </a:p>
                  </a:txBody>
                  <a:tcPr marL="66854" marR="66854" marT="0" marB="0" anchor="b"/>
                </a:tc>
                <a:tc>
                  <a:txBody>
                    <a:bodyPr/>
                    <a:lstStyle/>
                    <a:p>
                      <a:pPr algn="ctr">
                        <a:lnSpc>
                          <a:spcPct val="107000"/>
                        </a:lnSpc>
                        <a:spcAft>
                          <a:spcPts val="800"/>
                        </a:spcAft>
                      </a:pPr>
                      <a:r>
                        <a:rPr lang="en-IN" sz="1400" kern="0" dirty="0">
                          <a:effectLst/>
                          <a:latin typeface="+mj-lt"/>
                        </a:rPr>
                        <a:t>Defender</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1400" kern="0" dirty="0">
                          <a:effectLst/>
                          <a:latin typeface="+mj-lt"/>
                        </a:rPr>
                        <a:t>Sentinel</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1400" kern="0" dirty="0">
                          <a:effectLst/>
                          <a:latin typeface="+mj-lt"/>
                        </a:rPr>
                        <a:t>Copilot</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1400" kern="0" dirty="0">
                          <a:effectLst/>
                          <a:latin typeface="+mj-lt"/>
                        </a:rPr>
                        <a:t>Defender + Sentinel</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1400" kern="0" dirty="0">
                          <a:effectLst/>
                          <a:latin typeface="+mj-lt"/>
                        </a:rPr>
                        <a:t>Defender + Sentinel + copilot</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extLst>
                  <a:ext uri="{0D108BD9-81ED-4DB2-BD59-A6C34878D82A}">
                    <a16:rowId xmlns:a16="http://schemas.microsoft.com/office/drawing/2014/main" val="3873516421"/>
                  </a:ext>
                </a:extLst>
              </a:tr>
              <a:tr h="1460951">
                <a:tc>
                  <a:txBody>
                    <a:bodyPr/>
                    <a:lstStyle/>
                    <a:p>
                      <a:pPr algn="ctr">
                        <a:lnSpc>
                          <a:spcPct val="107000"/>
                        </a:lnSpc>
                        <a:spcAft>
                          <a:spcPts val="800"/>
                        </a:spcAft>
                      </a:pPr>
                      <a:r>
                        <a:rPr lang="en-IN" sz="1400" kern="0" dirty="0">
                          <a:effectLst/>
                          <a:latin typeface="+mj-lt"/>
                        </a:rPr>
                        <a:t>Min Security Services MRR for every unique customer in USD</a:t>
                      </a:r>
                      <a:endParaRPr lang="en-IN" sz="14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2000" kern="0" dirty="0">
                          <a:effectLst/>
                          <a:latin typeface="+mj-lt"/>
                        </a:rPr>
                        <a:t>125</a:t>
                      </a:r>
                      <a:endParaRPr lang="en-IN" sz="20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2000" kern="0" dirty="0">
                          <a:effectLst/>
                          <a:latin typeface="+mj-lt"/>
                        </a:rPr>
                        <a:t>350</a:t>
                      </a:r>
                      <a:endParaRPr lang="en-IN" sz="20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2000" kern="0" dirty="0">
                          <a:effectLst/>
                          <a:latin typeface="+mj-lt"/>
                        </a:rPr>
                        <a:t>3000</a:t>
                      </a:r>
                      <a:endParaRPr lang="en-IN" sz="20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2000" kern="0" dirty="0">
                          <a:effectLst/>
                          <a:latin typeface="+mj-lt"/>
                        </a:rPr>
                        <a:t>400</a:t>
                      </a:r>
                      <a:endParaRPr lang="en-IN" sz="2000" kern="100" dirty="0">
                        <a:effectLst/>
                        <a:latin typeface="+mj-lt"/>
                        <a:ea typeface="Calibri" panose="020F0502020204030204" pitchFamily="34" charset="0"/>
                        <a:cs typeface="Times New Roman" panose="02020603050405020304" pitchFamily="18" charset="0"/>
                      </a:endParaRPr>
                    </a:p>
                  </a:txBody>
                  <a:tcPr marL="66854" marR="66854" marT="0" marB="0" anchor="ctr"/>
                </a:tc>
                <a:tc>
                  <a:txBody>
                    <a:bodyPr/>
                    <a:lstStyle/>
                    <a:p>
                      <a:pPr algn="ctr">
                        <a:lnSpc>
                          <a:spcPct val="107000"/>
                        </a:lnSpc>
                        <a:spcAft>
                          <a:spcPts val="800"/>
                        </a:spcAft>
                      </a:pPr>
                      <a:r>
                        <a:rPr lang="en-IN" sz="2000" kern="0" dirty="0">
                          <a:effectLst/>
                          <a:latin typeface="+mj-lt"/>
                        </a:rPr>
                        <a:t>3400</a:t>
                      </a:r>
                      <a:endParaRPr lang="en-IN" sz="2000" kern="100" dirty="0">
                        <a:effectLst/>
                        <a:latin typeface="+mj-lt"/>
                        <a:ea typeface="Calibri" panose="020F0502020204030204" pitchFamily="34" charset="0"/>
                        <a:cs typeface="Times New Roman" panose="02020603050405020304" pitchFamily="18" charset="0"/>
                      </a:endParaRPr>
                    </a:p>
                  </a:txBody>
                  <a:tcPr marL="66854" marR="66854" marT="0" marB="0" anchor="ctr"/>
                </a:tc>
                <a:extLst>
                  <a:ext uri="{0D108BD9-81ED-4DB2-BD59-A6C34878D82A}">
                    <a16:rowId xmlns:a16="http://schemas.microsoft.com/office/drawing/2014/main" val="1636122973"/>
                  </a:ext>
                </a:extLst>
              </a:tr>
            </a:tbl>
          </a:graphicData>
        </a:graphic>
      </p:graphicFrame>
      <p:sp>
        <p:nvSpPr>
          <p:cNvPr id="13" name="TextBox 12">
            <a:extLst>
              <a:ext uri="{FF2B5EF4-FFF2-40B4-BE49-F238E27FC236}">
                <a16:creationId xmlns:a16="http://schemas.microsoft.com/office/drawing/2014/main" id="{ECCC6A4C-7085-B061-D6E4-472379ADF62F}"/>
              </a:ext>
            </a:extLst>
          </p:cNvPr>
          <p:cNvSpPr txBox="1"/>
          <p:nvPr/>
        </p:nvSpPr>
        <p:spPr>
          <a:xfrm>
            <a:off x="7967869" y="1162879"/>
            <a:ext cx="4224131" cy="4789581"/>
          </a:xfrm>
          <a:prstGeom prst="rect">
            <a:avLst/>
          </a:prstGeom>
          <a:noFill/>
        </p:spPr>
        <p:txBody>
          <a:bodyPr wrap="square" rtlCol="0">
            <a:spAutoFit/>
          </a:bodyPr>
          <a:lstStyle/>
          <a:p>
            <a:pPr>
              <a:lnSpc>
                <a:spcPct val="107000"/>
              </a:lnSpc>
              <a:spcAft>
                <a:spcPts val="800"/>
              </a:spcAft>
            </a:pPr>
            <a:r>
              <a:rPr lang="en-IN" sz="1800" b="1" u="sng" kern="100" dirty="0">
                <a:effectLst/>
                <a:latin typeface="Calibri" panose="020F0502020204030204" pitchFamily="34" charset="0"/>
                <a:ea typeface="Calibri" panose="020F0502020204030204" pitchFamily="34" charset="0"/>
                <a:cs typeface="Times New Roman" panose="02020603050405020304" pitchFamily="18" charset="0"/>
              </a:rPr>
              <a:t>Program Terms &amp; Conditions</a:t>
            </a:r>
            <a:endParaRPr lang="en-IN" sz="1800" u="sng"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This is for new customers for Security Service only.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Partners can be Qualified under only one category.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Opportunity and Qualifying Leads should have fresh sales ID (Sales team)</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Opportunity submission Period - 1</a:t>
            </a:r>
            <a:r>
              <a:rPr lang="en-US" sz="1400" kern="100" baseline="30000" dirty="0">
                <a:effectLst/>
                <a:latin typeface="Calibri" panose="020F0502020204030204" pitchFamily="34" charset="0"/>
                <a:ea typeface="Calibri" panose="020F0502020204030204" pitchFamily="34" charset="0"/>
                <a:cs typeface="Times New Roman" panose="02020603050405020304" pitchFamily="18" charset="0"/>
              </a:rPr>
              <a:t>st</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Dec 2024 to 31</a:t>
            </a:r>
            <a:r>
              <a:rPr lang="en-US" sz="1400" kern="100" baseline="30000" dirty="0">
                <a:effectLst/>
                <a:latin typeface="Calibri" panose="020F0502020204030204" pitchFamily="34" charset="0"/>
                <a:ea typeface="Calibri" panose="020F0502020204030204" pitchFamily="34" charset="0"/>
                <a:cs typeface="Times New Roman" panose="02020603050405020304" pitchFamily="18" charset="0"/>
              </a:rPr>
              <a:t>st</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Mar 2025.</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*Minimum Qualification criteria is 12 unique customers, or Value should be more than 10k (Applicable for Category 1 , 2 and 3 )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Last date to enroll customers: - 29</a:t>
            </a:r>
            <a:r>
              <a:rPr lang="en-US" sz="1400" kern="1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Mar 2025</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Winners and Runners Announcement date: - 2</a:t>
            </a:r>
            <a:r>
              <a:rPr lang="en-US" sz="1400" kern="100" baseline="30000" dirty="0">
                <a:effectLst/>
                <a:latin typeface="Calibri" panose="020F0502020204030204" pitchFamily="34" charset="0"/>
                <a:ea typeface="Calibri" panose="020F0502020204030204" pitchFamily="34" charset="0"/>
                <a:cs typeface="Times New Roman" panose="02020603050405020304" pitchFamily="18" charset="0"/>
              </a:rPr>
              <a:t>nd</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or 3</a:t>
            </a:r>
            <a:r>
              <a:rPr lang="en-US" sz="1400" kern="100" baseline="30000" dirty="0">
                <a:effectLst/>
                <a:latin typeface="Calibri" panose="020F0502020204030204" pitchFamily="34" charset="0"/>
                <a:ea typeface="Calibri" panose="020F0502020204030204" pitchFamily="34" charset="0"/>
                <a:cs typeface="Times New Roman" panose="02020603050405020304" pitchFamily="18" charset="0"/>
              </a:rPr>
              <a:t>rd</a:t>
            </a:r>
            <a:r>
              <a:rPr lang="en-US" sz="1400" kern="100" dirty="0">
                <a:effectLst/>
                <a:latin typeface="Calibri" panose="020F0502020204030204" pitchFamily="34" charset="0"/>
                <a:ea typeface="Calibri" panose="020F0502020204030204" pitchFamily="34" charset="0"/>
                <a:cs typeface="Times New Roman" panose="02020603050405020304" pitchFamily="18" charset="0"/>
              </a:rPr>
              <a:t> week of April 2025.</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Customer's acknowledgment is required for enrolling to the program.</a:t>
            </a:r>
          </a:p>
          <a:p>
            <a:pPr marL="342900" lvl="0" indent="-342900">
              <a:lnSpc>
                <a:spcPct val="107000"/>
              </a:lnSpc>
              <a:buFont typeface="+mj-lt"/>
              <a:buAutoNum type="arabicPeriod"/>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The customer acknowledgement mail should be shared with Redington.</a:t>
            </a:r>
          </a:p>
          <a:p>
            <a:pPr marL="342900" lvl="0" indent="-342900">
              <a:lnSpc>
                <a:spcPct val="107000"/>
              </a:lnSpc>
              <a:spcAft>
                <a:spcPts val="800"/>
              </a:spcAft>
              <a:buFont typeface="+mj-lt"/>
              <a:buAutoNum type="arabicPeriod"/>
            </a:pPr>
            <a:r>
              <a:rPr lang="en-IN" sz="1400" kern="100" dirty="0">
                <a:effectLst/>
                <a:latin typeface="Calibri" panose="020F0502020204030204" pitchFamily="34" charset="0"/>
                <a:ea typeface="Calibri" panose="020F0502020204030204" pitchFamily="34" charset="0"/>
                <a:cs typeface="Times New Roman" panose="02020603050405020304" pitchFamily="18" charset="0"/>
              </a:rPr>
              <a:t>Incentive will be in the form of ****</a:t>
            </a:r>
          </a:p>
          <a:p>
            <a:endParaRPr lang="en-IN" dirty="0"/>
          </a:p>
        </p:txBody>
      </p:sp>
    </p:spTree>
    <p:extLst>
      <p:ext uri="{BB962C8B-B14F-4D97-AF65-F5344CB8AC3E}">
        <p14:creationId xmlns:p14="http://schemas.microsoft.com/office/powerpoint/2010/main" val="436901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234A0FE9-B03F-0F5B-2DAA-7FFD218C4D96}"/>
            </a:ext>
          </a:extLst>
        </p:cNvPr>
        <p:cNvGrpSpPr/>
        <p:nvPr/>
      </p:nvGrpSpPr>
      <p:grpSpPr>
        <a:xfrm>
          <a:off x="0" y="0"/>
          <a:ext cx="0" cy="0"/>
          <a:chOff x="0" y="0"/>
          <a:chExt cx="0" cy="0"/>
        </a:xfrm>
      </p:grpSpPr>
      <p:pic>
        <p:nvPicPr>
          <p:cNvPr id="270" name="Google Shape;270;p59">
            <a:extLst>
              <a:ext uri="{FF2B5EF4-FFF2-40B4-BE49-F238E27FC236}">
                <a16:creationId xmlns:a16="http://schemas.microsoft.com/office/drawing/2014/main" id="{AE142EA7-8F05-D273-D3D9-9F8FF4904D03}"/>
              </a:ext>
            </a:extLst>
          </p:cNvPr>
          <p:cNvPicPr preferRelativeResize="0"/>
          <p:nvPr/>
        </p:nvPicPr>
        <p:blipFill rotWithShape="1">
          <a:blip r:embed="rId3">
            <a:alphaModFix amt="30000"/>
          </a:blip>
          <a:srcRect r="83486"/>
          <a:stretch/>
        </p:blipFill>
        <p:spPr>
          <a:xfrm>
            <a:off x="5570" y="1802"/>
            <a:ext cx="720000" cy="1080000"/>
          </a:xfrm>
          <a:prstGeom prst="rect">
            <a:avLst/>
          </a:prstGeom>
          <a:noFill/>
          <a:ln>
            <a:noFill/>
          </a:ln>
        </p:spPr>
      </p:pic>
      <p:sp>
        <p:nvSpPr>
          <p:cNvPr id="286" name="Google Shape;286;p59">
            <a:extLst>
              <a:ext uri="{FF2B5EF4-FFF2-40B4-BE49-F238E27FC236}">
                <a16:creationId xmlns:a16="http://schemas.microsoft.com/office/drawing/2014/main" id="{BDB49509-430F-52FD-529E-8C231C89421B}"/>
              </a:ext>
            </a:extLst>
          </p:cNvPr>
          <p:cNvSpPr txBox="1"/>
          <p:nvPr/>
        </p:nvSpPr>
        <p:spPr>
          <a:xfrm>
            <a:off x="1" y="187879"/>
            <a:ext cx="12192000" cy="853527"/>
          </a:xfrm>
          <a:prstGeom prst="rect">
            <a:avLst/>
          </a:prstGeom>
          <a:noFill/>
          <a:ln>
            <a:noFill/>
          </a:ln>
        </p:spPr>
        <p:txBody>
          <a:bodyPr spcFirstLastPara="1" wrap="square" lIns="91433" tIns="45700" rIns="91433" bIns="45700" anchor="t" anchorCtr="0">
            <a:spAutoFit/>
          </a:bodyPr>
          <a:lstStyle/>
          <a:p>
            <a:pPr algn="ctr">
              <a:lnSpc>
                <a:spcPct val="107000"/>
              </a:lnSpc>
              <a:spcAft>
                <a:spcPts val="800"/>
              </a:spcAft>
              <a:buClr>
                <a:schemeClr val="dk1"/>
              </a:buClr>
              <a:buSzPts val="1100"/>
            </a:pPr>
            <a:r>
              <a:rPr lang="en-US" sz="4000" b="1" dirty="0">
                <a:solidFill>
                  <a:srgbClr val="00953A"/>
                </a:solidFill>
                <a:latin typeface="Roboto Condensed"/>
                <a:ea typeface="Roboto Condensed"/>
                <a:cs typeface="Roboto Condensed"/>
              </a:rPr>
              <a:t>Redington Azure Security Premier League (RASPL) </a:t>
            </a:r>
            <a:endParaRPr lang="en-IN" sz="4000" b="1" dirty="0">
              <a:solidFill>
                <a:srgbClr val="00953A"/>
              </a:solidFill>
              <a:latin typeface="Roboto Condensed"/>
              <a:ea typeface="Roboto Condensed"/>
              <a:cs typeface="Roboto Condensed"/>
            </a:endParaRPr>
          </a:p>
        </p:txBody>
      </p:sp>
      <p:graphicFrame>
        <p:nvGraphicFramePr>
          <p:cNvPr id="10" name="Table 9">
            <a:extLst>
              <a:ext uri="{FF2B5EF4-FFF2-40B4-BE49-F238E27FC236}">
                <a16:creationId xmlns:a16="http://schemas.microsoft.com/office/drawing/2014/main" id="{0B899DAA-0E5D-9A6D-24A9-59ACFEA8167C}"/>
              </a:ext>
            </a:extLst>
          </p:cNvPr>
          <p:cNvGraphicFramePr>
            <a:graphicFrameLocks noGrp="1"/>
          </p:cNvGraphicFramePr>
          <p:nvPr>
            <p:extLst>
              <p:ext uri="{D42A27DB-BD31-4B8C-83A1-F6EECF244321}">
                <p14:modId xmlns:p14="http://schemas.microsoft.com/office/powerpoint/2010/main" val="4022138589"/>
              </p:ext>
            </p:extLst>
          </p:nvPr>
        </p:nvGraphicFramePr>
        <p:xfrm>
          <a:off x="1649897" y="1551274"/>
          <a:ext cx="8368746" cy="1911912"/>
        </p:xfrm>
        <a:graphic>
          <a:graphicData uri="http://schemas.openxmlformats.org/drawingml/2006/table">
            <a:tbl>
              <a:tblPr firstRow="1" firstCol="1" bandRow="1">
                <a:tableStyleId>{5C22544A-7EE6-4342-B048-85BDC9FD1C3A}</a:tableStyleId>
              </a:tblPr>
              <a:tblGrid>
                <a:gridCol w="4148146">
                  <a:extLst>
                    <a:ext uri="{9D8B030D-6E8A-4147-A177-3AD203B41FA5}">
                      <a16:colId xmlns:a16="http://schemas.microsoft.com/office/drawing/2014/main" val="377037650"/>
                    </a:ext>
                  </a:extLst>
                </a:gridCol>
                <a:gridCol w="1974819">
                  <a:extLst>
                    <a:ext uri="{9D8B030D-6E8A-4147-A177-3AD203B41FA5}">
                      <a16:colId xmlns:a16="http://schemas.microsoft.com/office/drawing/2014/main" val="368418549"/>
                    </a:ext>
                  </a:extLst>
                </a:gridCol>
                <a:gridCol w="2245781">
                  <a:extLst>
                    <a:ext uri="{9D8B030D-6E8A-4147-A177-3AD203B41FA5}">
                      <a16:colId xmlns:a16="http://schemas.microsoft.com/office/drawing/2014/main" val="1453555287"/>
                    </a:ext>
                  </a:extLst>
                </a:gridCol>
              </a:tblGrid>
              <a:tr h="477978">
                <a:tc>
                  <a:txBody>
                    <a:bodyPr/>
                    <a:lstStyle/>
                    <a:p>
                      <a:pPr>
                        <a:lnSpc>
                          <a:spcPct val="107000"/>
                        </a:lnSpc>
                      </a:pPr>
                      <a:endParaRPr lang="en-IN" sz="2000" kern="100" dirty="0">
                        <a:effectLst/>
                        <a:latin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n-IN" sz="2000" kern="0" dirty="0">
                          <a:effectLst/>
                        </a:rPr>
                        <a:t>Winner (USD)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Runner (USD)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39906510"/>
                  </a:ext>
                </a:extLst>
              </a:tr>
              <a:tr h="477978">
                <a:tc>
                  <a:txBody>
                    <a:bodyPr/>
                    <a:lstStyle/>
                    <a:p>
                      <a:pPr>
                        <a:lnSpc>
                          <a:spcPct val="107000"/>
                        </a:lnSpc>
                        <a:spcAft>
                          <a:spcPts val="800"/>
                        </a:spcAft>
                      </a:pPr>
                      <a:r>
                        <a:rPr lang="en-IN" sz="2000" kern="0" dirty="0">
                          <a:effectLst/>
                        </a:rPr>
                        <a:t>Number of Opportunity Generated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500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300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31523762"/>
                  </a:ext>
                </a:extLst>
              </a:tr>
              <a:tr h="477978">
                <a:tc>
                  <a:txBody>
                    <a:bodyPr/>
                    <a:lstStyle/>
                    <a:p>
                      <a:pPr>
                        <a:lnSpc>
                          <a:spcPct val="107000"/>
                        </a:lnSpc>
                        <a:spcAft>
                          <a:spcPts val="800"/>
                        </a:spcAft>
                      </a:pPr>
                      <a:r>
                        <a:rPr lang="en-IN" sz="2000" kern="0" dirty="0">
                          <a:effectLst/>
                        </a:rPr>
                        <a:t>Number of launches</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1000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600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59698769"/>
                  </a:ext>
                </a:extLst>
              </a:tr>
              <a:tr h="477978">
                <a:tc>
                  <a:txBody>
                    <a:bodyPr/>
                    <a:lstStyle/>
                    <a:p>
                      <a:pPr>
                        <a:lnSpc>
                          <a:spcPct val="107000"/>
                        </a:lnSpc>
                        <a:spcAft>
                          <a:spcPts val="800"/>
                        </a:spcAft>
                      </a:pPr>
                      <a:r>
                        <a:rPr lang="en-IN" sz="2000" kern="0">
                          <a:effectLst/>
                        </a:rPr>
                        <a:t>Max revenue generated</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1000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600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0853986"/>
                  </a:ext>
                </a:extLst>
              </a:tr>
            </a:tbl>
          </a:graphicData>
        </a:graphic>
      </p:graphicFrame>
      <p:graphicFrame>
        <p:nvGraphicFramePr>
          <p:cNvPr id="11" name="Table 10">
            <a:extLst>
              <a:ext uri="{FF2B5EF4-FFF2-40B4-BE49-F238E27FC236}">
                <a16:creationId xmlns:a16="http://schemas.microsoft.com/office/drawing/2014/main" id="{96BABC25-C28A-4140-EFEB-A565FB3A11F0}"/>
              </a:ext>
            </a:extLst>
          </p:cNvPr>
          <p:cNvGraphicFramePr>
            <a:graphicFrameLocks noGrp="1"/>
          </p:cNvGraphicFramePr>
          <p:nvPr>
            <p:extLst>
              <p:ext uri="{D42A27DB-BD31-4B8C-83A1-F6EECF244321}">
                <p14:modId xmlns:p14="http://schemas.microsoft.com/office/powerpoint/2010/main" val="4216693438"/>
              </p:ext>
            </p:extLst>
          </p:nvPr>
        </p:nvGraphicFramePr>
        <p:xfrm>
          <a:off x="427383" y="4501701"/>
          <a:ext cx="5406887" cy="1555332"/>
        </p:xfrm>
        <a:graphic>
          <a:graphicData uri="http://schemas.openxmlformats.org/drawingml/2006/table">
            <a:tbl>
              <a:tblPr firstRow="1" firstCol="1" bandRow="1">
                <a:tableStyleId>{5C22544A-7EE6-4342-B048-85BDC9FD1C3A}</a:tableStyleId>
              </a:tblPr>
              <a:tblGrid>
                <a:gridCol w="1808921">
                  <a:extLst>
                    <a:ext uri="{9D8B030D-6E8A-4147-A177-3AD203B41FA5}">
                      <a16:colId xmlns:a16="http://schemas.microsoft.com/office/drawing/2014/main" val="4244586935"/>
                    </a:ext>
                  </a:extLst>
                </a:gridCol>
                <a:gridCol w="2072154">
                  <a:extLst>
                    <a:ext uri="{9D8B030D-6E8A-4147-A177-3AD203B41FA5}">
                      <a16:colId xmlns:a16="http://schemas.microsoft.com/office/drawing/2014/main" val="1070027610"/>
                    </a:ext>
                  </a:extLst>
                </a:gridCol>
                <a:gridCol w="1525812">
                  <a:extLst>
                    <a:ext uri="{9D8B030D-6E8A-4147-A177-3AD203B41FA5}">
                      <a16:colId xmlns:a16="http://schemas.microsoft.com/office/drawing/2014/main" val="2724838920"/>
                    </a:ext>
                  </a:extLst>
                </a:gridCol>
              </a:tblGrid>
              <a:tr h="827156">
                <a:tc>
                  <a:txBody>
                    <a:bodyPr/>
                    <a:lstStyle/>
                    <a:p>
                      <a:pPr algn="ctr">
                        <a:lnSpc>
                          <a:spcPct val="107000"/>
                        </a:lnSpc>
                        <a:spcAft>
                          <a:spcPts val="800"/>
                        </a:spcAft>
                      </a:pPr>
                      <a:r>
                        <a:rPr lang="en-IN" sz="2000" kern="0" dirty="0">
                          <a:effectLst/>
                        </a:rPr>
                        <a:t>MRR Security Services in USD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Unique Customer Per Partner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Incentive in USD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3010964"/>
                  </a:ext>
                </a:extLst>
              </a:tr>
              <a:tr h="364088">
                <a:tc>
                  <a:txBody>
                    <a:bodyPr/>
                    <a:lstStyle/>
                    <a:p>
                      <a:pPr algn="ctr">
                        <a:lnSpc>
                          <a:spcPct val="107000"/>
                        </a:lnSpc>
                        <a:spcAft>
                          <a:spcPts val="800"/>
                        </a:spcAft>
                      </a:pPr>
                      <a:r>
                        <a:rPr lang="en-IN" sz="2000" kern="0">
                          <a:effectLst/>
                        </a:rPr>
                        <a:t>400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3</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20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74130178"/>
                  </a:ext>
                </a:extLst>
              </a:tr>
              <a:tr h="364088">
                <a:tc>
                  <a:txBody>
                    <a:bodyPr/>
                    <a:lstStyle/>
                    <a:p>
                      <a:pPr algn="ctr">
                        <a:lnSpc>
                          <a:spcPct val="107000"/>
                        </a:lnSpc>
                        <a:spcAft>
                          <a:spcPts val="800"/>
                        </a:spcAft>
                      </a:pPr>
                      <a:r>
                        <a:rPr lang="en-IN" sz="2000" kern="0">
                          <a:effectLst/>
                        </a:rPr>
                        <a:t>500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5</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30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04355781"/>
                  </a:ext>
                </a:extLst>
              </a:tr>
            </a:tbl>
          </a:graphicData>
        </a:graphic>
      </p:graphicFrame>
      <p:sp>
        <p:nvSpPr>
          <p:cNvPr id="12" name="Rectangle 1">
            <a:extLst>
              <a:ext uri="{FF2B5EF4-FFF2-40B4-BE49-F238E27FC236}">
                <a16:creationId xmlns:a16="http://schemas.microsoft.com/office/drawing/2014/main" id="{39C330DD-F48F-E106-14BF-D63362C7A94A}"/>
              </a:ext>
            </a:extLst>
          </p:cNvPr>
          <p:cNvSpPr>
            <a:spLocks noChangeArrowheads="1"/>
          </p:cNvSpPr>
          <p:nvPr/>
        </p:nvSpPr>
        <p:spPr bwMode="auto">
          <a:xfrm>
            <a:off x="506896" y="3889076"/>
            <a:ext cx="49397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Opportunity Incentive (Category 4)</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graphicFrame>
        <p:nvGraphicFramePr>
          <p:cNvPr id="13" name="Table 12">
            <a:extLst>
              <a:ext uri="{FF2B5EF4-FFF2-40B4-BE49-F238E27FC236}">
                <a16:creationId xmlns:a16="http://schemas.microsoft.com/office/drawing/2014/main" id="{ECBC1686-8582-1C32-EC17-DCEE52D83182}"/>
              </a:ext>
            </a:extLst>
          </p:cNvPr>
          <p:cNvGraphicFramePr>
            <a:graphicFrameLocks noGrp="1"/>
          </p:cNvGraphicFramePr>
          <p:nvPr>
            <p:extLst>
              <p:ext uri="{D42A27DB-BD31-4B8C-83A1-F6EECF244321}">
                <p14:modId xmlns:p14="http://schemas.microsoft.com/office/powerpoint/2010/main" val="1932155635"/>
              </p:ext>
            </p:extLst>
          </p:nvPr>
        </p:nvGraphicFramePr>
        <p:xfrm>
          <a:off x="6180355" y="4501702"/>
          <a:ext cx="5406888" cy="1555332"/>
        </p:xfrm>
        <a:graphic>
          <a:graphicData uri="http://schemas.openxmlformats.org/drawingml/2006/table">
            <a:tbl>
              <a:tblPr firstRow="1" firstCol="1" bandRow="1">
                <a:tableStyleId>{5C22544A-7EE6-4342-B048-85BDC9FD1C3A}</a:tableStyleId>
              </a:tblPr>
              <a:tblGrid>
                <a:gridCol w="1836377">
                  <a:extLst>
                    <a:ext uri="{9D8B030D-6E8A-4147-A177-3AD203B41FA5}">
                      <a16:colId xmlns:a16="http://schemas.microsoft.com/office/drawing/2014/main" val="113917275"/>
                    </a:ext>
                  </a:extLst>
                </a:gridCol>
                <a:gridCol w="2383315">
                  <a:extLst>
                    <a:ext uri="{9D8B030D-6E8A-4147-A177-3AD203B41FA5}">
                      <a16:colId xmlns:a16="http://schemas.microsoft.com/office/drawing/2014/main" val="654981775"/>
                    </a:ext>
                  </a:extLst>
                </a:gridCol>
                <a:gridCol w="1187196">
                  <a:extLst>
                    <a:ext uri="{9D8B030D-6E8A-4147-A177-3AD203B41FA5}">
                      <a16:colId xmlns:a16="http://schemas.microsoft.com/office/drawing/2014/main" val="3823014859"/>
                    </a:ext>
                  </a:extLst>
                </a:gridCol>
              </a:tblGrid>
              <a:tr h="777666">
                <a:tc>
                  <a:txBody>
                    <a:bodyPr/>
                    <a:lstStyle/>
                    <a:p>
                      <a:pPr algn="ctr">
                        <a:lnSpc>
                          <a:spcPct val="107000"/>
                        </a:lnSpc>
                        <a:spcAft>
                          <a:spcPts val="800"/>
                        </a:spcAft>
                      </a:pPr>
                      <a:r>
                        <a:rPr lang="en-IN" sz="2000" kern="0" dirty="0">
                          <a:effectLst/>
                        </a:rPr>
                        <a:t>MRR Security Services in USD</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Unique Customer per Partner</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Incentive in USD </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151509"/>
                  </a:ext>
                </a:extLst>
              </a:tr>
              <a:tr h="388833">
                <a:tc>
                  <a:txBody>
                    <a:bodyPr/>
                    <a:lstStyle/>
                    <a:p>
                      <a:pPr algn="ctr">
                        <a:lnSpc>
                          <a:spcPct val="107000"/>
                        </a:lnSpc>
                        <a:spcAft>
                          <a:spcPts val="800"/>
                        </a:spcAft>
                      </a:pPr>
                      <a:r>
                        <a:rPr lang="en-IN" sz="2000" kern="0">
                          <a:effectLst/>
                        </a:rPr>
                        <a:t>400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3</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50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427565987"/>
                  </a:ext>
                </a:extLst>
              </a:tr>
              <a:tr h="388833">
                <a:tc>
                  <a:txBody>
                    <a:bodyPr/>
                    <a:lstStyle/>
                    <a:p>
                      <a:pPr algn="ctr">
                        <a:lnSpc>
                          <a:spcPct val="107000"/>
                        </a:lnSpc>
                        <a:spcAft>
                          <a:spcPts val="800"/>
                        </a:spcAft>
                      </a:pPr>
                      <a:r>
                        <a:rPr lang="en-IN" sz="2000" kern="0">
                          <a:effectLst/>
                        </a:rPr>
                        <a:t>500</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a:effectLst/>
                        </a:rPr>
                        <a:t>5</a:t>
                      </a:r>
                      <a:endParaRPr lang="en-IN"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IN" sz="2000" kern="0" dirty="0">
                          <a:effectLst/>
                        </a:rPr>
                        <a:t>80</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51048314"/>
                  </a:ext>
                </a:extLst>
              </a:tr>
            </a:tbl>
          </a:graphicData>
        </a:graphic>
      </p:graphicFrame>
      <p:sp>
        <p:nvSpPr>
          <p:cNvPr id="14" name="Rectangle 2">
            <a:extLst>
              <a:ext uri="{FF2B5EF4-FFF2-40B4-BE49-F238E27FC236}">
                <a16:creationId xmlns:a16="http://schemas.microsoft.com/office/drawing/2014/main" id="{C92E4EE3-CF75-3125-B770-02FA9F026DB5}"/>
              </a:ext>
            </a:extLst>
          </p:cNvPr>
          <p:cNvSpPr>
            <a:spLocks noChangeArrowheads="1"/>
          </p:cNvSpPr>
          <p:nvPr/>
        </p:nvSpPr>
        <p:spPr bwMode="auto">
          <a:xfrm>
            <a:off x="6180357" y="3962109"/>
            <a:ext cx="508068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Launch Incentive (Category 5)</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15" name="Rectangle 1">
            <a:extLst>
              <a:ext uri="{FF2B5EF4-FFF2-40B4-BE49-F238E27FC236}">
                <a16:creationId xmlns:a16="http://schemas.microsoft.com/office/drawing/2014/main" id="{49E53B1A-B4B6-67F7-D5B0-9FE131F522C7}"/>
              </a:ext>
            </a:extLst>
          </p:cNvPr>
          <p:cNvSpPr>
            <a:spLocks noChangeArrowheads="1"/>
          </p:cNvSpPr>
          <p:nvPr/>
        </p:nvSpPr>
        <p:spPr bwMode="auto">
          <a:xfrm>
            <a:off x="3501759" y="1039864"/>
            <a:ext cx="53571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Category 1, 2 and 3</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80025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69DE4B58-8DCD-65FB-0113-B691BC183AC5}"/>
              </a:ext>
            </a:extLst>
          </p:cNvPr>
          <p:cNvSpPr/>
          <p:nvPr/>
        </p:nvSpPr>
        <p:spPr>
          <a:xfrm>
            <a:off x="2647507" y="2806995"/>
            <a:ext cx="6464595" cy="850605"/>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5400" dirty="0"/>
              <a:t>LET’S START</a:t>
            </a:r>
          </a:p>
        </p:txBody>
      </p:sp>
      <p:sp>
        <p:nvSpPr>
          <p:cNvPr id="14" name="Oval 13">
            <a:extLst>
              <a:ext uri="{FF2B5EF4-FFF2-40B4-BE49-F238E27FC236}">
                <a16:creationId xmlns:a16="http://schemas.microsoft.com/office/drawing/2014/main" id="{758EE7CA-0810-ACF7-361B-37B4B23A8624}"/>
              </a:ext>
            </a:extLst>
          </p:cNvPr>
          <p:cNvSpPr/>
          <p:nvPr/>
        </p:nvSpPr>
        <p:spPr>
          <a:xfrm>
            <a:off x="8282763" y="2589027"/>
            <a:ext cx="1350335" cy="1286539"/>
          </a:xfrm>
          <a:prstGeom prst="ellipse">
            <a:avLst/>
          </a:prstGeom>
          <a:solidFill>
            <a:srgbClr val="E6C51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a:extLst>
              <a:ext uri="{FF2B5EF4-FFF2-40B4-BE49-F238E27FC236}">
                <a16:creationId xmlns:a16="http://schemas.microsoft.com/office/drawing/2014/main" id="{FED7FAAB-1B77-A5F5-8BD9-43865CA26498}"/>
              </a:ext>
            </a:extLst>
          </p:cNvPr>
          <p:cNvCxnSpPr>
            <a:cxnSpLocks/>
          </p:cNvCxnSpPr>
          <p:nvPr/>
        </p:nvCxnSpPr>
        <p:spPr>
          <a:xfrm flipV="1">
            <a:off x="8722257" y="3200397"/>
            <a:ext cx="570601" cy="425304"/>
          </a:xfrm>
          <a:prstGeom prst="line">
            <a:avLst/>
          </a:prstGeom>
          <a:ln w="111125"/>
        </p:spPr>
        <p:style>
          <a:lnRef idx="3">
            <a:schemeClr val="dk1"/>
          </a:lnRef>
          <a:fillRef idx="0">
            <a:schemeClr val="dk1"/>
          </a:fillRef>
          <a:effectRef idx="2">
            <a:schemeClr val="dk1"/>
          </a:effectRef>
          <a:fontRef idx="minor">
            <a:schemeClr val="tx1"/>
          </a:fontRef>
        </p:style>
      </p:cxnSp>
      <p:cxnSp>
        <p:nvCxnSpPr>
          <p:cNvPr id="27" name="Straight Connector 26">
            <a:extLst>
              <a:ext uri="{FF2B5EF4-FFF2-40B4-BE49-F238E27FC236}">
                <a16:creationId xmlns:a16="http://schemas.microsoft.com/office/drawing/2014/main" id="{E91A9B7C-5825-D53A-217E-C7D6E90FB6D8}"/>
              </a:ext>
            </a:extLst>
          </p:cNvPr>
          <p:cNvCxnSpPr>
            <a:cxnSpLocks/>
          </p:cNvCxnSpPr>
          <p:nvPr/>
        </p:nvCxnSpPr>
        <p:spPr>
          <a:xfrm>
            <a:off x="8722257" y="2746748"/>
            <a:ext cx="570601" cy="517447"/>
          </a:xfrm>
          <a:prstGeom prst="line">
            <a:avLst/>
          </a:prstGeom>
          <a:ln w="111125"/>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13601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3" name="Picture Placeholder 22">
            <a:extLst>
              <a:ext uri="{FF2B5EF4-FFF2-40B4-BE49-F238E27FC236}">
                <a16:creationId xmlns:a16="http://schemas.microsoft.com/office/drawing/2014/main" id="{F674A711-CA74-A4CD-9EFC-973AFBF1F9F6}"/>
              </a:ext>
            </a:extLst>
          </p:cNvPr>
          <p:cNvPicPr>
            <a:picLocks noGrp="1" noChangeAspect="1"/>
          </p:cNvPicPr>
          <p:nvPr>
            <p:ph type="pic" sz="quarter" idx="10"/>
          </p:nvPr>
        </p:nvPicPr>
        <p:blipFill>
          <a:blip r:embed="rId2"/>
          <a:srcRect l="16832" r="16832"/>
          <a:stretch>
            <a:fillRect/>
          </a:stretch>
        </p:blipFill>
        <p:spPr/>
      </p:pic>
      <p:sp>
        <p:nvSpPr>
          <p:cNvPr id="3" name="Freeform 13"/>
          <p:cNvSpPr>
            <a:spLocks/>
          </p:cNvSpPr>
          <p:nvPr/>
        </p:nvSpPr>
        <p:spPr bwMode="auto">
          <a:xfrm>
            <a:off x="0" y="0"/>
            <a:ext cx="6455902" cy="6858000"/>
          </a:xfrm>
          <a:custGeom>
            <a:avLst/>
            <a:gdLst>
              <a:gd name="T0" fmla="*/ 0 w 305"/>
              <a:gd name="T1" fmla="*/ 324 h 324"/>
              <a:gd name="T2" fmla="*/ 251 w 305"/>
              <a:gd name="T3" fmla="*/ 324 h 324"/>
              <a:gd name="T4" fmla="*/ 305 w 305"/>
              <a:gd name="T5" fmla="*/ 168 h 324"/>
              <a:gd name="T6" fmla="*/ 305 w 305"/>
              <a:gd name="T7" fmla="*/ 156 h 324"/>
              <a:gd name="T8" fmla="*/ 251 w 305"/>
              <a:gd name="T9" fmla="*/ 0 h 324"/>
              <a:gd name="T10" fmla="*/ 0 w 305"/>
              <a:gd name="T11" fmla="*/ 0 h 324"/>
              <a:gd name="T12" fmla="*/ 0 w 305"/>
              <a:gd name="T13" fmla="*/ 324 h 324"/>
            </a:gdLst>
            <a:ahLst/>
            <a:cxnLst>
              <a:cxn ang="0">
                <a:pos x="T0" y="T1"/>
              </a:cxn>
              <a:cxn ang="0">
                <a:pos x="T2" y="T3"/>
              </a:cxn>
              <a:cxn ang="0">
                <a:pos x="T4" y="T5"/>
              </a:cxn>
              <a:cxn ang="0">
                <a:pos x="T6" y="T7"/>
              </a:cxn>
              <a:cxn ang="0">
                <a:pos x="T8" y="T9"/>
              </a:cxn>
              <a:cxn ang="0">
                <a:pos x="T10" y="T11"/>
              </a:cxn>
              <a:cxn ang="0">
                <a:pos x="T12" y="T13"/>
              </a:cxn>
            </a:cxnLst>
            <a:rect l="0" t="0" r="r" b="b"/>
            <a:pathLst>
              <a:path w="305" h="324">
                <a:moveTo>
                  <a:pt x="0" y="324"/>
                </a:moveTo>
                <a:cubicBezTo>
                  <a:pt x="251" y="324"/>
                  <a:pt x="251" y="324"/>
                  <a:pt x="251" y="324"/>
                </a:cubicBezTo>
                <a:cubicBezTo>
                  <a:pt x="285" y="281"/>
                  <a:pt x="305" y="227"/>
                  <a:pt x="305" y="168"/>
                </a:cubicBezTo>
                <a:cubicBezTo>
                  <a:pt x="305" y="156"/>
                  <a:pt x="305" y="156"/>
                  <a:pt x="305" y="156"/>
                </a:cubicBezTo>
                <a:cubicBezTo>
                  <a:pt x="305" y="97"/>
                  <a:pt x="285" y="43"/>
                  <a:pt x="251" y="0"/>
                </a:cubicBezTo>
                <a:cubicBezTo>
                  <a:pt x="0" y="0"/>
                  <a:pt x="0" y="0"/>
                  <a:pt x="0" y="0"/>
                </a:cubicBezTo>
                <a:lnTo>
                  <a:pt x="0" y="32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GB" dirty="0">
              <a:latin typeface="Calibri"/>
            </a:endParaRPr>
          </a:p>
        </p:txBody>
      </p:sp>
      <p:sp>
        <p:nvSpPr>
          <p:cNvPr id="5" name="TextBox 4"/>
          <p:cNvSpPr txBox="1"/>
          <p:nvPr/>
        </p:nvSpPr>
        <p:spPr>
          <a:xfrm>
            <a:off x="660346" y="2875946"/>
            <a:ext cx="4993075" cy="2661754"/>
          </a:xfrm>
          <a:prstGeom prst="rect">
            <a:avLst/>
          </a:prstGeom>
          <a:noFill/>
        </p:spPr>
        <p:txBody>
          <a:bodyPr wrap="square" rtlCol="0" anchor="t">
            <a:spAutoFit/>
          </a:bodyPr>
          <a:lstStyle/>
          <a:p>
            <a:pPr marL="0" indent="0">
              <a:lnSpc>
                <a:spcPts val="2850"/>
              </a:lnSpc>
              <a:buNone/>
            </a:pPr>
            <a:r>
              <a:rPr lang="en-US" sz="1800" i="1" dirty="0">
                <a:solidFill>
                  <a:srgbClr val="3B4E4E"/>
                </a:solidFill>
                <a:latin typeface="Overpass" pitchFamily="34" charset="0"/>
                <a:ea typeface="Overpass" pitchFamily="34" charset="-122"/>
                <a:cs typeface="Overpass" pitchFamily="34" charset="-120"/>
              </a:rPr>
              <a:t>Microsoft Copilot is a powerful AI-powered tool designed to enhance customer engagement and improve customer experiences. It leverages the latest in natural language processing and machine learning to understand customer needs and provide personalized assistance</a:t>
            </a:r>
            <a:r>
              <a:rPr lang="en-US" sz="1800" dirty="0">
                <a:solidFill>
                  <a:srgbClr val="3B4E4E"/>
                </a:solidFill>
                <a:latin typeface="Overpass" pitchFamily="34" charset="0"/>
                <a:ea typeface="Overpass" pitchFamily="34" charset="-122"/>
                <a:cs typeface="Overpass" pitchFamily="34" charset="-120"/>
              </a:rPr>
              <a:t>.</a:t>
            </a:r>
            <a:endParaRPr lang="en-US" sz="1800" dirty="0"/>
          </a:p>
        </p:txBody>
      </p:sp>
      <p:sp>
        <p:nvSpPr>
          <p:cNvPr id="7" name="TextBox 6"/>
          <p:cNvSpPr txBox="1"/>
          <p:nvPr/>
        </p:nvSpPr>
        <p:spPr>
          <a:xfrm>
            <a:off x="584146" y="1736102"/>
            <a:ext cx="4490828" cy="956031"/>
          </a:xfrm>
          <a:prstGeom prst="rect">
            <a:avLst/>
          </a:prstGeom>
          <a:noFill/>
        </p:spPr>
        <p:txBody>
          <a:bodyPr wrap="square" rtlCol="0" anchor="ctr">
            <a:spAutoFit/>
          </a:bodyPr>
          <a:lstStyle/>
          <a:p>
            <a:pPr algn="ctr">
              <a:lnSpc>
                <a:spcPts val="7700"/>
              </a:lnSpc>
            </a:pPr>
            <a:r>
              <a:rPr lang="en-US" sz="3200" dirty="0">
                <a:ln w="0"/>
                <a:solidFill>
                  <a:schemeClr val="accent3"/>
                </a:solidFill>
                <a:effectLst>
                  <a:reflection blurRad="6350" stA="53000" endA="300" endPos="35500" dir="5400000" sy="-90000" algn="bl" rotWithShape="0"/>
                </a:effectLst>
                <a:latin typeface="Congenial Black" panose="020F0502020204030204" pitchFamily="2" charset="0"/>
              </a:rPr>
              <a:t>MICROSOFT COPILOT</a:t>
            </a:r>
          </a:p>
        </p:txBody>
      </p:sp>
      <p:pic>
        <p:nvPicPr>
          <p:cNvPr id="4" name="Google Shape;194;p55">
            <a:extLst>
              <a:ext uri="{FF2B5EF4-FFF2-40B4-BE49-F238E27FC236}">
                <a16:creationId xmlns:a16="http://schemas.microsoft.com/office/drawing/2014/main" id="{B632E544-6244-6207-752B-ADEEC66015A8}"/>
              </a:ext>
            </a:extLst>
          </p:cNvPr>
          <p:cNvPicPr preferRelativeResize="0"/>
          <p:nvPr/>
        </p:nvPicPr>
        <p:blipFill>
          <a:blip r:embed="rId3">
            <a:alphaModFix/>
          </a:blip>
          <a:stretch>
            <a:fillRect/>
          </a:stretch>
        </p:blipFill>
        <p:spPr>
          <a:xfrm>
            <a:off x="270705" y="181178"/>
            <a:ext cx="2635055" cy="611302"/>
          </a:xfrm>
          <a:prstGeom prst="rect">
            <a:avLst/>
          </a:prstGeom>
          <a:noFill/>
          <a:ln>
            <a:noFill/>
          </a:ln>
        </p:spPr>
      </p:pic>
      <p:sp>
        <p:nvSpPr>
          <p:cNvPr id="24" name="Google Shape;196;p55">
            <a:extLst>
              <a:ext uri="{FF2B5EF4-FFF2-40B4-BE49-F238E27FC236}">
                <a16:creationId xmlns:a16="http://schemas.microsoft.com/office/drawing/2014/main" id="{F44F8E55-E8DB-E932-AB95-47844A24D58F}"/>
              </a:ext>
            </a:extLst>
          </p:cNvPr>
          <p:cNvSpPr/>
          <p:nvPr/>
        </p:nvSpPr>
        <p:spPr>
          <a:xfrm>
            <a:off x="762662" y="5357824"/>
            <a:ext cx="3528000" cy="88400"/>
          </a:xfrm>
          <a:prstGeom prst="roundRect">
            <a:avLst>
              <a:gd name="adj" fmla="val 50000"/>
            </a:avLst>
          </a:prstGeom>
          <a:gradFill>
            <a:gsLst>
              <a:gs pos="0">
                <a:srgbClr val="016938"/>
              </a:gs>
              <a:gs pos="100000">
                <a:srgbClr val="6CBF4A"/>
              </a:gs>
            </a:gsLst>
            <a:lin ang="2700006" scaled="0"/>
          </a:gradFill>
          <a:ln>
            <a:noFill/>
          </a:ln>
          <a:effectLst>
            <a:outerShdw blurRad="200025" dist="19050" dir="5400000" algn="bl" rotWithShape="0">
              <a:srgbClr val="000000">
                <a:alpha val="20000"/>
              </a:srgbClr>
            </a:outerShdw>
          </a:effectLst>
        </p:spPr>
        <p:txBody>
          <a:bodyPr spcFirstLastPara="1" wrap="square" lIns="91433" tIns="45700" rIns="91433" bIns="45700" anchor="ctr" anchorCtr="0">
            <a:noAutofit/>
          </a:bodyPr>
          <a:lstStyle/>
          <a:p>
            <a:pPr algn="ctr">
              <a:buSzPts val="1400"/>
            </a:pPr>
            <a:endParaRPr sz="1867">
              <a:solidFill>
                <a:srgbClr val="FFFFFF"/>
              </a:solidFill>
              <a:latin typeface="Open Sans"/>
              <a:ea typeface="Open Sans"/>
              <a:cs typeface="Open Sans"/>
              <a:sym typeface="Open Sans"/>
            </a:endParaRPr>
          </a:p>
        </p:txBody>
      </p:sp>
    </p:spTree>
    <p:extLst>
      <p:ext uri="{BB962C8B-B14F-4D97-AF65-F5344CB8AC3E}">
        <p14:creationId xmlns:p14="http://schemas.microsoft.com/office/powerpoint/2010/main" val="374195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987CC8-9D3E-1AB2-850C-14F04F56FD0C}"/>
              </a:ext>
            </a:extLst>
          </p:cNvPr>
          <p:cNvSpPr/>
          <p:nvPr/>
        </p:nvSpPr>
        <p:spPr>
          <a:xfrm>
            <a:off x="2104633" y="2074460"/>
            <a:ext cx="2437945" cy="1178666"/>
          </a:xfrm>
          <a:prstGeom prst="rect">
            <a:avLst/>
          </a:prstGeom>
          <a:solidFill>
            <a:schemeClr val="accent3">
              <a:lumMod val="7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mj-lt"/>
              <a:ea typeface="Microsoft JhengHei" panose="020B0604030504040204" pitchFamily="34" charset="-120"/>
              <a:cs typeface="+mn-cs"/>
            </a:endParaRPr>
          </a:p>
        </p:txBody>
      </p:sp>
      <p:sp>
        <p:nvSpPr>
          <p:cNvPr id="10" name="Freeform 5">
            <a:extLst>
              <a:ext uri="{FF2B5EF4-FFF2-40B4-BE49-F238E27FC236}">
                <a16:creationId xmlns:a16="http://schemas.microsoft.com/office/drawing/2014/main" id="{2C088135-5B5F-1242-DF92-6C0BBD605086}"/>
              </a:ext>
            </a:extLst>
          </p:cNvPr>
          <p:cNvSpPr>
            <a:spLocks/>
          </p:cNvSpPr>
          <p:nvPr/>
        </p:nvSpPr>
        <p:spPr bwMode="auto">
          <a:xfrm>
            <a:off x="2848091" y="1908087"/>
            <a:ext cx="884658" cy="473266"/>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15" name="Oval 14">
            <a:extLst>
              <a:ext uri="{FF2B5EF4-FFF2-40B4-BE49-F238E27FC236}">
                <a16:creationId xmlns:a16="http://schemas.microsoft.com/office/drawing/2014/main" id="{9F659B2E-A76A-F50D-1C9B-2509FF64729D}"/>
              </a:ext>
            </a:extLst>
          </p:cNvPr>
          <p:cNvSpPr>
            <a:spLocks noChangeAspect="1"/>
          </p:cNvSpPr>
          <p:nvPr/>
        </p:nvSpPr>
        <p:spPr>
          <a:xfrm>
            <a:off x="3198996" y="1976658"/>
            <a:ext cx="182846" cy="181733"/>
          </a:xfrm>
          <a:prstGeom prst="ellipse">
            <a:avLst/>
          </a:prstGeom>
          <a:solidFill>
            <a:srgbClr val="0099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18" name="Oval 17">
            <a:extLst>
              <a:ext uri="{FF2B5EF4-FFF2-40B4-BE49-F238E27FC236}">
                <a16:creationId xmlns:a16="http://schemas.microsoft.com/office/drawing/2014/main" id="{AFDCC317-E7C8-2311-3BD2-1F1D685DA122}"/>
              </a:ext>
            </a:extLst>
          </p:cNvPr>
          <p:cNvSpPr>
            <a:spLocks noChangeAspect="1"/>
          </p:cNvSpPr>
          <p:nvPr/>
        </p:nvSpPr>
        <p:spPr>
          <a:xfrm>
            <a:off x="8377757" y="2041807"/>
            <a:ext cx="182846" cy="181733"/>
          </a:xfrm>
          <a:prstGeom prst="ellipse">
            <a:avLst/>
          </a:prstGeom>
          <a:solidFill>
            <a:srgbClr val="62B1D1"/>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20" name="Rectangle 19">
            <a:extLst>
              <a:ext uri="{FF2B5EF4-FFF2-40B4-BE49-F238E27FC236}">
                <a16:creationId xmlns:a16="http://schemas.microsoft.com/office/drawing/2014/main" id="{9AB3929A-C58B-B672-6BBE-1B820FC69803}"/>
              </a:ext>
            </a:extLst>
          </p:cNvPr>
          <p:cNvSpPr/>
          <p:nvPr/>
        </p:nvSpPr>
        <p:spPr>
          <a:xfrm>
            <a:off x="1760237" y="2345943"/>
            <a:ext cx="3007255" cy="773225"/>
          </a:xfrm>
          <a:prstGeom prst="rect">
            <a:avLst/>
          </a:prstGeom>
        </p:spPr>
        <p:txBody>
          <a:bodyPr wrap="square">
            <a:spAutoFit/>
          </a:bodyPr>
          <a:lstStyle/>
          <a:p>
            <a:pPr marL="0" indent="0" algn="ctr">
              <a:lnSpc>
                <a:spcPts val="2750"/>
              </a:lnSpc>
              <a:buNone/>
            </a:pPr>
            <a:r>
              <a:rPr lang="en-US" b="1" dirty="0">
                <a:solidFill>
                  <a:schemeClr val="bg1"/>
                </a:solidFill>
                <a:latin typeface="Syne" pitchFamily="34" charset="0"/>
                <a:ea typeface="Syne" pitchFamily="34" charset="-122"/>
                <a:cs typeface="Syne" pitchFamily="34" charset="-120"/>
              </a:rPr>
              <a:t>  Automated Customer Service</a:t>
            </a:r>
            <a:endParaRPr lang="en-US" dirty="0">
              <a:solidFill>
                <a:schemeClr val="bg1"/>
              </a:solidFill>
            </a:endParaRPr>
          </a:p>
        </p:txBody>
      </p:sp>
      <p:sp>
        <p:nvSpPr>
          <p:cNvPr id="21" name="Rectangle 20">
            <a:extLst>
              <a:ext uri="{FF2B5EF4-FFF2-40B4-BE49-F238E27FC236}">
                <a16:creationId xmlns:a16="http://schemas.microsoft.com/office/drawing/2014/main" id="{E9BAE9A2-EDAB-DF98-6C1F-781ACAA355F4}"/>
              </a:ext>
            </a:extLst>
          </p:cNvPr>
          <p:cNvSpPr/>
          <p:nvPr/>
        </p:nvSpPr>
        <p:spPr>
          <a:xfrm>
            <a:off x="4697021" y="2574126"/>
            <a:ext cx="2062688" cy="338553"/>
          </a:xfrm>
          <a:prstGeom prst="rect">
            <a:avLst/>
          </a:prstGeom>
        </p:spPr>
        <p:txBody>
          <a:bodyPr wrap="square">
            <a:spAutoFit/>
          </a:bodyPr>
          <a:lstStyle/>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r>
              <a:rPr kumimoji="0" lang="en-US" altLang="en-US" sz="16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rPr>
              <a:t>MOBILIZE</a:t>
            </a:r>
          </a:p>
        </p:txBody>
      </p:sp>
      <p:sp>
        <p:nvSpPr>
          <p:cNvPr id="22" name="Rectangle 21">
            <a:extLst>
              <a:ext uri="{FF2B5EF4-FFF2-40B4-BE49-F238E27FC236}">
                <a16:creationId xmlns:a16="http://schemas.microsoft.com/office/drawing/2014/main" id="{274BEABA-2CCB-E2BF-3967-B02BD718C46F}"/>
              </a:ext>
            </a:extLst>
          </p:cNvPr>
          <p:cNvSpPr/>
          <p:nvPr/>
        </p:nvSpPr>
        <p:spPr>
          <a:xfrm>
            <a:off x="7048603" y="2574126"/>
            <a:ext cx="2235413" cy="338554"/>
          </a:xfrm>
          <a:prstGeom prst="rect">
            <a:avLst/>
          </a:prstGeom>
        </p:spPr>
        <p:txBody>
          <a:bodyPr wrap="square">
            <a:spAutoFit/>
          </a:bodyPr>
          <a:lstStyle/>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r>
              <a:rPr lang="en-US" altLang="en-US" sz="1600" b="1" kern="1200" dirty="0">
                <a:solidFill>
                  <a:prstClr val="white"/>
                </a:solidFill>
                <a:latin typeface="+mj-lt"/>
                <a:ea typeface="Microsoft JhengHei" panose="020B0604030504040204" pitchFamily="34" charset="-120"/>
                <a:cs typeface="Arial" panose="020B0604020202020204" pitchFamily="34" charset="0"/>
              </a:rPr>
              <a:t>MIGRATE</a:t>
            </a:r>
            <a:endParaRPr kumimoji="0" lang="en-US" altLang="en-US" sz="16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endParaRPr>
          </a:p>
        </p:txBody>
      </p:sp>
      <p:pic>
        <p:nvPicPr>
          <p:cNvPr id="25" name="Picture 24">
            <a:extLst>
              <a:ext uri="{FF2B5EF4-FFF2-40B4-BE49-F238E27FC236}">
                <a16:creationId xmlns:a16="http://schemas.microsoft.com/office/drawing/2014/main" id="{8269BB0F-6A80-11EF-8A82-F001FE8FAE22}"/>
              </a:ext>
            </a:extLst>
          </p:cNvPr>
          <p:cNvPicPr>
            <a:picLocks noChangeAspect="1"/>
          </p:cNvPicPr>
          <p:nvPr/>
        </p:nvPicPr>
        <p:blipFill>
          <a:blip r:embed="rId3">
            <a:duotone>
              <a:srgbClr val="A7A9AC">
                <a:shade val="45000"/>
                <a:satMod val="135000"/>
              </a:srgbClr>
              <a:prstClr val="white"/>
            </a:duotone>
          </a:blip>
          <a:stretch>
            <a:fillRect/>
          </a:stretch>
        </p:blipFill>
        <p:spPr>
          <a:xfrm>
            <a:off x="2933098" y="1134729"/>
            <a:ext cx="709963" cy="719407"/>
          </a:xfrm>
          <a:prstGeom prst="rect">
            <a:avLst/>
          </a:prstGeom>
        </p:spPr>
      </p:pic>
      <p:pic>
        <p:nvPicPr>
          <p:cNvPr id="28" name="Picture 27">
            <a:extLst>
              <a:ext uri="{FF2B5EF4-FFF2-40B4-BE49-F238E27FC236}">
                <a16:creationId xmlns:a16="http://schemas.microsoft.com/office/drawing/2014/main" id="{54903F08-3741-B1DE-430D-ECCF07399397}"/>
              </a:ext>
            </a:extLst>
          </p:cNvPr>
          <p:cNvPicPr>
            <a:picLocks noChangeAspect="1"/>
          </p:cNvPicPr>
          <p:nvPr/>
        </p:nvPicPr>
        <p:blipFill>
          <a:blip r:embed="rId4"/>
          <a:stretch>
            <a:fillRect/>
          </a:stretch>
        </p:blipFill>
        <p:spPr>
          <a:xfrm>
            <a:off x="8046988" y="1195042"/>
            <a:ext cx="728979" cy="723378"/>
          </a:xfrm>
          <a:prstGeom prst="rect">
            <a:avLst/>
          </a:prstGeom>
        </p:spPr>
      </p:pic>
      <p:sp>
        <p:nvSpPr>
          <p:cNvPr id="34" name="Rectangle 33">
            <a:extLst>
              <a:ext uri="{FF2B5EF4-FFF2-40B4-BE49-F238E27FC236}">
                <a16:creationId xmlns:a16="http://schemas.microsoft.com/office/drawing/2014/main" id="{D8570469-6378-AA3E-6573-D05D984D06EF}"/>
              </a:ext>
            </a:extLst>
          </p:cNvPr>
          <p:cNvSpPr/>
          <p:nvPr/>
        </p:nvSpPr>
        <p:spPr>
          <a:xfrm>
            <a:off x="2068512" y="3494074"/>
            <a:ext cx="2437945" cy="1821018"/>
          </a:xfrm>
          <a:prstGeom prst="rect">
            <a:avLst/>
          </a:prstGeom>
          <a:solidFill>
            <a:schemeClr val="accent3">
              <a:lumMod val="7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45" name="Rectangle 44">
            <a:extLst>
              <a:ext uri="{FF2B5EF4-FFF2-40B4-BE49-F238E27FC236}">
                <a16:creationId xmlns:a16="http://schemas.microsoft.com/office/drawing/2014/main" id="{6BD53925-3556-E33E-98CB-FA7743515887}"/>
              </a:ext>
            </a:extLst>
          </p:cNvPr>
          <p:cNvSpPr/>
          <p:nvPr/>
        </p:nvSpPr>
        <p:spPr>
          <a:xfrm>
            <a:off x="2112302" y="3494074"/>
            <a:ext cx="2383728" cy="1526380"/>
          </a:xfrm>
          <a:prstGeom prst="rect">
            <a:avLst/>
          </a:prstGeom>
          <a:noFill/>
        </p:spPr>
        <p:txBody>
          <a:bodyPr wrap="square">
            <a:spAutoFit/>
          </a:bodyPr>
          <a:lstStyle/>
          <a:p>
            <a:pPr marL="0" indent="0">
              <a:lnSpc>
                <a:spcPts val="2850"/>
              </a:lnSpc>
              <a:buNone/>
            </a:pPr>
            <a:r>
              <a:rPr lang="en-US" sz="1200" dirty="0">
                <a:solidFill>
                  <a:schemeClr val="bg1"/>
                </a:solidFill>
                <a:latin typeface="Overpass" pitchFamily="34" charset="0"/>
                <a:ea typeface="Overpass" pitchFamily="34" charset="-122"/>
                <a:cs typeface="Overpass" pitchFamily="34" charset="-120"/>
              </a:rPr>
              <a:t>Copilot can handle basic customer inquiries and requests, freeing up human agents to focus on more complex issues.</a:t>
            </a:r>
            <a:endParaRPr lang="en-US" sz="1200" dirty="0">
              <a:solidFill>
                <a:schemeClr val="bg1"/>
              </a:solidFill>
            </a:endParaRPr>
          </a:p>
        </p:txBody>
      </p:sp>
      <p:sp>
        <p:nvSpPr>
          <p:cNvPr id="52" name="Rectangle 51">
            <a:extLst>
              <a:ext uri="{FF2B5EF4-FFF2-40B4-BE49-F238E27FC236}">
                <a16:creationId xmlns:a16="http://schemas.microsoft.com/office/drawing/2014/main" id="{EA5B8656-D1AD-FBF6-4224-29351B348982}"/>
              </a:ext>
            </a:extLst>
          </p:cNvPr>
          <p:cNvSpPr/>
          <p:nvPr/>
        </p:nvSpPr>
        <p:spPr>
          <a:xfrm>
            <a:off x="7301714" y="5438282"/>
            <a:ext cx="2438400" cy="1109017"/>
          </a:xfrm>
          <a:prstGeom prst="rect">
            <a:avLst/>
          </a:prstGeom>
          <a:solidFill>
            <a:schemeClr val="accent3">
              <a:lumMod val="7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55" name="Rectangle 54">
            <a:extLst>
              <a:ext uri="{FF2B5EF4-FFF2-40B4-BE49-F238E27FC236}">
                <a16:creationId xmlns:a16="http://schemas.microsoft.com/office/drawing/2014/main" id="{3ECB60EB-6B9C-9755-14D0-2ABDD274B486}"/>
              </a:ext>
            </a:extLst>
          </p:cNvPr>
          <p:cNvSpPr/>
          <p:nvPr/>
        </p:nvSpPr>
        <p:spPr>
          <a:xfrm>
            <a:off x="2068285" y="5460977"/>
            <a:ext cx="2438400" cy="1111014"/>
          </a:xfrm>
          <a:prstGeom prst="rect">
            <a:avLst/>
          </a:prstGeom>
          <a:solidFill>
            <a:schemeClr val="accent3">
              <a:lumMod val="7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mj-lt"/>
              <a:ea typeface="Microsoft JhengHei" panose="020B0604030504040204" pitchFamily="34" charset="-120"/>
              <a:cs typeface="+mn-cs"/>
            </a:endParaRPr>
          </a:p>
        </p:txBody>
      </p:sp>
      <p:sp>
        <p:nvSpPr>
          <p:cNvPr id="56" name="Freeform 5">
            <a:extLst>
              <a:ext uri="{FF2B5EF4-FFF2-40B4-BE49-F238E27FC236}">
                <a16:creationId xmlns:a16="http://schemas.microsoft.com/office/drawing/2014/main" id="{1B48B07E-6B9D-97EB-1AD5-F498BB763FD8}"/>
              </a:ext>
            </a:extLst>
          </p:cNvPr>
          <p:cNvSpPr>
            <a:spLocks/>
          </p:cNvSpPr>
          <p:nvPr/>
        </p:nvSpPr>
        <p:spPr bwMode="auto">
          <a:xfrm>
            <a:off x="2845074" y="5315092"/>
            <a:ext cx="884823" cy="413547"/>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61" name="Oval 60">
            <a:extLst>
              <a:ext uri="{FF2B5EF4-FFF2-40B4-BE49-F238E27FC236}">
                <a16:creationId xmlns:a16="http://schemas.microsoft.com/office/drawing/2014/main" id="{C9EFA7CF-1701-0D1B-DD36-BD21E87C2175}"/>
              </a:ext>
            </a:extLst>
          </p:cNvPr>
          <p:cNvSpPr>
            <a:spLocks noChangeAspect="1"/>
          </p:cNvSpPr>
          <p:nvPr/>
        </p:nvSpPr>
        <p:spPr>
          <a:xfrm>
            <a:off x="3196045" y="5375011"/>
            <a:ext cx="182880" cy="158801"/>
          </a:xfrm>
          <a:prstGeom prst="ellipse">
            <a:avLst/>
          </a:prstGeom>
          <a:solidFill>
            <a:srgbClr val="0099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grpSp>
        <p:nvGrpSpPr>
          <p:cNvPr id="71" name="Group 70">
            <a:extLst>
              <a:ext uri="{FF2B5EF4-FFF2-40B4-BE49-F238E27FC236}">
                <a16:creationId xmlns:a16="http://schemas.microsoft.com/office/drawing/2014/main" id="{075B190B-6094-ED95-0623-150F17E6DCE8}"/>
              </a:ext>
            </a:extLst>
          </p:cNvPr>
          <p:cNvGrpSpPr/>
          <p:nvPr/>
        </p:nvGrpSpPr>
        <p:grpSpPr>
          <a:xfrm>
            <a:off x="7242102" y="1940592"/>
            <a:ext cx="2454155" cy="3770094"/>
            <a:chOff x="7315591" y="1908087"/>
            <a:chExt cx="2454155" cy="3770094"/>
          </a:xfrm>
          <a:solidFill>
            <a:schemeClr val="accent3">
              <a:lumMod val="75000"/>
            </a:schemeClr>
          </a:solidFill>
        </p:grpSpPr>
        <p:sp>
          <p:nvSpPr>
            <p:cNvPr id="6" name="Rectangle 5">
              <a:extLst>
                <a:ext uri="{FF2B5EF4-FFF2-40B4-BE49-F238E27FC236}">
                  <a16:creationId xmlns:a16="http://schemas.microsoft.com/office/drawing/2014/main" id="{4E68A6B6-93D7-ACA5-0EF8-406AD4D7BF5E}"/>
                </a:ext>
              </a:extLst>
            </p:cNvPr>
            <p:cNvSpPr/>
            <p:nvPr/>
          </p:nvSpPr>
          <p:spPr>
            <a:xfrm>
              <a:off x="7315591" y="2027348"/>
              <a:ext cx="2437945" cy="1178666"/>
            </a:xfrm>
            <a:prstGeom prst="rect">
              <a:avLst/>
            </a:prstGeom>
            <a:grp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13" name="Freeform 5">
              <a:extLst>
                <a:ext uri="{FF2B5EF4-FFF2-40B4-BE49-F238E27FC236}">
                  <a16:creationId xmlns:a16="http://schemas.microsoft.com/office/drawing/2014/main" id="{93D7F6D0-627F-99ED-A391-BB7EB587AD8F}"/>
                </a:ext>
              </a:extLst>
            </p:cNvPr>
            <p:cNvSpPr>
              <a:spLocks/>
            </p:cNvSpPr>
            <p:nvPr/>
          </p:nvSpPr>
          <p:spPr bwMode="auto">
            <a:xfrm>
              <a:off x="8093641" y="1908087"/>
              <a:ext cx="884658" cy="473266"/>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chemeClr val="bg1"/>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23" name="Rectangle 22">
              <a:extLst>
                <a:ext uri="{FF2B5EF4-FFF2-40B4-BE49-F238E27FC236}">
                  <a16:creationId xmlns:a16="http://schemas.microsoft.com/office/drawing/2014/main" id="{717665EB-CCAD-EA23-0E2C-F70964F73A1C}"/>
                </a:ext>
              </a:extLst>
            </p:cNvPr>
            <p:cNvSpPr/>
            <p:nvPr/>
          </p:nvSpPr>
          <p:spPr>
            <a:xfrm>
              <a:off x="7409542" y="2443031"/>
              <a:ext cx="2232490" cy="933589"/>
            </a:xfrm>
            <a:prstGeom prst="rect">
              <a:avLst/>
            </a:prstGeom>
            <a:noFill/>
          </p:spPr>
          <p:txBody>
            <a:bodyPr wrap="square">
              <a:spAutoFit/>
            </a:bodyPr>
            <a:lstStyle/>
            <a:p>
              <a:pPr indent="-457200" algn="ctr" defTabSz="914286" eaLnBrk="0" fontAlgn="base" hangingPunct="0">
                <a:spcBef>
                  <a:spcPts val="200"/>
                </a:spcBef>
                <a:spcAft>
                  <a:spcPts val="600"/>
                </a:spcAft>
                <a:buClr>
                  <a:prstClr val="white"/>
                </a:buClr>
                <a:defRPr/>
              </a:pPr>
              <a:r>
                <a:rPr lang="en-US" sz="1600" b="1" dirty="0">
                  <a:solidFill>
                    <a:schemeClr val="bg1"/>
                  </a:solidFill>
                  <a:latin typeface="Syne" pitchFamily="34" charset="0"/>
                  <a:ea typeface="Syne" pitchFamily="34" charset="-122"/>
                  <a:cs typeface="Syne" pitchFamily="34" charset="-120"/>
                </a:rPr>
                <a:t>Enhanced Communication</a:t>
              </a:r>
              <a:endParaRPr lang="en-US" sz="1600" dirty="0">
                <a:solidFill>
                  <a:schemeClr val="bg1"/>
                </a:solidFill>
              </a:endParaRPr>
            </a:p>
            <a:p>
              <a:pPr marL="0" marR="0" lvl="0" indent="-457200" algn="ctr" defTabSz="914286" rtl="0" eaLnBrk="0" fontAlgn="base" latinLnBrk="0" hangingPunct="0">
                <a:lnSpc>
                  <a:spcPct val="100000"/>
                </a:lnSpc>
                <a:spcBef>
                  <a:spcPts val="200"/>
                </a:spcBef>
                <a:spcAft>
                  <a:spcPts val="600"/>
                </a:spcAft>
                <a:buClr>
                  <a:prstClr val="white"/>
                </a:buClr>
                <a:buSzTx/>
                <a:buFontTx/>
                <a:buNone/>
                <a:tabLst/>
                <a:defRPr/>
              </a:pPr>
              <a:r>
                <a:rPr lang="en-US" altLang="en-US" sz="1600" b="1" kern="1200" dirty="0">
                  <a:solidFill>
                    <a:prstClr val="white"/>
                  </a:solidFill>
                  <a:latin typeface="+mj-lt"/>
                  <a:ea typeface="Microsoft JhengHei" panose="020B0604030504040204" pitchFamily="34" charset="-120"/>
                  <a:cs typeface="Arial" panose="020B0604020202020204" pitchFamily="34" charset="0"/>
                </a:rPr>
                <a:t>	</a:t>
              </a:r>
              <a:endParaRPr kumimoji="0" lang="en-US" altLang="en-US" sz="16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endParaRPr>
            </a:p>
          </p:txBody>
        </p:sp>
        <p:sp>
          <p:nvSpPr>
            <p:cNvPr id="31" name="Rectangle 30">
              <a:extLst>
                <a:ext uri="{FF2B5EF4-FFF2-40B4-BE49-F238E27FC236}">
                  <a16:creationId xmlns:a16="http://schemas.microsoft.com/office/drawing/2014/main" id="{6EF58E8E-1E5A-63BA-9AD5-6C384362D772}"/>
                </a:ext>
              </a:extLst>
            </p:cNvPr>
            <p:cNvSpPr/>
            <p:nvPr/>
          </p:nvSpPr>
          <p:spPr>
            <a:xfrm>
              <a:off x="7331801" y="3519426"/>
              <a:ext cx="2437945" cy="1748597"/>
            </a:xfrm>
            <a:prstGeom prst="rect">
              <a:avLst/>
            </a:prstGeom>
            <a:grp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38" name="Freeform 5">
              <a:extLst>
                <a:ext uri="{FF2B5EF4-FFF2-40B4-BE49-F238E27FC236}">
                  <a16:creationId xmlns:a16="http://schemas.microsoft.com/office/drawing/2014/main" id="{9DDC766F-E67D-E343-9C18-A68263D2718C}"/>
                </a:ext>
              </a:extLst>
            </p:cNvPr>
            <p:cNvSpPr>
              <a:spLocks/>
            </p:cNvSpPr>
            <p:nvPr/>
          </p:nvSpPr>
          <p:spPr bwMode="auto">
            <a:xfrm>
              <a:off x="8075887" y="3159136"/>
              <a:ext cx="884658" cy="482059"/>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chemeClr val="bg1"/>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43" name="Oval 42">
              <a:extLst>
                <a:ext uri="{FF2B5EF4-FFF2-40B4-BE49-F238E27FC236}">
                  <a16:creationId xmlns:a16="http://schemas.microsoft.com/office/drawing/2014/main" id="{1C90DCF4-5713-E589-AC9A-3D5044547CC7}"/>
                </a:ext>
              </a:extLst>
            </p:cNvPr>
            <p:cNvSpPr>
              <a:spLocks noChangeAspect="1"/>
            </p:cNvSpPr>
            <p:nvPr/>
          </p:nvSpPr>
          <p:spPr>
            <a:xfrm>
              <a:off x="8444546" y="3227686"/>
              <a:ext cx="182846" cy="181733"/>
            </a:xfrm>
            <a:prstGeom prst="ellipse">
              <a:avLst/>
            </a:prstGeom>
            <a:grp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59" name="Freeform 5">
              <a:extLst>
                <a:ext uri="{FF2B5EF4-FFF2-40B4-BE49-F238E27FC236}">
                  <a16:creationId xmlns:a16="http://schemas.microsoft.com/office/drawing/2014/main" id="{8D02DFC5-91B2-8641-12AF-CCB36B1D4F6C}"/>
                </a:ext>
              </a:extLst>
            </p:cNvPr>
            <p:cNvSpPr>
              <a:spLocks/>
            </p:cNvSpPr>
            <p:nvPr/>
          </p:nvSpPr>
          <p:spPr bwMode="auto">
            <a:xfrm>
              <a:off x="8025405" y="5264634"/>
              <a:ext cx="884823" cy="413547"/>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chemeClr val="bg1"/>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64" name="Oval 63">
              <a:extLst>
                <a:ext uri="{FF2B5EF4-FFF2-40B4-BE49-F238E27FC236}">
                  <a16:creationId xmlns:a16="http://schemas.microsoft.com/office/drawing/2014/main" id="{35DA328A-6240-2A92-9B97-5C633D3841FE}"/>
                </a:ext>
              </a:extLst>
            </p:cNvPr>
            <p:cNvSpPr>
              <a:spLocks noChangeAspect="1"/>
            </p:cNvSpPr>
            <p:nvPr/>
          </p:nvSpPr>
          <p:spPr>
            <a:xfrm>
              <a:off x="8353710" y="5352442"/>
              <a:ext cx="182880" cy="158801"/>
            </a:xfrm>
            <a:prstGeom prst="ellipse">
              <a:avLst/>
            </a:prstGeom>
            <a:grp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grpSp>
      <p:sp>
        <p:nvSpPr>
          <p:cNvPr id="66" name="Rectangle 65">
            <a:extLst>
              <a:ext uri="{FF2B5EF4-FFF2-40B4-BE49-F238E27FC236}">
                <a16:creationId xmlns:a16="http://schemas.microsoft.com/office/drawing/2014/main" id="{13C3EE3A-C1A1-6CA4-FF03-AE73A70D9040}"/>
              </a:ext>
            </a:extLst>
          </p:cNvPr>
          <p:cNvSpPr/>
          <p:nvPr/>
        </p:nvSpPr>
        <p:spPr>
          <a:xfrm>
            <a:off x="2175091" y="5794597"/>
            <a:ext cx="2189053" cy="600164"/>
          </a:xfrm>
          <a:prstGeom prst="rect">
            <a:avLst/>
          </a:prstGeom>
        </p:spPr>
        <p:txBody>
          <a:bodyPr wrap="square">
            <a:spAutoFit/>
          </a:bodyPr>
          <a:lstStyle/>
          <a:p>
            <a:pPr marL="342900" indent="-342900" algn="l">
              <a:buSzPct val="100000"/>
              <a:buChar char="•"/>
            </a:pPr>
            <a:r>
              <a:rPr lang="en-US" sz="1100" dirty="0">
                <a:solidFill>
                  <a:schemeClr val="bg1"/>
                </a:solidFill>
                <a:latin typeface="Overpass" pitchFamily="34" charset="0"/>
                <a:ea typeface="Overpass" pitchFamily="34" charset="-122"/>
                <a:cs typeface="Overpass" pitchFamily="34" charset="-120"/>
              </a:rPr>
              <a:t>24/7 availability</a:t>
            </a:r>
          </a:p>
          <a:p>
            <a:pPr marL="342900" indent="-342900">
              <a:buSzPct val="100000"/>
              <a:buFontTx/>
              <a:buChar char="•"/>
            </a:pPr>
            <a:r>
              <a:rPr lang="en-US" sz="1100" dirty="0">
                <a:solidFill>
                  <a:schemeClr val="bg1"/>
                </a:solidFill>
                <a:latin typeface="Overpass" pitchFamily="34" charset="0"/>
                <a:ea typeface="Overpass" pitchFamily="34" charset="-122"/>
                <a:cs typeface="Overpass" pitchFamily="34" charset="-120"/>
              </a:rPr>
              <a:t>Personalized responses</a:t>
            </a:r>
            <a:endParaRPr lang="en-US" sz="1100" dirty="0">
              <a:solidFill>
                <a:schemeClr val="bg1"/>
              </a:solidFill>
            </a:endParaRPr>
          </a:p>
          <a:p>
            <a:pPr marL="342900" indent="-342900">
              <a:buSzPct val="100000"/>
              <a:buFontTx/>
              <a:buChar char="•"/>
            </a:pPr>
            <a:r>
              <a:rPr lang="en-US" sz="1100" dirty="0">
                <a:solidFill>
                  <a:schemeClr val="bg1"/>
                </a:solidFill>
                <a:latin typeface="Overpass" pitchFamily="34" charset="0"/>
                <a:ea typeface="Overpass" pitchFamily="34" charset="-122"/>
                <a:cs typeface="Overpass" pitchFamily="34" charset="-120"/>
              </a:rPr>
              <a:t>Multi-channel support</a:t>
            </a:r>
            <a:endParaRPr lang="en-US" sz="1100" dirty="0">
              <a:solidFill>
                <a:schemeClr val="bg1"/>
              </a:solidFill>
            </a:endParaRPr>
          </a:p>
        </p:txBody>
      </p:sp>
      <p:grpSp>
        <p:nvGrpSpPr>
          <p:cNvPr id="79" name="Group 78">
            <a:extLst>
              <a:ext uri="{FF2B5EF4-FFF2-40B4-BE49-F238E27FC236}">
                <a16:creationId xmlns:a16="http://schemas.microsoft.com/office/drawing/2014/main" id="{537DCB77-AA62-728C-9C93-06AC546192F1}"/>
              </a:ext>
            </a:extLst>
          </p:cNvPr>
          <p:cNvGrpSpPr/>
          <p:nvPr/>
        </p:nvGrpSpPr>
        <p:grpSpPr>
          <a:xfrm>
            <a:off x="4701670" y="1164858"/>
            <a:ext cx="2690456" cy="5447062"/>
            <a:chOff x="2438399" y="1187553"/>
            <a:chExt cx="2690456" cy="5447062"/>
          </a:xfrm>
        </p:grpSpPr>
        <p:sp>
          <p:nvSpPr>
            <p:cNvPr id="8" name="Rectangle 7">
              <a:extLst>
                <a:ext uri="{FF2B5EF4-FFF2-40B4-BE49-F238E27FC236}">
                  <a16:creationId xmlns:a16="http://schemas.microsoft.com/office/drawing/2014/main" id="{387A9F87-33A0-2CF5-0D26-2E3ABF99BA2C}"/>
                </a:ext>
              </a:extLst>
            </p:cNvPr>
            <p:cNvSpPr/>
            <p:nvPr/>
          </p:nvSpPr>
          <p:spPr>
            <a:xfrm>
              <a:off x="2441106" y="2075039"/>
              <a:ext cx="2437945" cy="1245103"/>
            </a:xfrm>
            <a:prstGeom prst="rect">
              <a:avLst/>
            </a:prstGeom>
            <a:solidFill>
              <a:schemeClr val="tx1">
                <a:lumMod val="75000"/>
                <a:lumOff val="2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mj-lt"/>
                <a:ea typeface="Microsoft JhengHei" panose="020B0604030504040204" pitchFamily="34" charset="-120"/>
                <a:cs typeface="+mn-cs"/>
              </a:endParaRPr>
            </a:p>
          </p:txBody>
        </p:sp>
        <p:sp>
          <p:nvSpPr>
            <p:cNvPr id="11" name="Freeform 5">
              <a:extLst>
                <a:ext uri="{FF2B5EF4-FFF2-40B4-BE49-F238E27FC236}">
                  <a16:creationId xmlns:a16="http://schemas.microsoft.com/office/drawing/2014/main" id="{A815DA31-DC3D-EE03-7646-433AF369A47A}"/>
                </a:ext>
              </a:extLst>
            </p:cNvPr>
            <p:cNvSpPr>
              <a:spLocks/>
            </p:cNvSpPr>
            <p:nvPr/>
          </p:nvSpPr>
          <p:spPr bwMode="auto">
            <a:xfrm>
              <a:off x="3217750" y="1908087"/>
              <a:ext cx="884658" cy="473266"/>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pic>
          <p:nvPicPr>
            <p:cNvPr id="26" name="Picture 25">
              <a:extLst>
                <a:ext uri="{FF2B5EF4-FFF2-40B4-BE49-F238E27FC236}">
                  <a16:creationId xmlns:a16="http://schemas.microsoft.com/office/drawing/2014/main" id="{40FCB8F5-0827-7BDC-7D22-639F83452FB7}"/>
                </a:ext>
              </a:extLst>
            </p:cNvPr>
            <p:cNvPicPr>
              <a:picLocks noChangeAspect="1"/>
            </p:cNvPicPr>
            <p:nvPr/>
          </p:nvPicPr>
          <p:blipFill>
            <a:blip r:embed="rId5">
              <a:duotone>
                <a:prstClr val="black"/>
                <a:srgbClr val="A7A9AC">
                  <a:tint val="45000"/>
                  <a:satMod val="400000"/>
                </a:srgbClr>
              </a:duotone>
            </a:blip>
            <a:stretch>
              <a:fillRect/>
            </a:stretch>
          </p:blipFill>
          <p:spPr>
            <a:xfrm>
              <a:off x="3244712" y="1187553"/>
              <a:ext cx="717968" cy="709389"/>
            </a:xfrm>
            <a:prstGeom prst="rect">
              <a:avLst/>
            </a:prstGeom>
          </p:spPr>
        </p:pic>
        <p:sp>
          <p:nvSpPr>
            <p:cNvPr id="33" name="Rectangle 32">
              <a:extLst>
                <a:ext uri="{FF2B5EF4-FFF2-40B4-BE49-F238E27FC236}">
                  <a16:creationId xmlns:a16="http://schemas.microsoft.com/office/drawing/2014/main" id="{050D6E80-6E0D-3EDA-1D29-668A5941E47D}"/>
                </a:ext>
              </a:extLst>
            </p:cNvPr>
            <p:cNvSpPr/>
            <p:nvPr/>
          </p:nvSpPr>
          <p:spPr>
            <a:xfrm>
              <a:off x="2441105" y="3500143"/>
              <a:ext cx="2437945" cy="1914369"/>
            </a:xfrm>
            <a:prstGeom prst="rect">
              <a:avLst/>
            </a:prstGeom>
            <a:solidFill>
              <a:schemeClr val="tx1">
                <a:lumMod val="75000"/>
                <a:lumOff val="2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mj-lt"/>
                <a:ea typeface="Microsoft JhengHei" panose="020B0604030504040204" pitchFamily="34" charset="-120"/>
                <a:cs typeface="+mn-cs"/>
              </a:endParaRPr>
            </a:p>
          </p:txBody>
        </p:sp>
        <p:sp>
          <p:nvSpPr>
            <p:cNvPr id="46" name="Rectangle 45">
              <a:extLst>
                <a:ext uri="{FF2B5EF4-FFF2-40B4-BE49-F238E27FC236}">
                  <a16:creationId xmlns:a16="http://schemas.microsoft.com/office/drawing/2014/main" id="{7DE4524D-7F17-F807-1653-74F268C2C08A}"/>
                </a:ext>
              </a:extLst>
            </p:cNvPr>
            <p:cNvSpPr/>
            <p:nvPr/>
          </p:nvSpPr>
          <p:spPr>
            <a:xfrm>
              <a:off x="2525967" y="3607324"/>
              <a:ext cx="2503222" cy="1790234"/>
            </a:xfrm>
            <a:prstGeom prst="rect">
              <a:avLst/>
            </a:prstGeom>
          </p:spPr>
          <p:txBody>
            <a:bodyPr wrap="square">
              <a:spAutoFit/>
            </a:bodyPr>
            <a:lstStyle/>
            <a:p>
              <a:pPr marL="0" indent="0">
                <a:lnSpc>
                  <a:spcPts val="2850"/>
                </a:lnSpc>
                <a:buNone/>
              </a:pPr>
              <a:r>
                <a:rPr lang="en-US" sz="1200" dirty="0">
                  <a:solidFill>
                    <a:schemeClr val="bg1"/>
                  </a:solidFill>
                  <a:latin typeface="Overpass" pitchFamily="34" charset="0"/>
                  <a:ea typeface="Overpass" pitchFamily="34" charset="-122"/>
                  <a:cs typeface="Overpass" pitchFamily="34" charset="-120"/>
                </a:rPr>
                <a:t>Copilot can analyze customer data and provide tailored recommendations for products, services, and content.</a:t>
              </a:r>
              <a:endParaRPr lang="en-US" sz="1200" dirty="0">
                <a:solidFill>
                  <a:schemeClr val="bg1"/>
                </a:solidFill>
              </a:endParaRPr>
            </a:p>
            <a:p>
              <a:pPr marL="171450" marR="0" lvl="0" indent="-171450" algn="l" defTabSz="914286" rtl="0" eaLnBrk="0" fontAlgn="base" latinLnBrk="0" hangingPunct="0">
                <a:lnSpc>
                  <a:spcPct val="100000"/>
                </a:lnSpc>
                <a:spcBef>
                  <a:spcPts val="200"/>
                </a:spcBef>
                <a:spcAft>
                  <a:spcPts val="600"/>
                </a:spcAft>
                <a:buClr>
                  <a:prstClr val="white"/>
                </a:buClr>
                <a:buSzTx/>
                <a:buFont typeface="Wingdings" panose="05000000000000000000" pitchFamily="2" charset="2"/>
                <a:buChar char="q"/>
                <a:tabLst/>
                <a:defRPr/>
              </a:pPr>
              <a:endParaRPr kumimoji="0" lang="en-US" altLang="en-US" sz="1200" b="0" i="0" u="none" strike="noStrike" kern="1200" cap="none" spc="0" normalizeH="0" baseline="0" noProof="0" dirty="0">
                <a:ln>
                  <a:noFill/>
                </a:ln>
                <a:solidFill>
                  <a:schemeClr val="bg1"/>
                </a:solidFill>
                <a:effectLst/>
                <a:uLnTx/>
                <a:uFillTx/>
                <a:latin typeface="+mj-lt"/>
                <a:ea typeface="Microsoft JhengHei" panose="020B0604030504040204" pitchFamily="34" charset="-120"/>
                <a:cs typeface="Arial" panose="020B0604020202020204" pitchFamily="34" charset="0"/>
              </a:endParaRPr>
            </a:p>
          </p:txBody>
        </p:sp>
        <p:sp>
          <p:nvSpPr>
            <p:cNvPr id="54" name="Rectangle 53">
              <a:extLst>
                <a:ext uri="{FF2B5EF4-FFF2-40B4-BE49-F238E27FC236}">
                  <a16:creationId xmlns:a16="http://schemas.microsoft.com/office/drawing/2014/main" id="{8ABC27A8-382D-17AC-9D20-EC661B7BC72B}"/>
                </a:ext>
              </a:extLst>
            </p:cNvPr>
            <p:cNvSpPr/>
            <p:nvPr/>
          </p:nvSpPr>
          <p:spPr>
            <a:xfrm>
              <a:off x="2438399" y="5460977"/>
              <a:ext cx="2438400" cy="1173638"/>
            </a:xfrm>
            <a:prstGeom prst="rect">
              <a:avLst/>
            </a:prstGeom>
            <a:solidFill>
              <a:schemeClr val="tx1">
                <a:lumMod val="75000"/>
                <a:lumOff val="2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chemeClr val="bg1"/>
                </a:solidFill>
                <a:effectLst/>
                <a:uLnTx/>
                <a:uFillTx/>
                <a:latin typeface="+mj-lt"/>
                <a:ea typeface="Microsoft JhengHei" panose="020B0604030504040204" pitchFamily="34" charset="-120"/>
                <a:cs typeface="+mn-cs"/>
              </a:endParaRPr>
            </a:p>
          </p:txBody>
        </p:sp>
        <p:sp>
          <p:nvSpPr>
            <p:cNvPr id="57" name="Freeform 5">
              <a:extLst>
                <a:ext uri="{FF2B5EF4-FFF2-40B4-BE49-F238E27FC236}">
                  <a16:creationId xmlns:a16="http://schemas.microsoft.com/office/drawing/2014/main" id="{FA108033-0DAC-5BC4-A3FE-D27D777A1EEF}"/>
                </a:ext>
              </a:extLst>
            </p:cNvPr>
            <p:cNvSpPr>
              <a:spLocks/>
            </p:cNvSpPr>
            <p:nvPr/>
          </p:nvSpPr>
          <p:spPr bwMode="auto">
            <a:xfrm>
              <a:off x="3215188" y="5315092"/>
              <a:ext cx="884823" cy="413547"/>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67" name="Rectangle 66">
              <a:extLst>
                <a:ext uri="{FF2B5EF4-FFF2-40B4-BE49-F238E27FC236}">
                  <a16:creationId xmlns:a16="http://schemas.microsoft.com/office/drawing/2014/main" id="{139A2549-34BD-E0FB-8AEF-D7415F536F5B}"/>
                </a:ext>
              </a:extLst>
            </p:cNvPr>
            <p:cNvSpPr/>
            <p:nvPr/>
          </p:nvSpPr>
          <p:spPr>
            <a:xfrm>
              <a:off x="2504221" y="5779859"/>
              <a:ext cx="2624634" cy="795089"/>
            </a:xfrm>
            <a:prstGeom prst="rect">
              <a:avLst/>
            </a:prstGeom>
            <a:noFill/>
          </p:spPr>
          <p:txBody>
            <a:bodyPr wrap="square">
              <a:spAutoFit/>
            </a:bodyPr>
            <a:lstStyle/>
            <a:p>
              <a:pPr marL="342900" indent="-342900" algn="l">
                <a:buSzPct val="100000"/>
                <a:buChar char="•"/>
              </a:pPr>
              <a:r>
                <a:rPr lang="en-US" sz="1100" dirty="0">
                  <a:solidFill>
                    <a:schemeClr val="bg1"/>
                  </a:solidFill>
                  <a:latin typeface="Overpass" pitchFamily="34" charset="0"/>
                  <a:ea typeface="Overpass" pitchFamily="34" charset="-122"/>
                  <a:cs typeface="Overpass" pitchFamily="34" charset="-120"/>
                </a:rPr>
                <a:t>Proactive outreach</a:t>
              </a:r>
              <a:endParaRPr lang="en-US" sz="1100" dirty="0">
                <a:solidFill>
                  <a:schemeClr val="bg1"/>
                </a:solidFill>
              </a:endParaRPr>
            </a:p>
            <a:p>
              <a:pPr marL="342900" indent="-342900" algn="l">
                <a:buSzPct val="100000"/>
                <a:buChar char="•"/>
              </a:pPr>
              <a:r>
                <a:rPr lang="en-US" sz="1100" dirty="0">
                  <a:solidFill>
                    <a:schemeClr val="bg1"/>
                  </a:solidFill>
                  <a:latin typeface="Overpass" pitchFamily="34" charset="0"/>
                  <a:ea typeface="Overpass" pitchFamily="34" charset="-122"/>
                  <a:cs typeface="Overpass" pitchFamily="34" charset="-120"/>
                </a:rPr>
                <a:t>Targeted promotions</a:t>
              </a:r>
              <a:endParaRPr lang="en-US" sz="1100" dirty="0">
                <a:solidFill>
                  <a:schemeClr val="bg1"/>
                </a:solidFill>
              </a:endParaRPr>
            </a:p>
            <a:p>
              <a:pPr marL="342900" indent="-342900" algn="l">
                <a:buSzPct val="100000"/>
                <a:buChar char="•"/>
              </a:pPr>
              <a:r>
                <a:rPr lang="en-US" sz="1100" dirty="0">
                  <a:solidFill>
                    <a:schemeClr val="bg1"/>
                  </a:solidFill>
                  <a:latin typeface="Overpass" pitchFamily="34" charset="0"/>
                  <a:ea typeface="Overpass" pitchFamily="34" charset="-122"/>
                  <a:cs typeface="Overpass" pitchFamily="34" charset="-120"/>
                </a:rPr>
                <a:t>Improved customer satisfaction</a:t>
              </a:r>
              <a:endParaRPr lang="en-US" sz="1100" dirty="0">
                <a:solidFill>
                  <a:schemeClr val="bg1"/>
                </a:solidFill>
              </a:endParaRPr>
            </a:p>
            <a:p>
              <a:pPr marL="0" marR="0" lvl="0" indent="0" algn="ctr" defTabSz="914286" rtl="0" eaLnBrk="0" fontAlgn="base" latinLnBrk="0" hangingPunct="0">
                <a:spcBef>
                  <a:spcPts val="200"/>
                </a:spcBef>
                <a:spcAft>
                  <a:spcPts val="600"/>
                </a:spcAft>
                <a:buClr>
                  <a:prstClr val="white"/>
                </a:buClr>
                <a:buSzTx/>
                <a:buFontTx/>
                <a:buNone/>
                <a:tabLst/>
                <a:defRPr/>
              </a:pPr>
              <a:endParaRPr kumimoji="0" lang="en-US" altLang="en-US" sz="1100" b="1" i="0" u="none" strike="noStrike" kern="1200" cap="none" spc="0" normalizeH="0" baseline="0" noProof="0" dirty="0">
                <a:ln>
                  <a:noFill/>
                </a:ln>
                <a:solidFill>
                  <a:schemeClr val="bg1"/>
                </a:solidFill>
                <a:effectLst/>
                <a:uLnTx/>
                <a:uFillTx/>
                <a:latin typeface="+mj-lt"/>
                <a:ea typeface="Microsoft JhengHei" panose="020B0604030504040204" pitchFamily="34" charset="-120"/>
                <a:cs typeface="Arial" panose="020B0604020202020204" pitchFamily="34" charset="0"/>
              </a:endParaRPr>
            </a:p>
          </p:txBody>
        </p:sp>
      </p:grpSp>
      <p:sp>
        <p:nvSpPr>
          <p:cNvPr id="75" name="Rectangle 74">
            <a:extLst>
              <a:ext uri="{FF2B5EF4-FFF2-40B4-BE49-F238E27FC236}">
                <a16:creationId xmlns:a16="http://schemas.microsoft.com/office/drawing/2014/main" id="{BD45AE71-D30F-F69E-B4AB-F856869F93CF}"/>
              </a:ext>
            </a:extLst>
          </p:cNvPr>
          <p:cNvSpPr/>
          <p:nvPr/>
        </p:nvSpPr>
        <p:spPr>
          <a:xfrm>
            <a:off x="7365818" y="5736990"/>
            <a:ext cx="2751748" cy="1169551"/>
          </a:xfrm>
          <a:prstGeom prst="rect">
            <a:avLst/>
          </a:prstGeom>
        </p:spPr>
        <p:txBody>
          <a:bodyPr wrap="square">
            <a:spAutoFit/>
          </a:bodyPr>
          <a:lstStyle/>
          <a:p>
            <a:pPr marL="171450" indent="-171450">
              <a:buSzPct val="100000"/>
              <a:buFont typeface="Arial" panose="020B0604020202020204" pitchFamily="34" charset="0"/>
              <a:buChar char="•"/>
            </a:pPr>
            <a:r>
              <a:rPr lang="en-US" sz="1100" dirty="0">
                <a:solidFill>
                  <a:schemeClr val="bg1"/>
                </a:solidFill>
                <a:latin typeface="Overpass" pitchFamily="34" charset="0"/>
              </a:rPr>
              <a:t>Improved efficiency</a:t>
            </a:r>
          </a:p>
          <a:p>
            <a:pPr marL="171450" indent="-171450" fontAlgn="base">
              <a:spcBef>
                <a:spcPts val="200"/>
              </a:spcBef>
              <a:spcAft>
                <a:spcPts val="600"/>
              </a:spcAft>
              <a:buClr>
                <a:prstClr val="white"/>
              </a:buClr>
              <a:buSzPct val="100000"/>
              <a:buFont typeface="Arial" panose="020B0604020202020204" pitchFamily="34" charset="0"/>
              <a:buChar char="•"/>
              <a:defRPr/>
            </a:pPr>
            <a:r>
              <a:rPr lang="en-US" sz="1100" dirty="0">
                <a:solidFill>
                  <a:schemeClr val="bg1"/>
                </a:solidFill>
                <a:latin typeface="Overpass" pitchFamily="34" charset="0"/>
              </a:rPr>
              <a:t>Consistent brand messaging</a:t>
            </a:r>
          </a:p>
          <a:p>
            <a:pPr marL="171450" indent="-171450">
              <a:buSzPct val="100000"/>
              <a:buFont typeface="Arial" panose="020B0604020202020204" pitchFamily="34" charset="0"/>
              <a:buChar char="•"/>
            </a:pPr>
            <a:r>
              <a:rPr lang="en-US" sz="1100" dirty="0">
                <a:solidFill>
                  <a:schemeClr val="bg1"/>
                </a:solidFill>
                <a:latin typeface="Overpass" pitchFamily="34" charset="0"/>
              </a:rPr>
              <a:t>Reduced errors</a:t>
            </a:r>
          </a:p>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endParaRPr lang="en-US" altLang="en-US" sz="1100" b="1" kern="1200" dirty="0">
              <a:solidFill>
                <a:prstClr val="white"/>
              </a:solidFill>
              <a:latin typeface="+mj-lt"/>
              <a:ea typeface="Microsoft JhengHei" panose="020B0604030504040204" pitchFamily="34" charset="-120"/>
              <a:cs typeface="Arial" panose="020B0604020202020204" pitchFamily="34" charset="0"/>
            </a:endParaRPr>
          </a:p>
          <a:p>
            <a:pPr marL="0" marR="0" lvl="0" indent="0" algn="ctr" defTabSz="914286" rtl="0" eaLnBrk="0" fontAlgn="base" latinLnBrk="0" hangingPunct="0">
              <a:lnSpc>
                <a:spcPct val="100000"/>
              </a:lnSpc>
              <a:spcBef>
                <a:spcPts val="200"/>
              </a:spcBef>
              <a:spcAft>
                <a:spcPts val="600"/>
              </a:spcAft>
              <a:buClr>
                <a:prstClr val="white"/>
              </a:buClr>
              <a:buSzTx/>
              <a:buFontTx/>
              <a:buNone/>
              <a:tabLst/>
              <a:defRPr/>
            </a:pPr>
            <a:endParaRPr kumimoji="0" lang="en-US" altLang="en-US" sz="11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endParaRPr>
          </a:p>
        </p:txBody>
      </p:sp>
      <p:sp>
        <p:nvSpPr>
          <p:cNvPr id="78" name="Oval 77">
            <a:extLst>
              <a:ext uri="{FF2B5EF4-FFF2-40B4-BE49-F238E27FC236}">
                <a16:creationId xmlns:a16="http://schemas.microsoft.com/office/drawing/2014/main" id="{60D3C26E-C23E-AE88-97B0-CA0BCEBDD5B4}"/>
              </a:ext>
            </a:extLst>
          </p:cNvPr>
          <p:cNvSpPr>
            <a:spLocks noChangeAspect="1"/>
          </p:cNvSpPr>
          <p:nvPr/>
        </p:nvSpPr>
        <p:spPr>
          <a:xfrm>
            <a:off x="8377757" y="2053855"/>
            <a:ext cx="182846" cy="181733"/>
          </a:xfrm>
          <a:prstGeom prst="ellipse">
            <a:avLst/>
          </a:prstGeom>
          <a:solidFill>
            <a:schemeClr val="accent2">
              <a:lumMod val="75000"/>
            </a:schemeClr>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36" name="Freeform 5">
            <a:extLst>
              <a:ext uri="{FF2B5EF4-FFF2-40B4-BE49-F238E27FC236}">
                <a16:creationId xmlns:a16="http://schemas.microsoft.com/office/drawing/2014/main" id="{F42241B4-D45D-30AE-1D82-C211C0676D18}"/>
              </a:ext>
            </a:extLst>
          </p:cNvPr>
          <p:cNvSpPr>
            <a:spLocks/>
          </p:cNvSpPr>
          <p:nvPr/>
        </p:nvSpPr>
        <p:spPr bwMode="auto">
          <a:xfrm>
            <a:off x="5494053" y="3180745"/>
            <a:ext cx="815507" cy="477518"/>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62" name="Oval 61">
            <a:extLst>
              <a:ext uri="{FF2B5EF4-FFF2-40B4-BE49-F238E27FC236}">
                <a16:creationId xmlns:a16="http://schemas.microsoft.com/office/drawing/2014/main" id="{406CFFB3-0759-B616-0C5D-11DF50B1685B}"/>
              </a:ext>
            </a:extLst>
          </p:cNvPr>
          <p:cNvSpPr>
            <a:spLocks noChangeAspect="1"/>
          </p:cNvSpPr>
          <p:nvPr/>
        </p:nvSpPr>
        <p:spPr>
          <a:xfrm>
            <a:off x="5798836" y="5397281"/>
            <a:ext cx="182880" cy="158801"/>
          </a:xfrm>
          <a:prstGeom prst="ellipse">
            <a:avLst/>
          </a:prstGeom>
          <a:solidFill>
            <a:srgbClr val="00CC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16" name="Oval 15">
            <a:extLst>
              <a:ext uri="{FF2B5EF4-FFF2-40B4-BE49-F238E27FC236}">
                <a16:creationId xmlns:a16="http://schemas.microsoft.com/office/drawing/2014/main" id="{D1296DCB-96B2-445F-2C62-A1689DA0252D}"/>
              </a:ext>
            </a:extLst>
          </p:cNvPr>
          <p:cNvSpPr>
            <a:spLocks noChangeAspect="1"/>
          </p:cNvSpPr>
          <p:nvPr/>
        </p:nvSpPr>
        <p:spPr>
          <a:xfrm>
            <a:off x="5798870" y="2008458"/>
            <a:ext cx="182846" cy="181733"/>
          </a:xfrm>
          <a:prstGeom prst="ellipse">
            <a:avLst/>
          </a:prstGeom>
          <a:solidFill>
            <a:srgbClr val="00CC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80" name="Rectangle 79">
            <a:extLst>
              <a:ext uri="{FF2B5EF4-FFF2-40B4-BE49-F238E27FC236}">
                <a16:creationId xmlns:a16="http://schemas.microsoft.com/office/drawing/2014/main" id="{4301E00B-46C3-8542-2543-789B214DAEB7}"/>
              </a:ext>
            </a:extLst>
          </p:cNvPr>
          <p:cNvSpPr/>
          <p:nvPr/>
        </p:nvSpPr>
        <p:spPr>
          <a:xfrm>
            <a:off x="4732387" y="2357932"/>
            <a:ext cx="2369727" cy="1159292"/>
          </a:xfrm>
          <a:prstGeom prst="rect">
            <a:avLst/>
          </a:prstGeom>
        </p:spPr>
        <p:txBody>
          <a:bodyPr wrap="square">
            <a:spAutoFit/>
          </a:bodyPr>
          <a:lstStyle/>
          <a:p>
            <a:pPr algn="ctr" fontAlgn="base">
              <a:lnSpc>
                <a:spcPts val="2750"/>
              </a:lnSpc>
              <a:spcBef>
                <a:spcPts val="200"/>
              </a:spcBef>
              <a:spcAft>
                <a:spcPts val="600"/>
              </a:spcAft>
              <a:buClr>
                <a:prstClr val="white"/>
              </a:buClr>
              <a:defRPr/>
            </a:pPr>
            <a:r>
              <a:rPr lang="en-US" b="1" dirty="0">
                <a:solidFill>
                  <a:schemeClr val="bg1"/>
                </a:solidFill>
                <a:latin typeface="Syne" pitchFamily="34" charset="0"/>
              </a:rPr>
              <a:t>Personalized Recommendations</a:t>
            </a:r>
          </a:p>
          <a:p>
            <a:pPr marL="0" marR="0" lvl="0" indent="-457200" algn="ctr" defTabSz="914286" rtl="0" eaLnBrk="0" fontAlgn="base" latinLnBrk="0" hangingPunct="0">
              <a:lnSpc>
                <a:spcPct val="100000"/>
              </a:lnSpc>
              <a:spcBef>
                <a:spcPts val="200"/>
              </a:spcBef>
              <a:spcAft>
                <a:spcPts val="600"/>
              </a:spcAft>
              <a:buClr>
                <a:prstClr val="white"/>
              </a:buClr>
              <a:buSzTx/>
              <a:buFontTx/>
              <a:buNone/>
              <a:tabLst/>
              <a:defRPr/>
            </a:pPr>
            <a:r>
              <a:rPr lang="en-US" altLang="en-US" sz="1600" b="1" kern="1200" dirty="0">
                <a:solidFill>
                  <a:prstClr val="white"/>
                </a:solidFill>
                <a:latin typeface="+mj-lt"/>
                <a:ea typeface="Microsoft JhengHei" panose="020B0604030504040204" pitchFamily="34" charset="-120"/>
                <a:cs typeface="Arial" panose="020B0604020202020204" pitchFamily="34" charset="0"/>
              </a:rPr>
              <a:t>	</a:t>
            </a:r>
            <a:endParaRPr kumimoji="0" lang="en-US" altLang="en-US" sz="1600" b="1" i="0" u="none" strike="noStrike" kern="1200" cap="none" spc="0" normalizeH="0" baseline="0" noProof="0" dirty="0">
              <a:ln>
                <a:noFill/>
              </a:ln>
              <a:solidFill>
                <a:prstClr val="white"/>
              </a:solidFill>
              <a:effectLst/>
              <a:uLnTx/>
              <a:uFillTx/>
              <a:latin typeface="+mj-lt"/>
              <a:ea typeface="Microsoft JhengHei" panose="020B0604030504040204" pitchFamily="34" charset="-120"/>
              <a:cs typeface="Arial" panose="020B0604020202020204" pitchFamily="34" charset="0"/>
            </a:endParaRPr>
          </a:p>
        </p:txBody>
      </p:sp>
      <p:sp>
        <p:nvSpPr>
          <p:cNvPr id="95" name="Oval 94">
            <a:extLst>
              <a:ext uri="{FF2B5EF4-FFF2-40B4-BE49-F238E27FC236}">
                <a16:creationId xmlns:a16="http://schemas.microsoft.com/office/drawing/2014/main" id="{2E995FD5-B6AD-F482-B2E2-FEE323026443}"/>
              </a:ext>
            </a:extLst>
          </p:cNvPr>
          <p:cNvSpPr>
            <a:spLocks noChangeAspect="1"/>
          </p:cNvSpPr>
          <p:nvPr/>
        </p:nvSpPr>
        <p:spPr>
          <a:xfrm>
            <a:off x="5798836" y="3281639"/>
            <a:ext cx="182846" cy="181733"/>
          </a:xfrm>
          <a:prstGeom prst="ellipse">
            <a:avLst/>
          </a:prstGeom>
          <a:solidFill>
            <a:srgbClr val="00CC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sp>
        <p:nvSpPr>
          <p:cNvPr id="2" name="Rectangle 1">
            <a:extLst>
              <a:ext uri="{FF2B5EF4-FFF2-40B4-BE49-F238E27FC236}">
                <a16:creationId xmlns:a16="http://schemas.microsoft.com/office/drawing/2014/main" id="{F0E7CE88-6533-4D53-12CC-4B1F20E82B13}"/>
              </a:ext>
            </a:extLst>
          </p:cNvPr>
          <p:cNvSpPr/>
          <p:nvPr/>
        </p:nvSpPr>
        <p:spPr>
          <a:xfrm>
            <a:off x="7314372" y="3635332"/>
            <a:ext cx="2285093" cy="1526380"/>
          </a:xfrm>
          <a:prstGeom prst="rect">
            <a:avLst/>
          </a:prstGeom>
        </p:spPr>
        <p:txBody>
          <a:bodyPr wrap="square">
            <a:spAutoFit/>
          </a:bodyPr>
          <a:lstStyle/>
          <a:p>
            <a:pPr marL="0" indent="0">
              <a:lnSpc>
                <a:spcPts val="2850"/>
              </a:lnSpc>
              <a:buNone/>
            </a:pPr>
            <a:r>
              <a:rPr lang="en-US" sz="1200" dirty="0">
                <a:solidFill>
                  <a:schemeClr val="bg1"/>
                </a:solidFill>
                <a:latin typeface="Overpass" pitchFamily="34" charset="0"/>
                <a:ea typeface="Overpass" pitchFamily="34" charset="-122"/>
                <a:cs typeface="Overpass" pitchFamily="34" charset="-120"/>
              </a:rPr>
              <a:t>Copilot can generate email drafts, social media posts, and other content for effective communication.</a:t>
            </a:r>
            <a:endParaRPr lang="en-US" sz="1200" dirty="0">
              <a:solidFill>
                <a:schemeClr val="bg1"/>
              </a:solidFill>
            </a:endParaRPr>
          </a:p>
        </p:txBody>
      </p:sp>
      <p:sp>
        <p:nvSpPr>
          <p:cNvPr id="7" name="Google Shape;286;p59">
            <a:extLst>
              <a:ext uri="{FF2B5EF4-FFF2-40B4-BE49-F238E27FC236}">
                <a16:creationId xmlns:a16="http://schemas.microsoft.com/office/drawing/2014/main" id="{3C4758F0-71EC-DA12-CD28-C7958314BF8D}"/>
              </a:ext>
            </a:extLst>
          </p:cNvPr>
          <p:cNvSpPr txBox="1"/>
          <p:nvPr/>
        </p:nvSpPr>
        <p:spPr>
          <a:xfrm>
            <a:off x="348302" y="273309"/>
            <a:ext cx="9295200" cy="707846"/>
          </a:xfrm>
          <a:prstGeom prst="rect">
            <a:avLst/>
          </a:prstGeom>
          <a:noFill/>
          <a:ln>
            <a:noFill/>
          </a:ln>
        </p:spPr>
        <p:txBody>
          <a:bodyPr spcFirstLastPara="1" wrap="square" lIns="91433" tIns="45700" rIns="91433" bIns="45700" anchor="t" anchorCtr="0">
            <a:spAutoFit/>
          </a:bodyPr>
          <a:lstStyle/>
          <a:p>
            <a:pPr>
              <a:buClr>
                <a:schemeClr val="dk1"/>
              </a:buClr>
              <a:buSzPts val="1100"/>
            </a:pPr>
            <a:r>
              <a:rPr lang="en-IN" sz="4000" b="1" dirty="0">
                <a:solidFill>
                  <a:srgbClr val="026A38"/>
                </a:solidFill>
                <a:latin typeface="Roboto Condensed"/>
                <a:ea typeface="Roboto Condensed"/>
                <a:cs typeface="Roboto Condensed"/>
                <a:sym typeface="Roboto Condensed"/>
              </a:rPr>
              <a:t>Key</a:t>
            </a:r>
            <a:r>
              <a:rPr lang="en-IN" sz="4000" b="1" dirty="0">
                <a:solidFill>
                  <a:srgbClr val="00953A"/>
                </a:solidFill>
                <a:latin typeface="Roboto Condensed"/>
                <a:ea typeface="Roboto Condensed"/>
                <a:cs typeface="Roboto Condensed"/>
                <a:sym typeface="Roboto Condensed"/>
              </a:rPr>
              <a:t> Features</a:t>
            </a:r>
            <a:endParaRPr lang="en-IN" sz="4000" b="1" dirty="0">
              <a:solidFill>
                <a:srgbClr val="026A38"/>
              </a:solidFill>
              <a:latin typeface="Roboto Condensed"/>
              <a:ea typeface="Roboto Condensed"/>
              <a:cs typeface="Roboto Condensed"/>
              <a:sym typeface="Roboto Condensed"/>
            </a:endParaRPr>
          </a:p>
        </p:txBody>
      </p:sp>
      <p:grpSp>
        <p:nvGrpSpPr>
          <p:cNvPr id="3" name="Group 2">
            <a:extLst>
              <a:ext uri="{FF2B5EF4-FFF2-40B4-BE49-F238E27FC236}">
                <a16:creationId xmlns:a16="http://schemas.microsoft.com/office/drawing/2014/main" id="{21A34523-E6C6-E860-69B3-F72BA3D53C70}"/>
              </a:ext>
            </a:extLst>
          </p:cNvPr>
          <p:cNvGrpSpPr/>
          <p:nvPr/>
        </p:nvGrpSpPr>
        <p:grpSpPr>
          <a:xfrm>
            <a:off x="2821535" y="3206347"/>
            <a:ext cx="884658" cy="408256"/>
            <a:chOff x="2307451" y="3307087"/>
            <a:chExt cx="884658" cy="408256"/>
          </a:xfrm>
        </p:grpSpPr>
        <p:sp>
          <p:nvSpPr>
            <p:cNvPr id="35" name="Freeform 5">
              <a:extLst>
                <a:ext uri="{FF2B5EF4-FFF2-40B4-BE49-F238E27FC236}">
                  <a16:creationId xmlns:a16="http://schemas.microsoft.com/office/drawing/2014/main" id="{190114E3-DDC4-A4F7-734A-93A15CA3662D}"/>
                </a:ext>
              </a:extLst>
            </p:cNvPr>
            <p:cNvSpPr>
              <a:spLocks/>
            </p:cNvSpPr>
            <p:nvPr/>
          </p:nvSpPr>
          <p:spPr bwMode="auto">
            <a:xfrm>
              <a:off x="2307451" y="3307087"/>
              <a:ext cx="884658" cy="408256"/>
            </a:xfrm>
            <a:custGeom>
              <a:avLst/>
              <a:gdLst>
                <a:gd name="T0" fmla="*/ 79 w 196"/>
                <a:gd name="T1" fmla="*/ 144 h 157"/>
                <a:gd name="T2" fmla="*/ 9 w 196"/>
                <a:gd name="T3" fmla="*/ 34 h 157"/>
                <a:gd name="T4" fmla="*/ 28 w 196"/>
                <a:gd name="T5" fmla="*/ 0 h 157"/>
                <a:gd name="T6" fmla="*/ 167 w 196"/>
                <a:gd name="T7" fmla="*/ 0 h 157"/>
                <a:gd name="T8" fmla="*/ 186 w 196"/>
                <a:gd name="T9" fmla="*/ 34 h 157"/>
                <a:gd name="T10" fmla="*/ 116 w 196"/>
                <a:gd name="T11" fmla="*/ 144 h 157"/>
                <a:gd name="T12" fmla="*/ 79 w 196"/>
                <a:gd name="T13" fmla="*/ 144 h 157"/>
              </a:gdLst>
              <a:ahLst/>
              <a:cxnLst>
                <a:cxn ang="0">
                  <a:pos x="T0" y="T1"/>
                </a:cxn>
                <a:cxn ang="0">
                  <a:pos x="T2" y="T3"/>
                </a:cxn>
                <a:cxn ang="0">
                  <a:pos x="T4" y="T5"/>
                </a:cxn>
                <a:cxn ang="0">
                  <a:pos x="T6" y="T7"/>
                </a:cxn>
                <a:cxn ang="0">
                  <a:pos x="T8" y="T9"/>
                </a:cxn>
                <a:cxn ang="0">
                  <a:pos x="T10" y="T11"/>
                </a:cxn>
                <a:cxn ang="0">
                  <a:pos x="T12" y="T13"/>
                </a:cxn>
              </a:cxnLst>
              <a:rect l="0" t="0" r="r" b="b"/>
              <a:pathLst>
                <a:path w="196" h="157">
                  <a:moveTo>
                    <a:pt x="79" y="144"/>
                  </a:moveTo>
                  <a:cubicBezTo>
                    <a:pt x="9" y="34"/>
                    <a:pt x="9" y="34"/>
                    <a:pt x="9" y="34"/>
                  </a:cubicBezTo>
                  <a:cubicBezTo>
                    <a:pt x="0" y="19"/>
                    <a:pt x="10" y="0"/>
                    <a:pt x="28" y="0"/>
                  </a:cubicBezTo>
                  <a:cubicBezTo>
                    <a:pt x="167" y="0"/>
                    <a:pt x="167" y="0"/>
                    <a:pt x="167" y="0"/>
                  </a:cubicBezTo>
                  <a:cubicBezTo>
                    <a:pt x="185" y="0"/>
                    <a:pt x="196" y="19"/>
                    <a:pt x="186" y="34"/>
                  </a:cubicBezTo>
                  <a:cubicBezTo>
                    <a:pt x="116" y="144"/>
                    <a:pt x="116" y="144"/>
                    <a:pt x="116" y="144"/>
                  </a:cubicBezTo>
                  <a:cubicBezTo>
                    <a:pt x="108" y="157"/>
                    <a:pt x="88" y="157"/>
                    <a:pt x="79" y="144"/>
                  </a:cubicBezTo>
                  <a:close/>
                </a:path>
              </a:pathLst>
            </a:custGeom>
            <a:solidFill>
              <a:srgbClr val="F2F2F2"/>
            </a:solidFill>
            <a:ln>
              <a:noFill/>
            </a:ln>
            <a:effectLst>
              <a:outerShdw blurRad="50800" dist="635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pPr marL="0" marR="0" lvl="0" indent="0" algn="l" defTabSz="914286"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icrosoft JhengHei" panose="020B0604030504040204" pitchFamily="34" charset="-120"/>
                <a:cs typeface="Arial" charset="0"/>
              </a:endParaRPr>
            </a:p>
          </p:txBody>
        </p:sp>
        <p:sp>
          <p:nvSpPr>
            <p:cNvPr id="40" name="Oval 39">
              <a:extLst>
                <a:ext uri="{FF2B5EF4-FFF2-40B4-BE49-F238E27FC236}">
                  <a16:creationId xmlns:a16="http://schemas.microsoft.com/office/drawing/2014/main" id="{3B3DDB47-F2CD-F28D-2171-14EDC345624C}"/>
                </a:ext>
              </a:extLst>
            </p:cNvPr>
            <p:cNvSpPr>
              <a:spLocks noChangeAspect="1"/>
            </p:cNvSpPr>
            <p:nvPr/>
          </p:nvSpPr>
          <p:spPr>
            <a:xfrm>
              <a:off x="2658357" y="3394921"/>
              <a:ext cx="182846" cy="181733"/>
            </a:xfrm>
            <a:prstGeom prst="ellipse">
              <a:avLst/>
            </a:prstGeom>
            <a:solidFill>
              <a:srgbClr val="009999"/>
            </a:solidFill>
            <a:ln w="25400" cap="flat" cmpd="sng" algn="ctr">
              <a:noFill/>
              <a:prstDash val="solid"/>
            </a:ln>
            <a:effectLst/>
          </p:spPr>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prstClr val="white"/>
                </a:solidFill>
                <a:effectLst/>
                <a:uLnTx/>
                <a:uFillTx/>
                <a:latin typeface="+mj-lt"/>
                <a:ea typeface="Microsoft JhengHei" panose="020B0604030504040204" pitchFamily="34" charset="-120"/>
                <a:cs typeface="+mn-cs"/>
              </a:endParaRPr>
            </a:p>
          </p:txBody>
        </p:sp>
      </p:grpSp>
    </p:spTree>
    <p:extLst>
      <p:ext uri="{BB962C8B-B14F-4D97-AF65-F5344CB8AC3E}">
        <p14:creationId xmlns:p14="http://schemas.microsoft.com/office/powerpoint/2010/main" val="1526128457"/>
      </p:ext>
    </p:extLst>
  </p:cSld>
  <p:clrMapOvr>
    <a:masterClrMapping/>
  </p:clrMapOvr>
</p:sld>
</file>

<file path=ppt/theme/theme1.xml><?xml version="1.0" encoding="utf-8"?>
<a:theme xmlns:a="http://schemas.openxmlformats.org/drawingml/2006/main" name="1_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edington Sample Template" id="{61CB77E5-8370-AD45-94CD-847AF698F5DA}" vid="{1BFD0318-4AE2-F148-9E9D-0EFC612728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3ca5857-3bc9-420f-ae25-14221308947d}" enabled="1" method="Privileged" siteId="{e79918f6-a69b-4b33-8166-e897131f7346}" removed="0"/>
</clbl:labelList>
</file>

<file path=docProps/app.xml><?xml version="1.0" encoding="utf-8"?>
<Properties xmlns="http://schemas.openxmlformats.org/officeDocument/2006/extended-properties" xmlns:vt="http://schemas.openxmlformats.org/officeDocument/2006/docPropsVTypes">
  <TotalTime>14002</TotalTime>
  <Words>2604</Words>
  <Application>Microsoft Office PowerPoint</Application>
  <PresentationFormat>Widescreen</PresentationFormat>
  <Paragraphs>231</Paragraphs>
  <Slides>16</Slides>
  <Notes>15</Notes>
  <HiddenSlides>3</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16</vt:i4>
      </vt:variant>
    </vt:vector>
  </HeadingPairs>
  <TitlesOfParts>
    <vt:vector size="36" baseType="lpstr">
      <vt:lpstr>Aptos</vt:lpstr>
      <vt:lpstr>Arial</vt:lpstr>
      <vt:lpstr>Calibri</vt:lpstr>
      <vt:lpstr>Congenial Black</vt:lpstr>
      <vt:lpstr>Crimson Pro</vt:lpstr>
      <vt:lpstr>Epilogue</vt:lpstr>
      <vt:lpstr>Franklin Gothic Medium</vt:lpstr>
      <vt:lpstr>Fraunces</vt:lpstr>
      <vt:lpstr>Heebo</vt:lpstr>
      <vt:lpstr>Lato</vt:lpstr>
      <vt:lpstr>Lucida Sans</vt:lpstr>
      <vt:lpstr>Microsoft Sans Serif</vt:lpstr>
      <vt:lpstr>Open Sans</vt:lpstr>
      <vt:lpstr>Overpass</vt:lpstr>
      <vt:lpstr>Roboto Condensed</vt:lpstr>
      <vt:lpstr>Symbol</vt:lpstr>
      <vt:lpstr>Syne</vt:lpstr>
      <vt:lpstr>Trebuchet MS</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Chidananda  Mohanty</dc:creator>
  <cp:lastModifiedBy>Uvaraj N S</cp:lastModifiedBy>
  <cp:revision>11</cp:revision>
  <dcterms:created xsi:type="dcterms:W3CDTF">2024-08-08T06:46:40Z</dcterms:created>
  <dcterms:modified xsi:type="dcterms:W3CDTF">2025-04-14T07:56:44Z</dcterms:modified>
</cp:coreProperties>
</file>