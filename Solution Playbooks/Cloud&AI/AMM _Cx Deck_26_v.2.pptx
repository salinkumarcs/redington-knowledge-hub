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6" r:id="rId2"/>
    <p:sldMasterId id="2147483696" r:id="rId3"/>
  </p:sldMasterIdLst>
  <p:notesMasterIdLst>
    <p:notesMasterId r:id="rId30"/>
  </p:notesMasterIdLst>
  <p:sldIdLst>
    <p:sldId id="273" r:id="rId4"/>
    <p:sldId id="2145708223" r:id="rId5"/>
    <p:sldId id="2145708224" r:id="rId6"/>
    <p:sldId id="2147479972" r:id="rId7"/>
    <p:sldId id="2147479928" r:id="rId8"/>
    <p:sldId id="2147482167" r:id="rId9"/>
    <p:sldId id="2147482166" r:id="rId10"/>
    <p:sldId id="2147483643" r:id="rId11"/>
    <p:sldId id="2147482096" r:id="rId12"/>
    <p:sldId id="2147483587" r:id="rId13"/>
    <p:sldId id="274" r:id="rId14"/>
    <p:sldId id="2147482153" r:id="rId15"/>
    <p:sldId id="2147483568" r:id="rId16"/>
    <p:sldId id="2147483645" r:id="rId17"/>
    <p:sldId id="2147482160" r:id="rId18"/>
    <p:sldId id="2147482159" r:id="rId19"/>
    <p:sldId id="2147482161" r:id="rId20"/>
    <p:sldId id="2147482162" r:id="rId21"/>
    <p:sldId id="2147482163" r:id="rId22"/>
    <p:sldId id="2147479923" r:id="rId23"/>
    <p:sldId id="2147482151" r:id="rId24"/>
    <p:sldId id="2147482152" r:id="rId25"/>
    <p:sldId id="2147482190" r:id="rId26"/>
    <p:sldId id="2147479936" r:id="rId27"/>
    <p:sldId id="2147478373" r:id="rId28"/>
    <p:sldId id="265" r:id="rId29"/>
  </p:sldIdLst>
  <p:sldSz cx="18288000" cy="10287000"/>
  <p:notesSz cx="6858000" cy="9144000"/>
  <p:embeddedFontLst>
    <p:embeddedFont>
      <p:font typeface="ＭＳ Ｐゴシック" panose="020B0600070205080204" pitchFamily="34" charset="-128"/>
      <p:regular r:id="rId31"/>
    </p:embeddedFont>
    <p:embeddedFont>
      <p:font typeface="Consolas" panose="020B0609020204030204" pitchFamily="49" charset="0"/>
      <p:regular r:id="rId32"/>
      <p:bold r:id="rId33"/>
      <p:italic r:id="rId34"/>
      <p:boldItalic r:id="rId35"/>
    </p:embeddedFont>
    <p:embeddedFont>
      <p:font typeface="Lato" panose="020F0502020204030203" pitchFamily="34" charset="0"/>
      <p:regular r:id="rId36"/>
      <p:bold r:id="rId37"/>
      <p:italic r:id="rId38"/>
      <p:boldItalic r:id="rId39"/>
    </p:embeddedFont>
    <p:embeddedFont>
      <p:font typeface="Lato Bold Bold" panose="020B0604020202020204" charset="0"/>
      <p:regular r:id="rId40"/>
      <p:bold r:id="rId41"/>
    </p:embeddedFont>
    <p:embeddedFont>
      <p:font typeface="Lato Light" panose="020F0502020204030203" pitchFamily="34" charset="0"/>
      <p:regular r:id="rId42"/>
      <p:italic r:id="rId43"/>
    </p:embeddedFont>
    <p:embeddedFont>
      <p:font typeface="Lato SemiBold" panose="020F0502020204030203" pitchFamily="34" charset="0"/>
      <p:bold r:id="rId44"/>
      <p:boldItalic r:id="rId45"/>
    </p:embeddedFont>
    <p:embeddedFont>
      <p:font typeface="Microsoft Sans Serif" panose="020B0604020202020204" pitchFamily="34" charset="0"/>
      <p:regular r:id="rId46"/>
    </p:embeddedFont>
    <p:embeddedFont>
      <p:font typeface="MoolBoran" panose="020B0100010101010101" pitchFamily="34" charset="0"/>
      <p:regular r:id="rId47"/>
    </p:embeddedFont>
    <p:embeddedFont>
      <p:font typeface="Muli Regular" panose="020B0604020202020204" charset="0"/>
      <p:regular r:id="rId48"/>
      <p:bold r:id="rId49"/>
      <p:italic r:id="rId50"/>
      <p:boldItalic r:id="rId51"/>
    </p:embeddedFont>
    <p:embeddedFont>
      <p:font typeface="Open Sans" panose="020B0606030504020204" pitchFamily="34" charset="0"/>
      <p:regular r:id="rId52"/>
      <p:bold r:id="rId53"/>
      <p:italic r:id="rId54"/>
      <p:boldItalic r:id="rId55"/>
    </p:embeddedFont>
    <p:embeddedFont>
      <p:font typeface="Roboto Condensed" panose="02000000000000000000" pitchFamily="2" charset="0"/>
      <p:regular r:id="rId56"/>
      <p:bold r:id="rId57"/>
      <p:italic r:id="rId58"/>
      <p:boldItalic r:id="rId59"/>
    </p:embeddedFont>
    <p:embeddedFont>
      <p:font typeface="Segoe Sans Display" pitchFamily="2" charset="0"/>
      <p:regular r:id="rId60"/>
      <p:bold r:id="rId61"/>
      <p:italic r:id="rId62"/>
      <p:boldItalic r:id="rId63"/>
    </p:embeddedFont>
    <p:embeddedFont>
      <p:font typeface="Segoe Sans Text" pitchFamily="2" charset="0"/>
      <p:regular r:id="rId64"/>
      <p:bold r:id="rId65"/>
      <p:italic r:id="rId66"/>
      <p:boldItalic r:id="rId67"/>
    </p:embeddedFont>
    <p:embeddedFont>
      <p:font typeface="Segoe Sans Text Semibold" pitchFamily="2" charset="0"/>
      <p:bold r:id="rId68"/>
      <p:boldItalic r:id="rId69"/>
    </p:embeddedFont>
    <p:embeddedFont>
      <p:font typeface="Segoe UI" panose="020B0502040204020203" pitchFamily="34" charset="0"/>
      <p:regular r:id="rId70"/>
      <p:bold r:id="rId71"/>
      <p:italic r:id="rId72"/>
      <p:boldItalic r:id="rId73"/>
    </p:embeddedFont>
    <p:embeddedFont>
      <p:font typeface="Segoe UI Semibold" panose="020B0702040204020203" pitchFamily="34" charset="0"/>
      <p:bold r:id="rId74"/>
      <p:boldItalic r:id="rId75"/>
    </p:embeddedFont>
    <p:embeddedFont>
      <p:font typeface="Segoe UI Semilight" panose="020B0402040204020203" pitchFamily="34" charset="0"/>
      <p:regular r:id="rId76"/>
      <p:italic r:id="rId7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303"/>
    <a:srgbClr val="70AF5F"/>
    <a:srgbClr val="00953A"/>
    <a:srgbClr val="353C49"/>
    <a:srgbClr val="2B653B"/>
    <a:srgbClr val="5EAFA6"/>
    <a:srgbClr val="608CAB"/>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C808D9-1EEF-492D-B37B-0F9BA5594CFD}" v="5" dt="2026-04-23T04:13:54.745"/>
  </p1510:revLst>
</p1510:revInfo>
</file>

<file path=ppt/tableStyles.xml><?xml version="1.0" encoding="utf-8"?>
<a:tblStyleLst xmlns:a="http://schemas.openxmlformats.org/drawingml/2006/main" def="{5C22544A-7EE6-4342-B048-85BDC9FD1C3A}">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82" autoAdjust="0"/>
    <p:restoredTop sz="94660"/>
  </p:normalViewPr>
  <p:slideViewPr>
    <p:cSldViewPr snapToGrid="0">
      <p:cViewPr varScale="1">
        <p:scale>
          <a:sx n="42" d="100"/>
          <a:sy n="42" d="100"/>
        </p:scale>
        <p:origin x="680"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font" Target="fonts/font12.fntdata"/><Relationship Id="rId47" Type="http://schemas.openxmlformats.org/officeDocument/2006/relationships/font" Target="fonts/font17.fntdata"/><Relationship Id="rId63" Type="http://schemas.openxmlformats.org/officeDocument/2006/relationships/font" Target="fonts/font33.fntdata"/><Relationship Id="rId68" Type="http://schemas.openxmlformats.org/officeDocument/2006/relationships/font" Target="fonts/font38.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font" Target="fonts/font2.fntdata"/><Relationship Id="rId37" Type="http://schemas.openxmlformats.org/officeDocument/2006/relationships/font" Target="fonts/font7.fntdata"/><Relationship Id="rId53" Type="http://schemas.openxmlformats.org/officeDocument/2006/relationships/font" Target="fonts/font23.fntdata"/><Relationship Id="rId58" Type="http://schemas.openxmlformats.org/officeDocument/2006/relationships/font" Target="fonts/font28.fntdata"/><Relationship Id="rId74" Type="http://schemas.openxmlformats.org/officeDocument/2006/relationships/font" Target="fonts/font44.fntdata"/><Relationship Id="rId79"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font" Target="fonts/font31.fntdata"/><Relationship Id="rId82" Type="http://schemas.microsoft.com/office/2016/11/relationships/changesInfo" Target="changesInfos/changesInfo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font" Target="fonts/font26.fntdata"/><Relationship Id="rId64" Type="http://schemas.openxmlformats.org/officeDocument/2006/relationships/font" Target="fonts/font34.fntdata"/><Relationship Id="rId69" Type="http://schemas.openxmlformats.org/officeDocument/2006/relationships/font" Target="fonts/font39.fntdata"/><Relationship Id="rId77" Type="http://schemas.openxmlformats.org/officeDocument/2006/relationships/font" Target="fonts/font47.fntdata"/><Relationship Id="rId8" Type="http://schemas.openxmlformats.org/officeDocument/2006/relationships/slide" Target="slides/slide5.xml"/><Relationship Id="rId51" Type="http://schemas.openxmlformats.org/officeDocument/2006/relationships/font" Target="fonts/font21.fntdata"/><Relationship Id="rId72" Type="http://schemas.openxmlformats.org/officeDocument/2006/relationships/font" Target="fonts/font42.fntdata"/><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font" Target="fonts/font29.fntdata"/><Relationship Id="rId67" Type="http://schemas.openxmlformats.org/officeDocument/2006/relationships/font" Target="fonts/font37.fntdata"/><Relationship Id="rId20" Type="http://schemas.openxmlformats.org/officeDocument/2006/relationships/slide" Target="slides/slide17.xml"/><Relationship Id="rId41" Type="http://schemas.openxmlformats.org/officeDocument/2006/relationships/font" Target="fonts/font11.fntdata"/><Relationship Id="rId54" Type="http://schemas.openxmlformats.org/officeDocument/2006/relationships/font" Target="fonts/font24.fntdata"/><Relationship Id="rId62" Type="http://schemas.openxmlformats.org/officeDocument/2006/relationships/font" Target="fonts/font32.fntdata"/><Relationship Id="rId70" Type="http://schemas.openxmlformats.org/officeDocument/2006/relationships/font" Target="fonts/font40.fntdata"/><Relationship Id="rId75" Type="http://schemas.openxmlformats.org/officeDocument/2006/relationships/font" Target="fonts/font45.fntdata"/><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font" Target="fonts/font27.fntdata"/><Relationship Id="rId10" Type="http://schemas.openxmlformats.org/officeDocument/2006/relationships/slide" Target="slides/slide7.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60" Type="http://schemas.openxmlformats.org/officeDocument/2006/relationships/font" Target="fonts/font30.fntdata"/><Relationship Id="rId65" Type="http://schemas.openxmlformats.org/officeDocument/2006/relationships/font" Target="fonts/font35.fntdata"/><Relationship Id="rId73" Type="http://schemas.openxmlformats.org/officeDocument/2006/relationships/font" Target="fonts/font43.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font" Target="fonts/font9.fntdata"/><Relationship Id="rId34" Type="http://schemas.openxmlformats.org/officeDocument/2006/relationships/font" Target="fonts/font4.fntdata"/><Relationship Id="rId50" Type="http://schemas.openxmlformats.org/officeDocument/2006/relationships/font" Target="fonts/font20.fntdata"/><Relationship Id="rId55" Type="http://schemas.openxmlformats.org/officeDocument/2006/relationships/font" Target="fonts/font25.fntdata"/><Relationship Id="rId76" Type="http://schemas.openxmlformats.org/officeDocument/2006/relationships/font" Target="fonts/font46.fntdata"/><Relationship Id="rId7" Type="http://schemas.openxmlformats.org/officeDocument/2006/relationships/slide" Target="slides/slide4.xml"/><Relationship Id="rId71" Type="http://schemas.openxmlformats.org/officeDocument/2006/relationships/font" Target="fonts/font41.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font" Target="fonts/font10.fntdata"/><Relationship Id="rId45" Type="http://schemas.openxmlformats.org/officeDocument/2006/relationships/font" Target="fonts/font15.fntdata"/><Relationship Id="rId66" Type="http://schemas.openxmlformats.org/officeDocument/2006/relationships/font" Target="fonts/font3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Anand Pandey" userId="a6df1cce-5de7-449e-ac0a-30a1f9411aeb" providerId="ADAL" clId="{55824F6F-2118-41E5-A55C-84B6B96B4608}"/>
    <pc:docChg chg="addSld modSld sldOrd">
      <pc:chgData name="Tushar Anand Pandey" userId="a6df1cce-5de7-449e-ac0a-30a1f9411aeb" providerId="ADAL" clId="{55824F6F-2118-41E5-A55C-84B6B96B4608}" dt="2026-04-23T04:13:59.050" v="8"/>
      <pc:docMkLst>
        <pc:docMk/>
      </pc:docMkLst>
      <pc:sldChg chg="add setBg">
        <pc:chgData name="Tushar Anand Pandey" userId="a6df1cce-5de7-449e-ac0a-30a1f9411aeb" providerId="ADAL" clId="{55824F6F-2118-41E5-A55C-84B6B96B4608}" dt="2026-04-23T04:12:33.217" v="4"/>
        <pc:sldMkLst>
          <pc:docMk/>
          <pc:sldMk cId="906012737" sldId="274"/>
        </pc:sldMkLst>
      </pc:sldChg>
      <pc:sldChg chg="add">
        <pc:chgData name="Tushar Anand Pandey" userId="a6df1cce-5de7-449e-ac0a-30a1f9411aeb" providerId="ADAL" clId="{55824F6F-2118-41E5-A55C-84B6B96B4608}" dt="2026-04-23T04:12:50.447" v="5"/>
        <pc:sldMkLst>
          <pc:docMk/>
          <pc:sldMk cId="3512944279" sldId="2147483568"/>
        </pc:sldMkLst>
      </pc:sldChg>
      <pc:sldChg chg="add ord setBg">
        <pc:chgData name="Tushar Anand Pandey" userId="a6df1cce-5de7-449e-ac0a-30a1f9411aeb" providerId="ADAL" clId="{55824F6F-2118-41E5-A55C-84B6B96B4608}" dt="2026-04-23T04:12:29.717" v="3"/>
        <pc:sldMkLst>
          <pc:docMk/>
          <pc:sldMk cId="347071140" sldId="2147483587"/>
        </pc:sldMkLst>
      </pc:sldChg>
      <pc:sldChg chg="add">
        <pc:chgData name="Tushar Anand Pandey" userId="a6df1cce-5de7-449e-ac0a-30a1f9411aeb" providerId="ADAL" clId="{55824F6F-2118-41E5-A55C-84B6B96B4608}" dt="2026-04-23T04:10:35.427" v="0"/>
        <pc:sldMkLst>
          <pc:docMk/>
          <pc:sldMk cId="3655978027" sldId="2147483643"/>
        </pc:sldMkLst>
      </pc:sldChg>
      <pc:sldChg chg="add ord">
        <pc:chgData name="Tushar Anand Pandey" userId="a6df1cce-5de7-449e-ac0a-30a1f9411aeb" providerId="ADAL" clId="{55824F6F-2118-41E5-A55C-84B6B96B4608}" dt="2026-04-23T04:13:59.050" v="8"/>
        <pc:sldMkLst>
          <pc:docMk/>
          <pc:sldMk cId="436404292" sldId="21474836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248831-22F4-D44E-AE6D-6386F0A4E207}"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074AC-00FA-1A48-8F47-436D83F39083}" type="slidenum">
              <a:rPr lang="en-US" smtClean="0"/>
              <a:t>‹#›</a:t>
            </a:fld>
            <a:endParaRPr lang="en-US"/>
          </a:p>
        </p:txBody>
      </p:sp>
    </p:spTree>
    <p:extLst>
      <p:ext uri="{BB962C8B-B14F-4D97-AF65-F5344CB8AC3E}">
        <p14:creationId xmlns:p14="http://schemas.microsoft.com/office/powerpoint/2010/main" val="190067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ap.com/dmc/exp/2014-09-02-hana-hardware/enEN/#/solutions?filters=iaas"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53D13-49BD-FE39-1401-21C6ADF3F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E166A-6F7D-4669-367A-B3C0BDE22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A10C0-4A8B-93EB-3873-2FB5F5AAC8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1F6A18-15A2-9F41-A48B-F4FC9CE4F0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3DE33B-6BA1-4569-8418-75B90D64D5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3907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l">
              <a:spcBef>
                <a:spcPts val="0"/>
              </a:spcBef>
              <a:spcAft>
                <a:spcPts val="600"/>
              </a:spcAft>
            </a:pPr>
            <a:r>
              <a:rPr lang="en-US" sz="1800" kern="1200">
                <a:solidFill>
                  <a:srgbClr val="000000"/>
                </a:solidFill>
                <a:effectLst/>
                <a:latin typeface="Segoe UI" panose="020B0502040204020203" pitchFamily="34" charset="0"/>
                <a:ea typeface="Times New Roman" panose="02020603050405020304" pitchFamily="18" charset="0"/>
              </a:rPr>
              <a:t>Enabling cloud agility is not a one-size fits all proposition. </a:t>
            </a:r>
          </a:p>
          <a:p>
            <a:pPr marL="0" marR="0" algn="l">
              <a:spcBef>
                <a:spcPts val="0"/>
              </a:spcBef>
              <a:spcAft>
                <a:spcPts val="600"/>
              </a:spcAft>
            </a:pPr>
            <a:endParaRPr lang="en-US" sz="1800" kern="1200">
              <a:solidFill>
                <a:srgbClr val="000000"/>
              </a:solidFill>
              <a:effectLst/>
              <a:latin typeface="Segoe UI" panose="020B0502040204020203" pitchFamily="34" charset="0"/>
              <a:ea typeface="Times New Roman" panose="02020603050405020304" pitchFamily="18" charset="0"/>
            </a:endParaRPr>
          </a:p>
          <a:p>
            <a:pPr marL="0" marR="0" algn="l">
              <a:spcBef>
                <a:spcPts val="0"/>
              </a:spcBef>
              <a:spcAft>
                <a:spcPts val="600"/>
              </a:spcAft>
            </a:pPr>
            <a:r>
              <a:rPr lang="en-US" sz="1800" kern="1200">
                <a:solidFill>
                  <a:srgbClr val="000000"/>
                </a:solidFill>
                <a:effectLst/>
                <a:latin typeface="Segoe UI" panose="020B0502040204020203" pitchFamily="34" charset="0"/>
                <a:ea typeface="Times New Roman" panose="02020603050405020304" pitchFamily="18" charset="0"/>
              </a:rPr>
              <a:t>We understand that every organization is unique, with its own set of requirements, skills, and datacenter investments. </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That's why we provide a flexible approach to migration and give you cloud on your terms – whether it’s moving to Azure IaaS or PaaS, </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Moving large VMware workloads to Azure VMware Solution, or extending Azure management and security to hybrid and </a:t>
            </a:r>
            <a:r>
              <a:rPr lang="en-US" sz="1800" kern="1200" err="1">
                <a:solidFill>
                  <a:srgbClr val="000000"/>
                </a:solidFill>
                <a:effectLst/>
                <a:latin typeface="Segoe UI" panose="020B0502040204020203" pitchFamily="34" charset="0"/>
                <a:ea typeface="Times New Roman" panose="02020603050405020304" pitchFamily="18" charset="0"/>
              </a:rPr>
              <a:t>multicloud</a:t>
            </a:r>
            <a:r>
              <a:rPr lang="en-US" sz="1800" kern="1200">
                <a:solidFill>
                  <a:srgbClr val="000000"/>
                </a:solidFill>
                <a:effectLst/>
                <a:latin typeface="Segoe UI" panose="020B0502040204020203" pitchFamily="34" charset="0"/>
                <a:ea typeface="Times New Roman" panose="02020603050405020304" pitchFamily="18" charset="0"/>
              </a:rPr>
              <a:t> environments through Azure Arc.</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With this adaptive cloud approach - you get a consistent way to manage all your infrastructure and apps no matter where they reside.</a:t>
            </a:r>
            <a:endParaRPr lang="en-US" sz="1100"/>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4/23/2026 9:37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03751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3C2F0-030B-4539-A496-E965D78EA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3D6A9-8B5C-8815-0CFB-310A99D1A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5802D-7BD4-F6B7-2ECF-A31AF88DB417}"/>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52DA443-B1D4-8E73-81AF-5DA35CC78EA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0D53E95-A4B1-55F9-1002-CEB136228431}"/>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2177CA8-FC21-18BD-D376-97730034C1D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4/23/2026 9:41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01419CD-0E14-F9D8-A20C-E0558745259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70334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36F10-ADF2-FFB7-468A-3E5DA03B3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60792-9B67-F918-82A1-D0318400C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98E99-7155-81C3-01D6-8F5B78CA20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DBD236-05CF-AFC4-81CA-C6A5141ACC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A04A82-EB9F-4A98-A5A1-A2975B576AF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7523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B7C3-32A0-7953-795B-B8969D3C9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3F6FA-9554-1843-D795-8153D562C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02C1E-7E58-6756-BCDB-FD4B82889549}"/>
              </a:ext>
            </a:extLst>
          </p:cNvPr>
          <p:cNvSpPr>
            <a:spLocks noGrp="1"/>
          </p:cNvSpPr>
          <p:nvPr>
            <p:ph type="body" idx="1"/>
          </p:nvPr>
        </p:nvSpPr>
        <p:spPr/>
        <p:txBody>
          <a:bodyPr/>
          <a:lstStyle/>
          <a:p>
            <a:pPr marL="0" marR="0" algn="l">
              <a:spcBef>
                <a:spcPts val="0"/>
              </a:spcBef>
              <a:spcAft>
                <a:spcPts val="600"/>
              </a:spcAft>
            </a:pPr>
            <a:r>
              <a:rPr lang="en-US" sz="1800" kern="1200">
                <a:solidFill>
                  <a:srgbClr val="000000"/>
                </a:solidFill>
                <a:effectLst/>
                <a:latin typeface="Segoe UI" panose="020B0502040204020203" pitchFamily="34" charset="0"/>
                <a:ea typeface="Times New Roman" panose="02020603050405020304" pitchFamily="18" charset="0"/>
              </a:rPr>
              <a:t>Enabling cloud agility is not a one-size fits all proposition. </a:t>
            </a:r>
          </a:p>
          <a:p>
            <a:pPr marL="0" marR="0" algn="l">
              <a:spcBef>
                <a:spcPts val="0"/>
              </a:spcBef>
              <a:spcAft>
                <a:spcPts val="600"/>
              </a:spcAft>
            </a:pPr>
            <a:endParaRPr lang="en-US" sz="1800" kern="1200">
              <a:solidFill>
                <a:srgbClr val="000000"/>
              </a:solidFill>
              <a:effectLst/>
              <a:latin typeface="Segoe UI" panose="020B0502040204020203" pitchFamily="34" charset="0"/>
              <a:ea typeface="Times New Roman" panose="02020603050405020304" pitchFamily="18" charset="0"/>
            </a:endParaRPr>
          </a:p>
          <a:p>
            <a:pPr marL="0" marR="0" algn="l">
              <a:spcBef>
                <a:spcPts val="0"/>
              </a:spcBef>
              <a:spcAft>
                <a:spcPts val="600"/>
              </a:spcAft>
            </a:pPr>
            <a:r>
              <a:rPr lang="en-US" sz="1800" kern="1200">
                <a:solidFill>
                  <a:srgbClr val="000000"/>
                </a:solidFill>
                <a:effectLst/>
                <a:latin typeface="Segoe UI" panose="020B0502040204020203" pitchFamily="34" charset="0"/>
                <a:ea typeface="Times New Roman" panose="02020603050405020304" pitchFamily="18" charset="0"/>
              </a:rPr>
              <a:t>We understand that every organization is unique, with its own set of requirements, skills, and datacenter investments. </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That's why we provide a flexible approach to migration and give you cloud on your terms – whether it’s moving to Azure IaaS or PaaS, </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Moving large VMware workloads to Azure VMware Solution, or extending Azure management and security to hybrid and </a:t>
            </a:r>
            <a:r>
              <a:rPr lang="en-US" sz="1800" kern="1200" err="1">
                <a:solidFill>
                  <a:srgbClr val="000000"/>
                </a:solidFill>
                <a:effectLst/>
                <a:latin typeface="Segoe UI" panose="020B0502040204020203" pitchFamily="34" charset="0"/>
                <a:ea typeface="Times New Roman" panose="02020603050405020304" pitchFamily="18" charset="0"/>
              </a:rPr>
              <a:t>multicloud</a:t>
            </a:r>
            <a:r>
              <a:rPr lang="en-US" sz="1800" kern="1200">
                <a:solidFill>
                  <a:srgbClr val="000000"/>
                </a:solidFill>
                <a:effectLst/>
                <a:latin typeface="Segoe UI" panose="020B0502040204020203" pitchFamily="34" charset="0"/>
                <a:ea typeface="Times New Roman" panose="02020603050405020304" pitchFamily="18" charset="0"/>
              </a:rPr>
              <a:t> environments through Azure Arc.</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With this adaptive cloud approach - you get a consistent way to manage all your infrastructure and apps no matter where they reside.</a:t>
            </a:r>
            <a:endParaRPr lang="en-US" sz="1100"/>
          </a:p>
          <a:p>
            <a:endParaRPr lang="en-US"/>
          </a:p>
        </p:txBody>
      </p:sp>
      <p:sp>
        <p:nvSpPr>
          <p:cNvPr id="4" name="Header Placeholder 3">
            <a:extLst>
              <a:ext uri="{FF2B5EF4-FFF2-40B4-BE49-F238E27FC236}">
                <a16:creationId xmlns:a16="http://schemas.microsoft.com/office/drawing/2014/main" id="{18885A19-8604-C74B-461E-A06795BBC46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81BC4041-A3FB-2476-10A5-5AA3837E27C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D251392-C8D8-18DC-7377-E63877D863A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4/23/2026 9:37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0CC12209-9ED8-1DE4-5417-3DA850932E0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80540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0CFF9-18AD-3A12-EA5B-7C71CB87F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898CA-BE46-C416-2B15-A12499C16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CE4C4-CBAF-61D0-C76A-ED4110FB410F}"/>
              </a:ext>
            </a:extLst>
          </p:cNvPr>
          <p:cNvSpPr>
            <a:spLocks noGrp="1"/>
          </p:cNvSpPr>
          <p:nvPr>
            <p:ph type="body" idx="1"/>
          </p:nvPr>
        </p:nvSpPr>
        <p:spPr/>
        <p:txBody>
          <a:bodyPr/>
          <a:lstStyle/>
          <a:p>
            <a:pPr>
              <a:spcAft>
                <a:spcPts val="600"/>
              </a:spcAft>
            </a:pPr>
            <a:endParaRPr lang="en-US"/>
          </a:p>
        </p:txBody>
      </p:sp>
      <p:sp>
        <p:nvSpPr>
          <p:cNvPr id="4" name="Header Placeholder 3">
            <a:extLst>
              <a:ext uri="{FF2B5EF4-FFF2-40B4-BE49-F238E27FC236}">
                <a16:creationId xmlns:a16="http://schemas.microsoft.com/office/drawing/2014/main" id="{651BF652-0111-899F-A138-BCDB7A8B4C84}"/>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CA81B734-DE5D-798B-F842-E93A4570A5E7}"/>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E8F6069-F6EA-09A0-0246-AD29DE84D12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4/23/2026 9:42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CA84E81-C6D2-7593-2B91-63FE6AB69F7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4635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91EA3-31AE-0794-3D43-7A41BFC31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D73AC-D22D-0587-E537-03F3453D8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F921F-AEB7-A618-667E-9BC65756AD12}"/>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3BA2BDF7-E7F7-632F-0A3E-49844373505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7F6C5A04-A1FF-2270-A301-38F31A1B773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6C9E77D-6C3A-6FC3-16D3-26AC06163998}"/>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4/23/2026 9:43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F7A2E85F-B7B8-BE83-88A8-A0A6ACBB849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35344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kern="1200">
                <a:solidFill>
                  <a:srgbClr val="000000"/>
                </a:solidFill>
                <a:effectLst/>
                <a:latin typeface="Segoe UI"/>
                <a:ea typeface="Times New Roman" panose="02020603050405020304" pitchFamily="18" charset="0"/>
                <a:cs typeface="Segoe UI"/>
              </a:rPr>
              <a:t>Azure is a purpose-built for all workloads, so you can be confident that you get maximum ROI and performance for all your workloads. </a:t>
            </a:r>
          </a:p>
          <a:p>
            <a:endParaRPr lang="en-US" sz="900" kern="1200">
              <a:solidFill>
                <a:srgbClr val="000000"/>
              </a:solidFill>
              <a:effectLst/>
              <a:latin typeface="Segoe UI"/>
              <a:ea typeface="Times New Roman" panose="02020603050405020304" pitchFamily="18" charset="0"/>
              <a:cs typeface="Segoe UI"/>
            </a:endParaRPr>
          </a:p>
          <a:p>
            <a:r>
              <a:rPr lang="en-US" sz="900" kern="1200">
                <a:solidFill>
                  <a:srgbClr val="000000"/>
                </a:solidFill>
                <a:effectLst/>
                <a:latin typeface="Segoe UI"/>
                <a:ea typeface="Times New Roman" panose="02020603050405020304" pitchFamily="18" charset="0"/>
                <a:cs typeface="Segoe UI"/>
              </a:rPr>
              <a:t>Starting with Windows Server and SQL Server, you can get up to 80% cost-savings with Azure Hybrid Benefit and free Extended Security Updates for end of support workloads and up to 5x faster performance of SQL Server on Azure versus other providers! </a:t>
            </a:r>
          </a:p>
          <a:p>
            <a:endParaRPr lang="en-US" sz="900" kern="1200">
              <a:solidFill>
                <a:srgbClr val="000000"/>
              </a:solidFill>
              <a:effectLst/>
              <a:latin typeface="Segoe UI"/>
              <a:ea typeface="Times New Roman" panose="02020603050405020304" pitchFamily="18" charset="0"/>
              <a:cs typeface="Segoe UI"/>
            </a:endParaRPr>
          </a:p>
          <a:p>
            <a:r>
              <a:rPr lang="en-US" sz="900" kern="1200">
                <a:solidFill>
                  <a:srgbClr val="000000"/>
                </a:solidFill>
                <a:effectLst/>
                <a:latin typeface="Segoe UI"/>
                <a:ea typeface="Times New Roman" panose="02020603050405020304" pitchFamily="18" charset="0"/>
                <a:cs typeface="Segoe UI"/>
              </a:rPr>
              <a:t>And it’s not just Windows Server and SQL Server, we also provide a purpose-built platform for Linux and open-source software! A recent study showed that you can get up to 192% ROI over 3 years by running RedHat on Azure!</a:t>
            </a:r>
          </a:p>
          <a:p>
            <a:endParaRPr lang="en-US" sz="900">
              <a:solidFill>
                <a:srgbClr val="000000"/>
              </a:solidFill>
              <a:latin typeface="Segoe UI"/>
              <a:ea typeface="Times New Roman" panose="02020603050405020304" pitchFamily="18" charset="0"/>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rgbClr val="000000"/>
                </a:solidFill>
                <a:effectLst/>
                <a:latin typeface="Segoe UI"/>
                <a:ea typeface="Times New Roman" panose="02020603050405020304" pitchFamily="18" charset="0"/>
                <a:cs typeface="Segoe UI"/>
              </a:rPr>
              <a:t>And last but not least, we also have strategic partnerships and native integrations for your largest third-party workloads such as SAP, VMware, and Oracle – so you can be confident that those workloads are also optimized to run efficiently on Azure.</a:t>
            </a:r>
            <a:endParaRPr lang="en-US" sz="400">
              <a:latin typeface="Segoe UI"/>
              <a:cs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a:solidFill>
                <a:srgbClr val="000000"/>
              </a:solidFill>
              <a:effectLst/>
              <a:latin typeface="Segoe UI" panose="020B0502040204020203" pitchFamily="34"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rgbClr val="000000"/>
                </a:solidFill>
                <a:effectLst/>
                <a:latin typeface="Segoe UI" panose="020B0502040204020203" pitchFamily="34" charset="0"/>
                <a:ea typeface="Times New Roman" panose="02020603050405020304" pitchFamily="18" charset="0"/>
              </a:rPr>
              <a:t>For example, we’re the only cloud provider that has a partnership with Oracle to run OCI workloads in Azure datacenters! And with SAP, we offer </a:t>
            </a:r>
            <a:r>
              <a:rPr lang="en-US" sz="900" u="sng" kern="1200">
                <a:solidFill>
                  <a:srgbClr val="000000"/>
                </a:solidFill>
                <a:effectLst/>
                <a:latin typeface="Segoe UI" panose="020B0502040204020203" pitchFamily="34" charset="0"/>
                <a:ea typeface="Times New Roman" panose="02020603050405020304" pitchFamily="18" charset="0"/>
                <a:hlinkClick r:id="rId3"/>
              </a:rPr>
              <a:t>139 SAP-certified virtual machines for HANA</a:t>
            </a:r>
            <a:r>
              <a:rPr lang="en-US" sz="900" kern="1200">
                <a:solidFill>
                  <a:srgbClr val="000000"/>
                </a:solidFill>
                <a:effectLst/>
                <a:latin typeface="Segoe UI" panose="020B0502040204020203" pitchFamily="34" charset="0"/>
                <a:ea typeface="Times New Roman" panose="02020603050405020304" pitchFamily="18" charset="0"/>
              </a:rPr>
              <a:t>, significantly more than any other provider so you can dial in the right scale and performance needed for your SAP systems.</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4/23/2026 9:37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563126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15623-6C19-E72E-17CB-86D1B10F9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ABE29-89AF-4FEF-B06F-5A2C0F9C5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17B7D-734B-AD57-0560-24B3FCF53DE0}"/>
              </a:ext>
            </a:extLst>
          </p:cNvPr>
          <p:cNvSpPr>
            <a:spLocks noGrp="1"/>
          </p:cNvSpPr>
          <p:nvPr>
            <p:ph type="body" idx="1"/>
          </p:nvPr>
        </p:nvSpPr>
        <p:spPr/>
        <p:txBody>
          <a:bodyPr/>
          <a:lstStyle/>
          <a:p>
            <a:pPr marL="0" marR="0" algn="l">
              <a:spcBef>
                <a:spcPts val="0"/>
              </a:spcBef>
              <a:spcAft>
                <a:spcPts val="600"/>
              </a:spcAft>
            </a:pPr>
            <a:r>
              <a:rPr lang="en-US" sz="1800" kern="1200">
                <a:solidFill>
                  <a:srgbClr val="000000"/>
                </a:solidFill>
                <a:effectLst/>
                <a:latin typeface="Segoe UI" panose="020B0502040204020203" pitchFamily="34" charset="0"/>
                <a:ea typeface="Times New Roman" panose="02020603050405020304" pitchFamily="18" charset="0"/>
              </a:rPr>
              <a:t>Enabling cloud agility is not a one-size fits all proposition. </a:t>
            </a:r>
          </a:p>
          <a:p>
            <a:pPr marL="0" marR="0" algn="l">
              <a:spcBef>
                <a:spcPts val="0"/>
              </a:spcBef>
              <a:spcAft>
                <a:spcPts val="600"/>
              </a:spcAft>
            </a:pPr>
            <a:endParaRPr lang="en-US" sz="1800" kern="1200">
              <a:solidFill>
                <a:srgbClr val="000000"/>
              </a:solidFill>
              <a:effectLst/>
              <a:latin typeface="Segoe UI" panose="020B0502040204020203" pitchFamily="34" charset="0"/>
              <a:ea typeface="Times New Roman" panose="02020603050405020304" pitchFamily="18" charset="0"/>
            </a:endParaRPr>
          </a:p>
          <a:p>
            <a:pPr marL="0" marR="0" algn="l">
              <a:spcBef>
                <a:spcPts val="0"/>
              </a:spcBef>
              <a:spcAft>
                <a:spcPts val="600"/>
              </a:spcAft>
            </a:pPr>
            <a:r>
              <a:rPr lang="en-US" sz="1800" kern="1200">
                <a:solidFill>
                  <a:srgbClr val="000000"/>
                </a:solidFill>
                <a:effectLst/>
                <a:latin typeface="Segoe UI" panose="020B0502040204020203" pitchFamily="34" charset="0"/>
                <a:ea typeface="Times New Roman" panose="02020603050405020304" pitchFamily="18" charset="0"/>
              </a:rPr>
              <a:t>We understand that every organization is unique, with its own set of requirements, skills, and datacenter investments. </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That's why we provide a flexible approach to migration and give you cloud on your terms – whether it’s moving to Azure IaaS or PaaS, </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Moving large VMware workloads to Azure VMware Solution, or extending Azure management and security to hybrid and </a:t>
            </a:r>
            <a:r>
              <a:rPr lang="en-US" sz="1800" kern="1200" err="1">
                <a:solidFill>
                  <a:srgbClr val="000000"/>
                </a:solidFill>
                <a:effectLst/>
                <a:latin typeface="Segoe UI" panose="020B0502040204020203" pitchFamily="34" charset="0"/>
                <a:ea typeface="Times New Roman" panose="02020603050405020304" pitchFamily="18" charset="0"/>
              </a:rPr>
              <a:t>multicloud</a:t>
            </a:r>
            <a:r>
              <a:rPr lang="en-US" sz="1800" kern="1200">
                <a:solidFill>
                  <a:srgbClr val="000000"/>
                </a:solidFill>
                <a:effectLst/>
                <a:latin typeface="Segoe UI" panose="020B0502040204020203" pitchFamily="34" charset="0"/>
                <a:ea typeface="Times New Roman" panose="02020603050405020304" pitchFamily="18" charset="0"/>
              </a:rPr>
              <a:t> environments through Azure Arc.</a:t>
            </a:r>
          </a:p>
          <a:p>
            <a:endParaRPr lang="en-US" sz="1800" kern="1200">
              <a:solidFill>
                <a:srgbClr val="000000"/>
              </a:solidFill>
              <a:effectLst/>
              <a:latin typeface="Segoe UI" panose="020B0502040204020203" pitchFamily="34" charset="0"/>
              <a:ea typeface="Times New Roman" panose="02020603050405020304" pitchFamily="18" charset="0"/>
            </a:endParaRPr>
          </a:p>
          <a:p>
            <a:r>
              <a:rPr lang="en-US" sz="1800" kern="1200">
                <a:solidFill>
                  <a:srgbClr val="000000"/>
                </a:solidFill>
                <a:effectLst/>
                <a:latin typeface="Segoe UI" panose="020B0502040204020203" pitchFamily="34" charset="0"/>
                <a:ea typeface="Times New Roman" panose="02020603050405020304" pitchFamily="18" charset="0"/>
              </a:rPr>
              <a:t>With this adaptive cloud approach - you get a consistent way to manage all your infrastructure and apps no matter where they reside.</a:t>
            </a:r>
            <a:endParaRPr lang="en-US" sz="1100"/>
          </a:p>
          <a:p>
            <a:endParaRPr lang="en-US"/>
          </a:p>
        </p:txBody>
      </p:sp>
      <p:sp>
        <p:nvSpPr>
          <p:cNvPr id="4" name="Header Placeholder 3">
            <a:extLst>
              <a:ext uri="{FF2B5EF4-FFF2-40B4-BE49-F238E27FC236}">
                <a16:creationId xmlns:a16="http://schemas.microsoft.com/office/drawing/2014/main" id="{2CCDBBDB-38C4-815A-972C-20E80F6A5347}"/>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ED288B24-5C8F-F4C1-0C54-0AE9A2CC9D1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57C169C-A119-EE71-8538-738C3629FEC3}"/>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4/23/2026 9:37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AC1B5396-9C6D-59DC-03E3-8B4E6CC3273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4308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4/23/2026 9:37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287820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2.jpe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3.xml"/><Relationship Id="rId4" Type="http://schemas.openxmlformats.org/officeDocument/2006/relationships/image" Target="../media/image18.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3.xml"/><Relationship Id="rId5" Type="http://schemas.openxmlformats.org/officeDocument/2006/relationships/image" Target="../media/image22.jpeg"/><Relationship Id="rId4" Type="http://schemas.openxmlformats.org/officeDocument/2006/relationships/image" Target="../media/image21.jpe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23.jpeg"/><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2.jpe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3052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85034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27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53555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71193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8999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4683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47747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49858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39720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76989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BC63DD-1BBB-451D-347F-AF49850B21D2}"/>
              </a:ext>
            </a:extLst>
          </p:cNvPr>
          <p:cNvPicPr>
            <a:picLocks noChangeAspect="1"/>
          </p:cNvPicPr>
          <p:nvPr userDrawn="1"/>
        </p:nvPicPr>
        <p:blipFill>
          <a:blip r:embed="rId2"/>
          <a:srcRect/>
          <a:stretch/>
        </p:blipFill>
        <p:spPr>
          <a:xfrm>
            <a:off x="3281" y="643"/>
            <a:ext cx="18281438" cy="10285715"/>
          </a:xfrm>
          <a:prstGeom prst="rect">
            <a:avLst/>
          </a:prstGeom>
        </p:spPr>
      </p:pic>
      <p:pic>
        <p:nvPicPr>
          <p:cNvPr id="4" name="MS logo white - EMF" descr="Microsoft logo white text version">
            <a:extLst>
              <a:ext uri="{FF2B5EF4-FFF2-40B4-BE49-F238E27FC236}">
                <a16:creationId xmlns:a16="http://schemas.microsoft.com/office/drawing/2014/main" id="{42A1B01F-5F0E-75AB-7240-724BF48CEC3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876301" y="878682"/>
            <a:ext cx="2049368" cy="438912"/>
          </a:xfrm>
          <a:prstGeom prst="rect">
            <a:avLst/>
          </a:prstGeom>
        </p:spPr>
      </p:pic>
      <p:pic>
        <p:nvPicPr>
          <p:cNvPr id="10" name="Picture 9">
            <a:extLst>
              <a:ext uri="{FF2B5EF4-FFF2-40B4-BE49-F238E27FC236}">
                <a16:creationId xmlns:a16="http://schemas.microsoft.com/office/drawing/2014/main" id="{BEA9BA16-37A9-1CBF-8379-809F720128C4}"/>
              </a:ext>
            </a:extLst>
          </p:cNvPr>
          <p:cNvPicPr>
            <a:picLocks noChangeAspect="1"/>
          </p:cNvPicPr>
          <p:nvPr userDrawn="1"/>
        </p:nvPicPr>
        <p:blipFill>
          <a:blip r:embed="rId4"/>
          <a:stretch>
            <a:fillRect/>
          </a:stretch>
        </p:blipFill>
        <p:spPr>
          <a:xfrm>
            <a:off x="874355" y="4121984"/>
            <a:ext cx="8678408" cy="1984421"/>
          </a:xfrm>
          <a:prstGeom prst="rect">
            <a:avLst/>
          </a:prstGeom>
        </p:spPr>
      </p:pic>
    </p:spTree>
    <p:extLst>
      <p:ext uri="{BB962C8B-B14F-4D97-AF65-F5344CB8AC3E}">
        <p14:creationId xmlns:p14="http://schemas.microsoft.com/office/powerpoint/2010/main" val="41341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F9527E-FE32-654E-593A-443B3D8ED40E}"/>
              </a:ext>
            </a:extLst>
          </p:cNvPr>
          <p:cNvPicPr>
            <a:picLocks noChangeAspect="1"/>
          </p:cNvPicPr>
          <p:nvPr userDrawn="1"/>
        </p:nvPicPr>
        <p:blipFill>
          <a:blip r:embed="rId2"/>
          <a:srcRect/>
          <a:stretch/>
        </p:blipFill>
        <p:spPr>
          <a:xfrm>
            <a:off x="3281" y="643"/>
            <a:ext cx="18281438" cy="10285715"/>
          </a:xfrm>
          <a:prstGeom prst="rect">
            <a:avLst/>
          </a:prstGeom>
        </p:spPr>
      </p:pic>
      <p:pic>
        <p:nvPicPr>
          <p:cNvPr id="3" name="MS logo white - EMF" descr="Microsoft logo white text version">
            <a:extLst>
              <a:ext uri="{FF2B5EF4-FFF2-40B4-BE49-F238E27FC236}">
                <a16:creationId xmlns:a16="http://schemas.microsoft.com/office/drawing/2014/main" id="{A48BDB8A-591D-3975-EA6B-553BDBC82A4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876301" y="878682"/>
            <a:ext cx="2049368" cy="438912"/>
          </a:xfrm>
          <a:prstGeom prst="rect">
            <a:avLst/>
          </a:prstGeom>
        </p:spPr>
      </p:pic>
      <p:sp>
        <p:nvSpPr>
          <p:cNvPr id="9" name="Title 1"/>
          <p:cNvSpPr>
            <a:spLocks noGrp="1"/>
          </p:cNvSpPr>
          <p:nvPr>
            <p:ph type="title" hasCustomPrompt="1"/>
          </p:nvPr>
        </p:nvSpPr>
        <p:spPr>
          <a:xfrm>
            <a:off x="876300" y="4377335"/>
            <a:ext cx="13716000" cy="923330"/>
          </a:xfrm>
          <a:noFill/>
        </p:spPr>
        <p:txBody>
          <a:bodyPr lIns="0" tIns="0" rIns="0" bIns="0" anchor="b" anchorCtr="0">
            <a:spAutoFit/>
          </a:bodyPr>
          <a:lstStyle>
            <a:lvl1pPr algn="l" defTabSz="1399113" rtl="0" eaLnBrk="1" latinLnBrk="0" hangingPunct="1">
              <a:lnSpc>
                <a:spcPct val="100000"/>
              </a:lnSpc>
              <a:spcBef>
                <a:spcPct val="0"/>
              </a:spcBef>
              <a:buNone/>
              <a:defRPr lang="en-US" sz="6000" b="0" kern="1200" cap="none" spc="-75" baseline="0" dirty="0">
                <a:ln w="3175">
                  <a:noFill/>
                </a:ln>
                <a:solidFill>
                  <a:srgbClr val="D4EC8E"/>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876300" y="5943600"/>
            <a:ext cx="13716000" cy="461665"/>
          </a:xfrm>
          <a:noFill/>
        </p:spPr>
        <p:txBody>
          <a:bodyPr wrap="square" lIns="0" tIns="0" rIns="0" bIns="0">
            <a:spAutoFit/>
          </a:bodyPr>
          <a:lstStyle>
            <a:lvl1pPr marL="0" indent="0">
              <a:spcBef>
                <a:spcPts val="0"/>
              </a:spcBef>
              <a:buNone/>
              <a:defRPr lang="en-US" sz="3000" kern="1200" spc="0" baseline="0" dirty="0">
                <a:solidFill>
                  <a:schemeClr val="tx1"/>
                </a:solidFill>
                <a:latin typeface="+mn-lt"/>
                <a:ea typeface="+mn-ea"/>
                <a:cs typeface="Segoe UI" panose="020B0502040204020203" pitchFamily="34" charset="0"/>
              </a:defRPr>
            </a:lvl1pPr>
          </a:lstStyle>
          <a:p>
            <a:pPr marL="0" marR="0" lvl="0" indent="0" algn="l" defTabSz="1399113"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spTree>
    <p:extLst>
      <p:ext uri="{BB962C8B-B14F-4D97-AF65-F5344CB8AC3E}">
        <p14:creationId xmlns:p14="http://schemas.microsoft.com/office/powerpoint/2010/main" val="102072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876300" y="4377335"/>
            <a:ext cx="13716000" cy="923330"/>
          </a:xfrm>
          <a:noFill/>
        </p:spPr>
        <p:txBody>
          <a:bodyPr lIns="0" tIns="0" rIns="0" bIns="0" anchor="b" anchorCtr="0">
            <a:spAutoFit/>
          </a:bodyPr>
          <a:lstStyle>
            <a:lvl1pPr>
              <a:defRPr sz="6000" spc="-75"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876300" y="5943601"/>
            <a:ext cx="13716000" cy="369332"/>
          </a:xfrm>
          <a:noFill/>
        </p:spPr>
        <p:txBody>
          <a:bodyPr wrap="square" lIns="0" tIns="0" rIns="0" bIns="0">
            <a:spAutoFit/>
          </a:bodyPr>
          <a:lstStyle>
            <a:lvl1pPr marL="0" indent="0">
              <a:spcBef>
                <a:spcPts val="0"/>
              </a:spcBef>
              <a:buNone/>
              <a:defRPr sz="24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876301" y="878682"/>
            <a:ext cx="2049368" cy="438912"/>
          </a:xfrm>
          <a:prstGeom prst="rect">
            <a:avLst/>
          </a:prstGeom>
        </p:spPr>
      </p:pic>
    </p:spTree>
    <p:extLst>
      <p:ext uri="{BB962C8B-B14F-4D97-AF65-F5344CB8AC3E}">
        <p14:creationId xmlns:p14="http://schemas.microsoft.com/office/powerpoint/2010/main" val="1868332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876300" y="2152650"/>
            <a:ext cx="16528257" cy="241912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4738787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879585" y="2151555"/>
            <a:ext cx="16527780" cy="2419124"/>
          </a:xfrm>
        </p:spPr>
        <p:txBody>
          <a:bodyPr wrap="square">
            <a:spAutoFit/>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43849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876301" y="2152650"/>
            <a:ext cx="7817645" cy="2419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9584532" y="2152650"/>
            <a:ext cx="7829550" cy="2419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5428088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882395" y="685800"/>
            <a:ext cx="16527780" cy="830997"/>
          </a:xfrm>
        </p:spPr>
        <p:txBody>
          <a:bodyPr/>
          <a:lstStyle/>
          <a:p>
            <a:r>
              <a:rPr lang="en-US"/>
              <a:t>Click to edit Master title style</a:t>
            </a:r>
          </a:p>
        </p:txBody>
      </p:sp>
      <p:sp>
        <p:nvSpPr>
          <p:cNvPr id="4" name="Text Placeholder 3"/>
          <p:cNvSpPr>
            <a:spLocks noGrp="1"/>
          </p:cNvSpPr>
          <p:nvPr>
            <p:ph type="body" sz="quarter" idx="10"/>
          </p:nvPr>
        </p:nvSpPr>
        <p:spPr>
          <a:xfrm>
            <a:off x="876300" y="2152650"/>
            <a:ext cx="7818120" cy="2474523"/>
          </a:xfrm>
        </p:spPr>
        <p:txBody>
          <a:bodyPr wrap="square">
            <a:spAutoFit/>
          </a:bodyPr>
          <a:lstStyle>
            <a:lvl1pPr marL="0" indent="0">
              <a:spcBef>
                <a:spcPts val="1836"/>
              </a:spcBef>
              <a:buClr>
                <a:schemeClr val="tx1"/>
              </a:buClr>
              <a:buFont typeface="Wingdings" panose="05000000000000000000" pitchFamily="2" charset="2"/>
              <a:buNone/>
              <a:defRPr sz="4200" b="0">
                <a:latin typeface="Segoe UI" panose="020B0502040204020203" pitchFamily="34" charset="0"/>
                <a:cs typeface="Segoe UI" panose="020B0502040204020203" pitchFamily="34" charset="0"/>
              </a:defRPr>
            </a:lvl1pPr>
            <a:lvl2pPr marL="383382" indent="0">
              <a:buFont typeface="Wingdings" panose="05000000000000000000" pitchFamily="2" charset="2"/>
              <a:buNone/>
              <a:defRPr sz="3000" b="0"/>
            </a:lvl2pPr>
            <a:lvl3pPr marL="676275" indent="0">
              <a:buFont typeface="Wingdings" panose="05000000000000000000" pitchFamily="2" charset="2"/>
              <a:buNone/>
              <a:tabLst/>
              <a:defRPr sz="2400" b="0"/>
            </a:lvl3pPr>
            <a:lvl4pPr marL="978693" indent="0">
              <a:buFont typeface="Wingdings" panose="05000000000000000000" pitchFamily="2" charset="2"/>
              <a:buNone/>
              <a:defRPr sz="2100" b="0"/>
            </a:lvl4pPr>
            <a:lvl5pPr marL="1281113" indent="0">
              <a:buFont typeface="Wingdings" panose="05000000000000000000" pitchFamily="2" charset="2"/>
              <a:buNone/>
              <a:tabLst/>
              <a:defRPr sz="21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9595757" y="2152650"/>
            <a:ext cx="7818120" cy="2474523"/>
          </a:xfrm>
        </p:spPr>
        <p:txBody>
          <a:bodyPr wrap="square">
            <a:spAutoFit/>
          </a:bodyPr>
          <a:lstStyle>
            <a:lvl1pPr marL="0" indent="0">
              <a:spcBef>
                <a:spcPts val="1836"/>
              </a:spcBef>
              <a:buClr>
                <a:schemeClr val="tx1"/>
              </a:buClr>
              <a:buFont typeface="Wingdings" panose="05000000000000000000" pitchFamily="2" charset="2"/>
              <a:buNone/>
              <a:defRPr sz="4200" b="0">
                <a:latin typeface="Segoe UI" panose="020B0502040204020203" pitchFamily="34" charset="0"/>
                <a:cs typeface="Segoe UI" panose="020B0502040204020203" pitchFamily="34" charset="0"/>
              </a:defRPr>
            </a:lvl1pPr>
            <a:lvl2pPr marL="383382" indent="0">
              <a:buFont typeface="Wingdings" panose="05000000000000000000" pitchFamily="2" charset="2"/>
              <a:buNone/>
              <a:defRPr sz="3000" b="0"/>
            </a:lvl2pPr>
            <a:lvl3pPr marL="676275" indent="0">
              <a:buFont typeface="Wingdings" panose="05000000000000000000" pitchFamily="2" charset="2"/>
              <a:buNone/>
              <a:tabLst/>
              <a:defRPr sz="2400" b="0"/>
            </a:lvl3pPr>
            <a:lvl4pPr marL="978693" indent="0">
              <a:buFont typeface="Wingdings" panose="05000000000000000000" pitchFamily="2" charset="2"/>
              <a:buNone/>
              <a:defRPr sz="2100" b="0"/>
            </a:lvl4pPr>
            <a:lvl5pPr marL="1281113" indent="0">
              <a:buFont typeface="Wingdings" panose="05000000000000000000" pitchFamily="2" charset="2"/>
              <a:buNone/>
              <a:tabLst/>
              <a:defRPr sz="21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88349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882395" y="685800"/>
            <a:ext cx="16527780" cy="830997"/>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876300" y="2155033"/>
            <a:ext cx="7829550" cy="646331"/>
          </a:xfrm>
        </p:spPr>
        <p:txBody>
          <a:bodyPr anchor="t"/>
          <a:lstStyle>
            <a:lvl1pPr marL="0" indent="0">
              <a:spcBef>
                <a:spcPts val="0"/>
              </a:spcBef>
              <a:buNone/>
              <a:defRPr sz="42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876300" y="3126583"/>
            <a:ext cx="7829550" cy="2419124"/>
          </a:xfrm>
        </p:spPr>
        <p:txBody>
          <a:bodyPr>
            <a:spAutoFit/>
          </a:bodyPr>
          <a:lstStyle>
            <a:lvl1pPr marL="257175" indent="-257175">
              <a:defRPr lang="en-US" sz="3600" dirty="0"/>
            </a:lvl1pPr>
            <a:lvl2pPr marL="514350" indent="-257175">
              <a:defRPr lang="en-US" dirty="0"/>
            </a:lvl2pPr>
            <a:lvl3pPr marL="771525" indent="-257175">
              <a:defRPr lang="en-US" dirty="0"/>
            </a:lvl3pPr>
            <a:lvl4pPr marL="1000125" indent="-228600">
              <a:defRPr lang="en-US" dirty="0"/>
            </a:lvl4pPr>
            <a:lvl5pPr marL="1190625" indent="-18097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9596438" y="2155033"/>
            <a:ext cx="7829550" cy="646331"/>
          </a:xfrm>
        </p:spPr>
        <p:txBody>
          <a:bodyPr anchor="t"/>
          <a:lstStyle>
            <a:lvl1pPr marL="0" indent="0">
              <a:spcBef>
                <a:spcPts val="0"/>
              </a:spcBef>
              <a:buNone/>
              <a:defRPr sz="42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9596438" y="3126583"/>
            <a:ext cx="7829550" cy="2419124"/>
          </a:xfrm>
        </p:spPr>
        <p:txBody>
          <a:bodyPr>
            <a:spAutoFit/>
          </a:bodyPr>
          <a:lstStyle>
            <a:lvl1pPr marL="257175" indent="-257175">
              <a:defRPr lang="en-US" sz="3600" dirty="0"/>
            </a:lvl1pPr>
            <a:lvl2pPr marL="514350" indent="-257175">
              <a:defRPr lang="en-US" dirty="0"/>
            </a:lvl2pPr>
            <a:lvl3pPr marL="771525" indent="-257175">
              <a:defRPr lang="en-US" dirty="0"/>
            </a:lvl3pPr>
            <a:lvl4pPr marL="1028700" indent="-204788">
              <a:defRPr lang="en-US" dirty="0"/>
            </a:lvl4pPr>
            <a:lvl5pPr marL="1190625" indent="-18097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206422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882395" y="685800"/>
            <a:ext cx="16527780" cy="830997"/>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876300" y="2155033"/>
            <a:ext cx="7829550" cy="646331"/>
          </a:xfrm>
        </p:spPr>
        <p:txBody>
          <a:bodyPr anchor="t"/>
          <a:lstStyle>
            <a:lvl1pPr marL="0" indent="0">
              <a:spcBef>
                <a:spcPts val="0"/>
              </a:spcBef>
              <a:buNone/>
              <a:defRPr sz="42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883445" y="3121819"/>
            <a:ext cx="7822406" cy="2326791"/>
          </a:xfrm>
        </p:spPr>
        <p:txBody>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9596438" y="2155033"/>
            <a:ext cx="7829550" cy="646331"/>
          </a:xfrm>
        </p:spPr>
        <p:txBody>
          <a:bodyPr anchor="t"/>
          <a:lstStyle>
            <a:lvl1pPr marL="0" indent="0">
              <a:spcBef>
                <a:spcPts val="0"/>
              </a:spcBef>
              <a:buNone/>
              <a:defRPr sz="42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9591677" y="3121819"/>
            <a:ext cx="7822406" cy="2326791"/>
          </a:xfrm>
        </p:spPr>
        <p:txBody>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298314365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882395" y="685800"/>
            <a:ext cx="16527780" cy="830997"/>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877826" y="2157413"/>
            <a:ext cx="4896612" cy="1015662"/>
          </a:xfrm>
        </p:spPr>
        <p:txBody>
          <a:bodyPr anchor="t"/>
          <a:lstStyle>
            <a:lvl1pPr marL="0" indent="0">
              <a:spcBef>
                <a:spcPts val="0"/>
              </a:spcBef>
              <a:buNone/>
              <a:defRPr sz="33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877826" y="3586163"/>
            <a:ext cx="4896612" cy="2640723"/>
          </a:xfrm>
        </p:spPr>
        <p:txBody>
          <a:bodyPr wrap="square">
            <a:spAutoFit/>
          </a:bodyPr>
          <a:lstStyle>
            <a:lvl1pPr marL="264320" indent="-264320">
              <a:defRPr lang="en-US" sz="3000" dirty="0"/>
            </a:lvl1pPr>
            <a:lvl2pPr marL="483395" indent="-226220">
              <a:defRPr lang="en-US" sz="2700" dirty="0"/>
            </a:lvl2pPr>
            <a:lvl3pPr marL="700088" indent="-207170">
              <a:defRPr lang="en-US" dirty="0"/>
            </a:lvl3pPr>
            <a:lvl4pPr marL="892970" indent="-192882">
              <a:defRPr lang="en-US" dirty="0"/>
            </a:lvl4pPr>
            <a:lvl5pPr marL="1097757" indent="-18335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6695694" y="2157413"/>
            <a:ext cx="4896612" cy="1015662"/>
          </a:xfrm>
        </p:spPr>
        <p:txBody>
          <a:bodyPr anchor="t"/>
          <a:lstStyle>
            <a:lvl1pPr marL="0" indent="0">
              <a:spcBef>
                <a:spcPts val="0"/>
              </a:spcBef>
              <a:buNone/>
              <a:defRPr sz="33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6695694" y="3576203"/>
            <a:ext cx="4896612" cy="2640723"/>
          </a:xfrm>
        </p:spPr>
        <p:txBody>
          <a:bodyPr wrap="square">
            <a:spAutoFit/>
          </a:bodyPr>
          <a:lstStyle>
            <a:lvl1pPr marL="264320" indent="-264320">
              <a:defRPr lang="en-US" sz="3000" dirty="0"/>
            </a:lvl1pPr>
            <a:lvl2pPr marL="597695" indent="-254795">
              <a:defRPr lang="en-US" sz="2700" dirty="0"/>
            </a:lvl2pPr>
            <a:lvl3pPr marL="833438" indent="-235745">
              <a:defRPr lang="en-US" dirty="0"/>
            </a:lvl3pPr>
            <a:lvl4pPr marL="1028700" indent="-204788">
              <a:defRPr lang="en-US" dirty="0"/>
            </a:lvl4pPr>
            <a:lvl5pPr marL="1200150" indent="-16668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12513563" y="2157413"/>
            <a:ext cx="4896612" cy="1015662"/>
          </a:xfrm>
        </p:spPr>
        <p:txBody>
          <a:bodyPr anchor="t"/>
          <a:lstStyle>
            <a:lvl1pPr marL="0" indent="0">
              <a:spcBef>
                <a:spcPts val="0"/>
              </a:spcBef>
              <a:buNone/>
              <a:defRPr sz="33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12513563" y="3586163"/>
            <a:ext cx="4896612" cy="2640723"/>
          </a:xfrm>
        </p:spPr>
        <p:txBody>
          <a:bodyPr wrap="square">
            <a:spAutoFit/>
          </a:bodyPr>
          <a:lstStyle>
            <a:lvl1pPr marL="264320" indent="-264320">
              <a:defRPr lang="en-US" sz="3000" dirty="0"/>
            </a:lvl1pPr>
            <a:lvl2pPr marL="597695" indent="-254795">
              <a:defRPr lang="en-US" sz="2700" dirty="0"/>
            </a:lvl2pPr>
            <a:lvl3pPr marL="833438" indent="-235745">
              <a:defRPr lang="en-US" dirty="0"/>
            </a:lvl3pPr>
            <a:lvl4pPr marL="1028700" indent="-204788">
              <a:defRPr lang="en-US" dirty="0"/>
            </a:lvl4pPr>
            <a:lvl5pPr marL="1200150" indent="-16668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677166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882395" y="685800"/>
            <a:ext cx="16527780" cy="830997"/>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876301" y="2157413"/>
            <a:ext cx="3798095" cy="923330"/>
          </a:xfrm>
        </p:spPr>
        <p:txBody>
          <a:bodyPr anchor="t"/>
          <a:lstStyle>
            <a:lvl1pPr marL="0" indent="0">
              <a:spcBef>
                <a:spcPts val="0"/>
              </a:spcBef>
              <a:buNone/>
              <a:defRPr sz="3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876301" y="3424673"/>
            <a:ext cx="3798095" cy="2548391"/>
          </a:xfrm>
        </p:spPr>
        <p:txBody>
          <a:bodyPr wrap="square">
            <a:spAutoFit/>
          </a:bodyPr>
          <a:lstStyle>
            <a:lvl1pPr marL="211932" indent="-211932">
              <a:defRPr lang="en-US" sz="2700" dirty="0"/>
            </a:lvl1pPr>
            <a:lvl2pPr marL="428625" indent="-188120">
              <a:defRPr lang="en-US" sz="2400" dirty="0"/>
            </a:lvl2pPr>
            <a:lvl3pPr marL="657225" indent="-200025">
              <a:defRPr lang="en-US" dirty="0"/>
            </a:lvl3pPr>
            <a:lvl4pPr marL="850107" indent="-171450">
              <a:defRPr lang="en-US" dirty="0"/>
            </a:lvl4pPr>
            <a:lvl5pPr marL="1028700" indent="-16430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5119688" y="2157413"/>
            <a:ext cx="3800475" cy="923330"/>
          </a:xfrm>
        </p:spPr>
        <p:txBody>
          <a:bodyPr anchor="t"/>
          <a:lstStyle>
            <a:lvl1pPr marL="0" indent="0">
              <a:spcBef>
                <a:spcPts val="0"/>
              </a:spcBef>
              <a:buNone/>
              <a:defRPr sz="3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5119688" y="3414713"/>
            <a:ext cx="3798095" cy="2548391"/>
          </a:xfrm>
        </p:spPr>
        <p:txBody>
          <a:bodyPr wrap="square">
            <a:spAutoFit/>
          </a:bodyPr>
          <a:lstStyle>
            <a:lvl1pPr marL="211932" indent="-211932">
              <a:defRPr lang="en-US" sz="2700" dirty="0"/>
            </a:lvl1pPr>
            <a:lvl2pPr marL="428625" indent="-188120">
              <a:defRPr lang="en-US" sz="2400" dirty="0"/>
            </a:lvl2pPr>
            <a:lvl3pPr marL="657225" indent="-200025">
              <a:defRPr lang="en-US" dirty="0"/>
            </a:lvl3pPr>
            <a:lvl4pPr marL="850107" indent="-171450">
              <a:defRPr lang="en-US" dirty="0"/>
            </a:lvl4pPr>
            <a:lvl5pPr marL="1028700" indent="-16430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9366313" y="2157413"/>
            <a:ext cx="3798095" cy="923330"/>
          </a:xfrm>
        </p:spPr>
        <p:txBody>
          <a:bodyPr anchor="t"/>
          <a:lstStyle>
            <a:lvl1pPr marL="0" indent="0">
              <a:spcBef>
                <a:spcPts val="0"/>
              </a:spcBef>
              <a:buNone/>
              <a:defRPr sz="3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9366313" y="3424673"/>
            <a:ext cx="3798095" cy="2548391"/>
          </a:xfrm>
        </p:spPr>
        <p:txBody>
          <a:bodyPr wrap="square">
            <a:spAutoFit/>
          </a:bodyPr>
          <a:lstStyle>
            <a:lvl1pPr marL="211932" indent="-211932">
              <a:defRPr lang="en-US" sz="2700" dirty="0"/>
            </a:lvl1pPr>
            <a:lvl2pPr marL="428625" indent="-188120">
              <a:defRPr lang="en-US" sz="2400" dirty="0"/>
            </a:lvl2pPr>
            <a:lvl3pPr marL="657225" indent="-200025">
              <a:defRPr lang="en-US" dirty="0"/>
            </a:lvl3pPr>
            <a:lvl4pPr marL="850107" indent="-171450">
              <a:defRPr lang="en-US" dirty="0"/>
            </a:lvl4pPr>
            <a:lvl5pPr marL="1028700" indent="-16430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13609700" y="2157413"/>
            <a:ext cx="3800475" cy="923330"/>
          </a:xfrm>
        </p:spPr>
        <p:txBody>
          <a:bodyPr anchor="t"/>
          <a:lstStyle>
            <a:lvl1pPr marL="0" indent="0">
              <a:spcBef>
                <a:spcPts val="0"/>
              </a:spcBef>
              <a:buNone/>
              <a:defRPr sz="3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13609700" y="3414713"/>
            <a:ext cx="3798095" cy="2548391"/>
          </a:xfrm>
        </p:spPr>
        <p:txBody>
          <a:bodyPr wrap="square">
            <a:spAutoFit/>
          </a:bodyPr>
          <a:lstStyle>
            <a:lvl1pPr marL="211932" indent="-211932">
              <a:defRPr lang="en-US" sz="2700" dirty="0"/>
            </a:lvl1pPr>
            <a:lvl2pPr marL="428625" indent="-188120">
              <a:defRPr lang="en-US" sz="2400" dirty="0"/>
            </a:lvl2pPr>
            <a:lvl3pPr marL="657225" indent="-200025">
              <a:defRPr lang="en-US" dirty="0"/>
            </a:lvl3pPr>
            <a:lvl4pPr marL="850107" indent="-171450">
              <a:defRPr lang="en-US" dirty="0"/>
            </a:lvl4pPr>
            <a:lvl5pPr marL="1028700" indent="-16430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91892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882395" y="685800"/>
            <a:ext cx="16527780" cy="830997"/>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876300" y="2157413"/>
            <a:ext cx="2948940" cy="738665"/>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876300" y="3424673"/>
            <a:ext cx="2948940" cy="2179058"/>
          </a:xfrm>
        </p:spPr>
        <p:txBody>
          <a:bodyPr wrap="square">
            <a:spAutoFit/>
          </a:bodyPr>
          <a:lstStyle>
            <a:lvl1pPr marL="211932" indent="-211932">
              <a:defRPr lang="en-US" sz="2250" dirty="0"/>
            </a:lvl1pPr>
            <a:lvl2pPr marL="428625" indent="-188120">
              <a:defRPr lang="en-US" sz="2100" dirty="0"/>
            </a:lvl2pPr>
            <a:lvl3pPr marL="657225" indent="-200025">
              <a:defRPr lang="en-US" sz="2100" dirty="0"/>
            </a:lvl3pPr>
            <a:lvl4pPr marL="850107" indent="-171450">
              <a:defRPr lang="en-US" sz="1800" dirty="0"/>
            </a:lvl4pPr>
            <a:lvl5pPr marL="1028700" indent="-164307">
              <a:defRPr lang="en-US" sz="1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4273511" y="2157413"/>
            <a:ext cx="2948940" cy="738665"/>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4273511" y="3414713"/>
            <a:ext cx="2948940" cy="2179058"/>
          </a:xfrm>
        </p:spPr>
        <p:txBody>
          <a:bodyPr wrap="square">
            <a:spAutoFit/>
          </a:bodyPr>
          <a:lstStyle>
            <a:lvl1pPr marL="211932" indent="-211932">
              <a:defRPr lang="en-US" sz="2250" dirty="0"/>
            </a:lvl1pPr>
            <a:lvl2pPr marL="428625" indent="-188120">
              <a:defRPr lang="en-US" sz="2100" dirty="0"/>
            </a:lvl2pPr>
            <a:lvl3pPr marL="657225" indent="-200025">
              <a:defRPr lang="en-US" sz="2100" dirty="0"/>
            </a:lvl3pPr>
            <a:lvl4pPr marL="850107" indent="-171450">
              <a:defRPr lang="en-US" sz="1800" dirty="0"/>
            </a:lvl4pPr>
            <a:lvl5pPr marL="1028700" indent="-164307">
              <a:defRPr lang="en-US" sz="1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7670721" y="2157413"/>
            <a:ext cx="2948940" cy="738665"/>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7670721" y="3424673"/>
            <a:ext cx="2948940" cy="2179058"/>
          </a:xfrm>
        </p:spPr>
        <p:txBody>
          <a:bodyPr wrap="square">
            <a:spAutoFit/>
          </a:bodyPr>
          <a:lstStyle>
            <a:lvl1pPr marL="211932" indent="-211932">
              <a:defRPr lang="en-US" sz="2250" dirty="0"/>
            </a:lvl1pPr>
            <a:lvl2pPr marL="428625" indent="-188120">
              <a:defRPr lang="en-US" sz="2100" dirty="0"/>
            </a:lvl2pPr>
            <a:lvl3pPr marL="657225" indent="-200025">
              <a:defRPr lang="en-US" sz="2100" dirty="0"/>
            </a:lvl3pPr>
            <a:lvl4pPr marL="850107" indent="-171450">
              <a:defRPr lang="en-US" sz="1800" dirty="0"/>
            </a:lvl4pPr>
            <a:lvl5pPr marL="1028700" indent="-164307">
              <a:defRPr lang="en-US" sz="1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11067932" y="2157413"/>
            <a:ext cx="2948940" cy="738665"/>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11067932" y="3414713"/>
            <a:ext cx="2948940" cy="2179058"/>
          </a:xfrm>
        </p:spPr>
        <p:txBody>
          <a:bodyPr wrap="square">
            <a:spAutoFit/>
          </a:bodyPr>
          <a:lstStyle>
            <a:lvl1pPr marL="211932" indent="-211932">
              <a:defRPr lang="en-US" sz="2250" dirty="0"/>
            </a:lvl1pPr>
            <a:lvl2pPr marL="428625" indent="-188120">
              <a:defRPr lang="en-US" sz="2100" dirty="0"/>
            </a:lvl2pPr>
            <a:lvl3pPr marL="657225" indent="-200025">
              <a:defRPr lang="en-US" sz="2100" dirty="0"/>
            </a:lvl3pPr>
            <a:lvl4pPr marL="850107" indent="-171450">
              <a:defRPr lang="en-US" sz="1800" dirty="0"/>
            </a:lvl4pPr>
            <a:lvl5pPr marL="1028700" indent="-164307">
              <a:defRPr lang="en-US" sz="1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14465142" y="2157413"/>
            <a:ext cx="2948940" cy="738665"/>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14465142" y="3414713"/>
            <a:ext cx="2948940" cy="2179058"/>
          </a:xfrm>
        </p:spPr>
        <p:txBody>
          <a:bodyPr wrap="square">
            <a:spAutoFit/>
          </a:bodyPr>
          <a:lstStyle>
            <a:lvl1pPr marL="211932" indent="-211932">
              <a:defRPr lang="en-US" sz="2250" dirty="0"/>
            </a:lvl1pPr>
            <a:lvl2pPr marL="428625" indent="-188120">
              <a:defRPr lang="en-US" sz="2100" dirty="0"/>
            </a:lvl2pPr>
            <a:lvl3pPr marL="657225" indent="-200025">
              <a:defRPr lang="en-US" sz="2100" dirty="0"/>
            </a:lvl3pPr>
            <a:lvl4pPr marL="850107" indent="-171450">
              <a:defRPr lang="en-US" sz="1800" dirty="0"/>
            </a:lvl4pPr>
            <a:lvl5pPr marL="1028700" indent="-164307">
              <a:defRPr lang="en-US" sz="1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501434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092509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882396" y="4312503"/>
            <a:ext cx="6191538" cy="1661994"/>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1897149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876301" y="685800"/>
            <a:ext cx="8262629" cy="526298"/>
          </a:xfrm>
        </p:spPr>
        <p:txBody>
          <a:bodyPr tIns="64008"/>
          <a:lstStyle>
            <a:lvl1pPr>
              <a:defRPr sz="3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7407240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882395" y="3024306"/>
            <a:ext cx="6237543" cy="1661993"/>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876301" y="5303311"/>
            <a:ext cx="6243638" cy="507831"/>
          </a:xfrm>
        </p:spPr>
        <p:txBody>
          <a:bodyPr/>
          <a:lstStyle>
            <a:lvl1pPr marL="0" indent="0">
              <a:buNone/>
              <a:defRPr sz="3300">
                <a:latin typeface="+mn-lt"/>
              </a:defRPr>
            </a:lvl1pPr>
            <a:lvl2pPr marL="342900" indent="0">
              <a:buNone/>
              <a:defRPr/>
            </a:lvl2pPr>
            <a:lvl3pPr marL="685800" indent="0">
              <a:buNone/>
              <a:defRPr/>
            </a:lvl3pPr>
            <a:lvl4pPr marL="992982" indent="0">
              <a:buNone/>
              <a:defRPr/>
            </a:lvl4pPr>
            <a:lvl5pPr marL="1283495"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8001000" y="0"/>
            <a:ext cx="10287000" cy="10287000"/>
          </a:xfrm>
          <a:blipFill>
            <a:blip r:embed="rId2"/>
            <a:stretch>
              <a:fillRect/>
            </a:stretch>
          </a:blipFill>
        </p:spPr>
        <p:txBody>
          <a:bodyPr lIns="0" tIns="2377440" rIns="0" anchor="t" anchorCtr="0">
            <a:noAutofit/>
          </a:bodyPr>
          <a:lstStyle>
            <a:lvl1pPr marL="0" indent="0" algn="ctr">
              <a:lnSpc>
                <a:spcPct val="100000"/>
              </a:lnSpc>
              <a:buNone/>
              <a:defRPr sz="21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91607774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882395" y="4310123"/>
            <a:ext cx="6239925" cy="1661993"/>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8001000" y="0"/>
            <a:ext cx="10287000" cy="10287000"/>
          </a:xfrm>
          <a:blipFill>
            <a:blip r:embed="rId2"/>
            <a:stretch>
              <a:fillRect/>
            </a:stretch>
          </a:blipFill>
        </p:spPr>
        <p:txBody>
          <a:bodyPr lIns="0" tIns="2377440" rIns="0" anchor="t" anchorCtr="0">
            <a:noAutofit/>
          </a:bodyPr>
          <a:lstStyle>
            <a:lvl1pPr marL="0" indent="0" algn="ctr">
              <a:lnSpc>
                <a:spcPct val="100000"/>
              </a:lnSpc>
              <a:buNone/>
              <a:defRPr sz="21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44646070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882395" y="4469607"/>
            <a:ext cx="6244688" cy="1292662"/>
          </a:xfrm>
        </p:spPr>
        <p:txBody>
          <a:bodyPr anchor="t"/>
          <a:lstStyle>
            <a:lvl1pPr>
              <a:defRPr sz="42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8001000" y="0"/>
            <a:ext cx="10287000" cy="10287000"/>
          </a:xfrm>
          <a:blipFill>
            <a:blip r:embed="rId2"/>
            <a:stretch>
              <a:fillRect/>
            </a:stretch>
          </a:blipFill>
        </p:spPr>
        <p:txBody>
          <a:bodyPr lIns="0" tIns="2377440" rIns="0" anchor="t" anchorCtr="0">
            <a:noAutofit/>
          </a:bodyPr>
          <a:lstStyle>
            <a:lvl1pPr marL="0" indent="0" algn="ctr">
              <a:lnSpc>
                <a:spcPct val="100000"/>
              </a:lnSpc>
              <a:buNone/>
              <a:defRPr sz="21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0884654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8288000" cy="10287000"/>
          </a:xfrm>
          <a:blipFill>
            <a:blip r:embed="rId2"/>
            <a:stretch>
              <a:fillRect/>
            </a:stretch>
          </a:blipFill>
        </p:spPr>
        <p:txBody>
          <a:bodyPr wrap="none" bIns="1554480" anchor="ctr">
            <a:noAutofit/>
          </a:bodyPr>
          <a:lstStyle>
            <a:lvl1pPr marL="0" indent="0" algn="ctr">
              <a:buNone/>
              <a:defRPr sz="21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486400"/>
            <a:ext cx="18288000" cy="48006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54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871637618"/>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8288000" cy="10287000"/>
          </a:xfrm>
          <a:blipFill>
            <a:blip r:embed="rId2"/>
            <a:stretch>
              <a:fillRect/>
            </a:stretch>
          </a:blipFill>
        </p:spPr>
        <p:txBody>
          <a:bodyPr wrap="none" bIns="1554480" anchor="ctr">
            <a:noAutofit/>
          </a:bodyPr>
          <a:lstStyle>
            <a:lvl1pPr marL="0" indent="0" algn="ctr">
              <a:buNone/>
              <a:defRPr sz="21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5" y="0"/>
            <a:ext cx="8503920" cy="10287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54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48159354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8288000" cy="10287000"/>
          </a:xfrm>
          <a:blipFill>
            <a:blip r:embed="rId2"/>
            <a:stretch>
              <a:fillRect/>
            </a:stretch>
          </a:blipFill>
        </p:spPr>
        <p:txBody>
          <a:bodyPr wrap="none" bIns="1554480" anchor="ctr">
            <a:noAutofit/>
          </a:bodyPr>
          <a:lstStyle>
            <a:lvl1pPr marL="0" indent="0" algn="ctr">
              <a:buNone/>
              <a:defRPr sz="21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9784080" y="0"/>
            <a:ext cx="8503920" cy="10287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54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679799366"/>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882395" y="8154192"/>
            <a:ext cx="16527780" cy="830997"/>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8288000" cy="6858000"/>
          </a:xfrm>
          <a:blipFill>
            <a:blip r:embed="rId2"/>
            <a:stretch>
              <a:fillRect/>
            </a:stretch>
          </a:blipFill>
        </p:spPr>
        <p:txBody>
          <a:bodyPr vert="horz" wrap="square" lIns="0" tIns="1280160" rIns="0" bIns="0" rtlCol="0" anchor="t" anchorCtr="0">
            <a:noAutofit/>
          </a:bodyPr>
          <a:lstStyle>
            <a:lvl1pPr marL="0" indent="0" algn="ctr">
              <a:buNone/>
              <a:defRPr lang="en-US" sz="2100" b="1" dirty="0">
                <a:solidFill>
                  <a:srgbClr val="000000"/>
                </a:solidFill>
              </a:defRPr>
            </a:lvl1pPr>
          </a:lstStyle>
          <a:p>
            <a:pPr marL="342900" lvl="0" indent="-3429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29783265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882395" y="1299430"/>
            <a:ext cx="16527780" cy="830997"/>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3572" y="3429000"/>
            <a:ext cx="18288000" cy="6858000"/>
          </a:xfrm>
          <a:blipFill>
            <a:blip r:embed="rId2"/>
            <a:stretch>
              <a:fillRect/>
            </a:stretch>
          </a:blipFill>
        </p:spPr>
        <p:txBody>
          <a:bodyPr vert="horz" wrap="square" lIns="0" tIns="1371600" rIns="0" bIns="0" rtlCol="0" anchor="t" anchorCtr="0">
            <a:noAutofit/>
          </a:bodyPr>
          <a:lstStyle>
            <a:lvl1pPr marL="0" indent="0" algn="ctr">
              <a:buNone/>
              <a:defRPr lang="en-US" sz="2100" b="1" dirty="0">
                <a:solidFill>
                  <a:srgbClr val="000000"/>
                </a:solidFill>
              </a:defRPr>
            </a:lvl1pPr>
          </a:lstStyle>
          <a:p>
            <a:pPr marL="342900" lvl="0" indent="-3429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716662328"/>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882395" y="685800"/>
            <a:ext cx="16527780" cy="83099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876299" y="8534400"/>
            <a:ext cx="8051292" cy="415498"/>
          </a:xfrm>
        </p:spPr>
        <p:txBody>
          <a:bodyPr/>
          <a:lstStyle>
            <a:lvl1pPr marL="0" indent="0" algn="l">
              <a:spcBef>
                <a:spcPts val="0"/>
              </a:spcBef>
              <a:buNone/>
              <a:defRPr sz="27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873918" y="3038475"/>
            <a:ext cx="8051292" cy="5212080"/>
          </a:xfrm>
          <a:blipFill>
            <a:blip r:embed="rId2"/>
            <a:stretch>
              <a:fillRect/>
            </a:stretch>
          </a:blipFill>
        </p:spPr>
        <p:txBody>
          <a:bodyPr vert="horz" wrap="square" lIns="0" tIns="0" rIns="0" bIns="1005840" rtlCol="0" anchor="ctr" anchorCtr="0">
            <a:noAutofit/>
          </a:bodyPr>
          <a:lstStyle>
            <a:lvl1pPr marL="0" indent="0" algn="ctr">
              <a:buNone/>
              <a:defRPr lang="en-US" sz="1500" b="1" dirty="0">
                <a:solidFill>
                  <a:srgbClr val="000000"/>
                </a:solidFill>
              </a:defRPr>
            </a:lvl1pPr>
          </a:lstStyle>
          <a:p>
            <a:pPr marL="342900" lvl="0" indent="-3429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9362790" y="8534400"/>
            <a:ext cx="8051292" cy="415498"/>
          </a:xfrm>
        </p:spPr>
        <p:txBody>
          <a:bodyPr/>
          <a:lstStyle>
            <a:lvl1pPr marL="0" indent="0" algn="l">
              <a:spcBef>
                <a:spcPts val="0"/>
              </a:spcBef>
              <a:buNone/>
              <a:defRPr sz="27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9358883" y="3038475"/>
            <a:ext cx="8051292" cy="5212080"/>
          </a:xfrm>
          <a:blipFill>
            <a:blip r:embed="rId3"/>
            <a:stretch>
              <a:fillRect/>
            </a:stretch>
          </a:blipFill>
        </p:spPr>
        <p:txBody>
          <a:bodyPr vert="horz" wrap="square" lIns="0" tIns="0" rIns="0" bIns="1005840" rtlCol="0" anchor="ctr" anchorCtr="0">
            <a:noAutofit/>
          </a:bodyPr>
          <a:lstStyle>
            <a:lvl1pPr marL="0" indent="0" algn="ctr">
              <a:buNone/>
              <a:defRPr lang="en-US" sz="1500" b="1" dirty="0">
                <a:solidFill>
                  <a:srgbClr val="000000"/>
                </a:solidFill>
              </a:defRPr>
            </a:lvl1pPr>
          </a:lstStyle>
          <a:p>
            <a:pPr marL="342900" lvl="0" indent="-3429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79285579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882395" y="685800"/>
            <a:ext cx="16527780" cy="83099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873920" y="8534400"/>
            <a:ext cx="5212556" cy="415498"/>
          </a:xfrm>
        </p:spPr>
        <p:txBody>
          <a:bodyPr/>
          <a:lstStyle>
            <a:lvl1pPr marL="0" indent="0" algn="l">
              <a:spcBef>
                <a:spcPts val="0"/>
              </a:spcBef>
              <a:buNone/>
              <a:defRPr sz="27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873918" y="3038475"/>
            <a:ext cx="5212080" cy="5212080"/>
          </a:xfrm>
          <a:blipFill>
            <a:blip r:embed="rId2"/>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6537961" y="8534400"/>
            <a:ext cx="5212556" cy="415498"/>
          </a:xfrm>
        </p:spPr>
        <p:txBody>
          <a:bodyPr/>
          <a:lstStyle>
            <a:lvl1pPr marL="0" indent="0" algn="l">
              <a:spcBef>
                <a:spcPts val="0"/>
              </a:spcBef>
              <a:buNone/>
              <a:defRPr sz="27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6537960" y="3038475"/>
            <a:ext cx="5212080" cy="5212080"/>
          </a:xfrm>
          <a:blipFill>
            <a:blip r:embed="rId3"/>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12201527" y="8534400"/>
            <a:ext cx="5212556" cy="415498"/>
          </a:xfrm>
        </p:spPr>
        <p:txBody>
          <a:bodyPr/>
          <a:lstStyle>
            <a:lvl1pPr marL="0" indent="0" algn="l">
              <a:spcBef>
                <a:spcPts val="0"/>
              </a:spcBef>
              <a:buNone/>
              <a:defRPr sz="27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12198095" y="3038475"/>
            <a:ext cx="5212080" cy="5212080"/>
          </a:xfrm>
          <a:blipFill>
            <a:blip r:embed="rId4"/>
            <a:stretch>
              <a:fillRect/>
            </a:stretch>
          </a:blipFill>
        </p:spPr>
        <p:txBody>
          <a:bodyPr lIns="0" tIns="0" rIns="0" bIns="100584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501140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882395" y="685800"/>
            <a:ext cx="16527780" cy="83099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873920" y="7130907"/>
            <a:ext cx="3799332" cy="830997"/>
          </a:xfrm>
        </p:spPr>
        <p:txBody>
          <a:bodyPr/>
          <a:lstStyle>
            <a:lvl1pPr marL="0" indent="0" algn="l">
              <a:spcBef>
                <a:spcPts val="0"/>
              </a:spcBef>
              <a:buNone/>
              <a:defRPr sz="27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873918" y="3038475"/>
            <a:ext cx="3799332" cy="3799332"/>
          </a:xfrm>
          <a:blipFill>
            <a:blip r:embed="rId2"/>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5120862" y="7130907"/>
            <a:ext cx="3799332" cy="830997"/>
          </a:xfrm>
        </p:spPr>
        <p:txBody>
          <a:bodyPr/>
          <a:lstStyle>
            <a:lvl1pPr marL="0" indent="0" algn="l">
              <a:spcBef>
                <a:spcPts val="0"/>
              </a:spcBef>
              <a:buNone/>
              <a:defRPr sz="27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5120862" y="3038475"/>
            <a:ext cx="3799332" cy="3799332"/>
          </a:xfrm>
          <a:blipFill>
            <a:blip r:embed="rId3"/>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9367806" y="7130907"/>
            <a:ext cx="3799332" cy="830997"/>
          </a:xfrm>
        </p:spPr>
        <p:txBody>
          <a:bodyPr/>
          <a:lstStyle>
            <a:lvl1pPr marL="0" indent="0" algn="l">
              <a:spcBef>
                <a:spcPts val="0"/>
              </a:spcBef>
              <a:buNone/>
              <a:defRPr sz="27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9367806" y="3038475"/>
            <a:ext cx="3799332" cy="3799332"/>
          </a:xfrm>
          <a:blipFill>
            <a:blip r:embed="rId4"/>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13614750" y="7130907"/>
            <a:ext cx="3799332" cy="830997"/>
          </a:xfrm>
        </p:spPr>
        <p:txBody>
          <a:bodyPr/>
          <a:lstStyle>
            <a:lvl1pPr marL="0" indent="0" algn="l">
              <a:spcBef>
                <a:spcPts val="0"/>
              </a:spcBef>
              <a:buNone/>
              <a:defRPr sz="27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13610843" y="3038475"/>
            <a:ext cx="3799332" cy="3799332"/>
          </a:xfrm>
          <a:blipFill>
            <a:blip r:embed="rId5"/>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35313732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882395" y="1299859"/>
            <a:ext cx="16527780" cy="830997"/>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877824" y="8001001"/>
            <a:ext cx="7338060" cy="415498"/>
          </a:xfrm>
        </p:spPr>
        <p:txBody>
          <a:bodyPr/>
          <a:lstStyle>
            <a:lvl1pPr marL="0" indent="0" algn="ctr">
              <a:spcBef>
                <a:spcPts val="0"/>
              </a:spcBef>
              <a:buNone/>
              <a:defRPr sz="27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3429000"/>
            <a:ext cx="9093708" cy="4210812"/>
          </a:xfrm>
          <a:blipFill>
            <a:blip r:embed="rId2"/>
            <a:stretch>
              <a:fillRect/>
            </a:stretch>
          </a:blip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10072116" y="8001000"/>
            <a:ext cx="7338060" cy="415498"/>
          </a:xfrm>
        </p:spPr>
        <p:txBody>
          <a:bodyPr/>
          <a:lstStyle>
            <a:lvl1pPr marL="0" indent="0" algn="ctr">
              <a:spcBef>
                <a:spcPts val="0"/>
              </a:spcBef>
              <a:buNone/>
              <a:defRPr sz="27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9194292" y="3429000"/>
            <a:ext cx="9093708" cy="4210812"/>
          </a:xfrm>
          <a:blipFill>
            <a:blip r:embed="rId3"/>
            <a:stretch>
              <a:fillRect/>
            </a:stretch>
          </a:blip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2372013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882395" y="1299857"/>
            <a:ext cx="16527780" cy="830997"/>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877824" y="7200901"/>
            <a:ext cx="4279392"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3429000"/>
            <a:ext cx="6035040" cy="3429000"/>
          </a:xfrm>
          <a:blipFill>
            <a:blip r:embed="rId2"/>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7004304" y="7199114"/>
            <a:ext cx="4279392"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6480" y="3429000"/>
            <a:ext cx="6035040" cy="3429000"/>
          </a:xfrm>
          <a:blipFill>
            <a:blip r:embed="rId3"/>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13130784" y="7199115"/>
            <a:ext cx="4279392"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12252960" y="3429000"/>
            <a:ext cx="6035040" cy="3429000"/>
          </a:xfrm>
          <a:blipFill>
            <a:blip r:embed="rId4"/>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270129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882395" y="1299859"/>
            <a:ext cx="16527780" cy="830997"/>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877824" y="7200901"/>
            <a:ext cx="2743200"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3429000"/>
            <a:ext cx="4498848" cy="3429000"/>
          </a:xfrm>
          <a:blipFill>
            <a:blip r:embed="rId2"/>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5474208" y="7199114"/>
            <a:ext cx="2743200"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596384" y="3429000"/>
            <a:ext cx="4498848" cy="3429000"/>
          </a:xfrm>
          <a:blipFill>
            <a:blip r:embed="rId3"/>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10070592" y="7199115"/>
            <a:ext cx="2743200"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9192768" y="3429000"/>
            <a:ext cx="4498848" cy="3429000"/>
          </a:xfrm>
          <a:blipFill>
            <a:blip r:embed="rId4"/>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14666976" y="7199114"/>
            <a:ext cx="2743200"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13789152" y="3429000"/>
            <a:ext cx="4498848" cy="3429000"/>
          </a:xfrm>
          <a:blipFill>
            <a:blip r:embed="rId5"/>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705564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882395" y="1299859"/>
            <a:ext cx="16527780" cy="830997"/>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438912" y="7200901"/>
            <a:ext cx="2702052"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3429000"/>
            <a:ext cx="3579876" cy="3429000"/>
          </a:xfrm>
          <a:blipFill>
            <a:blip r:embed="rId2"/>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115943" y="7199114"/>
            <a:ext cx="2702052"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677031" y="3429000"/>
            <a:ext cx="3579876" cy="3429000"/>
          </a:xfrm>
          <a:blipFill>
            <a:blip r:embed="rId3"/>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7792974" y="7199115"/>
            <a:ext cx="2702052"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7354062" y="3429000"/>
            <a:ext cx="3579876" cy="3429000"/>
          </a:xfrm>
          <a:blipFill>
            <a:blip r:embed="rId4"/>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11470005" y="7199114"/>
            <a:ext cx="2702052"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11031093" y="3429000"/>
            <a:ext cx="3579876" cy="3429000"/>
          </a:xfrm>
          <a:blipFill>
            <a:blip r:embed="rId5"/>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5147036" y="7199114"/>
            <a:ext cx="2702052"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14708124" y="3429000"/>
            <a:ext cx="3579876" cy="3429000"/>
          </a:xfrm>
          <a:blipFill>
            <a:blip r:embed="rId6"/>
            <a:stretch>
              <a:fillRect/>
            </a:stretch>
          </a:blipFill>
        </p:spPr>
        <p:txBody>
          <a:bodyPr lIns="0" tIns="0" rIns="0" bIns="73152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37333325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882395" y="1304620"/>
            <a:ext cx="16527780" cy="830997"/>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3056859" y="3429000"/>
            <a:ext cx="3470148" cy="3470148"/>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3056859"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7408926" y="3429000"/>
            <a:ext cx="3470148" cy="3470148"/>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7408926"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11760995" y="3429000"/>
            <a:ext cx="3470148" cy="3470148"/>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11760995"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21234633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882395" y="1295688"/>
            <a:ext cx="16527780" cy="830997"/>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876300" y="3429000"/>
            <a:ext cx="3470148" cy="3470148"/>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876300"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5230875" y="3429000"/>
            <a:ext cx="3470148" cy="3470148"/>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5230875"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9585450" y="3429000"/>
            <a:ext cx="3470148" cy="3470148"/>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9585450"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13940027" y="3429000"/>
            <a:ext cx="3470148" cy="3470148"/>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13940027" y="7200900"/>
            <a:ext cx="3470148" cy="830997"/>
          </a:xfrm>
        </p:spPr>
        <p:txBody>
          <a:bodyPr/>
          <a:lstStyle>
            <a:lvl1pPr marL="0" indent="0" algn="ctr">
              <a:spcBef>
                <a:spcPts val="0"/>
              </a:spcBef>
              <a:buNone/>
              <a:defRPr sz="27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1058426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882395" y="1295688"/>
            <a:ext cx="16527780" cy="830997"/>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876300" y="3429000"/>
            <a:ext cx="2606040" cy="260604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5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876300" y="6353175"/>
            <a:ext cx="2606040"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358259" y="3429000"/>
            <a:ext cx="2606040" cy="260604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5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358259" y="6353175"/>
            <a:ext cx="2606040"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980" y="3429000"/>
            <a:ext cx="2606040" cy="260604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5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980" y="6353177"/>
            <a:ext cx="2606040"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11322177" y="3429000"/>
            <a:ext cx="2606040" cy="260604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5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11322177" y="6353175"/>
            <a:ext cx="2606040"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14804135" y="3429000"/>
            <a:ext cx="2606040" cy="260604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5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14804135" y="6353175"/>
            <a:ext cx="2606040" cy="1246495"/>
          </a:xfrm>
        </p:spPr>
        <p:txBody>
          <a:bodyPr/>
          <a:lstStyle>
            <a:lvl1pPr marL="0" indent="0" algn="ctr">
              <a:spcBef>
                <a:spcPts val="0"/>
              </a:spcBef>
              <a:buNone/>
              <a:defRPr sz="27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358589732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877825" y="3464719"/>
            <a:ext cx="4773041" cy="830997"/>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6534150" y="3464719"/>
            <a:ext cx="10879932" cy="646331"/>
          </a:xfrm>
        </p:spPr>
        <p:txBody>
          <a:bodyPr anchor="t"/>
          <a:lstStyle>
            <a:lvl1pPr marL="347663" indent="-347663">
              <a:spcAft>
                <a:spcPts val="9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877824" y="3028950"/>
            <a:ext cx="4773168"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6531785" y="3028950"/>
            <a:ext cx="10882298"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83279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882395" y="4725621"/>
            <a:ext cx="4773041" cy="830997"/>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7412832" y="4817954"/>
            <a:ext cx="10001250" cy="646331"/>
          </a:xfrm>
        </p:spPr>
        <p:txBody>
          <a:bodyPr anchor="ctr"/>
          <a:lstStyle>
            <a:lvl1pPr marL="347663" indent="-347663">
              <a:spcAft>
                <a:spcPts val="9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6534150" y="3867150"/>
            <a:ext cx="0" cy="25527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8533582" y="-305916"/>
            <a:ext cx="854016" cy="230832"/>
          </a:xfrm>
          <a:prstGeom prst="rect">
            <a:avLst/>
          </a:prstGeom>
          <a:noFill/>
        </p:spPr>
        <p:txBody>
          <a:bodyPr wrap="none" lIns="0" tIns="0" rIns="0" bIns="0" rtlCol="0">
            <a:spAutoFit/>
          </a:bodyPr>
          <a:lstStyle/>
          <a:p>
            <a:pPr algn="l"/>
            <a:r>
              <a:rPr lang="en-US" sz="1500">
                <a:solidFill>
                  <a:srgbClr val="A3A3A3"/>
                </a:solidFill>
              </a:rPr>
              <a:t>ELT layout</a:t>
            </a:r>
          </a:p>
        </p:txBody>
      </p:sp>
    </p:spTree>
    <p:extLst>
      <p:ext uri="{BB962C8B-B14F-4D97-AF65-F5344CB8AC3E}">
        <p14:creationId xmlns:p14="http://schemas.microsoft.com/office/powerpoint/2010/main" val="266933682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2155032"/>
            <a:ext cx="18288000" cy="8131968"/>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l" defTabSz="1398708" fontAlgn="base">
              <a:spcBef>
                <a:spcPct val="0"/>
              </a:spcBef>
              <a:spcAft>
                <a:spcPct val="0"/>
              </a:spcAft>
            </a:pPr>
            <a:endParaRPr lang="en-US" sz="3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2155032"/>
            <a:ext cx="5682537" cy="600036"/>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2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882395" y="3148965"/>
            <a:ext cx="16527780" cy="553998"/>
          </a:xfrm>
        </p:spPr>
        <p:txBody>
          <a:bodyPr/>
          <a:lstStyle>
            <a:lvl1pPr marL="0" indent="0">
              <a:buNone/>
              <a:tabLst/>
              <a:defRPr sz="3600">
                <a:solidFill>
                  <a:srgbClr val="000000"/>
                </a:solidFill>
                <a:latin typeface="Consolas" panose="020B0609020204030204" pitchFamily="49" charset="0"/>
                <a:cs typeface="Consolas" panose="020B0609020204030204" pitchFamily="49" charset="0"/>
              </a:defRPr>
            </a:lvl1pPr>
            <a:lvl2pPr marL="519830" indent="0">
              <a:buNone/>
              <a:tabLst>
                <a:tab pos="516732" algn="l"/>
              </a:tabLst>
              <a:defRPr sz="3600">
                <a:solidFill>
                  <a:schemeClr val="tx1"/>
                </a:solidFill>
                <a:latin typeface="Consolas" panose="020B0609020204030204" pitchFamily="49" charset="0"/>
                <a:cs typeface="Consolas" panose="020B0609020204030204" pitchFamily="49" charset="0"/>
              </a:defRPr>
            </a:lvl2pPr>
            <a:lvl3pPr marL="876911" indent="0">
              <a:buNone/>
              <a:tabLst>
                <a:tab pos="854870" algn="l"/>
              </a:tabLst>
              <a:defRPr sz="3600">
                <a:solidFill>
                  <a:schemeClr val="tx1"/>
                </a:solidFill>
                <a:latin typeface="Consolas" panose="020B0609020204030204" pitchFamily="49" charset="0"/>
                <a:cs typeface="Consolas" panose="020B0609020204030204" pitchFamily="49" charset="0"/>
              </a:defRPr>
            </a:lvl3pPr>
            <a:lvl4pPr marL="1221845" indent="0">
              <a:buNone/>
              <a:tabLst>
                <a:tab pos="1200150" algn="l"/>
              </a:tabLst>
              <a:defRPr sz="3600">
                <a:solidFill>
                  <a:schemeClr val="tx1"/>
                </a:solidFill>
                <a:latin typeface="Consolas" panose="020B0609020204030204" pitchFamily="49" charset="0"/>
                <a:cs typeface="Consolas" panose="020B0609020204030204" pitchFamily="49" charset="0"/>
              </a:defRPr>
            </a:lvl4pPr>
            <a:lvl5pPr marL="1576496" indent="0">
              <a:buNone/>
              <a:tabLst>
                <a:tab pos="1543050" algn="l"/>
              </a:tabLst>
              <a:defRPr sz="36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703339582"/>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879585" y="1846022"/>
            <a:ext cx="16527780" cy="553998"/>
          </a:xfrm>
        </p:spPr>
        <p:txBody>
          <a:bodyPr wrap="square">
            <a:spAutoFit/>
          </a:bodyPr>
          <a:lstStyle>
            <a:lvl1pPr marL="0" indent="0">
              <a:spcBef>
                <a:spcPts val="900"/>
              </a:spcBef>
              <a:spcAft>
                <a:spcPts val="0"/>
              </a:spcAft>
              <a:buNone/>
              <a:defRPr sz="3600">
                <a:solidFill>
                  <a:schemeClr val="tx1"/>
                </a:solidFill>
                <a:latin typeface="+mn-lt"/>
                <a:cs typeface="Segoe UI" panose="020B0502040204020203" pitchFamily="34" charset="0"/>
              </a:defRPr>
            </a:lvl1pPr>
            <a:lvl2pPr marL="342797" indent="0">
              <a:buNone/>
              <a:defRPr sz="3600">
                <a:solidFill>
                  <a:srgbClr val="2F2F2F"/>
                </a:solidFill>
                <a:latin typeface="Segoe UI" panose="020B0502040204020203" pitchFamily="34" charset="0"/>
                <a:cs typeface="Segoe UI" panose="020B0502040204020203" pitchFamily="34" charset="0"/>
              </a:defRPr>
            </a:lvl2pPr>
            <a:lvl3pPr marL="685595" indent="0">
              <a:buNone/>
              <a:defRPr/>
            </a:lvl3pPr>
            <a:lvl4pPr marL="1028391" indent="0">
              <a:buNone/>
              <a:defRPr/>
            </a:lvl4pPr>
            <a:lvl5pPr marL="1371189"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4240707"/>
            <a:ext cx="18288000" cy="604629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l" defTabSz="1398708" fontAlgn="base">
              <a:spcBef>
                <a:spcPct val="0"/>
              </a:spcBef>
              <a:spcAft>
                <a:spcPct val="0"/>
              </a:spcAft>
            </a:pPr>
            <a:endParaRPr lang="en-US" sz="3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4240707"/>
            <a:ext cx="5682537" cy="600036"/>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2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879584" y="5236829"/>
            <a:ext cx="16527780" cy="553998"/>
          </a:xfrm>
        </p:spPr>
        <p:txBody>
          <a:bodyPr/>
          <a:lstStyle>
            <a:lvl1pPr marL="0" indent="0">
              <a:buNone/>
              <a:tabLst/>
              <a:defRPr sz="3600">
                <a:solidFill>
                  <a:srgbClr val="000000"/>
                </a:solidFill>
                <a:latin typeface="Consolas" panose="020B0609020204030204" pitchFamily="49" charset="0"/>
                <a:cs typeface="Consolas" panose="020B0609020204030204" pitchFamily="49" charset="0"/>
              </a:defRPr>
            </a:lvl1pPr>
            <a:lvl2pPr marL="519674" indent="0">
              <a:buNone/>
              <a:defRPr sz="35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876648" indent="0">
              <a:buNone/>
              <a:defRPr sz="2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1221479"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576023"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215156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8288000" cy="604629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l" defTabSz="1398708" fontAlgn="base">
              <a:spcBef>
                <a:spcPct val="0"/>
              </a:spcBef>
              <a:spcAft>
                <a:spcPct val="0"/>
              </a:spcAft>
            </a:pPr>
            <a:endParaRPr lang="en-US" sz="3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882395" y="6336871"/>
            <a:ext cx="16527780" cy="738665"/>
          </a:xfrm>
        </p:spPr>
        <p:txBody>
          <a:bodyPr/>
          <a:lstStyle>
            <a:lvl1pPr>
              <a:defRPr sz="48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5682537" cy="600036"/>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2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879584" y="990762"/>
            <a:ext cx="16527780" cy="553998"/>
          </a:xfrm>
        </p:spPr>
        <p:txBody>
          <a:bodyPr/>
          <a:lstStyle>
            <a:lvl1pPr marL="0" indent="0">
              <a:buNone/>
              <a:tabLst/>
              <a:defRPr sz="3600">
                <a:solidFill>
                  <a:srgbClr val="000000"/>
                </a:solidFill>
                <a:latin typeface="Consolas" panose="020B0609020204030204" pitchFamily="49" charset="0"/>
                <a:cs typeface="Consolas" panose="020B0609020204030204" pitchFamily="49" charset="0"/>
              </a:defRPr>
            </a:lvl1pPr>
            <a:lvl2pPr marL="519674" indent="0">
              <a:buNone/>
              <a:defRPr sz="35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876648" indent="0">
              <a:buNone/>
              <a:defRPr sz="2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1221479"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576023"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886728" y="7494758"/>
            <a:ext cx="16527780" cy="553998"/>
          </a:xfrm>
        </p:spPr>
        <p:txBody>
          <a:bodyPr wrap="square">
            <a:spAutoFit/>
          </a:bodyPr>
          <a:lstStyle>
            <a:lvl1pPr marL="0" indent="0">
              <a:spcBef>
                <a:spcPts val="900"/>
              </a:spcBef>
              <a:spcAft>
                <a:spcPts val="0"/>
              </a:spcAft>
              <a:buNone/>
              <a:defRPr sz="3600">
                <a:solidFill>
                  <a:schemeClr val="tx1"/>
                </a:solidFill>
                <a:latin typeface="+mn-lt"/>
                <a:cs typeface="Segoe UI" panose="020B0502040204020203" pitchFamily="34" charset="0"/>
              </a:defRPr>
            </a:lvl1pPr>
            <a:lvl2pPr marL="342797" indent="0">
              <a:buNone/>
              <a:defRPr sz="3600">
                <a:solidFill>
                  <a:srgbClr val="2F2F2F"/>
                </a:solidFill>
                <a:latin typeface="Segoe UI" panose="020B0502040204020203" pitchFamily="34" charset="0"/>
                <a:cs typeface="Segoe UI" panose="020B0502040204020203" pitchFamily="34" charset="0"/>
              </a:defRPr>
            </a:lvl2pPr>
            <a:lvl3pPr marL="685595" indent="0">
              <a:buNone/>
              <a:defRPr/>
            </a:lvl3pPr>
            <a:lvl4pPr marL="1028391" indent="0">
              <a:buNone/>
              <a:defRPr/>
            </a:lvl4pPr>
            <a:lvl5pPr marL="1371189" indent="0">
              <a:buNone/>
              <a:defRPr/>
            </a:lvl5pPr>
          </a:lstStyle>
          <a:p>
            <a:pPr lvl="0"/>
            <a:r>
              <a:rPr lang="en-US"/>
              <a:t>Click to edit text</a:t>
            </a:r>
          </a:p>
        </p:txBody>
      </p:sp>
    </p:spTree>
    <p:extLst>
      <p:ext uri="{BB962C8B-B14F-4D97-AF65-F5344CB8AC3E}">
        <p14:creationId xmlns:p14="http://schemas.microsoft.com/office/powerpoint/2010/main" val="170973930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882395" y="685801"/>
            <a:ext cx="6061331" cy="738665"/>
          </a:xfrm>
        </p:spPr>
        <p:txBody>
          <a:bodyPr/>
          <a:lstStyle>
            <a:lvl1pPr>
              <a:defRPr sz="48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883448" y="2007209"/>
            <a:ext cx="6060278" cy="553998"/>
          </a:xfrm>
        </p:spPr>
        <p:txBody>
          <a:bodyPr wrap="square">
            <a:spAutoFit/>
          </a:bodyPr>
          <a:lstStyle>
            <a:lvl1pPr marL="0" indent="0">
              <a:lnSpc>
                <a:spcPct val="100000"/>
              </a:lnSpc>
              <a:spcBef>
                <a:spcPts val="900"/>
              </a:spcBef>
              <a:spcAft>
                <a:spcPts val="0"/>
              </a:spcAft>
              <a:buNone/>
              <a:defRPr sz="36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90"/>
              </a:spcBef>
              <a:spcAft>
                <a:spcPts val="90"/>
              </a:spcAft>
              <a:buNone/>
              <a:defRPr sz="3600" b="0" i="0">
                <a:solidFill>
                  <a:srgbClr val="2F2F2F"/>
                </a:solidFill>
                <a:latin typeface="Segoe UI" panose="020B0502040204020203" pitchFamily="34" charset="0"/>
                <a:cs typeface="Segoe UI" panose="020B0502040204020203" pitchFamily="34" charset="0"/>
              </a:defRPr>
            </a:lvl2pPr>
            <a:lvl3pPr marL="685595" indent="0">
              <a:buNone/>
              <a:defRPr/>
            </a:lvl3pPr>
            <a:lvl4pPr marL="1028391" indent="0">
              <a:buNone/>
              <a:defRPr/>
            </a:lvl4pPr>
            <a:lvl5pPr marL="1371189"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7808976" y="0"/>
            <a:ext cx="10479024" cy="10287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l" defTabSz="1398708" fontAlgn="base">
              <a:spcBef>
                <a:spcPct val="0"/>
              </a:spcBef>
              <a:spcAft>
                <a:spcPct val="0"/>
              </a:spcAft>
            </a:pPr>
            <a:endParaRPr lang="en-US" sz="3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7817645" y="0"/>
            <a:ext cx="5682537" cy="646203"/>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2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8701088" y="1063781"/>
            <a:ext cx="8702942" cy="553998"/>
          </a:xfrm>
        </p:spPr>
        <p:txBody>
          <a:bodyPr/>
          <a:lstStyle>
            <a:lvl1pPr marL="0" indent="0">
              <a:buNone/>
              <a:tabLst/>
              <a:defRPr sz="3600">
                <a:solidFill>
                  <a:srgbClr val="2F2F2F"/>
                </a:solidFill>
                <a:latin typeface="Consolas" panose="020B0609020204030204" pitchFamily="49" charset="0"/>
                <a:cs typeface="Consolas" panose="020B0609020204030204" pitchFamily="49" charset="0"/>
              </a:defRPr>
            </a:lvl1pPr>
            <a:lvl2pPr marL="519674" indent="0">
              <a:buNone/>
              <a:defRPr sz="35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876648" indent="0">
              <a:buNone/>
              <a:defRPr sz="2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1221479"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576023"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063115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 y="0"/>
            <a:ext cx="10479024" cy="10287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l" defTabSz="1398708" fontAlgn="base">
              <a:spcBef>
                <a:spcPct val="0"/>
              </a:spcBef>
              <a:spcAft>
                <a:spcPct val="0"/>
              </a:spcAft>
            </a:pPr>
            <a:endParaRPr lang="en-US" sz="3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11363324" y="685801"/>
            <a:ext cx="6046850" cy="738665"/>
          </a:xfrm>
        </p:spPr>
        <p:txBody>
          <a:bodyPr/>
          <a:lstStyle>
            <a:lvl1pPr>
              <a:defRPr sz="48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2" y="0"/>
            <a:ext cx="5682537" cy="646203"/>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2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876299" y="1059017"/>
            <a:ext cx="8729663" cy="553998"/>
          </a:xfrm>
        </p:spPr>
        <p:txBody>
          <a:bodyPr/>
          <a:lstStyle>
            <a:lvl1pPr marL="0" indent="0">
              <a:buNone/>
              <a:defRPr sz="3600">
                <a:solidFill>
                  <a:srgbClr val="2F2F2F"/>
                </a:solidFill>
                <a:latin typeface="Consolas" panose="020B0609020204030204" pitchFamily="49" charset="0"/>
                <a:cs typeface="Consolas" panose="020B0609020204030204" pitchFamily="49" charset="0"/>
              </a:defRPr>
            </a:lvl1pPr>
            <a:lvl2pPr marL="519674" indent="0">
              <a:buNone/>
              <a:defRPr sz="35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876648" indent="0">
              <a:buNone/>
              <a:defRPr sz="2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1221479"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576023" indent="0">
              <a:buNone/>
              <a:defRPr sz="26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11363325" y="2005013"/>
            <a:ext cx="6050757" cy="553998"/>
          </a:xfrm>
        </p:spPr>
        <p:txBody>
          <a:bodyPr wrap="square">
            <a:spAutoFit/>
          </a:bodyPr>
          <a:lstStyle>
            <a:lvl1pPr marL="0" indent="0">
              <a:lnSpc>
                <a:spcPct val="100000"/>
              </a:lnSpc>
              <a:spcBef>
                <a:spcPts val="900"/>
              </a:spcBef>
              <a:spcAft>
                <a:spcPts val="0"/>
              </a:spcAft>
              <a:buNone/>
              <a:defRPr sz="36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90"/>
              </a:spcBef>
              <a:spcAft>
                <a:spcPts val="90"/>
              </a:spcAft>
              <a:buNone/>
              <a:defRPr sz="3600" b="0" i="0">
                <a:solidFill>
                  <a:srgbClr val="2F2F2F"/>
                </a:solidFill>
                <a:latin typeface="Segoe UI" panose="020B0502040204020203" pitchFamily="34" charset="0"/>
                <a:cs typeface="Segoe UI" panose="020B0502040204020203" pitchFamily="34" charset="0"/>
              </a:defRPr>
            </a:lvl2pPr>
            <a:lvl3pPr marL="685595" indent="0">
              <a:buNone/>
              <a:defRPr/>
            </a:lvl3pPr>
            <a:lvl4pPr marL="1028391" indent="0">
              <a:buNone/>
              <a:defRPr/>
            </a:lvl4pPr>
            <a:lvl5pPr marL="1371189" indent="0">
              <a:buNone/>
              <a:defRPr/>
            </a:lvl5pPr>
          </a:lstStyle>
          <a:p>
            <a:pPr lvl="0"/>
            <a:r>
              <a:rPr lang="en-US"/>
              <a:t>Click to edit text</a:t>
            </a:r>
          </a:p>
        </p:txBody>
      </p:sp>
    </p:spTree>
    <p:extLst>
      <p:ext uri="{BB962C8B-B14F-4D97-AF65-F5344CB8AC3E}">
        <p14:creationId xmlns:p14="http://schemas.microsoft.com/office/powerpoint/2010/main" val="372908175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B9DCD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77824" y="4466735"/>
            <a:ext cx="13716000" cy="830997"/>
          </a:xfrm>
          <a:noFill/>
        </p:spPr>
        <p:txBody>
          <a:bodyPr lIns="0" tIns="0" rIns="0" bIns="0" anchor="b" anchorCtr="0">
            <a:spAutoFit/>
          </a:bodyPr>
          <a:lstStyle>
            <a:lvl1pPr algn="l" defTabSz="1399113" rtl="0" eaLnBrk="1" latinLnBrk="0" hangingPunct="1">
              <a:lnSpc>
                <a:spcPct val="90000"/>
              </a:lnSpc>
              <a:spcBef>
                <a:spcPct val="0"/>
              </a:spcBef>
              <a:buNone/>
              <a:defRPr lang="en-US" sz="6000" b="0" kern="1200" cap="none" spc="-75" baseline="0" dirty="0">
                <a:ln w="3175">
                  <a:noFill/>
                </a:ln>
                <a:solidFill>
                  <a:srgbClr val="225B6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877824" y="5965979"/>
            <a:ext cx="13716000" cy="369332"/>
          </a:xfrm>
          <a:noFill/>
        </p:spPr>
        <p:txBody>
          <a:bodyPr lIns="0" tIns="0" rIns="0" bIns="0">
            <a:spAutoFit/>
          </a:bodyPr>
          <a:lstStyle>
            <a:lvl1pPr marL="0" indent="0">
              <a:spcBef>
                <a:spcPts val="0"/>
              </a:spcBef>
              <a:spcAft>
                <a:spcPts val="0"/>
              </a:spcAft>
              <a:buFont typeface="Arial" panose="020B0604020202020204" pitchFamily="34" charset="0"/>
              <a:buNone/>
              <a:defRPr sz="2400" spc="0" baseline="0">
                <a:solidFill>
                  <a:srgbClr val="000000"/>
                </a:solidFill>
                <a:latin typeface="+mn-lt"/>
              </a:defRPr>
            </a:lvl1pPr>
          </a:lstStyle>
          <a:p>
            <a:pPr lvl="0"/>
            <a:r>
              <a:rPr lang="en-US"/>
              <a:t>Speaker name</a:t>
            </a:r>
          </a:p>
        </p:txBody>
      </p:sp>
    </p:spTree>
    <p:extLst>
      <p:ext uri="{BB962C8B-B14F-4D97-AF65-F5344CB8AC3E}">
        <p14:creationId xmlns:p14="http://schemas.microsoft.com/office/powerpoint/2010/main" val="11826619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77824" y="4466735"/>
            <a:ext cx="13716000" cy="830997"/>
          </a:xfrm>
          <a:noFill/>
        </p:spPr>
        <p:txBody>
          <a:bodyPr lIns="0" tIns="0" rIns="0" bIns="0" anchor="b" anchorCtr="0">
            <a:spAutoFit/>
          </a:bodyPr>
          <a:lstStyle>
            <a:lvl1pPr algn="l" defTabSz="1399113" rtl="0" eaLnBrk="1" latinLnBrk="0" hangingPunct="1">
              <a:lnSpc>
                <a:spcPct val="90000"/>
              </a:lnSpc>
              <a:spcBef>
                <a:spcPct val="0"/>
              </a:spcBef>
              <a:buNone/>
              <a:defRPr lang="en-US" sz="6000" b="0" kern="1200" cap="none" spc="-75"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877824" y="5965979"/>
            <a:ext cx="13716000" cy="369332"/>
          </a:xfrm>
          <a:noFill/>
        </p:spPr>
        <p:txBody>
          <a:bodyPr lIns="0" tIns="0" rIns="0" bIns="0">
            <a:spAutoFit/>
          </a:bodyPr>
          <a:lstStyle>
            <a:lvl1pPr marL="0" indent="0">
              <a:spcBef>
                <a:spcPts val="0"/>
              </a:spcBef>
              <a:spcAft>
                <a:spcPts val="0"/>
              </a:spcAft>
              <a:buFont typeface="Arial" panose="020B0604020202020204" pitchFamily="34" charset="0"/>
              <a:buNone/>
              <a:defRPr sz="24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90992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B9DCD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77824" y="4470612"/>
            <a:ext cx="13716000" cy="830997"/>
          </a:xfrm>
          <a:noFill/>
        </p:spPr>
        <p:txBody>
          <a:bodyPr lIns="0" tIns="0" rIns="0" bIns="0" anchor="b" anchorCtr="0">
            <a:spAutoFit/>
          </a:bodyPr>
          <a:lstStyle>
            <a:lvl1pPr algn="l" defTabSz="1399113" rtl="0" eaLnBrk="1" latinLnBrk="0" hangingPunct="1">
              <a:lnSpc>
                <a:spcPct val="90000"/>
              </a:lnSpc>
              <a:spcBef>
                <a:spcPct val="0"/>
              </a:spcBef>
              <a:buNone/>
              <a:defRPr lang="en-US" sz="6000" b="0" kern="1200" cap="none" spc="-75" baseline="0" dirty="0">
                <a:ln w="3175">
                  <a:noFill/>
                </a:ln>
                <a:solidFill>
                  <a:srgbClr val="225B6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5234548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77824" y="4470612"/>
            <a:ext cx="13716000" cy="830997"/>
          </a:xfrm>
          <a:noFill/>
        </p:spPr>
        <p:txBody>
          <a:bodyPr lIns="0" tIns="0" rIns="0" bIns="0" anchor="b" anchorCtr="0">
            <a:spAutoFit/>
          </a:bodyPr>
          <a:lstStyle>
            <a:lvl1pPr algn="l" defTabSz="1399113" rtl="0" eaLnBrk="1" latinLnBrk="0" hangingPunct="1">
              <a:lnSpc>
                <a:spcPct val="90000"/>
              </a:lnSpc>
              <a:spcBef>
                <a:spcPct val="0"/>
              </a:spcBef>
              <a:buNone/>
              <a:defRPr lang="en-US" sz="6000" b="0" kern="1200" cap="none" spc="-75"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19849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18612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2">
    <p:bg>
      <p:bgPr>
        <a:solidFill>
          <a:srgbClr val="8DC8E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88482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8DC8E8"/>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876300" y="9241975"/>
            <a:ext cx="6723186" cy="161583"/>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1398435" eaLnBrk="0" hangingPunct="0"/>
            <a:r>
              <a:rPr lang="en-US" sz="1050">
                <a:solidFill>
                  <a:srgbClr val="000000"/>
                </a:solidFill>
                <a:cs typeface="Segoe UI" pitchFamily="34" charset="0"/>
              </a:rPr>
              <a:t>© Copyright Microsoft Corporation. All rights reserved. </a:t>
            </a:r>
          </a:p>
        </p:txBody>
      </p:sp>
      <p:pic>
        <p:nvPicPr>
          <p:cNvPr id="3" name="MS logo gray - EMF" descr="Microsoft logo, gray text version">
            <a:extLst>
              <a:ext uri="{FF2B5EF4-FFF2-40B4-BE49-F238E27FC236}">
                <a16:creationId xmlns:a16="http://schemas.microsoft.com/office/drawing/2014/main" id="{084F82DE-4BC1-CD7E-11BA-5CD56F84C04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876300" y="878682"/>
            <a:ext cx="2049660" cy="438912"/>
          </a:xfrm>
          <a:prstGeom prst="rect">
            <a:avLst/>
          </a:prstGeom>
        </p:spPr>
      </p:pic>
    </p:spTree>
    <p:extLst>
      <p:ext uri="{BB962C8B-B14F-4D97-AF65-F5344CB8AC3E}">
        <p14:creationId xmlns:p14="http://schemas.microsoft.com/office/powerpoint/2010/main" val="31640743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876300" y="2155032"/>
            <a:ext cx="16528257" cy="3323987"/>
          </a:xfrm>
        </p:spPr>
        <p:txBody>
          <a:bodyPr>
            <a:spAutoFit/>
          </a:bodyPr>
          <a:lstStyle>
            <a:lvl1pPr>
              <a:defRPr sz="5400">
                <a:latin typeface="+mn-lt"/>
              </a:defRPr>
            </a:lvl1pPr>
            <a:lvl2pPr>
              <a:defRPr sz="4200">
                <a:latin typeface="+mn-lt"/>
              </a:defRPr>
            </a:lvl2pPr>
            <a:lvl3pPr>
              <a:defRPr sz="3600">
                <a:latin typeface="+mn-lt"/>
              </a:defRPr>
            </a:lvl3pPr>
            <a:lvl4pPr>
              <a:defRPr sz="3000">
                <a:latin typeface="+mn-lt"/>
              </a:defRPr>
            </a:lvl4pPr>
            <a:lvl5pPr>
              <a:defRPr sz="27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9403558"/>
            <a:ext cx="18288002" cy="883445"/>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5550" spc="-77"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77049580"/>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C9A3A-6795-4A87-B9CA-F0BD83FB4928}"/>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DCA0EEA7-D525-47A7-8294-E48724BDFB01}"/>
              </a:ext>
            </a:extLst>
          </p:cNvPr>
          <p:cNvSpPr>
            <a:spLocks noGrp="1"/>
          </p:cNvSpPr>
          <p:nvPr>
            <p:ph sz="quarter" idx="10"/>
          </p:nvPr>
        </p:nvSpPr>
        <p:spPr>
          <a:xfrm>
            <a:off x="7535121" y="1794155"/>
            <a:ext cx="8032950" cy="646331"/>
          </a:xfrm>
        </p:spPr>
        <p:txBody>
          <a:bodyPr/>
          <a:lstStyle/>
          <a:p>
            <a:pPr lvl="0"/>
            <a:r>
              <a:rPr lang="en-US"/>
              <a:t>Click to edit Master text styles</a:t>
            </a:r>
          </a:p>
        </p:txBody>
      </p:sp>
      <p:sp>
        <p:nvSpPr>
          <p:cNvPr id="6" name="Content Placeholder 5">
            <a:extLst>
              <a:ext uri="{FF2B5EF4-FFF2-40B4-BE49-F238E27FC236}">
                <a16:creationId xmlns:a16="http://schemas.microsoft.com/office/drawing/2014/main" id="{5DE86142-29A5-42B9-B8A8-9B2467F09FA5}"/>
              </a:ext>
            </a:extLst>
          </p:cNvPr>
          <p:cNvSpPr>
            <a:spLocks noGrp="1"/>
          </p:cNvSpPr>
          <p:nvPr>
            <p:ph sz="quarter" idx="11"/>
          </p:nvPr>
        </p:nvSpPr>
        <p:spPr>
          <a:xfrm>
            <a:off x="5919788" y="3055145"/>
            <a:ext cx="3224213" cy="3711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A315374E-2FA3-45A0-8EA6-3136AF1DB910}"/>
              </a:ext>
            </a:extLst>
          </p:cNvPr>
          <p:cNvSpPr>
            <a:spLocks noGrp="1"/>
          </p:cNvSpPr>
          <p:nvPr>
            <p:ph sz="quarter" idx="12"/>
          </p:nvPr>
        </p:nvSpPr>
        <p:spPr>
          <a:xfrm>
            <a:off x="10487025" y="2881313"/>
            <a:ext cx="4479132" cy="30654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3B5BE91-156F-4D93-8543-F33801C43670}"/>
              </a:ext>
            </a:extLst>
          </p:cNvPr>
          <p:cNvSpPr>
            <a:spLocks noGrp="1"/>
          </p:cNvSpPr>
          <p:nvPr>
            <p:ph sz="quarter" idx="13"/>
          </p:nvPr>
        </p:nvSpPr>
        <p:spPr>
          <a:xfrm>
            <a:off x="4862513" y="4200526"/>
            <a:ext cx="1838325" cy="84207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A74BA89B-DC98-4014-9020-736632CFBCBA}"/>
              </a:ext>
            </a:extLst>
          </p:cNvPr>
          <p:cNvSpPr>
            <a:spLocks noGrp="1"/>
          </p:cNvSpPr>
          <p:nvPr>
            <p:ph sz="quarter" idx="14"/>
          </p:nvPr>
        </p:nvSpPr>
        <p:spPr>
          <a:xfrm>
            <a:off x="4862513" y="5469732"/>
            <a:ext cx="2100263" cy="6481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E4A7FDCD-8953-44D5-88C8-94483A2EFAAB}"/>
              </a:ext>
            </a:extLst>
          </p:cNvPr>
          <p:cNvSpPr>
            <a:spLocks noGrp="1"/>
          </p:cNvSpPr>
          <p:nvPr>
            <p:ph sz="quarter" idx="15"/>
          </p:nvPr>
        </p:nvSpPr>
        <p:spPr>
          <a:xfrm>
            <a:off x="7205663" y="6372225"/>
            <a:ext cx="2205038" cy="6481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9B74884D-1185-4A1A-84F1-4D873BEF5FBF}"/>
              </a:ext>
            </a:extLst>
          </p:cNvPr>
          <p:cNvSpPr>
            <a:spLocks noGrp="1"/>
          </p:cNvSpPr>
          <p:nvPr>
            <p:ph sz="quarter" idx="16"/>
          </p:nvPr>
        </p:nvSpPr>
        <p:spPr>
          <a:xfrm>
            <a:off x="11563350" y="6198395"/>
            <a:ext cx="3402807" cy="3711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7024E602-D4F8-4F6E-B110-60C315E041FB}"/>
              </a:ext>
            </a:extLst>
          </p:cNvPr>
          <p:cNvSpPr>
            <a:spLocks noGrp="1"/>
          </p:cNvSpPr>
          <p:nvPr>
            <p:ph sz="quarter" idx="17"/>
          </p:nvPr>
        </p:nvSpPr>
        <p:spPr>
          <a:xfrm>
            <a:off x="242888" y="6788945"/>
            <a:ext cx="17166432" cy="2419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5754F1D0-0BA6-4357-8901-E7B7ADD0DE05}"/>
              </a:ext>
            </a:extLst>
          </p:cNvPr>
          <p:cNvSpPr>
            <a:spLocks noGrp="1"/>
          </p:cNvSpPr>
          <p:nvPr>
            <p:ph sz="quarter" idx="18"/>
          </p:nvPr>
        </p:nvSpPr>
        <p:spPr>
          <a:xfrm>
            <a:off x="242888" y="7970045"/>
            <a:ext cx="2657475" cy="57892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90B895BD-E3A4-4FA1-BE89-597DF1300ADF}"/>
              </a:ext>
            </a:extLst>
          </p:cNvPr>
          <p:cNvSpPr>
            <a:spLocks noGrp="1"/>
          </p:cNvSpPr>
          <p:nvPr>
            <p:ph sz="quarter" idx="19"/>
          </p:nvPr>
        </p:nvSpPr>
        <p:spPr>
          <a:xfrm>
            <a:off x="3317083" y="7970045"/>
            <a:ext cx="1909763" cy="7451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42C05B7E-EFA5-4718-BB8E-2EC8DA8EB6BC}"/>
              </a:ext>
            </a:extLst>
          </p:cNvPr>
          <p:cNvSpPr>
            <a:spLocks noGrp="1"/>
          </p:cNvSpPr>
          <p:nvPr>
            <p:ph sz="quarter" idx="20"/>
          </p:nvPr>
        </p:nvSpPr>
        <p:spPr>
          <a:xfrm>
            <a:off x="5538788" y="7970045"/>
            <a:ext cx="1666875" cy="12160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B1837059-7ACB-4780-9CFC-D96A95481A9E}"/>
              </a:ext>
            </a:extLst>
          </p:cNvPr>
          <p:cNvSpPr>
            <a:spLocks noGrp="1"/>
          </p:cNvSpPr>
          <p:nvPr>
            <p:ph sz="quarter" idx="21"/>
          </p:nvPr>
        </p:nvSpPr>
        <p:spPr>
          <a:xfrm>
            <a:off x="7829551" y="7970045"/>
            <a:ext cx="2309813" cy="6481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5D4C026E-FC5E-4755-B70E-C2D860EE84DC}"/>
              </a:ext>
            </a:extLst>
          </p:cNvPr>
          <p:cNvSpPr>
            <a:spLocks noGrp="1"/>
          </p:cNvSpPr>
          <p:nvPr>
            <p:ph sz="quarter" idx="22"/>
          </p:nvPr>
        </p:nvSpPr>
        <p:spPr>
          <a:xfrm>
            <a:off x="10868025" y="7970045"/>
            <a:ext cx="2193132" cy="6481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F2636618-FEAF-4ADD-A7F1-A4AB5861565F}"/>
              </a:ext>
            </a:extLst>
          </p:cNvPr>
          <p:cNvSpPr>
            <a:spLocks noGrp="1"/>
          </p:cNvSpPr>
          <p:nvPr>
            <p:ph sz="quarter" idx="23"/>
          </p:nvPr>
        </p:nvSpPr>
        <p:spPr>
          <a:xfrm>
            <a:off x="13558838" y="7829551"/>
            <a:ext cx="1909763" cy="7451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E5852C29-374C-405A-89A5-58648B1246A5}"/>
              </a:ext>
            </a:extLst>
          </p:cNvPr>
          <p:cNvSpPr>
            <a:spLocks noGrp="1"/>
          </p:cNvSpPr>
          <p:nvPr>
            <p:ph sz="quarter" idx="24"/>
          </p:nvPr>
        </p:nvSpPr>
        <p:spPr>
          <a:xfrm>
            <a:off x="15782925" y="7829551"/>
            <a:ext cx="1266825" cy="171462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DFC6AAF8-0026-42EF-8D59-F7F10FD6965B}"/>
              </a:ext>
            </a:extLst>
          </p:cNvPr>
          <p:cNvSpPr>
            <a:spLocks noGrp="1"/>
          </p:cNvSpPr>
          <p:nvPr>
            <p:ph sz="quarter" idx="25"/>
          </p:nvPr>
        </p:nvSpPr>
        <p:spPr>
          <a:xfrm>
            <a:off x="17409320" y="7829551"/>
            <a:ext cx="878681" cy="2619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9306856"/>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3993" y="930643"/>
            <a:ext cx="16959704" cy="604706"/>
          </a:xfrm>
          <a:prstGeom prst="rect">
            <a:avLst/>
          </a:prstGeom>
        </p:spPr>
        <p:txBody>
          <a:bodyPr wrap="square" lIns="0" tIns="0" rIns="0" bIns="0">
            <a:spAutoFit/>
          </a:bodyPr>
          <a:lstStyle>
            <a:lvl1pPr>
              <a:lnSpc>
                <a:spcPts val="4706"/>
              </a:lnSpc>
              <a:defRPr sz="4118" strike="noStrike">
                <a:solidFill>
                  <a:schemeClr val="tx1"/>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681254" y="9682762"/>
            <a:ext cx="16959704" cy="31675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1370886" eaLnBrk="0" hangingPunct="0"/>
            <a:r>
              <a:rPr lang="en-US" sz="1029">
                <a:solidFill>
                  <a:schemeClr val="tx1"/>
                </a:solidFill>
                <a:cs typeface="Segoe UI" pitchFamily="34" charset="0"/>
              </a:rPr>
              <a:t>©Microsoft Corporation									                                                                                                                                             Azure </a:t>
            </a:r>
          </a:p>
        </p:txBody>
      </p:sp>
    </p:spTree>
    <p:extLst>
      <p:ext uri="{BB962C8B-B14F-4D97-AF65-F5344CB8AC3E}">
        <p14:creationId xmlns:p14="http://schemas.microsoft.com/office/powerpoint/2010/main" val="23552904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subtitle &amp; Non-bulleted text">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879585" y="1674215"/>
            <a:ext cx="14881860" cy="507831"/>
          </a:xfrm>
        </p:spPr>
        <p:txBody>
          <a:bodyPr wrap="square">
            <a:spAutoFit/>
          </a:bodyPr>
          <a:lstStyle>
            <a:lvl1pPr marL="0" indent="0">
              <a:spcBef>
                <a:spcPts val="900"/>
              </a:spcBef>
              <a:spcAft>
                <a:spcPts val="0"/>
              </a:spcAft>
              <a:buNone/>
              <a:defRPr sz="3300">
                <a:solidFill>
                  <a:schemeClr val="accent3"/>
                </a:solidFill>
                <a:latin typeface="Segoe Sans Display" pitchFamily="2" charset="0"/>
                <a:cs typeface="Segoe Sans Display" pitchFamily="2" charset="0"/>
              </a:defRPr>
            </a:lvl1pPr>
            <a:lvl2pPr marL="342797" indent="0">
              <a:buNone/>
              <a:defRPr sz="3600">
                <a:solidFill>
                  <a:srgbClr val="2F2F2F"/>
                </a:solidFill>
                <a:latin typeface="Segoe UI" panose="020B0502040204020203" pitchFamily="34" charset="0"/>
                <a:cs typeface="Segoe UI" panose="020B0502040204020203" pitchFamily="34" charset="0"/>
              </a:defRPr>
            </a:lvl2pPr>
            <a:lvl3pPr marL="685595" indent="0">
              <a:buNone/>
              <a:defRPr/>
            </a:lvl3pPr>
            <a:lvl4pPr marL="1028391" indent="0">
              <a:buNone/>
              <a:defRPr/>
            </a:lvl4pPr>
            <a:lvl5pPr marL="1371189" indent="0">
              <a:buNone/>
              <a:defRPr/>
            </a:lvl5pPr>
          </a:lstStyle>
          <a:p>
            <a:pPr lvl="0"/>
            <a:r>
              <a:rPr lang="en-US"/>
              <a:t>Click to edit text</a:t>
            </a:r>
          </a:p>
        </p:txBody>
      </p:sp>
      <p:sp>
        <p:nvSpPr>
          <p:cNvPr id="4" name="Text Placeholder 3">
            <a:extLst>
              <a:ext uri="{FF2B5EF4-FFF2-40B4-BE49-F238E27FC236}">
                <a16:creationId xmlns:a16="http://schemas.microsoft.com/office/drawing/2014/main" id="{B7D31072-9CCE-4AC3-B18B-C40A8343B057}"/>
              </a:ext>
            </a:extLst>
          </p:cNvPr>
          <p:cNvSpPr>
            <a:spLocks noGrp="1"/>
          </p:cNvSpPr>
          <p:nvPr>
            <p:ph type="body" sz="quarter" idx="11"/>
          </p:nvPr>
        </p:nvSpPr>
        <p:spPr>
          <a:xfrm>
            <a:off x="878682" y="2914650"/>
            <a:ext cx="14881860" cy="2977065"/>
          </a:xfrm>
        </p:spPr>
        <p:txBody>
          <a:bodyPr/>
          <a:lstStyle>
            <a:lvl1pPr marL="0" indent="0">
              <a:lnSpc>
                <a:spcPts val="3300"/>
              </a:lnSpc>
              <a:spcBef>
                <a:spcPts val="0"/>
              </a:spcBef>
              <a:spcAft>
                <a:spcPts val="1800"/>
              </a:spcAft>
              <a:buFontTx/>
              <a:buNone/>
              <a:defRPr sz="2400"/>
            </a:lvl1pPr>
            <a:lvl2pPr marL="342900" indent="0">
              <a:lnSpc>
                <a:spcPts val="3300"/>
              </a:lnSpc>
              <a:spcBef>
                <a:spcPts val="0"/>
              </a:spcBef>
              <a:spcAft>
                <a:spcPts val="1800"/>
              </a:spcAft>
              <a:buFontTx/>
              <a:buNone/>
              <a:defRPr sz="1800"/>
            </a:lvl2pPr>
            <a:lvl3pPr marL="685800" indent="0">
              <a:lnSpc>
                <a:spcPts val="3300"/>
              </a:lnSpc>
              <a:spcBef>
                <a:spcPts val="0"/>
              </a:spcBef>
              <a:spcAft>
                <a:spcPts val="1800"/>
              </a:spcAft>
              <a:buFontTx/>
              <a:buNone/>
              <a:defRPr sz="1575"/>
            </a:lvl3pPr>
            <a:lvl4pPr marL="992982" indent="0">
              <a:lnSpc>
                <a:spcPts val="3300"/>
              </a:lnSpc>
              <a:spcBef>
                <a:spcPts val="0"/>
              </a:spcBef>
              <a:spcAft>
                <a:spcPts val="1800"/>
              </a:spcAft>
              <a:buFontTx/>
              <a:buNone/>
              <a:defRPr sz="1500"/>
            </a:lvl4pPr>
            <a:lvl5pPr marL="1283495" indent="0">
              <a:lnSpc>
                <a:spcPts val="3300"/>
              </a:lnSpc>
              <a:spcBef>
                <a:spcPts val="0"/>
              </a:spcBef>
              <a:spcAft>
                <a:spcPts val="1800"/>
              </a:spcAft>
              <a:buFontTx/>
              <a:buNone/>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0C34597-95F4-4A22-B5FA-E8287BD62515}"/>
              </a:ext>
            </a:extLst>
          </p:cNvPr>
          <p:cNvSpPr>
            <a:spLocks noGrp="1"/>
          </p:cNvSpPr>
          <p:nvPr>
            <p:ph type="title"/>
          </p:nvPr>
        </p:nvSpPr>
        <p:spPr>
          <a:xfrm>
            <a:off x="882395" y="639635"/>
            <a:ext cx="14878974" cy="830997"/>
          </a:xfrm>
        </p:spPr>
        <p:txBody>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4844010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6" orient="horz" pos="912">
          <p15:clr>
            <a:srgbClr val="5ACBF0"/>
          </p15:clr>
        </p15:guide>
        <p15:guide id="7" orient="horz" pos="122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Only with sub-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17B6E8-BA5D-040E-F1DD-525FF9AFCAD3}"/>
              </a:ext>
            </a:extLst>
          </p:cNvPr>
          <p:cNvSpPr>
            <a:spLocks noGrp="1"/>
          </p:cNvSpPr>
          <p:nvPr>
            <p:ph type="title"/>
          </p:nvPr>
        </p:nvSpPr>
        <p:spPr>
          <a:xfrm>
            <a:off x="845054" y="709854"/>
            <a:ext cx="16621766" cy="646331"/>
          </a:xfrm>
        </p:spPr>
        <p:txBody>
          <a:bodyPr/>
          <a:lstStyle>
            <a:lvl1pPr>
              <a:defRPr sz="4200"/>
            </a:lvl1pPr>
          </a:lstStyle>
          <a:p>
            <a:r>
              <a:rPr lang="en-US"/>
              <a:t>Click to edit Master title style</a:t>
            </a:r>
          </a:p>
        </p:txBody>
      </p:sp>
      <p:sp>
        <p:nvSpPr>
          <p:cNvPr id="5" name="Text Placeholder 5">
            <a:extLst>
              <a:ext uri="{FF2B5EF4-FFF2-40B4-BE49-F238E27FC236}">
                <a16:creationId xmlns:a16="http://schemas.microsoft.com/office/drawing/2014/main" id="{12E9759C-939E-7531-66D6-F418516F40A7}"/>
              </a:ext>
            </a:extLst>
          </p:cNvPr>
          <p:cNvSpPr>
            <a:spLocks noGrp="1"/>
          </p:cNvSpPr>
          <p:nvPr>
            <p:ph type="body" sz="quarter" idx="13" hasCustomPrompt="1"/>
          </p:nvPr>
        </p:nvSpPr>
        <p:spPr>
          <a:xfrm>
            <a:off x="845054" y="1390692"/>
            <a:ext cx="16621766" cy="461665"/>
          </a:xfrm>
        </p:spPr>
        <p:txBody>
          <a:bodyPr anchor="t"/>
          <a:lstStyle>
            <a:lvl1pPr marL="0" indent="0">
              <a:buNone/>
              <a:defRPr sz="3000">
                <a:latin typeface="+mn-lt"/>
              </a:defRPr>
            </a:lvl1pPr>
          </a:lstStyle>
          <a:p>
            <a:pPr lvl="0"/>
            <a:r>
              <a:rPr lang="en-US"/>
              <a:t>Subheading</a:t>
            </a:r>
          </a:p>
        </p:txBody>
      </p:sp>
    </p:spTree>
    <p:extLst>
      <p:ext uri="{BB962C8B-B14F-4D97-AF65-F5344CB8AC3E}">
        <p14:creationId xmlns:p14="http://schemas.microsoft.com/office/powerpoint/2010/main" val="404527165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6B988B-CA42-A0B5-7672-6EE8B6DA664B}"/>
              </a:ext>
            </a:extLst>
          </p:cNvPr>
          <p:cNvSpPr>
            <a:spLocks noGrp="1"/>
          </p:cNvSpPr>
          <p:nvPr>
            <p:ph type="title" hasCustomPrompt="1"/>
          </p:nvPr>
        </p:nvSpPr>
        <p:spPr>
          <a:xfrm>
            <a:off x="882395" y="4728002"/>
            <a:ext cx="8261606" cy="830997"/>
          </a:xfrm>
        </p:spPr>
        <p:txBody>
          <a:bodyPr/>
          <a:lstStyle>
            <a:lvl1pPr>
              <a:defRPr/>
            </a:lvl1pPr>
          </a:lstStyle>
          <a:p>
            <a:r>
              <a:rPr lang="en-US"/>
              <a:t>Section title</a:t>
            </a:r>
          </a:p>
        </p:txBody>
      </p:sp>
      <p:pic>
        <p:nvPicPr>
          <p:cNvPr id="5" name="Picture 4" descr="Icon&#10;&#10;Description automatically generated">
            <a:extLst>
              <a:ext uri="{FF2B5EF4-FFF2-40B4-BE49-F238E27FC236}">
                <a16:creationId xmlns:a16="http://schemas.microsoft.com/office/drawing/2014/main" id="{4BCD5BE7-CD45-CA91-6445-D938F9588249}"/>
              </a:ext>
            </a:extLst>
          </p:cNvPr>
          <p:cNvPicPr>
            <a:picLocks noChangeAspect="1"/>
          </p:cNvPicPr>
          <p:nvPr userDrawn="1"/>
        </p:nvPicPr>
        <p:blipFill>
          <a:blip r:embed="rId2"/>
          <a:stretch>
            <a:fillRect/>
          </a:stretch>
        </p:blipFill>
        <p:spPr bwMode="invGray">
          <a:xfrm>
            <a:off x="11509514" y="4125857"/>
            <a:ext cx="6778485" cy="6181022"/>
          </a:xfrm>
          <a:prstGeom prst="rect">
            <a:avLst/>
          </a:prstGeom>
        </p:spPr>
      </p:pic>
    </p:spTree>
    <p:extLst>
      <p:ext uri="{BB962C8B-B14F-4D97-AF65-F5344CB8AC3E}">
        <p14:creationId xmlns:p14="http://schemas.microsoft.com/office/powerpoint/2010/main" val="16383087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path" presetSubtype="0" decel="100000" fill="hold" nodeType="withEffect">
                                  <p:stCondLst>
                                    <p:cond delay="0"/>
                                  </p:stCondLst>
                                  <p:childTnLst>
                                    <p:animMotion origin="layout" path="M -1.45833E-6 1.11111E-6 L -1.45833E-6 0.03542 " pathEditMode="relative" rAng="0" ptsTypes="AA">
                                      <p:cBhvr>
                                        <p:cTn id="9" dur="700" spd="-100000" fill="hold"/>
                                        <p:tgtEl>
                                          <p:spTgt spid="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DAA0-89E7-BA52-F743-3D380AC5D1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36196C-BB52-3F23-8657-3BFE599CFE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5AF7FC-B92B-CE05-2C2B-9837BB9E9C7D}"/>
              </a:ext>
            </a:extLst>
          </p:cNvPr>
          <p:cNvSpPr>
            <a:spLocks noGrp="1"/>
          </p:cNvSpPr>
          <p:nvPr>
            <p:ph type="dt" sz="half" idx="10"/>
          </p:nvPr>
        </p:nvSpPr>
        <p:spPr/>
        <p:txBody>
          <a:bodyPr/>
          <a:lstStyle/>
          <a:p>
            <a:fld id="{E63CEF50-7318-4BE2-9B92-2F2046203ED0}" type="datetimeFigureOut">
              <a:rPr lang="en-US" smtClean="0"/>
              <a:t>4/23/2026</a:t>
            </a:fld>
            <a:endParaRPr lang="en-US"/>
          </a:p>
        </p:txBody>
      </p:sp>
      <p:sp>
        <p:nvSpPr>
          <p:cNvPr id="5" name="Footer Placeholder 4">
            <a:extLst>
              <a:ext uri="{FF2B5EF4-FFF2-40B4-BE49-F238E27FC236}">
                <a16:creationId xmlns:a16="http://schemas.microsoft.com/office/drawing/2014/main" id="{49409F53-9B85-09F3-B76E-F48300680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643668-9CF6-DE1C-7990-8E6F1B1DEBD3}"/>
              </a:ext>
            </a:extLst>
          </p:cNvPr>
          <p:cNvSpPr>
            <a:spLocks noGrp="1"/>
          </p:cNvSpPr>
          <p:nvPr>
            <p:ph type="sldNum" sz="quarter" idx="12"/>
          </p:nvPr>
        </p:nvSpPr>
        <p:spPr/>
        <p:txBody>
          <a:bodyPr/>
          <a:lstStyle/>
          <a:p>
            <a:fld id="{57873A02-D5C3-4B35-AD44-F481496BBA08}" type="slidenum">
              <a:rPr lang="en-US" smtClean="0"/>
              <a:t>‹#›</a:t>
            </a:fld>
            <a:endParaRPr lang="en-US"/>
          </a:p>
        </p:txBody>
      </p:sp>
    </p:spTree>
    <p:extLst>
      <p:ext uri="{BB962C8B-B14F-4D97-AF65-F5344CB8AC3E}">
        <p14:creationId xmlns:p14="http://schemas.microsoft.com/office/powerpoint/2010/main" val="1647428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BA571-5123-3364-1075-94A6A188B47E}"/>
              </a:ext>
            </a:extLst>
          </p:cNvPr>
          <p:cNvSpPr>
            <a:spLocks noGrp="1"/>
          </p:cNvSpPr>
          <p:nvPr>
            <p:ph type="ctrTitle"/>
          </p:nvPr>
        </p:nvSpPr>
        <p:spPr>
          <a:xfrm>
            <a:off x="2286000" y="2494956"/>
            <a:ext cx="13716000" cy="2769989"/>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2DFE1B2F-49FB-B213-1575-B835D731D40B}"/>
              </a:ext>
            </a:extLst>
          </p:cNvPr>
          <p:cNvSpPr>
            <a:spLocks noGrp="1"/>
          </p:cNvSpPr>
          <p:nvPr>
            <p:ph type="subTitle" idx="1"/>
          </p:nvPr>
        </p:nvSpPr>
        <p:spPr>
          <a:xfrm>
            <a:off x="2286000" y="5403057"/>
            <a:ext cx="13716000" cy="553998"/>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4DDF2034-47E7-B26D-1F4C-B17F06985C91}"/>
              </a:ext>
            </a:extLst>
          </p:cNvPr>
          <p:cNvSpPr>
            <a:spLocks noGrp="1"/>
          </p:cNvSpPr>
          <p:nvPr>
            <p:ph type="dt" sz="half" idx="10"/>
          </p:nvPr>
        </p:nvSpPr>
        <p:spPr/>
        <p:txBody>
          <a:bodyPr/>
          <a:lstStyle/>
          <a:p>
            <a:fld id="{E63CEF50-7318-4BE2-9B92-2F2046203ED0}" type="datetimeFigureOut">
              <a:rPr lang="en-US" smtClean="0"/>
              <a:t>4/23/2026</a:t>
            </a:fld>
            <a:endParaRPr lang="en-US"/>
          </a:p>
        </p:txBody>
      </p:sp>
      <p:sp>
        <p:nvSpPr>
          <p:cNvPr id="5" name="Footer Placeholder 4">
            <a:extLst>
              <a:ext uri="{FF2B5EF4-FFF2-40B4-BE49-F238E27FC236}">
                <a16:creationId xmlns:a16="http://schemas.microsoft.com/office/drawing/2014/main" id="{8CF97D2D-AAFB-7280-6E08-5D91714DF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7FE879-DB3D-7227-B257-812D3666DB32}"/>
              </a:ext>
            </a:extLst>
          </p:cNvPr>
          <p:cNvSpPr>
            <a:spLocks noGrp="1"/>
          </p:cNvSpPr>
          <p:nvPr>
            <p:ph type="sldNum" sz="quarter" idx="12"/>
          </p:nvPr>
        </p:nvSpPr>
        <p:spPr/>
        <p:txBody>
          <a:bodyPr/>
          <a:lstStyle/>
          <a:p>
            <a:fld id="{57873A02-D5C3-4B35-AD44-F481496BBA08}" type="slidenum">
              <a:rPr lang="en-US" smtClean="0"/>
              <a:t>‹#›</a:t>
            </a:fld>
            <a:endParaRPr lang="en-US"/>
          </a:p>
        </p:txBody>
      </p:sp>
    </p:spTree>
    <p:extLst>
      <p:ext uri="{BB962C8B-B14F-4D97-AF65-F5344CB8AC3E}">
        <p14:creationId xmlns:p14="http://schemas.microsoft.com/office/powerpoint/2010/main" val="38295043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1_Title Only">
    <p:bg>
      <p:bgPr>
        <a:solidFill>
          <a:srgbClr val="091F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2609680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9" Type="http://schemas.openxmlformats.org/officeDocument/2006/relationships/slideLayout" Target="../slideLayouts/slideLayout61.xml"/><Relationship Id="rId21" Type="http://schemas.openxmlformats.org/officeDocument/2006/relationships/slideLayout" Target="../slideLayouts/slideLayout43.xml"/><Relationship Id="rId34" Type="http://schemas.openxmlformats.org/officeDocument/2006/relationships/slideLayout" Target="../slideLayouts/slideLayout56.xml"/><Relationship Id="rId42" Type="http://schemas.openxmlformats.org/officeDocument/2006/relationships/slideLayout" Target="../slideLayouts/slideLayout64.xml"/><Relationship Id="rId47" Type="http://schemas.openxmlformats.org/officeDocument/2006/relationships/slideLayout" Target="../slideLayouts/slideLayout69.xml"/><Relationship Id="rId50" Type="http://schemas.openxmlformats.org/officeDocument/2006/relationships/slideLayout" Target="../slideLayouts/slideLayout72.xml"/><Relationship Id="rId55" Type="http://schemas.openxmlformats.org/officeDocument/2006/relationships/slideLayout" Target="../slideLayouts/slideLayout77.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9" Type="http://schemas.openxmlformats.org/officeDocument/2006/relationships/slideLayout" Target="../slideLayouts/slideLayout51.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32" Type="http://schemas.openxmlformats.org/officeDocument/2006/relationships/slideLayout" Target="../slideLayouts/slideLayout54.xml"/><Relationship Id="rId37" Type="http://schemas.openxmlformats.org/officeDocument/2006/relationships/slideLayout" Target="../slideLayouts/slideLayout59.xml"/><Relationship Id="rId40" Type="http://schemas.openxmlformats.org/officeDocument/2006/relationships/slideLayout" Target="../slideLayouts/slideLayout62.xml"/><Relationship Id="rId45" Type="http://schemas.openxmlformats.org/officeDocument/2006/relationships/slideLayout" Target="../slideLayouts/slideLayout67.xml"/><Relationship Id="rId53" Type="http://schemas.openxmlformats.org/officeDocument/2006/relationships/slideLayout" Target="../slideLayouts/slideLayout75.xml"/><Relationship Id="rId58" Type="http://schemas.openxmlformats.org/officeDocument/2006/relationships/image" Target="../media/image2.svg"/><Relationship Id="rId5" Type="http://schemas.openxmlformats.org/officeDocument/2006/relationships/slideLayout" Target="../slideLayouts/slideLayout27.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slideLayout" Target="../slideLayouts/slideLayout52.xml"/><Relationship Id="rId35" Type="http://schemas.openxmlformats.org/officeDocument/2006/relationships/slideLayout" Target="../slideLayouts/slideLayout57.xml"/><Relationship Id="rId43" Type="http://schemas.openxmlformats.org/officeDocument/2006/relationships/slideLayout" Target="../slideLayouts/slideLayout65.xml"/><Relationship Id="rId48" Type="http://schemas.openxmlformats.org/officeDocument/2006/relationships/slideLayout" Target="../slideLayouts/slideLayout70.xml"/><Relationship Id="rId56" Type="http://schemas.openxmlformats.org/officeDocument/2006/relationships/slideLayout" Target="../slideLayouts/slideLayout78.xml"/><Relationship Id="rId8" Type="http://schemas.openxmlformats.org/officeDocument/2006/relationships/slideLayout" Target="../slideLayouts/slideLayout30.xml"/><Relationship Id="rId51" Type="http://schemas.openxmlformats.org/officeDocument/2006/relationships/slideLayout" Target="../slideLayouts/slideLayout73.xml"/><Relationship Id="rId3" Type="http://schemas.openxmlformats.org/officeDocument/2006/relationships/slideLayout" Target="../slideLayouts/slideLayout25.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33" Type="http://schemas.openxmlformats.org/officeDocument/2006/relationships/slideLayout" Target="../slideLayouts/slideLayout55.xml"/><Relationship Id="rId38" Type="http://schemas.openxmlformats.org/officeDocument/2006/relationships/slideLayout" Target="../slideLayouts/slideLayout60.xml"/><Relationship Id="rId46" Type="http://schemas.openxmlformats.org/officeDocument/2006/relationships/slideLayout" Target="../slideLayouts/slideLayout68.xml"/><Relationship Id="rId20" Type="http://schemas.openxmlformats.org/officeDocument/2006/relationships/slideLayout" Target="../slideLayouts/slideLayout42.xml"/><Relationship Id="rId41" Type="http://schemas.openxmlformats.org/officeDocument/2006/relationships/slideLayout" Target="../slideLayouts/slideLayout63.xml"/><Relationship Id="rId54" Type="http://schemas.openxmlformats.org/officeDocument/2006/relationships/slideLayout" Target="../slideLayouts/slideLayout76.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36" Type="http://schemas.openxmlformats.org/officeDocument/2006/relationships/slideLayout" Target="../slideLayouts/slideLayout58.xml"/><Relationship Id="rId49" Type="http://schemas.openxmlformats.org/officeDocument/2006/relationships/slideLayout" Target="../slideLayouts/slideLayout71.xml"/><Relationship Id="rId57" Type="http://schemas.openxmlformats.org/officeDocument/2006/relationships/theme" Target="../theme/theme3.xml"/><Relationship Id="rId10" Type="http://schemas.openxmlformats.org/officeDocument/2006/relationships/slideLayout" Target="../slideLayouts/slideLayout32.xml"/><Relationship Id="rId31" Type="http://schemas.openxmlformats.org/officeDocument/2006/relationships/slideLayout" Target="../slideLayouts/slideLayout53.xml"/><Relationship Id="rId44" Type="http://schemas.openxmlformats.org/officeDocument/2006/relationships/slideLayout" Target="../slideLayouts/slideLayout66.xml"/><Relationship Id="rId52"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Google Shape;287;p59">
            <a:extLst>
              <a:ext uri="{FF2B5EF4-FFF2-40B4-BE49-F238E27FC236}">
                <a16:creationId xmlns:a16="http://schemas.microsoft.com/office/drawing/2014/main" id="{6A260DD7-AF09-FF3E-FB36-3A6EDF30BB72}"/>
              </a:ext>
            </a:extLst>
          </p:cNvPr>
          <p:cNvSpPr txBox="1"/>
          <p:nvPr userDrawn="1"/>
        </p:nvSpPr>
        <p:spPr>
          <a:xfrm>
            <a:off x="14976648" y="9752012"/>
            <a:ext cx="2880101" cy="369318"/>
          </a:xfrm>
          <a:prstGeom prst="rect">
            <a:avLst/>
          </a:prstGeom>
          <a:noFill/>
          <a:ln>
            <a:noFill/>
          </a:ln>
        </p:spPr>
        <p:txBody>
          <a:bodyPr spcFirstLastPara="1" wrap="square" lIns="91433" tIns="91433" rIns="91433" bIns="91433" anchor="t" anchorCtr="0">
            <a:spAutoFit/>
          </a:bodyPr>
          <a:lstStyle/>
          <a:p>
            <a:pPr algn="r"/>
            <a:r>
              <a:rPr lang="en" sz="1200" b="1" dirty="0"/>
              <a:t>© Redington 2024. All Rights Reserved.</a:t>
            </a:r>
            <a:endParaRPr sz="1200" b="1" dirty="0"/>
          </a:p>
        </p:txBody>
      </p:sp>
      <p:sp>
        <p:nvSpPr>
          <p:cNvPr id="9" name="TextBox 8">
            <a:extLst>
              <a:ext uri="{FF2B5EF4-FFF2-40B4-BE49-F238E27FC236}">
                <a16:creationId xmlns:a16="http://schemas.microsoft.com/office/drawing/2014/main" id="{5CB79172-5F12-A372-8A48-3BA3705E5498}"/>
              </a:ext>
            </a:extLst>
          </p:cNvPr>
          <p:cNvSpPr txBox="1"/>
          <p:nvPr userDrawn="1">
            <p:extLst>
              <p:ext uri="{1162E1C5-73C7-4A58-AE30-91384D911F3F}">
                <p184:classification xmlns:p184="http://schemas.microsoft.com/office/powerpoint/2018/4/main" val="ftr"/>
              </p:ext>
            </p:extLst>
          </p:nvPr>
        </p:nvSpPr>
        <p:spPr>
          <a:xfrm>
            <a:off x="63500" y="10071100"/>
            <a:ext cx="2065338"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Information Classification: RL\Public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oogle Shape;450;p65">
            <a:extLst>
              <a:ext uri="{FF2B5EF4-FFF2-40B4-BE49-F238E27FC236}">
                <a16:creationId xmlns:a16="http://schemas.microsoft.com/office/drawing/2014/main" id="{FEDF61B4-A3B4-A13E-A892-978B50C3D8E3}"/>
              </a:ext>
            </a:extLst>
          </p:cNvPr>
          <p:cNvPicPr preferRelativeResize="0"/>
          <p:nvPr userDrawn="1"/>
        </p:nvPicPr>
        <p:blipFill rotWithShape="1">
          <a:blip r:embed="rId13">
            <a:alphaModFix/>
          </a:blip>
          <a:srcRect t="7806" b="7798"/>
          <a:stretch/>
        </p:blipFill>
        <p:spPr>
          <a:xfrm>
            <a:off x="0" y="0"/>
            <a:ext cx="18288000" cy="10287000"/>
          </a:xfrm>
          <a:prstGeom prst="rect">
            <a:avLst/>
          </a:prstGeom>
          <a:noFill/>
          <a:ln>
            <a:noFill/>
          </a:ln>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9" name="TextBox 8">
            <a:extLst>
              <a:ext uri="{FF2B5EF4-FFF2-40B4-BE49-F238E27FC236}">
                <a16:creationId xmlns:a16="http://schemas.microsoft.com/office/drawing/2014/main" id="{11DA5FAA-1CE2-B19F-291B-4B2BF7A55099}"/>
              </a:ext>
            </a:extLst>
          </p:cNvPr>
          <p:cNvSpPr txBox="1"/>
          <p:nvPr userDrawn="1">
            <p:extLst>
              <p:ext uri="{1162E1C5-73C7-4A58-AE30-91384D911F3F}">
                <p184:classification xmlns:p184="http://schemas.microsoft.com/office/powerpoint/2018/4/main" val="ftr"/>
              </p:ext>
            </p:extLst>
          </p:nvPr>
        </p:nvSpPr>
        <p:spPr>
          <a:xfrm>
            <a:off x="63500" y="10071100"/>
            <a:ext cx="2065338"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Information Classification: RL\Public </a:t>
            </a:r>
          </a:p>
        </p:txBody>
      </p:sp>
    </p:spTree>
    <p:extLst>
      <p:ext uri="{BB962C8B-B14F-4D97-AF65-F5344CB8AC3E}">
        <p14:creationId xmlns:p14="http://schemas.microsoft.com/office/powerpoint/2010/main" val="40136286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2395" y="685800"/>
            <a:ext cx="16527780" cy="83099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876300" y="2153255"/>
            <a:ext cx="1652778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8288000" cy="10287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877824" cy="877824"/>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ctr" defTabSz="1398708" fontAlgn="base">
              <a:lnSpc>
                <a:spcPct val="90000"/>
              </a:lnSpc>
              <a:spcBef>
                <a:spcPct val="0"/>
              </a:spcBef>
              <a:spcAft>
                <a:spcPct val="0"/>
              </a:spcAft>
            </a:pPr>
            <a:endParaRPr lang="en-US" sz="36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438912" cy="438912"/>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algn="ctr" defTabSz="1398708" fontAlgn="base">
              <a:lnSpc>
                <a:spcPct val="90000"/>
              </a:lnSpc>
              <a:spcBef>
                <a:spcPct val="0"/>
              </a:spcBef>
              <a:spcAft>
                <a:spcPct val="0"/>
              </a:spcAft>
            </a:pPr>
            <a:endParaRPr lang="en-US" sz="36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8"/>
              </a:ext>
            </a:extLst>
          </a:blip>
          <a:srcRect/>
          <a:stretch/>
        </p:blipFill>
        <p:spPr>
          <a:xfrm rot="5400000">
            <a:off x="14264879" y="4114800"/>
            <a:ext cx="10287000" cy="2057400"/>
          </a:xfrm>
          <a:prstGeom prst="rect">
            <a:avLst/>
          </a:prstGeom>
        </p:spPr>
      </p:pic>
      <p:sp>
        <p:nvSpPr>
          <p:cNvPr id="6" name="TextBox 5">
            <a:extLst>
              <a:ext uri="{FF2B5EF4-FFF2-40B4-BE49-F238E27FC236}">
                <a16:creationId xmlns:a16="http://schemas.microsoft.com/office/drawing/2014/main" id="{CDFDAFCF-AE5F-15BE-DB28-CE4E90158A22}"/>
              </a:ext>
            </a:extLst>
          </p:cNvPr>
          <p:cNvSpPr txBox="1"/>
          <p:nvPr userDrawn="1">
            <p:extLst>
              <p:ext uri="{1162E1C5-73C7-4A58-AE30-91384D911F3F}">
                <p184:classification xmlns:p184="http://schemas.microsoft.com/office/powerpoint/2018/4/main" val="ftr"/>
              </p:ext>
            </p:extLst>
          </p:nvPr>
        </p:nvSpPr>
        <p:spPr>
          <a:xfrm>
            <a:off x="63500" y="10071100"/>
            <a:ext cx="2065338"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Information Classification: RL\Public </a:t>
            </a:r>
          </a:p>
        </p:txBody>
      </p:sp>
    </p:spTree>
    <p:extLst>
      <p:ext uri="{BB962C8B-B14F-4D97-AF65-F5344CB8AC3E}">
        <p14:creationId xmlns:p14="http://schemas.microsoft.com/office/powerpoint/2010/main" val="3586310875"/>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 id="2147483734" r:id="rId38"/>
    <p:sldLayoutId id="2147483735" r:id="rId39"/>
    <p:sldLayoutId id="2147483736" r:id="rId40"/>
    <p:sldLayoutId id="2147483737" r:id="rId41"/>
    <p:sldLayoutId id="2147483738" r:id="rId42"/>
    <p:sldLayoutId id="2147483739" r:id="rId43"/>
    <p:sldLayoutId id="2147483740" r:id="rId44"/>
    <p:sldLayoutId id="2147483741" r:id="rId45"/>
    <p:sldLayoutId id="2147483742" r:id="rId46"/>
    <p:sldLayoutId id="2147483743" r:id="rId47"/>
    <p:sldLayoutId id="2147483744" r:id="rId48"/>
    <p:sldLayoutId id="2147483745" r:id="rId49"/>
    <p:sldLayoutId id="2147483746" r:id="rId50"/>
    <p:sldLayoutId id="2147483747" r:id="rId51"/>
    <p:sldLayoutId id="2147483748" r:id="rId52"/>
    <p:sldLayoutId id="2147483749" r:id="rId53"/>
    <p:sldLayoutId id="2147483750" r:id="rId54"/>
    <p:sldLayoutId id="2147483751" r:id="rId55"/>
    <p:sldLayoutId id="2147483752" r:id="rId56"/>
  </p:sldLayoutIdLst>
  <p:transition>
    <p:fade/>
  </p:transition>
  <p:hf sldNum="0" hdr="0" ftr="0" dt="0"/>
  <p:txStyles>
    <p:titleStyle>
      <a:lvl1pPr algn="l" defTabSz="1399113" rtl="0" eaLnBrk="1" latinLnBrk="0" hangingPunct="1">
        <a:lnSpc>
          <a:spcPct val="100000"/>
        </a:lnSpc>
        <a:spcBef>
          <a:spcPct val="0"/>
        </a:spcBef>
        <a:buNone/>
        <a:defRPr lang="en-US" sz="5400" b="0" kern="1200" cap="none" spc="-75" baseline="0" dirty="0" smtClean="0">
          <a:ln w="3175">
            <a:noFill/>
          </a:ln>
          <a:solidFill>
            <a:schemeClr val="tx1"/>
          </a:solidFill>
          <a:effectLst/>
          <a:latin typeface="+mj-lt"/>
          <a:ea typeface="+mn-ea"/>
          <a:cs typeface="Segoe UI" pitchFamily="34" charset="0"/>
        </a:defRPr>
      </a:lvl1pPr>
    </p:titleStyle>
    <p:bodyStyle>
      <a:lvl1pPr marL="342900" marR="0" indent="-342900" algn="l" defTabSz="139911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4200" kern="1200" spc="0" baseline="0">
          <a:solidFill>
            <a:schemeClr val="tx1"/>
          </a:solidFill>
          <a:latin typeface="+mn-lt"/>
          <a:ea typeface="+mn-ea"/>
          <a:cs typeface="Segoe UI" panose="020B0502040204020203" pitchFamily="34" charset="0"/>
        </a:defRPr>
      </a:lvl1pPr>
      <a:lvl2pPr marL="685800" marR="0" indent="-342900" algn="l" defTabSz="139911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3000" kern="1200" spc="0" baseline="0">
          <a:solidFill>
            <a:schemeClr val="tx1"/>
          </a:solidFill>
          <a:latin typeface="+mn-lt"/>
          <a:ea typeface="+mn-ea"/>
          <a:cs typeface="+mn-cs"/>
        </a:defRPr>
      </a:lvl2pPr>
      <a:lvl3pPr marL="985838" marR="0" indent="-300038" algn="l" defTabSz="139911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400" kern="1200" spc="0" baseline="0">
          <a:solidFill>
            <a:schemeClr val="tx1"/>
          </a:solidFill>
          <a:latin typeface="+mn-lt"/>
          <a:ea typeface="+mn-ea"/>
          <a:cs typeface="+mn-cs"/>
        </a:defRPr>
      </a:lvl3pPr>
      <a:lvl4pPr marL="1264445" marR="0" indent="-271463" algn="l" defTabSz="139911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100" kern="1200" spc="0" baseline="0">
          <a:solidFill>
            <a:schemeClr val="tx1"/>
          </a:solidFill>
          <a:latin typeface="+mn-lt"/>
          <a:ea typeface="+mn-ea"/>
          <a:cs typeface="+mn-cs"/>
        </a:defRPr>
      </a:lvl4pPr>
      <a:lvl5pPr marL="1535907" marR="0" indent="-252413" algn="l" defTabSz="139911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100" kern="1200" spc="0" baseline="0">
          <a:solidFill>
            <a:schemeClr val="tx1"/>
          </a:solidFill>
          <a:latin typeface="+mn-lt"/>
          <a:ea typeface="+mn-ea"/>
          <a:cs typeface="+mn-cs"/>
        </a:defRPr>
      </a:lvl5pPr>
      <a:lvl6pPr marL="3847560" indent="-349779" algn="l" defTabSz="1399113" rtl="0" eaLnBrk="1" latinLnBrk="0" hangingPunct="1">
        <a:spcBef>
          <a:spcPct val="20000"/>
        </a:spcBef>
        <a:buFont typeface="Arial" pitchFamily="34" charset="0"/>
        <a:buChar char="•"/>
        <a:defRPr sz="3000" kern="1200">
          <a:solidFill>
            <a:schemeClr val="tx1"/>
          </a:solidFill>
          <a:latin typeface="+mn-lt"/>
          <a:ea typeface="+mn-ea"/>
          <a:cs typeface="+mn-cs"/>
        </a:defRPr>
      </a:lvl6pPr>
      <a:lvl7pPr marL="4547118" indent="-349779" algn="l" defTabSz="1399113" rtl="0" eaLnBrk="1" latinLnBrk="0" hangingPunct="1">
        <a:spcBef>
          <a:spcPct val="20000"/>
        </a:spcBef>
        <a:buFont typeface="Arial" pitchFamily="34" charset="0"/>
        <a:buChar char="•"/>
        <a:defRPr sz="3000" kern="1200">
          <a:solidFill>
            <a:schemeClr val="tx1"/>
          </a:solidFill>
          <a:latin typeface="+mn-lt"/>
          <a:ea typeface="+mn-ea"/>
          <a:cs typeface="+mn-cs"/>
        </a:defRPr>
      </a:lvl7pPr>
      <a:lvl8pPr marL="5246675" indent="-349779" algn="l" defTabSz="1399113" rtl="0" eaLnBrk="1" latinLnBrk="0" hangingPunct="1">
        <a:spcBef>
          <a:spcPct val="20000"/>
        </a:spcBef>
        <a:buFont typeface="Arial" pitchFamily="34" charset="0"/>
        <a:buChar char="•"/>
        <a:defRPr sz="3000" kern="1200">
          <a:solidFill>
            <a:schemeClr val="tx1"/>
          </a:solidFill>
          <a:latin typeface="+mn-lt"/>
          <a:ea typeface="+mn-ea"/>
          <a:cs typeface="+mn-cs"/>
        </a:defRPr>
      </a:lvl8pPr>
      <a:lvl9pPr marL="5946233" indent="-349779" algn="l" defTabSz="1399113" rtl="0" eaLnBrk="1" latinLnBrk="0" hangingPunct="1">
        <a:spcBef>
          <a:spcPct val="20000"/>
        </a:spcBef>
        <a:buFont typeface="Arial" pitchFamily="34" charset="0"/>
        <a:buChar char="•"/>
        <a:defRPr sz="3000" kern="1200">
          <a:solidFill>
            <a:schemeClr val="tx1"/>
          </a:solidFill>
          <a:latin typeface="+mn-lt"/>
          <a:ea typeface="+mn-ea"/>
          <a:cs typeface="+mn-cs"/>
        </a:defRPr>
      </a:lvl9pPr>
    </p:bodyStyle>
    <p:otherStyle>
      <a:defPPr>
        <a:defRPr lang="en-US"/>
      </a:defPPr>
      <a:lvl1pPr marL="0" algn="l" defTabSz="1399113" rtl="0" eaLnBrk="1" latinLnBrk="0" hangingPunct="1">
        <a:defRPr sz="2700" kern="1200">
          <a:solidFill>
            <a:schemeClr val="tx1"/>
          </a:solidFill>
          <a:latin typeface="+mn-lt"/>
          <a:ea typeface="+mn-ea"/>
          <a:cs typeface="+mn-cs"/>
        </a:defRPr>
      </a:lvl1pPr>
      <a:lvl2pPr marL="699557" algn="l" defTabSz="1399113" rtl="0" eaLnBrk="1" latinLnBrk="0" hangingPunct="1">
        <a:defRPr sz="2700" kern="1200">
          <a:solidFill>
            <a:schemeClr val="tx1"/>
          </a:solidFill>
          <a:latin typeface="+mn-lt"/>
          <a:ea typeface="+mn-ea"/>
          <a:cs typeface="+mn-cs"/>
        </a:defRPr>
      </a:lvl2pPr>
      <a:lvl3pPr marL="1399113" algn="l" defTabSz="1399113" rtl="0" eaLnBrk="1" latinLnBrk="0" hangingPunct="1">
        <a:defRPr sz="2700" kern="1200">
          <a:solidFill>
            <a:schemeClr val="tx1"/>
          </a:solidFill>
          <a:latin typeface="+mn-lt"/>
          <a:ea typeface="+mn-ea"/>
          <a:cs typeface="+mn-cs"/>
        </a:defRPr>
      </a:lvl3pPr>
      <a:lvl4pPr marL="2098670" algn="l" defTabSz="1399113" rtl="0" eaLnBrk="1" latinLnBrk="0" hangingPunct="1">
        <a:defRPr sz="2700" kern="1200">
          <a:solidFill>
            <a:schemeClr val="tx1"/>
          </a:solidFill>
          <a:latin typeface="+mn-lt"/>
          <a:ea typeface="+mn-ea"/>
          <a:cs typeface="+mn-cs"/>
        </a:defRPr>
      </a:lvl4pPr>
      <a:lvl5pPr marL="2798226" algn="l" defTabSz="1399113" rtl="0" eaLnBrk="1" latinLnBrk="0" hangingPunct="1">
        <a:defRPr sz="2700" kern="1200">
          <a:solidFill>
            <a:schemeClr val="tx1"/>
          </a:solidFill>
          <a:latin typeface="+mn-lt"/>
          <a:ea typeface="+mn-ea"/>
          <a:cs typeface="+mn-cs"/>
        </a:defRPr>
      </a:lvl5pPr>
      <a:lvl6pPr marL="3497784" algn="l" defTabSz="1399113" rtl="0" eaLnBrk="1" latinLnBrk="0" hangingPunct="1">
        <a:defRPr sz="2700" kern="1200">
          <a:solidFill>
            <a:schemeClr val="tx1"/>
          </a:solidFill>
          <a:latin typeface="+mn-lt"/>
          <a:ea typeface="+mn-ea"/>
          <a:cs typeface="+mn-cs"/>
        </a:defRPr>
      </a:lvl6pPr>
      <a:lvl7pPr marL="4197339" algn="l" defTabSz="1399113" rtl="0" eaLnBrk="1" latinLnBrk="0" hangingPunct="1">
        <a:defRPr sz="2700" kern="1200">
          <a:solidFill>
            <a:schemeClr val="tx1"/>
          </a:solidFill>
          <a:latin typeface="+mn-lt"/>
          <a:ea typeface="+mn-ea"/>
          <a:cs typeface="+mn-cs"/>
        </a:defRPr>
      </a:lvl7pPr>
      <a:lvl8pPr marL="4896896" algn="l" defTabSz="1399113" rtl="0" eaLnBrk="1" latinLnBrk="0" hangingPunct="1">
        <a:defRPr sz="2700" kern="1200">
          <a:solidFill>
            <a:schemeClr val="tx1"/>
          </a:solidFill>
          <a:latin typeface="+mn-lt"/>
          <a:ea typeface="+mn-ea"/>
          <a:cs typeface="+mn-cs"/>
        </a:defRPr>
      </a:lvl8pPr>
      <a:lvl9pPr marL="5596454" algn="l" defTabSz="1399113"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18.xml"/><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26" Type="http://schemas.openxmlformats.org/officeDocument/2006/relationships/image" Target="../media/image52.jpeg"/><Relationship Id="rId21" Type="http://schemas.openxmlformats.org/officeDocument/2006/relationships/image" Target="../media/image47.png"/><Relationship Id="rId42" Type="http://schemas.openxmlformats.org/officeDocument/2006/relationships/image" Target="../media/image67.png"/><Relationship Id="rId47" Type="http://schemas.microsoft.com/office/2007/relationships/hdphoto" Target="../media/hdphoto7.wdp"/><Relationship Id="rId63" Type="http://schemas.openxmlformats.org/officeDocument/2006/relationships/image" Target="../media/image85.png"/><Relationship Id="rId68" Type="http://schemas.openxmlformats.org/officeDocument/2006/relationships/image" Target="../media/image90.png"/><Relationship Id="rId7" Type="http://schemas.openxmlformats.org/officeDocument/2006/relationships/image" Target="../media/image39.png"/><Relationship Id="rId71" Type="http://schemas.openxmlformats.org/officeDocument/2006/relationships/image" Target="../media/image93.png"/><Relationship Id="rId2" Type="http://schemas.openxmlformats.org/officeDocument/2006/relationships/image" Target="../media/image33.png"/><Relationship Id="rId16" Type="http://schemas.microsoft.com/office/2007/relationships/hdphoto" Target="../media/hdphoto4.wdp"/><Relationship Id="rId29" Type="http://schemas.openxmlformats.org/officeDocument/2006/relationships/image" Target="../media/image31.png"/><Relationship Id="rId11" Type="http://schemas.openxmlformats.org/officeDocument/2006/relationships/image" Target="../media/image42.png"/><Relationship Id="rId24" Type="http://schemas.openxmlformats.org/officeDocument/2006/relationships/image" Target="../media/image50.png"/><Relationship Id="rId32" Type="http://schemas.openxmlformats.org/officeDocument/2006/relationships/image" Target="../media/image57.png"/><Relationship Id="rId37" Type="http://schemas.openxmlformats.org/officeDocument/2006/relationships/image" Target="../media/image62.png"/><Relationship Id="rId40" Type="http://schemas.openxmlformats.org/officeDocument/2006/relationships/image" Target="../media/image65.png"/><Relationship Id="rId45" Type="http://schemas.openxmlformats.org/officeDocument/2006/relationships/image" Target="../media/image70.png"/><Relationship Id="rId53" Type="http://schemas.openxmlformats.org/officeDocument/2006/relationships/image" Target="../media/image76.png"/><Relationship Id="rId58" Type="http://schemas.microsoft.com/office/2007/relationships/hdphoto" Target="../media/hdphoto9.wdp"/><Relationship Id="rId66" Type="http://schemas.openxmlformats.org/officeDocument/2006/relationships/image" Target="../media/image88.png"/><Relationship Id="rId5" Type="http://schemas.openxmlformats.org/officeDocument/2006/relationships/image" Target="../media/image37.png"/><Relationship Id="rId61" Type="http://schemas.openxmlformats.org/officeDocument/2006/relationships/image" Target="../media/image83.png"/><Relationship Id="rId19" Type="http://schemas.openxmlformats.org/officeDocument/2006/relationships/image" Target="../media/image46.png"/><Relationship Id="rId14" Type="http://schemas.microsoft.com/office/2007/relationships/hdphoto" Target="../media/hdphoto3.wdp"/><Relationship Id="rId22" Type="http://schemas.openxmlformats.org/officeDocument/2006/relationships/image" Target="../media/image48.png"/><Relationship Id="rId27" Type="http://schemas.openxmlformats.org/officeDocument/2006/relationships/image" Target="../media/image53.png"/><Relationship Id="rId30" Type="http://schemas.openxmlformats.org/officeDocument/2006/relationships/image" Target="../media/image55.png"/><Relationship Id="rId35" Type="http://schemas.openxmlformats.org/officeDocument/2006/relationships/image" Target="../media/image60.png"/><Relationship Id="rId43" Type="http://schemas.openxmlformats.org/officeDocument/2006/relationships/image" Target="../media/image68.png"/><Relationship Id="rId48" Type="http://schemas.openxmlformats.org/officeDocument/2006/relationships/image" Target="../media/image72.png"/><Relationship Id="rId56" Type="http://schemas.openxmlformats.org/officeDocument/2006/relationships/image" Target="../media/image79.png"/><Relationship Id="rId64" Type="http://schemas.openxmlformats.org/officeDocument/2006/relationships/image" Target="../media/image86.png"/><Relationship Id="rId69" Type="http://schemas.openxmlformats.org/officeDocument/2006/relationships/image" Target="../media/image91.png"/><Relationship Id="rId8" Type="http://schemas.openxmlformats.org/officeDocument/2006/relationships/image" Target="../media/image40.png"/><Relationship Id="rId51" Type="http://schemas.microsoft.com/office/2007/relationships/hdphoto" Target="../media/hdphoto8.wdp"/><Relationship Id="rId3" Type="http://schemas.openxmlformats.org/officeDocument/2006/relationships/image" Target="../media/image35.png"/><Relationship Id="rId12" Type="http://schemas.microsoft.com/office/2007/relationships/hdphoto" Target="../media/hdphoto2.wdp"/><Relationship Id="rId17" Type="http://schemas.openxmlformats.org/officeDocument/2006/relationships/image" Target="../media/image45.png"/><Relationship Id="rId25" Type="http://schemas.openxmlformats.org/officeDocument/2006/relationships/image" Target="../media/image51.png"/><Relationship Id="rId33" Type="http://schemas.openxmlformats.org/officeDocument/2006/relationships/image" Target="../media/image58.png"/><Relationship Id="rId38" Type="http://schemas.openxmlformats.org/officeDocument/2006/relationships/image" Target="../media/image63.png"/><Relationship Id="rId46" Type="http://schemas.openxmlformats.org/officeDocument/2006/relationships/image" Target="../media/image71.png"/><Relationship Id="rId59" Type="http://schemas.openxmlformats.org/officeDocument/2006/relationships/image" Target="../media/image81.png"/><Relationship Id="rId67" Type="http://schemas.openxmlformats.org/officeDocument/2006/relationships/image" Target="../media/image89.png"/><Relationship Id="rId20" Type="http://schemas.microsoft.com/office/2007/relationships/hdphoto" Target="../media/hdphoto6.wdp"/><Relationship Id="rId41" Type="http://schemas.openxmlformats.org/officeDocument/2006/relationships/image" Target="../media/image66.png"/><Relationship Id="rId54" Type="http://schemas.openxmlformats.org/officeDocument/2006/relationships/image" Target="../media/image77.png"/><Relationship Id="rId62" Type="http://schemas.openxmlformats.org/officeDocument/2006/relationships/image" Target="../media/image84.png"/><Relationship Id="rId70" Type="http://schemas.openxmlformats.org/officeDocument/2006/relationships/image" Target="../media/image92.png"/><Relationship Id="rId1" Type="http://schemas.openxmlformats.org/officeDocument/2006/relationships/slideLayout" Target="../slideLayouts/slideLayout18.xml"/><Relationship Id="rId6" Type="http://schemas.openxmlformats.org/officeDocument/2006/relationships/image" Target="../media/image38.png"/><Relationship Id="rId15" Type="http://schemas.openxmlformats.org/officeDocument/2006/relationships/image" Target="../media/image44.png"/><Relationship Id="rId23" Type="http://schemas.openxmlformats.org/officeDocument/2006/relationships/image" Target="../media/image49.png"/><Relationship Id="rId28" Type="http://schemas.openxmlformats.org/officeDocument/2006/relationships/image" Target="../media/image54.png"/><Relationship Id="rId36" Type="http://schemas.openxmlformats.org/officeDocument/2006/relationships/image" Target="../media/image61.png"/><Relationship Id="rId49" Type="http://schemas.openxmlformats.org/officeDocument/2006/relationships/image" Target="../media/image73.png"/><Relationship Id="rId57" Type="http://schemas.openxmlformats.org/officeDocument/2006/relationships/image" Target="../media/image80.png"/><Relationship Id="rId10" Type="http://schemas.microsoft.com/office/2007/relationships/hdphoto" Target="../media/hdphoto1.wdp"/><Relationship Id="rId31" Type="http://schemas.openxmlformats.org/officeDocument/2006/relationships/image" Target="../media/image56.png"/><Relationship Id="rId44" Type="http://schemas.openxmlformats.org/officeDocument/2006/relationships/image" Target="../media/image69.png"/><Relationship Id="rId52" Type="http://schemas.openxmlformats.org/officeDocument/2006/relationships/image" Target="../media/image75.png"/><Relationship Id="rId60" Type="http://schemas.openxmlformats.org/officeDocument/2006/relationships/image" Target="../media/image82.png"/><Relationship Id="rId65" Type="http://schemas.openxmlformats.org/officeDocument/2006/relationships/image" Target="../media/image87.png"/><Relationship Id="rId4" Type="http://schemas.openxmlformats.org/officeDocument/2006/relationships/image" Target="../media/image36.png"/><Relationship Id="rId9" Type="http://schemas.openxmlformats.org/officeDocument/2006/relationships/image" Target="../media/image41.png"/><Relationship Id="rId13" Type="http://schemas.openxmlformats.org/officeDocument/2006/relationships/image" Target="../media/image43.png"/><Relationship Id="rId18" Type="http://schemas.microsoft.com/office/2007/relationships/hdphoto" Target="../media/hdphoto5.wdp"/><Relationship Id="rId39" Type="http://schemas.openxmlformats.org/officeDocument/2006/relationships/image" Target="../media/image64.png"/><Relationship Id="rId34" Type="http://schemas.openxmlformats.org/officeDocument/2006/relationships/image" Target="../media/image59.png"/><Relationship Id="rId50" Type="http://schemas.openxmlformats.org/officeDocument/2006/relationships/image" Target="../media/image74.png"/><Relationship Id="rId55" Type="http://schemas.openxmlformats.org/officeDocument/2006/relationships/image" Target="../media/image78.png"/></Relationships>
</file>

<file path=ppt/slides/_rels/slide5.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image" Target="../media/image94.png"/><Relationship Id="rId1" Type="http://schemas.openxmlformats.org/officeDocument/2006/relationships/slideLayout" Target="../slideLayouts/slideLayout12.xml"/><Relationship Id="rId6" Type="http://schemas.openxmlformats.org/officeDocument/2006/relationships/image" Target="../media/image98.jpeg"/><Relationship Id="rId5" Type="http://schemas.openxmlformats.org/officeDocument/2006/relationships/image" Target="../media/image97.png"/><Relationship Id="rId4" Type="http://schemas.openxmlformats.org/officeDocument/2006/relationships/image" Target="../media/image96.png"/></Relationships>
</file>

<file path=ppt/slides/_rels/slide6.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101.svg"/><Relationship Id="rId1" Type="http://schemas.openxmlformats.org/officeDocument/2006/relationships/slideLayout" Target="../slideLayouts/slideLayout35.xml"/><Relationship Id="rId4" Type="http://schemas.openxmlformats.org/officeDocument/2006/relationships/image" Target="../media/image103.svg"/></Relationships>
</file>

<file path=ppt/slides/_rels/slide7.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101.svg"/><Relationship Id="rId1" Type="http://schemas.openxmlformats.org/officeDocument/2006/relationships/slideLayout" Target="../slideLayouts/slideLayout35.xml"/><Relationship Id="rId4" Type="http://schemas.openxmlformats.org/officeDocument/2006/relationships/image" Target="../media/image103.svg"/></Relationships>
</file>

<file path=ppt/slides/_rels/slide8.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hyperlink" Target="https://www.technologyreview.com/2020/06/30/1004527/going-lean-how-vendor-consolidation-creates-big-gains/" TargetMode="External"/><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hyperlink" Target="https://info.flexera.com/CM-REPORT-State-of-the-Cloud-2025-Thanks?revisit" TargetMode="External"/><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s>
</file>

<file path=ppt/slides/_rels/slide9.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svg"/><Relationship Id="rId7" Type="http://schemas.openxmlformats.org/officeDocument/2006/relationships/image" Target="../media/image117.png"/><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116.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s>
</file>

<file path=ppt/slides/_rels/slide1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22.svg"/><Relationship Id="rId7" Type="http://schemas.openxmlformats.org/officeDocument/2006/relationships/image" Target="../media/image125.svg"/><Relationship Id="rId2" Type="http://schemas.openxmlformats.org/officeDocument/2006/relationships/notesSlide" Target="../notesSlides/notesSlide4.xml"/><Relationship Id="rId1" Type="http://schemas.openxmlformats.org/officeDocument/2006/relationships/slideLayout" Target="../slideLayouts/slideLayout35.xml"/><Relationship Id="rId6" Type="http://schemas.openxmlformats.org/officeDocument/2006/relationships/hyperlink" Target="http://aka.ms/ahb" TargetMode="External"/><Relationship Id="rId5" Type="http://schemas.openxmlformats.org/officeDocument/2006/relationships/image" Target="../media/image124.svg"/><Relationship Id="rId4" Type="http://schemas.openxmlformats.org/officeDocument/2006/relationships/image" Target="../media/image123.svg"/></Relationships>
</file>

<file path=ppt/slides/_rels/slide12.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notesSlide" Target="../notesSlides/notesSlide5.xml"/><Relationship Id="rId1" Type="http://schemas.openxmlformats.org/officeDocument/2006/relationships/slideLayout" Target="../slideLayouts/slideLayout35.xml"/><Relationship Id="rId4" Type="http://schemas.openxmlformats.org/officeDocument/2006/relationships/image" Target="../media/image126.png"/></Relationships>
</file>

<file path=ppt/slides/_rels/slide13.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svg"/><Relationship Id="rId18" Type="http://schemas.openxmlformats.org/officeDocument/2006/relationships/image" Target="../media/image142.png"/><Relationship Id="rId26" Type="http://schemas.openxmlformats.org/officeDocument/2006/relationships/image" Target="../media/image149.png"/><Relationship Id="rId3" Type="http://schemas.openxmlformats.org/officeDocument/2006/relationships/image" Target="../media/image127.png"/><Relationship Id="rId21" Type="http://schemas.openxmlformats.org/officeDocument/2006/relationships/image" Target="../media/image144.png"/><Relationship Id="rId7" Type="http://schemas.openxmlformats.org/officeDocument/2006/relationships/image" Target="../media/image131.png"/><Relationship Id="rId12" Type="http://schemas.openxmlformats.org/officeDocument/2006/relationships/image" Target="../media/image136.svg"/><Relationship Id="rId17" Type="http://schemas.openxmlformats.org/officeDocument/2006/relationships/image" Target="../media/image141.png"/><Relationship Id="rId25" Type="http://schemas.openxmlformats.org/officeDocument/2006/relationships/image" Target="../media/image148.png"/><Relationship Id="rId2" Type="http://schemas.openxmlformats.org/officeDocument/2006/relationships/notesSlide" Target="../notesSlides/notesSlide6.xml"/><Relationship Id="rId16" Type="http://schemas.openxmlformats.org/officeDocument/2006/relationships/image" Target="../media/image140.png"/><Relationship Id="rId20" Type="http://schemas.openxmlformats.org/officeDocument/2006/relationships/image" Target="../media/image143.png"/><Relationship Id="rId29" Type="http://schemas.openxmlformats.org/officeDocument/2006/relationships/image" Target="../media/image152.svg"/><Relationship Id="rId1" Type="http://schemas.openxmlformats.org/officeDocument/2006/relationships/slideLayout" Target="../slideLayouts/slideLayout78.xml"/><Relationship Id="rId6" Type="http://schemas.openxmlformats.org/officeDocument/2006/relationships/image" Target="../media/image130.png"/><Relationship Id="rId11" Type="http://schemas.openxmlformats.org/officeDocument/2006/relationships/image" Target="../media/image135.png"/><Relationship Id="rId24" Type="http://schemas.openxmlformats.org/officeDocument/2006/relationships/image" Target="../media/image147.png"/><Relationship Id="rId32" Type="http://schemas.openxmlformats.org/officeDocument/2006/relationships/image" Target="../media/image155.png"/><Relationship Id="rId5" Type="http://schemas.openxmlformats.org/officeDocument/2006/relationships/image" Target="../media/image129.png"/><Relationship Id="rId15" Type="http://schemas.openxmlformats.org/officeDocument/2006/relationships/image" Target="../media/image139.png"/><Relationship Id="rId23" Type="http://schemas.openxmlformats.org/officeDocument/2006/relationships/image" Target="../media/image146.png"/><Relationship Id="rId28" Type="http://schemas.openxmlformats.org/officeDocument/2006/relationships/image" Target="../media/image151.png"/><Relationship Id="rId10" Type="http://schemas.openxmlformats.org/officeDocument/2006/relationships/image" Target="../media/image134.png"/><Relationship Id="rId19" Type="http://schemas.microsoft.com/office/2007/relationships/hdphoto" Target="../media/hdphoto10.wdp"/><Relationship Id="rId31" Type="http://schemas.openxmlformats.org/officeDocument/2006/relationships/image" Target="../media/image154.png"/><Relationship Id="rId4" Type="http://schemas.openxmlformats.org/officeDocument/2006/relationships/image" Target="../media/image128.png"/><Relationship Id="rId9" Type="http://schemas.openxmlformats.org/officeDocument/2006/relationships/image" Target="../media/image133.png"/><Relationship Id="rId14" Type="http://schemas.openxmlformats.org/officeDocument/2006/relationships/image" Target="../media/image138.svg"/><Relationship Id="rId22" Type="http://schemas.openxmlformats.org/officeDocument/2006/relationships/image" Target="../media/image145.png"/><Relationship Id="rId27" Type="http://schemas.openxmlformats.org/officeDocument/2006/relationships/image" Target="../media/image150.png"/><Relationship Id="rId30" Type="http://schemas.openxmlformats.org/officeDocument/2006/relationships/image" Target="../media/image153.png"/></Relationships>
</file>

<file path=ppt/slides/_rels/slide14.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hyperlink" Target="http://www.tpc.org/4081" TargetMode="External"/><Relationship Id="rId7" Type="http://schemas.openxmlformats.org/officeDocument/2006/relationships/hyperlink" Target="https://gigaom.com/report/sql-transaction-processing-and-analytic-performance-price-performance-testing-3/" TargetMode="External"/><Relationship Id="rId2" Type="http://schemas.openxmlformats.org/officeDocument/2006/relationships/notesSlide" Target="../notesSlides/notesSlide7.xml"/><Relationship Id="rId1" Type="http://schemas.openxmlformats.org/officeDocument/2006/relationships/slideLayout" Target="../slideLayouts/slideLayout35.xml"/><Relationship Id="rId6" Type="http://schemas.openxmlformats.org/officeDocument/2006/relationships/hyperlink" Target="http://www.tpc.org/3321" TargetMode="External"/><Relationship Id="rId11" Type="http://schemas.openxmlformats.org/officeDocument/2006/relationships/image" Target="../media/image159.emf"/><Relationship Id="rId5" Type="http://schemas.openxmlformats.org/officeDocument/2006/relationships/hyperlink" Target="http://www.tpc.org/3329" TargetMode="External"/><Relationship Id="rId10" Type="http://schemas.openxmlformats.org/officeDocument/2006/relationships/image" Target="../media/image158.emf"/><Relationship Id="rId4" Type="http://schemas.openxmlformats.org/officeDocument/2006/relationships/hyperlink" Target="http://www.tpc.org/3331" TargetMode="External"/><Relationship Id="rId9" Type="http://schemas.openxmlformats.org/officeDocument/2006/relationships/image" Target="../media/image157.png"/></Relationships>
</file>

<file path=ppt/slides/_rels/slide15.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60.svg"/><Relationship Id="rId1" Type="http://schemas.openxmlformats.org/officeDocument/2006/relationships/slideLayout" Target="../slideLayouts/slideLayout35.xml"/><Relationship Id="rId5" Type="http://schemas.openxmlformats.org/officeDocument/2006/relationships/image" Target="../media/image103.svg"/><Relationship Id="rId4" Type="http://schemas.openxmlformats.org/officeDocument/2006/relationships/image" Target="../media/image102.svg"/></Relationships>
</file>

<file path=ppt/slides/_rels/slide16.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60.svg"/><Relationship Id="rId1" Type="http://schemas.openxmlformats.org/officeDocument/2006/relationships/slideLayout" Target="../slideLayouts/slideLayout35.xml"/><Relationship Id="rId5" Type="http://schemas.openxmlformats.org/officeDocument/2006/relationships/image" Target="../media/image103.svg"/><Relationship Id="rId4" Type="http://schemas.openxmlformats.org/officeDocument/2006/relationships/image" Target="../media/image102.svg"/></Relationships>
</file>

<file path=ppt/slides/_rels/slide17.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60.svg"/><Relationship Id="rId1" Type="http://schemas.openxmlformats.org/officeDocument/2006/relationships/slideLayout" Target="../slideLayouts/slideLayout35.xml"/><Relationship Id="rId5" Type="http://schemas.openxmlformats.org/officeDocument/2006/relationships/image" Target="../media/image103.svg"/><Relationship Id="rId4" Type="http://schemas.openxmlformats.org/officeDocument/2006/relationships/image" Target="../media/image102.svg"/></Relationships>
</file>

<file path=ppt/slides/_rels/slide18.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60.svg"/><Relationship Id="rId1" Type="http://schemas.openxmlformats.org/officeDocument/2006/relationships/slideLayout" Target="../slideLayouts/slideLayout35.xml"/><Relationship Id="rId5" Type="http://schemas.openxmlformats.org/officeDocument/2006/relationships/image" Target="../media/image103.svg"/><Relationship Id="rId4" Type="http://schemas.openxmlformats.org/officeDocument/2006/relationships/image" Target="../media/image102.svg"/></Relationships>
</file>

<file path=ppt/slides/_rels/slide19.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60.svg"/><Relationship Id="rId1" Type="http://schemas.openxmlformats.org/officeDocument/2006/relationships/slideLayout" Target="../slideLayouts/slideLayout35.xml"/><Relationship Id="rId5" Type="http://schemas.openxmlformats.org/officeDocument/2006/relationships/image" Target="../media/image103.svg"/><Relationship Id="rId4" Type="http://schemas.openxmlformats.org/officeDocument/2006/relationships/image" Target="../media/image102.sv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18.xml"/><Relationship Id="rId4" Type="http://schemas.openxmlformats.org/officeDocument/2006/relationships/image" Target="../media/image161.svg"/></Relationships>
</file>

<file path=ppt/slides/_rels/slide21.xml.rels><?xml version="1.0" encoding="UTF-8" standalone="yes"?>
<Relationships xmlns="http://schemas.openxmlformats.org/package/2006/relationships"><Relationship Id="rId8" Type="http://schemas.openxmlformats.org/officeDocument/2006/relationships/hyperlink" Target="https://azure.microsoft.com/en-us/resources/idc-white-paper-the-business-value-of-microsoft-azure-for-sql-server-and-windows-server-workloads/" TargetMode="External"/><Relationship Id="rId13" Type="http://schemas.openxmlformats.org/officeDocument/2006/relationships/image" Target="../media/image167.png"/><Relationship Id="rId3" Type="http://schemas.openxmlformats.org/officeDocument/2006/relationships/image" Target="../media/image162.svg"/><Relationship Id="rId7" Type="http://schemas.openxmlformats.org/officeDocument/2006/relationships/image" Target="../media/image138.svg"/><Relationship Id="rId12" Type="http://schemas.openxmlformats.org/officeDocument/2006/relationships/image" Target="../media/image166.png"/><Relationship Id="rId2" Type="http://schemas.openxmlformats.org/officeDocument/2006/relationships/notesSlide" Target="../notesSlides/notesSlide8.xml"/><Relationship Id="rId1" Type="http://schemas.openxmlformats.org/officeDocument/2006/relationships/slideLayout" Target="../slideLayouts/slideLayout73.xml"/><Relationship Id="rId6" Type="http://schemas.openxmlformats.org/officeDocument/2006/relationships/image" Target="../media/image164.svg"/><Relationship Id="rId11" Type="http://schemas.microsoft.com/office/2007/relationships/hdphoto" Target="../media/hdphoto11.wdp"/><Relationship Id="rId5" Type="http://schemas.openxmlformats.org/officeDocument/2006/relationships/image" Target="../media/image163.png"/><Relationship Id="rId15" Type="http://schemas.openxmlformats.org/officeDocument/2006/relationships/image" Target="../media/image169.png"/><Relationship Id="rId10" Type="http://schemas.openxmlformats.org/officeDocument/2006/relationships/image" Target="../media/image165.png"/><Relationship Id="rId4" Type="http://schemas.openxmlformats.org/officeDocument/2006/relationships/image" Target="../media/image143.png"/><Relationship Id="rId9" Type="http://schemas.openxmlformats.org/officeDocument/2006/relationships/hyperlink" Target="https://www.principledtechnologies.com/Microsoft/Azure-SQL-Managed-Instance-0522.pdf" TargetMode="External"/><Relationship Id="rId14" Type="http://schemas.openxmlformats.org/officeDocument/2006/relationships/image" Target="../media/image168.png"/></Relationships>
</file>

<file path=ppt/slides/_rels/slide22.xml.rels><?xml version="1.0" encoding="UTF-8" standalone="yes"?>
<Relationships xmlns="http://schemas.openxmlformats.org/package/2006/relationships"><Relationship Id="rId8" Type="http://schemas.openxmlformats.org/officeDocument/2006/relationships/image" Target="../media/image173.svg"/><Relationship Id="rId3" Type="http://schemas.openxmlformats.org/officeDocument/2006/relationships/image" Target="../media/image113.svg"/><Relationship Id="rId7" Type="http://schemas.microsoft.com/office/2007/relationships/hdphoto" Target="../media/hdphoto12.wdp"/><Relationship Id="rId2" Type="http://schemas.openxmlformats.org/officeDocument/2006/relationships/notesSlide" Target="../notesSlides/notesSlide9.xml"/><Relationship Id="rId1" Type="http://schemas.openxmlformats.org/officeDocument/2006/relationships/slideLayout" Target="../slideLayouts/slideLayout35.xml"/><Relationship Id="rId6" Type="http://schemas.openxmlformats.org/officeDocument/2006/relationships/image" Target="../media/image172.png"/><Relationship Id="rId11" Type="http://schemas.openxmlformats.org/officeDocument/2006/relationships/image" Target="../media/image126.png"/><Relationship Id="rId5" Type="http://schemas.openxmlformats.org/officeDocument/2006/relationships/image" Target="../media/image171.png"/><Relationship Id="rId10" Type="http://schemas.openxmlformats.org/officeDocument/2006/relationships/image" Target="../media/image175.svg"/><Relationship Id="rId4" Type="http://schemas.openxmlformats.org/officeDocument/2006/relationships/image" Target="../media/image170.svg"/><Relationship Id="rId9" Type="http://schemas.openxmlformats.org/officeDocument/2006/relationships/image" Target="../media/image174.sv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18.xml"/><Relationship Id="rId5" Type="http://schemas.openxmlformats.org/officeDocument/2006/relationships/hyperlink" Target="https://www.microsoft.com/solutionassessments/" TargetMode="External"/><Relationship Id="rId4" Type="http://schemas.openxmlformats.org/officeDocument/2006/relationships/hyperlink" Target="https://learn.microsoft.com/en-us/azure/cloud-adoption-framework/migrate/?tabs=MigrationTool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18.xml"/><Relationship Id="rId4" Type="http://schemas.openxmlformats.org/officeDocument/2006/relationships/hyperlink" Target="mailto:microsoft-noreply@microsoft.com"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learn.microsoft.com/en-us/azure/cloud-adoption-framework/migrate/?tabs=MigrationTools" TargetMode="External"/><Relationship Id="rId2" Type="http://schemas.openxmlformats.org/officeDocument/2006/relationships/notesSlide" Target="../notesSlides/notesSlide10.xml"/><Relationship Id="rId1" Type="http://schemas.openxmlformats.org/officeDocument/2006/relationships/slideLayout" Target="../slideLayouts/slideLayout35.xml"/><Relationship Id="rId5" Type="http://schemas.openxmlformats.org/officeDocument/2006/relationships/hyperlink" Target="https://www.microsoft.com/azure/partners/azureofferings" TargetMode="External"/><Relationship Id="rId4" Type="http://schemas.openxmlformats.org/officeDocument/2006/relationships/hyperlink" Target="https://www.microsoft.com/solutionassessment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76.svg"/><Relationship Id="rId1" Type="http://schemas.openxmlformats.org/officeDocument/2006/relationships/slideLayout" Target="../slideLayouts/slideLayout7.xml"/><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30303"/>
        </a:solidFill>
        <a:effectLst/>
      </p:bgPr>
    </p:bg>
    <p:spTree>
      <p:nvGrpSpPr>
        <p:cNvPr id="1" name=""/>
        <p:cNvGrpSpPr/>
        <p:nvPr/>
      </p:nvGrpSpPr>
      <p:grpSpPr>
        <a:xfrm>
          <a:off x="0" y="0"/>
          <a:ext cx="0" cy="0"/>
          <a:chOff x="0" y="0"/>
          <a:chExt cx="0" cy="0"/>
        </a:xfrm>
      </p:grpSpPr>
      <p:grpSp>
        <p:nvGrpSpPr>
          <p:cNvPr id="7" name="Group 26">
            <a:extLst>
              <a:ext uri="{FF2B5EF4-FFF2-40B4-BE49-F238E27FC236}">
                <a16:creationId xmlns:a16="http://schemas.microsoft.com/office/drawing/2014/main" id="{3F752A9C-4855-AC2F-9F46-836031A2DF12}"/>
              </a:ext>
            </a:extLst>
          </p:cNvPr>
          <p:cNvGrpSpPr/>
          <p:nvPr/>
        </p:nvGrpSpPr>
        <p:grpSpPr>
          <a:xfrm rot="-5400000">
            <a:off x="15319130" y="321482"/>
            <a:ext cx="3842240" cy="1414436"/>
            <a:chOff x="0" y="0"/>
            <a:chExt cx="1103964" cy="406400"/>
          </a:xfrm>
        </p:grpSpPr>
        <p:sp>
          <p:nvSpPr>
            <p:cNvPr id="8" name="Freeform 27">
              <a:extLst>
                <a:ext uri="{FF2B5EF4-FFF2-40B4-BE49-F238E27FC236}">
                  <a16:creationId xmlns:a16="http://schemas.microsoft.com/office/drawing/2014/main" id="{81F2B49A-03C2-7783-D596-A33D68C31375}"/>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9" name="Picture 28">
            <a:extLst>
              <a:ext uri="{FF2B5EF4-FFF2-40B4-BE49-F238E27FC236}">
                <a16:creationId xmlns:a16="http://schemas.microsoft.com/office/drawing/2014/main" id="{5F12404F-380A-5412-A98F-AB8798192459}"/>
              </a:ext>
            </a:extLst>
          </p:cNvPr>
          <p:cNvPicPr>
            <a:picLocks noChangeAspect="1"/>
          </p:cNvPicPr>
          <p:nvPr/>
        </p:nvPicPr>
        <p:blipFill>
          <a:blip r:embed="rId2"/>
          <a:srcRect r="83814"/>
          <a:stretch>
            <a:fillRect/>
          </a:stretch>
        </p:blipFill>
        <p:spPr>
          <a:xfrm>
            <a:off x="16900996" y="1349160"/>
            <a:ext cx="716608" cy="1145609"/>
          </a:xfrm>
          <a:prstGeom prst="rect">
            <a:avLst/>
          </a:prstGeom>
        </p:spPr>
      </p:pic>
      <p:pic>
        <p:nvPicPr>
          <p:cNvPr id="10" name="Picture 4">
            <a:extLst>
              <a:ext uri="{FF2B5EF4-FFF2-40B4-BE49-F238E27FC236}">
                <a16:creationId xmlns:a16="http://schemas.microsoft.com/office/drawing/2014/main" id="{3AE42B9E-44E9-C62C-3A8C-D68A024ED3E4}"/>
              </a:ext>
            </a:extLst>
          </p:cNvPr>
          <p:cNvPicPr>
            <a:picLocks noChangeAspect="1"/>
          </p:cNvPicPr>
          <p:nvPr/>
        </p:nvPicPr>
        <p:blipFill>
          <a:blip r:embed="rId2"/>
          <a:srcRect/>
          <a:stretch>
            <a:fillRect/>
          </a:stretch>
        </p:blipFill>
        <p:spPr>
          <a:xfrm>
            <a:off x="584216" y="679004"/>
            <a:ext cx="2727136" cy="705647"/>
          </a:xfrm>
          <a:prstGeom prst="rect">
            <a:avLst/>
          </a:prstGeom>
        </p:spPr>
      </p:pic>
      <p:pic>
        <p:nvPicPr>
          <p:cNvPr id="12" name="Picture 11">
            <a:extLst>
              <a:ext uri="{FF2B5EF4-FFF2-40B4-BE49-F238E27FC236}">
                <a16:creationId xmlns:a16="http://schemas.microsoft.com/office/drawing/2014/main" id="{851C01D5-1449-E04C-39A3-4582752827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8901644">
            <a:off x="-1420882" y="8376220"/>
            <a:ext cx="3963935" cy="3942547"/>
          </a:xfrm>
          <a:prstGeom prst="rect">
            <a:avLst/>
          </a:prstGeom>
        </p:spPr>
      </p:pic>
      <p:pic>
        <p:nvPicPr>
          <p:cNvPr id="14" name="Picture 13">
            <a:extLst>
              <a:ext uri="{FF2B5EF4-FFF2-40B4-BE49-F238E27FC236}">
                <a16:creationId xmlns:a16="http://schemas.microsoft.com/office/drawing/2014/main" id="{B4D99503-DC78-4C49-744B-1CEB120E6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8901644">
            <a:off x="596359" y="8559874"/>
            <a:ext cx="3963935" cy="3942547"/>
          </a:xfrm>
          <a:prstGeom prst="rect">
            <a:avLst/>
          </a:prstGeom>
        </p:spPr>
      </p:pic>
      <p:sp>
        <p:nvSpPr>
          <p:cNvPr id="2" name="TextBox 5">
            <a:extLst>
              <a:ext uri="{FF2B5EF4-FFF2-40B4-BE49-F238E27FC236}">
                <a16:creationId xmlns:a16="http://schemas.microsoft.com/office/drawing/2014/main" id="{E322D0EF-5356-F2AA-B9C9-520DBD50037F}"/>
              </a:ext>
            </a:extLst>
          </p:cNvPr>
          <p:cNvSpPr txBox="1"/>
          <p:nvPr/>
        </p:nvSpPr>
        <p:spPr>
          <a:xfrm>
            <a:off x="584216" y="3779393"/>
            <a:ext cx="17033388" cy="1038746"/>
          </a:xfrm>
          <a:prstGeom prst="rect">
            <a:avLst/>
          </a:prstGeom>
        </p:spPr>
        <p:txBody>
          <a:bodyPr wrap="square" lIns="0" tIns="0" rIns="0" bIns="0" rtlCol="0" anchor="t">
            <a:spAutoFit/>
          </a:bodyPr>
          <a:lstStyle/>
          <a:p>
            <a:pPr lvl="0" algn="ctr">
              <a:lnSpc>
                <a:spcPts val="8082"/>
              </a:lnSpc>
              <a:defRPr/>
            </a:pPr>
            <a:r>
              <a:rPr lang="en-US" sz="8000" spc="-50" dirty="0">
                <a:ln w="3175">
                  <a:noFill/>
                </a:ln>
                <a:solidFill>
                  <a:srgbClr val="00B0F0"/>
                </a:solidFill>
                <a:latin typeface="Segoe UI" panose="020B0502040204020203" pitchFamily="34" charset="0"/>
                <a:cs typeface="Segoe UI" panose="020B0502040204020203" pitchFamily="34" charset="0"/>
              </a:rPr>
              <a:t>Azure </a:t>
            </a:r>
            <a:r>
              <a:rPr kumimoji="0" lang="en-US" sz="8000" b="0" i="0" u="none" strike="noStrike" kern="1200" cap="none" spc="-50" normalizeH="0" baseline="0" noProof="0" dirty="0">
                <a:ln w="3175">
                  <a:noFill/>
                </a:ln>
                <a:solidFill>
                  <a:srgbClr val="00B0F0"/>
                </a:solidFill>
                <a:effectLst/>
                <a:uLnTx/>
                <a:uFillTx/>
                <a:latin typeface="Segoe UI" panose="020B0502040204020203" pitchFamily="34" charset="0"/>
                <a:cs typeface="Segoe UI" panose="020B0502040204020203" pitchFamily="34" charset="0"/>
              </a:rPr>
              <a:t>Migrate </a:t>
            </a:r>
            <a:r>
              <a:rPr lang="en-US" sz="8000" spc="-50" dirty="0">
                <a:ln w="3175">
                  <a:noFill/>
                </a:ln>
                <a:solidFill>
                  <a:srgbClr val="00B0F0"/>
                </a:solidFill>
                <a:latin typeface="Segoe UI" panose="020B0502040204020203" pitchFamily="34" charset="0"/>
                <a:cs typeface="Segoe UI" panose="020B0502040204020203" pitchFamily="34" charset="0"/>
              </a:rPr>
              <a:t>&amp; Modernize</a:t>
            </a:r>
          </a:p>
        </p:txBody>
      </p:sp>
      <p:sp>
        <p:nvSpPr>
          <p:cNvPr id="3" name="TextBox 5">
            <a:extLst>
              <a:ext uri="{FF2B5EF4-FFF2-40B4-BE49-F238E27FC236}">
                <a16:creationId xmlns:a16="http://schemas.microsoft.com/office/drawing/2014/main" id="{A20750A2-07CB-0F29-1830-3F18CE94228A}"/>
              </a:ext>
            </a:extLst>
          </p:cNvPr>
          <p:cNvSpPr txBox="1"/>
          <p:nvPr/>
        </p:nvSpPr>
        <p:spPr>
          <a:xfrm>
            <a:off x="496459" y="4614003"/>
            <a:ext cx="17121145" cy="905441"/>
          </a:xfrm>
          <a:prstGeom prst="rect">
            <a:avLst/>
          </a:prstGeom>
        </p:spPr>
        <p:txBody>
          <a:bodyPr wrap="square" lIns="0" tIns="0" rIns="0" bIns="0" rtlCol="0" anchor="t">
            <a:spAutoFit/>
          </a:bodyPr>
          <a:lstStyle/>
          <a:p>
            <a:pPr marL="0" marR="0" lvl="0" indent="0" algn="ctr" defTabSz="914400" rtl="0" eaLnBrk="1" fontAlgn="auto" latinLnBrk="0" hangingPunct="1">
              <a:lnSpc>
                <a:spcPts val="8082"/>
              </a:lnSpc>
              <a:spcBef>
                <a:spcPts val="0"/>
              </a:spcBef>
              <a:spcAft>
                <a:spcPts val="0"/>
              </a:spcAft>
              <a:buClrTx/>
              <a:buSzTx/>
              <a:buFontTx/>
              <a:buNone/>
              <a:tabLst/>
              <a:defRPr/>
            </a:pPr>
            <a:r>
              <a:rPr kumimoji="0" lang="en-US" sz="3200" b="0" i="0" u="none" strike="noStrike" kern="1200" cap="none" spc="-50" normalizeH="0" baseline="0" noProof="0" dirty="0">
                <a:ln w="3175">
                  <a:noFill/>
                </a:ln>
                <a:solidFill>
                  <a:schemeClr val="bg1"/>
                </a:solidFill>
                <a:effectLst/>
                <a:uLnTx/>
                <a:uFillTx/>
                <a:latin typeface="Segoe UI Semibold"/>
                <a:ea typeface="+mn-ea"/>
                <a:cs typeface="Segoe UI" pitchFamily="34" charset="0"/>
              </a:rPr>
              <a:t>Optimizing </a:t>
            </a:r>
            <a:r>
              <a:rPr kumimoji="0" lang="en-US" sz="3200" b="0" i="0" u="none" strike="noStrike" kern="1200" cap="none" spc="-50" normalizeH="0" baseline="0" noProof="0" dirty="0">
                <a:ln w="3175">
                  <a:noFill/>
                </a:ln>
                <a:solidFill>
                  <a:srgbClr val="FFC000"/>
                </a:solidFill>
                <a:effectLst/>
                <a:uLnTx/>
                <a:uFillTx/>
                <a:latin typeface="Segoe UI Semibold"/>
                <a:ea typeface="+mn-ea"/>
                <a:cs typeface="Segoe UI" pitchFamily="34" charset="0"/>
              </a:rPr>
              <a:t>IT Infrastructure </a:t>
            </a:r>
            <a:r>
              <a:rPr kumimoji="0" lang="en-US" sz="3200" b="0" i="0" u="none" strike="noStrike" kern="1200" cap="none" spc="-50" normalizeH="0" baseline="0" noProof="0" dirty="0">
                <a:ln w="3175">
                  <a:noFill/>
                </a:ln>
                <a:solidFill>
                  <a:schemeClr val="bg1"/>
                </a:solidFill>
                <a:effectLst/>
                <a:uLnTx/>
                <a:uFillTx/>
                <a:latin typeface="Segoe UI Semibold"/>
                <a:ea typeface="+mn-ea"/>
                <a:cs typeface="Segoe UI" pitchFamily="34" charset="0"/>
              </a:rPr>
              <a:t>for Agility, Security, and Cost Efficiency</a:t>
            </a:r>
            <a:endParaRPr lang="en-US" sz="3200" dirty="0">
              <a:solidFill>
                <a:schemeClr val="bg1"/>
              </a:solidFill>
              <a:latin typeface="Lato Bold Bold"/>
            </a:endParaRPr>
          </a:p>
        </p:txBody>
      </p:sp>
    </p:spTree>
    <p:extLst>
      <p:ext uri="{BB962C8B-B14F-4D97-AF65-F5344CB8AC3E}">
        <p14:creationId xmlns:p14="http://schemas.microsoft.com/office/powerpoint/2010/main" val="2077211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
            <a:extLst>
              <a:ext uri="{FF2B5EF4-FFF2-40B4-BE49-F238E27FC236}">
                <a16:creationId xmlns:a16="http://schemas.microsoft.com/office/drawing/2014/main" id="{4F20E47E-88D2-1E50-D10F-5B8E9FE17C63}"/>
              </a:ext>
            </a:extLst>
          </p:cNvPr>
          <p:cNvPicPr>
            <a:picLocks noChangeAspect="1"/>
          </p:cNvPicPr>
          <p:nvPr/>
        </p:nvPicPr>
        <p:blipFill>
          <a:blip r:embed="rId2"/>
          <a:srcRect/>
          <a:stretch>
            <a:fillRect/>
          </a:stretch>
        </p:blipFill>
        <p:spPr>
          <a:xfrm>
            <a:off x="287016" y="318964"/>
            <a:ext cx="2634245" cy="694782"/>
          </a:xfrm>
          <a:prstGeom prst="rect">
            <a:avLst/>
          </a:prstGeom>
        </p:spPr>
      </p:pic>
      <p:grpSp>
        <p:nvGrpSpPr>
          <p:cNvPr id="37" name="Group 26">
            <a:extLst>
              <a:ext uri="{FF2B5EF4-FFF2-40B4-BE49-F238E27FC236}">
                <a16:creationId xmlns:a16="http://schemas.microsoft.com/office/drawing/2014/main" id="{44EB6753-6BB4-3271-D601-B5AF47A5BE0E}"/>
              </a:ext>
            </a:extLst>
          </p:cNvPr>
          <p:cNvGrpSpPr/>
          <p:nvPr/>
        </p:nvGrpSpPr>
        <p:grpSpPr>
          <a:xfrm rot="-5400000">
            <a:off x="15319130" y="138898"/>
            <a:ext cx="3842240" cy="1414436"/>
            <a:chOff x="0" y="0"/>
            <a:chExt cx="1103964" cy="406400"/>
          </a:xfrm>
        </p:grpSpPr>
        <p:sp>
          <p:nvSpPr>
            <p:cNvPr id="38" name="Freeform 27">
              <a:extLst>
                <a:ext uri="{FF2B5EF4-FFF2-40B4-BE49-F238E27FC236}">
                  <a16:creationId xmlns:a16="http://schemas.microsoft.com/office/drawing/2014/main" id="{2F87B2ED-3098-5CE0-1645-C50902E97B81}"/>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endParaRPr lang="en-US"/>
            </a:p>
          </p:txBody>
        </p:sp>
      </p:grpSp>
      <p:pic>
        <p:nvPicPr>
          <p:cNvPr id="39" name="Picture 28">
            <a:extLst>
              <a:ext uri="{FF2B5EF4-FFF2-40B4-BE49-F238E27FC236}">
                <a16:creationId xmlns:a16="http://schemas.microsoft.com/office/drawing/2014/main" id="{E25F1718-E75B-D585-F813-C6B7A52F9AC8}"/>
              </a:ext>
            </a:extLst>
          </p:cNvPr>
          <p:cNvPicPr>
            <a:picLocks noChangeAspect="1"/>
          </p:cNvPicPr>
          <p:nvPr/>
        </p:nvPicPr>
        <p:blipFill>
          <a:blip r:embed="rId3"/>
          <a:srcRect r="83814"/>
          <a:stretch>
            <a:fillRect/>
          </a:stretch>
        </p:blipFill>
        <p:spPr>
          <a:xfrm>
            <a:off x="16900996" y="1166576"/>
            <a:ext cx="716608" cy="1145609"/>
          </a:xfrm>
          <a:prstGeom prst="rect">
            <a:avLst/>
          </a:prstGeom>
        </p:spPr>
      </p:pic>
      <p:sp>
        <p:nvSpPr>
          <p:cNvPr id="2" name="TextBox 1">
            <a:extLst>
              <a:ext uri="{FF2B5EF4-FFF2-40B4-BE49-F238E27FC236}">
                <a16:creationId xmlns:a16="http://schemas.microsoft.com/office/drawing/2014/main" id="{5D82591C-1314-A8B0-AFF4-CCB534B52767}"/>
              </a:ext>
            </a:extLst>
          </p:cNvPr>
          <p:cNvSpPr txBox="1"/>
          <p:nvPr/>
        </p:nvSpPr>
        <p:spPr>
          <a:xfrm>
            <a:off x="2590138" y="849378"/>
            <a:ext cx="13107655" cy="769441"/>
          </a:xfrm>
          <a:prstGeom prst="rect">
            <a:avLst/>
          </a:prstGeom>
          <a:noFill/>
        </p:spPr>
        <p:txBody>
          <a:bodyPr wrap="square">
            <a:spAutoFit/>
          </a:bodyPr>
          <a:lstStyle/>
          <a:p>
            <a:pPr algn="ctr">
              <a:buClr>
                <a:schemeClr val="dk1"/>
              </a:buClr>
              <a:buSzPts val="1100"/>
            </a:pPr>
            <a:r>
              <a:rPr lang="en-US" sz="4400" b="1" dirty="0">
                <a:solidFill>
                  <a:srgbClr val="00953A"/>
                </a:solidFill>
                <a:latin typeface="Segoe UI Semibold" panose="020B0702040204020203" pitchFamily="34" charset="0"/>
                <a:ea typeface="Roboto Condensed"/>
                <a:cs typeface="Segoe UI Semibold" panose="020B0702040204020203" pitchFamily="34" charset="0"/>
                <a:sym typeface="Roboto Condensed"/>
              </a:rPr>
              <a:t>About Redington |  </a:t>
            </a:r>
            <a:r>
              <a:rPr lang="en-US" sz="4400" b="1" dirty="0">
                <a:solidFill>
                  <a:srgbClr val="002060"/>
                </a:solidFill>
                <a:latin typeface="Segoe UI Semibold" panose="020B0702040204020203" pitchFamily="34" charset="0"/>
                <a:ea typeface="Roboto Condensed"/>
                <a:cs typeface="Segoe UI Semibold" panose="020B0702040204020203" pitchFamily="34" charset="0"/>
                <a:sym typeface="Roboto Condensed"/>
              </a:rPr>
              <a:t>Who we are ?</a:t>
            </a:r>
          </a:p>
        </p:txBody>
      </p:sp>
      <p:grpSp>
        <p:nvGrpSpPr>
          <p:cNvPr id="99" name="Google Shape;207;p56">
            <a:extLst>
              <a:ext uri="{FF2B5EF4-FFF2-40B4-BE49-F238E27FC236}">
                <a16:creationId xmlns:a16="http://schemas.microsoft.com/office/drawing/2014/main" id="{67BB4F5E-FD29-0AE8-77D2-F28479747105}"/>
              </a:ext>
            </a:extLst>
          </p:cNvPr>
          <p:cNvGrpSpPr/>
          <p:nvPr/>
        </p:nvGrpSpPr>
        <p:grpSpPr>
          <a:xfrm>
            <a:off x="1382181" y="3531827"/>
            <a:ext cx="4109796" cy="1993208"/>
            <a:chOff x="2369814" y="3569473"/>
            <a:chExt cx="2238938" cy="1555977"/>
          </a:xfrm>
        </p:grpSpPr>
        <p:sp>
          <p:nvSpPr>
            <p:cNvPr id="100" name="Google Shape;208;p56">
              <a:extLst>
                <a:ext uri="{FF2B5EF4-FFF2-40B4-BE49-F238E27FC236}">
                  <a16:creationId xmlns:a16="http://schemas.microsoft.com/office/drawing/2014/main" id="{8F88AC56-0CDC-504A-414F-30B5ACC935A9}"/>
                </a:ext>
              </a:extLst>
            </p:cNvPr>
            <p:cNvSpPr/>
            <p:nvPr/>
          </p:nvSpPr>
          <p:spPr>
            <a:xfrm>
              <a:off x="2369814" y="3607098"/>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01" name="Google Shape;209;p56">
              <a:extLst>
                <a:ext uri="{FF2B5EF4-FFF2-40B4-BE49-F238E27FC236}">
                  <a16:creationId xmlns:a16="http://schemas.microsoft.com/office/drawing/2014/main" id="{3886F4E6-13E2-3AEB-501F-54BEEAAC8629}"/>
                </a:ext>
              </a:extLst>
            </p:cNvPr>
            <p:cNvSpPr/>
            <p:nvPr/>
          </p:nvSpPr>
          <p:spPr>
            <a:xfrm>
              <a:off x="2715613" y="3569473"/>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02" name="Google Shape;210;p56">
              <a:extLst>
                <a:ext uri="{FF2B5EF4-FFF2-40B4-BE49-F238E27FC236}">
                  <a16:creationId xmlns:a16="http://schemas.microsoft.com/office/drawing/2014/main" id="{7E3D8A93-4EB5-00CA-5650-77424D6727EA}"/>
                </a:ext>
              </a:extLst>
            </p:cNvPr>
            <p:cNvSpPr txBox="1"/>
            <p:nvPr/>
          </p:nvSpPr>
          <p:spPr>
            <a:xfrm>
              <a:off x="2369852" y="4296550"/>
              <a:ext cx="2238900" cy="828900"/>
            </a:xfrm>
            <a:prstGeom prst="rect">
              <a:avLst/>
            </a:prstGeom>
            <a:noFill/>
            <a:ln>
              <a:noFill/>
            </a:ln>
          </p:spPr>
          <p:txBody>
            <a:bodyPr spcFirstLastPara="1" wrap="square" lIns="182850" tIns="182850" rIns="182850" bIns="182850" anchor="t" anchorCtr="0">
              <a:noAutofit/>
            </a:bodyPr>
            <a:lstStyle/>
            <a:p>
              <a:pPr algn="ctr"/>
              <a:r>
                <a:rPr lang="en" sz="2201">
                  <a:latin typeface="Lato"/>
                  <a:ea typeface="Lato"/>
                  <a:cs typeface="Lato"/>
                  <a:sym typeface="Lato"/>
                </a:rPr>
                <a:t>Distribution &amp; Supply Chain Solution Providers</a:t>
              </a:r>
              <a:endParaRPr sz="2201">
                <a:latin typeface="Lato"/>
                <a:ea typeface="Lato"/>
                <a:cs typeface="Lato"/>
                <a:sym typeface="Lato"/>
              </a:endParaRPr>
            </a:p>
          </p:txBody>
        </p:sp>
        <p:sp>
          <p:nvSpPr>
            <p:cNvPr id="103" name="Google Shape;211;p56">
              <a:extLst>
                <a:ext uri="{FF2B5EF4-FFF2-40B4-BE49-F238E27FC236}">
                  <a16:creationId xmlns:a16="http://schemas.microsoft.com/office/drawing/2014/main" id="{AF4DCB7B-14AF-38AC-1144-3911BB1FAFC7}"/>
                </a:ext>
              </a:extLst>
            </p:cNvPr>
            <p:cNvSpPr txBox="1"/>
            <p:nvPr/>
          </p:nvSpPr>
          <p:spPr>
            <a:xfrm>
              <a:off x="2547531" y="3660002"/>
              <a:ext cx="1883400" cy="864898"/>
            </a:xfrm>
            <a:prstGeom prst="rect">
              <a:avLst/>
            </a:prstGeom>
            <a:noFill/>
            <a:ln>
              <a:noFill/>
            </a:ln>
          </p:spPr>
          <p:txBody>
            <a:bodyPr spcFirstLastPara="1" wrap="square" lIns="182850" tIns="182850" rIns="182850" bIns="182850" anchor="t" anchorCtr="0">
              <a:spAutoFit/>
            </a:bodyPr>
            <a:lstStyle/>
            <a:p>
              <a:pPr algn="ctr"/>
              <a:r>
                <a:rPr lang="en" sz="4800" b="1" dirty="0">
                  <a:solidFill>
                    <a:srgbClr val="00953A"/>
                  </a:solidFill>
                  <a:latin typeface="Roboto Condensed"/>
                  <a:ea typeface="Roboto Condensed"/>
                  <a:cs typeface="Roboto Condensed"/>
                  <a:sym typeface="Roboto Condensed"/>
                </a:rPr>
                <a:t>~$10 Billion</a:t>
              </a:r>
              <a:endParaRPr sz="4800" b="1" dirty="0">
                <a:solidFill>
                  <a:srgbClr val="00953A"/>
                </a:solidFill>
                <a:latin typeface="Roboto Condensed"/>
                <a:ea typeface="Roboto Condensed"/>
                <a:cs typeface="Roboto Condensed"/>
                <a:sym typeface="Roboto Condensed"/>
              </a:endParaRPr>
            </a:p>
          </p:txBody>
        </p:sp>
      </p:grpSp>
      <p:grpSp>
        <p:nvGrpSpPr>
          <p:cNvPr id="104" name="Google Shape;212;p56">
            <a:extLst>
              <a:ext uri="{FF2B5EF4-FFF2-40B4-BE49-F238E27FC236}">
                <a16:creationId xmlns:a16="http://schemas.microsoft.com/office/drawing/2014/main" id="{C73DFFB9-6FF9-48CD-B338-243FB402574C}"/>
              </a:ext>
            </a:extLst>
          </p:cNvPr>
          <p:cNvGrpSpPr/>
          <p:nvPr/>
        </p:nvGrpSpPr>
        <p:grpSpPr>
          <a:xfrm>
            <a:off x="6999723" y="3352152"/>
            <a:ext cx="4355634" cy="2129387"/>
            <a:chOff x="2321120" y="3429214"/>
            <a:chExt cx="2372865" cy="1662284"/>
          </a:xfrm>
        </p:grpSpPr>
        <p:sp>
          <p:nvSpPr>
            <p:cNvPr id="105" name="Google Shape;213;p56">
              <a:extLst>
                <a:ext uri="{FF2B5EF4-FFF2-40B4-BE49-F238E27FC236}">
                  <a16:creationId xmlns:a16="http://schemas.microsoft.com/office/drawing/2014/main" id="{9B918DEE-1681-7E7B-43F0-B021347134E3}"/>
                </a:ext>
              </a:extLst>
            </p:cNvPr>
            <p:cNvSpPr/>
            <p:nvPr/>
          </p:nvSpPr>
          <p:spPr>
            <a:xfrm>
              <a:off x="2369812" y="3607098"/>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06" name="Google Shape;214;p56">
              <a:extLst>
                <a:ext uri="{FF2B5EF4-FFF2-40B4-BE49-F238E27FC236}">
                  <a16:creationId xmlns:a16="http://schemas.microsoft.com/office/drawing/2014/main" id="{49F0A31E-33C4-2C47-49F3-0EF792253570}"/>
                </a:ext>
              </a:extLst>
            </p:cNvPr>
            <p:cNvSpPr/>
            <p:nvPr/>
          </p:nvSpPr>
          <p:spPr>
            <a:xfrm>
              <a:off x="2715611" y="3569472"/>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07" name="Google Shape;215;p56">
              <a:extLst>
                <a:ext uri="{FF2B5EF4-FFF2-40B4-BE49-F238E27FC236}">
                  <a16:creationId xmlns:a16="http://schemas.microsoft.com/office/drawing/2014/main" id="{EAFB8ADB-24A5-68BF-9EAF-3C7D2C0729BE}"/>
                </a:ext>
              </a:extLst>
            </p:cNvPr>
            <p:cNvSpPr txBox="1"/>
            <p:nvPr/>
          </p:nvSpPr>
          <p:spPr>
            <a:xfrm>
              <a:off x="2321120" y="3997345"/>
              <a:ext cx="2238900" cy="828900"/>
            </a:xfrm>
            <a:prstGeom prst="rect">
              <a:avLst/>
            </a:prstGeom>
            <a:noFill/>
            <a:ln>
              <a:noFill/>
            </a:ln>
          </p:spPr>
          <p:txBody>
            <a:bodyPr spcFirstLastPara="1" wrap="square" lIns="182850" tIns="182850" rIns="182850" bIns="182850" anchor="t" anchorCtr="0">
              <a:noAutofit/>
            </a:bodyPr>
            <a:lstStyle/>
            <a:p>
              <a:pPr algn="ctr"/>
              <a:r>
                <a:rPr lang="en" sz="2201" dirty="0">
                  <a:latin typeface="Lato"/>
                  <a:ea typeface="Lato"/>
                  <a:cs typeface="Lato"/>
                  <a:sym typeface="Lato"/>
                </a:rPr>
                <a:t>International Brands in IT,  Mobility, Cloud Solution &amp; Services </a:t>
              </a:r>
              <a:endParaRPr sz="2201" dirty="0">
                <a:latin typeface="Lato"/>
                <a:ea typeface="Lato"/>
                <a:cs typeface="Lato"/>
                <a:sym typeface="Lato"/>
              </a:endParaRPr>
            </a:p>
          </p:txBody>
        </p:sp>
        <p:sp>
          <p:nvSpPr>
            <p:cNvPr id="108" name="Google Shape;216;p56">
              <a:extLst>
                <a:ext uri="{FF2B5EF4-FFF2-40B4-BE49-F238E27FC236}">
                  <a16:creationId xmlns:a16="http://schemas.microsoft.com/office/drawing/2014/main" id="{5710066B-29BC-CB5E-3C04-97135A7A5E44}"/>
                </a:ext>
              </a:extLst>
            </p:cNvPr>
            <p:cNvSpPr txBox="1"/>
            <p:nvPr/>
          </p:nvSpPr>
          <p:spPr>
            <a:xfrm>
              <a:off x="2455085" y="3429214"/>
              <a:ext cx="2238900" cy="864898"/>
            </a:xfrm>
            <a:prstGeom prst="rect">
              <a:avLst/>
            </a:prstGeom>
            <a:noFill/>
            <a:ln>
              <a:noFill/>
            </a:ln>
          </p:spPr>
          <p:txBody>
            <a:bodyPr spcFirstLastPara="1" wrap="square" lIns="182850" tIns="182850" rIns="182850" bIns="182850" anchor="t" anchorCtr="0">
              <a:spAutoFit/>
            </a:bodyPr>
            <a:lstStyle/>
            <a:p>
              <a:pPr algn="ctr"/>
              <a:r>
                <a:rPr lang="en" sz="4800" b="1">
                  <a:solidFill>
                    <a:srgbClr val="00953A"/>
                  </a:solidFill>
                  <a:latin typeface="Roboto Condensed"/>
                  <a:ea typeface="Roboto Condensed"/>
                  <a:cs typeface="Roboto Condensed"/>
                  <a:sym typeface="Roboto Condensed"/>
                </a:rPr>
                <a:t>290+</a:t>
              </a:r>
              <a:endParaRPr sz="4800" b="1">
                <a:solidFill>
                  <a:srgbClr val="00953A"/>
                </a:solidFill>
                <a:latin typeface="Roboto Condensed"/>
                <a:ea typeface="Roboto Condensed"/>
                <a:cs typeface="Roboto Condensed"/>
                <a:sym typeface="Roboto Condensed"/>
              </a:endParaRPr>
            </a:p>
          </p:txBody>
        </p:sp>
      </p:grpSp>
      <p:grpSp>
        <p:nvGrpSpPr>
          <p:cNvPr id="109" name="Google Shape;217;p56">
            <a:extLst>
              <a:ext uri="{FF2B5EF4-FFF2-40B4-BE49-F238E27FC236}">
                <a16:creationId xmlns:a16="http://schemas.microsoft.com/office/drawing/2014/main" id="{B7AC8986-1404-10CE-2E3F-A08DB1EF1DFC}"/>
              </a:ext>
            </a:extLst>
          </p:cNvPr>
          <p:cNvGrpSpPr/>
          <p:nvPr/>
        </p:nvGrpSpPr>
        <p:grpSpPr>
          <a:xfrm>
            <a:off x="12796052" y="3531819"/>
            <a:ext cx="4109772" cy="1949715"/>
            <a:chOff x="2369813" y="3569473"/>
            <a:chExt cx="2238926" cy="1522026"/>
          </a:xfrm>
        </p:grpSpPr>
        <p:sp>
          <p:nvSpPr>
            <p:cNvPr id="110" name="Google Shape;218;p56">
              <a:extLst>
                <a:ext uri="{FF2B5EF4-FFF2-40B4-BE49-F238E27FC236}">
                  <a16:creationId xmlns:a16="http://schemas.microsoft.com/office/drawing/2014/main" id="{7361C84A-2816-66BD-A75F-DF47AE1FC96C}"/>
                </a:ext>
              </a:extLst>
            </p:cNvPr>
            <p:cNvSpPr/>
            <p:nvPr/>
          </p:nvSpPr>
          <p:spPr>
            <a:xfrm>
              <a:off x="2369813" y="3607099"/>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11" name="Google Shape;219;p56">
              <a:extLst>
                <a:ext uri="{FF2B5EF4-FFF2-40B4-BE49-F238E27FC236}">
                  <a16:creationId xmlns:a16="http://schemas.microsoft.com/office/drawing/2014/main" id="{CF6078E9-378D-D55B-343A-9CBBE486AB44}"/>
                </a:ext>
              </a:extLst>
            </p:cNvPr>
            <p:cNvSpPr/>
            <p:nvPr/>
          </p:nvSpPr>
          <p:spPr>
            <a:xfrm>
              <a:off x="2715612" y="3569473"/>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12" name="Google Shape;220;p56">
              <a:extLst>
                <a:ext uri="{FF2B5EF4-FFF2-40B4-BE49-F238E27FC236}">
                  <a16:creationId xmlns:a16="http://schemas.microsoft.com/office/drawing/2014/main" id="{862C946A-D857-BF8E-FC2C-E9CBAF4BC8E0}"/>
                </a:ext>
              </a:extLst>
            </p:cNvPr>
            <p:cNvSpPr txBox="1"/>
            <p:nvPr/>
          </p:nvSpPr>
          <p:spPr>
            <a:xfrm>
              <a:off x="2369839" y="4415515"/>
              <a:ext cx="2238900" cy="528000"/>
            </a:xfrm>
            <a:prstGeom prst="rect">
              <a:avLst/>
            </a:prstGeom>
            <a:noFill/>
            <a:ln>
              <a:noFill/>
            </a:ln>
          </p:spPr>
          <p:txBody>
            <a:bodyPr spcFirstLastPara="1" wrap="square" lIns="182850" tIns="182850" rIns="182850" bIns="182850" anchor="t" anchorCtr="0">
              <a:noAutofit/>
            </a:bodyPr>
            <a:lstStyle/>
            <a:p>
              <a:pPr algn="ctr"/>
              <a:r>
                <a:rPr lang="en" sz="2201">
                  <a:latin typeface="Lato"/>
                  <a:ea typeface="Lato"/>
                  <a:cs typeface="Lato"/>
                  <a:sym typeface="Lato"/>
                </a:rPr>
                <a:t>Emerging Markets</a:t>
              </a:r>
              <a:endParaRPr sz="2201">
                <a:latin typeface="Lato"/>
                <a:ea typeface="Lato"/>
                <a:cs typeface="Lato"/>
                <a:sym typeface="Lato"/>
              </a:endParaRPr>
            </a:p>
          </p:txBody>
        </p:sp>
        <p:sp>
          <p:nvSpPr>
            <p:cNvPr id="113" name="Google Shape;221;p56">
              <a:extLst>
                <a:ext uri="{FF2B5EF4-FFF2-40B4-BE49-F238E27FC236}">
                  <a16:creationId xmlns:a16="http://schemas.microsoft.com/office/drawing/2014/main" id="{96678040-F06A-3BF9-AE5C-4B1501A38C01}"/>
                </a:ext>
              </a:extLst>
            </p:cNvPr>
            <p:cNvSpPr txBox="1"/>
            <p:nvPr/>
          </p:nvSpPr>
          <p:spPr>
            <a:xfrm>
              <a:off x="2369813" y="3660015"/>
              <a:ext cx="2238900" cy="864899"/>
            </a:xfrm>
            <a:prstGeom prst="rect">
              <a:avLst/>
            </a:prstGeom>
            <a:noFill/>
            <a:ln>
              <a:noFill/>
            </a:ln>
          </p:spPr>
          <p:txBody>
            <a:bodyPr spcFirstLastPara="1" wrap="square" lIns="182850" tIns="182850" rIns="182850" bIns="182850" anchor="t" anchorCtr="0">
              <a:spAutoFit/>
            </a:bodyPr>
            <a:lstStyle/>
            <a:p>
              <a:pPr algn="ctr"/>
              <a:r>
                <a:rPr lang="en" sz="4800" b="1">
                  <a:solidFill>
                    <a:srgbClr val="00953A"/>
                  </a:solidFill>
                  <a:latin typeface="Roboto Condensed"/>
                  <a:ea typeface="Roboto Condensed"/>
                  <a:cs typeface="Roboto Condensed"/>
                  <a:sym typeface="Roboto Condensed"/>
                </a:rPr>
                <a:t>40+</a:t>
              </a:r>
              <a:endParaRPr sz="4800" b="1">
                <a:solidFill>
                  <a:srgbClr val="00953A"/>
                </a:solidFill>
                <a:latin typeface="Roboto Condensed"/>
                <a:ea typeface="Roboto Condensed"/>
                <a:cs typeface="Roboto Condensed"/>
                <a:sym typeface="Roboto Condensed"/>
              </a:endParaRPr>
            </a:p>
          </p:txBody>
        </p:sp>
      </p:grpSp>
      <p:sp>
        <p:nvSpPr>
          <p:cNvPr id="114" name="Google Shape;222;p56">
            <a:extLst>
              <a:ext uri="{FF2B5EF4-FFF2-40B4-BE49-F238E27FC236}">
                <a16:creationId xmlns:a16="http://schemas.microsoft.com/office/drawing/2014/main" id="{17FED1FA-49F0-4A9D-D34F-43402D2F023E}"/>
              </a:ext>
            </a:extLst>
          </p:cNvPr>
          <p:cNvSpPr txBox="1"/>
          <p:nvPr/>
        </p:nvSpPr>
        <p:spPr>
          <a:xfrm>
            <a:off x="1014200" y="5887167"/>
            <a:ext cx="15598394" cy="1537668"/>
          </a:xfrm>
          <a:prstGeom prst="rect">
            <a:avLst/>
          </a:prstGeom>
          <a:noFill/>
          <a:ln>
            <a:noFill/>
          </a:ln>
        </p:spPr>
        <p:txBody>
          <a:bodyPr spcFirstLastPara="1" wrap="square" lIns="182850" tIns="182850" rIns="182850" bIns="182850" anchor="t" anchorCtr="0">
            <a:spAutoFit/>
          </a:bodyPr>
          <a:lstStyle/>
          <a:p>
            <a:pPr algn="ctr">
              <a:lnSpc>
                <a:spcPct val="115000"/>
              </a:lnSpc>
            </a:pPr>
            <a:r>
              <a:rPr lang="en" sz="2201">
                <a:latin typeface="Lato"/>
                <a:ea typeface="Lato"/>
                <a:cs typeface="Lato"/>
                <a:sym typeface="Lato"/>
              </a:rPr>
              <a:t>We distribute products from over 40 leading manufacturers through our subsidiaries and service over 34,000 channel partners globally. The company is the second-largest distributor of IT products in India and the largest in the Middle East and Africa.</a:t>
            </a:r>
            <a:endParaRPr sz="2201">
              <a:latin typeface="Lato"/>
              <a:ea typeface="Lato"/>
              <a:cs typeface="Lato"/>
              <a:sym typeface="Lato"/>
            </a:endParaRPr>
          </a:p>
        </p:txBody>
      </p:sp>
      <p:grpSp>
        <p:nvGrpSpPr>
          <p:cNvPr id="115" name="Google Shape;223;p56">
            <a:extLst>
              <a:ext uri="{FF2B5EF4-FFF2-40B4-BE49-F238E27FC236}">
                <a16:creationId xmlns:a16="http://schemas.microsoft.com/office/drawing/2014/main" id="{B6821D37-C9FD-65E3-F820-6D97FF24136A}"/>
              </a:ext>
            </a:extLst>
          </p:cNvPr>
          <p:cNvGrpSpPr/>
          <p:nvPr/>
        </p:nvGrpSpPr>
        <p:grpSpPr>
          <a:xfrm>
            <a:off x="1451482" y="7424837"/>
            <a:ext cx="4109798" cy="1993208"/>
            <a:chOff x="2369813" y="3569473"/>
            <a:chExt cx="2238939" cy="1555977"/>
          </a:xfrm>
        </p:grpSpPr>
        <p:sp>
          <p:nvSpPr>
            <p:cNvPr id="116" name="Google Shape;224;p56">
              <a:extLst>
                <a:ext uri="{FF2B5EF4-FFF2-40B4-BE49-F238E27FC236}">
                  <a16:creationId xmlns:a16="http://schemas.microsoft.com/office/drawing/2014/main" id="{6B69D955-B8F4-87B8-3C8D-B52BBF43AA2B}"/>
                </a:ext>
              </a:extLst>
            </p:cNvPr>
            <p:cNvSpPr/>
            <p:nvPr/>
          </p:nvSpPr>
          <p:spPr>
            <a:xfrm>
              <a:off x="2369814" y="3607099"/>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17" name="Google Shape;225;p56">
              <a:extLst>
                <a:ext uri="{FF2B5EF4-FFF2-40B4-BE49-F238E27FC236}">
                  <a16:creationId xmlns:a16="http://schemas.microsoft.com/office/drawing/2014/main" id="{AED05AC7-5CF0-332A-D716-8BBB1C0D68AF}"/>
                </a:ext>
              </a:extLst>
            </p:cNvPr>
            <p:cNvSpPr/>
            <p:nvPr/>
          </p:nvSpPr>
          <p:spPr>
            <a:xfrm>
              <a:off x="2715613" y="3569473"/>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18" name="Google Shape;226;p56">
              <a:extLst>
                <a:ext uri="{FF2B5EF4-FFF2-40B4-BE49-F238E27FC236}">
                  <a16:creationId xmlns:a16="http://schemas.microsoft.com/office/drawing/2014/main" id="{B2BC36EF-713A-5F19-09AD-DE61274A5EB8}"/>
                </a:ext>
              </a:extLst>
            </p:cNvPr>
            <p:cNvSpPr txBox="1"/>
            <p:nvPr/>
          </p:nvSpPr>
          <p:spPr>
            <a:xfrm>
              <a:off x="2369852" y="4296550"/>
              <a:ext cx="2238900" cy="828900"/>
            </a:xfrm>
            <a:prstGeom prst="rect">
              <a:avLst/>
            </a:prstGeom>
            <a:noFill/>
            <a:ln>
              <a:noFill/>
            </a:ln>
          </p:spPr>
          <p:txBody>
            <a:bodyPr spcFirstLastPara="1" wrap="square" lIns="182850" tIns="182850" rIns="182850" bIns="182850" anchor="t" anchorCtr="0">
              <a:noAutofit/>
            </a:bodyPr>
            <a:lstStyle/>
            <a:p>
              <a:pPr algn="ctr"/>
              <a:r>
                <a:rPr lang="en" sz="2201" dirty="0">
                  <a:latin typeface="Lato"/>
                  <a:ea typeface="Lato"/>
                  <a:cs typeface="Lato"/>
                  <a:sym typeface="Lato"/>
                </a:rPr>
                <a:t>Enterprise Indirect solution Provider in India</a:t>
              </a:r>
              <a:endParaRPr sz="2201" dirty="0">
                <a:latin typeface="Lato"/>
                <a:ea typeface="Lato"/>
                <a:cs typeface="Lato"/>
                <a:sym typeface="Lato"/>
              </a:endParaRPr>
            </a:p>
          </p:txBody>
        </p:sp>
        <p:sp>
          <p:nvSpPr>
            <p:cNvPr id="119" name="Google Shape;227;p56">
              <a:extLst>
                <a:ext uri="{FF2B5EF4-FFF2-40B4-BE49-F238E27FC236}">
                  <a16:creationId xmlns:a16="http://schemas.microsoft.com/office/drawing/2014/main" id="{B6CBAFA5-BC71-302C-8AA6-B6BC129F47C4}"/>
                </a:ext>
              </a:extLst>
            </p:cNvPr>
            <p:cNvSpPr txBox="1"/>
            <p:nvPr/>
          </p:nvSpPr>
          <p:spPr>
            <a:xfrm>
              <a:off x="2369813" y="3660015"/>
              <a:ext cx="2238900" cy="864898"/>
            </a:xfrm>
            <a:prstGeom prst="rect">
              <a:avLst/>
            </a:prstGeom>
            <a:noFill/>
            <a:ln>
              <a:noFill/>
            </a:ln>
          </p:spPr>
          <p:txBody>
            <a:bodyPr spcFirstLastPara="1" wrap="square" lIns="182850" tIns="182850" rIns="182850" bIns="182850" anchor="t" anchorCtr="0">
              <a:spAutoFit/>
            </a:bodyPr>
            <a:lstStyle/>
            <a:p>
              <a:pPr algn="ctr"/>
              <a:r>
                <a:rPr lang="en" sz="4800" b="1">
                  <a:solidFill>
                    <a:srgbClr val="00953A"/>
                  </a:solidFill>
                  <a:latin typeface="Roboto Condensed"/>
                  <a:ea typeface="Roboto Condensed"/>
                  <a:cs typeface="Roboto Condensed"/>
                  <a:sym typeface="Roboto Condensed"/>
                </a:rPr>
                <a:t>#2</a:t>
              </a:r>
              <a:endParaRPr sz="4800" b="1">
                <a:solidFill>
                  <a:srgbClr val="00953A"/>
                </a:solidFill>
                <a:latin typeface="Roboto Condensed"/>
                <a:ea typeface="Roboto Condensed"/>
                <a:cs typeface="Roboto Condensed"/>
                <a:sym typeface="Roboto Condensed"/>
              </a:endParaRPr>
            </a:p>
          </p:txBody>
        </p:sp>
      </p:grpSp>
      <p:grpSp>
        <p:nvGrpSpPr>
          <p:cNvPr id="120" name="Google Shape;228;p56">
            <a:extLst>
              <a:ext uri="{FF2B5EF4-FFF2-40B4-BE49-F238E27FC236}">
                <a16:creationId xmlns:a16="http://schemas.microsoft.com/office/drawing/2014/main" id="{C9D07215-39C5-07DB-9A6D-41CC403C0FC5}"/>
              </a:ext>
            </a:extLst>
          </p:cNvPr>
          <p:cNvGrpSpPr/>
          <p:nvPr/>
        </p:nvGrpSpPr>
        <p:grpSpPr>
          <a:xfrm>
            <a:off x="7144052" y="7424835"/>
            <a:ext cx="4109786" cy="1949714"/>
            <a:chOff x="2369813" y="3569472"/>
            <a:chExt cx="2238933" cy="1522024"/>
          </a:xfrm>
        </p:grpSpPr>
        <p:sp>
          <p:nvSpPr>
            <p:cNvPr id="121" name="Google Shape;229;p56">
              <a:extLst>
                <a:ext uri="{FF2B5EF4-FFF2-40B4-BE49-F238E27FC236}">
                  <a16:creationId xmlns:a16="http://schemas.microsoft.com/office/drawing/2014/main" id="{BA539638-9570-CB5D-04C4-A1231FA3D91B}"/>
                </a:ext>
              </a:extLst>
            </p:cNvPr>
            <p:cNvSpPr/>
            <p:nvPr/>
          </p:nvSpPr>
          <p:spPr>
            <a:xfrm>
              <a:off x="2369813" y="3607097"/>
              <a:ext cx="2238900" cy="1484399"/>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22" name="Google Shape;230;p56">
              <a:extLst>
                <a:ext uri="{FF2B5EF4-FFF2-40B4-BE49-F238E27FC236}">
                  <a16:creationId xmlns:a16="http://schemas.microsoft.com/office/drawing/2014/main" id="{8F32B030-3CC1-9BCE-6BA9-84506794D0FE}"/>
                </a:ext>
              </a:extLst>
            </p:cNvPr>
            <p:cNvSpPr/>
            <p:nvPr/>
          </p:nvSpPr>
          <p:spPr>
            <a:xfrm>
              <a:off x="2715612" y="3569472"/>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123" name="Google Shape;231;p56">
              <a:extLst>
                <a:ext uri="{FF2B5EF4-FFF2-40B4-BE49-F238E27FC236}">
                  <a16:creationId xmlns:a16="http://schemas.microsoft.com/office/drawing/2014/main" id="{942533C6-EB4D-2634-6EB5-A26F17EBAD39}"/>
                </a:ext>
              </a:extLst>
            </p:cNvPr>
            <p:cNvSpPr txBox="1"/>
            <p:nvPr/>
          </p:nvSpPr>
          <p:spPr>
            <a:xfrm>
              <a:off x="2369846" y="4429866"/>
              <a:ext cx="2238900" cy="576900"/>
            </a:xfrm>
            <a:prstGeom prst="rect">
              <a:avLst/>
            </a:prstGeom>
            <a:noFill/>
            <a:ln>
              <a:noFill/>
            </a:ln>
          </p:spPr>
          <p:txBody>
            <a:bodyPr spcFirstLastPara="1" wrap="square" lIns="182850" tIns="182850" rIns="182850" bIns="182850" anchor="t" anchorCtr="0">
              <a:noAutofit/>
            </a:bodyPr>
            <a:lstStyle/>
            <a:p>
              <a:pPr algn="ctr"/>
              <a:r>
                <a:rPr lang="en" sz="2201">
                  <a:latin typeface="Lato"/>
                  <a:ea typeface="Lato"/>
                  <a:cs typeface="Lato"/>
                  <a:sym typeface="Lato"/>
                </a:rPr>
                <a:t>Technology distributor in MEA</a:t>
              </a:r>
              <a:endParaRPr sz="2201">
                <a:latin typeface="Lato"/>
                <a:ea typeface="Lato"/>
                <a:cs typeface="Lato"/>
                <a:sym typeface="Lato"/>
              </a:endParaRPr>
            </a:p>
          </p:txBody>
        </p:sp>
        <p:sp>
          <p:nvSpPr>
            <p:cNvPr id="124" name="Google Shape;232;p56">
              <a:extLst>
                <a:ext uri="{FF2B5EF4-FFF2-40B4-BE49-F238E27FC236}">
                  <a16:creationId xmlns:a16="http://schemas.microsoft.com/office/drawing/2014/main" id="{79B119F9-90A1-F5A6-E847-5FE9BF8973EE}"/>
                </a:ext>
              </a:extLst>
            </p:cNvPr>
            <p:cNvSpPr txBox="1"/>
            <p:nvPr/>
          </p:nvSpPr>
          <p:spPr>
            <a:xfrm>
              <a:off x="2369813" y="3660015"/>
              <a:ext cx="2238900" cy="864898"/>
            </a:xfrm>
            <a:prstGeom prst="rect">
              <a:avLst/>
            </a:prstGeom>
            <a:noFill/>
            <a:ln>
              <a:noFill/>
            </a:ln>
          </p:spPr>
          <p:txBody>
            <a:bodyPr spcFirstLastPara="1" wrap="square" lIns="182850" tIns="182850" rIns="182850" bIns="182850" anchor="t" anchorCtr="0">
              <a:spAutoFit/>
            </a:bodyPr>
            <a:lstStyle/>
            <a:p>
              <a:pPr algn="ctr"/>
              <a:r>
                <a:rPr lang="en" sz="4800" b="1" dirty="0">
                  <a:solidFill>
                    <a:srgbClr val="00953A"/>
                  </a:solidFill>
                  <a:latin typeface="Roboto Condensed"/>
                  <a:ea typeface="Roboto Condensed"/>
                  <a:cs typeface="Roboto Condensed"/>
                  <a:sym typeface="Roboto Condensed"/>
                </a:rPr>
                <a:t>#1</a:t>
              </a:r>
              <a:endParaRPr sz="4800" b="1" dirty="0">
                <a:solidFill>
                  <a:srgbClr val="00953A"/>
                </a:solidFill>
                <a:latin typeface="Roboto Condensed"/>
                <a:ea typeface="Roboto Condensed"/>
                <a:cs typeface="Roboto Condensed"/>
                <a:sym typeface="Roboto Condensed"/>
              </a:endParaRPr>
            </a:p>
          </p:txBody>
        </p:sp>
      </p:grpSp>
      <p:sp>
        <p:nvSpPr>
          <p:cNvPr id="125" name="Google Shape;206;p56">
            <a:extLst>
              <a:ext uri="{FF2B5EF4-FFF2-40B4-BE49-F238E27FC236}">
                <a16:creationId xmlns:a16="http://schemas.microsoft.com/office/drawing/2014/main" id="{384F29C9-3AF9-32CD-E6AD-6C1B961A5F3F}"/>
              </a:ext>
            </a:extLst>
          </p:cNvPr>
          <p:cNvSpPr txBox="1"/>
          <p:nvPr/>
        </p:nvSpPr>
        <p:spPr>
          <a:xfrm>
            <a:off x="1014200" y="1795731"/>
            <a:ext cx="15598394" cy="1148202"/>
          </a:xfrm>
          <a:prstGeom prst="rect">
            <a:avLst/>
          </a:prstGeom>
          <a:noFill/>
          <a:ln>
            <a:noFill/>
          </a:ln>
        </p:spPr>
        <p:txBody>
          <a:bodyPr spcFirstLastPara="1" wrap="square" lIns="182850" tIns="182850" rIns="182850" bIns="182850" anchor="t" anchorCtr="0">
            <a:spAutoFit/>
          </a:bodyPr>
          <a:lstStyle/>
          <a:p>
            <a:pPr algn="ctr">
              <a:lnSpc>
                <a:spcPct val="115000"/>
              </a:lnSpc>
            </a:pPr>
            <a:r>
              <a:rPr lang="en" sz="2201" dirty="0">
                <a:latin typeface="Lato"/>
                <a:ea typeface="Lato"/>
                <a:cs typeface="Lato"/>
                <a:sym typeface="Lato"/>
              </a:rPr>
              <a:t>Redington has traversed an eventful and exciting journey to evolve from very humble beginnings into the company we are today. The incredible journey has seen us emerge from one brand, one product category, and one market into</a:t>
            </a:r>
            <a:endParaRPr sz="2201" dirty="0">
              <a:latin typeface="Lato"/>
              <a:ea typeface="Lato"/>
              <a:cs typeface="Lato"/>
              <a:sym typeface="Lato"/>
            </a:endParaRPr>
          </a:p>
        </p:txBody>
      </p:sp>
      <p:grpSp>
        <p:nvGrpSpPr>
          <p:cNvPr id="6" name="Google Shape;217;p56">
            <a:extLst>
              <a:ext uri="{FF2B5EF4-FFF2-40B4-BE49-F238E27FC236}">
                <a16:creationId xmlns:a16="http://schemas.microsoft.com/office/drawing/2014/main" id="{5577EADA-AF82-6639-D67A-1ECE6BEC51F5}"/>
              </a:ext>
            </a:extLst>
          </p:cNvPr>
          <p:cNvGrpSpPr/>
          <p:nvPr/>
        </p:nvGrpSpPr>
        <p:grpSpPr>
          <a:xfrm>
            <a:off x="12584682" y="7481327"/>
            <a:ext cx="4251765" cy="1949715"/>
            <a:chOff x="2292432" y="3569473"/>
            <a:chExt cx="2316281" cy="1522026"/>
          </a:xfrm>
        </p:grpSpPr>
        <p:sp>
          <p:nvSpPr>
            <p:cNvPr id="7" name="Google Shape;218;p56">
              <a:extLst>
                <a:ext uri="{FF2B5EF4-FFF2-40B4-BE49-F238E27FC236}">
                  <a16:creationId xmlns:a16="http://schemas.microsoft.com/office/drawing/2014/main" id="{2775F87C-802C-2061-90DF-F4177564D2EF}"/>
                </a:ext>
              </a:extLst>
            </p:cNvPr>
            <p:cNvSpPr/>
            <p:nvPr/>
          </p:nvSpPr>
          <p:spPr>
            <a:xfrm>
              <a:off x="2369813" y="3607099"/>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8" name="Google Shape;219;p56">
              <a:extLst>
                <a:ext uri="{FF2B5EF4-FFF2-40B4-BE49-F238E27FC236}">
                  <a16:creationId xmlns:a16="http://schemas.microsoft.com/office/drawing/2014/main" id="{B09EC655-288F-63F7-191F-80A05D548423}"/>
                </a:ext>
              </a:extLst>
            </p:cNvPr>
            <p:cNvSpPr/>
            <p:nvPr/>
          </p:nvSpPr>
          <p:spPr>
            <a:xfrm>
              <a:off x="2715612" y="3569473"/>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9" name="Google Shape;220;p56">
              <a:extLst>
                <a:ext uri="{FF2B5EF4-FFF2-40B4-BE49-F238E27FC236}">
                  <a16:creationId xmlns:a16="http://schemas.microsoft.com/office/drawing/2014/main" id="{98E78D9B-3069-A0A0-078B-0A064486E8D9}"/>
                </a:ext>
              </a:extLst>
            </p:cNvPr>
            <p:cNvSpPr txBox="1"/>
            <p:nvPr/>
          </p:nvSpPr>
          <p:spPr>
            <a:xfrm>
              <a:off x="2292432" y="4412921"/>
              <a:ext cx="2238900" cy="528000"/>
            </a:xfrm>
            <a:prstGeom prst="rect">
              <a:avLst/>
            </a:prstGeom>
            <a:noFill/>
            <a:ln>
              <a:noFill/>
            </a:ln>
          </p:spPr>
          <p:txBody>
            <a:bodyPr spcFirstLastPara="1" wrap="square" lIns="182850" tIns="182850" rIns="182850" bIns="182850" anchor="t" anchorCtr="0">
              <a:noAutofit/>
            </a:bodyPr>
            <a:lstStyle/>
            <a:p>
              <a:pPr algn="ctr"/>
              <a:r>
                <a:rPr lang="en" sz="2201" dirty="0">
                  <a:latin typeface="Lato"/>
                  <a:ea typeface="Lato"/>
                  <a:cs typeface="Lato"/>
                  <a:sym typeface="Lato"/>
                </a:rPr>
                <a:t>Security Complaince</a:t>
              </a:r>
              <a:endParaRPr sz="2201" dirty="0">
                <a:latin typeface="Lato"/>
                <a:ea typeface="Lato"/>
                <a:cs typeface="Lato"/>
                <a:sym typeface="Lato"/>
              </a:endParaRPr>
            </a:p>
          </p:txBody>
        </p:sp>
        <p:sp>
          <p:nvSpPr>
            <p:cNvPr id="10" name="Google Shape;221;p56">
              <a:extLst>
                <a:ext uri="{FF2B5EF4-FFF2-40B4-BE49-F238E27FC236}">
                  <a16:creationId xmlns:a16="http://schemas.microsoft.com/office/drawing/2014/main" id="{04D3EAC9-BCC3-F2E7-6673-B97D75CDEF2C}"/>
                </a:ext>
              </a:extLst>
            </p:cNvPr>
            <p:cNvSpPr txBox="1"/>
            <p:nvPr/>
          </p:nvSpPr>
          <p:spPr>
            <a:xfrm>
              <a:off x="2369813" y="3660015"/>
              <a:ext cx="2238900" cy="720741"/>
            </a:xfrm>
            <a:prstGeom prst="rect">
              <a:avLst/>
            </a:prstGeom>
            <a:noFill/>
            <a:ln>
              <a:noFill/>
            </a:ln>
          </p:spPr>
          <p:txBody>
            <a:bodyPr spcFirstLastPara="1" wrap="square" lIns="182850" tIns="182850" rIns="182850" bIns="182850" anchor="t" anchorCtr="0">
              <a:spAutoFit/>
            </a:bodyPr>
            <a:lstStyle/>
            <a:p>
              <a:pPr algn="ctr"/>
              <a:r>
                <a:rPr lang="en-IN" sz="3600" b="1" dirty="0">
                  <a:solidFill>
                    <a:srgbClr val="00953A"/>
                  </a:solidFill>
                  <a:latin typeface="Roboto Condensed"/>
                  <a:ea typeface="Roboto Condensed"/>
                  <a:cs typeface="Roboto Condensed"/>
                </a:rPr>
                <a:t>ISO 27001 &amp; SOC 2 </a:t>
              </a:r>
              <a:endParaRPr sz="3600" b="1" dirty="0">
                <a:solidFill>
                  <a:srgbClr val="00953A"/>
                </a:solidFill>
                <a:latin typeface="Roboto Condensed"/>
                <a:ea typeface="Roboto Condensed"/>
                <a:cs typeface="Roboto Condensed"/>
                <a:sym typeface="Roboto Condensed"/>
              </a:endParaRPr>
            </a:p>
          </p:txBody>
        </p:sp>
      </p:grpSp>
    </p:spTree>
    <p:extLst>
      <p:ext uri="{BB962C8B-B14F-4D97-AF65-F5344CB8AC3E}">
        <p14:creationId xmlns:p14="http://schemas.microsoft.com/office/powerpoint/2010/main" val="4115008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251;p58">
            <a:extLst>
              <a:ext uri="{FF2B5EF4-FFF2-40B4-BE49-F238E27FC236}">
                <a16:creationId xmlns:a16="http://schemas.microsoft.com/office/drawing/2014/main" id="{209A712B-6B1F-7BF3-DA21-C2E8BB9AAF55}"/>
              </a:ext>
            </a:extLst>
          </p:cNvPr>
          <p:cNvPicPr preferRelativeResize="0"/>
          <p:nvPr/>
        </p:nvPicPr>
        <p:blipFill rotWithShape="1">
          <a:blip r:embed="rId2">
            <a:alphaModFix/>
          </a:blip>
          <a:srcRect l="8175" t="17461" r="13815" b="8393"/>
          <a:stretch/>
        </p:blipFill>
        <p:spPr>
          <a:xfrm>
            <a:off x="-272699" y="-154125"/>
            <a:ext cx="18727650" cy="10595250"/>
          </a:xfrm>
          <a:prstGeom prst="rect">
            <a:avLst/>
          </a:prstGeom>
          <a:noFill/>
          <a:ln>
            <a:noFill/>
          </a:ln>
        </p:spPr>
      </p:pic>
      <p:grpSp>
        <p:nvGrpSpPr>
          <p:cNvPr id="4" name="Google Shape;252;p58">
            <a:extLst>
              <a:ext uri="{FF2B5EF4-FFF2-40B4-BE49-F238E27FC236}">
                <a16:creationId xmlns:a16="http://schemas.microsoft.com/office/drawing/2014/main" id="{560B795C-5496-8D3C-10E3-6057CD736E8A}"/>
              </a:ext>
            </a:extLst>
          </p:cNvPr>
          <p:cNvGrpSpPr/>
          <p:nvPr/>
        </p:nvGrpSpPr>
        <p:grpSpPr>
          <a:xfrm>
            <a:off x="902045" y="7156913"/>
            <a:ext cx="3358350" cy="2349115"/>
            <a:chOff x="2369813" y="3569473"/>
            <a:chExt cx="2238900" cy="1566077"/>
          </a:xfrm>
        </p:grpSpPr>
        <p:sp>
          <p:nvSpPr>
            <p:cNvPr id="5" name="Google Shape;253;p58">
              <a:extLst>
                <a:ext uri="{FF2B5EF4-FFF2-40B4-BE49-F238E27FC236}">
                  <a16:creationId xmlns:a16="http://schemas.microsoft.com/office/drawing/2014/main" id="{3B98910D-F96A-DC5C-FC2D-03D002CC1559}"/>
                </a:ext>
              </a:extLst>
            </p:cNvPr>
            <p:cNvSpPr/>
            <p:nvPr/>
          </p:nvSpPr>
          <p:spPr>
            <a:xfrm>
              <a:off x="2369813" y="3607100"/>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37150" tIns="68550" rIns="137150" bIns="68550" anchor="ctr" anchorCtr="0">
              <a:noAutofit/>
            </a:bodyPr>
            <a:lstStyle/>
            <a:p>
              <a:pPr algn="ctr"/>
              <a:endParaRPr sz="2801">
                <a:solidFill>
                  <a:srgbClr val="FFFFFF"/>
                </a:solidFill>
                <a:latin typeface="Open Sans"/>
                <a:ea typeface="Open Sans"/>
                <a:cs typeface="Open Sans"/>
                <a:sym typeface="Open Sans"/>
              </a:endParaRPr>
            </a:p>
          </p:txBody>
        </p:sp>
        <p:sp>
          <p:nvSpPr>
            <p:cNvPr id="6" name="Google Shape;254;p58">
              <a:extLst>
                <a:ext uri="{FF2B5EF4-FFF2-40B4-BE49-F238E27FC236}">
                  <a16:creationId xmlns:a16="http://schemas.microsoft.com/office/drawing/2014/main" id="{087E419E-9E0D-4865-66B3-1058123B15C5}"/>
                </a:ext>
              </a:extLst>
            </p:cNvPr>
            <p:cNvSpPr/>
            <p:nvPr/>
          </p:nvSpPr>
          <p:spPr>
            <a:xfrm>
              <a:off x="2715612" y="3569473"/>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37150" tIns="68550" rIns="137150" bIns="68550" anchor="ctr" anchorCtr="0">
              <a:noAutofit/>
            </a:bodyPr>
            <a:lstStyle/>
            <a:p>
              <a:pPr algn="ctr"/>
              <a:endParaRPr sz="2801">
                <a:solidFill>
                  <a:srgbClr val="FFFFFF"/>
                </a:solidFill>
                <a:latin typeface="Open Sans"/>
                <a:ea typeface="Open Sans"/>
                <a:cs typeface="Open Sans"/>
                <a:sym typeface="Open Sans"/>
              </a:endParaRPr>
            </a:p>
          </p:txBody>
        </p:sp>
        <p:sp>
          <p:nvSpPr>
            <p:cNvPr id="7" name="Google Shape;255;p58">
              <a:extLst>
                <a:ext uri="{FF2B5EF4-FFF2-40B4-BE49-F238E27FC236}">
                  <a16:creationId xmlns:a16="http://schemas.microsoft.com/office/drawing/2014/main" id="{7563359E-7C4E-12F4-57F6-9A6627AFF6E4}"/>
                </a:ext>
              </a:extLst>
            </p:cNvPr>
            <p:cNvSpPr txBox="1"/>
            <p:nvPr/>
          </p:nvSpPr>
          <p:spPr>
            <a:xfrm>
              <a:off x="2564963" y="4563150"/>
              <a:ext cx="1848600" cy="572400"/>
            </a:xfrm>
            <a:prstGeom prst="rect">
              <a:avLst/>
            </a:prstGeom>
            <a:noFill/>
            <a:ln>
              <a:noFill/>
            </a:ln>
          </p:spPr>
          <p:txBody>
            <a:bodyPr spcFirstLastPara="1" wrap="square" lIns="137150" tIns="137150" rIns="137150" bIns="137150" anchor="t" anchorCtr="0">
              <a:noAutofit/>
            </a:bodyPr>
            <a:lstStyle/>
            <a:p>
              <a:pPr algn="ctr">
                <a:lnSpc>
                  <a:spcPct val="120000"/>
                </a:lnSpc>
              </a:pPr>
              <a:r>
                <a:rPr lang="en" sz="2201" b="1">
                  <a:solidFill>
                    <a:schemeClr val="dk1"/>
                  </a:solidFill>
                  <a:latin typeface="Lato"/>
                  <a:ea typeface="Lato"/>
                  <a:cs typeface="Lato"/>
                  <a:sym typeface="Lato"/>
                </a:rPr>
                <a:t>Emerging Markets</a:t>
              </a:r>
              <a:endParaRPr sz="2201" b="1">
                <a:solidFill>
                  <a:schemeClr val="dk1"/>
                </a:solidFill>
                <a:latin typeface="Lato"/>
                <a:ea typeface="Lato"/>
                <a:cs typeface="Lato"/>
                <a:sym typeface="Lato"/>
              </a:endParaRPr>
            </a:p>
          </p:txBody>
        </p:sp>
        <p:sp>
          <p:nvSpPr>
            <p:cNvPr id="8" name="Google Shape;256;p58">
              <a:extLst>
                <a:ext uri="{FF2B5EF4-FFF2-40B4-BE49-F238E27FC236}">
                  <a16:creationId xmlns:a16="http://schemas.microsoft.com/office/drawing/2014/main" id="{8C8E56DD-A5D1-00FF-F104-A69E388F024D}"/>
                </a:ext>
              </a:extLst>
            </p:cNvPr>
            <p:cNvSpPr txBox="1"/>
            <p:nvPr/>
          </p:nvSpPr>
          <p:spPr>
            <a:xfrm>
              <a:off x="2369813" y="3645674"/>
              <a:ext cx="2238900" cy="1107982"/>
            </a:xfrm>
            <a:prstGeom prst="rect">
              <a:avLst/>
            </a:prstGeom>
            <a:noFill/>
            <a:ln>
              <a:noFill/>
            </a:ln>
          </p:spPr>
          <p:txBody>
            <a:bodyPr spcFirstLastPara="1" wrap="square" lIns="137150" tIns="137150" rIns="137150" bIns="137150" anchor="t" anchorCtr="0">
              <a:spAutoFit/>
            </a:bodyPr>
            <a:lstStyle/>
            <a:p>
              <a:pPr algn="ctr"/>
              <a:r>
                <a:rPr lang="en" sz="9000" b="1">
                  <a:solidFill>
                    <a:srgbClr val="00953A"/>
                  </a:solidFill>
                  <a:latin typeface="Roboto Condensed"/>
                  <a:ea typeface="Roboto Condensed"/>
                  <a:cs typeface="Roboto Condensed"/>
                  <a:sym typeface="Roboto Condensed"/>
                </a:rPr>
                <a:t>40+</a:t>
              </a:r>
              <a:endParaRPr sz="9000" b="1">
                <a:solidFill>
                  <a:srgbClr val="00953A"/>
                </a:solidFill>
                <a:latin typeface="Roboto Condensed"/>
                <a:ea typeface="Roboto Condensed"/>
                <a:cs typeface="Roboto Condensed"/>
                <a:sym typeface="Roboto Condensed"/>
              </a:endParaRPr>
            </a:p>
          </p:txBody>
        </p:sp>
      </p:grpSp>
      <p:grpSp>
        <p:nvGrpSpPr>
          <p:cNvPr id="9" name="Google Shape;257;p58">
            <a:extLst>
              <a:ext uri="{FF2B5EF4-FFF2-40B4-BE49-F238E27FC236}">
                <a16:creationId xmlns:a16="http://schemas.microsoft.com/office/drawing/2014/main" id="{D22FB062-9CAB-091A-6D43-BA61744029F1}"/>
              </a:ext>
            </a:extLst>
          </p:cNvPr>
          <p:cNvGrpSpPr/>
          <p:nvPr/>
        </p:nvGrpSpPr>
        <p:grpSpPr>
          <a:xfrm>
            <a:off x="4591900" y="7156914"/>
            <a:ext cx="3358382" cy="2349143"/>
            <a:chOff x="2369791" y="3569473"/>
            <a:chExt cx="2238922" cy="1566094"/>
          </a:xfrm>
        </p:grpSpPr>
        <p:sp>
          <p:nvSpPr>
            <p:cNvPr id="10" name="Google Shape;258;p58">
              <a:extLst>
                <a:ext uri="{FF2B5EF4-FFF2-40B4-BE49-F238E27FC236}">
                  <a16:creationId xmlns:a16="http://schemas.microsoft.com/office/drawing/2014/main" id="{36570783-09DD-F48F-CC3B-DBC24B4D7301}"/>
                </a:ext>
              </a:extLst>
            </p:cNvPr>
            <p:cNvSpPr/>
            <p:nvPr/>
          </p:nvSpPr>
          <p:spPr>
            <a:xfrm>
              <a:off x="2369813" y="3607100"/>
              <a:ext cx="2238900" cy="1484400"/>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37150" tIns="68550" rIns="137150" bIns="68550" anchor="ctr" anchorCtr="0">
              <a:noAutofit/>
            </a:bodyPr>
            <a:lstStyle/>
            <a:p>
              <a:pPr algn="ctr"/>
              <a:endParaRPr sz="2801">
                <a:solidFill>
                  <a:srgbClr val="FFFFFF"/>
                </a:solidFill>
                <a:latin typeface="Open Sans"/>
                <a:ea typeface="Open Sans"/>
                <a:cs typeface="Open Sans"/>
                <a:sym typeface="Open Sans"/>
              </a:endParaRPr>
            </a:p>
          </p:txBody>
        </p:sp>
        <p:sp>
          <p:nvSpPr>
            <p:cNvPr id="11" name="Google Shape;259;p58">
              <a:extLst>
                <a:ext uri="{FF2B5EF4-FFF2-40B4-BE49-F238E27FC236}">
                  <a16:creationId xmlns:a16="http://schemas.microsoft.com/office/drawing/2014/main" id="{8A3EB958-0063-37E6-7BD2-30CBB9E0D2AC}"/>
                </a:ext>
              </a:extLst>
            </p:cNvPr>
            <p:cNvSpPr/>
            <p:nvPr/>
          </p:nvSpPr>
          <p:spPr>
            <a:xfrm>
              <a:off x="2715612" y="3569473"/>
              <a:ext cx="658500" cy="88200"/>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37150" tIns="68550" rIns="137150" bIns="68550" anchor="ctr" anchorCtr="0">
              <a:noAutofit/>
            </a:bodyPr>
            <a:lstStyle/>
            <a:p>
              <a:pPr algn="ctr"/>
              <a:endParaRPr sz="2801">
                <a:solidFill>
                  <a:srgbClr val="FFFFFF"/>
                </a:solidFill>
                <a:latin typeface="Open Sans"/>
                <a:ea typeface="Open Sans"/>
                <a:cs typeface="Open Sans"/>
                <a:sym typeface="Open Sans"/>
              </a:endParaRPr>
            </a:p>
          </p:txBody>
        </p:sp>
        <p:sp>
          <p:nvSpPr>
            <p:cNvPr id="12" name="Google Shape;260;p58">
              <a:extLst>
                <a:ext uri="{FF2B5EF4-FFF2-40B4-BE49-F238E27FC236}">
                  <a16:creationId xmlns:a16="http://schemas.microsoft.com/office/drawing/2014/main" id="{29BED4F8-05A2-DC8C-6F11-999F736E3BDE}"/>
                </a:ext>
              </a:extLst>
            </p:cNvPr>
            <p:cNvSpPr txBox="1"/>
            <p:nvPr/>
          </p:nvSpPr>
          <p:spPr>
            <a:xfrm>
              <a:off x="2369791" y="4563167"/>
              <a:ext cx="2238900" cy="572400"/>
            </a:xfrm>
            <a:prstGeom prst="rect">
              <a:avLst/>
            </a:prstGeom>
            <a:noFill/>
            <a:ln>
              <a:noFill/>
            </a:ln>
          </p:spPr>
          <p:txBody>
            <a:bodyPr spcFirstLastPara="1" wrap="square" lIns="137150" tIns="137150" rIns="137150" bIns="137150" anchor="t" anchorCtr="0">
              <a:noAutofit/>
            </a:bodyPr>
            <a:lstStyle/>
            <a:p>
              <a:pPr algn="ctr">
                <a:lnSpc>
                  <a:spcPct val="120000"/>
                </a:lnSpc>
              </a:pPr>
              <a:r>
                <a:rPr lang="en" sz="2201" b="1">
                  <a:solidFill>
                    <a:schemeClr val="dk1"/>
                  </a:solidFill>
                  <a:latin typeface="Lato"/>
                  <a:ea typeface="Lato"/>
                  <a:cs typeface="Lato"/>
                  <a:sym typeface="Lato"/>
                </a:rPr>
                <a:t>International Brands</a:t>
              </a:r>
              <a:endParaRPr sz="2201" b="1">
                <a:solidFill>
                  <a:schemeClr val="dk1"/>
                </a:solidFill>
                <a:latin typeface="Lato"/>
                <a:ea typeface="Lato"/>
                <a:cs typeface="Lato"/>
                <a:sym typeface="Lato"/>
              </a:endParaRPr>
            </a:p>
          </p:txBody>
        </p:sp>
        <p:sp>
          <p:nvSpPr>
            <p:cNvPr id="13" name="Google Shape;261;p58">
              <a:extLst>
                <a:ext uri="{FF2B5EF4-FFF2-40B4-BE49-F238E27FC236}">
                  <a16:creationId xmlns:a16="http://schemas.microsoft.com/office/drawing/2014/main" id="{44B4337B-B4E5-E4D8-B2CF-5CC3190F372F}"/>
                </a:ext>
              </a:extLst>
            </p:cNvPr>
            <p:cNvSpPr txBox="1"/>
            <p:nvPr/>
          </p:nvSpPr>
          <p:spPr>
            <a:xfrm>
              <a:off x="2369812" y="3645676"/>
              <a:ext cx="2238901" cy="1107981"/>
            </a:xfrm>
            <a:prstGeom prst="rect">
              <a:avLst/>
            </a:prstGeom>
            <a:noFill/>
            <a:ln>
              <a:noFill/>
            </a:ln>
          </p:spPr>
          <p:txBody>
            <a:bodyPr spcFirstLastPara="1" wrap="square" lIns="137150" tIns="137150" rIns="137150" bIns="137150" anchor="t" anchorCtr="0">
              <a:spAutoFit/>
            </a:bodyPr>
            <a:lstStyle/>
            <a:p>
              <a:pPr algn="ctr"/>
              <a:r>
                <a:rPr lang="en" sz="9000" b="1" dirty="0">
                  <a:solidFill>
                    <a:srgbClr val="00953A"/>
                  </a:solidFill>
                  <a:latin typeface="Roboto Condensed"/>
                  <a:ea typeface="Roboto Condensed"/>
                  <a:cs typeface="Roboto Condensed"/>
                  <a:sym typeface="Roboto Condensed"/>
                </a:rPr>
                <a:t>290+</a:t>
              </a:r>
              <a:endParaRPr sz="9000" b="1" dirty="0">
                <a:solidFill>
                  <a:srgbClr val="00953A"/>
                </a:solidFill>
                <a:latin typeface="Roboto Condensed"/>
                <a:ea typeface="Roboto Condensed"/>
                <a:cs typeface="Roboto Condensed"/>
                <a:sym typeface="Roboto Condensed"/>
              </a:endParaRPr>
            </a:p>
          </p:txBody>
        </p:sp>
      </p:grpSp>
      <p:pic>
        <p:nvPicPr>
          <p:cNvPr id="36" name="Picture 3">
            <a:extLst>
              <a:ext uri="{FF2B5EF4-FFF2-40B4-BE49-F238E27FC236}">
                <a16:creationId xmlns:a16="http://schemas.microsoft.com/office/drawing/2014/main" id="{4F20E47E-88D2-1E50-D10F-5B8E9FE17C63}"/>
              </a:ext>
            </a:extLst>
          </p:cNvPr>
          <p:cNvPicPr>
            <a:picLocks noChangeAspect="1"/>
          </p:cNvPicPr>
          <p:nvPr/>
        </p:nvPicPr>
        <p:blipFill>
          <a:blip r:embed="rId3"/>
          <a:srcRect/>
          <a:stretch>
            <a:fillRect/>
          </a:stretch>
        </p:blipFill>
        <p:spPr>
          <a:xfrm>
            <a:off x="287016" y="318964"/>
            <a:ext cx="2634245" cy="694782"/>
          </a:xfrm>
          <a:prstGeom prst="rect">
            <a:avLst/>
          </a:prstGeom>
        </p:spPr>
      </p:pic>
      <p:grpSp>
        <p:nvGrpSpPr>
          <p:cNvPr id="37" name="Group 26">
            <a:extLst>
              <a:ext uri="{FF2B5EF4-FFF2-40B4-BE49-F238E27FC236}">
                <a16:creationId xmlns:a16="http://schemas.microsoft.com/office/drawing/2014/main" id="{44EB6753-6BB4-3271-D601-B5AF47A5BE0E}"/>
              </a:ext>
            </a:extLst>
          </p:cNvPr>
          <p:cNvGrpSpPr/>
          <p:nvPr/>
        </p:nvGrpSpPr>
        <p:grpSpPr>
          <a:xfrm rot="-5400000">
            <a:off x="15319130" y="138898"/>
            <a:ext cx="3842240" cy="1414436"/>
            <a:chOff x="0" y="0"/>
            <a:chExt cx="1103964" cy="406400"/>
          </a:xfrm>
        </p:grpSpPr>
        <p:sp>
          <p:nvSpPr>
            <p:cNvPr id="38" name="Freeform 27">
              <a:extLst>
                <a:ext uri="{FF2B5EF4-FFF2-40B4-BE49-F238E27FC236}">
                  <a16:creationId xmlns:a16="http://schemas.microsoft.com/office/drawing/2014/main" id="{2F87B2ED-3098-5CE0-1645-C50902E97B81}"/>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endParaRPr lang="en-US"/>
            </a:p>
          </p:txBody>
        </p:sp>
      </p:grpSp>
      <p:pic>
        <p:nvPicPr>
          <p:cNvPr id="39" name="Picture 28">
            <a:extLst>
              <a:ext uri="{FF2B5EF4-FFF2-40B4-BE49-F238E27FC236}">
                <a16:creationId xmlns:a16="http://schemas.microsoft.com/office/drawing/2014/main" id="{E25F1718-E75B-D585-F813-C6B7A52F9AC8}"/>
              </a:ext>
            </a:extLst>
          </p:cNvPr>
          <p:cNvPicPr>
            <a:picLocks noChangeAspect="1"/>
          </p:cNvPicPr>
          <p:nvPr/>
        </p:nvPicPr>
        <p:blipFill>
          <a:blip r:embed="rId4"/>
          <a:srcRect r="83814"/>
          <a:stretch>
            <a:fillRect/>
          </a:stretch>
        </p:blipFill>
        <p:spPr>
          <a:xfrm>
            <a:off x="16900996" y="1166576"/>
            <a:ext cx="716608" cy="1145609"/>
          </a:xfrm>
          <a:prstGeom prst="rect">
            <a:avLst/>
          </a:prstGeom>
        </p:spPr>
      </p:pic>
      <p:sp>
        <p:nvSpPr>
          <p:cNvPr id="2" name="TextBox 1">
            <a:extLst>
              <a:ext uri="{FF2B5EF4-FFF2-40B4-BE49-F238E27FC236}">
                <a16:creationId xmlns:a16="http://schemas.microsoft.com/office/drawing/2014/main" id="{5D82591C-1314-A8B0-AFF4-CCB534B52767}"/>
              </a:ext>
            </a:extLst>
          </p:cNvPr>
          <p:cNvSpPr txBox="1"/>
          <p:nvPr/>
        </p:nvSpPr>
        <p:spPr>
          <a:xfrm>
            <a:off x="2036182" y="1138663"/>
            <a:ext cx="13107655" cy="769441"/>
          </a:xfrm>
          <a:prstGeom prst="rect">
            <a:avLst/>
          </a:prstGeom>
          <a:noFill/>
        </p:spPr>
        <p:txBody>
          <a:bodyPr wrap="square">
            <a:spAutoFit/>
          </a:bodyPr>
          <a:lstStyle/>
          <a:p>
            <a:pPr algn="ctr">
              <a:buClr>
                <a:schemeClr val="dk1"/>
              </a:buClr>
              <a:buSzPts val="1100"/>
            </a:pPr>
            <a:r>
              <a:rPr lang="en-US" sz="4400" b="1" dirty="0">
                <a:solidFill>
                  <a:srgbClr val="002060"/>
                </a:solidFill>
                <a:latin typeface="Segoe UI Semibold" panose="020B0702040204020203" pitchFamily="34" charset="0"/>
                <a:ea typeface="Roboto Condensed"/>
                <a:cs typeface="Segoe UI Semibold" panose="020B0702040204020203" pitchFamily="34" charset="0"/>
                <a:sym typeface="Roboto Condensed"/>
              </a:rPr>
              <a:t>Global Footprint</a:t>
            </a:r>
          </a:p>
        </p:txBody>
      </p:sp>
    </p:spTree>
    <p:extLst>
      <p:ext uri="{BB962C8B-B14F-4D97-AF65-F5344CB8AC3E}">
        <p14:creationId xmlns:p14="http://schemas.microsoft.com/office/powerpoint/2010/main" val="93750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35D87-9068-2146-4C84-B7663301A11C}"/>
            </a:ext>
          </a:extLst>
        </p:cNvPr>
        <p:cNvGrpSpPr/>
        <p:nvPr/>
      </p:nvGrpSpPr>
      <p:grpSpPr>
        <a:xfrm>
          <a:off x="0" y="0"/>
          <a:ext cx="0" cy="0"/>
          <a:chOff x="0" y="0"/>
          <a:chExt cx="0" cy="0"/>
        </a:xfrm>
      </p:grpSpPr>
      <p:pic>
        <p:nvPicPr>
          <p:cNvPr id="36" name="Picture 3">
            <a:extLst>
              <a:ext uri="{FF2B5EF4-FFF2-40B4-BE49-F238E27FC236}">
                <a16:creationId xmlns:a16="http://schemas.microsoft.com/office/drawing/2014/main" id="{10444C48-200C-5087-5D97-AF420F3095A9}"/>
              </a:ext>
            </a:extLst>
          </p:cNvPr>
          <p:cNvPicPr>
            <a:picLocks noChangeAspect="1"/>
          </p:cNvPicPr>
          <p:nvPr/>
        </p:nvPicPr>
        <p:blipFill>
          <a:blip r:embed="rId2"/>
          <a:srcRect/>
          <a:stretch>
            <a:fillRect/>
          </a:stretch>
        </p:blipFill>
        <p:spPr>
          <a:xfrm>
            <a:off x="287016" y="318964"/>
            <a:ext cx="2634245" cy="694782"/>
          </a:xfrm>
          <a:prstGeom prst="rect">
            <a:avLst/>
          </a:prstGeom>
        </p:spPr>
      </p:pic>
      <p:sp>
        <p:nvSpPr>
          <p:cNvPr id="34" name="TextBox 33">
            <a:extLst>
              <a:ext uri="{FF2B5EF4-FFF2-40B4-BE49-F238E27FC236}">
                <a16:creationId xmlns:a16="http://schemas.microsoft.com/office/drawing/2014/main" id="{8A3B32C3-21DD-BE22-90AD-C69B884D22FE}"/>
              </a:ext>
            </a:extLst>
          </p:cNvPr>
          <p:cNvSpPr txBox="1"/>
          <p:nvPr/>
        </p:nvSpPr>
        <p:spPr>
          <a:xfrm>
            <a:off x="4594651" y="676606"/>
            <a:ext cx="9073008" cy="769441"/>
          </a:xfrm>
          <a:prstGeom prst="rect">
            <a:avLst/>
          </a:prstGeom>
          <a:noFill/>
        </p:spPr>
        <p:txBody>
          <a:bodyPr wrap="square" rtlCol="0">
            <a:spAutoFit/>
          </a:bodyPr>
          <a:lstStyle/>
          <a:p>
            <a:pPr algn="ctr"/>
            <a:r>
              <a:rPr lang="en-US" sz="4400" b="1" dirty="0">
                <a:solidFill>
                  <a:srgbClr val="00953A"/>
                </a:solidFill>
                <a:latin typeface="Segoe UI Semibold" panose="020B0702040204020203" pitchFamily="34" charset="0"/>
                <a:ea typeface="Roboto Condensed"/>
                <a:cs typeface="Segoe UI Semibold" panose="020B0702040204020203" pitchFamily="34" charset="0"/>
              </a:rPr>
              <a:t>Technology</a:t>
            </a:r>
            <a:r>
              <a:rPr lang="en-US" sz="4400" b="1" dirty="0">
                <a:solidFill>
                  <a:schemeClr val="tx2"/>
                </a:solidFill>
                <a:latin typeface="Segoe UI Semibold" panose="020B0702040204020203" pitchFamily="34" charset="0"/>
                <a:ea typeface="Roboto Condensed"/>
                <a:cs typeface="Segoe UI Semibold" panose="020B0702040204020203" pitchFamily="34" charset="0"/>
              </a:rPr>
              <a:t> Stack</a:t>
            </a:r>
            <a:endParaRPr lang="en-IN" sz="4400" b="1" dirty="0">
              <a:solidFill>
                <a:schemeClr val="tx2"/>
              </a:solidFill>
              <a:latin typeface="Segoe UI Semibold" panose="020B0702040204020203" pitchFamily="34" charset="0"/>
              <a:ea typeface="Roboto Condensed"/>
              <a:cs typeface="Segoe UI Semibold" panose="020B0702040204020203" pitchFamily="34" charset="0"/>
            </a:endParaRPr>
          </a:p>
        </p:txBody>
      </p:sp>
      <p:grpSp>
        <p:nvGrpSpPr>
          <p:cNvPr id="141" name="Group 140">
            <a:extLst>
              <a:ext uri="{FF2B5EF4-FFF2-40B4-BE49-F238E27FC236}">
                <a16:creationId xmlns:a16="http://schemas.microsoft.com/office/drawing/2014/main" id="{1BB0046C-8ED1-A1D6-87B3-10CABECFC0D9}"/>
              </a:ext>
            </a:extLst>
          </p:cNvPr>
          <p:cNvGrpSpPr/>
          <p:nvPr/>
        </p:nvGrpSpPr>
        <p:grpSpPr>
          <a:xfrm>
            <a:off x="251004" y="1594884"/>
            <a:ext cx="3086100" cy="8419551"/>
            <a:chOff x="251004" y="1594884"/>
            <a:chExt cx="3086100" cy="8419551"/>
          </a:xfrm>
        </p:grpSpPr>
        <p:sp>
          <p:nvSpPr>
            <p:cNvPr id="13" name="Rectangle: Rounded Corners 12">
              <a:extLst>
                <a:ext uri="{FF2B5EF4-FFF2-40B4-BE49-F238E27FC236}">
                  <a16:creationId xmlns:a16="http://schemas.microsoft.com/office/drawing/2014/main" id="{B8065A2B-4224-B539-36EA-098F9E195A43}"/>
                </a:ext>
              </a:extLst>
            </p:cNvPr>
            <p:cNvSpPr/>
            <p:nvPr/>
          </p:nvSpPr>
          <p:spPr>
            <a:xfrm>
              <a:off x="251004" y="1594884"/>
              <a:ext cx="3086100" cy="1350000"/>
            </a:xfrm>
            <a:prstGeom prst="roundRect">
              <a:avLst>
                <a:gd name="adj" fmla="val 8621"/>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INFRASTRUCTURE</a:t>
              </a:r>
            </a:p>
          </p:txBody>
        </p:sp>
        <p:sp>
          <p:nvSpPr>
            <p:cNvPr id="16" name="Rectangle: Rounded Corners 15">
              <a:extLst>
                <a:ext uri="{FF2B5EF4-FFF2-40B4-BE49-F238E27FC236}">
                  <a16:creationId xmlns:a16="http://schemas.microsoft.com/office/drawing/2014/main" id="{EC7DE2C6-6F15-9D90-988B-59F76D9A680D}"/>
                </a:ext>
              </a:extLst>
            </p:cNvPr>
            <p:cNvSpPr/>
            <p:nvPr/>
          </p:nvSpPr>
          <p:spPr>
            <a:xfrm>
              <a:off x="251004" y="3008795"/>
              <a:ext cx="3086100" cy="1350000"/>
            </a:xfrm>
            <a:prstGeom prst="roundRect">
              <a:avLst>
                <a:gd name="adj" fmla="val 8621"/>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SECURITY</a:t>
              </a:r>
            </a:p>
          </p:txBody>
        </p:sp>
        <p:sp>
          <p:nvSpPr>
            <p:cNvPr id="35" name="Rectangle: Rounded Corners 34">
              <a:extLst>
                <a:ext uri="{FF2B5EF4-FFF2-40B4-BE49-F238E27FC236}">
                  <a16:creationId xmlns:a16="http://schemas.microsoft.com/office/drawing/2014/main" id="{D2FF6409-CBCF-5372-B30A-92E5C331C67B}"/>
                </a:ext>
              </a:extLst>
            </p:cNvPr>
            <p:cNvSpPr/>
            <p:nvPr/>
          </p:nvSpPr>
          <p:spPr>
            <a:xfrm>
              <a:off x="251004" y="4422705"/>
              <a:ext cx="3086100" cy="1350000"/>
            </a:xfrm>
            <a:prstGeom prst="roundRect">
              <a:avLst>
                <a:gd name="adj" fmla="val 8621"/>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PROFESSIONAL SERVICES</a:t>
              </a:r>
            </a:p>
            <a:p>
              <a:pPr algn="ctr"/>
              <a:r>
                <a:rPr lang="en-IN"/>
                <a:t> &amp; DIGITAL WORKPLACE</a:t>
              </a:r>
            </a:p>
          </p:txBody>
        </p:sp>
        <p:sp>
          <p:nvSpPr>
            <p:cNvPr id="40" name="Rectangle: Rounded Corners 39">
              <a:extLst>
                <a:ext uri="{FF2B5EF4-FFF2-40B4-BE49-F238E27FC236}">
                  <a16:creationId xmlns:a16="http://schemas.microsoft.com/office/drawing/2014/main" id="{8FB46934-D113-F287-4047-E3A481C3FF71}"/>
                </a:ext>
              </a:extLst>
            </p:cNvPr>
            <p:cNvSpPr/>
            <p:nvPr/>
          </p:nvSpPr>
          <p:spPr>
            <a:xfrm>
              <a:off x="251004" y="5836616"/>
              <a:ext cx="3086100" cy="1350000"/>
            </a:xfrm>
            <a:prstGeom prst="roundRect">
              <a:avLst>
                <a:gd name="adj" fmla="val 862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MANAGED SERVICES</a:t>
              </a:r>
            </a:p>
          </p:txBody>
        </p:sp>
        <p:sp>
          <p:nvSpPr>
            <p:cNvPr id="41" name="Rectangle: Rounded Corners 40">
              <a:extLst>
                <a:ext uri="{FF2B5EF4-FFF2-40B4-BE49-F238E27FC236}">
                  <a16:creationId xmlns:a16="http://schemas.microsoft.com/office/drawing/2014/main" id="{8F828DB6-FC39-3346-3F9F-078C8DE4541E}"/>
                </a:ext>
              </a:extLst>
            </p:cNvPr>
            <p:cNvSpPr/>
            <p:nvPr/>
          </p:nvSpPr>
          <p:spPr>
            <a:xfrm>
              <a:off x="251004" y="7250526"/>
              <a:ext cx="3086100" cy="1350000"/>
            </a:xfrm>
            <a:prstGeom prst="roundRect">
              <a:avLst>
                <a:gd name="adj" fmla="val 862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DATA ANALYTICS &amp; AI</a:t>
              </a:r>
            </a:p>
          </p:txBody>
        </p:sp>
        <p:sp>
          <p:nvSpPr>
            <p:cNvPr id="42" name="Rectangle: Rounded Corners 41">
              <a:extLst>
                <a:ext uri="{FF2B5EF4-FFF2-40B4-BE49-F238E27FC236}">
                  <a16:creationId xmlns:a16="http://schemas.microsoft.com/office/drawing/2014/main" id="{E28566E5-F91D-B02A-69D0-4BBAF47CABAC}"/>
                </a:ext>
              </a:extLst>
            </p:cNvPr>
            <p:cNvSpPr/>
            <p:nvPr/>
          </p:nvSpPr>
          <p:spPr>
            <a:xfrm>
              <a:off x="251004" y="8664435"/>
              <a:ext cx="3086100" cy="1350000"/>
            </a:xfrm>
            <a:prstGeom prst="roundRect">
              <a:avLst>
                <a:gd name="adj" fmla="val 8621"/>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DEVOPS</a:t>
              </a:r>
            </a:p>
          </p:txBody>
        </p:sp>
      </p:grpSp>
      <p:pic>
        <p:nvPicPr>
          <p:cNvPr id="29" name="Picture 68" descr="Spinnaker Logo Vector (.SVG) Free Download">
            <a:extLst>
              <a:ext uri="{FF2B5EF4-FFF2-40B4-BE49-F238E27FC236}">
                <a16:creationId xmlns:a16="http://schemas.microsoft.com/office/drawing/2014/main" id="{F81BBC57-AAC0-CA5A-AD04-5AB24A85E892}"/>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12717" y="13488411"/>
            <a:ext cx="104572" cy="120659"/>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04DB0127-4845-9D2C-5CCE-2CA8D07FCB05}"/>
              </a:ext>
            </a:extLst>
          </p:cNvPr>
          <p:cNvSpPr/>
          <p:nvPr/>
        </p:nvSpPr>
        <p:spPr>
          <a:xfrm>
            <a:off x="15913000" y="1558412"/>
            <a:ext cx="2232000" cy="1350000"/>
          </a:xfrm>
          <a:prstGeom prst="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65" name="Rectangle 64">
            <a:extLst>
              <a:ext uri="{FF2B5EF4-FFF2-40B4-BE49-F238E27FC236}">
                <a16:creationId xmlns:a16="http://schemas.microsoft.com/office/drawing/2014/main" id="{D9366421-4146-1E8C-EF07-D3E31E0E86D8}"/>
              </a:ext>
            </a:extLst>
          </p:cNvPr>
          <p:cNvSpPr/>
          <p:nvPr/>
        </p:nvSpPr>
        <p:spPr>
          <a:xfrm>
            <a:off x="15913000" y="2976924"/>
            <a:ext cx="2232000" cy="1350000"/>
          </a:xfrm>
          <a:prstGeom prst="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71" name="Rectangle 70">
            <a:extLst>
              <a:ext uri="{FF2B5EF4-FFF2-40B4-BE49-F238E27FC236}">
                <a16:creationId xmlns:a16="http://schemas.microsoft.com/office/drawing/2014/main" id="{2CF5DFF3-E126-7F93-4217-8F1380EF54D3}"/>
              </a:ext>
            </a:extLst>
          </p:cNvPr>
          <p:cNvSpPr/>
          <p:nvPr/>
        </p:nvSpPr>
        <p:spPr>
          <a:xfrm>
            <a:off x="15913000" y="4395437"/>
            <a:ext cx="2232000" cy="1350000"/>
          </a:xfrm>
          <a:prstGeom prst="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72" name="Rectangle 71">
            <a:extLst>
              <a:ext uri="{FF2B5EF4-FFF2-40B4-BE49-F238E27FC236}">
                <a16:creationId xmlns:a16="http://schemas.microsoft.com/office/drawing/2014/main" id="{4447CBDD-327F-FF51-1550-0448879DD0FC}"/>
              </a:ext>
            </a:extLst>
          </p:cNvPr>
          <p:cNvSpPr/>
          <p:nvPr/>
        </p:nvSpPr>
        <p:spPr>
          <a:xfrm>
            <a:off x="15913000" y="5813949"/>
            <a:ext cx="2232000" cy="1350000"/>
          </a:xfrm>
          <a:prstGeom prst="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pic>
        <p:nvPicPr>
          <p:cNvPr id="75" name="Picture 14" descr="CrowdStrike's Brand guide">
            <a:extLst>
              <a:ext uri="{FF2B5EF4-FFF2-40B4-BE49-F238E27FC236}">
                <a16:creationId xmlns:a16="http://schemas.microsoft.com/office/drawing/2014/main" id="{23544594-CEC7-B835-3F8D-977AEB00BEC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95603" y="3603115"/>
            <a:ext cx="1394967" cy="621923"/>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75">
            <a:extLst>
              <a:ext uri="{FF2B5EF4-FFF2-40B4-BE49-F238E27FC236}">
                <a16:creationId xmlns:a16="http://schemas.microsoft.com/office/drawing/2014/main" id="{5BBC2D7B-BE6A-F91F-9ABB-F80DC2F6C4DB}"/>
              </a:ext>
            </a:extLst>
          </p:cNvPr>
          <p:cNvSpPr/>
          <p:nvPr/>
        </p:nvSpPr>
        <p:spPr>
          <a:xfrm>
            <a:off x="3464697" y="1562984"/>
            <a:ext cx="12016005" cy="135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77" name="Rectangle 76">
            <a:extLst>
              <a:ext uri="{FF2B5EF4-FFF2-40B4-BE49-F238E27FC236}">
                <a16:creationId xmlns:a16="http://schemas.microsoft.com/office/drawing/2014/main" id="{7FF03543-8802-B5C6-3DA4-821DB461550C}"/>
              </a:ext>
            </a:extLst>
          </p:cNvPr>
          <p:cNvSpPr/>
          <p:nvPr/>
        </p:nvSpPr>
        <p:spPr>
          <a:xfrm>
            <a:off x="3464697" y="2981496"/>
            <a:ext cx="12016005" cy="135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78" name="Rectangle 77">
            <a:extLst>
              <a:ext uri="{FF2B5EF4-FFF2-40B4-BE49-F238E27FC236}">
                <a16:creationId xmlns:a16="http://schemas.microsoft.com/office/drawing/2014/main" id="{3BC471BA-CA9E-674B-1B59-3BFC576160E3}"/>
              </a:ext>
            </a:extLst>
          </p:cNvPr>
          <p:cNvSpPr/>
          <p:nvPr/>
        </p:nvSpPr>
        <p:spPr>
          <a:xfrm>
            <a:off x="3464697" y="4400009"/>
            <a:ext cx="12016005" cy="135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87" name="Rectangle 86">
            <a:extLst>
              <a:ext uri="{FF2B5EF4-FFF2-40B4-BE49-F238E27FC236}">
                <a16:creationId xmlns:a16="http://schemas.microsoft.com/office/drawing/2014/main" id="{6ED07AB6-3FF3-BA4B-84C6-1C976A235690}"/>
              </a:ext>
            </a:extLst>
          </p:cNvPr>
          <p:cNvSpPr/>
          <p:nvPr/>
        </p:nvSpPr>
        <p:spPr>
          <a:xfrm>
            <a:off x="3464697" y="5818521"/>
            <a:ext cx="12016005" cy="135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pic>
        <p:nvPicPr>
          <p:cNvPr id="114" name="Picture 2">
            <a:extLst>
              <a:ext uri="{FF2B5EF4-FFF2-40B4-BE49-F238E27FC236}">
                <a16:creationId xmlns:a16="http://schemas.microsoft.com/office/drawing/2014/main" id="{C08304D0-7F43-CCCA-32B5-AA1E6B6D69E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02973" y="2124086"/>
            <a:ext cx="762225" cy="456293"/>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4" descr="Azure has a new logo, but where do you download it? Here!">
            <a:extLst>
              <a:ext uri="{FF2B5EF4-FFF2-40B4-BE49-F238E27FC236}">
                <a16:creationId xmlns:a16="http://schemas.microsoft.com/office/drawing/2014/main" id="{F69F4D62-D833-2FE3-92B1-A438894D8F0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92066" y="1635931"/>
            <a:ext cx="1011999" cy="1011999"/>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6" descr="Google Cloud Logo, symbol, meaning, history, PNG, brand">
            <a:extLst>
              <a:ext uri="{FF2B5EF4-FFF2-40B4-BE49-F238E27FC236}">
                <a16:creationId xmlns:a16="http://schemas.microsoft.com/office/drawing/2014/main" id="{D9332640-6461-EAFA-F6EB-CFCE4274627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52983" y="1865609"/>
            <a:ext cx="1048059" cy="589533"/>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8">
            <a:extLst>
              <a:ext uri="{FF2B5EF4-FFF2-40B4-BE49-F238E27FC236}">
                <a16:creationId xmlns:a16="http://schemas.microsoft.com/office/drawing/2014/main" id="{0441E6B7-8185-9F54-F291-B4F6F9A0EC5E}"/>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36219" y="1721459"/>
            <a:ext cx="1168059" cy="833994"/>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24" descr="AWS GuardDuty - AWS Security Identity &amp; Compliance - AWS Video Catalog">
            <a:extLst>
              <a:ext uri="{FF2B5EF4-FFF2-40B4-BE49-F238E27FC236}">
                <a16:creationId xmlns:a16="http://schemas.microsoft.com/office/drawing/2014/main" id="{39466B48-00A4-3126-5AE6-979B8300D332}"/>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3888715" y="3201088"/>
            <a:ext cx="579203" cy="579203"/>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36" descr="Vectra AI &amp; Microsoft Azure Sentinel">
            <a:extLst>
              <a:ext uri="{FF2B5EF4-FFF2-40B4-BE49-F238E27FC236}">
                <a16:creationId xmlns:a16="http://schemas.microsoft.com/office/drawing/2014/main" id="{B0CE55E2-348F-28AA-11FE-B36A5A0F9F0E}"/>
              </a:ext>
            </a:extLst>
          </p:cNvPr>
          <p:cNvPicPr>
            <a:picLocks noChangeAspect="1" noChangeArrowheads="1"/>
          </p:cNvPicPr>
          <p:nvPr/>
        </p:nvPicPr>
        <p:blipFill>
          <a:blip r:embed="rId11" cstate="print">
            <a:clrChange>
              <a:clrFrom>
                <a:srgbClr val="FFFFFF"/>
              </a:clrFrom>
              <a:clrTo>
                <a:srgbClr val="FFFFFF">
                  <a:alpha val="0"/>
                </a:srgbClr>
              </a:clrTo>
            </a:clrChange>
            <a:extLst>
              <a:ext uri="{BEBA8EAE-BF5A-486C-A8C5-ECC9F3942E4B}">
                <a14:imgProps xmlns:a14="http://schemas.microsoft.com/office/drawing/2010/main">
                  <a14:imgLayer r:embed="rId12">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126958" y="3201088"/>
            <a:ext cx="1274247" cy="509699"/>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46" descr="Microsoft Defender for Endpoint P1 and P2 options – Hacknowledge">
            <a:extLst>
              <a:ext uri="{FF2B5EF4-FFF2-40B4-BE49-F238E27FC236}">
                <a16:creationId xmlns:a16="http://schemas.microsoft.com/office/drawing/2014/main" id="{06B0E43B-36BE-D184-1AF2-6E05B0D71925}"/>
              </a:ext>
            </a:extLst>
          </p:cNvPr>
          <p:cNvPicPr>
            <a:picLocks noChangeAspect="1" noChangeArrowheads="1"/>
          </p:cNvPicPr>
          <p:nvPr/>
        </p:nvPicPr>
        <p:blipFill>
          <a:blip r:embed="rId13" cstate="print">
            <a:clrChange>
              <a:clrFrom>
                <a:srgbClr val="FFFFFF"/>
              </a:clrFrom>
              <a:clrTo>
                <a:srgbClr val="FFFFFF">
                  <a:alpha val="0"/>
                </a:srgbClr>
              </a:clrTo>
            </a:clrChange>
            <a:extLst>
              <a:ext uri="{BEBA8EAE-BF5A-486C-A8C5-ECC9F3942E4B}">
                <a14:imgProps xmlns:a14="http://schemas.microsoft.com/office/drawing/2010/main">
                  <a14:imgLayer r:embed="rId14">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5467673" y="3201088"/>
            <a:ext cx="1448502" cy="595958"/>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48" descr="CloudBees Core Enables LDAP Support for Google Cloud Identity">
            <a:extLst>
              <a:ext uri="{FF2B5EF4-FFF2-40B4-BE49-F238E27FC236}">
                <a16:creationId xmlns:a16="http://schemas.microsoft.com/office/drawing/2014/main" id="{F2A7C0A2-5DC6-F7B5-B3B0-CC62B7297B7B}"/>
              </a:ext>
            </a:extLst>
          </p:cNvPr>
          <p:cNvPicPr>
            <a:picLocks noChangeAspect="1" noChangeArrowheads="1"/>
          </p:cNvPicPr>
          <p:nvPr/>
        </p:nvPicPr>
        <p:blipFill>
          <a:blip r:embed="rId15" cstate="print">
            <a:clrChange>
              <a:clrFrom>
                <a:srgbClr val="FFFFFF"/>
              </a:clrFrom>
              <a:clrTo>
                <a:srgbClr val="FFFFFF">
                  <a:alpha val="0"/>
                </a:srgbClr>
              </a:clrTo>
            </a:clrChange>
            <a:extLst>
              <a:ext uri="{BEBA8EAE-BF5A-486C-A8C5-ECC9F3942E4B}">
                <a14:imgProps xmlns:a14="http://schemas.microsoft.com/office/drawing/2010/main">
                  <a14:imgLayer r:embed="rId16">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9953455" y="3201088"/>
            <a:ext cx="2091765" cy="534504"/>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66" descr="AWS — Improving System Resilience While Being Commercially Reasonable. | by  Dishan Metihakwala | Medium">
            <a:extLst>
              <a:ext uri="{FF2B5EF4-FFF2-40B4-BE49-F238E27FC236}">
                <a16:creationId xmlns:a16="http://schemas.microsoft.com/office/drawing/2014/main" id="{9FB5F19A-A958-75F6-7024-F1EC4A47986A}"/>
              </a:ext>
            </a:extLst>
          </p:cNvPr>
          <p:cNvPicPr>
            <a:picLocks noChangeAspect="1" noChangeArrowheads="1"/>
          </p:cNvPicPr>
          <p:nvPr/>
        </p:nvPicPr>
        <p:blipFill>
          <a:blip r:embed="rId17"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18">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8611988" y="3201088"/>
            <a:ext cx="1130684" cy="1006308"/>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72" descr="AWS Security Hub">
            <a:extLst>
              <a:ext uri="{FF2B5EF4-FFF2-40B4-BE49-F238E27FC236}">
                <a16:creationId xmlns:a16="http://schemas.microsoft.com/office/drawing/2014/main" id="{F6FFF07C-C5DF-9685-ABA4-28BFB0FC331F}"/>
              </a:ext>
            </a:extLst>
          </p:cNvPr>
          <p:cNvPicPr>
            <a:picLocks noChangeAspect="1" noChangeArrowheads="1"/>
          </p:cNvPicPr>
          <p:nvPr/>
        </p:nvPicPr>
        <p:blipFill>
          <a:blip r:embed="rId19" cstate="print">
            <a:extLst>
              <a:ext uri="{BEBA8EAE-BF5A-486C-A8C5-ECC9F3942E4B}">
                <a14:imgProps xmlns:a14="http://schemas.microsoft.com/office/drawing/2010/main">
                  <a14:imgLayer r:embed="rId20">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4678701" y="3201088"/>
            <a:ext cx="578189" cy="575621"/>
          </a:xfrm>
          <a:prstGeom prst="rect">
            <a:avLst/>
          </a:prstGeom>
          <a:noFill/>
          <a:extLst>
            <a:ext uri="{909E8E84-426E-40DD-AFC4-6F175D3DCCD1}">
              <a14:hiddenFill xmlns:a14="http://schemas.microsoft.com/office/drawing/2010/main">
                <a:solidFill>
                  <a:srgbClr val="FFFFFF"/>
                </a:solidFill>
              </a14:hiddenFill>
            </a:ext>
          </a:extLst>
        </p:spPr>
      </p:pic>
      <p:sp>
        <p:nvSpPr>
          <p:cNvPr id="134" name="TextBox 133">
            <a:extLst>
              <a:ext uri="{FF2B5EF4-FFF2-40B4-BE49-F238E27FC236}">
                <a16:creationId xmlns:a16="http://schemas.microsoft.com/office/drawing/2014/main" id="{26E74693-7C2A-DC5E-E675-55742E6FDDAC}"/>
              </a:ext>
            </a:extLst>
          </p:cNvPr>
          <p:cNvSpPr txBox="1"/>
          <p:nvPr/>
        </p:nvSpPr>
        <p:spPr>
          <a:xfrm>
            <a:off x="3424586" y="3863233"/>
            <a:ext cx="1239338" cy="300082"/>
          </a:xfrm>
          <a:prstGeom prst="rect">
            <a:avLst/>
          </a:prstGeom>
          <a:noFill/>
        </p:spPr>
        <p:txBody>
          <a:bodyPr wrap="square">
            <a:spAutoFit/>
          </a:bodyPr>
          <a:lstStyle/>
          <a:p>
            <a:pPr algn="ctr"/>
            <a:r>
              <a:rPr lang="en-US" sz="1350" b="1">
                <a:solidFill>
                  <a:srgbClr val="2E363C"/>
                </a:solidFill>
                <a:ea typeface="Microsoft Sans Serif" panose="020B0604020202020204" pitchFamily="34" charset="0"/>
              </a:rPr>
              <a:t>Guard Duty</a:t>
            </a:r>
            <a:endParaRPr lang="en-IN" sz="1350" b="1"/>
          </a:p>
        </p:txBody>
      </p:sp>
      <p:sp>
        <p:nvSpPr>
          <p:cNvPr id="136" name="TextBox 135">
            <a:extLst>
              <a:ext uri="{FF2B5EF4-FFF2-40B4-BE49-F238E27FC236}">
                <a16:creationId xmlns:a16="http://schemas.microsoft.com/office/drawing/2014/main" id="{27798816-1A26-CD0D-D7CF-517DDE32DF3C}"/>
              </a:ext>
            </a:extLst>
          </p:cNvPr>
          <p:cNvSpPr txBox="1"/>
          <p:nvPr/>
        </p:nvSpPr>
        <p:spPr>
          <a:xfrm>
            <a:off x="4414637" y="3825284"/>
            <a:ext cx="1352019" cy="507831"/>
          </a:xfrm>
          <a:prstGeom prst="rect">
            <a:avLst/>
          </a:prstGeom>
          <a:noFill/>
        </p:spPr>
        <p:txBody>
          <a:bodyPr wrap="square">
            <a:spAutoFit/>
          </a:bodyPr>
          <a:lstStyle/>
          <a:p>
            <a:pPr algn="ctr"/>
            <a:r>
              <a:rPr lang="en-US" sz="1350" b="1">
                <a:solidFill>
                  <a:srgbClr val="2E363C"/>
                </a:solidFill>
                <a:ea typeface="Microsoft Sans Serif" panose="020B0604020202020204" pitchFamily="34" charset="0"/>
              </a:rPr>
              <a:t>AWS Security Hub</a:t>
            </a:r>
            <a:endParaRPr lang="en-IN" sz="1350" b="1"/>
          </a:p>
        </p:txBody>
      </p:sp>
      <p:pic>
        <p:nvPicPr>
          <p:cNvPr id="142" name="Picture 2" descr="Google Cloud Armor | Google Cloud Platform">
            <a:extLst>
              <a:ext uri="{FF2B5EF4-FFF2-40B4-BE49-F238E27FC236}">
                <a16:creationId xmlns:a16="http://schemas.microsoft.com/office/drawing/2014/main" id="{58C01807-ECD3-BE4A-E312-727528E7626F}"/>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466353" y="3201088"/>
            <a:ext cx="582303" cy="692543"/>
          </a:xfrm>
          <a:prstGeom prst="rect">
            <a:avLst/>
          </a:prstGeom>
          <a:noFill/>
          <a:extLst>
            <a:ext uri="{909E8E84-426E-40DD-AFC4-6F175D3DCCD1}">
              <a14:hiddenFill xmlns:a14="http://schemas.microsoft.com/office/drawing/2010/main">
                <a:solidFill>
                  <a:srgbClr val="FFFFFF"/>
                </a:solidFill>
              </a14:hiddenFill>
            </a:ext>
          </a:extLst>
        </p:spPr>
      </p:pic>
      <p:sp>
        <p:nvSpPr>
          <p:cNvPr id="143" name="TextBox 142">
            <a:extLst>
              <a:ext uri="{FF2B5EF4-FFF2-40B4-BE49-F238E27FC236}">
                <a16:creationId xmlns:a16="http://schemas.microsoft.com/office/drawing/2014/main" id="{643A7BC4-A194-6624-59D9-DD6FA6E72B91}"/>
              </a:ext>
            </a:extLst>
          </p:cNvPr>
          <p:cNvSpPr txBox="1"/>
          <p:nvPr/>
        </p:nvSpPr>
        <p:spPr>
          <a:xfrm>
            <a:off x="13983668" y="3801330"/>
            <a:ext cx="1352019" cy="507831"/>
          </a:xfrm>
          <a:prstGeom prst="rect">
            <a:avLst/>
          </a:prstGeom>
          <a:noFill/>
        </p:spPr>
        <p:txBody>
          <a:bodyPr wrap="square">
            <a:spAutoFit/>
          </a:bodyPr>
          <a:lstStyle/>
          <a:p>
            <a:pPr algn="ctr"/>
            <a:r>
              <a:rPr lang="en-US" sz="1350" b="1">
                <a:solidFill>
                  <a:srgbClr val="2E363C"/>
                </a:solidFill>
                <a:ea typeface="Microsoft Sans Serif" panose="020B0604020202020204" pitchFamily="34" charset="0"/>
              </a:rPr>
              <a:t>GCP Cloud Armor</a:t>
            </a:r>
            <a:endParaRPr lang="en-IN" sz="1350" b="1"/>
          </a:p>
        </p:txBody>
      </p:sp>
      <p:pic>
        <p:nvPicPr>
          <p:cNvPr id="144" name="Picture 143" descr="A black background with blue and green text&#10;&#10;Description automatically generated">
            <a:extLst>
              <a:ext uri="{FF2B5EF4-FFF2-40B4-BE49-F238E27FC236}">
                <a16:creationId xmlns:a16="http://schemas.microsoft.com/office/drawing/2014/main" id="{5EB7DBE9-876F-3E9F-1532-B4629970D9DD}"/>
              </a:ext>
            </a:extLst>
          </p:cNvPr>
          <p:cNvPicPr>
            <a:picLocks noChangeAspect="1"/>
          </p:cNvPicPr>
          <p:nvPr/>
        </p:nvPicPr>
        <p:blipFill rotWithShape="1">
          <a:blip r:embed="rId22"/>
          <a:srcRect t="27643" b="30692"/>
          <a:stretch/>
        </p:blipFill>
        <p:spPr>
          <a:xfrm>
            <a:off x="3647151" y="4675532"/>
            <a:ext cx="1814484" cy="756000"/>
          </a:xfrm>
          <a:prstGeom prst="rect">
            <a:avLst/>
          </a:prstGeom>
        </p:spPr>
      </p:pic>
      <p:pic>
        <p:nvPicPr>
          <p:cNvPr id="145" name="Picture 144">
            <a:extLst>
              <a:ext uri="{FF2B5EF4-FFF2-40B4-BE49-F238E27FC236}">
                <a16:creationId xmlns:a16="http://schemas.microsoft.com/office/drawing/2014/main" id="{97D6E49D-3E75-FDAE-C2F4-5FA3BF5F5B47}"/>
              </a:ext>
            </a:extLst>
          </p:cNvPr>
          <p:cNvPicPr/>
          <p:nvPr/>
        </p:nvPicPr>
        <p:blipFill>
          <a:blip r:embed="rId23"/>
          <a:stretch>
            <a:fillRect/>
          </a:stretch>
        </p:blipFill>
        <p:spPr>
          <a:xfrm>
            <a:off x="5795705" y="4675532"/>
            <a:ext cx="1725786" cy="756000"/>
          </a:xfrm>
          <a:prstGeom prst="rect">
            <a:avLst/>
          </a:prstGeom>
        </p:spPr>
      </p:pic>
      <p:pic>
        <p:nvPicPr>
          <p:cNvPr id="146" name="Picture 24" descr="Amazon WorkSpaces - Apps on Google Play">
            <a:extLst>
              <a:ext uri="{FF2B5EF4-FFF2-40B4-BE49-F238E27FC236}">
                <a16:creationId xmlns:a16="http://schemas.microsoft.com/office/drawing/2014/main" id="{A8D6DDAE-3A42-FB92-B84B-3273D74A45C8}"/>
              </a:ext>
            </a:extLst>
          </p:cNvPr>
          <p:cNvPicPr>
            <a:picLocks noChangeAspect="1" noChangeArrowheads="1"/>
          </p:cNvPicPr>
          <p:nvPr/>
        </p:nvPicPr>
        <p:blipFill rotWithShape="1">
          <a:blip r:embed="rId24">
            <a:clrChange>
              <a:clrFrom>
                <a:srgbClr val="FFFFFF"/>
              </a:clrFrom>
              <a:clrTo>
                <a:srgbClr val="FFFFFF">
                  <a:alpha val="0"/>
                </a:srgbClr>
              </a:clrTo>
            </a:clrChange>
            <a:extLst>
              <a:ext uri="{28A0092B-C50C-407E-A947-70E740481C1C}">
                <a14:useLocalDpi xmlns:a14="http://schemas.microsoft.com/office/drawing/2010/main" val="0"/>
              </a:ext>
            </a:extLst>
          </a:blip>
          <a:srcRect l="10242" t="24755" r="12400" b="29062"/>
          <a:stretch/>
        </p:blipFill>
        <p:spPr bwMode="auto">
          <a:xfrm>
            <a:off x="9671349" y="4675532"/>
            <a:ext cx="2593479" cy="756000"/>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26" descr="AppDS - Application Delivery Solutions">
            <a:extLst>
              <a:ext uri="{FF2B5EF4-FFF2-40B4-BE49-F238E27FC236}">
                <a16:creationId xmlns:a16="http://schemas.microsoft.com/office/drawing/2014/main" id="{75D2AE17-5CCB-8237-4B9B-0112E8369D07}"/>
              </a:ext>
            </a:extLst>
          </p:cNvPr>
          <p:cNvPicPr>
            <a:picLocks noChangeAspect="1" noChangeArrowheads="1"/>
          </p:cNvPicPr>
          <p:nvPr/>
        </p:nvPicPr>
        <p:blipFill>
          <a:blip r:embed="rId2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98897" y="4675532"/>
            <a:ext cx="2737791" cy="756000"/>
          </a:xfrm>
          <a:prstGeom prst="rect">
            <a:avLst/>
          </a:prstGeom>
          <a:noFill/>
          <a:extLst>
            <a:ext uri="{909E8E84-426E-40DD-AFC4-6F175D3DCCD1}">
              <a14:hiddenFill xmlns:a14="http://schemas.microsoft.com/office/drawing/2010/main">
                <a:solidFill>
                  <a:srgbClr val="FFFFFF"/>
                </a:solidFill>
              </a14:hiddenFill>
            </a:ext>
          </a:extLst>
        </p:spPr>
      </p:pic>
      <p:cxnSp>
        <p:nvCxnSpPr>
          <p:cNvPr id="176" name="Straight Connector 175">
            <a:extLst>
              <a:ext uri="{FF2B5EF4-FFF2-40B4-BE49-F238E27FC236}">
                <a16:creationId xmlns:a16="http://schemas.microsoft.com/office/drawing/2014/main" id="{F729F73A-5C1F-6176-DF0D-DC3E922F0AA7}"/>
              </a:ext>
            </a:extLst>
          </p:cNvPr>
          <p:cNvCxnSpPr>
            <a:cxnSpLocks/>
          </p:cNvCxnSpPr>
          <p:nvPr/>
        </p:nvCxnSpPr>
        <p:spPr>
          <a:xfrm>
            <a:off x="15624720" y="1560530"/>
            <a:ext cx="0" cy="840609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7" name="Picture 18" descr="Oracle Cloud Logo - Oracle Cloud Logo Vector PNG Image | Transparent PNG  Free Download on SeekPNG">
            <a:extLst>
              <a:ext uri="{FF2B5EF4-FFF2-40B4-BE49-F238E27FC236}">
                <a16:creationId xmlns:a16="http://schemas.microsoft.com/office/drawing/2014/main" id="{645922C8-0108-85FE-9F2D-039B304E9D8D}"/>
              </a:ext>
            </a:extLst>
          </p:cNvPr>
          <p:cNvPicPr>
            <a:picLocks noChangeAspect="1" noChangeArrowheads="1"/>
          </p:cNvPicPr>
          <p:nvPr/>
        </p:nvPicPr>
        <p:blipFill>
          <a:blip r:embed="rId26"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12349301" y="1946216"/>
            <a:ext cx="1439232" cy="559896"/>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12" descr="DigiGlass Launch Event - GEC Media Group">
            <a:extLst>
              <a:ext uri="{FF2B5EF4-FFF2-40B4-BE49-F238E27FC236}">
                <a16:creationId xmlns:a16="http://schemas.microsoft.com/office/drawing/2014/main" id="{6EF250B1-BE56-0399-E604-A75FC7CF941D}"/>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2256003" y="3201088"/>
            <a:ext cx="1999568" cy="666522"/>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178" descr="A green and black logo&#10;&#10;Description automatically generated">
            <a:extLst>
              <a:ext uri="{FF2B5EF4-FFF2-40B4-BE49-F238E27FC236}">
                <a16:creationId xmlns:a16="http://schemas.microsoft.com/office/drawing/2014/main" id="{4A059F18-75FD-B888-0CCD-B48CCE3EB682}"/>
              </a:ext>
            </a:extLst>
          </p:cNvPr>
          <p:cNvPicPr>
            <a:picLocks noChangeAspect="1"/>
          </p:cNvPicPr>
          <p:nvPr/>
        </p:nvPicPr>
        <p:blipFill rotWithShape="1">
          <a:blip r:embed="rId28" cstate="print">
            <a:extLst>
              <a:ext uri="{28A0092B-C50C-407E-A947-70E740481C1C}">
                <a14:useLocalDpi xmlns:a14="http://schemas.microsoft.com/office/drawing/2010/main" val="0"/>
              </a:ext>
            </a:extLst>
          </a:blip>
          <a:srcRect l="10044" t="27491" r="12537" b="33009"/>
          <a:stretch/>
        </p:blipFill>
        <p:spPr>
          <a:xfrm>
            <a:off x="7855561" y="4675532"/>
            <a:ext cx="1481718" cy="756000"/>
          </a:xfrm>
          <a:prstGeom prst="rect">
            <a:avLst/>
          </a:prstGeom>
        </p:spPr>
      </p:pic>
      <p:grpSp>
        <p:nvGrpSpPr>
          <p:cNvPr id="2" name="Group 1">
            <a:extLst>
              <a:ext uri="{FF2B5EF4-FFF2-40B4-BE49-F238E27FC236}">
                <a16:creationId xmlns:a16="http://schemas.microsoft.com/office/drawing/2014/main" id="{F0D15BA9-7FE2-A1B5-E503-37BA5024B4AC}"/>
              </a:ext>
            </a:extLst>
          </p:cNvPr>
          <p:cNvGrpSpPr/>
          <p:nvPr/>
        </p:nvGrpSpPr>
        <p:grpSpPr>
          <a:xfrm>
            <a:off x="16533032" y="-1075004"/>
            <a:ext cx="1107912" cy="2880000"/>
            <a:chOff x="16533032" y="-1075004"/>
            <a:chExt cx="1414436" cy="3842240"/>
          </a:xfrm>
        </p:grpSpPr>
        <p:grpSp>
          <p:nvGrpSpPr>
            <p:cNvPr id="3" name="Group 26">
              <a:extLst>
                <a:ext uri="{FF2B5EF4-FFF2-40B4-BE49-F238E27FC236}">
                  <a16:creationId xmlns:a16="http://schemas.microsoft.com/office/drawing/2014/main" id="{5A81CC38-7AB1-D9FC-154F-47EF66C208E4}"/>
                </a:ext>
              </a:extLst>
            </p:cNvPr>
            <p:cNvGrpSpPr/>
            <p:nvPr/>
          </p:nvGrpSpPr>
          <p:grpSpPr>
            <a:xfrm rot="-5400000">
              <a:off x="15319130" y="138898"/>
              <a:ext cx="3842240" cy="1414436"/>
              <a:chOff x="0" y="0"/>
              <a:chExt cx="1103964" cy="406400"/>
            </a:xfrm>
          </p:grpSpPr>
          <p:sp>
            <p:nvSpPr>
              <p:cNvPr id="5" name="Freeform 27">
                <a:extLst>
                  <a:ext uri="{FF2B5EF4-FFF2-40B4-BE49-F238E27FC236}">
                    <a16:creationId xmlns:a16="http://schemas.microsoft.com/office/drawing/2014/main" id="{A6FA389F-FBB2-5208-9120-760CD5AFCC97}"/>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endParaRPr lang="en-US"/>
              </a:p>
            </p:txBody>
          </p:sp>
        </p:grpSp>
        <p:pic>
          <p:nvPicPr>
            <p:cNvPr id="4" name="Picture 28">
              <a:extLst>
                <a:ext uri="{FF2B5EF4-FFF2-40B4-BE49-F238E27FC236}">
                  <a16:creationId xmlns:a16="http://schemas.microsoft.com/office/drawing/2014/main" id="{206EF921-59F9-87AE-499E-CFAF18DC9C72}"/>
                </a:ext>
              </a:extLst>
            </p:cNvPr>
            <p:cNvPicPr>
              <a:picLocks noChangeAspect="1"/>
            </p:cNvPicPr>
            <p:nvPr/>
          </p:nvPicPr>
          <p:blipFill>
            <a:blip r:embed="rId29"/>
            <a:srcRect r="83814"/>
            <a:stretch>
              <a:fillRect/>
            </a:stretch>
          </p:blipFill>
          <p:spPr>
            <a:xfrm>
              <a:off x="16900996" y="1166576"/>
              <a:ext cx="716608" cy="1145609"/>
            </a:xfrm>
            <a:prstGeom prst="rect">
              <a:avLst/>
            </a:prstGeom>
          </p:spPr>
        </p:pic>
      </p:grpSp>
      <p:graphicFrame>
        <p:nvGraphicFramePr>
          <p:cNvPr id="7" name="Table 6">
            <a:extLst>
              <a:ext uri="{FF2B5EF4-FFF2-40B4-BE49-F238E27FC236}">
                <a16:creationId xmlns:a16="http://schemas.microsoft.com/office/drawing/2014/main" id="{37E4072C-A303-34A3-5E7A-B783AD7D6738}"/>
              </a:ext>
            </a:extLst>
          </p:cNvPr>
          <p:cNvGraphicFramePr>
            <a:graphicFrameLocks noGrp="1"/>
          </p:cNvGraphicFramePr>
          <p:nvPr/>
        </p:nvGraphicFramePr>
        <p:xfrm>
          <a:off x="3663393" y="5910657"/>
          <a:ext cx="11673048" cy="1087652"/>
        </p:xfrm>
        <a:graphic>
          <a:graphicData uri="http://schemas.openxmlformats.org/drawingml/2006/table">
            <a:tbl>
              <a:tblPr firstRow="1" bandRow="1">
                <a:tableStyleId>{5C22544A-7EE6-4342-B048-85BDC9FD1C3A}</a:tableStyleId>
              </a:tblPr>
              <a:tblGrid>
                <a:gridCol w="3891016">
                  <a:extLst>
                    <a:ext uri="{9D8B030D-6E8A-4147-A177-3AD203B41FA5}">
                      <a16:colId xmlns:a16="http://schemas.microsoft.com/office/drawing/2014/main" val="1103269818"/>
                    </a:ext>
                  </a:extLst>
                </a:gridCol>
                <a:gridCol w="3891016">
                  <a:extLst>
                    <a:ext uri="{9D8B030D-6E8A-4147-A177-3AD203B41FA5}">
                      <a16:colId xmlns:a16="http://schemas.microsoft.com/office/drawing/2014/main" val="2352899766"/>
                    </a:ext>
                  </a:extLst>
                </a:gridCol>
                <a:gridCol w="3891016">
                  <a:extLst>
                    <a:ext uri="{9D8B030D-6E8A-4147-A177-3AD203B41FA5}">
                      <a16:colId xmlns:a16="http://schemas.microsoft.com/office/drawing/2014/main" val="3731077818"/>
                    </a:ext>
                  </a:extLst>
                </a:gridCol>
              </a:tblGrid>
              <a:tr h="1087652">
                <a:tc>
                  <a:txBody>
                    <a:bodyPr/>
                    <a:lstStyle/>
                    <a:p>
                      <a:pPr algn="ctr"/>
                      <a:r>
                        <a:rPr lang="en-US" sz="2000">
                          <a:solidFill>
                            <a:schemeClr val="accent3">
                              <a:lumMod val="75000"/>
                            </a:schemeClr>
                          </a:solidFill>
                          <a:latin typeface="Aptos" panose="020B0004020202020204" pitchFamily="34" charset="0"/>
                        </a:rPr>
                        <a:t>Service Management</a:t>
                      </a:r>
                      <a:endParaRPr lang="en-IN" sz="2000">
                        <a:solidFill>
                          <a:schemeClr val="accent3">
                            <a:lumMod val="75000"/>
                          </a:schemeClr>
                        </a:solidFill>
                        <a:latin typeface="Aptos" panose="020B0004020202020204" pitchFamily="34"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sz="2000">
                          <a:solidFill>
                            <a:schemeClr val="accent3">
                              <a:lumMod val="75000"/>
                            </a:schemeClr>
                          </a:solidFill>
                          <a:latin typeface="Aptos" panose="020B0004020202020204" pitchFamily="34" charset="0"/>
                        </a:rPr>
                        <a:t>Monitoring</a:t>
                      </a:r>
                      <a:endParaRPr lang="en-IN" sz="2000">
                        <a:solidFill>
                          <a:schemeClr val="accent3">
                            <a:lumMod val="75000"/>
                          </a:schemeClr>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r>
                        <a:rPr lang="en-US" sz="2000">
                          <a:solidFill>
                            <a:schemeClr val="accent3">
                              <a:lumMod val="75000"/>
                            </a:schemeClr>
                          </a:solidFill>
                          <a:latin typeface="Aptos" panose="020B0004020202020204" pitchFamily="34" charset="0"/>
                        </a:rPr>
                        <a:t>Optimization</a:t>
                      </a:r>
                      <a:endParaRPr lang="en-IN" sz="2000">
                        <a:solidFill>
                          <a:schemeClr val="accent3">
                            <a:lumMod val="75000"/>
                          </a:schemeClr>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157366362"/>
                  </a:ext>
                </a:extLst>
              </a:tr>
            </a:tbl>
          </a:graphicData>
        </a:graphic>
      </p:graphicFrame>
      <p:pic>
        <p:nvPicPr>
          <p:cNvPr id="8" name="Picture 4" descr="S Con | Freshdesk | Customer Support Solutions">
            <a:extLst>
              <a:ext uri="{FF2B5EF4-FFF2-40B4-BE49-F238E27FC236}">
                <a16:creationId xmlns:a16="http://schemas.microsoft.com/office/drawing/2014/main" id="{4EB22CF0-93D4-DC1A-85A1-FCE8483FF8BD}"/>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527376" y="6439644"/>
            <a:ext cx="1881172" cy="4891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black background with green text&#10;&#10;Description automatically generated">
            <a:extLst>
              <a:ext uri="{FF2B5EF4-FFF2-40B4-BE49-F238E27FC236}">
                <a16:creationId xmlns:a16="http://schemas.microsoft.com/office/drawing/2014/main" id="{0636C65E-85D8-6CCF-1620-63B8549CC152}"/>
              </a:ext>
            </a:extLst>
          </p:cNvPr>
          <p:cNvPicPr>
            <a:picLocks noChangeAspect="1"/>
          </p:cNvPicPr>
          <p:nvPr/>
        </p:nvPicPr>
        <p:blipFill rotWithShape="1">
          <a:blip r:embed="rId31"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t="36924" b="33525"/>
          <a:stretch/>
        </p:blipFill>
        <p:spPr>
          <a:xfrm>
            <a:off x="5543600" y="6404284"/>
            <a:ext cx="2069034" cy="611424"/>
          </a:xfrm>
          <a:prstGeom prst="rect">
            <a:avLst/>
          </a:prstGeom>
        </p:spPr>
      </p:pic>
      <p:pic>
        <p:nvPicPr>
          <p:cNvPr id="10" name="Picture 22" descr="Site24x7 Branding Kit">
            <a:extLst>
              <a:ext uri="{FF2B5EF4-FFF2-40B4-BE49-F238E27FC236}">
                <a16:creationId xmlns:a16="http://schemas.microsoft.com/office/drawing/2014/main" id="{C976278F-04B3-7576-ADDD-0E620F70AE4A}"/>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7631832" y="6499444"/>
            <a:ext cx="1394967" cy="2846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background with blue and green text&#10;&#10;Description automatically generated">
            <a:extLst>
              <a:ext uri="{FF2B5EF4-FFF2-40B4-BE49-F238E27FC236}">
                <a16:creationId xmlns:a16="http://schemas.microsoft.com/office/drawing/2014/main" id="{800E1BB1-C613-9B8F-14FB-965EE9E4C3A9}"/>
              </a:ext>
            </a:extLst>
          </p:cNvPr>
          <p:cNvPicPr>
            <a:picLocks noChangeAspect="1"/>
          </p:cNvPicPr>
          <p:nvPr/>
        </p:nvPicPr>
        <p:blipFill rotWithShape="1">
          <a:blip r:embed="rId22"/>
          <a:srcRect t="27643" b="30692"/>
          <a:stretch/>
        </p:blipFill>
        <p:spPr>
          <a:xfrm>
            <a:off x="9244028" y="6127199"/>
            <a:ext cx="2276236" cy="948389"/>
          </a:xfrm>
          <a:prstGeom prst="rect">
            <a:avLst/>
          </a:prstGeom>
        </p:spPr>
      </p:pic>
      <p:pic>
        <p:nvPicPr>
          <p:cNvPr id="12" name="Picture 11" descr="A black background with blue and green text&#10;&#10;Description automatically generated">
            <a:extLst>
              <a:ext uri="{FF2B5EF4-FFF2-40B4-BE49-F238E27FC236}">
                <a16:creationId xmlns:a16="http://schemas.microsoft.com/office/drawing/2014/main" id="{D96060C9-468D-ECE2-DE43-13695F63B2E7}"/>
              </a:ext>
            </a:extLst>
          </p:cNvPr>
          <p:cNvPicPr>
            <a:picLocks noChangeAspect="1"/>
          </p:cNvPicPr>
          <p:nvPr/>
        </p:nvPicPr>
        <p:blipFill rotWithShape="1">
          <a:blip r:embed="rId22"/>
          <a:srcRect t="27643" b="30692"/>
          <a:stretch/>
        </p:blipFill>
        <p:spPr>
          <a:xfrm>
            <a:off x="12240344" y="6188504"/>
            <a:ext cx="2503859" cy="1043228"/>
          </a:xfrm>
          <a:prstGeom prst="rect">
            <a:avLst/>
          </a:prstGeom>
        </p:spPr>
      </p:pic>
      <p:graphicFrame>
        <p:nvGraphicFramePr>
          <p:cNvPr id="14" name="Table 13">
            <a:extLst>
              <a:ext uri="{FF2B5EF4-FFF2-40B4-BE49-F238E27FC236}">
                <a16:creationId xmlns:a16="http://schemas.microsoft.com/office/drawing/2014/main" id="{16838062-F1DE-9309-2C0B-B0BE5F53DDE3}"/>
              </a:ext>
            </a:extLst>
          </p:cNvPr>
          <p:cNvGraphicFramePr>
            <a:graphicFrameLocks noGrp="1"/>
          </p:cNvGraphicFramePr>
          <p:nvPr/>
        </p:nvGraphicFramePr>
        <p:xfrm>
          <a:off x="3663640" y="7368216"/>
          <a:ext cx="11673048" cy="1087652"/>
        </p:xfrm>
        <a:graphic>
          <a:graphicData uri="http://schemas.openxmlformats.org/drawingml/2006/table">
            <a:tbl>
              <a:tblPr firstRow="1" bandRow="1">
                <a:tableStyleId>{5C22544A-7EE6-4342-B048-85BDC9FD1C3A}</a:tableStyleId>
              </a:tblPr>
              <a:tblGrid>
                <a:gridCol w="3891016">
                  <a:extLst>
                    <a:ext uri="{9D8B030D-6E8A-4147-A177-3AD203B41FA5}">
                      <a16:colId xmlns:a16="http://schemas.microsoft.com/office/drawing/2014/main" val="1103269818"/>
                    </a:ext>
                  </a:extLst>
                </a:gridCol>
                <a:gridCol w="3891016">
                  <a:extLst>
                    <a:ext uri="{9D8B030D-6E8A-4147-A177-3AD203B41FA5}">
                      <a16:colId xmlns:a16="http://schemas.microsoft.com/office/drawing/2014/main" val="2352899766"/>
                    </a:ext>
                  </a:extLst>
                </a:gridCol>
                <a:gridCol w="3891016">
                  <a:extLst>
                    <a:ext uri="{9D8B030D-6E8A-4147-A177-3AD203B41FA5}">
                      <a16:colId xmlns:a16="http://schemas.microsoft.com/office/drawing/2014/main" val="3731077818"/>
                    </a:ext>
                  </a:extLst>
                </a:gridCol>
              </a:tblGrid>
              <a:tr h="1087652">
                <a:tc>
                  <a:txBody>
                    <a:bodyPr/>
                    <a:lstStyle/>
                    <a:p>
                      <a:pPr algn="ctr"/>
                      <a:r>
                        <a:rPr lang="en-US" sz="2000">
                          <a:solidFill>
                            <a:schemeClr val="accent3">
                              <a:lumMod val="75000"/>
                            </a:schemeClr>
                          </a:solidFill>
                          <a:latin typeface="Aptos" panose="020B0004020202020204" pitchFamily="34" charset="0"/>
                        </a:rPr>
                        <a:t>Ingestion &amp; ETL</a:t>
                      </a:r>
                      <a:endParaRPr lang="en-IN" sz="2000">
                        <a:solidFill>
                          <a:schemeClr val="accent3">
                            <a:lumMod val="75000"/>
                          </a:schemeClr>
                        </a:solidFill>
                        <a:latin typeface="Aptos" panose="020B0004020202020204" pitchFamily="34" charset="0"/>
                      </a:endParaRPr>
                    </a:p>
                  </a:txBody>
                  <a:tcPr>
                    <a:lnR w="12700" cap="flat" cmpd="sng" algn="ctr">
                      <a:solidFill>
                        <a:schemeClr val="tx1"/>
                      </a:solidFill>
                      <a:prstDash val="solid"/>
                      <a:round/>
                      <a:headEnd type="none" w="med" len="med"/>
                      <a:tailEnd type="none" w="med" len="med"/>
                    </a:lnR>
                    <a:noFill/>
                  </a:tcPr>
                </a:tc>
                <a:tc>
                  <a:txBody>
                    <a:bodyPr/>
                    <a:lstStyle/>
                    <a:p>
                      <a:pPr algn="ctr"/>
                      <a:r>
                        <a:rPr lang="en-US" sz="2000">
                          <a:solidFill>
                            <a:schemeClr val="accent3">
                              <a:lumMod val="75000"/>
                            </a:schemeClr>
                          </a:solidFill>
                          <a:latin typeface="Aptos" panose="020B0004020202020204" pitchFamily="34" charset="0"/>
                        </a:rPr>
                        <a:t>Data warehousing</a:t>
                      </a:r>
                      <a:endParaRPr lang="en-IN" sz="2000">
                        <a:solidFill>
                          <a:schemeClr val="accent3">
                            <a:lumMod val="75000"/>
                          </a:schemeClr>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r>
                        <a:rPr lang="en-US" sz="2000">
                          <a:solidFill>
                            <a:schemeClr val="accent3">
                              <a:lumMod val="75000"/>
                            </a:schemeClr>
                          </a:solidFill>
                          <a:latin typeface="Aptos" panose="020B0004020202020204" pitchFamily="34" charset="0"/>
                        </a:rPr>
                        <a:t>Business Intelligence</a:t>
                      </a:r>
                      <a:endParaRPr lang="en-IN" sz="2000">
                        <a:solidFill>
                          <a:schemeClr val="accent3">
                            <a:lumMod val="75000"/>
                          </a:schemeClr>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157366362"/>
                  </a:ext>
                </a:extLst>
              </a:tr>
            </a:tbl>
          </a:graphicData>
        </a:graphic>
      </p:graphicFrame>
      <p:sp>
        <p:nvSpPr>
          <p:cNvPr id="15" name="Rectangle 14">
            <a:extLst>
              <a:ext uri="{FF2B5EF4-FFF2-40B4-BE49-F238E27FC236}">
                <a16:creationId xmlns:a16="http://schemas.microsoft.com/office/drawing/2014/main" id="{ED4195C5-C963-4CBD-6B41-B90D714A6B8C}"/>
              </a:ext>
            </a:extLst>
          </p:cNvPr>
          <p:cNvSpPr/>
          <p:nvPr/>
        </p:nvSpPr>
        <p:spPr>
          <a:xfrm>
            <a:off x="3455368" y="7249884"/>
            <a:ext cx="12016005" cy="135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pic>
        <p:nvPicPr>
          <p:cNvPr id="17" name="Picture 34">
            <a:extLst>
              <a:ext uri="{FF2B5EF4-FFF2-40B4-BE49-F238E27FC236}">
                <a16:creationId xmlns:a16="http://schemas.microsoft.com/office/drawing/2014/main" id="{20570492-1A1A-C23E-EC09-3C7A74CC356B}"/>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3648620" y="7674950"/>
            <a:ext cx="1048059" cy="37787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6">
            <a:extLst>
              <a:ext uri="{FF2B5EF4-FFF2-40B4-BE49-F238E27FC236}">
                <a16:creationId xmlns:a16="http://schemas.microsoft.com/office/drawing/2014/main" id="{B2ACE817-F47D-3398-AAA2-C360CC4811FA}"/>
              </a:ext>
            </a:extLst>
          </p:cNvPr>
          <p:cNvPicPr>
            <a:picLocks noChangeAspect="1" noChangeArrowheads="1"/>
          </p:cNvPicPr>
          <p:nvPr/>
        </p:nvPicPr>
        <p:blipFill rotWithShape="1">
          <a:blip r:embed="rId34" cstate="print">
            <a:clrChange>
              <a:clrFrom>
                <a:srgbClr val="FFFFFF"/>
              </a:clrFrom>
              <a:clrTo>
                <a:srgbClr val="FFFFFF">
                  <a:alpha val="0"/>
                </a:srgbClr>
              </a:clrTo>
            </a:clrChange>
            <a:extLst>
              <a:ext uri="{28A0092B-C50C-407E-A947-70E740481C1C}">
                <a14:useLocalDpi xmlns:a14="http://schemas.microsoft.com/office/drawing/2010/main" val="0"/>
              </a:ext>
            </a:extLst>
          </a:blip>
          <a:srcRect t="21105" b="22611"/>
          <a:stretch/>
        </p:blipFill>
        <p:spPr bwMode="auto">
          <a:xfrm>
            <a:off x="3665745" y="8043716"/>
            <a:ext cx="1436040" cy="44903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8">
            <a:extLst>
              <a:ext uri="{FF2B5EF4-FFF2-40B4-BE49-F238E27FC236}">
                <a16:creationId xmlns:a16="http://schemas.microsoft.com/office/drawing/2014/main" id="{25AF88CC-3305-002A-60BB-A19E5DB7038E}"/>
              </a:ext>
            </a:extLst>
          </p:cNvPr>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5201239" y="7879811"/>
            <a:ext cx="489044" cy="5359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4" descr="Azure SQL Managed Instance Logo PNG Vector (PDF) Free Download">
            <a:extLst>
              <a:ext uri="{FF2B5EF4-FFF2-40B4-BE49-F238E27FC236}">
                <a16:creationId xmlns:a16="http://schemas.microsoft.com/office/drawing/2014/main" id="{AEE08586-D0C8-7995-DB30-AC278B4143FE}"/>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6965920" y="7741343"/>
            <a:ext cx="436332" cy="57920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6" descr="dbt Logo PNG Vector (SVG) Free Download">
            <a:extLst>
              <a:ext uri="{FF2B5EF4-FFF2-40B4-BE49-F238E27FC236}">
                <a16:creationId xmlns:a16="http://schemas.microsoft.com/office/drawing/2014/main" id="{075B4CFD-EA20-833A-081C-80F0D8AFDDC6}"/>
              </a:ext>
            </a:extLst>
          </p:cNvPr>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5858900" y="7912042"/>
            <a:ext cx="932813" cy="35757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8" descr="Snowflake Data Warehouse Icon, HD Png Download , Transparent Png Image -  PNGitem">
            <a:extLst>
              <a:ext uri="{FF2B5EF4-FFF2-40B4-BE49-F238E27FC236}">
                <a16:creationId xmlns:a16="http://schemas.microsoft.com/office/drawing/2014/main" id="{8AF99304-2A87-91DA-67B1-3B9AD1461900}"/>
              </a:ext>
            </a:extLst>
          </p:cNvPr>
          <p:cNvPicPr>
            <a:picLocks noChangeAspect="1" noChangeArrowheads="1"/>
          </p:cNvPicPr>
          <p:nvPr/>
        </p:nvPicPr>
        <p:blipFill>
          <a:blip r:embed="rId38" cstate="print">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8680200" y="7698682"/>
            <a:ext cx="1660383" cy="46915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0" descr="Domo Reviews, Ratings &amp; Features 2023 | Gartner Peer Insights">
            <a:extLst>
              <a:ext uri="{FF2B5EF4-FFF2-40B4-BE49-F238E27FC236}">
                <a16:creationId xmlns:a16="http://schemas.microsoft.com/office/drawing/2014/main" id="{C4AA51A8-AE3A-C74E-8CAD-BCB4AEE08236}"/>
              </a:ext>
            </a:extLst>
          </p:cNvPr>
          <p:cNvPicPr>
            <a:picLocks noChangeAspect="1" noChangeArrowheads="1"/>
          </p:cNvPicPr>
          <p:nvPr/>
        </p:nvPicPr>
        <p:blipFill rotWithShape="1">
          <a:blip r:embed="rId39" cstate="print">
            <a:clrChange>
              <a:clrFrom>
                <a:srgbClr val="FFFFFF"/>
              </a:clrFrom>
              <a:clrTo>
                <a:srgbClr val="FFFFFF">
                  <a:alpha val="0"/>
                </a:srgbClr>
              </a:clrTo>
            </a:clrChange>
            <a:extLst>
              <a:ext uri="{28A0092B-C50C-407E-A947-70E740481C1C}">
                <a14:useLocalDpi xmlns:a14="http://schemas.microsoft.com/office/drawing/2010/main" val="0"/>
              </a:ext>
            </a:extLst>
          </a:blip>
          <a:srcRect t="20621" b="22611"/>
          <a:stretch/>
        </p:blipFill>
        <p:spPr bwMode="auto">
          <a:xfrm>
            <a:off x="9692640" y="8160593"/>
            <a:ext cx="891667" cy="28121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52" descr="Databricks, logo Icon in Vector Logo">
            <a:extLst>
              <a:ext uri="{FF2B5EF4-FFF2-40B4-BE49-F238E27FC236}">
                <a16:creationId xmlns:a16="http://schemas.microsoft.com/office/drawing/2014/main" id="{C9E60238-B1C8-3C96-2196-2CD17A9C5EF9}"/>
              </a:ext>
            </a:extLst>
          </p:cNvPr>
          <p:cNvPicPr>
            <a:picLocks noChangeAspect="1" noChangeArrowheads="1"/>
          </p:cNvPicPr>
          <p:nvPr/>
        </p:nvPicPr>
        <p:blipFill rotWithShape="1">
          <a:blip r:embed="rId40" cstate="print">
            <a:extLst>
              <a:ext uri="{28A0092B-C50C-407E-A947-70E740481C1C}">
                <a14:useLocalDpi xmlns:a14="http://schemas.microsoft.com/office/drawing/2010/main" val="0"/>
              </a:ext>
            </a:extLst>
          </a:blip>
          <a:srcRect t="16245" b="19052"/>
          <a:stretch/>
        </p:blipFill>
        <p:spPr bwMode="auto">
          <a:xfrm>
            <a:off x="7624007" y="8012846"/>
            <a:ext cx="1592001" cy="51503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4">
            <a:extLst>
              <a:ext uri="{FF2B5EF4-FFF2-40B4-BE49-F238E27FC236}">
                <a16:creationId xmlns:a16="http://schemas.microsoft.com/office/drawing/2014/main" id="{F9FE9DD7-5510-9265-3919-A72E7CE60A0A}"/>
              </a:ext>
            </a:extLst>
          </p:cNvPr>
          <p:cNvPicPr>
            <a:picLocks noChangeAspect="1" noChangeArrowheads="1"/>
          </p:cNvPicPr>
          <p:nvPr/>
        </p:nvPicPr>
        <p:blipFill>
          <a:blip r:embed="rId41" cstate="print">
            <a:extLst>
              <a:ext uri="{28A0092B-C50C-407E-A947-70E740481C1C}">
                <a14:useLocalDpi xmlns:a14="http://schemas.microsoft.com/office/drawing/2010/main" val="0"/>
              </a:ext>
            </a:extLst>
          </a:blip>
          <a:srcRect/>
          <a:stretch>
            <a:fillRect/>
          </a:stretch>
        </p:blipFill>
        <p:spPr bwMode="auto">
          <a:xfrm>
            <a:off x="10715521" y="7739631"/>
            <a:ext cx="515843" cy="51584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56" descr="4 Tableau Software Logo Icons - Free in SVG, PNG, ICO - IconScout">
            <a:extLst>
              <a:ext uri="{FF2B5EF4-FFF2-40B4-BE49-F238E27FC236}">
                <a16:creationId xmlns:a16="http://schemas.microsoft.com/office/drawing/2014/main" id="{EEEC85EA-886C-7FC8-ED21-3727B2A82DC4}"/>
              </a:ext>
            </a:extLst>
          </p:cNvPr>
          <p:cNvPicPr>
            <a:picLocks noChangeAspect="1" noChangeArrowheads="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14145040" y="7895922"/>
            <a:ext cx="449323" cy="44932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0" descr="Kafka&quot; Icon - Download for free – Iconduck">
            <a:extLst>
              <a:ext uri="{FF2B5EF4-FFF2-40B4-BE49-F238E27FC236}">
                <a16:creationId xmlns:a16="http://schemas.microsoft.com/office/drawing/2014/main" id="{3A01D311-510C-E8F4-B5CD-7408EBCE42D4}"/>
              </a:ext>
            </a:extLst>
          </p:cNvPr>
          <p:cNvPicPr>
            <a:picLocks noChangeAspect="1" noChangeArrowheads="1"/>
          </p:cNvPicPr>
          <p:nvPr/>
        </p:nvPicPr>
        <p:blipFill>
          <a:blip r:embed="rId43" cstate="print">
            <a:extLst>
              <a:ext uri="{28A0092B-C50C-407E-A947-70E740481C1C}">
                <a14:useLocalDpi xmlns:a14="http://schemas.microsoft.com/office/drawing/2010/main" val="0"/>
              </a:ext>
            </a:extLst>
          </a:blip>
          <a:srcRect/>
          <a:stretch>
            <a:fillRect/>
          </a:stretch>
        </p:blipFill>
        <p:spPr bwMode="auto">
          <a:xfrm>
            <a:off x="11527260" y="7737471"/>
            <a:ext cx="1048060" cy="47845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2" descr="TensorFlow&quot; Icon - Download for free – Iconduck">
            <a:extLst>
              <a:ext uri="{FF2B5EF4-FFF2-40B4-BE49-F238E27FC236}">
                <a16:creationId xmlns:a16="http://schemas.microsoft.com/office/drawing/2014/main" id="{8EC88473-15D4-3152-372B-E4952EEDC296}"/>
              </a:ext>
            </a:extLst>
          </p:cNvPr>
          <p:cNvPicPr>
            <a:picLocks noChangeAspect="1" noChangeArrowheads="1"/>
          </p:cNvPicPr>
          <p:nvPr/>
        </p:nvPicPr>
        <p:blipFill>
          <a:blip r:embed="rId44" cstate="print">
            <a:extLst>
              <a:ext uri="{28A0092B-C50C-407E-A947-70E740481C1C}">
                <a14:useLocalDpi xmlns:a14="http://schemas.microsoft.com/office/drawing/2010/main" val="0"/>
              </a:ext>
            </a:extLst>
          </a:blip>
          <a:srcRect/>
          <a:stretch>
            <a:fillRect/>
          </a:stretch>
        </p:blipFill>
        <p:spPr bwMode="auto">
          <a:xfrm>
            <a:off x="14779377" y="7940935"/>
            <a:ext cx="413295" cy="44292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4">
            <a:extLst>
              <a:ext uri="{FF2B5EF4-FFF2-40B4-BE49-F238E27FC236}">
                <a16:creationId xmlns:a16="http://schemas.microsoft.com/office/drawing/2014/main" id="{62307ABD-46C6-5D56-2DDE-00DE534B9AEF}"/>
              </a:ext>
            </a:extLst>
          </p:cNvPr>
          <p:cNvPicPr>
            <a:picLocks noChangeAspect="1" noChangeArrowheads="1"/>
          </p:cNvPicPr>
          <p:nvPr/>
        </p:nvPicPr>
        <p:blipFill>
          <a:blip r:embed="rId45" cstate="print">
            <a:extLst>
              <a:ext uri="{28A0092B-C50C-407E-A947-70E740481C1C}">
                <a14:useLocalDpi xmlns:a14="http://schemas.microsoft.com/office/drawing/2010/main" val="0"/>
              </a:ext>
            </a:extLst>
          </a:blip>
          <a:srcRect/>
          <a:stretch>
            <a:fillRect/>
          </a:stretch>
        </p:blipFill>
        <p:spPr bwMode="auto">
          <a:xfrm>
            <a:off x="12292383" y="8238538"/>
            <a:ext cx="1116283" cy="27556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8">
            <a:extLst>
              <a:ext uri="{FF2B5EF4-FFF2-40B4-BE49-F238E27FC236}">
                <a16:creationId xmlns:a16="http://schemas.microsoft.com/office/drawing/2014/main" id="{B8DEBEB2-96A2-FCC1-0DAB-EDE283ECF151}"/>
              </a:ext>
            </a:extLst>
          </p:cNvPr>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13502919" y="7817533"/>
            <a:ext cx="489044" cy="53594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1E0B0ED-7577-BEEF-8608-7BB8F8A4C761}"/>
              </a:ext>
            </a:extLst>
          </p:cNvPr>
          <p:cNvSpPr/>
          <p:nvPr/>
        </p:nvSpPr>
        <p:spPr>
          <a:xfrm>
            <a:off x="15913000" y="7232462"/>
            <a:ext cx="2232000" cy="1350000"/>
          </a:xfrm>
          <a:prstGeom prst="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graphicFrame>
        <p:nvGraphicFramePr>
          <p:cNvPr id="28" name="Table 27">
            <a:extLst>
              <a:ext uri="{FF2B5EF4-FFF2-40B4-BE49-F238E27FC236}">
                <a16:creationId xmlns:a16="http://schemas.microsoft.com/office/drawing/2014/main" id="{880EE67D-1150-74C9-0C56-D238C1CADC68}"/>
              </a:ext>
            </a:extLst>
          </p:cNvPr>
          <p:cNvGraphicFramePr>
            <a:graphicFrameLocks noGrp="1"/>
          </p:cNvGraphicFramePr>
          <p:nvPr/>
        </p:nvGraphicFramePr>
        <p:xfrm>
          <a:off x="3502403" y="8706622"/>
          <a:ext cx="11968968" cy="1260000"/>
        </p:xfrm>
        <a:graphic>
          <a:graphicData uri="http://schemas.openxmlformats.org/drawingml/2006/table">
            <a:tbl>
              <a:tblPr firstRow="1" bandRow="1">
                <a:tableStyleId>{5C22544A-7EE6-4342-B048-85BDC9FD1C3A}</a:tableStyleId>
              </a:tblPr>
              <a:tblGrid>
                <a:gridCol w="1496121">
                  <a:extLst>
                    <a:ext uri="{9D8B030D-6E8A-4147-A177-3AD203B41FA5}">
                      <a16:colId xmlns:a16="http://schemas.microsoft.com/office/drawing/2014/main" val="2327780509"/>
                    </a:ext>
                  </a:extLst>
                </a:gridCol>
                <a:gridCol w="1496121">
                  <a:extLst>
                    <a:ext uri="{9D8B030D-6E8A-4147-A177-3AD203B41FA5}">
                      <a16:colId xmlns:a16="http://schemas.microsoft.com/office/drawing/2014/main" val="2459812338"/>
                    </a:ext>
                  </a:extLst>
                </a:gridCol>
                <a:gridCol w="1496121">
                  <a:extLst>
                    <a:ext uri="{9D8B030D-6E8A-4147-A177-3AD203B41FA5}">
                      <a16:colId xmlns:a16="http://schemas.microsoft.com/office/drawing/2014/main" val="1931368801"/>
                    </a:ext>
                  </a:extLst>
                </a:gridCol>
                <a:gridCol w="1496121">
                  <a:extLst>
                    <a:ext uri="{9D8B030D-6E8A-4147-A177-3AD203B41FA5}">
                      <a16:colId xmlns:a16="http://schemas.microsoft.com/office/drawing/2014/main" val="380521860"/>
                    </a:ext>
                  </a:extLst>
                </a:gridCol>
                <a:gridCol w="1496121">
                  <a:extLst>
                    <a:ext uri="{9D8B030D-6E8A-4147-A177-3AD203B41FA5}">
                      <a16:colId xmlns:a16="http://schemas.microsoft.com/office/drawing/2014/main" val="800969080"/>
                    </a:ext>
                  </a:extLst>
                </a:gridCol>
                <a:gridCol w="1496121">
                  <a:extLst>
                    <a:ext uri="{9D8B030D-6E8A-4147-A177-3AD203B41FA5}">
                      <a16:colId xmlns:a16="http://schemas.microsoft.com/office/drawing/2014/main" val="478886263"/>
                    </a:ext>
                  </a:extLst>
                </a:gridCol>
                <a:gridCol w="1496121">
                  <a:extLst>
                    <a:ext uri="{9D8B030D-6E8A-4147-A177-3AD203B41FA5}">
                      <a16:colId xmlns:a16="http://schemas.microsoft.com/office/drawing/2014/main" val="1943171720"/>
                    </a:ext>
                  </a:extLst>
                </a:gridCol>
                <a:gridCol w="1496121">
                  <a:extLst>
                    <a:ext uri="{9D8B030D-6E8A-4147-A177-3AD203B41FA5}">
                      <a16:colId xmlns:a16="http://schemas.microsoft.com/office/drawing/2014/main" val="2894943062"/>
                    </a:ext>
                  </a:extLst>
                </a:gridCol>
              </a:tblGrid>
              <a:tr h="1260000">
                <a:tc>
                  <a:txBody>
                    <a:bodyPr/>
                    <a:lstStyle/>
                    <a:p>
                      <a:pPr algn="ctr"/>
                      <a:r>
                        <a:rPr lang="en-IN" sz="1200">
                          <a:solidFill>
                            <a:schemeClr val="bg2">
                              <a:lumMod val="25000"/>
                            </a:schemeClr>
                          </a:solidFill>
                          <a:latin typeface="Aptos" panose="020B0004020202020204" pitchFamily="34" charset="0"/>
                        </a:rPr>
                        <a:t>SCM</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Build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QA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Deploy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Config Mgmt.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Artefact </a:t>
                      </a:r>
                      <a:r>
                        <a:rPr lang="en-IN" sz="1200" err="1">
                          <a:solidFill>
                            <a:schemeClr val="bg2">
                              <a:lumMod val="25000"/>
                            </a:schemeClr>
                          </a:solidFill>
                          <a:latin typeface="Aptos" panose="020B0004020202020204" pitchFamily="34" charset="0"/>
                        </a:rPr>
                        <a:t>Mgmt</a:t>
                      </a:r>
                      <a:endParaRPr lang="en-IN" sz="1200">
                        <a:solidFill>
                          <a:schemeClr val="bg2">
                            <a:lumMod val="25000"/>
                          </a:schemeClr>
                        </a:solidFill>
                        <a:latin typeface="Aptos"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Orchestration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IN" sz="1200">
                          <a:solidFill>
                            <a:schemeClr val="bg2">
                              <a:lumMod val="25000"/>
                            </a:schemeClr>
                          </a:solidFill>
                          <a:latin typeface="Aptos" panose="020B0004020202020204" pitchFamily="34" charset="0"/>
                        </a:rPr>
                        <a:t>Log &amp; Monitor</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69858729"/>
                  </a:ext>
                </a:extLst>
              </a:tr>
            </a:tbl>
          </a:graphicData>
        </a:graphic>
      </p:graphicFrame>
      <p:sp>
        <p:nvSpPr>
          <p:cNvPr id="37" name="Rectangle 36">
            <a:extLst>
              <a:ext uri="{FF2B5EF4-FFF2-40B4-BE49-F238E27FC236}">
                <a16:creationId xmlns:a16="http://schemas.microsoft.com/office/drawing/2014/main" id="{9814FB53-E617-F2AF-4668-3132AE4B3613}"/>
              </a:ext>
            </a:extLst>
          </p:cNvPr>
          <p:cNvSpPr/>
          <p:nvPr/>
        </p:nvSpPr>
        <p:spPr>
          <a:xfrm>
            <a:off x="15903671" y="8685472"/>
            <a:ext cx="2232000" cy="1350000"/>
          </a:xfrm>
          <a:prstGeom prst="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sp>
        <p:nvSpPr>
          <p:cNvPr id="38" name="Rectangle 37">
            <a:extLst>
              <a:ext uri="{FF2B5EF4-FFF2-40B4-BE49-F238E27FC236}">
                <a16:creationId xmlns:a16="http://schemas.microsoft.com/office/drawing/2014/main" id="{2C9B2F6B-2CAD-0521-A6F6-A22DEEADBA9A}"/>
              </a:ext>
            </a:extLst>
          </p:cNvPr>
          <p:cNvSpPr/>
          <p:nvPr/>
        </p:nvSpPr>
        <p:spPr>
          <a:xfrm>
            <a:off x="3455368" y="8685472"/>
            <a:ext cx="12016005" cy="135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700"/>
          </a:p>
        </p:txBody>
      </p:sp>
      <p:pic>
        <p:nvPicPr>
          <p:cNvPr id="39" name="Picture 26" descr="Press kit | GitLab">
            <a:extLst>
              <a:ext uri="{FF2B5EF4-FFF2-40B4-BE49-F238E27FC236}">
                <a16:creationId xmlns:a16="http://schemas.microsoft.com/office/drawing/2014/main" id="{32AA8C2B-606C-25F2-AB3F-D84847C89438}"/>
              </a:ext>
            </a:extLst>
          </p:cNvPr>
          <p:cNvPicPr>
            <a:picLocks noChangeAspect="1" noChangeArrowheads="1"/>
          </p:cNvPicPr>
          <p:nvPr/>
        </p:nvPicPr>
        <p:blipFill>
          <a:blip r:embed="rId46" cstate="print">
            <a:extLst>
              <a:ext uri="{BEBA8EAE-BF5A-486C-A8C5-ECC9F3942E4B}">
                <a14:imgProps xmlns:a14="http://schemas.microsoft.com/office/drawing/2010/main">
                  <a14:imgLayer r:embed="rId47">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3769402" y="9103940"/>
            <a:ext cx="1008131" cy="22048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8" descr="GitHub Logo, symbol, meaning, history, PNG, brand">
            <a:extLst>
              <a:ext uri="{FF2B5EF4-FFF2-40B4-BE49-F238E27FC236}">
                <a16:creationId xmlns:a16="http://schemas.microsoft.com/office/drawing/2014/main" id="{59DD3C83-BA4E-CE7E-349A-D634B6749213}"/>
              </a:ext>
            </a:extLst>
          </p:cNvPr>
          <p:cNvPicPr>
            <a:picLocks noChangeAspect="1" noChangeArrowheads="1"/>
          </p:cNvPicPr>
          <p:nvPr/>
        </p:nvPicPr>
        <p:blipFill>
          <a:blip r:embed="rId48" cstate="print">
            <a:extLst>
              <a:ext uri="{28A0092B-C50C-407E-A947-70E740481C1C}">
                <a14:useLocalDpi xmlns:a14="http://schemas.microsoft.com/office/drawing/2010/main" val="0"/>
              </a:ext>
            </a:extLst>
          </a:blip>
          <a:srcRect/>
          <a:stretch>
            <a:fillRect/>
          </a:stretch>
        </p:blipFill>
        <p:spPr bwMode="auto">
          <a:xfrm>
            <a:off x="3527376" y="9518875"/>
            <a:ext cx="787423" cy="44292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F8021E25-5D2F-37A5-58BD-0411EA470C9B}"/>
              </a:ext>
            </a:extLst>
          </p:cNvPr>
          <p:cNvPicPr>
            <a:picLocks noChangeAspect="1"/>
          </p:cNvPicPr>
          <p:nvPr/>
        </p:nvPicPr>
        <p:blipFill>
          <a:blip r:embed="rId49" cstate="email">
            <a:extLst>
              <a:ext uri="{28A0092B-C50C-407E-A947-70E740481C1C}">
                <a14:useLocalDpi xmlns:a14="http://schemas.microsoft.com/office/drawing/2010/main"/>
              </a:ext>
            </a:extLst>
          </a:blip>
          <a:stretch>
            <a:fillRect/>
          </a:stretch>
        </p:blipFill>
        <p:spPr>
          <a:xfrm>
            <a:off x="4248325" y="9513603"/>
            <a:ext cx="589170" cy="213626"/>
          </a:xfrm>
          <a:prstGeom prst="rect">
            <a:avLst/>
          </a:prstGeom>
        </p:spPr>
      </p:pic>
      <p:pic>
        <p:nvPicPr>
          <p:cNvPr id="45" name="Picture 12">
            <a:extLst>
              <a:ext uri="{FF2B5EF4-FFF2-40B4-BE49-F238E27FC236}">
                <a16:creationId xmlns:a16="http://schemas.microsoft.com/office/drawing/2014/main" id="{7FBAB785-33C5-50E6-3761-13D14A9F8D93}"/>
              </a:ext>
            </a:extLst>
          </p:cNvPr>
          <p:cNvPicPr>
            <a:picLocks noChangeAspect="1" noChangeArrowheads="1"/>
          </p:cNvPicPr>
          <p:nvPr/>
        </p:nvPicPr>
        <p:blipFill>
          <a:blip r:embed="rId50" cstate="print">
            <a:extLst>
              <a:ext uri="{BEBA8EAE-BF5A-486C-A8C5-ECC9F3942E4B}">
                <a14:imgProps xmlns:a14="http://schemas.microsoft.com/office/drawing/2010/main">
                  <a14:imgLayer r:embed="rId51">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5094874" y="9062771"/>
            <a:ext cx="952782" cy="30667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6" descr="File:Maven logo.svg - Wikimedia Commons">
            <a:extLst>
              <a:ext uri="{FF2B5EF4-FFF2-40B4-BE49-F238E27FC236}">
                <a16:creationId xmlns:a16="http://schemas.microsoft.com/office/drawing/2014/main" id="{04280E5E-DB22-69FA-0CF5-B6B18E8B20A7}"/>
              </a:ext>
            </a:extLst>
          </p:cNvPr>
          <p:cNvPicPr>
            <a:picLocks noChangeAspect="1" noChangeArrowheads="1"/>
          </p:cNvPicPr>
          <p:nvPr/>
        </p:nvPicPr>
        <p:blipFill>
          <a:blip r:embed="rId52" cstate="print">
            <a:extLst>
              <a:ext uri="{28A0092B-C50C-407E-A947-70E740481C1C}">
                <a14:useLocalDpi xmlns:a14="http://schemas.microsoft.com/office/drawing/2010/main" val="0"/>
              </a:ext>
            </a:extLst>
          </a:blip>
          <a:srcRect/>
          <a:stretch>
            <a:fillRect/>
          </a:stretch>
        </p:blipFill>
        <p:spPr bwMode="auto">
          <a:xfrm>
            <a:off x="5085431" y="9681611"/>
            <a:ext cx="692361" cy="17525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2" descr="Docker Logos and Photos | Docker">
            <a:extLst>
              <a:ext uri="{FF2B5EF4-FFF2-40B4-BE49-F238E27FC236}">
                <a16:creationId xmlns:a16="http://schemas.microsoft.com/office/drawing/2014/main" id="{D999806A-7BBB-C2C4-BE4C-B7A8B6ADEBBC}"/>
              </a:ext>
            </a:extLst>
          </p:cNvPr>
          <p:cNvPicPr>
            <a:picLocks noChangeAspect="1" noChangeArrowheads="1"/>
          </p:cNvPicPr>
          <p:nvPr/>
        </p:nvPicPr>
        <p:blipFill>
          <a:blip r:embed="rId53" cstate="print">
            <a:extLst>
              <a:ext uri="{28A0092B-C50C-407E-A947-70E740481C1C}">
                <a14:useLocalDpi xmlns:a14="http://schemas.microsoft.com/office/drawing/2010/main" val="0"/>
              </a:ext>
            </a:extLst>
          </a:blip>
          <a:srcRect/>
          <a:stretch>
            <a:fillRect/>
          </a:stretch>
        </p:blipFill>
        <p:spPr bwMode="auto">
          <a:xfrm>
            <a:off x="5880528" y="9336622"/>
            <a:ext cx="549438" cy="47007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8">
            <a:extLst>
              <a:ext uri="{FF2B5EF4-FFF2-40B4-BE49-F238E27FC236}">
                <a16:creationId xmlns:a16="http://schemas.microsoft.com/office/drawing/2014/main" id="{688FE4A0-A515-DB0C-6138-B5BE9754494A}"/>
              </a:ext>
            </a:extLst>
          </p:cNvPr>
          <p:cNvPicPr>
            <a:picLocks noChangeAspect="1" noChangeArrowheads="1"/>
          </p:cNvPicPr>
          <p:nvPr/>
        </p:nvPicPr>
        <p:blipFill>
          <a:blip r:embed="rId54" cstate="print">
            <a:extLst>
              <a:ext uri="{28A0092B-C50C-407E-A947-70E740481C1C}">
                <a14:useLocalDpi xmlns:a14="http://schemas.microsoft.com/office/drawing/2010/main" val="0"/>
              </a:ext>
            </a:extLst>
          </a:blip>
          <a:srcRect/>
          <a:stretch>
            <a:fillRect/>
          </a:stretch>
        </p:blipFill>
        <p:spPr bwMode="auto">
          <a:xfrm>
            <a:off x="6565825" y="9103940"/>
            <a:ext cx="350350" cy="366054"/>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60" descr="Image result for soapui logo transparent">
            <a:extLst>
              <a:ext uri="{FF2B5EF4-FFF2-40B4-BE49-F238E27FC236}">
                <a16:creationId xmlns:a16="http://schemas.microsoft.com/office/drawing/2014/main" id="{CE58C74E-0B3C-6749-2831-C4A01FE0671D}"/>
              </a:ext>
            </a:extLst>
          </p:cNvPr>
          <p:cNvPicPr>
            <a:picLocks noChangeAspect="1" noChangeArrowheads="1"/>
          </p:cNvPicPr>
          <p:nvPr/>
        </p:nvPicPr>
        <p:blipFill>
          <a:blip r:embed="rId55" cstate="email">
            <a:extLst>
              <a:ext uri="{28A0092B-C50C-407E-A947-70E740481C1C}">
                <a14:useLocalDpi xmlns:a14="http://schemas.microsoft.com/office/drawing/2010/main"/>
              </a:ext>
            </a:extLst>
          </a:blip>
          <a:srcRect/>
          <a:stretch>
            <a:fillRect/>
          </a:stretch>
        </p:blipFill>
        <p:spPr bwMode="auto">
          <a:xfrm>
            <a:off x="7008544" y="9374989"/>
            <a:ext cx="819383" cy="46701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68" descr="Spinnaker Logo Vector (.SVG) Free Download">
            <a:extLst>
              <a:ext uri="{FF2B5EF4-FFF2-40B4-BE49-F238E27FC236}">
                <a16:creationId xmlns:a16="http://schemas.microsoft.com/office/drawing/2014/main" id="{1CE6CBC9-38A6-50EE-EFCF-3C302BCBEC63}"/>
              </a:ext>
            </a:extLst>
          </p:cNvPr>
          <p:cNvPicPr>
            <a:picLocks noChangeAspect="1" noChangeArrowheads="1"/>
          </p:cNvPicPr>
          <p:nvPr/>
        </p:nvPicPr>
        <p:blipFill>
          <a:blip r:embed="rId56" cstate="print">
            <a:extLst>
              <a:ext uri="{28A0092B-C50C-407E-A947-70E740481C1C}">
                <a14:useLocalDpi xmlns:a14="http://schemas.microsoft.com/office/drawing/2010/main" val="0"/>
              </a:ext>
            </a:extLst>
          </a:blip>
          <a:srcRect/>
          <a:stretch>
            <a:fillRect/>
          </a:stretch>
        </p:blipFill>
        <p:spPr bwMode="auto">
          <a:xfrm>
            <a:off x="8351912" y="9055538"/>
            <a:ext cx="528551" cy="609867"/>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Terraform SVG Vector Logos - Vector Logo Zone">
            <a:extLst>
              <a:ext uri="{FF2B5EF4-FFF2-40B4-BE49-F238E27FC236}">
                <a16:creationId xmlns:a16="http://schemas.microsoft.com/office/drawing/2014/main" id="{5A10B055-3857-29C3-8922-404FF445B018}"/>
              </a:ext>
            </a:extLst>
          </p:cNvPr>
          <p:cNvPicPr>
            <a:picLocks noChangeAspect="1" noChangeArrowheads="1"/>
          </p:cNvPicPr>
          <p:nvPr/>
        </p:nvPicPr>
        <p:blipFill>
          <a:blip r:embed="rId57" cstate="print">
            <a:clrChange>
              <a:clrFrom>
                <a:srgbClr val="FFFFFF"/>
              </a:clrFrom>
              <a:clrTo>
                <a:srgbClr val="FFFFFF">
                  <a:alpha val="0"/>
                </a:srgbClr>
              </a:clrTo>
            </a:clrChange>
            <a:extLst>
              <a:ext uri="{BEBA8EAE-BF5A-486C-A8C5-ECC9F3942E4B}">
                <a14:imgProps xmlns:a14="http://schemas.microsoft.com/office/drawing/2010/main">
                  <a14:imgLayer r:embed="rId58">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9642026" y="9536674"/>
            <a:ext cx="982555" cy="49127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Image result for ansible logo transparent">
            <a:extLst>
              <a:ext uri="{FF2B5EF4-FFF2-40B4-BE49-F238E27FC236}">
                <a16:creationId xmlns:a16="http://schemas.microsoft.com/office/drawing/2014/main" id="{3CE0B91F-6C30-6A48-32EF-1B1AF5DB8389}"/>
              </a:ext>
            </a:extLst>
          </p:cNvPr>
          <p:cNvPicPr>
            <a:picLocks noChangeAspect="1" noChangeArrowheads="1"/>
          </p:cNvPicPr>
          <p:nvPr/>
        </p:nvPicPr>
        <p:blipFill>
          <a:blip r:embed="rId59" cstate="print">
            <a:extLst>
              <a:ext uri="{28A0092B-C50C-407E-A947-70E740481C1C}">
                <a14:useLocalDpi xmlns:a14="http://schemas.microsoft.com/office/drawing/2010/main" val="0"/>
              </a:ext>
            </a:extLst>
          </a:blip>
          <a:srcRect/>
          <a:stretch>
            <a:fillRect/>
          </a:stretch>
        </p:blipFill>
        <p:spPr bwMode="auto">
          <a:xfrm>
            <a:off x="9557141" y="8999974"/>
            <a:ext cx="396314" cy="487632"/>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8">
            <a:extLst>
              <a:ext uri="{FF2B5EF4-FFF2-40B4-BE49-F238E27FC236}">
                <a16:creationId xmlns:a16="http://schemas.microsoft.com/office/drawing/2014/main" id="{842D27B9-5540-EBA2-C5D1-719D9FE53827}"/>
              </a:ext>
            </a:extLst>
          </p:cNvPr>
          <p:cNvPicPr>
            <a:picLocks noChangeAspect="1" noChangeArrowheads="1"/>
          </p:cNvPicPr>
          <p:nvPr/>
        </p:nvPicPr>
        <p:blipFill>
          <a:blip r:embed="rId60" cstate="print">
            <a:extLst>
              <a:ext uri="{28A0092B-C50C-407E-A947-70E740481C1C}">
                <a14:useLocalDpi xmlns:a14="http://schemas.microsoft.com/office/drawing/2010/main" val="0"/>
              </a:ext>
            </a:extLst>
          </a:blip>
          <a:srcRect/>
          <a:stretch>
            <a:fillRect/>
          </a:stretch>
        </p:blipFill>
        <p:spPr bwMode="auto">
          <a:xfrm>
            <a:off x="10473632" y="8999974"/>
            <a:ext cx="455338" cy="487217"/>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a:extLst>
              <a:ext uri="{FF2B5EF4-FFF2-40B4-BE49-F238E27FC236}">
                <a16:creationId xmlns:a16="http://schemas.microsoft.com/office/drawing/2014/main" id="{5AF7A9EC-871A-EDEE-5FBD-ACD9347BE12D}"/>
              </a:ext>
            </a:extLst>
          </p:cNvPr>
          <p:cNvPicPr>
            <a:picLocks noChangeAspect="1"/>
          </p:cNvPicPr>
          <p:nvPr/>
        </p:nvPicPr>
        <p:blipFill>
          <a:blip r:embed="rId61" cstate="print">
            <a:clrChange>
              <a:clrFrom>
                <a:srgbClr val="F3F3F3"/>
              </a:clrFrom>
              <a:clrTo>
                <a:srgbClr val="F3F3F3">
                  <a:alpha val="0"/>
                </a:srgbClr>
              </a:clrTo>
            </a:clrChange>
            <a:extLst>
              <a:ext uri="{28A0092B-C50C-407E-A947-70E740481C1C}">
                <a14:useLocalDpi xmlns:a14="http://schemas.microsoft.com/office/drawing/2010/main" val="0"/>
              </a:ext>
            </a:extLst>
          </a:blip>
          <a:stretch>
            <a:fillRect/>
          </a:stretch>
        </p:blipFill>
        <p:spPr>
          <a:xfrm>
            <a:off x="9896781" y="8999974"/>
            <a:ext cx="633525" cy="465824"/>
          </a:xfrm>
          <a:prstGeom prst="rect">
            <a:avLst/>
          </a:prstGeom>
        </p:spPr>
      </p:pic>
      <p:pic>
        <p:nvPicPr>
          <p:cNvPr id="55" name="Picture 78" descr="Image result for Sonatype Nexus Logo Transparent">
            <a:extLst>
              <a:ext uri="{FF2B5EF4-FFF2-40B4-BE49-F238E27FC236}">
                <a16:creationId xmlns:a16="http://schemas.microsoft.com/office/drawing/2014/main" id="{01D9BF9A-E944-19C6-6163-1F6132FDD913}"/>
              </a:ext>
            </a:extLst>
          </p:cNvPr>
          <p:cNvPicPr>
            <a:picLocks noChangeAspect="1" noChangeArrowheads="1"/>
          </p:cNvPicPr>
          <p:nvPr/>
        </p:nvPicPr>
        <p:blipFill>
          <a:blip r:embed="rId62" cstate="email">
            <a:extLst>
              <a:ext uri="{28A0092B-C50C-407E-A947-70E740481C1C}">
                <a14:useLocalDpi xmlns:a14="http://schemas.microsoft.com/office/drawing/2010/main"/>
              </a:ext>
            </a:extLst>
          </a:blip>
          <a:srcRect/>
          <a:stretch>
            <a:fillRect/>
          </a:stretch>
        </p:blipFill>
        <p:spPr bwMode="auto">
          <a:xfrm>
            <a:off x="11042330" y="9053338"/>
            <a:ext cx="561948" cy="28328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2" descr="Docker Hubのアカウント取得方法の手順まとめ | Snow System">
            <a:extLst>
              <a:ext uri="{FF2B5EF4-FFF2-40B4-BE49-F238E27FC236}">
                <a16:creationId xmlns:a16="http://schemas.microsoft.com/office/drawing/2014/main" id="{6E339D79-6C6F-69B8-0DB7-F24CC8BB3D82}"/>
              </a:ext>
            </a:extLst>
          </p:cNvPr>
          <p:cNvPicPr>
            <a:picLocks noChangeAspect="1" noChangeArrowheads="1"/>
          </p:cNvPicPr>
          <p:nvPr/>
        </p:nvPicPr>
        <p:blipFill>
          <a:blip r:embed="rId6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42330" y="9386293"/>
            <a:ext cx="680790" cy="38294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4" descr="How to install Container Registry on Kubernetes Cluster | by 8grams | Medium">
            <a:extLst>
              <a:ext uri="{FF2B5EF4-FFF2-40B4-BE49-F238E27FC236}">
                <a16:creationId xmlns:a16="http://schemas.microsoft.com/office/drawing/2014/main" id="{FA241CD5-31ED-4460-33A8-C0A8C9D87673}"/>
              </a:ext>
            </a:extLst>
          </p:cNvPr>
          <p:cNvPicPr>
            <a:picLocks noChangeAspect="1" noChangeArrowheads="1"/>
          </p:cNvPicPr>
          <p:nvPr/>
        </p:nvPicPr>
        <p:blipFill>
          <a:blip r:embed="rId6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535413" y="8989466"/>
            <a:ext cx="970125" cy="523358"/>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Cloud-Native DevOps on Amazon Web Services | JFrog Artifactory">
            <a:extLst>
              <a:ext uri="{FF2B5EF4-FFF2-40B4-BE49-F238E27FC236}">
                <a16:creationId xmlns:a16="http://schemas.microsoft.com/office/drawing/2014/main" id="{4D8E2F6D-C584-1293-ED4C-7AB2CD47B7BD}"/>
              </a:ext>
            </a:extLst>
          </p:cNvPr>
          <p:cNvPicPr>
            <a:picLocks noChangeAspect="1" noChangeArrowheads="1"/>
          </p:cNvPicPr>
          <p:nvPr/>
        </p:nvPicPr>
        <p:blipFill>
          <a:blip r:embed="rId65" cstate="print">
            <a:extLst>
              <a:ext uri="{28A0092B-C50C-407E-A947-70E740481C1C}">
                <a14:useLocalDpi xmlns:a14="http://schemas.microsoft.com/office/drawing/2010/main" val="0"/>
              </a:ext>
            </a:extLst>
          </a:blip>
          <a:srcRect/>
          <a:stretch>
            <a:fillRect/>
          </a:stretch>
        </p:blipFill>
        <p:spPr bwMode="auto">
          <a:xfrm>
            <a:off x="11400481" y="9692109"/>
            <a:ext cx="1065297" cy="35362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0" descr="Kubernetes – Logos Download">
            <a:extLst>
              <a:ext uri="{FF2B5EF4-FFF2-40B4-BE49-F238E27FC236}">
                <a16:creationId xmlns:a16="http://schemas.microsoft.com/office/drawing/2014/main" id="{A157EE17-D09F-9AEC-7F2E-8589FC966B75}"/>
              </a:ext>
            </a:extLst>
          </p:cNvPr>
          <p:cNvPicPr>
            <a:picLocks noChangeAspect="1" noChangeArrowheads="1"/>
          </p:cNvPicPr>
          <p:nvPr/>
        </p:nvPicPr>
        <p:blipFill>
          <a:blip r:embed="rId66" cstate="print">
            <a:extLst>
              <a:ext uri="{28A0092B-C50C-407E-A947-70E740481C1C}">
                <a14:useLocalDpi xmlns:a14="http://schemas.microsoft.com/office/drawing/2010/main" val="0"/>
              </a:ext>
            </a:extLst>
          </a:blip>
          <a:srcRect/>
          <a:stretch>
            <a:fillRect/>
          </a:stretch>
        </p:blipFill>
        <p:spPr bwMode="auto">
          <a:xfrm>
            <a:off x="12719430" y="9003983"/>
            <a:ext cx="787423" cy="400375"/>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78" descr="Kubernetes Helm Logo, HD Png Download - kindpng">
            <a:extLst>
              <a:ext uri="{FF2B5EF4-FFF2-40B4-BE49-F238E27FC236}">
                <a16:creationId xmlns:a16="http://schemas.microsoft.com/office/drawing/2014/main" id="{D2FA834E-8870-CF2E-DCA7-1C4545F77305}"/>
              </a:ext>
            </a:extLst>
          </p:cNvPr>
          <p:cNvPicPr>
            <a:picLocks noChangeAspect="1" noChangeArrowheads="1"/>
          </p:cNvPicPr>
          <p:nvPr/>
        </p:nvPicPr>
        <p:blipFill>
          <a:blip r:embed="rId67" cstate="print">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12510419" y="9441789"/>
            <a:ext cx="567995" cy="468867"/>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0" descr="swarm - Official Image | Docker Hub">
            <a:extLst>
              <a:ext uri="{FF2B5EF4-FFF2-40B4-BE49-F238E27FC236}">
                <a16:creationId xmlns:a16="http://schemas.microsoft.com/office/drawing/2014/main" id="{1BE4BB9F-FDD5-59AA-022A-237D744B5636}"/>
              </a:ext>
            </a:extLst>
          </p:cNvPr>
          <p:cNvPicPr>
            <a:picLocks noChangeAspect="1" noChangeArrowheads="1"/>
          </p:cNvPicPr>
          <p:nvPr/>
        </p:nvPicPr>
        <p:blipFill>
          <a:blip r:embed="rId68" cstate="print">
            <a:extLst>
              <a:ext uri="{28A0092B-C50C-407E-A947-70E740481C1C}">
                <a14:useLocalDpi xmlns:a14="http://schemas.microsoft.com/office/drawing/2010/main" val="0"/>
              </a:ext>
            </a:extLst>
          </a:blip>
          <a:srcRect/>
          <a:stretch>
            <a:fillRect/>
          </a:stretch>
        </p:blipFill>
        <p:spPr bwMode="auto">
          <a:xfrm>
            <a:off x="13123890" y="9430146"/>
            <a:ext cx="724905" cy="60314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4" descr="Image result for elk logo transparent">
            <a:extLst>
              <a:ext uri="{FF2B5EF4-FFF2-40B4-BE49-F238E27FC236}">
                <a16:creationId xmlns:a16="http://schemas.microsoft.com/office/drawing/2014/main" id="{54D97D2E-305E-6A51-CB11-F924004C1797}"/>
              </a:ext>
            </a:extLst>
          </p:cNvPr>
          <p:cNvPicPr>
            <a:picLocks noChangeAspect="1" noChangeArrowheads="1"/>
          </p:cNvPicPr>
          <p:nvPr/>
        </p:nvPicPr>
        <p:blipFill>
          <a:blip r:embed="rId69" cstate="email">
            <a:extLst>
              <a:ext uri="{28A0092B-C50C-407E-A947-70E740481C1C}">
                <a14:useLocalDpi xmlns:a14="http://schemas.microsoft.com/office/drawing/2010/main"/>
              </a:ext>
            </a:extLst>
          </a:blip>
          <a:srcRect/>
          <a:stretch>
            <a:fillRect/>
          </a:stretch>
        </p:blipFill>
        <p:spPr bwMode="auto">
          <a:xfrm>
            <a:off x="14054834" y="9004212"/>
            <a:ext cx="604599" cy="47864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90" descr="Monitor Your Azure Services in Grafana. - oleksii_y - Medium">
            <a:extLst>
              <a:ext uri="{FF2B5EF4-FFF2-40B4-BE49-F238E27FC236}">
                <a16:creationId xmlns:a16="http://schemas.microsoft.com/office/drawing/2014/main" id="{C984947D-9B5E-E9DC-F12E-6637275481FA}"/>
              </a:ext>
            </a:extLst>
          </p:cNvPr>
          <p:cNvPicPr>
            <a:picLocks noChangeAspect="1" noChangeArrowheads="1"/>
          </p:cNvPicPr>
          <p:nvPr/>
        </p:nvPicPr>
        <p:blipFill>
          <a:blip r:embed="rId70" cstate="print">
            <a:extLst>
              <a:ext uri="{28A0092B-C50C-407E-A947-70E740481C1C}">
                <a14:useLocalDpi xmlns:a14="http://schemas.microsoft.com/office/drawing/2010/main" val="0"/>
              </a:ext>
            </a:extLst>
          </a:blip>
          <a:srcRect/>
          <a:stretch>
            <a:fillRect/>
          </a:stretch>
        </p:blipFill>
        <p:spPr bwMode="auto">
          <a:xfrm>
            <a:off x="14124559" y="9353938"/>
            <a:ext cx="688392" cy="631028"/>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86" descr="How To Install Prometheus on Ubuntu 16.04 LTS - idroot">
            <a:extLst>
              <a:ext uri="{FF2B5EF4-FFF2-40B4-BE49-F238E27FC236}">
                <a16:creationId xmlns:a16="http://schemas.microsoft.com/office/drawing/2014/main" id="{FC000416-D1C2-A99B-02FF-A559E3310A71}"/>
              </a:ext>
            </a:extLst>
          </p:cNvPr>
          <p:cNvPicPr>
            <a:picLocks noChangeAspect="1" noChangeArrowheads="1"/>
          </p:cNvPicPr>
          <p:nvPr/>
        </p:nvPicPr>
        <p:blipFill>
          <a:blip r:embed="rId71" cstate="print">
            <a:extLst>
              <a:ext uri="{28A0092B-C50C-407E-A947-70E740481C1C}">
                <a14:useLocalDpi xmlns:a14="http://schemas.microsoft.com/office/drawing/2010/main" val="0"/>
              </a:ext>
            </a:extLst>
          </a:blip>
          <a:srcRect/>
          <a:stretch>
            <a:fillRect/>
          </a:stretch>
        </p:blipFill>
        <p:spPr bwMode="auto">
          <a:xfrm>
            <a:off x="14847033" y="9354012"/>
            <a:ext cx="611501" cy="61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55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4653F-2D52-3952-9FD3-70D8B5B6B3D1}"/>
              </a:ext>
            </a:extLst>
          </p:cNvPr>
          <p:cNvPicPr>
            <a:picLocks noChangeAspect="1"/>
          </p:cNvPicPr>
          <p:nvPr/>
        </p:nvPicPr>
        <p:blipFill rotWithShape="1">
          <a:blip r:embed="rId2"/>
          <a:srcRect r="13069"/>
          <a:stretch/>
        </p:blipFill>
        <p:spPr>
          <a:xfrm>
            <a:off x="3898801" y="3904638"/>
            <a:ext cx="2718130" cy="1409887"/>
          </a:xfrm>
          <a:prstGeom prst="rect">
            <a:avLst/>
          </a:prstGeom>
        </p:spPr>
      </p:pic>
      <p:grpSp>
        <p:nvGrpSpPr>
          <p:cNvPr id="13" name="Group 12">
            <a:extLst>
              <a:ext uri="{FF2B5EF4-FFF2-40B4-BE49-F238E27FC236}">
                <a16:creationId xmlns:a16="http://schemas.microsoft.com/office/drawing/2014/main" id="{5F1BB0F1-26A7-FB6D-ACB5-A2A6B9640CF3}"/>
              </a:ext>
            </a:extLst>
          </p:cNvPr>
          <p:cNvGrpSpPr/>
          <p:nvPr/>
        </p:nvGrpSpPr>
        <p:grpSpPr>
          <a:xfrm>
            <a:off x="955086" y="2614586"/>
            <a:ext cx="2718130" cy="1398483"/>
            <a:chOff x="3389137" y="1837488"/>
            <a:chExt cx="1529377" cy="701569"/>
          </a:xfrm>
        </p:grpSpPr>
        <p:pic>
          <p:nvPicPr>
            <p:cNvPr id="14" name="Picture 13">
              <a:extLst>
                <a:ext uri="{FF2B5EF4-FFF2-40B4-BE49-F238E27FC236}">
                  <a16:creationId xmlns:a16="http://schemas.microsoft.com/office/drawing/2014/main" id="{7B35EEFF-B571-E1E6-5C3E-3AC544DBB1DA}"/>
                </a:ext>
              </a:extLst>
            </p:cNvPr>
            <p:cNvPicPr>
              <a:picLocks noChangeAspect="1"/>
            </p:cNvPicPr>
            <p:nvPr/>
          </p:nvPicPr>
          <p:blipFill rotWithShape="1">
            <a:blip r:embed="rId2"/>
            <a:srcRect r="13069" b="33581"/>
            <a:stretch/>
          </p:blipFill>
          <p:spPr>
            <a:xfrm>
              <a:off x="3389137" y="1837488"/>
              <a:ext cx="1529377" cy="526889"/>
            </a:xfrm>
            <a:prstGeom prst="rect">
              <a:avLst/>
            </a:prstGeom>
          </p:spPr>
        </p:pic>
        <p:sp>
          <p:nvSpPr>
            <p:cNvPr id="15" name="TextBox 14">
              <a:extLst>
                <a:ext uri="{FF2B5EF4-FFF2-40B4-BE49-F238E27FC236}">
                  <a16:creationId xmlns:a16="http://schemas.microsoft.com/office/drawing/2014/main" id="{60810C36-F2DB-A8D1-D8E2-7C2F79D5348C}"/>
                </a:ext>
              </a:extLst>
            </p:cNvPr>
            <p:cNvSpPr txBox="1"/>
            <p:nvPr/>
          </p:nvSpPr>
          <p:spPr>
            <a:xfrm flipH="1">
              <a:off x="3513304" y="2285996"/>
              <a:ext cx="1001834" cy="253061"/>
            </a:xfrm>
            <a:prstGeom prst="rect">
              <a:avLst/>
            </a:prstGeom>
            <a:noFill/>
          </p:spPr>
          <p:txBody>
            <a:bodyPr wrap="square" rtlCol="0">
              <a:spAutoFit/>
            </a:bodyPr>
            <a:lstStyle/>
            <a:p>
              <a:pPr defTabSz="1231584" eaLnBrk="0" fontAlgn="base" hangingPunct="0">
                <a:spcBef>
                  <a:spcPct val="0"/>
                </a:spcBef>
                <a:spcAft>
                  <a:spcPct val="0"/>
                </a:spcAft>
              </a:pPr>
              <a:r>
                <a:rPr lang="en-IN" sz="1620">
                  <a:solidFill>
                    <a:prstClr val="white">
                      <a:lumMod val="50000"/>
                    </a:prstClr>
                  </a:solidFill>
                  <a:latin typeface="Calibri" panose="020F0502020204030204" pitchFamily="34" charset="0"/>
                  <a:ea typeface="MS PGothic" panose="020B0600070205080204" pitchFamily="34" charset="-128"/>
                </a:rPr>
                <a:t>Data &amp; AI</a:t>
              </a:r>
            </a:p>
          </p:txBody>
        </p:sp>
      </p:grpSp>
      <p:grpSp>
        <p:nvGrpSpPr>
          <p:cNvPr id="16" name="Group 15">
            <a:extLst>
              <a:ext uri="{FF2B5EF4-FFF2-40B4-BE49-F238E27FC236}">
                <a16:creationId xmlns:a16="http://schemas.microsoft.com/office/drawing/2014/main" id="{EAE93DF3-F5F8-FF63-BF33-A0F5DC315F31}"/>
              </a:ext>
            </a:extLst>
          </p:cNvPr>
          <p:cNvGrpSpPr/>
          <p:nvPr/>
        </p:nvGrpSpPr>
        <p:grpSpPr>
          <a:xfrm>
            <a:off x="3851013" y="2589527"/>
            <a:ext cx="2718130" cy="1409887"/>
            <a:chOff x="3389137" y="1837488"/>
            <a:chExt cx="1529377" cy="701569"/>
          </a:xfrm>
        </p:grpSpPr>
        <p:pic>
          <p:nvPicPr>
            <p:cNvPr id="17" name="Picture 16">
              <a:extLst>
                <a:ext uri="{FF2B5EF4-FFF2-40B4-BE49-F238E27FC236}">
                  <a16:creationId xmlns:a16="http://schemas.microsoft.com/office/drawing/2014/main" id="{53C27E34-E7BA-B446-0D65-9E2BA41A4BF1}"/>
                </a:ext>
              </a:extLst>
            </p:cNvPr>
            <p:cNvPicPr>
              <a:picLocks noChangeAspect="1"/>
            </p:cNvPicPr>
            <p:nvPr/>
          </p:nvPicPr>
          <p:blipFill rotWithShape="1">
            <a:blip r:embed="rId2"/>
            <a:srcRect r="13069" b="33581"/>
            <a:stretch/>
          </p:blipFill>
          <p:spPr>
            <a:xfrm>
              <a:off x="3389137" y="1837488"/>
              <a:ext cx="1529377" cy="526889"/>
            </a:xfrm>
            <a:prstGeom prst="rect">
              <a:avLst/>
            </a:prstGeom>
          </p:spPr>
        </p:pic>
        <p:sp>
          <p:nvSpPr>
            <p:cNvPr id="18" name="TextBox 17">
              <a:extLst>
                <a:ext uri="{FF2B5EF4-FFF2-40B4-BE49-F238E27FC236}">
                  <a16:creationId xmlns:a16="http://schemas.microsoft.com/office/drawing/2014/main" id="{2649FB73-7584-4EA7-0ED7-6E93FDAD33BC}"/>
                </a:ext>
              </a:extLst>
            </p:cNvPr>
            <p:cNvSpPr txBox="1"/>
            <p:nvPr/>
          </p:nvSpPr>
          <p:spPr>
            <a:xfrm flipH="1">
              <a:off x="3513304" y="2285996"/>
              <a:ext cx="1097885" cy="253061"/>
            </a:xfrm>
            <a:prstGeom prst="rect">
              <a:avLst/>
            </a:prstGeom>
            <a:noFill/>
          </p:spPr>
          <p:txBody>
            <a:bodyPr wrap="square" rtlCol="0">
              <a:spAutoFit/>
            </a:bodyPr>
            <a:lstStyle/>
            <a:p>
              <a:pPr defTabSz="1231584" eaLnBrk="0" fontAlgn="base" hangingPunct="0">
                <a:spcBef>
                  <a:spcPct val="0"/>
                </a:spcBef>
                <a:spcAft>
                  <a:spcPct val="0"/>
                </a:spcAft>
              </a:pPr>
              <a:r>
                <a:rPr lang="en-IN" sz="1620">
                  <a:solidFill>
                    <a:prstClr val="white">
                      <a:lumMod val="50000"/>
                    </a:prstClr>
                  </a:solidFill>
                  <a:latin typeface="Calibri" panose="020F0502020204030204" pitchFamily="34" charset="0"/>
                  <a:ea typeface="MS PGothic" panose="020B0600070205080204" pitchFamily="34" charset="-128"/>
                </a:rPr>
                <a:t>Infrastructure</a:t>
              </a:r>
            </a:p>
          </p:txBody>
        </p:sp>
      </p:grpSp>
      <p:grpSp>
        <p:nvGrpSpPr>
          <p:cNvPr id="19" name="Group 18">
            <a:extLst>
              <a:ext uri="{FF2B5EF4-FFF2-40B4-BE49-F238E27FC236}">
                <a16:creationId xmlns:a16="http://schemas.microsoft.com/office/drawing/2014/main" id="{5337FA37-7578-DBC5-B350-7917AD121F7A}"/>
              </a:ext>
            </a:extLst>
          </p:cNvPr>
          <p:cNvGrpSpPr/>
          <p:nvPr/>
        </p:nvGrpSpPr>
        <p:grpSpPr>
          <a:xfrm>
            <a:off x="932906" y="5329954"/>
            <a:ext cx="2718130" cy="1521565"/>
            <a:chOff x="3389137" y="1837488"/>
            <a:chExt cx="1529377" cy="701568"/>
          </a:xfrm>
        </p:grpSpPr>
        <p:pic>
          <p:nvPicPr>
            <p:cNvPr id="20" name="Picture 19">
              <a:extLst>
                <a:ext uri="{FF2B5EF4-FFF2-40B4-BE49-F238E27FC236}">
                  <a16:creationId xmlns:a16="http://schemas.microsoft.com/office/drawing/2014/main" id="{39AEED0D-4518-381B-7DFD-255C1F8836D2}"/>
                </a:ext>
              </a:extLst>
            </p:cNvPr>
            <p:cNvPicPr>
              <a:picLocks noChangeAspect="1"/>
            </p:cNvPicPr>
            <p:nvPr/>
          </p:nvPicPr>
          <p:blipFill rotWithShape="1">
            <a:blip r:embed="rId2"/>
            <a:srcRect r="13069" b="33581"/>
            <a:stretch/>
          </p:blipFill>
          <p:spPr>
            <a:xfrm>
              <a:off x="3389137" y="1837488"/>
              <a:ext cx="1529377" cy="526889"/>
            </a:xfrm>
            <a:prstGeom prst="rect">
              <a:avLst/>
            </a:prstGeom>
          </p:spPr>
        </p:pic>
        <p:sp>
          <p:nvSpPr>
            <p:cNvPr id="21" name="TextBox 20">
              <a:extLst>
                <a:ext uri="{FF2B5EF4-FFF2-40B4-BE49-F238E27FC236}">
                  <a16:creationId xmlns:a16="http://schemas.microsoft.com/office/drawing/2014/main" id="{0659181C-DDC6-274B-C41E-AD835C22FB5B}"/>
                </a:ext>
              </a:extLst>
            </p:cNvPr>
            <p:cNvSpPr txBox="1"/>
            <p:nvPr/>
          </p:nvSpPr>
          <p:spPr>
            <a:xfrm flipH="1">
              <a:off x="3513304" y="2285996"/>
              <a:ext cx="1001834" cy="253060"/>
            </a:xfrm>
            <a:prstGeom prst="rect">
              <a:avLst/>
            </a:prstGeom>
            <a:noFill/>
          </p:spPr>
          <p:txBody>
            <a:bodyPr wrap="square" rtlCol="0">
              <a:spAutoFit/>
            </a:bodyPr>
            <a:lstStyle/>
            <a:p>
              <a:pPr defTabSz="1231584" eaLnBrk="0" fontAlgn="base" hangingPunct="0">
                <a:spcBef>
                  <a:spcPct val="0"/>
                </a:spcBef>
                <a:spcAft>
                  <a:spcPct val="0"/>
                </a:spcAft>
              </a:pPr>
              <a:r>
                <a:rPr lang="en-IN" sz="1620">
                  <a:solidFill>
                    <a:prstClr val="white">
                      <a:lumMod val="50000"/>
                    </a:prstClr>
                  </a:solidFill>
                  <a:latin typeface="Calibri" panose="020F0502020204030204" pitchFamily="34" charset="0"/>
                  <a:ea typeface="MS PGothic" panose="020B0600070205080204" pitchFamily="34" charset="-128"/>
                </a:rPr>
                <a:t>Security</a:t>
              </a:r>
            </a:p>
          </p:txBody>
        </p:sp>
      </p:grpSp>
      <p:grpSp>
        <p:nvGrpSpPr>
          <p:cNvPr id="22" name="Group 21">
            <a:extLst>
              <a:ext uri="{FF2B5EF4-FFF2-40B4-BE49-F238E27FC236}">
                <a16:creationId xmlns:a16="http://schemas.microsoft.com/office/drawing/2014/main" id="{0199FCC1-C1EE-CDE0-AC47-EC8631DFAFCD}"/>
              </a:ext>
            </a:extLst>
          </p:cNvPr>
          <p:cNvGrpSpPr/>
          <p:nvPr/>
        </p:nvGrpSpPr>
        <p:grpSpPr>
          <a:xfrm>
            <a:off x="925573" y="3904638"/>
            <a:ext cx="3317265" cy="1525975"/>
            <a:chOff x="3389137" y="1837488"/>
            <a:chExt cx="1866485" cy="703601"/>
          </a:xfrm>
        </p:grpSpPr>
        <p:pic>
          <p:nvPicPr>
            <p:cNvPr id="23" name="Picture 22">
              <a:extLst>
                <a:ext uri="{FF2B5EF4-FFF2-40B4-BE49-F238E27FC236}">
                  <a16:creationId xmlns:a16="http://schemas.microsoft.com/office/drawing/2014/main" id="{792E8DA6-165D-71AE-500A-A9BDDFA8C4D4}"/>
                </a:ext>
              </a:extLst>
            </p:cNvPr>
            <p:cNvPicPr>
              <a:picLocks noChangeAspect="1"/>
            </p:cNvPicPr>
            <p:nvPr/>
          </p:nvPicPr>
          <p:blipFill rotWithShape="1">
            <a:blip r:embed="rId2"/>
            <a:srcRect r="13069" b="33581"/>
            <a:stretch/>
          </p:blipFill>
          <p:spPr>
            <a:xfrm>
              <a:off x="3389137" y="1837488"/>
              <a:ext cx="1529377" cy="526889"/>
            </a:xfrm>
            <a:prstGeom prst="rect">
              <a:avLst/>
            </a:prstGeom>
          </p:spPr>
        </p:pic>
        <p:sp>
          <p:nvSpPr>
            <p:cNvPr id="24" name="TextBox 23">
              <a:extLst>
                <a:ext uri="{FF2B5EF4-FFF2-40B4-BE49-F238E27FC236}">
                  <a16:creationId xmlns:a16="http://schemas.microsoft.com/office/drawing/2014/main" id="{6C37D46E-C7B5-1D87-40F8-825ACE94B71A}"/>
                </a:ext>
              </a:extLst>
            </p:cNvPr>
            <p:cNvSpPr txBox="1"/>
            <p:nvPr/>
          </p:nvSpPr>
          <p:spPr>
            <a:xfrm flipH="1">
              <a:off x="3513304" y="2303418"/>
              <a:ext cx="1742318" cy="237671"/>
            </a:xfrm>
            <a:prstGeom prst="rect">
              <a:avLst/>
            </a:prstGeom>
            <a:noFill/>
          </p:spPr>
          <p:txBody>
            <a:bodyPr wrap="square" rtlCol="0">
              <a:spAutoFit/>
            </a:bodyPr>
            <a:lstStyle/>
            <a:p>
              <a:pPr defTabSz="1231584" eaLnBrk="0" fontAlgn="base" hangingPunct="0">
                <a:spcBef>
                  <a:spcPct val="0"/>
                </a:spcBef>
                <a:spcAft>
                  <a:spcPct val="0"/>
                </a:spcAft>
              </a:pPr>
              <a:r>
                <a:rPr lang="en-IN" sz="1485" dirty="0">
                  <a:solidFill>
                    <a:prstClr val="white">
                      <a:lumMod val="50000"/>
                    </a:prstClr>
                  </a:solidFill>
                  <a:latin typeface="Calibri" panose="020F0502020204030204" pitchFamily="34" charset="0"/>
                  <a:ea typeface="MS PGothic" panose="020B0600070205080204" pitchFamily="34" charset="-128"/>
                </a:rPr>
                <a:t>Digital &amp; App Innovation</a:t>
              </a:r>
            </a:p>
          </p:txBody>
        </p:sp>
      </p:grpSp>
      <p:sp>
        <p:nvSpPr>
          <p:cNvPr id="3" name="Title 1">
            <a:extLst>
              <a:ext uri="{FF2B5EF4-FFF2-40B4-BE49-F238E27FC236}">
                <a16:creationId xmlns:a16="http://schemas.microsoft.com/office/drawing/2014/main" id="{AD132470-9027-25A2-D797-AC4AE1E6E9F8}"/>
              </a:ext>
            </a:extLst>
          </p:cNvPr>
          <p:cNvSpPr txBox="1">
            <a:spLocks/>
          </p:cNvSpPr>
          <p:nvPr/>
        </p:nvSpPr>
        <p:spPr>
          <a:xfrm>
            <a:off x="2240125" y="387288"/>
            <a:ext cx="13360116" cy="909657"/>
          </a:xfrm>
          <a:prstGeom prst="rect">
            <a:avLst/>
          </a:prstGeom>
        </p:spPr>
        <p:txBody>
          <a:bodyPr vert="horz" lIns="123387" tIns="61694" rIns="123387" bIns="61694" rtlCol="0" anchor="b">
            <a:noAutofit/>
          </a:bodyPr>
          <a:lstStyle>
            <a:lvl1pPr marL="0" marR="0" indent="0" algn="ctr" defTabSz="914378" rtl="0" eaLnBrk="1" fontAlgn="auto" latinLnBrk="0" hangingPunct="1">
              <a:lnSpc>
                <a:spcPct val="100000"/>
              </a:lnSpc>
              <a:spcBef>
                <a:spcPct val="0"/>
              </a:spcBef>
              <a:spcAft>
                <a:spcPts val="0"/>
              </a:spcAft>
              <a:buClrTx/>
              <a:buSzTx/>
              <a:buFontTx/>
              <a:buNone/>
              <a:tabLst/>
              <a:defRPr kumimoji="0" lang="en-US" sz="4800" b="0" i="0" u="none" strike="noStrike" kern="1200" cap="none" spc="0" normalizeH="0" baseline="0" noProof="0" dirty="0" smtClean="0">
                <a:ln>
                  <a:noFill/>
                </a:ln>
                <a:solidFill>
                  <a:prstClr val="white"/>
                </a:solidFill>
                <a:effectLst/>
                <a:uLnTx/>
                <a:uFillTx/>
                <a:latin typeface="Trebuchet MS" pitchFamily="34" charset="0"/>
                <a:ea typeface="+mj-ea"/>
                <a:cs typeface="+mj-cs"/>
              </a:defRPr>
            </a:lvl1pPr>
          </a:lstStyle>
          <a:p>
            <a:pPr defTabSz="685800">
              <a:spcAft>
                <a:spcPts val="900"/>
              </a:spcAft>
              <a:defRPr/>
            </a:pPr>
            <a:r>
              <a:rPr lang="en-US" sz="4400" b="1" dirty="0">
                <a:solidFill>
                  <a:srgbClr val="00953A"/>
                </a:solidFill>
                <a:latin typeface="Segoe UI Semibold" panose="020B0702040204020203" pitchFamily="34" charset="0"/>
                <a:ea typeface="Roboto Condensed"/>
                <a:cs typeface="Segoe UI Semibold" panose="020B0702040204020203" pitchFamily="34" charset="0"/>
              </a:rPr>
              <a:t>Redington's</a:t>
            </a:r>
            <a:r>
              <a:rPr lang="en-IN" sz="4400" b="1" dirty="0">
                <a:solidFill>
                  <a:schemeClr val="tx2"/>
                </a:solidFill>
                <a:latin typeface="Segoe UI Semibold" panose="020B0702040204020203" pitchFamily="34" charset="0"/>
                <a:ea typeface="Roboto Condensed"/>
                <a:cs typeface="Segoe UI Semibold" panose="020B0702040204020203" pitchFamily="34" charset="0"/>
              </a:rPr>
              <a:t> Cloud Competencies &amp; Badges</a:t>
            </a:r>
            <a:endParaRPr lang="en-US" sz="4400" b="1" dirty="0">
              <a:solidFill>
                <a:schemeClr val="tx2"/>
              </a:solidFill>
              <a:latin typeface="Segoe UI Semibold" panose="020B0702040204020203" pitchFamily="34" charset="0"/>
              <a:ea typeface="Roboto Condensed"/>
              <a:cs typeface="Segoe UI Semibold" panose="020B0702040204020203" pitchFamily="34" charset="0"/>
            </a:endParaRPr>
          </a:p>
        </p:txBody>
      </p:sp>
      <p:sp>
        <p:nvSpPr>
          <p:cNvPr id="6" name="Freeform: Shape 48">
            <a:extLst>
              <a:ext uri="{FF2B5EF4-FFF2-40B4-BE49-F238E27FC236}">
                <a16:creationId xmlns:a16="http://schemas.microsoft.com/office/drawing/2014/main" id="{C166A5D8-2363-6ECC-0652-1AEDD66EDFFE}"/>
              </a:ext>
            </a:extLst>
          </p:cNvPr>
          <p:cNvSpPr/>
          <p:nvPr/>
        </p:nvSpPr>
        <p:spPr>
          <a:xfrm>
            <a:off x="612066" y="1628946"/>
            <a:ext cx="5229411" cy="534600"/>
          </a:xfrm>
          <a:custGeom>
            <a:avLst/>
            <a:gdLst>
              <a:gd name="connsiteX0" fmla="*/ 0 w 1437148"/>
              <a:gd name="connsiteY0" fmla="*/ 0 h 2314869"/>
              <a:gd name="connsiteX1" fmla="*/ 1437148 w 1437148"/>
              <a:gd name="connsiteY1" fmla="*/ 0 h 2314869"/>
              <a:gd name="connsiteX2" fmla="*/ 1437148 w 1437148"/>
              <a:gd name="connsiteY2" fmla="*/ 2314869 h 2314869"/>
              <a:gd name="connsiteX3" fmla="*/ 0 w 1437148"/>
              <a:gd name="connsiteY3" fmla="*/ 2314869 h 2314869"/>
              <a:gd name="connsiteX4" fmla="*/ 0 w 1437148"/>
              <a:gd name="connsiteY4" fmla="*/ 0 h 231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148" h="2314869">
                <a:moveTo>
                  <a:pt x="0" y="0"/>
                </a:moveTo>
                <a:lnTo>
                  <a:pt x="1437148" y="0"/>
                </a:lnTo>
                <a:lnTo>
                  <a:pt x="1437148" y="2314869"/>
                </a:lnTo>
                <a:lnTo>
                  <a:pt x="0" y="2314869"/>
                </a:lnTo>
                <a:lnTo>
                  <a:pt x="0" y="0"/>
                </a:lnTo>
                <a:close/>
              </a:path>
            </a:pathLst>
          </a:custGeom>
          <a:noFill/>
          <a:ln>
            <a:noFill/>
          </a:ln>
          <a:sp3d/>
        </p:spPr>
        <p:style>
          <a:lnRef idx="2">
            <a:scrgbClr r="0" g="0" b="0"/>
          </a:lnRef>
          <a:fillRef idx="1">
            <a:scrgbClr r="0" g="0" b="0"/>
          </a:fillRef>
          <a:effectRef idx="0">
            <a:schemeClr val="accent5">
              <a:shade val="80000"/>
              <a:hueOff val="0"/>
              <a:satOff val="0"/>
              <a:lumOff val="0"/>
              <a:alphaOff val="0"/>
            </a:schemeClr>
          </a:effectRef>
          <a:fontRef idx="minor">
            <a:schemeClr val="lt1"/>
          </a:fontRef>
        </p:style>
        <p:txBody>
          <a:bodyPr spcFirstLastPara="0" vert="horz" wrap="square" lIns="0" tIns="69437" rIns="0" bIns="0" numCol="1" spcCol="1270" anchor="ctr" anchorCtr="0">
            <a:noAutofit/>
          </a:bodyPr>
          <a:lstStyle/>
          <a:p>
            <a:pPr algn="ctr" defTabSz="900114" eaLnBrk="0" fontAlgn="base" hangingPunct="0">
              <a:spcBef>
                <a:spcPct val="0"/>
              </a:spcBef>
              <a:spcAft>
                <a:spcPct val="35000"/>
              </a:spcAft>
              <a:buClr>
                <a:prstClr val="white"/>
              </a:buClr>
            </a:pPr>
            <a:r>
              <a:rPr lang="en-US" sz="2160" b="1" dirty="0">
                <a:solidFill>
                  <a:prstClr val="black"/>
                </a:solidFill>
                <a:latin typeface="Calibri" panose="020F0502020204030204" pitchFamily="34" charset="0"/>
                <a:cs typeface="Calibri" panose="020F0502020204030204" pitchFamily="34" charset="0"/>
              </a:rPr>
              <a:t>Enables Resell &amp; Consumption Business</a:t>
            </a:r>
            <a:endParaRPr lang="en-IN" sz="2160" b="1" dirty="0">
              <a:solidFill>
                <a:prstClr val="black"/>
              </a:solidFill>
              <a:latin typeface="Calibri" panose="020F0502020204030204" pitchFamily="34" charset="0"/>
              <a:cs typeface="Calibri" panose="020F0502020204030204" pitchFamily="34" charset="0"/>
            </a:endParaRPr>
          </a:p>
        </p:txBody>
      </p:sp>
      <p:sp>
        <p:nvSpPr>
          <p:cNvPr id="7" name="Freeform: Shape 48">
            <a:extLst>
              <a:ext uri="{FF2B5EF4-FFF2-40B4-BE49-F238E27FC236}">
                <a16:creationId xmlns:a16="http://schemas.microsoft.com/office/drawing/2014/main" id="{64A67F06-7996-D104-9AA9-946D8AE18729}"/>
              </a:ext>
            </a:extLst>
          </p:cNvPr>
          <p:cNvSpPr/>
          <p:nvPr/>
        </p:nvSpPr>
        <p:spPr>
          <a:xfrm>
            <a:off x="6987738" y="1631632"/>
            <a:ext cx="4312524" cy="534600"/>
          </a:xfrm>
          <a:custGeom>
            <a:avLst/>
            <a:gdLst>
              <a:gd name="connsiteX0" fmla="*/ 0 w 1437148"/>
              <a:gd name="connsiteY0" fmla="*/ 0 h 2314869"/>
              <a:gd name="connsiteX1" fmla="*/ 1437148 w 1437148"/>
              <a:gd name="connsiteY1" fmla="*/ 0 h 2314869"/>
              <a:gd name="connsiteX2" fmla="*/ 1437148 w 1437148"/>
              <a:gd name="connsiteY2" fmla="*/ 2314869 h 2314869"/>
              <a:gd name="connsiteX3" fmla="*/ 0 w 1437148"/>
              <a:gd name="connsiteY3" fmla="*/ 2314869 h 2314869"/>
              <a:gd name="connsiteX4" fmla="*/ 0 w 1437148"/>
              <a:gd name="connsiteY4" fmla="*/ 0 h 231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148" h="2314869">
                <a:moveTo>
                  <a:pt x="0" y="0"/>
                </a:moveTo>
                <a:lnTo>
                  <a:pt x="1437148" y="0"/>
                </a:lnTo>
                <a:lnTo>
                  <a:pt x="1437148" y="2314869"/>
                </a:lnTo>
                <a:lnTo>
                  <a:pt x="0" y="2314869"/>
                </a:lnTo>
                <a:lnTo>
                  <a:pt x="0" y="0"/>
                </a:lnTo>
                <a:close/>
              </a:path>
            </a:pathLst>
          </a:custGeom>
          <a:noFill/>
          <a:ln>
            <a:noFill/>
          </a:ln>
          <a:sp3d/>
        </p:spPr>
        <p:style>
          <a:lnRef idx="2">
            <a:scrgbClr r="0" g="0" b="0"/>
          </a:lnRef>
          <a:fillRef idx="1">
            <a:scrgbClr r="0" g="0" b="0"/>
          </a:fillRef>
          <a:effectRef idx="0">
            <a:schemeClr val="accent5">
              <a:shade val="80000"/>
              <a:hueOff val="0"/>
              <a:satOff val="0"/>
              <a:lumOff val="0"/>
              <a:alphaOff val="0"/>
            </a:schemeClr>
          </a:effectRef>
          <a:fontRef idx="minor">
            <a:schemeClr val="lt1"/>
          </a:fontRef>
        </p:style>
        <p:txBody>
          <a:bodyPr spcFirstLastPara="0" vert="horz" wrap="square" lIns="0" tIns="69437" rIns="0" bIns="0" numCol="1" spcCol="1270" anchor="ctr" anchorCtr="0">
            <a:noAutofit/>
          </a:bodyPr>
          <a:lstStyle/>
          <a:p>
            <a:pPr algn="ctr" defTabSz="900114" eaLnBrk="0" fontAlgn="base" hangingPunct="0">
              <a:spcBef>
                <a:spcPct val="0"/>
              </a:spcBef>
              <a:spcAft>
                <a:spcPct val="35000"/>
              </a:spcAft>
              <a:buClr>
                <a:prstClr val="white"/>
              </a:buClr>
            </a:pPr>
            <a:r>
              <a:rPr lang="en-US" sz="2160" b="1" dirty="0">
                <a:solidFill>
                  <a:prstClr val="black"/>
                </a:solidFill>
                <a:latin typeface="Calibri" panose="020F0502020204030204" pitchFamily="34" charset="0"/>
                <a:cs typeface="Calibri" panose="020F0502020204030204" pitchFamily="34" charset="0"/>
              </a:rPr>
              <a:t>Enables Professional Services</a:t>
            </a:r>
            <a:endParaRPr lang="en-IN" sz="2160" b="1" dirty="0">
              <a:solidFill>
                <a:prstClr val="black"/>
              </a:solidFill>
              <a:latin typeface="Calibri" panose="020F0502020204030204" pitchFamily="34" charset="0"/>
              <a:cs typeface="Calibri" panose="020F0502020204030204" pitchFamily="34" charset="0"/>
            </a:endParaRPr>
          </a:p>
        </p:txBody>
      </p:sp>
      <p:sp>
        <p:nvSpPr>
          <p:cNvPr id="8" name="Freeform: Shape 48">
            <a:extLst>
              <a:ext uri="{FF2B5EF4-FFF2-40B4-BE49-F238E27FC236}">
                <a16:creationId xmlns:a16="http://schemas.microsoft.com/office/drawing/2014/main" id="{E6D3D5A0-1B57-3D1C-490D-6C46DE9C5AE0}"/>
              </a:ext>
            </a:extLst>
          </p:cNvPr>
          <p:cNvSpPr/>
          <p:nvPr/>
        </p:nvSpPr>
        <p:spPr>
          <a:xfrm>
            <a:off x="13384744" y="1576780"/>
            <a:ext cx="4903256" cy="586766"/>
          </a:xfrm>
          <a:custGeom>
            <a:avLst/>
            <a:gdLst>
              <a:gd name="connsiteX0" fmla="*/ 0 w 1437148"/>
              <a:gd name="connsiteY0" fmla="*/ 0 h 2314869"/>
              <a:gd name="connsiteX1" fmla="*/ 1437148 w 1437148"/>
              <a:gd name="connsiteY1" fmla="*/ 0 h 2314869"/>
              <a:gd name="connsiteX2" fmla="*/ 1437148 w 1437148"/>
              <a:gd name="connsiteY2" fmla="*/ 2314869 h 2314869"/>
              <a:gd name="connsiteX3" fmla="*/ 0 w 1437148"/>
              <a:gd name="connsiteY3" fmla="*/ 2314869 h 2314869"/>
              <a:gd name="connsiteX4" fmla="*/ 0 w 1437148"/>
              <a:gd name="connsiteY4" fmla="*/ 0 h 231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7148" h="2314869">
                <a:moveTo>
                  <a:pt x="0" y="0"/>
                </a:moveTo>
                <a:lnTo>
                  <a:pt x="1437148" y="0"/>
                </a:lnTo>
                <a:lnTo>
                  <a:pt x="1437148" y="2314869"/>
                </a:lnTo>
                <a:lnTo>
                  <a:pt x="0" y="2314869"/>
                </a:lnTo>
                <a:lnTo>
                  <a:pt x="0" y="0"/>
                </a:lnTo>
                <a:close/>
              </a:path>
            </a:pathLst>
          </a:custGeom>
          <a:noFill/>
          <a:ln>
            <a:noFill/>
          </a:ln>
          <a:sp3d/>
        </p:spPr>
        <p:style>
          <a:lnRef idx="2">
            <a:scrgbClr r="0" g="0" b="0"/>
          </a:lnRef>
          <a:fillRef idx="1">
            <a:scrgbClr r="0" g="0" b="0"/>
          </a:fillRef>
          <a:effectRef idx="0">
            <a:schemeClr val="accent5">
              <a:shade val="80000"/>
              <a:hueOff val="0"/>
              <a:satOff val="0"/>
              <a:lumOff val="0"/>
              <a:alphaOff val="0"/>
            </a:schemeClr>
          </a:effectRef>
          <a:fontRef idx="minor">
            <a:schemeClr val="lt1"/>
          </a:fontRef>
        </p:style>
        <p:txBody>
          <a:bodyPr spcFirstLastPara="0" vert="horz" wrap="square" lIns="0" tIns="69437" rIns="0" bIns="0" numCol="1" spcCol="1270" anchor="ctr" anchorCtr="0">
            <a:noAutofit/>
          </a:bodyPr>
          <a:lstStyle/>
          <a:p>
            <a:pPr algn="ctr" defTabSz="900114" eaLnBrk="0" fontAlgn="base" hangingPunct="0">
              <a:spcBef>
                <a:spcPct val="0"/>
              </a:spcBef>
              <a:spcAft>
                <a:spcPct val="35000"/>
              </a:spcAft>
              <a:buClr>
                <a:prstClr val="white"/>
              </a:buClr>
            </a:pPr>
            <a:r>
              <a:rPr lang="en-US" sz="2160" b="1">
                <a:solidFill>
                  <a:prstClr val="black"/>
                </a:solidFill>
                <a:latin typeface="Calibri" panose="020F0502020204030204" pitchFamily="34" charset="0"/>
                <a:cs typeface="Calibri" panose="020F0502020204030204" pitchFamily="34" charset="0"/>
              </a:rPr>
              <a:t>Program Enrolment - WIP</a:t>
            </a:r>
            <a:endParaRPr lang="en-IN" sz="2160" b="1">
              <a:solidFill>
                <a:prstClr val="black"/>
              </a:solidFill>
              <a:latin typeface="Calibri" panose="020F0502020204030204" pitchFamily="34" charset="0"/>
              <a:cs typeface="Calibri" panose="020F0502020204030204" pitchFamily="34" charset="0"/>
            </a:endParaRPr>
          </a:p>
        </p:txBody>
      </p:sp>
      <p:pic>
        <p:nvPicPr>
          <p:cNvPr id="30" name="Picture 29" descr="A close-up of a business card&#10;&#10;Description automatically generated">
            <a:extLst>
              <a:ext uri="{FF2B5EF4-FFF2-40B4-BE49-F238E27FC236}">
                <a16:creationId xmlns:a16="http://schemas.microsoft.com/office/drawing/2014/main" id="{8820C846-FA94-4E60-0763-9216FF5547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58683" y="3925702"/>
            <a:ext cx="2340000" cy="2182954"/>
          </a:xfrm>
          <a:prstGeom prst="rect">
            <a:avLst/>
          </a:prstGeom>
        </p:spPr>
      </p:pic>
      <p:pic>
        <p:nvPicPr>
          <p:cNvPr id="40" name="Picture 39">
            <a:extLst>
              <a:ext uri="{FF2B5EF4-FFF2-40B4-BE49-F238E27FC236}">
                <a16:creationId xmlns:a16="http://schemas.microsoft.com/office/drawing/2014/main" id="{4EE9F2DA-4400-A7D9-FA29-ACA6BF939C57}"/>
              </a:ext>
            </a:extLst>
          </p:cNvPr>
          <p:cNvPicPr>
            <a:picLocks noChangeAspect="1"/>
          </p:cNvPicPr>
          <p:nvPr/>
        </p:nvPicPr>
        <p:blipFill>
          <a:blip r:embed="rId4"/>
          <a:stretch>
            <a:fillRect/>
          </a:stretch>
        </p:blipFill>
        <p:spPr>
          <a:xfrm>
            <a:off x="14385093" y="2522563"/>
            <a:ext cx="2560587" cy="2395668"/>
          </a:xfrm>
          <a:prstGeom prst="rect">
            <a:avLst/>
          </a:prstGeom>
        </p:spPr>
      </p:pic>
      <p:pic>
        <p:nvPicPr>
          <p:cNvPr id="1026" name="Picture 2">
            <a:extLst>
              <a:ext uri="{FF2B5EF4-FFF2-40B4-BE49-F238E27FC236}">
                <a16:creationId xmlns:a16="http://schemas.microsoft.com/office/drawing/2014/main" id="{065BD68F-C608-9819-7EE5-383416930C2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385093" y="5198066"/>
            <a:ext cx="2819400" cy="11871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Text&#10;&#10;Description automatically generated">
            <a:extLst>
              <a:ext uri="{FF2B5EF4-FFF2-40B4-BE49-F238E27FC236}">
                <a16:creationId xmlns:a16="http://schemas.microsoft.com/office/drawing/2014/main" id="{AFB0866B-EE59-A0AF-A956-B061F9C642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0579" y="2589527"/>
            <a:ext cx="2340000" cy="1333800"/>
          </a:xfrm>
          <a:prstGeom prst="rect">
            <a:avLst/>
          </a:prstGeom>
        </p:spPr>
      </p:pic>
      <p:pic>
        <p:nvPicPr>
          <p:cNvPr id="11" name="Picture 4" descr="Cloud Comrade has earned the Microsoft Azure Virtual Desktop Advanced  Specialization – Cloud Comrade – Cloud Solutions on AWS, GCP, MS Azure, and  Alibaba Cloud">
            <a:extLst>
              <a:ext uri="{FF2B5EF4-FFF2-40B4-BE49-F238E27FC236}">
                <a16:creationId xmlns:a16="http://schemas.microsoft.com/office/drawing/2014/main" id="{44B3AB30-4277-73A5-6688-552A0298017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63563" y="2589527"/>
            <a:ext cx="2340000" cy="1130870"/>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a:extLst>
              <a:ext uri="{FF2B5EF4-FFF2-40B4-BE49-F238E27FC236}">
                <a16:creationId xmlns:a16="http://schemas.microsoft.com/office/drawing/2014/main" id="{F1928549-0B73-40F5-0572-021C5EA5E7F8}"/>
              </a:ext>
            </a:extLst>
          </p:cNvPr>
          <p:cNvGrpSpPr/>
          <p:nvPr/>
        </p:nvGrpSpPr>
        <p:grpSpPr>
          <a:xfrm>
            <a:off x="7450579" y="3948215"/>
            <a:ext cx="2215255" cy="929858"/>
            <a:chOff x="3389137" y="1837488"/>
            <a:chExt cx="1529377" cy="606029"/>
          </a:xfrm>
        </p:grpSpPr>
        <p:pic>
          <p:nvPicPr>
            <p:cNvPr id="26" name="Picture 25">
              <a:extLst>
                <a:ext uri="{FF2B5EF4-FFF2-40B4-BE49-F238E27FC236}">
                  <a16:creationId xmlns:a16="http://schemas.microsoft.com/office/drawing/2014/main" id="{B23604A8-6322-AC27-A3EA-52AD60E5A3DB}"/>
                </a:ext>
              </a:extLst>
            </p:cNvPr>
            <p:cNvPicPr>
              <a:picLocks noChangeAspect="1"/>
            </p:cNvPicPr>
            <p:nvPr/>
          </p:nvPicPr>
          <p:blipFill rotWithShape="1">
            <a:blip r:embed="rId2"/>
            <a:srcRect r="13069" b="33581"/>
            <a:stretch/>
          </p:blipFill>
          <p:spPr>
            <a:xfrm>
              <a:off x="3389137" y="1837488"/>
              <a:ext cx="1529377" cy="526889"/>
            </a:xfrm>
            <a:prstGeom prst="rect">
              <a:avLst/>
            </a:prstGeom>
          </p:spPr>
        </p:pic>
        <p:sp>
          <p:nvSpPr>
            <p:cNvPr id="27" name="TextBox 26">
              <a:extLst>
                <a:ext uri="{FF2B5EF4-FFF2-40B4-BE49-F238E27FC236}">
                  <a16:creationId xmlns:a16="http://schemas.microsoft.com/office/drawing/2014/main" id="{84C1D09B-4130-5032-C95F-F4D546B757C1}"/>
                </a:ext>
              </a:extLst>
            </p:cNvPr>
            <p:cNvSpPr txBox="1"/>
            <p:nvPr/>
          </p:nvSpPr>
          <p:spPr>
            <a:xfrm flipH="1">
              <a:off x="3513304" y="2285996"/>
              <a:ext cx="1001834" cy="157521"/>
            </a:xfrm>
            <a:prstGeom prst="rect">
              <a:avLst/>
            </a:prstGeom>
            <a:noFill/>
          </p:spPr>
          <p:txBody>
            <a:bodyPr wrap="square" rtlCol="0">
              <a:spAutoFit/>
            </a:bodyPr>
            <a:lstStyle/>
            <a:p>
              <a:pPr defTabSz="1231584" eaLnBrk="0" fontAlgn="base" hangingPunct="0">
                <a:spcBef>
                  <a:spcPct val="0"/>
                </a:spcBef>
                <a:spcAft>
                  <a:spcPct val="0"/>
                </a:spcAft>
              </a:pPr>
              <a:r>
                <a:rPr lang="en-US" sz="1620">
                  <a:solidFill>
                    <a:prstClr val="white">
                      <a:lumMod val="50000"/>
                    </a:prstClr>
                  </a:solidFill>
                  <a:latin typeface="Calibri" panose="020F0502020204030204" pitchFamily="34" charset="0"/>
                  <a:ea typeface="MS PGothic" panose="020B0600070205080204" pitchFamily="34" charset="-128"/>
                </a:rPr>
                <a:t>T</a:t>
              </a:r>
              <a:r>
                <a:rPr lang="en-IN" sz="1620">
                  <a:solidFill>
                    <a:prstClr val="white">
                      <a:lumMod val="50000"/>
                    </a:prstClr>
                  </a:solidFill>
                  <a:latin typeface="Calibri" panose="020F0502020204030204" pitchFamily="34" charset="0"/>
                  <a:ea typeface="MS PGothic" panose="020B0600070205080204" pitchFamily="34" charset="-128"/>
                </a:rPr>
                <a:t>hreat Protection</a:t>
              </a:r>
            </a:p>
          </p:txBody>
        </p:sp>
      </p:grpSp>
      <p:grpSp>
        <p:nvGrpSpPr>
          <p:cNvPr id="29" name="Group 28">
            <a:extLst>
              <a:ext uri="{FF2B5EF4-FFF2-40B4-BE49-F238E27FC236}">
                <a16:creationId xmlns:a16="http://schemas.microsoft.com/office/drawing/2014/main" id="{3021C10C-AC4D-1010-890C-9F784513D978}"/>
              </a:ext>
            </a:extLst>
          </p:cNvPr>
          <p:cNvGrpSpPr/>
          <p:nvPr/>
        </p:nvGrpSpPr>
        <p:grpSpPr>
          <a:xfrm>
            <a:off x="7468475" y="5329954"/>
            <a:ext cx="3047782" cy="1479945"/>
            <a:chOff x="3389137" y="1837488"/>
            <a:chExt cx="1714858" cy="682378"/>
          </a:xfrm>
        </p:grpSpPr>
        <p:pic>
          <p:nvPicPr>
            <p:cNvPr id="31" name="Picture 30">
              <a:extLst>
                <a:ext uri="{FF2B5EF4-FFF2-40B4-BE49-F238E27FC236}">
                  <a16:creationId xmlns:a16="http://schemas.microsoft.com/office/drawing/2014/main" id="{286B9B86-16F8-C12B-A9DB-F1C2D02445A8}"/>
                </a:ext>
              </a:extLst>
            </p:cNvPr>
            <p:cNvPicPr>
              <a:picLocks noChangeAspect="1"/>
            </p:cNvPicPr>
            <p:nvPr/>
          </p:nvPicPr>
          <p:blipFill rotWithShape="1">
            <a:blip r:embed="rId2"/>
            <a:srcRect r="13069" b="33581"/>
            <a:stretch/>
          </p:blipFill>
          <p:spPr>
            <a:xfrm>
              <a:off x="3389137" y="1837488"/>
              <a:ext cx="1529377" cy="526889"/>
            </a:xfrm>
            <a:prstGeom prst="rect">
              <a:avLst/>
            </a:prstGeom>
          </p:spPr>
        </p:pic>
        <p:sp>
          <p:nvSpPr>
            <p:cNvPr id="33" name="TextBox 32">
              <a:extLst>
                <a:ext uri="{FF2B5EF4-FFF2-40B4-BE49-F238E27FC236}">
                  <a16:creationId xmlns:a16="http://schemas.microsoft.com/office/drawing/2014/main" id="{F5D3F80A-D9A8-DE95-78AA-9E6708EF3A47}"/>
                </a:ext>
              </a:extLst>
            </p:cNvPr>
            <p:cNvSpPr txBox="1"/>
            <p:nvPr/>
          </p:nvSpPr>
          <p:spPr>
            <a:xfrm flipH="1">
              <a:off x="3513303" y="2362345"/>
              <a:ext cx="1590692" cy="157521"/>
            </a:xfrm>
            <a:prstGeom prst="rect">
              <a:avLst/>
            </a:prstGeom>
            <a:noFill/>
          </p:spPr>
          <p:txBody>
            <a:bodyPr wrap="square" rtlCol="0">
              <a:spAutoFit/>
            </a:bodyPr>
            <a:lstStyle/>
            <a:p>
              <a:pPr defTabSz="1231584" eaLnBrk="0" fontAlgn="base" hangingPunct="0">
                <a:spcBef>
                  <a:spcPct val="0"/>
                </a:spcBef>
                <a:spcAft>
                  <a:spcPct val="0"/>
                </a:spcAft>
              </a:pPr>
              <a:r>
                <a:rPr lang="en-US" sz="1620" dirty="0">
                  <a:solidFill>
                    <a:prstClr val="white">
                      <a:lumMod val="50000"/>
                    </a:prstClr>
                  </a:solidFill>
                  <a:latin typeface="Calibri" panose="020F0502020204030204" pitchFamily="34" charset="0"/>
                  <a:ea typeface="MS PGothic" panose="020B0600070205080204" pitchFamily="34" charset="-128"/>
                </a:rPr>
                <a:t>I</a:t>
              </a:r>
              <a:r>
                <a:rPr lang="en-IN" sz="1620" dirty="0" err="1">
                  <a:solidFill>
                    <a:prstClr val="white">
                      <a:lumMod val="50000"/>
                    </a:prstClr>
                  </a:solidFill>
                  <a:latin typeface="Calibri" panose="020F0502020204030204" pitchFamily="34" charset="0"/>
                  <a:ea typeface="MS PGothic" panose="020B0600070205080204" pitchFamily="34" charset="-128"/>
                </a:rPr>
                <a:t>nfra</a:t>
              </a:r>
              <a:r>
                <a:rPr lang="en-IN" sz="1620" dirty="0">
                  <a:solidFill>
                    <a:prstClr val="white">
                      <a:lumMod val="50000"/>
                    </a:prstClr>
                  </a:solidFill>
                  <a:latin typeface="Calibri" panose="020F0502020204030204" pitchFamily="34" charset="0"/>
                  <a:ea typeface="MS PGothic" panose="020B0600070205080204" pitchFamily="34" charset="-128"/>
                </a:rPr>
                <a:t> &amp; Database Migration</a:t>
              </a:r>
            </a:p>
          </p:txBody>
        </p:sp>
      </p:grpSp>
      <p:grpSp>
        <p:nvGrpSpPr>
          <p:cNvPr id="38" name="Group 37">
            <a:extLst>
              <a:ext uri="{FF2B5EF4-FFF2-40B4-BE49-F238E27FC236}">
                <a16:creationId xmlns:a16="http://schemas.microsoft.com/office/drawing/2014/main" id="{415CEC32-6A43-ED0F-12D5-DDA7F48AC866}"/>
              </a:ext>
            </a:extLst>
          </p:cNvPr>
          <p:cNvGrpSpPr/>
          <p:nvPr/>
        </p:nvGrpSpPr>
        <p:grpSpPr>
          <a:xfrm>
            <a:off x="914400" y="7410813"/>
            <a:ext cx="7842796" cy="969442"/>
            <a:chOff x="5127827" y="4314871"/>
            <a:chExt cx="10216863" cy="1041160"/>
          </a:xfrm>
        </p:grpSpPr>
        <p:sp>
          <p:nvSpPr>
            <p:cNvPr id="39" name="Freeform 2079">
              <a:extLst>
                <a:ext uri="{FF2B5EF4-FFF2-40B4-BE49-F238E27FC236}">
                  <a16:creationId xmlns:a16="http://schemas.microsoft.com/office/drawing/2014/main" id="{6D41AC34-77FE-C136-9465-07C24F96796D}"/>
                </a:ext>
              </a:extLst>
            </p:cNvPr>
            <p:cNvSpPr>
              <a:spLocks/>
            </p:cNvSpPr>
            <p:nvPr/>
          </p:nvSpPr>
          <p:spPr bwMode="auto">
            <a:xfrm>
              <a:off x="5127827" y="4422455"/>
              <a:ext cx="10216863" cy="826559"/>
            </a:xfrm>
            <a:custGeom>
              <a:avLst/>
              <a:gdLst>
                <a:gd name="T0" fmla="*/ 52 w 2252"/>
                <a:gd name="T1" fmla="*/ 0 h 592"/>
                <a:gd name="T2" fmla="*/ 2201 w 2252"/>
                <a:gd name="T3" fmla="*/ 0 h 592"/>
                <a:gd name="T4" fmla="*/ 2216 w 2252"/>
                <a:gd name="T5" fmla="*/ 3 h 592"/>
                <a:gd name="T6" fmla="*/ 2231 w 2252"/>
                <a:gd name="T7" fmla="*/ 12 h 592"/>
                <a:gd name="T8" fmla="*/ 2242 w 2252"/>
                <a:gd name="T9" fmla="*/ 25 h 592"/>
                <a:gd name="T10" fmla="*/ 2249 w 2252"/>
                <a:gd name="T11" fmla="*/ 42 h 592"/>
                <a:gd name="T12" fmla="*/ 2252 w 2252"/>
                <a:gd name="T13" fmla="*/ 60 h 592"/>
                <a:gd name="T14" fmla="*/ 2252 w 2252"/>
                <a:gd name="T15" fmla="*/ 531 h 592"/>
                <a:gd name="T16" fmla="*/ 2249 w 2252"/>
                <a:gd name="T17" fmla="*/ 550 h 592"/>
                <a:gd name="T18" fmla="*/ 2242 w 2252"/>
                <a:gd name="T19" fmla="*/ 567 h 592"/>
                <a:gd name="T20" fmla="*/ 2231 w 2252"/>
                <a:gd name="T21" fmla="*/ 580 h 592"/>
                <a:gd name="T22" fmla="*/ 2216 w 2252"/>
                <a:gd name="T23" fmla="*/ 589 h 592"/>
                <a:gd name="T24" fmla="*/ 2201 w 2252"/>
                <a:gd name="T25" fmla="*/ 592 h 592"/>
                <a:gd name="T26" fmla="*/ 52 w 2252"/>
                <a:gd name="T27" fmla="*/ 592 h 592"/>
                <a:gd name="T28" fmla="*/ 35 w 2252"/>
                <a:gd name="T29" fmla="*/ 589 h 592"/>
                <a:gd name="T30" fmla="*/ 21 w 2252"/>
                <a:gd name="T31" fmla="*/ 580 h 592"/>
                <a:gd name="T32" fmla="*/ 10 w 2252"/>
                <a:gd name="T33" fmla="*/ 567 h 592"/>
                <a:gd name="T34" fmla="*/ 3 w 2252"/>
                <a:gd name="T35" fmla="*/ 550 h 592"/>
                <a:gd name="T36" fmla="*/ 0 w 2252"/>
                <a:gd name="T37" fmla="*/ 531 h 592"/>
                <a:gd name="T38" fmla="*/ 0 w 2252"/>
                <a:gd name="T39" fmla="*/ 60 h 592"/>
                <a:gd name="T40" fmla="*/ 3 w 2252"/>
                <a:gd name="T41" fmla="*/ 42 h 592"/>
                <a:gd name="T42" fmla="*/ 10 w 2252"/>
                <a:gd name="T43" fmla="*/ 25 h 592"/>
                <a:gd name="T44" fmla="*/ 21 w 2252"/>
                <a:gd name="T45" fmla="*/ 12 h 592"/>
                <a:gd name="T46" fmla="*/ 35 w 2252"/>
                <a:gd name="T47" fmla="*/ 3 h 592"/>
                <a:gd name="T48" fmla="*/ 52 w 2252"/>
                <a:gd name="T49"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52" h="592">
                  <a:moveTo>
                    <a:pt x="52" y="0"/>
                  </a:moveTo>
                  <a:lnTo>
                    <a:pt x="2201" y="0"/>
                  </a:lnTo>
                  <a:lnTo>
                    <a:pt x="2216" y="3"/>
                  </a:lnTo>
                  <a:lnTo>
                    <a:pt x="2231" y="12"/>
                  </a:lnTo>
                  <a:lnTo>
                    <a:pt x="2242" y="25"/>
                  </a:lnTo>
                  <a:lnTo>
                    <a:pt x="2249" y="42"/>
                  </a:lnTo>
                  <a:lnTo>
                    <a:pt x="2252" y="60"/>
                  </a:lnTo>
                  <a:lnTo>
                    <a:pt x="2252" y="531"/>
                  </a:lnTo>
                  <a:lnTo>
                    <a:pt x="2249" y="550"/>
                  </a:lnTo>
                  <a:lnTo>
                    <a:pt x="2242" y="567"/>
                  </a:lnTo>
                  <a:lnTo>
                    <a:pt x="2231" y="580"/>
                  </a:lnTo>
                  <a:lnTo>
                    <a:pt x="2216" y="589"/>
                  </a:lnTo>
                  <a:lnTo>
                    <a:pt x="2201" y="592"/>
                  </a:lnTo>
                  <a:lnTo>
                    <a:pt x="52" y="592"/>
                  </a:lnTo>
                  <a:lnTo>
                    <a:pt x="35" y="589"/>
                  </a:lnTo>
                  <a:lnTo>
                    <a:pt x="21" y="580"/>
                  </a:lnTo>
                  <a:lnTo>
                    <a:pt x="10" y="567"/>
                  </a:lnTo>
                  <a:lnTo>
                    <a:pt x="3" y="550"/>
                  </a:lnTo>
                  <a:lnTo>
                    <a:pt x="0" y="531"/>
                  </a:lnTo>
                  <a:lnTo>
                    <a:pt x="0" y="60"/>
                  </a:lnTo>
                  <a:lnTo>
                    <a:pt x="3" y="42"/>
                  </a:lnTo>
                  <a:lnTo>
                    <a:pt x="10" y="25"/>
                  </a:lnTo>
                  <a:lnTo>
                    <a:pt x="21" y="12"/>
                  </a:lnTo>
                  <a:lnTo>
                    <a:pt x="35" y="3"/>
                  </a:lnTo>
                  <a:lnTo>
                    <a:pt x="52" y="0"/>
                  </a:lnTo>
                  <a:close/>
                </a:path>
              </a:pathLst>
            </a:custGeom>
            <a:solidFill>
              <a:schemeClr val="bg2"/>
            </a:solidFill>
            <a:ln w="0">
              <a:noFill/>
              <a:prstDash val="solid"/>
              <a:round/>
              <a:headEnd/>
              <a:tailEnd/>
            </a:ln>
          </p:spPr>
          <p:txBody>
            <a:bodyPr vert="horz" wrap="square" lIns="137160" tIns="68580" rIns="137160" bIns="68580" numCol="1" anchor="ctr" anchorCtr="0" compatLnSpc="1">
              <a:prstTxWarp prst="textNoShape">
                <a:avLst/>
              </a:prstTxWarp>
            </a:bodyPr>
            <a:lstStyle/>
            <a:p>
              <a:pPr defTabSz="1371600">
                <a:buClr>
                  <a:srgbClr val="000000"/>
                </a:buClr>
                <a:defRPr/>
              </a:pPr>
              <a:r>
                <a:rPr lang="en-US" sz="2000">
                  <a:sym typeface="Arial"/>
                </a:rPr>
                <a:t>AZURE Certified Individuals</a:t>
              </a:r>
            </a:p>
          </p:txBody>
        </p:sp>
        <p:sp>
          <p:nvSpPr>
            <p:cNvPr id="41" name="Freeform 2390">
              <a:extLst>
                <a:ext uri="{FF2B5EF4-FFF2-40B4-BE49-F238E27FC236}">
                  <a16:creationId xmlns:a16="http://schemas.microsoft.com/office/drawing/2014/main" id="{A8E7898B-2BA9-1184-7759-DB5495FAC26D}"/>
                </a:ext>
              </a:extLst>
            </p:cNvPr>
            <p:cNvSpPr>
              <a:spLocks/>
            </p:cNvSpPr>
            <p:nvPr/>
          </p:nvSpPr>
          <p:spPr bwMode="auto">
            <a:xfrm>
              <a:off x="12863978" y="4314871"/>
              <a:ext cx="1557147" cy="1041160"/>
            </a:xfrm>
            <a:prstGeom prst="roundRect">
              <a:avLst/>
            </a:prstGeom>
            <a:gradFill>
              <a:gsLst>
                <a:gs pos="0">
                  <a:schemeClr val="accent6">
                    <a:lumMod val="50000"/>
                  </a:schemeClr>
                </a:gs>
                <a:gs pos="44000">
                  <a:schemeClr val="accent6">
                    <a:lumMod val="75000"/>
                  </a:schemeClr>
                </a:gs>
                <a:gs pos="76000">
                  <a:schemeClr val="accent6">
                    <a:lumMod val="60000"/>
                    <a:lumOff val="40000"/>
                  </a:schemeClr>
                </a:gs>
                <a:gs pos="100000">
                  <a:schemeClr val="accent6">
                    <a:lumMod val="40000"/>
                    <a:lumOff val="60000"/>
                  </a:schemeClr>
                </a:gs>
              </a:gsLst>
              <a:lin ang="5400000" scaled="1"/>
            </a:gradFill>
            <a:ln w="0">
              <a:noFill/>
              <a:prstDash val="solid"/>
              <a:round/>
              <a:headEnd/>
              <a:tailEnd/>
            </a:ln>
          </p:spPr>
          <p:txBody>
            <a:bodyPr vert="horz" wrap="square" lIns="137160" tIns="68580" rIns="137160" bIns="68580" numCol="1" anchor="ctr" anchorCtr="0" compatLnSpc="1">
              <a:prstTxWarp prst="textNoShape">
                <a:avLst/>
              </a:prstTxWarp>
            </a:bodyPr>
            <a:lstStyle/>
            <a:p>
              <a:pPr algn="ctr" defTabSz="1371600">
                <a:buClr>
                  <a:srgbClr val="000000"/>
                </a:buClr>
                <a:defRPr/>
              </a:pPr>
              <a:r>
                <a:rPr lang="en-US" sz="2000" b="1" dirty="0">
                  <a:solidFill>
                    <a:schemeClr val="bg1"/>
                  </a:solidFill>
                  <a:sym typeface="Arial"/>
                </a:rPr>
                <a:t>70+</a:t>
              </a:r>
            </a:p>
          </p:txBody>
        </p:sp>
      </p:grpSp>
      <p:grpSp>
        <p:nvGrpSpPr>
          <p:cNvPr id="45" name="Group 44">
            <a:extLst>
              <a:ext uri="{FF2B5EF4-FFF2-40B4-BE49-F238E27FC236}">
                <a16:creationId xmlns:a16="http://schemas.microsoft.com/office/drawing/2014/main" id="{AE2E4508-B908-BE44-F27F-D9CD6B0821E9}"/>
              </a:ext>
            </a:extLst>
          </p:cNvPr>
          <p:cNvGrpSpPr/>
          <p:nvPr/>
        </p:nvGrpSpPr>
        <p:grpSpPr>
          <a:xfrm>
            <a:off x="9431596" y="7393821"/>
            <a:ext cx="7401790" cy="1052793"/>
            <a:chOff x="5127827" y="5470574"/>
            <a:chExt cx="10216863" cy="1041160"/>
          </a:xfrm>
        </p:grpSpPr>
        <p:sp>
          <p:nvSpPr>
            <p:cNvPr id="46" name="Freeform 2079">
              <a:extLst>
                <a:ext uri="{FF2B5EF4-FFF2-40B4-BE49-F238E27FC236}">
                  <a16:creationId xmlns:a16="http://schemas.microsoft.com/office/drawing/2014/main" id="{CC736D42-116B-4169-9610-847F019F366B}"/>
                </a:ext>
              </a:extLst>
            </p:cNvPr>
            <p:cNvSpPr>
              <a:spLocks/>
            </p:cNvSpPr>
            <p:nvPr/>
          </p:nvSpPr>
          <p:spPr bwMode="auto">
            <a:xfrm>
              <a:off x="5127827" y="5596059"/>
              <a:ext cx="10216863" cy="826559"/>
            </a:xfrm>
            <a:custGeom>
              <a:avLst/>
              <a:gdLst>
                <a:gd name="T0" fmla="*/ 52 w 2252"/>
                <a:gd name="T1" fmla="*/ 0 h 592"/>
                <a:gd name="T2" fmla="*/ 2201 w 2252"/>
                <a:gd name="T3" fmla="*/ 0 h 592"/>
                <a:gd name="T4" fmla="*/ 2216 w 2252"/>
                <a:gd name="T5" fmla="*/ 3 h 592"/>
                <a:gd name="T6" fmla="*/ 2231 w 2252"/>
                <a:gd name="T7" fmla="*/ 12 h 592"/>
                <a:gd name="T8" fmla="*/ 2242 w 2252"/>
                <a:gd name="T9" fmla="*/ 25 h 592"/>
                <a:gd name="T10" fmla="*/ 2249 w 2252"/>
                <a:gd name="T11" fmla="*/ 42 h 592"/>
                <a:gd name="T12" fmla="*/ 2252 w 2252"/>
                <a:gd name="T13" fmla="*/ 60 h 592"/>
                <a:gd name="T14" fmla="*/ 2252 w 2252"/>
                <a:gd name="T15" fmla="*/ 531 h 592"/>
                <a:gd name="T16" fmla="*/ 2249 w 2252"/>
                <a:gd name="T17" fmla="*/ 550 h 592"/>
                <a:gd name="T18" fmla="*/ 2242 w 2252"/>
                <a:gd name="T19" fmla="*/ 567 h 592"/>
                <a:gd name="T20" fmla="*/ 2231 w 2252"/>
                <a:gd name="T21" fmla="*/ 580 h 592"/>
                <a:gd name="T22" fmla="*/ 2216 w 2252"/>
                <a:gd name="T23" fmla="*/ 589 h 592"/>
                <a:gd name="T24" fmla="*/ 2201 w 2252"/>
                <a:gd name="T25" fmla="*/ 592 h 592"/>
                <a:gd name="T26" fmla="*/ 52 w 2252"/>
                <a:gd name="T27" fmla="*/ 592 h 592"/>
                <a:gd name="T28" fmla="*/ 35 w 2252"/>
                <a:gd name="T29" fmla="*/ 589 h 592"/>
                <a:gd name="T30" fmla="*/ 21 w 2252"/>
                <a:gd name="T31" fmla="*/ 580 h 592"/>
                <a:gd name="T32" fmla="*/ 10 w 2252"/>
                <a:gd name="T33" fmla="*/ 567 h 592"/>
                <a:gd name="T34" fmla="*/ 3 w 2252"/>
                <a:gd name="T35" fmla="*/ 550 h 592"/>
                <a:gd name="T36" fmla="*/ 0 w 2252"/>
                <a:gd name="T37" fmla="*/ 531 h 592"/>
                <a:gd name="T38" fmla="*/ 0 w 2252"/>
                <a:gd name="T39" fmla="*/ 60 h 592"/>
                <a:gd name="T40" fmla="*/ 3 w 2252"/>
                <a:gd name="T41" fmla="*/ 42 h 592"/>
                <a:gd name="T42" fmla="*/ 10 w 2252"/>
                <a:gd name="T43" fmla="*/ 25 h 592"/>
                <a:gd name="T44" fmla="*/ 21 w 2252"/>
                <a:gd name="T45" fmla="*/ 12 h 592"/>
                <a:gd name="T46" fmla="*/ 35 w 2252"/>
                <a:gd name="T47" fmla="*/ 3 h 592"/>
                <a:gd name="T48" fmla="*/ 52 w 2252"/>
                <a:gd name="T49"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52" h="592">
                  <a:moveTo>
                    <a:pt x="52" y="0"/>
                  </a:moveTo>
                  <a:lnTo>
                    <a:pt x="2201" y="0"/>
                  </a:lnTo>
                  <a:lnTo>
                    <a:pt x="2216" y="3"/>
                  </a:lnTo>
                  <a:lnTo>
                    <a:pt x="2231" y="12"/>
                  </a:lnTo>
                  <a:lnTo>
                    <a:pt x="2242" y="25"/>
                  </a:lnTo>
                  <a:lnTo>
                    <a:pt x="2249" y="42"/>
                  </a:lnTo>
                  <a:lnTo>
                    <a:pt x="2252" y="60"/>
                  </a:lnTo>
                  <a:lnTo>
                    <a:pt x="2252" y="531"/>
                  </a:lnTo>
                  <a:lnTo>
                    <a:pt x="2249" y="550"/>
                  </a:lnTo>
                  <a:lnTo>
                    <a:pt x="2242" y="567"/>
                  </a:lnTo>
                  <a:lnTo>
                    <a:pt x="2231" y="580"/>
                  </a:lnTo>
                  <a:lnTo>
                    <a:pt x="2216" y="589"/>
                  </a:lnTo>
                  <a:lnTo>
                    <a:pt x="2201" y="592"/>
                  </a:lnTo>
                  <a:lnTo>
                    <a:pt x="52" y="592"/>
                  </a:lnTo>
                  <a:lnTo>
                    <a:pt x="35" y="589"/>
                  </a:lnTo>
                  <a:lnTo>
                    <a:pt x="21" y="580"/>
                  </a:lnTo>
                  <a:lnTo>
                    <a:pt x="10" y="567"/>
                  </a:lnTo>
                  <a:lnTo>
                    <a:pt x="3" y="550"/>
                  </a:lnTo>
                  <a:lnTo>
                    <a:pt x="0" y="531"/>
                  </a:lnTo>
                  <a:lnTo>
                    <a:pt x="0" y="60"/>
                  </a:lnTo>
                  <a:lnTo>
                    <a:pt x="3" y="42"/>
                  </a:lnTo>
                  <a:lnTo>
                    <a:pt x="10" y="25"/>
                  </a:lnTo>
                  <a:lnTo>
                    <a:pt x="21" y="12"/>
                  </a:lnTo>
                  <a:lnTo>
                    <a:pt x="35" y="3"/>
                  </a:lnTo>
                  <a:lnTo>
                    <a:pt x="52" y="0"/>
                  </a:lnTo>
                  <a:close/>
                </a:path>
              </a:pathLst>
            </a:custGeom>
            <a:solidFill>
              <a:schemeClr val="bg2"/>
            </a:solidFill>
            <a:ln w="0">
              <a:noFill/>
              <a:prstDash val="solid"/>
              <a:round/>
              <a:headEnd/>
              <a:tailEnd/>
            </a:ln>
          </p:spPr>
          <p:txBody>
            <a:bodyPr vert="horz" wrap="square" lIns="137160" tIns="68580" rIns="137160" bIns="68580" numCol="1" anchor="ctr" anchorCtr="0" compatLnSpc="1">
              <a:prstTxWarp prst="textNoShape">
                <a:avLst/>
              </a:prstTxWarp>
            </a:bodyPr>
            <a:lstStyle/>
            <a:p>
              <a:pPr defTabSz="1371600">
                <a:buClr>
                  <a:srgbClr val="000000"/>
                </a:buClr>
                <a:defRPr/>
              </a:pPr>
              <a:r>
                <a:rPr lang="en-US" sz="2000">
                  <a:sym typeface="Arial"/>
                </a:rPr>
                <a:t>DevOps Certified Individuals</a:t>
              </a:r>
            </a:p>
          </p:txBody>
        </p:sp>
        <p:sp>
          <p:nvSpPr>
            <p:cNvPr id="47" name="Freeform 2390">
              <a:extLst>
                <a:ext uri="{FF2B5EF4-FFF2-40B4-BE49-F238E27FC236}">
                  <a16:creationId xmlns:a16="http://schemas.microsoft.com/office/drawing/2014/main" id="{46A8ACDF-D339-15F7-F491-CE24DFB33155}"/>
                </a:ext>
              </a:extLst>
            </p:cNvPr>
            <p:cNvSpPr>
              <a:spLocks/>
            </p:cNvSpPr>
            <p:nvPr/>
          </p:nvSpPr>
          <p:spPr bwMode="auto">
            <a:xfrm>
              <a:off x="12863978" y="5470574"/>
              <a:ext cx="1557147" cy="1041160"/>
            </a:xfrm>
            <a:prstGeom prst="roundRect">
              <a:avLst/>
            </a:prstGeom>
            <a:gradFill>
              <a:gsLst>
                <a:gs pos="0">
                  <a:schemeClr val="accent5">
                    <a:lumMod val="50000"/>
                  </a:schemeClr>
                </a:gs>
                <a:gs pos="41000">
                  <a:schemeClr val="accent5">
                    <a:lumMod val="75000"/>
                  </a:schemeClr>
                </a:gs>
                <a:gs pos="71000">
                  <a:schemeClr val="accent5">
                    <a:lumMod val="60000"/>
                    <a:lumOff val="40000"/>
                  </a:schemeClr>
                </a:gs>
                <a:gs pos="100000">
                  <a:schemeClr val="accent5">
                    <a:lumMod val="40000"/>
                    <a:lumOff val="60000"/>
                  </a:schemeClr>
                </a:gs>
              </a:gsLst>
              <a:lin ang="5400000" scaled="1"/>
            </a:gradFill>
            <a:ln w="0">
              <a:noFill/>
              <a:prstDash val="solid"/>
              <a:round/>
              <a:headEnd/>
              <a:tailEnd/>
            </a:ln>
          </p:spPr>
          <p:txBody>
            <a:bodyPr vert="horz" wrap="square" lIns="137160" tIns="68580" rIns="137160" bIns="68580" numCol="1" anchor="ctr" anchorCtr="0" compatLnSpc="1">
              <a:prstTxWarp prst="textNoShape">
                <a:avLst/>
              </a:prstTxWarp>
            </a:bodyPr>
            <a:lstStyle/>
            <a:p>
              <a:pPr algn="ctr" defTabSz="1371600">
                <a:buClr>
                  <a:srgbClr val="000000"/>
                </a:buClr>
                <a:defRPr/>
              </a:pPr>
              <a:r>
                <a:rPr lang="en-US" sz="2000" b="1" dirty="0">
                  <a:solidFill>
                    <a:schemeClr val="bg1"/>
                  </a:solidFill>
                  <a:sym typeface="Arial"/>
                </a:rPr>
                <a:t>15+</a:t>
              </a:r>
            </a:p>
          </p:txBody>
        </p:sp>
      </p:grpSp>
      <p:grpSp>
        <p:nvGrpSpPr>
          <p:cNvPr id="48" name="Group 47">
            <a:extLst>
              <a:ext uri="{FF2B5EF4-FFF2-40B4-BE49-F238E27FC236}">
                <a16:creationId xmlns:a16="http://schemas.microsoft.com/office/drawing/2014/main" id="{08682347-A636-28E9-53DA-84EC127763E0}"/>
              </a:ext>
            </a:extLst>
          </p:cNvPr>
          <p:cNvGrpSpPr/>
          <p:nvPr/>
        </p:nvGrpSpPr>
        <p:grpSpPr>
          <a:xfrm>
            <a:off x="949720" y="8612598"/>
            <a:ext cx="7807475" cy="1075903"/>
            <a:chOff x="5127827" y="6614395"/>
            <a:chExt cx="10216863" cy="1042627"/>
          </a:xfrm>
        </p:grpSpPr>
        <p:sp>
          <p:nvSpPr>
            <p:cNvPr id="49" name="Freeform 2079">
              <a:extLst>
                <a:ext uri="{FF2B5EF4-FFF2-40B4-BE49-F238E27FC236}">
                  <a16:creationId xmlns:a16="http://schemas.microsoft.com/office/drawing/2014/main" id="{B29BC4D4-54AA-2F90-5582-D710BBA7A046}"/>
                </a:ext>
              </a:extLst>
            </p:cNvPr>
            <p:cNvSpPr>
              <a:spLocks/>
            </p:cNvSpPr>
            <p:nvPr/>
          </p:nvSpPr>
          <p:spPr bwMode="auto">
            <a:xfrm>
              <a:off x="5127827" y="6769663"/>
              <a:ext cx="10216863" cy="826559"/>
            </a:xfrm>
            <a:custGeom>
              <a:avLst/>
              <a:gdLst>
                <a:gd name="T0" fmla="*/ 52 w 2252"/>
                <a:gd name="T1" fmla="*/ 0 h 592"/>
                <a:gd name="T2" fmla="*/ 2201 w 2252"/>
                <a:gd name="T3" fmla="*/ 0 h 592"/>
                <a:gd name="T4" fmla="*/ 2216 w 2252"/>
                <a:gd name="T5" fmla="*/ 3 h 592"/>
                <a:gd name="T6" fmla="*/ 2231 w 2252"/>
                <a:gd name="T7" fmla="*/ 12 h 592"/>
                <a:gd name="T8" fmla="*/ 2242 w 2252"/>
                <a:gd name="T9" fmla="*/ 25 h 592"/>
                <a:gd name="T10" fmla="*/ 2249 w 2252"/>
                <a:gd name="T11" fmla="*/ 42 h 592"/>
                <a:gd name="T12" fmla="*/ 2252 w 2252"/>
                <a:gd name="T13" fmla="*/ 60 h 592"/>
                <a:gd name="T14" fmla="*/ 2252 w 2252"/>
                <a:gd name="T15" fmla="*/ 531 h 592"/>
                <a:gd name="T16" fmla="*/ 2249 w 2252"/>
                <a:gd name="T17" fmla="*/ 550 h 592"/>
                <a:gd name="T18" fmla="*/ 2242 w 2252"/>
                <a:gd name="T19" fmla="*/ 567 h 592"/>
                <a:gd name="T20" fmla="*/ 2231 w 2252"/>
                <a:gd name="T21" fmla="*/ 580 h 592"/>
                <a:gd name="T22" fmla="*/ 2216 w 2252"/>
                <a:gd name="T23" fmla="*/ 589 h 592"/>
                <a:gd name="T24" fmla="*/ 2201 w 2252"/>
                <a:gd name="T25" fmla="*/ 592 h 592"/>
                <a:gd name="T26" fmla="*/ 52 w 2252"/>
                <a:gd name="T27" fmla="*/ 592 h 592"/>
                <a:gd name="T28" fmla="*/ 35 w 2252"/>
                <a:gd name="T29" fmla="*/ 589 h 592"/>
                <a:gd name="T30" fmla="*/ 21 w 2252"/>
                <a:gd name="T31" fmla="*/ 580 h 592"/>
                <a:gd name="T32" fmla="*/ 10 w 2252"/>
                <a:gd name="T33" fmla="*/ 567 h 592"/>
                <a:gd name="T34" fmla="*/ 3 w 2252"/>
                <a:gd name="T35" fmla="*/ 550 h 592"/>
                <a:gd name="T36" fmla="*/ 0 w 2252"/>
                <a:gd name="T37" fmla="*/ 531 h 592"/>
                <a:gd name="T38" fmla="*/ 0 w 2252"/>
                <a:gd name="T39" fmla="*/ 60 h 592"/>
                <a:gd name="T40" fmla="*/ 3 w 2252"/>
                <a:gd name="T41" fmla="*/ 42 h 592"/>
                <a:gd name="T42" fmla="*/ 10 w 2252"/>
                <a:gd name="T43" fmla="*/ 25 h 592"/>
                <a:gd name="T44" fmla="*/ 21 w 2252"/>
                <a:gd name="T45" fmla="*/ 12 h 592"/>
                <a:gd name="T46" fmla="*/ 35 w 2252"/>
                <a:gd name="T47" fmla="*/ 3 h 592"/>
                <a:gd name="T48" fmla="*/ 52 w 2252"/>
                <a:gd name="T49"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52" h="592">
                  <a:moveTo>
                    <a:pt x="52" y="0"/>
                  </a:moveTo>
                  <a:lnTo>
                    <a:pt x="2201" y="0"/>
                  </a:lnTo>
                  <a:lnTo>
                    <a:pt x="2216" y="3"/>
                  </a:lnTo>
                  <a:lnTo>
                    <a:pt x="2231" y="12"/>
                  </a:lnTo>
                  <a:lnTo>
                    <a:pt x="2242" y="25"/>
                  </a:lnTo>
                  <a:lnTo>
                    <a:pt x="2249" y="42"/>
                  </a:lnTo>
                  <a:lnTo>
                    <a:pt x="2252" y="60"/>
                  </a:lnTo>
                  <a:lnTo>
                    <a:pt x="2252" y="531"/>
                  </a:lnTo>
                  <a:lnTo>
                    <a:pt x="2249" y="550"/>
                  </a:lnTo>
                  <a:lnTo>
                    <a:pt x="2242" y="567"/>
                  </a:lnTo>
                  <a:lnTo>
                    <a:pt x="2231" y="580"/>
                  </a:lnTo>
                  <a:lnTo>
                    <a:pt x="2216" y="589"/>
                  </a:lnTo>
                  <a:lnTo>
                    <a:pt x="2201" y="592"/>
                  </a:lnTo>
                  <a:lnTo>
                    <a:pt x="52" y="592"/>
                  </a:lnTo>
                  <a:lnTo>
                    <a:pt x="35" y="589"/>
                  </a:lnTo>
                  <a:lnTo>
                    <a:pt x="21" y="580"/>
                  </a:lnTo>
                  <a:lnTo>
                    <a:pt x="10" y="567"/>
                  </a:lnTo>
                  <a:lnTo>
                    <a:pt x="3" y="550"/>
                  </a:lnTo>
                  <a:lnTo>
                    <a:pt x="0" y="531"/>
                  </a:lnTo>
                  <a:lnTo>
                    <a:pt x="0" y="60"/>
                  </a:lnTo>
                  <a:lnTo>
                    <a:pt x="3" y="42"/>
                  </a:lnTo>
                  <a:lnTo>
                    <a:pt x="10" y="25"/>
                  </a:lnTo>
                  <a:lnTo>
                    <a:pt x="21" y="12"/>
                  </a:lnTo>
                  <a:lnTo>
                    <a:pt x="35" y="3"/>
                  </a:lnTo>
                  <a:lnTo>
                    <a:pt x="52" y="0"/>
                  </a:lnTo>
                  <a:close/>
                </a:path>
              </a:pathLst>
            </a:custGeom>
            <a:solidFill>
              <a:schemeClr val="bg2"/>
            </a:solidFill>
            <a:ln w="0">
              <a:noFill/>
              <a:prstDash val="solid"/>
              <a:round/>
              <a:headEnd/>
              <a:tailEnd/>
            </a:ln>
          </p:spPr>
          <p:txBody>
            <a:bodyPr vert="horz" wrap="square" lIns="137160" tIns="68580" rIns="137160" bIns="68580" numCol="1" anchor="ctr" anchorCtr="0" compatLnSpc="1">
              <a:prstTxWarp prst="textNoShape">
                <a:avLst/>
              </a:prstTxWarp>
            </a:bodyPr>
            <a:lstStyle/>
            <a:p>
              <a:pPr defTabSz="1371600">
                <a:buClr>
                  <a:srgbClr val="000000"/>
                </a:buClr>
                <a:defRPr/>
              </a:pPr>
              <a:r>
                <a:rPr lang="en-US" sz="2000">
                  <a:sym typeface="Arial"/>
                </a:rPr>
                <a:t>Cloud Security Certified Individuals</a:t>
              </a:r>
            </a:p>
          </p:txBody>
        </p:sp>
        <p:sp>
          <p:nvSpPr>
            <p:cNvPr id="50" name="Freeform 2090">
              <a:extLst>
                <a:ext uri="{FF2B5EF4-FFF2-40B4-BE49-F238E27FC236}">
                  <a16:creationId xmlns:a16="http://schemas.microsoft.com/office/drawing/2014/main" id="{5DDD2D8C-B841-E73B-FA00-01C19B3C48F4}"/>
                </a:ext>
              </a:extLst>
            </p:cNvPr>
            <p:cNvSpPr>
              <a:spLocks/>
            </p:cNvSpPr>
            <p:nvPr/>
          </p:nvSpPr>
          <p:spPr bwMode="auto">
            <a:xfrm>
              <a:off x="12833554" y="6614395"/>
              <a:ext cx="1557147" cy="1042627"/>
            </a:xfrm>
            <a:prstGeom prst="round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5400000" scaled="1"/>
              <a:tileRect/>
            </a:gradFill>
            <a:ln w="0">
              <a:noFill/>
              <a:prstDash val="solid"/>
              <a:round/>
              <a:headEnd/>
              <a:tailEnd/>
            </a:ln>
          </p:spPr>
          <p:txBody>
            <a:bodyPr vert="horz" wrap="square" lIns="137160" tIns="68580" rIns="137160" bIns="68580" numCol="1" anchor="ctr" anchorCtr="0" compatLnSpc="1">
              <a:prstTxWarp prst="textNoShape">
                <a:avLst/>
              </a:prstTxWarp>
            </a:bodyPr>
            <a:lstStyle/>
            <a:p>
              <a:pPr algn="ctr" defTabSz="1371600">
                <a:buClr>
                  <a:srgbClr val="000000"/>
                </a:buClr>
                <a:defRPr/>
              </a:pPr>
              <a:r>
                <a:rPr lang="en-US" sz="2000" b="1" dirty="0">
                  <a:solidFill>
                    <a:schemeClr val="bg1"/>
                  </a:solidFill>
                  <a:sym typeface="Arial"/>
                </a:rPr>
                <a:t>20+</a:t>
              </a:r>
            </a:p>
          </p:txBody>
        </p:sp>
      </p:grpSp>
      <p:grpSp>
        <p:nvGrpSpPr>
          <p:cNvPr id="51" name="Group 50">
            <a:extLst>
              <a:ext uri="{FF2B5EF4-FFF2-40B4-BE49-F238E27FC236}">
                <a16:creationId xmlns:a16="http://schemas.microsoft.com/office/drawing/2014/main" id="{C9ADABBB-F2F0-0CE9-C32F-EAC89F552493}"/>
              </a:ext>
            </a:extLst>
          </p:cNvPr>
          <p:cNvGrpSpPr/>
          <p:nvPr/>
        </p:nvGrpSpPr>
        <p:grpSpPr>
          <a:xfrm>
            <a:off x="9593586" y="8636337"/>
            <a:ext cx="7352094" cy="1075903"/>
            <a:chOff x="5127827" y="6614395"/>
            <a:chExt cx="10216863" cy="1042627"/>
          </a:xfrm>
        </p:grpSpPr>
        <p:sp>
          <p:nvSpPr>
            <p:cNvPr id="52" name="Freeform 2079">
              <a:extLst>
                <a:ext uri="{FF2B5EF4-FFF2-40B4-BE49-F238E27FC236}">
                  <a16:creationId xmlns:a16="http://schemas.microsoft.com/office/drawing/2014/main" id="{816C6CF0-17E2-2373-9E53-1D44463955F1}"/>
                </a:ext>
              </a:extLst>
            </p:cNvPr>
            <p:cNvSpPr>
              <a:spLocks/>
            </p:cNvSpPr>
            <p:nvPr/>
          </p:nvSpPr>
          <p:spPr bwMode="auto">
            <a:xfrm>
              <a:off x="5127827" y="6769663"/>
              <a:ext cx="10216863" cy="826559"/>
            </a:xfrm>
            <a:custGeom>
              <a:avLst/>
              <a:gdLst>
                <a:gd name="T0" fmla="*/ 52 w 2252"/>
                <a:gd name="T1" fmla="*/ 0 h 592"/>
                <a:gd name="T2" fmla="*/ 2201 w 2252"/>
                <a:gd name="T3" fmla="*/ 0 h 592"/>
                <a:gd name="T4" fmla="*/ 2216 w 2252"/>
                <a:gd name="T5" fmla="*/ 3 h 592"/>
                <a:gd name="T6" fmla="*/ 2231 w 2252"/>
                <a:gd name="T7" fmla="*/ 12 h 592"/>
                <a:gd name="T8" fmla="*/ 2242 w 2252"/>
                <a:gd name="T9" fmla="*/ 25 h 592"/>
                <a:gd name="T10" fmla="*/ 2249 w 2252"/>
                <a:gd name="T11" fmla="*/ 42 h 592"/>
                <a:gd name="T12" fmla="*/ 2252 w 2252"/>
                <a:gd name="T13" fmla="*/ 60 h 592"/>
                <a:gd name="T14" fmla="*/ 2252 w 2252"/>
                <a:gd name="T15" fmla="*/ 531 h 592"/>
                <a:gd name="T16" fmla="*/ 2249 w 2252"/>
                <a:gd name="T17" fmla="*/ 550 h 592"/>
                <a:gd name="T18" fmla="*/ 2242 w 2252"/>
                <a:gd name="T19" fmla="*/ 567 h 592"/>
                <a:gd name="T20" fmla="*/ 2231 w 2252"/>
                <a:gd name="T21" fmla="*/ 580 h 592"/>
                <a:gd name="T22" fmla="*/ 2216 w 2252"/>
                <a:gd name="T23" fmla="*/ 589 h 592"/>
                <a:gd name="T24" fmla="*/ 2201 w 2252"/>
                <a:gd name="T25" fmla="*/ 592 h 592"/>
                <a:gd name="T26" fmla="*/ 52 w 2252"/>
                <a:gd name="T27" fmla="*/ 592 h 592"/>
                <a:gd name="T28" fmla="*/ 35 w 2252"/>
                <a:gd name="T29" fmla="*/ 589 h 592"/>
                <a:gd name="T30" fmla="*/ 21 w 2252"/>
                <a:gd name="T31" fmla="*/ 580 h 592"/>
                <a:gd name="T32" fmla="*/ 10 w 2252"/>
                <a:gd name="T33" fmla="*/ 567 h 592"/>
                <a:gd name="T34" fmla="*/ 3 w 2252"/>
                <a:gd name="T35" fmla="*/ 550 h 592"/>
                <a:gd name="T36" fmla="*/ 0 w 2252"/>
                <a:gd name="T37" fmla="*/ 531 h 592"/>
                <a:gd name="T38" fmla="*/ 0 w 2252"/>
                <a:gd name="T39" fmla="*/ 60 h 592"/>
                <a:gd name="T40" fmla="*/ 3 w 2252"/>
                <a:gd name="T41" fmla="*/ 42 h 592"/>
                <a:gd name="T42" fmla="*/ 10 w 2252"/>
                <a:gd name="T43" fmla="*/ 25 h 592"/>
                <a:gd name="T44" fmla="*/ 21 w 2252"/>
                <a:gd name="T45" fmla="*/ 12 h 592"/>
                <a:gd name="T46" fmla="*/ 35 w 2252"/>
                <a:gd name="T47" fmla="*/ 3 h 592"/>
                <a:gd name="T48" fmla="*/ 52 w 2252"/>
                <a:gd name="T49" fmla="*/ 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52" h="592">
                  <a:moveTo>
                    <a:pt x="52" y="0"/>
                  </a:moveTo>
                  <a:lnTo>
                    <a:pt x="2201" y="0"/>
                  </a:lnTo>
                  <a:lnTo>
                    <a:pt x="2216" y="3"/>
                  </a:lnTo>
                  <a:lnTo>
                    <a:pt x="2231" y="12"/>
                  </a:lnTo>
                  <a:lnTo>
                    <a:pt x="2242" y="25"/>
                  </a:lnTo>
                  <a:lnTo>
                    <a:pt x="2249" y="42"/>
                  </a:lnTo>
                  <a:lnTo>
                    <a:pt x="2252" y="60"/>
                  </a:lnTo>
                  <a:lnTo>
                    <a:pt x="2252" y="531"/>
                  </a:lnTo>
                  <a:lnTo>
                    <a:pt x="2249" y="550"/>
                  </a:lnTo>
                  <a:lnTo>
                    <a:pt x="2242" y="567"/>
                  </a:lnTo>
                  <a:lnTo>
                    <a:pt x="2231" y="580"/>
                  </a:lnTo>
                  <a:lnTo>
                    <a:pt x="2216" y="589"/>
                  </a:lnTo>
                  <a:lnTo>
                    <a:pt x="2201" y="592"/>
                  </a:lnTo>
                  <a:lnTo>
                    <a:pt x="52" y="592"/>
                  </a:lnTo>
                  <a:lnTo>
                    <a:pt x="35" y="589"/>
                  </a:lnTo>
                  <a:lnTo>
                    <a:pt x="21" y="580"/>
                  </a:lnTo>
                  <a:lnTo>
                    <a:pt x="10" y="567"/>
                  </a:lnTo>
                  <a:lnTo>
                    <a:pt x="3" y="550"/>
                  </a:lnTo>
                  <a:lnTo>
                    <a:pt x="0" y="531"/>
                  </a:lnTo>
                  <a:lnTo>
                    <a:pt x="0" y="60"/>
                  </a:lnTo>
                  <a:lnTo>
                    <a:pt x="3" y="42"/>
                  </a:lnTo>
                  <a:lnTo>
                    <a:pt x="10" y="25"/>
                  </a:lnTo>
                  <a:lnTo>
                    <a:pt x="21" y="12"/>
                  </a:lnTo>
                  <a:lnTo>
                    <a:pt x="35" y="3"/>
                  </a:lnTo>
                  <a:lnTo>
                    <a:pt x="52" y="0"/>
                  </a:lnTo>
                  <a:close/>
                </a:path>
              </a:pathLst>
            </a:custGeom>
            <a:solidFill>
              <a:schemeClr val="bg2"/>
            </a:solidFill>
            <a:ln w="0">
              <a:noFill/>
              <a:prstDash val="solid"/>
              <a:round/>
              <a:headEnd/>
              <a:tailEnd/>
            </a:ln>
          </p:spPr>
          <p:txBody>
            <a:bodyPr vert="horz" wrap="square" lIns="137160" tIns="68580" rIns="137160" bIns="68580" numCol="1" anchor="ctr" anchorCtr="0" compatLnSpc="1">
              <a:prstTxWarp prst="textNoShape">
                <a:avLst/>
              </a:prstTxWarp>
            </a:bodyPr>
            <a:lstStyle/>
            <a:p>
              <a:pPr defTabSz="1371600">
                <a:buClr>
                  <a:srgbClr val="000000"/>
                </a:buClr>
                <a:defRPr/>
              </a:pPr>
              <a:r>
                <a:rPr lang="en-US" sz="2000">
                  <a:sym typeface="Arial"/>
                </a:rPr>
                <a:t>M365 Certified Individuals</a:t>
              </a:r>
            </a:p>
          </p:txBody>
        </p:sp>
        <p:sp>
          <p:nvSpPr>
            <p:cNvPr id="53" name="Freeform 2090">
              <a:extLst>
                <a:ext uri="{FF2B5EF4-FFF2-40B4-BE49-F238E27FC236}">
                  <a16:creationId xmlns:a16="http://schemas.microsoft.com/office/drawing/2014/main" id="{7597403D-218B-4A1E-D726-3FE032E5E499}"/>
                </a:ext>
              </a:extLst>
            </p:cNvPr>
            <p:cNvSpPr>
              <a:spLocks/>
            </p:cNvSpPr>
            <p:nvPr/>
          </p:nvSpPr>
          <p:spPr bwMode="auto">
            <a:xfrm>
              <a:off x="12833554" y="6614395"/>
              <a:ext cx="1557147" cy="1042627"/>
            </a:xfrm>
            <a:prstGeom prst="roundRect">
              <a:avLst/>
            </a:prstGeom>
            <a:gradFill>
              <a:gsLst>
                <a:gs pos="0">
                  <a:schemeClr val="accent3">
                    <a:lumMod val="50000"/>
                  </a:schemeClr>
                </a:gs>
                <a:gs pos="37000">
                  <a:schemeClr val="accent3">
                    <a:lumMod val="75000"/>
                  </a:schemeClr>
                </a:gs>
                <a:gs pos="71000">
                  <a:schemeClr val="accent3">
                    <a:lumMod val="60000"/>
                    <a:lumOff val="40000"/>
                  </a:schemeClr>
                </a:gs>
                <a:gs pos="100000">
                  <a:schemeClr val="accent3">
                    <a:lumMod val="40000"/>
                    <a:lumOff val="60000"/>
                  </a:schemeClr>
                </a:gs>
              </a:gsLst>
              <a:lin ang="5400000" scaled="1"/>
            </a:gradFill>
            <a:ln w="0">
              <a:noFill/>
              <a:prstDash val="solid"/>
              <a:round/>
              <a:headEnd/>
              <a:tailEnd/>
            </a:ln>
          </p:spPr>
          <p:txBody>
            <a:bodyPr vert="horz" wrap="square" lIns="137160" tIns="68580" rIns="137160" bIns="68580" numCol="1" anchor="ctr" anchorCtr="0" compatLnSpc="1">
              <a:prstTxWarp prst="textNoShape">
                <a:avLst/>
              </a:prstTxWarp>
            </a:bodyPr>
            <a:lstStyle/>
            <a:p>
              <a:pPr algn="ctr" defTabSz="1371600">
                <a:buClr>
                  <a:srgbClr val="000000"/>
                </a:buClr>
                <a:defRPr/>
              </a:pPr>
              <a:r>
                <a:rPr lang="en-US" sz="2000" b="1" dirty="0">
                  <a:solidFill>
                    <a:schemeClr val="bg1"/>
                  </a:solidFill>
                  <a:sym typeface="Arial"/>
                </a:rPr>
                <a:t>25+</a:t>
              </a:r>
            </a:p>
          </p:txBody>
        </p:sp>
      </p:grpSp>
      <p:pic>
        <p:nvPicPr>
          <p:cNvPr id="10" name="Picture 9" descr="A green text on a black background&#10;&#10;Description automatically generated">
            <a:extLst>
              <a:ext uri="{FF2B5EF4-FFF2-40B4-BE49-F238E27FC236}">
                <a16:creationId xmlns:a16="http://schemas.microsoft.com/office/drawing/2014/main" id="{A3D3050A-FF51-8348-4497-3C0BEBEF705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967364" y="181599"/>
            <a:ext cx="2024425" cy="523154"/>
          </a:xfrm>
          <a:prstGeom prst="rect">
            <a:avLst/>
          </a:prstGeom>
        </p:spPr>
      </p:pic>
    </p:spTree>
    <p:extLst>
      <p:ext uri="{BB962C8B-B14F-4D97-AF65-F5344CB8AC3E}">
        <p14:creationId xmlns:p14="http://schemas.microsoft.com/office/powerpoint/2010/main" val="1450311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680C3655-E7F8-402F-2B64-FACF52D9D812}"/>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4580EB80-8B22-5406-C69C-8E7B93B60914}"/>
              </a:ext>
            </a:extLst>
          </p:cNvPr>
          <p:cNvGrpSpPr/>
          <p:nvPr/>
        </p:nvGrpSpPr>
        <p:grpSpPr>
          <a:xfrm>
            <a:off x="-5104909" y="0"/>
            <a:ext cx="6553563" cy="10287000"/>
            <a:chOff x="9144000" y="0"/>
            <a:chExt cx="4968240" cy="10287000"/>
          </a:xfrm>
        </p:grpSpPr>
        <p:sp>
          <p:nvSpPr>
            <p:cNvPr id="33" name="Freeform: Shape 32">
              <a:extLst>
                <a:ext uri="{FF2B5EF4-FFF2-40B4-BE49-F238E27FC236}">
                  <a16:creationId xmlns:a16="http://schemas.microsoft.com/office/drawing/2014/main" id="{554D5CEE-2E40-83FA-6ED9-AF6A1489D0C9}"/>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72DBE9EA-02C0-1ADE-85DE-12C579F25EE3}"/>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C</a:t>
              </a:r>
            </a:p>
          </p:txBody>
        </p:sp>
        <p:sp>
          <p:nvSpPr>
            <p:cNvPr id="45" name="TextBox 44">
              <a:extLst>
                <a:ext uri="{FF2B5EF4-FFF2-40B4-BE49-F238E27FC236}">
                  <a16:creationId xmlns:a16="http://schemas.microsoft.com/office/drawing/2014/main" id="{686E13F5-643A-B95F-81F0-FA595CC31848}"/>
                </a:ext>
              </a:extLst>
            </p:cNvPr>
            <p:cNvSpPr txBox="1"/>
            <p:nvPr/>
          </p:nvSpPr>
          <p:spPr>
            <a:xfrm>
              <a:off x="9524198" y="4030519"/>
              <a:ext cx="3795562" cy="2462213"/>
            </a:xfrm>
            <a:prstGeom prst="rect">
              <a:avLst/>
            </a:prstGeom>
            <a:noFill/>
          </p:spPr>
          <p:txBody>
            <a:bodyPr wrap="square" lIns="0" tIns="0" rIns="0" bIns="0" rtlCol="0">
              <a:spAutoFit/>
            </a:bodyPr>
            <a:lstStyle/>
            <a:p>
              <a:pPr algn="ctr"/>
              <a:r>
                <a:rPr lang="en-US" sz="4000" dirty="0">
                  <a:latin typeface="+mj-lt"/>
                  <a:cs typeface="MoolBoran" panose="020B0100010101010101" pitchFamily="34" charset="0"/>
                </a:rPr>
                <a:t>How we can help you overcome the Challenges</a:t>
              </a:r>
            </a:p>
          </p:txBody>
        </p:sp>
        <p:pic>
          <p:nvPicPr>
            <p:cNvPr id="54" name="Graphic 53" descr="Employee badge outline">
              <a:extLst>
                <a:ext uri="{FF2B5EF4-FFF2-40B4-BE49-F238E27FC236}">
                  <a16:creationId xmlns:a16="http://schemas.microsoft.com/office/drawing/2014/main" id="{4E9E654F-55FD-2D08-4954-DF54B93A2B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C4E0DF60-6FAA-0E27-17BB-28A1B7056E0C}"/>
              </a:ext>
            </a:extLst>
          </p:cNvPr>
          <p:cNvGrpSpPr/>
          <p:nvPr/>
        </p:nvGrpSpPr>
        <p:grpSpPr>
          <a:xfrm>
            <a:off x="-5457589" y="0"/>
            <a:ext cx="6532402" cy="10287000"/>
            <a:chOff x="4572000" y="0"/>
            <a:chExt cx="4952198" cy="10287000"/>
          </a:xfrm>
        </p:grpSpPr>
        <p:sp>
          <p:nvSpPr>
            <p:cNvPr id="32" name="Freeform: Shape 31">
              <a:extLst>
                <a:ext uri="{FF2B5EF4-FFF2-40B4-BE49-F238E27FC236}">
                  <a16:creationId xmlns:a16="http://schemas.microsoft.com/office/drawing/2014/main" id="{14169543-830F-37E0-81EF-A92DC07391AE}"/>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FF598750-0AB3-DE87-3032-46A5C6829B26}"/>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B</a:t>
              </a:r>
            </a:p>
          </p:txBody>
        </p:sp>
        <p:sp>
          <p:nvSpPr>
            <p:cNvPr id="43" name="TextBox 42">
              <a:extLst>
                <a:ext uri="{FF2B5EF4-FFF2-40B4-BE49-F238E27FC236}">
                  <a16:creationId xmlns:a16="http://schemas.microsoft.com/office/drawing/2014/main" id="{6AA654A2-1F48-5B8A-02C7-90E177A119F8}"/>
                </a:ext>
              </a:extLst>
            </p:cNvPr>
            <p:cNvSpPr txBox="1"/>
            <p:nvPr/>
          </p:nvSpPr>
          <p:spPr>
            <a:xfrm>
              <a:off x="4761372" y="4660084"/>
              <a:ext cx="4193256" cy="1231106"/>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solidFill>
                    <a:srgbClr val="F4364C"/>
                  </a:solidFill>
                </a:rPr>
                <a:t>The Challenges you Might Face</a:t>
              </a:r>
            </a:p>
          </p:txBody>
        </p:sp>
        <p:pic>
          <p:nvPicPr>
            <p:cNvPr id="50" name="Graphic 49" descr="Board Of Directors outline">
              <a:extLst>
                <a:ext uri="{FF2B5EF4-FFF2-40B4-BE49-F238E27FC236}">
                  <a16:creationId xmlns:a16="http://schemas.microsoft.com/office/drawing/2014/main" id="{F6C4ABBD-B32C-2E5D-E4D8-D2C776359D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4153DCC1-2E2C-F01C-B027-0018CE70F84E}"/>
              </a:ext>
            </a:extLst>
          </p:cNvPr>
          <p:cNvGrpSpPr/>
          <p:nvPr/>
        </p:nvGrpSpPr>
        <p:grpSpPr>
          <a:xfrm>
            <a:off x="-5831856" y="0"/>
            <a:ext cx="6533460" cy="10287000"/>
            <a:chOff x="0" y="0"/>
            <a:chExt cx="4953000" cy="10287000"/>
          </a:xfrm>
        </p:grpSpPr>
        <p:sp>
          <p:nvSpPr>
            <p:cNvPr id="24" name="Freeform: Shape 23">
              <a:extLst>
                <a:ext uri="{FF2B5EF4-FFF2-40B4-BE49-F238E27FC236}">
                  <a16:creationId xmlns:a16="http://schemas.microsoft.com/office/drawing/2014/main" id="{31881BB9-CB7F-3345-3436-63847B069A44}"/>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E9FD3870-EC96-5F33-04D4-6F6D0E0E7C63}"/>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A</a:t>
              </a:r>
            </a:p>
          </p:txBody>
        </p:sp>
        <p:sp>
          <p:nvSpPr>
            <p:cNvPr id="40" name="TextBox 39">
              <a:extLst>
                <a:ext uri="{FF2B5EF4-FFF2-40B4-BE49-F238E27FC236}">
                  <a16:creationId xmlns:a16="http://schemas.microsoft.com/office/drawing/2014/main" id="{39533050-F2B4-0FE8-533B-3C9B675AA0FD}"/>
                </a:ext>
              </a:extLst>
            </p:cNvPr>
            <p:cNvSpPr txBox="1"/>
            <p:nvPr/>
          </p:nvSpPr>
          <p:spPr>
            <a:xfrm>
              <a:off x="380198" y="4352308"/>
              <a:ext cx="3795562" cy="1846659"/>
            </a:xfrm>
            <a:prstGeom prst="rect">
              <a:avLst/>
            </a:prstGeom>
            <a:noFill/>
          </p:spPr>
          <p:txBody>
            <a:bodyPr wrap="square" lIns="0" tIns="0" rIns="0" bIns="0" rtlCol="0">
              <a:spAutoFit/>
            </a:bodyPr>
            <a:lstStyle/>
            <a:p>
              <a:pPr algn="ctr"/>
              <a:r>
                <a:rPr lang="en-US" sz="4000" b="1" dirty="0">
                  <a:solidFill>
                    <a:srgbClr val="091F2C"/>
                  </a:solidFill>
                  <a:latin typeface="+mj-lt"/>
                  <a:cs typeface="MoolBoran" panose="020B0100010101010101" pitchFamily="34" charset="0"/>
                </a:rPr>
                <a:t>Why Migrating to Azure makes sense</a:t>
              </a:r>
            </a:p>
          </p:txBody>
        </p:sp>
        <p:pic>
          <p:nvPicPr>
            <p:cNvPr id="52" name="Graphic 51" descr="Clipboard Partially Crossed outline">
              <a:extLst>
                <a:ext uri="{FF2B5EF4-FFF2-40B4-BE49-F238E27FC236}">
                  <a16:creationId xmlns:a16="http://schemas.microsoft.com/office/drawing/2014/main" id="{52D72D55-6008-235B-5244-7346404393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97579" y="8407983"/>
              <a:ext cx="914400" cy="914400"/>
            </a:xfrm>
            <a:prstGeom prst="rect">
              <a:avLst/>
            </a:prstGeom>
          </p:spPr>
        </p:pic>
      </p:grpSp>
      <p:sp>
        <p:nvSpPr>
          <p:cNvPr id="4" name="TextBox 3">
            <a:extLst>
              <a:ext uri="{FF2B5EF4-FFF2-40B4-BE49-F238E27FC236}">
                <a16:creationId xmlns:a16="http://schemas.microsoft.com/office/drawing/2014/main" id="{818D1FFB-F2A6-2463-301B-911EA2FB95F7}"/>
              </a:ext>
            </a:extLst>
          </p:cNvPr>
          <p:cNvSpPr txBox="1"/>
          <p:nvPr/>
        </p:nvSpPr>
        <p:spPr>
          <a:xfrm>
            <a:off x="2448292" y="3254984"/>
            <a:ext cx="13375758" cy="3077766"/>
          </a:xfrm>
          <a:prstGeom prst="rect">
            <a:avLst/>
          </a:prstGeom>
          <a:noFill/>
        </p:spPr>
        <p:txBody>
          <a:bodyPr wrap="square" lIns="0" tIns="0" rIns="0" bIns="0" rtlCol="0">
            <a:spAutoFit/>
          </a:bodyPr>
          <a:lstStyle/>
          <a:p>
            <a:pPr algn="ctr"/>
            <a:r>
              <a:rPr lang="en-US" sz="10000" b="1" dirty="0">
                <a:solidFill>
                  <a:srgbClr val="FFB900"/>
                </a:solidFill>
                <a:cs typeface="MoolBoran" panose="020B0100010101010101" pitchFamily="34" charset="0"/>
              </a:rPr>
              <a:t>Discussion </a:t>
            </a:r>
            <a:br>
              <a:rPr lang="en-US" sz="10000" b="1" dirty="0">
                <a:cs typeface="MoolBoran" panose="020B0100010101010101" pitchFamily="34" charset="0"/>
              </a:rPr>
            </a:br>
            <a:r>
              <a:rPr lang="en-US" sz="10000" b="1" dirty="0">
                <a:cs typeface="MoolBoran" panose="020B0100010101010101" pitchFamily="34" charset="0"/>
              </a:rPr>
              <a:t> Key </a:t>
            </a:r>
            <a:r>
              <a:rPr lang="en-US" sz="10000" b="1" dirty="0">
                <a:solidFill>
                  <a:srgbClr val="091F2C"/>
                </a:solidFill>
                <a:cs typeface="MoolBoran" panose="020B0100010101010101" pitchFamily="34" charset="0"/>
              </a:rPr>
              <a:t>Points</a:t>
            </a:r>
            <a:endParaRPr lang="en-US" sz="100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10413846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5BD476F2-E487-4617-8613-648E005CA28B}"/>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D6CA48E2-391A-6D42-86C2-D64B2E31F696}"/>
              </a:ext>
            </a:extLst>
          </p:cNvPr>
          <p:cNvGrpSpPr/>
          <p:nvPr/>
        </p:nvGrpSpPr>
        <p:grpSpPr>
          <a:xfrm>
            <a:off x="12183616" y="0"/>
            <a:ext cx="6553563" cy="10287000"/>
            <a:chOff x="9144000" y="0"/>
            <a:chExt cx="4968240" cy="10287000"/>
          </a:xfrm>
        </p:grpSpPr>
        <p:sp>
          <p:nvSpPr>
            <p:cNvPr id="33" name="Freeform: Shape 32">
              <a:extLst>
                <a:ext uri="{FF2B5EF4-FFF2-40B4-BE49-F238E27FC236}">
                  <a16:creationId xmlns:a16="http://schemas.microsoft.com/office/drawing/2014/main" id="{0B99C803-78A7-A72C-7036-22666719FB18}"/>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CB4C332B-50C1-7564-1301-9900469878E8}"/>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solidFill>
                    <a:srgbClr val="FFC000"/>
                  </a:solidFill>
                  <a:latin typeface="MoolBoran" panose="020B0100010101010101" pitchFamily="34" charset="0"/>
                  <a:cs typeface="MoolBoran" panose="020B0100010101010101" pitchFamily="34" charset="0"/>
                </a:rPr>
                <a:t>C</a:t>
              </a:r>
            </a:p>
          </p:txBody>
        </p:sp>
        <p:sp>
          <p:nvSpPr>
            <p:cNvPr id="45" name="TextBox 44">
              <a:extLst>
                <a:ext uri="{FF2B5EF4-FFF2-40B4-BE49-F238E27FC236}">
                  <a16:creationId xmlns:a16="http://schemas.microsoft.com/office/drawing/2014/main" id="{CDAFB248-BBAF-C8F3-4BC3-92E593E7C9DE}"/>
                </a:ext>
              </a:extLst>
            </p:cNvPr>
            <p:cNvSpPr txBox="1"/>
            <p:nvPr/>
          </p:nvSpPr>
          <p:spPr>
            <a:xfrm>
              <a:off x="9524198" y="4030519"/>
              <a:ext cx="3795562" cy="1846659"/>
            </a:xfrm>
            <a:prstGeom prst="rect">
              <a:avLst/>
            </a:prstGeom>
            <a:noFill/>
          </p:spPr>
          <p:txBody>
            <a:bodyPr wrap="square" lIns="0" tIns="0" rIns="0" bIns="0" rtlCol="0">
              <a:spAutoFit/>
            </a:bodyPr>
            <a:lstStyle/>
            <a:p>
              <a:pPr algn="ctr"/>
              <a:r>
                <a:rPr lang="en-US" sz="4000" dirty="0">
                  <a:latin typeface="+mj-lt"/>
                  <a:cs typeface="MoolBoran" panose="020B0100010101010101" pitchFamily="34" charset="0"/>
                </a:rPr>
                <a:t>How we can help</a:t>
              </a:r>
              <a:br>
                <a:rPr lang="en-US" sz="4000" dirty="0">
                  <a:latin typeface="+mj-lt"/>
                  <a:cs typeface="MoolBoran" panose="020B0100010101010101" pitchFamily="34" charset="0"/>
                </a:rPr>
              </a:br>
              <a:r>
                <a:rPr lang="en-US" sz="4000" dirty="0">
                  <a:latin typeface="+mj-lt"/>
                  <a:cs typeface="MoolBoran" panose="020B0100010101010101" pitchFamily="34" charset="0"/>
                </a:rPr>
                <a:t> you Overcome the Challenges</a:t>
              </a:r>
            </a:p>
          </p:txBody>
        </p:sp>
        <p:pic>
          <p:nvPicPr>
            <p:cNvPr id="54" name="Graphic 53" descr="Employee badge outline">
              <a:extLst>
                <a:ext uri="{FF2B5EF4-FFF2-40B4-BE49-F238E27FC236}">
                  <a16:creationId xmlns:a16="http://schemas.microsoft.com/office/drawing/2014/main" id="{B7AE9A2F-7EB4-8B4C-6104-6F058E2838D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F51E6E86-B0A8-BD0A-3093-4CE646E5BF1C}"/>
              </a:ext>
            </a:extLst>
          </p:cNvPr>
          <p:cNvGrpSpPr/>
          <p:nvPr/>
        </p:nvGrpSpPr>
        <p:grpSpPr>
          <a:xfrm>
            <a:off x="6068092" y="0"/>
            <a:ext cx="6532402" cy="10287000"/>
            <a:chOff x="4572000" y="0"/>
            <a:chExt cx="4952198" cy="10287000"/>
          </a:xfrm>
        </p:grpSpPr>
        <p:sp>
          <p:nvSpPr>
            <p:cNvPr id="32" name="Freeform: Shape 31">
              <a:extLst>
                <a:ext uri="{FF2B5EF4-FFF2-40B4-BE49-F238E27FC236}">
                  <a16:creationId xmlns:a16="http://schemas.microsoft.com/office/drawing/2014/main" id="{7412D5B1-E656-1FFD-4862-71B0C0C14644}"/>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D9E2DB42-D926-E2FA-6232-B99204E37FA1}"/>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solidFill>
                    <a:srgbClr val="FFC000"/>
                  </a:solidFill>
                  <a:latin typeface="MoolBoran" panose="020B0100010101010101" pitchFamily="34" charset="0"/>
                  <a:cs typeface="MoolBoran" panose="020B0100010101010101" pitchFamily="34" charset="0"/>
                </a:rPr>
                <a:t>B</a:t>
              </a:r>
            </a:p>
          </p:txBody>
        </p:sp>
        <p:sp>
          <p:nvSpPr>
            <p:cNvPr id="43" name="TextBox 42">
              <a:extLst>
                <a:ext uri="{FF2B5EF4-FFF2-40B4-BE49-F238E27FC236}">
                  <a16:creationId xmlns:a16="http://schemas.microsoft.com/office/drawing/2014/main" id="{344FF848-115D-B4C2-A8E1-80941D528FEB}"/>
                </a:ext>
              </a:extLst>
            </p:cNvPr>
            <p:cNvSpPr txBox="1"/>
            <p:nvPr/>
          </p:nvSpPr>
          <p:spPr>
            <a:xfrm>
              <a:off x="4761372" y="4362374"/>
              <a:ext cx="4193256" cy="1231106"/>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solidFill>
                    <a:srgbClr val="F4364C"/>
                  </a:solidFill>
                </a:rPr>
                <a:t>The Challenges you might Face</a:t>
              </a:r>
            </a:p>
          </p:txBody>
        </p:sp>
        <p:pic>
          <p:nvPicPr>
            <p:cNvPr id="50" name="Graphic 49" descr="Board Of Directors outline">
              <a:extLst>
                <a:ext uri="{FF2B5EF4-FFF2-40B4-BE49-F238E27FC236}">
                  <a16:creationId xmlns:a16="http://schemas.microsoft.com/office/drawing/2014/main" id="{A784F2B7-D56D-3E9A-F40D-0E329DC48C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AB87BEEE-B099-DF8D-0745-66C72C428D00}"/>
              </a:ext>
            </a:extLst>
          </p:cNvPr>
          <p:cNvGrpSpPr/>
          <p:nvPr/>
        </p:nvGrpSpPr>
        <p:grpSpPr>
          <a:xfrm>
            <a:off x="16045" y="0"/>
            <a:ext cx="6533460" cy="10287000"/>
            <a:chOff x="0" y="0"/>
            <a:chExt cx="4953000" cy="10287000"/>
          </a:xfrm>
        </p:grpSpPr>
        <p:sp>
          <p:nvSpPr>
            <p:cNvPr id="24" name="Freeform: Shape 23">
              <a:extLst>
                <a:ext uri="{FF2B5EF4-FFF2-40B4-BE49-F238E27FC236}">
                  <a16:creationId xmlns:a16="http://schemas.microsoft.com/office/drawing/2014/main" id="{B58BD53A-AAB1-C683-D67C-F0536B68559E}"/>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E9E03B3A-48CC-D8E8-D2DF-110834E2F814}"/>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solidFill>
                    <a:srgbClr val="FFC000"/>
                  </a:solidFill>
                  <a:latin typeface="MoolBoran" panose="020B0100010101010101" pitchFamily="34" charset="0"/>
                  <a:cs typeface="MoolBoran" panose="020B0100010101010101" pitchFamily="34" charset="0"/>
                </a:rPr>
                <a:t>A</a:t>
              </a:r>
            </a:p>
          </p:txBody>
        </p:sp>
        <p:sp>
          <p:nvSpPr>
            <p:cNvPr id="40" name="TextBox 39">
              <a:extLst>
                <a:ext uri="{FF2B5EF4-FFF2-40B4-BE49-F238E27FC236}">
                  <a16:creationId xmlns:a16="http://schemas.microsoft.com/office/drawing/2014/main" id="{BB1DAA3D-9972-09F1-9570-B209F3FEB87F}"/>
                </a:ext>
              </a:extLst>
            </p:cNvPr>
            <p:cNvSpPr txBox="1"/>
            <p:nvPr/>
          </p:nvSpPr>
          <p:spPr>
            <a:xfrm>
              <a:off x="380198" y="4352308"/>
              <a:ext cx="3795562" cy="1846659"/>
            </a:xfrm>
            <a:prstGeom prst="rect">
              <a:avLst/>
            </a:prstGeom>
            <a:noFill/>
          </p:spPr>
          <p:txBody>
            <a:bodyPr wrap="square" lIns="0" tIns="0" rIns="0" bIns="0" rtlCol="0">
              <a:spAutoFit/>
            </a:bodyPr>
            <a:lstStyle/>
            <a:p>
              <a:pPr algn="ctr"/>
              <a:r>
                <a:rPr lang="en-US" sz="4000" b="1" dirty="0">
                  <a:solidFill>
                    <a:srgbClr val="091F2C"/>
                  </a:solidFill>
                  <a:latin typeface="+mj-lt"/>
                  <a:cs typeface="MoolBoran" panose="020B0100010101010101" pitchFamily="34" charset="0"/>
                </a:rPr>
                <a:t>Why Migrating to Azure makes sense</a:t>
              </a:r>
            </a:p>
          </p:txBody>
        </p:sp>
        <p:pic>
          <p:nvPicPr>
            <p:cNvPr id="52" name="Graphic 51" descr="Clipboard Partially Crossed outline">
              <a:extLst>
                <a:ext uri="{FF2B5EF4-FFF2-40B4-BE49-F238E27FC236}">
                  <a16:creationId xmlns:a16="http://schemas.microsoft.com/office/drawing/2014/main" id="{451FD0FB-D614-1EA1-B533-E9CA47C1D8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97579" y="8407983"/>
              <a:ext cx="914400" cy="914400"/>
            </a:xfrm>
            <a:prstGeom prst="rect">
              <a:avLst/>
            </a:prstGeom>
          </p:spPr>
        </p:pic>
      </p:grpSp>
      <p:sp>
        <p:nvSpPr>
          <p:cNvPr id="4" name="TextBox 3">
            <a:extLst>
              <a:ext uri="{FF2B5EF4-FFF2-40B4-BE49-F238E27FC236}">
                <a16:creationId xmlns:a16="http://schemas.microsoft.com/office/drawing/2014/main" id="{C5F490A3-0E8F-3124-97C9-9875CE64788C}"/>
              </a:ext>
            </a:extLst>
          </p:cNvPr>
          <p:cNvSpPr txBox="1"/>
          <p:nvPr/>
        </p:nvSpPr>
        <p:spPr>
          <a:xfrm>
            <a:off x="16993622" y="3254984"/>
            <a:ext cx="13375758" cy="3077766"/>
          </a:xfrm>
          <a:prstGeom prst="rect">
            <a:avLst/>
          </a:prstGeom>
          <a:noFill/>
        </p:spPr>
        <p:txBody>
          <a:bodyPr wrap="square" lIns="0" tIns="0" rIns="0" bIns="0" rtlCol="0">
            <a:spAutoFit/>
          </a:bodyPr>
          <a:lstStyle/>
          <a:p>
            <a:pPr algn="ctr"/>
            <a:r>
              <a:rPr lang="en-US" sz="10000" b="1" dirty="0">
                <a:solidFill>
                  <a:srgbClr val="FFB900"/>
                </a:solidFill>
                <a:cs typeface="MoolBoran" panose="020B0100010101010101" pitchFamily="34" charset="0"/>
              </a:rPr>
              <a:t>Discussion </a:t>
            </a:r>
            <a:br>
              <a:rPr lang="en-US" sz="10000" b="1" dirty="0">
                <a:cs typeface="MoolBoran" panose="020B0100010101010101" pitchFamily="34" charset="0"/>
              </a:rPr>
            </a:br>
            <a:r>
              <a:rPr lang="en-US" sz="10000" b="1" dirty="0">
                <a:cs typeface="MoolBoran" panose="020B0100010101010101" pitchFamily="34" charset="0"/>
              </a:rPr>
              <a:t> Key </a:t>
            </a:r>
            <a:r>
              <a:rPr lang="en-US" sz="10000" b="1" dirty="0">
                <a:solidFill>
                  <a:srgbClr val="091F2C"/>
                </a:solidFill>
                <a:cs typeface="MoolBoran" panose="020B0100010101010101" pitchFamily="34" charset="0"/>
              </a:rPr>
              <a:t>Points</a:t>
            </a:r>
            <a:endParaRPr lang="en-US" sz="100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706522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5185-493D-C2A7-B6E6-5F34647D2A68}"/>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B2F5E536-9DDB-3159-229E-DA933A5E7B75}"/>
              </a:ext>
            </a:extLst>
          </p:cNvPr>
          <p:cNvGrpSpPr/>
          <p:nvPr/>
        </p:nvGrpSpPr>
        <p:grpSpPr>
          <a:xfrm>
            <a:off x="6832910" y="3935581"/>
            <a:ext cx="4716924" cy="4716926"/>
            <a:chOff x="4555273" y="2623720"/>
            <a:chExt cx="3144616" cy="3144617"/>
          </a:xfrm>
        </p:grpSpPr>
        <p:grpSp>
          <p:nvGrpSpPr>
            <p:cNvPr id="76" name="Group 75">
              <a:extLst>
                <a:ext uri="{FF2B5EF4-FFF2-40B4-BE49-F238E27FC236}">
                  <a16:creationId xmlns:a16="http://schemas.microsoft.com/office/drawing/2014/main" id="{2704A230-D502-E2FB-0C9A-E629AA01FC41}"/>
                </a:ext>
              </a:extLst>
            </p:cNvPr>
            <p:cNvGrpSpPr/>
            <p:nvPr/>
          </p:nvGrpSpPr>
          <p:grpSpPr>
            <a:xfrm flipV="1">
              <a:off x="4555273" y="2623720"/>
              <a:ext cx="3144616" cy="3144617"/>
              <a:chOff x="3781282" y="1537742"/>
              <a:chExt cx="4604033" cy="4604033"/>
            </a:xfrm>
          </p:grpSpPr>
          <p:sp>
            <p:nvSpPr>
              <p:cNvPr id="11" name="Oval 10">
                <a:extLst>
                  <a:ext uri="{FF2B5EF4-FFF2-40B4-BE49-F238E27FC236}">
                    <a16:creationId xmlns:a16="http://schemas.microsoft.com/office/drawing/2014/main" id="{A725237E-1849-660C-51F1-AC76BD616EF4}"/>
                  </a:ext>
                </a:extLst>
              </p:cNvPr>
              <p:cNvSpPr/>
              <p:nvPr/>
            </p:nvSpPr>
            <p:spPr bwMode="auto">
              <a:xfrm>
                <a:off x="3781282" y="1537742"/>
                <a:ext cx="4604033" cy="4604033"/>
              </a:xfrm>
              <a:prstGeom prst="ellips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err="1">
                  <a:solidFill>
                    <a:srgbClr val="FFFFFF"/>
                  </a:solidFill>
                  <a:latin typeface="Segoe UI" panose="020B0502040204020203" pitchFamily="34" charset="0"/>
                  <a:cs typeface="Segoe UI" panose="020B0502040204020203" pitchFamily="34" charset="0"/>
                </a:endParaRPr>
              </a:p>
            </p:txBody>
          </p:sp>
          <p:cxnSp>
            <p:nvCxnSpPr>
              <p:cNvPr id="19" name="Straight Connector 18">
                <a:extLst>
                  <a:ext uri="{FF2B5EF4-FFF2-40B4-BE49-F238E27FC236}">
                    <a16:creationId xmlns:a16="http://schemas.microsoft.com/office/drawing/2014/main" id="{C0F14C4C-252D-0851-8A87-098B328A3EC3}"/>
                  </a:ext>
                </a:extLst>
              </p:cNvPr>
              <p:cNvCxnSpPr>
                <a:cxnSpLocks/>
              </p:cNvCxnSpPr>
              <p:nvPr/>
            </p:nvCxnSpPr>
            <p:spPr>
              <a:xfrm flipH="1">
                <a:off x="6075121" y="2074721"/>
                <a:ext cx="1478790" cy="1773214"/>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F0F414B-E877-7E33-5DC2-5CFB7C1CFF27}"/>
                  </a:ext>
                </a:extLst>
              </p:cNvPr>
              <p:cNvCxnSpPr>
                <a:cxnSpLocks/>
              </p:cNvCxnSpPr>
              <p:nvPr/>
            </p:nvCxnSpPr>
            <p:spPr>
              <a:xfrm flipV="1">
                <a:off x="6083298" y="3441357"/>
                <a:ext cx="2269870" cy="398401"/>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D9397BF-AD29-ED4E-7DAD-4909391530B6}"/>
                  </a:ext>
                </a:extLst>
              </p:cNvPr>
              <p:cNvCxnSpPr/>
              <p:nvPr/>
            </p:nvCxnSpPr>
            <p:spPr>
              <a:xfrm>
                <a:off x="6095999" y="3839758"/>
                <a:ext cx="1979142" cy="1150666"/>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3B9DFE6-BC81-B238-5BA4-E004F82EEE48}"/>
                  </a:ext>
                </a:extLst>
              </p:cNvPr>
              <p:cNvCxnSpPr>
                <a:cxnSpLocks/>
              </p:cNvCxnSpPr>
              <p:nvPr/>
            </p:nvCxnSpPr>
            <p:spPr>
              <a:xfrm>
                <a:off x="6093698" y="3839758"/>
                <a:ext cx="767555" cy="2165794"/>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985316-8CE4-BA1E-46A6-785429938694}"/>
                  </a:ext>
                </a:extLst>
              </p:cNvPr>
              <p:cNvCxnSpPr/>
              <p:nvPr/>
            </p:nvCxnSpPr>
            <p:spPr>
              <a:xfrm flipH="1">
                <a:off x="5290692" y="3831581"/>
                <a:ext cx="800785" cy="2165794"/>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8F64CC7-CE55-87B8-8538-4D639607C8CF}"/>
                  </a:ext>
                </a:extLst>
              </p:cNvPr>
              <p:cNvCxnSpPr/>
              <p:nvPr/>
            </p:nvCxnSpPr>
            <p:spPr>
              <a:xfrm flipH="1">
                <a:off x="4092086" y="3819077"/>
                <a:ext cx="2009790" cy="1163170"/>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C9FE5CD-F6BC-5716-6EA2-4C0F8D0F67B7}"/>
                  </a:ext>
                </a:extLst>
              </p:cNvPr>
              <p:cNvCxnSpPr>
                <a:cxnSpLocks/>
              </p:cNvCxnSpPr>
              <p:nvPr/>
            </p:nvCxnSpPr>
            <p:spPr>
              <a:xfrm flipH="1" flipV="1">
                <a:off x="3819291" y="3441357"/>
                <a:ext cx="2274407" cy="398401"/>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9A557F3-1E71-1414-6645-5A1ACFF37A58}"/>
                  </a:ext>
                </a:extLst>
              </p:cNvPr>
              <p:cNvCxnSpPr/>
              <p:nvPr/>
            </p:nvCxnSpPr>
            <p:spPr>
              <a:xfrm>
                <a:off x="4613568" y="2074222"/>
                <a:ext cx="1477408" cy="1773214"/>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4F72BE4-4216-8E1D-BFA5-9E259C415094}"/>
                  </a:ext>
                </a:extLst>
              </p:cNvPr>
              <p:cNvCxnSpPr>
                <a:cxnSpLocks/>
              </p:cNvCxnSpPr>
              <p:nvPr/>
            </p:nvCxnSpPr>
            <p:spPr>
              <a:xfrm>
                <a:off x="6073152" y="1537742"/>
                <a:ext cx="10146" cy="2302016"/>
              </a:xfrm>
              <a:prstGeom prst="line">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sp>
          <p:nvSpPr>
            <p:cNvPr id="77" name="Oval 76">
              <a:extLst>
                <a:ext uri="{FF2B5EF4-FFF2-40B4-BE49-F238E27FC236}">
                  <a16:creationId xmlns:a16="http://schemas.microsoft.com/office/drawing/2014/main" id="{170F054E-EB6D-5942-DCF0-888AF8A71D29}"/>
                </a:ext>
              </a:extLst>
            </p:cNvPr>
            <p:cNvSpPr/>
            <p:nvPr/>
          </p:nvSpPr>
          <p:spPr bwMode="auto">
            <a:xfrm>
              <a:off x="5507364" y="3575811"/>
              <a:ext cx="1240432" cy="1240432"/>
            </a:xfrm>
            <a:prstGeom prst="ellipse">
              <a:avLst/>
            </a:prstGeom>
            <a:solidFill>
              <a:srgbClr val="091F2C"/>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a:solidFill>
                  <a:srgbClr val="FFFFFF"/>
                </a:solidFill>
                <a:latin typeface="Segoe UI" panose="020B0502040204020203" pitchFamily="34" charset="0"/>
                <a:cs typeface="Segoe UI" panose="020B0502040204020203" pitchFamily="34" charset="0"/>
              </a:endParaRPr>
            </a:p>
          </p:txBody>
        </p:sp>
      </p:grpSp>
      <p:grpSp>
        <p:nvGrpSpPr>
          <p:cNvPr id="36" name="Group 35">
            <a:extLst>
              <a:ext uri="{FF2B5EF4-FFF2-40B4-BE49-F238E27FC236}">
                <a16:creationId xmlns:a16="http://schemas.microsoft.com/office/drawing/2014/main" id="{BCB83A3F-B93A-C604-C447-07FAD0A6EDFC}"/>
              </a:ext>
            </a:extLst>
          </p:cNvPr>
          <p:cNvGrpSpPr/>
          <p:nvPr/>
        </p:nvGrpSpPr>
        <p:grpSpPr>
          <a:xfrm>
            <a:off x="10449002" y="6895053"/>
            <a:ext cx="4149678" cy="987414"/>
            <a:chOff x="6966001" y="4596702"/>
            <a:chExt cx="2766452" cy="658276"/>
          </a:xfrm>
        </p:grpSpPr>
        <p:sp>
          <p:nvSpPr>
            <p:cNvPr id="66" name="Rectangle 65" descr="Element of the infographic belonging to the lower part">
              <a:extLst>
                <a:ext uri="{FF2B5EF4-FFF2-40B4-BE49-F238E27FC236}">
                  <a16:creationId xmlns:a16="http://schemas.microsoft.com/office/drawing/2014/main" id="{FE2C57D5-7272-BAB9-07AE-DB5E6BFA174D}"/>
                </a:ext>
                <a:ext uri="{C183D7F6-B498-43B3-948B-1728B52AA6E4}">
                  <adec:decorative xmlns:adec="http://schemas.microsoft.com/office/drawing/2017/decorative" val="0"/>
                </a:ext>
              </a:extLst>
            </p:cNvPr>
            <p:cNvSpPr/>
            <p:nvPr/>
          </p:nvSpPr>
          <p:spPr>
            <a:xfrm>
              <a:off x="7641537" y="4725602"/>
              <a:ext cx="2090916" cy="529376"/>
            </a:xfrm>
            <a:prstGeom prst="rect">
              <a:avLst/>
            </a:prstGeom>
          </p:spPr>
          <p:txBody>
            <a:bodyPr wrap="square" lIns="274203">
              <a:spAutoFit/>
            </a:bodyPr>
            <a:lstStyle/>
            <a:p>
              <a:pPr defTabSz="1399113">
                <a:lnSpc>
                  <a:spcPct val="95000"/>
                </a:lnSpc>
                <a:buSzPct val="90000"/>
                <a:tabLst>
                  <a:tab pos="2057400" algn="l"/>
                </a:tabLst>
                <a:defRPr/>
              </a:pPr>
              <a:r>
                <a:rPr lang="en-US" sz="2400">
                  <a:ln w="3175">
                    <a:noFill/>
                  </a:ln>
                  <a:solidFill>
                    <a:srgbClr val="FFFFFF"/>
                  </a:solidFill>
                  <a:latin typeface="+mj-lt"/>
                  <a:cs typeface="Segoe UI" pitchFamily="34" charset="0"/>
                </a:rPr>
                <a:t>Legacy applications or siloed databases</a:t>
              </a:r>
            </a:p>
          </p:txBody>
        </p:sp>
        <p:pic>
          <p:nvPicPr>
            <p:cNvPr id="23" name="Picture 22" descr="A wrench and screwdriver on a black background&#10;&#10;AI-generated content may be incorrect.">
              <a:extLst>
                <a:ext uri="{FF2B5EF4-FFF2-40B4-BE49-F238E27FC236}">
                  <a16:creationId xmlns:a16="http://schemas.microsoft.com/office/drawing/2014/main" id="{A5169348-3C73-71D8-554C-E5C0EFEF54B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966001" y="4596702"/>
              <a:ext cx="339898" cy="339898"/>
            </a:xfrm>
            <a:prstGeom prst="rect">
              <a:avLst/>
            </a:prstGeom>
          </p:spPr>
        </p:pic>
      </p:grpSp>
      <p:grpSp>
        <p:nvGrpSpPr>
          <p:cNvPr id="47" name="Group 46">
            <a:extLst>
              <a:ext uri="{FF2B5EF4-FFF2-40B4-BE49-F238E27FC236}">
                <a16:creationId xmlns:a16="http://schemas.microsoft.com/office/drawing/2014/main" id="{EEE1C61C-681D-6688-13A1-047F6815D090}"/>
              </a:ext>
            </a:extLst>
          </p:cNvPr>
          <p:cNvGrpSpPr/>
          <p:nvPr/>
        </p:nvGrpSpPr>
        <p:grpSpPr>
          <a:xfrm>
            <a:off x="4722251" y="7615065"/>
            <a:ext cx="4158978" cy="1529952"/>
            <a:chOff x="3148167" y="5076710"/>
            <a:chExt cx="2772652" cy="1019968"/>
          </a:xfrm>
        </p:grpSpPr>
        <p:sp>
          <p:nvSpPr>
            <p:cNvPr id="22" name="Rectangle 21" descr="Element of the infographic belonging to the lower part">
              <a:extLst>
                <a:ext uri="{FF2B5EF4-FFF2-40B4-BE49-F238E27FC236}">
                  <a16:creationId xmlns:a16="http://schemas.microsoft.com/office/drawing/2014/main" id="{A49EFF54-4C66-3A6D-3536-87B22993D762}"/>
                </a:ext>
                <a:ext uri="{C183D7F6-B498-43B3-948B-1728B52AA6E4}">
                  <adec:decorative xmlns:adec="http://schemas.microsoft.com/office/drawing/2017/decorative" val="0"/>
                </a:ext>
              </a:extLst>
            </p:cNvPr>
            <p:cNvSpPr/>
            <p:nvPr/>
          </p:nvSpPr>
          <p:spPr>
            <a:xfrm>
              <a:off x="3148167" y="5567302"/>
              <a:ext cx="2043124" cy="529376"/>
            </a:xfrm>
            <a:prstGeom prst="rect">
              <a:avLst/>
            </a:prstGeom>
          </p:spPr>
          <p:txBody>
            <a:bodyPr wrap="square" lIns="274203">
              <a:spAutoFit/>
            </a:bodyPr>
            <a:lstStyle/>
            <a:p>
              <a:pPr algn="r" defTabSz="1399113">
                <a:lnSpc>
                  <a:spcPct val="95000"/>
                </a:lnSpc>
                <a:buSzPct val="90000"/>
                <a:tabLst>
                  <a:tab pos="2057400" algn="l"/>
                </a:tabLst>
                <a:defRPr/>
              </a:pPr>
              <a:r>
                <a:rPr lang="en-US" sz="2400">
                  <a:ln w="3175">
                    <a:noFill/>
                  </a:ln>
                  <a:solidFill>
                    <a:srgbClr val="FFFFFF"/>
                  </a:solidFill>
                  <a:latin typeface="+mj-lt"/>
                  <a:cs typeface="Segoe UI" pitchFamily="34" charset="0"/>
                </a:rPr>
                <a:t>Faster time </a:t>
              </a:r>
            </a:p>
            <a:p>
              <a:pPr algn="r" defTabSz="1399113">
                <a:lnSpc>
                  <a:spcPct val="95000"/>
                </a:lnSpc>
                <a:buSzPct val="90000"/>
                <a:tabLst>
                  <a:tab pos="2057400" algn="l"/>
                </a:tabLst>
                <a:defRPr/>
              </a:pPr>
              <a:r>
                <a:rPr lang="en-US" sz="2400">
                  <a:ln w="3175">
                    <a:noFill/>
                  </a:ln>
                  <a:solidFill>
                    <a:srgbClr val="FFFFFF"/>
                  </a:solidFill>
                  <a:latin typeface="+mj-lt"/>
                  <a:cs typeface="Segoe UI" pitchFamily="34" charset="0"/>
                </a:rPr>
                <a:t>to market</a:t>
              </a:r>
            </a:p>
          </p:txBody>
        </p:sp>
        <p:pic>
          <p:nvPicPr>
            <p:cNvPr id="33" name="Picture 32" descr="A circular gauge with a rainbow colored circle and a blue circle&#10;&#10;AI-generated content may be incorrect.">
              <a:extLst>
                <a:ext uri="{FF2B5EF4-FFF2-40B4-BE49-F238E27FC236}">
                  <a16:creationId xmlns:a16="http://schemas.microsoft.com/office/drawing/2014/main" id="{EA8AA13A-BDC1-074E-9A9C-E2B52BDA3A0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90372" y="5076710"/>
              <a:ext cx="330447" cy="332372"/>
            </a:xfrm>
            <a:prstGeom prst="rect">
              <a:avLst/>
            </a:prstGeom>
          </p:spPr>
        </p:pic>
      </p:grpSp>
      <p:grpSp>
        <p:nvGrpSpPr>
          <p:cNvPr id="30" name="Group 29">
            <a:extLst>
              <a:ext uri="{FF2B5EF4-FFF2-40B4-BE49-F238E27FC236}">
                <a16:creationId xmlns:a16="http://schemas.microsoft.com/office/drawing/2014/main" id="{3CDF35DE-CE29-212C-E03E-2B6FA7670B77}"/>
              </a:ext>
            </a:extLst>
          </p:cNvPr>
          <p:cNvGrpSpPr/>
          <p:nvPr/>
        </p:nvGrpSpPr>
        <p:grpSpPr>
          <a:xfrm>
            <a:off x="3944742" y="5465991"/>
            <a:ext cx="10189791" cy="840231"/>
            <a:chOff x="2629828" y="3643994"/>
            <a:chExt cx="6793194" cy="560154"/>
          </a:xfrm>
        </p:grpSpPr>
        <p:sp>
          <p:nvSpPr>
            <p:cNvPr id="16" name="Rectangle 15" descr="Element of the infographic belonging to the lower part">
              <a:extLst>
                <a:ext uri="{FF2B5EF4-FFF2-40B4-BE49-F238E27FC236}">
                  <a16:creationId xmlns:a16="http://schemas.microsoft.com/office/drawing/2014/main" id="{D54D20E0-56E3-5387-8219-7CAA31355127}"/>
                </a:ext>
                <a:ext uri="{C183D7F6-B498-43B3-948B-1728B52AA6E4}">
                  <adec:decorative xmlns:adec="http://schemas.microsoft.com/office/drawing/2017/decorative" val="0"/>
                </a:ext>
              </a:extLst>
            </p:cNvPr>
            <p:cNvSpPr/>
            <p:nvPr/>
          </p:nvSpPr>
          <p:spPr>
            <a:xfrm>
              <a:off x="2629828" y="3674772"/>
              <a:ext cx="1764351" cy="529376"/>
            </a:xfrm>
            <a:prstGeom prst="rect">
              <a:avLst/>
            </a:prstGeom>
          </p:spPr>
          <p:txBody>
            <a:bodyPr wrap="square" lIns="274203">
              <a:spAutoFit/>
            </a:bodyPr>
            <a:lstStyle/>
            <a:p>
              <a:pPr algn="r" defTabSz="1399113">
                <a:lnSpc>
                  <a:spcPct val="95000"/>
                </a:lnSpc>
                <a:buSzPct val="90000"/>
                <a:tabLst>
                  <a:tab pos="2057400" algn="l"/>
                </a:tabLst>
                <a:defRPr/>
              </a:pPr>
              <a:r>
                <a:rPr lang="en-US" sz="2400">
                  <a:ln w="3175">
                    <a:noFill/>
                  </a:ln>
                  <a:solidFill>
                    <a:srgbClr val="FFFFFF"/>
                  </a:solidFill>
                  <a:latin typeface="+mj-lt"/>
                  <a:cs typeface="Segoe UI" pitchFamily="34" charset="0"/>
                </a:rPr>
                <a:t>Datacenter</a:t>
              </a:r>
              <a:br>
                <a:rPr lang="en-US" sz="2400">
                  <a:ln w="3175">
                    <a:noFill/>
                  </a:ln>
                  <a:solidFill>
                    <a:srgbClr val="FFFFFF"/>
                  </a:solidFill>
                  <a:latin typeface="+mj-lt"/>
                  <a:cs typeface="Segoe UI" pitchFamily="34" charset="0"/>
                </a:rPr>
              </a:br>
              <a:r>
                <a:rPr lang="en-US" sz="2400">
                  <a:ln w="3175">
                    <a:noFill/>
                  </a:ln>
                  <a:solidFill>
                    <a:srgbClr val="FFFFFF"/>
                  </a:solidFill>
                  <a:latin typeface="+mj-lt"/>
                  <a:cs typeface="Segoe UI" pitchFamily="34" charset="0"/>
                </a:rPr>
                <a:t>contract expiry</a:t>
              </a:r>
            </a:p>
          </p:txBody>
        </p:sp>
        <p:sp>
          <p:nvSpPr>
            <p:cNvPr id="14" name="Rectangle 13" descr="Element of the infographic belonging to the upper part">
              <a:extLst>
                <a:ext uri="{FF2B5EF4-FFF2-40B4-BE49-F238E27FC236}">
                  <a16:creationId xmlns:a16="http://schemas.microsoft.com/office/drawing/2014/main" id="{BBEBA54D-6B8D-B956-8A43-DDB475D1C350}"/>
                </a:ext>
                <a:ext uri="{C183D7F6-B498-43B3-948B-1728B52AA6E4}">
                  <adec:decorative xmlns:adec="http://schemas.microsoft.com/office/drawing/2017/decorative" val="0"/>
                </a:ext>
              </a:extLst>
            </p:cNvPr>
            <p:cNvSpPr/>
            <p:nvPr/>
          </p:nvSpPr>
          <p:spPr>
            <a:xfrm>
              <a:off x="7753519" y="3643994"/>
              <a:ext cx="1669503" cy="529376"/>
            </a:xfrm>
            <a:prstGeom prst="rect">
              <a:avLst/>
            </a:prstGeom>
          </p:spPr>
          <p:txBody>
            <a:bodyPr wrap="square" lIns="274203">
              <a:spAutoFit/>
            </a:bodyPr>
            <a:lstStyle/>
            <a:p>
              <a:pPr defTabSz="1399113">
                <a:lnSpc>
                  <a:spcPct val="95000"/>
                </a:lnSpc>
                <a:buSzPct val="90000"/>
                <a:tabLst>
                  <a:tab pos="2057400" algn="l"/>
                </a:tabLst>
                <a:defRPr/>
              </a:pPr>
              <a:r>
                <a:rPr lang="en-US" sz="2400">
                  <a:ln w="3175">
                    <a:noFill/>
                  </a:ln>
                  <a:solidFill>
                    <a:srgbClr val="FFFFFF"/>
                  </a:solidFill>
                  <a:latin typeface="+mj-lt"/>
                  <a:cs typeface="Segoe UI" pitchFamily="34" charset="0"/>
                </a:rPr>
                <a:t>Agility </a:t>
              </a:r>
            </a:p>
            <a:p>
              <a:pPr defTabSz="1399113">
                <a:lnSpc>
                  <a:spcPct val="95000"/>
                </a:lnSpc>
                <a:buSzPct val="90000"/>
                <a:tabLst>
                  <a:tab pos="2057400" algn="l"/>
                </a:tabLst>
                <a:defRPr/>
              </a:pPr>
              <a:r>
                <a:rPr lang="en-US" sz="2400">
                  <a:ln w="3175">
                    <a:noFill/>
                  </a:ln>
                  <a:solidFill>
                    <a:srgbClr val="FFFFFF"/>
                  </a:solidFill>
                  <a:latin typeface="+mj-lt"/>
                  <a:cs typeface="Segoe UI" pitchFamily="34" charset="0"/>
                </a:rPr>
                <a:t>to scale </a:t>
              </a:r>
            </a:p>
          </p:txBody>
        </p:sp>
        <p:pic>
          <p:nvPicPr>
            <p:cNvPr id="13" name="Picture 12" descr="A graph on a white square&#10;&#10;AI-generated content may be incorrect.">
              <a:extLst>
                <a:ext uri="{FF2B5EF4-FFF2-40B4-BE49-F238E27FC236}">
                  <a16:creationId xmlns:a16="http://schemas.microsoft.com/office/drawing/2014/main" id="{6EF8CBC9-F9B6-7A1F-F127-968D5EA8AD9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063872" y="3843711"/>
              <a:ext cx="354341" cy="354341"/>
            </a:xfrm>
            <a:prstGeom prst="rect">
              <a:avLst/>
            </a:prstGeom>
          </p:spPr>
        </p:pic>
        <p:pic>
          <p:nvPicPr>
            <p:cNvPr id="37" name="Picture 36" descr="A blue cylinder with white stripes&#10;&#10;AI-generated content may be incorrect.">
              <a:extLst>
                <a:ext uri="{FF2B5EF4-FFF2-40B4-BE49-F238E27FC236}">
                  <a16:creationId xmlns:a16="http://schemas.microsoft.com/office/drawing/2014/main" id="{D431540E-85E8-00AE-11FD-C919727D5DE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818550" y="3797940"/>
              <a:ext cx="398087" cy="398087"/>
            </a:xfrm>
            <a:prstGeom prst="rect">
              <a:avLst/>
            </a:prstGeom>
          </p:spPr>
        </p:pic>
      </p:grpSp>
      <p:grpSp>
        <p:nvGrpSpPr>
          <p:cNvPr id="21" name="Group 20">
            <a:extLst>
              <a:ext uri="{FF2B5EF4-FFF2-40B4-BE49-F238E27FC236}">
                <a16:creationId xmlns:a16="http://schemas.microsoft.com/office/drawing/2014/main" id="{8F18EBF5-3C1D-1EB7-75FC-58BB01D37468}"/>
              </a:ext>
            </a:extLst>
          </p:cNvPr>
          <p:cNvGrpSpPr/>
          <p:nvPr/>
        </p:nvGrpSpPr>
        <p:grpSpPr>
          <a:xfrm>
            <a:off x="7101938" y="1809734"/>
            <a:ext cx="4168422" cy="3055511"/>
            <a:chOff x="4734642" y="1249724"/>
            <a:chExt cx="2778948" cy="2037007"/>
          </a:xfrm>
        </p:grpSpPr>
        <p:sp>
          <p:nvSpPr>
            <p:cNvPr id="9" name="Rectangle 8" descr="Element of the infographic belonging to the upper part">
              <a:extLst>
                <a:ext uri="{FF2B5EF4-FFF2-40B4-BE49-F238E27FC236}">
                  <a16:creationId xmlns:a16="http://schemas.microsoft.com/office/drawing/2014/main" id="{F8813A79-4DA3-65A5-6DE5-BAFC69A9438C}"/>
                </a:ext>
                <a:ext uri="{C183D7F6-B498-43B3-948B-1728B52AA6E4}">
                  <adec:decorative xmlns:adec="http://schemas.microsoft.com/office/drawing/2017/decorative" val="0"/>
                </a:ext>
              </a:extLst>
            </p:cNvPr>
            <p:cNvSpPr/>
            <p:nvPr/>
          </p:nvSpPr>
          <p:spPr>
            <a:xfrm>
              <a:off x="5548007" y="2252189"/>
              <a:ext cx="1152217" cy="295465"/>
            </a:xfrm>
            <a:prstGeom prst="rect">
              <a:avLst/>
            </a:prstGeom>
          </p:spPr>
          <p:txBody>
            <a:bodyPr wrap="square" lIns="0">
              <a:spAutoFit/>
            </a:bodyPr>
            <a:lstStyle/>
            <a:p>
              <a:pPr algn="ctr" defTabSz="1399113">
                <a:lnSpc>
                  <a:spcPct val="95000"/>
                </a:lnSpc>
                <a:buSzPct val="90000"/>
                <a:tabLst>
                  <a:tab pos="2057400" algn="l"/>
                </a:tabLst>
                <a:defRPr/>
              </a:pPr>
              <a:r>
                <a:rPr lang="en-US" sz="2400">
                  <a:ln w="3175">
                    <a:noFill/>
                  </a:ln>
                  <a:solidFill>
                    <a:srgbClr val="FFFFFF"/>
                  </a:solidFill>
                  <a:latin typeface="+mj-lt"/>
                  <a:cs typeface="Segoe UI" pitchFamily="34" charset="0"/>
                </a:rPr>
                <a:t>Infuse AI</a:t>
              </a:r>
            </a:p>
          </p:txBody>
        </p:sp>
        <p:pic>
          <p:nvPicPr>
            <p:cNvPr id="41" name="Picture 40" descr="A logo of a cloud&#10;&#10;AI-generated content may be incorrect.">
              <a:extLst>
                <a:ext uri="{FF2B5EF4-FFF2-40B4-BE49-F238E27FC236}">
                  <a16:creationId xmlns:a16="http://schemas.microsoft.com/office/drawing/2014/main" id="{DAC94130-295C-8860-030E-326888A88CAC}"/>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931211" y="2893886"/>
              <a:ext cx="392845" cy="392845"/>
            </a:xfrm>
            <a:prstGeom prst="rect">
              <a:avLst/>
            </a:prstGeom>
          </p:spPr>
        </p:pic>
        <p:cxnSp>
          <p:nvCxnSpPr>
            <p:cNvPr id="46" name="Straight Arrow Connector 45">
              <a:extLst>
                <a:ext uri="{FF2B5EF4-FFF2-40B4-BE49-F238E27FC236}">
                  <a16:creationId xmlns:a16="http://schemas.microsoft.com/office/drawing/2014/main" id="{6F8574C4-8E06-9361-BA4B-5C3123ED829D}"/>
                </a:ext>
              </a:extLst>
            </p:cNvPr>
            <p:cNvCxnSpPr>
              <a:cxnSpLocks/>
              <a:stCxn id="9" idx="0"/>
              <a:endCxn id="4" idx="2"/>
            </p:cNvCxnSpPr>
            <p:nvPr/>
          </p:nvCxnSpPr>
          <p:spPr>
            <a:xfrm flipV="1">
              <a:off x="6124116" y="2065968"/>
              <a:ext cx="0" cy="186221"/>
            </a:xfrm>
            <a:prstGeom prst="straightConnector1">
              <a:avLst/>
            </a:prstGeom>
            <a:ln w="12700" cap="rnd">
              <a:solidFill>
                <a:srgbClr val="3A4953"/>
              </a:solidFill>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4" name="Rounded Rectangle 96">
              <a:extLst>
                <a:ext uri="{FF2B5EF4-FFF2-40B4-BE49-F238E27FC236}">
                  <a16:creationId xmlns:a16="http://schemas.microsoft.com/office/drawing/2014/main" id="{44AC168D-33C3-B60D-C032-6D840382FC4B}"/>
                </a:ext>
                <a:ext uri="{C183D7F6-B498-43B3-948B-1728B52AA6E4}">
                  <adec:decorative xmlns:adec="http://schemas.microsoft.com/office/drawing/2017/decorative" val="1"/>
                </a:ext>
              </a:extLst>
            </p:cNvPr>
            <p:cNvSpPr/>
            <p:nvPr/>
          </p:nvSpPr>
          <p:spPr bwMode="auto">
            <a:xfrm>
              <a:off x="4734642" y="1249724"/>
              <a:ext cx="2778948" cy="816244"/>
            </a:xfrm>
            <a:prstGeom prst="roundRect">
              <a:avLst>
                <a:gd name="adj" fmla="val 20349"/>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400" err="1">
                <a:solidFill>
                  <a:srgbClr val="FFFFFF"/>
                </a:solidFill>
                <a:latin typeface="Segoe UI" panose="020B0502040204020203" pitchFamily="34" charset="0"/>
                <a:cs typeface="Segoe UI" panose="020B0502040204020203" pitchFamily="34" charset="0"/>
              </a:endParaRPr>
            </a:p>
          </p:txBody>
        </p:sp>
      </p:grpSp>
      <p:grpSp>
        <p:nvGrpSpPr>
          <p:cNvPr id="28" name="Group 27">
            <a:extLst>
              <a:ext uri="{FF2B5EF4-FFF2-40B4-BE49-F238E27FC236}">
                <a16:creationId xmlns:a16="http://schemas.microsoft.com/office/drawing/2014/main" id="{8AFC7874-45BB-C1CF-8DD6-5EE5D5331743}"/>
              </a:ext>
            </a:extLst>
          </p:cNvPr>
          <p:cNvGrpSpPr/>
          <p:nvPr/>
        </p:nvGrpSpPr>
        <p:grpSpPr>
          <a:xfrm>
            <a:off x="9919715" y="3846147"/>
            <a:ext cx="6950780" cy="2048456"/>
            <a:chOff x="6613143" y="2564097"/>
            <a:chExt cx="4633853" cy="1365637"/>
          </a:xfrm>
        </p:grpSpPr>
        <p:pic>
          <p:nvPicPr>
            <p:cNvPr id="81" name="Picture 80">
              <a:extLst>
                <a:ext uri="{FF2B5EF4-FFF2-40B4-BE49-F238E27FC236}">
                  <a16:creationId xmlns:a16="http://schemas.microsoft.com/office/drawing/2014/main" id="{F196C482-6B0F-054D-F51F-8E7D70FC5FC8}"/>
                </a:ext>
              </a:extLst>
            </p:cNvPr>
            <p:cNvPicPr>
              <a:picLocks noChangeAspect="1"/>
            </p:cNvPicPr>
            <p:nvPr/>
          </p:nvPicPr>
          <p:blipFill>
            <a:blip r:embed="rId8" cstate="hqprint">
              <a:extLst>
                <a:ext uri="{28A0092B-C50C-407E-A947-70E740481C1C}">
                  <a14:useLocalDpi xmlns:a14="http://schemas.microsoft.com/office/drawing/2010/main"/>
                </a:ext>
              </a:extLst>
            </a:blip>
            <a:srcRect l="-8985" r="-3758"/>
            <a:stretch/>
          </p:blipFill>
          <p:spPr>
            <a:xfrm>
              <a:off x="6613143" y="3104331"/>
              <a:ext cx="433265" cy="384293"/>
            </a:xfrm>
            <a:prstGeom prst="rect">
              <a:avLst/>
            </a:prstGeom>
          </p:spPr>
        </p:pic>
        <p:sp>
          <p:nvSpPr>
            <p:cNvPr id="8" name="Rectangle 7" descr="Element of the infographic belonging to the upper part">
              <a:extLst>
                <a:ext uri="{FF2B5EF4-FFF2-40B4-BE49-F238E27FC236}">
                  <a16:creationId xmlns:a16="http://schemas.microsoft.com/office/drawing/2014/main" id="{A47CB8DB-D4AB-ED75-4F79-54F26287B34D}"/>
                </a:ext>
                <a:ext uri="{C183D7F6-B498-43B3-948B-1728B52AA6E4}">
                  <adec:decorative xmlns:adec="http://schemas.microsoft.com/office/drawing/2017/decorative" val="0"/>
                </a:ext>
              </a:extLst>
            </p:cNvPr>
            <p:cNvSpPr/>
            <p:nvPr/>
          </p:nvSpPr>
          <p:spPr>
            <a:xfrm>
              <a:off x="7488036" y="2564097"/>
              <a:ext cx="1377286" cy="529376"/>
            </a:xfrm>
            <a:prstGeom prst="rect">
              <a:avLst/>
            </a:prstGeom>
          </p:spPr>
          <p:txBody>
            <a:bodyPr wrap="square" lIns="0">
              <a:spAutoFit/>
            </a:bodyPr>
            <a:lstStyle/>
            <a:p>
              <a:pPr defTabSz="1399113">
                <a:lnSpc>
                  <a:spcPct val="95000"/>
                </a:lnSpc>
                <a:buSzPct val="90000"/>
                <a:tabLst>
                  <a:tab pos="2057400" algn="l"/>
                </a:tabLst>
                <a:defRPr/>
              </a:pPr>
              <a:r>
                <a:rPr lang="en-US" sz="2400">
                  <a:ln w="3175">
                    <a:noFill/>
                  </a:ln>
                  <a:solidFill>
                    <a:srgbClr val="FFFFFF"/>
                  </a:solidFill>
                  <a:latin typeface="+mj-lt"/>
                  <a:cs typeface="Segoe UI" pitchFamily="34" charset="0"/>
                </a:rPr>
                <a:t>Cybersecurity </a:t>
              </a:r>
              <a:br>
                <a:rPr lang="en-US" sz="2400">
                  <a:ln w="3175">
                    <a:noFill/>
                  </a:ln>
                  <a:solidFill>
                    <a:srgbClr val="FFFFFF"/>
                  </a:solidFill>
                  <a:latin typeface="+mj-lt"/>
                  <a:cs typeface="Segoe UI" pitchFamily="34" charset="0"/>
                </a:rPr>
              </a:br>
              <a:r>
                <a:rPr lang="en-US" sz="2400">
                  <a:ln w="3175">
                    <a:noFill/>
                  </a:ln>
                  <a:solidFill>
                    <a:srgbClr val="FFFFFF"/>
                  </a:solidFill>
                  <a:latin typeface="+mj-lt"/>
                  <a:cs typeface="Segoe UI" pitchFamily="34" charset="0"/>
                </a:rPr>
                <a:t>threats</a:t>
              </a:r>
            </a:p>
          </p:txBody>
        </p:sp>
        <p:sp>
          <p:nvSpPr>
            <p:cNvPr id="17" name="TextBox 16">
              <a:extLst>
                <a:ext uri="{FF2B5EF4-FFF2-40B4-BE49-F238E27FC236}">
                  <a16:creationId xmlns:a16="http://schemas.microsoft.com/office/drawing/2014/main" id="{9D80F47D-088A-18BE-7E0E-8D4C384F7A61}"/>
                </a:ext>
              </a:extLst>
            </p:cNvPr>
            <p:cNvSpPr txBox="1"/>
            <p:nvPr/>
          </p:nvSpPr>
          <p:spPr>
            <a:xfrm>
              <a:off x="9556082" y="3110730"/>
              <a:ext cx="1669502" cy="738664"/>
            </a:xfrm>
            <a:prstGeom prst="rect">
              <a:avLst/>
            </a:prstGeom>
            <a:noFill/>
          </p:spPr>
          <p:txBody>
            <a:bodyPr wrap="square" lIns="0" rIns="0">
              <a:spAutoFit/>
            </a:bodyPr>
            <a:lstStyle/>
            <a:p>
              <a:pPr algn="ctr" defTabSz="1399113">
                <a:buSzPct val="90000"/>
                <a:defRPr/>
              </a:pPr>
              <a:r>
                <a:rPr lang="en-US" sz="3000">
                  <a:ln w="3175">
                    <a:noFill/>
                  </a:ln>
                  <a:gradFill>
                    <a:gsLst>
                      <a:gs pos="0">
                        <a:srgbClr val="0078D4"/>
                      </a:gs>
                      <a:gs pos="68000">
                        <a:srgbClr val="48C5B1"/>
                      </a:gs>
                    </a:gsLst>
                    <a:lin ang="10800000" scaled="1"/>
                  </a:gradFill>
                  <a:latin typeface="Segoe Sans Text Semibold"/>
                  <a:cs typeface="Segoe UI" pitchFamily="34" charset="0"/>
                </a:rPr>
                <a:t>77%</a:t>
              </a:r>
            </a:p>
            <a:p>
              <a:pPr algn="ctr" defTabSz="1371551">
                <a:defRPr/>
              </a:pPr>
              <a:r>
                <a:rPr lang="en-US" spc="-15">
                  <a:ln w="3175">
                    <a:noFill/>
                  </a:ln>
                  <a:solidFill>
                    <a:srgbClr val="FFFFFF"/>
                  </a:solidFill>
                  <a:cs typeface="Segoe UI" panose="020B0502040204020203" pitchFamily="34" charset="0"/>
                </a:rPr>
                <a:t>Of SMBs cite cloud security as a concern</a:t>
              </a:r>
              <a:r>
                <a:rPr lang="en-US" spc="-15" baseline="30000">
                  <a:ln w="3175">
                    <a:noFill/>
                  </a:ln>
                  <a:solidFill>
                    <a:srgbClr val="FFFFFF"/>
                  </a:solidFill>
                  <a:cs typeface="Segoe UI" panose="020B0502040204020203" pitchFamily="34" charset="0"/>
                </a:rPr>
                <a:t>2</a:t>
              </a:r>
              <a:endParaRPr lang="en-US" spc="-15" baseline="30000">
                <a:solidFill>
                  <a:srgbClr val="FFFFFF"/>
                </a:solidFill>
                <a:latin typeface="Segoe Sans Text"/>
              </a:endParaRPr>
            </a:p>
          </p:txBody>
        </p:sp>
        <p:sp>
          <p:nvSpPr>
            <p:cNvPr id="42" name="Freeform 41">
              <a:extLst>
                <a:ext uri="{FF2B5EF4-FFF2-40B4-BE49-F238E27FC236}">
                  <a16:creationId xmlns:a16="http://schemas.microsoft.com/office/drawing/2014/main" id="{B9A61690-DDEA-364F-F2CD-A45695BDD59C}"/>
                </a:ext>
              </a:extLst>
            </p:cNvPr>
            <p:cNvSpPr/>
            <p:nvPr/>
          </p:nvSpPr>
          <p:spPr bwMode="auto">
            <a:xfrm flipH="1">
              <a:off x="8892176" y="2738734"/>
              <a:ext cx="1479808" cy="307776"/>
            </a:xfrm>
            <a:custGeom>
              <a:avLst/>
              <a:gdLst>
                <a:gd name="connsiteX0" fmla="*/ 1544320 w 1544320"/>
                <a:gd name="connsiteY0" fmla="*/ 0 h 386080"/>
                <a:gd name="connsiteX1" fmla="*/ 0 w 1544320"/>
                <a:gd name="connsiteY1" fmla="*/ 0 h 386080"/>
                <a:gd name="connsiteX2" fmla="*/ 0 w 1544320"/>
                <a:gd name="connsiteY2" fmla="*/ 386080 h 386080"/>
              </a:gdLst>
              <a:ahLst/>
              <a:cxnLst>
                <a:cxn ang="0">
                  <a:pos x="connsiteX0" y="connsiteY0"/>
                </a:cxn>
                <a:cxn ang="0">
                  <a:pos x="connsiteX1" y="connsiteY1"/>
                </a:cxn>
                <a:cxn ang="0">
                  <a:pos x="connsiteX2" y="connsiteY2"/>
                </a:cxn>
              </a:cxnLst>
              <a:rect l="l" t="t" r="r" b="b"/>
              <a:pathLst>
                <a:path w="1544320" h="386080">
                  <a:moveTo>
                    <a:pt x="1544320" y="0"/>
                  </a:moveTo>
                  <a:lnTo>
                    <a:pt x="0" y="0"/>
                  </a:lnTo>
                  <a:lnTo>
                    <a:pt x="0" y="386080"/>
                  </a:lnTo>
                </a:path>
              </a:pathLst>
            </a:custGeom>
            <a:ln w="12700" cap="rnd">
              <a:solidFill>
                <a:srgbClr val="3A4953"/>
              </a:solidFill>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a:solidFill>
                  <a:srgbClr val="FFFFFF"/>
                </a:solidFill>
                <a:latin typeface="Segoe UI" panose="020B0502040204020203" pitchFamily="34" charset="0"/>
                <a:cs typeface="Segoe UI" panose="020B0502040204020203" pitchFamily="34" charset="0"/>
              </a:endParaRPr>
            </a:p>
          </p:txBody>
        </p:sp>
        <p:sp>
          <p:nvSpPr>
            <p:cNvPr id="31" name="Rounded Rectangle 96">
              <a:extLst>
                <a:ext uri="{FF2B5EF4-FFF2-40B4-BE49-F238E27FC236}">
                  <a16:creationId xmlns:a16="http://schemas.microsoft.com/office/drawing/2014/main" id="{65D3ED07-D055-BE52-CDAE-49441813AABA}"/>
                </a:ext>
                <a:ext uri="{C183D7F6-B498-43B3-948B-1728B52AA6E4}">
                  <adec:decorative xmlns:adec="http://schemas.microsoft.com/office/drawing/2017/decorative" val="1"/>
                </a:ext>
              </a:extLst>
            </p:cNvPr>
            <p:cNvSpPr/>
            <p:nvPr/>
          </p:nvSpPr>
          <p:spPr bwMode="auto">
            <a:xfrm>
              <a:off x="9473787" y="3047177"/>
              <a:ext cx="1773209" cy="882557"/>
            </a:xfrm>
            <a:prstGeom prst="roundRect">
              <a:avLst>
                <a:gd name="adj" fmla="val 17460"/>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400" err="1">
                <a:solidFill>
                  <a:srgbClr val="FFFFFF"/>
                </a:solidFill>
                <a:latin typeface="Segoe UI" panose="020B0502040204020203" pitchFamily="34" charset="0"/>
                <a:cs typeface="Segoe UI" panose="020B0502040204020203" pitchFamily="34" charset="0"/>
              </a:endParaRPr>
            </a:p>
          </p:txBody>
        </p:sp>
      </p:grpSp>
      <p:grpSp>
        <p:nvGrpSpPr>
          <p:cNvPr id="50" name="Group 49">
            <a:extLst>
              <a:ext uri="{FF2B5EF4-FFF2-40B4-BE49-F238E27FC236}">
                <a16:creationId xmlns:a16="http://schemas.microsoft.com/office/drawing/2014/main" id="{8D6391C0-51EB-79A8-DC9E-8D9E9595F1BD}"/>
              </a:ext>
            </a:extLst>
          </p:cNvPr>
          <p:cNvGrpSpPr/>
          <p:nvPr/>
        </p:nvGrpSpPr>
        <p:grpSpPr>
          <a:xfrm>
            <a:off x="9458684" y="6444174"/>
            <a:ext cx="7606410" cy="2700843"/>
            <a:chOff x="6305789" y="4296116"/>
            <a:chExt cx="5070940" cy="1800562"/>
          </a:xfrm>
        </p:grpSpPr>
        <p:sp>
          <p:nvSpPr>
            <p:cNvPr id="20" name="Rectangle 19" descr="Element of the infographic belonging to the lower part">
              <a:extLst>
                <a:ext uri="{FF2B5EF4-FFF2-40B4-BE49-F238E27FC236}">
                  <a16:creationId xmlns:a16="http://schemas.microsoft.com/office/drawing/2014/main" id="{FF9E22FB-B664-FAA7-5E6A-3FF43061A857}"/>
                </a:ext>
                <a:ext uri="{C183D7F6-B498-43B3-948B-1728B52AA6E4}">
                  <adec:decorative xmlns:adec="http://schemas.microsoft.com/office/drawing/2017/decorative" val="0"/>
                </a:ext>
              </a:extLst>
            </p:cNvPr>
            <p:cNvSpPr/>
            <p:nvPr/>
          </p:nvSpPr>
          <p:spPr>
            <a:xfrm>
              <a:off x="7037057" y="5567302"/>
              <a:ext cx="2043124" cy="529376"/>
            </a:xfrm>
            <a:prstGeom prst="rect">
              <a:avLst/>
            </a:prstGeom>
          </p:spPr>
          <p:txBody>
            <a:bodyPr wrap="square" lIns="274203">
              <a:spAutoFit/>
            </a:bodyPr>
            <a:lstStyle/>
            <a:p>
              <a:pPr defTabSz="1399113">
                <a:lnSpc>
                  <a:spcPct val="95000"/>
                </a:lnSpc>
                <a:buSzPct val="90000"/>
                <a:tabLst>
                  <a:tab pos="2057400" algn="l"/>
                </a:tabLst>
                <a:defRPr/>
              </a:pPr>
              <a:r>
                <a:rPr lang="en-US" sz="2400">
                  <a:ln w="3175">
                    <a:noFill/>
                  </a:ln>
                  <a:solidFill>
                    <a:srgbClr val="FFFFFF"/>
                  </a:solidFill>
                  <a:latin typeface="+mj-lt"/>
                  <a:cs typeface="Segoe UI" pitchFamily="34" charset="0"/>
                </a:rPr>
                <a:t>Resource and skilling constraints</a:t>
              </a:r>
            </a:p>
          </p:txBody>
        </p:sp>
        <p:sp>
          <p:nvSpPr>
            <p:cNvPr id="3" name="TextBox 2">
              <a:extLst>
                <a:ext uri="{FF2B5EF4-FFF2-40B4-BE49-F238E27FC236}">
                  <a16:creationId xmlns:a16="http://schemas.microsoft.com/office/drawing/2014/main" id="{8B6B27F6-1B03-78CB-FDC9-3357274A9682}"/>
                </a:ext>
              </a:extLst>
            </p:cNvPr>
            <p:cNvSpPr txBox="1"/>
            <p:nvPr/>
          </p:nvSpPr>
          <p:spPr>
            <a:xfrm>
              <a:off x="9946107" y="4347876"/>
              <a:ext cx="1300889" cy="923330"/>
            </a:xfrm>
            <a:prstGeom prst="rect">
              <a:avLst/>
            </a:prstGeom>
            <a:noFill/>
          </p:spPr>
          <p:txBody>
            <a:bodyPr wrap="square" lIns="0" rIns="0">
              <a:spAutoFit/>
            </a:bodyPr>
            <a:lstStyle/>
            <a:p>
              <a:pPr algn="ctr" defTabSz="1399113">
                <a:buSzPct val="90000"/>
                <a:defRPr/>
              </a:pPr>
              <a:r>
                <a:rPr lang="en-US" sz="3000">
                  <a:ln w="3175">
                    <a:noFill/>
                  </a:ln>
                  <a:gradFill>
                    <a:gsLst>
                      <a:gs pos="0">
                        <a:srgbClr val="0078D4"/>
                      </a:gs>
                      <a:gs pos="68000">
                        <a:srgbClr val="48C5B1"/>
                      </a:gs>
                    </a:gsLst>
                    <a:lin ang="10800000" scaled="1"/>
                  </a:gradFill>
                  <a:latin typeface="Segoe Sans Text Semibold"/>
                  <a:cs typeface="Segoe UI" pitchFamily="34" charset="0"/>
                </a:rPr>
                <a:t>90%</a:t>
              </a:r>
            </a:p>
            <a:p>
              <a:pPr algn="ctr" defTabSz="1371551">
                <a:defRPr/>
              </a:pPr>
              <a:r>
                <a:rPr lang="en-US" spc="-15">
                  <a:ln w="3175">
                    <a:noFill/>
                  </a:ln>
                  <a:solidFill>
                    <a:srgbClr val="FFFFFF"/>
                  </a:solidFill>
                  <a:cs typeface="Segoe UI" panose="020B0502040204020203" pitchFamily="34" charset="0"/>
                </a:rPr>
                <a:t>of organizations are impacted by IT skills shortage</a:t>
              </a:r>
              <a:r>
                <a:rPr lang="en-US" spc="-15" baseline="30000">
                  <a:ln w="3175">
                    <a:noFill/>
                  </a:ln>
                  <a:solidFill>
                    <a:srgbClr val="FFFFFF"/>
                  </a:solidFill>
                  <a:cs typeface="Segoe UI" panose="020B0502040204020203" pitchFamily="34" charset="0"/>
                </a:rPr>
                <a:t>3</a:t>
              </a:r>
              <a:endParaRPr lang="en-US" spc="-15" baseline="30000">
                <a:solidFill>
                  <a:srgbClr val="FFFFFF"/>
                </a:solidFill>
              </a:endParaRPr>
            </a:p>
          </p:txBody>
        </p:sp>
        <p:pic>
          <p:nvPicPr>
            <p:cNvPr id="5" name="Picture 4" descr="A pie chart with a red and white circle&#10;&#10;AI-generated content may be incorrect.">
              <a:extLst>
                <a:ext uri="{FF2B5EF4-FFF2-40B4-BE49-F238E27FC236}">
                  <a16:creationId xmlns:a16="http://schemas.microsoft.com/office/drawing/2014/main" id="{30C8E822-E501-1903-A31C-0E83A236BA06}"/>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305789" y="5039280"/>
              <a:ext cx="404473" cy="404473"/>
            </a:xfrm>
            <a:prstGeom prst="rect">
              <a:avLst/>
            </a:prstGeom>
          </p:spPr>
        </p:pic>
        <p:sp>
          <p:nvSpPr>
            <p:cNvPr id="43" name="Freeform 42">
              <a:extLst>
                <a:ext uri="{FF2B5EF4-FFF2-40B4-BE49-F238E27FC236}">
                  <a16:creationId xmlns:a16="http://schemas.microsoft.com/office/drawing/2014/main" id="{907F9C34-2635-724F-9AF9-C0654495BB9E}"/>
                </a:ext>
              </a:extLst>
            </p:cNvPr>
            <p:cNvSpPr/>
            <p:nvPr/>
          </p:nvSpPr>
          <p:spPr bwMode="auto">
            <a:xfrm flipH="1" flipV="1">
              <a:off x="8892177" y="5362574"/>
              <a:ext cx="1697325" cy="358954"/>
            </a:xfrm>
            <a:custGeom>
              <a:avLst/>
              <a:gdLst>
                <a:gd name="connsiteX0" fmla="*/ 1544320 w 1544320"/>
                <a:gd name="connsiteY0" fmla="*/ 0 h 386080"/>
                <a:gd name="connsiteX1" fmla="*/ 0 w 1544320"/>
                <a:gd name="connsiteY1" fmla="*/ 0 h 386080"/>
                <a:gd name="connsiteX2" fmla="*/ 0 w 1544320"/>
                <a:gd name="connsiteY2" fmla="*/ 386080 h 386080"/>
              </a:gdLst>
              <a:ahLst/>
              <a:cxnLst>
                <a:cxn ang="0">
                  <a:pos x="connsiteX0" y="connsiteY0"/>
                </a:cxn>
                <a:cxn ang="0">
                  <a:pos x="connsiteX1" y="connsiteY1"/>
                </a:cxn>
                <a:cxn ang="0">
                  <a:pos x="connsiteX2" y="connsiteY2"/>
                </a:cxn>
              </a:cxnLst>
              <a:rect l="l" t="t" r="r" b="b"/>
              <a:pathLst>
                <a:path w="1544320" h="386080">
                  <a:moveTo>
                    <a:pt x="1544320" y="0"/>
                  </a:moveTo>
                  <a:lnTo>
                    <a:pt x="0" y="0"/>
                  </a:lnTo>
                  <a:lnTo>
                    <a:pt x="0" y="386080"/>
                  </a:lnTo>
                </a:path>
              </a:pathLst>
            </a:custGeom>
            <a:ln w="12700" cap="rnd">
              <a:solidFill>
                <a:srgbClr val="3A4953"/>
              </a:solidFill>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a:solidFill>
                  <a:srgbClr val="FFFFFF"/>
                </a:solidFill>
                <a:latin typeface="Segoe UI" panose="020B0502040204020203" pitchFamily="34" charset="0"/>
                <a:cs typeface="Segoe UI" panose="020B0502040204020203" pitchFamily="34" charset="0"/>
              </a:endParaRPr>
            </a:p>
          </p:txBody>
        </p:sp>
        <p:sp>
          <p:nvSpPr>
            <p:cNvPr id="40" name="Rounded Rectangle 96">
              <a:extLst>
                <a:ext uri="{FF2B5EF4-FFF2-40B4-BE49-F238E27FC236}">
                  <a16:creationId xmlns:a16="http://schemas.microsoft.com/office/drawing/2014/main" id="{F53FF206-3165-8AEA-B6D3-CA85B02B6FD0}"/>
                </a:ext>
                <a:ext uri="{C183D7F6-B498-43B3-948B-1728B52AA6E4}">
                  <adec:decorative xmlns:adec="http://schemas.microsoft.com/office/drawing/2017/decorative" val="1"/>
                </a:ext>
              </a:extLst>
            </p:cNvPr>
            <p:cNvSpPr/>
            <p:nvPr/>
          </p:nvSpPr>
          <p:spPr bwMode="auto">
            <a:xfrm>
              <a:off x="9816374" y="4296116"/>
              <a:ext cx="1560355" cy="1066459"/>
            </a:xfrm>
            <a:prstGeom prst="roundRect">
              <a:avLst>
                <a:gd name="adj" fmla="val 16963"/>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400" err="1">
                <a:solidFill>
                  <a:srgbClr val="FFFFFF"/>
                </a:solidFill>
                <a:latin typeface="Segoe UI" panose="020B0502040204020203" pitchFamily="34" charset="0"/>
                <a:cs typeface="Segoe UI" panose="020B0502040204020203" pitchFamily="34" charset="0"/>
              </a:endParaRPr>
            </a:p>
          </p:txBody>
        </p:sp>
      </p:grpSp>
      <p:grpSp>
        <p:nvGrpSpPr>
          <p:cNvPr id="27" name="Group 26">
            <a:extLst>
              <a:ext uri="{FF2B5EF4-FFF2-40B4-BE49-F238E27FC236}">
                <a16:creationId xmlns:a16="http://schemas.microsoft.com/office/drawing/2014/main" id="{98F89A20-53E9-111B-AEEC-3D2711DA3ADE}"/>
              </a:ext>
            </a:extLst>
          </p:cNvPr>
          <p:cNvGrpSpPr/>
          <p:nvPr/>
        </p:nvGrpSpPr>
        <p:grpSpPr>
          <a:xfrm>
            <a:off x="1808022" y="3892652"/>
            <a:ext cx="6536733" cy="2066648"/>
            <a:chOff x="1205348" y="2595101"/>
            <a:chExt cx="4357822" cy="1377765"/>
          </a:xfrm>
        </p:grpSpPr>
        <p:sp>
          <p:nvSpPr>
            <p:cNvPr id="6" name="Rectangle 5" descr="Element of the infographic belonging to the upper part">
              <a:extLst>
                <a:ext uri="{FF2B5EF4-FFF2-40B4-BE49-F238E27FC236}">
                  <a16:creationId xmlns:a16="http://schemas.microsoft.com/office/drawing/2014/main" id="{A01E0A69-D477-75FA-E694-71A1DB61E8E6}"/>
                </a:ext>
                <a:ext uri="{C183D7F6-B498-43B3-948B-1728B52AA6E4}">
                  <adec:decorative xmlns:adec="http://schemas.microsoft.com/office/drawing/2017/decorative" val="0"/>
                </a:ext>
              </a:extLst>
            </p:cNvPr>
            <p:cNvSpPr/>
            <p:nvPr/>
          </p:nvSpPr>
          <p:spPr>
            <a:xfrm>
              <a:off x="2925616" y="2595101"/>
              <a:ext cx="1901625" cy="529376"/>
            </a:xfrm>
            <a:prstGeom prst="rect">
              <a:avLst/>
            </a:prstGeom>
          </p:spPr>
          <p:txBody>
            <a:bodyPr wrap="square" lIns="274203">
              <a:spAutoFit/>
            </a:bodyPr>
            <a:lstStyle/>
            <a:p>
              <a:pPr algn="r" defTabSz="1399113">
                <a:lnSpc>
                  <a:spcPct val="95000"/>
                </a:lnSpc>
                <a:buSzPct val="90000"/>
                <a:tabLst>
                  <a:tab pos="2057400" algn="l"/>
                </a:tabLst>
                <a:defRPr/>
              </a:pPr>
              <a:r>
                <a:rPr lang="en-US" sz="2400">
                  <a:ln w="3175">
                    <a:noFill/>
                  </a:ln>
                  <a:solidFill>
                    <a:srgbClr val="FFFFFF"/>
                  </a:solidFill>
                  <a:latin typeface="+mj-lt"/>
                  <a:cs typeface="Segoe UI" pitchFamily="34" charset="0"/>
                </a:rPr>
                <a:t>Budget and cost optimization</a:t>
              </a:r>
            </a:p>
          </p:txBody>
        </p:sp>
        <p:sp>
          <p:nvSpPr>
            <p:cNvPr id="2" name="TextBox 1">
              <a:extLst>
                <a:ext uri="{FF2B5EF4-FFF2-40B4-BE49-F238E27FC236}">
                  <a16:creationId xmlns:a16="http://schemas.microsoft.com/office/drawing/2014/main" id="{57D94FC5-EF41-3B8D-6E8E-07DF0AE13C29}"/>
                </a:ext>
              </a:extLst>
            </p:cNvPr>
            <p:cNvSpPr txBox="1"/>
            <p:nvPr/>
          </p:nvSpPr>
          <p:spPr>
            <a:xfrm>
              <a:off x="1388057" y="3153861"/>
              <a:ext cx="1194939" cy="738664"/>
            </a:xfrm>
            <a:prstGeom prst="rect">
              <a:avLst/>
            </a:prstGeom>
            <a:noFill/>
          </p:spPr>
          <p:txBody>
            <a:bodyPr wrap="square" lIns="0" rIns="0">
              <a:spAutoFit/>
            </a:bodyPr>
            <a:lstStyle/>
            <a:p>
              <a:pPr algn="ctr" defTabSz="1399113">
                <a:buSzPct val="90000"/>
                <a:defRPr/>
              </a:pPr>
              <a:r>
                <a:rPr lang="en-US" sz="3000">
                  <a:ln w="3175">
                    <a:noFill/>
                  </a:ln>
                  <a:gradFill>
                    <a:gsLst>
                      <a:gs pos="94000">
                        <a:srgbClr val="48C5B1"/>
                      </a:gs>
                      <a:gs pos="0">
                        <a:srgbClr val="0078D4"/>
                      </a:gs>
                    </a:gsLst>
                    <a:lin ang="10800000" scaled="1"/>
                  </a:gradFill>
                  <a:latin typeface="Segoe Sans Text Semibold"/>
                  <a:cs typeface="Segoe UI" pitchFamily="34" charset="0"/>
                </a:rPr>
                <a:t>#</a:t>
              </a:r>
              <a:r>
                <a:rPr lang="en-US" sz="3000">
                  <a:ln w="3175">
                    <a:noFill/>
                  </a:ln>
                  <a:gradFill>
                    <a:gsLst>
                      <a:gs pos="94000">
                        <a:srgbClr val="48C5B1"/>
                      </a:gs>
                      <a:gs pos="21000">
                        <a:srgbClr val="0078D4"/>
                      </a:gs>
                    </a:gsLst>
                    <a:lin ang="10800000" scaled="1"/>
                  </a:gradFill>
                  <a:latin typeface="Segoe Sans Text Semibold"/>
                  <a:cs typeface="Segoe UI" pitchFamily="34" charset="0"/>
                </a:rPr>
                <a:t>1</a:t>
              </a:r>
              <a:r>
                <a:rPr lang="en-US" sz="3000">
                  <a:ln w="3175">
                    <a:noFill/>
                  </a:ln>
                  <a:gradFill>
                    <a:gsLst>
                      <a:gs pos="0">
                        <a:srgbClr val="48C5B1"/>
                      </a:gs>
                      <a:gs pos="68000">
                        <a:srgbClr val="0078D4"/>
                      </a:gs>
                    </a:gsLst>
                    <a:lin ang="10800000" scaled="1"/>
                  </a:gradFill>
                  <a:latin typeface="Segoe Sans Text Semibold"/>
                  <a:cs typeface="Segoe UI" pitchFamily="34" charset="0"/>
                </a:rPr>
                <a:t> </a:t>
              </a:r>
            </a:p>
            <a:p>
              <a:pPr algn="ctr" defTabSz="1371551">
                <a:defRPr/>
              </a:pPr>
              <a:r>
                <a:rPr lang="en-US" spc="-15">
                  <a:ln w="3175">
                    <a:noFill/>
                  </a:ln>
                  <a:solidFill>
                    <a:srgbClr val="FFFFFF"/>
                  </a:solidFill>
                  <a:cs typeface="Segoe UI" panose="020B0502040204020203" pitchFamily="34" charset="0"/>
                </a:rPr>
                <a:t>organizational initiative</a:t>
              </a:r>
              <a:r>
                <a:rPr lang="en-US" spc="-15" baseline="30000">
                  <a:ln w="3175">
                    <a:noFill/>
                  </a:ln>
                  <a:solidFill>
                    <a:srgbClr val="FFFFFF"/>
                  </a:solidFill>
                  <a:cs typeface="Segoe UI" panose="020B0502040204020203" pitchFamily="34" charset="0"/>
                </a:rPr>
                <a:t>2</a:t>
              </a:r>
              <a:endParaRPr lang="en-US" spc="-15" baseline="30000">
                <a:solidFill>
                  <a:srgbClr val="FFFFFF"/>
                </a:solidFill>
              </a:endParaRPr>
            </a:p>
          </p:txBody>
        </p:sp>
        <p:sp>
          <p:nvSpPr>
            <p:cNvPr id="29" name="Freeform 28">
              <a:extLst>
                <a:ext uri="{FF2B5EF4-FFF2-40B4-BE49-F238E27FC236}">
                  <a16:creationId xmlns:a16="http://schemas.microsoft.com/office/drawing/2014/main" id="{EF60A0EF-5594-E792-449B-4D93B9CE09EC}"/>
                </a:ext>
              </a:extLst>
            </p:cNvPr>
            <p:cNvSpPr/>
            <p:nvPr/>
          </p:nvSpPr>
          <p:spPr bwMode="auto">
            <a:xfrm>
              <a:off x="1989690" y="2738733"/>
              <a:ext cx="1149301" cy="351575"/>
            </a:xfrm>
            <a:custGeom>
              <a:avLst/>
              <a:gdLst>
                <a:gd name="connsiteX0" fmla="*/ 1544320 w 1544320"/>
                <a:gd name="connsiteY0" fmla="*/ 0 h 386080"/>
                <a:gd name="connsiteX1" fmla="*/ 0 w 1544320"/>
                <a:gd name="connsiteY1" fmla="*/ 0 h 386080"/>
                <a:gd name="connsiteX2" fmla="*/ 0 w 1544320"/>
                <a:gd name="connsiteY2" fmla="*/ 386080 h 386080"/>
              </a:gdLst>
              <a:ahLst/>
              <a:cxnLst>
                <a:cxn ang="0">
                  <a:pos x="connsiteX0" y="connsiteY0"/>
                </a:cxn>
                <a:cxn ang="0">
                  <a:pos x="connsiteX1" y="connsiteY1"/>
                </a:cxn>
                <a:cxn ang="0">
                  <a:pos x="connsiteX2" y="connsiteY2"/>
                </a:cxn>
              </a:cxnLst>
              <a:rect l="l" t="t" r="r" b="b"/>
              <a:pathLst>
                <a:path w="1544320" h="386080">
                  <a:moveTo>
                    <a:pt x="1544320" y="0"/>
                  </a:moveTo>
                  <a:lnTo>
                    <a:pt x="0" y="0"/>
                  </a:lnTo>
                  <a:lnTo>
                    <a:pt x="0" y="386080"/>
                  </a:lnTo>
                </a:path>
              </a:pathLst>
            </a:custGeom>
            <a:ln w="12700" cap="rnd">
              <a:solidFill>
                <a:srgbClr val="3A4953"/>
              </a:solidFill>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a:solidFill>
                  <a:srgbClr val="FFFFFF"/>
                </a:solidFill>
                <a:latin typeface="Segoe UI" panose="020B0502040204020203" pitchFamily="34" charset="0"/>
                <a:cs typeface="Segoe UI" panose="020B0502040204020203" pitchFamily="34" charset="0"/>
              </a:endParaRPr>
            </a:p>
          </p:txBody>
        </p:sp>
        <p:pic>
          <p:nvPicPr>
            <p:cNvPr id="39" name="Picture 38" descr="A white and blue tag&#10;&#10;AI-generated content may be incorrect.">
              <a:extLst>
                <a:ext uri="{FF2B5EF4-FFF2-40B4-BE49-F238E27FC236}">
                  <a16:creationId xmlns:a16="http://schemas.microsoft.com/office/drawing/2014/main" id="{CFE588E8-00B9-8808-2C56-B14B62038338}"/>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195467" y="3124026"/>
              <a:ext cx="367703" cy="367703"/>
            </a:xfrm>
            <a:prstGeom prst="rect">
              <a:avLst/>
            </a:prstGeom>
          </p:spPr>
        </p:pic>
        <p:sp>
          <p:nvSpPr>
            <p:cNvPr id="45" name="Rounded Rectangle 96">
              <a:extLst>
                <a:ext uri="{FF2B5EF4-FFF2-40B4-BE49-F238E27FC236}">
                  <a16:creationId xmlns:a16="http://schemas.microsoft.com/office/drawing/2014/main" id="{9AAEB6F7-C5E9-4782-08DE-AB6E4A100EE0}"/>
                </a:ext>
                <a:ext uri="{C183D7F6-B498-43B3-948B-1728B52AA6E4}">
                  <adec:decorative xmlns:adec="http://schemas.microsoft.com/office/drawing/2017/decorative" val="1"/>
                </a:ext>
              </a:extLst>
            </p:cNvPr>
            <p:cNvSpPr/>
            <p:nvPr/>
          </p:nvSpPr>
          <p:spPr bwMode="auto">
            <a:xfrm>
              <a:off x="1205348" y="3090309"/>
              <a:ext cx="1560355" cy="882557"/>
            </a:xfrm>
            <a:prstGeom prst="roundRect">
              <a:avLst>
                <a:gd name="adj" fmla="val 17460"/>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400" err="1">
                <a:solidFill>
                  <a:srgbClr val="FFFFFF"/>
                </a:solidFill>
                <a:latin typeface="Segoe UI" panose="020B0502040204020203" pitchFamily="34" charset="0"/>
                <a:cs typeface="Segoe UI" panose="020B0502040204020203" pitchFamily="34" charset="0"/>
              </a:endParaRPr>
            </a:p>
          </p:txBody>
        </p:sp>
      </p:grpSp>
      <p:grpSp>
        <p:nvGrpSpPr>
          <p:cNvPr id="32" name="Group 31">
            <a:extLst>
              <a:ext uri="{FF2B5EF4-FFF2-40B4-BE49-F238E27FC236}">
                <a16:creationId xmlns:a16="http://schemas.microsoft.com/office/drawing/2014/main" id="{980149E0-3D4B-0991-A06B-07BDB5F83BD7}"/>
              </a:ext>
            </a:extLst>
          </p:cNvPr>
          <p:cNvGrpSpPr/>
          <p:nvPr/>
        </p:nvGrpSpPr>
        <p:grpSpPr>
          <a:xfrm>
            <a:off x="790413" y="6665814"/>
            <a:ext cx="7240041" cy="1323836"/>
            <a:chOff x="526942" y="4443875"/>
            <a:chExt cx="4826694" cy="882557"/>
          </a:xfrm>
        </p:grpSpPr>
        <p:sp>
          <p:nvSpPr>
            <p:cNvPr id="10" name="Title 15" descr="Element of the infographic belonging to the upper part">
              <a:extLst>
                <a:ext uri="{FF2B5EF4-FFF2-40B4-BE49-F238E27FC236}">
                  <a16:creationId xmlns:a16="http://schemas.microsoft.com/office/drawing/2014/main" id="{3046B43A-D3B9-1155-48A3-5D5E5EF733A0}"/>
                </a:ext>
                <a:ext uri="{C183D7F6-B498-43B3-948B-1728B52AA6E4}">
                  <adec:decorative xmlns:adec="http://schemas.microsoft.com/office/drawing/2017/decorative" val="0"/>
                </a:ext>
              </a:extLst>
            </p:cNvPr>
            <p:cNvSpPr txBox="1">
              <a:spLocks/>
            </p:cNvSpPr>
            <p:nvPr/>
          </p:nvSpPr>
          <p:spPr>
            <a:xfrm>
              <a:off x="2760922" y="4725602"/>
              <a:ext cx="1764351" cy="529376"/>
            </a:xfrm>
            <a:prstGeom prst="rect">
              <a:avLst/>
            </a:prstGeom>
          </p:spPr>
          <p:txBody>
            <a:bodyPr wrap="square" lIns="274203">
              <a:spAutoFit/>
            </a:bodyPr>
            <a:lstStyle>
              <a:defPPr>
                <a:defRPr lang="en-US"/>
              </a:defPPr>
              <a:lvl1pPr algn="r" defTabSz="932742">
                <a:lnSpc>
                  <a:spcPct val="95000"/>
                </a:lnSpc>
                <a:buSzPct val="90000"/>
                <a:tabLst>
                  <a:tab pos="1371600" algn="l"/>
                </a:tabLst>
                <a:defRPr sz="1400">
                  <a:ln w="3175">
                    <a:noFill/>
                  </a:ln>
                  <a:solidFill>
                    <a:schemeClr val="bg1"/>
                  </a:solidFill>
                  <a:latin typeface="+mj-lt"/>
                  <a:cs typeface="Segoe UI" pitchFamily="34" charset="0"/>
                </a:defRPr>
              </a:lvl1pPr>
            </a:lstStyle>
            <a:p>
              <a:pPr defTabSz="1399113">
                <a:tabLst>
                  <a:tab pos="2057400" algn="l"/>
                </a:tabLst>
                <a:defRPr/>
              </a:pPr>
              <a:r>
                <a:rPr lang="en-US" sz="2400">
                  <a:solidFill>
                    <a:srgbClr val="FFFFFF"/>
                  </a:solidFill>
                </a:rPr>
                <a:t>Sovereignty and compliance</a:t>
              </a:r>
            </a:p>
          </p:txBody>
        </p:sp>
        <p:sp>
          <p:nvSpPr>
            <p:cNvPr id="7" name="TextBox 6">
              <a:extLst>
                <a:ext uri="{FF2B5EF4-FFF2-40B4-BE49-F238E27FC236}">
                  <a16:creationId xmlns:a16="http://schemas.microsoft.com/office/drawing/2014/main" id="{7C977832-5569-A632-9BA3-DAF7BF5094F8}"/>
                </a:ext>
              </a:extLst>
            </p:cNvPr>
            <p:cNvSpPr txBox="1"/>
            <p:nvPr/>
          </p:nvSpPr>
          <p:spPr>
            <a:xfrm>
              <a:off x="680987" y="4486351"/>
              <a:ext cx="1705005" cy="738664"/>
            </a:xfrm>
            <a:prstGeom prst="rect">
              <a:avLst/>
            </a:prstGeom>
            <a:noFill/>
          </p:spPr>
          <p:txBody>
            <a:bodyPr wrap="square" lIns="0" rIns="0">
              <a:spAutoFit/>
            </a:bodyPr>
            <a:lstStyle/>
            <a:p>
              <a:pPr algn="ctr" defTabSz="1399113">
                <a:buSzPct val="90000"/>
                <a:defRPr/>
              </a:pPr>
              <a:r>
                <a:rPr lang="en-US" sz="3000">
                  <a:ln w="3175">
                    <a:noFill/>
                  </a:ln>
                  <a:gradFill>
                    <a:gsLst>
                      <a:gs pos="100000">
                        <a:srgbClr val="48C5B1"/>
                      </a:gs>
                      <a:gs pos="0">
                        <a:srgbClr val="0078D4"/>
                      </a:gs>
                    </a:gsLst>
                    <a:lin ang="10800000" scaled="1"/>
                  </a:gradFill>
                  <a:latin typeface="Segoe Sans Text Semibold"/>
                  <a:cs typeface="Segoe UI" pitchFamily="34" charset="0"/>
                </a:rPr>
                <a:t>67% </a:t>
              </a:r>
            </a:p>
            <a:p>
              <a:pPr algn="ctr" defTabSz="1371551">
                <a:defRPr/>
              </a:pPr>
              <a:r>
                <a:rPr lang="en-US" spc="-15">
                  <a:ln w="3175">
                    <a:noFill/>
                  </a:ln>
                  <a:solidFill>
                    <a:srgbClr val="FFFFFF"/>
                  </a:solidFill>
                  <a:cs typeface="Segoe UI" panose="020B0502040204020203" pitchFamily="34" charset="0"/>
                </a:rPr>
                <a:t>Of SMBs see compliance as a top challenge</a:t>
              </a:r>
              <a:r>
                <a:rPr lang="en-US" spc="-15" baseline="30000">
                  <a:ln w="3175">
                    <a:noFill/>
                  </a:ln>
                  <a:solidFill>
                    <a:srgbClr val="FFFFFF"/>
                  </a:solidFill>
                  <a:cs typeface="Segoe UI" panose="020B0502040204020203" pitchFamily="34" charset="0"/>
                </a:rPr>
                <a:t> 2</a:t>
              </a:r>
              <a:endParaRPr lang="en-US" spc="-15" baseline="30000">
                <a:solidFill>
                  <a:srgbClr val="FFFFFF"/>
                </a:solidFill>
                <a:latin typeface="Segoe Sans Text"/>
              </a:endParaRPr>
            </a:p>
          </p:txBody>
        </p:sp>
        <p:pic>
          <p:nvPicPr>
            <p:cNvPr id="35" name="Picture 34" descr="A white and blue building with blue dots&#10;&#10;AI-generated content may be incorrect.">
              <a:extLst>
                <a:ext uri="{FF2B5EF4-FFF2-40B4-BE49-F238E27FC236}">
                  <a16:creationId xmlns:a16="http://schemas.microsoft.com/office/drawing/2014/main" id="{AD67BC4B-C4DE-3422-ECD7-2639886E826F}"/>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4976624" y="4548890"/>
              <a:ext cx="377012" cy="377012"/>
            </a:xfrm>
            <a:prstGeom prst="rect">
              <a:avLst/>
            </a:prstGeom>
          </p:spPr>
        </p:pic>
        <p:sp>
          <p:nvSpPr>
            <p:cNvPr id="49" name="Rounded Rectangle 96">
              <a:extLst>
                <a:ext uri="{FF2B5EF4-FFF2-40B4-BE49-F238E27FC236}">
                  <a16:creationId xmlns:a16="http://schemas.microsoft.com/office/drawing/2014/main" id="{44B2E801-48FC-52BE-A1B4-90DA59F424BF}"/>
                </a:ext>
                <a:ext uri="{C183D7F6-B498-43B3-948B-1728B52AA6E4}">
                  <adec:decorative xmlns:adec="http://schemas.microsoft.com/office/drawing/2017/decorative" val="1"/>
                </a:ext>
              </a:extLst>
            </p:cNvPr>
            <p:cNvSpPr/>
            <p:nvPr/>
          </p:nvSpPr>
          <p:spPr bwMode="auto">
            <a:xfrm>
              <a:off x="526942" y="4443875"/>
              <a:ext cx="1932605" cy="882557"/>
            </a:xfrm>
            <a:prstGeom prst="roundRect">
              <a:avLst>
                <a:gd name="adj" fmla="val 17460"/>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400" err="1">
                <a:solidFill>
                  <a:srgbClr val="FFFFFF"/>
                </a:solidFill>
                <a:latin typeface="Segoe UI" panose="020B0502040204020203" pitchFamily="34" charset="0"/>
                <a:cs typeface="Segoe UI" panose="020B0502040204020203" pitchFamily="34" charset="0"/>
              </a:endParaRPr>
            </a:p>
          </p:txBody>
        </p:sp>
        <p:cxnSp>
          <p:nvCxnSpPr>
            <p:cNvPr id="24" name="Straight Connector 23">
              <a:extLst>
                <a:ext uri="{FF2B5EF4-FFF2-40B4-BE49-F238E27FC236}">
                  <a16:creationId xmlns:a16="http://schemas.microsoft.com/office/drawing/2014/main" id="{A051DC6E-58F9-3397-54A5-C2CF565AD2E7}"/>
                </a:ext>
              </a:extLst>
            </p:cNvPr>
            <p:cNvCxnSpPr>
              <a:cxnSpLocks/>
              <a:stCxn id="49" idx="3"/>
            </p:cNvCxnSpPr>
            <p:nvPr/>
          </p:nvCxnSpPr>
          <p:spPr>
            <a:xfrm flipV="1">
              <a:off x="2459547" y="4885040"/>
              <a:ext cx="498570" cy="114"/>
            </a:xfrm>
            <a:prstGeom prst="line">
              <a:avLst/>
            </a:prstGeom>
            <a:ln>
              <a:solidFill>
                <a:srgbClr val="3A495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F22F21C7-9DAC-0086-A13B-0B718EBDAE14}"/>
              </a:ext>
            </a:extLst>
          </p:cNvPr>
          <p:cNvSpPr txBox="1"/>
          <p:nvPr/>
        </p:nvSpPr>
        <p:spPr>
          <a:xfrm>
            <a:off x="17796619" y="9785068"/>
            <a:ext cx="353447" cy="323165"/>
          </a:xfrm>
          <a:prstGeom prst="rect">
            <a:avLst/>
          </a:prstGeom>
          <a:noFill/>
        </p:spPr>
        <p:txBody>
          <a:bodyPr wrap="square" lIns="0" rIns="0">
            <a:spAutoFit/>
          </a:bodyPr>
          <a:lstStyle/>
          <a:p>
            <a:pPr algn="ctr" defTabSz="1371551">
              <a:defRPr/>
            </a:pPr>
            <a:r>
              <a:rPr lang="en-US" sz="1500" spc="-15">
                <a:ln w="3175">
                  <a:noFill/>
                </a:ln>
                <a:solidFill>
                  <a:srgbClr val="FFFFFF"/>
                </a:solidFill>
                <a:latin typeface="Segoe Sans Text"/>
                <a:cs typeface="Segoe UI" panose="020B0502040204020203" pitchFamily="34" charset="0"/>
              </a:rPr>
              <a:t>1</a:t>
            </a:r>
            <a:endParaRPr lang="en-US" sz="1500" spc="-15" baseline="30000">
              <a:solidFill>
                <a:srgbClr val="FFFFFF"/>
              </a:solidFill>
              <a:latin typeface="Segoe Sans Text"/>
            </a:endParaRPr>
          </a:p>
        </p:txBody>
      </p:sp>
      <p:sp>
        <p:nvSpPr>
          <p:cNvPr id="53" name="TextBox 52">
            <a:extLst>
              <a:ext uri="{FF2B5EF4-FFF2-40B4-BE49-F238E27FC236}">
                <a16:creationId xmlns:a16="http://schemas.microsoft.com/office/drawing/2014/main" id="{60815F25-FF72-0911-764B-36DDD86CB614}"/>
              </a:ext>
            </a:extLst>
          </p:cNvPr>
          <p:cNvSpPr txBox="1"/>
          <p:nvPr/>
        </p:nvSpPr>
        <p:spPr>
          <a:xfrm>
            <a:off x="7464937" y="1830203"/>
            <a:ext cx="3493913" cy="1107996"/>
          </a:xfrm>
          <a:prstGeom prst="rect">
            <a:avLst/>
          </a:prstGeom>
          <a:noFill/>
        </p:spPr>
        <p:txBody>
          <a:bodyPr wrap="square" lIns="0" rIns="0">
            <a:spAutoFit/>
          </a:bodyPr>
          <a:lstStyle/>
          <a:p>
            <a:pPr algn="ctr" defTabSz="1399113">
              <a:buSzPct val="90000"/>
              <a:defRPr/>
            </a:pPr>
            <a:r>
              <a:rPr lang="en-US" sz="3000">
                <a:ln w="3175">
                  <a:noFill/>
                </a:ln>
                <a:gradFill>
                  <a:gsLst>
                    <a:gs pos="0">
                      <a:srgbClr val="0078D4"/>
                    </a:gs>
                    <a:gs pos="68000">
                      <a:srgbClr val="48C5B1"/>
                    </a:gs>
                  </a:gsLst>
                  <a:lin ang="10800000" scaled="1"/>
                </a:gradFill>
                <a:latin typeface="Segoe Sans Text Semibold"/>
                <a:cs typeface="Segoe UI" pitchFamily="34" charset="0"/>
              </a:rPr>
              <a:t>47%</a:t>
            </a:r>
          </a:p>
          <a:p>
            <a:pPr algn="ctr" defTabSz="1399113">
              <a:buSzPct val="90000"/>
              <a:defRPr/>
            </a:pPr>
            <a:r>
              <a:rPr lang="en-US" spc="-15">
                <a:ln w="3175">
                  <a:noFill/>
                </a:ln>
                <a:solidFill>
                  <a:srgbClr val="FFFFFF"/>
                </a:solidFill>
                <a:cs typeface="Segoe UI" panose="020B0502040204020203" pitchFamily="34" charset="0"/>
              </a:rPr>
              <a:t>Of SMBs say AI is their top forward-looking tech priorityI</a:t>
            </a:r>
            <a:r>
              <a:rPr lang="en-US" spc="-15" baseline="30000">
                <a:ln w="3175">
                  <a:noFill/>
                </a:ln>
                <a:solidFill>
                  <a:srgbClr val="FFFFFF"/>
                </a:solidFill>
                <a:cs typeface="Segoe UI" panose="020B0502040204020203" pitchFamily="34" charset="0"/>
              </a:rPr>
              <a:t>1</a:t>
            </a:r>
            <a:endParaRPr lang="en-US" spc="-15" baseline="30000">
              <a:solidFill>
                <a:srgbClr val="FFFFFF"/>
              </a:solidFill>
            </a:endParaRPr>
          </a:p>
        </p:txBody>
      </p:sp>
      <p:sp>
        <p:nvSpPr>
          <p:cNvPr id="55" name="Title 14">
            <a:extLst>
              <a:ext uri="{FF2B5EF4-FFF2-40B4-BE49-F238E27FC236}">
                <a16:creationId xmlns:a16="http://schemas.microsoft.com/office/drawing/2014/main" id="{4A49172A-6945-FCFE-5DE0-151843DB0B91}"/>
              </a:ext>
            </a:extLst>
          </p:cNvPr>
          <p:cNvSpPr txBox="1">
            <a:spLocks/>
          </p:cNvSpPr>
          <p:nvPr/>
        </p:nvSpPr>
        <p:spPr>
          <a:xfrm>
            <a:off x="1110995" y="914401"/>
            <a:ext cx="16527780" cy="83099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a:tabLst>
                <a:tab pos="1466850" algn="l"/>
                <a:tab pos="2057400" algn="l"/>
              </a:tabLst>
            </a:pPr>
            <a:r>
              <a:rPr lang="en-US" sz="5400"/>
              <a:t>Your business has competing priorities</a:t>
            </a:r>
          </a:p>
        </p:txBody>
      </p:sp>
      <p:sp>
        <p:nvSpPr>
          <p:cNvPr id="59" name="TextBox 58">
            <a:extLst>
              <a:ext uri="{FF2B5EF4-FFF2-40B4-BE49-F238E27FC236}">
                <a16:creationId xmlns:a16="http://schemas.microsoft.com/office/drawing/2014/main" id="{455A4D19-A0C9-2A6E-BF5B-9160419909D5}"/>
              </a:ext>
            </a:extLst>
          </p:cNvPr>
          <p:cNvSpPr txBox="1"/>
          <p:nvPr/>
        </p:nvSpPr>
        <p:spPr>
          <a:xfrm>
            <a:off x="941009" y="9530563"/>
            <a:ext cx="7438322" cy="461665"/>
          </a:xfrm>
          <a:prstGeom prst="rect">
            <a:avLst/>
          </a:prstGeom>
          <a:noFill/>
        </p:spPr>
        <p:txBody>
          <a:bodyPr wrap="square">
            <a:spAutoFit/>
          </a:bodyPr>
          <a:lstStyle/>
          <a:p>
            <a:pPr defTabSz="1371551">
              <a:defRPr/>
            </a:pPr>
            <a:endParaRPr lang="en-US" sz="1200" kern="0">
              <a:solidFill>
                <a:srgbClr val="FFFFFF">
                  <a:lumMod val="50000"/>
                </a:srgbClr>
              </a:solidFill>
              <a:latin typeface="Segoe UI"/>
            </a:endParaRPr>
          </a:p>
          <a:p>
            <a:pPr defTabSz="1371551">
              <a:defRPr/>
            </a:pPr>
            <a:r>
              <a:rPr lang="en-US" sz="1200" kern="0">
                <a:solidFill>
                  <a:srgbClr val="FFFFFF">
                    <a:lumMod val="50000"/>
                  </a:srgbClr>
                </a:solidFill>
                <a:latin typeface="Segoe UI"/>
                <a:hlinkClick r:id="rId12">
                  <a:extLst>
                    <a:ext uri="{A12FA001-AC4F-418D-AE19-62706E023703}">
                      <ahyp:hlinkClr xmlns:ahyp="http://schemas.microsoft.com/office/drawing/2018/hyperlinkcolor" val="tx"/>
                    </a:ext>
                  </a:extLst>
                </a:hlinkClick>
              </a:rPr>
              <a:t>2. </a:t>
            </a:r>
            <a:r>
              <a:rPr lang="en-US" sz="1200" kern="0">
                <a:solidFill>
                  <a:srgbClr val="FFFFFF">
                    <a:lumMod val="50000"/>
                  </a:srgbClr>
                </a:solidFill>
                <a:hlinkClick r:id="rId12">
                  <a:extLst>
                    <a:ext uri="{A12FA001-AC4F-418D-AE19-62706E023703}">
                      <ahyp:hlinkClr xmlns:ahyp="http://schemas.microsoft.com/office/drawing/2018/hyperlinkcolor" val="tx"/>
                    </a:ext>
                  </a:extLst>
                </a:hlinkClick>
              </a:rPr>
              <a:t>Flexera State Of The Cloud 2025</a:t>
            </a:r>
            <a:endParaRPr lang="en-US" sz="1200" kern="0">
              <a:solidFill>
                <a:srgbClr val="FFFFFF">
                  <a:lumMod val="50000"/>
                </a:srgbClr>
              </a:solidFill>
            </a:endParaRPr>
          </a:p>
        </p:txBody>
      </p:sp>
      <p:sp>
        <p:nvSpPr>
          <p:cNvPr id="60" name="TextBox 59">
            <a:extLst>
              <a:ext uri="{FF2B5EF4-FFF2-40B4-BE49-F238E27FC236}">
                <a16:creationId xmlns:a16="http://schemas.microsoft.com/office/drawing/2014/main" id="{688BB051-228F-B589-0E39-3F3C65513669}"/>
              </a:ext>
            </a:extLst>
          </p:cNvPr>
          <p:cNvSpPr txBox="1"/>
          <p:nvPr/>
        </p:nvSpPr>
        <p:spPr>
          <a:xfrm>
            <a:off x="4017509" y="9692146"/>
            <a:ext cx="5970893" cy="461665"/>
          </a:xfrm>
          <a:prstGeom prst="rect">
            <a:avLst/>
          </a:prstGeom>
          <a:noFill/>
        </p:spPr>
        <p:txBody>
          <a:bodyPr wrap="square">
            <a:spAutoFit/>
          </a:bodyPr>
          <a:lstStyle/>
          <a:p>
            <a:pPr defTabSz="1371551">
              <a:defRPr/>
            </a:pPr>
            <a:r>
              <a:rPr lang="en-US" sz="1200" kern="0">
                <a:solidFill>
                  <a:srgbClr val="000000">
                    <a:lumMod val="50000"/>
                    <a:lumOff val="50000"/>
                  </a:srgbClr>
                </a:solidFill>
                <a:latin typeface="Segoe UI"/>
                <a:hlinkClick r:id="rId13">
                  <a:extLst>
                    <a:ext uri="{A12FA001-AC4F-418D-AE19-62706E023703}">
                      <ahyp:hlinkClr xmlns:ahyp="http://schemas.microsoft.com/office/drawing/2018/hyperlinkcolor" val="tx"/>
                    </a:ext>
                  </a:extLst>
                </a:hlinkClick>
              </a:rPr>
              <a:t>3</a:t>
            </a:r>
            <a:r>
              <a:rPr lang="en-US" sz="1200" kern="0">
                <a:solidFill>
                  <a:srgbClr val="B1B3B3"/>
                </a:solidFill>
                <a:latin typeface="Segoe UI"/>
                <a:hlinkClick r:id="rId13">
                  <a:extLst>
                    <a:ext uri="{A12FA001-AC4F-418D-AE19-62706E023703}">
                      <ahyp:hlinkClr xmlns:ahyp="http://schemas.microsoft.com/office/drawing/2018/hyperlinkcolor" val="tx"/>
                    </a:ext>
                  </a:extLst>
                </a:hlinkClick>
              </a:rPr>
              <a:t>. </a:t>
            </a:r>
            <a:r>
              <a:rPr lang="en-US" sz="1200" kern="0">
                <a:solidFill>
                  <a:srgbClr val="B1B3B3"/>
                </a:solidFill>
                <a:hlinkClick r:id="rId13">
                  <a:extLst>
                    <a:ext uri="{A12FA001-AC4F-418D-AE19-62706E023703}">
                      <ahyp:hlinkClr xmlns:ahyp="http://schemas.microsoft.com/office/drawing/2018/hyperlinkcolor" val="tx"/>
                    </a:ext>
                  </a:extLst>
                </a:hlinkClick>
              </a:rPr>
              <a:t>IT Skills Shortage Expected to Impact Nine out of Ten Organizations, IDC cited in </a:t>
            </a:r>
            <a:r>
              <a:rPr lang="en-US" sz="1200" kern="0" err="1">
                <a:solidFill>
                  <a:schemeClr val="tx1">
                    <a:lumMod val="50000"/>
                  </a:schemeClr>
                </a:solidFill>
                <a:hlinkClick r:id="rId13">
                  <a:extLst>
                    <a:ext uri="{A12FA001-AC4F-418D-AE19-62706E023703}">
                      <ahyp:hlinkClr xmlns:ahyp="http://schemas.microsoft.com/office/drawing/2018/hyperlinkcolor" val="tx"/>
                    </a:ext>
                  </a:extLst>
                </a:hlinkClick>
              </a:rPr>
              <a:t>Businesswire</a:t>
            </a:r>
            <a:endParaRPr lang="en-US" sz="1200" kern="0">
              <a:solidFill>
                <a:schemeClr val="tx1">
                  <a:lumMod val="50000"/>
                </a:schemeClr>
              </a:solidFill>
              <a:latin typeface="Segoe UI"/>
            </a:endParaRPr>
          </a:p>
        </p:txBody>
      </p:sp>
      <p:sp>
        <p:nvSpPr>
          <p:cNvPr id="63" name="TextBox 62">
            <a:extLst>
              <a:ext uri="{FF2B5EF4-FFF2-40B4-BE49-F238E27FC236}">
                <a16:creationId xmlns:a16="http://schemas.microsoft.com/office/drawing/2014/main" id="{0ACE958F-7E1A-1539-71A9-F5210A3EDED0}"/>
              </a:ext>
            </a:extLst>
          </p:cNvPr>
          <p:cNvSpPr txBox="1"/>
          <p:nvPr/>
        </p:nvSpPr>
        <p:spPr>
          <a:xfrm>
            <a:off x="953456" y="9464938"/>
            <a:ext cx="5611104" cy="276999"/>
          </a:xfrm>
          <a:prstGeom prst="rect">
            <a:avLst/>
          </a:prstGeom>
          <a:noFill/>
        </p:spPr>
        <p:txBody>
          <a:bodyPr wrap="square">
            <a:spAutoFit/>
          </a:bodyPr>
          <a:lstStyle/>
          <a:p>
            <a:pPr marL="200025" indent="-200025" defTabSz="1371551">
              <a:buFontTx/>
              <a:buAutoNum type="arabicPeriod"/>
              <a:defRPr/>
            </a:pPr>
            <a:r>
              <a:rPr lang="en-US" sz="1200" kern="0">
                <a:solidFill>
                  <a:srgbClr val="FFFFFF">
                    <a:lumMod val="50000"/>
                  </a:srgbClr>
                </a:solidFill>
              </a:rPr>
              <a:t>IDC, 2025, SMB AI Adoption Journey</a:t>
            </a:r>
          </a:p>
        </p:txBody>
      </p:sp>
    </p:spTree>
    <p:extLst>
      <p:ext uri="{BB962C8B-B14F-4D97-AF65-F5344CB8AC3E}">
        <p14:creationId xmlns:p14="http://schemas.microsoft.com/office/powerpoint/2010/main" val="3655978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up)">
                                      <p:cBhvr>
                                        <p:cTn id="7" dur="2500"/>
                                        <p:tgtEl>
                                          <p:spTgt spid="51"/>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5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5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10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nodeType="withEffect">
                                  <p:stCondLst>
                                    <p:cond delay="150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nodeType="withEffect">
                                  <p:stCondLst>
                                    <p:cond delay="150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nodeType="withEffect">
                                  <p:stCondLst>
                                    <p:cond delay="20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500"/>
                                        <p:tgtEl>
                                          <p:spTgt spid="47"/>
                                        </p:tgtEl>
                                      </p:cBhvr>
                                    </p:animEffect>
                                  </p:childTnLst>
                                </p:cTn>
                              </p:par>
                              <p:par>
                                <p:cTn id="29" presetID="10" presetClass="entr" presetSubtype="0" fill="hold" nodeType="withEffect">
                                  <p:stCondLst>
                                    <p:cond delay="200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53"/>
                                        </p:tgtEl>
                                        <p:attrNameLst>
                                          <p:attrName>style.visibility</p:attrName>
                                        </p:attrNameLst>
                                      </p:cBhvr>
                                      <p:to>
                                        <p:strVal val="visible"/>
                                      </p:to>
                                    </p:set>
                                  </p:childTnLst>
                                </p:cTn>
                              </p:par>
                              <p:par>
                                <p:cTn id="34" presetID="10"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500"/>
                                        <p:tgtEl>
                                          <p:spTgt spid="55"/>
                                        </p:tgtEl>
                                      </p:cBhvr>
                                    </p:animEffect>
                                  </p:childTnLst>
                                </p:cTn>
                              </p:par>
                              <p:par>
                                <p:cTn id="37" presetID="42" presetClass="path" presetSubtype="0" decel="100000" fill="hold" grpId="1" nodeType="withEffect">
                                  <p:stCondLst>
                                    <p:cond delay="0"/>
                                  </p:stCondLst>
                                  <p:childTnLst>
                                    <p:animMotion origin="layout" path="M 0 2.59259E-6 L 0 0.03541 " pathEditMode="relative" rAng="0" ptsTypes="AA">
                                      <p:cBhvr>
                                        <p:cTn id="38" dur="700" spd="-100000" fill="hold"/>
                                        <p:tgtEl>
                                          <p:spTgt spid="55"/>
                                        </p:tgtEl>
                                        <p:attrNameLst>
                                          <p:attrName>ppt_x</p:attrName>
                                          <p:attrName>ppt_y</p:attrName>
                                        </p:attrNameLst>
                                      </p:cBhvr>
                                      <p:rCtr x="0" y="178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5" grpId="0"/>
      <p:bldP spid="5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60709A8-7222-519C-2706-92294A054281}"/>
              </a:ext>
              <a:ext uri="{C183D7F6-B498-43B3-948B-1728B52AA6E4}">
                <adec:decorative xmlns:adec="http://schemas.microsoft.com/office/drawing/2017/decorative" val="1"/>
              </a:ext>
            </a:extLst>
          </p:cNvPr>
          <p:cNvGrpSpPr/>
          <p:nvPr/>
        </p:nvGrpSpPr>
        <p:grpSpPr>
          <a:xfrm>
            <a:off x="0" y="-47705"/>
            <a:ext cx="18288000" cy="10287000"/>
            <a:chOff x="0" y="0"/>
            <a:chExt cx="12192000" cy="6858000"/>
          </a:xfrm>
        </p:grpSpPr>
        <p:sp>
          <p:nvSpPr>
            <p:cNvPr id="10" name="Rectangle 9" descr="Dark Pattern: Plus dots">
              <a:extLst>
                <a:ext uri="{FF2B5EF4-FFF2-40B4-BE49-F238E27FC236}">
                  <a16:creationId xmlns:a16="http://schemas.microsoft.com/office/drawing/2014/main" id="{7D967D57-853E-C64D-0285-E43B4BBFCBED}"/>
                </a:ext>
              </a:extLst>
            </p:cNvPr>
            <p:cNvSpPr/>
            <p:nvPr/>
          </p:nvSpPr>
          <p:spPr bwMode="auto">
            <a:xfrm>
              <a:off x="0" y="0"/>
              <a:ext cx="12192000" cy="6842084"/>
            </a:xfrm>
            <a:prstGeom prst="rect">
              <a:avLst/>
            </a:prstGeom>
            <a:blipFill dpi="0" rotWithShape="1">
              <a:blip>
                <a:alphaModFix amt="20000"/>
                <a:extLst>
                  <a:ext uri="{96DAC541-7B7A-43D3-8B79-37D633B846F1}">
                    <asvg:svgBlip xmlns:asvg="http://schemas.microsoft.com/office/drawing/2016/SVG/main" r:embed="rId3"/>
                  </a:ext>
                </a:extLst>
              </a:blip>
              <a:srcRect/>
              <a:tile tx="0" ty="0" sx="100000" sy="10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solidFill>
                  <a:srgbClr val="FFFFFF"/>
                </a:solidFill>
                <a:latin typeface="Segoe UI"/>
                <a:ea typeface="Segoe UI" pitchFamily="34" charset="0"/>
                <a:cs typeface="Segoe UI" pitchFamily="34" charset="0"/>
              </a:endParaRPr>
            </a:p>
          </p:txBody>
        </p:sp>
        <p:sp>
          <p:nvSpPr>
            <p:cNvPr id="11" name="Rectangle: Rounded Corners 4" descr="Dark - small container">
              <a:extLst>
                <a:ext uri="{FF2B5EF4-FFF2-40B4-BE49-F238E27FC236}">
                  <a16:creationId xmlns:a16="http://schemas.microsoft.com/office/drawing/2014/main" id="{C6DE70D4-3B6D-73DF-F144-583A5342C180}"/>
                </a:ext>
              </a:extLst>
            </p:cNvPr>
            <p:cNvSpPr>
              <a:spLocks/>
            </p:cNvSpPr>
            <p:nvPr/>
          </p:nvSpPr>
          <p:spPr bwMode="auto">
            <a:xfrm>
              <a:off x="0" y="0"/>
              <a:ext cx="12192000" cy="6858000"/>
            </a:xfrm>
            <a:prstGeom prst="rect">
              <a:avLst/>
            </a:prstGeom>
            <a:gradFill>
              <a:gsLst>
                <a:gs pos="70000">
                  <a:srgbClr val="091F2C"/>
                </a:gs>
                <a:gs pos="95000">
                  <a:srgbClr val="091F2C">
                    <a:alpha val="77000"/>
                  </a:srgbClr>
                </a:gs>
                <a:gs pos="25000">
                  <a:srgbClr val="091F2C"/>
                </a:gs>
                <a:gs pos="0">
                  <a:srgbClr val="091F2C">
                    <a:alpha val="40000"/>
                  </a:srgbClr>
                </a:gs>
              </a:gsLst>
              <a:path path="circle">
                <a:fillToRect l="100000" t="100000"/>
              </a:path>
            </a:gradFill>
            <a:ln w="1270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solidFill>
                  <a:srgbClr val="FFFFFF"/>
                </a:solidFill>
                <a:latin typeface="Segoe UI"/>
                <a:cs typeface="Segoe UI" pitchFamily="34" charset="0"/>
              </a:endParaRPr>
            </a:p>
          </p:txBody>
        </p:sp>
      </p:grpSp>
      <p:sp>
        <p:nvSpPr>
          <p:cNvPr id="2" name="Title 1">
            <a:extLst>
              <a:ext uri="{FF2B5EF4-FFF2-40B4-BE49-F238E27FC236}">
                <a16:creationId xmlns:a16="http://schemas.microsoft.com/office/drawing/2014/main" id="{A09A795F-CCE5-E69C-65F5-F17038E547A0}"/>
              </a:ext>
            </a:extLst>
          </p:cNvPr>
          <p:cNvSpPr>
            <a:spLocks/>
          </p:cNvSpPr>
          <p:nvPr/>
        </p:nvSpPr>
        <p:spPr>
          <a:xfrm>
            <a:off x="880110" y="835233"/>
            <a:ext cx="16527780" cy="92333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399113">
              <a:spcBef>
                <a:spcPct val="0"/>
              </a:spcBef>
              <a:defRPr/>
            </a:pPr>
            <a:r>
              <a:rPr lang="en-US" sz="6000" spc="-75" dirty="0">
                <a:ln w="3175">
                  <a:noFill/>
                </a:ln>
                <a:solidFill>
                  <a:srgbClr val="FFB900"/>
                </a:solidFill>
                <a:latin typeface="Segoe UI Semibold"/>
                <a:ea typeface="+mj-lt"/>
                <a:cs typeface="Segoe UI Semibold"/>
              </a:rPr>
              <a:t>Legacy IT Infra </a:t>
            </a:r>
            <a:r>
              <a:rPr lang="en-US" sz="6000" spc="-75" dirty="0">
                <a:ln w="3175">
                  <a:noFill/>
                </a:ln>
                <a:latin typeface="Segoe UI Semibold"/>
                <a:ea typeface="+mj-lt"/>
                <a:cs typeface="Segoe UI Semibold"/>
              </a:rPr>
              <a:t>&amp; </a:t>
            </a:r>
            <a:r>
              <a:rPr lang="en-US" sz="6000" spc="-75" dirty="0">
                <a:ln w="3175">
                  <a:noFill/>
                </a:ln>
                <a:solidFill>
                  <a:srgbClr val="8DE971"/>
                </a:solidFill>
                <a:latin typeface="Segoe UI Semibold"/>
                <a:ea typeface="+mj-lt"/>
                <a:cs typeface="Segoe UI" pitchFamily="34" charset="0"/>
              </a:rPr>
              <a:t>b</a:t>
            </a:r>
            <a:r>
              <a:rPr lang="en-US" sz="6000" spc="-75" dirty="0">
                <a:ln w="3175">
                  <a:noFill/>
                </a:ln>
                <a:solidFill>
                  <a:srgbClr val="8DE971"/>
                </a:solidFill>
                <a:latin typeface="Segoe UI Semibold"/>
                <a:cs typeface="Segoe UI" pitchFamily="34" charset="0"/>
              </a:rPr>
              <a:t>usiness challenges</a:t>
            </a:r>
            <a:r>
              <a:rPr lang="en-US" sz="6000" spc="-75" dirty="0">
                <a:ln w="3175">
                  <a:noFill/>
                </a:ln>
                <a:solidFill>
                  <a:srgbClr val="FFB900"/>
                </a:solidFill>
                <a:latin typeface="Segoe UI Semibold"/>
                <a:ea typeface="+mj-lt"/>
                <a:cs typeface="Segoe UI Semibold"/>
              </a:rPr>
              <a:t> </a:t>
            </a:r>
          </a:p>
        </p:txBody>
      </p:sp>
      <p:grpSp>
        <p:nvGrpSpPr>
          <p:cNvPr id="4" name="Group 3" descr="Migrate apps, data, and infra">
            <a:extLst>
              <a:ext uri="{FF2B5EF4-FFF2-40B4-BE49-F238E27FC236}">
                <a16:creationId xmlns:a16="http://schemas.microsoft.com/office/drawing/2014/main" id="{3498C1C6-F8AB-2DA7-E39B-BED225036FDD}"/>
              </a:ext>
            </a:extLst>
          </p:cNvPr>
          <p:cNvGrpSpPr/>
          <p:nvPr/>
        </p:nvGrpSpPr>
        <p:grpSpPr>
          <a:xfrm>
            <a:off x="1341373" y="3368042"/>
            <a:ext cx="4689442" cy="5791198"/>
            <a:chOff x="1188888" y="2454158"/>
            <a:chExt cx="3126294" cy="3207151"/>
          </a:xfrm>
        </p:grpSpPr>
        <p:sp>
          <p:nvSpPr>
            <p:cNvPr id="3" name="Freeform 2">
              <a:extLst>
                <a:ext uri="{FF2B5EF4-FFF2-40B4-BE49-F238E27FC236}">
                  <a16:creationId xmlns:a16="http://schemas.microsoft.com/office/drawing/2014/main" id="{B3FD88A4-0E1E-D132-1F6F-D2C03BF25301}"/>
                </a:ext>
                <a:ext uri="{C183D7F6-B498-43B3-948B-1728B52AA6E4}">
                  <adec:decorative xmlns:adec="http://schemas.microsoft.com/office/drawing/2017/decorative" val="1"/>
                </a:ext>
              </a:extLst>
            </p:cNvPr>
            <p:cNvSpPr/>
            <p:nvPr/>
          </p:nvSpPr>
          <p:spPr bwMode="auto">
            <a:xfrm>
              <a:off x="1188888" y="2454158"/>
              <a:ext cx="3126294" cy="3207151"/>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5" name="TextBox 94">
              <a:extLst>
                <a:ext uri="{FF2B5EF4-FFF2-40B4-BE49-F238E27FC236}">
                  <a16:creationId xmlns:a16="http://schemas.microsoft.com/office/drawing/2014/main" id="{3D1D021D-F2F0-D818-377E-C394AA565935}"/>
                </a:ext>
                <a:ext uri="{C183D7F6-B498-43B3-948B-1728B52AA6E4}">
                  <adec:decorative xmlns:adec="http://schemas.microsoft.com/office/drawing/2017/decorative" val="1"/>
                </a:ext>
              </a:extLst>
            </p:cNvPr>
            <p:cNvSpPr txBox="1"/>
            <p:nvPr/>
          </p:nvSpPr>
          <p:spPr>
            <a:xfrm>
              <a:off x="1902131" y="2967499"/>
              <a:ext cx="1676774" cy="265927"/>
            </a:xfrm>
            <a:prstGeom prst="rect">
              <a:avLst/>
            </a:prstGeom>
            <a:noFill/>
          </p:spPr>
          <p:txBody>
            <a:bodyPr wrap="none" lIns="54000" tIns="0" rIns="54000" bIns="0" rtlCol="0">
              <a:spAutoFit/>
            </a:bodyPr>
            <a:lstStyle/>
            <a:p>
              <a:pPr algn="ctr" defTabSz="1371551">
                <a:defRPr/>
              </a:pPr>
              <a:r>
                <a:rPr lang="en-US" sz="3000" spc="-75" dirty="0">
                  <a:ln w="3175">
                    <a:noFill/>
                  </a:ln>
                  <a:solidFill>
                    <a:srgbClr val="D59ED7"/>
                  </a:solidFill>
                  <a:latin typeface="Segoe UI Semibold"/>
                  <a:ea typeface="+mj-lt"/>
                  <a:cs typeface="Segoe UI Semibold"/>
                </a:rPr>
                <a:t>Legacy IT Infra</a:t>
              </a:r>
            </a:p>
          </p:txBody>
        </p:sp>
        <p:sp>
          <p:nvSpPr>
            <p:cNvPr id="102" name="TextBox 101">
              <a:extLst>
                <a:ext uri="{FF2B5EF4-FFF2-40B4-BE49-F238E27FC236}">
                  <a16:creationId xmlns:a16="http://schemas.microsoft.com/office/drawing/2014/main" id="{20F5588A-50B9-6D2E-544A-63E3CB58DC9C}"/>
                </a:ext>
                <a:ext uri="{C183D7F6-B498-43B3-948B-1728B52AA6E4}">
                  <adec:decorative xmlns:adec="http://schemas.microsoft.com/office/drawing/2017/decorative" val="0"/>
                </a:ext>
              </a:extLst>
            </p:cNvPr>
            <p:cNvSpPr txBox="1"/>
            <p:nvPr/>
          </p:nvSpPr>
          <p:spPr>
            <a:xfrm>
              <a:off x="1381987" y="3457059"/>
              <a:ext cx="2766415" cy="1063706"/>
            </a:xfrm>
            <a:prstGeom prst="rect">
              <a:avLst/>
            </a:prstGeom>
            <a:noFill/>
          </p:spPr>
          <p:txBody>
            <a:bodyPr wrap="square" lIns="54000" tIns="0" rIns="54000" bIns="0" rtlCol="0">
              <a:spAutoFit/>
            </a:bodyPr>
            <a:lstStyle/>
            <a:p>
              <a:pPr algn="ctr" defTabSz="1371551">
                <a:defRPr/>
              </a:pPr>
              <a:r>
                <a:rPr lang="en-US" sz="2400" dirty="0"/>
                <a:t>Organizations are operating with </a:t>
              </a:r>
              <a:r>
                <a:rPr lang="en-US" sz="2400" b="1" dirty="0"/>
                <a:t>legacy IT</a:t>
              </a:r>
              <a:r>
                <a:rPr lang="en-US" sz="2400" dirty="0"/>
                <a:t>, facing high </a:t>
              </a:r>
              <a:r>
                <a:rPr lang="en-US" sz="2400" b="1" dirty="0"/>
                <a:t>operational costs, scalability challenges, and security risks</a:t>
              </a:r>
              <a:endParaRPr lang="en-US" sz="2100" spc="-75" dirty="0">
                <a:ln w="3175">
                  <a:noFill/>
                </a:ln>
                <a:solidFill>
                  <a:srgbClr val="FFFFFF"/>
                </a:solidFill>
                <a:latin typeface="Segoe UI"/>
                <a:ea typeface="+mj-lt"/>
                <a:cs typeface="Segoe UI Semibold"/>
              </a:endParaRPr>
            </a:p>
          </p:txBody>
        </p:sp>
      </p:grpSp>
      <p:sp>
        <p:nvSpPr>
          <p:cNvPr id="14" name="Freeform 13">
            <a:extLst>
              <a:ext uri="{FF2B5EF4-FFF2-40B4-BE49-F238E27FC236}">
                <a16:creationId xmlns:a16="http://schemas.microsoft.com/office/drawing/2014/main" id="{587281BA-7CFE-E143-F77D-DEBA66C47F87}"/>
              </a:ext>
              <a:ext uri="{C183D7F6-B498-43B3-948B-1728B52AA6E4}">
                <adec:decorative xmlns:adec="http://schemas.microsoft.com/office/drawing/2017/decorative" val="1"/>
              </a:ext>
            </a:extLst>
          </p:cNvPr>
          <p:cNvSpPr/>
          <p:nvPr/>
        </p:nvSpPr>
        <p:spPr bwMode="auto">
          <a:xfrm>
            <a:off x="7483995" y="3732758"/>
            <a:ext cx="4373881" cy="195572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7" name="TextBox 96">
            <a:extLst>
              <a:ext uri="{FF2B5EF4-FFF2-40B4-BE49-F238E27FC236}">
                <a16:creationId xmlns:a16="http://schemas.microsoft.com/office/drawing/2014/main" id="{C4B101F1-7792-BB7F-5D11-95C83EF99056}"/>
              </a:ext>
              <a:ext uri="{C183D7F6-B498-43B3-948B-1728B52AA6E4}">
                <adec:decorative xmlns:adec="http://schemas.microsoft.com/office/drawing/2017/decorative" val="1"/>
              </a:ext>
            </a:extLst>
          </p:cNvPr>
          <p:cNvSpPr txBox="1"/>
          <p:nvPr/>
        </p:nvSpPr>
        <p:spPr>
          <a:xfrm>
            <a:off x="7446119" y="4094381"/>
            <a:ext cx="4318422" cy="1354217"/>
          </a:xfrm>
          <a:prstGeom prst="rect">
            <a:avLst/>
          </a:prstGeom>
          <a:noFill/>
        </p:spPr>
        <p:txBody>
          <a:bodyPr wrap="square" lIns="54000" tIns="0" rIns="54000" bIns="0" rtlCol="0">
            <a:spAutoFit/>
          </a:bodyPr>
          <a:lstStyle/>
          <a:p>
            <a:pPr algn="ctr" defTabSz="1371551">
              <a:defRPr/>
            </a:pPr>
            <a:r>
              <a:rPr lang="en-US" sz="3000" spc="-75" dirty="0">
                <a:ln w="3175">
                  <a:noFill/>
                </a:ln>
                <a:solidFill>
                  <a:srgbClr val="D59ED7"/>
                </a:solidFill>
                <a:latin typeface="Segoe UI Semibold"/>
                <a:ea typeface="+mj-lt"/>
                <a:cs typeface="Segoe UI Semibold"/>
              </a:rPr>
              <a:t>High maintenance</a:t>
            </a:r>
            <a:br>
              <a:rPr lang="en-US" sz="3000" spc="-75" dirty="0">
                <a:ln w="3175">
                  <a:noFill/>
                </a:ln>
                <a:solidFill>
                  <a:srgbClr val="D59ED7"/>
                </a:solidFill>
                <a:latin typeface="Segoe UI Semibold"/>
                <a:ea typeface="+mj-lt"/>
                <a:cs typeface="Segoe UI Semibold"/>
              </a:rPr>
            </a:br>
            <a:r>
              <a:rPr lang="en-US" sz="3000" spc="-75" dirty="0">
                <a:ln w="3175">
                  <a:noFill/>
                </a:ln>
                <a:solidFill>
                  <a:srgbClr val="D59ED7"/>
                </a:solidFill>
                <a:latin typeface="Segoe UI Semibold"/>
                <a:ea typeface="+mj-lt"/>
                <a:cs typeface="Segoe UI Semibold"/>
              </a:rPr>
              <a:t> Costs</a:t>
            </a:r>
            <a:r>
              <a:rPr lang="en-US" sz="2800" dirty="0"/>
              <a:t> &amp; unpredictable Capital Expenses (</a:t>
            </a:r>
            <a:r>
              <a:rPr lang="en-US" sz="2800" dirty="0" err="1"/>
              <a:t>CapEx</a:t>
            </a:r>
            <a:r>
              <a:rPr lang="en-US" sz="2800" dirty="0"/>
              <a:t>)</a:t>
            </a:r>
            <a:endParaRPr lang="en-US" sz="2800" spc="-75" dirty="0">
              <a:ln w="3175">
                <a:noFill/>
              </a:ln>
              <a:solidFill>
                <a:srgbClr val="D59ED7"/>
              </a:solidFill>
              <a:latin typeface="Segoe UI Semibold"/>
              <a:ea typeface="+mj-lt"/>
              <a:cs typeface="Segoe UI Semibold"/>
            </a:endParaRPr>
          </a:p>
        </p:txBody>
      </p:sp>
      <p:sp>
        <p:nvSpPr>
          <p:cNvPr id="5" name="TextBox 4">
            <a:extLst>
              <a:ext uri="{FF2B5EF4-FFF2-40B4-BE49-F238E27FC236}">
                <a16:creationId xmlns:a16="http://schemas.microsoft.com/office/drawing/2014/main" id="{E25707BC-DCCF-FE0A-D9AA-528D5FA0283A}"/>
              </a:ext>
              <a:ext uri="{C183D7F6-B498-43B3-948B-1728B52AA6E4}">
                <adec:decorative xmlns:adec="http://schemas.microsoft.com/office/drawing/2017/decorative" val="0"/>
              </a:ext>
            </a:extLst>
          </p:cNvPr>
          <p:cNvSpPr txBox="1"/>
          <p:nvPr/>
        </p:nvSpPr>
        <p:spPr>
          <a:xfrm>
            <a:off x="1676400" y="7321495"/>
            <a:ext cx="4028045" cy="1107996"/>
          </a:xfrm>
          <a:prstGeom prst="rect">
            <a:avLst/>
          </a:prstGeom>
          <a:noFill/>
        </p:spPr>
        <p:txBody>
          <a:bodyPr wrap="square" lIns="54000" tIns="0" rIns="54000" bIns="0" rtlCol="0">
            <a:spAutoFit/>
          </a:bodyPr>
          <a:lstStyle/>
          <a:p>
            <a:pPr algn="ctr" defTabSz="1371551">
              <a:defRPr/>
            </a:pPr>
            <a:r>
              <a:rPr lang="en-US" sz="2400" dirty="0"/>
              <a:t>Traditional IT models hinder </a:t>
            </a:r>
            <a:r>
              <a:rPr lang="en-US" sz="2400" b="1" dirty="0"/>
              <a:t>business agility and digital transformation</a:t>
            </a:r>
            <a:endParaRPr lang="en-US" sz="2100" spc="-75" dirty="0">
              <a:ln w="3175">
                <a:noFill/>
              </a:ln>
              <a:solidFill>
                <a:srgbClr val="FFFFFF"/>
              </a:solidFill>
              <a:latin typeface="Segoe UI"/>
              <a:ea typeface="+mj-lt"/>
              <a:cs typeface="Segoe UI Semibold"/>
            </a:endParaRPr>
          </a:p>
        </p:txBody>
      </p:sp>
      <p:sp>
        <p:nvSpPr>
          <p:cNvPr id="7" name="Freeform 13">
            <a:extLst>
              <a:ext uri="{FF2B5EF4-FFF2-40B4-BE49-F238E27FC236}">
                <a16:creationId xmlns:a16="http://schemas.microsoft.com/office/drawing/2014/main" id="{70B355E8-7C31-77E8-8B0D-EA4668BB3EA8}"/>
              </a:ext>
              <a:ext uri="{C183D7F6-B498-43B3-948B-1728B52AA6E4}">
                <adec:decorative xmlns:adec="http://schemas.microsoft.com/office/drawing/2017/decorative" val="1"/>
              </a:ext>
            </a:extLst>
          </p:cNvPr>
          <p:cNvSpPr/>
          <p:nvPr/>
        </p:nvSpPr>
        <p:spPr bwMode="auto">
          <a:xfrm>
            <a:off x="7393447" y="6446520"/>
            <a:ext cx="4632914" cy="153727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8" name="TextBox 7">
            <a:extLst>
              <a:ext uri="{FF2B5EF4-FFF2-40B4-BE49-F238E27FC236}">
                <a16:creationId xmlns:a16="http://schemas.microsoft.com/office/drawing/2014/main" id="{2E608C00-E08F-E622-BFAE-AAFDC5C4248D}"/>
              </a:ext>
              <a:ext uri="{C183D7F6-B498-43B3-948B-1728B52AA6E4}">
                <adec:decorative xmlns:adec="http://schemas.microsoft.com/office/drawing/2017/decorative" val="1"/>
              </a:ext>
            </a:extLst>
          </p:cNvPr>
          <p:cNvSpPr txBox="1"/>
          <p:nvPr/>
        </p:nvSpPr>
        <p:spPr>
          <a:xfrm>
            <a:off x="7645961" y="6893795"/>
            <a:ext cx="4318422" cy="892552"/>
          </a:xfrm>
          <a:prstGeom prst="rect">
            <a:avLst/>
          </a:prstGeom>
          <a:noFill/>
        </p:spPr>
        <p:txBody>
          <a:bodyPr wrap="square" lIns="54000" tIns="0" rIns="54000" bIns="0" rtlCol="0">
            <a:spAutoFit/>
          </a:bodyPr>
          <a:lstStyle/>
          <a:p>
            <a:pPr algn="ctr" defTabSz="1371551">
              <a:defRPr/>
            </a:pPr>
            <a:r>
              <a:rPr lang="en-US" sz="3000" spc="-75" dirty="0">
                <a:ln w="3175">
                  <a:noFill/>
                </a:ln>
                <a:solidFill>
                  <a:srgbClr val="D59ED7"/>
                </a:solidFill>
                <a:latin typeface="Segoe UI Semibold"/>
                <a:ea typeface="+mj-lt"/>
                <a:cs typeface="Segoe UI Semibold"/>
              </a:rPr>
              <a:t>Security vulnerabilities</a:t>
            </a:r>
            <a:br>
              <a:rPr lang="en-US" sz="3000" spc="-75" dirty="0">
                <a:ln w="3175">
                  <a:noFill/>
                </a:ln>
                <a:solidFill>
                  <a:srgbClr val="D59ED7"/>
                </a:solidFill>
                <a:latin typeface="Segoe UI Semibold"/>
                <a:ea typeface="+mj-lt"/>
                <a:cs typeface="Segoe UI Semibold"/>
              </a:rPr>
            </a:br>
            <a:r>
              <a:rPr lang="en-US" sz="2800" dirty="0"/>
              <a:t> in legacy systems</a:t>
            </a:r>
            <a:endParaRPr lang="en-US" sz="2800" spc="-75" dirty="0">
              <a:ln w="3175">
                <a:noFill/>
              </a:ln>
              <a:solidFill>
                <a:srgbClr val="D59ED7"/>
              </a:solidFill>
              <a:latin typeface="Segoe UI Semibold"/>
              <a:ea typeface="+mj-lt"/>
              <a:cs typeface="Segoe UI Semibold"/>
            </a:endParaRPr>
          </a:p>
        </p:txBody>
      </p:sp>
      <p:sp>
        <p:nvSpPr>
          <p:cNvPr id="12" name="Freeform 13">
            <a:extLst>
              <a:ext uri="{FF2B5EF4-FFF2-40B4-BE49-F238E27FC236}">
                <a16:creationId xmlns:a16="http://schemas.microsoft.com/office/drawing/2014/main" id="{65740587-C55D-887E-9439-07E6849DE934}"/>
              </a:ext>
              <a:ext uri="{C183D7F6-B498-43B3-948B-1728B52AA6E4}">
                <adec:decorative xmlns:adec="http://schemas.microsoft.com/office/drawing/2017/decorative" val="1"/>
              </a:ext>
            </a:extLst>
          </p:cNvPr>
          <p:cNvSpPr/>
          <p:nvPr/>
        </p:nvSpPr>
        <p:spPr bwMode="auto">
          <a:xfrm>
            <a:off x="12407027" y="3691948"/>
            <a:ext cx="4373880" cy="199447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15" name="Freeform 13">
            <a:extLst>
              <a:ext uri="{FF2B5EF4-FFF2-40B4-BE49-F238E27FC236}">
                <a16:creationId xmlns:a16="http://schemas.microsoft.com/office/drawing/2014/main" id="{9E46D734-901C-EFF9-E2C0-D8498B439A6A}"/>
              </a:ext>
              <a:ext uri="{C183D7F6-B498-43B3-948B-1728B52AA6E4}">
                <adec:decorative xmlns:adec="http://schemas.microsoft.com/office/drawing/2017/decorative" val="1"/>
              </a:ext>
            </a:extLst>
          </p:cNvPr>
          <p:cNvSpPr/>
          <p:nvPr/>
        </p:nvSpPr>
        <p:spPr bwMode="auto">
          <a:xfrm>
            <a:off x="12253007" y="6431280"/>
            <a:ext cx="4632914" cy="153727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16" name="TextBox 15">
            <a:extLst>
              <a:ext uri="{FF2B5EF4-FFF2-40B4-BE49-F238E27FC236}">
                <a16:creationId xmlns:a16="http://schemas.microsoft.com/office/drawing/2014/main" id="{34F69814-A855-E120-5012-8DB6C3E0E3C3}"/>
              </a:ext>
              <a:ext uri="{C183D7F6-B498-43B3-948B-1728B52AA6E4}">
                <adec:decorative xmlns:adec="http://schemas.microsoft.com/office/drawing/2017/decorative" val="1"/>
              </a:ext>
            </a:extLst>
          </p:cNvPr>
          <p:cNvSpPr txBox="1"/>
          <p:nvPr/>
        </p:nvSpPr>
        <p:spPr>
          <a:xfrm>
            <a:off x="12160446" y="4140101"/>
            <a:ext cx="4898089" cy="1354217"/>
          </a:xfrm>
          <a:prstGeom prst="rect">
            <a:avLst/>
          </a:prstGeom>
          <a:noFill/>
        </p:spPr>
        <p:txBody>
          <a:bodyPr wrap="square" lIns="54000" tIns="0" rIns="54000" bIns="0" rtlCol="0">
            <a:spAutoFit/>
          </a:bodyPr>
          <a:lstStyle/>
          <a:p>
            <a:pPr algn="ctr" defTabSz="1371551">
              <a:defRPr/>
            </a:pPr>
            <a:r>
              <a:rPr lang="en-US" sz="3000" spc="-75" dirty="0">
                <a:ln w="3175">
                  <a:noFill/>
                </a:ln>
                <a:solidFill>
                  <a:srgbClr val="D59ED7"/>
                </a:solidFill>
                <a:latin typeface="Segoe UI Semibold"/>
                <a:ea typeface="+mj-lt"/>
                <a:cs typeface="Segoe UI Semibold"/>
              </a:rPr>
              <a:t>Limited scalability &amp; performance </a:t>
            </a:r>
            <a:r>
              <a:rPr lang="en-US" sz="2800" dirty="0"/>
              <a:t>issues impacting growth</a:t>
            </a:r>
            <a:endParaRPr lang="en-US" sz="2800" spc="-75" dirty="0">
              <a:ln w="3175">
                <a:noFill/>
              </a:ln>
              <a:solidFill>
                <a:srgbClr val="D59ED7"/>
              </a:solidFill>
              <a:latin typeface="Segoe UI Semibold"/>
              <a:ea typeface="+mj-lt"/>
              <a:cs typeface="Segoe UI Semibold"/>
            </a:endParaRPr>
          </a:p>
        </p:txBody>
      </p:sp>
      <p:sp>
        <p:nvSpPr>
          <p:cNvPr id="17" name="TextBox 16">
            <a:extLst>
              <a:ext uri="{FF2B5EF4-FFF2-40B4-BE49-F238E27FC236}">
                <a16:creationId xmlns:a16="http://schemas.microsoft.com/office/drawing/2014/main" id="{3A349F93-B548-418F-9AEE-8B3F41CF89D4}"/>
              </a:ext>
              <a:ext uri="{C183D7F6-B498-43B3-948B-1728B52AA6E4}">
                <adec:decorative xmlns:adec="http://schemas.microsoft.com/office/drawing/2017/decorative" val="1"/>
              </a:ext>
            </a:extLst>
          </p:cNvPr>
          <p:cNvSpPr txBox="1"/>
          <p:nvPr/>
        </p:nvSpPr>
        <p:spPr>
          <a:xfrm>
            <a:off x="12460079" y="6883301"/>
            <a:ext cx="4318422" cy="892552"/>
          </a:xfrm>
          <a:prstGeom prst="rect">
            <a:avLst/>
          </a:prstGeom>
          <a:noFill/>
        </p:spPr>
        <p:txBody>
          <a:bodyPr wrap="square" lIns="54000" tIns="0" rIns="54000" bIns="0" rtlCol="0">
            <a:spAutoFit/>
          </a:bodyPr>
          <a:lstStyle/>
          <a:p>
            <a:pPr algn="ctr" defTabSz="1371551">
              <a:defRPr/>
            </a:pPr>
            <a:r>
              <a:rPr lang="en-US" sz="3000" spc="-75" dirty="0">
                <a:ln w="3175">
                  <a:noFill/>
                </a:ln>
                <a:solidFill>
                  <a:srgbClr val="D59ED7"/>
                </a:solidFill>
                <a:latin typeface="Segoe UI Semibold"/>
                <a:ea typeface="+mj-lt"/>
                <a:cs typeface="Segoe UI Semibold"/>
              </a:rPr>
              <a:t>Compliance challenges </a:t>
            </a:r>
            <a:r>
              <a:rPr lang="en-US" sz="2800" dirty="0"/>
              <a:t>with evolving regulations</a:t>
            </a:r>
            <a:endParaRPr lang="en-US" sz="2800" spc="-75" dirty="0">
              <a:ln w="3175">
                <a:noFill/>
              </a:ln>
              <a:solidFill>
                <a:srgbClr val="D59ED7"/>
              </a:solidFill>
              <a:latin typeface="Segoe UI Semibold"/>
              <a:ea typeface="+mj-lt"/>
              <a:cs typeface="Segoe UI Semibold"/>
            </a:endParaRPr>
          </a:p>
        </p:txBody>
      </p:sp>
      <p:pic>
        <p:nvPicPr>
          <p:cNvPr id="29" name="Picture 28">
            <a:extLst>
              <a:ext uri="{FF2B5EF4-FFF2-40B4-BE49-F238E27FC236}">
                <a16:creationId xmlns:a16="http://schemas.microsoft.com/office/drawing/2014/main" id="{8A4E7D32-FA33-379F-8C97-10EB43BB9A9B}"/>
              </a:ext>
            </a:extLst>
          </p:cNvPr>
          <p:cNvPicPr>
            <a:picLocks noChangeAspect="1"/>
          </p:cNvPicPr>
          <p:nvPr/>
        </p:nvPicPr>
        <p:blipFill>
          <a:blip r:embed="rId4"/>
          <a:stretch>
            <a:fillRect/>
          </a:stretch>
        </p:blipFill>
        <p:spPr>
          <a:xfrm>
            <a:off x="8845323" y="3054066"/>
            <a:ext cx="766665" cy="766665"/>
          </a:xfrm>
          <a:prstGeom prst="rect">
            <a:avLst/>
          </a:prstGeom>
        </p:spPr>
      </p:pic>
      <p:pic>
        <p:nvPicPr>
          <p:cNvPr id="34" name="Picture 33">
            <a:extLst>
              <a:ext uri="{FF2B5EF4-FFF2-40B4-BE49-F238E27FC236}">
                <a16:creationId xmlns:a16="http://schemas.microsoft.com/office/drawing/2014/main" id="{88E945E1-4545-0064-5866-11B1F50099C4}"/>
              </a:ext>
            </a:extLst>
          </p:cNvPr>
          <p:cNvPicPr>
            <a:picLocks noChangeAspect="1"/>
          </p:cNvPicPr>
          <p:nvPr/>
        </p:nvPicPr>
        <p:blipFill>
          <a:blip r:embed="rId5"/>
          <a:stretch>
            <a:fillRect/>
          </a:stretch>
        </p:blipFill>
        <p:spPr>
          <a:xfrm>
            <a:off x="9709904" y="3234096"/>
            <a:ext cx="766665" cy="766665"/>
          </a:xfrm>
          <a:prstGeom prst="rect">
            <a:avLst/>
          </a:prstGeom>
        </p:spPr>
      </p:pic>
      <p:pic>
        <p:nvPicPr>
          <p:cNvPr id="38" name="Picture 37">
            <a:extLst>
              <a:ext uri="{FF2B5EF4-FFF2-40B4-BE49-F238E27FC236}">
                <a16:creationId xmlns:a16="http://schemas.microsoft.com/office/drawing/2014/main" id="{F65972D8-319D-0193-0D7F-AAE58BDA91F6}"/>
              </a:ext>
            </a:extLst>
          </p:cNvPr>
          <p:cNvPicPr>
            <a:picLocks noChangeAspect="1"/>
          </p:cNvPicPr>
          <p:nvPr/>
        </p:nvPicPr>
        <p:blipFill>
          <a:blip r:embed="rId6"/>
          <a:stretch>
            <a:fillRect/>
          </a:stretch>
        </p:blipFill>
        <p:spPr>
          <a:xfrm>
            <a:off x="9228569" y="5819673"/>
            <a:ext cx="979601" cy="979601"/>
          </a:xfrm>
          <a:prstGeom prst="rect">
            <a:avLst/>
          </a:prstGeom>
        </p:spPr>
      </p:pic>
      <p:pic>
        <p:nvPicPr>
          <p:cNvPr id="42" name="Picture 41">
            <a:extLst>
              <a:ext uri="{FF2B5EF4-FFF2-40B4-BE49-F238E27FC236}">
                <a16:creationId xmlns:a16="http://schemas.microsoft.com/office/drawing/2014/main" id="{EDA6DAA0-AC88-1285-8480-15AA271B6F11}"/>
              </a:ext>
            </a:extLst>
          </p:cNvPr>
          <p:cNvPicPr>
            <a:picLocks noChangeAspect="1"/>
          </p:cNvPicPr>
          <p:nvPr/>
        </p:nvPicPr>
        <p:blipFill>
          <a:blip r:embed="rId7"/>
          <a:stretch>
            <a:fillRect/>
          </a:stretch>
        </p:blipFill>
        <p:spPr>
          <a:xfrm>
            <a:off x="14128274" y="3117279"/>
            <a:ext cx="810032" cy="810032"/>
          </a:xfrm>
          <a:prstGeom prst="rect">
            <a:avLst/>
          </a:prstGeom>
        </p:spPr>
      </p:pic>
      <p:pic>
        <p:nvPicPr>
          <p:cNvPr id="48" name="Picture 47">
            <a:extLst>
              <a:ext uri="{FF2B5EF4-FFF2-40B4-BE49-F238E27FC236}">
                <a16:creationId xmlns:a16="http://schemas.microsoft.com/office/drawing/2014/main" id="{45F5363B-E029-D2E2-6D4D-FDD12025E1E8}"/>
              </a:ext>
            </a:extLst>
          </p:cNvPr>
          <p:cNvPicPr>
            <a:picLocks noChangeAspect="1"/>
          </p:cNvPicPr>
          <p:nvPr/>
        </p:nvPicPr>
        <p:blipFill>
          <a:blip r:embed="rId8"/>
          <a:stretch>
            <a:fillRect/>
          </a:stretch>
        </p:blipFill>
        <p:spPr>
          <a:xfrm>
            <a:off x="14108191" y="5893004"/>
            <a:ext cx="906315" cy="906315"/>
          </a:xfrm>
          <a:prstGeom prst="rect">
            <a:avLst/>
          </a:prstGeom>
        </p:spPr>
      </p:pic>
      <p:pic>
        <p:nvPicPr>
          <p:cNvPr id="50" name="Picture 49">
            <a:extLst>
              <a:ext uri="{FF2B5EF4-FFF2-40B4-BE49-F238E27FC236}">
                <a16:creationId xmlns:a16="http://schemas.microsoft.com/office/drawing/2014/main" id="{660170C4-B920-2F51-64CB-4996A01368D4}"/>
              </a:ext>
            </a:extLst>
          </p:cNvPr>
          <p:cNvPicPr>
            <a:picLocks noChangeAspect="1"/>
          </p:cNvPicPr>
          <p:nvPr/>
        </p:nvPicPr>
        <p:blipFill>
          <a:blip r:embed="rId9"/>
          <a:stretch>
            <a:fillRect/>
          </a:stretch>
        </p:blipFill>
        <p:spPr>
          <a:xfrm>
            <a:off x="2826035" y="2761898"/>
            <a:ext cx="955878" cy="955878"/>
          </a:xfrm>
          <a:prstGeom prst="rect">
            <a:avLst/>
          </a:prstGeom>
        </p:spPr>
      </p:pic>
      <p:pic>
        <p:nvPicPr>
          <p:cNvPr id="54" name="Picture 53">
            <a:extLst>
              <a:ext uri="{FF2B5EF4-FFF2-40B4-BE49-F238E27FC236}">
                <a16:creationId xmlns:a16="http://schemas.microsoft.com/office/drawing/2014/main" id="{EAB2C923-9C41-D2CE-3487-6BD1AF48B16F}"/>
              </a:ext>
            </a:extLst>
          </p:cNvPr>
          <p:cNvPicPr>
            <a:picLocks noChangeAspect="1"/>
          </p:cNvPicPr>
          <p:nvPr/>
        </p:nvPicPr>
        <p:blipFill>
          <a:blip r:embed="rId10"/>
          <a:stretch>
            <a:fillRect/>
          </a:stretch>
        </p:blipFill>
        <p:spPr>
          <a:xfrm>
            <a:off x="3902580" y="3133733"/>
            <a:ext cx="766665" cy="766665"/>
          </a:xfrm>
          <a:prstGeom prst="rect">
            <a:avLst/>
          </a:prstGeom>
        </p:spPr>
      </p:pic>
    </p:spTree>
    <p:extLst>
      <p:ext uri="{BB962C8B-B14F-4D97-AF65-F5344CB8AC3E}">
        <p14:creationId xmlns:p14="http://schemas.microsoft.com/office/powerpoint/2010/main" val="40592320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97" grpId="0"/>
      <p:bldP spid="5" grpId="0"/>
      <p:bldP spid="7" grpId="0" animBg="1"/>
      <p:bldP spid="8" grpId="0"/>
      <p:bldP spid="12" grpId="0" animBg="1"/>
      <p:bldP spid="15" grpId="0" animBg="1"/>
      <p:bldP spid="1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252D0-C0DB-B9B0-7D5D-B85399AF0559}"/>
            </a:ext>
          </a:extLst>
        </p:cNvPr>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EBED8692-6074-58C6-A0C0-ECFCD8DBBA1F}"/>
              </a:ext>
              <a:ext uri="{C183D7F6-B498-43B3-948B-1728B52AA6E4}">
                <adec:decorative xmlns:adec="http://schemas.microsoft.com/office/drawing/2017/decorative" val="1"/>
              </a:ext>
            </a:extLst>
          </p:cNvPr>
          <p:cNvCxnSpPr>
            <a:cxnSpLocks/>
          </p:cNvCxnSpPr>
          <p:nvPr/>
        </p:nvCxnSpPr>
        <p:spPr>
          <a:xfrm>
            <a:off x="1225113" y="5460602"/>
            <a:ext cx="16182777" cy="0"/>
          </a:xfrm>
          <a:prstGeom prst="line">
            <a:avLst/>
          </a:prstGeom>
          <a:ln w="3175">
            <a:solidFill>
              <a:schemeClr val="tx1">
                <a:lumMod val="75000"/>
              </a:schemeClr>
            </a:solidFill>
            <a:prstDash val="dashDot"/>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BC053996-8333-8F04-51C6-AA3902B3ABED}"/>
              </a:ext>
            </a:extLst>
          </p:cNvPr>
          <p:cNvSpPr>
            <a:spLocks noGrp="1"/>
          </p:cNvSpPr>
          <p:nvPr>
            <p:ph type="title"/>
          </p:nvPr>
        </p:nvSpPr>
        <p:spPr>
          <a:xfrm>
            <a:off x="880110" y="685800"/>
            <a:ext cx="16527780" cy="830997"/>
          </a:xfrm>
        </p:spPr>
        <p:txBody>
          <a:bodyPr/>
          <a:lstStyle/>
          <a:p>
            <a:pPr algn="ctr"/>
            <a:r>
              <a:rPr lang="en-US">
                <a:solidFill>
                  <a:schemeClr val="tx1"/>
                </a:solidFill>
              </a:rPr>
              <a:t>The value of a strong cloud foundation</a:t>
            </a:r>
          </a:p>
        </p:txBody>
      </p:sp>
      <p:sp>
        <p:nvSpPr>
          <p:cNvPr id="16" name="TextBox 15">
            <a:extLst>
              <a:ext uri="{FF2B5EF4-FFF2-40B4-BE49-F238E27FC236}">
                <a16:creationId xmlns:a16="http://schemas.microsoft.com/office/drawing/2014/main" id="{0F2D7156-46F9-5085-838B-CA1117BC00EC}"/>
              </a:ext>
            </a:extLst>
          </p:cNvPr>
          <p:cNvSpPr txBox="1"/>
          <p:nvPr/>
        </p:nvSpPr>
        <p:spPr>
          <a:xfrm rot="16200000">
            <a:off x="-461307" y="3731313"/>
            <a:ext cx="2234673" cy="276999"/>
          </a:xfrm>
          <a:prstGeom prst="rect">
            <a:avLst/>
          </a:prstGeom>
          <a:noFill/>
        </p:spPr>
        <p:txBody>
          <a:bodyPr wrap="square" lIns="0" tIns="0" rIns="0" bIns="0" rtlCol="0">
            <a:spAutoFit/>
          </a:bodyPr>
          <a:lstStyle/>
          <a:p>
            <a:pPr algn="ctr" defTabSz="1371551">
              <a:defRPr/>
            </a:pPr>
            <a:r>
              <a:rPr lang="en-US" i="1">
                <a:solidFill>
                  <a:srgbClr val="FFFFFF">
                    <a:lumMod val="75000"/>
                  </a:srgbClr>
                </a:solidFill>
                <a:latin typeface="Segoe Sans Text"/>
              </a:rPr>
              <a:t>Future Innovation</a:t>
            </a:r>
          </a:p>
        </p:txBody>
      </p:sp>
      <p:sp>
        <p:nvSpPr>
          <p:cNvPr id="17" name="TextBox 16">
            <a:extLst>
              <a:ext uri="{FF2B5EF4-FFF2-40B4-BE49-F238E27FC236}">
                <a16:creationId xmlns:a16="http://schemas.microsoft.com/office/drawing/2014/main" id="{7A342376-37F9-EF9D-1C12-1FA1D8624122}"/>
              </a:ext>
            </a:extLst>
          </p:cNvPr>
          <p:cNvSpPr txBox="1"/>
          <p:nvPr/>
        </p:nvSpPr>
        <p:spPr>
          <a:xfrm rot="16200000">
            <a:off x="-461307" y="7329773"/>
            <a:ext cx="2234673" cy="276999"/>
          </a:xfrm>
          <a:prstGeom prst="rect">
            <a:avLst/>
          </a:prstGeom>
          <a:noFill/>
        </p:spPr>
        <p:txBody>
          <a:bodyPr wrap="square" lIns="0" tIns="0" rIns="0" bIns="0" rtlCol="0">
            <a:spAutoFit/>
          </a:bodyPr>
          <a:lstStyle/>
          <a:p>
            <a:pPr algn="ctr" defTabSz="1371551">
              <a:defRPr/>
            </a:pPr>
            <a:r>
              <a:rPr lang="en-US" i="1">
                <a:solidFill>
                  <a:srgbClr val="FFFFFF">
                    <a:lumMod val="75000"/>
                  </a:srgbClr>
                </a:solidFill>
                <a:latin typeface="Segoe Sans Text"/>
              </a:rPr>
              <a:t>Pressing Priorities</a:t>
            </a:r>
          </a:p>
        </p:txBody>
      </p:sp>
      <p:grpSp>
        <p:nvGrpSpPr>
          <p:cNvPr id="38" name="Group 37">
            <a:extLst>
              <a:ext uri="{FF2B5EF4-FFF2-40B4-BE49-F238E27FC236}">
                <a16:creationId xmlns:a16="http://schemas.microsoft.com/office/drawing/2014/main" id="{9338C168-857D-E70A-343D-2AA87C47292E}"/>
              </a:ext>
            </a:extLst>
          </p:cNvPr>
          <p:cNvGrpSpPr/>
          <p:nvPr/>
        </p:nvGrpSpPr>
        <p:grpSpPr>
          <a:xfrm>
            <a:off x="7189210" y="2438503"/>
            <a:ext cx="4320002" cy="6960845"/>
            <a:chOff x="4667651" y="1625668"/>
            <a:chExt cx="2880001" cy="4640563"/>
          </a:xfrm>
        </p:grpSpPr>
        <p:cxnSp>
          <p:nvCxnSpPr>
            <p:cNvPr id="39" name="Straight Arrow Connector 38">
              <a:extLst>
                <a:ext uri="{FF2B5EF4-FFF2-40B4-BE49-F238E27FC236}">
                  <a16:creationId xmlns:a16="http://schemas.microsoft.com/office/drawing/2014/main" id="{045275BF-8D4E-63EE-7656-CC6A526DBAF7}"/>
                </a:ext>
              </a:extLst>
            </p:cNvPr>
            <p:cNvCxnSpPr>
              <a:cxnSpLocks/>
            </p:cNvCxnSpPr>
            <p:nvPr/>
          </p:nvCxnSpPr>
          <p:spPr>
            <a:xfrm>
              <a:off x="4667651" y="2619397"/>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cxnSp>
          <p:nvCxnSpPr>
            <p:cNvPr id="40" name="Straight Arrow Connector 39">
              <a:extLst>
                <a:ext uri="{FF2B5EF4-FFF2-40B4-BE49-F238E27FC236}">
                  <a16:creationId xmlns:a16="http://schemas.microsoft.com/office/drawing/2014/main" id="{EE585D61-6A4B-47E8-4872-D738B7E6467B}"/>
                </a:ext>
              </a:extLst>
            </p:cNvPr>
            <p:cNvCxnSpPr>
              <a:cxnSpLocks/>
            </p:cNvCxnSpPr>
            <p:nvPr/>
          </p:nvCxnSpPr>
          <p:spPr>
            <a:xfrm>
              <a:off x="4667651" y="3979627"/>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cxnSp>
          <p:nvCxnSpPr>
            <p:cNvPr id="41" name="Straight Arrow Connector 40">
              <a:extLst>
                <a:ext uri="{FF2B5EF4-FFF2-40B4-BE49-F238E27FC236}">
                  <a16:creationId xmlns:a16="http://schemas.microsoft.com/office/drawing/2014/main" id="{EC52BDC5-9D44-FD6A-EA95-8670C497954A}"/>
                </a:ext>
              </a:extLst>
            </p:cNvPr>
            <p:cNvCxnSpPr/>
            <p:nvPr/>
          </p:nvCxnSpPr>
          <p:spPr>
            <a:xfrm flipV="1">
              <a:off x="4667651" y="1937069"/>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cxnSp>
          <p:nvCxnSpPr>
            <p:cNvPr id="42" name="Straight Arrow Connector 41">
              <a:extLst>
                <a:ext uri="{FF2B5EF4-FFF2-40B4-BE49-F238E27FC236}">
                  <a16:creationId xmlns:a16="http://schemas.microsoft.com/office/drawing/2014/main" id="{9DE2FC74-7393-90E9-48FF-46D7DEF1C3F9}"/>
                </a:ext>
              </a:extLst>
            </p:cNvPr>
            <p:cNvCxnSpPr>
              <a:cxnSpLocks/>
            </p:cNvCxnSpPr>
            <p:nvPr/>
          </p:nvCxnSpPr>
          <p:spPr>
            <a:xfrm>
              <a:off x="4667651" y="3279751"/>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cxnSp>
          <p:nvCxnSpPr>
            <p:cNvPr id="44" name="Straight Arrow Connector 43">
              <a:extLst>
                <a:ext uri="{FF2B5EF4-FFF2-40B4-BE49-F238E27FC236}">
                  <a16:creationId xmlns:a16="http://schemas.microsoft.com/office/drawing/2014/main" id="{5E7821C6-D63B-DC62-45DB-87924F23B731}"/>
                </a:ext>
              </a:extLst>
            </p:cNvPr>
            <p:cNvCxnSpPr/>
            <p:nvPr/>
          </p:nvCxnSpPr>
          <p:spPr>
            <a:xfrm>
              <a:off x="4667652" y="4679503"/>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cxnSp>
          <p:nvCxnSpPr>
            <p:cNvPr id="45" name="Straight Arrow Connector 44">
              <a:extLst>
                <a:ext uri="{FF2B5EF4-FFF2-40B4-BE49-F238E27FC236}">
                  <a16:creationId xmlns:a16="http://schemas.microsoft.com/office/drawing/2014/main" id="{56ECE269-1E70-7BC8-EEB7-F088A6F76984}"/>
                </a:ext>
              </a:extLst>
            </p:cNvPr>
            <p:cNvCxnSpPr/>
            <p:nvPr/>
          </p:nvCxnSpPr>
          <p:spPr>
            <a:xfrm>
              <a:off x="4667652" y="5365094"/>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cxnSp>
          <p:nvCxnSpPr>
            <p:cNvPr id="46" name="Straight Arrow Connector 45">
              <a:extLst>
                <a:ext uri="{FF2B5EF4-FFF2-40B4-BE49-F238E27FC236}">
                  <a16:creationId xmlns:a16="http://schemas.microsoft.com/office/drawing/2014/main" id="{49068E02-CEAD-DAB4-E8F5-4E0235199A1E}"/>
                </a:ext>
              </a:extLst>
            </p:cNvPr>
            <p:cNvCxnSpPr/>
            <p:nvPr/>
          </p:nvCxnSpPr>
          <p:spPr>
            <a:xfrm>
              <a:off x="4667652" y="6094799"/>
              <a:ext cx="2880000" cy="0"/>
            </a:xfrm>
            <a:prstGeom prst="straightConnector1">
              <a:avLst/>
            </a:prstGeom>
            <a:noFill/>
            <a:ln w="19050" cap="rnd" cmpd="sng" algn="ctr">
              <a:solidFill>
                <a:srgbClr val="000000">
                  <a:lumMod val="65000"/>
                  <a:lumOff val="35000"/>
                </a:srgbClr>
              </a:solidFill>
              <a:prstDash val="solid"/>
              <a:headEnd type="none" w="lg" len="med"/>
              <a:tailEnd type="arrow" w="lg" len="sm"/>
            </a:ln>
            <a:effectLst/>
          </p:spPr>
        </p:cxnSp>
        <p:sp>
          <p:nvSpPr>
            <p:cNvPr id="47" name="Rectangle: Rounded Corners 46">
              <a:extLst>
                <a:ext uri="{FF2B5EF4-FFF2-40B4-BE49-F238E27FC236}">
                  <a16:creationId xmlns:a16="http://schemas.microsoft.com/office/drawing/2014/main" id="{55D5FAA8-45E0-5CFC-E575-7BE7967346A6}"/>
                </a:ext>
              </a:extLst>
            </p:cNvPr>
            <p:cNvSpPr/>
            <p:nvPr/>
          </p:nvSpPr>
          <p:spPr bwMode="auto">
            <a:xfrm>
              <a:off x="5044044" y="1625668"/>
              <a:ext cx="2103911" cy="4640563"/>
            </a:xfrm>
            <a:prstGeom prst="roundRect">
              <a:avLst>
                <a:gd name="adj" fmla="val 6324"/>
              </a:avLst>
            </a:prstGeom>
            <a:gradFill flip="none" rotWithShape="1">
              <a:gsLst>
                <a:gs pos="0">
                  <a:srgbClr val="49C5B1"/>
                </a:gs>
                <a:gs pos="100000">
                  <a:srgbClr val="8661C5"/>
                </a:gs>
                <a:gs pos="45000">
                  <a:srgbClr val="0078D4"/>
                </a:gs>
              </a:gsLst>
              <a:path path="circle">
                <a:fillToRect r="100000" b="100000"/>
              </a:path>
              <a:tileRect l="-100000" t="-100000"/>
            </a:gradFill>
            <a:effectLst>
              <a:outerShdw blurRad="254000" dist="38100" dir="2700000" algn="ctr" rotWithShape="0">
                <a:srgbClr val="000000">
                  <a:alpha val="20000"/>
                </a:srgbClr>
              </a:outerShdw>
            </a:effectLst>
          </p:spPr>
          <p:txBody>
            <a:bodyPr vert="horz" wrap="square" lIns="0" tIns="0" rIns="0" bIns="0" rtlCol="0" anchor="ctr">
              <a:noAutofit/>
            </a:bodyPr>
            <a:lstStyle/>
            <a:p>
              <a:pPr algn="ctr" defTabSz="1399113">
                <a:spcBef>
                  <a:spcPct val="20000"/>
                </a:spcBef>
                <a:spcAft>
                  <a:spcPts val="900"/>
                </a:spcAft>
                <a:buSzPct val="90000"/>
                <a:defRPr/>
              </a:pPr>
              <a:endParaRPr lang="en-CA" sz="2700" kern="0" err="1">
                <a:solidFill>
                  <a:srgbClr val="000000"/>
                </a:solidFill>
                <a:latin typeface="Segoe Sans Text Semibold"/>
                <a:cs typeface="Segoe UI" panose="020B0502040204020203" pitchFamily="34" charset="0"/>
              </a:endParaRPr>
            </a:p>
          </p:txBody>
        </p:sp>
        <p:pic>
          <p:nvPicPr>
            <p:cNvPr id="48" name="Picture 47" descr="A close-up of a blue object&#10;&#10;AI-generated content may be incorrect.">
              <a:extLst>
                <a:ext uri="{FF2B5EF4-FFF2-40B4-BE49-F238E27FC236}">
                  <a16:creationId xmlns:a16="http://schemas.microsoft.com/office/drawing/2014/main" id="{3D143EA6-ED1D-5ED5-D731-5BD3BFA63BB4}"/>
                </a:ext>
              </a:extLst>
            </p:cNvPr>
            <p:cNvPicPr>
              <a:picLocks noChangeAspect="1"/>
            </p:cNvPicPr>
            <p:nvPr/>
          </p:nvPicPr>
          <p:blipFill>
            <a:blip r:embed="rId3" cstate="print">
              <a:alphaModFix amt="45000"/>
              <a:extLst>
                <a:ext uri="{28A0092B-C50C-407E-A947-70E740481C1C}">
                  <a14:useLocalDpi xmlns:a14="http://schemas.microsoft.com/office/drawing/2010/main"/>
                </a:ext>
              </a:extLst>
            </a:blip>
            <a:srcRect/>
            <a:stretch/>
          </p:blipFill>
          <p:spPr>
            <a:xfrm>
              <a:off x="5044043" y="1625668"/>
              <a:ext cx="2103912" cy="4640563"/>
            </a:xfrm>
            <a:prstGeom prst="roundRect">
              <a:avLst>
                <a:gd name="adj" fmla="val 6714"/>
              </a:avLst>
            </a:prstGeom>
            <a:ln w="12700">
              <a:solidFill>
                <a:srgbClr val="FFFFFF"/>
              </a:solidFill>
            </a:ln>
          </p:spPr>
        </p:pic>
        <p:sp>
          <p:nvSpPr>
            <p:cNvPr id="49" name="Title 6">
              <a:extLst>
                <a:ext uri="{FF2B5EF4-FFF2-40B4-BE49-F238E27FC236}">
                  <a16:creationId xmlns:a16="http://schemas.microsoft.com/office/drawing/2014/main" id="{5E1A3181-A616-7519-C7ED-0E88E4A8042A}"/>
                </a:ext>
              </a:extLst>
            </p:cNvPr>
            <p:cNvSpPr txBox="1">
              <a:spLocks/>
            </p:cNvSpPr>
            <p:nvPr/>
          </p:nvSpPr>
          <p:spPr>
            <a:xfrm>
              <a:off x="5411418" y="3699729"/>
              <a:ext cx="1369162" cy="492443"/>
            </a:xfrm>
            <a:prstGeom prst="rect">
              <a:avLst/>
            </a:prstGeom>
          </p:spPr>
          <p:txBody>
            <a:bodyPr vert="horz" wrap="square" lIns="0" tIns="0" rIns="0" bIns="0" rtlCol="0" anchor="ctr" anchorCtr="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a:lstStyle>
            <a:p>
              <a:pPr algn="ctr" defTabSz="1399113">
                <a:defRPr/>
              </a:pPr>
              <a:r>
                <a:rPr lang="en-US" sz="4800" spc="-75">
                  <a:solidFill>
                    <a:srgbClr val="FFFFFF"/>
                  </a:solidFill>
                  <a:effectLst>
                    <a:outerShdw blurRad="254000" algn="ctr" rotWithShape="0">
                      <a:srgbClr val="0078D4"/>
                    </a:outerShdw>
                  </a:effectLst>
                  <a:latin typeface="Segoe Sans Text Semibold"/>
                </a:rPr>
                <a:t>Cloud</a:t>
              </a:r>
            </a:p>
          </p:txBody>
        </p:sp>
      </p:grpSp>
      <p:grpSp>
        <p:nvGrpSpPr>
          <p:cNvPr id="50" name="Group 49">
            <a:extLst>
              <a:ext uri="{FF2B5EF4-FFF2-40B4-BE49-F238E27FC236}">
                <a16:creationId xmlns:a16="http://schemas.microsoft.com/office/drawing/2014/main" id="{3BAE3AAB-5226-B7D2-6E78-00CE7EC6B510}"/>
              </a:ext>
            </a:extLst>
          </p:cNvPr>
          <p:cNvGrpSpPr/>
          <p:nvPr/>
        </p:nvGrpSpPr>
        <p:grpSpPr>
          <a:xfrm>
            <a:off x="1067843" y="1833205"/>
            <a:ext cx="5889708" cy="7951655"/>
            <a:chOff x="588263" y="1226691"/>
            <a:chExt cx="3926472" cy="5301103"/>
          </a:xfrm>
        </p:grpSpPr>
        <p:grpSp>
          <p:nvGrpSpPr>
            <p:cNvPr id="51" name="Group 50">
              <a:extLst>
                <a:ext uri="{FF2B5EF4-FFF2-40B4-BE49-F238E27FC236}">
                  <a16:creationId xmlns:a16="http://schemas.microsoft.com/office/drawing/2014/main" id="{5C97F908-417B-ADB7-25F6-EC87E85E1169}"/>
                </a:ext>
              </a:extLst>
            </p:cNvPr>
            <p:cNvGrpSpPr/>
            <p:nvPr/>
          </p:nvGrpSpPr>
          <p:grpSpPr>
            <a:xfrm>
              <a:off x="588263" y="1226691"/>
              <a:ext cx="3926472" cy="5301103"/>
              <a:chOff x="588263" y="1226692"/>
              <a:chExt cx="3926472" cy="5150522"/>
            </a:xfrm>
          </p:grpSpPr>
          <p:sp>
            <p:nvSpPr>
              <p:cNvPr id="63" name="Rectangle: Rounded Corners 62">
                <a:extLst>
                  <a:ext uri="{FF2B5EF4-FFF2-40B4-BE49-F238E27FC236}">
                    <a16:creationId xmlns:a16="http://schemas.microsoft.com/office/drawing/2014/main" id="{D046E8B2-ADD4-CD06-8B7B-3558E7214F7D}"/>
                  </a:ext>
                </a:extLst>
              </p:cNvPr>
              <p:cNvSpPr/>
              <p:nvPr/>
            </p:nvSpPr>
            <p:spPr bwMode="auto">
              <a:xfrm>
                <a:off x="588263" y="1382425"/>
                <a:ext cx="3926472" cy="4994789"/>
              </a:xfrm>
              <a:prstGeom prst="roundRect">
                <a:avLst>
                  <a:gd name="adj" fmla="val 3719"/>
                </a:avLst>
              </a:prstGeom>
              <a:no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CA" sz="3000" kern="0" err="1">
                  <a:solidFill>
                    <a:srgbClr val="FFFFFF"/>
                  </a:solidFill>
                  <a:latin typeface="Segoe Sans Text"/>
                  <a:ea typeface="Segoe UI" pitchFamily="34" charset="0"/>
                  <a:cs typeface="Segoe UI" pitchFamily="34" charset="0"/>
                </a:endParaRPr>
              </a:p>
            </p:txBody>
          </p:sp>
          <p:sp>
            <p:nvSpPr>
              <p:cNvPr id="64" name="Rectangle: Rounded Corners 63">
                <a:extLst>
                  <a:ext uri="{FF2B5EF4-FFF2-40B4-BE49-F238E27FC236}">
                    <a16:creationId xmlns:a16="http://schemas.microsoft.com/office/drawing/2014/main" id="{04C2C362-8E11-009B-5EDE-3FABC712F921}"/>
                  </a:ext>
                </a:extLst>
              </p:cNvPr>
              <p:cNvSpPr/>
              <p:nvPr/>
            </p:nvSpPr>
            <p:spPr>
              <a:xfrm>
                <a:off x="1830029" y="1226692"/>
                <a:ext cx="1442942" cy="296952"/>
              </a:xfrm>
              <a:prstGeom prst="roundRect">
                <a:avLst>
                  <a:gd name="adj" fmla="val 50000"/>
                </a:avLst>
              </a:prstGeom>
              <a:solidFill>
                <a:srgbClr val="44565F"/>
              </a:solidFill>
              <a:effectLst>
                <a:outerShdw blurRad="254000" dist="38100" dir="2700000" algn="tl" rotWithShape="0">
                  <a:prstClr val="black">
                    <a:alpha val="25000"/>
                  </a:prstClr>
                </a:outerShdw>
              </a:effectLst>
            </p:spPr>
            <p:txBody>
              <a:bodyPr vert="horz" wrap="square" lIns="0" tIns="270000" rIns="0" bIns="270000" rtlCol="0" anchor="ctr">
                <a:noAutofit/>
              </a:bodyPr>
              <a:lstStyle/>
              <a:p>
                <a:pPr algn="ctr" defTabSz="1399113">
                  <a:spcBef>
                    <a:spcPct val="20000"/>
                  </a:spcBef>
                  <a:spcAft>
                    <a:spcPts val="900"/>
                  </a:spcAft>
                  <a:buSzPct val="90000"/>
                  <a:defRPr/>
                </a:pPr>
                <a:r>
                  <a:rPr lang="en-US" sz="1650" kern="0">
                    <a:solidFill>
                      <a:srgbClr val="FFFFFF"/>
                    </a:solidFill>
                    <a:cs typeface="Segoe Sans Text" pitchFamily="2" charset="0"/>
                  </a:rPr>
                  <a:t>WITHOUT CLOUD</a:t>
                </a:r>
              </a:p>
            </p:txBody>
          </p:sp>
        </p:grpSp>
        <p:sp>
          <p:nvSpPr>
            <p:cNvPr id="53" name="Rectangle: Rounded Corners 52">
              <a:extLst>
                <a:ext uri="{FF2B5EF4-FFF2-40B4-BE49-F238E27FC236}">
                  <a16:creationId xmlns:a16="http://schemas.microsoft.com/office/drawing/2014/main" id="{FE0BF7AF-75FB-A407-D1F3-63B56FB82C76}"/>
                </a:ext>
              </a:extLst>
            </p:cNvPr>
            <p:cNvSpPr/>
            <p:nvPr/>
          </p:nvSpPr>
          <p:spPr>
            <a:xfrm>
              <a:off x="711895" y="1625669"/>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AI challenges</a:t>
              </a:r>
            </a:p>
            <a:p>
              <a:pPr algn="ctr" defTabSz="1371600">
                <a:defRPr/>
              </a:pPr>
              <a:r>
                <a:rPr lang="en-US" sz="1650" kern="0">
                  <a:solidFill>
                    <a:srgbClr val="FFFFFF"/>
                  </a:solidFill>
                  <a:cs typeface="Segoe Sans Text" pitchFamily="2" charset="0"/>
                </a:rPr>
                <a:t>Lack of access to models and compute power</a:t>
              </a:r>
            </a:p>
          </p:txBody>
        </p:sp>
        <p:sp>
          <p:nvSpPr>
            <p:cNvPr id="54" name="Rectangle: Rounded Corners 53">
              <a:extLst>
                <a:ext uri="{FF2B5EF4-FFF2-40B4-BE49-F238E27FC236}">
                  <a16:creationId xmlns:a16="http://schemas.microsoft.com/office/drawing/2014/main" id="{2044F376-65BA-EE32-5D8B-C8975CEF4C77}"/>
                </a:ext>
              </a:extLst>
            </p:cNvPr>
            <p:cNvSpPr/>
            <p:nvPr/>
          </p:nvSpPr>
          <p:spPr>
            <a:xfrm>
              <a:off x="711895" y="5867499"/>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latin typeface="Segoe Sans Text Semibold" pitchFamily="2" charset="0"/>
                  <a:cs typeface="Segoe Sans Text Semibold" pitchFamily="2" charset="0"/>
                </a:rPr>
                <a:t>High costs</a:t>
              </a:r>
            </a:p>
            <a:p>
              <a:pPr algn="ctr" defTabSz="1371600">
                <a:defRPr/>
              </a:pPr>
              <a:r>
                <a:rPr lang="en-US" sz="1650" kern="0">
                  <a:solidFill>
                    <a:srgbClr val="FFFFFF"/>
                  </a:solidFill>
                  <a:latin typeface="Segoe Sans Text"/>
                  <a:cs typeface="Segoe Sans Text" pitchFamily="2" charset="0"/>
                </a:rPr>
                <a:t>Upfront </a:t>
              </a:r>
              <a:r>
                <a:rPr lang="en-US" sz="1650" kern="0" err="1">
                  <a:solidFill>
                    <a:srgbClr val="FFFFFF"/>
                  </a:solidFill>
                  <a:latin typeface="Segoe Sans Text"/>
                  <a:cs typeface="Segoe Sans Text" pitchFamily="2" charset="0"/>
                </a:rPr>
                <a:t>CapEx</a:t>
              </a:r>
              <a:r>
                <a:rPr lang="en-US" sz="1650" kern="0">
                  <a:solidFill>
                    <a:srgbClr val="FFFFFF"/>
                  </a:solidFill>
                  <a:latin typeface="Segoe Sans Text"/>
                  <a:cs typeface="Segoe Sans Text" pitchFamily="2" charset="0"/>
                </a:rPr>
                <a:t>, underutilized resources</a:t>
              </a:r>
            </a:p>
          </p:txBody>
        </p:sp>
        <p:sp>
          <p:nvSpPr>
            <p:cNvPr id="55" name="Rectangle: Rounded Corners 54">
              <a:extLst>
                <a:ext uri="{FF2B5EF4-FFF2-40B4-BE49-F238E27FC236}">
                  <a16:creationId xmlns:a16="http://schemas.microsoft.com/office/drawing/2014/main" id="{8E9D4C7D-C0AC-8D93-8151-225E62EC1D13}"/>
                </a:ext>
              </a:extLst>
            </p:cNvPr>
            <p:cNvSpPr/>
            <p:nvPr/>
          </p:nvSpPr>
          <p:spPr>
            <a:xfrm>
              <a:off x="711895" y="4453557"/>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latin typeface="Segoe Sans Text Semibold" pitchFamily="2" charset="0"/>
                  <a:cs typeface="Segoe Sans Text Semibold" pitchFamily="2" charset="0"/>
                </a:rPr>
                <a:t>Prone to security threats</a:t>
              </a:r>
            </a:p>
            <a:p>
              <a:pPr algn="ctr" defTabSz="1371600">
                <a:defRPr/>
              </a:pPr>
              <a:r>
                <a:rPr lang="en-US" sz="1650" kern="0">
                  <a:solidFill>
                    <a:srgbClr val="FFFFFF"/>
                  </a:solidFill>
                  <a:latin typeface="Segoe Sans Text"/>
                  <a:cs typeface="Segoe Sans Text" pitchFamily="2" charset="0"/>
                </a:rPr>
                <a:t>Large attack surface area, vulnerable</a:t>
              </a:r>
            </a:p>
          </p:txBody>
        </p:sp>
        <p:sp>
          <p:nvSpPr>
            <p:cNvPr id="56" name="Rectangle: Rounded Corners 55">
              <a:extLst>
                <a:ext uri="{FF2B5EF4-FFF2-40B4-BE49-F238E27FC236}">
                  <a16:creationId xmlns:a16="http://schemas.microsoft.com/office/drawing/2014/main" id="{4A49F24A-B563-30D8-D433-707BF70CA2F2}"/>
                </a:ext>
              </a:extLst>
            </p:cNvPr>
            <p:cNvSpPr/>
            <p:nvPr/>
          </p:nvSpPr>
          <p:spPr>
            <a:xfrm>
              <a:off x="711895" y="2332641"/>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Rigid and slow</a:t>
              </a:r>
            </a:p>
            <a:p>
              <a:pPr algn="ctr" defTabSz="1371600">
                <a:defRPr/>
              </a:pPr>
              <a:r>
                <a:rPr lang="en-US" sz="1650" kern="0">
                  <a:solidFill>
                    <a:srgbClr val="FFFFFF"/>
                  </a:solidFill>
                  <a:cs typeface="Segoe Sans Text" pitchFamily="2" charset="0"/>
                </a:rPr>
                <a:t>Redundant, manual processes, lack of power</a:t>
              </a:r>
            </a:p>
          </p:txBody>
        </p:sp>
        <p:sp>
          <p:nvSpPr>
            <p:cNvPr id="57" name="Rectangle: Rounded Corners 56">
              <a:extLst>
                <a:ext uri="{FF2B5EF4-FFF2-40B4-BE49-F238E27FC236}">
                  <a16:creationId xmlns:a16="http://schemas.microsoft.com/office/drawing/2014/main" id="{65F6F969-3A98-8568-8734-F31606888592}"/>
                </a:ext>
              </a:extLst>
            </p:cNvPr>
            <p:cNvSpPr/>
            <p:nvPr/>
          </p:nvSpPr>
          <p:spPr>
            <a:xfrm>
              <a:off x="711895" y="3039613"/>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latin typeface="Segoe Sans Text Semibold" pitchFamily="2" charset="0"/>
                  <a:cs typeface="Segoe Sans Text Semibold" pitchFamily="2" charset="0"/>
                </a:rPr>
                <a:t>Legacy apps and databases</a:t>
              </a:r>
            </a:p>
            <a:p>
              <a:pPr algn="ctr" defTabSz="1371600">
                <a:defRPr/>
              </a:pPr>
              <a:r>
                <a:rPr lang="en-US" sz="1650" kern="0">
                  <a:solidFill>
                    <a:srgbClr val="FFFFFF"/>
                  </a:solidFill>
                  <a:latin typeface="Segoe Sans Text"/>
                  <a:cs typeface="Segoe Sans Text" pitchFamily="2" charset="0"/>
                </a:rPr>
                <a:t>Siloed databases, lack of integration, fragmented</a:t>
              </a:r>
            </a:p>
          </p:txBody>
        </p:sp>
        <p:sp>
          <p:nvSpPr>
            <p:cNvPr id="58" name="Rectangle: Rounded Corners 57">
              <a:extLst>
                <a:ext uri="{FF2B5EF4-FFF2-40B4-BE49-F238E27FC236}">
                  <a16:creationId xmlns:a16="http://schemas.microsoft.com/office/drawing/2014/main" id="{FD0081DD-9300-E17B-D808-8CC1949F9059}"/>
                </a:ext>
              </a:extLst>
            </p:cNvPr>
            <p:cNvSpPr/>
            <p:nvPr/>
          </p:nvSpPr>
          <p:spPr>
            <a:xfrm>
              <a:off x="711895" y="5160529"/>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latin typeface="Segoe Sans Text Semibold" pitchFamily="2" charset="0"/>
                  <a:cs typeface="Segoe Sans Text Semibold" pitchFamily="2" charset="0"/>
                </a:rPr>
                <a:t>Resource-constrained</a:t>
              </a:r>
            </a:p>
            <a:p>
              <a:pPr algn="ctr" defTabSz="1371600">
                <a:defRPr/>
              </a:pPr>
              <a:r>
                <a:rPr lang="en-US" sz="1650" kern="0">
                  <a:solidFill>
                    <a:srgbClr val="FFFFFF"/>
                  </a:solidFill>
                  <a:latin typeface="Segoe Sans Text"/>
                  <a:cs typeface="Segoe Sans Text" pitchFamily="2" charset="0"/>
                </a:rPr>
                <a:t>Upskilling, employee turnover, talent retention</a:t>
              </a:r>
            </a:p>
          </p:txBody>
        </p:sp>
        <p:sp>
          <p:nvSpPr>
            <p:cNvPr id="59" name="Rectangle: Rounded Corners 58">
              <a:extLst>
                <a:ext uri="{FF2B5EF4-FFF2-40B4-BE49-F238E27FC236}">
                  <a16:creationId xmlns:a16="http://schemas.microsoft.com/office/drawing/2014/main" id="{9E5ACE6F-A741-51CC-B2F5-E869794B6B63}"/>
                </a:ext>
              </a:extLst>
            </p:cNvPr>
            <p:cNvSpPr/>
            <p:nvPr/>
          </p:nvSpPr>
          <p:spPr>
            <a:xfrm>
              <a:off x="711895" y="3746585"/>
              <a:ext cx="3678142" cy="508660"/>
            </a:xfrm>
            <a:prstGeom prst="roundRect">
              <a:avLst>
                <a:gd name="adj" fmla="val 19842"/>
              </a:avLst>
            </a:prstGeom>
            <a:solidFill>
              <a:srgbClr val="44565F"/>
            </a:solidFill>
            <a:ln w="10795" cap="flat" cmpd="sng" algn="ctr">
              <a:noFill/>
              <a:prstDash val="solid"/>
            </a:ln>
            <a:effectLst/>
          </p:spPr>
          <p:txBody>
            <a:bodyPr tIns="54000" bIns="54000" rtlCol="0" anchor="ctr"/>
            <a:lstStyle/>
            <a:p>
              <a:pPr algn="ctr" defTabSz="1371600">
                <a:defRPr/>
              </a:pPr>
              <a:r>
                <a:rPr lang="en-US" sz="2100" b="1" kern="0">
                  <a:solidFill>
                    <a:srgbClr val="FFFFFF"/>
                  </a:solidFill>
                  <a:latin typeface="Segoe Sans Text Semibold" pitchFamily="2" charset="0"/>
                  <a:cs typeface="Segoe Sans Text Semibold" pitchFamily="2" charset="0"/>
                </a:rPr>
                <a:t>Non-compliant</a:t>
              </a:r>
            </a:p>
            <a:p>
              <a:pPr algn="ctr" defTabSz="1371600">
                <a:defRPr/>
              </a:pPr>
              <a:r>
                <a:rPr lang="en-US" sz="1650" kern="0">
                  <a:solidFill>
                    <a:srgbClr val="FFFFFF"/>
                  </a:solidFill>
                  <a:latin typeface="Segoe Sans Text"/>
                  <a:cs typeface="Segoe Sans Text" pitchFamily="2" charset="0"/>
                </a:rPr>
                <a:t>Manual reporting, data residency complexity</a:t>
              </a:r>
            </a:p>
          </p:txBody>
        </p:sp>
      </p:grpSp>
      <p:grpSp>
        <p:nvGrpSpPr>
          <p:cNvPr id="65" name="Group 64">
            <a:extLst>
              <a:ext uri="{FF2B5EF4-FFF2-40B4-BE49-F238E27FC236}">
                <a16:creationId xmlns:a16="http://schemas.microsoft.com/office/drawing/2014/main" id="{45BD4F9B-A9CD-548D-8FD6-14BE8898E442}"/>
              </a:ext>
            </a:extLst>
          </p:cNvPr>
          <p:cNvGrpSpPr/>
          <p:nvPr/>
        </p:nvGrpSpPr>
        <p:grpSpPr>
          <a:xfrm>
            <a:off x="11703633" y="1840039"/>
            <a:ext cx="5889708" cy="7944821"/>
            <a:chOff x="7677267" y="1226692"/>
            <a:chExt cx="3926472" cy="5296547"/>
          </a:xfrm>
        </p:grpSpPr>
        <p:sp>
          <p:nvSpPr>
            <p:cNvPr id="67" name="Rectangle: Rounded Corners 66">
              <a:extLst>
                <a:ext uri="{FF2B5EF4-FFF2-40B4-BE49-F238E27FC236}">
                  <a16:creationId xmlns:a16="http://schemas.microsoft.com/office/drawing/2014/main" id="{538EBA78-21CC-C798-FDC7-79E24DD0AAC3}"/>
                </a:ext>
              </a:extLst>
            </p:cNvPr>
            <p:cNvSpPr/>
            <p:nvPr/>
          </p:nvSpPr>
          <p:spPr bwMode="auto">
            <a:xfrm>
              <a:off x="7677267" y="1382425"/>
              <a:ext cx="3926472" cy="5140814"/>
            </a:xfrm>
            <a:prstGeom prst="roundRect">
              <a:avLst>
                <a:gd name="adj" fmla="val 3719"/>
              </a:avLst>
            </a:prstGeom>
            <a:noFill/>
            <a:ln w="12700" cap="flat" cmpd="sng" algn="ctr">
              <a:solidFill>
                <a:srgbClr val="FFFFFF">
                  <a:lumMod val="75000"/>
                </a:srgbClr>
              </a:solidFill>
              <a:prstDash val="solid"/>
              <a:headEnd type="none" w="med" len="med"/>
              <a:tailEnd type="none" w="med" len="med"/>
            </a:ln>
            <a:effectLst/>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CA" sz="3000" kern="0" err="1">
                <a:solidFill>
                  <a:srgbClr val="FFFFFF"/>
                </a:solidFill>
                <a:latin typeface="Segoe Sans Text"/>
                <a:ea typeface="Segoe UI" pitchFamily="34" charset="0"/>
                <a:cs typeface="Segoe UI" pitchFamily="34" charset="0"/>
              </a:endParaRPr>
            </a:p>
          </p:txBody>
        </p:sp>
        <p:sp>
          <p:nvSpPr>
            <p:cNvPr id="68" name="Rectangle: Rounded Corners 67">
              <a:extLst>
                <a:ext uri="{FF2B5EF4-FFF2-40B4-BE49-F238E27FC236}">
                  <a16:creationId xmlns:a16="http://schemas.microsoft.com/office/drawing/2014/main" id="{9DAC2A78-0A00-8CC7-E1C5-FF636D465DB4}"/>
                </a:ext>
              </a:extLst>
            </p:cNvPr>
            <p:cNvSpPr/>
            <p:nvPr/>
          </p:nvSpPr>
          <p:spPr>
            <a:xfrm>
              <a:off x="9048865" y="1226692"/>
              <a:ext cx="1183274" cy="296952"/>
            </a:xfrm>
            <a:prstGeom prst="roundRect">
              <a:avLst>
                <a:gd name="adj" fmla="val 50000"/>
              </a:avLst>
            </a:prstGeom>
            <a:solidFill>
              <a:srgbClr val="FFFFFF"/>
            </a:solidFill>
            <a:effectLst>
              <a:outerShdw blurRad="254000" dist="38100" dir="2700000" algn="tl" rotWithShape="0">
                <a:prstClr val="black">
                  <a:alpha val="25000"/>
                </a:prstClr>
              </a:outerShdw>
            </a:effectLst>
          </p:spPr>
          <p:txBody>
            <a:bodyPr vert="horz" wrap="square" lIns="0" tIns="270000" rIns="0" bIns="270000" rtlCol="0" anchor="ctr">
              <a:noAutofit/>
            </a:bodyPr>
            <a:lstStyle/>
            <a:p>
              <a:pPr algn="ctr" defTabSz="1399113">
                <a:spcBef>
                  <a:spcPct val="20000"/>
                </a:spcBef>
                <a:spcAft>
                  <a:spcPts val="900"/>
                </a:spcAft>
                <a:buSzPct val="90000"/>
                <a:defRPr/>
              </a:pPr>
              <a:r>
                <a:rPr lang="en-US" sz="1650" kern="0">
                  <a:solidFill>
                    <a:srgbClr val="000000"/>
                  </a:solidFill>
                  <a:cs typeface="Segoe Sans Text" pitchFamily="2" charset="0"/>
                </a:rPr>
                <a:t>WITH CLOUD</a:t>
              </a:r>
            </a:p>
          </p:txBody>
        </p:sp>
        <p:sp>
          <p:nvSpPr>
            <p:cNvPr id="69" name="Rectangle: Rounded Corners 68">
              <a:extLst>
                <a:ext uri="{FF2B5EF4-FFF2-40B4-BE49-F238E27FC236}">
                  <a16:creationId xmlns:a16="http://schemas.microsoft.com/office/drawing/2014/main" id="{262D57EE-0798-AEBC-E985-51DD9FDDD2E8}"/>
                </a:ext>
              </a:extLst>
            </p:cNvPr>
            <p:cNvSpPr/>
            <p:nvPr/>
          </p:nvSpPr>
          <p:spPr>
            <a:xfrm>
              <a:off x="7801963" y="1625669"/>
              <a:ext cx="3678142" cy="508660"/>
            </a:xfrm>
            <a:prstGeom prst="roundRect">
              <a:avLst>
                <a:gd name="adj" fmla="val 19842"/>
              </a:avLst>
            </a:prstGeom>
            <a:gradFill>
              <a:gsLst>
                <a:gs pos="8000">
                  <a:srgbClr val="047CD2"/>
                </a:gs>
                <a:gs pos="100000">
                  <a:srgbClr val="49C5B1"/>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AI-ready</a:t>
              </a:r>
            </a:p>
            <a:p>
              <a:pPr algn="ctr" defTabSz="1371600">
                <a:defRPr/>
              </a:pPr>
              <a:r>
                <a:rPr lang="en-US" sz="1650" kern="0">
                  <a:solidFill>
                    <a:srgbClr val="FFFFFF"/>
                  </a:solidFill>
                  <a:cs typeface="Segoe Sans Text" pitchFamily="2" charset="0"/>
                </a:rPr>
                <a:t>Wide access to models, powerful compute for scale</a:t>
              </a:r>
            </a:p>
          </p:txBody>
        </p:sp>
        <p:sp>
          <p:nvSpPr>
            <p:cNvPr id="70" name="Rectangle: Rounded Corners 69">
              <a:extLst>
                <a:ext uri="{FF2B5EF4-FFF2-40B4-BE49-F238E27FC236}">
                  <a16:creationId xmlns:a16="http://schemas.microsoft.com/office/drawing/2014/main" id="{38C0CF9C-5269-67CB-858F-DD27A2B295FE}"/>
                </a:ext>
              </a:extLst>
            </p:cNvPr>
            <p:cNvSpPr/>
            <p:nvPr/>
          </p:nvSpPr>
          <p:spPr>
            <a:xfrm>
              <a:off x="7801963" y="5824922"/>
              <a:ext cx="3678142" cy="508660"/>
            </a:xfrm>
            <a:prstGeom prst="roundRect">
              <a:avLst>
                <a:gd name="adj" fmla="val 19842"/>
              </a:avLst>
            </a:prstGeom>
            <a:gradFill>
              <a:gsLst>
                <a:gs pos="100000">
                  <a:srgbClr val="49C5B1"/>
                </a:gs>
                <a:gs pos="8000">
                  <a:srgbClr val="0078D4"/>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Financial efficiency</a:t>
              </a:r>
            </a:p>
            <a:p>
              <a:pPr algn="ctr" defTabSz="1371600">
                <a:defRPr/>
              </a:pPr>
              <a:r>
                <a:rPr lang="en-US" sz="1650" kern="0">
                  <a:solidFill>
                    <a:srgbClr val="FFFFFF"/>
                  </a:solidFill>
                  <a:cs typeface="Segoe Sans Text" pitchFamily="2" charset="0"/>
                </a:rPr>
                <a:t>Only pay for what you use</a:t>
              </a:r>
            </a:p>
          </p:txBody>
        </p:sp>
        <p:sp>
          <p:nvSpPr>
            <p:cNvPr id="71" name="Rectangle: Rounded Corners 70">
              <a:extLst>
                <a:ext uri="{FF2B5EF4-FFF2-40B4-BE49-F238E27FC236}">
                  <a16:creationId xmlns:a16="http://schemas.microsoft.com/office/drawing/2014/main" id="{2B0113DF-AAF4-8EAF-7131-320E4EF1DEC9}"/>
                </a:ext>
              </a:extLst>
            </p:cNvPr>
            <p:cNvSpPr/>
            <p:nvPr/>
          </p:nvSpPr>
          <p:spPr>
            <a:xfrm>
              <a:off x="7801963" y="4425173"/>
              <a:ext cx="3678142" cy="508660"/>
            </a:xfrm>
            <a:prstGeom prst="roundRect">
              <a:avLst>
                <a:gd name="adj" fmla="val 19842"/>
              </a:avLst>
            </a:prstGeom>
            <a:gradFill>
              <a:gsLst>
                <a:gs pos="100000">
                  <a:srgbClr val="49C5B1"/>
                </a:gs>
                <a:gs pos="8000">
                  <a:srgbClr val="0078D4"/>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Protected</a:t>
              </a:r>
            </a:p>
            <a:p>
              <a:pPr algn="ctr" defTabSz="1371600">
                <a:defRPr/>
              </a:pPr>
              <a:r>
                <a:rPr lang="en-US" sz="1650" kern="0">
                  <a:solidFill>
                    <a:srgbClr val="FFFFFF"/>
                  </a:solidFill>
                  <a:cs typeface="Segoe Sans Text" pitchFamily="2" charset="0"/>
                </a:rPr>
                <a:t>Continuous visibility, threat detection, resiliency</a:t>
              </a:r>
            </a:p>
          </p:txBody>
        </p:sp>
        <p:sp>
          <p:nvSpPr>
            <p:cNvPr id="78" name="Rectangle: Rounded Corners 77">
              <a:extLst>
                <a:ext uri="{FF2B5EF4-FFF2-40B4-BE49-F238E27FC236}">
                  <a16:creationId xmlns:a16="http://schemas.microsoft.com/office/drawing/2014/main" id="{9A03198F-21D9-655F-985C-3FA43701E68D}"/>
                </a:ext>
              </a:extLst>
            </p:cNvPr>
            <p:cNvSpPr/>
            <p:nvPr/>
          </p:nvSpPr>
          <p:spPr>
            <a:xfrm>
              <a:off x="7801963" y="2325545"/>
              <a:ext cx="3678142" cy="508660"/>
            </a:xfrm>
            <a:prstGeom prst="roundRect">
              <a:avLst>
                <a:gd name="adj" fmla="val 19842"/>
              </a:avLst>
            </a:prstGeom>
            <a:gradFill>
              <a:gsLst>
                <a:gs pos="100000">
                  <a:srgbClr val="49C5B1"/>
                </a:gs>
                <a:gs pos="8000">
                  <a:srgbClr val="0078D4"/>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Agility</a:t>
              </a:r>
            </a:p>
            <a:p>
              <a:pPr algn="ctr" defTabSz="1371600">
                <a:defRPr/>
              </a:pPr>
              <a:r>
                <a:rPr lang="en-US" sz="1650" kern="0">
                  <a:solidFill>
                    <a:srgbClr val="FFFFFF"/>
                  </a:solidFill>
                  <a:cs typeface="Segoe Sans Text" pitchFamily="2" charset="0"/>
                </a:rPr>
                <a:t>Deploy, build, scale, integrate fast</a:t>
              </a:r>
            </a:p>
          </p:txBody>
        </p:sp>
        <p:sp>
          <p:nvSpPr>
            <p:cNvPr id="79" name="Rectangle: Rounded Corners 78">
              <a:extLst>
                <a:ext uri="{FF2B5EF4-FFF2-40B4-BE49-F238E27FC236}">
                  <a16:creationId xmlns:a16="http://schemas.microsoft.com/office/drawing/2014/main" id="{A8765A69-4D43-32E1-F508-6E445A54B80D}"/>
                </a:ext>
              </a:extLst>
            </p:cNvPr>
            <p:cNvSpPr/>
            <p:nvPr/>
          </p:nvSpPr>
          <p:spPr>
            <a:xfrm>
              <a:off x="7801963" y="3025421"/>
              <a:ext cx="3678142" cy="508660"/>
            </a:xfrm>
            <a:prstGeom prst="roundRect">
              <a:avLst>
                <a:gd name="adj" fmla="val 19842"/>
              </a:avLst>
            </a:prstGeom>
            <a:gradFill>
              <a:gsLst>
                <a:gs pos="100000">
                  <a:srgbClr val="49C5B1"/>
                </a:gs>
                <a:gs pos="8000">
                  <a:srgbClr val="0078D4"/>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Cloud-native</a:t>
              </a:r>
            </a:p>
            <a:p>
              <a:pPr algn="ctr" defTabSz="1371600">
                <a:defRPr/>
              </a:pPr>
              <a:r>
                <a:rPr lang="en-US" sz="1650" kern="0">
                  <a:solidFill>
                    <a:srgbClr val="FFFFFF"/>
                  </a:solidFill>
                  <a:cs typeface="Segoe Sans Text" pitchFamily="2" charset="0"/>
                </a:rPr>
                <a:t>Managed services, unified databases</a:t>
              </a:r>
            </a:p>
          </p:txBody>
        </p:sp>
        <p:sp>
          <p:nvSpPr>
            <p:cNvPr id="80" name="Rectangle: Rounded Corners 79">
              <a:extLst>
                <a:ext uri="{FF2B5EF4-FFF2-40B4-BE49-F238E27FC236}">
                  <a16:creationId xmlns:a16="http://schemas.microsoft.com/office/drawing/2014/main" id="{0351D3AD-50BE-09BE-4D0A-DC6458DE5467}"/>
                </a:ext>
              </a:extLst>
            </p:cNvPr>
            <p:cNvSpPr/>
            <p:nvPr/>
          </p:nvSpPr>
          <p:spPr>
            <a:xfrm>
              <a:off x="7801963" y="5125048"/>
              <a:ext cx="3678142" cy="508660"/>
            </a:xfrm>
            <a:prstGeom prst="roundRect">
              <a:avLst>
                <a:gd name="adj" fmla="val 19842"/>
              </a:avLst>
            </a:prstGeom>
            <a:gradFill>
              <a:gsLst>
                <a:gs pos="100000">
                  <a:srgbClr val="49C5B1"/>
                </a:gs>
                <a:gs pos="8000">
                  <a:srgbClr val="0078D4"/>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Optimized resources</a:t>
              </a:r>
            </a:p>
            <a:p>
              <a:pPr algn="ctr" defTabSz="1371600">
                <a:defRPr/>
              </a:pPr>
              <a:r>
                <a:rPr lang="en-US" sz="1650" kern="0">
                  <a:solidFill>
                    <a:srgbClr val="FFFFFF"/>
                  </a:solidFill>
                  <a:cs typeface="Segoe Sans Text" pitchFamily="2" charset="0"/>
                </a:rPr>
                <a:t>Maximize skills, seamless collaboration</a:t>
              </a:r>
            </a:p>
          </p:txBody>
        </p:sp>
        <p:sp>
          <p:nvSpPr>
            <p:cNvPr id="81" name="Rectangle: Rounded Corners 80">
              <a:extLst>
                <a:ext uri="{FF2B5EF4-FFF2-40B4-BE49-F238E27FC236}">
                  <a16:creationId xmlns:a16="http://schemas.microsoft.com/office/drawing/2014/main" id="{97EE3AF4-C350-A85C-D446-AACE38DF470D}"/>
                </a:ext>
              </a:extLst>
            </p:cNvPr>
            <p:cNvSpPr/>
            <p:nvPr/>
          </p:nvSpPr>
          <p:spPr>
            <a:xfrm>
              <a:off x="7801963" y="3725297"/>
              <a:ext cx="3678142" cy="508660"/>
            </a:xfrm>
            <a:prstGeom prst="roundRect">
              <a:avLst>
                <a:gd name="adj" fmla="val 19842"/>
              </a:avLst>
            </a:prstGeom>
            <a:gradFill>
              <a:gsLst>
                <a:gs pos="100000">
                  <a:srgbClr val="49C5B1"/>
                </a:gs>
                <a:gs pos="8000">
                  <a:srgbClr val="0078D4"/>
                </a:gs>
              </a:gsLst>
              <a:lin ang="2700000" scaled="1"/>
            </a:gradFill>
            <a:ln w="10795" cap="flat" cmpd="sng" algn="ctr">
              <a:noFill/>
              <a:prstDash val="solid"/>
            </a:ln>
            <a:effectLst/>
          </p:spPr>
          <p:txBody>
            <a:bodyPr tIns="54000" bIns="54000" rtlCol="0" anchor="ctr"/>
            <a:lstStyle/>
            <a:p>
              <a:pPr algn="ctr" defTabSz="1371600">
                <a:defRPr/>
              </a:pPr>
              <a:r>
                <a:rPr lang="en-US" sz="2100" b="1" kern="0">
                  <a:solidFill>
                    <a:srgbClr val="FFFFFF"/>
                  </a:solidFill>
                  <a:cs typeface="Segoe Sans Text Semibold" pitchFamily="2" charset="0"/>
                </a:rPr>
                <a:t>Sovereign and compliance</a:t>
              </a:r>
            </a:p>
            <a:p>
              <a:pPr algn="ctr" defTabSz="1371600">
                <a:defRPr/>
              </a:pPr>
              <a:r>
                <a:rPr lang="en-US" sz="1650" kern="0">
                  <a:solidFill>
                    <a:srgbClr val="FFFFFF"/>
                  </a:solidFill>
                  <a:cs typeface="Segoe Sans Text" pitchFamily="2" charset="0"/>
                </a:rPr>
                <a:t>Keep up with local and global regulations</a:t>
              </a:r>
            </a:p>
          </p:txBody>
        </p:sp>
      </p:grpSp>
    </p:spTree>
    <p:extLst>
      <p:ext uri="{BB962C8B-B14F-4D97-AF65-F5344CB8AC3E}">
        <p14:creationId xmlns:p14="http://schemas.microsoft.com/office/powerpoint/2010/main" val="3470711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0"/>
                                  </p:stCondLst>
                                  <p:childTnLst>
                                    <p:animMotion origin="layout" path="M -1.25E-6 4.44444E-6 L -1.25E-6 0.03541 " pathEditMode="relative" rAng="0" ptsTypes="AA">
                                      <p:cBhvr>
                                        <p:cTn id="9" dur="700" spd="-100000" fill="hold"/>
                                        <p:tgtEl>
                                          <p:spTgt spid="3"/>
                                        </p:tgtEl>
                                        <p:attrNameLst>
                                          <p:attrName>ppt_x</p:attrName>
                                          <p:attrName>ppt_y</p:attrName>
                                        </p:attrNameLst>
                                      </p:cBhvr>
                                      <p:rCtr x="0" y="1782"/>
                                    </p:animMotion>
                                  </p:childTnLst>
                                </p:cTn>
                              </p:par>
                              <p:par>
                                <p:cTn id="10" presetID="10" presetClass="entr" presetSubtype="0" fill="hold" nodeType="withEffect">
                                  <p:stCondLst>
                                    <p:cond delay="20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42" presetClass="path" presetSubtype="0" decel="50000" fill="hold" nodeType="withEffect">
                                  <p:stCondLst>
                                    <p:cond delay="200"/>
                                  </p:stCondLst>
                                  <p:childTnLst>
                                    <p:animMotion origin="layout" path="M -0.01745 0.00093 L 0.00091 0.00093 " pathEditMode="relative" rAng="0" ptsTypes="AA">
                                      <p:cBhvr>
                                        <p:cTn id="14" dur="500" fill="hold"/>
                                        <p:tgtEl>
                                          <p:spTgt spid="38"/>
                                        </p:tgtEl>
                                        <p:attrNameLst>
                                          <p:attrName>ppt_x</p:attrName>
                                          <p:attrName>ppt_y</p:attrName>
                                        </p:attrNameLst>
                                      </p:cBhvr>
                                      <p:rCtr x="911" y="0"/>
                                    </p:animMotion>
                                  </p:childTnLst>
                                </p:cTn>
                              </p:par>
                              <p:par>
                                <p:cTn id="15" presetID="10"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par>
                                <p:cTn id="18" presetID="42" presetClass="path" presetSubtype="0" decel="100000" fill="hold" nodeType="withEffect">
                                  <p:stCondLst>
                                    <p:cond delay="0"/>
                                  </p:stCondLst>
                                  <p:childTnLst>
                                    <p:animMotion origin="layout" path="M -1.25E-6 4.44444E-6 L -1.25E-6 0.03541 " pathEditMode="relative" rAng="0" ptsTypes="AA">
                                      <p:cBhvr>
                                        <p:cTn id="19" dur="700" spd="-100000" fill="hold"/>
                                        <p:tgtEl>
                                          <p:spTgt spid="50"/>
                                        </p:tgtEl>
                                        <p:attrNameLst>
                                          <p:attrName>ppt_x</p:attrName>
                                          <p:attrName>ppt_y</p:attrName>
                                        </p:attrNameLst>
                                      </p:cBhvr>
                                      <p:rCtr x="0" y="1782"/>
                                    </p:animMotion>
                                  </p:childTnLst>
                                </p:cTn>
                              </p:par>
                              <p:par>
                                <p:cTn id="20" presetID="10" presetClass="entr" presetSubtype="0" fill="hold" nodeType="with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par>
                                <p:cTn id="23" presetID="42" presetClass="path" presetSubtype="0" decel="100000" fill="hold" nodeType="withEffect">
                                  <p:stCondLst>
                                    <p:cond delay="0"/>
                                  </p:stCondLst>
                                  <p:childTnLst>
                                    <p:animMotion origin="layout" path="M -1.25E-6 4.44444E-6 L -1.25E-6 0.03541 " pathEditMode="relative" rAng="0" ptsTypes="AA">
                                      <p:cBhvr>
                                        <p:cTn id="24" dur="700" spd="-100000" fill="hold"/>
                                        <p:tgtEl>
                                          <p:spTgt spid="65"/>
                                        </p:tgtEl>
                                        <p:attrNameLst>
                                          <p:attrName>ppt_x</p:attrName>
                                          <p:attrName>ppt_y</p:attrName>
                                        </p:attrNameLst>
                                      </p:cBhvr>
                                      <p:rCtr x="0" y="1782"/>
                                    </p:animMotion>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42" presetClass="path" presetSubtype="0" decel="100000" fill="hold" grpId="1" nodeType="withEffect">
                                  <p:stCondLst>
                                    <p:cond delay="0"/>
                                  </p:stCondLst>
                                  <p:childTnLst>
                                    <p:animMotion origin="layout" path="M -1.25E-6 4.44444E-6 L -1.25E-6 0.03541 " pathEditMode="relative" rAng="0" ptsTypes="AA">
                                      <p:cBhvr>
                                        <p:cTn id="29" dur="700" spd="-100000" fill="hold"/>
                                        <p:tgtEl>
                                          <p:spTgt spid="16"/>
                                        </p:tgtEl>
                                        <p:attrNameLst>
                                          <p:attrName>ppt_x</p:attrName>
                                          <p:attrName>ppt_y</p:attrName>
                                        </p:attrNameLst>
                                      </p:cBhvr>
                                      <p:rCtr x="0" y="1782"/>
                                    </p:animMotion>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42" presetClass="path" presetSubtype="0" decel="100000" fill="hold" grpId="1" nodeType="withEffect">
                                  <p:stCondLst>
                                    <p:cond delay="0"/>
                                  </p:stCondLst>
                                  <p:childTnLst>
                                    <p:animMotion origin="layout" path="M -1.25E-6 4.44444E-6 L -1.25E-6 0.03541 " pathEditMode="relative" rAng="0" ptsTypes="AA">
                                      <p:cBhvr>
                                        <p:cTn id="34" dur="700" spd="-100000" fill="hold"/>
                                        <p:tgtEl>
                                          <p:spTgt spid="17"/>
                                        </p:tgtEl>
                                        <p:attrNameLst>
                                          <p:attrName>ppt_x</p:attrName>
                                          <p:attrName>ppt_y</p:attrName>
                                        </p:attrNameLst>
                                      </p:cBhvr>
                                      <p:rCtr x="0" y="1782"/>
                                    </p:animMotion>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42" presetClass="path" presetSubtype="0" decel="100000" fill="hold" nodeType="withEffect">
                                  <p:stCondLst>
                                    <p:cond delay="0"/>
                                  </p:stCondLst>
                                  <p:childTnLst>
                                    <p:animMotion origin="layout" path="M -1.25E-6 4.44444E-6 L -1.25E-6 0.03541 " pathEditMode="relative" rAng="0" ptsTypes="AA">
                                      <p:cBhvr>
                                        <p:cTn id="39" dur="700" spd="-100000" fill="hold"/>
                                        <p:tgtEl>
                                          <p:spTgt spid="15"/>
                                        </p:tgtEl>
                                        <p:attrNameLst>
                                          <p:attrName>ppt_x</p:attrName>
                                          <p:attrName>ppt_y</p:attrName>
                                        </p:attrNameLst>
                                      </p:cBhvr>
                                      <p:rCtr x="0" y="178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6" grpId="0"/>
      <p:bldP spid="16" grpId="1"/>
      <p:bldP spid="17" grpId="0"/>
      <p:bldP spid="1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AA86-1F80-278A-B666-6D2C29C68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611CD-A5AA-948B-9FBB-98D67442CC42}"/>
              </a:ext>
            </a:extLst>
          </p:cNvPr>
          <p:cNvSpPr>
            <a:spLocks noGrp="1"/>
          </p:cNvSpPr>
          <p:nvPr>
            <p:ph type="title"/>
          </p:nvPr>
        </p:nvSpPr>
        <p:spPr>
          <a:xfrm>
            <a:off x="2862069" y="685800"/>
            <a:ext cx="12568431" cy="830997"/>
          </a:xfrm>
        </p:spPr>
        <p:txBody>
          <a:bodyPr/>
          <a:lstStyle/>
          <a:p>
            <a:pPr algn="ctr"/>
            <a:r>
              <a:rPr lang="en-US">
                <a:solidFill>
                  <a:schemeClr val="bg1"/>
                </a:solidFill>
              </a:rPr>
              <a:t>Why migrate and modernize with Azure?</a:t>
            </a:r>
          </a:p>
        </p:txBody>
      </p:sp>
      <p:sp>
        <p:nvSpPr>
          <p:cNvPr id="118" name="Rounded Rectangle 14">
            <a:extLst>
              <a:ext uri="{FF2B5EF4-FFF2-40B4-BE49-F238E27FC236}">
                <a16:creationId xmlns:a16="http://schemas.microsoft.com/office/drawing/2014/main" id="{89616205-E11F-DCE5-9485-310C221EC3D7}"/>
              </a:ext>
            </a:extLst>
          </p:cNvPr>
          <p:cNvSpPr/>
          <p:nvPr/>
        </p:nvSpPr>
        <p:spPr bwMode="auto">
          <a:xfrm>
            <a:off x="882395" y="3659612"/>
            <a:ext cx="3988628" cy="5676900"/>
          </a:xfrm>
          <a:prstGeom prst="roundRect">
            <a:avLst>
              <a:gd name="adj" fmla="val 5687"/>
            </a:avLst>
          </a:prstGeom>
          <a:solidFill>
            <a:srgbClr val="3A4C56"/>
          </a:solidFill>
          <a:ln w="19050" cap="rnd">
            <a:noFill/>
            <a:headEnd type="none" w="lg" len="med"/>
            <a:tailEnd type="arrow" w="lg"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400" err="1">
              <a:solidFill>
                <a:srgbClr val="FFFFFF"/>
              </a:solidFill>
              <a:latin typeface="Segoe Sans Text"/>
              <a:cs typeface="Segoe UI" pitchFamily="34" charset="0"/>
            </a:endParaRPr>
          </a:p>
        </p:txBody>
      </p:sp>
      <p:sp>
        <p:nvSpPr>
          <p:cNvPr id="119" name="Rounded Rectangle 15">
            <a:extLst>
              <a:ext uri="{FF2B5EF4-FFF2-40B4-BE49-F238E27FC236}">
                <a16:creationId xmlns:a16="http://schemas.microsoft.com/office/drawing/2014/main" id="{6058ADAD-BBA8-37EA-F0DA-000DD40063DB}"/>
              </a:ext>
            </a:extLst>
          </p:cNvPr>
          <p:cNvSpPr/>
          <p:nvPr/>
        </p:nvSpPr>
        <p:spPr bwMode="auto">
          <a:xfrm>
            <a:off x="4990907" y="3636263"/>
            <a:ext cx="3988628" cy="5676900"/>
          </a:xfrm>
          <a:prstGeom prst="roundRect">
            <a:avLst>
              <a:gd name="adj" fmla="val 5687"/>
            </a:avLst>
          </a:prstGeom>
          <a:solidFill>
            <a:srgbClr val="3A4C56"/>
          </a:solidFill>
          <a:ln w="19050" cap="rnd">
            <a:noFill/>
            <a:headEnd type="none" w="lg" len="med"/>
            <a:tailEnd type="arrow" w="lg"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400" err="1">
              <a:solidFill>
                <a:srgbClr val="FFFFFF"/>
              </a:solidFill>
              <a:latin typeface="Segoe Sans Text"/>
              <a:cs typeface="Segoe UI" pitchFamily="34" charset="0"/>
            </a:endParaRPr>
          </a:p>
        </p:txBody>
      </p:sp>
      <p:sp>
        <p:nvSpPr>
          <p:cNvPr id="120" name="Rounded Rectangle 16">
            <a:extLst>
              <a:ext uri="{FF2B5EF4-FFF2-40B4-BE49-F238E27FC236}">
                <a16:creationId xmlns:a16="http://schemas.microsoft.com/office/drawing/2014/main" id="{E084785B-087A-B5D1-3904-C6C9F39D90AE}"/>
              </a:ext>
            </a:extLst>
          </p:cNvPr>
          <p:cNvSpPr/>
          <p:nvPr/>
        </p:nvSpPr>
        <p:spPr bwMode="auto">
          <a:xfrm>
            <a:off x="9237935" y="3645398"/>
            <a:ext cx="3988628" cy="5676900"/>
          </a:xfrm>
          <a:prstGeom prst="roundRect">
            <a:avLst>
              <a:gd name="adj" fmla="val 5687"/>
            </a:avLst>
          </a:prstGeom>
          <a:solidFill>
            <a:srgbClr val="3A4C56"/>
          </a:solidFill>
          <a:ln w="19050" cap="rnd">
            <a:noFill/>
            <a:headEnd type="none" w="lg" len="med"/>
            <a:tailEnd type="arrow" w="lg"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400" err="1">
              <a:solidFill>
                <a:srgbClr val="FFFFFF"/>
              </a:solidFill>
              <a:latin typeface="Segoe Sans Text"/>
              <a:cs typeface="Segoe UI" pitchFamily="34" charset="0"/>
            </a:endParaRPr>
          </a:p>
        </p:txBody>
      </p:sp>
      <p:sp>
        <p:nvSpPr>
          <p:cNvPr id="121" name="Rounded Rectangle 18">
            <a:extLst>
              <a:ext uri="{FF2B5EF4-FFF2-40B4-BE49-F238E27FC236}">
                <a16:creationId xmlns:a16="http://schemas.microsoft.com/office/drawing/2014/main" id="{2548A0B9-38C0-6E41-01D8-FEB06AD23E1B}"/>
              </a:ext>
            </a:extLst>
          </p:cNvPr>
          <p:cNvSpPr/>
          <p:nvPr/>
        </p:nvSpPr>
        <p:spPr bwMode="auto">
          <a:xfrm>
            <a:off x="13421548" y="3659612"/>
            <a:ext cx="3988628" cy="5676900"/>
          </a:xfrm>
          <a:prstGeom prst="roundRect">
            <a:avLst>
              <a:gd name="adj" fmla="val 5687"/>
            </a:avLst>
          </a:prstGeom>
          <a:solidFill>
            <a:srgbClr val="3A4C56"/>
          </a:solidFill>
          <a:ln w="19050" cap="rnd">
            <a:noFill/>
            <a:headEnd type="none" w="lg" len="med"/>
            <a:tailEnd type="arrow" w="lg"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400" err="1">
              <a:solidFill>
                <a:srgbClr val="FFFFFF"/>
              </a:solidFill>
              <a:latin typeface="Segoe Sans Text"/>
              <a:cs typeface="Segoe UI" pitchFamily="34" charset="0"/>
            </a:endParaRPr>
          </a:p>
        </p:txBody>
      </p:sp>
      <p:sp>
        <p:nvSpPr>
          <p:cNvPr id="122" name="TextBox 121">
            <a:extLst>
              <a:ext uri="{FF2B5EF4-FFF2-40B4-BE49-F238E27FC236}">
                <a16:creationId xmlns:a16="http://schemas.microsoft.com/office/drawing/2014/main" id="{9309ABB6-FAEA-3BA2-1DBE-23857B67394A}"/>
              </a:ext>
            </a:extLst>
          </p:cNvPr>
          <p:cNvSpPr txBox="1"/>
          <p:nvPr/>
        </p:nvSpPr>
        <p:spPr>
          <a:xfrm>
            <a:off x="1243146" y="5522046"/>
            <a:ext cx="3429000" cy="110799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1398674">
              <a:spcBef>
                <a:spcPts val="300"/>
              </a:spcBef>
              <a:defRPr/>
            </a:pPr>
            <a:r>
              <a:rPr lang="en-US">
                <a:solidFill>
                  <a:srgbClr val="FFFFFF"/>
                </a:solidFill>
              </a:rPr>
              <a:t>Grow and adapt quickly with AI-powered solutions</a:t>
            </a:r>
          </a:p>
        </p:txBody>
      </p:sp>
      <p:sp>
        <p:nvSpPr>
          <p:cNvPr id="123" name="TextBox 122">
            <a:extLst>
              <a:ext uri="{FF2B5EF4-FFF2-40B4-BE49-F238E27FC236}">
                <a16:creationId xmlns:a16="http://schemas.microsoft.com/office/drawing/2014/main" id="{C36EE5DA-34CE-1C87-3291-6CF5661DAE2A}"/>
              </a:ext>
            </a:extLst>
          </p:cNvPr>
          <p:cNvSpPr txBox="1"/>
          <p:nvPr/>
        </p:nvSpPr>
        <p:spPr>
          <a:xfrm>
            <a:off x="5422863" y="5522046"/>
            <a:ext cx="3429000" cy="738664"/>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1398674">
              <a:spcBef>
                <a:spcPts val="300"/>
              </a:spcBef>
              <a:defRPr/>
            </a:pPr>
            <a:r>
              <a:rPr lang="en-US">
                <a:solidFill>
                  <a:srgbClr val="FFFFFF"/>
                </a:solidFill>
              </a:rPr>
              <a:t>Streamline your data for smarter AI</a:t>
            </a:r>
          </a:p>
        </p:txBody>
      </p:sp>
      <p:sp>
        <p:nvSpPr>
          <p:cNvPr id="124" name="TextBox 123">
            <a:extLst>
              <a:ext uri="{FF2B5EF4-FFF2-40B4-BE49-F238E27FC236}">
                <a16:creationId xmlns:a16="http://schemas.microsoft.com/office/drawing/2014/main" id="{74E35FBE-19B9-749F-7A3A-F0AF83FE1527}"/>
              </a:ext>
            </a:extLst>
          </p:cNvPr>
          <p:cNvSpPr txBox="1"/>
          <p:nvPr/>
        </p:nvSpPr>
        <p:spPr>
          <a:xfrm>
            <a:off x="9602579" y="5366717"/>
            <a:ext cx="3139505" cy="110799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1398674">
              <a:spcBef>
                <a:spcPts val="300"/>
              </a:spcBef>
              <a:defRPr/>
            </a:pPr>
            <a:r>
              <a:rPr lang="en-US">
                <a:solidFill>
                  <a:srgbClr val="FFFFFF"/>
                </a:solidFill>
              </a:rPr>
              <a:t>Maximize your security and compliance</a:t>
            </a:r>
          </a:p>
        </p:txBody>
      </p:sp>
      <p:sp>
        <p:nvSpPr>
          <p:cNvPr id="125" name="TextBox 124">
            <a:extLst>
              <a:ext uri="{FF2B5EF4-FFF2-40B4-BE49-F238E27FC236}">
                <a16:creationId xmlns:a16="http://schemas.microsoft.com/office/drawing/2014/main" id="{CB77B1B4-F5CC-4ED6-46D4-4BD451BE271D}"/>
              </a:ext>
            </a:extLst>
          </p:cNvPr>
          <p:cNvSpPr txBox="1"/>
          <p:nvPr/>
        </p:nvSpPr>
        <p:spPr>
          <a:xfrm>
            <a:off x="13696688" y="5522046"/>
            <a:ext cx="3429000" cy="110799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defTabSz="1398674">
              <a:spcBef>
                <a:spcPts val="300"/>
              </a:spcBef>
              <a:defRPr/>
            </a:pPr>
            <a:r>
              <a:rPr lang="en-US">
                <a:solidFill>
                  <a:srgbClr val="FFFFFF"/>
                </a:solidFill>
              </a:rPr>
              <a:t>Modernize with Azure for performance and efficiency</a:t>
            </a:r>
          </a:p>
        </p:txBody>
      </p:sp>
      <p:sp>
        <p:nvSpPr>
          <p:cNvPr id="126" name="Oval 125">
            <a:extLst>
              <a:ext uri="{FF2B5EF4-FFF2-40B4-BE49-F238E27FC236}">
                <a16:creationId xmlns:a16="http://schemas.microsoft.com/office/drawing/2014/main" id="{F7C0D6DA-544D-D43C-BF6E-8B9B3E69188B}"/>
              </a:ext>
              <a:ext uri="{C183D7F6-B498-43B3-948B-1728B52AA6E4}">
                <adec:decorative xmlns:adec="http://schemas.microsoft.com/office/drawing/2017/decorative" val="1"/>
              </a:ext>
            </a:extLst>
          </p:cNvPr>
          <p:cNvSpPr/>
          <p:nvPr/>
        </p:nvSpPr>
        <p:spPr bwMode="auto">
          <a:xfrm>
            <a:off x="1291586" y="3992853"/>
            <a:ext cx="1112280" cy="1112280"/>
          </a:xfrm>
          <a:prstGeom prst="ellipse">
            <a:avLst/>
          </a:prstGeom>
          <a:gradFill flip="none" rotWithShape="1">
            <a:gsLst>
              <a:gs pos="2000">
                <a:srgbClr val="0078D4"/>
              </a:gs>
              <a:gs pos="100000">
                <a:srgbClr val="48C5B1"/>
              </a:gs>
            </a:gsLst>
            <a:path path="circle">
              <a:fillToRect l="100000" t="100000"/>
            </a:path>
            <a:tileRect r="-100000" b="-100000"/>
          </a:gradFill>
          <a:ln w="12700">
            <a:noFill/>
          </a:ln>
          <a:effectLst/>
        </p:spPr>
        <p:txBody>
          <a:bodyPr wrap="none" tIns="0" bIns="27000" rtlCol="0" anchor="ctr">
            <a:noAutofit/>
          </a:bodyPr>
          <a:lstStyle/>
          <a:p>
            <a:pPr algn="ctr" defTabSz="1371600">
              <a:defRPr/>
            </a:pPr>
            <a:endParaRPr lang="en-US">
              <a:gradFill>
                <a:gsLst>
                  <a:gs pos="46000">
                    <a:srgbClr val="48C5B1"/>
                  </a:gs>
                  <a:gs pos="0">
                    <a:srgbClr val="0078D4"/>
                  </a:gs>
                </a:gsLst>
                <a:lin ang="18900000" scaled="1"/>
              </a:gradFill>
              <a:latin typeface="Segoe UI Semibold" panose="020B0702040204020203" pitchFamily="34" charset="0"/>
              <a:cs typeface="Segoe UI Semibold" panose="020B0702040204020203" pitchFamily="34" charset="0"/>
            </a:endParaRPr>
          </a:p>
        </p:txBody>
      </p:sp>
      <p:sp>
        <p:nvSpPr>
          <p:cNvPr id="127" name="Oval 126">
            <a:extLst>
              <a:ext uri="{FF2B5EF4-FFF2-40B4-BE49-F238E27FC236}">
                <a16:creationId xmlns:a16="http://schemas.microsoft.com/office/drawing/2014/main" id="{88F3211C-9375-9F64-27AF-0EF8F2063936}"/>
              </a:ext>
              <a:ext uri="{C183D7F6-B498-43B3-948B-1728B52AA6E4}">
                <adec:decorative xmlns:adec="http://schemas.microsoft.com/office/drawing/2017/decorative" val="1"/>
              </a:ext>
            </a:extLst>
          </p:cNvPr>
          <p:cNvSpPr/>
          <p:nvPr/>
        </p:nvSpPr>
        <p:spPr bwMode="auto">
          <a:xfrm>
            <a:off x="5422863" y="3992853"/>
            <a:ext cx="1112280" cy="1112280"/>
          </a:xfrm>
          <a:prstGeom prst="ellipse">
            <a:avLst/>
          </a:prstGeom>
          <a:gradFill>
            <a:gsLst>
              <a:gs pos="100000">
                <a:srgbClr val="48C5B1"/>
              </a:gs>
              <a:gs pos="7000">
                <a:srgbClr val="0078D4"/>
              </a:gs>
            </a:gsLst>
            <a:lin ang="18900000" scaled="1"/>
          </a:gradFill>
          <a:ln w="12700">
            <a:noFill/>
          </a:ln>
          <a:effectLst/>
        </p:spPr>
        <p:txBody>
          <a:bodyPr wrap="none" tIns="0" bIns="27000" rtlCol="0" anchor="ctr">
            <a:noAutofit/>
          </a:bodyPr>
          <a:lstStyle/>
          <a:p>
            <a:pPr algn="ctr" defTabSz="1371600">
              <a:defRPr/>
            </a:pPr>
            <a:endParaRPr lang="en-US">
              <a:solidFill>
                <a:srgbClr val="FFFFFF"/>
              </a:solidFill>
              <a:latin typeface="Segoe UI Semibold" panose="020B0702040204020203" pitchFamily="34" charset="0"/>
              <a:cs typeface="Segoe UI Semibold" panose="020B0702040204020203" pitchFamily="34" charset="0"/>
            </a:endParaRPr>
          </a:p>
        </p:txBody>
      </p:sp>
      <p:sp>
        <p:nvSpPr>
          <p:cNvPr id="128" name="Oval 127">
            <a:extLst>
              <a:ext uri="{FF2B5EF4-FFF2-40B4-BE49-F238E27FC236}">
                <a16:creationId xmlns:a16="http://schemas.microsoft.com/office/drawing/2014/main" id="{E3F81A4C-2278-2DEC-4809-8190C236534D}"/>
              </a:ext>
              <a:ext uri="{C183D7F6-B498-43B3-948B-1728B52AA6E4}">
                <adec:decorative xmlns:adec="http://schemas.microsoft.com/office/drawing/2017/decorative" val="1"/>
              </a:ext>
            </a:extLst>
          </p:cNvPr>
          <p:cNvSpPr/>
          <p:nvPr/>
        </p:nvSpPr>
        <p:spPr bwMode="auto">
          <a:xfrm>
            <a:off x="9651020" y="3992853"/>
            <a:ext cx="1112280" cy="1112280"/>
          </a:xfrm>
          <a:prstGeom prst="ellipse">
            <a:avLst/>
          </a:prstGeom>
          <a:gradFill flip="none" rotWithShape="1">
            <a:gsLst>
              <a:gs pos="100000">
                <a:srgbClr val="48C5B1"/>
              </a:gs>
              <a:gs pos="8000">
                <a:srgbClr val="0078D4"/>
              </a:gs>
            </a:gsLst>
            <a:path path="circle">
              <a:fillToRect l="100000" t="100000"/>
            </a:path>
            <a:tileRect r="-100000" b="-100000"/>
          </a:gradFill>
          <a:ln w="12700">
            <a:noFill/>
          </a:ln>
          <a:effectLst/>
        </p:spPr>
        <p:txBody>
          <a:bodyPr wrap="none" tIns="0" bIns="27000" rtlCol="0" anchor="ctr">
            <a:noAutofit/>
          </a:bodyPr>
          <a:lstStyle/>
          <a:p>
            <a:pPr algn="ctr" defTabSz="1371600">
              <a:defRPr/>
            </a:pPr>
            <a:endParaRPr lang="en-US" err="1">
              <a:solidFill>
                <a:srgbClr val="FFFFFF"/>
              </a:solidFill>
              <a:latin typeface="Segoe UI Semibold" panose="020B0702040204020203" pitchFamily="34" charset="0"/>
              <a:cs typeface="Segoe UI Semibold" panose="020B0702040204020203" pitchFamily="34" charset="0"/>
            </a:endParaRPr>
          </a:p>
        </p:txBody>
      </p:sp>
      <p:sp>
        <p:nvSpPr>
          <p:cNvPr id="129" name="Oval 128">
            <a:extLst>
              <a:ext uri="{FF2B5EF4-FFF2-40B4-BE49-F238E27FC236}">
                <a16:creationId xmlns:a16="http://schemas.microsoft.com/office/drawing/2014/main" id="{760EAB5B-65B9-6972-95BF-5382110A4916}"/>
              </a:ext>
              <a:ext uri="{C183D7F6-B498-43B3-948B-1728B52AA6E4}">
                <adec:decorative xmlns:adec="http://schemas.microsoft.com/office/drawing/2017/decorative" val="1"/>
              </a:ext>
            </a:extLst>
          </p:cNvPr>
          <p:cNvSpPr/>
          <p:nvPr/>
        </p:nvSpPr>
        <p:spPr bwMode="auto">
          <a:xfrm>
            <a:off x="13830738" y="3992853"/>
            <a:ext cx="1112280" cy="1112280"/>
          </a:xfrm>
          <a:prstGeom prst="ellipse">
            <a:avLst/>
          </a:prstGeom>
          <a:gradFill flip="none" rotWithShape="1">
            <a:gsLst>
              <a:gs pos="0">
                <a:srgbClr val="0078D4"/>
              </a:gs>
              <a:gs pos="100000">
                <a:srgbClr val="48C5B1"/>
              </a:gs>
            </a:gsLst>
            <a:path path="circle">
              <a:fillToRect l="100000" t="100000"/>
            </a:path>
            <a:tileRect r="-100000" b="-100000"/>
          </a:gradFill>
          <a:ln w="12700">
            <a:noFill/>
          </a:ln>
          <a:effectLst/>
        </p:spPr>
        <p:txBody>
          <a:bodyPr wrap="none" tIns="0" bIns="27000" rtlCol="0" anchor="ctr">
            <a:noAutofit/>
          </a:bodyPr>
          <a:lstStyle/>
          <a:p>
            <a:pPr algn="ctr" defTabSz="1371600">
              <a:defRPr/>
            </a:pPr>
            <a:endParaRPr lang="en-US" err="1">
              <a:solidFill>
                <a:srgbClr val="FFFFFF"/>
              </a:solidFill>
              <a:latin typeface="Segoe UI Semibold" panose="020B0702040204020203" pitchFamily="34" charset="0"/>
              <a:cs typeface="Segoe UI Semibold" panose="020B0702040204020203" pitchFamily="34" charset="0"/>
            </a:endParaRPr>
          </a:p>
        </p:txBody>
      </p:sp>
      <p:sp>
        <p:nvSpPr>
          <p:cNvPr id="130" name="TextBox 129">
            <a:extLst>
              <a:ext uri="{FF2B5EF4-FFF2-40B4-BE49-F238E27FC236}">
                <a16:creationId xmlns:a16="http://schemas.microsoft.com/office/drawing/2014/main" id="{0DFA65F0-FAFA-25AC-1232-2466B82778E9}"/>
              </a:ext>
            </a:extLst>
          </p:cNvPr>
          <p:cNvSpPr txBox="1"/>
          <p:nvPr/>
        </p:nvSpPr>
        <p:spPr>
          <a:xfrm>
            <a:off x="1243146" y="6779862"/>
            <a:ext cx="3429000" cy="1200329"/>
          </a:xfrm>
          <a:prstGeom prst="rect">
            <a:avLst/>
          </a:prstGeom>
          <a:noFill/>
        </p:spPr>
        <p:txBody>
          <a:bodyPr wrap="square" lIns="0" rIns="0">
            <a:spAutoFit/>
          </a:bodyPr>
          <a:lstStyle/>
          <a:p>
            <a:pPr defTabSz="1371600">
              <a:defRPr/>
            </a:pPr>
            <a:r>
              <a:rPr lang="en-US">
                <a:solidFill>
                  <a:srgbClr val="FFFFFF"/>
                </a:solidFill>
              </a:rPr>
              <a:t>Modernize your apps and business with practical AI, and bring new business opportunities to market faster.</a:t>
            </a:r>
          </a:p>
        </p:txBody>
      </p:sp>
      <p:sp>
        <p:nvSpPr>
          <p:cNvPr id="131" name="TextBox 130">
            <a:extLst>
              <a:ext uri="{FF2B5EF4-FFF2-40B4-BE49-F238E27FC236}">
                <a16:creationId xmlns:a16="http://schemas.microsoft.com/office/drawing/2014/main" id="{7A9844E4-96E5-7165-54CD-95C65D145140}"/>
              </a:ext>
            </a:extLst>
          </p:cNvPr>
          <p:cNvSpPr txBox="1"/>
          <p:nvPr/>
        </p:nvSpPr>
        <p:spPr>
          <a:xfrm>
            <a:off x="5422863" y="6671786"/>
            <a:ext cx="3429000" cy="1754326"/>
          </a:xfrm>
          <a:prstGeom prst="rect">
            <a:avLst/>
          </a:prstGeom>
          <a:noFill/>
        </p:spPr>
        <p:txBody>
          <a:bodyPr wrap="square" lIns="0" rIns="0">
            <a:spAutoFit/>
          </a:bodyPr>
          <a:lstStyle/>
          <a:p>
            <a:pPr defTabSz="1371600">
              <a:defRPr/>
            </a:pPr>
            <a:r>
              <a:rPr lang="en-US">
                <a:solidFill>
                  <a:srgbClr val="FFFFFF"/>
                </a:solidFill>
              </a:rPr>
              <a:t>Unify your data in Azure to innovate faster and more securely. Get faster data availability, manage data privacy, and modernize to seamlessly integrate with AI models</a:t>
            </a:r>
            <a:r>
              <a:rPr lang="en-US">
                <a:solidFill>
                  <a:srgbClr val="FFFFFF"/>
                </a:solidFill>
                <a:latin typeface="Segoe Sans Text"/>
              </a:rPr>
              <a:t>.</a:t>
            </a:r>
          </a:p>
        </p:txBody>
      </p:sp>
      <p:sp>
        <p:nvSpPr>
          <p:cNvPr id="132" name="TextBox 131">
            <a:extLst>
              <a:ext uri="{FF2B5EF4-FFF2-40B4-BE49-F238E27FC236}">
                <a16:creationId xmlns:a16="http://schemas.microsoft.com/office/drawing/2014/main" id="{8F9A13A8-5E25-9BF9-C01F-4AAF779C8568}"/>
              </a:ext>
            </a:extLst>
          </p:cNvPr>
          <p:cNvSpPr txBox="1"/>
          <p:nvPr/>
        </p:nvSpPr>
        <p:spPr>
          <a:xfrm>
            <a:off x="9602579" y="6671786"/>
            <a:ext cx="3429000" cy="2031325"/>
          </a:xfrm>
          <a:prstGeom prst="rect">
            <a:avLst/>
          </a:prstGeom>
          <a:noFill/>
        </p:spPr>
        <p:txBody>
          <a:bodyPr wrap="square" lIns="0" rIns="0">
            <a:spAutoFit/>
          </a:bodyPr>
          <a:lstStyle/>
          <a:p>
            <a:pPr defTabSz="1371600">
              <a:defRPr/>
            </a:pPr>
            <a:r>
              <a:rPr lang="en-US">
                <a:solidFill>
                  <a:srgbClr val="FFFFFF"/>
                </a:solidFill>
              </a:rPr>
              <a:t>Secure every part of your business with Microsoft’s global expertise. Unify threat remediation across hybrid and multi-cloud environments; get broad and deep cloud security coverage.</a:t>
            </a:r>
          </a:p>
        </p:txBody>
      </p:sp>
      <p:sp>
        <p:nvSpPr>
          <p:cNvPr id="133" name="TextBox 132">
            <a:extLst>
              <a:ext uri="{FF2B5EF4-FFF2-40B4-BE49-F238E27FC236}">
                <a16:creationId xmlns:a16="http://schemas.microsoft.com/office/drawing/2014/main" id="{D183E4D9-F185-7D2F-A9B5-116166FFB9DE}"/>
              </a:ext>
            </a:extLst>
          </p:cNvPr>
          <p:cNvSpPr txBox="1"/>
          <p:nvPr/>
        </p:nvSpPr>
        <p:spPr>
          <a:xfrm>
            <a:off x="13696688" y="6630042"/>
            <a:ext cx="3429000" cy="1477328"/>
          </a:xfrm>
          <a:prstGeom prst="rect">
            <a:avLst/>
          </a:prstGeom>
          <a:noFill/>
        </p:spPr>
        <p:txBody>
          <a:bodyPr wrap="square" lIns="0" rIns="0">
            <a:spAutoFit/>
          </a:bodyPr>
          <a:lstStyle/>
          <a:p>
            <a:pPr defTabSz="1371600">
              <a:defRPr/>
            </a:pPr>
            <a:r>
              <a:rPr lang="en-US">
                <a:solidFill>
                  <a:srgbClr val="FFFFFF"/>
                </a:solidFill>
              </a:rPr>
              <a:t>Azure Accelerate offerings help you migrate and modernize to Azure. Azure Hybrid Benefit delivers savings for Windows and SQL Server customers.*</a:t>
            </a:r>
          </a:p>
        </p:txBody>
      </p:sp>
      <p:pic>
        <p:nvPicPr>
          <p:cNvPr id="137" name="Graphic 136">
            <a:extLst>
              <a:ext uri="{FF2B5EF4-FFF2-40B4-BE49-F238E27FC236}">
                <a16:creationId xmlns:a16="http://schemas.microsoft.com/office/drawing/2014/main" id="{FC288E43-DB75-3A7D-DA85-71C24604584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4132297" y="4294412"/>
            <a:ext cx="509163" cy="509163"/>
          </a:xfrm>
          <a:prstGeom prst="rect">
            <a:avLst/>
          </a:prstGeom>
        </p:spPr>
      </p:pic>
      <p:sp>
        <p:nvSpPr>
          <p:cNvPr id="3" name="TextBox 2">
            <a:extLst>
              <a:ext uri="{FF2B5EF4-FFF2-40B4-BE49-F238E27FC236}">
                <a16:creationId xmlns:a16="http://schemas.microsoft.com/office/drawing/2014/main" id="{CD51384C-6694-77C5-256C-6C07C98C64FC}"/>
              </a:ext>
            </a:extLst>
          </p:cNvPr>
          <p:cNvSpPr txBox="1"/>
          <p:nvPr/>
        </p:nvSpPr>
        <p:spPr>
          <a:xfrm>
            <a:off x="1212885" y="2091720"/>
            <a:ext cx="15851712" cy="1015663"/>
          </a:xfrm>
          <a:prstGeom prst="rect">
            <a:avLst/>
          </a:prstGeom>
          <a:noFill/>
        </p:spPr>
        <p:txBody>
          <a:bodyPr wrap="square" lIns="0" rIns="0">
            <a:spAutoFit/>
          </a:bodyPr>
          <a:lstStyle/>
          <a:p>
            <a:pPr algn="ctr" defTabSz="1371600">
              <a:defRPr/>
            </a:pPr>
            <a:r>
              <a:rPr lang="en-US" sz="3000" b="1">
                <a:solidFill>
                  <a:srgbClr val="FFFFFF"/>
                </a:solidFill>
                <a:latin typeface="+mj-lt"/>
                <a:cs typeface="Segoe UI Semibold" panose="020B0502040204020203" pitchFamily="34" charset="0"/>
              </a:rPr>
              <a:t>Azure offers a secure and scalable cloud platform that helps you modernize faster, grow efficiently, and access practical AI innovation, backed by Microsoft security expertise </a:t>
            </a:r>
          </a:p>
        </p:txBody>
      </p:sp>
      <p:pic>
        <p:nvPicPr>
          <p:cNvPr id="5" name="Graphic 4" descr="Gears with solid fill">
            <a:extLst>
              <a:ext uri="{FF2B5EF4-FFF2-40B4-BE49-F238E27FC236}">
                <a16:creationId xmlns:a16="http://schemas.microsoft.com/office/drawing/2014/main" id="{15348A29-DAE4-8957-A3B6-B73692CDE9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79291" y="4180559"/>
            <a:ext cx="736869" cy="736869"/>
          </a:xfrm>
          <a:prstGeom prst="rect">
            <a:avLst/>
          </a:prstGeom>
        </p:spPr>
      </p:pic>
      <p:pic>
        <p:nvPicPr>
          <p:cNvPr id="8" name="Graphic 7" descr="Internet Of Things with solid fill">
            <a:extLst>
              <a:ext uri="{FF2B5EF4-FFF2-40B4-BE49-F238E27FC236}">
                <a16:creationId xmlns:a16="http://schemas.microsoft.com/office/drawing/2014/main" id="{F763E347-C191-2633-E8E7-4FA2E944859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4809" y="4204799"/>
            <a:ext cx="688389" cy="688389"/>
          </a:xfrm>
          <a:prstGeom prst="rect">
            <a:avLst/>
          </a:prstGeom>
        </p:spPr>
      </p:pic>
      <p:sp>
        <p:nvSpPr>
          <p:cNvPr id="4" name="TextBox 3">
            <a:extLst>
              <a:ext uri="{FF2B5EF4-FFF2-40B4-BE49-F238E27FC236}">
                <a16:creationId xmlns:a16="http://schemas.microsoft.com/office/drawing/2014/main" id="{A99827A2-BF10-CB1A-10FB-2BCD99018A52}"/>
              </a:ext>
            </a:extLst>
          </p:cNvPr>
          <p:cNvSpPr txBox="1"/>
          <p:nvPr/>
        </p:nvSpPr>
        <p:spPr>
          <a:xfrm>
            <a:off x="873356" y="9438920"/>
            <a:ext cx="7569380" cy="230832"/>
          </a:xfrm>
          <a:prstGeom prst="rect">
            <a:avLst/>
          </a:prstGeom>
          <a:noFill/>
        </p:spPr>
        <p:txBody>
          <a:bodyPr wrap="none" lIns="0" tIns="0" rIns="0" bIns="0" rtlCol="0" anchor="t">
            <a:spAutoFit/>
          </a:bodyPr>
          <a:lstStyle/>
          <a:p>
            <a:pPr algn="l"/>
            <a:r>
              <a:rPr lang="en-US" sz="1500"/>
              <a:t>*</a:t>
            </a:r>
            <a:r>
              <a:rPr lang="en-US" sz="1500">
                <a:solidFill>
                  <a:schemeClr val="bg1"/>
                </a:solidFill>
              </a:rPr>
              <a:t>*Azure Hybrid Benefit for customers with Software Assurance. See </a:t>
            </a:r>
            <a:r>
              <a:rPr lang="en-US" sz="1500">
                <a:solidFill>
                  <a:schemeClr val="bg1"/>
                </a:solidFill>
                <a:hlinkClick r:id="rId6">
                  <a:extLst>
                    <a:ext uri="{A12FA001-AC4F-418D-AE19-62706E023703}">
                      <ahyp:hlinkClr xmlns:ahyp="http://schemas.microsoft.com/office/drawing/2018/hyperlinkcolor" val="tx"/>
                    </a:ext>
                  </a:extLst>
                </a:hlinkClick>
              </a:rPr>
              <a:t>aka.ms/</a:t>
            </a:r>
            <a:r>
              <a:rPr lang="en-US" sz="1500" err="1">
                <a:solidFill>
                  <a:schemeClr val="bg1"/>
                </a:solidFill>
                <a:hlinkClick r:id="rId6">
                  <a:extLst>
                    <a:ext uri="{A12FA001-AC4F-418D-AE19-62706E023703}">
                      <ahyp:hlinkClr xmlns:ahyp="http://schemas.microsoft.com/office/drawing/2018/hyperlinkcolor" val="tx"/>
                    </a:ext>
                  </a:extLst>
                </a:hlinkClick>
              </a:rPr>
              <a:t>ahb</a:t>
            </a:r>
            <a:r>
              <a:rPr lang="en-US" sz="1500">
                <a:solidFill>
                  <a:schemeClr val="bg1"/>
                </a:solidFill>
              </a:rPr>
              <a:t> for details</a:t>
            </a:r>
            <a:endParaRPr lang="en-US" sz="3000">
              <a:solidFill>
                <a:schemeClr val="bg1"/>
              </a:solidFill>
              <a:cs typeface="Segoe Sans Text"/>
            </a:endParaRPr>
          </a:p>
        </p:txBody>
      </p:sp>
      <p:pic>
        <p:nvPicPr>
          <p:cNvPr id="9" name="Graphic 8" descr="Shield Tick outline">
            <a:extLst>
              <a:ext uri="{FF2B5EF4-FFF2-40B4-BE49-F238E27FC236}">
                <a16:creationId xmlns:a16="http://schemas.microsoft.com/office/drawing/2014/main" id="{990E169F-F3B1-F5FF-D55A-C25E5AE3FF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22231" y="4094634"/>
            <a:ext cx="961938" cy="961938"/>
          </a:xfrm>
          <a:prstGeom prst="rect">
            <a:avLst/>
          </a:prstGeom>
        </p:spPr>
      </p:pic>
    </p:spTree>
    <p:extLst>
      <p:ext uri="{BB962C8B-B14F-4D97-AF65-F5344CB8AC3E}">
        <p14:creationId xmlns:p14="http://schemas.microsoft.com/office/powerpoint/2010/main" val="906012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500"/>
                                        <p:tgtEl>
                                          <p:spTgt spid="126"/>
                                        </p:tgtEl>
                                      </p:cBhvr>
                                    </p:animEffect>
                                  </p:childTnLst>
                                </p:cTn>
                              </p:par>
                              <p:par>
                                <p:cTn id="8" presetID="42" presetClass="path" presetSubtype="0" decel="100000" fill="hold" grpId="1" nodeType="withEffect">
                                  <p:stCondLst>
                                    <p:cond delay="100"/>
                                  </p:stCondLst>
                                  <p:childTnLst>
                                    <p:animMotion origin="layout" path="M -1.45833E-6 4.44444E-6 L -1.45833E-6 0.03541 " pathEditMode="relative" rAng="0" ptsTypes="AA">
                                      <p:cBhvr>
                                        <p:cTn id="9" dur="700" spd="-100000" fill="hold"/>
                                        <p:tgtEl>
                                          <p:spTgt spid="126"/>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500"/>
                                        <p:tgtEl>
                                          <p:spTgt spid="127"/>
                                        </p:tgtEl>
                                      </p:cBhvr>
                                    </p:animEffect>
                                  </p:childTnLst>
                                </p:cTn>
                              </p:par>
                              <p:par>
                                <p:cTn id="13" presetID="42" presetClass="path" presetSubtype="0" decel="100000" fill="hold" grpId="1" nodeType="withEffect">
                                  <p:stCondLst>
                                    <p:cond delay="200"/>
                                  </p:stCondLst>
                                  <p:childTnLst>
                                    <p:animMotion origin="layout" path="M 2.70833E-6 4.44444E-6 L 2.70833E-6 0.03541 " pathEditMode="relative" rAng="0" ptsTypes="AA">
                                      <p:cBhvr>
                                        <p:cTn id="14" dur="700" spd="-100000" fill="hold"/>
                                        <p:tgtEl>
                                          <p:spTgt spid="127"/>
                                        </p:tgtEl>
                                        <p:attrNameLst>
                                          <p:attrName>ppt_x</p:attrName>
                                          <p:attrName>ppt_y</p:attrName>
                                        </p:attrNameLst>
                                      </p:cBhvr>
                                      <p:rCtr x="0" y="1759"/>
                                    </p:animMotion>
                                  </p:childTnLst>
                                </p:cTn>
                              </p:par>
                              <p:par>
                                <p:cTn id="15" presetID="10" presetClass="entr" presetSubtype="0" fill="hold" grpId="0" nodeType="withEffect">
                                  <p:stCondLst>
                                    <p:cond delay="300"/>
                                  </p:stCondLst>
                                  <p:childTnLst>
                                    <p:set>
                                      <p:cBhvr>
                                        <p:cTn id="16" dur="1" fill="hold">
                                          <p:stCondLst>
                                            <p:cond delay="0"/>
                                          </p:stCondLst>
                                        </p:cTn>
                                        <p:tgtEl>
                                          <p:spTgt spid="128"/>
                                        </p:tgtEl>
                                        <p:attrNameLst>
                                          <p:attrName>style.visibility</p:attrName>
                                        </p:attrNameLst>
                                      </p:cBhvr>
                                      <p:to>
                                        <p:strVal val="visible"/>
                                      </p:to>
                                    </p:set>
                                    <p:animEffect transition="in" filter="fade">
                                      <p:cBhvr>
                                        <p:cTn id="17" dur="500"/>
                                        <p:tgtEl>
                                          <p:spTgt spid="128"/>
                                        </p:tgtEl>
                                      </p:cBhvr>
                                    </p:animEffect>
                                  </p:childTnLst>
                                </p:cTn>
                              </p:par>
                              <p:par>
                                <p:cTn id="18" presetID="42" presetClass="path" presetSubtype="0" decel="100000" fill="hold" grpId="1" nodeType="withEffect">
                                  <p:stCondLst>
                                    <p:cond delay="300"/>
                                  </p:stCondLst>
                                  <p:childTnLst>
                                    <p:animMotion origin="layout" path="M -2.91667E-6 4.44444E-6 L -2.91667E-6 0.03541 " pathEditMode="relative" rAng="0" ptsTypes="AA">
                                      <p:cBhvr>
                                        <p:cTn id="19" dur="700" spd="-100000" fill="hold"/>
                                        <p:tgtEl>
                                          <p:spTgt spid="128"/>
                                        </p:tgtEl>
                                        <p:attrNameLst>
                                          <p:attrName>ppt_x</p:attrName>
                                          <p:attrName>ppt_y</p:attrName>
                                        </p:attrNameLst>
                                      </p:cBhvr>
                                      <p:rCtr x="0" y="1759"/>
                                    </p:animMotion>
                                  </p:childTnLst>
                                </p:cTn>
                              </p:par>
                              <p:par>
                                <p:cTn id="20" presetID="10" presetClass="entr" presetSubtype="0" fill="hold" grpId="0" nodeType="withEffect">
                                  <p:stCondLst>
                                    <p:cond delay="400"/>
                                  </p:stCondLst>
                                  <p:childTnLst>
                                    <p:set>
                                      <p:cBhvr>
                                        <p:cTn id="21" dur="1" fill="hold">
                                          <p:stCondLst>
                                            <p:cond delay="0"/>
                                          </p:stCondLst>
                                        </p:cTn>
                                        <p:tgtEl>
                                          <p:spTgt spid="129"/>
                                        </p:tgtEl>
                                        <p:attrNameLst>
                                          <p:attrName>style.visibility</p:attrName>
                                        </p:attrNameLst>
                                      </p:cBhvr>
                                      <p:to>
                                        <p:strVal val="visible"/>
                                      </p:to>
                                    </p:set>
                                    <p:animEffect transition="in" filter="fade">
                                      <p:cBhvr>
                                        <p:cTn id="22" dur="500"/>
                                        <p:tgtEl>
                                          <p:spTgt spid="129"/>
                                        </p:tgtEl>
                                      </p:cBhvr>
                                    </p:animEffect>
                                  </p:childTnLst>
                                </p:cTn>
                              </p:par>
                              <p:par>
                                <p:cTn id="23" presetID="42" presetClass="path" presetSubtype="0" decel="100000" fill="hold" grpId="1" nodeType="withEffect">
                                  <p:stCondLst>
                                    <p:cond delay="400"/>
                                  </p:stCondLst>
                                  <p:childTnLst>
                                    <p:animMotion origin="layout" path="M 1.45833E-6 4.44444E-6 L 1.45833E-6 0.03541 " pathEditMode="relative" rAng="0" ptsTypes="AA">
                                      <p:cBhvr>
                                        <p:cTn id="24" dur="700" spd="-100000" fill="hold"/>
                                        <p:tgtEl>
                                          <p:spTgt spid="129"/>
                                        </p:tgtEl>
                                        <p:attrNameLst>
                                          <p:attrName>ppt_x</p:attrName>
                                          <p:attrName>ppt_y</p:attrName>
                                        </p:attrNameLst>
                                      </p:cBhvr>
                                      <p:rCtr x="0" y="1759"/>
                                    </p:animMotion>
                                  </p:childTnLst>
                                </p:cTn>
                              </p:par>
                              <p:par>
                                <p:cTn id="25" presetID="10" presetClass="entr" presetSubtype="0" fill="hold" grpId="0" nodeType="withEffect">
                                  <p:stCondLst>
                                    <p:cond delay="100"/>
                                  </p:stCondLst>
                                  <p:childTnLst>
                                    <p:set>
                                      <p:cBhvr>
                                        <p:cTn id="26" dur="1" fill="hold">
                                          <p:stCondLst>
                                            <p:cond delay="0"/>
                                          </p:stCondLst>
                                        </p:cTn>
                                        <p:tgtEl>
                                          <p:spTgt spid="118"/>
                                        </p:tgtEl>
                                        <p:attrNameLst>
                                          <p:attrName>style.visibility</p:attrName>
                                        </p:attrNameLst>
                                      </p:cBhvr>
                                      <p:to>
                                        <p:strVal val="visible"/>
                                      </p:to>
                                    </p:set>
                                    <p:animEffect transition="in" filter="fade">
                                      <p:cBhvr>
                                        <p:cTn id="27" dur="500"/>
                                        <p:tgtEl>
                                          <p:spTgt spid="118"/>
                                        </p:tgtEl>
                                      </p:cBhvr>
                                    </p:animEffect>
                                  </p:childTnLst>
                                </p:cTn>
                              </p:par>
                              <p:par>
                                <p:cTn id="28" presetID="42" presetClass="path" presetSubtype="0" decel="100000" fill="hold" grpId="1" nodeType="withEffect">
                                  <p:stCondLst>
                                    <p:cond delay="100"/>
                                  </p:stCondLst>
                                  <p:childTnLst>
                                    <p:animMotion origin="layout" path="M -1.66667E-6 1.11111E-6 L -1.66667E-6 0.03542 " pathEditMode="relative" rAng="0" ptsTypes="AA">
                                      <p:cBhvr>
                                        <p:cTn id="29" dur="700" spd="-100000" fill="hold"/>
                                        <p:tgtEl>
                                          <p:spTgt spid="118"/>
                                        </p:tgtEl>
                                        <p:attrNameLst>
                                          <p:attrName>ppt_x</p:attrName>
                                          <p:attrName>ppt_y</p:attrName>
                                        </p:attrNameLst>
                                      </p:cBhvr>
                                      <p:rCtr x="0" y="1759"/>
                                    </p:animMotion>
                                  </p:childTnLst>
                                </p:cTn>
                              </p:par>
                              <p:par>
                                <p:cTn id="30" presetID="10" presetClass="entr" presetSubtype="0" fill="hold" grpId="0" nodeType="withEffect">
                                  <p:stCondLst>
                                    <p:cond delay="200"/>
                                  </p:stCondLst>
                                  <p:childTnLst>
                                    <p:set>
                                      <p:cBhvr>
                                        <p:cTn id="31" dur="1" fill="hold">
                                          <p:stCondLst>
                                            <p:cond delay="0"/>
                                          </p:stCondLst>
                                        </p:cTn>
                                        <p:tgtEl>
                                          <p:spTgt spid="119"/>
                                        </p:tgtEl>
                                        <p:attrNameLst>
                                          <p:attrName>style.visibility</p:attrName>
                                        </p:attrNameLst>
                                      </p:cBhvr>
                                      <p:to>
                                        <p:strVal val="visible"/>
                                      </p:to>
                                    </p:set>
                                    <p:animEffect transition="in" filter="fade">
                                      <p:cBhvr>
                                        <p:cTn id="32" dur="500"/>
                                        <p:tgtEl>
                                          <p:spTgt spid="119"/>
                                        </p:tgtEl>
                                      </p:cBhvr>
                                    </p:animEffect>
                                  </p:childTnLst>
                                </p:cTn>
                              </p:par>
                              <p:par>
                                <p:cTn id="33" presetID="42" presetClass="path" presetSubtype="0" decel="100000" fill="hold" grpId="1" nodeType="withEffect">
                                  <p:stCondLst>
                                    <p:cond delay="200"/>
                                  </p:stCondLst>
                                  <p:childTnLst>
                                    <p:animMotion origin="layout" path="M 2.70833E-6 1.11111E-6 L 2.70833E-6 0.03542 " pathEditMode="relative" rAng="0" ptsTypes="AA">
                                      <p:cBhvr>
                                        <p:cTn id="34" dur="700" spd="-100000" fill="hold"/>
                                        <p:tgtEl>
                                          <p:spTgt spid="119"/>
                                        </p:tgtEl>
                                        <p:attrNameLst>
                                          <p:attrName>ppt_x</p:attrName>
                                          <p:attrName>ppt_y</p:attrName>
                                        </p:attrNameLst>
                                      </p:cBhvr>
                                      <p:rCtr x="0" y="1759"/>
                                    </p:animMotion>
                                  </p:childTnLst>
                                </p:cTn>
                              </p:par>
                              <p:par>
                                <p:cTn id="35" presetID="10" presetClass="entr" presetSubtype="0" fill="hold" grpId="0" nodeType="withEffect">
                                  <p:stCondLst>
                                    <p:cond delay="300"/>
                                  </p:stCondLst>
                                  <p:childTnLst>
                                    <p:set>
                                      <p:cBhvr>
                                        <p:cTn id="36" dur="1" fill="hold">
                                          <p:stCondLst>
                                            <p:cond delay="0"/>
                                          </p:stCondLst>
                                        </p:cTn>
                                        <p:tgtEl>
                                          <p:spTgt spid="120"/>
                                        </p:tgtEl>
                                        <p:attrNameLst>
                                          <p:attrName>style.visibility</p:attrName>
                                        </p:attrNameLst>
                                      </p:cBhvr>
                                      <p:to>
                                        <p:strVal val="visible"/>
                                      </p:to>
                                    </p:set>
                                    <p:animEffect transition="in" filter="fade">
                                      <p:cBhvr>
                                        <p:cTn id="37" dur="500"/>
                                        <p:tgtEl>
                                          <p:spTgt spid="120"/>
                                        </p:tgtEl>
                                      </p:cBhvr>
                                    </p:animEffect>
                                  </p:childTnLst>
                                </p:cTn>
                              </p:par>
                              <p:par>
                                <p:cTn id="38" presetID="42" presetClass="path" presetSubtype="0" decel="100000" fill="hold" grpId="1" nodeType="withEffect">
                                  <p:stCondLst>
                                    <p:cond delay="300"/>
                                  </p:stCondLst>
                                  <p:childTnLst>
                                    <p:animMotion origin="layout" path="M -2.91667E-6 1.11111E-6 L -2.91667E-6 0.03542 " pathEditMode="relative" rAng="0" ptsTypes="AA">
                                      <p:cBhvr>
                                        <p:cTn id="39" dur="700" spd="-100000" fill="hold"/>
                                        <p:tgtEl>
                                          <p:spTgt spid="120"/>
                                        </p:tgtEl>
                                        <p:attrNameLst>
                                          <p:attrName>ppt_x</p:attrName>
                                          <p:attrName>ppt_y</p:attrName>
                                        </p:attrNameLst>
                                      </p:cBhvr>
                                      <p:rCtr x="0" y="1759"/>
                                    </p:animMotion>
                                  </p:childTnLst>
                                </p:cTn>
                              </p:par>
                              <p:par>
                                <p:cTn id="40" presetID="10" presetClass="entr" presetSubtype="0" fill="hold" grpId="0" nodeType="withEffect">
                                  <p:stCondLst>
                                    <p:cond delay="400"/>
                                  </p:stCondLst>
                                  <p:childTnLst>
                                    <p:set>
                                      <p:cBhvr>
                                        <p:cTn id="41" dur="1" fill="hold">
                                          <p:stCondLst>
                                            <p:cond delay="0"/>
                                          </p:stCondLst>
                                        </p:cTn>
                                        <p:tgtEl>
                                          <p:spTgt spid="121"/>
                                        </p:tgtEl>
                                        <p:attrNameLst>
                                          <p:attrName>style.visibility</p:attrName>
                                        </p:attrNameLst>
                                      </p:cBhvr>
                                      <p:to>
                                        <p:strVal val="visible"/>
                                      </p:to>
                                    </p:set>
                                    <p:animEffect transition="in" filter="fade">
                                      <p:cBhvr>
                                        <p:cTn id="42" dur="500"/>
                                        <p:tgtEl>
                                          <p:spTgt spid="121"/>
                                        </p:tgtEl>
                                      </p:cBhvr>
                                    </p:animEffect>
                                  </p:childTnLst>
                                </p:cTn>
                              </p:par>
                              <p:par>
                                <p:cTn id="43" presetID="42" presetClass="path" presetSubtype="0" decel="100000" fill="hold" grpId="1" nodeType="withEffect">
                                  <p:stCondLst>
                                    <p:cond delay="400"/>
                                  </p:stCondLst>
                                  <p:childTnLst>
                                    <p:animMotion origin="layout" path="M 1.45833E-6 1.11111E-6 L 1.45833E-6 0.03542 " pathEditMode="relative" rAng="0" ptsTypes="AA">
                                      <p:cBhvr>
                                        <p:cTn id="44" dur="700" spd="-100000" fill="hold"/>
                                        <p:tgtEl>
                                          <p:spTgt spid="121"/>
                                        </p:tgtEl>
                                        <p:attrNameLst>
                                          <p:attrName>ppt_x</p:attrName>
                                          <p:attrName>ppt_y</p:attrName>
                                        </p:attrNameLst>
                                      </p:cBhvr>
                                      <p:rCtr x="0" y="1759"/>
                                    </p:animMotion>
                                  </p:childTnLst>
                                </p:cTn>
                              </p:par>
                              <p:par>
                                <p:cTn id="45" presetID="10" presetClass="entr" presetSubtype="0" fill="hold" grpId="0" nodeType="withEffect">
                                  <p:stCondLst>
                                    <p:cond delay="100"/>
                                  </p:stCondLst>
                                  <p:childTnLst>
                                    <p:set>
                                      <p:cBhvr>
                                        <p:cTn id="46" dur="1" fill="hold">
                                          <p:stCondLst>
                                            <p:cond delay="0"/>
                                          </p:stCondLst>
                                        </p:cTn>
                                        <p:tgtEl>
                                          <p:spTgt spid="122"/>
                                        </p:tgtEl>
                                        <p:attrNameLst>
                                          <p:attrName>style.visibility</p:attrName>
                                        </p:attrNameLst>
                                      </p:cBhvr>
                                      <p:to>
                                        <p:strVal val="visible"/>
                                      </p:to>
                                    </p:set>
                                    <p:animEffect transition="in" filter="fade">
                                      <p:cBhvr>
                                        <p:cTn id="47" dur="500"/>
                                        <p:tgtEl>
                                          <p:spTgt spid="122"/>
                                        </p:tgtEl>
                                      </p:cBhvr>
                                    </p:animEffect>
                                  </p:childTnLst>
                                </p:cTn>
                              </p:par>
                              <p:par>
                                <p:cTn id="48" presetID="42" presetClass="path" presetSubtype="0" decel="100000" fill="hold" grpId="1" nodeType="withEffect">
                                  <p:stCondLst>
                                    <p:cond delay="100"/>
                                  </p:stCondLst>
                                  <p:childTnLst>
                                    <p:animMotion origin="layout" path="M 1.25E-6 1.11111E-6 L 1.25E-6 0.03542 " pathEditMode="relative" rAng="0" ptsTypes="AA">
                                      <p:cBhvr>
                                        <p:cTn id="49" dur="700" spd="-100000" fill="hold"/>
                                        <p:tgtEl>
                                          <p:spTgt spid="122"/>
                                        </p:tgtEl>
                                        <p:attrNameLst>
                                          <p:attrName>ppt_x</p:attrName>
                                          <p:attrName>ppt_y</p:attrName>
                                        </p:attrNameLst>
                                      </p:cBhvr>
                                      <p:rCtr x="0" y="1759"/>
                                    </p:animMotion>
                                  </p:childTnLst>
                                </p:cTn>
                              </p:par>
                              <p:par>
                                <p:cTn id="50" presetID="10" presetClass="entr" presetSubtype="0" fill="hold" grpId="0" nodeType="withEffect">
                                  <p:stCondLst>
                                    <p:cond delay="100"/>
                                  </p:stCondLst>
                                  <p:childTnLst>
                                    <p:set>
                                      <p:cBhvr>
                                        <p:cTn id="51" dur="1" fill="hold">
                                          <p:stCondLst>
                                            <p:cond delay="0"/>
                                          </p:stCondLst>
                                        </p:cTn>
                                        <p:tgtEl>
                                          <p:spTgt spid="130"/>
                                        </p:tgtEl>
                                        <p:attrNameLst>
                                          <p:attrName>style.visibility</p:attrName>
                                        </p:attrNameLst>
                                      </p:cBhvr>
                                      <p:to>
                                        <p:strVal val="visible"/>
                                      </p:to>
                                    </p:set>
                                    <p:animEffect transition="in" filter="fade">
                                      <p:cBhvr>
                                        <p:cTn id="52" dur="500"/>
                                        <p:tgtEl>
                                          <p:spTgt spid="130"/>
                                        </p:tgtEl>
                                      </p:cBhvr>
                                    </p:animEffect>
                                  </p:childTnLst>
                                </p:cTn>
                              </p:par>
                              <p:par>
                                <p:cTn id="53" presetID="42" presetClass="path" presetSubtype="0" decel="100000" fill="hold" grpId="1" nodeType="withEffect">
                                  <p:stCondLst>
                                    <p:cond delay="100"/>
                                  </p:stCondLst>
                                  <p:childTnLst>
                                    <p:animMotion origin="layout" path="M 1.25E-6 -2.96296E-6 L 1.25E-6 0.03542 " pathEditMode="relative" rAng="0" ptsTypes="AA">
                                      <p:cBhvr>
                                        <p:cTn id="54" dur="700" spd="-100000" fill="hold"/>
                                        <p:tgtEl>
                                          <p:spTgt spid="130"/>
                                        </p:tgtEl>
                                        <p:attrNameLst>
                                          <p:attrName>ppt_x</p:attrName>
                                          <p:attrName>ppt_y</p:attrName>
                                        </p:attrNameLst>
                                      </p:cBhvr>
                                      <p:rCtr x="0" y="1759"/>
                                    </p:animMotion>
                                  </p:childTnLst>
                                </p:cTn>
                              </p:par>
                              <p:par>
                                <p:cTn id="55" presetID="10" presetClass="entr" presetSubtype="0" fill="hold" grpId="0" nodeType="withEffect">
                                  <p:stCondLst>
                                    <p:cond delay="200"/>
                                  </p:stCondLst>
                                  <p:childTnLst>
                                    <p:set>
                                      <p:cBhvr>
                                        <p:cTn id="56" dur="1" fill="hold">
                                          <p:stCondLst>
                                            <p:cond delay="0"/>
                                          </p:stCondLst>
                                        </p:cTn>
                                        <p:tgtEl>
                                          <p:spTgt spid="123"/>
                                        </p:tgtEl>
                                        <p:attrNameLst>
                                          <p:attrName>style.visibility</p:attrName>
                                        </p:attrNameLst>
                                      </p:cBhvr>
                                      <p:to>
                                        <p:strVal val="visible"/>
                                      </p:to>
                                    </p:set>
                                    <p:animEffect transition="in" filter="fade">
                                      <p:cBhvr>
                                        <p:cTn id="57" dur="500"/>
                                        <p:tgtEl>
                                          <p:spTgt spid="123"/>
                                        </p:tgtEl>
                                      </p:cBhvr>
                                    </p:animEffect>
                                  </p:childTnLst>
                                </p:cTn>
                              </p:par>
                              <p:par>
                                <p:cTn id="58" presetID="42" presetClass="path" presetSubtype="0" decel="100000" fill="hold" grpId="1" nodeType="withEffect">
                                  <p:stCondLst>
                                    <p:cond delay="200"/>
                                  </p:stCondLst>
                                  <p:childTnLst>
                                    <p:animMotion origin="layout" path="M -4.375E-6 1.11111E-6 L -4.375E-6 0.03542 " pathEditMode="relative" rAng="0" ptsTypes="AA">
                                      <p:cBhvr>
                                        <p:cTn id="59" dur="700" spd="-100000" fill="hold"/>
                                        <p:tgtEl>
                                          <p:spTgt spid="123"/>
                                        </p:tgtEl>
                                        <p:attrNameLst>
                                          <p:attrName>ppt_x</p:attrName>
                                          <p:attrName>ppt_y</p:attrName>
                                        </p:attrNameLst>
                                      </p:cBhvr>
                                      <p:rCtr x="0" y="1759"/>
                                    </p:animMotion>
                                  </p:childTnLst>
                                </p:cTn>
                              </p:par>
                              <p:par>
                                <p:cTn id="60" presetID="10" presetClass="entr" presetSubtype="0" fill="hold" grpId="0" nodeType="withEffect">
                                  <p:stCondLst>
                                    <p:cond delay="200"/>
                                  </p:stCondLst>
                                  <p:childTnLst>
                                    <p:set>
                                      <p:cBhvr>
                                        <p:cTn id="61" dur="1" fill="hold">
                                          <p:stCondLst>
                                            <p:cond delay="0"/>
                                          </p:stCondLst>
                                        </p:cTn>
                                        <p:tgtEl>
                                          <p:spTgt spid="131"/>
                                        </p:tgtEl>
                                        <p:attrNameLst>
                                          <p:attrName>style.visibility</p:attrName>
                                        </p:attrNameLst>
                                      </p:cBhvr>
                                      <p:to>
                                        <p:strVal val="visible"/>
                                      </p:to>
                                    </p:set>
                                    <p:animEffect transition="in" filter="fade">
                                      <p:cBhvr>
                                        <p:cTn id="62" dur="500"/>
                                        <p:tgtEl>
                                          <p:spTgt spid="131"/>
                                        </p:tgtEl>
                                      </p:cBhvr>
                                    </p:animEffect>
                                  </p:childTnLst>
                                </p:cTn>
                              </p:par>
                              <p:par>
                                <p:cTn id="63" presetID="42" presetClass="path" presetSubtype="0" decel="100000" fill="hold" grpId="1" nodeType="withEffect">
                                  <p:stCondLst>
                                    <p:cond delay="200"/>
                                  </p:stCondLst>
                                  <p:childTnLst>
                                    <p:animMotion origin="layout" path="M -4.375E-6 -2.96296E-6 L -4.375E-6 0.03542 " pathEditMode="relative" rAng="0" ptsTypes="AA">
                                      <p:cBhvr>
                                        <p:cTn id="64" dur="700" spd="-100000" fill="hold"/>
                                        <p:tgtEl>
                                          <p:spTgt spid="131"/>
                                        </p:tgtEl>
                                        <p:attrNameLst>
                                          <p:attrName>ppt_x</p:attrName>
                                          <p:attrName>ppt_y</p:attrName>
                                        </p:attrNameLst>
                                      </p:cBhvr>
                                      <p:rCtr x="0" y="1759"/>
                                    </p:animMotion>
                                  </p:childTnLst>
                                </p:cTn>
                              </p:par>
                              <p:par>
                                <p:cTn id="65" presetID="10" presetClass="entr" presetSubtype="0" fill="hold" grpId="0" nodeType="withEffect">
                                  <p:stCondLst>
                                    <p:cond delay="300"/>
                                  </p:stCondLst>
                                  <p:childTnLst>
                                    <p:set>
                                      <p:cBhvr>
                                        <p:cTn id="66" dur="1" fill="hold">
                                          <p:stCondLst>
                                            <p:cond delay="0"/>
                                          </p:stCondLst>
                                        </p:cTn>
                                        <p:tgtEl>
                                          <p:spTgt spid="124"/>
                                        </p:tgtEl>
                                        <p:attrNameLst>
                                          <p:attrName>style.visibility</p:attrName>
                                        </p:attrNameLst>
                                      </p:cBhvr>
                                      <p:to>
                                        <p:strVal val="visible"/>
                                      </p:to>
                                    </p:set>
                                    <p:animEffect transition="in" filter="fade">
                                      <p:cBhvr>
                                        <p:cTn id="67" dur="500"/>
                                        <p:tgtEl>
                                          <p:spTgt spid="124"/>
                                        </p:tgtEl>
                                      </p:cBhvr>
                                    </p:animEffect>
                                  </p:childTnLst>
                                </p:cTn>
                              </p:par>
                              <p:par>
                                <p:cTn id="68" presetID="42" presetClass="path" presetSubtype="0" decel="100000" fill="hold" grpId="1" nodeType="withEffect">
                                  <p:stCondLst>
                                    <p:cond delay="300"/>
                                  </p:stCondLst>
                                  <p:childTnLst>
                                    <p:animMotion origin="layout" path="M -2.08333E-7 -7.40741E-7 L -2.08333E-7 0.03542 " pathEditMode="relative" rAng="0" ptsTypes="AA">
                                      <p:cBhvr>
                                        <p:cTn id="69" dur="700" spd="-100000" fill="hold"/>
                                        <p:tgtEl>
                                          <p:spTgt spid="124"/>
                                        </p:tgtEl>
                                        <p:attrNameLst>
                                          <p:attrName>ppt_x</p:attrName>
                                          <p:attrName>ppt_y</p:attrName>
                                        </p:attrNameLst>
                                      </p:cBhvr>
                                      <p:rCtr x="0" y="1759"/>
                                    </p:animMotion>
                                  </p:childTnLst>
                                </p:cTn>
                              </p:par>
                              <p:par>
                                <p:cTn id="70" presetID="10" presetClass="entr" presetSubtype="0" fill="hold" grpId="0" nodeType="withEffect">
                                  <p:stCondLst>
                                    <p:cond delay="300"/>
                                  </p:stCondLst>
                                  <p:childTnLst>
                                    <p:set>
                                      <p:cBhvr>
                                        <p:cTn id="71" dur="1" fill="hold">
                                          <p:stCondLst>
                                            <p:cond delay="0"/>
                                          </p:stCondLst>
                                        </p:cTn>
                                        <p:tgtEl>
                                          <p:spTgt spid="132"/>
                                        </p:tgtEl>
                                        <p:attrNameLst>
                                          <p:attrName>style.visibility</p:attrName>
                                        </p:attrNameLst>
                                      </p:cBhvr>
                                      <p:to>
                                        <p:strVal val="visible"/>
                                      </p:to>
                                    </p:set>
                                    <p:animEffect transition="in" filter="fade">
                                      <p:cBhvr>
                                        <p:cTn id="72" dur="500"/>
                                        <p:tgtEl>
                                          <p:spTgt spid="132"/>
                                        </p:tgtEl>
                                      </p:cBhvr>
                                    </p:animEffect>
                                  </p:childTnLst>
                                </p:cTn>
                              </p:par>
                              <p:par>
                                <p:cTn id="73" presetID="42" presetClass="path" presetSubtype="0" decel="100000" fill="hold" grpId="1" nodeType="withEffect">
                                  <p:stCondLst>
                                    <p:cond delay="300"/>
                                  </p:stCondLst>
                                  <p:childTnLst>
                                    <p:animMotion origin="layout" path="M -2.08333E-7 -1.48148E-6 L -2.08333E-7 0.03542 " pathEditMode="relative" rAng="0" ptsTypes="AA">
                                      <p:cBhvr>
                                        <p:cTn id="74" dur="700" spd="-100000" fill="hold"/>
                                        <p:tgtEl>
                                          <p:spTgt spid="132"/>
                                        </p:tgtEl>
                                        <p:attrNameLst>
                                          <p:attrName>ppt_x</p:attrName>
                                          <p:attrName>ppt_y</p:attrName>
                                        </p:attrNameLst>
                                      </p:cBhvr>
                                      <p:rCtr x="0" y="1759"/>
                                    </p:animMotion>
                                  </p:childTnLst>
                                </p:cTn>
                              </p:par>
                              <p:par>
                                <p:cTn id="75" presetID="10" presetClass="entr" presetSubtype="0" fill="hold" grpId="0" nodeType="withEffect">
                                  <p:stCondLst>
                                    <p:cond delay="400"/>
                                  </p:stCondLst>
                                  <p:childTnLst>
                                    <p:set>
                                      <p:cBhvr>
                                        <p:cTn id="76" dur="1" fill="hold">
                                          <p:stCondLst>
                                            <p:cond delay="0"/>
                                          </p:stCondLst>
                                        </p:cTn>
                                        <p:tgtEl>
                                          <p:spTgt spid="125"/>
                                        </p:tgtEl>
                                        <p:attrNameLst>
                                          <p:attrName>style.visibility</p:attrName>
                                        </p:attrNameLst>
                                      </p:cBhvr>
                                      <p:to>
                                        <p:strVal val="visible"/>
                                      </p:to>
                                    </p:set>
                                    <p:animEffect transition="in" filter="fade">
                                      <p:cBhvr>
                                        <p:cTn id="77" dur="500"/>
                                        <p:tgtEl>
                                          <p:spTgt spid="125"/>
                                        </p:tgtEl>
                                      </p:cBhvr>
                                    </p:animEffect>
                                  </p:childTnLst>
                                </p:cTn>
                              </p:par>
                              <p:par>
                                <p:cTn id="78" presetID="42" presetClass="path" presetSubtype="0" decel="100000" fill="hold" grpId="1" nodeType="withEffect">
                                  <p:stCondLst>
                                    <p:cond delay="400"/>
                                  </p:stCondLst>
                                  <p:childTnLst>
                                    <p:animMotion origin="layout" path="M 1.66667E-6 -7.40741E-7 L 1.66667E-6 0.03542 " pathEditMode="relative" rAng="0" ptsTypes="AA">
                                      <p:cBhvr>
                                        <p:cTn id="79" dur="700" spd="-100000" fill="hold"/>
                                        <p:tgtEl>
                                          <p:spTgt spid="125"/>
                                        </p:tgtEl>
                                        <p:attrNameLst>
                                          <p:attrName>ppt_x</p:attrName>
                                          <p:attrName>ppt_y</p:attrName>
                                        </p:attrNameLst>
                                      </p:cBhvr>
                                      <p:rCtr x="0" y="1759"/>
                                    </p:animMotion>
                                  </p:childTnLst>
                                </p:cTn>
                              </p:par>
                              <p:par>
                                <p:cTn id="80" presetID="10" presetClass="entr" presetSubtype="0" fill="hold" grpId="0" nodeType="withEffect">
                                  <p:stCondLst>
                                    <p:cond delay="400"/>
                                  </p:stCondLst>
                                  <p:childTnLst>
                                    <p:set>
                                      <p:cBhvr>
                                        <p:cTn id="81" dur="1" fill="hold">
                                          <p:stCondLst>
                                            <p:cond delay="0"/>
                                          </p:stCondLst>
                                        </p:cTn>
                                        <p:tgtEl>
                                          <p:spTgt spid="133"/>
                                        </p:tgtEl>
                                        <p:attrNameLst>
                                          <p:attrName>style.visibility</p:attrName>
                                        </p:attrNameLst>
                                      </p:cBhvr>
                                      <p:to>
                                        <p:strVal val="visible"/>
                                      </p:to>
                                    </p:set>
                                    <p:animEffect transition="in" filter="fade">
                                      <p:cBhvr>
                                        <p:cTn id="82" dur="500"/>
                                        <p:tgtEl>
                                          <p:spTgt spid="133"/>
                                        </p:tgtEl>
                                      </p:cBhvr>
                                    </p:animEffect>
                                  </p:childTnLst>
                                </p:cTn>
                              </p:par>
                              <p:par>
                                <p:cTn id="83" presetID="42" presetClass="path" presetSubtype="0" decel="100000" fill="hold" grpId="1" nodeType="withEffect">
                                  <p:stCondLst>
                                    <p:cond delay="400"/>
                                  </p:stCondLst>
                                  <p:childTnLst>
                                    <p:animMotion origin="layout" path="M 1.66667E-6 -1.48148E-6 L 1.66667E-6 0.03542 " pathEditMode="relative" rAng="0" ptsTypes="AA">
                                      <p:cBhvr>
                                        <p:cTn id="84" dur="700" spd="-100000" fill="hold"/>
                                        <p:tgtEl>
                                          <p:spTgt spid="133"/>
                                        </p:tgtEl>
                                        <p:attrNameLst>
                                          <p:attrName>ppt_x</p:attrName>
                                          <p:attrName>ppt_y</p:attrName>
                                        </p:attrNameLst>
                                      </p:cBhvr>
                                      <p:rCtr x="0" y="1759"/>
                                    </p:animMotion>
                                  </p:childTnLst>
                                </p:cTn>
                              </p:par>
                              <p:par>
                                <p:cTn id="85" presetID="10" presetClass="entr" presetSubtype="0" fill="hold" grpId="0" nodeType="with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fade">
                                      <p:cBhvr>
                                        <p:cTn id="87" dur="500"/>
                                        <p:tgtEl>
                                          <p:spTgt spid="2"/>
                                        </p:tgtEl>
                                      </p:cBhvr>
                                    </p:animEffect>
                                  </p:childTnLst>
                                </p:cTn>
                              </p:par>
                              <p:par>
                                <p:cTn id="88" presetID="42" presetClass="path" presetSubtype="0" decel="100000" fill="hold" grpId="1" nodeType="withEffect">
                                  <p:stCondLst>
                                    <p:cond delay="0"/>
                                  </p:stCondLst>
                                  <p:childTnLst>
                                    <p:animMotion origin="layout" path="M -2.08333E-7 -3.7037E-6 L -2.08333E-7 0.03542 " pathEditMode="relative" rAng="0" ptsTypes="AA">
                                      <p:cBhvr>
                                        <p:cTn id="89" dur="700" spd="-100000" fill="hold"/>
                                        <p:tgtEl>
                                          <p:spTgt spid="2"/>
                                        </p:tgtEl>
                                        <p:attrNameLst>
                                          <p:attrName>ppt_x</p:attrName>
                                          <p:attrName>ppt_y</p:attrName>
                                        </p:attrNameLst>
                                      </p:cBhvr>
                                      <p:rCtr x="0" y="1759"/>
                                    </p:animMotion>
                                  </p:childTnLst>
                                </p:cTn>
                              </p:par>
                              <p:par>
                                <p:cTn id="90" presetID="10" presetClass="entr" presetSubtype="0" fill="hold" grpId="0" nodeType="with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fade">
                                      <p:cBhvr>
                                        <p:cTn id="92" dur="500"/>
                                        <p:tgtEl>
                                          <p:spTgt spid="3"/>
                                        </p:tgtEl>
                                      </p:cBhvr>
                                    </p:animEffect>
                                  </p:childTnLst>
                                </p:cTn>
                              </p:par>
                              <p:par>
                                <p:cTn id="93" presetID="42" presetClass="path" presetSubtype="0" decel="100000" fill="hold" grpId="1" nodeType="withEffect">
                                  <p:stCondLst>
                                    <p:cond delay="0"/>
                                  </p:stCondLst>
                                  <p:childTnLst>
                                    <p:animMotion origin="layout" path="M 0 -4.44444E-6 L 0 0.03542 " pathEditMode="relative" rAng="0" ptsTypes="AA">
                                      <p:cBhvr>
                                        <p:cTn id="94" dur="700" spd="-100000" fill="hold"/>
                                        <p:tgtEl>
                                          <p:spTgt spid="3"/>
                                        </p:tgtEl>
                                        <p:attrNameLst>
                                          <p:attrName>ppt_x</p:attrName>
                                          <p:attrName>ppt_y</p:attrName>
                                        </p:attrNameLst>
                                      </p:cBhvr>
                                      <p:rCtr x="0" y="1759"/>
                                    </p:animMotion>
                                  </p:childTnLst>
                                </p:cTn>
                              </p:par>
                              <p:par>
                                <p:cTn id="95" presetID="10" presetClass="entr" presetSubtype="0" fill="hold" nodeType="withEffect">
                                  <p:stCondLst>
                                    <p:cond delay="100"/>
                                  </p:stCondLst>
                                  <p:childTnLst>
                                    <p:set>
                                      <p:cBhvr>
                                        <p:cTn id="96" dur="1" fill="hold">
                                          <p:stCondLst>
                                            <p:cond delay="0"/>
                                          </p:stCondLst>
                                        </p:cTn>
                                        <p:tgtEl>
                                          <p:spTgt spid="5"/>
                                        </p:tgtEl>
                                        <p:attrNameLst>
                                          <p:attrName>style.visibility</p:attrName>
                                        </p:attrNameLst>
                                      </p:cBhvr>
                                      <p:to>
                                        <p:strVal val="visible"/>
                                      </p:to>
                                    </p:set>
                                    <p:animEffect transition="in" filter="fade">
                                      <p:cBhvr>
                                        <p:cTn id="97" dur="500"/>
                                        <p:tgtEl>
                                          <p:spTgt spid="5"/>
                                        </p:tgtEl>
                                      </p:cBhvr>
                                    </p:animEffect>
                                  </p:childTnLst>
                                </p:cTn>
                              </p:par>
                              <p:par>
                                <p:cTn id="98" presetID="42" presetClass="path" presetSubtype="0" decel="100000" fill="hold" nodeType="withEffect">
                                  <p:stCondLst>
                                    <p:cond delay="100"/>
                                  </p:stCondLst>
                                  <p:childTnLst>
                                    <p:animMotion origin="layout" path="M -1.45833E-6 4.44444E-6 L -1.45833E-6 0.03541 " pathEditMode="relative" rAng="0" ptsTypes="AA">
                                      <p:cBhvr>
                                        <p:cTn id="99" dur="700" spd="-100000" fill="hold"/>
                                        <p:tgtEl>
                                          <p:spTgt spid="5"/>
                                        </p:tgtEl>
                                        <p:attrNameLst>
                                          <p:attrName>ppt_x</p:attrName>
                                          <p:attrName>ppt_y</p:attrName>
                                        </p:attrNameLst>
                                      </p:cBhvr>
                                      <p:rCtr x="0" y="1759"/>
                                    </p:animMotion>
                                  </p:childTnLst>
                                </p:cTn>
                              </p:par>
                              <p:par>
                                <p:cTn id="100" presetID="10" presetClass="entr" presetSubtype="0" fill="hold" nodeType="withEffect">
                                  <p:stCondLst>
                                    <p:cond delay="200"/>
                                  </p:stCondLst>
                                  <p:childTnLst>
                                    <p:set>
                                      <p:cBhvr>
                                        <p:cTn id="101" dur="1" fill="hold">
                                          <p:stCondLst>
                                            <p:cond delay="0"/>
                                          </p:stCondLst>
                                        </p:cTn>
                                        <p:tgtEl>
                                          <p:spTgt spid="8"/>
                                        </p:tgtEl>
                                        <p:attrNameLst>
                                          <p:attrName>style.visibility</p:attrName>
                                        </p:attrNameLst>
                                      </p:cBhvr>
                                      <p:to>
                                        <p:strVal val="visible"/>
                                      </p:to>
                                    </p:set>
                                    <p:animEffect transition="in" filter="fade">
                                      <p:cBhvr>
                                        <p:cTn id="102" dur="500"/>
                                        <p:tgtEl>
                                          <p:spTgt spid="8"/>
                                        </p:tgtEl>
                                      </p:cBhvr>
                                    </p:animEffect>
                                  </p:childTnLst>
                                </p:cTn>
                              </p:par>
                              <p:par>
                                <p:cTn id="103" presetID="42" presetClass="path" presetSubtype="0" decel="100000" fill="hold" nodeType="withEffect">
                                  <p:stCondLst>
                                    <p:cond delay="200"/>
                                  </p:stCondLst>
                                  <p:childTnLst>
                                    <p:animMotion origin="layout" path="M 2.70833E-6 4.44444E-6 L 2.70833E-6 0.03541 " pathEditMode="relative" rAng="0" ptsTypes="AA">
                                      <p:cBhvr>
                                        <p:cTn id="104" dur="700" spd="-100000" fill="hold"/>
                                        <p:tgtEl>
                                          <p:spTgt spid="8"/>
                                        </p:tgtEl>
                                        <p:attrNameLst>
                                          <p:attrName>ppt_x</p:attrName>
                                          <p:attrName>ppt_y</p:attrName>
                                        </p:attrNameLst>
                                      </p:cBhvr>
                                      <p:rCtr x="0" y="1759"/>
                                    </p:animMotion>
                                  </p:childTnLst>
                                </p:cTn>
                              </p:par>
                              <p:par>
                                <p:cTn id="105" presetID="10" presetClass="entr" presetSubtype="0" fill="hold" nodeType="withEffect">
                                  <p:stCondLst>
                                    <p:cond delay="400"/>
                                  </p:stCondLst>
                                  <p:childTnLst>
                                    <p:set>
                                      <p:cBhvr>
                                        <p:cTn id="106" dur="1" fill="hold">
                                          <p:stCondLst>
                                            <p:cond delay="0"/>
                                          </p:stCondLst>
                                        </p:cTn>
                                        <p:tgtEl>
                                          <p:spTgt spid="137"/>
                                        </p:tgtEl>
                                        <p:attrNameLst>
                                          <p:attrName>style.visibility</p:attrName>
                                        </p:attrNameLst>
                                      </p:cBhvr>
                                      <p:to>
                                        <p:strVal val="visible"/>
                                      </p:to>
                                    </p:set>
                                    <p:animEffect transition="in" filter="fade">
                                      <p:cBhvr>
                                        <p:cTn id="107" dur="500"/>
                                        <p:tgtEl>
                                          <p:spTgt spid="137"/>
                                        </p:tgtEl>
                                      </p:cBhvr>
                                    </p:animEffect>
                                  </p:childTnLst>
                                </p:cTn>
                              </p:par>
                              <p:par>
                                <p:cTn id="108" presetID="42" presetClass="path" presetSubtype="0" decel="100000" fill="hold" nodeType="withEffect">
                                  <p:stCondLst>
                                    <p:cond delay="400"/>
                                  </p:stCondLst>
                                  <p:childTnLst>
                                    <p:animMotion origin="layout" path="M 1.45833E-6 4.44444E-6 L 1.45833E-6 0.03541 " pathEditMode="relative" rAng="0" ptsTypes="AA">
                                      <p:cBhvr>
                                        <p:cTn id="109" dur="700" spd="-100000" fill="hold"/>
                                        <p:tgtEl>
                                          <p:spTgt spid="137"/>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18" grpId="0" animBg="1"/>
      <p:bldP spid="118" grpId="1" animBg="1"/>
      <p:bldP spid="119" grpId="0" animBg="1"/>
      <p:bldP spid="119" grpId="1" animBg="1"/>
      <p:bldP spid="120" grpId="0" animBg="1"/>
      <p:bldP spid="120" grpId="1" animBg="1"/>
      <p:bldP spid="121" grpId="0" animBg="1"/>
      <p:bldP spid="121" grpId="1" animBg="1"/>
      <p:bldP spid="122" grpId="0"/>
      <p:bldP spid="122" grpId="1"/>
      <p:bldP spid="123" grpId="0"/>
      <p:bldP spid="123" grpId="1"/>
      <p:bldP spid="124" grpId="0"/>
      <p:bldP spid="124" grpId="1"/>
      <p:bldP spid="125" grpId="0"/>
      <p:bldP spid="125" grpId="1"/>
      <p:bldP spid="126" grpId="0" animBg="1"/>
      <p:bldP spid="126" grpId="1" animBg="1"/>
      <p:bldP spid="127" grpId="0" animBg="1"/>
      <p:bldP spid="127" grpId="1" animBg="1"/>
      <p:bldP spid="128" grpId="0" animBg="1"/>
      <p:bldP spid="128" grpId="1" animBg="1"/>
      <p:bldP spid="129" grpId="0" animBg="1"/>
      <p:bldP spid="129" grpId="1" animBg="1"/>
      <p:bldP spid="130" grpId="0"/>
      <p:bldP spid="130" grpId="1"/>
      <p:bldP spid="131" grpId="0"/>
      <p:bldP spid="131" grpId="1"/>
      <p:bldP spid="132" grpId="0"/>
      <p:bldP spid="132" grpId="1"/>
      <p:bldP spid="133" grpId="0"/>
      <p:bldP spid="133" grpId="1"/>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D3119-DE2B-CFC6-72E6-6ED472F5584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15E6DBB-5FFF-DA01-F703-4421A728FAA1}"/>
              </a:ext>
              <a:ext uri="{C183D7F6-B498-43B3-948B-1728B52AA6E4}">
                <adec:decorative xmlns:adec="http://schemas.microsoft.com/office/drawing/2017/decorative" val="1"/>
              </a:ext>
            </a:extLst>
          </p:cNvPr>
          <p:cNvGrpSpPr/>
          <p:nvPr/>
        </p:nvGrpSpPr>
        <p:grpSpPr>
          <a:xfrm>
            <a:off x="0" y="-47705"/>
            <a:ext cx="18288000" cy="10287000"/>
            <a:chOff x="0" y="0"/>
            <a:chExt cx="12192000" cy="6858000"/>
          </a:xfrm>
        </p:grpSpPr>
        <p:sp>
          <p:nvSpPr>
            <p:cNvPr id="10" name="Rectangle 9" descr="Dark Pattern: Plus dots">
              <a:extLst>
                <a:ext uri="{FF2B5EF4-FFF2-40B4-BE49-F238E27FC236}">
                  <a16:creationId xmlns:a16="http://schemas.microsoft.com/office/drawing/2014/main" id="{2E6BB52C-3691-611F-24B0-32B8D607C349}"/>
                </a:ext>
              </a:extLst>
            </p:cNvPr>
            <p:cNvSpPr/>
            <p:nvPr/>
          </p:nvSpPr>
          <p:spPr bwMode="auto">
            <a:xfrm>
              <a:off x="0" y="0"/>
              <a:ext cx="12192000" cy="6842084"/>
            </a:xfrm>
            <a:prstGeom prst="rect">
              <a:avLst/>
            </a:prstGeom>
            <a:blipFill dpi="0" rotWithShape="1">
              <a:blip>
                <a:alphaModFix amt="20000"/>
                <a:extLst>
                  <a:ext uri="{96DAC541-7B7A-43D3-8B79-37D633B846F1}">
                    <asvg:svgBlip xmlns:asvg="http://schemas.microsoft.com/office/drawing/2016/SVG/main" r:embed="rId3"/>
                  </a:ext>
                </a:extLst>
              </a:blip>
              <a:srcRect/>
              <a:tile tx="0" ty="0" sx="100000" sy="10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solidFill>
                  <a:srgbClr val="FFFFFF"/>
                </a:solidFill>
                <a:latin typeface="Segoe UI"/>
                <a:ea typeface="Segoe UI" pitchFamily="34" charset="0"/>
                <a:cs typeface="Segoe UI" pitchFamily="34" charset="0"/>
              </a:endParaRPr>
            </a:p>
          </p:txBody>
        </p:sp>
        <p:sp>
          <p:nvSpPr>
            <p:cNvPr id="11" name="Rectangle: Rounded Corners 4" descr="Dark - small container">
              <a:extLst>
                <a:ext uri="{FF2B5EF4-FFF2-40B4-BE49-F238E27FC236}">
                  <a16:creationId xmlns:a16="http://schemas.microsoft.com/office/drawing/2014/main" id="{F1CC21C4-AAB2-3CA0-FEF3-D73FCFB5A0AD}"/>
                </a:ext>
              </a:extLst>
            </p:cNvPr>
            <p:cNvSpPr>
              <a:spLocks/>
            </p:cNvSpPr>
            <p:nvPr/>
          </p:nvSpPr>
          <p:spPr bwMode="auto">
            <a:xfrm>
              <a:off x="0" y="0"/>
              <a:ext cx="12192000" cy="6858000"/>
            </a:xfrm>
            <a:prstGeom prst="rect">
              <a:avLst/>
            </a:prstGeom>
            <a:gradFill>
              <a:gsLst>
                <a:gs pos="70000">
                  <a:srgbClr val="091F2C"/>
                </a:gs>
                <a:gs pos="95000">
                  <a:srgbClr val="091F2C">
                    <a:alpha val="77000"/>
                  </a:srgbClr>
                </a:gs>
                <a:gs pos="25000">
                  <a:srgbClr val="091F2C"/>
                </a:gs>
                <a:gs pos="0">
                  <a:srgbClr val="091F2C">
                    <a:alpha val="40000"/>
                  </a:srgbClr>
                </a:gs>
              </a:gsLst>
              <a:path path="circle">
                <a:fillToRect l="100000" t="100000"/>
              </a:path>
            </a:gradFill>
            <a:ln w="1270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solidFill>
                  <a:srgbClr val="FFFFFF"/>
                </a:solidFill>
                <a:latin typeface="Segoe UI"/>
                <a:cs typeface="Segoe UI" pitchFamily="34" charset="0"/>
              </a:endParaRPr>
            </a:p>
          </p:txBody>
        </p:sp>
      </p:grpSp>
      <p:grpSp>
        <p:nvGrpSpPr>
          <p:cNvPr id="4" name="Group 3" descr="Migrate apps, data, and infra">
            <a:extLst>
              <a:ext uri="{FF2B5EF4-FFF2-40B4-BE49-F238E27FC236}">
                <a16:creationId xmlns:a16="http://schemas.microsoft.com/office/drawing/2014/main" id="{633BFB26-FB52-A30B-190D-20790560D7EA}"/>
              </a:ext>
            </a:extLst>
          </p:cNvPr>
          <p:cNvGrpSpPr/>
          <p:nvPr/>
        </p:nvGrpSpPr>
        <p:grpSpPr>
          <a:xfrm>
            <a:off x="1341375" y="2561237"/>
            <a:ext cx="4689444" cy="6890530"/>
            <a:chOff x="1188888" y="2454158"/>
            <a:chExt cx="3126294" cy="3207151"/>
          </a:xfrm>
        </p:grpSpPr>
        <p:sp>
          <p:nvSpPr>
            <p:cNvPr id="3" name="Freeform 2">
              <a:extLst>
                <a:ext uri="{FF2B5EF4-FFF2-40B4-BE49-F238E27FC236}">
                  <a16:creationId xmlns:a16="http://schemas.microsoft.com/office/drawing/2014/main" id="{33B3179A-24E4-1C17-CD5D-53CC4D26D861}"/>
                </a:ext>
                <a:ext uri="{C183D7F6-B498-43B3-948B-1728B52AA6E4}">
                  <adec:decorative xmlns:adec="http://schemas.microsoft.com/office/drawing/2017/decorative" val="1"/>
                </a:ext>
              </a:extLst>
            </p:cNvPr>
            <p:cNvSpPr/>
            <p:nvPr/>
          </p:nvSpPr>
          <p:spPr bwMode="auto">
            <a:xfrm>
              <a:off x="1188888" y="2454158"/>
              <a:ext cx="3126294" cy="3207151"/>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5" name="TextBox 94">
              <a:extLst>
                <a:ext uri="{FF2B5EF4-FFF2-40B4-BE49-F238E27FC236}">
                  <a16:creationId xmlns:a16="http://schemas.microsoft.com/office/drawing/2014/main" id="{4DE52F8B-87CD-A4D4-0BE5-0408247CE0C2}"/>
                </a:ext>
                <a:ext uri="{C183D7F6-B498-43B3-948B-1728B52AA6E4}">
                  <adec:decorative xmlns:adec="http://schemas.microsoft.com/office/drawing/2017/decorative" val="1"/>
                </a:ext>
              </a:extLst>
            </p:cNvPr>
            <p:cNvSpPr txBox="1"/>
            <p:nvPr/>
          </p:nvSpPr>
          <p:spPr>
            <a:xfrm>
              <a:off x="1422511" y="2702377"/>
              <a:ext cx="2675089" cy="429758"/>
            </a:xfrm>
            <a:prstGeom prst="rect">
              <a:avLst/>
            </a:prstGeom>
            <a:noFill/>
          </p:spPr>
          <p:txBody>
            <a:bodyPr wrap="square" lIns="54000" tIns="0" rIns="54000" bIns="0" rtlCol="0">
              <a:spAutoFit/>
            </a:bodyPr>
            <a:lstStyle/>
            <a:p>
              <a:pPr algn="ctr" defTabSz="1371551">
                <a:defRPr/>
              </a:pPr>
              <a:r>
                <a:rPr lang="en-US" sz="3000" spc="-75" dirty="0">
                  <a:ln w="3175">
                    <a:noFill/>
                  </a:ln>
                  <a:solidFill>
                    <a:srgbClr val="D59ED7"/>
                  </a:solidFill>
                  <a:latin typeface="Segoe UI Semibold"/>
                  <a:ea typeface="+mj-lt"/>
                  <a:cs typeface="Segoe UI Semibold"/>
                </a:rPr>
                <a:t>Future- Ready </a:t>
              </a:r>
              <a:br>
                <a:rPr lang="en-US" sz="3000" spc="-75" dirty="0">
                  <a:ln w="3175">
                    <a:noFill/>
                  </a:ln>
                  <a:solidFill>
                    <a:srgbClr val="D59ED7"/>
                  </a:solidFill>
                  <a:latin typeface="Segoe UI Semibold"/>
                  <a:ea typeface="+mj-lt"/>
                  <a:cs typeface="Segoe UI Semibold"/>
                </a:rPr>
              </a:br>
              <a:r>
                <a:rPr lang="en-US" sz="3000" spc="-75" dirty="0">
                  <a:ln w="3175">
                    <a:noFill/>
                  </a:ln>
                  <a:solidFill>
                    <a:srgbClr val="D59ED7"/>
                  </a:solidFill>
                  <a:latin typeface="Segoe UI Semibold"/>
                  <a:ea typeface="+mj-lt"/>
                  <a:cs typeface="Segoe UI Semibold"/>
                </a:rPr>
                <a:t>IT Strategy</a:t>
              </a:r>
            </a:p>
          </p:txBody>
        </p:sp>
        <p:sp>
          <p:nvSpPr>
            <p:cNvPr id="102" name="TextBox 101">
              <a:extLst>
                <a:ext uri="{FF2B5EF4-FFF2-40B4-BE49-F238E27FC236}">
                  <a16:creationId xmlns:a16="http://schemas.microsoft.com/office/drawing/2014/main" id="{32F93A03-C03B-1097-F70A-C4DB9AA0F8C9}"/>
                </a:ext>
                <a:ext uri="{C183D7F6-B498-43B3-948B-1728B52AA6E4}">
                  <adec:decorative xmlns:adec="http://schemas.microsoft.com/office/drawing/2017/decorative" val="0"/>
                </a:ext>
              </a:extLst>
            </p:cNvPr>
            <p:cNvSpPr txBox="1"/>
            <p:nvPr/>
          </p:nvSpPr>
          <p:spPr>
            <a:xfrm>
              <a:off x="1381987" y="3360651"/>
              <a:ext cx="2766415" cy="613605"/>
            </a:xfrm>
            <a:prstGeom prst="rect">
              <a:avLst/>
            </a:prstGeom>
            <a:noFill/>
          </p:spPr>
          <p:txBody>
            <a:bodyPr wrap="square" lIns="54000" tIns="0" rIns="54000" bIns="0" rtlCol="0">
              <a:spAutoFit/>
            </a:bodyPr>
            <a:lstStyle/>
            <a:p>
              <a:pPr algn="ctr" defTabSz="1371551">
                <a:defRPr/>
              </a:pPr>
              <a:r>
                <a:rPr lang="en-US" sz="2400" dirty="0"/>
                <a:t>Organizations need a </a:t>
              </a:r>
              <a:br>
                <a:rPr lang="en-US" sz="2400" dirty="0"/>
              </a:br>
              <a:r>
                <a:rPr lang="en-US" sz="2400" b="1" dirty="0"/>
                <a:t>future-ready IT strategy</a:t>
              </a:r>
              <a:br>
                <a:rPr lang="en-US" sz="2400" b="1" dirty="0"/>
              </a:br>
              <a:r>
                <a:rPr lang="en-US" sz="2400" dirty="0"/>
                <a:t> to remain competitive</a:t>
              </a:r>
              <a:endParaRPr lang="en-US" sz="2100" spc="-75" dirty="0">
                <a:ln w="3175">
                  <a:noFill/>
                </a:ln>
                <a:solidFill>
                  <a:srgbClr val="FFFFFF"/>
                </a:solidFill>
                <a:latin typeface="Segoe UI"/>
                <a:ea typeface="+mj-lt"/>
                <a:cs typeface="Segoe UI Semibold"/>
              </a:endParaRPr>
            </a:p>
          </p:txBody>
        </p:sp>
      </p:grpSp>
      <p:sp>
        <p:nvSpPr>
          <p:cNvPr id="14" name="Freeform 13">
            <a:extLst>
              <a:ext uri="{FF2B5EF4-FFF2-40B4-BE49-F238E27FC236}">
                <a16:creationId xmlns:a16="http://schemas.microsoft.com/office/drawing/2014/main" id="{4ED0AD66-6C7B-2148-0010-FDC50D12B7C6}"/>
              </a:ext>
              <a:ext uri="{C183D7F6-B498-43B3-948B-1728B52AA6E4}">
                <adec:decorative xmlns:adec="http://schemas.microsoft.com/office/drawing/2017/decorative" val="1"/>
              </a:ext>
            </a:extLst>
          </p:cNvPr>
          <p:cNvSpPr/>
          <p:nvPr/>
        </p:nvSpPr>
        <p:spPr bwMode="auto">
          <a:xfrm>
            <a:off x="7393447" y="3245078"/>
            <a:ext cx="4632914" cy="195572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7" name="TextBox 96">
            <a:extLst>
              <a:ext uri="{FF2B5EF4-FFF2-40B4-BE49-F238E27FC236}">
                <a16:creationId xmlns:a16="http://schemas.microsoft.com/office/drawing/2014/main" id="{46BFB5D4-D2E0-3567-9A29-24C23CB6B11F}"/>
              </a:ext>
              <a:ext uri="{C183D7F6-B498-43B3-948B-1728B52AA6E4}">
                <adec:decorative xmlns:adec="http://schemas.microsoft.com/office/drawing/2017/decorative" val="1"/>
              </a:ext>
            </a:extLst>
          </p:cNvPr>
          <p:cNvSpPr txBox="1"/>
          <p:nvPr/>
        </p:nvSpPr>
        <p:spPr>
          <a:xfrm>
            <a:off x="7446119" y="3515261"/>
            <a:ext cx="4318422" cy="1661993"/>
          </a:xfrm>
          <a:prstGeom prst="rect">
            <a:avLst/>
          </a:prstGeom>
          <a:noFill/>
        </p:spPr>
        <p:txBody>
          <a:bodyPr wrap="square" lIns="54000" tIns="0" rIns="54000" bIns="0" rtlCol="0">
            <a:spAutoFit/>
          </a:bodyPr>
          <a:lstStyle/>
          <a:p>
            <a:pPr algn="ctr" defTabSz="1371551">
              <a:defRPr/>
            </a:pPr>
            <a:r>
              <a:rPr lang="en-US" sz="2800" spc="-75" dirty="0">
                <a:ln w="3175">
                  <a:noFill/>
                </a:ln>
                <a:solidFill>
                  <a:srgbClr val="D59ED7"/>
                </a:solidFill>
                <a:latin typeface="Segoe UI Semibold"/>
                <a:ea typeface="+mj-lt"/>
                <a:cs typeface="Segoe UI Semibold"/>
              </a:rPr>
              <a:t>End-to-End Migration</a:t>
            </a:r>
            <a:br>
              <a:rPr lang="en-US" sz="2800" spc="-75" dirty="0">
                <a:ln w="3175">
                  <a:noFill/>
                </a:ln>
                <a:solidFill>
                  <a:srgbClr val="D59ED7"/>
                </a:solidFill>
                <a:latin typeface="Segoe UI Semibold"/>
                <a:ea typeface="+mj-lt"/>
                <a:cs typeface="Segoe UI Semibold"/>
              </a:rPr>
            </a:br>
            <a:r>
              <a:rPr lang="en-US" sz="2800" spc="-75" dirty="0">
                <a:ln w="3175">
                  <a:noFill/>
                </a:ln>
                <a:solidFill>
                  <a:srgbClr val="D59ED7"/>
                </a:solidFill>
                <a:latin typeface="Segoe UI Semibold"/>
                <a:ea typeface="+mj-lt"/>
                <a:cs typeface="Segoe UI Semibold"/>
              </a:rPr>
              <a:t> &amp; Modernization</a:t>
            </a:r>
            <a:br>
              <a:rPr lang="en-US" sz="3000" spc="-75" dirty="0">
                <a:ln w="3175">
                  <a:noFill/>
                </a:ln>
                <a:solidFill>
                  <a:srgbClr val="D59ED7"/>
                </a:solidFill>
                <a:latin typeface="Segoe UI Semibold"/>
                <a:ea typeface="+mj-lt"/>
                <a:cs typeface="Segoe UI Semibold"/>
              </a:rPr>
            </a:br>
            <a:r>
              <a:rPr lang="en-US" sz="2400" dirty="0"/>
              <a:t>Assess, plan, and execute a seamless transition to Azure</a:t>
            </a:r>
            <a:endParaRPr lang="en-US" sz="2800" spc="-75" dirty="0">
              <a:ln w="3175">
                <a:noFill/>
              </a:ln>
              <a:solidFill>
                <a:srgbClr val="D59ED7"/>
              </a:solidFill>
              <a:latin typeface="Segoe UI Semibold"/>
              <a:ea typeface="+mj-lt"/>
              <a:cs typeface="Segoe UI Semibold"/>
            </a:endParaRPr>
          </a:p>
        </p:txBody>
      </p:sp>
      <p:sp>
        <p:nvSpPr>
          <p:cNvPr id="5" name="TextBox 4">
            <a:extLst>
              <a:ext uri="{FF2B5EF4-FFF2-40B4-BE49-F238E27FC236}">
                <a16:creationId xmlns:a16="http://schemas.microsoft.com/office/drawing/2014/main" id="{065F0687-A573-4918-630A-E03DA3827C67}"/>
              </a:ext>
              <a:ext uri="{C183D7F6-B498-43B3-948B-1728B52AA6E4}">
                <adec:decorative xmlns:adec="http://schemas.microsoft.com/office/drawing/2017/decorative" val="0"/>
              </a:ext>
            </a:extLst>
          </p:cNvPr>
          <p:cNvSpPr txBox="1"/>
          <p:nvPr/>
        </p:nvSpPr>
        <p:spPr>
          <a:xfrm>
            <a:off x="1676400" y="6208975"/>
            <a:ext cx="4028045" cy="1107996"/>
          </a:xfrm>
          <a:prstGeom prst="rect">
            <a:avLst/>
          </a:prstGeom>
          <a:noFill/>
        </p:spPr>
        <p:txBody>
          <a:bodyPr wrap="square" lIns="54000" tIns="0" rIns="54000" bIns="0" rtlCol="0">
            <a:spAutoFit/>
          </a:bodyPr>
          <a:lstStyle/>
          <a:p>
            <a:pPr algn="ctr" defTabSz="1371551">
              <a:defRPr/>
            </a:pPr>
            <a:r>
              <a:rPr lang="en-US" sz="2400" dirty="0"/>
              <a:t>Q- How do we </a:t>
            </a:r>
            <a:r>
              <a:rPr lang="en-US" sz="2400" b="1" dirty="0"/>
              <a:t>seamlessly migrate workloads</a:t>
            </a:r>
            <a:r>
              <a:rPr lang="en-US" sz="2400" dirty="0"/>
              <a:t> without disrupting operations?</a:t>
            </a:r>
            <a:endParaRPr lang="en-US" sz="2100" spc="-75" dirty="0">
              <a:ln w="3175">
                <a:noFill/>
              </a:ln>
              <a:solidFill>
                <a:srgbClr val="FFFFFF"/>
              </a:solidFill>
              <a:latin typeface="Segoe UI"/>
              <a:ea typeface="+mj-lt"/>
              <a:cs typeface="Segoe UI Semibold"/>
            </a:endParaRPr>
          </a:p>
        </p:txBody>
      </p:sp>
      <p:sp>
        <p:nvSpPr>
          <p:cNvPr id="7" name="Freeform 13">
            <a:extLst>
              <a:ext uri="{FF2B5EF4-FFF2-40B4-BE49-F238E27FC236}">
                <a16:creationId xmlns:a16="http://schemas.microsoft.com/office/drawing/2014/main" id="{CE6AC89B-20F7-49C0-CFD3-AC5B63E9EA09}"/>
              </a:ext>
              <a:ext uri="{C183D7F6-B498-43B3-948B-1728B52AA6E4}">
                <adec:decorative xmlns:adec="http://schemas.microsoft.com/office/drawing/2017/decorative" val="1"/>
              </a:ext>
            </a:extLst>
          </p:cNvPr>
          <p:cNvSpPr/>
          <p:nvPr/>
        </p:nvSpPr>
        <p:spPr bwMode="auto">
          <a:xfrm>
            <a:off x="7393447" y="5838468"/>
            <a:ext cx="4632914" cy="195572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8" name="TextBox 7">
            <a:extLst>
              <a:ext uri="{FF2B5EF4-FFF2-40B4-BE49-F238E27FC236}">
                <a16:creationId xmlns:a16="http://schemas.microsoft.com/office/drawing/2014/main" id="{74E68EDC-59B0-C3EB-7338-E962E0D76AEC}"/>
              </a:ext>
              <a:ext uri="{C183D7F6-B498-43B3-948B-1728B52AA6E4}">
                <adec:decorative xmlns:adec="http://schemas.microsoft.com/office/drawing/2017/decorative" val="1"/>
              </a:ext>
            </a:extLst>
          </p:cNvPr>
          <p:cNvSpPr txBox="1"/>
          <p:nvPr/>
        </p:nvSpPr>
        <p:spPr>
          <a:xfrm>
            <a:off x="7645961" y="5903195"/>
            <a:ext cx="4318422" cy="1661993"/>
          </a:xfrm>
          <a:prstGeom prst="rect">
            <a:avLst/>
          </a:prstGeom>
          <a:noFill/>
        </p:spPr>
        <p:txBody>
          <a:bodyPr wrap="square" lIns="54000" tIns="0" rIns="54000" bIns="0" rtlCol="0">
            <a:spAutoFit/>
          </a:bodyPr>
          <a:lstStyle/>
          <a:p>
            <a:pPr algn="ctr" defTabSz="1371551">
              <a:defRPr/>
            </a:pPr>
            <a:r>
              <a:rPr lang="en-US" sz="2800" spc="-75" dirty="0">
                <a:ln w="3175">
                  <a:noFill/>
                </a:ln>
                <a:solidFill>
                  <a:srgbClr val="D59ED7"/>
                </a:solidFill>
                <a:latin typeface="Segoe UI Semibold"/>
                <a:ea typeface="+mj-lt"/>
                <a:cs typeface="Segoe UI Semibold"/>
              </a:rPr>
              <a:t>Security &amp; Compliance Assurance</a:t>
            </a:r>
            <a:br>
              <a:rPr lang="en-US" sz="3000" spc="-75" dirty="0">
                <a:ln w="3175">
                  <a:noFill/>
                </a:ln>
                <a:solidFill>
                  <a:srgbClr val="D59ED7"/>
                </a:solidFill>
                <a:latin typeface="Segoe UI Semibold"/>
                <a:ea typeface="+mj-lt"/>
                <a:cs typeface="Segoe UI Semibold"/>
              </a:rPr>
            </a:br>
            <a:r>
              <a:rPr lang="en-US" sz="2800" dirty="0"/>
              <a:t> </a:t>
            </a:r>
            <a:r>
              <a:rPr lang="en-US" sz="2400" dirty="0"/>
              <a:t>Get built-in zero-trust security and regulatory compliance</a:t>
            </a:r>
          </a:p>
        </p:txBody>
      </p:sp>
      <p:sp>
        <p:nvSpPr>
          <p:cNvPr id="12" name="Freeform 13">
            <a:extLst>
              <a:ext uri="{FF2B5EF4-FFF2-40B4-BE49-F238E27FC236}">
                <a16:creationId xmlns:a16="http://schemas.microsoft.com/office/drawing/2014/main" id="{0F66271A-C668-BB88-F0A7-F80F1D22F082}"/>
              </a:ext>
              <a:ext uri="{C183D7F6-B498-43B3-948B-1728B52AA6E4}">
                <adec:decorative xmlns:adec="http://schemas.microsoft.com/office/drawing/2017/decorative" val="1"/>
              </a:ext>
            </a:extLst>
          </p:cNvPr>
          <p:cNvSpPr/>
          <p:nvPr/>
        </p:nvSpPr>
        <p:spPr bwMode="auto">
          <a:xfrm>
            <a:off x="12253007" y="3219508"/>
            <a:ext cx="4805528" cy="199447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15" name="Freeform 13">
            <a:extLst>
              <a:ext uri="{FF2B5EF4-FFF2-40B4-BE49-F238E27FC236}">
                <a16:creationId xmlns:a16="http://schemas.microsoft.com/office/drawing/2014/main" id="{C6CA81F3-7072-028F-8E90-F2D64CC0D02D}"/>
              </a:ext>
              <a:ext uri="{C183D7F6-B498-43B3-948B-1728B52AA6E4}">
                <adec:decorative xmlns:adec="http://schemas.microsoft.com/office/drawing/2017/decorative" val="1"/>
              </a:ext>
            </a:extLst>
          </p:cNvPr>
          <p:cNvSpPr/>
          <p:nvPr/>
        </p:nvSpPr>
        <p:spPr bwMode="auto">
          <a:xfrm>
            <a:off x="12278875" y="5821680"/>
            <a:ext cx="4779660" cy="1955727"/>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16" name="TextBox 15">
            <a:extLst>
              <a:ext uri="{FF2B5EF4-FFF2-40B4-BE49-F238E27FC236}">
                <a16:creationId xmlns:a16="http://schemas.microsoft.com/office/drawing/2014/main" id="{01E6C64A-A802-FD16-519A-FFCE517D3392}"/>
              </a:ext>
              <a:ext uri="{C183D7F6-B498-43B3-948B-1728B52AA6E4}">
                <adec:decorative xmlns:adec="http://schemas.microsoft.com/office/drawing/2017/decorative" val="1"/>
              </a:ext>
            </a:extLst>
          </p:cNvPr>
          <p:cNvSpPr txBox="1"/>
          <p:nvPr/>
        </p:nvSpPr>
        <p:spPr>
          <a:xfrm>
            <a:off x="12460079" y="3469541"/>
            <a:ext cx="4486546" cy="1600438"/>
          </a:xfrm>
          <a:prstGeom prst="rect">
            <a:avLst/>
          </a:prstGeom>
          <a:noFill/>
        </p:spPr>
        <p:txBody>
          <a:bodyPr wrap="square" lIns="54000" tIns="0" rIns="54000" bIns="0" rtlCol="0">
            <a:spAutoFit/>
          </a:bodyPr>
          <a:lstStyle/>
          <a:p>
            <a:pPr algn="ctr" defTabSz="1371551">
              <a:defRPr/>
            </a:pPr>
            <a:r>
              <a:rPr lang="en-US" sz="2800" spc="-75" dirty="0">
                <a:ln w="3175">
                  <a:noFill/>
                </a:ln>
                <a:solidFill>
                  <a:srgbClr val="D59ED7"/>
                </a:solidFill>
                <a:latin typeface="Segoe UI Semibold"/>
                <a:ea typeface="+mj-lt"/>
                <a:cs typeface="Segoe UI Semibold"/>
              </a:rPr>
              <a:t>Cost Optimization  &amp; </a:t>
            </a:r>
            <a:br>
              <a:rPr lang="en-US" sz="2800" spc="-75" dirty="0">
                <a:ln w="3175">
                  <a:noFill/>
                </a:ln>
                <a:solidFill>
                  <a:srgbClr val="D59ED7"/>
                </a:solidFill>
                <a:latin typeface="Segoe UI Semibold"/>
                <a:ea typeface="+mj-lt"/>
                <a:cs typeface="Segoe UI Semibold"/>
              </a:rPr>
            </a:br>
            <a:r>
              <a:rPr lang="en-US" sz="2800" spc="-75" dirty="0">
                <a:ln w="3175">
                  <a:noFill/>
                </a:ln>
                <a:solidFill>
                  <a:srgbClr val="D59ED7"/>
                </a:solidFill>
                <a:latin typeface="Segoe UI Semibold"/>
                <a:ea typeface="+mj-lt"/>
                <a:cs typeface="Segoe UI Semibold"/>
              </a:rPr>
              <a:t>ROI Acceleration</a:t>
            </a:r>
            <a:br>
              <a:rPr lang="en-US" sz="3200" dirty="0"/>
            </a:br>
            <a:r>
              <a:rPr lang="en-US" sz="2400" dirty="0"/>
              <a:t>Reduce infra costs by up to 40% with Azure Hybrid Benefits</a:t>
            </a:r>
          </a:p>
        </p:txBody>
      </p:sp>
      <p:sp>
        <p:nvSpPr>
          <p:cNvPr id="17" name="TextBox 16">
            <a:extLst>
              <a:ext uri="{FF2B5EF4-FFF2-40B4-BE49-F238E27FC236}">
                <a16:creationId xmlns:a16="http://schemas.microsoft.com/office/drawing/2014/main" id="{0701E1B9-2A10-CD62-A5B7-65899A345173}"/>
              </a:ext>
              <a:ext uri="{C183D7F6-B498-43B3-948B-1728B52AA6E4}">
                <adec:decorative xmlns:adec="http://schemas.microsoft.com/office/drawing/2017/decorative" val="1"/>
              </a:ext>
            </a:extLst>
          </p:cNvPr>
          <p:cNvSpPr txBox="1"/>
          <p:nvPr/>
        </p:nvSpPr>
        <p:spPr>
          <a:xfrm>
            <a:off x="12460079" y="5923181"/>
            <a:ext cx="4318422" cy="1600438"/>
          </a:xfrm>
          <a:prstGeom prst="rect">
            <a:avLst/>
          </a:prstGeom>
          <a:noFill/>
        </p:spPr>
        <p:txBody>
          <a:bodyPr wrap="square" lIns="54000" tIns="0" rIns="54000" bIns="0" rtlCol="0">
            <a:spAutoFit/>
          </a:bodyPr>
          <a:lstStyle/>
          <a:p>
            <a:pPr algn="ctr" defTabSz="1371551">
              <a:defRPr/>
            </a:pPr>
            <a:r>
              <a:rPr lang="en-US" sz="2800" spc="-75" dirty="0">
                <a:ln w="3175">
                  <a:noFill/>
                </a:ln>
                <a:solidFill>
                  <a:srgbClr val="D59ED7"/>
                </a:solidFill>
                <a:latin typeface="Segoe UI Semibold"/>
                <a:ea typeface="+mj-lt"/>
                <a:cs typeface="Segoe UI Semibold"/>
              </a:rPr>
              <a:t>Application &amp; Database Modernization </a:t>
            </a:r>
            <a:br>
              <a:rPr lang="en-US" sz="2800" spc="-75" dirty="0">
                <a:ln w="3175">
                  <a:noFill/>
                </a:ln>
                <a:solidFill>
                  <a:srgbClr val="D59ED7"/>
                </a:solidFill>
                <a:latin typeface="Segoe UI Semibold"/>
                <a:ea typeface="+mj-lt"/>
                <a:cs typeface="Segoe UI Semibold"/>
              </a:rPr>
            </a:br>
            <a:r>
              <a:rPr lang="en-US" sz="2400" dirty="0"/>
              <a:t>Move from legacy to cloud-native, AI-driven apps</a:t>
            </a:r>
          </a:p>
        </p:txBody>
      </p:sp>
      <p:sp>
        <p:nvSpPr>
          <p:cNvPr id="6" name="TextBox 5">
            <a:extLst>
              <a:ext uri="{FF2B5EF4-FFF2-40B4-BE49-F238E27FC236}">
                <a16:creationId xmlns:a16="http://schemas.microsoft.com/office/drawing/2014/main" id="{08B3BD25-A76A-2997-FA34-7AC5E42C3BE1}"/>
              </a:ext>
              <a:ext uri="{C183D7F6-B498-43B3-948B-1728B52AA6E4}">
                <adec:decorative xmlns:adec="http://schemas.microsoft.com/office/drawing/2017/decorative" val="0"/>
              </a:ext>
            </a:extLst>
          </p:cNvPr>
          <p:cNvSpPr txBox="1"/>
          <p:nvPr/>
        </p:nvSpPr>
        <p:spPr>
          <a:xfrm>
            <a:off x="1691810" y="7771674"/>
            <a:ext cx="4028045" cy="1477328"/>
          </a:xfrm>
          <a:prstGeom prst="rect">
            <a:avLst/>
          </a:prstGeom>
          <a:noFill/>
        </p:spPr>
        <p:txBody>
          <a:bodyPr wrap="square" lIns="54000" tIns="0" rIns="54000" bIns="0" rtlCol="0">
            <a:spAutoFit/>
          </a:bodyPr>
          <a:lstStyle/>
          <a:p>
            <a:pPr algn="ctr" defTabSz="1371551">
              <a:defRPr/>
            </a:pPr>
            <a:r>
              <a:rPr lang="en-US" sz="2400" dirty="0"/>
              <a:t>Q- What is the best approach to migrate, optimize, and modernize IT infrastructure?</a:t>
            </a:r>
            <a:endParaRPr lang="en-US" sz="2100" spc="-75" dirty="0">
              <a:ln w="3175">
                <a:noFill/>
              </a:ln>
              <a:solidFill>
                <a:srgbClr val="FFFFFF"/>
              </a:solidFill>
              <a:latin typeface="Segoe UI"/>
              <a:ea typeface="+mj-lt"/>
              <a:cs typeface="Segoe UI Semibold"/>
            </a:endParaRPr>
          </a:p>
        </p:txBody>
      </p:sp>
      <p:pic>
        <p:nvPicPr>
          <p:cNvPr id="18" name="Picture 17">
            <a:extLst>
              <a:ext uri="{FF2B5EF4-FFF2-40B4-BE49-F238E27FC236}">
                <a16:creationId xmlns:a16="http://schemas.microsoft.com/office/drawing/2014/main" id="{6170BF0F-A5E4-08E6-6D31-27CAD6E914B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472751" y="1824642"/>
            <a:ext cx="2466162" cy="1130712"/>
          </a:xfrm>
          <a:prstGeom prst="rect">
            <a:avLst/>
          </a:prstGeom>
        </p:spPr>
      </p:pic>
      <p:sp>
        <p:nvSpPr>
          <p:cNvPr id="19" name="Title 17">
            <a:extLst>
              <a:ext uri="{FF2B5EF4-FFF2-40B4-BE49-F238E27FC236}">
                <a16:creationId xmlns:a16="http://schemas.microsoft.com/office/drawing/2014/main" id="{7E990063-301F-B145-686D-D91258D9A864}"/>
              </a:ext>
            </a:extLst>
          </p:cNvPr>
          <p:cNvSpPr txBox="1">
            <a:spLocks/>
          </p:cNvSpPr>
          <p:nvPr/>
        </p:nvSpPr>
        <p:spPr bwMode="auto">
          <a:xfrm>
            <a:off x="7000669" y="1348341"/>
            <a:ext cx="10317480" cy="1184934"/>
          </a:xfrm>
          <a:prstGeom prst="roundRect">
            <a:avLst>
              <a:gd name="adj" fmla="val 50000"/>
            </a:avLst>
          </a:prstGeom>
          <a:gradFill flip="none" rotWithShape="1">
            <a:gsLst>
              <a:gs pos="35000">
                <a:srgbClr val="8DC8E8"/>
              </a:gs>
              <a:gs pos="10000">
                <a:srgbClr val="D59ED7"/>
              </a:gs>
            </a:gsLst>
            <a:path path="circle">
              <a:fillToRect l="100000" t="100000"/>
            </a:path>
            <a:tileRect r="-100000" b="-100000"/>
          </a:gradFill>
          <a:ln w="9525" cap="flat" cmpd="sng" algn="ctr">
            <a:noFill/>
            <a:prstDash val="solid"/>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algn="l" defTabSz="1399113" rtl="0" eaLnBrk="1" latinLnBrk="0" hangingPunct="1">
              <a:lnSpc>
                <a:spcPct val="100000"/>
              </a:lnSpc>
              <a:spcBef>
                <a:spcPct val="0"/>
              </a:spcBef>
              <a:buNone/>
              <a:defRPr lang="en-US" sz="5400" b="0" kern="1200" cap="none" spc="-75"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1371551" fontAlgn="base">
              <a:spcAft>
                <a:spcPct val="0"/>
              </a:spcAft>
              <a:defRPr/>
            </a:pPr>
            <a:r>
              <a:rPr lang="en-US" sz="3200" b="1" spc="0" dirty="0">
                <a:gradFill>
                  <a:gsLst>
                    <a:gs pos="71910">
                      <a:srgbClr val="000000"/>
                    </a:gs>
                    <a:gs pos="53933">
                      <a:srgbClr val="000000"/>
                    </a:gs>
                  </a:gsLst>
                  <a:path path="circle">
                    <a:fillToRect l="100000" b="100000"/>
                  </a:path>
                </a:gradFill>
                <a:latin typeface="+mj-lt"/>
                <a:cs typeface="Segoe UI" pitchFamily="34" charset="0"/>
              </a:rPr>
              <a:t>Azure Migrate and Modernize program</a:t>
            </a:r>
          </a:p>
        </p:txBody>
      </p:sp>
      <p:sp>
        <p:nvSpPr>
          <p:cNvPr id="20" name="Freeform 13">
            <a:extLst>
              <a:ext uri="{FF2B5EF4-FFF2-40B4-BE49-F238E27FC236}">
                <a16:creationId xmlns:a16="http://schemas.microsoft.com/office/drawing/2014/main" id="{D0F5AB7E-633A-BF8D-27F2-31E6457BECC6}"/>
              </a:ext>
              <a:ext uri="{C183D7F6-B498-43B3-948B-1728B52AA6E4}">
                <adec:decorative xmlns:adec="http://schemas.microsoft.com/office/drawing/2017/decorative" val="1"/>
              </a:ext>
            </a:extLst>
          </p:cNvPr>
          <p:cNvSpPr/>
          <p:nvPr/>
        </p:nvSpPr>
        <p:spPr bwMode="auto">
          <a:xfrm>
            <a:off x="7372193" y="8275784"/>
            <a:ext cx="9686341" cy="1184934"/>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dirty="0">
              <a:noFill/>
              <a:latin typeface="Segoe UI"/>
            </a:endParaRPr>
          </a:p>
        </p:txBody>
      </p:sp>
      <p:sp>
        <p:nvSpPr>
          <p:cNvPr id="21" name="TextBox 20">
            <a:extLst>
              <a:ext uri="{FF2B5EF4-FFF2-40B4-BE49-F238E27FC236}">
                <a16:creationId xmlns:a16="http://schemas.microsoft.com/office/drawing/2014/main" id="{985F9701-3004-F15C-E7C4-1424A1555EE7}"/>
              </a:ext>
              <a:ext uri="{C183D7F6-B498-43B3-948B-1728B52AA6E4}">
                <adec:decorative xmlns:adec="http://schemas.microsoft.com/office/drawing/2017/decorative" val="1"/>
              </a:ext>
            </a:extLst>
          </p:cNvPr>
          <p:cNvSpPr txBox="1"/>
          <p:nvPr/>
        </p:nvSpPr>
        <p:spPr>
          <a:xfrm>
            <a:off x="7787641" y="8469663"/>
            <a:ext cx="9158984" cy="800219"/>
          </a:xfrm>
          <a:prstGeom prst="rect">
            <a:avLst/>
          </a:prstGeom>
          <a:noFill/>
        </p:spPr>
        <p:txBody>
          <a:bodyPr wrap="square" lIns="54000" tIns="0" rIns="54000" bIns="0" rtlCol="0">
            <a:spAutoFit/>
          </a:bodyPr>
          <a:lstStyle/>
          <a:p>
            <a:pPr algn="ctr" defTabSz="1371551">
              <a:defRPr/>
            </a:pPr>
            <a:r>
              <a:rPr lang="en-US" sz="2800" spc="-75" dirty="0">
                <a:ln w="3175">
                  <a:noFill/>
                </a:ln>
                <a:solidFill>
                  <a:srgbClr val="D59ED7"/>
                </a:solidFill>
                <a:latin typeface="Segoe UI Semibold"/>
                <a:ea typeface="+mj-lt"/>
                <a:cs typeface="Segoe UI Semibold"/>
              </a:rPr>
              <a:t>Business Continuity &amp; Disaster Recovery (BCDR)</a:t>
            </a:r>
            <a:br>
              <a:rPr lang="en-US" sz="2800" spc="-75" dirty="0">
                <a:ln w="3175">
                  <a:noFill/>
                </a:ln>
                <a:solidFill>
                  <a:srgbClr val="D59ED7"/>
                </a:solidFill>
                <a:latin typeface="Segoe UI Semibold"/>
                <a:ea typeface="+mj-lt"/>
                <a:cs typeface="Segoe UI Semibold"/>
              </a:rPr>
            </a:br>
            <a:r>
              <a:rPr lang="en-US" sz="2400" dirty="0"/>
              <a:t>Ensure 99.99% uptime and resilience with multi-region failover</a:t>
            </a:r>
          </a:p>
        </p:txBody>
      </p:sp>
    </p:spTree>
    <p:extLst>
      <p:ext uri="{BB962C8B-B14F-4D97-AF65-F5344CB8AC3E}">
        <p14:creationId xmlns:p14="http://schemas.microsoft.com/office/powerpoint/2010/main" val="2199242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97" grpId="0"/>
      <p:bldP spid="5" grpId="0"/>
      <p:bldP spid="7" grpId="0" animBg="1"/>
      <p:bldP spid="8" grpId="0"/>
      <p:bldP spid="12" grpId="0" animBg="1"/>
      <p:bldP spid="15" grpId="0" animBg="1"/>
      <p:bldP spid="16" grpId="0"/>
      <p:bldP spid="17" grpId="0"/>
      <p:bldP spid="6" grpId="0"/>
      <p:bldP spid="19" grpId="0" animBg="1"/>
      <p:bldP spid="20" grpId="0" animBg="1"/>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F66C8-F847-47E4-89B7-C6CCCDDD2DD6}"/>
            </a:ext>
          </a:extLst>
        </p:cNvPr>
        <p:cNvGrpSpPr/>
        <p:nvPr/>
      </p:nvGrpSpPr>
      <p:grpSpPr>
        <a:xfrm>
          <a:off x="0" y="0"/>
          <a:ext cx="0" cy="0"/>
          <a:chOff x="0" y="0"/>
          <a:chExt cx="0" cy="0"/>
        </a:xfrm>
      </p:grpSpPr>
      <p:sp>
        <p:nvSpPr>
          <p:cNvPr id="80" name="Title 79">
            <a:extLst>
              <a:ext uri="{FF2B5EF4-FFF2-40B4-BE49-F238E27FC236}">
                <a16:creationId xmlns:a16="http://schemas.microsoft.com/office/drawing/2014/main" id="{FC86B5AE-2F14-0D67-7FC5-E95F3463E2AC}"/>
              </a:ext>
            </a:extLst>
          </p:cNvPr>
          <p:cNvSpPr txBox="1">
            <a:spLocks noGrp="1"/>
          </p:cNvSpPr>
          <p:nvPr>
            <p:ph type="title"/>
          </p:nvPr>
        </p:nvSpPr>
        <p:spPr>
          <a:xfrm>
            <a:off x="2336131" y="587331"/>
            <a:ext cx="13615748" cy="830997"/>
          </a:xfr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lgn="ctr"/>
            <a:r>
              <a:rPr lang="en-US" noProof="0"/>
              <a:t>Azure is purpose-built for all your workloads</a:t>
            </a:r>
          </a:p>
        </p:txBody>
      </p:sp>
      <p:sp>
        <p:nvSpPr>
          <p:cNvPr id="8" name="Title 1">
            <a:extLst>
              <a:ext uri="{FF2B5EF4-FFF2-40B4-BE49-F238E27FC236}">
                <a16:creationId xmlns:a16="http://schemas.microsoft.com/office/drawing/2014/main" id="{581FAB08-A704-D50F-003D-2F76ECBF7C0C}"/>
              </a:ext>
            </a:extLst>
          </p:cNvPr>
          <p:cNvSpPr txBox="1">
            <a:spLocks/>
          </p:cNvSpPr>
          <p:nvPr/>
        </p:nvSpPr>
        <p:spPr>
          <a:xfrm>
            <a:off x="880110" y="1438134"/>
            <a:ext cx="1652778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defTabSz="1399113">
              <a:spcBef>
                <a:spcPts val="0"/>
              </a:spcBef>
              <a:buSzPct val="90000"/>
              <a:tabLst>
                <a:tab pos="2057400" algn="l"/>
              </a:tabLst>
              <a:defRPr/>
            </a:pPr>
            <a:r>
              <a:rPr lang="en-US" spc="0">
                <a:gradFill>
                  <a:gsLst>
                    <a:gs pos="0">
                      <a:srgbClr val="B9DCD2"/>
                    </a:gs>
                    <a:gs pos="68000">
                      <a:srgbClr val="8DC8E8"/>
                    </a:gs>
                  </a:gsLst>
                  <a:lin ang="10800000" scaled="1"/>
                </a:gradFill>
              </a:rPr>
              <a:t>From first-party to open-source</a:t>
            </a:r>
          </a:p>
        </p:txBody>
      </p:sp>
      <p:grpSp>
        <p:nvGrpSpPr>
          <p:cNvPr id="5" name="Group 4">
            <a:extLst>
              <a:ext uri="{FF2B5EF4-FFF2-40B4-BE49-F238E27FC236}">
                <a16:creationId xmlns:a16="http://schemas.microsoft.com/office/drawing/2014/main" id="{A47B07E5-437B-B461-E9E1-549AD916DE2C}"/>
              </a:ext>
            </a:extLst>
          </p:cNvPr>
          <p:cNvGrpSpPr/>
          <p:nvPr/>
        </p:nvGrpSpPr>
        <p:grpSpPr>
          <a:xfrm>
            <a:off x="1615789" y="2466810"/>
            <a:ext cx="15056423" cy="6848027"/>
            <a:chOff x="571499" y="1540450"/>
            <a:chExt cx="11041376" cy="5021886"/>
          </a:xfrm>
        </p:grpSpPr>
        <p:sp>
          <p:nvSpPr>
            <p:cNvPr id="95" name="Text Placeholder 4">
              <a:extLst>
                <a:ext uri="{FF2B5EF4-FFF2-40B4-BE49-F238E27FC236}">
                  <a16:creationId xmlns:a16="http://schemas.microsoft.com/office/drawing/2014/main" id="{E45A1EA8-ACC9-6543-8346-5F7EB368FAEF}"/>
                </a:ext>
              </a:extLst>
            </p:cNvPr>
            <p:cNvSpPr txBox="1">
              <a:spLocks/>
            </p:cNvSpPr>
            <p:nvPr/>
          </p:nvSpPr>
          <p:spPr>
            <a:xfrm>
              <a:off x="579120" y="5340828"/>
              <a:ext cx="11033755" cy="1221508"/>
            </a:xfrm>
            <a:prstGeom prst="roundRect">
              <a:avLst>
                <a:gd name="adj" fmla="val 9271"/>
              </a:avLst>
            </a:prstGeom>
            <a:gradFill>
              <a:gsLst>
                <a:gs pos="13000">
                  <a:srgbClr val="3A4953">
                    <a:alpha val="0"/>
                  </a:srgbClr>
                </a:gs>
                <a:gs pos="100000">
                  <a:srgbClr val="3A4953"/>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1398708">
                <a:defRPr/>
              </a:pPr>
              <a:endParaRPr lang="en-US" sz="2400">
                <a:latin typeface="Segoe Sans Text Semibold"/>
              </a:endParaRPr>
            </a:p>
          </p:txBody>
        </p:sp>
        <p:sp>
          <p:nvSpPr>
            <p:cNvPr id="6" name="Rounded Rectangle 14">
              <a:extLst>
                <a:ext uri="{FF2B5EF4-FFF2-40B4-BE49-F238E27FC236}">
                  <a16:creationId xmlns:a16="http://schemas.microsoft.com/office/drawing/2014/main" id="{8D0A8845-E61A-B027-55B7-2341D887F81A}"/>
                </a:ext>
              </a:extLst>
            </p:cNvPr>
            <p:cNvSpPr/>
            <p:nvPr/>
          </p:nvSpPr>
          <p:spPr bwMode="auto">
            <a:xfrm>
              <a:off x="571499" y="1540450"/>
              <a:ext cx="9975113" cy="923086"/>
            </a:xfrm>
            <a:prstGeom prst="roundRect">
              <a:avLst>
                <a:gd name="adj" fmla="val 14134"/>
              </a:avLst>
            </a:prstGeom>
            <a:no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err="1">
                <a:solidFill>
                  <a:srgbClr val="FFFFFF"/>
                </a:solidFill>
                <a:latin typeface="Segoe UI" panose="020B0502040204020203" pitchFamily="34" charset="0"/>
                <a:cs typeface="Segoe UI" panose="020B0502040204020203" pitchFamily="34" charset="0"/>
              </a:endParaRPr>
            </a:p>
          </p:txBody>
        </p:sp>
        <p:pic>
          <p:nvPicPr>
            <p:cNvPr id="67" name="Picture 2" descr="OpenAI logos &amp; Chatgpt icons | AI.LS">
              <a:extLst>
                <a:ext uri="{FF2B5EF4-FFF2-40B4-BE49-F238E27FC236}">
                  <a16:creationId xmlns:a16="http://schemas.microsoft.com/office/drawing/2014/main" id="{D1158EC2-E56B-751C-F04C-5540E8DE0486}"/>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995541" y="1886406"/>
              <a:ext cx="850296" cy="231175"/>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 descr="Social Media Management | Easy Adwords">
              <a:extLst>
                <a:ext uri="{FF2B5EF4-FFF2-40B4-BE49-F238E27FC236}">
                  <a16:creationId xmlns:a16="http://schemas.microsoft.com/office/drawing/2014/main" id="{EF52B7FE-149B-0131-C87F-AF6260E46C1B}"/>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975483" y="1860131"/>
              <a:ext cx="971041" cy="283725"/>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0" descr="Conversation Intelligence - Echo AI">
              <a:extLst>
                <a:ext uri="{FF2B5EF4-FFF2-40B4-BE49-F238E27FC236}">
                  <a16:creationId xmlns:a16="http://schemas.microsoft.com/office/drawing/2014/main" id="{64FC67FA-5FF9-C999-2230-CBC4BB284EF9}"/>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076170" y="1873517"/>
              <a:ext cx="776805" cy="25695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2" descr="Microsoft-Logo-White - Vyopta">
              <a:extLst>
                <a:ext uri="{FF2B5EF4-FFF2-40B4-BE49-F238E27FC236}">
                  <a16:creationId xmlns:a16="http://schemas.microsoft.com/office/drawing/2014/main" id="{5954E356-29B3-2B23-34A6-EF30EEBF5C67}"/>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8982620" y="1780451"/>
              <a:ext cx="1203498" cy="443084"/>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553EC15E-0377-06E1-C8C7-FECBB7B8D5B6}"/>
                </a:ext>
              </a:extLst>
            </p:cNvPr>
            <p:cNvSpPr txBox="1"/>
            <p:nvPr/>
          </p:nvSpPr>
          <p:spPr>
            <a:xfrm>
              <a:off x="668957" y="1641993"/>
              <a:ext cx="1800000" cy="720000"/>
            </a:xfrm>
            <a:prstGeom prst="roundRect">
              <a:avLst>
                <a:gd name="adj" fmla="val 14399"/>
              </a:avLst>
            </a:prstGeom>
            <a:gradFill>
              <a:gsLst>
                <a:gs pos="100000">
                  <a:schemeClr val="accent3"/>
                </a:gs>
                <a:gs pos="8000">
                  <a:schemeClr val="accent1"/>
                </a:gs>
              </a:gsLst>
              <a:lin ang="18900000" scaled="1"/>
            </a:gradFill>
          </p:spPr>
          <p:txBody>
            <a:bodyPr vert="horz" wrap="square" lIns="0" tIns="0" rIns="0" bIns="0" rtlCol="0" anchor="ctr" anchorCtr="0">
              <a:noAutofit/>
            </a:bodyPr>
            <a:lstStyle>
              <a:defPPr>
                <a:defRPr lang="en-US"/>
              </a:defPPr>
              <a:lvl1pPr algn="ctr" defTabSz="932742">
                <a:spcBef>
                  <a:spcPct val="20000"/>
                </a:spcBef>
                <a:buSzPct val="90000"/>
                <a:defRPr sz="1400" b="1">
                  <a:ln w="3175">
                    <a:noFill/>
                  </a:ln>
                  <a:solidFill>
                    <a:schemeClr val="bg1"/>
                  </a:solidFill>
                  <a:latin typeface="+mj-lt"/>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1399113">
                <a:defRPr/>
              </a:pPr>
              <a:r>
                <a:rPr lang="en-US" sz="1800">
                  <a:solidFill>
                    <a:srgbClr val="FFFFFF"/>
                  </a:solidFill>
                  <a:latin typeface="+mn-lt"/>
                </a:rPr>
                <a:t>AI models</a:t>
              </a:r>
            </a:p>
          </p:txBody>
        </p:sp>
        <p:pic>
          <p:nvPicPr>
            <p:cNvPr id="31" name="Picture 2" descr="SAP® logo">
              <a:extLst>
                <a:ext uri="{FF2B5EF4-FFF2-40B4-BE49-F238E27FC236}">
                  <a16:creationId xmlns:a16="http://schemas.microsoft.com/office/drawing/2014/main" id="{3F6C73E6-06E9-CF0A-B5F3-40537170F0FB}"/>
                </a:ext>
                <a:ext uri="{C183D7F6-B498-43B3-948B-1728B52AA6E4}">
                  <adec:decorative xmlns:adec="http://schemas.microsoft.com/office/drawing/2017/decorative" val="0"/>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8613010" y="2902254"/>
              <a:ext cx="557607" cy="271062"/>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30" name="Group 29">
              <a:extLst>
                <a:ext uri="{FF2B5EF4-FFF2-40B4-BE49-F238E27FC236}">
                  <a16:creationId xmlns:a16="http://schemas.microsoft.com/office/drawing/2014/main" id="{59803EA9-5EE0-D190-DBF9-B5C82A2ADF9E}"/>
                </a:ext>
              </a:extLst>
            </p:cNvPr>
            <p:cNvGrpSpPr/>
            <p:nvPr/>
          </p:nvGrpSpPr>
          <p:grpSpPr>
            <a:xfrm>
              <a:off x="7440488" y="2791956"/>
              <a:ext cx="386751" cy="466861"/>
              <a:chOff x="6854765" y="2516381"/>
              <a:chExt cx="386751" cy="466861"/>
            </a:xfrm>
          </p:grpSpPr>
          <p:pic>
            <p:nvPicPr>
              <p:cNvPr id="74" name="Picture 4" descr="NetApp Logo: valor, história, PNG">
                <a:extLst>
                  <a:ext uri="{FF2B5EF4-FFF2-40B4-BE49-F238E27FC236}">
                    <a16:creationId xmlns:a16="http://schemas.microsoft.com/office/drawing/2014/main" id="{32EF73BA-DE41-661C-FE61-AF9E7B7F0261}"/>
                  </a:ext>
                </a:extLst>
              </p:cNvPr>
              <p:cNvPicPr>
                <a:picLocks noChangeAspect="1" noChangeArrowheads="1"/>
              </p:cNvPicPr>
              <p:nvPr/>
            </p:nvPicPr>
            <p:blipFill>
              <a:blip r:embed="rId8" cstate="hqprint">
                <a:extLst>
                  <a:ext uri="{28A0092B-C50C-407E-A947-70E740481C1C}">
                    <a14:useLocalDpi xmlns:a14="http://schemas.microsoft.com/office/drawing/2010/main"/>
                  </a:ext>
                </a:extLst>
              </a:blip>
              <a:srcRect/>
              <a:stretch>
                <a:fillRect/>
              </a:stretch>
            </p:blipFill>
            <p:spPr bwMode="auto">
              <a:xfrm>
                <a:off x="6869737" y="2516381"/>
                <a:ext cx="356805" cy="200703"/>
              </a:xfrm>
              <a:prstGeom prst="rect">
                <a:avLst/>
              </a:prstGeom>
              <a:noFill/>
              <a:extLst>
                <a:ext uri="{909E8E84-426E-40DD-AFC4-6F175D3DCCD1}">
                  <a14:hiddenFill xmlns:a14="http://schemas.microsoft.com/office/drawing/2010/main">
                    <a:solidFill>
                      <a:srgbClr val="FFFFFF"/>
                    </a:solidFill>
                  </a14:hiddenFill>
                </a:ext>
              </a:extLst>
            </p:spPr>
          </p:pic>
          <p:sp>
            <p:nvSpPr>
              <p:cNvPr id="75" name="Content Placeholder 16">
                <a:extLst>
                  <a:ext uri="{FF2B5EF4-FFF2-40B4-BE49-F238E27FC236}">
                    <a16:creationId xmlns:a16="http://schemas.microsoft.com/office/drawing/2014/main" id="{91DCE561-84CF-02B8-310F-1AEDEB62829D}"/>
                  </a:ext>
                </a:extLst>
              </p:cNvPr>
              <p:cNvSpPr txBox="1">
                <a:spLocks/>
              </p:cNvSpPr>
              <p:nvPr/>
            </p:nvSpPr>
            <p:spPr>
              <a:xfrm>
                <a:off x="6854765" y="2847820"/>
                <a:ext cx="386751"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NetApp</a:t>
                </a:r>
              </a:p>
            </p:txBody>
          </p:sp>
        </p:grpSp>
        <p:grpSp>
          <p:nvGrpSpPr>
            <p:cNvPr id="33" name="Group 32">
              <a:extLst>
                <a:ext uri="{FF2B5EF4-FFF2-40B4-BE49-F238E27FC236}">
                  <a16:creationId xmlns:a16="http://schemas.microsoft.com/office/drawing/2014/main" id="{22DB5DDE-DDE7-AAA0-B9F3-D560B9F66F02}"/>
                </a:ext>
              </a:extLst>
            </p:cNvPr>
            <p:cNvGrpSpPr/>
            <p:nvPr/>
          </p:nvGrpSpPr>
          <p:grpSpPr>
            <a:xfrm>
              <a:off x="5080441" y="2669471"/>
              <a:ext cx="424407" cy="589346"/>
              <a:chOff x="4178716" y="2393896"/>
              <a:chExt cx="424407" cy="589346"/>
            </a:xfrm>
          </p:grpSpPr>
          <p:pic>
            <p:nvPicPr>
              <p:cNvPr id="76" name="Picture 6">
                <a:extLst>
                  <a:ext uri="{FF2B5EF4-FFF2-40B4-BE49-F238E27FC236}">
                    <a16:creationId xmlns:a16="http://schemas.microsoft.com/office/drawing/2014/main" id="{7CF88F40-0C9E-07C2-72CA-0D24F8BF07DE}"/>
                  </a:ext>
                  <a:ext uri="{C183D7F6-B498-43B3-948B-1728B52AA6E4}">
                    <adec:decorative xmlns:adec="http://schemas.microsoft.com/office/drawing/2017/decorative" val="1"/>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4178716" y="2393896"/>
                <a:ext cx="424407" cy="424407"/>
              </a:xfrm>
              <a:prstGeom prst="rect">
                <a:avLst/>
              </a:prstGeom>
              <a:noFill/>
              <a:extLst>
                <a:ext uri="{909E8E84-426E-40DD-AFC4-6F175D3DCCD1}">
                  <a14:hiddenFill xmlns:a14="http://schemas.microsoft.com/office/drawing/2010/main">
                    <a:solidFill>
                      <a:srgbClr val="FFFFFF"/>
                    </a:solidFill>
                  </a14:hiddenFill>
                </a:ext>
              </a:extLst>
            </p:spPr>
          </p:pic>
          <p:sp>
            <p:nvSpPr>
              <p:cNvPr id="77" name="Content Placeholder 16">
                <a:extLst>
                  <a:ext uri="{FF2B5EF4-FFF2-40B4-BE49-F238E27FC236}">
                    <a16:creationId xmlns:a16="http://schemas.microsoft.com/office/drawing/2014/main" id="{5887CADD-0EF7-959A-206E-A1A6341A8E80}"/>
                  </a:ext>
                </a:extLst>
              </p:cNvPr>
              <p:cNvSpPr txBox="1">
                <a:spLocks/>
              </p:cNvSpPr>
              <p:nvPr/>
            </p:nvSpPr>
            <p:spPr>
              <a:xfrm>
                <a:off x="4286344" y="2847820"/>
                <a:ext cx="209151"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Java</a:t>
                </a:r>
              </a:p>
            </p:txBody>
          </p:sp>
        </p:grpSp>
        <p:grpSp>
          <p:nvGrpSpPr>
            <p:cNvPr id="34" name="Group 33">
              <a:extLst>
                <a:ext uri="{FF2B5EF4-FFF2-40B4-BE49-F238E27FC236}">
                  <a16:creationId xmlns:a16="http://schemas.microsoft.com/office/drawing/2014/main" id="{21310456-317A-C9F8-66AA-773ABAB4BFCE}"/>
                </a:ext>
              </a:extLst>
            </p:cNvPr>
            <p:cNvGrpSpPr/>
            <p:nvPr/>
          </p:nvGrpSpPr>
          <p:grpSpPr>
            <a:xfrm>
              <a:off x="3924011" y="2808888"/>
              <a:ext cx="404108" cy="449929"/>
              <a:chOff x="2771189" y="2533313"/>
              <a:chExt cx="404108" cy="449929"/>
            </a:xfrm>
          </p:grpSpPr>
          <p:pic>
            <p:nvPicPr>
              <p:cNvPr id="78" name="Picture 8" descr="C#">
                <a:extLst>
                  <a:ext uri="{FF2B5EF4-FFF2-40B4-BE49-F238E27FC236}">
                    <a16:creationId xmlns:a16="http://schemas.microsoft.com/office/drawing/2014/main" id="{F86362EA-53FD-7869-971A-7C0642DF0764}"/>
                  </a:ext>
                </a:extLst>
              </p:cNvPr>
              <p:cNvPicPr>
                <a:picLocks noChangeAspect="1" noChangeArrowheads="1"/>
              </p:cNvPicPr>
              <p:nvPr/>
            </p:nvPicPr>
            <p:blipFill>
              <a:blip r:embed="rId10" cstate="hqprint">
                <a:extLst>
                  <a:ext uri="{28A0092B-C50C-407E-A947-70E740481C1C}">
                    <a14:useLocalDpi xmlns:a14="http://schemas.microsoft.com/office/drawing/2010/main"/>
                  </a:ext>
                </a:extLst>
              </a:blip>
              <a:srcRect/>
              <a:stretch>
                <a:fillRect/>
              </a:stretch>
            </p:blipFill>
            <p:spPr bwMode="auto">
              <a:xfrm>
                <a:off x="2771189" y="2533313"/>
                <a:ext cx="404108" cy="166839"/>
              </a:xfrm>
              <a:prstGeom prst="rect">
                <a:avLst/>
              </a:prstGeom>
              <a:noFill/>
              <a:extLst>
                <a:ext uri="{909E8E84-426E-40DD-AFC4-6F175D3DCCD1}">
                  <a14:hiddenFill xmlns:a14="http://schemas.microsoft.com/office/drawing/2010/main">
                    <a:solidFill>
                      <a:srgbClr val="FFFFFF"/>
                    </a:solidFill>
                  </a14:hiddenFill>
                </a:ext>
              </a:extLst>
            </p:spPr>
          </p:pic>
          <p:sp>
            <p:nvSpPr>
              <p:cNvPr id="79" name="Content Placeholder 16">
                <a:extLst>
                  <a:ext uri="{FF2B5EF4-FFF2-40B4-BE49-F238E27FC236}">
                    <a16:creationId xmlns:a16="http://schemas.microsoft.com/office/drawing/2014/main" id="{85ADE72D-1917-F93D-EA8B-F88617911CC1}"/>
                  </a:ext>
                </a:extLst>
              </p:cNvPr>
              <p:cNvSpPr txBox="1">
                <a:spLocks/>
              </p:cNvSpPr>
              <p:nvPr/>
            </p:nvSpPr>
            <p:spPr>
              <a:xfrm>
                <a:off x="2860392" y="2847820"/>
                <a:ext cx="225703"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.NET</a:t>
                </a:r>
              </a:p>
            </p:txBody>
          </p:sp>
        </p:grpSp>
        <p:grpSp>
          <p:nvGrpSpPr>
            <p:cNvPr id="29" name="Group 28">
              <a:extLst>
                <a:ext uri="{FF2B5EF4-FFF2-40B4-BE49-F238E27FC236}">
                  <a16:creationId xmlns:a16="http://schemas.microsoft.com/office/drawing/2014/main" id="{076E851F-9668-DC16-83BC-5C55233692E5}"/>
                </a:ext>
              </a:extLst>
            </p:cNvPr>
            <p:cNvGrpSpPr/>
            <p:nvPr/>
          </p:nvGrpSpPr>
          <p:grpSpPr>
            <a:xfrm>
              <a:off x="6281375" y="2768839"/>
              <a:ext cx="349134" cy="489978"/>
              <a:chOff x="5579667" y="2493264"/>
              <a:chExt cx="349134" cy="489978"/>
            </a:xfrm>
          </p:grpSpPr>
          <p:pic>
            <p:nvPicPr>
              <p:cNvPr id="81" name="Picture 10" descr="Python Logo PNG Transparent – Brands Logos">
                <a:extLst>
                  <a:ext uri="{FF2B5EF4-FFF2-40B4-BE49-F238E27FC236}">
                    <a16:creationId xmlns:a16="http://schemas.microsoft.com/office/drawing/2014/main" id="{9DF5F0E1-4F91-2EEB-6BBB-B6C63759C095}"/>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5630281" y="2493264"/>
                <a:ext cx="247907" cy="246937"/>
              </a:xfrm>
              <a:prstGeom prst="rect">
                <a:avLst/>
              </a:prstGeom>
              <a:noFill/>
              <a:extLst>
                <a:ext uri="{909E8E84-426E-40DD-AFC4-6F175D3DCCD1}">
                  <a14:hiddenFill xmlns:a14="http://schemas.microsoft.com/office/drawing/2010/main">
                    <a:solidFill>
                      <a:srgbClr val="FFFFFF"/>
                    </a:solidFill>
                  </a14:hiddenFill>
                </a:ext>
              </a:extLst>
            </p:spPr>
          </p:pic>
          <p:sp>
            <p:nvSpPr>
              <p:cNvPr id="82" name="Content Placeholder 16">
                <a:extLst>
                  <a:ext uri="{FF2B5EF4-FFF2-40B4-BE49-F238E27FC236}">
                    <a16:creationId xmlns:a16="http://schemas.microsoft.com/office/drawing/2014/main" id="{9CB8E09E-3FA3-DD53-6706-59A4FD98F610}"/>
                  </a:ext>
                </a:extLst>
              </p:cNvPr>
              <p:cNvSpPr txBox="1">
                <a:spLocks/>
              </p:cNvSpPr>
              <p:nvPr/>
            </p:nvSpPr>
            <p:spPr>
              <a:xfrm>
                <a:off x="5579667" y="2847820"/>
                <a:ext cx="349134"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Python</a:t>
                </a:r>
              </a:p>
            </p:txBody>
          </p:sp>
        </p:grpSp>
        <p:sp>
          <p:nvSpPr>
            <p:cNvPr id="4" name="Rounded Rectangle 14">
              <a:extLst>
                <a:ext uri="{FF2B5EF4-FFF2-40B4-BE49-F238E27FC236}">
                  <a16:creationId xmlns:a16="http://schemas.microsoft.com/office/drawing/2014/main" id="{95F25A03-DA9B-C5E6-443F-090B348CBEE4}"/>
                </a:ext>
              </a:extLst>
            </p:cNvPr>
            <p:cNvSpPr/>
            <p:nvPr/>
          </p:nvSpPr>
          <p:spPr bwMode="auto">
            <a:xfrm>
              <a:off x="571499" y="2566533"/>
              <a:ext cx="9975112" cy="923086"/>
            </a:xfrm>
            <a:prstGeom prst="roundRect">
              <a:avLst>
                <a:gd name="adj" fmla="val 14134"/>
              </a:avLst>
            </a:prstGeom>
            <a:no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err="1">
                <a:solidFill>
                  <a:srgbClr val="FFFFFF"/>
                </a:solidFill>
                <a:latin typeface="Segoe UI" panose="020B0502040204020203" pitchFamily="34" charset="0"/>
                <a:cs typeface="Segoe UI" panose="020B0502040204020203" pitchFamily="34" charset="0"/>
              </a:endParaRPr>
            </a:p>
          </p:txBody>
        </p:sp>
        <p:sp>
          <p:nvSpPr>
            <p:cNvPr id="26" name="TextBox 25">
              <a:extLst>
                <a:ext uri="{FF2B5EF4-FFF2-40B4-BE49-F238E27FC236}">
                  <a16:creationId xmlns:a16="http://schemas.microsoft.com/office/drawing/2014/main" id="{DFFAE715-B3D4-53B1-387C-AE38DD372F78}"/>
                </a:ext>
              </a:extLst>
            </p:cNvPr>
            <p:cNvSpPr txBox="1"/>
            <p:nvPr/>
          </p:nvSpPr>
          <p:spPr>
            <a:xfrm>
              <a:off x="668957" y="2668076"/>
              <a:ext cx="1800000" cy="720000"/>
            </a:xfrm>
            <a:prstGeom prst="roundRect">
              <a:avLst>
                <a:gd name="adj" fmla="val 14399"/>
              </a:avLst>
            </a:prstGeom>
            <a:gradFill>
              <a:gsLst>
                <a:gs pos="100000">
                  <a:schemeClr val="accent3"/>
                </a:gs>
                <a:gs pos="8000">
                  <a:schemeClr val="accent1"/>
                </a:gs>
              </a:gsLst>
              <a:lin ang="18900000" scaled="1"/>
            </a:gradFill>
          </p:spPr>
          <p:txBody>
            <a:bodyPr vert="horz" wrap="square" lIns="0" tIns="0" rIns="0" bIns="0" rtlCol="0" anchor="ctr" anchorCtr="0">
              <a:noAutofit/>
            </a:bodyPr>
            <a:lstStyle>
              <a:defPPr>
                <a:defRPr lang="en-US"/>
              </a:defPPr>
              <a:lvl1pPr algn="ctr" defTabSz="932742">
                <a:spcBef>
                  <a:spcPct val="20000"/>
                </a:spcBef>
                <a:buSzPct val="90000"/>
                <a:defRPr sz="1400" b="1">
                  <a:ln w="3175">
                    <a:noFill/>
                  </a:ln>
                  <a:solidFill>
                    <a:schemeClr val="bg1"/>
                  </a:solidFill>
                  <a:latin typeface="+mj-lt"/>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1399113">
                <a:defRPr/>
              </a:pPr>
              <a:r>
                <a:rPr lang="en-US" sz="1800">
                  <a:solidFill>
                    <a:srgbClr val="FFFFFF"/>
                  </a:solidFill>
                </a:rPr>
                <a:t>Applications</a:t>
              </a:r>
            </a:p>
          </p:txBody>
        </p:sp>
        <p:pic>
          <p:nvPicPr>
            <p:cNvPr id="45" name="Graphic 44">
              <a:extLst>
                <a:ext uri="{FF2B5EF4-FFF2-40B4-BE49-F238E27FC236}">
                  <a16:creationId xmlns:a16="http://schemas.microsoft.com/office/drawing/2014/main" id="{D4B30F88-675E-6D1F-18C0-CBD9AEE72C5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28505" y="3766947"/>
              <a:ext cx="213047" cy="205180"/>
            </a:xfrm>
            <a:prstGeom prst="rect">
              <a:avLst/>
            </a:prstGeom>
          </p:spPr>
        </p:pic>
        <p:sp>
          <p:nvSpPr>
            <p:cNvPr id="46" name="Content Placeholder 16">
              <a:extLst>
                <a:ext uri="{FF2B5EF4-FFF2-40B4-BE49-F238E27FC236}">
                  <a16:creationId xmlns:a16="http://schemas.microsoft.com/office/drawing/2014/main" id="{406F73E5-829A-25D6-648B-1858F07EA333}"/>
                </a:ext>
              </a:extLst>
            </p:cNvPr>
            <p:cNvSpPr txBox="1">
              <a:spLocks/>
            </p:cNvSpPr>
            <p:nvPr/>
          </p:nvSpPr>
          <p:spPr>
            <a:xfrm>
              <a:off x="2880493" y="4044141"/>
              <a:ext cx="309072" cy="270843"/>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SQL </a:t>
              </a:r>
            </a:p>
            <a:p>
              <a:pPr algn="ctr" defTabSz="1398171" fontAlgn="base">
                <a:spcBef>
                  <a:spcPct val="0"/>
                </a:spcBef>
                <a:spcAft>
                  <a:spcPct val="0"/>
                </a:spcAft>
                <a:buSzTx/>
                <a:defRPr/>
              </a:pPr>
              <a:r>
                <a:rPr lang="en-US" sz="1200" spc="0">
                  <a:ln w="3175">
                    <a:noFill/>
                  </a:ln>
                  <a:solidFill>
                    <a:srgbClr val="FFFFFF"/>
                  </a:solidFill>
                  <a:latin typeface="Segoe Sans Text"/>
                </a:rPr>
                <a:t>Server</a:t>
              </a:r>
            </a:p>
          </p:txBody>
        </p:sp>
        <p:pic>
          <p:nvPicPr>
            <p:cNvPr id="47" name="Graphic 46">
              <a:extLst>
                <a:ext uri="{FF2B5EF4-FFF2-40B4-BE49-F238E27FC236}">
                  <a16:creationId xmlns:a16="http://schemas.microsoft.com/office/drawing/2014/main" id="{FDF5E5F4-BDB6-A0B4-4EF8-F1080307B9F3}"/>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48041" y="3754928"/>
              <a:ext cx="238008" cy="229218"/>
            </a:xfrm>
            <a:prstGeom prst="rect">
              <a:avLst/>
            </a:prstGeom>
          </p:spPr>
        </p:pic>
        <p:sp>
          <p:nvSpPr>
            <p:cNvPr id="48" name="Content Placeholder 16">
              <a:extLst>
                <a:ext uri="{FF2B5EF4-FFF2-40B4-BE49-F238E27FC236}">
                  <a16:creationId xmlns:a16="http://schemas.microsoft.com/office/drawing/2014/main" id="{5A8CF142-48F0-11B3-3F33-E715B5147EC1}"/>
                </a:ext>
              </a:extLst>
            </p:cNvPr>
            <p:cNvSpPr txBox="1">
              <a:spLocks/>
            </p:cNvSpPr>
            <p:nvPr/>
          </p:nvSpPr>
          <p:spPr>
            <a:xfrm>
              <a:off x="3580002" y="4044141"/>
              <a:ext cx="574084"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PostgreSQL</a:t>
              </a:r>
            </a:p>
          </p:txBody>
        </p:sp>
        <p:pic>
          <p:nvPicPr>
            <p:cNvPr id="49" name="Graphic 48">
              <a:extLst>
                <a:ext uri="{FF2B5EF4-FFF2-40B4-BE49-F238E27FC236}">
                  <a16:creationId xmlns:a16="http://schemas.microsoft.com/office/drawing/2014/main" id="{C21255B6-7A4A-083D-9E7F-E09525157BE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592538" y="3766680"/>
              <a:ext cx="213605" cy="205715"/>
            </a:xfrm>
            <a:prstGeom prst="rect">
              <a:avLst/>
            </a:prstGeom>
          </p:spPr>
        </p:pic>
        <p:sp>
          <p:nvSpPr>
            <p:cNvPr id="51" name="Content Placeholder 16">
              <a:extLst>
                <a:ext uri="{FF2B5EF4-FFF2-40B4-BE49-F238E27FC236}">
                  <a16:creationId xmlns:a16="http://schemas.microsoft.com/office/drawing/2014/main" id="{CE682151-DC52-DA8A-975C-AA9A98AFB589}"/>
                </a:ext>
              </a:extLst>
            </p:cNvPr>
            <p:cNvSpPr txBox="1">
              <a:spLocks/>
            </p:cNvSpPr>
            <p:nvPr/>
          </p:nvSpPr>
          <p:spPr>
            <a:xfrm>
              <a:off x="4510172" y="4044141"/>
              <a:ext cx="352661"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MySQL</a:t>
              </a:r>
            </a:p>
          </p:txBody>
        </p:sp>
        <p:sp>
          <p:nvSpPr>
            <p:cNvPr id="60" name="Content Placeholder 16">
              <a:extLst>
                <a:ext uri="{FF2B5EF4-FFF2-40B4-BE49-F238E27FC236}">
                  <a16:creationId xmlns:a16="http://schemas.microsoft.com/office/drawing/2014/main" id="{AD0B127A-4821-8D7B-9FF1-04B65A005F23}"/>
                </a:ext>
              </a:extLst>
            </p:cNvPr>
            <p:cNvSpPr txBox="1">
              <a:spLocks/>
            </p:cNvSpPr>
            <p:nvPr/>
          </p:nvSpPr>
          <p:spPr>
            <a:xfrm>
              <a:off x="8967207" y="4044141"/>
              <a:ext cx="506656"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MongoDB</a:t>
              </a:r>
            </a:p>
          </p:txBody>
        </p:sp>
        <p:pic>
          <p:nvPicPr>
            <p:cNvPr id="64" name="Picture 32" descr="Mongodb Logo">
              <a:extLst>
                <a:ext uri="{FF2B5EF4-FFF2-40B4-BE49-F238E27FC236}">
                  <a16:creationId xmlns:a16="http://schemas.microsoft.com/office/drawing/2014/main" id="{63ED9941-CCBB-3E42-CC53-3C810070DAE4}"/>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9078095" y="3718439"/>
              <a:ext cx="302196" cy="302196"/>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30" descr="Redis Logo transparent PNG - StickPNG">
              <a:extLst>
                <a:ext uri="{FF2B5EF4-FFF2-40B4-BE49-F238E27FC236}">
                  <a16:creationId xmlns:a16="http://schemas.microsoft.com/office/drawing/2014/main" id="{DE73937E-4C55-FF85-C9DC-50FA9BAC36CF}"/>
                </a:ext>
              </a:extLst>
            </p:cNvPr>
            <p:cNvPicPr>
              <a:picLocks noChangeAspect="1" noChangeArrowheads="1"/>
            </p:cNvPicPr>
            <p:nvPr/>
          </p:nvPicPr>
          <p:blipFill>
            <a:blip r:embed="rId16" cstate="print">
              <a:extLst>
                <a:ext uri="{28A0092B-C50C-407E-A947-70E740481C1C}">
                  <a14:useLocalDpi xmlns:a14="http://schemas.microsoft.com/office/drawing/2010/main"/>
                </a:ext>
              </a:extLst>
            </a:blip>
            <a:srcRect/>
            <a:stretch>
              <a:fillRect/>
            </a:stretch>
          </p:blipFill>
          <p:spPr bwMode="auto">
            <a:xfrm>
              <a:off x="9914209" y="3770905"/>
              <a:ext cx="229628" cy="197265"/>
            </a:xfrm>
            <a:prstGeom prst="rect">
              <a:avLst/>
            </a:prstGeom>
            <a:noFill/>
            <a:extLst>
              <a:ext uri="{909E8E84-426E-40DD-AFC4-6F175D3DCCD1}">
                <a14:hiddenFill xmlns:a14="http://schemas.microsoft.com/office/drawing/2010/main">
                  <a:solidFill>
                    <a:srgbClr val="FFFFFF"/>
                  </a:solidFill>
                </a14:hiddenFill>
              </a:ext>
            </a:extLst>
          </p:spPr>
        </p:pic>
        <p:sp>
          <p:nvSpPr>
            <p:cNvPr id="65" name="Content Placeholder 16">
              <a:extLst>
                <a:ext uri="{FF2B5EF4-FFF2-40B4-BE49-F238E27FC236}">
                  <a16:creationId xmlns:a16="http://schemas.microsoft.com/office/drawing/2014/main" id="{30702BE0-F919-9D9B-F9A8-1DE7C1BA84F6}"/>
                </a:ext>
              </a:extLst>
            </p:cNvPr>
            <p:cNvSpPr txBox="1">
              <a:spLocks/>
            </p:cNvSpPr>
            <p:nvPr/>
          </p:nvSpPr>
          <p:spPr>
            <a:xfrm>
              <a:off x="9896470" y="4044141"/>
              <a:ext cx="265107"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Redis</a:t>
              </a:r>
            </a:p>
          </p:txBody>
        </p:sp>
        <p:pic>
          <p:nvPicPr>
            <p:cNvPr id="72" name="Picture 2">
              <a:extLst>
                <a:ext uri="{FF2B5EF4-FFF2-40B4-BE49-F238E27FC236}">
                  <a16:creationId xmlns:a16="http://schemas.microsoft.com/office/drawing/2014/main" id="{F0075632-F189-123F-718F-81590E09438D}"/>
                </a:ext>
                <a:ext uri="{C183D7F6-B498-43B3-948B-1728B52AA6E4}">
                  <adec:decorative xmlns:adec="http://schemas.microsoft.com/office/drawing/2017/decorative" val="1"/>
                </a:ext>
              </a:extLst>
            </p:cNvPr>
            <p:cNvPicPr>
              <a:picLocks noChangeAspect="1" noChangeArrowheads="1"/>
            </p:cNvPicPr>
            <p:nvPr/>
          </p:nvPicPr>
          <p:blipFill>
            <a:blip r:embed="rId17" cstate="print">
              <a:extLst>
                <a:ext uri="{28A0092B-C50C-407E-A947-70E740481C1C}">
                  <a14:useLocalDpi xmlns:a14="http://schemas.microsoft.com/office/drawing/2010/main"/>
                </a:ext>
              </a:extLst>
            </a:blip>
            <a:srcRect/>
            <a:stretch>
              <a:fillRect/>
            </a:stretch>
          </p:blipFill>
          <p:spPr bwMode="auto">
            <a:xfrm>
              <a:off x="8055501" y="3723169"/>
              <a:ext cx="292736" cy="292736"/>
            </a:xfrm>
            <a:prstGeom prst="rect">
              <a:avLst/>
            </a:prstGeom>
            <a:noFill/>
            <a:extLst>
              <a:ext uri="{909E8E84-426E-40DD-AFC4-6F175D3DCCD1}">
                <a14:hiddenFill xmlns:a14="http://schemas.microsoft.com/office/drawing/2010/main">
                  <a:solidFill>
                    <a:srgbClr val="FFFFFF"/>
                  </a:solidFill>
                </a14:hiddenFill>
              </a:ext>
            </a:extLst>
          </p:spPr>
        </p:pic>
        <p:sp>
          <p:nvSpPr>
            <p:cNvPr id="73" name="Content Placeholder 16">
              <a:extLst>
                <a:ext uri="{FF2B5EF4-FFF2-40B4-BE49-F238E27FC236}">
                  <a16:creationId xmlns:a16="http://schemas.microsoft.com/office/drawing/2014/main" id="{27E4806B-7116-90C5-2A0B-57FB3028DED9}"/>
                </a:ext>
              </a:extLst>
            </p:cNvPr>
            <p:cNvSpPr txBox="1">
              <a:spLocks/>
            </p:cNvSpPr>
            <p:nvPr/>
          </p:nvSpPr>
          <p:spPr>
            <a:xfrm>
              <a:off x="7706492" y="4044141"/>
              <a:ext cx="988699" cy="270843"/>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Oracle </a:t>
              </a:r>
              <a:r>
                <a:rPr lang="en-US" sz="1200" spc="0" err="1">
                  <a:ln w="3175">
                    <a:noFill/>
                  </a:ln>
                  <a:solidFill>
                    <a:srgbClr val="FFFFFF"/>
                  </a:solidFill>
                  <a:latin typeface="Segoe Sans Text"/>
                </a:rPr>
                <a:t>Database@Azure</a:t>
              </a:r>
              <a:endParaRPr lang="en-US" sz="1200" spc="0">
                <a:ln w="3175">
                  <a:noFill/>
                </a:ln>
                <a:solidFill>
                  <a:srgbClr val="FFFFFF"/>
                </a:solidFill>
                <a:latin typeface="Segoe Sans Text"/>
              </a:endParaRPr>
            </a:p>
          </p:txBody>
        </p:sp>
        <p:sp>
          <p:nvSpPr>
            <p:cNvPr id="24" name="Rounded Rectangle 14">
              <a:extLst>
                <a:ext uri="{FF2B5EF4-FFF2-40B4-BE49-F238E27FC236}">
                  <a16:creationId xmlns:a16="http://schemas.microsoft.com/office/drawing/2014/main" id="{E9CA7888-A8DB-075E-BD80-EE9CD88E27BD}"/>
                </a:ext>
              </a:extLst>
            </p:cNvPr>
            <p:cNvSpPr/>
            <p:nvPr/>
          </p:nvSpPr>
          <p:spPr bwMode="auto">
            <a:xfrm>
              <a:off x="571499" y="3592615"/>
              <a:ext cx="9975111" cy="923086"/>
            </a:xfrm>
            <a:prstGeom prst="roundRect">
              <a:avLst>
                <a:gd name="adj" fmla="val 14134"/>
              </a:avLst>
            </a:prstGeom>
            <a:no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err="1">
                <a:solidFill>
                  <a:srgbClr val="FFFFFF"/>
                </a:solidFill>
                <a:latin typeface="Segoe UI" panose="020B0502040204020203" pitchFamily="34" charset="0"/>
                <a:cs typeface="Segoe UI" panose="020B0502040204020203" pitchFamily="34" charset="0"/>
              </a:endParaRPr>
            </a:p>
          </p:txBody>
        </p:sp>
        <p:sp>
          <p:nvSpPr>
            <p:cNvPr id="27" name="TextBox 26">
              <a:extLst>
                <a:ext uri="{FF2B5EF4-FFF2-40B4-BE49-F238E27FC236}">
                  <a16:creationId xmlns:a16="http://schemas.microsoft.com/office/drawing/2014/main" id="{584CAF03-B84D-9CFA-1720-408C489FA810}"/>
                </a:ext>
              </a:extLst>
            </p:cNvPr>
            <p:cNvSpPr txBox="1"/>
            <p:nvPr/>
          </p:nvSpPr>
          <p:spPr>
            <a:xfrm>
              <a:off x="668957" y="3694158"/>
              <a:ext cx="1800000" cy="720000"/>
            </a:xfrm>
            <a:prstGeom prst="roundRect">
              <a:avLst>
                <a:gd name="adj" fmla="val 14399"/>
              </a:avLst>
            </a:prstGeom>
            <a:gradFill>
              <a:gsLst>
                <a:gs pos="100000">
                  <a:schemeClr val="accent3"/>
                </a:gs>
                <a:gs pos="8000">
                  <a:schemeClr val="accent1"/>
                </a:gs>
              </a:gsLst>
              <a:lin ang="18900000" scaled="1"/>
            </a:gradFill>
          </p:spPr>
          <p:txBody>
            <a:bodyPr vert="horz" wrap="square" lIns="0" tIns="0" rIns="0" bIns="0" rtlCol="0" anchor="ctr" anchorCtr="0">
              <a:noAutofit/>
            </a:bodyPr>
            <a:lstStyle>
              <a:defPPr>
                <a:defRPr lang="en-US"/>
              </a:defPPr>
              <a:lvl1pPr algn="ctr" defTabSz="932742">
                <a:spcBef>
                  <a:spcPct val="20000"/>
                </a:spcBef>
                <a:buSzPct val="90000"/>
                <a:defRPr sz="1400" b="1">
                  <a:ln w="3175">
                    <a:noFill/>
                  </a:ln>
                  <a:solidFill>
                    <a:schemeClr val="bg1"/>
                  </a:solidFill>
                  <a:latin typeface="+mj-lt"/>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1399113">
                <a:defRPr/>
              </a:pPr>
              <a:r>
                <a:rPr lang="en-US" sz="1800">
                  <a:solidFill>
                    <a:srgbClr val="FFFFFF"/>
                  </a:solidFill>
                  <a:latin typeface="+mn-lt"/>
                </a:rPr>
                <a:t>Data</a:t>
              </a:r>
            </a:p>
          </p:txBody>
        </p:sp>
        <p:pic>
          <p:nvPicPr>
            <p:cNvPr id="16" name="Picture 4" descr="VMware® logo">
              <a:extLst>
                <a:ext uri="{FF2B5EF4-FFF2-40B4-BE49-F238E27FC236}">
                  <a16:creationId xmlns:a16="http://schemas.microsoft.com/office/drawing/2014/main" id="{F5CAAE5B-73ED-005F-3E3A-217DD5E3FCFD}"/>
                </a:ext>
                <a:ext uri="{C183D7F6-B498-43B3-948B-1728B52AA6E4}">
                  <adec:decorative xmlns:adec="http://schemas.microsoft.com/office/drawing/2017/decorative" val="0"/>
                </a:ext>
              </a:extLst>
            </p:cNvPr>
            <p:cNvPicPr>
              <a:picLocks noChangeAspect="1" noChangeArrowheads="1"/>
            </p:cNvPicPr>
            <p:nvPr/>
          </p:nvPicPr>
          <p:blipFill>
            <a:blip r:embed="rId18" cstate="print">
              <a:extLst>
                <a:ext uri="{BEBA8EAE-BF5A-486C-A8C5-ECC9F3942E4B}">
                  <a14:imgProps xmlns:a14="http://schemas.microsoft.com/office/drawing/2010/main">
                    <a14:imgLayer r:embed="rId19">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147966" y="5016077"/>
              <a:ext cx="872806" cy="128326"/>
            </a:xfrm>
            <a:prstGeom prst="rect">
              <a:avLst/>
            </a:prstGeom>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A4DA6E90-EE8C-3133-CBEE-587E9C1CB494}"/>
                </a:ext>
              </a:extLst>
            </p:cNvPr>
            <p:cNvGrpSpPr/>
            <p:nvPr/>
          </p:nvGrpSpPr>
          <p:grpSpPr>
            <a:xfrm>
              <a:off x="3021642" y="4815606"/>
              <a:ext cx="798094" cy="510803"/>
              <a:chOff x="2574196" y="4551859"/>
              <a:chExt cx="798094" cy="510803"/>
            </a:xfrm>
          </p:grpSpPr>
          <p:pic>
            <p:nvPicPr>
              <p:cNvPr id="32" name="Picture 31" descr="Windows">
                <a:extLst>
                  <a:ext uri="{FF2B5EF4-FFF2-40B4-BE49-F238E27FC236}">
                    <a16:creationId xmlns:a16="http://schemas.microsoft.com/office/drawing/2014/main" id="{A13CC525-249B-D5E7-D67C-88D0EE837BFE}"/>
                  </a:ext>
                </a:extLst>
              </p:cNvPr>
              <p:cNvPicPr>
                <a:picLocks noChangeAspect="1"/>
              </p:cNvPicPr>
              <p:nvPr/>
            </p:nvPicPr>
            <p:blipFill rotWithShape="1">
              <a:blip r:embed="rId20" cstate="print">
                <a:extLst>
                  <a:ext uri="{28A0092B-C50C-407E-A947-70E740481C1C}">
                    <a14:useLocalDpi xmlns:a14="http://schemas.microsoft.com/office/drawing/2010/main"/>
                  </a:ext>
                </a:extLst>
              </a:blip>
              <a:srcRect/>
              <a:stretch/>
            </p:blipFill>
            <p:spPr>
              <a:xfrm>
                <a:off x="2845996" y="4551859"/>
                <a:ext cx="254495" cy="248217"/>
              </a:xfrm>
              <a:prstGeom prst="rect">
                <a:avLst/>
              </a:prstGeom>
            </p:spPr>
          </p:pic>
          <p:sp>
            <p:nvSpPr>
              <p:cNvPr id="40" name="Content Placeholder 16">
                <a:extLst>
                  <a:ext uri="{FF2B5EF4-FFF2-40B4-BE49-F238E27FC236}">
                    <a16:creationId xmlns:a16="http://schemas.microsoft.com/office/drawing/2014/main" id="{FEB83C78-C4BE-8F5D-EFDA-93C04DC23852}"/>
                  </a:ext>
                </a:extLst>
              </p:cNvPr>
              <p:cNvSpPr txBox="1">
                <a:spLocks/>
              </p:cNvSpPr>
              <p:nvPr/>
            </p:nvSpPr>
            <p:spPr>
              <a:xfrm>
                <a:off x="2574196" y="4927240"/>
                <a:ext cx="798094"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Windows Server</a:t>
                </a:r>
              </a:p>
            </p:txBody>
          </p:sp>
        </p:grpSp>
        <p:grpSp>
          <p:nvGrpSpPr>
            <p:cNvPr id="43" name="Group 42">
              <a:extLst>
                <a:ext uri="{FF2B5EF4-FFF2-40B4-BE49-F238E27FC236}">
                  <a16:creationId xmlns:a16="http://schemas.microsoft.com/office/drawing/2014/main" id="{C0DFAA10-D422-0F16-BE6A-B243DC09F13D}"/>
                </a:ext>
              </a:extLst>
            </p:cNvPr>
            <p:cNvGrpSpPr/>
            <p:nvPr/>
          </p:nvGrpSpPr>
          <p:grpSpPr>
            <a:xfrm>
              <a:off x="4642660" y="4806560"/>
              <a:ext cx="1662758" cy="528895"/>
              <a:chOff x="4001188" y="4533767"/>
              <a:chExt cx="1662758" cy="528895"/>
            </a:xfrm>
          </p:grpSpPr>
          <p:sp>
            <p:nvSpPr>
              <p:cNvPr id="52" name="Content Placeholder 16">
                <a:extLst>
                  <a:ext uri="{FF2B5EF4-FFF2-40B4-BE49-F238E27FC236}">
                    <a16:creationId xmlns:a16="http://schemas.microsoft.com/office/drawing/2014/main" id="{D40A8217-6270-CDC4-80E3-ED47543754AF}"/>
                  </a:ext>
                </a:extLst>
              </p:cNvPr>
              <p:cNvSpPr txBox="1">
                <a:spLocks/>
              </p:cNvSpPr>
              <p:nvPr/>
            </p:nvSpPr>
            <p:spPr>
              <a:xfrm>
                <a:off x="4378222" y="4927240"/>
                <a:ext cx="908690"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Linux distributions</a:t>
                </a:r>
              </a:p>
            </p:txBody>
          </p:sp>
          <p:grpSp>
            <p:nvGrpSpPr>
              <p:cNvPr id="57" name="Group 56">
                <a:extLst>
                  <a:ext uri="{FF2B5EF4-FFF2-40B4-BE49-F238E27FC236}">
                    <a16:creationId xmlns:a16="http://schemas.microsoft.com/office/drawing/2014/main" id="{AEF3500C-C456-C9E5-F77C-01469127A1B0}"/>
                  </a:ext>
                </a:extLst>
              </p:cNvPr>
              <p:cNvGrpSpPr/>
              <p:nvPr/>
            </p:nvGrpSpPr>
            <p:grpSpPr>
              <a:xfrm>
                <a:off x="4001188" y="4533767"/>
                <a:ext cx="1662758" cy="284400"/>
                <a:chOff x="5811515" y="4731709"/>
                <a:chExt cx="1662758" cy="284400"/>
              </a:xfrm>
            </p:grpSpPr>
            <p:pic>
              <p:nvPicPr>
                <p:cNvPr id="101" name="Picture 4" descr="Linux">
                  <a:extLst>
                    <a:ext uri="{FF2B5EF4-FFF2-40B4-BE49-F238E27FC236}">
                      <a16:creationId xmlns:a16="http://schemas.microsoft.com/office/drawing/2014/main" id="{CDD5ABFF-464C-753C-1F41-CBC4FF8977BC}"/>
                    </a:ext>
                    <a:ext uri="{C183D7F6-B498-43B3-948B-1728B52AA6E4}">
                      <adec:decorative xmlns:adec="http://schemas.microsoft.com/office/drawing/2017/decorative" val="0"/>
                    </a:ext>
                  </a:extLst>
                </p:cNvPr>
                <p:cNvPicPr>
                  <a:picLocks noChangeAspect="1" noChangeArrowheads="1"/>
                </p:cNvPicPr>
                <p:nvPr/>
              </p:nvPicPr>
              <p:blipFill>
                <a:blip r:embed="rId21" cstate="print">
                  <a:extLst>
                    <a:ext uri="{28A0092B-C50C-407E-A947-70E740481C1C}">
                      <a14:useLocalDpi xmlns:a14="http://schemas.microsoft.com/office/drawing/2010/main"/>
                    </a:ext>
                  </a:extLst>
                </a:blip>
                <a:srcRect/>
                <a:stretch>
                  <a:fillRect/>
                </a:stretch>
              </p:blipFill>
              <p:spPr bwMode="auto">
                <a:xfrm>
                  <a:off x="7206641" y="4734691"/>
                  <a:ext cx="267632" cy="278437"/>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8" descr="ubuntu Download png">
                  <a:extLst>
                    <a:ext uri="{FF2B5EF4-FFF2-40B4-BE49-F238E27FC236}">
                      <a16:creationId xmlns:a16="http://schemas.microsoft.com/office/drawing/2014/main" id="{1677D2C4-E351-2862-E67D-093C71FEBF8F}"/>
                    </a:ext>
                  </a:extLst>
                </p:cNvPr>
                <p:cNvPicPr>
                  <a:picLocks noChangeAspect="1" noChangeArrowheads="1"/>
                </p:cNvPicPr>
                <p:nvPr/>
              </p:nvPicPr>
              <p:blipFill>
                <a:blip r:embed="rId22" cstate="print">
                  <a:extLst>
                    <a:ext uri="{28A0092B-C50C-407E-A947-70E740481C1C}">
                      <a14:useLocalDpi xmlns:a14="http://schemas.microsoft.com/office/drawing/2010/main"/>
                    </a:ext>
                  </a:extLst>
                </a:blip>
                <a:srcRect/>
                <a:stretch>
                  <a:fillRect/>
                </a:stretch>
              </p:blipFill>
              <p:spPr bwMode="auto">
                <a:xfrm>
                  <a:off x="5811515" y="4739182"/>
                  <a:ext cx="269455" cy="26945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0">
                  <a:extLst>
                    <a:ext uri="{FF2B5EF4-FFF2-40B4-BE49-F238E27FC236}">
                      <a16:creationId xmlns:a16="http://schemas.microsoft.com/office/drawing/2014/main" id="{36E84CAC-D35E-9CC5-7314-1049E2FA23E2}"/>
                    </a:ext>
                  </a:extLst>
                </p:cNvPr>
                <p:cNvPicPr>
                  <a:picLocks noChangeAspect="1" noChangeArrowheads="1"/>
                </p:cNvPicPr>
                <p:nvPr/>
              </p:nvPicPr>
              <p:blipFill>
                <a:blip r:embed="rId23" cstate="hqprint">
                  <a:extLst>
                    <a:ext uri="{28A0092B-C50C-407E-A947-70E740481C1C}">
                      <a14:useLocalDpi xmlns:a14="http://schemas.microsoft.com/office/drawing/2010/main"/>
                    </a:ext>
                  </a:extLst>
                </a:blip>
                <a:srcRect/>
                <a:stretch>
                  <a:fillRect/>
                </a:stretch>
              </p:blipFill>
              <p:spPr bwMode="auto">
                <a:xfrm>
                  <a:off x="6753453" y="4731709"/>
                  <a:ext cx="284399" cy="28440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2" descr="Suse Logo Transparent">
                  <a:extLst>
                    <a:ext uri="{FF2B5EF4-FFF2-40B4-BE49-F238E27FC236}">
                      <a16:creationId xmlns:a16="http://schemas.microsoft.com/office/drawing/2014/main" id="{E770CE2C-D4A6-4EA1-20B8-8D886D1285AF}"/>
                    </a:ext>
                  </a:extLst>
                </p:cNvPr>
                <p:cNvPicPr>
                  <a:picLocks noChangeAspect="1" noChangeArrowheads="1"/>
                </p:cNvPicPr>
                <p:nvPr/>
              </p:nvPicPr>
              <p:blipFill>
                <a:blip r:embed="rId24" cstate="hqprint">
                  <a:extLst>
                    <a:ext uri="{28A0092B-C50C-407E-A947-70E740481C1C}">
                      <a14:useLocalDpi xmlns:a14="http://schemas.microsoft.com/office/drawing/2010/main"/>
                    </a:ext>
                  </a:extLst>
                </a:blip>
                <a:srcRect/>
                <a:stretch>
                  <a:fillRect/>
                </a:stretch>
              </p:blipFill>
              <p:spPr bwMode="auto">
                <a:xfrm>
                  <a:off x="6263230" y="4792985"/>
                  <a:ext cx="321435" cy="161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44" name="Group 43">
              <a:extLst>
                <a:ext uri="{FF2B5EF4-FFF2-40B4-BE49-F238E27FC236}">
                  <a16:creationId xmlns:a16="http://schemas.microsoft.com/office/drawing/2014/main" id="{2146F806-3245-A6F6-8879-8B5371A66430}"/>
                </a:ext>
              </a:extLst>
            </p:cNvPr>
            <p:cNvGrpSpPr/>
            <p:nvPr/>
          </p:nvGrpSpPr>
          <p:grpSpPr>
            <a:xfrm>
              <a:off x="7055304" y="4814379"/>
              <a:ext cx="1342776" cy="513257"/>
              <a:chOff x="6198574" y="4549405"/>
              <a:chExt cx="1342776" cy="513257"/>
            </a:xfrm>
          </p:grpSpPr>
          <p:sp>
            <p:nvSpPr>
              <p:cNvPr id="58" name="Content Placeholder 16">
                <a:extLst>
                  <a:ext uri="{FF2B5EF4-FFF2-40B4-BE49-F238E27FC236}">
                    <a16:creationId xmlns:a16="http://schemas.microsoft.com/office/drawing/2014/main" id="{DA1CBEB7-6D9C-11D4-85B4-374A3E9DF470}"/>
                  </a:ext>
                </a:extLst>
              </p:cNvPr>
              <p:cNvSpPr txBox="1">
                <a:spLocks/>
              </p:cNvSpPr>
              <p:nvPr/>
            </p:nvSpPr>
            <p:spPr>
              <a:xfrm>
                <a:off x="6336881" y="4927240"/>
                <a:ext cx="1066164"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Kubernetes platforms</a:t>
                </a:r>
              </a:p>
            </p:txBody>
          </p:sp>
          <p:grpSp>
            <p:nvGrpSpPr>
              <p:cNvPr id="59" name="Group 58">
                <a:extLst>
                  <a:ext uri="{FF2B5EF4-FFF2-40B4-BE49-F238E27FC236}">
                    <a16:creationId xmlns:a16="http://schemas.microsoft.com/office/drawing/2014/main" id="{332DCFF6-D0A6-9581-51F4-F666F0557B93}"/>
                  </a:ext>
                </a:extLst>
              </p:cNvPr>
              <p:cNvGrpSpPr/>
              <p:nvPr/>
            </p:nvGrpSpPr>
            <p:grpSpPr>
              <a:xfrm>
                <a:off x="6198574" y="4549405"/>
                <a:ext cx="1342776" cy="253125"/>
                <a:chOff x="8940698" y="4747347"/>
                <a:chExt cx="1342776" cy="253125"/>
              </a:xfrm>
            </p:grpSpPr>
            <p:pic>
              <p:nvPicPr>
                <p:cNvPr id="98" name="Picture 4" descr="Kubernetes | Tap into a Unified Multi Cloud MPK Service">
                  <a:extLst>
                    <a:ext uri="{FF2B5EF4-FFF2-40B4-BE49-F238E27FC236}">
                      <a16:creationId xmlns:a16="http://schemas.microsoft.com/office/drawing/2014/main" id="{B8AFD161-D5F8-5221-8FED-3B98890AC066}"/>
                    </a:ext>
                  </a:extLst>
                </p:cNvPr>
                <p:cNvPicPr>
                  <a:picLocks noChangeAspect="1" noChangeArrowheads="1"/>
                </p:cNvPicPr>
                <p:nvPr/>
              </p:nvPicPr>
              <p:blipFill>
                <a:blip r:embed="rId25" cstate="print">
                  <a:extLst>
                    <a:ext uri="{28A0092B-C50C-407E-A947-70E740481C1C}">
                      <a14:useLocalDpi xmlns:a14="http://schemas.microsoft.com/office/drawing/2010/main"/>
                    </a:ext>
                  </a:extLst>
                </a:blip>
                <a:srcRect/>
                <a:stretch>
                  <a:fillRect/>
                </a:stretch>
              </p:blipFill>
              <p:spPr bwMode="auto">
                <a:xfrm>
                  <a:off x="8940698" y="4747347"/>
                  <a:ext cx="277207" cy="253125"/>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docker icon [ Download - Logo - icon ] png svg logo download">
                  <a:extLst>
                    <a:ext uri="{FF2B5EF4-FFF2-40B4-BE49-F238E27FC236}">
                      <a16:creationId xmlns:a16="http://schemas.microsoft.com/office/drawing/2014/main" id="{1DEE3426-0EE8-7C8D-D0AF-BB36739421FB}"/>
                    </a:ext>
                  </a:extLst>
                </p:cNvPr>
                <p:cNvPicPr>
                  <a:picLocks noChangeAspect="1" noChangeArrowheads="1"/>
                </p:cNvPicPr>
                <p:nvPr/>
              </p:nvPicPr>
              <p:blipFill>
                <a:blip r:embed="rId26" cstate="print">
                  <a:extLst>
                    <a:ext uri="{28A0092B-C50C-407E-A947-70E740481C1C}">
                      <a14:useLocalDpi xmlns:a14="http://schemas.microsoft.com/office/drawing/2010/main"/>
                    </a:ext>
                  </a:extLst>
                </a:blip>
                <a:srcRect/>
                <a:stretch>
                  <a:fillRect/>
                </a:stretch>
              </p:blipFill>
              <p:spPr bwMode="auto">
                <a:xfrm>
                  <a:off x="9382926" y="4762411"/>
                  <a:ext cx="308634" cy="222996"/>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14" descr="Rancher Logo PNG Vector (SVG) Free Download">
                  <a:extLst>
                    <a:ext uri="{FF2B5EF4-FFF2-40B4-BE49-F238E27FC236}">
                      <a16:creationId xmlns:a16="http://schemas.microsoft.com/office/drawing/2014/main" id="{13A6354C-368B-573C-BBC4-36F5B29D2B11}"/>
                    </a:ext>
                  </a:extLst>
                </p:cNvPr>
                <p:cNvPicPr>
                  <a:picLocks noChangeAspect="1" noChangeArrowheads="1"/>
                </p:cNvPicPr>
                <p:nvPr/>
              </p:nvPicPr>
              <p:blipFill>
                <a:blip r:embed="rId27" cstate="print">
                  <a:extLst>
                    <a:ext uri="{28A0092B-C50C-407E-A947-70E740481C1C}">
                      <a14:useLocalDpi xmlns:a14="http://schemas.microsoft.com/office/drawing/2010/main"/>
                    </a:ext>
                  </a:extLst>
                </a:blip>
                <a:srcRect/>
                <a:stretch>
                  <a:fillRect/>
                </a:stretch>
              </p:blipFill>
              <p:spPr bwMode="auto">
                <a:xfrm>
                  <a:off x="9822777" y="4765646"/>
                  <a:ext cx="460697" cy="21652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5" name="Rounded Rectangle 14">
              <a:extLst>
                <a:ext uri="{FF2B5EF4-FFF2-40B4-BE49-F238E27FC236}">
                  <a16:creationId xmlns:a16="http://schemas.microsoft.com/office/drawing/2014/main" id="{23586F67-A402-CDD4-AF6B-F61DB19DEC3D}"/>
                </a:ext>
              </a:extLst>
            </p:cNvPr>
            <p:cNvSpPr/>
            <p:nvPr/>
          </p:nvSpPr>
          <p:spPr bwMode="auto">
            <a:xfrm>
              <a:off x="571499" y="4618697"/>
              <a:ext cx="9975104" cy="923086"/>
            </a:xfrm>
            <a:prstGeom prst="roundRect">
              <a:avLst>
                <a:gd name="adj" fmla="val 14134"/>
              </a:avLst>
            </a:prstGeom>
            <a:no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err="1">
                <a:solidFill>
                  <a:srgbClr val="FFFFFF"/>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0D7D51A2-FC53-2E3B-61AD-E01DAD2DD88A}"/>
                </a:ext>
              </a:extLst>
            </p:cNvPr>
            <p:cNvSpPr txBox="1"/>
            <p:nvPr/>
          </p:nvSpPr>
          <p:spPr>
            <a:xfrm>
              <a:off x="668957" y="4720240"/>
              <a:ext cx="1800000" cy="720000"/>
            </a:xfrm>
            <a:prstGeom prst="roundRect">
              <a:avLst>
                <a:gd name="adj" fmla="val 14399"/>
              </a:avLst>
            </a:prstGeom>
            <a:gradFill>
              <a:gsLst>
                <a:gs pos="100000">
                  <a:schemeClr val="accent3"/>
                </a:gs>
                <a:gs pos="8000">
                  <a:schemeClr val="accent1"/>
                </a:gs>
              </a:gsLst>
              <a:lin ang="18900000" scaled="1"/>
            </a:gradFill>
          </p:spPr>
          <p:txBody>
            <a:bodyPr vert="horz" wrap="square" lIns="0" tIns="0" rIns="0" bIns="0" rtlCol="0" anchor="ctr" anchorCtr="0">
              <a:noAutofit/>
            </a:bodyPr>
            <a:lstStyle>
              <a:defPPr>
                <a:defRPr lang="en-US"/>
              </a:defPPr>
              <a:lvl1pPr algn="ctr" defTabSz="932742">
                <a:spcBef>
                  <a:spcPct val="20000"/>
                </a:spcBef>
                <a:buSzPct val="90000"/>
                <a:defRPr sz="1400" b="1">
                  <a:ln w="3175">
                    <a:noFill/>
                  </a:ln>
                  <a:solidFill>
                    <a:schemeClr val="bg1"/>
                  </a:solidFill>
                  <a:latin typeface="+mj-lt"/>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1399113">
                <a:defRPr/>
              </a:pPr>
              <a:r>
                <a:rPr lang="en-US" sz="1800">
                  <a:solidFill>
                    <a:srgbClr val="FFFFFF"/>
                  </a:solidFill>
                  <a:latin typeface="+mn-lt"/>
                </a:rPr>
                <a:t>Infrastructure</a:t>
              </a:r>
            </a:p>
          </p:txBody>
        </p:sp>
        <p:sp>
          <p:nvSpPr>
            <p:cNvPr id="50" name="Rounded Rectangle 14">
              <a:extLst>
                <a:ext uri="{FF2B5EF4-FFF2-40B4-BE49-F238E27FC236}">
                  <a16:creationId xmlns:a16="http://schemas.microsoft.com/office/drawing/2014/main" id="{40AB327F-A9B1-ACA6-C986-0176B63B8AAF}"/>
                </a:ext>
              </a:extLst>
            </p:cNvPr>
            <p:cNvSpPr/>
            <p:nvPr/>
          </p:nvSpPr>
          <p:spPr bwMode="auto">
            <a:xfrm rot="5400000">
              <a:off x="9137393" y="3066303"/>
              <a:ext cx="4001334" cy="949631"/>
            </a:xfrm>
            <a:prstGeom prst="roundRect">
              <a:avLst>
                <a:gd name="adj" fmla="val 14134"/>
              </a:avLst>
            </a:prstGeom>
            <a:no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220436" tIns="165327" rIns="220436" bIns="165327" numCol="1" spcCol="0" rtlCol="0" fromWordArt="0" anchor="t" anchorCtr="0" forceAA="0" compatLnSpc="1">
              <a:prstTxWarp prst="textNoShape">
                <a:avLst/>
              </a:prstTxWarp>
              <a:noAutofit/>
            </a:bodyPr>
            <a:lstStyle/>
            <a:p>
              <a:pPr defTabSz="1371600">
                <a:defRPr/>
              </a:pPr>
              <a:endParaRPr lang="en-US" sz="2100" err="1">
                <a:solidFill>
                  <a:srgbClr val="FFFFFF"/>
                </a:solidFill>
                <a:latin typeface="Segoe UI" panose="020B0502040204020203" pitchFamily="34" charset="0"/>
                <a:cs typeface="Segoe UI" panose="020B0502040204020203" pitchFamily="34" charset="0"/>
              </a:endParaRPr>
            </a:p>
          </p:txBody>
        </p:sp>
        <p:grpSp>
          <p:nvGrpSpPr>
            <p:cNvPr id="61" name="Group 60">
              <a:extLst>
                <a:ext uri="{FF2B5EF4-FFF2-40B4-BE49-F238E27FC236}">
                  <a16:creationId xmlns:a16="http://schemas.microsoft.com/office/drawing/2014/main" id="{A80AA8FA-01DF-2EAE-C2B7-DF910B6E8997}"/>
                </a:ext>
              </a:extLst>
            </p:cNvPr>
            <p:cNvGrpSpPr/>
            <p:nvPr/>
          </p:nvGrpSpPr>
          <p:grpSpPr>
            <a:xfrm>
              <a:off x="10847190" y="2274010"/>
              <a:ext cx="649055" cy="673875"/>
              <a:chOff x="10148814" y="2867845"/>
              <a:chExt cx="649055" cy="673875"/>
            </a:xfrm>
          </p:grpSpPr>
          <p:pic>
            <p:nvPicPr>
              <p:cNvPr id="19" name="Picture 18">
                <a:extLst>
                  <a:ext uri="{FF2B5EF4-FFF2-40B4-BE49-F238E27FC236}">
                    <a16:creationId xmlns:a16="http://schemas.microsoft.com/office/drawing/2014/main" id="{0847BB45-5256-6E45-B08F-02453F2FF62E}"/>
                  </a:ext>
                  <a:ext uri="{C183D7F6-B498-43B3-948B-1728B52AA6E4}">
                    <adec:decorative xmlns:adec="http://schemas.microsoft.com/office/drawing/2017/decorative" val="1"/>
                  </a:ext>
                </a:extLst>
              </p:cNvPr>
              <p:cNvPicPr>
                <a:picLocks noChangeAspect="1"/>
              </p:cNvPicPr>
              <p:nvPr/>
            </p:nvPicPr>
            <p:blipFill>
              <a:blip r:embed="rId28" cstate="hqprint">
                <a:extLst>
                  <a:ext uri="{28A0092B-C50C-407E-A947-70E740481C1C}">
                    <a14:useLocalDpi xmlns:a14="http://schemas.microsoft.com/office/drawing/2010/main"/>
                  </a:ext>
                </a:extLst>
              </a:blip>
              <a:stretch>
                <a:fillRect/>
              </a:stretch>
            </p:blipFill>
            <p:spPr>
              <a:xfrm>
                <a:off x="10148814" y="2867845"/>
                <a:ext cx="649055" cy="405659"/>
              </a:xfrm>
              <a:prstGeom prst="rect">
                <a:avLst/>
              </a:prstGeom>
              <a:ln w="6657" cap="flat">
                <a:noFill/>
                <a:prstDash val="solid"/>
                <a:miter/>
              </a:ln>
              <a:effectLst/>
            </p:spPr>
          </p:pic>
          <p:sp>
            <p:nvSpPr>
              <p:cNvPr id="18" name="TextBox 17">
                <a:extLst>
                  <a:ext uri="{FF2B5EF4-FFF2-40B4-BE49-F238E27FC236}">
                    <a16:creationId xmlns:a16="http://schemas.microsoft.com/office/drawing/2014/main" id="{45155C77-A16B-5969-17D6-4B14620A4900}"/>
                  </a:ext>
                  <a:ext uri="{C183D7F6-B498-43B3-948B-1728B52AA6E4}">
                    <adec:decorative xmlns:adec="http://schemas.microsoft.com/office/drawing/2017/decorative" val="1"/>
                  </a:ext>
                </a:extLst>
              </p:cNvPr>
              <p:cNvSpPr txBox="1"/>
              <p:nvPr/>
            </p:nvSpPr>
            <p:spPr>
              <a:xfrm>
                <a:off x="10322388" y="3270876"/>
                <a:ext cx="318476" cy="270844"/>
              </a:xfrm>
              <a:prstGeom prst="rect">
                <a:avLst/>
              </a:prstGeom>
              <a:noFill/>
            </p:spPr>
            <p:txBody>
              <a:bodyPr vert="horz" wrap="none" lIns="0" tIns="0" rIns="0" bIns="0" rtlCol="0">
                <a:spAutoFit/>
              </a:bodyPr>
              <a:lstStyle>
                <a:defPPr>
                  <a:defRPr lang="en-US"/>
                </a:defPPr>
                <a:lvl1pPr marR="0" indent="0" algn="ctr" defTabSz="932114" fontAlgn="base">
                  <a:lnSpc>
                    <a:spcPct val="100000"/>
                  </a:lnSpc>
                  <a:spcBef>
                    <a:spcPct val="0"/>
                  </a:spcBef>
                  <a:spcAft>
                    <a:spcPct val="0"/>
                  </a:spcAft>
                  <a:buClrTx/>
                  <a:buSzTx/>
                  <a:buFont typeface="Wingdings" panose="05000000000000000000" pitchFamily="2" charset="2"/>
                  <a:buNone/>
                  <a:tabLst/>
                  <a:defRPr sz="1000" spc="0" baseline="0">
                    <a:ln w="3175">
                      <a:noFill/>
                    </a:ln>
                    <a:solidFill>
                      <a:srgbClr val="FFFFFF"/>
                    </a:solidFill>
                  </a:defRPr>
                </a:lvl1pPr>
                <a:lvl2pPr marL="0" marR="0" indent="0" defTabSz="932742" fontAlgn="auto">
                  <a:lnSpc>
                    <a:spcPct val="100000"/>
                  </a:lnSpc>
                  <a:spcBef>
                    <a:spcPts val="0"/>
                  </a:spcBef>
                  <a:spcAft>
                    <a:spcPts val="0"/>
                  </a:spcAft>
                  <a:buClrTx/>
                  <a:buSzPct val="90000"/>
                  <a:buFontTx/>
                  <a:buNone/>
                  <a:tabLst/>
                  <a:defRPr sz="2000" spc="0" baseline="0">
                    <a:solidFill>
                      <a:srgbClr val="000000"/>
                    </a:solidFill>
                  </a:defRPr>
                </a:lvl2pPr>
                <a:lvl3pPr marL="0" marR="0" indent="0" defTabSz="932742" fontAlgn="auto">
                  <a:lnSpc>
                    <a:spcPct val="100000"/>
                  </a:lnSpc>
                  <a:spcBef>
                    <a:spcPts val="0"/>
                  </a:spcBef>
                  <a:spcAft>
                    <a:spcPts val="0"/>
                  </a:spcAft>
                  <a:buClrTx/>
                  <a:buSzPct val="90000"/>
                  <a:buFont typeface="Wingdings" panose="05000000000000000000" pitchFamily="2" charset="2"/>
                  <a:buNone/>
                  <a:tabLst/>
                  <a:defRPr sz="1400" spc="0" baseline="0">
                    <a:solidFill>
                      <a:schemeClr val="tx2"/>
                    </a:solidFill>
                    <a:latin typeface="+mj-lt"/>
                  </a:defRPr>
                </a:lvl3pPr>
                <a:lvl4pPr marL="0" marR="0" indent="0" defTabSz="932742" fontAlgn="auto">
                  <a:lnSpc>
                    <a:spcPct val="100000"/>
                  </a:lnSpc>
                  <a:spcBef>
                    <a:spcPts val="0"/>
                  </a:spcBef>
                  <a:spcAft>
                    <a:spcPts val="0"/>
                  </a:spcAft>
                  <a:buClrTx/>
                  <a:buSzPct val="90000"/>
                  <a:buFont typeface="Wingdings" panose="05000000000000000000" pitchFamily="2" charset="2"/>
                  <a:buNone/>
                  <a:tabLst/>
                  <a:defRPr sz="1400" spc="0" baseline="0">
                    <a:solidFill>
                      <a:srgbClr val="000000"/>
                    </a:solidFill>
                  </a:defRPr>
                </a:lvl4pPr>
                <a:lvl5pPr marL="0" marR="0" indent="0" defTabSz="932742" fontAlgn="auto">
                  <a:lnSpc>
                    <a:spcPct val="100000"/>
                  </a:lnSpc>
                  <a:spcBef>
                    <a:spcPts val="0"/>
                  </a:spcBef>
                  <a:spcAft>
                    <a:spcPts val="0"/>
                  </a:spcAft>
                  <a:buClrTx/>
                  <a:buSzPct val="90000"/>
                  <a:buFont typeface="Wingdings" panose="05000000000000000000" pitchFamily="2" charset="2"/>
                  <a:buNone/>
                  <a:tabLst/>
                  <a:defRPr sz="1000" b="1" spc="0" baseline="0">
                    <a:solidFill>
                      <a:srgbClr val="000000"/>
                    </a:solidFill>
                  </a:defRPr>
                </a:lvl5pPr>
                <a:lvl6pPr marL="2331854" indent="0" defTabSz="932742">
                  <a:spcBef>
                    <a:spcPct val="20000"/>
                  </a:spcBef>
                  <a:buFont typeface="Arial" pitchFamily="34" charset="0"/>
                  <a:buNone/>
                  <a:defRPr sz="2000"/>
                </a:lvl6pPr>
                <a:lvl7pPr marL="0" indent="0" defTabSz="932742">
                  <a:lnSpc>
                    <a:spcPct val="100000"/>
                  </a:lnSpc>
                  <a:spcBef>
                    <a:spcPts val="0"/>
                  </a:spcBef>
                  <a:spcAft>
                    <a:spcPts val="0"/>
                  </a:spcAft>
                  <a:buFont typeface="Arial" pitchFamily="34" charset="0"/>
                  <a:buNone/>
                  <a:defRPr sz="1000">
                    <a:solidFill>
                      <a:srgbClr val="000000"/>
                    </a:solidFill>
                  </a:defRPr>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defTabSz="1398171">
                  <a:defRPr/>
                </a:pPr>
                <a:r>
                  <a:rPr lang="en-US" sz="1200">
                    <a:latin typeface="Segoe Sans Text"/>
                  </a:rPr>
                  <a:t>Visual</a:t>
                </a:r>
                <a:br>
                  <a:rPr lang="en-US" sz="1200">
                    <a:latin typeface="Segoe Sans Text"/>
                  </a:rPr>
                </a:br>
                <a:r>
                  <a:rPr lang="en-US" sz="1200">
                    <a:latin typeface="Segoe Sans Text"/>
                  </a:rPr>
                  <a:t>Studio</a:t>
                </a:r>
              </a:p>
            </p:txBody>
          </p:sp>
        </p:grpSp>
        <p:grpSp>
          <p:nvGrpSpPr>
            <p:cNvPr id="66" name="Group 65">
              <a:extLst>
                <a:ext uri="{FF2B5EF4-FFF2-40B4-BE49-F238E27FC236}">
                  <a16:creationId xmlns:a16="http://schemas.microsoft.com/office/drawing/2014/main" id="{4193E6E3-3C55-D776-D4ED-1E1E3BC6DB8A}"/>
                </a:ext>
              </a:extLst>
            </p:cNvPr>
            <p:cNvGrpSpPr/>
            <p:nvPr/>
          </p:nvGrpSpPr>
          <p:grpSpPr>
            <a:xfrm>
              <a:off x="10984942" y="4097418"/>
              <a:ext cx="373555" cy="579391"/>
              <a:chOff x="10286566" y="4042261"/>
              <a:chExt cx="373555" cy="579391"/>
            </a:xfrm>
          </p:grpSpPr>
          <p:pic>
            <p:nvPicPr>
              <p:cNvPr id="22" name="Graphic 21">
                <a:extLst>
                  <a:ext uri="{FF2B5EF4-FFF2-40B4-BE49-F238E27FC236}">
                    <a16:creationId xmlns:a16="http://schemas.microsoft.com/office/drawing/2014/main" id="{8C455C91-A34A-AA54-62A0-46A838A60893}"/>
                  </a:ext>
                  <a:ext uri="{C183D7F6-B498-43B3-948B-1728B52AA6E4}">
                    <adec:decorative xmlns:adec="http://schemas.microsoft.com/office/drawing/2017/decorative" val="1"/>
                  </a:ext>
                </a:extLst>
              </p:cNvPr>
              <p:cNvPicPr>
                <a:picLocks noChangeAspect="1"/>
              </p:cNvPicPr>
              <p:nvPr/>
            </p:nvPicPr>
            <p:blipFill>
              <a:blip>
                <a:lum bright="100000"/>
                <a:extLst>
                  <a:ext uri="{96DAC541-7B7A-43D3-8B79-37D633B846F1}">
                    <asvg:svgBlip xmlns:asvg="http://schemas.microsoft.com/office/drawing/2016/SVG/main" r:embed="rId29"/>
                  </a:ext>
                </a:extLst>
              </a:blip>
              <a:stretch>
                <a:fillRect/>
              </a:stretch>
            </p:blipFill>
            <p:spPr>
              <a:xfrm>
                <a:off x="10286566" y="4042261"/>
                <a:ext cx="373555" cy="368439"/>
              </a:xfrm>
              <a:prstGeom prst="rect">
                <a:avLst/>
              </a:prstGeom>
              <a:effectLst/>
            </p:spPr>
          </p:pic>
          <p:sp>
            <p:nvSpPr>
              <p:cNvPr id="23" name="TextBox 22">
                <a:extLst>
                  <a:ext uri="{FF2B5EF4-FFF2-40B4-BE49-F238E27FC236}">
                    <a16:creationId xmlns:a16="http://schemas.microsoft.com/office/drawing/2014/main" id="{642D7CF0-4F3D-179C-23F1-9F140B0B6AA3}"/>
                  </a:ext>
                  <a:ext uri="{C183D7F6-B498-43B3-948B-1728B52AA6E4}">
                    <adec:decorative xmlns:adec="http://schemas.microsoft.com/office/drawing/2017/decorative" val="1"/>
                  </a:ext>
                </a:extLst>
              </p:cNvPr>
              <p:cNvSpPr txBox="1"/>
              <p:nvPr/>
            </p:nvSpPr>
            <p:spPr>
              <a:xfrm>
                <a:off x="10297015" y="4486230"/>
                <a:ext cx="352661" cy="135422"/>
              </a:xfrm>
              <a:prstGeom prst="rect">
                <a:avLst/>
              </a:prstGeom>
              <a:noFill/>
            </p:spPr>
            <p:txBody>
              <a:bodyPr vert="horz" wrap="none" lIns="0" tIns="0" rIns="0" bIns="0" rtlCol="0">
                <a:spAutoFit/>
              </a:bodyPr>
              <a:lstStyle>
                <a:defPPr>
                  <a:defRPr lang="en-US"/>
                </a:defPPr>
                <a:lvl1pPr marR="0" indent="0" algn="ctr" defTabSz="932114" fontAlgn="base">
                  <a:lnSpc>
                    <a:spcPct val="100000"/>
                  </a:lnSpc>
                  <a:spcBef>
                    <a:spcPct val="0"/>
                  </a:spcBef>
                  <a:spcAft>
                    <a:spcPct val="0"/>
                  </a:spcAft>
                  <a:buClrTx/>
                  <a:buSzTx/>
                  <a:buFont typeface="Wingdings" panose="05000000000000000000" pitchFamily="2" charset="2"/>
                  <a:buNone/>
                  <a:tabLst/>
                  <a:defRPr sz="1000" spc="0" baseline="0">
                    <a:ln w="3175">
                      <a:noFill/>
                    </a:ln>
                    <a:solidFill>
                      <a:srgbClr val="FFFFFF"/>
                    </a:solidFill>
                  </a:defRPr>
                </a:lvl1pPr>
                <a:lvl2pPr marL="0" marR="0" indent="0" defTabSz="932742" fontAlgn="auto">
                  <a:lnSpc>
                    <a:spcPct val="100000"/>
                  </a:lnSpc>
                  <a:spcBef>
                    <a:spcPts val="0"/>
                  </a:spcBef>
                  <a:spcAft>
                    <a:spcPts val="0"/>
                  </a:spcAft>
                  <a:buClrTx/>
                  <a:buSzPct val="90000"/>
                  <a:buFontTx/>
                  <a:buNone/>
                  <a:tabLst/>
                  <a:defRPr sz="2000" spc="0" baseline="0">
                    <a:solidFill>
                      <a:srgbClr val="000000"/>
                    </a:solidFill>
                  </a:defRPr>
                </a:lvl2pPr>
                <a:lvl3pPr marL="0" marR="0" indent="0" defTabSz="932742" fontAlgn="auto">
                  <a:lnSpc>
                    <a:spcPct val="100000"/>
                  </a:lnSpc>
                  <a:spcBef>
                    <a:spcPts val="0"/>
                  </a:spcBef>
                  <a:spcAft>
                    <a:spcPts val="0"/>
                  </a:spcAft>
                  <a:buClrTx/>
                  <a:buSzPct val="90000"/>
                  <a:buFont typeface="Wingdings" panose="05000000000000000000" pitchFamily="2" charset="2"/>
                  <a:buNone/>
                  <a:tabLst/>
                  <a:defRPr sz="1400" spc="0" baseline="0">
                    <a:solidFill>
                      <a:schemeClr val="tx2"/>
                    </a:solidFill>
                    <a:latin typeface="+mj-lt"/>
                  </a:defRPr>
                </a:lvl3pPr>
                <a:lvl4pPr marL="0" marR="0" indent="0" defTabSz="932742" fontAlgn="auto">
                  <a:lnSpc>
                    <a:spcPct val="100000"/>
                  </a:lnSpc>
                  <a:spcBef>
                    <a:spcPts val="0"/>
                  </a:spcBef>
                  <a:spcAft>
                    <a:spcPts val="0"/>
                  </a:spcAft>
                  <a:buClrTx/>
                  <a:buSzPct val="90000"/>
                  <a:buFont typeface="Wingdings" panose="05000000000000000000" pitchFamily="2" charset="2"/>
                  <a:buNone/>
                  <a:tabLst/>
                  <a:defRPr sz="1400" spc="0" baseline="0">
                    <a:solidFill>
                      <a:srgbClr val="000000"/>
                    </a:solidFill>
                  </a:defRPr>
                </a:lvl4pPr>
                <a:lvl5pPr marL="0" marR="0" indent="0" defTabSz="932742" fontAlgn="auto">
                  <a:lnSpc>
                    <a:spcPct val="100000"/>
                  </a:lnSpc>
                  <a:spcBef>
                    <a:spcPts val="0"/>
                  </a:spcBef>
                  <a:spcAft>
                    <a:spcPts val="0"/>
                  </a:spcAft>
                  <a:buClrTx/>
                  <a:buSzPct val="90000"/>
                  <a:buFont typeface="Wingdings" panose="05000000000000000000" pitchFamily="2" charset="2"/>
                  <a:buNone/>
                  <a:tabLst/>
                  <a:defRPr sz="1000" b="1" spc="0" baseline="0">
                    <a:solidFill>
                      <a:srgbClr val="000000"/>
                    </a:solidFill>
                  </a:defRPr>
                </a:lvl5pPr>
                <a:lvl6pPr marL="2331854" indent="0" defTabSz="932742">
                  <a:spcBef>
                    <a:spcPct val="20000"/>
                  </a:spcBef>
                  <a:buFont typeface="Arial" pitchFamily="34" charset="0"/>
                  <a:buNone/>
                  <a:defRPr sz="2000"/>
                </a:lvl6pPr>
                <a:lvl7pPr marL="0" indent="0" defTabSz="932742">
                  <a:lnSpc>
                    <a:spcPct val="100000"/>
                  </a:lnSpc>
                  <a:spcBef>
                    <a:spcPts val="0"/>
                  </a:spcBef>
                  <a:spcAft>
                    <a:spcPts val="0"/>
                  </a:spcAft>
                  <a:buFont typeface="Arial" pitchFamily="34" charset="0"/>
                  <a:buNone/>
                  <a:defRPr sz="1000">
                    <a:solidFill>
                      <a:srgbClr val="000000"/>
                    </a:solidFill>
                  </a:defRPr>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defTabSz="1398171">
                  <a:defRPr/>
                </a:pPr>
                <a:r>
                  <a:rPr lang="en-US" sz="1200">
                    <a:latin typeface="Segoe Sans Text"/>
                  </a:rPr>
                  <a:t>GitHub</a:t>
                </a:r>
              </a:p>
            </p:txBody>
          </p:sp>
        </p:grpSp>
        <p:grpSp>
          <p:nvGrpSpPr>
            <p:cNvPr id="68" name="Group 67">
              <a:extLst>
                <a:ext uri="{FF2B5EF4-FFF2-40B4-BE49-F238E27FC236}">
                  <a16:creationId xmlns:a16="http://schemas.microsoft.com/office/drawing/2014/main" id="{A34BDD05-3F02-D960-66A1-38CE1AC32E49}"/>
                </a:ext>
                <a:ext uri="{C183D7F6-B498-43B3-948B-1728B52AA6E4}">
                  <adec:decorative xmlns:adec="http://schemas.microsoft.com/office/drawing/2017/decorative" val="1"/>
                </a:ext>
              </a:extLst>
            </p:cNvPr>
            <p:cNvGrpSpPr>
              <a:grpSpLocks noChangeAspect="1"/>
            </p:cNvGrpSpPr>
            <p:nvPr/>
          </p:nvGrpSpPr>
          <p:grpSpPr>
            <a:xfrm>
              <a:off x="11057394" y="3447181"/>
              <a:ext cx="187874" cy="187874"/>
              <a:chOff x="5827987" y="3094445"/>
              <a:chExt cx="536026" cy="536026"/>
            </a:xfrm>
          </p:grpSpPr>
          <p:sp>
            <p:nvSpPr>
              <p:cNvPr id="87" name="!!+">
                <a:extLst>
                  <a:ext uri="{FF2B5EF4-FFF2-40B4-BE49-F238E27FC236}">
                    <a16:creationId xmlns:a16="http://schemas.microsoft.com/office/drawing/2014/main" id="{D8471990-8A26-EAF4-E732-59C231543FF6}"/>
                  </a:ext>
                  <a:ext uri="{C183D7F6-B498-43B3-948B-1728B52AA6E4}">
                    <adec:decorative xmlns:adec="http://schemas.microsoft.com/office/drawing/2017/decorative" val="1"/>
                  </a:ext>
                </a:extLst>
              </p:cNvPr>
              <p:cNvSpPr/>
              <p:nvPr/>
            </p:nvSpPr>
            <p:spPr bwMode="auto">
              <a:xfrm>
                <a:off x="5827987" y="3094445"/>
                <a:ext cx="536026" cy="536026"/>
              </a:xfrm>
              <a:prstGeom prst="ellipse">
                <a:avLst/>
              </a:prstGeom>
              <a:gradFill>
                <a:gsLst>
                  <a:gs pos="100000">
                    <a:schemeClr val="accent3"/>
                  </a:gs>
                  <a:gs pos="8000">
                    <a:schemeClr val="accent1"/>
                  </a:gs>
                </a:gsLst>
                <a:lin ang="18900000" scaled="1"/>
              </a:gradFill>
            </p:spPr>
            <p:txBody>
              <a:bodyPr vert="horz" wrap="square" lIns="0" tIns="0" rIns="0" bIns="891540" rtlCol="0" anchor="ctr" anchorCtr="0">
                <a:noAutofit/>
              </a:bodyPr>
              <a:lstStyle/>
              <a:p>
                <a:pPr algn="ctr" defTabSz="1399113">
                  <a:spcBef>
                    <a:spcPct val="20000"/>
                  </a:spcBef>
                  <a:buSzPct val="90000"/>
                  <a:defRPr/>
                </a:pPr>
                <a:endParaRPr lang="en-US" sz="600" b="1">
                  <a:solidFill>
                    <a:srgbClr val="FFFFFF"/>
                  </a:solidFill>
                  <a:latin typeface="Segoe Sans Text"/>
                  <a:cs typeface="Segoe UI" panose="020B0502040204020203" pitchFamily="34" charset="0"/>
                </a:endParaRPr>
              </a:p>
            </p:txBody>
          </p:sp>
          <p:sp>
            <p:nvSpPr>
              <p:cNvPr id="88" name="Plus 87">
                <a:extLst>
                  <a:ext uri="{FF2B5EF4-FFF2-40B4-BE49-F238E27FC236}">
                    <a16:creationId xmlns:a16="http://schemas.microsoft.com/office/drawing/2014/main" id="{40D48899-4400-EC7F-62D6-7B6C33C5E9B0}"/>
                  </a:ext>
                  <a:ext uri="{C183D7F6-B498-43B3-948B-1728B52AA6E4}">
                    <adec:decorative xmlns:adec="http://schemas.microsoft.com/office/drawing/2017/decorative" val="1"/>
                  </a:ext>
                </a:extLst>
              </p:cNvPr>
              <p:cNvSpPr/>
              <p:nvPr/>
            </p:nvSpPr>
            <p:spPr bwMode="auto">
              <a:xfrm>
                <a:off x="5931882" y="3198341"/>
                <a:ext cx="328235" cy="328235"/>
              </a:xfrm>
              <a:prstGeom prst="mathPlus">
                <a:avLst>
                  <a:gd name="adj1" fmla="val 9566"/>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400">
                  <a:solidFill>
                    <a:srgbClr val="FFFFFF"/>
                  </a:solidFill>
                  <a:latin typeface="Segoe UI"/>
                  <a:ea typeface="Segoe UI" pitchFamily="34" charset="0"/>
                  <a:cs typeface="Segoe UI" pitchFamily="34" charset="0"/>
                </a:endParaRPr>
              </a:p>
            </p:txBody>
          </p:sp>
        </p:grpSp>
        <p:sp>
          <p:nvSpPr>
            <p:cNvPr id="10" name="Rounded Rectangle 8">
              <a:extLst>
                <a:ext uri="{FF2B5EF4-FFF2-40B4-BE49-F238E27FC236}">
                  <a16:creationId xmlns:a16="http://schemas.microsoft.com/office/drawing/2014/main" id="{4C2BFE7F-7DD8-7571-F120-9D5A9E1E6C1A}"/>
                </a:ext>
                <a:ext uri="{C183D7F6-B498-43B3-948B-1728B52AA6E4}">
                  <adec:decorative xmlns:adec="http://schemas.microsoft.com/office/drawing/2017/decorative" val="1"/>
                </a:ext>
              </a:extLst>
            </p:cNvPr>
            <p:cNvSpPr/>
            <p:nvPr/>
          </p:nvSpPr>
          <p:spPr bwMode="auto">
            <a:xfrm>
              <a:off x="895568" y="5773916"/>
              <a:ext cx="1770684" cy="569419"/>
            </a:xfrm>
            <a:prstGeom prst="roundRect">
              <a:avLst>
                <a:gd name="adj" fmla="val 3986"/>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411258" fontAlgn="base">
                <a:spcBef>
                  <a:spcPct val="0"/>
                </a:spcBef>
                <a:spcAft>
                  <a:spcPct val="0"/>
                </a:spcAft>
                <a:defRPr/>
              </a:pPr>
              <a:r>
                <a:rPr lang="en-US" sz="1650" b="1">
                  <a:ln w="3175">
                    <a:noFill/>
                  </a:ln>
                  <a:solidFill>
                    <a:srgbClr val="FFFFFF">
                      <a:lumMod val="95000"/>
                    </a:srgbClr>
                  </a:solidFill>
                  <a:cs typeface="Segoe UI" pitchFamily="34" charset="0"/>
                </a:rPr>
                <a:t>Leader in 6+</a:t>
              </a:r>
              <a:br>
                <a:rPr lang="en-US" sz="1650" b="1">
                  <a:ln w="3175">
                    <a:noFill/>
                  </a:ln>
                  <a:solidFill>
                    <a:srgbClr val="FFFFFF">
                      <a:lumMod val="95000"/>
                    </a:srgbClr>
                  </a:solidFill>
                  <a:cs typeface="Segoe UI" pitchFamily="34" charset="0"/>
                </a:rPr>
              </a:br>
              <a:r>
                <a:rPr lang="en-US" sz="1650">
                  <a:solidFill>
                    <a:srgbClr val="FFFFFF"/>
                  </a:solidFill>
                  <a:cs typeface="Segoe UI"/>
                </a:rPr>
                <a:t>Gartner® Magic Quadrants™</a:t>
              </a:r>
              <a:endParaRPr lang="en-US" sz="1650" b="1">
                <a:ln w="3175">
                  <a:noFill/>
                </a:ln>
                <a:solidFill>
                  <a:srgbClr val="FFFFFF">
                    <a:lumMod val="95000"/>
                  </a:srgbClr>
                </a:solidFill>
                <a:cs typeface="Segoe UI" pitchFamily="34" charset="0"/>
              </a:endParaRPr>
            </a:p>
          </p:txBody>
        </p:sp>
        <p:sp>
          <p:nvSpPr>
            <p:cNvPr id="11" name="Rounded Rectangle 8">
              <a:extLst>
                <a:ext uri="{FF2B5EF4-FFF2-40B4-BE49-F238E27FC236}">
                  <a16:creationId xmlns:a16="http://schemas.microsoft.com/office/drawing/2014/main" id="{ED89462E-1658-9554-802B-BF3D91B40EF0}"/>
                </a:ext>
                <a:ext uri="{C183D7F6-B498-43B3-948B-1728B52AA6E4}">
                  <adec:decorative xmlns:adec="http://schemas.microsoft.com/office/drawing/2017/decorative" val="1"/>
                </a:ext>
              </a:extLst>
            </p:cNvPr>
            <p:cNvSpPr/>
            <p:nvPr/>
          </p:nvSpPr>
          <p:spPr bwMode="auto">
            <a:xfrm>
              <a:off x="3663220" y="5773916"/>
              <a:ext cx="1920480" cy="569419"/>
            </a:xfrm>
            <a:prstGeom prst="roundRect">
              <a:avLst>
                <a:gd name="adj" fmla="val 3986"/>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411258" fontAlgn="base">
                <a:spcBef>
                  <a:spcPct val="0"/>
                </a:spcBef>
                <a:spcAft>
                  <a:spcPct val="0"/>
                </a:spcAft>
                <a:defRPr/>
              </a:pPr>
              <a:r>
                <a:rPr lang="en-US" sz="1650" b="1">
                  <a:ln w="3175">
                    <a:noFill/>
                  </a:ln>
                  <a:solidFill>
                    <a:srgbClr val="FFFFFF"/>
                  </a:solidFill>
                  <a:cs typeface="Segoe UI" pitchFamily="34" charset="0"/>
                </a:rPr>
                <a:t>Extensive native integrations with latest tools and technologies </a:t>
              </a:r>
            </a:p>
          </p:txBody>
        </p:sp>
        <p:sp>
          <p:nvSpPr>
            <p:cNvPr id="12" name="Rounded Rectangle 8">
              <a:extLst>
                <a:ext uri="{FF2B5EF4-FFF2-40B4-BE49-F238E27FC236}">
                  <a16:creationId xmlns:a16="http://schemas.microsoft.com/office/drawing/2014/main" id="{121C8089-B580-BFBF-5BEC-A61FD43F6638}"/>
                </a:ext>
                <a:ext uri="{C183D7F6-B498-43B3-948B-1728B52AA6E4}">
                  <adec:decorative xmlns:adec="http://schemas.microsoft.com/office/drawing/2017/decorative" val="1"/>
                </a:ext>
              </a:extLst>
            </p:cNvPr>
            <p:cNvSpPr/>
            <p:nvPr/>
          </p:nvSpPr>
          <p:spPr bwMode="auto">
            <a:xfrm>
              <a:off x="6743091" y="5868821"/>
              <a:ext cx="1695113" cy="379613"/>
            </a:xfrm>
            <a:prstGeom prst="roundRect">
              <a:avLst>
                <a:gd name="adj" fmla="val 3986"/>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411258" fontAlgn="base">
                <a:spcBef>
                  <a:spcPct val="0"/>
                </a:spcBef>
                <a:spcAft>
                  <a:spcPct val="0"/>
                </a:spcAft>
                <a:defRPr/>
              </a:pPr>
              <a:r>
                <a:rPr lang="en-US" sz="1650" b="1">
                  <a:ln w="3175">
                    <a:noFill/>
                  </a:ln>
                  <a:solidFill>
                    <a:srgbClr val="FFFFFF">
                      <a:lumMod val="95000"/>
                    </a:srgbClr>
                  </a:solidFill>
                  <a:cs typeface="Segoe UI" pitchFamily="34" charset="0"/>
                </a:rPr>
                <a:t>Best-in-class cost </a:t>
              </a:r>
              <a:br>
                <a:rPr lang="en-US" sz="1650" b="1">
                  <a:ln w="3175">
                    <a:noFill/>
                  </a:ln>
                  <a:solidFill>
                    <a:srgbClr val="FFFFFF">
                      <a:lumMod val="95000"/>
                    </a:srgbClr>
                  </a:solidFill>
                  <a:cs typeface="Segoe UI" pitchFamily="34" charset="0"/>
                </a:rPr>
              </a:br>
              <a:r>
                <a:rPr lang="en-US" sz="1650" b="1">
                  <a:ln w="3175">
                    <a:noFill/>
                  </a:ln>
                  <a:solidFill>
                    <a:srgbClr val="FFFFFF">
                      <a:lumMod val="95000"/>
                    </a:srgbClr>
                  </a:solidFill>
                  <a:cs typeface="Segoe UI" pitchFamily="34" charset="0"/>
                </a:rPr>
                <a:t>and performance</a:t>
              </a:r>
            </a:p>
          </p:txBody>
        </p:sp>
        <p:cxnSp>
          <p:nvCxnSpPr>
            <p:cNvPr id="14" name="Straight Connector 13">
              <a:extLst>
                <a:ext uri="{FF2B5EF4-FFF2-40B4-BE49-F238E27FC236}">
                  <a16:creationId xmlns:a16="http://schemas.microsoft.com/office/drawing/2014/main" id="{17ACB0E7-EAB7-AF41-39A5-2B0016F40A7A}"/>
                </a:ext>
              </a:extLst>
            </p:cNvPr>
            <p:cNvCxnSpPr>
              <a:cxnSpLocks/>
            </p:cNvCxnSpPr>
            <p:nvPr/>
          </p:nvCxnSpPr>
          <p:spPr>
            <a:xfrm>
              <a:off x="6264221" y="5737870"/>
              <a:ext cx="0" cy="641512"/>
            </a:xfrm>
            <a:prstGeom prst="line">
              <a:avLst/>
            </a:prstGeom>
            <a:noFill/>
            <a:ln>
              <a:solidFill>
                <a:srgbClr val="8DC8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5" name="Straight Connector 14">
              <a:extLst>
                <a:ext uri="{FF2B5EF4-FFF2-40B4-BE49-F238E27FC236}">
                  <a16:creationId xmlns:a16="http://schemas.microsoft.com/office/drawing/2014/main" id="{19779B7B-93C6-0103-E1F7-E38134859409}"/>
                </a:ext>
              </a:extLst>
            </p:cNvPr>
            <p:cNvCxnSpPr>
              <a:cxnSpLocks/>
            </p:cNvCxnSpPr>
            <p:nvPr/>
          </p:nvCxnSpPr>
          <p:spPr>
            <a:xfrm>
              <a:off x="2982700" y="5737870"/>
              <a:ext cx="0" cy="641512"/>
            </a:xfrm>
            <a:prstGeom prst="line">
              <a:avLst/>
            </a:prstGeom>
            <a:noFill/>
            <a:ln>
              <a:solidFill>
                <a:srgbClr val="8DC8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 name="Rounded Rectangle 8">
              <a:extLst>
                <a:ext uri="{FF2B5EF4-FFF2-40B4-BE49-F238E27FC236}">
                  <a16:creationId xmlns:a16="http://schemas.microsoft.com/office/drawing/2014/main" id="{B353D3EB-5D43-9CDD-AB52-B0FDC82D7608}"/>
                </a:ext>
                <a:ext uri="{C183D7F6-B498-43B3-948B-1728B52AA6E4}">
                  <adec:decorative xmlns:adec="http://schemas.microsoft.com/office/drawing/2017/decorative" val="1"/>
                </a:ext>
              </a:extLst>
            </p:cNvPr>
            <p:cNvSpPr/>
            <p:nvPr/>
          </p:nvSpPr>
          <p:spPr bwMode="auto">
            <a:xfrm>
              <a:off x="9493442" y="5773918"/>
              <a:ext cx="1533339" cy="569419"/>
            </a:xfrm>
            <a:prstGeom prst="roundRect">
              <a:avLst>
                <a:gd name="adj" fmla="val 3986"/>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411258" fontAlgn="base">
                <a:spcBef>
                  <a:spcPct val="0"/>
                </a:spcBef>
                <a:spcAft>
                  <a:spcPct val="0"/>
                </a:spcAft>
                <a:defRPr/>
              </a:pPr>
              <a:r>
                <a:rPr lang="en-US" sz="1650" b="1">
                  <a:ln w="3175">
                    <a:noFill/>
                  </a:ln>
                  <a:solidFill>
                    <a:srgbClr val="FFFFFF">
                      <a:lumMod val="95000"/>
                    </a:srgbClr>
                  </a:solidFill>
                  <a:cs typeface="Segoe UI" pitchFamily="34" charset="0"/>
                </a:rPr>
                <a:t>Only cloud operated by a leading </a:t>
              </a:r>
              <a:br>
                <a:rPr lang="en-US" sz="1650" b="1">
                  <a:ln w="3175">
                    <a:noFill/>
                  </a:ln>
                  <a:solidFill>
                    <a:srgbClr val="FFFFFF">
                      <a:lumMod val="95000"/>
                    </a:srgbClr>
                  </a:solidFill>
                  <a:cs typeface="Segoe UI" pitchFamily="34" charset="0"/>
                </a:rPr>
              </a:br>
              <a:r>
                <a:rPr lang="en-US" sz="1650" b="1">
                  <a:ln w="3175">
                    <a:noFill/>
                  </a:ln>
                  <a:solidFill>
                    <a:srgbClr val="FFFFFF">
                      <a:lumMod val="95000"/>
                    </a:srgbClr>
                  </a:solidFill>
                  <a:cs typeface="Segoe UI" pitchFamily="34" charset="0"/>
                </a:rPr>
                <a:t>security vendor</a:t>
              </a:r>
            </a:p>
          </p:txBody>
        </p:sp>
        <p:cxnSp>
          <p:nvCxnSpPr>
            <p:cNvPr id="3" name="Straight Connector 2">
              <a:extLst>
                <a:ext uri="{FF2B5EF4-FFF2-40B4-BE49-F238E27FC236}">
                  <a16:creationId xmlns:a16="http://schemas.microsoft.com/office/drawing/2014/main" id="{D17677FB-BFF7-C11D-C6EA-C8E946B5BB48}"/>
                </a:ext>
              </a:extLst>
            </p:cNvPr>
            <p:cNvCxnSpPr>
              <a:cxnSpLocks/>
            </p:cNvCxnSpPr>
            <p:nvPr/>
          </p:nvCxnSpPr>
          <p:spPr>
            <a:xfrm>
              <a:off x="8917074" y="5737870"/>
              <a:ext cx="0" cy="641512"/>
            </a:xfrm>
            <a:prstGeom prst="line">
              <a:avLst/>
            </a:prstGeom>
            <a:noFill/>
            <a:ln>
              <a:solidFill>
                <a:srgbClr val="8DC8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pic>
          <p:nvPicPr>
            <p:cNvPr id="1032" name="Picture 8" descr="Databricks logo in transparent PNG and vectorized SVG formats">
              <a:extLst>
                <a:ext uri="{FF2B5EF4-FFF2-40B4-BE49-F238E27FC236}">
                  <a16:creationId xmlns:a16="http://schemas.microsoft.com/office/drawing/2014/main" id="{0CFD039C-6EA8-0A4C-A1CE-FFB04E44F770}"/>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6259915" y="3745940"/>
              <a:ext cx="229628" cy="247195"/>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16">
              <a:extLst>
                <a:ext uri="{FF2B5EF4-FFF2-40B4-BE49-F238E27FC236}">
                  <a16:creationId xmlns:a16="http://schemas.microsoft.com/office/drawing/2014/main" id="{3A4C5C46-4EF3-E90A-467D-E24F9B386C5B}"/>
                </a:ext>
              </a:extLst>
            </p:cNvPr>
            <p:cNvSpPr txBox="1">
              <a:spLocks/>
            </p:cNvSpPr>
            <p:nvPr/>
          </p:nvSpPr>
          <p:spPr>
            <a:xfrm>
              <a:off x="6114348" y="4044141"/>
              <a:ext cx="520762" cy="270843"/>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Azure </a:t>
              </a:r>
            </a:p>
            <a:p>
              <a:pPr algn="ctr" defTabSz="1398171" fontAlgn="base">
                <a:spcBef>
                  <a:spcPct val="0"/>
                </a:spcBef>
                <a:spcAft>
                  <a:spcPct val="0"/>
                </a:spcAft>
                <a:buSzTx/>
                <a:defRPr/>
              </a:pPr>
              <a:r>
                <a:rPr lang="en-US" sz="1200" spc="0">
                  <a:ln w="3175">
                    <a:noFill/>
                  </a:ln>
                  <a:solidFill>
                    <a:srgbClr val="FFFFFF"/>
                  </a:solidFill>
                  <a:latin typeface="Segoe Sans Text"/>
                </a:rPr>
                <a:t>Databricks</a:t>
              </a:r>
            </a:p>
          </p:txBody>
        </p:sp>
        <p:sp>
          <p:nvSpPr>
            <p:cNvPr id="53" name="Content Placeholder 16">
              <a:extLst>
                <a:ext uri="{FF2B5EF4-FFF2-40B4-BE49-F238E27FC236}">
                  <a16:creationId xmlns:a16="http://schemas.microsoft.com/office/drawing/2014/main" id="{5520E3EF-A17E-B8AD-586A-D37A308558CB}"/>
                </a:ext>
              </a:extLst>
            </p:cNvPr>
            <p:cNvSpPr txBox="1">
              <a:spLocks/>
            </p:cNvSpPr>
            <p:nvPr/>
          </p:nvSpPr>
          <p:spPr>
            <a:xfrm>
              <a:off x="6959751" y="4044141"/>
              <a:ext cx="505433" cy="135422"/>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Snowflake</a:t>
              </a:r>
            </a:p>
          </p:txBody>
        </p:sp>
        <p:pic>
          <p:nvPicPr>
            <p:cNvPr id="1034" name="Picture 10" descr="Snowflake logo in transparent PNG and vectorized SVG formats">
              <a:extLst>
                <a:ext uri="{FF2B5EF4-FFF2-40B4-BE49-F238E27FC236}">
                  <a16:creationId xmlns:a16="http://schemas.microsoft.com/office/drawing/2014/main" id="{9B6041B8-5510-AFC0-8426-45C219B83BE7}"/>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7096033" y="3758819"/>
              <a:ext cx="222308" cy="2214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rosoft Fabric Consultants | Collectiv">
              <a:extLst>
                <a:ext uri="{FF2B5EF4-FFF2-40B4-BE49-F238E27FC236}">
                  <a16:creationId xmlns:a16="http://schemas.microsoft.com/office/drawing/2014/main" id="{97A918AA-468D-9FD6-F7FB-DD205B39D6DA}"/>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5381761" y="3749140"/>
              <a:ext cx="240795" cy="24079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16">
              <a:extLst>
                <a:ext uri="{FF2B5EF4-FFF2-40B4-BE49-F238E27FC236}">
                  <a16:creationId xmlns:a16="http://schemas.microsoft.com/office/drawing/2014/main" id="{F1072CFD-BC28-8756-D614-C85E4E57B546}"/>
                </a:ext>
              </a:extLst>
            </p:cNvPr>
            <p:cNvSpPr txBox="1">
              <a:spLocks/>
            </p:cNvSpPr>
            <p:nvPr/>
          </p:nvSpPr>
          <p:spPr>
            <a:xfrm>
              <a:off x="5265947" y="4044141"/>
              <a:ext cx="472424" cy="270843"/>
            </a:xfrm>
            <a:prstGeom prst="rect">
              <a:avLst/>
            </a:prstGeom>
            <a:noFill/>
          </p:spPr>
          <p:txBody>
            <a:bodyPr vert="horz" wrap="non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1398171" fontAlgn="base">
                <a:spcBef>
                  <a:spcPct val="0"/>
                </a:spcBef>
                <a:spcAft>
                  <a:spcPct val="0"/>
                </a:spcAft>
                <a:buSzTx/>
                <a:defRPr/>
              </a:pPr>
              <a:r>
                <a:rPr lang="en-US" sz="1200" spc="0">
                  <a:ln w="3175">
                    <a:noFill/>
                  </a:ln>
                  <a:solidFill>
                    <a:srgbClr val="FFFFFF"/>
                  </a:solidFill>
                  <a:latin typeface="Segoe Sans Text"/>
                </a:rPr>
                <a:t>Microsoft</a:t>
              </a:r>
            </a:p>
            <a:p>
              <a:pPr algn="ctr" defTabSz="1398171" fontAlgn="base">
                <a:spcBef>
                  <a:spcPct val="0"/>
                </a:spcBef>
                <a:spcAft>
                  <a:spcPct val="0"/>
                </a:spcAft>
                <a:buSzTx/>
                <a:defRPr/>
              </a:pPr>
              <a:r>
                <a:rPr lang="en-US" sz="1200" spc="0">
                  <a:ln w="3175">
                    <a:noFill/>
                  </a:ln>
                  <a:solidFill>
                    <a:srgbClr val="FFFFFF"/>
                  </a:solidFill>
                  <a:latin typeface="Segoe Sans Text"/>
                </a:rPr>
                <a:t>Fabric</a:t>
              </a:r>
            </a:p>
          </p:txBody>
        </p:sp>
      </p:grpSp>
    </p:spTree>
    <p:extLst>
      <p:ext uri="{BB962C8B-B14F-4D97-AF65-F5344CB8AC3E}">
        <p14:creationId xmlns:p14="http://schemas.microsoft.com/office/powerpoint/2010/main" val="3512944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par>
                                <p:cTn id="8" presetID="42" presetClass="path" presetSubtype="0" decel="100000" fill="hold" grpId="1" nodeType="withEffect">
                                  <p:stCondLst>
                                    <p:cond delay="0"/>
                                  </p:stCondLst>
                                  <p:childTnLst>
                                    <p:animMotion origin="layout" path="M 0 -3.7037E-6 L 0 0.03149 " pathEditMode="relative" rAng="0" ptsTypes="AA">
                                      <p:cBhvr>
                                        <p:cTn id="9" dur="500" spd="-100000" fill="hold"/>
                                        <p:tgtEl>
                                          <p:spTgt spid="80"/>
                                        </p:tgtEl>
                                        <p:attrNameLst>
                                          <p:attrName>ppt_x</p:attrName>
                                          <p:attrName>ppt_y</p:attrName>
                                        </p:attrNameLst>
                                      </p:cBhvr>
                                      <p:rCtr x="0" y="1574"/>
                                    </p:animMotion>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0"/>
                                  </p:stCondLst>
                                  <p:childTnLst>
                                    <p:animMotion origin="layout" path="M 0 3.33333E-6 L 0 0.03541 " pathEditMode="relative" rAng="0" ptsTypes="AA">
                                      <p:cBhvr>
                                        <p:cTn id="14" dur="700" spd="-100000" fill="hold"/>
                                        <p:tgtEl>
                                          <p:spTgt spid="8"/>
                                        </p:tgtEl>
                                        <p:attrNameLst>
                                          <p:attrName>ppt_x</p:attrName>
                                          <p:attrName>ppt_y</p:attrName>
                                        </p:attrNameLst>
                                      </p:cBhvr>
                                      <p:rCtr x="0" y="1759"/>
                                    </p:animMotion>
                                  </p:childTnLst>
                                </p:cTn>
                              </p:par>
                              <p:par>
                                <p:cTn id="15" presetID="10" presetClass="entr" presetSubtype="0" fill="hold" nodeType="withEffect">
                                  <p:stCondLst>
                                    <p:cond delay="1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42" presetClass="path" presetSubtype="0" decel="100000" fill="hold" nodeType="withEffect">
                                  <p:stCondLst>
                                    <p:cond delay="100"/>
                                  </p:stCondLst>
                                  <p:childTnLst>
                                    <p:animMotion origin="layout" path="M 0 4.81481E-6 L 0 0.03541 " pathEditMode="relative" rAng="0" ptsTypes="AA">
                                      <p:cBhvr>
                                        <p:cTn id="19" dur="700" spd="-100000" fill="hold"/>
                                        <p:tgtEl>
                                          <p:spTgt spid="5"/>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0" grpId="1"/>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C83F0-4F7F-760C-7F2D-ECBDAED45E61}"/>
            </a:ext>
          </a:extLst>
        </p:cNvPr>
        <p:cNvGrpSpPr/>
        <p:nvPr/>
      </p:nvGrpSpPr>
      <p:grpSpPr>
        <a:xfrm>
          <a:off x="0" y="0"/>
          <a:ext cx="0" cy="0"/>
          <a:chOff x="0" y="0"/>
          <a:chExt cx="0" cy="0"/>
        </a:xfrm>
      </p:grpSpPr>
      <p:sp>
        <p:nvSpPr>
          <p:cNvPr id="5" name="Title 14">
            <a:extLst>
              <a:ext uri="{FF2B5EF4-FFF2-40B4-BE49-F238E27FC236}">
                <a16:creationId xmlns:a16="http://schemas.microsoft.com/office/drawing/2014/main" id="{61A4E7F7-EB4C-EC0F-1283-A29DCDAE1053}"/>
              </a:ext>
            </a:extLst>
          </p:cNvPr>
          <p:cNvSpPr txBox="1">
            <a:spLocks/>
          </p:cNvSpPr>
          <p:nvPr/>
        </p:nvSpPr>
        <p:spPr>
          <a:xfrm>
            <a:off x="780452" y="613121"/>
            <a:ext cx="16527780" cy="166199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defTabSz="1399113">
              <a:tabLst>
                <a:tab pos="1466850" algn="l"/>
                <a:tab pos="2057400" algn="l"/>
              </a:tabLst>
              <a:defRPr/>
            </a:pPr>
            <a:r>
              <a:rPr lang="en-US" sz="5400" spc="-75">
                <a:solidFill>
                  <a:srgbClr val="FFFFFF"/>
                </a:solidFill>
              </a:rPr>
              <a:t>Why trust Azure for data migration and modernization?</a:t>
            </a:r>
          </a:p>
        </p:txBody>
      </p:sp>
      <p:sp>
        <p:nvSpPr>
          <p:cNvPr id="34" name="TextBox 33">
            <a:extLst>
              <a:ext uri="{FF2B5EF4-FFF2-40B4-BE49-F238E27FC236}">
                <a16:creationId xmlns:a16="http://schemas.microsoft.com/office/drawing/2014/main" id="{6C278A02-34DF-B7C8-ECF4-067B0C58425C}"/>
              </a:ext>
            </a:extLst>
          </p:cNvPr>
          <p:cNvSpPr txBox="1"/>
          <p:nvPr/>
        </p:nvSpPr>
        <p:spPr>
          <a:xfrm>
            <a:off x="871411" y="5999865"/>
            <a:ext cx="3757739" cy="830997"/>
          </a:xfrm>
          <a:prstGeom prst="rect">
            <a:avLst/>
          </a:prstGeom>
          <a:noFill/>
        </p:spPr>
        <p:txBody>
          <a:bodyPr wrap="square" lIns="0" tIns="0" rIns="0" bIns="0" rtlCol="0">
            <a:spAutoFit/>
          </a:bodyPr>
          <a:lstStyle/>
          <a:p>
            <a:pPr algn="ctr" defTabSz="1371600">
              <a:defRPr/>
            </a:pPr>
            <a:r>
              <a:rPr lang="en-US" kern="0">
                <a:solidFill>
                  <a:srgbClr val="FFFFFF"/>
                </a:solidFill>
                <a:ea typeface="Segoe UI Semilight" charset="0"/>
                <a:cs typeface="Segoe Sans Text" pitchFamily="2" charset="0"/>
              </a:rPr>
              <a:t>Industry leading performance and security</a:t>
            </a:r>
            <a:r>
              <a:rPr lang="en-US" kern="0" baseline="30000">
                <a:solidFill>
                  <a:srgbClr val="FFFFFF"/>
                </a:solidFill>
                <a:ea typeface="Segoe UI Semilight" charset="0"/>
                <a:cs typeface="Segoe Sans Text" pitchFamily="2" charset="0"/>
              </a:rPr>
              <a:t>1</a:t>
            </a:r>
            <a:r>
              <a:rPr lang="en-US" kern="0">
                <a:solidFill>
                  <a:srgbClr val="FFFFFF"/>
                </a:solidFill>
                <a:ea typeface="Segoe UI Semilight" charset="0"/>
                <a:cs typeface="Segoe Sans Text" pitchFamily="2" charset="0"/>
              </a:rPr>
              <a:t>, with unmatched cloud scale</a:t>
            </a:r>
            <a:endParaRPr lang="en-US">
              <a:solidFill>
                <a:srgbClr val="FFFFFF"/>
              </a:solidFill>
              <a:cs typeface="Segoe Sans Text" pitchFamily="2" charset="0"/>
            </a:endParaRPr>
          </a:p>
        </p:txBody>
      </p:sp>
      <p:sp>
        <p:nvSpPr>
          <p:cNvPr id="35" name="TextBox 34">
            <a:extLst>
              <a:ext uri="{FF2B5EF4-FFF2-40B4-BE49-F238E27FC236}">
                <a16:creationId xmlns:a16="http://schemas.microsoft.com/office/drawing/2014/main" id="{43F11418-5DB0-7A7C-AF21-6E68F4AF92D8}"/>
              </a:ext>
            </a:extLst>
          </p:cNvPr>
          <p:cNvSpPr txBox="1"/>
          <p:nvPr/>
        </p:nvSpPr>
        <p:spPr>
          <a:xfrm>
            <a:off x="5323319" y="5861366"/>
            <a:ext cx="3429000" cy="830997"/>
          </a:xfrm>
          <a:prstGeom prst="rect">
            <a:avLst/>
          </a:prstGeom>
          <a:noFill/>
        </p:spPr>
        <p:txBody>
          <a:bodyPr wrap="square" lIns="0" tIns="0" rIns="0" bIns="0" rtlCol="0">
            <a:spAutoFit/>
          </a:bodyPr>
          <a:lstStyle/>
          <a:p>
            <a:pPr algn="ctr" defTabSz="1371600">
              <a:defRPr/>
            </a:pPr>
            <a:r>
              <a:rPr lang="en-US">
                <a:solidFill>
                  <a:srgbClr val="FFFFFF"/>
                </a:solidFill>
                <a:cs typeface="Segoe Sans Text" pitchFamily="2" charset="0"/>
              </a:rPr>
              <a:t>AI-enhanced tools for lift-and-shift migrations or modernizing existing applications </a:t>
            </a:r>
          </a:p>
        </p:txBody>
      </p:sp>
      <p:sp>
        <p:nvSpPr>
          <p:cNvPr id="36" name="TextBox 35">
            <a:extLst>
              <a:ext uri="{FF2B5EF4-FFF2-40B4-BE49-F238E27FC236}">
                <a16:creationId xmlns:a16="http://schemas.microsoft.com/office/drawing/2014/main" id="{61E4D287-345D-C5D6-8D2A-5D777B1B32D9}"/>
              </a:ext>
            </a:extLst>
          </p:cNvPr>
          <p:cNvSpPr txBox="1"/>
          <p:nvPr/>
        </p:nvSpPr>
        <p:spPr>
          <a:xfrm>
            <a:off x="9446489" y="5999865"/>
            <a:ext cx="3746580" cy="553998"/>
          </a:xfrm>
          <a:prstGeom prst="rect">
            <a:avLst/>
          </a:prstGeom>
          <a:noFill/>
        </p:spPr>
        <p:txBody>
          <a:bodyPr wrap="square" lIns="0" tIns="0" rIns="0" bIns="0" rtlCol="0">
            <a:spAutoFit/>
          </a:bodyPr>
          <a:lstStyle/>
          <a:p>
            <a:pPr algn="ctr" defTabSz="1371600">
              <a:defRPr/>
            </a:pPr>
            <a:r>
              <a:rPr lang="en-US">
                <a:solidFill>
                  <a:srgbClr val="FFFFFF"/>
                </a:solidFill>
                <a:cs typeface="Segoe Sans Text" pitchFamily="2" charset="0"/>
              </a:rPr>
              <a:t>Higher performance, lower TCO. Pay up to 28% less than the alternatives.</a:t>
            </a:r>
            <a:r>
              <a:rPr lang="en-US" baseline="30000">
                <a:solidFill>
                  <a:srgbClr val="FFFFFF"/>
                </a:solidFill>
                <a:cs typeface="Segoe Sans Text" pitchFamily="2" charset="0"/>
              </a:rPr>
              <a:t>2</a:t>
            </a:r>
          </a:p>
        </p:txBody>
      </p:sp>
      <p:sp>
        <p:nvSpPr>
          <p:cNvPr id="37" name="TextBox 36">
            <a:extLst>
              <a:ext uri="{FF2B5EF4-FFF2-40B4-BE49-F238E27FC236}">
                <a16:creationId xmlns:a16="http://schemas.microsoft.com/office/drawing/2014/main" id="{14066BD1-79E9-7B93-5223-E5684E7A60E6}"/>
              </a:ext>
            </a:extLst>
          </p:cNvPr>
          <p:cNvSpPr txBox="1"/>
          <p:nvPr/>
        </p:nvSpPr>
        <p:spPr>
          <a:xfrm>
            <a:off x="13887240" y="5861366"/>
            <a:ext cx="3746580" cy="830997"/>
          </a:xfrm>
          <a:prstGeom prst="rect">
            <a:avLst/>
          </a:prstGeom>
          <a:noFill/>
        </p:spPr>
        <p:txBody>
          <a:bodyPr wrap="square" lIns="0" tIns="0" rIns="0" bIns="0" rtlCol="0" anchor="t">
            <a:spAutoFit/>
          </a:bodyPr>
          <a:lstStyle/>
          <a:p>
            <a:pPr algn="ctr" defTabSz="1371600">
              <a:defRPr/>
            </a:pPr>
            <a:r>
              <a:rPr lang="en-US">
                <a:solidFill>
                  <a:srgbClr val="FFFFFF"/>
                </a:solidFill>
                <a:cs typeface="Segoe Sans Text" pitchFamily="2" charset="0"/>
              </a:rPr>
              <a:t>Free migration tools, POC/ trials with support from Microsoft through Azure Accelerate</a:t>
            </a:r>
          </a:p>
        </p:txBody>
      </p:sp>
      <p:sp>
        <p:nvSpPr>
          <p:cNvPr id="38" name="Left Bracket 37">
            <a:extLst>
              <a:ext uri="{FF2B5EF4-FFF2-40B4-BE49-F238E27FC236}">
                <a16:creationId xmlns:a16="http://schemas.microsoft.com/office/drawing/2014/main" id="{F456E565-0C40-87DD-5770-1A4076B09332}"/>
              </a:ext>
              <a:ext uri="{C183D7F6-B498-43B3-948B-1728B52AA6E4}">
                <adec:decorative xmlns:adec="http://schemas.microsoft.com/office/drawing/2017/decorative" val="1"/>
              </a:ext>
            </a:extLst>
          </p:cNvPr>
          <p:cNvSpPr/>
          <p:nvPr/>
        </p:nvSpPr>
        <p:spPr>
          <a:xfrm rot="16200000">
            <a:off x="8784589" y="-928197"/>
            <a:ext cx="701429" cy="16527779"/>
          </a:xfrm>
          <a:prstGeom prst="leftBracket">
            <a:avLst>
              <a:gd name="adj" fmla="val 2963"/>
            </a:avLst>
          </a:prstGeom>
          <a:noFill/>
          <a:ln w="15875" cap="flat" cmpd="sng" algn="ctr">
            <a:solidFill>
              <a:srgbClr val="8DC8E8"/>
            </a:solidFill>
            <a:prstDash val="sysDash"/>
            <a:headEnd type="none" w="lg" len="med"/>
            <a:tailEnd type="none" w="lg" len="med"/>
          </a:ln>
          <a:effectLst/>
        </p:spPr>
        <p:txBody>
          <a:bodyPr rtlCol="0" anchor="ctr"/>
          <a:lstStyle/>
          <a:p>
            <a:pPr algn="ctr" defTabSz="1344531">
              <a:defRPr/>
            </a:pPr>
            <a:endParaRPr lang="en-US" sz="2595" kern="0">
              <a:solidFill>
                <a:prstClr val="black"/>
              </a:solidFill>
              <a:latin typeface="Segoe Sans Text" pitchFamily="2" charset="0"/>
              <a:cs typeface="Segoe Sans Text" pitchFamily="2" charset="0"/>
            </a:endParaRPr>
          </a:p>
        </p:txBody>
      </p:sp>
      <p:sp>
        <p:nvSpPr>
          <p:cNvPr id="39" name="TextBox 38">
            <a:extLst>
              <a:ext uri="{FF2B5EF4-FFF2-40B4-BE49-F238E27FC236}">
                <a16:creationId xmlns:a16="http://schemas.microsoft.com/office/drawing/2014/main" id="{A2DEFB25-E0E9-3702-9F1B-229AD8AFF41E}"/>
              </a:ext>
            </a:extLst>
          </p:cNvPr>
          <p:cNvSpPr txBox="1"/>
          <p:nvPr/>
        </p:nvSpPr>
        <p:spPr>
          <a:xfrm>
            <a:off x="7268132" y="7357890"/>
            <a:ext cx="3552420" cy="638172"/>
          </a:xfrm>
          <a:prstGeom prst="rect">
            <a:avLst/>
          </a:prstGeom>
          <a:solidFill>
            <a:srgbClr val="091F2C"/>
          </a:solidFill>
          <a:ln>
            <a:noFill/>
          </a:ln>
        </p:spPr>
        <p:txBody>
          <a:bodyPr wrap="square" lIns="0" tIns="0" rIns="0" bIns="0" rtlCol="0" anchor="ctr" anchorCtr="0">
            <a:noAutofit/>
          </a:bodyPr>
          <a:lstStyle/>
          <a:p>
            <a:pPr algn="ctr" defTabSz="1344579">
              <a:defRPr/>
            </a:pPr>
            <a:r>
              <a:rPr lang="en-US" sz="3600" b="1">
                <a:latin typeface="+mj-lt"/>
                <a:cs typeface="Segoe Sans Text" pitchFamily="2" charset="0"/>
              </a:rPr>
              <a:t>Built-in hybrid</a:t>
            </a:r>
          </a:p>
        </p:txBody>
      </p:sp>
      <p:sp>
        <p:nvSpPr>
          <p:cNvPr id="40" name="Rectangle 39">
            <a:extLst>
              <a:ext uri="{FF2B5EF4-FFF2-40B4-BE49-F238E27FC236}">
                <a16:creationId xmlns:a16="http://schemas.microsoft.com/office/drawing/2014/main" id="{9E5D1FE7-5BE3-7F94-50C0-8269584216CB}"/>
              </a:ext>
            </a:extLst>
          </p:cNvPr>
          <p:cNvSpPr/>
          <p:nvPr/>
        </p:nvSpPr>
        <p:spPr>
          <a:xfrm>
            <a:off x="4304021" y="8046805"/>
            <a:ext cx="9679958" cy="461665"/>
          </a:xfrm>
          <a:prstGeom prst="rect">
            <a:avLst/>
          </a:prstGeom>
        </p:spPr>
        <p:txBody>
          <a:bodyPr wrap="none">
            <a:spAutoFit/>
          </a:bodyPr>
          <a:lstStyle/>
          <a:p>
            <a:pPr algn="ctr" defTabSz="1371600">
              <a:defRPr/>
            </a:pPr>
            <a:r>
              <a:rPr lang="en-US" sz="2400">
                <a:solidFill>
                  <a:srgbClr val="FFFFFF"/>
                </a:solidFill>
                <a:cs typeface="Segoe Sans Text" pitchFamily="2" charset="0"/>
              </a:rPr>
              <a:t>Operate hybrid seamlessly with integrated backup &amp; disaster recovery</a:t>
            </a:r>
          </a:p>
        </p:txBody>
      </p:sp>
      <p:sp>
        <p:nvSpPr>
          <p:cNvPr id="41" name="TextBox 40">
            <a:extLst>
              <a:ext uri="{FF2B5EF4-FFF2-40B4-BE49-F238E27FC236}">
                <a16:creationId xmlns:a16="http://schemas.microsoft.com/office/drawing/2014/main" id="{5703656F-5031-549C-2731-2D7BF42440BA}"/>
              </a:ext>
            </a:extLst>
          </p:cNvPr>
          <p:cNvSpPr txBox="1"/>
          <p:nvPr/>
        </p:nvSpPr>
        <p:spPr>
          <a:xfrm>
            <a:off x="692715" y="8855636"/>
            <a:ext cx="17507547" cy="1154162"/>
          </a:xfrm>
          <a:prstGeom prst="rect">
            <a:avLst/>
          </a:prstGeom>
          <a:noFill/>
        </p:spPr>
        <p:txBody>
          <a:bodyPr wrap="square" lIns="0" tIns="0" rIns="0" bIns="0" rtlCol="0">
            <a:spAutoFit/>
          </a:bodyPr>
          <a:lstStyle/>
          <a:p>
            <a:pPr defTabSz="1371338">
              <a:lnSpc>
                <a:spcPct val="90000"/>
              </a:lnSpc>
              <a:spcAft>
                <a:spcPts val="900"/>
              </a:spcAft>
              <a:defRPr/>
            </a:pPr>
            <a:r>
              <a:rPr lang="en-US" sz="1500" baseline="30000">
                <a:solidFill>
                  <a:prstClr val="white">
                    <a:lumMod val="50000"/>
                  </a:prstClr>
                </a:solidFill>
                <a:latin typeface="Segoe Sans Text" pitchFamily="2" charset="0"/>
                <a:cs typeface="Segoe Sans Text" pitchFamily="2" charset="0"/>
              </a:rPr>
              <a:t>1</a:t>
            </a:r>
            <a:r>
              <a:rPr lang="en-US" sz="1500">
                <a:solidFill>
                  <a:prstClr val="white">
                    <a:lumMod val="50000"/>
                  </a:prstClr>
                </a:solidFill>
                <a:latin typeface="Segoe Sans Text" pitchFamily="2" charset="0"/>
                <a:cs typeface="Segoe Sans Text" pitchFamily="2" charset="0"/>
              </a:rPr>
              <a:t>All Claims as of 2/20/2019.</a:t>
            </a:r>
            <a:r>
              <a:rPr lang="en-US" sz="1500">
                <a:solidFill>
                  <a:prstClr val="white">
                    <a:lumMod val="50000"/>
                  </a:prstClr>
                </a:solidFill>
                <a:latin typeface="Segoe Sans Text" pitchFamily="2" charset="0"/>
                <a:cs typeface="Segoe Sans Text" pitchFamily="2" charset="0"/>
                <a:hlinkClick r:id="rId3">
                  <a:extLst>
                    <a:ext uri="{A12FA001-AC4F-418D-AE19-62706E023703}">
                      <ahyp:hlinkClr xmlns:ahyp="http://schemas.microsoft.com/office/drawing/2018/hyperlinkcolor" val="tx"/>
                    </a:ext>
                  </a:extLst>
                </a:hlinkClick>
              </a:rPr>
              <a:t>http://www.tpc.org/4081</a:t>
            </a:r>
            <a:r>
              <a:rPr lang="en-US" sz="1500">
                <a:solidFill>
                  <a:prstClr val="white">
                    <a:lumMod val="50000"/>
                  </a:prstClr>
                </a:solidFill>
                <a:latin typeface="Segoe Sans Text" pitchFamily="2" charset="0"/>
                <a:cs typeface="Segoe Sans Text" pitchFamily="2" charset="0"/>
              </a:rPr>
              <a:t>; </a:t>
            </a:r>
            <a:r>
              <a:rPr lang="en-US" sz="1500" baseline="30000">
                <a:solidFill>
                  <a:prstClr val="white">
                    <a:lumMod val="50000"/>
                  </a:prstClr>
                </a:solidFill>
                <a:latin typeface="Segoe Sans Text" pitchFamily="2" charset="0"/>
                <a:cs typeface="Segoe Sans Text" pitchFamily="2" charset="0"/>
              </a:rPr>
              <a:t> </a:t>
            </a:r>
            <a:r>
              <a:rPr lang="en-US" sz="1500">
                <a:solidFill>
                  <a:prstClr val="white">
                    <a:lumMod val="50000"/>
                  </a:prstClr>
                </a:solidFill>
                <a:latin typeface="Segoe Sans Text" pitchFamily="2" charset="0"/>
                <a:cs typeface="Segoe Sans Text" pitchFamily="2" charset="0"/>
                <a:hlinkClick r:id="rId4">
                  <a:extLst>
                    <a:ext uri="{A12FA001-AC4F-418D-AE19-62706E023703}">
                      <ahyp:hlinkClr xmlns:ahyp="http://schemas.microsoft.com/office/drawing/2018/hyperlinkcolor" val="tx"/>
                    </a:ext>
                  </a:extLst>
                </a:hlinkClick>
              </a:rPr>
              <a:t>http://www.tpc.org/3331</a:t>
            </a:r>
            <a:r>
              <a:rPr lang="en-US" sz="1500">
                <a:solidFill>
                  <a:prstClr val="white">
                    <a:lumMod val="50000"/>
                  </a:prstClr>
                </a:solidFill>
                <a:latin typeface="Segoe Sans Text" pitchFamily="2" charset="0"/>
                <a:cs typeface="Segoe Sans Text" pitchFamily="2" charset="0"/>
              </a:rPr>
              <a:t>; </a:t>
            </a:r>
            <a:r>
              <a:rPr lang="en-US" sz="1500">
                <a:solidFill>
                  <a:prstClr val="white">
                    <a:lumMod val="50000"/>
                  </a:prstClr>
                </a:solidFill>
                <a:latin typeface="Segoe Sans Text" pitchFamily="2" charset="0"/>
                <a:cs typeface="Segoe Sans Text" pitchFamily="2" charset="0"/>
                <a:hlinkClick r:id="rId5">
                  <a:extLst>
                    <a:ext uri="{A12FA001-AC4F-418D-AE19-62706E023703}">
                      <ahyp:hlinkClr xmlns:ahyp="http://schemas.microsoft.com/office/drawing/2018/hyperlinkcolor" val="tx"/>
                    </a:ext>
                  </a:extLst>
                </a:hlinkClick>
              </a:rPr>
              <a:t>http://www.tpc.org/3329</a:t>
            </a:r>
            <a:r>
              <a:rPr lang="en-US" sz="1500">
                <a:solidFill>
                  <a:prstClr val="white">
                    <a:lumMod val="50000"/>
                  </a:prstClr>
                </a:solidFill>
                <a:latin typeface="Segoe Sans Text" pitchFamily="2" charset="0"/>
                <a:cs typeface="Segoe Sans Text" pitchFamily="2" charset="0"/>
              </a:rPr>
              <a:t>; </a:t>
            </a:r>
            <a:r>
              <a:rPr lang="en-US" sz="1500">
                <a:solidFill>
                  <a:prstClr val="white">
                    <a:lumMod val="50000"/>
                  </a:prstClr>
                </a:solidFill>
                <a:latin typeface="Segoe Sans Text" pitchFamily="2" charset="0"/>
                <a:cs typeface="Segoe Sans Text" pitchFamily="2" charset="0"/>
                <a:hlinkClick r:id="rId6">
                  <a:extLst>
                    <a:ext uri="{A12FA001-AC4F-418D-AE19-62706E023703}">
                      <ahyp:hlinkClr xmlns:ahyp="http://schemas.microsoft.com/office/drawing/2018/hyperlinkcolor" val="tx"/>
                    </a:ext>
                  </a:extLst>
                </a:hlinkClick>
              </a:rPr>
              <a:t>http://www.tpc.org/3321</a:t>
            </a:r>
            <a:r>
              <a:rPr lang="en-US" sz="1500">
                <a:solidFill>
                  <a:prstClr val="white">
                    <a:lumMod val="50000"/>
                  </a:prstClr>
                </a:solidFill>
                <a:latin typeface="Segoe Sans Text" pitchFamily="2" charset="0"/>
                <a:cs typeface="Segoe Sans Text" pitchFamily="2" charset="0"/>
              </a:rPr>
              <a:t>; </a:t>
            </a:r>
            <a:r>
              <a:rPr lang="en-US" sz="1500" baseline="30000">
                <a:solidFill>
                  <a:prstClr val="white">
                    <a:lumMod val="50000"/>
                  </a:prstClr>
                </a:solidFill>
                <a:latin typeface="Segoe Sans Text" pitchFamily="2" charset="0"/>
                <a:cs typeface="Segoe Sans Text" pitchFamily="2" charset="0"/>
              </a:rPr>
              <a:t> </a:t>
            </a:r>
            <a:r>
              <a:rPr lang="en-US" sz="1500">
                <a:solidFill>
                  <a:prstClr val="white">
                    <a:lumMod val="50000"/>
                  </a:prstClr>
                </a:solidFill>
                <a:latin typeface="Segoe Sans Text" pitchFamily="2" charset="0"/>
                <a:cs typeface="Segoe Sans Text" pitchFamily="2" charset="0"/>
              </a:rPr>
              <a:t>National Institute of Standards and Technology Comprehensive Vulnerability Database</a:t>
            </a:r>
          </a:p>
          <a:p>
            <a:pPr defTabSz="1371338">
              <a:lnSpc>
                <a:spcPct val="90000"/>
              </a:lnSpc>
              <a:spcAft>
                <a:spcPts val="900"/>
              </a:spcAft>
              <a:defRPr/>
            </a:pPr>
            <a:r>
              <a:rPr lang="en-US" sz="1500" baseline="30000">
                <a:solidFill>
                  <a:prstClr val="black">
                    <a:lumMod val="50000"/>
                    <a:lumOff val="50000"/>
                  </a:prstClr>
                </a:solidFill>
                <a:latin typeface="Segoe Sans Text"/>
                <a:cs typeface="Segoe UI"/>
              </a:rPr>
              <a:t>2</a:t>
            </a:r>
            <a:r>
              <a:rPr lang="en-US" sz="1500">
                <a:solidFill>
                  <a:prstClr val="black">
                    <a:lumMod val="50000"/>
                    <a:lumOff val="50000"/>
                  </a:prstClr>
                </a:solidFill>
                <a:latin typeface="Segoe Sans Text"/>
                <a:cs typeface="Segoe UI"/>
              </a:rPr>
              <a:t>Price-performance claims are based on a </a:t>
            </a:r>
            <a:r>
              <a:rPr lang="en-US" sz="1500">
                <a:solidFill>
                  <a:prstClr val="black">
                    <a:lumMod val="50000"/>
                    <a:lumOff val="50000"/>
                  </a:prstClr>
                </a:solidFill>
                <a:latin typeface="Segoe Sans Text"/>
                <a:cs typeface="Segoe UI"/>
                <a:hlinkClick r:id="rId7">
                  <a:extLst>
                    <a:ext uri="{A12FA001-AC4F-418D-AE19-62706E023703}">
                      <ahyp:hlinkClr xmlns:ahyp="http://schemas.microsoft.com/office/drawing/2018/hyperlinkcolor" val="tx"/>
                    </a:ext>
                  </a:extLst>
                </a:hlinkClick>
              </a:rPr>
              <a:t>May 2023 study </a:t>
            </a:r>
            <a:r>
              <a:rPr lang="en-US" sz="1500">
                <a:solidFill>
                  <a:prstClr val="black">
                    <a:lumMod val="50000"/>
                    <a:lumOff val="50000"/>
                  </a:prstClr>
                </a:solidFill>
                <a:latin typeface="Segoe Sans Text"/>
                <a:cs typeface="Segoe UI"/>
              </a:rPr>
              <a:t>commissioned by Microsoft and conducted by </a:t>
            </a:r>
            <a:r>
              <a:rPr lang="en-US" sz="1500" err="1">
                <a:solidFill>
                  <a:prstClr val="black">
                    <a:lumMod val="50000"/>
                    <a:lumOff val="50000"/>
                  </a:prstClr>
                </a:solidFill>
                <a:latin typeface="Segoe Sans Text"/>
                <a:cs typeface="Segoe UI"/>
              </a:rPr>
              <a:t>GigaOm</a:t>
            </a:r>
            <a:r>
              <a:rPr lang="en-US" sz="1500">
                <a:solidFill>
                  <a:prstClr val="black">
                    <a:lumMod val="50000"/>
                    <a:lumOff val="50000"/>
                  </a:prstClr>
                </a:solidFill>
                <a:latin typeface="Segoe Sans Text"/>
                <a:cs typeface="Segoe UI"/>
              </a:rPr>
              <a:t>. The study compared price performance between workloads on Red Hat Enterprise Linux 8.6 in Azure with Premium SSD  v2 Managed Disks and Amazon Web Services on Red Hat Enterprise Linux 8.6 with General Purpose (gp3) volumes. Benchmark data is from the </a:t>
            </a:r>
            <a:r>
              <a:rPr lang="en-US" sz="1500" err="1">
                <a:solidFill>
                  <a:prstClr val="black">
                    <a:lumMod val="50000"/>
                    <a:lumOff val="50000"/>
                  </a:prstClr>
                </a:solidFill>
                <a:latin typeface="Segoe Sans Text"/>
                <a:cs typeface="Segoe UI"/>
              </a:rPr>
              <a:t>GigaOm</a:t>
            </a:r>
            <a:r>
              <a:rPr lang="en-US" sz="1500">
                <a:solidFill>
                  <a:prstClr val="black">
                    <a:lumMod val="50000"/>
                    <a:lumOff val="50000"/>
                  </a:prstClr>
                </a:solidFill>
                <a:latin typeface="Segoe Sans Text"/>
                <a:cs typeface="Segoe UI"/>
              </a:rPr>
              <a:t> Transactional Field Test, a subset of TPC Benchmark™ E (TPC-E). </a:t>
            </a:r>
          </a:p>
        </p:txBody>
      </p:sp>
      <p:grpSp>
        <p:nvGrpSpPr>
          <p:cNvPr id="60" name="Group 59">
            <a:extLst>
              <a:ext uri="{FF2B5EF4-FFF2-40B4-BE49-F238E27FC236}">
                <a16:creationId xmlns:a16="http://schemas.microsoft.com/office/drawing/2014/main" id="{6F793766-F5DF-9BAB-EA6E-07328825A0F1}"/>
              </a:ext>
            </a:extLst>
          </p:cNvPr>
          <p:cNvGrpSpPr/>
          <p:nvPr/>
        </p:nvGrpSpPr>
        <p:grpSpPr>
          <a:xfrm>
            <a:off x="1817470" y="3950120"/>
            <a:ext cx="1658312" cy="1771400"/>
            <a:chOff x="1300546" y="2168436"/>
            <a:chExt cx="1105541" cy="1180933"/>
          </a:xfrm>
        </p:grpSpPr>
        <p:grpSp>
          <p:nvGrpSpPr>
            <p:cNvPr id="42" name="Group 41">
              <a:extLst>
                <a:ext uri="{FF2B5EF4-FFF2-40B4-BE49-F238E27FC236}">
                  <a16:creationId xmlns:a16="http://schemas.microsoft.com/office/drawing/2014/main" id="{C3CE7163-B31F-5984-0E1C-622609E96A0A}"/>
                </a:ext>
                <a:ext uri="{C183D7F6-B498-43B3-948B-1728B52AA6E4}">
                  <adec:decorative xmlns:adec="http://schemas.microsoft.com/office/drawing/2017/decorative" val="1"/>
                </a:ext>
              </a:extLst>
            </p:cNvPr>
            <p:cNvGrpSpPr/>
            <p:nvPr/>
          </p:nvGrpSpPr>
          <p:grpSpPr>
            <a:xfrm>
              <a:off x="1310155" y="2168436"/>
              <a:ext cx="1095932" cy="1180933"/>
              <a:chOff x="6096000" y="1328677"/>
              <a:chExt cx="1377826" cy="1503087"/>
            </a:xfrm>
          </p:grpSpPr>
          <p:sp>
            <p:nvSpPr>
              <p:cNvPr id="43" name="Rounded Rectangle 44">
                <a:extLst>
                  <a:ext uri="{FF2B5EF4-FFF2-40B4-BE49-F238E27FC236}">
                    <a16:creationId xmlns:a16="http://schemas.microsoft.com/office/drawing/2014/main" id="{D3973E56-1006-3BF8-8267-9E1181B30A07}"/>
                  </a:ext>
                </a:extLst>
              </p:cNvPr>
              <p:cNvSpPr/>
              <p:nvPr/>
            </p:nvSpPr>
            <p:spPr bwMode="auto">
              <a:xfrm>
                <a:off x="6096000" y="1453938"/>
                <a:ext cx="1377826" cy="1377826"/>
              </a:xfrm>
              <a:prstGeom prst="roundRect">
                <a:avLst>
                  <a:gd name="adj" fmla="val 4544"/>
                </a:avLst>
              </a:prstGeom>
              <a:noFill/>
              <a:ln w="6350">
                <a:solidFill>
                  <a:schemeClr val="tx1"/>
                </a:solidFill>
                <a:headEnd type="none" w="med" len="med"/>
                <a:tailEnd type="none" w="med" len="med"/>
              </a:ln>
              <a:effectLst/>
              <a:scene3d>
                <a:camera prst="isometricTopUp"/>
                <a:lightRig rig="threePt" dir="t"/>
              </a:scene3d>
              <a:sp3d>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4" name="Rounded Rectangle 49">
                <a:extLst>
                  <a:ext uri="{FF2B5EF4-FFF2-40B4-BE49-F238E27FC236}">
                    <a16:creationId xmlns:a16="http://schemas.microsoft.com/office/drawing/2014/main" id="{B2A1376F-C520-096C-B7BD-782528853CE4}"/>
                  </a:ext>
                </a:extLst>
              </p:cNvPr>
              <p:cNvSpPr/>
              <p:nvPr/>
            </p:nvSpPr>
            <p:spPr bwMode="auto">
              <a:xfrm>
                <a:off x="6096000" y="1328677"/>
                <a:ext cx="1377826" cy="1377826"/>
              </a:xfrm>
              <a:prstGeom prst="roundRect">
                <a:avLst>
                  <a:gd name="adj" fmla="val 4544"/>
                </a:avLst>
              </a:prstGeom>
              <a:gradFill>
                <a:gsLst>
                  <a:gs pos="0">
                    <a:schemeClr val="accent1"/>
                  </a:gs>
                  <a:gs pos="98000">
                    <a:srgbClr val="C03BC4"/>
                  </a:gs>
                </a:gsLst>
                <a:lin ang="2400000" scaled="0"/>
              </a:gradFill>
              <a:ln>
                <a:noFill/>
                <a:headEnd type="none" w="med" len="med"/>
                <a:tailEnd type="none" w="med" len="med"/>
              </a:ln>
              <a:effectLst/>
              <a:scene3d>
                <a:camera prst="isometricTopUp"/>
                <a:lightRig rig="threePt" dir="t"/>
              </a:scene3d>
              <a:sp3d extrusionH="38100">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pic>
          <p:nvPicPr>
            <p:cNvPr id="45" name="Picture 44">
              <a:extLst>
                <a:ext uri="{FF2B5EF4-FFF2-40B4-BE49-F238E27FC236}">
                  <a16:creationId xmlns:a16="http://schemas.microsoft.com/office/drawing/2014/main" id="{A2DA81E7-5BBD-93DF-78ED-143D53C87012}"/>
                </a:ex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00546" y="2333028"/>
              <a:ext cx="1080270" cy="482104"/>
            </a:xfrm>
            <a:prstGeom prst="rect">
              <a:avLst/>
            </a:prstGeom>
          </p:spPr>
        </p:pic>
      </p:grpSp>
      <p:grpSp>
        <p:nvGrpSpPr>
          <p:cNvPr id="61" name="Group 60">
            <a:extLst>
              <a:ext uri="{FF2B5EF4-FFF2-40B4-BE49-F238E27FC236}">
                <a16:creationId xmlns:a16="http://schemas.microsoft.com/office/drawing/2014/main" id="{8840F64A-6712-98BA-5DBA-5E119FBB663F}"/>
              </a:ext>
            </a:extLst>
          </p:cNvPr>
          <p:cNvGrpSpPr/>
          <p:nvPr/>
        </p:nvGrpSpPr>
        <p:grpSpPr>
          <a:xfrm>
            <a:off x="6241604" y="3908534"/>
            <a:ext cx="1643898" cy="1854572"/>
            <a:chOff x="4083105" y="2203338"/>
            <a:chExt cx="1095932" cy="1236381"/>
          </a:xfrm>
        </p:grpSpPr>
        <p:grpSp>
          <p:nvGrpSpPr>
            <p:cNvPr id="46" name="Group 45">
              <a:extLst>
                <a:ext uri="{FF2B5EF4-FFF2-40B4-BE49-F238E27FC236}">
                  <a16:creationId xmlns:a16="http://schemas.microsoft.com/office/drawing/2014/main" id="{0C7FAF4C-F188-EEF2-5960-2ECC6995BEAD}"/>
                </a:ext>
                <a:ext uri="{C183D7F6-B498-43B3-948B-1728B52AA6E4}">
                  <adec:decorative xmlns:adec="http://schemas.microsoft.com/office/drawing/2017/decorative" val="1"/>
                </a:ext>
              </a:extLst>
            </p:cNvPr>
            <p:cNvGrpSpPr/>
            <p:nvPr/>
          </p:nvGrpSpPr>
          <p:grpSpPr>
            <a:xfrm>
              <a:off x="4083105" y="2244153"/>
              <a:ext cx="1095932" cy="1195566"/>
              <a:chOff x="6096000" y="1328677"/>
              <a:chExt cx="1377826" cy="1503087"/>
            </a:xfrm>
          </p:grpSpPr>
          <p:sp>
            <p:nvSpPr>
              <p:cNvPr id="47" name="Rounded Rectangle 33">
                <a:extLst>
                  <a:ext uri="{FF2B5EF4-FFF2-40B4-BE49-F238E27FC236}">
                    <a16:creationId xmlns:a16="http://schemas.microsoft.com/office/drawing/2014/main" id="{2CE6D04E-43F2-A29D-313D-F20CFF99FCFE}"/>
                  </a:ext>
                </a:extLst>
              </p:cNvPr>
              <p:cNvSpPr/>
              <p:nvPr/>
            </p:nvSpPr>
            <p:spPr bwMode="auto">
              <a:xfrm>
                <a:off x="6096000" y="1453938"/>
                <a:ext cx="1377826" cy="1377826"/>
              </a:xfrm>
              <a:prstGeom prst="roundRect">
                <a:avLst>
                  <a:gd name="adj" fmla="val 4544"/>
                </a:avLst>
              </a:prstGeom>
              <a:noFill/>
              <a:ln w="6350">
                <a:solidFill>
                  <a:schemeClr val="tx1"/>
                </a:solidFill>
                <a:headEnd type="none" w="med" len="med"/>
                <a:tailEnd type="none" w="med" len="med"/>
              </a:ln>
              <a:effectLst/>
              <a:scene3d>
                <a:camera prst="isometricTopUp"/>
                <a:lightRig rig="threePt" dir="t"/>
              </a:scene3d>
              <a:sp3d>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8" name="Rounded Rectangle 34">
                <a:extLst>
                  <a:ext uri="{FF2B5EF4-FFF2-40B4-BE49-F238E27FC236}">
                    <a16:creationId xmlns:a16="http://schemas.microsoft.com/office/drawing/2014/main" id="{C91746BC-EA30-2E6F-007E-701A97DBE6A1}"/>
                  </a:ext>
                </a:extLst>
              </p:cNvPr>
              <p:cNvSpPr/>
              <p:nvPr/>
            </p:nvSpPr>
            <p:spPr bwMode="auto">
              <a:xfrm>
                <a:off x="6096000" y="1328677"/>
                <a:ext cx="1377826" cy="1377826"/>
              </a:xfrm>
              <a:prstGeom prst="roundRect">
                <a:avLst>
                  <a:gd name="adj" fmla="val 4544"/>
                </a:avLst>
              </a:prstGeom>
              <a:gradFill>
                <a:gsLst>
                  <a:gs pos="0">
                    <a:schemeClr val="accent1"/>
                  </a:gs>
                  <a:gs pos="98000">
                    <a:srgbClr val="C03BC4"/>
                  </a:gs>
                </a:gsLst>
                <a:lin ang="2400000" scaled="0"/>
              </a:gradFill>
              <a:ln>
                <a:noFill/>
                <a:headEnd type="none" w="med" len="med"/>
                <a:tailEnd type="none" w="med" len="med"/>
              </a:ln>
              <a:effectLst/>
              <a:scene3d>
                <a:camera prst="isometricTopUp"/>
                <a:lightRig rig="threePt" dir="t"/>
              </a:scene3d>
              <a:sp3d extrusionH="38100">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49" name="Group 48">
              <a:extLst>
                <a:ext uri="{FF2B5EF4-FFF2-40B4-BE49-F238E27FC236}">
                  <a16:creationId xmlns:a16="http://schemas.microsoft.com/office/drawing/2014/main" id="{17BDEDB3-71D1-E985-A78D-DCF1BF252118}"/>
                </a:ext>
                <a:ext uri="{C183D7F6-B498-43B3-948B-1728B52AA6E4}">
                  <adec:decorative xmlns:adec="http://schemas.microsoft.com/office/drawing/2017/decorative" val="1"/>
                </a:ext>
              </a:extLst>
            </p:cNvPr>
            <p:cNvGrpSpPr/>
            <p:nvPr/>
          </p:nvGrpSpPr>
          <p:grpSpPr>
            <a:xfrm>
              <a:off x="4214202" y="2203338"/>
              <a:ext cx="892091" cy="911763"/>
              <a:chOff x="1721086" y="2148366"/>
              <a:chExt cx="1252965" cy="1280595"/>
            </a:xfrm>
          </p:grpSpPr>
          <p:pic>
            <p:nvPicPr>
              <p:cNvPr id="50" name="Picture 49" descr="A picture containing circle, design, illustration, cup&#10;&#10;Description automatically generated with medium confidence">
                <a:extLst>
                  <a:ext uri="{FF2B5EF4-FFF2-40B4-BE49-F238E27FC236}">
                    <a16:creationId xmlns:a16="http://schemas.microsoft.com/office/drawing/2014/main" id="{92B10C4B-906C-E4D8-845E-37D2D1FEDA0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20223" y="2148366"/>
                <a:ext cx="1153828" cy="1146136"/>
              </a:xfrm>
              <a:prstGeom prst="rect">
                <a:avLst/>
              </a:prstGeom>
            </p:spPr>
          </p:pic>
          <p:sp>
            <p:nvSpPr>
              <p:cNvPr id="51" name="Oval 50">
                <a:extLst>
                  <a:ext uri="{FF2B5EF4-FFF2-40B4-BE49-F238E27FC236}">
                    <a16:creationId xmlns:a16="http://schemas.microsoft.com/office/drawing/2014/main" id="{5DF952CE-9973-CDFD-9E7F-D50E60C750F5}"/>
                  </a:ext>
                </a:extLst>
              </p:cNvPr>
              <p:cNvSpPr/>
              <p:nvPr/>
            </p:nvSpPr>
            <p:spPr bwMode="auto">
              <a:xfrm rot="1409568">
                <a:off x="1721086" y="3092935"/>
                <a:ext cx="432748" cy="336026"/>
              </a:xfrm>
              <a:prstGeom prst="ellipse">
                <a:avLst/>
              </a:prstGeom>
              <a:solidFill>
                <a:schemeClr val="tx1">
                  <a:lumMod val="50000"/>
                  <a:lumOff val="50000"/>
                  <a:alpha val="48627"/>
                </a:schemeClr>
              </a:solidFill>
              <a:ln>
                <a:noFill/>
                <a:headEnd type="none" w="med" len="med"/>
                <a:tailEnd type="none" w="med" len="med"/>
              </a:ln>
              <a:effectLst>
                <a:softEdge rad="118772"/>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a:gradFill>
                    <a:gsLst>
                      <a:gs pos="0">
                        <a:srgbClr val="FFFFFF"/>
                      </a:gs>
                      <a:gs pos="100000">
                        <a:srgbClr val="FFFFFF"/>
                      </a:gs>
                    </a:gsLst>
                    <a:lin ang="5400000" scaled="0"/>
                  </a:gradFill>
                  <a:latin typeface="Segoe Sans Text" pitchFamily="2" charset="0"/>
                  <a:ea typeface="Segoe UI" pitchFamily="34" charset="0"/>
                  <a:cs typeface="Segoe Sans Text" pitchFamily="2" charset="0"/>
                </a:endParaRPr>
              </a:p>
            </p:txBody>
          </p:sp>
        </p:grpSp>
      </p:grpSp>
      <p:grpSp>
        <p:nvGrpSpPr>
          <p:cNvPr id="63" name="Group 62">
            <a:extLst>
              <a:ext uri="{FF2B5EF4-FFF2-40B4-BE49-F238E27FC236}">
                <a16:creationId xmlns:a16="http://schemas.microsoft.com/office/drawing/2014/main" id="{952C50FB-FB7D-685F-F241-D1750241298F}"/>
              </a:ext>
            </a:extLst>
          </p:cNvPr>
          <p:cNvGrpSpPr/>
          <p:nvPr/>
        </p:nvGrpSpPr>
        <p:grpSpPr>
          <a:xfrm>
            <a:off x="14872577" y="3912378"/>
            <a:ext cx="1509209" cy="1846881"/>
            <a:chOff x="10003951" y="2293465"/>
            <a:chExt cx="1006139" cy="1231254"/>
          </a:xfrm>
        </p:grpSpPr>
        <p:grpSp>
          <p:nvGrpSpPr>
            <p:cNvPr id="55" name="Group 54">
              <a:extLst>
                <a:ext uri="{FF2B5EF4-FFF2-40B4-BE49-F238E27FC236}">
                  <a16:creationId xmlns:a16="http://schemas.microsoft.com/office/drawing/2014/main" id="{0175535E-7FFB-058C-F614-8F8C89B7D7A6}"/>
                </a:ext>
                <a:ext uri="{C183D7F6-B498-43B3-948B-1728B52AA6E4}">
                  <adec:decorative xmlns:adec="http://schemas.microsoft.com/office/drawing/2017/decorative" val="1"/>
                </a:ext>
              </a:extLst>
            </p:cNvPr>
            <p:cNvGrpSpPr/>
            <p:nvPr/>
          </p:nvGrpSpPr>
          <p:grpSpPr>
            <a:xfrm>
              <a:off x="10003951" y="2427111"/>
              <a:ext cx="1006139" cy="1097608"/>
              <a:chOff x="6096000" y="1328677"/>
              <a:chExt cx="1377826" cy="1503087"/>
            </a:xfrm>
          </p:grpSpPr>
          <p:sp>
            <p:nvSpPr>
              <p:cNvPr id="56" name="Rounded Rectangle 63">
                <a:extLst>
                  <a:ext uri="{FF2B5EF4-FFF2-40B4-BE49-F238E27FC236}">
                    <a16:creationId xmlns:a16="http://schemas.microsoft.com/office/drawing/2014/main" id="{50CE383E-E6EE-160A-D53A-71A6D35EAAE5}"/>
                  </a:ext>
                </a:extLst>
              </p:cNvPr>
              <p:cNvSpPr/>
              <p:nvPr/>
            </p:nvSpPr>
            <p:spPr bwMode="auto">
              <a:xfrm>
                <a:off x="6096000" y="1453938"/>
                <a:ext cx="1377826" cy="1377826"/>
              </a:xfrm>
              <a:prstGeom prst="roundRect">
                <a:avLst>
                  <a:gd name="adj" fmla="val 4544"/>
                </a:avLst>
              </a:prstGeom>
              <a:noFill/>
              <a:ln w="6350">
                <a:solidFill>
                  <a:schemeClr val="tx1"/>
                </a:solidFill>
                <a:headEnd type="none" w="med" len="med"/>
                <a:tailEnd type="none" w="med" len="med"/>
              </a:ln>
              <a:effectLst/>
              <a:scene3d>
                <a:camera prst="isometricTopUp"/>
                <a:lightRig rig="threePt" dir="t"/>
              </a:scene3d>
              <a:sp3d>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 name="Rounded Rectangle 64">
                <a:extLst>
                  <a:ext uri="{FF2B5EF4-FFF2-40B4-BE49-F238E27FC236}">
                    <a16:creationId xmlns:a16="http://schemas.microsoft.com/office/drawing/2014/main" id="{938BEAB4-E64E-2C24-EC83-075C6F878A40}"/>
                  </a:ext>
                </a:extLst>
              </p:cNvPr>
              <p:cNvSpPr/>
              <p:nvPr/>
            </p:nvSpPr>
            <p:spPr bwMode="auto">
              <a:xfrm>
                <a:off x="6096000" y="1328677"/>
                <a:ext cx="1377826" cy="1377826"/>
              </a:xfrm>
              <a:prstGeom prst="roundRect">
                <a:avLst>
                  <a:gd name="adj" fmla="val 4544"/>
                </a:avLst>
              </a:prstGeom>
              <a:gradFill>
                <a:gsLst>
                  <a:gs pos="0">
                    <a:schemeClr val="accent1"/>
                  </a:gs>
                  <a:gs pos="98000">
                    <a:srgbClr val="C03BC4"/>
                  </a:gs>
                </a:gsLst>
                <a:lin ang="2400000" scaled="0"/>
              </a:gradFill>
              <a:ln>
                <a:noFill/>
                <a:headEnd type="none" w="med" len="med"/>
                <a:tailEnd type="none" w="med" len="med"/>
              </a:ln>
              <a:effectLst/>
              <a:scene3d>
                <a:camera prst="isometricTopUp"/>
                <a:lightRig rig="threePt" dir="t"/>
              </a:scene3d>
              <a:sp3d extrusionH="38100">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pic>
          <p:nvPicPr>
            <p:cNvPr id="58" name="Picture 57">
              <a:extLst>
                <a:ext uri="{FF2B5EF4-FFF2-40B4-BE49-F238E27FC236}">
                  <a16:creationId xmlns:a16="http://schemas.microsoft.com/office/drawing/2014/main" id="{9C1BB55A-32D4-87A3-CFC8-F9F45284FA76}"/>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10126435" y="2293465"/>
              <a:ext cx="643928" cy="847272"/>
            </a:xfrm>
            <a:prstGeom prst="rect">
              <a:avLst/>
            </a:prstGeom>
          </p:spPr>
        </p:pic>
      </p:grpSp>
      <p:grpSp>
        <p:nvGrpSpPr>
          <p:cNvPr id="62" name="Group 61">
            <a:extLst>
              <a:ext uri="{FF2B5EF4-FFF2-40B4-BE49-F238E27FC236}">
                <a16:creationId xmlns:a16="http://schemas.microsoft.com/office/drawing/2014/main" id="{EB009F55-F9CF-966F-FC21-99A4A4E0F014}"/>
              </a:ext>
            </a:extLst>
          </p:cNvPr>
          <p:cNvGrpSpPr/>
          <p:nvPr/>
        </p:nvGrpSpPr>
        <p:grpSpPr>
          <a:xfrm>
            <a:off x="10651325" y="3991900"/>
            <a:ext cx="1455431" cy="1687841"/>
            <a:chOff x="7143730" y="2293465"/>
            <a:chExt cx="970287" cy="1125227"/>
          </a:xfrm>
        </p:grpSpPr>
        <p:grpSp>
          <p:nvGrpSpPr>
            <p:cNvPr id="52" name="Group 51">
              <a:extLst>
                <a:ext uri="{FF2B5EF4-FFF2-40B4-BE49-F238E27FC236}">
                  <a16:creationId xmlns:a16="http://schemas.microsoft.com/office/drawing/2014/main" id="{CFADB1EB-BE4A-B65D-FB11-418537869DFC}"/>
                </a:ext>
                <a:ext uri="{C183D7F6-B498-43B3-948B-1728B52AA6E4}">
                  <adec:decorative xmlns:adec="http://schemas.microsoft.com/office/drawing/2017/decorative" val="1"/>
                </a:ext>
              </a:extLst>
            </p:cNvPr>
            <p:cNvGrpSpPr/>
            <p:nvPr/>
          </p:nvGrpSpPr>
          <p:grpSpPr>
            <a:xfrm>
              <a:off x="7143730" y="2360194"/>
              <a:ext cx="970287" cy="1058498"/>
              <a:chOff x="6096000" y="1328677"/>
              <a:chExt cx="1377826" cy="1503087"/>
            </a:xfrm>
          </p:grpSpPr>
          <p:sp>
            <p:nvSpPr>
              <p:cNvPr id="53" name="Rounded Rectangle 120">
                <a:extLst>
                  <a:ext uri="{FF2B5EF4-FFF2-40B4-BE49-F238E27FC236}">
                    <a16:creationId xmlns:a16="http://schemas.microsoft.com/office/drawing/2014/main" id="{EFBB41C1-6465-E7CF-49D1-72328EB5B7BA}"/>
                  </a:ext>
                </a:extLst>
              </p:cNvPr>
              <p:cNvSpPr/>
              <p:nvPr/>
            </p:nvSpPr>
            <p:spPr bwMode="auto">
              <a:xfrm>
                <a:off x="6096000" y="1453938"/>
                <a:ext cx="1377826" cy="1377826"/>
              </a:xfrm>
              <a:prstGeom prst="roundRect">
                <a:avLst>
                  <a:gd name="adj" fmla="val 4544"/>
                </a:avLst>
              </a:prstGeom>
              <a:noFill/>
              <a:ln w="6350">
                <a:solidFill>
                  <a:schemeClr val="tx1"/>
                </a:solidFill>
                <a:headEnd type="none" w="med" len="med"/>
                <a:tailEnd type="none" w="med" len="med"/>
              </a:ln>
              <a:effectLst/>
              <a:scene3d>
                <a:camera prst="isometricTopUp"/>
                <a:lightRig rig="threePt" dir="t"/>
              </a:scene3d>
              <a:sp3d>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4" name="Rounded Rectangle 121">
                <a:extLst>
                  <a:ext uri="{FF2B5EF4-FFF2-40B4-BE49-F238E27FC236}">
                    <a16:creationId xmlns:a16="http://schemas.microsoft.com/office/drawing/2014/main" id="{F36DC8B9-4A4A-9764-0386-B7417F2BD383}"/>
                  </a:ext>
                </a:extLst>
              </p:cNvPr>
              <p:cNvSpPr/>
              <p:nvPr/>
            </p:nvSpPr>
            <p:spPr bwMode="auto">
              <a:xfrm>
                <a:off x="6096000" y="1328677"/>
                <a:ext cx="1377826" cy="1377826"/>
              </a:xfrm>
              <a:prstGeom prst="roundRect">
                <a:avLst>
                  <a:gd name="adj" fmla="val 4544"/>
                </a:avLst>
              </a:prstGeom>
              <a:gradFill>
                <a:gsLst>
                  <a:gs pos="0">
                    <a:schemeClr val="accent1"/>
                  </a:gs>
                  <a:gs pos="98000">
                    <a:srgbClr val="C03BC4"/>
                  </a:gs>
                </a:gsLst>
                <a:lin ang="2400000" scaled="0"/>
              </a:gradFill>
              <a:ln>
                <a:noFill/>
                <a:headEnd type="none" w="med" len="med"/>
                <a:tailEnd type="none" w="med" len="med"/>
              </a:ln>
              <a:effectLst/>
              <a:scene3d>
                <a:camera prst="isometricTopUp"/>
                <a:lightRig rig="threePt" dir="t"/>
              </a:scene3d>
              <a:sp3d extrusionH="38100">
                <a:extrusionClr>
                  <a:schemeClr val="accent1"/>
                </a:extrusion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pic>
          <p:nvPicPr>
            <p:cNvPr id="59" name="Picture 58">
              <a:extLst>
                <a:ext uri="{FF2B5EF4-FFF2-40B4-BE49-F238E27FC236}">
                  <a16:creationId xmlns:a16="http://schemas.microsoft.com/office/drawing/2014/main" id="{539D4891-77CA-6B05-218A-E060F3026F8E}"/>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7351470" y="2293465"/>
              <a:ext cx="549981" cy="675415"/>
            </a:xfrm>
            <a:prstGeom prst="rect">
              <a:avLst/>
            </a:prstGeom>
          </p:spPr>
        </p:pic>
      </p:grpSp>
      <p:sp>
        <p:nvSpPr>
          <p:cNvPr id="74" name="Rounded Rectangle 73">
            <a:extLst>
              <a:ext uri="{FF2B5EF4-FFF2-40B4-BE49-F238E27FC236}">
                <a16:creationId xmlns:a16="http://schemas.microsoft.com/office/drawing/2014/main" id="{149ED8F8-0DC7-7389-F09C-DFF737D6A63C}"/>
              </a:ext>
            </a:extLst>
          </p:cNvPr>
          <p:cNvSpPr/>
          <p:nvPr/>
        </p:nvSpPr>
        <p:spPr bwMode="auto">
          <a:xfrm>
            <a:off x="1577954" y="2780892"/>
            <a:ext cx="2099436" cy="694485"/>
          </a:xfrm>
          <a:prstGeom prst="roundRect">
            <a:avLst>
              <a:gd name="adj" fmla="val 50000"/>
            </a:avLst>
          </a:prstGeom>
          <a:noFill/>
          <a:ln w="25400">
            <a:gradFill flip="none" rotWithShape="1">
              <a:gsLst>
                <a:gs pos="0">
                  <a:srgbClr val="0078D4"/>
                </a:gs>
                <a:gs pos="94000">
                  <a:srgbClr val="48C5B1"/>
                </a:gs>
              </a:gsLst>
              <a:lin ang="2700000" scaled="1"/>
              <a:tileRect/>
            </a:gradFill>
          </a:ln>
        </p:spPr>
        <p:txBody>
          <a:bodyPr vert="horz" wrap="square" lIns="0" tIns="0" rIns="0" bIns="0" rtlCol="0" anchor="ctr" anchorCtr="0">
            <a:noAutofit/>
          </a:bodyPr>
          <a:lstStyle/>
          <a:p>
            <a:pPr algn="ctr" defTabSz="1399113">
              <a:lnSpc>
                <a:spcPct val="95000"/>
              </a:lnSpc>
              <a:buSzPct val="90000"/>
              <a:tabLst>
                <a:tab pos="2057400" algn="l"/>
              </a:tabLst>
              <a:defRPr/>
            </a:pPr>
            <a:r>
              <a:rPr lang="en-US">
                <a:ln w="3175">
                  <a:noFill/>
                </a:ln>
                <a:solidFill>
                  <a:srgbClr val="FFFFFF"/>
                </a:solidFill>
                <a:latin typeface="+mj-lt"/>
                <a:cs typeface="Segoe UI" pitchFamily="34" charset="0"/>
              </a:rPr>
              <a:t>25+ year Innovation</a:t>
            </a:r>
          </a:p>
        </p:txBody>
      </p:sp>
      <p:sp>
        <p:nvSpPr>
          <p:cNvPr id="10" name="TextBox 9">
            <a:extLst>
              <a:ext uri="{FF2B5EF4-FFF2-40B4-BE49-F238E27FC236}">
                <a16:creationId xmlns:a16="http://schemas.microsoft.com/office/drawing/2014/main" id="{0EEAC052-7E41-8B90-6A53-9A479FD11B34}"/>
              </a:ext>
            </a:extLst>
          </p:cNvPr>
          <p:cNvSpPr txBox="1"/>
          <p:nvPr/>
        </p:nvSpPr>
        <p:spPr>
          <a:xfrm>
            <a:off x="17796619" y="9785068"/>
            <a:ext cx="353447" cy="323165"/>
          </a:xfrm>
          <a:prstGeom prst="rect">
            <a:avLst/>
          </a:prstGeom>
          <a:noFill/>
        </p:spPr>
        <p:txBody>
          <a:bodyPr wrap="square" lIns="0" rIns="0">
            <a:spAutoFit/>
          </a:bodyPr>
          <a:lstStyle/>
          <a:p>
            <a:pPr algn="ctr" defTabSz="1371551">
              <a:defRPr/>
            </a:pPr>
            <a:r>
              <a:rPr lang="en-US" sz="1500" spc="-15">
                <a:ln w="3175">
                  <a:noFill/>
                </a:ln>
                <a:solidFill>
                  <a:srgbClr val="FFFFFF"/>
                </a:solidFill>
                <a:latin typeface="Segoe Sans Text"/>
                <a:cs typeface="Segoe UI" panose="020B0502040204020203" pitchFamily="34" charset="0"/>
              </a:rPr>
              <a:t>4</a:t>
            </a:r>
            <a:endParaRPr lang="en-US" sz="1500" spc="-15" baseline="30000">
              <a:solidFill>
                <a:srgbClr val="FFFFFF"/>
              </a:solidFill>
              <a:latin typeface="Segoe Sans Text"/>
            </a:endParaRPr>
          </a:p>
        </p:txBody>
      </p:sp>
      <p:sp>
        <p:nvSpPr>
          <p:cNvPr id="11" name="Rounded Rectangle 10">
            <a:extLst>
              <a:ext uri="{FF2B5EF4-FFF2-40B4-BE49-F238E27FC236}">
                <a16:creationId xmlns:a16="http://schemas.microsoft.com/office/drawing/2014/main" id="{C31A68F0-D755-0E3A-1ED8-C691B373DC6E}"/>
              </a:ext>
            </a:extLst>
          </p:cNvPr>
          <p:cNvSpPr/>
          <p:nvPr/>
        </p:nvSpPr>
        <p:spPr bwMode="auto">
          <a:xfrm>
            <a:off x="5891858" y="2780892"/>
            <a:ext cx="2099436" cy="694485"/>
          </a:xfrm>
          <a:prstGeom prst="roundRect">
            <a:avLst>
              <a:gd name="adj" fmla="val 50000"/>
            </a:avLst>
          </a:prstGeom>
          <a:noFill/>
          <a:ln w="25400">
            <a:gradFill flip="none" rotWithShape="1">
              <a:gsLst>
                <a:gs pos="0">
                  <a:srgbClr val="0078D4"/>
                </a:gs>
                <a:gs pos="94000">
                  <a:srgbClr val="48C5B1"/>
                </a:gs>
              </a:gsLst>
              <a:lin ang="2700000" scaled="1"/>
              <a:tileRect/>
            </a:gradFill>
          </a:ln>
        </p:spPr>
        <p:txBody>
          <a:bodyPr vert="horz" wrap="square" lIns="0" tIns="0" rIns="0" bIns="0" rtlCol="0" anchor="ctr" anchorCtr="0">
            <a:noAutofit/>
          </a:bodyPr>
          <a:lstStyle/>
          <a:p>
            <a:pPr algn="ctr" defTabSz="1399113">
              <a:lnSpc>
                <a:spcPct val="95000"/>
              </a:lnSpc>
              <a:buSzPct val="90000"/>
              <a:tabLst>
                <a:tab pos="2057400" algn="l"/>
              </a:tabLst>
              <a:defRPr/>
            </a:pPr>
            <a:r>
              <a:rPr lang="en-US">
                <a:ln w="3175">
                  <a:noFill/>
                </a:ln>
                <a:solidFill>
                  <a:srgbClr val="FFFFFF"/>
                </a:solidFill>
                <a:latin typeface="+mj-lt"/>
                <a:cs typeface="Segoe UI" pitchFamily="34" charset="0"/>
              </a:rPr>
              <a:t>Seamless </a:t>
            </a:r>
          </a:p>
          <a:p>
            <a:pPr algn="ctr" defTabSz="1399113">
              <a:lnSpc>
                <a:spcPct val="95000"/>
              </a:lnSpc>
              <a:buSzPct val="90000"/>
              <a:tabLst>
                <a:tab pos="2057400" algn="l"/>
              </a:tabLst>
              <a:defRPr/>
            </a:pPr>
            <a:r>
              <a:rPr lang="en-US">
                <a:ln w="3175">
                  <a:noFill/>
                </a:ln>
                <a:solidFill>
                  <a:srgbClr val="FFFFFF"/>
                </a:solidFill>
                <a:latin typeface="+mj-lt"/>
                <a:cs typeface="Segoe UI" pitchFamily="34" charset="0"/>
              </a:rPr>
              <a:t>Migration</a:t>
            </a:r>
          </a:p>
        </p:txBody>
      </p:sp>
      <p:sp>
        <p:nvSpPr>
          <p:cNvPr id="12" name="Rounded Rectangle 11">
            <a:extLst>
              <a:ext uri="{FF2B5EF4-FFF2-40B4-BE49-F238E27FC236}">
                <a16:creationId xmlns:a16="http://schemas.microsoft.com/office/drawing/2014/main" id="{8C0B585F-98DF-C334-14C8-F76C9BDC0971}"/>
              </a:ext>
            </a:extLst>
          </p:cNvPr>
          <p:cNvSpPr/>
          <p:nvPr/>
        </p:nvSpPr>
        <p:spPr bwMode="auto">
          <a:xfrm>
            <a:off x="10205762" y="2780892"/>
            <a:ext cx="2099436" cy="694485"/>
          </a:xfrm>
          <a:prstGeom prst="roundRect">
            <a:avLst>
              <a:gd name="adj" fmla="val 50000"/>
            </a:avLst>
          </a:prstGeom>
          <a:noFill/>
          <a:ln w="25400">
            <a:gradFill flip="none" rotWithShape="1">
              <a:gsLst>
                <a:gs pos="0">
                  <a:srgbClr val="0078D4"/>
                </a:gs>
                <a:gs pos="94000">
                  <a:srgbClr val="48C5B1"/>
                </a:gs>
              </a:gsLst>
              <a:lin ang="2700000" scaled="1"/>
              <a:tileRect/>
            </a:gradFill>
          </a:ln>
        </p:spPr>
        <p:txBody>
          <a:bodyPr vert="horz" wrap="square" lIns="0" tIns="0" rIns="0" bIns="0" rtlCol="0" anchor="ctr" anchorCtr="0">
            <a:noAutofit/>
          </a:bodyPr>
          <a:lstStyle/>
          <a:p>
            <a:pPr algn="ctr" defTabSz="1399113">
              <a:lnSpc>
                <a:spcPct val="95000"/>
              </a:lnSpc>
              <a:buSzPct val="90000"/>
              <a:tabLst>
                <a:tab pos="2057400" algn="l"/>
              </a:tabLst>
              <a:defRPr/>
            </a:pPr>
            <a:r>
              <a:rPr lang="en-US">
                <a:ln w="3175">
                  <a:noFill/>
                </a:ln>
                <a:solidFill>
                  <a:srgbClr val="FFFFFF"/>
                </a:solidFill>
                <a:latin typeface="+mj-lt"/>
                <a:cs typeface="Segoe UI" pitchFamily="34" charset="0"/>
              </a:rPr>
              <a:t>Competitive TCO</a:t>
            </a:r>
          </a:p>
        </p:txBody>
      </p:sp>
      <p:sp>
        <p:nvSpPr>
          <p:cNvPr id="13" name="Rounded Rectangle 12">
            <a:extLst>
              <a:ext uri="{FF2B5EF4-FFF2-40B4-BE49-F238E27FC236}">
                <a16:creationId xmlns:a16="http://schemas.microsoft.com/office/drawing/2014/main" id="{400B65CC-8891-6DA8-2995-3A862DBFEB97}"/>
              </a:ext>
            </a:extLst>
          </p:cNvPr>
          <p:cNvSpPr/>
          <p:nvPr/>
        </p:nvSpPr>
        <p:spPr bwMode="auto">
          <a:xfrm>
            <a:off x="14519664" y="2780892"/>
            <a:ext cx="2099436" cy="694485"/>
          </a:xfrm>
          <a:prstGeom prst="roundRect">
            <a:avLst>
              <a:gd name="adj" fmla="val 50000"/>
            </a:avLst>
          </a:prstGeom>
          <a:noFill/>
          <a:ln w="25400">
            <a:gradFill flip="none" rotWithShape="1">
              <a:gsLst>
                <a:gs pos="0">
                  <a:srgbClr val="0078D4"/>
                </a:gs>
                <a:gs pos="94000">
                  <a:srgbClr val="48C5B1"/>
                </a:gs>
              </a:gsLst>
              <a:lin ang="2700000" scaled="1"/>
              <a:tileRect/>
            </a:gradFill>
          </a:ln>
        </p:spPr>
        <p:txBody>
          <a:bodyPr vert="horz" wrap="square" lIns="0" tIns="0" rIns="0" bIns="0" rtlCol="0" anchor="ctr" anchorCtr="0">
            <a:noAutofit/>
          </a:bodyPr>
          <a:lstStyle/>
          <a:p>
            <a:pPr algn="ctr" defTabSz="1399113">
              <a:lnSpc>
                <a:spcPct val="95000"/>
              </a:lnSpc>
              <a:buSzPct val="90000"/>
              <a:tabLst>
                <a:tab pos="2057400" algn="l"/>
              </a:tabLst>
              <a:defRPr/>
            </a:pPr>
            <a:r>
              <a:rPr lang="en-US">
                <a:ln w="3175">
                  <a:noFill/>
                </a:ln>
                <a:solidFill>
                  <a:srgbClr val="FFFFFF"/>
                </a:solidFill>
                <a:latin typeface="+mj-lt"/>
                <a:cs typeface="Segoe UI" pitchFamily="34" charset="0"/>
              </a:rPr>
              <a:t>Programmatic Support</a:t>
            </a:r>
          </a:p>
        </p:txBody>
      </p:sp>
    </p:spTree>
    <p:extLst>
      <p:ext uri="{BB962C8B-B14F-4D97-AF65-F5344CB8AC3E}">
        <p14:creationId xmlns:p14="http://schemas.microsoft.com/office/powerpoint/2010/main" val="43640429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790C69BB-7918-BB6D-0E69-7B44BE3C56A3}"/>
            </a:ext>
          </a:extLst>
        </p:cNvPr>
        <p:cNvGrpSpPr/>
        <p:nvPr/>
      </p:nvGrpSpPr>
      <p:grpSpPr>
        <a:xfrm>
          <a:off x="0" y="0"/>
          <a:ext cx="0" cy="0"/>
          <a:chOff x="0" y="0"/>
          <a:chExt cx="0" cy="0"/>
        </a:xfrm>
      </p:grpSpPr>
      <p:grpSp>
        <p:nvGrpSpPr>
          <p:cNvPr id="60" name="Group 59">
            <a:extLst>
              <a:ext uri="{FF2B5EF4-FFF2-40B4-BE49-F238E27FC236}">
                <a16:creationId xmlns:a16="http://schemas.microsoft.com/office/drawing/2014/main" id="{1D2B2E08-9890-46F1-D267-DCC15F1F62F8}"/>
              </a:ext>
            </a:extLst>
          </p:cNvPr>
          <p:cNvGrpSpPr/>
          <p:nvPr/>
        </p:nvGrpSpPr>
        <p:grpSpPr>
          <a:xfrm>
            <a:off x="-3636323" y="0"/>
            <a:ext cx="4968240" cy="10287000"/>
            <a:chOff x="13716000" y="0"/>
            <a:chExt cx="4968240" cy="10287000"/>
          </a:xfrm>
        </p:grpSpPr>
        <p:sp>
          <p:nvSpPr>
            <p:cNvPr id="34" name="Freeform: Shape 33">
              <a:extLst>
                <a:ext uri="{FF2B5EF4-FFF2-40B4-BE49-F238E27FC236}">
                  <a16:creationId xmlns:a16="http://schemas.microsoft.com/office/drawing/2014/main" id="{B27C7A73-1A52-5523-FBC1-B0F1A67B4385}"/>
                </a:ext>
              </a:extLst>
            </p:cNvPr>
            <p:cNvSpPr/>
            <p:nvPr/>
          </p:nvSpPr>
          <p:spPr bwMode="auto">
            <a:xfrm>
              <a:off x="13716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684020 h 10287000"/>
                <a:gd name="connsiteX3" fmla="*/ 4968240 w 4968240"/>
                <a:gd name="connsiteY3" fmla="*/ 2244090 h 10287000"/>
                <a:gd name="connsiteX4" fmla="*/ 4572000 w 4968240"/>
                <a:gd name="connsiteY4" fmla="*/ 280416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684020"/>
                  </a:lnTo>
                  <a:lnTo>
                    <a:pt x="4968240" y="2244090"/>
                  </a:lnTo>
                  <a:lnTo>
                    <a:pt x="4572000" y="2804160"/>
                  </a:lnTo>
                  <a:lnTo>
                    <a:pt x="4572000" y="10287000"/>
                  </a:lnTo>
                  <a:lnTo>
                    <a:pt x="0" y="10287000"/>
                  </a:lnTo>
                  <a:close/>
                </a:path>
              </a:pathLst>
            </a:custGeom>
            <a:solidFill>
              <a:schemeClr val="accent5">
                <a:lumMod val="5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9F41424E-824C-68C9-4D52-0B619400F0AA}"/>
                </a:ext>
              </a:extLst>
            </p:cNvPr>
            <p:cNvSpPr txBox="1"/>
            <p:nvPr/>
          </p:nvSpPr>
          <p:spPr>
            <a:xfrm>
              <a:off x="15051803"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D</a:t>
              </a:r>
            </a:p>
          </p:txBody>
        </p:sp>
        <p:sp>
          <p:nvSpPr>
            <p:cNvPr id="47" name="TextBox 46">
              <a:extLst>
                <a:ext uri="{FF2B5EF4-FFF2-40B4-BE49-F238E27FC236}">
                  <a16:creationId xmlns:a16="http://schemas.microsoft.com/office/drawing/2014/main" id="{5968373B-ED74-09B1-3706-C877654F93A0}"/>
                </a:ext>
              </a:extLst>
            </p:cNvPr>
            <p:cNvSpPr txBox="1"/>
            <p:nvPr/>
          </p:nvSpPr>
          <p:spPr>
            <a:xfrm>
              <a:off x="14189793" y="3414966"/>
              <a:ext cx="3795562" cy="1231106"/>
            </a:xfrm>
            <a:prstGeom prst="rect">
              <a:avLst/>
            </a:prstGeom>
            <a:noFill/>
          </p:spPr>
          <p:txBody>
            <a:bodyPr wrap="square" lIns="0" tIns="0" rIns="0" bIns="0" rtlCol="0">
              <a:spAutoFit/>
            </a:bodyPr>
            <a:lstStyle/>
            <a:p>
              <a:pPr algn="ctr"/>
              <a:r>
                <a:rPr lang="en-US" sz="4000" dirty="0">
                  <a:solidFill>
                    <a:schemeClr val="accent6">
                      <a:lumMod val="25000"/>
                    </a:schemeClr>
                  </a:solidFill>
                  <a:latin typeface="+mj-lt"/>
                  <a:cs typeface="MoolBoran" panose="020B0100010101010101" pitchFamily="34" charset="0"/>
                </a:rPr>
                <a:t>Modernize</a:t>
              </a:r>
              <a:r>
                <a:rPr lang="en-US" sz="4000" dirty="0">
                  <a:latin typeface="MoolBoran" panose="020B0100010101010101" pitchFamily="34" charset="0"/>
                  <a:cs typeface="MoolBoran" panose="020B0100010101010101" pitchFamily="34" charset="0"/>
                </a:rPr>
                <a:t> </a:t>
              </a:r>
              <a:r>
                <a:rPr lang="en-US" sz="4000" dirty="0">
                  <a:solidFill>
                    <a:schemeClr val="accent6">
                      <a:lumMod val="25000"/>
                    </a:schemeClr>
                  </a:solidFill>
                  <a:latin typeface="+mj-lt"/>
                  <a:cs typeface="MoolBoran" panose="020B0100010101010101" pitchFamily="34" charset="0"/>
                </a:rPr>
                <a:t>Apps &amp; Database</a:t>
              </a:r>
            </a:p>
          </p:txBody>
        </p:sp>
        <p:sp>
          <p:nvSpPr>
            <p:cNvPr id="48" name="TextBox 47">
              <a:extLst>
                <a:ext uri="{FF2B5EF4-FFF2-40B4-BE49-F238E27FC236}">
                  <a16:creationId xmlns:a16="http://schemas.microsoft.com/office/drawing/2014/main" id="{755745C8-3F07-CD45-EE4E-E2D6E39108B2}"/>
                </a:ext>
              </a:extLst>
            </p:cNvPr>
            <p:cNvSpPr txBox="1"/>
            <p:nvPr/>
          </p:nvSpPr>
          <p:spPr>
            <a:xfrm>
              <a:off x="14189793" y="5202934"/>
              <a:ext cx="3795562" cy="2585323"/>
            </a:xfrm>
            <a:prstGeom prst="rect">
              <a:avLst/>
            </a:prstGeom>
            <a:noFill/>
          </p:spPr>
          <p:txBody>
            <a:bodyPr wrap="square" lIns="0" tIns="0" rIns="0" bIns="0" rtlCol="0">
              <a:spAutoFit/>
            </a:bodyPr>
            <a:lstStyle/>
            <a:p>
              <a:pPr algn="ctr"/>
              <a:r>
                <a:rPr lang="en-US" sz="2800" dirty="0"/>
                <a:t>Allows businesses to </a:t>
              </a:r>
              <a:r>
                <a:rPr lang="en-US" sz="2800" b="1" dirty="0"/>
                <a:t>modernize applications and databases</a:t>
              </a:r>
              <a:r>
                <a:rPr lang="en-US" sz="2800" dirty="0"/>
                <a:t>, unlocking </a:t>
              </a:r>
              <a:r>
                <a:rPr lang="en-US" sz="2800" b="1" dirty="0"/>
                <a:t>AI, analytics, and automation</a:t>
              </a:r>
              <a:r>
                <a:rPr lang="en-US" sz="2800" dirty="0"/>
                <a:t> capabilities </a:t>
              </a:r>
            </a:p>
          </p:txBody>
        </p:sp>
        <p:pic>
          <p:nvPicPr>
            <p:cNvPr id="56" name="Graphic 55" descr="Inbox Check outline">
              <a:extLst>
                <a:ext uri="{FF2B5EF4-FFF2-40B4-BE49-F238E27FC236}">
                  <a16:creationId xmlns:a16="http://schemas.microsoft.com/office/drawing/2014/main" id="{9053F225-D6C8-833B-898C-3FCB2AE86A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20417" y="8257983"/>
              <a:ext cx="914400" cy="914400"/>
            </a:xfrm>
            <a:prstGeom prst="rect">
              <a:avLst/>
            </a:prstGeom>
          </p:spPr>
        </p:pic>
      </p:grpSp>
      <p:grpSp>
        <p:nvGrpSpPr>
          <p:cNvPr id="59" name="Group 58">
            <a:extLst>
              <a:ext uri="{FF2B5EF4-FFF2-40B4-BE49-F238E27FC236}">
                <a16:creationId xmlns:a16="http://schemas.microsoft.com/office/drawing/2014/main" id="{194CA374-2179-73A9-5674-5D971885C914}"/>
              </a:ext>
            </a:extLst>
          </p:cNvPr>
          <p:cNvGrpSpPr/>
          <p:nvPr/>
        </p:nvGrpSpPr>
        <p:grpSpPr>
          <a:xfrm>
            <a:off x="-3870236" y="0"/>
            <a:ext cx="4968240" cy="10287000"/>
            <a:chOff x="9144000" y="0"/>
            <a:chExt cx="4968240" cy="10287000"/>
          </a:xfrm>
        </p:grpSpPr>
        <p:sp>
          <p:nvSpPr>
            <p:cNvPr id="33" name="Freeform: Shape 32">
              <a:extLst>
                <a:ext uri="{FF2B5EF4-FFF2-40B4-BE49-F238E27FC236}">
                  <a16:creationId xmlns:a16="http://schemas.microsoft.com/office/drawing/2014/main" id="{E05F8C1F-69A2-6462-52BF-C75E48CA283E}"/>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A855562A-004B-E47E-7268-19AEDC563EFC}"/>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C</a:t>
              </a:r>
            </a:p>
          </p:txBody>
        </p:sp>
        <p:sp>
          <p:nvSpPr>
            <p:cNvPr id="45" name="TextBox 44">
              <a:extLst>
                <a:ext uri="{FF2B5EF4-FFF2-40B4-BE49-F238E27FC236}">
                  <a16:creationId xmlns:a16="http://schemas.microsoft.com/office/drawing/2014/main" id="{853AFE2C-1483-E65E-8FDB-60D3B31E78DA}"/>
                </a:ext>
              </a:extLst>
            </p:cNvPr>
            <p:cNvSpPr txBox="1"/>
            <p:nvPr/>
          </p:nvSpPr>
          <p:spPr>
            <a:xfrm>
              <a:off x="9446646" y="3465821"/>
              <a:ext cx="3795562" cy="1231106"/>
            </a:xfrm>
            <a:prstGeom prst="rect">
              <a:avLst/>
            </a:prstGeom>
            <a:noFill/>
          </p:spPr>
          <p:txBody>
            <a:bodyPr wrap="square" lIns="0" tIns="0" rIns="0" bIns="0" rtlCol="0">
              <a:spAutoFit/>
            </a:bodyPr>
            <a:lstStyle/>
            <a:p>
              <a:pPr algn="ctr"/>
              <a:r>
                <a:rPr lang="en-US" sz="4000" dirty="0">
                  <a:solidFill>
                    <a:schemeClr val="accent6">
                      <a:lumMod val="25000"/>
                    </a:schemeClr>
                  </a:solidFill>
                  <a:latin typeface="+mj-lt"/>
                  <a:cs typeface="MoolBoran" panose="020B0100010101010101" pitchFamily="34" charset="0"/>
                </a:rPr>
                <a:t>Security</a:t>
              </a:r>
              <a:r>
                <a:rPr lang="en-US" sz="4000" dirty="0">
                  <a:solidFill>
                    <a:schemeClr val="tx2"/>
                  </a:solidFill>
                  <a:latin typeface="MoolBoran" panose="020B0100010101010101" pitchFamily="34" charset="0"/>
                  <a:cs typeface="MoolBoran" panose="020B0100010101010101" pitchFamily="34" charset="0"/>
                </a:rPr>
                <a:t> </a:t>
              </a:r>
              <a:r>
                <a:rPr lang="en-US" sz="4000" dirty="0">
                  <a:solidFill>
                    <a:schemeClr val="accent6">
                      <a:lumMod val="25000"/>
                    </a:schemeClr>
                  </a:solidFill>
                  <a:latin typeface="+mj-lt"/>
                  <a:cs typeface="MoolBoran" panose="020B0100010101010101" pitchFamily="34" charset="0"/>
                </a:rPr>
                <a:t>&amp; compliance</a:t>
              </a:r>
            </a:p>
          </p:txBody>
        </p:sp>
        <p:sp>
          <p:nvSpPr>
            <p:cNvPr id="46" name="TextBox 45">
              <a:extLst>
                <a:ext uri="{FF2B5EF4-FFF2-40B4-BE49-F238E27FC236}">
                  <a16:creationId xmlns:a16="http://schemas.microsoft.com/office/drawing/2014/main" id="{8B7E1D95-7526-161A-474C-8561287E25C4}"/>
                </a:ext>
              </a:extLst>
            </p:cNvPr>
            <p:cNvSpPr txBox="1"/>
            <p:nvPr/>
          </p:nvSpPr>
          <p:spPr>
            <a:xfrm>
              <a:off x="9446646" y="5203146"/>
              <a:ext cx="4044262" cy="2585323"/>
            </a:xfrm>
            <a:prstGeom prst="rect">
              <a:avLst/>
            </a:prstGeom>
            <a:noFill/>
          </p:spPr>
          <p:txBody>
            <a:bodyPr wrap="square" lIns="0" tIns="0" rIns="0" bIns="0" rtlCol="0">
              <a:spAutoFit/>
            </a:bodyPr>
            <a:lstStyle/>
            <a:p>
              <a:pPr algn="ctr"/>
              <a:r>
                <a:rPr lang="en-US" sz="2800" dirty="0">
                  <a:solidFill>
                    <a:schemeClr val="tx2"/>
                  </a:solidFill>
                </a:rPr>
                <a:t>Azure ensures </a:t>
              </a:r>
              <a:r>
                <a:rPr lang="en-US" sz="2800" b="1" dirty="0">
                  <a:solidFill>
                    <a:schemeClr val="tx2"/>
                  </a:solidFill>
                </a:rPr>
                <a:t>enterprise-grade security &amp; compliance</a:t>
              </a:r>
              <a:r>
                <a:rPr lang="en-US" sz="2800" dirty="0">
                  <a:solidFill>
                    <a:schemeClr val="tx2"/>
                  </a:solidFill>
                </a:rPr>
                <a:t>, reducing the risks associated with outdated infrastructure</a:t>
              </a:r>
            </a:p>
          </p:txBody>
        </p:sp>
        <p:pic>
          <p:nvPicPr>
            <p:cNvPr id="54" name="Graphic 53" descr="Employee badge outline">
              <a:extLst>
                <a:ext uri="{FF2B5EF4-FFF2-40B4-BE49-F238E27FC236}">
                  <a16:creationId xmlns:a16="http://schemas.microsoft.com/office/drawing/2014/main" id="{9B81037C-EB20-BEEE-2BF7-2460CADC6E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340011FE-0A8F-ABF9-018B-FEA068FDF2E0}"/>
              </a:ext>
            </a:extLst>
          </p:cNvPr>
          <p:cNvGrpSpPr/>
          <p:nvPr/>
        </p:nvGrpSpPr>
        <p:grpSpPr>
          <a:xfrm>
            <a:off x="-4082892" y="0"/>
            <a:ext cx="4952198" cy="10287000"/>
            <a:chOff x="4572000" y="0"/>
            <a:chExt cx="4952198" cy="10287000"/>
          </a:xfrm>
        </p:grpSpPr>
        <p:sp>
          <p:nvSpPr>
            <p:cNvPr id="32" name="Freeform: Shape 31">
              <a:extLst>
                <a:ext uri="{FF2B5EF4-FFF2-40B4-BE49-F238E27FC236}">
                  <a16:creationId xmlns:a16="http://schemas.microsoft.com/office/drawing/2014/main" id="{1A68AB60-BBCF-1B48-DFCE-2129624745B6}"/>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3B4D4352-8895-E912-8447-2624421C0C7E}"/>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B</a:t>
              </a:r>
            </a:p>
          </p:txBody>
        </p:sp>
        <p:sp>
          <p:nvSpPr>
            <p:cNvPr id="43" name="TextBox 42">
              <a:extLst>
                <a:ext uri="{FF2B5EF4-FFF2-40B4-BE49-F238E27FC236}">
                  <a16:creationId xmlns:a16="http://schemas.microsoft.com/office/drawing/2014/main" id="{0EFBE0FA-24E4-BDA6-CB8E-48B1E57C3046}"/>
                </a:ext>
              </a:extLst>
            </p:cNvPr>
            <p:cNvSpPr txBox="1"/>
            <p:nvPr/>
          </p:nvSpPr>
          <p:spPr>
            <a:xfrm>
              <a:off x="4779597" y="3121202"/>
              <a:ext cx="4193256" cy="1846659"/>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t>Built-in Cost Optimization tools</a:t>
              </a:r>
            </a:p>
          </p:txBody>
        </p:sp>
        <p:sp>
          <p:nvSpPr>
            <p:cNvPr id="44" name="TextBox 43">
              <a:extLst>
                <a:ext uri="{FF2B5EF4-FFF2-40B4-BE49-F238E27FC236}">
                  <a16:creationId xmlns:a16="http://schemas.microsoft.com/office/drawing/2014/main" id="{B9ADE7C9-4CE2-680A-A99F-06AD0078A5B0}"/>
                </a:ext>
              </a:extLst>
            </p:cNvPr>
            <p:cNvSpPr txBox="1"/>
            <p:nvPr/>
          </p:nvSpPr>
          <p:spPr>
            <a:xfrm>
              <a:off x="4779597" y="567097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offers built-in </a:t>
              </a:r>
              <a:r>
                <a:rPr lang="en-US" sz="2800" b="1" dirty="0">
                  <a:solidFill>
                    <a:schemeClr val="accent6">
                      <a:lumMod val="25000"/>
                    </a:schemeClr>
                  </a:solidFill>
                </a:rPr>
                <a:t>cost optimization tools </a:t>
              </a:r>
              <a:r>
                <a:rPr lang="en-US" sz="2800" dirty="0">
                  <a:solidFill>
                    <a:schemeClr val="accent6">
                      <a:lumMod val="25000"/>
                    </a:schemeClr>
                  </a:solidFill>
                </a:rPr>
                <a:t>to help you save up to </a:t>
              </a:r>
              <a:r>
                <a:rPr lang="en-US" sz="2800" b="1" dirty="0">
                  <a:solidFill>
                    <a:schemeClr val="accent6">
                      <a:lumMod val="25000"/>
                    </a:schemeClr>
                  </a:solidFill>
                </a:rPr>
                <a:t>40% on </a:t>
              </a:r>
              <a:br>
                <a:rPr lang="en-US" sz="2800" b="1" dirty="0">
                  <a:solidFill>
                    <a:schemeClr val="accent6">
                      <a:lumMod val="25000"/>
                    </a:schemeClr>
                  </a:solidFill>
                </a:rPr>
              </a:br>
              <a:r>
                <a:rPr lang="en-US" sz="2800" b="1" dirty="0">
                  <a:solidFill>
                    <a:schemeClr val="accent6">
                      <a:lumMod val="25000"/>
                    </a:schemeClr>
                  </a:solidFill>
                </a:rPr>
                <a:t>infrastructure costs</a:t>
              </a:r>
            </a:p>
          </p:txBody>
        </p:sp>
        <p:pic>
          <p:nvPicPr>
            <p:cNvPr id="50" name="Graphic 49" descr="Board Of Directors outline">
              <a:extLst>
                <a:ext uri="{FF2B5EF4-FFF2-40B4-BE49-F238E27FC236}">
                  <a16:creationId xmlns:a16="http://schemas.microsoft.com/office/drawing/2014/main" id="{6404B8AE-FA5A-5F4B-292B-470C2F06BB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34F54E74-6AA6-D787-266E-BFA87789F81B}"/>
              </a:ext>
            </a:extLst>
          </p:cNvPr>
          <p:cNvGrpSpPr/>
          <p:nvPr/>
        </p:nvGrpSpPr>
        <p:grpSpPr>
          <a:xfrm>
            <a:off x="-4316816" y="21265"/>
            <a:ext cx="4953000" cy="10287000"/>
            <a:chOff x="0" y="0"/>
            <a:chExt cx="4953000" cy="10287000"/>
          </a:xfrm>
        </p:grpSpPr>
        <p:sp>
          <p:nvSpPr>
            <p:cNvPr id="24" name="Freeform: Shape 23">
              <a:extLst>
                <a:ext uri="{FF2B5EF4-FFF2-40B4-BE49-F238E27FC236}">
                  <a16:creationId xmlns:a16="http://schemas.microsoft.com/office/drawing/2014/main" id="{24AB994B-54E1-BE7B-FF9E-B058A6A0B8C1}"/>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FA241B18-A813-F12F-7290-BF9095827025}"/>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A</a:t>
              </a:r>
            </a:p>
          </p:txBody>
        </p:sp>
        <p:sp>
          <p:nvSpPr>
            <p:cNvPr id="40" name="TextBox 39">
              <a:extLst>
                <a:ext uri="{FF2B5EF4-FFF2-40B4-BE49-F238E27FC236}">
                  <a16:creationId xmlns:a16="http://schemas.microsoft.com/office/drawing/2014/main" id="{E2212B7E-1791-573C-7EB1-B21895A39D0F}"/>
                </a:ext>
              </a:extLst>
            </p:cNvPr>
            <p:cNvSpPr txBox="1"/>
            <p:nvPr/>
          </p:nvSpPr>
          <p:spPr>
            <a:xfrm>
              <a:off x="388219" y="3307365"/>
              <a:ext cx="3795562" cy="1231106"/>
            </a:xfrm>
            <a:prstGeom prst="rect">
              <a:avLst/>
            </a:prstGeom>
            <a:noFill/>
          </p:spPr>
          <p:txBody>
            <a:bodyPr wrap="square" lIns="0" tIns="0" rIns="0" bIns="0" rtlCol="0">
              <a:spAutoFit/>
            </a:bodyPr>
            <a:lstStyle/>
            <a:p>
              <a:pPr algn="ctr"/>
              <a:r>
                <a:rPr lang="en-US" sz="4000" dirty="0">
                  <a:solidFill>
                    <a:schemeClr val="accent6">
                      <a:lumMod val="25000"/>
                    </a:schemeClr>
                  </a:solidFill>
                  <a:latin typeface="+mj-lt"/>
                  <a:cs typeface="MoolBoran" panose="020B0100010101010101" pitchFamily="34" charset="0"/>
                </a:rPr>
                <a:t>Migration Approach</a:t>
              </a:r>
            </a:p>
          </p:txBody>
        </p:sp>
        <p:sp>
          <p:nvSpPr>
            <p:cNvPr id="42" name="TextBox 41">
              <a:extLst>
                <a:ext uri="{FF2B5EF4-FFF2-40B4-BE49-F238E27FC236}">
                  <a16:creationId xmlns:a16="http://schemas.microsoft.com/office/drawing/2014/main" id="{1E93CB4F-2E9F-BB79-9CFB-14BDFF13B26A}"/>
                </a:ext>
              </a:extLst>
            </p:cNvPr>
            <p:cNvSpPr txBox="1"/>
            <p:nvPr/>
          </p:nvSpPr>
          <p:spPr>
            <a:xfrm>
              <a:off x="388219" y="571350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Provides a </a:t>
              </a:r>
              <a:r>
                <a:rPr lang="en-US" sz="2800" b="1" dirty="0">
                  <a:solidFill>
                    <a:schemeClr val="accent6">
                      <a:lumMod val="25000"/>
                    </a:schemeClr>
                  </a:solidFill>
                </a:rPr>
                <a:t>step-by-step, structured migration approach</a:t>
              </a:r>
              <a:r>
                <a:rPr lang="en-US" sz="2800" dirty="0">
                  <a:solidFill>
                    <a:schemeClr val="accent6">
                      <a:lumMod val="25000"/>
                    </a:schemeClr>
                  </a:solidFill>
                </a:rPr>
                <a:t>, so you don’t have to worry about disruptions</a:t>
              </a:r>
              <a:endParaRPr lang="en-US" sz="2800" dirty="0">
                <a:solidFill>
                  <a:schemeClr val="accent6">
                    <a:lumMod val="25000"/>
                  </a:schemeClr>
                </a:solidFill>
                <a:latin typeface="MoolBoran" panose="020B0100010101010101" pitchFamily="34" charset="0"/>
                <a:cs typeface="MoolBoran" panose="020B0100010101010101" pitchFamily="34" charset="0"/>
              </a:endParaRPr>
            </a:p>
          </p:txBody>
        </p:sp>
        <p:pic>
          <p:nvPicPr>
            <p:cNvPr id="52" name="Graphic 51" descr="Clipboard Partially Crossed outline">
              <a:extLst>
                <a:ext uri="{FF2B5EF4-FFF2-40B4-BE49-F238E27FC236}">
                  <a16:creationId xmlns:a16="http://schemas.microsoft.com/office/drawing/2014/main" id="{DD40861F-5213-EBD8-AE25-FB5801B62F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7579" y="8407983"/>
              <a:ext cx="914400" cy="914400"/>
            </a:xfrm>
            <a:prstGeom prst="rect">
              <a:avLst/>
            </a:prstGeom>
          </p:spPr>
        </p:pic>
      </p:grpSp>
      <p:sp>
        <p:nvSpPr>
          <p:cNvPr id="2" name="TextBox 1">
            <a:extLst>
              <a:ext uri="{FF2B5EF4-FFF2-40B4-BE49-F238E27FC236}">
                <a16:creationId xmlns:a16="http://schemas.microsoft.com/office/drawing/2014/main" id="{E20C8069-0763-350C-750F-80B70A0665E5}"/>
              </a:ext>
            </a:extLst>
          </p:cNvPr>
          <p:cNvSpPr txBox="1"/>
          <p:nvPr/>
        </p:nvSpPr>
        <p:spPr>
          <a:xfrm>
            <a:off x="2796363" y="3254984"/>
            <a:ext cx="13375758" cy="3077766"/>
          </a:xfrm>
          <a:prstGeom prst="rect">
            <a:avLst/>
          </a:prstGeom>
          <a:noFill/>
        </p:spPr>
        <p:txBody>
          <a:bodyPr wrap="square" lIns="0" tIns="0" rIns="0" bIns="0" rtlCol="0">
            <a:spAutoFit/>
          </a:bodyPr>
          <a:lstStyle/>
          <a:p>
            <a:pPr algn="ctr"/>
            <a:r>
              <a:rPr lang="en-US" sz="10000" b="1" dirty="0">
                <a:cs typeface="MoolBoran" panose="020B0100010101010101" pitchFamily="34" charset="0"/>
              </a:rPr>
              <a:t>Azure </a:t>
            </a:r>
            <a:r>
              <a:rPr lang="en-US" sz="10000" b="1" dirty="0">
                <a:solidFill>
                  <a:srgbClr val="FFB900"/>
                </a:solidFill>
                <a:cs typeface="MoolBoran" panose="020B0100010101010101" pitchFamily="34" charset="0"/>
              </a:rPr>
              <a:t>Migrate</a:t>
            </a:r>
            <a:br>
              <a:rPr lang="en-US" sz="10000" b="1" dirty="0">
                <a:cs typeface="MoolBoran" panose="020B0100010101010101" pitchFamily="34" charset="0"/>
              </a:rPr>
            </a:br>
            <a:r>
              <a:rPr lang="en-US" sz="10000" b="1" dirty="0">
                <a:cs typeface="MoolBoran" panose="020B0100010101010101" pitchFamily="34" charset="0"/>
              </a:rPr>
              <a:t> &amp; </a:t>
            </a:r>
            <a:r>
              <a:rPr lang="en-US" sz="10000" b="1" dirty="0">
                <a:solidFill>
                  <a:srgbClr val="091F2C"/>
                </a:solidFill>
                <a:cs typeface="MoolBoran" panose="020B0100010101010101" pitchFamily="34" charset="0"/>
              </a:rPr>
              <a:t>Modernize</a:t>
            </a:r>
            <a:endParaRPr lang="en-US" sz="100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38977988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AEE51DBA-2300-3268-D617-F5C7FDD7C77C}"/>
            </a:ext>
          </a:extLst>
        </p:cNvPr>
        <p:cNvGrpSpPr/>
        <p:nvPr/>
      </p:nvGrpSpPr>
      <p:grpSpPr>
        <a:xfrm>
          <a:off x="0" y="0"/>
          <a:ext cx="0" cy="0"/>
          <a:chOff x="0" y="0"/>
          <a:chExt cx="0" cy="0"/>
        </a:xfrm>
      </p:grpSpPr>
      <p:grpSp>
        <p:nvGrpSpPr>
          <p:cNvPr id="60" name="Group 59">
            <a:extLst>
              <a:ext uri="{FF2B5EF4-FFF2-40B4-BE49-F238E27FC236}">
                <a16:creationId xmlns:a16="http://schemas.microsoft.com/office/drawing/2014/main" id="{F8324EBC-4531-DA3D-338F-E664665712CA}"/>
              </a:ext>
            </a:extLst>
          </p:cNvPr>
          <p:cNvGrpSpPr/>
          <p:nvPr/>
        </p:nvGrpSpPr>
        <p:grpSpPr>
          <a:xfrm>
            <a:off x="765557" y="0"/>
            <a:ext cx="4968240" cy="10287000"/>
            <a:chOff x="13716000" y="0"/>
            <a:chExt cx="4968240" cy="10287000"/>
          </a:xfrm>
        </p:grpSpPr>
        <p:sp>
          <p:nvSpPr>
            <p:cNvPr id="34" name="Freeform: Shape 33">
              <a:extLst>
                <a:ext uri="{FF2B5EF4-FFF2-40B4-BE49-F238E27FC236}">
                  <a16:creationId xmlns:a16="http://schemas.microsoft.com/office/drawing/2014/main" id="{9C2AC03B-7609-2A77-FCC6-02E850A35C7B}"/>
                </a:ext>
              </a:extLst>
            </p:cNvPr>
            <p:cNvSpPr/>
            <p:nvPr/>
          </p:nvSpPr>
          <p:spPr bwMode="auto">
            <a:xfrm>
              <a:off x="13716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684020 h 10287000"/>
                <a:gd name="connsiteX3" fmla="*/ 4968240 w 4968240"/>
                <a:gd name="connsiteY3" fmla="*/ 2244090 h 10287000"/>
                <a:gd name="connsiteX4" fmla="*/ 4572000 w 4968240"/>
                <a:gd name="connsiteY4" fmla="*/ 280416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684020"/>
                  </a:lnTo>
                  <a:lnTo>
                    <a:pt x="4968240" y="2244090"/>
                  </a:lnTo>
                  <a:lnTo>
                    <a:pt x="4572000" y="2804160"/>
                  </a:lnTo>
                  <a:lnTo>
                    <a:pt x="4572000" y="10287000"/>
                  </a:lnTo>
                  <a:lnTo>
                    <a:pt x="0" y="10287000"/>
                  </a:lnTo>
                  <a:close/>
                </a:path>
              </a:pathLst>
            </a:custGeom>
            <a:solidFill>
              <a:schemeClr val="accent5">
                <a:lumMod val="5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E38BC2D7-010A-E119-DD1F-CBBC95EB4F6B}"/>
                </a:ext>
              </a:extLst>
            </p:cNvPr>
            <p:cNvSpPr txBox="1"/>
            <p:nvPr/>
          </p:nvSpPr>
          <p:spPr>
            <a:xfrm>
              <a:off x="15051803"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D</a:t>
              </a:r>
            </a:p>
          </p:txBody>
        </p:sp>
        <p:sp>
          <p:nvSpPr>
            <p:cNvPr id="47" name="TextBox 46">
              <a:extLst>
                <a:ext uri="{FF2B5EF4-FFF2-40B4-BE49-F238E27FC236}">
                  <a16:creationId xmlns:a16="http://schemas.microsoft.com/office/drawing/2014/main" id="{9919C57D-D24F-3E33-3556-A9536AF0BCD1}"/>
                </a:ext>
              </a:extLst>
            </p:cNvPr>
            <p:cNvSpPr txBox="1"/>
            <p:nvPr/>
          </p:nvSpPr>
          <p:spPr>
            <a:xfrm>
              <a:off x="14189793" y="3414966"/>
              <a:ext cx="3795562" cy="1231106"/>
            </a:xfrm>
            <a:prstGeom prst="rect">
              <a:avLst/>
            </a:prstGeom>
            <a:noFill/>
          </p:spPr>
          <p:txBody>
            <a:bodyPr wrap="square" lIns="0" tIns="0" rIns="0" bIns="0" rtlCol="0">
              <a:spAutoFit/>
            </a:bodyPr>
            <a:lstStyle/>
            <a:p>
              <a:pPr algn="ctr"/>
              <a:r>
                <a:rPr lang="en-US" sz="4000" dirty="0">
                  <a:solidFill>
                    <a:srgbClr val="FFB900"/>
                  </a:solidFill>
                  <a:latin typeface="+mj-lt"/>
                  <a:cs typeface="MoolBoran" panose="020B0100010101010101" pitchFamily="34" charset="0"/>
                </a:rPr>
                <a:t>Modernize</a:t>
              </a:r>
              <a:r>
                <a:rPr lang="en-US" sz="4000" dirty="0">
                  <a:solidFill>
                    <a:srgbClr val="FFB900"/>
                  </a:solidFill>
                  <a:latin typeface="MoolBoran" panose="020B0100010101010101" pitchFamily="34" charset="0"/>
                  <a:cs typeface="MoolBoran" panose="020B0100010101010101" pitchFamily="34" charset="0"/>
                </a:rPr>
                <a:t> </a:t>
              </a:r>
              <a:r>
                <a:rPr lang="en-US" sz="4000" dirty="0">
                  <a:solidFill>
                    <a:srgbClr val="FFB900"/>
                  </a:solidFill>
                  <a:latin typeface="+mj-lt"/>
                  <a:cs typeface="MoolBoran" panose="020B0100010101010101" pitchFamily="34" charset="0"/>
                </a:rPr>
                <a:t>Apps &amp; Database</a:t>
              </a:r>
            </a:p>
          </p:txBody>
        </p:sp>
        <p:sp>
          <p:nvSpPr>
            <p:cNvPr id="48" name="TextBox 47">
              <a:extLst>
                <a:ext uri="{FF2B5EF4-FFF2-40B4-BE49-F238E27FC236}">
                  <a16:creationId xmlns:a16="http://schemas.microsoft.com/office/drawing/2014/main" id="{BFC3E1E0-433F-8551-0E1E-E349A53581B0}"/>
                </a:ext>
              </a:extLst>
            </p:cNvPr>
            <p:cNvSpPr txBox="1"/>
            <p:nvPr/>
          </p:nvSpPr>
          <p:spPr>
            <a:xfrm>
              <a:off x="14189793" y="5202934"/>
              <a:ext cx="3795562" cy="2585323"/>
            </a:xfrm>
            <a:prstGeom prst="rect">
              <a:avLst/>
            </a:prstGeom>
            <a:noFill/>
          </p:spPr>
          <p:txBody>
            <a:bodyPr wrap="square" lIns="0" tIns="0" rIns="0" bIns="0" rtlCol="0">
              <a:spAutoFit/>
            </a:bodyPr>
            <a:lstStyle/>
            <a:p>
              <a:pPr algn="ctr"/>
              <a:r>
                <a:rPr lang="en-US" sz="2800" dirty="0"/>
                <a:t>Allows businesses to </a:t>
              </a:r>
              <a:r>
                <a:rPr lang="en-US" sz="2800" b="1" dirty="0"/>
                <a:t>modernize applications and databases</a:t>
              </a:r>
              <a:r>
                <a:rPr lang="en-US" sz="2800" dirty="0"/>
                <a:t>, unlocking </a:t>
              </a:r>
              <a:r>
                <a:rPr lang="en-US" sz="2800" b="1" dirty="0"/>
                <a:t>AI, analytics, and automation</a:t>
              </a:r>
              <a:r>
                <a:rPr lang="en-US" sz="2800" dirty="0"/>
                <a:t> capabilities </a:t>
              </a:r>
            </a:p>
          </p:txBody>
        </p:sp>
        <p:pic>
          <p:nvPicPr>
            <p:cNvPr id="56" name="Graphic 55" descr="Inbox Check outline">
              <a:extLst>
                <a:ext uri="{FF2B5EF4-FFF2-40B4-BE49-F238E27FC236}">
                  <a16:creationId xmlns:a16="http://schemas.microsoft.com/office/drawing/2014/main" id="{9B763ABA-74D2-F513-083D-7648BC312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20417" y="8257983"/>
              <a:ext cx="914400" cy="914400"/>
            </a:xfrm>
            <a:prstGeom prst="rect">
              <a:avLst/>
            </a:prstGeom>
          </p:spPr>
        </p:pic>
      </p:grpSp>
      <p:grpSp>
        <p:nvGrpSpPr>
          <p:cNvPr id="59" name="Group 58">
            <a:extLst>
              <a:ext uri="{FF2B5EF4-FFF2-40B4-BE49-F238E27FC236}">
                <a16:creationId xmlns:a16="http://schemas.microsoft.com/office/drawing/2014/main" id="{CC0E1E48-1865-163A-B429-C9A32F4983E1}"/>
              </a:ext>
            </a:extLst>
          </p:cNvPr>
          <p:cNvGrpSpPr/>
          <p:nvPr/>
        </p:nvGrpSpPr>
        <p:grpSpPr>
          <a:xfrm>
            <a:off x="510373" y="0"/>
            <a:ext cx="4968240" cy="10287000"/>
            <a:chOff x="9144000" y="0"/>
            <a:chExt cx="4968240" cy="10287000"/>
          </a:xfrm>
        </p:grpSpPr>
        <p:sp>
          <p:nvSpPr>
            <p:cNvPr id="33" name="Freeform: Shape 32">
              <a:extLst>
                <a:ext uri="{FF2B5EF4-FFF2-40B4-BE49-F238E27FC236}">
                  <a16:creationId xmlns:a16="http://schemas.microsoft.com/office/drawing/2014/main" id="{25E736B7-2E01-DDC3-EB95-32514E6EBF15}"/>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96348917-7737-3485-958B-8E97FF301186}"/>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C</a:t>
              </a:r>
            </a:p>
          </p:txBody>
        </p:sp>
        <p:sp>
          <p:nvSpPr>
            <p:cNvPr id="45" name="TextBox 44">
              <a:extLst>
                <a:ext uri="{FF2B5EF4-FFF2-40B4-BE49-F238E27FC236}">
                  <a16:creationId xmlns:a16="http://schemas.microsoft.com/office/drawing/2014/main" id="{60C4A420-BBB2-584D-28D9-8968D3B38815}"/>
                </a:ext>
              </a:extLst>
            </p:cNvPr>
            <p:cNvSpPr txBox="1"/>
            <p:nvPr/>
          </p:nvSpPr>
          <p:spPr>
            <a:xfrm>
              <a:off x="9446646" y="3465821"/>
              <a:ext cx="3795562" cy="1231106"/>
            </a:xfrm>
            <a:prstGeom prst="rect">
              <a:avLst/>
            </a:prstGeom>
            <a:noFill/>
          </p:spPr>
          <p:txBody>
            <a:bodyPr wrap="square" lIns="0" tIns="0" rIns="0" bIns="0" rtlCol="0">
              <a:spAutoFit/>
            </a:bodyPr>
            <a:lstStyle/>
            <a:p>
              <a:pPr algn="ctr"/>
              <a:r>
                <a:rPr lang="en-US" sz="4000" dirty="0">
                  <a:latin typeface="+mj-lt"/>
                  <a:cs typeface="MoolBoran" panose="020B0100010101010101" pitchFamily="34" charset="0"/>
                </a:rPr>
                <a:t>Security</a:t>
              </a:r>
              <a:r>
                <a:rPr lang="en-US" sz="4000" dirty="0">
                  <a:latin typeface="MoolBoran" panose="020B0100010101010101" pitchFamily="34" charset="0"/>
                  <a:cs typeface="MoolBoran" panose="020B0100010101010101" pitchFamily="34" charset="0"/>
                </a:rPr>
                <a:t> </a:t>
              </a:r>
              <a:r>
                <a:rPr lang="en-US" sz="4000" dirty="0">
                  <a:latin typeface="+mj-lt"/>
                  <a:cs typeface="MoolBoran" panose="020B0100010101010101" pitchFamily="34" charset="0"/>
                </a:rPr>
                <a:t>&amp; compliance</a:t>
              </a:r>
            </a:p>
          </p:txBody>
        </p:sp>
        <p:sp>
          <p:nvSpPr>
            <p:cNvPr id="46" name="TextBox 45">
              <a:extLst>
                <a:ext uri="{FF2B5EF4-FFF2-40B4-BE49-F238E27FC236}">
                  <a16:creationId xmlns:a16="http://schemas.microsoft.com/office/drawing/2014/main" id="{FDCBB135-BD7D-586C-3A35-5A80DB7E70CD}"/>
                </a:ext>
              </a:extLst>
            </p:cNvPr>
            <p:cNvSpPr txBox="1"/>
            <p:nvPr/>
          </p:nvSpPr>
          <p:spPr>
            <a:xfrm>
              <a:off x="9446646" y="5203146"/>
              <a:ext cx="4044262" cy="2585323"/>
            </a:xfrm>
            <a:prstGeom prst="rect">
              <a:avLst/>
            </a:prstGeom>
            <a:noFill/>
          </p:spPr>
          <p:txBody>
            <a:bodyPr wrap="square" lIns="0" tIns="0" rIns="0" bIns="0" rtlCol="0">
              <a:spAutoFit/>
            </a:bodyPr>
            <a:lstStyle/>
            <a:p>
              <a:pPr algn="ctr"/>
              <a:r>
                <a:rPr lang="en-US" sz="2800" dirty="0"/>
                <a:t>Azure ensures </a:t>
              </a:r>
              <a:r>
                <a:rPr lang="en-US" sz="2800" b="1" dirty="0"/>
                <a:t>enterprise-grade security &amp; compliance</a:t>
              </a:r>
              <a:r>
                <a:rPr lang="en-US" sz="2800" dirty="0"/>
                <a:t>, reducing the risks associated with outdated infrastructure</a:t>
              </a:r>
            </a:p>
          </p:txBody>
        </p:sp>
        <p:pic>
          <p:nvPicPr>
            <p:cNvPr id="54" name="Graphic 53" descr="Employee badge outline">
              <a:extLst>
                <a:ext uri="{FF2B5EF4-FFF2-40B4-BE49-F238E27FC236}">
                  <a16:creationId xmlns:a16="http://schemas.microsoft.com/office/drawing/2014/main" id="{0CFB4878-6428-DBEC-73CE-218C663D30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42C742DD-DD3D-67D2-85F6-FB311C7BD673}"/>
              </a:ext>
            </a:extLst>
          </p:cNvPr>
          <p:cNvGrpSpPr/>
          <p:nvPr/>
        </p:nvGrpSpPr>
        <p:grpSpPr>
          <a:xfrm>
            <a:off x="297716" y="0"/>
            <a:ext cx="4952198" cy="10287000"/>
            <a:chOff x="4572000" y="0"/>
            <a:chExt cx="4952198" cy="10287000"/>
          </a:xfrm>
        </p:grpSpPr>
        <p:sp>
          <p:nvSpPr>
            <p:cNvPr id="32" name="Freeform: Shape 31">
              <a:extLst>
                <a:ext uri="{FF2B5EF4-FFF2-40B4-BE49-F238E27FC236}">
                  <a16:creationId xmlns:a16="http://schemas.microsoft.com/office/drawing/2014/main" id="{1376318C-37C4-8BAD-ADDF-4D3C8508FBA5}"/>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0A57E8E7-E308-A8DC-5FC0-75A0B95F3E95}"/>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B</a:t>
              </a:r>
            </a:p>
          </p:txBody>
        </p:sp>
        <p:sp>
          <p:nvSpPr>
            <p:cNvPr id="43" name="TextBox 42">
              <a:extLst>
                <a:ext uri="{FF2B5EF4-FFF2-40B4-BE49-F238E27FC236}">
                  <a16:creationId xmlns:a16="http://schemas.microsoft.com/office/drawing/2014/main" id="{C081C6D9-9FF3-BCB0-1FCE-ED6F5454C67A}"/>
                </a:ext>
              </a:extLst>
            </p:cNvPr>
            <p:cNvSpPr txBox="1"/>
            <p:nvPr/>
          </p:nvSpPr>
          <p:spPr>
            <a:xfrm>
              <a:off x="4779597" y="3121202"/>
              <a:ext cx="4193256" cy="1846659"/>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solidFill>
                    <a:srgbClr val="F4364C"/>
                  </a:solidFill>
                </a:rPr>
                <a:t>Built-in Cost Optimization tools</a:t>
              </a:r>
            </a:p>
          </p:txBody>
        </p:sp>
        <p:sp>
          <p:nvSpPr>
            <p:cNvPr id="44" name="TextBox 43">
              <a:extLst>
                <a:ext uri="{FF2B5EF4-FFF2-40B4-BE49-F238E27FC236}">
                  <a16:creationId xmlns:a16="http://schemas.microsoft.com/office/drawing/2014/main" id="{F73F5CB3-726F-7AF2-DAD7-D9040C98D60E}"/>
                </a:ext>
              </a:extLst>
            </p:cNvPr>
            <p:cNvSpPr txBox="1"/>
            <p:nvPr/>
          </p:nvSpPr>
          <p:spPr>
            <a:xfrm>
              <a:off x="4779597" y="567097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offers built-in </a:t>
              </a:r>
              <a:r>
                <a:rPr lang="en-US" sz="2800" b="1" dirty="0">
                  <a:solidFill>
                    <a:schemeClr val="accent6">
                      <a:lumMod val="25000"/>
                    </a:schemeClr>
                  </a:solidFill>
                </a:rPr>
                <a:t>cost optimization tools </a:t>
              </a:r>
              <a:r>
                <a:rPr lang="en-US" sz="2800" dirty="0">
                  <a:solidFill>
                    <a:schemeClr val="accent6">
                      <a:lumMod val="25000"/>
                    </a:schemeClr>
                  </a:solidFill>
                </a:rPr>
                <a:t>to help you save up to </a:t>
              </a:r>
              <a:r>
                <a:rPr lang="en-US" sz="2800" b="1" dirty="0">
                  <a:solidFill>
                    <a:schemeClr val="accent6">
                      <a:lumMod val="25000"/>
                    </a:schemeClr>
                  </a:solidFill>
                </a:rPr>
                <a:t>40% on </a:t>
              </a:r>
              <a:br>
                <a:rPr lang="en-US" sz="2800" b="1" dirty="0">
                  <a:solidFill>
                    <a:schemeClr val="accent6">
                      <a:lumMod val="25000"/>
                    </a:schemeClr>
                  </a:solidFill>
                </a:rPr>
              </a:br>
              <a:r>
                <a:rPr lang="en-US" sz="2800" b="1" dirty="0">
                  <a:solidFill>
                    <a:schemeClr val="accent6">
                      <a:lumMod val="25000"/>
                    </a:schemeClr>
                  </a:solidFill>
                </a:rPr>
                <a:t>infrastructure costs</a:t>
              </a:r>
            </a:p>
          </p:txBody>
        </p:sp>
        <p:pic>
          <p:nvPicPr>
            <p:cNvPr id="50" name="Graphic 49" descr="Board Of Directors outline">
              <a:extLst>
                <a:ext uri="{FF2B5EF4-FFF2-40B4-BE49-F238E27FC236}">
                  <a16:creationId xmlns:a16="http://schemas.microsoft.com/office/drawing/2014/main" id="{09A7CA73-F379-C59C-A9FA-A12C04EA27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AABC7793-EB26-1624-4E8F-E86C52F13071}"/>
              </a:ext>
            </a:extLst>
          </p:cNvPr>
          <p:cNvGrpSpPr/>
          <p:nvPr/>
        </p:nvGrpSpPr>
        <p:grpSpPr>
          <a:xfrm>
            <a:off x="0" y="0"/>
            <a:ext cx="4953000" cy="10287000"/>
            <a:chOff x="0" y="0"/>
            <a:chExt cx="4953000" cy="10287000"/>
          </a:xfrm>
        </p:grpSpPr>
        <p:sp>
          <p:nvSpPr>
            <p:cNvPr id="24" name="Freeform: Shape 23">
              <a:extLst>
                <a:ext uri="{FF2B5EF4-FFF2-40B4-BE49-F238E27FC236}">
                  <a16:creationId xmlns:a16="http://schemas.microsoft.com/office/drawing/2014/main" id="{5A8AAA92-8966-5686-67A2-AFC96F2873BB}"/>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91B15249-D01D-06DA-7B9A-1DA846A2188F}"/>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A</a:t>
              </a:r>
            </a:p>
          </p:txBody>
        </p:sp>
        <p:sp>
          <p:nvSpPr>
            <p:cNvPr id="40" name="TextBox 39">
              <a:extLst>
                <a:ext uri="{FF2B5EF4-FFF2-40B4-BE49-F238E27FC236}">
                  <a16:creationId xmlns:a16="http://schemas.microsoft.com/office/drawing/2014/main" id="{8FDB3F69-E5AB-8927-E302-3FB7ACFEE9D0}"/>
                </a:ext>
              </a:extLst>
            </p:cNvPr>
            <p:cNvSpPr txBox="1"/>
            <p:nvPr/>
          </p:nvSpPr>
          <p:spPr>
            <a:xfrm>
              <a:off x="388219" y="3307365"/>
              <a:ext cx="3795562" cy="1231106"/>
            </a:xfrm>
            <a:prstGeom prst="rect">
              <a:avLst/>
            </a:prstGeom>
            <a:noFill/>
          </p:spPr>
          <p:txBody>
            <a:bodyPr wrap="square" lIns="0" tIns="0" rIns="0" bIns="0" rtlCol="0">
              <a:spAutoFit/>
            </a:bodyPr>
            <a:lstStyle/>
            <a:p>
              <a:pPr algn="ctr"/>
              <a:r>
                <a:rPr lang="en-US" sz="4000" b="1" dirty="0">
                  <a:solidFill>
                    <a:srgbClr val="091F2C"/>
                  </a:solidFill>
                  <a:latin typeface="+mj-lt"/>
                  <a:cs typeface="MoolBoran" panose="020B0100010101010101" pitchFamily="34" charset="0"/>
                </a:rPr>
                <a:t>Migration Approach</a:t>
              </a:r>
            </a:p>
          </p:txBody>
        </p:sp>
        <p:sp>
          <p:nvSpPr>
            <p:cNvPr id="42" name="TextBox 41">
              <a:extLst>
                <a:ext uri="{FF2B5EF4-FFF2-40B4-BE49-F238E27FC236}">
                  <a16:creationId xmlns:a16="http://schemas.microsoft.com/office/drawing/2014/main" id="{3784C320-AEB5-BD89-3113-3A1F27C7D6A6}"/>
                </a:ext>
              </a:extLst>
            </p:cNvPr>
            <p:cNvSpPr txBox="1"/>
            <p:nvPr/>
          </p:nvSpPr>
          <p:spPr>
            <a:xfrm>
              <a:off x="388219" y="571350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Provides a </a:t>
              </a:r>
              <a:r>
                <a:rPr lang="en-US" sz="2800" b="1" dirty="0">
                  <a:solidFill>
                    <a:schemeClr val="accent6">
                      <a:lumMod val="25000"/>
                    </a:schemeClr>
                  </a:solidFill>
                </a:rPr>
                <a:t>step-by-step, structured migration approach</a:t>
              </a:r>
              <a:r>
                <a:rPr lang="en-US" sz="2800" dirty="0">
                  <a:solidFill>
                    <a:schemeClr val="accent6">
                      <a:lumMod val="25000"/>
                    </a:schemeClr>
                  </a:solidFill>
                </a:rPr>
                <a:t>, so you don’t have to worry about disruptions</a:t>
              </a:r>
              <a:endParaRPr lang="en-US" sz="2800" dirty="0">
                <a:solidFill>
                  <a:schemeClr val="accent6">
                    <a:lumMod val="25000"/>
                  </a:schemeClr>
                </a:solidFill>
                <a:latin typeface="MoolBoran" panose="020B0100010101010101" pitchFamily="34" charset="0"/>
                <a:cs typeface="MoolBoran" panose="020B0100010101010101" pitchFamily="34" charset="0"/>
              </a:endParaRPr>
            </a:p>
          </p:txBody>
        </p:sp>
        <p:pic>
          <p:nvPicPr>
            <p:cNvPr id="52" name="Graphic 51" descr="Clipboard Partially Crossed outline">
              <a:extLst>
                <a:ext uri="{FF2B5EF4-FFF2-40B4-BE49-F238E27FC236}">
                  <a16:creationId xmlns:a16="http://schemas.microsoft.com/office/drawing/2014/main" id="{7335ED8B-93A8-4CE0-C72E-B051EBBD20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7579" y="8407983"/>
              <a:ext cx="914400" cy="914400"/>
            </a:xfrm>
            <a:prstGeom prst="rect">
              <a:avLst/>
            </a:prstGeom>
          </p:spPr>
        </p:pic>
      </p:grpSp>
      <p:sp>
        <p:nvSpPr>
          <p:cNvPr id="66" name="TextBox 65">
            <a:extLst>
              <a:ext uri="{FF2B5EF4-FFF2-40B4-BE49-F238E27FC236}">
                <a16:creationId xmlns:a16="http://schemas.microsoft.com/office/drawing/2014/main" id="{200DE804-C99F-0D3F-97A8-CA7AB2C3C81B}"/>
              </a:ext>
            </a:extLst>
          </p:cNvPr>
          <p:cNvSpPr txBox="1"/>
          <p:nvPr/>
        </p:nvSpPr>
        <p:spPr>
          <a:xfrm>
            <a:off x="5383099" y="3254984"/>
            <a:ext cx="13375758" cy="3077766"/>
          </a:xfrm>
          <a:prstGeom prst="rect">
            <a:avLst/>
          </a:prstGeom>
          <a:noFill/>
        </p:spPr>
        <p:txBody>
          <a:bodyPr wrap="square" lIns="0" tIns="0" rIns="0" bIns="0" rtlCol="0">
            <a:spAutoFit/>
          </a:bodyPr>
          <a:lstStyle/>
          <a:p>
            <a:pPr algn="ctr"/>
            <a:r>
              <a:rPr lang="en-US" sz="10000" b="1" dirty="0">
                <a:cs typeface="MoolBoran" panose="020B0100010101010101" pitchFamily="34" charset="0"/>
              </a:rPr>
              <a:t>Azure </a:t>
            </a:r>
            <a:r>
              <a:rPr lang="en-US" sz="10000" b="1" dirty="0">
                <a:solidFill>
                  <a:srgbClr val="FFB900"/>
                </a:solidFill>
                <a:cs typeface="MoolBoran" panose="020B0100010101010101" pitchFamily="34" charset="0"/>
              </a:rPr>
              <a:t>Migrate</a:t>
            </a:r>
            <a:br>
              <a:rPr lang="en-US" sz="10000" b="1" dirty="0">
                <a:cs typeface="MoolBoran" panose="020B0100010101010101" pitchFamily="34" charset="0"/>
              </a:rPr>
            </a:br>
            <a:r>
              <a:rPr lang="en-US" sz="10000" b="1" dirty="0">
                <a:cs typeface="MoolBoran" panose="020B0100010101010101" pitchFamily="34" charset="0"/>
              </a:rPr>
              <a:t> &amp; </a:t>
            </a:r>
            <a:r>
              <a:rPr lang="en-US" sz="10000" b="1" dirty="0">
                <a:solidFill>
                  <a:srgbClr val="091F2C"/>
                </a:solidFill>
                <a:cs typeface="MoolBoran" panose="020B0100010101010101" pitchFamily="34" charset="0"/>
              </a:rPr>
              <a:t>Modernize</a:t>
            </a:r>
            <a:endParaRPr lang="en-US" sz="100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3602462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p159:morph option="byObject"/>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5E688548-BF25-DE88-131E-1AFC09D709F7}"/>
            </a:ext>
          </a:extLst>
        </p:cNvPr>
        <p:cNvGrpSpPr/>
        <p:nvPr/>
      </p:nvGrpSpPr>
      <p:grpSpPr>
        <a:xfrm>
          <a:off x="0" y="0"/>
          <a:ext cx="0" cy="0"/>
          <a:chOff x="0" y="0"/>
          <a:chExt cx="0" cy="0"/>
        </a:xfrm>
      </p:grpSpPr>
      <p:grpSp>
        <p:nvGrpSpPr>
          <p:cNvPr id="60" name="Group 59">
            <a:extLst>
              <a:ext uri="{FF2B5EF4-FFF2-40B4-BE49-F238E27FC236}">
                <a16:creationId xmlns:a16="http://schemas.microsoft.com/office/drawing/2014/main" id="{50361242-D7CC-16FD-E4A3-152CAB0DA59E}"/>
              </a:ext>
            </a:extLst>
          </p:cNvPr>
          <p:cNvGrpSpPr/>
          <p:nvPr/>
        </p:nvGrpSpPr>
        <p:grpSpPr>
          <a:xfrm>
            <a:off x="4976045" y="0"/>
            <a:ext cx="4968240" cy="10287000"/>
            <a:chOff x="13716000" y="0"/>
            <a:chExt cx="4968240" cy="10287000"/>
          </a:xfrm>
        </p:grpSpPr>
        <p:sp>
          <p:nvSpPr>
            <p:cNvPr id="34" name="Freeform: Shape 33">
              <a:extLst>
                <a:ext uri="{FF2B5EF4-FFF2-40B4-BE49-F238E27FC236}">
                  <a16:creationId xmlns:a16="http://schemas.microsoft.com/office/drawing/2014/main" id="{9D31C299-1D13-B9D1-DF30-1BF2C26B0A85}"/>
                </a:ext>
              </a:extLst>
            </p:cNvPr>
            <p:cNvSpPr/>
            <p:nvPr/>
          </p:nvSpPr>
          <p:spPr bwMode="auto">
            <a:xfrm>
              <a:off x="13716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684020 h 10287000"/>
                <a:gd name="connsiteX3" fmla="*/ 4968240 w 4968240"/>
                <a:gd name="connsiteY3" fmla="*/ 2244090 h 10287000"/>
                <a:gd name="connsiteX4" fmla="*/ 4572000 w 4968240"/>
                <a:gd name="connsiteY4" fmla="*/ 280416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684020"/>
                  </a:lnTo>
                  <a:lnTo>
                    <a:pt x="4968240" y="2244090"/>
                  </a:lnTo>
                  <a:lnTo>
                    <a:pt x="4572000" y="2804160"/>
                  </a:lnTo>
                  <a:lnTo>
                    <a:pt x="4572000" y="10287000"/>
                  </a:lnTo>
                  <a:lnTo>
                    <a:pt x="0" y="10287000"/>
                  </a:lnTo>
                  <a:close/>
                </a:path>
              </a:pathLst>
            </a:custGeom>
            <a:solidFill>
              <a:schemeClr val="accent5">
                <a:lumMod val="5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83D3A4ED-A0A3-2F91-FBF3-E9F20C5D0A1A}"/>
                </a:ext>
              </a:extLst>
            </p:cNvPr>
            <p:cNvSpPr txBox="1"/>
            <p:nvPr/>
          </p:nvSpPr>
          <p:spPr>
            <a:xfrm>
              <a:off x="15051803"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D</a:t>
              </a:r>
            </a:p>
          </p:txBody>
        </p:sp>
        <p:sp>
          <p:nvSpPr>
            <p:cNvPr id="47" name="TextBox 46">
              <a:extLst>
                <a:ext uri="{FF2B5EF4-FFF2-40B4-BE49-F238E27FC236}">
                  <a16:creationId xmlns:a16="http://schemas.microsoft.com/office/drawing/2014/main" id="{005760AC-4E85-9196-EA1F-5E8E3E42BCA1}"/>
                </a:ext>
              </a:extLst>
            </p:cNvPr>
            <p:cNvSpPr txBox="1"/>
            <p:nvPr/>
          </p:nvSpPr>
          <p:spPr>
            <a:xfrm>
              <a:off x="14189793" y="3414966"/>
              <a:ext cx="3795562" cy="1231106"/>
            </a:xfrm>
            <a:prstGeom prst="rect">
              <a:avLst/>
            </a:prstGeom>
            <a:noFill/>
          </p:spPr>
          <p:txBody>
            <a:bodyPr wrap="square" lIns="0" tIns="0" rIns="0" bIns="0" rtlCol="0">
              <a:spAutoFit/>
            </a:bodyPr>
            <a:lstStyle/>
            <a:p>
              <a:pPr algn="ctr"/>
              <a:r>
                <a:rPr lang="en-US" sz="4000" dirty="0">
                  <a:solidFill>
                    <a:srgbClr val="FFB900"/>
                  </a:solidFill>
                  <a:latin typeface="+mj-lt"/>
                  <a:cs typeface="MoolBoran" panose="020B0100010101010101" pitchFamily="34" charset="0"/>
                </a:rPr>
                <a:t>Modernize</a:t>
              </a:r>
              <a:r>
                <a:rPr lang="en-US" sz="4000" dirty="0">
                  <a:solidFill>
                    <a:srgbClr val="FFB900"/>
                  </a:solidFill>
                  <a:latin typeface="MoolBoran" panose="020B0100010101010101" pitchFamily="34" charset="0"/>
                  <a:cs typeface="MoolBoran" panose="020B0100010101010101" pitchFamily="34" charset="0"/>
                </a:rPr>
                <a:t> </a:t>
              </a:r>
              <a:r>
                <a:rPr lang="en-US" sz="4000" dirty="0">
                  <a:solidFill>
                    <a:srgbClr val="FFB900"/>
                  </a:solidFill>
                  <a:latin typeface="+mj-lt"/>
                  <a:cs typeface="MoolBoran" panose="020B0100010101010101" pitchFamily="34" charset="0"/>
                </a:rPr>
                <a:t>Apps &amp; Database</a:t>
              </a:r>
            </a:p>
          </p:txBody>
        </p:sp>
        <p:sp>
          <p:nvSpPr>
            <p:cNvPr id="48" name="TextBox 47">
              <a:extLst>
                <a:ext uri="{FF2B5EF4-FFF2-40B4-BE49-F238E27FC236}">
                  <a16:creationId xmlns:a16="http://schemas.microsoft.com/office/drawing/2014/main" id="{61CE3E1D-3EF4-7D2B-A0CC-1F181E3A345A}"/>
                </a:ext>
              </a:extLst>
            </p:cNvPr>
            <p:cNvSpPr txBox="1"/>
            <p:nvPr/>
          </p:nvSpPr>
          <p:spPr>
            <a:xfrm>
              <a:off x="14189793" y="5202934"/>
              <a:ext cx="3795562" cy="2585323"/>
            </a:xfrm>
            <a:prstGeom prst="rect">
              <a:avLst/>
            </a:prstGeom>
            <a:noFill/>
          </p:spPr>
          <p:txBody>
            <a:bodyPr wrap="square" lIns="0" tIns="0" rIns="0" bIns="0" rtlCol="0">
              <a:spAutoFit/>
            </a:bodyPr>
            <a:lstStyle/>
            <a:p>
              <a:pPr algn="ctr"/>
              <a:r>
                <a:rPr lang="en-US" sz="2800" dirty="0"/>
                <a:t>Allows businesses to </a:t>
              </a:r>
              <a:r>
                <a:rPr lang="en-US" sz="2800" b="1" dirty="0"/>
                <a:t>modernize applications and databases</a:t>
              </a:r>
              <a:r>
                <a:rPr lang="en-US" sz="2800" dirty="0"/>
                <a:t>, unlocking </a:t>
              </a:r>
              <a:r>
                <a:rPr lang="en-US" sz="2800" b="1" dirty="0"/>
                <a:t>AI, analytics, and automation</a:t>
              </a:r>
              <a:r>
                <a:rPr lang="en-US" sz="2800" dirty="0"/>
                <a:t> capabilities </a:t>
              </a:r>
            </a:p>
          </p:txBody>
        </p:sp>
        <p:pic>
          <p:nvPicPr>
            <p:cNvPr id="56" name="Graphic 55" descr="Inbox Check outline">
              <a:extLst>
                <a:ext uri="{FF2B5EF4-FFF2-40B4-BE49-F238E27FC236}">
                  <a16:creationId xmlns:a16="http://schemas.microsoft.com/office/drawing/2014/main" id="{7AE7AFD6-7421-71C0-FE64-51CF43E43E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20417" y="8257983"/>
              <a:ext cx="914400" cy="914400"/>
            </a:xfrm>
            <a:prstGeom prst="rect">
              <a:avLst/>
            </a:prstGeom>
          </p:spPr>
        </p:pic>
      </p:grpSp>
      <p:grpSp>
        <p:nvGrpSpPr>
          <p:cNvPr id="59" name="Group 58">
            <a:extLst>
              <a:ext uri="{FF2B5EF4-FFF2-40B4-BE49-F238E27FC236}">
                <a16:creationId xmlns:a16="http://schemas.microsoft.com/office/drawing/2014/main" id="{8FEE4B45-CCA4-0394-C08A-BC6A5CD2FC5D}"/>
              </a:ext>
            </a:extLst>
          </p:cNvPr>
          <p:cNvGrpSpPr/>
          <p:nvPr/>
        </p:nvGrpSpPr>
        <p:grpSpPr>
          <a:xfrm>
            <a:off x="4742129" y="0"/>
            <a:ext cx="4968240" cy="10287000"/>
            <a:chOff x="9144000" y="0"/>
            <a:chExt cx="4968240" cy="10287000"/>
          </a:xfrm>
        </p:grpSpPr>
        <p:sp>
          <p:nvSpPr>
            <p:cNvPr id="33" name="Freeform: Shape 32">
              <a:extLst>
                <a:ext uri="{FF2B5EF4-FFF2-40B4-BE49-F238E27FC236}">
                  <a16:creationId xmlns:a16="http://schemas.microsoft.com/office/drawing/2014/main" id="{BE8A2C9B-D14C-0D41-97B4-416FB4B2D9DC}"/>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183B6E17-8832-B9D4-7D37-EA375A0B0B37}"/>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C</a:t>
              </a:r>
            </a:p>
          </p:txBody>
        </p:sp>
        <p:sp>
          <p:nvSpPr>
            <p:cNvPr id="45" name="TextBox 44">
              <a:extLst>
                <a:ext uri="{FF2B5EF4-FFF2-40B4-BE49-F238E27FC236}">
                  <a16:creationId xmlns:a16="http://schemas.microsoft.com/office/drawing/2014/main" id="{4A9384DA-6EEC-BC96-6736-313EDC98E98D}"/>
                </a:ext>
              </a:extLst>
            </p:cNvPr>
            <p:cNvSpPr txBox="1"/>
            <p:nvPr/>
          </p:nvSpPr>
          <p:spPr>
            <a:xfrm>
              <a:off x="9446646" y="3465821"/>
              <a:ext cx="3795562" cy="1231106"/>
            </a:xfrm>
            <a:prstGeom prst="rect">
              <a:avLst/>
            </a:prstGeom>
            <a:noFill/>
          </p:spPr>
          <p:txBody>
            <a:bodyPr wrap="square" lIns="0" tIns="0" rIns="0" bIns="0" rtlCol="0">
              <a:spAutoFit/>
            </a:bodyPr>
            <a:lstStyle/>
            <a:p>
              <a:pPr algn="ctr"/>
              <a:r>
                <a:rPr lang="en-US" sz="4000" dirty="0">
                  <a:latin typeface="+mj-lt"/>
                  <a:cs typeface="MoolBoran" panose="020B0100010101010101" pitchFamily="34" charset="0"/>
                </a:rPr>
                <a:t>Security</a:t>
              </a:r>
              <a:r>
                <a:rPr lang="en-US" sz="4000" dirty="0">
                  <a:latin typeface="MoolBoran" panose="020B0100010101010101" pitchFamily="34" charset="0"/>
                  <a:cs typeface="MoolBoran" panose="020B0100010101010101" pitchFamily="34" charset="0"/>
                </a:rPr>
                <a:t> </a:t>
              </a:r>
              <a:r>
                <a:rPr lang="en-US" sz="4000" dirty="0">
                  <a:latin typeface="+mj-lt"/>
                  <a:cs typeface="MoolBoran" panose="020B0100010101010101" pitchFamily="34" charset="0"/>
                </a:rPr>
                <a:t>&amp; compliance</a:t>
              </a:r>
            </a:p>
          </p:txBody>
        </p:sp>
        <p:sp>
          <p:nvSpPr>
            <p:cNvPr id="46" name="TextBox 45">
              <a:extLst>
                <a:ext uri="{FF2B5EF4-FFF2-40B4-BE49-F238E27FC236}">
                  <a16:creationId xmlns:a16="http://schemas.microsoft.com/office/drawing/2014/main" id="{277C3DEF-F335-6209-1374-BE189741504B}"/>
                </a:ext>
              </a:extLst>
            </p:cNvPr>
            <p:cNvSpPr txBox="1"/>
            <p:nvPr/>
          </p:nvSpPr>
          <p:spPr>
            <a:xfrm>
              <a:off x="9446646" y="5203146"/>
              <a:ext cx="4044262" cy="2585323"/>
            </a:xfrm>
            <a:prstGeom prst="rect">
              <a:avLst/>
            </a:prstGeom>
            <a:noFill/>
          </p:spPr>
          <p:txBody>
            <a:bodyPr wrap="square" lIns="0" tIns="0" rIns="0" bIns="0" rtlCol="0">
              <a:spAutoFit/>
            </a:bodyPr>
            <a:lstStyle/>
            <a:p>
              <a:pPr algn="ctr"/>
              <a:r>
                <a:rPr lang="en-US" sz="2800" dirty="0"/>
                <a:t>Azure ensures </a:t>
              </a:r>
              <a:r>
                <a:rPr lang="en-US" sz="2800" b="1" dirty="0"/>
                <a:t>enterprise-grade security &amp; compliance</a:t>
              </a:r>
              <a:r>
                <a:rPr lang="en-US" sz="2800" dirty="0"/>
                <a:t>, reducing the risks associated with outdated infrastructure</a:t>
              </a:r>
            </a:p>
          </p:txBody>
        </p:sp>
        <p:pic>
          <p:nvPicPr>
            <p:cNvPr id="54" name="Graphic 53" descr="Employee badge outline">
              <a:extLst>
                <a:ext uri="{FF2B5EF4-FFF2-40B4-BE49-F238E27FC236}">
                  <a16:creationId xmlns:a16="http://schemas.microsoft.com/office/drawing/2014/main" id="{F1A79AD5-4639-B0F4-111D-0B6FC73929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85A5BD96-84A4-E1C5-B690-CE684FBB5FCC}"/>
              </a:ext>
            </a:extLst>
          </p:cNvPr>
          <p:cNvGrpSpPr/>
          <p:nvPr/>
        </p:nvGrpSpPr>
        <p:grpSpPr>
          <a:xfrm>
            <a:off x="4593262" y="0"/>
            <a:ext cx="4952198" cy="10287000"/>
            <a:chOff x="4572000" y="0"/>
            <a:chExt cx="4952198" cy="10287000"/>
          </a:xfrm>
        </p:grpSpPr>
        <p:sp>
          <p:nvSpPr>
            <p:cNvPr id="32" name="Freeform: Shape 31">
              <a:extLst>
                <a:ext uri="{FF2B5EF4-FFF2-40B4-BE49-F238E27FC236}">
                  <a16:creationId xmlns:a16="http://schemas.microsoft.com/office/drawing/2014/main" id="{8F939953-B895-7370-D92C-5E390462FF68}"/>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387D5465-9C86-D1A9-8534-DBC8444AC386}"/>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B</a:t>
              </a:r>
            </a:p>
          </p:txBody>
        </p:sp>
        <p:sp>
          <p:nvSpPr>
            <p:cNvPr id="43" name="TextBox 42">
              <a:extLst>
                <a:ext uri="{FF2B5EF4-FFF2-40B4-BE49-F238E27FC236}">
                  <a16:creationId xmlns:a16="http://schemas.microsoft.com/office/drawing/2014/main" id="{F4E9A5A6-FB76-936E-D226-612B26E583FE}"/>
                </a:ext>
              </a:extLst>
            </p:cNvPr>
            <p:cNvSpPr txBox="1"/>
            <p:nvPr/>
          </p:nvSpPr>
          <p:spPr>
            <a:xfrm>
              <a:off x="4779597" y="3121202"/>
              <a:ext cx="4193256" cy="1846659"/>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solidFill>
                    <a:srgbClr val="F4364C"/>
                  </a:solidFill>
                </a:rPr>
                <a:t>Built-in Cost Optimization tools</a:t>
              </a:r>
            </a:p>
          </p:txBody>
        </p:sp>
        <p:sp>
          <p:nvSpPr>
            <p:cNvPr id="44" name="TextBox 43">
              <a:extLst>
                <a:ext uri="{FF2B5EF4-FFF2-40B4-BE49-F238E27FC236}">
                  <a16:creationId xmlns:a16="http://schemas.microsoft.com/office/drawing/2014/main" id="{518D322B-515E-6451-04D2-C3F3B5429B98}"/>
                </a:ext>
              </a:extLst>
            </p:cNvPr>
            <p:cNvSpPr txBox="1"/>
            <p:nvPr/>
          </p:nvSpPr>
          <p:spPr>
            <a:xfrm>
              <a:off x="4779597" y="567097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offers built-in </a:t>
              </a:r>
              <a:r>
                <a:rPr lang="en-US" sz="2800" b="1" dirty="0">
                  <a:solidFill>
                    <a:schemeClr val="accent6">
                      <a:lumMod val="25000"/>
                    </a:schemeClr>
                  </a:solidFill>
                </a:rPr>
                <a:t>cost optimization tools </a:t>
              </a:r>
              <a:r>
                <a:rPr lang="en-US" sz="2800" dirty="0">
                  <a:solidFill>
                    <a:schemeClr val="accent6">
                      <a:lumMod val="25000"/>
                    </a:schemeClr>
                  </a:solidFill>
                </a:rPr>
                <a:t>to help you save up to </a:t>
              </a:r>
              <a:r>
                <a:rPr lang="en-US" sz="2800" b="1" dirty="0">
                  <a:solidFill>
                    <a:schemeClr val="accent6">
                      <a:lumMod val="25000"/>
                    </a:schemeClr>
                  </a:solidFill>
                </a:rPr>
                <a:t>40% on </a:t>
              </a:r>
              <a:br>
                <a:rPr lang="en-US" sz="2800" b="1" dirty="0">
                  <a:solidFill>
                    <a:schemeClr val="accent6">
                      <a:lumMod val="25000"/>
                    </a:schemeClr>
                  </a:solidFill>
                </a:rPr>
              </a:br>
              <a:r>
                <a:rPr lang="en-US" sz="2800" b="1" dirty="0">
                  <a:solidFill>
                    <a:schemeClr val="accent6">
                      <a:lumMod val="25000"/>
                    </a:schemeClr>
                  </a:solidFill>
                </a:rPr>
                <a:t>infrastructure costs</a:t>
              </a:r>
            </a:p>
          </p:txBody>
        </p:sp>
        <p:pic>
          <p:nvPicPr>
            <p:cNvPr id="50" name="Graphic 49" descr="Board Of Directors outline">
              <a:extLst>
                <a:ext uri="{FF2B5EF4-FFF2-40B4-BE49-F238E27FC236}">
                  <a16:creationId xmlns:a16="http://schemas.microsoft.com/office/drawing/2014/main" id="{0D0984AA-B27A-83BC-272B-14A5C10AB1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88D11C95-EF49-B151-4E66-B94DB9D395DC}"/>
              </a:ext>
            </a:extLst>
          </p:cNvPr>
          <p:cNvGrpSpPr/>
          <p:nvPr/>
        </p:nvGrpSpPr>
        <p:grpSpPr>
          <a:xfrm>
            <a:off x="0" y="0"/>
            <a:ext cx="4953000" cy="10287000"/>
            <a:chOff x="0" y="0"/>
            <a:chExt cx="4953000" cy="10287000"/>
          </a:xfrm>
        </p:grpSpPr>
        <p:sp>
          <p:nvSpPr>
            <p:cNvPr id="24" name="Freeform: Shape 23">
              <a:extLst>
                <a:ext uri="{FF2B5EF4-FFF2-40B4-BE49-F238E27FC236}">
                  <a16:creationId xmlns:a16="http://schemas.microsoft.com/office/drawing/2014/main" id="{6994BC77-202C-86FB-E67C-A56AC64175CD}"/>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32C94324-9218-45C6-CEC5-F2E2528BF6FE}"/>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A</a:t>
              </a:r>
            </a:p>
          </p:txBody>
        </p:sp>
        <p:sp>
          <p:nvSpPr>
            <p:cNvPr id="40" name="TextBox 39">
              <a:extLst>
                <a:ext uri="{FF2B5EF4-FFF2-40B4-BE49-F238E27FC236}">
                  <a16:creationId xmlns:a16="http://schemas.microsoft.com/office/drawing/2014/main" id="{4D0F0EE9-3AC1-58F5-514C-67BEAE402A6F}"/>
                </a:ext>
              </a:extLst>
            </p:cNvPr>
            <p:cNvSpPr txBox="1"/>
            <p:nvPr/>
          </p:nvSpPr>
          <p:spPr>
            <a:xfrm>
              <a:off x="388219" y="3307365"/>
              <a:ext cx="3795562" cy="1231106"/>
            </a:xfrm>
            <a:prstGeom prst="rect">
              <a:avLst/>
            </a:prstGeom>
            <a:noFill/>
          </p:spPr>
          <p:txBody>
            <a:bodyPr wrap="square" lIns="0" tIns="0" rIns="0" bIns="0" rtlCol="0">
              <a:spAutoFit/>
            </a:bodyPr>
            <a:lstStyle/>
            <a:p>
              <a:pPr algn="ctr"/>
              <a:r>
                <a:rPr lang="en-US" sz="4000" b="1" dirty="0">
                  <a:solidFill>
                    <a:srgbClr val="091F2C"/>
                  </a:solidFill>
                  <a:latin typeface="+mj-lt"/>
                  <a:cs typeface="MoolBoran" panose="020B0100010101010101" pitchFamily="34" charset="0"/>
                </a:rPr>
                <a:t>Migration Approach</a:t>
              </a:r>
            </a:p>
          </p:txBody>
        </p:sp>
        <p:sp>
          <p:nvSpPr>
            <p:cNvPr id="42" name="TextBox 41">
              <a:extLst>
                <a:ext uri="{FF2B5EF4-FFF2-40B4-BE49-F238E27FC236}">
                  <a16:creationId xmlns:a16="http://schemas.microsoft.com/office/drawing/2014/main" id="{316B400E-CFAF-3ACD-8264-DE4974C762E9}"/>
                </a:ext>
              </a:extLst>
            </p:cNvPr>
            <p:cNvSpPr txBox="1"/>
            <p:nvPr/>
          </p:nvSpPr>
          <p:spPr>
            <a:xfrm>
              <a:off x="388219" y="571350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Provides a </a:t>
              </a:r>
              <a:r>
                <a:rPr lang="en-US" sz="2800" b="1" dirty="0">
                  <a:solidFill>
                    <a:schemeClr val="accent6">
                      <a:lumMod val="25000"/>
                    </a:schemeClr>
                  </a:solidFill>
                </a:rPr>
                <a:t>step-by-step, structured migration approach</a:t>
              </a:r>
              <a:r>
                <a:rPr lang="en-US" sz="2800" dirty="0">
                  <a:solidFill>
                    <a:schemeClr val="accent6">
                      <a:lumMod val="25000"/>
                    </a:schemeClr>
                  </a:solidFill>
                </a:rPr>
                <a:t>, so you don’t have to worry about disruptions</a:t>
              </a:r>
              <a:endParaRPr lang="en-US" sz="2800" dirty="0">
                <a:solidFill>
                  <a:schemeClr val="accent6">
                    <a:lumMod val="25000"/>
                  </a:schemeClr>
                </a:solidFill>
                <a:latin typeface="MoolBoran" panose="020B0100010101010101" pitchFamily="34" charset="0"/>
                <a:cs typeface="MoolBoran" panose="020B0100010101010101" pitchFamily="34" charset="0"/>
              </a:endParaRPr>
            </a:p>
          </p:txBody>
        </p:sp>
        <p:pic>
          <p:nvPicPr>
            <p:cNvPr id="52" name="Graphic 51" descr="Clipboard Partially Crossed outline">
              <a:extLst>
                <a:ext uri="{FF2B5EF4-FFF2-40B4-BE49-F238E27FC236}">
                  <a16:creationId xmlns:a16="http://schemas.microsoft.com/office/drawing/2014/main" id="{25B62239-5BC6-9AF0-2BAE-3263B6CE1A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7579" y="8407983"/>
              <a:ext cx="914400" cy="914400"/>
            </a:xfrm>
            <a:prstGeom prst="rect">
              <a:avLst/>
            </a:prstGeom>
          </p:spPr>
        </p:pic>
      </p:grpSp>
      <p:sp>
        <p:nvSpPr>
          <p:cNvPr id="66" name="TextBox 65">
            <a:extLst>
              <a:ext uri="{FF2B5EF4-FFF2-40B4-BE49-F238E27FC236}">
                <a16:creationId xmlns:a16="http://schemas.microsoft.com/office/drawing/2014/main" id="{63B46EED-C960-B09D-BB01-DC70E186B2E8}"/>
              </a:ext>
            </a:extLst>
          </p:cNvPr>
          <p:cNvSpPr txBox="1"/>
          <p:nvPr/>
        </p:nvSpPr>
        <p:spPr>
          <a:xfrm>
            <a:off x="6977981" y="3956730"/>
            <a:ext cx="13375758" cy="2462213"/>
          </a:xfrm>
          <a:prstGeom prst="rect">
            <a:avLst/>
          </a:prstGeom>
          <a:noFill/>
        </p:spPr>
        <p:txBody>
          <a:bodyPr wrap="square" lIns="0" tIns="0" rIns="0" bIns="0" rtlCol="0">
            <a:spAutoFit/>
          </a:bodyPr>
          <a:lstStyle/>
          <a:p>
            <a:pPr algn="ctr"/>
            <a:r>
              <a:rPr lang="en-US" sz="8000" b="1" dirty="0">
                <a:cs typeface="MoolBoran" panose="020B0100010101010101" pitchFamily="34" charset="0"/>
              </a:rPr>
              <a:t>Azure </a:t>
            </a:r>
            <a:r>
              <a:rPr lang="en-US" sz="8000" b="1" dirty="0">
                <a:solidFill>
                  <a:srgbClr val="FFB900"/>
                </a:solidFill>
                <a:cs typeface="MoolBoran" panose="020B0100010101010101" pitchFamily="34" charset="0"/>
              </a:rPr>
              <a:t>Migrate</a:t>
            </a:r>
            <a:br>
              <a:rPr lang="en-US" sz="8000" b="1" dirty="0">
                <a:cs typeface="MoolBoran" panose="020B0100010101010101" pitchFamily="34" charset="0"/>
              </a:rPr>
            </a:br>
            <a:r>
              <a:rPr lang="en-US" sz="8000" b="1" dirty="0">
                <a:cs typeface="MoolBoran" panose="020B0100010101010101" pitchFamily="34" charset="0"/>
              </a:rPr>
              <a:t> &amp; </a:t>
            </a:r>
            <a:r>
              <a:rPr lang="en-US" sz="8000" b="1" dirty="0">
                <a:solidFill>
                  <a:srgbClr val="091F2C"/>
                </a:solidFill>
                <a:cs typeface="MoolBoran" panose="020B0100010101010101" pitchFamily="34" charset="0"/>
              </a:rPr>
              <a:t>Modernize</a:t>
            </a:r>
            <a:endParaRPr lang="en-US" sz="80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1159263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p159:morph option="byObject"/>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EE33EA7C-369A-1D9C-E394-07CDA9B9561A}"/>
            </a:ext>
          </a:extLst>
        </p:cNvPr>
        <p:cNvGrpSpPr/>
        <p:nvPr/>
      </p:nvGrpSpPr>
      <p:grpSpPr>
        <a:xfrm>
          <a:off x="0" y="0"/>
          <a:ext cx="0" cy="0"/>
          <a:chOff x="0" y="0"/>
          <a:chExt cx="0" cy="0"/>
        </a:xfrm>
      </p:grpSpPr>
      <p:grpSp>
        <p:nvGrpSpPr>
          <p:cNvPr id="60" name="Group 59">
            <a:extLst>
              <a:ext uri="{FF2B5EF4-FFF2-40B4-BE49-F238E27FC236}">
                <a16:creationId xmlns:a16="http://schemas.microsoft.com/office/drawing/2014/main" id="{803D129A-BFB7-E44E-22F4-7E1D81EADF40}"/>
              </a:ext>
            </a:extLst>
          </p:cNvPr>
          <p:cNvGrpSpPr/>
          <p:nvPr/>
        </p:nvGrpSpPr>
        <p:grpSpPr>
          <a:xfrm>
            <a:off x="9420451" y="0"/>
            <a:ext cx="4968240" cy="10287000"/>
            <a:chOff x="13716000" y="0"/>
            <a:chExt cx="4968240" cy="10287000"/>
          </a:xfrm>
        </p:grpSpPr>
        <p:sp>
          <p:nvSpPr>
            <p:cNvPr id="34" name="Freeform: Shape 33">
              <a:extLst>
                <a:ext uri="{FF2B5EF4-FFF2-40B4-BE49-F238E27FC236}">
                  <a16:creationId xmlns:a16="http://schemas.microsoft.com/office/drawing/2014/main" id="{5B925691-6DBD-869C-031E-E113D0DAB8AE}"/>
                </a:ext>
              </a:extLst>
            </p:cNvPr>
            <p:cNvSpPr/>
            <p:nvPr/>
          </p:nvSpPr>
          <p:spPr bwMode="auto">
            <a:xfrm>
              <a:off x="13716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684020 h 10287000"/>
                <a:gd name="connsiteX3" fmla="*/ 4968240 w 4968240"/>
                <a:gd name="connsiteY3" fmla="*/ 2244090 h 10287000"/>
                <a:gd name="connsiteX4" fmla="*/ 4572000 w 4968240"/>
                <a:gd name="connsiteY4" fmla="*/ 280416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684020"/>
                  </a:lnTo>
                  <a:lnTo>
                    <a:pt x="4968240" y="2244090"/>
                  </a:lnTo>
                  <a:lnTo>
                    <a:pt x="4572000" y="2804160"/>
                  </a:lnTo>
                  <a:lnTo>
                    <a:pt x="4572000" y="10287000"/>
                  </a:lnTo>
                  <a:lnTo>
                    <a:pt x="0" y="10287000"/>
                  </a:lnTo>
                  <a:close/>
                </a:path>
              </a:pathLst>
            </a:custGeom>
            <a:solidFill>
              <a:schemeClr val="accent5">
                <a:lumMod val="5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28CB3367-6F82-EC9D-E0C6-5419E8826830}"/>
                </a:ext>
              </a:extLst>
            </p:cNvPr>
            <p:cNvSpPr txBox="1"/>
            <p:nvPr/>
          </p:nvSpPr>
          <p:spPr>
            <a:xfrm>
              <a:off x="15051803" y="1246485"/>
              <a:ext cx="2296633" cy="2769989"/>
            </a:xfrm>
            <a:prstGeom prst="rect">
              <a:avLst/>
            </a:prstGeom>
            <a:noFill/>
          </p:spPr>
          <p:txBody>
            <a:bodyPr wrap="square" lIns="0" tIns="0" rIns="0" bIns="0" rtlCol="0">
              <a:spAutoFit/>
            </a:bodyPr>
            <a:lstStyle/>
            <a:p>
              <a:pPr algn="ctr"/>
              <a:r>
                <a:rPr lang="en-US" sz="18000" dirty="0">
                  <a:latin typeface="MoolBoran" panose="020B0100010101010101" pitchFamily="34" charset="0"/>
                  <a:cs typeface="MoolBoran" panose="020B0100010101010101" pitchFamily="34" charset="0"/>
                </a:rPr>
                <a:t>D</a:t>
              </a:r>
            </a:p>
          </p:txBody>
        </p:sp>
        <p:sp>
          <p:nvSpPr>
            <p:cNvPr id="47" name="TextBox 46">
              <a:extLst>
                <a:ext uri="{FF2B5EF4-FFF2-40B4-BE49-F238E27FC236}">
                  <a16:creationId xmlns:a16="http://schemas.microsoft.com/office/drawing/2014/main" id="{1CCBFC47-0D17-F9CF-FAB4-7B58DDBB1415}"/>
                </a:ext>
              </a:extLst>
            </p:cNvPr>
            <p:cNvSpPr txBox="1"/>
            <p:nvPr/>
          </p:nvSpPr>
          <p:spPr>
            <a:xfrm>
              <a:off x="14189793" y="3414966"/>
              <a:ext cx="3795562" cy="1231106"/>
            </a:xfrm>
            <a:prstGeom prst="rect">
              <a:avLst/>
            </a:prstGeom>
            <a:noFill/>
          </p:spPr>
          <p:txBody>
            <a:bodyPr wrap="square" lIns="0" tIns="0" rIns="0" bIns="0" rtlCol="0">
              <a:spAutoFit/>
            </a:bodyPr>
            <a:lstStyle/>
            <a:p>
              <a:pPr algn="ctr"/>
              <a:r>
                <a:rPr lang="en-US" sz="4000" dirty="0">
                  <a:solidFill>
                    <a:srgbClr val="FFB900"/>
                  </a:solidFill>
                  <a:latin typeface="+mj-lt"/>
                  <a:cs typeface="MoolBoran" panose="020B0100010101010101" pitchFamily="34" charset="0"/>
                </a:rPr>
                <a:t>Modernize</a:t>
              </a:r>
              <a:r>
                <a:rPr lang="en-US" sz="4000" dirty="0">
                  <a:solidFill>
                    <a:srgbClr val="FFB900"/>
                  </a:solidFill>
                  <a:latin typeface="MoolBoran" panose="020B0100010101010101" pitchFamily="34" charset="0"/>
                  <a:cs typeface="MoolBoran" panose="020B0100010101010101" pitchFamily="34" charset="0"/>
                </a:rPr>
                <a:t> </a:t>
              </a:r>
              <a:r>
                <a:rPr lang="en-US" sz="4000" dirty="0">
                  <a:solidFill>
                    <a:srgbClr val="FFB900"/>
                  </a:solidFill>
                  <a:latin typeface="+mj-lt"/>
                  <a:cs typeface="MoolBoran" panose="020B0100010101010101" pitchFamily="34" charset="0"/>
                </a:rPr>
                <a:t>Apps &amp; Database</a:t>
              </a:r>
            </a:p>
          </p:txBody>
        </p:sp>
        <p:sp>
          <p:nvSpPr>
            <p:cNvPr id="48" name="TextBox 47">
              <a:extLst>
                <a:ext uri="{FF2B5EF4-FFF2-40B4-BE49-F238E27FC236}">
                  <a16:creationId xmlns:a16="http://schemas.microsoft.com/office/drawing/2014/main" id="{B161D54B-2263-AC4D-1B22-C195C2F91142}"/>
                </a:ext>
              </a:extLst>
            </p:cNvPr>
            <p:cNvSpPr txBox="1"/>
            <p:nvPr/>
          </p:nvSpPr>
          <p:spPr>
            <a:xfrm>
              <a:off x="14189793" y="5202934"/>
              <a:ext cx="3795562" cy="2585323"/>
            </a:xfrm>
            <a:prstGeom prst="rect">
              <a:avLst/>
            </a:prstGeom>
            <a:noFill/>
          </p:spPr>
          <p:txBody>
            <a:bodyPr wrap="square" lIns="0" tIns="0" rIns="0" bIns="0" rtlCol="0">
              <a:spAutoFit/>
            </a:bodyPr>
            <a:lstStyle/>
            <a:p>
              <a:pPr algn="ctr"/>
              <a:r>
                <a:rPr lang="en-US" sz="2800" dirty="0"/>
                <a:t>Allows businesses to </a:t>
              </a:r>
              <a:r>
                <a:rPr lang="en-US" sz="2800" b="1" dirty="0"/>
                <a:t>modernize applications and databases</a:t>
              </a:r>
              <a:r>
                <a:rPr lang="en-US" sz="2800" dirty="0"/>
                <a:t>, unlocking </a:t>
              </a:r>
              <a:r>
                <a:rPr lang="en-US" sz="2800" b="1" dirty="0"/>
                <a:t>AI, analytics, and automation</a:t>
              </a:r>
              <a:r>
                <a:rPr lang="en-US" sz="2800" dirty="0"/>
                <a:t> capabilities </a:t>
              </a:r>
            </a:p>
          </p:txBody>
        </p:sp>
        <p:pic>
          <p:nvPicPr>
            <p:cNvPr id="56" name="Graphic 55" descr="Inbox Check outline">
              <a:extLst>
                <a:ext uri="{FF2B5EF4-FFF2-40B4-BE49-F238E27FC236}">
                  <a16:creationId xmlns:a16="http://schemas.microsoft.com/office/drawing/2014/main" id="{8CBFEB53-37C5-F333-7C4F-1A6B04DC18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20417" y="8257983"/>
              <a:ext cx="914400" cy="914400"/>
            </a:xfrm>
            <a:prstGeom prst="rect">
              <a:avLst/>
            </a:prstGeom>
          </p:spPr>
        </p:pic>
      </p:grpSp>
      <p:grpSp>
        <p:nvGrpSpPr>
          <p:cNvPr id="59" name="Group 58">
            <a:extLst>
              <a:ext uri="{FF2B5EF4-FFF2-40B4-BE49-F238E27FC236}">
                <a16:creationId xmlns:a16="http://schemas.microsoft.com/office/drawing/2014/main" id="{A9E0CBFD-3AE3-CEAF-D32D-70B3888E54B7}"/>
              </a:ext>
            </a:extLst>
          </p:cNvPr>
          <p:cNvGrpSpPr/>
          <p:nvPr/>
        </p:nvGrpSpPr>
        <p:grpSpPr>
          <a:xfrm>
            <a:off x="9165269" y="0"/>
            <a:ext cx="4968240" cy="10287000"/>
            <a:chOff x="9144000" y="0"/>
            <a:chExt cx="4968240" cy="10287000"/>
          </a:xfrm>
        </p:grpSpPr>
        <p:sp>
          <p:nvSpPr>
            <p:cNvPr id="33" name="Freeform: Shape 32">
              <a:extLst>
                <a:ext uri="{FF2B5EF4-FFF2-40B4-BE49-F238E27FC236}">
                  <a16:creationId xmlns:a16="http://schemas.microsoft.com/office/drawing/2014/main" id="{AD49B31A-A8D7-0412-63AE-48655ADDB09B}"/>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F89160B1-AE48-D3D7-737A-14947CB80577}"/>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C</a:t>
              </a:r>
            </a:p>
          </p:txBody>
        </p:sp>
        <p:sp>
          <p:nvSpPr>
            <p:cNvPr id="45" name="TextBox 44">
              <a:extLst>
                <a:ext uri="{FF2B5EF4-FFF2-40B4-BE49-F238E27FC236}">
                  <a16:creationId xmlns:a16="http://schemas.microsoft.com/office/drawing/2014/main" id="{80B8B9BD-90B0-8F53-B0F8-94936464BADD}"/>
                </a:ext>
              </a:extLst>
            </p:cNvPr>
            <p:cNvSpPr txBox="1"/>
            <p:nvPr/>
          </p:nvSpPr>
          <p:spPr>
            <a:xfrm>
              <a:off x="9446646" y="3465821"/>
              <a:ext cx="3795562" cy="1231106"/>
            </a:xfrm>
            <a:prstGeom prst="rect">
              <a:avLst/>
            </a:prstGeom>
            <a:noFill/>
          </p:spPr>
          <p:txBody>
            <a:bodyPr wrap="square" lIns="0" tIns="0" rIns="0" bIns="0" rtlCol="0">
              <a:spAutoFit/>
            </a:bodyPr>
            <a:lstStyle/>
            <a:p>
              <a:pPr algn="ctr"/>
              <a:r>
                <a:rPr lang="en-US" sz="4000" dirty="0">
                  <a:latin typeface="+mj-lt"/>
                  <a:cs typeface="MoolBoran" panose="020B0100010101010101" pitchFamily="34" charset="0"/>
                </a:rPr>
                <a:t>Security</a:t>
              </a:r>
              <a:r>
                <a:rPr lang="en-US" sz="4000" dirty="0">
                  <a:latin typeface="MoolBoran" panose="020B0100010101010101" pitchFamily="34" charset="0"/>
                  <a:cs typeface="MoolBoran" panose="020B0100010101010101" pitchFamily="34" charset="0"/>
                </a:rPr>
                <a:t> </a:t>
              </a:r>
              <a:r>
                <a:rPr lang="en-US" sz="4000" dirty="0">
                  <a:latin typeface="+mj-lt"/>
                  <a:cs typeface="MoolBoran" panose="020B0100010101010101" pitchFamily="34" charset="0"/>
                </a:rPr>
                <a:t>&amp; compliance</a:t>
              </a:r>
            </a:p>
          </p:txBody>
        </p:sp>
        <p:sp>
          <p:nvSpPr>
            <p:cNvPr id="46" name="TextBox 45">
              <a:extLst>
                <a:ext uri="{FF2B5EF4-FFF2-40B4-BE49-F238E27FC236}">
                  <a16:creationId xmlns:a16="http://schemas.microsoft.com/office/drawing/2014/main" id="{4C221522-8224-CAB3-C667-75D2AA27CBA8}"/>
                </a:ext>
              </a:extLst>
            </p:cNvPr>
            <p:cNvSpPr txBox="1"/>
            <p:nvPr/>
          </p:nvSpPr>
          <p:spPr>
            <a:xfrm>
              <a:off x="9446646" y="5203146"/>
              <a:ext cx="4044262" cy="2585323"/>
            </a:xfrm>
            <a:prstGeom prst="rect">
              <a:avLst/>
            </a:prstGeom>
            <a:noFill/>
          </p:spPr>
          <p:txBody>
            <a:bodyPr wrap="square" lIns="0" tIns="0" rIns="0" bIns="0" rtlCol="0">
              <a:spAutoFit/>
            </a:bodyPr>
            <a:lstStyle/>
            <a:p>
              <a:pPr algn="ctr"/>
              <a:r>
                <a:rPr lang="en-US" sz="2800" dirty="0"/>
                <a:t>Azure ensures </a:t>
              </a:r>
              <a:r>
                <a:rPr lang="en-US" sz="2800" b="1" dirty="0"/>
                <a:t>enterprise-grade security &amp; compliance</a:t>
              </a:r>
              <a:r>
                <a:rPr lang="en-US" sz="2800" dirty="0"/>
                <a:t>, reducing the risks associated with outdated infrastructure</a:t>
              </a:r>
            </a:p>
          </p:txBody>
        </p:sp>
        <p:pic>
          <p:nvPicPr>
            <p:cNvPr id="54" name="Graphic 53" descr="Employee badge outline">
              <a:extLst>
                <a:ext uri="{FF2B5EF4-FFF2-40B4-BE49-F238E27FC236}">
                  <a16:creationId xmlns:a16="http://schemas.microsoft.com/office/drawing/2014/main" id="{57045F44-9632-3B72-C234-1B2B976032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AC61DBDB-05A3-B8E6-BE0F-0F1EB8BCC2B5}"/>
              </a:ext>
            </a:extLst>
          </p:cNvPr>
          <p:cNvGrpSpPr/>
          <p:nvPr/>
        </p:nvGrpSpPr>
        <p:grpSpPr>
          <a:xfrm>
            <a:off x="4614529" y="0"/>
            <a:ext cx="4952198" cy="10287000"/>
            <a:chOff x="4572000" y="0"/>
            <a:chExt cx="4952198" cy="10287000"/>
          </a:xfrm>
        </p:grpSpPr>
        <p:sp>
          <p:nvSpPr>
            <p:cNvPr id="32" name="Freeform: Shape 31">
              <a:extLst>
                <a:ext uri="{FF2B5EF4-FFF2-40B4-BE49-F238E27FC236}">
                  <a16:creationId xmlns:a16="http://schemas.microsoft.com/office/drawing/2014/main" id="{7377958B-7D5E-78B1-4183-4E6E2C65CCCA}"/>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86546221-52A7-5B55-62DB-7918F03A9075}"/>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B</a:t>
              </a:r>
            </a:p>
          </p:txBody>
        </p:sp>
        <p:sp>
          <p:nvSpPr>
            <p:cNvPr id="43" name="TextBox 42">
              <a:extLst>
                <a:ext uri="{FF2B5EF4-FFF2-40B4-BE49-F238E27FC236}">
                  <a16:creationId xmlns:a16="http://schemas.microsoft.com/office/drawing/2014/main" id="{0F8A844B-1451-BF82-B00E-9EEF6B353E90}"/>
                </a:ext>
              </a:extLst>
            </p:cNvPr>
            <p:cNvSpPr txBox="1"/>
            <p:nvPr/>
          </p:nvSpPr>
          <p:spPr>
            <a:xfrm>
              <a:off x="4779597" y="3121202"/>
              <a:ext cx="4193256" cy="1846659"/>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solidFill>
                    <a:srgbClr val="F4364C"/>
                  </a:solidFill>
                </a:rPr>
                <a:t>Built-in Cost Optimization tools</a:t>
              </a:r>
            </a:p>
          </p:txBody>
        </p:sp>
        <p:sp>
          <p:nvSpPr>
            <p:cNvPr id="44" name="TextBox 43">
              <a:extLst>
                <a:ext uri="{FF2B5EF4-FFF2-40B4-BE49-F238E27FC236}">
                  <a16:creationId xmlns:a16="http://schemas.microsoft.com/office/drawing/2014/main" id="{56A97B89-82E7-2074-F3BE-9B617D394CFD}"/>
                </a:ext>
              </a:extLst>
            </p:cNvPr>
            <p:cNvSpPr txBox="1"/>
            <p:nvPr/>
          </p:nvSpPr>
          <p:spPr>
            <a:xfrm>
              <a:off x="4779597" y="567097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offers built-in </a:t>
              </a:r>
              <a:r>
                <a:rPr lang="en-US" sz="2800" b="1" dirty="0">
                  <a:solidFill>
                    <a:schemeClr val="accent6">
                      <a:lumMod val="25000"/>
                    </a:schemeClr>
                  </a:solidFill>
                </a:rPr>
                <a:t>cost optimization tools </a:t>
              </a:r>
              <a:r>
                <a:rPr lang="en-US" sz="2800" dirty="0">
                  <a:solidFill>
                    <a:schemeClr val="accent6">
                      <a:lumMod val="25000"/>
                    </a:schemeClr>
                  </a:solidFill>
                </a:rPr>
                <a:t>to help you save up to </a:t>
              </a:r>
              <a:r>
                <a:rPr lang="en-US" sz="2800" b="1" dirty="0">
                  <a:solidFill>
                    <a:schemeClr val="accent6">
                      <a:lumMod val="25000"/>
                    </a:schemeClr>
                  </a:solidFill>
                </a:rPr>
                <a:t>40% on </a:t>
              </a:r>
              <a:br>
                <a:rPr lang="en-US" sz="2800" b="1" dirty="0">
                  <a:solidFill>
                    <a:schemeClr val="accent6">
                      <a:lumMod val="25000"/>
                    </a:schemeClr>
                  </a:solidFill>
                </a:rPr>
              </a:br>
              <a:r>
                <a:rPr lang="en-US" sz="2800" b="1" dirty="0">
                  <a:solidFill>
                    <a:schemeClr val="accent6">
                      <a:lumMod val="25000"/>
                    </a:schemeClr>
                  </a:solidFill>
                </a:rPr>
                <a:t>infrastructure costs</a:t>
              </a:r>
            </a:p>
          </p:txBody>
        </p:sp>
        <p:pic>
          <p:nvPicPr>
            <p:cNvPr id="50" name="Graphic 49" descr="Board Of Directors outline">
              <a:extLst>
                <a:ext uri="{FF2B5EF4-FFF2-40B4-BE49-F238E27FC236}">
                  <a16:creationId xmlns:a16="http://schemas.microsoft.com/office/drawing/2014/main" id="{D475B0D2-D9BC-E99B-A21E-B3A808824F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C126F9C9-440B-1C4B-B7E0-D4976A68D01B}"/>
              </a:ext>
            </a:extLst>
          </p:cNvPr>
          <p:cNvGrpSpPr/>
          <p:nvPr/>
        </p:nvGrpSpPr>
        <p:grpSpPr>
          <a:xfrm>
            <a:off x="0" y="0"/>
            <a:ext cx="4953000" cy="10287000"/>
            <a:chOff x="0" y="0"/>
            <a:chExt cx="4953000" cy="10287000"/>
          </a:xfrm>
        </p:grpSpPr>
        <p:sp>
          <p:nvSpPr>
            <p:cNvPr id="24" name="Freeform: Shape 23">
              <a:extLst>
                <a:ext uri="{FF2B5EF4-FFF2-40B4-BE49-F238E27FC236}">
                  <a16:creationId xmlns:a16="http://schemas.microsoft.com/office/drawing/2014/main" id="{3513F304-2443-3912-9658-4E0B1125FB71}"/>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42786D8E-892B-9ADB-CDB9-5BD3391E934C}"/>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A</a:t>
              </a:r>
            </a:p>
          </p:txBody>
        </p:sp>
        <p:sp>
          <p:nvSpPr>
            <p:cNvPr id="40" name="TextBox 39">
              <a:extLst>
                <a:ext uri="{FF2B5EF4-FFF2-40B4-BE49-F238E27FC236}">
                  <a16:creationId xmlns:a16="http://schemas.microsoft.com/office/drawing/2014/main" id="{1BFF4E49-E77C-713B-59EE-F5F46D045388}"/>
                </a:ext>
              </a:extLst>
            </p:cNvPr>
            <p:cNvSpPr txBox="1"/>
            <p:nvPr/>
          </p:nvSpPr>
          <p:spPr>
            <a:xfrm>
              <a:off x="388219" y="3307365"/>
              <a:ext cx="3795562" cy="1231106"/>
            </a:xfrm>
            <a:prstGeom prst="rect">
              <a:avLst/>
            </a:prstGeom>
            <a:noFill/>
          </p:spPr>
          <p:txBody>
            <a:bodyPr wrap="square" lIns="0" tIns="0" rIns="0" bIns="0" rtlCol="0">
              <a:spAutoFit/>
            </a:bodyPr>
            <a:lstStyle/>
            <a:p>
              <a:pPr algn="ctr"/>
              <a:r>
                <a:rPr lang="en-US" sz="4000" b="1" dirty="0">
                  <a:solidFill>
                    <a:srgbClr val="091F2C"/>
                  </a:solidFill>
                  <a:latin typeface="+mj-lt"/>
                  <a:cs typeface="MoolBoran" panose="020B0100010101010101" pitchFamily="34" charset="0"/>
                </a:rPr>
                <a:t>Migration Approach</a:t>
              </a:r>
            </a:p>
          </p:txBody>
        </p:sp>
        <p:sp>
          <p:nvSpPr>
            <p:cNvPr id="42" name="TextBox 41">
              <a:extLst>
                <a:ext uri="{FF2B5EF4-FFF2-40B4-BE49-F238E27FC236}">
                  <a16:creationId xmlns:a16="http://schemas.microsoft.com/office/drawing/2014/main" id="{9835BFAD-0F57-AE6F-B295-EE7A1D9BB6B5}"/>
                </a:ext>
              </a:extLst>
            </p:cNvPr>
            <p:cNvSpPr txBox="1"/>
            <p:nvPr/>
          </p:nvSpPr>
          <p:spPr>
            <a:xfrm>
              <a:off x="388219" y="571350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Provides a </a:t>
              </a:r>
              <a:r>
                <a:rPr lang="en-US" sz="2800" b="1" dirty="0">
                  <a:solidFill>
                    <a:schemeClr val="accent6">
                      <a:lumMod val="25000"/>
                    </a:schemeClr>
                  </a:solidFill>
                </a:rPr>
                <a:t>step-by-step, structured migration approach</a:t>
              </a:r>
              <a:r>
                <a:rPr lang="en-US" sz="2800" dirty="0">
                  <a:solidFill>
                    <a:schemeClr val="accent6">
                      <a:lumMod val="25000"/>
                    </a:schemeClr>
                  </a:solidFill>
                </a:rPr>
                <a:t>, so you don’t have to worry about disruptions</a:t>
              </a:r>
              <a:endParaRPr lang="en-US" sz="2800" dirty="0">
                <a:solidFill>
                  <a:schemeClr val="accent6">
                    <a:lumMod val="25000"/>
                  </a:schemeClr>
                </a:solidFill>
                <a:latin typeface="MoolBoran" panose="020B0100010101010101" pitchFamily="34" charset="0"/>
                <a:cs typeface="MoolBoran" panose="020B0100010101010101" pitchFamily="34" charset="0"/>
              </a:endParaRPr>
            </a:p>
          </p:txBody>
        </p:sp>
        <p:pic>
          <p:nvPicPr>
            <p:cNvPr id="52" name="Graphic 51" descr="Clipboard Partially Crossed outline">
              <a:extLst>
                <a:ext uri="{FF2B5EF4-FFF2-40B4-BE49-F238E27FC236}">
                  <a16:creationId xmlns:a16="http://schemas.microsoft.com/office/drawing/2014/main" id="{B3E9D535-2029-4EFC-084C-8D6643DAC1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7579" y="8407983"/>
              <a:ext cx="914400" cy="914400"/>
            </a:xfrm>
            <a:prstGeom prst="rect">
              <a:avLst/>
            </a:prstGeom>
          </p:spPr>
        </p:pic>
      </p:grpSp>
      <p:sp>
        <p:nvSpPr>
          <p:cNvPr id="66" name="TextBox 65">
            <a:extLst>
              <a:ext uri="{FF2B5EF4-FFF2-40B4-BE49-F238E27FC236}">
                <a16:creationId xmlns:a16="http://schemas.microsoft.com/office/drawing/2014/main" id="{77499B96-FE6A-3CD5-B9B2-93CCD30DD42E}"/>
              </a:ext>
            </a:extLst>
          </p:cNvPr>
          <p:cNvSpPr txBox="1"/>
          <p:nvPr/>
        </p:nvSpPr>
        <p:spPr>
          <a:xfrm>
            <a:off x="9633095" y="4360769"/>
            <a:ext cx="12889683" cy="1354217"/>
          </a:xfrm>
          <a:prstGeom prst="rect">
            <a:avLst/>
          </a:prstGeom>
          <a:noFill/>
        </p:spPr>
        <p:txBody>
          <a:bodyPr wrap="square" lIns="0" tIns="0" rIns="0" bIns="0" rtlCol="0">
            <a:spAutoFit/>
          </a:bodyPr>
          <a:lstStyle/>
          <a:p>
            <a:pPr algn="ctr"/>
            <a:r>
              <a:rPr lang="en-US" sz="4400" b="1" dirty="0">
                <a:cs typeface="MoolBoran" panose="020B0100010101010101" pitchFamily="34" charset="0"/>
              </a:rPr>
              <a:t>Azure </a:t>
            </a:r>
            <a:r>
              <a:rPr lang="en-US" sz="4400" b="1" dirty="0">
                <a:solidFill>
                  <a:srgbClr val="FFB900"/>
                </a:solidFill>
                <a:cs typeface="MoolBoran" panose="020B0100010101010101" pitchFamily="34" charset="0"/>
              </a:rPr>
              <a:t>Migrate</a:t>
            </a:r>
            <a:br>
              <a:rPr lang="en-US" sz="4400" b="1" dirty="0">
                <a:cs typeface="MoolBoran" panose="020B0100010101010101" pitchFamily="34" charset="0"/>
              </a:rPr>
            </a:br>
            <a:r>
              <a:rPr lang="en-US" sz="4400" b="1" dirty="0">
                <a:cs typeface="MoolBoran" panose="020B0100010101010101" pitchFamily="34" charset="0"/>
              </a:rPr>
              <a:t> &amp; </a:t>
            </a:r>
            <a:r>
              <a:rPr lang="en-US" sz="4400" b="1" dirty="0">
                <a:solidFill>
                  <a:srgbClr val="091F2C"/>
                </a:solidFill>
                <a:cs typeface="MoolBoran" panose="020B0100010101010101" pitchFamily="34" charset="0"/>
              </a:rPr>
              <a:t>Modernize</a:t>
            </a:r>
            <a:endParaRPr lang="en-US" sz="44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14441235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p159:morph option="byObject"/>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342E37DB-8735-4073-4FB8-9AC12AE86883}"/>
            </a:ext>
          </a:extLst>
        </p:cNvPr>
        <p:cNvGrpSpPr/>
        <p:nvPr/>
      </p:nvGrpSpPr>
      <p:grpSpPr>
        <a:xfrm>
          <a:off x="0" y="0"/>
          <a:ext cx="0" cy="0"/>
          <a:chOff x="0" y="0"/>
          <a:chExt cx="0" cy="0"/>
        </a:xfrm>
      </p:grpSpPr>
      <p:grpSp>
        <p:nvGrpSpPr>
          <p:cNvPr id="60" name="Group 59">
            <a:extLst>
              <a:ext uri="{FF2B5EF4-FFF2-40B4-BE49-F238E27FC236}">
                <a16:creationId xmlns:a16="http://schemas.microsoft.com/office/drawing/2014/main" id="{ED6C466C-16BD-333C-273A-D91AB0E2C90A}"/>
              </a:ext>
            </a:extLst>
          </p:cNvPr>
          <p:cNvGrpSpPr/>
          <p:nvPr/>
        </p:nvGrpSpPr>
        <p:grpSpPr>
          <a:xfrm>
            <a:off x="13694732" y="0"/>
            <a:ext cx="4968240" cy="10287000"/>
            <a:chOff x="13716000" y="0"/>
            <a:chExt cx="4968240" cy="10287000"/>
          </a:xfrm>
        </p:grpSpPr>
        <p:sp>
          <p:nvSpPr>
            <p:cNvPr id="34" name="Freeform: Shape 33">
              <a:extLst>
                <a:ext uri="{FF2B5EF4-FFF2-40B4-BE49-F238E27FC236}">
                  <a16:creationId xmlns:a16="http://schemas.microsoft.com/office/drawing/2014/main" id="{6C6FCCB5-40A9-B7CF-1A7F-C80F8ADFD83F}"/>
                </a:ext>
              </a:extLst>
            </p:cNvPr>
            <p:cNvSpPr/>
            <p:nvPr/>
          </p:nvSpPr>
          <p:spPr bwMode="auto">
            <a:xfrm>
              <a:off x="13716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684020 h 10287000"/>
                <a:gd name="connsiteX3" fmla="*/ 4968240 w 4968240"/>
                <a:gd name="connsiteY3" fmla="*/ 2244090 h 10287000"/>
                <a:gd name="connsiteX4" fmla="*/ 4572000 w 4968240"/>
                <a:gd name="connsiteY4" fmla="*/ 280416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684020"/>
                  </a:lnTo>
                  <a:lnTo>
                    <a:pt x="4968240" y="2244090"/>
                  </a:lnTo>
                  <a:lnTo>
                    <a:pt x="4572000" y="2804160"/>
                  </a:lnTo>
                  <a:lnTo>
                    <a:pt x="4572000" y="10287000"/>
                  </a:lnTo>
                  <a:lnTo>
                    <a:pt x="0" y="10287000"/>
                  </a:lnTo>
                  <a:close/>
                </a:path>
              </a:pathLst>
            </a:custGeom>
            <a:solidFill>
              <a:schemeClr val="accent5">
                <a:lumMod val="5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8" name="TextBox 37">
              <a:extLst>
                <a:ext uri="{FF2B5EF4-FFF2-40B4-BE49-F238E27FC236}">
                  <a16:creationId xmlns:a16="http://schemas.microsoft.com/office/drawing/2014/main" id="{0CC30797-8B1C-4A85-3CA3-523182AF3E5E}"/>
                </a:ext>
              </a:extLst>
            </p:cNvPr>
            <p:cNvSpPr txBox="1"/>
            <p:nvPr/>
          </p:nvSpPr>
          <p:spPr>
            <a:xfrm>
              <a:off x="15051803"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D</a:t>
              </a:r>
            </a:p>
          </p:txBody>
        </p:sp>
        <p:sp>
          <p:nvSpPr>
            <p:cNvPr id="47" name="TextBox 46">
              <a:extLst>
                <a:ext uri="{FF2B5EF4-FFF2-40B4-BE49-F238E27FC236}">
                  <a16:creationId xmlns:a16="http://schemas.microsoft.com/office/drawing/2014/main" id="{806F1F28-CD02-AF7D-642F-D73A3DDFFC69}"/>
                </a:ext>
              </a:extLst>
            </p:cNvPr>
            <p:cNvSpPr txBox="1"/>
            <p:nvPr/>
          </p:nvSpPr>
          <p:spPr>
            <a:xfrm>
              <a:off x="14189793" y="3414966"/>
              <a:ext cx="3795562" cy="1231106"/>
            </a:xfrm>
            <a:prstGeom prst="rect">
              <a:avLst/>
            </a:prstGeom>
            <a:noFill/>
          </p:spPr>
          <p:txBody>
            <a:bodyPr wrap="square" lIns="0" tIns="0" rIns="0" bIns="0" rtlCol="0">
              <a:spAutoFit/>
            </a:bodyPr>
            <a:lstStyle/>
            <a:p>
              <a:pPr algn="ctr"/>
              <a:r>
                <a:rPr lang="en-US" sz="4000" dirty="0">
                  <a:solidFill>
                    <a:srgbClr val="FFE399"/>
                  </a:solidFill>
                  <a:latin typeface="+mj-lt"/>
                  <a:cs typeface="MoolBoran" panose="020B0100010101010101" pitchFamily="34" charset="0"/>
                </a:rPr>
                <a:t>Modernize</a:t>
              </a:r>
              <a:r>
                <a:rPr lang="en-US" sz="4000" dirty="0">
                  <a:solidFill>
                    <a:srgbClr val="FFE399"/>
                  </a:solidFill>
                  <a:latin typeface="MoolBoran" panose="020B0100010101010101" pitchFamily="34" charset="0"/>
                  <a:cs typeface="MoolBoran" panose="020B0100010101010101" pitchFamily="34" charset="0"/>
                </a:rPr>
                <a:t> </a:t>
              </a:r>
              <a:r>
                <a:rPr lang="en-US" sz="4000" dirty="0">
                  <a:solidFill>
                    <a:srgbClr val="FFE399"/>
                  </a:solidFill>
                  <a:latin typeface="+mj-lt"/>
                  <a:cs typeface="MoolBoran" panose="020B0100010101010101" pitchFamily="34" charset="0"/>
                </a:rPr>
                <a:t>Apps &amp; Database</a:t>
              </a:r>
            </a:p>
          </p:txBody>
        </p:sp>
        <p:sp>
          <p:nvSpPr>
            <p:cNvPr id="48" name="TextBox 47">
              <a:extLst>
                <a:ext uri="{FF2B5EF4-FFF2-40B4-BE49-F238E27FC236}">
                  <a16:creationId xmlns:a16="http://schemas.microsoft.com/office/drawing/2014/main" id="{E1A67E98-27A1-B8B4-8C5B-82E65E051682}"/>
                </a:ext>
              </a:extLst>
            </p:cNvPr>
            <p:cNvSpPr txBox="1"/>
            <p:nvPr/>
          </p:nvSpPr>
          <p:spPr>
            <a:xfrm>
              <a:off x="14189793" y="5202934"/>
              <a:ext cx="3795562" cy="2585323"/>
            </a:xfrm>
            <a:prstGeom prst="rect">
              <a:avLst/>
            </a:prstGeom>
            <a:noFill/>
          </p:spPr>
          <p:txBody>
            <a:bodyPr wrap="square" lIns="0" tIns="0" rIns="0" bIns="0" rtlCol="0">
              <a:spAutoFit/>
            </a:bodyPr>
            <a:lstStyle/>
            <a:p>
              <a:pPr algn="ctr"/>
              <a:r>
                <a:rPr lang="en-US" sz="2800" dirty="0"/>
                <a:t>Allows businesses to </a:t>
              </a:r>
              <a:r>
                <a:rPr lang="en-US" sz="2800" b="1" dirty="0"/>
                <a:t>modernize applications and databases</a:t>
              </a:r>
              <a:r>
                <a:rPr lang="en-US" sz="2800" dirty="0"/>
                <a:t>, unlocking </a:t>
              </a:r>
              <a:r>
                <a:rPr lang="en-US" sz="2800" b="1" dirty="0"/>
                <a:t>AI, analytics, and automation</a:t>
              </a:r>
              <a:r>
                <a:rPr lang="en-US" sz="2800" dirty="0"/>
                <a:t> capabilities </a:t>
              </a:r>
            </a:p>
          </p:txBody>
        </p:sp>
        <p:pic>
          <p:nvPicPr>
            <p:cNvPr id="56" name="Graphic 55" descr="Inbox Check outline">
              <a:extLst>
                <a:ext uri="{FF2B5EF4-FFF2-40B4-BE49-F238E27FC236}">
                  <a16:creationId xmlns:a16="http://schemas.microsoft.com/office/drawing/2014/main" id="{44BDEF67-E985-165F-0F60-98C6C8592C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20417" y="8257983"/>
              <a:ext cx="914400" cy="914400"/>
            </a:xfrm>
            <a:prstGeom prst="rect">
              <a:avLst/>
            </a:prstGeom>
          </p:spPr>
        </p:pic>
      </p:grpSp>
      <p:grpSp>
        <p:nvGrpSpPr>
          <p:cNvPr id="59" name="Group 58">
            <a:extLst>
              <a:ext uri="{FF2B5EF4-FFF2-40B4-BE49-F238E27FC236}">
                <a16:creationId xmlns:a16="http://schemas.microsoft.com/office/drawing/2014/main" id="{FF3D9856-AD15-43BB-2EE4-F471511E2727}"/>
              </a:ext>
            </a:extLst>
          </p:cNvPr>
          <p:cNvGrpSpPr/>
          <p:nvPr/>
        </p:nvGrpSpPr>
        <p:grpSpPr>
          <a:xfrm>
            <a:off x="9165269" y="0"/>
            <a:ext cx="4968240" cy="10287000"/>
            <a:chOff x="9144000" y="0"/>
            <a:chExt cx="4968240" cy="10287000"/>
          </a:xfrm>
        </p:grpSpPr>
        <p:sp>
          <p:nvSpPr>
            <p:cNvPr id="33" name="Freeform: Shape 32">
              <a:extLst>
                <a:ext uri="{FF2B5EF4-FFF2-40B4-BE49-F238E27FC236}">
                  <a16:creationId xmlns:a16="http://schemas.microsoft.com/office/drawing/2014/main" id="{7DD2C2E3-EFDE-0FC4-F58A-A1ACFB87EB2D}"/>
                </a:ext>
              </a:extLst>
            </p:cNvPr>
            <p:cNvSpPr/>
            <p:nvPr/>
          </p:nvSpPr>
          <p:spPr bwMode="auto">
            <a:xfrm>
              <a:off x="9144000" y="0"/>
              <a:ext cx="4968240" cy="10287000"/>
            </a:xfrm>
            <a:custGeom>
              <a:avLst/>
              <a:gdLst>
                <a:gd name="connsiteX0" fmla="*/ 0 w 4968240"/>
                <a:gd name="connsiteY0" fmla="*/ 0 h 10287000"/>
                <a:gd name="connsiteX1" fmla="*/ 4572000 w 4968240"/>
                <a:gd name="connsiteY1" fmla="*/ 0 h 10287000"/>
                <a:gd name="connsiteX2" fmla="*/ 4572000 w 4968240"/>
                <a:gd name="connsiteY2" fmla="*/ 1562100 h 10287000"/>
                <a:gd name="connsiteX3" fmla="*/ 4968240 w 4968240"/>
                <a:gd name="connsiteY3" fmla="*/ 2122170 h 10287000"/>
                <a:gd name="connsiteX4" fmla="*/ 4572000 w 4968240"/>
                <a:gd name="connsiteY4" fmla="*/ 2682240 h 10287000"/>
                <a:gd name="connsiteX5" fmla="*/ 4572000 w 4968240"/>
                <a:gd name="connsiteY5" fmla="*/ 10287000 h 10287000"/>
                <a:gd name="connsiteX6" fmla="*/ 0 w 4968240"/>
                <a:gd name="connsiteY6"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68240" h="10287000">
                  <a:moveTo>
                    <a:pt x="0" y="0"/>
                  </a:moveTo>
                  <a:lnTo>
                    <a:pt x="4572000" y="0"/>
                  </a:lnTo>
                  <a:lnTo>
                    <a:pt x="4572000" y="1562100"/>
                  </a:lnTo>
                  <a:lnTo>
                    <a:pt x="4968240" y="2122170"/>
                  </a:lnTo>
                  <a:lnTo>
                    <a:pt x="4572000" y="2682240"/>
                  </a:lnTo>
                  <a:lnTo>
                    <a:pt x="4572000" y="10287000"/>
                  </a:lnTo>
                  <a:lnTo>
                    <a:pt x="0" y="10287000"/>
                  </a:lnTo>
                  <a:close/>
                </a:path>
              </a:pathLst>
            </a:custGeom>
            <a:solidFill>
              <a:schemeClr val="accent5">
                <a:lumMod val="75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7" name="TextBox 36">
              <a:extLst>
                <a:ext uri="{FF2B5EF4-FFF2-40B4-BE49-F238E27FC236}">
                  <a16:creationId xmlns:a16="http://schemas.microsoft.com/office/drawing/2014/main" id="{6F59140D-8E1A-0B0C-6188-8F416F97D0FA}"/>
                </a:ext>
              </a:extLst>
            </p:cNvPr>
            <p:cNvSpPr txBox="1"/>
            <p:nvPr/>
          </p:nvSpPr>
          <p:spPr>
            <a:xfrm>
              <a:off x="10471782"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C </a:t>
              </a:r>
            </a:p>
          </p:txBody>
        </p:sp>
        <p:sp>
          <p:nvSpPr>
            <p:cNvPr id="45" name="TextBox 44">
              <a:extLst>
                <a:ext uri="{FF2B5EF4-FFF2-40B4-BE49-F238E27FC236}">
                  <a16:creationId xmlns:a16="http://schemas.microsoft.com/office/drawing/2014/main" id="{C76EC174-973F-D794-C0DD-2CDE047BAB9E}"/>
                </a:ext>
              </a:extLst>
            </p:cNvPr>
            <p:cNvSpPr txBox="1"/>
            <p:nvPr/>
          </p:nvSpPr>
          <p:spPr>
            <a:xfrm>
              <a:off x="9446646" y="3465821"/>
              <a:ext cx="3795562" cy="1231106"/>
            </a:xfrm>
            <a:prstGeom prst="rect">
              <a:avLst/>
            </a:prstGeom>
            <a:noFill/>
          </p:spPr>
          <p:txBody>
            <a:bodyPr wrap="square" lIns="0" tIns="0" rIns="0" bIns="0" rtlCol="0">
              <a:spAutoFit/>
            </a:bodyPr>
            <a:lstStyle/>
            <a:p>
              <a:pPr algn="ctr"/>
              <a:r>
                <a:rPr lang="en-US" sz="4000" dirty="0">
                  <a:latin typeface="+mj-lt"/>
                  <a:cs typeface="MoolBoran" panose="020B0100010101010101" pitchFamily="34" charset="0"/>
                </a:rPr>
                <a:t>Security</a:t>
              </a:r>
              <a:r>
                <a:rPr lang="en-US" sz="4000" dirty="0">
                  <a:latin typeface="MoolBoran" panose="020B0100010101010101" pitchFamily="34" charset="0"/>
                  <a:cs typeface="MoolBoran" panose="020B0100010101010101" pitchFamily="34" charset="0"/>
                </a:rPr>
                <a:t> </a:t>
              </a:r>
              <a:r>
                <a:rPr lang="en-US" sz="4000" dirty="0">
                  <a:latin typeface="+mj-lt"/>
                  <a:cs typeface="MoolBoran" panose="020B0100010101010101" pitchFamily="34" charset="0"/>
                </a:rPr>
                <a:t>&amp; compliance</a:t>
              </a:r>
            </a:p>
          </p:txBody>
        </p:sp>
        <p:sp>
          <p:nvSpPr>
            <p:cNvPr id="46" name="TextBox 45">
              <a:extLst>
                <a:ext uri="{FF2B5EF4-FFF2-40B4-BE49-F238E27FC236}">
                  <a16:creationId xmlns:a16="http://schemas.microsoft.com/office/drawing/2014/main" id="{D639B804-EFC7-9D5B-A23A-29943712511A}"/>
                </a:ext>
              </a:extLst>
            </p:cNvPr>
            <p:cNvSpPr txBox="1"/>
            <p:nvPr/>
          </p:nvSpPr>
          <p:spPr>
            <a:xfrm>
              <a:off x="9446646" y="5203146"/>
              <a:ext cx="4044262" cy="2585323"/>
            </a:xfrm>
            <a:prstGeom prst="rect">
              <a:avLst/>
            </a:prstGeom>
            <a:noFill/>
          </p:spPr>
          <p:txBody>
            <a:bodyPr wrap="square" lIns="0" tIns="0" rIns="0" bIns="0" rtlCol="0">
              <a:spAutoFit/>
            </a:bodyPr>
            <a:lstStyle/>
            <a:p>
              <a:pPr algn="ctr"/>
              <a:r>
                <a:rPr lang="en-US" sz="2800" dirty="0"/>
                <a:t>Azure ensures </a:t>
              </a:r>
              <a:r>
                <a:rPr lang="en-US" sz="2800" b="1" dirty="0"/>
                <a:t>enterprise-grade security &amp; compliance</a:t>
              </a:r>
              <a:r>
                <a:rPr lang="en-US" sz="2800" dirty="0"/>
                <a:t>, reducing the risks associated with outdated infrastructure</a:t>
              </a:r>
            </a:p>
          </p:txBody>
        </p:sp>
        <p:pic>
          <p:nvPicPr>
            <p:cNvPr id="54" name="Graphic 53" descr="Employee badge outline">
              <a:extLst>
                <a:ext uri="{FF2B5EF4-FFF2-40B4-BE49-F238E27FC236}">
                  <a16:creationId xmlns:a16="http://schemas.microsoft.com/office/drawing/2014/main" id="{4A47C337-F74A-E09B-3A44-CBE871393B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61689" y="8407983"/>
              <a:ext cx="914400" cy="914400"/>
            </a:xfrm>
            <a:prstGeom prst="rect">
              <a:avLst/>
            </a:prstGeom>
          </p:spPr>
        </p:pic>
      </p:grpSp>
      <p:grpSp>
        <p:nvGrpSpPr>
          <p:cNvPr id="58" name="Group 57">
            <a:extLst>
              <a:ext uri="{FF2B5EF4-FFF2-40B4-BE49-F238E27FC236}">
                <a16:creationId xmlns:a16="http://schemas.microsoft.com/office/drawing/2014/main" id="{1F898594-F9E0-0BE7-3AB1-885E9D9C32C5}"/>
              </a:ext>
            </a:extLst>
          </p:cNvPr>
          <p:cNvGrpSpPr/>
          <p:nvPr/>
        </p:nvGrpSpPr>
        <p:grpSpPr>
          <a:xfrm>
            <a:off x="4550734" y="0"/>
            <a:ext cx="4952198" cy="10287000"/>
            <a:chOff x="4572000" y="0"/>
            <a:chExt cx="4952198" cy="10287000"/>
          </a:xfrm>
        </p:grpSpPr>
        <p:sp>
          <p:nvSpPr>
            <p:cNvPr id="32" name="Freeform: Shape 31">
              <a:extLst>
                <a:ext uri="{FF2B5EF4-FFF2-40B4-BE49-F238E27FC236}">
                  <a16:creationId xmlns:a16="http://schemas.microsoft.com/office/drawing/2014/main" id="{4AD127A6-9780-593B-0FF7-B30532004B66}"/>
                </a:ext>
              </a:extLst>
            </p:cNvPr>
            <p:cNvSpPr/>
            <p:nvPr/>
          </p:nvSpPr>
          <p:spPr bwMode="auto">
            <a:xfrm rot="5400000">
              <a:off x="1904599" y="2667401"/>
              <a:ext cx="10287000" cy="4952198"/>
            </a:xfrm>
            <a:custGeom>
              <a:avLst/>
              <a:gdLst>
                <a:gd name="connsiteX0" fmla="*/ 0 w 10287000"/>
                <a:gd name="connsiteY0" fmla="*/ 4952198 h 4952198"/>
                <a:gd name="connsiteX1" fmla="*/ 0 w 10287000"/>
                <a:gd name="connsiteY1" fmla="*/ 380198 h 4952198"/>
                <a:gd name="connsiteX2" fmla="*/ 1584775 w 10287000"/>
                <a:gd name="connsiteY2" fmla="*/ 380198 h 4952198"/>
                <a:gd name="connsiteX3" fmla="*/ 2122170 w 10287000"/>
                <a:gd name="connsiteY3" fmla="*/ 0 h 4952198"/>
                <a:gd name="connsiteX4" fmla="*/ 2659565 w 10287000"/>
                <a:gd name="connsiteY4" fmla="*/ 380198 h 4952198"/>
                <a:gd name="connsiteX5" fmla="*/ 10287000 w 10287000"/>
                <a:gd name="connsiteY5" fmla="*/ 380198 h 4952198"/>
                <a:gd name="connsiteX6" fmla="*/ 10287000 w 10287000"/>
                <a:gd name="connsiteY6" fmla="*/ 4952198 h 495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2198">
                  <a:moveTo>
                    <a:pt x="0" y="4952198"/>
                  </a:moveTo>
                  <a:lnTo>
                    <a:pt x="0" y="380198"/>
                  </a:lnTo>
                  <a:lnTo>
                    <a:pt x="1584775" y="380198"/>
                  </a:lnTo>
                  <a:lnTo>
                    <a:pt x="2122170" y="0"/>
                  </a:lnTo>
                  <a:lnTo>
                    <a:pt x="2659565" y="380198"/>
                  </a:lnTo>
                  <a:lnTo>
                    <a:pt x="10287000" y="380198"/>
                  </a:lnTo>
                  <a:lnTo>
                    <a:pt x="10287000" y="4952198"/>
                  </a:lnTo>
                  <a:close/>
                </a:path>
              </a:pathLst>
            </a:custGeom>
            <a:solidFill>
              <a:schemeClr val="accent5">
                <a:lumMod val="40000"/>
                <a:lumOff val="6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5">
                    <a:lumMod val="40000"/>
                    <a:lumOff val="60000"/>
                  </a:schemeClr>
                </a:solidFill>
                <a:ea typeface="Segoe UI" pitchFamily="34" charset="0"/>
                <a:cs typeface="Segoe UI" pitchFamily="34" charset="0"/>
              </a:endParaRPr>
            </a:p>
          </p:txBody>
        </p:sp>
        <p:sp>
          <p:nvSpPr>
            <p:cNvPr id="36" name="TextBox 35">
              <a:extLst>
                <a:ext uri="{FF2B5EF4-FFF2-40B4-BE49-F238E27FC236}">
                  <a16:creationId xmlns:a16="http://schemas.microsoft.com/office/drawing/2014/main" id="{74A1D7FA-1F39-5ACB-D09C-AFB3A82F546A}"/>
                </a:ext>
              </a:extLst>
            </p:cNvPr>
            <p:cNvSpPr txBox="1"/>
            <p:nvPr/>
          </p:nvSpPr>
          <p:spPr>
            <a:xfrm>
              <a:off x="5761560"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B </a:t>
              </a:r>
            </a:p>
          </p:txBody>
        </p:sp>
        <p:sp>
          <p:nvSpPr>
            <p:cNvPr id="43" name="TextBox 42">
              <a:extLst>
                <a:ext uri="{FF2B5EF4-FFF2-40B4-BE49-F238E27FC236}">
                  <a16:creationId xmlns:a16="http://schemas.microsoft.com/office/drawing/2014/main" id="{2A87DCFE-482B-F48C-BF55-0F390558C04A}"/>
                </a:ext>
              </a:extLst>
            </p:cNvPr>
            <p:cNvSpPr txBox="1"/>
            <p:nvPr/>
          </p:nvSpPr>
          <p:spPr>
            <a:xfrm>
              <a:off x="4779597" y="3121202"/>
              <a:ext cx="4193256" cy="1846659"/>
            </a:xfrm>
            <a:prstGeom prst="rect">
              <a:avLst/>
            </a:prstGeom>
            <a:noFill/>
          </p:spPr>
          <p:txBody>
            <a:bodyPr wrap="square" lIns="0" tIns="0" rIns="0" bIns="0" rtlCol="0">
              <a:spAutoFit/>
            </a:bodyPr>
            <a:lstStyle>
              <a:defPPr>
                <a:defRPr lang="en-US"/>
              </a:defPPr>
              <a:lvl1pPr algn="ctr">
                <a:defRPr sz="5000">
                  <a:solidFill>
                    <a:schemeClr val="accent6">
                      <a:lumMod val="25000"/>
                    </a:schemeClr>
                  </a:solidFill>
                  <a:latin typeface="+mj-lt"/>
                  <a:cs typeface="MoolBoran" panose="020B0100010101010101" pitchFamily="34" charset="0"/>
                </a:defRPr>
              </a:lvl1pPr>
            </a:lstStyle>
            <a:p>
              <a:r>
                <a:rPr lang="en-US" sz="4000" dirty="0">
                  <a:solidFill>
                    <a:srgbClr val="F4364C"/>
                  </a:solidFill>
                </a:rPr>
                <a:t>Built-in Cost Optimization tools</a:t>
              </a:r>
            </a:p>
          </p:txBody>
        </p:sp>
        <p:sp>
          <p:nvSpPr>
            <p:cNvPr id="44" name="TextBox 43">
              <a:extLst>
                <a:ext uri="{FF2B5EF4-FFF2-40B4-BE49-F238E27FC236}">
                  <a16:creationId xmlns:a16="http://schemas.microsoft.com/office/drawing/2014/main" id="{377D0A65-5CA5-1E4B-F97B-59FF9539BE7C}"/>
                </a:ext>
              </a:extLst>
            </p:cNvPr>
            <p:cNvSpPr txBox="1"/>
            <p:nvPr/>
          </p:nvSpPr>
          <p:spPr>
            <a:xfrm>
              <a:off x="4779597" y="567097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offers built-in </a:t>
              </a:r>
              <a:r>
                <a:rPr lang="en-US" sz="2800" b="1" dirty="0">
                  <a:solidFill>
                    <a:schemeClr val="accent6">
                      <a:lumMod val="25000"/>
                    </a:schemeClr>
                  </a:solidFill>
                </a:rPr>
                <a:t>cost optimization tools </a:t>
              </a:r>
              <a:r>
                <a:rPr lang="en-US" sz="2800" dirty="0">
                  <a:solidFill>
                    <a:schemeClr val="accent6">
                      <a:lumMod val="25000"/>
                    </a:schemeClr>
                  </a:solidFill>
                </a:rPr>
                <a:t>to help you save up to </a:t>
              </a:r>
              <a:r>
                <a:rPr lang="en-US" sz="2800" b="1" dirty="0">
                  <a:solidFill>
                    <a:schemeClr val="accent6">
                      <a:lumMod val="25000"/>
                    </a:schemeClr>
                  </a:solidFill>
                </a:rPr>
                <a:t>40% on </a:t>
              </a:r>
              <a:br>
                <a:rPr lang="en-US" sz="2800" b="1" dirty="0">
                  <a:solidFill>
                    <a:schemeClr val="accent6">
                      <a:lumMod val="25000"/>
                    </a:schemeClr>
                  </a:solidFill>
                </a:rPr>
              </a:br>
              <a:r>
                <a:rPr lang="en-US" sz="2800" b="1" dirty="0">
                  <a:solidFill>
                    <a:schemeClr val="accent6">
                      <a:lumMod val="25000"/>
                    </a:schemeClr>
                  </a:solidFill>
                </a:rPr>
                <a:t>infrastructure costs</a:t>
              </a:r>
            </a:p>
          </p:txBody>
        </p:sp>
        <p:pic>
          <p:nvPicPr>
            <p:cNvPr id="50" name="Graphic 49" descr="Board Of Directors outline">
              <a:extLst>
                <a:ext uri="{FF2B5EF4-FFF2-40B4-BE49-F238E27FC236}">
                  <a16:creationId xmlns:a16="http://schemas.microsoft.com/office/drawing/2014/main" id="{2C398A9D-F12C-5EDE-5034-D56ACCC46B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4223" y="8257983"/>
              <a:ext cx="914400" cy="914400"/>
            </a:xfrm>
            <a:prstGeom prst="rect">
              <a:avLst/>
            </a:prstGeom>
          </p:spPr>
        </p:pic>
      </p:grpSp>
      <p:grpSp>
        <p:nvGrpSpPr>
          <p:cNvPr id="57" name="Group 56">
            <a:extLst>
              <a:ext uri="{FF2B5EF4-FFF2-40B4-BE49-F238E27FC236}">
                <a16:creationId xmlns:a16="http://schemas.microsoft.com/office/drawing/2014/main" id="{52686948-7E4D-6A39-5B47-8A6CEA025669}"/>
              </a:ext>
            </a:extLst>
          </p:cNvPr>
          <p:cNvGrpSpPr/>
          <p:nvPr/>
        </p:nvGrpSpPr>
        <p:grpSpPr>
          <a:xfrm>
            <a:off x="0" y="0"/>
            <a:ext cx="4953000" cy="10287000"/>
            <a:chOff x="0" y="0"/>
            <a:chExt cx="4953000" cy="10287000"/>
          </a:xfrm>
        </p:grpSpPr>
        <p:sp>
          <p:nvSpPr>
            <p:cNvPr id="24" name="Freeform: Shape 23">
              <a:extLst>
                <a:ext uri="{FF2B5EF4-FFF2-40B4-BE49-F238E27FC236}">
                  <a16:creationId xmlns:a16="http://schemas.microsoft.com/office/drawing/2014/main" id="{166C0E36-319A-0CBF-C7FC-18ED314A744A}"/>
                </a:ext>
              </a:extLst>
            </p:cNvPr>
            <p:cNvSpPr/>
            <p:nvPr/>
          </p:nvSpPr>
          <p:spPr bwMode="auto">
            <a:xfrm rot="5400000">
              <a:off x="-2667000" y="2667000"/>
              <a:ext cx="10287000" cy="4953000"/>
            </a:xfrm>
            <a:custGeom>
              <a:avLst/>
              <a:gdLst>
                <a:gd name="connsiteX0" fmla="*/ 0 w 10287000"/>
                <a:gd name="connsiteY0" fmla="*/ 4953000 h 4953000"/>
                <a:gd name="connsiteX1" fmla="*/ 0 w 10287000"/>
                <a:gd name="connsiteY1" fmla="*/ 381000 h 4953000"/>
                <a:gd name="connsiteX2" fmla="*/ 1431241 w 10287000"/>
                <a:gd name="connsiteY2" fmla="*/ 381000 h 4953000"/>
                <a:gd name="connsiteX3" fmla="*/ 1969770 w 10287000"/>
                <a:gd name="connsiteY3" fmla="*/ 0 h 4953000"/>
                <a:gd name="connsiteX4" fmla="*/ 2508299 w 10287000"/>
                <a:gd name="connsiteY4" fmla="*/ 381000 h 4953000"/>
                <a:gd name="connsiteX5" fmla="*/ 10287000 w 10287000"/>
                <a:gd name="connsiteY5" fmla="*/ 381000 h 4953000"/>
                <a:gd name="connsiteX6" fmla="*/ 10287000 w 10287000"/>
                <a:gd name="connsiteY6" fmla="*/ 4953000 h 49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0" h="4953000">
                  <a:moveTo>
                    <a:pt x="0" y="4953000"/>
                  </a:moveTo>
                  <a:lnTo>
                    <a:pt x="0" y="381000"/>
                  </a:lnTo>
                  <a:lnTo>
                    <a:pt x="1431241" y="381000"/>
                  </a:lnTo>
                  <a:lnTo>
                    <a:pt x="1969770" y="0"/>
                  </a:lnTo>
                  <a:lnTo>
                    <a:pt x="2508299" y="381000"/>
                  </a:lnTo>
                  <a:lnTo>
                    <a:pt x="10287000" y="381000"/>
                  </a:lnTo>
                  <a:lnTo>
                    <a:pt x="10287000" y="4953000"/>
                  </a:lnTo>
                  <a:close/>
                </a:path>
              </a:pathLst>
            </a:custGeom>
            <a:solidFill>
              <a:schemeClr val="accent5">
                <a:lumMod val="20000"/>
                <a:lumOff val="80000"/>
              </a:schemeClr>
            </a:solidFill>
            <a:ln>
              <a:noFill/>
              <a:headEnd type="none" w="med" len="med"/>
              <a:tailEnd type="none" w="med" len="med"/>
            </a:ln>
            <a:effectLst>
              <a:outerShdw blurRad="127000" dist="38100" algn="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35" name="TextBox 34">
              <a:extLst>
                <a:ext uri="{FF2B5EF4-FFF2-40B4-BE49-F238E27FC236}">
                  <a16:creationId xmlns:a16="http://schemas.microsoft.com/office/drawing/2014/main" id="{8BDC9C94-5664-0871-9D88-2692507578F1}"/>
                </a:ext>
              </a:extLst>
            </p:cNvPr>
            <p:cNvSpPr txBox="1"/>
            <p:nvPr/>
          </p:nvSpPr>
          <p:spPr>
            <a:xfrm>
              <a:off x="1137684" y="1246485"/>
              <a:ext cx="2296633" cy="2769989"/>
            </a:xfrm>
            <a:prstGeom prst="rect">
              <a:avLst/>
            </a:prstGeom>
            <a:noFill/>
          </p:spPr>
          <p:txBody>
            <a:bodyPr wrap="square" lIns="0" tIns="0" rIns="0" bIns="0" rtlCol="0">
              <a:spAutoFit/>
            </a:bodyPr>
            <a:lstStyle/>
            <a:p>
              <a:pPr algn="ctr"/>
              <a:r>
                <a:rPr lang="en-US" sz="18000" dirty="0">
                  <a:solidFill>
                    <a:srgbClr val="FFB900"/>
                  </a:solidFill>
                  <a:latin typeface="MoolBoran" panose="020B0100010101010101" pitchFamily="34" charset="0"/>
                  <a:cs typeface="MoolBoran" panose="020B0100010101010101" pitchFamily="34" charset="0"/>
                </a:rPr>
                <a:t>A </a:t>
              </a:r>
            </a:p>
          </p:txBody>
        </p:sp>
        <p:sp>
          <p:nvSpPr>
            <p:cNvPr id="40" name="TextBox 39">
              <a:extLst>
                <a:ext uri="{FF2B5EF4-FFF2-40B4-BE49-F238E27FC236}">
                  <a16:creationId xmlns:a16="http://schemas.microsoft.com/office/drawing/2014/main" id="{9AEE8557-7BBF-DE61-9D84-58F9FDCABB32}"/>
                </a:ext>
              </a:extLst>
            </p:cNvPr>
            <p:cNvSpPr txBox="1"/>
            <p:nvPr/>
          </p:nvSpPr>
          <p:spPr>
            <a:xfrm>
              <a:off x="388219" y="3307365"/>
              <a:ext cx="3795562" cy="1231106"/>
            </a:xfrm>
            <a:prstGeom prst="rect">
              <a:avLst/>
            </a:prstGeom>
            <a:noFill/>
          </p:spPr>
          <p:txBody>
            <a:bodyPr wrap="square" lIns="0" tIns="0" rIns="0" bIns="0" rtlCol="0">
              <a:spAutoFit/>
            </a:bodyPr>
            <a:lstStyle/>
            <a:p>
              <a:pPr algn="ctr"/>
              <a:r>
                <a:rPr lang="en-US" sz="4000" b="1" dirty="0">
                  <a:solidFill>
                    <a:srgbClr val="091F2C"/>
                  </a:solidFill>
                  <a:latin typeface="+mj-lt"/>
                  <a:cs typeface="MoolBoran" panose="020B0100010101010101" pitchFamily="34" charset="0"/>
                </a:rPr>
                <a:t>Migration Approach</a:t>
              </a:r>
            </a:p>
          </p:txBody>
        </p:sp>
        <p:sp>
          <p:nvSpPr>
            <p:cNvPr id="42" name="TextBox 41">
              <a:extLst>
                <a:ext uri="{FF2B5EF4-FFF2-40B4-BE49-F238E27FC236}">
                  <a16:creationId xmlns:a16="http://schemas.microsoft.com/office/drawing/2014/main" id="{AD57A0C6-689E-4051-BC2A-73D0E5635849}"/>
                </a:ext>
              </a:extLst>
            </p:cNvPr>
            <p:cNvSpPr txBox="1"/>
            <p:nvPr/>
          </p:nvSpPr>
          <p:spPr>
            <a:xfrm>
              <a:off x="388219" y="5713506"/>
              <a:ext cx="3795562" cy="2154436"/>
            </a:xfrm>
            <a:prstGeom prst="rect">
              <a:avLst/>
            </a:prstGeom>
            <a:noFill/>
          </p:spPr>
          <p:txBody>
            <a:bodyPr wrap="square" lIns="0" tIns="0" rIns="0" bIns="0" rtlCol="0">
              <a:spAutoFit/>
            </a:bodyPr>
            <a:lstStyle/>
            <a:p>
              <a:pPr algn="ctr"/>
              <a:r>
                <a:rPr lang="en-US" sz="2800" dirty="0">
                  <a:solidFill>
                    <a:schemeClr val="accent6">
                      <a:lumMod val="25000"/>
                    </a:schemeClr>
                  </a:solidFill>
                </a:rPr>
                <a:t>Provides a </a:t>
              </a:r>
              <a:r>
                <a:rPr lang="en-US" sz="2800" b="1" dirty="0">
                  <a:solidFill>
                    <a:schemeClr val="accent6">
                      <a:lumMod val="25000"/>
                    </a:schemeClr>
                  </a:solidFill>
                </a:rPr>
                <a:t>step-by-step, structured migration approach</a:t>
              </a:r>
              <a:r>
                <a:rPr lang="en-US" sz="2800" dirty="0">
                  <a:solidFill>
                    <a:schemeClr val="accent6">
                      <a:lumMod val="25000"/>
                    </a:schemeClr>
                  </a:solidFill>
                </a:rPr>
                <a:t>, so you don’t have to worry about disruptions</a:t>
              </a:r>
              <a:endParaRPr lang="en-US" sz="2800" dirty="0">
                <a:solidFill>
                  <a:schemeClr val="accent6">
                    <a:lumMod val="25000"/>
                  </a:schemeClr>
                </a:solidFill>
                <a:latin typeface="MoolBoran" panose="020B0100010101010101" pitchFamily="34" charset="0"/>
                <a:cs typeface="MoolBoran" panose="020B0100010101010101" pitchFamily="34" charset="0"/>
              </a:endParaRPr>
            </a:p>
          </p:txBody>
        </p:sp>
        <p:pic>
          <p:nvPicPr>
            <p:cNvPr id="52" name="Graphic 51" descr="Clipboard Partially Crossed outline">
              <a:extLst>
                <a:ext uri="{FF2B5EF4-FFF2-40B4-BE49-F238E27FC236}">
                  <a16:creationId xmlns:a16="http://schemas.microsoft.com/office/drawing/2014/main" id="{82C3988A-41DA-6EF2-0BC7-863CC392EC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7579" y="8407983"/>
              <a:ext cx="914400" cy="914400"/>
            </a:xfrm>
            <a:prstGeom prst="rect">
              <a:avLst/>
            </a:prstGeom>
          </p:spPr>
        </p:pic>
      </p:grpSp>
      <p:sp>
        <p:nvSpPr>
          <p:cNvPr id="2" name="TextBox 1">
            <a:extLst>
              <a:ext uri="{FF2B5EF4-FFF2-40B4-BE49-F238E27FC236}">
                <a16:creationId xmlns:a16="http://schemas.microsoft.com/office/drawing/2014/main" id="{81C11487-422C-B312-42C8-67D2E14BF34C}"/>
              </a:ext>
            </a:extLst>
          </p:cNvPr>
          <p:cNvSpPr txBox="1"/>
          <p:nvPr/>
        </p:nvSpPr>
        <p:spPr>
          <a:xfrm>
            <a:off x="16055154" y="4360769"/>
            <a:ext cx="12889683" cy="1354217"/>
          </a:xfrm>
          <a:prstGeom prst="rect">
            <a:avLst/>
          </a:prstGeom>
          <a:noFill/>
        </p:spPr>
        <p:txBody>
          <a:bodyPr wrap="square" lIns="0" tIns="0" rIns="0" bIns="0" rtlCol="0">
            <a:spAutoFit/>
          </a:bodyPr>
          <a:lstStyle/>
          <a:p>
            <a:pPr algn="ctr"/>
            <a:r>
              <a:rPr lang="en-US" sz="4400" b="1" dirty="0">
                <a:cs typeface="MoolBoran" panose="020B0100010101010101" pitchFamily="34" charset="0"/>
              </a:rPr>
              <a:t>Azure </a:t>
            </a:r>
            <a:r>
              <a:rPr lang="en-US" sz="4400" b="1" dirty="0">
                <a:solidFill>
                  <a:srgbClr val="FFB900"/>
                </a:solidFill>
                <a:cs typeface="MoolBoran" panose="020B0100010101010101" pitchFamily="34" charset="0"/>
              </a:rPr>
              <a:t>Migrate</a:t>
            </a:r>
            <a:br>
              <a:rPr lang="en-US" sz="4400" b="1" dirty="0">
                <a:cs typeface="MoolBoran" panose="020B0100010101010101" pitchFamily="34" charset="0"/>
              </a:rPr>
            </a:br>
            <a:r>
              <a:rPr lang="en-US" sz="4400" b="1" dirty="0">
                <a:cs typeface="MoolBoran" panose="020B0100010101010101" pitchFamily="34" charset="0"/>
              </a:rPr>
              <a:t> &amp; </a:t>
            </a:r>
            <a:r>
              <a:rPr lang="en-US" sz="4400" b="1" dirty="0">
                <a:solidFill>
                  <a:srgbClr val="091F2C"/>
                </a:solidFill>
                <a:cs typeface="MoolBoran" panose="020B0100010101010101" pitchFamily="34" charset="0"/>
              </a:rPr>
              <a:t>Modernize</a:t>
            </a:r>
            <a:endParaRPr lang="en-US" sz="4400" dirty="0">
              <a:solidFill>
                <a:srgbClr val="091F2C"/>
              </a:solidFill>
              <a:cs typeface="MoolBoran" panose="020B0100010101010101" pitchFamily="34" charset="0"/>
            </a:endParaRPr>
          </a:p>
        </p:txBody>
      </p:sp>
    </p:spTree>
    <p:extLst>
      <p:ext uri="{BB962C8B-B14F-4D97-AF65-F5344CB8AC3E}">
        <p14:creationId xmlns:p14="http://schemas.microsoft.com/office/powerpoint/2010/main" val="3308261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p159:morph option="byObjec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18BEF-5EE3-8985-833B-EA1F57FE128F}"/>
            </a:ext>
          </a:extLst>
        </p:cNvPr>
        <p:cNvGrpSpPr/>
        <p:nvPr/>
      </p:nvGrpSpPr>
      <p:grpSpPr>
        <a:xfrm>
          <a:off x="0" y="0"/>
          <a:ext cx="0" cy="0"/>
          <a:chOff x="0" y="0"/>
          <a:chExt cx="0" cy="0"/>
        </a:xfrm>
      </p:grpSpPr>
      <p:pic>
        <p:nvPicPr>
          <p:cNvPr id="36" name="Picture 3">
            <a:extLst>
              <a:ext uri="{FF2B5EF4-FFF2-40B4-BE49-F238E27FC236}">
                <a16:creationId xmlns:a16="http://schemas.microsoft.com/office/drawing/2014/main" id="{491D3FC3-CED4-CE12-34A0-5E39D9C7C871}"/>
              </a:ext>
            </a:extLst>
          </p:cNvPr>
          <p:cNvPicPr>
            <a:picLocks noChangeAspect="1"/>
          </p:cNvPicPr>
          <p:nvPr/>
        </p:nvPicPr>
        <p:blipFill>
          <a:blip r:embed="rId2"/>
          <a:srcRect/>
          <a:stretch>
            <a:fillRect/>
          </a:stretch>
        </p:blipFill>
        <p:spPr>
          <a:xfrm>
            <a:off x="287016" y="318964"/>
            <a:ext cx="2634245" cy="694782"/>
          </a:xfrm>
          <a:prstGeom prst="rect">
            <a:avLst/>
          </a:prstGeom>
        </p:spPr>
      </p:pic>
      <p:grpSp>
        <p:nvGrpSpPr>
          <p:cNvPr id="49" name="Group 48">
            <a:extLst>
              <a:ext uri="{FF2B5EF4-FFF2-40B4-BE49-F238E27FC236}">
                <a16:creationId xmlns:a16="http://schemas.microsoft.com/office/drawing/2014/main" id="{543643D4-6D12-550F-93BA-6E15087499EB}"/>
              </a:ext>
            </a:extLst>
          </p:cNvPr>
          <p:cNvGrpSpPr/>
          <p:nvPr/>
        </p:nvGrpSpPr>
        <p:grpSpPr>
          <a:xfrm>
            <a:off x="16585852" y="-1504260"/>
            <a:ext cx="1467952" cy="3036852"/>
            <a:chOff x="16533032" y="-1075004"/>
            <a:chExt cx="1414436" cy="3842240"/>
          </a:xfrm>
        </p:grpSpPr>
        <p:grpSp>
          <p:nvGrpSpPr>
            <p:cNvPr id="37" name="Group 26">
              <a:extLst>
                <a:ext uri="{FF2B5EF4-FFF2-40B4-BE49-F238E27FC236}">
                  <a16:creationId xmlns:a16="http://schemas.microsoft.com/office/drawing/2014/main" id="{89C2C85D-E8E5-29B0-B77B-18CB784B311D}"/>
                </a:ext>
              </a:extLst>
            </p:cNvPr>
            <p:cNvGrpSpPr/>
            <p:nvPr/>
          </p:nvGrpSpPr>
          <p:grpSpPr>
            <a:xfrm rot="-5400000">
              <a:off x="15319130" y="138898"/>
              <a:ext cx="3842240" cy="1414436"/>
              <a:chOff x="0" y="0"/>
              <a:chExt cx="1103964" cy="406400"/>
            </a:xfrm>
          </p:grpSpPr>
          <p:sp>
            <p:nvSpPr>
              <p:cNvPr id="38" name="Freeform 27">
                <a:extLst>
                  <a:ext uri="{FF2B5EF4-FFF2-40B4-BE49-F238E27FC236}">
                    <a16:creationId xmlns:a16="http://schemas.microsoft.com/office/drawing/2014/main" id="{E50622EA-E518-C8B3-28F2-DFB52B083AFE}"/>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endParaRPr lang="en-US"/>
              </a:p>
            </p:txBody>
          </p:sp>
        </p:grpSp>
        <p:pic>
          <p:nvPicPr>
            <p:cNvPr id="39" name="Picture 28">
              <a:extLst>
                <a:ext uri="{FF2B5EF4-FFF2-40B4-BE49-F238E27FC236}">
                  <a16:creationId xmlns:a16="http://schemas.microsoft.com/office/drawing/2014/main" id="{CFFDF188-5F6B-6E65-5028-76D8EEB05BAB}"/>
                </a:ext>
              </a:extLst>
            </p:cNvPr>
            <p:cNvPicPr>
              <a:picLocks noChangeAspect="1"/>
            </p:cNvPicPr>
            <p:nvPr/>
          </p:nvPicPr>
          <p:blipFill>
            <a:blip r:embed="rId3"/>
            <a:srcRect r="83814"/>
            <a:stretch>
              <a:fillRect/>
            </a:stretch>
          </p:blipFill>
          <p:spPr>
            <a:xfrm>
              <a:off x="16900996" y="1166576"/>
              <a:ext cx="716608" cy="1145609"/>
            </a:xfrm>
            <a:prstGeom prst="rect">
              <a:avLst/>
            </a:prstGeom>
          </p:spPr>
        </p:pic>
      </p:grpSp>
      <p:sp>
        <p:nvSpPr>
          <p:cNvPr id="34" name="TextBox 33">
            <a:extLst>
              <a:ext uri="{FF2B5EF4-FFF2-40B4-BE49-F238E27FC236}">
                <a16:creationId xmlns:a16="http://schemas.microsoft.com/office/drawing/2014/main" id="{E0EEA26D-B2B4-1E5C-CE7F-D27E0EB951A2}"/>
              </a:ext>
            </a:extLst>
          </p:cNvPr>
          <p:cNvSpPr txBox="1"/>
          <p:nvPr/>
        </p:nvSpPr>
        <p:spPr>
          <a:xfrm>
            <a:off x="3532789" y="788205"/>
            <a:ext cx="12362529" cy="830997"/>
          </a:xfrm>
          <a:prstGeom prst="rect">
            <a:avLst/>
          </a:prstGeom>
          <a:noFill/>
        </p:spPr>
        <p:txBody>
          <a:bodyPr wrap="square" rtlCol="0">
            <a:spAutoFit/>
          </a:bodyPr>
          <a:lstStyle/>
          <a:p>
            <a:pPr algn="ctr"/>
            <a:r>
              <a:rPr lang="en-US" sz="4400" b="1" dirty="0">
                <a:solidFill>
                  <a:schemeClr val="tx2"/>
                </a:solidFill>
                <a:latin typeface="Segoe UI Semibold"/>
                <a:ea typeface="Roboto Condensed"/>
                <a:cs typeface="Segoe UI Semibold"/>
              </a:rPr>
              <a:t>Support you @ Every Stage of </a:t>
            </a:r>
            <a:r>
              <a:rPr lang="en-US" sz="4800" b="1" dirty="0">
                <a:solidFill>
                  <a:srgbClr val="00953A"/>
                </a:solidFill>
                <a:latin typeface="Segoe UI Semibold"/>
                <a:ea typeface="Roboto Condensed"/>
                <a:cs typeface="Segoe UI Semibold"/>
              </a:rPr>
              <a:t>Cloud Adoption</a:t>
            </a:r>
            <a:endParaRPr lang="en-IN" sz="4400" b="1" dirty="0">
              <a:solidFill>
                <a:srgbClr val="00953A"/>
              </a:solidFill>
              <a:latin typeface="Segoe UI Semibold"/>
              <a:ea typeface="Roboto Condensed"/>
              <a:cs typeface="Segoe UI Semibold"/>
            </a:endParaRPr>
          </a:p>
        </p:txBody>
      </p:sp>
      <p:grpSp>
        <p:nvGrpSpPr>
          <p:cNvPr id="10" name="Group 9">
            <a:extLst>
              <a:ext uri="{FF2B5EF4-FFF2-40B4-BE49-F238E27FC236}">
                <a16:creationId xmlns:a16="http://schemas.microsoft.com/office/drawing/2014/main" id="{BA39F642-CBEF-1BC9-0B9F-FBD8BB5FE430}"/>
              </a:ext>
            </a:extLst>
          </p:cNvPr>
          <p:cNvGrpSpPr/>
          <p:nvPr/>
        </p:nvGrpSpPr>
        <p:grpSpPr>
          <a:xfrm>
            <a:off x="863080" y="2190449"/>
            <a:ext cx="3952446" cy="4429918"/>
            <a:chOff x="863080" y="1961849"/>
            <a:chExt cx="3952446" cy="4429918"/>
          </a:xfrm>
        </p:grpSpPr>
        <p:sp>
          <p:nvSpPr>
            <p:cNvPr id="4" name="Freeform: Shape 3">
              <a:extLst>
                <a:ext uri="{FF2B5EF4-FFF2-40B4-BE49-F238E27FC236}">
                  <a16:creationId xmlns:a16="http://schemas.microsoft.com/office/drawing/2014/main" id="{2870F901-3882-83E0-7792-1F44C102E5B9}"/>
                </a:ext>
              </a:extLst>
            </p:cNvPr>
            <p:cNvSpPr/>
            <p:nvPr/>
          </p:nvSpPr>
          <p:spPr>
            <a:xfrm rot="16200000">
              <a:off x="776525" y="2048404"/>
              <a:ext cx="4125555" cy="3952446"/>
            </a:xfrm>
            <a:custGeom>
              <a:avLst/>
              <a:gdLst>
                <a:gd name="connsiteX0" fmla="*/ 0 w 3952445"/>
                <a:gd name="connsiteY0" fmla="*/ 197622 h 4742934"/>
                <a:gd name="connsiteX1" fmla="*/ 197622 w 3952445"/>
                <a:gd name="connsiteY1" fmla="*/ 0 h 4742934"/>
                <a:gd name="connsiteX2" fmla="*/ 3754823 w 3952445"/>
                <a:gd name="connsiteY2" fmla="*/ 0 h 4742934"/>
                <a:gd name="connsiteX3" fmla="*/ 3952445 w 3952445"/>
                <a:gd name="connsiteY3" fmla="*/ 197622 h 4742934"/>
                <a:gd name="connsiteX4" fmla="*/ 3952445 w 3952445"/>
                <a:gd name="connsiteY4" fmla="*/ 4545312 h 4742934"/>
                <a:gd name="connsiteX5" fmla="*/ 3754823 w 3952445"/>
                <a:gd name="connsiteY5" fmla="*/ 4742934 h 4742934"/>
                <a:gd name="connsiteX6" fmla="*/ 197622 w 3952445"/>
                <a:gd name="connsiteY6" fmla="*/ 4742934 h 4742934"/>
                <a:gd name="connsiteX7" fmla="*/ 0 w 3952445"/>
                <a:gd name="connsiteY7" fmla="*/ 4545312 h 4742934"/>
                <a:gd name="connsiteX8" fmla="*/ 0 w 3952445"/>
                <a:gd name="connsiteY8" fmla="*/ 197622 h 474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2445" h="4742934">
                  <a:moveTo>
                    <a:pt x="3787760" y="1"/>
                  </a:moveTo>
                  <a:cubicBezTo>
                    <a:pt x="3878713" y="1"/>
                    <a:pt x="3952445" y="106174"/>
                    <a:pt x="3952445" y="237147"/>
                  </a:cubicBezTo>
                  <a:lnTo>
                    <a:pt x="3952445" y="4505787"/>
                  </a:lnTo>
                  <a:cubicBezTo>
                    <a:pt x="3952445" y="4636760"/>
                    <a:pt x="3878713" y="4742933"/>
                    <a:pt x="3787760" y="4742933"/>
                  </a:cubicBezTo>
                  <a:lnTo>
                    <a:pt x="164685" y="4742933"/>
                  </a:lnTo>
                  <a:cubicBezTo>
                    <a:pt x="73732" y="4742933"/>
                    <a:pt x="0" y="4636760"/>
                    <a:pt x="0" y="4505787"/>
                  </a:cubicBezTo>
                  <a:lnTo>
                    <a:pt x="0" y="237147"/>
                  </a:lnTo>
                  <a:cubicBezTo>
                    <a:pt x="0" y="106174"/>
                    <a:pt x="73732" y="1"/>
                    <a:pt x="164685" y="1"/>
                  </a:cubicBezTo>
                  <a:lnTo>
                    <a:pt x="3787760" y="1"/>
                  </a:lnTo>
                  <a:close/>
                </a:path>
              </a:pathLst>
            </a:custGeom>
            <a:solidFill>
              <a:srgbClr val="70AF5F"/>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53727" tIns="99443" rIns="128906" bIns="3161954" numCol="1" spcCol="1270" anchor="t" anchorCtr="0">
              <a:noAutofit/>
            </a:bodyPr>
            <a:lstStyle/>
            <a:p>
              <a:pPr marL="0" lvl="0" indent="0" algn="ctr" defTabSz="1289050">
                <a:lnSpc>
                  <a:spcPct val="90000"/>
                </a:lnSpc>
                <a:spcBef>
                  <a:spcPct val="0"/>
                </a:spcBef>
                <a:spcAft>
                  <a:spcPct val="35000"/>
                </a:spcAft>
                <a:buNone/>
              </a:pPr>
              <a:r>
                <a:rPr lang="en-US" sz="2000" dirty="0">
                  <a:latin typeface="Lato" panose="020F0502020204030203" pitchFamily="34" charset="0"/>
                  <a:ea typeface="Lato" panose="020F0502020204030203" pitchFamily="34" charset="0"/>
                  <a:cs typeface="Lato" panose="020F0502020204030203" pitchFamily="34" charset="0"/>
                </a:rPr>
                <a:t>ASSESS </a:t>
              </a:r>
              <a:endParaRPr lang="en-IN" sz="2000" dirty="0">
                <a:latin typeface="Lato" panose="020F0502020204030203" pitchFamily="34" charset="0"/>
                <a:ea typeface="Lato" panose="020F0502020204030203" pitchFamily="34" charset="0"/>
                <a:cs typeface="Lato" panose="020F0502020204030203" pitchFamily="34" charset="0"/>
              </a:endParaRPr>
            </a:p>
          </p:txBody>
        </p:sp>
        <p:sp>
          <p:nvSpPr>
            <p:cNvPr id="5" name="Freeform: Shape 4">
              <a:extLst>
                <a:ext uri="{FF2B5EF4-FFF2-40B4-BE49-F238E27FC236}">
                  <a16:creationId xmlns:a16="http://schemas.microsoft.com/office/drawing/2014/main" id="{9C355BED-FA6A-5599-4495-608A08F3D70A}"/>
                </a:ext>
              </a:extLst>
            </p:cNvPr>
            <p:cNvSpPr/>
            <p:nvPr/>
          </p:nvSpPr>
          <p:spPr>
            <a:xfrm>
              <a:off x="1653570" y="1961850"/>
              <a:ext cx="2944571" cy="4429917"/>
            </a:xfrm>
            <a:custGeom>
              <a:avLst/>
              <a:gdLst>
                <a:gd name="connsiteX0" fmla="*/ 0 w 2944571"/>
                <a:gd name="connsiteY0" fmla="*/ 0 h 4742934"/>
                <a:gd name="connsiteX1" fmla="*/ 2944571 w 2944571"/>
                <a:gd name="connsiteY1" fmla="*/ 0 h 4742934"/>
                <a:gd name="connsiteX2" fmla="*/ 2944571 w 2944571"/>
                <a:gd name="connsiteY2" fmla="*/ 4742934 h 4742934"/>
                <a:gd name="connsiteX3" fmla="*/ 0 w 2944571"/>
                <a:gd name="connsiteY3" fmla="*/ 4742934 h 4742934"/>
                <a:gd name="connsiteX4" fmla="*/ 0 w 2944571"/>
                <a:gd name="connsiteY4" fmla="*/ 0 h 4742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571" h="4742934">
                  <a:moveTo>
                    <a:pt x="0" y="0"/>
                  </a:moveTo>
                  <a:lnTo>
                    <a:pt x="2944571" y="0"/>
                  </a:lnTo>
                  <a:lnTo>
                    <a:pt x="2944571" y="4742934"/>
                  </a:lnTo>
                  <a:lnTo>
                    <a:pt x="0" y="4742934"/>
                  </a:lnTo>
                  <a:lnTo>
                    <a:pt x="0" y="0"/>
                  </a:lnTo>
                  <a:close/>
                </a:path>
              </a:pathLst>
            </a:custGeom>
            <a:noFill/>
            <a:ln>
              <a:noFill/>
            </a:ln>
            <a:sp3d/>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0" tIns="82296" rIns="0" bIns="0" numCol="1" spcCol="1270" anchor="t" anchorCtr="0">
              <a:noAutofit/>
            </a:bodyPr>
            <a:lstStyle/>
            <a:p>
              <a:pPr lvl="0" algn="l" defTabSz="1066800">
                <a:lnSpc>
                  <a:spcPct val="90000"/>
                </a:lnSpc>
                <a:spcBef>
                  <a:spcPct val="0"/>
                </a:spcBef>
                <a:spcAft>
                  <a:spcPct val="35000"/>
                </a:spcAft>
              </a:pPr>
              <a:br>
                <a:rPr lang="en-US" dirty="0">
                  <a:latin typeface="Lato" panose="020F0502020204030203" pitchFamily="34" charset="0"/>
                  <a:ea typeface="Lato" panose="020F0502020204030203" pitchFamily="34" charset="0"/>
                  <a:cs typeface="Lato" panose="020F0502020204030203" pitchFamily="34" charset="0"/>
                </a:rPr>
              </a:br>
              <a:r>
                <a:rPr lang="en-US" dirty="0">
                  <a:latin typeface="Lato" panose="020F0502020204030203" pitchFamily="34" charset="0"/>
                  <a:ea typeface="Lato" panose="020F0502020204030203" pitchFamily="34" charset="0"/>
                  <a:cs typeface="Lato" panose="020F0502020204030203" pitchFamily="34" charset="0"/>
                </a:rPr>
                <a:t>Discover &amp; Assess the environment</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Assessment for Rapid Migration to Azure</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TCO Analysis</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Detailed Reports</a:t>
              </a:r>
              <a:endParaRPr lang="en-IN" dirty="0">
                <a:latin typeface="Lato" panose="020F0502020204030203" pitchFamily="34" charset="0"/>
                <a:ea typeface="Lato" panose="020F0502020204030203" pitchFamily="34" charset="0"/>
                <a:cs typeface="Lato" panose="020F0502020204030203" pitchFamily="34" charset="0"/>
              </a:endParaRP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SAP Migration Assessment</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Assessment to Modernize</a:t>
              </a:r>
            </a:p>
          </p:txBody>
        </p:sp>
      </p:grpSp>
      <p:grpSp>
        <p:nvGrpSpPr>
          <p:cNvPr id="14" name="Group 13">
            <a:extLst>
              <a:ext uri="{FF2B5EF4-FFF2-40B4-BE49-F238E27FC236}">
                <a16:creationId xmlns:a16="http://schemas.microsoft.com/office/drawing/2014/main" id="{5CE6DD65-A8C2-0440-308F-634F356CC5A9}"/>
              </a:ext>
            </a:extLst>
          </p:cNvPr>
          <p:cNvGrpSpPr/>
          <p:nvPr/>
        </p:nvGrpSpPr>
        <p:grpSpPr>
          <a:xfrm>
            <a:off x="4953863" y="2190449"/>
            <a:ext cx="3952446" cy="4429918"/>
            <a:chOff x="4953863" y="1961849"/>
            <a:chExt cx="3952446" cy="4429918"/>
          </a:xfrm>
        </p:grpSpPr>
        <p:sp>
          <p:nvSpPr>
            <p:cNvPr id="6" name="Freeform: Shape 5">
              <a:extLst>
                <a:ext uri="{FF2B5EF4-FFF2-40B4-BE49-F238E27FC236}">
                  <a16:creationId xmlns:a16="http://schemas.microsoft.com/office/drawing/2014/main" id="{0B39A668-0A4D-B6D3-838A-C92C88CA30BC}"/>
                </a:ext>
              </a:extLst>
            </p:cNvPr>
            <p:cNvSpPr/>
            <p:nvPr/>
          </p:nvSpPr>
          <p:spPr>
            <a:xfrm rot="16200000">
              <a:off x="4867308" y="2048404"/>
              <a:ext cx="4125555" cy="3952446"/>
            </a:xfrm>
            <a:custGeom>
              <a:avLst/>
              <a:gdLst>
                <a:gd name="connsiteX0" fmla="*/ 0 w 3952445"/>
                <a:gd name="connsiteY0" fmla="*/ 197622 h 4742934"/>
                <a:gd name="connsiteX1" fmla="*/ 197622 w 3952445"/>
                <a:gd name="connsiteY1" fmla="*/ 0 h 4742934"/>
                <a:gd name="connsiteX2" fmla="*/ 3754823 w 3952445"/>
                <a:gd name="connsiteY2" fmla="*/ 0 h 4742934"/>
                <a:gd name="connsiteX3" fmla="*/ 3952445 w 3952445"/>
                <a:gd name="connsiteY3" fmla="*/ 197622 h 4742934"/>
                <a:gd name="connsiteX4" fmla="*/ 3952445 w 3952445"/>
                <a:gd name="connsiteY4" fmla="*/ 4545312 h 4742934"/>
                <a:gd name="connsiteX5" fmla="*/ 3754823 w 3952445"/>
                <a:gd name="connsiteY5" fmla="*/ 4742934 h 4742934"/>
                <a:gd name="connsiteX6" fmla="*/ 197622 w 3952445"/>
                <a:gd name="connsiteY6" fmla="*/ 4742934 h 4742934"/>
                <a:gd name="connsiteX7" fmla="*/ 0 w 3952445"/>
                <a:gd name="connsiteY7" fmla="*/ 4545312 h 4742934"/>
                <a:gd name="connsiteX8" fmla="*/ 0 w 3952445"/>
                <a:gd name="connsiteY8" fmla="*/ 197622 h 474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2445" h="4742934">
                  <a:moveTo>
                    <a:pt x="3787760" y="1"/>
                  </a:moveTo>
                  <a:cubicBezTo>
                    <a:pt x="3878713" y="1"/>
                    <a:pt x="3952445" y="106174"/>
                    <a:pt x="3952445" y="237147"/>
                  </a:cubicBezTo>
                  <a:lnTo>
                    <a:pt x="3952445" y="4505787"/>
                  </a:lnTo>
                  <a:cubicBezTo>
                    <a:pt x="3952445" y="4636760"/>
                    <a:pt x="3878713" y="4742933"/>
                    <a:pt x="3787760" y="4742933"/>
                  </a:cubicBezTo>
                  <a:lnTo>
                    <a:pt x="164685" y="4742933"/>
                  </a:lnTo>
                  <a:cubicBezTo>
                    <a:pt x="73732" y="4742933"/>
                    <a:pt x="0" y="4636760"/>
                    <a:pt x="0" y="4505787"/>
                  </a:cubicBezTo>
                  <a:lnTo>
                    <a:pt x="0" y="237147"/>
                  </a:lnTo>
                  <a:cubicBezTo>
                    <a:pt x="0" y="106174"/>
                    <a:pt x="73732" y="1"/>
                    <a:pt x="164685" y="1"/>
                  </a:cubicBezTo>
                  <a:lnTo>
                    <a:pt x="3787760" y="1"/>
                  </a:lnTo>
                  <a:close/>
                </a:path>
              </a:pathLst>
            </a:custGeom>
            <a:solidFill>
              <a:schemeClr val="accent5">
                <a:lumMod val="75000"/>
              </a:schemeClr>
            </a:solidFill>
          </p:spPr>
          <p:style>
            <a:lnRef idx="2">
              <a:schemeClr val="lt1">
                <a:hueOff val="0"/>
                <a:satOff val="0"/>
                <a:lumOff val="0"/>
                <a:alphaOff val="0"/>
              </a:schemeClr>
            </a:lnRef>
            <a:fillRef idx="1">
              <a:schemeClr val="accent4">
                <a:hueOff val="-1488257"/>
                <a:satOff val="8966"/>
                <a:lumOff val="719"/>
                <a:alphaOff val="0"/>
              </a:schemeClr>
            </a:fillRef>
            <a:effectRef idx="0">
              <a:schemeClr val="accent4">
                <a:hueOff val="-1488257"/>
                <a:satOff val="8966"/>
                <a:lumOff val="719"/>
                <a:alphaOff val="0"/>
              </a:schemeClr>
            </a:effectRef>
            <a:fontRef idx="minor">
              <a:schemeClr val="lt1"/>
            </a:fontRef>
          </p:style>
          <p:txBody>
            <a:bodyPr spcFirstLastPara="0" vert="horz" wrap="square" lIns="853727" tIns="99441" rIns="128906" bIns="3161956" numCol="1" spcCol="1270" anchor="t" anchorCtr="0">
              <a:noAutofit/>
            </a:bodyPr>
            <a:lstStyle/>
            <a:p>
              <a:pPr marL="0" lvl="0" indent="0" algn="ctr" defTabSz="1289050">
                <a:lnSpc>
                  <a:spcPct val="90000"/>
                </a:lnSpc>
                <a:spcBef>
                  <a:spcPct val="0"/>
                </a:spcBef>
                <a:spcAft>
                  <a:spcPct val="35000"/>
                </a:spcAft>
                <a:buNone/>
              </a:pPr>
              <a:r>
                <a:rPr lang="en-US" sz="2000" dirty="0">
                  <a:latin typeface="Lato" panose="020F0502020204030203" pitchFamily="34" charset="0"/>
                  <a:ea typeface="Lato" panose="020F0502020204030203" pitchFamily="34" charset="0"/>
                  <a:cs typeface="Lato" panose="020F0502020204030203" pitchFamily="34" charset="0"/>
                </a:rPr>
                <a:t>MIGRATE &amp; MODERNIZE</a:t>
              </a:r>
              <a:endParaRPr lang="en-IN" sz="2000" dirty="0">
                <a:latin typeface="Lato" panose="020F0502020204030203" pitchFamily="34" charset="0"/>
                <a:ea typeface="Lato" panose="020F0502020204030203" pitchFamily="34" charset="0"/>
                <a:cs typeface="Lato" panose="020F0502020204030203" pitchFamily="34" charset="0"/>
              </a:endParaRPr>
            </a:p>
          </p:txBody>
        </p:sp>
        <p:sp>
          <p:nvSpPr>
            <p:cNvPr id="8" name="Freeform: Shape 7">
              <a:extLst>
                <a:ext uri="{FF2B5EF4-FFF2-40B4-BE49-F238E27FC236}">
                  <a16:creationId xmlns:a16="http://schemas.microsoft.com/office/drawing/2014/main" id="{E6A0915F-DA5C-DA00-62D4-267DD71BC7A6}"/>
                </a:ext>
              </a:extLst>
            </p:cNvPr>
            <p:cNvSpPr/>
            <p:nvPr/>
          </p:nvSpPr>
          <p:spPr>
            <a:xfrm>
              <a:off x="5744351" y="1961850"/>
              <a:ext cx="2944571" cy="4429917"/>
            </a:xfrm>
            <a:custGeom>
              <a:avLst/>
              <a:gdLst>
                <a:gd name="connsiteX0" fmla="*/ 0 w 2944571"/>
                <a:gd name="connsiteY0" fmla="*/ 0 h 4742934"/>
                <a:gd name="connsiteX1" fmla="*/ 2944571 w 2944571"/>
                <a:gd name="connsiteY1" fmla="*/ 0 h 4742934"/>
                <a:gd name="connsiteX2" fmla="*/ 2944571 w 2944571"/>
                <a:gd name="connsiteY2" fmla="*/ 4742934 h 4742934"/>
                <a:gd name="connsiteX3" fmla="*/ 0 w 2944571"/>
                <a:gd name="connsiteY3" fmla="*/ 4742934 h 4742934"/>
                <a:gd name="connsiteX4" fmla="*/ 0 w 2944571"/>
                <a:gd name="connsiteY4" fmla="*/ 0 h 4742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571" h="4742934">
                  <a:moveTo>
                    <a:pt x="0" y="0"/>
                  </a:moveTo>
                  <a:lnTo>
                    <a:pt x="2944571" y="0"/>
                  </a:lnTo>
                  <a:lnTo>
                    <a:pt x="2944571" y="4742934"/>
                  </a:lnTo>
                  <a:lnTo>
                    <a:pt x="0" y="4742934"/>
                  </a:lnTo>
                  <a:lnTo>
                    <a:pt x="0" y="0"/>
                  </a:lnTo>
                  <a:close/>
                </a:path>
              </a:pathLst>
            </a:custGeom>
            <a:noFill/>
            <a:ln>
              <a:noFill/>
            </a:ln>
            <a:sp3d/>
          </p:spPr>
          <p:style>
            <a:lnRef idx="2">
              <a:scrgbClr r="0" g="0" b="0"/>
            </a:lnRef>
            <a:fillRef idx="1">
              <a:scrgbClr r="0" g="0" b="0"/>
            </a:fillRef>
            <a:effectRef idx="0">
              <a:schemeClr val="accent4">
                <a:hueOff val="-1488257"/>
                <a:satOff val="8966"/>
                <a:lumOff val="719"/>
                <a:alphaOff val="0"/>
              </a:schemeClr>
            </a:effectRef>
            <a:fontRef idx="minor">
              <a:schemeClr val="lt1"/>
            </a:fontRef>
          </p:style>
          <p:txBody>
            <a:bodyPr spcFirstLastPara="0" vert="horz" wrap="square" lIns="0" tIns="82296" rIns="0" bIns="0" numCol="1" spcCol="1270" anchor="t" anchorCtr="0">
              <a:noAutofit/>
            </a:bodyPr>
            <a:lstStyle/>
            <a:p>
              <a:pPr lvl="0" algn="l" defTabSz="1066800">
                <a:lnSpc>
                  <a:spcPct val="90000"/>
                </a:lnSpc>
                <a:spcBef>
                  <a:spcPct val="0"/>
                </a:spcBef>
                <a:spcAft>
                  <a:spcPct val="35000"/>
                </a:spcAft>
              </a:pPr>
              <a:br>
                <a:rPr lang="en-IN" sz="2000" dirty="0">
                  <a:latin typeface="Lato" panose="020F0502020204030203" pitchFamily="34" charset="0"/>
                  <a:ea typeface="Lato" panose="020F0502020204030203" pitchFamily="34" charset="0"/>
                  <a:cs typeface="Lato" panose="020F0502020204030203" pitchFamily="34" charset="0"/>
                </a:rPr>
              </a:br>
              <a:r>
                <a:rPr lang="en-IN" dirty="0">
                  <a:latin typeface="Lato" panose="020F0502020204030203" pitchFamily="34" charset="0"/>
                  <a:ea typeface="Lato" panose="020F0502020204030203" pitchFamily="34" charset="0"/>
                  <a:cs typeface="Lato" panose="020F0502020204030203" pitchFamily="34" charset="0"/>
                </a:rPr>
                <a:t>Infra and Database Migration</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SAP Migration</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Virtual Desktop Infrastructure</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Migrating to Azure VMWare Solution</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Migrate Enterprise Apps</a:t>
              </a:r>
            </a:p>
          </p:txBody>
        </p:sp>
      </p:grpSp>
      <p:grpSp>
        <p:nvGrpSpPr>
          <p:cNvPr id="23" name="Group 22">
            <a:extLst>
              <a:ext uri="{FF2B5EF4-FFF2-40B4-BE49-F238E27FC236}">
                <a16:creationId xmlns:a16="http://schemas.microsoft.com/office/drawing/2014/main" id="{C073EDC1-16E6-EE17-B586-742C4E91AD5E}"/>
              </a:ext>
            </a:extLst>
          </p:cNvPr>
          <p:cNvGrpSpPr/>
          <p:nvPr/>
        </p:nvGrpSpPr>
        <p:grpSpPr>
          <a:xfrm>
            <a:off x="8804822" y="2190449"/>
            <a:ext cx="4192267" cy="4429918"/>
            <a:chOff x="8804822" y="1961849"/>
            <a:chExt cx="4192267" cy="4429918"/>
          </a:xfrm>
        </p:grpSpPr>
        <p:grpSp>
          <p:nvGrpSpPr>
            <p:cNvPr id="16" name="Group 15">
              <a:extLst>
                <a:ext uri="{FF2B5EF4-FFF2-40B4-BE49-F238E27FC236}">
                  <a16:creationId xmlns:a16="http://schemas.microsoft.com/office/drawing/2014/main" id="{63FA3310-A15A-A3E7-3E56-A9212C560C18}"/>
                </a:ext>
              </a:extLst>
            </p:cNvPr>
            <p:cNvGrpSpPr/>
            <p:nvPr/>
          </p:nvGrpSpPr>
          <p:grpSpPr>
            <a:xfrm>
              <a:off x="9044643" y="1961849"/>
              <a:ext cx="3952446" cy="4429918"/>
              <a:chOff x="9044643" y="1961849"/>
              <a:chExt cx="3952446" cy="4429918"/>
            </a:xfrm>
          </p:grpSpPr>
          <p:sp>
            <p:nvSpPr>
              <p:cNvPr id="9" name="Freeform: Shape 8">
                <a:extLst>
                  <a:ext uri="{FF2B5EF4-FFF2-40B4-BE49-F238E27FC236}">
                    <a16:creationId xmlns:a16="http://schemas.microsoft.com/office/drawing/2014/main" id="{E26C43A7-F8B0-01AE-1A46-2427491B9244}"/>
                  </a:ext>
                </a:extLst>
              </p:cNvPr>
              <p:cNvSpPr/>
              <p:nvPr/>
            </p:nvSpPr>
            <p:spPr>
              <a:xfrm rot="16200000">
                <a:off x="8958088" y="2048404"/>
                <a:ext cx="4125555" cy="3952446"/>
              </a:xfrm>
              <a:custGeom>
                <a:avLst/>
                <a:gdLst>
                  <a:gd name="connsiteX0" fmla="*/ 0 w 3952445"/>
                  <a:gd name="connsiteY0" fmla="*/ 197622 h 4742934"/>
                  <a:gd name="connsiteX1" fmla="*/ 197622 w 3952445"/>
                  <a:gd name="connsiteY1" fmla="*/ 0 h 4742934"/>
                  <a:gd name="connsiteX2" fmla="*/ 3754823 w 3952445"/>
                  <a:gd name="connsiteY2" fmla="*/ 0 h 4742934"/>
                  <a:gd name="connsiteX3" fmla="*/ 3952445 w 3952445"/>
                  <a:gd name="connsiteY3" fmla="*/ 197622 h 4742934"/>
                  <a:gd name="connsiteX4" fmla="*/ 3952445 w 3952445"/>
                  <a:gd name="connsiteY4" fmla="*/ 4545312 h 4742934"/>
                  <a:gd name="connsiteX5" fmla="*/ 3754823 w 3952445"/>
                  <a:gd name="connsiteY5" fmla="*/ 4742934 h 4742934"/>
                  <a:gd name="connsiteX6" fmla="*/ 197622 w 3952445"/>
                  <a:gd name="connsiteY6" fmla="*/ 4742934 h 4742934"/>
                  <a:gd name="connsiteX7" fmla="*/ 0 w 3952445"/>
                  <a:gd name="connsiteY7" fmla="*/ 4545312 h 4742934"/>
                  <a:gd name="connsiteX8" fmla="*/ 0 w 3952445"/>
                  <a:gd name="connsiteY8" fmla="*/ 197622 h 474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2445" h="4742934">
                    <a:moveTo>
                      <a:pt x="3787760" y="1"/>
                    </a:moveTo>
                    <a:cubicBezTo>
                      <a:pt x="3878713" y="1"/>
                      <a:pt x="3952445" y="106174"/>
                      <a:pt x="3952445" y="237147"/>
                    </a:cubicBezTo>
                    <a:lnTo>
                      <a:pt x="3952445" y="4505787"/>
                    </a:lnTo>
                    <a:cubicBezTo>
                      <a:pt x="3952445" y="4636760"/>
                      <a:pt x="3878713" y="4742933"/>
                      <a:pt x="3787760" y="4742933"/>
                    </a:cubicBezTo>
                    <a:lnTo>
                      <a:pt x="164685" y="4742933"/>
                    </a:lnTo>
                    <a:cubicBezTo>
                      <a:pt x="73732" y="4742933"/>
                      <a:pt x="0" y="4636760"/>
                      <a:pt x="0" y="4505787"/>
                    </a:cubicBezTo>
                    <a:lnTo>
                      <a:pt x="0" y="237147"/>
                    </a:lnTo>
                    <a:cubicBezTo>
                      <a:pt x="0" y="106174"/>
                      <a:pt x="73732" y="1"/>
                      <a:pt x="164685" y="1"/>
                    </a:cubicBezTo>
                    <a:lnTo>
                      <a:pt x="3787760" y="1"/>
                    </a:lnTo>
                    <a:close/>
                  </a:path>
                </a:pathLst>
              </a:custGeom>
              <a:solidFill>
                <a:schemeClr val="accent4">
                  <a:lumMod val="75000"/>
                </a:schemeClr>
              </a:solidFill>
            </p:spPr>
            <p:style>
              <a:lnRef idx="2">
                <a:schemeClr val="lt1">
                  <a:hueOff val="0"/>
                  <a:satOff val="0"/>
                  <a:lumOff val="0"/>
                  <a:alphaOff val="0"/>
                </a:schemeClr>
              </a:lnRef>
              <a:fillRef idx="1">
                <a:schemeClr val="accent4">
                  <a:hueOff val="-2976513"/>
                  <a:satOff val="17933"/>
                  <a:lumOff val="1437"/>
                  <a:alphaOff val="0"/>
                </a:schemeClr>
              </a:fillRef>
              <a:effectRef idx="0">
                <a:schemeClr val="accent4">
                  <a:hueOff val="-2976513"/>
                  <a:satOff val="17933"/>
                  <a:lumOff val="1437"/>
                  <a:alphaOff val="0"/>
                </a:schemeClr>
              </a:effectRef>
              <a:fontRef idx="minor">
                <a:schemeClr val="lt1"/>
              </a:fontRef>
            </p:style>
            <p:txBody>
              <a:bodyPr spcFirstLastPara="0" vert="horz" wrap="square" lIns="853727" tIns="99441" rIns="128906" bIns="3161956" numCol="1" spcCol="1270" anchor="t" anchorCtr="0">
                <a:noAutofit/>
              </a:bodyPr>
              <a:lstStyle/>
              <a:p>
                <a:pPr marL="0" lvl="0" indent="0" algn="ctr" defTabSz="1289050">
                  <a:lnSpc>
                    <a:spcPct val="90000"/>
                  </a:lnSpc>
                  <a:spcBef>
                    <a:spcPct val="0"/>
                  </a:spcBef>
                  <a:spcAft>
                    <a:spcPct val="35000"/>
                  </a:spcAft>
                  <a:buNone/>
                </a:pPr>
                <a:r>
                  <a:rPr lang="en-US" sz="2000" dirty="0">
                    <a:latin typeface="Lato" panose="020F0502020204030203" pitchFamily="34" charset="0"/>
                    <a:ea typeface="Lato" panose="020F0502020204030203" pitchFamily="34" charset="0"/>
                    <a:cs typeface="Lato" panose="020F0502020204030203" pitchFamily="34" charset="0"/>
                  </a:rPr>
                  <a:t>OPERATE</a:t>
                </a:r>
                <a:endParaRPr lang="en-IN" sz="2000" dirty="0">
                  <a:latin typeface="Lato" panose="020F0502020204030203" pitchFamily="34" charset="0"/>
                  <a:ea typeface="Lato" panose="020F0502020204030203" pitchFamily="34" charset="0"/>
                  <a:cs typeface="Lato" panose="020F0502020204030203" pitchFamily="34" charset="0"/>
                </a:endParaRPr>
              </a:p>
            </p:txBody>
          </p:sp>
          <p:sp>
            <p:nvSpPr>
              <p:cNvPr id="18" name="Freeform: Shape 17">
                <a:extLst>
                  <a:ext uri="{FF2B5EF4-FFF2-40B4-BE49-F238E27FC236}">
                    <a16:creationId xmlns:a16="http://schemas.microsoft.com/office/drawing/2014/main" id="{01C6411F-A97A-11AD-3AA1-8D32C70C0771}"/>
                  </a:ext>
                </a:extLst>
              </p:cNvPr>
              <p:cNvSpPr/>
              <p:nvPr/>
            </p:nvSpPr>
            <p:spPr>
              <a:xfrm>
                <a:off x="9835132" y="1961850"/>
                <a:ext cx="2944571" cy="4429917"/>
              </a:xfrm>
              <a:custGeom>
                <a:avLst/>
                <a:gdLst>
                  <a:gd name="connsiteX0" fmla="*/ 0 w 2944571"/>
                  <a:gd name="connsiteY0" fmla="*/ 0 h 4742934"/>
                  <a:gd name="connsiteX1" fmla="*/ 2944571 w 2944571"/>
                  <a:gd name="connsiteY1" fmla="*/ 0 h 4742934"/>
                  <a:gd name="connsiteX2" fmla="*/ 2944571 w 2944571"/>
                  <a:gd name="connsiteY2" fmla="*/ 4742934 h 4742934"/>
                  <a:gd name="connsiteX3" fmla="*/ 0 w 2944571"/>
                  <a:gd name="connsiteY3" fmla="*/ 4742934 h 4742934"/>
                  <a:gd name="connsiteX4" fmla="*/ 0 w 2944571"/>
                  <a:gd name="connsiteY4" fmla="*/ 0 h 4742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571" h="4742934">
                    <a:moveTo>
                      <a:pt x="0" y="0"/>
                    </a:moveTo>
                    <a:lnTo>
                      <a:pt x="2944571" y="0"/>
                    </a:lnTo>
                    <a:lnTo>
                      <a:pt x="2944571" y="4742934"/>
                    </a:lnTo>
                    <a:lnTo>
                      <a:pt x="0" y="4742934"/>
                    </a:lnTo>
                    <a:lnTo>
                      <a:pt x="0" y="0"/>
                    </a:lnTo>
                    <a:close/>
                  </a:path>
                </a:pathLst>
              </a:custGeom>
              <a:noFill/>
              <a:ln>
                <a:noFill/>
              </a:ln>
              <a:sp3d/>
            </p:spPr>
            <p:style>
              <a:lnRef idx="2">
                <a:scrgbClr r="0" g="0" b="0"/>
              </a:lnRef>
              <a:fillRef idx="1">
                <a:scrgbClr r="0" g="0" b="0"/>
              </a:fillRef>
              <a:effectRef idx="0">
                <a:schemeClr val="accent4">
                  <a:hueOff val="-2976513"/>
                  <a:satOff val="17933"/>
                  <a:lumOff val="1437"/>
                  <a:alphaOff val="0"/>
                </a:schemeClr>
              </a:effectRef>
              <a:fontRef idx="minor">
                <a:schemeClr val="lt1"/>
              </a:fontRef>
            </p:style>
            <p:txBody>
              <a:bodyPr spcFirstLastPara="0" vert="horz" wrap="square" lIns="0" tIns="82296" rIns="0" bIns="0" numCol="1" spcCol="1270" anchor="t" anchorCtr="0">
                <a:noAutofit/>
              </a:bodyPr>
              <a:lstStyle/>
              <a:p>
                <a:pPr lvl="0" algn="l" defTabSz="1066800">
                  <a:lnSpc>
                    <a:spcPct val="90000"/>
                  </a:lnSpc>
                  <a:spcBef>
                    <a:spcPct val="0"/>
                  </a:spcBef>
                  <a:spcAft>
                    <a:spcPct val="35000"/>
                  </a:spcAft>
                </a:pPr>
                <a:br>
                  <a:rPr lang="en-IN" sz="2000" dirty="0">
                    <a:latin typeface="Lato" panose="020F0502020204030203" pitchFamily="34" charset="0"/>
                    <a:ea typeface="Lato" panose="020F0502020204030203" pitchFamily="34" charset="0"/>
                    <a:cs typeface="Lato" panose="020F0502020204030203" pitchFamily="34" charset="0"/>
                  </a:rPr>
                </a:br>
                <a:r>
                  <a:rPr lang="en-IN" dirty="0">
                    <a:latin typeface="Lato" panose="020F0502020204030203" pitchFamily="34" charset="0"/>
                    <a:ea typeface="Lato" panose="020F0502020204030203" pitchFamily="34" charset="0"/>
                    <a:cs typeface="Lato" panose="020F0502020204030203" pitchFamily="34" charset="0"/>
                  </a:rPr>
                  <a:t>Proactive monitoring</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Ticket Management System</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Security Management</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Effective SLA response time</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Best practices recommendations</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Change Management</a:t>
                </a:r>
              </a:p>
              <a:p>
                <a:pPr lvl="0" algn="l" defTabSz="1066800">
                  <a:lnSpc>
                    <a:spcPct val="90000"/>
                  </a:lnSpc>
                  <a:spcBef>
                    <a:spcPct val="0"/>
                  </a:spcBef>
                  <a:spcAft>
                    <a:spcPct val="35000"/>
                  </a:spcAft>
                </a:pPr>
                <a:r>
                  <a:rPr lang="en-IN" dirty="0">
                    <a:latin typeface="Lato" panose="020F0502020204030203" pitchFamily="34" charset="0"/>
                    <a:ea typeface="Lato" panose="020F0502020204030203" pitchFamily="34" charset="0"/>
                    <a:cs typeface="Lato" panose="020F0502020204030203" pitchFamily="34" charset="0"/>
                  </a:rPr>
                  <a:t>Patch Management</a:t>
                </a:r>
              </a:p>
              <a:p>
                <a:pPr marL="228600" lvl="1" indent="-228600" algn="l" defTabSz="1066800">
                  <a:lnSpc>
                    <a:spcPct val="90000"/>
                  </a:lnSpc>
                  <a:spcBef>
                    <a:spcPct val="0"/>
                  </a:spcBef>
                  <a:spcAft>
                    <a:spcPct val="15000"/>
                  </a:spcAft>
                  <a:buChar char="•"/>
                </a:pPr>
                <a:endParaRPr lang="en-IN" dirty="0"/>
              </a:p>
            </p:txBody>
          </p:sp>
        </p:grpSp>
        <p:sp>
          <p:nvSpPr>
            <p:cNvPr id="2" name="Flowchart: Extract 1">
              <a:extLst>
                <a:ext uri="{FF2B5EF4-FFF2-40B4-BE49-F238E27FC236}">
                  <a16:creationId xmlns:a16="http://schemas.microsoft.com/office/drawing/2014/main" id="{1B46BD1C-7AE8-C779-6C53-10DE8DFA7FD2}"/>
                </a:ext>
              </a:extLst>
            </p:cNvPr>
            <p:cNvSpPr/>
            <p:nvPr/>
          </p:nvSpPr>
          <p:spPr>
            <a:xfrm rot="5400000">
              <a:off x="8766554" y="5498336"/>
              <a:ext cx="476673" cy="400138"/>
            </a:xfrm>
            <a:prstGeom prst="flowChartExtract">
              <a:avLst/>
            </a:pr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grpSp>
      <p:grpSp>
        <p:nvGrpSpPr>
          <p:cNvPr id="22" name="Group 21">
            <a:extLst>
              <a:ext uri="{FF2B5EF4-FFF2-40B4-BE49-F238E27FC236}">
                <a16:creationId xmlns:a16="http://schemas.microsoft.com/office/drawing/2014/main" id="{D9634179-C828-F7C1-1948-46CDA369D6D7}"/>
              </a:ext>
            </a:extLst>
          </p:cNvPr>
          <p:cNvGrpSpPr/>
          <p:nvPr/>
        </p:nvGrpSpPr>
        <p:grpSpPr>
          <a:xfrm>
            <a:off x="12913208" y="2190449"/>
            <a:ext cx="4174662" cy="4429918"/>
            <a:chOff x="12913208" y="1961849"/>
            <a:chExt cx="4174662" cy="4429918"/>
          </a:xfrm>
        </p:grpSpPr>
        <p:grpSp>
          <p:nvGrpSpPr>
            <p:cNvPr id="17" name="Group 16">
              <a:extLst>
                <a:ext uri="{FF2B5EF4-FFF2-40B4-BE49-F238E27FC236}">
                  <a16:creationId xmlns:a16="http://schemas.microsoft.com/office/drawing/2014/main" id="{844431E5-9307-B10C-795B-838A3F8AD885}"/>
                </a:ext>
              </a:extLst>
            </p:cNvPr>
            <p:cNvGrpSpPr/>
            <p:nvPr/>
          </p:nvGrpSpPr>
          <p:grpSpPr>
            <a:xfrm>
              <a:off x="13135424" y="1961849"/>
              <a:ext cx="3952446" cy="4429918"/>
              <a:chOff x="13135424" y="1961849"/>
              <a:chExt cx="3952446" cy="4429918"/>
            </a:xfrm>
          </p:grpSpPr>
          <p:sp>
            <p:nvSpPr>
              <p:cNvPr id="19" name="Freeform: Shape 18">
                <a:extLst>
                  <a:ext uri="{FF2B5EF4-FFF2-40B4-BE49-F238E27FC236}">
                    <a16:creationId xmlns:a16="http://schemas.microsoft.com/office/drawing/2014/main" id="{3FB77588-4A4E-4BE7-ECD1-FE12C3A3602C}"/>
                  </a:ext>
                </a:extLst>
              </p:cNvPr>
              <p:cNvSpPr/>
              <p:nvPr/>
            </p:nvSpPr>
            <p:spPr>
              <a:xfrm rot="16200000">
                <a:off x="13048869" y="2048404"/>
                <a:ext cx="4125555" cy="3952446"/>
              </a:xfrm>
              <a:custGeom>
                <a:avLst/>
                <a:gdLst>
                  <a:gd name="connsiteX0" fmla="*/ 0 w 3952445"/>
                  <a:gd name="connsiteY0" fmla="*/ 197622 h 4742934"/>
                  <a:gd name="connsiteX1" fmla="*/ 197622 w 3952445"/>
                  <a:gd name="connsiteY1" fmla="*/ 0 h 4742934"/>
                  <a:gd name="connsiteX2" fmla="*/ 3754823 w 3952445"/>
                  <a:gd name="connsiteY2" fmla="*/ 0 h 4742934"/>
                  <a:gd name="connsiteX3" fmla="*/ 3952445 w 3952445"/>
                  <a:gd name="connsiteY3" fmla="*/ 197622 h 4742934"/>
                  <a:gd name="connsiteX4" fmla="*/ 3952445 w 3952445"/>
                  <a:gd name="connsiteY4" fmla="*/ 4545312 h 4742934"/>
                  <a:gd name="connsiteX5" fmla="*/ 3754823 w 3952445"/>
                  <a:gd name="connsiteY5" fmla="*/ 4742934 h 4742934"/>
                  <a:gd name="connsiteX6" fmla="*/ 197622 w 3952445"/>
                  <a:gd name="connsiteY6" fmla="*/ 4742934 h 4742934"/>
                  <a:gd name="connsiteX7" fmla="*/ 0 w 3952445"/>
                  <a:gd name="connsiteY7" fmla="*/ 4545312 h 4742934"/>
                  <a:gd name="connsiteX8" fmla="*/ 0 w 3952445"/>
                  <a:gd name="connsiteY8" fmla="*/ 197622 h 474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2445" h="4742934">
                    <a:moveTo>
                      <a:pt x="3787760" y="1"/>
                    </a:moveTo>
                    <a:cubicBezTo>
                      <a:pt x="3878713" y="1"/>
                      <a:pt x="3952445" y="106174"/>
                      <a:pt x="3952445" y="237147"/>
                    </a:cubicBezTo>
                    <a:lnTo>
                      <a:pt x="3952445" y="4505787"/>
                    </a:lnTo>
                    <a:cubicBezTo>
                      <a:pt x="3952445" y="4636760"/>
                      <a:pt x="3878713" y="4742933"/>
                      <a:pt x="3787760" y="4742933"/>
                    </a:cubicBezTo>
                    <a:lnTo>
                      <a:pt x="164685" y="4742933"/>
                    </a:lnTo>
                    <a:cubicBezTo>
                      <a:pt x="73732" y="4742933"/>
                      <a:pt x="0" y="4636760"/>
                      <a:pt x="0" y="4505787"/>
                    </a:cubicBezTo>
                    <a:lnTo>
                      <a:pt x="0" y="237147"/>
                    </a:lnTo>
                    <a:cubicBezTo>
                      <a:pt x="0" y="106174"/>
                      <a:pt x="73732" y="1"/>
                      <a:pt x="164685" y="1"/>
                    </a:cubicBezTo>
                    <a:lnTo>
                      <a:pt x="3787760" y="1"/>
                    </a:lnTo>
                    <a:close/>
                  </a:path>
                </a:pathLst>
              </a:custGeom>
              <a:solidFill>
                <a:schemeClr val="bg1">
                  <a:lumMod val="50000"/>
                </a:schemeClr>
              </a:solidFill>
            </p:spPr>
            <p:style>
              <a:lnRef idx="2">
                <a:schemeClr val="lt1">
                  <a:hueOff val="0"/>
                  <a:satOff val="0"/>
                  <a:lumOff val="0"/>
                  <a:alphaOff val="0"/>
                </a:schemeClr>
              </a:lnRef>
              <a:fillRef idx="1">
                <a:schemeClr val="accent4">
                  <a:hueOff val="-4464770"/>
                  <a:satOff val="26899"/>
                  <a:lumOff val="2156"/>
                  <a:alphaOff val="0"/>
                </a:schemeClr>
              </a:fillRef>
              <a:effectRef idx="0">
                <a:schemeClr val="accent4">
                  <a:hueOff val="-4464770"/>
                  <a:satOff val="26899"/>
                  <a:lumOff val="2156"/>
                  <a:alphaOff val="0"/>
                </a:schemeClr>
              </a:effectRef>
              <a:fontRef idx="minor">
                <a:schemeClr val="lt1"/>
              </a:fontRef>
            </p:style>
            <p:txBody>
              <a:bodyPr spcFirstLastPara="0" vert="horz" wrap="square" lIns="853727" tIns="99441" rIns="128906" bIns="3161956" numCol="1" spcCol="1270" anchor="t" anchorCtr="0">
                <a:noAutofit/>
              </a:bodyPr>
              <a:lstStyle/>
              <a:p>
                <a:pPr marL="0" lvl="0" indent="0" algn="ctr" defTabSz="1289050">
                  <a:lnSpc>
                    <a:spcPct val="90000"/>
                  </a:lnSpc>
                  <a:spcBef>
                    <a:spcPct val="0"/>
                  </a:spcBef>
                  <a:spcAft>
                    <a:spcPct val="35000"/>
                  </a:spcAft>
                  <a:buNone/>
                </a:pPr>
                <a:r>
                  <a:rPr lang="en-US" sz="2000" dirty="0">
                    <a:latin typeface="Lato" panose="020F0502020204030203" pitchFamily="34" charset="0"/>
                    <a:ea typeface="Lato" panose="020F0502020204030203" pitchFamily="34" charset="0"/>
                    <a:cs typeface="Lato" panose="020F0502020204030203" pitchFamily="34" charset="0"/>
                  </a:rPr>
                  <a:t>OPTIMIZE</a:t>
                </a:r>
                <a:endParaRPr lang="en-IN" sz="2000" dirty="0">
                  <a:latin typeface="Lato" panose="020F0502020204030203" pitchFamily="34" charset="0"/>
                  <a:ea typeface="Lato" panose="020F0502020204030203" pitchFamily="34" charset="0"/>
                  <a:cs typeface="Lato" panose="020F0502020204030203" pitchFamily="34" charset="0"/>
                </a:endParaRPr>
              </a:p>
            </p:txBody>
          </p:sp>
          <p:sp>
            <p:nvSpPr>
              <p:cNvPr id="21" name="Freeform: Shape 20">
                <a:extLst>
                  <a:ext uri="{FF2B5EF4-FFF2-40B4-BE49-F238E27FC236}">
                    <a16:creationId xmlns:a16="http://schemas.microsoft.com/office/drawing/2014/main" id="{18D54E57-BC3A-27D1-A9B6-7FAC6F6A9686}"/>
                  </a:ext>
                </a:extLst>
              </p:cNvPr>
              <p:cNvSpPr/>
              <p:nvPr/>
            </p:nvSpPr>
            <p:spPr>
              <a:xfrm>
                <a:off x="13925913" y="1961850"/>
                <a:ext cx="2944571" cy="4429917"/>
              </a:xfrm>
              <a:custGeom>
                <a:avLst/>
                <a:gdLst>
                  <a:gd name="connsiteX0" fmla="*/ 0 w 2944571"/>
                  <a:gd name="connsiteY0" fmla="*/ 0 h 4742934"/>
                  <a:gd name="connsiteX1" fmla="*/ 2944571 w 2944571"/>
                  <a:gd name="connsiteY1" fmla="*/ 0 h 4742934"/>
                  <a:gd name="connsiteX2" fmla="*/ 2944571 w 2944571"/>
                  <a:gd name="connsiteY2" fmla="*/ 4742934 h 4742934"/>
                  <a:gd name="connsiteX3" fmla="*/ 0 w 2944571"/>
                  <a:gd name="connsiteY3" fmla="*/ 4742934 h 4742934"/>
                  <a:gd name="connsiteX4" fmla="*/ 0 w 2944571"/>
                  <a:gd name="connsiteY4" fmla="*/ 0 h 4742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571" h="4742934">
                    <a:moveTo>
                      <a:pt x="0" y="0"/>
                    </a:moveTo>
                    <a:lnTo>
                      <a:pt x="2944571" y="0"/>
                    </a:lnTo>
                    <a:lnTo>
                      <a:pt x="2944571" y="4742934"/>
                    </a:lnTo>
                    <a:lnTo>
                      <a:pt x="0" y="4742934"/>
                    </a:lnTo>
                    <a:lnTo>
                      <a:pt x="0" y="0"/>
                    </a:lnTo>
                    <a:close/>
                  </a:path>
                </a:pathLst>
              </a:custGeom>
              <a:noFill/>
              <a:ln>
                <a:noFill/>
              </a:ln>
              <a:sp3d/>
            </p:spPr>
            <p:style>
              <a:lnRef idx="2">
                <a:scrgbClr r="0" g="0" b="0"/>
              </a:lnRef>
              <a:fillRef idx="1">
                <a:scrgbClr r="0" g="0" b="0"/>
              </a:fillRef>
              <a:effectRef idx="0">
                <a:schemeClr val="accent4">
                  <a:hueOff val="-4464770"/>
                  <a:satOff val="26899"/>
                  <a:lumOff val="2156"/>
                  <a:alphaOff val="0"/>
                </a:schemeClr>
              </a:effectRef>
              <a:fontRef idx="minor">
                <a:schemeClr val="lt1"/>
              </a:fontRef>
            </p:style>
            <p:txBody>
              <a:bodyPr spcFirstLastPara="0" vert="horz" wrap="square" lIns="0" tIns="82296" rIns="0" bIns="0" numCol="1" spcCol="1270" anchor="t" anchorCtr="0">
                <a:noAutofit/>
              </a:bodyPr>
              <a:lstStyle/>
              <a:p>
                <a:pPr lvl="0" algn="l" defTabSz="1066800">
                  <a:lnSpc>
                    <a:spcPct val="90000"/>
                  </a:lnSpc>
                  <a:spcBef>
                    <a:spcPct val="0"/>
                  </a:spcBef>
                  <a:spcAft>
                    <a:spcPct val="35000"/>
                  </a:spcAft>
                </a:pPr>
                <a:br>
                  <a:rPr lang="en-US" sz="2000" dirty="0">
                    <a:latin typeface="Lato" panose="020F0502020204030203" pitchFamily="34" charset="0"/>
                    <a:ea typeface="Lato" panose="020F0502020204030203" pitchFamily="34" charset="0"/>
                    <a:cs typeface="Lato" panose="020F0502020204030203" pitchFamily="34" charset="0"/>
                  </a:rPr>
                </a:br>
                <a:r>
                  <a:rPr lang="en-US" dirty="0">
                    <a:latin typeface="Lato" panose="020F0502020204030203" pitchFamily="34" charset="0"/>
                    <a:ea typeface="Lato" panose="020F0502020204030203" pitchFamily="34" charset="0"/>
                    <a:cs typeface="Lato" panose="020F0502020204030203" pitchFamily="34" charset="0"/>
                  </a:rPr>
                  <a:t>Utilization Monitoring</a:t>
                </a:r>
                <a:endParaRPr lang="en-IN" dirty="0">
                  <a:latin typeface="Lato" panose="020F0502020204030203" pitchFamily="34" charset="0"/>
                  <a:ea typeface="Lato" panose="020F0502020204030203" pitchFamily="34" charset="0"/>
                  <a:cs typeface="Lato" panose="020F0502020204030203" pitchFamily="34" charset="0"/>
                </a:endParaRP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Monitoring performance efficiency</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Configuration of Alerts</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Re-engineering</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Implement new features and services</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Improve the cost visibility</a:t>
                </a:r>
              </a:p>
              <a:p>
                <a:pPr lvl="0" algn="l" defTabSz="1066800">
                  <a:lnSpc>
                    <a:spcPct val="90000"/>
                  </a:lnSpc>
                  <a:spcBef>
                    <a:spcPct val="0"/>
                  </a:spcBef>
                  <a:spcAft>
                    <a:spcPct val="35000"/>
                  </a:spcAft>
                </a:pPr>
                <a:r>
                  <a:rPr lang="en-US" dirty="0">
                    <a:latin typeface="Lato" panose="020F0502020204030203" pitchFamily="34" charset="0"/>
                    <a:ea typeface="Lato" panose="020F0502020204030203" pitchFamily="34" charset="0"/>
                    <a:cs typeface="Lato" panose="020F0502020204030203" pitchFamily="34" charset="0"/>
                  </a:rPr>
                  <a:t>Fine-tuning of sizing, elasticity, and backups</a:t>
                </a:r>
              </a:p>
            </p:txBody>
          </p:sp>
        </p:grpSp>
        <p:sp>
          <p:nvSpPr>
            <p:cNvPr id="12" name="Flowchart: Extract 11">
              <a:extLst>
                <a:ext uri="{FF2B5EF4-FFF2-40B4-BE49-F238E27FC236}">
                  <a16:creationId xmlns:a16="http://schemas.microsoft.com/office/drawing/2014/main" id="{F9C542CE-115E-6D03-78A8-82D5944D22A6}"/>
                </a:ext>
              </a:extLst>
            </p:cNvPr>
            <p:cNvSpPr/>
            <p:nvPr/>
          </p:nvSpPr>
          <p:spPr>
            <a:xfrm rot="5400000">
              <a:off x="12890144" y="5483134"/>
              <a:ext cx="476672" cy="430544"/>
            </a:xfrm>
            <a:prstGeom prst="flowChartExtract">
              <a:avLst/>
            </a:pr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grpSp>
      <p:sp>
        <p:nvSpPr>
          <p:cNvPr id="15" name="Rectangle: Diagonal Corners Rounded 14">
            <a:extLst>
              <a:ext uri="{FF2B5EF4-FFF2-40B4-BE49-F238E27FC236}">
                <a16:creationId xmlns:a16="http://schemas.microsoft.com/office/drawing/2014/main" id="{3674E16B-AA90-B718-7C6A-7D2D3E17379F}"/>
              </a:ext>
            </a:extLst>
          </p:cNvPr>
          <p:cNvSpPr/>
          <p:nvPr/>
        </p:nvSpPr>
        <p:spPr>
          <a:xfrm>
            <a:off x="2002065" y="7814729"/>
            <a:ext cx="2664034" cy="1432626"/>
          </a:xfrm>
          <a:prstGeom prst="round2DiagRect">
            <a:avLst>
              <a:gd name="adj1" fmla="val 0"/>
              <a:gd name="adj2" fmla="val 16670"/>
            </a:avLst>
          </a:prstGeom>
          <a:solidFill>
            <a:srgbClr val="70AF5F"/>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latin typeface="Lato" panose="020F0502020204030203" pitchFamily="34" charset="0"/>
                <a:ea typeface="Lato" panose="020F0502020204030203" pitchFamily="34" charset="0"/>
                <a:cs typeface="Lato" panose="020F0502020204030203" pitchFamily="34" charset="0"/>
              </a:rPr>
              <a:t>Expert &amp; Microsoft </a:t>
            </a:r>
            <a:r>
              <a:rPr lang="en-US" sz="2400" dirty="0">
                <a:latin typeface="Lato" panose="020F0502020204030203" pitchFamily="34" charset="0"/>
                <a:ea typeface="Lato" panose="020F0502020204030203" pitchFamily="34" charset="0"/>
                <a:cs typeface="Lato" panose="020F0502020204030203" pitchFamily="34" charset="0"/>
              </a:rPr>
              <a:t>Certified</a:t>
            </a:r>
            <a:r>
              <a:rPr lang="en-US" dirty="0">
                <a:latin typeface="Lato" panose="020F0502020204030203" pitchFamily="34" charset="0"/>
                <a:ea typeface="Lato" panose="020F0502020204030203" pitchFamily="34" charset="0"/>
                <a:cs typeface="Lato" panose="020F0502020204030203" pitchFamily="34" charset="0"/>
              </a:rPr>
              <a:t> Resources</a:t>
            </a:r>
          </a:p>
        </p:txBody>
      </p:sp>
      <p:sp>
        <p:nvSpPr>
          <p:cNvPr id="30" name="Rectangle: Diagonal Corners Rounded 29">
            <a:extLst>
              <a:ext uri="{FF2B5EF4-FFF2-40B4-BE49-F238E27FC236}">
                <a16:creationId xmlns:a16="http://schemas.microsoft.com/office/drawing/2014/main" id="{D6FB4522-1D22-ED88-D6ED-B9B6671AA80D}"/>
              </a:ext>
            </a:extLst>
          </p:cNvPr>
          <p:cNvSpPr/>
          <p:nvPr/>
        </p:nvSpPr>
        <p:spPr>
          <a:xfrm>
            <a:off x="4884456" y="7814729"/>
            <a:ext cx="2664034" cy="1432626"/>
          </a:xfrm>
          <a:prstGeom prst="round2DiagRect">
            <a:avLst>
              <a:gd name="adj1" fmla="val 0"/>
              <a:gd name="adj2" fmla="val 16670"/>
            </a:avLst>
          </a:prstGeom>
          <a:solidFill>
            <a:schemeClr val="tx2">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2400" dirty="0">
                <a:latin typeface="Lato" panose="020F0502020204030203" pitchFamily="34" charset="0"/>
                <a:ea typeface="Lato" panose="020F0502020204030203" pitchFamily="34" charset="0"/>
                <a:cs typeface="Lato" panose="020F0502020204030203" pitchFamily="34" charset="0"/>
              </a:rPr>
              <a:t>Workshops</a:t>
            </a:r>
            <a:r>
              <a:rPr lang="en-US" dirty="0">
                <a:latin typeface="Lato" panose="020F0502020204030203" pitchFamily="34" charset="0"/>
                <a:ea typeface="Lato" panose="020F0502020204030203" pitchFamily="34" charset="0"/>
                <a:cs typeface="Lato" panose="020F0502020204030203" pitchFamily="34" charset="0"/>
              </a:rPr>
              <a:t> to Build Customer Intent</a:t>
            </a:r>
          </a:p>
        </p:txBody>
      </p:sp>
      <p:sp>
        <p:nvSpPr>
          <p:cNvPr id="31" name="Rectangle: Diagonal Corners Rounded 30">
            <a:extLst>
              <a:ext uri="{FF2B5EF4-FFF2-40B4-BE49-F238E27FC236}">
                <a16:creationId xmlns:a16="http://schemas.microsoft.com/office/drawing/2014/main" id="{A3488C73-907D-7F67-312C-790598120C9D}"/>
              </a:ext>
            </a:extLst>
          </p:cNvPr>
          <p:cNvSpPr/>
          <p:nvPr/>
        </p:nvSpPr>
        <p:spPr>
          <a:xfrm>
            <a:off x="7766847" y="7814729"/>
            <a:ext cx="2664034" cy="1432626"/>
          </a:xfrm>
          <a:prstGeom prst="round2DiagRect">
            <a:avLst>
              <a:gd name="adj1" fmla="val 0"/>
              <a:gd name="adj2" fmla="val 16670"/>
            </a:avLst>
          </a:prstGeom>
          <a:solidFill>
            <a:schemeClr val="accent4">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2400" dirty="0">
                <a:latin typeface="Lato" panose="020F0502020204030203" pitchFamily="34" charset="0"/>
                <a:ea typeface="Lato" panose="020F0502020204030203" pitchFamily="34" charset="0"/>
                <a:cs typeface="Lato" panose="020F0502020204030203" pitchFamily="34" charset="0"/>
              </a:rPr>
              <a:t>Solutions Assessment</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32" name="Rectangle: Diagonal Corners Rounded 31">
            <a:extLst>
              <a:ext uri="{FF2B5EF4-FFF2-40B4-BE49-F238E27FC236}">
                <a16:creationId xmlns:a16="http://schemas.microsoft.com/office/drawing/2014/main" id="{4CC51535-91BC-BE61-46CA-8911D48F165F}"/>
              </a:ext>
            </a:extLst>
          </p:cNvPr>
          <p:cNvSpPr/>
          <p:nvPr/>
        </p:nvSpPr>
        <p:spPr>
          <a:xfrm>
            <a:off x="10649238" y="7814729"/>
            <a:ext cx="2664034" cy="1432626"/>
          </a:xfrm>
          <a:prstGeom prst="round2DiagRect">
            <a:avLst>
              <a:gd name="adj1" fmla="val 0"/>
              <a:gd name="adj2" fmla="val 16670"/>
            </a:avLst>
          </a:prstGeom>
          <a:solidFill>
            <a:schemeClr val="bg1">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dirty="0">
                <a:latin typeface="Lato" panose="020F0502020204030203" pitchFamily="34" charset="0"/>
                <a:ea typeface="Lato" panose="020F0502020204030203" pitchFamily="34" charset="0"/>
                <a:cs typeface="Lato" panose="020F0502020204030203" pitchFamily="34" charset="0"/>
              </a:rPr>
              <a:t>POC to Gain</a:t>
            </a:r>
            <a:br>
              <a:rPr lang="en-US" dirty="0">
                <a:latin typeface="Lato" panose="020F0502020204030203" pitchFamily="34" charset="0"/>
                <a:ea typeface="Lato" panose="020F0502020204030203" pitchFamily="34" charset="0"/>
                <a:cs typeface="Lato" panose="020F0502020204030203" pitchFamily="34" charset="0"/>
              </a:rPr>
            </a:br>
            <a:r>
              <a:rPr lang="en-US" dirty="0">
                <a:latin typeface="Lato" panose="020F0502020204030203" pitchFamily="34" charset="0"/>
                <a:ea typeface="Lato" panose="020F0502020204030203" pitchFamily="34" charset="0"/>
                <a:cs typeface="Lato" panose="020F0502020204030203" pitchFamily="34" charset="0"/>
              </a:rPr>
              <a:t> Customer </a:t>
            </a:r>
            <a:r>
              <a:rPr lang="en-US" sz="2400" dirty="0">
                <a:latin typeface="Lato" panose="020F0502020204030203" pitchFamily="34" charset="0"/>
                <a:ea typeface="Lato" panose="020F0502020204030203" pitchFamily="34" charset="0"/>
                <a:cs typeface="Lato" panose="020F0502020204030203" pitchFamily="34" charset="0"/>
              </a:rPr>
              <a:t>Confidence</a:t>
            </a:r>
            <a:endParaRPr lang="en-US" dirty="0">
              <a:latin typeface="Lato" panose="020F0502020204030203" pitchFamily="34" charset="0"/>
              <a:ea typeface="Lato" panose="020F0502020204030203" pitchFamily="34" charset="0"/>
              <a:cs typeface="Lato" panose="020F0502020204030203" pitchFamily="34" charset="0"/>
            </a:endParaRPr>
          </a:p>
        </p:txBody>
      </p:sp>
      <p:sp>
        <p:nvSpPr>
          <p:cNvPr id="33" name="Rectangle: Diagonal Corners Rounded 32">
            <a:extLst>
              <a:ext uri="{FF2B5EF4-FFF2-40B4-BE49-F238E27FC236}">
                <a16:creationId xmlns:a16="http://schemas.microsoft.com/office/drawing/2014/main" id="{4B5C2893-230E-F6AF-AC51-E7AD84588D0D}"/>
              </a:ext>
            </a:extLst>
          </p:cNvPr>
          <p:cNvSpPr/>
          <p:nvPr/>
        </p:nvSpPr>
        <p:spPr>
          <a:xfrm>
            <a:off x="13531629" y="7814729"/>
            <a:ext cx="2664034" cy="1432626"/>
          </a:xfrm>
          <a:prstGeom prst="round2DiagRect">
            <a:avLst>
              <a:gd name="adj1" fmla="val 0"/>
              <a:gd name="adj2" fmla="val 16670"/>
            </a:avLst>
          </a:prstGeom>
          <a:solidFill>
            <a:schemeClr val="accent5">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pPr algn="ctr"/>
            <a:r>
              <a:rPr lang="en-US" sz="2800" dirty="0">
                <a:latin typeface="Lato" panose="020F0502020204030203" pitchFamily="34" charset="0"/>
                <a:ea typeface="Lato" panose="020F0502020204030203" pitchFamily="34" charset="0"/>
                <a:cs typeface="Lato" panose="020F0502020204030203" pitchFamily="34" charset="0"/>
              </a:rPr>
              <a:t>Program</a:t>
            </a:r>
            <a:r>
              <a:rPr lang="en-US" sz="2400" dirty="0">
                <a:latin typeface="Lato" panose="020F0502020204030203" pitchFamily="34" charset="0"/>
                <a:ea typeface="Lato" panose="020F0502020204030203" pitchFamily="34" charset="0"/>
                <a:cs typeface="Lato" panose="020F0502020204030203" pitchFamily="34" charset="0"/>
              </a:rPr>
              <a:t> </a:t>
            </a:r>
            <a:br>
              <a:rPr lang="en-US" sz="2400" dirty="0">
                <a:latin typeface="Lato" panose="020F0502020204030203" pitchFamily="34" charset="0"/>
                <a:ea typeface="Lato" panose="020F0502020204030203" pitchFamily="34" charset="0"/>
                <a:cs typeface="Lato" panose="020F0502020204030203" pitchFamily="34" charset="0"/>
              </a:rPr>
            </a:br>
            <a:r>
              <a:rPr lang="en-US" sz="2400" dirty="0">
                <a:latin typeface="Lato" panose="020F0502020204030203" pitchFamily="34" charset="0"/>
                <a:ea typeface="Lato" panose="020F0502020204030203" pitchFamily="34" charset="0"/>
                <a:cs typeface="Lato" panose="020F0502020204030203" pitchFamily="34" charset="0"/>
              </a:rPr>
              <a:t>Benefits</a:t>
            </a:r>
          </a:p>
        </p:txBody>
      </p:sp>
      <p:grpSp>
        <p:nvGrpSpPr>
          <p:cNvPr id="20" name="Group 19">
            <a:extLst>
              <a:ext uri="{FF2B5EF4-FFF2-40B4-BE49-F238E27FC236}">
                <a16:creationId xmlns:a16="http://schemas.microsoft.com/office/drawing/2014/main" id="{8A9EE25C-F648-F6DF-867F-6298268C4333}"/>
              </a:ext>
            </a:extLst>
          </p:cNvPr>
          <p:cNvGrpSpPr/>
          <p:nvPr/>
        </p:nvGrpSpPr>
        <p:grpSpPr>
          <a:xfrm>
            <a:off x="2707410" y="6292517"/>
            <a:ext cx="12121124" cy="1142078"/>
            <a:chOff x="2707410" y="6063917"/>
            <a:chExt cx="12121124" cy="1142078"/>
          </a:xfrm>
        </p:grpSpPr>
        <p:sp>
          <p:nvSpPr>
            <p:cNvPr id="11" name="TextBox 10">
              <a:extLst>
                <a:ext uri="{FF2B5EF4-FFF2-40B4-BE49-F238E27FC236}">
                  <a16:creationId xmlns:a16="http://schemas.microsoft.com/office/drawing/2014/main" id="{013C22CF-A698-85FA-62E0-6FDE8E44812C}"/>
                </a:ext>
              </a:extLst>
            </p:cNvPr>
            <p:cNvSpPr txBox="1"/>
            <p:nvPr/>
          </p:nvSpPr>
          <p:spPr>
            <a:xfrm>
              <a:off x="4956997" y="6775108"/>
              <a:ext cx="914400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spc="-5" dirty="0">
                  <a:solidFill>
                    <a:schemeClr val="tx1"/>
                  </a:solidFill>
                  <a:latin typeface="Lato SemiBold" panose="020F0502020204030204" pitchFamily="34" charset="0"/>
                  <a:ea typeface="Lato SemiBold" panose="020F0502020204030204" pitchFamily="34" charset="0"/>
                  <a:cs typeface="Lato SemiBold" panose="020F0502020204030204" pitchFamily="34" charset="0"/>
                </a:rPr>
                <a:t>Secure : </a:t>
              </a:r>
              <a:r>
                <a:rPr kumimoji="0" lang="en-US" sz="2200" b="0" i="0" u="none" strike="noStrike" kern="1200" cap="none" spc="0" normalizeH="0" baseline="0" noProof="0" dirty="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Establish security baseline and manage security posture</a:t>
              </a:r>
            </a:p>
          </p:txBody>
        </p:sp>
        <p:sp>
          <p:nvSpPr>
            <p:cNvPr id="98" name="Left Brace 97">
              <a:extLst>
                <a:ext uri="{FF2B5EF4-FFF2-40B4-BE49-F238E27FC236}">
                  <a16:creationId xmlns:a16="http://schemas.microsoft.com/office/drawing/2014/main" id="{27DEB81C-E7E3-2076-BE3A-9733E33A221B}"/>
                </a:ext>
                <a:ext uri="{C183D7F6-B498-43B3-948B-1728B52AA6E4}">
                  <adec:decorative xmlns:adec="http://schemas.microsoft.com/office/drawing/2017/decorative" val="1"/>
                </a:ext>
              </a:extLst>
            </p:cNvPr>
            <p:cNvSpPr/>
            <p:nvPr/>
          </p:nvSpPr>
          <p:spPr>
            <a:xfrm rot="16200000">
              <a:off x="8398429" y="372898"/>
              <a:ext cx="739086" cy="12121124"/>
            </a:xfrm>
            <a:prstGeom prst="leftBrace">
              <a:avLst>
                <a:gd name="adj1" fmla="val 0"/>
                <a:gd name="adj2" fmla="val 5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ea typeface="+mn-ea"/>
                <a:cs typeface="+mn-cs"/>
              </a:endParaRPr>
            </a:p>
          </p:txBody>
        </p:sp>
        <p:pic>
          <p:nvPicPr>
            <p:cNvPr id="40" name="lock 2">
              <a:extLst>
                <a:ext uri="{FF2B5EF4-FFF2-40B4-BE49-F238E27FC236}">
                  <a16:creationId xmlns:a16="http://schemas.microsoft.com/office/drawing/2014/main" id="{8906F011-9181-F07A-D3C1-EC9272564748}"/>
                </a:ext>
                <a:ext uri="{C183D7F6-B498-43B3-948B-1728B52AA6E4}">
                  <adec:decorative xmlns:adec="http://schemas.microsoft.com/office/drawing/2017/decorative" val="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306" y="6775885"/>
              <a:ext cx="382150" cy="382148"/>
            </a:xfrm>
            <a:prstGeom prst="rect">
              <a:avLst/>
            </a:prstGeom>
          </p:spPr>
        </p:pic>
      </p:grpSp>
      <p:sp>
        <p:nvSpPr>
          <p:cNvPr id="7" name="Flowchart: Extract 6">
            <a:extLst>
              <a:ext uri="{FF2B5EF4-FFF2-40B4-BE49-F238E27FC236}">
                <a16:creationId xmlns:a16="http://schemas.microsoft.com/office/drawing/2014/main" id="{090C05F2-349A-C44D-6BBC-AFA76CB96F98}"/>
              </a:ext>
            </a:extLst>
          </p:cNvPr>
          <p:cNvSpPr/>
          <p:nvPr/>
        </p:nvSpPr>
        <p:spPr>
          <a:xfrm rot="5400000">
            <a:off x="4670728" y="5725611"/>
            <a:ext cx="452609" cy="378723"/>
          </a:xfrm>
          <a:prstGeom prst="flowChartExtract">
            <a:avLst/>
          </a:pr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IN"/>
          </a:p>
        </p:txBody>
      </p:sp>
      <p:cxnSp>
        <p:nvCxnSpPr>
          <p:cNvPr id="24" name="Straight Connector 23">
            <a:extLst>
              <a:ext uri="{FF2B5EF4-FFF2-40B4-BE49-F238E27FC236}">
                <a16:creationId xmlns:a16="http://schemas.microsoft.com/office/drawing/2014/main" id="{80C99802-9DE8-019F-1238-1AA64578065A}"/>
              </a:ext>
            </a:extLst>
          </p:cNvPr>
          <p:cNvCxnSpPr>
            <a:cxnSpLocks/>
          </p:cNvCxnSpPr>
          <p:nvPr/>
        </p:nvCxnSpPr>
        <p:spPr>
          <a:xfrm>
            <a:off x="5501640" y="2190449"/>
            <a:ext cx="0" cy="4102068"/>
          </a:xfrm>
          <a:prstGeom prst="line">
            <a:avLst/>
          </a:prstGeom>
          <a:ln w="3810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A8B6BB9-DFFC-8A64-6B03-90AC3539ED1F}"/>
              </a:ext>
            </a:extLst>
          </p:cNvPr>
          <p:cNvCxnSpPr>
            <a:cxnSpLocks/>
          </p:cNvCxnSpPr>
          <p:nvPr/>
        </p:nvCxnSpPr>
        <p:spPr>
          <a:xfrm>
            <a:off x="9589957" y="2190449"/>
            <a:ext cx="0" cy="4102068"/>
          </a:xfrm>
          <a:prstGeom prst="line">
            <a:avLst/>
          </a:prstGeom>
          <a:ln w="3810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51E80779-A505-D3FC-599B-4A909BDBFAEF}"/>
              </a:ext>
            </a:extLst>
          </p:cNvPr>
          <p:cNvCxnSpPr>
            <a:cxnSpLocks/>
          </p:cNvCxnSpPr>
          <p:nvPr/>
        </p:nvCxnSpPr>
        <p:spPr>
          <a:xfrm>
            <a:off x="1386840" y="2190449"/>
            <a:ext cx="0" cy="4102068"/>
          </a:xfrm>
          <a:prstGeom prst="line">
            <a:avLst/>
          </a:prstGeom>
          <a:ln w="38100">
            <a:solidFill>
              <a:schemeClr val="bg1"/>
            </a:solidFill>
          </a:ln>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540EDD6E-A3D5-30E7-F87B-50002D2F353B}"/>
              </a:ext>
            </a:extLst>
          </p:cNvPr>
          <p:cNvCxnSpPr>
            <a:cxnSpLocks/>
          </p:cNvCxnSpPr>
          <p:nvPr/>
        </p:nvCxnSpPr>
        <p:spPr>
          <a:xfrm>
            <a:off x="13685520" y="2213937"/>
            <a:ext cx="0" cy="4102068"/>
          </a:xfrm>
          <a:prstGeom prst="line">
            <a:avLst/>
          </a:prstGeom>
          <a:ln w="38100">
            <a:solidFill>
              <a:schemeClr val="bg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3154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0" grpId="0" animBg="1"/>
      <p:bldP spid="31" grpId="0" animBg="1"/>
      <p:bldP spid="32" grpId="0" animBg="1"/>
      <p:bldP spid="33"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6ED0-332C-D554-D454-F7F940F8AD2C}"/>
              </a:ext>
            </a:extLst>
          </p:cNvPr>
          <p:cNvSpPr>
            <a:spLocks noGrp="1"/>
          </p:cNvSpPr>
          <p:nvPr>
            <p:ph type="title"/>
          </p:nvPr>
        </p:nvSpPr>
        <p:spPr>
          <a:xfrm>
            <a:off x="1678541" y="1372456"/>
            <a:ext cx="15748256" cy="830997"/>
          </a:xfrm>
        </p:spPr>
        <p:txBody>
          <a:bodyPr/>
          <a:lstStyle/>
          <a:p>
            <a:r>
              <a:rPr lang="en-US" dirty="0"/>
              <a:t>Maximum ROI and performance for all workloads</a:t>
            </a:r>
          </a:p>
        </p:txBody>
      </p:sp>
      <p:grpSp>
        <p:nvGrpSpPr>
          <p:cNvPr id="8" name="Group 7">
            <a:extLst>
              <a:ext uri="{FF2B5EF4-FFF2-40B4-BE49-F238E27FC236}">
                <a16:creationId xmlns:a16="http://schemas.microsoft.com/office/drawing/2014/main" id="{98E41E66-B85C-BAC4-5AED-139DB50AFF54}"/>
              </a:ext>
            </a:extLst>
          </p:cNvPr>
          <p:cNvGrpSpPr/>
          <p:nvPr/>
        </p:nvGrpSpPr>
        <p:grpSpPr>
          <a:xfrm>
            <a:off x="876300" y="2929890"/>
            <a:ext cx="5219852" cy="5120834"/>
            <a:chOff x="876300" y="2929890"/>
            <a:chExt cx="5219852" cy="5120834"/>
          </a:xfrm>
        </p:grpSpPr>
        <p:sp>
          <p:nvSpPr>
            <p:cNvPr id="29" name="Rounded Rectangle 28">
              <a:extLst>
                <a:ext uri="{FF2B5EF4-FFF2-40B4-BE49-F238E27FC236}">
                  <a16:creationId xmlns:a16="http://schemas.microsoft.com/office/drawing/2014/main" id="{88416B5A-C213-E644-1ED8-1BB462A4BB44}"/>
                </a:ext>
                <a:ext uri="{C183D7F6-B498-43B3-948B-1728B52AA6E4}">
                  <adec:decorative xmlns:adec="http://schemas.microsoft.com/office/drawing/2017/decorative" val="1"/>
                </a:ext>
              </a:extLst>
            </p:cNvPr>
            <p:cNvSpPr/>
            <p:nvPr/>
          </p:nvSpPr>
          <p:spPr bwMode="auto">
            <a:xfrm>
              <a:off x="1002344" y="3068447"/>
              <a:ext cx="5093808" cy="4982277"/>
            </a:xfrm>
            <a:prstGeom prst="roundRect">
              <a:avLst>
                <a:gd name="adj" fmla="val 7457"/>
              </a:avLst>
            </a:prstGeom>
            <a:gradFill>
              <a:gsLst>
                <a:gs pos="99000">
                  <a:schemeClr val="bg1">
                    <a:alpha val="49112"/>
                  </a:schemeClr>
                </a:gs>
                <a:gs pos="73000">
                  <a:srgbClr val="FFFFFF">
                    <a:alpha val="75124"/>
                  </a:srgbClr>
                </a:gs>
                <a:gs pos="44000">
                  <a:schemeClr val="bg1">
                    <a:alpha val="96496"/>
                  </a:schemeClr>
                </a:gs>
              </a:gsLst>
              <a:lin ang="4200000" scaled="0"/>
            </a:gradFill>
            <a:ln w="19050" cap="flat" cmpd="sng" algn="ctr">
              <a:noFill/>
              <a:prstDash val="solid"/>
            </a:ln>
            <a:effectLst/>
            <a:scene3d>
              <a:camera prst="orthographicFront">
                <a:rot lat="0" lon="0" rev="0"/>
              </a:camera>
              <a:lightRig rig="chilly" dir="t">
                <a:rot lat="0" lon="0" rev="18480000"/>
              </a:lightRig>
            </a:scene3d>
            <a:sp3d prstMaterial="clear">
              <a:bevelT h="63500"/>
            </a:sp3d>
          </p:spPr>
          <p:txBody>
            <a:bodyPr lIns="1508760" tIns="411480" rtlCol="0" anchor="t"/>
            <a:lstStyle/>
            <a:p>
              <a:pPr defTabSz="1371338"/>
              <a:endParaRPr lang="en-US" sz="3600" b="1" kern="0" err="1">
                <a:solidFill>
                  <a:srgbClr val="091F2C"/>
                </a:solidFill>
                <a:latin typeface="Segoe UI Semibold"/>
              </a:endParaRPr>
            </a:p>
          </p:txBody>
        </p:sp>
        <p:sp>
          <p:nvSpPr>
            <p:cNvPr id="30" name="Rounded Rectangle 29">
              <a:extLst>
                <a:ext uri="{FF2B5EF4-FFF2-40B4-BE49-F238E27FC236}">
                  <a16:creationId xmlns:a16="http://schemas.microsoft.com/office/drawing/2014/main" id="{AEE21D8A-E849-F49F-8CFC-0EF9CCFE0908}"/>
                </a:ext>
                <a:ext uri="{C183D7F6-B498-43B3-948B-1728B52AA6E4}">
                  <adec:decorative xmlns:adec="http://schemas.microsoft.com/office/drawing/2017/decorative" val="1"/>
                </a:ext>
              </a:extLst>
            </p:cNvPr>
            <p:cNvSpPr/>
            <p:nvPr/>
          </p:nvSpPr>
          <p:spPr bwMode="auto">
            <a:xfrm>
              <a:off x="876300" y="2929890"/>
              <a:ext cx="5093808" cy="4982277"/>
            </a:xfrm>
            <a:prstGeom prst="roundRect">
              <a:avLst>
                <a:gd name="adj" fmla="val 7457"/>
              </a:avLst>
            </a:prstGeom>
            <a:solidFill>
              <a:srgbClr val="172E3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pPr>
              <a:endParaRPr lang="en-US" sz="3000" err="1">
                <a:solidFill>
                  <a:srgbClr val="091F2C"/>
                </a:solidFill>
                <a:latin typeface="Segoe UI"/>
                <a:cs typeface="Segoe UI" pitchFamily="34" charset="0"/>
              </a:endParaRPr>
            </a:p>
          </p:txBody>
        </p:sp>
        <p:sp>
          <p:nvSpPr>
            <p:cNvPr id="31" name="TextBox 30">
              <a:extLst>
                <a:ext uri="{FF2B5EF4-FFF2-40B4-BE49-F238E27FC236}">
                  <a16:creationId xmlns:a16="http://schemas.microsoft.com/office/drawing/2014/main" id="{29D0506E-6855-3932-022A-1702E904C5C1}"/>
                </a:ext>
              </a:extLst>
            </p:cNvPr>
            <p:cNvSpPr txBox="1"/>
            <p:nvPr/>
          </p:nvSpPr>
          <p:spPr>
            <a:xfrm>
              <a:off x="1229037" y="3254673"/>
              <a:ext cx="4389120" cy="1177245"/>
            </a:xfrm>
            <a:prstGeom prst="rect">
              <a:avLst/>
            </a:prstGeom>
            <a:noFill/>
          </p:spPr>
          <p:txBody>
            <a:bodyPr wrap="square" lIns="137160" tIns="68580" rIns="137160" bIns="0" anchor="t">
              <a:spAutoFit/>
            </a:bodyPr>
            <a:lstStyle/>
            <a:p>
              <a:pPr algn="ctr" defTabSz="1398708" fontAlgn="base">
                <a:spcBef>
                  <a:spcPct val="0"/>
                </a:spcBef>
                <a:spcAft>
                  <a:spcPct val="0"/>
                </a:spcAft>
                <a:defRPr/>
              </a:pPr>
              <a:r>
                <a:rPr lang="en-US" sz="3600" spc="-75">
                  <a:ln w="3175">
                    <a:noFill/>
                  </a:ln>
                  <a:solidFill>
                    <a:schemeClr val="accent1"/>
                  </a:solidFill>
                  <a:latin typeface="+mj-lt"/>
                  <a:cs typeface="Segoe Sans Text Semibold" pitchFamily="2" charset="0"/>
                </a:rPr>
                <a:t>Windows Server </a:t>
              </a:r>
              <a:br>
                <a:rPr lang="en-US" sz="3600" spc="-75">
                  <a:ln w="3175">
                    <a:noFill/>
                  </a:ln>
                  <a:solidFill>
                    <a:schemeClr val="accent1"/>
                  </a:solidFill>
                  <a:latin typeface="+mj-lt"/>
                  <a:cs typeface="Segoe Sans Text Semibold" pitchFamily="2" charset="0"/>
                </a:rPr>
              </a:br>
              <a:r>
                <a:rPr lang="en-US" sz="3600" spc="-75">
                  <a:ln w="3175">
                    <a:noFill/>
                  </a:ln>
                  <a:solidFill>
                    <a:schemeClr val="accent1"/>
                  </a:solidFill>
                  <a:latin typeface="+mj-lt"/>
                  <a:cs typeface="Segoe Sans Text Semibold" pitchFamily="2" charset="0"/>
                </a:rPr>
                <a:t>and SQL Server</a:t>
              </a:r>
            </a:p>
          </p:txBody>
        </p:sp>
        <p:grpSp>
          <p:nvGrpSpPr>
            <p:cNvPr id="55" name="Group 54" descr="Windows, Azure SQL DB">
              <a:extLst>
                <a:ext uri="{FF2B5EF4-FFF2-40B4-BE49-F238E27FC236}">
                  <a16:creationId xmlns:a16="http://schemas.microsoft.com/office/drawing/2014/main" id="{7F71E460-7164-B398-416C-71BABD56DC06}"/>
                </a:ext>
              </a:extLst>
            </p:cNvPr>
            <p:cNvGrpSpPr/>
            <p:nvPr/>
          </p:nvGrpSpPr>
          <p:grpSpPr>
            <a:xfrm>
              <a:off x="1976851" y="4860662"/>
              <a:ext cx="2787305" cy="965979"/>
              <a:chOff x="1317900" y="2904923"/>
              <a:chExt cx="1858203" cy="643986"/>
            </a:xfrm>
          </p:grpSpPr>
          <p:pic>
            <p:nvPicPr>
              <p:cNvPr id="14" name="Graphic 13">
                <a:extLst>
                  <a:ext uri="{FF2B5EF4-FFF2-40B4-BE49-F238E27FC236}">
                    <a16:creationId xmlns:a16="http://schemas.microsoft.com/office/drawing/2014/main" id="{C6AEE483-F574-08BF-D2D9-876A8975CB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07419" y="2904923"/>
                <a:ext cx="668684" cy="643986"/>
              </a:xfrm>
              <a:prstGeom prst="rect">
                <a:avLst/>
              </a:prstGeom>
            </p:spPr>
          </p:pic>
          <p:pic>
            <p:nvPicPr>
              <p:cNvPr id="15" name="Picture 14" descr="Windows">
                <a:extLst>
                  <a:ext uri="{FF2B5EF4-FFF2-40B4-BE49-F238E27FC236}">
                    <a16:creationId xmlns:a16="http://schemas.microsoft.com/office/drawing/2014/main" id="{A01C1C9C-54FA-6812-4D3F-E002B1C47E8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1317900" y="2934254"/>
                <a:ext cx="600127" cy="585323"/>
              </a:xfrm>
              <a:prstGeom prst="rect">
                <a:avLst/>
              </a:prstGeom>
            </p:spPr>
          </p:pic>
        </p:grpSp>
        <p:sp>
          <p:nvSpPr>
            <p:cNvPr id="24" name="TextBox 23">
              <a:extLst>
                <a:ext uri="{FF2B5EF4-FFF2-40B4-BE49-F238E27FC236}">
                  <a16:creationId xmlns:a16="http://schemas.microsoft.com/office/drawing/2014/main" id="{2174501F-5F86-3C5A-2CA1-FC8F08C9B54D}"/>
                </a:ext>
              </a:extLst>
            </p:cNvPr>
            <p:cNvSpPr txBox="1"/>
            <p:nvPr/>
          </p:nvSpPr>
          <p:spPr>
            <a:xfrm>
              <a:off x="1194881" y="6065848"/>
              <a:ext cx="2464131" cy="789447"/>
            </a:xfrm>
            <a:prstGeom prst="rect">
              <a:avLst/>
            </a:prstGeom>
            <a:noFill/>
          </p:spPr>
          <p:txBody>
            <a:bodyPr wrap="square" lIns="0" tIns="0" rIns="0" bIns="0" anchor="ctr">
              <a:spAutoFit/>
            </a:bodyPr>
            <a:lstStyle>
              <a:defPPr>
                <a:defRPr lang="en-US"/>
              </a:defPPr>
              <a:lvl1pPr marR="0" lvl="0" indent="0" fontAlgn="ctr">
                <a:lnSpc>
                  <a:spcPct val="90000"/>
                </a:lnSpc>
                <a:spcBef>
                  <a:spcPts val="0"/>
                </a:spcBef>
                <a:spcAft>
                  <a:spcPts val="0"/>
                </a:spcAft>
                <a:buClr>
                  <a:srgbClr val="000000"/>
                </a:buClr>
                <a:buSzPct val="100000"/>
                <a:buFontTx/>
                <a:buNone/>
                <a:tabLst/>
                <a:defRPr kumimoji="0" sz="1200" b="0" i="0" u="none" strike="noStrike" cap="none" spc="-10" normalizeH="0" baseline="0">
                  <a:ln>
                    <a:noFill/>
                  </a:ln>
                  <a:solidFill>
                    <a:srgbClr val="FFFFFF"/>
                  </a:solidFill>
                  <a:effectLst/>
                  <a:uLnTx/>
                  <a:uFillTx/>
                  <a:latin typeface="Segoe UI"/>
                </a:defRPr>
              </a:lvl1pPr>
            </a:lstStyle>
            <a:p>
              <a:pPr algn="ctr" defTabSz="1371551" fontAlgn="base">
                <a:lnSpc>
                  <a:spcPct val="95000"/>
                </a:lnSpc>
                <a:defRPr/>
              </a:pPr>
              <a:r>
                <a:rPr lang="en-US" sz="3000" spc="0">
                  <a:solidFill>
                    <a:schemeClr val="accent1"/>
                  </a:solidFill>
                  <a:latin typeface="+mj-lt"/>
                </a:rPr>
                <a:t>80% </a:t>
              </a:r>
            </a:p>
            <a:p>
              <a:pPr algn="ctr" defTabSz="1371551" fontAlgn="base">
                <a:lnSpc>
                  <a:spcPct val="95000"/>
                </a:lnSpc>
                <a:defRPr/>
              </a:pPr>
              <a:r>
                <a:rPr lang="en-US" sz="2400">
                  <a:solidFill>
                    <a:schemeClr val="tx1"/>
                  </a:solidFill>
                  <a:latin typeface="+mn-lt"/>
                </a:rPr>
                <a:t>cost savings</a:t>
              </a:r>
              <a:r>
                <a:rPr lang="en-US" sz="2400" baseline="30000">
                  <a:solidFill>
                    <a:schemeClr val="tx1"/>
                  </a:solidFill>
                  <a:latin typeface="+mn-lt"/>
                </a:rPr>
                <a:t>1</a:t>
              </a:r>
              <a:r>
                <a:rPr lang="en-US" sz="2400">
                  <a:solidFill>
                    <a:schemeClr val="tx1"/>
                  </a:solidFill>
                  <a:latin typeface="+mn-lt"/>
                </a:rPr>
                <a:t> </a:t>
              </a:r>
            </a:p>
          </p:txBody>
        </p:sp>
        <p:sp>
          <p:nvSpPr>
            <p:cNvPr id="26" name="TextBox 25">
              <a:extLst>
                <a:ext uri="{FF2B5EF4-FFF2-40B4-BE49-F238E27FC236}">
                  <a16:creationId xmlns:a16="http://schemas.microsoft.com/office/drawing/2014/main" id="{FC30B1AD-B717-05E7-C9CE-8C16D3957008}"/>
                </a:ext>
              </a:extLst>
            </p:cNvPr>
            <p:cNvSpPr txBox="1"/>
            <p:nvPr/>
          </p:nvSpPr>
          <p:spPr>
            <a:xfrm>
              <a:off x="3243374" y="6065849"/>
              <a:ext cx="2044407" cy="789447"/>
            </a:xfrm>
            <a:prstGeom prst="rect">
              <a:avLst/>
            </a:prstGeom>
            <a:noFill/>
          </p:spPr>
          <p:txBody>
            <a:bodyPr wrap="square" lIns="0" tIns="0" rIns="0" bIns="0">
              <a:spAutoFit/>
            </a:bodyPr>
            <a:lstStyle/>
            <a:p>
              <a:pPr algn="ctr" defTabSz="1371551" fontAlgn="base">
                <a:lnSpc>
                  <a:spcPct val="95000"/>
                </a:lnSpc>
                <a:buClr>
                  <a:srgbClr val="000000"/>
                </a:buClr>
                <a:buSzPct val="100000"/>
                <a:defRPr/>
              </a:pPr>
              <a:r>
                <a:rPr lang="en-US" sz="3000">
                  <a:solidFill>
                    <a:schemeClr val="accent1"/>
                  </a:solidFill>
                  <a:latin typeface="+mj-lt"/>
                </a:rPr>
                <a:t>5x </a:t>
              </a:r>
            </a:p>
            <a:p>
              <a:pPr algn="ctr" defTabSz="1371551" fontAlgn="base">
                <a:lnSpc>
                  <a:spcPct val="95000"/>
                </a:lnSpc>
                <a:defRPr/>
              </a:pPr>
              <a:r>
                <a:rPr lang="en-US" sz="2400" spc="-15"/>
                <a:t>faster</a:t>
              </a:r>
              <a:r>
                <a:rPr lang="en-US" sz="2400" spc="-15" baseline="30000"/>
                <a:t>2</a:t>
              </a:r>
              <a:endParaRPr lang="en-US" sz="2400" spc="-15"/>
            </a:p>
          </p:txBody>
        </p:sp>
        <p:sp>
          <p:nvSpPr>
            <p:cNvPr id="28" name="TextBox 27">
              <a:extLst>
                <a:ext uri="{FF2B5EF4-FFF2-40B4-BE49-F238E27FC236}">
                  <a16:creationId xmlns:a16="http://schemas.microsoft.com/office/drawing/2014/main" id="{99A6A540-7861-5F13-65E2-D54DDD9709F2}"/>
                </a:ext>
              </a:extLst>
            </p:cNvPr>
            <p:cNvSpPr txBox="1"/>
            <p:nvPr/>
          </p:nvSpPr>
          <p:spPr>
            <a:xfrm>
              <a:off x="1567672" y="7057059"/>
              <a:ext cx="3695264" cy="443198"/>
            </a:xfrm>
            <a:prstGeom prst="rect">
              <a:avLst/>
            </a:prstGeom>
            <a:noFill/>
          </p:spPr>
          <p:txBody>
            <a:bodyPr wrap="square">
              <a:spAutoFit/>
            </a:bodyPr>
            <a:lstStyle/>
            <a:p>
              <a:pPr algn="ctr" defTabSz="1371551" fontAlgn="base">
                <a:lnSpc>
                  <a:spcPct val="95000"/>
                </a:lnSpc>
                <a:defRPr/>
              </a:pPr>
              <a:r>
                <a:rPr lang="en-US" sz="2400" spc="-15"/>
                <a:t>vs. AWS</a:t>
              </a:r>
            </a:p>
          </p:txBody>
        </p:sp>
      </p:grpSp>
      <p:grpSp>
        <p:nvGrpSpPr>
          <p:cNvPr id="9" name="Group 8">
            <a:extLst>
              <a:ext uri="{FF2B5EF4-FFF2-40B4-BE49-F238E27FC236}">
                <a16:creationId xmlns:a16="http://schemas.microsoft.com/office/drawing/2014/main" id="{0776E657-9393-0F1D-9084-D10001D1C9E7}"/>
              </a:ext>
            </a:extLst>
          </p:cNvPr>
          <p:cNvGrpSpPr/>
          <p:nvPr/>
        </p:nvGrpSpPr>
        <p:grpSpPr>
          <a:xfrm>
            <a:off x="6600615" y="2929890"/>
            <a:ext cx="5219852" cy="5120834"/>
            <a:chOff x="6600615" y="2929890"/>
            <a:chExt cx="5219852" cy="5120834"/>
          </a:xfrm>
        </p:grpSpPr>
        <p:sp>
          <p:nvSpPr>
            <p:cNvPr id="25" name="Rounded Rectangle 24">
              <a:extLst>
                <a:ext uri="{FF2B5EF4-FFF2-40B4-BE49-F238E27FC236}">
                  <a16:creationId xmlns:a16="http://schemas.microsoft.com/office/drawing/2014/main" id="{5CB6B204-23C0-1632-ED96-E648B0ABCFB2}"/>
                </a:ext>
                <a:ext uri="{C183D7F6-B498-43B3-948B-1728B52AA6E4}">
                  <adec:decorative xmlns:adec="http://schemas.microsoft.com/office/drawing/2017/decorative" val="1"/>
                </a:ext>
              </a:extLst>
            </p:cNvPr>
            <p:cNvSpPr/>
            <p:nvPr/>
          </p:nvSpPr>
          <p:spPr bwMode="auto">
            <a:xfrm>
              <a:off x="6726659" y="3068447"/>
              <a:ext cx="5093808" cy="4982277"/>
            </a:xfrm>
            <a:prstGeom prst="roundRect">
              <a:avLst>
                <a:gd name="adj" fmla="val 7457"/>
              </a:avLst>
            </a:prstGeom>
            <a:gradFill>
              <a:gsLst>
                <a:gs pos="99000">
                  <a:schemeClr val="bg1">
                    <a:alpha val="49112"/>
                  </a:schemeClr>
                </a:gs>
                <a:gs pos="73000">
                  <a:srgbClr val="FFFFFF">
                    <a:alpha val="75124"/>
                  </a:srgbClr>
                </a:gs>
                <a:gs pos="44000">
                  <a:schemeClr val="bg1">
                    <a:alpha val="96496"/>
                  </a:schemeClr>
                </a:gs>
              </a:gsLst>
              <a:lin ang="4200000" scaled="0"/>
            </a:gradFill>
            <a:ln w="19050" cap="flat" cmpd="sng" algn="ctr">
              <a:noFill/>
              <a:prstDash val="solid"/>
            </a:ln>
            <a:effectLst/>
            <a:scene3d>
              <a:camera prst="orthographicFront">
                <a:rot lat="0" lon="0" rev="0"/>
              </a:camera>
              <a:lightRig rig="chilly" dir="t">
                <a:rot lat="0" lon="0" rev="18480000"/>
              </a:lightRig>
            </a:scene3d>
            <a:sp3d prstMaterial="clear">
              <a:bevelT h="63500"/>
            </a:sp3d>
          </p:spPr>
          <p:txBody>
            <a:bodyPr lIns="1508760" tIns="411480" rtlCol="0" anchor="t"/>
            <a:lstStyle/>
            <a:p>
              <a:pPr defTabSz="1371338"/>
              <a:endParaRPr lang="en-US" sz="3600" b="1" kern="0" err="1">
                <a:solidFill>
                  <a:srgbClr val="091F2C"/>
                </a:solidFill>
                <a:latin typeface="Segoe UI Semibold"/>
              </a:endParaRPr>
            </a:p>
          </p:txBody>
        </p:sp>
        <p:sp>
          <p:nvSpPr>
            <p:cNvPr id="27" name="Rounded Rectangle 26">
              <a:extLst>
                <a:ext uri="{FF2B5EF4-FFF2-40B4-BE49-F238E27FC236}">
                  <a16:creationId xmlns:a16="http://schemas.microsoft.com/office/drawing/2014/main" id="{88F15F6F-3966-272A-47B5-E61F69FDDD82}"/>
                </a:ext>
                <a:ext uri="{C183D7F6-B498-43B3-948B-1728B52AA6E4}">
                  <adec:decorative xmlns:adec="http://schemas.microsoft.com/office/drawing/2017/decorative" val="1"/>
                </a:ext>
              </a:extLst>
            </p:cNvPr>
            <p:cNvSpPr/>
            <p:nvPr/>
          </p:nvSpPr>
          <p:spPr bwMode="auto">
            <a:xfrm>
              <a:off x="6600615" y="2929890"/>
              <a:ext cx="5093808" cy="4982277"/>
            </a:xfrm>
            <a:prstGeom prst="roundRect">
              <a:avLst>
                <a:gd name="adj" fmla="val 7457"/>
              </a:avLst>
            </a:prstGeom>
            <a:solidFill>
              <a:srgbClr val="172E3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pPr>
              <a:endParaRPr lang="en-US" sz="3000" err="1">
                <a:solidFill>
                  <a:srgbClr val="091F2C"/>
                </a:solidFill>
                <a:latin typeface="Segoe UI"/>
                <a:cs typeface="Segoe UI" pitchFamily="34" charset="0"/>
              </a:endParaRPr>
            </a:p>
          </p:txBody>
        </p:sp>
        <p:sp>
          <p:nvSpPr>
            <p:cNvPr id="33" name="TextBox 32">
              <a:extLst>
                <a:ext uri="{FF2B5EF4-FFF2-40B4-BE49-F238E27FC236}">
                  <a16:creationId xmlns:a16="http://schemas.microsoft.com/office/drawing/2014/main" id="{7F0ECA68-9E13-C470-305E-8EE341BCD542}"/>
                </a:ext>
              </a:extLst>
            </p:cNvPr>
            <p:cNvSpPr txBox="1"/>
            <p:nvPr/>
          </p:nvSpPr>
          <p:spPr>
            <a:xfrm>
              <a:off x="6952959" y="3254673"/>
              <a:ext cx="4389120" cy="1154162"/>
            </a:xfrm>
            <a:prstGeom prst="rect">
              <a:avLst/>
            </a:prstGeom>
            <a:noFill/>
          </p:spPr>
          <p:txBody>
            <a:bodyPr wrap="square" bIns="0">
              <a:spAutoFit/>
            </a:bodyPr>
            <a:lstStyle/>
            <a:p>
              <a:pPr algn="ctr" defTabSz="1398708" fontAlgn="base">
                <a:spcBef>
                  <a:spcPct val="0"/>
                </a:spcBef>
                <a:spcAft>
                  <a:spcPct val="0"/>
                </a:spcAft>
                <a:defRPr/>
              </a:pPr>
              <a:r>
                <a:rPr lang="en-US" sz="3600" spc="-75">
                  <a:ln w="3175">
                    <a:noFill/>
                  </a:ln>
                  <a:solidFill>
                    <a:schemeClr val="accent1"/>
                  </a:solidFill>
                  <a:latin typeface="+mj-lt"/>
                  <a:cs typeface="Segoe Sans Text Semibold" pitchFamily="2" charset="0"/>
                </a:rPr>
                <a:t>Linux and </a:t>
              </a:r>
              <a:br>
                <a:rPr lang="en-US" sz="3600" spc="-75">
                  <a:ln w="3175">
                    <a:noFill/>
                  </a:ln>
                  <a:solidFill>
                    <a:schemeClr val="accent1"/>
                  </a:solidFill>
                  <a:latin typeface="+mj-lt"/>
                  <a:cs typeface="Segoe Sans Text Semibold" pitchFamily="2" charset="0"/>
                </a:rPr>
              </a:br>
              <a:r>
                <a:rPr lang="en-US" sz="3600" spc="-75">
                  <a:ln w="3175">
                    <a:noFill/>
                  </a:ln>
                  <a:solidFill>
                    <a:schemeClr val="accent1"/>
                  </a:solidFill>
                  <a:latin typeface="+mj-lt"/>
                  <a:cs typeface="Segoe Sans Text Semibold" pitchFamily="2" charset="0"/>
                </a:rPr>
                <a:t>open-source</a:t>
              </a:r>
            </a:p>
          </p:txBody>
        </p:sp>
        <p:pic>
          <p:nvPicPr>
            <p:cNvPr id="6" name="Picture 4" descr="Linux">
              <a:extLst>
                <a:ext uri="{FF2B5EF4-FFF2-40B4-BE49-F238E27FC236}">
                  <a16:creationId xmlns:a16="http://schemas.microsoft.com/office/drawing/2014/main" id="{0F16CED4-88D0-A061-3BE6-B7A2C2441047}"/>
                </a:ext>
                <a:ext uri="{C183D7F6-B498-43B3-948B-1728B52AA6E4}">
                  <adec:decorative xmlns:adec="http://schemas.microsoft.com/office/drawing/2017/decorative" val="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96694" y="4838618"/>
              <a:ext cx="989415" cy="1029357"/>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517BE739-1B1B-9DA8-6E83-114FF2D3F665}"/>
                </a:ext>
              </a:extLst>
            </p:cNvPr>
            <p:cNvSpPr txBox="1"/>
            <p:nvPr/>
          </p:nvSpPr>
          <p:spPr>
            <a:xfrm>
              <a:off x="7188720" y="6234953"/>
              <a:ext cx="3917598" cy="1061829"/>
            </a:xfrm>
            <a:prstGeom prst="rect">
              <a:avLst/>
            </a:prstGeom>
            <a:noFill/>
          </p:spPr>
          <p:txBody>
            <a:bodyPr wrap="square" lIns="0">
              <a:spAutoFit/>
            </a:bodyPr>
            <a:lstStyle/>
            <a:p>
              <a:pPr marL="2858" algn="ctr" defTabSz="1371551">
                <a:spcAft>
                  <a:spcPts val="1500"/>
                </a:spcAft>
                <a:defRPr/>
              </a:pPr>
              <a:r>
                <a:rPr lang="en-US" sz="2100" spc="-75">
                  <a:ln w="3175">
                    <a:noFill/>
                  </a:ln>
                  <a:solidFill>
                    <a:schemeClr val="accent1"/>
                  </a:solidFill>
                  <a:latin typeface="+mj-lt"/>
                </a:rPr>
                <a:t>Achieve 192% ROI </a:t>
              </a:r>
              <a:r>
                <a:rPr lang="en-US" sz="2100">
                  <a:ea typeface="ＭＳ Ｐゴシック" charset="0"/>
                  <a:cs typeface="Segoe UI" panose="020B0502040204020203" pitchFamily="34" charset="0"/>
                </a:rPr>
                <a:t>over 3-years with Red Hat Enterprise Linux (RHEL) on Azure</a:t>
              </a:r>
              <a:r>
                <a:rPr lang="en-US" sz="2100" baseline="30000">
                  <a:ea typeface="ＭＳ Ｐゴシック" charset="0"/>
                  <a:cs typeface="Segoe UI" panose="020B0502040204020203" pitchFamily="34" charset="0"/>
                </a:rPr>
                <a:t>3</a:t>
              </a:r>
              <a:endParaRPr lang="en-US" sz="2100" spc="-75">
                <a:ln w="3175">
                  <a:noFill/>
                </a:ln>
              </a:endParaRPr>
            </a:p>
          </p:txBody>
        </p:sp>
        <p:pic>
          <p:nvPicPr>
            <p:cNvPr id="47" name="Graphic 46">
              <a:extLst>
                <a:ext uri="{FF2B5EF4-FFF2-40B4-BE49-F238E27FC236}">
                  <a16:creationId xmlns:a16="http://schemas.microsoft.com/office/drawing/2014/main" id="{C4200D63-7447-4E61-54F0-D4F0B60C724D}"/>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53455" y="4851710"/>
              <a:ext cx="1039671" cy="1033854"/>
            </a:xfrm>
            <a:prstGeom prst="rect">
              <a:avLst/>
            </a:prstGeom>
          </p:spPr>
        </p:pic>
        <p:pic>
          <p:nvPicPr>
            <p:cNvPr id="76" name="Graphic 75">
              <a:extLst>
                <a:ext uri="{FF2B5EF4-FFF2-40B4-BE49-F238E27FC236}">
                  <a16:creationId xmlns:a16="http://schemas.microsoft.com/office/drawing/2014/main" id="{D6942E5E-D3C1-E89B-2EB3-D5A7BE10912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43602" y="4876861"/>
              <a:ext cx="989415" cy="952871"/>
            </a:xfrm>
            <a:prstGeom prst="rect">
              <a:avLst/>
            </a:prstGeom>
          </p:spPr>
        </p:pic>
      </p:grpSp>
      <p:sp>
        <p:nvSpPr>
          <p:cNvPr id="4" name="TextBox 3">
            <a:extLst>
              <a:ext uri="{FF2B5EF4-FFF2-40B4-BE49-F238E27FC236}">
                <a16:creationId xmlns:a16="http://schemas.microsoft.com/office/drawing/2014/main" id="{00DF9239-EA32-A52B-E109-FC9AFF88FC9C}"/>
              </a:ext>
            </a:extLst>
          </p:cNvPr>
          <p:cNvSpPr txBox="1"/>
          <p:nvPr/>
        </p:nvSpPr>
        <p:spPr>
          <a:xfrm>
            <a:off x="1678540" y="9170930"/>
            <a:ext cx="15387853" cy="461665"/>
          </a:xfrm>
          <a:prstGeom prst="rect">
            <a:avLst/>
          </a:prstGeom>
          <a:noFill/>
        </p:spPr>
        <p:txBody>
          <a:bodyPr wrap="square">
            <a:spAutoFit/>
          </a:bodyPr>
          <a:lstStyle/>
          <a:p>
            <a:pPr marL="342900" indent="-342900" defTabSz="1371551">
              <a:buFontTx/>
              <a:buAutoNum type="arabicPeriod"/>
              <a:defRPr/>
            </a:pPr>
            <a:r>
              <a:rPr lang="en-US" sz="1200" dirty="0">
                <a:solidFill>
                  <a:srgbClr val="D2D2D2">
                    <a:lumMod val="50000"/>
                  </a:srgbClr>
                </a:solidFill>
                <a:latin typeface="Segoe UI"/>
                <a:hlinkClick r:id="rId8">
                  <a:extLst>
                    <a:ext uri="{A12FA001-AC4F-418D-AE19-62706E023703}">
                      <ahyp:hlinkClr xmlns:ahyp="http://schemas.microsoft.com/office/drawing/2018/hyperlinkcolor" val="tx"/>
                    </a:ext>
                  </a:extLst>
                </a:hlinkClick>
              </a:rPr>
              <a:t>IDC Business Value White Paper, sponsored by Microsoft Azure, The Business Value of Microsoft Azure for SQL Server and Windows Server Workloads, doc #US49616022</a:t>
            </a:r>
            <a:r>
              <a:rPr lang="en-US" sz="1200" dirty="0">
                <a:solidFill>
                  <a:srgbClr val="D2D2D2">
                    <a:lumMod val="50000"/>
                  </a:srgbClr>
                </a:solidFill>
                <a:latin typeface="Segoe UI"/>
              </a:rPr>
              <a:t>, September 202</a:t>
            </a:r>
          </a:p>
          <a:p>
            <a:pPr marL="342900" indent="-342900" defTabSz="1371551">
              <a:buFontTx/>
              <a:buAutoNum type="arabicPeriod"/>
              <a:defRPr/>
            </a:pPr>
            <a:r>
              <a:rPr lang="en-US" sz="1200" dirty="0">
                <a:solidFill>
                  <a:schemeClr val="accent6">
                    <a:lumMod val="50000"/>
                  </a:schemeClr>
                </a:solidFill>
                <a:hlinkClick r:id="rId9">
                  <a:extLst>
                    <a:ext uri="{A12FA001-AC4F-418D-AE19-62706E023703}">
                      <ahyp:hlinkClr xmlns:ahyp="http://schemas.microsoft.com/office/drawing/2018/hyperlinkcolor" val="tx"/>
                    </a:ext>
                  </a:extLst>
                </a:hlinkClick>
              </a:rPr>
              <a:t>Microsoft Azure SQL Managed Instance benchmark  vs. AWS RDS for SQL Server using Azure Hybrid Benefit pricing</a:t>
            </a:r>
            <a:r>
              <a:rPr lang="en-US" sz="1200" dirty="0">
                <a:solidFill>
                  <a:schemeClr val="accent6">
                    <a:lumMod val="50000"/>
                  </a:schemeClr>
                </a:solidFill>
              </a:rPr>
              <a:t>, May 2022. Comparison also shows that SQL runs </a:t>
            </a:r>
            <a:r>
              <a:rPr lang="en-US" sz="1200" i="1" dirty="0">
                <a:solidFill>
                  <a:schemeClr val="accent6">
                    <a:lumMod val="50000"/>
                  </a:schemeClr>
                </a:solidFill>
              </a:rPr>
              <a:t>up to </a:t>
            </a:r>
            <a:r>
              <a:rPr lang="en-US" sz="1200" dirty="0">
                <a:solidFill>
                  <a:schemeClr val="accent6">
                    <a:lumMod val="50000"/>
                  </a:schemeClr>
                </a:solidFill>
              </a:rPr>
              <a:t>5x faster. </a:t>
            </a:r>
          </a:p>
        </p:txBody>
      </p:sp>
      <p:grpSp>
        <p:nvGrpSpPr>
          <p:cNvPr id="10" name="Group 9">
            <a:extLst>
              <a:ext uri="{FF2B5EF4-FFF2-40B4-BE49-F238E27FC236}">
                <a16:creationId xmlns:a16="http://schemas.microsoft.com/office/drawing/2014/main" id="{94A1FD9E-3E8F-A2FB-FD70-A56A2980031E}"/>
              </a:ext>
            </a:extLst>
          </p:cNvPr>
          <p:cNvGrpSpPr/>
          <p:nvPr/>
        </p:nvGrpSpPr>
        <p:grpSpPr>
          <a:xfrm>
            <a:off x="12324930" y="2929890"/>
            <a:ext cx="5219852" cy="5120834"/>
            <a:chOff x="12324930" y="2929890"/>
            <a:chExt cx="5219852" cy="5120834"/>
          </a:xfrm>
        </p:grpSpPr>
        <p:sp>
          <p:nvSpPr>
            <p:cNvPr id="21" name="Rounded Rectangle 20">
              <a:extLst>
                <a:ext uri="{FF2B5EF4-FFF2-40B4-BE49-F238E27FC236}">
                  <a16:creationId xmlns:a16="http://schemas.microsoft.com/office/drawing/2014/main" id="{8705F097-F187-80DF-E2B2-60166CFB485B}"/>
                </a:ext>
                <a:ext uri="{C183D7F6-B498-43B3-948B-1728B52AA6E4}">
                  <adec:decorative xmlns:adec="http://schemas.microsoft.com/office/drawing/2017/decorative" val="1"/>
                </a:ext>
              </a:extLst>
            </p:cNvPr>
            <p:cNvSpPr/>
            <p:nvPr/>
          </p:nvSpPr>
          <p:spPr bwMode="auto">
            <a:xfrm>
              <a:off x="12450974" y="3068447"/>
              <a:ext cx="5093808" cy="4982277"/>
            </a:xfrm>
            <a:prstGeom prst="roundRect">
              <a:avLst>
                <a:gd name="adj" fmla="val 7457"/>
              </a:avLst>
            </a:prstGeom>
            <a:gradFill>
              <a:gsLst>
                <a:gs pos="99000">
                  <a:schemeClr val="bg1">
                    <a:alpha val="49112"/>
                  </a:schemeClr>
                </a:gs>
                <a:gs pos="73000">
                  <a:srgbClr val="FFFFFF">
                    <a:alpha val="75124"/>
                  </a:srgbClr>
                </a:gs>
                <a:gs pos="44000">
                  <a:schemeClr val="bg1">
                    <a:alpha val="96496"/>
                  </a:schemeClr>
                </a:gs>
              </a:gsLst>
              <a:lin ang="4200000" scaled="0"/>
            </a:gradFill>
            <a:ln w="19050" cap="flat" cmpd="sng" algn="ctr">
              <a:noFill/>
              <a:prstDash val="solid"/>
            </a:ln>
            <a:effectLst/>
            <a:scene3d>
              <a:camera prst="orthographicFront">
                <a:rot lat="0" lon="0" rev="0"/>
              </a:camera>
              <a:lightRig rig="chilly" dir="t">
                <a:rot lat="0" lon="0" rev="18480000"/>
              </a:lightRig>
            </a:scene3d>
            <a:sp3d prstMaterial="clear">
              <a:bevelT h="63500"/>
            </a:sp3d>
          </p:spPr>
          <p:txBody>
            <a:bodyPr lIns="1508760" tIns="411480" rtlCol="0" anchor="t"/>
            <a:lstStyle/>
            <a:p>
              <a:pPr defTabSz="1371338"/>
              <a:endParaRPr lang="en-US" sz="3600" b="1" kern="0" err="1">
                <a:solidFill>
                  <a:srgbClr val="091F2C"/>
                </a:solidFill>
                <a:latin typeface="Segoe UI Semibold"/>
              </a:endParaRPr>
            </a:p>
          </p:txBody>
        </p:sp>
        <p:sp>
          <p:nvSpPr>
            <p:cNvPr id="22" name="Rounded Rectangle 21">
              <a:extLst>
                <a:ext uri="{FF2B5EF4-FFF2-40B4-BE49-F238E27FC236}">
                  <a16:creationId xmlns:a16="http://schemas.microsoft.com/office/drawing/2014/main" id="{4598DCED-46E8-CFDC-71AF-2C24F4F00A8B}"/>
                </a:ext>
                <a:ext uri="{C183D7F6-B498-43B3-948B-1728B52AA6E4}">
                  <adec:decorative xmlns:adec="http://schemas.microsoft.com/office/drawing/2017/decorative" val="1"/>
                </a:ext>
              </a:extLst>
            </p:cNvPr>
            <p:cNvSpPr/>
            <p:nvPr/>
          </p:nvSpPr>
          <p:spPr bwMode="auto">
            <a:xfrm>
              <a:off x="12324930" y="2929890"/>
              <a:ext cx="5093808" cy="4982277"/>
            </a:xfrm>
            <a:prstGeom prst="roundRect">
              <a:avLst>
                <a:gd name="adj" fmla="val 7457"/>
              </a:avLst>
            </a:prstGeom>
            <a:solidFill>
              <a:srgbClr val="172E3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pPr>
              <a:endParaRPr lang="en-US" sz="3000" err="1">
                <a:solidFill>
                  <a:srgbClr val="091F2C"/>
                </a:solidFill>
                <a:latin typeface="Segoe UI"/>
                <a:cs typeface="Segoe UI" pitchFamily="34" charset="0"/>
              </a:endParaRPr>
            </a:p>
          </p:txBody>
        </p:sp>
        <p:sp>
          <p:nvSpPr>
            <p:cNvPr id="36" name="TextBox 35">
              <a:extLst>
                <a:ext uri="{FF2B5EF4-FFF2-40B4-BE49-F238E27FC236}">
                  <a16:creationId xmlns:a16="http://schemas.microsoft.com/office/drawing/2014/main" id="{350F433A-1A53-1FA9-DC4C-EDBAB7B0B65E}"/>
                </a:ext>
              </a:extLst>
            </p:cNvPr>
            <p:cNvSpPr txBox="1"/>
            <p:nvPr/>
          </p:nvSpPr>
          <p:spPr>
            <a:xfrm>
              <a:off x="12677274" y="3254673"/>
              <a:ext cx="4389120" cy="1177245"/>
            </a:xfrm>
            <a:prstGeom prst="rect">
              <a:avLst/>
            </a:prstGeom>
            <a:noFill/>
          </p:spPr>
          <p:txBody>
            <a:bodyPr wrap="square" lIns="137160" tIns="68580" rIns="137160" bIns="0" anchor="t">
              <a:spAutoFit/>
            </a:bodyPr>
            <a:lstStyle/>
            <a:p>
              <a:pPr algn="ctr" defTabSz="1398708" fontAlgn="base">
                <a:spcBef>
                  <a:spcPct val="0"/>
                </a:spcBef>
                <a:spcAft>
                  <a:spcPct val="0"/>
                </a:spcAft>
                <a:defRPr/>
              </a:pPr>
              <a:r>
                <a:rPr lang="en-US" sz="3600" spc="-75">
                  <a:ln w="3175">
                    <a:noFill/>
                  </a:ln>
                  <a:solidFill>
                    <a:schemeClr val="accent1"/>
                  </a:solidFill>
                  <a:latin typeface="+mj-lt"/>
                  <a:cs typeface="Segoe Sans Text Semibold" pitchFamily="2" charset="0"/>
                </a:rPr>
                <a:t>Strategic partnerships</a:t>
              </a:r>
            </a:p>
          </p:txBody>
        </p:sp>
        <p:sp>
          <p:nvSpPr>
            <p:cNvPr id="35" name="TextBox 34">
              <a:extLst>
                <a:ext uri="{FF2B5EF4-FFF2-40B4-BE49-F238E27FC236}">
                  <a16:creationId xmlns:a16="http://schemas.microsoft.com/office/drawing/2014/main" id="{1D6BFA1C-096B-85C4-0BDE-84F8F5DE97BA}"/>
                </a:ext>
              </a:extLst>
            </p:cNvPr>
            <p:cNvSpPr txBox="1"/>
            <p:nvPr/>
          </p:nvSpPr>
          <p:spPr>
            <a:xfrm>
              <a:off x="12998718" y="6677939"/>
              <a:ext cx="3746232" cy="646331"/>
            </a:xfrm>
            <a:prstGeom prst="rect">
              <a:avLst/>
            </a:prstGeom>
            <a:noFill/>
          </p:spPr>
          <p:txBody>
            <a:bodyPr wrap="square" lIns="0" tIns="0" rIns="0" bIns="0">
              <a:spAutoFit/>
            </a:bodyPr>
            <a:lstStyle/>
            <a:p>
              <a:pPr marL="2858" algn="ctr" defTabSz="1371551">
                <a:spcAft>
                  <a:spcPts val="1500"/>
                </a:spcAft>
                <a:defRPr/>
              </a:pPr>
              <a:r>
                <a:rPr lang="en-US" sz="2100" spc="-75">
                  <a:ln w="3175">
                    <a:noFill/>
                  </a:ln>
                  <a:solidFill>
                    <a:schemeClr val="accent1"/>
                  </a:solidFill>
                  <a:latin typeface="+mj-lt"/>
                </a:rPr>
                <a:t>Only cloud provider to run Oracle Cloud Infrastructure </a:t>
              </a:r>
            </a:p>
          </p:txBody>
        </p:sp>
        <p:pic>
          <p:nvPicPr>
            <p:cNvPr id="77" name="Picture 4" descr="VMware® logo">
              <a:extLst>
                <a:ext uri="{FF2B5EF4-FFF2-40B4-BE49-F238E27FC236}">
                  <a16:creationId xmlns:a16="http://schemas.microsoft.com/office/drawing/2014/main" id="{ED4FCD6A-F0FC-FA13-42C1-131FBDBCE91E}"/>
                </a:ext>
                <a:ext uri="{C183D7F6-B498-43B3-948B-1728B52AA6E4}">
                  <adec:decorative xmlns:adec="http://schemas.microsoft.com/office/drawing/2017/decorative" val="0"/>
                </a:ext>
              </a:extLst>
            </p:cNvPr>
            <p:cNvPicPr>
              <a:picLocks noChangeAspect="1" noChangeArrowheads="1"/>
            </p:cNvPicPr>
            <p:nvPr/>
          </p:nvPicPr>
          <p:blipFill>
            <a:blip r:embed="rId10" cstate="print">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5169026" y="5030883"/>
              <a:ext cx="1541823" cy="226689"/>
            </a:xfrm>
            <a:prstGeom prst="rect">
              <a:avLst/>
            </a:prstGeom>
            <a:extLst>
              <a:ext uri="{909E8E84-426E-40DD-AFC4-6F175D3DCCD1}">
                <a14:hiddenFill xmlns:a14="http://schemas.microsoft.com/office/drawing/2010/main">
                  <a:solidFill>
                    <a:srgbClr val="FFFFFF"/>
                  </a:solidFill>
                </a14:hiddenFill>
              </a:ext>
            </a:extLst>
          </p:spPr>
        </p:pic>
        <p:pic>
          <p:nvPicPr>
            <p:cNvPr id="78" name="Picture 6" descr="Oracle Logo PNG Transparent &amp; SVG Vector - Freebie Supply">
              <a:extLst>
                <a:ext uri="{FF2B5EF4-FFF2-40B4-BE49-F238E27FC236}">
                  <a16:creationId xmlns:a16="http://schemas.microsoft.com/office/drawing/2014/main" id="{2B9B4A55-DC12-02E7-6DAA-4C06E4944435}"/>
                </a:ext>
              </a:extLst>
            </p:cNvPr>
            <p:cNvPicPr>
              <a:picLocks noChangeAspect="1" noChangeArrowheads="1"/>
            </p:cNvPicPr>
            <p:nvPr/>
          </p:nvPicPr>
          <p:blipFill>
            <a:blip r:embed="rId1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3181831" y="4946643"/>
              <a:ext cx="1722755" cy="3050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Netapp Logos">
              <a:extLst>
                <a:ext uri="{FF2B5EF4-FFF2-40B4-BE49-F238E27FC236}">
                  <a16:creationId xmlns:a16="http://schemas.microsoft.com/office/drawing/2014/main" id="{940901BA-3815-5060-FE99-7BF1DB8B056A}"/>
                </a:ext>
              </a:extLst>
            </p:cNvPr>
            <p:cNvPicPr>
              <a:picLocks noChangeAspect="1" noChangeArrowheads="1"/>
            </p:cNvPicPr>
            <p:nvPr/>
          </p:nvPicPr>
          <p:blipFill>
            <a:blip r:embed="rId1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4721745" y="5506805"/>
              <a:ext cx="816482" cy="9219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ed Hat &amp; Datacom Partnership — Innovative Cloud Container Services">
              <a:extLst>
                <a:ext uri="{FF2B5EF4-FFF2-40B4-BE49-F238E27FC236}">
                  <a16:creationId xmlns:a16="http://schemas.microsoft.com/office/drawing/2014/main" id="{0DA71598-1FD9-E9DA-5503-3AB56DA36700}"/>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2788429" y="5526910"/>
              <a:ext cx="1595862" cy="8816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SAP® logo">
              <a:extLst>
                <a:ext uri="{FF2B5EF4-FFF2-40B4-BE49-F238E27FC236}">
                  <a16:creationId xmlns:a16="http://schemas.microsoft.com/office/drawing/2014/main" id="{C9D27D8C-E927-682B-D490-B289E19F1FC0}"/>
                </a:ext>
                <a:ext uri="{C183D7F6-B498-43B3-948B-1728B52AA6E4}">
                  <adec:decorative xmlns:adec="http://schemas.microsoft.com/office/drawing/2017/decorative" val="0"/>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5831806" y="5670110"/>
              <a:ext cx="1224590" cy="595292"/>
            </a:xfrm>
            <a:prstGeom prst="rect">
              <a:avLst/>
            </a:prstGeom>
            <a:noFill/>
            <a:ln>
              <a:no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83061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08302-C5E8-1659-7A1D-0842489E45A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8B1B1E6-8412-91E9-A47F-10A68A06B161}"/>
              </a:ext>
              <a:ext uri="{C183D7F6-B498-43B3-948B-1728B52AA6E4}">
                <adec:decorative xmlns:adec="http://schemas.microsoft.com/office/drawing/2017/decorative" val="1"/>
              </a:ext>
            </a:extLst>
          </p:cNvPr>
          <p:cNvGrpSpPr/>
          <p:nvPr/>
        </p:nvGrpSpPr>
        <p:grpSpPr>
          <a:xfrm>
            <a:off x="0" y="-32465"/>
            <a:ext cx="18288000" cy="10287000"/>
            <a:chOff x="0" y="0"/>
            <a:chExt cx="12192000" cy="6858000"/>
          </a:xfrm>
        </p:grpSpPr>
        <p:sp>
          <p:nvSpPr>
            <p:cNvPr id="10" name="Rectangle 9" descr="Dark Pattern: Plus dots">
              <a:extLst>
                <a:ext uri="{FF2B5EF4-FFF2-40B4-BE49-F238E27FC236}">
                  <a16:creationId xmlns:a16="http://schemas.microsoft.com/office/drawing/2014/main" id="{4F49CBBD-3174-5B50-B669-574D89C7B814}"/>
                </a:ext>
              </a:extLst>
            </p:cNvPr>
            <p:cNvSpPr/>
            <p:nvPr/>
          </p:nvSpPr>
          <p:spPr bwMode="auto">
            <a:xfrm>
              <a:off x="0" y="0"/>
              <a:ext cx="12192000" cy="6842084"/>
            </a:xfrm>
            <a:prstGeom prst="rect">
              <a:avLst/>
            </a:prstGeom>
            <a:blipFill dpi="0" rotWithShape="1">
              <a:blip>
                <a:alphaModFix amt="20000"/>
                <a:extLst>
                  <a:ext uri="{96DAC541-7B7A-43D3-8B79-37D633B846F1}">
                    <asvg:svgBlip xmlns:asvg="http://schemas.microsoft.com/office/drawing/2016/SVG/main" r:embed="rId3"/>
                  </a:ext>
                </a:extLst>
              </a:blip>
              <a:srcRect/>
              <a:tile tx="0" ty="0" sx="100000" sy="100000" flip="none" algn="tl"/>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solidFill>
                  <a:srgbClr val="FFFFFF"/>
                </a:solidFill>
                <a:latin typeface="Segoe UI"/>
                <a:ea typeface="Segoe UI" pitchFamily="34" charset="0"/>
                <a:cs typeface="Segoe UI" pitchFamily="34" charset="0"/>
              </a:endParaRPr>
            </a:p>
          </p:txBody>
        </p:sp>
        <p:sp>
          <p:nvSpPr>
            <p:cNvPr id="11" name="Rectangle: Rounded Corners 4" descr="Dark - small container">
              <a:extLst>
                <a:ext uri="{FF2B5EF4-FFF2-40B4-BE49-F238E27FC236}">
                  <a16:creationId xmlns:a16="http://schemas.microsoft.com/office/drawing/2014/main" id="{6F9FDB0E-12D1-A005-1786-0701E65747CB}"/>
                </a:ext>
              </a:extLst>
            </p:cNvPr>
            <p:cNvSpPr>
              <a:spLocks/>
            </p:cNvSpPr>
            <p:nvPr/>
          </p:nvSpPr>
          <p:spPr bwMode="auto">
            <a:xfrm>
              <a:off x="0" y="0"/>
              <a:ext cx="12192000" cy="6858000"/>
            </a:xfrm>
            <a:prstGeom prst="rect">
              <a:avLst/>
            </a:prstGeom>
            <a:gradFill>
              <a:gsLst>
                <a:gs pos="70000">
                  <a:srgbClr val="091F2C"/>
                </a:gs>
                <a:gs pos="95000">
                  <a:srgbClr val="091F2C">
                    <a:alpha val="77000"/>
                  </a:srgbClr>
                </a:gs>
                <a:gs pos="25000">
                  <a:srgbClr val="091F2C"/>
                </a:gs>
                <a:gs pos="0">
                  <a:srgbClr val="091F2C">
                    <a:alpha val="40000"/>
                  </a:srgbClr>
                </a:gs>
              </a:gsLst>
              <a:path path="circle">
                <a:fillToRect l="100000" t="100000"/>
              </a:path>
            </a:gradFill>
            <a:ln w="12700">
              <a:noFill/>
              <a:headEnd type="none" w="med" len="med"/>
              <a:tailEnd type="none" w="med" len="med"/>
            </a:ln>
            <a:effectLst/>
            <a:scene3d>
              <a:camera prst="perspectiveRight" fov="2700000">
                <a:rot lat="0" lon="21594000" rev="0"/>
              </a:camera>
              <a:lightRig rig="flat" dir="t"/>
            </a:scene3d>
            <a:sp3d>
              <a:bevelT w="0" h="38100"/>
              <a:bevelB w="0" h="0"/>
              <a:contourClr>
                <a:schemeClr val="bg1"/>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3000" err="1">
                <a:solidFill>
                  <a:srgbClr val="FFFFFF"/>
                </a:solidFill>
                <a:latin typeface="Segoe UI"/>
                <a:cs typeface="Segoe UI" pitchFamily="34" charset="0"/>
              </a:endParaRPr>
            </a:p>
          </p:txBody>
        </p:sp>
      </p:grpSp>
      <p:sp>
        <p:nvSpPr>
          <p:cNvPr id="2" name="Title 1">
            <a:extLst>
              <a:ext uri="{FF2B5EF4-FFF2-40B4-BE49-F238E27FC236}">
                <a16:creationId xmlns:a16="http://schemas.microsoft.com/office/drawing/2014/main" id="{9AE7FAFE-0962-1DF1-839C-1632E079D384}"/>
              </a:ext>
            </a:extLst>
          </p:cNvPr>
          <p:cNvSpPr>
            <a:spLocks/>
          </p:cNvSpPr>
          <p:nvPr/>
        </p:nvSpPr>
        <p:spPr>
          <a:xfrm>
            <a:off x="882395" y="685801"/>
            <a:ext cx="16527780" cy="166199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1399113">
              <a:spcBef>
                <a:spcPct val="0"/>
              </a:spcBef>
              <a:defRPr/>
            </a:pPr>
            <a:r>
              <a:rPr lang="en-US" sz="5400" spc="-75">
                <a:ln w="3175">
                  <a:noFill/>
                </a:ln>
                <a:solidFill>
                  <a:srgbClr val="FFFFFF"/>
                </a:solidFill>
                <a:latin typeface="Segoe UI Semibold"/>
                <a:cs typeface="Segoe UI" pitchFamily="34" charset="0"/>
              </a:rPr>
              <a:t>Azure meets you where you are </a:t>
            </a:r>
            <a:br>
              <a:rPr lang="en-US" sz="5400" spc="-75">
                <a:ln w="3175">
                  <a:noFill/>
                </a:ln>
                <a:solidFill>
                  <a:srgbClr val="FFFFFF"/>
                </a:solidFill>
                <a:latin typeface="Segoe UI Semibold"/>
                <a:cs typeface="Segoe UI" pitchFamily="34" charset="0"/>
              </a:rPr>
            </a:br>
            <a:r>
              <a:rPr lang="en-US" sz="5400" spc="-75">
                <a:ln w="3175">
                  <a:noFill/>
                </a:ln>
                <a:solidFill>
                  <a:srgbClr val="FFFFFF"/>
                </a:solidFill>
                <a:latin typeface="Segoe UI Semibold"/>
                <a:cs typeface="Segoe UI" pitchFamily="34" charset="0"/>
              </a:rPr>
              <a:t>with an </a:t>
            </a:r>
            <a:r>
              <a:rPr lang="en-US" sz="5400" spc="-75">
                <a:ln w="3175">
                  <a:noFill/>
                </a:ln>
                <a:solidFill>
                  <a:srgbClr val="D59ED7"/>
                </a:solidFill>
                <a:latin typeface="Segoe UI Semibold"/>
                <a:ea typeface="+mj-lt"/>
                <a:cs typeface="Segoe UI Semibold"/>
              </a:rPr>
              <a:t>adaptive</a:t>
            </a:r>
            <a:r>
              <a:rPr lang="en-US" sz="5400" spc="-75">
                <a:ln w="3175">
                  <a:noFill/>
                </a:ln>
                <a:solidFill>
                  <a:srgbClr val="FFFFFF"/>
                </a:solidFill>
                <a:latin typeface="Segoe UI Semibold"/>
                <a:cs typeface="Segoe UI" pitchFamily="34" charset="0"/>
              </a:rPr>
              <a:t> </a:t>
            </a:r>
            <a:r>
              <a:rPr lang="en-US" sz="5400" spc="-75">
                <a:ln w="3175">
                  <a:noFill/>
                </a:ln>
                <a:solidFill>
                  <a:srgbClr val="D59ED7"/>
                </a:solidFill>
                <a:latin typeface="Segoe UI Semibold"/>
                <a:ea typeface="+mj-lt"/>
                <a:cs typeface="Segoe UI Semibold"/>
              </a:rPr>
              <a:t>cloud</a:t>
            </a:r>
            <a:r>
              <a:rPr lang="en-US" sz="5400" spc="-75">
                <a:ln w="3175">
                  <a:noFill/>
                </a:ln>
                <a:solidFill>
                  <a:srgbClr val="FFFFFF"/>
                </a:solidFill>
                <a:latin typeface="Segoe UI Semibold"/>
                <a:cs typeface="Segoe UI" pitchFamily="34" charset="0"/>
              </a:rPr>
              <a:t> approach</a:t>
            </a:r>
          </a:p>
        </p:txBody>
      </p:sp>
      <p:sp>
        <p:nvSpPr>
          <p:cNvPr id="18" name="Title 17">
            <a:extLst>
              <a:ext uri="{FF2B5EF4-FFF2-40B4-BE49-F238E27FC236}">
                <a16:creationId xmlns:a16="http://schemas.microsoft.com/office/drawing/2014/main" id="{E7D954A0-C88F-964E-C1E6-B83C798CB08F}"/>
              </a:ext>
            </a:extLst>
          </p:cNvPr>
          <p:cNvSpPr>
            <a:spLocks noGrp="1"/>
          </p:cNvSpPr>
          <p:nvPr>
            <p:ph type="title" idx="4294967295"/>
          </p:nvPr>
        </p:nvSpPr>
        <p:spPr bwMode="auto">
          <a:xfrm>
            <a:off x="1783332" y="7887881"/>
            <a:ext cx="14753136" cy="1184934"/>
          </a:xfrm>
          <a:prstGeom prst="roundRect">
            <a:avLst>
              <a:gd name="adj" fmla="val 50000"/>
            </a:avLst>
          </a:prstGeom>
          <a:gradFill flip="none" rotWithShape="1">
            <a:gsLst>
              <a:gs pos="35000">
                <a:srgbClr val="8DC8E8"/>
              </a:gs>
              <a:gs pos="10000">
                <a:srgbClr val="D59ED7"/>
              </a:gs>
            </a:gsLst>
            <a:path path="circle">
              <a:fillToRect l="100000" t="100000"/>
            </a:path>
            <a:tileRect r="-100000" b="-100000"/>
          </a:gradFill>
          <a:ln w="9525" cap="flat" cmpd="sng" algn="ctr">
            <a:noFill/>
            <a:prstDash val="solid"/>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fontAlgn="base">
              <a:spcAft>
                <a:spcPct val="0"/>
              </a:spcAft>
              <a:defRPr/>
            </a:pPr>
            <a:r>
              <a:rPr lang="en-US" sz="3600" b="1" spc="0">
                <a:gradFill>
                  <a:gsLst>
                    <a:gs pos="71910">
                      <a:srgbClr val="000000"/>
                    </a:gs>
                    <a:gs pos="53933">
                      <a:srgbClr val="000000"/>
                    </a:gs>
                  </a:gsLst>
                  <a:path path="circle">
                    <a:fillToRect l="100000" b="100000"/>
                  </a:path>
                </a:gradFill>
                <a:latin typeface="Segoe UI Semibold"/>
                <a:cs typeface="Segoe UI" pitchFamily="34" charset="0"/>
              </a:rPr>
              <a:t>Get expert help and guidance with </a:t>
            </a:r>
            <a:r>
              <a:rPr lang="en-US" sz="3600" b="1" spc="0">
                <a:gradFill>
                  <a:gsLst>
                    <a:gs pos="71910">
                      <a:srgbClr val="000000"/>
                    </a:gs>
                    <a:gs pos="53933">
                      <a:srgbClr val="000000"/>
                    </a:gs>
                  </a:gsLst>
                  <a:path path="circle">
                    <a:fillToRect l="100000" b="100000"/>
                  </a:path>
                </a:gradFill>
                <a:latin typeface="+mj-lt"/>
                <a:cs typeface="Segoe UI" pitchFamily="34" charset="0"/>
              </a:rPr>
              <a:t>Azure Migrate and Modernize</a:t>
            </a:r>
          </a:p>
        </p:txBody>
      </p:sp>
      <p:grpSp>
        <p:nvGrpSpPr>
          <p:cNvPr id="4" name="Group 3" descr="Migrate apps, data, and infra">
            <a:extLst>
              <a:ext uri="{FF2B5EF4-FFF2-40B4-BE49-F238E27FC236}">
                <a16:creationId xmlns:a16="http://schemas.microsoft.com/office/drawing/2014/main" id="{EA3D18C9-E6EE-6D6F-CFBA-6474BFC2713B}"/>
              </a:ext>
            </a:extLst>
          </p:cNvPr>
          <p:cNvGrpSpPr/>
          <p:nvPr/>
        </p:nvGrpSpPr>
        <p:grpSpPr>
          <a:xfrm>
            <a:off x="1783332" y="3120250"/>
            <a:ext cx="4689441" cy="4296518"/>
            <a:chOff x="1188888" y="2080166"/>
            <a:chExt cx="3126294" cy="2864345"/>
          </a:xfrm>
        </p:grpSpPr>
        <p:sp>
          <p:nvSpPr>
            <p:cNvPr id="3" name="Freeform 2">
              <a:extLst>
                <a:ext uri="{FF2B5EF4-FFF2-40B4-BE49-F238E27FC236}">
                  <a16:creationId xmlns:a16="http://schemas.microsoft.com/office/drawing/2014/main" id="{60664DD8-AE7D-ED9D-0F1E-73FB520E4CCA}"/>
                </a:ext>
                <a:ext uri="{C183D7F6-B498-43B3-948B-1728B52AA6E4}">
                  <adec:decorative xmlns:adec="http://schemas.microsoft.com/office/drawing/2017/decorative" val="1"/>
                </a:ext>
              </a:extLst>
            </p:cNvPr>
            <p:cNvSpPr/>
            <p:nvPr/>
          </p:nvSpPr>
          <p:spPr bwMode="auto">
            <a:xfrm>
              <a:off x="1188888" y="2454158"/>
              <a:ext cx="3126294" cy="2490353"/>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5" name="TextBox 94">
              <a:extLst>
                <a:ext uri="{FF2B5EF4-FFF2-40B4-BE49-F238E27FC236}">
                  <a16:creationId xmlns:a16="http://schemas.microsoft.com/office/drawing/2014/main" id="{1C9A66AA-E19E-8C0C-3610-E6872718F9FD}"/>
                </a:ext>
                <a:ext uri="{C183D7F6-B498-43B3-948B-1728B52AA6E4}">
                  <adec:decorative xmlns:adec="http://schemas.microsoft.com/office/drawing/2017/decorative" val="1"/>
                </a:ext>
              </a:extLst>
            </p:cNvPr>
            <p:cNvSpPr txBox="1"/>
            <p:nvPr/>
          </p:nvSpPr>
          <p:spPr>
            <a:xfrm>
              <a:off x="1918457" y="3105848"/>
              <a:ext cx="1667157" cy="615553"/>
            </a:xfrm>
            <a:prstGeom prst="rect">
              <a:avLst/>
            </a:prstGeom>
            <a:noFill/>
          </p:spPr>
          <p:txBody>
            <a:bodyPr wrap="none" lIns="54000" tIns="0" rIns="54000" bIns="0" rtlCol="0">
              <a:spAutoFit/>
            </a:bodyPr>
            <a:lstStyle/>
            <a:p>
              <a:pPr algn="ctr" defTabSz="1371551">
                <a:defRPr/>
              </a:pPr>
              <a:r>
                <a:rPr lang="en-US" sz="3000" spc="-75">
                  <a:ln w="3175">
                    <a:noFill/>
                  </a:ln>
                  <a:solidFill>
                    <a:srgbClr val="D59ED7"/>
                  </a:solidFill>
                  <a:latin typeface="Segoe UI Semibold"/>
                  <a:ea typeface="+mj-lt"/>
                  <a:cs typeface="Segoe UI Semibold"/>
                </a:rPr>
                <a:t>Migrate apps, </a:t>
              </a:r>
              <a:br>
                <a:rPr lang="en-US" sz="3000" spc="-75">
                  <a:ln w="3175">
                    <a:noFill/>
                  </a:ln>
                  <a:solidFill>
                    <a:srgbClr val="D59ED7"/>
                  </a:solidFill>
                  <a:latin typeface="Segoe UI Semibold"/>
                  <a:ea typeface="+mj-lt"/>
                  <a:cs typeface="Segoe UI Semibold"/>
                </a:rPr>
              </a:br>
              <a:r>
                <a:rPr lang="en-US" sz="3000" spc="-75">
                  <a:ln w="3175">
                    <a:noFill/>
                  </a:ln>
                  <a:solidFill>
                    <a:srgbClr val="D59ED7"/>
                  </a:solidFill>
                  <a:latin typeface="Segoe UI Semibold"/>
                  <a:ea typeface="+mj-lt"/>
                  <a:cs typeface="Segoe UI Semibold"/>
                </a:rPr>
                <a:t>data, and infra</a:t>
              </a:r>
            </a:p>
          </p:txBody>
        </p:sp>
        <p:grpSp>
          <p:nvGrpSpPr>
            <p:cNvPr id="85" name="Group 84">
              <a:extLst>
                <a:ext uri="{FF2B5EF4-FFF2-40B4-BE49-F238E27FC236}">
                  <a16:creationId xmlns:a16="http://schemas.microsoft.com/office/drawing/2014/main" id="{EF0D0E91-60CE-BC45-8C3E-0A969B7F519F}"/>
                </a:ext>
              </a:extLst>
            </p:cNvPr>
            <p:cNvGrpSpPr/>
            <p:nvPr/>
          </p:nvGrpSpPr>
          <p:grpSpPr>
            <a:xfrm>
              <a:off x="2170308" y="2080166"/>
              <a:ext cx="1163454" cy="877577"/>
              <a:chOff x="1978602" y="1970338"/>
              <a:chExt cx="1378020" cy="1039422"/>
            </a:xfrm>
          </p:grpSpPr>
          <p:sp>
            <p:nvSpPr>
              <p:cNvPr id="77" name="Rectangle: Rounded Corners 31">
                <a:extLst>
                  <a:ext uri="{FF2B5EF4-FFF2-40B4-BE49-F238E27FC236}">
                    <a16:creationId xmlns:a16="http://schemas.microsoft.com/office/drawing/2014/main" id="{8C71DB16-3E24-8D28-71E2-68E42095A50E}"/>
                  </a:ext>
                  <a:ext uri="{C183D7F6-B498-43B3-948B-1728B52AA6E4}">
                    <adec:decorative xmlns:adec="http://schemas.microsoft.com/office/drawing/2017/decorative" val="1"/>
                  </a:ext>
                </a:extLst>
              </p:cNvPr>
              <p:cNvSpPr/>
              <p:nvPr/>
            </p:nvSpPr>
            <p:spPr bwMode="auto">
              <a:xfrm>
                <a:off x="1978602" y="2041304"/>
                <a:ext cx="1362914" cy="968456"/>
              </a:xfrm>
              <a:prstGeom prst="roundRect">
                <a:avLst/>
              </a:prstGeom>
              <a:gradFill>
                <a:gsLst>
                  <a:gs pos="0">
                    <a:srgbClr val="50E6FF"/>
                  </a:gs>
                  <a:gs pos="81000">
                    <a:srgbClr val="0078D4"/>
                  </a:gs>
                </a:gsLst>
                <a:lin ang="2700000" scaled="0"/>
              </a:gradFill>
              <a:ln w="9525" cap="flat" cmpd="sng" algn="ctr">
                <a:noFill/>
                <a:prstDash val="solid"/>
                <a:headEnd type="none" w="med" len="med"/>
                <a:tailEnd type="none" w="med" len="med"/>
              </a:ln>
              <a:effectLst>
                <a:outerShdw blurRad="381000" dist="304800" dir="8100000" algn="tr" rotWithShape="0">
                  <a:prstClr val="black">
                    <a:alpha val="20000"/>
                  </a:prstClr>
                </a:outerShdw>
              </a:effectLst>
              <a:scene3d>
                <a:camera prst="isometricTopUp"/>
                <a:lightRig rig="threePt" dir="t"/>
              </a:scene3d>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100" kern="0">
                  <a:solidFill>
                    <a:srgbClr val="000000"/>
                  </a:solidFill>
                  <a:latin typeface="Segoe UI"/>
                  <a:cs typeface="Segoe UI" pitchFamily="34" charset="0"/>
                </a:endParaRPr>
              </a:p>
            </p:txBody>
          </p:sp>
          <p:pic>
            <p:nvPicPr>
              <p:cNvPr id="81" name="Graphic 80">
                <a:extLst>
                  <a:ext uri="{FF2B5EF4-FFF2-40B4-BE49-F238E27FC236}">
                    <a16:creationId xmlns:a16="http://schemas.microsoft.com/office/drawing/2014/main" id="{AFC2990F-074E-77E3-6C0C-60CE77DE14E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9825" y="2036635"/>
                <a:ext cx="679753" cy="625372"/>
              </a:xfrm>
              <a:prstGeom prst="rect">
                <a:avLst/>
              </a:prstGeom>
              <a:effectLst>
                <a:outerShdw blurRad="190500" dist="152400" dir="5400000" algn="t" rotWithShape="0">
                  <a:srgbClr val="243A5E">
                    <a:alpha val="21000"/>
                  </a:srgbClr>
                </a:outerShdw>
              </a:effectLst>
            </p:spPr>
          </p:pic>
          <p:grpSp>
            <p:nvGrpSpPr>
              <p:cNvPr id="82" name="Group 81">
                <a:extLst>
                  <a:ext uri="{FF2B5EF4-FFF2-40B4-BE49-F238E27FC236}">
                    <a16:creationId xmlns:a16="http://schemas.microsoft.com/office/drawing/2014/main" id="{253D8D5B-F117-17DA-692B-E25B5AE2211D}"/>
                  </a:ext>
                </a:extLst>
              </p:cNvPr>
              <p:cNvGrpSpPr/>
              <p:nvPr/>
            </p:nvGrpSpPr>
            <p:grpSpPr>
              <a:xfrm>
                <a:off x="2954472" y="1970338"/>
                <a:ext cx="402150" cy="402150"/>
                <a:chOff x="9072146" y="3549365"/>
                <a:chExt cx="1053495" cy="1053495"/>
              </a:xfrm>
            </p:grpSpPr>
            <p:sp>
              <p:nvSpPr>
                <p:cNvPr id="83" name="Rectangle: Rounded Corners 39">
                  <a:extLst>
                    <a:ext uri="{FF2B5EF4-FFF2-40B4-BE49-F238E27FC236}">
                      <a16:creationId xmlns:a16="http://schemas.microsoft.com/office/drawing/2014/main" id="{2355A943-10E6-E5F0-2597-F7659A35FC5C}"/>
                    </a:ext>
                    <a:ext uri="{C183D7F6-B498-43B3-948B-1728B52AA6E4}">
                      <adec:decorative xmlns:adec="http://schemas.microsoft.com/office/drawing/2017/decorative" val="1"/>
                    </a:ext>
                  </a:extLst>
                </p:cNvPr>
                <p:cNvSpPr/>
                <p:nvPr/>
              </p:nvSpPr>
              <p:spPr bwMode="auto">
                <a:xfrm>
                  <a:off x="9072146" y="3549365"/>
                  <a:ext cx="1053495" cy="1053495"/>
                </a:xfrm>
                <a:prstGeom prst="roundRect">
                  <a:avLst>
                    <a:gd name="adj" fmla="val 9448"/>
                  </a:avLst>
                </a:prstGeom>
                <a:solidFill>
                  <a:srgbClr val="FFFFFF"/>
                </a:solidFill>
                <a:ln w="9525" cap="flat" cmpd="sng" algn="ctr">
                  <a:noFill/>
                  <a:prstDash val="solid"/>
                  <a:headEnd type="none" w="med" len="med"/>
                  <a:tailEnd type="none" w="med" len="med"/>
                </a:ln>
                <a:effectLst>
                  <a:outerShdw blurRad="101600" algn="ctr" rotWithShape="0">
                    <a:prstClr val="black">
                      <a:alpha val="31000"/>
                    </a:prstClr>
                  </a:outerShdw>
                </a:effectLst>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100" kern="0">
                    <a:solidFill>
                      <a:srgbClr val="000000"/>
                    </a:solidFill>
                    <a:latin typeface="Segoe UI"/>
                    <a:cs typeface="Segoe UI" pitchFamily="34" charset="0"/>
                  </a:endParaRPr>
                </a:p>
              </p:txBody>
            </p:sp>
            <p:pic>
              <p:nvPicPr>
                <p:cNvPr id="84" name="Picture 2">
                  <a:extLst>
                    <a:ext uri="{FF2B5EF4-FFF2-40B4-BE49-F238E27FC236}">
                      <a16:creationId xmlns:a16="http://schemas.microsoft.com/office/drawing/2014/main" id="{5FD30DB1-2FD7-F7C2-0F86-F94AA0840F8C}"/>
                    </a:ext>
                    <a:ext uri="{C183D7F6-B498-43B3-948B-1728B52AA6E4}">
                      <adec:decorative xmlns:adec="http://schemas.microsoft.com/office/drawing/2017/decorative" val="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244" r="20244"/>
                <a:stretch/>
              </p:blipFill>
              <p:spPr bwMode="auto">
                <a:xfrm>
                  <a:off x="9225582" y="3709889"/>
                  <a:ext cx="766717" cy="72470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2" name="TextBox 101">
              <a:extLst>
                <a:ext uri="{FF2B5EF4-FFF2-40B4-BE49-F238E27FC236}">
                  <a16:creationId xmlns:a16="http://schemas.microsoft.com/office/drawing/2014/main" id="{9CABD3C5-64BC-6BCB-80B2-C5DA5C9987E3}"/>
                </a:ext>
                <a:ext uri="{C183D7F6-B498-43B3-948B-1728B52AA6E4}">
                  <adec:decorative xmlns:adec="http://schemas.microsoft.com/office/drawing/2017/decorative" val="0"/>
                </a:ext>
              </a:extLst>
            </p:cNvPr>
            <p:cNvSpPr txBox="1"/>
            <p:nvPr/>
          </p:nvSpPr>
          <p:spPr>
            <a:xfrm>
              <a:off x="1531674" y="3875103"/>
              <a:ext cx="2500680" cy="861775"/>
            </a:xfrm>
            <a:prstGeom prst="rect">
              <a:avLst/>
            </a:prstGeom>
            <a:noFill/>
          </p:spPr>
          <p:txBody>
            <a:bodyPr wrap="square" lIns="54000" tIns="0" rIns="54000" bIns="0" rtlCol="0">
              <a:spAutoFit/>
            </a:bodyPr>
            <a:lstStyle/>
            <a:p>
              <a:pPr algn="ctr" defTabSz="1371551">
                <a:defRPr/>
              </a:pPr>
              <a:r>
                <a:rPr lang="en-US" sz="2100" spc="-75">
                  <a:ln w="3175">
                    <a:noFill/>
                  </a:ln>
                  <a:solidFill>
                    <a:srgbClr val="FFFFFF"/>
                  </a:solidFill>
                  <a:latin typeface="Segoe UI"/>
                  <a:ea typeface="+mj-lt"/>
                  <a:cs typeface="Segoe UI Semibold"/>
                </a:rPr>
                <a:t>Easily migrate to IaaS or flexible PaaS services for industry-leading performance, availability, and reliability</a:t>
              </a:r>
            </a:p>
          </p:txBody>
        </p:sp>
      </p:grpSp>
      <p:sp>
        <p:nvSpPr>
          <p:cNvPr id="14" name="Freeform 13">
            <a:extLst>
              <a:ext uri="{FF2B5EF4-FFF2-40B4-BE49-F238E27FC236}">
                <a16:creationId xmlns:a16="http://schemas.microsoft.com/office/drawing/2014/main" id="{2F55BFAA-B42D-3694-EDA1-E0274BE6F0CE}"/>
              </a:ext>
              <a:ext uri="{C183D7F6-B498-43B3-948B-1728B52AA6E4}">
                <adec:decorative xmlns:adec="http://schemas.microsoft.com/office/drawing/2017/decorative" val="1"/>
              </a:ext>
            </a:extLst>
          </p:cNvPr>
          <p:cNvSpPr/>
          <p:nvPr/>
        </p:nvSpPr>
        <p:spPr bwMode="auto">
          <a:xfrm>
            <a:off x="6799280" y="3681238"/>
            <a:ext cx="4689441" cy="3735530"/>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7" name="TextBox 96">
            <a:extLst>
              <a:ext uri="{FF2B5EF4-FFF2-40B4-BE49-F238E27FC236}">
                <a16:creationId xmlns:a16="http://schemas.microsoft.com/office/drawing/2014/main" id="{A3A7D99B-45F1-E0CE-9D9D-22C2CB47F788}"/>
              </a:ext>
              <a:ext uri="{C183D7F6-B498-43B3-948B-1728B52AA6E4}">
                <adec:decorative xmlns:adec="http://schemas.microsoft.com/office/drawing/2017/decorative" val="1"/>
              </a:ext>
            </a:extLst>
          </p:cNvPr>
          <p:cNvSpPr txBox="1"/>
          <p:nvPr/>
        </p:nvSpPr>
        <p:spPr>
          <a:xfrm>
            <a:off x="8005940" y="4658772"/>
            <a:ext cx="2276122" cy="923330"/>
          </a:xfrm>
          <a:prstGeom prst="rect">
            <a:avLst/>
          </a:prstGeom>
          <a:noFill/>
        </p:spPr>
        <p:txBody>
          <a:bodyPr wrap="none" lIns="54000" tIns="0" rIns="54000" bIns="0" rtlCol="0">
            <a:spAutoFit/>
          </a:bodyPr>
          <a:lstStyle/>
          <a:p>
            <a:pPr algn="ctr" defTabSz="1371551">
              <a:defRPr/>
            </a:pPr>
            <a:r>
              <a:rPr lang="en-US" sz="3000" spc="-75">
                <a:ln w="3175">
                  <a:noFill/>
                </a:ln>
                <a:solidFill>
                  <a:srgbClr val="D59ED7"/>
                </a:solidFill>
                <a:latin typeface="Segoe UI Semibold"/>
                <a:ea typeface="+mj-lt"/>
                <a:cs typeface="Segoe UI Semibold"/>
              </a:rPr>
              <a:t>Move </a:t>
            </a:r>
            <a:br>
              <a:rPr lang="en-US" sz="3000" spc="-75">
                <a:ln w="3175">
                  <a:noFill/>
                </a:ln>
                <a:solidFill>
                  <a:srgbClr val="D59ED7"/>
                </a:solidFill>
                <a:latin typeface="Segoe UI Semibold"/>
                <a:ea typeface="+mj-lt"/>
                <a:cs typeface="Segoe UI Semibold"/>
              </a:rPr>
            </a:br>
            <a:r>
              <a:rPr lang="en-US" sz="3000" spc="-75">
                <a:ln w="3175">
                  <a:noFill/>
                </a:ln>
                <a:solidFill>
                  <a:srgbClr val="D59ED7"/>
                </a:solidFill>
                <a:latin typeface="Segoe UI Semibold"/>
                <a:ea typeface="+mj-lt"/>
                <a:cs typeface="Segoe UI Semibold"/>
              </a:rPr>
              <a:t>VMware as is</a:t>
            </a:r>
          </a:p>
        </p:txBody>
      </p:sp>
      <p:grpSp>
        <p:nvGrpSpPr>
          <p:cNvPr id="26" name="Group 25">
            <a:extLst>
              <a:ext uri="{FF2B5EF4-FFF2-40B4-BE49-F238E27FC236}">
                <a16:creationId xmlns:a16="http://schemas.microsoft.com/office/drawing/2014/main" id="{AAE8B04F-CCD5-065F-13E9-17674EB90F5A}"/>
              </a:ext>
              <a:ext uri="{C183D7F6-B498-43B3-948B-1728B52AA6E4}">
                <adec:decorative xmlns:adec="http://schemas.microsoft.com/office/drawing/2017/decorative" val="1"/>
              </a:ext>
            </a:extLst>
          </p:cNvPr>
          <p:cNvGrpSpPr/>
          <p:nvPr/>
        </p:nvGrpSpPr>
        <p:grpSpPr>
          <a:xfrm>
            <a:off x="8305522" y="3033597"/>
            <a:ext cx="1676957" cy="1423767"/>
            <a:chOff x="9007962" y="3874129"/>
            <a:chExt cx="2063363" cy="1836509"/>
          </a:xfrm>
        </p:grpSpPr>
        <p:grpSp>
          <p:nvGrpSpPr>
            <p:cNvPr id="27" name="Group 26">
              <a:extLst>
                <a:ext uri="{FF2B5EF4-FFF2-40B4-BE49-F238E27FC236}">
                  <a16:creationId xmlns:a16="http://schemas.microsoft.com/office/drawing/2014/main" id="{8D2D2E76-A882-ED97-BA39-477E065E6AC8}"/>
                </a:ext>
              </a:extLst>
            </p:cNvPr>
            <p:cNvGrpSpPr/>
            <p:nvPr/>
          </p:nvGrpSpPr>
          <p:grpSpPr>
            <a:xfrm>
              <a:off x="9116808" y="3874129"/>
              <a:ext cx="597817" cy="597816"/>
              <a:chOff x="8022283" y="1432498"/>
              <a:chExt cx="554499" cy="554499"/>
            </a:xfrm>
          </p:grpSpPr>
          <p:sp>
            <p:nvSpPr>
              <p:cNvPr id="60" name="Rectangle: Rounded Corners 90">
                <a:extLst>
                  <a:ext uri="{FF2B5EF4-FFF2-40B4-BE49-F238E27FC236}">
                    <a16:creationId xmlns:a16="http://schemas.microsoft.com/office/drawing/2014/main" id="{8B69B557-048C-1B9C-B88D-21CC314EE4FC}"/>
                  </a:ext>
                  <a:ext uri="{C183D7F6-B498-43B3-948B-1728B52AA6E4}">
                    <adec:decorative xmlns:adec="http://schemas.microsoft.com/office/drawing/2017/decorative" val="1"/>
                  </a:ext>
                </a:extLst>
              </p:cNvPr>
              <p:cNvSpPr/>
              <p:nvPr/>
            </p:nvSpPr>
            <p:spPr bwMode="auto">
              <a:xfrm>
                <a:off x="8022283" y="1432498"/>
                <a:ext cx="554499" cy="554499"/>
              </a:xfrm>
              <a:prstGeom prst="roundRect">
                <a:avLst>
                  <a:gd name="adj" fmla="val 9448"/>
                </a:avLst>
              </a:prstGeom>
              <a:gradFill>
                <a:gsLst>
                  <a:gs pos="0">
                    <a:srgbClr val="0078D4"/>
                  </a:gs>
                  <a:gs pos="100000">
                    <a:srgbClr val="50E6FF"/>
                  </a:gs>
                </a:gsLst>
                <a:lin ang="2700000" scaled="0"/>
              </a:gradFill>
              <a:ln w="9525" cap="flat" cmpd="sng" algn="ctr">
                <a:noFill/>
                <a:prstDash val="solid"/>
                <a:headEnd type="none" w="med" len="med"/>
                <a:tailEnd type="none" w="med" len="med"/>
              </a:ln>
              <a:effectLst>
                <a:outerShdw blurRad="101600" algn="ctr" rotWithShape="0">
                  <a:prstClr val="black">
                    <a:alpha val="31000"/>
                  </a:prstClr>
                </a:outerShdw>
              </a:effectLst>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100" kern="0">
                  <a:solidFill>
                    <a:srgbClr val="000000"/>
                  </a:solidFill>
                  <a:latin typeface="Segoe UI"/>
                  <a:cs typeface="Segoe UI" pitchFamily="34" charset="0"/>
                </a:endParaRPr>
              </a:p>
            </p:txBody>
          </p:sp>
          <p:pic>
            <p:nvPicPr>
              <p:cNvPr id="71" name="Picture 2">
                <a:extLst>
                  <a:ext uri="{FF2B5EF4-FFF2-40B4-BE49-F238E27FC236}">
                    <a16:creationId xmlns:a16="http://schemas.microsoft.com/office/drawing/2014/main" id="{6A15BCD1-FC7B-0622-2603-D9B6584E1B90}"/>
                  </a:ext>
                  <a:ext uri="{C183D7F6-B498-43B3-948B-1728B52AA6E4}">
                    <adec:decorative xmlns:adec="http://schemas.microsoft.com/office/drawing/2017/decorative" val="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8070623" y="1559270"/>
                <a:ext cx="464756" cy="278854"/>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Rectangle: Rounded Corners 78">
              <a:extLst>
                <a:ext uri="{FF2B5EF4-FFF2-40B4-BE49-F238E27FC236}">
                  <a16:creationId xmlns:a16="http://schemas.microsoft.com/office/drawing/2014/main" id="{A2F87B74-4DAE-24BC-EEB8-4E447DB1ACAC}"/>
                </a:ext>
                <a:ext uri="{C183D7F6-B498-43B3-948B-1728B52AA6E4}">
                  <adec:decorative xmlns:adec="http://schemas.microsoft.com/office/drawing/2017/decorative" val="1"/>
                </a:ext>
              </a:extLst>
            </p:cNvPr>
            <p:cNvSpPr/>
            <p:nvPr/>
          </p:nvSpPr>
          <p:spPr bwMode="auto">
            <a:xfrm>
              <a:off x="9007962" y="4164727"/>
              <a:ext cx="2063363" cy="1545911"/>
            </a:xfrm>
            <a:prstGeom prst="roundRect">
              <a:avLst/>
            </a:prstGeom>
            <a:solidFill>
              <a:schemeClr val="bg1">
                <a:lumMod val="95000"/>
              </a:schemeClr>
            </a:solidFill>
            <a:ln w="38100" cap="flat" cmpd="sng" algn="ctr">
              <a:solidFill>
                <a:srgbClr val="0078D4"/>
              </a:solidFill>
              <a:prstDash val="solid"/>
              <a:headEnd type="none" w="med" len="med"/>
              <a:tailEnd type="none" w="med" len="med"/>
            </a:ln>
            <a:effectLst>
              <a:outerShdw blurRad="381000" dist="304800" dir="8100000" algn="tr" rotWithShape="0">
                <a:prstClr val="black">
                  <a:alpha val="20000"/>
                </a:prstClr>
              </a:outerShdw>
            </a:effectLst>
            <a:scene3d>
              <a:camera prst="isometricTopUp"/>
              <a:lightRig rig="threePt" dir="t"/>
            </a:scene3d>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100" kern="0">
                <a:solidFill>
                  <a:srgbClr val="000000"/>
                </a:solidFill>
                <a:latin typeface="Segoe UI"/>
                <a:ea typeface="Segoe UI" pitchFamily="34" charset="0"/>
                <a:cs typeface="Segoe UI" pitchFamily="34" charset="0"/>
              </a:endParaRPr>
            </a:p>
          </p:txBody>
        </p:sp>
        <p:sp>
          <p:nvSpPr>
            <p:cNvPr id="30" name="Rectangle: Rounded Corners 79">
              <a:extLst>
                <a:ext uri="{FF2B5EF4-FFF2-40B4-BE49-F238E27FC236}">
                  <a16:creationId xmlns:a16="http://schemas.microsoft.com/office/drawing/2014/main" id="{3FC2C026-2F0D-69E4-C27C-3F5C4889EB4D}"/>
                </a:ext>
                <a:ext uri="{C183D7F6-B498-43B3-948B-1728B52AA6E4}">
                  <adec:decorative xmlns:adec="http://schemas.microsoft.com/office/drawing/2017/decorative" val="1"/>
                </a:ext>
              </a:extLst>
            </p:cNvPr>
            <p:cNvSpPr/>
            <p:nvPr/>
          </p:nvSpPr>
          <p:spPr bwMode="auto">
            <a:xfrm>
              <a:off x="9166879" y="4286906"/>
              <a:ext cx="1736609" cy="1233995"/>
            </a:xfrm>
            <a:prstGeom prst="roundRect">
              <a:avLst/>
            </a:prstGeom>
            <a:solidFill>
              <a:srgbClr val="FFFFFF">
                <a:lumMod val="95000"/>
              </a:srgbClr>
            </a:solidFill>
            <a:ln w="9525" cap="flat" cmpd="sng" algn="ctr">
              <a:noFill/>
              <a:prstDash val="solid"/>
              <a:headEnd type="none" w="med" len="med"/>
              <a:tailEnd type="none" w="med" len="med"/>
            </a:ln>
            <a:effectLst>
              <a:outerShdw blurRad="381000" dist="304800" dir="8100000" algn="tr" rotWithShape="0">
                <a:prstClr val="black">
                  <a:alpha val="20000"/>
                </a:prstClr>
              </a:outerShdw>
            </a:effectLst>
            <a:scene3d>
              <a:camera prst="isometricTopUp"/>
              <a:lightRig rig="threePt" dir="t"/>
            </a:scene3d>
          </p:spPr>
          <p:txBody>
            <a:bodyPr rot="0" spcFirstLastPara="0" vertOverflow="overflow" horzOverflow="overflow" vert="horz" wrap="square" lIns="274320" tIns="219456" rIns="274320" bIns="219456" numCol="1" spcCol="0" rtlCol="0" fromWordArt="0" anchor="t" anchorCtr="0" forceAA="0" compatLnSpc="1">
              <a:prstTxWarp prst="textNoShape">
                <a:avLst/>
              </a:prstTxWarp>
              <a:noAutofit/>
            </a:bodyPr>
            <a:lstStyle/>
            <a:p>
              <a:pPr defTabSz="1398708" fontAlgn="base">
                <a:spcBef>
                  <a:spcPct val="0"/>
                </a:spcBef>
                <a:spcAft>
                  <a:spcPct val="0"/>
                </a:spcAft>
                <a:defRPr/>
              </a:pPr>
              <a:endParaRPr lang="en-US" sz="2100" kern="0">
                <a:solidFill>
                  <a:srgbClr val="000000"/>
                </a:solidFill>
                <a:latin typeface="Segoe UI"/>
                <a:ea typeface="Segoe UI" pitchFamily="34" charset="0"/>
                <a:cs typeface="Segoe UI" pitchFamily="34" charset="0"/>
              </a:endParaRPr>
            </a:p>
          </p:txBody>
        </p:sp>
        <p:pic>
          <p:nvPicPr>
            <p:cNvPr id="32" name="Graphic 31">
              <a:extLst>
                <a:ext uri="{FF2B5EF4-FFF2-40B4-BE49-F238E27FC236}">
                  <a16:creationId xmlns:a16="http://schemas.microsoft.com/office/drawing/2014/main" id="{BE662551-9BA9-6C6B-BD2B-03A1D7DEA56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7023" y="4472468"/>
              <a:ext cx="314585" cy="391313"/>
            </a:xfrm>
            <a:prstGeom prst="rect">
              <a:avLst/>
            </a:prstGeom>
          </p:spPr>
        </p:pic>
        <p:pic>
          <p:nvPicPr>
            <p:cNvPr id="33" name="Graphic 32">
              <a:extLst>
                <a:ext uri="{FF2B5EF4-FFF2-40B4-BE49-F238E27FC236}">
                  <a16:creationId xmlns:a16="http://schemas.microsoft.com/office/drawing/2014/main" id="{AC382768-FC48-09B5-E673-27BE64D5445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7023" y="4215427"/>
              <a:ext cx="314585" cy="391313"/>
            </a:xfrm>
            <a:prstGeom prst="rect">
              <a:avLst/>
            </a:prstGeom>
          </p:spPr>
        </p:pic>
        <p:pic>
          <p:nvPicPr>
            <p:cNvPr id="39" name="Graphic 38">
              <a:extLst>
                <a:ext uri="{FF2B5EF4-FFF2-40B4-BE49-F238E27FC236}">
                  <a16:creationId xmlns:a16="http://schemas.microsoft.com/office/drawing/2014/main" id="{EB98A9EF-AA8B-68C8-6440-1DA0A239409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71631" y="4584822"/>
              <a:ext cx="314585" cy="391313"/>
            </a:xfrm>
            <a:prstGeom prst="rect">
              <a:avLst/>
            </a:prstGeom>
          </p:spPr>
        </p:pic>
        <p:pic>
          <p:nvPicPr>
            <p:cNvPr id="40" name="Graphic 39">
              <a:extLst>
                <a:ext uri="{FF2B5EF4-FFF2-40B4-BE49-F238E27FC236}">
                  <a16:creationId xmlns:a16="http://schemas.microsoft.com/office/drawing/2014/main" id="{FD4BEF57-0EB7-3A6D-7735-EE6FFCAA9B7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71631" y="4327781"/>
              <a:ext cx="314585" cy="391313"/>
            </a:xfrm>
            <a:prstGeom prst="rect">
              <a:avLst/>
            </a:prstGeom>
          </p:spPr>
        </p:pic>
        <p:grpSp>
          <p:nvGrpSpPr>
            <p:cNvPr id="51" name="Group 50">
              <a:extLst>
                <a:ext uri="{FF2B5EF4-FFF2-40B4-BE49-F238E27FC236}">
                  <a16:creationId xmlns:a16="http://schemas.microsoft.com/office/drawing/2014/main" id="{F0CD3670-1248-CF4C-6342-115273826891}"/>
                </a:ext>
              </a:extLst>
            </p:cNvPr>
            <p:cNvGrpSpPr/>
            <p:nvPr/>
          </p:nvGrpSpPr>
          <p:grpSpPr>
            <a:xfrm>
              <a:off x="10067773" y="4214752"/>
              <a:ext cx="515269" cy="761294"/>
              <a:chOff x="10585572" y="1551592"/>
              <a:chExt cx="741515" cy="1095563"/>
            </a:xfrm>
          </p:grpSpPr>
          <p:pic>
            <p:nvPicPr>
              <p:cNvPr id="56" name="Graphic 55">
                <a:extLst>
                  <a:ext uri="{FF2B5EF4-FFF2-40B4-BE49-F238E27FC236}">
                    <a16:creationId xmlns:a16="http://schemas.microsoft.com/office/drawing/2014/main" id="{D9FF194E-8CFE-385B-18A5-92F87E16C94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71321" y="1920686"/>
                <a:ext cx="455766" cy="566928"/>
              </a:xfrm>
              <a:prstGeom prst="rect">
                <a:avLst/>
              </a:prstGeom>
            </p:spPr>
          </p:pic>
          <p:pic>
            <p:nvPicPr>
              <p:cNvPr id="57" name="Graphic 56">
                <a:extLst>
                  <a:ext uri="{FF2B5EF4-FFF2-40B4-BE49-F238E27FC236}">
                    <a16:creationId xmlns:a16="http://schemas.microsoft.com/office/drawing/2014/main" id="{FCAF01FE-3E3E-B3D0-9EB5-072B5D06F0F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71321" y="1551592"/>
                <a:ext cx="455766" cy="566928"/>
              </a:xfrm>
              <a:prstGeom prst="rect">
                <a:avLst/>
              </a:prstGeom>
            </p:spPr>
          </p:pic>
          <p:pic>
            <p:nvPicPr>
              <p:cNvPr id="58" name="Graphic 57">
                <a:extLst>
                  <a:ext uri="{FF2B5EF4-FFF2-40B4-BE49-F238E27FC236}">
                    <a16:creationId xmlns:a16="http://schemas.microsoft.com/office/drawing/2014/main" id="{85E38E2E-BF04-70A0-6DC8-91B37681CCF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585572" y="2080227"/>
                <a:ext cx="455766" cy="566928"/>
              </a:xfrm>
              <a:prstGeom prst="rect">
                <a:avLst/>
              </a:prstGeom>
            </p:spPr>
          </p:pic>
          <p:pic>
            <p:nvPicPr>
              <p:cNvPr id="59" name="Graphic 58">
                <a:extLst>
                  <a:ext uri="{FF2B5EF4-FFF2-40B4-BE49-F238E27FC236}">
                    <a16:creationId xmlns:a16="http://schemas.microsoft.com/office/drawing/2014/main" id="{5514ACBB-8839-56B6-6262-B9F100E5B80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585572" y="1711133"/>
                <a:ext cx="455766" cy="566928"/>
              </a:xfrm>
              <a:prstGeom prst="rect">
                <a:avLst/>
              </a:prstGeom>
            </p:spPr>
          </p:pic>
        </p:grpSp>
        <p:pic>
          <p:nvPicPr>
            <p:cNvPr id="52" name="Graphic 51">
              <a:extLst>
                <a:ext uri="{FF2B5EF4-FFF2-40B4-BE49-F238E27FC236}">
                  <a16:creationId xmlns:a16="http://schemas.microsoft.com/office/drawing/2014/main" id="{59EDA171-EDF6-2B7B-E433-F35E47DDC7B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536030" y="4280768"/>
              <a:ext cx="618499" cy="937724"/>
            </a:xfrm>
            <a:prstGeom prst="rect">
              <a:avLst/>
            </a:prstGeom>
            <a:effectLst>
              <a:outerShdw blurRad="177800" dist="38100" dir="5400000" algn="t" rotWithShape="0">
                <a:prstClr val="black">
                  <a:alpha val="20000"/>
                </a:prstClr>
              </a:outerShdw>
            </a:effectLst>
          </p:spPr>
        </p:pic>
      </p:grpSp>
      <p:sp>
        <p:nvSpPr>
          <p:cNvPr id="103" name="TextBox 102">
            <a:extLst>
              <a:ext uri="{FF2B5EF4-FFF2-40B4-BE49-F238E27FC236}">
                <a16:creationId xmlns:a16="http://schemas.microsoft.com/office/drawing/2014/main" id="{D10EA08D-CBB0-46AC-D720-96B24F70C636}"/>
              </a:ext>
              <a:ext uri="{C183D7F6-B498-43B3-948B-1728B52AA6E4}">
                <adec:decorative xmlns:adec="http://schemas.microsoft.com/office/drawing/2017/decorative" val="0"/>
              </a:ext>
            </a:extLst>
          </p:cNvPr>
          <p:cNvSpPr txBox="1"/>
          <p:nvPr/>
        </p:nvSpPr>
        <p:spPr>
          <a:xfrm>
            <a:off x="7488246" y="5812655"/>
            <a:ext cx="3401448" cy="1292662"/>
          </a:xfrm>
          <a:prstGeom prst="rect">
            <a:avLst/>
          </a:prstGeom>
          <a:noFill/>
        </p:spPr>
        <p:txBody>
          <a:bodyPr wrap="square" lIns="54000" tIns="0" rIns="54000" bIns="0" rtlCol="0">
            <a:spAutoFit/>
          </a:bodyPr>
          <a:lstStyle/>
          <a:p>
            <a:pPr algn="ctr" defTabSz="1371551">
              <a:defRPr/>
            </a:pPr>
            <a:r>
              <a:rPr lang="en-US" sz="2100" spc="-75">
                <a:ln w="3175">
                  <a:noFill/>
                </a:ln>
                <a:solidFill>
                  <a:srgbClr val="FFFFFF"/>
                </a:solidFill>
                <a:latin typeface="Segoe UI"/>
                <a:ea typeface="+mj-lt"/>
                <a:cs typeface="Segoe UI Semibold"/>
              </a:rPr>
              <a:t>Azure VMware Solution allows you to use VMware technology stack and team expertise in Azure.</a:t>
            </a:r>
          </a:p>
        </p:txBody>
      </p:sp>
      <p:grpSp>
        <p:nvGrpSpPr>
          <p:cNvPr id="6" name="Group 5" descr="Extend to hybrid and multi-cloud">
            <a:extLst>
              <a:ext uri="{FF2B5EF4-FFF2-40B4-BE49-F238E27FC236}">
                <a16:creationId xmlns:a16="http://schemas.microsoft.com/office/drawing/2014/main" id="{8B4233C4-6876-D7ED-3610-98604A422A56}"/>
              </a:ext>
            </a:extLst>
          </p:cNvPr>
          <p:cNvGrpSpPr/>
          <p:nvPr/>
        </p:nvGrpSpPr>
        <p:grpSpPr>
          <a:xfrm>
            <a:off x="11815225" y="3292764"/>
            <a:ext cx="4689441" cy="4135718"/>
            <a:chOff x="7876817" y="2195176"/>
            <a:chExt cx="3126294" cy="2757145"/>
          </a:xfrm>
        </p:grpSpPr>
        <p:sp>
          <p:nvSpPr>
            <p:cNvPr id="13" name="Freeform 12">
              <a:extLst>
                <a:ext uri="{FF2B5EF4-FFF2-40B4-BE49-F238E27FC236}">
                  <a16:creationId xmlns:a16="http://schemas.microsoft.com/office/drawing/2014/main" id="{5241B66B-1F0B-1738-D6F5-61AD51C327B1}"/>
                </a:ext>
                <a:ext uri="{C183D7F6-B498-43B3-948B-1728B52AA6E4}">
                  <adec:decorative xmlns:adec="http://schemas.microsoft.com/office/drawing/2017/decorative" val="1"/>
                </a:ext>
              </a:extLst>
            </p:cNvPr>
            <p:cNvSpPr/>
            <p:nvPr/>
          </p:nvSpPr>
          <p:spPr bwMode="auto">
            <a:xfrm>
              <a:off x="7876817" y="2454158"/>
              <a:ext cx="3126294" cy="2490353"/>
            </a:xfrm>
            <a:custGeom>
              <a:avLst/>
              <a:gdLst>
                <a:gd name="connsiteX0" fmla="*/ 156095 w 3126294"/>
                <a:gd name="connsiteY0" fmla="*/ 0 h 2490353"/>
                <a:gd name="connsiteX1" fmla="*/ 576765 w 3126294"/>
                <a:gd name="connsiteY1" fmla="*/ 0 h 2490353"/>
                <a:gd name="connsiteX2" fmla="*/ 576765 w 3126294"/>
                <a:gd name="connsiteY2" fmla="*/ 195192 h 2490353"/>
                <a:gd name="connsiteX3" fmla="*/ 2549530 w 3126294"/>
                <a:gd name="connsiteY3" fmla="*/ 195192 h 2490353"/>
                <a:gd name="connsiteX4" fmla="*/ 2549530 w 3126294"/>
                <a:gd name="connsiteY4" fmla="*/ 0 h 2490353"/>
                <a:gd name="connsiteX5" fmla="*/ 2970199 w 3126294"/>
                <a:gd name="connsiteY5" fmla="*/ 0 h 2490353"/>
                <a:gd name="connsiteX6" fmla="*/ 3126294 w 3126294"/>
                <a:gd name="connsiteY6" fmla="*/ 156095 h 2490353"/>
                <a:gd name="connsiteX7" fmla="*/ 3126294 w 3126294"/>
                <a:gd name="connsiteY7" fmla="*/ 2334258 h 2490353"/>
                <a:gd name="connsiteX8" fmla="*/ 2970199 w 3126294"/>
                <a:gd name="connsiteY8" fmla="*/ 2490353 h 2490353"/>
                <a:gd name="connsiteX9" fmla="*/ 156095 w 3126294"/>
                <a:gd name="connsiteY9" fmla="*/ 2490353 h 2490353"/>
                <a:gd name="connsiteX10" fmla="*/ 0 w 3126294"/>
                <a:gd name="connsiteY10" fmla="*/ 2334258 h 2490353"/>
                <a:gd name="connsiteX11" fmla="*/ 0 w 3126294"/>
                <a:gd name="connsiteY11" fmla="*/ 156095 h 2490353"/>
                <a:gd name="connsiteX12" fmla="*/ 156095 w 3126294"/>
                <a:gd name="connsiteY12" fmla="*/ 0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12" fmla="*/ 2640970 w 3126294"/>
                <a:gd name="connsiteY12" fmla="*/ 286632 h 2490353"/>
                <a:gd name="connsiteX0" fmla="*/ 2549530 w 3126294"/>
                <a:gd name="connsiteY0" fmla="*/ 195192 h 2490353"/>
                <a:gd name="connsiteX1" fmla="*/ 2549530 w 3126294"/>
                <a:gd name="connsiteY1" fmla="*/ 0 h 2490353"/>
                <a:gd name="connsiteX2" fmla="*/ 2970199 w 3126294"/>
                <a:gd name="connsiteY2" fmla="*/ 0 h 2490353"/>
                <a:gd name="connsiteX3" fmla="*/ 3126294 w 3126294"/>
                <a:gd name="connsiteY3" fmla="*/ 156095 h 2490353"/>
                <a:gd name="connsiteX4" fmla="*/ 3126294 w 3126294"/>
                <a:gd name="connsiteY4" fmla="*/ 2334258 h 2490353"/>
                <a:gd name="connsiteX5" fmla="*/ 2970199 w 3126294"/>
                <a:gd name="connsiteY5" fmla="*/ 2490353 h 2490353"/>
                <a:gd name="connsiteX6" fmla="*/ 156095 w 3126294"/>
                <a:gd name="connsiteY6" fmla="*/ 2490353 h 2490353"/>
                <a:gd name="connsiteX7" fmla="*/ 0 w 3126294"/>
                <a:gd name="connsiteY7" fmla="*/ 2334258 h 2490353"/>
                <a:gd name="connsiteX8" fmla="*/ 0 w 3126294"/>
                <a:gd name="connsiteY8" fmla="*/ 156095 h 2490353"/>
                <a:gd name="connsiteX9" fmla="*/ 156095 w 3126294"/>
                <a:gd name="connsiteY9" fmla="*/ 0 h 2490353"/>
                <a:gd name="connsiteX10" fmla="*/ 576765 w 3126294"/>
                <a:gd name="connsiteY10" fmla="*/ 0 h 2490353"/>
                <a:gd name="connsiteX11" fmla="*/ 576765 w 3126294"/>
                <a:gd name="connsiteY11"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 name="connsiteX10" fmla="*/ 576765 w 3126294"/>
                <a:gd name="connsiteY10" fmla="*/ 195192 h 2490353"/>
                <a:gd name="connsiteX0" fmla="*/ 2549530 w 3126294"/>
                <a:gd name="connsiteY0" fmla="*/ 0 h 2490353"/>
                <a:gd name="connsiteX1" fmla="*/ 2970199 w 3126294"/>
                <a:gd name="connsiteY1" fmla="*/ 0 h 2490353"/>
                <a:gd name="connsiteX2" fmla="*/ 3126294 w 3126294"/>
                <a:gd name="connsiteY2" fmla="*/ 156095 h 2490353"/>
                <a:gd name="connsiteX3" fmla="*/ 3126294 w 3126294"/>
                <a:gd name="connsiteY3" fmla="*/ 2334258 h 2490353"/>
                <a:gd name="connsiteX4" fmla="*/ 2970199 w 3126294"/>
                <a:gd name="connsiteY4" fmla="*/ 2490353 h 2490353"/>
                <a:gd name="connsiteX5" fmla="*/ 156095 w 3126294"/>
                <a:gd name="connsiteY5" fmla="*/ 2490353 h 2490353"/>
                <a:gd name="connsiteX6" fmla="*/ 0 w 3126294"/>
                <a:gd name="connsiteY6" fmla="*/ 2334258 h 2490353"/>
                <a:gd name="connsiteX7" fmla="*/ 0 w 3126294"/>
                <a:gd name="connsiteY7" fmla="*/ 156095 h 2490353"/>
                <a:gd name="connsiteX8" fmla="*/ 156095 w 3126294"/>
                <a:gd name="connsiteY8" fmla="*/ 0 h 2490353"/>
                <a:gd name="connsiteX9" fmla="*/ 576765 w 3126294"/>
                <a:gd name="connsiteY9" fmla="*/ 0 h 249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26294" h="2490353">
                  <a:moveTo>
                    <a:pt x="2549530" y="0"/>
                  </a:moveTo>
                  <a:lnTo>
                    <a:pt x="2970199" y="0"/>
                  </a:lnTo>
                  <a:cubicBezTo>
                    <a:pt x="3056408" y="0"/>
                    <a:pt x="3126294" y="69886"/>
                    <a:pt x="3126294" y="156095"/>
                  </a:cubicBezTo>
                  <a:lnTo>
                    <a:pt x="3126294" y="2334258"/>
                  </a:lnTo>
                  <a:cubicBezTo>
                    <a:pt x="3126294" y="2420467"/>
                    <a:pt x="3056408" y="2490353"/>
                    <a:pt x="2970199" y="2490353"/>
                  </a:cubicBezTo>
                  <a:lnTo>
                    <a:pt x="156095" y="2490353"/>
                  </a:lnTo>
                  <a:cubicBezTo>
                    <a:pt x="69886" y="2490353"/>
                    <a:pt x="0" y="2420467"/>
                    <a:pt x="0" y="2334258"/>
                  </a:cubicBezTo>
                  <a:lnTo>
                    <a:pt x="0" y="156095"/>
                  </a:lnTo>
                  <a:cubicBezTo>
                    <a:pt x="0" y="69886"/>
                    <a:pt x="69886" y="0"/>
                    <a:pt x="156095" y="0"/>
                  </a:cubicBezTo>
                  <a:lnTo>
                    <a:pt x="576765" y="0"/>
                  </a:lnTo>
                </a:path>
              </a:pathLst>
            </a:custGeom>
            <a:solidFill>
              <a:srgbClr val="091F2C"/>
            </a:solidFill>
            <a:ln w="15875">
              <a:gradFill>
                <a:gsLst>
                  <a:gs pos="53000">
                    <a:srgbClr val="8DC8E8"/>
                  </a:gs>
                  <a:gs pos="100000">
                    <a:srgbClr val="D59ED7"/>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371551">
                <a:spcBef>
                  <a:spcPct val="20000"/>
                </a:spcBef>
                <a:buSzPct val="90000"/>
                <a:defRPr/>
              </a:pPr>
              <a:endParaRPr lang="en-US" b="1">
                <a:noFill/>
                <a:latin typeface="Segoe UI"/>
              </a:endParaRPr>
            </a:p>
          </p:txBody>
        </p:sp>
        <p:sp>
          <p:nvSpPr>
            <p:cNvPr id="98" name="TextBox 97">
              <a:extLst>
                <a:ext uri="{FF2B5EF4-FFF2-40B4-BE49-F238E27FC236}">
                  <a16:creationId xmlns:a16="http://schemas.microsoft.com/office/drawing/2014/main" id="{8C2F6317-CEDD-C8F1-BE59-F461E33FF2CA}"/>
                </a:ext>
                <a:ext uri="{C183D7F6-B498-43B3-948B-1728B52AA6E4}">
                  <adec:decorative xmlns:adec="http://schemas.microsoft.com/office/drawing/2017/decorative" val="1"/>
                </a:ext>
              </a:extLst>
            </p:cNvPr>
            <p:cNvSpPr txBox="1"/>
            <p:nvPr/>
          </p:nvSpPr>
          <p:spPr>
            <a:xfrm>
              <a:off x="8182126" y="3105848"/>
              <a:ext cx="2515679" cy="615553"/>
            </a:xfrm>
            <a:prstGeom prst="rect">
              <a:avLst/>
            </a:prstGeom>
            <a:noFill/>
          </p:spPr>
          <p:txBody>
            <a:bodyPr wrap="none" lIns="54000" tIns="0" rIns="54000" bIns="0" rtlCol="0">
              <a:spAutoFit/>
            </a:bodyPr>
            <a:lstStyle/>
            <a:p>
              <a:pPr algn="ctr" defTabSz="1371551">
                <a:defRPr/>
              </a:pPr>
              <a:r>
                <a:rPr lang="en-US" sz="3000" spc="-75">
                  <a:ln w="3175">
                    <a:noFill/>
                  </a:ln>
                  <a:solidFill>
                    <a:srgbClr val="D59ED7"/>
                  </a:solidFill>
                  <a:latin typeface="Segoe UI Semibold"/>
                  <a:ea typeface="+mj-lt"/>
                  <a:cs typeface="Segoe UI Semibold"/>
                </a:rPr>
                <a:t>Extend to hybrid </a:t>
              </a:r>
              <a:br>
                <a:rPr lang="en-US" sz="3000" spc="-75">
                  <a:ln w="3175">
                    <a:noFill/>
                  </a:ln>
                  <a:solidFill>
                    <a:srgbClr val="D59ED7"/>
                  </a:solidFill>
                  <a:latin typeface="Segoe UI Semibold"/>
                  <a:ea typeface="+mj-lt"/>
                  <a:cs typeface="Segoe UI Semibold"/>
                </a:rPr>
              </a:br>
              <a:r>
                <a:rPr lang="en-US" sz="3000" spc="-75">
                  <a:ln w="3175">
                    <a:noFill/>
                  </a:ln>
                  <a:solidFill>
                    <a:srgbClr val="D59ED7"/>
                  </a:solidFill>
                  <a:latin typeface="Segoe UI Semibold"/>
                  <a:ea typeface="+mj-lt"/>
                  <a:cs typeface="Segoe UI Semibold"/>
                </a:rPr>
                <a:t>multi-cloud, and edge</a:t>
              </a:r>
            </a:p>
          </p:txBody>
        </p:sp>
        <p:pic>
          <p:nvPicPr>
            <p:cNvPr id="72" name="Picture 71">
              <a:extLst>
                <a:ext uri="{FF2B5EF4-FFF2-40B4-BE49-F238E27FC236}">
                  <a16:creationId xmlns:a16="http://schemas.microsoft.com/office/drawing/2014/main" id="{A37936EB-A206-21A9-D410-76E0F55604FA}"/>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8617910" y="2195176"/>
              <a:ext cx="1644108" cy="753808"/>
            </a:xfrm>
            <a:prstGeom prst="rect">
              <a:avLst/>
            </a:prstGeom>
          </p:spPr>
        </p:pic>
        <p:sp>
          <p:nvSpPr>
            <p:cNvPr id="104" name="TextBox 103">
              <a:extLst>
                <a:ext uri="{FF2B5EF4-FFF2-40B4-BE49-F238E27FC236}">
                  <a16:creationId xmlns:a16="http://schemas.microsoft.com/office/drawing/2014/main" id="{771DD8C8-53B6-BA37-D889-CFC5603181C0}"/>
                </a:ext>
              </a:extLst>
            </p:cNvPr>
            <p:cNvSpPr txBox="1"/>
            <p:nvPr/>
          </p:nvSpPr>
          <p:spPr>
            <a:xfrm>
              <a:off x="8129876" y="3875103"/>
              <a:ext cx="2680135" cy="1077218"/>
            </a:xfrm>
            <a:prstGeom prst="rect">
              <a:avLst/>
            </a:prstGeom>
            <a:noFill/>
          </p:spPr>
          <p:txBody>
            <a:bodyPr wrap="square" lIns="54000" tIns="0" rIns="54000" bIns="0" rtlCol="0">
              <a:spAutoFit/>
            </a:bodyPr>
            <a:lstStyle/>
            <a:p>
              <a:pPr algn="ctr" defTabSz="1371551">
                <a:defRPr/>
              </a:pPr>
              <a:r>
                <a:rPr lang="en-US" sz="2100" spc="-75">
                  <a:ln w="3175">
                    <a:noFill/>
                  </a:ln>
                  <a:solidFill>
                    <a:srgbClr val="FFFFFF"/>
                  </a:solidFill>
                  <a:latin typeface="Segoe UI"/>
                  <a:ea typeface="+mj-lt"/>
                  <a:cs typeface="Segoe UI Semibold"/>
                </a:rPr>
                <a:t>Unify siloed teams, distributed sites, and sprawling systems into a single operations, security, application, and data model with Azure Arc</a:t>
              </a:r>
            </a:p>
            <a:p>
              <a:pPr algn="ctr" defTabSz="1371551">
                <a:defRPr/>
              </a:pPr>
              <a:endParaRPr lang="en-US" sz="2100" spc="-75">
                <a:ln w="3175">
                  <a:noFill/>
                </a:ln>
                <a:solidFill>
                  <a:srgbClr val="FFFFFF"/>
                </a:solidFill>
                <a:latin typeface="Segoe UI"/>
                <a:ea typeface="+mj-lt"/>
                <a:cs typeface="Segoe UI Semibold"/>
              </a:endParaRPr>
            </a:p>
          </p:txBody>
        </p:sp>
      </p:grpSp>
    </p:spTree>
    <p:extLst>
      <p:ext uri="{BB962C8B-B14F-4D97-AF65-F5344CB8AC3E}">
        <p14:creationId xmlns:p14="http://schemas.microsoft.com/office/powerpoint/2010/main" val="1949972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3.33333E-6 2.22222E-6 L 3.33333E-6 0.03541 " pathEditMode="relative" rAng="0" ptsTypes="AA">
                                      <p:cBhvr>
                                        <p:cTn id="9" dur="700" spd="-100000" fill="hold"/>
                                        <p:tgtEl>
                                          <p:spTgt spid="2"/>
                                        </p:tgtEl>
                                        <p:attrNameLst>
                                          <p:attrName>ppt_x</p:attrName>
                                          <p:attrName>ppt_y</p:attrName>
                                        </p:attrNameLst>
                                      </p:cBhvr>
                                      <p:rCtr x="0" y="1759"/>
                                    </p:animMotion>
                                  </p:childTnLst>
                                </p:cTn>
                              </p:par>
                              <p:par>
                                <p:cTn id="10" presetID="10" presetClass="entr" presetSubtype="0" fill="hold" nodeType="withEffect">
                                  <p:stCondLst>
                                    <p:cond delay="1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42" presetClass="path" presetSubtype="0" decel="100000" fill="hold" nodeType="withEffect">
                                  <p:stCondLst>
                                    <p:cond delay="100"/>
                                  </p:stCondLst>
                                  <p:childTnLst>
                                    <p:animMotion origin="layout" path="M 3.33333E-6 2.22222E-6 L 3.33333E-6 0.03541 " pathEditMode="relative" rAng="0" ptsTypes="AA">
                                      <p:cBhvr>
                                        <p:cTn id="14" dur="700" spd="-100000" fill="hold"/>
                                        <p:tgtEl>
                                          <p:spTgt spid="4"/>
                                        </p:tgtEl>
                                        <p:attrNameLst>
                                          <p:attrName>ppt_x</p:attrName>
                                          <p:attrName>ppt_y</p:attrName>
                                        </p:attrNameLst>
                                      </p:cBhvr>
                                      <p:rCtr x="0" y="1759"/>
                                    </p:animMotion>
                                  </p:childTnLst>
                                </p:cTn>
                              </p:par>
                              <p:par>
                                <p:cTn id="15" presetID="10" presetClass="entr" presetSubtype="0" fill="hold" nodeType="withEffect">
                                  <p:stCondLst>
                                    <p:cond delay="3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path" presetSubtype="0" decel="100000" fill="hold" nodeType="withEffect">
                                  <p:stCondLst>
                                    <p:cond delay="300"/>
                                  </p:stCondLst>
                                  <p:childTnLst>
                                    <p:animMotion origin="layout" path="M 3.33333E-6 2.22222E-6 L 3.33333E-6 0.03541 " pathEditMode="relative" rAng="0" ptsTypes="AA">
                                      <p:cBhvr>
                                        <p:cTn id="19" dur="700" spd="-100000" fill="hold"/>
                                        <p:tgtEl>
                                          <p:spTgt spid="6"/>
                                        </p:tgtEl>
                                        <p:attrNameLst>
                                          <p:attrName>ppt_x</p:attrName>
                                          <p:attrName>ppt_y</p:attrName>
                                        </p:attrNameLst>
                                      </p:cBhvr>
                                      <p:rCtr x="0" y="1759"/>
                                    </p:animMotion>
                                  </p:childTnLst>
                                </p:cTn>
                              </p:par>
                              <p:par>
                                <p:cTn id="20" presetID="10" presetClass="entr" presetSubtype="0" fill="hold" grpId="0" nodeType="withEffect">
                                  <p:stCondLst>
                                    <p:cond delay="4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42" presetClass="path" presetSubtype="0" decel="100000" fill="hold" grpId="1" nodeType="withEffect">
                                  <p:stCondLst>
                                    <p:cond delay="400"/>
                                  </p:stCondLst>
                                  <p:childTnLst>
                                    <p:animMotion origin="layout" path="M 3.33333E-6 2.22222E-6 L 3.33333E-6 0.03541 " pathEditMode="relative" rAng="0" ptsTypes="AA">
                                      <p:cBhvr>
                                        <p:cTn id="24" dur="700" spd="-100000" fill="hold"/>
                                        <p:tgtEl>
                                          <p:spTgt spid="18"/>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8" grpId="0" animBg="1"/>
      <p:bldP spid="18"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B6A92-4695-F01E-2926-C2FF717DCCD6}"/>
            </a:ext>
          </a:extLst>
        </p:cNvPr>
        <p:cNvGrpSpPr/>
        <p:nvPr/>
      </p:nvGrpSpPr>
      <p:grpSpPr>
        <a:xfrm>
          <a:off x="0" y="0"/>
          <a:ext cx="0" cy="0"/>
          <a:chOff x="0" y="0"/>
          <a:chExt cx="0" cy="0"/>
        </a:xfrm>
      </p:grpSpPr>
      <p:pic>
        <p:nvPicPr>
          <p:cNvPr id="36" name="Picture 3">
            <a:extLst>
              <a:ext uri="{FF2B5EF4-FFF2-40B4-BE49-F238E27FC236}">
                <a16:creationId xmlns:a16="http://schemas.microsoft.com/office/drawing/2014/main" id="{A9E80A78-4332-1924-2211-0F35A8952B06}"/>
              </a:ext>
            </a:extLst>
          </p:cNvPr>
          <p:cNvPicPr>
            <a:picLocks noChangeAspect="1"/>
          </p:cNvPicPr>
          <p:nvPr/>
        </p:nvPicPr>
        <p:blipFill>
          <a:blip r:embed="rId2"/>
          <a:srcRect/>
          <a:stretch>
            <a:fillRect/>
          </a:stretch>
        </p:blipFill>
        <p:spPr>
          <a:xfrm>
            <a:off x="287016" y="318964"/>
            <a:ext cx="2634245" cy="694782"/>
          </a:xfrm>
          <a:prstGeom prst="rect">
            <a:avLst/>
          </a:prstGeom>
        </p:spPr>
      </p:pic>
      <p:grpSp>
        <p:nvGrpSpPr>
          <p:cNvPr id="49" name="Group 48">
            <a:extLst>
              <a:ext uri="{FF2B5EF4-FFF2-40B4-BE49-F238E27FC236}">
                <a16:creationId xmlns:a16="http://schemas.microsoft.com/office/drawing/2014/main" id="{5C7377D4-DC50-F509-E86D-D283B26BEE50}"/>
              </a:ext>
            </a:extLst>
          </p:cNvPr>
          <p:cNvGrpSpPr/>
          <p:nvPr/>
        </p:nvGrpSpPr>
        <p:grpSpPr>
          <a:xfrm>
            <a:off x="16802683" y="-1558312"/>
            <a:ext cx="1414436" cy="3842240"/>
            <a:chOff x="16533032" y="-1075004"/>
            <a:chExt cx="1414436" cy="3842240"/>
          </a:xfrm>
        </p:grpSpPr>
        <p:grpSp>
          <p:nvGrpSpPr>
            <p:cNvPr id="37" name="Group 26">
              <a:extLst>
                <a:ext uri="{FF2B5EF4-FFF2-40B4-BE49-F238E27FC236}">
                  <a16:creationId xmlns:a16="http://schemas.microsoft.com/office/drawing/2014/main" id="{D3A80DE5-5C51-DE93-67FC-4CE18A99C894}"/>
                </a:ext>
              </a:extLst>
            </p:cNvPr>
            <p:cNvGrpSpPr/>
            <p:nvPr/>
          </p:nvGrpSpPr>
          <p:grpSpPr>
            <a:xfrm rot="-5400000">
              <a:off x="15319130" y="138898"/>
              <a:ext cx="3842240" cy="1414436"/>
              <a:chOff x="0" y="0"/>
              <a:chExt cx="1103964" cy="406400"/>
            </a:xfrm>
          </p:grpSpPr>
          <p:sp>
            <p:nvSpPr>
              <p:cNvPr id="38" name="Freeform 27">
                <a:extLst>
                  <a:ext uri="{FF2B5EF4-FFF2-40B4-BE49-F238E27FC236}">
                    <a16:creationId xmlns:a16="http://schemas.microsoft.com/office/drawing/2014/main" id="{53F7E85D-382F-944D-578D-541349D30B57}"/>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9" name="Picture 28">
              <a:extLst>
                <a:ext uri="{FF2B5EF4-FFF2-40B4-BE49-F238E27FC236}">
                  <a16:creationId xmlns:a16="http://schemas.microsoft.com/office/drawing/2014/main" id="{7A1D4261-D370-C6C0-3E5C-ABBD5246FD46}"/>
                </a:ext>
              </a:extLst>
            </p:cNvPr>
            <p:cNvPicPr>
              <a:picLocks noChangeAspect="1"/>
            </p:cNvPicPr>
            <p:nvPr/>
          </p:nvPicPr>
          <p:blipFill>
            <a:blip r:embed="rId3"/>
            <a:srcRect r="83814"/>
            <a:stretch>
              <a:fillRect/>
            </a:stretch>
          </p:blipFill>
          <p:spPr>
            <a:xfrm>
              <a:off x="16900996" y="1166576"/>
              <a:ext cx="716608" cy="1145609"/>
            </a:xfrm>
            <a:prstGeom prst="rect">
              <a:avLst/>
            </a:prstGeom>
          </p:spPr>
        </p:pic>
      </p:grpSp>
      <p:sp>
        <p:nvSpPr>
          <p:cNvPr id="2" name="TextBox 1">
            <a:extLst>
              <a:ext uri="{FF2B5EF4-FFF2-40B4-BE49-F238E27FC236}">
                <a16:creationId xmlns:a16="http://schemas.microsoft.com/office/drawing/2014/main" id="{C4B3198F-2E4F-87FB-3723-E102117B03F5}"/>
              </a:ext>
            </a:extLst>
          </p:cNvPr>
          <p:cNvSpPr txBox="1"/>
          <p:nvPr/>
        </p:nvSpPr>
        <p:spPr>
          <a:xfrm>
            <a:off x="2590138" y="849378"/>
            <a:ext cx="13107655"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prstClr val="black"/>
              </a:buClr>
              <a:buSzPts val="1100"/>
              <a:buFontTx/>
              <a:buNone/>
              <a:tabLst/>
              <a:defRPr/>
            </a:pPr>
            <a:r>
              <a:rPr kumimoji="0" lang="en-US" sz="4400" b="1" i="1" u="none" strike="noStrike" kern="1200" cap="none" spc="0" normalizeH="0" baseline="0" noProof="0" dirty="0">
                <a:ln>
                  <a:noFill/>
                </a:ln>
                <a:solidFill>
                  <a:srgbClr val="002060"/>
                </a:solidFill>
                <a:effectLst/>
                <a:uLnTx/>
                <a:uFillTx/>
                <a:latin typeface="Segoe UI Semibold" panose="020B0702040204020203" pitchFamily="34" charset="0"/>
                <a:ea typeface="Roboto Condensed"/>
                <a:cs typeface="Segoe UI Semibold" panose="020B0702040204020203" pitchFamily="34" charset="0"/>
                <a:sym typeface="Roboto Condensed"/>
              </a:rPr>
              <a:t>Azure Accelerate</a:t>
            </a:r>
            <a:r>
              <a:rPr kumimoji="0" lang="en-US" sz="4400" b="1" i="1" u="none" strike="noStrike" kern="1200" cap="none" spc="0" normalizeH="0" baseline="0" noProof="0" dirty="0">
                <a:ln>
                  <a:noFill/>
                </a:ln>
                <a:solidFill>
                  <a:srgbClr val="00953A"/>
                </a:solidFill>
                <a:effectLst/>
                <a:uLnTx/>
                <a:uFillTx/>
                <a:latin typeface="Segoe UI Semibold" panose="020B0702040204020203" pitchFamily="34" charset="0"/>
                <a:ea typeface="Roboto Condensed"/>
                <a:cs typeface="Segoe UI Semibold" panose="020B0702040204020203" pitchFamily="34" charset="0"/>
                <a:sym typeface="Roboto Condensed"/>
              </a:rPr>
              <a:t> – Program Benefits</a:t>
            </a:r>
            <a:endParaRPr kumimoji="0" lang="en-US" sz="4400" b="1" i="1" u="none" strike="noStrike" kern="1200" cap="none" spc="0" normalizeH="0" baseline="0" noProof="0" dirty="0">
              <a:ln>
                <a:noFill/>
              </a:ln>
              <a:solidFill>
                <a:srgbClr val="002060"/>
              </a:solidFill>
              <a:effectLst/>
              <a:uLnTx/>
              <a:uFillTx/>
              <a:latin typeface="Segoe UI Semibold" panose="020B0702040204020203" pitchFamily="34" charset="0"/>
              <a:ea typeface="Roboto Condensed"/>
              <a:cs typeface="Segoe UI Semibold" panose="020B0702040204020203" pitchFamily="34" charset="0"/>
              <a:sym typeface="Roboto Condensed"/>
            </a:endParaRPr>
          </a:p>
        </p:txBody>
      </p:sp>
      <p:sp>
        <p:nvSpPr>
          <p:cNvPr id="19" name="Rectangle: Rounded Corners 1">
            <a:extLst>
              <a:ext uri="{FF2B5EF4-FFF2-40B4-BE49-F238E27FC236}">
                <a16:creationId xmlns:a16="http://schemas.microsoft.com/office/drawing/2014/main" id="{F1714897-9D4B-7D51-16F1-45EE080D147D}"/>
              </a:ext>
              <a:ext uri="{C183D7F6-B498-43B3-948B-1728B52AA6E4}">
                <adec:decorative xmlns:adec="http://schemas.microsoft.com/office/drawing/2017/decorative" val="1"/>
              </a:ext>
            </a:extLst>
          </p:cNvPr>
          <p:cNvSpPr/>
          <p:nvPr/>
        </p:nvSpPr>
        <p:spPr>
          <a:xfrm>
            <a:off x="7223760" y="3352800"/>
            <a:ext cx="4632959" cy="5913121"/>
          </a:xfrm>
          <a:prstGeom prst="roundRect">
            <a:avLst>
              <a:gd name="adj" fmla="val 4121"/>
            </a:avLst>
          </a:prstGeom>
          <a:solidFill>
            <a:schemeClr val="bg1"/>
          </a:solidFill>
          <a:ln w="12700" cap="flat" cmpd="sng" algn="ctr">
            <a:solidFill>
              <a:srgbClr val="FFE399"/>
            </a:solidFill>
            <a:prstDash val="solid"/>
            <a:headEnd type="none" w="med" len="med"/>
            <a:tailEnd type="none" w="med" len="med"/>
          </a:ln>
          <a:effectLst>
            <a:outerShdw blurRad="50800" dist="38100" dir="8100000" algn="tr" rotWithShape="0">
              <a:prstClr val="black">
                <a:alpha val="40000"/>
              </a:prstClr>
            </a:outerShdw>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0E6FF"/>
              </a:solidFill>
              <a:effectLst/>
              <a:uLnTx/>
              <a:uFillTx/>
              <a:latin typeface="Segoe UI Semibold"/>
            </a:endParaRPr>
          </a:p>
        </p:txBody>
      </p:sp>
      <p:sp>
        <p:nvSpPr>
          <p:cNvPr id="3" name="Rectangle: Rounded Corners 2">
            <a:extLst>
              <a:ext uri="{FF2B5EF4-FFF2-40B4-BE49-F238E27FC236}">
                <a16:creationId xmlns:a16="http://schemas.microsoft.com/office/drawing/2014/main" id="{8842D80E-C14B-9C31-C77D-18C6D7296135}"/>
              </a:ext>
            </a:extLst>
          </p:cNvPr>
          <p:cNvSpPr/>
          <p:nvPr/>
        </p:nvSpPr>
        <p:spPr>
          <a:xfrm>
            <a:off x="7513320" y="3749040"/>
            <a:ext cx="4022574" cy="590981"/>
          </a:xfrm>
          <a:prstGeom prst="roundRect">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953A"/>
                </a:solidFill>
                <a:latin typeface="Segoe UI" panose="020B0502040204020203" pitchFamily="34" charset="0"/>
                <a:cs typeface="Segoe UI" panose="020B0502040204020203" pitchFamily="34" charset="0"/>
              </a:rPr>
              <a:t>Free Assessment</a:t>
            </a:r>
          </a:p>
        </p:txBody>
      </p:sp>
      <p:sp>
        <p:nvSpPr>
          <p:cNvPr id="4" name="Rectangle: Rounded Corners 3">
            <a:extLst>
              <a:ext uri="{FF2B5EF4-FFF2-40B4-BE49-F238E27FC236}">
                <a16:creationId xmlns:a16="http://schemas.microsoft.com/office/drawing/2014/main" id="{ADF4ABCB-D099-95BA-393A-53F1BC836B11}"/>
              </a:ext>
            </a:extLst>
          </p:cNvPr>
          <p:cNvSpPr/>
          <p:nvPr/>
        </p:nvSpPr>
        <p:spPr>
          <a:xfrm>
            <a:off x="7513320" y="4469561"/>
            <a:ext cx="4022574" cy="544399"/>
          </a:xfrm>
          <a:prstGeom prst="roundRect">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953A"/>
                </a:solidFill>
                <a:latin typeface="Segoe UI"/>
              </a:rPr>
              <a:t>Azure Costing (BOQ)</a:t>
            </a:r>
            <a:endParaRPr lang="en-US" sz="2400" dirty="0">
              <a:solidFill>
                <a:srgbClr val="00953A"/>
              </a:solidFill>
              <a:latin typeface="Segoe UI" panose="020B0502040204020203" pitchFamily="34" charset="0"/>
              <a:cs typeface="Segoe UI" panose="020B0502040204020203" pitchFamily="34" charset="0"/>
            </a:endParaRPr>
          </a:p>
        </p:txBody>
      </p:sp>
      <p:sp>
        <p:nvSpPr>
          <p:cNvPr id="5" name="Rectangle: Rounded Corners 4">
            <a:extLst>
              <a:ext uri="{FF2B5EF4-FFF2-40B4-BE49-F238E27FC236}">
                <a16:creationId xmlns:a16="http://schemas.microsoft.com/office/drawing/2014/main" id="{8C24B195-302D-DD7A-97FB-305D577DA0C2}"/>
              </a:ext>
            </a:extLst>
          </p:cNvPr>
          <p:cNvSpPr/>
          <p:nvPr/>
        </p:nvSpPr>
        <p:spPr>
          <a:xfrm>
            <a:off x="7513320" y="5143500"/>
            <a:ext cx="4022574" cy="563880"/>
          </a:xfrm>
          <a:prstGeom prst="roundRect">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953A"/>
                </a:solidFill>
                <a:latin typeface="Segoe UI"/>
              </a:rPr>
              <a:t>Scope of Work</a:t>
            </a:r>
            <a:endParaRPr lang="en-US" sz="2400" dirty="0">
              <a:solidFill>
                <a:srgbClr val="00953A"/>
              </a:solidFill>
              <a:latin typeface="Segoe UI" panose="020B0502040204020203" pitchFamily="34" charset="0"/>
              <a:cs typeface="Segoe UI" panose="020B0502040204020203" pitchFamily="34" charset="0"/>
            </a:endParaRPr>
          </a:p>
        </p:txBody>
      </p:sp>
      <p:sp>
        <p:nvSpPr>
          <p:cNvPr id="6" name="Rectangle: Rounded Corners 5">
            <a:extLst>
              <a:ext uri="{FF2B5EF4-FFF2-40B4-BE49-F238E27FC236}">
                <a16:creationId xmlns:a16="http://schemas.microsoft.com/office/drawing/2014/main" id="{6C00A757-0493-FE7F-A69B-444C624A4785}"/>
              </a:ext>
            </a:extLst>
          </p:cNvPr>
          <p:cNvSpPr/>
          <p:nvPr/>
        </p:nvSpPr>
        <p:spPr>
          <a:xfrm>
            <a:off x="7528560" y="5836920"/>
            <a:ext cx="4022574" cy="590981"/>
          </a:xfrm>
          <a:prstGeom prst="roundRect">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953A"/>
                </a:solidFill>
                <a:latin typeface="Segoe UI" panose="020B0502040204020203" pitchFamily="34" charset="0"/>
                <a:cs typeface="Segoe UI" panose="020B0502040204020203" pitchFamily="34" charset="0"/>
              </a:rPr>
              <a:t>Architecture &amp; Proposal</a:t>
            </a:r>
          </a:p>
        </p:txBody>
      </p:sp>
      <p:sp>
        <p:nvSpPr>
          <p:cNvPr id="7" name="Rectangle: Rounded Corners 6">
            <a:extLst>
              <a:ext uri="{FF2B5EF4-FFF2-40B4-BE49-F238E27FC236}">
                <a16:creationId xmlns:a16="http://schemas.microsoft.com/office/drawing/2014/main" id="{4E8332F1-9295-DCFA-A025-BE727A640861}"/>
              </a:ext>
            </a:extLst>
          </p:cNvPr>
          <p:cNvSpPr/>
          <p:nvPr/>
        </p:nvSpPr>
        <p:spPr>
          <a:xfrm>
            <a:off x="7528560" y="6557441"/>
            <a:ext cx="4022574" cy="590980"/>
          </a:xfrm>
          <a:prstGeom prst="roundRect">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953A"/>
                </a:solidFill>
                <a:latin typeface="Segoe UI"/>
              </a:rPr>
              <a:t>Security Best Practices</a:t>
            </a:r>
            <a:endParaRPr lang="en-US" sz="2400" dirty="0">
              <a:solidFill>
                <a:srgbClr val="00953A"/>
              </a:solidFill>
              <a:latin typeface="Segoe UI" panose="020B0502040204020203" pitchFamily="34" charset="0"/>
              <a:cs typeface="Segoe UI" panose="020B0502040204020203" pitchFamily="34" charset="0"/>
            </a:endParaRPr>
          </a:p>
        </p:txBody>
      </p:sp>
      <p:sp>
        <p:nvSpPr>
          <p:cNvPr id="8" name="Rectangle: Rounded Corners 7">
            <a:extLst>
              <a:ext uri="{FF2B5EF4-FFF2-40B4-BE49-F238E27FC236}">
                <a16:creationId xmlns:a16="http://schemas.microsoft.com/office/drawing/2014/main" id="{8E327889-8B1C-B900-CD94-4BE49DD28390}"/>
              </a:ext>
            </a:extLst>
          </p:cNvPr>
          <p:cNvSpPr/>
          <p:nvPr/>
        </p:nvSpPr>
        <p:spPr>
          <a:xfrm>
            <a:off x="7528560" y="7231380"/>
            <a:ext cx="4022574" cy="590980"/>
          </a:xfrm>
          <a:prstGeom prst="roundRect">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953A"/>
                </a:solidFill>
                <a:latin typeface="Segoe UI"/>
              </a:rPr>
              <a:t>Roadmap &amp; Action Plan</a:t>
            </a:r>
            <a:endParaRPr lang="en-US" sz="2400" dirty="0">
              <a:solidFill>
                <a:srgbClr val="00953A"/>
              </a:solidFill>
              <a:latin typeface="Segoe UI" panose="020B0502040204020203" pitchFamily="34" charset="0"/>
              <a:cs typeface="Segoe UI" panose="020B0502040204020203" pitchFamily="34" charset="0"/>
            </a:endParaRPr>
          </a:p>
        </p:txBody>
      </p:sp>
      <p:sp>
        <p:nvSpPr>
          <p:cNvPr id="9" name="Rectangle: Rounded Corners 8">
            <a:extLst>
              <a:ext uri="{FF2B5EF4-FFF2-40B4-BE49-F238E27FC236}">
                <a16:creationId xmlns:a16="http://schemas.microsoft.com/office/drawing/2014/main" id="{F5B27242-13E0-645B-5B5D-DE8D853CB70F}"/>
              </a:ext>
            </a:extLst>
          </p:cNvPr>
          <p:cNvSpPr/>
          <p:nvPr/>
        </p:nvSpPr>
        <p:spPr>
          <a:xfrm>
            <a:off x="7360920" y="7980670"/>
            <a:ext cx="4358640" cy="812810"/>
          </a:xfrm>
          <a:prstGeom prst="round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Segoe UI"/>
              </a:rPr>
              <a:t>Free Migration</a:t>
            </a:r>
            <a:endParaRPr lang="en-US" sz="2800" dirty="0">
              <a:solidFill>
                <a:schemeClr val="bg1"/>
              </a:solidFill>
              <a:latin typeface="Segoe UI" panose="020B0502040204020203" pitchFamily="34" charset="0"/>
              <a:cs typeface="Segoe UI" panose="020B0502040204020203" pitchFamily="34" charset="0"/>
            </a:endParaRPr>
          </a:p>
        </p:txBody>
      </p:sp>
      <p:sp>
        <p:nvSpPr>
          <p:cNvPr id="10" name="Rectangle: Rounded Corners 9">
            <a:extLst>
              <a:ext uri="{FF2B5EF4-FFF2-40B4-BE49-F238E27FC236}">
                <a16:creationId xmlns:a16="http://schemas.microsoft.com/office/drawing/2014/main" id="{C8DDFF89-E888-C75F-D079-B70B9622F9C1}"/>
              </a:ext>
            </a:extLst>
          </p:cNvPr>
          <p:cNvSpPr/>
          <p:nvPr/>
        </p:nvSpPr>
        <p:spPr>
          <a:xfrm>
            <a:off x="7223760" y="2414691"/>
            <a:ext cx="4632959" cy="812810"/>
          </a:xfrm>
          <a:prstGeom prst="roundRect">
            <a:avLst/>
          </a:prstGeom>
          <a:solidFill>
            <a:schemeClr val="bg1"/>
          </a:solidFill>
          <a:ln>
            <a:solidFill>
              <a:srgbClr val="009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Segoe UI"/>
              </a:rPr>
              <a:t>Customer’s Benefits</a:t>
            </a:r>
            <a:endParaRPr lang="en-US" sz="2800" dirty="0">
              <a:solidFill>
                <a:schemeClr val="tx1"/>
              </a:solidFill>
              <a:latin typeface="Segoe UI" panose="020B0502040204020203" pitchFamily="34" charset="0"/>
              <a:cs typeface="Segoe UI" panose="020B0502040204020203" pitchFamily="34" charset="0"/>
            </a:endParaRPr>
          </a:p>
        </p:txBody>
      </p:sp>
      <p:grpSp>
        <p:nvGrpSpPr>
          <p:cNvPr id="24" name="Group 23">
            <a:extLst>
              <a:ext uri="{FF2B5EF4-FFF2-40B4-BE49-F238E27FC236}">
                <a16:creationId xmlns:a16="http://schemas.microsoft.com/office/drawing/2014/main" id="{FEECF9EE-C71F-842D-BDD2-5307804DC339}"/>
              </a:ext>
            </a:extLst>
          </p:cNvPr>
          <p:cNvGrpSpPr/>
          <p:nvPr/>
        </p:nvGrpSpPr>
        <p:grpSpPr>
          <a:xfrm>
            <a:off x="882395" y="3627120"/>
            <a:ext cx="5716524" cy="5166360"/>
            <a:chOff x="882395" y="3627120"/>
            <a:chExt cx="5716524" cy="5166360"/>
          </a:xfrm>
        </p:grpSpPr>
        <p:sp>
          <p:nvSpPr>
            <p:cNvPr id="17" name="Rectangle: Rounded Corners 16">
              <a:extLst>
                <a:ext uri="{FF2B5EF4-FFF2-40B4-BE49-F238E27FC236}">
                  <a16:creationId xmlns:a16="http://schemas.microsoft.com/office/drawing/2014/main" id="{CE618949-353C-C0A8-CF63-40CE6AE4B1B3}"/>
                </a:ext>
                <a:ext uri="{C183D7F6-B498-43B3-948B-1728B52AA6E4}">
                  <adec:decorative xmlns:adec="http://schemas.microsoft.com/office/drawing/2017/decorative" val="1"/>
                </a:ext>
              </a:extLst>
            </p:cNvPr>
            <p:cNvSpPr/>
            <p:nvPr/>
          </p:nvSpPr>
          <p:spPr>
            <a:xfrm>
              <a:off x="882395" y="3627120"/>
              <a:ext cx="5716524" cy="5166360"/>
            </a:xfrm>
            <a:prstGeom prst="roundRect">
              <a:avLst>
                <a:gd name="adj" fmla="val 4121"/>
              </a:avLst>
            </a:prstGeom>
            <a:solidFill>
              <a:schemeClr val="bg1">
                <a:lumMod val="95000"/>
              </a:schemeClr>
            </a:solidFill>
            <a:ln w="12700" cap="flat" cmpd="sng" algn="ctr">
              <a:noFill/>
              <a:prstDash val="solid"/>
              <a:headEnd type="none" w="med" len="med"/>
              <a:tailEnd type="none" w="med" len="med"/>
            </a:ln>
            <a:effectLst>
              <a:outerShdw blurRad="50800" dist="38100" dir="8100000" algn="tr" rotWithShape="0">
                <a:prstClr val="black">
                  <a:alpha val="40000"/>
                </a:prstClr>
              </a:outerShdw>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50E6FF"/>
                </a:solidFill>
                <a:effectLst/>
                <a:uLnTx/>
                <a:uFillTx/>
                <a:latin typeface="Segoe UI Semibold"/>
              </a:endParaRPr>
            </a:p>
          </p:txBody>
        </p:sp>
        <p:sp>
          <p:nvSpPr>
            <p:cNvPr id="20" name="TextBox 19">
              <a:extLst>
                <a:ext uri="{FF2B5EF4-FFF2-40B4-BE49-F238E27FC236}">
                  <a16:creationId xmlns:a16="http://schemas.microsoft.com/office/drawing/2014/main" id="{DA9C53E9-3418-5BA8-E61C-1436F1660BEA}"/>
                </a:ext>
              </a:extLst>
            </p:cNvPr>
            <p:cNvSpPr txBox="1"/>
            <p:nvPr/>
          </p:nvSpPr>
          <p:spPr>
            <a:xfrm>
              <a:off x="1332802" y="4994932"/>
              <a:ext cx="4793677" cy="2208297"/>
            </a:xfrm>
            <a:prstGeom prst="rect">
              <a:avLst/>
            </a:prstGeom>
            <a:noFill/>
          </p:spPr>
          <p:txBody>
            <a:bodyPr wrap="square" lIns="0" tIns="0" rIns="0" bIns="0" rtlCol="0" anchor="t">
              <a:spAutoFit/>
            </a:bodyPr>
            <a:lstStyle/>
            <a:p>
              <a:pPr algn="ctr" defTabSz="1371600">
                <a:spcAft>
                  <a:spcPts val="900"/>
                </a:spcAft>
                <a:defRPr/>
              </a:pPr>
              <a:r>
                <a:rPr lang="en-US" sz="3200" dirty="0">
                  <a:latin typeface="Segoe UI Semibold"/>
                </a:rPr>
                <a:t>Assessment /  Pre Sales</a:t>
              </a:r>
              <a:br>
                <a:rPr lang="en-US" sz="3200" dirty="0">
                  <a:latin typeface="Segoe UI Semibold"/>
                </a:rPr>
              </a:br>
              <a:endParaRPr lang="en-US" sz="3200" b="1" dirty="0">
                <a:latin typeface="Segoe UI Semibold"/>
              </a:endParaRPr>
            </a:p>
            <a:p>
              <a:pPr algn="ctr">
                <a:defRPr/>
              </a:pPr>
              <a:r>
                <a:rPr lang="en-US" sz="2400" dirty="0">
                  <a:latin typeface="Segoe UI"/>
                </a:rPr>
                <a:t>Let’s define a strategy and desired outcomes using </a:t>
              </a:r>
              <a:r>
                <a:rPr lang="en-US" sz="2400" dirty="0">
                  <a:latin typeface="Segoe UI"/>
                  <a:hlinkClick r:id="rId4">
                    <a:extLst>
                      <a:ext uri="{A12FA001-AC4F-418D-AE19-62706E023703}">
                        <ahyp:hlinkClr xmlns:ahyp="http://schemas.microsoft.com/office/drawing/2018/hyperlinkcolor" val="tx"/>
                      </a:ext>
                    </a:extLst>
                  </a:hlinkClick>
                </a:rPr>
                <a:t>Microsoft Cloud Adoption Framework</a:t>
              </a:r>
              <a:endParaRPr lang="en-US" sz="2400" dirty="0">
                <a:latin typeface="Segoe UI"/>
                <a:cs typeface="Segoe UI"/>
                <a:hlinkClick r:id="rId4">
                  <a:extLst>
                    <a:ext uri="{A12FA001-AC4F-418D-AE19-62706E023703}">
                      <ahyp:hlinkClr xmlns:ahyp="http://schemas.microsoft.com/office/drawing/2018/hyperlinkcolor" val="tx"/>
                    </a:ext>
                  </a:extLst>
                </a:hlinkClick>
              </a:endParaRPr>
            </a:p>
          </p:txBody>
        </p:sp>
        <p:sp>
          <p:nvSpPr>
            <p:cNvPr id="22" name="Rectangle: Rounded Corners 21">
              <a:extLst>
                <a:ext uri="{FF2B5EF4-FFF2-40B4-BE49-F238E27FC236}">
                  <a16:creationId xmlns:a16="http://schemas.microsoft.com/office/drawing/2014/main" id="{1580663E-64C9-32C9-F335-0F20A00498C7}"/>
                </a:ext>
              </a:extLst>
            </p:cNvPr>
            <p:cNvSpPr/>
            <p:nvPr/>
          </p:nvSpPr>
          <p:spPr>
            <a:xfrm>
              <a:off x="1158240" y="4739640"/>
              <a:ext cx="5288280" cy="1097280"/>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74F7C557-9DD3-8437-1CE7-3F079B94376E}"/>
              </a:ext>
            </a:extLst>
          </p:cNvPr>
          <p:cNvGrpSpPr/>
          <p:nvPr/>
        </p:nvGrpSpPr>
        <p:grpSpPr>
          <a:xfrm>
            <a:off x="12146279" y="3474720"/>
            <a:ext cx="5716523" cy="5318760"/>
            <a:chOff x="12146279" y="3474720"/>
            <a:chExt cx="5716523" cy="5318760"/>
          </a:xfrm>
        </p:grpSpPr>
        <p:sp>
          <p:nvSpPr>
            <p:cNvPr id="18" name="Rectangle: Rounded Corners 1">
              <a:extLst>
                <a:ext uri="{FF2B5EF4-FFF2-40B4-BE49-F238E27FC236}">
                  <a16:creationId xmlns:a16="http://schemas.microsoft.com/office/drawing/2014/main" id="{03E26725-D990-DF28-92FC-E69F834622CA}"/>
                </a:ext>
                <a:ext uri="{C183D7F6-B498-43B3-948B-1728B52AA6E4}">
                  <adec:decorative xmlns:adec="http://schemas.microsoft.com/office/drawing/2017/decorative" val="1"/>
                </a:ext>
              </a:extLst>
            </p:cNvPr>
            <p:cNvSpPr/>
            <p:nvPr/>
          </p:nvSpPr>
          <p:spPr>
            <a:xfrm>
              <a:off x="12146279" y="3474720"/>
              <a:ext cx="5716523" cy="5318760"/>
            </a:xfrm>
            <a:prstGeom prst="roundRect">
              <a:avLst>
                <a:gd name="adj" fmla="val 4121"/>
              </a:avLst>
            </a:prstGeom>
            <a:solidFill>
              <a:schemeClr val="bg1">
                <a:lumMod val="85000"/>
              </a:schemeClr>
            </a:solidFill>
            <a:ln w="12700" cap="flat" cmpd="sng" algn="ctr">
              <a:noFill/>
              <a:prstDash val="solid"/>
              <a:headEnd type="none" w="med" len="med"/>
              <a:tailEnd type="none" w="med" len="med"/>
            </a:ln>
            <a:effectLst>
              <a:outerShdw blurRad="50800" dist="38100" dir="8100000" algn="tr" rotWithShape="0">
                <a:prstClr val="black">
                  <a:alpha val="40000"/>
                </a:prstClr>
              </a:outerShdw>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marL="0" marR="0" lvl="0" indent="0" algn="ctr" defTabSz="13716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E6FF"/>
                </a:solidFill>
                <a:effectLst/>
                <a:uLnTx/>
                <a:uFillTx/>
                <a:latin typeface="Segoe UI Semibold"/>
              </a:endParaRPr>
            </a:p>
          </p:txBody>
        </p:sp>
        <p:sp>
          <p:nvSpPr>
            <p:cNvPr id="21" name="TextBox 20">
              <a:extLst>
                <a:ext uri="{FF2B5EF4-FFF2-40B4-BE49-F238E27FC236}">
                  <a16:creationId xmlns:a16="http://schemas.microsoft.com/office/drawing/2014/main" id="{431A64E4-F3CF-12D7-CFE0-2D75386E062D}"/>
                </a:ext>
              </a:extLst>
            </p:cNvPr>
            <p:cNvSpPr txBox="1"/>
            <p:nvPr/>
          </p:nvSpPr>
          <p:spPr>
            <a:xfrm>
              <a:off x="12692103" y="4962089"/>
              <a:ext cx="4698261" cy="2015936"/>
            </a:xfrm>
            <a:prstGeom prst="rect">
              <a:avLst/>
            </a:prstGeom>
            <a:noFill/>
          </p:spPr>
          <p:txBody>
            <a:bodyPr wrap="square" lIns="0" tIns="0" rIns="0" bIns="0" rtlCol="0" anchor="t">
              <a:spAutoFit/>
            </a:bodyPr>
            <a:lstStyle/>
            <a:p>
              <a:pPr algn="ctr" defTabSz="1371600">
                <a:spcAft>
                  <a:spcPts val="900"/>
                </a:spcAft>
                <a:defRPr/>
              </a:pPr>
              <a:r>
                <a:rPr lang="en-US" sz="3200" dirty="0">
                  <a:latin typeface="Segoe UI Semibold"/>
                </a:rPr>
                <a:t>Migration /  Deployment</a:t>
              </a:r>
              <a:br>
                <a:rPr lang="en-US" sz="2700" dirty="0">
                  <a:latin typeface="Segoe UI Semibold"/>
                </a:rPr>
              </a:br>
              <a:br>
                <a:rPr lang="en-US" sz="2700" dirty="0">
                  <a:latin typeface="Segoe UI Semibold"/>
                </a:rPr>
              </a:br>
              <a:r>
                <a:rPr lang="en-US" dirty="0">
                  <a:latin typeface="Segoe UI"/>
                  <a:hlinkClick r:id="rId5">
                    <a:extLst>
                      <a:ext uri="{A12FA001-AC4F-418D-AE19-62706E023703}">
                        <ahyp:hlinkClr xmlns:ahyp="http://schemas.microsoft.com/office/drawing/2018/hyperlinkcolor" val="tx"/>
                      </a:ext>
                    </a:extLst>
                  </a:hlinkClick>
                </a:rPr>
                <a:t> </a:t>
              </a:r>
              <a:r>
                <a:rPr lang="en-US" sz="2400" dirty="0">
                  <a:latin typeface="Segoe UI"/>
                  <a:hlinkClick r:id="rId5">
                    <a:extLst>
                      <a:ext uri="{A12FA001-AC4F-418D-AE19-62706E023703}">
                        <ahyp:hlinkClr xmlns:ahyp="http://schemas.microsoft.com/office/drawing/2018/hyperlinkcolor" val="tx"/>
                      </a:ext>
                    </a:extLst>
                  </a:hlinkClick>
                </a:rPr>
                <a:t>workloads</a:t>
              </a:r>
              <a:r>
                <a:rPr lang="en-US" sz="2400" dirty="0">
                  <a:latin typeface="Segoe UI"/>
                </a:rPr>
                <a:t> &amp; how they can securely move to the cloud with Azure Migrate</a:t>
              </a:r>
            </a:p>
          </p:txBody>
        </p:sp>
        <p:sp>
          <p:nvSpPr>
            <p:cNvPr id="23" name="Rectangle: Rounded Corners 22">
              <a:extLst>
                <a:ext uri="{FF2B5EF4-FFF2-40B4-BE49-F238E27FC236}">
                  <a16:creationId xmlns:a16="http://schemas.microsoft.com/office/drawing/2014/main" id="{79AEDD28-729C-EE41-3E31-83B84C1AFDC8}"/>
                </a:ext>
              </a:extLst>
            </p:cNvPr>
            <p:cNvSpPr/>
            <p:nvPr/>
          </p:nvSpPr>
          <p:spPr>
            <a:xfrm>
              <a:off x="12360400" y="4739640"/>
              <a:ext cx="5288280" cy="982980"/>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21695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 grpId="0" animBg="1"/>
      <p:bldP spid="4" grpId="0" animBg="1"/>
      <p:bldP spid="5" grpId="0" animBg="1"/>
      <p:bldP spid="6" grpId="0" animBg="1"/>
      <p:bldP spid="7" grpId="0" animBg="1"/>
      <p:bldP spid="8" grpId="0" animBg="1"/>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06510-AB9A-657A-0142-7FE255CE2707}"/>
            </a:ext>
          </a:extLst>
        </p:cNvPr>
        <p:cNvGrpSpPr/>
        <p:nvPr/>
      </p:nvGrpSpPr>
      <p:grpSpPr>
        <a:xfrm>
          <a:off x="0" y="0"/>
          <a:ext cx="0" cy="0"/>
          <a:chOff x="0" y="0"/>
          <a:chExt cx="0" cy="0"/>
        </a:xfrm>
      </p:grpSpPr>
      <p:pic>
        <p:nvPicPr>
          <p:cNvPr id="36" name="Picture 3">
            <a:extLst>
              <a:ext uri="{FF2B5EF4-FFF2-40B4-BE49-F238E27FC236}">
                <a16:creationId xmlns:a16="http://schemas.microsoft.com/office/drawing/2014/main" id="{4EDEC5F4-5143-DBE8-5A56-5F771DB36FA0}"/>
              </a:ext>
            </a:extLst>
          </p:cNvPr>
          <p:cNvPicPr>
            <a:picLocks noChangeAspect="1"/>
          </p:cNvPicPr>
          <p:nvPr/>
        </p:nvPicPr>
        <p:blipFill>
          <a:blip r:embed="rId2"/>
          <a:srcRect/>
          <a:stretch>
            <a:fillRect/>
          </a:stretch>
        </p:blipFill>
        <p:spPr>
          <a:xfrm>
            <a:off x="287016" y="318964"/>
            <a:ext cx="2634245" cy="694782"/>
          </a:xfrm>
          <a:prstGeom prst="rect">
            <a:avLst/>
          </a:prstGeom>
        </p:spPr>
      </p:pic>
      <p:grpSp>
        <p:nvGrpSpPr>
          <p:cNvPr id="49" name="Group 48">
            <a:extLst>
              <a:ext uri="{FF2B5EF4-FFF2-40B4-BE49-F238E27FC236}">
                <a16:creationId xmlns:a16="http://schemas.microsoft.com/office/drawing/2014/main" id="{871A1E6B-541F-F815-36C5-ACDB3D37B962}"/>
              </a:ext>
            </a:extLst>
          </p:cNvPr>
          <p:cNvGrpSpPr/>
          <p:nvPr/>
        </p:nvGrpSpPr>
        <p:grpSpPr>
          <a:xfrm>
            <a:off x="16802683" y="-1558312"/>
            <a:ext cx="1414436" cy="3842240"/>
            <a:chOff x="16533032" y="-1075004"/>
            <a:chExt cx="1414436" cy="3842240"/>
          </a:xfrm>
        </p:grpSpPr>
        <p:grpSp>
          <p:nvGrpSpPr>
            <p:cNvPr id="37" name="Group 26">
              <a:extLst>
                <a:ext uri="{FF2B5EF4-FFF2-40B4-BE49-F238E27FC236}">
                  <a16:creationId xmlns:a16="http://schemas.microsoft.com/office/drawing/2014/main" id="{A591BCA4-4AC6-3574-4442-F4CD2F944F75}"/>
                </a:ext>
              </a:extLst>
            </p:cNvPr>
            <p:cNvGrpSpPr/>
            <p:nvPr/>
          </p:nvGrpSpPr>
          <p:grpSpPr>
            <a:xfrm rot="-5400000">
              <a:off x="15319130" y="138898"/>
              <a:ext cx="3842240" cy="1414436"/>
              <a:chOff x="0" y="0"/>
              <a:chExt cx="1103964" cy="406400"/>
            </a:xfrm>
          </p:grpSpPr>
          <p:sp>
            <p:nvSpPr>
              <p:cNvPr id="38" name="Freeform 27">
                <a:extLst>
                  <a:ext uri="{FF2B5EF4-FFF2-40B4-BE49-F238E27FC236}">
                    <a16:creationId xmlns:a16="http://schemas.microsoft.com/office/drawing/2014/main" id="{09EDC230-8C2A-0E19-D7E3-C79BE914C813}"/>
                  </a:ext>
                </a:extLst>
              </p:cNvPr>
              <p:cNvSpPr/>
              <p:nvPr/>
            </p:nvSpPr>
            <p:spPr>
              <a:xfrm>
                <a:off x="17780" y="22860"/>
                <a:ext cx="1078564" cy="360680"/>
              </a:xfrm>
              <a:custGeom>
                <a:avLst/>
                <a:gdLst/>
                <a:ahLst/>
                <a:cxnLst/>
                <a:rect l="l" t="t" r="r" b="b"/>
                <a:pathLst>
                  <a:path w="1078564" h="360680">
                    <a:moveTo>
                      <a:pt x="1078564" y="180340"/>
                    </a:moveTo>
                    <a:cubicBezTo>
                      <a:pt x="1078564" y="81280"/>
                      <a:pt x="998554" y="0"/>
                      <a:pt x="898224" y="0"/>
                    </a:cubicBezTo>
                    <a:lnTo>
                      <a:pt x="172720" y="0"/>
                    </a:lnTo>
                    <a:lnTo>
                      <a:pt x="172720" y="1270"/>
                    </a:lnTo>
                    <a:cubicBezTo>
                      <a:pt x="76200" y="5080"/>
                      <a:pt x="0" y="83820"/>
                      <a:pt x="0" y="180340"/>
                    </a:cubicBezTo>
                    <a:cubicBezTo>
                      <a:pt x="0" y="276860"/>
                      <a:pt x="77470" y="355600"/>
                      <a:pt x="172720" y="359410"/>
                    </a:cubicBezTo>
                    <a:lnTo>
                      <a:pt x="172720" y="360680"/>
                    </a:lnTo>
                    <a:lnTo>
                      <a:pt x="898224" y="360680"/>
                    </a:lnTo>
                    <a:cubicBezTo>
                      <a:pt x="997284" y="360680"/>
                      <a:pt x="1078564" y="279400"/>
                      <a:pt x="1078564" y="180340"/>
                    </a:cubicBezTo>
                    <a:close/>
                  </a:path>
                </a:pathLst>
              </a:custGeom>
              <a:solidFill>
                <a:srgbClr val="70AF5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9" name="Picture 28">
              <a:extLst>
                <a:ext uri="{FF2B5EF4-FFF2-40B4-BE49-F238E27FC236}">
                  <a16:creationId xmlns:a16="http://schemas.microsoft.com/office/drawing/2014/main" id="{6957AE90-6933-1CEF-DA79-9D38E2B6302B}"/>
                </a:ext>
              </a:extLst>
            </p:cNvPr>
            <p:cNvPicPr>
              <a:picLocks noChangeAspect="1"/>
            </p:cNvPicPr>
            <p:nvPr/>
          </p:nvPicPr>
          <p:blipFill>
            <a:blip r:embed="rId3"/>
            <a:srcRect r="83814"/>
            <a:stretch>
              <a:fillRect/>
            </a:stretch>
          </p:blipFill>
          <p:spPr>
            <a:xfrm>
              <a:off x="16900996" y="1166576"/>
              <a:ext cx="716608" cy="1145609"/>
            </a:xfrm>
            <a:prstGeom prst="rect">
              <a:avLst/>
            </a:prstGeom>
          </p:spPr>
        </p:pic>
      </p:grpSp>
      <p:sp>
        <p:nvSpPr>
          <p:cNvPr id="34" name="TextBox 33">
            <a:extLst>
              <a:ext uri="{FF2B5EF4-FFF2-40B4-BE49-F238E27FC236}">
                <a16:creationId xmlns:a16="http://schemas.microsoft.com/office/drawing/2014/main" id="{CBD28204-377B-CD95-51F1-AB0D82603692}"/>
              </a:ext>
            </a:extLst>
          </p:cNvPr>
          <p:cNvSpPr txBox="1"/>
          <p:nvPr/>
        </p:nvSpPr>
        <p:spPr>
          <a:xfrm>
            <a:off x="4607496" y="303284"/>
            <a:ext cx="9073008" cy="1446550"/>
          </a:xfrm>
          <a:prstGeom prst="rect">
            <a:avLst/>
          </a:prstGeom>
          <a:noFill/>
        </p:spPr>
        <p:txBody>
          <a:bodyPr wrap="square">
            <a:spAutoFit/>
          </a:bodyPr>
          <a:lstStyle>
            <a:defPPr>
              <a:defRPr lang="en-US"/>
            </a:defPPr>
            <a:lvl1pPr algn="ctr">
              <a:buClr>
                <a:schemeClr val="dk1"/>
              </a:buClr>
              <a:buSzPts val="1100"/>
              <a:defRPr sz="4400" b="1">
                <a:solidFill>
                  <a:srgbClr val="00953A"/>
                </a:solidFill>
                <a:latin typeface="Segoe UI Semibold" panose="020B0702040204020203" pitchFamily="34" charset="0"/>
                <a:ea typeface="Roboto Condensed"/>
                <a:cs typeface="Segoe UI Semibold" panose="020B0702040204020203" pitchFamily="34" charset="0"/>
              </a:defRPr>
            </a:lvl1pPr>
          </a:lstStyle>
          <a:p>
            <a:r>
              <a:rPr lang="en-US" dirty="0"/>
              <a:t>Azure Migrate &amp; Modernize - Process - Workflow</a:t>
            </a:r>
            <a:endParaRPr lang="en-IN" dirty="0"/>
          </a:p>
        </p:txBody>
      </p:sp>
      <p:grpSp>
        <p:nvGrpSpPr>
          <p:cNvPr id="2" name="Group 1">
            <a:extLst>
              <a:ext uri="{FF2B5EF4-FFF2-40B4-BE49-F238E27FC236}">
                <a16:creationId xmlns:a16="http://schemas.microsoft.com/office/drawing/2014/main" id="{6DFB4C7E-37E5-FA76-F027-C28CDD9D5DF9}"/>
              </a:ext>
            </a:extLst>
          </p:cNvPr>
          <p:cNvGrpSpPr/>
          <p:nvPr/>
        </p:nvGrpSpPr>
        <p:grpSpPr>
          <a:xfrm>
            <a:off x="804406" y="2130464"/>
            <a:ext cx="16669682" cy="7038692"/>
            <a:chOff x="804406" y="2130464"/>
            <a:chExt cx="16669682" cy="7038692"/>
          </a:xfrm>
        </p:grpSpPr>
        <p:sp>
          <p:nvSpPr>
            <p:cNvPr id="63" name="Freeform: Shape 62">
              <a:extLst>
                <a:ext uri="{FF2B5EF4-FFF2-40B4-BE49-F238E27FC236}">
                  <a16:creationId xmlns:a16="http://schemas.microsoft.com/office/drawing/2014/main" id="{0DCC7C14-7FF8-BE79-3EC5-099A5F9F7FAD}"/>
                </a:ext>
              </a:extLst>
            </p:cNvPr>
            <p:cNvSpPr/>
            <p:nvPr/>
          </p:nvSpPr>
          <p:spPr>
            <a:xfrm>
              <a:off x="804406" y="4158071"/>
              <a:ext cx="5728048" cy="3224460"/>
            </a:xfrm>
            <a:custGeom>
              <a:avLst/>
              <a:gdLst>
                <a:gd name="connsiteX0" fmla="*/ 0 w 5728048"/>
                <a:gd name="connsiteY0" fmla="*/ 322446 h 3224460"/>
                <a:gd name="connsiteX1" fmla="*/ 322446 w 5728048"/>
                <a:gd name="connsiteY1" fmla="*/ 0 h 3224460"/>
                <a:gd name="connsiteX2" fmla="*/ 5405602 w 5728048"/>
                <a:gd name="connsiteY2" fmla="*/ 0 h 3224460"/>
                <a:gd name="connsiteX3" fmla="*/ 5728048 w 5728048"/>
                <a:gd name="connsiteY3" fmla="*/ 322446 h 3224460"/>
                <a:gd name="connsiteX4" fmla="*/ 5728048 w 5728048"/>
                <a:gd name="connsiteY4" fmla="*/ 2902014 h 3224460"/>
                <a:gd name="connsiteX5" fmla="*/ 5405602 w 5728048"/>
                <a:gd name="connsiteY5" fmla="*/ 3224460 h 3224460"/>
                <a:gd name="connsiteX6" fmla="*/ 322446 w 5728048"/>
                <a:gd name="connsiteY6" fmla="*/ 3224460 h 3224460"/>
                <a:gd name="connsiteX7" fmla="*/ 0 w 5728048"/>
                <a:gd name="connsiteY7" fmla="*/ 2902014 h 3224460"/>
                <a:gd name="connsiteX8" fmla="*/ 0 w 5728048"/>
                <a:gd name="connsiteY8" fmla="*/ 322446 h 32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28048" h="3224460">
                  <a:moveTo>
                    <a:pt x="0" y="322446"/>
                  </a:moveTo>
                  <a:cubicBezTo>
                    <a:pt x="0" y="144364"/>
                    <a:pt x="144364" y="0"/>
                    <a:pt x="322446" y="0"/>
                  </a:cubicBezTo>
                  <a:lnTo>
                    <a:pt x="5405602" y="0"/>
                  </a:lnTo>
                  <a:cubicBezTo>
                    <a:pt x="5583684" y="0"/>
                    <a:pt x="5728048" y="144364"/>
                    <a:pt x="5728048" y="322446"/>
                  </a:cubicBezTo>
                  <a:lnTo>
                    <a:pt x="5728048" y="2902014"/>
                  </a:lnTo>
                  <a:cubicBezTo>
                    <a:pt x="5728048" y="3080096"/>
                    <a:pt x="5583684" y="3224460"/>
                    <a:pt x="5405602" y="3224460"/>
                  </a:cubicBezTo>
                  <a:lnTo>
                    <a:pt x="322446" y="3224460"/>
                  </a:lnTo>
                  <a:cubicBezTo>
                    <a:pt x="144364" y="3224460"/>
                    <a:pt x="0" y="3080096"/>
                    <a:pt x="0" y="2902014"/>
                  </a:cubicBezTo>
                  <a:lnTo>
                    <a:pt x="0" y="322446"/>
                  </a:lnTo>
                  <a:close/>
                </a:path>
              </a:pathLst>
            </a:cu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8029" tIns="198029" rIns="198029" bIns="888985" numCol="1" spcCol="1270" anchor="ctr" anchorCtr="0">
              <a:noAutofit/>
            </a:bodyPr>
            <a:lstStyle/>
            <a:p>
              <a:pPr marL="171450" lvl="1" indent="-171450" algn="l" defTabSz="800100">
                <a:lnSpc>
                  <a:spcPct val="90000"/>
                </a:lnSpc>
                <a:spcBef>
                  <a:spcPct val="0"/>
                </a:spcBef>
                <a:spcAft>
                  <a:spcPct val="15000"/>
                </a:spcAft>
                <a:buChar char="•"/>
              </a:pPr>
              <a:endParaRPr lang="en-US" sz="18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800100">
                <a:lnSpc>
                  <a:spcPct val="90000"/>
                </a:lnSpc>
                <a:spcBef>
                  <a:spcPct val="0"/>
                </a:spcBef>
                <a:spcAft>
                  <a:spcPct val="15000"/>
                </a:spcAft>
                <a:buChar char="•"/>
              </a:pPr>
              <a:r>
                <a:rPr lang="en-US" sz="1800" kern="1200" dirty="0">
                  <a:latin typeface="Lato" panose="020F0502020204030203" pitchFamily="34" charset="0"/>
                  <a:ea typeface="Lato" panose="020F0502020204030203" pitchFamily="34" charset="0"/>
                  <a:cs typeface="Lato" panose="020F0502020204030203" pitchFamily="34" charset="0"/>
                </a:rPr>
                <a:t>Redington registers the opportunity </a:t>
              </a:r>
              <a:r>
                <a:rPr lang="en-US" dirty="0">
                  <a:latin typeface="Lato" panose="020F0502020204030203" pitchFamily="34" charset="0"/>
                  <a:ea typeface="Lato" panose="020F0502020204030203" pitchFamily="34" charset="0"/>
                  <a:cs typeface="Lato" panose="020F0502020204030203" pitchFamily="34" charset="0"/>
                </a:rPr>
                <a:t>with Microsoft as AMM Opportunities</a:t>
              </a:r>
              <a:r>
                <a:rPr lang="en-US" sz="1800" kern="1200" dirty="0">
                  <a:latin typeface="Lato" panose="020F0502020204030203" pitchFamily="34" charset="0"/>
                  <a:ea typeface="Lato" panose="020F0502020204030203" pitchFamily="34" charset="0"/>
                  <a:cs typeface="Lato" panose="020F0502020204030203" pitchFamily="34" charset="0"/>
                </a:rPr>
                <a:t>.</a:t>
              </a:r>
              <a:br>
                <a:rPr lang="en-US" sz="1800" kern="1200" dirty="0">
                  <a:latin typeface="Lato" panose="020F0502020204030203" pitchFamily="34" charset="0"/>
                  <a:ea typeface="Lato" panose="020F0502020204030203" pitchFamily="34" charset="0"/>
                  <a:cs typeface="Lato" panose="020F0502020204030203" pitchFamily="34" charset="0"/>
                </a:rPr>
              </a:br>
              <a:endParaRPr lang="en-US" sz="18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800100">
                <a:lnSpc>
                  <a:spcPct val="90000"/>
                </a:lnSpc>
                <a:spcBef>
                  <a:spcPct val="0"/>
                </a:spcBef>
                <a:spcAft>
                  <a:spcPct val="15000"/>
                </a:spcAft>
                <a:buChar char="•"/>
              </a:pPr>
              <a:r>
                <a:rPr lang="en-US" sz="1800" kern="1200" dirty="0">
                  <a:latin typeface="Lato" panose="020F0502020204030203" pitchFamily="34" charset="0"/>
                  <a:ea typeface="Lato" panose="020F0502020204030203" pitchFamily="34" charset="0"/>
                  <a:cs typeface="Lato" panose="020F0502020204030203" pitchFamily="34" charset="0"/>
                </a:rPr>
                <a:t>Customer provides the acknowledgement for the assessment/Migration</a:t>
              </a:r>
              <a:endParaRPr lang="en-IN" sz="1800" kern="1200" dirty="0">
                <a:latin typeface="Lato" panose="020F0502020204030203" pitchFamily="34" charset="0"/>
                <a:ea typeface="Lato" panose="020F0502020204030203" pitchFamily="34" charset="0"/>
                <a:cs typeface="Lato" panose="020F0502020204030203" pitchFamily="34" charset="0"/>
              </a:endParaRPr>
            </a:p>
          </p:txBody>
        </p:sp>
        <p:sp>
          <p:nvSpPr>
            <p:cNvPr id="70" name="Shape 69">
              <a:extLst>
                <a:ext uri="{FF2B5EF4-FFF2-40B4-BE49-F238E27FC236}">
                  <a16:creationId xmlns:a16="http://schemas.microsoft.com/office/drawing/2014/main" id="{6D640C04-35CA-C7E6-72B3-B8BF595CD587}"/>
                </a:ext>
              </a:extLst>
            </p:cNvPr>
            <p:cNvSpPr/>
            <p:nvPr/>
          </p:nvSpPr>
          <p:spPr>
            <a:xfrm rot="467501">
              <a:off x="3753989" y="4553866"/>
              <a:ext cx="4615290" cy="4615290"/>
            </a:xfrm>
            <a:prstGeom prst="leftCircularArrow">
              <a:avLst>
                <a:gd name="adj1" fmla="val 2159"/>
                <a:gd name="adj2" fmla="val 259598"/>
                <a:gd name="adj3" fmla="val 1728228"/>
                <a:gd name="adj4" fmla="val 8717608"/>
                <a:gd name="adj5" fmla="val 2519"/>
              </a:avLst>
            </a:prstGeom>
            <a:gradFill flip="none" rotWithShape="1">
              <a:gsLst>
                <a:gs pos="21000">
                  <a:srgbClr val="00B050"/>
                </a:gs>
                <a:gs pos="48000">
                  <a:schemeClr val="bg1">
                    <a:lumMod val="65000"/>
                    <a:tint val="66000"/>
                    <a:satMod val="160000"/>
                  </a:schemeClr>
                </a:gs>
                <a:gs pos="69000">
                  <a:schemeClr val="bg1"/>
                </a:gs>
                <a:gs pos="100000">
                  <a:schemeClr val="bg1">
                    <a:lumMod val="65000"/>
                    <a:tint val="23500"/>
                    <a:satMod val="160000"/>
                  </a:schemeClr>
                </a:gs>
              </a:gsLst>
              <a:lin ang="10800000" scaled="1"/>
              <a:tileRect/>
            </a:gradFill>
            <a:ln>
              <a:solidFill>
                <a:schemeClr val="bg1"/>
              </a:solidFill>
            </a:ln>
            <a:effectLst>
              <a:outerShdw blurRad="50800" dist="38100" dir="8100000" algn="tr" rotWithShape="0">
                <a:prstClr val="black">
                  <a:alpha val="40000"/>
                </a:prstClr>
              </a:outerShdw>
            </a:effectLst>
          </p:spPr>
          <p:style>
            <a:lnRef idx="0">
              <a:schemeClr val="lt1">
                <a:hueOff val="0"/>
                <a:satOff val="0"/>
                <a:lumOff val="0"/>
                <a:alphaOff val="0"/>
              </a:schemeClr>
            </a:lnRef>
            <a:fillRef idx="1">
              <a:schemeClr val="accent5">
                <a:hueOff val="-9933876"/>
                <a:satOff val="39811"/>
                <a:lumOff val="8628"/>
                <a:alphaOff val="0"/>
              </a:schemeClr>
            </a:fillRef>
            <a:effectRef idx="1">
              <a:schemeClr val="accent5">
                <a:hueOff val="-9933876"/>
                <a:satOff val="39811"/>
                <a:lumOff val="8628"/>
                <a:alphaOff val="0"/>
              </a:schemeClr>
            </a:effectRef>
            <a:fontRef idx="minor">
              <a:schemeClr val="lt1"/>
            </a:fontRef>
          </p:style>
          <p:txBody>
            <a:bodyPr/>
            <a:lstStyle/>
            <a:p>
              <a:endParaRPr lang="en-US"/>
            </a:p>
          </p:txBody>
        </p:sp>
        <p:sp>
          <p:nvSpPr>
            <p:cNvPr id="72" name="Freeform: Shape 71">
              <a:extLst>
                <a:ext uri="{FF2B5EF4-FFF2-40B4-BE49-F238E27FC236}">
                  <a16:creationId xmlns:a16="http://schemas.microsoft.com/office/drawing/2014/main" id="{7B0D1F2F-E489-4F29-EDB4-B4B801C64057}"/>
                </a:ext>
              </a:extLst>
            </p:cNvPr>
            <p:cNvSpPr/>
            <p:nvPr/>
          </p:nvSpPr>
          <p:spPr>
            <a:xfrm>
              <a:off x="6953854" y="3529265"/>
              <a:ext cx="5052270" cy="4443661"/>
            </a:xfrm>
            <a:custGeom>
              <a:avLst/>
              <a:gdLst>
                <a:gd name="connsiteX0" fmla="*/ 0 w 5052270"/>
                <a:gd name="connsiteY0" fmla="*/ 444366 h 4443661"/>
                <a:gd name="connsiteX1" fmla="*/ 444366 w 5052270"/>
                <a:gd name="connsiteY1" fmla="*/ 0 h 4443661"/>
                <a:gd name="connsiteX2" fmla="*/ 4607904 w 5052270"/>
                <a:gd name="connsiteY2" fmla="*/ 0 h 4443661"/>
                <a:gd name="connsiteX3" fmla="*/ 5052270 w 5052270"/>
                <a:gd name="connsiteY3" fmla="*/ 444366 h 4443661"/>
                <a:gd name="connsiteX4" fmla="*/ 5052270 w 5052270"/>
                <a:gd name="connsiteY4" fmla="*/ 3999295 h 4443661"/>
                <a:gd name="connsiteX5" fmla="*/ 4607904 w 5052270"/>
                <a:gd name="connsiteY5" fmla="*/ 4443661 h 4443661"/>
                <a:gd name="connsiteX6" fmla="*/ 444366 w 5052270"/>
                <a:gd name="connsiteY6" fmla="*/ 4443661 h 4443661"/>
                <a:gd name="connsiteX7" fmla="*/ 0 w 5052270"/>
                <a:gd name="connsiteY7" fmla="*/ 3999295 h 4443661"/>
                <a:gd name="connsiteX8" fmla="*/ 0 w 5052270"/>
                <a:gd name="connsiteY8" fmla="*/ 444366 h 44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2270" h="4443661">
                  <a:moveTo>
                    <a:pt x="0" y="444366"/>
                  </a:moveTo>
                  <a:cubicBezTo>
                    <a:pt x="0" y="198949"/>
                    <a:pt x="198949" y="0"/>
                    <a:pt x="444366" y="0"/>
                  </a:cubicBezTo>
                  <a:lnTo>
                    <a:pt x="4607904" y="0"/>
                  </a:lnTo>
                  <a:cubicBezTo>
                    <a:pt x="4853321" y="0"/>
                    <a:pt x="5052270" y="198949"/>
                    <a:pt x="5052270" y="444366"/>
                  </a:cubicBezTo>
                  <a:lnTo>
                    <a:pt x="5052270" y="3999295"/>
                  </a:lnTo>
                  <a:cubicBezTo>
                    <a:pt x="5052270" y="4244712"/>
                    <a:pt x="4853321" y="4443661"/>
                    <a:pt x="4607904" y="4443661"/>
                  </a:cubicBezTo>
                  <a:lnTo>
                    <a:pt x="444366" y="4443661"/>
                  </a:lnTo>
                  <a:cubicBezTo>
                    <a:pt x="198949" y="4443661"/>
                    <a:pt x="0" y="4244712"/>
                    <a:pt x="0" y="3999295"/>
                  </a:cubicBezTo>
                  <a:lnTo>
                    <a:pt x="0" y="444366"/>
                  </a:lnTo>
                  <a:close/>
                </a:path>
              </a:pathLst>
            </a:cu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5">
                <a:hueOff val="-4966938"/>
                <a:satOff val="19906"/>
                <a:lumOff val="4314"/>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6086" tIns="1178299" rIns="226086" bIns="426261"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kern="1200" dirty="0">
                  <a:latin typeface="Lato" panose="020F0502020204030203" pitchFamily="34" charset="0"/>
                  <a:ea typeface="Lato" panose="020F0502020204030203" pitchFamily="34" charset="0"/>
                  <a:cs typeface="Lato" panose="020F0502020204030203" pitchFamily="34" charset="0"/>
                </a:rPr>
                <a:t>Redington/Partner performs the Assessment of customers infrastructure using Azure migrate.</a:t>
              </a:r>
              <a:br>
                <a:rPr lang="en-US" sz="1800" kern="1200" dirty="0">
                  <a:latin typeface="Lato" panose="020F0502020204030203" pitchFamily="34" charset="0"/>
                  <a:ea typeface="Lato" panose="020F0502020204030203" pitchFamily="34" charset="0"/>
                  <a:cs typeface="Lato" panose="020F0502020204030203" pitchFamily="34" charset="0"/>
                </a:rPr>
              </a:br>
              <a:endParaRPr lang="en-US" sz="18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800100">
                <a:lnSpc>
                  <a:spcPct val="90000"/>
                </a:lnSpc>
                <a:spcBef>
                  <a:spcPct val="0"/>
                </a:spcBef>
                <a:spcAft>
                  <a:spcPct val="15000"/>
                </a:spcAft>
                <a:buFont typeface="Arial" panose="020B0604020202020204" pitchFamily="34" charset="0"/>
                <a:buChar char="•"/>
              </a:pPr>
              <a:r>
                <a:rPr lang="en-US" sz="1800" kern="1200" dirty="0">
                  <a:latin typeface="Lato" panose="020F0502020204030203" pitchFamily="34" charset="0"/>
                  <a:ea typeface="Lato" panose="020F0502020204030203" pitchFamily="34" charset="0"/>
                  <a:cs typeface="Lato" panose="020F0502020204030203" pitchFamily="34" charset="0"/>
                </a:rPr>
                <a:t>Azure migrate assessment report is reviewed with the customer.</a:t>
              </a:r>
              <a:br>
                <a:rPr lang="en-US" sz="1800" kern="1200" dirty="0">
                  <a:latin typeface="Lato" panose="020F0502020204030203" pitchFamily="34" charset="0"/>
                  <a:ea typeface="Lato" panose="020F0502020204030203" pitchFamily="34" charset="0"/>
                  <a:cs typeface="Lato" panose="020F0502020204030203" pitchFamily="34" charset="0"/>
                </a:rPr>
              </a:br>
              <a:endParaRPr lang="en-IN" sz="18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800100">
                <a:lnSpc>
                  <a:spcPct val="90000"/>
                </a:lnSpc>
                <a:spcBef>
                  <a:spcPct val="0"/>
                </a:spcBef>
                <a:spcAft>
                  <a:spcPct val="15000"/>
                </a:spcAft>
                <a:buFont typeface="Arial" panose="020B0604020202020204" pitchFamily="34" charset="0"/>
                <a:buChar char="•"/>
              </a:pPr>
              <a:r>
                <a:rPr lang="en-US" sz="1800" kern="1200" dirty="0">
                  <a:latin typeface="Lato" panose="020F0502020204030203" pitchFamily="34" charset="0"/>
                  <a:ea typeface="Lato" panose="020F0502020204030203" pitchFamily="34" charset="0"/>
                  <a:cs typeface="Lato" panose="020F0502020204030203" pitchFamily="34" charset="0"/>
                </a:rPr>
                <a:t>Redington/Partner performs the migration of customers infrastructure to Azure.</a:t>
              </a:r>
              <a:br>
                <a:rPr lang="en-US" sz="1800" kern="1200" dirty="0">
                  <a:latin typeface="Lato" panose="020F0502020204030203" pitchFamily="34" charset="0"/>
                  <a:ea typeface="Lato" panose="020F0502020204030203" pitchFamily="34" charset="0"/>
                  <a:cs typeface="Lato" panose="020F0502020204030203" pitchFamily="34" charset="0"/>
                </a:rPr>
              </a:br>
              <a:endParaRPr lang="en-US" sz="1800" kern="1200" dirty="0">
                <a:latin typeface="Lato" panose="020F0502020204030203" pitchFamily="34" charset="0"/>
                <a:ea typeface="Lato" panose="020F0502020204030203" pitchFamily="34" charset="0"/>
                <a:cs typeface="Lato" panose="020F0502020204030203" pitchFamily="34" charset="0"/>
              </a:endParaRPr>
            </a:p>
          </p:txBody>
        </p:sp>
        <p:sp>
          <p:nvSpPr>
            <p:cNvPr id="73" name="Arrow: Circular 72">
              <a:extLst>
                <a:ext uri="{FF2B5EF4-FFF2-40B4-BE49-F238E27FC236}">
                  <a16:creationId xmlns:a16="http://schemas.microsoft.com/office/drawing/2014/main" id="{2CCEE286-5D85-7114-120D-C61D6B258E3F}"/>
                </a:ext>
              </a:extLst>
            </p:cNvPr>
            <p:cNvSpPr/>
            <p:nvPr/>
          </p:nvSpPr>
          <p:spPr>
            <a:xfrm rot="21315042">
              <a:off x="10254962" y="2130464"/>
              <a:ext cx="5246578" cy="5354132"/>
            </a:xfrm>
            <a:prstGeom prst="circularArrow">
              <a:avLst>
                <a:gd name="adj1" fmla="val 1899"/>
                <a:gd name="adj2" fmla="val 227009"/>
                <a:gd name="adj3" fmla="val 20399650"/>
                <a:gd name="adj4" fmla="val 13377681"/>
                <a:gd name="adj5" fmla="val 2216"/>
              </a:avLst>
            </a:prstGeom>
            <a:gradFill flip="none" rotWithShape="1">
              <a:gsLst>
                <a:gs pos="21000">
                  <a:srgbClr val="00B050"/>
                </a:gs>
                <a:gs pos="48000">
                  <a:schemeClr val="bg1">
                    <a:lumMod val="65000"/>
                    <a:tint val="66000"/>
                    <a:satMod val="160000"/>
                  </a:schemeClr>
                </a:gs>
                <a:gs pos="69000">
                  <a:schemeClr val="bg1"/>
                </a:gs>
                <a:gs pos="100000">
                  <a:schemeClr val="bg1">
                    <a:lumMod val="65000"/>
                    <a:tint val="23500"/>
                    <a:satMod val="160000"/>
                  </a:schemeClr>
                </a:gs>
              </a:gsLst>
              <a:lin ang="10800000" scaled="1"/>
              <a:tileRect/>
            </a:gradFill>
            <a:ln>
              <a:solidFill>
                <a:schemeClr val="bg1"/>
              </a:solidFill>
            </a:ln>
            <a:effectLst>
              <a:outerShdw blurRad="50800" dist="38100" dir="8100000" algn="tr" rotWithShape="0">
                <a:prstClr val="black">
                  <a:alpha val="40000"/>
                </a:prstClr>
              </a:outerShdw>
            </a:effectLst>
          </p:spPr>
          <p:style>
            <a:lnRef idx="0">
              <a:schemeClr val="lt1">
                <a:hueOff val="0"/>
                <a:satOff val="0"/>
                <a:lumOff val="0"/>
                <a:alphaOff val="0"/>
              </a:schemeClr>
            </a:lnRef>
            <a:fillRef idx="1">
              <a:schemeClr val="accent5">
                <a:hueOff val="-9933876"/>
                <a:satOff val="39811"/>
                <a:lumOff val="8628"/>
                <a:alphaOff val="0"/>
              </a:schemeClr>
            </a:fillRef>
            <a:effectRef idx="1">
              <a:schemeClr val="accent5">
                <a:hueOff val="-9933876"/>
                <a:satOff val="39811"/>
                <a:lumOff val="8628"/>
                <a:alphaOff val="0"/>
              </a:schemeClr>
            </a:effectRef>
            <a:fontRef idx="minor">
              <a:schemeClr val="lt1"/>
            </a:fontRef>
          </p:style>
          <p:txBody>
            <a:bodyPr/>
            <a:lstStyle/>
            <a:p>
              <a:endParaRPr lang="en-US" dirty="0"/>
            </a:p>
          </p:txBody>
        </p:sp>
        <p:sp>
          <p:nvSpPr>
            <p:cNvPr id="75" name="Freeform: Shape 74">
              <a:extLst>
                <a:ext uri="{FF2B5EF4-FFF2-40B4-BE49-F238E27FC236}">
                  <a16:creationId xmlns:a16="http://schemas.microsoft.com/office/drawing/2014/main" id="{CA256603-AFE6-B8AC-4A9D-9533E3D4F3B2}"/>
                </a:ext>
              </a:extLst>
            </p:cNvPr>
            <p:cNvSpPr/>
            <p:nvPr/>
          </p:nvSpPr>
          <p:spPr>
            <a:xfrm>
              <a:off x="12395849" y="4026570"/>
              <a:ext cx="5078239" cy="3481133"/>
            </a:xfrm>
            <a:custGeom>
              <a:avLst/>
              <a:gdLst>
                <a:gd name="connsiteX0" fmla="*/ 0 w 5078239"/>
                <a:gd name="connsiteY0" fmla="*/ 348113 h 3481133"/>
                <a:gd name="connsiteX1" fmla="*/ 348113 w 5078239"/>
                <a:gd name="connsiteY1" fmla="*/ 0 h 3481133"/>
                <a:gd name="connsiteX2" fmla="*/ 4730126 w 5078239"/>
                <a:gd name="connsiteY2" fmla="*/ 0 h 3481133"/>
                <a:gd name="connsiteX3" fmla="*/ 5078239 w 5078239"/>
                <a:gd name="connsiteY3" fmla="*/ 348113 h 3481133"/>
                <a:gd name="connsiteX4" fmla="*/ 5078239 w 5078239"/>
                <a:gd name="connsiteY4" fmla="*/ 3133020 h 3481133"/>
                <a:gd name="connsiteX5" fmla="*/ 4730126 w 5078239"/>
                <a:gd name="connsiteY5" fmla="*/ 3481133 h 3481133"/>
                <a:gd name="connsiteX6" fmla="*/ 348113 w 5078239"/>
                <a:gd name="connsiteY6" fmla="*/ 3481133 h 3481133"/>
                <a:gd name="connsiteX7" fmla="*/ 0 w 5078239"/>
                <a:gd name="connsiteY7" fmla="*/ 3133020 h 3481133"/>
                <a:gd name="connsiteX8" fmla="*/ 0 w 5078239"/>
                <a:gd name="connsiteY8" fmla="*/ 348113 h 348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8239" h="3481133">
                  <a:moveTo>
                    <a:pt x="0" y="348113"/>
                  </a:moveTo>
                  <a:cubicBezTo>
                    <a:pt x="0" y="155855"/>
                    <a:pt x="155855" y="0"/>
                    <a:pt x="348113" y="0"/>
                  </a:cubicBezTo>
                  <a:lnTo>
                    <a:pt x="4730126" y="0"/>
                  </a:lnTo>
                  <a:cubicBezTo>
                    <a:pt x="4922384" y="0"/>
                    <a:pt x="5078239" y="155855"/>
                    <a:pt x="5078239" y="348113"/>
                  </a:cubicBezTo>
                  <a:lnTo>
                    <a:pt x="5078239" y="3133020"/>
                  </a:lnTo>
                  <a:cubicBezTo>
                    <a:pt x="5078239" y="3325278"/>
                    <a:pt x="4922384" y="3481133"/>
                    <a:pt x="4730126" y="3481133"/>
                  </a:cubicBezTo>
                  <a:lnTo>
                    <a:pt x="348113" y="3481133"/>
                  </a:lnTo>
                  <a:cubicBezTo>
                    <a:pt x="155855" y="3481133"/>
                    <a:pt x="0" y="3325278"/>
                    <a:pt x="0" y="3133020"/>
                  </a:cubicBezTo>
                  <a:lnTo>
                    <a:pt x="0" y="348113"/>
                  </a:lnTo>
                  <a:close/>
                </a:path>
              </a:pathLst>
            </a:cu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5">
                <a:hueOff val="-9933876"/>
                <a:satOff val="39811"/>
                <a:lumOff val="862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03936" tIns="203936" rIns="203936" bIns="949893" numCol="1" spcCol="1270" anchor="ctr" anchorCtr="0">
              <a:noAutofit/>
            </a:bodyPr>
            <a:lstStyle/>
            <a:p>
              <a:pPr marL="171450" lvl="1" indent="-171450" algn="l" defTabSz="800100">
                <a:lnSpc>
                  <a:spcPct val="90000"/>
                </a:lnSpc>
                <a:spcBef>
                  <a:spcPct val="0"/>
                </a:spcBef>
                <a:spcAft>
                  <a:spcPct val="15000"/>
                </a:spcAft>
                <a:buChar char="•"/>
              </a:pPr>
              <a:endParaRPr lang="en-US" sz="18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800100">
                <a:lnSpc>
                  <a:spcPct val="90000"/>
                </a:lnSpc>
                <a:spcBef>
                  <a:spcPct val="0"/>
                </a:spcBef>
                <a:spcAft>
                  <a:spcPct val="15000"/>
                </a:spcAft>
                <a:buChar char="•"/>
              </a:pPr>
              <a:r>
                <a:rPr lang="en-US" sz="1800" kern="1200" dirty="0">
                  <a:latin typeface="Lato" panose="020F0502020204030203" pitchFamily="34" charset="0"/>
                  <a:ea typeface="Lato" panose="020F0502020204030203" pitchFamily="34" charset="0"/>
                  <a:cs typeface="Lato" panose="020F0502020204030203" pitchFamily="34" charset="0"/>
                </a:rPr>
                <a:t>Customer provide the Sign off for the project completion</a:t>
              </a:r>
              <a:br>
                <a:rPr lang="en-US" sz="1800" kern="1200" dirty="0">
                  <a:latin typeface="Lato" panose="020F0502020204030203" pitchFamily="34" charset="0"/>
                  <a:ea typeface="Lato" panose="020F0502020204030203" pitchFamily="34" charset="0"/>
                  <a:cs typeface="Lato" panose="020F0502020204030203" pitchFamily="34" charset="0"/>
                </a:rPr>
              </a:br>
              <a:endParaRPr lang="en-US" sz="18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800100">
                <a:lnSpc>
                  <a:spcPct val="90000"/>
                </a:lnSpc>
                <a:spcBef>
                  <a:spcPct val="0"/>
                </a:spcBef>
                <a:spcAft>
                  <a:spcPct val="15000"/>
                </a:spcAft>
                <a:buChar char="•"/>
              </a:pPr>
              <a:r>
                <a:rPr lang="en-US" sz="1800" kern="1200" dirty="0">
                  <a:latin typeface="Lato" panose="020F0502020204030203" pitchFamily="34" charset="0"/>
                  <a:ea typeface="Lato" panose="020F0502020204030203" pitchFamily="34" charset="0"/>
                  <a:cs typeface="Lato" panose="020F0502020204030203" pitchFamily="34" charset="0"/>
                </a:rPr>
                <a:t>Customer complete the survey about the overall engagement.</a:t>
              </a:r>
              <a:endParaRPr lang="en-IN" sz="1800" kern="1200" dirty="0">
                <a:latin typeface="Lato" panose="020F0502020204030203" pitchFamily="34" charset="0"/>
                <a:ea typeface="Lato" panose="020F0502020204030203" pitchFamily="34" charset="0"/>
                <a:cs typeface="Lato" panose="020F0502020204030203" pitchFamily="34" charset="0"/>
              </a:endParaRPr>
            </a:p>
          </p:txBody>
        </p:sp>
        <p:sp>
          <p:nvSpPr>
            <p:cNvPr id="27" name="Google Shape;208;p56">
              <a:extLst>
                <a:ext uri="{FF2B5EF4-FFF2-40B4-BE49-F238E27FC236}">
                  <a16:creationId xmlns:a16="http://schemas.microsoft.com/office/drawing/2014/main" id="{07EC9688-FCD0-E2E0-7A2E-772124B9C2FD}"/>
                </a:ext>
              </a:extLst>
            </p:cNvPr>
            <p:cNvSpPr/>
            <p:nvPr/>
          </p:nvSpPr>
          <p:spPr>
            <a:xfrm>
              <a:off x="3017513" y="6561368"/>
              <a:ext cx="3144253" cy="1411558"/>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29" name="Google Shape;209;p56">
              <a:extLst>
                <a:ext uri="{FF2B5EF4-FFF2-40B4-BE49-F238E27FC236}">
                  <a16:creationId xmlns:a16="http://schemas.microsoft.com/office/drawing/2014/main" id="{54046796-18AD-5F8C-A22E-39401C499063}"/>
                </a:ext>
              </a:extLst>
            </p:cNvPr>
            <p:cNvSpPr/>
            <p:nvPr/>
          </p:nvSpPr>
          <p:spPr>
            <a:xfrm>
              <a:off x="3301896" y="6513170"/>
              <a:ext cx="1208743" cy="112984"/>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42" name="Google Shape;211;p56">
              <a:extLst>
                <a:ext uri="{FF2B5EF4-FFF2-40B4-BE49-F238E27FC236}">
                  <a16:creationId xmlns:a16="http://schemas.microsoft.com/office/drawing/2014/main" id="{718FCEED-BA61-B0CA-DCC8-F129B3644940}"/>
                </a:ext>
              </a:extLst>
            </p:cNvPr>
            <p:cNvSpPr txBox="1"/>
            <p:nvPr/>
          </p:nvSpPr>
          <p:spPr>
            <a:xfrm>
              <a:off x="3157518" y="6869768"/>
              <a:ext cx="2859870" cy="861714"/>
            </a:xfrm>
            <a:prstGeom prst="rect">
              <a:avLst/>
            </a:prstGeom>
            <a:noFill/>
            <a:ln>
              <a:noFill/>
            </a:ln>
          </p:spPr>
          <p:txBody>
            <a:bodyPr spcFirstLastPara="1" wrap="square" lIns="182850" tIns="182850" rIns="182850" bIns="182850" anchor="t" anchorCtr="0">
              <a:spAutoFit/>
            </a:bodyPr>
            <a:lstStyle/>
            <a:p>
              <a:pPr algn="ctr"/>
              <a:r>
                <a:rPr lang="en" sz="3000" b="1" dirty="0">
                  <a:solidFill>
                    <a:srgbClr val="00953A"/>
                  </a:solidFill>
                  <a:latin typeface="Roboto Condensed"/>
                  <a:ea typeface="Roboto Condensed"/>
                  <a:cs typeface="Roboto Condensed"/>
                  <a:sym typeface="Roboto Condensed"/>
                </a:rPr>
                <a:t>Nomination</a:t>
              </a:r>
              <a:endParaRPr sz="3000" b="1" dirty="0">
                <a:solidFill>
                  <a:srgbClr val="00953A"/>
                </a:solidFill>
                <a:latin typeface="Roboto Condensed"/>
                <a:ea typeface="Roboto Condensed"/>
                <a:cs typeface="Roboto Condensed"/>
                <a:sym typeface="Roboto Condensed"/>
              </a:endParaRPr>
            </a:p>
          </p:txBody>
        </p:sp>
        <p:grpSp>
          <p:nvGrpSpPr>
            <p:cNvPr id="60" name="Group 59">
              <a:extLst>
                <a:ext uri="{FF2B5EF4-FFF2-40B4-BE49-F238E27FC236}">
                  <a16:creationId xmlns:a16="http://schemas.microsoft.com/office/drawing/2014/main" id="{D1217790-3199-16C7-D946-9D9BA5ABBDDB}"/>
                </a:ext>
              </a:extLst>
            </p:cNvPr>
            <p:cNvGrpSpPr/>
            <p:nvPr/>
          </p:nvGrpSpPr>
          <p:grpSpPr>
            <a:xfrm>
              <a:off x="8431336" y="2742418"/>
              <a:ext cx="3144253" cy="1459756"/>
              <a:chOff x="5831304" y="1917108"/>
              <a:chExt cx="3144253" cy="1459756"/>
            </a:xfrm>
            <a:effectLst>
              <a:outerShdw blurRad="50800" dist="38100" dir="10800000" algn="r" rotWithShape="0">
                <a:prstClr val="black">
                  <a:alpha val="40000"/>
                </a:prstClr>
              </a:outerShdw>
            </a:effectLst>
          </p:grpSpPr>
          <p:sp>
            <p:nvSpPr>
              <p:cNvPr id="52" name="Google Shape;208;p56">
                <a:extLst>
                  <a:ext uri="{FF2B5EF4-FFF2-40B4-BE49-F238E27FC236}">
                    <a16:creationId xmlns:a16="http://schemas.microsoft.com/office/drawing/2014/main" id="{4C5D3B08-933F-1144-CA75-6FE7DE3EB09C}"/>
                  </a:ext>
                </a:extLst>
              </p:cNvPr>
              <p:cNvSpPr/>
              <p:nvPr/>
            </p:nvSpPr>
            <p:spPr>
              <a:xfrm>
                <a:off x="5831304" y="1965306"/>
                <a:ext cx="3144253" cy="1411558"/>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53" name="Google Shape;209;p56">
                <a:extLst>
                  <a:ext uri="{FF2B5EF4-FFF2-40B4-BE49-F238E27FC236}">
                    <a16:creationId xmlns:a16="http://schemas.microsoft.com/office/drawing/2014/main" id="{6A19254A-F2C5-2999-BFF6-B8153190F69D}"/>
                  </a:ext>
                </a:extLst>
              </p:cNvPr>
              <p:cNvSpPr/>
              <p:nvPr/>
            </p:nvSpPr>
            <p:spPr>
              <a:xfrm>
                <a:off x="6115687" y="1917108"/>
                <a:ext cx="1208743" cy="112984"/>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55" name="Google Shape;211;p56">
                <a:extLst>
                  <a:ext uri="{FF2B5EF4-FFF2-40B4-BE49-F238E27FC236}">
                    <a16:creationId xmlns:a16="http://schemas.microsoft.com/office/drawing/2014/main" id="{7B9063CB-72C1-02EE-AE0E-AE914E8003EB}"/>
                  </a:ext>
                </a:extLst>
              </p:cNvPr>
              <p:cNvSpPr txBox="1"/>
              <p:nvPr/>
            </p:nvSpPr>
            <p:spPr>
              <a:xfrm>
                <a:off x="5971309" y="2081202"/>
                <a:ext cx="2859870" cy="1231046"/>
              </a:xfrm>
              <a:prstGeom prst="rect">
                <a:avLst/>
              </a:prstGeom>
              <a:noFill/>
              <a:ln>
                <a:noFill/>
              </a:ln>
            </p:spPr>
            <p:txBody>
              <a:bodyPr spcFirstLastPara="1" wrap="square" lIns="182850" tIns="182850" rIns="182850" bIns="182850" anchor="t" anchorCtr="0">
                <a:spAutoFit/>
              </a:bodyPr>
              <a:lstStyle/>
              <a:p>
                <a:pPr algn="ctr"/>
                <a:r>
                  <a:rPr lang="en" sz="2800" b="1" dirty="0">
                    <a:solidFill>
                      <a:srgbClr val="00953A"/>
                    </a:solidFill>
                    <a:latin typeface="Roboto Condensed"/>
                    <a:ea typeface="Roboto Condensed"/>
                    <a:cs typeface="Roboto Condensed"/>
                    <a:sym typeface="Roboto Condensed"/>
                  </a:rPr>
                  <a:t>Assessment</a:t>
                </a:r>
                <a:br>
                  <a:rPr lang="en" sz="2800" b="1" dirty="0">
                    <a:solidFill>
                      <a:srgbClr val="00953A"/>
                    </a:solidFill>
                    <a:latin typeface="Roboto Condensed"/>
                    <a:ea typeface="Roboto Condensed"/>
                    <a:cs typeface="Roboto Condensed"/>
                    <a:sym typeface="Roboto Condensed"/>
                  </a:rPr>
                </a:br>
                <a:r>
                  <a:rPr lang="en" sz="2800" b="1" dirty="0">
                    <a:solidFill>
                      <a:srgbClr val="00953A"/>
                    </a:solidFill>
                    <a:latin typeface="Roboto Condensed"/>
                    <a:ea typeface="Roboto Condensed"/>
                    <a:cs typeface="Roboto Condensed"/>
                    <a:sym typeface="Roboto Condensed"/>
                  </a:rPr>
                  <a:t>Migration</a:t>
                </a:r>
                <a:endParaRPr sz="2800" b="1" dirty="0">
                  <a:solidFill>
                    <a:srgbClr val="00953A"/>
                  </a:solidFill>
                  <a:latin typeface="Roboto Condensed"/>
                  <a:ea typeface="Roboto Condensed"/>
                  <a:cs typeface="Roboto Condensed"/>
                  <a:sym typeface="Roboto Condensed"/>
                </a:endParaRPr>
              </a:p>
            </p:txBody>
          </p:sp>
        </p:grpSp>
        <p:grpSp>
          <p:nvGrpSpPr>
            <p:cNvPr id="77" name="Group 76">
              <a:extLst>
                <a:ext uri="{FF2B5EF4-FFF2-40B4-BE49-F238E27FC236}">
                  <a16:creationId xmlns:a16="http://schemas.microsoft.com/office/drawing/2014/main" id="{B96830EE-1A85-E437-3EF6-62582CC61D21}"/>
                </a:ext>
              </a:extLst>
            </p:cNvPr>
            <p:cNvGrpSpPr/>
            <p:nvPr/>
          </p:nvGrpSpPr>
          <p:grpSpPr>
            <a:xfrm>
              <a:off x="13896706" y="6975319"/>
              <a:ext cx="3144253" cy="1190112"/>
              <a:chOff x="13800454" y="6895109"/>
              <a:chExt cx="3144253" cy="1190112"/>
            </a:xfrm>
            <a:effectLst>
              <a:outerShdw blurRad="50800" dist="38100" dir="10800000" algn="r" rotWithShape="0">
                <a:prstClr val="black">
                  <a:alpha val="40000"/>
                </a:prstClr>
              </a:outerShdw>
            </a:effectLst>
          </p:grpSpPr>
          <p:sp>
            <p:nvSpPr>
              <p:cNvPr id="56" name="Google Shape;208;p56">
                <a:extLst>
                  <a:ext uri="{FF2B5EF4-FFF2-40B4-BE49-F238E27FC236}">
                    <a16:creationId xmlns:a16="http://schemas.microsoft.com/office/drawing/2014/main" id="{BD43E0ED-F680-1E6E-8EB7-8795CD59A669}"/>
                  </a:ext>
                </a:extLst>
              </p:cNvPr>
              <p:cNvSpPr/>
              <p:nvPr/>
            </p:nvSpPr>
            <p:spPr>
              <a:xfrm>
                <a:off x="13800454" y="6943307"/>
                <a:ext cx="3144253" cy="1141914"/>
              </a:xfrm>
              <a:prstGeom prst="roundRect">
                <a:avLst>
                  <a:gd name="adj" fmla="val 5808"/>
                </a:avLst>
              </a:prstGeom>
              <a:solidFill>
                <a:srgbClr val="FFFFFF"/>
              </a:solidFill>
              <a:ln>
                <a:noFill/>
              </a:ln>
              <a:effectLst>
                <a:outerShdw blurRad="266700" dist="50800" dir="5400000" algn="ctr" rotWithShape="0">
                  <a:srgbClr val="000000">
                    <a:alpha val="9800"/>
                  </a:srgbClr>
                </a:outerShdw>
              </a:effectLst>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57" name="Google Shape;209;p56">
                <a:extLst>
                  <a:ext uri="{FF2B5EF4-FFF2-40B4-BE49-F238E27FC236}">
                    <a16:creationId xmlns:a16="http://schemas.microsoft.com/office/drawing/2014/main" id="{FB360927-214C-3468-4F29-352B2F6687CB}"/>
                  </a:ext>
                </a:extLst>
              </p:cNvPr>
              <p:cNvSpPr/>
              <p:nvPr/>
            </p:nvSpPr>
            <p:spPr>
              <a:xfrm>
                <a:off x="14084837" y="6895109"/>
                <a:ext cx="1208743" cy="112984"/>
              </a:xfrm>
              <a:prstGeom prst="roundRect">
                <a:avLst>
                  <a:gd name="adj" fmla="val 50000"/>
                </a:avLst>
              </a:prstGeom>
              <a:gradFill>
                <a:gsLst>
                  <a:gs pos="0">
                    <a:srgbClr val="016938"/>
                  </a:gs>
                  <a:gs pos="100000">
                    <a:srgbClr val="6CBF4A"/>
                  </a:gs>
                </a:gsLst>
                <a:lin ang="2700006" scaled="0"/>
              </a:gradFill>
              <a:ln>
                <a:noFill/>
              </a:ln>
            </p:spPr>
            <p:txBody>
              <a:bodyPr spcFirstLastPara="1" wrap="square" lIns="182850" tIns="91400" rIns="182850" bIns="91400" anchor="ctr" anchorCtr="0">
                <a:noAutofit/>
              </a:bodyPr>
              <a:lstStyle/>
              <a:p>
                <a:pPr algn="ctr"/>
                <a:endParaRPr sz="3600">
                  <a:solidFill>
                    <a:srgbClr val="FFFFFF"/>
                  </a:solidFill>
                  <a:latin typeface="Open Sans"/>
                  <a:ea typeface="Open Sans"/>
                  <a:cs typeface="Open Sans"/>
                  <a:sym typeface="Open Sans"/>
                </a:endParaRPr>
              </a:p>
            </p:txBody>
          </p:sp>
          <p:sp>
            <p:nvSpPr>
              <p:cNvPr id="58" name="Google Shape;211;p56">
                <a:extLst>
                  <a:ext uri="{FF2B5EF4-FFF2-40B4-BE49-F238E27FC236}">
                    <a16:creationId xmlns:a16="http://schemas.microsoft.com/office/drawing/2014/main" id="{E659ED9D-DC8A-98C5-008F-0CA5E43A07EB}"/>
                  </a:ext>
                </a:extLst>
              </p:cNvPr>
              <p:cNvSpPr txBox="1"/>
              <p:nvPr/>
            </p:nvSpPr>
            <p:spPr>
              <a:xfrm>
                <a:off x="13942645" y="7081201"/>
                <a:ext cx="2859870" cy="830936"/>
              </a:xfrm>
              <a:prstGeom prst="rect">
                <a:avLst/>
              </a:prstGeom>
              <a:noFill/>
              <a:ln>
                <a:noFill/>
              </a:ln>
            </p:spPr>
            <p:txBody>
              <a:bodyPr spcFirstLastPara="1" wrap="square" lIns="182850" tIns="182850" rIns="182850" bIns="182850" anchor="t" anchorCtr="0">
                <a:spAutoFit/>
              </a:bodyPr>
              <a:lstStyle/>
              <a:p>
                <a:pPr algn="ctr"/>
                <a:r>
                  <a:rPr lang="en" sz="3000" b="1" dirty="0">
                    <a:solidFill>
                      <a:srgbClr val="00953A"/>
                    </a:solidFill>
                    <a:latin typeface="Roboto Condensed"/>
                    <a:ea typeface="Roboto Condensed"/>
                    <a:cs typeface="Roboto Condensed"/>
                    <a:sym typeface="Roboto Condensed"/>
                  </a:rPr>
                  <a:t>Sign Off</a:t>
                </a:r>
                <a:endParaRPr sz="3000" b="1" dirty="0">
                  <a:solidFill>
                    <a:srgbClr val="00953A"/>
                  </a:solidFill>
                  <a:latin typeface="Roboto Condensed"/>
                  <a:ea typeface="Roboto Condensed"/>
                  <a:cs typeface="Roboto Condensed"/>
                  <a:sym typeface="Roboto Condensed"/>
                </a:endParaRPr>
              </a:p>
            </p:txBody>
          </p:sp>
        </p:grpSp>
      </p:grpSp>
      <p:sp>
        <p:nvSpPr>
          <p:cNvPr id="3" name="Rectangle: Rounded Corners 2">
            <a:extLst>
              <a:ext uri="{FF2B5EF4-FFF2-40B4-BE49-F238E27FC236}">
                <a16:creationId xmlns:a16="http://schemas.microsoft.com/office/drawing/2014/main" id="{A6041549-4F4D-0FEB-0D8C-6AD21A3F2CAA}"/>
              </a:ext>
            </a:extLst>
          </p:cNvPr>
          <p:cNvSpPr/>
          <p:nvPr/>
        </p:nvSpPr>
        <p:spPr>
          <a:xfrm>
            <a:off x="804406" y="2742418"/>
            <a:ext cx="5718913" cy="1066702"/>
          </a:xfrm>
          <a:prstGeom prst="roundRect">
            <a:avLst/>
          </a:prstGeom>
          <a:solidFill>
            <a:schemeClr val="bg1">
              <a:lumMod val="95000"/>
            </a:schemeClr>
          </a:solidFill>
          <a:ln>
            <a:solidFill>
              <a:srgbClr val="FF0000"/>
            </a:solidFill>
          </a:ln>
        </p:spPr>
        <p:style>
          <a:lnRef idx="1">
            <a:schemeClr val="dk1"/>
          </a:lnRef>
          <a:fillRef idx="2">
            <a:schemeClr val="dk1"/>
          </a:fillRef>
          <a:effectRef idx="1">
            <a:schemeClr val="dk1"/>
          </a:effectRef>
          <a:fontRef idx="minor">
            <a:schemeClr val="dk1"/>
          </a:fontRef>
        </p:style>
        <p:txBody>
          <a:bodyPr rtlCol="0" anchor="ctr"/>
          <a:lstStyle/>
          <a:p>
            <a:pPr algn="ctr"/>
            <a:br>
              <a:rPr lang="en-US" dirty="0">
                <a:latin typeface="Lato" panose="020F0502020204030203" pitchFamily="34" charset="0"/>
                <a:ea typeface="Lato" panose="020F0502020204030203" pitchFamily="34" charset="0"/>
                <a:cs typeface="Lato" panose="020F0502020204030203" pitchFamily="34" charset="0"/>
              </a:rPr>
            </a:br>
            <a:r>
              <a:rPr lang="en-US" dirty="0">
                <a:latin typeface="Lato" panose="020F0502020204030203" pitchFamily="34" charset="0"/>
                <a:ea typeface="Lato" panose="020F0502020204030203" pitchFamily="34" charset="0"/>
                <a:cs typeface="Lato" panose="020F0502020204030203" pitchFamily="34" charset="0"/>
              </a:rPr>
              <a:t>End Customer should acknowledge the AMM engagement, received in their </a:t>
            </a:r>
            <a:r>
              <a:rPr lang="en-US" b="1" dirty="0">
                <a:latin typeface="Lato" panose="020F0502020204030203" pitchFamily="34" charset="0"/>
                <a:ea typeface="Lato" panose="020F0502020204030203" pitchFamily="34" charset="0"/>
                <a:cs typeface="Lato" panose="020F0502020204030203" pitchFamily="34" charset="0"/>
              </a:rPr>
              <a:t>Email ID</a:t>
            </a:r>
            <a:r>
              <a:rPr lang="en-US" dirty="0">
                <a:latin typeface="Lato" panose="020F0502020204030203" pitchFamily="34" charset="0"/>
                <a:ea typeface="Lato" panose="020F0502020204030203" pitchFamily="34" charset="0"/>
                <a:cs typeface="Lato" panose="020F0502020204030203" pitchFamily="34" charset="0"/>
              </a:rPr>
              <a:t> by </a:t>
            </a:r>
          </a:p>
          <a:p>
            <a:pPr algn="ctr"/>
            <a:r>
              <a:rPr lang="en-US" dirty="0">
                <a:latin typeface="Lato" panose="020F0502020204030203" pitchFamily="34" charset="0"/>
                <a:ea typeface="Lato" panose="020F0502020204030203" pitchFamily="34" charset="0"/>
                <a:cs typeface="Lato" panose="020F0502020204030203" pitchFamily="34" charset="0"/>
                <a:hlinkClick r:id="rId4"/>
              </a:rPr>
              <a:t>microsoft-noreply@microsoft.com</a:t>
            </a:r>
            <a:endParaRPr lang="en-US" dirty="0">
              <a:latin typeface="Lato" panose="020F0502020204030203" pitchFamily="34" charset="0"/>
              <a:ea typeface="Lato" panose="020F0502020204030203" pitchFamily="34" charset="0"/>
              <a:cs typeface="Lato" panose="020F0502020204030203" pitchFamily="34" charset="0"/>
            </a:endParaRPr>
          </a:p>
          <a:p>
            <a:pPr algn="ctr"/>
            <a:endParaRPr lang="en-US"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029248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ADD1BB7-6A04-16A5-E5D2-CAB5BF107FC0}"/>
              </a:ext>
              <a:ext uri="{C183D7F6-B498-43B3-948B-1728B52AA6E4}">
                <adec:decorative xmlns:adec="http://schemas.microsoft.com/office/drawing/2017/decorative" val="1"/>
              </a:ext>
            </a:extLst>
          </p:cNvPr>
          <p:cNvSpPr/>
          <p:nvPr/>
        </p:nvSpPr>
        <p:spPr>
          <a:xfrm>
            <a:off x="882395" y="2956668"/>
            <a:ext cx="4081506" cy="3691215"/>
          </a:xfrm>
          <a:prstGeom prst="roundRect">
            <a:avLst>
              <a:gd name="adj" fmla="val 4121"/>
            </a:avLst>
          </a:prstGeom>
          <a:solidFill>
            <a:schemeClr val="bg1">
              <a:lumMod val="85000"/>
              <a:lumOff val="15000"/>
            </a:schemeClr>
          </a:solidFill>
          <a:ln w="12700" cap="flat" cmpd="sng" algn="ctr">
            <a:noFill/>
            <a:prstDash val="solid"/>
            <a:headEnd type="none" w="med" len="med"/>
            <a:tailEnd type="none" w="med" len="med"/>
          </a:ln>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algn="ctr" defTabSz="1371600">
              <a:defRPr/>
            </a:pPr>
            <a:endParaRPr lang="en-US">
              <a:solidFill>
                <a:srgbClr val="50E6FF"/>
              </a:solidFill>
              <a:latin typeface="Segoe UI Semibold"/>
            </a:endParaRPr>
          </a:p>
        </p:txBody>
      </p:sp>
      <p:sp>
        <p:nvSpPr>
          <p:cNvPr id="10" name="Rectangle: Rounded Corners 1">
            <a:extLst>
              <a:ext uri="{FF2B5EF4-FFF2-40B4-BE49-F238E27FC236}">
                <a16:creationId xmlns:a16="http://schemas.microsoft.com/office/drawing/2014/main" id="{CFB304FD-B99C-2330-2E31-1BA507539141}"/>
              </a:ext>
              <a:ext uri="{C183D7F6-B498-43B3-948B-1728B52AA6E4}">
                <adec:decorative xmlns:adec="http://schemas.microsoft.com/office/drawing/2017/decorative" val="1"/>
              </a:ext>
            </a:extLst>
          </p:cNvPr>
          <p:cNvSpPr/>
          <p:nvPr/>
        </p:nvSpPr>
        <p:spPr>
          <a:xfrm>
            <a:off x="5057060" y="2956668"/>
            <a:ext cx="4081506" cy="3691215"/>
          </a:xfrm>
          <a:prstGeom prst="roundRect">
            <a:avLst>
              <a:gd name="adj" fmla="val 4121"/>
            </a:avLst>
          </a:prstGeom>
          <a:solidFill>
            <a:schemeClr val="bg1">
              <a:lumMod val="85000"/>
              <a:lumOff val="15000"/>
            </a:schemeClr>
          </a:solidFill>
          <a:ln w="12700" cap="flat" cmpd="sng" algn="ctr">
            <a:noFill/>
            <a:prstDash val="solid"/>
            <a:headEnd type="none" w="med" len="med"/>
            <a:tailEnd type="none" w="med" len="med"/>
          </a:ln>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algn="ctr" defTabSz="1371600">
              <a:defRPr/>
            </a:pPr>
            <a:endParaRPr lang="en-US">
              <a:solidFill>
                <a:srgbClr val="50E6FF"/>
              </a:solidFill>
              <a:latin typeface="Segoe UI Semibold"/>
            </a:endParaRPr>
          </a:p>
        </p:txBody>
      </p:sp>
      <p:sp>
        <p:nvSpPr>
          <p:cNvPr id="11" name="Rectangle: Rounded Corners 1">
            <a:extLst>
              <a:ext uri="{FF2B5EF4-FFF2-40B4-BE49-F238E27FC236}">
                <a16:creationId xmlns:a16="http://schemas.microsoft.com/office/drawing/2014/main" id="{CCBA3976-3C69-A897-91D3-8403B9CC948C}"/>
              </a:ext>
              <a:ext uri="{C183D7F6-B498-43B3-948B-1728B52AA6E4}">
                <adec:decorative xmlns:adec="http://schemas.microsoft.com/office/drawing/2017/decorative" val="1"/>
              </a:ext>
            </a:extLst>
          </p:cNvPr>
          <p:cNvSpPr/>
          <p:nvPr/>
        </p:nvSpPr>
        <p:spPr>
          <a:xfrm>
            <a:off x="9231725" y="2956668"/>
            <a:ext cx="4081506" cy="3691215"/>
          </a:xfrm>
          <a:prstGeom prst="roundRect">
            <a:avLst>
              <a:gd name="adj" fmla="val 4121"/>
            </a:avLst>
          </a:prstGeom>
          <a:solidFill>
            <a:schemeClr val="bg1">
              <a:lumMod val="85000"/>
              <a:lumOff val="15000"/>
            </a:schemeClr>
          </a:solidFill>
          <a:ln w="12700" cap="flat" cmpd="sng" algn="ctr">
            <a:noFill/>
            <a:prstDash val="solid"/>
            <a:headEnd type="none" w="med" len="med"/>
            <a:tailEnd type="none" w="med" len="med"/>
          </a:ln>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algn="ctr" defTabSz="1371600">
              <a:defRPr/>
            </a:pPr>
            <a:endParaRPr lang="en-US">
              <a:solidFill>
                <a:srgbClr val="50E6FF"/>
              </a:solidFill>
              <a:latin typeface="Segoe UI Semibold"/>
            </a:endParaRPr>
          </a:p>
        </p:txBody>
      </p:sp>
      <p:sp>
        <p:nvSpPr>
          <p:cNvPr id="12" name="Rectangle: Rounded Corners 1">
            <a:extLst>
              <a:ext uri="{FF2B5EF4-FFF2-40B4-BE49-F238E27FC236}">
                <a16:creationId xmlns:a16="http://schemas.microsoft.com/office/drawing/2014/main" id="{E684B94E-E6DE-43CB-C44F-EDC0D60A3D4E}"/>
              </a:ext>
              <a:ext uri="{C183D7F6-B498-43B3-948B-1728B52AA6E4}">
                <adec:decorative xmlns:adec="http://schemas.microsoft.com/office/drawing/2017/decorative" val="1"/>
              </a:ext>
            </a:extLst>
          </p:cNvPr>
          <p:cNvSpPr/>
          <p:nvPr/>
        </p:nvSpPr>
        <p:spPr>
          <a:xfrm>
            <a:off x="13406394" y="2956668"/>
            <a:ext cx="4081506" cy="3691215"/>
          </a:xfrm>
          <a:prstGeom prst="roundRect">
            <a:avLst>
              <a:gd name="adj" fmla="val 4121"/>
            </a:avLst>
          </a:prstGeom>
          <a:solidFill>
            <a:schemeClr val="bg1">
              <a:lumMod val="85000"/>
              <a:lumOff val="15000"/>
            </a:schemeClr>
          </a:solidFill>
          <a:ln w="12700" cap="flat" cmpd="sng" algn="ctr">
            <a:noFill/>
            <a:prstDash val="solid"/>
            <a:headEnd type="none" w="med" len="med"/>
            <a:tailEnd type="none" w="med" len="med"/>
          </a:ln>
          <a:effectLst/>
        </p:spPr>
        <p:txBody>
          <a:bodyPr rot="0" spcFirstLastPara="0" vertOverflow="overflow" horzOverflow="overflow" vert="horz" wrap="square" lIns="108000" tIns="219456" rIns="108000" bIns="216000" numCol="1" spcCol="0" rtlCol="0" fromWordArt="0" anchor="ctr" anchorCtr="0" forceAA="0" compatLnSpc="1">
            <a:prstTxWarp prst="textNoShape">
              <a:avLst/>
            </a:prstTxWarp>
            <a:noAutofit/>
          </a:bodyPr>
          <a:lstStyle/>
          <a:p>
            <a:pPr algn="ctr" defTabSz="1371600">
              <a:defRPr/>
            </a:pPr>
            <a:endParaRPr lang="en-US">
              <a:solidFill>
                <a:srgbClr val="50E6FF"/>
              </a:solidFill>
              <a:latin typeface="Segoe UI Semibold"/>
            </a:endParaRPr>
          </a:p>
        </p:txBody>
      </p:sp>
      <p:sp>
        <p:nvSpPr>
          <p:cNvPr id="5" name="Title 4">
            <a:extLst>
              <a:ext uri="{FF2B5EF4-FFF2-40B4-BE49-F238E27FC236}">
                <a16:creationId xmlns:a16="http://schemas.microsoft.com/office/drawing/2014/main" id="{F06C2F36-7372-61BB-1086-A211C0D81659}"/>
              </a:ext>
            </a:extLst>
          </p:cNvPr>
          <p:cNvSpPr>
            <a:spLocks noGrp="1"/>
          </p:cNvSpPr>
          <p:nvPr>
            <p:ph type="title"/>
          </p:nvPr>
        </p:nvSpPr>
        <p:spPr/>
        <p:txBody>
          <a:bodyPr/>
          <a:lstStyle/>
          <a:p>
            <a:r>
              <a:rPr lang="en-US"/>
              <a:t>Next steps</a:t>
            </a:r>
          </a:p>
        </p:txBody>
      </p:sp>
      <p:sp>
        <p:nvSpPr>
          <p:cNvPr id="27" name="TextBox 26">
            <a:extLst>
              <a:ext uri="{FF2B5EF4-FFF2-40B4-BE49-F238E27FC236}">
                <a16:creationId xmlns:a16="http://schemas.microsoft.com/office/drawing/2014/main" id="{EC52DABE-3BE5-9AA4-1AFF-90DA0C040E8B}"/>
              </a:ext>
            </a:extLst>
          </p:cNvPr>
          <p:cNvSpPr txBox="1"/>
          <p:nvPr/>
        </p:nvSpPr>
        <p:spPr>
          <a:xfrm>
            <a:off x="1332803" y="3547132"/>
            <a:ext cx="3180690" cy="2054409"/>
          </a:xfrm>
          <a:prstGeom prst="rect">
            <a:avLst/>
          </a:prstGeom>
          <a:noFill/>
        </p:spPr>
        <p:txBody>
          <a:bodyPr wrap="square" lIns="0" tIns="0" rIns="0" bIns="0" rtlCol="0" anchor="t">
            <a:spAutoFit/>
          </a:bodyPr>
          <a:lstStyle/>
          <a:p>
            <a:pPr algn="ctr" defTabSz="1371600">
              <a:spcAft>
                <a:spcPts val="900"/>
              </a:spcAft>
              <a:defRPr/>
            </a:pPr>
            <a:r>
              <a:rPr lang="en-US" sz="2700" dirty="0">
                <a:solidFill>
                  <a:srgbClr val="50E6FF"/>
                </a:solidFill>
                <a:latin typeface="Segoe UI Semibold"/>
              </a:rPr>
              <a:t>Strategy</a:t>
            </a:r>
            <a:br>
              <a:rPr lang="en-US" sz="2700" dirty="0">
                <a:latin typeface="Segoe UI Semibold"/>
              </a:rPr>
            </a:br>
            <a:r>
              <a:rPr lang="en-US" sz="2700" b="1" dirty="0">
                <a:solidFill>
                  <a:srgbClr val="50E6FF"/>
                </a:solidFill>
                <a:latin typeface="Segoe UI Semibold"/>
              </a:rPr>
              <a:t>workshop</a:t>
            </a:r>
          </a:p>
          <a:p>
            <a:pPr algn="ctr">
              <a:defRPr/>
            </a:pPr>
            <a:r>
              <a:rPr lang="en-US" dirty="0">
                <a:solidFill>
                  <a:srgbClr val="FFFFFF"/>
                </a:solidFill>
                <a:latin typeface="Segoe UI"/>
              </a:rPr>
              <a:t>Let’s define a strategy and desired outcomes using </a:t>
            </a:r>
            <a:r>
              <a:rPr lang="en-US" dirty="0">
                <a:solidFill>
                  <a:srgbClr val="FFFFFF"/>
                </a:solidFill>
                <a:latin typeface="Segoe UI"/>
                <a:hlinkClick r:id="rId3"/>
              </a:rPr>
              <a:t>Microsoft Cloud Adoption Framework</a:t>
            </a:r>
            <a:endParaRPr lang="en-US" dirty="0">
              <a:solidFill>
                <a:srgbClr val="FFFFFF"/>
              </a:solidFill>
              <a:latin typeface="Segoe UI"/>
              <a:cs typeface="Segoe UI"/>
              <a:hlinkClick r:id="rId3"/>
            </a:endParaRPr>
          </a:p>
        </p:txBody>
      </p:sp>
      <p:sp>
        <p:nvSpPr>
          <p:cNvPr id="55" name="TextBox 54">
            <a:extLst>
              <a:ext uri="{FF2B5EF4-FFF2-40B4-BE49-F238E27FC236}">
                <a16:creationId xmlns:a16="http://schemas.microsoft.com/office/drawing/2014/main" id="{BA0301BD-AF22-EA13-807C-07F353C4E890}"/>
              </a:ext>
            </a:extLst>
          </p:cNvPr>
          <p:cNvSpPr txBox="1"/>
          <p:nvPr/>
        </p:nvSpPr>
        <p:spPr>
          <a:xfrm>
            <a:off x="5555175" y="3547131"/>
            <a:ext cx="3085275" cy="1777410"/>
          </a:xfrm>
          <a:prstGeom prst="rect">
            <a:avLst/>
          </a:prstGeom>
          <a:noFill/>
        </p:spPr>
        <p:txBody>
          <a:bodyPr wrap="square" lIns="0" tIns="0" rIns="0" bIns="0" rtlCol="0" anchor="t">
            <a:spAutoFit/>
          </a:bodyPr>
          <a:lstStyle/>
          <a:p>
            <a:pPr algn="ctr" defTabSz="1371600">
              <a:spcAft>
                <a:spcPts val="900"/>
              </a:spcAft>
              <a:defRPr/>
            </a:pPr>
            <a:r>
              <a:rPr lang="en-US" sz="2700" dirty="0">
                <a:solidFill>
                  <a:srgbClr val="50E6FF"/>
                </a:solidFill>
                <a:latin typeface="Segoe UI Semibold"/>
              </a:rPr>
              <a:t>Azure Migrate assessment</a:t>
            </a:r>
          </a:p>
          <a:p>
            <a:pPr algn="ctr" defTabSz="1371600">
              <a:defRPr/>
            </a:pPr>
            <a:r>
              <a:rPr lang="en-US" dirty="0">
                <a:solidFill>
                  <a:srgbClr val="FFFFFF"/>
                </a:solidFill>
                <a:latin typeface="Segoe UI"/>
                <a:hlinkClick r:id="rId4"/>
              </a:rPr>
              <a:t>Assess workloads</a:t>
            </a:r>
            <a:r>
              <a:rPr lang="en-US">
                <a:solidFill>
                  <a:srgbClr val="FFFFFF"/>
                </a:solidFill>
                <a:latin typeface="Segoe UI"/>
              </a:rPr>
              <a:t> &amp; how they can securely move to the cloud with Azure Migrate</a:t>
            </a:r>
          </a:p>
        </p:txBody>
      </p:sp>
      <p:sp>
        <p:nvSpPr>
          <p:cNvPr id="66" name="TextBox 65">
            <a:extLst>
              <a:ext uri="{FF2B5EF4-FFF2-40B4-BE49-F238E27FC236}">
                <a16:creationId xmlns:a16="http://schemas.microsoft.com/office/drawing/2014/main" id="{5AFB47F0-6629-FBF8-EFA3-A618F4EDB02C}"/>
              </a:ext>
            </a:extLst>
          </p:cNvPr>
          <p:cNvSpPr txBox="1"/>
          <p:nvPr/>
        </p:nvSpPr>
        <p:spPr>
          <a:xfrm>
            <a:off x="10030040" y="3547131"/>
            <a:ext cx="2484876" cy="1500411"/>
          </a:xfrm>
          <a:prstGeom prst="rect">
            <a:avLst/>
          </a:prstGeom>
          <a:noFill/>
        </p:spPr>
        <p:txBody>
          <a:bodyPr wrap="square" lIns="0" tIns="0" rIns="0" bIns="0" rtlCol="0" anchor="t">
            <a:spAutoFit/>
          </a:bodyPr>
          <a:lstStyle/>
          <a:p>
            <a:pPr algn="ctr" defTabSz="1371600">
              <a:spcAft>
                <a:spcPts val="900"/>
              </a:spcAft>
              <a:defRPr/>
            </a:pPr>
            <a:r>
              <a:rPr lang="en-US" sz="2700">
                <a:solidFill>
                  <a:srgbClr val="50E6FF"/>
                </a:solidFill>
                <a:latin typeface="Segoe UI Semibold"/>
              </a:rPr>
              <a:t>Pilot &amp; proof of concept</a:t>
            </a:r>
          </a:p>
          <a:p>
            <a:pPr algn="ctr">
              <a:defRPr/>
            </a:pPr>
            <a:r>
              <a:rPr lang="en-US">
                <a:solidFill>
                  <a:srgbClr val="FFFFFF"/>
                </a:solidFill>
                <a:latin typeface="Segoe UI"/>
              </a:rPr>
              <a:t>Gain confidence and see technical proof </a:t>
            </a:r>
            <a:endParaRPr lang="en-US">
              <a:solidFill>
                <a:srgbClr val="FFFFFF"/>
              </a:solidFill>
              <a:latin typeface="Segoe UI"/>
              <a:cs typeface="Segoe UI"/>
            </a:endParaRPr>
          </a:p>
        </p:txBody>
      </p:sp>
      <p:sp>
        <p:nvSpPr>
          <p:cNvPr id="73" name="TextBox 72">
            <a:extLst>
              <a:ext uri="{FF2B5EF4-FFF2-40B4-BE49-F238E27FC236}">
                <a16:creationId xmlns:a16="http://schemas.microsoft.com/office/drawing/2014/main" id="{6486BE24-22EE-E65E-7432-8FC66B55224E}"/>
              </a:ext>
            </a:extLst>
          </p:cNvPr>
          <p:cNvSpPr txBox="1"/>
          <p:nvPr/>
        </p:nvSpPr>
        <p:spPr>
          <a:xfrm>
            <a:off x="13821056" y="3547132"/>
            <a:ext cx="3252183" cy="2331407"/>
          </a:xfrm>
          <a:prstGeom prst="rect">
            <a:avLst/>
          </a:prstGeom>
          <a:noFill/>
        </p:spPr>
        <p:txBody>
          <a:bodyPr wrap="square" lIns="0" tIns="0" rIns="0" bIns="0" rtlCol="0" anchor="t">
            <a:spAutoFit/>
          </a:bodyPr>
          <a:lstStyle/>
          <a:p>
            <a:pPr algn="ctr" defTabSz="1371600">
              <a:spcAft>
                <a:spcPts val="900"/>
              </a:spcAft>
              <a:defRPr/>
            </a:pPr>
            <a:r>
              <a:rPr lang="en-US" sz="2700" dirty="0">
                <a:solidFill>
                  <a:srgbClr val="50E6FF"/>
                </a:solidFill>
                <a:latin typeface="Segoe UI Semibold"/>
              </a:rPr>
              <a:t>Azure Migrate and Modernize</a:t>
            </a:r>
          </a:p>
          <a:p>
            <a:pPr algn="ctr">
              <a:spcAft>
                <a:spcPts val="900"/>
              </a:spcAft>
              <a:defRPr/>
            </a:pPr>
            <a:r>
              <a:rPr lang="en-US">
                <a:solidFill>
                  <a:srgbClr val="FFFFFF"/>
                </a:solidFill>
                <a:latin typeface="Segoe UI"/>
              </a:rPr>
              <a:t>Securely move your workload </a:t>
            </a:r>
            <a:br>
              <a:rPr lang="en-US" dirty="0">
                <a:latin typeface="Segoe UI"/>
              </a:rPr>
            </a:br>
            <a:r>
              <a:rPr lang="en-US">
                <a:solidFill>
                  <a:srgbClr val="FFFFFF"/>
                </a:solidFill>
                <a:latin typeface="Segoe UI"/>
              </a:rPr>
              <a:t>to the cloud with confidence, proven best practices &amp; </a:t>
            </a:r>
            <a:r>
              <a:rPr lang="en-US" dirty="0">
                <a:solidFill>
                  <a:srgbClr val="FFFFFF"/>
                </a:solidFill>
                <a:latin typeface="Segoe UI"/>
                <a:hlinkClick r:id="rId5"/>
              </a:rPr>
              <a:t>incentives to accelerate your migration</a:t>
            </a:r>
            <a:endParaRPr lang="en-US">
              <a:solidFill>
                <a:srgbClr val="FFFFFF"/>
              </a:solidFill>
              <a:latin typeface="Segoe UI"/>
              <a:cs typeface="Segoe UI"/>
            </a:endParaRPr>
          </a:p>
        </p:txBody>
      </p:sp>
      <p:sp>
        <p:nvSpPr>
          <p:cNvPr id="75" name="TextBox 74">
            <a:extLst>
              <a:ext uri="{FF2B5EF4-FFF2-40B4-BE49-F238E27FC236}">
                <a16:creationId xmlns:a16="http://schemas.microsoft.com/office/drawing/2014/main" id="{4F4F6DC2-9414-D8A9-5D0D-9849D2B9339F}"/>
              </a:ext>
            </a:extLst>
          </p:cNvPr>
          <p:cNvSpPr txBox="1"/>
          <p:nvPr/>
        </p:nvSpPr>
        <p:spPr>
          <a:xfrm>
            <a:off x="15175213" y="9489281"/>
            <a:ext cx="2424608" cy="276999"/>
          </a:xfrm>
          <a:prstGeom prst="rect">
            <a:avLst/>
          </a:prstGeom>
          <a:noFill/>
        </p:spPr>
        <p:txBody>
          <a:bodyPr wrap="square" lIns="0" tIns="0" rIns="0" bIns="0" rtlCol="0">
            <a:spAutoFit/>
          </a:bodyPr>
          <a:lstStyle/>
          <a:p>
            <a:pPr algn="r" defTabSz="1371600">
              <a:defRPr/>
            </a:pPr>
            <a:r>
              <a:rPr lang="en-US">
                <a:solidFill>
                  <a:srgbClr val="50E6FF"/>
                </a:solidFill>
                <a:latin typeface="Segoe UI Semibold"/>
              </a:rPr>
              <a:t>Invent</a:t>
            </a:r>
            <a:r>
              <a:rPr lang="en-US">
                <a:solidFill>
                  <a:srgbClr val="FFFFFF"/>
                </a:solidFill>
                <a:latin typeface="Segoe UI Semibold"/>
              </a:rPr>
              <a:t> with purpose.</a:t>
            </a:r>
          </a:p>
        </p:txBody>
      </p:sp>
      <p:sp>
        <p:nvSpPr>
          <p:cNvPr id="13" name="Graphic 36">
            <a:extLst>
              <a:ext uri="{FF2B5EF4-FFF2-40B4-BE49-F238E27FC236}">
                <a16:creationId xmlns:a16="http://schemas.microsoft.com/office/drawing/2014/main" id="{6DC62223-986C-7CD3-C99B-CAEDE7DA2F35}"/>
              </a:ext>
              <a:ext uri="{C183D7F6-B498-43B3-948B-1728B52AA6E4}">
                <adec:decorative xmlns:adec="http://schemas.microsoft.com/office/drawing/2017/decorative" val="1"/>
              </a:ext>
            </a:extLst>
          </p:cNvPr>
          <p:cNvSpPr/>
          <p:nvPr/>
        </p:nvSpPr>
        <p:spPr>
          <a:xfrm>
            <a:off x="4714139" y="4505933"/>
            <a:ext cx="592683" cy="592686"/>
          </a:xfrm>
          <a:custGeom>
            <a:avLst/>
            <a:gdLst>
              <a:gd name="connsiteX0" fmla="*/ 0 w 190500"/>
              <a:gd name="connsiteY0" fmla="*/ 95250 h 190500"/>
              <a:gd name="connsiteX1" fmla="*/ 95250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80391 w 190500"/>
              <a:gd name="connsiteY5" fmla="*/ 138398 h 190500"/>
              <a:gd name="connsiteX6" fmla="*/ 90488 w 190500"/>
              <a:gd name="connsiteY6" fmla="*/ 138398 h 190500"/>
              <a:gd name="connsiteX7" fmla="*/ 128588 w 190500"/>
              <a:gd name="connsiteY7" fmla="*/ 100298 h 190500"/>
              <a:gd name="connsiteX8" fmla="*/ 128588 w 190500"/>
              <a:gd name="connsiteY8" fmla="*/ 90202 h 190500"/>
              <a:gd name="connsiteX9" fmla="*/ 90488 w 190500"/>
              <a:gd name="connsiteY9" fmla="*/ 52102 h 190500"/>
              <a:gd name="connsiteX10" fmla="*/ 80391 w 190500"/>
              <a:gd name="connsiteY10" fmla="*/ 52458 h 190500"/>
              <a:gd name="connsiteX11" fmla="*/ 80391 w 190500"/>
              <a:gd name="connsiteY11" fmla="*/ 62198 h 190500"/>
              <a:gd name="connsiteX12" fmla="*/ 113424 w 190500"/>
              <a:gd name="connsiteY12" fmla="*/ 95250 h 190500"/>
              <a:gd name="connsiteX13" fmla="*/ 80372 w 190500"/>
              <a:gd name="connsiteY13" fmla="*/ 128302 h 190500"/>
              <a:gd name="connsiteX14" fmla="*/ 80372 w 190500"/>
              <a:gd name="connsiteY14" fmla="*/ 13839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0" y="95250"/>
                </a:moveTo>
                <a:cubicBezTo>
                  <a:pt x="0" y="42643"/>
                  <a:pt x="42643" y="0"/>
                  <a:pt x="95250" y="0"/>
                </a:cubicBezTo>
                <a:cubicBezTo>
                  <a:pt x="147857" y="0"/>
                  <a:pt x="190500" y="42643"/>
                  <a:pt x="190500" y="95250"/>
                </a:cubicBezTo>
                <a:cubicBezTo>
                  <a:pt x="190500" y="147857"/>
                  <a:pt x="147857" y="190500"/>
                  <a:pt x="95250" y="190500"/>
                </a:cubicBezTo>
                <a:cubicBezTo>
                  <a:pt x="42643" y="190500"/>
                  <a:pt x="0" y="147857"/>
                  <a:pt x="0" y="95250"/>
                </a:cubicBezTo>
                <a:close/>
                <a:moveTo>
                  <a:pt x="80391" y="138398"/>
                </a:moveTo>
                <a:cubicBezTo>
                  <a:pt x="83180" y="141184"/>
                  <a:pt x="87699" y="141184"/>
                  <a:pt x="90488" y="138398"/>
                </a:cubicBezTo>
                <a:lnTo>
                  <a:pt x="128588" y="100298"/>
                </a:lnTo>
                <a:cubicBezTo>
                  <a:pt x="131374" y="97509"/>
                  <a:pt x="131374" y="92991"/>
                  <a:pt x="128588" y="90202"/>
                </a:cubicBezTo>
                <a:lnTo>
                  <a:pt x="90488" y="52102"/>
                </a:lnTo>
                <a:cubicBezTo>
                  <a:pt x="87601" y="49412"/>
                  <a:pt x="83081" y="49572"/>
                  <a:pt x="80391" y="52458"/>
                </a:cubicBezTo>
                <a:cubicBezTo>
                  <a:pt x="77834" y="55202"/>
                  <a:pt x="77834" y="59455"/>
                  <a:pt x="80391" y="62198"/>
                </a:cubicBezTo>
                <a:lnTo>
                  <a:pt x="113424" y="95250"/>
                </a:lnTo>
                <a:lnTo>
                  <a:pt x="80372" y="128302"/>
                </a:lnTo>
                <a:cubicBezTo>
                  <a:pt x="77586" y="131091"/>
                  <a:pt x="77586" y="135609"/>
                  <a:pt x="80372" y="138398"/>
                </a:cubicBezTo>
                <a:close/>
              </a:path>
            </a:pathLst>
          </a:custGeom>
          <a:gradFill flip="none" rotWithShape="1">
            <a:gsLst>
              <a:gs pos="0">
                <a:schemeClr val="accent1"/>
              </a:gs>
              <a:gs pos="100000">
                <a:schemeClr val="accent2"/>
              </a:gs>
            </a:gsLst>
            <a:lin ang="2700000" scaled="1"/>
            <a:tileRect/>
          </a:gradFill>
          <a:ln w="9525" cap="flat">
            <a:noFill/>
            <a:prstDash val="solid"/>
            <a:miter/>
          </a:ln>
        </p:spPr>
        <p:txBody>
          <a:bodyPr rtlCol="0" anchor="ctr"/>
          <a:lstStyle/>
          <a:p>
            <a:pPr defTabSz="1371600">
              <a:defRPr/>
            </a:pPr>
            <a:endParaRPr lang="en-US" sz="2700">
              <a:solidFill>
                <a:srgbClr val="FFFFFF"/>
              </a:solidFill>
              <a:latin typeface="Segoe UI"/>
            </a:endParaRPr>
          </a:p>
        </p:txBody>
      </p:sp>
      <p:sp>
        <p:nvSpPr>
          <p:cNvPr id="14" name="Graphic 36">
            <a:extLst>
              <a:ext uri="{FF2B5EF4-FFF2-40B4-BE49-F238E27FC236}">
                <a16:creationId xmlns:a16="http://schemas.microsoft.com/office/drawing/2014/main" id="{3F929BAB-73A6-01E6-0BA2-0DA6B12F111B}"/>
              </a:ext>
              <a:ext uri="{C183D7F6-B498-43B3-948B-1728B52AA6E4}">
                <adec:decorative xmlns:adec="http://schemas.microsoft.com/office/drawing/2017/decorative" val="1"/>
              </a:ext>
            </a:extLst>
          </p:cNvPr>
          <p:cNvSpPr/>
          <p:nvPr/>
        </p:nvSpPr>
        <p:spPr>
          <a:xfrm>
            <a:off x="8888804" y="4505933"/>
            <a:ext cx="592683" cy="592686"/>
          </a:xfrm>
          <a:custGeom>
            <a:avLst/>
            <a:gdLst>
              <a:gd name="connsiteX0" fmla="*/ 0 w 190500"/>
              <a:gd name="connsiteY0" fmla="*/ 95250 h 190500"/>
              <a:gd name="connsiteX1" fmla="*/ 95250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80391 w 190500"/>
              <a:gd name="connsiteY5" fmla="*/ 138398 h 190500"/>
              <a:gd name="connsiteX6" fmla="*/ 90488 w 190500"/>
              <a:gd name="connsiteY6" fmla="*/ 138398 h 190500"/>
              <a:gd name="connsiteX7" fmla="*/ 128588 w 190500"/>
              <a:gd name="connsiteY7" fmla="*/ 100298 h 190500"/>
              <a:gd name="connsiteX8" fmla="*/ 128588 w 190500"/>
              <a:gd name="connsiteY8" fmla="*/ 90202 h 190500"/>
              <a:gd name="connsiteX9" fmla="*/ 90488 w 190500"/>
              <a:gd name="connsiteY9" fmla="*/ 52102 h 190500"/>
              <a:gd name="connsiteX10" fmla="*/ 80391 w 190500"/>
              <a:gd name="connsiteY10" fmla="*/ 52458 h 190500"/>
              <a:gd name="connsiteX11" fmla="*/ 80391 w 190500"/>
              <a:gd name="connsiteY11" fmla="*/ 62198 h 190500"/>
              <a:gd name="connsiteX12" fmla="*/ 113424 w 190500"/>
              <a:gd name="connsiteY12" fmla="*/ 95250 h 190500"/>
              <a:gd name="connsiteX13" fmla="*/ 80372 w 190500"/>
              <a:gd name="connsiteY13" fmla="*/ 128302 h 190500"/>
              <a:gd name="connsiteX14" fmla="*/ 80372 w 190500"/>
              <a:gd name="connsiteY14" fmla="*/ 13839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0" y="95250"/>
                </a:moveTo>
                <a:cubicBezTo>
                  <a:pt x="0" y="42643"/>
                  <a:pt x="42643" y="0"/>
                  <a:pt x="95250" y="0"/>
                </a:cubicBezTo>
                <a:cubicBezTo>
                  <a:pt x="147857" y="0"/>
                  <a:pt x="190500" y="42643"/>
                  <a:pt x="190500" y="95250"/>
                </a:cubicBezTo>
                <a:cubicBezTo>
                  <a:pt x="190500" y="147857"/>
                  <a:pt x="147857" y="190500"/>
                  <a:pt x="95250" y="190500"/>
                </a:cubicBezTo>
                <a:cubicBezTo>
                  <a:pt x="42643" y="190500"/>
                  <a:pt x="0" y="147857"/>
                  <a:pt x="0" y="95250"/>
                </a:cubicBezTo>
                <a:close/>
                <a:moveTo>
                  <a:pt x="80391" y="138398"/>
                </a:moveTo>
                <a:cubicBezTo>
                  <a:pt x="83180" y="141184"/>
                  <a:pt x="87699" y="141184"/>
                  <a:pt x="90488" y="138398"/>
                </a:cubicBezTo>
                <a:lnTo>
                  <a:pt x="128588" y="100298"/>
                </a:lnTo>
                <a:cubicBezTo>
                  <a:pt x="131374" y="97509"/>
                  <a:pt x="131374" y="92991"/>
                  <a:pt x="128588" y="90202"/>
                </a:cubicBezTo>
                <a:lnTo>
                  <a:pt x="90488" y="52102"/>
                </a:lnTo>
                <a:cubicBezTo>
                  <a:pt x="87601" y="49412"/>
                  <a:pt x="83081" y="49572"/>
                  <a:pt x="80391" y="52458"/>
                </a:cubicBezTo>
                <a:cubicBezTo>
                  <a:pt x="77834" y="55202"/>
                  <a:pt x="77834" y="59455"/>
                  <a:pt x="80391" y="62198"/>
                </a:cubicBezTo>
                <a:lnTo>
                  <a:pt x="113424" y="95250"/>
                </a:lnTo>
                <a:lnTo>
                  <a:pt x="80372" y="128302"/>
                </a:lnTo>
                <a:cubicBezTo>
                  <a:pt x="77586" y="131091"/>
                  <a:pt x="77586" y="135609"/>
                  <a:pt x="80372" y="138398"/>
                </a:cubicBezTo>
                <a:close/>
              </a:path>
            </a:pathLst>
          </a:custGeom>
          <a:gradFill flip="none" rotWithShape="1">
            <a:gsLst>
              <a:gs pos="0">
                <a:schemeClr val="accent1"/>
              </a:gs>
              <a:gs pos="100000">
                <a:schemeClr val="accent2"/>
              </a:gs>
            </a:gsLst>
            <a:lin ang="2700000" scaled="1"/>
            <a:tileRect/>
          </a:gradFill>
          <a:ln w="9525" cap="flat">
            <a:noFill/>
            <a:prstDash val="solid"/>
            <a:miter/>
          </a:ln>
        </p:spPr>
        <p:txBody>
          <a:bodyPr rtlCol="0" anchor="ctr"/>
          <a:lstStyle/>
          <a:p>
            <a:pPr defTabSz="1371600">
              <a:defRPr/>
            </a:pPr>
            <a:endParaRPr lang="en-US" sz="2700">
              <a:solidFill>
                <a:srgbClr val="FFFFFF"/>
              </a:solidFill>
              <a:latin typeface="Segoe UI"/>
            </a:endParaRPr>
          </a:p>
        </p:txBody>
      </p:sp>
      <p:sp>
        <p:nvSpPr>
          <p:cNvPr id="15" name="Graphic 36">
            <a:extLst>
              <a:ext uri="{FF2B5EF4-FFF2-40B4-BE49-F238E27FC236}">
                <a16:creationId xmlns:a16="http://schemas.microsoft.com/office/drawing/2014/main" id="{570F7E59-1907-0070-FCB8-DF2F98F59D0F}"/>
              </a:ext>
              <a:ext uri="{C183D7F6-B498-43B3-948B-1728B52AA6E4}">
                <adec:decorative xmlns:adec="http://schemas.microsoft.com/office/drawing/2017/decorative" val="1"/>
              </a:ext>
            </a:extLst>
          </p:cNvPr>
          <p:cNvSpPr/>
          <p:nvPr/>
        </p:nvSpPr>
        <p:spPr>
          <a:xfrm>
            <a:off x="13063469" y="4505933"/>
            <a:ext cx="592683" cy="592686"/>
          </a:xfrm>
          <a:custGeom>
            <a:avLst/>
            <a:gdLst>
              <a:gd name="connsiteX0" fmla="*/ 0 w 190500"/>
              <a:gd name="connsiteY0" fmla="*/ 95250 h 190500"/>
              <a:gd name="connsiteX1" fmla="*/ 95250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80391 w 190500"/>
              <a:gd name="connsiteY5" fmla="*/ 138398 h 190500"/>
              <a:gd name="connsiteX6" fmla="*/ 90488 w 190500"/>
              <a:gd name="connsiteY6" fmla="*/ 138398 h 190500"/>
              <a:gd name="connsiteX7" fmla="*/ 128588 w 190500"/>
              <a:gd name="connsiteY7" fmla="*/ 100298 h 190500"/>
              <a:gd name="connsiteX8" fmla="*/ 128588 w 190500"/>
              <a:gd name="connsiteY8" fmla="*/ 90202 h 190500"/>
              <a:gd name="connsiteX9" fmla="*/ 90488 w 190500"/>
              <a:gd name="connsiteY9" fmla="*/ 52102 h 190500"/>
              <a:gd name="connsiteX10" fmla="*/ 80391 w 190500"/>
              <a:gd name="connsiteY10" fmla="*/ 52458 h 190500"/>
              <a:gd name="connsiteX11" fmla="*/ 80391 w 190500"/>
              <a:gd name="connsiteY11" fmla="*/ 62198 h 190500"/>
              <a:gd name="connsiteX12" fmla="*/ 113424 w 190500"/>
              <a:gd name="connsiteY12" fmla="*/ 95250 h 190500"/>
              <a:gd name="connsiteX13" fmla="*/ 80372 w 190500"/>
              <a:gd name="connsiteY13" fmla="*/ 128302 h 190500"/>
              <a:gd name="connsiteX14" fmla="*/ 80372 w 190500"/>
              <a:gd name="connsiteY14" fmla="*/ 13839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0" y="95250"/>
                </a:moveTo>
                <a:cubicBezTo>
                  <a:pt x="0" y="42643"/>
                  <a:pt x="42643" y="0"/>
                  <a:pt x="95250" y="0"/>
                </a:cubicBezTo>
                <a:cubicBezTo>
                  <a:pt x="147857" y="0"/>
                  <a:pt x="190500" y="42643"/>
                  <a:pt x="190500" y="95250"/>
                </a:cubicBezTo>
                <a:cubicBezTo>
                  <a:pt x="190500" y="147857"/>
                  <a:pt x="147857" y="190500"/>
                  <a:pt x="95250" y="190500"/>
                </a:cubicBezTo>
                <a:cubicBezTo>
                  <a:pt x="42643" y="190500"/>
                  <a:pt x="0" y="147857"/>
                  <a:pt x="0" y="95250"/>
                </a:cubicBezTo>
                <a:close/>
                <a:moveTo>
                  <a:pt x="80391" y="138398"/>
                </a:moveTo>
                <a:cubicBezTo>
                  <a:pt x="83180" y="141184"/>
                  <a:pt x="87699" y="141184"/>
                  <a:pt x="90488" y="138398"/>
                </a:cubicBezTo>
                <a:lnTo>
                  <a:pt x="128588" y="100298"/>
                </a:lnTo>
                <a:cubicBezTo>
                  <a:pt x="131374" y="97509"/>
                  <a:pt x="131374" y="92991"/>
                  <a:pt x="128588" y="90202"/>
                </a:cubicBezTo>
                <a:lnTo>
                  <a:pt x="90488" y="52102"/>
                </a:lnTo>
                <a:cubicBezTo>
                  <a:pt x="87601" y="49412"/>
                  <a:pt x="83081" y="49572"/>
                  <a:pt x="80391" y="52458"/>
                </a:cubicBezTo>
                <a:cubicBezTo>
                  <a:pt x="77834" y="55202"/>
                  <a:pt x="77834" y="59455"/>
                  <a:pt x="80391" y="62198"/>
                </a:cubicBezTo>
                <a:lnTo>
                  <a:pt x="113424" y="95250"/>
                </a:lnTo>
                <a:lnTo>
                  <a:pt x="80372" y="128302"/>
                </a:lnTo>
                <a:cubicBezTo>
                  <a:pt x="77586" y="131091"/>
                  <a:pt x="77586" y="135609"/>
                  <a:pt x="80372" y="138398"/>
                </a:cubicBezTo>
                <a:close/>
              </a:path>
            </a:pathLst>
          </a:custGeom>
          <a:gradFill flip="none" rotWithShape="1">
            <a:gsLst>
              <a:gs pos="0">
                <a:schemeClr val="accent1"/>
              </a:gs>
              <a:gs pos="100000">
                <a:schemeClr val="accent2"/>
              </a:gs>
            </a:gsLst>
            <a:lin ang="2700000" scaled="1"/>
            <a:tileRect/>
          </a:gradFill>
          <a:ln w="9525" cap="flat">
            <a:noFill/>
            <a:prstDash val="solid"/>
            <a:miter/>
          </a:ln>
        </p:spPr>
        <p:txBody>
          <a:bodyPr rtlCol="0" anchor="ctr"/>
          <a:lstStyle/>
          <a:p>
            <a:pPr defTabSz="1371600">
              <a:defRPr/>
            </a:pPr>
            <a:endParaRPr lang="en-US" sz="2700">
              <a:solidFill>
                <a:srgbClr val="FFFFFF"/>
              </a:solidFill>
              <a:latin typeface="Segoe UI"/>
            </a:endParaRPr>
          </a:p>
        </p:txBody>
      </p:sp>
    </p:spTree>
    <p:extLst>
      <p:ext uri="{BB962C8B-B14F-4D97-AF65-F5344CB8AC3E}">
        <p14:creationId xmlns:p14="http://schemas.microsoft.com/office/powerpoint/2010/main" val="1753346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P spid="27" grpId="0"/>
      <p:bldP spid="55" grpId="0"/>
      <p:bldP spid="66" grpId="0"/>
      <p:bldP spid="73" grpId="0"/>
      <p:bldP spid="13" grpId="0" animBg="1"/>
      <p:bldP spid="14"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53C49"/>
        </a:solidFill>
        <a:effectLst/>
      </p:bgPr>
    </p:bg>
    <p:spTree>
      <p:nvGrpSpPr>
        <p:cNvPr id="1" name=""/>
        <p:cNvGrpSpPr/>
        <p:nvPr/>
      </p:nvGrpSpPr>
      <p:grpSpPr>
        <a:xfrm>
          <a:off x="0" y="0"/>
          <a:ext cx="0" cy="0"/>
          <a:chOff x="0" y="0"/>
          <a:chExt cx="0" cy="0"/>
        </a:xfrm>
      </p:grpSpPr>
      <p:sp>
        <p:nvSpPr>
          <p:cNvPr id="5" name="TextBox 5"/>
          <p:cNvSpPr txBox="1"/>
          <p:nvPr/>
        </p:nvSpPr>
        <p:spPr>
          <a:xfrm>
            <a:off x="624434" y="4624125"/>
            <a:ext cx="17039131" cy="1038746"/>
          </a:xfrm>
          <a:prstGeom prst="rect">
            <a:avLst/>
          </a:prstGeom>
        </p:spPr>
        <p:txBody>
          <a:bodyPr lIns="0" tIns="0" rIns="0" bIns="0" rtlCol="0" anchor="t">
            <a:spAutoFit/>
          </a:bodyPr>
          <a:lstStyle/>
          <a:p>
            <a:pPr algn="ctr">
              <a:lnSpc>
                <a:spcPts val="8082"/>
              </a:lnSpc>
            </a:pPr>
            <a:r>
              <a:rPr lang="en-US" sz="8247">
                <a:solidFill>
                  <a:srgbClr val="70AF5F"/>
                </a:solidFill>
                <a:latin typeface="Lato Light" panose="020F0302020204030203" pitchFamily="34" charset="77"/>
              </a:rPr>
              <a:t>Thank</a:t>
            </a:r>
            <a:r>
              <a:rPr lang="en-US" sz="8247">
                <a:solidFill>
                  <a:srgbClr val="70AF5F"/>
                </a:solidFill>
                <a:latin typeface="Lato Bold Bold"/>
              </a:rPr>
              <a:t> </a:t>
            </a:r>
            <a:r>
              <a:rPr lang="en-US" sz="8247">
                <a:solidFill>
                  <a:srgbClr val="FFFFFF"/>
                </a:solidFill>
                <a:latin typeface="Lato Light" panose="020F0302020204030203" pitchFamily="34" charset="77"/>
              </a:rPr>
              <a:t>You</a:t>
            </a:r>
          </a:p>
        </p:txBody>
      </p:sp>
      <p:grpSp>
        <p:nvGrpSpPr>
          <p:cNvPr id="8" name="Group 7">
            <a:extLst>
              <a:ext uri="{FF2B5EF4-FFF2-40B4-BE49-F238E27FC236}">
                <a16:creationId xmlns:a16="http://schemas.microsoft.com/office/drawing/2014/main" id="{8397ADB1-6C6B-5AC5-A252-0AE20CAF8BA6}"/>
              </a:ext>
            </a:extLst>
          </p:cNvPr>
          <p:cNvGrpSpPr/>
          <p:nvPr/>
        </p:nvGrpSpPr>
        <p:grpSpPr>
          <a:xfrm>
            <a:off x="5410200" y="8496300"/>
            <a:ext cx="8020503" cy="1036551"/>
            <a:chOff x="5239278" y="8484509"/>
            <a:chExt cx="8020503" cy="1036551"/>
          </a:xfrm>
        </p:grpSpPr>
        <p:sp>
          <p:nvSpPr>
            <p:cNvPr id="9" name="TextBox 5">
              <a:extLst>
                <a:ext uri="{FF2B5EF4-FFF2-40B4-BE49-F238E27FC236}">
                  <a16:creationId xmlns:a16="http://schemas.microsoft.com/office/drawing/2014/main" id="{3B72CC7A-79F1-7406-BE83-ABD269E45E2B}"/>
                </a:ext>
              </a:extLst>
            </p:cNvPr>
            <p:cNvSpPr txBox="1"/>
            <p:nvPr/>
          </p:nvSpPr>
          <p:spPr>
            <a:xfrm>
              <a:off x="5239278" y="9178017"/>
              <a:ext cx="8020503" cy="343043"/>
            </a:xfrm>
            <a:prstGeom prst="rect">
              <a:avLst/>
            </a:prstGeom>
          </p:spPr>
          <p:txBody>
            <a:bodyPr lIns="0" tIns="0" rIns="0" bIns="0" rtlCol="0" anchor="t">
              <a:spAutoFit/>
            </a:bodyPr>
            <a:lstStyle/>
            <a:p>
              <a:pPr algn="ctr">
                <a:lnSpc>
                  <a:spcPts val="2775"/>
                </a:lnSpc>
              </a:pPr>
              <a:r>
                <a:rPr lang="en-US" sz="1982" dirty="0">
                  <a:solidFill>
                    <a:srgbClr val="FFFFFF"/>
                  </a:solidFill>
                  <a:latin typeface="Muli Regular"/>
                </a:rPr>
                <a:t>Copyright </a:t>
              </a:r>
              <a:r>
                <a:rPr lang="en-US" sz="1982" dirty="0">
                  <a:solidFill>
                    <a:schemeClr val="bg1"/>
                  </a:solidFill>
                  <a:latin typeface="Muli Regular"/>
                </a:rPr>
                <a:t>   </a:t>
              </a:r>
              <a:r>
                <a:rPr lang="en-US" sz="1982" dirty="0">
                  <a:solidFill>
                    <a:srgbClr val="FFFFFF"/>
                  </a:solidFill>
                  <a:latin typeface="Muli Regular"/>
                </a:rPr>
                <a:t> 2024 Redington India- All rights Reserved</a:t>
              </a:r>
            </a:p>
          </p:txBody>
        </p:sp>
        <p:pic>
          <p:nvPicPr>
            <p:cNvPr id="10" name="Picture 6">
              <a:extLst>
                <a:ext uri="{FF2B5EF4-FFF2-40B4-BE49-F238E27FC236}">
                  <a16:creationId xmlns:a16="http://schemas.microsoft.com/office/drawing/2014/main" id="{69A2A1F2-2DA1-821D-A40B-336DC4A95DB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7281201" y="9260353"/>
              <a:ext cx="197568" cy="201600"/>
            </a:xfrm>
            <a:prstGeom prst="rect">
              <a:avLst/>
            </a:prstGeom>
          </p:spPr>
        </p:pic>
        <p:pic>
          <p:nvPicPr>
            <p:cNvPr id="11" name="Picture 4">
              <a:extLst>
                <a:ext uri="{FF2B5EF4-FFF2-40B4-BE49-F238E27FC236}">
                  <a16:creationId xmlns:a16="http://schemas.microsoft.com/office/drawing/2014/main" id="{9A6C5DEE-5A36-02A2-F2FF-002013F9562F}"/>
                </a:ext>
              </a:extLst>
            </p:cNvPr>
            <p:cNvPicPr>
              <a:picLocks noChangeAspect="1"/>
            </p:cNvPicPr>
            <p:nvPr/>
          </p:nvPicPr>
          <p:blipFill>
            <a:blip r:embed="rId3"/>
            <a:srcRect/>
            <a:stretch>
              <a:fillRect/>
            </a:stretch>
          </p:blipFill>
          <p:spPr>
            <a:xfrm>
              <a:off x="7803889" y="8484509"/>
              <a:ext cx="2680221" cy="693508"/>
            </a:xfrm>
            <a:prstGeom prst="rect">
              <a:avLst/>
            </a:prstGeom>
          </p:spPr>
        </p:pic>
      </p:grpSp>
      <p:pic>
        <p:nvPicPr>
          <p:cNvPr id="12" name="Picture 11">
            <a:extLst>
              <a:ext uri="{FF2B5EF4-FFF2-40B4-BE49-F238E27FC236}">
                <a16:creationId xmlns:a16="http://schemas.microsoft.com/office/drawing/2014/main" id="{B3C9F32C-3541-CDCE-9A22-92C0A6985EBE}"/>
              </a:ext>
            </a:extLst>
          </p:cNvPr>
          <p:cNvPicPr>
            <a:picLocks noChangeAspect="1"/>
          </p:cNvPicPr>
          <p:nvPr/>
        </p:nvPicPr>
        <p:blipFill>
          <a:blip r:embed="rId4" cstate="print">
            <a:alphaModFix amt="28000"/>
            <a:extLst>
              <a:ext uri="{28A0092B-C50C-407E-A947-70E740481C1C}">
                <a14:useLocalDpi xmlns:a14="http://schemas.microsoft.com/office/drawing/2010/main" val="0"/>
              </a:ext>
            </a:extLst>
          </a:blip>
          <a:stretch>
            <a:fillRect/>
          </a:stretch>
        </p:blipFill>
        <p:spPr>
          <a:xfrm rot="14597468">
            <a:off x="11661398" y="134870"/>
            <a:ext cx="9448659" cy="6147320"/>
          </a:xfrm>
          <a:prstGeom prst="rect">
            <a:avLst/>
          </a:prstGeom>
        </p:spPr>
      </p:pic>
    </p:spTree>
    <p:extLst>
      <p:ext uri="{BB962C8B-B14F-4D97-AF65-F5344CB8AC3E}">
        <p14:creationId xmlns:p14="http://schemas.microsoft.com/office/powerpoint/2010/main" val="1480278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dington Sample Template" id="{61CB77E5-8370-AD45-94CD-847AF698F5DA}" vid="{1BFD0318-4AE2-F148-9E9D-0EFC612728A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dington Sample Template" id="{61CB77E5-8370-AD45-94CD-847AF698F5DA}" vid="{1BFD0318-4AE2-F148-9E9D-0EFC612728AA}"/>
    </a:ext>
  </a:extLst>
</a:theme>
</file>

<file path=ppt/theme/theme3.xml><?xml version="1.0" encoding="utf-8"?>
<a:theme xmlns:a="http://schemas.openxmlformats.org/drawingml/2006/main" name="Microsoft Envision 16:9 Template Dark">
  <a:themeElements>
    <a:clrScheme name="Custom 140">
      <a:dk1>
        <a:srgbClr val="091F2C"/>
      </a:dk1>
      <a:lt1>
        <a:srgbClr val="FFFFFF"/>
      </a:lt1>
      <a:dk2>
        <a:srgbClr val="2A446F"/>
      </a:dk2>
      <a:lt2>
        <a:srgbClr val="E8E6DF"/>
      </a:lt2>
      <a:accent1>
        <a:srgbClr val="8DC8E8"/>
      </a:accent1>
      <a:accent2>
        <a:srgbClr val="0078D4"/>
      </a:accent2>
      <a:accent3>
        <a:srgbClr val="C03BC4"/>
      </a:accent3>
      <a:accent4>
        <a:srgbClr val="D7D2CB"/>
      </a:accent4>
      <a:accent5>
        <a:srgbClr val="49C5B1"/>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S_Envision_2023_16-9_Event-template.potx" id="{1042EA66-587C-4EDD-B9AE-CE87FCB3EAC7}" vid="{1ED71F68-2C88-4FA9-86A4-2636CB1C34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3ca5857-3bc9-420f-ae25-14221308947d}" enabled="1" method="Privileged" siteId="{e79918f6-a69b-4b33-8166-e897131f7346}" removed="0"/>
</clbl:labelList>
</file>

<file path=docProps/app.xml><?xml version="1.0" encoding="utf-8"?>
<Properties xmlns="http://schemas.openxmlformats.org/officeDocument/2006/extended-properties" xmlns:vt="http://schemas.openxmlformats.org/officeDocument/2006/docPropsVTypes">
  <Template>Office Theme</Template>
  <TotalTime>37022</TotalTime>
  <Words>3044</Words>
  <Application>Microsoft Office PowerPoint</Application>
  <PresentationFormat>Custom</PresentationFormat>
  <Paragraphs>438</Paragraphs>
  <Slides>26</Slides>
  <Notes>10</Notes>
  <HiddenSlides>0</HiddenSlides>
  <MMClips>0</MMClips>
  <ScaleCrop>false</ScaleCrop>
  <HeadingPairs>
    <vt:vector size="6" baseType="variant">
      <vt:variant>
        <vt:lpstr>Fonts Used</vt:lpstr>
      </vt:variant>
      <vt:variant>
        <vt:i4>21</vt:i4>
      </vt:variant>
      <vt:variant>
        <vt:lpstr>Theme</vt:lpstr>
      </vt:variant>
      <vt:variant>
        <vt:i4>3</vt:i4>
      </vt:variant>
      <vt:variant>
        <vt:lpstr>Slide Titles</vt:lpstr>
      </vt:variant>
      <vt:variant>
        <vt:i4>26</vt:i4>
      </vt:variant>
    </vt:vector>
  </HeadingPairs>
  <TitlesOfParts>
    <vt:vector size="50" baseType="lpstr">
      <vt:lpstr>Consolas</vt:lpstr>
      <vt:lpstr>ＭＳ Ｐゴシック</vt:lpstr>
      <vt:lpstr>Muli Regular</vt:lpstr>
      <vt:lpstr>Segoe Sans Text</vt:lpstr>
      <vt:lpstr>Segoe UI</vt:lpstr>
      <vt:lpstr>Aptos</vt:lpstr>
      <vt:lpstr>Wingdings</vt:lpstr>
      <vt:lpstr>Open Sans</vt:lpstr>
      <vt:lpstr>Lato Light</vt:lpstr>
      <vt:lpstr>Lato Bold Bold</vt:lpstr>
      <vt:lpstr>Microsoft Sans Serif</vt:lpstr>
      <vt:lpstr>Segoe UI Semibold</vt:lpstr>
      <vt:lpstr>Segoe UI Semilight</vt:lpstr>
      <vt:lpstr>Segoe Sans Text Semibold</vt:lpstr>
      <vt:lpstr>MoolBoran</vt:lpstr>
      <vt:lpstr>Arial</vt:lpstr>
      <vt:lpstr>Lato</vt:lpstr>
      <vt:lpstr>Roboto Condensed</vt:lpstr>
      <vt:lpstr>Segoe Sans Display</vt:lpstr>
      <vt:lpstr>Lato SemiBold</vt:lpstr>
      <vt:lpstr>Calibri</vt:lpstr>
      <vt:lpstr>Office Theme</vt:lpstr>
      <vt:lpstr>1_Office Theme</vt:lpstr>
      <vt:lpstr>Microsoft Envision 16:9 Template 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value of a strong cloud foundation</vt:lpstr>
      <vt:lpstr>Why migrate and modernize with Azure?</vt:lpstr>
      <vt:lpstr>PowerPoint Presentation</vt:lpstr>
      <vt:lpstr>Azure is purpose-built for all your workloads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Maximum ROI and performance for all workloads</vt:lpstr>
      <vt:lpstr>Get expert help and guidance with Azure Migrate and Modernize</vt:lpstr>
      <vt:lpstr>PowerPoint Presentation</vt:lpstr>
      <vt:lpstr>PowerPoint Presentation</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Awnesh Gulati</dc:creator>
  <cp:lastModifiedBy>Tushar Anand Pandey</cp:lastModifiedBy>
  <cp:revision>37</cp:revision>
  <dcterms:created xsi:type="dcterms:W3CDTF">2022-07-27T19:22:41Z</dcterms:created>
  <dcterms:modified xsi:type="dcterms:W3CDTF">2026-04-23T04:14:04Z</dcterms:modified>
  <dc:identifier>DAFBHeI-dxU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Theme:9\1_Office Theme:9\Microsoft Envision 16\:9 Template Dark:6</vt:lpwstr>
  </property>
  <property fmtid="{D5CDD505-2E9C-101B-9397-08002B2CF9AE}" pid="3" name="ClassificationContentMarkingFooterText">
    <vt:lpwstr>Information Classification: RL\Public </vt:lpwstr>
  </property>
</Properties>
</file>