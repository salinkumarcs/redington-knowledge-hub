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94" r:id="rId4"/>
    <p:sldMasterId id="2147483833" r:id="rId5"/>
    <p:sldMasterId id="2147483982" r:id="rId6"/>
  </p:sldMasterIdLst>
  <p:notesMasterIdLst>
    <p:notesMasterId r:id="rId27"/>
  </p:notesMasterIdLst>
  <p:sldIdLst>
    <p:sldId id="2147478978" r:id="rId7"/>
    <p:sldId id="2147478982" r:id="rId8"/>
    <p:sldId id="2147478948" r:id="rId9"/>
    <p:sldId id="2147478949" r:id="rId10"/>
    <p:sldId id="2147478995" r:id="rId11"/>
    <p:sldId id="2147478996" r:id="rId12"/>
    <p:sldId id="2147479013" r:id="rId13"/>
    <p:sldId id="2147479014" r:id="rId14"/>
    <p:sldId id="2147478959" r:id="rId15"/>
    <p:sldId id="2147479017" r:id="rId16"/>
    <p:sldId id="2147478979" r:id="rId17"/>
    <p:sldId id="2147478962" r:id="rId18"/>
    <p:sldId id="2147478963" r:id="rId19"/>
    <p:sldId id="2147479018" r:id="rId20"/>
    <p:sldId id="2147478964" r:id="rId21"/>
    <p:sldId id="2147478966" r:id="rId22"/>
    <p:sldId id="2147478967" r:id="rId23"/>
    <p:sldId id="2147479019" r:id="rId24"/>
    <p:sldId id="2147479009" r:id="rId25"/>
    <p:sldId id="2147478984"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Case for Change" id="{70C0DA42-0328-443B-A26F-93C6AF01FB94}">
          <p14:sldIdLst>
            <p14:sldId id="2147478978"/>
            <p14:sldId id="2147478982"/>
            <p14:sldId id="2147478948"/>
            <p14:sldId id="2147478949"/>
          </p14:sldIdLst>
        </p14:section>
        <p14:section name="Preview Outcomes" id="{A8487EA0-831B-441A-B6E9-4CC88ED0A70A}">
          <p14:sldIdLst>
            <p14:sldId id="2147478995"/>
            <p14:sldId id="2147478996"/>
          </p14:sldIdLst>
        </p14:section>
        <p14:section name="Migrate" id="{2DFC3930-5B7C-42B9-97D2-CEFD8AA6B2A2}">
          <p14:sldIdLst>
            <p14:sldId id="2147479013"/>
            <p14:sldId id="2147479014"/>
            <p14:sldId id="2147478959"/>
            <p14:sldId id="2147479017"/>
          </p14:sldIdLst>
        </p14:section>
        <p14:section name="Optimize" id="{B5BBCC99-91CA-4B33-9C27-E33C93BECABA}">
          <p14:sldIdLst>
            <p14:sldId id="2147478979"/>
            <p14:sldId id="2147478962"/>
            <p14:sldId id="2147478963"/>
            <p14:sldId id="2147479018"/>
          </p14:sldIdLst>
        </p14:section>
        <p14:section name="Reinvest" id="{6CF34AAD-76AD-4726-961B-698592F813A3}">
          <p14:sldIdLst>
            <p14:sldId id="2147478964"/>
            <p14:sldId id="2147478966"/>
            <p14:sldId id="2147478967"/>
            <p14:sldId id="2147479019"/>
          </p14:sldIdLst>
        </p14:section>
        <p14:section name="Solutions &amp; Next Steps" id="{2D50FEE6-F5A5-41C0-973A-0AE4C7E463AB}">
          <p14:sldIdLst>
            <p14:sldId id="2147479009"/>
            <p14:sldId id="2147478984"/>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04040"/>
    <a:srgbClr val="737373"/>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76417" autoAdjust="0"/>
  </p:normalViewPr>
  <p:slideViewPr>
    <p:cSldViewPr snapToGrid="0">
      <p:cViewPr varScale="1">
        <p:scale>
          <a:sx n="63" d="100"/>
          <a:sy n="63" d="100"/>
        </p:scale>
        <p:origin x="1000" y="2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 Type="http://schemas.openxmlformats.org/officeDocument/2006/relationships/customXml" Target="../customXml/item3.xml"/><Relationship Id="rId21" Type="http://schemas.openxmlformats.org/officeDocument/2006/relationships/slide" Target="slides/slide15.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microsoft.com/office/2018/10/relationships/authors" Target="author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presProps" Target="presProp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606CBF-2326-416F-8AAA-4C3EEC1C96D4}" type="datetimeFigureOut">
              <a:rPr lang="en-US" smtClean="0"/>
              <a:t>10/7/2025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428A1A-F8AA-4540-A1FF-810195DD46E6}" type="slidenum">
              <a:rPr lang="en-US" smtClean="0"/>
              <a:t>‹#›</a:t>
            </a:fld>
            <a:endParaRPr lang="en-US"/>
          </a:p>
        </p:txBody>
      </p:sp>
    </p:spTree>
    <p:extLst>
      <p:ext uri="{BB962C8B-B14F-4D97-AF65-F5344CB8AC3E}">
        <p14:creationId xmlns:p14="http://schemas.microsoft.com/office/powerpoint/2010/main" val="12369593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azure.microsoft.com/en-us/pricing/hybrid-benefit/" TargetMode="External"/><Relationship Id="rId2" Type="http://schemas.openxmlformats.org/officeDocument/2006/relationships/slide" Target="../slides/slide6.xml"/><Relationship Id="rId1" Type="http://schemas.openxmlformats.org/officeDocument/2006/relationships/notesMaster" Target="../notesMasters/notesMaster1.xml"/><Relationship Id="rId5" Type="http://schemas.openxmlformats.org/officeDocument/2006/relationships/hyperlink" Target="https://azure.microsoft.com/mediahandler/files/resourcefiles/-the-total-economic-impact-of-microsoft-azure-cost-management-and-billing/The%20Total%20Economic%20Impact%20Of%20Microsoft%20Azure%20Cost%20Management%20And%20Billing%20-%20final%20at%20Feb.%208%202021.pdf" TargetMode="External"/><Relationship Id="rId4" Type="http://schemas.openxmlformats.org/officeDocument/2006/relationships/hyperlink" Target="https://aka.ms/savingsplan-compute" TargetMode="Externa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www.principledtechnologies.com/Microsoft/Azure-SQL-Managed-Instance-0522.pdf"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azure.microsoft.com/en-us/resources/-the-total-economic-impact-of-microsoft-azure-cost-management-and-billing/" TargetMode="External"/><Relationship Id="rId2" Type="http://schemas.openxmlformats.org/officeDocument/2006/relationships/slide" Target="../slides/slide11.xml"/><Relationship Id="rId1" Type="http://schemas.openxmlformats.org/officeDocument/2006/relationships/notesMaster" Target="../notesMasters/notesMaster1.xml"/><Relationship Id="rId4" Type="http://schemas.openxmlformats.org/officeDocument/2006/relationships/hyperlink" Target="https://azure.microsoft.com/en-us/resources/forrester-total-economic-impact-of-microsoft-azure-arc-for-security-and-governance/" TargetMode="Externa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After more than 2 years of a global pandemic, businesses now need to navigate evolving macroeconomic headwinds, geopolitical tensions, and industry constraints of talent, and labor.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C428A1A-F8AA-4540-A1FF-810195DD46E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719393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However, the opportunity for cloud adoption is not slowing down. Businesses rushed to the cloud to help them navigate supply and demand uncertainties of the pandemic – and </a:t>
            </a:r>
            <a:r>
              <a:rPr lang="en-US" sz="1800" dirty="0">
                <a:effectLst/>
                <a:latin typeface="Segoe UI" panose="020B0502040204020203" pitchFamily="34" charset="0"/>
                <a:ea typeface="Calibri" panose="020F0502020204030204" pitchFamily="34" charset="0"/>
              </a:rPr>
              <a:t>customers are telling us that they are continuing to look to the cloud to help them reimagine their business digitally. In a recent study commissioned by Microsoft, 69% of ITDM’s globally responded that their cloud adoption plans were going to accelerate in the next year.</a:t>
            </a: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C428A1A-F8AA-4540-A1FF-810195DD46E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70783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b="1" dirty="0"/>
              <a:t>challenge</a:t>
            </a:r>
            <a:r>
              <a:rPr lang="en-US" dirty="0"/>
              <a:t> is how to navigate it all. </a:t>
            </a:r>
          </a:p>
          <a:p>
            <a:r>
              <a:rPr lang="en-US" i="0" dirty="0"/>
              <a:t>Although COVID accelerated cloud adoption in the recent past, many challenges remain on IT leaders minds - Legacy IT architecture still hamper agility, so how can they be modernized to help the business grow?</a:t>
            </a:r>
          </a:p>
          <a:p>
            <a:r>
              <a:rPr lang="en-US" i="0" dirty="0"/>
              <a:t>How do we modernize with cost optimization built in, and then keep an eye on costs?</a:t>
            </a:r>
          </a:p>
          <a:p>
            <a:r>
              <a:rPr lang="en-US" i="0" dirty="0"/>
              <a:t>How do we get ahead of what our business needs to be digitally resilient to thrive in the next disruption?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C428A1A-F8AA-4540-A1FF-810195DD46E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39825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There are three core business outcomes when customers want to do more with less: Migrate and save, optimize cloud costs, and reinvest to drive growth</a:t>
            </a:r>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C428A1A-F8AA-4540-A1FF-810195DD46E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043187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800"/>
              </a:spcAft>
            </a:pPr>
            <a:r>
              <a:rPr lang="en-US" sz="1800" dirty="0">
                <a:solidFill>
                  <a:srgbClr val="44546A"/>
                </a:solidFill>
                <a:effectLst/>
                <a:latin typeface="Calibri" panose="020F0502020204030204" pitchFamily="34" charset="0"/>
                <a:ea typeface="Calibri" panose="020F0502020204030204" pitchFamily="34" charset="0"/>
                <a:cs typeface="Calibri" panose="020F0502020204030204" pitchFamily="34" charset="0"/>
              </a:rPr>
              <a:t>Migrate</a:t>
            </a:r>
          </a:p>
          <a:p>
            <a:pPr marL="285750" marR="0" indent="-285750">
              <a:spcBef>
                <a:spcPts val="0"/>
              </a:spcBef>
              <a:spcAft>
                <a:spcPts val="800"/>
              </a:spcAft>
              <a:buFont typeface="Arial" panose="020B0604020202020204" pitchFamily="34" charset="0"/>
              <a:buChar char="•"/>
            </a:pPr>
            <a:r>
              <a:rPr lang="en-US" sz="1800" dirty="0">
                <a:solidFill>
                  <a:srgbClr val="44546A"/>
                </a:solidFill>
                <a:effectLst/>
                <a:latin typeface="Calibri" panose="020F0502020204030204" pitchFamily="34" charset="0"/>
                <a:ea typeface="Calibri" panose="020F0502020204030204" pitchFamily="34" charset="0"/>
                <a:cs typeface="Calibri" panose="020F0502020204030204" pitchFamily="34" charset="0"/>
              </a:rPr>
              <a:t>Migration is about moving on-premise workloads to Azure to get fundamental cost savings &amp; efficiency gains</a:t>
            </a:r>
          </a:p>
          <a:p>
            <a:pPr marL="285750" marR="0" indent="-285750">
              <a:spcBef>
                <a:spcPts val="0"/>
              </a:spcBef>
              <a:spcAft>
                <a:spcPts val="800"/>
              </a:spcAft>
              <a:buFont typeface="Arial" panose="020B0604020202020204" pitchFamily="34" charset="0"/>
              <a:buChar char="•"/>
            </a:pPr>
            <a:r>
              <a:rPr lang="en-US" sz="1800" dirty="0">
                <a:solidFill>
                  <a:srgbClr val="44546A"/>
                </a:solidFill>
                <a:effectLst/>
                <a:latin typeface="Calibri" panose="020F0502020204030204" pitchFamily="34" charset="0"/>
                <a:ea typeface="Calibri" panose="020F0502020204030204" pitchFamily="34" charset="0"/>
                <a:cs typeface="Calibri" panose="020F0502020204030204" pitchFamily="34" charset="0"/>
              </a:rPr>
              <a:t>There are implicit cost benefits organizations may realize when deferring datacenter management to the cloud provider like energy &amp; IT infrastructure </a:t>
            </a:r>
          </a:p>
          <a:p>
            <a:pPr marL="285750" marR="0" indent="-285750">
              <a:spcBef>
                <a:spcPts val="0"/>
              </a:spcBef>
              <a:spcAft>
                <a:spcPts val="800"/>
              </a:spcAft>
              <a:buFont typeface="Arial" panose="020B0604020202020204" pitchFamily="34" charset="0"/>
              <a:buChar char="•"/>
            </a:pPr>
            <a:r>
              <a:rPr lang="en-US" sz="1800" dirty="0">
                <a:solidFill>
                  <a:srgbClr val="44546A"/>
                </a:solidFill>
                <a:effectLst/>
                <a:latin typeface="Calibri" panose="020F0502020204030204" pitchFamily="34" charset="0"/>
                <a:ea typeface="Calibri" panose="020F0502020204030204" pitchFamily="34" charset="0"/>
                <a:cs typeface="Calibri" panose="020F0502020204030204" pitchFamily="34" charset="0"/>
              </a:rPr>
              <a:t>There are explicit cost benefits to gain with Azure like up to 85% savings when running Windows Server &amp; SQL Server on VMs and leveraging the Azure Hybrid Benefit</a:t>
            </a:r>
          </a:p>
          <a:p>
            <a:pPr marL="0" marR="0" indent="0">
              <a:spcBef>
                <a:spcPts val="0"/>
              </a:spcBef>
              <a:spcAft>
                <a:spcPts val="800"/>
              </a:spcAft>
              <a:buFont typeface="Arial" panose="020B0604020202020204" pitchFamily="34" charset="0"/>
              <a:buNone/>
            </a:pPr>
            <a:r>
              <a:rPr lang="en-US" sz="1800" dirty="0">
                <a:solidFill>
                  <a:srgbClr val="44546A"/>
                </a:solidFill>
                <a:effectLst/>
                <a:latin typeface="Calibri" panose="020F0502020204030204" pitchFamily="34" charset="0"/>
                <a:ea typeface="Calibri" panose="020F0502020204030204" pitchFamily="34" charset="0"/>
                <a:cs typeface="Calibri" panose="020F0502020204030204" pitchFamily="34" charset="0"/>
              </a:rPr>
              <a:t>Optimize</a:t>
            </a:r>
          </a:p>
          <a:p>
            <a:pPr marL="285750" marR="0" indent="-285750">
              <a:spcBef>
                <a:spcPts val="0"/>
              </a:spcBef>
              <a:spcAft>
                <a:spcPts val="800"/>
              </a:spcAft>
              <a:buFont typeface="Arial" panose="020B0604020202020204" pitchFamily="34" charset="0"/>
              <a:buChar char="•"/>
            </a:pPr>
            <a:r>
              <a:rPr lang="en-US" sz="1800" dirty="0">
                <a:solidFill>
                  <a:srgbClr val="44546A"/>
                </a:solidFill>
                <a:effectLst/>
                <a:latin typeface="Calibri" panose="020F0502020204030204" pitchFamily="34" charset="0"/>
                <a:ea typeface="Calibri" panose="020F0502020204030204" pitchFamily="34" charset="0"/>
                <a:cs typeface="Calibri" panose="020F0502020204030204" pitchFamily="34" charset="0"/>
              </a:rPr>
              <a:t>Optimization is about using tools to reduce existing cloud spend but also ensuring cloud workloads are set up in the right way to optimize cost and performance</a:t>
            </a:r>
          </a:p>
          <a:p>
            <a:pPr marL="285750" marR="0" indent="-285750">
              <a:spcBef>
                <a:spcPts val="0"/>
              </a:spcBef>
              <a:spcAft>
                <a:spcPts val="800"/>
              </a:spcAft>
              <a:buFont typeface="Arial" panose="020B0604020202020204" pitchFamily="34" charset="0"/>
              <a:buChar char="•"/>
            </a:pPr>
            <a:r>
              <a:rPr lang="en-US" sz="1800" dirty="0">
                <a:solidFill>
                  <a:srgbClr val="44546A"/>
                </a:solidFill>
                <a:effectLst/>
                <a:latin typeface="Calibri" panose="020F0502020204030204" pitchFamily="34" charset="0"/>
                <a:ea typeface="Calibri" panose="020F0502020204030204" pitchFamily="34" charset="0"/>
                <a:cs typeface="Calibri" panose="020F0502020204030204" pitchFamily="34" charset="0"/>
              </a:rPr>
              <a:t>Tools like Microsoft Cost Management help forecast, monitor, and identify ways to reduce actual dollars spent and products like Azure advisor provide personalized recommendations to ensure workloads are well-architected </a:t>
            </a:r>
          </a:p>
          <a:p>
            <a:pPr marL="285750" marR="0" indent="-285750">
              <a:spcBef>
                <a:spcPts val="0"/>
              </a:spcBef>
              <a:spcAft>
                <a:spcPts val="800"/>
              </a:spcAft>
              <a:buFont typeface="Arial" panose="020B0604020202020204" pitchFamily="34" charset="0"/>
              <a:buChar char="•"/>
            </a:pPr>
            <a:r>
              <a:rPr lang="en-US" sz="1800" dirty="0">
                <a:solidFill>
                  <a:srgbClr val="44546A"/>
                </a:solidFill>
                <a:effectLst/>
                <a:latin typeface="Calibri" panose="020F0502020204030204" pitchFamily="34" charset="0"/>
                <a:ea typeface="Calibri" panose="020F0502020204030204" pitchFamily="34" charset="0"/>
                <a:cs typeface="Calibri" panose="020F0502020204030204" pitchFamily="34" charset="0"/>
              </a:rPr>
              <a:t>Most organizations have compute surfaces across clouds &amp; on-prem. This is where Azure Arc supports the optimization outcome by bringing a single management pane for all these surfaces</a:t>
            </a:r>
          </a:p>
          <a:p>
            <a:pPr marL="0" marR="0" indent="0">
              <a:spcBef>
                <a:spcPts val="0"/>
              </a:spcBef>
              <a:spcAft>
                <a:spcPts val="800"/>
              </a:spcAft>
              <a:buFont typeface="Arial" panose="020B0604020202020204" pitchFamily="34" charset="0"/>
              <a:buNone/>
            </a:pPr>
            <a:r>
              <a:rPr lang="en-US" sz="1800" dirty="0">
                <a:solidFill>
                  <a:srgbClr val="44546A"/>
                </a:solidFill>
                <a:effectLst/>
                <a:latin typeface="Calibri" panose="020F0502020204030204" pitchFamily="34" charset="0"/>
                <a:ea typeface="Calibri" panose="020F0502020204030204" pitchFamily="34" charset="0"/>
                <a:cs typeface="Calibri" panose="020F0502020204030204" pitchFamily="34" charset="0"/>
              </a:rPr>
              <a:t>Reinvest</a:t>
            </a:r>
          </a:p>
          <a:p>
            <a:pPr marL="285750" marR="0" indent="-285750">
              <a:spcBef>
                <a:spcPts val="0"/>
              </a:spcBef>
              <a:spcAft>
                <a:spcPts val="800"/>
              </a:spcAft>
              <a:buFont typeface="Arial" panose="020B0604020202020204" pitchFamily="34" charset="0"/>
              <a:buChar char="•"/>
            </a:pPr>
            <a:r>
              <a:rPr lang="en-US" sz="1800" dirty="0">
                <a:solidFill>
                  <a:srgbClr val="44546A"/>
                </a:solidFill>
                <a:effectLst/>
                <a:latin typeface="Calibri" panose="020F0502020204030204" pitchFamily="34" charset="0"/>
                <a:ea typeface="Calibri" panose="020F0502020204030204" pitchFamily="34" charset="0"/>
                <a:cs typeface="Calibri" panose="020F0502020204030204" pitchFamily="34" charset="0"/>
              </a:rPr>
              <a:t>Reinvest is about leveraging the gains from migration &amp; optimization and putting them to critical aspects that will drive a business forward</a:t>
            </a:r>
          </a:p>
          <a:p>
            <a:pPr marL="285750" marR="0" indent="-285750">
              <a:spcBef>
                <a:spcPts val="0"/>
              </a:spcBef>
              <a:spcAft>
                <a:spcPts val="800"/>
              </a:spcAft>
              <a:buFont typeface="Arial" panose="020B0604020202020204" pitchFamily="34" charset="0"/>
              <a:buChar char="•"/>
            </a:pPr>
            <a:r>
              <a:rPr lang="en-US" sz="1800" dirty="0">
                <a:solidFill>
                  <a:srgbClr val="44546A"/>
                </a:solidFill>
                <a:effectLst/>
                <a:latin typeface="Calibri" panose="020F0502020204030204" pitchFamily="34" charset="0"/>
                <a:ea typeface="Calibri" panose="020F0502020204030204" pitchFamily="34" charset="0"/>
                <a:cs typeface="Calibri" panose="020F0502020204030204" pitchFamily="34" charset="0"/>
              </a:rPr>
              <a:t>Key areas for reinvestment include security &amp; business continuity to keep organizations resilient, future proofing applications to capitalize on new customer demands, and leveraging the power of data to find new business value and drive sustainability solutions</a:t>
            </a:r>
          </a:p>
          <a:p>
            <a:pPr>
              <a:spcAft>
                <a:spcPts val="800"/>
              </a:spcAft>
            </a:pPr>
            <a:endParaRPr lang="en-US" sz="1800" dirty="0">
              <a:solidFill>
                <a:srgbClr val="44546A"/>
              </a:solidFill>
              <a:cs typeface="Calibri"/>
            </a:endParaRPr>
          </a:p>
          <a:p>
            <a:pPr>
              <a:spcAft>
                <a:spcPts val="800"/>
              </a:spcAft>
            </a:pPr>
            <a:r>
              <a:rPr lang="en-US" sz="1800" dirty="0">
                <a:solidFill>
                  <a:srgbClr val="44546A"/>
                </a:solidFill>
                <a:cs typeface="Calibri"/>
              </a:rPr>
              <a:t>CLAIM SUBSTANTIATION</a:t>
            </a:r>
          </a:p>
          <a:p>
            <a:r>
              <a:rPr lang="en-US" sz="1800" dirty="0"/>
              <a:t>1. Azure Hybrid Benefit disclaimer: </a:t>
            </a:r>
            <a:r>
              <a:rPr lang="en-US" sz="1800" dirty="0">
                <a:hlinkClick r:id="rId3"/>
              </a:rPr>
              <a:t>https://azure.microsoft.com/en-us/pricing/hybrid-benefit/</a:t>
            </a:r>
            <a:endParaRPr lang="en-US" sz="1800" dirty="0">
              <a:cs typeface="Calibri"/>
            </a:endParaRPr>
          </a:p>
          <a:p>
            <a:r>
              <a:rPr lang="en-US" sz="1800" dirty="0"/>
              <a:t>2. Azure savings plan disclaimer: </a:t>
            </a:r>
            <a:r>
              <a:rPr lang="en-US" sz="1800" dirty="0">
                <a:hlinkClick r:id="rId4"/>
              </a:rPr>
              <a:t>https://aka.ms/savingsplan-compute</a:t>
            </a:r>
            <a:endParaRPr lang="en-US" sz="1800" dirty="0">
              <a:cs typeface="Calibri"/>
            </a:endParaRPr>
          </a:p>
          <a:p>
            <a:r>
              <a:rPr lang="en-US" sz="1800" dirty="0">
                <a:solidFill>
                  <a:srgbClr val="000000"/>
                </a:solidFill>
                <a:cs typeface="Calibri"/>
              </a:rPr>
              <a:t>3. Microsoft</a:t>
            </a:r>
            <a:r>
              <a:rPr lang="en-US" sz="1800" dirty="0"/>
              <a:t> Cost Management 34% savings: </a:t>
            </a:r>
            <a:r>
              <a:rPr lang="en-US" sz="1800" dirty="0">
                <a:hlinkClick r:id="rId5"/>
              </a:rPr>
              <a:t>The Total Economic Impact Of Microsoft Azure Cost Management And Billing, Forrester</a:t>
            </a:r>
            <a:endParaRPr lang="en-US" sz="1800" dirty="0">
              <a:solidFill>
                <a:srgbClr val="000000"/>
              </a:solidFill>
              <a:cs typeface="Calibri"/>
            </a:endParaRPr>
          </a:p>
          <a:p>
            <a:endParaRPr lang="en-US" sz="1800" dirty="0">
              <a:solidFill>
                <a:srgbClr val="000000"/>
              </a:solidFill>
              <a:cs typeface="Calibri"/>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CA1584-BE44-4BC8-8046-4B1E17FF8CF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114760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marR="0" indent="-285750">
              <a:spcBef>
                <a:spcPts val="0"/>
              </a:spcBef>
              <a:spcAft>
                <a:spcPts val="600"/>
              </a:spcAft>
              <a:buFont typeface="Arial" panose="020B0604020202020204" pitchFamily="34" charset="0"/>
              <a:buChar char="•"/>
            </a:pPr>
            <a:r>
              <a:rPr lang="en-US" sz="1800" kern="1200" dirty="0">
                <a:solidFill>
                  <a:srgbClr val="000000"/>
                </a:solidFill>
                <a:effectLst/>
                <a:latin typeface="Segoe UI" panose="020B0502040204020203" pitchFamily="34" charset="0"/>
                <a:ea typeface="Times New Roman" panose="02020603050405020304" pitchFamily="18" charset="0"/>
              </a:rPr>
              <a:t>Why does an organization want to migrate – to lower costs and increase ROI</a:t>
            </a:r>
          </a:p>
          <a:p>
            <a:pPr marL="742950" marR="0" lvl="1" indent="-285750">
              <a:spcBef>
                <a:spcPts val="0"/>
              </a:spcBef>
              <a:spcAft>
                <a:spcPts val="600"/>
              </a:spcAft>
              <a:buFont typeface="Arial" panose="020B0604020202020204" pitchFamily="34" charset="0"/>
              <a:buChar char="•"/>
            </a:pPr>
            <a:r>
              <a:rPr lang="en-US" sz="1800" kern="1200" dirty="0">
                <a:solidFill>
                  <a:srgbClr val="000000"/>
                </a:solidFill>
                <a:effectLst/>
                <a:latin typeface="Segoe UI" panose="020B0502040204020203" pitchFamily="34" charset="0"/>
                <a:ea typeface="Times New Roman" panose="02020603050405020304" pitchFamily="18" charset="0"/>
              </a:rPr>
              <a:t>This can manifest by saving on existing investments, leveraging savings plans and offers, and simply getting the sustainability benefits from running in the cloud instead of on-premise</a:t>
            </a:r>
          </a:p>
          <a:p>
            <a:pPr marL="742950" marR="0" lvl="1" indent="-285750">
              <a:spcBef>
                <a:spcPts val="0"/>
              </a:spcBef>
              <a:spcAft>
                <a:spcPts val="600"/>
              </a:spcAft>
              <a:buFont typeface="Arial" panose="020B0604020202020204" pitchFamily="34" charset="0"/>
              <a:buChar char="•"/>
            </a:pPr>
            <a:r>
              <a:rPr lang="en-US" sz="1800" kern="1200" dirty="0">
                <a:solidFill>
                  <a:srgbClr val="000000"/>
                </a:solidFill>
                <a:effectLst/>
                <a:latin typeface="Segoe UI" panose="020B0502040204020203" pitchFamily="34" charset="0"/>
                <a:ea typeface="Times New Roman" panose="02020603050405020304" pitchFamily="18" charset="0"/>
              </a:rPr>
              <a:t>Some Azure only benefits are Azure Hybrid benefit and the recently announced Azure savings plan for compute. </a:t>
            </a:r>
          </a:p>
          <a:p>
            <a:pPr marL="742950" marR="0" lvl="1" indent="-285750">
              <a:spcBef>
                <a:spcPts val="0"/>
              </a:spcBef>
              <a:spcAft>
                <a:spcPts val="600"/>
              </a:spcAft>
              <a:buFont typeface="Arial" panose="020B0604020202020204" pitchFamily="34" charset="0"/>
              <a:buChar char="•"/>
            </a:pPr>
            <a:r>
              <a:rPr lang="en-US" sz="1800" kern="900" dirty="0">
                <a:effectLst/>
                <a:latin typeface="Segoe UI" panose="020B0502040204020203" pitchFamily="34" charset="0"/>
                <a:ea typeface="Times New Roman" panose="02020603050405020304" pitchFamily="18" charset="0"/>
              </a:rPr>
              <a:t>In a recent Business value of migrating and modernizing to Azure study from IDC commissioned by Microsoft, enterprises reported saving on time costs via more efficient Infrastructure staff, as well as a 391 percent ROI over 3 years after moving to Azure</a:t>
            </a: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C428A1A-F8AA-4540-A1FF-810195DD46E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143679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Azure focuses on delivering the best value at every stage</a:t>
            </a:r>
          </a:p>
          <a:p>
            <a:pPr marL="171450" indent="-171450">
              <a:buFont typeface="Arial" panose="020B0604020202020204" pitchFamily="34" charset="0"/>
              <a:buChar char="•"/>
            </a:pPr>
            <a:r>
              <a:rPr lang="en-US" dirty="0"/>
              <a:t>Azure is particularly competitive in Migration scenarios </a:t>
            </a:r>
          </a:p>
          <a:p>
            <a:pPr marL="628650" lvl="1" indent="-171450">
              <a:buFont typeface="Arial" panose="020B0604020202020204" pitchFamily="34" charset="0"/>
              <a:buChar char="•"/>
            </a:pPr>
            <a:r>
              <a:rPr lang="en-US" dirty="0"/>
              <a:t>Best price &amp; performance for Windows &amp; SQL server + Azure-only features for Windows Server</a:t>
            </a:r>
          </a:p>
          <a:p>
            <a:pPr marL="628650" lvl="1" indent="-171450">
              <a:buFont typeface="Arial" panose="020B0604020202020204" pitchFamily="34" charset="0"/>
              <a:buChar char="•"/>
            </a:pPr>
            <a:r>
              <a:rPr lang="en-US" dirty="0"/>
              <a:t>High up-time SLAs to enable IT &amp; development staff to prioritize high value add activities instead of managing back-end complexities</a:t>
            </a:r>
          </a:p>
          <a:p>
            <a:pPr marL="628650" lvl="1" indent="-171450">
              <a:buFont typeface="Arial" panose="020B0604020202020204" pitchFamily="34" charset="0"/>
              <a:buChar char="•"/>
            </a:pPr>
            <a:r>
              <a:rPr lang="en-US" dirty="0"/>
              <a:t>A collection of tools and programs like the Azure Migration Program to accelerate time to value</a:t>
            </a:r>
          </a:p>
          <a:p>
            <a:pPr marL="628650" lvl="1" indent="-171450">
              <a:buFont typeface="Arial" panose="020B0604020202020204" pitchFamily="34" charset="0"/>
              <a:buChar char="•"/>
            </a:pPr>
            <a:endParaRPr lang="en-US" dirty="0"/>
          </a:p>
          <a:p>
            <a:pPr>
              <a:spcAft>
                <a:spcPts val="800"/>
              </a:spcAft>
            </a:pPr>
            <a:r>
              <a:rPr lang="en-US" sz="1800" dirty="0">
                <a:solidFill>
                  <a:srgbClr val="44546A"/>
                </a:solidFill>
                <a:cs typeface="Calibri"/>
              </a:rPr>
              <a:t>CLAIM SUBSTANTIATION</a:t>
            </a:r>
          </a:p>
          <a:p>
            <a:pPr marL="228600" indent="-228600">
              <a:buAutoNum type="arabicPeriod"/>
            </a:pPr>
            <a:r>
              <a:rPr lang="en-US" dirty="0"/>
              <a:t>DB performance against AWS: </a:t>
            </a:r>
            <a:r>
              <a:rPr lang="en-US" dirty="0">
                <a:hlinkClick r:id="rId3"/>
              </a:rPr>
              <a:t>https://www.principledtechnologies.com/Microsoft/Azure-SQL-Managed-Instance-0522.pdf</a:t>
            </a:r>
            <a:endParaRPr lang="en-US" dirty="0"/>
          </a:p>
          <a:p>
            <a:pPr marL="0" lv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fld id="{DC428A1A-F8AA-4540-A1FF-810195DD46E6}" type="slidenum">
              <a:rPr lang="en-US" smtClean="0"/>
              <a:t>8</a:t>
            </a:fld>
            <a:endParaRPr lang="en-US"/>
          </a:p>
        </p:txBody>
      </p:sp>
    </p:spTree>
    <p:extLst>
      <p:ext uri="{BB962C8B-B14F-4D97-AF65-F5344CB8AC3E}">
        <p14:creationId xmlns:p14="http://schemas.microsoft.com/office/powerpoint/2010/main" val="3983200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Outside of the initial migration, organizations must position their cloud investments to save long-term, be it the fundamental shift from </a:t>
            </a:r>
            <a:r>
              <a:rPr lang="en-US" dirty="0" err="1"/>
              <a:t>CapEx</a:t>
            </a:r>
            <a:r>
              <a:rPr lang="en-US" dirty="0"/>
              <a:t> to </a:t>
            </a:r>
            <a:r>
              <a:rPr lang="en-US" dirty="0" err="1"/>
              <a:t>OpEx</a:t>
            </a:r>
            <a:r>
              <a:rPr lang="en-US" dirty="0"/>
              <a:t>, selecting a platform with savings mechanisms that are flexible and can grow with you, and/or prioritizing sustainability in the platform selection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DC428A1A-F8AA-4540-A1FF-810195DD46E6}" type="slidenum">
              <a:rPr lang="en-US" smtClean="0"/>
              <a:t>9</a:t>
            </a:fld>
            <a:endParaRPr lang="en-US"/>
          </a:p>
        </p:txBody>
      </p:sp>
    </p:spTree>
    <p:extLst>
      <p:ext uri="{BB962C8B-B14F-4D97-AF65-F5344CB8AC3E}">
        <p14:creationId xmlns:p14="http://schemas.microsoft.com/office/powerpoint/2010/main" val="27305575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effectLst/>
                <a:latin typeface="SegoeUI"/>
              </a:rPr>
              <a:t>By migrating its SAP landscape to Microsoft Azure and SUSE Linux Enterprise Server for SAP Applications, CEMEX has saved money, improved performance by 40 to 70 percent for migrated SAP applications, and increased IT flexibility with on-demand cloud services.</a:t>
            </a: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07EA197-1CF6-46B0-B927-B9913388945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903204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To optimize cloud costs and recognize the full value of the cloud, customers need to optimize their existing investments and can achieve that by: </a:t>
            </a:r>
            <a:endParaRPr lang="en-US" dirty="0"/>
          </a:p>
          <a:p>
            <a:pPr marL="228600" indent="-228600">
              <a:buFont typeface="+mj-lt"/>
              <a:buAutoNum type="arabicPeriod"/>
            </a:pPr>
            <a:r>
              <a:rPr lang="en-US" b="1" dirty="0">
                <a:cs typeface="Calibri"/>
              </a:rPr>
              <a:t>Controlling cloud spend. </a:t>
            </a:r>
            <a:r>
              <a:rPr lang="en-US" dirty="0">
                <a:cs typeface="Calibri"/>
              </a:rPr>
              <a:t>Microsoft Cost Management helps </a:t>
            </a:r>
            <a:r>
              <a:rPr lang="en-US" dirty="0"/>
              <a:t>customers understand their Azure bill, provides data analysis to their costs, sets spending thresholds, and identifies opportunities for workload changes to optimize their costs.</a:t>
            </a:r>
          </a:p>
          <a:p>
            <a:pPr marL="228600" indent="-228600">
              <a:buFont typeface="+mj-lt"/>
              <a:buAutoNum type="arabicPeriod"/>
            </a:pPr>
            <a:r>
              <a:rPr lang="en-US" b="1" dirty="0">
                <a:cs typeface="Calibri"/>
              </a:rPr>
              <a:t>Improving workload efficiency. </a:t>
            </a:r>
            <a:r>
              <a:rPr lang="en-US" dirty="0">
                <a:cs typeface="Calibri"/>
              </a:rPr>
              <a:t>Azure Advisor </a:t>
            </a:r>
            <a:r>
              <a:rPr lang="en-US" dirty="0"/>
              <a:t>provides personalized best practices for customers to optimize their Azure workloads. Customers can use guidance within the Cloud Adoption Framework and Azure Well-Architected Framework to ensure they follow Microsoft best practices for cost optimization throughout the cloud journey</a:t>
            </a:r>
          </a:p>
          <a:p>
            <a:pPr marL="228600" indent="-228600">
              <a:buFont typeface="+mj-lt"/>
              <a:buAutoNum type="arabicPeriod"/>
            </a:pPr>
            <a:r>
              <a:rPr lang="en-US" b="1" dirty="0">
                <a:cs typeface="Calibri"/>
              </a:rPr>
              <a:t>Making hybrid &amp; multi-cloud environments more productive. </a:t>
            </a:r>
            <a:r>
              <a:rPr lang="en-US" dirty="0">
                <a:cs typeface="Calibri"/>
              </a:rPr>
              <a:t>Azure Arc helps customers reduce spend on costly 3P tools used to manage hybrid &amp; multi-cloud environments.</a:t>
            </a:r>
          </a:p>
          <a:p>
            <a:endParaRPr lang="en-US" dirty="0">
              <a:cs typeface="Calibri"/>
            </a:endParaRPr>
          </a:p>
          <a:p>
            <a:r>
              <a:rPr lang="en-US" dirty="0">
                <a:cs typeface="Calibri"/>
              </a:rPr>
              <a:t>CLAIM SUBSTANTIATION (in addition to slide citations)</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solidFill>
                  <a:srgbClr val="000000"/>
                </a:solidFill>
                <a:cs typeface="Calibri"/>
              </a:rPr>
              <a:t>Microsoft</a:t>
            </a:r>
            <a:r>
              <a:rPr lang="en-US" dirty="0"/>
              <a:t> Cost Management 34% savings: </a:t>
            </a:r>
            <a:r>
              <a:rPr lang="en-US" dirty="0">
                <a:hlinkClick r:id="rId3"/>
              </a:rPr>
              <a:t>https://azure.microsoft.com/en-us/resources/-the-total-economic-impact-of-microsoft-azure-cost-management-and-billing/</a:t>
            </a:r>
            <a:endParaRPr lang="en-US" dirty="0"/>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solidFill>
                  <a:srgbClr val="000000"/>
                </a:solidFill>
                <a:cs typeface="Calibri"/>
              </a:rPr>
              <a:t>TEI of Azure Arc for security &amp; governance – 206% in potential ROI: </a:t>
            </a:r>
            <a:r>
              <a:rPr lang="en-US" dirty="0">
                <a:hlinkClick r:id="rId4"/>
              </a:rPr>
              <a:t>https://azure.microsoft.com/en-us/resources/forrester-total-economic-impact-of-microsoft-azure-arc-for-security-and-governance/</a:t>
            </a:r>
            <a:endParaRPr lang="en-US" dirty="0">
              <a:solidFill>
                <a:srgbClr val="000000"/>
              </a:solidFill>
              <a:cs typeface="Calibri"/>
            </a:endParaRPr>
          </a:p>
          <a:p>
            <a:endParaRPr lang="en-US" dirty="0">
              <a:cs typeface="Calibri"/>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CA1584-BE44-4BC8-8046-4B1E17FF8CF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707237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cs typeface="Calibri"/>
              </a:rPr>
              <a:t>Optimizing has two core elements: optimizing costs and optimizing workloads </a:t>
            </a:r>
          </a:p>
          <a:p>
            <a:pPr marL="171450" lvl="0" indent="-171450">
              <a:buFont typeface="Arial" panose="020B0604020202020204" pitchFamily="34" charset="0"/>
              <a:buChar char="•"/>
            </a:pPr>
            <a:r>
              <a:rPr lang="en-US" b="1" dirty="0">
                <a:cs typeface="Calibri"/>
              </a:rPr>
              <a:t>Optimizing Costs </a:t>
            </a:r>
            <a:r>
              <a:rPr lang="en-US" dirty="0">
                <a:cs typeface="Calibri"/>
              </a:rPr>
              <a:t>covers products and tools like Microsoft Cost Management and Azure Advisor that give personalized and actionable insights and recommendations on reducing costs, leveraging savings offers to get discounts on select compute services, and reducing the people cost often present in supporting redundant data analysis tasks that could be streamlined with the cloud</a:t>
            </a:r>
          </a:p>
          <a:p>
            <a:pPr marL="171450" lvl="0" indent="-171450">
              <a:buFont typeface="Arial" panose="020B0604020202020204" pitchFamily="34" charset="0"/>
              <a:buChar char="•"/>
            </a:pPr>
            <a:r>
              <a:rPr lang="en-US" b="1" dirty="0">
                <a:cs typeface="Calibri"/>
              </a:rPr>
              <a:t>Optimizing the workload</a:t>
            </a:r>
            <a:r>
              <a:rPr lang="en-US" dirty="0">
                <a:cs typeface="Calibri"/>
              </a:rPr>
              <a:t> is all about the way a cloud workload is constructed and ran, often referred to as being well-architected. Azure provides, a deep library of reference material to help customers implement best practices along with self-service &amp; automated tools to get workload-specific recommendations to improve architectures designs.</a:t>
            </a:r>
          </a:p>
          <a:p>
            <a:pPr marL="171450" lvl="0" indent="-171450">
              <a:buFont typeface="Arial" panose="020B0604020202020204" pitchFamily="34" charset="0"/>
              <a:buChar char="•"/>
            </a:pPr>
            <a:endParaRPr lang="en-US" dirty="0">
              <a:cs typeface="Calibri"/>
            </a:endParaRPr>
          </a:p>
          <a:p>
            <a:pPr lvl="1">
              <a:lnSpc>
                <a:spcPct val="90000"/>
              </a:lnSpc>
              <a:spcBef>
                <a:spcPct val="20000"/>
              </a:spcBef>
              <a:spcAft>
                <a:spcPts val="200"/>
              </a:spcAft>
            </a:pPr>
            <a:endParaRPr lang="en-US" dirty="0">
              <a:cs typeface="Calibri"/>
            </a:endParaRPr>
          </a:p>
          <a:p>
            <a:pPr lvl="1">
              <a:lnSpc>
                <a:spcPct val="90000"/>
              </a:lnSpc>
              <a:spcBef>
                <a:spcPct val="20000"/>
              </a:spcBef>
              <a:spcAft>
                <a:spcPts val="200"/>
              </a:spcAft>
            </a:pPr>
            <a:endParaRPr lang="en-US" dirty="0">
              <a:cs typeface="Calibri"/>
            </a:endParaRPr>
          </a:p>
          <a:p>
            <a:pPr lvl="1">
              <a:lnSpc>
                <a:spcPct val="90000"/>
              </a:lnSpc>
              <a:spcBef>
                <a:spcPct val="20000"/>
              </a:spcBef>
              <a:spcAft>
                <a:spcPts val="200"/>
              </a:spcAft>
            </a:pPr>
            <a:endParaRPr lang="en-US" dirty="0">
              <a:cs typeface="Calibri"/>
            </a:endParaRPr>
          </a:p>
          <a:p>
            <a:endParaRPr lang="en-US" dirty="0">
              <a:cs typeface="Calibri"/>
            </a:endParaRPr>
          </a:p>
          <a:p>
            <a:endParaRPr lang="en-US" dirty="0">
              <a:cs typeface="Calibri"/>
            </a:endParaRPr>
          </a:p>
        </p:txBody>
      </p:sp>
      <p:sp>
        <p:nvSpPr>
          <p:cNvPr id="4" name="Slide Number Placeholder 3"/>
          <p:cNvSpPr>
            <a:spLocks noGrp="1"/>
          </p:cNvSpPr>
          <p:nvPr>
            <p:ph type="sldNum" sz="quarter" idx="5"/>
          </p:nvPr>
        </p:nvSpPr>
        <p:spPr/>
        <p:txBody>
          <a:bodyPr/>
          <a:lstStyle/>
          <a:p>
            <a:fld id="{DC428A1A-F8AA-4540-A1FF-810195DD46E6}" type="slidenum">
              <a:rPr lang="en-US" smtClean="0"/>
              <a:t>12</a:t>
            </a:fld>
            <a:endParaRPr lang="en-US"/>
          </a:p>
        </p:txBody>
      </p:sp>
    </p:spTree>
    <p:extLst>
      <p:ext uri="{BB962C8B-B14F-4D97-AF65-F5344CB8AC3E}">
        <p14:creationId xmlns:p14="http://schemas.microsoft.com/office/powerpoint/2010/main" val="37873005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Organizations recognize that the public cloud is only one part of the optimization discussion, alongside on-premise, edge &amp; multi-cloud environments</a:t>
            </a:r>
          </a:p>
          <a:p>
            <a:pPr marL="171450" indent="-171450">
              <a:buFont typeface="Arial" panose="020B0604020202020204" pitchFamily="34" charset="0"/>
              <a:buChar char="•"/>
            </a:pPr>
            <a:r>
              <a:rPr lang="en-US" dirty="0"/>
              <a:t>Azure Arc helps bring many of the optimization benefits found in Azure to these other compute services through</a:t>
            </a:r>
          </a:p>
          <a:p>
            <a:pPr marL="628650" lvl="1" indent="-171450">
              <a:buFont typeface="Arial" panose="020B0604020202020204" pitchFamily="34" charset="0"/>
              <a:buChar char="•"/>
            </a:pPr>
            <a:r>
              <a:rPr lang="en-US" dirty="0"/>
              <a:t>A single control pane for workload management</a:t>
            </a:r>
          </a:p>
          <a:p>
            <a:pPr marL="628650" lvl="1" indent="-171450">
              <a:buFont typeface="Arial" panose="020B0604020202020204" pitchFamily="34" charset="0"/>
              <a:buChar char="•"/>
            </a:pPr>
            <a:r>
              <a:rPr lang="en-US" dirty="0"/>
              <a:t>Being able to run Azure management, application, &amp; data services anywhere</a:t>
            </a:r>
          </a:p>
          <a:p>
            <a:pPr marL="628650" lvl="1" indent="-171450">
              <a:buFont typeface="Arial" panose="020B0604020202020204" pitchFamily="34" charset="0"/>
              <a:buChar char="•"/>
            </a:pPr>
            <a:r>
              <a:rPr lang="en-US" dirty="0"/>
              <a:t>Enabling flexibility to meet many regulatory and connectivity needs</a:t>
            </a:r>
          </a:p>
        </p:txBody>
      </p:sp>
      <p:sp>
        <p:nvSpPr>
          <p:cNvPr id="4" name="Slide Number Placeholder 3"/>
          <p:cNvSpPr>
            <a:spLocks noGrp="1"/>
          </p:cNvSpPr>
          <p:nvPr>
            <p:ph type="sldNum" sz="quarter" idx="5"/>
          </p:nvPr>
        </p:nvSpPr>
        <p:spPr/>
        <p:txBody>
          <a:bodyPr/>
          <a:lstStyle/>
          <a:p>
            <a:fld id="{DC428A1A-F8AA-4540-A1FF-810195DD46E6}" type="slidenum">
              <a:rPr lang="en-US" smtClean="0"/>
              <a:t>13</a:t>
            </a:fld>
            <a:endParaRPr lang="en-US"/>
          </a:p>
        </p:txBody>
      </p:sp>
    </p:spTree>
    <p:extLst>
      <p:ext uri="{BB962C8B-B14F-4D97-AF65-F5344CB8AC3E}">
        <p14:creationId xmlns:p14="http://schemas.microsoft.com/office/powerpoint/2010/main" val="23730184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effectLst/>
                <a:latin typeface="SegoeUI"/>
              </a:rPr>
              <a:t>Like retailers across the globe, ASOS wasn’t immune to the effects of COVID-19. In 2020, as the organization was hit with the financial impacts of the pandemic, it needed to assess where it could optimize its costs. ASOS worked closely with Microsoft to implement the guiding principles of the Azure Well-Architected Framework in order to find ways to reduce and manage costs.</a:t>
            </a: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07EA197-1CF6-46B0-B927-B9913388945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772532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marR="0" indent="-285750">
              <a:spcBef>
                <a:spcPts val="0"/>
              </a:spcBef>
              <a:spcAft>
                <a:spcPts val="600"/>
              </a:spcAft>
              <a:buFont typeface="Arial" panose="020B0604020202020204" pitchFamily="34" charset="0"/>
              <a:buChar char="•"/>
            </a:pPr>
            <a:r>
              <a:rPr lang="en-US" sz="1200" kern="1200" dirty="0">
                <a:solidFill>
                  <a:srgbClr val="000000"/>
                </a:solidFill>
                <a:effectLst/>
                <a:latin typeface="Segoe UI" panose="020B0502040204020203" pitchFamily="34" charset="0"/>
                <a:ea typeface="Times New Roman" panose="02020603050405020304" pitchFamily="18" charset="0"/>
              </a:rPr>
              <a:t>Why does an organization want to reinvest – to position themselves to accelerate growth on the back of their savings from migration &amp; optimization. This is where ‘doing more’ with less really comes to life. </a:t>
            </a:r>
          </a:p>
          <a:p>
            <a:pPr marL="285750" marR="0" indent="-285750">
              <a:spcBef>
                <a:spcPts val="0"/>
              </a:spcBef>
              <a:spcAft>
                <a:spcPts val="600"/>
              </a:spcAft>
              <a:buFont typeface="Arial" panose="020B0604020202020204" pitchFamily="34" charset="0"/>
              <a:buChar char="•"/>
            </a:pPr>
            <a:r>
              <a:rPr lang="en-US" sz="1200" kern="1200" dirty="0">
                <a:solidFill>
                  <a:srgbClr val="000000"/>
                </a:solidFill>
                <a:effectLst/>
                <a:latin typeface="Segoe UI" panose="020B0502040204020203" pitchFamily="34" charset="0"/>
                <a:ea typeface="Times New Roman" panose="02020603050405020304" pitchFamily="18" charset="0"/>
              </a:rPr>
              <a:t>While simply reserving the savings can be a good strategy, many organizations are realizing the need to better prepare themselves for things like security &amp; down time risks that can cost millions of dollars, starting now to leverage their vast organizational data to uncover new business opportunities, or ensuring their apps are future proof to meet the dynamic needs of their customer &amp; partner ecosystem.</a:t>
            </a:r>
          </a:p>
          <a:p>
            <a:endParaRPr lang="en-US" dirty="0"/>
          </a:p>
          <a:p>
            <a:r>
              <a:rPr lang="en-US" dirty="0"/>
              <a:t>CLAIM SUBSTANTIATION (in addition to slide citations)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85% of customers will adopt a cloud first approach: </a:t>
            </a:r>
            <a:r>
              <a:rPr kumimoji="0" lang="en-US" sz="1200" b="0" i="0" u="none" strike="noStrike" kern="1200" cap="none" spc="0" normalizeH="0" baseline="0" noProof="0" dirty="0">
                <a:ln>
                  <a:noFill/>
                </a:ln>
                <a:solidFill>
                  <a:srgbClr val="E6E6E6">
                    <a:lumMod val="50000"/>
                  </a:srgbClr>
                </a:solidFill>
                <a:effectLst/>
                <a:uLnTx/>
                <a:uFillTx/>
                <a:latin typeface="Segoe UI"/>
                <a:ea typeface="+mn-ea"/>
                <a:cs typeface="+mn-cs"/>
              </a:rPr>
              <a:t>Top strategic technology trends for 2022: 12 trends shaping the future of digital business, </a:t>
            </a:r>
            <a:r>
              <a:rPr kumimoji="0" lang="en-US" sz="1200" b="0" i="1" u="none" strike="noStrike" kern="1200" cap="none" spc="0" normalizeH="0" baseline="0" noProof="0" dirty="0">
                <a:ln>
                  <a:noFill/>
                </a:ln>
                <a:solidFill>
                  <a:srgbClr val="E6E6E6">
                    <a:lumMod val="50000"/>
                  </a:srgbClr>
                </a:solidFill>
                <a:effectLst/>
                <a:uLnTx/>
                <a:uFillTx/>
                <a:latin typeface="Segoe UI"/>
                <a:ea typeface="+mn-ea"/>
                <a:cs typeface="+mn-cs"/>
              </a:rPr>
              <a:t>Gartner, </a:t>
            </a:r>
            <a:r>
              <a:rPr kumimoji="0" lang="en-US" sz="1200" b="0" i="0" u="none" strike="noStrike" kern="1200" cap="none" spc="0" normalizeH="0" baseline="0" noProof="0" dirty="0">
                <a:ln>
                  <a:noFill/>
                </a:ln>
                <a:solidFill>
                  <a:srgbClr val="E6E6E6">
                    <a:lumMod val="50000"/>
                  </a:srgbClr>
                </a:solidFill>
                <a:effectLst/>
                <a:uLnTx/>
                <a:uFillTx/>
                <a:latin typeface="Segoe UI"/>
                <a:ea typeface="+mn-ea"/>
                <a:cs typeface="+mn-cs"/>
              </a:rPr>
              <a:t>2022</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C428A1A-F8AA-4540-A1FF-810195DD46E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935442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cs typeface="Calibri"/>
              </a:rPr>
              <a:t>Increasing an organization’s security &amp; compliance posture while also ensuring continuity of critical business activities is top of mind for most organizations</a:t>
            </a:r>
          </a:p>
          <a:p>
            <a:pPr marL="171450" indent="-171450">
              <a:buFont typeface="Arial" panose="020B0604020202020204" pitchFamily="34" charset="0"/>
              <a:buChar char="•"/>
            </a:pPr>
            <a:r>
              <a:rPr lang="en-US" dirty="0">
                <a:cs typeface="Calibri"/>
              </a:rPr>
              <a:t>This complex space has several elements to consider</a:t>
            </a:r>
          </a:p>
          <a:p>
            <a:pPr marL="628650" lvl="1" indent="-171450">
              <a:buFont typeface="Arial" panose="020B0604020202020204" pitchFamily="34" charset="0"/>
              <a:buChar char="•"/>
            </a:pPr>
            <a:r>
              <a:rPr lang="en-US" dirty="0">
                <a:cs typeface="Calibri"/>
              </a:rPr>
              <a:t>Security – prioritizing security across your data &amp; application estate with Microsoft Sentinel’s faster and cheaper deployment than on-premise SIEMs or Azure-only features for data security in Azure SQL</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cs typeface="Calibri"/>
              </a:rPr>
              <a:t>Empowering Developers – one of the best ways to reduce security incidents is giving developers the tools to incorporate security from the ground up. This is why Azure has prioritized embedded security features into key application development tools and released specific services like Azure web app firewall </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cs typeface="Calibri"/>
              </a:rPr>
              <a:t>Down time – be it reducing downtime or simplifying the disaster recovery process with Azure Site Recovery &amp; Azure Backup, avoiding or at least being prepared for unplanned down-time is critical</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dirty="0">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CLAIM SUBSTANTIATION </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cs typeface="Calibri"/>
              </a:rPr>
              <a:t>Dynamic Data Masking: only available in Azure SQL. Not SQL in AWS RDS. https://azure.microsoft.com/en-us/products/azure-sql/#security </a:t>
            </a:r>
          </a:p>
        </p:txBody>
      </p:sp>
      <p:sp>
        <p:nvSpPr>
          <p:cNvPr id="4" name="Slide Number Placeholder 3"/>
          <p:cNvSpPr>
            <a:spLocks noGrp="1"/>
          </p:cNvSpPr>
          <p:nvPr>
            <p:ph type="sldNum" sz="quarter" idx="5"/>
          </p:nvPr>
        </p:nvSpPr>
        <p:spPr/>
        <p:txBody>
          <a:bodyPr/>
          <a:lstStyle/>
          <a:p>
            <a:fld id="{DC428A1A-F8AA-4540-A1FF-810195DD46E6}" type="slidenum">
              <a:rPr lang="en-US" smtClean="0"/>
              <a:t>16</a:t>
            </a:fld>
            <a:endParaRPr lang="en-US"/>
          </a:p>
        </p:txBody>
      </p:sp>
    </p:spTree>
    <p:extLst>
      <p:ext uri="{BB962C8B-B14F-4D97-AF65-F5344CB8AC3E}">
        <p14:creationId xmlns:p14="http://schemas.microsoft.com/office/powerpoint/2010/main" val="19417440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All organizations want to create new value. Most approach this through applications &amp; data, which go hand and hand</a:t>
            </a:r>
          </a:p>
          <a:p>
            <a:pPr marL="628650" lvl="1" indent="-171450">
              <a:buFont typeface="Arial" panose="020B0604020202020204" pitchFamily="34" charset="0"/>
              <a:buChar char="•"/>
            </a:pPr>
            <a:r>
              <a:rPr lang="en-US" dirty="0"/>
              <a:t>Customers need their apps to be future proof </a:t>
            </a:r>
          </a:p>
          <a:p>
            <a:pPr marL="1085850" lvl="2" indent="-171450">
              <a:buFont typeface="Arial" panose="020B0604020202020204" pitchFamily="34" charset="0"/>
              <a:buChar char="•"/>
            </a:pPr>
            <a:r>
              <a:rPr lang="en-US" dirty="0"/>
              <a:t>Accelerate their development velocity</a:t>
            </a:r>
          </a:p>
          <a:p>
            <a:pPr marL="1085850" lvl="2" indent="-171450">
              <a:buFont typeface="Arial" panose="020B0604020202020204" pitchFamily="34" charset="0"/>
              <a:buChar char="•"/>
            </a:pPr>
            <a:r>
              <a:rPr lang="en-US" dirty="0"/>
              <a:t>Leverage the latest tools wherever they’re needed</a:t>
            </a:r>
          </a:p>
          <a:p>
            <a:pPr marL="1085850" lvl="2" indent="-171450">
              <a:buFont typeface="Arial" panose="020B0604020202020204" pitchFamily="34" charset="0"/>
              <a:buChar char="•"/>
            </a:pPr>
            <a:r>
              <a:rPr lang="en-US" dirty="0"/>
              <a:t>Get built-in features to help devs focus on the high-priority activities rather than back-end complexities </a:t>
            </a:r>
          </a:p>
          <a:p>
            <a:pPr marL="628650" lvl="1" indent="-171450">
              <a:buFont typeface="Arial" panose="020B0604020202020204" pitchFamily="34" charset="0"/>
              <a:buChar char="•"/>
            </a:pPr>
            <a:r>
              <a:rPr lang="en-US" dirty="0"/>
              <a:t>Customers have vast amounts of data that can often be put to better use with Azure</a:t>
            </a:r>
          </a:p>
          <a:p>
            <a:pPr marL="1085850" lvl="2" indent="-171450">
              <a:buFont typeface="Arial" panose="020B0604020202020204" pitchFamily="34" charset="0"/>
              <a:buChar char="•"/>
            </a:pPr>
            <a:r>
              <a:rPr lang="en-US" dirty="0"/>
              <a:t>Empower faster decision making with an integrated platform rather than stitching together disparate tools</a:t>
            </a:r>
          </a:p>
          <a:p>
            <a:pPr marL="1085850" lvl="2" indent="-171450">
              <a:buFont typeface="Arial" panose="020B0604020202020204" pitchFamily="34" charset="0"/>
              <a:buChar char="•"/>
            </a:pPr>
            <a:r>
              <a:rPr lang="en-US" dirty="0"/>
              <a:t>Optimizing the data estate to improve performance insights and security &amp; compliance postures</a:t>
            </a:r>
          </a:p>
          <a:p>
            <a:pPr marL="1085850" lvl="2" indent="-171450">
              <a:buFont typeface="Arial" panose="020B0604020202020204" pitchFamily="34" charset="0"/>
              <a:buChar char="•"/>
            </a:pPr>
            <a:r>
              <a:rPr lang="en-US" dirty="0"/>
              <a:t>Using data to advance the organization’s sustainability and environmental missions</a:t>
            </a:r>
          </a:p>
          <a:p>
            <a:endParaRPr lang="en-US" dirty="0"/>
          </a:p>
        </p:txBody>
      </p:sp>
      <p:sp>
        <p:nvSpPr>
          <p:cNvPr id="4" name="Slide Number Placeholder 3"/>
          <p:cNvSpPr>
            <a:spLocks noGrp="1"/>
          </p:cNvSpPr>
          <p:nvPr>
            <p:ph type="sldNum" sz="quarter" idx="5"/>
          </p:nvPr>
        </p:nvSpPr>
        <p:spPr/>
        <p:txBody>
          <a:bodyPr/>
          <a:lstStyle/>
          <a:p>
            <a:fld id="{DC428A1A-F8AA-4540-A1FF-810195DD46E6}" type="slidenum">
              <a:rPr lang="en-US" smtClean="0"/>
              <a:t>17</a:t>
            </a:fld>
            <a:endParaRPr lang="en-US"/>
          </a:p>
        </p:txBody>
      </p:sp>
    </p:spTree>
    <p:extLst>
      <p:ext uri="{BB962C8B-B14F-4D97-AF65-F5344CB8AC3E}">
        <p14:creationId xmlns:p14="http://schemas.microsoft.com/office/powerpoint/2010/main" val="5460893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07EA197-1CF6-46B0-B927-B9913388945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7319302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MS logo white - EMF" descr="Microsoft logo white text version">
            <a:extLst>
              <a:ext uri="{FF2B5EF4-FFF2-40B4-BE49-F238E27FC236}">
                <a16:creationId xmlns:a16="http://schemas.microsoft.com/office/drawing/2014/main" id="{EB02FAD1-E14D-41F9-A1BC-FCCF46262910}"/>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3893943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9121006B-09FA-4F62-9542-4F6479B0897F}"/>
              </a:ext>
            </a:extLst>
          </p:cNvPr>
          <p:cNvSpPr txBox="1"/>
          <p:nvPr userDrawn="1"/>
        </p:nvSpPr>
        <p:spPr>
          <a:xfrm>
            <a:off x="12355721" y="-203944"/>
            <a:ext cx="577081" cy="153888"/>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2372988539"/>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457200"/>
            <a:ext cx="11018520" cy="492443"/>
          </a:xfrm>
        </p:spPr>
        <p:txBody>
          <a:bodyPr/>
          <a:lstStyle>
            <a:lvl1pPr>
              <a:defRPr sz="3200"/>
            </a:lvl1pPr>
          </a:lstStyle>
          <a:p>
            <a:r>
              <a:rPr lang="en-US"/>
              <a:t>Click to edit Master title style</a:t>
            </a:r>
          </a:p>
        </p:txBody>
      </p:sp>
    </p:spTree>
    <p:extLst>
      <p:ext uri="{BB962C8B-B14F-4D97-AF65-F5344CB8AC3E}">
        <p14:creationId xmlns:p14="http://schemas.microsoft.com/office/powerpoint/2010/main" val="190280183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634132651"/>
      </p:ext>
    </p:extLst>
  </p:cSld>
  <p:clrMapOvr>
    <a:masterClrMapping/>
  </p:clrMapOvr>
  <p:transition>
    <p:fade/>
  </p:transition>
  <p:extLst>
    <p:ext uri="{DCECCB84-F9BA-43D5-87BE-67443E8EF086}">
      <p15:sldGuideLst xmlns:p15="http://schemas.microsoft.com/office/powerpoint/2012/main">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Table layout">
    <p:spTree>
      <p:nvGrpSpPr>
        <p:cNvPr id="1" name=""/>
        <p:cNvGrpSpPr/>
        <p:nvPr/>
      </p:nvGrpSpPr>
      <p:grpSpPr>
        <a:xfrm>
          <a:off x="0" y="0"/>
          <a:ext cx="0" cy="0"/>
          <a:chOff x="0" y="0"/>
          <a:chExt cx="0" cy="0"/>
        </a:xfrm>
      </p:grpSpPr>
      <p:sp>
        <p:nvSpPr>
          <p:cNvPr id="4" name="Table Placeholder 3"/>
          <p:cNvSpPr>
            <a:spLocks noGrp="1"/>
          </p:cNvSpPr>
          <p:nvPr>
            <p:ph type="tbl" sz="quarter" idx="10"/>
          </p:nvPr>
        </p:nvSpPr>
        <p:spPr>
          <a:xfrm>
            <a:off x="426424" y="2135536"/>
            <a:ext cx="11336039" cy="4288197"/>
          </a:xfrm>
        </p:spPr>
        <p:txBody>
          <a:bodyPr bIns="1737360" anchor="ctr">
            <a:noAutofit/>
          </a:bodyPr>
          <a:lstStyle>
            <a:lvl1pPr algn="ctr">
              <a:defRPr sz="1961">
                <a:solidFill>
                  <a:srgbClr val="000000"/>
                </a:solidFill>
                <a:latin typeface="+mj-lt"/>
              </a:defRPr>
            </a:lvl1pPr>
          </a:lstStyle>
          <a:p>
            <a:r>
              <a:rPr lang="en-US"/>
              <a:t>Click icon to add table</a:t>
            </a:r>
          </a:p>
        </p:txBody>
      </p:sp>
      <p:sp>
        <p:nvSpPr>
          <p:cNvPr id="5" name="Title Placeholder 1">
            <a:extLst>
              <a:ext uri="{FF2B5EF4-FFF2-40B4-BE49-F238E27FC236}">
                <a16:creationId xmlns:a16="http://schemas.microsoft.com/office/drawing/2014/main" id="{4F997AC3-87B6-4E0B-88C2-A05069E413C4}"/>
              </a:ext>
            </a:extLst>
          </p:cNvPr>
          <p:cNvSpPr>
            <a:spLocks noGrp="1"/>
          </p:cNvSpPr>
          <p:nvPr>
            <p:ph type="title" hasCustomPrompt="1"/>
          </p:nvPr>
        </p:nvSpPr>
        <p:spPr>
          <a:xfrm>
            <a:off x="426424" y="440495"/>
            <a:ext cx="11336039" cy="739343"/>
          </a:xfrm>
          <a:prstGeom prst="rect">
            <a:avLst/>
          </a:prstGeom>
        </p:spPr>
        <p:txBody>
          <a:bodyPr vert="horz" wrap="square" lIns="0" tIns="164592" rIns="0" bIns="0" rtlCol="0" anchor="t">
            <a:noAutofit/>
          </a:bodyPr>
          <a:lstStyle>
            <a:lvl1pPr>
              <a:defRPr>
                <a:solidFill>
                  <a:srgbClr val="000000"/>
                </a:solidFill>
              </a:defRPr>
            </a:lvl1pPr>
          </a:lstStyle>
          <a:p>
            <a:r>
              <a:rPr lang="en-US"/>
              <a:t>Table layout</a:t>
            </a:r>
          </a:p>
        </p:txBody>
      </p:sp>
    </p:spTree>
    <p:extLst>
      <p:ext uri="{BB962C8B-B14F-4D97-AF65-F5344CB8AC3E}">
        <p14:creationId xmlns:p14="http://schemas.microsoft.com/office/powerpoint/2010/main" val="19503007"/>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66417317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04281888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3_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DA59F0-CB7A-EFE1-11B0-AC2110CECD32}"/>
              </a:ext>
            </a:extLst>
          </p:cNvPr>
          <p:cNvSpPr>
            <a:spLocks noGrp="1"/>
          </p:cNvSpPr>
          <p:nvPr>
            <p:ph type="title"/>
          </p:nvPr>
        </p:nvSpPr>
        <p:spPr>
          <a:xfrm>
            <a:off x="588263" y="2504360"/>
            <a:ext cx="4711706" cy="1107996"/>
          </a:xfrm>
        </p:spPr>
        <p:txBody>
          <a:bodyPr anchor="b"/>
          <a:lstStyle/>
          <a:p>
            <a:r>
              <a:rPr lang="en-US"/>
              <a:t>Click to edit Master title style</a:t>
            </a:r>
          </a:p>
        </p:txBody>
      </p:sp>
    </p:spTree>
    <p:extLst>
      <p:ext uri="{BB962C8B-B14F-4D97-AF65-F5344CB8AC3E}">
        <p14:creationId xmlns:p14="http://schemas.microsoft.com/office/powerpoint/2010/main" val="463321689"/>
      </p:ext>
    </p:extLst>
  </p:cSld>
  <p:clrMapOvr>
    <a:masterClrMapping/>
  </p:clrMapOvr>
  <p:transition>
    <p:fade/>
  </p:transition>
  <p:extLst>
    <p:ext uri="{DCECCB84-F9BA-43D5-87BE-67443E8EF086}">
      <p15:sldGuideLst xmlns:p15="http://schemas.microsoft.com/office/powerpoint/2012/main">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em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theme" Target="../theme/theme2.xml"/><Relationship Id="rId1" Type="http://schemas.openxmlformats.org/officeDocument/2006/relationships/slideLayout" Target="../slideLayouts/slideLayout6.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8.xml"/><Relationship Id="rId1" Type="http://schemas.openxmlformats.org/officeDocument/2006/relationships/slideLayout" Target="../slideLayouts/slideLayout7.xml"/><Relationship Id="rId4"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64D47851-93E6-4066-B42D-42968BFB647D}"/>
              </a:ext>
              <a:ext uri="{C183D7F6-B498-43B3-948B-1728B52AA6E4}">
                <adec:decorative xmlns:adec="http://schemas.microsoft.com/office/drawing/2017/decorative" val="0"/>
              </a:ext>
            </a:extLst>
          </p:cNvPr>
          <p:cNvPicPr>
            <a:picLocks noChangeAspect="1"/>
          </p:cNvPicPr>
          <p:nvPr userDrawn="1"/>
        </p:nvPicPr>
        <p:blipFill rotWithShape="1">
          <a:blip r:embed="rId7"/>
          <a:srcRect l="762"/>
          <a:stretch/>
        </p:blipFill>
        <p:spPr>
          <a:xfrm rot="5400000">
            <a:off x="9509760" y="2843773"/>
            <a:ext cx="6858000" cy="1170455"/>
          </a:xfrm>
          <a:prstGeom prst="rect">
            <a:avLst/>
          </a:prstGeom>
        </p:spPr>
      </p:pic>
      <p:sp>
        <p:nvSpPr>
          <p:cNvPr id="6" name="TextBox 5">
            <a:extLst>
              <a:ext uri="{FF2B5EF4-FFF2-40B4-BE49-F238E27FC236}">
                <a16:creationId xmlns:a16="http://schemas.microsoft.com/office/drawing/2014/main" id="{8B165358-EED8-907D-8D2A-A0CB38F255F0}"/>
              </a:ext>
            </a:extLst>
          </p:cNvPr>
          <p:cNvSpPr txBox="1"/>
          <p:nvPr userDrawn="1">
            <p:extLst>
              <p:ext uri="{1162E1C5-73C7-4A58-AE30-91384D911F3F}">
                <p184:classification xmlns:p184="http://schemas.microsoft.com/office/powerpoint/2018/4/main" val="ftr"/>
              </p:ext>
            </p:extLst>
          </p:nvPr>
        </p:nvSpPr>
        <p:spPr>
          <a:xfrm>
            <a:off x="63500" y="6642100"/>
            <a:ext cx="1882775" cy="152400"/>
          </a:xfrm>
          <a:prstGeom prst="rect">
            <a:avLst/>
          </a:prstGeom>
        </p:spPr>
        <p:txBody>
          <a:bodyPr horzOverflow="overflow" lIns="0" tIns="0" rIns="0" bIns="0">
            <a:spAutoFit/>
          </a:bodyPr>
          <a:lstStyle/>
          <a:p>
            <a:pPr algn="l"/>
            <a:r>
              <a:rPr lang="en-US" sz="1000">
                <a:solidFill>
                  <a:srgbClr val="000000">
                    <a:alpha val="50000"/>
                  </a:srgbClr>
                </a:solidFill>
                <a:latin typeface="Aptos" panose="020B0004020202020204" pitchFamily="34" charset="0"/>
              </a:rPr>
              <a:t>Information Classification: Public </a:t>
            </a:r>
          </a:p>
        </p:txBody>
      </p:sp>
    </p:spTree>
    <p:extLst>
      <p:ext uri="{BB962C8B-B14F-4D97-AF65-F5344CB8AC3E}">
        <p14:creationId xmlns:p14="http://schemas.microsoft.com/office/powerpoint/2010/main" val="1192313557"/>
      </p:ext>
    </p:extLst>
  </p:cSld>
  <p:clrMap bg1="dk1" tx1="lt1" bg2="dk2" tx2="lt2" accent1="accent1" accent2="accent2" accent3="accent3" accent4="accent4" accent5="accent5" accent6="accent6" hlink="hlink" folHlink="folHlink"/>
  <p:sldLayoutIdLst>
    <p:sldLayoutId id="2147483697" r:id="rId1"/>
    <p:sldLayoutId id="2147483698" r:id="rId2"/>
    <p:sldLayoutId id="2147483702" r:id="rId3"/>
    <p:sldLayoutId id="2147483710" r:id="rId4"/>
    <p:sldLayoutId id="2147484011" r:id="rId5"/>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64D47851-93E6-4066-B42D-42968BFB647D}"/>
              </a:ext>
              <a:ext uri="{C183D7F6-B498-43B3-948B-1728B52AA6E4}">
                <adec:decorative xmlns:adec="http://schemas.microsoft.com/office/drawing/2017/decorative" val="0"/>
              </a:ext>
            </a:extLst>
          </p:cNvPr>
          <p:cNvPicPr>
            <a:picLocks noChangeAspect="1"/>
          </p:cNvPicPr>
          <p:nvPr userDrawn="1"/>
        </p:nvPicPr>
        <p:blipFill rotWithShape="1">
          <a:blip r:embed="rId3"/>
          <a:srcRect l="762"/>
          <a:stretch/>
        </p:blipFill>
        <p:spPr>
          <a:xfrm rot="5400000">
            <a:off x="9509760" y="2843773"/>
            <a:ext cx="6858000" cy="1170455"/>
          </a:xfrm>
          <a:prstGeom prst="rect">
            <a:avLst/>
          </a:prstGeom>
        </p:spPr>
      </p:pic>
      <p:sp>
        <p:nvSpPr>
          <p:cNvPr id="6" name="TextBox 5">
            <a:extLst>
              <a:ext uri="{FF2B5EF4-FFF2-40B4-BE49-F238E27FC236}">
                <a16:creationId xmlns:a16="http://schemas.microsoft.com/office/drawing/2014/main" id="{33CBFEE0-6B15-364A-9B11-5BD9D42106B0}"/>
              </a:ext>
            </a:extLst>
          </p:cNvPr>
          <p:cNvSpPr txBox="1"/>
          <p:nvPr userDrawn="1">
            <p:extLst>
              <p:ext uri="{1162E1C5-73C7-4A58-AE30-91384D911F3F}">
                <p184:classification xmlns:p184="http://schemas.microsoft.com/office/powerpoint/2018/4/main" val="ftr"/>
              </p:ext>
            </p:extLst>
          </p:nvPr>
        </p:nvSpPr>
        <p:spPr>
          <a:xfrm>
            <a:off x="63500" y="6642100"/>
            <a:ext cx="1882775" cy="152400"/>
          </a:xfrm>
          <a:prstGeom prst="rect">
            <a:avLst/>
          </a:prstGeom>
        </p:spPr>
        <p:txBody>
          <a:bodyPr horzOverflow="overflow" lIns="0" tIns="0" rIns="0" bIns="0">
            <a:spAutoFit/>
          </a:bodyPr>
          <a:lstStyle/>
          <a:p>
            <a:pPr algn="l"/>
            <a:r>
              <a:rPr lang="en-US" sz="1000">
                <a:solidFill>
                  <a:srgbClr val="000000">
                    <a:alpha val="50000"/>
                  </a:srgbClr>
                </a:solidFill>
                <a:latin typeface="Aptos" panose="020B0004020202020204" pitchFamily="34" charset="0"/>
              </a:rPr>
              <a:t>Information Classification: Public </a:t>
            </a:r>
          </a:p>
        </p:txBody>
      </p:sp>
    </p:spTree>
    <p:extLst>
      <p:ext uri="{BB962C8B-B14F-4D97-AF65-F5344CB8AC3E}">
        <p14:creationId xmlns:p14="http://schemas.microsoft.com/office/powerpoint/2010/main" val="2314769873"/>
      </p:ext>
    </p:extLst>
  </p:cSld>
  <p:clrMap bg1="dk1" tx1="lt1" bg2="dk2" tx2="lt2" accent1="accent1" accent2="accent2" accent3="accent3" accent4="accent4" accent5="accent5" accent6="accent6" hlink="hlink" folHlink="folHlink"/>
  <p:sldLayoutIdLst>
    <p:sldLayoutId id="2147483835" r:id="rId1"/>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64D47851-93E6-4066-B42D-42968BFB647D}"/>
              </a:ext>
              <a:ext uri="{C183D7F6-B498-43B3-948B-1728B52AA6E4}">
                <adec:decorative xmlns:adec="http://schemas.microsoft.com/office/drawing/2017/decorative" val="0"/>
              </a:ext>
            </a:extLst>
          </p:cNvPr>
          <p:cNvPicPr>
            <a:picLocks noChangeAspect="1"/>
          </p:cNvPicPr>
          <p:nvPr userDrawn="1"/>
        </p:nvPicPr>
        <p:blipFill rotWithShape="1">
          <a:blip r:embed="rId4"/>
          <a:srcRect l="762"/>
          <a:stretch/>
        </p:blipFill>
        <p:spPr>
          <a:xfrm rot="5400000">
            <a:off x="9509760" y="2843773"/>
            <a:ext cx="6858000" cy="1170455"/>
          </a:xfrm>
          <a:prstGeom prst="rect">
            <a:avLst/>
          </a:prstGeom>
        </p:spPr>
      </p:pic>
      <p:sp>
        <p:nvSpPr>
          <p:cNvPr id="6" name="TextBox 5">
            <a:extLst>
              <a:ext uri="{FF2B5EF4-FFF2-40B4-BE49-F238E27FC236}">
                <a16:creationId xmlns:a16="http://schemas.microsoft.com/office/drawing/2014/main" id="{36D6A25A-FC0E-1FA5-5FDF-8B898C6D57A8}"/>
              </a:ext>
            </a:extLst>
          </p:cNvPr>
          <p:cNvSpPr txBox="1"/>
          <p:nvPr userDrawn="1">
            <p:extLst>
              <p:ext uri="{1162E1C5-73C7-4A58-AE30-91384D911F3F}">
                <p184:classification xmlns:p184="http://schemas.microsoft.com/office/powerpoint/2018/4/main" val="ftr"/>
              </p:ext>
            </p:extLst>
          </p:nvPr>
        </p:nvSpPr>
        <p:spPr>
          <a:xfrm>
            <a:off x="63500" y="6642100"/>
            <a:ext cx="1882775" cy="152400"/>
          </a:xfrm>
          <a:prstGeom prst="rect">
            <a:avLst/>
          </a:prstGeom>
        </p:spPr>
        <p:txBody>
          <a:bodyPr horzOverflow="overflow" lIns="0" tIns="0" rIns="0" bIns="0">
            <a:spAutoFit/>
          </a:bodyPr>
          <a:lstStyle/>
          <a:p>
            <a:pPr algn="l"/>
            <a:r>
              <a:rPr lang="en-US" sz="1000">
                <a:solidFill>
                  <a:srgbClr val="000000">
                    <a:alpha val="50000"/>
                  </a:srgbClr>
                </a:solidFill>
                <a:latin typeface="Aptos" panose="020B0004020202020204" pitchFamily="34" charset="0"/>
              </a:rPr>
              <a:t>Information Classification: Public </a:t>
            </a:r>
          </a:p>
        </p:txBody>
      </p:sp>
    </p:spTree>
    <p:extLst>
      <p:ext uri="{BB962C8B-B14F-4D97-AF65-F5344CB8AC3E}">
        <p14:creationId xmlns:p14="http://schemas.microsoft.com/office/powerpoint/2010/main" val="1486670534"/>
      </p:ext>
    </p:extLst>
  </p:cSld>
  <p:clrMap bg1="dk1" tx1="lt1" bg2="dk2" tx2="lt2" accent1="accent1" accent2="accent2" accent3="accent3" accent4="accent4" accent5="accent5" accent6="accent6" hlink="hlink" folHlink="folHlink"/>
  <p:sldLayoutIdLst>
    <p:sldLayoutId id="2147483983" r:id="rId1"/>
    <p:sldLayoutId id="2147483984" r:id="rId2"/>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s://www.gartner.com/en/newsroom/press-releases/2022-04-06-gartner-forecasts-worldwide-it-spending-to-reach-4-point-four-trillion-in-2022"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8" Type="http://schemas.openxmlformats.org/officeDocument/2006/relationships/image" Target="../media/image10.emf"/><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8.emf"/><Relationship Id="rId5" Type="http://schemas.openxmlformats.org/officeDocument/2006/relationships/image" Target="../media/image7.svg"/><Relationship Id="rId4" Type="http://schemas.openxmlformats.org/officeDocument/2006/relationships/image" Target="../media/image6.png"/><Relationship Id="rId9"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8.emf"/><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9.png"/><Relationship Id="rId7" Type="http://schemas.openxmlformats.org/officeDocument/2006/relationships/image" Target="../media/image8.emf"/><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hyperlink" Target="https://azure.microsoft.com/files/overview/cloudenablement/idc%20-%20business%20value%20of%20azure%20enablement%20-%20whitepaper.pdf?v=87f05280ae9a47830ba20c3f7ec4b38d19aaa076c588a9a6f71a1c456d1c8352" TargetMode="External"/><Relationship Id="rId5" Type="http://schemas.openxmlformats.org/officeDocument/2006/relationships/hyperlink" Target="https://www.microsoft.com/en-us/download/details.aspx?id=a91a1ea4-7dfe-436c-be29-fcc6e65940c6" TargetMode="External"/><Relationship Id="rId4" Type="http://schemas.openxmlformats.org/officeDocument/2006/relationships/hyperlink" Target="https://aka.ms/savingsplan_compute_blog" TargetMode="External"/><Relationship Id="rId9" Type="http://schemas.openxmlformats.org/officeDocument/2006/relationships/image" Target="../media/image10.emf"/></Relationships>
</file>

<file path=ppt/slides/_rels/slide8.xml.rels><?xml version="1.0" encoding="UTF-8" standalone="yes"?>
<Relationships xmlns="http://schemas.openxmlformats.org/package/2006/relationships"><Relationship Id="rId3" Type="http://schemas.openxmlformats.org/officeDocument/2006/relationships/hyperlink" Target="https://www.principledtechnologies.com/Microsoft/Azure-SQL-Managed-Instance-0522.pdf" TargetMode="External"/><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0.emf"/><Relationship Id="rId5" Type="http://schemas.openxmlformats.org/officeDocument/2006/relationships/image" Target="../media/image11.png"/><Relationship Id="rId4" Type="http://schemas.openxmlformats.org/officeDocument/2006/relationships/image" Target="../media/image8.emf"/></Relationships>
</file>

<file path=ppt/slides/_rels/slide9.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10.emf"/><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9.xml"/><Relationship Id="rId1" Type="http://schemas.openxmlformats.org/officeDocument/2006/relationships/slideLayout" Target="../slideLayouts/slideLayout3.xml"/><Relationship Id="rId5" Type="http://schemas.openxmlformats.org/officeDocument/2006/relationships/image" Target="../media/image13.jpeg"/><Relationship Id="rId4" Type="http://schemas.openxmlformats.org/officeDocument/2006/relationships/hyperlink" Target="https://customers.microsoft.com/en-us/story/1409307371608358733-cemex-manufacturing-azure" TargetMode="External"/></Relationships>
</file>

<file path=ppt/slides/_rels/slide11.xml.rels><?xml version="1.0" encoding="UTF-8" standalone="yes"?>
<Relationships xmlns="http://schemas.openxmlformats.org/package/2006/relationships"><Relationship Id="rId8" Type="http://schemas.openxmlformats.org/officeDocument/2006/relationships/image" Target="../media/image10.emf"/><Relationship Id="rId3" Type="http://schemas.openxmlformats.org/officeDocument/2006/relationships/image" Target="../media/image5.png"/><Relationship Id="rId7"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8.emf"/><Relationship Id="rId5" Type="http://schemas.openxmlformats.org/officeDocument/2006/relationships/hyperlink" Target="https://azure.microsoft.com/en-us/resources/forrester-total-economic-impact-of-microsoft-azure-arc-for-security-and-governance/" TargetMode="External"/><Relationship Id="rId4" Type="http://schemas.openxmlformats.org/officeDocument/2006/relationships/hyperlink" Target="https://azure.microsoft.com/en-us/resources/-the-total-economic-impact-of-microsoft-azure-cost-management-and-billing/"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0.emf"/><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0.emf"/><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8.emf"/><Relationship Id="rId4" Type="http://schemas.openxmlformats.org/officeDocument/2006/relationships/image" Target="../media/image15.svg"/></Relationships>
</file>

<file path=ppt/slides/_rels/slide1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17.jpeg"/></Relationships>
</file>

<file path=ppt/slides/_rels/slide15.xml.rels><?xml version="1.0" encoding="UTF-8" standalone="yes"?>
<Relationships xmlns="http://schemas.openxmlformats.org/package/2006/relationships"><Relationship Id="rId8" Type="http://schemas.openxmlformats.org/officeDocument/2006/relationships/hyperlink" Target="http://hbr.org/webinar/2020/05/how-to-lead-a-data-driven-digital-transformation" TargetMode="External"/><Relationship Id="rId3" Type="http://schemas.openxmlformats.org/officeDocument/2006/relationships/image" Target="../media/image6.png"/><Relationship Id="rId7" Type="http://schemas.openxmlformats.org/officeDocument/2006/relationships/image" Target="../media/image10.emf"/><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8.emf"/><Relationship Id="rId4" Type="http://schemas.openxmlformats.org/officeDocument/2006/relationships/image" Target="../media/image7.svg"/></Relationships>
</file>

<file path=ppt/slides/_rels/slide16.xml.rels><?xml version="1.0" encoding="UTF-8" standalone="yes"?>
<Relationships xmlns="http://schemas.openxmlformats.org/package/2006/relationships"><Relationship Id="rId8" Type="http://schemas.openxmlformats.org/officeDocument/2006/relationships/image" Target="../media/image10.emf"/><Relationship Id="rId3" Type="http://schemas.openxmlformats.org/officeDocument/2006/relationships/hyperlink" Target="https://azure.microsoft.com/en-us/resources/the-business-value-of-azure-site-recovery-and-azure-backup/" TargetMode="External"/><Relationship Id="rId7"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image" Target="../media/image8.emf"/><Relationship Id="rId5" Type="http://schemas.openxmlformats.org/officeDocument/2006/relationships/hyperlink" Target="https://azure.microsoft.com/mediahandler/files/resourcefiles/developer-velocity-how-software-excellence-fuels-business-performance/Developer-Velocity-How-software-excellence-fuels-business-performance-v4.pdf" TargetMode="External"/><Relationship Id="rId4" Type="http://schemas.openxmlformats.org/officeDocument/2006/relationships/hyperlink" Target="https://aka.ms/sentinel-tei-report"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16.xml"/><Relationship Id="rId1" Type="http://schemas.openxmlformats.org/officeDocument/2006/relationships/slideLayout" Target="../slideLayouts/slideLayout3.xml"/><Relationship Id="rId5" Type="http://schemas.openxmlformats.org/officeDocument/2006/relationships/image" Target="../media/image10.emf"/><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7.xml"/><Relationship Id="rId1" Type="http://schemas.openxmlformats.org/officeDocument/2006/relationships/slideLayout" Target="../slideLayouts/slideLayout3.xml"/><Relationship Id="rId5" Type="http://schemas.openxmlformats.org/officeDocument/2006/relationships/image" Target="../media/image19.jpeg"/><Relationship Id="rId4" Type="http://schemas.openxmlformats.org/officeDocument/2006/relationships/hyperlink" Target="https://customers.microsoft.com/en-us/story/859765-nba-media-entertainment-azure" TargetMode="External"/></Relationships>
</file>

<file path=ppt/slides/_rels/slide19.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1.png"/><Relationship Id="rId7" Type="http://schemas.openxmlformats.org/officeDocument/2006/relationships/image" Target="../media/image11.png"/><Relationship Id="rId12" Type="http://schemas.openxmlformats.org/officeDocument/2006/relationships/image" Target="../media/image23.emf"/><Relationship Id="rId2" Type="http://schemas.openxmlformats.org/officeDocument/2006/relationships/image" Target="../media/image20.emf"/><Relationship Id="rId1" Type="http://schemas.openxmlformats.org/officeDocument/2006/relationships/slideLayout" Target="../slideLayouts/slideLayout3.xml"/><Relationship Id="rId6" Type="http://schemas.openxmlformats.org/officeDocument/2006/relationships/image" Target="../media/image10.emf"/><Relationship Id="rId11" Type="http://schemas.openxmlformats.org/officeDocument/2006/relationships/image" Target="../media/image8.emf"/><Relationship Id="rId5" Type="http://schemas.openxmlformats.org/officeDocument/2006/relationships/image" Target="../media/image9.png"/><Relationship Id="rId10" Type="http://schemas.openxmlformats.org/officeDocument/2006/relationships/image" Target="../media/image7.svg"/><Relationship Id="rId4" Type="http://schemas.openxmlformats.org/officeDocument/2006/relationships/image" Target="../media/image22.emf"/><Relationship Id="rId9" Type="http://schemas.openxmlformats.org/officeDocument/2006/relationships/image" Target="../media/image6.png"/></Relationships>
</file>

<file path=ppt/slides/_rels/slide20.xml.rels><?xml version="1.0" encoding="UTF-8" standalone="yes"?>
<Relationships xmlns="http://schemas.openxmlformats.org/package/2006/relationships"><Relationship Id="rId3" Type="http://schemas.openxmlformats.org/officeDocument/2006/relationships/hyperlink" Target="https://azure.microsoft.com/en-us/migration/migration-modernization-program/#overview" TargetMode="External"/><Relationship Id="rId2" Type="http://schemas.openxmlformats.org/officeDocument/2006/relationships/hyperlink" Target="https://www.microsoft.com/en-us/solutionassessments/" TargetMode="External"/><Relationship Id="rId1" Type="http://schemas.openxmlformats.org/officeDocument/2006/relationships/slideLayout" Target="../slideLayouts/slideLayout3.xml"/><Relationship Id="rId5" Type="http://schemas.openxmlformats.org/officeDocument/2006/relationships/hyperlink" Target="https://partner.microsoft.com/en-us/membership/partner-incentives/build-intent-workshops-secure-multi-cloud-environments" TargetMode="External"/><Relationship Id="rId4" Type="http://schemas.openxmlformats.org/officeDocument/2006/relationships/hyperlink" Target="https://aka.ms/advisor_productpag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Hero image supporting Do more with less concept&#10;">
            <a:extLst>
              <a:ext uri="{FF2B5EF4-FFF2-40B4-BE49-F238E27FC236}">
                <a16:creationId xmlns:a16="http://schemas.microsoft.com/office/drawing/2014/main" id="{461014C6-8319-6181-008E-CCBBC019018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itle 2">
            <a:extLst>
              <a:ext uri="{FF2B5EF4-FFF2-40B4-BE49-F238E27FC236}">
                <a16:creationId xmlns:a16="http://schemas.microsoft.com/office/drawing/2014/main" id="{6C779159-45C9-84FF-3D29-DC12392C1900}"/>
              </a:ext>
            </a:extLst>
          </p:cNvPr>
          <p:cNvSpPr>
            <a:spLocks noGrp="1"/>
          </p:cNvSpPr>
          <p:nvPr>
            <p:ph type="title"/>
          </p:nvPr>
        </p:nvSpPr>
        <p:spPr>
          <a:xfrm>
            <a:off x="873731" y="2378455"/>
            <a:ext cx="4464934" cy="1661993"/>
          </a:xfrm>
        </p:spPr>
        <p:txBody>
          <a:bodyPr lIns="0" tIns="0" rIns="0" bIns="0"/>
          <a:lstStyle/>
          <a:p>
            <a:r>
              <a:rPr lang="en-US"/>
              <a:t>Navigate market </a:t>
            </a:r>
            <a:br>
              <a:rPr lang="en-US"/>
            </a:br>
            <a:r>
              <a:rPr lang="en-US"/>
              <a:t>uncertainty and</a:t>
            </a:r>
            <a:br>
              <a:rPr lang="en-US"/>
            </a:br>
            <a:r>
              <a:rPr lang="en-US"/>
              <a:t>accelerate growth</a:t>
            </a:r>
          </a:p>
        </p:txBody>
      </p:sp>
      <p:sp>
        <p:nvSpPr>
          <p:cNvPr id="4" name="TextBox 3">
            <a:extLst>
              <a:ext uri="{FF2B5EF4-FFF2-40B4-BE49-F238E27FC236}">
                <a16:creationId xmlns:a16="http://schemas.microsoft.com/office/drawing/2014/main" id="{7B91CED3-C935-B065-8BD5-E11B04705C48}"/>
              </a:ext>
            </a:extLst>
          </p:cNvPr>
          <p:cNvSpPr txBox="1"/>
          <p:nvPr/>
        </p:nvSpPr>
        <p:spPr>
          <a:xfrm>
            <a:off x="873731" y="4138265"/>
            <a:ext cx="6765402" cy="369332"/>
          </a:xfrm>
          <a:prstGeom prst="rect">
            <a:avLst/>
          </a:prstGeom>
          <a:noFill/>
        </p:spPr>
        <p:txBody>
          <a:bodyPr wrap="square" lIns="0" tIns="0" rIns="0" bIns="0">
            <a:spAutoFit/>
          </a:bodyPr>
          <a:lstStyle/>
          <a:p>
            <a:r>
              <a:rPr lang="en-US" sz="2400">
                <a:solidFill>
                  <a:schemeClr val="accent1"/>
                </a:solidFill>
                <a:ea typeface="+mn-lt"/>
                <a:cs typeface="+mn-lt"/>
              </a:rPr>
              <a:t>Do more with less</a:t>
            </a:r>
          </a:p>
        </p:txBody>
      </p:sp>
      <p:pic>
        <p:nvPicPr>
          <p:cNvPr id="8" name="MS logo white - EMF" descr="Microsoft logo white text version">
            <a:extLst>
              <a:ext uri="{FF2B5EF4-FFF2-40B4-BE49-F238E27FC236}">
                <a16:creationId xmlns:a16="http://schemas.microsoft.com/office/drawing/2014/main" id="{9B6F3B52-311E-6685-97A8-E44BD5B4528D}"/>
              </a:ext>
            </a:extLst>
          </p:cNvPr>
          <p:cNvPicPr>
            <a:picLocks noChangeAspect="1"/>
          </p:cNvPicPr>
          <p:nvPr/>
        </p:nvPicPr>
        <p:blipFill>
          <a:blip r:embed="rId3"/>
          <a:stretch>
            <a:fillRect/>
          </a:stretch>
        </p:blipFill>
        <p:spPr bwMode="black">
          <a:xfrm>
            <a:off x="873731" y="716288"/>
            <a:ext cx="1366245" cy="292608"/>
          </a:xfrm>
          <a:prstGeom prst="rect">
            <a:avLst/>
          </a:prstGeom>
        </p:spPr>
      </p:pic>
    </p:spTree>
    <p:extLst>
      <p:ext uri="{BB962C8B-B14F-4D97-AF65-F5344CB8AC3E}">
        <p14:creationId xmlns:p14="http://schemas.microsoft.com/office/powerpoint/2010/main" val="439413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1AA33-4792-5005-E809-DAB4D0A2006E}"/>
              </a:ext>
            </a:extLst>
          </p:cNvPr>
          <p:cNvSpPr>
            <a:spLocks noGrp="1"/>
          </p:cNvSpPr>
          <p:nvPr>
            <p:ph type="title"/>
          </p:nvPr>
        </p:nvSpPr>
        <p:spPr>
          <a:xfrm>
            <a:off x="4008716" y="2005524"/>
            <a:ext cx="4174568" cy="984885"/>
          </a:xfrm>
        </p:spPr>
        <p:txBody>
          <a:bodyPr anchor="ctr"/>
          <a:lstStyle/>
          <a:p>
            <a:pPr algn="ctr"/>
            <a:r>
              <a:rPr lang="en-US" sz="3200"/>
              <a:t>We face increasingly </a:t>
            </a:r>
            <a:br>
              <a:rPr lang="en-US" sz="3200"/>
            </a:br>
            <a:r>
              <a:rPr lang="en-US" sz="3200"/>
              <a:t>uncertain times</a:t>
            </a:r>
            <a:endParaRPr lang="en-US" sz="3200">
              <a:solidFill>
                <a:schemeClr val="accent1"/>
              </a:solidFill>
            </a:endParaRPr>
          </a:p>
        </p:txBody>
      </p:sp>
      <p:sp>
        <p:nvSpPr>
          <p:cNvPr id="7" name="TextBox 5">
            <a:extLst>
              <a:ext uri="{FF2B5EF4-FFF2-40B4-BE49-F238E27FC236}">
                <a16:creationId xmlns:a16="http://schemas.microsoft.com/office/drawing/2014/main" id="{CD31B8A8-E8F3-F469-4620-DEAB9B35CCED}"/>
              </a:ext>
            </a:extLst>
          </p:cNvPr>
          <p:cNvSpPr txBox="1">
            <a:spLocks/>
          </p:cNvSpPr>
          <p:nvPr/>
        </p:nvSpPr>
        <p:spPr>
          <a:xfrm>
            <a:off x="4436314" y="3867591"/>
            <a:ext cx="3353772" cy="615553"/>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chemeClr val="accent1"/>
                </a:solidFill>
                <a:effectLst/>
                <a:uLnTx/>
                <a:uFillTx/>
                <a:ea typeface="+mn-ea"/>
                <a:cs typeface="Segoe UI Semibold" panose="020B0702040204020203" pitchFamily="34" charset="0"/>
              </a:rPr>
              <a:t>Geopolitical and </a:t>
            </a:r>
            <a:br>
              <a:rPr kumimoji="0" lang="en-US" sz="2000" b="0" i="0" u="none" strike="noStrike" kern="1200" cap="none" spc="0" normalizeH="0" baseline="0" noProof="0">
                <a:ln>
                  <a:noFill/>
                </a:ln>
                <a:solidFill>
                  <a:schemeClr val="accent1"/>
                </a:solidFill>
                <a:effectLst/>
                <a:uLnTx/>
                <a:uFillTx/>
                <a:ea typeface="+mn-ea"/>
                <a:cs typeface="Segoe UI Semibold" panose="020B0702040204020203" pitchFamily="34" charset="0"/>
              </a:rPr>
            </a:br>
            <a:r>
              <a:rPr kumimoji="0" lang="en-US" sz="2000" b="0" i="0" u="none" strike="noStrike" kern="1200" cap="none" spc="0" normalizeH="0" baseline="0" noProof="0">
                <a:ln>
                  <a:noFill/>
                </a:ln>
                <a:solidFill>
                  <a:schemeClr val="accent1"/>
                </a:solidFill>
                <a:effectLst/>
                <a:uLnTx/>
                <a:uFillTx/>
                <a:ea typeface="+mn-ea"/>
                <a:cs typeface="Segoe UI Semibold" panose="020B0702040204020203" pitchFamily="34" charset="0"/>
              </a:rPr>
              <a:t>supply chain disruptions</a:t>
            </a:r>
            <a:endParaRPr kumimoji="0" lang="en-GB" sz="2000" b="0" i="1" u="none" strike="noStrike" kern="1200" cap="none" spc="0" normalizeH="0" baseline="30000" noProof="0">
              <a:ln>
                <a:noFill/>
              </a:ln>
              <a:solidFill>
                <a:schemeClr val="accent1"/>
              </a:solidFill>
              <a:effectLst/>
              <a:uLnTx/>
              <a:uFillTx/>
              <a:ea typeface="+mn-ea"/>
              <a:cs typeface="Segoe UI Semibold" panose="020B0702040204020203" pitchFamily="34" charset="0"/>
            </a:endParaRPr>
          </a:p>
        </p:txBody>
      </p:sp>
      <p:sp>
        <p:nvSpPr>
          <p:cNvPr id="13" name="TextBox 5">
            <a:extLst>
              <a:ext uri="{FF2B5EF4-FFF2-40B4-BE49-F238E27FC236}">
                <a16:creationId xmlns:a16="http://schemas.microsoft.com/office/drawing/2014/main" id="{8508A5D9-B124-8194-3B5A-22897A81B655}"/>
              </a:ext>
            </a:extLst>
          </p:cNvPr>
          <p:cNvSpPr txBox="1">
            <a:spLocks/>
          </p:cNvSpPr>
          <p:nvPr/>
        </p:nvSpPr>
        <p:spPr>
          <a:xfrm>
            <a:off x="8613188" y="3867591"/>
            <a:ext cx="3020882" cy="615553"/>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chemeClr val="accent1"/>
                </a:solidFill>
                <a:effectLst/>
                <a:uLnTx/>
                <a:uFillTx/>
                <a:ea typeface="+mn-ea"/>
                <a:cs typeface="Segoe UI Semibold" panose="020B0702040204020203" pitchFamily="34" charset="0"/>
              </a:rPr>
              <a:t>Talent shortages and increased labor costs</a:t>
            </a:r>
            <a:endParaRPr kumimoji="0" lang="en-GB" sz="2000" b="0" i="1" u="none" strike="noStrike" kern="1200" cap="none" spc="0" normalizeH="0" baseline="30000" noProof="0">
              <a:ln>
                <a:noFill/>
              </a:ln>
              <a:solidFill>
                <a:schemeClr val="accent1"/>
              </a:solidFill>
              <a:effectLst/>
              <a:uLnTx/>
              <a:uFillTx/>
              <a:ea typeface="+mn-ea"/>
              <a:cs typeface="Segoe UI Semibold" panose="020B0702040204020203" pitchFamily="34" charset="0"/>
            </a:endParaRPr>
          </a:p>
        </p:txBody>
      </p:sp>
      <p:sp>
        <p:nvSpPr>
          <p:cNvPr id="17" name="TextBox 5">
            <a:extLst>
              <a:ext uri="{FF2B5EF4-FFF2-40B4-BE49-F238E27FC236}">
                <a16:creationId xmlns:a16="http://schemas.microsoft.com/office/drawing/2014/main" id="{4F570C9E-14B3-2050-3FB7-1C0B9FA75997}"/>
              </a:ext>
            </a:extLst>
          </p:cNvPr>
          <p:cNvSpPr txBox="1">
            <a:spLocks/>
          </p:cNvSpPr>
          <p:nvPr/>
        </p:nvSpPr>
        <p:spPr>
          <a:xfrm>
            <a:off x="942020" y="3867591"/>
            <a:ext cx="3020882" cy="615553"/>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chemeClr val="accent1"/>
                </a:solidFill>
                <a:effectLst/>
                <a:uLnTx/>
                <a:uFillTx/>
                <a:ea typeface="+mn-ea"/>
                <a:cs typeface="Segoe UI Semibold" panose="020B0702040204020203" pitchFamily="34" charset="0"/>
              </a:rPr>
              <a:t>Inflation and rising </a:t>
            </a:r>
            <a:br>
              <a:rPr kumimoji="0" lang="en-US" sz="2000" b="0" i="0" u="none" strike="noStrike" kern="1200" cap="none" spc="0" normalizeH="0" baseline="0" noProof="0">
                <a:ln>
                  <a:noFill/>
                </a:ln>
                <a:solidFill>
                  <a:schemeClr val="accent1"/>
                </a:solidFill>
                <a:effectLst/>
                <a:uLnTx/>
                <a:uFillTx/>
                <a:ea typeface="+mn-ea"/>
                <a:cs typeface="Segoe UI Semibold" panose="020B0702040204020203" pitchFamily="34" charset="0"/>
              </a:rPr>
            </a:br>
            <a:r>
              <a:rPr kumimoji="0" lang="en-US" sz="2000" b="0" i="0" u="none" strike="noStrike" kern="1200" cap="none" spc="0" normalizeH="0" baseline="0" noProof="0">
                <a:ln>
                  <a:noFill/>
                </a:ln>
                <a:solidFill>
                  <a:schemeClr val="accent1"/>
                </a:solidFill>
                <a:effectLst/>
                <a:uLnTx/>
                <a:uFillTx/>
                <a:ea typeface="+mn-ea"/>
                <a:cs typeface="Segoe UI Semibold" panose="020B0702040204020203" pitchFamily="34" charset="0"/>
              </a:rPr>
              <a:t>energy prices</a:t>
            </a:r>
            <a:endParaRPr kumimoji="0" lang="en-GB" sz="2000" b="0" i="1" u="none" strike="noStrike" kern="1200" cap="none" spc="0" normalizeH="0" baseline="30000" noProof="0">
              <a:ln>
                <a:noFill/>
              </a:ln>
              <a:solidFill>
                <a:schemeClr val="accent1"/>
              </a:solidFill>
              <a:effectLst/>
              <a:uLnTx/>
              <a:uFillTx/>
              <a:ea typeface="+mn-ea"/>
              <a:cs typeface="Segoe UI Semibold" panose="020B0702040204020203" pitchFamily="34" charset="0"/>
            </a:endParaRPr>
          </a:p>
        </p:txBody>
      </p:sp>
      <p:grpSp>
        <p:nvGrpSpPr>
          <p:cNvPr id="6" name="Group 5">
            <a:extLst>
              <a:ext uri="{FF2B5EF4-FFF2-40B4-BE49-F238E27FC236}">
                <a16:creationId xmlns:a16="http://schemas.microsoft.com/office/drawing/2014/main" id="{9B357BD4-C7F0-B7BA-7B98-0179EC31682D}"/>
              </a:ext>
              <a:ext uri="{C183D7F6-B498-43B3-948B-1728B52AA6E4}">
                <adec:decorative xmlns:adec="http://schemas.microsoft.com/office/drawing/2017/decorative" val="1"/>
              </a:ext>
            </a:extLst>
          </p:cNvPr>
          <p:cNvGrpSpPr/>
          <p:nvPr/>
        </p:nvGrpSpPr>
        <p:grpSpPr>
          <a:xfrm>
            <a:off x="942021" y="0"/>
            <a:ext cx="2986482" cy="5053061"/>
            <a:chOff x="942021" y="0"/>
            <a:chExt cx="2986482" cy="5053061"/>
          </a:xfrm>
        </p:grpSpPr>
        <p:sp>
          <p:nvSpPr>
            <p:cNvPr id="8" name="Oval 7">
              <a:extLst>
                <a:ext uri="{FF2B5EF4-FFF2-40B4-BE49-F238E27FC236}">
                  <a16:creationId xmlns:a16="http://schemas.microsoft.com/office/drawing/2014/main" id="{E8D26D5C-C1A9-B418-A61B-A12CAD5A9E17}"/>
                </a:ext>
                <a:ext uri="{C183D7F6-B498-43B3-948B-1728B52AA6E4}">
                  <adec:decorative xmlns:adec="http://schemas.microsoft.com/office/drawing/2017/decorative" val="1"/>
                </a:ext>
              </a:extLst>
            </p:cNvPr>
            <p:cNvSpPr/>
            <p:nvPr/>
          </p:nvSpPr>
          <p:spPr bwMode="auto">
            <a:xfrm rot="10800000">
              <a:off x="942021" y="2116726"/>
              <a:ext cx="2986482" cy="2936335"/>
            </a:xfrm>
            <a:prstGeom prst="ellipse">
              <a:avLst/>
            </a:prstGeom>
            <a:gradFill flip="none" rotWithShape="1">
              <a:gsLst>
                <a:gs pos="0">
                  <a:schemeClr val="accent2">
                    <a:alpha val="40000"/>
                  </a:schemeClr>
                </a:gs>
                <a:gs pos="41000">
                  <a:schemeClr val="bg1">
                    <a:alpha val="0"/>
                  </a:schemeClr>
                </a:gs>
              </a:gsLst>
              <a:path path="circle">
                <a:fillToRect l="50000" t="50000" r="50000" b="50000"/>
              </a:path>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cxnSp>
          <p:nvCxnSpPr>
            <p:cNvPr id="14" name="Straight Connector 13">
              <a:extLst>
                <a:ext uri="{FF2B5EF4-FFF2-40B4-BE49-F238E27FC236}">
                  <a16:creationId xmlns:a16="http://schemas.microsoft.com/office/drawing/2014/main" id="{78B910C6-139F-19D2-1D3F-F91CCEF2D88F}"/>
                </a:ext>
                <a:ext uri="{C183D7F6-B498-43B3-948B-1728B52AA6E4}">
                  <adec:decorative xmlns:adec="http://schemas.microsoft.com/office/drawing/2017/decorative" val="1"/>
                </a:ext>
              </a:extLst>
            </p:cNvPr>
            <p:cNvCxnSpPr>
              <a:cxnSpLocks/>
            </p:cNvCxnSpPr>
            <p:nvPr/>
          </p:nvCxnSpPr>
          <p:spPr>
            <a:xfrm flipV="1">
              <a:off x="2435261" y="0"/>
              <a:ext cx="0" cy="3183790"/>
            </a:xfrm>
            <a:prstGeom prst="line">
              <a:avLst/>
            </a:prstGeom>
            <a:ln>
              <a:gradFill>
                <a:gsLst>
                  <a:gs pos="0">
                    <a:schemeClr val="accent1">
                      <a:alpha val="0"/>
                    </a:schemeClr>
                  </a:gs>
                  <a:gs pos="44000">
                    <a:schemeClr val="accent1"/>
                  </a:gs>
                  <a:gs pos="100000">
                    <a:schemeClr val="accent2"/>
                  </a:gs>
                </a:gsLst>
                <a:lin ang="54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9" name="Money_3" title="Icon of a dollar sign">
              <a:extLst>
                <a:ext uri="{FF2B5EF4-FFF2-40B4-BE49-F238E27FC236}">
                  <a16:creationId xmlns:a16="http://schemas.microsoft.com/office/drawing/2014/main" id="{BA0A21E4-5A5F-8BFE-8697-82241291AF7F}"/>
                </a:ext>
              </a:extLst>
            </p:cNvPr>
            <p:cNvSpPr>
              <a:spLocks noChangeAspect="1" noEditPoints="1"/>
            </p:cNvSpPr>
            <p:nvPr/>
          </p:nvSpPr>
          <p:spPr bwMode="auto">
            <a:xfrm>
              <a:off x="2334235" y="3336268"/>
              <a:ext cx="202053" cy="365760"/>
            </a:xfrm>
            <a:custGeom>
              <a:avLst/>
              <a:gdLst>
                <a:gd name="T0" fmla="*/ 0 w 153"/>
                <a:gd name="T1" fmla="*/ 223 h 279"/>
                <a:gd name="T2" fmla="*/ 111 w 153"/>
                <a:gd name="T3" fmla="*/ 223 h 279"/>
                <a:gd name="T4" fmla="*/ 153 w 153"/>
                <a:gd name="T5" fmla="*/ 182 h 279"/>
                <a:gd name="T6" fmla="*/ 111 w 153"/>
                <a:gd name="T7" fmla="*/ 141 h 279"/>
                <a:gd name="T8" fmla="*/ 41 w 153"/>
                <a:gd name="T9" fmla="*/ 139 h 279"/>
                <a:gd name="T10" fmla="*/ 0 w 153"/>
                <a:gd name="T11" fmla="*/ 98 h 279"/>
                <a:gd name="T12" fmla="*/ 41 w 153"/>
                <a:gd name="T13" fmla="*/ 56 h 279"/>
                <a:gd name="T14" fmla="*/ 150 w 153"/>
                <a:gd name="T15" fmla="*/ 56 h 279"/>
                <a:gd name="T16" fmla="*/ 76 w 153"/>
                <a:gd name="T17" fmla="*/ 0 h 279"/>
                <a:gd name="T18" fmla="*/ 76 w 153"/>
                <a:gd name="T19" fmla="*/ 279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3" h="279">
                  <a:moveTo>
                    <a:pt x="0" y="223"/>
                  </a:moveTo>
                  <a:cubicBezTo>
                    <a:pt x="111" y="223"/>
                    <a:pt x="111" y="223"/>
                    <a:pt x="111" y="223"/>
                  </a:cubicBezTo>
                  <a:cubicBezTo>
                    <a:pt x="134" y="223"/>
                    <a:pt x="153" y="205"/>
                    <a:pt x="153" y="182"/>
                  </a:cubicBezTo>
                  <a:cubicBezTo>
                    <a:pt x="153" y="159"/>
                    <a:pt x="134" y="141"/>
                    <a:pt x="111" y="141"/>
                  </a:cubicBezTo>
                  <a:cubicBezTo>
                    <a:pt x="41" y="139"/>
                    <a:pt x="41" y="139"/>
                    <a:pt x="41" y="139"/>
                  </a:cubicBezTo>
                  <a:cubicBezTo>
                    <a:pt x="19" y="139"/>
                    <a:pt x="0" y="120"/>
                    <a:pt x="0" y="98"/>
                  </a:cubicBezTo>
                  <a:cubicBezTo>
                    <a:pt x="0" y="75"/>
                    <a:pt x="19" y="56"/>
                    <a:pt x="41" y="56"/>
                  </a:cubicBezTo>
                  <a:cubicBezTo>
                    <a:pt x="150" y="56"/>
                    <a:pt x="150" y="56"/>
                    <a:pt x="150" y="56"/>
                  </a:cubicBezTo>
                  <a:moveTo>
                    <a:pt x="76" y="0"/>
                  </a:moveTo>
                  <a:cubicBezTo>
                    <a:pt x="76" y="279"/>
                    <a:pt x="76" y="279"/>
                    <a:pt x="76" y="279"/>
                  </a:cubicBezTo>
                </a:path>
              </a:pathLst>
            </a:custGeom>
            <a:noFill/>
            <a:ln w="15875" cap="sq">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gradFill>
                  <a:gsLst>
                    <a:gs pos="0">
                      <a:srgbClr val="505050"/>
                    </a:gs>
                    <a:gs pos="100000">
                      <a:srgbClr val="505050"/>
                    </a:gs>
                  </a:gsLst>
                </a:gradFill>
              </a:endParaRPr>
            </a:p>
          </p:txBody>
        </p:sp>
      </p:grpSp>
      <p:grpSp>
        <p:nvGrpSpPr>
          <p:cNvPr id="3" name="Group 2">
            <a:extLst>
              <a:ext uri="{FF2B5EF4-FFF2-40B4-BE49-F238E27FC236}">
                <a16:creationId xmlns:a16="http://schemas.microsoft.com/office/drawing/2014/main" id="{6546729E-B532-5873-5C9B-86F8F565FDA2}"/>
              </a:ext>
              <a:ext uri="{C183D7F6-B498-43B3-948B-1728B52AA6E4}">
                <adec:decorative xmlns:adec="http://schemas.microsoft.com/office/drawing/2017/decorative" val="1"/>
              </a:ext>
            </a:extLst>
          </p:cNvPr>
          <p:cNvGrpSpPr/>
          <p:nvPr/>
        </p:nvGrpSpPr>
        <p:grpSpPr>
          <a:xfrm>
            <a:off x="8626119" y="0"/>
            <a:ext cx="2986482" cy="5053061"/>
            <a:chOff x="8626119" y="0"/>
            <a:chExt cx="2986482" cy="5053061"/>
          </a:xfrm>
        </p:grpSpPr>
        <p:sp>
          <p:nvSpPr>
            <p:cNvPr id="5" name="Oval 4">
              <a:extLst>
                <a:ext uri="{FF2B5EF4-FFF2-40B4-BE49-F238E27FC236}">
                  <a16:creationId xmlns:a16="http://schemas.microsoft.com/office/drawing/2014/main" id="{EC490860-064B-6A63-8C78-A3E898A89691}"/>
                </a:ext>
                <a:ext uri="{C183D7F6-B498-43B3-948B-1728B52AA6E4}">
                  <adec:decorative xmlns:adec="http://schemas.microsoft.com/office/drawing/2017/decorative" val="1"/>
                </a:ext>
              </a:extLst>
            </p:cNvPr>
            <p:cNvSpPr/>
            <p:nvPr/>
          </p:nvSpPr>
          <p:spPr bwMode="auto">
            <a:xfrm rot="10800000">
              <a:off x="8626119" y="2116726"/>
              <a:ext cx="2986482" cy="2936335"/>
            </a:xfrm>
            <a:prstGeom prst="ellipse">
              <a:avLst/>
            </a:prstGeom>
            <a:gradFill flip="none" rotWithShape="1">
              <a:gsLst>
                <a:gs pos="0">
                  <a:schemeClr val="accent2">
                    <a:alpha val="40000"/>
                  </a:schemeClr>
                </a:gs>
                <a:gs pos="41000">
                  <a:schemeClr val="bg1">
                    <a:alpha val="0"/>
                  </a:schemeClr>
                </a:gs>
              </a:gsLst>
              <a:path path="circle">
                <a:fillToRect l="50000" t="50000" r="50000" b="50000"/>
              </a:path>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sp>
          <p:nvSpPr>
            <p:cNvPr id="21" name="people_12" title="Icon of three people">
              <a:extLst>
                <a:ext uri="{FF2B5EF4-FFF2-40B4-BE49-F238E27FC236}">
                  <a16:creationId xmlns:a16="http://schemas.microsoft.com/office/drawing/2014/main" id="{81A16153-1C75-FA3F-8CF5-4279F2ACAF04}"/>
                </a:ext>
              </a:extLst>
            </p:cNvPr>
            <p:cNvSpPr>
              <a:spLocks noChangeAspect="1" noEditPoints="1"/>
            </p:cNvSpPr>
            <p:nvPr/>
          </p:nvSpPr>
          <p:spPr bwMode="auto">
            <a:xfrm>
              <a:off x="9905007" y="3336268"/>
              <a:ext cx="428704" cy="365760"/>
            </a:xfrm>
            <a:custGeom>
              <a:avLst/>
              <a:gdLst>
                <a:gd name="T0" fmla="*/ 110 w 349"/>
                <a:gd name="T1" fmla="*/ 142 h 296"/>
                <a:gd name="T2" fmla="*/ 174 w 349"/>
                <a:gd name="T3" fmla="*/ 78 h 296"/>
                <a:gd name="T4" fmla="*/ 238 w 349"/>
                <a:gd name="T5" fmla="*/ 142 h 296"/>
                <a:gd name="T6" fmla="*/ 174 w 349"/>
                <a:gd name="T7" fmla="*/ 206 h 296"/>
                <a:gd name="T8" fmla="*/ 110 w 349"/>
                <a:gd name="T9" fmla="*/ 142 h 296"/>
                <a:gd name="T10" fmla="*/ 264 w 349"/>
                <a:gd name="T11" fmla="*/ 296 h 296"/>
                <a:gd name="T12" fmla="*/ 174 w 349"/>
                <a:gd name="T13" fmla="*/ 207 h 296"/>
                <a:gd name="T14" fmla="*/ 85 w 349"/>
                <a:gd name="T15" fmla="*/ 296 h 296"/>
                <a:gd name="T16" fmla="*/ 56 w 349"/>
                <a:gd name="T17" fmla="*/ 80 h 296"/>
                <a:gd name="T18" fmla="*/ 96 w 349"/>
                <a:gd name="T19" fmla="*/ 40 h 296"/>
                <a:gd name="T20" fmla="*/ 56 w 349"/>
                <a:gd name="T21" fmla="*/ 0 h 296"/>
                <a:gd name="T22" fmla="*/ 16 w 349"/>
                <a:gd name="T23" fmla="*/ 40 h 296"/>
                <a:gd name="T24" fmla="*/ 56 w 349"/>
                <a:gd name="T25" fmla="*/ 80 h 296"/>
                <a:gd name="T26" fmla="*/ 111 w 349"/>
                <a:gd name="T27" fmla="*/ 136 h 296"/>
                <a:gd name="T28" fmla="*/ 56 w 349"/>
                <a:gd name="T29" fmla="*/ 81 h 296"/>
                <a:gd name="T30" fmla="*/ 0 w 349"/>
                <a:gd name="T31" fmla="*/ 136 h 296"/>
                <a:gd name="T32" fmla="*/ 293 w 349"/>
                <a:gd name="T33" fmla="*/ 80 h 296"/>
                <a:gd name="T34" fmla="*/ 333 w 349"/>
                <a:gd name="T35" fmla="*/ 40 h 296"/>
                <a:gd name="T36" fmla="*/ 293 w 349"/>
                <a:gd name="T37" fmla="*/ 0 h 296"/>
                <a:gd name="T38" fmla="*/ 253 w 349"/>
                <a:gd name="T39" fmla="*/ 40 h 296"/>
                <a:gd name="T40" fmla="*/ 293 w 349"/>
                <a:gd name="T41" fmla="*/ 80 h 296"/>
                <a:gd name="T42" fmla="*/ 349 w 349"/>
                <a:gd name="T43" fmla="*/ 136 h 296"/>
                <a:gd name="T44" fmla="*/ 293 w 349"/>
                <a:gd name="T45" fmla="*/ 81 h 296"/>
                <a:gd name="T46" fmla="*/ 237 w 349"/>
                <a:gd name="T47" fmla="*/ 136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9" h="296">
                  <a:moveTo>
                    <a:pt x="110" y="142"/>
                  </a:moveTo>
                  <a:cubicBezTo>
                    <a:pt x="110" y="107"/>
                    <a:pt x="139" y="78"/>
                    <a:pt x="174" y="78"/>
                  </a:cubicBezTo>
                  <a:cubicBezTo>
                    <a:pt x="210" y="78"/>
                    <a:pt x="238" y="107"/>
                    <a:pt x="238" y="142"/>
                  </a:cubicBezTo>
                  <a:cubicBezTo>
                    <a:pt x="238" y="177"/>
                    <a:pt x="210" y="206"/>
                    <a:pt x="174" y="206"/>
                  </a:cubicBezTo>
                  <a:cubicBezTo>
                    <a:pt x="139" y="206"/>
                    <a:pt x="110" y="177"/>
                    <a:pt x="110" y="142"/>
                  </a:cubicBezTo>
                  <a:close/>
                  <a:moveTo>
                    <a:pt x="264" y="296"/>
                  </a:moveTo>
                  <a:cubicBezTo>
                    <a:pt x="264" y="247"/>
                    <a:pt x="224" y="207"/>
                    <a:pt x="174" y="207"/>
                  </a:cubicBezTo>
                  <a:cubicBezTo>
                    <a:pt x="125" y="207"/>
                    <a:pt x="85" y="247"/>
                    <a:pt x="85" y="296"/>
                  </a:cubicBezTo>
                  <a:moveTo>
                    <a:pt x="56" y="80"/>
                  </a:moveTo>
                  <a:cubicBezTo>
                    <a:pt x="78" y="80"/>
                    <a:pt x="96" y="62"/>
                    <a:pt x="96" y="40"/>
                  </a:cubicBezTo>
                  <a:cubicBezTo>
                    <a:pt x="96" y="18"/>
                    <a:pt x="78" y="0"/>
                    <a:pt x="56" y="0"/>
                  </a:cubicBezTo>
                  <a:cubicBezTo>
                    <a:pt x="34" y="0"/>
                    <a:pt x="16" y="18"/>
                    <a:pt x="16" y="40"/>
                  </a:cubicBezTo>
                  <a:cubicBezTo>
                    <a:pt x="16" y="62"/>
                    <a:pt x="34" y="80"/>
                    <a:pt x="56" y="80"/>
                  </a:cubicBezTo>
                  <a:close/>
                  <a:moveTo>
                    <a:pt x="111" y="136"/>
                  </a:moveTo>
                  <a:cubicBezTo>
                    <a:pt x="111" y="106"/>
                    <a:pt x="86" y="81"/>
                    <a:pt x="56" y="81"/>
                  </a:cubicBezTo>
                  <a:cubicBezTo>
                    <a:pt x="25" y="81"/>
                    <a:pt x="0" y="106"/>
                    <a:pt x="0" y="136"/>
                  </a:cubicBezTo>
                  <a:moveTo>
                    <a:pt x="293" y="80"/>
                  </a:moveTo>
                  <a:cubicBezTo>
                    <a:pt x="315" y="80"/>
                    <a:pt x="333" y="62"/>
                    <a:pt x="333" y="40"/>
                  </a:cubicBezTo>
                  <a:cubicBezTo>
                    <a:pt x="333" y="18"/>
                    <a:pt x="315" y="0"/>
                    <a:pt x="293" y="0"/>
                  </a:cubicBezTo>
                  <a:cubicBezTo>
                    <a:pt x="271" y="0"/>
                    <a:pt x="253" y="18"/>
                    <a:pt x="253" y="40"/>
                  </a:cubicBezTo>
                  <a:cubicBezTo>
                    <a:pt x="253" y="62"/>
                    <a:pt x="271" y="80"/>
                    <a:pt x="293" y="80"/>
                  </a:cubicBezTo>
                  <a:close/>
                  <a:moveTo>
                    <a:pt x="349" y="136"/>
                  </a:moveTo>
                  <a:cubicBezTo>
                    <a:pt x="349" y="106"/>
                    <a:pt x="324" y="81"/>
                    <a:pt x="293" y="81"/>
                  </a:cubicBezTo>
                  <a:cubicBezTo>
                    <a:pt x="262" y="81"/>
                    <a:pt x="237" y="106"/>
                    <a:pt x="237" y="136"/>
                  </a:cubicBezTo>
                </a:path>
              </a:pathLst>
            </a:custGeom>
            <a:noFill/>
            <a:ln w="15875" cap="sq">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cxnSp>
          <p:nvCxnSpPr>
            <p:cNvPr id="32" name="Straight Connector 31">
              <a:extLst>
                <a:ext uri="{FF2B5EF4-FFF2-40B4-BE49-F238E27FC236}">
                  <a16:creationId xmlns:a16="http://schemas.microsoft.com/office/drawing/2014/main" id="{39B32AB0-3156-B0FA-D0C9-EE1D71A462A6}"/>
                </a:ext>
                <a:ext uri="{C183D7F6-B498-43B3-948B-1728B52AA6E4}">
                  <adec:decorative xmlns:adec="http://schemas.microsoft.com/office/drawing/2017/decorative" val="1"/>
                </a:ext>
              </a:extLst>
            </p:cNvPr>
            <p:cNvCxnSpPr>
              <a:cxnSpLocks/>
            </p:cNvCxnSpPr>
            <p:nvPr/>
          </p:nvCxnSpPr>
          <p:spPr>
            <a:xfrm flipV="1">
              <a:off x="10124087" y="0"/>
              <a:ext cx="0" cy="3183790"/>
            </a:xfrm>
            <a:prstGeom prst="line">
              <a:avLst/>
            </a:prstGeom>
            <a:ln>
              <a:gradFill>
                <a:gsLst>
                  <a:gs pos="0">
                    <a:schemeClr val="accent1">
                      <a:alpha val="0"/>
                    </a:schemeClr>
                  </a:gs>
                  <a:gs pos="44000">
                    <a:schemeClr val="accent1"/>
                  </a:gs>
                  <a:gs pos="100000">
                    <a:schemeClr val="accent2"/>
                  </a:gs>
                </a:gsLst>
                <a:lin ang="54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grpSp>
        <p:nvGrpSpPr>
          <p:cNvPr id="4" name="Group 3">
            <a:extLst>
              <a:ext uri="{FF2B5EF4-FFF2-40B4-BE49-F238E27FC236}">
                <a16:creationId xmlns:a16="http://schemas.microsoft.com/office/drawing/2014/main" id="{A44148FB-6914-514C-8377-0447C6B49E81}"/>
              </a:ext>
              <a:ext uri="{C183D7F6-B498-43B3-948B-1728B52AA6E4}">
                <adec:decorative xmlns:adec="http://schemas.microsoft.com/office/drawing/2017/decorative" val="1"/>
              </a:ext>
            </a:extLst>
          </p:cNvPr>
          <p:cNvGrpSpPr/>
          <p:nvPr/>
        </p:nvGrpSpPr>
        <p:grpSpPr>
          <a:xfrm>
            <a:off x="4602759" y="3584893"/>
            <a:ext cx="2986482" cy="3273107"/>
            <a:chOff x="4602759" y="3584893"/>
            <a:chExt cx="2986482" cy="3273107"/>
          </a:xfrm>
        </p:grpSpPr>
        <p:sp>
          <p:nvSpPr>
            <p:cNvPr id="24" name="Oval 23">
              <a:extLst>
                <a:ext uri="{FF2B5EF4-FFF2-40B4-BE49-F238E27FC236}">
                  <a16:creationId xmlns:a16="http://schemas.microsoft.com/office/drawing/2014/main" id="{24E3E711-7E4D-8FA4-3EAF-091A8AE926A8}"/>
                </a:ext>
                <a:ext uri="{C183D7F6-B498-43B3-948B-1728B52AA6E4}">
                  <adec:decorative xmlns:adec="http://schemas.microsoft.com/office/drawing/2017/decorative" val="1"/>
                </a:ext>
              </a:extLst>
            </p:cNvPr>
            <p:cNvSpPr/>
            <p:nvPr/>
          </p:nvSpPr>
          <p:spPr bwMode="auto">
            <a:xfrm rot="10800000">
              <a:off x="4602759" y="3584893"/>
              <a:ext cx="2986482" cy="2936335"/>
            </a:xfrm>
            <a:prstGeom prst="ellipse">
              <a:avLst/>
            </a:prstGeom>
            <a:gradFill flip="none" rotWithShape="1">
              <a:gsLst>
                <a:gs pos="0">
                  <a:schemeClr val="accent2">
                    <a:alpha val="40000"/>
                  </a:schemeClr>
                </a:gs>
                <a:gs pos="41000">
                  <a:schemeClr val="bg1">
                    <a:alpha val="0"/>
                  </a:schemeClr>
                </a:gs>
              </a:gsLst>
              <a:path path="circle">
                <a:fillToRect l="50000" t="50000" r="50000" b="50000"/>
              </a:path>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sp>
          <p:nvSpPr>
            <p:cNvPr id="20" name="Boat" title="Icon of a large boat">
              <a:extLst>
                <a:ext uri="{FF2B5EF4-FFF2-40B4-BE49-F238E27FC236}">
                  <a16:creationId xmlns:a16="http://schemas.microsoft.com/office/drawing/2014/main" id="{31C4C0B1-4B1F-B524-1904-2E66753AD82F}"/>
                </a:ext>
              </a:extLst>
            </p:cNvPr>
            <p:cNvSpPr>
              <a:spLocks noChangeAspect="1" noEditPoints="1"/>
            </p:cNvSpPr>
            <p:nvPr/>
          </p:nvSpPr>
          <p:spPr bwMode="auto">
            <a:xfrm>
              <a:off x="5884898" y="4805699"/>
              <a:ext cx="422205" cy="365760"/>
            </a:xfrm>
            <a:custGeom>
              <a:avLst/>
              <a:gdLst>
                <a:gd name="T0" fmla="*/ 158 w 316"/>
                <a:gd name="T1" fmla="*/ 42 h 274"/>
                <a:gd name="T2" fmla="*/ 221 w 316"/>
                <a:gd name="T3" fmla="*/ 42 h 274"/>
                <a:gd name="T4" fmla="*/ 241 w 316"/>
                <a:gd name="T5" fmla="*/ 84 h 274"/>
                <a:gd name="T6" fmla="*/ 262 w 316"/>
                <a:gd name="T7" fmla="*/ 84 h 274"/>
                <a:gd name="T8" fmla="*/ 262 w 316"/>
                <a:gd name="T9" fmla="*/ 160 h 274"/>
                <a:gd name="T10" fmla="*/ 311 w 316"/>
                <a:gd name="T11" fmla="*/ 176 h 274"/>
                <a:gd name="T12" fmla="*/ 268 w 316"/>
                <a:gd name="T13" fmla="*/ 263 h 274"/>
                <a:gd name="T14" fmla="*/ 253 w 316"/>
                <a:gd name="T15" fmla="*/ 273 h 274"/>
                <a:gd name="T16" fmla="*/ 205 w 316"/>
                <a:gd name="T17" fmla="*/ 252 h 274"/>
                <a:gd name="T18" fmla="*/ 158 w 316"/>
                <a:gd name="T19" fmla="*/ 274 h 274"/>
                <a:gd name="T20" fmla="*/ 111 w 316"/>
                <a:gd name="T21" fmla="*/ 252 h 274"/>
                <a:gd name="T22" fmla="*/ 63 w 316"/>
                <a:gd name="T23" fmla="*/ 273 h 274"/>
                <a:gd name="T24" fmla="*/ 48 w 316"/>
                <a:gd name="T25" fmla="*/ 263 h 274"/>
                <a:gd name="T26" fmla="*/ 5 w 316"/>
                <a:gd name="T27" fmla="*/ 176 h 274"/>
                <a:gd name="T28" fmla="*/ 54 w 316"/>
                <a:gd name="T29" fmla="*/ 160 h 274"/>
                <a:gd name="T30" fmla="*/ 54 w 316"/>
                <a:gd name="T31" fmla="*/ 84 h 274"/>
                <a:gd name="T32" fmla="*/ 74 w 316"/>
                <a:gd name="T33" fmla="*/ 84 h 274"/>
                <a:gd name="T34" fmla="*/ 95 w 316"/>
                <a:gd name="T35" fmla="*/ 42 h 274"/>
                <a:gd name="T36" fmla="*/ 158 w 316"/>
                <a:gd name="T37" fmla="*/ 42 h 274"/>
                <a:gd name="T38" fmla="*/ 179 w 316"/>
                <a:gd name="T39" fmla="*/ 42 h 274"/>
                <a:gd name="T40" fmla="*/ 179 w 316"/>
                <a:gd name="T41" fmla="*/ 0 h 274"/>
                <a:gd name="T42" fmla="*/ 137 w 316"/>
                <a:gd name="T43" fmla="*/ 0 h 274"/>
                <a:gd name="T44" fmla="*/ 137 w 316"/>
                <a:gd name="T45" fmla="*/ 42 h 274"/>
                <a:gd name="T46" fmla="*/ 262 w 316"/>
                <a:gd name="T47" fmla="*/ 160 h 274"/>
                <a:gd name="T48" fmla="*/ 158 w 316"/>
                <a:gd name="T49" fmla="*/ 127 h 274"/>
                <a:gd name="T50" fmla="*/ 54 w 316"/>
                <a:gd name="T51" fmla="*/ 160 h 274"/>
                <a:gd name="T52" fmla="*/ 74 w 316"/>
                <a:gd name="T53" fmla="*/ 84 h 274"/>
                <a:gd name="T54" fmla="*/ 241 w 316"/>
                <a:gd name="T55" fmla="*/ 84 h 274"/>
                <a:gd name="T56" fmla="*/ 158 w 316"/>
                <a:gd name="T57" fmla="*/ 271 h 274"/>
                <a:gd name="T58" fmla="*/ 158 w 316"/>
                <a:gd name="T59" fmla="*/ 129 h 274"/>
                <a:gd name="T60" fmla="*/ 0 w 316"/>
                <a:gd name="T61" fmla="*/ 253 h 274"/>
                <a:gd name="T62" fmla="*/ 41 w 316"/>
                <a:gd name="T63" fmla="*/ 253 h 274"/>
                <a:gd name="T64" fmla="*/ 275 w 316"/>
                <a:gd name="T65" fmla="*/ 253 h 274"/>
                <a:gd name="T66" fmla="*/ 316 w 316"/>
                <a:gd name="T67" fmla="*/ 253 h 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16" h="274">
                  <a:moveTo>
                    <a:pt x="158" y="42"/>
                  </a:moveTo>
                  <a:cubicBezTo>
                    <a:pt x="221" y="42"/>
                    <a:pt x="221" y="42"/>
                    <a:pt x="221" y="42"/>
                  </a:cubicBezTo>
                  <a:cubicBezTo>
                    <a:pt x="241" y="84"/>
                    <a:pt x="241" y="84"/>
                    <a:pt x="241" y="84"/>
                  </a:cubicBezTo>
                  <a:cubicBezTo>
                    <a:pt x="262" y="84"/>
                    <a:pt x="262" y="84"/>
                    <a:pt x="262" y="84"/>
                  </a:cubicBezTo>
                  <a:cubicBezTo>
                    <a:pt x="262" y="160"/>
                    <a:pt x="262" y="160"/>
                    <a:pt x="262" y="160"/>
                  </a:cubicBezTo>
                  <a:cubicBezTo>
                    <a:pt x="311" y="176"/>
                    <a:pt x="311" y="176"/>
                    <a:pt x="311" y="176"/>
                  </a:cubicBezTo>
                  <a:cubicBezTo>
                    <a:pt x="268" y="263"/>
                    <a:pt x="268" y="263"/>
                    <a:pt x="268" y="263"/>
                  </a:cubicBezTo>
                  <a:cubicBezTo>
                    <a:pt x="268" y="263"/>
                    <a:pt x="264" y="273"/>
                    <a:pt x="253" y="273"/>
                  </a:cubicBezTo>
                  <a:cubicBezTo>
                    <a:pt x="232" y="273"/>
                    <a:pt x="226" y="252"/>
                    <a:pt x="205" y="252"/>
                  </a:cubicBezTo>
                  <a:cubicBezTo>
                    <a:pt x="188" y="252"/>
                    <a:pt x="177" y="274"/>
                    <a:pt x="158" y="274"/>
                  </a:cubicBezTo>
                  <a:cubicBezTo>
                    <a:pt x="139" y="274"/>
                    <a:pt x="128" y="252"/>
                    <a:pt x="111" y="252"/>
                  </a:cubicBezTo>
                  <a:cubicBezTo>
                    <a:pt x="90" y="252"/>
                    <a:pt x="84" y="273"/>
                    <a:pt x="63" y="273"/>
                  </a:cubicBezTo>
                  <a:cubicBezTo>
                    <a:pt x="52" y="273"/>
                    <a:pt x="48" y="263"/>
                    <a:pt x="48" y="263"/>
                  </a:cubicBezTo>
                  <a:cubicBezTo>
                    <a:pt x="5" y="176"/>
                    <a:pt x="5" y="176"/>
                    <a:pt x="5" y="176"/>
                  </a:cubicBezTo>
                  <a:cubicBezTo>
                    <a:pt x="54" y="160"/>
                    <a:pt x="54" y="160"/>
                    <a:pt x="54" y="160"/>
                  </a:cubicBezTo>
                  <a:cubicBezTo>
                    <a:pt x="54" y="84"/>
                    <a:pt x="54" y="84"/>
                    <a:pt x="54" y="84"/>
                  </a:cubicBezTo>
                  <a:cubicBezTo>
                    <a:pt x="74" y="84"/>
                    <a:pt x="74" y="84"/>
                    <a:pt x="74" y="84"/>
                  </a:cubicBezTo>
                  <a:cubicBezTo>
                    <a:pt x="95" y="42"/>
                    <a:pt x="95" y="42"/>
                    <a:pt x="95" y="42"/>
                  </a:cubicBezTo>
                  <a:cubicBezTo>
                    <a:pt x="158" y="42"/>
                    <a:pt x="158" y="42"/>
                    <a:pt x="158" y="42"/>
                  </a:cubicBezTo>
                  <a:moveTo>
                    <a:pt x="179" y="42"/>
                  </a:moveTo>
                  <a:cubicBezTo>
                    <a:pt x="179" y="0"/>
                    <a:pt x="179" y="0"/>
                    <a:pt x="179" y="0"/>
                  </a:cubicBezTo>
                  <a:cubicBezTo>
                    <a:pt x="137" y="0"/>
                    <a:pt x="137" y="0"/>
                    <a:pt x="137" y="0"/>
                  </a:cubicBezTo>
                  <a:cubicBezTo>
                    <a:pt x="137" y="42"/>
                    <a:pt x="137" y="42"/>
                    <a:pt x="137" y="42"/>
                  </a:cubicBezTo>
                  <a:moveTo>
                    <a:pt x="262" y="160"/>
                  </a:moveTo>
                  <a:cubicBezTo>
                    <a:pt x="158" y="127"/>
                    <a:pt x="158" y="127"/>
                    <a:pt x="158" y="127"/>
                  </a:cubicBezTo>
                  <a:cubicBezTo>
                    <a:pt x="54" y="160"/>
                    <a:pt x="54" y="160"/>
                    <a:pt x="54" y="160"/>
                  </a:cubicBezTo>
                  <a:moveTo>
                    <a:pt x="74" y="84"/>
                  </a:moveTo>
                  <a:cubicBezTo>
                    <a:pt x="241" y="84"/>
                    <a:pt x="241" y="84"/>
                    <a:pt x="241" y="84"/>
                  </a:cubicBezTo>
                  <a:moveTo>
                    <a:pt x="158" y="271"/>
                  </a:moveTo>
                  <a:cubicBezTo>
                    <a:pt x="158" y="129"/>
                    <a:pt x="158" y="129"/>
                    <a:pt x="158" y="129"/>
                  </a:cubicBezTo>
                  <a:moveTo>
                    <a:pt x="0" y="253"/>
                  </a:moveTo>
                  <a:cubicBezTo>
                    <a:pt x="41" y="253"/>
                    <a:pt x="41" y="253"/>
                    <a:pt x="41" y="253"/>
                  </a:cubicBezTo>
                  <a:moveTo>
                    <a:pt x="275" y="253"/>
                  </a:moveTo>
                  <a:cubicBezTo>
                    <a:pt x="316" y="253"/>
                    <a:pt x="316" y="253"/>
                    <a:pt x="316" y="253"/>
                  </a:cubicBezTo>
                </a:path>
              </a:pathLst>
            </a:custGeom>
            <a:noFill/>
            <a:ln w="15875" cap="sq">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900">
                <a:gradFill>
                  <a:gsLst>
                    <a:gs pos="0">
                      <a:srgbClr val="505050"/>
                    </a:gs>
                    <a:gs pos="100000">
                      <a:srgbClr val="505050"/>
                    </a:gs>
                  </a:gsLst>
                  <a:lin ang="5400000" scaled="1"/>
                </a:gradFill>
              </a:endParaRPr>
            </a:p>
          </p:txBody>
        </p:sp>
        <p:cxnSp>
          <p:nvCxnSpPr>
            <p:cNvPr id="25" name="Straight Connector 24">
              <a:extLst>
                <a:ext uri="{FF2B5EF4-FFF2-40B4-BE49-F238E27FC236}">
                  <a16:creationId xmlns:a16="http://schemas.microsoft.com/office/drawing/2014/main" id="{03B5824D-678C-6117-2A1A-FE8B1320D577}"/>
                </a:ext>
                <a:ext uri="{C183D7F6-B498-43B3-948B-1728B52AA6E4}">
                  <adec:decorative xmlns:adec="http://schemas.microsoft.com/office/drawing/2017/decorative" val="1"/>
                </a:ext>
              </a:extLst>
            </p:cNvPr>
            <p:cNvCxnSpPr>
              <a:cxnSpLocks/>
            </p:cNvCxnSpPr>
            <p:nvPr/>
          </p:nvCxnSpPr>
          <p:spPr>
            <a:xfrm>
              <a:off x="6096000" y="5270090"/>
              <a:ext cx="0" cy="1587910"/>
            </a:xfrm>
            <a:prstGeom prst="line">
              <a:avLst/>
            </a:prstGeom>
            <a:ln>
              <a:gradFill>
                <a:gsLst>
                  <a:gs pos="0">
                    <a:schemeClr val="accent1">
                      <a:alpha val="0"/>
                    </a:schemeClr>
                  </a:gs>
                  <a:gs pos="44000">
                    <a:schemeClr val="accent1"/>
                  </a:gs>
                  <a:gs pos="100000">
                    <a:schemeClr val="accent2"/>
                  </a:gs>
                </a:gsLst>
                <a:lin ang="54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18119389"/>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F25408A0-CC79-4479-A218-82F300C60AC0}"/>
              </a:ext>
              <a:ext uri="{C183D7F6-B498-43B3-948B-1728B52AA6E4}">
                <adec:decorative xmlns:adec="http://schemas.microsoft.com/office/drawing/2017/decorative" val="1"/>
              </a:ext>
            </a:extLst>
          </p:cNvPr>
          <p:cNvGrpSpPr/>
          <p:nvPr/>
        </p:nvGrpSpPr>
        <p:grpSpPr>
          <a:xfrm>
            <a:off x="8522555" y="150690"/>
            <a:ext cx="6965553" cy="6845936"/>
            <a:chOff x="-3484074" y="-217"/>
            <a:chExt cx="6965553" cy="6845936"/>
          </a:xfrm>
        </p:grpSpPr>
        <p:sp>
          <p:nvSpPr>
            <p:cNvPr id="14" name="Freeform 13">
              <a:extLst>
                <a:ext uri="{FF2B5EF4-FFF2-40B4-BE49-F238E27FC236}">
                  <a16:creationId xmlns:a16="http://schemas.microsoft.com/office/drawing/2014/main" id="{0D76598E-D592-6B32-A543-0915CE178D9D}"/>
                </a:ext>
              </a:extLst>
            </p:cNvPr>
            <p:cNvSpPr/>
            <p:nvPr/>
          </p:nvSpPr>
          <p:spPr>
            <a:xfrm>
              <a:off x="-3484074" y="-217"/>
              <a:ext cx="6965553" cy="6845936"/>
            </a:xfrm>
            <a:custGeom>
              <a:avLst/>
              <a:gdLst>
                <a:gd name="connsiteX0" fmla="*/ 2574764 w 6965553"/>
                <a:gd name="connsiteY0" fmla="*/ 6845936 h 6845936"/>
                <a:gd name="connsiteX1" fmla="*/ 2351891 w 6965553"/>
                <a:gd name="connsiteY1" fmla="*/ 6802986 h 6845936"/>
                <a:gd name="connsiteX2" fmla="*/ 1914099 w 6965553"/>
                <a:gd name="connsiteY2" fmla="*/ 6353434 h 6845936"/>
                <a:gd name="connsiteX3" fmla="*/ 1576687 w 6965553"/>
                <a:gd name="connsiteY3" fmla="*/ 5864750 h 6845936"/>
                <a:gd name="connsiteX4" fmla="*/ 725760 w 6965553"/>
                <a:gd name="connsiteY4" fmla="*/ 5422834 h 6845936"/>
                <a:gd name="connsiteX5" fmla="*/ 296717 w 6965553"/>
                <a:gd name="connsiteY5" fmla="*/ 5166083 h 6845936"/>
                <a:gd name="connsiteX6" fmla="*/ 312785 w 6965553"/>
                <a:gd name="connsiteY6" fmla="*/ 4387720 h 6845936"/>
                <a:gd name="connsiteX7" fmla="*/ 409824 w 6965553"/>
                <a:gd name="connsiteY7" fmla="*/ 3540794 h 6845936"/>
                <a:gd name="connsiteX8" fmla="*/ 152908 w 6965553"/>
                <a:gd name="connsiteY8" fmla="*/ 2694664 h 6845936"/>
                <a:gd name="connsiteX9" fmla="*/ 33756 w 6965553"/>
                <a:gd name="connsiteY9" fmla="*/ 2098602 h 6845936"/>
                <a:gd name="connsiteX10" fmla="*/ 519431 w 6965553"/>
                <a:gd name="connsiteY10" fmla="*/ 1759927 h 6845936"/>
                <a:gd name="connsiteX11" fmla="*/ 1260115 w 6965553"/>
                <a:gd name="connsiteY11" fmla="*/ 1352372 h 6845936"/>
                <a:gd name="connsiteX12" fmla="*/ 1728610 w 6965553"/>
                <a:gd name="connsiteY12" fmla="*/ 541079 h 6845936"/>
                <a:gd name="connsiteX13" fmla="*/ 2102133 w 6965553"/>
                <a:gd name="connsiteY13" fmla="*/ 22965 h 6845936"/>
                <a:gd name="connsiteX14" fmla="*/ 2603876 w 6965553"/>
                <a:gd name="connsiteY14" fmla="*/ 135274 h 6845936"/>
                <a:gd name="connsiteX15" fmla="*/ 3314811 w 6965553"/>
                <a:gd name="connsiteY15" fmla="*/ 355436 h 6845936"/>
                <a:gd name="connsiteX16" fmla="*/ 3335015 w 6965553"/>
                <a:gd name="connsiteY16" fmla="*/ 355595 h 6845936"/>
                <a:gd name="connsiteX17" fmla="*/ 4022724 w 6965553"/>
                <a:gd name="connsiteY17" fmla="*/ 160408 h 6845936"/>
                <a:gd name="connsiteX18" fmla="*/ 4573305 w 6965553"/>
                <a:gd name="connsiteY18" fmla="*/ 51281 h 6845936"/>
                <a:gd name="connsiteX19" fmla="*/ 4969895 w 6965553"/>
                <a:gd name="connsiteY19" fmla="*/ 469495 h 6845936"/>
                <a:gd name="connsiteX20" fmla="*/ 5460662 w 6965553"/>
                <a:gd name="connsiteY20" fmla="*/ 1151935 h 6845936"/>
                <a:gd name="connsiteX21" fmla="*/ 6112101 w 6965553"/>
                <a:gd name="connsiteY21" fmla="*/ 1591624 h 6845936"/>
                <a:gd name="connsiteX22" fmla="*/ 6595708 w 6965553"/>
                <a:gd name="connsiteY22" fmla="*/ 2044516 h 6845936"/>
                <a:gd name="connsiteX23" fmla="*/ 6577732 w 6965553"/>
                <a:gd name="connsiteY23" fmla="*/ 2411347 h 6845936"/>
                <a:gd name="connsiteX24" fmla="*/ 6508213 w 6965553"/>
                <a:gd name="connsiteY24" fmla="*/ 2855808 h 6845936"/>
                <a:gd name="connsiteX25" fmla="*/ 6780084 w 6965553"/>
                <a:gd name="connsiteY25" fmla="*/ 3682372 h 6845936"/>
                <a:gd name="connsiteX26" fmla="*/ 6955232 w 6965553"/>
                <a:gd name="connsiteY26" fmla="*/ 4291956 h 6845936"/>
                <a:gd name="connsiteX27" fmla="*/ 6637387 w 6965553"/>
                <a:gd name="connsiteY27" fmla="*/ 4689489 h 6845936"/>
                <a:gd name="connsiteX28" fmla="*/ 6100647 w 6965553"/>
                <a:gd name="connsiteY28" fmla="*/ 5159561 h 6845936"/>
                <a:gd name="connsiteX29" fmla="*/ 5537339 w 6965553"/>
                <a:gd name="connsiteY29" fmla="*/ 6064232 h 6845936"/>
                <a:gd name="connsiteX30" fmla="*/ 5056595 w 6965553"/>
                <a:gd name="connsiteY30" fmla="*/ 6646772 h 6845936"/>
                <a:gd name="connsiteX31" fmla="*/ 4572987 w 6965553"/>
                <a:gd name="connsiteY31" fmla="*/ 6641045 h 6845936"/>
                <a:gd name="connsiteX32" fmla="*/ 3868097 w 6965553"/>
                <a:gd name="connsiteY32" fmla="*/ 6550212 h 6845936"/>
                <a:gd name="connsiteX33" fmla="*/ 2993626 w 6965553"/>
                <a:gd name="connsiteY33" fmla="*/ 6740309 h 6845936"/>
                <a:gd name="connsiteX34" fmla="*/ 2574764 w 6965553"/>
                <a:gd name="connsiteY34" fmla="*/ 6845936 h 6845936"/>
                <a:gd name="connsiteX35" fmla="*/ 2236398 w 6965553"/>
                <a:gd name="connsiteY35" fmla="*/ 3558 h 6845936"/>
                <a:gd name="connsiteX36" fmla="*/ 2103406 w 6965553"/>
                <a:gd name="connsiteY36" fmla="*/ 26306 h 6845936"/>
                <a:gd name="connsiteX37" fmla="*/ 1731951 w 6965553"/>
                <a:gd name="connsiteY37" fmla="*/ 542352 h 6845936"/>
                <a:gd name="connsiteX38" fmla="*/ 1262660 w 6965553"/>
                <a:gd name="connsiteY38" fmla="*/ 1354917 h 6845936"/>
                <a:gd name="connsiteX39" fmla="*/ 520704 w 6965553"/>
                <a:gd name="connsiteY39" fmla="*/ 1763109 h 6845936"/>
                <a:gd name="connsiteX40" fmla="*/ 37096 w 6965553"/>
                <a:gd name="connsiteY40" fmla="*/ 2099875 h 6845936"/>
                <a:gd name="connsiteX41" fmla="*/ 155930 w 6965553"/>
                <a:gd name="connsiteY41" fmla="*/ 2693073 h 6845936"/>
                <a:gd name="connsiteX42" fmla="*/ 413165 w 6965553"/>
                <a:gd name="connsiteY42" fmla="*/ 3540635 h 6845936"/>
                <a:gd name="connsiteX43" fmla="*/ 315966 w 6965553"/>
                <a:gd name="connsiteY43" fmla="*/ 4388356 h 6845936"/>
                <a:gd name="connsiteX44" fmla="*/ 299740 w 6965553"/>
                <a:gd name="connsiteY44" fmla="*/ 5164811 h 6845936"/>
                <a:gd name="connsiteX45" fmla="*/ 726078 w 6965553"/>
                <a:gd name="connsiteY45" fmla="*/ 5419493 h 6845936"/>
                <a:gd name="connsiteX46" fmla="*/ 1579073 w 6965553"/>
                <a:gd name="connsiteY46" fmla="*/ 5862522 h 6845936"/>
                <a:gd name="connsiteX47" fmla="*/ 1916803 w 6965553"/>
                <a:gd name="connsiteY47" fmla="*/ 6351684 h 6845936"/>
                <a:gd name="connsiteX48" fmla="*/ 2353005 w 6965553"/>
                <a:gd name="connsiteY48" fmla="*/ 6799804 h 6845936"/>
                <a:gd name="connsiteX49" fmla="*/ 2992830 w 6965553"/>
                <a:gd name="connsiteY49" fmla="*/ 6737605 h 6845936"/>
                <a:gd name="connsiteX50" fmla="*/ 3868256 w 6965553"/>
                <a:gd name="connsiteY50" fmla="*/ 6547190 h 6845936"/>
                <a:gd name="connsiteX51" fmla="*/ 3959728 w 6965553"/>
                <a:gd name="connsiteY51" fmla="*/ 6545599 h 6845936"/>
                <a:gd name="connsiteX52" fmla="*/ 4574100 w 6965553"/>
                <a:gd name="connsiteY52" fmla="*/ 6638182 h 6845936"/>
                <a:gd name="connsiteX53" fmla="*/ 5055481 w 6965553"/>
                <a:gd name="connsiteY53" fmla="*/ 6644068 h 6845936"/>
                <a:gd name="connsiteX54" fmla="*/ 5534476 w 6965553"/>
                <a:gd name="connsiteY54" fmla="*/ 6063278 h 6845936"/>
                <a:gd name="connsiteX55" fmla="*/ 6098419 w 6965553"/>
                <a:gd name="connsiteY55" fmla="*/ 5157652 h 6845936"/>
                <a:gd name="connsiteX56" fmla="*/ 6635637 w 6965553"/>
                <a:gd name="connsiteY56" fmla="*/ 4687103 h 6845936"/>
                <a:gd name="connsiteX57" fmla="*/ 6952051 w 6965553"/>
                <a:gd name="connsiteY57" fmla="*/ 4291637 h 6845936"/>
                <a:gd name="connsiteX58" fmla="*/ 6777220 w 6965553"/>
                <a:gd name="connsiteY58" fmla="*/ 3684281 h 6845936"/>
                <a:gd name="connsiteX59" fmla="*/ 6504873 w 6965553"/>
                <a:gd name="connsiteY59" fmla="*/ 2856127 h 6845936"/>
                <a:gd name="connsiteX60" fmla="*/ 6574391 w 6965553"/>
                <a:gd name="connsiteY60" fmla="*/ 2410711 h 6845936"/>
                <a:gd name="connsiteX61" fmla="*/ 6592368 w 6965553"/>
                <a:gd name="connsiteY61" fmla="*/ 2045788 h 6845936"/>
                <a:gd name="connsiteX62" fmla="*/ 6110350 w 6965553"/>
                <a:gd name="connsiteY62" fmla="*/ 1594964 h 6845936"/>
                <a:gd name="connsiteX63" fmla="*/ 5458116 w 6965553"/>
                <a:gd name="connsiteY63" fmla="*/ 1154639 h 6845936"/>
                <a:gd name="connsiteX64" fmla="*/ 4966714 w 6965553"/>
                <a:gd name="connsiteY64" fmla="*/ 471244 h 6845936"/>
                <a:gd name="connsiteX65" fmla="*/ 4572191 w 6965553"/>
                <a:gd name="connsiteY65" fmla="*/ 54622 h 6845936"/>
                <a:gd name="connsiteX66" fmla="*/ 4023997 w 6965553"/>
                <a:gd name="connsiteY66" fmla="*/ 163590 h 6845936"/>
                <a:gd name="connsiteX67" fmla="*/ 3334697 w 6965553"/>
                <a:gd name="connsiteY67" fmla="*/ 359095 h 6845936"/>
                <a:gd name="connsiteX68" fmla="*/ 3314334 w 6965553"/>
                <a:gd name="connsiteY68" fmla="*/ 358936 h 6845936"/>
                <a:gd name="connsiteX69" fmla="*/ 2601808 w 6965553"/>
                <a:gd name="connsiteY69" fmla="*/ 138296 h 6845936"/>
                <a:gd name="connsiteX70" fmla="*/ 2236398 w 6965553"/>
                <a:gd name="connsiteY70" fmla="*/ 3558 h 68459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965553" h="6845936">
                  <a:moveTo>
                    <a:pt x="2574764" y="6845936"/>
                  </a:moveTo>
                  <a:cubicBezTo>
                    <a:pt x="2504450" y="6845936"/>
                    <a:pt x="2431909" y="6833210"/>
                    <a:pt x="2351891" y="6802986"/>
                  </a:cubicBezTo>
                  <a:cubicBezTo>
                    <a:pt x="2127586" y="6717880"/>
                    <a:pt x="2038023" y="6565006"/>
                    <a:pt x="1914099" y="6353434"/>
                  </a:cubicBezTo>
                  <a:cubicBezTo>
                    <a:pt x="1830740" y="6211060"/>
                    <a:pt x="1736246" y="6049756"/>
                    <a:pt x="1576687" y="5864750"/>
                  </a:cubicBezTo>
                  <a:cubicBezTo>
                    <a:pt x="1249934" y="5485351"/>
                    <a:pt x="959292" y="5450672"/>
                    <a:pt x="725760" y="5422834"/>
                  </a:cubicBezTo>
                  <a:cubicBezTo>
                    <a:pt x="533431" y="5399927"/>
                    <a:pt x="381508" y="5381792"/>
                    <a:pt x="296717" y="5166083"/>
                  </a:cubicBezTo>
                  <a:cubicBezTo>
                    <a:pt x="202859" y="4927786"/>
                    <a:pt x="251379" y="4689489"/>
                    <a:pt x="312785" y="4387720"/>
                  </a:cubicBezTo>
                  <a:cubicBezTo>
                    <a:pt x="361782" y="4147036"/>
                    <a:pt x="417301" y="3874060"/>
                    <a:pt x="409824" y="3540794"/>
                  </a:cubicBezTo>
                  <a:cubicBezTo>
                    <a:pt x="401234" y="3161236"/>
                    <a:pt x="263628" y="2902577"/>
                    <a:pt x="152908" y="2694664"/>
                  </a:cubicBezTo>
                  <a:cubicBezTo>
                    <a:pt x="38687" y="2480069"/>
                    <a:pt x="-51671" y="2310333"/>
                    <a:pt x="33756" y="2098602"/>
                  </a:cubicBezTo>
                  <a:cubicBezTo>
                    <a:pt x="117910" y="1890211"/>
                    <a:pt x="295127" y="1832784"/>
                    <a:pt x="519431" y="1759927"/>
                  </a:cubicBezTo>
                  <a:cubicBezTo>
                    <a:pt x="732919" y="1690570"/>
                    <a:pt x="998744" y="1604350"/>
                    <a:pt x="1260115" y="1352372"/>
                  </a:cubicBezTo>
                  <a:cubicBezTo>
                    <a:pt x="1543757" y="1079078"/>
                    <a:pt x="1646206" y="780808"/>
                    <a:pt x="1728610" y="541079"/>
                  </a:cubicBezTo>
                  <a:cubicBezTo>
                    <a:pt x="1813718" y="293237"/>
                    <a:pt x="1880851" y="97573"/>
                    <a:pt x="2102133" y="22965"/>
                  </a:cubicBezTo>
                  <a:cubicBezTo>
                    <a:pt x="2290486" y="-40347"/>
                    <a:pt x="2428728" y="37123"/>
                    <a:pt x="2603876" y="135274"/>
                  </a:cubicBezTo>
                  <a:cubicBezTo>
                    <a:pt x="2775366" y="231356"/>
                    <a:pt x="2988694" y="350823"/>
                    <a:pt x="3314811" y="355436"/>
                  </a:cubicBezTo>
                  <a:cubicBezTo>
                    <a:pt x="3321493" y="355595"/>
                    <a:pt x="3328333" y="355595"/>
                    <a:pt x="3335015" y="355595"/>
                  </a:cubicBezTo>
                  <a:cubicBezTo>
                    <a:pt x="3644587" y="355595"/>
                    <a:pt x="3845348" y="252036"/>
                    <a:pt x="4022724" y="160408"/>
                  </a:cubicBezTo>
                  <a:cubicBezTo>
                    <a:pt x="4202646" y="67507"/>
                    <a:pt x="4358068" y="-12668"/>
                    <a:pt x="4573305" y="51281"/>
                  </a:cubicBezTo>
                  <a:cubicBezTo>
                    <a:pt x="4790133" y="115707"/>
                    <a:pt x="4865379" y="264126"/>
                    <a:pt x="4969895" y="469495"/>
                  </a:cubicBezTo>
                  <a:cubicBezTo>
                    <a:pt x="5065821" y="658001"/>
                    <a:pt x="5185132" y="892957"/>
                    <a:pt x="5460662" y="1151935"/>
                  </a:cubicBezTo>
                  <a:cubicBezTo>
                    <a:pt x="5703102" y="1379892"/>
                    <a:pt x="5929793" y="1497291"/>
                    <a:pt x="6112101" y="1591624"/>
                  </a:cubicBezTo>
                  <a:cubicBezTo>
                    <a:pt x="6348177" y="1713954"/>
                    <a:pt x="6518713" y="1802242"/>
                    <a:pt x="6595708" y="2044516"/>
                  </a:cubicBezTo>
                  <a:cubicBezTo>
                    <a:pt x="6644705" y="2198502"/>
                    <a:pt x="6615116" y="2292517"/>
                    <a:pt x="6577732" y="2411347"/>
                  </a:cubicBezTo>
                  <a:cubicBezTo>
                    <a:pt x="6544961" y="2515861"/>
                    <a:pt x="6504077" y="2645668"/>
                    <a:pt x="6508213" y="2855808"/>
                  </a:cubicBezTo>
                  <a:cubicBezTo>
                    <a:pt x="6515849" y="3230912"/>
                    <a:pt x="6656318" y="3470800"/>
                    <a:pt x="6780084" y="3682372"/>
                  </a:cubicBezTo>
                  <a:cubicBezTo>
                    <a:pt x="6897486" y="3882968"/>
                    <a:pt x="6998821" y="4056044"/>
                    <a:pt x="6955232" y="4291956"/>
                  </a:cubicBezTo>
                  <a:cubicBezTo>
                    <a:pt x="6918643" y="4489529"/>
                    <a:pt x="6812695" y="4564773"/>
                    <a:pt x="6637387" y="4689489"/>
                  </a:cubicBezTo>
                  <a:cubicBezTo>
                    <a:pt x="6495487" y="4790503"/>
                    <a:pt x="6318906" y="4916174"/>
                    <a:pt x="6100647" y="5159561"/>
                  </a:cubicBezTo>
                  <a:cubicBezTo>
                    <a:pt x="5784074" y="5512871"/>
                    <a:pt x="5647264" y="5818617"/>
                    <a:pt x="5537339" y="6064232"/>
                  </a:cubicBezTo>
                  <a:cubicBezTo>
                    <a:pt x="5414051" y="6339594"/>
                    <a:pt x="5325124" y="6538441"/>
                    <a:pt x="5056595" y="6646772"/>
                  </a:cubicBezTo>
                  <a:cubicBezTo>
                    <a:pt x="4865220" y="6723925"/>
                    <a:pt x="4742568" y="6689245"/>
                    <a:pt x="4572987" y="6641045"/>
                  </a:cubicBezTo>
                  <a:cubicBezTo>
                    <a:pt x="4411678" y="6595231"/>
                    <a:pt x="4210600" y="6538122"/>
                    <a:pt x="3868097" y="6550212"/>
                  </a:cubicBezTo>
                  <a:cubicBezTo>
                    <a:pt x="3467689" y="6564370"/>
                    <a:pt x="3204886" y="6661884"/>
                    <a:pt x="2993626" y="6740309"/>
                  </a:cubicBezTo>
                  <a:cubicBezTo>
                    <a:pt x="2838203" y="6798690"/>
                    <a:pt x="2710779" y="6845936"/>
                    <a:pt x="2574764" y="6845936"/>
                  </a:cubicBezTo>
                  <a:close/>
                  <a:moveTo>
                    <a:pt x="2236398" y="3558"/>
                  </a:moveTo>
                  <a:cubicBezTo>
                    <a:pt x="2194241" y="3558"/>
                    <a:pt x="2150335" y="10557"/>
                    <a:pt x="2103406" y="26306"/>
                  </a:cubicBezTo>
                  <a:cubicBezTo>
                    <a:pt x="1883714" y="100277"/>
                    <a:pt x="1816741" y="295464"/>
                    <a:pt x="1731951" y="542352"/>
                  </a:cubicBezTo>
                  <a:cubicBezTo>
                    <a:pt x="1649546" y="782399"/>
                    <a:pt x="1546939" y="1081146"/>
                    <a:pt x="1262660" y="1354917"/>
                  </a:cubicBezTo>
                  <a:cubicBezTo>
                    <a:pt x="1000653" y="1607213"/>
                    <a:pt x="734510" y="1693751"/>
                    <a:pt x="520704" y="1763109"/>
                  </a:cubicBezTo>
                  <a:cubicBezTo>
                    <a:pt x="297195" y="1835648"/>
                    <a:pt x="120614" y="1893074"/>
                    <a:pt x="37096" y="2099875"/>
                  </a:cubicBezTo>
                  <a:cubicBezTo>
                    <a:pt x="-47853" y="2310174"/>
                    <a:pt x="42187" y="2479114"/>
                    <a:pt x="155930" y="2693073"/>
                  </a:cubicBezTo>
                  <a:cubicBezTo>
                    <a:pt x="266810" y="2901145"/>
                    <a:pt x="404575" y="3160282"/>
                    <a:pt x="413165" y="3540635"/>
                  </a:cubicBezTo>
                  <a:cubicBezTo>
                    <a:pt x="420642" y="3874219"/>
                    <a:pt x="365122" y="4147513"/>
                    <a:pt x="315966" y="4388356"/>
                  </a:cubicBezTo>
                  <a:cubicBezTo>
                    <a:pt x="254561" y="4689489"/>
                    <a:pt x="206200" y="4927468"/>
                    <a:pt x="299740" y="5164811"/>
                  </a:cubicBezTo>
                  <a:cubicBezTo>
                    <a:pt x="383894" y="5378610"/>
                    <a:pt x="534862" y="5396586"/>
                    <a:pt x="726078" y="5419493"/>
                  </a:cubicBezTo>
                  <a:cubicBezTo>
                    <a:pt x="960087" y="5447491"/>
                    <a:pt x="1251525" y="5482169"/>
                    <a:pt x="1579073" y="5862522"/>
                  </a:cubicBezTo>
                  <a:cubicBezTo>
                    <a:pt x="1738791" y="6047688"/>
                    <a:pt x="1833445" y="6209310"/>
                    <a:pt x="1916803" y="6351684"/>
                  </a:cubicBezTo>
                  <a:cubicBezTo>
                    <a:pt x="2040410" y="6562620"/>
                    <a:pt x="2129813" y="6715175"/>
                    <a:pt x="2353005" y="6799804"/>
                  </a:cubicBezTo>
                  <a:cubicBezTo>
                    <a:pt x="2586855" y="6888569"/>
                    <a:pt x="2757231" y="6825097"/>
                    <a:pt x="2992830" y="6737605"/>
                  </a:cubicBezTo>
                  <a:cubicBezTo>
                    <a:pt x="3204250" y="6659021"/>
                    <a:pt x="3467370" y="6561348"/>
                    <a:pt x="3868256" y="6547190"/>
                  </a:cubicBezTo>
                  <a:cubicBezTo>
                    <a:pt x="3899913" y="6546076"/>
                    <a:pt x="3930457" y="6545599"/>
                    <a:pt x="3959728" y="6545599"/>
                  </a:cubicBezTo>
                  <a:cubicBezTo>
                    <a:pt x="4248302" y="6545599"/>
                    <a:pt x="4427427" y="6596504"/>
                    <a:pt x="4574100" y="6638182"/>
                  </a:cubicBezTo>
                  <a:cubicBezTo>
                    <a:pt x="4743045" y="6686223"/>
                    <a:pt x="4865220" y="6720902"/>
                    <a:pt x="5055481" y="6644068"/>
                  </a:cubicBezTo>
                  <a:cubicBezTo>
                    <a:pt x="5322738" y="6536213"/>
                    <a:pt x="5411506" y="6337844"/>
                    <a:pt x="5534476" y="6063278"/>
                  </a:cubicBezTo>
                  <a:cubicBezTo>
                    <a:pt x="5644560" y="5817345"/>
                    <a:pt x="5781529" y="5511440"/>
                    <a:pt x="6098419" y="5157652"/>
                  </a:cubicBezTo>
                  <a:cubicBezTo>
                    <a:pt x="6316838" y="4913947"/>
                    <a:pt x="6493578" y="4788117"/>
                    <a:pt x="6635637" y="4687103"/>
                  </a:cubicBezTo>
                  <a:cubicBezTo>
                    <a:pt x="6810309" y="4562864"/>
                    <a:pt x="6915780" y="4487779"/>
                    <a:pt x="6952051" y="4291637"/>
                  </a:cubicBezTo>
                  <a:cubicBezTo>
                    <a:pt x="6995321" y="4056840"/>
                    <a:pt x="6894304" y="3884241"/>
                    <a:pt x="6777220" y="3684281"/>
                  </a:cubicBezTo>
                  <a:cubicBezTo>
                    <a:pt x="6653136" y="3472391"/>
                    <a:pt x="6512508" y="3232185"/>
                    <a:pt x="6504873" y="2856127"/>
                  </a:cubicBezTo>
                  <a:cubicBezTo>
                    <a:pt x="6500577" y="2645509"/>
                    <a:pt x="6541461" y="2515225"/>
                    <a:pt x="6574391" y="2410711"/>
                  </a:cubicBezTo>
                  <a:cubicBezTo>
                    <a:pt x="6611616" y="2292358"/>
                    <a:pt x="6641046" y="2198661"/>
                    <a:pt x="6592368" y="2045788"/>
                  </a:cubicBezTo>
                  <a:cubicBezTo>
                    <a:pt x="6515690" y="1804946"/>
                    <a:pt x="6345632" y="1716817"/>
                    <a:pt x="6110350" y="1594964"/>
                  </a:cubicBezTo>
                  <a:cubicBezTo>
                    <a:pt x="5927884" y="1500472"/>
                    <a:pt x="5700875" y="1382915"/>
                    <a:pt x="5458116" y="1154639"/>
                  </a:cubicBezTo>
                  <a:cubicBezTo>
                    <a:pt x="5182269" y="895185"/>
                    <a:pt x="5062799" y="660228"/>
                    <a:pt x="4966714" y="471244"/>
                  </a:cubicBezTo>
                  <a:cubicBezTo>
                    <a:pt x="4862674" y="266512"/>
                    <a:pt x="4787588" y="118730"/>
                    <a:pt x="4572191" y="54622"/>
                  </a:cubicBezTo>
                  <a:cubicBezTo>
                    <a:pt x="4358068" y="-9168"/>
                    <a:pt x="4203281" y="70848"/>
                    <a:pt x="4023997" y="163590"/>
                  </a:cubicBezTo>
                  <a:cubicBezTo>
                    <a:pt x="3846143" y="255377"/>
                    <a:pt x="3645224" y="359095"/>
                    <a:pt x="3334697" y="359095"/>
                  </a:cubicBezTo>
                  <a:cubicBezTo>
                    <a:pt x="3328015" y="359095"/>
                    <a:pt x="3321175" y="359095"/>
                    <a:pt x="3314334" y="358936"/>
                  </a:cubicBezTo>
                  <a:cubicBezTo>
                    <a:pt x="2987422" y="354164"/>
                    <a:pt x="2773616" y="234538"/>
                    <a:pt x="2601808" y="138296"/>
                  </a:cubicBezTo>
                  <a:cubicBezTo>
                    <a:pt x="2471839" y="65121"/>
                    <a:pt x="2361754" y="3558"/>
                    <a:pt x="2236398" y="3558"/>
                  </a:cubicBezTo>
                  <a:close/>
                </a:path>
              </a:pathLst>
            </a:custGeom>
            <a:gradFill>
              <a:gsLst>
                <a:gs pos="100000">
                  <a:schemeClr val="accent2"/>
                </a:gs>
                <a:gs pos="0">
                  <a:schemeClr val="accent1"/>
                </a:gs>
              </a:gsLst>
              <a:lin ang="0" scaled="1"/>
            </a:gradFill>
            <a:ln w="1589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5" name="Freeform 14">
              <a:extLst>
                <a:ext uri="{FF2B5EF4-FFF2-40B4-BE49-F238E27FC236}">
                  <a16:creationId xmlns:a16="http://schemas.microsoft.com/office/drawing/2014/main" id="{211BF880-585E-6AA5-7995-CD54C67E9DC8}"/>
                </a:ext>
              </a:extLst>
            </p:cNvPr>
            <p:cNvSpPr/>
            <p:nvPr/>
          </p:nvSpPr>
          <p:spPr>
            <a:xfrm>
              <a:off x="-3425807" y="54051"/>
              <a:ext cx="6848780" cy="6736467"/>
            </a:xfrm>
            <a:custGeom>
              <a:avLst/>
              <a:gdLst>
                <a:gd name="connsiteX0" fmla="*/ 2530497 w 6848780"/>
                <a:gd name="connsiteY0" fmla="*/ 6736468 h 6736467"/>
                <a:gd name="connsiteX1" fmla="*/ 2304442 w 6848780"/>
                <a:gd name="connsiteY1" fmla="*/ 6692722 h 6736467"/>
                <a:gd name="connsiteX2" fmla="*/ 1866013 w 6848780"/>
                <a:gd name="connsiteY2" fmla="*/ 6247624 h 6736467"/>
                <a:gd name="connsiteX3" fmla="*/ 1536555 w 6848780"/>
                <a:gd name="connsiteY3" fmla="*/ 5776597 h 6736467"/>
                <a:gd name="connsiteX4" fmla="*/ 711877 w 6848780"/>
                <a:gd name="connsiteY4" fmla="*/ 5339772 h 6736467"/>
                <a:gd name="connsiteX5" fmla="*/ 287288 w 6848780"/>
                <a:gd name="connsiteY5" fmla="*/ 5078249 h 6736467"/>
                <a:gd name="connsiteX6" fmla="*/ 298106 w 6848780"/>
                <a:gd name="connsiteY6" fmla="*/ 4303544 h 6736467"/>
                <a:gd name="connsiteX7" fmla="*/ 388146 w 6848780"/>
                <a:gd name="connsiteY7" fmla="*/ 3481753 h 6736467"/>
                <a:gd name="connsiteX8" fmla="*/ 145706 w 6848780"/>
                <a:gd name="connsiteY8" fmla="*/ 2657257 h 6736467"/>
                <a:gd name="connsiteX9" fmla="*/ 34349 w 6848780"/>
                <a:gd name="connsiteY9" fmla="*/ 2063104 h 6736467"/>
                <a:gd name="connsiteX10" fmla="*/ 514139 w 6848780"/>
                <a:gd name="connsiteY10" fmla="*/ 1720771 h 6736467"/>
                <a:gd name="connsiteX11" fmla="*/ 1230642 w 6848780"/>
                <a:gd name="connsiteY11" fmla="*/ 1319101 h 6736467"/>
                <a:gd name="connsiteX12" fmla="*/ 1692296 w 6848780"/>
                <a:gd name="connsiteY12" fmla="*/ 535011 h 6736467"/>
                <a:gd name="connsiteX13" fmla="*/ 2070274 w 6848780"/>
                <a:gd name="connsiteY13" fmla="*/ 23260 h 6736467"/>
                <a:gd name="connsiteX14" fmla="*/ 2569949 w 6848780"/>
                <a:gd name="connsiteY14" fmla="*/ 129205 h 6736467"/>
                <a:gd name="connsiteX15" fmla="*/ 3263385 w 6848780"/>
                <a:gd name="connsiteY15" fmla="*/ 337596 h 6736467"/>
                <a:gd name="connsiteX16" fmla="*/ 3283270 w 6848780"/>
                <a:gd name="connsiteY16" fmla="*/ 337755 h 6736467"/>
                <a:gd name="connsiteX17" fmla="*/ 3956344 w 6848780"/>
                <a:gd name="connsiteY17" fmla="*/ 154021 h 6736467"/>
                <a:gd name="connsiteX18" fmla="*/ 4505971 w 6848780"/>
                <a:gd name="connsiteY18" fmla="*/ 52689 h 6736467"/>
                <a:gd name="connsiteX19" fmla="*/ 4907651 w 6848780"/>
                <a:gd name="connsiteY19" fmla="*/ 470585 h 6736467"/>
                <a:gd name="connsiteX20" fmla="*/ 5388714 w 6848780"/>
                <a:gd name="connsiteY20" fmla="*/ 1132027 h 6736467"/>
                <a:gd name="connsiteX21" fmla="*/ 6016608 w 6848780"/>
                <a:gd name="connsiteY21" fmla="*/ 1564080 h 6736467"/>
                <a:gd name="connsiteX22" fmla="*/ 6496875 w 6848780"/>
                <a:gd name="connsiteY22" fmla="*/ 2023494 h 6736467"/>
                <a:gd name="connsiteX23" fmla="*/ 6481126 w 6848780"/>
                <a:gd name="connsiteY23" fmla="*/ 2390166 h 6736467"/>
                <a:gd name="connsiteX24" fmla="*/ 6415744 w 6848780"/>
                <a:gd name="connsiteY24" fmla="*/ 2824447 h 6736467"/>
                <a:gd name="connsiteX25" fmla="*/ 6672661 w 6848780"/>
                <a:gd name="connsiteY25" fmla="*/ 3631762 h 6736467"/>
                <a:gd name="connsiteX26" fmla="*/ 6837787 w 6848780"/>
                <a:gd name="connsiteY26" fmla="*/ 4237528 h 6736467"/>
                <a:gd name="connsiteX27" fmla="*/ 6520101 w 6848780"/>
                <a:gd name="connsiteY27" fmla="*/ 4637129 h 6736467"/>
                <a:gd name="connsiteX28" fmla="*/ 6001496 w 6848780"/>
                <a:gd name="connsiteY28" fmla="*/ 5094952 h 6736467"/>
                <a:gd name="connsiteX29" fmla="*/ 5449642 w 6848780"/>
                <a:gd name="connsiteY29" fmla="*/ 5967967 h 6736467"/>
                <a:gd name="connsiteX30" fmla="*/ 4963489 w 6848780"/>
                <a:gd name="connsiteY30" fmla="*/ 6545735 h 6736467"/>
                <a:gd name="connsiteX31" fmla="*/ 4480836 w 6848780"/>
                <a:gd name="connsiteY31" fmla="*/ 6542553 h 6736467"/>
                <a:gd name="connsiteX32" fmla="*/ 3794876 w 6848780"/>
                <a:gd name="connsiteY32" fmla="*/ 6457447 h 6736467"/>
                <a:gd name="connsiteX33" fmla="*/ 2944904 w 6848780"/>
                <a:gd name="connsiteY33" fmla="*/ 6636249 h 6736467"/>
                <a:gd name="connsiteX34" fmla="*/ 2530497 w 6848780"/>
                <a:gd name="connsiteY34" fmla="*/ 6736468 h 6736467"/>
                <a:gd name="connsiteX35" fmla="*/ 2206130 w 6848780"/>
                <a:gd name="connsiteY35" fmla="*/ 6716 h 6736467"/>
                <a:gd name="connsiteX36" fmla="*/ 2072501 w 6848780"/>
                <a:gd name="connsiteY36" fmla="*/ 29623 h 6736467"/>
                <a:gd name="connsiteX37" fmla="*/ 1698500 w 6848780"/>
                <a:gd name="connsiteY37" fmla="*/ 537238 h 6736467"/>
                <a:gd name="connsiteX38" fmla="*/ 1235255 w 6848780"/>
                <a:gd name="connsiteY38" fmla="*/ 1323874 h 6736467"/>
                <a:gd name="connsiteX39" fmla="*/ 516366 w 6848780"/>
                <a:gd name="connsiteY39" fmla="*/ 1727134 h 6736467"/>
                <a:gd name="connsiteX40" fmla="*/ 40394 w 6848780"/>
                <a:gd name="connsiteY40" fmla="*/ 2065808 h 6736467"/>
                <a:gd name="connsiteX41" fmla="*/ 151592 w 6848780"/>
                <a:gd name="connsiteY41" fmla="*/ 2654393 h 6736467"/>
                <a:gd name="connsiteX42" fmla="*/ 394668 w 6848780"/>
                <a:gd name="connsiteY42" fmla="*/ 3481753 h 6736467"/>
                <a:gd name="connsiteX43" fmla="*/ 304469 w 6848780"/>
                <a:gd name="connsiteY43" fmla="*/ 4304976 h 6736467"/>
                <a:gd name="connsiteX44" fmla="*/ 293493 w 6848780"/>
                <a:gd name="connsiteY44" fmla="*/ 5076022 h 6736467"/>
                <a:gd name="connsiteX45" fmla="*/ 712831 w 6848780"/>
                <a:gd name="connsiteY45" fmla="*/ 5333409 h 6736467"/>
                <a:gd name="connsiteX46" fmla="*/ 1541487 w 6848780"/>
                <a:gd name="connsiteY46" fmla="*/ 5772461 h 6736467"/>
                <a:gd name="connsiteX47" fmla="*/ 1871740 w 6848780"/>
                <a:gd name="connsiteY47" fmla="*/ 6244443 h 6736467"/>
                <a:gd name="connsiteX48" fmla="*/ 2306828 w 6848780"/>
                <a:gd name="connsiteY48" fmla="*/ 6686677 h 6736467"/>
                <a:gd name="connsiteX49" fmla="*/ 2942677 w 6848780"/>
                <a:gd name="connsiteY49" fmla="*/ 6630364 h 6736467"/>
                <a:gd name="connsiteX50" fmla="*/ 3794717 w 6848780"/>
                <a:gd name="connsiteY50" fmla="*/ 6451243 h 6736467"/>
                <a:gd name="connsiteX51" fmla="*/ 4482586 w 6848780"/>
                <a:gd name="connsiteY51" fmla="*/ 6536508 h 6736467"/>
                <a:gd name="connsiteX52" fmla="*/ 4961103 w 6848780"/>
                <a:gd name="connsiteY52" fmla="*/ 6539849 h 6736467"/>
                <a:gd name="connsiteX53" fmla="*/ 5443597 w 6848780"/>
                <a:gd name="connsiteY53" fmla="*/ 5965422 h 6736467"/>
                <a:gd name="connsiteX54" fmla="*/ 5996723 w 6848780"/>
                <a:gd name="connsiteY54" fmla="*/ 5090817 h 6736467"/>
                <a:gd name="connsiteX55" fmla="*/ 6516283 w 6848780"/>
                <a:gd name="connsiteY55" fmla="*/ 4632038 h 6736467"/>
                <a:gd name="connsiteX56" fmla="*/ 6831265 w 6848780"/>
                <a:gd name="connsiteY56" fmla="*/ 4236573 h 6736467"/>
                <a:gd name="connsiteX57" fmla="*/ 6666775 w 6848780"/>
                <a:gd name="connsiteY57" fmla="*/ 3635262 h 6736467"/>
                <a:gd name="connsiteX58" fmla="*/ 6409062 w 6848780"/>
                <a:gd name="connsiteY58" fmla="*/ 2824765 h 6736467"/>
                <a:gd name="connsiteX59" fmla="*/ 6474763 w 6848780"/>
                <a:gd name="connsiteY59" fmla="*/ 2388417 h 6736467"/>
                <a:gd name="connsiteX60" fmla="*/ 6490512 w 6848780"/>
                <a:gd name="connsiteY60" fmla="*/ 2025721 h 6736467"/>
                <a:gd name="connsiteX61" fmla="*/ 6013427 w 6848780"/>
                <a:gd name="connsiteY61" fmla="*/ 1570125 h 6736467"/>
                <a:gd name="connsiteX62" fmla="*/ 5384259 w 6848780"/>
                <a:gd name="connsiteY62" fmla="*/ 1136958 h 6736467"/>
                <a:gd name="connsiteX63" fmla="*/ 4901925 w 6848780"/>
                <a:gd name="connsiteY63" fmla="*/ 473766 h 6736467"/>
                <a:gd name="connsiteX64" fmla="*/ 4504221 w 6848780"/>
                <a:gd name="connsiteY64" fmla="*/ 59052 h 6736467"/>
                <a:gd name="connsiteX65" fmla="*/ 3959366 w 6848780"/>
                <a:gd name="connsiteY65" fmla="*/ 160066 h 6736467"/>
                <a:gd name="connsiteX66" fmla="*/ 3283429 w 6848780"/>
                <a:gd name="connsiteY66" fmla="*/ 344436 h 6736467"/>
                <a:gd name="connsiteX67" fmla="*/ 3263385 w 6848780"/>
                <a:gd name="connsiteY67" fmla="*/ 344277 h 6736467"/>
                <a:gd name="connsiteX68" fmla="*/ 2566926 w 6848780"/>
                <a:gd name="connsiteY68" fmla="*/ 135091 h 6736467"/>
                <a:gd name="connsiteX69" fmla="*/ 2206130 w 6848780"/>
                <a:gd name="connsiteY69" fmla="*/ 6716 h 6736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6848780" h="6736467">
                  <a:moveTo>
                    <a:pt x="2530497" y="6736468"/>
                  </a:moveTo>
                  <a:cubicBezTo>
                    <a:pt x="2459069" y="6736468"/>
                    <a:pt x="2385573" y="6723742"/>
                    <a:pt x="2304442" y="6692722"/>
                  </a:cubicBezTo>
                  <a:cubicBezTo>
                    <a:pt x="2081887" y="6607934"/>
                    <a:pt x="1991369" y="6456811"/>
                    <a:pt x="1866013" y="6247624"/>
                  </a:cubicBezTo>
                  <a:cubicBezTo>
                    <a:pt x="1783768" y="6110182"/>
                    <a:pt x="1690387" y="5954445"/>
                    <a:pt x="1536555" y="5776597"/>
                  </a:cubicBezTo>
                  <a:cubicBezTo>
                    <a:pt x="1220301" y="5410720"/>
                    <a:pt x="938409" y="5371269"/>
                    <a:pt x="711877" y="5339772"/>
                  </a:cubicBezTo>
                  <a:cubicBezTo>
                    <a:pt x="521934" y="5313206"/>
                    <a:pt x="371920" y="5292208"/>
                    <a:pt x="287288" y="5078249"/>
                  </a:cubicBezTo>
                  <a:cubicBezTo>
                    <a:pt x="193430" y="4841066"/>
                    <a:pt x="239564" y="4603882"/>
                    <a:pt x="298106" y="4303544"/>
                  </a:cubicBezTo>
                  <a:cubicBezTo>
                    <a:pt x="343603" y="4069224"/>
                    <a:pt x="395305" y="3803724"/>
                    <a:pt x="388146" y="3481753"/>
                  </a:cubicBezTo>
                  <a:cubicBezTo>
                    <a:pt x="380033" y="3114444"/>
                    <a:pt x="250063" y="2860875"/>
                    <a:pt x="145706" y="2657257"/>
                  </a:cubicBezTo>
                  <a:cubicBezTo>
                    <a:pt x="35940" y="2442980"/>
                    <a:pt x="-50760" y="2273722"/>
                    <a:pt x="34349" y="2063104"/>
                  </a:cubicBezTo>
                  <a:cubicBezTo>
                    <a:pt x="118185" y="1855827"/>
                    <a:pt x="292856" y="1796173"/>
                    <a:pt x="514139" y="1720771"/>
                  </a:cubicBezTo>
                  <a:cubicBezTo>
                    <a:pt x="720786" y="1650299"/>
                    <a:pt x="977861" y="1562648"/>
                    <a:pt x="1230642" y="1319101"/>
                  </a:cubicBezTo>
                  <a:cubicBezTo>
                    <a:pt x="1505057" y="1054715"/>
                    <a:pt x="1608778" y="766627"/>
                    <a:pt x="1692296" y="535011"/>
                  </a:cubicBezTo>
                  <a:cubicBezTo>
                    <a:pt x="1780268" y="290668"/>
                    <a:pt x="1849787" y="97708"/>
                    <a:pt x="2070274" y="23260"/>
                  </a:cubicBezTo>
                  <a:cubicBezTo>
                    <a:pt x="2257036" y="-39575"/>
                    <a:pt x="2395118" y="34714"/>
                    <a:pt x="2569949" y="129205"/>
                  </a:cubicBezTo>
                  <a:cubicBezTo>
                    <a:pt x="2747007" y="224811"/>
                    <a:pt x="2947608" y="332983"/>
                    <a:pt x="3263385" y="337596"/>
                  </a:cubicBezTo>
                  <a:cubicBezTo>
                    <a:pt x="3270067" y="337755"/>
                    <a:pt x="3276748" y="337755"/>
                    <a:pt x="3283270" y="337755"/>
                  </a:cubicBezTo>
                  <a:cubicBezTo>
                    <a:pt x="3583934" y="337755"/>
                    <a:pt x="3781513" y="240241"/>
                    <a:pt x="3956344" y="154021"/>
                  </a:cubicBezTo>
                  <a:cubicBezTo>
                    <a:pt x="4136583" y="65097"/>
                    <a:pt x="4292324" y="-11419"/>
                    <a:pt x="4505971" y="52689"/>
                  </a:cubicBezTo>
                  <a:cubicBezTo>
                    <a:pt x="4722799" y="118070"/>
                    <a:pt x="4800271" y="265852"/>
                    <a:pt x="4907651" y="470585"/>
                  </a:cubicBezTo>
                  <a:cubicBezTo>
                    <a:pt x="5003737" y="653682"/>
                    <a:pt x="5123207" y="881480"/>
                    <a:pt x="5388714" y="1132027"/>
                  </a:cubicBezTo>
                  <a:cubicBezTo>
                    <a:pt x="5621927" y="1352189"/>
                    <a:pt x="5840664" y="1469747"/>
                    <a:pt x="6016608" y="1564080"/>
                  </a:cubicBezTo>
                  <a:cubicBezTo>
                    <a:pt x="6250776" y="1689910"/>
                    <a:pt x="6420039" y="1780742"/>
                    <a:pt x="6496875" y="2023494"/>
                  </a:cubicBezTo>
                  <a:cubicBezTo>
                    <a:pt x="6545236" y="2176367"/>
                    <a:pt x="6516920" y="2270700"/>
                    <a:pt x="6481126" y="2390166"/>
                  </a:cubicBezTo>
                  <a:cubicBezTo>
                    <a:pt x="6448515" y="2498339"/>
                    <a:pt x="6411767" y="2620987"/>
                    <a:pt x="6415744" y="2824447"/>
                  </a:cubicBezTo>
                  <a:cubicBezTo>
                    <a:pt x="6423062" y="3188256"/>
                    <a:pt x="6555736" y="3423849"/>
                    <a:pt x="6672661" y="3631762"/>
                  </a:cubicBezTo>
                  <a:cubicBezTo>
                    <a:pt x="6785131" y="3831404"/>
                    <a:pt x="6882171" y="4004003"/>
                    <a:pt x="6837787" y="4237528"/>
                  </a:cubicBezTo>
                  <a:cubicBezTo>
                    <a:pt x="6800084" y="4434306"/>
                    <a:pt x="6688727" y="4514958"/>
                    <a:pt x="6520101" y="4637129"/>
                  </a:cubicBezTo>
                  <a:cubicBezTo>
                    <a:pt x="6382655" y="4736711"/>
                    <a:pt x="6211483" y="4860632"/>
                    <a:pt x="6001496" y="5094952"/>
                  </a:cubicBezTo>
                  <a:cubicBezTo>
                    <a:pt x="5696696" y="5435059"/>
                    <a:pt x="5559727" y="5730465"/>
                    <a:pt x="5449642" y="5967967"/>
                  </a:cubicBezTo>
                  <a:cubicBezTo>
                    <a:pt x="5323013" y="6240943"/>
                    <a:pt x="5231700" y="6438039"/>
                    <a:pt x="4963489" y="6545735"/>
                  </a:cubicBezTo>
                  <a:cubicBezTo>
                    <a:pt x="4773546" y="6622091"/>
                    <a:pt x="4650735" y="6588844"/>
                    <a:pt x="4480836" y="6542553"/>
                  </a:cubicBezTo>
                  <a:cubicBezTo>
                    <a:pt x="4322550" y="6499443"/>
                    <a:pt x="4126084" y="6445834"/>
                    <a:pt x="3794876" y="6457447"/>
                  </a:cubicBezTo>
                  <a:cubicBezTo>
                    <a:pt x="3408467" y="6470809"/>
                    <a:pt x="3151392" y="6562597"/>
                    <a:pt x="2944904" y="6636249"/>
                  </a:cubicBezTo>
                  <a:cubicBezTo>
                    <a:pt x="2790754" y="6691449"/>
                    <a:pt x="2664284" y="6736468"/>
                    <a:pt x="2530497" y="6736468"/>
                  </a:cubicBezTo>
                  <a:close/>
                  <a:moveTo>
                    <a:pt x="2206130" y="6716"/>
                  </a:moveTo>
                  <a:cubicBezTo>
                    <a:pt x="2163655" y="6716"/>
                    <a:pt x="2119589" y="13715"/>
                    <a:pt x="2072501" y="29623"/>
                  </a:cubicBezTo>
                  <a:cubicBezTo>
                    <a:pt x="1854878" y="103117"/>
                    <a:pt x="1785836" y="294645"/>
                    <a:pt x="1698500" y="537238"/>
                  </a:cubicBezTo>
                  <a:cubicBezTo>
                    <a:pt x="1614824" y="769490"/>
                    <a:pt x="1510784" y="1058374"/>
                    <a:pt x="1235255" y="1323874"/>
                  </a:cubicBezTo>
                  <a:cubicBezTo>
                    <a:pt x="981361" y="1568534"/>
                    <a:pt x="723490" y="1656344"/>
                    <a:pt x="516366" y="1727134"/>
                  </a:cubicBezTo>
                  <a:cubicBezTo>
                    <a:pt x="296674" y="1802059"/>
                    <a:pt x="123116" y="1861236"/>
                    <a:pt x="40394" y="2065808"/>
                  </a:cubicBezTo>
                  <a:cubicBezTo>
                    <a:pt x="-43601" y="2273563"/>
                    <a:pt x="42621" y="2441707"/>
                    <a:pt x="151592" y="2654393"/>
                  </a:cubicBezTo>
                  <a:cubicBezTo>
                    <a:pt x="256268" y="2858648"/>
                    <a:pt x="386555" y="3112853"/>
                    <a:pt x="394668" y="3481753"/>
                  </a:cubicBezTo>
                  <a:cubicBezTo>
                    <a:pt x="401827" y="3804520"/>
                    <a:pt x="350126" y="4070337"/>
                    <a:pt x="304469" y="4304976"/>
                  </a:cubicBezTo>
                  <a:cubicBezTo>
                    <a:pt x="246245" y="4604200"/>
                    <a:pt x="200271" y="4840588"/>
                    <a:pt x="293493" y="5076022"/>
                  </a:cubicBezTo>
                  <a:cubicBezTo>
                    <a:pt x="376533" y="5286481"/>
                    <a:pt x="524956" y="5307161"/>
                    <a:pt x="712831" y="5333409"/>
                  </a:cubicBezTo>
                  <a:cubicBezTo>
                    <a:pt x="940477" y="5365224"/>
                    <a:pt x="1223801" y="5404675"/>
                    <a:pt x="1541487" y="5772461"/>
                  </a:cubicBezTo>
                  <a:cubicBezTo>
                    <a:pt x="1695796" y="5950787"/>
                    <a:pt x="1789177" y="6106841"/>
                    <a:pt x="1871740" y="6244443"/>
                  </a:cubicBezTo>
                  <a:cubicBezTo>
                    <a:pt x="1996301" y="6452515"/>
                    <a:pt x="2086341" y="6602843"/>
                    <a:pt x="2306828" y="6686677"/>
                  </a:cubicBezTo>
                  <a:cubicBezTo>
                    <a:pt x="2537655" y="6774646"/>
                    <a:pt x="2707713" y="6714038"/>
                    <a:pt x="2942677" y="6630364"/>
                  </a:cubicBezTo>
                  <a:cubicBezTo>
                    <a:pt x="3149801" y="6556552"/>
                    <a:pt x="3407354" y="6464605"/>
                    <a:pt x="3794717" y="6451243"/>
                  </a:cubicBezTo>
                  <a:cubicBezTo>
                    <a:pt x="4126084" y="6439312"/>
                    <a:pt x="4323823" y="6493398"/>
                    <a:pt x="4482586" y="6536508"/>
                  </a:cubicBezTo>
                  <a:cubicBezTo>
                    <a:pt x="4651212" y="6582322"/>
                    <a:pt x="4773068" y="6615410"/>
                    <a:pt x="4961103" y="6539849"/>
                  </a:cubicBezTo>
                  <a:cubicBezTo>
                    <a:pt x="5226769" y="6433108"/>
                    <a:pt x="5317763" y="6236966"/>
                    <a:pt x="5443597" y="5965422"/>
                  </a:cubicBezTo>
                  <a:cubicBezTo>
                    <a:pt x="5553999" y="5727602"/>
                    <a:pt x="5691128" y="5431559"/>
                    <a:pt x="5996723" y="5090817"/>
                  </a:cubicBezTo>
                  <a:cubicBezTo>
                    <a:pt x="6207029" y="4856019"/>
                    <a:pt x="6378519" y="4731780"/>
                    <a:pt x="6516283" y="4632038"/>
                  </a:cubicBezTo>
                  <a:cubicBezTo>
                    <a:pt x="6689523" y="4506527"/>
                    <a:pt x="6794040" y="4430806"/>
                    <a:pt x="6831265" y="4236573"/>
                  </a:cubicBezTo>
                  <a:cubicBezTo>
                    <a:pt x="6875171" y="4005434"/>
                    <a:pt x="6778768" y="3833949"/>
                    <a:pt x="6666775" y="3635262"/>
                  </a:cubicBezTo>
                  <a:cubicBezTo>
                    <a:pt x="6549372" y="3426712"/>
                    <a:pt x="6416221" y="3190483"/>
                    <a:pt x="6409062" y="2824765"/>
                  </a:cubicBezTo>
                  <a:cubicBezTo>
                    <a:pt x="6404926" y="2620192"/>
                    <a:pt x="6443583" y="2491658"/>
                    <a:pt x="6474763" y="2388417"/>
                  </a:cubicBezTo>
                  <a:cubicBezTo>
                    <a:pt x="6510238" y="2270063"/>
                    <a:pt x="6538396" y="2176685"/>
                    <a:pt x="6490512" y="2025721"/>
                  </a:cubicBezTo>
                  <a:cubicBezTo>
                    <a:pt x="6414630" y="1785515"/>
                    <a:pt x="6246322" y="1695159"/>
                    <a:pt x="6013427" y="1570125"/>
                  </a:cubicBezTo>
                  <a:cubicBezTo>
                    <a:pt x="5837324" y="1475474"/>
                    <a:pt x="5618109" y="1357757"/>
                    <a:pt x="5384259" y="1136958"/>
                  </a:cubicBezTo>
                  <a:cubicBezTo>
                    <a:pt x="5117798" y="885775"/>
                    <a:pt x="4998169" y="657341"/>
                    <a:pt x="4901925" y="473766"/>
                  </a:cubicBezTo>
                  <a:cubicBezTo>
                    <a:pt x="4795340" y="270466"/>
                    <a:pt x="4718344" y="123638"/>
                    <a:pt x="4504221" y="59052"/>
                  </a:cubicBezTo>
                  <a:cubicBezTo>
                    <a:pt x="4292961" y="-4419"/>
                    <a:pt x="4138333" y="71779"/>
                    <a:pt x="3959366" y="160066"/>
                  </a:cubicBezTo>
                  <a:cubicBezTo>
                    <a:pt x="3783900" y="246604"/>
                    <a:pt x="3585684" y="344436"/>
                    <a:pt x="3283429" y="344436"/>
                  </a:cubicBezTo>
                  <a:cubicBezTo>
                    <a:pt x="3276907" y="344436"/>
                    <a:pt x="3270067" y="344436"/>
                    <a:pt x="3263385" y="344277"/>
                  </a:cubicBezTo>
                  <a:cubicBezTo>
                    <a:pt x="2945858" y="339823"/>
                    <a:pt x="2735712" y="226242"/>
                    <a:pt x="2566926" y="135091"/>
                  </a:cubicBezTo>
                  <a:cubicBezTo>
                    <a:pt x="2437911" y="65415"/>
                    <a:pt x="2329099" y="6716"/>
                    <a:pt x="2206130" y="6716"/>
                  </a:cubicBezTo>
                  <a:close/>
                </a:path>
              </a:pathLst>
            </a:custGeom>
            <a:gradFill>
              <a:gsLst>
                <a:gs pos="100000">
                  <a:schemeClr val="accent2"/>
                </a:gs>
                <a:gs pos="0">
                  <a:schemeClr val="accent1"/>
                </a:gs>
              </a:gsLst>
              <a:lin ang="0" scaled="1"/>
            </a:gradFill>
            <a:ln w="1589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6" name="Freeform 15">
              <a:extLst>
                <a:ext uri="{FF2B5EF4-FFF2-40B4-BE49-F238E27FC236}">
                  <a16:creationId xmlns:a16="http://schemas.microsoft.com/office/drawing/2014/main" id="{F290E962-29BA-1C84-BFCA-2D82FC7A9446}"/>
                </a:ext>
              </a:extLst>
            </p:cNvPr>
            <p:cNvSpPr/>
            <p:nvPr/>
          </p:nvSpPr>
          <p:spPr>
            <a:xfrm>
              <a:off x="-3368018" y="108503"/>
              <a:ext cx="6732052" cy="6626815"/>
            </a:xfrm>
            <a:custGeom>
              <a:avLst/>
              <a:gdLst>
                <a:gd name="connsiteX0" fmla="*/ 2486865 w 6732052"/>
                <a:gd name="connsiteY0" fmla="*/ 6626816 h 6626815"/>
                <a:gd name="connsiteX1" fmla="*/ 2257470 w 6732052"/>
                <a:gd name="connsiteY1" fmla="*/ 6582433 h 6626815"/>
                <a:gd name="connsiteX2" fmla="*/ 1818246 w 6732052"/>
                <a:gd name="connsiteY2" fmla="*/ 6141790 h 6626815"/>
                <a:gd name="connsiteX3" fmla="*/ 1496901 w 6732052"/>
                <a:gd name="connsiteY3" fmla="*/ 5688580 h 6626815"/>
                <a:gd name="connsiteX4" fmla="*/ 698630 w 6732052"/>
                <a:gd name="connsiteY4" fmla="*/ 5256686 h 6626815"/>
                <a:gd name="connsiteX5" fmla="*/ 278496 w 6732052"/>
                <a:gd name="connsiteY5" fmla="*/ 4990391 h 6626815"/>
                <a:gd name="connsiteX6" fmla="*/ 283587 w 6732052"/>
                <a:gd name="connsiteY6" fmla="*/ 4219027 h 6626815"/>
                <a:gd name="connsiteX7" fmla="*/ 366786 w 6732052"/>
                <a:gd name="connsiteY7" fmla="*/ 3422687 h 6626815"/>
                <a:gd name="connsiteX8" fmla="*/ 138664 w 6732052"/>
                <a:gd name="connsiteY8" fmla="*/ 2619985 h 6626815"/>
                <a:gd name="connsiteX9" fmla="*/ 34942 w 6732052"/>
                <a:gd name="connsiteY9" fmla="*/ 2027582 h 6626815"/>
                <a:gd name="connsiteX10" fmla="*/ 509164 w 6732052"/>
                <a:gd name="connsiteY10" fmla="*/ 1681431 h 6626815"/>
                <a:gd name="connsiteX11" fmla="*/ 1201328 w 6732052"/>
                <a:gd name="connsiteY11" fmla="*/ 1285647 h 6626815"/>
                <a:gd name="connsiteX12" fmla="*/ 1655824 w 6732052"/>
                <a:gd name="connsiteY12" fmla="*/ 528918 h 6626815"/>
                <a:gd name="connsiteX13" fmla="*/ 2038574 w 6732052"/>
                <a:gd name="connsiteY13" fmla="*/ 23690 h 6626815"/>
                <a:gd name="connsiteX14" fmla="*/ 2536340 w 6732052"/>
                <a:gd name="connsiteY14" fmla="*/ 123113 h 6626815"/>
                <a:gd name="connsiteX15" fmla="*/ 3212277 w 6732052"/>
                <a:gd name="connsiteY15" fmla="*/ 319573 h 6626815"/>
                <a:gd name="connsiteX16" fmla="*/ 3231844 w 6732052"/>
                <a:gd name="connsiteY16" fmla="*/ 319732 h 6626815"/>
                <a:gd name="connsiteX17" fmla="*/ 3889964 w 6732052"/>
                <a:gd name="connsiteY17" fmla="*/ 147451 h 6626815"/>
                <a:gd name="connsiteX18" fmla="*/ 4438795 w 6732052"/>
                <a:gd name="connsiteY18" fmla="*/ 53914 h 6626815"/>
                <a:gd name="connsiteX19" fmla="*/ 4845726 w 6732052"/>
                <a:gd name="connsiteY19" fmla="*/ 471491 h 6626815"/>
                <a:gd name="connsiteX20" fmla="*/ 5316925 w 6732052"/>
                <a:gd name="connsiteY20" fmla="*/ 1111935 h 6626815"/>
                <a:gd name="connsiteX21" fmla="*/ 5920958 w 6732052"/>
                <a:gd name="connsiteY21" fmla="*/ 1535875 h 6626815"/>
                <a:gd name="connsiteX22" fmla="*/ 6398043 w 6732052"/>
                <a:gd name="connsiteY22" fmla="*/ 2002448 h 6626815"/>
                <a:gd name="connsiteX23" fmla="*/ 6384521 w 6732052"/>
                <a:gd name="connsiteY23" fmla="*/ 2368643 h 6626815"/>
                <a:gd name="connsiteX24" fmla="*/ 6323274 w 6732052"/>
                <a:gd name="connsiteY24" fmla="*/ 2792902 h 6626815"/>
                <a:gd name="connsiteX25" fmla="*/ 6565238 w 6732052"/>
                <a:gd name="connsiteY25" fmla="*/ 3580810 h 6626815"/>
                <a:gd name="connsiteX26" fmla="*/ 6720342 w 6732052"/>
                <a:gd name="connsiteY26" fmla="*/ 4182916 h 6626815"/>
                <a:gd name="connsiteX27" fmla="*/ 6402815 w 6732052"/>
                <a:gd name="connsiteY27" fmla="*/ 4584586 h 6626815"/>
                <a:gd name="connsiteX28" fmla="*/ 5902504 w 6732052"/>
                <a:gd name="connsiteY28" fmla="*/ 5029842 h 6626815"/>
                <a:gd name="connsiteX29" fmla="*/ 5362263 w 6732052"/>
                <a:gd name="connsiteY29" fmla="*/ 5871200 h 6626815"/>
                <a:gd name="connsiteX30" fmla="*/ 4870543 w 6732052"/>
                <a:gd name="connsiteY30" fmla="*/ 6444514 h 6626815"/>
                <a:gd name="connsiteX31" fmla="*/ 4388685 w 6732052"/>
                <a:gd name="connsiteY31" fmla="*/ 6444196 h 6626815"/>
                <a:gd name="connsiteX32" fmla="*/ 3721815 w 6732052"/>
                <a:gd name="connsiteY32" fmla="*/ 6364816 h 6626815"/>
                <a:gd name="connsiteX33" fmla="*/ 2896341 w 6732052"/>
                <a:gd name="connsiteY33" fmla="*/ 6532324 h 6626815"/>
                <a:gd name="connsiteX34" fmla="*/ 2486865 w 6732052"/>
                <a:gd name="connsiteY34" fmla="*/ 6626816 h 6626815"/>
                <a:gd name="connsiteX35" fmla="*/ 2176498 w 6732052"/>
                <a:gd name="connsiteY35" fmla="*/ 9850 h 6626815"/>
                <a:gd name="connsiteX36" fmla="*/ 2041914 w 6732052"/>
                <a:gd name="connsiteY36" fmla="*/ 32916 h 6626815"/>
                <a:gd name="connsiteX37" fmla="*/ 1665210 w 6732052"/>
                <a:gd name="connsiteY37" fmla="*/ 532418 h 6626815"/>
                <a:gd name="connsiteX38" fmla="*/ 1208327 w 6732052"/>
                <a:gd name="connsiteY38" fmla="*/ 1292806 h 6626815"/>
                <a:gd name="connsiteX39" fmla="*/ 512664 w 6732052"/>
                <a:gd name="connsiteY39" fmla="*/ 1690657 h 6626815"/>
                <a:gd name="connsiteX40" fmla="*/ 44328 w 6732052"/>
                <a:gd name="connsiteY40" fmla="*/ 2031241 h 6626815"/>
                <a:gd name="connsiteX41" fmla="*/ 147731 w 6732052"/>
                <a:gd name="connsiteY41" fmla="*/ 2615531 h 6626815"/>
                <a:gd name="connsiteX42" fmla="*/ 376809 w 6732052"/>
                <a:gd name="connsiteY42" fmla="*/ 3422369 h 6626815"/>
                <a:gd name="connsiteX43" fmla="*/ 293609 w 6732052"/>
                <a:gd name="connsiteY43" fmla="*/ 4220618 h 6626815"/>
                <a:gd name="connsiteX44" fmla="*/ 287882 w 6732052"/>
                <a:gd name="connsiteY44" fmla="*/ 4986573 h 6626815"/>
                <a:gd name="connsiteX45" fmla="*/ 700380 w 6732052"/>
                <a:gd name="connsiteY45" fmla="*/ 5246823 h 6626815"/>
                <a:gd name="connsiteX46" fmla="*/ 1504378 w 6732052"/>
                <a:gd name="connsiteY46" fmla="*/ 5681740 h 6626815"/>
                <a:gd name="connsiteX47" fmla="*/ 1826677 w 6732052"/>
                <a:gd name="connsiteY47" fmla="*/ 6136382 h 6626815"/>
                <a:gd name="connsiteX48" fmla="*/ 2261129 w 6732052"/>
                <a:gd name="connsiteY48" fmla="*/ 6573048 h 6626815"/>
                <a:gd name="connsiteX49" fmla="*/ 2893319 w 6732052"/>
                <a:gd name="connsiteY49" fmla="*/ 6522621 h 6626815"/>
                <a:gd name="connsiteX50" fmla="*/ 3721656 w 6732052"/>
                <a:gd name="connsiteY50" fmla="*/ 6354635 h 6626815"/>
                <a:gd name="connsiteX51" fmla="*/ 4391389 w 6732052"/>
                <a:gd name="connsiteY51" fmla="*/ 6434333 h 6626815"/>
                <a:gd name="connsiteX52" fmla="*/ 4867202 w 6732052"/>
                <a:gd name="connsiteY52" fmla="*/ 6435128 h 6626815"/>
                <a:gd name="connsiteX53" fmla="*/ 5353673 w 6732052"/>
                <a:gd name="connsiteY53" fmla="*/ 5866746 h 6626815"/>
                <a:gd name="connsiteX54" fmla="*/ 5895345 w 6732052"/>
                <a:gd name="connsiteY54" fmla="*/ 5023161 h 6626815"/>
                <a:gd name="connsiteX55" fmla="*/ 6397089 w 6732052"/>
                <a:gd name="connsiteY55" fmla="*/ 4576473 h 6626815"/>
                <a:gd name="connsiteX56" fmla="*/ 6710797 w 6732052"/>
                <a:gd name="connsiteY56" fmla="*/ 4180849 h 6626815"/>
                <a:gd name="connsiteX57" fmla="*/ 6556806 w 6732052"/>
                <a:gd name="connsiteY57" fmla="*/ 3585264 h 6626815"/>
                <a:gd name="connsiteX58" fmla="*/ 6313730 w 6732052"/>
                <a:gd name="connsiteY58" fmla="*/ 2792743 h 6626815"/>
                <a:gd name="connsiteX59" fmla="*/ 6375294 w 6732052"/>
                <a:gd name="connsiteY59" fmla="*/ 2365621 h 6626815"/>
                <a:gd name="connsiteX60" fmla="*/ 6388975 w 6732052"/>
                <a:gd name="connsiteY60" fmla="*/ 2004993 h 6626815"/>
                <a:gd name="connsiteX61" fmla="*/ 5916504 w 6732052"/>
                <a:gd name="connsiteY61" fmla="*/ 1544147 h 6626815"/>
                <a:gd name="connsiteX62" fmla="*/ 5310562 w 6732052"/>
                <a:gd name="connsiteY62" fmla="*/ 1118776 h 6626815"/>
                <a:gd name="connsiteX63" fmla="*/ 4837454 w 6732052"/>
                <a:gd name="connsiteY63" fmla="*/ 475945 h 6626815"/>
                <a:gd name="connsiteX64" fmla="*/ 4436250 w 6732052"/>
                <a:gd name="connsiteY64" fmla="*/ 63141 h 6626815"/>
                <a:gd name="connsiteX65" fmla="*/ 3894418 w 6732052"/>
                <a:gd name="connsiteY65" fmla="*/ 156201 h 6626815"/>
                <a:gd name="connsiteX66" fmla="*/ 3232162 w 6732052"/>
                <a:gd name="connsiteY66" fmla="*/ 329436 h 6626815"/>
                <a:gd name="connsiteX67" fmla="*/ 3212436 w 6732052"/>
                <a:gd name="connsiteY67" fmla="*/ 329276 h 6626815"/>
                <a:gd name="connsiteX68" fmla="*/ 3212436 w 6732052"/>
                <a:gd name="connsiteY68" fmla="*/ 329276 h 6626815"/>
                <a:gd name="connsiteX69" fmla="*/ 2532204 w 6732052"/>
                <a:gd name="connsiteY69" fmla="*/ 131703 h 6626815"/>
                <a:gd name="connsiteX70" fmla="*/ 2176498 w 6732052"/>
                <a:gd name="connsiteY70" fmla="*/ 9850 h 6626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732052" h="6626815">
                  <a:moveTo>
                    <a:pt x="2486865" y="6626816"/>
                  </a:moveTo>
                  <a:cubicBezTo>
                    <a:pt x="2414324" y="6626816"/>
                    <a:pt x="2339715" y="6613931"/>
                    <a:pt x="2257470" y="6582433"/>
                  </a:cubicBezTo>
                  <a:cubicBezTo>
                    <a:pt x="2036506" y="6497964"/>
                    <a:pt x="1944875" y="6348431"/>
                    <a:pt x="1818246" y="6141790"/>
                  </a:cubicBezTo>
                  <a:cubicBezTo>
                    <a:pt x="1737114" y="6009279"/>
                    <a:pt x="1645165" y="5859270"/>
                    <a:pt x="1496901" y="5688580"/>
                  </a:cubicBezTo>
                  <a:cubicBezTo>
                    <a:pt x="1191306" y="5336066"/>
                    <a:pt x="918163" y="5292160"/>
                    <a:pt x="698630" y="5256686"/>
                  </a:cubicBezTo>
                  <a:cubicBezTo>
                    <a:pt x="510914" y="5226461"/>
                    <a:pt x="362809" y="5202759"/>
                    <a:pt x="278496" y="4990391"/>
                  </a:cubicBezTo>
                  <a:cubicBezTo>
                    <a:pt x="184638" y="4754162"/>
                    <a:pt x="230613" y="4506161"/>
                    <a:pt x="283587" y="4219027"/>
                  </a:cubicBezTo>
                  <a:cubicBezTo>
                    <a:pt x="325743" y="3991388"/>
                    <a:pt x="373468" y="3733365"/>
                    <a:pt x="366786" y="3422687"/>
                  </a:cubicBezTo>
                  <a:cubicBezTo>
                    <a:pt x="358991" y="3067468"/>
                    <a:pt x="236817" y="2819309"/>
                    <a:pt x="138664" y="2619985"/>
                  </a:cubicBezTo>
                  <a:cubicBezTo>
                    <a:pt x="33352" y="2406027"/>
                    <a:pt x="-49848" y="2237087"/>
                    <a:pt x="34942" y="2027582"/>
                  </a:cubicBezTo>
                  <a:cubicBezTo>
                    <a:pt x="118460" y="1821259"/>
                    <a:pt x="290905" y="1759538"/>
                    <a:pt x="509164" y="1681431"/>
                  </a:cubicBezTo>
                  <a:cubicBezTo>
                    <a:pt x="708812" y="1610005"/>
                    <a:pt x="957138" y="1520922"/>
                    <a:pt x="1201328" y="1285647"/>
                  </a:cubicBezTo>
                  <a:cubicBezTo>
                    <a:pt x="1466199" y="1030329"/>
                    <a:pt x="1571351" y="752262"/>
                    <a:pt x="1655824" y="528918"/>
                  </a:cubicBezTo>
                  <a:cubicBezTo>
                    <a:pt x="1746818" y="288235"/>
                    <a:pt x="1818723" y="97979"/>
                    <a:pt x="2038574" y="23690"/>
                  </a:cubicBezTo>
                  <a:cubicBezTo>
                    <a:pt x="2224222" y="-38987"/>
                    <a:pt x="2361986" y="32598"/>
                    <a:pt x="2536340" y="123113"/>
                  </a:cubicBezTo>
                  <a:cubicBezTo>
                    <a:pt x="2709898" y="213150"/>
                    <a:pt x="2906682" y="315278"/>
                    <a:pt x="3212277" y="319573"/>
                  </a:cubicBezTo>
                  <a:cubicBezTo>
                    <a:pt x="3218799" y="319732"/>
                    <a:pt x="3225322" y="319732"/>
                    <a:pt x="3231844" y="319732"/>
                  </a:cubicBezTo>
                  <a:cubicBezTo>
                    <a:pt x="3523440" y="319732"/>
                    <a:pt x="3717997" y="228263"/>
                    <a:pt x="3889964" y="147451"/>
                  </a:cubicBezTo>
                  <a:cubicBezTo>
                    <a:pt x="4070362" y="62504"/>
                    <a:pt x="4226104" y="-10671"/>
                    <a:pt x="4438795" y="53914"/>
                  </a:cubicBezTo>
                  <a:cubicBezTo>
                    <a:pt x="4655783" y="120249"/>
                    <a:pt x="4735482" y="267555"/>
                    <a:pt x="4845726" y="471491"/>
                  </a:cubicBezTo>
                  <a:cubicBezTo>
                    <a:pt x="4941811" y="649021"/>
                    <a:pt x="5061281" y="869979"/>
                    <a:pt x="5316925" y="1111935"/>
                  </a:cubicBezTo>
                  <a:cubicBezTo>
                    <a:pt x="5540912" y="1323985"/>
                    <a:pt x="5751695" y="1441543"/>
                    <a:pt x="5920958" y="1535875"/>
                  </a:cubicBezTo>
                  <a:cubicBezTo>
                    <a:pt x="6153376" y="1665364"/>
                    <a:pt x="6321366" y="1759060"/>
                    <a:pt x="6398043" y="2002448"/>
                  </a:cubicBezTo>
                  <a:cubicBezTo>
                    <a:pt x="6445927" y="2154208"/>
                    <a:pt x="6418723" y="2248858"/>
                    <a:pt x="6384521" y="2368643"/>
                  </a:cubicBezTo>
                  <a:cubicBezTo>
                    <a:pt x="6353978" y="2475225"/>
                    <a:pt x="6319457" y="2595805"/>
                    <a:pt x="6323274" y="2792902"/>
                  </a:cubicBezTo>
                  <a:cubicBezTo>
                    <a:pt x="6330274" y="3145575"/>
                    <a:pt x="6455153" y="3376873"/>
                    <a:pt x="6565238" y="3580810"/>
                  </a:cubicBezTo>
                  <a:cubicBezTo>
                    <a:pt x="6672777" y="3779815"/>
                    <a:pt x="6765521" y="3951778"/>
                    <a:pt x="6720342" y="4182916"/>
                  </a:cubicBezTo>
                  <a:cubicBezTo>
                    <a:pt x="6681367" y="4378899"/>
                    <a:pt x="6570646" y="4460665"/>
                    <a:pt x="6402815" y="4584586"/>
                  </a:cubicBezTo>
                  <a:cubicBezTo>
                    <a:pt x="6269823" y="4682736"/>
                    <a:pt x="6104219" y="4804907"/>
                    <a:pt x="5902504" y="5029842"/>
                  </a:cubicBezTo>
                  <a:cubicBezTo>
                    <a:pt x="5609476" y="5356745"/>
                    <a:pt x="5472348" y="5641970"/>
                    <a:pt x="5362263" y="5871200"/>
                  </a:cubicBezTo>
                  <a:cubicBezTo>
                    <a:pt x="5232294" y="6141790"/>
                    <a:pt x="5138277" y="6337455"/>
                    <a:pt x="4870543" y="6444514"/>
                  </a:cubicBezTo>
                  <a:cubicBezTo>
                    <a:pt x="4682031" y="6520235"/>
                    <a:pt x="4558902" y="6488260"/>
                    <a:pt x="4388685" y="6444196"/>
                  </a:cubicBezTo>
                  <a:cubicBezTo>
                    <a:pt x="4233580" y="6403949"/>
                    <a:pt x="4040137" y="6353840"/>
                    <a:pt x="3721815" y="6364816"/>
                  </a:cubicBezTo>
                  <a:cubicBezTo>
                    <a:pt x="3349405" y="6377543"/>
                    <a:pt x="3098216" y="6463444"/>
                    <a:pt x="2896341" y="6532324"/>
                  </a:cubicBezTo>
                  <a:cubicBezTo>
                    <a:pt x="2743782" y="6584183"/>
                    <a:pt x="2618744" y="6626816"/>
                    <a:pt x="2486865" y="6626816"/>
                  </a:cubicBezTo>
                  <a:close/>
                  <a:moveTo>
                    <a:pt x="2176498" y="9850"/>
                  </a:moveTo>
                  <a:cubicBezTo>
                    <a:pt x="2133705" y="9850"/>
                    <a:pt x="2089321" y="16849"/>
                    <a:pt x="2041914" y="32916"/>
                  </a:cubicBezTo>
                  <a:cubicBezTo>
                    <a:pt x="1826359" y="105773"/>
                    <a:pt x="1755250" y="293961"/>
                    <a:pt x="1665210" y="532418"/>
                  </a:cubicBezTo>
                  <a:cubicBezTo>
                    <a:pt x="1580419" y="756716"/>
                    <a:pt x="1474948" y="1035896"/>
                    <a:pt x="1208327" y="1292806"/>
                  </a:cubicBezTo>
                  <a:cubicBezTo>
                    <a:pt x="962706" y="1529512"/>
                    <a:pt x="713107" y="1618913"/>
                    <a:pt x="512664" y="1690657"/>
                  </a:cubicBezTo>
                  <a:cubicBezTo>
                    <a:pt x="296791" y="1767969"/>
                    <a:pt x="126255" y="1829054"/>
                    <a:pt x="44328" y="2031241"/>
                  </a:cubicBezTo>
                  <a:cubicBezTo>
                    <a:pt x="-38712" y="2236609"/>
                    <a:pt x="43533" y="2403799"/>
                    <a:pt x="147731" y="2615531"/>
                  </a:cubicBezTo>
                  <a:cubicBezTo>
                    <a:pt x="246362" y="2815809"/>
                    <a:pt x="369014" y="3065082"/>
                    <a:pt x="376809" y="3422369"/>
                  </a:cubicBezTo>
                  <a:cubicBezTo>
                    <a:pt x="383649" y="3734001"/>
                    <a:pt x="335766" y="3992501"/>
                    <a:pt x="293609" y="4220618"/>
                  </a:cubicBezTo>
                  <a:cubicBezTo>
                    <a:pt x="238567" y="4518092"/>
                    <a:pt x="195137" y="4753048"/>
                    <a:pt x="287882" y="4986573"/>
                  </a:cubicBezTo>
                  <a:cubicBezTo>
                    <a:pt x="369968" y="5193692"/>
                    <a:pt x="515846" y="5217076"/>
                    <a:pt x="700380" y="5246823"/>
                  </a:cubicBezTo>
                  <a:cubicBezTo>
                    <a:pt x="921344" y="5282457"/>
                    <a:pt x="1196555" y="5326680"/>
                    <a:pt x="1504378" y="5681740"/>
                  </a:cubicBezTo>
                  <a:cubicBezTo>
                    <a:pt x="1653278" y="5853066"/>
                    <a:pt x="1745387" y="6003552"/>
                    <a:pt x="1826677" y="6136382"/>
                  </a:cubicBezTo>
                  <a:cubicBezTo>
                    <a:pt x="1952352" y="6341591"/>
                    <a:pt x="2043187" y="6489692"/>
                    <a:pt x="2261129" y="6573048"/>
                  </a:cubicBezTo>
                  <a:cubicBezTo>
                    <a:pt x="2489570" y="6660381"/>
                    <a:pt x="2658833" y="6602636"/>
                    <a:pt x="2893319" y="6522621"/>
                  </a:cubicBezTo>
                  <a:cubicBezTo>
                    <a:pt x="3095829" y="6453581"/>
                    <a:pt x="3347974" y="6367361"/>
                    <a:pt x="3721656" y="6354635"/>
                  </a:cubicBezTo>
                  <a:cubicBezTo>
                    <a:pt x="4042205" y="6343500"/>
                    <a:pt x="4235648" y="6393768"/>
                    <a:pt x="4391389" y="6434333"/>
                  </a:cubicBezTo>
                  <a:cubicBezTo>
                    <a:pt x="4559857" y="6477920"/>
                    <a:pt x="4681554" y="6509417"/>
                    <a:pt x="4867202" y="6435128"/>
                  </a:cubicBezTo>
                  <a:cubicBezTo>
                    <a:pt x="5131277" y="6329342"/>
                    <a:pt x="5224658" y="6135427"/>
                    <a:pt x="5353673" y="5866746"/>
                  </a:cubicBezTo>
                  <a:cubicBezTo>
                    <a:pt x="5464076" y="5637039"/>
                    <a:pt x="5601363" y="5351019"/>
                    <a:pt x="5895345" y="5023161"/>
                  </a:cubicBezTo>
                  <a:cubicBezTo>
                    <a:pt x="6097697" y="4797431"/>
                    <a:pt x="6263619" y="4674942"/>
                    <a:pt x="6397089" y="4576473"/>
                  </a:cubicBezTo>
                  <a:cubicBezTo>
                    <a:pt x="6568896" y="4449689"/>
                    <a:pt x="6672777" y="4373013"/>
                    <a:pt x="6710797" y="4180849"/>
                  </a:cubicBezTo>
                  <a:cubicBezTo>
                    <a:pt x="6755340" y="3953050"/>
                    <a:pt x="6663391" y="3782679"/>
                    <a:pt x="6556806" y="3585264"/>
                  </a:cubicBezTo>
                  <a:cubicBezTo>
                    <a:pt x="6446085" y="3380214"/>
                    <a:pt x="6320570" y="3147802"/>
                    <a:pt x="6313730" y="2792743"/>
                  </a:cubicBezTo>
                  <a:cubicBezTo>
                    <a:pt x="6309753" y="2594214"/>
                    <a:pt x="6346182" y="2467430"/>
                    <a:pt x="6375294" y="2365621"/>
                  </a:cubicBezTo>
                  <a:cubicBezTo>
                    <a:pt x="6409179" y="2247427"/>
                    <a:pt x="6435904" y="2153890"/>
                    <a:pt x="6388975" y="2004993"/>
                  </a:cubicBezTo>
                  <a:cubicBezTo>
                    <a:pt x="6313571" y="1765424"/>
                    <a:pt x="6147012" y="1672522"/>
                    <a:pt x="5916504" y="1544147"/>
                  </a:cubicBezTo>
                  <a:cubicBezTo>
                    <a:pt x="5746763" y="1449497"/>
                    <a:pt x="5535344" y="1331621"/>
                    <a:pt x="5310562" y="1118776"/>
                  </a:cubicBezTo>
                  <a:cubicBezTo>
                    <a:pt x="5053804" y="875706"/>
                    <a:pt x="4933857" y="654112"/>
                    <a:pt x="4837454" y="475945"/>
                  </a:cubicBezTo>
                  <a:cubicBezTo>
                    <a:pt x="4728324" y="274077"/>
                    <a:pt x="4649419" y="128203"/>
                    <a:pt x="4436250" y="63141"/>
                  </a:cubicBezTo>
                  <a:cubicBezTo>
                    <a:pt x="4227535" y="-172"/>
                    <a:pt x="4073067" y="72208"/>
                    <a:pt x="3894418" y="156201"/>
                  </a:cubicBezTo>
                  <a:cubicBezTo>
                    <a:pt x="3721497" y="237489"/>
                    <a:pt x="3525986" y="329436"/>
                    <a:pt x="3232162" y="329436"/>
                  </a:cubicBezTo>
                  <a:cubicBezTo>
                    <a:pt x="3225640" y="329436"/>
                    <a:pt x="3219118" y="329436"/>
                    <a:pt x="3212436" y="329276"/>
                  </a:cubicBezTo>
                  <a:lnTo>
                    <a:pt x="3212436" y="329276"/>
                  </a:lnTo>
                  <a:cubicBezTo>
                    <a:pt x="2904454" y="324822"/>
                    <a:pt x="2706557" y="222218"/>
                    <a:pt x="2532204" y="131703"/>
                  </a:cubicBezTo>
                  <a:cubicBezTo>
                    <a:pt x="2404620" y="65686"/>
                    <a:pt x="2297081" y="9850"/>
                    <a:pt x="2176498" y="9850"/>
                  </a:cubicBezTo>
                  <a:close/>
                </a:path>
              </a:pathLst>
            </a:custGeom>
            <a:gradFill>
              <a:gsLst>
                <a:gs pos="100000">
                  <a:schemeClr val="accent2"/>
                </a:gs>
                <a:gs pos="0">
                  <a:schemeClr val="accent1"/>
                </a:gs>
              </a:gsLst>
              <a:lin ang="0" scaled="1"/>
            </a:gradFill>
            <a:ln w="1589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9" name="Freeform 18">
              <a:extLst>
                <a:ext uri="{FF2B5EF4-FFF2-40B4-BE49-F238E27FC236}">
                  <a16:creationId xmlns:a16="http://schemas.microsoft.com/office/drawing/2014/main" id="{9D19654B-D2EE-0440-FBF3-D89DEDCE8E77}"/>
                </a:ext>
              </a:extLst>
            </p:cNvPr>
            <p:cNvSpPr/>
            <p:nvPr/>
          </p:nvSpPr>
          <p:spPr>
            <a:xfrm>
              <a:off x="-3310050" y="163433"/>
              <a:ext cx="6615487" cy="6516050"/>
            </a:xfrm>
            <a:custGeom>
              <a:avLst/>
              <a:gdLst>
                <a:gd name="connsiteX0" fmla="*/ 2442738 w 6615487"/>
                <a:gd name="connsiteY0" fmla="*/ 6516050 h 6516050"/>
                <a:gd name="connsiteX1" fmla="*/ 2210320 w 6615487"/>
                <a:gd name="connsiteY1" fmla="*/ 6471509 h 6516050"/>
                <a:gd name="connsiteX2" fmla="*/ 1770141 w 6615487"/>
                <a:gd name="connsiteY2" fmla="*/ 6035161 h 6516050"/>
                <a:gd name="connsiteX3" fmla="*/ 1456910 w 6615487"/>
                <a:gd name="connsiteY3" fmla="*/ 5599767 h 6516050"/>
                <a:gd name="connsiteX4" fmla="*/ 685206 w 6615487"/>
                <a:gd name="connsiteY4" fmla="*/ 5173440 h 6516050"/>
                <a:gd name="connsiteX5" fmla="*/ 269526 w 6615487"/>
                <a:gd name="connsiteY5" fmla="*/ 4902055 h 6516050"/>
                <a:gd name="connsiteX6" fmla="*/ 269048 w 6615487"/>
                <a:gd name="connsiteY6" fmla="*/ 4133713 h 6516050"/>
                <a:gd name="connsiteX7" fmla="*/ 345248 w 6615487"/>
                <a:gd name="connsiteY7" fmla="*/ 3363303 h 6516050"/>
                <a:gd name="connsiteX8" fmla="*/ 131443 w 6615487"/>
                <a:gd name="connsiteY8" fmla="*/ 2582395 h 6516050"/>
                <a:gd name="connsiteX9" fmla="*/ 35676 w 6615487"/>
                <a:gd name="connsiteY9" fmla="*/ 1991742 h 6516050"/>
                <a:gd name="connsiteX10" fmla="*/ 504171 w 6615487"/>
                <a:gd name="connsiteY10" fmla="*/ 1641613 h 6516050"/>
                <a:gd name="connsiteX11" fmla="*/ 1171995 w 6615487"/>
                <a:gd name="connsiteY11" fmla="*/ 1252034 h 6516050"/>
                <a:gd name="connsiteX12" fmla="*/ 1619173 w 6615487"/>
                <a:gd name="connsiteY12" fmla="*/ 522348 h 6516050"/>
                <a:gd name="connsiteX13" fmla="*/ 2006855 w 6615487"/>
                <a:gd name="connsiteY13" fmla="*/ 23482 h 6516050"/>
                <a:gd name="connsiteX14" fmla="*/ 2502871 w 6615487"/>
                <a:gd name="connsiteY14" fmla="*/ 116383 h 6516050"/>
                <a:gd name="connsiteX15" fmla="*/ 3161150 w 6615487"/>
                <a:gd name="connsiteY15" fmla="*/ 301072 h 6516050"/>
                <a:gd name="connsiteX16" fmla="*/ 3180399 w 6615487"/>
                <a:gd name="connsiteY16" fmla="*/ 301231 h 6516050"/>
                <a:gd name="connsiteX17" fmla="*/ 3823406 w 6615487"/>
                <a:gd name="connsiteY17" fmla="*/ 140245 h 6516050"/>
                <a:gd name="connsiteX18" fmla="*/ 4371760 w 6615487"/>
                <a:gd name="connsiteY18" fmla="*/ 54661 h 6516050"/>
                <a:gd name="connsiteX19" fmla="*/ 4784417 w 6615487"/>
                <a:gd name="connsiteY19" fmla="*/ 472079 h 6516050"/>
                <a:gd name="connsiteX20" fmla="*/ 5245436 w 6615487"/>
                <a:gd name="connsiteY20" fmla="*/ 1091207 h 6516050"/>
                <a:gd name="connsiteX21" fmla="*/ 5825606 w 6615487"/>
                <a:gd name="connsiteY21" fmla="*/ 1506716 h 6516050"/>
                <a:gd name="connsiteX22" fmla="*/ 6299510 w 6615487"/>
                <a:gd name="connsiteY22" fmla="*/ 1980765 h 6516050"/>
                <a:gd name="connsiteX23" fmla="*/ 6288215 w 6615487"/>
                <a:gd name="connsiteY23" fmla="*/ 2346802 h 6516050"/>
                <a:gd name="connsiteX24" fmla="*/ 6230945 w 6615487"/>
                <a:gd name="connsiteY24" fmla="*/ 2760720 h 6516050"/>
                <a:gd name="connsiteX25" fmla="*/ 6458114 w 6615487"/>
                <a:gd name="connsiteY25" fmla="*/ 3529062 h 6516050"/>
                <a:gd name="connsiteX26" fmla="*/ 6602878 w 6615487"/>
                <a:gd name="connsiteY26" fmla="*/ 4127828 h 6516050"/>
                <a:gd name="connsiteX27" fmla="*/ 6285351 w 6615487"/>
                <a:gd name="connsiteY27" fmla="*/ 4531724 h 6516050"/>
                <a:gd name="connsiteX28" fmla="*/ 5803493 w 6615487"/>
                <a:gd name="connsiteY28" fmla="*/ 4964254 h 6516050"/>
                <a:gd name="connsiteX29" fmla="*/ 5275502 w 6615487"/>
                <a:gd name="connsiteY29" fmla="*/ 5773479 h 6516050"/>
                <a:gd name="connsiteX30" fmla="*/ 4777577 w 6615487"/>
                <a:gd name="connsiteY30" fmla="*/ 6342497 h 6516050"/>
                <a:gd name="connsiteX31" fmla="*/ 4296355 w 6615487"/>
                <a:gd name="connsiteY31" fmla="*/ 6344883 h 6516050"/>
                <a:gd name="connsiteX32" fmla="*/ 3648734 w 6615487"/>
                <a:gd name="connsiteY32" fmla="*/ 6271231 h 6516050"/>
                <a:gd name="connsiteX33" fmla="*/ 2847918 w 6615487"/>
                <a:gd name="connsiteY33" fmla="*/ 6427603 h 6516050"/>
                <a:gd name="connsiteX34" fmla="*/ 2442738 w 6615487"/>
                <a:gd name="connsiteY34" fmla="*/ 6516050 h 6516050"/>
                <a:gd name="connsiteX35" fmla="*/ 2146846 w 6615487"/>
                <a:gd name="connsiteY35" fmla="*/ 12506 h 6516050"/>
                <a:gd name="connsiteX36" fmla="*/ 2011150 w 6615487"/>
                <a:gd name="connsiteY36" fmla="*/ 35731 h 6516050"/>
                <a:gd name="connsiteX37" fmla="*/ 1631422 w 6615487"/>
                <a:gd name="connsiteY37" fmla="*/ 527120 h 6516050"/>
                <a:gd name="connsiteX38" fmla="*/ 1181222 w 6615487"/>
                <a:gd name="connsiteY38" fmla="*/ 1261260 h 6516050"/>
                <a:gd name="connsiteX39" fmla="*/ 508784 w 6615487"/>
                <a:gd name="connsiteY39" fmla="*/ 1653703 h 6516050"/>
                <a:gd name="connsiteX40" fmla="*/ 47766 w 6615487"/>
                <a:gd name="connsiteY40" fmla="*/ 1996514 h 6516050"/>
                <a:gd name="connsiteX41" fmla="*/ 143374 w 6615487"/>
                <a:gd name="connsiteY41" fmla="*/ 2576668 h 6516050"/>
                <a:gd name="connsiteX42" fmla="*/ 358452 w 6615487"/>
                <a:gd name="connsiteY42" fmla="*/ 3362985 h 6516050"/>
                <a:gd name="connsiteX43" fmla="*/ 281934 w 6615487"/>
                <a:gd name="connsiteY43" fmla="*/ 4136099 h 6516050"/>
                <a:gd name="connsiteX44" fmla="*/ 281616 w 6615487"/>
                <a:gd name="connsiteY44" fmla="*/ 4897283 h 6516050"/>
                <a:gd name="connsiteX45" fmla="*/ 687433 w 6615487"/>
                <a:gd name="connsiteY45" fmla="*/ 5160714 h 6516050"/>
                <a:gd name="connsiteX46" fmla="*/ 1466614 w 6615487"/>
                <a:gd name="connsiteY46" fmla="*/ 5591336 h 6516050"/>
                <a:gd name="connsiteX47" fmla="*/ 1780959 w 6615487"/>
                <a:gd name="connsiteY47" fmla="*/ 6028479 h 6516050"/>
                <a:gd name="connsiteX48" fmla="*/ 2214774 w 6615487"/>
                <a:gd name="connsiteY48" fmla="*/ 6459578 h 6516050"/>
                <a:gd name="connsiteX49" fmla="*/ 2843623 w 6615487"/>
                <a:gd name="connsiteY49" fmla="*/ 6415036 h 6516050"/>
                <a:gd name="connsiteX50" fmla="*/ 3647939 w 6615487"/>
                <a:gd name="connsiteY50" fmla="*/ 6258186 h 6516050"/>
                <a:gd name="connsiteX51" fmla="*/ 4299219 w 6615487"/>
                <a:gd name="connsiteY51" fmla="*/ 6332316 h 6516050"/>
                <a:gd name="connsiteX52" fmla="*/ 4772486 w 6615487"/>
                <a:gd name="connsiteY52" fmla="*/ 6330407 h 6516050"/>
                <a:gd name="connsiteX53" fmla="*/ 5263412 w 6615487"/>
                <a:gd name="connsiteY53" fmla="*/ 5767752 h 6516050"/>
                <a:gd name="connsiteX54" fmla="*/ 5793471 w 6615487"/>
                <a:gd name="connsiteY54" fmla="*/ 4955664 h 6516050"/>
                <a:gd name="connsiteX55" fmla="*/ 6277238 w 6615487"/>
                <a:gd name="connsiteY55" fmla="*/ 4521384 h 6516050"/>
                <a:gd name="connsiteX56" fmla="*/ 6589833 w 6615487"/>
                <a:gd name="connsiteY56" fmla="*/ 4125282 h 6516050"/>
                <a:gd name="connsiteX57" fmla="*/ 6446342 w 6615487"/>
                <a:gd name="connsiteY57" fmla="*/ 3535266 h 6516050"/>
                <a:gd name="connsiteX58" fmla="*/ 6217742 w 6615487"/>
                <a:gd name="connsiteY58" fmla="*/ 2761197 h 6516050"/>
                <a:gd name="connsiteX59" fmla="*/ 6275329 w 6615487"/>
                <a:gd name="connsiteY59" fmla="*/ 2343620 h 6516050"/>
                <a:gd name="connsiteX60" fmla="*/ 6286783 w 6615487"/>
                <a:gd name="connsiteY60" fmla="*/ 1984901 h 6516050"/>
                <a:gd name="connsiteX61" fmla="*/ 5818924 w 6615487"/>
                <a:gd name="connsiteY61" fmla="*/ 1518329 h 6516050"/>
                <a:gd name="connsiteX62" fmla="*/ 5236368 w 6615487"/>
                <a:gd name="connsiteY62" fmla="*/ 1101070 h 6516050"/>
                <a:gd name="connsiteX63" fmla="*/ 4772963 w 6615487"/>
                <a:gd name="connsiteY63" fmla="*/ 478761 h 6516050"/>
                <a:gd name="connsiteX64" fmla="*/ 4367942 w 6615487"/>
                <a:gd name="connsiteY64" fmla="*/ 67387 h 6516050"/>
                <a:gd name="connsiteX65" fmla="*/ 3828815 w 6615487"/>
                <a:gd name="connsiteY65" fmla="*/ 152335 h 6516050"/>
                <a:gd name="connsiteX66" fmla="*/ 3180558 w 6615487"/>
                <a:gd name="connsiteY66" fmla="*/ 314434 h 6516050"/>
                <a:gd name="connsiteX67" fmla="*/ 3160991 w 6615487"/>
                <a:gd name="connsiteY67" fmla="*/ 314275 h 6516050"/>
                <a:gd name="connsiteX68" fmla="*/ 2496985 w 6615487"/>
                <a:gd name="connsiteY68" fmla="*/ 128155 h 6516050"/>
                <a:gd name="connsiteX69" fmla="*/ 2146846 w 6615487"/>
                <a:gd name="connsiteY69" fmla="*/ 12506 h 6516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6615487" h="6516050">
                  <a:moveTo>
                    <a:pt x="2442738" y="6516050"/>
                  </a:moveTo>
                  <a:cubicBezTo>
                    <a:pt x="2368765" y="6516050"/>
                    <a:pt x="2292724" y="6503165"/>
                    <a:pt x="2210320" y="6471509"/>
                  </a:cubicBezTo>
                  <a:cubicBezTo>
                    <a:pt x="1990787" y="6387357"/>
                    <a:pt x="1898202" y="6239575"/>
                    <a:pt x="1770141" y="6035161"/>
                  </a:cubicBezTo>
                  <a:cubicBezTo>
                    <a:pt x="1690123" y="5907740"/>
                    <a:pt x="1599606" y="5763298"/>
                    <a:pt x="1456910" y="5599767"/>
                  </a:cubicBezTo>
                  <a:cubicBezTo>
                    <a:pt x="1161973" y="5260774"/>
                    <a:pt x="897579" y="5212414"/>
                    <a:pt x="685206" y="5173440"/>
                  </a:cubicBezTo>
                  <a:cubicBezTo>
                    <a:pt x="499876" y="5139398"/>
                    <a:pt x="353521" y="5112673"/>
                    <a:pt x="269526" y="4902055"/>
                  </a:cubicBezTo>
                  <a:cubicBezTo>
                    <a:pt x="175668" y="4666781"/>
                    <a:pt x="218938" y="4419734"/>
                    <a:pt x="269048" y="4133713"/>
                  </a:cubicBezTo>
                  <a:cubicBezTo>
                    <a:pt x="307705" y="3912755"/>
                    <a:pt x="351612" y="3662368"/>
                    <a:pt x="345248" y="3363303"/>
                  </a:cubicBezTo>
                  <a:cubicBezTo>
                    <a:pt x="337931" y="3020334"/>
                    <a:pt x="228164" y="2787604"/>
                    <a:pt x="131443" y="2582395"/>
                  </a:cubicBezTo>
                  <a:cubicBezTo>
                    <a:pt x="30744" y="2368754"/>
                    <a:pt x="-48956" y="2199974"/>
                    <a:pt x="35676" y="1991742"/>
                  </a:cubicBezTo>
                  <a:cubicBezTo>
                    <a:pt x="119035" y="1786373"/>
                    <a:pt x="288934" y="1722424"/>
                    <a:pt x="504171" y="1641613"/>
                  </a:cubicBezTo>
                  <a:cubicBezTo>
                    <a:pt x="706841" y="1565415"/>
                    <a:pt x="936554" y="1479037"/>
                    <a:pt x="1171995" y="1252034"/>
                  </a:cubicBezTo>
                  <a:cubicBezTo>
                    <a:pt x="1427639" y="1005623"/>
                    <a:pt x="1529292" y="748873"/>
                    <a:pt x="1619173" y="522348"/>
                  </a:cubicBezTo>
                  <a:cubicBezTo>
                    <a:pt x="1713190" y="285164"/>
                    <a:pt x="1787481" y="97771"/>
                    <a:pt x="2006855" y="23482"/>
                  </a:cubicBezTo>
                  <a:cubicBezTo>
                    <a:pt x="2191071" y="-38717"/>
                    <a:pt x="2335517" y="33186"/>
                    <a:pt x="2502871" y="116383"/>
                  </a:cubicBezTo>
                  <a:cubicBezTo>
                    <a:pt x="2673088" y="201012"/>
                    <a:pt x="2865736" y="297095"/>
                    <a:pt x="3161150" y="301072"/>
                  </a:cubicBezTo>
                  <a:cubicBezTo>
                    <a:pt x="3167672" y="301231"/>
                    <a:pt x="3174035" y="301231"/>
                    <a:pt x="3180399" y="301231"/>
                  </a:cubicBezTo>
                  <a:cubicBezTo>
                    <a:pt x="3463086" y="301231"/>
                    <a:pt x="3654143" y="215806"/>
                    <a:pt x="3823406" y="140245"/>
                  </a:cubicBezTo>
                  <a:cubicBezTo>
                    <a:pt x="4004282" y="59593"/>
                    <a:pt x="4160500" y="-10242"/>
                    <a:pt x="4371760" y="54661"/>
                  </a:cubicBezTo>
                  <a:cubicBezTo>
                    <a:pt x="4588907" y="121951"/>
                    <a:pt x="4670833" y="268938"/>
                    <a:pt x="4784417" y="472079"/>
                  </a:cubicBezTo>
                  <a:cubicBezTo>
                    <a:pt x="4880343" y="644042"/>
                    <a:pt x="4999814" y="858000"/>
                    <a:pt x="5245436" y="1091207"/>
                  </a:cubicBezTo>
                  <a:cubicBezTo>
                    <a:pt x="5460036" y="1295462"/>
                    <a:pt x="5654275" y="1407611"/>
                    <a:pt x="5825606" y="1506716"/>
                  </a:cubicBezTo>
                  <a:cubicBezTo>
                    <a:pt x="6056274" y="1640182"/>
                    <a:pt x="6223150" y="1736582"/>
                    <a:pt x="6299510" y="1980765"/>
                  </a:cubicBezTo>
                  <a:cubicBezTo>
                    <a:pt x="6346757" y="2131411"/>
                    <a:pt x="6320985" y="2226539"/>
                    <a:pt x="6288215" y="2346802"/>
                  </a:cubicBezTo>
                  <a:cubicBezTo>
                    <a:pt x="6259739" y="2451633"/>
                    <a:pt x="6227446" y="2570305"/>
                    <a:pt x="6230945" y="2760720"/>
                  </a:cubicBezTo>
                  <a:cubicBezTo>
                    <a:pt x="6237468" y="3101940"/>
                    <a:pt x="6354711" y="3328943"/>
                    <a:pt x="6458114" y="3529062"/>
                  </a:cubicBezTo>
                  <a:cubicBezTo>
                    <a:pt x="6560562" y="3727431"/>
                    <a:pt x="6649170" y="3898916"/>
                    <a:pt x="6602878" y="4127828"/>
                  </a:cubicBezTo>
                  <a:cubicBezTo>
                    <a:pt x="6562949" y="4323015"/>
                    <a:pt x="6452546" y="4406053"/>
                    <a:pt x="6285351" y="4531724"/>
                  </a:cubicBezTo>
                  <a:cubicBezTo>
                    <a:pt x="6156814" y="4628443"/>
                    <a:pt x="5996778" y="4748705"/>
                    <a:pt x="5803493" y="4964254"/>
                  </a:cubicBezTo>
                  <a:cubicBezTo>
                    <a:pt x="5522237" y="5277636"/>
                    <a:pt x="5385427" y="5552680"/>
                    <a:pt x="5275502" y="5773479"/>
                  </a:cubicBezTo>
                  <a:cubicBezTo>
                    <a:pt x="5141873" y="6042001"/>
                    <a:pt x="5045311" y="6235916"/>
                    <a:pt x="4777577" y="6342497"/>
                  </a:cubicBezTo>
                  <a:cubicBezTo>
                    <a:pt x="4590179" y="6417423"/>
                    <a:pt x="4466891" y="6386880"/>
                    <a:pt x="4296355" y="6344883"/>
                  </a:cubicBezTo>
                  <a:cubicBezTo>
                    <a:pt x="4144433" y="6307500"/>
                    <a:pt x="3955603" y="6260732"/>
                    <a:pt x="3648734" y="6271231"/>
                  </a:cubicBezTo>
                  <a:cubicBezTo>
                    <a:pt x="3290483" y="6283321"/>
                    <a:pt x="3045180" y="6363177"/>
                    <a:pt x="2847918" y="6427603"/>
                  </a:cubicBezTo>
                  <a:cubicBezTo>
                    <a:pt x="2701722" y="6474849"/>
                    <a:pt x="2575412" y="6516050"/>
                    <a:pt x="2442738" y="6516050"/>
                  </a:cubicBezTo>
                  <a:close/>
                  <a:moveTo>
                    <a:pt x="2146846" y="12506"/>
                  </a:moveTo>
                  <a:cubicBezTo>
                    <a:pt x="2103735" y="12506"/>
                    <a:pt x="2059033" y="19505"/>
                    <a:pt x="2011150" y="35731"/>
                  </a:cubicBezTo>
                  <a:cubicBezTo>
                    <a:pt x="1797503" y="108111"/>
                    <a:pt x="1724326" y="292959"/>
                    <a:pt x="1631422" y="527120"/>
                  </a:cubicBezTo>
                  <a:cubicBezTo>
                    <a:pt x="1545518" y="743624"/>
                    <a:pt x="1438775" y="1012941"/>
                    <a:pt x="1181222" y="1261260"/>
                  </a:cubicBezTo>
                  <a:cubicBezTo>
                    <a:pt x="943713" y="1490172"/>
                    <a:pt x="702704" y="1580846"/>
                    <a:pt x="508784" y="1653703"/>
                  </a:cubicBezTo>
                  <a:cubicBezTo>
                    <a:pt x="296569" y="1733560"/>
                    <a:pt x="128898" y="1796554"/>
                    <a:pt x="47766" y="1996514"/>
                  </a:cubicBezTo>
                  <a:cubicBezTo>
                    <a:pt x="-34479" y="2199496"/>
                    <a:pt x="43948" y="2365891"/>
                    <a:pt x="143374" y="2576668"/>
                  </a:cubicBezTo>
                  <a:cubicBezTo>
                    <a:pt x="235959" y="2772969"/>
                    <a:pt x="351134" y="3017152"/>
                    <a:pt x="358452" y="3362985"/>
                  </a:cubicBezTo>
                  <a:cubicBezTo>
                    <a:pt x="364815" y="3663323"/>
                    <a:pt x="320750" y="3914505"/>
                    <a:pt x="281934" y="4136099"/>
                  </a:cubicBezTo>
                  <a:cubicBezTo>
                    <a:pt x="230073" y="4431824"/>
                    <a:pt x="189030" y="4665348"/>
                    <a:pt x="281616" y="4897283"/>
                  </a:cubicBezTo>
                  <a:cubicBezTo>
                    <a:pt x="362906" y="5101220"/>
                    <a:pt x="499080" y="5126194"/>
                    <a:pt x="687433" y="5160714"/>
                  </a:cubicBezTo>
                  <a:cubicBezTo>
                    <a:pt x="901875" y="5200006"/>
                    <a:pt x="1168654" y="5248843"/>
                    <a:pt x="1466614" y="5591336"/>
                  </a:cubicBezTo>
                  <a:cubicBezTo>
                    <a:pt x="1609946" y="5755662"/>
                    <a:pt x="1700782" y="5900582"/>
                    <a:pt x="1780959" y="6028479"/>
                  </a:cubicBezTo>
                  <a:cubicBezTo>
                    <a:pt x="1907747" y="6230825"/>
                    <a:pt x="1999378" y="6377017"/>
                    <a:pt x="2214774" y="6459578"/>
                  </a:cubicBezTo>
                  <a:cubicBezTo>
                    <a:pt x="2440829" y="6546275"/>
                    <a:pt x="2609773" y="6491234"/>
                    <a:pt x="2843623" y="6415036"/>
                  </a:cubicBezTo>
                  <a:cubicBezTo>
                    <a:pt x="3041520" y="6350451"/>
                    <a:pt x="3287938" y="6270117"/>
                    <a:pt x="3647939" y="6258186"/>
                  </a:cubicBezTo>
                  <a:cubicBezTo>
                    <a:pt x="3957035" y="6247687"/>
                    <a:pt x="4146500" y="6294615"/>
                    <a:pt x="4299219" y="6332316"/>
                  </a:cubicBezTo>
                  <a:cubicBezTo>
                    <a:pt x="4467368" y="6373676"/>
                    <a:pt x="4589065" y="6403742"/>
                    <a:pt x="4772486" y="6330407"/>
                  </a:cubicBezTo>
                  <a:cubicBezTo>
                    <a:pt x="5035448" y="6225735"/>
                    <a:pt x="5131056" y="6033570"/>
                    <a:pt x="5263412" y="5767752"/>
                  </a:cubicBezTo>
                  <a:cubicBezTo>
                    <a:pt x="5373655" y="5546158"/>
                    <a:pt x="5510943" y="5270318"/>
                    <a:pt x="5793471" y="4955664"/>
                  </a:cubicBezTo>
                  <a:cubicBezTo>
                    <a:pt x="5987710" y="4739001"/>
                    <a:pt x="6148223" y="4618421"/>
                    <a:pt x="6277238" y="4521384"/>
                  </a:cubicBezTo>
                  <a:cubicBezTo>
                    <a:pt x="6447773" y="4393168"/>
                    <a:pt x="6550699" y="4315698"/>
                    <a:pt x="6589833" y="4125282"/>
                  </a:cubicBezTo>
                  <a:cubicBezTo>
                    <a:pt x="6635171" y="3900984"/>
                    <a:pt x="6547676" y="3731567"/>
                    <a:pt x="6446342" y="3535266"/>
                  </a:cubicBezTo>
                  <a:cubicBezTo>
                    <a:pt x="6342302" y="3333715"/>
                    <a:pt x="6224264" y="3105440"/>
                    <a:pt x="6217742" y="2761197"/>
                  </a:cubicBezTo>
                  <a:cubicBezTo>
                    <a:pt x="6214083" y="2568873"/>
                    <a:pt x="6246695" y="2449247"/>
                    <a:pt x="6275329" y="2343620"/>
                  </a:cubicBezTo>
                  <a:cubicBezTo>
                    <a:pt x="6307623" y="2225267"/>
                    <a:pt x="6332916" y="2131888"/>
                    <a:pt x="6286783" y="1984901"/>
                  </a:cubicBezTo>
                  <a:cubicBezTo>
                    <a:pt x="6212015" y="1745809"/>
                    <a:pt x="6047206" y="1650362"/>
                    <a:pt x="5818924" y="1518329"/>
                  </a:cubicBezTo>
                  <a:cubicBezTo>
                    <a:pt x="5655548" y="1423837"/>
                    <a:pt x="5452082" y="1306279"/>
                    <a:pt x="5236368" y="1101070"/>
                  </a:cubicBezTo>
                  <a:cubicBezTo>
                    <a:pt x="4989314" y="866431"/>
                    <a:pt x="4869367" y="651359"/>
                    <a:pt x="4772963" y="478761"/>
                  </a:cubicBezTo>
                  <a:cubicBezTo>
                    <a:pt x="4660970" y="278164"/>
                    <a:pt x="4579998" y="133086"/>
                    <a:pt x="4367942" y="67387"/>
                  </a:cubicBezTo>
                  <a:cubicBezTo>
                    <a:pt x="4161454" y="3916"/>
                    <a:pt x="4007463" y="72637"/>
                    <a:pt x="3828815" y="152335"/>
                  </a:cubicBezTo>
                  <a:cubicBezTo>
                    <a:pt x="3658438" y="228373"/>
                    <a:pt x="3465950" y="314434"/>
                    <a:pt x="3180558" y="314434"/>
                  </a:cubicBezTo>
                  <a:cubicBezTo>
                    <a:pt x="3174195" y="314434"/>
                    <a:pt x="3167672" y="314434"/>
                    <a:pt x="3160991" y="314275"/>
                  </a:cubicBezTo>
                  <a:cubicBezTo>
                    <a:pt x="2862713" y="310139"/>
                    <a:pt x="2668474" y="213579"/>
                    <a:pt x="2496985" y="128155"/>
                  </a:cubicBezTo>
                  <a:cubicBezTo>
                    <a:pt x="2371469" y="65319"/>
                    <a:pt x="2265044" y="12506"/>
                    <a:pt x="2146846" y="12506"/>
                  </a:cubicBezTo>
                  <a:close/>
                </a:path>
              </a:pathLst>
            </a:custGeom>
            <a:gradFill>
              <a:gsLst>
                <a:gs pos="100000">
                  <a:schemeClr val="accent2"/>
                </a:gs>
                <a:gs pos="0">
                  <a:schemeClr val="accent1"/>
                </a:gs>
              </a:gsLst>
              <a:lin ang="0" scaled="1"/>
            </a:gradFill>
            <a:ln w="1589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0" name="Freeform 19">
              <a:extLst>
                <a:ext uri="{FF2B5EF4-FFF2-40B4-BE49-F238E27FC236}">
                  <a16:creationId xmlns:a16="http://schemas.microsoft.com/office/drawing/2014/main" id="{4D47C63D-8E0E-605F-F454-74C681C30B6B}"/>
                </a:ext>
              </a:extLst>
            </p:cNvPr>
            <p:cNvSpPr/>
            <p:nvPr/>
          </p:nvSpPr>
          <p:spPr>
            <a:xfrm>
              <a:off x="-3252295" y="217372"/>
              <a:ext cx="6498675" cy="6407069"/>
            </a:xfrm>
            <a:custGeom>
              <a:avLst/>
              <a:gdLst>
                <a:gd name="connsiteX0" fmla="*/ 2400095 w 6498675"/>
                <a:gd name="connsiteY0" fmla="*/ 6407070 h 6407069"/>
                <a:gd name="connsiteX1" fmla="*/ 2163223 w 6498675"/>
                <a:gd name="connsiteY1" fmla="*/ 6361733 h 6407069"/>
                <a:gd name="connsiteX2" fmla="*/ 1721772 w 6498675"/>
                <a:gd name="connsiteY2" fmla="*/ 5929521 h 6407069"/>
                <a:gd name="connsiteX3" fmla="*/ 1417131 w 6498675"/>
                <a:gd name="connsiteY3" fmla="*/ 5512103 h 6407069"/>
                <a:gd name="connsiteX4" fmla="*/ 671834 w 6498675"/>
                <a:gd name="connsiteY4" fmla="*/ 5091185 h 6407069"/>
                <a:gd name="connsiteX5" fmla="*/ 260608 w 6498675"/>
                <a:gd name="connsiteY5" fmla="*/ 4814551 h 6407069"/>
                <a:gd name="connsiteX6" fmla="*/ 254404 w 6498675"/>
                <a:gd name="connsiteY6" fmla="*/ 4048754 h 6407069"/>
                <a:gd name="connsiteX7" fmla="*/ 324082 w 6498675"/>
                <a:gd name="connsiteY7" fmla="*/ 3304592 h 6407069"/>
                <a:gd name="connsiteX8" fmla="*/ 124275 w 6498675"/>
                <a:gd name="connsiteY8" fmla="*/ 2545795 h 6407069"/>
                <a:gd name="connsiteX9" fmla="*/ 36303 w 6498675"/>
                <a:gd name="connsiteY9" fmla="*/ 1956414 h 6407069"/>
                <a:gd name="connsiteX10" fmla="*/ 499230 w 6498675"/>
                <a:gd name="connsiteY10" fmla="*/ 1601991 h 6407069"/>
                <a:gd name="connsiteX11" fmla="*/ 1142715 w 6498675"/>
                <a:gd name="connsiteY11" fmla="*/ 1218775 h 6407069"/>
                <a:gd name="connsiteX12" fmla="*/ 1582257 w 6498675"/>
                <a:gd name="connsiteY12" fmla="*/ 516450 h 6407069"/>
                <a:gd name="connsiteX13" fmla="*/ 1975189 w 6498675"/>
                <a:gd name="connsiteY13" fmla="*/ 23947 h 6407069"/>
                <a:gd name="connsiteX14" fmla="*/ 2469455 w 6498675"/>
                <a:gd name="connsiteY14" fmla="*/ 110167 h 6407069"/>
                <a:gd name="connsiteX15" fmla="*/ 3109917 w 6498675"/>
                <a:gd name="connsiteY15" fmla="*/ 283084 h 6407069"/>
                <a:gd name="connsiteX16" fmla="*/ 3128848 w 6498675"/>
                <a:gd name="connsiteY16" fmla="*/ 283243 h 6407069"/>
                <a:gd name="connsiteX17" fmla="*/ 3756424 w 6498675"/>
                <a:gd name="connsiteY17" fmla="*/ 133551 h 6407069"/>
                <a:gd name="connsiteX18" fmla="*/ 4304460 w 6498675"/>
                <a:gd name="connsiteY18" fmla="*/ 56081 h 6407069"/>
                <a:gd name="connsiteX19" fmla="*/ 4723003 w 6498675"/>
                <a:gd name="connsiteY19" fmla="*/ 473499 h 6407069"/>
                <a:gd name="connsiteX20" fmla="*/ 5173522 w 6498675"/>
                <a:gd name="connsiteY20" fmla="*/ 1071310 h 6407069"/>
                <a:gd name="connsiteX21" fmla="*/ 5729512 w 6498675"/>
                <a:gd name="connsiteY21" fmla="*/ 1477911 h 6407069"/>
                <a:gd name="connsiteX22" fmla="*/ 6200393 w 6498675"/>
                <a:gd name="connsiteY22" fmla="*/ 1959755 h 6407069"/>
                <a:gd name="connsiteX23" fmla="*/ 6191325 w 6498675"/>
                <a:gd name="connsiteY23" fmla="*/ 2325791 h 6407069"/>
                <a:gd name="connsiteX24" fmla="*/ 6138192 w 6498675"/>
                <a:gd name="connsiteY24" fmla="*/ 2729370 h 6407069"/>
                <a:gd name="connsiteX25" fmla="*/ 6350725 w 6498675"/>
                <a:gd name="connsiteY25" fmla="*/ 3477986 h 6407069"/>
                <a:gd name="connsiteX26" fmla="*/ 6485149 w 6498675"/>
                <a:gd name="connsiteY26" fmla="*/ 4073570 h 6407069"/>
                <a:gd name="connsiteX27" fmla="*/ 6167622 w 6498675"/>
                <a:gd name="connsiteY27" fmla="*/ 4479853 h 6407069"/>
                <a:gd name="connsiteX28" fmla="*/ 5704059 w 6498675"/>
                <a:gd name="connsiteY28" fmla="*/ 4899657 h 6407069"/>
                <a:gd name="connsiteX29" fmla="*/ 5188635 w 6498675"/>
                <a:gd name="connsiteY29" fmla="*/ 5676589 h 6407069"/>
                <a:gd name="connsiteX30" fmla="*/ 4684346 w 6498675"/>
                <a:gd name="connsiteY30" fmla="*/ 6241471 h 6407069"/>
                <a:gd name="connsiteX31" fmla="*/ 4203602 w 6498675"/>
                <a:gd name="connsiteY31" fmla="*/ 6246721 h 6407069"/>
                <a:gd name="connsiteX32" fmla="*/ 3575230 w 6498675"/>
                <a:gd name="connsiteY32" fmla="*/ 6178477 h 6407069"/>
                <a:gd name="connsiteX33" fmla="*/ 2799549 w 6498675"/>
                <a:gd name="connsiteY33" fmla="*/ 6323714 h 6407069"/>
                <a:gd name="connsiteX34" fmla="*/ 2400095 w 6498675"/>
                <a:gd name="connsiteY34" fmla="*/ 6407070 h 6407069"/>
                <a:gd name="connsiteX35" fmla="*/ 2117725 w 6498675"/>
                <a:gd name="connsiteY35" fmla="*/ 15993 h 6407069"/>
                <a:gd name="connsiteX36" fmla="*/ 1980597 w 6498675"/>
                <a:gd name="connsiteY36" fmla="*/ 39537 h 6407069"/>
                <a:gd name="connsiteX37" fmla="*/ 1597688 w 6498675"/>
                <a:gd name="connsiteY37" fmla="*/ 522972 h 6407069"/>
                <a:gd name="connsiteX38" fmla="*/ 1154328 w 6498675"/>
                <a:gd name="connsiteY38" fmla="*/ 1230705 h 6407069"/>
                <a:gd name="connsiteX39" fmla="*/ 505435 w 6498675"/>
                <a:gd name="connsiteY39" fmla="*/ 1617421 h 6407069"/>
                <a:gd name="connsiteX40" fmla="*/ 51734 w 6498675"/>
                <a:gd name="connsiteY40" fmla="*/ 1962778 h 6407069"/>
                <a:gd name="connsiteX41" fmla="*/ 139388 w 6498675"/>
                <a:gd name="connsiteY41" fmla="*/ 2539113 h 6407069"/>
                <a:gd name="connsiteX42" fmla="*/ 340626 w 6498675"/>
                <a:gd name="connsiteY42" fmla="*/ 3304433 h 6407069"/>
                <a:gd name="connsiteX43" fmla="*/ 270789 w 6498675"/>
                <a:gd name="connsiteY43" fmla="*/ 4051617 h 6407069"/>
                <a:gd name="connsiteX44" fmla="*/ 276039 w 6498675"/>
                <a:gd name="connsiteY44" fmla="*/ 4808665 h 6407069"/>
                <a:gd name="connsiteX45" fmla="*/ 675334 w 6498675"/>
                <a:gd name="connsiteY45" fmla="*/ 5075437 h 6407069"/>
                <a:gd name="connsiteX46" fmla="*/ 1429539 w 6498675"/>
                <a:gd name="connsiteY46" fmla="*/ 5501604 h 6407069"/>
                <a:gd name="connsiteX47" fmla="*/ 1735612 w 6498675"/>
                <a:gd name="connsiteY47" fmla="*/ 5920931 h 6407069"/>
                <a:gd name="connsiteX48" fmla="*/ 2169109 w 6498675"/>
                <a:gd name="connsiteY48" fmla="*/ 6346621 h 6407069"/>
                <a:gd name="connsiteX49" fmla="*/ 2794935 w 6498675"/>
                <a:gd name="connsiteY49" fmla="*/ 6308124 h 6407069"/>
                <a:gd name="connsiteX50" fmla="*/ 3574912 w 6498675"/>
                <a:gd name="connsiteY50" fmla="*/ 6162251 h 6407069"/>
                <a:gd name="connsiteX51" fmla="*/ 4207579 w 6498675"/>
                <a:gd name="connsiteY51" fmla="*/ 6230813 h 6407069"/>
                <a:gd name="connsiteX52" fmla="*/ 4678460 w 6498675"/>
                <a:gd name="connsiteY52" fmla="*/ 6226359 h 6407069"/>
                <a:gd name="connsiteX53" fmla="*/ 5174317 w 6498675"/>
                <a:gd name="connsiteY53" fmla="*/ 5669271 h 6407069"/>
                <a:gd name="connsiteX54" fmla="*/ 5692127 w 6498675"/>
                <a:gd name="connsiteY54" fmla="*/ 4888839 h 6407069"/>
                <a:gd name="connsiteX55" fmla="*/ 6157918 w 6498675"/>
                <a:gd name="connsiteY55" fmla="*/ 4466968 h 6407069"/>
                <a:gd name="connsiteX56" fmla="*/ 6469400 w 6498675"/>
                <a:gd name="connsiteY56" fmla="*/ 4070229 h 6407069"/>
                <a:gd name="connsiteX57" fmla="*/ 6336248 w 6498675"/>
                <a:gd name="connsiteY57" fmla="*/ 3485303 h 6407069"/>
                <a:gd name="connsiteX58" fmla="*/ 6122125 w 6498675"/>
                <a:gd name="connsiteY58" fmla="*/ 2729847 h 6407069"/>
                <a:gd name="connsiteX59" fmla="*/ 6175735 w 6498675"/>
                <a:gd name="connsiteY59" fmla="*/ 2321974 h 6407069"/>
                <a:gd name="connsiteX60" fmla="*/ 6184962 w 6498675"/>
                <a:gd name="connsiteY60" fmla="*/ 1965005 h 6407069"/>
                <a:gd name="connsiteX61" fmla="*/ 5721240 w 6498675"/>
                <a:gd name="connsiteY61" fmla="*/ 1492387 h 6407069"/>
                <a:gd name="connsiteX62" fmla="*/ 5162227 w 6498675"/>
                <a:gd name="connsiteY62" fmla="*/ 1083559 h 6407069"/>
                <a:gd name="connsiteX63" fmla="*/ 4708845 w 6498675"/>
                <a:gd name="connsiteY63" fmla="*/ 482089 h 6407069"/>
                <a:gd name="connsiteX64" fmla="*/ 4299687 w 6498675"/>
                <a:gd name="connsiteY64" fmla="*/ 72148 h 6407069"/>
                <a:gd name="connsiteX65" fmla="*/ 3762946 w 6498675"/>
                <a:gd name="connsiteY65" fmla="*/ 149141 h 6407069"/>
                <a:gd name="connsiteX66" fmla="*/ 3129007 w 6498675"/>
                <a:gd name="connsiteY66" fmla="*/ 300105 h 6407069"/>
                <a:gd name="connsiteX67" fmla="*/ 3109758 w 6498675"/>
                <a:gd name="connsiteY67" fmla="*/ 299946 h 6407069"/>
                <a:gd name="connsiteX68" fmla="*/ 3109758 w 6498675"/>
                <a:gd name="connsiteY68" fmla="*/ 299946 h 6407069"/>
                <a:gd name="connsiteX69" fmla="*/ 2462455 w 6498675"/>
                <a:gd name="connsiteY69" fmla="*/ 125438 h 6407069"/>
                <a:gd name="connsiteX70" fmla="*/ 2117725 w 6498675"/>
                <a:gd name="connsiteY70" fmla="*/ 15993 h 6407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498675" h="6407069">
                  <a:moveTo>
                    <a:pt x="2400095" y="6407070"/>
                  </a:moveTo>
                  <a:cubicBezTo>
                    <a:pt x="2324531" y="6407070"/>
                    <a:pt x="2247218" y="6394026"/>
                    <a:pt x="2163223" y="6361733"/>
                  </a:cubicBezTo>
                  <a:cubicBezTo>
                    <a:pt x="1945281" y="6277741"/>
                    <a:pt x="1851423" y="6131708"/>
                    <a:pt x="1721772" y="5929521"/>
                  </a:cubicBezTo>
                  <a:cubicBezTo>
                    <a:pt x="1643185" y="5807191"/>
                    <a:pt x="1554100" y="5668476"/>
                    <a:pt x="1417131" y="5512103"/>
                  </a:cubicBezTo>
                  <a:cubicBezTo>
                    <a:pt x="1132852" y="5186473"/>
                    <a:pt x="877208" y="5133659"/>
                    <a:pt x="671834" y="5091185"/>
                  </a:cubicBezTo>
                  <a:cubicBezTo>
                    <a:pt x="488890" y="5053325"/>
                    <a:pt x="344285" y="5023419"/>
                    <a:pt x="260608" y="4814551"/>
                  </a:cubicBezTo>
                  <a:cubicBezTo>
                    <a:pt x="166591" y="4580071"/>
                    <a:pt x="207316" y="4333820"/>
                    <a:pt x="254404" y="4048754"/>
                  </a:cubicBezTo>
                  <a:cubicBezTo>
                    <a:pt x="289879" y="3834636"/>
                    <a:pt x="329968" y="3592044"/>
                    <a:pt x="324082" y="3304592"/>
                  </a:cubicBezTo>
                  <a:cubicBezTo>
                    <a:pt x="317082" y="2973871"/>
                    <a:pt x="214634" y="2746391"/>
                    <a:pt x="124275" y="2545795"/>
                  </a:cubicBezTo>
                  <a:cubicBezTo>
                    <a:pt x="28031" y="2332313"/>
                    <a:pt x="-47851" y="2163692"/>
                    <a:pt x="36303" y="1956414"/>
                  </a:cubicBezTo>
                  <a:cubicBezTo>
                    <a:pt x="119503" y="1752001"/>
                    <a:pt x="287016" y="1685825"/>
                    <a:pt x="499230" y="1601991"/>
                  </a:cubicBezTo>
                  <a:cubicBezTo>
                    <a:pt x="694423" y="1524839"/>
                    <a:pt x="915865" y="1437346"/>
                    <a:pt x="1142715" y="1218775"/>
                  </a:cubicBezTo>
                  <a:cubicBezTo>
                    <a:pt x="1388814" y="981432"/>
                    <a:pt x="1491581" y="734385"/>
                    <a:pt x="1582257" y="516450"/>
                  </a:cubicBezTo>
                  <a:cubicBezTo>
                    <a:pt x="1679615" y="282766"/>
                    <a:pt x="1756292" y="98077"/>
                    <a:pt x="1975189" y="23947"/>
                  </a:cubicBezTo>
                  <a:cubicBezTo>
                    <a:pt x="2158132" y="-37934"/>
                    <a:pt x="2302419" y="30629"/>
                    <a:pt x="2469455" y="110167"/>
                  </a:cubicBezTo>
                  <a:cubicBezTo>
                    <a:pt x="2636013" y="189387"/>
                    <a:pt x="2825002" y="279266"/>
                    <a:pt x="3109917" y="283084"/>
                  </a:cubicBezTo>
                  <a:cubicBezTo>
                    <a:pt x="3116280" y="283243"/>
                    <a:pt x="3122643" y="283243"/>
                    <a:pt x="3128848" y="283243"/>
                  </a:cubicBezTo>
                  <a:cubicBezTo>
                    <a:pt x="3402308" y="283243"/>
                    <a:pt x="3590184" y="203863"/>
                    <a:pt x="3756424" y="133551"/>
                  </a:cubicBezTo>
                  <a:cubicBezTo>
                    <a:pt x="3937936" y="56876"/>
                    <a:pt x="4094790" y="-9300"/>
                    <a:pt x="4304460" y="56081"/>
                  </a:cubicBezTo>
                  <a:cubicBezTo>
                    <a:pt x="4521765" y="124325"/>
                    <a:pt x="4606237" y="270835"/>
                    <a:pt x="4723003" y="473499"/>
                  </a:cubicBezTo>
                  <a:cubicBezTo>
                    <a:pt x="4818770" y="639734"/>
                    <a:pt x="4937922" y="846693"/>
                    <a:pt x="5173522" y="1071310"/>
                  </a:cubicBezTo>
                  <a:cubicBezTo>
                    <a:pt x="5378896" y="1267452"/>
                    <a:pt x="5565181" y="1379283"/>
                    <a:pt x="5729512" y="1477911"/>
                  </a:cubicBezTo>
                  <a:cubicBezTo>
                    <a:pt x="5949998" y="1610263"/>
                    <a:pt x="6124193" y="1714936"/>
                    <a:pt x="6200393" y="1959755"/>
                  </a:cubicBezTo>
                  <a:cubicBezTo>
                    <a:pt x="6247163" y="2109447"/>
                    <a:pt x="6222505" y="2204893"/>
                    <a:pt x="6191325" y="2325791"/>
                  </a:cubicBezTo>
                  <a:cubicBezTo>
                    <a:pt x="6164758" y="2428714"/>
                    <a:pt x="6134692" y="2545476"/>
                    <a:pt x="6138192" y="2729370"/>
                  </a:cubicBezTo>
                  <a:cubicBezTo>
                    <a:pt x="6144396" y="3059136"/>
                    <a:pt x="6254003" y="3281685"/>
                    <a:pt x="6350725" y="3477986"/>
                  </a:cubicBezTo>
                  <a:cubicBezTo>
                    <a:pt x="6448242" y="3675878"/>
                    <a:pt x="6532396" y="3846885"/>
                    <a:pt x="6485149" y="4073570"/>
                  </a:cubicBezTo>
                  <a:cubicBezTo>
                    <a:pt x="6443947" y="4268121"/>
                    <a:pt x="6334021" y="4352432"/>
                    <a:pt x="6167622" y="4479853"/>
                  </a:cubicBezTo>
                  <a:cubicBezTo>
                    <a:pt x="6043538" y="4574981"/>
                    <a:pt x="5889230" y="4693175"/>
                    <a:pt x="5704059" y="4899657"/>
                  </a:cubicBezTo>
                  <a:cubicBezTo>
                    <a:pt x="5434734" y="5199676"/>
                    <a:pt x="5298242" y="5464221"/>
                    <a:pt x="5188635" y="5676589"/>
                  </a:cubicBezTo>
                  <a:cubicBezTo>
                    <a:pt x="5051188" y="5943043"/>
                    <a:pt x="4951921" y="6135526"/>
                    <a:pt x="4684346" y="6241471"/>
                  </a:cubicBezTo>
                  <a:cubicBezTo>
                    <a:pt x="4498062" y="6315442"/>
                    <a:pt x="4374615" y="6286490"/>
                    <a:pt x="4203602" y="6246721"/>
                  </a:cubicBezTo>
                  <a:cubicBezTo>
                    <a:pt x="4054861" y="6212042"/>
                    <a:pt x="3869531" y="6168773"/>
                    <a:pt x="3575230" y="6178477"/>
                  </a:cubicBezTo>
                  <a:cubicBezTo>
                    <a:pt x="3231137" y="6189930"/>
                    <a:pt x="2991878" y="6264060"/>
                    <a:pt x="2799549" y="6323714"/>
                  </a:cubicBezTo>
                  <a:cubicBezTo>
                    <a:pt x="2655580" y="6368415"/>
                    <a:pt x="2530542" y="6407070"/>
                    <a:pt x="2400095" y="6407070"/>
                  </a:cubicBezTo>
                  <a:close/>
                  <a:moveTo>
                    <a:pt x="2117725" y="15993"/>
                  </a:moveTo>
                  <a:cubicBezTo>
                    <a:pt x="2073978" y="15993"/>
                    <a:pt x="2028958" y="23152"/>
                    <a:pt x="1980597" y="39537"/>
                  </a:cubicBezTo>
                  <a:cubicBezTo>
                    <a:pt x="1768860" y="111440"/>
                    <a:pt x="1693296" y="292947"/>
                    <a:pt x="1597688" y="522972"/>
                  </a:cubicBezTo>
                  <a:cubicBezTo>
                    <a:pt x="1506375" y="742339"/>
                    <a:pt x="1402972" y="990976"/>
                    <a:pt x="1154328" y="1230705"/>
                  </a:cubicBezTo>
                  <a:cubicBezTo>
                    <a:pt x="925251" y="1451663"/>
                    <a:pt x="702218" y="1539792"/>
                    <a:pt x="505435" y="1617421"/>
                  </a:cubicBezTo>
                  <a:cubicBezTo>
                    <a:pt x="296879" y="1699823"/>
                    <a:pt x="132070" y="1764886"/>
                    <a:pt x="51734" y="1962778"/>
                  </a:cubicBezTo>
                  <a:cubicBezTo>
                    <a:pt x="-29875" y="2163533"/>
                    <a:pt x="44894" y="2329291"/>
                    <a:pt x="139388" y="2539113"/>
                  </a:cubicBezTo>
                  <a:cubicBezTo>
                    <a:pt x="225928" y="2731278"/>
                    <a:pt x="333627" y="2970371"/>
                    <a:pt x="340626" y="3304433"/>
                  </a:cubicBezTo>
                  <a:cubicBezTo>
                    <a:pt x="346671" y="3593476"/>
                    <a:pt x="306424" y="3836863"/>
                    <a:pt x="270789" y="4051617"/>
                  </a:cubicBezTo>
                  <a:cubicBezTo>
                    <a:pt x="222110" y="4345910"/>
                    <a:pt x="183613" y="4578321"/>
                    <a:pt x="276039" y="4808665"/>
                  </a:cubicBezTo>
                  <a:cubicBezTo>
                    <a:pt x="356375" y="5009420"/>
                    <a:pt x="490163" y="5037099"/>
                    <a:pt x="675334" y="5075437"/>
                  </a:cubicBezTo>
                  <a:cubicBezTo>
                    <a:pt x="883094" y="5118388"/>
                    <a:pt x="1141602" y="5171838"/>
                    <a:pt x="1429539" y="5501604"/>
                  </a:cubicBezTo>
                  <a:cubicBezTo>
                    <a:pt x="1567304" y="5658772"/>
                    <a:pt x="1656707" y="5798124"/>
                    <a:pt x="1735612" y="5920931"/>
                  </a:cubicBezTo>
                  <a:cubicBezTo>
                    <a:pt x="1863672" y="6120414"/>
                    <a:pt x="1956099" y="6264697"/>
                    <a:pt x="2169109" y="6346621"/>
                  </a:cubicBezTo>
                  <a:cubicBezTo>
                    <a:pt x="2392936" y="6433000"/>
                    <a:pt x="2561563" y="6380505"/>
                    <a:pt x="2794935" y="6308124"/>
                  </a:cubicBezTo>
                  <a:cubicBezTo>
                    <a:pt x="2988219" y="6248152"/>
                    <a:pt x="3228591" y="6173545"/>
                    <a:pt x="3574912" y="6162251"/>
                  </a:cubicBezTo>
                  <a:cubicBezTo>
                    <a:pt x="3871599" y="6151752"/>
                    <a:pt x="4057884" y="6195816"/>
                    <a:pt x="4207579" y="6230813"/>
                  </a:cubicBezTo>
                  <a:cubicBezTo>
                    <a:pt x="4375728" y="6270105"/>
                    <a:pt x="4497425" y="6298421"/>
                    <a:pt x="4678460" y="6226359"/>
                  </a:cubicBezTo>
                  <a:cubicBezTo>
                    <a:pt x="4940467" y="6122640"/>
                    <a:pt x="5038462" y="5932385"/>
                    <a:pt x="5174317" y="5669271"/>
                  </a:cubicBezTo>
                  <a:cubicBezTo>
                    <a:pt x="5284402" y="5455949"/>
                    <a:pt x="5421371" y="5190291"/>
                    <a:pt x="5692127" y="4888839"/>
                  </a:cubicBezTo>
                  <a:cubicBezTo>
                    <a:pt x="5878253" y="4681403"/>
                    <a:pt x="6033357" y="4562573"/>
                    <a:pt x="6157918" y="4466968"/>
                  </a:cubicBezTo>
                  <a:cubicBezTo>
                    <a:pt x="6321454" y="4341615"/>
                    <a:pt x="6429470" y="4258736"/>
                    <a:pt x="6469400" y="4070229"/>
                  </a:cubicBezTo>
                  <a:cubicBezTo>
                    <a:pt x="6515533" y="3849112"/>
                    <a:pt x="6432493" y="3680650"/>
                    <a:pt x="6336248" y="3485303"/>
                  </a:cubicBezTo>
                  <a:cubicBezTo>
                    <a:pt x="6238890" y="3287571"/>
                    <a:pt x="6128488" y="3063272"/>
                    <a:pt x="6122125" y="2729847"/>
                  </a:cubicBezTo>
                  <a:cubicBezTo>
                    <a:pt x="6118625" y="2543886"/>
                    <a:pt x="6148850" y="2426010"/>
                    <a:pt x="6175735" y="2321974"/>
                  </a:cubicBezTo>
                  <a:cubicBezTo>
                    <a:pt x="6206279" y="2203620"/>
                    <a:pt x="6230300" y="2110083"/>
                    <a:pt x="6184962" y="1965005"/>
                  </a:cubicBezTo>
                  <a:cubicBezTo>
                    <a:pt x="6110671" y="1726071"/>
                    <a:pt x="5947294" y="1628080"/>
                    <a:pt x="5721240" y="1492387"/>
                  </a:cubicBezTo>
                  <a:cubicBezTo>
                    <a:pt x="5556113" y="1393282"/>
                    <a:pt x="5369033" y="1280974"/>
                    <a:pt x="5162227" y="1083559"/>
                  </a:cubicBezTo>
                  <a:cubicBezTo>
                    <a:pt x="4924878" y="857193"/>
                    <a:pt x="4805089" y="649120"/>
                    <a:pt x="4708845" y="482089"/>
                  </a:cubicBezTo>
                  <a:cubicBezTo>
                    <a:pt x="4593829" y="282606"/>
                    <a:pt x="4510947" y="138483"/>
                    <a:pt x="4299687" y="72148"/>
                  </a:cubicBezTo>
                  <a:cubicBezTo>
                    <a:pt x="4095586" y="8517"/>
                    <a:pt x="3941277" y="73738"/>
                    <a:pt x="3762946" y="149141"/>
                  </a:cubicBezTo>
                  <a:cubicBezTo>
                    <a:pt x="3595274" y="219930"/>
                    <a:pt x="3405649" y="300105"/>
                    <a:pt x="3129007" y="300105"/>
                  </a:cubicBezTo>
                  <a:cubicBezTo>
                    <a:pt x="3122643" y="300105"/>
                    <a:pt x="3116280" y="300105"/>
                    <a:pt x="3109758" y="299946"/>
                  </a:cubicBezTo>
                  <a:lnTo>
                    <a:pt x="3109758" y="299946"/>
                  </a:lnTo>
                  <a:cubicBezTo>
                    <a:pt x="2821184" y="296128"/>
                    <a:pt x="2630445" y="205295"/>
                    <a:pt x="2462455" y="125438"/>
                  </a:cubicBezTo>
                  <a:cubicBezTo>
                    <a:pt x="2338690" y="65944"/>
                    <a:pt x="2233537" y="15993"/>
                    <a:pt x="2117725" y="15993"/>
                  </a:cubicBezTo>
                  <a:close/>
                </a:path>
              </a:pathLst>
            </a:custGeom>
            <a:gradFill>
              <a:gsLst>
                <a:gs pos="100000">
                  <a:schemeClr val="accent2"/>
                </a:gs>
                <a:gs pos="0">
                  <a:schemeClr val="accent1"/>
                </a:gs>
              </a:gsLst>
              <a:lin ang="0" scaled="1"/>
            </a:gradFill>
            <a:ln w="1589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1" name="Freeform 20">
              <a:extLst>
                <a:ext uri="{FF2B5EF4-FFF2-40B4-BE49-F238E27FC236}">
                  <a16:creationId xmlns:a16="http://schemas.microsoft.com/office/drawing/2014/main" id="{079D730F-2E62-09A2-A9BD-8B04F7C8A0C7}"/>
                </a:ext>
              </a:extLst>
            </p:cNvPr>
            <p:cNvSpPr/>
            <p:nvPr/>
          </p:nvSpPr>
          <p:spPr>
            <a:xfrm>
              <a:off x="-3194342" y="271238"/>
              <a:ext cx="6382416" cy="6298322"/>
            </a:xfrm>
            <a:custGeom>
              <a:avLst/>
              <a:gdLst>
                <a:gd name="connsiteX0" fmla="*/ 2357892 w 6382416"/>
                <a:gd name="connsiteY0" fmla="*/ 6298323 h 6298322"/>
                <a:gd name="connsiteX1" fmla="*/ 2115929 w 6382416"/>
                <a:gd name="connsiteY1" fmla="*/ 6252032 h 6298322"/>
                <a:gd name="connsiteX2" fmla="*/ 1673046 w 6382416"/>
                <a:gd name="connsiteY2" fmla="*/ 5823955 h 6298322"/>
                <a:gd name="connsiteX3" fmla="*/ 1377313 w 6382416"/>
                <a:gd name="connsiteY3" fmla="*/ 5424513 h 6298322"/>
                <a:gd name="connsiteX4" fmla="*/ 658583 w 6382416"/>
                <a:gd name="connsiteY4" fmla="*/ 5009322 h 6298322"/>
                <a:gd name="connsiteX5" fmla="*/ 251812 w 6382416"/>
                <a:gd name="connsiteY5" fmla="*/ 4727119 h 6298322"/>
                <a:gd name="connsiteX6" fmla="*/ 239722 w 6382416"/>
                <a:gd name="connsiteY6" fmla="*/ 3963391 h 6298322"/>
                <a:gd name="connsiteX7" fmla="*/ 302718 w 6382416"/>
                <a:gd name="connsiteY7" fmla="*/ 3245954 h 6298322"/>
                <a:gd name="connsiteX8" fmla="*/ 116911 w 6382416"/>
                <a:gd name="connsiteY8" fmla="*/ 2509268 h 6298322"/>
                <a:gd name="connsiteX9" fmla="*/ 37052 w 6382416"/>
                <a:gd name="connsiteY9" fmla="*/ 1921161 h 6298322"/>
                <a:gd name="connsiteX10" fmla="*/ 494411 w 6382416"/>
                <a:gd name="connsiteY10" fmla="*/ 1562283 h 6298322"/>
                <a:gd name="connsiteX11" fmla="*/ 1113556 w 6382416"/>
                <a:gd name="connsiteY11" fmla="*/ 1185589 h 6298322"/>
                <a:gd name="connsiteX12" fmla="*/ 1545303 w 6382416"/>
                <a:gd name="connsiteY12" fmla="*/ 510784 h 6298322"/>
                <a:gd name="connsiteX13" fmla="*/ 1943643 w 6382416"/>
                <a:gd name="connsiteY13" fmla="*/ 24486 h 6298322"/>
                <a:gd name="connsiteX14" fmla="*/ 2436478 w 6382416"/>
                <a:gd name="connsiteY14" fmla="*/ 104024 h 6298322"/>
                <a:gd name="connsiteX15" fmla="*/ 3059123 w 6382416"/>
                <a:gd name="connsiteY15" fmla="*/ 265487 h 6298322"/>
                <a:gd name="connsiteX16" fmla="*/ 3077576 w 6382416"/>
                <a:gd name="connsiteY16" fmla="*/ 265646 h 6298322"/>
                <a:gd name="connsiteX17" fmla="*/ 3689563 w 6382416"/>
                <a:gd name="connsiteY17" fmla="*/ 127090 h 6298322"/>
                <a:gd name="connsiteX18" fmla="*/ 4237598 w 6382416"/>
                <a:gd name="connsiteY18" fmla="*/ 57733 h 6298322"/>
                <a:gd name="connsiteX19" fmla="*/ 4662346 w 6382416"/>
                <a:gd name="connsiteY19" fmla="*/ 475310 h 6298322"/>
                <a:gd name="connsiteX20" fmla="*/ 5101888 w 6382416"/>
                <a:gd name="connsiteY20" fmla="*/ 1051487 h 6298322"/>
                <a:gd name="connsiteX21" fmla="*/ 5633538 w 6382416"/>
                <a:gd name="connsiteY21" fmla="*/ 1448543 h 6298322"/>
                <a:gd name="connsiteX22" fmla="*/ 6101716 w 6382416"/>
                <a:gd name="connsiteY22" fmla="*/ 1938818 h 6298322"/>
                <a:gd name="connsiteX23" fmla="*/ 6095034 w 6382416"/>
                <a:gd name="connsiteY23" fmla="*/ 2304854 h 6298322"/>
                <a:gd name="connsiteX24" fmla="*/ 6045878 w 6382416"/>
                <a:gd name="connsiteY24" fmla="*/ 2697774 h 6298322"/>
                <a:gd name="connsiteX25" fmla="*/ 6243775 w 6382416"/>
                <a:gd name="connsiteY25" fmla="*/ 3426188 h 6298322"/>
                <a:gd name="connsiteX26" fmla="*/ 6367700 w 6382416"/>
                <a:gd name="connsiteY26" fmla="*/ 4019068 h 6298322"/>
                <a:gd name="connsiteX27" fmla="*/ 6050014 w 6382416"/>
                <a:gd name="connsiteY27" fmla="*/ 4428214 h 6298322"/>
                <a:gd name="connsiteX28" fmla="*/ 5604904 w 6382416"/>
                <a:gd name="connsiteY28" fmla="*/ 4834656 h 6298322"/>
                <a:gd name="connsiteX29" fmla="*/ 5102525 w 6382416"/>
                <a:gd name="connsiteY29" fmla="*/ 5579136 h 6298322"/>
                <a:gd name="connsiteX30" fmla="*/ 4591077 w 6382416"/>
                <a:gd name="connsiteY30" fmla="*/ 6140200 h 6298322"/>
                <a:gd name="connsiteX31" fmla="*/ 4110492 w 6382416"/>
                <a:gd name="connsiteY31" fmla="*/ 6148313 h 6298322"/>
                <a:gd name="connsiteX32" fmla="*/ 3501847 w 6382416"/>
                <a:gd name="connsiteY32" fmla="*/ 6085637 h 6298322"/>
                <a:gd name="connsiteX33" fmla="*/ 2751618 w 6382416"/>
                <a:gd name="connsiteY33" fmla="*/ 6219898 h 6298322"/>
                <a:gd name="connsiteX34" fmla="*/ 2357892 w 6382416"/>
                <a:gd name="connsiteY34" fmla="*/ 6298323 h 6298322"/>
                <a:gd name="connsiteX35" fmla="*/ 2088726 w 6382416"/>
                <a:gd name="connsiteY35" fmla="*/ 19554 h 6298322"/>
                <a:gd name="connsiteX36" fmla="*/ 1950007 w 6382416"/>
                <a:gd name="connsiteY36" fmla="*/ 43257 h 6298322"/>
                <a:gd name="connsiteX37" fmla="*/ 1563439 w 6382416"/>
                <a:gd name="connsiteY37" fmla="*/ 518738 h 6298322"/>
                <a:gd name="connsiteX38" fmla="*/ 1127396 w 6382416"/>
                <a:gd name="connsiteY38" fmla="*/ 1199906 h 6298322"/>
                <a:gd name="connsiteX39" fmla="*/ 502206 w 6382416"/>
                <a:gd name="connsiteY39" fmla="*/ 1580577 h 6298322"/>
                <a:gd name="connsiteX40" fmla="*/ 55505 w 6382416"/>
                <a:gd name="connsiteY40" fmla="*/ 1928796 h 6298322"/>
                <a:gd name="connsiteX41" fmla="*/ 135205 w 6382416"/>
                <a:gd name="connsiteY41" fmla="*/ 2501632 h 6298322"/>
                <a:gd name="connsiteX42" fmla="*/ 322603 w 6382416"/>
                <a:gd name="connsiteY42" fmla="*/ 3245636 h 6298322"/>
                <a:gd name="connsiteX43" fmla="*/ 259448 w 6382416"/>
                <a:gd name="connsiteY43" fmla="*/ 3966413 h 6298322"/>
                <a:gd name="connsiteX44" fmla="*/ 270265 w 6382416"/>
                <a:gd name="connsiteY44" fmla="*/ 4719643 h 6298322"/>
                <a:gd name="connsiteX45" fmla="*/ 663196 w 6382416"/>
                <a:gd name="connsiteY45" fmla="*/ 4989915 h 6298322"/>
                <a:gd name="connsiteX46" fmla="*/ 1392267 w 6382416"/>
                <a:gd name="connsiteY46" fmla="*/ 5411469 h 6298322"/>
                <a:gd name="connsiteX47" fmla="*/ 1689749 w 6382416"/>
                <a:gd name="connsiteY47" fmla="*/ 5812979 h 6298322"/>
                <a:gd name="connsiteX48" fmla="*/ 2123405 w 6382416"/>
                <a:gd name="connsiteY48" fmla="*/ 6233579 h 6298322"/>
                <a:gd name="connsiteX49" fmla="*/ 2746687 w 6382416"/>
                <a:gd name="connsiteY49" fmla="*/ 6201286 h 6298322"/>
                <a:gd name="connsiteX50" fmla="*/ 3501688 w 6382416"/>
                <a:gd name="connsiteY50" fmla="*/ 6066230 h 6298322"/>
                <a:gd name="connsiteX51" fmla="*/ 4115265 w 6382416"/>
                <a:gd name="connsiteY51" fmla="*/ 6129224 h 6298322"/>
                <a:gd name="connsiteX52" fmla="*/ 4584396 w 6382416"/>
                <a:gd name="connsiteY52" fmla="*/ 6122065 h 6298322"/>
                <a:gd name="connsiteX53" fmla="*/ 5085662 w 6382416"/>
                <a:gd name="connsiteY53" fmla="*/ 5570069 h 6298322"/>
                <a:gd name="connsiteX54" fmla="*/ 5590746 w 6382416"/>
                <a:gd name="connsiteY54" fmla="*/ 4821770 h 6298322"/>
                <a:gd name="connsiteX55" fmla="*/ 6038401 w 6382416"/>
                <a:gd name="connsiteY55" fmla="*/ 4412942 h 6298322"/>
                <a:gd name="connsiteX56" fmla="*/ 6348928 w 6382416"/>
                <a:gd name="connsiteY56" fmla="*/ 4015091 h 6298322"/>
                <a:gd name="connsiteX57" fmla="*/ 6226435 w 6382416"/>
                <a:gd name="connsiteY57" fmla="*/ 3434778 h 6298322"/>
                <a:gd name="connsiteX58" fmla="*/ 6026629 w 6382416"/>
                <a:gd name="connsiteY58" fmla="*/ 2698411 h 6298322"/>
                <a:gd name="connsiteX59" fmla="*/ 6076262 w 6382416"/>
                <a:gd name="connsiteY59" fmla="*/ 2300559 h 6298322"/>
                <a:gd name="connsiteX60" fmla="*/ 6083262 w 6382416"/>
                <a:gd name="connsiteY60" fmla="*/ 1945022 h 6298322"/>
                <a:gd name="connsiteX61" fmla="*/ 5623357 w 6382416"/>
                <a:gd name="connsiteY61" fmla="*/ 1465723 h 6298322"/>
                <a:gd name="connsiteX62" fmla="*/ 5088525 w 6382416"/>
                <a:gd name="connsiteY62" fmla="*/ 1066122 h 6298322"/>
                <a:gd name="connsiteX63" fmla="*/ 4645643 w 6382416"/>
                <a:gd name="connsiteY63" fmla="*/ 485809 h 6298322"/>
                <a:gd name="connsiteX64" fmla="*/ 4231872 w 6382416"/>
                <a:gd name="connsiteY64" fmla="*/ 76981 h 6298322"/>
                <a:gd name="connsiteX65" fmla="*/ 3697040 w 6382416"/>
                <a:gd name="connsiteY65" fmla="*/ 145861 h 6298322"/>
                <a:gd name="connsiteX66" fmla="*/ 3077894 w 6382416"/>
                <a:gd name="connsiteY66" fmla="*/ 285849 h 6298322"/>
                <a:gd name="connsiteX67" fmla="*/ 3059123 w 6382416"/>
                <a:gd name="connsiteY67" fmla="*/ 285690 h 6298322"/>
                <a:gd name="connsiteX68" fmla="*/ 3059123 w 6382416"/>
                <a:gd name="connsiteY68" fmla="*/ 285690 h 6298322"/>
                <a:gd name="connsiteX69" fmla="*/ 2428683 w 6382416"/>
                <a:gd name="connsiteY69" fmla="*/ 122477 h 6298322"/>
                <a:gd name="connsiteX70" fmla="*/ 2088726 w 6382416"/>
                <a:gd name="connsiteY70" fmla="*/ 19554 h 6298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382416" h="6298322">
                  <a:moveTo>
                    <a:pt x="2357892" y="6298323"/>
                  </a:moveTo>
                  <a:cubicBezTo>
                    <a:pt x="2280578" y="6298323"/>
                    <a:pt x="2201674" y="6285119"/>
                    <a:pt x="2115929" y="6252032"/>
                  </a:cubicBezTo>
                  <a:cubicBezTo>
                    <a:pt x="1899419" y="6168357"/>
                    <a:pt x="1804447" y="6023756"/>
                    <a:pt x="1673046" y="5823955"/>
                  </a:cubicBezTo>
                  <a:cubicBezTo>
                    <a:pt x="1595891" y="5706556"/>
                    <a:pt x="1508555" y="5573727"/>
                    <a:pt x="1377313" y="5424513"/>
                  </a:cubicBezTo>
                  <a:cubicBezTo>
                    <a:pt x="1103534" y="5112245"/>
                    <a:pt x="856799" y="5055136"/>
                    <a:pt x="658583" y="5009322"/>
                  </a:cubicBezTo>
                  <a:cubicBezTo>
                    <a:pt x="477867" y="4967485"/>
                    <a:pt x="335170" y="4934556"/>
                    <a:pt x="251812" y="4727119"/>
                  </a:cubicBezTo>
                  <a:cubicBezTo>
                    <a:pt x="157476" y="4493117"/>
                    <a:pt x="195656" y="4247662"/>
                    <a:pt x="239722" y="3963391"/>
                  </a:cubicBezTo>
                  <a:cubicBezTo>
                    <a:pt x="271856" y="3756272"/>
                    <a:pt x="308286" y="3521634"/>
                    <a:pt x="302718" y="3245954"/>
                  </a:cubicBezTo>
                  <a:cubicBezTo>
                    <a:pt x="296195" y="2927482"/>
                    <a:pt x="200906" y="2705410"/>
                    <a:pt x="116911" y="2509268"/>
                  </a:cubicBezTo>
                  <a:cubicBezTo>
                    <a:pt x="25439" y="2295946"/>
                    <a:pt x="-46784" y="2127324"/>
                    <a:pt x="37052" y="1921161"/>
                  </a:cubicBezTo>
                  <a:cubicBezTo>
                    <a:pt x="119933" y="1717542"/>
                    <a:pt x="285219" y="1648980"/>
                    <a:pt x="494411" y="1562283"/>
                  </a:cubicBezTo>
                  <a:cubicBezTo>
                    <a:pt x="682445" y="1484335"/>
                    <a:pt x="895455" y="1395888"/>
                    <a:pt x="1113556" y="1185589"/>
                  </a:cubicBezTo>
                  <a:cubicBezTo>
                    <a:pt x="1350269" y="957313"/>
                    <a:pt x="1453831" y="720129"/>
                    <a:pt x="1545303" y="510784"/>
                  </a:cubicBezTo>
                  <a:cubicBezTo>
                    <a:pt x="1645843" y="280441"/>
                    <a:pt x="1725224" y="98616"/>
                    <a:pt x="1943643" y="24486"/>
                  </a:cubicBezTo>
                  <a:cubicBezTo>
                    <a:pt x="2125473" y="-37236"/>
                    <a:pt x="2269442" y="28304"/>
                    <a:pt x="2436478" y="104024"/>
                  </a:cubicBezTo>
                  <a:cubicBezTo>
                    <a:pt x="2599536" y="177995"/>
                    <a:pt x="2784389" y="261828"/>
                    <a:pt x="3059123" y="265487"/>
                  </a:cubicBezTo>
                  <a:cubicBezTo>
                    <a:pt x="3065327" y="265646"/>
                    <a:pt x="3071531" y="265646"/>
                    <a:pt x="3077576" y="265646"/>
                  </a:cubicBezTo>
                  <a:cubicBezTo>
                    <a:pt x="3341811" y="265646"/>
                    <a:pt x="3526345" y="192153"/>
                    <a:pt x="3689563" y="127090"/>
                  </a:cubicBezTo>
                  <a:cubicBezTo>
                    <a:pt x="3871711" y="54551"/>
                    <a:pt x="4029043" y="-8125"/>
                    <a:pt x="4237598" y="57733"/>
                  </a:cubicBezTo>
                  <a:cubicBezTo>
                    <a:pt x="4455381" y="126931"/>
                    <a:pt x="4542240" y="273123"/>
                    <a:pt x="4662346" y="475310"/>
                  </a:cubicBezTo>
                  <a:cubicBezTo>
                    <a:pt x="4757795" y="635819"/>
                    <a:pt x="4876470" y="835619"/>
                    <a:pt x="5101888" y="1051487"/>
                  </a:cubicBezTo>
                  <a:cubicBezTo>
                    <a:pt x="5297877" y="1239357"/>
                    <a:pt x="5476207" y="1350551"/>
                    <a:pt x="5633538" y="1448543"/>
                  </a:cubicBezTo>
                  <a:cubicBezTo>
                    <a:pt x="5852594" y="1585031"/>
                    <a:pt x="6025675" y="1693044"/>
                    <a:pt x="6101716" y="1938818"/>
                  </a:cubicBezTo>
                  <a:cubicBezTo>
                    <a:pt x="6147849" y="2087396"/>
                    <a:pt x="6124623" y="2183319"/>
                    <a:pt x="6095034" y="2304854"/>
                  </a:cubicBezTo>
                  <a:cubicBezTo>
                    <a:pt x="6070535" y="2406027"/>
                    <a:pt x="6042537" y="2520563"/>
                    <a:pt x="6045878" y="2697774"/>
                  </a:cubicBezTo>
                  <a:cubicBezTo>
                    <a:pt x="6051764" y="3016087"/>
                    <a:pt x="6153735" y="3233864"/>
                    <a:pt x="6243775" y="3426188"/>
                  </a:cubicBezTo>
                  <a:cubicBezTo>
                    <a:pt x="6336361" y="3623921"/>
                    <a:pt x="6416379" y="3794610"/>
                    <a:pt x="6367700" y="4019068"/>
                  </a:cubicBezTo>
                  <a:cubicBezTo>
                    <a:pt x="6325702" y="4212983"/>
                    <a:pt x="6215936" y="4298566"/>
                    <a:pt x="6050014" y="4428214"/>
                  </a:cubicBezTo>
                  <a:cubicBezTo>
                    <a:pt x="5930384" y="4521592"/>
                    <a:pt x="5781802" y="4637718"/>
                    <a:pt x="5604904" y="4834656"/>
                  </a:cubicBezTo>
                  <a:cubicBezTo>
                    <a:pt x="5347669" y="5121153"/>
                    <a:pt x="5211654" y="5375199"/>
                    <a:pt x="5102525" y="5579136"/>
                  </a:cubicBezTo>
                  <a:cubicBezTo>
                    <a:pt x="4961101" y="5843681"/>
                    <a:pt x="4858812" y="6034732"/>
                    <a:pt x="4591077" y="6140200"/>
                  </a:cubicBezTo>
                  <a:cubicBezTo>
                    <a:pt x="4406066" y="6213376"/>
                    <a:pt x="4282141" y="6186015"/>
                    <a:pt x="4110492" y="6148313"/>
                  </a:cubicBezTo>
                  <a:cubicBezTo>
                    <a:pt x="3965092" y="6116339"/>
                    <a:pt x="3784216" y="6076728"/>
                    <a:pt x="3501847" y="6085637"/>
                  </a:cubicBezTo>
                  <a:cubicBezTo>
                    <a:pt x="3172071" y="6096295"/>
                    <a:pt x="2939016" y="6164857"/>
                    <a:pt x="2751618" y="6219898"/>
                  </a:cubicBezTo>
                  <a:cubicBezTo>
                    <a:pt x="2609718" y="6262053"/>
                    <a:pt x="2486111" y="6298323"/>
                    <a:pt x="2357892" y="6298323"/>
                  </a:cubicBezTo>
                  <a:close/>
                  <a:moveTo>
                    <a:pt x="2088726" y="19554"/>
                  </a:moveTo>
                  <a:cubicBezTo>
                    <a:pt x="2044501" y="19554"/>
                    <a:pt x="1998845" y="26713"/>
                    <a:pt x="1950007" y="43257"/>
                  </a:cubicBezTo>
                  <a:cubicBezTo>
                    <a:pt x="1740019" y="114682"/>
                    <a:pt x="1662069" y="293008"/>
                    <a:pt x="1563439" y="518738"/>
                  </a:cubicBezTo>
                  <a:cubicBezTo>
                    <a:pt x="1471330" y="729833"/>
                    <a:pt x="1366814" y="968926"/>
                    <a:pt x="1127396" y="1199906"/>
                  </a:cubicBezTo>
                  <a:cubicBezTo>
                    <a:pt x="906591" y="1412910"/>
                    <a:pt x="691672" y="1501993"/>
                    <a:pt x="502206" y="1580577"/>
                  </a:cubicBezTo>
                  <a:cubicBezTo>
                    <a:pt x="297150" y="1665683"/>
                    <a:pt x="135205" y="1732813"/>
                    <a:pt x="55505" y="1928796"/>
                  </a:cubicBezTo>
                  <a:cubicBezTo>
                    <a:pt x="-25308" y="2127324"/>
                    <a:pt x="45483" y="2292446"/>
                    <a:pt x="135205" y="2501632"/>
                  </a:cubicBezTo>
                  <a:cubicBezTo>
                    <a:pt x="219995" y="2699365"/>
                    <a:pt x="316081" y="2923346"/>
                    <a:pt x="322603" y="3245636"/>
                  </a:cubicBezTo>
                  <a:cubicBezTo>
                    <a:pt x="328330" y="3523066"/>
                    <a:pt x="291582" y="3758659"/>
                    <a:pt x="259448" y="3966413"/>
                  </a:cubicBezTo>
                  <a:cubicBezTo>
                    <a:pt x="213950" y="4259433"/>
                    <a:pt x="177998" y="4490731"/>
                    <a:pt x="270265" y="4719643"/>
                  </a:cubicBezTo>
                  <a:cubicBezTo>
                    <a:pt x="349806" y="4917376"/>
                    <a:pt x="481207" y="4947918"/>
                    <a:pt x="663196" y="4989915"/>
                  </a:cubicBezTo>
                  <a:cubicBezTo>
                    <a:pt x="864275" y="5036524"/>
                    <a:pt x="1114352" y="5094269"/>
                    <a:pt x="1392267" y="5411469"/>
                  </a:cubicBezTo>
                  <a:cubicBezTo>
                    <a:pt x="1524464" y="5561478"/>
                    <a:pt x="1612277" y="5695103"/>
                    <a:pt x="1689749" y="5812979"/>
                  </a:cubicBezTo>
                  <a:cubicBezTo>
                    <a:pt x="1819083" y="6009916"/>
                    <a:pt x="1912622" y="6152131"/>
                    <a:pt x="2123405" y="6233579"/>
                  </a:cubicBezTo>
                  <a:cubicBezTo>
                    <a:pt x="2345006" y="6319321"/>
                    <a:pt x="2513473" y="6269689"/>
                    <a:pt x="2746687" y="6201286"/>
                  </a:cubicBezTo>
                  <a:cubicBezTo>
                    <a:pt x="2935039" y="6145927"/>
                    <a:pt x="3169525" y="6076888"/>
                    <a:pt x="3501688" y="6066230"/>
                  </a:cubicBezTo>
                  <a:cubicBezTo>
                    <a:pt x="3786761" y="6057003"/>
                    <a:pt x="3968751" y="6097090"/>
                    <a:pt x="4115265" y="6129224"/>
                  </a:cubicBezTo>
                  <a:cubicBezTo>
                    <a:pt x="4283255" y="6166130"/>
                    <a:pt x="4404952" y="6193014"/>
                    <a:pt x="4584396" y="6122065"/>
                  </a:cubicBezTo>
                  <a:cubicBezTo>
                    <a:pt x="4845449" y="6019302"/>
                    <a:pt x="4946147" y="5830796"/>
                    <a:pt x="5085662" y="5570069"/>
                  </a:cubicBezTo>
                  <a:cubicBezTo>
                    <a:pt x="5195269" y="5365177"/>
                    <a:pt x="5331761" y="5110018"/>
                    <a:pt x="5590746" y="4821770"/>
                  </a:cubicBezTo>
                  <a:cubicBezTo>
                    <a:pt x="5768758" y="4623561"/>
                    <a:pt x="5918295" y="4506639"/>
                    <a:pt x="6038401" y="4412942"/>
                  </a:cubicBezTo>
                  <a:cubicBezTo>
                    <a:pt x="6200982" y="4285999"/>
                    <a:pt x="6308362" y="4202165"/>
                    <a:pt x="6348928" y="4015091"/>
                  </a:cubicBezTo>
                  <a:cubicBezTo>
                    <a:pt x="6396175" y="3797155"/>
                    <a:pt x="6317589" y="3629170"/>
                    <a:pt x="6226435" y="3434778"/>
                  </a:cubicBezTo>
                  <a:cubicBezTo>
                    <a:pt x="6135600" y="3240704"/>
                    <a:pt x="6032515" y="3020860"/>
                    <a:pt x="6026629" y="2698411"/>
                  </a:cubicBezTo>
                  <a:cubicBezTo>
                    <a:pt x="6023288" y="2518813"/>
                    <a:pt x="6051446" y="2402846"/>
                    <a:pt x="6076262" y="2300559"/>
                  </a:cubicBezTo>
                  <a:cubicBezTo>
                    <a:pt x="6105056" y="2182047"/>
                    <a:pt x="6127805" y="2088350"/>
                    <a:pt x="6083262" y="1945022"/>
                  </a:cubicBezTo>
                  <a:cubicBezTo>
                    <a:pt x="6009448" y="1706088"/>
                    <a:pt x="5847503" y="1605234"/>
                    <a:pt x="5623357" y="1465723"/>
                  </a:cubicBezTo>
                  <a:cubicBezTo>
                    <a:pt x="5465230" y="1367095"/>
                    <a:pt x="5285786" y="1255264"/>
                    <a:pt x="5088525" y="1066122"/>
                  </a:cubicBezTo>
                  <a:cubicBezTo>
                    <a:pt x="4861198" y="848345"/>
                    <a:pt x="4741728" y="647272"/>
                    <a:pt x="4645643" y="485809"/>
                  </a:cubicBezTo>
                  <a:cubicBezTo>
                    <a:pt x="4527604" y="287281"/>
                    <a:pt x="4442337" y="143952"/>
                    <a:pt x="4231872" y="76981"/>
                  </a:cubicBezTo>
                  <a:cubicBezTo>
                    <a:pt x="4029838" y="13191"/>
                    <a:pt x="3875529" y="74595"/>
                    <a:pt x="3697040" y="145861"/>
                  </a:cubicBezTo>
                  <a:cubicBezTo>
                    <a:pt x="3532231" y="211560"/>
                    <a:pt x="3345788" y="285849"/>
                    <a:pt x="3077894" y="285849"/>
                  </a:cubicBezTo>
                  <a:cubicBezTo>
                    <a:pt x="3071690" y="285849"/>
                    <a:pt x="3065327" y="285849"/>
                    <a:pt x="3059123" y="285690"/>
                  </a:cubicBezTo>
                  <a:lnTo>
                    <a:pt x="3059123" y="285690"/>
                  </a:lnTo>
                  <a:cubicBezTo>
                    <a:pt x="2780253" y="282031"/>
                    <a:pt x="2593332" y="197243"/>
                    <a:pt x="2428683" y="122477"/>
                  </a:cubicBezTo>
                  <a:cubicBezTo>
                    <a:pt x="2306031" y="66641"/>
                    <a:pt x="2202310" y="19554"/>
                    <a:pt x="2088726" y="19554"/>
                  </a:cubicBezTo>
                  <a:close/>
                </a:path>
              </a:pathLst>
            </a:custGeom>
            <a:gradFill>
              <a:gsLst>
                <a:gs pos="100000">
                  <a:schemeClr val="accent2"/>
                </a:gs>
                <a:gs pos="0">
                  <a:schemeClr val="accent1"/>
                </a:gs>
              </a:gsLst>
              <a:lin ang="0" scaled="1"/>
            </a:gradFill>
            <a:ln w="1589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2" name="Freeform 21">
              <a:extLst>
                <a:ext uri="{FF2B5EF4-FFF2-40B4-BE49-F238E27FC236}">
                  <a16:creationId xmlns:a16="http://schemas.microsoft.com/office/drawing/2014/main" id="{A31B30C7-38E8-F584-7764-9463E8427FC3}"/>
                </a:ext>
              </a:extLst>
            </p:cNvPr>
            <p:cNvSpPr/>
            <p:nvPr/>
          </p:nvSpPr>
          <p:spPr>
            <a:xfrm>
              <a:off x="-3136704" y="325497"/>
              <a:ext cx="6266516" cy="6189340"/>
            </a:xfrm>
            <a:custGeom>
              <a:avLst/>
              <a:gdLst>
                <a:gd name="connsiteX0" fmla="*/ 2316480 w 6266516"/>
                <a:gd name="connsiteY0" fmla="*/ 6189341 h 6189340"/>
                <a:gd name="connsiteX1" fmla="*/ 2069108 w 6266516"/>
                <a:gd name="connsiteY1" fmla="*/ 6141936 h 6189340"/>
                <a:gd name="connsiteX2" fmla="*/ 1624475 w 6266516"/>
                <a:gd name="connsiteY2" fmla="*/ 5717678 h 6189340"/>
                <a:gd name="connsiteX3" fmla="*/ 1337811 w 6266516"/>
                <a:gd name="connsiteY3" fmla="*/ 5336529 h 6189340"/>
                <a:gd name="connsiteX4" fmla="*/ 645488 w 6266516"/>
                <a:gd name="connsiteY4" fmla="*/ 4927383 h 6189340"/>
                <a:gd name="connsiteX5" fmla="*/ 243012 w 6266516"/>
                <a:gd name="connsiteY5" fmla="*/ 4639454 h 6189340"/>
                <a:gd name="connsiteX6" fmla="*/ 225036 w 6266516"/>
                <a:gd name="connsiteY6" fmla="*/ 3877475 h 6189340"/>
                <a:gd name="connsiteX7" fmla="*/ 281510 w 6266516"/>
                <a:gd name="connsiteY7" fmla="*/ 3187240 h 6189340"/>
                <a:gd name="connsiteX8" fmla="*/ 109542 w 6266516"/>
                <a:gd name="connsiteY8" fmla="*/ 2473143 h 6189340"/>
                <a:gd name="connsiteX9" fmla="*/ 37956 w 6266516"/>
                <a:gd name="connsiteY9" fmla="*/ 1885990 h 6189340"/>
                <a:gd name="connsiteX10" fmla="*/ 489906 w 6266516"/>
                <a:gd name="connsiteY10" fmla="*/ 1522340 h 6189340"/>
                <a:gd name="connsiteX11" fmla="*/ 1084553 w 6266516"/>
                <a:gd name="connsiteY11" fmla="*/ 1152486 h 6189340"/>
                <a:gd name="connsiteX12" fmla="*/ 1508187 w 6266516"/>
                <a:gd name="connsiteY12" fmla="*/ 505202 h 6189340"/>
                <a:gd name="connsiteX13" fmla="*/ 1912254 w 6266516"/>
                <a:gd name="connsiteY13" fmla="*/ 24949 h 6189340"/>
                <a:gd name="connsiteX14" fmla="*/ 2403816 w 6266516"/>
                <a:gd name="connsiteY14" fmla="*/ 97647 h 6189340"/>
                <a:gd name="connsiteX15" fmla="*/ 3008325 w 6266516"/>
                <a:gd name="connsiteY15" fmla="*/ 247497 h 6189340"/>
                <a:gd name="connsiteX16" fmla="*/ 3622539 w 6266516"/>
                <a:gd name="connsiteY16" fmla="*/ 120077 h 6189340"/>
                <a:gd name="connsiteX17" fmla="*/ 4170893 w 6266516"/>
                <a:gd name="connsiteY17" fmla="*/ 58991 h 6189340"/>
                <a:gd name="connsiteX18" fmla="*/ 4602322 w 6266516"/>
                <a:gd name="connsiteY18" fmla="*/ 477045 h 6189340"/>
                <a:gd name="connsiteX19" fmla="*/ 5030569 w 6266516"/>
                <a:gd name="connsiteY19" fmla="*/ 1031429 h 6189340"/>
                <a:gd name="connsiteX20" fmla="*/ 5537721 w 6266516"/>
                <a:gd name="connsiteY20" fmla="*/ 1418463 h 6189340"/>
                <a:gd name="connsiteX21" fmla="*/ 6003512 w 6266516"/>
                <a:gd name="connsiteY21" fmla="*/ 1917806 h 6189340"/>
                <a:gd name="connsiteX22" fmla="*/ 5999216 w 6266516"/>
                <a:gd name="connsiteY22" fmla="*/ 2284001 h 6189340"/>
                <a:gd name="connsiteX23" fmla="*/ 5953878 w 6266516"/>
                <a:gd name="connsiteY23" fmla="*/ 2666263 h 6189340"/>
                <a:gd name="connsiteX24" fmla="*/ 6137299 w 6266516"/>
                <a:gd name="connsiteY24" fmla="*/ 3374315 h 6189340"/>
                <a:gd name="connsiteX25" fmla="*/ 6250565 w 6266516"/>
                <a:gd name="connsiteY25" fmla="*/ 3964649 h 6189340"/>
                <a:gd name="connsiteX26" fmla="*/ 5932561 w 6266516"/>
                <a:gd name="connsiteY26" fmla="*/ 4376659 h 6189340"/>
                <a:gd name="connsiteX27" fmla="*/ 5506064 w 6266516"/>
                <a:gd name="connsiteY27" fmla="*/ 4769738 h 6189340"/>
                <a:gd name="connsiteX28" fmla="*/ 5017366 w 6266516"/>
                <a:gd name="connsiteY28" fmla="*/ 5481448 h 6189340"/>
                <a:gd name="connsiteX29" fmla="*/ 4498442 w 6266516"/>
                <a:gd name="connsiteY29" fmla="*/ 6039013 h 6189340"/>
                <a:gd name="connsiteX30" fmla="*/ 4017857 w 6266516"/>
                <a:gd name="connsiteY30" fmla="*/ 6049989 h 6189340"/>
                <a:gd name="connsiteX31" fmla="*/ 3429096 w 6266516"/>
                <a:gd name="connsiteY31" fmla="*/ 5992881 h 6189340"/>
                <a:gd name="connsiteX32" fmla="*/ 2704798 w 6266516"/>
                <a:gd name="connsiteY32" fmla="*/ 6116325 h 6189340"/>
                <a:gd name="connsiteX33" fmla="*/ 2316480 w 6266516"/>
                <a:gd name="connsiteY33" fmla="*/ 6189341 h 6189340"/>
                <a:gd name="connsiteX34" fmla="*/ 2060359 w 6266516"/>
                <a:gd name="connsiteY34" fmla="*/ 22563 h 6189340"/>
                <a:gd name="connsiteX35" fmla="*/ 1919572 w 6266516"/>
                <a:gd name="connsiteY35" fmla="*/ 46583 h 6189340"/>
                <a:gd name="connsiteX36" fmla="*/ 1529027 w 6266516"/>
                <a:gd name="connsiteY36" fmla="*/ 514588 h 6189340"/>
                <a:gd name="connsiteX37" fmla="*/ 1100461 w 6266516"/>
                <a:gd name="connsiteY37" fmla="*/ 1169030 h 6189340"/>
                <a:gd name="connsiteX38" fmla="*/ 499133 w 6266516"/>
                <a:gd name="connsiteY38" fmla="*/ 1543339 h 6189340"/>
                <a:gd name="connsiteX39" fmla="*/ 59273 w 6266516"/>
                <a:gd name="connsiteY39" fmla="*/ 1894580 h 6189340"/>
                <a:gd name="connsiteX40" fmla="*/ 130859 w 6266516"/>
                <a:gd name="connsiteY40" fmla="*/ 2464394 h 6189340"/>
                <a:gd name="connsiteX41" fmla="*/ 304576 w 6266516"/>
                <a:gd name="connsiteY41" fmla="*/ 3186604 h 6189340"/>
                <a:gd name="connsiteX42" fmla="*/ 247784 w 6266516"/>
                <a:gd name="connsiteY42" fmla="*/ 3880657 h 6189340"/>
                <a:gd name="connsiteX43" fmla="*/ 264488 w 6266516"/>
                <a:gd name="connsiteY43" fmla="*/ 4630705 h 6189340"/>
                <a:gd name="connsiteX44" fmla="*/ 651374 w 6266516"/>
                <a:gd name="connsiteY44" fmla="*/ 4904953 h 6189340"/>
                <a:gd name="connsiteX45" fmla="*/ 1355151 w 6266516"/>
                <a:gd name="connsiteY45" fmla="*/ 5321258 h 6189340"/>
                <a:gd name="connsiteX46" fmla="*/ 1643724 w 6266516"/>
                <a:gd name="connsiteY46" fmla="*/ 5704792 h 6189340"/>
                <a:gd name="connsiteX47" fmla="*/ 2077539 w 6266516"/>
                <a:gd name="connsiteY47" fmla="*/ 6120460 h 6189340"/>
                <a:gd name="connsiteX48" fmla="*/ 2698912 w 6266516"/>
                <a:gd name="connsiteY48" fmla="*/ 6094372 h 6189340"/>
                <a:gd name="connsiteX49" fmla="*/ 3428619 w 6266516"/>
                <a:gd name="connsiteY49" fmla="*/ 5970133 h 6189340"/>
                <a:gd name="connsiteX50" fmla="*/ 4022788 w 6266516"/>
                <a:gd name="connsiteY50" fmla="*/ 6027719 h 6189340"/>
                <a:gd name="connsiteX51" fmla="*/ 4490329 w 6266516"/>
                <a:gd name="connsiteY51" fmla="*/ 6017856 h 6189340"/>
                <a:gd name="connsiteX52" fmla="*/ 4997480 w 6266516"/>
                <a:gd name="connsiteY52" fmla="*/ 5470631 h 6189340"/>
                <a:gd name="connsiteX53" fmla="*/ 5489201 w 6266516"/>
                <a:gd name="connsiteY53" fmla="*/ 4754626 h 6189340"/>
                <a:gd name="connsiteX54" fmla="*/ 5918562 w 6266516"/>
                <a:gd name="connsiteY54" fmla="*/ 4358842 h 6189340"/>
                <a:gd name="connsiteX55" fmla="*/ 6228453 w 6266516"/>
                <a:gd name="connsiteY55" fmla="*/ 3959718 h 6189340"/>
                <a:gd name="connsiteX56" fmla="*/ 6116459 w 6266516"/>
                <a:gd name="connsiteY56" fmla="*/ 3383700 h 6189340"/>
                <a:gd name="connsiteX57" fmla="*/ 5931130 w 6266516"/>
                <a:gd name="connsiteY57" fmla="*/ 2666740 h 6189340"/>
                <a:gd name="connsiteX58" fmla="*/ 5976945 w 6266516"/>
                <a:gd name="connsiteY58" fmla="*/ 2279069 h 6189340"/>
                <a:gd name="connsiteX59" fmla="*/ 5981558 w 6266516"/>
                <a:gd name="connsiteY59" fmla="*/ 1924646 h 6189340"/>
                <a:gd name="connsiteX60" fmla="*/ 5525313 w 6266516"/>
                <a:gd name="connsiteY60" fmla="*/ 1437870 h 6189340"/>
                <a:gd name="connsiteX61" fmla="*/ 5014661 w 6266516"/>
                <a:gd name="connsiteY61" fmla="*/ 1047973 h 6189340"/>
                <a:gd name="connsiteX62" fmla="*/ 4582437 w 6266516"/>
                <a:gd name="connsiteY62" fmla="*/ 489135 h 6189340"/>
                <a:gd name="connsiteX63" fmla="*/ 4163575 w 6266516"/>
                <a:gd name="connsiteY63" fmla="*/ 80944 h 6189340"/>
                <a:gd name="connsiteX64" fmla="*/ 3630175 w 6266516"/>
                <a:gd name="connsiteY64" fmla="*/ 141711 h 6189340"/>
                <a:gd name="connsiteX65" fmla="*/ 3026301 w 6266516"/>
                <a:gd name="connsiteY65" fmla="*/ 270723 h 6189340"/>
                <a:gd name="connsiteX66" fmla="*/ 3007689 w 6266516"/>
                <a:gd name="connsiteY66" fmla="*/ 270564 h 6189340"/>
                <a:gd name="connsiteX67" fmla="*/ 3007689 w 6266516"/>
                <a:gd name="connsiteY67" fmla="*/ 270564 h 6189340"/>
                <a:gd name="connsiteX68" fmla="*/ 2394271 w 6266516"/>
                <a:gd name="connsiteY68" fmla="*/ 118804 h 6189340"/>
                <a:gd name="connsiteX69" fmla="*/ 2060359 w 6266516"/>
                <a:gd name="connsiteY69" fmla="*/ 22563 h 6189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6266516" h="6189340">
                  <a:moveTo>
                    <a:pt x="2316480" y="6189341"/>
                  </a:moveTo>
                  <a:cubicBezTo>
                    <a:pt x="2237257" y="6189341"/>
                    <a:pt x="2156603" y="6175979"/>
                    <a:pt x="2069108" y="6141936"/>
                  </a:cubicBezTo>
                  <a:cubicBezTo>
                    <a:pt x="1853871" y="6058420"/>
                    <a:pt x="1757627" y="5915410"/>
                    <a:pt x="1624475" y="5717678"/>
                  </a:cubicBezTo>
                  <a:cubicBezTo>
                    <a:pt x="1548912" y="5605528"/>
                    <a:pt x="1463167" y="5478267"/>
                    <a:pt x="1337811" y="5336529"/>
                  </a:cubicBezTo>
                  <a:cubicBezTo>
                    <a:pt x="1074690" y="5037783"/>
                    <a:pt x="836704" y="4976538"/>
                    <a:pt x="645488" y="4927383"/>
                  </a:cubicBezTo>
                  <a:cubicBezTo>
                    <a:pt x="466999" y="4881410"/>
                    <a:pt x="326211" y="4845141"/>
                    <a:pt x="243012" y="4639454"/>
                  </a:cubicBezTo>
                  <a:cubicBezTo>
                    <a:pt x="148517" y="4406088"/>
                    <a:pt x="183993" y="4161109"/>
                    <a:pt x="225036" y="3877475"/>
                  </a:cubicBezTo>
                  <a:cubicBezTo>
                    <a:pt x="253988" y="3677674"/>
                    <a:pt x="286759" y="3450990"/>
                    <a:pt x="281510" y="3187240"/>
                  </a:cubicBezTo>
                  <a:cubicBezTo>
                    <a:pt x="275464" y="2881176"/>
                    <a:pt x="187174" y="2664354"/>
                    <a:pt x="109542" y="2473143"/>
                  </a:cubicBezTo>
                  <a:cubicBezTo>
                    <a:pt x="22843" y="2259821"/>
                    <a:pt x="-45721" y="2091200"/>
                    <a:pt x="37956" y="1885990"/>
                  </a:cubicBezTo>
                  <a:cubicBezTo>
                    <a:pt x="120678" y="1683326"/>
                    <a:pt x="283578" y="1612219"/>
                    <a:pt x="489906" y="1522340"/>
                  </a:cubicBezTo>
                  <a:cubicBezTo>
                    <a:pt x="670464" y="1443597"/>
                    <a:pt x="875043" y="1354514"/>
                    <a:pt x="1084553" y="1152486"/>
                  </a:cubicBezTo>
                  <a:cubicBezTo>
                    <a:pt x="1311880" y="933278"/>
                    <a:pt x="1416079" y="705798"/>
                    <a:pt x="1508187" y="505202"/>
                  </a:cubicBezTo>
                  <a:cubicBezTo>
                    <a:pt x="1612226" y="278358"/>
                    <a:pt x="1694312" y="99238"/>
                    <a:pt x="1912254" y="24949"/>
                  </a:cubicBezTo>
                  <a:cubicBezTo>
                    <a:pt x="2092811" y="-36296"/>
                    <a:pt x="2236780" y="25744"/>
                    <a:pt x="2403816" y="97647"/>
                  </a:cubicBezTo>
                  <a:cubicBezTo>
                    <a:pt x="2563215" y="166368"/>
                    <a:pt x="2743932" y="244157"/>
                    <a:pt x="3008325" y="247497"/>
                  </a:cubicBezTo>
                  <a:cubicBezTo>
                    <a:pt x="3273355" y="250043"/>
                    <a:pt x="3458526" y="181321"/>
                    <a:pt x="3622539" y="120077"/>
                  </a:cubicBezTo>
                  <a:cubicBezTo>
                    <a:pt x="3805483" y="51833"/>
                    <a:pt x="3963291" y="-7344"/>
                    <a:pt x="4170893" y="58991"/>
                  </a:cubicBezTo>
                  <a:cubicBezTo>
                    <a:pt x="4389153" y="129303"/>
                    <a:pt x="4483170" y="282812"/>
                    <a:pt x="4602322" y="477045"/>
                  </a:cubicBezTo>
                  <a:cubicBezTo>
                    <a:pt x="4697134" y="631827"/>
                    <a:pt x="4815332" y="824310"/>
                    <a:pt x="5030569" y="1031429"/>
                  </a:cubicBezTo>
                  <a:cubicBezTo>
                    <a:pt x="5217013" y="1211027"/>
                    <a:pt x="5387389" y="1321267"/>
                    <a:pt x="5537721" y="1418463"/>
                  </a:cubicBezTo>
                  <a:cubicBezTo>
                    <a:pt x="5755504" y="1559405"/>
                    <a:pt x="5927471" y="1670759"/>
                    <a:pt x="6003512" y="1917806"/>
                  </a:cubicBezTo>
                  <a:cubicBezTo>
                    <a:pt x="6049168" y="2065270"/>
                    <a:pt x="6027056" y="2161830"/>
                    <a:pt x="5999216" y="2284001"/>
                  </a:cubicBezTo>
                  <a:cubicBezTo>
                    <a:pt x="5976627" y="2383265"/>
                    <a:pt x="5950856" y="2495732"/>
                    <a:pt x="5953878" y="2666263"/>
                  </a:cubicBezTo>
                  <a:cubicBezTo>
                    <a:pt x="5959446" y="2972963"/>
                    <a:pt x="6053941" y="3186126"/>
                    <a:pt x="6137299" y="3374315"/>
                  </a:cubicBezTo>
                  <a:cubicBezTo>
                    <a:pt x="6224953" y="3571729"/>
                    <a:pt x="6300517" y="3742260"/>
                    <a:pt x="6250565" y="3964649"/>
                  </a:cubicBezTo>
                  <a:cubicBezTo>
                    <a:pt x="6207295" y="4157928"/>
                    <a:pt x="6098006" y="4244943"/>
                    <a:pt x="5932561" y="4376659"/>
                  </a:cubicBezTo>
                  <a:cubicBezTo>
                    <a:pt x="5817704" y="4468287"/>
                    <a:pt x="5674690" y="4582186"/>
                    <a:pt x="5506064" y="4769738"/>
                  </a:cubicBezTo>
                  <a:cubicBezTo>
                    <a:pt x="5260760" y="5042714"/>
                    <a:pt x="5125700" y="5285943"/>
                    <a:pt x="5017366" y="5481448"/>
                  </a:cubicBezTo>
                  <a:cubicBezTo>
                    <a:pt x="4871647" y="5744084"/>
                    <a:pt x="4766335" y="5933863"/>
                    <a:pt x="4498442" y="6039013"/>
                  </a:cubicBezTo>
                  <a:cubicBezTo>
                    <a:pt x="4314702" y="6111393"/>
                    <a:pt x="4190142" y="6085622"/>
                    <a:pt x="4017857" y="6049989"/>
                  </a:cubicBezTo>
                  <a:cubicBezTo>
                    <a:pt x="3875956" y="6020719"/>
                    <a:pt x="3699534" y="5984450"/>
                    <a:pt x="3429096" y="5992881"/>
                  </a:cubicBezTo>
                  <a:cubicBezTo>
                    <a:pt x="3113796" y="6002903"/>
                    <a:pt x="2887105" y="6065738"/>
                    <a:pt x="2704798" y="6116325"/>
                  </a:cubicBezTo>
                  <a:cubicBezTo>
                    <a:pt x="2564647" y="6155298"/>
                    <a:pt x="2442314" y="6189341"/>
                    <a:pt x="2316480" y="6189341"/>
                  </a:cubicBezTo>
                  <a:close/>
                  <a:moveTo>
                    <a:pt x="2060359" y="22563"/>
                  </a:moveTo>
                  <a:cubicBezTo>
                    <a:pt x="2015339" y="22563"/>
                    <a:pt x="1969046" y="29721"/>
                    <a:pt x="1919572" y="46583"/>
                  </a:cubicBezTo>
                  <a:cubicBezTo>
                    <a:pt x="1711016" y="117531"/>
                    <a:pt x="1630680" y="292675"/>
                    <a:pt x="1529027" y="514588"/>
                  </a:cubicBezTo>
                  <a:cubicBezTo>
                    <a:pt x="1436123" y="717252"/>
                    <a:pt x="1330811" y="946800"/>
                    <a:pt x="1100461" y="1169030"/>
                  </a:cubicBezTo>
                  <a:cubicBezTo>
                    <a:pt x="888087" y="1373922"/>
                    <a:pt x="681440" y="1463959"/>
                    <a:pt x="499133" y="1543339"/>
                  </a:cubicBezTo>
                  <a:cubicBezTo>
                    <a:pt x="297736" y="1631149"/>
                    <a:pt x="138495" y="1700507"/>
                    <a:pt x="59273" y="1894580"/>
                  </a:cubicBezTo>
                  <a:cubicBezTo>
                    <a:pt x="-20904" y="2091041"/>
                    <a:pt x="46069" y="2255844"/>
                    <a:pt x="130859" y="2464394"/>
                  </a:cubicBezTo>
                  <a:cubicBezTo>
                    <a:pt x="209446" y="2657514"/>
                    <a:pt x="298372" y="2876245"/>
                    <a:pt x="304576" y="3186604"/>
                  </a:cubicBezTo>
                  <a:cubicBezTo>
                    <a:pt x="309826" y="3452262"/>
                    <a:pt x="276896" y="3679901"/>
                    <a:pt x="247784" y="3880657"/>
                  </a:cubicBezTo>
                  <a:cubicBezTo>
                    <a:pt x="205469" y="4172563"/>
                    <a:pt x="172221" y="4403065"/>
                    <a:pt x="264488" y="4630705"/>
                  </a:cubicBezTo>
                  <a:cubicBezTo>
                    <a:pt x="343233" y="4825574"/>
                    <a:pt x="472407" y="4858821"/>
                    <a:pt x="651374" y="4904953"/>
                  </a:cubicBezTo>
                  <a:cubicBezTo>
                    <a:pt x="845613" y="4954904"/>
                    <a:pt x="1087416" y="5017103"/>
                    <a:pt x="1355151" y="5321258"/>
                  </a:cubicBezTo>
                  <a:cubicBezTo>
                    <a:pt x="1481620" y="5464268"/>
                    <a:pt x="1567683" y="5592007"/>
                    <a:pt x="1643724" y="5704792"/>
                  </a:cubicBezTo>
                  <a:cubicBezTo>
                    <a:pt x="1774648" y="5899184"/>
                    <a:pt x="1869143" y="6039490"/>
                    <a:pt x="2077539" y="6120460"/>
                  </a:cubicBezTo>
                  <a:cubicBezTo>
                    <a:pt x="2297231" y="6205726"/>
                    <a:pt x="2465857" y="6158957"/>
                    <a:pt x="2698912" y="6094372"/>
                  </a:cubicBezTo>
                  <a:cubicBezTo>
                    <a:pt x="2882333" y="6043467"/>
                    <a:pt x="3110456" y="5980155"/>
                    <a:pt x="3428619" y="5970133"/>
                  </a:cubicBezTo>
                  <a:cubicBezTo>
                    <a:pt x="3701602" y="5961065"/>
                    <a:pt x="3879774" y="5998130"/>
                    <a:pt x="4022788" y="6027719"/>
                  </a:cubicBezTo>
                  <a:cubicBezTo>
                    <a:pt x="4191255" y="6062557"/>
                    <a:pt x="4312794" y="6087691"/>
                    <a:pt x="4490329" y="6017856"/>
                  </a:cubicBezTo>
                  <a:cubicBezTo>
                    <a:pt x="4750586" y="5915888"/>
                    <a:pt x="4854148" y="5729131"/>
                    <a:pt x="4997480" y="5470631"/>
                  </a:cubicBezTo>
                  <a:cubicBezTo>
                    <a:pt x="5106451" y="5274171"/>
                    <a:pt x="5242148" y="5029511"/>
                    <a:pt x="5489201" y="4754626"/>
                  </a:cubicBezTo>
                  <a:cubicBezTo>
                    <a:pt x="5659100" y="4565642"/>
                    <a:pt x="5802910" y="4450948"/>
                    <a:pt x="5918562" y="4358842"/>
                  </a:cubicBezTo>
                  <a:cubicBezTo>
                    <a:pt x="6080030" y="4230149"/>
                    <a:pt x="6186774" y="4145042"/>
                    <a:pt x="6228453" y="3959718"/>
                  </a:cubicBezTo>
                  <a:cubicBezTo>
                    <a:pt x="6276655" y="3744805"/>
                    <a:pt x="6202523" y="3577456"/>
                    <a:pt x="6116459" y="3383700"/>
                  </a:cubicBezTo>
                  <a:cubicBezTo>
                    <a:pt x="6032146" y="3193603"/>
                    <a:pt x="5936698" y="2978054"/>
                    <a:pt x="5931130" y="2666740"/>
                  </a:cubicBezTo>
                  <a:cubicBezTo>
                    <a:pt x="5927948" y="2493505"/>
                    <a:pt x="5954037" y="2379606"/>
                    <a:pt x="5976945" y="2279069"/>
                  </a:cubicBezTo>
                  <a:cubicBezTo>
                    <a:pt x="6003989" y="2160239"/>
                    <a:pt x="6025465" y="2066384"/>
                    <a:pt x="5981558" y="1924646"/>
                  </a:cubicBezTo>
                  <a:cubicBezTo>
                    <a:pt x="5908063" y="1685553"/>
                    <a:pt x="5747549" y="1581676"/>
                    <a:pt x="5525313" y="1437870"/>
                  </a:cubicBezTo>
                  <a:cubicBezTo>
                    <a:pt x="5374185" y="1340038"/>
                    <a:pt x="5202855" y="1229161"/>
                    <a:pt x="5014661" y="1047973"/>
                  </a:cubicBezTo>
                  <a:cubicBezTo>
                    <a:pt x="4797038" y="838946"/>
                    <a:pt x="4678045" y="644872"/>
                    <a:pt x="4582437" y="489135"/>
                  </a:cubicBezTo>
                  <a:cubicBezTo>
                    <a:pt x="4461217" y="291403"/>
                    <a:pt x="4373722" y="148711"/>
                    <a:pt x="4163575" y="80944"/>
                  </a:cubicBezTo>
                  <a:cubicBezTo>
                    <a:pt x="3963769" y="17154"/>
                    <a:pt x="3809141" y="74899"/>
                    <a:pt x="3630175" y="141711"/>
                  </a:cubicBezTo>
                  <a:cubicBezTo>
                    <a:pt x="3468230" y="202320"/>
                    <a:pt x="3285286" y="270723"/>
                    <a:pt x="3026301" y="270723"/>
                  </a:cubicBezTo>
                  <a:cubicBezTo>
                    <a:pt x="3020097" y="270723"/>
                    <a:pt x="3013893" y="270723"/>
                    <a:pt x="3007689" y="270564"/>
                  </a:cubicBezTo>
                  <a:lnTo>
                    <a:pt x="3007689" y="270564"/>
                  </a:lnTo>
                  <a:cubicBezTo>
                    <a:pt x="2738682" y="267064"/>
                    <a:pt x="2555738" y="188321"/>
                    <a:pt x="2394271" y="118804"/>
                  </a:cubicBezTo>
                  <a:cubicBezTo>
                    <a:pt x="2274005" y="66786"/>
                    <a:pt x="2171398" y="22563"/>
                    <a:pt x="2060359" y="22563"/>
                  </a:cubicBezTo>
                  <a:close/>
                </a:path>
              </a:pathLst>
            </a:custGeom>
            <a:gradFill>
              <a:gsLst>
                <a:gs pos="100000">
                  <a:schemeClr val="accent2"/>
                </a:gs>
                <a:gs pos="0">
                  <a:schemeClr val="accent1"/>
                </a:gs>
              </a:gsLst>
              <a:lin ang="0" scaled="1"/>
            </a:gradFill>
            <a:ln w="1589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3" name="Freeform 22">
              <a:extLst>
                <a:ext uri="{FF2B5EF4-FFF2-40B4-BE49-F238E27FC236}">
                  <a16:creationId xmlns:a16="http://schemas.microsoft.com/office/drawing/2014/main" id="{CBF30D9A-C951-547A-9C2E-7E073BBA3F23}"/>
                </a:ext>
              </a:extLst>
            </p:cNvPr>
            <p:cNvSpPr/>
            <p:nvPr/>
          </p:nvSpPr>
          <p:spPr>
            <a:xfrm>
              <a:off x="-3079162" y="379546"/>
              <a:ext cx="6150862" cy="6080569"/>
            </a:xfrm>
            <a:custGeom>
              <a:avLst/>
              <a:gdLst>
                <a:gd name="connsiteX0" fmla="*/ 2275800 w 6150862"/>
                <a:gd name="connsiteY0" fmla="*/ 6080569 h 6080569"/>
                <a:gd name="connsiteX1" fmla="*/ 2022224 w 6150862"/>
                <a:gd name="connsiteY1" fmla="*/ 6032051 h 6080569"/>
                <a:gd name="connsiteX2" fmla="*/ 1575524 w 6150862"/>
                <a:gd name="connsiteY2" fmla="*/ 5611610 h 6080569"/>
                <a:gd name="connsiteX3" fmla="*/ 1298245 w 6150862"/>
                <a:gd name="connsiteY3" fmla="*/ 5248756 h 6080569"/>
                <a:gd name="connsiteX4" fmla="*/ 632489 w 6150862"/>
                <a:gd name="connsiteY4" fmla="*/ 4845655 h 6080569"/>
                <a:gd name="connsiteX5" fmla="*/ 234467 w 6150862"/>
                <a:gd name="connsiteY5" fmla="*/ 4551999 h 6080569"/>
                <a:gd name="connsiteX6" fmla="*/ 210286 w 6150862"/>
                <a:gd name="connsiteY6" fmla="*/ 3790974 h 6080569"/>
                <a:gd name="connsiteX7" fmla="*/ 260397 w 6150862"/>
                <a:gd name="connsiteY7" fmla="*/ 3128578 h 6080569"/>
                <a:gd name="connsiteX8" fmla="*/ 102111 w 6150862"/>
                <a:gd name="connsiteY8" fmla="*/ 2437388 h 6080569"/>
                <a:gd name="connsiteX9" fmla="*/ 38956 w 6150862"/>
                <a:gd name="connsiteY9" fmla="*/ 1850871 h 6080569"/>
                <a:gd name="connsiteX10" fmla="*/ 485656 w 6150862"/>
                <a:gd name="connsiteY10" fmla="*/ 1482290 h 6080569"/>
                <a:gd name="connsiteX11" fmla="*/ 1055645 w 6150862"/>
                <a:gd name="connsiteY11" fmla="*/ 1119594 h 6080569"/>
                <a:gd name="connsiteX12" fmla="*/ 1470848 w 6150862"/>
                <a:gd name="connsiteY12" fmla="*/ 499672 h 6080569"/>
                <a:gd name="connsiteX13" fmla="*/ 1880960 w 6150862"/>
                <a:gd name="connsiteY13" fmla="*/ 25622 h 6080569"/>
                <a:gd name="connsiteX14" fmla="*/ 2371249 w 6150862"/>
                <a:gd name="connsiteY14" fmla="*/ 91321 h 6080569"/>
                <a:gd name="connsiteX15" fmla="*/ 2957465 w 6150862"/>
                <a:gd name="connsiteY15" fmla="*/ 229877 h 6080569"/>
                <a:gd name="connsiteX16" fmla="*/ 3554975 w 6150862"/>
                <a:gd name="connsiteY16" fmla="*/ 113433 h 6080569"/>
                <a:gd name="connsiteX17" fmla="*/ 4103965 w 6150862"/>
                <a:gd name="connsiteY17" fmla="*/ 60778 h 6080569"/>
                <a:gd name="connsiteX18" fmla="*/ 4542552 w 6150862"/>
                <a:gd name="connsiteY18" fmla="*/ 479628 h 6080569"/>
                <a:gd name="connsiteX19" fmla="*/ 4959187 w 6150862"/>
                <a:gd name="connsiteY19" fmla="*/ 1012059 h 6080569"/>
                <a:gd name="connsiteX20" fmla="*/ 5441522 w 6150862"/>
                <a:gd name="connsiteY20" fmla="*/ 1388435 h 6080569"/>
                <a:gd name="connsiteX21" fmla="*/ 5905086 w 6150862"/>
                <a:gd name="connsiteY21" fmla="*/ 1897322 h 6080569"/>
                <a:gd name="connsiteX22" fmla="*/ 5903336 w 6150862"/>
                <a:gd name="connsiteY22" fmla="*/ 2263994 h 6080569"/>
                <a:gd name="connsiteX23" fmla="*/ 5861974 w 6150862"/>
                <a:gd name="connsiteY23" fmla="*/ 2635280 h 6080569"/>
                <a:gd name="connsiteX24" fmla="*/ 6031078 w 6150862"/>
                <a:gd name="connsiteY24" fmla="*/ 3322652 h 6080569"/>
                <a:gd name="connsiteX25" fmla="*/ 6133686 w 6150862"/>
                <a:gd name="connsiteY25" fmla="*/ 3910759 h 6080569"/>
                <a:gd name="connsiteX26" fmla="*/ 5815204 w 6150862"/>
                <a:gd name="connsiteY26" fmla="*/ 4326109 h 6080569"/>
                <a:gd name="connsiteX27" fmla="*/ 5407478 w 6150862"/>
                <a:gd name="connsiteY27" fmla="*/ 4705508 h 6080569"/>
                <a:gd name="connsiteX28" fmla="*/ 4933098 w 6150862"/>
                <a:gd name="connsiteY28" fmla="*/ 5383971 h 6080569"/>
                <a:gd name="connsiteX29" fmla="*/ 4405743 w 6150862"/>
                <a:gd name="connsiteY29" fmla="*/ 5938355 h 6080569"/>
                <a:gd name="connsiteX30" fmla="*/ 3924839 w 6150862"/>
                <a:gd name="connsiteY30" fmla="*/ 5952512 h 6080569"/>
                <a:gd name="connsiteX31" fmla="*/ 3356282 w 6150862"/>
                <a:gd name="connsiteY31" fmla="*/ 5900812 h 6080569"/>
                <a:gd name="connsiteX32" fmla="*/ 2658391 w 6150862"/>
                <a:gd name="connsiteY32" fmla="*/ 6013439 h 6080569"/>
                <a:gd name="connsiteX33" fmla="*/ 2275800 w 6150862"/>
                <a:gd name="connsiteY33" fmla="*/ 6080569 h 6080569"/>
                <a:gd name="connsiteX34" fmla="*/ 2032406 w 6150862"/>
                <a:gd name="connsiteY34" fmla="*/ 25940 h 6080569"/>
                <a:gd name="connsiteX35" fmla="*/ 1889232 w 6150862"/>
                <a:gd name="connsiteY35" fmla="*/ 50279 h 6080569"/>
                <a:gd name="connsiteX36" fmla="*/ 1494392 w 6150862"/>
                <a:gd name="connsiteY36" fmla="*/ 510966 h 6080569"/>
                <a:gd name="connsiteX37" fmla="*/ 1073781 w 6150862"/>
                <a:gd name="connsiteY37" fmla="*/ 1138207 h 6080569"/>
                <a:gd name="connsiteX38" fmla="*/ 496474 w 6150862"/>
                <a:gd name="connsiteY38" fmla="*/ 1505833 h 6080569"/>
                <a:gd name="connsiteX39" fmla="*/ 63136 w 6150862"/>
                <a:gd name="connsiteY39" fmla="*/ 1860575 h 6080569"/>
                <a:gd name="connsiteX40" fmla="*/ 126609 w 6150862"/>
                <a:gd name="connsiteY40" fmla="*/ 2427685 h 6080569"/>
                <a:gd name="connsiteX41" fmla="*/ 286645 w 6150862"/>
                <a:gd name="connsiteY41" fmla="*/ 3127782 h 6080569"/>
                <a:gd name="connsiteX42" fmla="*/ 236217 w 6150862"/>
                <a:gd name="connsiteY42" fmla="*/ 3794156 h 6080569"/>
                <a:gd name="connsiteX43" fmla="*/ 258647 w 6150862"/>
                <a:gd name="connsiteY43" fmla="*/ 4541818 h 6080569"/>
                <a:gd name="connsiteX44" fmla="*/ 639488 w 6150862"/>
                <a:gd name="connsiteY44" fmla="*/ 4820202 h 6080569"/>
                <a:gd name="connsiteX45" fmla="*/ 1317653 w 6150862"/>
                <a:gd name="connsiteY45" fmla="*/ 5231098 h 6080569"/>
                <a:gd name="connsiteX46" fmla="*/ 1596841 w 6150862"/>
                <a:gd name="connsiteY46" fmla="*/ 5596339 h 6080569"/>
                <a:gd name="connsiteX47" fmla="*/ 2031451 w 6150862"/>
                <a:gd name="connsiteY47" fmla="*/ 6007235 h 6080569"/>
                <a:gd name="connsiteX48" fmla="*/ 2651392 w 6150862"/>
                <a:gd name="connsiteY48" fmla="*/ 5987350 h 6080569"/>
                <a:gd name="connsiteX49" fmla="*/ 3355009 w 6150862"/>
                <a:gd name="connsiteY49" fmla="*/ 5873769 h 6080569"/>
                <a:gd name="connsiteX50" fmla="*/ 3929293 w 6150862"/>
                <a:gd name="connsiteY50" fmla="*/ 5925947 h 6080569"/>
                <a:gd name="connsiteX51" fmla="*/ 4395721 w 6150862"/>
                <a:gd name="connsiteY51" fmla="*/ 5913220 h 6080569"/>
                <a:gd name="connsiteX52" fmla="*/ 4909713 w 6150862"/>
                <a:gd name="connsiteY52" fmla="*/ 5370132 h 6080569"/>
                <a:gd name="connsiteX53" fmla="*/ 5387434 w 6150862"/>
                <a:gd name="connsiteY53" fmla="*/ 4687055 h 6080569"/>
                <a:gd name="connsiteX54" fmla="*/ 5798024 w 6150862"/>
                <a:gd name="connsiteY54" fmla="*/ 4304952 h 6080569"/>
                <a:gd name="connsiteX55" fmla="*/ 6107278 w 6150862"/>
                <a:gd name="connsiteY55" fmla="*/ 3904237 h 6080569"/>
                <a:gd name="connsiteX56" fmla="*/ 6005943 w 6150862"/>
                <a:gd name="connsiteY56" fmla="*/ 3332196 h 6080569"/>
                <a:gd name="connsiteX57" fmla="*/ 5834931 w 6150862"/>
                <a:gd name="connsiteY57" fmla="*/ 2635121 h 6080569"/>
                <a:gd name="connsiteX58" fmla="*/ 5876769 w 6150862"/>
                <a:gd name="connsiteY58" fmla="*/ 2257790 h 6080569"/>
                <a:gd name="connsiteX59" fmla="*/ 5879155 w 6150862"/>
                <a:gd name="connsiteY59" fmla="*/ 1904321 h 6080569"/>
                <a:gd name="connsiteX60" fmla="*/ 5426091 w 6150862"/>
                <a:gd name="connsiteY60" fmla="*/ 1409592 h 6080569"/>
                <a:gd name="connsiteX61" fmla="*/ 4940256 w 6150862"/>
                <a:gd name="connsiteY61" fmla="*/ 1030193 h 6080569"/>
                <a:gd name="connsiteX62" fmla="*/ 4519645 w 6150862"/>
                <a:gd name="connsiteY62" fmla="*/ 493149 h 6080569"/>
                <a:gd name="connsiteX63" fmla="*/ 4095215 w 6150862"/>
                <a:gd name="connsiteY63" fmla="*/ 85276 h 6080569"/>
                <a:gd name="connsiteX64" fmla="*/ 3562929 w 6150862"/>
                <a:gd name="connsiteY64" fmla="*/ 137771 h 6080569"/>
                <a:gd name="connsiteX65" fmla="*/ 2956510 w 6150862"/>
                <a:gd name="connsiteY65" fmla="*/ 255806 h 6080569"/>
                <a:gd name="connsiteX66" fmla="*/ 2956510 w 6150862"/>
                <a:gd name="connsiteY66" fmla="*/ 255806 h 6080569"/>
                <a:gd name="connsiteX67" fmla="*/ 2360591 w 6150862"/>
                <a:gd name="connsiteY67" fmla="*/ 115342 h 6080569"/>
                <a:gd name="connsiteX68" fmla="*/ 2032406 w 6150862"/>
                <a:gd name="connsiteY68" fmla="*/ 25940 h 6080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6150862" h="6080569">
                  <a:moveTo>
                    <a:pt x="2275800" y="6080569"/>
                  </a:moveTo>
                  <a:cubicBezTo>
                    <a:pt x="2194510" y="6080569"/>
                    <a:pt x="2111946" y="6066889"/>
                    <a:pt x="2022224" y="6032051"/>
                  </a:cubicBezTo>
                  <a:cubicBezTo>
                    <a:pt x="1808260" y="5948535"/>
                    <a:pt x="1705652" y="5799957"/>
                    <a:pt x="1575524" y="5611610"/>
                  </a:cubicBezTo>
                  <a:cubicBezTo>
                    <a:pt x="1501710" y="5504552"/>
                    <a:pt x="1417874" y="5383335"/>
                    <a:pt x="1298245" y="5248756"/>
                  </a:cubicBezTo>
                  <a:cubicBezTo>
                    <a:pt x="1045782" y="4963372"/>
                    <a:pt x="816546" y="4898150"/>
                    <a:pt x="632489" y="4845655"/>
                  </a:cubicBezTo>
                  <a:cubicBezTo>
                    <a:pt x="456385" y="4795546"/>
                    <a:pt x="317189" y="4755935"/>
                    <a:pt x="234467" y="4551999"/>
                  </a:cubicBezTo>
                  <a:cubicBezTo>
                    <a:pt x="139495" y="4318951"/>
                    <a:pt x="172425" y="4074131"/>
                    <a:pt x="210286" y="3790974"/>
                  </a:cubicBezTo>
                  <a:cubicBezTo>
                    <a:pt x="236057" y="3598491"/>
                    <a:pt x="265328" y="3380238"/>
                    <a:pt x="260397" y="3128578"/>
                  </a:cubicBezTo>
                  <a:cubicBezTo>
                    <a:pt x="254670" y="2834763"/>
                    <a:pt x="173698" y="2623667"/>
                    <a:pt x="102111" y="2437388"/>
                  </a:cubicBezTo>
                  <a:cubicBezTo>
                    <a:pt x="20184" y="2223748"/>
                    <a:pt x="-44562" y="2054967"/>
                    <a:pt x="38956" y="1850871"/>
                  </a:cubicBezTo>
                  <a:cubicBezTo>
                    <a:pt x="121519" y="1648844"/>
                    <a:pt x="282191" y="1575350"/>
                    <a:pt x="485656" y="1482290"/>
                  </a:cubicBezTo>
                  <a:cubicBezTo>
                    <a:pt x="658737" y="1403070"/>
                    <a:pt x="855044" y="1313191"/>
                    <a:pt x="1055645" y="1119594"/>
                  </a:cubicBezTo>
                  <a:cubicBezTo>
                    <a:pt x="1273428" y="909613"/>
                    <a:pt x="1378263" y="691836"/>
                    <a:pt x="1470848" y="499672"/>
                  </a:cubicBezTo>
                  <a:cubicBezTo>
                    <a:pt x="1578546" y="276327"/>
                    <a:pt x="1663496" y="99752"/>
                    <a:pt x="1880960" y="25622"/>
                  </a:cubicBezTo>
                  <a:cubicBezTo>
                    <a:pt x="2059927" y="-35463"/>
                    <a:pt x="2204373" y="23236"/>
                    <a:pt x="2371249" y="91321"/>
                  </a:cubicBezTo>
                  <a:cubicBezTo>
                    <a:pt x="2526990" y="154793"/>
                    <a:pt x="2703412" y="226695"/>
                    <a:pt x="2957465" y="229877"/>
                  </a:cubicBezTo>
                  <a:cubicBezTo>
                    <a:pt x="3213267" y="233536"/>
                    <a:pt x="3394302" y="169428"/>
                    <a:pt x="3554975" y="113433"/>
                  </a:cubicBezTo>
                  <a:cubicBezTo>
                    <a:pt x="3738714" y="49325"/>
                    <a:pt x="3897636" y="-6193"/>
                    <a:pt x="4103965" y="60778"/>
                  </a:cubicBezTo>
                  <a:cubicBezTo>
                    <a:pt x="4322702" y="132363"/>
                    <a:pt x="4419742" y="285554"/>
                    <a:pt x="4542552" y="479628"/>
                  </a:cubicBezTo>
                  <a:cubicBezTo>
                    <a:pt x="4636729" y="628365"/>
                    <a:pt x="4753972" y="813689"/>
                    <a:pt x="4959187" y="1012059"/>
                  </a:cubicBezTo>
                  <a:cubicBezTo>
                    <a:pt x="5136085" y="1183225"/>
                    <a:pt x="5298349" y="1292193"/>
                    <a:pt x="5441522" y="1388435"/>
                  </a:cubicBezTo>
                  <a:cubicBezTo>
                    <a:pt x="5658191" y="1533990"/>
                    <a:pt x="5829204" y="1649003"/>
                    <a:pt x="5905086" y="1897322"/>
                  </a:cubicBezTo>
                  <a:cubicBezTo>
                    <a:pt x="5950265" y="2043991"/>
                    <a:pt x="5929425" y="2141028"/>
                    <a:pt x="5903336" y="2263994"/>
                  </a:cubicBezTo>
                  <a:cubicBezTo>
                    <a:pt x="5882655" y="2361350"/>
                    <a:pt x="5859111" y="2471590"/>
                    <a:pt x="5861974" y="2635280"/>
                  </a:cubicBezTo>
                  <a:cubicBezTo>
                    <a:pt x="5867065" y="2930209"/>
                    <a:pt x="5954242" y="3138759"/>
                    <a:pt x="6031078" y="3322652"/>
                  </a:cubicBezTo>
                  <a:cubicBezTo>
                    <a:pt x="6113482" y="3520066"/>
                    <a:pt x="6184751" y="3690438"/>
                    <a:pt x="6133686" y="3910759"/>
                  </a:cubicBezTo>
                  <a:cubicBezTo>
                    <a:pt x="6088984" y="4103561"/>
                    <a:pt x="5980172" y="4192167"/>
                    <a:pt x="5815204" y="4326109"/>
                  </a:cubicBezTo>
                  <a:cubicBezTo>
                    <a:pt x="5704961" y="4415670"/>
                    <a:pt x="5567833" y="4527183"/>
                    <a:pt x="5407478" y="4705508"/>
                  </a:cubicBezTo>
                  <a:cubicBezTo>
                    <a:pt x="5174424" y="4964645"/>
                    <a:pt x="5040478" y="5197215"/>
                    <a:pt x="4933098" y="5383971"/>
                  </a:cubicBezTo>
                  <a:cubicBezTo>
                    <a:pt x="4782925" y="5645017"/>
                    <a:pt x="4674272" y="5833682"/>
                    <a:pt x="4405743" y="5938355"/>
                  </a:cubicBezTo>
                  <a:cubicBezTo>
                    <a:pt x="4223117" y="6009939"/>
                    <a:pt x="4097920" y="5985760"/>
                    <a:pt x="3924839" y="5952512"/>
                  </a:cubicBezTo>
                  <a:cubicBezTo>
                    <a:pt x="3786597" y="5925947"/>
                    <a:pt x="3614471" y="5892540"/>
                    <a:pt x="3356282" y="5900812"/>
                  </a:cubicBezTo>
                  <a:cubicBezTo>
                    <a:pt x="3055459" y="5910039"/>
                    <a:pt x="2835290" y="5967465"/>
                    <a:pt x="2658391" y="6013439"/>
                  </a:cubicBezTo>
                  <a:cubicBezTo>
                    <a:pt x="2520150" y="6049072"/>
                    <a:pt x="2399407" y="6080569"/>
                    <a:pt x="2275800" y="6080569"/>
                  </a:cubicBezTo>
                  <a:close/>
                  <a:moveTo>
                    <a:pt x="2032406" y="25940"/>
                  </a:moveTo>
                  <a:cubicBezTo>
                    <a:pt x="1986590" y="25940"/>
                    <a:pt x="1939502" y="33258"/>
                    <a:pt x="1889232" y="50279"/>
                  </a:cubicBezTo>
                  <a:cubicBezTo>
                    <a:pt x="1682108" y="120909"/>
                    <a:pt x="1599227" y="293030"/>
                    <a:pt x="1494392" y="510966"/>
                  </a:cubicBezTo>
                  <a:cubicBezTo>
                    <a:pt x="1400852" y="704881"/>
                    <a:pt x="1294904" y="924884"/>
                    <a:pt x="1073781" y="1138207"/>
                  </a:cubicBezTo>
                  <a:cubicBezTo>
                    <a:pt x="869997" y="1334826"/>
                    <a:pt x="671464" y="1425659"/>
                    <a:pt x="496474" y="1505833"/>
                  </a:cubicBezTo>
                  <a:cubicBezTo>
                    <a:pt x="298417" y="1596507"/>
                    <a:pt x="141881" y="1668251"/>
                    <a:pt x="63136" y="1860575"/>
                  </a:cubicBezTo>
                  <a:cubicBezTo>
                    <a:pt x="-16405" y="2055126"/>
                    <a:pt x="46751" y="2219612"/>
                    <a:pt x="126609" y="2427685"/>
                  </a:cubicBezTo>
                  <a:cubicBezTo>
                    <a:pt x="198832" y="2616032"/>
                    <a:pt x="280759" y="2829513"/>
                    <a:pt x="286645" y="3127782"/>
                  </a:cubicBezTo>
                  <a:cubicBezTo>
                    <a:pt x="291577" y="3381510"/>
                    <a:pt x="262147" y="3600718"/>
                    <a:pt x="236217" y="3794156"/>
                  </a:cubicBezTo>
                  <a:cubicBezTo>
                    <a:pt x="197242" y="4085267"/>
                    <a:pt x="166380" y="4315292"/>
                    <a:pt x="258647" y="4541818"/>
                  </a:cubicBezTo>
                  <a:cubicBezTo>
                    <a:pt x="336597" y="4733983"/>
                    <a:pt x="463703" y="4770252"/>
                    <a:pt x="639488" y="4820202"/>
                  </a:cubicBezTo>
                  <a:cubicBezTo>
                    <a:pt x="826886" y="4873493"/>
                    <a:pt x="1060100" y="4939829"/>
                    <a:pt x="1317653" y="5231098"/>
                  </a:cubicBezTo>
                  <a:cubicBezTo>
                    <a:pt x="1438236" y="5366791"/>
                    <a:pt x="1522550" y="5488803"/>
                    <a:pt x="1596841" y="5596339"/>
                  </a:cubicBezTo>
                  <a:cubicBezTo>
                    <a:pt x="1729355" y="5788027"/>
                    <a:pt x="1825122" y="5926742"/>
                    <a:pt x="2031451" y="6007235"/>
                  </a:cubicBezTo>
                  <a:cubicBezTo>
                    <a:pt x="2249234" y="6092023"/>
                    <a:pt x="2417860" y="6048118"/>
                    <a:pt x="2651392" y="5987350"/>
                  </a:cubicBezTo>
                  <a:cubicBezTo>
                    <a:pt x="2829563" y="5941059"/>
                    <a:pt x="3051164" y="5883155"/>
                    <a:pt x="3355009" y="5873769"/>
                  </a:cubicBezTo>
                  <a:cubicBezTo>
                    <a:pt x="3617016" y="5865815"/>
                    <a:pt x="3789938" y="5899222"/>
                    <a:pt x="3929293" y="5925947"/>
                  </a:cubicBezTo>
                  <a:cubicBezTo>
                    <a:pt x="4098079" y="5958557"/>
                    <a:pt x="4220094" y="5981941"/>
                    <a:pt x="4395721" y="5913220"/>
                  </a:cubicBezTo>
                  <a:cubicBezTo>
                    <a:pt x="4655660" y="5811888"/>
                    <a:pt x="4762244" y="5626564"/>
                    <a:pt x="4909713" y="5370132"/>
                  </a:cubicBezTo>
                  <a:cubicBezTo>
                    <a:pt x="5017888" y="5182262"/>
                    <a:pt x="5152312" y="4948418"/>
                    <a:pt x="5387434" y="4687055"/>
                  </a:cubicBezTo>
                  <a:cubicBezTo>
                    <a:pt x="5549061" y="4507298"/>
                    <a:pt x="5687144" y="4395149"/>
                    <a:pt x="5798024" y="4304952"/>
                  </a:cubicBezTo>
                  <a:cubicBezTo>
                    <a:pt x="5958696" y="4174350"/>
                    <a:pt x="6064644" y="4088130"/>
                    <a:pt x="6107278" y="3904237"/>
                  </a:cubicBezTo>
                  <a:cubicBezTo>
                    <a:pt x="6156434" y="3692188"/>
                    <a:pt x="6086757" y="3525316"/>
                    <a:pt x="6005943" y="3332196"/>
                  </a:cubicBezTo>
                  <a:cubicBezTo>
                    <a:pt x="5928152" y="3146076"/>
                    <a:pt x="5840180" y="2935140"/>
                    <a:pt x="5834931" y="2635121"/>
                  </a:cubicBezTo>
                  <a:cubicBezTo>
                    <a:pt x="5832067" y="2468408"/>
                    <a:pt x="5855770" y="2356577"/>
                    <a:pt x="5876769" y="2257790"/>
                  </a:cubicBezTo>
                  <a:cubicBezTo>
                    <a:pt x="5902222" y="2138483"/>
                    <a:pt x="5922266" y="2044468"/>
                    <a:pt x="5879155" y="1904321"/>
                  </a:cubicBezTo>
                  <a:cubicBezTo>
                    <a:pt x="5805978" y="1664910"/>
                    <a:pt x="5646737" y="1557692"/>
                    <a:pt x="5426091" y="1409592"/>
                  </a:cubicBezTo>
                  <a:cubicBezTo>
                    <a:pt x="5281963" y="1312714"/>
                    <a:pt x="5118746" y="1202951"/>
                    <a:pt x="4940256" y="1030193"/>
                  </a:cubicBezTo>
                  <a:cubicBezTo>
                    <a:pt x="4732814" y="829756"/>
                    <a:pt x="4614616" y="643159"/>
                    <a:pt x="4519645" y="493149"/>
                  </a:cubicBezTo>
                  <a:cubicBezTo>
                    <a:pt x="4394925" y="296212"/>
                    <a:pt x="4304885" y="153838"/>
                    <a:pt x="4095215" y="85276"/>
                  </a:cubicBezTo>
                  <a:cubicBezTo>
                    <a:pt x="3897000" y="21327"/>
                    <a:pt x="3742213" y="75413"/>
                    <a:pt x="3562929" y="137771"/>
                  </a:cubicBezTo>
                  <a:cubicBezTo>
                    <a:pt x="3400188" y="194562"/>
                    <a:pt x="3214222" y="259147"/>
                    <a:pt x="2956510" y="255806"/>
                  </a:cubicBezTo>
                  <a:lnTo>
                    <a:pt x="2956510" y="255806"/>
                  </a:lnTo>
                  <a:cubicBezTo>
                    <a:pt x="2697525" y="252466"/>
                    <a:pt x="2518559" y="179609"/>
                    <a:pt x="2360591" y="115342"/>
                  </a:cubicBezTo>
                  <a:cubicBezTo>
                    <a:pt x="2242393" y="67141"/>
                    <a:pt x="2141217" y="25940"/>
                    <a:pt x="2032406" y="25940"/>
                  </a:cubicBezTo>
                  <a:close/>
                </a:path>
              </a:pathLst>
            </a:custGeom>
            <a:gradFill>
              <a:gsLst>
                <a:gs pos="100000">
                  <a:schemeClr val="accent2"/>
                </a:gs>
                <a:gs pos="0">
                  <a:schemeClr val="accent1"/>
                </a:gs>
              </a:gsLst>
              <a:lin ang="0" scaled="1"/>
            </a:gradFill>
            <a:ln w="1589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4" name="Freeform 23">
              <a:extLst>
                <a:ext uri="{FF2B5EF4-FFF2-40B4-BE49-F238E27FC236}">
                  <a16:creationId xmlns:a16="http://schemas.microsoft.com/office/drawing/2014/main" id="{42598325-5A0B-897C-1829-09C495AA5726}"/>
                </a:ext>
              </a:extLst>
            </p:cNvPr>
            <p:cNvSpPr/>
            <p:nvPr/>
          </p:nvSpPr>
          <p:spPr>
            <a:xfrm>
              <a:off x="-3021844" y="433243"/>
              <a:ext cx="6034687" cy="5972309"/>
            </a:xfrm>
            <a:custGeom>
              <a:avLst/>
              <a:gdLst>
                <a:gd name="connsiteX0" fmla="*/ 2236300 w 6034687"/>
                <a:gd name="connsiteY0" fmla="*/ 5972309 h 5972309"/>
                <a:gd name="connsiteX1" fmla="*/ 1975565 w 6034687"/>
                <a:gd name="connsiteY1" fmla="*/ 5922359 h 5972309"/>
                <a:gd name="connsiteX2" fmla="*/ 1526319 w 6034687"/>
                <a:gd name="connsiteY2" fmla="*/ 5505418 h 5972309"/>
                <a:gd name="connsiteX3" fmla="*/ 1258903 w 6034687"/>
                <a:gd name="connsiteY3" fmla="*/ 5161335 h 5972309"/>
                <a:gd name="connsiteX4" fmla="*/ 619713 w 6034687"/>
                <a:gd name="connsiteY4" fmla="*/ 4764756 h 5972309"/>
                <a:gd name="connsiteX5" fmla="*/ 225828 w 6034687"/>
                <a:gd name="connsiteY5" fmla="*/ 4464737 h 5972309"/>
                <a:gd name="connsiteX6" fmla="*/ 195443 w 6034687"/>
                <a:gd name="connsiteY6" fmla="*/ 3704030 h 5972309"/>
                <a:gd name="connsiteX7" fmla="*/ 239509 w 6034687"/>
                <a:gd name="connsiteY7" fmla="*/ 3070109 h 5972309"/>
                <a:gd name="connsiteX8" fmla="*/ 94745 w 6034687"/>
                <a:gd name="connsiteY8" fmla="*/ 2402145 h 5972309"/>
                <a:gd name="connsiteX9" fmla="*/ 40020 w 6034687"/>
                <a:gd name="connsiteY9" fmla="*/ 1815787 h 5972309"/>
                <a:gd name="connsiteX10" fmla="*/ 481313 w 6034687"/>
                <a:gd name="connsiteY10" fmla="*/ 1441797 h 5972309"/>
                <a:gd name="connsiteX11" fmla="*/ 1026485 w 6034687"/>
                <a:gd name="connsiteY11" fmla="*/ 1086578 h 5972309"/>
                <a:gd name="connsiteX12" fmla="*/ 1432779 w 6034687"/>
                <a:gd name="connsiteY12" fmla="*/ 494334 h 5972309"/>
                <a:gd name="connsiteX13" fmla="*/ 1849413 w 6034687"/>
                <a:gd name="connsiteY13" fmla="*/ 26171 h 5972309"/>
                <a:gd name="connsiteX14" fmla="*/ 2338907 w 6034687"/>
                <a:gd name="connsiteY14" fmla="*/ 84870 h 5972309"/>
                <a:gd name="connsiteX15" fmla="*/ 2906669 w 6034687"/>
                <a:gd name="connsiteY15" fmla="*/ 212132 h 5972309"/>
                <a:gd name="connsiteX16" fmla="*/ 3486998 w 6034687"/>
                <a:gd name="connsiteY16" fmla="*/ 106345 h 5972309"/>
                <a:gd name="connsiteX17" fmla="*/ 4037261 w 6034687"/>
                <a:gd name="connsiteY17" fmla="*/ 62122 h 5972309"/>
                <a:gd name="connsiteX18" fmla="*/ 4483326 w 6034687"/>
                <a:gd name="connsiteY18" fmla="*/ 481926 h 5972309"/>
                <a:gd name="connsiteX19" fmla="*/ 4887711 w 6034687"/>
                <a:gd name="connsiteY19" fmla="*/ 991927 h 5972309"/>
                <a:gd name="connsiteX20" fmla="*/ 5344752 w 6034687"/>
                <a:gd name="connsiteY20" fmla="*/ 1357009 h 5972309"/>
                <a:gd name="connsiteX21" fmla="*/ 5806407 w 6034687"/>
                <a:gd name="connsiteY21" fmla="*/ 1876395 h 5972309"/>
                <a:gd name="connsiteX22" fmla="*/ 5807042 w 6034687"/>
                <a:gd name="connsiteY22" fmla="*/ 2243704 h 5972309"/>
                <a:gd name="connsiteX23" fmla="*/ 5769499 w 6034687"/>
                <a:gd name="connsiteY23" fmla="*/ 2603854 h 5972309"/>
                <a:gd name="connsiteX24" fmla="*/ 5924286 w 6034687"/>
                <a:gd name="connsiteY24" fmla="*/ 3270068 h 5972309"/>
                <a:gd name="connsiteX25" fmla="*/ 6016076 w 6034687"/>
                <a:gd name="connsiteY25" fmla="*/ 3856426 h 5972309"/>
                <a:gd name="connsiteX26" fmla="*/ 5697118 w 6034687"/>
                <a:gd name="connsiteY26" fmla="*/ 4275276 h 5972309"/>
                <a:gd name="connsiteX27" fmla="*/ 5308322 w 6034687"/>
                <a:gd name="connsiteY27" fmla="*/ 4640517 h 5972309"/>
                <a:gd name="connsiteX28" fmla="*/ 4848895 w 6034687"/>
                <a:gd name="connsiteY28" fmla="*/ 5285415 h 5972309"/>
                <a:gd name="connsiteX29" fmla="*/ 4312631 w 6034687"/>
                <a:gd name="connsiteY29" fmla="*/ 5837253 h 5972309"/>
                <a:gd name="connsiteX30" fmla="*/ 3831091 w 6034687"/>
                <a:gd name="connsiteY30" fmla="*/ 5854433 h 5972309"/>
                <a:gd name="connsiteX31" fmla="*/ 3283056 w 6034687"/>
                <a:gd name="connsiteY31" fmla="*/ 5807823 h 5972309"/>
                <a:gd name="connsiteX32" fmla="*/ 2612209 w 6034687"/>
                <a:gd name="connsiteY32" fmla="*/ 5909951 h 5972309"/>
                <a:gd name="connsiteX33" fmla="*/ 2236300 w 6034687"/>
                <a:gd name="connsiteY33" fmla="*/ 5972309 h 5972309"/>
                <a:gd name="connsiteX34" fmla="*/ 2005154 w 6034687"/>
                <a:gd name="connsiteY34" fmla="*/ 29352 h 5972309"/>
                <a:gd name="connsiteX35" fmla="*/ 1859117 w 6034687"/>
                <a:gd name="connsiteY35" fmla="*/ 54168 h 5972309"/>
                <a:gd name="connsiteX36" fmla="*/ 1459346 w 6034687"/>
                <a:gd name="connsiteY36" fmla="*/ 507697 h 5972309"/>
                <a:gd name="connsiteX37" fmla="*/ 1047324 w 6034687"/>
                <a:gd name="connsiteY37" fmla="*/ 1107735 h 5972309"/>
                <a:gd name="connsiteX38" fmla="*/ 494357 w 6034687"/>
                <a:gd name="connsiteY38" fmla="*/ 1468363 h 5972309"/>
                <a:gd name="connsiteX39" fmla="*/ 67542 w 6034687"/>
                <a:gd name="connsiteY39" fmla="*/ 1826922 h 5972309"/>
                <a:gd name="connsiteX40" fmla="*/ 122743 w 6034687"/>
                <a:gd name="connsiteY40" fmla="*/ 2391964 h 5972309"/>
                <a:gd name="connsiteX41" fmla="*/ 269257 w 6034687"/>
                <a:gd name="connsiteY41" fmla="*/ 3069313 h 5972309"/>
                <a:gd name="connsiteX42" fmla="*/ 225032 w 6034687"/>
                <a:gd name="connsiteY42" fmla="*/ 3707371 h 5972309"/>
                <a:gd name="connsiteX43" fmla="*/ 253508 w 6034687"/>
                <a:gd name="connsiteY43" fmla="*/ 4453283 h 5972309"/>
                <a:gd name="connsiteX44" fmla="*/ 628781 w 6034687"/>
                <a:gd name="connsiteY44" fmla="*/ 4736281 h 5972309"/>
                <a:gd name="connsiteX45" fmla="*/ 1281174 w 6034687"/>
                <a:gd name="connsiteY45" fmla="*/ 5141450 h 5972309"/>
                <a:gd name="connsiteX46" fmla="*/ 1550658 w 6034687"/>
                <a:gd name="connsiteY46" fmla="*/ 5488079 h 5972309"/>
                <a:gd name="connsiteX47" fmla="*/ 1986542 w 6034687"/>
                <a:gd name="connsiteY47" fmla="*/ 5894520 h 5972309"/>
                <a:gd name="connsiteX48" fmla="*/ 2605846 w 6034687"/>
                <a:gd name="connsiteY48" fmla="*/ 5881158 h 5972309"/>
                <a:gd name="connsiteX49" fmla="*/ 3282897 w 6034687"/>
                <a:gd name="connsiteY49" fmla="*/ 5778235 h 5972309"/>
                <a:gd name="connsiteX50" fmla="*/ 3836977 w 6034687"/>
                <a:gd name="connsiteY50" fmla="*/ 5825163 h 5972309"/>
                <a:gd name="connsiteX51" fmla="*/ 4302609 w 6034687"/>
                <a:gd name="connsiteY51" fmla="*/ 5809573 h 5972309"/>
                <a:gd name="connsiteX52" fmla="*/ 4824237 w 6034687"/>
                <a:gd name="connsiteY52" fmla="*/ 5270303 h 5972309"/>
                <a:gd name="connsiteX53" fmla="*/ 5287006 w 6034687"/>
                <a:gd name="connsiteY53" fmla="*/ 4620791 h 5972309"/>
                <a:gd name="connsiteX54" fmla="*/ 5678823 w 6034687"/>
                <a:gd name="connsiteY54" fmla="*/ 4252528 h 5972309"/>
                <a:gd name="connsiteX55" fmla="*/ 5988077 w 6034687"/>
                <a:gd name="connsiteY55" fmla="*/ 3849586 h 5972309"/>
                <a:gd name="connsiteX56" fmla="*/ 5897401 w 6034687"/>
                <a:gd name="connsiteY56" fmla="*/ 3280886 h 5972309"/>
                <a:gd name="connsiteX57" fmla="*/ 5740547 w 6034687"/>
                <a:gd name="connsiteY57" fmla="*/ 2604490 h 5972309"/>
                <a:gd name="connsiteX58" fmla="*/ 5778726 w 6034687"/>
                <a:gd name="connsiteY58" fmla="*/ 2237977 h 5972309"/>
                <a:gd name="connsiteX59" fmla="*/ 5778726 w 6034687"/>
                <a:gd name="connsiteY59" fmla="*/ 1885144 h 5972309"/>
                <a:gd name="connsiteX60" fmla="*/ 5328366 w 6034687"/>
                <a:gd name="connsiteY60" fmla="*/ 1381347 h 5972309"/>
                <a:gd name="connsiteX61" fmla="*/ 4867667 w 6034687"/>
                <a:gd name="connsiteY61" fmla="*/ 1013243 h 5972309"/>
                <a:gd name="connsiteX62" fmla="*/ 4459145 w 6034687"/>
                <a:gd name="connsiteY62" fmla="*/ 498311 h 5972309"/>
                <a:gd name="connsiteX63" fmla="*/ 4028512 w 6034687"/>
                <a:gd name="connsiteY63" fmla="*/ 90438 h 5972309"/>
                <a:gd name="connsiteX64" fmla="*/ 3496543 w 6034687"/>
                <a:gd name="connsiteY64" fmla="*/ 134661 h 5972309"/>
                <a:gd name="connsiteX65" fmla="*/ 2906669 w 6034687"/>
                <a:gd name="connsiteY65" fmla="*/ 241879 h 5972309"/>
                <a:gd name="connsiteX66" fmla="*/ 2906669 w 6034687"/>
                <a:gd name="connsiteY66" fmla="*/ 241879 h 5972309"/>
                <a:gd name="connsiteX67" fmla="*/ 2328726 w 6034687"/>
                <a:gd name="connsiteY67" fmla="*/ 112549 h 5972309"/>
                <a:gd name="connsiteX68" fmla="*/ 2005154 w 6034687"/>
                <a:gd name="connsiteY68" fmla="*/ 29352 h 5972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6034687" h="5972309">
                  <a:moveTo>
                    <a:pt x="2236300" y="5972309"/>
                  </a:moveTo>
                  <a:cubicBezTo>
                    <a:pt x="2152464" y="5972309"/>
                    <a:pt x="2067673" y="5958469"/>
                    <a:pt x="1975565" y="5922359"/>
                  </a:cubicBezTo>
                  <a:cubicBezTo>
                    <a:pt x="1762873" y="5839003"/>
                    <a:pt x="1658516" y="5691857"/>
                    <a:pt x="1526319" y="5505418"/>
                  </a:cubicBezTo>
                  <a:cubicBezTo>
                    <a:pt x="1454255" y="5403768"/>
                    <a:pt x="1372487" y="5288437"/>
                    <a:pt x="1258903" y="5161335"/>
                  </a:cubicBezTo>
                  <a:cubicBezTo>
                    <a:pt x="1017099" y="4889154"/>
                    <a:pt x="796771" y="4820114"/>
                    <a:pt x="619713" y="4764756"/>
                  </a:cubicBezTo>
                  <a:cubicBezTo>
                    <a:pt x="445837" y="4710351"/>
                    <a:pt x="308391" y="4667242"/>
                    <a:pt x="225828" y="4464737"/>
                  </a:cubicBezTo>
                  <a:cubicBezTo>
                    <a:pt x="130538" y="4232007"/>
                    <a:pt x="160604" y="3987188"/>
                    <a:pt x="195443" y="3704030"/>
                  </a:cubicBezTo>
                  <a:cubicBezTo>
                    <a:pt x="218192" y="3519183"/>
                    <a:pt x="243963" y="3309520"/>
                    <a:pt x="239509" y="3070109"/>
                  </a:cubicBezTo>
                  <a:cubicBezTo>
                    <a:pt x="234100" y="2788861"/>
                    <a:pt x="160127" y="2583492"/>
                    <a:pt x="94745" y="2402145"/>
                  </a:cubicBezTo>
                  <a:cubicBezTo>
                    <a:pt x="17590" y="2188186"/>
                    <a:pt x="-43338" y="2019087"/>
                    <a:pt x="40020" y="1815787"/>
                  </a:cubicBezTo>
                  <a:cubicBezTo>
                    <a:pt x="122425" y="1614554"/>
                    <a:pt x="280870" y="1538356"/>
                    <a:pt x="481313" y="1441797"/>
                  </a:cubicBezTo>
                  <a:cubicBezTo>
                    <a:pt x="646916" y="1362099"/>
                    <a:pt x="834792" y="1271584"/>
                    <a:pt x="1026485" y="1086578"/>
                  </a:cubicBezTo>
                  <a:cubicBezTo>
                    <a:pt x="1234723" y="885664"/>
                    <a:pt x="1339875" y="677750"/>
                    <a:pt x="1432779" y="494334"/>
                  </a:cubicBezTo>
                  <a:cubicBezTo>
                    <a:pt x="1539841" y="283080"/>
                    <a:pt x="1632108" y="100460"/>
                    <a:pt x="1849413" y="26171"/>
                  </a:cubicBezTo>
                  <a:cubicBezTo>
                    <a:pt x="2027426" y="-34438"/>
                    <a:pt x="2171712" y="20762"/>
                    <a:pt x="2338907" y="84870"/>
                  </a:cubicBezTo>
                  <a:cubicBezTo>
                    <a:pt x="2490830" y="143092"/>
                    <a:pt x="2662956" y="209268"/>
                    <a:pt x="2906669" y="212132"/>
                  </a:cubicBezTo>
                  <a:cubicBezTo>
                    <a:pt x="3151018" y="215790"/>
                    <a:pt x="3329826" y="157409"/>
                    <a:pt x="3486998" y="106345"/>
                  </a:cubicBezTo>
                  <a:cubicBezTo>
                    <a:pt x="3672010" y="46532"/>
                    <a:pt x="3831728" y="-5168"/>
                    <a:pt x="4037261" y="62122"/>
                  </a:cubicBezTo>
                  <a:cubicBezTo>
                    <a:pt x="4256634" y="134979"/>
                    <a:pt x="4356697" y="288011"/>
                    <a:pt x="4483326" y="481926"/>
                  </a:cubicBezTo>
                  <a:cubicBezTo>
                    <a:pt x="4581479" y="632254"/>
                    <a:pt x="4692677" y="802466"/>
                    <a:pt x="4887711" y="991927"/>
                  </a:cubicBezTo>
                  <a:cubicBezTo>
                    <a:pt x="5054905" y="1154504"/>
                    <a:pt x="5208896" y="1262040"/>
                    <a:pt x="5344752" y="1357009"/>
                  </a:cubicBezTo>
                  <a:cubicBezTo>
                    <a:pt x="5560307" y="1507495"/>
                    <a:pt x="5730524" y="1626326"/>
                    <a:pt x="5806407" y="1876395"/>
                  </a:cubicBezTo>
                  <a:cubicBezTo>
                    <a:pt x="5850949" y="2022110"/>
                    <a:pt x="5831541" y="2119783"/>
                    <a:pt x="5807042" y="2243704"/>
                  </a:cubicBezTo>
                  <a:cubicBezTo>
                    <a:pt x="5788271" y="2338832"/>
                    <a:pt x="5766795" y="2446845"/>
                    <a:pt x="5769499" y="2603854"/>
                  </a:cubicBezTo>
                  <a:cubicBezTo>
                    <a:pt x="5774431" y="2887011"/>
                    <a:pt x="5853972" y="3090470"/>
                    <a:pt x="5924286" y="3270068"/>
                  </a:cubicBezTo>
                  <a:cubicBezTo>
                    <a:pt x="6001599" y="3467483"/>
                    <a:pt x="6068414" y="3638013"/>
                    <a:pt x="6016076" y="3856426"/>
                  </a:cubicBezTo>
                  <a:cubicBezTo>
                    <a:pt x="5970101" y="4048750"/>
                    <a:pt x="5861449" y="4138947"/>
                    <a:pt x="5697118" y="4275276"/>
                  </a:cubicBezTo>
                  <a:cubicBezTo>
                    <a:pt x="5591647" y="4362768"/>
                    <a:pt x="5460245" y="4471736"/>
                    <a:pt x="5308322" y="4640517"/>
                  </a:cubicBezTo>
                  <a:cubicBezTo>
                    <a:pt x="5087517" y="4885813"/>
                    <a:pt x="4960729" y="5098181"/>
                    <a:pt x="4848895" y="5285415"/>
                  </a:cubicBezTo>
                  <a:cubicBezTo>
                    <a:pt x="4693791" y="5545188"/>
                    <a:pt x="4581956" y="5732739"/>
                    <a:pt x="4312631" y="5837253"/>
                  </a:cubicBezTo>
                  <a:cubicBezTo>
                    <a:pt x="4130960" y="5907883"/>
                    <a:pt x="4005127" y="5885453"/>
                    <a:pt x="3831091" y="5854433"/>
                  </a:cubicBezTo>
                  <a:cubicBezTo>
                    <a:pt x="3696509" y="5830412"/>
                    <a:pt x="3528996" y="5800506"/>
                    <a:pt x="3283056" y="5807823"/>
                  </a:cubicBezTo>
                  <a:cubicBezTo>
                    <a:pt x="2996868" y="5816414"/>
                    <a:pt x="2792448" y="5866205"/>
                    <a:pt x="2612209" y="5909951"/>
                  </a:cubicBezTo>
                  <a:cubicBezTo>
                    <a:pt x="2476672" y="5943357"/>
                    <a:pt x="2357520" y="5972309"/>
                    <a:pt x="2236300" y="5972309"/>
                  </a:cubicBezTo>
                  <a:close/>
                  <a:moveTo>
                    <a:pt x="2005154" y="29352"/>
                  </a:moveTo>
                  <a:cubicBezTo>
                    <a:pt x="1958384" y="29352"/>
                    <a:pt x="1910342" y="36829"/>
                    <a:pt x="1859117" y="54168"/>
                  </a:cubicBezTo>
                  <a:cubicBezTo>
                    <a:pt x="1653266" y="124480"/>
                    <a:pt x="1567680" y="293579"/>
                    <a:pt x="1459346" y="507697"/>
                  </a:cubicBezTo>
                  <a:cubicBezTo>
                    <a:pt x="1365487" y="693180"/>
                    <a:pt x="1259062" y="903480"/>
                    <a:pt x="1047324" y="1107735"/>
                  </a:cubicBezTo>
                  <a:cubicBezTo>
                    <a:pt x="852132" y="1296241"/>
                    <a:pt x="662029" y="1387711"/>
                    <a:pt x="494357" y="1468363"/>
                  </a:cubicBezTo>
                  <a:cubicBezTo>
                    <a:pt x="299482" y="1562059"/>
                    <a:pt x="145651" y="1636189"/>
                    <a:pt x="67542" y="1826922"/>
                  </a:cubicBezTo>
                  <a:cubicBezTo>
                    <a:pt x="-11363" y="2019723"/>
                    <a:pt x="47815" y="2184050"/>
                    <a:pt x="122743" y="2391964"/>
                  </a:cubicBezTo>
                  <a:cubicBezTo>
                    <a:pt x="188762" y="2575379"/>
                    <a:pt x="263848" y="2783293"/>
                    <a:pt x="269257" y="3069313"/>
                  </a:cubicBezTo>
                  <a:cubicBezTo>
                    <a:pt x="273870" y="3310792"/>
                    <a:pt x="247940" y="3521569"/>
                    <a:pt x="225032" y="3707371"/>
                  </a:cubicBezTo>
                  <a:cubicBezTo>
                    <a:pt x="189239" y="3998005"/>
                    <a:pt x="161081" y="4227712"/>
                    <a:pt x="253508" y="4453283"/>
                  </a:cubicBezTo>
                  <a:cubicBezTo>
                    <a:pt x="330821" y="4642903"/>
                    <a:pt x="455860" y="4682036"/>
                    <a:pt x="628781" y="4736281"/>
                  </a:cubicBezTo>
                  <a:cubicBezTo>
                    <a:pt x="809180" y="4792912"/>
                    <a:pt x="1033962" y="4863225"/>
                    <a:pt x="1281174" y="5141450"/>
                  </a:cubicBezTo>
                  <a:cubicBezTo>
                    <a:pt x="1395872" y="5269825"/>
                    <a:pt x="1478117" y="5385633"/>
                    <a:pt x="1550658" y="5488079"/>
                  </a:cubicBezTo>
                  <a:cubicBezTo>
                    <a:pt x="1684923" y="5677540"/>
                    <a:pt x="1781963" y="5814505"/>
                    <a:pt x="1986542" y="5894520"/>
                  </a:cubicBezTo>
                  <a:cubicBezTo>
                    <a:pt x="2202893" y="5979308"/>
                    <a:pt x="2371996" y="5938107"/>
                    <a:pt x="2605846" y="5881158"/>
                  </a:cubicBezTo>
                  <a:cubicBezTo>
                    <a:pt x="2778608" y="5839162"/>
                    <a:pt x="2993527" y="5786826"/>
                    <a:pt x="3282897" y="5778235"/>
                  </a:cubicBezTo>
                  <a:cubicBezTo>
                    <a:pt x="3531541" y="5770441"/>
                    <a:pt x="3700963" y="5800824"/>
                    <a:pt x="3836977" y="5825163"/>
                  </a:cubicBezTo>
                  <a:cubicBezTo>
                    <a:pt x="4006399" y="5855546"/>
                    <a:pt x="4128733" y="5877340"/>
                    <a:pt x="4302609" y="5809573"/>
                  </a:cubicBezTo>
                  <a:cubicBezTo>
                    <a:pt x="4562389" y="5708877"/>
                    <a:pt x="4672155" y="5524826"/>
                    <a:pt x="4824237" y="5270303"/>
                  </a:cubicBezTo>
                  <a:cubicBezTo>
                    <a:pt x="4931140" y="5091182"/>
                    <a:pt x="5064291" y="4868156"/>
                    <a:pt x="5287006" y="4620791"/>
                  </a:cubicBezTo>
                  <a:cubicBezTo>
                    <a:pt x="5440360" y="4450260"/>
                    <a:pt x="5572557" y="4340657"/>
                    <a:pt x="5678823" y="4252528"/>
                  </a:cubicBezTo>
                  <a:cubicBezTo>
                    <a:pt x="5838700" y="4119858"/>
                    <a:pt x="5944330" y="4032365"/>
                    <a:pt x="5988077" y="3849586"/>
                  </a:cubicBezTo>
                  <a:cubicBezTo>
                    <a:pt x="6038188" y="3640241"/>
                    <a:pt x="5972965" y="3473687"/>
                    <a:pt x="5897401" y="3280886"/>
                  </a:cubicBezTo>
                  <a:cubicBezTo>
                    <a:pt x="5826292" y="3099061"/>
                    <a:pt x="5745478" y="2892897"/>
                    <a:pt x="5740547" y="2604490"/>
                  </a:cubicBezTo>
                  <a:cubicBezTo>
                    <a:pt x="5737842" y="2444300"/>
                    <a:pt x="5759477" y="2334696"/>
                    <a:pt x="5778726" y="2237977"/>
                  </a:cubicBezTo>
                  <a:cubicBezTo>
                    <a:pt x="5802429" y="2118192"/>
                    <a:pt x="5821201" y="2023700"/>
                    <a:pt x="5778726" y="1885144"/>
                  </a:cubicBezTo>
                  <a:cubicBezTo>
                    <a:pt x="5705867" y="1644938"/>
                    <a:pt x="5547581" y="1534380"/>
                    <a:pt x="5328366" y="1381347"/>
                  </a:cubicBezTo>
                  <a:cubicBezTo>
                    <a:pt x="5191557" y="1285901"/>
                    <a:pt x="5036452" y="1177570"/>
                    <a:pt x="4867667" y="1013243"/>
                  </a:cubicBezTo>
                  <a:cubicBezTo>
                    <a:pt x="4670246" y="821715"/>
                    <a:pt x="4553163" y="642435"/>
                    <a:pt x="4459145" y="498311"/>
                  </a:cubicBezTo>
                  <a:cubicBezTo>
                    <a:pt x="4330767" y="301851"/>
                    <a:pt x="4238181" y="159954"/>
                    <a:pt x="4028512" y="90438"/>
                  </a:cubicBezTo>
                  <a:cubicBezTo>
                    <a:pt x="3832205" y="26171"/>
                    <a:pt x="3676783" y="76439"/>
                    <a:pt x="3496543" y="134661"/>
                  </a:cubicBezTo>
                  <a:cubicBezTo>
                    <a:pt x="3337144" y="186202"/>
                    <a:pt x="3155950" y="243788"/>
                    <a:pt x="2906669" y="241879"/>
                  </a:cubicBezTo>
                  <a:lnTo>
                    <a:pt x="2906669" y="241879"/>
                  </a:lnTo>
                  <a:cubicBezTo>
                    <a:pt x="2657706" y="238697"/>
                    <a:pt x="2482876" y="171726"/>
                    <a:pt x="2328726" y="112549"/>
                  </a:cubicBezTo>
                  <a:cubicBezTo>
                    <a:pt x="2211483" y="67690"/>
                    <a:pt x="2111580" y="29352"/>
                    <a:pt x="2005154" y="29352"/>
                  </a:cubicBezTo>
                  <a:close/>
                </a:path>
              </a:pathLst>
            </a:custGeom>
            <a:gradFill>
              <a:gsLst>
                <a:gs pos="100000">
                  <a:schemeClr val="accent2"/>
                </a:gs>
                <a:gs pos="0">
                  <a:schemeClr val="accent1"/>
                </a:gs>
              </a:gsLst>
              <a:lin ang="0" scaled="1"/>
            </a:gradFill>
            <a:ln w="1589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5" name="Freeform 24">
              <a:extLst>
                <a:ext uri="{FF2B5EF4-FFF2-40B4-BE49-F238E27FC236}">
                  <a16:creationId xmlns:a16="http://schemas.microsoft.com/office/drawing/2014/main" id="{8B30D8C0-2991-5FE5-C6AA-6675142D63FC}"/>
                </a:ext>
              </a:extLst>
            </p:cNvPr>
            <p:cNvSpPr/>
            <p:nvPr/>
          </p:nvSpPr>
          <p:spPr>
            <a:xfrm>
              <a:off x="-2964173" y="487280"/>
              <a:ext cx="5919576" cy="5863867"/>
            </a:xfrm>
            <a:custGeom>
              <a:avLst/>
              <a:gdLst>
                <a:gd name="connsiteX0" fmla="*/ 2197559 w 5919576"/>
                <a:gd name="connsiteY0" fmla="*/ 5863868 h 5863867"/>
                <a:gd name="connsiteX1" fmla="*/ 1928711 w 5919576"/>
                <a:gd name="connsiteY1" fmla="*/ 5812486 h 5863867"/>
                <a:gd name="connsiteX2" fmla="*/ 1476602 w 5919576"/>
                <a:gd name="connsiteY2" fmla="*/ 5398886 h 5863867"/>
                <a:gd name="connsiteX3" fmla="*/ 1219367 w 5919576"/>
                <a:gd name="connsiteY3" fmla="*/ 5073733 h 5863867"/>
                <a:gd name="connsiteX4" fmla="*/ 607062 w 5919576"/>
                <a:gd name="connsiteY4" fmla="*/ 4683835 h 5863867"/>
                <a:gd name="connsiteX5" fmla="*/ 217472 w 5919576"/>
                <a:gd name="connsiteY5" fmla="*/ 4377294 h 5863867"/>
                <a:gd name="connsiteX6" fmla="*/ 180565 w 5919576"/>
                <a:gd name="connsiteY6" fmla="*/ 3615951 h 5863867"/>
                <a:gd name="connsiteX7" fmla="*/ 218585 w 5919576"/>
                <a:gd name="connsiteY7" fmla="*/ 3011459 h 5863867"/>
                <a:gd name="connsiteX8" fmla="*/ 87184 w 5919576"/>
                <a:gd name="connsiteY8" fmla="*/ 2367197 h 5863867"/>
                <a:gd name="connsiteX9" fmla="*/ 41210 w 5919576"/>
                <a:gd name="connsiteY9" fmla="*/ 1780521 h 5863867"/>
                <a:gd name="connsiteX10" fmla="*/ 477570 w 5919576"/>
                <a:gd name="connsiteY10" fmla="*/ 1400804 h 5863867"/>
                <a:gd name="connsiteX11" fmla="*/ 997926 w 5919576"/>
                <a:gd name="connsiteY11" fmla="*/ 1053539 h 5863867"/>
                <a:gd name="connsiteX12" fmla="*/ 1394675 w 5919576"/>
                <a:gd name="connsiteY12" fmla="*/ 489293 h 5863867"/>
                <a:gd name="connsiteX13" fmla="*/ 1818309 w 5919576"/>
                <a:gd name="connsiteY13" fmla="*/ 27015 h 5863867"/>
                <a:gd name="connsiteX14" fmla="*/ 2307166 w 5919576"/>
                <a:gd name="connsiteY14" fmla="*/ 78556 h 5863867"/>
                <a:gd name="connsiteX15" fmla="*/ 2856157 w 5919576"/>
                <a:gd name="connsiteY15" fmla="*/ 194683 h 5863867"/>
                <a:gd name="connsiteX16" fmla="*/ 3418669 w 5919576"/>
                <a:gd name="connsiteY16" fmla="*/ 99395 h 5863867"/>
                <a:gd name="connsiteX17" fmla="*/ 3970840 w 5919576"/>
                <a:gd name="connsiteY17" fmla="*/ 64080 h 5863867"/>
                <a:gd name="connsiteX18" fmla="*/ 4425337 w 5919576"/>
                <a:gd name="connsiteY18" fmla="*/ 485157 h 5863867"/>
                <a:gd name="connsiteX19" fmla="*/ 4816677 w 5919576"/>
                <a:gd name="connsiteY19" fmla="*/ 972410 h 5863867"/>
                <a:gd name="connsiteX20" fmla="*/ 5247947 w 5919576"/>
                <a:gd name="connsiteY20" fmla="*/ 1325084 h 5863867"/>
                <a:gd name="connsiteX21" fmla="*/ 5708329 w 5919576"/>
                <a:gd name="connsiteY21" fmla="*/ 1855924 h 5863867"/>
                <a:gd name="connsiteX22" fmla="*/ 5711669 w 5919576"/>
                <a:gd name="connsiteY22" fmla="*/ 2224187 h 5863867"/>
                <a:gd name="connsiteX23" fmla="*/ 5677944 w 5919576"/>
                <a:gd name="connsiteY23" fmla="*/ 2573043 h 5863867"/>
                <a:gd name="connsiteX24" fmla="*/ 5818572 w 5919576"/>
                <a:gd name="connsiteY24" fmla="*/ 3217622 h 5863867"/>
                <a:gd name="connsiteX25" fmla="*/ 5899386 w 5919576"/>
                <a:gd name="connsiteY25" fmla="*/ 3802707 h 5863867"/>
                <a:gd name="connsiteX26" fmla="*/ 5579472 w 5919576"/>
                <a:gd name="connsiteY26" fmla="*/ 4225534 h 5863867"/>
                <a:gd name="connsiteX27" fmla="*/ 5209927 w 5919576"/>
                <a:gd name="connsiteY27" fmla="*/ 4576299 h 5863867"/>
                <a:gd name="connsiteX28" fmla="*/ 4766407 w 5919576"/>
                <a:gd name="connsiteY28" fmla="*/ 5187155 h 5863867"/>
                <a:gd name="connsiteX29" fmla="*/ 4220280 w 5919576"/>
                <a:gd name="connsiteY29" fmla="*/ 5736766 h 5863867"/>
                <a:gd name="connsiteX30" fmla="*/ 3737468 w 5919576"/>
                <a:gd name="connsiteY30" fmla="*/ 5757128 h 5863867"/>
                <a:gd name="connsiteX31" fmla="*/ 3210431 w 5919576"/>
                <a:gd name="connsiteY31" fmla="*/ 5715927 h 5863867"/>
                <a:gd name="connsiteX32" fmla="*/ 2567265 w 5919576"/>
                <a:gd name="connsiteY32" fmla="*/ 5807714 h 5863867"/>
                <a:gd name="connsiteX33" fmla="*/ 2197559 w 5919576"/>
                <a:gd name="connsiteY33" fmla="*/ 5863868 h 5863867"/>
                <a:gd name="connsiteX34" fmla="*/ 1978186 w 5919576"/>
                <a:gd name="connsiteY34" fmla="*/ 32424 h 5863867"/>
                <a:gd name="connsiteX35" fmla="*/ 1828808 w 5919576"/>
                <a:gd name="connsiteY35" fmla="*/ 57876 h 5863867"/>
                <a:gd name="connsiteX36" fmla="*/ 1423469 w 5919576"/>
                <a:gd name="connsiteY36" fmla="*/ 504724 h 5863867"/>
                <a:gd name="connsiteX37" fmla="*/ 1020515 w 5919576"/>
                <a:gd name="connsiteY37" fmla="*/ 1077083 h 5863867"/>
                <a:gd name="connsiteX38" fmla="*/ 492206 w 5919576"/>
                <a:gd name="connsiteY38" fmla="*/ 1430074 h 5863867"/>
                <a:gd name="connsiteX39" fmla="*/ 71435 w 5919576"/>
                <a:gd name="connsiteY39" fmla="*/ 1792929 h 5863867"/>
                <a:gd name="connsiteX40" fmla="*/ 118205 w 5919576"/>
                <a:gd name="connsiteY40" fmla="*/ 2356539 h 5863867"/>
                <a:gd name="connsiteX41" fmla="*/ 251356 w 5919576"/>
                <a:gd name="connsiteY41" fmla="*/ 3010663 h 5863867"/>
                <a:gd name="connsiteX42" fmla="*/ 213177 w 5919576"/>
                <a:gd name="connsiteY42" fmla="*/ 3619292 h 5863867"/>
                <a:gd name="connsiteX43" fmla="*/ 247856 w 5919576"/>
                <a:gd name="connsiteY43" fmla="*/ 4364568 h 5863867"/>
                <a:gd name="connsiteX44" fmla="*/ 617721 w 5919576"/>
                <a:gd name="connsiteY44" fmla="*/ 4652497 h 5863867"/>
                <a:gd name="connsiteX45" fmla="*/ 1243866 w 5919576"/>
                <a:gd name="connsiteY45" fmla="*/ 5051462 h 5863867"/>
                <a:gd name="connsiteX46" fmla="*/ 1503169 w 5919576"/>
                <a:gd name="connsiteY46" fmla="*/ 5379320 h 5863867"/>
                <a:gd name="connsiteX47" fmla="*/ 1940643 w 5919576"/>
                <a:gd name="connsiteY47" fmla="*/ 5781784 h 5863867"/>
                <a:gd name="connsiteX48" fmla="*/ 2560106 w 5919576"/>
                <a:gd name="connsiteY48" fmla="*/ 5775103 h 5863867"/>
                <a:gd name="connsiteX49" fmla="*/ 3209476 w 5919576"/>
                <a:gd name="connsiteY49" fmla="*/ 5682520 h 5863867"/>
                <a:gd name="connsiteX50" fmla="*/ 3742718 w 5919576"/>
                <a:gd name="connsiteY50" fmla="*/ 5724199 h 5863867"/>
                <a:gd name="connsiteX51" fmla="*/ 4208349 w 5919576"/>
                <a:gd name="connsiteY51" fmla="*/ 5705586 h 5863867"/>
                <a:gd name="connsiteX52" fmla="*/ 4738409 w 5919576"/>
                <a:gd name="connsiteY52" fmla="*/ 5169338 h 5863867"/>
                <a:gd name="connsiteX53" fmla="*/ 5185428 w 5919576"/>
                <a:gd name="connsiteY53" fmla="*/ 4553869 h 5863867"/>
                <a:gd name="connsiteX54" fmla="*/ 5557996 w 5919576"/>
                <a:gd name="connsiteY54" fmla="*/ 4199923 h 5863867"/>
                <a:gd name="connsiteX55" fmla="*/ 5867251 w 5919576"/>
                <a:gd name="connsiteY55" fmla="*/ 3794276 h 5863867"/>
                <a:gd name="connsiteX56" fmla="*/ 5787392 w 5919576"/>
                <a:gd name="connsiteY56" fmla="*/ 3228281 h 5863867"/>
                <a:gd name="connsiteX57" fmla="*/ 5644696 w 5919576"/>
                <a:gd name="connsiteY57" fmla="*/ 2573043 h 5863867"/>
                <a:gd name="connsiteX58" fmla="*/ 5679058 w 5919576"/>
                <a:gd name="connsiteY58" fmla="*/ 2217824 h 5863867"/>
                <a:gd name="connsiteX59" fmla="*/ 5676672 w 5919576"/>
                <a:gd name="connsiteY59" fmla="*/ 1865150 h 5863867"/>
                <a:gd name="connsiteX60" fmla="*/ 5228539 w 5919576"/>
                <a:gd name="connsiteY60" fmla="*/ 1351490 h 5863867"/>
                <a:gd name="connsiteX61" fmla="*/ 4793610 w 5919576"/>
                <a:gd name="connsiteY61" fmla="*/ 995794 h 5863867"/>
                <a:gd name="connsiteX62" fmla="*/ 4397974 w 5919576"/>
                <a:gd name="connsiteY62" fmla="*/ 503451 h 5863867"/>
                <a:gd name="connsiteX63" fmla="*/ 3960341 w 5919576"/>
                <a:gd name="connsiteY63" fmla="*/ 95100 h 5863867"/>
                <a:gd name="connsiteX64" fmla="*/ 3427895 w 5919576"/>
                <a:gd name="connsiteY64" fmla="*/ 130734 h 5863867"/>
                <a:gd name="connsiteX65" fmla="*/ 2855520 w 5919576"/>
                <a:gd name="connsiteY65" fmla="*/ 227293 h 5863867"/>
                <a:gd name="connsiteX66" fmla="*/ 2855520 w 5919576"/>
                <a:gd name="connsiteY66" fmla="*/ 227293 h 5863867"/>
                <a:gd name="connsiteX67" fmla="*/ 2295872 w 5919576"/>
                <a:gd name="connsiteY67" fmla="*/ 109258 h 5863867"/>
                <a:gd name="connsiteX68" fmla="*/ 1978186 w 5919576"/>
                <a:gd name="connsiteY68" fmla="*/ 32424 h 5863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5919576" h="5863867">
                  <a:moveTo>
                    <a:pt x="2197559" y="5863868"/>
                  </a:moveTo>
                  <a:cubicBezTo>
                    <a:pt x="2110860" y="5863868"/>
                    <a:pt x="2023365" y="5849710"/>
                    <a:pt x="1928711" y="5812486"/>
                  </a:cubicBezTo>
                  <a:cubicBezTo>
                    <a:pt x="1716974" y="5729130"/>
                    <a:pt x="1610867" y="5583415"/>
                    <a:pt x="1476602" y="5398886"/>
                  </a:cubicBezTo>
                  <a:cubicBezTo>
                    <a:pt x="1406447" y="5302485"/>
                    <a:pt x="1327065" y="5193359"/>
                    <a:pt x="1219367" y="5073733"/>
                  </a:cubicBezTo>
                  <a:cubicBezTo>
                    <a:pt x="988222" y="4814914"/>
                    <a:pt x="776802" y="4742216"/>
                    <a:pt x="607062" y="4683835"/>
                  </a:cubicBezTo>
                  <a:cubicBezTo>
                    <a:pt x="435414" y="4624817"/>
                    <a:pt x="299876" y="4578208"/>
                    <a:pt x="217472" y="4377294"/>
                  </a:cubicBezTo>
                  <a:cubicBezTo>
                    <a:pt x="121546" y="4144405"/>
                    <a:pt x="148908" y="3899427"/>
                    <a:pt x="180565" y="3615951"/>
                  </a:cubicBezTo>
                  <a:cubicBezTo>
                    <a:pt x="200291" y="3438899"/>
                    <a:pt x="222722" y="3238302"/>
                    <a:pt x="218585" y="3011459"/>
                  </a:cubicBezTo>
                  <a:cubicBezTo>
                    <a:pt x="213654" y="2742937"/>
                    <a:pt x="146522" y="2543295"/>
                    <a:pt x="87184" y="2367197"/>
                  </a:cubicBezTo>
                  <a:cubicBezTo>
                    <a:pt x="14961" y="2152761"/>
                    <a:pt x="-41990" y="1983344"/>
                    <a:pt x="41210" y="1780521"/>
                  </a:cubicBezTo>
                  <a:cubicBezTo>
                    <a:pt x="123614" y="1579925"/>
                    <a:pt x="287627" y="1496887"/>
                    <a:pt x="477570" y="1400804"/>
                  </a:cubicBezTo>
                  <a:cubicBezTo>
                    <a:pt x="635697" y="1320789"/>
                    <a:pt x="814982" y="1230115"/>
                    <a:pt x="997926" y="1053539"/>
                  </a:cubicBezTo>
                  <a:cubicBezTo>
                    <a:pt x="1196459" y="861851"/>
                    <a:pt x="1301771" y="663960"/>
                    <a:pt x="1394675" y="489293"/>
                  </a:cubicBezTo>
                  <a:cubicBezTo>
                    <a:pt x="1505555" y="281061"/>
                    <a:pt x="1601163" y="101304"/>
                    <a:pt x="1818309" y="27015"/>
                  </a:cubicBezTo>
                  <a:cubicBezTo>
                    <a:pt x="1995207" y="-33593"/>
                    <a:pt x="2139813" y="18425"/>
                    <a:pt x="2307166" y="78556"/>
                  </a:cubicBezTo>
                  <a:cubicBezTo>
                    <a:pt x="2455271" y="131688"/>
                    <a:pt x="2622943" y="191978"/>
                    <a:pt x="2856157" y="194683"/>
                  </a:cubicBezTo>
                  <a:cubicBezTo>
                    <a:pt x="3089688" y="196910"/>
                    <a:pt x="3264996" y="145369"/>
                    <a:pt x="3418669" y="99395"/>
                  </a:cubicBezTo>
                  <a:cubicBezTo>
                    <a:pt x="3605112" y="43719"/>
                    <a:pt x="3766103" y="-4482"/>
                    <a:pt x="3970840" y="64080"/>
                  </a:cubicBezTo>
                  <a:cubicBezTo>
                    <a:pt x="4191328" y="137733"/>
                    <a:pt x="4294731" y="291083"/>
                    <a:pt x="4425337" y="485157"/>
                  </a:cubicBezTo>
                  <a:cubicBezTo>
                    <a:pt x="4522217" y="629122"/>
                    <a:pt x="4632142" y="792176"/>
                    <a:pt x="4816677" y="972410"/>
                  </a:cubicBezTo>
                  <a:cubicBezTo>
                    <a:pt x="4973849" y="1126237"/>
                    <a:pt x="5119568" y="1231865"/>
                    <a:pt x="5247947" y="1325084"/>
                  </a:cubicBezTo>
                  <a:cubicBezTo>
                    <a:pt x="5462707" y="1480979"/>
                    <a:pt x="5632288" y="1603946"/>
                    <a:pt x="5708329" y="1855924"/>
                  </a:cubicBezTo>
                  <a:cubicBezTo>
                    <a:pt x="5752394" y="2000683"/>
                    <a:pt x="5734418" y="2099311"/>
                    <a:pt x="5711669" y="2224187"/>
                  </a:cubicBezTo>
                  <a:cubicBezTo>
                    <a:pt x="5694648" y="2317247"/>
                    <a:pt x="5675399" y="2422874"/>
                    <a:pt x="5677944" y="2573043"/>
                  </a:cubicBezTo>
                  <a:cubicBezTo>
                    <a:pt x="5682398" y="2844269"/>
                    <a:pt x="5754781" y="3042638"/>
                    <a:pt x="5818572" y="3217622"/>
                  </a:cubicBezTo>
                  <a:cubicBezTo>
                    <a:pt x="5890795" y="3415355"/>
                    <a:pt x="5952996" y="3586204"/>
                    <a:pt x="5899386" y="3802707"/>
                  </a:cubicBezTo>
                  <a:cubicBezTo>
                    <a:pt x="5851979" y="3994714"/>
                    <a:pt x="5743485" y="4086501"/>
                    <a:pt x="5579472" y="4225534"/>
                  </a:cubicBezTo>
                  <a:cubicBezTo>
                    <a:pt x="5478774" y="4310800"/>
                    <a:pt x="5353577" y="4416904"/>
                    <a:pt x="5209927" y="4576299"/>
                  </a:cubicBezTo>
                  <a:cubicBezTo>
                    <a:pt x="5001530" y="4807597"/>
                    <a:pt x="4876651" y="5009147"/>
                    <a:pt x="4766407" y="5187155"/>
                  </a:cubicBezTo>
                  <a:cubicBezTo>
                    <a:pt x="4606212" y="5445655"/>
                    <a:pt x="4490401" y="5632570"/>
                    <a:pt x="4220280" y="5736766"/>
                  </a:cubicBezTo>
                  <a:cubicBezTo>
                    <a:pt x="4039405" y="5806760"/>
                    <a:pt x="3912776" y="5785920"/>
                    <a:pt x="3737468" y="5757128"/>
                  </a:cubicBezTo>
                  <a:cubicBezTo>
                    <a:pt x="3606703" y="5735652"/>
                    <a:pt x="3444440" y="5709086"/>
                    <a:pt x="3210431" y="5715927"/>
                  </a:cubicBezTo>
                  <a:cubicBezTo>
                    <a:pt x="2939038" y="5723881"/>
                    <a:pt x="2741618" y="5768422"/>
                    <a:pt x="2567265" y="5807714"/>
                  </a:cubicBezTo>
                  <a:cubicBezTo>
                    <a:pt x="2433636" y="5837302"/>
                    <a:pt x="2316075" y="5863868"/>
                    <a:pt x="2197559" y="5863868"/>
                  </a:cubicBezTo>
                  <a:close/>
                  <a:moveTo>
                    <a:pt x="1978186" y="32424"/>
                  </a:moveTo>
                  <a:cubicBezTo>
                    <a:pt x="1930302" y="32424"/>
                    <a:pt x="1881146" y="39901"/>
                    <a:pt x="1828808" y="57876"/>
                  </a:cubicBezTo>
                  <a:cubicBezTo>
                    <a:pt x="1623911" y="128029"/>
                    <a:pt x="1535462" y="294265"/>
                    <a:pt x="1423469" y="504724"/>
                  </a:cubicBezTo>
                  <a:cubicBezTo>
                    <a:pt x="1329451" y="681458"/>
                    <a:pt x="1222708" y="881895"/>
                    <a:pt x="1020515" y="1077083"/>
                  </a:cubicBezTo>
                  <a:cubicBezTo>
                    <a:pt x="834072" y="1257158"/>
                    <a:pt x="652401" y="1349104"/>
                    <a:pt x="492206" y="1430074"/>
                  </a:cubicBezTo>
                  <a:cubicBezTo>
                    <a:pt x="300671" y="1526952"/>
                    <a:pt x="149226" y="1603627"/>
                    <a:pt x="71435" y="1792929"/>
                  </a:cubicBezTo>
                  <a:cubicBezTo>
                    <a:pt x="-7151" y="1984299"/>
                    <a:pt x="48209" y="2148625"/>
                    <a:pt x="118205" y="2356539"/>
                  </a:cubicBezTo>
                  <a:cubicBezTo>
                    <a:pt x="178179" y="2534864"/>
                    <a:pt x="246266" y="2737051"/>
                    <a:pt x="251356" y="3010663"/>
                  </a:cubicBezTo>
                  <a:cubicBezTo>
                    <a:pt x="255492" y="3239734"/>
                    <a:pt x="233062" y="3441444"/>
                    <a:pt x="213177" y="3619292"/>
                  </a:cubicBezTo>
                  <a:cubicBezTo>
                    <a:pt x="180724" y="3909926"/>
                    <a:pt x="155112" y="4139314"/>
                    <a:pt x="247856" y="4364568"/>
                  </a:cubicBezTo>
                  <a:cubicBezTo>
                    <a:pt x="324534" y="4551642"/>
                    <a:pt x="447504" y="4593957"/>
                    <a:pt x="617721" y="4652497"/>
                  </a:cubicBezTo>
                  <a:cubicBezTo>
                    <a:pt x="791279" y="4712151"/>
                    <a:pt x="1007152" y="4786281"/>
                    <a:pt x="1243866" y="5051462"/>
                  </a:cubicBezTo>
                  <a:cubicBezTo>
                    <a:pt x="1352677" y="5172360"/>
                    <a:pt x="1432695" y="5282283"/>
                    <a:pt x="1503169" y="5379320"/>
                  </a:cubicBezTo>
                  <a:cubicBezTo>
                    <a:pt x="1639501" y="5566553"/>
                    <a:pt x="1737973" y="5701928"/>
                    <a:pt x="1940643" y="5781784"/>
                  </a:cubicBezTo>
                  <a:cubicBezTo>
                    <a:pt x="2155562" y="5866413"/>
                    <a:pt x="2325302" y="5828076"/>
                    <a:pt x="2560106" y="5775103"/>
                  </a:cubicBezTo>
                  <a:cubicBezTo>
                    <a:pt x="2735891" y="5735493"/>
                    <a:pt x="2935061" y="5690474"/>
                    <a:pt x="3209476" y="5682520"/>
                  </a:cubicBezTo>
                  <a:cubicBezTo>
                    <a:pt x="3446508" y="5675521"/>
                    <a:pt x="3610680" y="5702564"/>
                    <a:pt x="3742718" y="5724199"/>
                  </a:cubicBezTo>
                  <a:cubicBezTo>
                    <a:pt x="3913094" y="5752196"/>
                    <a:pt x="4035905" y="5772558"/>
                    <a:pt x="4208349" y="5705586"/>
                  </a:cubicBezTo>
                  <a:cubicBezTo>
                    <a:pt x="4468288" y="5605368"/>
                    <a:pt x="4581555" y="5422589"/>
                    <a:pt x="4738409" y="5169338"/>
                  </a:cubicBezTo>
                  <a:cubicBezTo>
                    <a:pt x="4849289" y="4990217"/>
                    <a:pt x="4974963" y="4787394"/>
                    <a:pt x="5185428" y="4553869"/>
                  </a:cubicBezTo>
                  <a:cubicBezTo>
                    <a:pt x="5330351" y="4392883"/>
                    <a:pt x="5456662" y="4285824"/>
                    <a:pt x="5557996" y="4199923"/>
                  </a:cubicBezTo>
                  <a:cubicBezTo>
                    <a:pt x="5717237" y="4065026"/>
                    <a:pt x="5822390" y="3975943"/>
                    <a:pt x="5867251" y="3794276"/>
                  </a:cubicBezTo>
                  <a:cubicBezTo>
                    <a:pt x="5918475" y="3587476"/>
                    <a:pt x="5857706" y="3421082"/>
                    <a:pt x="5787392" y="3228281"/>
                  </a:cubicBezTo>
                  <a:cubicBezTo>
                    <a:pt x="5722646" y="3050910"/>
                    <a:pt x="5649310" y="2849836"/>
                    <a:pt x="5644696" y="2573043"/>
                  </a:cubicBezTo>
                  <a:cubicBezTo>
                    <a:pt x="5642151" y="2419533"/>
                    <a:pt x="5661718" y="2312315"/>
                    <a:pt x="5679058" y="2217824"/>
                  </a:cubicBezTo>
                  <a:cubicBezTo>
                    <a:pt x="5701011" y="2097402"/>
                    <a:pt x="5718351" y="2002274"/>
                    <a:pt x="5676672" y="1865150"/>
                  </a:cubicBezTo>
                  <a:cubicBezTo>
                    <a:pt x="5603971" y="1623830"/>
                    <a:pt x="5446481" y="1509613"/>
                    <a:pt x="5228539" y="1351490"/>
                  </a:cubicBezTo>
                  <a:cubicBezTo>
                    <a:pt x="5099205" y="1257635"/>
                    <a:pt x="4952532" y="1151212"/>
                    <a:pt x="4793610" y="995794"/>
                  </a:cubicBezTo>
                  <a:cubicBezTo>
                    <a:pt x="4606689" y="813174"/>
                    <a:pt x="4495810" y="648688"/>
                    <a:pt x="4397974" y="503451"/>
                  </a:cubicBezTo>
                  <a:cubicBezTo>
                    <a:pt x="4265778" y="307150"/>
                    <a:pt x="4170170" y="165253"/>
                    <a:pt x="3960341" y="95100"/>
                  </a:cubicBezTo>
                  <a:cubicBezTo>
                    <a:pt x="3765148" y="29879"/>
                    <a:pt x="3608930" y="76647"/>
                    <a:pt x="3427895" y="130734"/>
                  </a:cubicBezTo>
                  <a:cubicBezTo>
                    <a:pt x="3271996" y="177343"/>
                    <a:pt x="3096211" y="230634"/>
                    <a:pt x="2855520" y="227293"/>
                  </a:cubicBezTo>
                  <a:lnTo>
                    <a:pt x="2855520" y="227293"/>
                  </a:lnTo>
                  <a:cubicBezTo>
                    <a:pt x="2616898" y="224430"/>
                    <a:pt x="2446363" y="163185"/>
                    <a:pt x="2295872" y="109258"/>
                  </a:cubicBezTo>
                  <a:cubicBezTo>
                    <a:pt x="2180697" y="67898"/>
                    <a:pt x="2082225" y="32424"/>
                    <a:pt x="1978186" y="32424"/>
                  </a:cubicBezTo>
                  <a:close/>
                </a:path>
              </a:pathLst>
            </a:custGeom>
            <a:gradFill>
              <a:gsLst>
                <a:gs pos="100000">
                  <a:schemeClr val="accent2"/>
                </a:gs>
                <a:gs pos="0">
                  <a:schemeClr val="accent1"/>
                </a:gs>
              </a:gsLst>
              <a:lin ang="0" scaled="1"/>
            </a:gradFill>
            <a:ln w="1589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6" name="Freeform 25">
              <a:extLst>
                <a:ext uri="{FF2B5EF4-FFF2-40B4-BE49-F238E27FC236}">
                  <a16:creationId xmlns:a16="http://schemas.microsoft.com/office/drawing/2014/main" id="{DC74FDE2-FC04-7986-3C5E-CCC472F0D662}"/>
                </a:ext>
              </a:extLst>
            </p:cNvPr>
            <p:cNvSpPr/>
            <p:nvPr/>
          </p:nvSpPr>
          <p:spPr>
            <a:xfrm>
              <a:off x="-2906305" y="541112"/>
              <a:ext cx="5803902" cy="5755790"/>
            </a:xfrm>
            <a:custGeom>
              <a:avLst/>
              <a:gdLst>
                <a:gd name="connsiteX0" fmla="*/ 2159577 w 5803902"/>
                <a:gd name="connsiteY0" fmla="*/ 5755791 h 5755790"/>
                <a:gd name="connsiteX1" fmla="*/ 1881502 w 5803902"/>
                <a:gd name="connsiteY1" fmla="*/ 5702659 h 5755790"/>
                <a:gd name="connsiteX2" fmla="*/ 1425893 w 5803902"/>
                <a:gd name="connsiteY2" fmla="*/ 5291923 h 5755790"/>
                <a:gd name="connsiteX3" fmla="*/ 1179635 w 5803902"/>
                <a:gd name="connsiteY3" fmla="*/ 4986018 h 5755790"/>
                <a:gd name="connsiteX4" fmla="*/ 594056 w 5803902"/>
                <a:gd name="connsiteY4" fmla="*/ 4603437 h 5755790"/>
                <a:gd name="connsiteX5" fmla="*/ 208442 w 5803902"/>
                <a:gd name="connsiteY5" fmla="*/ 4289897 h 5755790"/>
                <a:gd name="connsiteX6" fmla="*/ 164854 w 5803902"/>
                <a:gd name="connsiteY6" fmla="*/ 3526804 h 5755790"/>
                <a:gd name="connsiteX7" fmla="*/ 197148 w 5803902"/>
                <a:gd name="connsiteY7" fmla="*/ 2952855 h 5755790"/>
                <a:gd name="connsiteX8" fmla="*/ 78950 w 5803902"/>
                <a:gd name="connsiteY8" fmla="*/ 2332932 h 5755790"/>
                <a:gd name="connsiteX9" fmla="*/ 41884 w 5803902"/>
                <a:gd name="connsiteY9" fmla="*/ 1745619 h 5755790"/>
                <a:gd name="connsiteX10" fmla="*/ 473472 w 5803902"/>
                <a:gd name="connsiteY10" fmla="*/ 1359540 h 5755790"/>
                <a:gd name="connsiteX11" fmla="*/ 968534 w 5803902"/>
                <a:gd name="connsiteY11" fmla="*/ 1020706 h 5755790"/>
                <a:gd name="connsiteX12" fmla="*/ 1355420 w 5803902"/>
                <a:gd name="connsiteY12" fmla="*/ 484457 h 5755790"/>
                <a:gd name="connsiteX13" fmla="*/ 1786531 w 5803902"/>
                <a:gd name="connsiteY13" fmla="*/ 27747 h 5755790"/>
                <a:gd name="connsiteX14" fmla="*/ 2275229 w 5803902"/>
                <a:gd name="connsiteY14" fmla="*/ 71971 h 5755790"/>
                <a:gd name="connsiteX15" fmla="*/ 2804811 w 5803902"/>
                <a:gd name="connsiteY15" fmla="*/ 177120 h 5755790"/>
                <a:gd name="connsiteX16" fmla="*/ 2804811 w 5803902"/>
                <a:gd name="connsiteY16" fmla="*/ 177120 h 5755790"/>
                <a:gd name="connsiteX17" fmla="*/ 3349029 w 5803902"/>
                <a:gd name="connsiteY17" fmla="*/ 92332 h 5755790"/>
                <a:gd name="connsiteX18" fmla="*/ 3903746 w 5803902"/>
                <a:gd name="connsiteY18" fmla="*/ 65926 h 5755790"/>
                <a:gd name="connsiteX19" fmla="*/ 4367310 w 5803902"/>
                <a:gd name="connsiteY19" fmla="*/ 488911 h 5755790"/>
                <a:gd name="connsiteX20" fmla="*/ 4745128 w 5803902"/>
                <a:gd name="connsiteY20" fmla="*/ 952780 h 5755790"/>
                <a:gd name="connsiteX21" fmla="*/ 5150150 w 5803902"/>
                <a:gd name="connsiteY21" fmla="*/ 1292091 h 5755790"/>
                <a:gd name="connsiteX22" fmla="*/ 5609736 w 5803902"/>
                <a:gd name="connsiteY22" fmla="*/ 1835180 h 5755790"/>
                <a:gd name="connsiteX23" fmla="*/ 5615622 w 5803902"/>
                <a:gd name="connsiteY23" fmla="*/ 2204557 h 5755790"/>
                <a:gd name="connsiteX24" fmla="*/ 5585556 w 5803902"/>
                <a:gd name="connsiteY24" fmla="*/ 2541641 h 5755790"/>
                <a:gd name="connsiteX25" fmla="*/ 5712185 w 5803902"/>
                <a:gd name="connsiteY25" fmla="*/ 3163950 h 5755790"/>
                <a:gd name="connsiteX26" fmla="*/ 5782021 w 5803902"/>
                <a:gd name="connsiteY26" fmla="*/ 3748399 h 5755790"/>
                <a:gd name="connsiteX27" fmla="*/ 5460995 w 5803902"/>
                <a:gd name="connsiteY27" fmla="*/ 4175520 h 5755790"/>
                <a:gd name="connsiteX28" fmla="*/ 5111016 w 5803902"/>
                <a:gd name="connsiteY28" fmla="*/ 4511332 h 5755790"/>
                <a:gd name="connsiteX29" fmla="*/ 4684518 w 5803902"/>
                <a:gd name="connsiteY29" fmla="*/ 5087350 h 5755790"/>
                <a:gd name="connsiteX30" fmla="*/ 4127574 w 5803902"/>
                <a:gd name="connsiteY30" fmla="*/ 5635370 h 5755790"/>
                <a:gd name="connsiteX31" fmla="*/ 3643012 w 5803902"/>
                <a:gd name="connsiteY31" fmla="*/ 5659231 h 5755790"/>
                <a:gd name="connsiteX32" fmla="*/ 3137610 w 5803902"/>
                <a:gd name="connsiteY32" fmla="*/ 5622962 h 5755790"/>
                <a:gd name="connsiteX33" fmla="*/ 2523078 w 5803902"/>
                <a:gd name="connsiteY33" fmla="*/ 5704568 h 5755790"/>
                <a:gd name="connsiteX34" fmla="*/ 2159577 w 5803902"/>
                <a:gd name="connsiteY34" fmla="*/ 5755791 h 5755790"/>
                <a:gd name="connsiteX35" fmla="*/ 1951498 w 5803902"/>
                <a:gd name="connsiteY35" fmla="*/ 35701 h 5755790"/>
                <a:gd name="connsiteX36" fmla="*/ 1798144 w 5803902"/>
                <a:gd name="connsiteY36" fmla="*/ 61790 h 5755790"/>
                <a:gd name="connsiteX37" fmla="*/ 1386759 w 5803902"/>
                <a:gd name="connsiteY37" fmla="*/ 501956 h 5755790"/>
                <a:gd name="connsiteX38" fmla="*/ 993510 w 5803902"/>
                <a:gd name="connsiteY38" fmla="*/ 1046476 h 5755790"/>
                <a:gd name="connsiteX39" fmla="*/ 490176 w 5803902"/>
                <a:gd name="connsiteY39" fmla="*/ 1391355 h 5755790"/>
                <a:gd name="connsiteX40" fmla="*/ 75132 w 5803902"/>
                <a:gd name="connsiteY40" fmla="*/ 1759300 h 5755790"/>
                <a:gd name="connsiteX41" fmla="*/ 113312 w 5803902"/>
                <a:gd name="connsiteY41" fmla="*/ 2322115 h 5755790"/>
                <a:gd name="connsiteX42" fmla="*/ 233259 w 5803902"/>
                <a:gd name="connsiteY42" fmla="*/ 2952218 h 5755790"/>
                <a:gd name="connsiteX43" fmla="*/ 200806 w 5803902"/>
                <a:gd name="connsiteY43" fmla="*/ 3530463 h 5755790"/>
                <a:gd name="connsiteX44" fmla="*/ 241849 w 5803902"/>
                <a:gd name="connsiteY44" fmla="*/ 4276216 h 5755790"/>
                <a:gd name="connsiteX45" fmla="*/ 606782 w 5803902"/>
                <a:gd name="connsiteY45" fmla="*/ 4569713 h 5755790"/>
                <a:gd name="connsiteX46" fmla="*/ 1206520 w 5803902"/>
                <a:gd name="connsiteY46" fmla="*/ 4961997 h 5755790"/>
                <a:gd name="connsiteX47" fmla="*/ 1455005 w 5803902"/>
                <a:gd name="connsiteY47" fmla="*/ 5270447 h 5755790"/>
                <a:gd name="connsiteX48" fmla="*/ 1894865 w 5803902"/>
                <a:gd name="connsiteY48" fmla="*/ 5669094 h 5755790"/>
                <a:gd name="connsiteX49" fmla="*/ 2515442 w 5803902"/>
                <a:gd name="connsiteY49" fmla="*/ 5669253 h 5755790"/>
                <a:gd name="connsiteX50" fmla="*/ 3136337 w 5803902"/>
                <a:gd name="connsiteY50" fmla="*/ 5587011 h 5755790"/>
                <a:gd name="connsiteX51" fmla="*/ 3648102 w 5803902"/>
                <a:gd name="connsiteY51" fmla="*/ 5623598 h 5755790"/>
                <a:gd name="connsiteX52" fmla="*/ 4114370 w 5803902"/>
                <a:gd name="connsiteY52" fmla="*/ 5601805 h 5755790"/>
                <a:gd name="connsiteX53" fmla="*/ 4653974 w 5803902"/>
                <a:gd name="connsiteY53" fmla="*/ 5067942 h 5755790"/>
                <a:gd name="connsiteX54" fmla="*/ 5083972 w 5803902"/>
                <a:gd name="connsiteY54" fmla="*/ 4487311 h 5755790"/>
                <a:gd name="connsiteX55" fmla="*/ 5437133 w 5803902"/>
                <a:gd name="connsiteY55" fmla="*/ 4148318 h 5755790"/>
                <a:gd name="connsiteX56" fmla="*/ 5746864 w 5803902"/>
                <a:gd name="connsiteY56" fmla="*/ 3739490 h 5755790"/>
                <a:gd name="connsiteX57" fmla="*/ 5677823 w 5803902"/>
                <a:gd name="connsiteY57" fmla="*/ 3175562 h 5755790"/>
                <a:gd name="connsiteX58" fmla="*/ 5549286 w 5803902"/>
                <a:gd name="connsiteY58" fmla="*/ 2542277 h 5755790"/>
                <a:gd name="connsiteX59" fmla="*/ 5579829 w 5803902"/>
                <a:gd name="connsiteY59" fmla="*/ 2198671 h 5755790"/>
                <a:gd name="connsiteX60" fmla="*/ 5575057 w 5803902"/>
                <a:gd name="connsiteY60" fmla="*/ 1845679 h 5755790"/>
                <a:gd name="connsiteX61" fmla="*/ 5128356 w 5803902"/>
                <a:gd name="connsiteY61" fmla="*/ 1320884 h 5755790"/>
                <a:gd name="connsiteX62" fmla="*/ 4719675 w 5803902"/>
                <a:gd name="connsiteY62" fmla="*/ 978709 h 5755790"/>
                <a:gd name="connsiteX63" fmla="*/ 4337562 w 5803902"/>
                <a:gd name="connsiteY63" fmla="*/ 509591 h 5755790"/>
                <a:gd name="connsiteX64" fmla="*/ 3892133 w 5803902"/>
                <a:gd name="connsiteY64" fmla="*/ 100127 h 5755790"/>
                <a:gd name="connsiteX65" fmla="*/ 3358574 w 5803902"/>
                <a:gd name="connsiteY65" fmla="*/ 127170 h 5755790"/>
                <a:gd name="connsiteX66" fmla="*/ 2804493 w 5803902"/>
                <a:gd name="connsiteY66" fmla="*/ 213390 h 5755790"/>
                <a:gd name="connsiteX67" fmla="*/ 2804493 w 5803902"/>
                <a:gd name="connsiteY67" fmla="*/ 213390 h 5755790"/>
                <a:gd name="connsiteX68" fmla="*/ 2263775 w 5803902"/>
                <a:gd name="connsiteY68" fmla="*/ 106331 h 5755790"/>
                <a:gd name="connsiteX69" fmla="*/ 1951498 w 5803902"/>
                <a:gd name="connsiteY69" fmla="*/ 35701 h 5755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5803902" h="5755790">
                  <a:moveTo>
                    <a:pt x="2159577" y="5755791"/>
                  </a:moveTo>
                  <a:cubicBezTo>
                    <a:pt x="2069537" y="5755791"/>
                    <a:pt x="1979337" y="5741315"/>
                    <a:pt x="1881502" y="5702659"/>
                  </a:cubicBezTo>
                  <a:cubicBezTo>
                    <a:pt x="1670719" y="5619303"/>
                    <a:pt x="1562703" y="5474861"/>
                    <a:pt x="1425893" y="5291923"/>
                  </a:cubicBezTo>
                  <a:cubicBezTo>
                    <a:pt x="1357965" y="5201090"/>
                    <a:pt x="1280970" y="5098167"/>
                    <a:pt x="1179635" y="4986018"/>
                  </a:cubicBezTo>
                  <a:cubicBezTo>
                    <a:pt x="959307" y="4740562"/>
                    <a:pt x="756796" y="4664523"/>
                    <a:pt x="594056" y="4603437"/>
                  </a:cubicBezTo>
                  <a:cubicBezTo>
                    <a:pt x="424634" y="4539648"/>
                    <a:pt x="290688" y="4489379"/>
                    <a:pt x="208442" y="4289897"/>
                  </a:cubicBezTo>
                  <a:cubicBezTo>
                    <a:pt x="111880" y="4056531"/>
                    <a:pt x="136378" y="3811075"/>
                    <a:pt x="164854" y="3526804"/>
                  </a:cubicBezTo>
                  <a:cubicBezTo>
                    <a:pt x="181717" y="3358183"/>
                    <a:pt x="200966" y="3166972"/>
                    <a:pt x="197148" y="2952855"/>
                  </a:cubicBezTo>
                  <a:cubicBezTo>
                    <a:pt x="192534" y="2697059"/>
                    <a:pt x="132242" y="2503621"/>
                    <a:pt x="78950" y="2332932"/>
                  </a:cubicBezTo>
                  <a:cubicBezTo>
                    <a:pt x="14522" y="2126132"/>
                    <a:pt x="-41316" y="1947647"/>
                    <a:pt x="41884" y="1745619"/>
                  </a:cubicBezTo>
                  <a:cubicBezTo>
                    <a:pt x="124288" y="1545342"/>
                    <a:pt x="286074" y="1459281"/>
                    <a:pt x="473472" y="1359540"/>
                  </a:cubicBezTo>
                  <a:cubicBezTo>
                    <a:pt x="623963" y="1279365"/>
                    <a:pt x="794658" y="1188532"/>
                    <a:pt x="968534" y="1020706"/>
                  </a:cubicBezTo>
                  <a:cubicBezTo>
                    <a:pt x="1157363" y="838403"/>
                    <a:pt x="1262675" y="650374"/>
                    <a:pt x="1355420" y="484457"/>
                  </a:cubicBezTo>
                  <a:cubicBezTo>
                    <a:pt x="1470277" y="279407"/>
                    <a:pt x="1569385" y="102195"/>
                    <a:pt x="1786531" y="27747"/>
                  </a:cubicBezTo>
                  <a:cubicBezTo>
                    <a:pt x="1962475" y="-32384"/>
                    <a:pt x="2107398" y="15816"/>
                    <a:pt x="2275229" y="71971"/>
                  </a:cubicBezTo>
                  <a:cubicBezTo>
                    <a:pt x="2419198" y="120171"/>
                    <a:pt x="2582415" y="174734"/>
                    <a:pt x="2804811" y="177120"/>
                  </a:cubicBezTo>
                  <a:lnTo>
                    <a:pt x="2804811" y="177120"/>
                  </a:lnTo>
                  <a:cubicBezTo>
                    <a:pt x="3029435" y="179825"/>
                    <a:pt x="3199174" y="133215"/>
                    <a:pt x="3349029" y="92332"/>
                  </a:cubicBezTo>
                  <a:cubicBezTo>
                    <a:pt x="3537063" y="40950"/>
                    <a:pt x="3699327" y="-3432"/>
                    <a:pt x="3903746" y="65926"/>
                  </a:cubicBezTo>
                  <a:cubicBezTo>
                    <a:pt x="4125347" y="141010"/>
                    <a:pt x="4232091" y="294678"/>
                    <a:pt x="4367310" y="488911"/>
                  </a:cubicBezTo>
                  <a:cubicBezTo>
                    <a:pt x="4462759" y="626354"/>
                    <a:pt x="4570934" y="781931"/>
                    <a:pt x="4745128" y="952780"/>
                  </a:cubicBezTo>
                  <a:cubicBezTo>
                    <a:pt x="4892279" y="1097540"/>
                    <a:pt x="5029407" y="1200940"/>
                    <a:pt x="5150150" y="1292091"/>
                  </a:cubicBezTo>
                  <a:cubicBezTo>
                    <a:pt x="5364432" y="1453554"/>
                    <a:pt x="5533536" y="1581134"/>
                    <a:pt x="5609736" y="1835180"/>
                  </a:cubicBezTo>
                  <a:cubicBezTo>
                    <a:pt x="5653324" y="1979144"/>
                    <a:pt x="5636621" y="2078567"/>
                    <a:pt x="5615622" y="2204557"/>
                  </a:cubicBezTo>
                  <a:cubicBezTo>
                    <a:pt x="5600351" y="2295389"/>
                    <a:pt x="5583329" y="2398312"/>
                    <a:pt x="5585556" y="2541641"/>
                  </a:cubicBezTo>
                  <a:cubicBezTo>
                    <a:pt x="5589692" y="2800777"/>
                    <a:pt x="5654756" y="2993738"/>
                    <a:pt x="5712185" y="3163950"/>
                  </a:cubicBezTo>
                  <a:cubicBezTo>
                    <a:pt x="5779158" y="3362319"/>
                    <a:pt x="5836905" y="3533486"/>
                    <a:pt x="5782021" y="3748399"/>
                  </a:cubicBezTo>
                  <a:cubicBezTo>
                    <a:pt x="5733024" y="3940245"/>
                    <a:pt x="5624690" y="4033783"/>
                    <a:pt x="5460995" y="4175520"/>
                  </a:cubicBezTo>
                  <a:cubicBezTo>
                    <a:pt x="5365228" y="4258399"/>
                    <a:pt x="5246076" y="4361481"/>
                    <a:pt x="5111016" y="4511332"/>
                  </a:cubicBezTo>
                  <a:cubicBezTo>
                    <a:pt x="4915346" y="4728472"/>
                    <a:pt x="4792694" y="4919046"/>
                    <a:pt x="4684518" y="5087350"/>
                  </a:cubicBezTo>
                  <a:cubicBezTo>
                    <a:pt x="4518755" y="5345213"/>
                    <a:pt x="4398967" y="5531334"/>
                    <a:pt x="4127574" y="5635370"/>
                  </a:cubicBezTo>
                  <a:cubicBezTo>
                    <a:pt x="3947494" y="5704887"/>
                    <a:pt x="3819751" y="5685638"/>
                    <a:pt x="3643012" y="5659231"/>
                  </a:cubicBezTo>
                  <a:cubicBezTo>
                    <a:pt x="3516224" y="5640301"/>
                    <a:pt x="3358733" y="5616439"/>
                    <a:pt x="3137610" y="5622962"/>
                  </a:cubicBezTo>
                  <a:cubicBezTo>
                    <a:pt x="2881329" y="5630280"/>
                    <a:pt x="2691068" y="5669730"/>
                    <a:pt x="2523078" y="5704568"/>
                  </a:cubicBezTo>
                  <a:cubicBezTo>
                    <a:pt x="2391359" y="5731770"/>
                    <a:pt x="2275547" y="5755791"/>
                    <a:pt x="2159577" y="5755791"/>
                  </a:cubicBezTo>
                  <a:close/>
                  <a:moveTo>
                    <a:pt x="1951498" y="35701"/>
                  </a:moveTo>
                  <a:cubicBezTo>
                    <a:pt x="1902183" y="35701"/>
                    <a:pt x="1851913" y="43337"/>
                    <a:pt x="1798144" y="61790"/>
                  </a:cubicBezTo>
                  <a:cubicBezTo>
                    <a:pt x="1594042" y="131783"/>
                    <a:pt x="1502570" y="295156"/>
                    <a:pt x="1386759" y="501956"/>
                  </a:cubicBezTo>
                  <a:cubicBezTo>
                    <a:pt x="1292742" y="670100"/>
                    <a:pt x="1185998" y="860515"/>
                    <a:pt x="993510" y="1046476"/>
                  </a:cubicBezTo>
                  <a:cubicBezTo>
                    <a:pt x="815815" y="1217961"/>
                    <a:pt x="642894" y="1310067"/>
                    <a:pt x="490176" y="1391355"/>
                  </a:cubicBezTo>
                  <a:cubicBezTo>
                    <a:pt x="301505" y="1491733"/>
                    <a:pt x="152605" y="1571112"/>
                    <a:pt x="75132" y="1759300"/>
                  </a:cubicBezTo>
                  <a:cubicBezTo>
                    <a:pt x="-3136" y="1949397"/>
                    <a:pt x="48247" y="2113883"/>
                    <a:pt x="113312" y="2322115"/>
                  </a:cubicBezTo>
                  <a:cubicBezTo>
                    <a:pt x="167399" y="2495190"/>
                    <a:pt x="228487" y="2691173"/>
                    <a:pt x="233259" y="2952218"/>
                  </a:cubicBezTo>
                  <a:cubicBezTo>
                    <a:pt x="237077" y="3168404"/>
                    <a:pt x="217828" y="3360728"/>
                    <a:pt x="200806" y="3530463"/>
                  </a:cubicBezTo>
                  <a:cubicBezTo>
                    <a:pt x="171695" y="3821415"/>
                    <a:pt x="148628" y="4051122"/>
                    <a:pt x="241849" y="4276216"/>
                  </a:cubicBezTo>
                  <a:cubicBezTo>
                    <a:pt x="318050" y="4461223"/>
                    <a:pt x="439111" y="4506719"/>
                    <a:pt x="606782" y="4569713"/>
                  </a:cubicBezTo>
                  <a:cubicBezTo>
                    <a:pt x="773182" y="4632230"/>
                    <a:pt x="980306" y="4710019"/>
                    <a:pt x="1206520" y="4961997"/>
                  </a:cubicBezTo>
                  <a:cubicBezTo>
                    <a:pt x="1309127" y="5075260"/>
                    <a:pt x="1386600" y="5178978"/>
                    <a:pt x="1455005" y="5270447"/>
                  </a:cubicBezTo>
                  <a:cubicBezTo>
                    <a:pt x="1593565" y="5455772"/>
                    <a:pt x="1693627" y="5589556"/>
                    <a:pt x="1894865" y="5669094"/>
                  </a:cubicBezTo>
                  <a:cubicBezTo>
                    <a:pt x="2108512" y="5753564"/>
                    <a:pt x="2279206" y="5718249"/>
                    <a:pt x="2515442" y="5669253"/>
                  </a:cubicBezTo>
                  <a:cubicBezTo>
                    <a:pt x="2684864" y="5634097"/>
                    <a:pt x="2876875" y="5594328"/>
                    <a:pt x="3136337" y="5587011"/>
                  </a:cubicBezTo>
                  <a:cubicBezTo>
                    <a:pt x="3360642" y="5580488"/>
                    <a:pt x="3520042" y="5604509"/>
                    <a:pt x="3648102" y="5623598"/>
                  </a:cubicBezTo>
                  <a:cubicBezTo>
                    <a:pt x="3819433" y="5649210"/>
                    <a:pt x="3943198" y="5667822"/>
                    <a:pt x="4114370" y="5601805"/>
                  </a:cubicBezTo>
                  <a:cubicBezTo>
                    <a:pt x="4374787" y="5501904"/>
                    <a:pt x="4491871" y="5319920"/>
                    <a:pt x="4653974" y="5067942"/>
                  </a:cubicBezTo>
                  <a:cubicBezTo>
                    <a:pt x="4762945" y="4898525"/>
                    <a:pt x="4886393" y="4706519"/>
                    <a:pt x="5083972" y="4487311"/>
                  </a:cubicBezTo>
                  <a:cubicBezTo>
                    <a:pt x="5220464" y="4335870"/>
                    <a:pt x="5340570" y="4231834"/>
                    <a:pt x="5437133" y="4148318"/>
                  </a:cubicBezTo>
                  <a:cubicBezTo>
                    <a:pt x="5595737" y="4011035"/>
                    <a:pt x="5700731" y="3920361"/>
                    <a:pt x="5746864" y="3739490"/>
                  </a:cubicBezTo>
                  <a:cubicBezTo>
                    <a:pt x="5799202" y="3534918"/>
                    <a:pt x="5743047" y="3368364"/>
                    <a:pt x="5677823" y="3175562"/>
                  </a:cubicBezTo>
                  <a:cubicBezTo>
                    <a:pt x="5619599" y="3002805"/>
                    <a:pt x="5553421" y="2806981"/>
                    <a:pt x="5549286" y="2542277"/>
                  </a:cubicBezTo>
                  <a:cubicBezTo>
                    <a:pt x="5546899" y="2395767"/>
                    <a:pt x="5564398" y="2290935"/>
                    <a:pt x="5579829" y="2198671"/>
                  </a:cubicBezTo>
                  <a:cubicBezTo>
                    <a:pt x="5600032" y="2077295"/>
                    <a:pt x="5616099" y="1981531"/>
                    <a:pt x="5575057" y="1845679"/>
                  </a:cubicBezTo>
                  <a:cubicBezTo>
                    <a:pt x="5502356" y="1602927"/>
                    <a:pt x="5345502" y="1484574"/>
                    <a:pt x="5128356" y="1320884"/>
                  </a:cubicBezTo>
                  <a:cubicBezTo>
                    <a:pt x="5006499" y="1229096"/>
                    <a:pt x="4868576" y="1125060"/>
                    <a:pt x="4719675" y="978709"/>
                  </a:cubicBezTo>
                  <a:cubicBezTo>
                    <a:pt x="4543095" y="805474"/>
                    <a:pt x="4433965" y="648306"/>
                    <a:pt x="4337562" y="509591"/>
                  </a:cubicBezTo>
                  <a:cubicBezTo>
                    <a:pt x="4201070" y="313290"/>
                    <a:pt x="4102598" y="171553"/>
                    <a:pt x="3892133" y="100127"/>
                  </a:cubicBezTo>
                  <a:cubicBezTo>
                    <a:pt x="3698213" y="34428"/>
                    <a:pt x="3540882" y="77379"/>
                    <a:pt x="3358574" y="127170"/>
                  </a:cubicBezTo>
                  <a:cubicBezTo>
                    <a:pt x="3206492" y="168689"/>
                    <a:pt x="3032457" y="215935"/>
                    <a:pt x="2804493" y="213390"/>
                  </a:cubicBezTo>
                  <a:lnTo>
                    <a:pt x="2804493" y="213390"/>
                  </a:lnTo>
                  <a:cubicBezTo>
                    <a:pt x="2576370" y="210686"/>
                    <a:pt x="2410289" y="155168"/>
                    <a:pt x="2263775" y="106331"/>
                  </a:cubicBezTo>
                  <a:cubicBezTo>
                    <a:pt x="2150350" y="68153"/>
                    <a:pt x="2053151" y="35701"/>
                    <a:pt x="1951498" y="35701"/>
                  </a:cubicBezTo>
                  <a:close/>
                </a:path>
              </a:pathLst>
            </a:custGeom>
            <a:gradFill>
              <a:gsLst>
                <a:gs pos="100000">
                  <a:schemeClr val="accent2"/>
                </a:gs>
                <a:gs pos="0">
                  <a:schemeClr val="accent1"/>
                </a:gs>
              </a:gsLst>
              <a:lin ang="0" scaled="1"/>
            </a:gradFill>
            <a:ln w="1589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7" name="Freeform 26">
              <a:extLst>
                <a:ext uri="{FF2B5EF4-FFF2-40B4-BE49-F238E27FC236}">
                  <a16:creationId xmlns:a16="http://schemas.microsoft.com/office/drawing/2014/main" id="{D5DB9779-05DD-3E54-AE82-92B316671E0E}"/>
                </a:ext>
              </a:extLst>
            </p:cNvPr>
            <p:cNvSpPr/>
            <p:nvPr/>
          </p:nvSpPr>
          <p:spPr>
            <a:xfrm>
              <a:off x="-2849312" y="594779"/>
              <a:ext cx="5689303" cy="5648196"/>
            </a:xfrm>
            <a:custGeom>
              <a:avLst/>
              <a:gdLst>
                <a:gd name="connsiteX0" fmla="*/ 2124219 w 5689303"/>
                <a:gd name="connsiteY0" fmla="*/ 5648197 h 5648196"/>
                <a:gd name="connsiteX1" fmla="*/ 1835327 w 5689303"/>
                <a:gd name="connsiteY1" fmla="*/ 5593156 h 5648196"/>
                <a:gd name="connsiteX2" fmla="*/ 1373672 w 5689303"/>
                <a:gd name="connsiteY2" fmla="*/ 5183056 h 5648196"/>
                <a:gd name="connsiteX3" fmla="*/ 1140936 w 5689303"/>
                <a:gd name="connsiteY3" fmla="*/ 4898785 h 5648196"/>
                <a:gd name="connsiteX4" fmla="*/ 582719 w 5689303"/>
                <a:gd name="connsiteY4" fmla="*/ 4524477 h 5648196"/>
                <a:gd name="connsiteX5" fmla="*/ 200606 w 5689303"/>
                <a:gd name="connsiteY5" fmla="*/ 4202983 h 5648196"/>
                <a:gd name="connsiteX6" fmla="*/ 150018 w 5689303"/>
                <a:gd name="connsiteY6" fmla="*/ 3436708 h 5648196"/>
                <a:gd name="connsiteX7" fmla="*/ 176743 w 5689303"/>
                <a:gd name="connsiteY7" fmla="*/ 2894733 h 5648196"/>
                <a:gd name="connsiteX8" fmla="*/ 71431 w 5689303"/>
                <a:gd name="connsiteY8" fmla="*/ 2299786 h 5648196"/>
                <a:gd name="connsiteX9" fmla="*/ 43433 w 5689303"/>
                <a:gd name="connsiteY9" fmla="*/ 1710882 h 5648196"/>
                <a:gd name="connsiteX10" fmla="*/ 470408 w 5689303"/>
                <a:gd name="connsiteY10" fmla="*/ 1318121 h 5648196"/>
                <a:gd name="connsiteX11" fmla="*/ 940175 w 5689303"/>
                <a:gd name="connsiteY11" fmla="*/ 988196 h 5648196"/>
                <a:gd name="connsiteX12" fmla="*/ 1316562 w 5689303"/>
                <a:gd name="connsiteY12" fmla="*/ 480422 h 5648196"/>
                <a:gd name="connsiteX13" fmla="*/ 1755786 w 5689303"/>
                <a:gd name="connsiteY13" fmla="*/ 28802 h 5648196"/>
                <a:gd name="connsiteX14" fmla="*/ 2244803 w 5689303"/>
                <a:gd name="connsiteY14" fmla="*/ 65549 h 5648196"/>
                <a:gd name="connsiteX15" fmla="*/ 2754659 w 5689303"/>
                <a:gd name="connsiteY15" fmla="*/ 160041 h 5648196"/>
                <a:gd name="connsiteX16" fmla="*/ 3279628 w 5689303"/>
                <a:gd name="connsiteY16" fmla="*/ 85434 h 5648196"/>
                <a:gd name="connsiteX17" fmla="*/ 3837686 w 5689303"/>
                <a:gd name="connsiteY17" fmla="*/ 68094 h 5648196"/>
                <a:gd name="connsiteX18" fmla="*/ 4311112 w 5689303"/>
                <a:gd name="connsiteY18" fmla="*/ 493784 h 5648196"/>
                <a:gd name="connsiteX19" fmla="*/ 4674295 w 5689303"/>
                <a:gd name="connsiteY19" fmla="*/ 933791 h 5648196"/>
                <a:gd name="connsiteX20" fmla="*/ 5052432 w 5689303"/>
                <a:gd name="connsiteY20" fmla="*/ 1258308 h 5648196"/>
                <a:gd name="connsiteX21" fmla="*/ 5511859 w 5689303"/>
                <a:gd name="connsiteY21" fmla="*/ 1815078 h 5648196"/>
                <a:gd name="connsiteX22" fmla="*/ 5520450 w 5689303"/>
                <a:gd name="connsiteY22" fmla="*/ 2186205 h 5648196"/>
                <a:gd name="connsiteX23" fmla="*/ 5494042 w 5689303"/>
                <a:gd name="connsiteY23" fmla="*/ 2511040 h 5648196"/>
                <a:gd name="connsiteX24" fmla="*/ 5606990 w 5689303"/>
                <a:gd name="connsiteY24" fmla="*/ 3110442 h 5648196"/>
                <a:gd name="connsiteX25" fmla="*/ 5665373 w 5689303"/>
                <a:gd name="connsiteY25" fmla="*/ 3695050 h 5648196"/>
                <a:gd name="connsiteX26" fmla="*/ 5342755 w 5689303"/>
                <a:gd name="connsiteY26" fmla="*/ 4127102 h 5648196"/>
                <a:gd name="connsiteX27" fmla="*/ 5012661 w 5689303"/>
                <a:gd name="connsiteY27" fmla="*/ 4447325 h 5648196"/>
                <a:gd name="connsiteX28" fmla="*/ 4604458 w 5689303"/>
                <a:gd name="connsiteY28" fmla="*/ 4987709 h 5648196"/>
                <a:gd name="connsiteX29" fmla="*/ 4035106 w 5689303"/>
                <a:gd name="connsiteY29" fmla="*/ 5535093 h 5648196"/>
                <a:gd name="connsiteX30" fmla="*/ 3548316 w 5689303"/>
                <a:gd name="connsiteY30" fmla="*/ 5562295 h 5648196"/>
                <a:gd name="connsiteX31" fmla="*/ 3065186 w 5689303"/>
                <a:gd name="connsiteY31" fmla="*/ 5530957 h 5648196"/>
                <a:gd name="connsiteX32" fmla="*/ 2480084 w 5689303"/>
                <a:gd name="connsiteY32" fmla="*/ 5602542 h 5648196"/>
                <a:gd name="connsiteX33" fmla="*/ 2124219 w 5689303"/>
                <a:gd name="connsiteY33" fmla="*/ 5648197 h 5648196"/>
                <a:gd name="connsiteX34" fmla="*/ 1926640 w 5689303"/>
                <a:gd name="connsiteY34" fmla="*/ 38983 h 5648196"/>
                <a:gd name="connsiteX35" fmla="*/ 1768513 w 5689303"/>
                <a:gd name="connsiteY35" fmla="*/ 65867 h 5648196"/>
                <a:gd name="connsiteX36" fmla="*/ 1350287 w 5689303"/>
                <a:gd name="connsiteY36" fmla="*/ 500148 h 5648196"/>
                <a:gd name="connsiteX37" fmla="*/ 967378 w 5689303"/>
                <a:gd name="connsiteY37" fmla="*/ 1016352 h 5648196"/>
                <a:gd name="connsiteX38" fmla="*/ 489498 w 5689303"/>
                <a:gd name="connsiteY38" fmla="*/ 1352323 h 5648196"/>
                <a:gd name="connsiteX39" fmla="*/ 79704 w 5689303"/>
                <a:gd name="connsiteY39" fmla="*/ 1725836 h 5648196"/>
                <a:gd name="connsiteX40" fmla="*/ 109134 w 5689303"/>
                <a:gd name="connsiteY40" fmla="*/ 2288809 h 5648196"/>
                <a:gd name="connsiteX41" fmla="*/ 215877 w 5689303"/>
                <a:gd name="connsiteY41" fmla="*/ 2894097 h 5648196"/>
                <a:gd name="connsiteX42" fmla="*/ 188993 w 5689303"/>
                <a:gd name="connsiteY42" fmla="*/ 3440208 h 5648196"/>
                <a:gd name="connsiteX43" fmla="*/ 236717 w 5689303"/>
                <a:gd name="connsiteY43" fmla="*/ 4187870 h 5648196"/>
                <a:gd name="connsiteX44" fmla="*/ 597355 w 5689303"/>
                <a:gd name="connsiteY44" fmla="*/ 4488048 h 5648196"/>
                <a:gd name="connsiteX45" fmla="*/ 1169889 w 5689303"/>
                <a:gd name="connsiteY45" fmla="*/ 4872378 h 5648196"/>
                <a:gd name="connsiteX46" fmla="*/ 1404852 w 5689303"/>
                <a:gd name="connsiteY46" fmla="*/ 5159035 h 5648196"/>
                <a:gd name="connsiteX47" fmla="*/ 1849803 w 5689303"/>
                <a:gd name="connsiteY47" fmla="*/ 5556569 h 5648196"/>
                <a:gd name="connsiteX48" fmla="*/ 2472608 w 5689303"/>
                <a:gd name="connsiteY48" fmla="*/ 5563727 h 5648196"/>
                <a:gd name="connsiteX49" fmla="*/ 3063913 w 5689303"/>
                <a:gd name="connsiteY49" fmla="*/ 5491347 h 5648196"/>
                <a:gd name="connsiteX50" fmla="*/ 3553407 w 5689303"/>
                <a:gd name="connsiteY50" fmla="*/ 5523003 h 5648196"/>
                <a:gd name="connsiteX51" fmla="*/ 4020947 w 5689303"/>
                <a:gd name="connsiteY51" fmla="*/ 5497869 h 5648196"/>
                <a:gd name="connsiteX52" fmla="*/ 4571529 w 5689303"/>
                <a:gd name="connsiteY52" fmla="*/ 4965438 h 5648196"/>
                <a:gd name="connsiteX53" fmla="*/ 4983390 w 5689303"/>
                <a:gd name="connsiteY53" fmla="*/ 4420600 h 5648196"/>
                <a:gd name="connsiteX54" fmla="*/ 5316507 w 5689303"/>
                <a:gd name="connsiteY54" fmla="*/ 4097355 h 5648196"/>
                <a:gd name="connsiteX55" fmla="*/ 5627193 w 5689303"/>
                <a:gd name="connsiteY55" fmla="*/ 3684709 h 5648196"/>
                <a:gd name="connsiteX56" fmla="*/ 5569129 w 5689303"/>
                <a:gd name="connsiteY56" fmla="*/ 3121736 h 5648196"/>
                <a:gd name="connsiteX57" fmla="*/ 5454431 w 5689303"/>
                <a:gd name="connsiteY57" fmla="*/ 2511358 h 5648196"/>
                <a:gd name="connsiteX58" fmla="*/ 5481316 w 5689303"/>
                <a:gd name="connsiteY58" fmla="*/ 2180000 h 5648196"/>
                <a:gd name="connsiteX59" fmla="*/ 5473998 w 5689303"/>
                <a:gd name="connsiteY59" fmla="*/ 1826054 h 5648196"/>
                <a:gd name="connsiteX60" fmla="*/ 5028092 w 5689303"/>
                <a:gd name="connsiteY60" fmla="*/ 1289010 h 5648196"/>
                <a:gd name="connsiteX61" fmla="*/ 4646615 w 5689303"/>
                <a:gd name="connsiteY61" fmla="*/ 961471 h 5648196"/>
                <a:gd name="connsiteX62" fmla="*/ 4278978 w 5689303"/>
                <a:gd name="connsiteY62" fmla="*/ 516532 h 5648196"/>
                <a:gd name="connsiteX63" fmla="*/ 3824800 w 5689303"/>
                <a:gd name="connsiteY63" fmla="*/ 105159 h 5648196"/>
                <a:gd name="connsiteX64" fmla="*/ 3289173 w 5689303"/>
                <a:gd name="connsiteY64" fmla="*/ 123612 h 5648196"/>
                <a:gd name="connsiteX65" fmla="*/ 2754182 w 5689303"/>
                <a:gd name="connsiteY65" fmla="*/ 199333 h 5648196"/>
                <a:gd name="connsiteX66" fmla="*/ 2754182 w 5689303"/>
                <a:gd name="connsiteY66" fmla="*/ 199333 h 5648196"/>
                <a:gd name="connsiteX67" fmla="*/ 2233031 w 5689303"/>
                <a:gd name="connsiteY67" fmla="*/ 103250 h 5648196"/>
                <a:gd name="connsiteX68" fmla="*/ 1926640 w 5689303"/>
                <a:gd name="connsiteY68" fmla="*/ 38983 h 564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5689303" h="5648196">
                  <a:moveTo>
                    <a:pt x="2124219" y="5648197"/>
                  </a:moveTo>
                  <a:cubicBezTo>
                    <a:pt x="2030202" y="5648197"/>
                    <a:pt x="1936662" y="5633402"/>
                    <a:pt x="1835327" y="5593156"/>
                  </a:cubicBezTo>
                  <a:cubicBezTo>
                    <a:pt x="1624385" y="5509323"/>
                    <a:pt x="1513664" y="5365358"/>
                    <a:pt x="1373672" y="5183056"/>
                  </a:cubicBezTo>
                  <a:cubicBezTo>
                    <a:pt x="1308608" y="5098427"/>
                    <a:pt x="1234953" y="5002503"/>
                    <a:pt x="1140936" y="4898785"/>
                  </a:cubicBezTo>
                  <a:cubicBezTo>
                    <a:pt x="931267" y="4667646"/>
                    <a:pt x="737983" y="4588267"/>
                    <a:pt x="582719" y="4524477"/>
                  </a:cubicBezTo>
                  <a:cubicBezTo>
                    <a:pt x="415206" y="4455597"/>
                    <a:pt x="282851" y="4401352"/>
                    <a:pt x="200606" y="4202983"/>
                  </a:cubicBezTo>
                  <a:cubicBezTo>
                    <a:pt x="103089" y="3968980"/>
                    <a:pt x="124883" y="3722252"/>
                    <a:pt x="150018" y="3436708"/>
                  </a:cubicBezTo>
                  <a:cubicBezTo>
                    <a:pt x="164176" y="3276677"/>
                    <a:pt x="180243" y="3095329"/>
                    <a:pt x="176743" y="2894733"/>
                  </a:cubicBezTo>
                  <a:cubicBezTo>
                    <a:pt x="172607" y="2651823"/>
                    <a:pt x="118838" y="2464748"/>
                    <a:pt x="71431" y="2299786"/>
                  </a:cubicBezTo>
                  <a:cubicBezTo>
                    <a:pt x="11776" y="2092031"/>
                    <a:pt x="-39767" y="1912592"/>
                    <a:pt x="43433" y="1710882"/>
                  </a:cubicBezTo>
                  <a:cubicBezTo>
                    <a:pt x="125996" y="1511082"/>
                    <a:pt x="285555" y="1421680"/>
                    <a:pt x="470408" y="1318121"/>
                  </a:cubicBezTo>
                  <a:cubicBezTo>
                    <a:pt x="613263" y="1238106"/>
                    <a:pt x="775208" y="1147432"/>
                    <a:pt x="940175" y="988196"/>
                  </a:cubicBezTo>
                  <a:cubicBezTo>
                    <a:pt x="1119142" y="815279"/>
                    <a:pt x="1223977" y="637431"/>
                    <a:pt x="1316562" y="480422"/>
                  </a:cubicBezTo>
                  <a:cubicBezTo>
                    <a:pt x="1435714" y="278235"/>
                    <a:pt x="1538481" y="103728"/>
                    <a:pt x="1755786" y="28802"/>
                  </a:cubicBezTo>
                  <a:cubicBezTo>
                    <a:pt x="1931094" y="-31488"/>
                    <a:pt x="2076335" y="13690"/>
                    <a:pt x="2244803" y="65549"/>
                  </a:cubicBezTo>
                  <a:cubicBezTo>
                    <a:pt x="2384476" y="108659"/>
                    <a:pt x="2542921" y="157496"/>
                    <a:pt x="2754659" y="160041"/>
                  </a:cubicBezTo>
                  <a:cubicBezTo>
                    <a:pt x="2968146" y="162904"/>
                    <a:pt x="3133909" y="121385"/>
                    <a:pt x="3279628" y="85434"/>
                  </a:cubicBezTo>
                  <a:cubicBezTo>
                    <a:pt x="3469571" y="38347"/>
                    <a:pt x="3633743" y="-2059"/>
                    <a:pt x="3837686" y="68094"/>
                  </a:cubicBezTo>
                  <a:cubicBezTo>
                    <a:pt x="4060718" y="144929"/>
                    <a:pt x="4171120" y="298915"/>
                    <a:pt x="4311112" y="493784"/>
                  </a:cubicBezTo>
                  <a:cubicBezTo>
                    <a:pt x="4404652" y="624387"/>
                    <a:pt x="4510919" y="772328"/>
                    <a:pt x="4674295" y="933791"/>
                  </a:cubicBezTo>
                  <a:cubicBezTo>
                    <a:pt x="4811264" y="1069325"/>
                    <a:pt x="4939484" y="1169702"/>
                    <a:pt x="5052432" y="1258308"/>
                  </a:cubicBezTo>
                  <a:cubicBezTo>
                    <a:pt x="5266397" y="1425976"/>
                    <a:pt x="5435500" y="1558328"/>
                    <a:pt x="5511859" y="1815078"/>
                  </a:cubicBezTo>
                  <a:cubicBezTo>
                    <a:pt x="5554811" y="1958406"/>
                    <a:pt x="5539698" y="2058943"/>
                    <a:pt x="5520450" y="2186205"/>
                  </a:cubicBezTo>
                  <a:cubicBezTo>
                    <a:pt x="5507087" y="2274651"/>
                    <a:pt x="5491815" y="2374870"/>
                    <a:pt x="5494042" y="2511040"/>
                  </a:cubicBezTo>
                  <a:cubicBezTo>
                    <a:pt x="5497860" y="2757768"/>
                    <a:pt x="5555766" y="2945161"/>
                    <a:pt x="5606990" y="3110442"/>
                  </a:cubicBezTo>
                  <a:cubicBezTo>
                    <a:pt x="5668555" y="3309606"/>
                    <a:pt x="5721847" y="3481568"/>
                    <a:pt x="5665373" y="3695050"/>
                  </a:cubicBezTo>
                  <a:cubicBezTo>
                    <a:pt x="5614785" y="3886737"/>
                    <a:pt x="5500565" y="3987592"/>
                    <a:pt x="5342755" y="4127102"/>
                  </a:cubicBezTo>
                  <a:cubicBezTo>
                    <a:pt x="5247307" y="4211414"/>
                    <a:pt x="5139131" y="4307178"/>
                    <a:pt x="5012661" y="4447325"/>
                  </a:cubicBezTo>
                  <a:cubicBezTo>
                    <a:pt x="4829877" y="4649989"/>
                    <a:pt x="4710089" y="4829428"/>
                    <a:pt x="4604458" y="4987709"/>
                  </a:cubicBezTo>
                  <a:cubicBezTo>
                    <a:pt x="4432650" y="5245096"/>
                    <a:pt x="4308408" y="5431057"/>
                    <a:pt x="4035106" y="5535093"/>
                  </a:cubicBezTo>
                  <a:cubicBezTo>
                    <a:pt x="3855662" y="5603974"/>
                    <a:pt x="3726806" y="5586475"/>
                    <a:pt x="3548316" y="5562295"/>
                  </a:cubicBezTo>
                  <a:cubicBezTo>
                    <a:pt x="3419620" y="5544956"/>
                    <a:pt x="3273742" y="5525071"/>
                    <a:pt x="3065186" y="5530957"/>
                  </a:cubicBezTo>
                  <a:cubicBezTo>
                    <a:pt x="2824336" y="5537638"/>
                    <a:pt x="2641393" y="5572158"/>
                    <a:pt x="2480084" y="5602542"/>
                  </a:cubicBezTo>
                  <a:cubicBezTo>
                    <a:pt x="2351228" y="5626562"/>
                    <a:pt x="2237485" y="5648038"/>
                    <a:pt x="2124219" y="5648197"/>
                  </a:cubicBezTo>
                  <a:close/>
                  <a:moveTo>
                    <a:pt x="1926640" y="38983"/>
                  </a:moveTo>
                  <a:cubicBezTo>
                    <a:pt x="1875574" y="38983"/>
                    <a:pt x="1823714" y="46778"/>
                    <a:pt x="1768513" y="65867"/>
                  </a:cubicBezTo>
                  <a:cubicBezTo>
                    <a:pt x="1564888" y="135861"/>
                    <a:pt x="1470235" y="296529"/>
                    <a:pt x="1350287" y="500148"/>
                  </a:cubicBezTo>
                  <a:cubicBezTo>
                    <a:pt x="1256429" y="659224"/>
                    <a:pt x="1150163" y="839777"/>
                    <a:pt x="967378" y="1016352"/>
                  </a:cubicBezTo>
                  <a:cubicBezTo>
                    <a:pt x="798752" y="1179247"/>
                    <a:pt x="634580" y="1271194"/>
                    <a:pt x="489498" y="1352323"/>
                  </a:cubicBezTo>
                  <a:cubicBezTo>
                    <a:pt x="303690" y="1456359"/>
                    <a:pt x="157017" y="1538443"/>
                    <a:pt x="79704" y="1725836"/>
                  </a:cubicBezTo>
                  <a:cubicBezTo>
                    <a:pt x="1754" y="1914819"/>
                    <a:pt x="49160" y="2079782"/>
                    <a:pt x="109134" y="2288809"/>
                  </a:cubicBezTo>
                  <a:cubicBezTo>
                    <a:pt x="157176" y="2456317"/>
                    <a:pt x="211582" y="2646096"/>
                    <a:pt x="215877" y="2894097"/>
                  </a:cubicBezTo>
                  <a:cubicBezTo>
                    <a:pt x="219377" y="3096920"/>
                    <a:pt x="203151" y="3279222"/>
                    <a:pt x="188993" y="3440208"/>
                  </a:cubicBezTo>
                  <a:cubicBezTo>
                    <a:pt x="163221" y="3732115"/>
                    <a:pt x="142859" y="3962617"/>
                    <a:pt x="236717" y="4187870"/>
                  </a:cubicBezTo>
                  <a:cubicBezTo>
                    <a:pt x="312758" y="4371127"/>
                    <a:pt x="432069" y="4420123"/>
                    <a:pt x="597355" y="4488048"/>
                  </a:cubicBezTo>
                  <a:cubicBezTo>
                    <a:pt x="756277" y="4553270"/>
                    <a:pt x="954015" y="4634559"/>
                    <a:pt x="1169889" y="4872378"/>
                  </a:cubicBezTo>
                  <a:cubicBezTo>
                    <a:pt x="1265020" y="4977210"/>
                    <a:pt x="1339311" y="5073929"/>
                    <a:pt x="1404852" y="5159035"/>
                  </a:cubicBezTo>
                  <a:cubicBezTo>
                    <a:pt x="1546594" y="5343564"/>
                    <a:pt x="1648883" y="5476712"/>
                    <a:pt x="1849803" y="5556569"/>
                  </a:cubicBezTo>
                  <a:cubicBezTo>
                    <a:pt x="2062654" y="5641198"/>
                    <a:pt x="2234621" y="5608746"/>
                    <a:pt x="2472608" y="5563727"/>
                  </a:cubicBezTo>
                  <a:cubicBezTo>
                    <a:pt x="2635348" y="5533025"/>
                    <a:pt x="2819882" y="5498028"/>
                    <a:pt x="3063913" y="5491347"/>
                  </a:cubicBezTo>
                  <a:cubicBezTo>
                    <a:pt x="3275333" y="5485143"/>
                    <a:pt x="3429483" y="5506300"/>
                    <a:pt x="3553407" y="5523003"/>
                  </a:cubicBezTo>
                  <a:cubicBezTo>
                    <a:pt x="3726010" y="5546229"/>
                    <a:pt x="3850730" y="5563091"/>
                    <a:pt x="4020947" y="5497869"/>
                  </a:cubicBezTo>
                  <a:cubicBezTo>
                    <a:pt x="4282477" y="5398287"/>
                    <a:pt x="4403698" y="5216780"/>
                    <a:pt x="4571529" y="4965438"/>
                  </a:cubicBezTo>
                  <a:cubicBezTo>
                    <a:pt x="4677954" y="4806043"/>
                    <a:pt x="4798538" y="4625332"/>
                    <a:pt x="4983390" y="4420600"/>
                  </a:cubicBezTo>
                  <a:cubicBezTo>
                    <a:pt x="5111292" y="4278703"/>
                    <a:pt x="5225035" y="4178167"/>
                    <a:pt x="5316507" y="4097355"/>
                  </a:cubicBezTo>
                  <a:cubicBezTo>
                    <a:pt x="5474952" y="3957368"/>
                    <a:pt x="5579628" y="3864785"/>
                    <a:pt x="5627193" y="3684709"/>
                  </a:cubicBezTo>
                  <a:cubicBezTo>
                    <a:pt x="5680645" y="3482045"/>
                    <a:pt x="5628943" y="3315174"/>
                    <a:pt x="5569129" y="3121736"/>
                  </a:cubicBezTo>
                  <a:cubicBezTo>
                    <a:pt x="5517109" y="2953910"/>
                    <a:pt x="5458249" y="2763813"/>
                    <a:pt x="5454431" y="2511358"/>
                  </a:cubicBezTo>
                  <a:cubicBezTo>
                    <a:pt x="5452204" y="2371847"/>
                    <a:pt x="5467635" y="2269879"/>
                    <a:pt x="5481316" y="2180000"/>
                  </a:cubicBezTo>
                  <a:cubicBezTo>
                    <a:pt x="5499769" y="2057670"/>
                    <a:pt x="5514405" y="1961110"/>
                    <a:pt x="5473998" y="1826054"/>
                  </a:cubicBezTo>
                  <a:cubicBezTo>
                    <a:pt x="5401139" y="1581235"/>
                    <a:pt x="5244602" y="1458745"/>
                    <a:pt x="5028092" y="1289010"/>
                  </a:cubicBezTo>
                  <a:cubicBezTo>
                    <a:pt x="4914190" y="1199768"/>
                    <a:pt x="4785016" y="1098595"/>
                    <a:pt x="4646615" y="961471"/>
                  </a:cubicBezTo>
                  <a:cubicBezTo>
                    <a:pt x="4480693" y="797781"/>
                    <a:pt x="4373631" y="648407"/>
                    <a:pt x="4278978" y="516532"/>
                  </a:cubicBezTo>
                  <a:cubicBezTo>
                    <a:pt x="4137872" y="319913"/>
                    <a:pt x="4036060" y="177858"/>
                    <a:pt x="3824800" y="105159"/>
                  </a:cubicBezTo>
                  <a:cubicBezTo>
                    <a:pt x="3631993" y="38665"/>
                    <a:pt x="3480707" y="76207"/>
                    <a:pt x="3289173" y="123612"/>
                  </a:cubicBezTo>
                  <a:cubicBezTo>
                    <a:pt x="3141068" y="160200"/>
                    <a:pt x="2972600" y="200765"/>
                    <a:pt x="2754182" y="199333"/>
                  </a:cubicBezTo>
                  <a:lnTo>
                    <a:pt x="2754182" y="199333"/>
                  </a:lnTo>
                  <a:cubicBezTo>
                    <a:pt x="2536558" y="196947"/>
                    <a:pt x="2375409" y="147156"/>
                    <a:pt x="2233031" y="103250"/>
                  </a:cubicBezTo>
                  <a:cubicBezTo>
                    <a:pt x="2121674" y="68572"/>
                    <a:pt x="2025907" y="38983"/>
                    <a:pt x="1926640" y="38983"/>
                  </a:cubicBezTo>
                  <a:close/>
                </a:path>
              </a:pathLst>
            </a:custGeom>
            <a:gradFill>
              <a:gsLst>
                <a:gs pos="100000">
                  <a:schemeClr val="accent2"/>
                </a:gs>
                <a:gs pos="0">
                  <a:schemeClr val="accent1"/>
                </a:gs>
              </a:gsLst>
              <a:lin ang="0" scaled="1"/>
            </a:gradFill>
            <a:ln w="1589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8" name="Freeform 27">
              <a:extLst>
                <a:ext uri="{FF2B5EF4-FFF2-40B4-BE49-F238E27FC236}">
                  <a16:creationId xmlns:a16="http://schemas.microsoft.com/office/drawing/2014/main" id="{4855C65F-37A5-1D79-3B31-565C1A18D129}"/>
                </a:ext>
              </a:extLst>
            </p:cNvPr>
            <p:cNvSpPr/>
            <p:nvPr/>
          </p:nvSpPr>
          <p:spPr>
            <a:xfrm>
              <a:off x="-2792576" y="648139"/>
              <a:ext cx="5575108" cy="5541068"/>
            </a:xfrm>
            <a:custGeom>
              <a:avLst/>
              <a:gdLst>
                <a:gd name="connsiteX0" fmla="*/ 2090708 w 5575108"/>
                <a:gd name="connsiteY0" fmla="*/ 5541069 h 5541068"/>
                <a:gd name="connsiteX1" fmla="*/ 1789249 w 5575108"/>
                <a:gd name="connsiteY1" fmla="*/ 5483801 h 5541068"/>
                <a:gd name="connsiteX2" fmla="*/ 1322345 w 5575108"/>
                <a:gd name="connsiteY2" fmla="*/ 5075292 h 5541068"/>
                <a:gd name="connsiteX3" fmla="*/ 1102176 w 5575108"/>
                <a:gd name="connsiteY3" fmla="*/ 4811542 h 5541068"/>
                <a:gd name="connsiteX4" fmla="*/ 571162 w 5575108"/>
                <a:gd name="connsiteY4" fmla="*/ 4445506 h 5541068"/>
                <a:gd name="connsiteX5" fmla="*/ 192707 w 5575108"/>
                <a:gd name="connsiteY5" fmla="*/ 4115898 h 5541068"/>
                <a:gd name="connsiteX6" fmla="*/ 134960 w 5575108"/>
                <a:gd name="connsiteY6" fmla="*/ 3345170 h 5541068"/>
                <a:gd name="connsiteX7" fmla="*/ 156436 w 5575108"/>
                <a:gd name="connsiteY7" fmla="*/ 2836442 h 5541068"/>
                <a:gd name="connsiteX8" fmla="*/ 63851 w 5575108"/>
                <a:gd name="connsiteY8" fmla="*/ 2267265 h 5541068"/>
                <a:gd name="connsiteX9" fmla="*/ 45239 w 5575108"/>
                <a:gd name="connsiteY9" fmla="*/ 1676134 h 5541068"/>
                <a:gd name="connsiteX10" fmla="*/ 468077 w 5575108"/>
                <a:gd name="connsiteY10" fmla="*/ 1275897 h 5541068"/>
                <a:gd name="connsiteX11" fmla="*/ 912074 w 5575108"/>
                <a:gd name="connsiteY11" fmla="*/ 955357 h 5541068"/>
                <a:gd name="connsiteX12" fmla="*/ 1277007 w 5575108"/>
                <a:gd name="connsiteY12" fmla="*/ 476376 h 5541068"/>
                <a:gd name="connsiteX13" fmla="*/ 1725298 w 5575108"/>
                <a:gd name="connsiteY13" fmla="*/ 29847 h 5541068"/>
                <a:gd name="connsiteX14" fmla="*/ 2214951 w 5575108"/>
                <a:gd name="connsiteY14" fmla="*/ 58958 h 5541068"/>
                <a:gd name="connsiteX15" fmla="*/ 2704763 w 5575108"/>
                <a:gd name="connsiteY15" fmla="*/ 142632 h 5541068"/>
                <a:gd name="connsiteX16" fmla="*/ 3209529 w 5575108"/>
                <a:gd name="connsiteY16" fmla="*/ 78047 h 5541068"/>
                <a:gd name="connsiteX17" fmla="*/ 3771881 w 5575108"/>
                <a:gd name="connsiteY17" fmla="*/ 69934 h 5541068"/>
                <a:gd name="connsiteX18" fmla="*/ 4255966 w 5575108"/>
                <a:gd name="connsiteY18" fmla="*/ 498965 h 5541068"/>
                <a:gd name="connsiteX19" fmla="*/ 4603878 w 5575108"/>
                <a:gd name="connsiteY19" fmla="*/ 914315 h 5541068"/>
                <a:gd name="connsiteX20" fmla="*/ 4954175 w 5575108"/>
                <a:gd name="connsiteY20" fmla="*/ 1222447 h 5541068"/>
                <a:gd name="connsiteX21" fmla="*/ 5414239 w 5575108"/>
                <a:gd name="connsiteY21" fmla="*/ 1794488 h 5541068"/>
                <a:gd name="connsiteX22" fmla="*/ 5425534 w 5575108"/>
                <a:gd name="connsiteY22" fmla="*/ 2167841 h 5541068"/>
                <a:gd name="connsiteX23" fmla="*/ 5402626 w 5575108"/>
                <a:gd name="connsiteY23" fmla="*/ 2479950 h 5541068"/>
                <a:gd name="connsiteX24" fmla="*/ 5502052 w 5575108"/>
                <a:gd name="connsiteY24" fmla="*/ 3055491 h 5541068"/>
                <a:gd name="connsiteX25" fmla="*/ 5548981 w 5575108"/>
                <a:gd name="connsiteY25" fmla="*/ 3641213 h 5541068"/>
                <a:gd name="connsiteX26" fmla="*/ 5224455 w 5575108"/>
                <a:gd name="connsiteY26" fmla="*/ 4078992 h 5541068"/>
                <a:gd name="connsiteX27" fmla="*/ 4914723 w 5575108"/>
                <a:gd name="connsiteY27" fmla="*/ 4382988 h 5541068"/>
                <a:gd name="connsiteX28" fmla="*/ 4526087 w 5575108"/>
                <a:gd name="connsiteY28" fmla="*/ 4886785 h 5541068"/>
                <a:gd name="connsiteX29" fmla="*/ 3943212 w 5575108"/>
                <a:gd name="connsiteY29" fmla="*/ 5434487 h 5541068"/>
                <a:gd name="connsiteX30" fmla="*/ 3453241 w 5575108"/>
                <a:gd name="connsiteY30" fmla="*/ 5465348 h 5541068"/>
                <a:gd name="connsiteX31" fmla="*/ 2993019 w 5575108"/>
                <a:gd name="connsiteY31" fmla="*/ 5438783 h 5541068"/>
                <a:gd name="connsiteX32" fmla="*/ 2438938 w 5575108"/>
                <a:gd name="connsiteY32" fmla="*/ 5500823 h 5541068"/>
                <a:gd name="connsiteX33" fmla="*/ 2090708 w 5575108"/>
                <a:gd name="connsiteY33" fmla="*/ 5541069 h 5541068"/>
                <a:gd name="connsiteX34" fmla="*/ 1902833 w 5575108"/>
                <a:gd name="connsiteY34" fmla="*/ 42414 h 5541068"/>
                <a:gd name="connsiteX35" fmla="*/ 1738820 w 5575108"/>
                <a:gd name="connsiteY35" fmla="*/ 70093 h 5541068"/>
                <a:gd name="connsiteX36" fmla="*/ 1312959 w 5575108"/>
                <a:gd name="connsiteY36" fmla="*/ 498806 h 5541068"/>
                <a:gd name="connsiteX37" fmla="*/ 941504 w 5575108"/>
                <a:gd name="connsiteY37" fmla="*/ 986059 h 5541068"/>
                <a:gd name="connsiteX38" fmla="*/ 489553 w 5575108"/>
                <a:gd name="connsiteY38" fmla="*/ 1312644 h 5541068"/>
                <a:gd name="connsiteX39" fmla="*/ 84532 w 5575108"/>
                <a:gd name="connsiteY39" fmla="*/ 1692360 h 5541068"/>
                <a:gd name="connsiteX40" fmla="*/ 105053 w 5575108"/>
                <a:gd name="connsiteY40" fmla="*/ 2256447 h 5541068"/>
                <a:gd name="connsiteX41" fmla="*/ 199070 w 5575108"/>
                <a:gd name="connsiteY41" fmla="*/ 2835806 h 5541068"/>
                <a:gd name="connsiteX42" fmla="*/ 177435 w 5575108"/>
                <a:gd name="connsiteY42" fmla="*/ 3348511 h 5541068"/>
                <a:gd name="connsiteX43" fmla="*/ 232159 w 5575108"/>
                <a:gd name="connsiteY43" fmla="*/ 4099672 h 5541068"/>
                <a:gd name="connsiteX44" fmla="*/ 588661 w 5575108"/>
                <a:gd name="connsiteY44" fmla="*/ 4406691 h 5541068"/>
                <a:gd name="connsiteX45" fmla="*/ 1133674 w 5575108"/>
                <a:gd name="connsiteY45" fmla="*/ 4782908 h 5541068"/>
                <a:gd name="connsiteX46" fmla="*/ 1355911 w 5575108"/>
                <a:gd name="connsiteY46" fmla="*/ 5049044 h 5541068"/>
                <a:gd name="connsiteX47" fmla="*/ 1805157 w 5575108"/>
                <a:gd name="connsiteY47" fmla="*/ 5444191 h 5541068"/>
                <a:gd name="connsiteX48" fmla="*/ 2431620 w 5575108"/>
                <a:gd name="connsiteY48" fmla="*/ 5458667 h 5541068"/>
                <a:gd name="connsiteX49" fmla="*/ 2991746 w 5575108"/>
                <a:gd name="connsiteY49" fmla="*/ 5396150 h 5541068"/>
                <a:gd name="connsiteX50" fmla="*/ 3458173 w 5575108"/>
                <a:gd name="connsiteY50" fmla="*/ 5423034 h 5541068"/>
                <a:gd name="connsiteX51" fmla="*/ 3927940 w 5575108"/>
                <a:gd name="connsiteY51" fmla="*/ 5394718 h 5541068"/>
                <a:gd name="connsiteX52" fmla="*/ 4490930 w 5575108"/>
                <a:gd name="connsiteY52" fmla="*/ 4862764 h 5541068"/>
                <a:gd name="connsiteX53" fmla="*/ 4883066 w 5575108"/>
                <a:gd name="connsiteY53" fmla="*/ 4354673 h 5541068"/>
                <a:gd name="connsiteX54" fmla="*/ 5195820 w 5575108"/>
                <a:gd name="connsiteY54" fmla="*/ 4047654 h 5541068"/>
                <a:gd name="connsiteX55" fmla="*/ 5507779 w 5575108"/>
                <a:gd name="connsiteY55" fmla="*/ 3630236 h 5541068"/>
                <a:gd name="connsiteX56" fmla="*/ 5461009 w 5575108"/>
                <a:gd name="connsiteY56" fmla="*/ 3067263 h 5541068"/>
                <a:gd name="connsiteX57" fmla="*/ 5360151 w 5575108"/>
                <a:gd name="connsiteY57" fmla="*/ 2480905 h 5541068"/>
                <a:gd name="connsiteX58" fmla="*/ 5383536 w 5575108"/>
                <a:gd name="connsiteY58" fmla="*/ 2162433 h 5541068"/>
                <a:gd name="connsiteX59" fmla="*/ 5373514 w 5575108"/>
                <a:gd name="connsiteY59" fmla="*/ 1807055 h 5541068"/>
                <a:gd name="connsiteX60" fmla="*/ 4927450 w 5575108"/>
                <a:gd name="connsiteY60" fmla="*/ 1256012 h 5541068"/>
                <a:gd name="connsiteX61" fmla="*/ 4573971 w 5575108"/>
                <a:gd name="connsiteY61" fmla="*/ 945017 h 5541068"/>
                <a:gd name="connsiteX62" fmla="*/ 4221923 w 5575108"/>
                <a:gd name="connsiteY62" fmla="*/ 524735 h 5541068"/>
                <a:gd name="connsiteX63" fmla="*/ 3758041 w 5575108"/>
                <a:gd name="connsiteY63" fmla="*/ 110658 h 5541068"/>
                <a:gd name="connsiteX64" fmla="*/ 3218914 w 5575108"/>
                <a:gd name="connsiteY64" fmla="*/ 120043 h 5541068"/>
                <a:gd name="connsiteX65" fmla="*/ 2704604 w 5575108"/>
                <a:gd name="connsiteY65" fmla="*/ 185742 h 5541068"/>
                <a:gd name="connsiteX66" fmla="*/ 2704604 w 5575108"/>
                <a:gd name="connsiteY66" fmla="*/ 185742 h 5541068"/>
                <a:gd name="connsiteX67" fmla="*/ 2203656 w 5575108"/>
                <a:gd name="connsiteY67" fmla="*/ 100318 h 5541068"/>
                <a:gd name="connsiteX68" fmla="*/ 1902833 w 5575108"/>
                <a:gd name="connsiteY68" fmla="*/ 42414 h 5541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5575108" h="5541068">
                  <a:moveTo>
                    <a:pt x="2090708" y="5541069"/>
                  </a:moveTo>
                  <a:cubicBezTo>
                    <a:pt x="1992078" y="5541069"/>
                    <a:pt x="1894561" y="5525956"/>
                    <a:pt x="1789249" y="5483801"/>
                  </a:cubicBezTo>
                  <a:cubicBezTo>
                    <a:pt x="1578466" y="5399649"/>
                    <a:pt x="1465518" y="5256480"/>
                    <a:pt x="1322345" y="5075292"/>
                  </a:cubicBezTo>
                  <a:cubicBezTo>
                    <a:pt x="1260144" y="4996548"/>
                    <a:pt x="1189512" y="4907306"/>
                    <a:pt x="1102176" y="4811542"/>
                  </a:cubicBezTo>
                  <a:cubicBezTo>
                    <a:pt x="903324" y="4593925"/>
                    <a:pt x="726903" y="4515022"/>
                    <a:pt x="571162" y="4445506"/>
                  </a:cubicBezTo>
                  <a:cubicBezTo>
                    <a:pt x="405558" y="4371376"/>
                    <a:pt x="274793" y="4312995"/>
                    <a:pt x="192707" y="4115898"/>
                  </a:cubicBezTo>
                  <a:cubicBezTo>
                    <a:pt x="94077" y="3880623"/>
                    <a:pt x="113007" y="3632463"/>
                    <a:pt x="134960" y="3345170"/>
                  </a:cubicBezTo>
                  <a:cubicBezTo>
                    <a:pt x="146414" y="3194365"/>
                    <a:pt x="159459" y="3023357"/>
                    <a:pt x="156436" y="2836442"/>
                  </a:cubicBezTo>
                  <a:cubicBezTo>
                    <a:pt x="152619" y="2606735"/>
                    <a:pt x="105371" y="2426342"/>
                    <a:pt x="63851" y="2267265"/>
                  </a:cubicBezTo>
                  <a:cubicBezTo>
                    <a:pt x="9127" y="2058078"/>
                    <a:pt x="-38120" y="1877526"/>
                    <a:pt x="45239" y="1676134"/>
                  </a:cubicBezTo>
                  <a:cubicBezTo>
                    <a:pt x="127961" y="1476334"/>
                    <a:pt x="285611" y="1383433"/>
                    <a:pt x="468077" y="1275897"/>
                  </a:cubicBezTo>
                  <a:cubicBezTo>
                    <a:pt x="603137" y="1196199"/>
                    <a:pt x="756333" y="1106002"/>
                    <a:pt x="912074" y="955357"/>
                  </a:cubicBezTo>
                  <a:cubicBezTo>
                    <a:pt x="1081018" y="792144"/>
                    <a:pt x="1185057" y="624317"/>
                    <a:pt x="1277007" y="476376"/>
                  </a:cubicBezTo>
                  <a:cubicBezTo>
                    <a:pt x="1400613" y="277052"/>
                    <a:pt x="1507516" y="104772"/>
                    <a:pt x="1725298" y="29847"/>
                  </a:cubicBezTo>
                  <a:cubicBezTo>
                    <a:pt x="1899811" y="-30125"/>
                    <a:pt x="2045847" y="11076"/>
                    <a:pt x="2214951" y="58958"/>
                  </a:cubicBezTo>
                  <a:cubicBezTo>
                    <a:pt x="2350329" y="97136"/>
                    <a:pt x="2503684" y="140564"/>
                    <a:pt x="2704763" y="142632"/>
                  </a:cubicBezTo>
                  <a:cubicBezTo>
                    <a:pt x="2907592" y="146291"/>
                    <a:pt x="3068105" y="109226"/>
                    <a:pt x="3209529" y="78047"/>
                  </a:cubicBezTo>
                  <a:cubicBezTo>
                    <a:pt x="3401858" y="35414"/>
                    <a:pt x="3568098" y="-1332"/>
                    <a:pt x="3771881" y="69934"/>
                  </a:cubicBezTo>
                  <a:cubicBezTo>
                    <a:pt x="3996664" y="148518"/>
                    <a:pt x="4111043" y="303141"/>
                    <a:pt x="4255966" y="498965"/>
                  </a:cubicBezTo>
                  <a:cubicBezTo>
                    <a:pt x="4347438" y="622568"/>
                    <a:pt x="4451000" y="762555"/>
                    <a:pt x="4603878" y="914315"/>
                  </a:cubicBezTo>
                  <a:cubicBezTo>
                    <a:pt x="4730188" y="1040145"/>
                    <a:pt x="4849181" y="1137023"/>
                    <a:pt x="4954175" y="1222447"/>
                  </a:cubicBezTo>
                  <a:cubicBezTo>
                    <a:pt x="5168299" y="1396954"/>
                    <a:pt x="5337562" y="1534556"/>
                    <a:pt x="5414239" y="1794488"/>
                  </a:cubicBezTo>
                  <a:cubicBezTo>
                    <a:pt x="5456873" y="1937339"/>
                    <a:pt x="5443032" y="2038989"/>
                    <a:pt x="5425534" y="2167841"/>
                  </a:cubicBezTo>
                  <a:cubicBezTo>
                    <a:pt x="5413921" y="2253743"/>
                    <a:pt x="5400717" y="2350939"/>
                    <a:pt x="5402626" y="2479950"/>
                  </a:cubicBezTo>
                  <a:cubicBezTo>
                    <a:pt x="5405967" y="2714112"/>
                    <a:pt x="5457032" y="2895459"/>
                    <a:pt x="5502052" y="3055491"/>
                  </a:cubicBezTo>
                  <a:cubicBezTo>
                    <a:pt x="5558366" y="3255769"/>
                    <a:pt x="5606887" y="3428845"/>
                    <a:pt x="5548981" y="3641213"/>
                  </a:cubicBezTo>
                  <a:cubicBezTo>
                    <a:pt x="5496484" y="3833059"/>
                    <a:pt x="5382422" y="3936141"/>
                    <a:pt x="5224455" y="4078992"/>
                  </a:cubicBezTo>
                  <a:cubicBezTo>
                    <a:pt x="5134414" y="4160280"/>
                    <a:pt x="5032602" y="4252386"/>
                    <a:pt x="4914723" y="4382988"/>
                  </a:cubicBezTo>
                  <a:cubicBezTo>
                    <a:pt x="4745142" y="4570699"/>
                    <a:pt x="4628695" y="4738685"/>
                    <a:pt x="4526087" y="4886785"/>
                  </a:cubicBezTo>
                  <a:cubicBezTo>
                    <a:pt x="4347597" y="5144172"/>
                    <a:pt x="4218741" y="5330133"/>
                    <a:pt x="3943212" y="5434487"/>
                  </a:cubicBezTo>
                  <a:cubicBezTo>
                    <a:pt x="3764245" y="5502731"/>
                    <a:pt x="3633799" y="5486983"/>
                    <a:pt x="3453241" y="5465348"/>
                  </a:cubicBezTo>
                  <a:cubicBezTo>
                    <a:pt x="3329158" y="5450395"/>
                    <a:pt x="3188689" y="5433374"/>
                    <a:pt x="2993019" y="5438783"/>
                  </a:cubicBezTo>
                  <a:cubicBezTo>
                    <a:pt x="2767918" y="5444827"/>
                    <a:pt x="2593088" y="5474575"/>
                    <a:pt x="2438938" y="5500823"/>
                  </a:cubicBezTo>
                  <a:cubicBezTo>
                    <a:pt x="2312945" y="5521980"/>
                    <a:pt x="2201270" y="5541069"/>
                    <a:pt x="2090708" y="5541069"/>
                  </a:cubicBezTo>
                  <a:close/>
                  <a:moveTo>
                    <a:pt x="1902833" y="42414"/>
                  </a:moveTo>
                  <a:cubicBezTo>
                    <a:pt x="1849859" y="42414"/>
                    <a:pt x="1796248" y="50368"/>
                    <a:pt x="1738820" y="70093"/>
                  </a:cubicBezTo>
                  <a:cubicBezTo>
                    <a:pt x="1535355" y="140246"/>
                    <a:pt x="1437202" y="298528"/>
                    <a:pt x="1312959" y="498806"/>
                  </a:cubicBezTo>
                  <a:cubicBezTo>
                    <a:pt x="1219896" y="648974"/>
                    <a:pt x="1114266" y="819028"/>
                    <a:pt x="941504" y="986059"/>
                  </a:cubicBezTo>
                  <a:cubicBezTo>
                    <a:pt x="782104" y="1140045"/>
                    <a:pt x="626681" y="1231673"/>
                    <a:pt x="489553" y="1312644"/>
                  </a:cubicBezTo>
                  <a:cubicBezTo>
                    <a:pt x="306450" y="1420498"/>
                    <a:pt x="161845" y="1505763"/>
                    <a:pt x="84532" y="1692360"/>
                  </a:cubicBezTo>
                  <a:cubicBezTo>
                    <a:pt x="6741" y="1880548"/>
                    <a:pt x="50170" y="2046466"/>
                    <a:pt x="105053" y="2256447"/>
                  </a:cubicBezTo>
                  <a:cubicBezTo>
                    <a:pt x="147369" y="2417911"/>
                    <a:pt x="195252" y="2601008"/>
                    <a:pt x="199070" y="2835806"/>
                  </a:cubicBezTo>
                  <a:cubicBezTo>
                    <a:pt x="202093" y="3024630"/>
                    <a:pt x="189048" y="3196751"/>
                    <a:pt x="177435" y="3348511"/>
                  </a:cubicBezTo>
                  <a:cubicBezTo>
                    <a:pt x="155164" y="3642008"/>
                    <a:pt x="137506" y="3873783"/>
                    <a:pt x="232159" y="4099672"/>
                  </a:cubicBezTo>
                  <a:cubicBezTo>
                    <a:pt x="307882" y="4281179"/>
                    <a:pt x="425602" y="4333834"/>
                    <a:pt x="588661" y="4406691"/>
                  </a:cubicBezTo>
                  <a:cubicBezTo>
                    <a:pt x="740266" y="4474458"/>
                    <a:pt x="928777" y="4558769"/>
                    <a:pt x="1133674" y="4782908"/>
                  </a:cubicBezTo>
                  <a:cubicBezTo>
                    <a:pt x="1222123" y="4879786"/>
                    <a:pt x="1293233" y="4969664"/>
                    <a:pt x="1355911" y="5049044"/>
                  </a:cubicBezTo>
                  <a:cubicBezTo>
                    <a:pt x="1500516" y="5231983"/>
                    <a:pt x="1605033" y="5364334"/>
                    <a:pt x="1805157" y="5444191"/>
                  </a:cubicBezTo>
                  <a:cubicBezTo>
                    <a:pt x="2017531" y="5529138"/>
                    <a:pt x="2191248" y="5499550"/>
                    <a:pt x="2431620" y="5458667"/>
                  </a:cubicBezTo>
                  <a:cubicBezTo>
                    <a:pt x="2587202" y="5432260"/>
                    <a:pt x="2763623" y="5402195"/>
                    <a:pt x="2991746" y="5396150"/>
                  </a:cubicBezTo>
                  <a:cubicBezTo>
                    <a:pt x="3189961" y="5390900"/>
                    <a:pt x="3338862" y="5408558"/>
                    <a:pt x="3458173" y="5423034"/>
                  </a:cubicBezTo>
                  <a:cubicBezTo>
                    <a:pt x="3632367" y="5443873"/>
                    <a:pt x="3758519" y="5459144"/>
                    <a:pt x="3927940" y="5394718"/>
                  </a:cubicBezTo>
                  <a:cubicBezTo>
                    <a:pt x="4191061" y="5295136"/>
                    <a:pt x="4316895" y="5113788"/>
                    <a:pt x="4490930" y="4862764"/>
                  </a:cubicBezTo>
                  <a:cubicBezTo>
                    <a:pt x="4594333" y="4713550"/>
                    <a:pt x="4711576" y="4544452"/>
                    <a:pt x="4883066" y="4354673"/>
                  </a:cubicBezTo>
                  <a:cubicBezTo>
                    <a:pt x="5002377" y="4222480"/>
                    <a:pt x="5105143" y="4129579"/>
                    <a:pt x="5195820" y="4047654"/>
                  </a:cubicBezTo>
                  <a:cubicBezTo>
                    <a:pt x="5354106" y="3904485"/>
                    <a:pt x="5458623" y="3809993"/>
                    <a:pt x="5507779" y="3630236"/>
                  </a:cubicBezTo>
                  <a:cubicBezTo>
                    <a:pt x="5562662" y="3429322"/>
                    <a:pt x="5515574" y="3261496"/>
                    <a:pt x="5461009" y="3067263"/>
                  </a:cubicBezTo>
                  <a:cubicBezTo>
                    <a:pt x="5415352" y="2904845"/>
                    <a:pt x="5363651" y="2720634"/>
                    <a:pt x="5360151" y="2480905"/>
                  </a:cubicBezTo>
                  <a:cubicBezTo>
                    <a:pt x="5358242" y="2348553"/>
                    <a:pt x="5371605" y="2249607"/>
                    <a:pt x="5383536" y="2162433"/>
                  </a:cubicBezTo>
                  <a:cubicBezTo>
                    <a:pt x="5400240" y="2038830"/>
                    <a:pt x="5413603" y="1941157"/>
                    <a:pt x="5373514" y="1807055"/>
                  </a:cubicBezTo>
                  <a:cubicBezTo>
                    <a:pt x="5300495" y="1559690"/>
                    <a:pt x="5144119" y="1432269"/>
                    <a:pt x="4927450" y="1256012"/>
                  </a:cubicBezTo>
                  <a:cubicBezTo>
                    <a:pt x="4821660" y="1169952"/>
                    <a:pt x="4701872" y="1072278"/>
                    <a:pt x="4573971" y="945017"/>
                  </a:cubicBezTo>
                  <a:cubicBezTo>
                    <a:pt x="4419025" y="791030"/>
                    <a:pt x="4314350" y="649611"/>
                    <a:pt x="4221923" y="524735"/>
                  </a:cubicBezTo>
                  <a:cubicBezTo>
                    <a:pt x="4075886" y="327321"/>
                    <a:pt x="3970415" y="184788"/>
                    <a:pt x="3758041" y="110658"/>
                  </a:cubicBezTo>
                  <a:cubicBezTo>
                    <a:pt x="3565712" y="43368"/>
                    <a:pt x="3412676" y="77093"/>
                    <a:pt x="3218914" y="120043"/>
                  </a:cubicBezTo>
                  <a:cubicBezTo>
                    <a:pt x="3075423" y="151859"/>
                    <a:pt x="2912841" y="187492"/>
                    <a:pt x="2704604" y="185742"/>
                  </a:cubicBezTo>
                  <a:lnTo>
                    <a:pt x="2704604" y="185742"/>
                  </a:lnTo>
                  <a:cubicBezTo>
                    <a:pt x="2497957" y="183515"/>
                    <a:pt x="2341580" y="139292"/>
                    <a:pt x="2203656" y="100318"/>
                  </a:cubicBezTo>
                  <a:cubicBezTo>
                    <a:pt x="2094049" y="68980"/>
                    <a:pt x="1999714" y="42414"/>
                    <a:pt x="1902833" y="42414"/>
                  </a:cubicBezTo>
                  <a:close/>
                </a:path>
              </a:pathLst>
            </a:custGeom>
            <a:gradFill>
              <a:gsLst>
                <a:gs pos="100000">
                  <a:schemeClr val="accent2"/>
                </a:gs>
                <a:gs pos="0">
                  <a:schemeClr val="accent1"/>
                </a:gs>
              </a:gsLst>
              <a:lin ang="0" scaled="1"/>
            </a:gradFill>
            <a:ln w="1589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9" name="Freeform 28">
              <a:extLst>
                <a:ext uri="{FF2B5EF4-FFF2-40B4-BE49-F238E27FC236}">
                  <a16:creationId xmlns:a16="http://schemas.microsoft.com/office/drawing/2014/main" id="{E6EF5C5F-5CA9-378E-A746-DBAC8AF51F2C}"/>
                </a:ext>
              </a:extLst>
            </p:cNvPr>
            <p:cNvSpPr/>
            <p:nvPr/>
          </p:nvSpPr>
          <p:spPr>
            <a:xfrm>
              <a:off x="-2736217" y="701126"/>
              <a:ext cx="5461289" cy="5434631"/>
            </a:xfrm>
            <a:custGeom>
              <a:avLst/>
              <a:gdLst>
                <a:gd name="connsiteX0" fmla="*/ 2060120 w 5461289"/>
                <a:gd name="connsiteY0" fmla="*/ 5434632 h 5434631"/>
                <a:gd name="connsiteX1" fmla="*/ 1743548 w 5461289"/>
                <a:gd name="connsiteY1" fmla="*/ 5374819 h 5434631"/>
                <a:gd name="connsiteX2" fmla="*/ 1270599 w 5461289"/>
                <a:gd name="connsiteY2" fmla="*/ 4967582 h 5434631"/>
                <a:gd name="connsiteX3" fmla="*/ 1063952 w 5461289"/>
                <a:gd name="connsiteY3" fmla="*/ 4724989 h 5434631"/>
                <a:gd name="connsiteX4" fmla="*/ 560618 w 5461289"/>
                <a:gd name="connsiteY4" fmla="*/ 4367861 h 5434631"/>
                <a:gd name="connsiteX5" fmla="*/ 185186 w 5461289"/>
                <a:gd name="connsiteY5" fmla="*/ 4029505 h 5434631"/>
                <a:gd name="connsiteX6" fmla="*/ 119804 w 5461289"/>
                <a:gd name="connsiteY6" fmla="*/ 3252095 h 5434631"/>
                <a:gd name="connsiteX7" fmla="*/ 136348 w 5461289"/>
                <a:gd name="connsiteY7" fmla="*/ 2778841 h 5434631"/>
                <a:gd name="connsiteX8" fmla="*/ 56171 w 5461289"/>
                <a:gd name="connsiteY8" fmla="*/ 2236389 h 5434631"/>
                <a:gd name="connsiteX9" fmla="*/ 47262 w 5461289"/>
                <a:gd name="connsiteY9" fmla="*/ 1641759 h 5434631"/>
                <a:gd name="connsiteX10" fmla="*/ 466283 w 5461289"/>
                <a:gd name="connsiteY10" fmla="*/ 1233090 h 5434631"/>
                <a:gd name="connsiteX11" fmla="*/ 884031 w 5461289"/>
                <a:gd name="connsiteY11" fmla="*/ 923208 h 5434631"/>
                <a:gd name="connsiteX12" fmla="*/ 1236556 w 5461289"/>
                <a:gd name="connsiteY12" fmla="*/ 473339 h 5434631"/>
                <a:gd name="connsiteX13" fmla="*/ 1694869 w 5461289"/>
                <a:gd name="connsiteY13" fmla="*/ 31105 h 5434631"/>
                <a:gd name="connsiteX14" fmla="*/ 2186113 w 5461289"/>
                <a:gd name="connsiteY14" fmla="*/ 52421 h 5434631"/>
                <a:gd name="connsiteX15" fmla="*/ 2654926 w 5461289"/>
                <a:gd name="connsiteY15" fmla="*/ 125596 h 5434631"/>
                <a:gd name="connsiteX16" fmla="*/ 3138057 w 5461289"/>
                <a:gd name="connsiteY16" fmla="*/ 70715 h 5434631"/>
                <a:gd name="connsiteX17" fmla="*/ 3706137 w 5461289"/>
                <a:gd name="connsiteY17" fmla="*/ 72147 h 5434631"/>
                <a:gd name="connsiteX18" fmla="*/ 4202471 w 5461289"/>
                <a:gd name="connsiteY18" fmla="*/ 505472 h 5434631"/>
                <a:gd name="connsiteX19" fmla="*/ 4533361 w 5461289"/>
                <a:gd name="connsiteY19" fmla="*/ 895052 h 5434631"/>
                <a:gd name="connsiteX20" fmla="*/ 4854705 w 5461289"/>
                <a:gd name="connsiteY20" fmla="*/ 1185049 h 5434631"/>
                <a:gd name="connsiteX21" fmla="*/ 5316678 w 5461289"/>
                <a:gd name="connsiteY21" fmla="*/ 1774270 h 5434631"/>
                <a:gd name="connsiteX22" fmla="*/ 5330836 w 5461289"/>
                <a:gd name="connsiteY22" fmla="*/ 2150487 h 5434631"/>
                <a:gd name="connsiteX23" fmla="*/ 5311269 w 5461289"/>
                <a:gd name="connsiteY23" fmla="*/ 2449234 h 5434631"/>
                <a:gd name="connsiteX24" fmla="*/ 5397332 w 5461289"/>
                <a:gd name="connsiteY24" fmla="*/ 2999481 h 5434631"/>
                <a:gd name="connsiteX25" fmla="*/ 5432489 w 5461289"/>
                <a:gd name="connsiteY25" fmla="*/ 3587589 h 5434631"/>
                <a:gd name="connsiteX26" fmla="*/ 5105417 w 5461289"/>
                <a:gd name="connsiteY26" fmla="*/ 4031891 h 5434631"/>
                <a:gd name="connsiteX27" fmla="*/ 4816685 w 5461289"/>
                <a:gd name="connsiteY27" fmla="*/ 4318707 h 5434631"/>
                <a:gd name="connsiteX28" fmla="*/ 4449525 w 5461289"/>
                <a:gd name="connsiteY28" fmla="*/ 4784643 h 5434631"/>
                <a:gd name="connsiteX29" fmla="*/ 3851219 w 5461289"/>
                <a:gd name="connsiteY29" fmla="*/ 5333936 h 5434631"/>
                <a:gd name="connsiteX30" fmla="*/ 3357112 w 5461289"/>
                <a:gd name="connsiteY30" fmla="*/ 5368615 h 5434631"/>
                <a:gd name="connsiteX31" fmla="*/ 2920910 w 5461289"/>
                <a:gd name="connsiteY31" fmla="*/ 5346662 h 5434631"/>
                <a:gd name="connsiteX32" fmla="*/ 2399282 w 5461289"/>
                <a:gd name="connsiteY32" fmla="*/ 5399316 h 5434631"/>
                <a:gd name="connsiteX33" fmla="*/ 2060120 w 5461289"/>
                <a:gd name="connsiteY33" fmla="*/ 5434632 h 5434631"/>
                <a:gd name="connsiteX34" fmla="*/ 1880836 w 5461289"/>
                <a:gd name="connsiteY34" fmla="*/ 46058 h 5434631"/>
                <a:gd name="connsiteX35" fmla="*/ 1709823 w 5461289"/>
                <a:gd name="connsiteY35" fmla="*/ 74851 h 5434631"/>
                <a:gd name="connsiteX36" fmla="*/ 1275053 w 5461289"/>
                <a:gd name="connsiteY36" fmla="*/ 498791 h 5434631"/>
                <a:gd name="connsiteX37" fmla="*/ 916006 w 5461289"/>
                <a:gd name="connsiteY37" fmla="*/ 956455 h 5434631"/>
                <a:gd name="connsiteX38" fmla="*/ 490622 w 5461289"/>
                <a:gd name="connsiteY38" fmla="*/ 1272382 h 5434631"/>
                <a:gd name="connsiteX39" fmla="*/ 89737 w 5461289"/>
                <a:gd name="connsiteY39" fmla="*/ 1659576 h 5434631"/>
                <a:gd name="connsiteX40" fmla="*/ 101032 w 5461289"/>
                <a:gd name="connsiteY40" fmla="*/ 2225890 h 5434631"/>
                <a:gd name="connsiteX41" fmla="*/ 182482 w 5461289"/>
                <a:gd name="connsiteY41" fmla="*/ 2778046 h 5434631"/>
                <a:gd name="connsiteX42" fmla="*/ 165778 w 5461289"/>
                <a:gd name="connsiteY42" fmla="*/ 3254959 h 5434631"/>
                <a:gd name="connsiteX43" fmla="*/ 227661 w 5461289"/>
                <a:gd name="connsiteY43" fmla="*/ 4011688 h 5434631"/>
                <a:gd name="connsiteX44" fmla="*/ 580822 w 5461289"/>
                <a:gd name="connsiteY44" fmla="*/ 4326501 h 5434631"/>
                <a:gd name="connsiteX45" fmla="*/ 1097837 w 5461289"/>
                <a:gd name="connsiteY45" fmla="*/ 4693810 h 5434631"/>
                <a:gd name="connsiteX46" fmla="*/ 1306392 w 5461289"/>
                <a:gd name="connsiteY46" fmla="*/ 4938470 h 5434631"/>
                <a:gd name="connsiteX47" fmla="*/ 1760888 w 5461289"/>
                <a:gd name="connsiteY47" fmla="*/ 5332186 h 5434631"/>
                <a:gd name="connsiteX48" fmla="*/ 2392760 w 5461289"/>
                <a:gd name="connsiteY48" fmla="*/ 5354139 h 5434631"/>
                <a:gd name="connsiteX49" fmla="*/ 2920115 w 5461289"/>
                <a:gd name="connsiteY49" fmla="*/ 5301007 h 5434631"/>
                <a:gd name="connsiteX50" fmla="*/ 3362361 w 5461289"/>
                <a:gd name="connsiteY50" fmla="*/ 5323119 h 5434631"/>
                <a:gd name="connsiteX51" fmla="*/ 3835311 w 5461289"/>
                <a:gd name="connsiteY51" fmla="*/ 5291144 h 5434631"/>
                <a:gd name="connsiteX52" fmla="*/ 4412618 w 5461289"/>
                <a:gd name="connsiteY52" fmla="*/ 4758077 h 5434631"/>
                <a:gd name="connsiteX53" fmla="*/ 4782959 w 5461289"/>
                <a:gd name="connsiteY53" fmla="*/ 4288164 h 5434631"/>
                <a:gd name="connsiteX54" fmla="*/ 5074556 w 5461289"/>
                <a:gd name="connsiteY54" fmla="*/ 3998484 h 5434631"/>
                <a:gd name="connsiteX55" fmla="*/ 5388583 w 5461289"/>
                <a:gd name="connsiteY55" fmla="*/ 3575340 h 5434631"/>
                <a:gd name="connsiteX56" fmla="*/ 5353107 w 5461289"/>
                <a:gd name="connsiteY56" fmla="*/ 3010935 h 5434631"/>
                <a:gd name="connsiteX57" fmla="*/ 5265613 w 5461289"/>
                <a:gd name="connsiteY57" fmla="*/ 2450029 h 5434631"/>
                <a:gd name="connsiteX58" fmla="*/ 5285498 w 5461289"/>
                <a:gd name="connsiteY58" fmla="*/ 2145238 h 5434631"/>
                <a:gd name="connsiteX59" fmla="*/ 5272930 w 5461289"/>
                <a:gd name="connsiteY59" fmla="*/ 1787474 h 5434631"/>
                <a:gd name="connsiteX60" fmla="*/ 4825434 w 5461289"/>
                <a:gd name="connsiteY60" fmla="*/ 1220364 h 5434631"/>
                <a:gd name="connsiteX61" fmla="*/ 4501226 w 5461289"/>
                <a:gd name="connsiteY61" fmla="*/ 927663 h 5434631"/>
                <a:gd name="connsiteX62" fmla="*/ 4166201 w 5461289"/>
                <a:gd name="connsiteY62" fmla="*/ 533470 h 5434631"/>
                <a:gd name="connsiteX63" fmla="*/ 3691024 w 5461289"/>
                <a:gd name="connsiteY63" fmla="*/ 115575 h 5434631"/>
                <a:gd name="connsiteX64" fmla="*/ 3147124 w 5461289"/>
                <a:gd name="connsiteY64" fmla="*/ 115893 h 5434631"/>
                <a:gd name="connsiteX65" fmla="*/ 2654767 w 5461289"/>
                <a:gd name="connsiteY65" fmla="*/ 171570 h 5434631"/>
                <a:gd name="connsiteX66" fmla="*/ 2654767 w 5461289"/>
                <a:gd name="connsiteY66" fmla="*/ 171570 h 5434631"/>
                <a:gd name="connsiteX67" fmla="*/ 2174977 w 5461289"/>
                <a:gd name="connsiteY67" fmla="*/ 96962 h 5434631"/>
                <a:gd name="connsiteX68" fmla="*/ 1880836 w 5461289"/>
                <a:gd name="connsiteY68" fmla="*/ 46058 h 5434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5461289" h="5434631">
                  <a:moveTo>
                    <a:pt x="2060120" y="5434632"/>
                  </a:moveTo>
                  <a:cubicBezTo>
                    <a:pt x="1956081" y="5434632"/>
                    <a:pt x="1853951" y="5419201"/>
                    <a:pt x="1743548" y="5374819"/>
                  </a:cubicBezTo>
                  <a:cubicBezTo>
                    <a:pt x="1532924" y="5290190"/>
                    <a:pt x="1417113" y="5147816"/>
                    <a:pt x="1270599" y="4967582"/>
                  </a:cubicBezTo>
                  <a:cubicBezTo>
                    <a:pt x="1211580" y="4894883"/>
                    <a:pt x="1144606" y="4812482"/>
                    <a:pt x="1063952" y="4724989"/>
                  </a:cubicBezTo>
                  <a:cubicBezTo>
                    <a:pt x="876077" y="4520893"/>
                    <a:pt x="708564" y="4439605"/>
                    <a:pt x="560618" y="4367861"/>
                  </a:cubicBezTo>
                  <a:cubicBezTo>
                    <a:pt x="396764" y="4288323"/>
                    <a:pt x="267431" y="4225646"/>
                    <a:pt x="185186" y="4029505"/>
                  </a:cubicBezTo>
                  <a:cubicBezTo>
                    <a:pt x="85124" y="3792480"/>
                    <a:pt x="101191" y="3542093"/>
                    <a:pt x="119804" y="3252095"/>
                  </a:cubicBezTo>
                  <a:cubicBezTo>
                    <a:pt x="129348" y="3104154"/>
                    <a:pt x="139052" y="2951281"/>
                    <a:pt x="136348" y="2778841"/>
                  </a:cubicBezTo>
                  <a:cubicBezTo>
                    <a:pt x="133007" y="2562656"/>
                    <a:pt x="92123" y="2389421"/>
                    <a:pt x="56171" y="2236389"/>
                  </a:cubicBezTo>
                  <a:cubicBezTo>
                    <a:pt x="6538" y="2025612"/>
                    <a:pt x="-36255" y="1843310"/>
                    <a:pt x="47262" y="1641759"/>
                  </a:cubicBezTo>
                  <a:cubicBezTo>
                    <a:pt x="130144" y="1441799"/>
                    <a:pt x="286044" y="1345081"/>
                    <a:pt x="466283" y="1233090"/>
                  </a:cubicBezTo>
                  <a:cubicBezTo>
                    <a:pt x="593389" y="1154188"/>
                    <a:pt x="737517" y="1064787"/>
                    <a:pt x="884031" y="923208"/>
                  </a:cubicBezTo>
                  <a:cubicBezTo>
                    <a:pt x="1042794" y="769699"/>
                    <a:pt x="1145720" y="612213"/>
                    <a:pt x="1236556" y="473339"/>
                  </a:cubicBezTo>
                  <a:cubicBezTo>
                    <a:pt x="1365253" y="276560"/>
                    <a:pt x="1476291" y="106507"/>
                    <a:pt x="1694869" y="31105"/>
                  </a:cubicBezTo>
                  <a:cubicBezTo>
                    <a:pt x="1868745" y="-28867"/>
                    <a:pt x="2015737" y="8834"/>
                    <a:pt x="2186113" y="52421"/>
                  </a:cubicBezTo>
                  <a:cubicBezTo>
                    <a:pt x="2316878" y="85827"/>
                    <a:pt x="2464983" y="123687"/>
                    <a:pt x="2654926" y="125596"/>
                  </a:cubicBezTo>
                  <a:cubicBezTo>
                    <a:pt x="2845029" y="126392"/>
                    <a:pt x="3001565" y="97281"/>
                    <a:pt x="3138057" y="70715"/>
                  </a:cubicBezTo>
                  <a:cubicBezTo>
                    <a:pt x="3333409" y="32695"/>
                    <a:pt x="3502194" y="-233"/>
                    <a:pt x="3706137" y="72147"/>
                  </a:cubicBezTo>
                  <a:cubicBezTo>
                    <a:pt x="3933146" y="152639"/>
                    <a:pt x="4052139" y="308376"/>
                    <a:pt x="4202471" y="505472"/>
                  </a:cubicBezTo>
                  <a:cubicBezTo>
                    <a:pt x="4291238" y="621758"/>
                    <a:pt x="4391778" y="753473"/>
                    <a:pt x="4533361" y="895052"/>
                  </a:cubicBezTo>
                  <a:cubicBezTo>
                    <a:pt x="4648695" y="1010701"/>
                    <a:pt x="4758143" y="1103443"/>
                    <a:pt x="4854705" y="1185049"/>
                  </a:cubicBezTo>
                  <a:cubicBezTo>
                    <a:pt x="5069624" y="1366874"/>
                    <a:pt x="5239364" y="1510521"/>
                    <a:pt x="5316678" y="1774270"/>
                  </a:cubicBezTo>
                  <a:cubicBezTo>
                    <a:pt x="5358834" y="1916803"/>
                    <a:pt x="5346585" y="2019885"/>
                    <a:pt x="5330836" y="2150487"/>
                  </a:cubicBezTo>
                  <a:cubicBezTo>
                    <a:pt x="5320814" y="2233366"/>
                    <a:pt x="5309519" y="2327540"/>
                    <a:pt x="5311269" y="2449234"/>
                  </a:cubicBezTo>
                  <a:cubicBezTo>
                    <a:pt x="5314451" y="2670351"/>
                    <a:pt x="5358516" y="2845336"/>
                    <a:pt x="5397332" y="2999481"/>
                  </a:cubicBezTo>
                  <a:cubicBezTo>
                    <a:pt x="5448238" y="3201509"/>
                    <a:pt x="5492304" y="3376175"/>
                    <a:pt x="5432489" y="3587589"/>
                  </a:cubicBezTo>
                  <a:cubicBezTo>
                    <a:pt x="5378242" y="3779754"/>
                    <a:pt x="5263704" y="3885540"/>
                    <a:pt x="5105417" y="4031891"/>
                  </a:cubicBezTo>
                  <a:cubicBezTo>
                    <a:pt x="5021104" y="4109838"/>
                    <a:pt x="4925656" y="4198126"/>
                    <a:pt x="4816685" y="4318707"/>
                  </a:cubicBezTo>
                  <a:cubicBezTo>
                    <a:pt x="4660626" y="4491305"/>
                    <a:pt x="4548473" y="4647042"/>
                    <a:pt x="4449525" y="4784643"/>
                  </a:cubicBezTo>
                  <a:cubicBezTo>
                    <a:pt x="4263876" y="5042825"/>
                    <a:pt x="4129611" y="5229263"/>
                    <a:pt x="3851219" y="5333936"/>
                  </a:cubicBezTo>
                  <a:cubicBezTo>
                    <a:pt x="3672252" y="5401703"/>
                    <a:pt x="3533215" y="5387068"/>
                    <a:pt x="3357112" y="5368615"/>
                  </a:cubicBezTo>
                  <a:cubicBezTo>
                    <a:pt x="3238119" y="5356047"/>
                    <a:pt x="3103377" y="5341731"/>
                    <a:pt x="2920910" y="5346662"/>
                  </a:cubicBezTo>
                  <a:cubicBezTo>
                    <a:pt x="2712036" y="5351912"/>
                    <a:pt x="2545796" y="5377046"/>
                    <a:pt x="2399282" y="5399316"/>
                  </a:cubicBezTo>
                  <a:cubicBezTo>
                    <a:pt x="2276949" y="5418088"/>
                    <a:pt x="2167501" y="5434632"/>
                    <a:pt x="2060120" y="5434632"/>
                  </a:cubicBezTo>
                  <a:close/>
                  <a:moveTo>
                    <a:pt x="1880836" y="46058"/>
                  </a:moveTo>
                  <a:cubicBezTo>
                    <a:pt x="1825475" y="46058"/>
                    <a:pt x="1769479" y="54330"/>
                    <a:pt x="1709823" y="74851"/>
                  </a:cubicBezTo>
                  <a:cubicBezTo>
                    <a:pt x="1506199" y="145163"/>
                    <a:pt x="1404228" y="301217"/>
                    <a:pt x="1275053" y="498791"/>
                  </a:cubicBezTo>
                  <a:cubicBezTo>
                    <a:pt x="1182945" y="639733"/>
                    <a:pt x="1078588" y="799447"/>
                    <a:pt x="916006" y="956455"/>
                  </a:cubicBezTo>
                  <a:cubicBezTo>
                    <a:pt x="765993" y="1101534"/>
                    <a:pt x="619797" y="1192208"/>
                    <a:pt x="490622" y="1272382"/>
                  </a:cubicBezTo>
                  <a:cubicBezTo>
                    <a:pt x="309906" y="1384532"/>
                    <a:pt x="167051" y="1473137"/>
                    <a:pt x="89737" y="1659576"/>
                  </a:cubicBezTo>
                  <a:cubicBezTo>
                    <a:pt x="11787" y="1847446"/>
                    <a:pt x="51080" y="2014477"/>
                    <a:pt x="101032" y="2225890"/>
                  </a:cubicBezTo>
                  <a:cubicBezTo>
                    <a:pt x="137462" y="2380990"/>
                    <a:pt x="178982" y="2557088"/>
                    <a:pt x="182482" y="2778046"/>
                  </a:cubicBezTo>
                  <a:cubicBezTo>
                    <a:pt x="185186" y="2952394"/>
                    <a:pt x="174846" y="3113062"/>
                    <a:pt x="165778" y="3254959"/>
                  </a:cubicBezTo>
                  <a:cubicBezTo>
                    <a:pt x="146847" y="3550842"/>
                    <a:pt x="131894" y="3784685"/>
                    <a:pt x="227661" y="4011688"/>
                  </a:cubicBezTo>
                  <a:cubicBezTo>
                    <a:pt x="303224" y="4191763"/>
                    <a:pt x="425717" y="4251258"/>
                    <a:pt x="580822" y="4326501"/>
                  </a:cubicBezTo>
                  <a:cubicBezTo>
                    <a:pt x="724790" y="4396336"/>
                    <a:pt x="904075" y="4483351"/>
                    <a:pt x="1097837" y="4693810"/>
                  </a:cubicBezTo>
                  <a:cubicBezTo>
                    <a:pt x="1179445" y="4782416"/>
                    <a:pt x="1246896" y="4865295"/>
                    <a:pt x="1306392" y="4938470"/>
                  </a:cubicBezTo>
                  <a:cubicBezTo>
                    <a:pt x="1454338" y="5120614"/>
                    <a:pt x="1561241" y="5252011"/>
                    <a:pt x="1760888" y="5332186"/>
                  </a:cubicBezTo>
                  <a:cubicBezTo>
                    <a:pt x="1973421" y="5417611"/>
                    <a:pt x="2149365" y="5391045"/>
                    <a:pt x="2392760" y="5354139"/>
                  </a:cubicBezTo>
                  <a:cubicBezTo>
                    <a:pt x="2540706" y="5331868"/>
                    <a:pt x="2708219" y="5306416"/>
                    <a:pt x="2920115" y="5301007"/>
                  </a:cubicBezTo>
                  <a:cubicBezTo>
                    <a:pt x="3105286" y="5296076"/>
                    <a:pt x="3241937" y="5310552"/>
                    <a:pt x="3362361" y="5323119"/>
                  </a:cubicBezTo>
                  <a:cubicBezTo>
                    <a:pt x="3539101" y="5341731"/>
                    <a:pt x="3666526" y="5355093"/>
                    <a:pt x="3835311" y="5291144"/>
                  </a:cubicBezTo>
                  <a:cubicBezTo>
                    <a:pt x="4100659" y="5191403"/>
                    <a:pt x="4231583" y="5009737"/>
                    <a:pt x="4412618" y="4758077"/>
                  </a:cubicBezTo>
                  <a:cubicBezTo>
                    <a:pt x="4512203" y="4619680"/>
                    <a:pt x="4625150" y="4462671"/>
                    <a:pt x="4782959" y="4288164"/>
                  </a:cubicBezTo>
                  <a:cubicBezTo>
                    <a:pt x="4893362" y="4165992"/>
                    <a:pt x="4989606" y="4076909"/>
                    <a:pt x="5074556" y="3998484"/>
                  </a:cubicBezTo>
                  <a:cubicBezTo>
                    <a:pt x="5233160" y="3851975"/>
                    <a:pt x="5337836" y="3755097"/>
                    <a:pt x="5388583" y="3575340"/>
                  </a:cubicBezTo>
                  <a:cubicBezTo>
                    <a:pt x="5445056" y="3375539"/>
                    <a:pt x="5402423" y="3206599"/>
                    <a:pt x="5353107" y="3010935"/>
                  </a:cubicBezTo>
                  <a:cubicBezTo>
                    <a:pt x="5313655" y="2854085"/>
                    <a:pt x="5268794" y="2676396"/>
                    <a:pt x="5265613" y="2450029"/>
                  </a:cubicBezTo>
                  <a:cubicBezTo>
                    <a:pt x="5263863" y="2325154"/>
                    <a:pt x="5275316" y="2229549"/>
                    <a:pt x="5285498" y="2145238"/>
                  </a:cubicBezTo>
                  <a:cubicBezTo>
                    <a:pt x="5300451" y="2019885"/>
                    <a:pt x="5312383" y="1920939"/>
                    <a:pt x="5272930" y="1787474"/>
                  </a:cubicBezTo>
                  <a:cubicBezTo>
                    <a:pt x="5199435" y="1536927"/>
                    <a:pt x="5042580" y="1404098"/>
                    <a:pt x="4825434" y="1220364"/>
                  </a:cubicBezTo>
                  <a:cubicBezTo>
                    <a:pt x="4728235" y="1137962"/>
                    <a:pt x="4617992" y="1044743"/>
                    <a:pt x="4501226" y="927663"/>
                  </a:cubicBezTo>
                  <a:cubicBezTo>
                    <a:pt x="4357416" y="783857"/>
                    <a:pt x="4255922" y="650869"/>
                    <a:pt x="4166201" y="533470"/>
                  </a:cubicBezTo>
                  <a:cubicBezTo>
                    <a:pt x="4014595" y="334942"/>
                    <a:pt x="3905148" y="191613"/>
                    <a:pt x="3691024" y="115575"/>
                  </a:cubicBezTo>
                  <a:cubicBezTo>
                    <a:pt x="3498694" y="47330"/>
                    <a:pt x="3343590" y="77714"/>
                    <a:pt x="3147124" y="115893"/>
                  </a:cubicBezTo>
                  <a:cubicBezTo>
                    <a:pt x="3008405" y="142936"/>
                    <a:pt x="2849801" y="173797"/>
                    <a:pt x="2654767" y="171570"/>
                  </a:cubicBezTo>
                  <a:lnTo>
                    <a:pt x="2654767" y="171570"/>
                  </a:lnTo>
                  <a:cubicBezTo>
                    <a:pt x="2459256" y="169502"/>
                    <a:pt x="2308288" y="131005"/>
                    <a:pt x="2174977" y="96962"/>
                  </a:cubicBezTo>
                  <a:cubicBezTo>
                    <a:pt x="2067916" y="69760"/>
                    <a:pt x="1975012" y="46058"/>
                    <a:pt x="1880836" y="46058"/>
                  </a:cubicBezTo>
                  <a:close/>
                </a:path>
              </a:pathLst>
            </a:custGeom>
            <a:gradFill>
              <a:gsLst>
                <a:gs pos="100000">
                  <a:schemeClr val="accent2"/>
                </a:gs>
                <a:gs pos="0">
                  <a:schemeClr val="accent1"/>
                </a:gs>
              </a:gsLst>
              <a:lin ang="0" scaled="1"/>
            </a:gradFill>
            <a:ln w="1589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30" name="Freeform 29">
              <a:extLst>
                <a:ext uri="{FF2B5EF4-FFF2-40B4-BE49-F238E27FC236}">
                  <a16:creationId xmlns:a16="http://schemas.microsoft.com/office/drawing/2014/main" id="{0FE7AFE2-13BE-3273-DF31-8FA344AE8D6A}"/>
                </a:ext>
              </a:extLst>
            </p:cNvPr>
            <p:cNvSpPr/>
            <p:nvPr/>
          </p:nvSpPr>
          <p:spPr>
            <a:xfrm>
              <a:off x="-2679982" y="754296"/>
              <a:ext cx="5348635" cy="5328648"/>
            </a:xfrm>
            <a:custGeom>
              <a:avLst/>
              <a:gdLst>
                <a:gd name="connsiteX0" fmla="*/ 2032521 w 5348635"/>
                <a:gd name="connsiteY0" fmla="*/ 5328649 h 5328648"/>
                <a:gd name="connsiteX1" fmla="*/ 1697972 w 5348635"/>
                <a:gd name="connsiteY1" fmla="*/ 5265813 h 5328648"/>
                <a:gd name="connsiteX2" fmla="*/ 1217387 w 5348635"/>
                <a:gd name="connsiteY2" fmla="*/ 4858576 h 5328648"/>
                <a:gd name="connsiteX3" fmla="*/ 1025694 w 5348635"/>
                <a:gd name="connsiteY3" fmla="*/ 4638095 h 5328648"/>
                <a:gd name="connsiteX4" fmla="*/ 550677 w 5348635"/>
                <a:gd name="connsiteY4" fmla="*/ 4290830 h 5328648"/>
                <a:gd name="connsiteX5" fmla="*/ 177949 w 5348635"/>
                <a:gd name="connsiteY5" fmla="*/ 3942769 h 5328648"/>
                <a:gd name="connsiteX6" fmla="*/ 104612 w 5348635"/>
                <a:gd name="connsiteY6" fmla="*/ 3155975 h 5328648"/>
                <a:gd name="connsiteX7" fmla="*/ 116702 w 5348635"/>
                <a:gd name="connsiteY7" fmla="*/ 2720899 h 5328648"/>
                <a:gd name="connsiteX8" fmla="*/ 48615 w 5348635"/>
                <a:gd name="connsiteY8" fmla="*/ 2206604 h 5328648"/>
                <a:gd name="connsiteX9" fmla="*/ 49729 w 5348635"/>
                <a:gd name="connsiteY9" fmla="*/ 1607361 h 5328648"/>
                <a:gd name="connsiteX10" fmla="*/ 465727 w 5348635"/>
                <a:gd name="connsiteY10" fmla="*/ 1189465 h 5328648"/>
                <a:gd name="connsiteX11" fmla="*/ 856590 w 5348635"/>
                <a:gd name="connsiteY11" fmla="*/ 891037 h 5328648"/>
                <a:gd name="connsiteX12" fmla="*/ 1195593 w 5348635"/>
                <a:gd name="connsiteY12" fmla="*/ 471074 h 5328648"/>
                <a:gd name="connsiteX13" fmla="*/ 1665042 w 5348635"/>
                <a:gd name="connsiteY13" fmla="*/ 32657 h 5328648"/>
                <a:gd name="connsiteX14" fmla="*/ 2158831 w 5348635"/>
                <a:gd name="connsiteY14" fmla="*/ 45861 h 5328648"/>
                <a:gd name="connsiteX15" fmla="*/ 2605691 w 5348635"/>
                <a:gd name="connsiteY15" fmla="*/ 108855 h 5328648"/>
                <a:gd name="connsiteX16" fmla="*/ 3065596 w 5348635"/>
                <a:gd name="connsiteY16" fmla="*/ 63359 h 5328648"/>
                <a:gd name="connsiteX17" fmla="*/ 3640994 w 5348635"/>
                <a:gd name="connsiteY17" fmla="*/ 74813 h 5328648"/>
                <a:gd name="connsiteX18" fmla="*/ 4151168 w 5348635"/>
                <a:gd name="connsiteY18" fmla="*/ 513706 h 5328648"/>
                <a:gd name="connsiteX19" fmla="*/ 4463763 w 5348635"/>
                <a:gd name="connsiteY19" fmla="*/ 876402 h 5328648"/>
                <a:gd name="connsiteX20" fmla="*/ 4754882 w 5348635"/>
                <a:gd name="connsiteY20" fmla="*/ 1146037 h 5328648"/>
                <a:gd name="connsiteX21" fmla="*/ 5219877 w 5348635"/>
                <a:gd name="connsiteY21" fmla="*/ 1754507 h 5328648"/>
                <a:gd name="connsiteX22" fmla="*/ 5237058 w 5348635"/>
                <a:gd name="connsiteY22" fmla="*/ 2134542 h 5328648"/>
                <a:gd name="connsiteX23" fmla="*/ 5220832 w 5348635"/>
                <a:gd name="connsiteY23" fmla="*/ 2418971 h 5328648"/>
                <a:gd name="connsiteX24" fmla="*/ 5293850 w 5348635"/>
                <a:gd name="connsiteY24" fmla="*/ 2942653 h 5328648"/>
                <a:gd name="connsiteX25" fmla="*/ 5316758 w 5348635"/>
                <a:gd name="connsiteY25" fmla="*/ 3534737 h 5328648"/>
                <a:gd name="connsiteX26" fmla="*/ 4986505 w 5348635"/>
                <a:gd name="connsiteY26" fmla="*/ 3986675 h 5328648"/>
                <a:gd name="connsiteX27" fmla="*/ 4719407 w 5348635"/>
                <a:gd name="connsiteY27" fmla="*/ 4255197 h 5328648"/>
                <a:gd name="connsiteX28" fmla="*/ 4375950 w 5348635"/>
                <a:gd name="connsiteY28" fmla="*/ 4681682 h 5328648"/>
                <a:gd name="connsiteX29" fmla="*/ 3759827 w 5348635"/>
                <a:gd name="connsiteY29" fmla="*/ 5233998 h 5328648"/>
                <a:gd name="connsiteX30" fmla="*/ 3260152 w 5348635"/>
                <a:gd name="connsiteY30" fmla="*/ 5272653 h 5328648"/>
                <a:gd name="connsiteX31" fmla="*/ 2849404 w 5348635"/>
                <a:gd name="connsiteY31" fmla="*/ 5255155 h 5328648"/>
                <a:gd name="connsiteX32" fmla="*/ 2362138 w 5348635"/>
                <a:gd name="connsiteY32" fmla="*/ 5298742 h 5328648"/>
                <a:gd name="connsiteX33" fmla="*/ 2032521 w 5348635"/>
                <a:gd name="connsiteY33" fmla="*/ 5328649 h 5328648"/>
                <a:gd name="connsiteX34" fmla="*/ 1860394 w 5348635"/>
                <a:gd name="connsiteY34" fmla="*/ 49201 h 5328648"/>
                <a:gd name="connsiteX35" fmla="*/ 1680950 w 5348635"/>
                <a:gd name="connsiteY35" fmla="*/ 79267 h 5328648"/>
                <a:gd name="connsiteX36" fmla="*/ 1236000 w 5348635"/>
                <a:gd name="connsiteY36" fmla="*/ 499071 h 5328648"/>
                <a:gd name="connsiteX37" fmla="*/ 890793 w 5348635"/>
                <a:gd name="connsiteY37" fmla="*/ 926511 h 5328648"/>
                <a:gd name="connsiteX38" fmla="*/ 492771 w 5348635"/>
                <a:gd name="connsiteY38" fmla="*/ 1230825 h 5328648"/>
                <a:gd name="connsiteX39" fmla="*/ 95385 w 5348635"/>
                <a:gd name="connsiteY39" fmla="*/ 1626450 h 5328648"/>
                <a:gd name="connsiteX40" fmla="*/ 97135 w 5348635"/>
                <a:gd name="connsiteY40" fmla="*/ 2196741 h 5328648"/>
                <a:gd name="connsiteX41" fmla="*/ 166336 w 5348635"/>
                <a:gd name="connsiteY41" fmla="*/ 2720422 h 5328648"/>
                <a:gd name="connsiteX42" fmla="*/ 154086 w 5348635"/>
                <a:gd name="connsiteY42" fmla="*/ 3158838 h 5328648"/>
                <a:gd name="connsiteX43" fmla="*/ 223605 w 5348635"/>
                <a:gd name="connsiteY43" fmla="*/ 3923998 h 5328648"/>
                <a:gd name="connsiteX44" fmla="*/ 573902 w 5348635"/>
                <a:gd name="connsiteY44" fmla="*/ 4247561 h 5328648"/>
                <a:gd name="connsiteX45" fmla="*/ 1062124 w 5348635"/>
                <a:gd name="connsiteY45" fmla="*/ 4604848 h 5328648"/>
                <a:gd name="connsiteX46" fmla="*/ 1255407 w 5348635"/>
                <a:gd name="connsiteY46" fmla="*/ 4827238 h 5328648"/>
                <a:gd name="connsiteX47" fmla="*/ 1716585 w 5348635"/>
                <a:gd name="connsiteY47" fmla="*/ 5220317 h 5328648"/>
                <a:gd name="connsiteX48" fmla="*/ 2355933 w 5348635"/>
                <a:gd name="connsiteY48" fmla="*/ 5250223 h 5328648"/>
                <a:gd name="connsiteX49" fmla="*/ 2848291 w 5348635"/>
                <a:gd name="connsiteY49" fmla="*/ 5206159 h 5328648"/>
                <a:gd name="connsiteX50" fmla="*/ 3264766 w 5348635"/>
                <a:gd name="connsiteY50" fmla="*/ 5223816 h 5328648"/>
                <a:gd name="connsiteX51" fmla="*/ 3742646 w 5348635"/>
                <a:gd name="connsiteY51" fmla="*/ 5188024 h 5328648"/>
                <a:gd name="connsiteX52" fmla="*/ 4336498 w 5348635"/>
                <a:gd name="connsiteY52" fmla="*/ 4652412 h 5328648"/>
                <a:gd name="connsiteX53" fmla="*/ 4682818 w 5348635"/>
                <a:gd name="connsiteY53" fmla="*/ 4222427 h 5328648"/>
                <a:gd name="connsiteX54" fmla="*/ 4952620 w 5348635"/>
                <a:gd name="connsiteY54" fmla="*/ 3951200 h 5328648"/>
                <a:gd name="connsiteX55" fmla="*/ 5269511 w 5348635"/>
                <a:gd name="connsiteY55" fmla="*/ 3521215 h 5328648"/>
                <a:gd name="connsiteX56" fmla="*/ 5245808 w 5348635"/>
                <a:gd name="connsiteY56" fmla="*/ 2953629 h 5328648"/>
                <a:gd name="connsiteX57" fmla="*/ 5171517 w 5348635"/>
                <a:gd name="connsiteY57" fmla="*/ 2419926 h 5328648"/>
                <a:gd name="connsiteX58" fmla="*/ 5187902 w 5348635"/>
                <a:gd name="connsiteY58" fmla="*/ 2129769 h 5328648"/>
                <a:gd name="connsiteX59" fmla="*/ 5172471 w 5348635"/>
                <a:gd name="connsiteY59" fmla="*/ 1768824 h 5328648"/>
                <a:gd name="connsiteX60" fmla="*/ 4722271 w 5348635"/>
                <a:gd name="connsiteY60" fmla="*/ 1183420 h 5328648"/>
                <a:gd name="connsiteX61" fmla="*/ 4428606 w 5348635"/>
                <a:gd name="connsiteY61" fmla="*/ 911399 h 5328648"/>
                <a:gd name="connsiteX62" fmla="*/ 4112352 w 5348635"/>
                <a:gd name="connsiteY62" fmla="*/ 544408 h 5328648"/>
                <a:gd name="connsiteX63" fmla="*/ 3624290 w 5348635"/>
                <a:gd name="connsiteY63" fmla="*/ 121422 h 5328648"/>
                <a:gd name="connsiteX64" fmla="*/ 3073709 w 5348635"/>
                <a:gd name="connsiteY64" fmla="*/ 112196 h 5328648"/>
                <a:gd name="connsiteX65" fmla="*/ 2605055 w 5348635"/>
                <a:gd name="connsiteY65" fmla="*/ 158328 h 5328648"/>
                <a:gd name="connsiteX66" fmla="*/ 2605055 w 5348635"/>
                <a:gd name="connsiteY66" fmla="*/ 158328 h 5328648"/>
                <a:gd name="connsiteX67" fmla="*/ 2147696 w 5348635"/>
                <a:gd name="connsiteY67" fmla="*/ 94061 h 5328648"/>
                <a:gd name="connsiteX68" fmla="*/ 1860394 w 5348635"/>
                <a:gd name="connsiteY68" fmla="*/ 49201 h 5328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5348635" h="5328648">
                  <a:moveTo>
                    <a:pt x="2032521" y="5328649"/>
                  </a:moveTo>
                  <a:cubicBezTo>
                    <a:pt x="1921800" y="5328649"/>
                    <a:pt x="1814102" y="5312741"/>
                    <a:pt x="1697972" y="5265813"/>
                  </a:cubicBezTo>
                  <a:cubicBezTo>
                    <a:pt x="1486712" y="5180547"/>
                    <a:pt x="1367878" y="5038492"/>
                    <a:pt x="1217387" y="4858576"/>
                  </a:cubicBezTo>
                  <a:cubicBezTo>
                    <a:pt x="1161868" y="4792241"/>
                    <a:pt x="1099030" y="4717157"/>
                    <a:pt x="1025694" y="4638095"/>
                  </a:cubicBezTo>
                  <a:cubicBezTo>
                    <a:pt x="849113" y="4447839"/>
                    <a:pt x="690509" y="4364324"/>
                    <a:pt x="550677" y="4290830"/>
                  </a:cubicBezTo>
                  <a:cubicBezTo>
                    <a:pt x="394936" y="4208905"/>
                    <a:pt x="260353" y="4138116"/>
                    <a:pt x="177949" y="3942769"/>
                  </a:cubicBezTo>
                  <a:cubicBezTo>
                    <a:pt x="76296" y="3703359"/>
                    <a:pt x="89499" y="3449631"/>
                    <a:pt x="104612" y="3155975"/>
                  </a:cubicBezTo>
                  <a:cubicBezTo>
                    <a:pt x="111612" y="3019328"/>
                    <a:pt x="118929" y="2878067"/>
                    <a:pt x="116702" y="2720899"/>
                  </a:cubicBezTo>
                  <a:cubicBezTo>
                    <a:pt x="113680" y="2518554"/>
                    <a:pt x="79159" y="2352954"/>
                    <a:pt x="48615" y="2206604"/>
                  </a:cubicBezTo>
                  <a:cubicBezTo>
                    <a:pt x="4073" y="1993440"/>
                    <a:pt x="-34266" y="1809229"/>
                    <a:pt x="49729" y="1607361"/>
                  </a:cubicBezTo>
                  <a:cubicBezTo>
                    <a:pt x="133088" y="1407082"/>
                    <a:pt x="287238" y="1306228"/>
                    <a:pt x="465727" y="1189465"/>
                  </a:cubicBezTo>
                  <a:cubicBezTo>
                    <a:pt x="584720" y="1111677"/>
                    <a:pt x="719621" y="1023389"/>
                    <a:pt x="856590" y="891037"/>
                  </a:cubicBezTo>
                  <a:cubicBezTo>
                    <a:pt x="1005013" y="747549"/>
                    <a:pt x="1106189" y="600721"/>
                    <a:pt x="1195593" y="471074"/>
                  </a:cubicBezTo>
                  <a:cubicBezTo>
                    <a:pt x="1329699" y="276681"/>
                    <a:pt x="1445351" y="108696"/>
                    <a:pt x="1665042" y="32657"/>
                  </a:cubicBezTo>
                  <a:cubicBezTo>
                    <a:pt x="1838441" y="-27474"/>
                    <a:pt x="1987023" y="6569"/>
                    <a:pt x="2158831" y="45861"/>
                  </a:cubicBezTo>
                  <a:cubicBezTo>
                    <a:pt x="2284506" y="74654"/>
                    <a:pt x="2427043" y="107105"/>
                    <a:pt x="2605691" y="108855"/>
                  </a:cubicBezTo>
                  <a:cubicBezTo>
                    <a:pt x="2786567" y="112037"/>
                    <a:pt x="2934513" y="85471"/>
                    <a:pt x="3065596" y="63359"/>
                  </a:cubicBezTo>
                  <a:cubicBezTo>
                    <a:pt x="3264448" y="29953"/>
                    <a:pt x="3436097" y="1001"/>
                    <a:pt x="3640994" y="74813"/>
                  </a:cubicBezTo>
                  <a:cubicBezTo>
                    <a:pt x="3870707" y="157533"/>
                    <a:pt x="3994473" y="314701"/>
                    <a:pt x="4151168" y="513706"/>
                  </a:cubicBezTo>
                  <a:cubicBezTo>
                    <a:pt x="4236595" y="622197"/>
                    <a:pt x="4333475" y="745163"/>
                    <a:pt x="4463763" y="876402"/>
                  </a:cubicBezTo>
                  <a:cubicBezTo>
                    <a:pt x="4567803" y="981393"/>
                    <a:pt x="4667229" y="1068885"/>
                    <a:pt x="4754882" y="1146037"/>
                  </a:cubicBezTo>
                  <a:cubicBezTo>
                    <a:pt x="4971074" y="1336134"/>
                    <a:pt x="5141928" y="1486303"/>
                    <a:pt x="5219877" y="1754507"/>
                  </a:cubicBezTo>
                  <a:cubicBezTo>
                    <a:pt x="5261716" y="1897040"/>
                    <a:pt x="5250262" y="2006962"/>
                    <a:pt x="5237058" y="2134542"/>
                  </a:cubicBezTo>
                  <a:cubicBezTo>
                    <a:pt x="5228786" y="2214398"/>
                    <a:pt x="5219400" y="2304913"/>
                    <a:pt x="5220832" y="2418971"/>
                  </a:cubicBezTo>
                  <a:cubicBezTo>
                    <a:pt x="5223536" y="2626567"/>
                    <a:pt x="5260920" y="2794552"/>
                    <a:pt x="5293850" y="2942653"/>
                  </a:cubicBezTo>
                  <a:cubicBezTo>
                    <a:pt x="5339348" y="3147067"/>
                    <a:pt x="5378482" y="3323642"/>
                    <a:pt x="5316758" y="3534737"/>
                  </a:cubicBezTo>
                  <a:cubicBezTo>
                    <a:pt x="5260284" y="3727698"/>
                    <a:pt x="5145427" y="3836347"/>
                    <a:pt x="4986505" y="3986675"/>
                  </a:cubicBezTo>
                  <a:cubicBezTo>
                    <a:pt x="4908237" y="4060805"/>
                    <a:pt x="4819310" y="4144797"/>
                    <a:pt x="4719407" y="4255197"/>
                  </a:cubicBezTo>
                  <a:cubicBezTo>
                    <a:pt x="4577347" y="4412047"/>
                    <a:pt x="4470444" y="4555216"/>
                    <a:pt x="4375950" y="4681682"/>
                  </a:cubicBezTo>
                  <a:cubicBezTo>
                    <a:pt x="4182030" y="4941296"/>
                    <a:pt x="4041879" y="5128847"/>
                    <a:pt x="3759827" y="5233998"/>
                  </a:cubicBezTo>
                  <a:cubicBezTo>
                    <a:pt x="3580542" y="5301446"/>
                    <a:pt x="3439119" y="5288720"/>
                    <a:pt x="3260152" y="5272653"/>
                  </a:cubicBezTo>
                  <a:cubicBezTo>
                    <a:pt x="3146727" y="5262472"/>
                    <a:pt x="3018030" y="5251337"/>
                    <a:pt x="2849404" y="5255155"/>
                  </a:cubicBezTo>
                  <a:cubicBezTo>
                    <a:pt x="2657234" y="5259768"/>
                    <a:pt x="2500538" y="5280448"/>
                    <a:pt x="2362138" y="5298742"/>
                  </a:cubicBezTo>
                  <a:cubicBezTo>
                    <a:pt x="2243463" y="5314490"/>
                    <a:pt x="2136719" y="5328649"/>
                    <a:pt x="2032521" y="5328649"/>
                  </a:cubicBezTo>
                  <a:close/>
                  <a:moveTo>
                    <a:pt x="1860394" y="49201"/>
                  </a:moveTo>
                  <a:cubicBezTo>
                    <a:pt x="1802011" y="49201"/>
                    <a:pt x="1743310" y="57632"/>
                    <a:pt x="1680950" y="79267"/>
                  </a:cubicBezTo>
                  <a:cubicBezTo>
                    <a:pt x="1476690" y="150056"/>
                    <a:pt x="1370423" y="304043"/>
                    <a:pt x="1236000" y="499071"/>
                  </a:cubicBezTo>
                  <a:cubicBezTo>
                    <a:pt x="1145323" y="630628"/>
                    <a:pt x="1042556" y="779683"/>
                    <a:pt x="890793" y="926511"/>
                  </a:cubicBezTo>
                  <a:cubicBezTo>
                    <a:pt x="750483" y="1062204"/>
                    <a:pt x="613514" y="1151764"/>
                    <a:pt x="492771" y="1230825"/>
                  </a:cubicBezTo>
                  <a:cubicBezTo>
                    <a:pt x="313963" y="1347747"/>
                    <a:pt x="172858" y="1440011"/>
                    <a:pt x="95385" y="1626450"/>
                  </a:cubicBezTo>
                  <a:cubicBezTo>
                    <a:pt x="17276" y="1814320"/>
                    <a:pt x="52433" y="1983100"/>
                    <a:pt x="97135" y="2196741"/>
                  </a:cubicBezTo>
                  <a:cubicBezTo>
                    <a:pt x="127997" y="2345159"/>
                    <a:pt x="163154" y="2513304"/>
                    <a:pt x="166336" y="2720422"/>
                  </a:cubicBezTo>
                  <a:cubicBezTo>
                    <a:pt x="168563" y="2879340"/>
                    <a:pt x="161245" y="3021396"/>
                    <a:pt x="154086" y="3158838"/>
                  </a:cubicBezTo>
                  <a:cubicBezTo>
                    <a:pt x="139292" y="3446450"/>
                    <a:pt x="126406" y="3694768"/>
                    <a:pt x="223605" y="3923998"/>
                  </a:cubicBezTo>
                  <a:cubicBezTo>
                    <a:pt x="299169" y="4103119"/>
                    <a:pt x="420389" y="4166909"/>
                    <a:pt x="573902" y="4247561"/>
                  </a:cubicBezTo>
                  <a:cubicBezTo>
                    <a:pt x="710076" y="4319305"/>
                    <a:pt x="879816" y="4408388"/>
                    <a:pt x="1062124" y="4604848"/>
                  </a:cubicBezTo>
                  <a:cubicBezTo>
                    <a:pt x="1136415" y="4684864"/>
                    <a:pt x="1199570" y="4760426"/>
                    <a:pt x="1255407" y="4827238"/>
                  </a:cubicBezTo>
                  <a:cubicBezTo>
                    <a:pt x="1407171" y="5008585"/>
                    <a:pt x="1516937" y="5139824"/>
                    <a:pt x="1716585" y="5220317"/>
                  </a:cubicBezTo>
                  <a:cubicBezTo>
                    <a:pt x="1929913" y="5306537"/>
                    <a:pt x="2108721" y="5282834"/>
                    <a:pt x="2355933" y="5250223"/>
                  </a:cubicBezTo>
                  <a:cubicBezTo>
                    <a:pt x="2495448" y="5231770"/>
                    <a:pt x="2653575" y="5210931"/>
                    <a:pt x="2848291" y="5206159"/>
                  </a:cubicBezTo>
                  <a:cubicBezTo>
                    <a:pt x="3020099" y="5202023"/>
                    <a:pt x="3149909" y="5213636"/>
                    <a:pt x="3264766" y="5223816"/>
                  </a:cubicBezTo>
                  <a:cubicBezTo>
                    <a:pt x="3444051" y="5239883"/>
                    <a:pt x="3573861" y="5251655"/>
                    <a:pt x="3742646" y="5188024"/>
                  </a:cubicBezTo>
                  <a:cubicBezTo>
                    <a:pt x="4011176" y="5087806"/>
                    <a:pt x="4147668" y="4905185"/>
                    <a:pt x="4336498" y="4652412"/>
                  </a:cubicBezTo>
                  <a:cubicBezTo>
                    <a:pt x="4431628" y="4525151"/>
                    <a:pt x="4539327" y="4380868"/>
                    <a:pt x="4682818" y="4222427"/>
                  </a:cubicBezTo>
                  <a:cubicBezTo>
                    <a:pt x="4783994" y="4110437"/>
                    <a:pt x="4873557" y="4025967"/>
                    <a:pt x="4952620" y="3951200"/>
                  </a:cubicBezTo>
                  <a:cubicBezTo>
                    <a:pt x="5111702" y="3800714"/>
                    <a:pt x="5216855" y="3701450"/>
                    <a:pt x="5269511" y="3521215"/>
                  </a:cubicBezTo>
                  <a:cubicBezTo>
                    <a:pt x="5327735" y="3322210"/>
                    <a:pt x="5289873" y="3151362"/>
                    <a:pt x="5245808" y="2953629"/>
                  </a:cubicBezTo>
                  <a:cubicBezTo>
                    <a:pt x="5212241" y="2803142"/>
                    <a:pt x="5174380" y="2632612"/>
                    <a:pt x="5171517" y="2419926"/>
                  </a:cubicBezTo>
                  <a:cubicBezTo>
                    <a:pt x="5169926" y="2303004"/>
                    <a:pt x="5179471" y="2210898"/>
                    <a:pt x="5187902" y="2129769"/>
                  </a:cubicBezTo>
                  <a:cubicBezTo>
                    <a:pt x="5201265" y="2002508"/>
                    <a:pt x="5211605" y="1901971"/>
                    <a:pt x="5172471" y="1768824"/>
                  </a:cubicBezTo>
                  <a:cubicBezTo>
                    <a:pt x="5098498" y="1514300"/>
                    <a:pt x="4940689" y="1375585"/>
                    <a:pt x="4722271" y="1183420"/>
                  </a:cubicBezTo>
                  <a:cubicBezTo>
                    <a:pt x="4633821" y="1105791"/>
                    <a:pt x="4533759" y="1017662"/>
                    <a:pt x="4428606" y="911399"/>
                  </a:cubicBezTo>
                  <a:cubicBezTo>
                    <a:pt x="4296409" y="778251"/>
                    <a:pt x="4198733" y="654012"/>
                    <a:pt x="4112352" y="544408"/>
                  </a:cubicBezTo>
                  <a:cubicBezTo>
                    <a:pt x="3960588" y="351607"/>
                    <a:pt x="3840641" y="199370"/>
                    <a:pt x="3624290" y="121422"/>
                  </a:cubicBezTo>
                  <a:cubicBezTo>
                    <a:pt x="3431642" y="52065"/>
                    <a:pt x="3273674" y="78631"/>
                    <a:pt x="3073709" y="112196"/>
                  </a:cubicBezTo>
                  <a:cubicBezTo>
                    <a:pt x="2940558" y="134467"/>
                    <a:pt x="2790385" y="159442"/>
                    <a:pt x="2605055" y="158328"/>
                  </a:cubicBezTo>
                  <a:lnTo>
                    <a:pt x="2605055" y="158328"/>
                  </a:lnTo>
                  <a:cubicBezTo>
                    <a:pt x="2420998" y="156578"/>
                    <a:pt x="2275756" y="123331"/>
                    <a:pt x="2147696" y="94061"/>
                  </a:cubicBezTo>
                  <a:cubicBezTo>
                    <a:pt x="2043179" y="70040"/>
                    <a:pt x="1952025" y="49201"/>
                    <a:pt x="1860394" y="49201"/>
                  </a:cubicBezTo>
                  <a:close/>
                </a:path>
              </a:pathLst>
            </a:custGeom>
            <a:gradFill>
              <a:gsLst>
                <a:gs pos="100000">
                  <a:schemeClr val="accent2"/>
                </a:gs>
                <a:gs pos="0">
                  <a:schemeClr val="accent1"/>
                </a:gs>
              </a:gsLst>
              <a:lin ang="0" scaled="1"/>
            </a:gradFill>
            <a:ln w="1589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31" name="Freeform 30">
              <a:extLst>
                <a:ext uri="{FF2B5EF4-FFF2-40B4-BE49-F238E27FC236}">
                  <a16:creationId xmlns:a16="http://schemas.microsoft.com/office/drawing/2014/main" id="{1BB7A447-6990-6554-D61A-51DE362F586D}"/>
                </a:ext>
              </a:extLst>
            </p:cNvPr>
            <p:cNvSpPr/>
            <p:nvPr/>
          </p:nvSpPr>
          <p:spPr>
            <a:xfrm>
              <a:off x="-2624281" y="807480"/>
              <a:ext cx="5236956" cy="5222968"/>
            </a:xfrm>
            <a:custGeom>
              <a:avLst/>
              <a:gdLst>
                <a:gd name="connsiteX0" fmla="*/ 2009431 w 5236956"/>
                <a:gd name="connsiteY0" fmla="*/ 5222969 h 5222968"/>
                <a:gd name="connsiteX1" fmla="*/ 1652929 w 5236956"/>
                <a:gd name="connsiteY1" fmla="*/ 5156634 h 5222968"/>
                <a:gd name="connsiteX2" fmla="*/ 1163435 w 5236956"/>
                <a:gd name="connsiteY2" fmla="*/ 4748443 h 5222968"/>
                <a:gd name="connsiteX3" fmla="*/ 988287 w 5236956"/>
                <a:gd name="connsiteY3" fmla="*/ 4551187 h 5222968"/>
                <a:gd name="connsiteX4" fmla="*/ 542063 w 5236956"/>
                <a:gd name="connsiteY4" fmla="*/ 4214898 h 5222968"/>
                <a:gd name="connsiteX5" fmla="*/ 171244 w 5236956"/>
                <a:gd name="connsiteY5" fmla="*/ 3856339 h 5222968"/>
                <a:gd name="connsiteX6" fmla="*/ 89476 w 5236956"/>
                <a:gd name="connsiteY6" fmla="*/ 3056977 h 5222968"/>
                <a:gd name="connsiteX7" fmla="*/ 97589 w 5236956"/>
                <a:gd name="connsiteY7" fmla="*/ 2663261 h 5222968"/>
                <a:gd name="connsiteX8" fmla="*/ 41115 w 5236956"/>
                <a:gd name="connsiteY8" fmla="*/ 2179031 h 5222968"/>
                <a:gd name="connsiteX9" fmla="*/ 52569 w 5236956"/>
                <a:gd name="connsiteY9" fmla="*/ 1573266 h 5222968"/>
                <a:gd name="connsiteX10" fmla="*/ 466340 w 5236956"/>
                <a:gd name="connsiteY10" fmla="*/ 1144553 h 5222968"/>
                <a:gd name="connsiteX11" fmla="*/ 829364 w 5236956"/>
                <a:gd name="connsiteY11" fmla="*/ 859010 h 5222968"/>
                <a:gd name="connsiteX12" fmla="*/ 1153095 w 5236956"/>
                <a:gd name="connsiteY12" fmla="*/ 469908 h 5222968"/>
                <a:gd name="connsiteX13" fmla="*/ 1635271 w 5236956"/>
                <a:gd name="connsiteY13" fmla="*/ 34355 h 5222968"/>
                <a:gd name="connsiteX14" fmla="*/ 2132719 w 5236956"/>
                <a:gd name="connsiteY14" fmla="*/ 39286 h 5222968"/>
                <a:gd name="connsiteX15" fmla="*/ 2556512 w 5236956"/>
                <a:gd name="connsiteY15" fmla="*/ 92259 h 5222968"/>
                <a:gd name="connsiteX16" fmla="*/ 2991123 w 5236956"/>
                <a:gd name="connsiteY16" fmla="*/ 55831 h 5222968"/>
                <a:gd name="connsiteX17" fmla="*/ 3576224 w 5236956"/>
                <a:gd name="connsiteY17" fmla="*/ 77624 h 5222968"/>
                <a:gd name="connsiteX18" fmla="*/ 4102307 w 5236956"/>
                <a:gd name="connsiteY18" fmla="*/ 523835 h 5222968"/>
                <a:gd name="connsiteX19" fmla="*/ 4394222 w 5236956"/>
                <a:gd name="connsiteY19" fmla="*/ 857897 h 5222968"/>
                <a:gd name="connsiteX20" fmla="*/ 4653206 w 5236956"/>
                <a:gd name="connsiteY20" fmla="*/ 1104148 h 5222968"/>
                <a:gd name="connsiteX21" fmla="*/ 5123292 w 5236956"/>
                <a:gd name="connsiteY21" fmla="*/ 1735047 h 5222968"/>
                <a:gd name="connsiteX22" fmla="*/ 5143654 w 5236956"/>
                <a:gd name="connsiteY22" fmla="*/ 2119854 h 5222968"/>
                <a:gd name="connsiteX23" fmla="*/ 5130609 w 5236956"/>
                <a:gd name="connsiteY23" fmla="*/ 2388853 h 5222968"/>
                <a:gd name="connsiteX24" fmla="*/ 5191061 w 5236956"/>
                <a:gd name="connsiteY24" fmla="*/ 2883901 h 5222968"/>
                <a:gd name="connsiteX25" fmla="*/ 5201401 w 5236956"/>
                <a:gd name="connsiteY25" fmla="*/ 3482030 h 5222968"/>
                <a:gd name="connsiteX26" fmla="*/ 4866853 w 5236956"/>
                <a:gd name="connsiteY26" fmla="*/ 3942876 h 5222968"/>
                <a:gd name="connsiteX27" fmla="*/ 4622344 w 5236956"/>
                <a:gd name="connsiteY27" fmla="*/ 4191673 h 5222968"/>
                <a:gd name="connsiteX28" fmla="*/ 4305613 w 5236956"/>
                <a:gd name="connsiteY28" fmla="*/ 4576480 h 5222968"/>
                <a:gd name="connsiteX29" fmla="*/ 3668810 w 5236956"/>
                <a:gd name="connsiteY29" fmla="*/ 5134204 h 5222968"/>
                <a:gd name="connsiteX30" fmla="*/ 3162135 w 5236956"/>
                <a:gd name="connsiteY30" fmla="*/ 5176996 h 5222968"/>
                <a:gd name="connsiteX31" fmla="*/ 2778271 w 5236956"/>
                <a:gd name="connsiteY31" fmla="*/ 5163633 h 5222968"/>
                <a:gd name="connsiteX32" fmla="*/ 2328230 w 5236956"/>
                <a:gd name="connsiteY32" fmla="*/ 5198630 h 5222968"/>
                <a:gd name="connsiteX33" fmla="*/ 2009431 w 5236956"/>
                <a:gd name="connsiteY33" fmla="*/ 5222969 h 5222968"/>
                <a:gd name="connsiteX34" fmla="*/ 1842554 w 5236956"/>
                <a:gd name="connsiteY34" fmla="*/ 52172 h 5222968"/>
                <a:gd name="connsiteX35" fmla="*/ 1652452 w 5236956"/>
                <a:gd name="connsiteY35" fmla="*/ 83828 h 5222968"/>
                <a:gd name="connsiteX36" fmla="*/ 1195411 w 5236956"/>
                <a:gd name="connsiteY36" fmla="*/ 500610 h 5222968"/>
                <a:gd name="connsiteX37" fmla="*/ 865635 w 5236956"/>
                <a:gd name="connsiteY37" fmla="*/ 896552 h 5222968"/>
                <a:gd name="connsiteX38" fmla="*/ 495929 w 5236956"/>
                <a:gd name="connsiteY38" fmla="*/ 1187663 h 5222968"/>
                <a:gd name="connsiteX39" fmla="*/ 100930 w 5236956"/>
                <a:gd name="connsiteY39" fmla="*/ 1593151 h 5222968"/>
                <a:gd name="connsiteX40" fmla="*/ 92658 w 5236956"/>
                <a:gd name="connsiteY40" fmla="*/ 2169486 h 5222968"/>
                <a:gd name="connsiteX41" fmla="*/ 149927 w 5236956"/>
                <a:gd name="connsiteY41" fmla="*/ 2662307 h 5222968"/>
                <a:gd name="connsiteX42" fmla="*/ 141814 w 5236956"/>
                <a:gd name="connsiteY42" fmla="*/ 3058886 h 5222968"/>
                <a:gd name="connsiteX43" fmla="*/ 219446 w 5236956"/>
                <a:gd name="connsiteY43" fmla="*/ 3835659 h 5222968"/>
                <a:gd name="connsiteX44" fmla="*/ 567834 w 5236956"/>
                <a:gd name="connsiteY44" fmla="*/ 4169243 h 5222968"/>
                <a:gd name="connsiteX45" fmla="*/ 1026466 w 5236956"/>
                <a:gd name="connsiteY45" fmla="*/ 4515394 h 5222968"/>
                <a:gd name="connsiteX46" fmla="*/ 1203206 w 5236956"/>
                <a:gd name="connsiteY46" fmla="*/ 4714241 h 5222968"/>
                <a:gd name="connsiteX47" fmla="*/ 1672814 w 5236956"/>
                <a:gd name="connsiteY47" fmla="*/ 5107956 h 5222968"/>
                <a:gd name="connsiteX48" fmla="*/ 2322503 w 5236956"/>
                <a:gd name="connsiteY48" fmla="*/ 5146135 h 5222968"/>
                <a:gd name="connsiteX49" fmla="*/ 2777158 w 5236956"/>
                <a:gd name="connsiteY49" fmla="*/ 5110820 h 5222968"/>
                <a:gd name="connsiteX50" fmla="*/ 3166112 w 5236956"/>
                <a:gd name="connsiteY50" fmla="*/ 5124342 h 5222968"/>
                <a:gd name="connsiteX51" fmla="*/ 3650516 w 5236956"/>
                <a:gd name="connsiteY51" fmla="*/ 5084731 h 5222968"/>
                <a:gd name="connsiteX52" fmla="*/ 4264093 w 5236956"/>
                <a:gd name="connsiteY52" fmla="*/ 4544029 h 5222968"/>
                <a:gd name="connsiteX53" fmla="*/ 4583369 w 5236956"/>
                <a:gd name="connsiteY53" fmla="*/ 4156199 h 5222968"/>
                <a:gd name="connsiteX54" fmla="*/ 4830264 w 5236956"/>
                <a:gd name="connsiteY54" fmla="*/ 3904857 h 5222968"/>
                <a:gd name="connsiteX55" fmla="*/ 5151131 w 5236956"/>
                <a:gd name="connsiteY55" fmla="*/ 3466600 h 5222968"/>
                <a:gd name="connsiteX56" fmla="*/ 5139359 w 5236956"/>
                <a:gd name="connsiteY56" fmla="*/ 2893605 h 5222968"/>
                <a:gd name="connsiteX57" fmla="*/ 5077954 w 5236956"/>
                <a:gd name="connsiteY57" fmla="*/ 2389331 h 5222968"/>
                <a:gd name="connsiteX58" fmla="*/ 5091158 w 5236956"/>
                <a:gd name="connsiteY58" fmla="*/ 2115082 h 5222968"/>
                <a:gd name="connsiteX59" fmla="*/ 5072863 w 5236956"/>
                <a:gd name="connsiteY59" fmla="*/ 1749523 h 5222968"/>
                <a:gd name="connsiteX60" fmla="*/ 4617890 w 5236956"/>
                <a:gd name="connsiteY60" fmla="*/ 1142644 h 5222968"/>
                <a:gd name="connsiteX61" fmla="*/ 4356837 w 5236956"/>
                <a:gd name="connsiteY61" fmla="*/ 894484 h 5222968"/>
                <a:gd name="connsiteX62" fmla="*/ 4061582 w 5236956"/>
                <a:gd name="connsiteY62" fmla="*/ 556605 h 5222968"/>
                <a:gd name="connsiteX63" fmla="*/ 3558248 w 5236956"/>
                <a:gd name="connsiteY63" fmla="*/ 126620 h 5222968"/>
                <a:gd name="connsiteX64" fmla="*/ 2998758 w 5236956"/>
                <a:gd name="connsiteY64" fmla="*/ 107531 h 5222968"/>
                <a:gd name="connsiteX65" fmla="*/ 2556353 w 5236956"/>
                <a:gd name="connsiteY65" fmla="*/ 144436 h 5222968"/>
                <a:gd name="connsiteX66" fmla="*/ 2556353 w 5236956"/>
                <a:gd name="connsiteY66" fmla="*/ 144436 h 5222968"/>
                <a:gd name="connsiteX67" fmla="*/ 2122697 w 5236956"/>
                <a:gd name="connsiteY67" fmla="*/ 90350 h 5222968"/>
                <a:gd name="connsiteX68" fmla="*/ 1842554 w 5236956"/>
                <a:gd name="connsiteY68" fmla="*/ 52172 h 5222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5236956" h="5222968">
                  <a:moveTo>
                    <a:pt x="2009431" y="5222969"/>
                  </a:moveTo>
                  <a:cubicBezTo>
                    <a:pt x="1890597" y="5222969"/>
                    <a:pt x="1776058" y="5206584"/>
                    <a:pt x="1652929" y="5156634"/>
                  </a:cubicBezTo>
                  <a:cubicBezTo>
                    <a:pt x="1440874" y="5070574"/>
                    <a:pt x="1318381" y="4928517"/>
                    <a:pt x="1163435" y="4748443"/>
                  </a:cubicBezTo>
                  <a:cubicBezTo>
                    <a:pt x="1109666" y="4686084"/>
                    <a:pt x="1053987" y="4621499"/>
                    <a:pt x="988287" y="4551187"/>
                  </a:cubicBezTo>
                  <a:cubicBezTo>
                    <a:pt x="823001" y="4374770"/>
                    <a:pt x="673783" y="4289823"/>
                    <a:pt x="542063" y="4214898"/>
                  </a:cubicBezTo>
                  <a:cubicBezTo>
                    <a:pt x="387595" y="4126929"/>
                    <a:pt x="254126" y="4051049"/>
                    <a:pt x="171244" y="3856339"/>
                  </a:cubicBezTo>
                  <a:cubicBezTo>
                    <a:pt x="67523" y="3613587"/>
                    <a:pt x="77704" y="3355565"/>
                    <a:pt x="89476" y="3056977"/>
                  </a:cubicBezTo>
                  <a:cubicBezTo>
                    <a:pt x="94408" y="2932738"/>
                    <a:pt x="99498" y="2804203"/>
                    <a:pt x="97589" y="2663261"/>
                  </a:cubicBezTo>
                  <a:cubicBezTo>
                    <a:pt x="94885" y="2475391"/>
                    <a:pt x="66409" y="2317905"/>
                    <a:pt x="41115" y="2179031"/>
                  </a:cubicBezTo>
                  <a:cubicBezTo>
                    <a:pt x="1822" y="1962845"/>
                    <a:pt x="-32062" y="1776089"/>
                    <a:pt x="52569" y="1573266"/>
                  </a:cubicBezTo>
                  <a:cubicBezTo>
                    <a:pt x="136564" y="1372033"/>
                    <a:pt x="289283" y="1266566"/>
                    <a:pt x="466340" y="1144553"/>
                  </a:cubicBezTo>
                  <a:cubicBezTo>
                    <a:pt x="576902" y="1068355"/>
                    <a:pt x="702417" y="981818"/>
                    <a:pt x="829364" y="859010"/>
                  </a:cubicBezTo>
                  <a:cubicBezTo>
                    <a:pt x="966970" y="725863"/>
                    <a:pt x="1065918" y="589852"/>
                    <a:pt x="1153095" y="469908"/>
                  </a:cubicBezTo>
                  <a:cubicBezTo>
                    <a:pt x="1293087" y="277425"/>
                    <a:pt x="1413989" y="111030"/>
                    <a:pt x="1635271" y="34355"/>
                  </a:cubicBezTo>
                  <a:cubicBezTo>
                    <a:pt x="1808829" y="-25776"/>
                    <a:pt x="1958843" y="4290"/>
                    <a:pt x="2132719" y="39286"/>
                  </a:cubicBezTo>
                  <a:cubicBezTo>
                    <a:pt x="2253144" y="63466"/>
                    <a:pt x="2389477" y="90827"/>
                    <a:pt x="2556512" y="92259"/>
                  </a:cubicBezTo>
                  <a:cubicBezTo>
                    <a:pt x="2724502" y="93214"/>
                    <a:pt x="2866085" y="73647"/>
                    <a:pt x="2991123" y="55831"/>
                  </a:cubicBezTo>
                  <a:cubicBezTo>
                    <a:pt x="3194429" y="27038"/>
                    <a:pt x="3370055" y="2062"/>
                    <a:pt x="3576224" y="77624"/>
                  </a:cubicBezTo>
                  <a:cubicBezTo>
                    <a:pt x="3809438" y="162889"/>
                    <a:pt x="3938771" y="322284"/>
                    <a:pt x="4102307" y="523835"/>
                  </a:cubicBezTo>
                  <a:cubicBezTo>
                    <a:pt x="4183597" y="624053"/>
                    <a:pt x="4275865" y="737794"/>
                    <a:pt x="4394222" y="857897"/>
                  </a:cubicBezTo>
                  <a:cubicBezTo>
                    <a:pt x="4486171" y="951593"/>
                    <a:pt x="4574938" y="1032563"/>
                    <a:pt x="4653206" y="1104148"/>
                  </a:cubicBezTo>
                  <a:cubicBezTo>
                    <a:pt x="4871625" y="1303630"/>
                    <a:pt x="5044228" y="1461117"/>
                    <a:pt x="5123292" y="1735047"/>
                  </a:cubicBezTo>
                  <a:cubicBezTo>
                    <a:pt x="5164971" y="1877739"/>
                    <a:pt x="5155108" y="1989889"/>
                    <a:pt x="5143654" y="2119854"/>
                  </a:cubicBezTo>
                  <a:cubicBezTo>
                    <a:pt x="5136973" y="2196211"/>
                    <a:pt x="5129337" y="2282749"/>
                    <a:pt x="5130609" y="2388853"/>
                  </a:cubicBezTo>
                  <a:cubicBezTo>
                    <a:pt x="5132996" y="2582291"/>
                    <a:pt x="5163858" y="2742482"/>
                    <a:pt x="5191061" y="2883901"/>
                  </a:cubicBezTo>
                  <a:cubicBezTo>
                    <a:pt x="5230990" y="3091497"/>
                    <a:pt x="5265511" y="3270776"/>
                    <a:pt x="5201401" y="3482030"/>
                  </a:cubicBezTo>
                  <a:cubicBezTo>
                    <a:pt x="5142700" y="3676105"/>
                    <a:pt x="5027048" y="3787936"/>
                    <a:pt x="4866853" y="3942876"/>
                  </a:cubicBezTo>
                  <a:cubicBezTo>
                    <a:pt x="4794789" y="4012711"/>
                    <a:pt x="4713021" y="4091614"/>
                    <a:pt x="4622344" y="4191673"/>
                  </a:cubicBezTo>
                  <a:cubicBezTo>
                    <a:pt x="4495079" y="4331979"/>
                    <a:pt x="4394540" y="4461786"/>
                    <a:pt x="4305613" y="4576480"/>
                  </a:cubicBezTo>
                  <a:cubicBezTo>
                    <a:pt x="4102307" y="4838639"/>
                    <a:pt x="3955634" y="5027941"/>
                    <a:pt x="3668810" y="5134204"/>
                  </a:cubicBezTo>
                  <a:cubicBezTo>
                    <a:pt x="3489047" y="5201335"/>
                    <a:pt x="3344761" y="5190676"/>
                    <a:pt x="3162135" y="5176996"/>
                  </a:cubicBezTo>
                  <a:cubicBezTo>
                    <a:pt x="3054755" y="5169042"/>
                    <a:pt x="2932899" y="5159975"/>
                    <a:pt x="2778271" y="5163633"/>
                  </a:cubicBezTo>
                  <a:cubicBezTo>
                    <a:pt x="2603600" y="5167610"/>
                    <a:pt x="2457245" y="5184154"/>
                    <a:pt x="2328230" y="5198630"/>
                  </a:cubicBezTo>
                  <a:cubicBezTo>
                    <a:pt x="2213691" y="5211356"/>
                    <a:pt x="2109970" y="5222969"/>
                    <a:pt x="2009431" y="5222969"/>
                  </a:cubicBezTo>
                  <a:close/>
                  <a:moveTo>
                    <a:pt x="1842554" y="52172"/>
                  </a:moveTo>
                  <a:cubicBezTo>
                    <a:pt x="1780353" y="52172"/>
                    <a:pt x="1718312" y="60921"/>
                    <a:pt x="1652452" y="83828"/>
                  </a:cubicBezTo>
                  <a:cubicBezTo>
                    <a:pt x="1446759" y="155095"/>
                    <a:pt x="1335880" y="307649"/>
                    <a:pt x="1195411" y="500610"/>
                  </a:cubicBezTo>
                  <a:cubicBezTo>
                    <a:pt x="1106802" y="622304"/>
                    <a:pt x="1006581" y="760382"/>
                    <a:pt x="865635" y="896552"/>
                  </a:cubicBezTo>
                  <a:cubicBezTo>
                    <a:pt x="735506" y="1022382"/>
                    <a:pt x="608241" y="1110193"/>
                    <a:pt x="495929" y="1187663"/>
                  </a:cubicBezTo>
                  <a:cubicBezTo>
                    <a:pt x="318872" y="1309834"/>
                    <a:pt x="178880" y="1406235"/>
                    <a:pt x="100930" y="1593151"/>
                  </a:cubicBezTo>
                  <a:cubicBezTo>
                    <a:pt x="22185" y="1781816"/>
                    <a:pt x="53206" y="1952824"/>
                    <a:pt x="92658" y="2169486"/>
                  </a:cubicBezTo>
                  <a:cubicBezTo>
                    <a:pt x="118270" y="2310429"/>
                    <a:pt x="147223" y="2470142"/>
                    <a:pt x="149927" y="2662307"/>
                  </a:cubicBezTo>
                  <a:cubicBezTo>
                    <a:pt x="151836" y="2804681"/>
                    <a:pt x="146746" y="2934010"/>
                    <a:pt x="141814" y="3058886"/>
                  </a:cubicBezTo>
                  <a:cubicBezTo>
                    <a:pt x="130201" y="3351269"/>
                    <a:pt x="120338" y="3603565"/>
                    <a:pt x="219446" y="3835659"/>
                  </a:cubicBezTo>
                  <a:cubicBezTo>
                    <a:pt x="295328" y="4014143"/>
                    <a:pt x="415593" y="4082546"/>
                    <a:pt x="567834" y="4169243"/>
                  </a:cubicBezTo>
                  <a:cubicBezTo>
                    <a:pt x="702894" y="4245919"/>
                    <a:pt x="855772" y="4333092"/>
                    <a:pt x="1026466" y="4515394"/>
                  </a:cubicBezTo>
                  <a:cubicBezTo>
                    <a:pt x="1092962" y="4586502"/>
                    <a:pt x="1151504" y="4654428"/>
                    <a:pt x="1203206" y="4714241"/>
                  </a:cubicBezTo>
                  <a:cubicBezTo>
                    <a:pt x="1359424" y="4895589"/>
                    <a:pt x="1472372" y="5026668"/>
                    <a:pt x="1672814" y="5107956"/>
                  </a:cubicBezTo>
                  <a:cubicBezTo>
                    <a:pt x="1887574" y="5195131"/>
                    <a:pt x="2070041" y="5174610"/>
                    <a:pt x="2322503" y="5146135"/>
                  </a:cubicBezTo>
                  <a:cubicBezTo>
                    <a:pt x="2452632" y="5131500"/>
                    <a:pt x="2600100" y="5114797"/>
                    <a:pt x="2777158" y="5110820"/>
                  </a:cubicBezTo>
                  <a:cubicBezTo>
                    <a:pt x="2934649" y="5107320"/>
                    <a:pt x="3057619" y="5116388"/>
                    <a:pt x="3166112" y="5124342"/>
                  </a:cubicBezTo>
                  <a:cubicBezTo>
                    <a:pt x="3349056" y="5137863"/>
                    <a:pt x="3481253" y="5147725"/>
                    <a:pt x="3650516" y="5084731"/>
                  </a:cubicBezTo>
                  <a:cubicBezTo>
                    <a:pt x="3923181" y="4983558"/>
                    <a:pt x="4066196" y="4799188"/>
                    <a:pt x="4264093" y="4544029"/>
                  </a:cubicBezTo>
                  <a:cubicBezTo>
                    <a:pt x="4353497" y="4428698"/>
                    <a:pt x="4454832" y="4298096"/>
                    <a:pt x="4583369" y="4156199"/>
                  </a:cubicBezTo>
                  <a:cubicBezTo>
                    <a:pt x="4675160" y="4054867"/>
                    <a:pt x="4757564" y="3975169"/>
                    <a:pt x="4830264" y="3904857"/>
                  </a:cubicBezTo>
                  <a:cubicBezTo>
                    <a:pt x="4990459" y="3749916"/>
                    <a:pt x="5096248" y="3647630"/>
                    <a:pt x="5151131" y="3466600"/>
                  </a:cubicBezTo>
                  <a:cubicBezTo>
                    <a:pt x="5211423" y="3267595"/>
                    <a:pt x="5178016" y="3094360"/>
                    <a:pt x="5139359" y="2893605"/>
                  </a:cubicBezTo>
                  <a:cubicBezTo>
                    <a:pt x="5111679" y="2750117"/>
                    <a:pt x="5080499" y="2587382"/>
                    <a:pt x="5077954" y="2389331"/>
                  </a:cubicBezTo>
                  <a:cubicBezTo>
                    <a:pt x="5076522" y="2280681"/>
                    <a:pt x="5084317" y="2192712"/>
                    <a:pt x="5091158" y="2115082"/>
                  </a:cubicBezTo>
                  <a:cubicBezTo>
                    <a:pt x="5102611" y="1985275"/>
                    <a:pt x="5111679" y="1882671"/>
                    <a:pt x="5072863" y="1749523"/>
                  </a:cubicBezTo>
                  <a:cubicBezTo>
                    <a:pt x="4997936" y="1489750"/>
                    <a:pt x="4838536" y="1344195"/>
                    <a:pt x="4617890" y="1142644"/>
                  </a:cubicBezTo>
                  <a:cubicBezTo>
                    <a:pt x="4538985" y="1070742"/>
                    <a:pt x="4449741" y="989135"/>
                    <a:pt x="4356837" y="894484"/>
                  </a:cubicBezTo>
                  <a:cubicBezTo>
                    <a:pt x="4236731" y="772631"/>
                    <a:pt x="4143668" y="657937"/>
                    <a:pt x="4061582" y="556605"/>
                  </a:cubicBezTo>
                  <a:cubicBezTo>
                    <a:pt x="3903137" y="361258"/>
                    <a:pt x="3778099" y="206954"/>
                    <a:pt x="3558248" y="126620"/>
                  </a:cubicBezTo>
                  <a:cubicBezTo>
                    <a:pt x="3364487" y="55671"/>
                    <a:pt x="3202860" y="78579"/>
                    <a:pt x="2998758" y="107531"/>
                  </a:cubicBezTo>
                  <a:cubicBezTo>
                    <a:pt x="2871811" y="125506"/>
                    <a:pt x="2726729" y="144914"/>
                    <a:pt x="2556353" y="144436"/>
                  </a:cubicBezTo>
                  <a:lnTo>
                    <a:pt x="2556353" y="144436"/>
                  </a:lnTo>
                  <a:cubicBezTo>
                    <a:pt x="2384386" y="142846"/>
                    <a:pt x="2245349" y="115007"/>
                    <a:pt x="2122697" y="90350"/>
                  </a:cubicBezTo>
                  <a:cubicBezTo>
                    <a:pt x="2020566" y="69988"/>
                    <a:pt x="1931322" y="52172"/>
                    <a:pt x="1842554" y="52172"/>
                  </a:cubicBezTo>
                  <a:close/>
                </a:path>
              </a:pathLst>
            </a:custGeom>
            <a:gradFill>
              <a:gsLst>
                <a:gs pos="100000">
                  <a:schemeClr val="accent2"/>
                </a:gs>
                <a:gs pos="0">
                  <a:schemeClr val="accent1"/>
                </a:gs>
              </a:gsLst>
              <a:lin ang="0" scaled="1"/>
            </a:gradFill>
            <a:ln w="1589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32" name="Freeform 31">
              <a:extLst>
                <a:ext uri="{FF2B5EF4-FFF2-40B4-BE49-F238E27FC236}">
                  <a16:creationId xmlns:a16="http://schemas.microsoft.com/office/drawing/2014/main" id="{D7C9C4E5-C0F9-755B-D31A-0AF3512E9D56}"/>
                </a:ext>
              </a:extLst>
            </p:cNvPr>
            <p:cNvSpPr/>
            <p:nvPr/>
          </p:nvSpPr>
          <p:spPr>
            <a:xfrm>
              <a:off x="-2569222" y="859289"/>
              <a:ext cx="5126407" cy="5119459"/>
            </a:xfrm>
            <a:custGeom>
              <a:avLst/>
              <a:gdLst>
                <a:gd name="connsiteX0" fmla="*/ 1992393 w 5126407"/>
                <a:gd name="connsiteY0" fmla="*/ 5119459 h 5119459"/>
                <a:gd name="connsiteX1" fmla="*/ 1608529 w 5126407"/>
                <a:gd name="connsiteY1" fmla="*/ 5048829 h 5119459"/>
                <a:gd name="connsiteX2" fmla="*/ 1107741 w 5126407"/>
                <a:gd name="connsiteY2" fmla="*/ 4637934 h 5119459"/>
                <a:gd name="connsiteX3" fmla="*/ 951364 w 5126407"/>
                <a:gd name="connsiteY3" fmla="*/ 4465653 h 5119459"/>
                <a:gd name="connsiteX4" fmla="*/ 534888 w 5126407"/>
                <a:gd name="connsiteY4" fmla="*/ 4141613 h 5119459"/>
                <a:gd name="connsiteX5" fmla="*/ 165183 w 5126407"/>
                <a:gd name="connsiteY5" fmla="*/ 3770805 h 5119459"/>
                <a:gd name="connsiteX6" fmla="*/ 74347 w 5126407"/>
                <a:gd name="connsiteY6" fmla="*/ 2953785 h 5119459"/>
                <a:gd name="connsiteX7" fmla="*/ 78802 w 5126407"/>
                <a:gd name="connsiteY7" fmla="*/ 2606202 h 5119459"/>
                <a:gd name="connsiteX8" fmla="*/ 33622 w 5126407"/>
                <a:gd name="connsiteY8" fmla="*/ 2154424 h 5119459"/>
                <a:gd name="connsiteX9" fmla="*/ 56053 w 5126407"/>
                <a:gd name="connsiteY9" fmla="*/ 1539591 h 5119459"/>
                <a:gd name="connsiteX10" fmla="*/ 468710 w 5126407"/>
                <a:gd name="connsiteY10" fmla="*/ 1098471 h 5119459"/>
                <a:gd name="connsiteX11" fmla="*/ 802781 w 5126407"/>
                <a:gd name="connsiteY11" fmla="*/ 827562 h 5119459"/>
                <a:gd name="connsiteX12" fmla="*/ 1109332 w 5126407"/>
                <a:gd name="connsiteY12" fmla="*/ 470435 h 5119459"/>
                <a:gd name="connsiteX13" fmla="*/ 1606302 w 5126407"/>
                <a:gd name="connsiteY13" fmla="*/ 36473 h 5119459"/>
                <a:gd name="connsiteX14" fmla="*/ 2109159 w 5126407"/>
                <a:gd name="connsiteY14" fmla="*/ 32655 h 5119459"/>
                <a:gd name="connsiteX15" fmla="*/ 2508135 w 5126407"/>
                <a:gd name="connsiteY15" fmla="*/ 75924 h 5119459"/>
                <a:gd name="connsiteX16" fmla="*/ 2914111 w 5126407"/>
                <a:gd name="connsiteY16" fmla="*/ 48085 h 5119459"/>
                <a:gd name="connsiteX17" fmla="*/ 3511939 w 5126407"/>
                <a:gd name="connsiteY17" fmla="*/ 80537 h 5119459"/>
                <a:gd name="connsiteX18" fmla="*/ 4056475 w 5126407"/>
                <a:gd name="connsiteY18" fmla="*/ 536133 h 5119459"/>
                <a:gd name="connsiteX19" fmla="*/ 4325323 w 5126407"/>
                <a:gd name="connsiteY19" fmla="*/ 839493 h 5119459"/>
                <a:gd name="connsiteX20" fmla="*/ 4549628 w 5126407"/>
                <a:gd name="connsiteY20" fmla="*/ 1058224 h 5119459"/>
                <a:gd name="connsiteX21" fmla="*/ 5027349 w 5126407"/>
                <a:gd name="connsiteY21" fmla="*/ 1715530 h 5119459"/>
                <a:gd name="connsiteX22" fmla="*/ 5050894 w 5126407"/>
                <a:gd name="connsiteY22" fmla="*/ 2106860 h 5119459"/>
                <a:gd name="connsiteX23" fmla="*/ 5040871 w 5126407"/>
                <a:gd name="connsiteY23" fmla="*/ 2358678 h 5119459"/>
                <a:gd name="connsiteX24" fmla="*/ 5089232 w 5126407"/>
                <a:gd name="connsiteY24" fmla="*/ 2822229 h 5119459"/>
                <a:gd name="connsiteX25" fmla="*/ 5086528 w 5126407"/>
                <a:gd name="connsiteY25" fmla="*/ 3429266 h 5119459"/>
                <a:gd name="connsiteX26" fmla="*/ 4746571 w 5126407"/>
                <a:gd name="connsiteY26" fmla="*/ 3900612 h 5119459"/>
                <a:gd name="connsiteX27" fmla="*/ 4525925 w 5126407"/>
                <a:gd name="connsiteY27" fmla="*/ 4128091 h 5119459"/>
                <a:gd name="connsiteX28" fmla="*/ 4239578 w 5126407"/>
                <a:gd name="connsiteY28" fmla="*/ 4468357 h 5119459"/>
                <a:gd name="connsiteX29" fmla="*/ 3578276 w 5126407"/>
                <a:gd name="connsiteY29" fmla="*/ 5034353 h 5119459"/>
                <a:gd name="connsiteX30" fmla="*/ 3062216 w 5126407"/>
                <a:gd name="connsiteY30" fmla="*/ 5081758 h 5119459"/>
                <a:gd name="connsiteX31" fmla="*/ 2707782 w 5126407"/>
                <a:gd name="connsiteY31" fmla="*/ 5072214 h 5119459"/>
                <a:gd name="connsiteX32" fmla="*/ 2298466 w 5126407"/>
                <a:gd name="connsiteY32" fmla="*/ 5099257 h 5119459"/>
                <a:gd name="connsiteX33" fmla="*/ 1992393 w 5126407"/>
                <a:gd name="connsiteY33" fmla="*/ 5119459 h 5119459"/>
                <a:gd name="connsiteX34" fmla="*/ 1828221 w 5126407"/>
                <a:gd name="connsiteY34" fmla="*/ 56039 h 5119459"/>
                <a:gd name="connsiteX35" fmla="*/ 1624756 w 5126407"/>
                <a:gd name="connsiteY35" fmla="*/ 89604 h 5119459"/>
                <a:gd name="connsiteX36" fmla="*/ 1153715 w 5126407"/>
                <a:gd name="connsiteY36" fmla="*/ 504795 h 5119459"/>
                <a:gd name="connsiteX37" fmla="*/ 841757 w 5126407"/>
                <a:gd name="connsiteY37" fmla="*/ 867968 h 5119459"/>
                <a:gd name="connsiteX38" fmla="*/ 501640 w 5126407"/>
                <a:gd name="connsiteY38" fmla="*/ 1143967 h 5119459"/>
                <a:gd name="connsiteX39" fmla="*/ 107595 w 5126407"/>
                <a:gd name="connsiteY39" fmla="*/ 1561385 h 5119459"/>
                <a:gd name="connsiteX40" fmla="*/ 88983 w 5126407"/>
                <a:gd name="connsiteY40" fmla="*/ 2146151 h 5119459"/>
                <a:gd name="connsiteX41" fmla="*/ 134798 w 5126407"/>
                <a:gd name="connsiteY41" fmla="*/ 2605566 h 5119459"/>
                <a:gd name="connsiteX42" fmla="*/ 130185 w 5126407"/>
                <a:gd name="connsiteY42" fmla="*/ 2955376 h 5119459"/>
                <a:gd name="connsiteX43" fmla="*/ 216566 w 5126407"/>
                <a:gd name="connsiteY43" fmla="*/ 3748693 h 5119459"/>
                <a:gd name="connsiteX44" fmla="*/ 564159 w 5126407"/>
                <a:gd name="connsiteY44" fmla="*/ 4094049 h 5119459"/>
                <a:gd name="connsiteX45" fmla="*/ 991929 w 5126407"/>
                <a:gd name="connsiteY45" fmla="*/ 4427315 h 5119459"/>
                <a:gd name="connsiteX46" fmla="*/ 1149420 w 5126407"/>
                <a:gd name="connsiteY46" fmla="*/ 4600868 h 5119459"/>
                <a:gd name="connsiteX47" fmla="*/ 1629687 w 5126407"/>
                <a:gd name="connsiteY47" fmla="*/ 4996970 h 5119459"/>
                <a:gd name="connsiteX48" fmla="*/ 2293534 w 5126407"/>
                <a:gd name="connsiteY48" fmla="*/ 5044057 h 5119459"/>
                <a:gd name="connsiteX49" fmla="*/ 2706669 w 5126407"/>
                <a:gd name="connsiteY49" fmla="*/ 5016855 h 5119459"/>
                <a:gd name="connsiteX50" fmla="*/ 3065557 w 5126407"/>
                <a:gd name="connsiteY50" fmla="*/ 5026399 h 5119459"/>
                <a:gd name="connsiteX51" fmla="*/ 3559187 w 5126407"/>
                <a:gd name="connsiteY51" fmla="*/ 4982335 h 5119459"/>
                <a:gd name="connsiteX52" fmla="*/ 4196308 w 5126407"/>
                <a:gd name="connsiteY52" fmla="*/ 4433838 h 5119459"/>
                <a:gd name="connsiteX53" fmla="*/ 4484723 w 5126407"/>
                <a:gd name="connsiteY53" fmla="*/ 4091027 h 5119459"/>
                <a:gd name="connsiteX54" fmla="*/ 4707437 w 5126407"/>
                <a:gd name="connsiteY54" fmla="*/ 3861320 h 5119459"/>
                <a:gd name="connsiteX55" fmla="*/ 5033395 w 5126407"/>
                <a:gd name="connsiteY55" fmla="*/ 3412882 h 5119459"/>
                <a:gd name="connsiteX56" fmla="*/ 5034190 w 5126407"/>
                <a:gd name="connsiteY56" fmla="*/ 2831614 h 5119459"/>
                <a:gd name="connsiteX57" fmla="*/ 4985193 w 5126407"/>
                <a:gd name="connsiteY57" fmla="*/ 2359792 h 5119459"/>
                <a:gd name="connsiteX58" fmla="*/ 4995374 w 5126407"/>
                <a:gd name="connsiteY58" fmla="*/ 2103201 h 5119459"/>
                <a:gd name="connsiteX59" fmla="*/ 4973898 w 5126407"/>
                <a:gd name="connsiteY59" fmla="*/ 1731279 h 5119459"/>
                <a:gd name="connsiteX60" fmla="*/ 4511448 w 5126407"/>
                <a:gd name="connsiteY60" fmla="*/ 1099107 h 5119459"/>
                <a:gd name="connsiteX61" fmla="*/ 4285712 w 5126407"/>
                <a:gd name="connsiteY61" fmla="*/ 878785 h 5119459"/>
                <a:gd name="connsiteX62" fmla="*/ 4014001 w 5126407"/>
                <a:gd name="connsiteY62" fmla="*/ 572244 h 5119459"/>
                <a:gd name="connsiteX63" fmla="*/ 3492849 w 5126407"/>
                <a:gd name="connsiteY63" fmla="*/ 133191 h 5119459"/>
                <a:gd name="connsiteX64" fmla="*/ 2920952 w 5126407"/>
                <a:gd name="connsiteY64" fmla="*/ 103921 h 5119459"/>
                <a:gd name="connsiteX65" fmla="*/ 2507976 w 5126407"/>
                <a:gd name="connsiteY65" fmla="*/ 132078 h 5119459"/>
                <a:gd name="connsiteX66" fmla="*/ 2507976 w 5126407"/>
                <a:gd name="connsiteY66" fmla="*/ 132078 h 5119459"/>
                <a:gd name="connsiteX67" fmla="*/ 2100091 w 5126407"/>
                <a:gd name="connsiteY67" fmla="*/ 87854 h 5119459"/>
                <a:gd name="connsiteX68" fmla="*/ 1828221 w 5126407"/>
                <a:gd name="connsiteY68" fmla="*/ 56039 h 5119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5126407" h="5119459">
                  <a:moveTo>
                    <a:pt x="1992393" y="5119459"/>
                  </a:moveTo>
                  <a:cubicBezTo>
                    <a:pt x="1863060" y="5119459"/>
                    <a:pt x="1740249" y="5102757"/>
                    <a:pt x="1608529" y="5048829"/>
                  </a:cubicBezTo>
                  <a:cubicBezTo>
                    <a:pt x="1394724" y="4961496"/>
                    <a:pt x="1268095" y="4818804"/>
                    <a:pt x="1107741" y="4637934"/>
                  </a:cubicBezTo>
                  <a:cubicBezTo>
                    <a:pt x="1060016" y="4584165"/>
                    <a:pt x="1008951" y="4526738"/>
                    <a:pt x="951364" y="4465653"/>
                  </a:cubicBezTo>
                  <a:cubicBezTo>
                    <a:pt x="797850" y="4303395"/>
                    <a:pt x="658176" y="4217334"/>
                    <a:pt x="534888" y="4141613"/>
                  </a:cubicBezTo>
                  <a:cubicBezTo>
                    <a:pt x="381216" y="4047121"/>
                    <a:pt x="248383" y="3965515"/>
                    <a:pt x="165183" y="3770805"/>
                  </a:cubicBezTo>
                  <a:cubicBezTo>
                    <a:pt x="58598" y="3523281"/>
                    <a:pt x="65916" y="3259372"/>
                    <a:pt x="74347" y="2953785"/>
                  </a:cubicBezTo>
                  <a:cubicBezTo>
                    <a:pt x="77370" y="2843545"/>
                    <a:pt x="80552" y="2729487"/>
                    <a:pt x="78802" y="2606202"/>
                  </a:cubicBezTo>
                  <a:cubicBezTo>
                    <a:pt x="76575" y="2433445"/>
                    <a:pt x="53667" y="2285185"/>
                    <a:pt x="33622" y="2154424"/>
                  </a:cubicBezTo>
                  <a:cubicBezTo>
                    <a:pt x="-262" y="1934261"/>
                    <a:pt x="-29533" y="1744164"/>
                    <a:pt x="56053" y="1539591"/>
                  </a:cubicBezTo>
                  <a:cubicBezTo>
                    <a:pt x="140843" y="1336768"/>
                    <a:pt x="292766" y="1226368"/>
                    <a:pt x="468710" y="1098471"/>
                  </a:cubicBezTo>
                  <a:cubicBezTo>
                    <a:pt x="570682" y="1024341"/>
                    <a:pt x="686175" y="940507"/>
                    <a:pt x="802781" y="827562"/>
                  </a:cubicBezTo>
                  <a:cubicBezTo>
                    <a:pt x="929092" y="705232"/>
                    <a:pt x="1024859" y="580516"/>
                    <a:pt x="1109332" y="470435"/>
                  </a:cubicBezTo>
                  <a:cubicBezTo>
                    <a:pt x="1256005" y="279224"/>
                    <a:pt x="1382634" y="114261"/>
                    <a:pt x="1606302" y="36473"/>
                  </a:cubicBezTo>
                  <a:cubicBezTo>
                    <a:pt x="1780496" y="-23977"/>
                    <a:pt x="1932896" y="2271"/>
                    <a:pt x="2109159" y="32655"/>
                  </a:cubicBezTo>
                  <a:cubicBezTo>
                    <a:pt x="2223538" y="52380"/>
                    <a:pt x="2353349" y="74651"/>
                    <a:pt x="2508135" y="75924"/>
                  </a:cubicBezTo>
                  <a:cubicBezTo>
                    <a:pt x="2662921" y="77196"/>
                    <a:pt x="2796232" y="61766"/>
                    <a:pt x="2914111" y="48085"/>
                  </a:cubicBezTo>
                  <a:cubicBezTo>
                    <a:pt x="3122985" y="24065"/>
                    <a:pt x="3303543" y="3226"/>
                    <a:pt x="3511939" y="80537"/>
                  </a:cubicBezTo>
                  <a:cubicBezTo>
                    <a:pt x="3749766" y="168984"/>
                    <a:pt x="3885144" y="330924"/>
                    <a:pt x="4056475" y="536133"/>
                  </a:cubicBezTo>
                  <a:cubicBezTo>
                    <a:pt x="4132834" y="627603"/>
                    <a:pt x="4219375" y="731162"/>
                    <a:pt x="4325323" y="839493"/>
                  </a:cubicBezTo>
                  <a:cubicBezTo>
                    <a:pt x="4404386" y="920622"/>
                    <a:pt x="4478200" y="990616"/>
                    <a:pt x="4549628" y="1058224"/>
                  </a:cubicBezTo>
                  <a:cubicBezTo>
                    <a:pt x="4771706" y="1268524"/>
                    <a:pt x="4947013" y="1434600"/>
                    <a:pt x="5027349" y="1715530"/>
                  </a:cubicBezTo>
                  <a:cubicBezTo>
                    <a:pt x="5068711" y="1858858"/>
                    <a:pt x="5060439" y="1973871"/>
                    <a:pt x="5050894" y="2106860"/>
                  </a:cubicBezTo>
                  <a:cubicBezTo>
                    <a:pt x="5045644" y="2179240"/>
                    <a:pt x="5039758" y="2261164"/>
                    <a:pt x="5040871" y="2358678"/>
                  </a:cubicBezTo>
                  <a:cubicBezTo>
                    <a:pt x="5042940" y="2537004"/>
                    <a:pt x="5067597" y="2688604"/>
                    <a:pt x="5089232" y="2822229"/>
                  </a:cubicBezTo>
                  <a:cubicBezTo>
                    <a:pt x="5123594" y="3033960"/>
                    <a:pt x="5153183" y="3216899"/>
                    <a:pt x="5086528" y="3429266"/>
                  </a:cubicBezTo>
                  <a:cubicBezTo>
                    <a:pt x="5025123" y="3624931"/>
                    <a:pt x="4908198" y="3740580"/>
                    <a:pt x="4746571" y="3900612"/>
                  </a:cubicBezTo>
                  <a:cubicBezTo>
                    <a:pt x="4681029" y="3965356"/>
                    <a:pt x="4606897" y="4038850"/>
                    <a:pt x="4525925" y="4128091"/>
                  </a:cubicBezTo>
                  <a:cubicBezTo>
                    <a:pt x="4414250" y="4251058"/>
                    <a:pt x="4321505" y="4366548"/>
                    <a:pt x="4239578" y="4468357"/>
                  </a:cubicBezTo>
                  <a:cubicBezTo>
                    <a:pt x="4033726" y="4724472"/>
                    <a:pt x="3871145" y="4926658"/>
                    <a:pt x="3578276" y="5034353"/>
                  </a:cubicBezTo>
                  <a:cubicBezTo>
                    <a:pt x="3396923" y="5101643"/>
                    <a:pt x="3249455" y="5092894"/>
                    <a:pt x="3062216" y="5081758"/>
                  </a:cubicBezTo>
                  <a:cubicBezTo>
                    <a:pt x="2961835" y="5075872"/>
                    <a:pt x="2848410" y="5069191"/>
                    <a:pt x="2707782" y="5072214"/>
                  </a:cubicBezTo>
                  <a:cubicBezTo>
                    <a:pt x="2551723" y="5075554"/>
                    <a:pt x="2417141" y="5088121"/>
                    <a:pt x="2298466" y="5099257"/>
                  </a:cubicBezTo>
                  <a:cubicBezTo>
                    <a:pt x="2188858" y="5110074"/>
                    <a:pt x="2088796" y="5119459"/>
                    <a:pt x="1992393" y="5119459"/>
                  </a:cubicBezTo>
                  <a:close/>
                  <a:moveTo>
                    <a:pt x="1828221" y="56039"/>
                  </a:moveTo>
                  <a:cubicBezTo>
                    <a:pt x="1761248" y="56039"/>
                    <a:pt x="1695070" y="65266"/>
                    <a:pt x="1624756" y="89604"/>
                  </a:cubicBezTo>
                  <a:cubicBezTo>
                    <a:pt x="1416836" y="161825"/>
                    <a:pt x="1300706" y="313267"/>
                    <a:pt x="1153715" y="504795"/>
                  </a:cubicBezTo>
                  <a:cubicBezTo>
                    <a:pt x="1068129" y="616467"/>
                    <a:pt x="970931" y="742933"/>
                    <a:pt x="841757" y="867968"/>
                  </a:cubicBezTo>
                  <a:cubicBezTo>
                    <a:pt x="722286" y="983617"/>
                    <a:pt x="605043" y="1068882"/>
                    <a:pt x="501640" y="1143967"/>
                  </a:cubicBezTo>
                  <a:cubicBezTo>
                    <a:pt x="325537" y="1272023"/>
                    <a:pt x="186341" y="1373037"/>
                    <a:pt x="107595" y="1561385"/>
                  </a:cubicBezTo>
                  <a:cubicBezTo>
                    <a:pt x="28214" y="1751481"/>
                    <a:pt x="54939" y="1925671"/>
                    <a:pt x="88983" y="2146151"/>
                  </a:cubicBezTo>
                  <a:cubicBezTo>
                    <a:pt x="109345" y="2278822"/>
                    <a:pt x="132571" y="2428991"/>
                    <a:pt x="134798" y="2605566"/>
                  </a:cubicBezTo>
                  <a:cubicBezTo>
                    <a:pt x="136389" y="2729964"/>
                    <a:pt x="133208" y="2844500"/>
                    <a:pt x="130185" y="2955376"/>
                  </a:cubicBezTo>
                  <a:cubicBezTo>
                    <a:pt x="121913" y="3254441"/>
                    <a:pt x="114913" y="3512623"/>
                    <a:pt x="216566" y="3748693"/>
                  </a:cubicBezTo>
                  <a:cubicBezTo>
                    <a:pt x="292925" y="3927178"/>
                    <a:pt x="412714" y="4000830"/>
                    <a:pt x="564159" y="4094049"/>
                  </a:cubicBezTo>
                  <a:cubicBezTo>
                    <a:pt x="690311" y="4171679"/>
                    <a:pt x="833325" y="4259489"/>
                    <a:pt x="991929" y="4427315"/>
                  </a:cubicBezTo>
                  <a:cubicBezTo>
                    <a:pt x="1049994" y="4488719"/>
                    <a:pt x="1101537" y="4546782"/>
                    <a:pt x="1149420" y="4600868"/>
                  </a:cubicBezTo>
                  <a:cubicBezTo>
                    <a:pt x="1311047" y="4783012"/>
                    <a:pt x="1427813" y="4914568"/>
                    <a:pt x="1629687" y="4996970"/>
                  </a:cubicBezTo>
                  <a:cubicBezTo>
                    <a:pt x="1846992" y="5085894"/>
                    <a:pt x="2034231" y="5068237"/>
                    <a:pt x="2293534" y="5044057"/>
                  </a:cubicBezTo>
                  <a:cubicBezTo>
                    <a:pt x="2413163" y="5032922"/>
                    <a:pt x="2548701" y="5020196"/>
                    <a:pt x="2706669" y="5016855"/>
                  </a:cubicBezTo>
                  <a:cubicBezTo>
                    <a:pt x="2849047" y="5013673"/>
                    <a:pt x="2964222" y="5020514"/>
                    <a:pt x="3065557" y="5026399"/>
                  </a:cubicBezTo>
                  <a:cubicBezTo>
                    <a:pt x="3253114" y="5037376"/>
                    <a:pt x="3388810" y="5045489"/>
                    <a:pt x="3559187" y="4982335"/>
                  </a:cubicBezTo>
                  <a:cubicBezTo>
                    <a:pt x="3837579" y="4880049"/>
                    <a:pt x="3988070" y="4692815"/>
                    <a:pt x="4196308" y="4433838"/>
                  </a:cubicBezTo>
                  <a:cubicBezTo>
                    <a:pt x="4278712" y="4331392"/>
                    <a:pt x="4371934" y="4215266"/>
                    <a:pt x="4484723" y="4091027"/>
                  </a:cubicBezTo>
                  <a:cubicBezTo>
                    <a:pt x="4566650" y="4000671"/>
                    <a:pt x="4641418" y="3926541"/>
                    <a:pt x="4707437" y="3861320"/>
                  </a:cubicBezTo>
                  <a:cubicBezTo>
                    <a:pt x="4863336" y="3707015"/>
                    <a:pt x="4976125" y="3595502"/>
                    <a:pt x="5033395" y="3412882"/>
                  </a:cubicBezTo>
                  <a:cubicBezTo>
                    <a:pt x="5096073" y="3213081"/>
                    <a:pt x="5067438" y="3036346"/>
                    <a:pt x="5034190" y="2831614"/>
                  </a:cubicBezTo>
                  <a:cubicBezTo>
                    <a:pt x="5012237" y="2695922"/>
                    <a:pt x="4987261" y="2542253"/>
                    <a:pt x="4985193" y="2359792"/>
                  </a:cubicBezTo>
                  <a:cubicBezTo>
                    <a:pt x="4984079" y="2259892"/>
                    <a:pt x="4990124" y="2176535"/>
                    <a:pt x="4995374" y="2103201"/>
                  </a:cubicBezTo>
                  <a:cubicBezTo>
                    <a:pt x="5004919" y="1970212"/>
                    <a:pt x="5012555" y="1865222"/>
                    <a:pt x="4973898" y="1731279"/>
                  </a:cubicBezTo>
                  <a:cubicBezTo>
                    <a:pt x="4897698" y="1464984"/>
                    <a:pt x="4735753" y="1311475"/>
                    <a:pt x="4511448" y="1099107"/>
                  </a:cubicBezTo>
                  <a:cubicBezTo>
                    <a:pt x="4439702" y="1031022"/>
                    <a:pt x="4365412" y="960710"/>
                    <a:pt x="4285712" y="878785"/>
                  </a:cubicBezTo>
                  <a:cubicBezTo>
                    <a:pt x="4178331" y="768863"/>
                    <a:pt x="4090996" y="664509"/>
                    <a:pt x="4014001" y="572244"/>
                  </a:cubicBezTo>
                  <a:cubicBezTo>
                    <a:pt x="3847919" y="373398"/>
                    <a:pt x="3716677" y="216389"/>
                    <a:pt x="3492849" y="133191"/>
                  </a:cubicBezTo>
                  <a:cubicBezTo>
                    <a:pt x="3296861" y="60334"/>
                    <a:pt x="3131098" y="79423"/>
                    <a:pt x="2920952" y="103921"/>
                  </a:cubicBezTo>
                  <a:cubicBezTo>
                    <a:pt x="2801322" y="117761"/>
                    <a:pt x="2666580" y="133669"/>
                    <a:pt x="2507976" y="132078"/>
                  </a:cubicBezTo>
                  <a:lnTo>
                    <a:pt x="2507976" y="132078"/>
                  </a:lnTo>
                  <a:cubicBezTo>
                    <a:pt x="2348576" y="130646"/>
                    <a:pt x="2216539" y="107898"/>
                    <a:pt x="2100091" y="87854"/>
                  </a:cubicBezTo>
                  <a:cubicBezTo>
                    <a:pt x="2000983" y="70992"/>
                    <a:pt x="1913966" y="56039"/>
                    <a:pt x="1828221" y="56039"/>
                  </a:cubicBezTo>
                  <a:close/>
                </a:path>
              </a:pathLst>
            </a:custGeom>
            <a:gradFill>
              <a:gsLst>
                <a:gs pos="100000">
                  <a:schemeClr val="accent2"/>
                </a:gs>
                <a:gs pos="0">
                  <a:schemeClr val="accent1"/>
                </a:gs>
              </a:gsLst>
              <a:lin ang="0" scaled="1"/>
            </a:gradFill>
            <a:ln w="1589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33" name="Freeform 32">
              <a:extLst>
                <a:ext uri="{FF2B5EF4-FFF2-40B4-BE49-F238E27FC236}">
                  <a16:creationId xmlns:a16="http://schemas.microsoft.com/office/drawing/2014/main" id="{875E2733-47AE-1BBF-B0C4-BBDCE0855571}"/>
                </a:ext>
              </a:extLst>
            </p:cNvPr>
            <p:cNvSpPr/>
            <p:nvPr/>
          </p:nvSpPr>
          <p:spPr>
            <a:xfrm>
              <a:off x="-2514892" y="911692"/>
              <a:ext cx="5017751" cy="5016310"/>
            </a:xfrm>
            <a:custGeom>
              <a:avLst/>
              <a:gdLst>
                <a:gd name="connsiteX0" fmla="*/ 1983401 w 5017751"/>
                <a:gd name="connsiteY0" fmla="*/ 5016311 h 5016310"/>
                <a:gd name="connsiteX1" fmla="*/ 1564858 w 5017751"/>
                <a:gd name="connsiteY1" fmla="*/ 4940591 h 5016310"/>
                <a:gd name="connsiteX2" fmla="*/ 1050070 w 5017751"/>
                <a:gd name="connsiteY2" fmla="*/ 4525081 h 5016310"/>
                <a:gd name="connsiteX3" fmla="*/ 915169 w 5017751"/>
                <a:gd name="connsiteY3" fmla="*/ 4379844 h 5016310"/>
                <a:gd name="connsiteX4" fmla="*/ 529874 w 5017751"/>
                <a:gd name="connsiteY4" fmla="*/ 4070121 h 5016310"/>
                <a:gd name="connsiteX5" fmla="*/ 159850 w 5017751"/>
                <a:gd name="connsiteY5" fmla="*/ 3685314 h 5016310"/>
                <a:gd name="connsiteX6" fmla="*/ 59151 w 5017751"/>
                <a:gd name="connsiteY6" fmla="*/ 2844433 h 5016310"/>
                <a:gd name="connsiteX7" fmla="*/ 61060 w 5017751"/>
                <a:gd name="connsiteY7" fmla="*/ 2549504 h 5016310"/>
                <a:gd name="connsiteX8" fmla="*/ 26381 w 5017751"/>
                <a:gd name="connsiteY8" fmla="*/ 2133518 h 5016310"/>
                <a:gd name="connsiteX9" fmla="*/ 60265 w 5017751"/>
                <a:gd name="connsiteY9" fmla="*/ 1506436 h 5016310"/>
                <a:gd name="connsiteX10" fmla="*/ 473559 w 5017751"/>
                <a:gd name="connsiteY10" fmla="*/ 1050522 h 5016310"/>
                <a:gd name="connsiteX11" fmla="*/ 777086 w 5017751"/>
                <a:gd name="connsiteY11" fmla="*/ 796635 h 5016310"/>
                <a:gd name="connsiteX12" fmla="*/ 1063592 w 5017751"/>
                <a:gd name="connsiteY12" fmla="*/ 473231 h 5016310"/>
                <a:gd name="connsiteX13" fmla="*/ 1578221 w 5017751"/>
                <a:gd name="connsiteY13" fmla="*/ 39110 h 5016310"/>
                <a:gd name="connsiteX14" fmla="*/ 2088872 w 5017751"/>
                <a:gd name="connsiteY14" fmla="*/ 26225 h 5016310"/>
                <a:gd name="connsiteX15" fmla="*/ 2460646 w 5017751"/>
                <a:gd name="connsiteY15" fmla="*/ 60268 h 5016310"/>
                <a:gd name="connsiteX16" fmla="*/ 2460646 w 5017751"/>
                <a:gd name="connsiteY16" fmla="*/ 60268 h 5016310"/>
                <a:gd name="connsiteX17" fmla="*/ 2834010 w 5017751"/>
                <a:gd name="connsiteY17" fmla="*/ 40224 h 5016310"/>
                <a:gd name="connsiteX18" fmla="*/ 3448701 w 5017751"/>
                <a:gd name="connsiteY18" fmla="*/ 84129 h 5016310"/>
                <a:gd name="connsiteX19" fmla="*/ 4015349 w 5017751"/>
                <a:gd name="connsiteY19" fmla="*/ 552293 h 5016310"/>
                <a:gd name="connsiteX20" fmla="*/ 4257312 w 5017751"/>
                <a:gd name="connsiteY20" fmla="*/ 821769 h 5016310"/>
                <a:gd name="connsiteX21" fmla="*/ 4443596 w 5017751"/>
                <a:gd name="connsiteY21" fmla="*/ 1008207 h 5016310"/>
                <a:gd name="connsiteX22" fmla="*/ 4932136 w 5017751"/>
                <a:gd name="connsiteY22" fmla="*/ 1696852 h 5016310"/>
                <a:gd name="connsiteX23" fmla="*/ 4959179 w 5017751"/>
                <a:gd name="connsiteY23" fmla="*/ 2096930 h 5016310"/>
                <a:gd name="connsiteX24" fmla="*/ 4952021 w 5017751"/>
                <a:gd name="connsiteY24" fmla="*/ 2329660 h 5016310"/>
                <a:gd name="connsiteX25" fmla="*/ 4988928 w 5017751"/>
                <a:gd name="connsiteY25" fmla="*/ 2757895 h 5016310"/>
                <a:gd name="connsiteX26" fmla="*/ 4972701 w 5017751"/>
                <a:gd name="connsiteY26" fmla="*/ 3377500 h 5016310"/>
                <a:gd name="connsiteX27" fmla="*/ 4625586 w 5017751"/>
                <a:gd name="connsiteY27" fmla="*/ 3861889 h 5016310"/>
                <a:gd name="connsiteX28" fmla="*/ 4430552 w 5017751"/>
                <a:gd name="connsiteY28" fmla="*/ 4065667 h 5016310"/>
                <a:gd name="connsiteX29" fmla="*/ 4179521 w 5017751"/>
                <a:gd name="connsiteY29" fmla="*/ 4357573 h 5016310"/>
                <a:gd name="connsiteX30" fmla="*/ 3488949 w 5017751"/>
                <a:gd name="connsiteY30" fmla="*/ 4935659 h 5016310"/>
                <a:gd name="connsiteX31" fmla="*/ 2960480 w 5017751"/>
                <a:gd name="connsiteY31" fmla="*/ 4987995 h 5016310"/>
                <a:gd name="connsiteX32" fmla="*/ 2638181 w 5017751"/>
                <a:gd name="connsiteY32" fmla="*/ 4981950 h 5016310"/>
                <a:gd name="connsiteX33" fmla="*/ 2274679 w 5017751"/>
                <a:gd name="connsiteY33" fmla="*/ 5001517 h 5016310"/>
                <a:gd name="connsiteX34" fmla="*/ 1983401 w 5017751"/>
                <a:gd name="connsiteY34" fmla="*/ 5016311 h 5016310"/>
                <a:gd name="connsiteX35" fmla="*/ 1818275 w 5017751"/>
                <a:gd name="connsiteY35" fmla="*/ 58836 h 5016310"/>
                <a:gd name="connsiteX36" fmla="*/ 1597628 w 5017751"/>
                <a:gd name="connsiteY36" fmla="*/ 94787 h 5016310"/>
                <a:gd name="connsiteX37" fmla="*/ 1109567 w 5017751"/>
                <a:gd name="connsiteY37" fmla="*/ 510296 h 5016310"/>
                <a:gd name="connsiteX38" fmla="*/ 818129 w 5017751"/>
                <a:gd name="connsiteY38" fmla="*/ 838790 h 5016310"/>
                <a:gd name="connsiteX39" fmla="*/ 509511 w 5017751"/>
                <a:gd name="connsiteY39" fmla="*/ 1097131 h 5016310"/>
                <a:gd name="connsiteX40" fmla="*/ 114830 w 5017751"/>
                <a:gd name="connsiteY40" fmla="*/ 1529025 h 5016310"/>
                <a:gd name="connsiteX41" fmla="*/ 85082 w 5017751"/>
                <a:gd name="connsiteY41" fmla="*/ 2125882 h 5016310"/>
                <a:gd name="connsiteX42" fmla="*/ 120239 w 5017751"/>
                <a:gd name="connsiteY42" fmla="*/ 2548550 h 5016310"/>
                <a:gd name="connsiteX43" fmla="*/ 118330 w 5017751"/>
                <a:gd name="connsiteY43" fmla="*/ 2845069 h 5016310"/>
                <a:gd name="connsiteX44" fmla="*/ 214097 w 5017751"/>
                <a:gd name="connsiteY44" fmla="*/ 3661611 h 5016310"/>
                <a:gd name="connsiteX45" fmla="*/ 562485 w 5017751"/>
                <a:gd name="connsiteY45" fmla="*/ 4020648 h 5016310"/>
                <a:gd name="connsiteX46" fmla="*/ 957803 w 5017751"/>
                <a:gd name="connsiteY46" fmla="*/ 4338802 h 5016310"/>
                <a:gd name="connsiteX47" fmla="*/ 1093499 w 5017751"/>
                <a:gd name="connsiteY47" fmla="*/ 4484994 h 5016310"/>
                <a:gd name="connsiteX48" fmla="*/ 1587129 w 5017751"/>
                <a:gd name="connsiteY48" fmla="*/ 4885709 h 5016310"/>
                <a:gd name="connsiteX49" fmla="*/ 2270066 w 5017751"/>
                <a:gd name="connsiteY49" fmla="*/ 4942340 h 5016310"/>
                <a:gd name="connsiteX50" fmla="*/ 2636749 w 5017751"/>
                <a:gd name="connsiteY50" fmla="*/ 4922615 h 5016310"/>
                <a:gd name="connsiteX51" fmla="*/ 2962707 w 5017751"/>
                <a:gd name="connsiteY51" fmla="*/ 4928660 h 5016310"/>
                <a:gd name="connsiteX52" fmla="*/ 3468268 w 5017751"/>
                <a:gd name="connsiteY52" fmla="*/ 4879982 h 5016310"/>
                <a:gd name="connsiteX53" fmla="*/ 4133706 w 5017751"/>
                <a:gd name="connsiteY53" fmla="*/ 4319554 h 5016310"/>
                <a:gd name="connsiteX54" fmla="*/ 4386327 w 5017751"/>
                <a:gd name="connsiteY54" fmla="*/ 4025739 h 5016310"/>
                <a:gd name="connsiteX55" fmla="*/ 4583111 w 5017751"/>
                <a:gd name="connsiteY55" fmla="*/ 3820211 h 5016310"/>
                <a:gd name="connsiteX56" fmla="*/ 4916069 w 5017751"/>
                <a:gd name="connsiteY56" fmla="*/ 3359047 h 5016310"/>
                <a:gd name="connsiteX57" fmla="*/ 4930068 w 5017751"/>
                <a:gd name="connsiteY57" fmla="*/ 2765372 h 5016310"/>
                <a:gd name="connsiteX58" fmla="*/ 4892684 w 5017751"/>
                <a:gd name="connsiteY58" fmla="*/ 2329978 h 5016310"/>
                <a:gd name="connsiteX59" fmla="*/ 4900001 w 5017751"/>
                <a:gd name="connsiteY59" fmla="*/ 2093271 h 5016310"/>
                <a:gd name="connsiteX60" fmla="*/ 4875184 w 5017751"/>
                <a:gd name="connsiteY60" fmla="*/ 1712759 h 5016310"/>
                <a:gd name="connsiteX61" fmla="*/ 4402076 w 5017751"/>
                <a:gd name="connsiteY61" fmla="*/ 1050045 h 5016310"/>
                <a:gd name="connsiteX62" fmla="*/ 4214678 w 5017751"/>
                <a:gd name="connsiteY62" fmla="*/ 862493 h 5016310"/>
                <a:gd name="connsiteX63" fmla="*/ 3970329 w 5017751"/>
                <a:gd name="connsiteY63" fmla="*/ 590471 h 5016310"/>
                <a:gd name="connsiteX64" fmla="*/ 3427702 w 5017751"/>
                <a:gd name="connsiteY64" fmla="*/ 139170 h 5016310"/>
                <a:gd name="connsiteX65" fmla="*/ 2839260 w 5017751"/>
                <a:gd name="connsiteY65" fmla="*/ 98764 h 5016310"/>
                <a:gd name="connsiteX66" fmla="*/ 2460168 w 5017751"/>
                <a:gd name="connsiteY66" fmla="*/ 118967 h 5016310"/>
                <a:gd name="connsiteX67" fmla="*/ 2460168 w 5017751"/>
                <a:gd name="connsiteY67" fmla="*/ 118967 h 5016310"/>
                <a:gd name="connsiteX68" fmla="*/ 2080441 w 5017751"/>
                <a:gd name="connsiteY68" fmla="*/ 84288 h 5016310"/>
                <a:gd name="connsiteX69" fmla="*/ 1818275 w 5017751"/>
                <a:gd name="connsiteY69" fmla="*/ 58836 h 5016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5017751" h="5016310">
                  <a:moveTo>
                    <a:pt x="1983401" y="5016311"/>
                  </a:moveTo>
                  <a:cubicBezTo>
                    <a:pt x="1840864" y="5016311"/>
                    <a:pt x="1707395" y="4999290"/>
                    <a:pt x="1564858" y="4940591"/>
                  </a:cubicBezTo>
                  <a:cubicBezTo>
                    <a:pt x="1348348" y="4851666"/>
                    <a:pt x="1216628" y="4707542"/>
                    <a:pt x="1050070" y="4525081"/>
                  </a:cubicBezTo>
                  <a:cubicBezTo>
                    <a:pt x="1008232" y="4479267"/>
                    <a:pt x="963848" y="4430749"/>
                    <a:pt x="915169" y="4379844"/>
                  </a:cubicBezTo>
                  <a:cubicBezTo>
                    <a:pt x="773905" y="4231902"/>
                    <a:pt x="644253" y="4146001"/>
                    <a:pt x="529874" y="4070121"/>
                  </a:cubicBezTo>
                  <a:cubicBezTo>
                    <a:pt x="376519" y="3968471"/>
                    <a:pt x="244004" y="3880501"/>
                    <a:pt x="159850" y="3685314"/>
                  </a:cubicBezTo>
                  <a:cubicBezTo>
                    <a:pt x="49925" y="3431427"/>
                    <a:pt x="54220" y="3159405"/>
                    <a:pt x="59151" y="2844433"/>
                  </a:cubicBezTo>
                  <a:cubicBezTo>
                    <a:pt x="60583" y="2751055"/>
                    <a:pt x="62333" y="2653063"/>
                    <a:pt x="61060" y="2549504"/>
                  </a:cubicBezTo>
                  <a:cubicBezTo>
                    <a:pt x="59151" y="2392973"/>
                    <a:pt x="41812" y="2255053"/>
                    <a:pt x="26381" y="2133518"/>
                  </a:cubicBezTo>
                  <a:cubicBezTo>
                    <a:pt x="-2095" y="1908106"/>
                    <a:pt x="-26593" y="1713555"/>
                    <a:pt x="60265" y="1506436"/>
                  </a:cubicBezTo>
                  <a:cubicBezTo>
                    <a:pt x="146328" y="1301227"/>
                    <a:pt x="297933" y="1185101"/>
                    <a:pt x="473559" y="1050522"/>
                  </a:cubicBezTo>
                  <a:cubicBezTo>
                    <a:pt x="566144" y="979573"/>
                    <a:pt x="671297" y="899081"/>
                    <a:pt x="777086" y="796635"/>
                  </a:cubicBezTo>
                  <a:cubicBezTo>
                    <a:pt x="891466" y="685758"/>
                    <a:pt x="978961" y="577745"/>
                    <a:pt x="1063592" y="473231"/>
                  </a:cubicBezTo>
                  <a:cubicBezTo>
                    <a:pt x="1217901" y="282657"/>
                    <a:pt x="1351211" y="118172"/>
                    <a:pt x="1578221" y="39110"/>
                  </a:cubicBezTo>
                  <a:cubicBezTo>
                    <a:pt x="1753528" y="-21975"/>
                    <a:pt x="1908792" y="455"/>
                    <a:pt x="2088872" y="26225"/>
                  </a:cubicBezTo>
                  <a:cubicBezTo>
                    <a:pt x="2196570" y="41656"/>
                    <a:pt x="2318745" y="59154"/>
                    <a:pt x="2460646" y="60268"/>
                  </a:cubicBezTo>
                  <a:lnTo>
                    <a:pt x="2460646" y="60268"/>
                  </a:lnTo>
                  <a:cubicBezTo>
                    <a:pt x="2599842" y="61381"/>
                    <a:pt x="2719153" y="50723"/>
                    <a:pt x="2834010" y="40224"/>
                  </a:cubicBezTo>
                  <a:cubicBezTo>
                    <a:pt x="3050043" y="20816"/>
                    <a:pt x="3236804" y="4113"/>
                    <a:pt x="3448701" y="84129"/>
                  </a:cubicBezTo>
                  <a:cubicBezTo>
                    <a:pt x="3692255" y="176076"/>
                    <a:pt x="3834792" y="342152"/>
                    <a:pt x="4015349" y="552293"/>
                  </a:cubicBezTo>
                  <a:cubicBezTo>
                    <a:pt x="4085345" y="633899"/>
                    <a:pt x="4164726" y="726323"/>
                    <a:pt x="4257312" y="821769"/>
                  </a:cubicBezTo>
                  <a:cubicBezTo>
                    <a:pt x="4322536" y="889377"/>
                    <a:pt x="4384895" y="950462"/>
                    <a:pt x="4443596" y="1008207"/>
                  </a:cubicBezTo>
                  <a:cubicBezTo>
                    <a:pt x="4670606" y="1231074"/>
                    <a:pt x="4849891" y="1407172"/>
                    <a:pt x="4932136" y="1696852"/>
                  </a:cubicBezTo>
                  <a:cubicBezTo>
                    <a:pt x="4973656" y="1841612"/>
                    <a:pt x="4966975" y="1959965"/>
                    <a:pt x="4959179" y="2096930"/>
                  </a:cubicBezTo>
                  <a:cubicBezTo>
                    <a:pt x="4955362" y="2164538"/>
                    <a:pt x="4951067" y="2241213"/>
                    <a:pt x="4952021" y="2329660"/>
                  </a:cubicBezTo>
                  <a:cubicBezTo>
                    <a:pt x="4953771" y="2491759"/>
                    <a:pt x="4972383" y="2633179"/>
                    <a:pt x="4988928" y="2757895"/>
                  </a:cubicBezTo>
                  <a:cubicBezTo>
                    <a:pt x="5017563" y="2975353"/>
                    <a:pt x="5042379" y="3163064"/>
                    <a:pt x="4972701" y="3377500"/>
                  </a:cubicBezTo>
                  <a:cubicBezTo>
                    <a:pt x="4908274" y="3575710"/>
                    <a:pt x="4789758" y="3695813"/>
                    <a:pt x="4625586" y="3861889"/>
                  </a:cubicBezTo>
                  <a:cubicBezTo>
                    <a:pt x="4567362" y="3920907"/>
                    <a:pt x="4501343" y="3987719"/>
                    <a:pt x="4430552" y="4065667"/>
                  </a:cubicBezTo>
                  <a:cubicBezTo>
                    <a:pt x="4335739" y="4170022"/>
                    <a:pt x="4252699" y="4269604"/>
                    <a:pt x="4179521" y="4357573"/>
                  </a:cubicBezTo>
                  <a:cubicBezTo>
                    <a:pt x="3961739" y="4619255"/>
                    <a:pt x="3789612" y="4825896"/>
                    <a:pt x="3488949" y="4935659"/>
                  </a:cubicBezTo>
                  <a:cubicBezTo>
                    <a:pt x="3305368" y="5003108"/>
                    <a:pt x="3152968" y="4996268"/>
                    <a:pt x="2960480" y="4987995"/>
                  </a:cubicBezTo>
                  <a:cubicBezTo>
                    <a:pt x="2867894" y="4984018"/>
                    <a:pt x="2762741" y="4979246"/>
                    <a:pt x="2638181" y="4981950"/>
                  </a:cubicBezTo>
                  <a:cubicBezTo>
                    <a:pt x="2502166" y="4984655"/>
                    <a:pt x="2381264" y="4993722"/>
                    <a:pt x="2274679" y="5001517"/>
                  </a:cubicBezTo>
                  <a:cubicBezTo>
                    <a:pt x="2170640" y="5009153"/>
                    <a:pt x="2075191" y="5016311"/>
                    <a:pt x="1983401" y="5016311"/>
                  </a:cubicBezTo>
                  <a:close/>
                  <a:moveTo>
                    <a:pt x="1818275" y="58836"/>
                  </a:moveTo>
                  <a:cubicBezTo>
                    <a:pt x="1745256" y="58836"/>
                    <a:pt x="1673669" y="68381"/>
                    <a:pt x="1597628" y="94787"/>
                  </a:cubicBezTo>
                  <a:cubicBezTo>
                    <a:pt x="1386687" y="168440"/>
                    <a:pt x="1264353" y="319245"/>
                    <a:pt x="1109567" y="510296"/>
                  </a:cubicBezTo>
                  <a:cubicBezTo>
                    <a:pt x="1027799" y="611151"/>
                    <a:pt x="935213" y="725687"/>
                    <a:pt x="818129" y="838790"/>
                  </a:cubicBezTo>
                  <a:cubicBezTo>
                    <a:pt x="709954" y="943622"/>
                    <a:pt x="603528" y="1025229"/>
                    <a:pt x="509511" y="1097131"/>
                  </a:cubicBezTo>
                  <a:cubicBezTo>
                    <a:pt x="333726" y="1232029"/>
                    <a:pt x="194689" y="1338451"/>
                    <a:pt x="114830" y="1529025"/>
                  </a:cubicBezTo>
                  <a:cubicBezTo>
                    <a:pt x="34017" y="1721509"/>
                    <a:pt x="56606" y="1899993"/>
                    <a:pt x="85082" y="2125882"/>
                  </a:cubicBezTo>
                  <a:cubicBezTo>
                    <a:pt x="100672" y="2249008"/>
                    <a:pt x="118171" y="2388677"/>
                    <a:pt x="120239" y="2548550"/>
                  </a:cubicBezTo>
                  <a:cubicBezTo>
                    <a:pt x="121511" y="2652586"/>
                    <a:pt x="119921" y="2751214"/>
                    <a:pt x="118330" y="2845069"/>
                  </a:cubicBezTo>
                  <a:cubicBezTo>
                    <a:pt x="113398" y="3153201"/>
                    <a:pt x="109103" y="3419337"/>
                    <a:pt x="214097" y="3661611"/>
                  </a:cubicBezTo>
                  <a:cubicBezTo>
                    <a:pt x="291251" y="3840732"/>
                    <a:pt x="411040" y="3920111"/>
                    <a:pt x="562485" y="4020648"/>
                  </a:cubicBezTo>
                  <a:cubicBezTo>
                    <a:pt x="679569" y="4098119"/>
                    <a:pt x="812084" y="4186247"/>
                    <a:pt x="957803" y="4338802"/>
                  </a:cubicBezTo>
                  <a:cubicBezTo>
                    <a:pt x="1006800" y="4390184"/>
                    <a:pt x="1051343" y="4438862"/>
                    <a:pt x="1093499" y="4484994"/>
                  </a:cubicBezTo>
                  <a:cubicBezTo>
                    <a:pt x="1261489" y="4668887"/>
                    <a:pt x="1382868" y="4801716"/>
                    <a:pt x="1587129" y="4885709"/>
                  </a:cubicBezTo>
                  <a:cubicBezTo>
                    <a:pt x="1808093" y="4976542"/>
                    <a:pt x="2001855" y="4962066"/>
                    <a:pt x="2270066" y="4942340"/>
                  </a:cubicBezTo>
                  <a:cubicBezTo>
                    <a:pt x="2377446" y="4934386"/>
                    <a:pt x="2499143" y="4925319"/>
                    <a:pt x="2636749" y="4922615"/>
                  </a:cubicBezTo>
                  <a:cubicBezTo>
                    <a:pt x="2763219" y="4919910"/>
                    <a:pt x="2869326" y="4924524"/>
                    <a:pt x="2962707" y="4928660"/>
                  </a:cubicBezTo>
                  <a:cubicBezTo>
                    <a:pt x="3156150" y="4937091"/>
                    <a:pt x="3295983" y="4943295"/>
                    <a:pt x="3468268" y="4879982"/>
                  </a:cubicBezTo>
                  <a:cubicBezTo>
                    <a:pt x="3753978" y="4775787"/>
                    <a:pt x="3913219" y="4584417"/>
                    <a:pt x="4133706" y="4319554"/>
                  </a:cubicBezTo>
                  <a:cubicBezTo>
                    <a:pt x="4207361" y="4231266"/>
                    <a:pt x="4290560" y="4131048"/>
                    <a:pt x="4386327" y="4025739"/>
                  </a:cubicBezTo>
                  <a:cubicBezTo>
                    <a:pt x="4457914" y="3946995"/>
                    <a:pt x="4524410" y="3879547"/>
                    <a:pt x="4583111" y="3820211"/>
                  </a:cubicBezTo>
                  <a:cubicBezTo>
                    <a:pt x="4741556" y="3659862"/>
                    <a:pt x="4856095" y="3544054"/>
                    <a:pt x="4916069" y="3359047"/>
                  </a:cubicBezTo>
                  <a:cubicBezTo>
                    <a:pt x="4981610" y="3157337"/>
                    <a:pt x="4957748" y="2975671"/>
                    <a:pt x="4930068" y="2765372"/>
                  </a:cubicBezTo>
                  <a:cubicBezTo>
                    <a:pt x="4913364" y="2638905"/>
                    <a:pt x="4894592" y="2495736"/>
                    <a:pt x="4892684" y="2329978"/>
                  </a:cubicBezTo>
                  <a:cubicBezTo>
                    <a:pt x="4891729" y="2239463"/>
                    <a:pt x="4896024" y="2161834"/>
                    <a:pt x="4900001" y="2093271"/>
                  </a:cubicBezTo>
                  <a:cubicBezTo>
                    <a:pt x="4907796" y="1956306"/>
                    <a:pt x="4913841" y="1847975"/>
                    <a:pt x="4875184" y="1712759"/>
                  </a:cubicBezTo>
                  <a:cubicBezTo>
                    <a:pt x="4797235" y="1438033"/>
                    <a:pt x="4631471" y="1275298"/>
                    <a:pt x="4402076" y="1050045"/>
                  </a:cubicBezTo>
                  <a:cubicBezTo>
                    <a:pt x="4342898" y="991981"/>
                    <a:pt x="4280220" y="930419"/>
                    <a:pt x="4214678" y="862493"/>
                  </a:cubicBezTo>
                  <a:cubicBezTo>
                    <a:pt x="4120979" y="765615"/>
                    <a:pt x="4040961" y="672555"/>
                    <a:pt x="3970329" y="590471"/>
                  </a:cubicBezTo>
                  <a:cubicBezTo>
                    <a:pt x="3795339" y="386694"/>
                    <a:pt x="3657097" y="225867"/>
                    <a:pt x="3427702" y="139170"/>
                  </a:cubicBezTo>
                  <a:cubicBezTo>
                    <a:pt x="3228532" y="63926"/>
                    <a:pt x="3056883" y="79357"/>
                    <a:pt x="2839260" y="98764"/>
                  </a:cubicBezTo>
                  <a:cubicBezTo>
                    <a:pt x="2728380" y="108786"/>
                    <a:pt x="2602387" y="120240"/>
                    <a:pt x="2460168" y="118967"/>
                  </a:cubicBezTo>
                  <a:lnTo>
                    <a:pt x="2460168" y="118967"/>
                  </a:lnTo>
                  <a:cubicBezTo>
                    <a:pt x="2314291" y="117853"/>
                    <a:pt x="2190048" y="100037"/>
                    <a:pt x="2080441" y="84288"/>
                  </a:cubicBezTo>
                  <a:cubicBezTo>
                    <a:pt x="1985310" y="70926"/>
                    <a:pt x="1900838" y="58836"/>
                    <a:pt x="1818275" y="58836"/>
                  </a:cubicBezTo>
                  <a:close/>
                </a:path>
              </a:pathLst>
            </a:custGeom>
            <a:gradFill>
              <a:gsLst>
                <a:gs pos="100000">
                  <a:schemeClr val="accent2"/>
                </a:gs>
                <a:gs pos="0">
                  <a:schemeClr val="accent1"/>
                </a:gs>
              </a:gsLst>
              <a:lin ang="0" scaled="1"/>
            </a:gradFill>
            <a:ln w="1589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34" name="Freeform 33">
              <a:extLst>
                <a:ext uri="{FF2B5EF4-FFF2-40B4-BE49-F238E27FC236}">
                  <a16:creationId xmlns:a16="http://schemas.microsoft.com/office/drawing/2014/main" id="{5E5FAA15-71DC-90DD-BBE8-1BE246108FF1}"/>
                </a:ext>
              </a:extLst>
            </p:cNvPr>
            <p:cNvSpPr/>
            <p:nvPr/>
          </p:nvSpPr>
          <p:spPr>
            <a:xfrm>
              <a:off x="-2461176" y="962833"/>
              <a:ext cx="4911034" cy="4915537"/>
            </a:xfrm>
            <a:custGeom>
              <a:avLst/>
              <a:gdLst>
                <a:gd name="connsiteX0" fmla="*/ 1985840 w 4911034"/>
                <a:gd name="connsiteY0" fmla="*/ 4915538 h 4915537"/>
                <a:gd name="connsiteX1" fmla="*/ 1521959 w 4911034"/>
                <a:gd name="connsiteY1" fmla="*/ 4833614 h 4915537"/>
                <a:gd name="connsiteX2" fmla="*/ 989036 w 4911034"/>
                <a:gd name="connsiteY2" fmla="*/ 4410151 h 4915537"/>
                <a:gd name="connsiteX3" fmla="*/ 879906 w 4911034"/>
                <a:gd name="connsiteY3" fmla="*/ 4295138 h 4915537"/>
                <a:gd name="connsiteX4" fmla="*/ 527699 w 4911034"/>
                <a:gd name="connsiteY4" fmla="*/ 4002436 h 4915537"/>
                <a:gd name="connsiteX5" fmla="*/ 155449 w 4911034"/>
                <a:gd name="connsiteY5" fmla="*/ 3600767 h 4915537"/>
                <a:gd name="connsiteX6" fmla="*/ 44251 w 4911034"/>
                <a:gd name="connsiteY6" fmla="*/ 2726798 h 4915537"/>
                <a:gd name="connsiteX7" fmla="*/ 44251 w 4911034"/>
                <a:gd name="connsiteY7" fmla="*/ 2493591 h 4915537"/>
                <a:gd name="connsiteX8" fmla="*/ 19434 w 4911034"/>
                <a:gd name="connsiteY8" fmla="*/ 2118328 h 4915537"/>
                <a:gd name="connsiteX9" fmla="*/ 65408 w 4911034"/>
                <a:gd name="connsiteY9" fmla="*/ 1473907 h 4915537"/>
                <a:gd name="connsiteX10" fmla="*/ 481725 w 4911034"/>
                <a:gd name="connsiteY10" fmla="*/ 999858 h 4915537"/>
                <a:gd name="connsiteX11" fmla="*/ 752163 w 4911034"/>
                <a:gd name="connsiteY11" fmla="*/ 766174 h 4915537"/>
                <a:gd name="connsiteX12" fmla="*/ 1014807 w 4911034"/>
                <a:gd name="connsiteY12" fmla="*/ 479358 h 4915537"/>
                <a:gd name="connsiteX13" fmla="*/ 1550911 w 4911034"/>
                <a:gd name="connsiteY13" fmla="*/ 42374 h 4915537"/>
                <a:gd name="connsiteX14" fmla="*/ 2072699 w 4911034"/>
                <a:gd name="connsiteY14" fmla="*/ 19944 h 4915537"/>
                <a:gd name="connsiteX15" fmla="*/ 2413929 w 4911034"/>
                <a:gd name="connsiteY15" fmla="*/ 45237 h 4915537"/>
                <a:gd name="connsiteX16" fmla="*/ 2748477 w 4911034"/>
                <a:gd name="connsiteY16" fmla="*/ 32352 h 4915537"/>
                <a:gd name="connsiteX17" fmla="*/ 3386234 w 4911034"/>
                <a:gd name="connsiteY17" fmla="*/ 88506 h 4915537"/>
                <a:gd name="connsiteX18" fmla="*/ 3980245 w 4911034"/>
                <a:gd name="connsiteY18" fmla="*/ 573691 h 4915537"/>
                <a:gd name="connsiteX19" fmla="*/ 4190232 w 4911034"/>
                <a:gd name="connsiteY19" fmla="*/ 804830 h 4915537"/>
                <a:gd name="connsiteX20" fmla="*/ 4333406 w 4911034"/>
                <a:gd name="connsiteY20" fmla="*/ 951817 h 4915537"/>
                <a:gd name="connsiteX21" fmla="*/ 4837853 w 4911034"/>
                <a:gd name="connsiteY21" fmla="*/ 1678958 h 4915537"/>
                <a:gd name="connsiteX22" fmla="*/ 4868715 w 4911034"/>
                <a:gd name="connsiteY22" fmla="*/ 2090490 h 4915537"/>
                <a:gd name="connsiteX23" fmla="*/ 4864101 w 4911034"/>
                <a:gd name="connsiteY23" fmla="*/ 2301267 h 4915537"/>
                <a:gd name="connsiteX24" fmla="*/ 4890191 w 4911034"/>
                <a:gd name="connsiteY24" fmla="*/ 2688619 h 4915537"/>
                <a:gd name="connsiteX25" fmla="*/ 4859329 w 4911034"/>
                <a:gd name="connsiteY25" fmla="*/ 3326518 h 4915537"/>
                <a:gd name="connsiteX26" fmla="*/ 4502510 w 4911034"/>
                <a:gd name="connsiteY26" fmla="*/ 3827133 h 4915537"/>
                <a:gd name="connsiteX27" fmla="*/ 4335633 w 4911034"/>
                <a:gd name="connsiteY27" fmla="*/ 4003709 h 4915537"/>
                <a:gd name="connsiteX28" fmla="*/ 4126759 w 4911034"/>
                <a:gd name="connsiteY28" fmla="*/ 4241688 h 4915537"/>
                <a:gd name="connsiteX29" fmla="*/ 3400074 w 4911034"/>
                <a:gd name="connsiteY29" fmla="*/ 4837431 h 4915537"/>
                <a:gd name="connsiteX30" fmla="*/ 2854584 w 4911034"/>
                <a:gd name="connsiteY30" fmla="*/ 4895176 h 4915537"/>
                <a:gd name="connsiteX31" fmla="*/ 2569192 w 4911034"/>
                <a:gd name="connsiteY31" fmla="*/ 4891994 h 4915537"/>
                <a:gd name="connsiteX32" fmla="*/ 2258347 w 4911034"/>
                <a:gd name="connsiteY32" fmla="*/ 4905039 h 4915537"/>
                <a:gd name="connsiteX33" fmla="*/ 1985840 w 4911034"/>
                <a:gd name="connsiteY33" fmla="*/ 4915538 h 4915537"/>
                <a:gd name="connsiteX34" fmla="*/ 1814669 w 4911034"/>
                <a:gd name="connsiteY34" fmla="*/ 62258 h 4915537"/>
                <a:gd name="connsiteX35" fmla="*/ 1571115 w 4911034"/>
                <a:gd name="connsiteY35" fmla="*/ 101232 h 4915537"/>
                <a:gd name="connsiteX36" fmla="*/ 1061895 w 4911034"/>
                <a:gd name="connsiteY36" fmla="*/ 519923 h 4915537"/>
                <a:gd name="connsiteX37" fmla="*/ 795274 w 4911034"/>
                <a:gd name="connsiteY37" fmla="*/ 811034 h 4915537"/>
                <a:gd name="connsiteX38" fmla="*/ 520700 w 4911034"/>
                <a:gd name="connsiteY38" fmla="*/ 1048377 h 4915537"/>
                <a:gd name="connsiteX39" fmla="*/ 122678 w 4911034"/>
                <a:gd name="connsiteY39" fmla="*/ 1498246 h 4915537"/>
                <a:gd name="connsiteX40" fmla="*/ 81158 w 4911034"/>
                <a:gd name="connsiteY40" fmla="*/ 2112283 h 4915537"/>
                <a:gd name="connsiteX41" fmla="*/ 106292 w 4911034"/>
                <a:gd name="connsiteY41" fmla="*/ 2492955 h 4915537"/>
                <a:gd name="connsiteX42" fmla="*/ 106292 w 4911034"/>
                <a:gd name="connsiteY42" fmla="*/ 2727116 h 4915537"/>
                <a:gd name="connsiteX43" fmla="*/ 212400 w 4911034"/>
                <a:gd name="connsiteY43" fmla="*/ 3575792 h 4915537"/>
                <a:gd name="connsiteX44" fmla="*/ 563811 w 4911034"/>
                <a:gd name="connsiteY44" fmla="*/ 3951691 h 4915537"/>
                <a:gd name="connsiteX45" fmla="*/ 924608 w 4911034"/>
                <a:gd name="connsiteY45" fmla="*/ 4251710 h 4915537"/>
                <a:gd name="connsiteX46" fmla="*/ 1034374 w 4911034"/>
                <a:gd name="connsiteY46" fmla="*/ 4367359 h 4915537"/>
                <a:gd name="connsiteX47" fmla="*/ 1545821 w 4911034"/>
                <a:gd name="connsiteY47" fmla="*/ 4775709 h 4915537"/>
                <a:gd name="connsiteX48" fmla="*/ 2254688 w 4911034"/>
                <a:gd name="connsiteY48" fmla="*/ 4842681 h 4915537"/>
                <a:gd name="connsiteX49" fmla="*/ 2567920 w 4911034"/>
                <a:gd name="connsiteY49" fmla="*/ 4829637 h 4915537"/>
                <a:gd name="connsiteX50" fmla="*/ 2856334 w 4911034"/>
                <a:gd name="connsiteY50" fmla="*/ 4832659 h 4915537"/>
                <a:gd name="connsiteX51" fmla="*/ 3378758 w 4911034"/>
                <a:gd name="connsiteY51" fmla="*/ 4778732 h 4915537"/>
                <a:gd name="connsiteX52" fmla="*/ 4079353 w 4911034"/>
                <a:gd name="connsiteY52" fmla="*/ 4200964 h 4915537"/>
                <a:gd name="connsiteX53" fmla="*/ 4289340 w 4911034"/>
                <a:gd name="connsiteY53" fmla="*/ 3961713 h 4915537"/>
                <a:gd name="connsiteX54" fmla="*/ 4457489 w 4911034"/>
                <a:gd name="connsiteY54" fmla="*/ 3783865 h 4915537"/>
                <a:gd name="connsiteX55" fmla="*/ 4799992 w 4911034"/>
                <a:gd name="connsiteY55" fmla="*/ 3306634 h 4915537"/>
                <a:gd name="connsiteX56" fmla="*/ 4827831 w 4911034"/>
                <a:gd name="connsiteY56" fmla="*/ 2694823 h 4915537"/>
                <a:gd name="connsiteX57" fmla="*/ 4801423 w 4911034"/>
                <a:gd name="connsiteY57" fmla="*/ 2301744 h 4915537"/>
                <a:gd name="connsiteX58" fmla="*/ 4806196 w 4911034"/>
                <a:gd name="connsiteY58" fmla="*/ 2087945 h 4915537"/>
                <a:gd name="connsiteX59" fmla="*/ 4777720 w 4911034"/>
                <a:gd name="connsiteY59" fmla="*/ 1695979 h 4915537"/>
                <a:gd name="connsiteX60" fmla="*/ 4288863 w 4911034"/>
                <a:gd name="connsiteY60" fmla="*/ 995722 h 4915537"/>
                <a:gd name="connsiteX61" fmla="*/ 4145053 w 4911034"/>
                <a:gd name="connsiteY61" fmla="*/ 848099 h 4915537"/>
                <a:gd name="connsiteX62" fmla="*/ 3933316 w 4911034"/>
                <a:gd name="connsiteY62" fmla="*/ 615051 h 4915537"/>
                <a:gd name="connsiteX63" fmla="*/ 3363804 w 4911034"/>
                <a:gd name="connsiteY63" fmla="*/ 146728 h 4915537"/>
                <a:gd name="connsiteX64" fmla="*/ 2752454 w 4911034"/>
                <a:gd name="connsiteY64" fmla="*/ 94551 h 4915537"/>
                <a:gd name="connsiteX65" fmla="*/ 2413451 w 4911034"/>
                <a:gd name="connsiteY65" fmla="*/ 107595 h 4915537"/>
                <a:gd name="connsiteX66" fmla="*/ 2413451 w 4911034"/>
                <a:gd name="connsiteY66" fmla="*/ 107595 h 4915537"/>
                <a:gd name="connsiteX67" fmla="*/ 2065540 w 4911034"/>
                <a:gd name="connsiteY67" fmla="*/ 81666 h 4915537"/>
                <a:gd name="connsiteX68" fmla="*/ 1814669 w 4911034"/>
                <a:gd name="connsiteY68" fmla="*/ 62258 h 491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4911034" h="4915537">
                  <a:moveTo>
                    <a:pt x="1985840" y="4915538"/>
                  </a:moveTo>
                  <a:cubicBezTo>
                    <a:pt x="1825486" y="4915538"/>
                    <a:pt x="1678177" y="4898199"/>
                    <a:pt x="1521959" y="4833614"/>
                  </a:cubicBezTo>
                  <a:cubicBezTo>
                    <a:pt x="1301313" y="4742303"/>
                    <a:pt x="1163389" y="4595793"/>
                    <a:pt x="989036" y="4410151"/>
                  </a:cubicBezTo>
                  <a:cubicBezTo>
                    <a:pt x="954515" y="4373404"/>
                    <a:pt x="918403" y="4335066"/>
                    <a:pt x="879906" y="4295138"/>
                  </a:cubicBezTo>
                  <a:cubicBezTo>
                    <a:pt x="751686" y="4162468"/>
                    <a:pt x="632693" y="4077521"/>
                    <a:pt x="527699" y="4002436"/>
                  </a:cubicBezTo>
                  <a:cubicBezTo>
                    <a:pt x="373867" y="3892514"/>
                    <a:pt x="240716" y="3797386"/>
                    <a:pt x="155449" y="3600767"/>
                  </a:cubicBezTo>
                  <a:cubicBezTo>
                    <a:pt x="40751" y="3337971"/>
                    <a:pt x="42342" y="3054815"/>
                    <a:pt x="44251" y="2726798"/>
                  </a:cubicBezTo>
                  <a:cubicBezTo>
                    <a:pt x="44728" y="2652032"/>
                    <a:pt x="45205" y="2574402"/>
                    <a:pt x="44251" y="2493591"/>
                  </a:cubicBezTo>
                  <a:cubicBezTo>
                    <a:pt x="42819" y="2354876"/>
                    <a:pt x="30410" y="2229205"/>
                    <a:pt x="19434" y="2118328"/>
                  </a:cubicBezTo>
                  <a:cubicBezTo>
                    <a:pt x="-3474" y="1885758"/>
                    <a:pt x="-23200" y="1685003"/>
                    <a:pt x="65408" y="1473907"/>
                  </a:cubicBezTo>
                  <a:cubicBezTo>
                    <a:pt x="153221" y="1265198"/>
                    <a:pt x="305462" y="1142232"/>
                    <a:pt x="481725" y="999858"/>
                  </a:cubicBezTo>
                  <a:cubicBezTo>
                    <a:pt x="568424" y="929864"/>
                    <a:pt x="658146" y="857325"/>
                    <a:pt x="752163" y="766174"/>
                  </a:cubicBezTo>
                  <a:cubicBezTo>
                    <a:pt x="853657" y="667864"/>
                    <a:pt x="935584" y="571941"/>
                    <a:pt x="1014807" y="479358"/>
                  </a:cubicBezTo>
                  <a:cubicBezTo>
                    <a:pt x="1178184" y="288307"/>
                    <a:pt x="1319130" y="123344"/>
                    <a:pt x="1550911" y="42374"/>
                  </a:cubicBezTo>
                  <a:cubicBezTo>
                    <a:pt x="1728287" y="-19507"/>
                    <a:pt x="1888005" y="-1213"/>
                    <a:pt x="2072699" y="19944"/>
                  </a:cubicBezTo>
                  <a:cubicBezTo>
                    <a:pt x="2172602" y="31397"/>
                    <a:pt x="2286027" y="44442"/>
                    <a:pt x="2413929" y="45237"/>
                  </a:cubicBezTo>
                  <a:cubicBezTo>
                    <a:pt x="2536739" y="46032"/>
                    <a:pt x="2644438" y="39192"/>
                    <a:pt x="2748477" y="32352"/>
                  </a:cubicBezTo>
                  <a:cubicBezTo>
                    <a:pt x="2974214" y="17876"/>
                    <a:pt x="3169248" y="5309"/>
                    <a:pt x="3386234" y="88506"/>
                  </a:cubicBezTo>
                  <a:cubicBezTo>
                    <a:pt x="3637584" y="185066"/>
                    <a:pt x="3788711" y="356551"/>
                    <a:pt x="3980245" y="573691"/>
                  </a:cubicBezTo>
                  <a:cubicBezTo>
                    <a:pt x="4045150" y="647344"/>
                    <a:pt x="4112441" y="723541"/>
                    <a:pt x="4190232" y="804830"/>
                  </a:cubicBezTo>
                  <a:cubicBezTo>
                    <a:pt x="4239866" y="856848"/>
                    <a:pt x="4287750" y="905366"/>
                    <a:pt x="4333406" y="951817"/>
                  </a:cubicBezTo>
                  <a:cubicBezTo>
                    <a:pt x="4567892" y="1189796"/>
                    <a:pt x="4753222" y="1377825"/>
                    <a:pt x="4837853" y="1678958"/>
                  </a:cubicBezTo>
                  <a:cubicBezTo>
                    <a:pt x="4879532" y="1825786"/>
                    <a:pt x="4874601" y="1948434"/>
                    <a:pt x="4868715" y="2090490"/>
                  </a:cubicBezTo>
                  <a:cubicBezTo>
                    <a:pt x="4866011" y="2155393"/>
                    <a:pt x="4863306" y="2222683"/>
                    <a:pt x="4864101" y="2301267"/>
                  </a:cubicBezTo>
                  <a:cubicBezTo>
                    <a:pt x="4865534" y="2445232"/>
                    <a:pt x="4878101" y="2568994"/>
                    <a:pt x="4890191" y="2688619"/>
                  </a:cubicBezTo>
                  <a:cubicBezTo>
                    <a:pt x="4913099" y="2913872"/>
                    <a:pt x="4932825" y="3108423"/>
                    <a:pt x="4859329" y="3326518"/>
                  </a:cubicBezTo>
                  <a:cubicBezTo>
                    <a:pt x="4791402" y="3528386"/>
                    <a:pt x="4670181" y="3653739"/>
                    <a:pt x="4502510" y="3827133"/>
                  </a:cubicBezTo>
                  <a:cubicBezTo>
                    <a:pt x="4451285" y="3880265"/>
                    <a:pt x="4395448" y="3937851"/>
                    <a:pt x="4335633" y="4003709"/>
                  </a:cubicBezTo>
                  <a:cubicBezTo>
                    <a:pt x="4258956" y="4087860"/>
                    <a:pt x="4190550" y="4167399"/>
                    <a:pt x="4126759" y="4241688"/>
                  </a:cubicBezTo>
                  <a:cubicBezTo>
                    <a:pt x="3894500" y="4511642"/>
                    <a:pt x="3711079" y="4724805"/>
                    <a:pt x="3400074" y="4837431"/>
                  </a:cubicBezTo>
                  <a:cubicBezTo>
                    <a:pt x="3213154" y="4905516"/>
                    <a:pt x="3055027" y="4900903"/>
                    <a:pt x="2854584" y="4895176"/>
                  </a:cubicBezTo>
                  <a:cubicBezTo>
                    <a:pt x="2771385" y="4892790"/>
                    <a:pt x="2677049" y="4890245"/>
                    <a:pt x="2569192" y="4891994"/>
                  </a:cubicBezTo>
                  <a:cubicBezTo>
                    <a:pt x="2455290" y="4894063"/>
                    <a:pt x="2355227" y="4899630"/>
                    <a:pt x="2258347" y="4905039"/>
                  </a:cubicBezTo>
                  <a:cubicBezTo>
                    <a:pt x="2161307" y="4910607"/>
                    <a:pt x="2071744" y="4915538"/>
                    <a:pt x="1985840" y="4915538"/>
                  </a:cubicBezTo>
                  <a:close/>
                  <a:moveTo>
                    <a:pt x="1814669" y="62258"/>
                  </a:moveTo>
                  <a:cubicBezTo>
                    <a:pt x="1733219" y="62258"/>
                    <a:pt x="1654633" y="72280"/>
                    <a:pt x="1571115" y="101232"/>
                  </a:cubicBezTo>
                  <a:cubicBezTo>
                    <a:pt x="1355400" y="176635"/>
                    <a:pt x="1219386" y="335712"/>
                    <a:pt x="1061895" y="519923"/>
                  </a:cubicBezTo>
                  <a:cubicBezTo>
                    <a:pt x="981718" y="613778"/>
                    <a:pt x="898677" y="710656"/>
                    <a:pt x="795274" y="811034"/>
                  </a:cubicBezTo>
                  <a:cubicBezTo>
                    <a:pt x="699189" y="904094"/>
                    <a:pt x="604377" y="980769"/>
                    <a:pt x="520700" y="1048377"/>
                  </a:cubicBezTo>
                  <a:cubicBezTo>
                    <a:pt x="343960" y="1191228"/>
                    <a:pt x="204287" y="1304013"/>
                    <a:pt x="122678" y="1498246"/>
                  </a:cubicBezTo>
                  <a:cubicBezTo>
                    <a:pt x="40114" y="1694706"/>
                    <a:pt x="58250" y="1878917"/>
                    <a:pt x="81158" y="2112283"/>
                  </a:cubicBezTo>
                  <a:cubicBezTo>
                    <a:pt x="92134" y="2224433"/>
                    <a:pt x="104702" y="2351376"/>
                    <a:pt x="106292" y="2492955"/>
                  </a:cubicBezTo>
                  <a:cubicBezTo>
                    <a:pt x="107088" y="2574243"/>
                    <a:pt x="106770" y="2652032"/>
                    <a:pt x="106292" y="2727116"/>
                  </a:cubicBezTo>
                  <a:cubicBezTo>
                    <a:pt x="104383" y="3047974"/>
                    <a:pt x="102793" y="3325086"/>
                    <a:pt x="212400" y="3575792"/>
                  </a:cubicBezTo>
                  <a:cubicBezTo>
                    <a:pt x="290986" y="3756821"/>
                    <a:pt x="411411" y="3842723"/>
                    <a:pt x="563811" y="3951691"/>
                  </a:cubicBezTo>
                  <a:cubicBezTo>
                    <a:pt x="671032" y="4028207"/>
                    <a:pt x="792411" y="4114904"/>
                    <a:pt x="924608" y="4251710"/>
                  </a:cubicBezTo>
                  <a:cubicBezTo>
                    <a:pt x="963423" y="4291956"/>
                    <a:pt x="999694" y="4330453"/>
                    <a:pt x="1034374" y="4367359"/>
                  </a:cubicBezTo>
                  <a:cubicBezTo>
                    <a:pt x="1203636" y="4547434"/>
                    <a:pt x="1337424" y="4689649"/>
                    <a:pt x="1545821" y="4775709"/>
                  </a:cubicBezTo>
                  <a:cubicBezTo>
                    <a:pt x="1772512" y="4869565"/>
                    <a:pt x="1974863" y="4858429"/>
                    <a:pt x="2254688" y="4842681"/>
                  </a:cubicBezTo>
                  <a:cubicBezTo>
                    <a:pt x="2347592" y="4837590"/>
                    <a:pt x="2452903" y="4831705"/>
                    <a:pt x="2567920" y="4829637"/>
                  </a:cubicBezTo>
                  <a:cubicBezTo>
                    <a:pt x="2677208" y="4827569"/>
                    <a:pt x="2772339" y="4830273"/>
                    <a:pt x="2856334" y="4832659"/>
                  </a:cubicBezTo>
                  <a:cubicBezTo>
                    <a:pt x="3057572" y="4838386"/>
                    <a:pt x="3202973" y="4842681"/>
                    <a:pt x="3378758" y="4778732"/>
                  </a:cubicBezTo>
                  <a:cubicBezTo>
                    <a:pt x="3674490" y="4671673"/>
                    <a:pt x="3844230" y="4474259"/>
                    <a:pt x="4079353" y="4200964"/>
                  </a:cubicBezTo>
                  <a:cubicBezTo>
                    <a:pt x="4143622" y="4126198"/>
                    <a:pt x="4212345" y="4046342"/>
                    <a:pt x="4289340" y="3961713"/>
                  </a:cubicBezTo>
                  <a:cubicBezTo>
                    <a:pt x="4349632" y="3895377"/>
                    <a:pt x="4405788" y="3837314"/>
                    <a:pt x="4457489" y="3783865"/>
                  </a:cubicBezTo>
                  <a:cubicBezTo>
                    <a:pt x="4619435" y="3616356"/>
                    <a:pt x="4736518" y="3495299"/>
                    <a:pt x="4799992" y="3306634"/>
                  </a:cubicBezTo>
                  <a:cubicBezTo>
                    <a:pt x="4869192" y="3101265"/>
                    <a:pt x="4849943" y="2912918"/>
                    <a:pt x="4827831" y="2694823"/>
                  </a:cubicBezTo>
                  <a:cubicBezTo>
                    <a:pt x="4816218" y="2579333"/>
                    <a:pt x="4802855" y="2448572"/>
                    <a:pt x="4801423" y="2301744"/>
                  </a:cubicBezTo>
                  <a:cubicBezTo>
                    <a:pt x="4800628" y="2221728"/>
                    <a:pt x="4803491" y="2150621"/>
                    <a:pt x="4806196" y="2087945"/>
                  </a:cubicBezTo>
                  <a:cubicBezTo>
                    <a:pt x="4812082" y="1945730"/>
                    <a:pt x="4816696" y="1833262"/>
                    <a:pt x="4777720" y="1695979"/>
                  </a:cubicBezTo>
                  <a:cubicBezTo>
                    <a:pt x="4697384" y="1410277"/>
                    <a:pt x="4526053" y="1236406"/>
                    <a:pt x="4288863" y="995722"/>
                  </a:cubicBezTo>
                  <a:cubicBezTo>
                    <a:pt x="4242888" y="949113"/>
                    <a:pt x="4194846" y="900276"/>
                    <a:pt x="4145053" y="848099"/>
                  </a:cubicBezTo>
                  <a:cubicBezTo>
                    <a:pt x="4066308" y="766015"/>
                    <a:pt x="3998698" y="689340"/>
                    <a:pt x="3933316" y="615051"/>
                  </a:cubicBezTo>
                  <a:cubicBezTo>
                    <a:pt x="3747508" y="404274"/>
                    <a:pt x="3600836" y="237879"/>
                    <a:pt x="3363804" y="146728"/>
                  </a:cubicBezTo>
                  <a:cubicBezTo>
                    <a:pt x="3159703" y="68462"/>
                    <a:pt x="2980099" y="79916"/>
                    <a:pt x="2752454" y="94551"/>
                  </a:cubicBezTo>
                  <a:cubicBezTo>
                    <a:pt x="2647301" y="101391"/>
                    <a:pt x="2538171" y="107913"/>
                    <a:pt x="2413451" y="107595"/>
                  </a:cubicBezTo>
                  <a:lnTo>
                    <a:pt x="2413451" y="107595"/>
                  </a:lnTo>
                  <a:cubicBezTo>
                    <a:pt x="2282050" y="106641"/>
                    <a:pt x="2167034" y="93437"/>
                    <a:pt x="2065540" y="81666"/>
                  </a:cubicBezTo>
                  <a:cubicBezTo>
                    <a:pt x="1974704" y="71644"/>
                    <a:pt x="1893255" y="62258"/>
                    <a:pt x="1814669" y="62258"/>
                  </a:cubicBezTo>
                  <a:close/>
                </a:path>
              </a:pathLst>
            </a:custGeom>
            <a:gradFill>
              <a:gsLst>
                <a:gs pos="100000">
                  <a:schemeClr val="accent2"/>
                </a:gs>
                <a:gs pos="0">
                  <a:schemeClr val="accent1"/>
                </a:gs>
              </a:gsLst>
              <a:lin ang="0" scaled="1"/>
            </a:gradFill>
            <a:ln w="1589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35" name="Freeform 34">
              <a:extLst>
                <a:ext uri="{FF2B5EF4-FFF2-40B4-BE49-F238E27FC236}">
                  <a16:creationId xmlns:a16="http://schemas.microsoft.com/office/drawing/2014/main" id="{3E963CFD-633A-8B60-ACEF-59290BE5609D}"/>
                </a:ext>
              </a:extLst>
            </p:cNvPr>
            <p:cNvSpPr/>
            <p:nvPr/>
          </p:nvSpPr>
          <p:spPr>
            <a:xfrm>
              <a:off x="-2409788" y="1013075"/>
              <a:ext cx="4807813" cy="4817254"/>
            </a:xfrm>
            <a:custGeom>
              <a:avLst/>
              <a:gdLst>
                <a:gd name="connsiteX0" fmla="*/ 2006198 w 4807813"/>
                <a:gd name="connsiteY0" fmla="*/ 4817255 h 4817254"/>
                <a:gd name="connsiteX1" fmla="*/ 1481070 w 4807813"/>
                <a:gd name="connsiteY1" fmla="*/ 4727376 h 4817254"/>
                <a:gd name="connsiteX2" fmla="*/ 924285 w 4807813"/>
                <a:gd name="connsiteY2" fmla="*/ 4291506 h 4817254"/>
                <a:gd name="connsiteX3" fmla="*/ 846494 w 4807813"/>
                <a:gd name="connsiteY3" fmla="*/ 4211490 h 4817254"/>
                <a:gd name="connsiteX4" fmla="*/ 530399 w 4807813"/>
                <a:gd name="connsiteY4" fmla="*/ 3939786 h 4817254"/>
                <a:gd name="connsiteX5" fmla="*/ 152740 w 4807813"/>
                <a:gd name="connsiteY5" fmla="*/ 3517278 h 4817254"/>
                <a:gd name="connsiteX6" fmla="*/ 29770 w 4807813"/>
                <a:gd name="connsiteY6" fmla="*/ 2595745 h 4817254"/>
                <a:gd name="connsiteX7" fmla="*/ 28974 w 4807813"/>
                <a:gd name="connsiteY7" fmla="*/ 2438895 h 4817254"/>
                <a:gd name="connsiteX8" fmla="*/ 12907 w 4807813"/>
                <a:gd name="connsiteY8" fmla="*/ 2111674 h 4817254"/>
                <a:gd name="connsiteX9" fmla="*/ 72245 w 4807813"/>
                <a:gd name="connsiteY9" fmla="*/ 1442596 h 4817254"/>
                <a:gd name="connsiteX10" fmla="*/ 495242 w 4807813"/>
                <a:gd name="connsiteY10" fmla="*/ 945480 h 4817254"/>
                <a:gd name="connsiteX11" fmla="*/ 729092 w 4807813"/>
                <a:gd name="connsiteY11" fmla="*/ 736930 h 4817254"/>
                <a:gd name="connsiteX12" fmla="*/ 962305 w 4807813"/>
                <a:gd name="connsiteY12" fmla="*/ 490361 h 4817254"/>
                <a:gd name="connsiteX13" fmla="*/ 1525295 w 4807813"/>
                <a:gd name="connsiteY13" fmla="*/ 46695 h 4817254"/>
                <a:gd name="connsiteX14" fmla="*/ 2063150 w 4807813"/>
                <a:gd name="connsiteY14" fmla="*/ 13925 h 4817254"/>
                <a:gd name="connsiteX15" fmla="*/ 2368904 w 4807813"/>
                <a:gd name="connsiteY15" fmla="*/ 31265 h 4817254"/>
                <a:gd name="connsiteX16" fmla="*/ 2655728 w 4807813"/>
                <a:gd name="connsiteY16" fmla="*/ 24425 h 4817254"/>
                <a:gd name="connsiteX17" fmla="*/ 3325620 w 4807813"/>
                <a:gd name="connsiteY17" fmla="*/ 93941 h 4817254"/>
                <a:gd name="connsiteX18" fmla="*/ 3954151 w 4807813"/>
                <a:gd name="connsiteY18" fmla="*/ 603147 h 4817254"/>
                <a:gd name="connsiteX19" fmla="*/ 4124846 w 4807813"/>
                <a:gd name="connsiteY19" fmla="*/ 789108 h 4817254"/>
                <a:gd name="connsiteX20" fmla="*/ 4217431 w 4807813"/>
                <a:gd name="connsiteY20" fmla="*/ 886304 h 4817254"/>
                <a:gd name="connsiteX21" fmla="*/ 4745263 w 4807813"/>
                <a:gd name="connsiteY21" fmla="*/ 1661963 h 4817254"/>
                <a:gd name="connsiteX22" fmla="*/ 4780262 w 4807813"/>
                <a:gd name="connsiteY22" fmla="*/ 2089721 h 4817254"/>
                <a:gd name="connsiteX23" fmla="*/ 4777716 w 4807813"/>
                <a:gd name="connsiteY23" fmla="*/ 2273614 h 4817254"/>
                <a:gd name="connsiteX24" fmla="*/ 4794261 w 4807813"/>
                <a:gd name="connsiteY24" fmla="*/ 2611653 h 4817254"/>
                <a:gd name="connsiteX25" fmla="*/ 4747809 w 4807813"/>
                <a:gd name="connsiteY25" fmla="*/ 3276435 h 4817254"/>
                <a:gd name="connsiteX26" fmla="*/ 4377308 w 4807813"/>
                <a:gd name="connsiteY26" fmla="*/ 3798526 h 4817254"/>
                <a:gd name="connsiteX27" fmla="*/ 4242566 w 4807813"/>
                <a:gd name="connsiteY27" fmla="*/ 3942650 h 4817254"/>
                <a:gd name="connsiteX28" fmla="*/ 4085870 w 4807813"/>
                <a:gd name="connsiteY28" fmla="*/ 4117634 h 4817254"/>
                <a:gd name="connsiteX29" fmla="*/ 3312893 w 4807813"/>
                <a:gd name="connsiteY29" fmla="*/ 4739944 h 4817254"/>
                <a:gd name="connsiteX30" fmla="*/ 2744018 w 4807813"/>
                <a:gd name="connsiteY30" fmla="*/ 4803574 h 4817254"/>
                <a:gd name="connsiteX31" fmla="*/ 2502055 w 4807813"/>
                <a:gd name="connsiteY31" fmla="*/ 4802779 h 4817254"/>
                <a:gd name="connsiteX32" fmla="*/ 2254684 w 4807813"/>
                <a:gd name="connsiteY32" fmla="*/ 4810256 h 4817254"/>
                <a:gd name="connsiteX33" fmla="*/ 2006198 w 4807813"/>
                <a:gd name="connsiteY33" fmla="*/ 4817255 h 4817254"/>
                <a:gd name="connsiteX34" fmla="*/ 1821982 w 4807813"/>
                <a:gd name="connsiteY34" fmla="*/ 65626 h 4817254"/>
                <a:gd name="connsiteX35" fmla="*/ 1547248 w 4807813"/>
                <a:gd name="connsiteY35" fmla="*/ 108735 h 4817254"/>
                <a:gd name="connsiteX36" fmla="*/ 1011303 w 4807813"/>
                <a:gd name="connsiteY36" fmla="*/ 534425 h 4817254"/>
                <a:gd name="connsiteX37" fmla="*/ 775067 w 4807813"/>
                <a:gd name="connsiteY37" fmla="*/ 784017 h 4817254"/>
                <a:gd name="connsiteX38" fmla="*/ 538194 w 4807813"/>
                <a:gd name="connsiteY38" fmla="*/ 995431 h 4817254"/>
                <a:gd name="connsiteX39" fmla="*/ 133173 w 4807813"/>
                <a:gd name="connsiteY39" fmla="*/ 1467889 h 4817254"/>
                <a:gd name="connsiteX40" fmla="*/ 78767 w 4807813"/>
                <a:gd name="connsiteY40" fmla="*/ 2106742 h 4817254"/>
                <a:gd name="connsiteX41" fmla="*/ 94993 w 4807813"/>
                <a:gd name="connsiteY41" fmla="*/ 2437781 h 4817254"/>
                <a:gd name="connsiteX42" fmla="*/ 95789 w 4807813"/>
                <a:gd name="connsiteY42" fmla="*/ 2595109 h 4817254"/>
                <a:gd name="connsiteX43" fmla="*/ 213191 w 4807813"/>
                <a:gd name="connsiteY43" fmla="*/ 3490394 h 4817254"/>
                <a:gd name="connsiteX44" fmla="*/ 570647 w 4807813"/>
                <a:gd name="connsiteY44" fmla="*/ 3887291 h 4817254"/>
                <a:gd name="connsiteX45" fmla="*/ 893741 w 4807813"/>
                <a:gd name="connsiteY45" fmla="*/ 4165198 h 4817254"/>
                <a:gd name="connsiteX46" fmla="*/ 971691 w 4807813"/>
                <a:gd name="connsiteY46" fmla="*/ 4245533 h 4817254"/>
                <a:gd name="connsiteX47" fmla="*/ 1506523 w 4807813"/>
                <a:gd name="connsiteY47" fmla="*/ 4666450 h 4817254"/>
                <a:gd name="connsiteX48" fmla="*/ 2252615 w 4807813"/>
                <a:gd name="connsiteY48" fmla="*/ 4744875 h 4817254"/>
                <a:gd name="connsiteX49" fmla="*/ 2501419 w 4807813"/>
                <a:gd name="connsiteY49" fmla="*/ 4737240 h 4817254"/>
                <a:gd name="connsiteX50" fmla="*/ 2745450 w 4807813"/>
                <a:gd name="connsiteY50" fmla="*/ 4738035 h 4817254"/>
                <a:gd name="connsiteX51" fmla="*/ 3291099 w 4807813"/>
                <a:gd name="connsiteY51" fmla="*/ 4678222 h 4817254"/>
                <a:gd name="connsiteX52" fmla="*/ 4037191 w 4807813"/>
                <a:gd name="connsiteY52" fmla="*/ 4074206 h 4817254"/>
                <a:gd name="connsiteX53" fmla="*/ 4194364 w 4807813"/>
                <a:gd name="connsiteY53" fmla="*/ 3898426 h 4817254"/>
                <a:gd name="connsiteX54" fmla="*/ 4329902 w 4807813"/>
                <a:gd name="connsiteY54" fmla="*/ 3753348 h 4817254"/>
                <a:gd name="connsiteX55" fmla="*/ 4686085 w 4807813"/>
                <a:gd name="connsiteY55" fmla="*/ 3254642 h 4817254"/>
                <a:gd name="connsiteX56" fmla="*/ 4729037 w 4807813"/>
                <a:gd name="connsiteY56" fmla="*/ 2616266 h 4817254"/>
                <a:gd name="connsiteX57" fmla="*/ 4712333 w 4807813"/>
                <a:gd name="connsiteY57" fmla="*/ 2274091 h 4817254"/>
                <a:gd name="connsiteX58" fmla="*/ 4714879 w 4807813"/>
                <a:gd name="connsiteY58" fmla="*/ 2087812 h 4817254"/>
                <a:gd name="connsiteX59" fmla="*/ 4682267 w 4807813"/>
                <a:gd name="connsiteY59" fmla="*/ 1679461 h 4817254"/>
                <a:gd name="connsiteX60" fmla="*/ 4170343 w 4807813"/>
                <a:gd name="connsiteY60" fmla="*/ 931482 h 4817254"/>
                <a:gd name="connsiteX61" fmla="*/ 4077439 w 4807813"/>
                <a:gd name="connsiteY61" fmla="*/ 833967 h 4817254"/>
                <a:gd name="connsiteX62" fmla="*/ 3905631 w 4807813"/>
                <a:gd name="connsiteY62" fmla="*/ 646734 h 4817254"/>
                <a:gd name="connsiteX63" fmla="*/ 3301917 w 4807813"/>
                <a:gd name="connsiteY63" fmla="*/ 154868 h 4817254"/>
                <a:gd name="connsiteX64" fmla="*/ 2658592 w 4807813"/>
                <a:gd name="connsiteY64" fmla="*/ 89646 h 4817254"/>
                <a:gd name="connsiteX65" fmla="*/ 2368745 w 4807813"/>
                <a:gd name="connsiteY65" fmla="*/ 96646 h 4817254"/>
                <a:gd name="connsiteX66" fmla="*/ 2368745 w 4807813"/>
                <a:gd name="connsiteY66" fmla="*/ 96646 h 4817254"/>
                <a:gd name="connsiteX67" fmla="*/ 2057900 w 4807813"/>
                <a:gd name="connsiteY67" fmla="*/ 79147 h 4817254"/>
                <a:gd name="connsiteX68" fmla="*/ 1821982 w 4807813"/>
                <a:gd name="connsiteY68" fmla="*/ 65626 h 4817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4807813" h="4817254">
                  <a:moveTo>
                    <a:pt x="2006198" y="4817255"/>
                  </a:moveTo>
                  <a:cubicBezTo>
                    <a:pt x="1821346" y="4817255"/>
                    <a:pt x="1655424" y="4799916"/>
                    <a:pt x="1481070" y="4727376"/>
                  </a:cubicBezTo>
                  <a:cubicBezTo>
                    <a:pt x="1254220" y="4632885"/>
                    <a:pt x="1108501" y="4482239"/>
                    <a:pt x="924285" y="4291506"/>
                  </a:cubicBezTo>
                  <a:lnTo>
                    <a:pt x="846494" y="4211490"/>
                  </a:lnTo>
                  <a:cubicBezTo>
                    <a:pt x="732274" y="4094727"/>
                    <a:pt x="625053" y="4012485"/>
                    <a:pt x="530399" y="3939786"/>
                  </a:cubicBezTo>
                  <a:cubicBezTo>
                    <a:pt x="374659" y="3820160"/>
                    <a:pt x="240076" y="3716919"/>
                    <a:pt x="152740" y="3517278"/>
                  </a:cubicBezTo>
                  <a:cubicBezTo>
                    <a:pt x="31520" y="3241757"/>
                    <a:pt x="30724" y="2942374"/>
                    <a:pt x="29770" y="2595745"/>
                  </a:cubicBezTo>
                  <a:cubicBezTo>
                    <a:pt x="29611" y="2544840"/>
                    <a:pt x="29452" y="2492504"/>
                    <a:pt x="28974" y="2438895"/>
                  </a:cubicBezTo>
                  <a:cubicBezTo>
                    <a:pt x="27702" y="2320065"/>
                    <a:pt x="20225" y="2214119"/>
                    <a:pt x="12907" y="2111674"/>
                  </a:cubicBezTo>
                  <a:cubicBezTo>
                    <a:pt x="-4274" y="1869081"/>
                    <a:pt x="-19227" y="1659577"/>
                    <a:pt x="72245" y="1442596"/>
                  </a:cubicBezTo>
                  <a:cubicBezTo>
                    <a:pt x="162444" y="1228637"/>
                    <a:pt x="316753" y="1097558"/>
                    <a:pt x="495242" y="945480"/>
                  </a:cubicBezTo>
                  <a:cubicBezTo>
                    <a:pt x="570329" y="881531"/>
                    <a:pt x="648120" y="815514"/>
                    <a:pt x="729092" y="736930"/>
                  </a:cubicBezTo>
                  <a:cubicBezTo>
                    <a:pt x="816110" y="652460"/>
                    <a:pt x="890401" y="570059"/>
                    <a:pt x="962305" y="490361"/>
                  </a:cubicBezTo>
                  <a:cubicBezTo>
                    <a:pt x="1136500" y="297083"/>
                    <a:pt x="1286832" y="130370"/>
                    <a:pt x="1525295" y="46695"/>
                  </a:cubicBezTo>
                  <a:cubicBezTo>
                    <a:pt x="1706330" y="-16617"/>
                    <a:pt x="1871774" y="-2459"/>
                    <a:pt x="2063150" y="13925"/>
                  </a:cubicBezTo>
                  <a:cubicBezTo>
                    <a:pt x="2158121" y="22038"/>
                    <a:pt x="2256275" y="30629"/>
                    <a:pt x="2368904" y="31265"/>
                  </a:cubicBezTo>
                  <a:cubicBezTo>
                    <a:pt x="2473102" y="31742"/>
                    <a:pt x="2565370" y="28083"/>
                    <a:pt x="2655728" y="24425"/>
                  </a:cubicBezTo>
                  <a:cubicBezTo>
                    <a:pt x="2894668" y="14880"/>
                    <a:pt x="3101156" y="6290"/>
                    <a:pt x="3325620" y="93941"/>
                  </a:cubicBezTo>
                  <a:cubicBezTo>
                    <a:pt x="3587468" y="196228"/>
                    <a:pt x="3749254" y="375826"/>
                    <a:pt x="3954151" y="603147"/>
                  </a:cubicBezTo>
                  <a:cubicBezTo>
                    <a:pt x="4007285" y="662164"/>
                    <a:pt x="4063281" y="724363"/>
                    <a:pt x="4124846" y="789108"/>
                  </a:cubicBezTo>
                  <a:lnTo>
                    <a:pt x="4217431" y="886304"/>
                  </a:lnTo>
                  <a:cubicBezTo>
                    <a:pt x="4463053" y="1142895"/>
                    <a:pt x="4657132" y="1345718"/>
                    <a:pt x="4745263" y="1661963"/>
                  </a:cubicBezTo>
                  <a:cubicBezTo>
                    <a:pt x="4787579" y="1812450"/>
                    <a:pt x="4784239" y="1934780"/>
                    <a:pt x="4780262" y="2089721"/>
                  </a:cubicBezTo>
                  <a:cubicBezTo>
                    <a:pt x="4778830" y="2146034"/>
                    <a:pt x="4777080" y="2206325"/>
                    <a:pt x="4777716" y="2273614"/>
                  </a:cubicBezTo>
                  <a:cubicBezTo>
                    <a:pt x="4778830" y="2396740"/>
                    <a:pt x="4786625" y="2506026"/>
                    <a:pt x="4794261" y="2611653"/>
                  </a:cubicBezTo>
                  <a:cubicBezTo>
                    <a:pt x="4811282" y="2848200"/>
                    <a:pt x="4826077" y="3052296"/>
                    <a:pt x="4747809" y="3276435"/>
                  </a:cubicBezTo>
                  <a:cubicBezTo>
                    <a:pt x="4675427" y="3483872"/>
                    <a:pt x="4550229" y="3615905"/>
                    <a:pt x="4377308" y="3798526"/>
                  </a:cubicBezTo>
                  <a:cubicBezTo>
                    <a:pt x="4335151" y="3843067"/>
                    <a:pt x="4290132" y="3890472"/>
                    <a:pt x="4242566" y="3942650"/>
                  </a:cubicBezTo>
                  <a:cubicBezTo>
                    <a:pt x="4186887" y="4003576"/>
                    <a:pt x="4135186" y="4061957"/>
                    <a:pt x="4085870" y="4117634"/>
                  </a:cubicBezTo>
                  <a:cubicBezTo>
                    <a:pt x="3835795" y="4400155"/>
                    <a:pt x="3638215" y="4623340"/>
                    <a:pt x="3312893" y="4739944"/>
                  </a:cubicBezTo>
                  <a:cubicBezTo>
                    <a:pt x="3120883" y="4809142"/>
                    <a:pt x="2954483" y="4806756"/>
                    <a:pt x="2744018" y="4803574"/>
                  </a:cubicBezTo>
                  <a:cubicBezTo>
                    <a:pt x="2671000" y="4802461"/>
                    <a:pt x="2591459" y="4801188"/>
                    <a:pt x="2502055" y="4802779"/>
                  </a:cubicBezTo>
                  <a:cubicBezTo>
                    <a:pt x="2413447" y="4804211"/>
                    <a:pt x="2331520" y="4807393"/>
                    <a:pt x="2254684" y="4810256"/>
                  </a:cubicBezTo>
                  <a:cubicBezTo>
                    <a:pt x="2167189" y="4814074"/>
                    <a:pt x="2085103" y="4817255"/>
                    <a:pt x="2006198" y="4817255"/>
                  </a:cubicBezTo>
                  <a:close/>
                  <a:moveTo>
                    <a:pt x="1821982" y="65626"/>
                  </a:moveTo>
                  <a:cubicBezTo>
                    <a:pt x="1728919" y="65626"/>
                    <a:pt x="1640629" y="76125"/>
                    <a:pt x="1547248" y="108735"/>
                  </a:cubicBezTo>
                  <a:cubicBezTo>
                    <a:pt x="1324693" y="186842"/>
                    <a:pt x="1179452" y="347828"/>
                    <a:pt x="1011303" y="534425"/>
                  </a:cubicBezTo>
                  <a:cubicBezTo>
                    <a:pt x="938761" y="614918"/>
                    <a:pt x="863675" y="698116"/>
                    <a:pt x="775067" y="784017"/>
                  </a:cubicBezTo>
                  <a:cubicBezTo>
                    <a:pt x="692503" y="864033"/>
                    <a:pt x="614076" y="930845"/>
                    <a:pt x="538194" y="995431"/>
                  </a:cubicBezTo>
                  <a:cubicBezTo>
                    <a:pt x="358910" y="1147985"/>
                    <a:pt x="217327" y="1268407"/>
                    <a:pt x="133173" y="1467889"/>
                  </a:cubicBezTo>
                  <a:cubicBezTo>
                    <a:pt x="47746" y="1670394"/>
                    <a:pt x="61427" y="1863036"/>
                    <a:pt x="78767" y="2106742"/>
                  </a:cubicBezTo>
                  <a:cubicBezTo>
                    <a:pt x="86085" y="2210142"/>
                    <a:pt x="93721" y="2317201"/>
                    <a:pt x="94993" y="2437781"/>
                  </a:cubicBezTo>
                  <a:cubicBezTo>
                    <a:pt x="95470" y="2491550"/>
                    <a:pt x="95630" y="2543886"/>
                    <a:pt x="95789" y="2595109"/>
                  </a:cubicBezTo>
                  <a:cubicBezTo>
                    <a:pt x="96743" y="2948260"/>
                    <a:pt x="97539" y="3227440"/>
                    <a:pt x="213191" y="3490394"/>
                  </a:cubicBezTo>
                  <a:cubicBezTo>
                    <a:pt x="293845" y="3674605"/>
                    <a:pt x="416020" y="3768460"/>
                    <a:pt x="570647" y="3887291"/>
                  </a:cubicBezTo>
                  <a:cubicBezTo>
                    <a:pt x="667050" y="3961262"/>
                    <a:pt x="776180" y="4045095"/>
                    <a:pt x="893741" y="4165198"/>
                  </a:cubicBezTo>
                  <a:lnTo>
                    <a:pt x="971691" y="4245533"/>
                  </a:lnTo>
                  <a:cubicBezTo>
                    <a:pt x="1150817" y="4430857"/>
                    <a:pt x="1292082" y="4577049"/>
                    <a:pt x="1506523" y="4666450"/>
                  </a:cubicBezTo>
                  <a:cubicBezTo>
                    <a:pt x="1741805" y="4764601"/>
                    <a:pt x="1956088" y="4756488"/>
                    <a:pt x="2252615" y="4744875"/>
                  </a:cubicBezTo>
                  <a:cubicBezTo>
                    <a:pt x="2329929" y="4741852"/>
                    <a:pt x="2412333" y="4738830"/>
                    <a:pt x="2501419" y="4737240"/>
                  </a:cubicBezTo>
                  <a:cubicBezTo>
                    <a:pt x="2591459" y="4735808"/>
                    <a:pt x="2671795" y="4736921"/>
                    <a:pt x="2745450" y="4738035"/>
                  </a:cubicBezTo>
                  <a:cubicBezTo>
                    <a:pt x="2957188" y="4741057"/>
                    <a:pt x="3110383" y="4743443"/>
                    <a:pt x="3291099" y="4678222"/>
                  </a:cubicBezTo>
                  <a:cubicBezTo>
                    <a:pt x="3600513" y="4567186"/>
                    <a:pt x="3783616" y="4360386"/>
                    <a:pt x="4037191" y="4074206"/>
                  </a:cubicBezTo>
                  <a:cubicBezTo>
                    <a:pt x="4086666" y="4018211"/>
                    <a:pt x="4138686" y="3959671"/>
                    <a:pt x="4194364" y="3898426"/>
                  </a:cubicBezTo>
                  <a:cubicBezTo>
                    <a:pt x="4242248" y="3845931"/>
                    <a:pt x="4287427" y="3798208"/>
                    <a:pt x="4329902" y="3753348"/>
                  </a:cubicBezTo>
                  <a:cubicBezTo>
                    <a:pt x="4497255" y="3576455"/>
                    <a:pt x="4618316" y="3448716"/>
                    <a:pt x="4686085" y="3254642"/>
                  </a:cubicBezTo>
                  <a:cubicBezTo>
                    <a:pt x="4759899" y="3043388"/>
                    <a:pt x="4746218" y="2854881"/>
                    <a:pt x="4729037" y="2616266"/>
                  </a:cubicBezTo>
                  <a:cubicBezTo>
                    <a:pt x="4721242" y="2509684"/>
                    <a:pt x="4713447" y="2399285"/>
                    <a:pt x="4712333" y="2274091"/>
                  </a:cubicBezTo>
                  <a:cubicBezTo>
                    <a:pt x="4711697" y="2206006"/>
                    <a:pt x="4713447" y="2144921"/>
                    <a:pt x="4714879" y="2087812"/>
                  </a:cubicBezTo>
                  <a:cubicBezTo>
                    <a:pt x="4718856" y="1938439"/>
                    <a:pt x="4722038" y="1820404"/>
                    <a:pt x="4682267" y="1679461"/>
                  </a:cubicBezTo>
                  <a:cubicBezTo>
                    <a:pt x="4598590" y="1378965"/>
                    <a:pt x="4409601" y="1181551"/>
                    <a:pt x="4170343" y="931482"/>
                  </a:cubicBezTo>
                  <a:lnTo>
                    <a:pt x="4077439" y="833967"/>
                  </a:lnTo>
                  <a:cubicBezTo>
                    <a:pt x="4015557" y="768746"/>
                    <a:pt x="3959083" y="706229"/>
                    <a:pt x="3905631" y="646734"/>
                  </a:cubicBezTo>
                  <a:cubicBezTo>
                    <a:pt x="3706620" y="425935"/>
                    <a:pt x="3549289" y="251427"/>
                    <a:pt x="3301917" y="154868"/>
                  </a:cubicBezTo>
                  <a:cubicBezTo>
                    <a:pt x="3090179" y="72148"/>
                    <a:pt x="2899759" y="79942"/>
                    <a:pt x="2658592" y="89646"/>
                  </a:cubicBezTo>
                  <a:cubicBezTo>
                    <a:pt x="2567597" y="93305"/>
                    <a:pt x="2473580" y="97600"/>
                    <a:pt x="2368745" y="96646"/>
                  </a:cubicBezTo>
                  <a:lnTo>
                    <a:pt x="2368745" y="96646"/>
                  </a:lnTo>
                  <a:cubicBezTo>
                    <a:pt x="2253570" y="95850"/>
                    <a:pt x="2149531" y="86942"/>
                    <a:pt x="2057900" y="79147"/>
                  </a:cubicBezTo>
                  <a:cubicBezTo>
                    <a:pt x="1972791" y="72307"/>
                    <a:pt x="1895955" y="65626"/>
                    <a:pt x="1821982" y="65626"/>
                  </a:cubicBezTo>
                  <a:close/>
                </a:path>
              </a:pathLst>
            </a:custGeom>
            <a:gradFill>
              <a:gsLst>
                <a:gs pos="100000">
                  <a:schemeClr val="accent2"/>
                </a:gs>
                <a:gs pos="0">
                  <a:schemeClr val="accent1"/>
                </a:gs>
              </a:gsLst>
              <a:lin ang="0" scaled="1"/>
            </a:gradFill>
            <a:ln w="1589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36" name="Freeform 35">
              <a:extLst>
                <a:ext uri="{FF2B5EF4-FFF2-40B4-BE49-F238E27FC236}">
                  <a16:creationId xmlns:a16="http://schemas.microsoft.com/office/drawing/2014/main" id="{B7EFBAC7-8786-5630-1F8E-A365810439F3}"/>
                </a:ext>
              </a:extLst>
            </p:cNvPr>
            <p:cNvSpPr/>
            <p:nvPr/>
          </p:nvSpPr>
          <p:spPr>
            <a:xfrm>
              <a:off x="-2360099" y="1062053"/>
              <a:ext cx="4709579" cy="4722462"/>
            </a:xfrm>
            <a:custGeom>
              <a:avLst/>
              <a:gdLst>
                <a:gd name="connsiteX0" fmla="*/ 2051799 w 4709579"/>
                <a:gd name="connsiteY0" fmla="*/ 4722463 h 4722462"/>
                <a:gd name="connsiteX1" fmla="*/ 1442040 w 4709579"/>
                <a:gd name="connsiteY1" fmla="*/ 4622403 h 4722462"/>
                <a:gd name="connsiteX2" fmla="*/ 852325 w 4709579"/>
                <a:gd name="connsiteY2" fmla="*/ 4166330 h 4722462"/>
                <a:gd name="connsiteX3" fmla="*/ 815259 w 4709579"/>
                <a:gd name="connsiteY3" fmla="*/ 4128787 h 4722462"/>
                <a:gd name="connsiteX4" fmla="*/ 540048 w 4709579"/>
                <a:gd name="connsiteY4" fmla="*/ 3884286 h 4722462"/>
                <a:gd name="connsiteX5" fmla="*/ 152048 w 4709579"/>
                <a:gd name="connsiteY5" fmla="*/ 3434894 h 4722462"/>
                <a:gd name="connsiteX6" fmla="*/ 16351 w 4709579"/>
                <a:gd name="connsiteY6" fmla="*/ 2441617 h 4722462"/>
                <a:gd name="connsiteX7" fmla="*/ 15874 w 4709579"/>
                <a:gd name="connsiteY7" fmla="*/ 2385144 h 4722462"/>
                <a:gd name="connsiteX8" fmla="*/ 7284 w 4709579"/>
                <a:gd name="connsiteY8" fmla="*/ 2118213 h 4722462"/>
                <a:gd name="connsiteX9" fmla="*/ 81257 w 4709579"/>
                <a:gd name="connsiteY9" fmla="*/ 1412389 h 4722462"/>
                <a:gd name="connsiteX10" fmla="*/ 517140 w 4709579"/>
                <a:gd name="connsiteY10" fmla="*/ 884889 h 4722462"/>
                <a:gd name="connsiteX11" fmla="*/ 708197 w 4709579"/>
                <a:gd name="connsiteY11" fmla="*/ 709109 h 4722462"/>
                <a:gd name="connsiteX12" fmla="*/ 903072 w 4709579"/>
                <a:gd name="connsiteY12" fmla="*/ 509468 h 4722462"/>
                <a:gd name="connsiteX13" fmla="*/ 1502013 w 4709579"/>
                <a:gd name="connsiteY13" fmla="*/ 52440 h 4722462"/>
                <a:gd name="connsiteX14" fmla="*/ 2064367 w 4709579"/>
                <a:gd name="connsiteY14" fmla="*/ 8534 h 4722462"/>
                <a:gd name="connsiteX15" fmla="*/ 2326056 w 4709579"/>
                <a:gd name="connsiteY15" fmla="*/ 18715 h 4722462"/>
                <a:gd name="connsiteX16" fmla="*/ 2548770 w 4709579"/>
                <a:gd name="connsiteY16" fmla="*/ 16329 h 4722462"/>
                <a:gd name="connsiteX17" fmla="*/ 3266864 w 4709579"/>
                <a:gd name="connsiteY17" fmla="*/ 100799 h 4722462"/>
                <a:gd name="connsiteX18" fmla="*/ 3942960 w 4709579"/>
                <a:gd name="connsiteY18" fmla="*/ 646274 h 4722462"/>
                <a:gd name="connsiteX19" fmla="*/ 4061634 w 4709579"/>
                <a:gd name="connsiteY19" fmla="*/ 774490 h 4722462"/>
                <a:gd name="connsiteX20" fmla="*/ 4091383 w 4709579"/>
                <a:gd name="connsiteY20" fmla="*/ 806305 h 4722462"/>
                <a:gd name="connsiteX21" fmla="*/ 4654850 w 4709579"/>
                <a:gd name="connsiteY21" fmla="*/ 1646391 h 4722462"/>
                <a:gd name="connsiteX22" fmla="*/ 4694461 w 4709579"/>
                <a:gd name="connsiteY22" fmla="*/ 2097692 h 4722462"/>
                <a:gd name="connsiteX23" fmla="*/ 4693666 w 4709579"/>
                <a:gd name="connsiteY23" fmla="*/ 2247543 h 4722462"/>
                <a:gd name="connsiteX24" fmla="*/ 4702256 w 4709579"/>
                <a:gd name="connsiteY24" fmla="*/ 2522746 h 4722462"/>
                <a:gd name="connsiteX25" fmla="*/ 4638464 w 4709579"/>
                <a:gd name="connsiteY25" fmla="*/ 3227934 h 4722462"/>
                <a:gd name="connsiteX26" fmla="*/ 4248397 w 4709579"/>
                <a:gd name="connsiteY26" fmla="*/ 3778659 h 4722462"/>
                <a:gd name="connsiteX27" fmla="*/ 4151675 w 4709579"/>
                <a:gd name="connsiteY27" fmla="*/ 3883332 h 4722462"/>
                <a:gd name="connsiteX28" fmla="*/ 4061953 w 4709579"/>
                <a:gd name="connsiteY28" fmla="*/ 3982118 h 4722462"/>
                <a:gd name="connsiteX29" fmla="*/ 3228048 w 4709579"/>
                <a:gd name="connsiteY29" fmla="*/ 4644356 h 4722462"/>
                <a:gd name="connsiteX30" fmla="*/ 2624811 w 4709579"/>
                <a:gd name="connsiteY30" fmla="*/ 4714986 h 4722462"/>
                <a:gd name="connsiteX31" fmla="*/ 2436935 w 4709579"/>
                <a:gd name="connsiteY31" fmla="*/ 4715781 h 4722462"/>
                <a:gd name="connsiteX32" fmla="*/ 2270059 w 4709579"/>
                <a:gd name="connsiteY32" fmla="*/ 4719122 h 4722462"/>
                <a:gd name="connsiteX33" fmla="*/ 2051799 w 4709579"/>
                <a:gd name="connsiteY33" fmla="*/ 4722463 h 4722462"/>
                <a:gd name="connsiteX34" fmla="*/ 1844993 w 4709579"/>
                <a:gd name="connsiteY34" fmla="*/ 68824 h 4722462"/>
                <a:gd name="connsiteX35" fmla="*/ 1524762 w 4709579"/>
                <a:gd name="connsiteY35" fmla="*/ 117502 h 4722462"/>
                <a:gd name="connsiteX36" fmla="*/ 953023 w 4709579"/>
                <a:gd name="connsiteY36" fmla="*/ 556714 h 4722462"/>
                <a:gd name="connsiteX37" fmla="*/ 756080 w 4709579"/>
                <a:gd name="connsiteY37" fmla="*/ 758423 h 4722462"/>
                <a:gd name="connsiteX38" fmla="*/ 562955 w 4709579"/>
                <a:gd name="connsiteY38" fmla="*/ 936112 h 4722462"/>
                <a:gd name="connsiteX39" fmla="*/ 144730 w 4709579"/>
                <a:gd name="connsiteY39" fmla="*/ 1439114 h 4722462"/>
                <a:gd name="connsiteX40" fmla="*/ 76166 w 4709579"/>
                <a:gd name="connsiteY40" fmla="*/ 2114873 h 4722462"/>
                <a:gd name="connsiteX41" fmla="*/ 84916 w 4709579"/>
                <a:gd name="connsiteY41" fmla="*/ 2384349 h 4722462"/>
                <a:gd name="connsiteX42" fmla="*/ 85393 w 4709579"/>
                <a:gd name="connsiteY42" fmla="*/ 2440821 h 4722462"/>
                <a:gd name="connsiteX43" fmla="*/ 215203 w 4709579"/>
                <a:gd name="connsiteY43" fmla="*/ 3406737 h 4722462"/>
                <a:gd name="connsiteX44" fmla="*/ 583954 w 4709579"/>
                <a:gd name="connsiteY44" fmla="*/ 3830836 h 4722462"/>
                <a:gd name="connsiteX45" fmla="*/ 864256 w 4709579"/>
                <a:gd name="connsiteY45" fmla="*/ 4080110 h 4722462"/>
                <a:gd name="connsiteX46" fmla="*/ 901481 w 4709579"/>
                <a:gd name="connsiteY46" fmla="*/ 4117652 h 4722462"/>
                <a:gd name="connsiteX47" fmla="*/ 1468924 w 4709579"/>
                <a:gd name="connsiteY47" fmla="*/ 4558613 h 4722462"/>
                <a:gd name="connsiteX48" fmla="*/ 2268786 w 4709579"/>
                <a:gd name="connsiteY48" fmla="*/ 4649924 h 4722462"/>
                <a:gd name="connsiteX49" fmla="*/ 2436140 w 4709579"/>
                <a:gd name="connsiteY49" fmla="*/ 4646424 h 4722462"/>
                <a:gd name="connsiteX50" fmla="*/ 2625129 w 4709579"/>
                <a:gd name="connsiteY50" fmla="*/ 4645788 h 4722462"/>
                <a:gd name="connsiteX51" fmla="*/ 3204981 w 4709579"/>
                <a:gd name="connsiteY51" fmla="*/ 4579293 h 4722462"/>
                <a:gd name="connsiteX52" fmla="*/ 4010887 w 4709579"/>
                <a:gd name="connsiteY52" fmla="*/ 3935668 h 4722462"/>
                <a:gd name="connsiteX53" fmla="*/ 4100769 w 4709579"/>
                <a:gd name="connsiteY53" fmla="*/ 3836722 h 4722462"/>
                <a:gd name="connsiteX54" fmla="*/ 4197808 w 4709579"/>
                <a:gd name="connsiteY54" fmla="*/ 3731572 h 4722462"/>
                <a:gd name="connsiteX55" fmla="*/ 4573559 w 4709579"/>
                <a:gd name="connsiteY55" fmla="*/ 3204232 h 4722462"/>
                <a:gd name="connsiteX56" fmla="*/ 4633215 w 4709579"/>
                <a:gd name="connsiteY56" fmla="*/ 2525450 h 4722462"/>
                <a:gd name="connsiteX57" fmla="*/ 4624624 w 4709579"/>
                <a:gd name="connsiteY57" fmla="*/ 2247861 h 4722462"/>
                <a:gd name="connsiteX58" fmla="*/ 4625419 w 4709579"/>
                <a:gd name="connsiteY58" fmla="*/ 2096579 h 4722462"/>
                <a:gd name="connsiteX59" fmla="*/ 4588354 w 4709579"/>
                <a:gd name="connsiteY59" fmla="*/ 1664685 h 4722462"/>
                <a:gd name="connsiteX60" fmla="*/ 4040954 w 4709579"/>
                <a:gd name="connsiteY60" fmla="*/ 853233 h 4722462"/>
                <a:gd name="connsiteX61" fmla="*/ 4011365 w 4709579"/>
                <a:gd name="connsiteY61" fmla="*/ 821577 h 4722462"/>
                <a:gd name="connsiteX62" fmla="*/ 3892213 w 4709579"/>
                <a:gd name="connsiteY62" fmla="*/ 692724 h 4722462"/>
                <a:gd name="connsiteX63" fmla="*/ 3241570 w 4709579"/>
                <a:gd name="connsiteY63" fmla="*/ 164748 h 4722462"/>
                <a:gd name="connsiteX64" fmla="*/ 2550201 w 4709579"/>
                <a:gd name="connsiteY64" fmla="*/ 85209 h 4722462"/>
                <a:gd name="connsiteX65" fmla="*/ 2325737 w 4709579"/>
                <a:gd name="connsiteY65" fmla="*/ 87596 h 4722462"/>
                <a:gd name="connsiteX66" fmla="*/ 2325737 w 4709579"/>
                <a:gd name="connsiteY66" fmla="*/ 87596 h 4722462"/>
                <a:gd name="connsiteX67" fmla="*/ 2060390 w 4709579"/>
                <a:gd name="connsiteY67" fmla="*/ 77256 h 4722462"/>
                <a:gd name="connsiteX68" fmla="*/ 1844993 w 4709579"/>
                <a:gd name="connsiteY68" fmla="*/ 68824 h 4722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4709579" h="4722462">
                  <a:moveTo>
                    <a:pt x="2051799" y="4722463"/>
                  </a:moveTo>
                  <a:cubicBezTo>
                    <a:pt x="1832426" y="4722463"/>
                    <a:pt x="1640733" y="4705759"/>
                    <a:pt x="1442040" y="4622403"/>
                  </a:cubicBezTo>
                  <a:cubicBezTo>
                    <a:pt x="1205645" y="4523298"/>
                    <a:pt x="1049586" y="4365653"/>
                    <a:pt x="852325" y="4166330"/>
                  </a:cubicBezTo>
                  <a:lnTo>
                    <a:pt x="815259" y="4128787"/>
                  </a:lnTo>
                  <a:cubicBezTo>
                    <a:pt x="716787" y="4029523"/>
                    <a:pt x="622929" y="3952371"/>
                    <a:pt x="540048" y="3884286"/>
                  </a:cubicBezTo>
                  <a:cubicBezTo>
                    <a:pt x="380330" y="3753047"/>
                    <a:pt x="242406" y="3639626"/>
                    <a:pt x="152048" y="3434894"/>
                  </a:cubicBezTo>
                  <a:cubicBezTo>
                    <a:pt x="21442" y="3140283"/>
                    <a:pt x="19056" y="2816561"/>
                    <a:pt x="16351" y="2441617"/>
                  </a:cubicBezTo>
                  <a:lnTo>
                    <a:pt x="15874" y="2385144"/>
                  </a:lnTo>
                  <a:cubicBezTo>
                    <a:pt x="15079" y="2290016"/>
                    <a:pt x="10943" y="2201729"/>
                    <a:pt x="7284" y="2118213"/>
                  </a:cubicBezTo>
                  <a:cubicBezTo>
                    <a:pt x="-4329" y="1860986"/>
                    <a:pt x="-14510" y="1638596"/>
                    <a:pt x="81257" y="1412389"/>
                  </a:cubicBezTo>
                  <a:cubicBezTo>
                    <a:pt x="175115" y="1190476"/>
                    <a:pt x="333719" y="1048739"/>
                    <a:pt x="517140" y="884889"/>
                  </a:cubicBezTo>
                  <a:cubicBezTo>
                    <a:pt x="578068" y="830485"/>
                    <a:pt x="642178" y="773217"/>
                    <a:pt x="708197" y="709109"/>
                  </a:cubicBezTo>
                  <a:cubicBezTo>
                    <a:pt x="778511" y="640865"/>
                    <a:pt x="841825" y="574053"/>
                    <a:pt x="903072" y="509468"/>
                  </a:cubicBezTo>
                  <a:cubicBezTo>
                    <a:pt x="1091106" y="311258"/>
                    <a:pt x="1253369" y="139932"/>
                    <a:pt x="1502013" y="52440"/>
                  </a:cubicBezTo>
                  <a:cubicBezTo>
                    <a:pt x="1688934" y="-13259"/>
                    <a:pt x="1862810" y="-3078"/>
                    <a:pt x="2064367" y="8534"/>
                  </a:cubicBezTo>
                  <a:cubicBezTo>
                    <a:pt x="2146612" y="13307"/>
                    <a:pt x="2231720" y="18238"/>
                    <a:pt x="2326056" y="18715"/>
                  </a:cubicBezTo>
                  <a:cubicBezTo>
                    <a:pt x="2404642" y="19511"/>
                    <a:pt x="2478456" y="17761"/>
                    <a:pt x="2548770" y="16329"/>
                  </a:cubicBezTo>
                  <a:cubicBezTo>
                    <a:pt x="2806959" y="11239"/>
                    <a:pt x="3030150" y="7103"/>
                    <a:pt x="3266864" y="100799"/>
                  </a:cubicBezTo>
                  <a:cubicBezTo>
                    <a:pt x="3544142" y="211676"/>
                    <a:pt x="3720087" y="403522"/>
                    <a:pt x="3942960" y="646274"/>
                  </a:cubicBezTo>
                  <a:cubicBezTo>
                    <a:pt x="3980981" y="687634"/>
                    <a:pt x="4020273" y="730426"/>
                    <a:pt x="4061634" y="774490"/>
                  </a:cubicBezTo>
                  <a:lnTo>
                    <a:pt x="4091383" y="806305"/>
                  </a:lnTo>
                  <a:cubicBezTo>
                    <a:pt x="4354186" y="1087235"/>
                    <a:pt x="4561787" y="1308989"/>
                    <a:pt x="4654850" y="1646391"/>
                  </a:cubicBezTo>
                  <a:cubicBezTo>
                    <a:pt x="4698279" y="1802446"/>
                    <a:pt x="4696688" y="1932729"/>
                    <a:pt x="4694461" y="2097692"/>
                  </a:cubicBezTo>
                  <a:cubicBezTo>
                    <a:pt x="4693825" y="2144461"/>
                    <a:pt x="4693188" y="2194093"/>
                    <a:pt x="4693666" y="2247543"/>
                  </a:cubicBezTo>
                  <a:cubicBezTo>
                    <a:pt x="4694302" y="2345852"/>
                    <a:pt x="4698438" y="2436685"/>
                    <a:pt x="4702256" y="2522746"/>
                  </a:cubicBezTo>
                  <a:cubicBezTo>
                    <a:pt x="4713551" y="2775678"/>
                    <a:pt x="4723254" y="2994091"/>
                    <a:pt x="4638464" y="3227934"/>
                  </a:cubicBezTo>
                  <a:cubicBezTo>
                    <a:pt x="4560514" y="3443325"/>
                    <a:pt x="4422750" y="3591266"/>
                    <a:pt x="4248397" y="3778659"/>
                  </a:cubicBezTo>
                  <a:cubicBezTo>
                    <a:pt x="4217535" y="3811906"/>
                    <a:pt x="4185241" y="3846585"/>
                    <a:pt x="4151675" y="3883332"/>
                  </a:cubicBezTo>
                  <a:lnTo>
                    <a:pt x="4061953" y="3982118"/>
                  </a:lnTo>
                  <a:cubicBezTo>
                    <a:pt x="3788969" y="4283569"/>
                    <a:pt x="3573255" y="4521708"/>
                    <a:pt x="3228048" y="4644356"/>
                  </a:cubicBezTo>
                  <a:cubicBezTo>
                    <a:pt x="3027923" y="4715941"/>
                    <a:pt x="2849911" y="4715145"/>
                    <a:pt x="2624811" y="4714986"/>
                  </a:cubicBezTo>
                  <a:cubicBezTo>
                    <a:pt x="2566428" y="4714827"/>
                    <a:pt x="2504386" y="4714668"/>
                    <a:pt x="2436935" y="4715781"/>
                  </a:cubicBezTo>
                  <a:cubicBezTo>
                    <a:pt x="2378712" y="4716577"/>
                    <a:pt x="2323351" y="4717849"/>
                    <a:pt x="2270059" y="4719122"/>
                  </a:cubicBezTo>
                  <a:cubicBezTo>
                    <a:pt x="2194018" y="4720872"/>
                    <a:pt x="2121477" y="4722463"/>
                    <a:pt x="2051799" y="4722463"/>
                  </a:cubicBezTo>
                  <a:close/>
                  <a:moveTo>
                    <a:pt x="1844993" y="68824"/>
                  </a:moveTo>
                  <a:cubicBezTo>
                    <a:pt x="1734750" y="68824"/>
                    <a:pt x="1632460" y="79801"/>
                    <a:pt x="1524762" y="117502"/>
                  </a:cubicBezTo>
                  <a:cubicBezTo>
                    <a:pt x="1291867" y="199268"/>
                    <a:pt x="1134853" y="365026"/>
                    <a:pt x="953023" y="556714"/>
                  </a:cubicBezTo>
                  <a:cubicBezTo>
                    <a:pt x="891300" y="621776"/>
                    <a:pt x="827508" y="689225"/>
                    <a:pt x="756080" y="758423"/>
                  </a:cubicBezTo>
                  <a:cubicBezTo>
                    <a:pt x="689425" y="823168"/>
                    <a:pt x="624520" y="881072"/>
                    <a:pt x="562955" y="936112"/>
                  </a:cubicBezTo>
                  <a:cubicBezTo>
                    <a:pt x="385739" y="1094553"/>
                    <a:pt x="232702" y="1231359"/>
                    <a:pt x="144730" y="1439114"/>
                  </a:cubicBezTo>
                  <a:cubicBezTo>
                    <a:pt x="55008" y="1651004"/>
                    <a:pt x="64394" y="1855736"/>
                    <a:pt x="76166" y="2114873"/>
                  </a:cubicBezTo>
                  <a:cubicBezTo>
                    <a:pt x="79984" y="2199183"/>
                    <a:pt x="83961" y="2288426"/>
                    <a:pt x="84916" y="2384349"/>
                  </a:cubicBezTo>
                  <a:lnTo>
                    <a:pt x="85393" y="2440821"/>
                  </a:lnTo>
                  <a:cubicBezTo>
                    <a:pt x="88256" y="2823083"/>
                    <a:pt x="90483" y="3125171"/>
                    <a:pt x="215203" y="3406737"/>
                  </a:cubicBezTo>
                  <a:cubicBezTo>
                    <a:pt x="299039" y="3596516"/>
                    <a:pt x="424714" y="3699916"/>
                    <a:pt x="583954" y="3830836"/>
                  </a:cubicBezTo>
                  <a:cubicBezTo>
                    <a:pt x="667949" y="3900034"/>
                    <a:pt x="763239" y="3978459"/>
                    <a:pt x="864256" y="4080110"/>
                  </a:cubicBezTo>
                  <a:lnTo>
                    <a:pt x="901481" y="4117652"/>
                  </a:lnTo>
                  <a:cubicBezTo>
                    <a:pt x="1093492" y="4311567"/>
                    <a:pt x="1245097" y="4464917"/>
                    <a:pt x="1468924" y="4558613"/>
                  </a:cubicBezTo>
                  <a:cubicBezTo>
                    <a:pt x="1717092" y="4662809"/>
                    <a:pt x="1948237" y="4657400"/>
                    <a:pt x="2268786" y="4649924"/>
                  </a:cubicBezTo>
                  <a:cubicBezTo>
                    <a:pt x="2322238" y="4648651"/>
                    <a:pt x="2377757" y="4647378"/>
                    <a:pt x="2436140" y="4646424"/>
                  </a:cubicBezTo>
                  <a:cubicBezTo>
                    <a:pt x="2503909" y="4645470"/>
                    <a:pt x="2566428" y="4645628"/>
                    <a:pt x="2625129" y="4645788"/>
                  </a:cubicBezTo>
                  <a:cubicBezTo>
                    <a:pt x="2851661" y="4646105"/>
                    <a:pt x="3016151" y="4646742"/>
                    <a:pt x="3204981" y="4579293"/>
                  </a:cubicBezTo>
                  <a:cubicBezTo>
                    <a:pt x="3533802" y="4462372"/>
                    <a:pt x="3733927" y="4241414"/>
                    <a:pt x="4010887" y="3935668"/>
                  </a:cubicBezTo>
                  <a:lnTo>
                    <a:pt x="4100769" y="3836722"/>
                  </a:lnTo>
                  <a:cubicBezTo>
                    <a:pt x="4134494" y="3799816"/>
                    <a:pt x="4166946" y="3764978"/>
                    <a:pt x="4197808" y="3731572"/>
                  </a:cubicBezTo>
                  <a:cubicBezTo>
                    <a:pt x="4373434" y="3542907"/>
                    <a:pt x="4500222" y="3406419"/>
                    <a:pt x="4573559" y="3204232"/>
                  </a:cubicBezTo>
                  <a:cubicBezTo>
                    <a:pt x="4653577" y="2983274"/>
                    <a:pt x="4644668" y="2781246"/>
                    <a:pt x="4633215" y="2525450"/>
                  </a:cubicBezTo>
                  <a:cubicBezTo>
                    <a:pt x="4629396" y="2438754"/>
                    <a:pt x="4625261" y="2346966"/>
                    <a:pt x="4624624" y="2247861"/>
                  </a:cubicBezTo>
                  <a:cubicBezTo>
                    <a:pt x="4624306" y="2193775"/>
                    <a:pt x="4624783" y="2143825"/>
                    <a:pt x="4625419" y="2096579"/>
                  </a:cubicBezTo>
                  <a:cubicBezTo>
                    <a:pt x="4627488" y="1937184"/>
                    <a:pt x="4629078" y="1811195"/>
                    <a:pt x="4588354" y="1664685"/>
                  </a:cubicBezTo>
                  <a:cubicBezTo>
                    <a:pt x="4499745" y="1343667"/>
                    <a:pt x="4297234" y="1127164"/>
                    <a:pt x="4040954" y="853233"/>
                  </a:cubicBezTo>
                  <a:lnTo>
                    <a:pt x="4011365" y="821577"/>
                  </a:lnTo>
                  <a:cubicBezTo>
                    <a:pt x="3969845" y="777353"/>
                    <a:pt x="3930392" y="734244"/>
                    <a:pt x="3892213" y="692724"/>
                  </a:cubicBezTo>
                  <a:cubicBezTo>
                    <a:pt x="3675385" y="456336"/>
                    <a:pt x="3504054" y="269739"/>
                    <a:pt x="3241570" y="164748"/>
                  </a:cubicBezTo>
                  <a:cubicBezTo>
                    <a:pt x="3017742" y="76301"/>
                    <a:pt x="2811572" y="79960"/>
                    <a:pt x="2550201" y="85209"/>
                  </a:cubicBezTo>
                  <a:cubicBezTo>
                    <a:pt x="2479251" y="86641"/>
                    <a:pt x="2404960" y="87914"/>
                    <a:pt x="2325737" y="87596"/>
                  </a:cubicBezTo>
                  <a:lnTo>
                    <a:pt x="2325737" y="87596"/>
                  </a:lnTo>
                  <a:cubicBezTo>
                    <a:pt x="2229652" y="86959"/>
                    <a:pt x="2143589" y="82028"/>
                    <a:pt x="2060390" y="77256"/>
                  </a:cubicBezTo>
                  <a:cubicBezTo>
                    <a:pt x="1983394" y="72961"/>
                    <a:pt x="1912762" y="68824"/>
                    <a:pt x="1844993" y="68824"/>
                  </a:cubicBezTo>
                  <a:close/>
                </a:path>
              </a:pathLst>
            </a:custGeom>
            <a:gradFill>
              <a:gsLst>
                <a:gs pos="100000">
                  <a:schemeClr val="accent2"/>
                </a:gs>
                <a:gs pos="0">
                  <a:schemeClr val="accent1"/>
                </a:gs>
              </a:gsLst>
              <a:lin ang="0" scaled="1"/>
            </a:gradFill>
            <a:ln w="1589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37" name="Freeform 36">
              <a:extLst>
                <a:ext uri="{FF2B5EF4-FFF2-40B4-BE49-F238E27FC236}">
                  <a16:creationId xmlns:a16="http://schemas.microsoft.com/office/drawing/2014/main" id="{CEECFD5B-912E-24F0-276E-4B755B4A7B0A}"/>
                </a:ext>
              </a:extLst>
            </p:cNvPr>
            <p:cNvSpPr/>
            <p:nvPr/>
          </p:nvSpPr>
          <p:spPr>
            <a:xfrm>
              <a:off x="-2313758" y="1108657"/>
              <a:ext cx="4618544" cy="4632908"/>
            </a:xfrm>
            <a:custGeom>
              <a:avLst/>
              <a:gdLst>
                <a:gd name="connsiteX0" fmla="*/ 2123497 w 4618544"/>
                <a:gd name="connsiteY0" fmla="*/ 4632908 h 4632908"/>
                <a:gd name="connsiteX1" fmla="*/ 1406358 w 4618544"/>
                <a:gd name="connsiteY1" fmla="*/ 4519964 h 4632908"/>
                <a:gd name="connsiteX2" fmla="*/ 787212 w 4618544"/>
                <a:gd name="connsiteY2" fmla="*/ 4048777 h 4632908"/>
                <a:gd name="connsiteX3" fmla="*/ 561635 w 4618544"/>
                <a:gd name="connsiteY3" fmla="*/ 3841819 h 4632908"/>
                <a:gd name="connsiteX4" fmla="*/ 154863 w 4618544"/>
                <a:gd name="connsiteY4" fmla="*/ 3354884 h 4632908"/>
                <a:gd name="connsiteX5" fmla="*/ 6122 w 4618544"/>
                <a:gd name="connsiteY5" fmla="*/ 2333769 h 4632908"/>
                <a:gd name="connsiteX6" fmla="*/ 2941 w 4618544"/>
                <a:gd name="connsiteY6" fmla="*/ 2148285 h 4632908"/>
                <a:gd name="connsiteX7" fmla="*/ 93617 w 4618544"/>
                <a:gd name="connsiteY7" fmla="*/ 1384715 h 4632908"/>
                <a:gd name="connsiteX8" fmla="*/ 553204 w 4618544"/>
                <a:gd name="connsiteY8" fmla="*/ 813470 h 4632908"/>
                <a:gd name="connsiteX9" fmla="*/ 690332 w 4618544"/>
                <a:gd name="connsiteY9" fmla="*/ 683504 h 4632908"/>
                <a:gd name="connsiteX10" fmla="*/ 831755 w 4618544"/>
                <a:gd name="connsiteY10" fmla="*/ 542721 h 4632908"/>
                <a:gd name="connsiteX11" fmla="*/ 1481762 w 4618544"/>
                <a:gd name="connsiteY11" fmla="*/ 60559 h 4632908"/>
                <a:gd name="connsiteX12" fmla="*/ 2083249 w 4618544"/>
                <a:gd name="connsiteY12" fmla="*/ 3927 h 4632908"/>
                <a:gd name="connsiteX13" fmla="*/ 2286555 w 4618544"/>
                <a:gd name="connsiteY13" fmla="*/ 8540 h 4632908"/>
                <a:gd name="connsiteX14" fmla="*/ 2419070 w 4618544"/>
                <a:gd name="connsiteY14" fmla="*/ 8540 h 4632908"/>
                <a:gd name="connsiteX15" fmla="*/ 3211614 w 4618544"/>
                <a:gd name="connsiteY15" fmla="*/ 110032 h 4632908"/>
                <a:gd name="connsiteX16" fmla="*/ 3953411 w 4618544"/>
                <a:gd name="connsiteY16" fmla="*/ 710547 h 4632908"/>
                <a:gd name="connsiteX17" fmla="*/ 4001613 w 4618544"/>
                <a:gd name="connsiteY17" fmla="*/ 762565 h 4632908"/>
                <a:gd name="connsiteX18" fmla="*/ 4567625 w 4618544"/>
                <a:gd name="connsiteY18" fmla="*/ 1633194 h 4632908"/>
                <a:gd name="connsiteX19" fmla="*/ 4612645 w 4618544"/>
                <a:gd name="connsiteY19" fmla="*/ 2121242 h 4632908"/>
                <a:gd name="connsiteX20" fmla="*/ 4612804 w 4618544"/>
                <a:gd name="connsiteY20" fmla="*/ 2223847 h 4632908"/>
                <a:gd name="connsiteX21" fmla="*/ 4615827 w 4618544"/>
                <a:gd name="connsiteY21" fmla="*/ 2411398 h 4632908"/>
                <a:gd name="connsiteX22" fmla="*/ 4532468 w 4618544"/>
                <a:gd name="connsiteY22" fmla="*/ 3181808 h 4632908"/>
                <a:gd name="connsiteX23" fmla="*/ 4111697 w 4618544"/>
                <a:gd name="connsiteY23" fmla="*/ 3774370 h 4632908"/>
                <a:gd name="connsiteX24" fmla="*/ 4064291 w 4618544"/>
                <a:gd name="connsiteY24" fmla="*/ 3826070 h 4632908"/>
                <a:gd name="connsiteX25" fmla="*/ 3146709 w 4618544"/>
                <a:gd name="connsiteY25" fmla="*/ 4550824 h 4632908"/>
                <a:gd name="connsiteX26" fmla="*/ 2490975 w 4618544"/>
                <a:gd name="connsiteY26" fmla="*/ 4629409 h 4632908"/>
                <a:gd name="connsiteX27" fmla="*/ 2319804 w 4618544"/>
                <a:gd name="connsiteY27" fmla="*/ 4631159 h 4632908"/>
                <a:gd name="connsiteX28" fmla="*/ 2123497 w 4618544"/>
                <a:gd name="connsiteY28" fmla="*/ 4632908 h 4632908"/>
                <a:gd name="connsiteX29" fmla="*/ 1896965 w 4618544"/>
                <a:gd name="connsiteY29" fmla="*/ 72012 h 4632908"/>
                <a:gd name="connsiteX30" fmla="*/ 1505784 w 4618544"/>
                <a:gd name="connsiteY30" fmla="*/ 128484 h 4632908"/>
                <a:gd name="connsiteX31" fmla="*/ 883139 w 4618544"/>
                <a:gd name="connsiteY31" fmla="*/ 593307 h 4632908"/>
                <a:gd name="connsiteX32" fmla="*/ 740761 w 4618544"/>
                <a:gd name="connsiteY32" fmla="*/ 735045 h 4632908"/>
                <a:gd name="connsiteX33" fmla="*/ 602519 w 4618544"/>
                <a:gd name="connsiteY33" fmla="*/ 865965 h 4632908"/>
                <a:gd name="connsiteX34" fmla="*/ 160113 w 4618544"/>
                <a:gd name="connsiteY34" fmla="*/ 1412713 h 4632908"/>
                <a:gd name="connsiteX35" fmla="*/ 75164 w 4618544"/>
                <a:gd name="connsiteY35" fmla="*/ 2146535 h 4632908"/>
                <a:gd name="connsiteX36" fmla="*/ 78345 w 4618544"/>
                <a:gd name="connsiteY36" fmla="*/ 2333132 h 4632908"/>
                <a:gd name="connsiteX37" fmla="*/ 220882 w 4618544"/>
                <a:gd name="connsiteY37" fmla="*/ 3325296 h 4632908"/>
                <a:gd name="connsiteX38" fmla="*/ 609359 w 4618544"/>
                <a:gd name="connsiteY38" fmla="*/ 3787414 h 4632908"/>
                <a:gd name="connsiteX39" fmla="*/ 838278 w 4618544"/>
                <a:gd name="connsiteY39" fmla="*/ 3997396 h 4632908"/>
                <a:gd name="connsiteX40" fmla="*/ 1434674 w 4618544"/>
                <a:gd name="connsiteY40" fmla="*/ 4453311 h 4632908"/>
                <a:gd name="connsiteX41" fmla="*/ 2318690 w 4618544"/>
                <a:gd name="connsiteY41" fmla="*/ 4558778 h 4632908"/>
                <a:gd name="connsiteX42" fmla="*/ 2490339 w 4618544"/>
                <a:gd name="connsiteY42" fmla="*/ 4557029 h 4632908"/>
                <a:gd name="connsiteX43" fmla="*/ 3122529 w 4618544"/>
                <a:gd name="connsiteY43" fmla="*/ 4482581 h 4632908"/>
                <a:gd name="connsiteX44" fmla="*/ 4010840 w 4618544"/>
                <a:gd name="connsiteY44" fmla="*/ 3777233 h 4632908"/>
                <a:gd name="connsiteX45" fmla="*/ 4058405 w 4618544"/>
                <a:gd name="connsiteY45" fmla="*/ 3725374 h 4632908"/>
                <a:gd name="connsiteX46" fmla="*/ 4464699 w 4618544"/>
                <a:gd name="connsiteY46" fmla="*/ 3156197 h 4632908"/>
                <a:gd name="connsiteX47" fmla="*/ 4543445 w 4618544"/>
                <a:gd name="connsiteY47" fmla="*/ 2412671 h 4632908"/>
                <a:gd name="connsiteX48" fmla="*/ 4540422 w 4618544"/>
                <a:gd name="connsiteY48" fmla="*/ 2224006 h 4632908"/>
                <a:gd name="connsiteX49" fmla="*/ 4540263 w 4618544"/>
                <a:gd name="connsiteY49" fmla="*/ 2120765 h 4632908"/>
                <a:gd name="connsiteX50" fmla="*/ 4497788 w 4618544"/>
                <a:gd name="connsiteY50" fmla="*/ 1651965 h 4632908"/>
                <a:gd name="connsiteX51" fmla="*/ 3948321 w 4618544"/>
                <a:gd name="connsiteY51" fmla="*/ 811243 h 4632908"/>
                <a:gd name="connsiteX52" fmla="*/ 3900119 w 4618544"/>
                <a:gd name="connsiteY52" fmla="*/ 759066 h 4632908"/>
                <a:gd name="connsiteX53" fmla="*/ 3184252 w 4618544"/>
                <a:gd name="connsiteY53" fmla="*/ 176685 h 4632908"/>
                <a:gd name="connsiteX54" fmla="*/ 2418911 w 4618544"/>
                <a:gd name="connsiteY54" fmla="*/ 80443 h 4632908"/>
                <a:gd name="connsiteX55" fmla="*/ 2285760 w 4618544"/>
                <a:gd name="connsiteY55" fmla="*/ 80443 h 4632908"/>
                <a:gd name="connsiteX56" fmla="*/ 2285760 w 4618544"/>
                <a:gd name="connsiteY56" fmla="*/ 80443 h 4632908"/>
                <a:gd name="connsiteX57" fmla="*/ 2080545 w 4618544"/>
                <a:gd name="connsiteY57" fmla="*/ 75830 h 4632908"/>
                <a:gd name="connsiteX58" fmla="*/ 1896965 w 4618544"/>
                <a:gd name="connsiteY58" fmla="*/ 72012 h 4632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4618544" h="4632908">
                  <a:moveTo>
                    <a:pt x="2123497" y="4632908"/>
                  </a:moveTo>
                  <a:cubicBezTo>
                    <a:pt x="1853536" y="4632908"/>
                    <a:pt x="1635912" y="4617001"/>
                    <a:pt x="1406358" y="4519964"/>
                  </a:cubicBezTo>
                  <a:cubicBezTo>
                    <a:pt x="1155168" y="4413859"/>
                    <a:pt x="984632" y="4244761"/>
                    <a:pt x="787212" y="4048777"/>
                  </a:cubicBezTo>
                  <a:cubicBezTo>
                    <a:pt x="707513" y="3969716"/>
                    <a:pt x="633381" y="3904654"/>
                    <a:pt x="561635" y="3841819"/>
                  </a:cubicBezTo>
                  <a:cubicBezTo>
                    <a:pt x="394281" y="3695150"/>
                    <a:pt x="249994" y="3568524"/>
                    <a:pt x="154863" y="3354884"/>
                  </a:cubicBezTo>
                  <a:cubicBezTo>
                    <a:pt x="21553" y="3056614"/>
                    <a:pt x="8827" y="2729870"/>
                    <a:pt x="6122" y="2333769"/>
                  </a:cubicBezTo>
                  <a:cubicBezTo>
                    <a:pt x="5645" y="2269343"/>
                    <a:pt x="4213" y="2207621"/>
                    <a:pt x="2941" y="2148285"/>
                  </a:cubicBezTo>
                  <a:cubicBezTo>
                    <a:pt x="-3423" y="1867991"/>
                    <a:pt x="-8831" y="1625876"/>
                    <a:pt x="93617" y="1384715"/>
                  </a:cubicBezTo>
                  <a:cubicBezTo>
                    <a:pt x="193520" y="1149600"/>
                    <a:pt x="360238" y="993863"/>
                    <a:pt x="553204" y="813470"/>
                  </a:cubicBezTo>
                  <a:cubicBezTo>
                    <a:pt x="597428" y="771951"/>
                    <a:pt x="643403" y="729159"/>
                    <a:pt x="690332" y="683504"/>
                  </a:cubicBezTo>
                  <a:cubicBezTo>
                    <a:pt x="739647" y="635622"/>
                    <a:pt x="786417" y="588376"/>
                    <a:pt x="831755" y="542721"/>
                  </a:cubicBezTo>
                  <a:cubicBezTo>
                    <a:pt x="1038720" y="334012"/>
                    <a:pt x="1217369" y="153778"/>
                    <a:pt x="1481762" y="60559"/>
                  </a:cubicBezTo>
                  <a:cubicBezTo>
                    <a:pt x="1678864" y="-8958"/>
                    <a:pt x="1866262" y="-2913"/>
                    <a:pt x="2083249" y="3927"/>
                  </a:cubicBezTo>
                  <a:cubicBezTo>
                    <a:pt x="2147518" y="5995"/>
                    <a:pt x="2214810" y="8222"/>
                    <a:pt x="2286555" y="8540"/>
                  </a:cubicBezTo>
                  <a:cubicBezTo>
                    <a:pt x="2332053" y="8699"/>
                    <a:pt x="2376118" y="8540"/>
                    <a:pt x="2419070" y="8540"/>
                  </a:cubicBezTo>
                  <a:cubicBezTo>
                    <a:pt x="2718302" y="7427"/>
                    <a:pt x="2955652" y="6950"/>
                    <a:pt x="3211614" y="110032"/>
                  </a:cubicBezTo>
                  <a:cubicBezTo>
                    <a:pt x="3511960" y="232203"/>
                    <a:pt x="3706835" y="443298"/>
                    <a:pt x="3953411" y="710547"/>
                  </a:cubicBezTo>
                  <a:lnTo>
                    <a:pt x="4001613" y="762565"/>
                  </a:lnTo>
                  <a:cubicBezTo>
                    <a:pt x="4274597" y="1058289"/>
                    <a:pt x="4474881" y="1293723"/>
                    <a:pt x="4567625" y="1633194"/>
                  </a:cubicBezTo>
                  <a:cubicBezTo>
                    <a:pt x="4613122" y="1798634"/>
                    <a:pt x="4612963" y="1941008"/>
                    <a:pt x="4612645" y="2121242"/>
                  </a:cubicBezTo>
                  <a:lnTo>
                    <a:pt x="4612804" y="2223847"/>
                  </a:lnTo>
                  <a:cubicBezTo>
                    <a:pt x="4613281" y="2289068"/>
                    <a:pt x="4614554" y="2351426"/>
                    <a:pt x="4615827" y="2411398"/>
                  </a:cubicBezTo>
                  <a:cubicBezTo>
                    <a:pt x="4621712" y="2690419"/>
                    <a:pt x="4626644" y="2931421"/>
                    <a:pt x="4532468" y="3181808"/>
                  </a:cubicBezTo>
                  <a:cubicBezTo>
                    <a:pt x="4446723" y="3409924"/>
                    <a:pt x="4298777" y="3570751"/>
                    <a:pt x="4111697" y="3774370"/>
                  </a:cubicBezTo>
                  <a:lnTo>
                    <a:pt x="4064291" y="3826070"/>
                  </a:lnTo>
                  <a:cubicBezTo>
                    <a:pt x="3761082" y="4157268"/>
                    <a:pt x="3521664" y="4418791"/>
                    <a:pt x="3146709" y="4550824"/>
                  </a:cubicBezTo>
                  <a:cubicBezTo>
                    <a:pt x="2933540" y="4626386"/>
                    <a:pt x="2747892" y="4627659"/>
                    <a:pt x="2490975" y="4629409"/>
                  </a:cubicBezTo>
                  <a:lnTo>
                    <a:pt x="2319804" y="4631159"/>
                  </a:lnTo>
                  <a:cubicBezTo>
                    <a:pt x="2250762" y="4631954"/>
                    <a:pt x="2185698" y="4632908"/>
                    <a:pt x="2123497" y="4632908"/>
                  </a:cubicBezTo>
                  <a:close/>
                  <a:moveTo>
                    <a:pt x="1896965" y="72012"/>
                  </a:moveTo>
                  <a:cubicBezTo>
                    <a:pt x="1759041" y="72012"/>
                    <a:pt x="1635435" y="82829"/>
                    <a:pt x="1505784" y="128484"/>
                  </a:cubicBezTo>
                  <a:cubicBezTo>
                    <a:pt x="1256980" y="216136"/>
                    <a:pt x="1083740" y="390961"/>
                    <a:pt x="883139" y="593307"/>
                  </a:cubicBezTo>
                  <a:cubicBezTo>
                    <a:pt x="837482" y="639281"/>
                    <a:pt x="790394" y="686845"/>
                    <a:pt x="740761" y="735045"/>
                  </a:cubicBezTo>
                  <a:cubicBezTo>
                    <a:pt x="693354" y="781018"/>
                    <a:pt x="647221" y="824287"/>
                    <a:pt x="602519" y="865965"/>
                  </a:cubicBezTo>
                  <a:cubicBezTo>
                    <a:pt x="415598" y="1040791"/>
                    <a:pt x="253971" y="1191596"/>
                    <a:pt x="160113" y="1412713"/>
                  </a:cubicBezTo>
                  <a:cubicBezTo>
                    <a:pt x="63710" y="1639557"/>
                    <a:pt x="68800" y="1863219"/>
                    <a:pt x="75164" y="2146535"/>
                  </a:cubicBezTo>
                  <a:cubicBezTo>
                    <a:pt x="76595" y="2206348"/>
                    <a:pt x="77868" y="2268388"/>
                    <a:pt x="78345" y="2333132"/>
                  </a:cubicBezTo>
                  <a:cubicBezTo>
                    <a:pt x="81050" y="2720803"/>
                    <a:pt x="93299" y="3039912"/>
                    <a:pt x="220882" y="3325296"/>
                  </a:cubicBezTo>
                  <a:cubicBezTo>
                    <a:pt x="309491" y="3524619"/>
                    <a:pt x="441846" y="3640586"/>
                    <a:pt x="609359" y="3787414"/>
                  </a:cubicBezTo>
                  <a:cubicBezTo>
                    <a:pt x="678401" y="3848022"/>
                    <a:pt x="756828" y="3916744"/>
                    <a:pt x="838278" y="3997396"/>
                  </a:cubicBezTo>
                  <a:cubicBezTo>
                    <a:pt x="1030448" y="4187970"/>
                    <a:pt x="1196370" y="4352455"/>
                    <a:pt x="1434674" y="4453311"/>
                  </a:cubicBezTo>
                  <a:cubicBezTo>
                    <a:pt x="1703363" y="4566732"/>
                    <a:pt x="1961393" y="4563392"/>
                    <a:pt x="2318690" y="4558778"/>
                  </a:cubicBezTo>
                  <a:lnTo>
                    <a:pt x="2490339" y="4557029"/>
                  </a:lnTo>
                  <a:cubicBezTo>
                    <a:pt x="2740256" y="4555279"/>
                    <a:pt x="2920813" y="4554006"/>
                    <a:pt x="3122529" y="4482581"/>
                  </a:cubicBezTo>
                  <a:cubicBezTo>
                    <a:pt x="3480462" y="4356592"/>
                    <a:pt x="3703017" y="4113522"/>
                    <a:pt x="4010840" y="3777233"/>
                  </a:cubicBezTo>
                  <a:lnTo>
                    <a:pt x="4058405" y="3725374"/>
                  </a:lnTo>
                  <a:cubicBezTo>
                    <a:pt x="4247394" y="3519688"/>
                    <a:pt x="4383886" y="3371109"/>
                    <a:pt x="4464699" y="3156197"/>
                  </a:cubicBezTo>
                  <a:cubicBezTo>
                    <a:pt x="4553944" y="2918854"/>
                    <a:pt x="4549331" y="2695510"/>
                    <a:pt x="4543445" y="2412671"/>
                  </a:cubicBezTo>
                  <a:cubicBezTo>
                    <a:pt x="4542172" y="2352222"/>
                    <a:pt x="4540899" y="2289545"/>
                    <a:pt x="4540422" y="2224006"/>
                  </a:cubicBezTo>
                  <a:lnTo>
                    <a:pt x="4540263" y="2120765"/>
                  </a:lnTo>
                  <a:cubicBezTo>
                    <a:pt x="4540581" y="1946098"/>
                    <a:pt x="4540899" y="1808019"/>
                    <a:pt x="4497788" y="1651965"/>
                  </a:cubicBezTo>
                  <a:cubicBezTo>
                    <a:pt x="4409339" y="1328243"/>
                    <a:pt x="4214305" y="1099331"/>
                    <a:pt x="3948321" y="811243"/>
                  </a:cubicBezTo>
                  <a:lnTo>
                    <a:pt x="3900119" y="759066"/>
                  </a:lnTo>
                  <a:cubicBezTo>
                    <a:pt x="3659588" y="498497"/>
                    <a:pt x="3469645" y="292652"/>
                    <a:pt x="3184252" y="176685"/>
                  </a:cubicBezTo>
                  <a:cubicBezTo>
                    <a:pt x="2941494" y="79012"/>
                    <a:pt x="2710508" y="79489"/>
                    <a:pt x="2418911" y="80443"/>
                  </a:cubicBezTo>
                  <a:cubicBezTo>
                    <a:pt x="2375959" y="80602"/>
                    <a:pt x="2331416" y="80761"/>
                    <a:pt x="2285760" y="80443"/>
                  </a:cubicBezTo>
                  <a:lnTo>
                    <a:pt x="2285760" y="80443"/>
                  </a:lnTo>
                  <a:cubicBezTo>
                    <a:pt x="2213378" y="80125"/>
                    <a:pt x="2145450" y="77898"/>
                    <a:pt x="2080545" y="75830"/>
                  </a:cubicBezTo>
                  <a:cubicBezTo>
                    <a:pt x="2015958" y="73921"/>
                    <a:pt x="1955189" y="72012"/>
                    <a:pt x="1896965" y="72012"/>
                  </a:cubicBezTo>
                  <a:close/>
                </a:path>
              </a:pathLst>
            </a:custGeom>
            <a:gradFill>
              <a:gsLst>
                <a:gs pos="100000">
                  <a:schemeClr val="accent2"/>
                </a:gs>
                <a:gs pos="0">
                  <a:schemeClr val="accent1"/>
                </a:gs>
              </a:gsLst>
              <a:lin ang="0" scaled="1"/>
            </a:gradFill>
            <a:ln w="1589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38" name="Freeform 37">
              <a:extLst>
                <a:ext uri="{FF2B5EF4-FFF2-40B4-BE49-F238E27FC236}">
                  <a16:creationId xmlns:a16="http://schemas.microsoft.com/office/drawing/2014/main" id="{40CCE2A0-5096-3584-2187-8459CAAC81E3}"/>
                </a:ext>
              </a:extLst>
            </p:cNvPr>
            <p:cNvSpPr/>
            <p:nvPr/>
          </p:nvSpPr>
          <p:spPr>
            <a:xfrm>
              <a:off x="-2272340" y="1151668"/>
              <a:ext cx="4537509" cy="4549332"/>
            </a:xfrm>
            <a:custGeom>
              <a:avLst/>
              <a:gdLst>
                <a:gd name="connsiteX0" fmla="*/ 2204413 w 4537509"/>
                <a:gd name="connsiteY0" fmla="*/ 4549333 h 4549332"/>
                <a:gd name="connsiteX1" fmla="*/ 1375598 w 4537509"/>
                <a:gd name="connsiteY1" fmla="*/ 4420798 h 4549332"/>
                <a:gd name="connsiteX2" fmla="*/ 764089 w 4537509"/>
                <a:gd name="connsiteY2" fmla="*/ 3972201 h 4549332"/>
                <a:gd name="connsiteX3" fmla="*/ 605326 w 4537509"/>
                <a:gd name="connsiteY3" fmla="*/ 3822669 h 4549332"/>
                <a:gd name="connsiteX4" fmla="*/ 162284 w 4537509"/>
                <a:gd name="connsiteY4" fmla="*/ 3278467 h 4549332"/>
                <a:gd name="connsiteX5" fmla="*/ 975 w 4537509"/>
                <a:gd name="connsiteY5" fmla="*/ 2285986 h 4549332"/>
                <a:gd name="connsiteX6" fmla="*/ 657 w 4537509"/>
                <a:gd name="connsiteY6" fmla="*/ 2225536 h 4549332"/>
                <a:gd name="connsiteX7" fmla="*/ 110582 w 4537509"/>
                <a:gd name="connsiteY7" fmla="*/ 1360316 h 4549332"/>
                <a:gd name="connsiteX8" fmla="*/ 615348 w 4537509"/>
                <a:gd name="connsiteY8" fmla="*/ 721304 h 4549332"/>
                <a:gd name="connsiteX9" fmla="*/ 737363 w 4537509"/>
                <a:gd name="connsiteY9" fmla="*/ 602792 h 4549332"/>
                <a:gd name="connsiteX10" fmla="*/ 1466275 w 4537509"/>
                <a:gd name="connsiteY10" fmla="*/ 72111 h 4549332"/>
                <a:gd name="connsiteX11" fmla="*/ 2136167 w 4537509"/>
                <a:gd name="connsiteY11" fmla="*/ 844 h 4549332"/>
                <a:gd name="connsiteX12" fmla="*/ 2251660 w 4537509"/>
                <a:gd name="connsiteY12" fmla="*/ 1799 h 4549332"/>
                <a:gd name="connsiteX13" fmla="*/ 3161129 w 4537509"/>
                <a:gd name="connsiteY13" fmla="*/ 122698 h 4549332"/>
                <a:gd name="connsiteX14" fmla="*/ 3946514 w 4537509"/>
                <a:gd name="connsiteY14" fmla="*/ 753915 h 4549332"/>
                <a:gd name="connsiteX15" fmla="*/ 4485323 w 4537509"/>
                <a:gd name="connsiteY15" fmla="*/ 1623430 h 4549332"/>
                <a:gd name="connsiteX16" fmla="*/ 4536547 w 4537509"/>
                <a:gd name="connsiteY16" fmla="*/ 2173677 h 4549332"/>
                <a:gd name="connsiteX17" fmla="*/ 4537024 w 4537509"/>
                <a:gd name="connsiteY17" fmla="*/ 2253375 h 4549332"/>
                <a:gd name="connsiteX18" fmla="*/ 4431077 w 4537509"/>
                <a:gd name="connsiteY18" fmla="*/ 3138956 h 4549332"/>
                <a:gd name="connsiteX19" fmla="*/ 3981353 w 4537509"/>
                <a:gd name="connsiteY19" fmla="*/ 3772242 h 4549332"/>
                <a:gd name="connsiteX20" fmla="*/ 3069657 w 4537509"/>
                <a:gd name="connsiteY20" fmla="*/ 4460727 h 4549332"/>
                <a:gd name="connsiteX21" fmla="*/ 2323088 w 4537509"/>
                <a:gd name="connsiteY21" fmla="*/ 4548696 h 4549332"/>
                <a:gd name="connsiteX22" fmla="*/ 2204413 w 4537509"/>
                <a:gd name="connsiteY22" fmla="*/ 4549333 h 4549332"/>
                <a:gd name="connsiteX23" fmla="*/ 2005720 w 4537509"/>
                <a:gd name="connsiteY23" fmla="*/ 75293 h 4549332"/>
                <a:gd name="connsiteX24" fmla="*/ 1491569 w 4537509"/>
                <a:gd name="connsiteY24" fmla="*/ 143218 h 4549332"/>
                <a:gd name="connsiteX25" fmla="*/ 790178 w 4537509"/>
                <a:gd name="connsiteY25" fmla="*/ 656719 h 4549332"/>
                <a:gd name="connsiteX26" fmla="*/ 667845 w 4537509"/>
                <a:gd name="connsiteY26" fmla="*/ 775549 h 4549332"/>
                <a:gd name="connsiteX27" fmla="*/ 180101 w 4537509"/>
                <a:gd name="connsiteY27" fmla="*/ 1389746 h 4549332"/>
                <a:gd name="connsiteX28" fmla="*/ 76220 w 4537509"/>
                <a:gd name="connsiteY28" fmla="*/ 2224900 h 4549332"/>
                <a:gd name="connsiteX29" fmla="*/ 76698 w 4537509"/>
                <a:gd name="connsiteY29" fmla="*/ 2285508 h 4549332"/>
                <a:gd name="connsiteX30" fmla="*/ 231325 w 4537509"/>
                <a:gd name="connsiteY30" fmla="*/ 3247447 h 4549332"/>
                <a:gd name="connsiteX31" fmla="*/ 656709 w 4537509"/>
                <a:gd name="connsiteY31" fmla="*/ 3767310 h 4549332"/>
                <a:gd name="connsiteX32" fmla="*/ 816904 w 4537509"/>
                <a:gd name="connsiteY32" fmla="*/ 3918274 h 4549332"/>
                <a:gd name="connsiteX33" fmla="*/ 1405187 w 4537509"/>
                <a:gd name="connsiteY33" fmla="*/ 4351441 h 4549332"/>
                <a:gd name="connsiteX34" fmla="*/ 2317679 w 4537509"/>
                <a:gd name="connsiteY34" fmla="*/ 4473294 h 4549332"/>
                <a:gd name="connsiteX35" fmla="*/ 3044840 w 4537509"/>
                <a:gd name="connsiteY35" fmla="*/ 4389460 h 4549332"/>
                <a:gd name="connsiteX36" fmla="*/ 3925674 w 4537509"/>
                <a:gd name="connsiteY36" fmla="*/ 3721178 h 4549332"/>
                <a:gd name="connsiteX37" fmla="*/ 4360762 w 4537509"/>
                <a:gd name="connsiteY37" fmla="*/ 3111436 h 4549332"/>
                <a:gd name="connsiteX38" fmla="*/ 4461461 w 4537509"/>
                <a:gd name="connsiteY38" fmla="*/ 2253693 h 4549332"/>
                <a:gd name="connsiteX39" fmla="*/ 4460984 w 4537509"/>
                <a:gd name="connsiteY39" fmla="*/ 2173836 h 4549332"/>
                <a:gd name="connsiteX40" fmla="*/ 4412464 w 4537509"/>
                <a:gd name="connsiteY40" fmla="*/ 1642996 h 4549332"/>
                <a:gd name="connsiteX41" fmla="*/ 3890835 w 4537509"/>
                <a:gd name="connsiteY41" fmla="*/ 804501 h 4549332"/>
                <a:gd name="connsiteX42" fmla="*/ 3132494 w 4537509"/>
                <a:gd name="connsiteY42" fmla="*/ 192214 h 4549332"/>
                <a:gd name="connsiteX43" fmla="*/ 2251342 w 4537509"/>
                <a:gd name="connsiteY43" fmla="*/ 77042 h 4549332"/>
                <a:gd name="connsiteX44" fmla="*/ 2135371 w 4537509"/>
                <a:gd name="connsiteY44" fmla="*/ 76088 h 4549332"/>
                <a:gd name="connsiteX45" fmla="*/ 2005720 w 4537509"/>
                <a:gd name="connsiteY45" fmla="*/ 75293 h 4549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4537509" h="4549332">
                  <a:moveTo>
                    <a:pt x="2204413" y="4549333"/>
                  </a:moveTo>
                  <a:cubicBezTo>
                    <a:pt x="1888636" y="4549333"/>
                    <a:pt x="1635696" y="4531675"/>
                    <a:pt x="1375598" y="4420798"/>
                  </a:cubicBezTo>
                  <a:cubicBezTo>
                    <a:pt x="1127908" y="4315331"/>
                    <a:pt x="944965" y="4148459"/>
                    <a:pt x="764089" y="3972201"/>
                  </a:cubicBezTo>
                  <a:cubicBezTo>
                    <a:pt x="708888" y="3918433"/>
                    <a:pt x="655754" y="3869279"/>
                    <a:pt x="605326" y="3822669"/>
                  </a:cubicBezTo>
                  <a:cubicBezTo>
                    <a:pt x="423177" y="3654048"/>
                    <a:pt x="265687" y="3508492"/>
                    <a:pt x="162284" y="3278467"/>
                  </a:cubicBezTo>
                  <a:cubicBezTo>
                    <a:pt x="31360" y="2987833"/>
                    <a:pt x="3043" y="2671429"/>
                    <a:pt x="975" y="2285986"/>
                  </a:cubicBezTo>
                  <a:lnTo>
                    <a:pt x="657" y="2225536"/>
                  </a:lnTo>
                  <a:cubicBezTo>
                    <a:pt x="-1729" y="1891793"/>
                    <a:pt x="-3638" y="1628202"/>
                    <a:pt x="110582" y="1360316"/>
                  </a:cubicBezTo>
                  <a:cubicBezTo>
                    <a:pt x="220348" y="1102771"/>
                    <a:pt x="403451" y="926036"/>
                    <a:pt x="615348" y="721304"/>
                  </a:cubicBezTo>
                  <a:lnTo>
                    <a:pt x="737363" y="602792"/>
                  </a:lnTo>
                  <a:cubicBezTo>
                    <a:pt x="972168" y="373403"/>
                    <a:pt x="1174996" y="175193"/>
                    <a:pt x="1466275" y="72111"/>
                  </a:cubicBezTo>
                  <a:cubicBezTo>
                    <a:pt x="1681830" y="-4087"/>
                    <a:pt x="1892454" y="-1542"/>
                    <a:pt x="2136167" y="844"/>
                  </a:cubicBezTo>
                  <a:lnTo>
                    <a:pt x="2251660" y="1799"/>
                  </a:lnTo>
                  <a:cubicBezTo>
                    <a:pt x="2584299" y="2913"/>
                    <a:pt x="2871759" y="3867"/>
                    <a:pt x="3161129" y="122698"/>
                  </a:cubicBezTo>
                  <a:cubicBezTo>
                    <a:pt x="3472133" y="251232"/>
                    <a:pt x="3691825" y="474894"/>
                    <a:pt x="3946514" y="753915"/>
                  </a:cubicBezTo>
                  <a:cubicBezTo>
                    <a:pt x="4213135" y="1046776"/>
                    <a:pt x="4396238" y="1294459"/>
                    <a:pt x="4485323" y="1623430"/>
                  </a:cubicBezTo>
                  <a:cubicBezTo>
                    <a:pt x="4534957" y="1805573"/>
                    <a:pt x="4535593" y="1967990"/>
                    <a:pt x="4536547" y="2173677"/>
                  </a:cubicBezTo>
                  <a:lnTo>
                    <a:pt x="4537024" y="2253375"/>
                  </a:lnTo>
                  <a:cubicBezTo>
                    <a:pt x="4538934" y="2591572"/>
                    <a:pt x="4540524" y="2858822"/>
                    <a:pt x="4431077" y="3138956"/>
                  </a:cubicBezTo>
                  <a:cubicBezTo>
                    <a:pt x="4333718" y="3388389"/>
                    <a:pt x="4162547" y="3574827"/>
                    <a:pt x="3981353" y="3772242"/>
                  </a:cubicBezTo>
                  <a:cubicBezTo>
                    <a:pt x="3707733" y="4070352"/>
                    <a:pt x="3450180" y="4327897"/>
                    <a:pt x="3069657" y="4460727"/>
                  </a:cubicBezTo>
                  <a:cubicBezTo>
                    <a:pt x="2833262" y="4543447"/>
                    <a:pt x="2619297" y="4545674"/>
                    <a:pt x="2323088" y="4548696"/>
                  </a:cubicBezTo>
                  <a:cubicBezTo>
                    <a:pt x="2282522" y="4549174"/>
                    <a:pt x="2242910" y="4549333"/>
                    <a:pt x="2204413" y="4549333"/>
                  </a:cubicBezTo>
                  <a:close/>
                  <a:moveTo>
                    <a:pt x="2005720" y="75293"/>
                  </a:moveTo>
                  <a:cubicBezTo>
                    <a:pt x="1818004" y="75293"/>
                    <a:pt x="1657491" y="84519"/>
                    <a:pt x="1491569" y="143218"/>
                  </a:cubicBezTo>
                  <a:cubicBezTo>
                    <a:pt x="1216040" y="240733"/>
                    <a:pt x="1018619" y="433534"/>
                    <a:pt x="790178" y="656719"/>
                  </a:cubicBezTo>
                  <a:lnTo>
                    <a:pt x="667845" y="775549"/>
                  </a:lnTo>
                  <a:cubicBezTo>
                    <a:pt x="461834" y="974555"/>
                    <a:pt x="283822" y="1146358"/>
                    <a:pt x="180101" y="1389746"/>
                  </a:cubicBezTo>
                  <a:cubicBezTo>
                    <a:pt x="71925" y="1643314"/>
                    <a:pt x="73834" y="1899906"/>
                    <a:pt x="76220" y="2224900"/>
                  </a:cubicBezTo>
                  <a:lnTo>
                    <a:pt x="76698" y="2285508"/>
                  </a:lnTo>
                  <a:cubicBezTo>
                    <a:pt x="78607" y="2661407"/>
                    <a:pt x="105810" y="2968903"/>
                    <a:pt x="231325" y="3247447"/>
                  </a:cubicBezTo>
                  <a:cubicBezTo>
                    <a:pt x="328365" y="3463473"/>
                    <a:pt x="473288" y="3597575"/>
                    <a:pt x="656709" y="3767310"/>
                  </a:cubicBezTo>
                  <a:cubicBezTo>
                    <a:pt x="707615" y="3814397"/>
                    <a:pt x="761225" y="3863870"/>
                    <a:pt x="816904" y="3918274"/>
                  </a:cubicBezTo>
                  <a:cubicBezTo>
                    <a:pt x="992530" y="4089282"/>
                    <a:pt x="1169588" y="4251064"/>
                    <a:pt x="1405187" y="4351441"/>
                  </a:cubicBezTo>
                  <a:cubicBezTo>
                    <a:pt x="1683580" y="4470112"/>
                    <a:pt x="1959427" y="4476635"/>
                    <a:pt x="2317679" y="4473294"/>
                  </a:cubicBezTo>
                  <a:cubicBezTo>
                    <a:pt x="2611343" y="4470272"/>
                    <a:pt x="2820058" y="4468203"/>
                    <a:pt x="3044840" y="4389460"/>
                  </a:cubicBezTo>
                  <a:cubicBezTo>
                    <a:pt x="3408819" y="4262517"/>
                    <a:pt x="3659213" y="4011652"/>
                    <a:pt x="3925674" y="3721178"/>
                  </a:cubicBezTo>
                  <a:cubicBezTo>
                    <a:pt x="4139003" y="3488766"/>
                    <a:pt x="4274699" y="3331757"/>
                    <a:pt x="4360762" y="3111436"/>
                  </a:cubicBezTo>
                  <a:cubicBezTo>
                    <a:pt x="4464961" y="2844664"/>
                    <a:pt x="4463370" y="2583937"/>
                    <a:pt x="4461461" y="2253693"/>
                  </a:cubicBezTo>
                  <a:lnTo>
                    <a:pt x="4460984" y="2173836"/>
                  </a:lnTo>
                  <a:cubicBezTo>
                    <a:pt x="4460188" y="1973717"/>
                    <a:pt x="4459393" y="1815595"/>
                    <a:pt x="4412464" y="1642996"/>
                  </a:cubicBezTo>
                  <a:cubicBezTo>
                    <a:pt x="4327355" y="1328501"/>
                    <a:pt x="4149820" y="1089090"/>
                    <a:pt x="3890835" y="804501"/>
                  </a:cubicBezTo>
                  <a:cubicBezTo>
                    <a:pt x="3634237" y="523571"/>
                    <a:pt x="3429658" y="315022"/>
                    <a:pt x="3132494" y="192214"/>
                  </a:cubicBezTo>
                  <a:cubicBezTo>
                    <a:pt x="2856806" y="79110"/>
                    <a:pt x="2576186" y="78156"/>
                    <a:pt x="2251342" y="77042"/>
                  </a:cubicBezTo>
                  <a:lnTo>
                    <a:pt x="2135371" y="76088"/>
                  </a:lnTo>
                  <a:cubicBezTo>
                    <a:pt x="2090669" y="75770"/>
                    <a:pt x="2047558" y="75293"/>
                    <a:pt x="2005720" y="75293"/>
                  </a:cubicBezTo>
                  <a:close/>
                </a:path>
              </a:pathLst>
            </a:custGeom>
            <a:gradFill>
              <a:gsLst>
                <a:gs pos="100000">
                  <a:schemeClr val="accent2"/>
                </a:gs>
                <a:gs pos="0">
                  <a:schemeClr val="accent1"/>
                </a:gs>
              </a:gsLst>
              <a:lin ang="0" scaled="1"/>
            </a:gradFill>
            <a:ln w="1589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39" name="Freeform 38">
              <a:extLst>
                <a:ext uri="{FF2B5EF4-FFF2-40B4-BE49-F238E27FC236}">
                  <a16:creationId xmlns:a16="http://schemas.microsoft.com/office/drawing/2014/main" id="{1D1A6429-124D-15A8-9851-8932E250DF34}"/>
                </a:ext>
              </a:extLst>
            </p:cNvPr>
            <p:cNvSpPr/>
            <p:nvPr/>
          </p:nvSpPr>
          <p:spPr>
            <a:xfrm>
              <a:off x="-2234718" y="1189312"/>
              <a:ext cx="4464774" cy="4472555"/>
            </a:xfrm>
            <a:custGeom>
              <a:avLst/>
              <a:gdLst>
                <a:gd name="connsiteX0" fmla="*/ 2221196 w 4464774"/>
                <a:gd name="connsiteY0" fmla="*/ 4472556 h 4472555"/>
                <a:gd name="connsiteX1" fmla="*/ 1348634 w 4464774"/>
                <a:gd name="connsiteY1" fmla="*/ 4327159 h 4472555"/>
                <a:gd name="connsiteX2" fmla="*/ 745079 w 4464774"/>
                <a:gd name="connsiteY2" fmla="*/ 3901151 h 4472555"/>
                <a:gd name="connsiteX3" fmla="*/ 697036 w 4464774"/>
                <a:gd name="connsiteY3" fmla="*/ 3855337 h 4472555"/>
                <a:gd name="connsiteX4" fmla="*/ 173976 w 4464774"/>
                <a:gd name="connsiteY4" fmla="*/ 3207417 h 4472555"/>
                <a:gd name="connsiteX5" fmla="*/ 100 w 4464774"/>
                <a:gd name="connsiteY5" fmla="*/ 2243410 h 4472555"/>
                <a:gd name="connsiteX6" fmla="*/ 131820 w 4464774"/>
                <a:gd name="connsiteY6" fmla="*/ 1341125 h 4472555"/>
                <a:gd name="connsiteX7" fmla="*/ 668561 w 4464774"/>
                <a:gd name="connsiteY7" fmla="*/ 644368 h 4472555"/>
                <a:gd name="connsiteX8" fmla="*/ 1455060 w 4464774"/>
                <a:gd name="connsiteY8" fmla="*/ 88871 h 4472555"/>
                <a:gd name="connsiteX9" fmla="*/ 2220878 w 4464774"/>
                <a:gd name="connsiteY9" fmla="*/ 106 h 4472555"/>
                <a:gd name="connsiteX10" fmla="*/ 3115075 w 4464774"/>
                <a:gd name="connsiteY10" fmla="*/ 140412 h 4472555"/>
                <a:gd name="connsiteX11" fmla="*/ 3895688 w 4464774"/>
                <a:gd name="connsiteY11" fmla="*/ 750472 h 4472555"/>
                <a:gd name="connsiteX12" fmla="*/ 4407135 w 4464774"/>
                <a:gd name="connsiteY12" fmla="*/ 1618874 h 4472555"/>
                <a:gd name="connsiteX13" fmla="*/ 4464722 w 4464774"/>
                <a:gd name="connsiteY13" fmla="*/ 2188369 h 4472555"/>
                <a:gd name="connsiteX14" fmla="*/ 4333799 w 4464774"/>
                <a:gd name="connsiteY14" fmla="*/ 3101471 h 4472555"/>
                <a:gd name="connsiteX15" fmla="*/ 3902528 w 4464774"/>
                <a:gd name="connsiteY15" fmla="*/ 3723939 h 4472555"/>
                <a:gd name="connsiteX16" fmla="*/ 2996718 w 4464774"/>
                <a:gd name="connsiteY16" fmla="*/ 4375996 h 4472555"/>
                <a:gd name="connsiteX17" fmla="*/ 2265421 w 4464774"/>
                <a:gd name="connsiteY17" fmla="*/ 4472397 h 4472555"/>
                <a:gd name="connsiteX18" fmla="*/ 2221196 w 4464774"/>
                <a:gd name="connsiteY18" fmla="*/ 4472556 h 4472555"/>
                <a:gd name="connsiteX19" fmla="*/ 2178085 w 4464774"/>
                <a:gd name="connsiteY19" fmla="*/ 79009 h 4472555"/>
                <a:gd name="connsiteX20" fmla="*/ 1481308 w 4464774"/>
                <a:gd name="connsiteY20" fmla="*/ 163160 h 4472555"/>
                <a:gd name="connsiteX21" fmla="*/ 723285 w 4464774"/>
                <a:gd name="connsiteY21" fmla="*/ 701000 h 4472555"/>
                <a:gd name="connsiteX22" fmla="*/ 204043 w 4464774"/>
                <a:gd name="connsiteY22" fmla="*/ 1372304 h 4472555"/>
                <a:gd name="connsiteX23" fmla="*/ 78687 w 4464774"/>
                <a:gd name="connsiteY23" fmla="*/ 2243251 h 4472555"/>
                <a:gd name="connsiteX24" fmla="*/ 245404 w 4464774"/>
                <a:gd name="connsiteY24" fmla="*/ 3174965 h 4472555"/>
                <a:gd name="connsiteX25" fmla="*/ 750965 w 4464774"/>
                <a:gd name="connsiteY25" fmla="*/ 3798388 h 4472555"/>
                <a:gd name="connsiteX26" fmla="*/ 799167 w 4464774"/>
                <a:gd name="connsiteY26" fmla="*/ 3844361 h 4472555"/>
                <a:gd name="connsiteX27" fmla="*/ 1379337 w 4464774"/>
                <a:gd name="connsiteY27" fmla="*/ 4254938 h 4472555"/>
                <a:gd name="connsiteX28" fmla="*/ 2264466 w 4464774"/>
                <a:gd name="connsiteY28" fmla="*/ 4393653 h 4472555"/>
                <a:gd name="connsiteX29" fmla="*/ 2970629 w 4464774"/>
                <a:gd name="connsiteY29" fmla="*/ 4301707 h 4472555"/>
                <a:gd name="connsiteX30" fmla="*/ 3844304 w 4464774"/>
                <a:gd name="connsiteY30" fmla="*/ 3670649 h 4472555"/>
                <a:gd name="connsiteX31" fmla="*/ 4260462 w 4464774"/>
                <a:gd name="connsiteY31" fmla="*/ 3072042 h 4472555"/>
                <a:gd name="connsiteX32" fmla="*/ 4385659 w 4464774"/>
                <a:gd name="connsiteY32" fmla="*/ 2188847 h 4472555"/>
                <a:gd name="connsiteX33" fmla="*/ 4330617 w 4464774"/>
                <a:gd name="connsiteY33" fmla="*/ 1639554 h 4472555"/>
                <a:gd name="connsiteX34" fmla="*/ 3836669 w 4464774"/>
                <a:gd name="connsiteY34" fmla="*/ 803445 h 4472555"/>
                <a:gd name="connsiteX35" fmla="*/ 3084213 w 4464774"/>
                <a:gd name="connsiteY35" fmla="*/ 213429 h 4472555"/>
                <a:gd name="connsiteX36" fmla="*/ 2220401 w 4464774"/>
                <a:gd name="connsiteY36" fmla="*/ 79327 h 4472555"/>
                <a:gd name="connsiteX37" fmla="*/ 2220401 w 4464774"/>
                <a:gd name="connsiteY37" fmla="*/ 79327 h 4472555"/>
                <a:gd name="connsiteX38" fmla="*/ 2178085 w 4464774"/>
                <a:gd name="connsiteY38" fmla="*/ 79009 h 4472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4464774" h="4472555">
                  <a:moveTo>
                    <a:pt x="2221196" y="4472556"/>
                  </a:moveTo>
                  <a:cubicBezTo>
                    <a:pt x="1938190" y="4472556"/>
                    <a:pt x="1638481" y="4451876"/>
                    <a:pt x="1348634" y="4327159"/>
                  </a:cubicBezTo>
                  <a:cubicBezTo>
                    <a:pt x="1097444" y="4219305"/>
                    <a:pt x="910046" y="4058796"/>
                    <a:pt x="745079" y="3901151"/>
                  </a:cubicBezTo>
                  <a:lnTo>
                    <a:pt x="697036" y="3855337"/>
                  </a:lnTo>
                  <a:cubicBezTo>
                    <a:pt x="480685" y="3649491"/>
                    <a:pt x="293924" y="3471803"/>
                    <a:pt x="173976" y="3207417"/>
                  </a:cubicBezTo>
                  <a:cubicBezTo>
                    <a:pt x="55302" y="2946212"/>
                    <a:pt x="1691" y="2648897"/>
                    <a:pt x="100" y="2243410"/>
                  </a:cubicBezTo>
                  <a:cubicBezTo>
                    <a:pt x="-1172" y="1933051"/>
                    <a:pt x="7895" y="1630486"/>
                    <a:pt x="131820" y="1341125"/>
                  </a:cubicBezTo>
                  <a:cubicBezTo>
                    <a:pt x="250176" y="1064490"/>
                    <a:pt x="444892" y="861985"/>
                    <a:pt x="668561" y="644368"/>
                  </a:cubicBezTo>
                  <a:cubicBezTo>
                    <a:pt x="904479" y="414979"/>
                    <a:pt x="1141987" y="199748"/>
                    <a:pt x="1455060" y="88871"/>
                  </a:cubicBezTo>
                  <a:cubicBezTo>
                    <a:pt x="1690818" y="5197"/>
                    <a:pt x="1921487" y="-1007"/>
                    <a:pt x="2220878" y="106"/>
                  </a:cubicBezTo>
                  <a:cubicBezTo>
                    <a:pt x="2558290" y="902"/>
                    <a:pt x="2839387" y="25081"/>
                    <a:pt x="3115075" y="140412"/>
                  </a:cubicBezTo>
                  <a:cubicBezTo>
                    <a:pt x="3443260" y="278650"/>
                    <a:pt x="3684268" y="515357"/>
                    <a:pt x="3895688" y="750472"/>
                  </a:cubicBezTo>
                  <a:cubicBezTo>
                    <a:pt x="4174558" y="1061309"/>
                    <a:pt x="4327435" y="1320923"/>
                    <a:pt x="4407135" y="1618874"/>
                  </a:cubicBezTo>
                  <a:cubicBezTo>
                    <a:pt x="4459154" y="1812630"/>
                    <a:pt x="4464086" y="1998750"/>
                    <a:pt x="4464722" y="2188369"/>
                  </a:cubicBezTo>
                  <a:cubicBezTo>
                    <a:pt x="4465995" y="2548838"/>
                    <a:pt x="4444519" y="2827382"/>
                    <a:pt x="4333799" y="3101471"/>
                  </a:cubicBezTo>
                  <a:cubicBezTo>
                    <a:pt x="4240099" y="3331337"/>
                    <a:pt x="4099312" y="3510140"/>
                    <a:pt x="3902528" y="3723939"/>
                  </a:cubicBezTo>
                  <a:cubicBezTo>
                    <a:pt x="3664702" y="3982281"/>
                    <a:pt x="3390286" y="4240144"/>
                    <a:pt x="2996718" y="4375996"/>
                  </a:cubicBezTo>
                  <a:cubicBezTo>
                    <a:pt x="2772095" y="4453785"/>
                    <a:pt x="2558449" y="4470169"/>
                    <a:pt x="2265421" y="4472397"/>
                  </a:cubicBezTo>
                  <a:cubicBezTo>
                    <a:pt x="2250626" y="4472556"/>
                    <a:pt x="2235832" y="4472556"/>
                    <a:pt x="2221196" y="4472556"/>
                  </a:cubicBezTo>
                  <a:close/>
                  <a:moveTo>
                    <a:pt x="2178085" y="79009"/>
                  </a:moveTo>
                  <a:cubicBezTo>
                    <a:pt x="1906851" y="79009"/>
                    <a:pt x="1694159" y="87758"/>
                    <a:pt x="1481308" y="163160"/>
                  </a:cubicBezTo>
                  <a:cubicBezTo>
                    <a:pt x="1182871" y="268946"/>
                    <a:pt x="961430" y="469383"/>
                    <a:pt x="723285" y="701000"/>
                  </a:cubicBezTo>
                  <a:cubicBezTo>
                    <a:pt x="505820" y="912572"/>
                    <a:pt x="316673" y="1109032"/>
                    <a:pt x="204043" y="1372304"/>
                  </a:cubicBezTo>
                  <a:cubicBezTo>
                    <a:pt x="86163" y="1647667"/>
                    <a:pt x="77573" y="1941482"/>
                    <a:pt x="78687" y="2243251"/>
                  </a:cubicBezTo>
                  <a:cubicBezTo>
                    <a:pt x="80118" y="2637125"/>
                    <a:pt x="131661" y="2924419"/>
                    <a:pt x="245404" y="3174965"/>
                  </a:cubicBezTo>
                  <a:cubicBezTo>
                    <a:pt x="359147" y="3425511"/>
                    <a:pt x="532069" y="3589997"/>
                    <a:pt x="750965" y="3798388"/>
                  </a:cubicBezTo>
                  <a:lnTo>
                    <a:pt x="799167" y="3844361"/>
                  </a:lnTo>
                  <a:cubicBezTo>
                    <a:pt x="958885" y="3996915"/>
                    <a:pt x="1139601" y="4152015"/>
                    <a:pt x="1379337" y="4254938"/>
                  </a:cubicBezTo>
                  <a:cubicBezTo>
                    <a:pt x="1671092" y="4380291"/>
                    <a:pt x="1978119" y="4395722"/>
                    <a:pt x="2264466" y="4393653"/>
                  </a:cubicBezTo>
                  <a:cubicBezTo>
                    <a:pt x="2549381" y="4391585"/>
                    <a:pt x="2756346" y="4375837"/>
                    <a:pt x="2970629" y="4301707"/>
                  </a:cubicBezTo>
                  <a:cubicBezTo>
                    <a:pt x="3275429" y="4196557"/>
                    <a:pt x="3528528" y="4013619"/>
                    <a:pt x="3844304" y="3670649"/>
                  </a:cubicBezTo>
                  <a:cubicBezTo>
                    <a:pt x="4035043" y="3463371"/>
                    <a:pt x="4171217" y="3290932"/>
                    <a:pt x="4260462" y="3072042"/>
                  </a:cubicBezTo>
                  <a:cubicBezTo>
                    <a:pt x="4366410" y="2810042"/>
                    <a:pt x="4386932" y="2539929"/>
                    <a:pt x="4385659" y="2188847"/>
                  </a:cubicBezTo>
                  <a:cubicBezTo>
                    <a:pt x="4385023" y="2004635"/>
                    <a:pt x="4380250" y="1824083"/>
                    <a:pt x="4330617" y="1639554"/>
                  </a:cubicBezTo>
                  <a:cubicBezTo>
                    <a:pt x="4254417" y="1354329"/>
                    <a:pt x="4106630" y="1104260"/>
                    <a:pt x="3836669" y="803445"/>
                  </a:cubicBezTo>
                  <a:cubicBezTo>
                    <a:pt x="3631453" y="575011"/>
                    <a:pt x="3398240" y="345463"/>
                    <a:pt x="3084213" y="213429"/>
                  </a:cubicBezTo>
                  <a:cubicBezTo>
                    <a:pt x="2820774" y="103188"/>
                    <a:pt x="2548268" y="80122"/>
                    <a:pt x="2220401" y="79327"/>
                  </a:cubicBezTo>
                  <a:lnTo>
                    <a:pt x="2220401" y="79327"/>
                  </a:lnTo>
                  <a:cubicBezTo>
                    <a:pt x="2206243" y="79009"/>
                    <a:pt x="2192084" y="79009"/>
                    <a:pt x="2178085" y="79009"/>
                  </a:cubicBezTo>
                  <a:close/>
                </a:path>
              </a:pathLst>
            </a:custGeom>
            <a:gradFill>
              <a:gsLst>
                <a:gs pos="100000">
                  <a:schemeClr val="accent2"/>
                </a:gs>
                <a:gs pos="0">
                  <a:schemeClr val="accent1"/>
                </a:gs>
              </a:gsLst>
              <a:lin ang="0" scaled="1"/>
            </a:gradFill>
            <a:ln w="1589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40" name="Freeform 39">
              <a:extLst>
                <a:ext uri="{FF2B5EF4-FFF2-40B4-BE49-F238E27FC236}">
                  <a16:creationId xmlns:a16="http://schemas.microsoft.com/office/drawing/2014/main" id="{D9B72834-0FA9-1081-4A4D-158C3D22C6BA}"/>
                </a:ext>
              </a:extLst>
            </p:cNvPr>
            <p:cNvSpPr/>
            <p:nvPr/>
          </p:nvSpPr>
          <p:spPr>
            <a:xfrm>
              <a:off x="-2198353" y="1225529"/>
              <a:ext cx="4393842" cy="4397682"/>
            </a:xfrm>
            <a:custGeom>
              <a:avLst/>
              <a:gdLst>
                <a:gd name="connsiteX0" fmla="*/ 2200739 w 4393842"/>
                <a:gd name="connsiteY0" fmla="*/ 4397683 h 4397682"/>
                <a:gd name="connsiteX1" fmla="*/ 1322610 w 4393842"/>
                <a:gd name="connsiteY1" fmla="*/ 4235106 h 4397682"/>
                <a:gd name="connsiteX2" fmla="*/ 727009 w 4393842"/>
                <a:gd name="connsiteY2" fmla="*/ 3831687 h 4397682"/>
                <a:gd name="connsiteX3" fmla="*/ 186450 w 4393842"/>
                <a:gd name="connsiteY3" fmla="*/ 3137794 h 4397682"/>
                <a:gd name="connsiteX4" fmla="*/ 6 w 4393842"/>
                <a:gd name="connsiteY4" fmla="*/ 2202421 h 4397682"/>
                <a:gd name="connsiteX5" fmla="*/ 153838 w 4393842"/>
                <a:gd name="connsiteY5" fmla="*/ 1323680 h 4397682"/>
                <a:gd name="connsiteX6" fmla="*/ 660672 w 4393842"/>
                <a:gd name="connsiteY6" fmla="*/ 629149 h 4397682"/>
                <a:gd name="connsiteX7" fmla="*/ 1444784 w 4393842"/>
                <a:gd name="connsiteY7" fmla="*/ 107059 h 4397682"/>
                <a:gd name="connsiteX8" fmla="*/ 2185150 w 4393842"/>
                <a:gd name="connsiteY8" fmla="*/ 0 h 4397682"/>
                <a:gd name="connsiteX9" fmla="*/ 2191195 w 4393842"/>
                <a:gd name="connsiteY9" fmla="*/ 0 h 4397682"/>
                <a:gd name="connsiteX10" fmla="*/ 3069802 w 4393842"/>
                <a:gd name="connsiteY10" fmla="*/ 159713 h 4397682"/>
                <a:gd name="connsiteX11" fmla="*/ 3845801 w 4393842"/>
                <a:gd name="connsiteY11" fmla="*/ 748616 h 4397682"/>
                <a:gd name="connsiteX12" fmla="*/ 4329886 w 4393842"/>
                <a:gd name="connsiteY12" fmla="*/ 1615745 h 4397682"/>
                <a:gd name="connsiteX13" fmla="*/ 4393837 w 4393842"/>
                <a:gd name="connsiteY13" fmla="*/ 2174741 h 4397682"/>
                <a:gd name="connsiteX14" fmla="*/ 4237619 w 4393842"/>
                <a:gd name="connsiteY14" fmla="*/ 3065573 h 4397682"/>
                <a:gd name="connsiteX15" fmla="*/ 3824962 w 4393842"/>
                <a:gd name="connsiteY15" fmla="*/ 3676746 h 4397682"/>
                <a:gd name="connsiteX16" fmla="*/ 2925037 w 4393842"/>
                <a:gd name="connsiteY16" fmla="*/ 4292533 h 4397682"/>
                <a:gd name="connsiteX17" fmla="*/ 2213466 w 4393842"/>
                <a:gd name="connsiteY17" fmla="*/ 4397365 h 4397682"/>
                <a:gd name="connsiteX18" fmla="*/ 2200739 w 4393842"/>
                <a:gd name="connsiteY18" fmla="*/ 4397683 h 4397682"/>
                <a:gd name="connsiteX19" fmla="*/ 2185150 w 4393842"/>
                <a:gd name="connsiteY19" fmla="*/ 82402 h 4397682"/>
                <a:gd name="connsiteX20" fmla="*/ 1472305 w 4393842"/>
                <a:gd name="connsiteY20" fmla="*/ 184529 h 4397682"/>
                <a:gd name="connsiteX21" fmla="*/ 717941 w 4393842"/>
                <a:gd name="connsiteY21" fmla="*/ 688008 h 4397682"/>
                <a:gd name="connsiteX22" fmla="*/ 229402 w 4393842"/>
                <a:gd name="connsiteY22" fmla="*/ 1355972 h 4397682"/>
                <a:gd name="connsiteX23" fmla="*/ 82251 w 4393842"/>
                <a:gd name="connsiteY23" fmla="*/ 2202262 h 4397682"/>
                <a:gd name="connsiteX24" fmla="*/ 261218 w 4393842"/>
                <a:gd name="connsiteY24" fmla="*/ 3103592 h 4397682"/>
                <a:gd name="connsiteX25" fmla="*/ 783164 w 4393842"/>
                <a:gd name="connsiteY25" fmla="*/ 3771556 h 4397682"/>
                <a:gd name="connsiteX26" fmla="*/ 1355380 w 4393842"/>
                <a:gd name="connsiteY26" fmla="*/ 4159545 h 4397682"/>
                <a:gd name="connsiteX27" fmla="*/ 2213148 w 4393842"/>
                <a:gd name="connsiteY27" fmla="*/ 4315281 h 4397682"/>
                <a:gd name="connsiteX28" fmla="*/ 2898471 w 4393842"/>
                <a:gd name="connsiteY28" fmla="*/ 4214904 h 4397682"/>
                <a:gd name="connsiteX29" fmla="*/ 3764511 w 4393842"/>
                <a:gd name="connsiteY29" fmla="*/ 3621070 h 4397682"/>
                <a:gd name="connsiteX30" fmla="*/ 4161896 w 4393842"/>
                <a:gd name="connsiteY30" fmla="*/ 3033598 h 4397682"/>
                <a:gd name="connsiteX31" fmla="*/ 4311592 w 4393842"/>
                <a:gd name="connsiteY31" fmla="*/ 2174741 h 4397682"/>
                <a:gd name="connsiteX32" fmla="*/ 4250505 w 4393842"/>
                <a:gd name="connsiteY32" fmla="*/ 1636743 h 4397682"/>
                <a:gd name="connsiteX33" fmla="*/ 3784237 w 4393842"/>
                <a:gd name="connsiteY33" fmla="*/ 802862 h 4397682"/>
                <a:gd name="connsiteX34" fmla="*/ 3037508 w 4393842"/>
                <a:gd name="connsiteY34" fmla="*/ 235116 h 4397682"/>
                <a:gd name="connsiteX35" fmla="*/ 2191195 w 4393842"/>
                <a:gd name="connsiteY35" fmla="*/ 82084 h 4397682"/>
                <a:gd name="connsiteX36" fmla="*/ 2191195 w 4393842"/>
                <a:gd name="connsiteY36" fmla="*/ 82084 h 4397682"/>
                <a:gd name="connsiteX37" fmla="*/ 2185150 w 4393842"/>
                <a:gd name="connsiteY37" fmla="*/ 82402 h 4397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4393842" h="4397682">
                  <a:moveTo>
                    <a:pt x="2200739" y="4397683"/>
                  </a:moveTo>
                  <a:cubicBezTo>
                    <a:pt x="1857760" y="4397683"/>
                    <a:pt x="1578572" y="4345983"/>
                    <a:pt x="1322610" y="4235106"/>
                  </a:cubicBezTo>
                  <a:cubicBezTo>
                    <a:pt x="1115804" y="4145546"/>
                    <a:pt x="926497" y="4017330"/>
                    <a:pt x="727009" y="3831687"/>
                  </a:cubicBezTo>
                  <a:cubicBezTo>
                    <a:pt x="524498" y="3642386"/>
                    <a:pt x="318965" y="3427473"/>
                    <a:pt x="186450" y="3137794"/>
                  </a:cubicBezTo>
                  <a:cubicBezTo>
                    <a:pt x="61730" y="2866090"/>
                    <a:pt x="802" y="2560185"/>
                    <a:pt x="6" y="2202421"/>
                  </a:cubicBezTo>
                  <a:cubicBezTo>
                    <a:pt x="-630" y="1848793"/>
                    <a:pt x="48208" y="1569613"/>
                    <a:pt x="153838" y="1323680"/>
                  </a:cubicBezTo>
                  <a:cubicBezTo>
                    <a:pt x="256605" y="1084587"/>
                    <a:pt x="412823" y="870469"/>
                    <a:pt x="660672" y="629149"/>
                  </a:cubicBezTo>
                  <a:cubicBezTo>
                    <a:pt x="928883" y="367945"/>
                    <a:pt x="1178164" y="202028"/>
                    <a:pt x="1444784" y="107059"/>
                  </a:cubicBezTo>
                  <a:cubicBezTo>
                    <a:pt x="1652704" y="33247"/>
                    <a:pt x="1881145" y="0"/>
                    <a:pt x="2185150" y="0"/>
                  </a:cubicBezTo>
                  <a:cubicBezTo>
                    <a:pt x="2187218" y="0"/>
                    <a:pt x="2189127" y="0"/>
                    <a:pt x="2191195" y="0"/>
                  </a:cubicBezTo>
                  <a:cubicBezTo>
                    <a:pt x="2536242" y="477"/>
                    <a:pt x="2815431" y="51223"/>
                    <a:pt x="3069802" y="159713"/>
                  </a:cubicBezTo>
                  <a:cubicBezTo>
                    <a:pt x="3350422" y="279975"/>
                    <a:pt x="3596998" y="467050"/>
                    <a:pt x="3845801" y="748616"/>
                  </a:cubicBezTo>
                  <a:cubicBezTo>
                    <a:pt x="4090628" y="1026206"/>
                    <a:pt x="4248914" y="1309840"/>
                    <a:pt x="4329886" y="1615745"/>
                  </a:cubicBezTo>
                  <a:cubicBezTo>
                    <a:pt x="4373793" y="1780867"/>
                    <a:pt x="4393360" y="1953306"/>
                    <a:pt x="4393837" y="2174741"/>
                  </a:cubicBezTo>
                  <a:cubicBezTo>
                    <a:pt x="4394473" y="2527733"/>
                    <a:pt x="4344840" y="2810890"/>
                    <a:pt x="4237619" y="3065573"/>
                  </a:cubicBezTo>
                  <a:cubicBezTo>
                    <a:pt x="4149965" y="3272373"/>
                    <a:pt x="4018882" y="3466605"/>
                    <a:pt x="3824962" y="3676746"/>
                  </a:cubicBezTo>
                  <a:cubicBezTo>
                    <a:pt x="3544819" y="3980106"/>
                    <a:pt x="3250518" y="4181497"/>
                    <a:pt x="2925037" y="4292533"/>
                  </a:cubicBezTo>
                  <a:cubicBezTo>
                    <a:pt x="2716641" y="4363800"/>
                    <a:pt x="2497108" y="4396093"/>
                    <a:pt x="2213466" y="4397365"/>
                  </a:cubicBezTo>
                  <a:cubicBezTo>
                    <a:pt x="2209171" y="4397683"/>
                    <a:pt x="2205035" y="4397683"/>
                    <a:pt x="2200739" y="4397683"/>
                  </a:cubicBezTo>
                  <a:close/>
                  <a:moveTo>
                    <a:pt x="2185150" y="82402"/>
                  </a:moveTo>
                  <a:cubicBezTo>
                    <a:pt x="1890849" y="82402"/>
                    <a:pt x="1670839" y="113899"/>
                    <a:pt x="1472305" y="184529"/>
                  </a:cubicBezTo>
                  <a:cubicBezTo>
                    <a:pt x="1213639" y="276635"/>
                    <a:pt x="981062" y="431894"/>
                    <a:pt x="717941" y="688008"/>
                  </a:cubicBezTo>
                  <a:cubicBezTo>
                    <a:pt x="478205" y="921374"/>
                    <a:pt x="327555" y="1127379"/>
                    <a:pt x="229402" y="1355972"/>
                  </a:cubicBezTo>
                  <a:cubicBezTo>
                    <a:pt x="128226" y="1591247"/>
                    <a:pt x="81456" y="1860246"/>
                    <a:pt x="82251" y="2202262"/>
                  </a:cubicBezTo>
                  <a:cubicBezTo>
                    <a:pt x="82888" y="2547936"/>
                    <a:pt x="141430" y="2842706"/>
                    <a:pt x="261218" y="3103592"/>
                  </a:cubicBezTo>
                  <a:cubicBezTo>
                    <a:pt x="387847" y="3380227"/>
                    <a:pt x="586858" y="3588140"/>
                    <a:pt x="783164" y="3771556"/>
                  </a:cubicBezTo>
                  <a:cubicBezTo>
                    <a:pt x="975653" y="3950518"/>
                    <a:pt x="1157483" y="4073802"/>
                    <a:pt x="1355380" y="4159545"/>
                  </a:cubicBezTo>
                  <a:cubicBezTo>
                    <a:pt x="1603707" y="4266922"/>
                    <a:pt x="1873191" y="4318781"/>
                    <a:pt x="2213148" y="4315281"/>
                  </a:cubicBezTo>
                  <a:cubicBezTo>
                    <a:pt x="2487404" y="4314168"/>
                    <a:pt x="2698824" y="4283307"/>
                    <a:pt x="2898471" y="4214904"/>
                  </a:cubicBezTo>
                  <a:cubicBezTo>
                    <a:pt x="3210748" y="4108322"/>
                    <a:pt x="3494072" y="3914089"/>
                    <a:pt x="3764511" y="3621070"/>
                  </a:cubicBezTo>
                  <a:cubicBezTo>
                    <a:pt x="3954454" y="3415224"/>
                    <a:pt x="4076947" y="3234194"/>
                    <a:pt x="4161896" y="3033598"/>
                  </a:cubicBezTo>
                  <a:cubicBezTo>
                    <a:pt x="4264663" y="2789415"/>
                    <a:pt x="4312388" y="2516439"/>
                    <a:pt x="4311592" y="2174741"/>
                  </a:cubicBezTo>
                  <a:cubicBezTo>
                    <a:pt x="4311274" y="1960624"/>
                    <a:pt x="4292343" y="1794707"/>
                    <a:pt x="4250505" y="1636743"/>
                  </a:cubicBezTo>
                  <a:cubicBezTo>
                    <a:pt x="4172873" y="1343405"/>
                    <a:pt x="4020314" y="1070588"/>
                    <a:pt x="3784237" y="802862"/>
                  </a:cubicBezTo>
                  <a:cubicBezTo>
                    <a:pt x="3543864" y="530840"/>
                    <a:pt x="3306674" y="350287"/>
                    <a:pt x="3037508" y="235116"/>
                  </a:cubicBezTo>
                  <a:cubicBezTo>
                    <a:pt x="2793795" y="131079"/>
                    <a:pt x="2524789" y="82402"/>
                    <a:pt x="2191195" y="82084"/>
                  </a:cubicBezTo>
                  <a:lnTo>
                    <a:pt x="2191195" y="82084"/>
                  </a:lnTo>
                  <a:cubicBezTo>
                    <a:pt x="2188968" y="82402"/>
                    <a:pt x="2187058" y="82402"/>
                    <a:pt x="2185150" y="82402"/>
                  </a:cubicBezTo>
                  <a:close/>
                </a:path>
              </a:pathLst>
            </a:custGeom>
            <a:gradFill>
              <a:gsLst>
                <a:gs pos="100000">
                  <a:schemeClr val="accent2"/>
                </a:gs>
                <a:gs pos="0">
                  <a:schemeClr val="accent1"/>
                </a:gs>
              </a:gsLst>
              <a:lin ang="0" scaled="1"/>
            </a:gradFill>
            <a:ln w="1589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41" name="Freeform 40">
              <a:extLst>
                <a:ext uri="{FF2B5EF4-FFF2-40B4-BE49-F238E27FC236}">
                  <a16:creationId xmlns:a16="http://schemas.microsoft.com/office/drawing/2014/main" id="{0309D8EA-9E62-BA79-F1D6-F6CBA9DFB94C}"/>
                </a:ext>
              </a:extLst>
            </p:cNvPr>
            <p:cNvSpPr/>
            <p:nvPr/>
          </p:nvSpPr>
          <p:spPr>
            <a:xfrm>
              <a:off x="-2161758" y="1262116"/>
              <a:ext cx="4322561" cy="4322439"/>
            </a:xfrm>
            <a:custGeom>
              <a:avLst/>
              <a:gdLst>
                <a:gd name="connsiteX0" fmla="*/ 2161281 w 4322561"/>
                <a:gd name="connsiteY0" fmla="*/ 4322440 h 4322439"/>
                <a:gd name="connsiteX1" fmla="*/ 0 w 4322561"/>
                <a:gd name="connsiteY1" fmla="*/ 2161220 h 4322439"/>
                <a:gd name="connsiteX2" fmla="*/ 2161281 w 4322561"/>
                <a:gd name="connsiteY2" fmla="*/ 0 h 4322439"/>
                <a:gd name="connsiteX3" fmla="*/ 4322562 w 4322561"/>
                <a:gd name="connsiteY3" fmla="*/ 2161220 h 4322439"/>
                <a:gd name="connsiteX4" fmla="*/ 2161281 w 4322561"/>
                <a:gd name="connsiteY4" fmla="*/ 4322440 h 4322439"/>
                <a:gd name="connsiteX5" fmla="*/ 2161281 w 4322561"/>
                <a:gd name="connsiteY5" fmla="*/ 85265 h 4322439"/>
                <a:gd name="connsiteX6" fmla="*/ 85427 w 4322561"/>
                <a:gd name="connsiteY6" fmla="*/ 2161061 h 4322439"/>
                <a:gd name="connsiteX7" fmla="*/ 2161281 w 4322561"/>
                <a:gd name="connsiteY7" fmla="*/ 4236856 h 4322439"/>
                <a:gd name="connsiteX8" fmla="*/ 4237135 w 4322561"/>
                <a:gd name="connsiteY8" fmla="*/ 2161061 h 4322439"/>
                <a:gd name="connsiteX9" fmla="*/ 2161281 w 4322561"/>
                <a:gd name="connsiteY9" fmla="*/ 85265 h 4322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22561" h="4322439">
                  <a:moveTo>
                    <a:pt x="2161281" y="4322440"/>
                  </a:moveTo>
                  <a:cubicBezTo>
                    <a:pt x="969602" y="4322440"/>
                    <a:pt x="0" y="3353025"/>
                    <a:pt x="0" y="2161220"/>
                  </a:cubicBezTo>
                  <a:cubicBezTo>
                    <a:pt x="0" y="969574"/>
                    <a:pt x="969443" y="0"/>
                    <a:pt x="2161281" y="0"/>
                  </a:cubicBezTo>
                  <a:cubicBezTo>
                    <a:pt x="3353120" y="0"/>
                    <a:pt x="4322562" y="969415"/>
                    <a:pt x="4322562" y="2161220"/>
                  </a:cubicBezTo>
                  <a:cubicBezTo>
                    <a:pt x="4322562" y="3352865"/>
                    <a:pt x="3352961" y="4322440"/>
                    <a:pt x="2161281" y="4322440"/>
                  </a:cubicBezTo>
                  <a:close/>
                  <a:moveTo>
                    <a:pt x="2161281" y="85265"/>
                  </a:moveTo>
                  <a:cubicBezTo>
                    <a:pt x="1016690" y="85265"/>
                    <a:pt x="85427" y="1016502"/>
                    <a:pt x="85427" y="2161061"/>
                  </a:cubicBezTo>
                  <a:cubicBezTo>
                    <a:pt x="85427" y="3305620"/>
                    <a:pt x="1016690" y="4236856"/>
                    <a:pt x="2161281" y="4236856"/>
                  </a:cubicBezTo>
                  <a:cubicBezTo>
                    <a:pt x="3305873" y="4236856"/>
                    <a:pt x="4237135" y="3305620"/>
                    <a:pt x="4237135" y="2161061"/>
                  </a:cubicBezTo>
                  <a:cubicBezTo>
                    <a:pt x="4237135" y="1016502"/>
                    <a:pt x="3305873" y="85265"/>
                    <a:pt x="2161281" y="85265"/>
                  </a:cubicBezTo>
                  <a:close/>
                </a:path>
              </a:pathLst>
            </a:custGeom>
            <a:gradFill>
              <a:gsLst>
                <a:gs pos="100000">
                  <a:schemeClr val="accent2"/>
                </a:gs>
                <a:gs pos="0">
                  <a:schemeClr val="accent1"/>
                </a:gs>
              </a:gsLst>
              <a:lin ang="0" scaled="1"/>
            </a:gradFill>
            <a:ln w="1589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grpSp>
        <p:nvGrpSpPr>
          <p:cNvPr id="4" name="Group 3">
            <a:extLst>
              <a:ext uri="{FF2B5EF4-FFF2-40B4-BE49-F238E27FC236}">
                <a16:creationId xmlns:a16="http://schemas.microsoft.com/office/drawing/2014/main" id="{822A1395-DEB0-585B-8910-841E905C365C}"/>
              </a:ext>
              <a:ext uri="{C183D7F6-B498-43B3-948B-1728B52AA6E4}">
                <adec:decorative xmlns:adec="http://schemas.microsoft.com/office/drawing/2017/decorative" val="1"/>
              </a:ext>
            </a:extLst>
          </p:cNvPr>
          <p:cNvGrpSpPr/>
          <p:nvPr/>
        </p:nvGrpSpPr>
        <p:grpSpPr>
          <a:xfrm>
            <a:off x="6376087" y="1994113"/>
            <a:ext cx="5815914" cy="1189662"/>
            <a:chOff x="6376087" y="1994113"/>
            <a:chExt cx="5815914" cy="1189662"/>
          </a:xfrm>
        </p:grpSpPr>
        <p:sp>
          <p:nvSpPr>
            <p:cNvPr id="3" name="Rectangle: Rounded Corners 2">
              <a:extLst>
                <a:ext uri="{FF2B5EF4-FFF2-40B4-BE49-F238E27FC236}">
                  <a16:creationId xmlns:a16="http://schemas.microsoft.com/office/drawing/2014/main" id="{FEFC2B0F-E814-E16C-2996-57A00E36E5BA}"/>
                </a:ext>
                <a:ext uri="{C183D7F6-B498-43B3-948B-1728B52AA6E4}">
                  <adec:decorative xmlns:adec="http://schemas.microsoft.com/office/drawing/2017/decorative" val="0"/>
                </a:ext>
              </a:extLst>
            </p:cNvPr>
            <p:cNvSpPr/>
            <p:nvPr/>
          </p:nvSpPr>
          <p:spPr>
            <a:xfrm>
              <a:off x="6376087" y="1994113"/>
              <a:ext cx="5815914" cy="1189662"/>
            </a:xfrm>
            <a:prstGeom prst="roundRect">
              <a:avLst>
                <a:gd name="adj" fmla="val 14541"/>
              </a:avLst>
            </a:prstGeom>
            <a:gradFill>
              <a:gsLst>
                <a:gs pos="0">
                  <a:schemeClr val="accent2">
                    <a:alpha val="64000"/>
                  </a:schemeClr>
                </a:gs>
                <a:gs pos="47000">
                  <a:schemeClr val="bg1"/>
                </a:gs>
              </a:gsLst>
              <a:lin ang="4200000" scaled="0"/>
            </a:gradFill>
            <a:ln w="12700" cap="flat" cmpd="sng" algn="ctr">
              <a:noFill/>
              <a:prstDash val="solid"/>
              <a:headEnd type="none" w="med" len="med"/>
              <a:tailEnd type="none" w="med" len="med"/>
            </a:ln>
            <a:effectLst/>
          </p:spPr>
          <p:txBody>
            <a:bodyPr rot="0" spcFirstLastPara="0" vertOverflow="overflow" horzOverflow="overflow" vert="horz" wrap="square" lIns="72000" tIns="180000" rIns="72000" bIns="144000" numCol="1" spcCol="0" rtlCol="0" fromWordArt="0" anchor="t" anchorCtr="0" forceAA="0" compatLnSpc="1">
              <a:prstTxWarp prst="textNoShape">
                <a:avLst/>
              </a:prstTxWarp>
              <a:noAutofit/>
            </a:bodyPr>
            <a:lstStyle/>
            <a:p>
              <a:pPr algn="ctr"/>
              <a:endParaRPr lang="en-US" sz="1600" kern="0">
                <a:gradFill flip="none" rotWithShape="1">
                  <a:gsLst>
                    <a:gs pos="0">
                      <a:srgbClr val="50E6FF"/>
                    </a:gs>
                    <a:gs pos="100000">
                      <a:srgbClr val="D59DFF"/>
                    </a:gs>
                  </a:gsLst>
                  <a:lin ang="2700000" scaled="1"/>
                  <a:tileRect/>
                </a:gradFill>
                <a:latin typeface="Segoe UI Semibold"/>
              </a:endParaRPr>
            </a:p>
          </p:txBody>
        </p:sp>
        <p:pic>
          <p:nvPicPr>
            <p:cNvPr id="7" name="Picture 6">
              <a:extLst>
                <a:ext uri="{FF2B5EF4-FFF2-40B4-BE49-F238E27FC236}">
                  <a16:creationId xmlns:a16="http://schemas.microsoft.com/office/drawing/2014/main" id="{57EBCCF7-F8BF-4789-EF19-46BB7360D095}"/>
                </a:ext>
              </a:extLst>
            </p:cNvPr>
            <p:cNvPicPr>
              <a:picLocks noChangeAspect="1"/>
            </p:cNvPicPr>
            <p:nvPr/>
          </p:nvPicPr>
          <p:blipFill>
            <a:blip r:embed="rId3">
              <a:duotone>
                <a:prstClr val="black"/>
                <a:schemeClr val="accent4">
                  <a:tint val="45000"/>
                  <a:satMod val="400000"/>
                </a:schemeClr>
              </a:duotone>
            </a:blip>
            <a:stretch>
              <a:fillRect/>
            </a:stretch>
          </p:blipFill>
          <p:spPr>
            <a:xfrm>
              <a:off x="6617171" y="2122350"/>
              <a:ext cx="857409" cy="857409"/>
            </a:xfrm>
            <a:prstGeom prst="rect">
              <a:avLst/>
            </a:prstGeom>
          </p:spPr>
        </p:pic>
      </p:grpSp>
      <p:sp>
        <p:nvSpPr>
          <p:cNvPr id="2" name="Title 1">
            <a:extLst>
              <a:ext uri="{FF2B5EF4-FFF2-40B4-BE49-F238E27FC236}">
                <a16:creationId xmlns:a16="http://schemas.microsoft.com/office/drawing/2014/main" id="{7EE1AA33-4792-5005-E809-DAB4D0A2006E}"/>
              </a:ext>
            </a:extLst>
          </p:cNvPr>
          <p:cNvSpPr>
            <a:spLocks noGrp="1"/>
          </p:cNvSpPr>
          <p:nvPr>
            <p:ph type="title"/>
          </p:nvPr>
        </p:nvSpPr>
        <p:spPr>
          <a:xfrm>
            <a:off x="1118821" y="2936558"/>
            <a:ext cx="4826919" cy="984885"/>
          </a:xfrm>
        </p:spPr>
        <p:txBody>
          <a:bodyPr anchor="ctr"/>
          <a:lstStyle/>
          <a:p>
            <a:r>
              <a:rPr lang="en-US" sz="3200"/>
              <a:t>But your opportunity is </a:t>
            </a:r>
            <a:r>
              <a:rPr lang="en-US" sz="3200">
                <a:solidFill>
                  <a:schemeClr val="accent1"/>
                </a:solidFill>
              </a:rPr>
              <a:t>not slowing down</a:t>
            </a:r>
          </a:p>
        </p:txBody>
      </p:sp>
      <p:sp>
        <p:nvSpPr>
          <p:cNvPr id="17" name="TextBox 5">
            <a:extLst>
              <a:ext uri="{FF2B5EF4-FFF2-40B4-BE49-F238E27FC236}">
                <a16:creationId xmlns:a16="http://schemas.microsoft.com/office/drawing/2014/main" id="{4F570C9E-14B3-2050-3FB7-1C0B9FA75997}"/>
              </a:ext>
            </a:extLst>
          </p:cNvPr>
          <p:cNvSpPr txBox="1">
            <a:spLocks/>
          </p:cNvSpPr>
          <p:nvPr/>
        </p:nvSpPr>
        <p:spPr>
          <a:xfrm>
            <a:off x="7757077" y="2219612"/>
            <a:ext cx="3665041" cy="738664"/>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ea typeface="+mn-ea"/>
                <a:cs typeface="Segoe UI Semibold" panose="020B0702040204020203" pitchFamily="34" charset="0"/>
              </a:rPr>
              <a:t>Inflation, geopolitical disruption and talent shortages are not expected to slow IT investments</a:t>
            </a:r>
            <a:r>
              <a:rPr lang="en-US" sz="1200" baseline="60000" dirty="0">
                <a:solidFill>
                  <a:srgbClr val="FFFFFF"/>
                </a:solidFill>
                <a:cs typeface="Segoe UI Semibold" panose="020B0702040204020203" pitchFamily="34" charset="0"/>
              </a:rPr>
              <a:t>1</a:t>
            </a:r>
            <a:endParaRPr kumimoji="0" lang="en-GB" sz="1600" b="0" i="1" u="none" strike="noStrike" kern="1200" cap="none" spc="0" normalizeH="0" baseline="60000" noProof="0" dirty="0">
              <a:ln>
                <a:noFill/>
              </a:ln>
              <a:solidFill>
                <a:srgbClr val="50E6FF"/>
              </a:solidFill>
              <a:effectLst/>
              <a:uLnTx/>
              <a:uFillTx/>
              <a:ea typeface="+mn-ea"/>
              <a:cs typeface="Segoe UI Semibold" panose="020B0702040204020203" pitchFamily="34" charset="0"/>
            </a:endParaRPr>
          </a:p>
        </p:txBody>
      </p:sp>
      <p:sp>
        <p:nvSpPr>
          <p:cNvPr id="18" name="TextBox 1">
            <a:extLst>
              <a:ext uri="{FF2B5EF4-FFF2-40B4-BE49-F238E27FC236}">
                <a16:creationId xmlns:a16="http://schemas.microsoft.com/office/drawing/2014/main" id="{B7A11202-2749-59AB-7B95-FA965AD49098}"/>
              </a:ext>
            </a:extLst>
          </p:cNvPr>
          <p:cNvSpPr txBox="1"/>
          <p:nvPr/>
        </p:nvSpPr>
        <p:spPr>
          <a:xfrm>
            <a:off x="1118821" y="6416373"/>
            <a:ext cx="3844800" cy="246221"/>
          </a:xfrm>
          <a:prstGeom prst="rect">
            <a:avLst/>
          </a:prstGeom>
          <a:noFill/>
        </p:spPr>
        <p:txBody>
          <a:bodyPr wrap="square" lIns="0" tIns="0" rIns="0" bIns="0" rtlCol="0"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4625" marR="0" lvl="0" indent="-174625" algn="l" defTabSz="914400" rtl="0" eaLnBrk="1" fontAlgn="auto" latinLnBrk="0" hangingPunct="1">
              <a:lnSpc>
                <a:spcPct val="100000"/>
              </a:lnSpc>
              <a:spcBef>
                <a:spcPts val="0"/>
              </a:spcBef>
              <a:spcAft>
                <a:spcPts val="0"/>
              </a:spcAft>
              <a:buClrTx/>
              <a:buSzTx/>
              <a:buFontTx/>
              <a:buAutoNum type="arabicPeriod"/>
              <a:tabLst/>
              <a:defRPr/>
            </a:pPr>
            <a:r>
              <a:rPr lang="en-US" sz="800" dirty="0">
                <a:solidFill>
                  <a:srgbClr val="E6E6E6">
                    <a:lumMod val="50000"/>
                  </a:srgbClr>
                </a:solidFill>
                <a:latin typeface="Segoe UI"/>
                <a:hlinkClick r:id="rId4">
                  <a:extLst>
                    <a:ext uri="{A12FA001-AC4F-418D-AE19-62706E023703}">
                      <ahyp:hlinkClr xmlns:ahyp="http://schemas.microsoft.com/office/drawing/2018/hyperlinkcolor" val="tx"/>
                    </a:ext>
                  </a:extLst>
                </a:hlinkClick>
              </a:rPr>
              <a:t>Gartner Forecasts Worldwide IT Spending to Reach $4.4 Trillion in 2022</a:t>
            </a:r>
            <a:endParaRPr lang="en-US" sz="800" dirty="0">
              <a:solidFill>
                <a:srgbClr val="E6E6E6">
                  <a:lumMod val="50000"/>
                </a:srgbClr>
              </a:solidFill>
              <a:latin typeface="Segoe UI"/>
            </a:endParaRPr>
          </a:p>
          <a:p>
            <a:pPr marL="174625" indent="-174625">
              <a:buFontTx/>
              <a:buAutoNum type="arabicPeriod"/>
              <a:defRPr/>
            </a:pPr>
            <a:r>
              <a:rPr kumimoji="0" lang="en-US" sz="800" b="0" i="0" u="none" strike="noStrike" kern="1200" cap="none" spc="0" normalizeH="0" baseline="0" noProof="0" dirty="0">
                <a:ln>
                  <a:noFill/>
                </a:ln>
                <a:solidFill>
                  <a:srgbClr val="E6E6E6">
                    <a:lumMod val="50000"/>
                  </a:srgbClr>
                </a:solidFill>
                <a:effectLst/>
                <a:uLnTx/>
                <a:uFillTx/>
                <a:latin typeface="Segoe UI"/>
                <a:ea typeface="+mn-ea"/>
                <a:cs typeface="+mn-cs"/>
              </a:rPr>
              <a:t>Global migration &amp; modernization perception study commissioned by </a:t>
            </a:r>
            <a:r>
              <a:rPr kumimoji="0" lang="en-US" sz="800" b="0" i="0" u="none" strike="noStrike" kern="1200" cap="none" spc="0" normalizeH="0" baseline="0" noProof="0" dirty="0">
                <a:ln>
                  <a:noFill/>
                </a:ln>
                <a:solidFill>
                  <a:srgbClr val="737373"/>
                </a:solidFill>
                <a:effectLst/>
                <a:uLnTx/>
                <a:uFillTx/>
                <a:latin typeface="Segoe UI"/>
                <a:ea typeface="+mn-ea"/>
                <a:cs typeface="+mn-cs"/>
              </a:rPr>
              <a:t>Microsoft</a:t>
            </a:r>
          </a:p>
        </p:txBody>
      </p:sp>
      <p:sp>
        <p:nvSpPr>
          <p:cNvPr id="5" name="Rectangle: Rounded Corners 4">
            <a:extLst>
              <a:ext uri="{FF2B5EF4-FFF2-40B4-BE49-F238E27FC236}">
                <a16:creationId xmlns:a16="http://schemas.microsoft.com/office/drawing/2014/main" id="{F6402911-44C6-A892-903A-315B9874FE8C}"/>
              </a:ext>
              <a:ext uri="{C183D7F6-B498-43B3-948B-1728B52AA6E4}">
                <adec:decorative xmlns:adec="http://schemas.microsoft.com/office/drawing/2017/decorative" val="1"/>
              </a:ext>
            </a:extLst>
          </p:cNvPr>
          <p:cNvSpPr/>
          <p:nvPr/>
        </p:nvSpPr>
        <p:spPr>
          <a:xfrm>
            <a:off x="6376087" y="3573658"/>
            <a:ext cx="5815914" cy="1339161"/>
          </a:xfrm>
          <a:prstGeom prst="roundRect">
            <a:avLst>
              <a:gd name="adj" fmla="val 12918"/>
            </a:avLst>
          </a:prstGeom>
          <a:gradFill>
            <a:gsLst>
              <a:gs pos="0">
                <a:schemeClr val="accent2">
                  <a:alpha val="64000"/>
                </a:schemeClr>
              </a:gs>
              <a:gs pos="47000">
                <a:schemeClr val="bg1"/>
              </a:gs>
            </a:gsLst>
            <a:lin ang="4200000" scaled="0"/>
          </a:gradFill>
          <a:ln w="12700" cap="flat" cmpd="sng" algn="ctr">
            <a:noFill/>
            <a:prstDash val="solid"/>
            <a:headEnd type="none" w="med" len="med"/>
            <a:tailEnd type="none" w="med" len="med"/>
          </a:ln>
          <a:effectLst/>
        </p:spPr>
        <p:txBody>
          <a:bodyPr rot="0" spcFirstLastPara="0" vertOverflow="overflow" horzOverflow="overflow" vert="horz" wrap="square" lIns="72000" tIns="180000" rIns="72000" bIns="144000" numCol="1" spcCol="0" rtlCol="0" fromWordArt="0" anchor="t" anchorCtr="0" forceAA="0" compatLnSpc="1">
            <a:prstTxWarp prst="textNoShape">
              <a:avLst/>
            </a:prstTxWarp>
            <a:noAutofit/>
          </a:bodyPr>
          <a:lstStyle/>
          <a:p>
            <a:pPr algn="ctr"/>
            <a:endParaRPr lang="en-US" sz="1600" kern="0">
              <a:gradFill flip="none" rotWithShape="1">
                <a:gsLst>
                  <a:gs pos="0">
                    <a:srgbClr val="50E6FF"/>
                  </a:gs>
                  <a:gs pos="100000">
                    <a:srgbClr val="D59DFF"/>
                  </a:gs>
                </a:gsLst>
                <a:lin ang="2700000" scaled="1"/>
                <a:tileRect/>
              </a:gradFill>
              <a:latin typeface="Segoe UI Semibold"/>
            </a:endParaRPr>
          </a:p>
        </p:txBody>
      </p:sp>
      <p:sp>
        <p:nvSpPr>
          <p:cNvPr id="6" name="TextBox 5">
            <a:extLst>
              <a:ext uri="{FF2B5EF4-FFF2-40B4-BE49-F238E27FC236}">
                <a16:creationId xmlns:a16="http://schemas.microsoft.com/office/drawing/2014/main" id="{0028D6E4-98A2-F488-0DD1-3909C0348542}"/>
              </a:ext>
            </a:extLst>
          </p:cNvPr>
          <p:cNvSpPr txBox="1">
            <a:spLocks/>
          </p:cNvSpPr>
          <p:nvPr/>
        </p:nvSpPr>
        <p:spPr>
          <a:xfrm>
            <a:off x="7757076" y="3892521"/>
            <a:ext cx="3813323" cy="738664"/>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ea typeface="+mn-ea"/>
                <a:cs typeface="Segoe UI Semibold" panose="020B0702040204020203" pitchFamily="34" charset="0"/>
              </a:rPr>
              <a:t>of organizations plan to accelerate migration and/or modernization plans in the next 12 months</a:t>
            </a:r>
            <a:r>
              <a:rPr lang="en-US" sz="1200" baseline="60000" dirty="0">
                <a:solidFill>
                  <a:srgbClr val="FFFFFF"/>
                </a:solidFill>
                <a:cs typeface="Segoe UI Semibold" panose="020B0702040204020203" pitchFamily="34" charset="0"/>
              </a:rPr>
              <a:t>2</a:t>
            </a:r>
            <a:endParaRPr lang="en-GB" sz="1200" baseline="60000" dirty="0">
              <a:solidFill>
                <a:srgbClr val="FFFFFF"/>
              </a:solidFill>
              <a:cs typeface="Segoe UI Semibold" panose="020B0702040204020203" pitchFamily="34" charset="0"/>
            </a:endParaRPr>
          </a:p>
        </p:txBody>
      </p:sp>
      <p:grpSp>
        <p:nvGrpSpPr>
          <p:cNvPr id="8" name="Group 7" descr="69%">
            <a:extLst>
              <a:ext uri="{FF2B5EF4-FFF2-40B4-BE49-F238E27FC236}">
                <a16:creationId xmlns:a16="http://schemas.microsoft.com/office/drawing/2014/main" id="{98FDA143-C45E-DA2C-3BEE-0E0EDA2BFDA7}"/>
              </a:ext>
            </a:extLst>
          </p:cNvPr>
          <p:cNvGrpSpPr>
            <a:grpSpLocks/>
          </p:cNvGrpSpPr>
          <p:nvPr/>
        </p:nvGrpSpPr>
        <p:grpSpPr>
          <a:xfrm>
            <a:off x="6648705" y="3855290"/>
            <a:ext cx="775895" cy="775895"/>
            <a:chOff x="5352361" y="2443203"/>
            <a:chExt cx="1494971" cy="1494971"/>
          </a:xfrm>
        </p:grpSpPr>
        <p:sp>
          <p:nvSpPr>
            <p:cNvPr id="9" name="Oval 8">
              <a:extLst>
                <a:ext uri="{FF2B5EF4-FFF2-40B4-BE49-F238E27FC236}">
                  <a16:creationId xmlns:a16="http://schemas.microsoft.com/office/drawing/2014/main" id="{0637CAC9-1A79-5AEC-12AB-63D26183BC00}"/>
                </a:ext>
              </a:extLst>
            </p:cNvPr>
            <p:cNvSpPr/>
            <p:nvPr/>
          </p:nvSpPr>
          <p:spPr bwMode="auto">
            <a:xfrm>
              <a:off x="5352361" y="2443203"/>
              <a:ext cx="1494971" cy="1494971"/>
            </a:xfrm>
            <a:prstGeom prst="ellipse">
              <a:avLst/>
            </a:prstGeom>
            <a:solidFill>
              <a:schemeClr val="bg1"/>
            </a:solidFill>
            <a:ln w="38100">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50E6FF"/>
                </a:solidFill>
                <a:effectLst/>
                <a:uLnTx/>
                <a:uFillTx/>
                <a:latin typeface="Segoe UI Semibold"/>
                <a:ea typeface="Segoe UI" pitchFamily="34" charset="0"/>
                <a:cs typeface="Segoe UI" pitchFamily="34" charset="0"/>
              </a:endParaRPr>
            </a:p>
          </p:txBody>
        </p:sp>
        <p:sp>
          <p:nvSpPr>
            <p:cNvPr id="10" name="Arc 9">
              <a:extLst>
                <a:ext uri="{FF2B5EF4-FFF2-40B4-BE49-F238E27FC236}">
                  <a16:creationId xmlns:a16="http://schemas.microsoft.com/office/drawing/2014/main" id="{DD4E39F7-E34A-0086-1191-AD5179486673}"/>
                </a:ext>
              </a:extLst>
            </p:cNvPr>
            <p:cNvSpPr/>
            <p:nvPr/>
          </p:nvSpPr>
          <p:spPr bwMode="auto">
            <a:xfrm>
              <a:off x="5352361" y="2443203"/>
              <a:ext cx="1494971" cy="1494971"/>
            </a:xfrm>
            <a:prstGeom prst="arc">
              <a:avLst>
                <a:gd name="adj1" fmla="val 16200000"/>
                <a:gd name="adj2" fmla="val 9694849"/>
              </a:avLst>
            </a:prstGeom>
            <a:solidFill>
              <a:schemeClr val="bg1"/>
            </a:solidFill>
            <a:ln w="57150" cap="rnd">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50E6FF"/>
                </a:solidFill>
                <a:effectLst/>
                <a:uLnTx/>
                <a:uFillTx/>
                <a:latin typeface="Segoe UI Semibold"/>
                <a:ea typeface="Segoe UI" pitchFamily="34" charset="0"/>
                <a:cs typeface="Segoe UI" pitchFamily="34" charset="0"/>
              </a:endParaRPr>
            </a:p>
          </p:txBody>
        </p:sp>
        <p:sp>
          <p:nvSpPr>
            <p:cNvPr id="11" name="TextBox 4">
              <a:extLst>
                <a:ext uri="{FF2B5EF4-FFF2-40B4-BE49-F238E27FC236}">
                  <a16:creationId xmlns:a16="http://schemas.microsoft.com/office/drawing/2014/main" id="{49FC111C-CDE2-C700-277B-2CD1FDA54E39}"/>
                </a:ext>
              </a:extLst>
            </p:cNvPr>
            <p:cNvSpPr txBox="1"/>
            <p:nvPr/>
          </p:nvSpPr>
          <p:spPr>
            <a:xfrm>
              <a:off x="5568604" y="2775578"/>
              <a:ext cx="1062486" cy="830220"/>
            </a:xfrm>
            <a:prstGeom prst="rect">
              <a:avLst/>
            </a:prstGeom>
            <a:noFill/>
          </p:spPr>
          <p:txBody>
            <a:bodyPr wrap="non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50E6FF"/>
                  </a:solidFill>
                  <a:effectLst/>
                  <a:uLnTx/>
                  <a:uFillTx/>
                  <a:latin typeface="Segoe UI Semibold"/>
                  <a:ea typeface="+mn-ea"/>
                  <a:cs typeface="+mn-cs"/>
                </a:rPr>
                <a:t>69</a:t>
              </a:r>
              <a:r>
                <a:rPr kumimoji="0" lang="en-US" sz="1400" b="0" i="0" u="none" strike="noStrike" kern="1200" cap="none" spc="0" normalizeH="0" baseline="0" noProof="0">
                  <a:ln>
                    <a:noFill/>
                  </a:ln>
                  <a:solidFill>
                    <a:srgbClr val="50E6FF"/>
                  </a:solidFill>
                  <a:effectLst/>
                  <a:uLnTx/>
                  <a:uFillTx/>
                  <a:latin typeface="Segoe UI Semibold"/>
                  <a:ea typeface="+mn-ea"/>
                  <a:cs typeface="+mn-cs"/>
                </a:rPr>
                <a:t>%</a:t>
              </a:r>
              <a:endParaRPr kumimoji="0" lang="en-US" sz="1200" b="0" i="0" u="none" strike="noStrike" kern="1200" cap="none" spc="0" normalizeH="0" baseline="0" noProof="0">
                <a:ln>
                  <a:noFill/>
                </a:ln>
                <a:solidFill>
                  <a:srgbClr val="50E6FF"/>
                </a:solidFill>
                <a:effectLst/>
                <a:uLnTx/>
                <a:uFillTx/>
                <a:latin typeface="Segoe UI Semibold"/>
                <a:ea typeface="+mn-ea"/>
                <a:cs typeface="+mn-cs"/>
              </a:endParaRPr>
            </a:p>
          </p:txBody>
        </p:sp>
      </p:grpSp>
    </p:spTree>
    <p:extLst>
      <p:ext uri="{BB962C8B-B14F-4D97-AF65-F5344CB8AC3E}">
        <p14:creationId xmlns:p14="http://schemas.microsoft.com/office/powerpoint/2010/main" val="2511117214"/>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E3AD8276-138C-FC85-8873-DB3F9A9A0E24}"/>
              </a:ext>
              <a:ext uri="{C183D7F6-B498-43B3-948B-1728B52AA6E4}">
                <adec:decorative xmlns:adec="http://schemas.microsoft.com/office/drawing/2017/decorative" val="1"/>
              </a:ext>
            </a:extLst>
          </p:cNvPr>
          <p:cNvGrpSpPr/>
          <p:nvPr/>
        </p:nvGrpSpPr>
        <p:grpSpPr>
          <a:xfrm>
            <a:off x="-3180696" y="150690"/>
            <a:ext cx="6965553" cy="6845936"/>
            <a:chOff x="-3484074" y="-217"/>
            <a:chExt cx="6965553" cy="6845936"/>
          </a:xfrm>
        </p:grpSpPr>
        <p:sp>
          <p:nvSpPr>
            <p:cNvPr id="18" name="Freeform 17">
              <a:extLst>
                <a:ext uri="{FF2B5EF4-FFF2-40B4-BE49-F238E27FC236}">
                  <a16:creationId xmlns:a16="http://schemas.microsoft.com/office/drawing/2014/main" id="{134C5E6B-6536-AFC8-1070-CA31358B1513}"/>
                </a:ext>
              </a:extLst>
            </p:cNvPr>
            <p:cNvSpPr/>
            <p:nvPr/>
          </p:nvSpPr>
          <p:spPr>
            <a:xfrm>
              <a:off x="-3484074" y="-217"/>
              <a:ext cx="6965553" cy="6845936"/>
            </a:xfrm>
            <a:custGeom>
              <a:avLst/>
              <a:gdLst>
                <a:gd name="connsiteX0" fmla="*/ 2574764 w 6965553"/>
                <a:gd name="connsiteY0" fmla="*/ 6845936 h 6845936"/>
                <a:gd name="connsiteX1" fmla="*/ 2351891 w 6965553"/>
                <a:gd name="connsiteY1" fmla="*/ 6802986 h 6845936"/>
                <a:gd name="connsiteX2" fmla="*/ 1914099 w 6965553"/>
                <a:gd name="connsiteY2" fmla="*/ 6353434 h 6845936"/>
                <a:gd name="connsiteX3" fmla="*/ 1576687 w 6965553"/>
                <a:gd name="connsiteY3" fmla="*/ 5864750 h 6845936"/>
                <a:gd name="connsiteX4" fmla="*/ 725760 w 6965553"/>
                <a:gd name="connsiteY4" fmla="*/ 5422834 h 6845936"/>
                <a:gd name="connsiteX5" fmla="*/ 296717 w 6965553"/>
                <a:gd name="connsiteY5" fmla="*/ 5166083 h 6845936"/>
                <a:gd name="connsiteX6" fmla="*/ 312785 w 6965553"/>
                <a:gd name="connsiteY6" fmla="*/ 4387720 h 6845936"/>
                <a:gd name="connsiteX7" fmla="*/ 409824 w 6965553"/>
                <a:gd name="connsiteY7" fmla="*/ 3540794 h 6845936"/>
                <a:gd name="connsiteX8" fmla="*/ 152908 w 6965553"/>
                <a:gd name="connsiteY8" fmla="*/ 2694664 h 6845936"/>
                <a:gd name="connsiteX9" fmla="*/ 33756 w 6965553"/>
                <a:gd name="connsiteY9" fmla="*/ 2098602 h 6845936"/>
                <a:gd name="connsiteX10" fmla="*/ 519431 w 6965553"/>
                <a:gd name="connsiteY10" fmla="*/ 1759927 h 6845936"/>
                <a:gd name="connsiteX11" fmla="*/ 1260115 w 6965553"/>
                <a:gd name="connsiteY11" fmla="*/ 1352372 h 6845936"/>
                <a:gd name="connsiteX12" fmla="*/ 1728610 w 6965553"/>
                <a:gd name="connsiteY12" fmla="*/ 541079 h 6845936"/>
                <a:gd name="connsiteX13" fmla="*/ 2102133 w 6965553"/>
                <a:gd name="connsiteY13" fmla="*/ 22965 h 6845936"/>
                <a:gd name="connsiteX14" fmla="*/ 2603876 w 6965553"/>
                <a:gd name="connsiteY14" fmla="*/ 135274 h 6845936"/>
                <a:gd name="connsiteX15" fmla="*/ 3314811 w 6965553"/>
                <a:gd name="connsiteY15" fmla="*/ 355436 h 6845936"/>
                <a:gd name="connsiteX16" fmla="*/ 3335015 w 6965553"/>
                <a:gd name="connsiteY16" fmla="*/ 355595 h 6845936"/>
                <a:gd name="connsiteX17" fmla="*/ 4022724 w 6965553"/>
                <a:gd name="connsiteY17" fmla="*/ 160408 h 6845936"/>
                <a:gd name="connsiteX18" fmla="*/ 4573305 w 6965553"/>
                <a:gd name="connsiteY18" fmla="*/ 51281 h 6845936"/>
                <a:gd name="connsiteX19" fmla="*/ 4969895 w 6965553"/>
                <a:gd name="connsiteY19" fmla="*/ 469495 h 6845936"/>
                <a:gd name="connsiteX20" fmla="*/ 5460662 w 6965553"/>
                <a:gd name="connsiteY20" fmla="*/ 1151935 h 6845936"/>
                <a:gd name="connsiteX21" fmla="*/ 6112101 w 6965553"/>
                <a:gd name="connsiteY21" fmla="*/ 1591624 h 6845936"/>
                <a:gd name="connsiteX22" fmla="*/ 6595708 w 6965553"/>
                <a:gd name="connsiteY22" fmla="*/ 2044516 h 6845936"/>
                <a:gd name="connsiteX23" fmla="*/ 6577732 w 6965553"/>
                <a:gd name="connsiteY23" fmla="*/ 2411347 h 6845936"/>
                <a:gd name="connsiteX24" fmla="*/ 6508213 w 6965553"/>
                <a:gd name="connsiteY24" fmla="*/ 2855808 h 6845936"/>
                <a:gd name="connsiteX25" fmla="*/ 6780084 w 6965553"/>
                <a:gd name="connsiteY25" fmla="*/ 3682372 h 6845936"/>
                <a:gd name="connsiteX26" fmla="*/ 6955232 w 6965553"/>
                <a:gd name="connsiteY26" fmla="*/ 4291956 h 6845936"/>
                <a:gd name="connsiteX27" fmla="*/ 6637387 w 6965553"/>
                <a:gd name="connsiteY27" fmla="*/ 4689489 h 6845936"/>
                <a:gd name="connsiteX28" fmla="*/ 6100647 w 6965553"/>
                <a:gd name="connsiteY28" fmla="*/ 5159561 h 6845936"/>
                <a:gd name="connsiteX29" fmla="*/ 5537339 w 6965553"/>
                <a:gd name="connsiteY29" fmla="*/ 6064232 h 6845936"/>
                <a:gd name="connsiteX30" fmla="*/ 5056595 w 6965553"/>
                <a:gd name="connsiteY30" fmla="*/ 6646772 h 6845936"/>
                <a:gd name="connsiteX31" fmla="*/ 4572987 w 6965553"/>
                <a:gd name="connsiteY31" fmla="*/ 6641045 h 6845936"/>
                <a:gd name="connsiteX32" fmla="*/ 3868097 w 6965553"/>
                <a:gd name="connsiteY32" fmla="*/ 6550212 h 6845936"/>
                <a:gd name="connsiteX33" fmla="*/ 2993626 w 6965553"/>
                <a:gd name="connsiteY33" fmla="*/ 6740309 h 6845936"/>
                <a:gd name="connsiteX34" fmla="*/ 2574764 w 6965553"/>
                <a:gd name="connsiteY34" fmla="*/ 6845936 h 6845936"/>
                <a:gd name="connsiteX35" fmla="*/ 2236398 w 6965553"/>
                <a:gd name="connsiteY35" fmla="*/ 3558 h 6845936"/>
                <a:gd name="connsiteX36" fmla="*/ 2103406 w 6965553"/>
                <a:gd name="connsiteY36" fmla="*/ 26306 h 6845936"/>
                <a:gd name="connsiteX37" fmla="*/ 1731951 w 6965553"/>
                <a:gd name="connsiteY37" fmla="*/ 542352 h 6845936"/>
                <a:gd name="connsiteX38" fmla="*/ 1262660 w 6965553"/>
                <a:gd name="connsiteY38" fmla="*/ 1354917 h 6845936"/>
                <a:gd name="connsiteX39" fmla="*/ 520704 w 6965553"/>
                <a:gd name="connsiteY39" fmla="*/ 1763109 h 6845936"/>
                <a:gd name="connsiteX40" fmla="*/ 37096 w 6965553"/>
                <a:gd name="connsiteY40" fmla="*/ 2099875 h 6845936"/>
                <a:gd name="connsiteX41" fmla="*/ 155930 w 6965553"/>
                <a:gd name="connsiteY41" fmla="*/ 2693073 h 6845936"/>
                <a:gd name="connsiteX42" fmla="*/ 413165 w 6965553"/>
                <a:gd name="connsiteY42" fmla="*/ 3540635 h 6845936"/>
                <a:gd name="connsiteX43" fmla="*/ 315966 w 6965553"/>
                <a:gd name="connsiteY43" fmla="*/ 4388356 h 6845936"/>
                <a:gd name="connsiteX44" fmla="*/ 299740 w 6965553"/>
                <a:gd name="connsiteY44" fmla="*/ 5164811 h 6845936"/>
                <a:gd name="connsiteX45" fmla="*/ 726078 w 6965553"/>
                <a:gd name="connsiteY45" fmla="*/ 5419493 h 6845936"/>
                <a:gd name="connsiteX46" fmla="*/ 1579073 w 6965553"/>
                <a:gd name="connsiteY46" fmla="*/ 5862522 h 6845936"/>
                <a:gd name="connsiteX47" fmla="*/ 1916803 w 6965553"/>
                <a:gd name="connsiteY47" fmla="*/ 6351684 h 6845936"/>
                <a:gd name="connsiteX48" fmla="*/ 2353005 w 6965553"/>
                <a:gd name="connsiteY48" fmla="*/ 6799804 h 6845936"/>
                <a:gd name="connsiteX49" fmla="*/ 2992830 w 6965553"/>
                <a:gd name="connsiteY49" fmla="*/ 6737605 h 6845936"/>
                <a:gd name="connsiteX50" fmla="*/ 3868256 w 6965553"/>
                <a:gd name="connsiteY50" fmla="*/ 6547190 h 6845936"/>
                <a:gd name="connsiteX51" fmla="*/ 3959728 w 6965553"/>
                <a:gd name="connsiteY51" fmla="*/ 6545599 h 6845936"/>
                <a:gd name="connsiteX52" fmla="*/ 4574100 w 6965553"/>
                <a:gd name="connsiteY52" fmla="*/ 6638182 h 6845936"/>
                <a:gd name="connsiteX53" fmla="*/ 5055481 w 6965553"/>
                <a:gd name="connsiteY53" fmla="*/ 6644068 h 6845936"/>
                <a:gd name="connsiteX54" fmla="*/ 5534476 w 6965553"/>
                <a:gd name="connsiteY54" fmla="*/ 6063278 h 6845936"/>
                <a:gd name="connsiteX55" fmla="*/ 6098419 w 6965553"/>
                <a:gd name="connsiteY55" fmla="*/ 5157652 h 6845936"/>
                <a:gd name="connsiteX56" fmla="*/ 6635637 w 6965553"/>
                <a:gd name="connsiteY56" fmla="*/ 4687103 h 6845936"/>
                <a:gd name="connsiteX57" fmla="*/ 6952051 w 6965553"/>
                <a:gd name="connsiteY57" fmla="*/ 4291637 h 6845936"/>
                <a:gd name="connsiteX58" fmla="*/ 6777220 w 6965553"/>
                <a:gd name="connsiteY58" fmla="*/ 3684281 h 6845936"/>
                <a:gd name="connsiteX59" fmla="*/ 6504873 w 6965553"/>
                <a:gd name="connsiteY59" fmla="*/ 2856127 h 6845936"/>
                <a:gd name="connsiteX60" fmla="*/ 6574391 w 6965553"/>
                <a:gd name="connsiteY60" fmla="*/ 2410711 h 6845936"/>
                <a:gd name="connsiteX61" fmla="*/ 6592368 w 6965553"/>
                <a:gd name="connsiteY61" fmla="*/ 2045788 h 6845936"/>
                <a:gd name="connsiteX62" fmla="*/ 6110350 w 6965553"/>
                <a:gd name="connsiteY62" fmla="*/ 1594964 h 6845936"/>
                <a:gd name="connsiteX63" fmla="*/ 5458116 w 6965553"/>
                <a:gd name="connsiteY63" fmla="*/ 1154639 h 6845936"/>
                <a:gd name="connsiteX64" fmla="*/ 4966714 w 6965553"/>
                <a:gd name="connsiteY64" fmla="*/ 471244 h 6845936"/>
                <a:gd name="connsiteX65" fmla="*/ 4572191 w 6965553"/>
                <a:gd name="connsiteY65" fmla="*/ 54622 h 6845936"/>
                <a:gd name="connsiteX66" fmla="*/ 4023997 w 6965553"/>
                <a:gd name="connsiteY66" fmla="*/ 163590 h 6845936"/>
                <a:gd name="connsiteX67" fmla="*/ 3334697 w 6965553"/>
                <a:gd name="connsiteY67" fmla="*/ 359095 h 6845936"/>
                <a:gd name="connsiteX68" fmla="*/ 3314334 w 6965553"/>
                <a:gd name="connsiteY68" fmla="*/ 358936 h 6845936"/>
                <a:gd name="connsiteX69" fmla="*/ 2601808 w 6965553"/>
                <a:gd name="connsiteY69" fmla="*/ 138296 h 6845936"/>
                <a:gd name="connsiteX70" fmla="*/ 2236398 w 6965553"/>
                <a:gd name="connsiteY70" fmla="*/ 3558 h 68459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965553" h="6845936">
                  <a:moveTo>
                    <a:pt x="2574764" y="6845936"/>
                  </a:moveTo>
                  <a:cubicBezTo>
                    <a:pt x="2504450" y="6845936"/>
                    <a:pt x="2431909" y="6833210"/>
                    <a:pt x="2351891" y="6802986"/>
                  </a:cubicBezTo>
                  <a:cubicBezTo>
                    <a:pt x="2127586" y="6717880"/>
                    <a:pt x="2038023" y="6565006"/>
                    <a:pt x="1914099" y="6353434"/>
                  </a:cubicBezTo>
                  <a:cubicBezTo>
                    <a:pt x="1830740" y="6211060"/>
                    <a:pt x="1736246" y="6049756"/>
                    <a:pt x="1576687" y="5864750"/>
                  </a:cubicBezTo>
                  <a:cubicBezTo>
                    <a:pt x="1249934" y="5485351"/>
                    <a:pt x="959292" y="5450672"/>
                    <a:pt x="725760" y="5422834"/>
                  </a:cubicBezTo>
                  <a:cubicBezTo>
                    <a:pt x="533431" y="5399927"/>
                    <a:pt x="381508" y="5381792"/>
                    <a:pt x="296717" y="5166083"/>
                  </a:cubicBezTo>
                  <a:cubicBezTo>
                    <a:pt x="202859" y="4927786"/>
                    <a:pt x="251379" y="4689489"/>
                    <a:pt x="312785" y="4387720"/>
                  </a:cubicBezTo>
                  <a:cubicBezTo>
                    <a:pt x="361782" y="4147036"/>
                    <a:pt x="417301" y="3874060"/>
                    <a:pt x="409824" y="3540794"/>
                  </a:cubicBezTo>
                  <a:cubicBezTo>
                    <a:pt x="401234" y="3161236"/>
                    <a:pt x="263628" y="2902577"/>
                    <a:pt x="152908" y="2694664"/>
                  </a:cubicBezTo>
                  <a:cubicBezTo>
                    <a:pt x="38687" y="2480069"/>
                    <a:pt x="-51671" y="2310333"/>
                    <a:pt x="33756" y="2098602"/>
                  </a:cubicBezTo>
                  <a:cubicBezTo>
                    <a:pt x="117910" y="1890211"/>
                    <a:pt x="295127" y="1832784"/>
                    <a:pt x="519431" y="1759927"/>
                  </a:cubicBezTo>
                  <a:cubicBezTo>
                    <a:pt x="732919" y="1690570"/>
                    <a:pt x="998744" y="1604350"/>
                    <a:pt x="1260115" y="1352372"/>
                  </a:cubicBezTo>
                  <a:cubicBezTo>
                    <a:pt x="1543757" y="1079078"/>
                    <a:pt x="1646206" y="780808"/>
                    <a:pt x="1728610" y="541079"/>
                  </a:cubicBezTo>
                  <a:cubicBezTo>
                    <a:pt x="1813718" y="293237"/>
                    <a:pt x="1880851" y="97573"/>
                    <a:pt x="2102133" y="22965"/>
                  </a:cubicBezTo>
                  <a:cubicBezTo>
                    <a:pt x="2290486" y="-40347"/>
                    <a:pt x="2428728" y="37123"/>
                    <a:pt x="2603876" y="135274"/>
                  </a:cubicBezTo>
                  <a:cubicBezTo>
                    <a:pt x="2775366" y="231356"/>
                    <a:pt x="2988694" y="350823"/>
                    <a:pt x="3314811" y="355436"/>
                  </a:cubicBezTo>
                  <a:cubicBezTo>
                    <a:pt x="3321493" y="355595"/>
                    <a:pt x="3328333" y="355595"/>
                    <a:pt x="3335015" y="355595"/>
                  </a:cubicBezTo>
                  <a:cubicBezTo>
                    <a:pt x="3644587" y="355595"/>
                    <a:pt x="3845348" y="252036"/>
                    <a:pt x="4022724" y="160408"/>
                  </a:cubicBezTo>
                  <a:cubicBezTo>
                    <a:pt x="4202646" y="67507"/>
                    <a:pt x="4358068" y="-12668"/>
                    <a:pt x="4573305" y="51281"/>
                  </a:cubicBezTo>
                  <a:cubicBezTo>
                    <a:pt x="4790133" y="115707"/>
                    <a:pt x="4865379" y="264126"/>
                    <a:pt x="4969895" y="469495"/>
                  </a:cubicBezTo>
                  <a:cubicBezTo>
                    <a:pt x="5065821" y="658001"/>
                    <a:pt x="5185132" y="892957"/>
                    <a:pt x="5460662" y="1151935"/>
                  </a:cubicBezTo>
                  <a:cubicBezTo>
                    <a:pt x="5703102" y="1379892"/>
                    <a:pt x="5929793" y="1497291"/>
                    <a:pt x="6112101" y="1591624"/>
                  </a:cubicBezTo>
                  <a:cubicBezTo>
                    <a:pt x="6348177" y="1713954"/>
                    <a:pt x="6518713" y="1802242"/>
                    <a:pt x="6595708" y="2044516"/>
                  </a:cubicBezTo>
                  <a:cubicBezTo>
                    <a:pt x="6644705" y="2198502"/>
                    <a:pt x="6615116" y="2292517"/>
                    <a:pt x="6577732" y="2411347"/>
                  </a:cubicBezTo>
                  <a:cubicBezTo>
                    <a:pt x="6544961" y="2515861"/>
                    <a:pt x="6504077" y="2645668"/>
                    <a:pt x="6508213" y="2855808"/>
                  </a:cubicBezTo>
                  <a:cubicBezTo>
                    <a:pt x="6515849" y="3230912"/>
                    <a:pt x="6656318" y="3470800"/>
                    <a:pt x="6780084" y="3682372"/>
                  </a:cubicBezTo>
                  <a:cubicBezTo>
                    <a:pt x="6897486" y="3882968"/>
                    <a:pt x="6998821" y="4056044"/>
                    <a:pt x="6955232" y="4291956"/>
                  </a:cubicBezTo>
                  <a:cubicBezTo>
                    <a:pt x="6918643" y="4489529"/>
                    <a:pt x="6812695" y="4564773"/>
                    <a:pt x="6637387" y="4689489"/>
                  </a:cubicBezTo>
                  <a:cubicBezTo>
                    <a:pt x="6495487" y="4790503"/>
                    <a:pt x="6318906" y="4916174"/>
                    <a:pt x="6100647" y="5159561"/>
                  </a:cubicBezTo>
                  <a:cubicBezTo>
                    <a:pt x="5784074" y="5512871"/>
                    <a:pt x="5647264" y="5818617"/>
                    <a:pt x="5537339" y="6064232"/>
                  </a:cubicBezTo>
                  <a:cubicBezTo>
                    <a:pt x="5414051" y="6339594"/>
                    <a:pt x="5325124" y="6538441"/>
                    <a:pt x="5056595" y="6646772"/>
                  </a:cubicBezTo>
                  <a:cubicBezTo>
                    <a:pt x="4865220" y="6723925"/>
                    <a:pt x="4742568" y="6689245"/>
                    <a:pt x="4572987" y="6641045"/>
                  </a:cubicBezTo>
                  <a:cubicBezTo>
                    <a:pt x="4411678" y="6595231"/>
                    <a:pt x="4210600" y="6538122"/>
                    <a:pt x="3868097" y="6550212"/>
                  </a:cubicBezTo>
                  <a:cubicBezTo>
                    <a:pt x="3467689" y="6564370"/>
                    <a:pt x="3204886" y="6661884"/>
                    <a:pt x="2993626" y="6740309"/>
                  </a:cubicBezTo>
                  <a:cubicBezTo>
                    <a:pt x="2838203" y="6798690"/>
                    <a:pt x="2710779" y="6845936"/>
                    <a:pt x="2574764" y="6845936"/>
                  </a:cubicBezTo>
                  <a:close/>
                  <a:moveTo>
                    <a:pt x="2236398" y="3558"/>
                  </a:moveTo>
                  <a:cubicBezTo>
                    <a:pt x="2194241" y="3558"/>
                    <a:pt x="2150335" y="10557"/>
                    <a:pt x="2103406" y="26306"/>
                  </a:cubicBezTo>
                  <a:cubicBezTo>
                    <a:pt x="1883714" y="100277"/>
                    <a:pt x="1816741" y="295464"/>
                    <a:pt x="1731951" y="542352"/>
                  </a:cubicBezTo>
                  <a:cubicBezTo>
                    <a:pt x="1649546" y="782399"/>
                    <a:pt x="1546939" y="1081146"/>
                    <a:pt x="1262660" y="1354917"/>
                  </a:cubicBezTo>
                  <a:cubicBezTo>
                    <a:pt x="1000653" y="1607213"/>
                    <a:pt x="734510" y="1693751"/>
                    <a:pt x="520704" y="1763109"/>
                  </a:cubicBezTo>
                  <a:cubicBezTo>
                    <a:pt x="297195" y="1835648"/>
                    <a:pt x="120614" y="1893074"/>
                    <a:pt x="37096" y="2099875"/>
                  </a:cubicBezTo>
                  <a:cubicBezTo>
                    <a:pt x="-47853" y="2310174"/>
                    <a:pt x="42187" y="2479114"/>
                    <a:pt x="155930" y="2693073"/>
                  </a:cubicBezTo>
                  <a:cubicBezTo>
                    <a:pt x="266810" y="2901145"/>
                    <a:pt x="404575" y="3160282"/>
                    <a:pt x="413165" y="3540635"/>
                  </a:cubicBezTo>
                  <a:cubicBezTo>
                    <a:pt x="420642" y="3874219"/>
                    <a:pt x="365122" y="4147513"/>
                    <a:pt x="315966" y="4388356"/>
                  </a:cubicBezTo>
                  <a:cubicBezTo>
                    <a:pt x="254561" y="4689489"/>
                    <a:pt x="206200" y="4927468"/>
                    <a:pt x="299740" y="5164811"/>
                  </a:cubicBezTo>
                  <a:cubicBezTo>
                    <a:pt x="383894" y="5378610"/>
                    <a:pt x="534862" y="5396586"/>
                    <a:pt x="726078" y="5419493"/>
                  </a:cubicBezTo>
                  <a:cubicBezTo>
                    <a:pt x="960087" y="5447491"/>
                    <a:pt x="1251525" y="5482169"/>
                    <a:pt x="1579073" y="5862522"/>
                  </a:cubicBezTo>
                  <a:cubicBezTo>
                    <a:pt x="1738791" y="6047688"/>
                    <a:pt x="1833445" y="6209310"/>
                    <a:pt x="1916803" y="6351684"/>
                  </a:cubicBezTo>
                  <a:cubicBezTo>
                    <a:pt x="2040410" y="6562620"/>
                    <a:pt x="2129813" y="6715175"/>
                    <a:pt x="2353005" y="6799804"/>
                  </a:cubicBezTo>
                  <a:cubicBezTo>
                    <a:pt x="2586855" y="6888569"/>
                    <a:pt x="2757231" y="6825097"/>
                    <a:pt x="2992830" y="6737605"/>
                  </a:cubicBezTo>
                  <a:cubicBezTo>
                    <a:pt x="3204250" y="6659021"/>
                    <a:pt x="3467370" y="6561348"/>
                    <a:pt x="3868256" y="6547190"/>
                  </a:cubicBezTo>
                  <a:cubicBezTo>
                    <a:pt x="3899913" y="6546076"/>
                    <a:pt x="3930457" y="6545599"/>
                    <a:pt x="3959728" y="6545599"/>
                  </a:cubicBezTo>
                  <a:cubicBezTo>
                    <a:pt x="4248302" y="6545599"/>
                    <a:pt x="4427427" y="6596504"/>
                    <a:pt x="4574100" y="6638182"/>
                  </a:cubicBezTo>
                  <a:cubicBezTo>
                    <a:pt x="4743045" y="6686223"/>
                    <a:pt x="4865220" y="6720902"/>
                    <a:pt x="5055481" y="6644068"/>
                  </a:cubicBezTo>
                  <a:cubicBezTo>
                    <a:pt x="5322738" y="6536213"/>
                    <a:pt x="5411506" y="6337844"/>
                    <a:pt x="5534476" y="6063278"/>
                  </a:cubicBezTo>
                  <a:cubicBezTo>
                    <a:pt x="5644560" y="5817345"/>
                    <a:pt x="5781529" y="5511440"/>
                    <a:pt x="6098419" y="5157652"/>
                  </a:cubicBezTo>
                  <a:cubicBezTo>
                    <a:pt x="6316838" y="4913947"/>
                    <a:pt x="6493578" y="4788117"/>
                    <a:pt x="6635637" y="4687103"/>
                  </a:cubicBezTo>
                  <a:cubicBezTo>
                    <a:pt x="6810309" y="4562864"/>
                    <a:pt x="6915780" y="4487779"/>
                    <a:pt x="6952051" y="4291637"/>
                  </a:cubicBezTo>
                  <a:cubicBezTo>
                    <a:pt x="6995321" y="4056840"/>
                    <a:pt x="6894304" y="3884241"/>
                    <a:pt x="6777220" y="3684281"/>
                  </a:cubicBezTo>
                  <a:cubicBezTo>
                    <a:pt x="6653136" y="3472391"/>
                    <a:pt x="6512508" y="3232185"/>
                    <a:pt x="6504873" y="2856127"/>
                  </a:cubicBezTo>
                  <a:cubicBezTo>
                    <a:pt x="6500577" y="2645509"/>
                    <a:pt x="6541461" y="2515225"/>
                    <a:pt x="6574391" y="2410711"/>
                  </a:cubicBezTo>
                  <a:cubicBezTo>
                    <a:pt x="6611616" y="2292358"/>
                    <a:pt x="6641046" y="2198661"/>
                    <a:pt x="6592368" y="2045788"/>
                  </a:cubicBezTo>
                  <a:cubicBezTo>
                    <a:pt x="6515690" y="1804946"/>
                    <a:pt x="6345632" y="1716817"/>
                    <a:pt x="6110350" y="1594964"/>
                  </a:cubicBezTo>
                  <a:cubicBezTo>
                    <a:pt x="5927884" y="1500472"/>
                    <a:pt x="5700875" y="1382915"/>
                    <a:pt x="5458116" y="1154639"/>
                  </a:cubicBezTo>
                  <a:cubicBezTo>
                    <a:pt x="5182269" y="895185"/>
                    <a:pt x="5062799" y="660228"/>
                    <a:pt x="4966714" y="471244"/>
                  </a:cubicBezTo>
                  <a:cubicBezTo>
                    <a:pt x="4862674" y="266512"/>
                    <a:pt x="4787588" y="118730"/>
                    <a:pt x="4572191" y="54622"/>
                  </a:cubicBezTo>
                  <a:cubicBezTo>
                    <a:pt x="4358068" y="-9168"/>
                    <a:pt x="4203281" y="70848"/>
                    <a:pt x="4023997" y="163590"/>
                  </a:cubicBezTo>
                  <a:cubicBezTo>
                    <a:pt x="3846143" y="255377"/>
                    <a:pt x="3645224" y="359095"/>
                    <a:pt x="3334697" y="359095"/>
                  </a:cubicBezTo>
                  <a:cubicBezTo>
                    <a:pt x="3328015" y="359095"/>
                    <a:pt x="3321175" y="359095"/>
                    <a:pt x="3314334" y="358936"/>
                  </a:cubicBezTo>
                  <a:cubicBezTo>
                    <a:pt x="2987422" y="354164"/>
                    <a:pt x="2773616" y="234538"/>
                    <a:pt x="2601808" y="138296"/>
                  </a:cubicBezTo>
                  <a:cubicBezTo>
                    <a:pt x="2471839" y="65121"/>
                    <a:pt x="2361754" y="3558"/>
                    <a:pt x="2236398" y="3558"/>
                  </a:cubicBezTo>
                  <a:close/>
                </a:path>
              </a:pathLst>
            </a:custGeom>
            <a:gradFill>
              <a:gsLst>
                <a:gs pos="100000">
                  <a:schemeClr val="accent2"/>
                </a:gs>
                <a:gs pos="0">
                  <a:schemeClr val="accent1"/>
                </a:gs>
              </a:gsLst>
              <a:lin ang="0" scaled="1"/>
            </a:gradFill>
            <a:ln w="1589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9" name="Freeform 18">
              <a:extLst>
                <a:ext uri="{FF2B5EF4-FFF2-40B4-BE49-F238E27FC236}">
                  <a16:creationId xmlns:a16="http://schemas.microsoft.com/office/drawing/2014/main" id="{0FF3D087-91C5-7001-5E18-921D2F911E63}"/>
                </a:ext>
              </a:extLst>
            </p:cNvPr>
            <p:cNvSpPr/>
            <p:nvPr/>
          </p:nvSpPr>
          <p:spPr>
            <a:xfrm>
              <a:off x="-3425807" y="54051"/>
              <a:ext cx="6848780" cy="6736467"/>
            </a:xfrm>
            <a:custGeom>
              <a:avLst/>
              <a:gdLst>
                <a:gd name="connsiteX0" fmla="*/ 2530497 w 6848780"/>
                <a:gd name="connsiteY0" fmla="*/ 6736468 h 6736467"/>
                <a:gd name="connsiteX1" fmla="*/ 2304442 w 6848780"/>
                <a:gd name="connsiteY1" fmla="*/ 6692722 h 6736467"/>
                <a:gd name="connsiteX2" fmla="*/ 1866013 w 6848780"/>
                <a:gd name="connsiteY2" fmla="*/ 6247624 h 6736467"/>
                <a:gd name="connsiteX3" fmla="*/ 1536555 w 6848780"/>
                <a:gd name="connsiteY3" fmla="*/ 5776597 h 6736467"/>
                <a:gd name="connsiteX4" fmla="*/ 711877 w 6848780"/>
                <a:gd name="connsiteY4" fmla="*/ 5339772 h 6736467"/>
                <a:gd name="connsiteX5" fmla="*/ 287288 w 6848780"/>
                <a:gd name="connsiteY5" fmla="*/ 5078249 h 6736467"/>
                <a:gd name="connsiteX6" fmla="*/ 298106 w 6848780"/>
                <a:gd name="connsiteY6" fmla="*/ 4303544 h 6736467"/>
                <a:gd name="connsiteX7" fmla="*/ 388146 w 6848780"/>
                <a:gd name="connsiteY7" fmla="*/ 3481753 h 6736467"/>
                <a:gd name="connsiteX8" fmla="*/ 145706 w 6848780"/>
                <a:gd name="connsiteY8" fmla="*/ 2657257 h 6736467"/>
                <a:gd name="connsiteX9" fmla="*/ 34349 w 6848780"/>
                <a:gd name="connsiteY9" fmla="*/ 2063104 h 6736467"/>
                <a:gd name="connsiteX10" fmla="*/ 514139 w 6848780"/>
                <a:gd name="connsiteY10" fmla="*/ 1720771 h 6736467"/>
                <a:gd name="connsiteX11" fmla="*/ 1230642 w 6848780"/>
                <a:gd name="connsiteY11" fmla="*/ 1319101 h 6736467"/>
                <a:gd name="connsiteX12" fmla="*/ 1692296 w 6848780"/>
                <a:gd name="connsiteY12" fmla="*/ 535011 h 6736467"/>
                <a:gd name="connsiteX13" fmla="*/ 2070274 w 6848780"/>
                <a:gd name="connsiteY13" fmla="*/ 23260 h 6736467"/>
                <a:gd name="connsiteX14" fmla="*/ 2569949 w 6848780"/>
                <a:gd name="connsiteY14" fmla="*/ 129205 h 6736467"/>
                <a:gd name="connsiteX15" fmla="*/ 3263385 w 6848780"/>
                <a:gd name="connsiteY15" fmla="*/ 337596 h 6736467"/>
                <a:gd name="connsiteX16" fmla="*/ 3283270 w 6848780"/>
                <a:gd name="connsiteY16" fmla="*/ 337755 h 6736467"/>
                <a:gd name="connsiteX17" fmla="*/ 3956344 w 6848780"/>
                <a:gd name="connsiteY17" fmla="*/ 154021 h 6736467"/>
                <a:gd name="connsiteX18" fmla="*/ 4505971 w 6848780"/>
                <a:gd name="connsiteY18" fmla="*/ 52689 h 6736467"/>
                <a:gd name="connsiteX19" fmla="*/ 4907651 w 6848780"/>
                <a:gd name="connsiteY19" fmla="*/ 470585 h 6736467"/>
                <a:gd name="connsiteX20" fmla="*/ 5388714 w 6848780"/>
                <a:gd name="connsiteY20" fmla="*/ 1132027 h 6736467"/>
                <a:gd name="connsiteX21" fmla="*/ 6016608 w 6848780"/>
                <a:gd name="connsiteY21" fmla="*/ 1564080 h 6736467"/>
                <a:gd name="connsiteX22" fmla="*/ 6496875 w 6848780"/>
                <a:gd name="connsiteY22" fmla="*/ 2023494 h 6736467"/>
                <a:gd name="connsiteX23" fmla="*/ 6481126 w 6848780"/>
                <a:gd name="connsiteY23" fmla="*/ 2390166 h 6736467"/>
                <a:gd name="connsiteX24" fmla="*/ 6415744 w 6848780"/>
                <a:gd name="connsiteY24" fmla="*/ 2824447 h 6736467"/>
                <a:gd name="connsiteX25" fmla="*/ 6672661 w 6848780"/>
                <a:gd name="connsiteY25" fmla="*/ 3631762 h 6736467"/>
                <a:gd name="connsiteX26" fmla="*/ 6837787 w 6848780"/>
                <a:gd name="connsiteY26" fmla="*/ 4237528 h 6736467"/>
                <a:gd name="connsiteX27" fmla="*/ 6520101 w 6848780"/>
                <a:gd name="connsiteY27" fmla="*/ 4637129 h 6736467"/>
                <a:gd name="connsiteX28" fmla="*/ 6001496 w 6848780"/>
                <a:gd name="connsiteY28" fmla="*/ 5094952 h 6736467"/>
                <a:gd name="connsiteX29" fmla="*/ 5449642 w 6848780"/>
                <a:gd name="connsiteY29" fmla="*/ 5967967 h 6736467"/>
                <a:gd name="connsiteX30" fmla="*/ 4963489 w 6848780"/>
                <a:gd name="connsiteY30" fmla="*/ 6545735 h 6736467"/>
                <a:gd name="connsiteX31" fmla="*/ 4480836 w 6848780"/>
                <a:gd name="connsiteY31" fmla="*/ 6542553 h 6736467"/>
                <a:gd name="connsiteX32" fmla="*/ 3794876 w 6848780"/>
                <a:gd name="connsiteY32" fmla="*/ 6457447 h 6736467"/>
                <a:gd name="connsiteX33" fmla="*/ 2944904 w 6848780"/>
                <a:gd name="connsiteY33" fmla="*/ 6636249 h 6736467"/>
                <a:gd name="connsiteX34" fmla="*/ 2530497 w 6848780"/>
                <a:gd name="connsiteY34" fmla="*/ 6736468 h 6736467"/>
                <a:gd name="connsiteX35" fmla="*/ 2206130 w 6848780"/>
                <a:gd name="connsiteY35" fmla="*/ 6716 h 6736467"/>
                <a:gd name="connsiteX36" fmla="*/ 2072501 w 6848780"/>
                <a:gd name="connsiteY36" fmla="*/ 29623 h 6736467"/>
                <a:gd name="connsiteX37" fmla="*/ 1698500 w 6848780"/>
                <a:gd name="connsiteY37" fmla="*/ 537238 h 6736467"/>
                <a:gd name="connsiteX38" fmla="*/ 1235255 w 6848780"/>
                <a:gd name="connsiteY38" fmla="*/ 1323874 h 6736467"/>
                <a:gd name="connsiteX39" fmla="*/ 516366 w 6848780"/>
                <a:gd name="connsiteY39" fmla="*/ 1727134 h 6736467"/>
                <a:gd name="connsiteX40" fmla="*/ 40394 w 6848780"/>
                <a:gd name="connsiteY40" fmla="*/ 2065808 h 6736467"/>
                <a:gd name="connsiteX41" fmla="*/ 151592 w 6848780"/>
                <a:gd name="connsiteY41" fmla="*/ 2654393 h 6736467"/>
                <a:gd name="connsiteX42" fmla="*/ 394668 w 6848780"/>
                <a:gd name="connsiteY42" fmla="*/ 3481753 h 6736467"/>
                <a:gd name="connsiteX43" fmla="*/ 304469 w 6848780"/>
                <a:gd name="connsiteY43" fmla="*/ 4304976 h 6736467"/>
                <a:gd name="connsiteX44" fmla="*/ 293493 w 6848780"/>
                <a:gd name="connsiteY44" fmla="*/ 5076022 h 6736467"/>
                <a:gd name="connsiteX45" fmla="*/ 712831 w 6848780"/>
                <a:gd name="connsiteY45" fmla="*/ 5333409 h 6736467"/>
                <a:gd name="connsiteX46" fmla="*/ 1541487 w 6848780"/>
                <a:gd name="connsiteY46" fmla="*/ 5772461 h 6736467"/>
                <a:gd name="connsiteX47" fmla="*/ 1871740 w 6848780"/>
                <a:gd name="connsiteY47" fmla="*/ 6244443 h 6736467"/>
                <a:gd name="connsiteX48" fmla="*/ 2306828 w 6848780"/>
                <a:gd name="connsiteY48" fmla="*/ 6686677 h 6736467"/>
                <a:gd name="connsiteX49" fmla="*/ 2942677 w 6848780"/>
                <a:gd name="connsiteY49" fmla="*/ 6630364 h 6736467"/>
                <a:gd name="connsiteX50" fmla="*/ 3794717 w 6848780"/>
                <a:gd name="connsiteY50" fmla="*/ 6451243 h 6736467"/>
                <a:gd name="connsiteX51" fmla="*/ 4482586 w 6848780"/>
                <a:gd name="connsiteY51" fmla="*/ 6536508 h 6736467"/>
                <a:gd name="connsiteX52" fmla="*/ 4961103 w 6848780"/>
                <a:gd name="connsiteY52" fmla="*/ 6539849 h 6736467"/>
                <a:gd name="connsiteX53" fmla="*/ 5443597 w 6848780"/>
                <a:gd name="connsiteY53" fmla="*/ 5965422 h 6736467"/>
                <a:gd name="connsiteX54" fmla="*/ 5996723 w 6848780"/>
                <a:gd name="connsiteY54" fmla="*/ 5090817 h 6736467"/>
                <a:gd name="connsiteX55" fmla="*/ 6516283 w 6848780"/>
                <a:gd name="connsiteY55" fmla="*/ 4632038 h 6736467"/>
                <a:gd name="connsiteX56" fmla="*/ 6831265 w 6848780"/>
                <a:gd name="connsiteY56" fmla="*/ 4236573 h 6736467"/>
                <a:gd name="connsiteX57" fmla="*/ 6666775 w 6848780"/>
                <a:gd name="connsiteY57" fmla="*/ 3635262 h 6736467"/>
                <a:gd name="connsiteX58" fmla="*/ 6409062 w 6848780"/>
                <a:gd name="connsiteY58" fmla="*/ 2824765 h 6736467"/>
                <a:gd name="connsiteX59" fmla="*/ 6474763 w 6848780"/>
                <a:gd name="connsiteY59" fmla="*/ 2388417 h 6736467"/>
                <a:gd name="connsiteX60" fmla="*/ 6490512 w 6848780"/>
                <a:gd name="connsiteY60" fmla="*/ 2025721 h 6736467"/>
                <a:gd name="connsiteX61" fmla="*/ 6013427 w 6848780"/>
                <a:gd name="connsiteY61" fmla="*/ 1570125 h 6736467"/>
                <a:gd name="connsiteX62" fmla="*/ 5384259 w 6848780"/>
                <a:gd name="connsiteY62" fmla="*/ 1136958 h 6736467"/>
                <a:gd name="connsiteX63" fmla="*/ 4901925 w 6848780"/>
                <a:gd name="connsiteY63" fmla="*/ 473766 h 6736467"/>
                <a:gd name="connsiteX64" fmla="*/ 4504221 w 6848780"/>
                <a:gd name="connsiteY64" fmla="*/ 59052 h 6736467"/>
                <a:gd name="connsiteX65" fmla="*/ 3959366 w 6848780"/>
                <a:gd name="connsiteY65" fmla="*/ 160066 h 6736467"/>
                <a:gd name="connsiteX66" fmla="*/ 3283429 w 6848780"/>
                <a:gd name="connsiteY66" fmla="*/ 344436 h 6736467"/>
                <a:gd name="connsiteX67" fmla="*/ 3263385 w 6848780"/>
                <a:gd name="connsiteY67" fmla="*/ 344277 h 6736467"/>
                <a:gd name="connsiteX68" fmla="*/ 2566926 w 6848780"/>
                <a:gd name="connsiteY68" fmla="*/ 135091 h 6736467"/>
                <a:gd name="connsiteX69" fmla="*/ 2206130 w 6848780"/>
                <a:gd name="connsiteY69" fmla="*/ 6716 h 6736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6848780" h="6736467">
                  <a:moveTo>
                    <a:pt x="2530497" y="6736468"/>
                  </a:moveTo>
                  <a:cubicBezTo>
                    <a:pt x="2459069" y="6736468"/>
                    <a:pt x="2385573" y="6723742"/>
                    <a:pt x="2304442" y="6692722"/>
                  </a:cubicBezTo>
                  <a:cubicBezTo>
                    <a:pt x="2081887" y="6607934"/>
                    <a:pt x="1991369" y="6456811"/>
                    <a:pt x="1866013" y="6247624"/>
                  </a:cubicBezTo>
                  <a:cubicBezTo>
                    <a:pt x="1783768" y="6110182"/>
                    <a:pt x="1690387" y="5954445"/>
                    <a:pt x="1536555" y="5776597"/>
                  </a:cubicBezTo>
                  <a:cubicBezTo>
                    <a:pt x="1220301" y="5410720"/>
                    <a:pt x="938409" y="5371269"/>
                    <a:pt x="711877" y="5339772"/>
                  </a:cubicBezTo>
                  <a:cubicBezTo>
                    <a:pt x="521934" y="5313206"/>
                    <a:pt x="371920" y="5292208"/>
                    <a:pt x="287288" y="5078249"/>
                  </a:cubicBezTo>
                  <a:cubicBezTo>
                    <a:pt x="193430" y="4841066"/>
                    <a:pt x="239564" y="4603882"/>
                    <a:pt x="298106" y="4303544"/>
                  </a:cubicBezTo>
                  <a:cubicBezTo>
                    <a:pt x="343603" y="4069224"/>
                    <a:pt x="395305" y="3803724"/>
                    <a:pt x="388146" y="3481753"/>
                  </a:cubicBezTo>
                  <a:cubicBezTo>
                    <a:pt x="380033" y="3114444"/>
                    <a:pt x="250063" y="2860875"/>
                    <a:pt x="145706" y="2657257"/>
                  </a:cubicBezTo>
                  <a:cubicBezTo>
                    <a:pt x="35940" y="2442980"/>
                    <a:pt x="-50760" y="2273722"/>
                    <a:pt x="34349" y="2063104"/>
                  </a:cubicBezTo>
                  <a:cubicBezTo>
                    <a:pt x="118185" y="1855827"/>
                    <a:pt x="292856" y="1796173"/>
                    <a:pt x="514139" y="1720771"/>
                  </a:cubicBezTo>
                  <a:cubicBezTo>
                    <a:pt x="720786" y="1650299"/>
                    <a:pt x="977861" y="1562648"/>
                    <a:pt x="1230642" y="1319101"/>
                  </a:cubicBezTo>
                  <a:cubicBezTo>
                    <a:pt x="1505057" y="1054715"/>
                    <a:pt x="1608778" y="766627"/>
                    <a:pt x="1692296" y="535011"/>
                  </a:cubicBezTo>
                  <a:cubicBezTo>
                    <a:pt x="1780268" y="290668"/>
                    <a:pt x="1849787" y="97708"/>
                    <a:pt x="2070274" y="23260"/>
                  </a:cubicBezTo>
                  <a:cubicBezTo>
                    <a:pt x="2257036" y="-39575"/>
                    <a:pt x="2395118" y="34714"/>
                    <a:pt x="2569949" y="129205"/>
                  </a:cubicBezTo>
                  <a:cubicBezTo>
                    <a:pt x="2747007" y="224811"/>
                    <a:pt x="2947608" y="332983"/>
                    <a:pt x="3263385" y="337596"/>
                  </a:cubicBezTo>
                  <a:cubicBezTo>
                    <a:pt x="3270067" y="337755"/>
                    <a:pt x="3276748" y="337755"/>
                    <a:pt x="3283270" y="337755"/>
                  </a:cubicBezTo>
                  <a:cubicBezTo>
                    <a:pt x="3583934" y="337755"/>
                    <a:pt x="3781513" y="240241"/>
                    <a:pt x="3956344" y="154021"/>
                  </a:cubicBezTo>
                  <a:cubicBezTo>
                    <a:pt x="4136583" y="65097"/>
                    <a:pt x="4292324" y="-11419"/>
                    <a:pt x="4505971" y="52689"/>
                  </a:cubicBezTo>
                  <a:cubicBezTo>
                    <a:pt x="4722799" y="118070"/>
                    <a:pt x="4800271" y="265852"/>
                    <a:pt x="4907651" y="470585"/>
                  </a:cubicBezTo>
                  <a:cubicBezTo>
                    <a:pt x="5003737" y="653682"/>
                    <a:pt x="5123207" y="881480"/>
                    <a:pt x="5388714" y="1132027"/>
                  </a:cubicBezTo>
                  <a:cubicBezTo>
                    <a:pt x="5621927" y="1352189"/>
                    <a:pt x="5840664" y="1469747"/>
                    <a:pt x="6016608" y="1564080"/>
                  </a:cubicBezTo>
                  <a:cubicBezTo>
                    <a:pt x="6250776" y="1689910"/>
                    <a:pt x="6420039" y="1780742"/>
                    <a:pt x="6496875" y="2023494"/>
                  </a:cubicBezTo>
                  <a:cubicBezTo>
                    <a:pt x="6545236" y="2176367"/>
                    <a:pt x="6516920" y="2270700"/>
                    <a:pt x="6481126" y="2390166"/>
                  </a:cubicBezTo>
                  <a:cubicBezTo>
                    <a:pt x="6448515" y="2498339"/>
                    <a:pt x="6411767" y="2620987"/>
                    <a:pt x="6415744" y="2824447"/>
                  </a:cubicBezTo>
                  <a:cubicBezTo>
                    <a:pt x="6423062" y="3188256"/>
                    <a:pt x="6555736" y="3423849"/>
                    <a:pt x="6672661" y="3631762"/>
                  </a:cubicBezTo>
                  <a:cubicBezTo>
                    <a:pt x="6785131" y="3831404"/>
                    <a:pt x="6882171" y="4004003"/>
                    <a:pt x="6837787" y="4237528"/>
                  </a:cubicBezTo>
                  <a:cubicBezTo>
                    <a:pt x="6800084" y="4434306"/>
                    <a:pt x="6688727" y="4514958"/>
                    <a:pt x="6520101" y="4637129"/>
                  </a:cubicBezTo>
                  <a:cubicBezTo>
                    <a:pt x="6382655" y="4736711"/>
                    <a:pt x="6211483" y="4860632"/>
                    <a:pt x="6001496" y="5094952"/>
                  </a:cubicBezTo>
                  <a:cubicBezTo>
                    <a:pt x="5696696" y="5435059"/>
                    <a:pt x="5559727" y="5730465"/>
                    <a:pt x="5449642" y="5967967"/>
                  </a:cubicBezTo>
                  <a:cubicBezTo>
                    <a:pt x="5323013" y="6240943"/>
                    <a:pt x="5231700" y="6438039"/>
                    <a:pt x="4963489" y="6545735"/>
                  </a:cubicBezTo>
                  <a:cubicBezTo>
                    <a:pt x="4773546" y="6622091"/>
                    <a:pt x="4650735" y="6588844"/>
                    <a:pt x="4480836" y="6542553"/>
                  </a:cubicBezTo>
                  <a:cubicBezTo>
                    <a:pt x="4322550" y="6499443"/>
                    <a:pt x="4126084" y="6445834"/>
                    <a:pt x="3794876" y="6457447"/>
                  </a:cubicBezTo>
                  <a:cubicBezTo>
                    <a:pt x="3408467" y="6470809"/>
                    <a:pt x="3151392" y="6562597"/>
                    <a:pt x="2944904" y="6636249"/>
                  </a:cubicBezTo>
                  <a:cubicBezTo>
                    <a:pt x="2790754" y="6691449"/>
                    <a:pt x="2664284" y="6736468"/>
                    <a:pt x="2530497" y="6736468"/>
                  </a:cubicBezTo>
                  <a:close/>
                  <a:moveTo>
                    <a:pt x="2206130" y="6716"/>
                  </a:moveTo>
                  <a:cubicBezTo>
                    <a:pt x="2163655" y="6716"/>
                    <a:pt x="2119589" y="13715"/>
                    <a:pt x="2072501" y="29623"/>
                  </a:cubicBezTo>
                  <a:cubicBezTo>
                    <a:pt x="1854878" y="103117"/>
                    <a:pt x="1785836" y="294645"/>
                    <a:pt x="1698500" y="537238"/>
                  </a:cubicBezTo>
                  <a:cubicBezTo>
                    <a:pt x="1614824" y="769490"/>
                    <a:pt x="1510784" y="1058374"/>
                    <a:pt x="1235255" y="1323874"/>
                  </a:cubicBezTo>
                  <a:cubicBezTo>
                    <a:pt x="981361" y="1568534"/>
                    <a:pt x="723490" y="1656344"/>
                    <a:pt x="516366" y="1727134"/>
                  </a:cubicBezTo>
                  <a:cubicBezTo>
                    <a:pt x="296674" y="1802059"/>
                    <a:pt x="123116" y="1861236"/>
                    <a:pt x="40394" y="2065808"/>
                  </a:cubicBezTo>
                  <a:cubicBezTo>
                    <a:pt x="-43601" y="2273563"/>
                    <a:pt x="42621" y="2441707"/>
                    <a:pt x="151592" y="2654393"/>
                  </a:cubicBezTo>
                  <a:cubicBezTo>
                    <a:pt x="256268" y="2858648"/>
                    <a:pt x="386555" y="3112853"/>
                    <a:pt x="394668" y="3481753"/>
                  </a:cubicBezTo>
                  <a:cubicBezTo>
                    <a:pt x="401827" y="3804520"/>
                    <a:pt x="350126" y="4070337"/>
                    <a:pt x="304469" y="4304976"/>
                  </a:cubicBezTo>
                  <a:cubicBezTo>
                    <a:pt x="246245" y="4604200"/>
                    <a:pt x="200271" y="4840588"/>
                    <a:pt x="293493" y="5076022"/>
                  </a:cubicBezTo>
                  <a:cubicBezTo>
                    <a:pt x="376533" y="5286481"/>
                    <a:pt x="524956" y="5307161"/>
                    <a:pt x="712831" y="5333409"/>
                  </a:cubicBezTo>
                  <a:cubicBezTo>
                    <a:pt x="940477" y="5365224"/>
                    <a:pt x="1223801" y="5404675"/>
                    <a:pt x="1541487" y="5772461"/>
                  </a:cubicBezTo>
                  <a:cubicBezTo>
                    <a:pt x="1695796" y="5950787"/>
                    <a:pt x="1789177" y="6106841"/>
                    <a:pt x="1871740" y="6244443"/>
                  </a:cubicBezTo>
                  <a:cubicBezTo>
                    <a:pt x="1996301" y="6452515"/>
                    <a:pt x="2086341" y="6602843"/>
                    <a:pt x="2306828" y="6686677"/>
                  </a:cubicBezTo>
                  <a:cubicBezTo>
                    <a:pt x="2537655" y="6774646"/>
                    <a:pt x="2707713" y="6714038"/>
                    <a:pt x="2942677" y="6630364"/>
                  </a:cubicBezTo>
                  <a:cubicBezTo>
                    <a:pt x="3149801" y="6556552"/>
                    <a:pt x="3407354" y="6464605"/>
                    <a:pt x="3794717" y="6451243"/>
                  </a:cubicBezTo>
                  <a:cubicBezTo>
                    <a:pt x="4126084" y="6439312"/>
                    <a:pt x="4323823" y="6493398"/>
                    <a:pt x="4482586" y="6536508"/>
                  </a:cubicBezTo>
                  <a:cubicBezTo>
                    <a:pt x="4651212" y="6582322"/>
                    <a:pt x="4773068" y="6615410"/>
                    <a:pt x="4961103" y="6539849"/>
                  </a:cubicBezTo>
                  <a:cubicBezTo>
                    <a:pt x="5226769" y="6433108"/>
                    <a:pt x="5317763" y="6236966"/>
                    <a:pt x="5443597" y="5965422"/>
                  </a:cubicBezTo>
                  <a:cubicBezTo>
                    <a:pt x="5553999" y="5727602"/>
                    <a:pt x="5691128" y="5431559"/>
                    <a:pt x="5996723" y="5090817"/>
                  </a:cubicBezTo>
                  <a:cubicBezTo>
                    <a:pt x="6207029" y="4856019"/>
                    <a:pt x="6378519" y="4731780"/>
                    <a:pt x="6516283" y="4632038"/>
                  </a:cubicBezTo>
                  <a:cubicBezTo>
                    <a:pt x="6689523" y="4506527"/>
                    <a:pt x="6794040" y="4430806"/>
                    <a:pt x="6831265" y="4236573"/>
                  </a:cubicBezTo>
                  <a:cubicBezTo>
                    <a:pt x="6875171" y="4005434"/>
                    <a:pt x="6778768" y="3833949"/>
                    <a:pt x="6666775" y="3635262"/>
                  </a:cubicBezTo>
                  <a:cubicBezTo>
                    <a:pt x="6549372" y="3426712"/>
                    <a:pt x="6416221" y="3190483"/>
                    <a:pt x="6409062" y="2824765"/>
                  </a:cubicBezTo>
                  <a:cubicBezTo>
                    <a:pt x="6404926" y="2620192"/>
                    <a:pt x="6443583" y="2491658"/>
                    <a:pt x="6474763" y="2388417"/>
                  </a:cubicBezTo>
                  <a:cubicBezTo>
                    <a:pt x="6510238" y="2270063"/>
                    <a:pt x="6538396" y="2176685"/>
                    <a:pt x="6490512" y="2025721"/>
                  </a:cubicBezTo>
                  <a:cubicBezTo>
                    <a:pt x="6414630" y="1785515"/>
                    <a:pt x="6246322" y="1695159"/>
                    <a:pt x="6013427" y="1570125"/>
                  </a:cubicBezTo>
                  <a:cubicBezTo>
                    <a:pt x="5837324" y="1475474"/>
                    <a:pt x="5618109" y="1357757"/>
                    <a:pt x="5384259" y="1136958"/>
                  </a:cubicBezTo>
                  <a:cubicBezTo>
                    <a:pt x="5117798" y="885775"/>
                    <a:pt x="4998169" y="657341"/>
                    <a:pt x="4901925" y="473766"/>
                  </a:cubicBezTo>
                  <a:cubicBezTo>
                    <a:pt x="4795340" y="270466"/>
                    <a:pt x="4718344" y="123638"/>
                    <a:pt x="4504221" y="59052"/>
                  </a:cubicBezTo>
                  <a:cubicBezTo>
                    <a:pt x="4292961" y="-4419"/>
                    <a:pt x="4138333" y="71779"/>
                    <a:pt x="3959366" y="160066"/>
                  </a:cubicBezTo>
                  <a:cubicBezTo>
                    <a:pt x="3783900" y="246604"/>
                    <a:pt x="3585684" y="344436"/>
                    <a:pt x="3283429" y="344436"/>
                  </a:cubicBezTo>
                  <a:cubicBezTo>
                    <a:pt x="3276907" y="344436"/>
                    <a:pt x="3270067" y="344436"/>
                    <a:pt x="3263385" y="344277"/>
                  </a:cubicBezTo>
                  <a:cubicBezTo>
                    <a:pt x="2945858" y="339823"/>
                    <a:pt x="2735712" y="226242"/>
                    <a:pt x="2566926" y="135091"/>
                  </a:cubicBezTo>
                  <a:cubicBezTo>
                    <a:pt x="2437911" y="65415"/>
                    <a:pt x="2329099" y="6716"/>
                    <a:pt x="2206130" y="6716"/>
                  </a:cubicBezTo>
                  <a:close/>
                </a:path>
              </a:pathLst>
            </a:custGeom>
            <a:gradFill>
              <a:gsLst>
                <a:gs pos="100000">
                  <a:schemeClr val="accent2"/>
                </a:gs>
                <a:gs pos="0">
                  <a:schemeClr val="accent1"/>
                </a:gs>
              </a:gsLst>
              <a:lin ang="0" scaled="1"/>
            </a:gradFill>
            <a:ln w="1589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31" name="Freeform 30">
              <a:extLst>
                <a:ext uri="{FF2B5EF4-FFF2-40B4-BE49-F238E27FC236}">
                  <a16:creationId xmlns:a16="http://schemas.microsoft.com/office/drawing/2014/main" id="{A6ACAA44-025E-F350-77C8-231E5565E4BF}"/>
                </a:ext>
              </a:extLst>
            </p:cNvPr>
            <p:cNvSpPr/>
            <p:nvPr/>
          </p:nvSpPr>
          <p:spPr>
            <a:xfrm>
              <a:off x="-3368018" y="108503"/>
              <a:ext cx="6732052" cy="6626815"/>
            </a:xfrm>
            <a:custGeom>
              <a:avLst/>
              <a:gdLst>
                <a:gd name="connsiteX0" fmla="*/ 2486865 w 6732052"/>
                <a:gd name="connsiteY0" fmla="*/ 6626816 h 6626815"/>
                <a:gd name="connsiteX1" fmla="*/ 2257470 w 6732052"/>
                <a:gd name="connsiteY1" fmla="*/ 6582433 h 6626815"/>
                <a:gd name="connsiteX2" fmla="*/ 1818246 w 6732052"/>
                <a:gd name="connsiteY2" fmla="*/ 6141790 h 6626815"/>
                <a:gd name="connsiteX3" fmla="*/ 1496901 w 6732052"/>
                <a:gd name="connsiteY3" fmla="*/ 5688580 h 6626815"/>
                <a:gd name="connsiteX4" fmla="*/ 698630 w 6732052"/>
                <a:gd name="connsiteY4" fmla="*/ 5256686 h 6626815"/>
                <a:gd name="connsiteX5" fmla="*/ 278496 w 6732052"/>
                <a:gd name="connsiteY5" fmla="*/ 4990391 h 6626815"/>
                <a:gd name="connsiteX6" fmla="*/ 283587 w 6732052"/>
                <a:gd name="connsiteY6" fmla="*/ 4219027 h 6626815"/>
                <a:gd name="connsiteX7" fmla="*/ 366786 w 6732052"/>
                <a:gd name="connsiteY7" fmla="*/ 3422687 h 6626815"/>
                <a:gd name="connsiteX8" fmla="*/ 138664 w 6732052"/>
                <a:gd name="connsiteY8" fmla="*/ 2619985 h 6626815"/>
                <a:gd name="connsiteX9" fmla="*/ 34942 w 6732052"/>
                <a:gd name="connsiteY9" fmla="*/ 2027582 h 6626815"/>
                <a:gd name="connsiteX10" fmla="*/ 509164 w 6732052"/>
                <a:gd name="connsiteY10" fmla="*/ 1681431 h 6626815"/>
                <a:gd name="connsiteX11" fmla="*/ 1201328 w 6732052"/>
                <a:gd name="connsiteY11" fmla="*/ 1285647 h 6626815"/>
                <a:gd name="connsiteX12" fmla="*/ 1655824 w 6732052"/>
                <a:gd name="connsiteY12" fmla="*/ 528918 h 6626815"/>
                <a:gd name="connsiteX13" fmla="*/ 2038574 w 6732052"/>
                <a:gd name="connsiteY13" fmla="*/ 23690 h 6626815"/>
                <a:gd name="connsiteX14" fmla="*/ 2536340 w 6732052"/>
                <a:gd name="connsiteY14" fmla="*/ 123113 h 6626815"/>
                <a:gd name="connsiteX15" fmla="*/ 3212277 w 6732052"/>
                <a:gd name="connsiteY15" fmla="*/ 319573 h 6626815"/>
                <a:gd name="connsiteX16" fmla="*/ 3231844 w 6732052"/>
                <a:gd name="connsiteY16" fmla="*/ 319732 h 6626815"/>
                <a:gd name="connsiteX17" fmla="*/ 3889964 w 6732052"/>
                <a:gd name="connsiteY17" fmla="*/ 147451 h 6626815"/>
                <a:gd name="connsiteX18" fmla="*/ 4438795 w 6732052"/>
                <a:gd name="connsiteY18" fmla="*/ 53914 h 6626815"/>
                <a:gd name="connsiteX19" fmla="*/ 4845726 w 6732052"/>
                <a:gd name="connsiteY19" fmla="*/ 471491 h 6626815"/>
                <a:gd name="connsiteX20" fmla="*/ 5316925 w 6732052"/>
                <a:gd name="connsiteY20" fmla="*/ 1111935 h 6626815"/>
                <a:gd name="connsiteX21" fmla="*/ 5920958 w 6732052"/>
                <a:gd name="connsiteY21" fmla="*/ 1535875 h 6626815"/>
                <a:gd name="connsiteX22" fmla="*/ 6398043 w 6732052"/>
                <a:gd name="connsiteY22" fmla="*/ 2002448 h 6626815"/>
                <a:gd name="connsiteX23" fmla="*/ 6384521 w 6732052"/>
                <a:gd name="connsiteY23" fmla="*/ 2368643 h 6626815"/>
                <a:gd name="connsiteX24" fmla="*/ 6323274 w 6732052"/>
                <a:gd name="connsiteY24" fmla="*/ 2792902 h 6626815"/>
                <a:gd name="connsiteX25" fmla="*/ 6565238 w 6732052"/>
                <a:gd name="connsiteY25" fmla="*/ 3580810 h 6626815"/>
                <a:gd name="connsiteX26" fmla="*/ 6720342 w 6732052"/>
                <a:gd name="connsiteY26" fmla="*/ 4182916 h 6626815"/>
                <a:gd name="connsiteX27" fmla="*/ 6402815 w 6732052"/>
                <a:gd name="connsiteY27" fmla="*/ 4584586 h 6626815"/>
                <a:gd name="connsiteX28" fmla="*/ 5902504 w 6732052"/>
                <a:gd name="connsiteY28" fmla="*/ 5029842 h 6626815"/>
                <a:gd name="connsiteX29" fmla="*/ 5362263 w 6732052"/>
                <a:gd name="connsiteY29" fmla="*/ 5871200 h 6626815"/>
                <a:gd name="connsiteX30" fmla="*/ 4870543 w 6732052"/>
                <a:gd name="connsiteY30" fmla="*/ 6444514 h 6626815"/>
                <a:gd name="connsiteX31" fmla="*/ 4388685 w 6732052"/>
                <a:gd name="connsiteY31" fmla="*/ 6444196 h 6626815"/>
                <a:gd name="connsiteX32" fmla="*/ 3721815 w 6732052"/>
                <a:gd name="connsiteY32" fmla="*/ 6364816 h 6626815"/>
                <a:gd name="connsiteX33" fmla="*/ 2896341 w 6732052"/>
                <a:gd name="connsiteY33" fmla="*/ 6532324 h 6626815"/>
                <a:gd name="connsiteX34" fmla="*/ 2486865 w 6732052"/>
                <a:gd name="connsiteY34" fmla="*/ 6626816 h 6626815"/>
                <a:gd name="connsiteX35" fmla="*/ 2176498 w 6732052"/>
                <a:gd name="connsiteY35" fmla="*/ 9850 h 6626815"/>
                <a:gd name="connsiteX36" fmla="*/ 2041914 w 6732052"/>
                <a:gd name="connsiteY36" fmla="*/ 32916 h 6626815"/>
                <a:gd name="connsiteX37" fmla="*/ 1665210 w 6732052"/>
                <a:gd name="connsiteY37" fmla="*/ 532418 h 6626815"/>
                <a:gd name="connsiteX38" fmla="*/ 1208327 w 6732052"/>
                <a:gd name="connsiteY38" fmla="*/ 1292806 h 6626815"/>
                <a:gd name="connsiteX39" fmla="*/ 512664 w 6732052"/>
                <a:gd name="connsiteY39" fmla="*/ 1690657 h 6626815"/>
                <a:gd name="connsiteX40" fmla="*/ 44328 w 6732052"/>
                <a:gd name="connsiteY40" fmla="*/ 2031241 h 6626815"/>
                <a:gd name="connsiteX41" fmla="*/ 147731 w 6732052"/>
                <a:gd name="connsiteY41" fmla="*/ 2615531 h 6626815"/>
                <a:gd name="connsiteX42" fmla="*/ 376809 w 6732052"/>
                <a:gd name="connsiteY42" fmla="*/ 3422369 h 6626815"/>
                <a:gd name="connsiteX43" fmla="*/ 293609 w 6732052"/>
                <a:gd name="connsiteY43" fmla="*/ 4220618 h 6626815"/>
                <a:gd name="connsiteX44" fmla="*/ 287882 w 6732052"/>
                <a:gd name="connsiteY44" fmla="*/ 4986573 h 6626815"/>
                <a:gd name="connsiteX45" fmla="*/ 700380 w 6732052"/>
                <a:gd name="connsiteY45" fmla="*/ 5246823 h 6626815"/>
                <a:gd name="connsiteX46" fmla="*/ 1504378 w 6732052"/>
                <a:gd name="connsiteY46" fmla="*/ 5681740 h 6626815"/>
                <a:gd name="connsiteX47" fmla="*/ 1826677 w 6732052"/>
                <a:gd name="connsiteY47" fmla="*/ 6136382 h 6626815"/>
                <a:gd name="connsiteX48" fmla="*/ 2261129 w 6732052"/>
                <a:gd name="connsiteY48" fmla="*/ 6573048 h 6626815"/>
                <a:gd name="connsiteX49" fmla="*/ 2893319 w 6732052"/>
                <a:gd name="connsiteY49" fmla="*/ 6522621 h 6626815"/>
                <a:gd name="connsiteX50" fmla="*/ 3721656 w 6732052"/>
                <a:gd name="connsiteY50" fmla="*/ 6354635 h 6626815"/>
                <a:gd name="connsiteX51" fmla="*/ 4391389 w 6732052"/>
                <a:gd name="connsiteY51" fmla="*/ 6434333 h 6626815"/>
                <a:gd name="connsiteX52" fmla="*/ 4867202 w 6732052"/>
                <a:gd name="connsiteY52" fmla="*/ 6435128 h 6626815"/>
                <a:gd name="connsiteX53" fmla="*/ 5353673 w 6732052"/>
                <a:gd name="connsiteY53" fmla="*/ 5866746 h 6626815"/>
                <a:gd name="connsiteX54" fmla="*/ 5895345 w 6732052"/>
                <a:gd name="connsiteY54" fmla="*/ 5023161 h 6626815"/>
                <a:gd name="connsiteX55" fmla="*/ 6397089 w 6732052"/>
                <a:gd name="connsiteY55" fmla="*/ 4576473 h 6626815"/>
                <a:gd name="connsiteX56" fmla="*/ 6710797 w 6732052"/>
                <a:gd name="connsiteY56" fmla="*/ 4180849 h 6626815"/>
                <a:gd name="connsiteX57" fmla="*/ 6556806 w 6732052"/>
                <a:gd name="connsiteY57" fmla="*/ 3585264 h 6626815"/>
                <a:gd name="connsiteX58" fmla="*/ 6313730 w 6732052"/>
                <a:gd name="connsiteY58" fmla="*/ 2792743 h 6626815"/>
                <a:gd name="connsiteX59" fmla="*/ 6375294 w 6732052"/>
                <a:gd name="connsiteY59" fmla="*/ 2365621 h 6626815"/>
                <a:gd name="connsiteX60" fmla="*/ 6388975 w 6732052"/>
                <a:gd name="connsiteY60" fmla="*/ 2004993 h 6626815"/>
                <a:gd name="connsiteX61" fmla="*/ 5916504 w 6732052"/>
                <a:gd name="connsiteY61" fmla="*/ 1544147 h 6626815"/>
                <a:gd name="connsiteX62" fmla="*/ 5310562 w 6732052"/>
                <a:gd name="connsiteY62" fmla="*/ 1118776 h 6626815"/>
                <a:gd name="connsiteX63" fmla="*/ 4837454 w 6732052"/>
                <a:gd name="connsiteY63" fmla="*/ 475945 h 6626815"/>
                <a:gd name="connsiteX64" fmla="*/ 4436250 w 6732052"/>
                <a:gd name="connsiteY64" fmla="*/ 63141 h 6626815"/>
                <a:gd name="connsiteX65" fmla="*/ 3894418 w 6732052"/>
                <a:gd name="connsiteY65" fmla="*/ 156201 h 6626815"/>
                <a:gd name="connsiteX66" fmla="*/ 3232162 w 6732052"/>
                <a:gd name="connsiteY66" fmla="*/ 329436 h 6626815"/>
                <a:gd name="connsiteX67" fmla="*/ 3212436 w 6732052"/>
                <a:gd name="connsiteY67" fmla="*/ 329276 h 6626815"/>
                <a:gd name="connsiteX68" fmla="*/ 3212436 w 6732052"/>
                <a:gd name="connsiteY68" fmla="*/ 329276 h 6626815"/>
                <a:gd name="connsiteX69" fmla="*/ 2532204 w 6732052"/>
                <a:gd name="connsiteY69" fmla="*/ 131703 h 6626815"/>
                <a:gd name="connsiteX70" fmla="*/ 2176498 w 6732052"/>
                <a:gd name="connsiteY70" fmla="*/ 9850 h 6626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732052" h="6626815">
                  <a:moveTo>
                    <a:pt x="2486865" y="6626816"/>
                  </a:moveTo>
                  <a:cubicBezTo>
                    <a:pt x="2414324" y="6626816"/>
                    <a:pt x="2339715" y="6613931"/>
                    <a:pt x="2257470" y="6582433"/>
                  </a:cubicBezTo>
                  <a:cubicBezTo>
                    <a:pt x="2036506" y="6497964"/>
                    <a:pt x="1944875" y="6348431"/>
                    <a:pt x="1818246" y="6141790"/>
                  </a:cubicBezTo>
                  <a:cubicBezTo>
                    <a:pt x="1737114" y="6009279"/>
                    <a:pt x="1645165" y="5859270"/>
                    <a:pt x="1496901" y="5688580"/>
                  </a:cubicBezTo>
                  <a:cubicBezTo>
                    <a:pt x="1191306" y="5336066"/>
                    <a:pt x="918163" y="5292160"/>
                    <a:pt x="698630" y="5256686"/>
                  </a:cubicBezTo>
                  <a:cubicBezTo>
                    <a:pt x="510914" y="5226461"/>
                    <a:pt x="362809" y="5202759"/>
                    <a:pt x="278496" y="4990391"/>
                  </a:cubicBezTo>
                  <a:cubicBezTo>
                    <a:pt x="184638" y="4754162"/>
                    <a:pt x="230613" y="4506161"/>
                    <a:pt x="283587" y="4219027"/>
                  </a:cubicBezTo>
                  <a:cubicBezTo>
                    <a:pt x="325743" y="3991388"/>
                    <a:pt x="373468" y="3733365"/>
                    <a:pt x="366786" y="3422687"/>
                  </a:cubicBezTo>
                  <a:cubicBezTo>
                    <a:pt x="358991" y="3067468"/>
                    <a:pt x="236817" y="2819309"/>
                    <a:pt x="138664" y="2619985"/>
                  </a:cubicBezTo>
                  <a:cubicBezTo>
                    <a:pt x="33352" y="2406027"/>
                    <a:pt x="-49848" y="2237087"/>
                    <a:pt x="34942" y="2027582"/>
                  </a:cubicBezTo>
                  <a:cubicBezTo>
                    <a:pt x="118460" y="1821259"/>
                    <a:pt x="290905" y="1759538"/>
                    <a:pt x="509164" y="1681431"/>
                  </a:cubicBezTo>
                  <a:cubicBezTo>
                    <a:pt x="708812" y="1610005"/>
                    <a:pt x="957138" y="1520922"/>
                    <a:pt x="1201328" y="1285647"/>
                  </a:cubicBezTo>
                  <a:cubicBezTo>
                    <a:pt x="1466199" y="1030329"/>
                    <a:pt x="1571351" y="752262"/>
                    <a:pt x="1655824" y="528918"/>
                  </a:cubicBezTo>
                  <a:cubicBezTo>
                    <a:pt x="1746818" y="288235"/>
                    <a:pt x="1818723" y="97979"/>
                    <a:pt x="2038574" y="23690"/>
                  </a:cubicBezTo>
                  <a:cubicBezTo>
                    <a:pt x="2224222" y="-38987"/>
                    <a:pt x="2361986" y="32598"/>
                    <a:pt x="2536340" y="123113"/>
                  </a:cubicBezTo>
                  <a:cubicBezTo>
                    <a:pt x="2709898" y="213150"/>
                    <a:pt x="2906682" y="315278"/>
                    <a:pt x="3212277" y="319573"/>
                  </a:cubicBezTo>
                  <a:cubicBezTo>
                    <a:pt x="3218799" y="319732"/>
                    <a:pt x="3225322" y="319732"/>
                    <a:pt x="3231844" y="319732"/>
                  </a:cubicBezTo>
                  <a:cubicBezTo>
                    <a:pt x="3523440" y="319732"/>
                    <a:pt x="3717997" y="228263"/>
                    <a:pt x="3889964" y="147451"/>
                  </a:cubicBezTo>
                  <a:cubicBezTo>
                    <a:pt x="4070362" y="62504"/>
                    <a:pt x="4226104" y="-10671"/>
                    <a:pt x="4438795" y="53914"/>
                  </a:cubicBezTo>
                  <a:cubicBezTo>
                    <a:pt x="4655783" y="120249"/>
                    <a:pt x="4735482" y="267555"/>
                    <a:pt x="4845726" y="471491"/>
                  </a:cubicBezTo>
                  <a:cubicBezTo>
                    <a:pt x="4941811" y="649021"/>
                    <a:pt x="5061281" y="869979"/>
                    <a:pt x="5316925" y="1111935"/>
                  </a:cubicBezTo>
                  <a:cubicBezTo>
                    <a:pt x="5540912" y="1323985"/>
                    <a:pt x="5751695" y="1441543"/>
                    <a:pt x="5920958" y="1535875"/>
                  </a:cubicBezTo>
                  <a:cubicBezTo>
                    <a:pt x="6153376" y="1665364"/>
                    <a:pt x="6321366" y="1759060"/>
                    <a:pt x="6398043" y="2002448"/>
                  </a:cubicBezTo>
                  <a:cubicBezTo>
                    <a:pt x="6445927" y="2154208"/>
                    <a:pt x="6418723" y="2248858"/>
                    <a:pt x="6384521" y="2368643"/>
                  </a:cubicBezTo>
                  <a:cubicBezTo>
                    <a:pt x="6353978" y="2475225"/>
                    <a:pt x="6319457" y="2595805"/>
                    <a:pt x="6323274" y="2792902"/>
                  </a:cubicBezTo>
                  <a:cubicBezTo>
                    <a:pt x="6330274" y="3145575"/>
                    <a:pt x="6455153" y="3376873"/>
                    <a:pt x="6565238" y="3580810"/>
                  </a:cubicBezTo>
                  <a:cubicBezTo>
                    <a:pt x="6672777" y="3779815"/>
                    <a:pt x="6765521" y="3951778"/>
                    <a:pt x="6720342" y="4182916"/>
                  </a:cubicBezTo>
                  <a:cubicBezTo>
                    <a:pt x="6681367" y="4378899"/>
                    <a:pt x="6570646" y="4460665"/>
                    <a:pt x="6402815" y="4584586"/>
                  </a:cubicBezTo>
                  <a:cubicBezTo>
                    <a:pt x="6269823" y="4682736"/>
                    <a:pt x="6104219" y="4804907"/>
                    <a:pt x="5902504" y="5029842"/>
                  </a:cubicBezTo>
                  <a:cubicBezTo>
                    <a:pt x="5609476" y="5356745"/>
                    <a:pt x="5472348" y="5641970"/>
                    <a:pt x="5362263" y="5871200"/>
                  </a:cubicBezTo>
                  <a:cubicBezTo>
                    <a:pt x="5232294" y="6141790"/>
                    <a:pt x="5138277" y="6337455"/>
                    <a:pt x="4870543" y="6444514"/>
                  </a:cubicBezTo>
                  <a:cubicBezTo>
                    <a:pt x="4682031" y="6520235"/>
                    <a:pt x="4558902" y="6488260"/>
                    <a:pt x="4388685" y="6444196"/>
                  </a:cubicBezTo>
                  <a:cubicBezTo>
                    <a:pt x="4233580" y="6403949"/>
                    <a:pt x="4040137" y="6353840"/>
                    <a:pt x="3721815" y="6364816"/>
                  </a:cubicBezTo>
                  <a:cubicBezTo>
                    <a:pt x="3349405" y="6377543"/>
                    <a:pt x="3098216" y="6463444"/>
                    <a:pt x="2896341" y="6532324"/>
                  </a:cubicBezTo>
                  <a:cubicBezTo>
                    <a:pt x="2743782" y="6584183"/>
                    <a:pt x="2618744" y="6626816"/>
                    <a:pt x="2486865" y="6626816"/>
                  </a:cubicBezTo>
                  <a:close/>
                  <a:moveTo>
                    <a:pt x="2176498" y="9850"/>
                  </a:moveTo>
                  <a:cubicBezTo>
                    <a:pt x="2133705" y="9850"/>
                    <a:pt x="2089321" y="16849"/>
                    <a:pt x="2041914" y="32916"/>
                  </a:cubicBezTo>
                  <a:cubicBezTo>
                    <a:pt x="1826359" y="105773"/>
                    <a:pt x="1755250" y="293961"/>
                    <a:pt x="1665210" y="532418"/>
                  </a:cubicBezTo>
                  <a:cubicBezTo>
                    <a:pt x="1580419" y="756716"/>
                    <a:pt x="1474948" y="1035896"/>
                    <a:pt x="1208327" y="1292806"/>
                  </a:cubicBezTo>
                  <a:cubicBezTo>
                    <a:pt x="962706" y="1529512"/>
                    <a:pt x="713107" y="1618913"/>
                    <a:pt x="512664" y="1690657"/>
                  </a:cubicBezTo>
                  <a:cubicBezTo>
                    <a:pt x="296791" y="1767969"/>
                    <a:pt x="126255" y="1829054"/>
                    <a:pt x="44328" y="2031241"/>
                  </a:cubicBezTo>
                  <a:cubicBezTo>
                    <a:pt x="-38712" y="2236609"/>
                    <a:pt x="43533" y="2403799"/>
                    <a:pt x="147731" y="2615531"/>
                  </a:cubicBezTo>
                  <a:cubicBezTo>
                    <a:pt x="246362" y="2815809"/>
                    <a:pt x="369014" y="3065082"/>
                    <a:pt x="376809" y="3422369"/>
                  </a:cubicBezTo>
                  <a:cubicBezTo>
                    <a:pt x="383649" y="3734001"/>
                    <a:pt x="335766" y="3992501"/>
                    <a:pt x="293609" y="4220618"/>
                  </a:cubicBezTo>
                  <a:cubicBezTo>
                    <a:pt x="238567" y="4518092"/>
                    <a:pt x="195137" y="4753048"/>
                    <a:pt x="287882" y="4986573"/>
                  </a:cubicBezTo>
                  <a:cubicBezTo>
                    <a:pt x="369968" y="5193692"/>
                    <a:pt x="515846" y="5217076"/>
                    <a:pt x="700380" y="5246823"/>
                  </a:cubicBezTo>
                  <a:cubicBezTo>
                    <a:pt x="921344" y="5282457"/>
                    <a:pt x="1196555" y="5326680"/>
                    <a:pt x="1504378" y="5681740"/>
                  </a:cubicBezTo>
                  <a:cubicBezTo>
                    <a:pt x="1653278" y="5853066"/>
                    <a:pt x="1745387" y="6003552"/>
                    <a:pt x="1826677" y="6136382"/>
                  </a:cubicBezTo>
                  <a:cubicBezTo>
                    <a:pt x="1952352" y="6341591"/>
                    <a:pt x="2043187" y="6489692"/>
                    <a:pt x="2261129" y="6573048"/>
                  </a:cubicBezTo>
                  <a:cubicBezTo>
                    <a:pt x="2489570" y="6660381"/>
                    <a:pt x="2658833" y="6602636"/>
                    <a:pt x="2893319" y="6522621"/>
                  </a:cubicBezTo>
                  <a:cubicBezTo>
                    <a:pt x="3095829" y="6453581"/>
                    <a:pt x="3347974" y="6367361"/>
                    <a:pt x="3721656" y="6354635"/>
                  </a:cubicBezTo>
                  <a:cubicBezTo>
                    <a:pt x="4042205" y="6343500"/>
                    <a:pt x="4235648" y="6393768"/>
                    <a:pt x="4391389" y="6434333"/>
                  </a:cubicBezTo>
                  <a:cubicBezTo>
                    <a:pt x="4559857" y="6477920"/>
                    <a:pt x="4681554" y="6509417"/>
                    <a:pt x="4867202" y="6435128"/>
                  </a:cubicBezTo>
                  <a:cubicBezTo>
                    <a:pt x="5131277" y="6329342"/>
                    <a:pt x="5224658" y="6135427"/>
                    <a:pt x="5353673" y="5866746"/>
                  </a:cubicBezTo>
                  <a:cubicBezTo>
                    <a:pt x="5464076" y="5637039"/>
                    <a:pt x="5601363" y="5351019"/>
                    <a:pt x="5895345" y="5023161"/>
                  </a:cubicBezTo>
                  <a:cubicBezTo>
                    <a:pt x="6097697" y="4797431"/>
                    <a:pt x="6263619" y="4674942"/>
                    <a:pt x="6397089" y="4576473"/>
                  </a:cubicBezTo>
                  <a:cubicBezTo>
                    <a:pt x="6568896" y="4449689"/>
                    <a:pt x="6672777" y="4373013"/>
                    <a:pt x="6710797" y="4180849"/>
                  </a:cubicBezTo>
                  <a:cubicBezTo>
                    <a:pt x="6755340" y="3953050"/>
                    <a:pt x="6663391" y="3782679"/>
                    <a:pt x="6556806" y="3585264"/>
                  </a:cubicBezTo>
                  <a:cubicBezTo>
                    <a:pt x="6446085" y="3380214"/>
                    <a:pt x="6320570" y="3147802"/>
                    <a:pt x="6313730" y="2792743"/>
                  </a:cubicBezTo>
                  <a:cubicBezTo>
                    <a:pt x="6309753" y="2594214"/>
                    <a:pt x="6346182" y="2467430"/>
                    <a:pt x="6375294" y="2365621"/>
                  </a:cubicBezTo>
                  <a:cubicBezTo>
                    <a:pt x="6409179" y="2247427"/>
                    <a:pt x="6435904" y="2153890"/>
                    <a:pt x="6388975" y="2004993"/>
                  </a:cubicBezTo>
                  <a:cubicBezTo>
                    <a:pt x="6313571" y="1765424"/>
                    <a:pt x="6147012" y="1672522"/>
                    <a:pt x="5916504" y="1544147"/>
                  </a:cubicBezTo>
                  <a:cubicBezTo>
                    <a:pt x="5746763" y="1449497"/>
                    <a:pt x="5535344" y="1331621"/>
                    <a:pt x="5310562" y="1118776"/>
                  </a:cubicBezTo>
                  <a:cubicBezTo>
                    <a:pt x="5053804" y="875706"/>
                    <a:pt x="4933857" y="654112"/>
                    <a:pt x="4837454" y="475945"/>
                  </a:cubicBezTo>
                  <a:cubicBezTo>
                    <a:pt x="4728324" y="274077"/>
                    <a:pt x="4649419" y="128203"/>
                    <a:pt x="4436250" y="63141"/>
                  </a:cubicBezTo>
                  <a:cubicBezTo>
                    <a:pt x="4227535" y="-172"/>
                    <a:pt x="4073067" y="72208"/>
                    <a:pt x="3894418" y="156201"/>
                  </a:cubicBezTo>
                  <a:cubicBezTo>
                    <a:pt x="3721497" y="237489"/>
                    <a:pt x="3525986" y="329436"/>
                    <a:pt x="3232162" y="329436"/>
                  </a:cubicBezTo>
                  <a:cubicBezTo>
                    <a:pt x="3225640" y="329436"/>
                    <a:pt x="3219118" y="329436"/>
                    <a:pt x="3212436" y="329276"/>
                  </a:cubicBezTo>
                  <a:lnTo>
                    <a:pt x="3212436" y="329276"/>
                  </a:lnTo>
                  <a:cubicBezTo>
                    <a:pt x="2904454" y="324822"/>
                    <a:pt x="2706557" y="222218"/>
                    <a:pt x="2532204" y="131703"/>
                  </a:cubicBezTo>
                  <a:cubicBezTo>
                    <a:pt x="2404620" y="65686"/>
                    <a:pt x="2297081" y="9850"/>
                    <a:pt x="2176498" y="9850"/>
                  </a:cubicBezTo>
                  <a:close/>
                </a:path>
              </a:pathLst>
            </a:custGeom>
            <a:gradFill>
              <a:gsLst>
                <a:gs pos="100000">
                  <a:schemeClr val="accent2"/>
                </a:gs>
                <a:gs pos="0">
                  <a:schemeClr val="accent1"/>
                </a:gs>
              </a:gsLst>
              <a:lin ang="0" scaled="1"/>
            </a:gradFill>
            <a:ln w="1589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32" name="Freeform 31">
              <a:extLst>
                <a:ext uri="{FF2B5EF4-FFF2-40B4-BE49-F238E27FC236}">
                  <a16:creationId xmlns:a16="http://schemas.microsoft.com/office/drawing/2014/main" id="{980FD269-4C8F-C413-62FC-1C35D5334BE3}"/>
                </a:ext>
              </a:extLst>
            </p:cNvPr>
            <p:cNvSpPr/>
            <p:nvPr/>
          </p:nvSpPr>
          <p:spPr>
            <a:xfrm>
              <a:off x="-3310050" y="163433"/>
              <a:ext cx="6615487" cy="6516050"/>
            </a:xfrm>
            <a:custGeom>
              <a:avLst/>
              <a:gdLst>
                <a:gd name="connsiteX0" fmla="*/ 2442738 w 6615487"/>
                <a:gd name="connsiteY0" fmla="*/ 6516050 h 6516050"/>
                <a:gd name="connsiteX1" fmla="*/ 2210320 w 6615487"/>
                <a:gd name="connsiteY1" fmla="*/ 6471509 h 6516050"/>
                <a:gd name="connsiteX2" fmla="*/ 1770141 w 6615487"/>
                <a:gd name="connsiteY2" fmla="*/ 6035161 h 6516050"/>
                <a:gd name="connsiteX3" fmla="*/ 1456910 w 6615487"/>
                <a:gd name="connsiteY3" fmla="*/ 5599767 h 6516050"/>
                <a:gd name="connsiteX4" fmla="*/ 685206 w 6615487"/>
                <a:gd name="connsiteY4" fmla="*/ 5173440 h 6516050"/>
                <a:gd name="connsiteX5" fmla="*/ 269526 w 6615487"/>
                <a:gd name="connsiteY5" fmla="*/ 4902055 h 6516050"/>
                <a:gd name="connsiteX6" fmla="*/ 269048 w 6615487"/>
                <a:gd name="connsiteY6" fmla="*/ 4133713 h 6516050"/>
                <a:gd name="connsiteX7" fmla="*/ 345248 w 6615487"/>
                <a:gd name="connsiteY7" fmla="*/ 3363303 h 6516050"/>
                <a:gd name="connsiteX8" fmla="*/ 131443 w 6615487"/>
                <a:gd name="connsiteY8" fmla="*/ 2582395 h 6516050"/>
                <a:gd name="connsiteX9" fmla="*/ 35676 w 6615487"/>
                <a:gd name="connsiteY9" fmla="*/ 1991742 h 6516050"/>
                <a:gd name="connsiteX10" fmla="*/ 504171 w 6615487"/>
                <a:gd name="connsiteY10" fmla="*/ 1641613 h 6516050"/>
                <a:gd name="connsiteX11" fmla="*/ 1171995 w 6615487"/>
                <a:gd name="connsiteY11" fmla="*/ 1252034 h 6516050"/>
                <a:gd name="connsiteX12" fmla="*/ 1619173 w 6615487"/>
                <a:gd name="connsiteY12" fmla="*/ 522348 h 6516050"/>
                <a:gd name="connsiteX13" fmla="*/ 2006855 w 6615487"/>
                <a:gd name="connsiteY13" fmla="*/ 23482 h 6516050"/>
                <a:gd name="connsiteX14" fmla="*/ 2502871 w 6615487"/>
                <a:gd name="connsiteY14" fmla="*/ 116383 h 6516050"/>
                <a:gd name="connsiteX15" fmla="*/ 3161150 w 6615487"/>
                <a:gd name="connsiteY15" fmla="*/ 301072 h 6516050"/>
                <a:gd name="connsiteX16" fmla="*/ 3180399 w 6615487"/>
                <a:gd name="connsiteY16" fmla="*/ 301231 h 6516050"/>
                <a:gd name="connsiteX17" fmla="*/ 3823406 w 6615487"/>
                <a:gd name="connsiteY17" fmla="*/ 140245 h 6516050"/>
                <a:gd name="connsiteX18" fmla="*/ 4371760 w 6615487"/>
                <a:gd name="connsiteY18" fmla="*/ 54661 h 6516050"/>
                <a:gd name="connsiteX19" fmla="*/ 4784417 w 6615487"/>
                <a:gd name="connsiteY19" fmla="*/ 472079 h 6516050"/>
                <a:gd name="connsiteX20" fmla="*/ 5245436 w 6615487"/>
                <a:gd name="connsiteY20" fmla="*/ 1091207 h 6516050"/>
                <a:gd name="connsiteX21" fmla="*/ 5825606 w 6615487"/>
                <a:gd name="connsiteY21" fmla="*/ 1506716 h 6516050"/>
                <a:gd name="connsiteX22" fmla="*/ 6299510 w 6615487"/>
                <a:gd name="connsiteY22" fmla="*/ 1980765 h 6516050"/>
                <a:gd name="connsiteX23" fmla="*/ 6288215 w 6615487"/>
                <a:gd name="connsiteY23" fmla="*/ 2346802 h 6516050"/>
                <a:gd name="connsiteX24" fmla="*/ 6230945 w 6615487"/>
                <a:gd name="connsiteY24" fmla="*/ 2760720 h 6516050"/>
                <a:gd name="connsiteX25" fmla="*/ 6458114 w 6615487"/>
                <a:gd name="connsiteY25" fmla="*/ 3529062 h 6516050"/>
                <a:gd name="connsiteX26" fmla="*/ 6602878 w 6615487"/>
                <a:gd name="connsiteY26" fmla="*/ 4127828 h 6516050"/>
                <a:gd name="connsiteX27" fmla="*/ 6285351 w 6615487"/>
                <a:gd name="connsiteY27" fmla="*/ 4531724 h 6516050"/>
                <a:gd name="connsiteX28" fmla="*/ 5803493 w 6615487"/>
                <a:gd name="connsiteY28" fmla="*/ 4964254 h 6516050"/>
                <a:gd name="connsiteX29" fmla="*/ 5275502 w 6615487"/>
                <a:gd name="connsiteY29" fmla="*/ 5773479 h 6516050"/>
                <a:gd name="connsiteX30" fmla="*/ 4777577 w 6615487"/>
                <a:gd name="connsiteY30" fmla="*/ 6342497 h 6516050"/>
                <a:gd name="connsiteX31" fmla="*/ 4296355 w 6615487"/>
                <a:gd name="connsiteY31" fmla="*/ 6344883 h 6516050"/>
                <a:gd name="connsiteX32" fmla="*/ 3648734 w 6615487"/>
                <a:gd name="connsiteY32" fmla="*/ 6271231 h 6516050"/>
                <a:gd name="connsiteX33" fmla="*/ 2847918 w 6615487"/>
                <a:gd name="connsiteY33" fmla="*/ 6427603 h 6516050"/>
                <a:gd name="connsiteX34" fmla="*/ 2442738 w 6615487"/>
                <a:gd name="connsiteY34" fmla="*/ 6516050 h 6516050"/>
                <a:gd name="connsiteX35" fmla="*/ 2146846 w 6615487"/>
                <a:gd name="connsiteY35" fmla="*/ 12506 h 6516050"/>
                <a:gd name="connsiteX36" fmla="*/ 2011150 w 6615487"/>
                <a:gd name="connsiteY36" fmla="*/ 35731 h 6516050"/>
                <a:gd name="connsiteX37" fmla="*/ 1631422 w 6615487"/>
                <a:gd name="connsiteY37" fmla="*/ 527120 h 6516050"/>
                <a:gd name="connsiteX38" fmla="*/ 1181222 w 6615487"/>
                <a:gd name="connsiteY38" fmla="*/ 1261260 h 6516050"/>
                <a:gd name="connsiteX39" fmla="*/ 508784 w 6615487"/>
                <a:gd name="connsiteY39" fmla="*/ 1653703 h 6516050"/>
                <a:gd name="connsiteX40" fmla="*/ 47766 w 6615487"/>
                <a:gd name="connsiteY40" fmla="*/ 1996514 h 6516050"/>
                <a:gd name="connsiteX41" fmla="*/ 143374 w 6615487"/>
                <a:gd name="connsiteY41" fmla="*/ 2576668 h 6516050"/>
                <a:gd name="connsiteX42" fmla="*/ 358452 w 6615487"/>
                <a:gd name="connsiteY42" fmla="*/ 3362985 h 6516050"/>
                <a:gd name="connsiteX43" fmla="*/ 281934 w 6615487"/>
                <a:gd name="connsiteY43" fmla="*/ 4136099 h 6516050"/>
                <a:gd name="connsiteX44" fmla="*/ 281616 w 6615487"/>
                <a:gd name="connsiteY44" fmla="*/ 4897283 h 6516050"/>
                <a:gd name="connsiteX45" fmla="*/ 687433 w 6615487"/>
                <a:gd name="connsiteY45" fmla="*/ 5160714 h 6516050"/>
                <a:gd name="connsiteX46" fmla="*/ 1466614 w 6615487"/>
                <a:gd name="connsiteY46" fmla="*/ 5591336 h 6516050"/>
                <a:gd name="connsiteX47" fmla="*/ 1780959 w 6615487"/>
                <a:gd name="connsiteY47" fmla="*/ 6028479 h 6516050"/>
                <a:gd name="connsiteX48" fmla="*/ 2214774 w 6615487"/>
                <a:gd name="connsiteY48" fmla="*/ 6459578 h 6516050"/>
                <a:gd name="connsiteX49" fmla="*/ 2843623 w 6615487"/>
                <a:gd name="connsiteY49" fmla="*/ 6415036 h 6516050"/>
                <a:gd name="connsiteX50" fmla="*/ 3647939 w 6615487"/>
                <a:gd name="connsiteY50" fmla="*/ 6258186 h 6516050"/>
                <a:gd name="connsiteX51" fmla="*/ 4299219 w 6615487"/>
                <a:gd name="connsiteY51" fmla="*/ 6332316 h 6516050"/>
                <a:gd name="connsiteX52" fmla="*/ 4772486 w 6615487"/>
                <a:gd name="connsiteY52" fmla="*/ 6330407 h 6516050"/>
                <a:gd name="connsiteX53" fmla="*/ 5263412 w 6615487"/>
                <a:gd name="connsiteY53" fmla="*/ 5767752 h 6516050"/>
                <a:gd name="connsiteX54" fmla="*/ 5793471 w 6615487"/>
                <a:gd name="connsiteY54" fmla="*/ 4955664 h 6516050"/>
                <a:gd name="connsiteX55" fmla="*/ 6277238 w 6615487"/>
                <a:gd name="connsiteY55" fmla="*/ 4521384 h 6516050"/>
                <a:gd name="connsiteX56" fmla="*/ 6589833 w 6615487"/>
                <a:gd name="connsiteY56" fmla="*/ 4125282 h 6516050"/>
                <a:gd name="connsiteX57" fmla="*/ 6446342 w 6615487"/>
                <a:gd name="connsiteY57" fmla="*/ 3535266 h 6516050"/>
                <a:gd name="connsiteX58" fmla="*/ 6217742 w 6615487"/>
                <a:gd name="connsiteY58" fmla="*/ 2761197 h 6516050"/>
                <a:gd name="connsiteX59" fmla="*/ 6275329 w 6615487"/>
                <a:gd name="connsiteY59" fmla="*/ 2343620 h 6516050"/>
                <a:gd name="connsiteX60" fmla="*/ 6286783 w 6615487"/>
                <a:gd name="connsiteY60" fmla="*/ 1984901 h 6516050"/>
                <a:gd name="connsiteX61" fmla="*/ 5818924 w 6615487"/>
                <a:gd name="connsiteY61" fmla="*/ 1518329 h 6516050"/>
                <a:gd name="connsiteX62" fmla="*/ 5236368 w 6615487"/>
                <a:gd name="connsiteY62" fmla="*/ 1101070 h 6516050"/>
                <a:gd name="connsiteX63" fmla="*/ 4772963 w 6615487"/>
                <a:gd name="connsiteY63" fmla="*/ 478761 h 6516050"/>
                <a:gd name="connsiteX64" fmla="*/ 4367942 w 6615487"/>
                <a:gd name="connsiteY64" fmla="*/ 67387 h 6516050"/>
                <a:gd name="connsiteX65" fmla="*/ 3828815 w 6615487"/>
                <a:gd name="connsiteY65" fmla="*/ 152335 h 6516050"/>
                <a:gd name="connsiteX66" fmla="*/ 3180558 w 6615487"/>
                <a:gd name="connsiteY66" fmla="*/ 314434 h 6516050"/>
                <a:gd name="connsiteX67" fmla="*/ 3160991 w 6615487"/>
                <a:gd name="connsiteY67" fmla="*/ 314275 h 6516050"/>
                <a:gd name="connsiteX68" fmla="*/ 2496985 w 6615487"/>
                <a:gd name="connsiteY68" fmla="*/ 128155 h 6516050"/>
                <a:gd name="connsiteX69" fmla="*/ 2146846 w 6615487"/>
                <a:gd name="connsiteY69" fmla="*/ 12506 h 6516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6615487" h="6516050">
                  <a:moveTo>
                    <a:pt x="2442738" y="6516050"/>
                  </a:moveTo>
                  <a:cubicBezTo>
                    <a:pt x="2368765" y="6516050"/>
                    <a:pt x="2292724" y="6503165"/>
                    <a:pt x="2210320" y="6471509"/>
                  </a:cubicBezTo>
                  <a:cubicBezTo>
                    <a:pt x="1990787" y="6387357"/>
                    <a:pt x="1898202" y="6239575"/>
                    <a:pt x="1770141" y="6035161"/>
                  </a:cubicBezTo>
                  <a:cubicBezTo>
                    <a:pt x="1690123" y="5907740"/>
                    <a:pt x="1599606" y="5763298"/>
                    <a:pt x="1456910" y="5599767"/>
                  </a:cubicBezTo>
                  <a:cubicBezTo>
                    <a:pt x="1161973" y="5260774"/>
                    <a:pt x="897579" y="5212414"/>
                    <a:pt x="685206" y="5173440"/>
                  </a:cubicBezTo>
                  <a:cubicBezTo>
                    <a:pt x="499876" y="5139398"/>
                    <a:pt x="353521" y="5112673"/>
                    <a:pt x="269526" y="4902055"/>
                  </a:cubicBezTo>
                  <a:cubicBezTo>
                    <a:pt x="175668" y="4666781"/>
                    <a:pt x="218938" y="4419734"/>
                    <a:pt x="269048" y="4133713"/>
                  </a:cubicBezTo>
                  <a:cubicBezTo>
                    <a:pt x="307705" y="3912755"/>
                    <a:pt x="351612" y="3662368"/>
                    <a:pt x="345248" y="3363303"/>
                  </a:cubicBezTo>
                  <a:cubicBezTo>
                    <a:pt x="337931" y="3020334"/>
                    <a:pt x="228164" y="2787604"/>
                    <a:pt x="131443" y="2582395"/>
                  </a:cubicBezTo>
                  <a:cubicBezTo>
                    <a:pt x="30744" y="2368754"/>
                    <a:pt x="-48956" y="2199974"/>
                    <a:pt x="35676" y="1991742"/>
                  </a:cubicBezTo>
                  <a:cubicBezTo>
                    <a:pt x="119035" y="1786373"/>
                    <a:pt x="288934" y="1722424"/>
                    <a:pt x="504171" y="1641613"/>
                  </a:cubicBezTo>
                  <a:cubicBezTo>
                    <a:pt x="706841" y="1565415"/>
                    <a:pt x="936554" y="1479037"/>
                    <a:pt x="1171995" y="1252034"/>
                  </a:cubicBezTo>
                  <a:cubicBezTo>
                    <a:pt x="1427639" y="1005623"/>
                    <a:pt x="1529292" y="748873"/>
                    <a:pt x="1619173" y="522348"/>
                  </a:cubicBezTo>
                  <a:cubicBezTo>
                    <a:pt x="1713190" y="285164"/>
                    <a:pt x="1787481" y="97771"/>
                    <a:pt x="2006855" y="23482"/>
                  </a:cubicBezTo>
                  <a:cubicBezTo>
                    <a:pt x="2191071" y="-38717"/>
                    <a:pt x="2335517" y="33186"/>
                    <a:pt x="2502871" y="116383"/>
                  </a:cubicBezTo>
                  <a:cubicBezTo>
                    <a:pt x="2673088" y="201012"/>
                    <a:pt x="2865736" y="297095"/>
                    <a:pt x="3161150" y="301072"/>
                  </a:cubicBezTo>
                  <a:cubicBezTo>
                    <a:pt x="3167672" y="301231"/>
                    <a:pt x="3174035" y="301231"/>
                    <a:pt x="3180399" y="301231"/>
                  </a:cubicBezTo>
                  <a:cubicBezTo>
                    <a:pt x="3463086" y="301231"/>
                    <a:pt x="3654143" y="215806"/>
                    <a:pt x="3823406" y="140245"/>
                  </a:cubicBezTo>
                  <a:cubicBezTo>
                    <a:pt x="4004282" y="59593"/>
                    <a:pt x="4160500" y="-10242"/>
                    <a:pt x="4371760" y="54661"/>
                  </a:cubicBezTo>
                  <a:cubicBezTo>
                    <a:pt x="4588907" y="121951"/>
                    <a:pt x="4670833" y="268938"/>
                    <a:pt x="4784417" y="472079"/>
                  </a:cubicBezTo>
                  <a:cubicBezTo>
                    <a:pt x="4880343" y="644042"/>
                    <a:pt x="4999814" y="858000"/>
                    <a:pt x="5245436" y="1091207"/>
                  </a:cubicBezTo>
                  <a:cubicBezTo>
                    <a:pt x="5460036" y="1295462"/>
                    <a:pt x="5654275" y="1407611"/>
                    <a:pt x="5825606" y="1506716"/>
                  </a:cubicBezTo>
                  <a:cubicBezTo>
                    <a:pt x="6056274" y="1640182"/>
                    <a:pt x="6223150" y="1736582"/>
                    <a:pt x="6299510" y="1980765"/>
                  </a:cubicBezTo>
                  <a:cubicBezTo>
                    <a:pt x="6346757" y="2131411"/>
                    <a:pt x="6320985" y="2226539"/>
                    <a:pt x="6288215" y="2346802"/>
                  </a:cubicBezTo>
                  <a:cubicBezTo>
                    <a:pt x="6259739" y="2451633"/>
                    <a:pt x="6227446" y="2570305"/>
                    <a:pt x="6230945" y="2760720"/>
                  </a:cubicBezTo>
                  <a:cubicBezTo>
                    <a:pt x="6237468" y="3101940"/>
                    <a:pt x="6354711" y="3328943"/>
                    <a:pt x="6458114" y="3529062"/>
                  </a:cubicBezTo>
                  <a:cubicBezTo>
                    <a:pt x="6560562" y="3727431"/>
                    <a:pt x="6649170" y="3898916"/>
                    <a:pt x="6602878" y="4127828"/>
                  </a:cubicBezTo>
                  <a:cubicBezTo>
                    <a:pt x="6562949" y="4323015"/>
                    <a:pt x="6452546" y="4406053"/>
                    <a:pt x="6285351" y="4531724"/>
                  </a:cubicBezTo>
                  <a:cubicBezTo>
                    <a:pt x="6156814" y="4628443"/>
                    <a:pt x="5996778" y="4748705"/>
                    <a:pt x="5803493" y="4964254"/>
                  </a:cubicBezTo>
                  <a:cubicBezTo>
                    <a:pt x="5522237" y="5277636"/>
                    <a:pt x="5385427" y="5552680"/>
                    <a:pt x="5275502" y="5773479"/>
                  </a:cubicBezTo>
                  <a:cubicBezTo>
                    <a:pt x="5141873" y="6042001"/>
                    <a:pt x="5045311" y="6235916"/>
                    <a:pt x="4777577" y="6342497"/>
                  </a:cubicBezTo>
                  <a:cubicBezTo>
                    <a:pt x="4590179" y="6417423"/>
                    <a:pt x="4466891" y="6386880"/>
                    <a:pt x="4296355" y="6344883"/>
                  </a:cubicBezTo>
                  <a:cubicBezTo>
                    <a:pt x="4144433" y="6307500"/>
                    <a:pt x="3955603" y="6260732"/>
                    <a:pt x="3648734" y="6271231"/>
                  </a:cubicBezTo>
                  <a:cubicBezTo>
                    <a:pt x="3290483" y="6283321"/>
                    <a:pt x="3045180" y="6363177"/>
                    <a:pt x="2847918" y="6427603"/>
                  </a:cubicBezTo>
                  <a:cubicBezTo>
                    <a:pt x="2701722" y="6474849"/>
                    <a:pt x="2575412" y="6516050"/>
                    <a:pt x="2442738" y="6516050"/>
                  </a:cubicBezTo>
                  <a:close/>
                  <a:moveTo>
                    <a:pt x="2146846" y="12506"/>
                  </a:moveTo>
                  <a:cubicBezTo>
                    <a:pt x="2103735" y="12506"/>
                    <a:pt x="2059033" y="19505"/>
                    <a:pt x="2011150" y="35731"/>
                  </a:cubicBezTo>
                  <a:cubicBezTo>
                    <a:pt x="1797503" y="108111"/>
                    <a:pt x="1724326" y="292959"/>
                    <a:pt x="1631422" y="527120"/>
                  </a:cubicBezTo>
                  <a:cubicBezTo>
                    <a:pt x="1545518" y="743624"/>
                    <a:pt x="1438775" y="1012941"/>
                    <a:pt x="1181222" y="1261260"/>
                  </a:cubicBezTo>
                  <a:cubicBezTo>
                    <a:pt x="943713" y="1490172"/>
                    <a:pt x="702704" y="1580846"/>
                    <a:pt x="508784" y="1653703"/>
                  </a:cubicBezTo>
                  <a:cubicBezTo>
                    <a:pt x="296569" y="1733560"/>
                    <a:pt x="128898" y="1796554"/>
                    <a:pt x="47766" y="1996514"/>
                  </a:cubicBezTo>
                  <a:cubicBezTo>
                    <a:pt x="-34479" y="2199496"/>
                    <a:pt x="43948" y="2365891"/>
                    <a:pt x="143374" y="2576668"/>
                  </a:cubicBezTo>
                  <a:cubicBezTo>
                    <a:pt x="235959" y="2772969"/>
                    <a:pt x="351134" y="3017152"/>
                    <a:pt x="358452" y="3362985"/>
                  </a:cubicBezTo>
                  <a:cubicBezTo>
                    <a:pt x="364815" y="3663323"/>
                    <a:pt x="320750" y="3914505"/>
                    <a:pt x="281934" y="4136099"/>
                  </a:cubicBezTo>
                  <a:cubicBezTo>
                    <a:pt x="230073" y="4431824"/>
                    <a:pt x="189030" y="4665348"/>
                    <a:pt x="281616" y="4897283"/>
                  </a:cubicBezTo>
                  <a:cubicBezTo>
                    <a:pt x="362906" y="5101220"/>
                    <a:pt x="499080" y="5126194"/>
                    <a:pt x="687433" y="5160714"/>
                  </a:cubicBezTo>
                  <a:cubicBezTo>
                    <a:pt x="901875" y="5200006"/>
                    <a:pt x="1168654" y="5248843"/>
                    <a:pt x="1466614" y="5591336"/>
                  </a:cubicBezTo>
                  <a:cubicBezTo>
                    <a:pt x="1609946" y="5755662"/>
                    <a:pt x="1700782" y="5900582"/>
                    <a:pt x="1780959" y="6028479"/>
                  </a:cubicBezTo>
                  <a:cubicBezTo>
                    <a:pt x="1907747" y="6230825"/>
                    <a:pt x="1999378" y="6377017"/>
                    <a:pt x="2214774" y="6459578"/>
                  </a:cubicBezTo>
                  <a:cubicBezTo>
                    <a:pt x="2440829" y="6546275"/>
                    <a:pt x="2609773" y="6491234"/>
                    <a:pt x="2843623" y="6415036"/>
                  </a:cubicBezTo>
                  <a:cubicBezTo>
                    <a:pt x="3041520" y="6350451"/>
                    <a:pt x="3287938" y="6270117"/>
                    <a:pt x="3647939" y="6258186"/>
                  </a:cubicBezTo>
                  <a:cubicBezTo>
                    <a:pt x="3957035" y="6247687"/>
                    <a:pt x="4146500" y="6294615"/>
                    <a:pt x="4299219" y="6332316"/>
                  </a:cubicBezTo>
                  <a:cubicBezTo>
                    <a:pt x="4467368" y="6373676"/>
                    <a:pt x="4589065" y="6403742"/>
                    <a:pt x="4772486" y="6330407"/>
                  </a:cubicBezTo>
                  <a:cubicBezTo>
                    <a:pt x="5035448" y="6225735"/>
                    <a:pt x="5131056" y="6033570"/>
                    <a:pt x="5263412" y="5767752"/>
                  </a:cubicBezTo>
                  <a:cubicBezTo>
                    <a:pt x="5373655" y="5546158"/>
                    <a:pt x="5510943" y="5270318"/>
                    <a:pt x="5793471" y="4955664"/>
                  </a:cubicBezTo>
                  <a:cubicBezTo>
                    <a:pt x="5987710" y="4739001"/>
                    <a:pt x="6148223" y="4618421"/>
                    <a:pt x="6277238" y="4521384"/>
                  </a:cubicBezTo>
                  <a:cubicBezTo>
                    <a:pt x="6447773" y="4393168"/>
                    <a:pt x="6550699" y="4315698"/>
                    <a:pt x="6589833" y="4125282"/>
                  </a:cubicBezTo>
                  <a:cubicBezTo>
                    <a:pt x="6635171" y="3900984"/>
                    <a:pt x="6547676" y="3731567"/>
                    <a:pt x="6446342" y="3535266"/>
                  </a:cubicBezTo>
                  <a:cubicBezTo>
                    <a:pt x="6342302" y="3333715"/>
                    <a:pt x="6224264" y="3105440"/>
                    <a:pt x="6217742" y="2761197"/>
                  </a:cubicBezTo>
                  <a:cubicBezTo>
                    <a:pt x="6214083" y="2568873"/>
                    <a:pt x="6246695" y="2449247"/>
                    <a:pt x="6275329" y="2343620"/>
                  </a:cubicBezTo>
                  <a:cubicBezTo>
                    <a:pt x="6307623" y="2225267"/>
                    <a:pt x="6332916" y="2131888"/>
                    <a:pt x="6286783" y="1984901"/>
                  </a:cubicBezTo>
                  <a:cubicBezTo>
                    <a:pt x="6212015" y="1745809"/>
                    <a:pt x="6047206" y="1650362"/>
                    <a:pt x="5818924" y="1518329"/>
                  </a:cubicBezTo>
                  <a:cubicBezTo>
                    <a:pt x="5655548" y="1423837"/>
                    <a:pt x="5452082" y="1306279"/>
                    <a:pt x="5236368" y="1101070"/>
                  </a:cubicBezTo>
                  <a:cubicBezTo>
                    <a:pt x="4989314" y="866431"/>
                    <a:pt x="4869367" y="651359"/>
                    <a:pt x="4772963" y="478761"/>
                  </a:cubicBezTo>
                  <a:cubicBezTo>
                    <a:pt x="4660970" y="278164"/>
                    <a:pt x="4579998" y="133086"/>
                    <a:pt x="4367942" y="67387"/>
                  </a:cubicBezTo>
                  <a:cubicBezTo>
                    <a:pt x="4161454" y="3916"/>
                    <a:pt x="4007463" y="72637"/>
                    <a:pt x="3828815" y="152335"/>
                  </a:cubicBezTo>
                  <a:cubicBezTo>
                    <a:pt x="3658438" y="228373"/>
                    <a:pt x="3465950" y="314434"/>
                    <a:pt x="3180558" y="314434"/>
                  </a:cubicBezTo>
                  <a:cubicBezTo>
                    <a:pt x="3174195" y="314434"/>
                    <a:pt x="3167672" y="314434"/>
                    <a:pt x="3160991" y="314275"/>
                  </a:cubicBezTo>
                  <a:cubicBezTo>
                    <a:pt x="2862713" y="310139"/>
                    <a:pt x="2668474" y="213579"/>
                    <a:pt x="2496985" y="128155"/>
                  </a:cubicBezTo>
                  <a:cubicBezTo>
                    <a:pt x="2371469" y="65319"/>
                    <a:pt x="2265044" y="12506"/>
                    <a:pt x="2146846" y="12506"/>
                  </a:cubicBezTo>
                  <a:close/>
                </a:path>
              </a:pathLst>
            </a:custGeom>
            <a:gradFill>
              <a:gsLst>
                <a:gs pos="100000">
                  <a:schemeClr val="accent2"/>
                </a:gs>
                <a:gs pos="0">
                  <a:schemeClr val="accent1"/>
                </a:gs>
              </a:gsLst>
              <a:lin ang="0" scaled="1"/>
            </a:gradFill>
            <a:ln w="1589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33" name="Freeform 32">
              <a:extLst>
                <a:ext uri="{FF2B5EF4-FFF2-40B4-BE49-F238E27FC236}">
                  <a16:creationId xmlns:a16="http://schemas.microsoft.com/office/drawing/2014/main" id="{BAD3B914-81AA-8428-EA2B-FC6973B2C72C}"/>
                </a:ext>
              </a:extLst>
            </p:cNvPr>
            <p:cNvSpPr/>
            <p:nvPr/>
          </p:nvSpPr>
          <p:spPr>
            <a:xfrm>
              <a:off x="-3252295" y="217372"/>
              <a:ext cx="6498675" cy="6407069"/>
            </a:xfrm>
            <a:custGeom>
              <a:avLst/>
              <a:gdLst>
                <a:gd name="connsiteX0" fmla="*/ 2400095 w 6498675"/>
                <a:gd name="connsiteY0" fmla="*/ 6407070 h 6407069"/>
                <a:gd name="connsiteX1" fmla="*/ 2163223 w 6498675"/>
                <a:gd name="connsiteY1" fmla="*/ 6361733 h 6407069"/>
                <a:gd name="connsiteX2" fmla="*/ 1721772 w 6498675"/>
                <a:gd name="connsiteY2" fmla="*/ 5929521 h 6407069"/>
                <a:gd name="connsiteX3" fmla="*/ 1417131 w 6498675"/>
                <a:gd name="connsiteY3" fmla="*/ 5512103 h 6407069"/>
                <a:gd name="connsiteX4" fmla="*/ 671834 w 6498675"/>
                <a:gd name="connsiteY4" fmla="*/ 5091185 h 6407069"/>
                <a:gd name="connsiteX5" fmla="*/ 260608 w 6498675"/>
                <a:gd name="connsiteY5" fmla="*/ 4814551 h 6407069"/>
                <a:gd name="connsiteX6" fmla="*/ 254404 w 6498675"/>
                <a:gd name="connsiteY6" fmla="*/ 4048754 h 6407069"/>
                <a:gd name="connsiteX7" fmla="*/ 324082 w 6498675"/>
                <a:gd name="connsiteY7" fmla="*/ 3304592 h 6407069"/>
                <a:gd name="connsiteX8" fmla="*/ 124275 w 6498675"/>
                <a:gd name="connsiteY8" fmla="*/ 2545795 h 6407069"/>
                <a:gd name="connsiteX9" fmla="*/ 36303 w 6498675"/>
                <a:gd name="connsiteY9" fmla="*/ 1956414 h 6407069"/>
                <a:gd name="connsiteX10" fmla="*/ 499230 w 6498675"/>
                <a:gd name="connsiteY10" fmla="*/ 1601991 h 6407069"/>
                <a:gd name="connsiteX11" fmla="*/ 1142715 w 6498675"/>
                <a:gd name="connsiteY11" fmla="*/ 1218775 h 6407069"/>
                <a:gd name="connsiteX12" fmla="*/ 1582257 w 6498675"/>
                <a:gd name="connsiteY12" fmla="*/ 516450 h 6407069"/>
                <a:gd name="connsiteX13" fmla="*/ 1975189 w 6498675"/>
                <a:gd name="connsiteY13" fmla="*/ 23947 h 6407069"/>
                <a:gd name="connsiteX14" fmla="*/ 2469455 w 6498675"/>
                <a:gd name="connsiteY14" fmla="*/ 110167 h 6407069"/>
                <a:gd name="connsiteX15" fmla="*/ 3109917 w 6498675"/>
                <a:gd name="connsiteY15" fmla="*/ 283084 h 6407069"/>
                <a:gd name="connsiteX16" fmla="*/ 3128848 w 6498675"/>
                <a:gd name="connsiteY16" fmla="*/ 283243 h 6407069"/>
                <a:gd name="connsiteX17" fmla="*/ 3756424 w 6498675"/>
                <a:gd name="connsiteY17" fmla="*/ 133551 h 6407069"/>
                <a:gd name="connsiteX18" fmla="*/ 4304460 w 6498675"/>
                <a:gd name="connsiteY18" fmla="*/ 56081 h 6407069"/>
                <a:gd name="connsiteX19" fmla="*/ 4723003 w 6498675"/>
                <a:gd name="connsiteY19" fmla="*/ 473499 h 6407069"/>
                <a:gd name="connsiteX20" fmla="*/ 5173522 w 6498675"/>
                <a:gd name="connsiteY20" fmla="*/ 1071310 h 6407069"/>
                <a:gd name="connsiteX21" fmla="*/ 5729512 w 6498675"/>
                <a:gd name="connsiteY21" fmla="*/ 1477911 h 6407069"/>
                <a:gd name="connsiteX22" fmla="*/ 6200393 w 6498675"/>
                <a:gd name="connsiteY22" fmla="*/ 1959755 h 6407069"/>
                <a:gd name="connsiteX23" fmla="*/ 6191325 w 6498675"/>
                <a:gd name="connsiteY23" fmla="*/ 2325791 h 6407069"/>
                <a:gd name="connsiteX24" fmla="*/ 6138192 w 6498675"/>
                <a:gd name="connsiteY24" fmla="*/ 2729370 h 6407069"/>
                <a:gd name="connsiteX25" fmla="*/ 6350725 w 6498675"/>
                <a:gd name="connsiteY25" fmla="*/ 3477986 h 6407069"/>
                <a:gd name="connsiteX26" fmla="*/ 6485149 w 6498675"/>
                <a:gd name="connsiteY26" fmla="*/ 4073570 h 6407069"/>
                <a:gd name="connsiteX27" fmla="*/ 6167622 w 6498675"/>
                <a:gd name="connsiteY27" fmla="*/ 4479853 h 6407069"/>
                <a:gd name="connsiteX28" fmla="*/ 5704059 w 6498675"/>
                <a:gd name="connsiteY28" fmla="*/ 4899657 h 6407069"/>
                <a:gd name="connsiteX29" fmla="*/ 5188635 w 6498675"/>
                <a:gd name="connsiteY29" fmla="*/ 5676589 h 6407069"/>
                <a:gd name="connsiteX30" fmla="*/ 4684346 w 6498675"/>
                <a:gd name="connsiteY30" fmla="*/ 6241471 h 6407069"/>
                <a:gd name="connsiteX31" fmla="*/ 4203602 w 6498675"/>
                <a:gd name="connsiteY31" fmla="*/ 6246721 h 6407069"/>
                <a:gd name="connsiteX32" fmla="*/ 3575230 w 6498675"/>
                <a:gd name="connsiteY32" fmla="*/ 6178477 h 6407069"/>
                <a:gd name="connsiteX33" fmla="*/ 2799549 w 6498675"/>
                <a:gd name="connsiteY33" fmla="*/ 6323714 h 6407069"/>
                <a:gd name="connsiteX34" fmla="*/ 2400095 w 6498675"/>
                <a:gd name="connsiteY34" fmla="*/ 6407070 h 6407069"/>
                <a:gd name="connsiteX35" fmla="*/ 2117725 w 6498675"/>
                <a:gd name="connsiteY35" fmla="*/ 15993 h 6407069"/>
                <a:gd name="connsiteX36" fmla="*/ 1980597 w 6498675"/>
                <a:gd name="connsiteY36" fmla="*/ 39537 h 6407069"/>
                <a:gd name="connsiteX37" fmla="*/ 1597688 w 6498675"/>
                <a:gd name="connsiteY37" fmla="*/ 522972 h 6407069"/>
                <a:gd name="connsiteX38" fmla="*/ 1154328 w 6498675"/>
                <a:gd name="connsiteY38" fmla="*/ 1230705 h 6407069"/>
                <a:gd name="connsiteX39" fmla="*/ 505435 w 6498675"/>
                <a:gd name="connsiteY39" fmla="*/ 1617421 h 6407069"/>
                <a:gd name="connsiteX40" fmla="*/ 51734 w 6498675"/>
                <a:gd name="connsiteY40" fmla="*/ 1962778 h 6407069"/>
                <a:gd name="connsiteX41" fmla="*/ 139388 w 6498675"/>
                <a:gd name="connsiteY41" fmla="*/ 2539113 h 6407069"/>
                <a:gd name="connsiteX42" fmla="*/ 340626 w 6498675"/>
                <a:gd name="connsiteY42" fmla="*/ 3304433 h 6407069"/>
                <a:gd name="connsiteX43" fmla="*/ 270789 w 6498675"/>
                <a:gd name="connsiteY43" fmla="*/ 4051617 h 6407069"/>
                <a:gd name="connsiteX44" fmla="*/ 276039 w 6498675"/>
                <a:gd name="connsiteY44" fmla="*/ 4808665 h 6407069"/>
                <a:gd name="connsiteX45" fmla="*/ 675334 w 6498675"/>
                <a:gd name="connsiteY45" fmla="*/ 5075437 h 6407069"/>
                <a:gd name="connsiteX46" fmla="*/ 1429539 w 6498675"/>
                <a:gd name="connsiteY46" fmla="*/ 5501604 h 6407069"/>
                <a:gd name="connsiteX47" fmla="*/ 1735612 w 6498675"/>
                <a:gd name="connsiteY47" fmla="*/ 5920931 h 6407069"/>
                <a:gd name="connsiteX48" fmla="*/ 2169109 w 6498675"/>
                <a:gd name="connsiteY48" fmla="*/ 6346621 h 6407069"/>
                <a:gd name="connsiteX49" fmla="*/ 2794935 w 6498675"/>
                <a:gd name="connsiteY49" fmla="*/ 6308124 h 6407069"/>
                <a:gd name="connsiteX50" fmla="*/ 3574912 w 6498675"/>
                <a:gd name="connsiteY50" fmla="*/ 6162251 h 6407069"/>
                <a:gd name="connsiteX51" fmla="*/ 4207579 w 6498675"/>
                <a:gd name="connsiteY51" fmla="*/ 6230813 h 6407069"/>
                <a:gd name="connsiteX52" fmla="*/ 4678460 w 6498675"/>
                <a:gd name="connsiteY52" fmla="*/ 6226359 h 6407069"/>
                <a:gd name="connsiteX53" fmla="*/ 5174317 w 6498675"/>
                <a:gd name="connsiteY53" fmla="*/ 5669271 h 6407069"/>
                <a:gd name="connsiteX54" fmla="*/ 5692127 w 6498675"/>
                <a:gd name="connsiteY54" fmla="*/ 4888839 h 6407069"/>
                <a:gd name="connsiteX55" fmla="*/ 6157918 w 6498675"/>
                <a:gd name="connsiteY55" fmla="*/ 4466968 h 6407069"/>
                <a:gd name="connsiteX56" fmla="*/ 6469400 w 6498675"/>
                <a:gd name="connsiteY56" fmla="*/ 4070229 h 6407069"/>
                <a:gd name="connsiteX57" fmla="*/ 6336248 w 6498675"/>
                <a:gd name="connsiteY57" fmla="*/ 3485303 h 6407069"/>
                <a:gd name="connsiteX58" fmla="*/ 6122125 w 6498675"/>
                <a:gd name="connsiteY58" fmla="*/ 2729847 h 6407069"/>
                <a:gd name="connsiteX59" fmla="*/ 6175735 w 6498675"/>
                <a:gd name="connsiteY59" fmla="*/ 2321974 h 6407069"/>
                <a:gd name="connsiteX60" fmla="*/ 6184962 w 6498675"/>
                <a:gd name="connsiteY60" fmla="*/ 1965005 h 6407069"/>
                <a:gd name="connsiteX61" fmla="*/ 5721240 w 6498675"/>
                <a:gd name="connsiteY61" fmla="*/ 1492387 h 6407069"/>
                <a:gd name="connsiteX62" fmla="*/ 5162227 w 6498675"/>
                <a:gd name="connsiteY62" fmla="*/ 1083559 h 6407069"/>
                <a:gd name="connsiteX63" fmla="*/ 4708845 w 6498675"/>
                <a:gd name="connsiteY63" fmla="*/ 482089 h 6407069"/>
                <a:gd name="connsiteX64" fmla="*/ 4299687 w 6498675"/>
                <a:gd name="connsiteY64" fmla="*/ 72148 h 6407069"/>
                <a:gd name="connsiteX65" fmla="*/ 3762946 w 6498675"/>
                <a:gd name="connsiteY65" fmla="*/ 149141 h 6407069"/>
                <a:gd name="connsiteX66" fmla="*/ 3129007 w 6498675"/>
                <a:gd name="connsiteY66" fmla="*/ 300105 h 6407069"/>
                <a:gd name="connsiteX67" fmla="*/ 3109758 w 6498675"/>
                <a:gd name="connsiteY67" fmla="*/ 299946 h 6407069"/>
                <a:gd name="connsiteX68" fmla="*/ 3109758 w 6498675"/>
                <a:gd name="connsiteY68" fmla="*/ 299946 h 6407069"/>
                <a:gd name="connsiteX69" fmla="*/ 2462455 w 6498675"/>
                <a:gd name="connsiteY69" fmla="*/ 125438 h 6407069"/>
                <a:gd name="connsiteX70" fmla="*/ 2117725 w 6498675"/>
                <a:gd name="connsiteY70" fmla="*/ 15993 h 6407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498675" h="6407069">
                  <a:moveTo>
                    <a:pt x="2400095" y="6407070"/>
                  </a:moveTo>
                  <a:cubicBezTo>
                    <a:pt x="2324531" y="6407070"/>
                    <a:pt x="2247218" y="6394026"/>
                    <a:pt x="2163223" y="6361733"/>
                  </a:cubicBezTo>
                  <a:cubicBezTo>
                    <a:pt x="1945281" y="6277741"/>
                    <a:pt x="1851423" y="6131708"/>
                    <a:pt x="1721772" y="5929521"/>
                  </a:cubicBezTo>
                  <a:cubicBezTo>
                    <a:pt x="1643185" y="5807191"/>
                    <a:pt x="1554100" y="5668476"/>
                    <a:pt x="1417131" y="5512103"/>
                  </a:cubicBezTo>
                  <a:cubicBezTo>
                    <a:pt x="1132852" y="5186473"/>
                    <a:pt x="877208" y="5133659"/>
                    <a:pt x="671834" y="5091185"/>
                  </a:cubicBezTo>
                  <a:cubicBezTo>
                    <a:pt x="488890" y="5053325"/>
                    <a:pt x="344285" y="5023419"/>
                    <a:pt x="260608" y="4814551"/>
                  </a:cubicBezTo>
                  <a:cubicBezTo>
                    <a:pt x="166591" y="4580071"/>
                    <a:pt x="207316" y="4333820"/>
                    <a:pt x="254404" y="4048754"/>
                  </a:cubicBezTo>
                  <a:cubicBezTo>
                    <a:pt x="289879" y="3834636"/>
                    <a:pt x="329968" y="3592044"/>
                    <a:pt x="324082" y="3304592"/>
                  </a:cubicBezTo>
                  <a:cubicBezTo>
                    <a:pt x="317082" y="2973871"/>
                    <a:pt x="214634" y="2746391"/>
                    <a:pt x="124275" y="2545795"/>
                  </a:cubicBezTo>
                  <a:cubicBezTo>
                    <a:pt x="28031" y="2332313"/>
                    <a:pt x="-47851" y="2163692"/>
                    <a:pt x="36303" y="1956414"/>
                  </a:cubicBezTo>
                  <a:cubicBezTo>
                    <a:pt x="119503" y="1752001"/>
                    <a:pt x="287016" y="1685825"/>
                    <a:pt x="499230" y="1601991"/>
                  </a:cubicBezTo>
                  <a:cubicBezTo>
                    <a:pt x="694423" y="1524839"/>
                    <a:pt x="915865" y="1437346"/>
                    <a:pt x="1142715" y="1218775"/>
                  </a:cubicBezTo>
                  <a:cubicBezTo>
                    <a:pt x="1388814" y="981432"/>
                    <a:pt x="1491581" y="734385"/>
                    <a:pt x="1582257" y="516450"/>
                  </a:cubicBezTo>
                  <a:cubicBezTo>
                    <a:pt x="1679615" y="282766"/>
                    <a:pt x="1756292" y="98077"/>
                    <a:pt x="1975189" y="23947"/>
                  </a:cubicBezTo>
                  <a:cubicBezTo>
                    <a:pt x="2158132" y="-37934"/>
                    <a:pt x="2302419" y="30629"/>
                    <a:pt x="2469455" y="110167"/>
                  </a:cubicBezTo>
                  <a:cubicBezTo>
                    <a:pt x="2636013" y="189387"/>
                    <a:pt x="2825002" y="279266"/>
                    <a:pt x="3109917" y="283084"/>
                  </a:cubicBezTo>
                  <a:cubicBezTo>
                    <a:pt x="3116280" y="283243"/>
                    <a:pt x="3122643" y="283243"/>
                    <a:pt x="3128848" y="283243"/>
                  </a:cubicBezTo>
                  <a:cubicBezTo>
                    <a:pt x="3402308" y="283243"/>
                    <a:pt x="3590184" y="203863"/>
                    <a:pt x="3756424" y="133551"/>
                  </a:cubicBezTo>
                  <a:cubicBezTo>
                    <a:pt x="3937936" y="56876"/>
                    <a:pt x="4094790" y="-9300"/>
                    <a:pt x="4304460" y="56081"/>
                  </a:cubicBezTo>
                  <a:cubicBezTo>
                    <a:pt x="4521765" y="124325"/>
                    <a:pt x="4606237" y="270835"/>
                    <a:pt x="4723003" y="473499"/>
                  </a:cubicBezTo>
                  <a:cubicBezTo>
                    <a:pt x="4818770" y="639734"/>
                    <a:pt x="4937922" y="846693"/>
                    <a:pt x="5173522" y="1071310"/>
                  </a:cubicBezTo>
                  <a:cubicBezTo>
                    <a:pt x="5378896" y="1267452"/>
                    <a:pt x="5565181" y="1379283"/>
                    <a:pt x="5729512" y="1477911"/>
                  </a:cubicBezTo>
                  <a:cubicBezTo>
                    <a:pt x="5949998" y="1610263"/>
                    <a:pt x="6124193" y="1714936"/>
                    <a:pt x="6200393" y="1959755"/>
                  </a:cubicBezTo>
                  <a:cubicBezTo>
                    <a:pt x="6247163" y="2109447"/>
                    <a:pt x="6222505" y="2204893"/>
                    <a:pt x="6191325" y="2325791"/>
                  </a:cubicBezTo>
                  <a:cubicBezTo>
                    <a:pt x="6164758" y="2428714"/>
                    <a:pt x="6134692" y="2545476"/>
                    <a:pt x="6138192" y="2729370"/>
                  </a:cubicBezTo>
                  <a:cubicBezTo>
                    <a:pt x="6144396" y="3059136"/>
                    <a:pt x="6254003" y="3281685"/>
                    <a:pt x="6350725" y="3477986"/>
                  </a:cubicBezTo>
                  <a:cubicBezTo>
                    <a:pt x="6448242" y="3675878"/>
                    <a:pt x="6532396" y="3846885"/>
                    <a:pt x="6485149" y="4073570"/>
                  </a:cubicBezTo>
                  <a:cubicBezTo>
                    <a:pt x="6443947" y="4268121"/>
                    <a:pt x="6334021" y="4352432"/>
                    <a:pt x="6167622" y="4479853"/>
                  </a:cubicBezTo>
                  <a:cubicBezTo>
                    <a:pt x="6043538" y="4574981"/>
                    <a:pt x="5889230" y="4693175"/>
                    <a:pt x="5704059" y="4899657"/>
                  </a:cubicBezTo>
                  <a:cubicBezTo>
                    <a:pt x="5434734" y="5199676"/>
                    <a:pt x="5298242" y="5464221"/>
                    <a:pt x="5188635" y="5676589"/>
                  </a:cubicBezTo>
                  <a:cubicBezTo>
                    <a:pt x="5051188" y="5943043"/>
                    <a:pt x="4951921" y="6135526"/>
                    <a:pt x="4684346" y="6241471"/>
                  </a:cubicBezTo>
                  <a:cubicBezTo>
                    <a:pt x="4498062" y="6315442"/>
                    <a:pt x="4374615" y="6286490"/>
                    <a:pt x="4203602" y="6246721"/>
                  </a:cubicBezTo>
                  <a:cubicBezTo>
                    <a:pt x="4054861" y="6212042"/>
                    <a:pt x="3869531" y="6168773"/>
                    <a:pt x="3575230" y="6178477"/>
                  </a:cubicBezTo>
                  <a:cubicBezTo>
                    <a:pt x="3231137" y="6189930"/>
                    <a:pt x="2991878" y="6264060"/>
                    <a:pt x="2799549" y="6323714"/>
                  </a:cubicBezTo>
                  <a:cubicBezTo>
                    <a:pt x="2655580" y="6368415"/>
                    <a:pt x="2530542" y="6407070"/>
                    <a:pt x="2400095" y="6407070"/>
                  </a:cubicBezTo>
                  <a:close/>
                  <a:moveTo>
                    <a:pt x="2117725" y="15993"/>
                  </a:moveTo>
                  <a:cubicBezTo>
                    <a:pt x="2073978" y="15993"/>
                    <a:pt x="2028958" y="23152"/>
                    <a:pt x="1980597" y="39537"/>
                  </a:cubicBezTo>
                  <a:cubicBezTo>
                    <a:pt x="1768860" y="111440"/>
                    <a:pt x="1693296" y="292947"/>
                    <a:pt x="1597688" y="522972"/>
                  </a:cubicBezTo>
                  <a:cubicBezTo>
                    <a:pt x="1506375" y="742339"/>
                    <a:pt x="1402972" y="990976"/>
                    <a:pt x="1154328" y="1230705"/>
                  </a:cubicBezTo>
                  <a:cubicBezTo>
                    <a:pt x="925251" y="1451663"/>
                    <a:pt x="702218" y="1539792"/>
                    <a:pt x="505435" y="1617421"/>
                  </a:cubicBezTo>
                  <a:cubicBezTo>
                    <a:pt x="296879" y="1699823"/>
                    <a:pt x="132070" y="1764886"/>
                    <a:pt x="51734" y="1962778"/>
                  </a:cubicBezTo>
                  <a:cubicBezTo>
                    <a:pt x="-29875" y="2163533"/>
                    <a:pt x="44894" y="2329291"/>
                    <a:pt x="139388" y="2539113"/>
                  </a:cubicBezTo>
                  <a:cubicBezTo>
                    <a:pt x="225928" y="2731278"/>
                    <a:pt x="333627" y="2970371"/>
                    <a:pt x="340626" y="3304433"/>
                  </a:cubicBezTo>
                  <a:cubicBezTo>
                    <a:pt x="346671" y="3593476"/>
                    <a:pt x="306424" y="3836863"/>
                    <a:pt x="270789" y="4051617"/>
                  </a:cubicBezTo>
                  <a:cubicBezTo>
                    <a:pt x="222110" y="4345910"/>
                    <a:pt x="183613" y="4578321"/>
                    <a:pt x="276039" y="4808665"/>
                  </a:cubicBezTo>
                  <a:cubicBezTo>
                    <a:pt x="356375" y="5009420"/>
                    <a:pt x="490163" y="5037099"/>
                    <a:pt x="675334" y="5075437"/>
                  </a:cubicBezTo>
                  <a:cubicBezTo>
                    <a:pt x="883094" y="5118388"/>
                    <a:pt x="1141602" y="5171838"/>
                    <a:pt x="1429539" y="5501604"/>
                  </a:cubicBezTo>
                  <a:cubicBezTo>
                    <a:pt x="1567304" y="5658772"/>
                    <a:pt x="1656707" y="5798124"/>
                    <a:pt x="1735612" y="5920931"/>
                  </a:cubicBezTo>
                  <a:cubicBezTo>
                    <a:pt x="1863672" y="6120414"/>
                    <a:pt x="1956099" y="6264697"/>
                    <a:pt x="2169109" y="6346621"/>
                  </a:cubicBezTo>
                  <a:cubicBezTo>
                    <a:pt x="2392936" y="6433000"/>
                    <a:pt x="2561563" y="6380505"/>
                    <a:pt x="2794935" y="6308124"/>
                  </a:cubicBezTo>
                  <a:cubicBezTo>
                    <a:pt x="2988219" y="6248152"/>
                    <a:pt x="3228591" y="6173545"/>
                    <a:pt x="3574912" y="6162251"/>
                  </a:cubicBezTo>
                  <a:cubicBezTo>
                    <a:pt x="3871599" y="6151752"/>
                    <a:pt x="4057884" y="6195816"/>
                    <a:pt x="4207579" y="6230813"/>
                  </a:cubicBezTo>
                  <a:cubicBezTo>
                    <a:pt x="4375728" y="6270105"/>
                    <a:pt x="4497425" y="6298421"/>
                    <a:pt x="4678460" y="6226359"/>
                  </a:cubicBezTo>
                  <a:cubicBezTo>
                    <a:pt x="4940467" y="6122640"/>
                    <a:pt x="5038462" y="5932385"/>
                    <a:pt x="5174317" y="5669271"/>
                  </a:cubicBezTo>
                  <a:cubicBezTo>
                    <a:pt x="5284402" y="5455949"/>
                    <a:pt x="5421371" y="5190291"/>
                    <a:pt x="5692127" y="4888839"/>
                  </a:cubicBezTo>
                  <a:cubicBezTo>
                    <a:pt x="5878253" y="4681403"/>
                    <a:pt x="6033357" y="4562573"/>
                    <a:pt x="6157918" y="4466968"/>
                  </a:cubicBezTo>
                  <a:cubicBezTo>
                    <a:pt x="6321454" y="4341615"/>
                    <a:pt x="6429470" y="4258736"/>
                    <a:pt x="6469400" y="4070229"/>
                  </a:cubicBezTo>
                  <a:cubicBezTo>
                    <a:pt x="6515533" y="3849112"/>
                    <a:pt x="6432493" y="3680650"/>
                    <a:pt x="6336248" y="3485303"/>
                  </a:cubicBezTo>
                  <a:cubicBezTo>
                    <a:pt x="6238890" y="3287571"/>
                    <a:pt x="6128488" y="3063272"/>
                    <a:pt x="6122125" y="2729847"/>
                  </a:cubicBezTo>
                  <a:cubicBezTo>
                    <a:pt x="6118625" y="2543886"/>
                    <a:pt x="6148850" y="2426010"/>
                    <a:pt x="6175735" y="2321974"/>
                  </a:cubicBezTo>
                  <a:cubicBezTo>
                    <a:pt x="6206279" y="2203620"/>
                    <a:pt x="6230300" y="2110083"/>
                    <a:pt x="6184962" y="1965005"/>
                  </a:cubicBezTo>
                  <a:cubicBezTo>
                    <a:pt x="6110671" y="1726071"/>
                    <a:pt x="5947294" y="1628080"/>
                    <a:pt x="5721240" y="1492387"/>
                  </a:cubicBezTo>
                  <a:cubicBezTo>
                    <a:pt x="5556113" y="1393282"/>
                    <a:pt x="5369033" y="1280974"/>
                    <a:pt x="5162227" y="1083559"/>
                  </a:cubicBezTo>
                  <a:cubicBezTo>
                    <a:pt x="4924878" y="857193"/>
                    <a:pt x="4805089" y="649120"/>
                    <a:pt x="4708845" y="482089"/>
                  </a:cubicBezTo>
                  <a:cubicBezTo>
                    <a:pt x="4593829" y="282606"/>
                    <a:pt x="4510947" y="138483"/>
                    <a:pt x="4299687" y="72148"/>
                  </a:cubicBezTo>
                  <a:cubicBezTo>
                    <a:pt x="4095586" y="8517"/>
                    <a:pt x="3941277" y="73738"/>
                    <a:pt x="3762946" y="149141"/>
                  </a:cubicBezTo>
                  <a:cubicBezTo>
                    <a:pt x="3595274" y="219930"/>
                    <a:pt x="3405649" y="300105"/>
                    <a:pt x="3129007" y="300105"/>
                  </a:cubicBezTo>
                  <a:cubicBezTo>
                    <a:pt x="3122643" y="300105"/>
                    <a:pt x="3116280" y="300105"/>
                    <a:pt x="3109758" y="299946"/>
                  </a:cubicBezTo>
                  <a:lnTo>
                    <a:pt x="3109758" y="299946"/>
                  </a:lnTo>
                  <a:cubicBezTo>
                    <a:pt x="2821184" y="296128"/>
                    <a:pt x="2630445" y="205295"/>
                    <a:pt x="2462455" y="125438"/>
                  </a:cubicBezTo>
                  <a:cubicBezTo>
                    <a:pt x="2338690" y="65944"/>
                    <a:pt x="2233537" y="15993"/>
                    <a:pt x="2117725" y="15993"/>
                  </a:cubicBezTo>
                  <a:close/>
                </a:path>
              </a:pathLst>
            </a:custGeom>
            <a:gradFill>
              <a:gsLst>
                <a:gs pos="100000">
                  <a:schemeClr val="accent2"/>
                </a:gs>
                <a:gs pos="0">
                  <a:schemeClr val="accent1"/>
                </a:gs>
              </a:gsLst>
              <a:lin ang="0" scaled="1"/>
            </a:gradFill>
            <a:ln w="1589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34" name="Freeform 33">
              <a:extLst>
                <a:ext uri="{FF2B5EF4-FFF2-40B4-BE49-F238E27FC236}">
                  <a16:creationId xmlns:a16="http://schemas.microsoft.com/office/drawing/2014/main" id="{7E955E65-71CF-D033-22D5-45810FD23E3B}"/>
                </a:ext>
              </a:extLst>
            </p:cNvPr>
            <p:cNvSpPr/>
            <p:nvPr/>
          </p:nvSpPr>
          <p:spPr>
            <a:xfrm>
              <a:off x="-3194342" y="271238"/>
              <a:ext cx="6382416" cy="6298322"/>
            </a:xfrm>
            <a:custGeom>
              <a:avLst/>
              <a:gdLst>
                <a:gd name="connsiteX0" fmla="*/ 2357892 w 6382416"/>
                <a:gd name="connsiteY0" fmla="*/ 6298323 h 6298322"/>
                <a:gd name="connsiteX1" fmla="*/ 2115929 w 6382416"/>
                <a:gd name="connsiteY1" fmla="*/ 6252032 h 6298322"/>
                <a:gd name="connsiteX2" fmla="*/ 1673046 w 6382416"/>
                <a:gd name="connsiteY2" fmla="*/ 5823955 h 6298322"/>
                <a:gd name="connsiteX3" fmla="*/ 1377313 w 6382416"/>
                <a:gd name="connsiteY3" fmla="*/ 5424513 h 6298322"/>
                <a:gd name="connsiteX4" fmla="*/ 658583 w 6382416"/>
                <a:gd name="connsiteY4" fmla="*/ 5009322 h 6298322"/>
                <a:gd name="connsiteX5" fmla="*/ 251812 w 6382416"/>
                <a:gd name="connsiteY5" fmla="*/ 4727119 h 6298322"/>
                <a:gd name="connsiteX6" fmla="*/ 239722 w 6382416"/>
                <a:gd name="connsiteY6" fmla="*/ 3963391 h 6298322"/>
                <a:gd name="connsiteX7" fmla="*/ 302718 w 6382416"/>
                <a:gd name="connsiteY7" fmla="*/ 3245954 h 6298322"/>
                <a:gd name="connsiteX8" fmla="*/ 116911 w 6382416"/>
                <a:gd name="connsiteY8" fmla="*/ 2509268 h 6298322"/>
                <a:gd name="connsiteX9" fmla="*/ 37052 w 6382416"/>
                <a:gd name="connsiteY9" fmla="*/ 1921161 h 6298322"/>
                <a:gd name="connsiteX10" fmla="*/ 494411 w 6382416"/>
                <a:gd name="connsiteY10" fmla="*/ 1562283 h 6298322"/>
                <a:gd name="connsiteX11" fmla="*/ 1113556 w 6382416"/>
                <a:gd name="connsiteY11" fmla="*/ 1185589 h 6298322"/>
                <a:gd name="connsiteX12" fmla="*/ 1545303 w 6382416"/>
                <a:gd name="connsiteY12" fmla="*/ 510784 h 6298322"/>
                <a:gd name="connsiteX13" fmla="*/ 1943643 w 6382416"/>
                <a:gd name="connsiteY13" fmla="*/ 24486 h 6298322"/>
                <a:gd name="connsiteX14" fmla="*/ 2436478 w 6382416"/>
                <a:gd name="connsiteY14" fmla="*/ 104024 h 6298322"/>
                <a:gd name="connsiteX15" fmla="*/ 3059123 w 6382416"/>
                <a:gd name="connsiteY15" fmla="*/ 265487 h 6298322"/>
                <a:gd name="connsiteX16" fmla="*/ 3077576 w 6382416"/>
                <a:gd name="connsiteY16" fmla="*/ 265646 h 6298322"/>
                <a:gd name="connsiteX17" fmla="*/ 3689563 w 6382416"/>
                <a:gd name="connsiteY17" fmla="*/ 127090 h 6298322"/>
                <a:gd name="connsiteX18" fmla="*/ 4237598 w 6382416"/>
                <a:gd name="connsiteY18" fmla="*/ 57733 h 6298322"/>
                <a:gd name="connsiteX19" fmla="*/ 4662346 w 6382416"/>
                <a:gd name="connsiteY19" fmla="*/ 475310 h 6298322"/>
                <a:gd name="connsiteX20" fmla="*/ 5101888 w 6382416"/>
                <a:gd name="connsiteY20" fmla="*/ 1051487 h 6298322"/>
                <a:gd name="connsiteX21" fmla="*/ 5633538 w 6382416"/>
                <a:gd name="connsiteY21" fmla="*/ 1448543 h 6298322"/>
                <a:gd name="connsiteX22" fmla="*/ 6101716 w 6382416"/>
                <a:gd name="connsiteY22" fmla="*/ 1938818 h 6298322"/>
                <a:gd name="connsiteX23" fmla="*/ 6095034 w 6382416"/>
                <a:gd name="connsiteY23" fmla="*/ 2304854 h 6298322"/>
                <a:gd name="connsiteX24" fmla="*/ 6045878 w 6382416"/>
                <a:gd name="connsiteY24" fmla="*/ 2697774 h 6298322"/>
                <a:gd name="connsiteX25" fmla="*/ 6243775 w 6382416"/>
                <a:gd name="connsiteY25" fmla="*/ 3426188 h 6298322"/>
                <a:gd name="connsiteX26" fmla="*/ 6367700 w 6382416"/>
                <a:gd name="connsiteY26" fmla="*/ 4019068 h 6298322"/>
                <a:gd name="connsiteX27" fmla="*/ 6050014 w 6382416"/>
                <a:gd name="connsiteY27" fmla="*/ 4428214 h 6298322"/>
                <a:gd name="connsiteX28" fmla="*/ 5604904 w 6382416"/>
                <a:gd name="connsiteY28" fmla="*/ 4834656 h 6298322"/>
                <a:gd name="connsiteX29" fmla="*/ 5102525 w 6382416"/>
                <a:gd name="connsiteY29" fmla="*/ 5579136 h 6298322"/>
                <a:gd name="connsiteX30" fmla="*/ 4591077 w 6382416"/>
                <a:gd name="connsiteY30" fmla="*/ 6140200 h 6298322"/>
                <a:gd name="connsiteX31" fmla="*/ 4110492 w 6382416"/>
                <a:gd name="connsiteY31" fmla="*/ 6148313 h 6298322"/>
                <a:gd name="connsiteX32" fmla="*/ 3501847 w 6382416"/>
                <a:gd name="connsiteY32" fmla="*/ 6085637 h 6298322"/>
                <a:gd name="connsiteX33" fmla="*/ 2751618 w 6382416"/>
                <a:gd name="connsiteY33" fmla="*/ 6219898 h 6298322"/>
                <a:gd name="connsiteX34" fmla="*/ 2357892 w 6382416"/>
                <a:gd name="connsiteY34" fmla="*/ 6298323 h 6298322"/>
                <a:gd name="connsiteX35" fmla="*/ 2088726 w 6382416"/>
                <a:gd name="connsiteY35" fmla="*/ 19554 h 6298322"/>
                <a:gd name="connsiteX36" fmla="*/ 1950007 w 6382416"/>
                <a:gd name="connsiteY36" fmla="*/ 43257 h 6298322"/>
                <a:gd name="connsiteX37" fmla="*/ 1563439 w 6382416"/>
                <a:gd name="connsiteY37" fmla="*/ 518738 h 6298322"/>
                <a:gd name="connsiteX38" fmla="*/ 1127396 w 6382416"/>
                <a:gd name="connsiteY38" fmla="*/ 1199906 h 6298322"/>
                <a:gd name="connsiteX39" fmla="*/ 502206 w 6382416"/>
                <a:gd name="connsiteY39" fmla="*/ 1580577 h 6298322"/>
                <a:gd name="connsiteX40" fmla="*/ 55505 w 6382416"/>
                <a:gd name="connsiteY40" fmla="*/ 1928796 h 6298322"/>
                <a:gd name="connsiteX41" fmla="*/ 135205 w 6382416"/>
                <a:gd name="connsiteY41" fmla="*/ 2501632 h 6298322"/>
                <a:gd name="connsiteX42" fmla="*/ 322603 w 6382416"/>
                <a:gd name="connsiteY42" fmla="*/ 3245636 h 6298322"/>
                <a:gd name="connsiteX43" fmla="*/ 259448 w 6382416"/>
                <a:gd name="connsiteY43" fmla="*/ 3966413 h 6298322"/>
                <a:gd name="connsiteX44" fmla="*/ 270265 w 6382416"/>
                <a:gd name="connsiteY44" fmla="*/ 4719643 h 6298322"/>
                <a:gd name="connsiteX45" fmla="*/ 663196 w 6382416"/>
                <a:gd name="connsiteY45" fmla="*/ 4989915 h 6298322"/>
                <a:gd name="connsiteX46" fmla="*/ 1392267 w 6382416"/>
                <a:gd name="connsiteY46" fmla="*/ 5411469 h 6298322"/>
                <a:gd name="connsiteX47" fmla="*/ 1689749 w 6382416"/>
                <a:gd name="connsiteY47" fmla="*/ 5812979 h 6298322"/>
                <a:gd name="connsiteX48" fmla="*/ 2123405 w 6382416"/>
                <a:gd name="connsiteY48" fmla="*/ 6233579 h 6298322"/>
                <a:gd name="connsiteX49" fmla="*/ 2746687 w 6382416"/>
                <a:gd name="connsiteY49" fmla="*/ 6201286 h 6298322"/>
                <a:gd name="connsiteX50" fmla="*/ 3501688 w 6382416"/>
                <a:gd name="connsiteY50" fmla="*/ 6066230 h 6298322"/>
                <a:gd name="connsiteX51" fmla="*/ 4115265 w 6382416"/>
                <a:gd name="connsiteY51" fmla="*/ 6129224 h 6298322"/>
                <a:gd name="connsiteX52" fmla="*/ 4584396 w 6382416"/>
                <a:gd name="connsiteY52" fmla="*/ 6122065 h 6298322"/>
                <a:gd name="connsiteX53" fmla="*/ 5085662 w 6382416"/>
                <a:gd name="connsiteY53" fmla="*/ 5570069 h 6298322"/>
                <a:gd name="connsiteX54" fmla="*/ 5590746 w 6382416"/>
                <a:gd name="connsiteY54" fmla="*/ 4821770 h 6298322"/>
                <a:gd name="connsiteX55" fmla="*/ 6038401 w 6382416"/>
                <a:gd name="connsiteY55" fmla="*/ 4412942 h 6298322"/>
                <a:gd name="connsiteX56" fmla="*/ 6348928 w 6382416"/>
                <a:gd name="connsiteY56" fmla="*/ 4015091 h 6298322"/>
                <a:gd name="connsiteX57" fmla="*/ 6226435 w 6382416"/>
                <a:gd name="connsiteY57" fmla="*/ 3434778 h 6298322"/>
                <a:gd name="connsiteX58" fmla="*/ 6026629 w 6382416"/>
                <a:gd name="connsiteY58" fmla="*/ 2698411 h 6298322"/>
                <a:gd name="connsiteX59" fmla="*/ 6076262 w 6382416"/>
                <a:gd name="connsiteY59" fmla="*/ 2300559 h 6298322"/>
                <a:gd name="connsiteX60" fmla="*/ 6083262 w 6382416"/>
                <a:gd name="connsiteY60" fmla="*/ 1945022 h 6298322"/>
                <a:gd name="connsiteX61" fmla="*/ 5623357 w 6382416"/>
                <a:gd name="connsiteY61" fmla="*/ 1465723 h 6298322"/>
                <a:gd name="connsiteX62" fmla="*/ 5088525 w 6382416"/>
                <a:gd name="connsiteY62" fmla="*/ 1066122 h 6298322"/>
                <a:gd name="connsiteX63" fmla="*/ 4645643 w 6382416"/>
                <a:gd name="connsiteY63" fmla="*/ 485809 h 6298322"/>
                <a:gd name="connsiteX64" fmla="*/ 4231872 w 6382416"/>
                <a:gd name="connsiteY64" fmla="*/ 76981 h 6298322"/>
                <a:gd name="connsiteX65" fmla="*/ 3697040 w 6382416"/>
                <a:gd name="connsiteY65" fmla="*/ 145861 h 6298322"/>
                <a:gd name="connsiteX66" fmla="*/ 3077894 w 6382416"/>
                <a:gd name="connsiteY66" fmla="*/ 285849 h 6298322"/>
                <a:gd name="connsiteX67" fmla="*/ 3059123 w 6382416"/>
                <a:gd name="connsiteY67" fmla="*/ 285690 h 6298322"/>
                <a:gd name="connsiteX68" fmla="*/ 3059123 w 6382416"/>
                <a:gd name="connsiteY68" fmla="*/ 285690 h 6298322"/>
                <a:gd name="connsiteX69" fmla="*/ 2428683 w 6382416"/>
                <a:gd name="connsiteY69" fmla="*/ 122477 h 6298322"/>
                <a:gd name="connsiteX70" fmla="*/ 2088726 w 6382416"/>
                <a:gd name="connsiteY70" fmla="*/ 19554 h 6298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382416" h="6298322">
                  <a:moveTo>
                    <a:pt x="2357892" y="6298323"/>
                  </a:moveTo>
                  <a:cubicBezTo>
                    <a:pt x="2280578" y="6298323"/>
                    <a:pt x="2201674" y="6285119"/>
                    <a:pt x="2115929" y="6252032"/>
                  </a:cubicBezTo>
                  <a:cubicBezTo>
                    <a:pt x="1899419" y="6168357"/>
                    <a:pt x="1804447" y="6023756"/>
                    <a:pt x="1673046" y="5823955"/>
                  </a:cubicBezTo>
                  <a:cubicBezTo>
                    <a:pt x="1595891" y="5706556"/>
                    <a:pt x="1508555" y="5573727"/>
                    <a:pt x="1377313" y="5424513"/>
                  </a:cubicBezTo>
                  <a:cubicBezTo>
                    <a:pt x="1103534" y="5112245"/>
                    <a:pt x="856799" y="5055136"/>
                    <a:pt x="658583" y="5009322"/>
                  </a:cubicBezTo>
                  <a:cubicBezTo>
                    <a:pt x="477867" y="4967485"/>
                    <a:pt x="335170" y="4934556"/>
                    <a:pt x="251812" y="4727119"/>
                  </a:cubicBezTo>
                  <a:cubicBezTo>
                    <a:pt x="157476" y="4493117"/>
                    <a:pt x="195656" y="4247662"/>
                    <a:pt x="239722" y="3963391"/>
                  </a:cubicBezTo>
                  <a:cubicBezTo>
                    <a:pt x="271856" y="3756272"/>
                    <a:pt x="308286" y="3521634"/>
                    <a:pt x="302718" y="3245954"/>
                  </a:cubicBezTo>
                  <a:cubicBezTo>
                    <a:pt x="296195" y="2927482"/>
                    <a:pt x="200906" y="2705410"/>
                    <a:pt x="116911" y="2509268"/>
                  </a:cubicBezTo>
                  <a:cubicBezTo>
                    <a:pt x="25439" y="2295946"/>
                    <a:pt x="-46784" y="2127324"/>
                    <a:pt x="37052" y="1921161"/>
                  </a:cubicBezTo>
                  <a:cubicBezTo>
                    <a:pt x="119933" y="1717542"/>
                    <a:pt x="285219" y="1648980"/>
                    <a:pt x="494411" y="1562283"/>
                  </a:cubicBezTo>
                  <a:cubicBezTo>
                    <a:pt x="682445" y="1484335"/>
                    <a:pt x="895455" y="1395888"/>
                    <a:pt x="1113556" y="1185589"/>
                  </a:cubicBezTo>
                  <a:cubicBezTo>
                    <a:pt x="1350269" y="957313"/>
                    <a:pt x="1453831" y="720129"/>
                    <a:pt x="1545303" y="510784"/>
                  </a:cubicBezTo>
                  <a:cubicBezTo>
                    <a:pt x="1645843" y="280441"/>
                    <a:pt x="1725224" y="98616"/>
                    <a:pt x="1943643" y="24486"/>
                  </a:cubicBezTo>
                  <a:cubicBezTo>
                    <a:pt x="2125473" y="-37236"/>
                    <a:pt x="2269442" y="28304"/>
                    <a:pt x="2436478" y="104024"/>
                  </a:cubicBezTo>
                  <a:cubicBezTo>
                    <a:pt x="2599536" y="177995"/>
                    <a:pt x="2784389" y="261828"/>
                    <a:pt x="3059123" y="265487"/>
                  </a:cubicBezTo>
                  <a:cubicBezTo>
                    <a:pt x="3065327" y="265646"/>
                    <a:pt x="3071531" y="265646"/>
                    <a:pt x="3077576" y="265646"/>
                  </a:cubicBezTo>
                  <a:cubicBezTo>
                    <a:pt x="3341811" y="265646"/>
                    <a:pt x="3526345" y="192153"/>
                    <a:pt x="3689563" y="127090"/>
                  </a:cubicBezTo>
                  <a:cubicBezTo>
                    <a:pt x="3871711" y="54551"/>
                    <a:pt x="4029043" y="-8125"/>
                    <a:pt x="4237598" y="57733"/>
                  </a:cubicBezTo>
                  <a:cubicBezTo>
                    <a:pt x="4455381" y="126931"/>
                    <a:pt x="4542240" y="273123"/>
                    <a:pt x="4662346" y="475310"/>
                  </a:cubicBezTo>
                  <a:cubicBezTo>
                    <a:pt x="4757795" y="635819"/>
                    <a:pt x="4876470" y="835619"/>
                    <a:pt x="5101888" y="1051487"/>
                  </a:cubicBezTo>
                  <a:cubicBezTo>
                    <a:pt x="5297877" y="1239357"/>
                    <a:pt x="5476207" y="1350551"/>
                    <a:pt x="5633538" y="1448543"/>
                  </a:cubicBezTo>
                  <a:cubicBezTo>
                    <a:pt x="5852594" y="1585031"/>
                    <a:pt x="6025675" y="1693044"/>
                    <a:pt x="6101716" y="1938818"/>
                  </a:cubicBezTo>
                  <a:cubicBezTo>
                    <a:pt x="6147849" y="2087396"/>
                    <a:pt x="6124623" y="2183319"/>
                    <a:pt x="6095034" y="2304854"/>
                  </a:cubicBezTo>
                  <a:cubicBezTo>
                    <a:pt x="6070535" y="2406027"/>
                    <a:pt x="6042537" y="2520563"/>
                    <a:pt x="6045878" y="2697774"/>
                  </a:cubicBezTo>
                  <a:cubicBezTo>
                    <a:pt x="6051764" y="3016087"/>
                    <a:pt x="6153735" y="3233864"/>
                    <a:pt x="6243775" y="3426188"/>
                  </a:cubicBezTo>
                  <a:cubicBezTo>
                    <a:pt x="6336361" y="3623921"/>
                    <a:pt x="6416379" y="3794610"/>
                    <a:pt x="6367700" y="4019068"/>
                  </a:cubicBezTo>
                  <a:cubicBezTo>
                    <a:pt x="6325702" y="4212983"/>
                    <a:pt x="6215936" y="4298566"/>
                    <a:pt x="6050014" y="4428214"/>
                  </a:cubicBezTo>
                  <a:cubicBezTo>
                    <a:pt x="5930384" y="4521592"/>
                    <a:pt x="5781802" y="4637718"/>
                    <a:pt x="5604904" y="4834656"/>
                  </a:cubicBezTo>
                  <a:cubicBezTo>
                    <a:pt x="5347669" y="5121153"/>
                    <a:pt x="5211654" y="5375199"/>
                    <a:pt x="5102525" y="5579136"/>
                  </a:cubicBezTo>
                  <a:cubicBezTo>
                    <a:pt x="4961101" y="5843681"/>
                    <a:pt x="4858812" y="6034732"/>
                    <a:pt x="4591077" y="6140200"/>
                  </a:cubicBezTo>
                  <a:cubicBezTo>
                    <a:pt x="4406066" y="6213376"/>
                    <a:pt x="4282141" y="6186015"/>
                    <a:pt x="4110492" y="6148313"/>
                  </a:cubicBezTo>
                  <a:cubicBezTo>
                    <a:pt x="3965092" y="6116339"/>
                    <a:pt x="3784216" y="6076728"/>
                    <a:pt x="3501847" y="6085637"/>
                  </a:cubicBezTo>
                  <a:cubicBezTo>
                    <a:pt x="3172071" y="6096295"/>
                    <a:pt x="2939016" y="6164857"/>
                    <a:pt x="2751618" y="6219898"/>
                  </a:cubicBezTo>
                  <a:cubicBezTo>
                    <a:pt x="2609718" y="6262053"/>
                    <a:pt x="2486111" y="6298323"/>
                    <a:pt x="2357892" y="6298323"/>
                  </a:cubicBezTo>
                  <a:close/>
                  <a:moveTo>
                    <a:pt x="2088726" y="19554"/>
                  </a:moveTo>
                  <a:cubicBezTo>
                    <a:pt x="2044501" y="19554"/>
                    <a:pt x="1998845" y="26713"/>
                    <a:pt x="1950007" y="43257"/>
                  </a:cubicBezTo>
                  <a:cubicBezTo>
                    <a:pt x="1740019" y="114682"/>
                    <a:pt x="1662069" y="293008"/>
                    <a:pt x="1563439" y="518738"/>
                  </a:cubicBezTo>
                  <a:cubicBezTo>
                    <a:pt x="1471330" y="729833"/>
                    <a:pt x="1366814" y="968926"/>
                    <a:pt x="1127396" y="1199906"/>
                  </a:cubicBezTo>
                  <a:cubicBezTo>
                    <a:pt x="906591" y="1412910"/>
                    <a:pt x="691672" y="1501993"/>
                    <a:pt x="502206" y="1580577"/>
                  </a:cubicBezTo>
                  <a:cubicBezTo>
                    <a:pt x="297150" y="1665683"/>
                    <a:pt x="135205" y="1732813"/>
                    <a:pt x="55505" y="1928796"/>
                  </a:cubicBezTo>
                  <a:cubicBezTo>
                    <a:pt x="-25308" y="2127324"/>
                    <a:pt x="45483" y="2292446"/>
                    <a:pt x="135205" y="2501632"/>
                  </a:cubicBezTo>
                  <a:cubicBezTo>
                    <a:pt x="219995" y="2699365"/>
                    <a:pt x="316081" y="2923346"/>
                    <a:pt x="322603" y="3245636"/>
                  </a:cubicBezTo>
                  <a:cubicBezTo>
                    <a:pt x="328330" y="3523066"/>
                    <a:pt x="291582" y="3758659"/>
                    <a:pt x="259448" y="3966413"/>
                  </a:cubicBezTo>
                  <a:cubicBezTo>
                    <a:pt x="213950" y="4259433"/>
                    <a:pt x="177998" y="4490731"/>
                    <a:pt x="270265" y="4719643"/>
                  </a:cubicBezTo>
                  <a:cubicBezTo>
                    <a:pt x="349806" y="4917376"/>
                    <a:pt x="481207" y="4947918"/>
                    <a:pt x="663196" y="4989915"/>
                  </a:cubicBezTo>
                  <a:cubicBezTo>
                    <a:pt x="864275" y="5036524"/>
                    <a:pt x="1114352" y="5094269"/>
                    <a:pt x="1392267" y="5411469"/>
                  </a:cubicBezTo>
                  <a:cubicBezTo>
                    <a:pt x="1524464" y="5561478"/>
                    <a:pt x="1612277" y="5695103"/>
                    <a:pt x="1689749" y="5812979"/>
                  </a:cubicBezTo>
                  <a:cubicBezTo>
                    <a:pt x="1819083" y="6009916"/>
                    <a:pt x="1912622" y="6152131"/>
                    <a:pt x="2123405" y="6233579"/>
                  </a:cubicBezTo>
                  <a:cubicBezTo>
                    <a:pt x="2345006" y="6319321"/>
                    <a:pt x="2513473" y="6269689"/>
                    <a:pt x="2746687" y="6201286"/>
                  </a:cubicBezTo>
                  <a:cubicBezTo>
                    <a:pt x="2935039" y="6145927"/>
                    <a:pt x="3169525" y="6076888"/>
                    <a:pt x="3501688" y="6066230"/>
                  </a:cubicBezTo>
                  <a:cubicBezTo>
                    <a:pt x="3786761" y="6057003"/>
                    <a:pt x="3968751" y="6097090"/>
                    <a:pt x="4115265" y="6129224"/>
                  </a:cubicBezTo>
                  <a:cubicBezTo>
                    <a:pt x="4283255" y="6166130"/>
                    <a:pt x="4404952" y="6193014"/>
                    <a:pt x="4584396" y="6122065"/>
                  </a:cubicBezTo>
                  <a:cubicBezTo>
                    <a:pt x="4845449" y="6019302"/>
                    <a:pt x="4946147" y="5830796"/>
                    <a:pt x="5085662" y="5570069"/>
                  </a:cubicBezTo>
                  <a:cubicBezTo>
                    <a:pt x="5195269" y="5365177"/>
                    <a:pt x="5331761" y="5110018"/>
                    <a:pt x="5590746" y="4821770"/>
                  </a:cubicBezTo>
                  <a:cubicBezTo>
                    <a:pt x="5768758" y="4623561"/>
                    <a:pt x="5918295" y="4506639"/>
                    <a:pt x="6038401" y="4412942"/>
                  </a:cubicBezTo>
                  <a:cubicBezTo>
                    <a:pt x="6200982" y="4285999"/>
                    <a:pt x="6308362" y="4202165"/>
                    <a:pt x="6348928" y="4015091"/>
                  </a:cubicBezTo>
                  <a:cubicBezTo>
                    <a:pt x="6396175" y="3797155"/>
                    <a:pt x="6317589" y="3629170"/>
                    <a:pt x="6226435" y="3434778"/>
                  </a:cubicBezTo>
                  <a:cubicBezTo>
                    <a:pt x="6135600" y="3240704"/>
                    <a:pt x="6032515" y="3020860"/>
                    <a:pt x="6026629" y="2698411"/>
                  </a:cubicBezTo>
                  <a:cubicBezTo>
                    <a:pt x="6023288" y="2518813"/>
                    <a:pt x="6051446" y="2402846"/>
                    <a:pt x="6076262" y="2300559"/>
                  </a:cubicBezTo>
                  <a:cubicBezTo>
                    <a:pt x="6105056" y="2182047"/>
                    <a:pt x="6127805" y="2088350"/>
                    <a:pt x="6083262" y="1945022"/>
                  </a:cubicBezTo>
                  <a:cubicBezTo>
                    <a:pt x="6009448" y="1706088"/>
                    <a:pt x="5847503" y="1605234"/>
                    <a:pt x="5623357" y="1465723"/>
                  </a:cubicBezTo>
                  <a:cubicBezTo>
                    <a:pt x="5465230" y="1367095"/>
                    <a:pt x="5285786" y="1255264"/>
                    <a:pt x="5088525" y="1066122"/>
                  </a:cubicBezTo>
                  <a:cubicBezTo>
                    <a:pt x="4861198" y="848345"/>
                    <a:pt x="4741728" y="647272"/>
                    <a:pt x="4645643" y="485809"/>
                  </a:cubicBezTo>
                  <a:cubicBezTo>
                    <a:pt x="4527604" y="287281"/>
                    <a:pt x="4442337" y="143952"/>
                    <a:pt x="4231872" y="76981"/>
                  </a:cubicBezTo>
                  <a:cubicBezTo>
                    <a:pt x="4029838" y="13191"/>
                    <a:pt x="3875529" y="74595"/>
                    <a:pt x="3697040" y="145861"/>
                  </a:cubicBezTo>
                  <a:cubicBezTo>
                    <a:pt x="3532231" y="211560"/>
                    <a:pt x="3345788" y="285849"/>
                    <a:pt x="3077894" y="285849"/>
                  </a:cubicBezTo>
                  <a:cubicBezTo>
                    <a:pt x="3071690" y="285849"/>
                    <a:pt x="3065327" y="285849"/>
                    <a:pt x="3059123" y="285690"/>
                  </a:cubicBezTo>
                  <a:lnTo>
                    <a:pt x="3059123" y="285690"/>
                  </a:lnTo>
                  <a:cubicBezTo>
                    <a:pt x="2780253" y="282031"/>
                    <a:pt x="2593332" y="197243"/>
                    <a:pt x="2428683" y="122477"/>
                  </a:cubicBezTo>
                  <a:cubicBezTo>
                    <a:pt x="2306031" y="66641"/>
                    <a:pt x="2202310" y="19554"/>
                    <a:pt x="2088726" y="19554"/>
                  </a:cubicBezTo>
                  <a:close/>
                </a:path>
              </a:pathLst>
            </a:custGeom>
            <a:gradFill>
              <a:gsLst>
                <a:gs pos="100000">
                  <a:schemeClr val="accent2"/>
                </a:gs>
                <a:gs pos="0">
                  <a:schemeClr val="accent1"/>
                </a:gs>
              </a:gsLst>
              <a:lin ang="0" scaled="1"/>
            </a:gradFill>
            <a:ln w="1589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35" name="Freeform 34">
              <a:extLst>
                <a:ext uri="{FF2B5EF4-FFF2-40B4-BE49-F238E27FC236}">
                  <a16:creationId xmlns:a16="http://schemas.microsoft.com/office/drawing/2014/main" id="{A085F11D-E8EF-19F6-2216-D824608F567E}"/>
                </a:ext>
              </a:extLst>
            </p:cNvPr>
            <p:cNvSpPr/>
            <p:nvPr/>
          </p:nvSpPr>
          <p:spPr>
            <a:xfrm>
              <a:off x="-3136704" y="325497"/>
              <a:ext cx="6266516" cy="6189340"/>
            </a:xfrm>
            <a:custGeom>
              <a:avLst/>
              <a:gdLst>
                <a:gd name="connsiteX0" fmla="*/ 2316480 w 6266516"/>
                <a:gd name="connsiteY0" fmla="*/ 6189341 h 6189340"/>
                <a:gd name="connsiteX1" fmla="*/ 2069108 w 6266516"/>
                <a:gd name="connsiteY1" fmla="*/ 6141936 h 6189340"/>
                <a:gd name="connsiteX2" fmla="*/ 1624475 w 6266516"/>
                <a:gd name="connsiteY2" fmla="*/ 5717678 h 6189340"/>
                <a:gd name="connsiteX3" fmla="*/ 1337811 w 6266516"/>
                <a:gd name="connsiteY3" fmla="*/ 5336529 h 6189340"/>
                <a:gd name="connsiteX4" fmla="*/ 645488 w 6266516"/>
                <a:gd name="connsiteY4" fmla="*/ 4927383 h 6189340"/>
                <a:gd name="connsiteX5" fmla="*/ 243012 w 6266516"/>
                <a:gd name="connsiteY5" fmla="*/ 4639454 h 6189340"/>
                <a:gd name="connsiteX6" fmla="*/ 225036 w 6266516"/>
                <a:gd name="connsiteY6" fmla="*/ 3877475 h 6189340"/>
                <a:gd name="connsiteX7" fmla="*/ 281510 w 6266516"/>
                <a:gd name="connsiteY7" fmla="*/ 3187240 h 6189340"/>
                <a:gd name="connsiteX8" fmla="*/ 109542 w 6266516"/>
                <a:gd name="connsiteY8" fmla="*/ 2473143 h 6189340"/>
                <a:gd name="connsiteX9" fmla="*/ 37956 w 6266516"/>
                <a:gd name="connsiteY9" fmla="*/ 1885990 h 6189340"/>
                <a:gd name="connsiteX10" fmla="*/ 489906 w 6266516"/>
                <a:gd name="connsiteY10" fmla="*/ 1522340 h 6189340"/>
                <a:gd name="connsiteX11" fmla="*/ 1084553 w 6266516"/>
                <a:gd name="connsiteY11" fmla="*/ 1152486 h 6189340"/>
                <a:gd name="connsiteX12" fmla="*/ 1508187 w 6266516"/>
                <a:gd name="connsiteY12" fmla="*/ 505202 h 6189340"/>
                <a:gd name="connsiteX13" fmla="*/ 1912254 w 6266516"/>
                <a:gd name="connsiteY13" fmla="*/ 24949 h 6189340"/>
                <a:gd name="connsiteX14" fmla="*/ 2403816 w 6266516"/>
                <a:gd name="connsiteY14" fmla="*/ 97647 h 6189340"/>
                <a:gd name="connsiteX15" fmla="*/ 3008325 w 6266516"/>
                <a:gd name="connsiteY15" fmla="*/ 247497 h 6189340"/>
                <a:gd name="connsiteX16" fmla="*/ 3622539 w 6266516"/>
                <a:gd name="connsiteY16" fmla="*/ 120077 h 6189340"/>
                <a:gd name="connsiteX17" fmla="*/ 4170893 w 6266516"/>
                <a:gd name="connsiteY17" fmla="*/ 58991 h 6189340"/>
                <a:gd name="connsiteX18" fmla="*/ 4602322 w 6266516"/>
                <a:gd name="connsiteY18" fmla="*/ 477045 h 6189340"/>
                <a:gd name="connsiteX19" fmla="*/ 5030569 w 6266516"/>
                <a:gd name="connsiteY19" fmla="*/ 1031429 h 6189340"/>
                <a:gd name="connsiteX20" fmla="*/ 5537721 w 6266516"/>
                <a:gd name="connsiteY20" fmla="*/ 1418463 h 6189340"/>
                <a:gd name="connsiteX21" fmla="*/ 6003512 w 6266516"/>
                <a:gd name="connsiteY21" fmla="*/ 1917806 h 6189340"/>
                <a:gd name="connsiteX22" fmla="*/ 5999216 w 6266516"/>
                <a:gd name="connsiteY22" fmla="*/ 2284001 h 6189340"/>
                <a:gd name="connsiteX23" fmla="*/ 5953878 w 6266516"/>
                <a:gd name="connsiteY23" fmla="*/ 2666263 h 6189340"/>
                <a:gd name="connsiteX24" fmla="*/ 6137299 w 6266516"/>
                <a:gd name="connsiteY24" fmla="*/ 3374315 h 6189340"/>
                <a:gd name="connsiteX25" fmla="*/ 6250565 w 6266516"/>
                <a:gd name="connsiteY25" fmla="*/ 3964649 h 6189340"/>
                <a:gd name="connsiteX26" fmla="*/ 5932561 w 6266516"/>
                <a:gd name="connsiteY26" fmla="*/ 4376659 h 6189340"/>
                <a:gd name="connsiteX27" fmla="*/ 5506064 w 6266516"/>
                <a:gd name="connsiteY27" fmla="*/ 4769738 h 6189340"/>
                <a:gd name="connsiteX28" fmla="*/ 5017366 w 6266516"/>
                <a:gd name="connsiteY28" fmla="*/ 5481448 h 6189340"/>
                <a:gd name="connsiteX29" fmla="*/ 4498442 w 6266516"/>
                <a:gd name="connsiteY29" fmla="*/ 6039013 h 6189340"/>
                <a:gd name="connsiteX30" fmla="*/ 4017857 w 6266516"/>
                <a:gd name="connsiteY30" fmla="*/ 6049989 h 6189340"/>
                <a:gd name="connsiteX31" fmla="*/ 3429096 w 6266516"/>
                <a:gd name="connsiteY31" fmla="*/ 5992881 h 6189340"/>
                <a:gd name="connsiteX32" fmla="*/ 2704798 w 6266516"/>
                <a:gd name="connsiteY32" fmla="*/ 6116325 h 6189340"/>
                <a:gd name="connsiteX33" fmla="*/ 2316480 w 6266516"/>
                <a:gd name="connsiteY33" fmla="*/ 6189341 h 6189340"/>
                <a:gd name="connsiteX34" fmla="*/ 2060359 w 6266516"/>
                <a:gd name="connsiteY34" fmla="*/ 22563 h 6189340"/>
                <a:gd name="connsiteX35" fmla="*/ 1919572 w 6266516"/>
                <a:gd name="connsiteY35" fmla="*/ 46583 h 6189340"/>
                <a:gd name="connsiteX36" fmla="*/ 1529027 w 6266516"/>
                <a:gd name="connsiteY36" fmla="*/ 514588 h 6189340"/>
                <a:gd name="connsiteX37" fmla="*/ 1100461 w 6266516"/>
                <a:gd name="connsiteY37" fmla="*/ 1169030 h 6189340"/>
                <a:gd name="connsiteX38" fmla="*/ 499133 w 6266516"/>
                <a:gd name="connsiteY38" fmla="*/ 1543339 h 6189340"/>
                <a:gd name="connsiteX39" fmla="*/ 59273 w 6266516"/>
                <a:gd name="connsiteY39" fmla="*/ 1894580 h 6189340"/>
                <a:gd name="connsiteX40" fmla="*/ 130859 w 6266516"/>
                <a:gd name="connsiteY40" fmla="*/ 2464394 h 6189340"/>
                <a:gd name="connsiteX41" fmla="*/ 304576 w 6266516"/>
                <a:gd name="connsiteY41" fmla="*/ 3186604 h 6189340"/>
                <a:gd name="connsiteX42" fmla="*/ 247784 w 6266516"/>
                <a:gd name="connsiteY42" fmla="*/ 3880657 h 6189340"/>
                <a:gd name="connsiteX43" fmla="*/ 264488 w 6266516"/>
                <a:gd name="connsiteY43" fmla="*/ 4630705 h 6189340"/>
                <a:gd name="connsiteX44" fmla="*/ 651374 w 6266516"/>
                <a:gd name="connsiteY44" fmla="*/ 4904953 h 6189340"/>
                <a:gd name="connsiteX45" fmla="*/ 1355151 w 6266516"/>
                <a:gd name="connsiteY45" fmla="*/ 5321258 h 6189340"/>
                <a:gd name="connsiteX46" fmla="*/ 1643724 w 6266516"/>
                <a:gd name="connsiteY46" fmla="*/ 5704792 h 6189340"/>
                <a:gd name="connsiteX47" fmla="*/ 2077539 w 6266516"/>
                <a:gd name="connsiteY47" fmla="*/ 6120460 h 6189340"/>
                <a:gd name="connsiteX48" fmla="*/ 2698912 w 6266516"/>
                <a:gd name="connsiteY48" fmla="*/ 6094372 h 6189340"/>
                <a:gd name="connsiteX49" fmla="*/ 3428619 w 6266516"/>
                <a:gd name="connsiteY49" fmla="*/ 5970133 h 6189340"/>
                <a:gd name="connsiteX50" fmla="*/ 4022788 w 6266516"/>
                <a:gd name="connsiteY50" fmla="*/ 6027719 h 6189340"/>
                <a:gd name="connsiteX51" fmla="*/ 4490329 w 6266516"/>
                <a:gd name="connsiteY51" fmla="*/ 6017856 h 6189340"/>
                <a:gd name="connsiteX52" fmla="*/ 4997480 w 6266516"/>
                <a:gd name="connsiteY52" fmla="*/ 5470631 h 6189340"/>
                <a:gd name="connsiteX53" fmla="*/ 5489201 w 6266516"/>
                <a:gd name="connsiteY53" fmla="*/ 4754626 h 6189340"/>
                <a:gd name="connsiteX54" fmla="*/ 5918562 w 6266516"/>
                <a:gd name="connsiteY54" fmla="*/ 4358842 h 6189340"/>
                <a:gd name="connsiteX55" fmla="*/ 6228453 w 6266516"/>
                <a:gd name="connsiteY55" fmla="*/ 3959718 h 6189340"/>
                <a:gd name="connsiteX56" fmla="*/ 6116459 w 6266516"/>
                <a:gd name="connsiteY56" fmla="*/ 3383700 h 6189340"/>
                <a:gd name="connsiteX57" fmla="*/ 5931130 w 6266516"/>
                <a:gd name="connsiteY57" fmla="*/ 2666740 h 6189340"/>
                <a:gd name="connsiteX58" fmla="*/ 5976945 w 6266516"/>
                <a:gd name="connsiteY58" fmla="*/ 2279069 h 6189340"/>
                <a:gd name="connsiteX59" fmla="*/ 5981558 w 6266516"/>
                <a:gd name="connsiteY59" fmla="*/ 1924646 h 6189340"/>
                <a:gd name="connsiteX60" fmla="*/ 5525313 w 6266516"/>
                <a:gd name="connsiteY60" fmla="*/ 1437870 h 6189340"/>
                <a:gd name="connsiteX61" fmla="*/ 5014661 w 6266516"/>
                <a:gd name="connsiteY61" fmla="*/ 1047973 h 6189340"/>
                <a:gd name="connsiteX62" fmla="*/ 4582437 w 6266516"/>
                <a:gd name="connsiteY62" fmla="*/ 489135 h 6189340"/>
                <a:gd name="connsiteX63" fmla="*/ 4163575 w 6266516"/>
                <a:gd name="connsiteY63" fmla="*/ 80944 h 6189340"/>
                <a:gd name="connsiteX64" fmla="*/ 3630175 w 6266516"/>
                <a:gd name="connsiteY64" fmla="*/ 141711 h 6189340"/>
                <a:gd name="connsiteX65" fmla="*/ 3026301 w 6266516"/>
                <a:gd name="connsiteY65" fmla="*/ 270723 h 6189340"/>
                <a:gd name="connsiteX66" fmla="*/ 3007689 w 6266516"/>
                <a:gd name="connsiteY66" fmla="*/ 270564 h 6189340"/>
                <a:gd name="connsiteX67" fmla="*/ 3007689 w 6266516"/>
                <a:gd name="connsiteY67" fmla="*/ 270564 h 6189340"/>
                <a:gd name="connsiteX68" fmla="*/ 2394271 w 6266516"/>
                <a:gd name="connsiteY68" fmla="*/ 118804 h 6189340"/>
                <a:gd name="connsiteX69" fmla="*/ 2060359 w 6266516"/>
                <a:gd name="connsiteY69" fmla="*/ 22563 h 6189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6266516" h="6189340">
                  <a:moveTo>
                    <a:pt x="2316480" y="6189341"/>
                  </a:moveTo>
                  <a:cubicBezTo>
                    <a:pt x="2237257" y="6189341"/>
                    <a:pt x="2156603" y="6175979"/>
                    <a:pt x="2069108" y="6141936"/>
                  </a:cubicBezTo>
                  <a:cubicBezTo>
                    <a:pt x="1853871" y="6058420"/>
                    <a:pt x="1757627" y="5915410"/>
                    <a:pt x="1624475" y="5717678"/>
                  </a:cubicBezTo>
                  <a:cubicBezTo>
                    <a:pt x="1548912" y="5605528"/>
                    <a:pt x="1463167" y="5478267"/>
                    <a:pt x="1337811" y="5336529"/>
                  </a:cubicBezTo>
                  <a:cubicBezTo>
                    <a:pt x="1074690" y="5037783"/>
                    <a:pt x="836704" y="4976538"/>
                    <a:pt x="645488" y="4927383"/>
                  </a:cubicBezTo>
                  <a:cubicBezTo>
                    <a:pt x="466999" y="4881410"/>
                    <a:pt x="326211" y="4845141"/>
                    <a:pt x="243012" y="4639454"/>
                  </a:cubicBezTo>
                  <a:cubicBezTo>
                    <a:pt x="148517" y="4406088"/>
                    <a:pt x="183993" y="4161109"/>
                    <a:pt x="225036" y="3877475"/>
                  </a:cubicBezTo>
                  <a:cubicBezTo>
                    <a:pt x="253988" y="3677674"/>
                    <a:pt x="286759" y="3450990"/>
                    <a:pt x="281510" y="3187240"/>
                  </a:cubicBezTo>
                  <a:cubicBezTo>
                    <a:pt x="275464" y="2881176"/>
                    <a:pt x="187174" y="2664354"/>
                    <a:pt x="109542" y="2473143"/>
                  </a:cubicBezTo>
                  <a:cubicBezTo>
                    <a:pt x="22843" y="2259821"/>
                    <a:pt x="-45721" y="2091200"/>
                    <a:pt x="37956" y="1885990"/>
                  </a:cubicBezTo>
                  <a:cubicBezTo>
                    <a:pt x="120678" y="1683326"/>
                    <a:pt x="283578" y="1612219"/>
                    <a:pt x="489906" y="1522340"/>
                  </a:cubicBezTo>
                  <a:cubicBezTo>
                    <a:pt x="670464" y="1443597"/>
                    <a:pt x="875043" y="1354514"/>
                    <a:pt x="1084553" y="1152486"/>
                  </a:cubicBezTo>
                  <a:cubicBezTo>
                    <a:pt x="1311880" y="933278"/>
                    <a:pt x="1416079" y="705798"/>
                    <a:pt x="1508187" y="505202"/>
                  </a:cubicBezTo>
                  <a:cubicBezTo>
                    <a:pt x="1612226" y="278358"/>
                    <a:pt x="1694312" y="99238"/>
                    <a:pt x="1912254" y="24949"/>
                  </a:cubicBezTo>
                  <a:cubicBezTo>
                    <a:pt x="2092811" y="-36296"/>
                    <a:pt x="2236780" y="25744"/>
                    <a:pt x="2403816" y="97647"/>
                  </a:cubicBezTo>
                  <a:cubicBezTo>
                    <a:pt x="2563215" y="166368"/>
                    <a:pt x="2743932" y="244157"/>
                    <a:pt x="3008325" y="247497"/>
                  </a:cubicBezTo>
                  <a:cubicBezTo>
                    <a:pt x="3273355" y="250043"/>
                    <a:pt x="3458526" y="181321"/>
                    <a:pt x="3622539" y="120077"/>
                  </a:cubicBezTo>
                  <a:cubicBezTo>
                    <a:pt x="3805483" y="51833"/>
                    <a:pt x="3963291" y="-7344"/>
                    <a:pt x="4170893" y="58991"/>
                  </a:cubicBezTo>
                  <a:cubicBezTo>
                    <a:pt x="4389153" y="129303"/>
                    <a:pt x="4483170" y="282812"/>
                    <a:pt x="4602322" y="477045"/>
                  </a:cubicBezTo>
                  <a:cubicBezTo>
                    <a:pt x="4697134" y="631827"/>
                    <a:pt x="4815332" y="824310"/>
                    <a:pt x="5030569" y="1031429"/>
                  </a:cubicBezTo>
                  <a:cubicBezTo>
                    <a:pt x="5217013" y="1211027"/>
                    <a:pt x="5387389" y="1321267"/>
                    <a:pt x="5537721" y="1418463"/>
                  </a:cubicBezTo>
                  <a:cubicBezTo>
                    <a:pt x="5755504" y="1559405"/>
                    <a:pt x="5927471" y="1670759"/>
                    <a:pt x="6003512" y="1917806"/>
                  </a:cubicBezTo>
                  <a:cubicBezTo>
                    <a:pt x="6049168" y="2065270"/>
                    <a:pt x="6027056" y="2161830"/>
                    <a:pt x="5999216" y="2284001"/>
                  </a:cubicBezTo>
                  <a:cubicBezTo>
                    <a:pt x="5976627" y="2383265"/>
                    <a:pt x="5950856" y="2495732"/>
                    <a:pt x="5953878" y="2666263"/>
                  </a:cubicBezTo>
                  <a:cubicBezTo>
                    <a:pt x="5959446" y="2972963"/>
                    <a:pt x="6053941" y="3186126"/>
                    <a:pt x="6137299" y="3374315"/>
                  </a:cubicBezTo>
                  <a:cubicBezTo>
                    <a:pt x="6224953" y="3571729"/>
                    <a:pt x="6300517" y="3742260"/>
                    <a:pt x="6250565" y="3964649"/>
                  </a:cubicBezTo>
                  <a:cubicBezTo>
                    <a:pt x="6207295" y="4157928"/>
                    <a:pt x="6098006" y="4244943"/>
                    <a:pt x="5932561" y="4376659"/>
                  </a:cubicBezTo>
                  <a:cubicBezTo>
                    <a:pt x="5817704" y="4468287"/>
                    <a:pt x="5674690" y="4582186"/>
                    <a:pt x="5506064" y="4769738"/>
                  </a:cubicBezTo>
                  <a:cubicBezTo>
                    <a:pt x="5260760" y="5042714"/>
                    <a:pt x="5125700" y="5285943"/>
                    <a:pt x="5017366" y="5481448"/>
                  </a:cubicBezTo>
                  <a:cubicBezTo>
                    <a:pt x="4871647" y="5744084"/>
                    <a:pt x="4766335" y="5933863"/>
                    <a:pt x="4498442" y="6039013"/>
                  </a:cubicBezTo>
                  <a:cubicBezTo>
                    <a:pt x="4314702" y="6111393"/>
                    <a:pt x="4190142" y="6085622"/>
                    <a:pt x="4017857" y="6049989"/>
                  </a:cubicBezTo>
                  <a:cubicBezTo>
                    <a:pt x="3875956" y="6020719"/>
                    <a:pt x="3699534" y="5984450"/>
                    <a:pt x="3429096" y="5992881"/>
                  </a:cubicBezTo>
                  <a:cubicBezTo>
                    <a:pt x="3113796" y="6002903"/>
                    <a:pt x="2887105" y="6065738"/>
                    <a:pt x="2704798" y="6116325"/>
                  </a:cubicBezTo>
                  <a:cubicBezTo>
                    <a:pt x="2564647" y="6155298"/>
                    <a:pt x="2442314" y="6189341"/>
                    <a:pt x="2316480" y="6189341"/>
                  </a:cubicBezTo>
                  <a:close/>
                  <a:moveTo>
                    <a:pt x="2060359" y="22563"/>
                  </a:moveTo>
                  <a:cubicBezTo>
                    <a:pt x="2015339" y="22563"/>
                    <a:pt x="1969046" y="29721"/>
                    <a:pt x="1919572" y="46583"/>
                  </a:cubicBezTo>
                  <a:cubicBezTo>
                    <a:pt x="1711016" y="117531"/>
                    <a:pt x="1630680" y="292675"/>
                    <a:pt x="1529027" y="514588"/>
                  </a:cubicBezTo>
                  <a:cubicBezTo>
                    <a:pt x="1436123" y="717252"/>
                    <a:pt x="1330811" y="946800"/>
                    <a:pt x="1100461" y="1169030"/>
                  </a:cubicBezTo>
                  <a:cubicBezTo>
                    <a:pt x="888087" y="1373922"/>
                    <a:pt x="681440" y="1463959"/>
                    <a:pt x="499133" y="1543339"/>
                  </a:cubicBezTo>
                  <a:cubicBezTo>
                    <a:pt x="297736" y="1631149"/>
                    <a:pt x="138495" y="1700507"/>
                    <a:pt x="59273" y="1894580"/>
                  </a:cubicBezTo>
                  <a:cubicBezTo>
                    <a:pt x="-20904" y="2091041"/>
                    <a:pt x="46069" y="2255844"/>
                    <a:pt x="130859" y="2464394"/>
                  </a:cubicBezTo>
                  <a:cubicBezTo>
                    <a:pt x="209446" y="2657514"/>
                    <a:pt x="298372" y="2876245"/>
                    <a:pt x="304576" y="3186604"/>
                  </a:cubicBezTo>
                  <a:cubicBezTo>
                    <a:pt x="309826" y="3452262"/>
                    <a:pt x="276896" y="3679901"/>
                    <a:pt x="247784" y="3880657"/>
                  </a:cubicBezTo>
                  <a:cubicBezTo>
                    <a:pt x="205469" y="4172563"/>
                    <a:pt x="172221" y="4403065"/>
                    <a:pt x="264488" y="4630705"/>
                  </a:cubicBezTo>
                  <a:cubicBezTo>
                    <a:pt x="343233" y="4825574"/>
                    <a:pt x="472407" y="4858821"/>
                    <a:pt x="651374" y="4904953"/>
                  </a:cubicBezTo>
                  <a:cubicBezTo>
                    <a:pt x="845613" y="4954904"/>
                    <a:pt x="1087416" y="5017103"/>
                    <a:pt x="1355151" y="5321258"/>
                  </a:cubicBezTo>
                  <a:cubicBezTo>
                    <a:pt x="1481620" y="5464268"/>
                    <a:pt x="1567683" y="5592007"/>
                    <a:pt x="1643724" y="5704792"/>
                  </a:cubicBezTo>
                  <a:cubicBezTo>
                    <a:pt x="1774648" y="5899184"/>
                    <a:pt x="1869143" y="6039490"/>
                    <a:pt x="2077539" y="6120460"/>
                  </a:cubicBezTo>
                  <a:cubicBezTo>
                    <a:pt x="2297231" y="6205726"/>
                    <a:pt x="2465857" y="6158957"/>
                    <a:pt x="2698912" y="6094372"/>
                  </a:cubicBezTo>
                  <a:cubicBezTo>
                    <a:pt x="2882333" y="6043467"/>
                    <a:pt x="3110456" y="5980155"/>
                    <a:pt x="3428619" y="5970133"/>
                  </a:cubicBezTo>
                  <a:cubicBezTo>
                    <a:pt x="3701602" y="5961065"/>
                    <a:pt x="3879774" y="5998130"/>
                    <a:pt x="4022788" y="6027719"/>
                  </a:cubicBezTo>
                  <a:cubicBezTo>
                    <a:pt x="4191255" y="6062557"/>
                    <a:pt x="4312794" y="6087691"/>
                    <a:pt x="4490329" y="6017856"/>
                  </a:cubicBezTo>
                  <a:cubicBezTo>
                    <a:pt x="4750586" y="5915888"/>
                    <a:pt x="4854148" y="5729131"/>
                    <a:pt x="4997480" y="5470631"/>
                  </a:cubicBezTo>
                  <a:cubicBezTo>
                    <a:pt x="5106451" y="5274171"/>
                    <a:pt x="5242148" y="5029511"/>
                    <a:pt x="5489201" y="4754626"/>
                  </a:cubicBezTo>
                  <a:cubicBezTo>
                    <a:pt x="5659100" y="4565642"/>
                    <a:pt x="5802910" y="4450948"/>
                    <a:pt x="5918562" y="4358842"/>
                  </a:cubicBezTo>
                  <a:cubicBezTo>
                    <a:pt x="6080030" y="4230149"/>
                    <a:pt x="6186774" y="4145042"/>
                    <a:pt x="6228453" y="3959718"/>
                  </a:cubicBezTo>
                  <a:cubicBezTo>
                    <a:pt x="6276655" y="3744805"/>
                    <a:pt x="6202523" y="3577456"/>
                    <a:pt x="6116459" y="3383700"/>
                  </a:cubicBezTo>
                  <a:cubicBezTo>
                    <a:pt x="6032146" y="3193603"/>
                    <a:pt x="5936698" y="2978054"/>
                    <a:pt x="5931130" y="2666740"/>
                  </a:cubicBezTo>
                  <a:cubicBezTo>
                    <a:pt x="5927948" y="2493505"/>
                    <a:pt x="5954037" y="2379606"/>
                    <a:pt x="5976945" y="2279069"/>
                  </a:cubicBezTo>
                  <a:cubicBezTo>
                    <a:pt x="6003989" y="2160239"/>
                    <a:pt x="6025465" y="2066384"/>
                    <a:pt x="5981558" y="1924646"/>
                  </a:cubicBezTo>
                  <a:cubicBezTo>
                    <a:pt x="5908063" y="1685553"/>
                    <a:pt x="5747549" y="1581676"/>
                    <a:pt x="5525313" y="1437870"/>
                  </a:cubicBezTo>
                  <a:cubicBezTo>
                    <a:pt x="5374185" y="1340038"/>
                    <a:pt x="5202855" y="1229161"/>
                    <a:pt x="5014661" y="1047973"/>
                  </a:cubicBezTo>
                  <a:cubicBezTo>
                    <a:pt x="4797038" y="838946"/>
                    <a:pt x="4678045" y="644872"/>
                    <a:pt x="4582437" y="489135"/>
                  </a:cubicBezTo>
                  <a:cubicBezTo>
                    <a:pt x="4461217" y="291403"/>
                    <a:pt x="4373722" y="148711"/>
                    <a:pt x="4163575" y="80944"/>
                  </a:cubicBezTo>
                  <a:cubicBezTo>
                    <a:pt x="3963769" y="17154"/>
                    <a:pt x="3809141" y="74899"/>
                    <a:pt x="3630175" y="141711"/>
                  </a:cubicBezTo>
                  <a:cubicBezTo>
                    <a:pt x="3468230" y="202320"/>
                    <a:pt x="3285286" y="270723"/>
                    <a:pt x="3026301" y="270723"/>
                  </a:cubicBezTo>
                  <a:cubicBezTo>
                    <a:pt x="3020097" y="270723"/>
                    <a:pt x="3013893" y="270723"/>
                    <a:pt x="3007689" y="270564"/>
                  </a:cubicBezTo>
                  <a:lnTo>
                    <a:pt x="3007689" y="270564"/>
                  </a:lnTo>
                  <a:cubicBezTo>
                    <a:pt x="2738682" y="267064"/>
                    <a:pt x="2555738" y="188321"/>
                    <a:pt x="2394271" y="118804"/>
                  </a:cubicBezTo>
                  <a:cubicBezTo>
                    <a:pt x="2274005" y="66786"/>
                    <a:pt x="2171398" y="22563"/>
                    <a:pt x="2060359" y="22563"/>
                  </a:cubicBezTo>
                  <a:close/>
                </a:path>
              </a:pathLst>
            </a:custGeom>
            <a:gradFill>
              <a:gsLst>
                <a:gs pos="100000">
                  <a:schemeClr val="accent2"/>
                </a:gs>
                <a:gs pos="0">
                  <a:schemeClr val="accent1"/>
                </a:gs>
              </a:gsLst>
              <a:lin ang="0" scaled="1"/>
            </a:gradFill>
            <a:ln w="1589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36" name="Freeform 35">
              <a:extLst>
                <a:ext uri="{FF2B5EF4-FFF2-40B4-BE49-F238E27FC236}">
                  <a16:creationId xmlns:a16="http://schemas.microsoft.com/office/drawing/2014/main" id="{D388F8A2-5833-BEA8-04AC-245AA2DE6449}"/>
                </a:ext>
              </a:extLst>
            </p:cNvPr>
            <p:cNvSpPr/>
            <p:nvPr/>
          </p:nvSpPr>
          <p:spPr>
            <a:xfrm>
              <a:off x="-3079162" y="379546"/>
              <a:ext cx="6150862" cy="6080569"/>
            </a:xfrm>
            <a:custGeom>
              <a:avLst/>
              <a:gdLst>
                <a:gd name="connsiteX0" fmla="*/ 2275800 w 6150862"/>
                <a:gd name="connsiteY0" fmla="*/ 6080569 h 6080569"/>
                <a:gd name="connsiteX1" fmla="*/ 2022224 w 6150862"/>
                <a:gd name="connsiteY1" fmla="*/ 6032051 h 6080569"/>
                <a:gd name="connsiteX2" fmla="*/ 1575524 w 6150862"/>
                <a:gd name="connsiteY2" fmla="*/ 5611610 h 6080569"/>
                <a:gd name="connsiteX3" fmla="*/ 1298245 w 6150862"/>
                <a:gd name="connsiteY3" fmla="*/ 5248756 h 6080569"/>
                <a:gd name="connsiteX4" fmla="*/ 632489 w 6150862"/>
                <a:gd name="connsiteY4" fmla="*/ 4845655 h 6080569"/>
                <a:gd name="connsiteX5" fmla="*/ 234467 w 6150862"/>
                <a:gd name="connsiteY5" fmla="*/ 4551999 h 6080569"/>
                <a:gd name="connsiteX6" fmla="*/ 210286 w 6150862"/>
                <a:gd name="connsiteY6" fmla="*/ 3790974 h 6080569"/>
                <a:gd name="connsiteX7" fmla="*/ 260397 w 6150862"/>
                <a:gd name="connsiteY7" fmla="*/ 3128578 h 6080569"/>
                <a:gd name="connsiteX8" fmla="*/ 102111 w 6150862"/>
                <a:gd name="connsiteY8" fmla="*/ 2437388 h 6080569"/>
                <a:gd name="connsiteX9" fmla="*/ 38956 w 6150862"/>
                <a:gd name="connsiteY9" fmla="*/ 1850871 h 6080569"/>
                <a:gd name="connsiteX10" fmla="*/ 485656 w 6150862"/>
                <a:gd name="connsiteY10" fmla="*/ 1482290 h 6080569"/>
                <a:gd name="connsiteX11" fmla="*/ 1055645 w 6150862"/>
                <a:gd name="connsiteY11" fmla="*/ 1119594 h 6080569"/>
                <a:gd name="connsiteX12" fmla="*/ 1470848 w 6150862"/>
                <a:gd name="connsiteY12" fmla="*/ 499672 h 6080569"/>
                <a:gd name="connsiteX13" fmla="*/ 1880960 w 6150862"/>
                <a:gd name="connsiteY13" fmla="*/ 25622 h 6080569"/>
                <a:gd name="connsiteX14" fmla="*/ 2371249 w 6150862"/>
                <a:gd name="connsiteY14" fmla="*/ 91321 h 6080569"/>
                <a:gd name="connsiteX15" fmla="*/ 2957465 w 6150862"/>
                <a:gd name="connsiteY15" fmla="*/ 229877 h 6080569"/>
                <a:gd name="connsiteX16" fmla="*/ 3554975 w 6150862"/>
                <a:gd name="connsiteY16" fmla="*/ 113433 h 6080569"/>
                <a:gd name="connsiteX17" fmla="*/ 4103965 w 6150862"/>
                <a:gd name="connsiteY17" fmla="*/ 60778 h 6080569"/>
                <a:gd name="connsiteX18" fmla="*/ 4542552 w 6150862"/>
                <a:gd name="connsiteY18" fmla="*/ 479628 h 6080569"/>
                <a:gd name="connsiteX19" fmla="*/ 4959187 w 6150862"/>
                <a:gd name="connsiteY19" fmla="*/ 1012059 h 6080569"/>
                <a:gd name="connsiteX20" fmla="*/ 5441522 w 6150862"/>
                <a:gd name="connsiteY20" fmla="*/ 1388435 h 6080569"/>
                <a:gd name="connsiteX21" fmla="*/ 5905086 w 6150862"/>
                <a:gd name="connsiteY21" fmla="*/ 1897322 h 6080569"/>
                <a:gd name="connsiteX22" fmla="*/ 5903336 w 6150862"/>
                <a:gd name="connsiteY22" fmla="*/ 2263994 h 6080569"/>
                <a:gd name="connsiteX23" fmla="*/ 5861974 w 6150862"/>
                <a:gd name="connsiteY23" fmla="*/ 2635280 h 6080569"/>
                <a:gd name="connsiteX24" fmla="*/ 6031078 w 6150862"/>
                <a:gd name="connsiteY24" fmla="*/ 3322652 h 6080569"/>
                <a:gd name="connsiteX25" fmla="*/ 6133686 w 6150862"/>
                <a:gd name="connsiteY25" fmla="*/ 3910759 h 6080569"/>
                <a:gd name="connsiteX26" fmla="*/ 5815204 w 6150862"/>
                <a:gd name="connsiteY26" fmla="*/ 4326109 h 6080569"/>
                <a:gd name="connsiteX27" fmla="*/ 5407478 w 6150862"/>
                <a:gd name="connsiteY27" fmla="*/ 4705508 h 6080569"/>
                <a:gd name="connsiteX28" fmla="*/ 4933098 w 6150862"/>
                <a:gd name="connsiteY28" fmla="*/ 5383971 h 6080569"/>
                <a:gd name="connsiteX29" fmla="*/ 4405743 w 6150862"/>
                <a:gd name="connsiteY29" fmla="*/ 5938355 h 6080569"/>
                <a:gd name="connsiteX30" fmla="*/ 3924839 w 6150862"/>
                <a:gd name="connsiteY30" fmla="*/ 5952512 h 6080569"/>
                <a:gd name="connsiteX31" fmla="*/ 3356282 w 6150862"/>
                <a:gd name="connsiteY31" fmla="*/ 5900812 h 6080569"/>
                <a:gd name="connsiteX32" fmla="*/ 2658391 w 6150862"/>
                <a:gd name="connsiteY32" fmla="*/ 6013439 h 6080569"/>
                <a:gd name="connsiteX33" fmla="*/ 2275800 w 6150862"/>
                <a:gd name="connsiteY33" fmla="*/ 6080569 h 6080569"/>
                <a:gd name="connsiteX34" fmla="*/ 2032406 w 6150862"/>
                <a:gd name="connsiteY34" fmla="*/ 25940 h 6080569"/>
                <a:gd name="connsiteX35" fmla="*/ 1889232 w 6150862"/>
                <a:gd name="connsiteY35" fmla="*/ 50279 h 6080569"/>
                <a:gd name="connsiteX36" fmla="*/ 1494392 w 6150862"/>
                <a:gd name="connsiteY36" fmla="*/ 510966 h 6080569"/>
                <a:gd name="connsiteX37" fmla="*/ 1073781 w 6150862"/>
                <a:gd name="connsiteY37" fmla="*/ 1138207 h 6080569"/>
                <a:gd name="connsiteX38" fmla="*/ 496474 w 6150862"/>
                <a:gd name="connsiteY38" fmla="*/ 1505833 h 6080569"/>
                <a:gd name="connsiteX39" fmla="*/ 63136 w 6150862"/>
                <a:gd name="connsiteY39" fmla="*/ 1860575 h 6080569"/>
                <a:gd name="connsiteX40" fmla="*/ 126609 w 6150862"/>
                <a:gd name="connsiteY40" fmla="*/ 2427685 h 6080569"/>
                <a:gd name="connsiteX41" fmla="*/ 286645 w 6150862"/>
                <a:gd name="connsiteY41" fmla="*/ 3127782 h 6080569"/>
                <a:gd name="connsiteX42" fmla="*/ 236217 w 6150862"/>
                <a:gd name="connsiteY42" fmla="*/ 3794156 h 6080569"/>
                <a:gd name="connsiteX43" fmla="*/ 258647 w 6150862"/>
                <a:gd name="connsiteY43" fmla="*/ 4541818 h 6080569"/>
                <a:gd name="connsiteX44" fmla="*/ 639488 w 6150862"/>
                <a:gd name="connsiteY44" fmla="*/ 4820202 h 6080569"/>
                <a:gd name="connsiteX45" fmla="*/ 1317653 w 6150862"/>
                <a:gd name="connsiteY45" fmla="*/ 5231098 h 6080569"/>
                <a:gd name="connsiteX46" fmla="*/ 1596841 w 6150862"/>
                <a:gd name="connsiteY46" fmla="*/ 5596339 h 6080569"/>
                <a:gd name="connsiteX47" fmla="*/ 2031451 w 6150862"/>
                <a:gd name="connsiteY47" fmla="*/ 6007235 h 6080569"/>
                <a:gd name="connsiteX48" fmla="*/ 2651392 w 6150862"/>
                <a:gd name="connsiteY48" fmla="*/ 5987350 h 6080569"/>
                <a:gd name="connsiteX49" fmla="*/ 3355009 w 6150862"/>
                <a:gd name="connsiteY49" fmla="*/ 5873769 h 6080569"/>
                <a:gd name="connsiteX50" fmla="*/ 3929293 w 6150862"/>
                <a:gd name="connsiteY50" fmla="*/ 5925947 h 6080569"/>
                <a:gd name="connsiteX51" fmla="*/ 4395721 w 6150862"/>
                <a:gd name="connsiteY51" fmla="*/ 5913220 h 6080569"/>
                <a:gd name="connsiteX52" fmla="*/ 4909713 w 6150862"/>
                <a:gd name="connsiteY52" fmla="*/ 5370132 h 6080569"/>
                <a:gd name="connsiteX53" fmla="*/ 5387434 w 6150862"/>
                <a:gd name="connsiteY53" fmla="*/ 4687055 h 6080569"/>
                <a:gd name="connsiteX54" fmla="*/ 5798024 w 6150862"/>
                <a:gd name="connsiteY54" fmla="*/ 4304952 h 6080569"/>
                <a:gd name="connsiteX55" fmla="*/ 6107278 w 6150862"/>
                <a:gd name="connsiteY55" fmla="*/ 3904237 h 6080569"/>
                <a:gd name="connsiteX56" fmla="*/ 6005943 w 6150862"/>
                <a:gd name="connsiteY56" fmla="*/ 3332196 h 6080569"/>
                <a:gd name="connsiteX57" fmla="*/ 5834931 w 6150862"/>
                <a:gd name="connsiteY57" fmla="*/ 2635121 h 6080569"/>
                <a:gd name="connsiteX58" fmla="*/ 5876769 w 6150862"/>
                <a:gd name="connsiteY58" fmla="*/ 2257790 h 6080569"/>
                <a:gd name="connsiteX59" fmla="*/ 5879155 w 6150862"/>
                <a:gd name="connsiteY59" fmla="*/ 1904321 h 6080569"/>
                <a:gd name="connsiteX60" fmla="*/ 5426091 w 6150862"/>
                <a:gd name="connsiteY60" fmla="*/ 1409592 h 6080569"/>
                <a:gd name="connsiteX61" fmla="*/ 4940256 w 6150862"/>
                <a:gd name="connsiteY61" fmla="*/ 1030193 h 6080569"/>
                <a:gd name="connsiteX62" fmla="*/ 4519645 w 6150862"/>
                <a:gd name="connsiteY62" fmla="*/ 493149 h 6080569"/>
                <a:gd name="connsiteX63" fmla="*/ 4095215 w 6150862"/>
                <a:gd name="connsiteY63" fmla="*/ 85276 h 6080569"/>
                <a:gd name="connsiteX64" fmla="*/ 3562929 w 6150862"/>
                <a:gd name="connsiteY64" fmla="*/ 137771 h 6080569"/>
                <a:gd name="connsiteX65" fmla="*/ 2956510 w 6150862"/>
                <a:gd name="connsiteY65" fmla="*/ 255806 h 6080569"/>
                <a:gd name="connsiteX66" fmla="*/ 2956510 w 6150862"/>
                <a:gd name="connsiteY66" fmla="*/ 255806 h 6080569"/>
                <a:gd name="connsiteX67" fmla="*/ 2360591 w 6150862"/>
                <a:gd name="connsiteY67" fmla="*/ 115342 h 6080569"/>
                <a:gd name="connsiteX68" fmla="*/ 2032406 w 6150862"/>
                <a:gd name="connsiteY68" fmla="*/ 25940 h 6080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6150862" h="6080569">
                  <a:moveTo>
                    <a:pt x="2275800" y="6080569"/>
                  </a:moveTo>
                  <a:cubicBezTo>
                    <a:pt x="2194510" y="6080569"/>
                    <a:pt x="2111946" y="6066889"/>
                    <a:pt x="2022224" y="6032051"/>
                  </a:cubicBezTo>
                  <a:cubicBezTo>
                    <a:pt x="1808260" y="5948535"/>
                    <a:pt x="1705652" y="5799957"/>
                    <a:pt x="1575524" y="5611610"/>
                  </a:cubicBezTo>
                  <a:cubicBezTo>
                    <a:pt x="1501710" y="5504552"/>
                    <a:pt x="1417874" y="5383335"/>
                    <a:pt x="1298245" y="5248756"/>
                  </a:cubicBezTo>
                  <a:cubicBezTo>
                    <a:pt x="1045782" y="4963372"/>
                    <a:pt x="816546" y="4898150"/>
                    <a:pt x="632489" y="4845655"/>
                  </a:cubicBezTo>
                  <a:cubicBezTo>
                    <a:pt x="456385" y="4795546"/>
                    <a:pt x="317189" y="4755935"/>
                    <a:pt x="234467" y="4551999"/>
                  </a:cubicBezTo>
                  <a:cubicBezTo>
                    <a:pt x="139495" y="4318951"/>
                    <a:pt x="172425" y="4074131"/>
                    <a:pt x="210286" y="3790974"/>
                  </a:cubicBezTo>
                  <a:cubicBezTo>
                    <a:pt x="236057" y="3598491"/>
                    <a:pt x="265328" y="3380238"/>
                    <a:pt x="260397" y="3128578"/>
                  </a:cubicBezTo>
                  <a:cubicBezTo>
                    <a:pt x="254670" y="2834763"/>
                    <a:pt x="173698" y="2623667"/>
                    <a:pt x="102111" y="2437388"/>
                  </a:cubicBezTo>
                  <a:cubicBezTo>
                    <a:pt x="20184" y="2223748"/>
                    <a:pt x="-44562" y="2054967"/>
                    <a:pt x="38956" y="1850871"/>
                  </a:cubicBezTo>
                  <a:cubicBezTo>
                    <a:pt x="121519" y="1648844"/>
                    <a:pt x="282191" y="1575350"/>
                    <a:pt x="485656" y="1482290"/>
                  </a:cubicBezTo>
                  <a:cubicBezTo>
                    <a:pt x="658737" y="1403070"/>
                    <a:pt x="855044" y="1313191"/>
                    <a:pt x="1055645" y="1119594"/>
                  </a:cubicBezTo>
                  <a:cubicBezTo>
                    <a:pt x="1273428" y="909613"/>
                    <a:pt x="1378263" y="691836"/>
                    <a:pt x="1470848" y="499672"/>
                  </a:cubicBezTo>
                  <a:cubicBezTo>
                    <a:pt x="1578546" y="276327"/>
                    <a:pt x="1663496" y="99752"/>
                    <a:pt x="1880960" y="25622"/>
                  </a:cubicBezTo>
                  <a:cubicBezTo>
                    <a:pt x="2059927" y="-35463"/>
                    <a:pt x="2204373" y="23236"/>
                    <a:pt x="2371249" y="91321"/>
                  </a:cubicBezTo>
                  <a:cubicBezTo>
                    <a:pt x="2526990" y="154793"/>
                    <a:pt x="2703412" y="226695"/>
                    <a:pt x="2957465" y="229877"/>
                  </a:cubicBezTo>
                  <a:cubicBezTo>
                    <a:pt x="3213267" y="233536"/>
                    <a:pt x="3394302" y="169428"/>
                    <a:pt x="3554975" y="113433"/>
                  </a:cubicBezTo>
                  <a:cubicBezTo>
                    <a:pt x="3738714" y="49325"/>
                    <a:pt x="3897636" y="-6193"/>
                    <a:pt x="4103965" y="60778"/>
                  </a:cubicBezTo>
                  <a:cubicBezTo>
                    <a:pt x="4322702" y="132363"/>
                    <a:pt x="4419742" y="285554"/>
                    <a:pt x="4542552" y="479628"/>
                  </a:cubicBezTo>
                  <a:cubicBezTo>
                    <a:pt x="4636729" y="628365"/>
                    <a:pt x="4753972" y="813689"/>
                    <a:pt x="4959187" y="1012059"/>
                  </a:cubicBezTo>
                  <a:cubicBezTo>
                    <a:pt x="5136085" y="1183225"/>
                    <a:pt x="5298349" y="1292193"/>
                    <a:pt x="5441522" y="1388435"/>
                  </a:cubicBezTo>
                  <a:cubicBezTo>
                    <a:pt x="5658191" y="1533990"/>
                    <a:pt x="5829204" y="1649003"/>
                    <a:pt x="5905086" y="1897322"/>
                  </a:cubicBezTo>
                  <a:cubicBezTo>
                    <a:pt x="5950265" y="2043991"/>
                    <a:pt x="5929425" y="2141028"/>
                    <a:pt x="5903336" y="2263994"/>
                  </a:cubicBezTo>
                  <a:cubicBezTo>
                    <a:pt x="5882655" y="2361350"/>
                    <a:pt x="5859111" y="2471590"/>
                    <a:pt x="5861974" y="2635280"/>
                  </a:cubicBezTo>
                  <a:cubicBezTo>
                    <a:pt x="5867065" y="2930209"/>
                    <a:pt x="5954242" y="3138759"/>
                    <a:pt x="6031078" y="3322652"/>
                  </a:cubicBezTo>
                  <a:cubicBezTo>
                    <a:pt x="6113482" y="3520066"/>
                    <a:pt x="6184751" y="3690438"/>
                    <a:pt x="6133686" y="3910759"/>
                  </a:cubicBezTo>
                  <a:cubicBezTo>
                    <a:pt x="6088984" y="4103561"/>
                    <a:pt x="5980172" y="4192167"/>
                    <a:pt x="5815204" y="4326109"/>
                  </a:cubicBezTo>
                  <a:cubicBezTo>
                    <a:pt x="5704961" y="4415670"/>
                    <a:pt x="5567833" y="4527183"/>
                    <a:pt x="5407478" y="4705508"/>
                  </a:cubicBezTo>
                  <a:cubicBezTo>
                    <a:pt x="5174424" y="4964645"/>
                    <a:pt x="5040478" y="5197215"/>
                    <a:pt x="4933098" y="5383971"/>
                  </a:cubicBezTo>
                  <a:cubicBezTo>
                    <a:pt x="4782925" y="5645017"/>
                    <a:pt x="4674272" y="5833682"/>
                    <a:pt x="4405743" y="5938355"/>
                  </a:cubicBezTo>
                  <a:cubicBezTo>
                    <a:pt x="4223117" y="6009939"/>
                    <a:pt x="4097920" y="5985760"/>
                    <a:pt x="3924839" y="5952512"/>
                  </a:cubicBezTo>
                  <a:cubicBezTo>
                    <a:pt x="3786597" y="5925947"/>
                    <a:pt x="3614471" y="5892540"/>
                    <a:pt x="3356282" y="5900812"/>
                  </a:cubicBezTo>
                  <a:cubicBezTo>
                    <a:pt x="3055459" y="5910039"/>
                    <a:pt x="2835290" y="5967465"/>
                    <a:pt x="2658391" y="6013439"/>
                  </a:cubicBezTo>
                  <a:cubicBezTo>
                    <a:pt x="2520150" y="6049072"/>
                    <a:pt x="2399407" y="6080569"/>
                    <a:pt x="2275800" y="6080569"/>
                  </a:cubicBezTo>
                  <a:close/>
                  <a:moveTo>
                    <a:pt x="2032406" y="25940"/>
                  </a:moveTo>
                  <a:cubicBezTo>
                    <a:pt x="1986590" y="25940"/>
                    <a:pt x="1939502" y="33258"/>
                    <a:pt x="1889232" y="50279"/>
                  </a:cubicBezTo>
                  <a:cubicBezTo>
                    <a:pt x="1682108" y="120909"/>
                    <a:pt x="1599227" y="293030"/>
                    <a:pt x="1494392" y="510966"/>
                  </a:cubicBezTo>
                  <a:cubicBezTo>
                    <a:pt x="1400852" y="704881"/>
                    <a:pt x="1294904" y="924884"/>
                    <a:pt x="1073781" y="1138207"/>
                  </a:cubicBezTo>
                  <a:cubicBezTo>
                    <a:pt x="869997" y="1334826"/>
                    <a:pt x="671464" y="1425659"/>
                    <a:pt x="496474" y="1505833"/>
                  </a:cubicBezTo>
                  <a:cubicBezTo>
                    <a:pt x="298417" y="1596507"/>
                    <a:pt x="141881" y="1668251"/>
                    <a:pt x="63136" y="1860575"/>
                  </a:cubicBezTo>
                  <a:cubicBezTo>
                    <a:pt x="-16405" y="2055126"/>
                    <a:pt x="46751" y="2219612"/>
                    <a:pt x="126609" y="2427685"/>
                  </a:cubicBezTo>
                  <a:cubicBezTo>
                    <a:pt x="198832" y="2616032"/>
                    <a:pt x="280759" y="2829513"/>
                    <a:pt x="286645" y="3127782"/>
                  </a:cubicBezTo>
                  <a:cubicBezTo>
                    <a:pt x="291577" y="3381510"/>
                    <a:pt x="262147" y="3600718"/>
                    <a:pt x="236217" y="3794156"/>
                  </a:cubicBezTo>
                  <a:cubicBezTo>
                    <a:pt x="197242" y="4085267"/>
                    <a:pt x="166380" y="4315292"/>
                    <a:pt x="258647" y="4541818"/>
                  </a:cubicBezTo>
                  <a:cubicBezTo>
                    <a:pt x="336597" y="4733983"/>
                    <a:pt x="463703" y="4770252"/>
                    <a:pt x="639488" y="4820202"/>
                  </a:cubicBezTo>
                  <a:cubicBezTo>
                    <a:pt x="826886" y="4873493"/>
                    <a:pt x="1060100" y="4939829"/>
                    <a:pt x="1317653" y="5231098"/>
                  </a:cubicBezTo>
                  <a:cubicBezTo>
                    <a:pt x="1438236" y="5366791"/>
                    <a:pt x="1522550" y="5488803"/>
                    <a:pt x="1596841" y="5596339"/>
                  </a:cubicBezTo>
                  <a:cubicBezTo>
                    <a:pt x="1729355" y="5788027"/>
                    <a:pt x="1825122" y="5926742"/>
                    <a:pt x="2031451" y="6007235"/>
                  </a:cubicBezTo>
                  <a:cubicBezTo>
                    <a:pt x="2249234" y="6092023"/>
                    <a:pt x="2417860" y="6048118"/>
                    <a:pt x="2651392" y="5987350"/>
                  </a:cubicBezTo>
                  <a:cubicBezTo>
                    <a:pt x="2829563" y="5941059"/>
                    <a:pt x="3051164" y="5883155"/>
                    <a:pt x="3355009" y="5873769"/>
                  </a:cubicBezTo>
                  <a:cubicBezTo>
                    <a:pt x="3617016" y="5865815"/>
                    <a:pt x="3789938" y="5899222"/>
                    <a:pt x="3929293" y="5925947"/>
                  </a:cubicBezTo>
                  <a:cubicBezTo>
                    <a:pt x="4098079" y="5958557"/>
                    <a:pt x="4220094" y="5981941"/>
                    <a:pt x="4395721" y="5913220"/>
                  </a:cubicBezTo>
                  <a:cubicBezTo>
                    <a:pt x="4655660" y="5811888"/>
                    <a:pt x="4762244" y="5626564"/>
                    <a:pt x="4909713" y="5370132"/>
                  </a:cubicBezTo>
                  <a:cubicBezTo>
                    <a:pt x="5017888" y="5182262"/>
                    <a:pt x="5152312" y="4948418"/>
                    <a:pt x="5387434" y="4687055"/>
                  </a:cubicBezTo>
                  <a:cubicBezTo>
                    <a:pt x="5549061" y="4507298"/>
                    <a:pt x="5687144" y="4395149"/>
                    <a:pt x="5798024" y="4304952"/>
                  </a:cubicBezTo>
                  <a:cubicBezTo>
                    <a:pt x="5958696" y="4174350"/>
                    <a:pt x="6064644" y="4088130"/>
                    <a:pt x="6107278" y="3904237"/>
                  </a:cubicBezTo>
                  <a:cubicBezTo>
                    <a:pt x="6156434" y="3692188"/>
                    <a:pt x="6086757" y="3525316"/>
                    <a:pt x="6005943" y="3332196"/>
                  </a:cubicBezTo>
                  <a:cubicBezTo>
                    <a:pt x="5928152" y="3146076"/>
                    <a:pt x="5840180" y="2935140"/>
                    <a:pt x="5834931" y="2635121"/>
                  </a:cubicBezTo>
                  <a:cubicBezTo>
                    <a:pt x="5832067" y="2468408"/>
                    <a:pt x="5855770" y="2356577"/>
                    <a:pt x="5876769" y="2257790"/>
                  </a:cubicBezTo>
                  <a:cubicBezTo>
                    <a:pt x="5902222" y="2138483"/>
                    <a:pt x="5922266" y="2044468"/>
                    <a:pt x="5879155" y="1904321"/>
                  </a:cubicBezTo>
                  <a:cubicBezTo>
                    <a:pt x="5805978" y="1664910"/>
                    <a:pt x="5646737" y="1557692"/>
                    <a:pt x="5426091" y="1409592"/>
                  </a:cubicBezTo>
                  <a:cubicBezTo>
                    <a:pt x="5281963" y="1312714"/>
                    <a:pt x="5118746" y="1202951"/>
                    <a:pt x="4940256" y="1030193"/>
                  </a:cubicBezTo>
                  <a:cubicBezTo>
                    <a:pt x="4732814" y="829756"/>
                    <a:pt x="4614616" y="643159"/>
                    <a:pt x="4519645" y="493149"/>
                  </a:cubicBezTo>
                  <a:cubicBezTo>
                    <a:pt x="4394925" y="296212"/>
                    <a:pt x="4304885" y="153838"/>
                    <a:pt x="4095215" y="85276"/>
                  </a:cubicBezTo>
                  <a:cubicBezTo>
                    <a:pt x="3897000" y="21327"/>
                    <a:pt x="3742213" y="75413"/>
                    <a:pt x="3562929" y="137771"/>
                  </a:cubicBezTo>
                  <a:cubicBezTo>
                    <a:pt x="3400188" y="194562"/>
                    <a:pt x="3214222" y="259147"/>
                    <a:pt x="2956510" y="255806"/>
                  </a:cubicBezTo>
                  <a:lnTo>
                    <a:pt x="2956510" y="255806"/>
                  </a:lnTo>
                  <a:cubicBezTo>
                    <a:pt x="2697525" y="252466"/>
                    <a:pt x="2518559" y="179609"/>
                    <a:pt x="2360591" y="115342"/>
                  </a:cubicBezTo>
                  <a:cubicBezTo>
                    <a:pt x="2242393" y="67141"/>
                    <a:pt x="2141217" y="25940"/>
                    <a:pt x="2032406" y="25940"/>
                  </a:cubicBezTo>
                  <a:close/>
                </a:path>
              </a:pathLst>
            </a:custGeom>
            <a:gradFill>
              <a:gsLst>
                <a:gs pos="100000">
                  <a:schemeClr val="accent2"/>
                </a:gs>
                <a:gs pos="0">
                  <a:schemeClr val="accent1"/>
                </a:gs>
              </a:gsLst>
              <a:lin ang="0" scaled="1"/>
            </a:gradFill>
            <a:ln w="1589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37" name="Freeform 36">
              <a:extLst>
                <a:ext uri="{FF2B5EF4-FFF2-40B4-BE49-F238E27FC236}">
                  <a16:creationId xmlns:a16="http://schemas.microsoft.com/office/drawing/2014/main" id="{4F45DFA1-AC8F-7C5C-63D9-FA8E7E681579}"/>
                </a:ext>
              </a:extLst>
            </p:cNvPr>
            <p:cNvSpPr/>
            <p:nvPr/>
          </p:nvSpPr>
          <p:spPr>
            <a:xfrm>
              <a:off x="-3021844" y="433243"/>
              <a:ext cx="6034687" cy="5972309"/>
            </a:xfrm>
            <a:custGeom>
              <a:avLst/>
              <a:gdLst>
                <a:gd name="connsiteX0" fmla="*/ 2236300 w 6034687"/>
                <a:gd name="connsiteY0" fmla="*/ 5972309 h 5972309"/>
                <a:gd name="connsiteX1" fmla="*/ 1975565 w 6034687"/>
                <a:gd name="connsiteY1" fmla="*/ 5922359 h 5972309"/>
                <a:gd name="connsiteX2" fmla="*/ 1526319 w 6034687"/>
                <a:gd name="connsiteY2" fmla="*/ 5505418 h 5972309"/>
                <a:gd name="connsiteX3" fmla="*/ 1258903 w 6034687"/>
                <a:gd name="connsiteY3" fmla="*/ 5161335 h 5972309"/>
                <a:gd name="connsiteX4" fmla="*/ 619713 w 6034687"/>
                <a:gd name="connsiteY4" fmla="*/ 4764756 h 5972309"/>
                <a:gd name="connsiteX5" fmla="*/ 225828 w 6034687"/>
                <a:gd name="connsiteY5" fmla="*/ 4464737 h 5972309"/>
                <a:gd name="connsiteX6" fmla="*/ 195443 w 6034687"/>
                <a:gd name="connsiteY6" fmla="*/ 3704030 h 5972309"/>
                <a:gd name="connsiteX7" fmla="*/ 239509 w 6034687"/>
                <a:gd name="connsiteY7" fmla="*/ 3070109 h 5972309"/>
                <a:gd name="connsiteX8" fmla="*/ 94745 w 6034687"/>
                <a:gd name="connsiteY8" fmla="*/ 2402145 h 5972309"/>
                <a:gd name="connsiteX9" fmla="*/ 40020 w 6034687"/>
                <a:gd name="connsiteY9" fmla="*/ 1815787 h 5972309"/>
                <a:gd name="connsiteX10" fmla="*/ 481313 w 6034687"/>
                <a:gd name="connsiteY10" fmla="*/ 1441797 h 5972309"/>
                <a:gd name="connsiteX11" fmla="*/ 1026485 w 6034687"/>
                <a:gd name="connsiteY11" fmla="*/ 1086578 h 5972309"/>
                <a:gd name="connsiteX12" fmla="*/ 1432779 w 6034687"/>
                <a:gd name="connsiteY12" fmla="*/ 494334 h 5972309"/>
                <a:gd name="connsiteX13" fmla="*/ 1849413 w 6034687"/>
                <a:gd name="connsiteY13" fmla="*/ 26171 h 5972309"/>
                <a:gd name="connsiteX14" fmla="*/ 2338907 w 6034687"/>
                <a:gd name="connsiteY14" fmla="*/ 84870 h 5972309"/>
                <a:gd name="connsiteX15" fmla="*/ 2906669 w 6034687"/>
                <a:gd name="connsiteY15" fmla="*/ 212132 h 5972309"/>
                <a:gd name="connsiteX16" fmla="*/ 3486998 w 6034687"/>
                <a:gd name="connsiteY16" fmla="*/ 106345 h 5972309"/>
                <a:gd name="connsiteX17" fmla="*/ 4037261 w 6034687"/>
                <a:gd name="connsiteY17" fmla="*/ 62122 h 5972309"/>
                <a:gd name="connsiteX18" fmla="*/ 4483326 w 6034687"/>
                <a:gd name="connsiteY18" fmla="*/ 481926 h 5972309"/>
                <a:gd name="connsiteX19" fmla="*/ 4887711 w 6034687"/>
                <a:gd name="connsiteY19" fmla="*/ 991927 h 5972309"/>
                <a:gd name="connsiteX20" fmla="*/ 5344752 w 6034687"/>
                <a:gd name="connsiteY20" fmla="*/ 1357009 h 5972309"/>
                <a:gd name="connsiteX21" fmla="*/ 5806407 w 6034687"/>
                <a:gd name="connsiteY21" fmla="*/ 1876395 h 5972309"/>
                <a:gd name="connsiteX22" fmla="*/ 5807042 w 6034687"/>
                <a:gd name="connsiteY22" fmla="*/ 2243704 h 5972309"/>
                <a:gd name="connsiteX23" fmla="*/ 5769499 w 6034687"/>
                <a:gd name="connsiteY23" fmla="*/ 2603854 h 5972309"/>
                <a:gd name="connsiteX24" fmla="*/ 5924286 w 6034687"/>
                <a:gd name="connsiteY24" fmla="*/ 3270068 h 5972309"/>
                <a:gd name="connsiteX25" fmla="*/ 6016076 w 6034687"/>
                <a:gd name="connsiteY25" fmla="*/ 3856426 h 5972309"/>
                <a:gd name="connsiteX26" fmla="*/ 5697118 w 6034687"/>
                <a:gd name="connsiteY26" fmla="*/ 4275276 h 5972309"/>
                <a:gd name="connsiteX27" fmla="*/ 5308322 w 6034687"/>
                <a:gd name="connsiteY27" fmla="*/ 4640517 h 5972309"/>
                <a:gd name="connsiteX28" fmla="*/ 4848895 w 6034687"/>
                <a:gd name="connsiteY28" fmla="*/ 5285415 h 5972309"/>
                <a:gd name="connsiteX29" fmla="*/ 4312631 w 6034687"/>
                <a:gd name="connsiteY29" fmla="*/ 5837253 h 5972309"/>
                <a:gd name="connsiteX30" fmla="*/ 3831091 w 6034687"/>
                <a:gd name="connsiteY30" fmla="*/ 5854433 h 5972309"/>
                <a:gd name="connsiteX31" fmla="*/ 3283056 w 6034687"/>
                <a:gd name="connsiteY31" fmla="*/ 5807823 h 5972309"/>
                <a:gd name="connsiteX32" fmla="*/ 2612209 w 6034687"/>
                <a:gd name="connsiteY32" fmla="*/ 5909951 h 5972309"/>
                <a:gd name="connsiteX33" fmla="*/ 2236300 w 6034687"/>
                <a:gd name="connsiteY33" fmla="*/ 5972309 h 5972309"/>
                <a:gd name="connsiteX34" fmla="*/ 2005154 w 6034687"/>
                <a:gd name="connsiteY34" fmla="*/ 29352 h 5972309"/>
                <a:gd name="connsiteX35" fmla="*/ 1859117 w 6034687"/>
                <a:gd name="connsiteY35" fmla="*/ 54168 h 5972309"/>
                <a:gd name="connsiteX36" fmla="*/ 1459346 w 6034687"/>
                <a:gd name="connsiteY36" fmla="*/ 507697 h 5972309"/>
                <a:gd name="connsiteX37" fmla="*/ 1047324 w 6034687"/>
                <a:gd name="connsiteY37" fmla="*/ 1107735 h 5972309"/>
                <a:gd name="connsiteX38" fmla="*/ 494357 w 6034687"/>
                <a:gd name="connsiteY38" fmla="*/ 1468363 h 5972309"/>
                <a:gd name="connsiteX39" fmla="*/ 67542 w 6034687"/>
                <a:gd name="connsiteY39" fmla="*/ 1826922 h 5972309"/>
                <a:gd name="connsiteX40" fmla="*/ 122743 w 6034687"/>
                <a:gd name="connsiteY40" fmla="*/ 2391964 h 5972309"/>
                <a:gd name="connsiteX41" fmla="*/ 269257 w 6034687"/>
                <a:gd name="connsiteY41" fmla="*/ 3069313 h 5972309"/>
                <a:gd name="connsiteX42" fmla="*/ 225032 w 6034687"/>
                <a:gd name="connsiteY42" fmla="*/ 3707371 h 5972309"/>
                <a:gd name="connsiteX43" fmla="*/ 253508 w 6034687"/>
                <a:gd name="connsiteY43" fmla="*/ 4453283 h 5972309"/>
                <a:gd name="connsiteX44" fmla="*/ 628781 w 6034687"/>
                <a:gd name="connsiteY44" fmla="*/ 4736281 h 5972309"/>
                <a:gd name="connsiteX45" fmla="*/ 1281174 w 6034687"/>
                <a:gd name="connsiteY45" fmla="*/ 5141450 h 5972309"/>
                <a:gd name="connsiteX46" fmla="*/ 1550658 w 6034687"/>
                <a:gd name="connsiteY46" fmla="*/ 5488079 h 5972309"/>
                <a:gd name="connsiteX47" fmla="*/ 1986542 w 6034687"/>
                <a:gd name="connsiteY47" fmla="*/ 5894520 h 5972309"/>
                <a:gd name="connsiteX48" fmla="*/ 2605846 w 6034687"/>
                <a:gd name="connsiteY48" fmla="*/ 5881158 h 5972309"/>
                <a:gd name="connsiteX49" fmla="*/ 3282897 w 6034687"/>
                <a:gd name="connsiteY49" fmla="*/ 5778235 h 5972309"/>
                <a:gd name="connsiteX50" fmla="*/ 3836977 w 6034687"/>
                <a:gd name="connsiteY50" fmla="*/ 5825163 h 5972309"/>
                <a:gd name="connsiteX51" fmla="*/ 4302609 w 6034687"/>
                <a:gd name="connsiteY51" fmla="*/ 5809573 h 5972309"/>
                <a:gd name="connsiteX52" fmla="*/ 4824237 w 6034687"/>
                <a:gd name="connsiteY52" fmla="*/ 5270303 h 5972309"/>
                <a:gd name="connsiteX53" fmla="*/ 5287006 w 6034687"/>
                <a:gd name="connsiteY53" fmla="*/ 4620791 h 5972309"/>
                <a:gd name="connsiteX54" fmla="*/ 5678823 w 6034687"/>
                <a:gd name="connsiteY54" fmla="*/ 4252528 h 5972309"/>
                <a:gd name="connsiteX55" fmla="*/ 5988077 w 6034687"/>
                <a:gd name="connsiteY55" fmla="*/ 3849586 h 5972309"/>
                <a:gd name="connsiteX56" fmla="*/ 5897401 w 6034687"/>
                <a:gd name="connsiteY56" fmla="*/ 3280886 h 5972309"/>
                <a:gd name="connsiteX57" fmla="*/ 5740547 w 6034687"/>
                <a:gd name="connsiteY57" fmla="*/ 2604490 h 5972309"/>
                <a:gd name="connsiteX58" fmla="*/ 5778726 w 6034687"/>
                <a:gd name="connsiteY58" fmla="*/ 2237977 h 5972309"/>
                <a:gd name="connsiteX59" fmla="*/ 5778726 w 6034687"/>
                <a:gd name="connsiteY59" fmla="*/ 1885144 h 5972309"/>
                <a:gd name="connsiteX60" fmla="*/ 5328366 w 6034687"/>
                <a:gd name="connsiteY60" fmla="*/ 1381347 h 5972309"/>
                <a:gd name="connsiteX61" fmla="*/ 4867667 w 6034687"/>
                <a:gd name="connsiteY61" fmla="*/ 1013243 h 5972309"/>
                <a:gd name="connsiteX62" fmla="*/ 4459145 w 6034687"/>
                <a:gd name="connsiteY62" fmla="*/ 498311 h 5972309"/>
                <a:gd name="connsiteX63" fmla="*/ 4028512 w 6034687"/>
                <a:gd name="connsiteY63" fmla="*/ 90438 h 5972309"/>
                <a:gd name="connsiteX64" fmla="*/ 3496543 w 6034687"/>
                <a:gd name="connsiteY64" fmla="*/ 134661 h 5972309"/>
                <a:gd name="connsiteX65" fmla="*/ 2906669 w 6034687"/>
                <a:gd name="connsiteY65" fmla="*/ 241879 h 5972309"/>
                <a:gd name="connsiteX66" fmla="*/ 2906669 w 6034687"/>
                <a:gd name="connsiteY66" fmla="*/ 241879 h 5972309"/>
                <a:gd name="connsiteX67" fmla="*/ 2328726 w 6034687"/>
                <a:gd name="connsiteY67" fmla="*/ 112549 h 5972309"/>
                <a:gd name="connsiteX68" fmla="*/ 2005154 w 6034687"/>
                <a:gd name="connsiteY68" fmla="*/ 29352 h 5972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6034687" h="5972309">
                  <a:moveTo>
                    <a:pt x="2236300" y="5972309"/>
                  </a:moveTo>
                  <a:cubicBezTo>
                    <a:pt x="2152464" y="5972309"/>
                    <a:pt x="2067673" y="5958469"/>
                    <a:pt x="1975565" y="5922359"/>
                  </a:cubicBezTo>
                  <a:cubicBezTo>
                    <a:pt x="1762873" y="5839003"/>
                    <a:pt x="1658516" y="5691857"/>
                    <a:pt x="1526319" y="5505418"/>
                  </a:cubicBezTo>
                  <a:cubicBezTo>
                    <a:pt x="1454255" y="5403768"/>
                    <a:pt x="1372487" y="5288437"/>
                    <a:pt x="1258903" y="5161335"/>
                  </a:cubicBezTo>
                  <a:cubicBezTo>
                    <a:pt x="1017099" y="4889154"/>
                    <a:pt x="796771" y="4820114"/>
                    <a:pt x="619713" y="4764756"/>
                  </a:cubicBezTo>
                  <a:cubicBezTo>
                    <a:pt x="445837" y="4710351"/>
                    <a:pt x="308391" y="4667242"/>
                    <a:pt x="225828" y="4464737"/>
                  </a:cubicBezTo>
                  <a:cubicBezTo>
                    <a:pt x="130538" y="4232007"/>
                    <a:pt x="160604" y="3987188"/>
                    <a:pt x="195443" y="3704030"/>
                  </a:cubicBezTo>
                  <a:cubicBezTo>
                    <a:pt x="218192" y="3519183"/>
                    <a:pt x="243963" y="3309520"/>
                    <a:pt x="239509" y="3070109"/>
                  </a:cubicBezTo>
                  <a:cubicBezTo>
                    <a:pt x="234100" y="2788861"/>
                    <a:pt x="160127" y="2583492"/>
                    <a:pt x="94745" y="2402145"/>
                  </a:cubicBezTo>
                  <a:cubicBezTo>
                    <a:pt x="17590" y="2188186"/>
                    <a:pt x="-43338" y="2019087"/>
                    <a:pt x="40020" y="1815787"/>
                  </a:cubicBezTo>
                  <a:cubicBezTo>
                    <a:pt x="122425" y="1614554"/>
                    <a:pt x="280870" y="1538356"/>
                    <a:pt x="481313" y="1441797"/>
                  </a:cubicBezTo>
                  <a:cubicBezTo>
                    <a:pt x="646916" y="1362099"/>
                    <a:pt x="834792" y="1271584"/>
                    <a:pt x="1026485" y="1086578"/>
                  </a:cubicBezTo>
                  <a:cubicBezTo>
                    <a:pt x="1234723" y="885664"/>
                    <a:pt x="1339875" y="677750"/>
                    <a:pt x="1432779" y="494334"/>
                  </a:cubicBezTo>
                  <a:cubicBezTo>
                    <a:pt x="1539841" y="283080"/>
                    <a:pt x="1632108" y="100460"/>
                    <a:pt x="1849413" y="26171"/>
                  </a:cubicBezTo>
                  <a:cubicBezTo>
                    <a:pt x="2027426" y="-34438"/>
                    <a:pt x="2171712" y="20762"/>
                    <a:pt x="2338907" y="84870"/>
                  </a:cubicBezTo>
                  <a:cubicBezTo>
                    <a:pt x="2490830" y="143092"/>
                    <a:pt x="2662956" y="209268"/>
                    <a:pt x="2906669" y="212132"/>
                  </a:cubicBezTo>
                  <a:cubicBezTo>
                    <a:pt x="3151018" y="215790"/>
                    <a:pt x="3329826" y="157409"/>
                    <a:pt x="3486998" y="106345"/>
                  </a:cubicBezTo>
                  <a:cubicBezTo>
                    <a:pt x="3672010" y="46532"/>
                    <a:pt x="3831728" y="-5168"/>
                    <a:pt x="4037261" y="62122"/>
                  </a:cubicBezTo>
                  <a:cubicBezTo>
                    <a:pt x="4256634" y="134979"/>
                    <a:pt x="4356697" y="288011"/>
                    <a:pt x="4483326" y="481926"/>
                  </a:cubicBezTo>
                  <a:cubicBezTo>
                    <a:pt x="4581479" y="632254"/>
                    <a:pt x="4692677" y="802466"/>
                    <a:pt x="4887711" y="991927"/>
                  </a:cubicBezTo>
                  <a:cubicBezTo>
                    <a:pt x="5054905" y="1154504"/>
                    <a:pt x="5208896" y="1262040"/>
                    <a:pt x="5344752" y="1357009"/>
                  </a:cubicBezTo>
                  <a:cubicBezTo>
                    <a:pt x="5560307" y="1507495"/>
                    <a:pt x="5730524" y="1626326"/>
                    <a:pt x="5806407" y="1876395"/>
                  </a:cubicBezTo>
                  <a:cubicBezTo>
                    <a:pt x="5850949" y="2022110"/>
                    <a:pt x="5831541" y="2119783"/>
                    <a:pt x="5807042" y="2243704"/>
                  </a:cubicBezTo>
                  <a:cubicBezTo>
                    <a:pt x="5788271" y="2338832"/>
                    <a:pt x="5766795" y="2446845"/>
                    <a:pt x="5769499" y="2603854"/>
                  </a:cubicBezTo>
                  <a:cubicBezTo>
                    <a:pt x="5774431" y="2887011"/>
                    <a:pt x="5853972" y="3090470"/>
                    <a:pt x="5924286" y="3270068"/>
                  </a:cubicBezTo>
                  <a:cubicBezTo>
                    <a:pt x="6001599" y="3467483"/>
                    <a:pt x="6068414" y="3638013"/>
                    <a:pt x="6016076" y="3856426"/>
                  </a:cubicBezTo>
                  <a:cubicBezTo>
                    <a:pt x="5970101" y="4048750"/>
                    <a:pt x="5861449" y="4138947"/>
                    <a:pt x="5697118" y="4275276"/>
                  </a:cubicBezTo>
                  <a:cubicBezTo>
                    <a:pt x="5591647" y="4362768"/>
                    <a:pt x="5460245" y="4471736"/>
                    <a:pt x="5308322" y="4640517"/>
                  </a:cubicBezTo>
                  <a:cubicBezTo>
                    <a:pt x="5087517" y="4885813"/>
                    <a:pt x="4960729" y="5098181"/>
                    <a:pt x="4848895" y="5285415"/>
                  </a:cubicBezTo>
                  <a:cubicBezTo>
                    <a:pt x="4693791" y="5545188"/>
                    <a:pt x="4581956" y="5732739"/>
                    <a:pt x="4312631" y="5837253"/>
                  </a:cubicBezTo>
                  <a:cubicBezTo>
                    <a:pt x="4130960" y="5907883"/>
                    <a:pt x="4005127" y="5885453"/>
                    <a:pt x="3831091" y="5854433"/>
                  </a:cubicBezTo>
                  <a:cubicBezTo>
                    <a:pt x="3696509" y="5830412"/>
                    <a:pt x="3528996" y="5800506"/>
                    <a:pt x="3283056" y="5807823"/>
                  </a:cubicBezTo>
                  <a:cubicBezTo>
                    <a:pt x="2996868" y="5816414"/>
                    <a:pt x="2792448" y="5866205"/>
                    <a:pt x="2612209" y="5909951"/>
                  </a:cubicBezTo>
                  <a:cubicBezTo>
                    <a:pt x="2476672" y="5943357"/>
                    <a:pt x="2357520" y="5972309"/>
                    <a:pt x="2236300" y="5972309"/>
                  </a:cubicBezTo>
                  <a:close/>
                  <a:moveTo>
                    <a:pt x="2005154" y="29352"/>
                  </a:moveTo>
                  <a:cubicBezTo>
                    <a:pt x="1958384" y="29352"/>
                    <a:pt x="1910342" y="36829"/>
                    <a:pt x="1859117" y="54168"/>
                  </a:cubicBezTo>
                  <a:cubicBezTo>
                    <a:pt x="1653266" y="124480"/>
                    <a:pt x="1567680" y="293579"/>
                    <a:pt x="1459346" y="507697"/>
                  </a:cubicBezTo>
                  <a:cubicBezTo>
                    <a:pt x="1365487" y="693180"/>
                    <a:pt x="1259062" y="903480"/>
                    <a:pt x="1047324" y="1107735"/>
                  </a:cubicBezTo>
                  <a:cubicBezTo>
                    <a:pt x="852132" y="1296241"/>
                    <a:pt x="662029" y="1387711"/>
                    <a:pt x="494357" y="1468363"/>
                  </a:cubicBezTo>
                  <a:cubicBezTo>
                    <a:pt x="299482" y="1562059"/>
                    <a:pt x="145651" y="1636189"/>
                    <a:pt x="67542" y="1826922"/>
                  </a:cubicBezTo>
                  <a:cubicBezTo>
                    <a:pt x="-11363" y="2019723"/>
                    <a:pt x="47815" y="2184050"/>
                    <a:pt x="122743" y="2391964"/>
                  </a:cubicBezTo>
                  <a:cubicBezTo>
                    <a:pt x="188762" y="2575379"/>
                    <a:pt x="263848" y="2783293"/>
                    <a:pt x="269257" y="3069313"/>
                  </a:cubicBezTo>
                  <a:cubicBezTo>
                    <a:pt x="273870" y="3310792"/>
                    <a:pt x="247940" y="3521569"/>
                    <a:pt x="225032" y="3707371"/>
                  </a:cubicBezTo>
                  <a:cubicBezTo>
                    <a:pt x="189239" y="3998005"/>
                    <a:pt x="161081" y="4227712"/>
                    <a:pt x="253508" y="4453283"/>
                  </a:cubicBezTo>
                  <a:cubicBezTo>
                    <a:pt x="330821" y="4642903"/>
                    <a:pt x="455860" y="4682036"/>
                    <a:pt x="628781" y="4736281"/>
                  </a:cubicBezTo>
                  <a:cubicBezTo>
                    <a:pt x="809180" y="4792912"/>
                    <a:pt x="1033962" y="4863225"/>
                    <a:pt x="1281174" y="5141450"/>
                  </a:cubicBezTo>
                  <a:cubicBezTo>
                    <a:pt x="1395872" y="5269825"/>
                    <a:pt x="1478117" y="5385633"/>
                    <a:pt x="1550658" y="5488079"/>
                  </a:cubicBezTo>
                  <a:cubicBezTo>
                    <a:pt x="1684923" y="5677540"/>
                    <a:pt x="1781963" y="5814505"/>
                    <a:pt x="1986542" y="5894520"/>
                  </a:cubicBezTo>
                  <a:cubicBezTo>
                    <a:pt x="2202893" y="5979308"/>
                    <a:pt x="2371996" y="5938107"/>
                    <a:pt x="2605846" y="5881158"/>
                  </a:cubicBezTo>
                  <a:cubicBezTo>
                    <a:pt x="2778608" y="5839162"/>
                    <a:pt x="2993527" y="5786826"/>
                    <a:pt x="3282897" y="5778235"/>
                  </a:cubicBezTo>
                  <a:cubicBezTo>
                    <a:pt x="3531541" y="5770441"/>
                    <a:pt x="3700963" y="5800824"/>
                    <a:pt x="3836977" y="5825163"/>
                  </a:cubicBezTo>
                  <a:cubicBezTo>
                    <a:pt x="4006399" y="5855546"/>
                    <a:pt x="4128733" y="5877340"/>
                    <a:pt x="4302609" y="5809573"/>
                  </a:cubicBezTo>
                  <a:cubicBezTo>
                    <a:pt x="4562389" y="5708877"/>
                    <a:pt x="4672155" y="5524826"/>
                    <a:pt x="4824237" y="5270303"/>
                  </a:cubicBezTo>
                  <a:cubicBezTo>
                    <a:pt x="4931140" y="5091182"/>
                    <a:pt x="5064291" y="4868156"/>
                    <a:pt x="5287006" y="4620791"/>
                  </a:cubicBezTo>
                  <a:cubicBezTo>
                    <a:pt x="5440360" y="4450260"/>
                    <a:pt x="5572557" y="4340657"/>
                    <a:pt x="5678823" y="4252528"/>
                  </a:cubicBezTo>
                  <a:cubicBezTo>
                    <a:pt x="5838700" y="4119858"/>
                    <a:pt x="5944330" y="4032365"/>
                    <a:pt x="5988077" y="3849586"/>
                  </a:cubicBezTo>
                  <a:cubicBezTo>
                    <a:pt x="6038188" y="3640241"/>
                    <a:pt x="5972965" y="3473687"/>
                    <a:pt x="5897401" y="3280886"/>
                  </a:cubicBezTo>
                  <a:cubicBezTo>
                    <a:pt x="5826292" y="3099061"/>
                    <a:pt x="5745478" y="2892897"/>
                    <a:pt x="5740547" y="2604490"/>
                  </a:cubicBezTo>
                  <a:cubicBezTo>
                    <a:pt x="5737842" y="2444300"/>
                    <a:pt x="5759477" y="2334696"/>
                    <a:pt x="5778726" y="2237977"/>
                  </a:cubicBezTo>
                  <a:cubicBezTo>
                    <a:pt x="5802429" y="2118192"/>
                    <a:pt x="5821201" y="2023700"/>
                    <a:pt x="5778726" y="1885144"/>
                  </a:cubicBezTo>
                  <a:cubicBezTo>
                    <a:pt x="5705867" y="1644938"/>
                    <a:pt x="5547581" y="1534380"/>
                    <a:pt x="5328366" y="1381347"/>
                  </a:cubicBezTo>
                  <a:cubicBezTo>
                    <a:pt x="5191557" y="1285901"/>
                    <a:pt x="5036452" y="1177570"/>
                    <a:pt x="4867667" y="1013243"/>
                  </a:cubicBezTo>
                  <a:cubicBezTo>
                    <a:pt x="4670246" y="821715"/>
                    <a:pt x="4553163" y="642435"/>
                    <a:pt x="4459145" y="498311"/>
                  </a:cubicBezTo>
                  <a:cubicBezTo>
                    <a:pt x="4330767" y="301851"/>
                    <a:pt x="4238181" y="159954"/>
                    <a:pt x="4028512" y="90438"/>
                  </a:cubicBezTo>
                  <a:cubicBezTo>
                    <a:pt x="3832205" y="26171"/>
                    <a:pt x="3676783" y="76439"/>
                    <a:pt x="3496543" y="134661"/>
                  </a:cubicBezTo>
                  <a:cubicBezTo>
                    <a:pt x="3337144" y="186202"/>
                    <a:pt x="3155950" y="243788"/>
                    <a:pt x="2906669" y="241879"/>
                  </a:cubicBezTo>
                  <a:lnTo>
                    <a:pt x="2906669" y="241879"/>
                  </a:lnTo>
                  <a:cubicBezTo>
                    <a:pt x="2657706" y="238697"/>
                    <a:pt x="2482876" y="171726"/>
                    <a:pt x="2328726" y="112549"/>
                  </a:cubicBezTo>
                  <a:cubicBezTo>
                    <a:pt x="2211483" y="67690"/>
                    <a:pt x="2111580" y="29352"/>
                    <a:pt x="2005154" y="29352"/>
                  </a:cubicBezTo>
                  <a:close/>
                </a:path>
              </a:pathLst>
            </a:custGeom>
            <a:gradFill>
              <a:gsLst>
                <a:gs pos="100000">
                  <a:schemeClr val="accent2"/>
                </a:gs>
                <a:gs pos="0">
                  <a:schemeClr val="accent1"/>
                </a:gs>
              </a:gsLst>
              <a:lin ang="0" scaled="1"/>
            </a:gradFill>
            <a:ln w="1589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38" name="Freeform 37">
              <a:extLst>
                <a:ext uri="{FF2B5EF4-FFF2-40B4-BE49-F238E27FC236}">
                  <a16:creationId xmlns:a16="http://schemas.microsoft.com/office/drawing/2014/main" id="{3703F14C-D0C2-B308-6E3B-791A697B7107}"/>
                </a:ext>
              </a:extLst>
            </p:cNvPr>
            <p:cNvSpPr/>
            <p:nvPr/>
          </p:nvSpPr>
          <p:spPr>
            <a:xfrm>
              <a:off x="-2964173" y="487280"/>
              <a:ext cx="5919576" cy="5863867"/>
            </a:xfrm>
            <a:custGeom>
              <a:avLst/>
              <a:gdLst>
                <a:gd name="connsiteX0" fmla="*/ 2197559 w 5919576"/>
                <a:gd name="connsiteY0" fmla="*/ 5863868 h 5863867"/>
                <a:gd name="connsiteX1" fmla="*/ 1928711 w 5919576"/>
                <a:gd name="connsiteY1" fmla="*/ 5812486 h 5863867"/>
                <a:gd name="connsiteX2" fmla="*/ 1476602 w 5919576"/>
                <a:gd name="connsiteY2" fmla="*/ 5398886 h 5863867"/>
                <a:gd name="connsiteX3" fmla="*/ 1219367 w 5919576"/>
                <a:gd name="connsiteY3" fmla="*/ 5073733 h 5863867"/>
                <a:gd name="connsiteX4" fmla="*/ 607062 w 5919576"/>
                <a:gd name="connsiteY4" fmla="*/ 4683835 h 5863867"/>
                <a:gd name="connsiteX5" fmla="*/ 217472 w 5919576"/>
                <a:gd name="connsiteY5" fmla="*/ 4377294 h 5863867"/>
                <a:gd name="connsiteX6" fmla="*/ 180565 w 5919576"/>
                <a:gd name="connsiteY6" fmla="*/ 3615951 h 5863867"/>
                <a:gd name="connsiteX7" fmla="*/ 218585 w 5919576"/>
                <a:gd name="connsiteY7" fmla="*/ 3011459 h 5863867"/>
                <a:gd name="connsiteX8" fmla="*/ 87184 w 5919576"/>
                <a:gd name="connsiteY8" fmla="*/ 2367197 h 5863867"/>
                <a:gd name="connsiteX9" fmla="*/ 41210 w 5919576"/>
                <a:gd name="connsiteY9" fmla="*/ 1780521 h 5863867"/>
                <a:gd name="connsiteX10" fmla="*/ 477570 w 5919576"/>
                <a:gd name="connsiteY10" fmla="*/ 1400804 h 5863867"/>
                <a:gd name="connsiteX11" fmla="*/ 997926 w 5919576"/>
                <a:gd name="connsiteY11" fmla="*/ 1053539 h 5863867"/>
                <a:gd name="connsiteX12" fmla="*/ 1394675 w 5919576"/>
                <a:gd name="connsiteY12" fmla="*/ 489293 h 5863867"/>
                <a:gd name="connsiteX13" fmla="*/ 1818309 w 5919576"/>
                <a:gd name="connsiteY13" fmla="*/ 27015 h 5863867"/>
                <a:gd name="connsiteX14" fmla="*/ 2307166 w 5919576"/>
                <a:gd name="connsiteY14" fmla="*/ 78556 h 5863867"/>
                <a:gd name="connsiteX15" fmla="*/ 2856157 w 5919576"/>
                <a:gd name="connsiteY15" fmla="*/ 194683 h 5863867"/>
                <a:gd name="connsiteX16" fmla="*/ 3418669 w 5919576"/>
                <a:gd name="connsiteY16" fmla="*/ 99395 h 5863867"/>
                <a:gd name="connsiteX17" fmla="*/ 3970840 w 5919576"/>
                <a:gd name="connsiteY17" fmla="*/ 64080 h 5863867"/>
                <a:gd name="connsiteX18" fmla="*/ 4425337 w 5919576"/>
                <a:gd name="connsiteY18" fmla="*/ 485157 h 5863867"/>
                <a:gd name="connsiteX19" fmla="*/ 4816677 w 5919576"/>
                <a:gd name="connsiteY19" fmla="*/ 972410 h 5863867"/>
                <a:gd name="connsiteX20" fmla="*/ 5247947 w 5919576"/>
                <a:gd name="connsiteY20" fmla="*/ 1325084 h 5863867"/>
                <a:gd name="connsiteX21" fmla="*/ 5708329 w 5919576"/>
                <a:gd name="connsiteY21" fmla="*/ 1855924 h 5863867"/>
                <a:gd name="connsiteX22" fmla="*/ 5711669 w 5919576"/>
                <a:gd name="connsiteY22" fmla="*/ 2224187 h 5863867"/>
                <a:gd name="connsiteX23" fmla="*/ 5677944 w 5919576"/>
                <a:gd name="connsiteY23" fmla="*/ 2573043 h 5863867"/>
                <a:gd name="connsiteX24" fmla="*/ 5818572 w 5919576"/>
                <a:gd name="connsiteY24" fmla="*/ 3217622 h 5863867"/>
                <a:gd name="connsiteX25" fmla="*/ 5899386 w 5919576"/>
                <a:gd name="connsiteY25" fmla="*/ 3802707 h 5863867"/>
                <a:gd name="connsiteX26" fmla="*/ 5579472 w 5919576"/>
                <a:gd name="connsiteY26" fmla="*/ 4225534 h 5863867"/>
                <a:gd name="connsiteX27" fmla="*/ 5209927 w 5919576"/>
                <a:gd name="connsiteY27" fmla="*/ 4576299 h 5863867"/>
                <a:gd name="connsiteX28" fmla="*/ 4766407 w 5919576"/>
                <a:gd name="connsiteY28" fmla="*/ 5187155 h 5863867"/>
                <a:gd name="connsiteX29" fmla="*/ 4220280 w 5919576"/>
                <a:gd name="connsiteY29" fmla="*/ 5736766 h 5863867"/>
                <a:gd name="connsiteX30" fmla="*/ 3737468 w 5919576"/>
                <a:gd name="connsiteY30" fmla="*/ 5757128 h 5863867"/>
                <a:gd name="connsiteX31" fmla="*/ 3210431 w 5919576"/>
                <a:gd name="connsiteY31" fmla="*/ 5715927 h 5863867"/>
                <a:gd name="connsiteX32" fmla="*/ 2567265 w 5919576"/>
                <a:gd name="connsiteY32" fmla="*/ 5807714 h 5863867"/>
                <a:gd name="connsiteX33" fmla="*/ 2197559 w 5919576"/>
                <a:gd name="connsiteY33" fmla="*/ 5863868 h 5863867"/>
                <a:gd name="connsiteX34" fmla="*/ 1978186 w 5919576"/>
                <a:gd name="connsiteY34" fmla="*/ 32424 h 5863867"/>
                <a:gd name="connsiteX35" fmla="*/ 1828808 w 5919576"/>
                <a:gd name="connsiteY35" fmla="*/ 57876 h 5863867"/>
                <a:gd name="connsiteX36" fmla="*/ 1423469 w 5919576"/>
                <a:gd name="connsiteY36" fmla="*/ 504724 h 5863867"/>
                <a:gd name="connsiteX37" fmla="*/ 1020515 w 5919576"/>
                <a:gd name="connsiteY37" fmla="*/ 1077083 h 5863867"/>
                <a:gd name="connsiteX38" fmla="*/ 492206 w 5919576"/>
                <a:gd name="connsiteY38" fmla="*/ 1430074 h 5863867"/>
                <a:gd name="connsiteX39" fmla="*/ 71435 w 5919576"/>
                <a:gd name="connsiteY39" fmla="*/ 1792929 h 5863867"/>
                <a:gd name="connsiteX40" fmla="*/ 118205 w 5919576"/>
                <a:gd name="connsiteY40" fmla="*/ 2356539 h 5863867"/>
                <a:gd name="connsiteX41" fmla="*/ 251356 w 5919576"/>
                <a:gd name="connsiteY41" fmla="*/ 3010663 h 5863867"/>
                <a:gd name="connsiteX42" fmla="*/ 213177 w 5919576"/>
                <a:gd name="connsiteY42" fmla="*/ 3619292 h 5863867"/>
                <a:gd name="connsiteX43" fmla="*/ 247856 w 5919576"/>
                <a:gd name="connsiteY43" fmla="*/ 4364568 h 5863867"/>
                <a:gd name="connsiteX44" fmla="*/ 617721 w 5919576"/>
                <a:gd name="connsiteY44" fmla="*/ 4652497 h 5863867"/>
                <a:gd name="connsiteX45" fmla="*/ 1243866 w 5919576"/>
                <a:gd name="connsiteY45" fmla="*/ 5051462 h 5863867"/>
                <a:gd name="connsiteX46" fmla="*/ 1503169 w 5919576"/>
                <a:gd name="connsiteY46" fmla="*/ 5379320 h 5863867"/>
                <a:gd name="connsiteX47" fmla="*/ 1940643 w 5919576"/>
                <a:gd name="connsiteY47" fmla="*/ 5781784 h 5863867"/>
                <a:gd name="connsiteX48" fmla="*/ 2560106 w 5919576"/>
                <a:gd name="connsiteY48" fmla="*/ 5775103 h 5863867"/>
                <a:gd name="connsiteX49" fmla="*/ 3209476 w 5919576"/>
                <a:gd name="connsiteY49" fmla="*/ 5682520 h 5863867"/>
                <a:gd name="connsiteX50" fmla="*/ 3742718 w 5919576"/>
                <a:gd name="connsiteY50" fmla="*/ 5724199 h 5863867"/>
                <a:gd name="connsiteX51" fmla="*/ 4208349 w 5919576"/>
                <a:gd name="connsiteY51" fmla="*/ 5705586 h 5863867"/>
                <a:gd name="connsiteX52" fmla="*/ 4738409 w 5919576"/>
                <a:gd name="connsiteY52" fmla="*/ 5169338 h 5863867"/>
                <a:gd name="connsiteX53" fmla="*/ 5185428 w 5919576"/>
                <a:gd name="connsiteY53" fmla="*/ 4553869 h 5863867"/>
                <a:gd name="connsiteX54" fmla="*/ 5557996 w 5919576"/>
                <a:gd name="connsiteY54" fmla="*/ 4199923 h 5863867"/>
                <a:gd name="connsiteX55" fmla="*/ 5867251 w 5919576"/>
                <a:gd name="connsiteY55" fmla="*/ 3794276 h 5863867"/>
                <a:gd name="connsiteX56" fmla="*/ 5787392 w 5919576"/>
                <a:gd name="connsiteY56" fmla="*/ 3228281 h 5863867"/>
                <a:gd name="connsiteX57" fmla="*/ 5644696 w 5919576"/>
                <a:gd name="connsiteY57" fmla="*/ 2573043 h 5863867"/>
                <a:gd name="connsiteX58" fmla="*/ 5679058 w 5919576"/>
                <a:gd name="connsiteY58" fmla="*/ 2217824 h 5863867"/>
                <a:gd name="connsiteX59" fmla="*/ 5676672 w 5919576"/>
                <a:gd name="connsiteY59" fmla="*/ 1865150 h 5863867"/>
                <a:gd name="connsiteX60" fmla="*/ 5228539 w 5919576"/>
                <a:gd name="connsiteY60" fmla="*/ 1351490 h 5863867"/>
                <a:gd name="connsiteX61" fmla="*/ 4793610 w 5919576"/>
                <a:gd name="connsiteY61" fmla="*/ 995794 h 5863867"/>
                <a:gd name="connsiteX62" fmla="*/ 4397974 w 5919576"/>
                <a:gd name="connsiteY62" fmla="*/ 503451 h 5863867"/>
                <a:gd name="connsiteX63" fmla="*/ 3960341 w 5919576"/>
                <a:gd name="connsiteY63" fmla="*/ 95100 h 5863867"/>
                <a:gd name="connsiteX64" fmla="*/ 3427895 w 5919576"/>
                <a:gd name="connsiteY64" fmla="*/ 130734 h 5863867"/>
                <a:gd name="connsiteX65" fmla="*/ 2855520 w 5919576"/>
                <a:gd name="connsiteY65" fmla="*/ 227293 h 5863867"/>
                <a:gd name="connsiteX66" fmla="*/ 2855520 w 5919576"/>
                <a:gd name="connsiteY66" fmla="*/ 227293 h 5863867"/>
                <a:gd name="connsiteX67" fmla="*/ 2295872 w 5919576"/>
                <a:gd name="connsiteY67" fmla="*/ 109258 h 5863867"/>
                <a:gd name="connsiteX68" fmla="*/ 1978186 w 5919576"/>
                <a:gd name="connsiteY68" fmla="*/ 32424 h 5863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5919576" h="5863867">
                  <a:moveTo>
                    <a:pt x="2197559" y="5863868"/>
                  </a:moveTo>
                  <a:cubicBezTo>
                    <a:pt x="2110860" y="5863868"/>
                    <a:pt x="2023365" y="5849710"/>
                    <a:pt x="1928711" y="5812486"/>
                  </a:cubicBezTo>
                  <a:cubicBezTo>
                    <a:pt x="1716974" y="5729130"/>
                    <a:pt x="1610867" y="5583415"/>
                    <a:pt x="1476602" y="5398886"/>
                  </a:cubicBezTo>
                  <a:cubicBezTo>
                    <a:pt x="1406447" y="5302485"/>
                    <a:pt x="1327065" y="5193359"/>
                    <a:pt x="1219367" y="5073733"/>
                  </a:cubicBezTo>
                  <a:cubicBezTo>
                    <a:pt x="988222" y="4814914"/>
                    <a:pt x="776802" y="4742216"/>
                    <a:pt x="607062" y="4683835"/>
                  </a:cubicBezTo>
                  <a:cubicBezTo>
                    <a:pt x="435414" y="4624817"/>
                    <a:pt x="299876" y="4578208"/>
                    <a:pt x="217472" y="4377294"/>
                  </a:cubicBezTo>
                  <a:cubicBezTo>
                    <a:pt x="121546" y="4144405"/>
                    <a:pt x="148908" y="3899427"/>
                    <a:pt x="180565" y="3615951"/>
                  </a:cubicBezTo>
                  <a:cubicBezTo>
                    <a:pt x="200291" y="3438899"/>
                    <a:pt x="222722" y="3238302"/>
                    <a:pt x="218585" y="3011459"/>
                  </a:cubicBezTo>
                  <a:cubicBezTo>
                    <a:pt x="213654" y="2742937"/>
                    <a:pt x="146522" y="2543295"/>
                    <a:pt x="87184" y="2367197"/>
                  </a:cubicBezTo>
                  <a:cubicBezTo>
                    <a:pt x="14961" y="2152761"/>
                    <a:pt x="-41990" y="1983344"/>
                    <a:pt x="41210" y="1780521"/>
                  </a:cubicBezTo>
                  <a:cubicBezTo>
                    <a:pt x="123614" y="1579925"/>
                    <a:pt x="287627" y="1496887"/>
                    <a:pt x="477570" y="1400804"/>
                  </a:cubicBezTo>
                  <a:cubicBezTo>
                    <a:pt x="635697" y="1320789"/>
                    <a:pt x="814982" y="1230115"/>
                    <a:pt x="997926" y="1053539"/>
                  </a:cubicBezTo>
                  <a:cubicBezTo>
                    <a:pt x="1196459" y="861851"/>
                    <a:pt x="1301771" y="663960"/>
                    <a:pt x="1394675" y="489293"/>
                  </a:cubicBezTo>
                  <a:cubicBezTo>
                    <a:pt x="1505555" y="281061"/>
                    <a:pt x="1601163" y="101304"/>
                    <a:pt x="1818309" y="27015"/>
                  </a:cubicBezTo>
                  <a:cubicBezTo>
                    <a:pt x="1995207" y="-33593"/>
                    <a:pt x="2139813" y="18425"/>
                    <a:pt x="2307166" y="78556"/>
                  </a:cubicBezTo>
                  <a:cubicBezTo>
                    <a:pt x="2455271" y="131688"/>
                    <a:pt x="2622943" y="191978"/>
                    <a:pt x="2856157" y="194683"/>
                  </a:cubicBezTo>
                  <a:cubicBezTo>
                    <a:pt x="3089688" y="196910"/>
                    <a:pt x="3264996" y="145369"/>
                    <a:pt x="3418669" y="99395"/>
                  </a:cubicBezTo>
                  <a:cubicBezTo>
                    <a:pt x="3605112" y="43719"/>
                    <a:pt x="3766103" y="-4482"/>
                    <a:pt x="3970840" y="64080"/>
                  </a:cubicBezTo>
                  <a:cubicBezTo>
                    <a:pt x="4191328" y="137733"/>
                    <a:pt x="4294731" y="291083"/>
                    <a:pt x="4425337" y="485157"/>
                  </a:cubicBezTo>
                  <a:cubicBezTo>
                    <a:pt x="4522217" y="629122"/>
                    <a:pt x="4632142" y="792176"/>
                    <a:pt x="4816677" y="972410"/>
                  </a:cubicBezTo>
                  <a:cubicBezTo>
                    <a:pt x="4973849" y="1126237"/>
                    <a:pt x="5119568" y="1231865"/>
                    <a:pt x="5247947" y="1325084"/>
                  </a:cubicBezTo>
                  <a:cubicBezTo>
                    <a:pt x="5462707" y="1480979"/>
                    <a:pt x="5632288" y="1603946"/>
                    <a:pt x="5708329" y="1855924"/>
                  </a:cubicBezTo>
                  <a:cubicBezTo>
                    <a:pt x="5752394" y="2000683"/>
                    <a:pt x="5734418" y="2099311"/>
                    <a:pt x="5711669" y="2224187"/>
                  </a:cubicBezTo>
                  <a:cubicBezTo>
                    <a:pt x="5694648" y="2317247"/>
                    <a:pt x="5675399" y="2422874"/>
                    <a:pt x="5677944" y="2573043"/>
                  </a:cubicBezTo>
                  <a:cubicBezTo>
                    <a:pt x="5682398" y="2844269"/>
                    <a:pt x="5754781" y="3042638"/>
                    <a:pt x="5818572" y="3217622"/>
                  </a:cubicBezTo>
                  <a:cubicBezTo>
                    <a:pt x="5890795" y="3415355"/>
                    <a:pt x="5952996" y="3586204"/>
                    <a:pt x="5899386" y="3802707"/>
                  </a:cubicBezTo>
                  <a:cubicBezTo>
                    <a:pt x="5851979" y="3994714"/>
                    <a:pt x="5743485" y="4086501"/>
                    <a:pt x="5579472" y="4225534"/>
                  </a:cubicBezTo>
                  <a:cubicBezTo>
                    <a:pt x="5478774" y="4310800"/>
                    <a:pt x="5353577" y="4416904"/>
                    <a:pt x="5209927" y="4576299"/>
                  </a:cubicBezTo>
                  <a:cubicBezTo>
                    <a:pt x="5001530" y="4807597"/>
                    <a:pt x="4876651" y="5009147"/>
                    <a:pt x="4766407" y="5187155"/>
                  </a:cubicBezTo>
                  <a:cubicBezTo>
                    <a:pt x="4606212" y="5445655"/>
                    <a:pt x="4490401" y="5632570"/>
                    <a:pt x="4220280" y="5736766"/>
                  </a:cubicBezTo>
                  <a:cubicBezTo>
                    <a:pt x="4039405" y="5806760"/>
                    <a:pt x="3912776" y="5785920"/>
                    <a:pt x="3737468" y="5757128"/>
                  </a:cubicBezTo>
                  <a:cubicBezTo>
                    <a:pt x="3606703" y="5735652"/>
                    <a:pt x="3444440" y="5709086"/>
                    <a:pt x="3210431" y="5715927"/>
                  </a:cubicBezTo>
                  <a:cubicBezTo>
                    <a:pt x="2939038" y="5723881"/>
                    <a:pt x="2741618" y="5768422"/>
                    <a:pt x="2567265" y="5807714"/>
                  </a:cubicBezTo>
                  <a:cubicBezTo>
                    <a:pt x="2433636" y="5837302"/>
                    <a:pt x="2316075" y="5863868"/>
                    <a:pt x="2197559" y="5863868"/>
                  </a:cubicBezTo>
                  <a:close/>
                  <a:moveTo>
                    <a:pt x="1978186" y="32424"/>
                  </a:moveTo>
                  <a:cubicBezTo>
                    <a:pt x="1930302" y="32424"/>
                    <a:pt x="1881146" y="39901"/>
                    <a:pt x="1828808" y="57876"/>
                  </a:cubicBezTo>
                  <a:cubicBezTo>
                    <a:pt x="1623911" y="128029"/>
                    <a:pt x="1535462" y="294265"/>
                    <a:pt x="1423469" y="504724"/>
                  </a:cubicBezTo>
                  <a:cubicBezTo>
                    <a:pt x="1329451" y="681458"/>
                    <a:pt x="1222708" y="881895"/>
                    <a:pt x="1020515" y="1077083"/>
                  </a:cubicBezTo>
                  <a:cubicBezTo>
                    <a:pt x="834072" y="1257158"/>
                    <a:pt x="652401" y="1349104"/>
                    <a:pt x="492206" y="1430074"/>
                  </a:cubicBezTo>
                  <a:cubicBezTo>
                    <a:pt x="300671" y="1526952"/>
                    <a:pt x="149226" y="1603627"/>
                    <a:pt x="71435" y="1792929"/>
                  </a:cubicBezTo>
                  <a:cubicBezTo>
                    <a:pt x="-7151" y="1984299"/>
                    <a:pt x="48209" y="2148625"/>
                    <a:pt x="118205" y="2356539"/>
                  </a:cubicBezTo>
                  <a:cubicBezTo>
                    <a:pt x="178179" y="2534864"/>
                    <a:pt x="246266" y="2737051"/>
                    <a:pt x="251356" y="3010663"/>
                  </a:cubicBezTo>
                  <a:cubicBezTo>
                    <a:pt x="255492" y="3239734"/>
                    <a:pt x="233062" y="3441444"/>
                    <a:pt x="213177" y="3619292"/>
                  </a:cubicBezTo>
                  <a:cubicBezTo>
                    <a:pt x="180724" y="3909926"/>
                    <a:pt x="155112" y="4139314"/>
                    <a:pt x="247856" y="4364568"/>
                  </a:cubicBezTo>
                  <a:cubicBezTo>
                    <a:pt x="324534" y="4551642"/>
                    <a:pt x="447504" y="4593957"/>
                    <a:pt x="617721" y="4652497"/>
                  </a:cubicBezTo>
                  <a:cubicBezTo>
                    <a:pt x="791279" y="4712151"/>
                    <a:pt x="1007152" y="4786281"/>
                    <a:pt x="1243866" y="5051462"/>
                  </a:cubicBezTo>
                  <a:cubicBezTo>
                    <a:pt x="1352677" y="5172360"/>
                    <a:pt x="1432695" y="5282283"/>
                    <a:pt x="1503169" y="5379320"/>
                  </a:cubicBezTo>
                  <a:cubicBezTo>
                    <a:pt x="1639501" y="5566553"/>
                    <a:pt x="1737973" y="5701928"/>
                    <a:pt x="1940643" y="5781784"/>
                  </a:cubicBezTo>
                  <a:cubicBezTo>
                    <a:pt x="2155562" y="5866413"/>
                    <a:pt x="2325302" y="5828076"/>
                    <a:pt x="2560106" y="5775103"/>
                  </a:cubicBezTo>
                  <a:cubicBezTo>
                    <a:pt x="2735891" y="5735493"/>
                    <a:pt x="2935061" y="5690474"/>
                    <a:pt x="3209476" y="5682520"/>
                  </a:cubicBezTo>
                  <a:cubicBezTo>
                    <a:pt x="3446508" y="5675521"/>
                    <a:pt x="3610680" y="5702564"/>
                    <a:pt x="3742718" y="5724199"/>
                  </a:cubicBezTo>
                  <a:cubicBezTo>
                    <a:pt x="3913094" y="5752196"/>
                    <a:pt x="4035905" y="5772558"/>
                    <a:pt x="4208349" y="5705586"/>
                  </a:cubicBezTo>
                  <a:cubicBezTo>
                    <a:pt x="4468288" y="5605368"/>
                    <a:pt x="4581555" y="5422589"/>
                    <a:pt x="4738409" y="5169338"/>
                  </a:cubicBezTo>
                  <a:cubicBezTo>
                    <a:pt x="4849289" y="4990217"/>
                    <a:pt x="4974963" y="4787394"/>
                    <a:pt x="5185428" y="4553869"/>
                  </a:cubicBezTo>
                  <a:cubicBezTo>
                    <a:pt x="5330351" y="4392883"/>
                    <a:pt x="5456662" y="4285824"/>
                    <a:pt x="5557996" y="4199923"/>
                  </a:cubicBezTo>
                  <a:cubicBezTo>
                    <a:pt x="5717237" y="4065026"/>
                    <a:pt x="5822390" y="3975943"/>
                    <a:pt x="5867251" y="3794276"/>
                  </a:cubicBezTo>
                  <a:cubicBezTo>
                    <a:pt x="5918475" y="3587476"/>
                    <a:pt x="5857706" y="3421082"/>
                    <a:pt x="5787392" y="3228281"/>
                  </a:cubicBezTo>
                  <a:cubicBezTo>
                    <a:pt x="5722646" y="3050910"/>
                    <a:pt x="5649310" y="2849836"/>
                    <a:pt x="5644696" y="2573043"/>
                  </a:cubicBezTo>
                  <a:cubicBezTo>
                    <a:pt x="5642151" y="2419533"/>
                    <a:pt x="5661718" y="2312315"/>
                    <a:pt x="5679058" y="2217824"/>
                  </a:cubicBezTo>
                  <a:cubicBezTo>
                    <a:pt x="5701011" y="2097402"/>
                    <a:pt x="5718351" y="2002274"/>
                    <a:pt x="5676672" y="1865150"/>
                  </a:cubicBezTo>
                  <a:cubicBezTo>
                    <a:pt x="5603971" y="1623830"/>
                    <a:pt x="5446481" y="1509613"/>
                    <a:pt x="5228539" y="1351490"/>
                  </a:cubicBezTo>
                  <a:cubicBezTo>
                    <a:pt x="5099205" y="1257635"/>
                    <a:pt x="4952532" y="1151212"/>
                    <a:pt x="4793610" y="995794"/>
                  </a:cubicBezTo>
                  <a:cubicBezTo>
                    <a:pt x="4606689" y="813174"/>
                    <a:pt x="4495810" y="648688"/>
                    <a:pt x="4397974" y="503451"/>
                  </a:cubicBezTo>
                  <a:cubicBezTo>
                    <a:pt x="4265778" y="307150"/>
                    <a:pt x="4170170" y="165253"/>
                    <a:pt x="3960341" y="95100"/>
                  </a:cubicBezTo>
                  <a:cubicBezTo>
                    <a:pt x="3765148" y="29879"/>
                    <a:pt x="3608930" y="76647"/>
                    <a:pt x="3427895" y="130734"/>
                  </a:cubicBezTo>
                  <a:cubicBezTo>
                    <a:pt x="3271996" y="177343"/>
                    <a:pt x="3096211" y="230634"/>
                    <a:pt x="2855520" y="227293"/>
                  </a:cubicBezTo>
                  <a:lnTo>
                    <a:pt x="2855520" y="227293"/>
                  </a:lnTo>
                  <a:cubicBezTo>
                    <a:pt x="2616898" y="224430"/>
                    <a:pt x="2446363" y="163185"/>
                    <a:pt x="2295872" y="109258"/>
                  </a:cubicBezTo>
                  <a:cubicBezTo>
                    <a:pt x="2180697" y="67898"/>
                    <a:pt x="2082225" y="32424"/>
                    <a:pt x="1978186" y="32424"/>
                  </a:cubicBezTo>
                  <a:close/>
                </a:path>
              </a:pathLst>
            </a:custGeom>
            <a:gradFill>
              <a:gsLst>
                <a:gs pos="100000">
                  <a:schemeClr val="accent2"/>
                </a:gs>
                <a:gs pos="0">
                  <a:schemeClr val="accent1"/>
                </a:gs>
              </a:gsLst>
              <a:lin ang="0" scaled="1"/>
            </a:gradFill>
            <a:ln w="1589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39" name="Freeform 38">
              <a:extLst>
                <a:ext uri="{FF2B5EF4-FFF2-40B4-BE49-F238E27FC236}">
                  <a16:creationId xmlns:a16="http://schemas.microsoft.com/office/drawing/2014/main" id="{6180BED0-611A-4113-D2E2-0C995BDCE8B9}"/>
                </a:ext>
              </a:extLst>
            </p:cNvPr>
            <p:cNvSpPr/>
            <p:nvPr/>
          </p:nvSpPr>
          <p:spPr>
            <a:xfrm>
              <a:off x="-2906305" y="541112"/>
              <a:ext cx="5803902" cy="5755790"/>
            </a:xfrm>
            <a:custGeom>
              <a:avLst/>
              <a:gdLst>
                <a:gd name="connsiteX0" fmla="*/ 2159577 w 5803902"/>
                <a:gd name="connsiteY0" fmla="*/ 5755791 h 5755790"/>
                <a:gd name="connsiteX1" fmla="*/ 1881502 w 5803902"/>
                <a:gd name="connsiteY1" fmla="*/ 5702659 h 5755790"/>
                <a:gd name="connsiteX2" fmla="*/ 1425893 w 5803902"/>
                <a:gd name="connsiteY2" fmla="*/ 5291923 h 5755790"/>
                <a:gd name="connsiteX3" fmla="*/ 1179635 w 5803902"/>
                <a:gd name="connsiteY3" fmla="*/ 4986018 h 5755790"/>
                <a:gd name="connsiteX4" fmla="*/ 594056 w 5803902"/>
                <a:gd name="connsiteY4" fmla="*/ 4603437 h 5755790"/>
                <a:gd name="connsiteX5" fmla="*/ 208442 w 5803902"/>
                <a:gd name="connsiteY5" fmla="*/ 4289897 h 5755790"/>
                <a:gd name="connsiteX6" fmla="*/ 164854 w 5803902"/>
                <a:gd name="connsiteY6" fmla="*/ 3526804 h 5755790"/>
                <a:gd name="connsiteX7" fmla="*/ 197148 w 5803902"/>
                <a:gd name="connsiteY7" fmla="*/ 2952855 h 5755790"/>
                <a:gd name="connsiteX8" fmla="*/ 78950 w 5803902"/>
                <a:gd name="connsiteY8" fmla="*/ 2332932 h 5755790"/>
                <a:gd name="connsiteX9" fmla="*/ 41884 w 5803902"/>
                <a:gd name="connsiteY9" fmla="*/ 1745619 h 5755790"/>
                <a:gd name="connsiteX10" fmla="*/ 473472 w 5803902"/>
                <a:gd name="connsiteY10" fmla="*/ 1359540 h 5755790"/>
                <a:gd name="connsiteX11" fmla="*/ 968534 w 5803902"/>
                <a:gd name="connsiteY11" fmla="*/ 1020706 h 5755790"/>
                <a:gd name="connsiteX12" fmla="*/ 1355420 w 5803902"/>
                <a:gd name="connsiteY12" fmla="*/ 484457 h 5755790"/>
                <a:gd name="connsiteX13" fmla="*/ 1786531 w 5803902"/>
                <a:gd name="connsiteY13" fmla="*/ 27747 h 5755790"/>
                <a:gd name="connsiteX14" fmla="*/ 2275229 w 5803902"/>
                <a:gd name="connsiteY14" fmla="*/ 71971 h 5755790"/>
                <a:gd name="connsiteX15" fmla="*/ 2804811 w 5803902"/>
                <a:gd name="connsiteY15" fmla="*/ 177120 h 5755790"/>
                <a:gd name="connsiteX16" fmla="*/ 2804811 w 5803902"/>
                <a:gd name="connsiteY16" fmla="*/ 177120 h 5755790"/>
                <a:gd name="connsiteX17" fmla="*/ 3349029 w 5803902"/>
                <a:gd name="connsiteY17" fmla="*/ 92332 h 5755790"/>
                <a:gd name="connsiteX18" fmla="*/ 3903746 w 5803902"/>
                <a:gd name="connsiteY18" fmla="*/ 65926 h 5755790"/>
                <a:gd name="connsiteX19" fmla="*/ 4367310 w 5803902"/>
                <a:gd name="connsiteY19" fmla="*/ 488911 h 5755790"/>
                <a:gd name="connsiteX20" fmla="*/ 4745128 w 5803902"/>
                <a:gd name="connsiteY20" fmla="*/ 952780 h 5755790"/>
                <a:gd name="connsiteX21" fmla="*/ 5150150 w 5803902"/>
                <a:gd name="connsiteY21" fmla="*/ 1292091 h 5755790"/>
                <a:gd name="connsiteX22" fmla="*/ 5609736 w 5803902"/>
                <a:gd name="connsiteY22" fmla="*/ 1835180 h 5755790"/>
                <a:gd name="connsiteX23" fmla="*/ 5615622 w 5803902"/>
                <a:gd name="connsiteY23" fmla="*/ 2204557 h 5755790"/>
                <a:gd name="connsiteX24" fmla="*/ 5585556 w 5803902"/>
                <a:gd name="connsiteY24" fmla="*/ 2541641 h 5755790"/>
                <a:gd name="connsiteX25" fmla="*/ 5712185 w 5803902"/>
                <a:gd name="connsiteY25" fmla="*/ 3163950 h 5755790"/>
                <a:gd name="connsiteX26" fmla="*/ 5782021 w 5803902"/>
                <a:gd name="connsiteY26" fmla="*/ 3748399 h 5755790"/>
                <a:gd name="connsiteX27" fmla="*/ 5460995 w 5803902"/>
                <a:gd name="connsiteY27" fmla="*/ 4175520 h 5755790"/>
                <a:gd name="connsiteX28" fmla="*/ 5111016 w 5803902"/>
                <a:gd name="connsiteY28" fmla="*/ 4511332 h 5755790"/>
                <a:gd name="connsiteX29" fmla="*/ 4684518 w 5803902"/>
                <a:gd name="connsiteY29" fmla="*/ 5087350 h 5755790"/>
                <a:gd name="connsiteX30" fmla="*/ 4127574 w 5803902"/>
                <a:gd name="connsiteY30" fmla="*/ 5635370 h 5755790"/>
                <a:gd name="connsiteX31" fmla="*/ 3643012 w 5803902"/>
                <a:gd name="connsiteY31" fmla="*/ 5659231 h 5755790"/>
                <a:gd name="connsiteX32" fmla="*/ 3137610 w 5803902"/>
                <a:gd name="connsiteY32" fmla="*/ 5622962 h 5755790"/>
                <a:gd name="connsiteX33" fmla="*/ 2523078 w 5803902"/>
                <a:gd name="connsiteY33" fmla="*/ 5704568 h 5755790"/>
                <a:gd name="connsiteX34" fmla="*/ 2159577 w 5803902"/>
                <a:gd name="connsiteY34" fmla="*/ 5755791 h 5755790"/>
                <a:gd name="connsiteX35" fmla="*/ 1951498 w 5803902"/>
                <a:gd name="connsiteY35" fmla="*/ 35701 h 5755790"/>
                <a:gd name="connsiteX36" fmla="*/ 1798144 w 5803902"/>
                <a:gd name="connsiteY36" fmla="*/ 61790 h 5755790"/>
                <a:gd name="connsiteX37" fmla="*/ 1386759 w 5803902"/>
                <a:gd name="connsiteY37" fmla="*/ 501956 h 5755790"/>
                <a:gd name="connsiteX38" fmla="*/ 993510 w 5803902"/>
                <a:gd name="connsiteY38" fmla="*/ 1046476 h 5755790"/>
                <a:gd name="connsiteX39" fmla="*/ 490176 w 5803902"/>
                <a:gd name="connsiteY39" fmla="*/ 1391355 h 5755790"/>
                <a:gd name="connsiteX40" fmla="*/ 75132 w 5803902"/>
                <a:gd name="connsiteY40" fmla="*/ 1759300 h 5755790"/>
                <a:gd name="connsiteX41" fmla="*/ 113312 w 5803902"/>
                <a:gd name="connsiteY41" fmla="*/ 2322115 h 5755790"/>
                <a:gd name="connsiteX42" fmla="*/ 233259 w 5803902"/>
                <a:gd name="connsiteY42" fmla="*/ 2952218 h 5755790"/>
                <a:gd name="connsiteX43" fmla="*/ 200806 w 5803902"/>
                <a:gd name="connsiteY43" fmla="*/ 3530463 h 5755790"/>
                <a:gd name="connsiteX44" fmla="*/ 241849 w 5803902"/>
                <a:gd name="connsiteY44" fmla="*/ 4276216 h 5755790"/>
                <a:gd name="connsiteX45" fmla="*/ 606782 w 5803902"/>
                <a:gd name="connsiteY45" fmla="*/ 4569713 h 5755790"/>
                <a:gd name="connsiteX46" fmla="*/ 1206520 w 5803902"/>
                <a:gd name="connsiteY46" fmla="*/ 4961997 h 5755790"/>
                <a:gd name="connsiteX47" fmla="*/ 1455005 w 5803902"/>
                <a:gd name="connsiteY47" fmla="*/ 5270447 h 5755790"/>
                <a:gd name="connsiteX48" fmla="*/ 1894865 w 5803902"/>
                <a:gd name="connsiteY48" fmla="*/ 5669094 h 5755790"/>
                <a:gd name="connsiteX49" fmla="*/ 2515442 w 5803902"/>
                <a:gd name="connsiteY49" fmla="*/ 5669253 h 5755790"/>
                <a:gd name="connsiteX50" fmla="*/ 3136337 w 5803902"/>
                <a:gd name="connsiteY50" fmla="*/ 5587011 h 5755790"/>
                <a:gd name="connsiteX51" fmla="*/ 3648102 w 5803902"/>
                <a:gd name="connsiteY51" fmla="*/ 5623598 h 5755790"/>
                <a:gd name="connsiteX52" fmla="*/ 4114370 w 5803902"/>
                <a:gd name="connsiteY52" fmla="*/ 5601805 h 5755790"/>
                <a:gd name="connsiteX53" fmla="*/ 4653974 w 5803902"/>
                <a:gd name="connsiteY53" fmla="*/ 5067942 h 5755790"/>
                <a:gd name="connsiteX54" fmla="*/ 5083972 w 5803902"/>
                <a:gd name="connsiteY54" fmla="*/ 4487311 h 5755790"/>
                <a:gd name="connsiteX55" fmla="*/ 5437133 w 5803902"/>
                <a:gd name="connsiteY55" fmla="*/ 4148318 h 5755790"/>
                <a:gd name="connsiteX56" fmla="*/ 5746864 w 5803902"/>
                <a:gd name="connsiteY56" fmla="*/ 3739490 h 5755790"/>
                <a:gd name="connsiteX57" fmla="*/ 5677823 w 5803902"/>
                <a:gd name="connsiteY57" fmla="*/ 3175562 h 5755790"/>
                <a:gd name="connsiteX58" fmla="*/ 5549286 w 5803902"/>
                <a:gd name="connsiteY58" fmla="*/ 2542277 h 5755790"/>
                <a:gd name="connsiteX59" fmla="*/ 5579829 w 5803902"/>
                <a:gd name="connsiteY59" fmla="*/ 2198671 h 5755790"/>
                <a:gd name="connsiteX60" fmla="*/ 5575057 w 5803902"/>
                <a:gd name="connsiteY60" fmla="*/ 1845679 h 5755790"/>
                <a:gd name="connsiteX61" fmla="*/ 5128356 w 5803902"/>
                <a:gd name="connsiteY61" fmla="*/ 1320884 h 5755790"/>
                <a:gd name="connsiteX62" fmla="*/ 4719675 w 5803902"/>
                <a:gd name="connsiteY62" fmla="*/ 978709 h 5755790"/>
                <a:gd name="connsiteX63" fmla="*/ 4337562 w 5803902"/>
                <a:gd name="connsiteY63" fmla="*/ 509591 h 5755790"/>
                <a:gd name="connsiteX64" fmla="*/ 3892133 w 5803902"/>
                <a:gd name="connsiteY64" fmla="*/ 100127 h 5755790"/>
                <a:gd name="connsiteX65" fmla="*/ 3358574 w 5803902"/>
                <a:gd name="connsiteY65" fmla="*/ 127170 h 5755790"/>
                <a:gd name="connsiteX66" fmla="*/ 2804493 w 5803902"/>
                <a:gd name="connsiteY66" fmla="*/ 213390 h 5755790"/>
                <a:gd name="connsiteX67" fmla="*/ 2804493 w 5803902"/>
                <a:gd name="connsiteY67" fmla="*/ 213390 h 5755790"/>
                <a:gd name="connsiteX68" fmla="*/ 2263775 w 5803902"/>
                <a:gd name="connsiteY68" fmla="*/ 106331 h 5755790"/>
                <a:gd name="connsiteX69" fmla="*/ 1951498 w 5803902"/>
                <a:gd name="connsiteY69" fmla="*/ 35701 h 5755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5803902" h="5755790">
                  <a:moveTo>
                    <a:pt x="2159577" y="5755791"/>
                  </a:moveTo>
                  <a:cubicBezTo>
                    <a:pt x="2069537" y="5755791"/>
                    <a:pt x="1979337" y="5741315"/>
                    <a:pt x="1881502" y="5702659"/>
                  </a:cubicBezTo>
                  <a:cubicBezTo>
                    <a:pt x="1670719" y="5619303"/>
                    <a:pt x="1562703" y="5474861"/>
                    <a:pt x="1425893" y="5291923"/>
                  </a:cubicBezTo>
                  <a:cubicBezTo>
                    <a:pt x="1357965" y="5201090"/>
                    <a:pt x="1280970" y="5098167"/>
                    <a:pt x="1179635" y="4986018"/>
                  </a:cubicBezTo>
                  <a:cubicBezTo>
                    <a:pt x="959307" y="4740562"/>
                    <a:pt x="756796" y="4664523"/>
                    <a:pt x="594056" y="4603437"/>
                  </a:cubicBezTo>
                  <a:cubicBezTo>
                    <a:pt x="424634" y="4539648"/>
                    <a:pt x="290688" y="4489379"/>
                    <a:pt x="208442" y="4289897"/>
                  </a:cubicBezTo>
                  <a:cubicBezTo>
                    <a:pt x="111880" y="4056531"/>
                    <a:pt x="136378" y="3811075"/>
                    <a:pt x="164854" y="3526804"/>
                  </a:cubicBezTo>
                  <a:cubicBezTo>
                    <a:pt x="181717" y="3358183"/>
                    <a:pt x="200966" y="3166972"/>
                    <a:pt x="197148" y="2952855"/>
                  </a:cubicBezTo>
                  <a:cubicBezTo>
                    <a:pt x="192534" y="2697059"/>
                    <a:pt x="132242" y="2503621"/>
                    <a:pt x="78950" y="2332932"/>
                  </a:cubicBezTo>
                  <a:cubicBezTo>
                    <a:pt x="14522" y="2126132"/>
                    <a:pt x="-41316" y="1947647"/>
                    <a:pt x="41884" y="1745619"/>
                  </a:cubicBezTo>
                  <a:cubicBezTo>
                    <a:pt x="124288" y="1545342"/>
                    <a:pt x="286074" y="1459281"/>
                    <a:pt x="473472" y="1359540"/>
                  </a:cubicBezTo>
                  <a:cubicBezTo>
                    <a:pt x="623963" y="1279365"/>
                    <a:pt x="794658" y="1188532"/>
                    <a:pt x="968534" y="1020706"/>
                  </a:cubicBezTo>
                  <a:cubicBezTo>
                    <a:pt x="1157363" y="838403"/>
                    <a:pt x="1262675" y="650374"/>
                    <a:pt x="1355420" y="484457"/>
                  </a:cubicBezTo>
                  <a:cubicBezTo>
                    <a:pt x="1470277" y="279407"/>
                    <a:pt x="1569385" y="102195"/>
                    <a:pt x="1786531" y="27747"/>
                  </a:cubicBezTo>
                  <a:cubicBezTo>
                    <a:pt x="1962475" y="-32384"/>
                    <a:pt x="2107398" y="15816"/>
                    <a:pt x="2275229" y="71971"/>
                  </a:cubicBezTo>
                  <a:cubicBezTo>
                    <a:pt x="2419198" y="120171"/>
                    <a:pt x="2582415" y="174734"/>
                    <a:pt x="2804811" y="177120"/>
                  </a:cubicBezTo>
                  <a:lnTo>
                    <a:pt x="2804811" y="177120"/>
                  </a:lnTo>
                  <a:cubicBezTo>
                    <a:pt x="3029435" y="179825"/>
                    <a:pt x="3199174" y="133215"/>
                    <a:pt x="3349029" y="92332"/>
                  </a:cubicBezTo>
                  <a:cubicBezTo>
                    <a:pt x="3537063" y="40950"/>
                    <a:pt x="3699327" y="-3432"/>
                    <a:pt x="3903746" y="65926"/>
                  </a:cubicBezTo>
                  <a:cubicBezTo>
                    <a:pt x="4125347" y="141010"/>
                    <a:pt x="4232091" y="294678"/>
                    <a:pt x="4367310" y="488911"/>
                  </a:cubicBezTo>
                  <a:cubicBezTo>
                    <a:pt x="4462759" y="626354"/>
                    <a:pt x="4570934" y="781931"/>
                    <a:pt x="4745128" y="952780"/>
                  </a:cubicBezTo>
                  <a:cubicBezTo>
                    <a:pt x="4892279" y="1097540"/>
                    <a:pt x="5029407" y="1200940"/>
                    <a:pt x="5150150" y="1292091"/>
                  </a:cubicBezTo>
                  <a:cubicBezTo>
                    <a:pt x="5364432" y="1453554"/>
                    <a:pt x="5533536" y="1581134"/>
                    <a:pt x="5609736" y="1835180"/>
                  </a:cubicBezTo>
                  <a:cubicBezTo>
                    <a:pt x="5653324" y="1979144"/>
                    <a:pt x="5636621" y="2078567"/>
                    <a:pt x="5615622" y="2204557"/>
                  </a:cubicBezTo>
                  <a:cubicBezTo>
                    <a:pt x="5600351" y="2295389"/>
                    <a:pt x="5583329" y="2398312"/>
                    <a:pt x="5585556" y="2541641"/>
                  </a:cubicBezTo>
                  <a:cubicBezTo>
                    <a:pt x="5589692" y="2800777"/>
                    <a:pt x="5654756" y="2993738"/>
                    <a:pt x="5712185" y="3163950"/>
                  </a:cubicBezTo>
                  <a:cubicBezTo>
                    <a:pt x="5779158" y="3362319"/>
                    <a:pt x="5836905" y="3533486"/>
                    <a:pt x="5782021" y="3748399"/>
                  </a:cubicBezTo>
                  <a:cubicBezTo>
                    <a:pt x="5733024" y="3940245"/>
                    <a:pt x="5624690" y="4033783"/>
                    <a:pt x="5460995" y="4175520"/>
                  </a:cubicBezTo>
                  <a:cubicBezTo>
                    <a:pt x="5365228" y="4258399"/>
                    <a:pt x="5246076" y="4361481"/>
                    <a:pt x="5111016" y="4511332"/>
                  </a:cubicBezTo>
                  <a:cubicBezTo>
                    <a:pt x="4915346" y="4728472"/>
                    <a:pt x="4792694" y="4919046"/>
                    <a:pt x="4684518" y="5087350"/>
                  </a:cubicBezTo>
                  <a:cubicBezTo>
                    <a:pt x="4518755" y="5345213"/>
                    <a:pt x="4398967" y="5531334"/>
                    <a:pt x="4127574" y="5635370"/>
                  </a:cubicBezTo>
                  <a:cubicBezTo>
                    <a:pt x="3947494" y="5704887"/>
                    <a:pt x="3819751" y="5685638"/>
                    <a:pt x="3643012" y="5659231"/>
                  </a:cubicBezTo>
                  <a:cubicBezTo>
                    <a:pt x="3516224" y="5640301"/>
                    <a:pt x="3358733" y="5616439"/>
                    <a:pt x="3137610" y="5622962"/>
                  </a:cubicBezTo>
                  <a:cubicBezTo>
                    <a:pt x="2881329" y="5630280"/>
                    <a:pt x="2691068" y="5669730"/>
                    <a:pt x="2523078" y="5704568"/>
                  </a:cubicBezTo>
                  <a:cubicBezTo>
                    <a:pt x="2391359" y="5731770"/>
                    <a:pt x="2275547" y="5755791"/>
                    <a:pt x="2159577" y="5755791"/>
                  </a:cubicBezTo>
                  <a:close/>
                  <a:moveTo>
                    <a:pt x="1951498" y="35701"/>
                  </a:moveTo>
                  <a:cubicBezTo>
                    <a:pt x="1902183" y="35701"/>
                    <a:pt x="1851913" y="43337"/>
                    <a:pt x="1798144" y="61790"/>
                  </a:cubicBezTo>
                  <a:cubicBezTo>
                    <a:pt x="1594042" y="131783"/>
                    <a:pt x="1502570" y="295156"/>
                    <a:pt x="1386759" y="501956"/>
                  </a:cubicBezTo>
                  <a:cubicBezTo>
                    <a:pt x="1292742" y="670100"/>
                    <a:pt x="1185998" y="860515"/>
                    <a:pt x="993510" y="1046476"/>
                  </a:cubicBezTo>
                  <a:cubicBezTo>
                    <a:pt x="815815" y="1217961"/>
                    <a:pt x="642894" y="1310067"/>
                    <a:pt x="490176" y="1391355"/>
                  </a:cubicBezTo>
                  <a:cubicBezTo>
                    <a:pt x="301505" y="1491733"/>
                    <a:pt x="152605" y="1571112"/>
                    <a:pt x="75132" y="1759300"/>
                  </a:cubicBezTo>
                  <a:cubicBezTo>
                    <a:pt x="-3136" y="1949397"/>
                    <a:pt x="48247" y="2113883"/>
                    <a:pt x="113312" y="2322115"/>
                  </a:cubicBezTo>
                  <a:cubicBezTo>
                    <a:pt x="167399" y="2495190"/>
                    <a:pt x="228487" y="2691173"/>
                    <a:pt x="233259" y="2952218"/>
                  </a:cubicBezTo>
                  <a:cubicBezTo>
                    <a:pt x="237077" y="3168404"/>
                    <a:pt x="217828" y="3360728"/>
                    <a:pt x="200806" y="3530463"/>
                  </a:cubicBezTo>
                  <a:cubicBezTo>
                    <a:pt x="171695" y="3821415"/>
                    <a:pt x="148628" y="4051122"/>
                    <a:pt x="241849" y="4276216"/>
                  </a:cubicBezTo>
                  <a:cubicBezTo>
                    <a:pt x="318050" y="4461223"/>
                    <a:pt x="439111" y="4506719"/>
                    <a:pt x="606782" y="4569713"/>
                  </a:cubicBezTo>
                  <a:cubicBezTo>
                    <a:pt x="773182" y="4632230"/>
                    <a:pt x="980306" y="4710019"/>
                    <a:pt x="1206520" y="4961997"/>
                  </a:cubicBezTo>
                  <a:cubicBezTo>
                    <a:pt x="1309127" y="5075260"/>
                    <a:pt x="1386600" y="5178978"/>
                    <a:pt x="1455005" y="5270447"/>
                  </a:cubicBezTo>
                  <a:cubicBezTo>
                    <a:pt x="1593565" y="5455772"/>
                    <a:pt x="1693627" y="5589556"/>
                    <a:pt x="1894865" y="5669094"/>
                  </a:cubicBezTo>
                  <a:cubicBezTo>
                    <a:pt x="2108512" y="5753564"/>
                    <a:pt x="2279206" y="5718249"/>
                    <a:pt x="2515442" y="5669253"/>
                  </a:cubicBezTo>
                  <a:cubicBezTo>
                    <a:pt x="2684864" y="5634097"/>
                    <a:pt x="2876875" y="5594328"/>
                    <a:pt x="3136337" y="5587011"/>
                  </a:cubicBezTo>
                  <a:cubicBezTo>
                    <a:pt x="3360642" y="5580488"/>
                    <a:pt x="3520042" y="5604509"/>
                    <a:pt x="3648102" y="5623598"/>
                  </a:cubicBezTo>
                  <a:cubicBezTo>
                    <a:pt x="3819433" y="5649210"/>
                    <a:pt x="3943198" y="5667822"/>
                    <a:pt x="4114370" y="5601805"/>
                  </a:cubicBezTo>
                  <a:cubicBezTo>
                    <a:pt x="4374787" y="5501904"/>
                    <a:pt x="4491871" y="5319920"/>
                    <a:pt x="4653974" y="5067942"/>
                  </a:cubicBezTo>
                  <a:cubicBezTo>
                    <a:pt x="4762945" y="4898525"/>
                    <a:pt x="4886393" y="4706519"/>
                    <a:pt x="5083972" y="4487311"/>
                  </a:cubicBezTo>
                  <a:cubicBezTo>
                    <a:pt x="5220464" y="4335870"/>
                    <a:pt x="5340570" y="4231834"/>
                    <a:pt x="5437133" y="4148318"/>
                  </a:cubicBezTo>
                  <a:cubicBezTo>
                    <a:pt x="5595737" y="4011035"/>
                    <a:pt x="5700731" y="3920361"/>
                    <a:pt x="5746864" y="3739490"/>
                  </a:cubicBezTo>
                  <a:cubicBezTo>
                    <a:pt x="5799202" y="3534918"/>
                    <a:pt x="5743047" y="3368364"/>
                    <a:pt x="5677823" y="3175562"/>
                  </a:cubicBezTo>
                  <a:cubicBezTo>
                    <a:pt x="5619599" y="3002805"/>
                    <a:pt x="5553421" y="2806981"/>
                    <a:pt x="5549286" y="2542277"/>
                  </a:cubicBezTo>
                  <a:cubicBezTo>
                    <a:pt x="5546899" y="2395767"/>
                    <a:pt x="5564398" y="2290935"/>
                    <a:pt x="5579829" y="2198671"/>
                  </a:cubicBezTo>
                  <a:cubicBezTo>
                    <a:pt x="5600032" y="2077295"/>
                    <a:pt x="5616099" y="1981531"/>
                    <a:pt x="5575057" y="1845679"/>
                  </a:cubicBezTo>
                  <a:cubicBezTo>
                    <a:pt x="5502356" y="1602927"/>
                    <a:pt x="5345502" y="1484574"/>
                    <a:pt x="5128356" y="1320884"/>
                  </a:cubicBezTo>
                  <a:cubicBezTo>
                    <a:pt x="5006499" y="1229096"/>
                    <a:pt x="4868576" y="1125060"/>
                    <a:pt x="4719675" y="978709"/>
                  </a:cubicBezTo>
                  <a:cubicBezTo>
                    <a:pt x="4543095" y="805474"/>
                    <a:pt x="4433965" y="648306"/>
                    <a:pt x="4337562" y="509591"/>
                  </a:cubicBezTo>
                  <a:cubicBezTo>
                    <a:pt x="4201070" y="313290"/>
                    <a:pt x="4102598" y="171553"/>
                    <a:pt x="3892133" y="100127"/>
                  </a:cubicBezTo>
                  <a:cubicBezTo>
                    <a:pt x="3698213" y="34428"/>
                    <a:pt x="3540882" y="77379"/>
                    <a:pt x="3358574" y="127170"/>
                  </a:cubicBezTo>
                  <a:cubicBezTo>
                    <a:pt x="3206492" y="168689"/>
                    <a:pt x="3032457" y="215935"/>
                    <a:pt x="2804493" y="213390"/>
                  </a:cubicBezTo>
                  <a:lnTo>
                    <a:pt x="2804493" y="213390"/>
                  </a:lnTo>
                  <a:cubicBezTo>
                    <a:pt x="2576370" y="210686"/>
                    <a:pt x="2410289" y="155168"/>
                    <a:pt x="2263775" y="106331"/>
                  </a:cubicBezTo>
                  <a:cubicBezTo>
                    <a:pt x="2150350" y="68153"/>
                    <a:pt x="2053151" y="35701"/>
                    <a:pt x="1951498" y="35701"/>
                  </a:cubicBezTo>
                  <a:close/>
                </a:path>
              </a:pathLst>
            </a:custGeom>
            <a:gradFill>
              <a:gsLst>
                <a:gs pos="100000">
                  <a:schemeClr val="accent2"/>
                </a:gs>
                <a:gs pos="0">
                  <a:schemeClr val="accent1"/>
                </a:gs>
              </a:gsLst>
              <a:lin ang="0" scaled="1"/>
            </a:gradFill>
            <a:ln w="1589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40" name="Freeform 39">
              <a:extLst>
                <a:ext uri="{FF2B5EF4-FFF2-40B4-BE49-F238E27FC236}">
                  <a16:creationId xmlns:a16="http://schemas.microsoft.com/office/drawing/2014/main" id="{A026DC92-14C2-5D63-464C-1C6BDB98181F}"/>
                </a:ext>
              </a:extLst>
            </p:cNvPr>
            <p:cNvSpPr/>
            <p:nvPr/>
          </p:nvSpPr>
          <p:spPr>
            <a:xfrm>
              <a:off x="-2849312" y="594779"/>
              <a:ext cx="5689303" cy="5648196"/>
            </a:xfrm>
            <a:custGeom>
              <a:avLst/>
              <a:gdLst>
                <a:gd name="connsiteX0" fmla="*/ 2124219 w 5689303"/>
                <a:gd name="connsiteY0" fmla="*/ 5648197 h 5648196"/>
                <a:gd name="connsiteX1" fmla="*/ 1835327 w 5689303"/>
                <a:gd name="connsiteY1" fmla="*/ 5593156 h 5648196"/>
                <a:gd name="connsiteX2" fmla="*/ 1373672 w 5689303"/>
                <a:gd name="connsiteY2" fmla="*/ 5183056 h 5648196"/>
                <a:gd name="connsiteX3" fmla="*/ 1140936 w 5689303"/>
                <a:gd name="connsiteY3" fmla="*/ 4898785 h 5648196"/>
                <a:gd name="connsiteX4" fmla="*/ 582719 w 5689303"/>
                <a:gd name="connsiteY4" fmla="*/ 4524477 h 5648196"/>
                <a:gd name="connsiteX5" fmla="*/ 200606 w 5689303"/>
                <a:gd name="connsiteY5" fmla="*/ 4202983 h 5648196"/>
                <a:gd name="connsiteX6" fmla="*/ 150018 w 5689303"/>
                <a:gd name="connsiteY6" fmla="*/ 3436708 h 5648196"/>
                <a:gd name="connsiteX7" fmla="*/ 176743 w 5689303"/>
                <a:gd name="connsiteY7" fmla="*/ 2894733 h 5648196"/>
                <a:gd name="connsiteX8" fmla="*/ 71431 w 5689303"/>
                <a:gd name="connsiteY8" fmla="*/ 2299786 h 5648196"/>
                <a:gd name="connsiteX9" fmla="*/ 43433 w 5689303"/>
                <a:gd name="connsiteY9" fmla="*/ 1710882 h 5648196"/>
                <a:gd name="connsiteX10" fmla="*/ 470408 w 5689303"/>
                <a:gd name="connsiteY10" fmla="*/ 1318121 h 5648196"/>
                <a:gd name="connsiteX11" fmla="*/ 940175 w 5689303"/>
                <a:gd name="connsiteY11" fmla="*/ 988196 h 5648196"/>
                <a:gd name="connsiteX12" fmla="*/ 1316562 w 5689303"/>
                <a:gd name="connsiteY12" fmla="*/ 480422 h 5648196"/>
                <a:gd name="connsiteX13" fmla="*/ 1755786 w 5689303"/>
                <a:gd name="connsiteY13" fmla="*/ 28802 h 5648196"/>
                <a:gd name="connsiteX14" fmla="*/ 2244803 w 5689303"/>
                <a:gd name="connsiteY14" fmla="*/ 65549 h 5648196"/>
                <a:gd name="connsiteX15" fmla="*/ 2754659 w 5689303"/>
                <a:gd name="connsiteY15" fmla="*/ 160041 h 5648196"/>
                <a:gd name="connsiteX16" fmla="*/ 3279628 w 5689303"/>
                <a:gd name="connsiteY16" fmla="*/ 85434 h 5648196"/>
                <a:gd name="connsiteX17" fmla="*/ 3837686 w 5689303"/>
                <a:gd name="connsiteY17" fmla="*/ 68094 h 5648196"/>
                <a:gd name="connsiteX18" fmla="*/ 4311112 w 5689303"/>
                <a:gd name="connsiteY18" fmla="*/ 493784 h 5648196"/>
                <a:gd name="connsiteX19" fmla="*/ 4674295 w 5689303"/>
                <a:gd name="connsiteY19" fmla="*/ 933791 h 5648196"/>
                <a:gd name="connsiteX20" fmla="*/ 5052432 w 5689303"/>
                <a:gd name="connsiteY20" fmla="*/ 1258308 h 5648196"/>
                <a:gd name="connsiteX21" fmla="*/ 5511859 w 5689303"/>
                <a:gd name="connsiteY21" fmla="*/ 1815078 h 5648196"/>
                <a:gd name="connsiteX22" fmla="*/ 5520450 w 5689303"/>
                <a:gd name="connsiteY22" fmla="*/ 2186205 h 5648196"/>
                <a:gd name="connsiteX23" fmla="*/ 5494042 w 5689303"/>
                <a:gd name="connsiteY23" fmla="*/ 2511040 h 5648196"/>
                <a:gd name="connsiteX24" fmla="*/ 5606990 w 5689303"/>
                <a:gd name="connsiteY24" fmla="*/ 3110442 h 5648196"/>
                <a:gd name="connsiteX25" fmla="*/ 5665373 w 5689303"/>
                <a:gd name="connsiteY25" fmla="*/ 3695050 h 5648196"/>
                <a:gd name="connsiteX26" fmla="*/ 5342755 w 5689303"/>
                <a:gd name="connsiteY26" fmla="*/ 4127102 h 5648196"/>
                <a:gd name="connsiteX27" fmla="*/ 5012661 w 5689303"/>
                <a:gd name="connsiteY27" fmla="*/ 4447325 h 5648196"/>
                <a:gd name="connsiteX28" fmla="*/ 4604458 w 5689303"/>
                <a:gd name="connsiteY28" fmla="*/ 4987709 h 5648196"/>
                <a:gd name="connsiteX29" fmla="*/ 4035106 w 5689303"/>
                <a:gd name="connsiteY29" fmla="*/ 5535093 h 5648196"/>
                <a:gd name="connsiteX30" fmla="*/ 3548316 w 5689303"/>
                <a:gd name="connsiteY30" fmla="*/ 5562295 h 5648196"/>
                <a:gd name="connsiteX31" fmla="*/ 3065186 w 5689303"/>
                <a:gd name="connsiteY31" fmla="*/ 5530957 h 5648196"/>
                <a:gd name="connsiteX32" fmla="*/ 2480084 w 5689303"/>
                <a:gd name="connsiteY32" fmla="*/ 5602542 h 5648196"/>
                <a:gd name="connsiteX33" fmla="*/ 2124219 w 5689303"/>
                <a:gd name="connsiteY33" fmla="*/ 5648197 h 5648196"/>
                <a:gd name="connsiteX34" fmla="*/ 1926640 w 5689303"/>
                <a:gd name="connsiteY34" fmla="*/ 38983 h 5648196"/>
                <a:gd name="connsiteX35" fmla="*/ 1768513 w 5689303"/>
                <a:gd name="connsiteY35" fmla="*/ 65867 h 5648196"/>
                <a:gd name="connsiteX36" fmla="*/ 1350287 w 5689303"/>
                <a:gd name="connsiteY36" fmla="*/ 500148 h 5648196"/>
                <a:gd name="connsiteX37" fmla="*/ 967378 w 5689303"/>
                <a:gd name="connsiteY37" fmla="*/ 1016352 h 5648196"/>
                <a:gd name="connsiteX38" fmla="*/ 489498 w 5689303"/>
                <a:gd name="connsiteY38" fmla="*/ 1352323 h 5648196"/>
                <a:gd name="connsiteX39" fmla="*/ 79704 w 5689303"/>
                <a:gd name="connsiteY39" fmla="*/ 1725836 h 5648196"/>
                <a:gd name="connsiteX40" fmla="*/ 109134 w 5689303"/>
                <a:gd name="connsiteY40" fmla="*/ 2288809 h 5648196"/>
                <a:gd name="connsiteX41" fmla="*/ 215877 w 5689303"/>
                <a:gd name="connsiteY41" fmla="*/ 2894097 h 5648196"/>
                <a:gd name="connsiteX42" fmla="*/ 188993 w 5689303"/>
                <a:gd name="connsiteY42" fmla="*/ 3440208 h 5648196"/>
                <a:gd name="connsiteX43" fmla="*/ 236717 w 5689303"/>
                <a:gd name="connsiteY43" fmla="*/ 4187870 h 5648196"/>
                <a:gd name="connsiteX44" fmla="*/ 597355 w 5689303"/>
                <a:gd name="connsiteY44" fmla="*/ 4488048 h 5648196"/>
                <a:gd name="connsiteX45" fmla="*/ 1169889 w 5689303"/>
                <a:gd name="connsiteY45" fmla="*/ 4872378 h 5648196"/>
                <a:gd name="connsiteX46" fmla="*/ 1404852 w 5689303"/>
                <a:gd name="connsiteY46" fmla="*/ 5159035 h 5648196"/>
                <a:gd name="connsiteX47" fmla="*/ 1849803 w 5689303"/>
                <a:gd name="connsiteY47" fmla="*/ 5556569 h 5648196"/>
                <a:gd name="connsiteX48" fmla="*/ 2472608 w 5689303"/>
                <a:gd name="connsiteY48" fmla="*/ 5563727 h 5648196"/>
                <a:gd name="connsiteX49" fmla="*/ 3063913 w 5689303"/>
                <a:gd name="connsiteY49" fmla="*/ 5491347 h 5648196"/>
                <a:gd name="connsiteX50" fmla="*/ 3553407 w 5689303"/>
                <a:gd name="connsiteY50" fmla="*/ 5523003 h 5648196"/>
                <a:gd name="connsiteX51" fmla="*/ 4020947 w 5689303"/>
                <a:gd name="connsiteY51" fmla="*/ 5497869 h 5648196"/>
                <a:gd name="connsiteX52" fmla="*/ 4571529 w 5689303"/>
                <a:gd name="connsiteY52" fmla="*/ 4965438 h 5648196"/>
                <a:gd name="connsiteX53" fmla="*/ 4983390 w 5689303"/>
                <a:gd name="connsiteY53" fmla="*/ 4420600 h 5648196"/>
                <a:gd name="connsiteX54" fmla="*/ 5316507 w 5689303"/>
                <a:gd name="connsiteY54" fmla="*/ 4097355 h 5648196"/>
                <a:gd name="connsiteX55" fmla="*/ 5627193 w 5689303"/>
                <a:gd name="connsiteY55" fmla="*/ 3684709 h 5648196"/>
                <a:gd name="connsiteX56" fmla="*/ 5569129 w 5689303"/>
                <a:gd name="connsiteY56" fmla="*/ 3121736 h 5648196"/>
                <a:gd name="connsiteX57" fmla="*/ 5454431 w 5689303"/>
                <a:gd name="connsiteY57" fmla="*/ 2511358 h 5648196"/>
                <a:gd name="connsiteX58" fmla="*/ 5481316 w 5689303"/>
                <a:gd name="connsiteY58" fmla="*/ 2180000 h 5648196"/>
                <a:gd name="connsiteX59" fmla="*/ 5473998 w 5689303"/>
                <a:gd name="connsiteY59" fmla="*/ 1826054 h 5648196"/>
                <a:gd name="connsiteX60" fmla="*/ 5028092 w 5689303"/>
                <a:gd name="connsiteY60" fmla="*/ 1289010 h 5648196"/>
                <a:gd name="connsiteX61" fmla="*/ 4646615 w 5689303"/>
                <a:gd name="connsiteY61" fmla="*/ 961471 h 5648196"/>
                <a:gd name="connsiteX62" fmla="*/ 4278978 w 5689303"/>
                <a:gd name="connsiteY62" fmla="*/ 516532 h 5648196"/>
                <a:gd name="connsiteX63" fmla="*/ 3824800 w 5689303"/>
                <a:gd name="connsiteY63" fmla="*/ 105159 h 5648196"/>
                <a:gd name="connsiteX64" fmla="*/ 3289173 w 5689303"/>
                <a:gd name="connsiteY64" fmla="*/ 123612 h 5648196"/>
                <a:gd name="connsiteX65" fmla="*/ 2754182 w 5689303"/>
                <a:gd name="connsiteY65" fmla="*/ 199333 h 5648196"/>
                <a:gd name="connsiteX66" fmla="*/ 2754182 w 5689303"/>
                <a:gd name="connsiteY66" fmla="*/ 199333 h 5648196"/>
                <a:gd name="connsiteX67" fmla="*/ 2233031 w 5689303"/>
                <a:gd name="connsiteY67" fmla="*/ 103250 h 5648196"/>
                <a:gd name="connsiteX68" fmla="*/ 1926640 w 5689303"/>
                <a:gd name="connsiteY68" fmla="*/ 38983 h 564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5689303" h="5648196">
                  <a:moveTo>
                    <a:pt x="2124219" y="5648197"/>
                  </a:moveTo>
                  <a:cubicBezTo>
                    <a:pt x="2030202" y="5648197"/>
                    <a:pt x="1936662" y="5633402"/>
                    <a:pt x="1835327" y="5593156"/>
                  </a:cubicBezTo>
                  <a:cubicBezTo>
                    <a:pt x="1624385" y="5509323"/>
                    <a:pt x="1513664" y="5365358"/>
                    <a:pt x="1373672" y="5183056"/>
                  </a:cubicBezTo>
                  <a:cubicBezTo>
                    <a:pt x="1308608" y="5098427"/>
                    <a:pt x="1234953" y="5002503"/>
                    <a:pt x="1140936" y="4898785"/>
                  </a:cubicBezTo>
                  <a:cubicBezTo>
                    <a:pt x="931267" y="4667646"/>
                    <a:pt x="737983" y="4588267"/>
                    <a:pt x="582719" y="4524477"/>
                  </a:cubicBezTo>
                  <a:cubicBezTo>
                    <a:pt x="415206" y="4455597"/>
                    <a:pt x="282851" y="4401352"/>
                    <a:pt x="200606" y="4202983"/>
                  </a:cubicBezTo>
                  <a:cubicBezTo>
                    <a:pt x="103089" y="3968980"/>
                    <a:pt x="124883" y="3722252"/>
                    <a:pt x="150018" y="3436708"/>
                  </a:cubicBezTo>
                  <a:cubicBezTo>
                    <a:pt x="164176" y="3276677"/>
                    <a:pt x="180243" y="3095329"/>
                    <a:pt x="176743" y="2894733"/>
                  </a:cubicBezTo>
                  <a:cubicBezTo>
                    <a:pt x="172607" y="2651823"/>
                    <a:pt x="118838" y="2464748"/>
                    <a:pt x="71431" y="2299786"/>
                  </a:cubicBezTo>
                  <a:cubicBezTo>
                    <a:pt x="11776" y="2092031"/>
                    <a:pt x="-39767" y="1912592"/>
                    <a:pt x="43433" y="1710882"/>
                  </a:cubicBezTo>
                  <a:cubicBezTo>
                    <a:pt x="125996" y="1511082"/>
                    <a:pt x="285555" y="1421680"/>
                    <a:pt x="470408" y="1318121"/>
                  </a:cubicBezTo>
                  <a:cubicBezTo>
                    <a:pt x="613263" y="1238106"/>
                    <a:pt x="775208" y="1147432"/>
                    <a:pt x="940175" y="988196"/>
                  </a:cubicBezTo>
                  <a:cubicBezTo>
                    <a:pt x="1119142" y="815279"/>
                    <a:pt x="1223977" y="637431"/>
                    <a:pt x="1316562" y="480422"/>
                  </a:cubicBezTo>
                  <a:cubicBezTo>
                    <a:pt x="1435714" y="278235"/>
                    <a:pt x="1538481" y="103728"/>
                    <a:pt x="1755786" y="28802"/>
                  </a:cubicBezTo>
                  <a:cubicBezTo>
                    <a:pt x="1931094" y="-31488"/>
                    <a:pt x="2076335" y="13690"/>
                    <a:pt x="2244803" y="65549"/>
                  </a:cubicBezTo>
                  <a:cubicBezTo>
                    <a:pt x="2384476" y="108659"/>
                    <a:pt x="2542921" y="157496"/>
                    <a:pt x="2754659" y="160041"/>
                  </a:cubicBezTo>
                  <a:cubicBezTo>
                    <a:pt x="2968146" y="162904"/>
                    <a:pt x="3133909" y="121385"/>
                    <a:pt x="3279628" y="85434"/>
                  </a:cubicBezTo>
                  <a:cubicBezTo>
                    <a:pt x="3469571" y="38347"/>
                    <a:pt x="3633743" y="-2059"/>
                    <a:pt x="3837686" y="68094"/>
                  </a:cubicBezTo>
                  <a:cubicBezTo>
                    <a:pt x="4060718" y="144929"/>
                    <a:pt x="4171120" y="298915"/>
                    <a:pt x="4311112" y="493784"/>
                  </a:cubicBezTo>
                  <a:cubicBezTo>
                    <a:pt x="4404652" y="624387"/>
                    <a:pt x="4510919" y="772328"/>
                    <a:pt x="4674295" y="933791"/>
                  </a:cubicBezTo>
                  <a:cubicBezTo>
                    <a:pt x="4811264" y="1069325"/>
                    <a:pt x="4939484" y="1169702"/>
                    <a:pt x="5052432" y="1258308"/>
                  </a:cubicBezTo>
                  <a:cubicBezTo>
                    <a:pt x="5266397" y="1425976"/>
                    <a:pt x="5435500" y="1558328"/>
                    <a:pt x="5511859" y="1815078"/>
                  </a:cubicBezTo>
                  <a:cubicBezTo>
                    <a:pt x="5554811" y="1958406"/>
                    <a:pt x="5539698" y="2058943"/>
                    <a:pt x="5520450" y="2186205"/>
                  </a:cubicBezTo>
                  <a:cubicBezTo>
                    <a:pt x="5507087" y="2274651"/>
                    <a:pt x="5491815" y="2374870"/>
                    <a:pt x="5494042" y="2511040"/>
                  </a:cubicBezTo>
                  <a:cubicBezTo>
                    <a:pt x="5497860" y="2757768"/>
                    <a:pt x="5555766" y="2945161"/>
                    <a:pt x="5606990" y="3110442"/>
                  </a:cubicBezTo>
                  <a:cubicBezTo>
                    <a:pt x="5668555" y="3309606"/>
                    <a:pt x="5721847" y="3481568"/>
                    <a:pt x="5665373" y="3695050"/>
                  </a:cubicBezTo>
                  <a:cubicBezTo>
                    <a:pt x="5614785" y="3886737"/>
                    <a:pt x="5500565" y="3987592"/>
                    <a:pt x="5342755" y="4127102"/>
                  </a:cubicBezTo>
                  <a:cubicBezTo>
                    <a:pt x="5247307" y="4211414"/>
                    <a:pt x="5139131" y="4307178"/>
                    <a:pt x="5012661" y="4447325"/>
                  </a:cubicBezTo>
                  <a:cubicBezTo>
                    <a:pt x="4829877" y="4649989"/>
                    <a:pt x="4710089" y="4829428"/>
                    <a:pt x="4604458" y="4987709"/>
                  </a:cubicBezTo>
                  <a:cubicBezTo>
                    <a:pt x="4432650" y="5245096"/>
                    <a:pt x="4308408" y="5431057"/>
                    <a:pt x="4035106" y="5535093"/>
                  </a:cubicBezTo>
                  <a:cubicBezTo>
                    <a:pt x="3855662" y="5603974"/>
                    <a:pt x="3726806" y="5586475"/>
                    <a:pt x="3548316" y="5562295"/>
                  </a:cubicBezTo>
                  <a:cubicBezTo>
                    <a:pt x="3419620" y="5544956"/>
                    <a:pt x="3273742" y="5525071"/>
                    <a:pt x="3065186" y="5530957"/>
                  </a:cubicBezTo>
                  <a:cubicBezTo>
                    <a:pt x="2824336" y="5537638"/>
                    <a:pt x="2641393" y="5572158"/>
                    <a:pt x="2480084" y="5602542"/>
                  </a:cubicBezTo>
                  <a:cubicBezTo>
                    <a:pt x="2351228" y="5626562"/>
                    <a:pt x="2237485" y="5648038"/>
                    <a:pt x="2124219" y="5648197"/>
                  </a:cubicBezTo>
                  <a:close/>
                  <a:moveTo>
                    <a:pt x="1926640" y="38983"/>
                  </a:moveTo>
                  <a:cubicBezTo>
                    <a:pt x="1875574" y="38983"/>
                    <a:pt x="1823714" y="46778"/>
                    <a:pt x="1768513" y="65867"/>
                  </a:cubicBezTo>
                  <a:cubicBezTo>
                    <a:pt x="1564888" y="135861"/>
                    <a:pt x="1470235" y="296529"/>
                    <a:pt x="1350287" y="500148"/>
                  </a:cubicBezTo>
                  <a:cubicBezTo>
                    <a:pt x="1256429" y="659224"/>
                    <a:pt x="1150163" y="839777"/>
                    <a:pt x="967378" y="1016352"/>
                  </a:cubicBezTo>
                  <a:cubicBezTo>
                    <a:pt x="798752" y="1179247"/>
                    <a:pt x="634580" y="1271194"/>
                    <a:pt x="489498" y="1352323"/>
                  </a:cubicBezTo>
                  <a:cubicBezTo>
                    <a:pt x="303690" y="1456359"/>
                    <a:pt x="157017" y="1538443"/>
                    <a:pt x="79704" y="1725836"/>
                  </a:cubicBezTo>
                  <a:cubicBezTo>
                    <a:pt x="1754" y="1914819"/>
                    <a:pt x="49160" y="2079782"/>
                    <a:pt x="109134" y="2288809"/>
                  </a:cubicBezTo>
                  <a:cubicBezTo>
                    <a:pt x="157176" y="2456317"/>
                    <a:pt x="211582" y="2646096"/>
                    <a:pt x="215877" y="2894097"/>
                  </a:cubicBezTo>
                  <a:cubicBezTo>
                    <a:pt x="219377" y="3096920"/>
                    <a:pt x="203151" y="3279222"/>
                    <a:pt x="188993" y="3440208"/>
                  </a:cubicBezTo>
                  <a:cubicBezTo>
                    <a:pt x="163221" y="3732115"/>
                    <a:pt x="142859" y="3962617"/>
                    <a:pt x="236717" y="4187870"/>
                  </a:cubicBezTo>
                  <a:cubicBezTo>
                    <a:pt x="312758" y="4371127"/>
                    <a:pt x="432069" y="4420123"/>
                    <a:pt x="597355" y="4488048"/>
                  </a:cubicBezTo>
                  <a:cubicBezTo>
                    <a:pt x="756277" y="4553270"/>
                    <a:pt x="954015" y="4634559"/>
                    <a:pt x="1169889" y="4872378"/>
                  </a:cubicBezTo>
                  <a:cubicBezTo>
                    <a:pt x="1265020" y="4977210"/>
                    <a:pt x="1339311" y="5073929"/>
                    <a:pt x="1404852" y="5159035"/>
                  </a:cubicBezTo>
                  <a:cubicBezTo>
                    <a:pt x="1546594" y="5343564"/>
                    <a:pt x="1648883" y="5476712"/>
                    <a:pt x="1849803" y="5556569"/>
                  </a:cubicBezTo>
                  <a:cubicBezTo>
                    <a:pt x="2062654" y="5641198"/>
                    <a:pt x="2234621" y="5608746"/>
                    <a:pt x="2472608" y="5563727"/>
                  </a:cubicBezTo>
                  <a:cubicBezTo>
                    <a:pt x="2635348" y="5533025"/>
                    <a:pt x="2819882" y="5498028"/>
                    <a:pt x="3063913" y="5491347"/>
                  </a:cubicBezTo>
                  <a:cubicBezTo>
                    <a:pt x="3275333" y="5485143"/>
                    <a:pt x="3429483" y="5506300"/>
                    <a:pt x="3553407" y="5523003"/>
                  </a:cubicBezTo>
                  <a:cubicBezTo>
                    <a:pt x="3726010" y="5546229"/>
                    <a:pt x="3850730" y="5563091"/>
                    <a:pt x="4020947" y="5497869"/>
                  </a:cubicBezTo>
                  <a:cubicBezTo>
                    <a:pt x="4282477" y="5398287"/>
                    <a:pt x="4403698" y="5216780"/>
                    <a:pt x="4571529" y="4965438"/>
                  </a:cubicBezTo>
                  <a:cubicBezTo>
                    <a:pt x="4677954" y="4806043"/>
                    <a:pt x="4798538" y="4625332"/>
                    <a:pt x="4983390" y="4420600"/>
                  </a:cubicBezTo>
                  <a:cubicBezTo>
                    <a:pt x="5111292" y="4278703"/>
                    <a:pt x="5225035" y="4178167"/>
                    <a:pt x="5316507" y="4097355"/>
                  </a:cubicBezTo>
                  <a:cubicBezTo>
                    <a:pt x="5474952" y="3957368"/>
                    <a:pt x="5579628" y="3864785"/>
                    <a:pt x="5627193" y="3684709"/>
                  </a:cubicBezTo>
                  <a:cubicBezTo>
                    <a:pt x="5680645" y="3482045"/>
                    <a:pt x="5628943" y="3315174"/>
                    <a:pt x="5569129" y="3121736"/>
                  </a:cubicBezTo>
                  <a:cubicBezTo>
                    <a:pt x="5517109" y="2953910"/>
                    <a:pt x="5458249" y="2763813"/>
                    <a:pt x="5454431" y="2511358"/>
                  </a:cubicBezTo>
                  <a:cubicBezTo>
                    <a:pt x="5452204" y="2371847"/>
                    <a:pt x="5467635" y="2269879"/>
                    <a:pt x="5481316" y="2180000"/>
                  </a:cubicBezTo>
                  <a:cubicBezTo>
                    <a:pt x="5499769" y="2057670"/>
                    <a:pt x="5514405" y="1961110"/>
                    <a:pt x="5473998" y="1826054"/>
                  </a:cubicBezTo>
                  <a:cubicBezTo>
                    <a:pt x="5401139" y="1581235"/>
                    <a:pt x="5244602" y="1458745"/>
                    <a:pt x="5028092" y="1289010"/>
                  </a:cubicBezTo>
                  <a:cubicBezTo>
                    <a:pt x="4914190" y="1199768"/>
                    <a:pt x="4785016" y="1098595"/>
                    <a:pt x="4646615" y="961471"/>
                  </a:cubicBezTo>
                  <a:cubicBezTo>
                    <a:pt x="4480693" y="797781"/>
                    <a:pt x="4373631" y="648407"/>
                    <a:pt x="4278978" y="516532"/>
                  </a:cubicBezTo>
                  <a:cubicBezTo>
                    <a:pt x="4137872" y="319913"/>
                    <a:pt x="4036060" y="177858"/>
                    <a:pt x="3824800" y="105159"/>
                  </a:cubicBezTo>
                  <a:cubicBezTo>
                    <a:pt x="3631993" y="38665"/>
                    <a:pt x="3480707" y="76207"/>
                    <a:pt x="3289173" y="123612"/>
                  </a:cubicBezTo>
                  <a:cubicBezTo>
                    <a:pt x="3141068" y="160200"/>
                    <a:pt x="2972600" y="200765"/>
                    <a:pt x="2754182" y="199333"/>
                  </a:cubicBezTo>
                  <a:lnTo>
                    <a:pt x="2754182" y="199333"/>
                  </a:lnTo>
                  <a:cubicBezTo>
                    <a:pt x="2536558" y="196947"/>
                    <a:pt x="2375409" y="147156"/>
                    <a:pt x="2233031" y="103250"/>
                  </a:cubicBezTo>
                  <a:cubicBezTo>
                    <a:pt x="2121674" y="68572"/>
                    <a:pt x="2025907" y="38983"/>
                    <a:pt x="1926640" y="38983"/>
                  </a:cubicBezTo>
                  <a:close/>
                </a:path>
              </a:pathLst>
            </a:custGeom>
            <a:gradFill>
              <a:gsLst>
                <a:gs pos="100000">
                  <a:schemeClr val="accent2"/>
                </a:gs>
                <a:gs pos="0">
                  <a:schemeClr val="accent1"/>
                </a:gs>
              </a:gsLst>
              <a:lin ang="0" scaled="1"/>
            </a:gradFill>
            <a:ln w="1589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41" name="Freeform 40">
              <a:extLst>
                <a:ext uri="{FF2B5EF4-FFF2-40B4-BE49-F238E27FC236}">
                  <a16:creationId xmlns:a16="http://schemas.microsoft.com/office/drawing/2014/main" id="{FB1AD884-72ED-4F8C-56DB-75EE0059B0EA}"/>
                </a:ext>
              </a:extLst>
            </p:cNvPr>
            <p:cNvSpPr/>
            <p:nvPr/>
          </p:nvSpPr>
          <p:spPr>
            <a:xfrm>
              <a:off x="-2792576" y="648139"/>
              <a:ext cx="5575108" cy="5541068"/>
            </a:xfrm>
            <a:custGeom>
              <a:avLst/>
              <a:gdLst>
                <a:gd name="connsiteX0" fmla="*/ 2090708 w 5575108"/>
                <a:gd name="connsiteY0" fmla="*/ 5541069 h 5541068"/>
                <a:gd name="connsiteX1" fmla="*/ 1789249 w 5575108"/>
                <a:gd name="connsiteY1" fmla="*/ 5483801 h 5541068"/>
                <a:gd name="connsiteX2" fmla="*/ 1322345 w 5575108"/>
                <a:gd name="connsiteY2" fmla="*/ 5075292 h 5541068"/>
                <a:gd name="connsiteX3" fmla="*/ 1102176 w 5575108"/>
                <a:gd name="connsiteY3" fmla="*/ 4811542 h 5541068"/>
                <a:gd name="connsiteX4" fmla="*/ 571162 w 5575108"/>
                <a:gd name="connsiteY4" fmla="*/ 4445506 h 5541068"/>
                <a:gd name="connsiteX5" fmla="*/ 192707 w 5575108"/>
                <a:gd name="connsiteY5" fmla="*/ 4115898 h 5541068"/>
                <a:gd name="connsiteX6" fmla="*/ 134960 w 5575108"/>
                <a:gd name="connsiteY6" fmla="*/ 3345170 h 5541068"/>
                <a:gd name="connsiteX7" fmla="*/ 156436 w 5575108"/>
                <a:gd name="connsiteY7" fmla="*/ 2836442 h 5541068"/>
                <a:gd name="connsiteX8" fmla="*/ 63851 w 5575108"/>
                <a:gd name="connsiteY8" fmla="*/ 2267265 h 5541068"/>
                <a:gd name="connsiteX9" fmla="*/ 45239 w 5575108"/>
                <a:gd name="connsiteY9" fmla="*/ 1676134 h 5541068"/>
                <a:gd name="connsiteX10" fmla="*/ 468077 w 5575108"/>
                <a:gd name="connsiteY10" fmla="*/ 1275897 h 5541068"/>
                <a:gd name="connsiteX11" fmla="*/ 912074 w 5575108"/>
                <a:gd name="connsiteY11" fmla="*/ 955357 h 5541068"/>
                <a:gd name="connsiteX12" fmla="*/ 1277007 w 5575108"/>
                <a:gd name="connsiteY12" fmla="*/ 476376 h 5541068"/>
                <a:gd name="connsiteX13" fmla="*/ 1725298 w 5575108"/>
                <a:gd name="connsiteY13" fmla="*/ 29847 h 5541068"/>
                <a:gd name="connsiteX14" fmla="*/ 2214951 w 5575108"/>
                <a:gd name="connsiteY14" fmla="*/ 58958 h 5541068"/>
                <a:gd name="connsiteX15" fmla="*/ 2704763 w 5575108"/>
                <a:gd name="connsiteY15" fmla="*/ 142632 h 5541068"/>
                <a:gd name="connsiteX16" fmla="*/ 3209529 w 5575108"/>
                <a:gd name="connsiteY16" fmla="*/ 78047 h 5541068"/>
                <a:gd name="connsiteX17" fmla="*/ 3771881 w 5575108"/>
                <a:gd name="connsiteY17" fmla="*/ 69934 h 5541068"/>
                <a:gd name="connsiteX18" fmla="*/ 4255966 w 5575108"/>
                <a:gd name="connsiteY18" fmla="*/ 498965 h 5541068"/>
                <a:gd name="connsiteX19" fmla="*/ 4603878 w 5575108"/>
                <a:gd name="connsiteY19" fmla="*/ 914315 h 5541068"/>
                <a:gd name="connsiteX20" fmla="*/ 4954175 w 5575108"/>
                <a:gd name="connsiteY20" fmla="*/ 1222447 h 5541068"/>
                <a:gd name="connsiteX21" fmla="*/ 5414239 w 5575108"/>
                <a:gd name="connsiteY21" fmla="*/ 1794488 h 5541068"/>
                <a:gd name="connsiteX22" fmla="*/ 5425534 w 5575108"/>
                <a:gd name="connsiteY22" fmla="*/ 2167841 h 5541068"/>
                <a:gd name="connsiteX23" fmla="*/ 5402626 w 5575108"/>
                <a:gd name="connsiteY23" fmla="*/ 2479950 h 5541068"/>
                <a:gd name="connsiteX24" fmla="*/ 5502052 w 5575108"/>
                <a:gd name="connsiteY24" fmla="*/ 3055491 h 5541068"/>
                <a:gd name="connsiteX25" fmla="*/ 5548981 w 5575108"/>
                <a:gd name="connsiteY25" fmla="*/ 3641213 h 5541068"/>
                <a:gd name="connsiteX26" fmla="*/ 5224455 w 5575108"/>
                <a:gd name="connsiteY26" fmla="*/ 4078992 h 5541068"/>
                <a:gd name="connsiteX27" fmla="*/ 4914723 w 5575108"/>
                <a:gd name="connsiteY27" fmla="*/ 4382988 h 5541068"/>
                <a:gd name="connsiteX28" fmla="*/ 4526087 w 5575108"/>
                <a:gd name="connsiteY28" fmla="*/ 4886785 h 5541068"/>
                <a:gd name="connsiteX29" fmla="*/ 3943212 w 5575108"/>
                <a:gd name="connsiteY29" fmla="*/ 5434487 h 5541068"/>
                <a:gd name="connsiteX30" fmla="*/ 3453241 w 5575108"/>
                <a:gd name="connsiteY30" fmla="*/ 5465348 h 5541068"/>
                <a:gd name="connsiteX31" fmla="*/ 2993019 w 5575108"/>
                <a:gd name="connsiteY31" fmla="*/ 5438783 h 5541068"/>
                <a:gd name="connsiteX32" fmla="*/ 2438938 w 5575108"/>
                <a:gd name="connsiteY32" fmla="*/ 5500823 h 5541068"/>
                <a:gd name="connsiteX33" fmla="*/ 2090708 w 5575108"/>
                <a:gd name="connsiteY33" fmla="*/ 5541069 h 5541068"/>
                <a:gd name="connsiteX34" fmla="*/ 1902833 w 5575108"/>
                <a:gd name="connsiteY34" fmla="*/ 42414 h 5541068"/>
                <a:gd name="connsiteX35" fmla="*/ 1738820 w 5575108"/>
                <a:gd name="connsiteY35" fmla="*/ 70093 h 5541068"/>
                <a:gd name="connsiteX36" fmla="*/ 1312959 w 5575108"/>
                <a:gd name="connsiteY36" fmla="*/ 498806 h 5541068"/>
                <a:gd name="connsiteX37" fmla="*/ 941504 w 5575108"/>
                <a:gd name="connsiteY37" fmla="*/ 986059 h 5541068"/>
                <a:gd name="connsiteX38" fmla="*/ 489553 w 5575108"/>
                <a:gd name="connsiteY38" fmla="*/ 1312644 h 5541068"/>
                <a:gd name="connsiteX39" fmla="*/ 84532 w 5575108"/>
                <a:gd name="connsiteY39" fmla="*/ 1692360 h 5541068"/>
                <a:gd name="connsiteX40" fmla="*/ 105053 w 5575108"/>
                <a:gd name="connsiteY40" fmla="*/ 2256447 h 5541068"/>
                <a:gd name="connsiteX41" fmla="*/ 199070 w 5575108"/>
                <a:gd name="connsiteY41" fmla="*/ 2835806 h 5541068"/>
                <a:gd name="connsiteX42" fmla="*/ 177435 w 5575108"/>
                <a:gd name="connsiteY42" fmla="*/ 3348511 h 5541068"/>
                <a:gd name="connsiteX43" fmla="*/ 232159 w 5575108"/>
                <a:gd name="connsiteY43" fmla="*/ 4099672 h 5541068"/>
                <a:gd name="connsiteX44" fmla="*/ 588661 w 5575108"/>
                <a:gd name="connsiteY44" fmla="*/ 4406691 h 5541068"/>
                <a:gd name="connsiteX45" fmla="*/ 1133674 w 5575108"/>
                <a:gd name="connsiteY45" fmla="*/ 4782908 h 5541068"/>
                <a:gd name="connsiteX46" fmla="*/ 1355911 w 5575108"/>
                <a:gd name="connsiteY46" fmla="*/ 5049044 h 5541068"/>
                <a:gd name="connsiteX47" fmla="*/ 1805157 w 5575108"/>
                <a:gd name="connsiteY47" fmla="*/ 5444191 h 5541068"/>
                <a:gd name="connsiteX48" fmla="*/ 2431620 w 5575108"/>
                <a:gd name="connsiteY48" fmla="*/ 5458667 h 5541068"/>
                <a:gd name="connsiteX49" fmla="*/ 2991746 w 5575108"/>
                <a:gd name="connsiteY49" fmla="*/ 5396150 h 5541068"/>
                <a:gd name="connsiteX50" fmla="*/ 3458173 w 5575108"/>
                <a:gd name="connsiteY50" fmla="*/ 5423034 h 5541068"/>
                <a:gd name="connsiteX51" fmla="*/ 3927940 w 5575108"/>
                <a:gd name="connsiteY51" fmla="*/ 5394718 h 5541068"/>
                <a:gd name="connsiteX52" fmla="*/ 4490930 w 5575108"/>
                <a:gd name="connsiteY52" fmla="*/ 4862764 h 5541068"/>
                <a:gd name="connsiteX53" fmla="*/ 4883066 w 5575108"/>
                <a:gd name="connsiteY53" fmla="*/ 4354673 h 5541068"/>
                <a:gd name="connsiteX54" fmla="*/ 5195820 w 5575108"/>
                <a:gd name="connsiteY54" fmla="*/ 4047654 h 5541068"/>
                <a:gd name="connsiteX55" fmla="*/ 5507779 w 5575108"/>
                <a:gd name="connsiteY55" fmla="*/ 3630236 h 5541068"/>
                <a:gd name="connsiteX56" fmla="*/ 5461009 w 5575108"/>
                <a:gd name="connsiteY56" fmla="*/ 3067263 h 5541068"/>
                <a:gd name="connsiteX57" fmla="*/ 5360151 w 5575108"/>
                <a:gd name="connsiteY57" fmla="*/ 2480905 h 5541068"/>
                <a:gd name="connsiteX58" fmla="*/ 5383536 w 5575108"/>
                <a:gd name="connsiteY58" fmla="*/ 2162433 h 5541068"/>
                <a:gd name="connsiteX59" fmla="*/ 5373514 w 5575108"/>
                <a:gd name="connsiteY59" fmla="*/ 1807055 h 5541068"/>
                <a:gd name="connsiteX60" fmla="*/ 4927450 w 5575108"/>
                <a:gd name="connsiteY60" fmla="*/ 1256012 h 5541068"/>
                <a:gd name="connsiteX61" fmla="*/ 4573971 w 5575108"/>
                <a:gd name="connsiteY61" fmla="*/ 945017 h 5541068"/>
                <a:gd name="connsiteX62" fmla="*/ 4221923 w 5575108"/>
                <a:gd name="connsiteY62" fmla="*/ 524735 h 5541068"/>
                <a:gd name="connsiteX63" fmla="*/ 3758041 w 5575108"/>
                <a:gd name="connsiteY63" fmla="*/ 110658 h 5541068"/>
                <a:gd name="connsiteX64" fmla="*/ 3218914 w 5575108"/>
                <a:gd name="connsiteY64" fmla="*/ 120043 h 5541068"/>
                <a:gd name="connsiteX65" fmla="*/ 2704604 w 5575108"/>
                <a:gd name="connsiteY65" fmla="*/ 185742 h 5541068"/>
                <a:gd name="connsiteX66" fmla="*/ 2704604 w 5575108"/>
                <a:gd name="connsiteY66" fmla="*/ 185742 h 5541068"/>
                <a:gd name="connsiteX67" fmla="*/ 2203656 w 5575108"/>
                <a:gd name="connsiteY67" fmla="*/ 100318 h 5541068"/>
                <a:gd name="connsiteX68" fmla="*/ 1902833 w 5575108"/>
                <a:gd name="connsiteY68" fmla="*/ 42414 h 5541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5575108" h="5541068">
                  <a:moveTo>
                    <a:pt x="2090708" y="5541069"/>
                  </a:moveTo>
                  <a:cubicBezTo>
                    <a:pt x="1992078" y="5541069"/>
                    <a:pt x="1894561" y="5525956"/>
                    <a:pt x="1789249" y="5483801"/>
                  </a:cubicBezTo>
                  <a:cubicBezTo>
                    <a:pt x="1578466" y="5399649"/>
                    <a:pt x="1465518" y="5256480"/>
                    <a:pt x="1322345" y="5075292"/>
                  </a:cubicBezTo>
                  <a:cubicBezTo>
                    <a:pt x="1260144" y="4996548"/>
                    <a:pt x="1189512" y="4907306"/>
                    <a:pt x="1102176" y="4811542"/>
                  </a:cubicBezTo>
                  <a:cubicBezTo>
                    <a:pt x="903324" y="4593925"/>
                    <a:pt x="726903" y="4515022"/>
                    <a:pt x="571162" y="4445506"/>
                  </a:cubicBezTo>
                  <a:cubicBezTo>
                    <a:pt x="405558" y="4371376"/>
                    <a:pt x="274793" y="4312995"/>
                    <a:pt x="192707" y="4115898"/>
                  </a:cubicBezTo>
                  <a:cubicBezTo>
                    <a:pt x="94077" y="3880623"/>
                    <a:pt x="113007" y="3632463"/>
                    <a:pt x="134960" y="3345170"/>
                  </a:cubicBezTo>
                  <a:cubicBezTo>
                    <a:pt x="146414" y="3194365"/>
                    <a:pt x="159459" y="3023357"/>
                    <a:pt x="156436" y="2836442"/>
                  </a:cubicBezTo>
                  <a:cubicBezTo>
                    <a:pt x="152619" y="2606735"/>
                    <a:pt x="105371" y="2426342"/>
                    <a:pt x="63851" y="2267265"/>
                  </a:cubicBezTo>
                  <a:cubicBezTo>
                    <a:pt x="9127" y="2058078"/>
                    <a:pt x="-38120" y="1877526"/>
                    <a:pt x="45239" y="1676134"/>
                  </a:cubicBezTo>
                  <a:cubicBezTo>
                    <a:pt x="127961" y="1476334"/>
                    <a:pt x="285611" y="1383433"/>
                    <a:pt x="468077" y="1275897"/>
                  </a:cubicBezTo>
                  <a:cubicBezTo>
                    <a:pt x="603137" y="1196199"/>
                    <a:pt x="756333" y="1106002"/>
                    <a:pt x="912074" y="955357"/>
                  </a:cubicBezTo>
                  <a:cubicBezTo>
                    <a:pt x="1081018" y="792144"/>
                    <a:pt x="1185057" y="624317"/>
                    <a:pt x="1277007" y="476376"/>
                  </a:cubicBezTo>
                  <a:cubicBezTo>
                    <a:pt x="1400613" y="277052"/>
                    <a:pt x="1507516" y="104772"/>
                    <a:pt x="1725298" y="29847"/>
                  </a:cubicBezTo>
                  <a:cubicBezTo>
                    <a:pt x="1899811" y="-30125"/>
                    <a:pt x="2045847" y="11076"/>
                    <a:pt x="2214951" y="58958"/>
                  </a:cubicBezTo>
                  <a:cubicBezTo>
                    <a:pt x="2350329" y="97136"/>
                    <a:pt x="2503684" y="140564"/>
                    <a:pt x="2704763" y="142632"/>
                  </a:cubicBezTo>
                  <a:cubicBezTo>
                    <a:pt x="2907592" y="146291"/>
                    <a:pt x="3068105" y="109226"/>
                    <a:pt x="3209529" y="78047"/>
                  </a:cubicBezTo>
                  <a:cubicBezTo>
                    <a:pt x="3401858" y="35414"/>
                    <a:pt x="3568098" y="-1332"/>
                    <a:pt x="3771881" y="69934"/>
                  </a:cubicBezTo>
                  <a:cubicBezTo>
                    <a:pt x="3996664" y="148518"/>
                    <a:pt x="4111043" y="303141"/>
                    <a:pt x="4255966" y="498965"/>
                  </a:cubicBezTo>
                  <a:cubicBezTo>
                    <a:pt x="4347438" y="622568"/>
                    <a:pt x="4451000" y="762555"/>
                    <a:pt x="4603878" y="914315"/>
                  </a:cubicBezTo>
                  <a:cubicBezTo>
                    <a:pt x="4730188" y="1040145"/>
                    <a:pt x="4849181" y="1137023"/>
                    <a:pt x="4954175" y="1222447"/>
                  </a:cubicBezTo>
                  <a:cubicBezTo>
                    <a:pt x="5168299" y="1396954"/>
                    <a:pt x="5337562" y="1534556"/>
                    <a:pt x="5414239" y="1794488"/>
                  </a:cubicBezTo>
                  <a:cubicBezTo>
                    <a:pt x="5456873" y="1937339"/>
                    <a:pt x="5443032" y="2038989"/>
                    <a:pt x="5425534" y="2167841"/>
                  </a:cubicBezTo>
                  <a:cubicBezTo>
                    <a:pt x="5413921" y="2253743"/>
                    <a:pt x="5400717" y="2350939"/>
                    <a:pt x="5402626" y="2479950"/>
                  </a:cubicBezTo>
                  <a:cubicBezTo>
                    <a:pt x="5405967" y="2714112"/>
                    <a:pt x="5457032" y="2895459"/>
                    <a:pt x="5502052" y="3055491"/>
                  </a:cubicBezTo>
                  <a:cubicBezTo>
                    <a:pt x="5558366" y="3255769"/>
                    <a:pt x="5606887" y="3428845"/>
                    <a:pt x="5548981" y="3641213"/>
                  </a:cubicBezTo>
                  <a:cubicBezTo>
                    <a:pt x="5496484" y="3833059"/>
                    <a:pt x="5382422" y="3936141"/>
                    <a:pt x="5224455" y="4078992"/>
                  </a:cubicBezTo>
                  <a:cubicBezTo>
                    <a:pt x="5134414" y="4160280"/>
                    <a:pt x="5032602" y="4252386"/>
                    <a:pt x="4914723" y="4382988"/>
                  </a:cubicBezTo>
                  <a:cubicBezTo>
                    <a:pt x="4745142" y="4570699"/>
                    <a:pt x="4628695" y="4738685"/>
                    <a:pt x="4526087" y="4886785"/>
                  </a:cubicBezTo>
                  <a:cubicBezTo>
                    <a:pt x="4347597" y="5144172"/>
                    <a:pt x="4218741" y="5330133"/>
                    <a:pt x="3943212" y="5434487"/>
                  </a:cubicBezTo>
                  <a:cubicBezTo>
                    <a:pt x="3764245" y="5502731"/>
                    <a:pt x="3633799" y="5486983"/>
                    <a:pt x="3453241" y="5465348"/>
                  </a:cubicBezTo>
                  <a:cubicBezTo>
                    <a:pt x="3329158" y="5450395"/>
                    <a:pt x="3188689" y="5433374"/>
                    <a:pt x="2993019" y="5438783"/>
                  </a:cubicBezTo>
                  <a:cubicBezTo>
                    <a:pt x="2767918" y="5444827"/>
                    <a:pt x="2593088" y="5474575"/>
                    <a:pt x="2438938" y="5500823"/>
                  </a:cubicBezTo>
                  <a:cubicBezTo>
                    <a:pt x="2312945" y="5521980"/>
                    <a:pt x="2201270" y="5541069"/>
                    <a:pt x="2090708" y="5541069"/>
                  </a:cubicBezTo>
                  <a:close/>
                  <a:moveTo>
                    <a:pt x="1902833" y="42414"/>
                  </a:moveTo>
                  <a:cubicBezTo>
                    <a:pt x="1849859" y="42414"/>
                    <a:pt x="1796248" y="50368"/>
                    <a:pt x="1738820" y="70093"/>
                  </a:cubicBezTo>
                  <a:cubicBezTo>
                    <a:pt x="1535355" y="140246"/>
                    <a:pt x="1437202" y="298528"/>
                    <a:pt x="1312959" y="498806"/>
                  </a:cubicBezTo>
                  <a:cubicBezTo>
                    <a:pt x="1219896" y="648974"/>
                    <a:pt x="1114266" y="819028"/>
                    <a:pt x="941504" y="986059"/>
                  </a:cubicBezTo>
                  <a:cubicBezTo>
                    <a:pt x="782104" y="1140045"/>
                    <a:pt x="626681" y="1231673"/>
                    <a:pt x="489553" y="1312644"/>
                  </a:cubicBezTo>
                  <a:cubicBezTo>
                    <a:pt x="306450" y="1420498"/>
                    <a:pt x="161845" y="1505763"/>
                    <a:pt x="84532" y="1692360"/>
                  </a:cubicBezTo>
                  <a:cubicBezTo>
                    <a:pt x="6741" y="1880548"/>
                    <a:pt x="50170" y="2046466"/>
                    <a:pt x="105053" y="2256447"/>
                  </a:cubicBezTo>
                  <a:cubicBezTo>
                    <a:pt x="147369" y="2417911"/>
                    <a:pt x="195252" y="2601008"/>
                    <a:pt x="199070" y="2835806"/>
                  </a:cubicBezTo>
                  <a:cubicBezTo>
                    <a:pt x="202093" y="3024630"/>
                    <a:pt x="189048" y="3196751"/>
                    <a:pt x="177435" y="3348511"/>
                  </a:cubicBezTo>
                  <a:cubicBezTo>
                    <a:pt x="155164" y="3642008"/>
                    <a:pt x="137506" y="3873783"/>
                    <a:pt x="232159" y="4099672"/>
                  </a:cubicBezTo>
                  <a:cubicBezTo>
                    <a:pt x="307882" y="4281179"/>
                    <a:pt x="425602" y="4333834"/>
                    <a:pt x="588661" y="4406691"/>
                  </a:cubicBezTo>
                  <a:cubicBezTo>
                    <a:pt x="740266" y="4474458"/>
                    <a:pt x="928777" y="4558769"/>
                    <a:pt x="1133674" y="4782908"/>
                  </a:cubicBezTo>
                  <a:cubicBezTo>
                    <a:pt x="1222123" y="4879786"/>
                    <a:pt x="1293233" y="4969664"/>
                    <a:pt x="1355911" y="5049044"/>
                  </a:cubicBezTo>
                  <a:cubicBezTo>
                    <a:pt x="1500516" y="5231983"/>
                    <a:pt x="1605033" y="5364334"/>
                    <a:pt x="1805157" y="5444191"/>
                  </a:cubicBezTo>
                  <a:cubicBezTo>
                    <a:pt x="2017531" y="5529138"/>
                    <a:pt x="2191248" y="5499550"/>
                    <a:pt x="2431620" y="5458667"/>
                  </a:cubicBezTo>
                  <a:cubicBezTo>
                    <a:pt x="2587202" y="5432260"/>
                    <a:pt x="2763623" y="5402195"/>
                    <a:pt x="2991746" y="5396150"/>
                  </a:cubicBezTo>
                  <a:cubicBezTo>
                    <a:pt x="3189961" y="5390900"/>
                    <a:pt x="3338862" y="5408558"/>
                    <a:pt x="3458173" y="5423034"/>
                  </a:cubicBezTo>
                  <a:cubicBezTo>
                    <a:pt x="3632367" y="5443873"/>
                    <a:pt x="3758519" y="5459144"/>
                    <a:pt x="3927940" y="5394718"/>
                  </a:cubicBezTo>
                  <a:cubicBezTo>
                    <a:pt x="4191061" y="5295136"/>
                    <a:pt x="4316895" y="5113788"/>
                    <a:pt x="4490930" y="4862764"/>
                  </a:cubicBezTo>
                  <a:cubicBezTo>
                    <a:pt x="4594333" y="4713550"/>
                    <a:pt x="4711576" y="4544452"/>
                    <a:pt x="4883066" y="4354673"/>
                  </a:cubicBezTo>
                  <a:cubicBezTo>
                    <a:pt x="5002377" y="4222480"/>
                    <a:pt x="5105143" y="4129579"/>
                    <a:pt x="5195820" y="4047654"/>
                  </a:cubicBezTo>
                  <a:cubicBezTo>
                    <a:pt x="5354106" y="3904485"/>
                    <a:pt x="5458623" y="3809993"/>
                    <a:pt x="5507779" y="3630236"/>
                  </a:cubicBezTo>
                  <a:cubicBezTo>
                    <a:pt x="5562662" y="3429322"/>
                    <a:pt x="5515574" y="3261496"/>
                    <a:pt x="5461009" y="3067263"/>
                  </a:cubicBezTo>
                  <a:cubicBezTo>
                    <a:pt x="5415352" y="2904845"/>
                    <a:pt x="5363651" y="2720634"/>
                    <a:pt x="5360151" y="2480905"/>
                  </a:cubicBezTo>
                  <a:cubicBezTo>
                    <a:pt x="5358242" y="2348553"/>
                    <a:pt x="5371605" y="2249607"/>
                    <a:pt x="5383536" y="2162433"/>
                  </a:cubicBezTo>
                  <a:cubicBezTo>
                    <a:pt x="5400240" y="2038830"/>
                    <a:pt x="5413603" y="1941157"/>
                    <a:pt x="5373514" y="1807055"/>
                  </a:cubicBezTo>
                  <a:cubicBezTo>
                    <a:pt x="5300495" y="1559690"/>
                    <a:pt x="5144119" y="1432269"/>
                    <a:pt x="4927450" y="1256012"/>
                  </a:cubicBezTo>
                  <a:cubicBezTo>
                    <a:pt x="4821660" y="1169952"/>
                    <a:pt x="4701872" y="1072278"/>
                    <a:pt x="4573971" y="945017"/>
                  </a:cubicBezTo>
                  <a:cubicBezTo>
                    <a:pt x="4419025" y="791030"/>
                    <a:pt x="4314350" y="649611"/>
                    <a:pt x="4221923" y="524735"/>
                  </a:cubicBezTo>
                  <a:cubicBezTo>
                    <a:pt x="4075886" y="327321"/>
                    <a:pt x="3970415" y="184788"/>
                    <a:pt x="3758041" y="110658"/>
                  </a:cubicBezTo>
                  <a:cubicBezTo>
                    <a:pt x="3565712" y="43368"/>
                    <a:pt x="3412676" y="77093"/>
                    <a:pt x="3218914" y="120043"/>
                  </a:cubicBezTo>
                  <a:cubicBezTo>
                    <a:pt x="3075423" y="151859"/>
                    <a:pt x="2912841" y="187492"/>
                    <a:pt x="2704604" y="185742"/>
                  </a:cubicBezTo>
                  <a:lnTo>
                    <a:pt x="2704604" y="185742"/>
                  </a:lnTo>
                  <a:cubicBezTo>
                    <a:pt x="2497957" y="183515"/>
                    <a:pt x="2341580" y="139292"/>
                    <a:pt x="2203656" y="100318"/>
                  </a:cubicBezTo>
                  <a:cubicBezTo>
                    <a:pt x="2094049" y="68980"/>
                    <a:pt x="1999714" y="42414"/>
                    <a:pt x="1902833" y="42414"/>
                  </a:cubicBezTo>
                  <a:close/>
                </a:path>
              </a:pathLst>
            </a:custGeom>
            <a:gradFill>
              <a:gsLst>
                <a:gs pos="100000">
                  <a:schemeClr val="accent2"/>
                </a:gs>
                <a:gs pos="0">
                  <a:schemeClr val="accent1"/>
                </a:gs>
              </a:gsLst>
              <a:lin ang="0" scaled="1"/>
            </a:gradFill>
            <a:ln w="1589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42" name="Freeform 41">
              <a:extLst>
                <a:ext uri="{FF2B5EF4-FFF2-40B4-BE49-F238E27FC236}">
                  <a16:creationId xmlns:a16="http://schemas.microsoft.com/office/drawing/2014/main" id="{73438F99-5CC9-64E8-6138-14D55DB9192D}"/>
                </a:ext>
              </a:extLst>
            </p:cNvPr>
            <p:cNvSpPr/>
            <p:nvPr/>
          </p:nvSpPr>
          <p:spPr>
            <a:xfrm>
              <a:off x="-2736217" y="701126"/>
              <a:ext cx="5461289" cy="5434631"/>
            </a:xfrm>
            <a:custGeom>
              <a:avLst/>
              <a:gdLst>
                <a:gd name="connsiteX0" fmla="*/ 2060120 w 5461289"/>
                <a:gd name="connsiteY0" fmla="*/ 5434632 h 5434631"/>
                <a:gd name="connsiteX1" fmla="*/ 1743548 w 5461289"/>
                <a:gd name="connsiteY1" fmla="*/ 5374819 h 5434631"/>
                <a:gd name="connsiteX2" fmla="*/ 1270599 w 5461289"/>
                <a:gd name="connsiteY2" fmla="*/ 4967582 h 5434631"/>
                <a:gd name="connsiteX3" fmla="*/ 1063952 w 5461289"/>
                <a:gd name="connsiteY3" fmla="*/ 4724989 h 5434631"/>
                <a:gd name="connsiteX4" fmla="*/ 560618 w 5461289"/>
                <a:gd name="connsiteY4" fmla="*/ 4367861 h 5434631"/>
                <a:gd name="connsiteX5" fmla="*/ 185186 w 5461289"/>
                <a:gd name="connsiteY5" fmla="*/ 4029505 h 5434631"/>
                <a:gd name="connsiteX6" fmla="*/ 119804 w 5461289"/>
                <a:gd name="connsiteY6" fmla="*/ 3252095 h 5434631"/>
                <a:gd name="connsiteX7" fmla="*/ 136348 w 5461289"/>
                <a:gd name="connsiteY7" fmla="*/ 2778841 h 5434631"/>
                <a:gd name="connsiteX8" fmla="*/ 56171 w 5461289"/>
                <a:gd name="connsiteY8" fmla="*/ 2236389 h 5434631"/>
                <a:gd name="connsiteX9" fmla="*/ 47262 w 5461289"/>
                <a:gd name="connsiteY9" fmla="*/ 1641759 h 5434631"/>
                <a:gd name="connsiteX10" fmla="*/ 466283 w 5461289"/>
                <a:gd name="connsiteY10" fmla="*/ 1233090 h 5434631"/>
                <a:gd name="connsiteX11" fmla="*/ 884031 w 5461289"/>
                <a:gd name="connsiteY11" fmla="*/ 923208 h 5434631"/>
                <a:gd name="connsiteX12" fmla="*/ 1236556 w 5461289"/>
                <a:gd name="connsiteY12" fmla="*/ 473339 h 5434631"/>
                <a:gd name="connsiteX13" fmla="*/ 1694869 w 5461289"/>
                <a:gd name="connsiteY13" fmla="*/ 31105 h 5434631"/>
                <a:gd name="connsiteX14" fmla="*/ 2186113 w 5461289"/>
                <a:gd name="connsiteY14" fmla="*/ 52421 h 5434631"/>
                <a:gd name="connsiteX15" fmla="*/ 2654926 w 5461289"/>
                <a:gd name="connsiteY15" fmla="*/ 125596 h 5434631"/>
                <a:gd name="connsiteX16" fmla="*/ 3138057 w 5461289"/>
                <a:gd name="connsiteY16" fmla="*/ 70715 h 5434631"/>
                <a:gd name="connsiteX17" fmla="*/ 3706137 w 5461289"/>
                <a:gd name="connsiteY17" fmla="*/ 72147 h 5434631"/>
                <a:gd name="connsiteX18" fmla="*/ 4202471 w 5461289"/>
                <a:gd name="connsiteY18" fmla="*/ 505472 h 5434631"/>
                <a:gd name="connsiteX19" fmla="*/ 4533361 w 5461289"/>
                <a:gd name="connsiteY19" fmla="*/ 895052 h 5434631"/>
                <a:gd name="connsiteX20" fmla="*/ 4854705 w 5461289"/>
                <a:gd name="connsiteY20" fmla="*/ 1185049 h 5434631"/>
                <a:gd name="connsiteX21" fmla="*/ 5316678 w 5461289"/>
                <a:gd name="connsiteY21" fmla="*/ 1774270 h 5434631"/>
                <a:gd name="connsiteX22" fmla="*/ 5330836 w 5461289"/>
                <a:gd name="connsiteY22" fmla="*/ 2150487 h 5434631"/>
                <a:gd name="connsiteX23" fmla="*/ 5311269 w 5461289"/>
                <a:gd name="connsiteY23" fmla="*/ 2449234 h 5434631"/>
                <a:gd name="connsiteX24" fmla="*/ 5397332 w 5461289"/>
                <a:gd name="connsiteY24" fmla="*/ 2999481 h 5434631"/>
                <a:gd name="connsiteX25" fmla="*/ 5432489 w 5461289"/>
                <a:gd name="connsiteY25" fmla="*/ 3587589 h 5434631"/>
                <a:gd name="connsiteX26" fmla="*/ 5105417 w 5461289"/>
                <a:gd name="connsiteY26" fmla="*/ 4031891 h 5434631"/>
                <a:gd name="connsiteX27" fmla="*/ 4816685 w 5461289"/>
                <a:gd name="connsiteY27" fmla="*/ 4318707 h 5434631"/>
                <a:gd name="connsiteX28" fmla="*/ 4449525 w 5461289"/>
                <a:gd name="connsiteY28" fmla="*/ 4784643 h 5434631"/>
                <a:gd name="connsiteX29" fmla="*/ 3851219 w 5461289"/>
                <a:gd name="connsiteY29" fmla="*/ 5333936 h 5434631"/>
                <a:gd name="connsiteX30" fmla="*/ 3357112 w 5461289"/>
                <a:gd name="connsiteY30" fmla="*/ 5368615 h 5434631"/>
                <a:gd name="connsiteX31" fmla="*/ 2920910 w 5461289"/>
                <a:gd name="connsiteY31" fmla="*/ 5346662 h 5434631"/>
                <a:gd name="connsiteX32" fmla="*/ 2399282 w 5461289"/>
                <a:gd name="connsiteY32" fmla="*/ 5399316 h 5434631"/>
                <a:gd name="connsiteX33" fmla="*/ 2060120 w 5461289"/>
                <a:gd name="connsiteY33" fmla="*/ 5434632 h 5434631"/>
                <a:gd name="connsiteX34" fmla="*/ 1880836 w 5461289"/>
                <a:gd name="connsiteY34" fmla="*/ 46058 h 5434631"/>
                <a:gd name="connsiteX35" fmla="*/ 1709823 w 5461289"/>
                <a:gd name="connsiteY35" fmla="*/ 74851 h 5434631"/>
                <a:gd name="connsiteX36" fmla="*/ 1275053 w 5461289"/>
                <a:gd name="connsiteY36" fmla="*/ 498791 h 5434631"/>
                <a:gd name="connsiteX37" fmla="*/ 916006 w 5461289"/>
                <a:gd name="connsiteY37" fmla="*/ 956455 h 5434631"/>
                <a:gd name="connsiteX38" fmla="*/ 490622 w 5461289"/>
                <a:gd name="connsiteY38" fmla="*/ 1272382 h 5434631"/>
                <a:gd name="connsiteX39" fmla="*/ 89737 w 5461289"/>
                <a:gd name="connsiteY39" fmla="*/ 1659576 h 5434631"/>
                <a:gd name="connsiteX40" fmla="*/ 101032 w 5461289"/>
                <a:gd name="connsiteY40" fmla="*/ 2225890 h 5434631"/>
                <a:gd name="connsiteX41" fmla="*/ 182482 w 5461289"/>
                <a:gd name="connsiteY41" fmla="*/ 2778046 h 5434631"/>
                <a:gd name="connsiteX42" fmla="*/ 165778 w 5461289"/>
                <a:gd name="connsiteY42" fmla="*/ 3254959 h 5434631"/>
                <a:gd name="connsiteX43" fmla="*/ 227661 w 5461289"/>
                <a:gd name="connsiteY43" fmla="*/ 4011688 h 5434631"/>
                <a:gd name="connsiteX44" fmla="*/ 580822 w 5461289"/>
                <a:gd name="connsiteY44" fmla="*/ 4326501 h 5434631"/>
                <a:gd name="connsiteX45" fmla="*/ 1097837 w 5461289"/>
                <a:gd name="connsiteY45" fmla="*/ 4693810 h 5434631"/>
                <a:gd name="connsiteX46" fmla="*/ 1306392 w 5461289"/>
                <a:gd name="connsiteY46" fmla="*/ 4938470 h 5434631"/>
                <a:gd name="connsiteX47" fmla="*/ 1760888 w 5461289"/>
                <a:gd name="connsiteY47" fmla="*/ 5332186 h 5434631"/>
                <a:gd name="connsiteX48" fmla="*/ 2392760 w 5461289"/>
                <a:gd name="connsiteY48" fmla="*/ 5354139 h 5434631"/>
                <a:gd name="connsiteX49" fmla="*/ 2920115 w 5461289"/>
                <a:gd name="connsiteY49" fmla="*/ 5301007 h 5434631"/>
                <a:gd name="connsiteX50" fmla="*/ 3362361 w 5461289"/>
                <a:gd name="connsiteY50" fmla="*/ 5323119 h 5434631"/>
                <a:gd name="connsiteX51" fmla="*/ 3835311 w 5461289"/>
                <a:gd name="connsiteY51" fmla="*/ 5291144 h 5434631"/>
                <a:gd name="connsiteX52" fmla="*/ 4412618 w 5461289"/>
                <a:gd name="connsiteY52" fmla="*/ 4758077 h 5434631"/>
                <a:gd name="connsiteX53" fmla="*/ 4782959 w 5461289"/>
                <a:gd name="connsiteY53" fmla="*/ 4288164 h 5434631"/>
                <a:gd name="connsiteX54" fmla="*/ 5074556 w 5461289"/>
                <a:gd name="connsiteY54" fmla="*/ 3998484 h 5434631"/>
                <a:gd name="connsiteX55" fmla="*/ 5388583 w 5461289"/>
                <a:gd name="connsiteY55" fmla="*/ 3575340 h 5434631"/>
                <a:gd name="connsiteX56" fmla="*/ 5353107 w 5461289"/>
                <a:gd name="connsiteY56" fmla="*/ 3010935 h 5434631"/>
                <a:gd name="connsiteX57" fmla="*/ 5265613 w 5461289"/>
                <a:gd name="connsiteY57" fmla="*/ 2450029 h 5434631"/>
                <a:gd name="connsiteX58" fmla="*/ 5285498 w 5461289"/>
                <a:gd name="connsiteY58" fmla="*/ 2145238 h 5434631"/>
                <a:gd name="connsiteX59" fmla="*/ 5272930 w 5461289"/>
                <a:gd name="connsiteY59" fmla="*/ 1787474 h 5434631"/>
                <a:gd name="connsiteX60" fmla="*/ 4825434 w 5461289"/>
                <a:gd name="connsiteY60" fmla="*/ 1220364 h 5434631"/>
                <a:gd name="connsiteX61" fmla="*/ 4501226 w 5461289"/>
                <a:gd name="connsiteY61" fmla="*/ 927663 h 5434631"/>
                <a:gd name="connsiteX62" fmla="*/ 4166201 w 5461289"/>
                <a:gd name="connsiteY62" fmla="*/ 533470 h 5434631"/>
                <a:gd name="connsiteX63" fmla="*/ 3691024 w 5461289"/>
                <a:gd name="connsiteY63" fmla="*/ 115575 h 5434631"/>
                <a:gd name="connsiteX64" fmla="*/ 3147124 w 5461289"/>
                <a:gd name="connsiteY64" fmla="*/ 115893 h 5434631"/>
                <a:gd name="connsiteX65" fmla="*/ 2654767 w 5461289"/>
                <a:gd name="connsiteY65" fmla="*/ 171570 h 5434631"/>
                <a:gd name="connsiteX66" fmla="*/ 2654767 w 5461289"/>
                <a:gd name="connsiteY66" fmla="*/ 171570 h 5434631"/>
                <a:gd name="connsiteX67" fmla="*/ 2174977 w 5461289"/>
                <a:gd name="connsiteY67" fmla="*/ 96962 h 5434631"/>
                <a:gd name="connsiteX68" fmla="*/ 1880836 w 5461289"/>
                <a:gd name="connsiteY68" fmla="*/ 46058 h 5434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5461289" h="5434631">
                  <a:moveTo>
                    <a:pt x="2060120" y="5434632"/>
                  </a:moveTo>
                  <a:cubicBezTo>
                    <a:pt x="1956081" y="5434632"/>
                    <a:pt x="1853951" y="5419201"/>
                    <a:pt x="1743548" y="5374819"/>
                  </a:cubicBezTo>
                  <a:cubicBezTo>
                    <a:pt x="1532924" y="5290190"/>
                    <a:pt x="1417113" y="5147816"/>
                    <a:pt x="1270599" y="4967582"/>
                  </a:cubicBezTo>
                  <a:cubicBezTo>
                    <a:pt x="1211580" y="4894883"/>
                    <a:pt x="1144606" y="4812482"/>
                    <a:pt x="1063952" y="4724989"/>
                  </a:cubicBezTo>
                  <a:cubicBezTo>
                    <a:pt x="876077" y="4520893"/>
                    <a:pt x="708564" y="4439605"/>
                    <a:pt x="560618" y="4367861"/>
                  </a:cubicBezTo>
                  <a:cubicBezTo>
                    <a:pt x="396764" y="4288323"/>
                    <a:pt x="267431" y="4225646"/>
                    <a:pt x="185186" y="4029505"/>
                  </a:cubicBezTo>
                  <a:cubicBezTo>
                    <a:pt x="85124" y="3792480"/>
                    <a:pt x="101191" y="3542093"/>
                    <a:pt x="119804" y="3252095"/>
                  </a:cubicBezTo>
                  <a:cubicBezTo>
                    <a:pt x="129348" y="3104154"/>
                    <a:pt x="139052" y="2951281"/>
                    <a:pt x="136348" y="2778841"/>
                  </a:cubicBezTo>
                  <a:cubicBezTo>
                    <a:pt x="133007" y="2562656"/>
                    <a:pt x="92123" y="2389421"/>
                    <a:pt x="56171" y="2236389"/>
                  </a:cubicBezTo>
                  <a:cubicBezTo>
                    <a:pt x="6538" y="2025612"/>
                    <a:pt x="-36255" y="1843310"/>
                    <a:pt x="47262" y="1641759"/>
                  </a:cubicBezTo>
                  <a:cubicBezTo>
                    <a:pt x="130144" y="1441799"/>
                    <a:pt x="286044" y="1345081"/>
                    <a:pt x="466283" y="1233090"/>
                  </a:cubicBezTo>
                  <a:cubicBezTo>
                    <a:pt x="593389" y="1154188"/>
                    <a:pt x="737517" y="1064787"/>
                    <a:pt x="884031" y="923208"/>
                  </a:cubicBezTo>
                  <a:cubicBezTo>
                    <a:pt x="1042794" y="769699"/>
                    <a:pt x="1145720" y="612213"/>
                    <a:pt x="1236556" y="473339"/>
                  </a:cubicBezTo>
                  <a:cubicBezTo>
                    <a:pt x="1365253" y="276560"/>
                    <a:pt x="1476291" y="106507"/>
                    <a:pt x="1694869" y="31105"/>
                  </a:cubicBezTo>
                  <a:cubicBezTo>
                    <a:pt x="1868745" y="-28867"/>
                    <a:pt x="2015737" y="8834"/>
                    <a:pt x="2186113" y="52421"/>
                  </a:cubicBezTo>
                  <a:cubicBezTo>
                    <a:pt x="2316878" y="85827"/>
                    <a:pt x="2464983" y="123687"/>
                    <a:pt x="2654926" y="125596"/>
                  </a:cubicBezTo>
                  <a:cubicBezTo>
                    <a:pt x="2845029" y="126392"/>
                    <a:pt x="3001565" y="97281"/>
                    <a:pt x="3138057" y="70715"/>
                  </a:cubicBezTo>
                  <a:cubicBezTo>
                    <a:pt x="3333409" y="32695"/>
                    <a:pt x="3502194" y="-233"/>
                    <a:pt x="3706137" y="72147"/>
                  </a:cubicBezTo>
                  <a:cubicBezTo>
                    <a:pt x="3933146" y="152639"/>
                    <a:pt x="4052139" y="308376"/>
                    <a:pt x="4202471" y="505472"/>
                  </a:cubicBezTo>
                  <a:cubicBezTo>
                    <a:pt x="4291238" y="621758"/>
                    <a:pt x="4391778" y="753473"/>
                    <a:pt x="4533361" y="895052"/>
                  </a:cubicBezTo>
                  <a:cubicBezTo>
                    <a:pt x="4648695" y="1010701"/>
                    <a:pt x="4758143" y="1103443"/>
                    <a:pt x="4854705" y="1185049"/>
                  </a:cubicBezTo>
                  <a:cubicBezTo>
                    <a:pt x="5069624" y="1366874"/>
                    <a:pt x="5239364" y="1510521"/>
                    <a:pt x="5316678" y="1774270"/>
                  </a:cubicBezTo>
                  <a:cubicBezTo>
                    <a:pt x="5358834" y="1916803"/>
                    <a:pt x="5346585" y="2019885"/>
                    <a:pt x="5330836" y="2150487"/>
                  </a:cubicBezTo>
                  <a:cubicBezTo>
                    <a:pt x="5320814" y="2233366"/>
                    <a:pt x="5309519" y="2327540"/>
                    <a:pt x="5311269" y="2449234"/>
                  </a:cubicBezTo>
                  <a:cubicBezTo>
                    <a:pt x="5314451" y="2670351"/>
                    <a:pt x="5358516" y="2845336"/>
                    <a:pt x="5397332" y="2999481"/>
                  </a:cubicBezTo>
                  <a:cubicBezTo>
                    <a:pt x="5448238" y="3201509"/>
                    <a:pt x="5492304" y="3376175"/>
                    <a:pt x="5432489" y="3587589"/>
                  </a:cubicBezTo>
                  <a:cubicBezTo>
                    <a:pt x="5378242" y="3779754"/>
                    <a:pt x="5263704" y="3885540"/>
                    <a:pt x="5105417" y="4031891"/>
                  </a:cubicBezTo>
                  <a:cubicBezTo>
                    <a:pt x="5021104" y="4109838"/>
                    <a:pt x="4925656" y="4198126"/>
                    <a:pt x="4816685" y="4318707"/>
                  </a:cubicBezTo>
                  <a:cubicBezTo>
                    <a:pt x="4660626" y="4491305"/>
                    <a:pt x="4548473" y="4647042"/>
                    <a:pt x="4449525" y="4784643"/>
                  </a:cubicBezTo>
                  <a:cubicBezTo>
                    <a:pt x="4263876" y="5042825"/>
                    <a:pt x="4129611" y="5229263"/>
                    <a:pt x="3851219" y="5333936"/>
                  </a:cubicBezTo>
                  <a:cubicBezTo>
                    <a:pt x="3672252" y="5401703"/>
                    <a:pt x="3533215" y="5387068"/>
                    <a:pt x="3357112" y="5368615"/>
                  </a:cubicBezTo>
                  <a:cubicBezTo>
                    <a:pt x="3238119" y="5356047"/>
                    <a:pt x="3103377" y="5341731"/>
                    <a:pt x="2920910" y="5346662"/>
                  </a:cubicBezTo>
                  <a:cubicBezTo>
                    <a:pt x="2712036" y="5351912"/>
                    <a:pt x="2545796" y="5377046"/>
                    <a:pt x="2399282" y="5399316"/>
                  </a:cubicBezTo>
                  <a:cubicBezTo>
                    <a:pt x="2276949" y="5418088"/>
                    <a:pt x="2167501" y="5434632"/>
                    <a:pt x="2060120" y="5434632"/>
                  </a:cubicBezTo>
                  <a:close/>
                  <a:moveTo>
                    <a:pt x="1880836" y="46058"/>
                  </a:moveTo>
                  <a:cubicBezTo>
                    <a:pt x="1825475" y="46058"/>
                    <a:pt x="1769479" y="54330"/>
                    <a:pt x="1709823" y="74851"/>
                  </a:cubicBezTo>
                  <a:cubicBezTo>
                    <a:pt x="1506199" y="145163"/>
                    <a:pt x="1404228" y="301217"/>
                    <a:pt x="1275053" y="498791"/>
                  </a:cubicBezTo>
                  <a:cubicBezTo>
                    <a:pt x="1182945" y="639733"/>
                    <a:pt x="1078588" y="799447"/>
                    <a:pt x="916006" y="956455"/>
                  </a:cubicBezTo>
                  <a:cubicBezTo>
                    <a:pt x="765993" y="1101534"/>
                    <a:pt x="619797" y="1192208"/>
                    <a:pt x="490622" y="1272382"/>
                  </a:cubicBezTo>
                  <a:cubicBezTo>
                    <a:pt x="309906" y="1384532"/>
                    <a:pt x="167051" y="1473137"/>
                    <a:pt x="89737" y="1659576"/>
                  </a:cubicBezTo>
                  <a:cubicBezTo>
                    <a:pt x="11787" y="1847446"/>
                    <a:pt x="51080" y="2014477"/>
                    <a:pt x="101032" y="2225890"/>
                  </a:cubicBezTo>
                  <a:cubicBezTo>
                    <a:pt x="137462" y="2380990"/>
                    <a:pt x="178982" y="2557088"/>
                    <a:pt x="182482" y="2778046"/>
                  </a:cubicBezTo>
                  <a:cubicBezTo>
                    <a:pt x="185186" y="2952394"/>
                    <a:pt x="174846" y="3113062"/>
                    <a:pt x="165778" y="3254959"/>
                  </a:cubicBezTo>
                  <a:cubicBezTo>
                    <a:pt x="146847" y="3550842"/>
                    <a:pt x="131894" y="3784685"/>
                    <a:pt x="227661" y="4011688"/>
                  </a:cubicBezTo>
                  <a:cubicBezTo>
                    <a:pt x="303224" y="4191763"/>
                    <a:pt x="425717" y="4251258"/>
                    <a:pt x="580822" y="4326501"/>
                  </a:cubicBezTo>
                  <a:cubicBezTo>
                    <a:pt x="724790" y="4396336"/>
                    <a:pt x="904075" y="4483351"/>
                    <a:pt x="1097837" y="4693810"/>
                  </a:cubicBezTo>
                  <a:cubicBezTo>
                    <a:pt x="1179445" y="4782416"/>
                    <a:pt x="1246896" y="4865295"/>
                    <a:pt x="1306392" y="4938470"/>
                  </a:cubicBezTo>
                  <a:cubicBezTo>
                    <a:pt x="1454338" y="5120614"/>
                    <a:pt x="1561241" y="5252011"/>
                    <a:pt x="1760888" y="5332186"/>
                  </a:cubicBezTo>
                  <a:cubicBezTo>
                    <a:pt x="1973421" y="5417611"/>
                    <a:pt x="2149365" y="5391045"/>
                    <a:pt x="2392760" y="5354139"/>
                  </a:cubicBezTo>
                  <a:cubicBezTo>
                    <a:pt x="2540706" y="5331868"/>
                    <a:pt x="2708219" y="5306416"/>
                    <a:pt x="2920115" y="5301007"/>
                  </a:cubicBezTo>
                  <a:cubicBezTo>
                    <a:pt x="3105286" y="5296076"/>
                    <a:pt x="3241937" y="5310552"/>
                    <a:pt x="3362361" y="5323119"/>
                  </a:cubicBezTo>
                  <a:cubicBezTo>
                    <a:pt x="3539101" y="5341731"/>
                    <a:pt x="3666526" y="5355093"/>
                    <a:pt x="3835311" y="5291144"/>
                  </a:cubicBezTo>
                  <a:cubicBezTo>
                    <a:pt x="4100659" y="5191403"/>
                    <a:pt x="4231583" y="5009737"/>
                    <a:pt x="4412618" y="4758077"/>
                  </a:cubicBezTo>
                  <a:cubicBezTo>
                    <a:pt x="4512203" y="4619680"/>
                    <a:pt x="4625150" y="4462671"/>
                    <a:pt x="4782959" y="4288164"/>
                  </a:cubicBezTo>
                  <a:cubicBezTo>
                    <a:pt x="4893362" y="4165992"/>
                    <a:pt x="4989606" y="4076909"/>
                    <a:pt x="5074556" y="3998484"/>
                  </a:cubicBezTo>
                  <a:cubicBezTo>
                    <a:pt x="5233160" y="3851975"/>
                    <a:pt x="5337836" y="3755097"/>
                    <a:pt x="5388583" y="3575340"/>
                  </a:cubicBezTo>
                  <a:cubicBezTo>
                    <a:pt x="5445056" y="3375539"/>
                    <a:pt x="5402423" y="3206599"/>
                    <a:pt x="5353107" y="3010935"/>
                  </a:cubicBezTo>
                  <a:cubicBezTo>
                    <a:pt x="5313655" y="2854085"/>
                    <a:pt x="5268794" y="2676396"/>
                    <a:pt x="5265613" y="2450029"/>
                  </a:cubicBezTo>
                  <a:cubicBezTo>
                    <a:pt x="5263863" y="2325154"/>
                    <a:pt x="5275316" y="2229549"/>
                    <a:pt x="5285498" y="2145238"/>
                  </a:cubicBezTo>
                  <a:cubicBezTo>
                    <a:pt x="5300451" y="2019885"/>
                    <a:pt x="5312383" y="1920939"/>
                    <a:pt x="5272930" y="1787474"/>
                  </a:cubicBezTo>
                  <a:cubicBezTo>
                    <a:pt x="5199435" y="1536927"/>
                    <a:pt x="5042580" y="1404098"/>
                    <a:pt x="4825434" y="1220364"/>
                  </a:cubicBezTo>
                  <a:cubicBezTo>
                    <a:pt x="4728235" y="1137962"/>
                    <a:pt x="4617992" y="1044743"/>
                    <a:pt x="4501226" y="927663"/>
                  </a:cubicBezTo>
                  <a:cubicBezTo>
                    <a:pt x="4357416" y="783857"/>
                    <a:pt x="4255922" y="650869"/>
                    <a:pt x="4166201" y="533470"/>
                  </a:cubicBezTo>
                  <a:cubicBezTo>
                    <a:pt x="4014595" y="334942"/>
                    <a:pt x="3905148" y="191613"/>
                    <a:pt x="3691024" y="115575"/>
                  </a:cubicBezTo>
                  <a:cubicBezTo>
                    <a:pt x="3498694" y="47330"/>
                    <a:pt x="3343590" y="77714"/>
                    <a:pt x="3147124" y="115893"/>
                  </a:cubicBezTo>
                  <a:cubicBezTo>
                    <a:pt x="3008405" y="142936"/>
                    <a:pt x="2849801" y="173797"/>
                    <a:pt x="2654767" y="171570"/>
                  </a:cubicBezTo>
                  <a:lnTo>
                    <a:pt x="2654767" y="171570"/>
                  </a:lnTo>
                  <a:cubicBezTo>
                    <a:pt x="2459256" y="169502"/>
                    <a:pt x="2308288" y="131005"/>
                    <a:pt x="2174977" y="96962"/>
                  </a:cubicBezTo>
                  <a:cubicBezTo>
                    <a:pt x="2067916" y="69760"/>
                    <a:pt x="1975012" y="46058"/>
                    <a:pt x="1880836" y="46058"/>
                  </a:cubicBezTo>
                  <a:close/>
                </a:path>
              </a:pathLst>
            </a:custGeom>
            <a:gradFill>
              <a:gsLst>
                <a:gs pos="100000">
                  <a:schemeClr val="accent2"/>
                </a:gs>
                <a:gs pos="0">
                  <a:schemeClr val="accent1"/>
                </a:gs>
              </a:gsLst>
              <a:lin ang="0" scaled="1"/>
            </a:gradFill>
            <a:ln w="1589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43" name="Freeform 42">
              <a:extLst>
                <a:ext uri="{FF2B5EF4-FFF2-40B4-BE49-F238E27FC236}">
                  <a16:creationId xmlns:a16="http://schemas.microsoft.com/office/drawing/2014/main" id="{7CD906BC-40D5-7F2D-4FEE-0B959A8E52AB}"/>
                </a:ext>
              </a:extLst>
            </p:cNvPr>
            <p:cNvSpPr/>
            <p:nvPr/>
          </p:nvSpPr>
          <p:spPr>
            <a:xfrm>
              <a:off x="-2679982" y="754296"/>
              <a:ext cx="5348635" cy="5328648"/>
            </a:xfrm>
            <a:custGeom>
              <a:avLst/>
              <a:gdLst>
                <a:gd name="connsiteX0" fmla="*/ 2032521 w 5348635"/>
                <a:gd name="connsiteY0" fmla="*/ 5328649 h 5328648"/>
                <a:gd name="connsiteX1" fmla="*/ 1697972 w 5348635"/>
                <a:gd name="connsiteY1" fmla="*/ 5265813 h 5328648"/>
                <a:gd name="connsiteX2" fmla="*/ 1217387 w 5348635"/>
                <a:gd name="connsiteY2" fmla="*/ 4858576 h 5328648"/>
                <a:gd name="connsiteX3" fmla="*/ 1025694 w 5348635"/>
                <a:gd name="connsiteY3" fmla="*/ 4638095 h 5328648"/>
                <a:gd name="connsiteX4" fmla="*/ 550677 w 5348635"/>
                <a:gd name="connsiteY4" fmla="*/ 4290830 h 5328648"/>
                <a:gd name="connsiteX5" fmla="*/ 177949 w 5348635"/>
                <a:gd name="connsiteY5" fmla="*/ 3942769 h 5328648"/>
                <a:gd name="connsiteX6" fmla="*/ 104612 w 5348635"/>
                <a:gd name="connsiteY6" fmla="*/ 3155975 h 5328648"/>
                <a:gd name="connsiteX7" fmla="*/ 116702 w 5348635"/>
                <a:gd name="connsiteY7" fmla="*/ 2720899 h 5328648"/>
                <a:gd name="connsiteX8" fmla="*/ 48615 w 5348635"/>
                <a:gd name="connsiteY8" fmla="*/ 2206604 h 5328648"/>
                <a:gd name="connsiteX9" fmla="*/ 49729 w 5348635"/>
                <a:gd name="connsiteY9" fmla="*/ 1607361 h 5328648"/>
                <a:gd name="connsiteX10" fmla="*/ 465727 w 5348635"/>
                <a:gd name="connsiteY10" fmla="*/ 1189465 h 5328648"/>
                <a:gd name="connsiteX11" fmla="*/ 856590 w 5348635"/>
                <a:gd name="connsiteY11" fmla="*/ 891037 h 5328648"/>
                <a:gd name="connsiteX12" fmla="*/ 1195593 w 5348635"/>
                <a:gd name="connsiteY12" fmla="*/ 471074 h 5328648"/>
                <a:gd name="connsiteX13" fmla="*/ 1665042 w 5348635"/>
                <a:gd name="connsiteY13" fmla="*/ 32657 h 5328648"/>
                <a:gd name="connsiteX14" fmla="*/ 2158831 w 5348635"/>
                <a:gd name="connsiteY14" fmla="*/ 45861 h 5328648"/>
                <a:gd name="connsiteX15" fmla="*/ 2605691 w 5348635"/>
                <a:gd name="connsiteY15" fmla="*/ 108855 h 5328648"/>
                <a:gd name="connsiteX16" fmla="*/ 3065596 w 5348635"/>
                <a:gd name="connsiteY16" fmla="*/ 63359 h 5328648"/>
                <a:gd name="connsiteX17" fmla="*/ 3640994 w 5348635"/>
                <a:gd name="connsiteY17" fmla="*/ 74813 h 5328648"/>
                <a:gd name="connsiteX18" fmla="*/ 4151168 w 5348635"/>
                <a:gd name="connsiteY18" fmla="*/ 513706 h 5328648"/>
                <a:gd name="connsiteX19" fmla="*/ 4463763 w 5348635"/>
                <a:gd name="connsiteY19" fmla="*/ 876402 h 5328648"/>
                <a:gd name="connsiteX20" fmla="*/ 4754882 w 5348635"/>
                <a:gd name="connsiteY20" fmla="*/ 1146037 h 5328648"/>
                <a:gd name="connsiteX21" fmla="*/ 5219877 w 5348635"/>
                <a:gd name="connsiteY21" fmla="*/ 1754507 h 5328648"/>
                <a:gd name="connsiteX22" fmla="*/ 5237058 w 5348635"/>
                <a:gd name="connsiteY22" fmla="*/ 2134542 h 5328648"/>
                <a:gd name="connsiteX23" fmla="*/ 5220832 w 5348635"/>
                <a:gd name="connsiteY23" fmla="*/ 2418971 h 5328648"/>
                <a:gd name="connsiteX24" fmla="*/ 5293850 w 5348635"/>
                <a:gd name="connsiteY24" fmla="*/ 2942653 h 5328648"/>
                <a:gd name="connsiteX25" fmla="*/ 5316758 w 5348635"/>
                <a:gd name="connsiteY25" fmla="*/ 3534737 h 5328648"/>
                <a:gd name="connsiteX26" fmla="*/ 4986505 w 5348635"/>
                <a:gd name="connsiteY26" fmla="*/ 3986675 h 5328648"/>
                <a:gd name="connsiteX27" fmla="*/ 4719407 w 5348635"/>
                <a:gd name="connsiteY27" fmla="*/ 4255197 h 5328648"/>
                <a:gd name="connsiteX28" fmla="*/ 4375950 w 5348635"/>
                <a:gd name="connsiteY28" fmla="*/ 4681682 h 5328648"/>
                <a:gd name="connsiteX29" fmla="*/ 3759827 w 5348635"/>
                <a:gd name="connsiteY29" fmla="*/ 5233998 h 5328648"/>
                <a:gd name="connsiteX30" fmla="*/ 3260152 w 5348635"/>
                <a:gd name="connsiteY30" fmla="*/ 5272653 h 5328648"/>
                <a:gd name="connsiteX31" fmla="*/ 2849404 w 5348635"/>
                <a:gd name="connsiteY31" fmla="*/ 5255155 h 5328648"/>
                <a:gd name="connsiteX32" fmla="*/ 2362138 w 5348635"/>
                <a:gd name="connsiteY32" fmla="*/ 5298742 h 5328648"/>
                <a:gd name="connsiteX33" fmla="*/ 2032521 w 5348635"/>
                <a:gd name="connsiteY33" fmla="*/ 5328649 h 5328648"/>
                <a:gd name="connsiteX34" fmla="*/ 1860394 w 5348635"/>
                <a:gd name="connsiteY34" fmla="*/ 49201 h 5328648"/>
                <a:gd name="connsiteX35" fmla="*/ 1680950 w 5348635"/>
                <a:gd name="connsiteY35" fmla="*/ 79267 h 5328648"/>
                <a:gd name="connsiteX36" fmla="*/ 1236000 w 5348635"/>
                <a:gd name="connsiteY36" fmla="*/ 499071 h 5328648"/>
                <a:gd name="connsiteX37" fmla="*/ 890793 w 5348635"/>
                <a:gd name="connsiteY37" fmla="*/ 926511 h 5328648"/>
                <a:gd name="connsiteX38" fmla="*/ 492771 w 5348635"/>
                <a:gd name="connsiteY38" fmla="*/ 1230825 h 5328648"/>
                <a:gd name="connsiteX39" fmla="*/ 95385 w 5348635"/>
                <a:gd name="connsiteY39" fmla="*/ 1626450 h 5328648"/>
                <a:gd name="connsiteX40" fmla="*/ 97135 w 5348635"/>
                <a:gd name="connsiteY40" fmla="*/ 2196741 h 5328648"/>
                <a:gd name="connsiteX41" fmla="*/ 166336 w 5348635"/>
                <a:gd name="connsiteY41" fmla="*/ 2720422 h 5328648"/>
                <a:gd name="connsiteX42" fmla="*/ 154086 w 5348635"/>
                <a:gd name="connsiteY42" fmla="*/ 3158838 h 5328648"/>
                <a:gd name="connsiteX43" fmla="*/ 223605 w 5348635"/>
                <a:gd name="connsiteY43" fmla="*/ 3923998 h 5328648"/>
                <a:gd name="connsiteX44" fmla="*/ 573902 w 5348635"/>
                <a:gd name="connsiteY44" fmla="*/ 4247561 h 5328648"/>
                <a:gd name="connsiteX45" fmla="*/ 1062124 w 5348635"/>
                <a:gd name="connsiteY45" fmla="*/ 4604848 h 5328648"/>
                <a:gd name="connsiteX46" fmla="*/ 1255407 w 5348635"/>
                <a:gd name="connsiteY46" fmla="*/ 4827238 h 5328648"/>
                <a:gd name="connsiteX47" fmla="*/ 1716585 w 5348635"/>
                <a:gd name="connsiteY47" fmla="*/ 5220317 h 5328648"/>
                <a:gd name="connsiteX48" fmla="*/ 2355933 w 5348635"/>
                <a:gd name="connsiteY48" fmla="*/ 5250223 h 5328648"/>
                <a:gd name="connsiteX49" fmla="*/ 2848291 w 5348635"/>
                <a:gd name="connsiteY49" fmla="*/ 5206159 h 5328648"/>
                <a:gd name="connsiteX50" fmla="*/ 3264766 w 5348635"/>
                <a:gd name="connsiteY50" fmla="*/ 5223816 h 5328648"/>
                <a:gd name="connsiteX51" fmla="*/ 3742646 w 5348635"/>
                <a:gd name="connsiteY51" fmla="*/ 5188024 h 5328648"/>
                <a:gd name="connsiteX52" fmla="*/ 4336498 w 5348635"/>
                <a:gd name="connsiteY52" fmla="*/ 4652412 h 5328648"/>
                <a:gd name="connsiteX53" fmla="*/ 4682818 w 5348635"/>
                <a:gd name="connsiteY53" fmla="*/ 4222427 h 5328648"/>
                <a:gd name="connsiteX54" fmla="*/ 4952620 w 5348635"/>
                <a:gd name="connsiteY54" fmla="*/ 3951200 h 5328648"/>
                <a:gd name="connsiteX55" fmla="*/ 5269511 w 5348635"/>
                <a:gd name="connsiteY55" fmla="*/ 3521215 h 5328648"/>
                <a:gd name="connsiteX56" fmla="*/ 5245808 w 5348635"/>
                <a:gd name="connsiteY56" fmla="*/ 2953629 h 5328648"/>
                <a:gd name="connsiteX57" fmla="*/ 5171517 w 5348635"/>
                <a:gd name="connsiteY57" fmla="*/ 2419926 h 5328648"/>
                <a:gd name="connsiteX58" fmla="*/ 5187902 w 5348635"/>
                <a:gd name="connsiteY58" fmla="*/ 2129769 h 5328648"/>
                <a:gd name="connsiteX59" fmla="*/ 5172471 w 5348635"/>
                <a:gd name="connsiteY59" fmla="*/ 1768824 h 5328648"/>
                <a:gd name="connsiteX60" fmla="*/ 4722271 w 5348635"/>
                <a:gd name="connsiteY60" fmla="*/ 1183420 h 5328648"/>
                <a:gd name="connsiteX61" fmla="*/ 4428606 w 5348635"/>
                <a:gd name="connsiteY61" fmla="*/ 911399 h 5328648"/>
                <a:gd name="connsiteX62" fmla="*/ 4112352 w 5348635"/>
                <a:gd name="connsiteY62" fmla="*/ 544408 h 5328648"/>
                <a:gd name="connsiteX63" fmla="*/ 3624290 w 5348635"/>
                <a:gd name="connsiteY63" fmla="*/ 121422 h 5328648"/>
                <a:gd name="connsiteX64" fmla="*/ 3073709 w 5348635"/>
                <a:gd name="connsiteY64" fmla="*/ 112196 h 5328648"/>
                <a:gd name="connsiteX65" fmla="*/ 2605055 w 5348635"/>
                <a:gd name="connsiteY65" fmla="*/ 158328 h 5328648"/>
                <a:gd name="connsiteX66" fmla="*/ 2605055 w 5348635"/>
                <a:gd name="connsiteY66" fmla="*/ 158328 h 5328648"/>
                <a:gd name="connsiteX67" fmla="*/ 2147696 w 5348635"/>
                <a:gd name="connsiteY67" fmla="*/ 94061 h 5328648"/>
                <a:gd name="connsiteX68" fmla="*/ 1860394 w 5348635"/>
                <a:gd name="connsiteY68" fmla="*/ 49201 h 5328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5348635" h="5328648">
                  <a:moveTo>
                    <a:pt x="2032521" y="5328649"/>
                  </a:moveTo>
                  <a:cubicBezTo>
                    <a:pt x="1921800" y="5328649"/>
                    <a:pt x="1814102" y="5312741"/>
                    <a:pt x="1697972" y="5265813"/>
                  </a:cubicBezTo>
                  <a:cubicBezTo>
                    <a:pt x="1486712" y="5180547"/>
                    <a:pt x="1367878" y="5038492"/>
                    <a:pt x="1217387" y="4858576"/>
                  </a:cubicBezTo>
                  <a:cubicBezTo>
                    <a:pt x="1161868" y="4792241"/>
                    <a:pt x="1099030" y="4717157"/>
                    <a:pt x="1025694" y="4638095"/>
                  </a:cubicBezTo>
                  <a:cubicBezTo>
                    <a:pt x="849113" y="4447839"/>
                    <a:pt x="690509" y="4364324"/>
                    <a:pt x="550677" y="4290830"/>
                  </a:cubicBezTo>
                  <a:cubicBezTo>
                    <a:pt x="394936" y="4208905"/>
                    <a:pt x="260353" y="4138116"/>
                    <a:pt x="177949" y="3942769"/>
                  </a:cubicBezTo>
                  <a:cubicBezTo>
                    <a:pt x="76296" y="3703359"/>
                    <a:pt x="89499" y="3449631"/>
                    <a:pt x="104612" y="3155975"/>
                  </a:cubicBezTo>
                  <a:cubicBezTo>
                    <a:pt x="111612" y="3019328"/>
                    <a:pt x="118929" y="2878067"/>
                    <a:pt x="116702" y="2720899"/>
                  </a:cubicBezTo>
                  <a:cubicBezTo>
                    <a:pt x="113680" y="2518554"/>
                    <a:pt x="79159" y="2352954"/>
                    <a:pt x="48615" y="2206604"/>
                  </a:cubicBezTo>
                  <a:cubicBezTo>
                    <a:pt x="4073" y="1993440"/>
                    <a:pt x="-34266" y="1809229"/>
                    <a:pt x="49729" y="1607361"/>
                  </a:cubicBezTo>
                  <a:cubicBezTo>
                    <a:pt x="133088" y="1407082"/>
                    <a:pt x="287238" y="1306228"/>
                    <a:pt x="465727" y="1189465"/>
                  </a:cubicBezTo>
                  <a:cubicBezTo>
                    <a:pt x="584720" y="1111677"/>
                    <a:pt x="719621" y="1023389"/>
                    <a:pt x="856590" y="891037"/>
                  </a:cubicBezTo>
                  <a:cubicBezTo>
                    <a:pt x="1005013" y="747549"/>
                    <a:pt x="1106189" y="600721"/>
                    <a:pt x="1195593" y="471074"/>
                  </a:cubicBezTo>
                  <a:cubicBezTo>
                    <a:pt x="1329699" y="276681"/>
                    <a:pt x="1445351" y="108696"/>
                    <a:pt x="1665042" y="32657"/>
                  </a:cubicBezTo>
                  <a:cubicBezTo>
                    <a:pt x="1838441" y="-27474"/>
                    <a:pt x="1987023" y="6569"/>
                    <a:pt x="2158831" y="45861"/>
                  </a:cubicBezTo>
                  <a:cubicBezTo>
                    <a:pt x="2284506" y="74654"/>
                    <a:pt x="2427043" y="107105"/>
                    <a:pt x="2605691" y="108855"/>
                  </a:cubicBezTo>
                  <a:cubicBezTo>
                    <a:pt x="2786567" y="112037"/>
                    <a:pt x="2934513" y="85471"/>
                    <a:pt x="3065596" y="63359"/>
                  </a:cubicBezTo>
                  <a:cubicBezTo>
                    <a:pt x="3264448" y="29953"/>
                    <a:pt x="3436097" y="1001"/>
                    <a:pt x="3640994" y="74813"/>
                  </a:cubicBezTo>
                  <a:cubicBezTo>
                    <a:pt x="3870707" y="157533"/>
                    <a:pt x="3994473" y="314701"/>
                    <a:pt x="4151168" y="513706"/>
                  </a:cubicBezTo>
                  <a:cubicBezTo>
                    <a:pt x="4236595" y="622197"/>
                    <a:pt x="4333475" y="745163"/>
                    <a:pt x="4463763" y="876402"/>
                  </a:cubicBezTo>
                  <a:cubicBezTo>
                    <a:pt x="4567803" y="981393"/>
                    <a:pt x="4667229" y="1068885"/>
                    <a:pt x="4754882" y="1146037"/>
                  </a:cubicBezTo>
                  <a:cubicBezTo>
                    <a:pt x="4971074" y="1336134"/>
                    <a:pt x="5141928" y="1486303"/>
                    <a:pt x="5219877" y="1754507"/>
                  </a:cubicBezTo>
                  <a:cubicBezTo>
                    <a:pt x="5261716" y="1897040"/>
                    <a:pt x="5250262" y="2006962"/>
                    <a:pt x="5237058" y="2134542"/>
                  </a:cubicBezTo>
                  <a:cubicBezTo>
                    <a:pt x="5228786" y="2214398"/>
                    <a:pt x="5219400" y="2304913"/>
                    <a:pt x="5220832" y="2418971"/>
                  </a:cubicBezTo>
                  <a:cubicBezTo>
                    <a:pt x="5223536" y="2626567"/>
                    <a:pt x="5260920" y="2794552"/>
                    <a:pt x="5293850" y="2942653"/>
                  </a:cubicBezTo>
                  <a:cubicBezTo>
                    <a:pt x="5339348" y="3147067"/>
                    <a:pt x="5378482" y="3323642"/>
                    <a:pt x="5316758" y="3534737"/>
                  </a:cubicBezTo>
                  <a:cubicBezTo>
                    <a:pt x="5260284" y="3727698"/>
                    <a:pt x="5145427" y="3836347"/>
                    <a:pt x="4986505" y="3986675"/>
                  </a:cubicBezTo>
                  <a:cubicBezTo>
                    <a:pt x="4908237" y="4060805"/>
                    <a:pt x="4819310" y="4144797"/>
                    <a:pt x="4719407" y="4255197"/>
                  </a:cubicBezTo>
                  <a:cubicBezTo>
                    <a:pt x="4577347" y="4412047"/>
                    <a:pt x="4470444" y="4555216"/>
                    <a:pt x="4375950" y="4681682"/>
                  </a:cubicBezTo>
                  <a:cubicBezTo>
                    <a:pt x="4182030" y="4941296"/>
                    <a:pt x="4041879" y="5128847"/>
                    <a:pt x="3759827" y="5233998"/>
                  </a:cubicBezTo>
                  <a:cubicBezTo>
                    <a:pt x="3580542" y="5301446"/>
                    <a:pt x="3439119" y="5288720"/>
                    <a:pt x="3260152" y="5272653"/>
                  </a:cubicBezTo>
                  <a:cubicBezTo>
                    <a:pt x="3146727" y="5262472"/>
                    <a:pt x="3018030" y="5251337"/>
                    <a:pt x="2849404" y="5255155"/>
                  </a:cubicBezTo>
                  <a:cubicBezTo>
                    <a:pt x="2657234" y="5259768"/>
                    <a:pt x="2500538" y="5280448"/>
                    <a:pt x="2362138" y="5298742"/>
                  </a:cubicBezTo>
                  <a:cubicBezTo>
                    <a:pt x="2243463" y="5314490"/>
                    <a:pt x="2136719" y="5328649"/>
                    <a:pt x="2032521" y="5328649"/>
                  </a:cubicBezTo>
                  <a:close/>
                  <a:moveTo>
                    <a:pt x="1860394" y="49201"/>
                  </a:moveTo>
                  <a:cubicBezTo>
                    <a:pt x="1802011" y="49201"/>
                    <a:pt x="1743310" y="57632"/>
                    <a:pt x="1680950" y="79267"/>
                  </a:cubicBezTo>
                  <a:cubicBezTo>
                    <a:pt x="1476690" y="150056"/>
                    <a:pt x="1370423" y="304043"/>
                    <a:pt x="1236000" y="499071"/>
                  </a:cubicBezTo>
                  <a:cubicBezTo>
                    <a:pt x="1145323" y="630628"/>
                    <a:pt x="1042556" y="779683"/>
                    <a:pt x="890793" y="926511"/>
                  </a:cubicBezTo>
                  <a:cubicBezTo>
                    <a:pt x="750483" y="1062204"/>
                    <a:pt x="613514" y="1151764"/>
                    <a:pt x="492771" y="1230825"/>
                  </a:cubicBezTo>
                  <a:cubicBezTo>
                    <a:pt x="313963" y="1347747"/>
                    <a:pt x="172858" y="1440011"/>
                    <a:pt x="95385" y="1626450"/>
                  </a:cubicBezTo>
                  <a:cubicBezTo>
                    <a:pt x="17276" y="1814320"/>
                    <a:pt x="52433" y="1983100"/>
                    <a:pt x="97135" y="2196741"/>
                  </a:cubicBezTo>
                  <a:cubicBezTo>
                    <a:pt x="127997" y="2345159"/>
                    <a:pt x="163154" y="2513304"/>
                    <a:pt x="166336" y="2720422"/>
                  </a:cubicBezTo>
                  <a:cubicBezTo>
                    <a:pt x="168563" y="2879340"/>
                    <a:pt x="161245" y="3021396"/>
                    <a:pt x="154086" y="3158838"/>
                  </a:cubicBezTo>
                  <a:cubicBezTo>
                    <a:pt x="139292" y="3446450"/>
                    <a:pt x="126406" y="3694768"/>
                    <a:pt x="223605" y="3923998"/>
                  </a:cubicBezTo>
                  <a:cubicBezTo>
                    <a:pt x="299169" y="4103119"/>
                    <a:pt x="420389" y="4166909"/>
                    <a:pt x="573902" y="4247561"/>
                  </a:cubicBezTo>
                  <a:cubicBezTo>
                    <a:pt x="710076" y="4319305"/>
                    <a:pt x="879816" y="4408388"/>
                    <a:pt x="1062124" y="4604848"/>
                  </a:cubicBezTo>
                  <a:cubicBezTo>
                    <a:pt x="1136415" y="4684864"/>
                    <a:pt x="1199570" y="4760426"/>
                    <a:pt x="1255407" y="4827238"/>
                  </a:cubicBezTo>
                  <a:cubicBezTo>
                    <a:pt x="1407171" y="5008585"/>
                    <a:pt x="1516937" y="5139824"/>
                    <a:pt x="1716585" y="5220317"/>
                  </a:cubicBezTo>
                  <a:cubicBezTo>
                    <a:pt x="1929913" y="5306537"/>
                    <a:pt x="2108721" y="5282834"/>
                    <a:pt x="2355933" y="5250223"/>
                  </a:cubicBezTo>
                  <a:cubicBezTo>
                    <a:pt x="2495448" y="5231770"/>
                    <a:pt x="2653575" y="5210931"/>
                    <a:pt x="2848291" y="5206159"/>
                  </a:cubicBezTo>
                  <a:cubicBezTo>
                    <a:pt x="3020099" y="5202023"/>
                    <a:pt x="3149909" y="5213636"/>
                    <a:pt x="3264766" y="5223816"/>
                  </a:cubicBezTo>
                  <a:cubicBezTo>
                    <a:pt x="3444051" y="5239883"/>
                    <a:pt x="3573861" y="5251655"/>
                    <a:pt x="3742646" y="5188024"/>
                  </a:cubicBezTo>
                  <a:cubicBezTo>
                    <a:pt x="4011176" y="5087806"/>
                    <a:pt x="4147668" y="4905185"/>
                    <a:pt x="4336498" y="4652412"/>
                  </a:cubicBezTo>
                  <a:cubicBezTo>
                    <a:pt x="4431628" y="4525151"/>
                    <a:pt x="4539327" y="4380868"/>
                    <a:pt x="4682818" y="4222427"/>
                  </a:cubicBezTo>
                  <a:cubicBezTo>
                    <a:pt x="4783994" y="4110437"/>
                    <a:pt x="4873557" y="4025967"/>
                    <a:pt x="4952620" y="3951200"/>
                  </a:cubicBezTo>
                  <a:cubicBezTo>
                    <a:pt x="5111702" y="3800714"/>
                    <a:pt x="5216855" y="3701450"/>
                    <a:pt x="5269511" y="3521215"/>
                  </a:cubicBezTo>
                  <a:cubicBezTo>
                    <a:pt x="5327735" y="3322210"/>
                    <a:pt x="5289873" y="3151362"/>
                    <a:pt x="5245808" y="2953629"/>
                  </a:cubicBezTo>
                  <a:cubicBezTo>
                    <a:pt x="5212241" y="2803142"/>
                    <a:pt x="5174380" y="2632612"/>
                    <a:pt x="5171517" y="2419926"/>
                  </a:cubicBezTo>
                  <a:cubicBezTo>
                    <a:pt x="5169926" y="2303004"/>
                    <a:pt x="5179471" y="2210898"/>
                    <a:pt x="5187902" y="2129769"/>
                  </a:cubicBezTo>
                  <a:cubicBezTo>
                    <a:pt x="5201265" y="2002508"/>
                    <a:pt x="5211605" y="1901971"/>
                    <a:pt x="5172471" y="1768824"/>
                  </a:cubicBezTo>
                  <a:cubicBezTo>
                    <a:pt x="5098498" y="1514300"/>
                    <a:pt x="4940689" y="1375585"/>
                    <a:pt x="4722271" y="1183420"/>
                  </a:cubicBezTo>
                  <a:cubicBezTo>
                    <a:pt x="4633821" y="1105791"/>
                    <a:pt x="4533759" y="1017662"/>
                    <a:pt x="4428606" y="911399"/>
                  </a:cubicBezTo>
                  <a:cubicBezTo>
                    <a:pt x="4296409" y="778251"/>
                    <a:pt x="4198733" y="654012"/>
                    <a:pt x="4112352" y="544408"/>
                  </a:cubicBezTo>
                  <a:cubicBezTo>
                    <a:pt x="3960588" y="351607"/>
                    <a:pt x="3840641" y="199370"/>
                    <a:pt x="3624290" y="121422"/>
                  </a:cubicBezTo>
                  <a:cubicBezTo>
                    <a:pt x="3431642" y="52065"/>
                    <a:pt x="3273674" y="78631"/>
                    <a:pt x="3073709" y="112196"/>
                  </a:cubicBezTo>
                  <a:cubicBezTo>
                    <a:pt x="2940558" y="134467"/>
                    <a:pt x="2790385" y="159442"/>
                    <a:pt x="2605055" y="158328"/>
                  </a:cubicBezTo>
                  <a:lnTo>
                    <a:pt x="2605055" y="158328"/>
                  </a:lnTo>
                  <a:cubicBezTo>
                    <a:pt x="2420998" y="156578"/>
                    <a:pt x="2275756" y="123331"/>
                    <a:pt x="2147696" y="94061"/>
                  </a:cubicBezTo>
                  <a:cubicBezTo>
                    <a:pt x="2043179" y="70040"/>
                    <a:pt x="1952025" y="49201"/>
                    <a:pt x="1860394" y="49201"/>
                  </a:cubicBezTo>
                  <a:close/>
                </a:path>
              </a:pathLst>
            </a:custGeom>
            <a:gradFill>
              <a:gsLst>
                <a:gs pos="100000">
                  <a:schemeClr val="accent2"/>
                </a:gs>
                <a:gs pos="0">
                  <a:schemeClr val="accent1"/>
                </a:gs>
              </a:gsLst>
              <a:lin ang="0" scaled="1"/>
            </a:gradFill>
            <a:ln w="1589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44" name="Freeform 43">
              <a:extLst>
                <a:ext uri="{FF2B5EF4-FFF2-40B4-BE49-F238E27FC236}">
                  <a16:creationId xmlns:a16="http://schemas.microsoft.com/office/drawing/2014/main" id="{E6F733D0-9BFB-DD3B-7DBE-313D30283E28}"/>
                </a:ext>
              </a:extLst>
            </p:cNvPr>
            <p:cNvSpPr/>
            <p:nvPr/>
          </p:nvSpPr>
          <p:spPr>
            <a:xfrm>
              <a:off x="-2624281" y="807480"/>
              <a:ext cx="5236956" cy="5222968"/>
            </a:xfrm>
            <a:custGeom>
              <a:avLst/>
              <a:gdLst>
                <a:gd name="connsiteX0" fmla="*/ 2009431 w 5236956"/>
                <a:gd name="connsiteY0" fmla="*/ 5222969 h 5222968"/>
                <a:gd name="connsiteX1" fmla="*/ 1652929 w 5236956"/>
                <a:gd name="connsiteY1" fmla="*/ 5156634 h 5222968"/>
                <a:gd name="connsiteX2" fmla="*/ 1163435 w 5236956"/>
                <a:gd name="connsiteY2" fmla="*/ 4748443 h 5222968"/>
                <a:gd name="connsiteX3" fmla="*/ 988287 w 5236956"/>
                <a:gd name="connsiteY3" fmla="*/ 4551187 h 5222968"/>
                <a:gd name="connsiteX4" fmla="*/ 542063 w 5236956"/>
                <a:gd name="connsiteY4" fmla="*/ 4214898 h 5222968"/>
                <a:gd name="connsiteX5" fmla="*/ 171244 w 5236956"/>
                <a:gd name="connsiteY5" fmla="*/ 3856339 h 5222968"/>
                <a:gd name="connsiteX6" fmla="*/ 89476 w 5236956"/>
                <a:gd name="connsiteY6" fmla="*/ 3056977 h 5222968"/>
                <a:gd name="connsiteX7" fmla="*/ 97589 w 5236956"/>
                <a:gd name="connsiteY7" fmla="*/ 2663261 h 5222968"/>
                <a:gd name="connsiteX8" fmla="*/ 41115 w 5236956"/>
                <a:gd name="connsiteY8" fmla="*/ 2179031 h 5222968"/>
                <a:gd name="connsiteX9" fmla="*/ 52569 w 5236956"/>
                <a:gd name="connsiteY9" fmla="*/ 1573266 h 5222968"/>
                <a:gd name="connsiteX10" fmla="*/ 466340 w 5236956"/>
                <a:gd name="connsiteY10" fmla="*/ 1144553 h 5222968"/>
                <a:gd name="connsiteX11" fmla="*/ 829364 w 5236956"/>
                <a:gd name="connsiteY11" fmla="*/ 859010 h 5222968"/>
                <a:gd name="connsiteX12" fmla="*/ 1153095 w 5236956"/>
                <a:gd name="connsiteY12" fmla="*/ 469908 h 5222968"/>
                <a:gd name="connsiteX13" fmla="*/ 1635271 w 5236956"/>
                <a:gd name="connsiteY13" fmla="*/ 34355 h 5222968"/>
                <a:gd name="connsiteX14" fmla="*/ 2132719 w 5236956"/>
                <a:gd name="connsiteY14" fmla="*/ 39286 h 5222968"/>
                <a:gd name="connsiteX15" fmla="*/ 2556512 w 5236956"/>
                <a:gd name="connsiteY15" fmla="*/ 92259 h 5222968"/>
                <a:gd name="connsiteX16" fmla="*/ 2991123 w 5236956"/>
                <a:gd name="connsiteY16" fmla="*/ 55831 h 5222968"/>
                <a:gd name="connsiteX17" fmla="*/ 3576224 w 5236956"/>
                <a:gd name="connsiteY17" fmla="*/ 77624 h 5222968"/>
                <a:gd name="connsiteX18" fmla="*/ 4102307 w 5236956"/>
                <a:gd name="connsiteY18" fmla="*/ 523835 h 5222968"/>
                <a:gd name="connsiteX19" fmla="*/ 4394222 w 5236956"/>
                <a:gd name="connsiteY19" fmla="*/ 857897 h 5222968"/>
                <a:gd name="connsiteX20" fmla="*/ 4653206 w 5236956"/>
                <a:gd name="connsiteY20" fmla="*/ 1104148 h 5222968"/>
                <a:gd name="connsiteX21" fmla="*/ 5123292 w 5236956"/>
                <a:gd name="connsiteY21" fmla="*/ 1735047 h 5222968"/>
                <a:gd name="connsiteX22" fmla="*/ 5143654 w 5236956"/>
                <a:gd name="connsiteY22" fmla="*/ 2119854 h 5222968"/>
                <a:gd name="connsiteX23" fmla="*/ 5130609 w 5236956"/>
                <a:gd name="connsiteY23" fmla="*/ 2388853 h 5222968"/>
                <a:gd name="connsiteX24" fmla="*/ 5191061 w 5236956"/>
                <a:gd name="connsiteY24" fmla="*/ 2883901 h 5222968"/>
                <a:gd name="connsiteX25" fmla="*/ 5201401 w 5236956"/>
                <a:gd name="connsiteY25" fmla="*/ 3482030 h 5222968"/>
                <a:gd name="connsiteX26" fmla="*/ 4866853 w 5236956"/>
                <a:gd name="connsiteY26" fmla="*/ 3942876 h 5222968"/>
                <a:gd name="connsiteX27" fmla="*/ 4622344 w 5236956"/>
                <a:gd name="connsiteY27" fmla="*/ 4191673 h 5222968"/>
                <a:gd name="connsiteX28" fmla="*/ 4305613 w 5236956"/>
                <a:gd name="connsiteY28" fmla="*/ 4576480 h 5222968"/>
                <a:gd name="connsiteX29" fmla="*/ 3668810 w 5236956"/>
                <a:gd name="connsiteY29" fmla="*/ 5134204 h 5222968"/>
                <a:gd name="connsiteX30" fmla="*/ 3162135 w 5236956"/>
                <a:gd name="connsiteY30" fmla="*/ 5176996 h 5222968"/>
                <a:gd name="connsiteX31" fmla="*/ 2778271 w 5236956"/>
                <a:gd name="connsiteY31" fmla="*/ 5163633 h 5222968"/>
                <a:gd name="connsiteX32" fmla="*/ 2328230 w 5236956"/>
                <a:gd name="connsiteY32" fmla="*/ 5198630 h 5222968"/>
                <a:gd name="connsiteX33" fmla="*/ 2009431 w 5236956"/>
                <a:gd name="connsiteY33" fmla="*/ 5222969 h 5222968"/>
                <a:gd name="connsiteX34" fmla="*/ 1842554 w 5236956"/>
                <a:gd name="connsiteY34" fmla="*/ 52172 h 5222968"/>
                <a:gd name="connsiteX35" fmla="*/ 1652452 w 5236956"/>
                <a:gd name="connsiteY35" fmla="*/ 83828 h 5222968"/>
                <a:gd name="connsiteX36" fmla="*/ 1195411 w 5236956"/>
                <a:gd name="connsiteY36" fmla="*/ 500610 h 5222968"/>
                <a:gd name="connsiteX37" fmla="*/ 865635 w 5236956"/>
                <a:gd name="connsiteY37" fmla="*/ 896552 h 5222968"/>
                <a:gd name="connsiteX38" fmla="*/ 495929 w 5236956"/>
                <a:gd name="connsiteY38" fmla="*/ 1187663 h 5222968"/>
                <a:gd name="connsiteX39" fmla="*/ 100930 w 5236956"/>
                <a:gd name="connsiteY39" fmla="*/ 1593151 h 5222968"/>
                <a:gd name="connsiteX40" fmla="*/ 92658 w 5236956"/>
                <a:gd name="connsiteY40" fmla="*/ 2169486 h 5222968"/>
                <a:gd name="connsiteX41" fmla="*/ 149927 w 5236956"/>
                <a:gd name="connsiteY41" fmla="*/ 2662307 h 5222968"/>
                <a:gd name="connsiteX42" fmla="*/ 141814 w 5236956"/>
                <a:gd name="connsiteY42" fmla="*/ 3058886 h 5222968"/>
                <a:gd name="connsiteX43" fmla="*/ 219446 w 5236956"/>
                <a:gd name="connsiteY43" fmla="*/ 3835659 h 5222968"/>
                <a:gd name="connsiteX44" fmla="*/ 567834 w 5236956"/>
                <a:gd name="connsiteY44" fmla="*/ 4169243 h 5222968"/>
                <a:gd name="connsiteX45" fmla="*/ 1026466 w 5236956"/>
                <a:gd name="connsiteY45" fmla="*/ 4515394 h 5222968"/>
                <a:gd name="connsiteX46" fmla="*/ 1203206 w 5236956"/>
                <a:gd name="connsiteY46" fmla="*/ 4714241 h 5222968"/>
                <a:gd name="connsiteX47" fmla="*/ 1672814 w 5236956"/>
                <a:gd name="connsiteY47" fmla="*/ 5107956 h 5222968"/>
                <a:gd name="connsiteX48" fmla="*/ 2322503 w 5236956"/>
                <a:gd name="connsiteY48" fmla="*/ 5146135 h 5222968"/>
                <a:gd name="connsiteX49" fmla="*/ 2777158 w 5236956"/>
                <a:gd name="connsiteY49" fmla="*/ 5110820 h 5222968"/>
                <a:gd name="connsiteX50" fmla="*/ 3166112 w 5236956"/>
                <a:gd name="connsiteY50" fmla="*/ 5124342 h 5222968"/>
                <a:gd name="connsiteX51" fmla="*/ 3650516 w 5236956"/>
                <a:gd name="connsiteY51" fmla="*/ 5084731 h 5222968"/>
                <a:gd name="connsiteX52" fmla="*/ 4264093 w 5236956"/>
                <a:gd name="connsiteY52" fmla="*/ 4544029 h 5222968"/>
                <a:gd name="connsiteX53" fmla="*/ 4583369 w 5236956"/>
                <a:gd name="connsiteY53" fmla="*/ 4156199 h 5222968"/>
                <a:gd name="connsiteX54" fmla="*/ 4830264 w 5236956"/>
                <a:gd name="connsiteY54" fmla="*/ 3904857 h 5222968"/>
                <a:gd name="connsiteX55" fmla="*/ 5151131 w 5236956"/>
                <a:gd name="connsiteY55" fmla="*/ 3466600 h 5222968"/>
                <a:gd name="connsiteX56" fmla="*/ 5139359 w 5236956"/>
                <a:gd name="connsiteY56" fmla="*/ 2893605 h 5222968"/>
                <a:gd name="connsiteX57" fmla="*/ 5077954 w 5236956"/>
                <a:gd name="connsiteY57" fmla="*/ 2389331 h 5222968"/>
                <a:gd name="connsiteX58" fmla="*/ 5091158 w 5236956"/>
                <a:gd name="connsiteY58" fmla="*/ 2115082 h 5222968"/>
                <a:gd name="connsiteX59" fmla="*/ 5072863 w 5236956"/>
                <a:gd name="connsiteY59" fmla="*/ 1749523 h 5222968"/>
                <a:gd name="connsiteX60" fmla="*/ 4617890 w 5236956"/>
                <a:gd name="connsiteY60" fmla="*/ 1142644 h 5222968"/>
                <a:gd name="connsiteX61" fmla="*/ 4356837 w 5236956"/>
                <a:gd name="connsiteY61" fmla="*/ 894484 h 5222968"/>
                <a:gd name="connsiteX62" fmla="*/ 4061582 w 5236956"/>
                <a:gd name="connsiteY62" fmla="*/ 556605 h 5222968"/>
                <a:gd name="connsiteX63" fmla="*/ 3558248 w 5236956"/>
                <a:gd name="connsiteY63" fmla="*/ 126620 h 5222968"/>
                <a:gd name="connsiteX64" fmla="*/ 2998758 w 5236956"/>
                <a:gd name="connsiteY64" fmla="*/ 107531 h 5222968"/>
                <a:gd name="connsiteX65" fmla="*/ 2556353 w 5236956"/>
                <a:gd name="connsiteY65" fmla="*/ 144436 h 5222968"/>
                <a:gd name="connsiteX66" fmla="*/ 2556353 w 5236956"/>
                <a:gd name="connsiteY66" fmla="*/ 144436 h 5222968"/>
                <a:gd name="connsiteX67" fmla="*/ 2122697 w 5236956"/>
                <a:gd name="connsiteY67" fmla="*/ 90350 h 5222968"/>
                <a:gd name="connsiteX68" fmla="*/ 1842554 w 5236956"/>
                <a:gd name="connsiteY68" fmla="*/ 52172 h 5222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5236956" h="5222968">
                  <a:moveTo>
                    <a:pt x="2009431" y="5222969"/>
                  </a:moveTo>
                  <a:cubicBezTo>
                    <a:pt x="1890597" y="5222969"/>
                    <a:pt x="1776058" y="5206584"/>
                    <a:pt x="1652929" y="5156634"/>
                  </a:cubicBezTo>
                  <a:cubicBezTo>
                    <a:pt x="1440874" y="5070574"/>
                    <a:pt x="1318381" y="4928517"/>
                    <a:pt x="1163435" y="4748443"/>
                  </a:cubicBezTo>
                  <a:cubicBezTo>
                    <a:pt x="1109666" y="4686084"/>
                    <a:pt x="1053987" y="4621499"/>
                    <a:pt x="988287" y="4551187"/>
                  </a:cubicBezTo>
                  <a:cubicBezTo>
                    <a:pt x="823001" y="4374770"/>
                    <a:pt x="673783" y="4289823"/>
                    <a:pt x="542063" y="4214898"/>
                  </a:cubicBezTo>
                  <a:cubicBezTo>
                    <a:pt x="387595" y="4126929"/>
                    <a:pt x="254126" y="4051049"/>
                    <a:pt x="171244" y="3856339"/>
                  </a:cubicBezTo>
                  <a:cubicBezTo>
                    <a:pt x="67523" y="3613587"/>
                    <a:pt x="77704" y="3355565"/>
                    <a:pt x="89476" y="3056977"/>
                  </a:cubicBezTo>
                  <a:cubicBezTo>
                    <a:pt x="94408" y="2932738"/>
                    <a:pt x="99498" y="2804203"/>
                    <a:pt x="97589" y="2663261"/>
                  </a:cubicBezTo>
                  <a:cubicBezTo>
                    <a:pt x="94885" y="2475391"/>
                    <a:pt x="66409" y="2317905"/>
                    <a:pt x="41115" y="2179031"/>
                  </a:cubicBezTo>
                  <a:cubicBezTo>
                    <a:pt x="1822" y="1962845"/>
                    <a:pt x="-32062" y="1776089"/>
                    <a:pt x="52569" y="1573266"/>
                  </a:cubicBezTo>
                  <a:cubicBezTo>
                    <a:pt x="136564" y="1372033"/>
                    <a:pt x="289283" y="1266566"/>
                    <a:pt x="466340" y="1144553"/>
                  </a:cubicBezTo>
                  <a:cubicBezTo>
                    <a:pt x="576902" y="1068355"/>
                    <a:pt x="702417" y="981818"/>
                    <a:pt x="829364" y="859010"/>
                  </a:cubicBezTo>
                  <a:cubicBezTo>
                    <a:pt x="966970" y="725863"/>
                    <a:pt x="1065918" y="589852"/>
                    <a:pt x="1153095" y="469908"/>
                  </a:cubicBezTo>
                  <a:cubicBezTo>
                    <a:pt x="1293087" y="277425"/>
                    <a:pt x="1413989" y="111030"/>
                    <a:pt x="1635271" y="34355"/>
                  </a:cubicBezTo>
                  <a:cubicBezTo>
                    <a:pt x="1808829" y="-25776"/>
                    <a:pt x="1958843" y="4290"/>
                    <a:pt x="2132719" y="39286"/>
                  </a:cubicBezTo>
                  <a:cubicBezTo>
                    <a:pt x="2253144" y="63466"/>
                    <a:pt x="2389477" y="90827"/>
                    <a:pt x="2556512" y="92259"/>
                  </a:cubicBezTo>
                  <a:cubicBezTo>
                    <a:pt x="2724502" y="93214"/>
                    <a:pt x="2866085" y="73647"/>
                    <a:pt x="2991123" y="55831"/>
                  </a:cubicBezTo>
                  <a:cubicBezTo>
                    <a:pt x="3194429" y="27038"/>
                    <a:pt x="3370055" y="2062"/>
                    <a:pt x="3576224" y="77624"/>
                  </a:cubicBezTo>
                  <a:cubicBezTo>
                    <a:pt x="3809438" y="162889"/>
                    <a:pt x="3938771" y="322284"/>
                    <a:pt x="4102307" y="523835"/>
                  </a:cubicBezTo>
                  <a:cubicBezTo>
                    <a:pt x="4183597" y="624053"/>
                    <a:pt x="4275865" y="737794"/>
                    <a:pt x="4394222" y="857897"/>
                  </a:cubicBezTo>
                  <a:cubicBezTo>
                    <a:pt x="4486171" y="951593"/>
                    <a:pt x="4574938" y="1032563"/>
                    <a:pt x="4653206" y="1104148"/>
                  </a:cubicBezTo>
                  <a:cubicBezTo>
                    <a:pt x="4871625" y="1303630"/>
                    <a:pt x="5044228" y="1461117"/>
                    <a:pt x="5123292" y="1735047"/>
                  </a:cubicBezTo>
                  <a:cubicBezTo>
                    <a:pt x="5164971" y="1877739"/>
                    <a:pt x="5155108" y="1989889"/>
                    <a:pt x="5143654" y="2119854"/>
                  </a:cubicBezTo>
                  <a:cubicBezTo>
                    <a:pt x="5136973" y="2196211"/>
                    <a:pt x="5129337" y="2282749"/>
                    <a:pt x="5130609" y="2388853"/>
                  </a:cubicBezTo>
                  <a:cubicBezTo>
                    <a:pt x="5132996" y="2582291"/>
                    <a:pt x="5163858" y="2742482"/>
                    <a:pt x="5191061" y="2883901"/>
                  </a:cubicBezTo>
                  <a:cubicBezTo>
                    <a:pt x="5230990" y="3091497"/>
                    <a:pt x="5265511" y="3270776"/>
                    <a:pt x="5201401" y="3482030"/>
                  </a:cubicBezTo>
                  <a:cubicBezTo>
                    <a:pt x="5142700" y="3676105"/>
                    <a:pt x="5027048" y="3787936"/>
                    <a:pt x="4866853" y="3942876"/>
                  </a:cubicBezTo>
                  <a:cubicBezTo>
                    <a:pt x="4794789" y="4012711"/>
                    <a:pt x="4713021" y="4091614"/>
                    <a:pt x="4622344" y="4191673"/>
                  </a:cubicBezTo>
                  <a:cubicBezTo>
                    <a:pt x="4495079" y="4331979"/>
                    <a:pt x="4394540" y="4461786"/>
                    <a:pt x="4305613" y="4576480"/>
                  </a:cubicBezTo>
                  <a:cubicBezTo>
                    <a:pt x="4102307" y="4838639"/>
                    <a:pt x="3955634" y="5027941"/>
                    <a:pt x="3668810" y="5134204"/>
                  </a:cubicBezTo>
                  <a:cubicBezTo>
                    <a:pt x="3489047" y="5201335"/>
                    <a:pt x="3344761" y="5190676"/>
                    <a:pt x="3162135" y="5176996"/>
                  </a:cubicBezTo>
                  <a:cubicBezTo>
                    <a:pt x="3054755" y="5169042"/>
                    <a:pt x="2932899" y="5159975"/>
                    <a:pt x="2778271" y="5163633"/>
                  </a:cubicBezTo>
                  <a:cubicBezTo>
                    <a:pt x="2603600" y="5167610"/>
                    <a:pt x="2457245" y="5184154"/>
                    <a:pt x="2328230" y="5198630"/>
                  </a:cubicBezTo>
                  <a:cubicBezTo>
                    <a:pt x="2213691" y="5211356"/>
                    <a:pt x="2109970" y="5222969"/>
                    <a:pt x="2009431" y="5222969"/>
                  </a:cubicBezTo>
                  <a:close/>
                  <a:moveTo>
                    <a:pt x="1842554" y="52172"/>
                  </a:moveTo>
                  <a:cubicBezTo>
                    <a:pt x="1780353" y="52172"/>
                    <a:pt x="1718312" y="60921"/>
                    <a:pt x="1652452" y="83828"/>
                  </a:cubicBezTo>
                  <a:cubicBezTo>
                    <a:pt x="1446759" y="155095"/>
                    <a:pt x="1335880" y="307649"/>
                    <a:pt x="1195411" y="500610"/>
                  </a:cubicBezTo>
                  <a:cubicBezTo>
                    <a:pt x="1106802" y="622304"/>
                    <a:pt x="1006581" y="760382"/>
                    <a:pt x="865635" y="896552"/>
                  </a:cubicBezTo>
                  <a:cubicBezTo>
                    <a:pt x="735506" y="1022382"/>
                    <a:pt x="608241" y="1110193"/>
                    <a:pt x="495929" y="1187663"/>
                  </a:cubicBezTo>
                  <a:cubicBezTo>
                    <a:pt x="318872" y="1309834"/>
                    <a:pt x="178880" y="1406235"/>
                    <a:pt x="100930" y="1593151"/>
                  </a:cubicBezTo>
                  <a:cubicBezTo>
                    <a:pt x="22185" y="1781816"/>
                    <a:pt x="53206" y="1952824"/>
                    <a:pt x="92658" y="2169486"/>
                  </a:cubicBezTo>
                  <a:cubicBezTo>
                    <a:pt x="118270" y="2310429"/>
                    <a:pt x="147223" y="2470142"/>
                    <a:pt x="149927" y="2662307"/>
                  </a:cubicBezTo>
                  <a:cubicBezTo>
                    <a:pt x="151836" y="2804681"/>
                    <a:pt x="146746" y="2934010"/>
                    <a:pt x="141814" y="3058886"/>
                  </a:cubicBezTo>
                  <a:cubicBezTo>
                    <a:pt x="130201" y="3351269"/>
                    <a:pt x="120338" y="3603565"/>
                    <a:pt x="219446" y="3835659"/>
                  </a:cubicBezTo>
                  <a:cubicBezTo>
                    <a:pt x="295328" y="4014143"/>
                    <a:pt x="415593" y="4082546"/>
                    <a:pt x="567834" y="4169243"/>
                  </a:cubicBezTo>
                  <a:cubicBezTo>
                    <a:pt x="702894" y="4245919"/>
                    <a:pt x="855772" y="4333092"/>
                    <a:pt x="1026466" y="4515394"/>
                  </a:cubicBezTo>
                  <a:cubicBezTo>
                    <a:pt x="1092962" y="4586502"/>
                    <a:pt x="1151504" y="4654428"/>
                    <a:pt x="1203206" y="4714241"/>
                  </a:cubicBezTo>
                  <a:cubicBezTo>
                    <a:pt x="1359424" y="4895589"/>
                    <a:pt x="1472372" y="5026668"/>
                    <a:pt x="1672814" y="5107956"/>
                  </a:cubicBezTo>
                  <a:cubicBezTo>
                    <a:pt x="1887574" y="5195131"/>
                    <a:pt x="2070041" y="5174610"/>
                    <a:pt x="2322503" y="5146135"/>
                  </a:cubicBezTo>
                  <a:cubicBezTo>
                    <a:pt x="2452632" y="5131500"/>
                    <a:pt x="2600100" y="5114797"/>
                    <a:pt x="2777158" y="5110820"/>
                  </a:cubicBezTo>
                  <a:cubicBezTo>
                    <a:pt x="2934649" y="5107320"/>
                    <a:pt x="3057619" y="5116388"/>
                    <a:pt x="3166112" y="5124342"/>
                  </a:cubicBezTo>
                  <a:cubicBezTo>
                    <a:pt x="3349056" y="5137863"/>
                    <a:pt x="3481253" y="5147725"/>
                    <a:pt x="3650516" y="5084731"/>
                  </a:cubicBezTo>
                  <a:cubicBezTo>
                    <a:pt x="3923181" y="4983558"/>
                    <a:pt x="4066196" y="4799188"/>
                    <a:pt x="4264093" y="4544029"/>
                  </a:cubicBezTo>
                  <a:cubicBezTo>
                    <a:pt x="4353497" y="4428698"/>
                    <a:pt x="4454832" y="4298096"/>
                    <a:pt x="4583369" y="4156199"/>
                  </a:cubicBezTo>
                  <a:cubicBezTo>
                    <a:pt x="4675160" y="4054867"/>
                    <a:pt x="4757564" y="3975169"/>
                    <a:pt x="4830264" y="3904857"/>
                  </a:cubicBezTo>
                  <a:cubicBezTo>
                    <a:pt x="4990459" y="3749916"/>
                    <a:pt x="5096248" y="3647630"/>
                    <a:pt x="5151131" y="3466600"/>
                  </a:cubicBezTo>
                  <a:cubicBezTo>
                    <a:pt x="5211423" y="3267595"/>
                    <a:pt x="5178016" y="3094360"/>
                    <a:pt x="5139359" y="2893605"/>
                  </a:cubicBezTo>
                  <a:cubicBezTo>
                    <a:pt x="5111679" y="2750117"/>
                    <a:pt x="5080499" y="2587382"/>
                    <a:pt x="5077954" y="2389331"/>
                  </a:cubicBezTo>
                  <a:cubicBezTo>
                    <a:pt x="5076522" y="2280681"/>
                    <a:pt x="5084317" y="2192712"/>
                    <a:pt x="5091158" y="2115082"/>
                  </a:cubicBezTo>
                  <a:cubicBezTo>
                    <a:pt x="5102611" y="1985275"/>
                    <a:pt x="5111679" y="1882671"/>
                    <a:pt x="5072863" y="1749523"/>
                  </a:cubicBezTo>
                  <a:cubicBezTo>
                    <a:pt x="4997936" y="1489750"/>
                    <a:pt x="4838536" y="1344195"/>
                    <a:pt x="4617890" y="1142644"/>
                  </a:cubicBezTo>
                  <a:cubicBezTo>
                    <a:pt x="4538985" y="1070742"/>
                    <a:pt x="4449741" y="989135"/>
                    <a:pt x="4356837" y="894484"/>
                  </a:cubicBezTo>
                  <a:cubicBezTo>
                    <a:pt x="4236731" y="772631"/>
                    <a:pt x="4143668" y="657937"/>
                    <a:pt x="4061582" y="556605"/>
                  </a:cubicBezTo>
                  <a:cubicBezTo>
                    <a:pt x="3903137" y="361258"/>
                    <a:pt x="3778099" y="206954"/>
                    <a:pt x="3558248" y="126620"/>
                  </a:cubicBezTo>
                  <a:cubicBezTo>
                    <a:pt x="3364487" y="55671"/>
                    <a:pt x="3202860" y="78579"/>
                    <a:pt x="2998758" y="107531"/>
                  </a:cubicBezTo>
                  <a:cubicBezTo>
                    <a:pt x="2871811" y="125506"/>
                    <a:pt x="2726729" y="144914"/>
                    <a:pt x="2556353" y="144436"/>
                  </a:cubicBezTo>
                  <a:lnTo>
                    <a:pt x="2556353" y="144436"/>
                  </a:lnTo>
                  <a:cubicBezTo>
                    <a:pt x="2384386" y="142846"/>
                    <a:pt x="2245349" y="115007"/>
                    <a:pt x="2122697" y="90350"/>
                  </a:cubicBezTo>
                  <a:cubicBezTo>
                    <a:pt x="2020566" y="69988"/>
                    <a:pt x="1931322" y="52172"/>
                    <a:pt x="1842554" y="52172"/>
                  </a:cubicBezTo>
                  <a:close/>
                </a:path>
              </a:pathLst>
            </a:custGeom>
            <a:gradFill>
              <a:gsLst>
                <a:gs pos="100000">
                  <a:schemeClr val="accent2"/>
                </a:gs>
                <a:gs pos="0">
                  <a:schemeClr val="accent1"/>
                </a:gs>
              </a:gsLst>
              <a:lin ang="0" scaled="1"/>
            </a:gradFill>
            <a:ln w="1589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45" name="Freeform 44">
              <a:extLst>
                <a:ext uri="{FF2B5EF4-FFF2-40B4-BE49-F238E27FC236}">
                  <a16:creationId xmlns:a16="http://schemas.microsoft.com/office/drawing/2014/main" id="{67DA61AA-444D-083E-AECE-4FF3FEF193C3}"/>
                </a:ext>
              </a:extLst>
            </p:cNvPr>
            <p:cNvSpPr/>
            <p:nvPr/>
          </p:nvSpPr>
          <p:spPr>
            <a:xfrm>
              <a:off x="-2569222" y="859289"/>
              <a:ext cx="5126407" cy="5119459"/>
            </a:xfrm>
            <a:custGeom>
              <a:avLst/>
              <a:gdLst>
                <a:gd name="connsiteX0" fmla="*/ 1992393 w 5126407"/>
                <a:gd name="connsiteY0" fmla="*/ 5119459 h 5119459"/>
                <a:gd name="connsiteX1" fmla="*/ 1608529 w 5126407"/>
                <a:gd name="connsiteY1" fmla="*/ 5048829 h 5119459"/>
                <a:gd name="connsiteX2" fmla="*/ 1107741 w 5126407"/>
                <a:gd name="connsiteY2" fmla="*/ 4637934 h 5119459"/>
                <a:gd name="connsiteX3" fmla="*/ 951364 w 5126407"/>
                <a:gd name="connsiteY3" fmla="*/ 4465653 h 5119459"/>
                <a:gd name="connsiteX4" fmla="*/ 534888 w 5126407"/>
                <a:gd name="connsiteY4" fmla="*/ 4141613 h 5119459"/>
                <a:gd name="connsiteX5" fmla="*/ 165183 w 5126407"/>
                <a:gd name="connsiteY5" fmla="*/ 3770805 h 5119459"/>
                <a:gd name="connsiteX6" fmla="*/ 74347 w 5126407"/>
                <a:gd name="connsiteY6" fmla="*/ 2953785 h 5119459"/>
                <a:gd name="connsiteX7" fmla="*/ 78802 w 5126407"/>
                <a:gd name="connsiteY7" fmla="*/ 2606202 h 5119459"/>
                <a:gd name="connsiteX8" fmla="*/ 33622 w 5126407"/>
                <a:gd name="connsiteY8" fmla="*/ 2154424 h 5119459"/>
                <a:gd name="connsiteX9" fmla="*/ 56053 w 5126407"/>
                <a:gd name="connsiteY9" fmla="*/ 1539591 h 5119459"/>
                <a:gd name="connsiteX10" fmla="*/ 468710 w 5126407"/>
                <a:gd name="connsiteY10" fmla="*/ 1098471 h 5119459"/>
                <a:gd name="connsiteX11" fmla="*/ 802781 w 5126407"/>
                <a:gd name="connsiteY11" fmla="*/ 827562 h 5119459"/>
                <a:gd name="connsiteX12" fmla="*/ 1109332 w 5126407"/>
                <a:gd name="connsiteY12" fmla="*/ 470435 h 5119459"/>
                <a:gd name="connsiteX13" fmla="*/ 1606302 w 5126407"/>
                <a:gd name="connsiteY13" fmla="*/ 36473 h 5119459"/>
                <a:gd name="connsiteX14" fmla="*/ 2109159 w 5126407"/>
                <a:gd name="connsiteY14" fmla="*/ 32655 h 5119459"/>
                <a:gd name="connsiteX15" fmla="*/ 2508135 w 5126407"/>
                <a:gd name="connsiteY15" fmla="*/ 75924 h 5119459"/>
                <a:gd name="connsiteX16" fmla="*/ 2914111 w 5126407"/>
                <a:gd name="connsiteY16" fmla="*/ 48085 h 5119459"/>
                <a:gd name="connsiteX17" fmla="*/ 3511939 w 5126407"/>
                <a:gd name="connsiteY17" fmla="*/ 80537 h 5119459"/>
                <a:gd name="connsiteX18" fmla="*/ 4056475 w 5126407"/>
                <a:gd name="connsiteY18" fmla="*/ 536133 h 5119459"/>
                <a:gd name="connsiteX19" fmla="*/ 4325323 w 5126407"/>
                <a:gd name="connsiteY19" fmla="*/ 839493 h 5119459"/>
                <a:gd name="connsiteX20" fmla="*/ 4549628 w 5126407"/>
                <a:gd name="connsiteY20" fmla="*/ 1058224 h 5119459"/>
                <a:gd name="connsiteX21" fmla="*/ 5027349 w 5126407"/>
                <a:gd name="connsiteY21" fmla="*/ 1715530 h 5119459"/>
                <a:gd name="connsiteX22" fmla="*/ 5050894 w 5126407"/>
                <a:gd name="connsiteY22" fmla="*/ 2106860 h 5119459"/>
                <a:gd name="connsiteX23" fmla="*/ 5040871 w 5126407"/>
                <a:gd name="connsiteY23" fmla="*/ 2358678 h 5119459"/>
                <a:gd name="connsiteX24" fmla="*/ 5089232 w 5126407"/>
                <a:gd name="connsiteY24" fmla="*/ 2822229 h 5119459"/>
                <a:gd name="connsiteX25" fmla="*/ 5086528 w 5126407"/>
                <a:gd name="connsiteY25" fmla="*/ 3429266 h 5119459"/>
                <a:gd name="connsiteX26" fmla="*/ 4746571 w 5126407"/>
                <a:gd name="connsiteY26" fmla="*/ 3900612 h 5119459"/>
                <a:gd name="connsiteX27" fmla="*/ 4525925 w 5126407"/>
                <a:gd name="connsiteY27" fmla="*/ 4128091 h 5119459"/>
                <a:gd name="connsiteX28" fmla="*/ 4239578 w 5126407"/>
                <a:gd name="connsiteY28" fmla="*/ 4468357 h 5119459"/>
                <a:gd name="connsiteX29" fmla="*/ 3578276 w 5126407"/>
                <a:gd name="connsiteY29" fmla="*/ 5034353 h 5119459"/>
                <a:gd name="connsiteX30" fmla="*/ 3062216 w 5126407"/>
                <a:gd name="connsiteY30" fmla="*/ 5081758 h 5119459"/>
                <a:gd name="connsiteX31" fmla="*/ 2707782 w 5126407"/>
                <a:gd name="connsiteY31" fmla="*/ 5072214 h 5119459"/>
                <a:gd name="connsiteX32" fmla="*/ 2298466 w 5126407"/>
                <a:gd name="connsiteY32" fmla="*/ 5099257 h 5119459"/>
                <a:gd name="connsiteX33" fmla="*/ 1992393 w 5126407"/>
                <a:gd name="connsiteY33" fmla="*/ 5119459 h 5119459"/>
                <a:gd name="connsiteX34" fmla="*/ 1828221 w 5126407"/>
                <a:gd name="connsiteY34" fmla="*/ 56039 h 5119459"/>
                <a:gd name="connsiteX35" fmla="*/ 1624756 w 5126407"/>
                <a:gd name="connsiteY35" fmla="*/ 89604 h 5119459"/>
                <a:gd name="connsiteX36" fmla="*/ 1153715 w 5126407"/>
                <a:gd name="connsiteY36" fmla="*/ 504795 h 5119459"/>
                <a:gd name="connsiteX37" fmla="*/ 841757 w 5126407"/>
                <a:gd name="connsiteY37" fmla="*/ 867968 h 5119459"/>
                <a:gd name="connsiteX38" fmla="*/ 501640 w 5126407"/>
                <a:gd name="connsiteY38" fmla="*/ 1143967 h 5119459"/>
                <a:gd name="connsiteX39" fmla="*/ 107595 w 5126407"/>
                <a:gd name="connsiteY39" fmla="*/ 1561385 h 5119459"/>
                <a:gd name="connsiteX40" fmla="*/ 88983 w 5126407"/>
                <a:gd name="connsiteY40" fmla="*/ 2146151 h 5119459"/>
                <a:gd name="connsiteX41" fmla="*/ 134798 w 5126407"/>
                <a:gd name="connsiteY41" fmla="*/ 2605566 h 5119459"/>
                <a:gd name="connsiteX42" fmla="*/ 130185 w 5126407"/>
                <a:gd name="connsiteY42" fmla="*/ 2955376 h 5119459"/>
                <a:gd name="connsiteX43" fmla="*/ 216566 w 5126407"/>
                <a:gd name="connsiteY43" fmla="*/ 3748693 h 5119459"/>
                <a:gd name="connsiteX44" fmla="*/ 564159 w 5126407"/>
                <a:gd name="connsiteY44" fmla="*/ 4094049 h 5119459"/>
                <a:gd name="connsiteX45" fmla="*/ 991929 w 5126407"/>
                <a:gd name="connsiteY45" fmla="*/ 4427315 h 5119459"/>
                <a:gd name="connsiteX46" fmla="*/ 1149420 w 5126407"/>
                <a:gd name="connsiteY46" fmla="*/ 4600868 h 5119459"/>
                <a:gd name="connsiteX47" fmla="*/ 1629687 w 5126407"/>
                <a:gd name="connsiteY47" fmla="*/ 4996970 h 5119459"/>
                <a:gd name="connsiteX48" fmla="*/ 2293534 w 5126407"/>
                <a:gd name="connsiteY48" fmla="*/ 5044057 h 5119459"/>
                <a:gd name="connsiteX49" fmla="*/ 2706669 w 5126407"/>
                <a:gd name="connsiteY49" fmla="*/ 5016855 h 5119459"/>
                <a:gd name="connsiteX50" fmla="*/ 3065557 w 5126407"/>
                <a:gd name="connsiteY50" fmla="*/ 5026399 h 5119459"/>
                <a:gd name="connsiteX51" fmla="*/ 3559187 w 5126407"/>
                <a:gd name="connsiteY51" fmla="*/ 4982335 h 5119459"/>
                <a:gd name="connsiteX52" fmla="*/ 4196308 w 5126407"/>
                <a:gd name="connsiteY52" fmla="*/ 4433838 h 5119459"/>
                <a:gd name="connsiteX53" fmla="*/ 4484723 w 5126407"/>
                <a:gd name="connsiteY53" fmla="*/ 4091027 h 5119459"/>
                <a:gd name="connsiteX54" fmla="*/ 4707437 w 5126407"/>
                <a:gd name="connsiteY54" fmla="*/ 3861320 h 5119459"/>
                <a:gd name="connsiteX55" fmla="*/ 5033395 w 5126407"/>
                <a:gd name="connsiteY55" fmla="*/ 3412882 h 5119459"/>
                <a:gd name="connsiteX56" fmla="*/ 5034190 w 5126407"/>
                <a:gd name="connsiteY56" fmla="*/ 2831614 h 5119459"/>
                <a:gd name="connsiteX57" fmla="*/ 4985193 w 5126407"/>
                <a:gd name="connsiteY57" fmla="*/ 2359792 h 5119459"/>
                <a:gd name="connsiteX58" fmla="*/ 4995374 w 5126407"/>
                <a:gd name="connsiteY58" fmla="*/ 2103201 h 5119459"/>
                <a:gd name="connsiteX59" fmla="*/ 4973898 w 5126407"/>
                <a:gd name="connsiteY59" fmla="*/ 1731279 h 5119459"/>
                <a:gd name="connsiteX60" fmla="*/ 4511448 w 5126407"/>
                <a:gd name="connsiteY60" fmla="*/ 1099107 h 5119459"/>
                <a:gd name="connsiteX61" fmla="*/ 4285712 w 5126407"/>
                <a:gd name="connsiteY61" fmla="*/ 878785 h 5119459"/>
                <a:gd name="connsiteX62" fmla="*/ 4014001 w 5126407"/>
                <a:gd name="connsiteY62" fmla="*/ 572244 h 5119459"/>
                <a:gd name="connsiteX63" fmla="*/ 3492849 w 5126407"/>
                <a:gd name="connsiteY63" fmla="*/ 133191 h 5119459"/>
                <a:gd name="connsiteX64" fmla="*/ 2920952 w 5126407"/>
                <a:gd name="connsiteY64" fmla="*/ 103921 h 5119459"/>
                <a:gd name="connsiteX65" fmla="*/ 2507976 w 5126407"/>
                <a:gd name="connsiteY65" fmla="*/ 132078 h 5119459"/>
                <a:gd name="connsiteX66" fmla="*/ 2507976 w 5126407"/>
                <a:gd name="connsiteY66" fmla="*/ 132078 h 5119459"/>
                <a:gd name="connsiteX67" fmla="*/ 2100091 w 5126407"/>
                <a:gd name="connsiteY67" fmla="*/ 87854 h 5119459"/>
                <a:gd name="connsiteX68" fmla="*/ 1828221 w 5126407"/>
                <a:gd name="connsiteY68" fmla="*/ 56039 h 5119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5126407" h="5119459">
                  <a:moveTo>
                    <a:pt x="1992393" y="5119459"/>
                  </a:moveTo>
                  <a:cubicBezTo>
                    <a:pt x="1863060" y="5119459"/>
                    <a:pt x="1740249" y="5102757"/>
                    <a:pt x="1608529" y="5048829"/>
                  </a:cubicBezTo>
                  <a:cubicBezTo>
                    <a:pt x="1394724" y="4961496"/>
                    <a:pt x="1268095" y="4818804"/>
                    <a:pt x="1107741" y="4637934"/>
                  </a:cubicBezTo>
                  <a:cubicBezTo>
                    <a:pt x="1060016" y="4584165"/>
                    <a:pt x="1008951" y="4526738"/>
                    <a:pt x="951364" y="4465653"/>
                  </a:cubicBezTo>
                  <a:cubicBezTo>
                    <a:pt x="797850" y="4303395"/>
                    <a:pt x="658176" y="4217334"/>
                    <a:pt x="534888" y="4141613"/>
                  </a:cubicBezTo>
                  <a:cubicBezTo>
                    <a:pt x="381216" y="4047121"/>
                    <a:pt x="248383" y="3965515"/>
                    <a:pt x="165183" y="3770805"/>
                  </a:cubicBezTo>
                  <a:cubicBezTo>
                    <a:pt x="58598" y="3523281"/>
                    <a:pt x="65916" y="3259372"/>
                    <a:pt x="74347" y="2953785"/>
                  </a:cubicBezTo>
                  <a:cubicBezTo>
                    <a:pt x="77370" y="2843545"/>
                    <a:pt x="80552" y="2729487"/>
                    <a:pt x="78802" y="2606202"/>
                  </a:cubicBezTo>
                  <a:cubicBezTo>
                    <a:pt x="76575" y="2433445"/>
                    <a:pt x="53667" y="2285185"/>
                    <a:pt x="33622" y="2154424"/>
                  </a:cubicBezTo>
                  <a:cubicBezTo>
                    <a:pt x="-262" y="1934261"/>
                    <a:pt x="-29533" y="1744164"/>
                    <a:pt x="56053" y="1539591"/>
                  </a:cubicBezTo>
                  <a:cubicBezTo>
                    <a:pt x="140843" y="1336768"/>
                    <a:pt x="292766" y="1226368"/>
                    <a:pt x="468710" y="1098471"/>
                  </a:cubicBezTo>
                  <a:cubicBezTo>
                    <a:pt x="570682" y="1024341"/>
                    <a:pt x="686175" y="940507"/>
                    <a:pt x="802781" y="827562"/>
                  </a:cubicBezTo>
                  <a:cubicBezTo>
                    <a:pt x="929092" y="705232"/>
                    <a:pt x="1024859" y="580516"/>
                    <a:pt x="1109332" y="470435"/>
                  </a:cubicBezTo>
                  <a:cubicBezTo>
                    <a:pt x="1256005" y="279224"/>
                    <a:pt x="1382634" y="114261"/>
                    <a:pt x="1606302" y="36473"/>
                  </a:cubicBezTo>
                  <a:cubicBezTo>
                    <a:pt x="1780496" y="-23977"/>
                    <a:pt x="1932896" y="2271"/>
                    <a:pt x="2109159" y="32655"/>
                  </a:cubicBezTo>
                  <a:cubicBezTo>
                    <a:pt x="2223538" y="52380"/>
                    <a:pt x="2353349" y="74651"/>
                    <a:pt x="2508135" y="75924"/>
                  </a:cubicBezTo>
                  <a:cubicBezTo>
                    <a:pt x="2662921" y="77196"/>
                    <a:pt x="2796232" y="61766"/>
                    <a:pt x="2914111" y="48085"/>
                  </a:cubicBezTo>
                  <a:cubicBezTo>
                    <a:pt x="3122985" y="24065"/>
                    <a:pt x="3303543" y="3226"/>
                    <a:pt x="3511939" y="80537"/>
                  </a:cubicBezTo>
                  <a:cubicBezTo>
                    <a:pt x="3749766" y="168984"/>
                    <a:pt x="3885144" y="330924"/>
                    <a:pt x="4056475" y="536133"/>
                  </a:cubicBezTo>
                  <a:cubicBezTo>
                    <a:pt x="4132834" y="627603"/>
                    <a:pt x="4219375" y="731162"/>
                    <a:pt x="4325323" y="839493"/>
                  </a:cubicBezTo>
                  <a:cubicBezTo>
                    <a:pt x="4404386" y="920622"/>
                    <a:pt x="4478200" y="990616"/>
                    <a:pt x="4549628" y="1058224"/>
                  </a:cubicBezTo>
                  <a:cubicBezTo>
                    <a:pt x="4771706" y="1268524"/>
                    <a:pt x="4947013" y="1434600"/>
                    <a:pt x="5027349" y="1715530"/>
                  </a:cubicBezTo>
                  <a:cubicBezTo>
                    <a:pt x="5068711" y="1858858"/>
                    <a:pt x="5060439" y="1973871"/>
                    <a:pt x="5050894" y="2106860"/>
                  </a:cubicBezTo>
                  <a:cubicBezTo>
                    <a:pt x="5045644" y="2179240"/>
                    <a:pt x="5039758" y="2261164"/>
                    <a:pt x="5040871" y="2358678"/>
                  </a:cubicBezTo>
                  <a:cubicBezTo>
                    <a:pt x="5042940" y="2537004"/>
                    <a:pt x="5067597" y="2688604"/>
                    <a:pt x="5089232" y="2822229"/>
                  </a:cubicBezTo>
                  <a:cubicBezTo>
                    <a:pt x="5123594" y="3033960"/>
                    <a:pt x="5153183" y="3216899"/>
                    <a:pt x="5086528" y="3429266"/>
                  </a:cubicBezTo>
                  <a:cubicBezTo>
                    <a:pt x="5025123" y="3624931"/>
                    <a:pt x="4908198" y="3740580"/>
                    <a:pt x="4746571" y="3900612"/>
                  </a:cubicBezTo>
                  <a:cubicBezTo>
                    <a:pt x="4681029" y="3965356"/>
                    <a:pt x="4606897" y="4038850"/>
                    <a:pt x="4525925" y="4128091"/>
                  </a:cubicBezTo>
                  <a:cubicBezTo>
                    <a:pt x="4414250" y="4251058"/>
                    <a:pt x="4321505" y="4366548"/>
                    <a:pt x="4239578" y="4468357"/>
                  </a:cubicBezTo>
                  <a:cubicBezTo>
                    <a:pt x="4033726" y="4724472"/>
                    <a:pt x="3871145" y="4926658"/>
                    <a:pt x="3578276" y="5034353"/>
                  </a:cubicBezTo>
                  <a:cubicBezTo>
                    <a:pt x="3396923" y="5101643"/>
                    <a:pt x="3249455" y="5092894"/>
                    <a:pt x="3062216" y="5081758"/>
                  </a:cubicBezTo>
                  <a:cubicBezTo>
                    <a:pt x="2961835" y="5075872"/>
                    <a:pt x="2848410" y="5069191"/>
                    <a:pt x="2707782" y="5072214"/>
                  </a:cubicBezTo>
                  <a:cubicBezTo>
                    <a:pt x="2551723" y="5075554"/>
                    <a:pt x="2417141" y="5088121"/>
                    <a:pt x="2298466" y="5099257"/>
                  </a:cubicBezTo>
                  <a:cubicBezTo>
                    <a:pt x="2188858" y="5110074"/>
                    <a:pt x="2088796" y="5119459"/>
                    <a:pt x="1992393" y="5119459"/>
                  </a:cubicBezTo>
                  <a:close/>
                  <a:moveTo>
                    <a:pt x="1828221" y="56039"/>
                  </a:moveTo>
                  <a:cubicBezTo>
                    <a:pt x="1761248" y="56039"/>
                    <a:pt x="1695070" y="65266"/>
                    <a:pt x="1624756" y="89604"/>
                  </a:cubicBezTo>
                  <a:cubicBezTo>
                    <a:pt x="1416836" y="161825"/>
                    <a:pt x="1300706" y="313267"/>
                    <a:pt x="1153715" y="504795"/>
                  </a:cubicBezTo>
                  <a:cubicBezTo>
                    <a:pt x="1068129" y="616467"/>
                    <a:pt x="970931" y="742933"/>
                    <a:pt x="841757" y="867968"/>
                  </a:cubicBezTo>
                  <a:cubicBezTo>
                    <a:pt x="722286" y="983617"/>
                    <a:pt x="605043" y="1068882"/>
                    <a:pt x="501640" y="1143967"/>
                  </a:cubicBezTo>
                  <a:cubicBezTo>
                    <a:pt x="325537" y="1272023"/>
                    <a:pt x="186341" y="1373037"/>
                    <a:pt x="107595" y="1561385"/>
                  </a:cubicBezTo>
                  <a:cubicBezTo>
                    <a:pt x="28214" y="1751481"/>
                    <a:pt x="54939" y="1925671"/>
                    <a:pt x="88983" y="2146151"/>
                  </a:cubicBezTo>
                  <a:cubicBezTo>
                    <a:pt x="109345" y="2278822"/>
                    <a:pt x="132571" y="2428991"/>
                    <a:pt x="134798" y="2605566"/>
                  </a:cubicBezTo>
                  <a:cubicBezTo>
                    <a:pt x="136389" y="2729964"/>
                    <a:pt x="133208" y="2844500"/>
                    <a:pt x="130185" y="2955376"/>
                  </a:cubicBezTo>
                  <a:cubicBezTo>
                    <a:pt x="121913" y="3254441"/>
                    <a:pt x="114913" y="3512623"/>
                    <a:pt x="216566" y="3748693"/>
                  </a:cubicBezTo>
                  <a:cubicBezTo>
                    <a:pt x="292925" y="3927178"/>
                    <a:pt x="412714" y="4000830"/>
                    <a:pt x="564159" y="4094049"/>
                  </a:cubicBezTo>
                  <a:cubicBezTo>
                    <a:pt x="690311" y="4171679"/>
                    <a:pt x="833325" y="4259489"/>
                    <a:pt x="991929" y="4427315"/>
                  </a:cubicBezTo>
                  <a:cubicBezTo>
                    <a:pt x="1049994" y="4488719"/>
                    <a:pt x="1101537" y="4546782"/>
                    <a:pt x="1149420" y="4600868"/>
                  </a:cubicBezTo>
                  <a:cubicBezTo>
                    <a:pt x="1311047" y="4783012"/>
                    <a:pt x="1427813" y="4914568"/>
                    <a:pt x="1629687" y="4996970"/>
                  </a:cubicBezTo>
                  <a:cubicBezTo>
                    <a:pt x="1846992" y="5085894"/>
                    <a:pt x="2034231" y="5068237"/>
                    <a:pt x="2293534" y="5044057"/>
                  </a:cubicBezTo>
                  <a:cubicBezTo>
                    <a:pt x="2413163" y="5032922"/>
                    <a:pt x="2548701" y="5020196"/>
                    <a:pt x="2706669" y="5016855"/>
                  </a:cubicBezTo>
                  <a:cubicBezTo>
                    <a:pt x="2849047" y="5013673"/>
                    <a:pt x="2964222" y="5020514"/>
                    <a:pt x="3065557" y="5026399"/>
                  </a:cubicBezTo>
                  <a:cubicBezTo>
                    <a:pt x="3253114" y="5037376"/>
                    <a:pt x="3388810" y="5045489"/>
                    <a:pt x="3559187" y="4982335"/>
                  </a:cubicBezTo>
                  <a:cubicBezTo>
                    <a:pt x="3837579" y="4880049"/>
                    <a:pt x="3988070" y="4692815"/>
                    <a:pt x="4196308" y="4433838"/>
                  </a:cubicBezTo>
                  <a:cubicBezTo>
                    <a:pt x="4278712" y="4331392"/>
                    <a:pt x="4371934" y="4215266"/>
                    <a:pt x="4484723" y="4091027"/>
                  </a:cubicBezTo>
                  <a:cubicBezTo>
                    <a:pt x="4566650" y="4000671"/>
                    <a:pt x="4641418" y="3926541"/>
                    <a:pt x="4707437" y="3861320"/>
                  </a:cubicBezTo>
                  <a:cubicBezTo>
                    <a:pt x="4863336" y="3707015"/>
                    <a:pt x="4976125" y="3595502"/>
                    <a:pt x="5033395" y="3412882"/>
                  </a:cubicBezTo>
                  <a:cubicBezTo>
                    <a:pt x="5096073" y="3213081"/>
                    <a:pt x="5067438" y="3036346"/>
                    <a:pt x="5034190" y="2831614"/>
                  </a:cubicBezTo>
                  <a:cubicBezTo>
                    <a:pt x="5012237" y="2695922"/>
                    <a:pt x="4987261" y="2542253"/>
                    <a:pt x="4985193" y="2359792"/>
                  </a:cubicBezTo>
                  <a:cubicBezTo>
                    <a:pt x="4984079" y="2259892"/>
                    <a:pt x="4990124" y="2176535"/>
                    <a:pt x="4995374" y="2103201"/>
                  </a:cubicBezTo>
                  <a:cubicBezTo>
                    <a:pt x="5004919" y="1970212"/>
                    <a:pt x="5012555" y="1865222"/>
                    <a:pt x="4973898" y="1731279"/>
                  </a:cubicBezTo>
                  <a:cubicBezTo>
                    <a:pt x="4897698" y="1464984"/>
                    <a:pt x="4735753" y="1311475"/>
                    <a:pt x="4511448" y="1099107"/>
                  </a:cubicBezTo>
                  <a:cubicBezTo>
                    <a:pt x="4439702" y="1031022"/>
                    <a:pt x="4365412" y="960710"/>
                    <a:pt x="4285712" y="878785"/>
                  </a:cubicBezTo>
                  <a:cubicBezTo>
                    <a:pt x="4178331" y="768863"/>
                    <a:pt x="4090996" y="664509"/>
                    <a:pt x="4014001" y="572244"/>
                  </a:cubicBezTo>
                  <a:cubicBezTo>
                    <a:pt x="3847919" y="373398"/>
                    <a:pt x="3716677" y="216389"/>
                    <a:pt x="3492849" y="133191"/>
                  </a:cubicBezTo>
                  <a:cubicBezTo>
                    <a:pt x="3296861" y="60334"/>
                    <a:pt x="3131098" y="79423"/>
                    <a:pt x="2920952" y="103921"/>
                  </a:cubicBezTo>
                  <a:cubicBezTo>
                    <a:pt x="2801322" y="117761"/>
                    <a:pt x="2666580" y="133669"/>
                    <a:pt x="2507976" y="132078"/>
                  </a:cubicBezTo>
                  <a:lnTo>
                    <a:pt x="2507976" y="132078"/>
                  </a:lnTo>
                  <a:cubicBezTo>
                    <a:pt x="2348576" y="130646"/>
                    <a:pt x="2216539" y="107898"/>
                    <a:pt x="2100091" y="87854"/>
                  </a:cubicBezTo>
                  <a:cubicBezTo>
                    <a:pt x="2000983" y="70992"/>
                    <a:pt x="1913966" y="56039"/>
                    <a:pt x="1828221" y="56039"/>
                  </a:cubicBezTo>
                  <a:close/>
                </a:path>
              </a:pathLst>
            </a:custGeom>
            <a:gradFill>
              <a:gsLst>
                <a:gs pos="100000">
                  <a:schemeClr val="accent2"/>
                </a:gs>
                <a:gs pos="0">
                  <a:schemeClr val="accent1"/>
                </a:gs>
              </a:gsLst>
              <a:lin ang="0" scaled="1"/>
            </a:gradFill>
            <a:ln w="1589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46" name="Freeform 45">
              <a:extLst>
                <a:ext uri="{FF2B5EF4-FFF2-40B4-BE49-F238E27FC236}">
                  <a16:creationId xmlns:a16="http://schemas.microsoft.com/office/drawing/2014/main" id="{D2893815-CD29-012F-C3F6-51830BE2E63E}"/>
                </a:ext>
              </a:extLst>
            </p:cNvPr>
            <p:cNvSpPr/>
            <p:nvPr/>
          </p:nvSpPr>
          <p:spPr>
            <a:xfrm>
              <a:off x="-2514892" y="911692"/>
              <a:ext cx="5017751" cy="5016310"/>
            </a:xfrm>
            <a:custGeom>
              <a:avLst/>
              <a:gdLst>
                <a:gd name="connsiteX0" fmla="*/ 1983401 w 5017751"/>
                <a:gd name="connsiteY0" fmla="*/ 5016311 h 5016310"/>
                <a:gd name="connsiteX1" fmla="*/ 1564858 w 5017751"/>
                <a:gd name="connsiteY1" fmla="*/ 4940591 h 5016310"/>
                <a:gd name="connsiteX2" fmla="*/ 1050070 w 5017751"/>
                <a:gd name="connsiteY2" fmla="*/ 4525081 h 5016310"/>
                <a:gd name="connsiteX3" fmla="*/ 915169 w 5017751"/>
                <a:gd name="connsiteY3" fmla="*/ 4379844 h 5016310"/>
                <a:gd name="connsiteX4" fmla="*/ 529874 w 5017751"/>
                <a:gd name="connsiteY4" fmla="*/ 4070121 h 5016310"/>
                <a:gd name="connsiteX5" fmla="*/ 159850 w 5017751"/>
                <a:gd name="connsiteY5" fmla="*/ 3685314 h 5016310"/>
                <a:gd name="connsiteX6" fmla="*/ 59151 w 5017751"/>
                <a:gd name="connsiteY6" fmla="*/ 2844433 h 5016310"/>
                <a:gd name="connsiteX7" fmla="*/ 61060 w 5017751"/>
                <a:gd name="connsiteY7" fmla="*/ 2549504 h 5016310"/>
                <a:gd name="connsiteX8" fmla="*/ 26381 w 5017751"/>
                <a:gd name="connsiteY8" fmla="*/ 2133518 h 5016310"/>
                <a:gd name="connsiteX9" fmla="*/ 60265 w 5017751"/>
                <a:gd name="connsiteY9" fmla="*/ 1506436 h 5016310"/>
                <a:gd name="connsiteX10" fmla="*/ 473559 w 5017751"/>
                <a:gd name="connsiteY10" fmla="*/ 1050522 h 5016310"/>
                <a:gd name="connsiteX11" fmla="*/ 777086 w 5017751"/>
                <a:gd name="connsiteY11" fmla="*/ 796635 h 5016310"/>
                <a:gd name="connsiteX12" fmla="*/ 1063592 w 5017751"/>
                <a:gd name="connsiteY12" fmla="*/ 473231 h 5016310"/>
                <a:gd name="connsiteX13" fmla="*/ 1578221 w 5017751"/>
                <a:gd name="connsiteY13" fmla="*/ 39110 h 5016310"/>
                <a:gd name="connsiteX14" fmla="*/ 2088872 w 5017751"/>
                <a:gd name="connsiteY14" fmla="*/ 26225 h 5016310"/>
                <a:gd name="connsiteX15" fmla="*/ 2460646 w 5017751"/>
                <a:gd name="connsiteY15" fmla="*/ 60268 h 5016310"/>
                <a:gd name="connsiteX16" fmla="*/ 2460646 w 5017751"/>
                <a:gd name="connsiteY16" fmla="*/ 60268 h 5016310"/>
                <a:gd name="connsiteX17" fmla="*/ 2834010 w 5017751"/>
                <a:gd name="connsiteY17" fmla="*/ 40224 h 5016310"/>
                <a:gd name="connsiteX18" fmla="*/ 3448701 w 5017751"/>
                <a:gd name="connsiteY18" fmla="*/ 84129 h 5016310"/>
                <a:gd name="connsiteX19" fmla="*/ 4015349 w 5017751"/>
                <a:gd name="connsiteY19" fmla="*/ 552293 h 5016310"/>
                <a:gd name="connsiteX20" fmla="*/ 4257312 w 5017751"/>
                <a:gd name="connsiteY20" fmla="*/ 821769 h 5016310"/>
                <a:gd name="connsiteX21" fmla="*/ 4443596 w 5017751"/>
                <a:gd name="connsiteY21" fmla="*/ 1008207 h 5016310"/>
                <a:gd name="connsiteX22" fmla="*/ 4932136 w 5017751"/>
                <a:gd name="connsiteY22" fmla="*/ 1696852 h 5016310"/>
                <a:gd name="connsiteX23" fmla="*/ 4959179 w 5017751"/>
                <a:gd name="connsiteY23" fmla="*/ 2096930 h 5016310"/>
                <a:gd name="connsiteX24" fmla="*/ 4952021 w 5017751"/>
                <a:gd name="connsiteY24" fmla="*/ 2329660 h 5016310"/>
                <a:gd name="connsiteX25" fmla="*/ 4988928 w 5017751"/>
                <a:gd name="connsiteY25" fmla="*/ 2757895 h 5016310"/>
                <a:gd name="connsiteX26" fmla="*/ 4972701 w 5017751"/>
                <a:gd name="connsiteY26" fmla="*/ 3377500 h 5016310"/>
                <a:gd name="connsiteX27" fmla="*/ 4625586 w 5017751"/>
                <a:gd name="connsiteY27" fmla="*/ 3861889 h 5016310"/>
                <a:gd name="connsiteX28" fmla="*/ 4430552 w 5017751"/>
                <a:gd name="connsiteY28" fmla="*/ 4065667 h 5016310"/>
                <a:gd name="connsiteX29" fmla="*/ 4179521 w 5017751"/>
                <a:gd name="connsiteY29" fmla="*/ 4357573 h 5016310"/>
                <a:gd name="connsiteX30" fmla="*/ 3488949 w 5017751"/>
                <a:gd name="connsiteY30" fmla="*/ 4935659 h 5016310"/>
                <a:gd name="connsiteX31" fmla="*/ 2960480 w 5017751"/>
                <a:gd name="connsiteY31" fmla="*/ 4987995 h 5016310"/>
                <a:gd name="connsiteX32" fmla="*/ 2638181 w 5017751"/>
                <a:gd name="connsiteY32" fmla="*/ 4981950 h 5016310"/>
                <a:gd name="connsiteX33" fmla="*/ 2274679 w 5017751"/>
                <a:gd name="connsiteY33" fmla="*/ 5001517 h 5016310"/>
                <a:gd name="connsiteX34" fmla="*/ 1983401 w 5017751"/>
                <a:gd name="connsiteY34" fmla="*/ 5016311 h 5016310"/>
                <a:gd name="connsiteX35" fmla="*/ 1818275 w 5017751"/>
                <a:gd name="connsiteY35" fmla="*/ 58836 h 5016310"/>
                <a:gd name="connsiteX36" fmla="*/ 1597628 w 5017751"/>
                <a:gd name="connsiteY36" fmla="*/ 94787 h 5016310"/>
                <a:gd name="connsiteX37" fmla="*/ 1109567 w 5017751"/>
                <a:gd name="connsiteY37" fmla="*/ 510296 h 5016310"/>
                <a:gd name="connsiteX38" fmla="*/ 818129 w 5017751"/>
                <a:gd name="connsiteY38" fmla="*/ 838790 h 5016310"/>
                <a:gd name="connsiteX39" fmla="*/ 509511 w 5017751"/>
                <a:gd name="connsiteY39" fmla="*/ 1097131 h 5016310"/>
                <a:gd name="connsiteX40" fmla="*/ 114830 w 5017751"/>
                <a:gd name="connsiteY40" fmla="*/ 1529025 h 5016310"/>
                <a:gd name="connsiteX41" fmla="*/ 85082 w 5017751"/>
                <a:gd name="connsiteY41" fmla="*/ 2125882 h 5016310"/>
                <a:gd name="connsiteX42" fmla="*/ 120239 w 5017751"/>
                <a:gd name="connsiteY42" fmla="*/ 2548550 h 5016310"/>
                <a:gd name="connsiteX43" fmla="*/ 118330 w 5017751"/>
                <a:gd name="connsiteY43" fmla="*/ 2845069 h 5016310"/>
                <a:gd name="connsiteX44" fmla="*/ 214097 w 5017751"/>
                <a:gd name="connsiteY44" fmla="*/ 3661611 h 5016310"/>
                <a:gd name="connsiteX45" fmla="*/ 562485 w 5017751"/>
                <a:gd name="connsiteY45" fmla="*/ 4020648 h 5016310"/>
                <a:gd name="connsiteX46" fmla="*/ 957803 w 5017751"/>
                <a:gd name="connsiteY46" fmla="*/ 4338802 h 5016310"/>
                <a:gd name="connsiteX47" fmla="*/ 1093499 w 5017751"/>
                <a:gd name="connsiteY47" fmla="*/ 4484994 h 5016310"/>
                <a:gd name="connsiteX48" fmla="*/ 1587129 w 5017751"/>
                <a:gd name="connsiteY48" fmla="*/ 4885709 h 5016310"/>
                <a:gd name="connsiteX49" fmla="*/ 2270066 w 5017751"/>
                <a:gd name="connsiteY49" fmla="*/ 4942340 h 5016310"/>
                <a:gd name="connsiteX50" fmla="*/ 2636749 w 5017751"/>
                <a:gd name="connsiteY50" fmla="*/ 4922615 h 5016310"/>
                <a:gd name="connsiteX51" fmla="*/ 2962707 w 5017751"/>
                <a:gd name="connsiteY51" fmla="*/ 4928660 h 5016310"/>
                <a:gd name="connsiteX52" fmla="*/ 3468268 w 5017751"/>
                <a:gd name="connsiteY52" fmla="*/ 4879982 h 5016310"/>
                <a:gd name="connsiteX53" fmla="*/ 4133706 w 5017751"/>
                <a:gd name="connsiteY53" fmla="*/ 4319554 h 5016310"/>
                <a:gd name="connsiteX54" fmla="*/ 4386327 w 5017751"/>
                <a:gd name="connsiteY54" fmla="*/ 4025739 h 5016310"/>
                <a:gd name="connsiteX55" fmla="*/ 4583111 w 5017751"/>
                <a:gd name="connsiteY55" fmla="*/ 3820211 h 5016310"/>
                <a:gd name="connsiteX56" fmla="*/ 4916069 w 5017751"/>
                <a:gd name="connsiteY56" fmla="*/ 3359047 h 5016310"/>
                <a:gd name="connsiteX57" fmla="*/ 4930068 w 5017751"/>
                <a:gd name="connsiteY57" fmla="*/ 2765372 h 5016310"/>
                <a:gd name="connsiteX58" fmla="*/ 4892684 w 5017751"/>
                <a:gd name="connsiteY58" fmla="*/ 2329978 h 5016310"/>
                <a:gd name="connsiteX59" fmla="*/ 4900001 w 5017751"/>
                <a:gd name="connsiteY59" fmla="*/ 2093271 h 5016310"/>
                <a:gd name="connsiteX60" fmla="*/ 4875184 w 5017751"/>
                <a:gd name="connsiteY60" fmla="*/ 1712759 h 5016310"/>
                <a:gd name="connsiteX61" fmla="*/ 4402076 w 5017751"/>
                <a:gd name="connsiteY61" fmla="*/ 1050045 h 5016310"/>
                <a:gd name="connsiteX62" fmla="*/ 4214678 w 5017751"/>
                <a:gd name="connsiteY62" fmla="*/ 862493 h 5016310"/>
                <a:gd name="connsiteX63" fmla="*/ 3970329 w 5017751"/>
                <a:gd name="connsiteY63" fmla="*/ 590471 h 5016310"/>
                <a:gd name="connsiteX64" fmla="*/ 3427702 w 5017751"/>
                <a:gd name="connsiteY64" fmla="*/ 139170 h 5016310"/>
                <a:gd name="connsiteX65" fmla="*/ 2839260 w 5017751"/>
                <a:gd name="connsiteY65" fmla="*/ 98764 h 5016310"/>
                <a:gd name="connsiteX66" fmla="*/ 2460168 w 5017751"/>
                <a:gd name="connsiteY66" fmla="*/ 118967 h 5016310"/>
                <a:gd name="connsiteX67" fmla="*/ 2460168 w 5017751"/>
                <a:gd name="connsiteY67" fmla="*/ 118967 h 5016310"/>
                <a:gd name="connsiteX68" fmla="*/ 2080441 w 5017751"/>
                <a:gd name="connsiteY68" fmla="*/ 84288 h 5016310"/>
                <a:gd name="connsiteX69" fmla="*/ 1818275 w 5017751"/>
                <a:gd name="connsiteY69" fmla="*/ 58836 h 5016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5017751" h="5016310">
                  <a:moveTo>
                    <a:pt x="1983401" y="5016311"/>
                  </a:moveTo>
                  <a:cubicBezTo>
                    <a:pt x="1840864" y="5016311"/>
                    <a:pt x="1707395" y="4999290"/>
                    <a:pt x="1564858" y="4940591"/>
                  </a:cubicBezTo>
                  <a:cubicBezTo>
                    <a:pt x="1348348" y="4851666"/>
                    <a:pt x="1216628" y="4707542"/>
                    <a:pt x="1050070" y="4525081"/>
                  </a:cubicBezTo>
                  <a:cubicBezTo>
                    <a:pt x="1008232" y="4479267"/>
                    <a:pt x="963848" y="4430749"/>
                    <a:pt x="915169" y="4379844"/>
                  </a:cubicBezTo>
                  <a:cubicBezTo>
                    <a:pt x="773905" y="4231902"/>
                    <a:pt x="644253" y="4146001"/>
                    <a:pt x="529874" y="4070121"/>
                  </a:cubicBezTo>
                  <a:cubicBezTo>
                    <a:pt x="376519" y="3968471"/>
                    <a:pt x="244004" y="3880501"/>
                    <a:pt x="159850" y="3685314"/>
                  </a:cubicBezTo>
                  <a:cubicBezTo>
                    <a:pt x="49925" y="3431427"/>
                    <a:pt x="54220" y="3159405"/>
                    <a:pt x="59151" y="2844433"/>
                  </a:cubicBezTo>
                  <a:cubicBezTo>
                    <a:pt x="60583" y="2751055"/>
                    <a:pt x="62333" y="2653063"/>
                    <a:pt x="61060" y="2549504"/>
                  </a:cubicBezTo>
                  <a:cubicBezTo>
                    <a:pt x="59151" y="2392973"/>
                    <a:pt x="41812" y="2255053"/>
                    <a:pt x="26381" y="2133518"/>
                  </a:cubicBezTo>
                  <a:cubicBezTo>
                    <a:pt x="-2095" y="1908106"/>
                    <a:pt x="-26593" y="1713555"/>
                    <a:pt x="60265" y="1506436"/>
                  </a:cubicBezTo>
                  <a:cubicBezTo>
                    <a:pt x="146328" y="1301227"/>
                    <a:pt x="297933" y="1185101"/>
                    <a:pt x="473559" y="1050522"/>
                  </a:cubicBezTo>
                  <a:cubicBezTo>
                    <a:pt x="566144" y="979573"/>
                    <a:pt x="671297" y="899081"/>
                    <a:pt x="777086" y="796635"/>
                  </a:cubicBezTo>
                  <a:cubicBezTo>
                    <a:pt x="891466" y="685758"/>
                    <a:pt x="978961" y="577745"/>
                    <a:pt x="1063592" y="473231"/>
                  </a:cubicBezTo>
                  <a:cubicBezTo>
                    <a:pt x="1217901" y="282657"/>
                    <a:pt x="1351211" y="118172"/>
                    <a:pt x="1578221" y="39110"/>
                  </a:cubicBezTo>
                  <a:cubicBezTo>
                    <a:pt x="1753528" y="-21975"/>
                    <a:pt x="1908792" y="455"/>
                    <a:pt x="2088872" y="26225"/>
                  </a:cubicBezTo>
                  <a:cubicBezTo>
                    <a:pt x="2196570" y="41656"/>
                    <a:pt x="2318745" y="59154"/>
                    <a:pt x="2460646" y="60268"/>
                  </a:cubicBezTo>
                  <a:lnTo>
                    <a:pt x="2460646" y="60268"/>
                  </a:lnTo>
                  <a:cubicBezTo>
                    <a:pt x="2599842" y="61381"/>
                    <a:pt x="2719153" y="50723"/>
                    <a:pt x="2834010" y="40224"/>
                  </a:cubicBezTo>
                  <a:cubicBezTo>
                    <a:pt x="3050043" y="20816"/>
                    <a:pt x="3236804" y="4113"/>
                    <a:pt x="3448701" y="84129"/>
                  </a:cubicBezTo>
                  <a:cubicBezTo>
                    <a:pt x="3692255" y="176076"/>
                    <a:pt x="3834792" y="342152"/>
                    <a:pt x="4015349" y="552293"/>
                  </a:cubicBezTo>
                  <a:cubicBezTo>
                    <a:pt x="4085345" y="633899"/>
                    <a:pt x="4164726" y="726323"/>
                    <a:pt x="4257312" y="821769"/>
                  </a:cubicBezTo>
                  <a:cubicBezTo>
                    <a:pt x="4322536" y="889377"/>
                    <a:pt x="4384895" y="950462"/>
                    <a:pt x="4443596" y="1008207"/>
                  </a:cubicBezTo>
                  <a:cubicBezTo>
                    <a:pt x="4670606" y="1231074"/>
                    <a:pt x="4849891" y="1407172"/>
                    <a:pt x="4932136" y="1696852"/>
                  </a:cubicBezTo>
                  <a:cubicBezTo>
                    <a:pt x="4973656" y="1841612"/>
                    <a:pt x="4966975" y="1959965"/>
                    <a:pt x="4959179" y="2096930"/>
                  </a:cubicBezTo>
                  <a:cubicBezTo>
                    <a:pt x="4955362" y="2164538"/>
                    <a:pt x="4951067" y="2241213"/>
                    <a:pt x="4952021" y="2329660"/>
                  </a:cubicBezTo>
                  <a:cubicBezTo>
                    <a:pt x="4953771" y="2491759"/>
                    <a:pt x="4972383" y="2633179"/>
                    <a:pt x="4988928" y="2757895"/>
                  </a:cubicBezTo>
                  <a:cubicBezTo>
                    <a:pt x="5017563" y="2975353"/>
                    <a:pt x="5042379" y="3163064"/>
                    <a:pt x="4972701" y="3377500"/>
                  </a:cubicBezTo>
                  <a:cubicBezTo>
                    <a:pt x="4908274" y="3575710"/>
                    <a:pt x="4789758" y="3695813"/>
                    <a:pt x="4625586" y="3861889"/>
                  </a:cubicBezTo>
                  <a:cubicBezTo>
                    <a:pt x="4567362" y="3920907"/>
                    <a:pt x="4501343" y="3987719"/>
                    <a:pt x="4430552" y="4065667"/>
                  </a:cubicBezTo>
                  <a:cubicBezTo>
                    <a:pt x="4335739" y="4170022"/>
                    <a:pt x="4252699" y="4269604"/>
                    <a:pt x="4179521" y="4357573"/>
                  </a:cubicBezTo>
                  <a:cubicBezTo>
                    <a:pt x="3961739" y="4619255"/>
                    <a:pt x="3789612" y="4825896"/>
                    <a:pt x="3488949" y="4935659"/>
                  </a:cubicBezTo>
                  <a:cubicBezTo>
                    <a:pt x="3305368" y="5003108"/>
                    <a:pt x="3152968" y="4996268"/>
                    <a:pt x="2960480" y="4987995"/>
                  </a:cubicBezTo>
                  <a:cubicBezTo>
                    <a:pt x="2867894" y="4984018"/>
                    <a:pt x="2762741" y="4979246"/>
                    <a:pt x="2638181" y="4981950"/>
                  </a:cubicBezTo>
                  <a:cubicBezTo>
                    <a:pt x="2502166" y="4984655"/>
                    <a:pt x="2381264" y="4993722"/>
                    <a:pt x="2274679" y="5001517"/>
                  </a:cubicBezTo>
                  <a:cubicBezTo>
                    <a:pt x="2170640" y="5009153"/>
                    <a:pt x="2075191" y="5016311"/>
                    <a:pt x="1983401" y="5016311"/>
                  </a:cubicBezTo>
                  <a:close/>
                  <a:moveTo>
                    <a:pt x="1818275" y="58836"/>
                  </a:moveTo>
                  <a:cubicBezTo>
                    <a:pt x="1745256" y="58836"/>
                    <a:pt x="1673669" y="68381"/>
                    <a:pt x="1597628" y="94787"/>
                  </a:cubicBezTo>
                  <a:cubicBezTo>
                    <a:pt x="1386687" y="168440"/>
                    <a:pt x="1264353" y="319245"/>
                    <a:pt x="1109567" y="510296"/>
                  </a:cubicBezTo>
                  <a:cubicBezTo>
                    <a:pt x="1027799" y="611151"/>
                    <a:pt x="935213" y="725687"/>
                    <a:pt x="818129" y="838790"/>
                  </a:cubicBezTo>
                  <a:cubicBezTo>
                    <a:pt x="709954" y="943622"/>
                    <a:pt x="603528" y="1025229"/>
                    <a:pt x="509511" y="1097131"/>
                  </a:cubicBezTo>
                  <a:cubicBezTo>
                    <a:pt x="333726" y="1232029"/>
                    <a:pt x="194689" y="1338451"/>
                    <a:pt x="114830" y="1529025"/>
                  </a:cubicBezTo>
                  <a:cubicBezTo>
                    <a:pt x="34017" y="1721509"/>
                    <a:pt x="56606" y="1899993"/>
                    <a:pt x="85082" y="2125882"/>
                  </a:cubicBezTo>
                  <a:cubicBezTo>
                    <a:pt x="100672" y="2249008"/>
                    <a:pt x="118171" y="2388677"/>
                    <a:pt x="120239" y="2548550"/>
                  </a:cubicBezTo>
                  <a:cubicBezTo>
                    <a:pt x="121511" y="2652586"/>
                    <a:pt x="119921" y="2751214"/>
                    <a:pt x="118330" y="2845069"/>
                  </a:cubicBezTo>
                  <a:cubicBezTo>
                    <a:pt x="113398" y="3153201"/>
                    <a:pt x="109103" y="3419337"/>
                    <a:pt x="214097" y="3661611"/>
                  </a:cubicBezTo>
                  <a:cubicBezTo>
                    <a:pt x="291251" y="3840732"/>
                    <a:pt x="411040" y="3920111"/>
                    <a:pt x="562485" y="4020648"/>
                  </a:cubicBezTo>
                  <a:cubicBezTo>
                    <a:pt x="679569" y="4098119"/>
                    <a:pt x="812084" y="4186247"/>
                    <a:pt x="957803" y="4338802"/>
                  </a:cubicBezTo>
                  <a:cubicBezTo>
                    <a:pt x="1006800" y="4390184"/>
                    <a:pt x="1051343" y="4438862"/>
                    <a:pt x="1093499" y="4484994"/>
                  </a:cubicBezTo>
                  <a:cubicBezTo>
                    <a:pt x="1261489" y="4668887"/>
                    <a:pt x="1382868" y="4801716"/>
                    <a:pt x="1587129" y="4885709"/>
                  </a:cubicBezTo>
                  <a:cubicBezTo>
                    <a:pt x="1808093" y="4976542"/>
                    <a:pt x="2001855" y="4962066"/>
                    <a:pt x="2270066" y="4942340"/>
                  </a:cubicBezTo>
                  <a:cubicBezTo>
                    <a:pt x="2377446" y="4934386"/>
                    <a:pt x="2499143" y="4925319"/>
                    <a:pt x="2636749" y="4922615"/>
                  </a:cubicBezTo>
                  <a:cubicBezTo>
                    <a:pt x="2763219" y="4919910"/>
                    <a:pt x="2869326" y="4924524"/>
                    <a:pt x="2962707" y="4928660"/>
                  </a:cubicBezTo>
                  <a:cubicBezTo>
                    <a:pt x="3156150" y="4937091"/>
                    <a:pt x="3295983" y="4943295"/>
                    <a:pt x="3468268" y="4879982"/>
                  </a:cubicBezTo>
                  <a:cubicBezTo>
                    <a:pt x="3753978" y="4775787"/>
                    <a:pt x="3913219" y="4584417"/>
                    <a:pt x="4133706" y="4319554"/>
                  </a:cubicBezTo>
                  <a:cubicBezTo>
                    <a:pt x="4207361" y="4231266"/>
                    <a:pt x="4290560" y="4131048"/>
                    <a:pt x="4386327" y="4025739"/>
                  </a:cubicBezTo>
                  <a:cubicBezTo>
                    <a:pt x="4457914" y="3946995"/>
                    <a:pt x="4524410" y="3879547"/>
                    <a:pt x="4583111" y="3820211"/>
                  </a:cubicBezTo>
                  <a:cubicBezTo>
                    <a:pt x="4741556" y="3659862"/>
                    <a:pt x="4856095" y="3544054"/>
                    <a:pt x="4916069" y="3359047"/>
                  </a:cubicBezTo>
                  <a:cubicBezTo>
                    <a:pt x="4981610" y="3157337"/>
                    <a:pt x="4957748" y="2975671"/>
                    <a:pt x="4930068" y="2765372"/>
                  </a:cubicBezTo>
                  <a:cubicBezTo>
                    <a:pt x="4913364" y="2638905"/>
                    <a:pt x="4894592" y="2495736"/>
                    <a:pt x="4892684" y="2329978"/>
                  </a:cubicBezTo>
                  <a:cubicBezTo>
                    <a:pt x="4891729" y="2239463"/>
                    <a:pt x="4896024" y="2161834"/>
                    <a:pt x="4900001" y="2093271"/>
                  </a:cubicBezTo>
                  <a:cubicBezTo>
                    <a:pt x="4907796" y="1956306"/>
                    <a:pt x="4913841" y="1847975"/>
                    <a:pt x="4875184" y="1712759"/>
                  </a:cubicBezTo>
                  <a:cubicBezTo>
                    <a:pt x="4797235" y="1438033"/>
                    <a:pt x="4631471" y="1275298"/>
                    <a:pt x="4402076" y="1050045"/>
                  </a:cubicBezTo>
                  <a:cubicBezTo>
                    <a:pt x="4342898" y="991981"/>
                    <a:pt x="4280220" y="930419"/>
                    <a:pt x="4214678" y="862493"/>
                  </a:cubicBezTo>
                  <a:cubicBezTo>
                    <a:pt x="4120979" y="765615"/>
                    <a:pt x="4040961" y="672555"/>
                    <a:pt x="3970329" y="590471"/>
                  </a:cubicBezTo>
                  <a:cubicBezTo>
                    <a:pt x="3795339" y="386694"/>
                    <a:pt x="3657097" y="225867"/>
                    <a:pt x="3427702" y="139170"/>
                  </a:cubicBezTo>
                  <a:cubicBezTo>
                    <a:pt x="3228532" y="63926"/>
                    <a:pt x="3056883" y="79357"/>
                    <a:pt x="2839260" y="98764"/>
                  </a:cubicBezTo>
                  <a:cubicBezTo>
                    <a:pt x="2728380" y="108786"/>
                    <a:pt x="2602387" y="120240"/>
                    <a:pt x="2460168" y="118967"/>
                  </a:cubicBezTo>
                  <a:lnTo>
                    <a:pt x="2460168" y="118967"/>
                  </a:lnTo>
                  <a:cubicBezTo>
                    <a:pt x="2314291" y="117853"/>
                    <a:pt x="2190048" y="100037"/>
                    <a:pt x="2080441" y="84288"/>
                  </a:cubicBezTo>
                  <a:cubicBezTo>
                    <a:pt x="1985310" y="70926"/>
                    <a:pt x="1900838" y="58836"/>
                    <a:pt x="1818275" y="58836"/>
                  </a:cubicBezTo>
                  <a:close/>
                </a:path>
              </a:pathLst>
            </a:custGeom>
            <a:gradFill>
              <a:gsLst>
                <a:gs pos="100000">
                  <a:schemeClr val="accent2"/>
                </a:gs>
                <a:gs pos="0">
                  <a:schemeClr val="accent1"/>
                </a:gs>
              </a:gsLst>
              <a:lin ang="0" scaled="1"/>
            </a:gradFill>
            <a:ln w="1589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47" name="Freeform 46">
              <a:extLst>
                <a:ext uri="{FF2B5EF4-FFF2-40B4-BE49-F238E27FC236}">
                  <a16:creationId xmlns:a16="http://schemas.microsoft.com/office/drawing/2014/main" id="{987D48F7-F48D-DDC0-A442-52D4FBFA3C3F}"/>
                </a:ext>
              </a:extLst>
            </p:cNvPr>
            <p:cNvSpPr/>
            <p:nvPr/>
          </p:nvSpPr>
          <p:spPr>
            <a:xfrm>
              <a:off x="-2461176" y="962833"/>
              <a:ext cx="4911034" cy="4915537"/>
            </a:xfrm>
            <a:custGeom>
              <a:avLst/>
              <a:gdLst>
                <a:gd name="connsiteX0" fmla="*/ 1985840 w 4911034"/>
                <a:gd name="connsiteY0" fmla="*/ 4915538 h 4915537"/>
                <a:gd name="connsiteX1" fmla="*/ 1521959 w 4911034"/>
                <a:gd name="connsiteY1" fmla="*/ 4833614 h 4915537"/>
                <a:gd name="connsiteX2" fmla="*/ 989036 w 4911034"/>
                <a:gd name="connsiteY2" fmla="*/ 4410151 h 4915537"/>
                <a:gd name="connsiteX3" fmla="*/ 879906 w 4911034"/>
                <a:gd name="connsiteY3" fmla="*/ 4295138 h 4915537"/>
                <a:gd name="connsiteX4" fmla="*/ 527699 w 4911034"/>
                <a:gd name="connsiteY4" fmla="*/ 4002436 h 4915537"/>
                <a:gd name="connsiteX5" fmla="*/ 155449 w 4911034"/>
                <a:gd name="connsiteY5" fmla="*/ 3600767 h 4915537"/>
                <a:gd name="connsiteX6" fmla="*/ 44251 w 4911034"/>
                <a:gd name="connsiteY6" fmla="*/ 2726798 h 4915537"/>
                <a:gd name="connsiteX7" fmla="*/ 44251 w 4911034"/>
                <a:gd name="connsiteY7" fmla="*/ 2493591 h 4915537"/>
                <a:gd name="connsiteX8" fmla="*/ 19434 w 4911034"/>
                <a:gd name="connsiteY8" fmla="*/ 2118328 h 4915537"/>
                <a:gd name="connsiteX9" fmla="*/ 65408 w 4911034"/>
                <a:gd name="connsiteY9" fmla="*/ 1473907 h 4915537"/>
                <a:gd name="connsiteX10" fmla="*/ 481725 w 4911034"/>
                <a:gd name="connsiteY10" fmla="*/ 999858 h 4915537"/>
                <a:gd name="connsiteX11" fmla="*/ 752163 w 4911034"/>
                <a:gd name="connsiteY11" fmla="*/ 766174 h 4915537"/>
                <a:gd name="connsiteX12" fmla="*/ 1014807 w 4911034"/>
                <a:gd name="connsiteY12" fmla="*/ 479358 h 4915537"/>
                <a:gd name="connsiteX13" fmla="*/ 1550911 w 4911034"/>
                <a:gd name="connsiteY13" fmla="*/ 42374 h 4915537"/>
                <a:gd name="connsiteX14" fmla="*/ 2072699 w 4911034"/>
                <a:gd name="connsiteY14" fmla="*/ 19944 h 4915537"/>
                <a:gd name="connsiteX15" fmla="*/ 2413929 w 4911034"/>
                <a:gd name="connsiteY15" fmla="*/ 45237 h 4915537"/>
                <a:gd name="connsiteX16" fmla="*/ 2748477 w 4911034"/>
                <a:gd name="connsiteY16" fmla="*/ 32352 h 4915537"/>
                <a:gd name="connsiteX17" fmla="*/ 3386234 w 4911034"/>
                <a:gd name="connsiteY17" fmla="*/ 88506 h 4915537"/>
                <a:gd name="connsiteX18" fmla="*/ 3980245 w 4911034"/>
                <a:gd name="connsiteY18" fmla="*/ 573691 h 4915537"/>
                <a:gd name="connsiteX19" fmla="*/ 4190232 w 4911034"/>
                <a:gd name="connsiteY19" fmla="*/ 804830 h 4915537"/>
                <a:gd name="connsiteX20" fmla="*/ 4333406 w 4911034"/>
                <a:gd name="connsiteY20" fmla="*/ 951817 h 4915537"/>
                <a:gd name="connsiteX21" fmla="*/ 4837853 w 4911034"/>
                <a:gd name="connsiteY21" fmla="*/ 1678958 h 4915537"/>
                <a:gd name="connsiteX22" fmla="*/ 4868715 w 4911034"/>
                <a:gd name="connsiteY22" fmla="*/ 2090490 h 4915537"/>
                <a:gd name="connsiteX23" fmla="*/ 4864101 w 4911034"/>
                <a:gd name="connsiteY23" fmla="*/ 2301267 h 4915537"/>
                <a:gd name="connsiteX24" fmla="*/ 4890191 w 4911034"/>
                <a:gd name="connsiteY24" fmla="*/ 2688619 h 4915537"/>
                <a:gd name="connsiteX25" fmla="*/ 4859329 w 4911034"/>
                <a:gd name="connsiteY25" fmla="*/ 3326518 h 4915537"/>
                <a:gd name="connsiteX26" fmla="*/ 4502510 w 4911034"/>
                <a:gd name="connsiteY26" fmla="*/ 3827133 h 4915537"/>
                <a:gd name="connsiteX27" fmla="*/ 4335633 w 4911034"/>
                <a:gd name="connsiteY27" fmla="*/ 4003709 h 4915537"/>
                <a:gd name="connsiteX28" fmla="*/ 4126759 w 4911034"/>
                <a:gd name="connsiteY28" fmla="*/ 4241688 h 4915537"/>
                <a:gd name="connsiteX29" fmla="*/ 3400074 w 4911034"/>
                <a:gd name="connsiteY29" fmla="*/ 4837431 h 4915537"/>
                <a:gd name="connsiteX30" fmla="*/ 2854584 w 4911034"/>
                <a:gd name="connsiteY30" fmla="*/ 4895176 h 4915537"/>
                <a:gd name="connsiteX31" fmla="*/ 2569192 w 4911034"/>
                <a:gd name="connsiteY31" fmla="*/ 4891994 h 4915537"/>
                <a:gd name="connsiteX32" fmla="*/ 2258347 w 4911034"/>
                <a:gd name="connsiteY32" fmla="*/ 4905039 h 4915537"/>
                <a:gd name="connsiteX33" fmla="*/ 1985840 w 4911034"/>
                <a:gd name="connsiteY33" fmla="*/ 4915538 h 4915537"/>
                <a:gd name="connsiteX34" fmla="*/ 1814669 w 4911034"/>
                <a:gd name="connsiteY34" fmla="*/ 62258 h 4915537"/>
                <a:gd name="connsiteX35" fmla="*/ 1571115 w 4911034"/>
                <a:gd name="connsiteY35" fmla="*/ 101232 h 4915537"/>
                <a:gd name="connsiteX36" fmla="*/ 1061895 w 4911034"/>
                <a:gd name="connsiteY36" fmla="*/ 519923 h 4915537"/>
                <a:gd name="connsiteX37" fmla="*/ 795274 w 4911034"/>
                <a:gd name="connsiteY37" fmla="*/ 811034 h 4915537"/>
                <a:gd name="connsiteX38" fmla="*/ 520700 w 4911034"/>
                <a:gd name="connsiteY38" fmla="*/ 1048377 h 4915537"/>
                <a:gd name="connsiteX39" fmla="*/ 122678 w 4911034"/>
                <a:gd name="connsiteY39" fmla="*/ 1498246 h 4915537"/>
                <a:gd name="connsiteX40" fmla="*/ 81158 w 4911034"/>
                <a:gd name="connsiteY40" fmla="*/ 2112283 h 4915537"/>
                <a:gd name="connsiteX41" fmla="*/ 106292 w 4911034"/>
                <a:gd name="connsiteY41" fmla="*/ 2492955 h 4915537"/>
                <a:gd name="connsiteX42" fmla="*/ 106292 w 4911034"/>
                <a:gd name="connsiteY42" fmla="*/ 2727116 h 4915537"/>
                <a:gd name="connsiteX43" fmla="*/ 212400 w 4911034"/>
                <a:gd name="connsiteY43" fmla="*/ 3575792 h 4915537"/>
                <a:gd name="connsiteX44" fmla="*/ 563811 w 4911034"/>
                <a:gd name="connsiteY44" fmla="*/ 3951691 h 4915537"/>
                <a:gd name="connsiteX45" fmla="*/ 924608 w 4911034"/>
                <a:gd name="connsiteY45" fmla="*/ 4251710 h 4915537"/>
                <a:gd name="connsiteX46" fmla="*/ 1034374 w 4911034"/>
                <a:gd name="connsiteY46" fmla="*/ 4367359 h 4915537"/>
                <a:gd name="connsiteX47" fmla="*/ 1545821 w 4911034"/>
                <a:gd name="connsiteY47" fmla="*/ 4775709 h 4915537"/>
                <a:gd name="connsiteX48" fmla="*/ 2254688 w 4911034"/>
                <a:gd name="connsiteY48" fmla="*/ 4842681 h 4915537"/>
                <a:gd name="connsiteX49" fmla="*/ 2567920 w 4911034"/>
                <a:gd name="connsiteY49" fmla="*/ 4829637 h 4915537"/>
                <a:gd name="connsiteX50" fmla="*/ 2856334 w 4911034"/>
                <a:gd name="connsiteY50" fmla="*/ 4832659 h 4915537"/>
                <a:gd name="connsiteX51" fmla="*/ 3378758 w 4911034"/>
                <a:gd name="connsiteY51" fmla="*/ 4778732 h 4915537"/>
                <a:gd name="connsiteX52" fmla="*/ 4079353 w 4911034"/>
                <a:gd name="connsiteY52" fmla="*/ 4200964 h 4915537"/>
                <a:gd name="connsiteX53" fmla="*/ 4289340 w 4911034"/>
                <a:gd name="connsiteY53" fmla="*/ 3961713 h 4915537"/>
                <a:gd name="connsiteX54" fmla="*/ 4457489 w 4911034"/>
                <a:gd name="connsiteY54" fmla="*/ 3783865 h 4915537"/>
                <a:gd name="connsiteX55" fmla="*/ 4799992 w 4911034"/>
                <a:gd name="connsiteY55" fmla="*/ 3306634 h 4915537"/>
                <a:gd name="connsiteX56" fmla="*/ 4827831 w 4911034"/>
                <a:gd name="connsiteY56" fmla="*/ 2694823 h 4915537"/>
                <a:gd name="connsiteX57" fmla="*/ 4801423 w 4911034"/>
                <a:gd name="connsiteY57" fmla="*/ 2301744 h 4915537"/>
                <a:gd name="connsiteX58" fmla="*/ 4806196 w 4911034"/>
                <a:gd name="connsiteY58" fmla="*/ 2087945 h 4915537"/>
                <a:gd name="connsiteX59" fmla="*/ 4777720 w 4911034"/>
                <a:gd name="connsiteY59" fmla="*/ 1695979 h 4915537"/>
                <a:gd name="connsiteX60" fmla="*/ 4288863 w 4911034"/>
                <a:gd name="connsiteY60" fmla="*/ 995722 h 4915537"/>
                <a:gd name="connsiteX61" fmla="*/ 4145053 w 4911034"/>
                <a:gd name="connsiteY61" fmla="*/ 848099 h 4915537"/>
                <a:gd name="connsiteX62" fmla="*/ 3933316 w 4911034"/>
                <a:gd name="connsiteY62" fmla="*/ 615051 h 4915537"/>
                <a:gd name="connsiteX63" fmla="*/ 3363804 w 4911034"/>
                <a:gd name="connsiteY63" fmla="*/ 146728 h 4915537"/>
                <a:gd name="connsiteX64" fmla="*/ 2752454 w 4911034"/>
                <a:gd name="connsiteY64" fmla="*/ 94551 h 4915537"/>
                <a:gd name="connsiteX65" fmla="*/ 2413451 w 4911034"/>
                <a:gd name="connsiteY65" fmla="*/ 107595 h 4915537"/>
                <a:gd name="connsiteX66" fmla="*/ 2413451 w 4911034"/>
                <a:gd name="connsiteY66" fmla="*/ 107595 h 4915537"/>
                <a:gd name="connsiteX67" fmla="*/ 2065540 w 4911034"/>
                <a:gd name="connsiteY67" fmla="*/ 81666 h 4915537"/>
                <a:gd name="connsiteX68" fmla="*/ 1814669 w 4911034"/>
                <a:gd name="connsiteY68" fmla="*/ 62258 h 491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4911034" h="4915537">
                  <a:moveTo>
                    <a:pt x="1985840" y="4915538"/>
                  </a:moveTo>
                  <a:cubicBezTo>
                    <a:pt x="1825486" y="4915538"/>
                    <a:pt x="1678177" y="4898199"/>
                    <a:pt x="1521959" y="4833614"/>
                  </a:cubicBezTo>
                  <a:cubicBezTo>
                    <a:pt x="1301313" y="4742303"/>
                    <a:pt x="1163389" y="4595793"/>
                    <a:pt x="989036" y="4410151"/>
                  </a:cubicBezTo>
                  <a:cubicBezTo>
                    <a:pt x="954515" y="4373404"/>
                    <a:pt x="918403" y="4335066"/>
                    <a:pt x="879906" y="4295138"/>
                  </a:cubicBezTo>
                  <a:cubicBezTo>
                    <a:pt x="751686" y="4162468"/>
                    <a:pt x="632693" y="4077521"/>
                    <a:pt x="527699" y="4002436"/>
                  </a:cubicBezTo>
                  <a:cubicBezTo>
                    <a:pt x="373867" y="3892514"/>
                    <a:pt x="240716" y="3797386"/>
                    <a:pt x="155449" y="3600767"/>
                  </a:cubicBezTo>
                  <a:cubicBezTo>
                    <a:pt x="40751" y="3337971"/>
                    <a:pt x="42342" y="3054815"/>
                    <a:pt x="44251" y="2726798"/>
                  </a:cubicBezTo>
                  <a:cubicBezTo>
                    <a:pt x="44728" y="2652032"/>
                    <a:pt x="45205" y="2574402"/>
                    <a:pt x="44251" y="2493591"/>
                  </a:cubicBezTo>
                  <a:cubicBezTo>
                    <a:pt x="42819" y="2354876"/>
                    <a:pt x="30410" y="2229205"/>
                    <a:pt x="19434" y="2118328"/>
                  </a:cubicBezTo>
                  <a:cubicBezTo>
                    <a:pt x="-3474" y="1885758"/>
                    <a:pt x="-23200" y="1685003"/>
                    <a:pt x="65408" y="1473907"/>
                  </a:cubicBezTo>
                  <a:cubicBezTo>
                    <a:pt x="153221" y="1265198"/>
                    <a:pt x="305462" y="1142232"/>
                    <a:pt x="481725" y="999858"/>
                  </a:cubicBezTo>
                  <a:cubicBezTo>
                    <a:pt x="568424" y="929864"/>
                    <a:pt x="658146" y="857325"/>
                    <a:pt x="752163" y="766174"/>
                  </a:cubicBezTo>
                  <a:cubicBezTo>
                    <a:pt x="853657" y="667864"/>
                    <a:pt x="935584" y="571941"/>
                    <a:pt x="1014807" y="479358"/>
                  </a:cubicBezTo>
                  <a:cubicBezTo>
                    <a:pt x="1178184" y="288307"/>
                    <a:pt x="1319130" y="123344"/>
                    <a:pt x="1550911" y="42374"/>
                  </a:cubicBezTo>
                  <a:cubicBezTo>
                    <a:pt x="1728287" y="-19507"/>
                    <a:pt x="1888005" y="-1213"/>
                    <a:pt x="2072699" y="19944"/>
                  </a:cubicBezTo>
                  <a:cubicBezTo>
                    <a:pt x="2172602" y="31397"/>
                    <a:pt x="2286027" y="44442"/>
                    <a:pt x="2413929" y="45237"/>
                  </a:cubicBezTo>
                  <a:cubicBezTo>
                    <a:pt x="2536739" y="46032"/>
                    <a:pt x="2644438" y="39192"/>
                    <a:pt x="2748477" y="32352"/>
                  </a:cubicBezTo>
                  <a:cubicBezTo>
                    <a:pt x="2974214" y="17876"/>
                    <a:pt x="3169248" y="5309"/>
                    <a:pt x="3386234" y="88506"/>
                  </a:cubicBezTo>
                  <a:cubicBezTo>
                    <a:pt x="3637584" y="185066"/>
                    <a:pt x="3788711" y="356551"/>
                    <a:pt x="3980245" y="573691"/>
                  </a:cubicBezTo>
                  <a:cubicBezTo>
                    <a:pt x="4045150" y="647344"/>
                    <a:pt x="4112441" y="723541"/>
                    <a:pt x="4190232" y="804830"/>
                  </a:cubicBezTo>
                  <a:cubicBezTo>
                    <a:pt x="4239866" y="856848"/>
                    <a:pt x="4287750" y="905366"/>
                    <a:pt x="4333406" y="951817"/>
                  </a:cubicBezTo>
                  <a:cubicBezTo>
                    <a:pt x="4567892" y="1189796"/>
                    <a:pt x="4753222" y="1377825"/>
                    <a:pt x="4837853" y="1678958"/>
                  </a:cubicBezTo>
                  <a:cubicBezTo>
                    <a:pt x="4879532" y="1825786"/>
                    <a:pt x="4874601" y="1948434"/>
                    <a:pt x="4868715" y="2090490"/>
                  </a:cubicBezTo>
                  <a:cubicBezTo>
                    <a:pt x="4866011" y="2155393"/>
                    <a:pt x="4863306" y="2222683"/>
                    <a:pt x="4864101" y="2301267"/>
                  </a:cubicBezTo>
                  <a:cubicBezTo>
                    <a:pt x="4865534" y="2445232"/>
                    <a:pt x="4878101" y="2568994"/>
                    <a:pt x="4890191" y="2688619"/>
                  </a:cubicBezTo>
                  <a:cubicBezTo>
                    <a:pt x="4913099" y="2913872"/>
                    <a:pt x="4932825" y="3108423"/>
                    <a:pt x="4859329" y="3326518"/>
                  </a:cubicBezTo>
                  <a:cubicBezTo>
                    <a:pt x="4791402" y="3528386"/>
                    <a:pt x="4670181" y="3653739"/>
                    <a:pt x="4502510" y="3827133"/>
                  </a:cubicBezTo>
                  <a:cubicBezTo>
                    <a:pt x="4451285" y="3880265"/>
                    <a:pt x="4395448" y="3937851"/>
                    <a:pt x="4335633" y="4003709"/>
                  </a:cubicBezTo>
                  <a:cubicBezTo>
                    <a:pt x="4258956" y="4087860"/>
                    <a:pt x="4190550" y="4167399"/>
                    <a:pt x="4126759" y="4241688"/>
                  </a:cubicBezTo>
                  <a:cubicBezTo>
                    <a:pt x="3894500" y="4511642"/>
                    <a:pt x="3711079" y="4724805"/>
                    <a:pt x="3400074" y="4837431"/>
                  </a:cubicBezTo>
                  <a:cubicBezTo>
                    <a:pt x="3213154" y="4905516"/>
                    <a:pt x="3055027" y="4900903"/>
                    <a:pt x="2854584" y="4895176"/>
                  </a:cubicBezTo>
                  <a:cubicBezTo>
                    <a:pt x="2771385" y="4892790"/>
                    <a:pt x="2677049" y="4890245"/>
                    <a:pt x="2569192" y="4891994"/>
                  </a:cubicBezTo>
                  <a:cubicBezTo>
                    <a:pt x="2455290" y="4894063"/>
                    <a:pt x="2355227" y="4899630"/>
                    <a:pt x="2258347" y="4905039"/>
                  </a:cubicBezTo>
                  <a:cubicBezTo>
                    <a:pt x="2161307" y="4910607"/>
                    <a:pt x="2071744" y="4915538"/>
                    <a:pt x="1985840" y="4915538"/>
                  </a:cubicBezTo>
                  <a:close/>
                  <a:moveTo>
                    <a:pt x="1814669" y="62258"/>
                  </a:moveTo>
                  <a:cubicBezTo>
                    <a:pt x="1733219" y="62258"/>
                    <a:pt x="1654633" y="72280"/>
                    <a:pt x="1571115" y="101232"/>
                  </a:cubicBezTo>
                  <a:cubicBezTo>
                    <a:pt x="1355400" y="176635"/>
                    <a:pt x="1219386" y="335712"/>
                    <a:pt x="1061895" y="519923"/>
                  </a:cubicBezTo>
                  <a:cubicBezTo>
                    <a:pt x="981718" y="613778"/>
                    <a:pt x="898677" y="710656"/>
                    <a:pt x="795274" y="811034"/>
                  </a:cubicBezTo>
                  <a:cubicBezTo>
                    <a:pt x="699189" y="904094"/>
                    <a:pt x="604377" y="980769"/>
                    <a:pt x="520700" y="1048377"/>
                  </a:cubicBezTo>
                  <a:cubicBezTo>
                    <a:pt x="343960" y="1191228"/>
                    <a:pt x="204287" y="1304013"/>
                    <a:pt x="122678" y="1498246"/>
                  </a:cubicBezTo>
                  <a:cubicBezTo>
                    <a:pt x="40114" y="1694706"/>
                    <a:pt x="58250" y="1878917"/>
                    <a:pt x="81158" y="2112283"/>
                  </a:cubicBezTo>
                  <a:cubicBezTo>
                    <a:pt x="92134" y="2224433"/>
                    <a:pt x="104702" y="2351376"/>
                    <a:pt x="106292" y="2492955"/>
                  </a:cubicBezTo>
                  <a:cubicBezTo>
                    <a:pt x="107088" y="2574243"/>
                    <a:pt x="106770" y="2652032"/>
                    <a:pt x="106292" y="2727116"/>
                  </a:cubicBezTo>
                  <a:cubicBezTo>
                    <a:pt x="104383" y="3047974"/>
                    <a:pt x="102793" y="3325086"/>
                    <a:pt x="212400" y="3575792"/>
                  </a:cubicBezTo>
                  <a:cubicBezTo>
                    <a:pt x="290986" y="3756821"/>
                    <a:pt x="411411" y="3842723"/>
                    <a:pt x="563811" y="3951691"/>
                  </a:cubicBezTo>
                  <a:cubicBezTo>
                    <a:pt x="671032" y="4028207"/>
                    <a:pt x="792411" y="4114904"/>
                    <a:pt x="924608" y="4251710"/>
                  </a:cubicBezTo>
                  <a:cubicBezTo>
                    <a:pt x="963423" y="4291956"/>
                    <a:pt x="999694" y="4330453"/>
                    <a:pt x="1034374" y="4367359"/>
                  </a:cubicBezTo>
                  <a:cubicBezTo>
                    <a:pt x="1203636" y="4547434"/>
                    <a:pt x="1337424" y="4689649"/>
                    <a:pt x="1545821" y="4775709"/>
                  </a:cubicBezTo>
                  <a:cubicBezTo>
                    <a:pt x="1772512" y="4869565"/>
                    <a:pt x="1974863" y="4858429"/>
                    <a:pt x="2254688" y="4842681"/>
                  </a:cubicBezTo>
                  <a:cubicBezTo>
                    <a:pt x="2347592" y="4837590"/>
                    <a:pt x="2452903" y="4831705"/>
                    <a:pt x="2567920" y="4829637"/>
                  </a:cubicBezTo>
                  <a:cubicBezTo>
                    <a:pt x="2677208" y="4827569"/>
                    <a:pt x="2772339" y="4830273"/>
                    <a:pt x="2856334" y="4832659"/>
                  </a:cubicBezTo>
                  <a:cubicBezTo>
                    <a:pt x="3057572" y="4838386"/>
                    <a:pt x="3202973" y="4842681"/>
                    <a:pt x="3378758" y="4778732"/>
                  </a:cubicBezTo>
                  <a:cubicBezTo>
                    <a:pt x="3674490" y="4671673"/>
                    <a:pt x="3844230" y="4474259"/>
                    <a:pt x="4079353" y="4200964"/>
                  </a:cubicBezTo>
                  <a:cubicBezTo>
                    <a:pt x="4143622" y="4126198"/>
                    <a:pt x="4212345" y="4046342"/>
                    <a:pt x="4289340" y="3961713"/>
                  </a:cubicBezTo>
                  <a:cubicBezTo>
                    <a:pt x="4349632" y="3895377"/>
                    <a:pt x="4405788" y="3837314"/>
                    <a:pt x="4457489" y="3783865"/>
                  </a:cubicBezTo>
                  <a:cubicBezTo>
                    <a:pt x="4619435" y="3616356"/>
                    <a:pt x="4736518" y="3495299"/>
                    <a:pt x="4799992" y="3306634"/>
                  </a:cubicBezTo>
                  <a:cubicBezTo>
                    <a:pt x="4869192" y="3101265"/>
                    <a:pt x="4849943" y="2912918"/>
                    <a:pt x="4827831" y="2694823"/>
                  </a:cubicBezTo>
                  <a:cubicBezTo>
                    <a:pt x="4816218" y="2579333"/>
                    <a:pt x="4802855" y="2448572"/>
                    <a:pt x="4801423" y="2301744"/>
                  </a:cubicBezTo>
                  <a:cubicBezTo>
                    <a:pt x="4800628" y="2221728"/>
                    <a:pt x="4803491" y="2150621"/>
                    <a:pt x="4806196" y="2087945"/>
                  </a:cubicBezTo>
                  <a:cubicBezTo>
                    <a:pt x="4812082" y="1945730"/>
                    <a:pt x="4816696" y="1833262"/>
                    <a:pt x="4777720" y="1695979"/>
                  </a:cubicBezTo>
                  <a:cubicBezTo>
                    <a:pt x="4697384" y="1410277"/>
                    <a:pt x="4526053" y="1236406"/>
                    <a:pt x="4288863" y="995722"/>
                  </a:cubicBezTo>
                  <a:cubicBezTo>
                    <a:pt x="4242888" y="949113"/>
                    <a:pt x="4194846" y="900276"/>
                    <a:pt x="4145053" y="848099"/>
                  </a:cubicBezTo>
                  <a:cubicBezTo>
                    <a:pt x="4066308" y="766015"/>
                    <a:pt x="3998698" y="689340"/>
                    <a:pt x="3933316" y="615051"/>
                  </a:cubicBezTo>
                  <a:cubicBezTo>
                    <a:pt x="3747508" y="404274"/>
                    <a:pt x="3600836" y="237879"/>
                    <a:pt x="3363804" y="146728"/>
                  </a:cubicBezTo>
                  <a:cubicBezTo>
                    <a:pt x="3159703" y="68462"/>
                    <a:pt x="2980099" y="79916"/>
                    <a:pt x="2752454" y="94551"/>
                  </a:cubicBezTo>
                  <a:cubicBezTo>
                    <a:pt x="2647301" y="101391"/>
                    <a:pt x="2538171" y="107913"/>
                    <a:pt x="2413451" y="107595"/>
                  </a:cubicBezTo>
                  <a:lnTo>
                    <a:pt x="2413451" y="107595"/>
                  </a:lnTo>
                  <a:cubicBezTo>
                    <a:pt x="2282050" y="106641"/>
                    <a:pt x="2167034" y="93437"/>
                    <a:pt x="2065540" y="81666"/>
                  </a:cubicBezTo>
                  <a:cubicBezTo>
                    <a:pt x="1974704" y="71644"/>
                    <a:pt x="1893255" y="62258"/>
                    <a:pt x="1814669" y="62258"/>
                  </a:cubicBezTo>
                  <a:close/>
                </a:path>
              </a:pathLst>
            </a:custGeom>
            <a:gradFill>
              <a:gsLst>
                <a:gs pos="100000">
                  <a:schemeClr val="accent2"/>
                </a:gs>
                <a:gs pos="0">
                  <a:schemeClr val="accent1"/>
                </a:gs>
              </a:gsLst>
              <a:lin ang="0" scaled="1"/>
            </a:gradFill>
            <a:ln w="1589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48" name="Freeform 47">
              <a:extLst>
                <a:ext uri="{FF2B5EF4-FFF2-40B4-BE49-F238E27FC236}">
                  <a16:creationId xmlns:a16="http://schemas.microsoft.com/office/drawing/2014/main" id="{489A8C82-4DCE-20CD-0859-9D7CBD654342}"/>
                </a:ext>
              </a:extLst>
            </p:cNvPr>
            <p:cNvSpPr/>
            <p:nvPr/>
          </p:nvSpPr>
          <p:spPr>
            <a:xfrm>
              <a:off x="-2409788" y="1013075"/>
              <a:ext cx="4807813" cy="4817254"/>
            </a:xfrm>
            <a:custGeom>
              <a:avLst/>
              <a:gdLst>
                <a:gd name="connsiteX0" fmla="*/ 2006198 w 4807813"/>
                <a:gd name="connsiteY0" fmla="*/ 4817255 h 4817254"/>
                <a:gd name="connsiteX1" fmla="*/ 1481070 w 4807813"/>
                <a:gd name="connsiteY1" fmla="*/ 4727376 h 4817254"/>
                <a:gd name="connsiteX2" fmla="*/ 924285 w 4807813"/>
                <a:gd name="connsiteY2" fmla="*/ 4291506 h 4817254"/>
                <a:gd name="connsiteX3" fmla="*/ 846494 w 4807813"/>
                <a:gd name="connsiteY3" fmla="*/ 4211490 h 4817254"/>
                <a:gd name="connsiteX4" fmla="*/ 530399 w 4807813"/>
                <a:gd name="connsiteY4" fmla="*/ 3939786 h 4817254"/>
                <a:gd name="connsiteX5" fmla="*/ 152740 w 4807813"/>
                <a:gd name="connsiteY5" fmla="*/ 3517278 h 4817254"/>
                <a:gd name="connsiteX6" fmla="*/ 29770 w 4807813"/>
                <a:gd name="connsiteY6" fmla="*/ 2595745 h 4817254"/>
                <a:gd name="connsiteX7" fmla="*/ 28974 w 4807813"/>
                <a:gd name="connsiteY7" fmla="*/ 2438895 h 4817254"/>
                <a:gd name="connsiteX8" fmla="*/ 12907 w 4807813"/>
                <a:gd name="connsiteY8" fmla="*/ 2111674 h 4817254"/>
                <a:gd name="connsiteX9" fmla="*/ 72245 w 4807813"/>
                <a:gd name="connsiteY9" fmla="*/ 1442596 h 4817254"/>
                <a:gd name="connsiteX10" fmla="*/ 495242 w 4807813"/>
                <a:gd name="connsiteY10" fmla="*/ 945480 h 4817254"/>
                <a:gd name="connsiteX11" fmla="*/ 729092 w 4807813"/>
                <a:gd name="connsiteY11" fmla="*/ 736930 h 4817254"/>
                <a:gd name="connsiteX12" fmla="*/ 962305 w 4807813"/>
                <a:gd name="connsiteY12" fmla="*/ 490361 h 4817254"/>
                <a:gd name="connsiteX13" fmla="*/ 1525295 w 4807813"/>
                <a:gd name="connsiteY13" fmla="*/ 46695 h 4817254"/>
                <a:gd name="connsiteX14" fmla="*/ 2063150 w 4807813"/>
                <a:gd name="connsiteY14" fmla="*/ 13925 h 4817254"/>
                <a:gd name="connsiteX15" fmla="*/ 2368904 w 4807813"/>
                <a:gd name="connsiteY15" fmla="*/ 31265 h 4817254"/>
                <a:gd name="connsiteX16" fmla="*/ 2655728 w 4807813"/>
                <a:gd name="connsiteY16" fmla="*/ 24425 h 4817254"/>
                <a:gd name="connsiteX17" fmla="*/ 3325620 w 4807813"/>
                <a:gd name="connsiteY17" fmla="*/ 93941 h 4817254"/>
                <a:gd name="connsiteX18" fmla="*/ 3954151 w 4807813"/>
                <a:gd name="connsiteY18" fmla="*/ 603147 h 4817254"/>
                <a:gd name="connsiteX19" fmla="*/ 4124846 w 4807813"/>
                <a:gd name="connsiteY19" fmla="*/ 789108 h 4817254"/>
                <a:gd name="connsiteX20" fmla="*/ 4217431 w 4807813"/>
                <a:gd name="connsiteY20" fmla="*/ 886304 h 4817254"/>
                <a:gd name="connsiteX21" fmla="*/ 4745263 w 4807813"/>
                <a:gd name="connsiteY21" fmla="*/ 1661963 h 4817254"/>
                <a:gd name="connsiteX22" fmla="*/ 4780262 w 4807813"/>
                <a:gd name="connsiteY22" fmla="*/ 2089721 h 4817254"/>
                <a:gd name="connsiteX23" fmla="*/ 4777716 w 4807813"/>
                <a:gd name="connsiteY23" fmla="*/ 2273614 h 4817254"/>
                <a:gd name="connsiteX24" fmla="*/ 4794261 w 4807813"/>
                <a:gd name="connsiteY24" fmla="*/ 2611653 h 4817254"/>
                <a:gd name="connsiteX25" fmla="*/ 4747809 w 4807813"/>
                <a:gd name="connsiteY25" fmla="*/ 3276435 h 4817254"/>
                <a:gd name="connsiteX26" fmla="*/ 4377308 w 4807813"/>
                <a:gd name="connsiteY26" fmla="*/ 3798526 h 4817254"/>
                <a:gd name="connsiteX27" fmla="*/ 4242566 w 4807813"/>
                <a:gd name="connsiteY27" fmla="*/ 3942650 h 4817254"/>
                <a:gd name="connsiteX28" fmla="*/ 4085870 w 4807813"/>
                <a:gd name="connsiteY28" fmla="*/ 4117634 h 4817254"/>
                <a:gd name="connsiteX29" fmla="*/ 3312893 w 4807813"/>
                <a:gd name="connsiteY29" fmla="*/ 4739944 h 4817254"/>
                <a:gd name="connsiteX30" fmla="*/ 2744018 w 4807813"/>
                <a:gd name="connsiteY30" fmla="*/ 4803574 h 4817254"/>
                <a:gd name="connsiteX31" fmla="*/ 2502055 w 4807813"/>
                <a:gd name="connsiteY31" fmla="*/ 4802779 h 4817254"/>
                <a:gd name="connsiteX32" fmla="*/ 2254684 w 4807813"/>
                <a:gd name="connsiteY32" fmla="*/ 4810256 h 4817254"/>
                <a:gd name="connsiteX33" fmla="*/ 2006198 w 4807813"/>
                <a:gd name="connsiteY33" fmla="*/ 4817255 h 4817254"/>
                <a:gd name="connsiteX34" fmla="*/ 1821982 w 4807813"/>
                <a:gd name="connsiteY34" fmla="*/ 65626 h 4817254"/>
                <a:gd name="connsiteX35" fmla="*/ 1547248 w 4807813"/>
                <a:gd name="connsiteY35" fmla="*/ 108735 h 4817254"/>
                <a:gd name="connsiteX36" fmla="*/ 1011303 w 4807813"/>
                <a:gd name="connsiteY36" fmla="*/ 534425 h 4817254"/>
                <a:gd name="connsiteX37" fmla="*/ 775067 w 4807813"/>
                <a:gd name="connsiteY37" fmla="*/ 784017 h 4817254"/>
                <a:gd name="connsiteX38" fmla="*/ 538194 w 4807813"/>
                <a:gd name="connsiteY38" fmla="*/ 995431 h 4817254"/>
                <a:gd name="connsiteX39" fmla="*/ 133173 w 4807813"/>
                <a:gd name="connsiteY39" fmla="*/ 1467889 h 4817254"/>
                <a:gd name="connsiteX40" fmla="*/ 78767 w 4807813"/>
                <a:gd name="connsiteY40" fmla="*/ 2106742 h 4817254"/>
                <a:gd name="connsiteX41" fmla="*/ 94993 w 4807813"/>
                <a:gd name="connsiteY41" fmla="*/ 2437781 h 4817254"/>
                <a:gd name="connsiteX42" fmla="*/ 95789 w 4807813"/>
                <a:gd name="connsiteY42" fmla="*/ 2595109 h 4817254"/>
                <a:gd name="connsiteX43" fmla="*/ 213191 w 4807813"/>
                <a:gd name="connsiteY43" fmla="*/ 3490394 h 4817254"/>
                <a:gd name="connsiteX44" fmla="*/ 570647 w 4807813"/>
                <a:gd name="connsiteY44" fmla="*/ 3887291 h 4817254"/>
                <a:gd name="connsiteX45" fmla="*/ 893741 w 4807813"/>
                <a:gd name="connsiteY45" fmla="*/ 4165198 h 4817254"/>
                <a:gd name="connsiteX46" fmla="*/ 971691 w 4807813"/>
                <a:gd name="connsiteY46" fmla="*/ 4245533 h 4817254"/>
                <a:gd name="connsiteX47" fmla="*/ 1506523 w 4807813"/>
                <a:gd name="connsiteY47" fmla="*/ 4666450 h 4817254"/>
                <a:gd name="connsiteX48" fmla="*/ 2252615 w 4807813"/>
                <a:gd name="connsiteY48" fmla="*/ 4744875 h 4817254"/>
                <a:gd name="connsiteX49" fmla="*/ 2501419 w 4807813"/>
                <a:gd name="connsiteY49" fmla="*/ 4737240 h 4817254"/>
                <a:gd name="connsiteX50" fmla="*/ 2745450 w 4807813"/>
                <a:gd name="connsiteY50" fmla="*/ 4738035 h 4817254"/>
                <a:gd name="connsiteX51" fmla="*/ 3291099 w 4807813"/>
                <a:gd name="connsiteY51" fmla="*/ 4678222 h 4817254"/>
                <a:gd name="connsiteX52" fmla="*/ 4037191 w 4807813"/>
                <a:gd name="connsiteY52" fmla="*/ 4074206 h 4817254"/>
                <a:gd name="connsiteX53" fmla="*/ 4194364 w 4807813"/>
                <a:gd name="connsiteY53" fmla="*/ 3898426 h 4817254"/>
                <a:gd name="connsiteX54" fmla="*/ 4329902 w 4807813"/>
                <a:gd name="connsiteY54" fmla="*/ 3753348 h 4817254"/>
                <a:gd name="connsiteX55" fmla="*/ 4686085 w 4807813"/>
                <a:gd name="connsiteY55" fmla="*/ 3254642 h 4817254"/>
                <a:gd name="connsiteX56" fmla="*/ 4729037 w 4807813"/>
                <a:gd name="connsiteY56" fmla="*/ 2616266 h 4817254"/>
                <a:gd name="connsiteX57" fmla="*/ 4712333 w 4807813"/>
                <a:gd name="connsiteY57" fmla="*/ 2274091 h 4817254"/>
                <a:gd name="connsiteX58" fmla="*/ 4714879 w 4807813"/>
                <a:gd name="connsiteY58" fmla="*/ 2087812 h 4817254"/>
                <a:gd name="connsiteX59" fmla="*/ 4682267 w 4807813"/>
                <a:gd name="connsiteY59" fmla="*/ 1679461 h 4817254"/>
                <a:gd name="connsiteX60" fmla="*/ 4170343 w 4807813"/>
                <a:gd name="connsiteY60" fmla="*/ 931482 h 4817254"/>
                <a:gd name="connsiteX61" fmla="*/ 4077439 w 4807813"/>
                <a:gd name="connsiteY61" fmla="*/ 833967 h 4817254"/>
                <a:gd name="connsiteX62" fmla="*/ 3905631 w 4807813"/>
                <a:gd name="connsiteY62" fmla="*/ 646734 h 4817254"/>
                <a:gd name="connsiteX63" fmla="*/ 3301917 w 4807813"/>
                <a:gd name="connsiteY63" fmla="*/ 154868 h 4817254"/>
                <a:gd name="connsiteX64" fmla="*/ 2658592 w 4807813"/>
                <a:gd name="connsiteY64" fmla="*/ 89646 h 4817254"/>
                <a:gd name="connsiteX65" fmla="*/ 2368745 w 4807813"/>
                <a:gd name="connsiteY65" fmla="*/ 96646 h 4817254"/>
                <a:gd name="connsiteX66" fmla="*/ 2368745 w 4807813"/>
                <a:gd name="connsiteY66" fmla="*/ 96646 h 4817254"/>
                <a:gd name="connsiteX67" fmla="*/ 2057900 w 4807813"/>
                <a:gd name="connsiteY67" fmla="*/ 79147 h 4817254"/>
                <a:gd name="connsiteX68" fmla="*/ 1821982 w 4807813"/>
                <a:gd name="connsiteY68" fmla="*/ 65626 h 4817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4807813" h="4817254">
                  <a:moveTo>
                    <a:pt x="2006198" y="4817255"/>
                  </a:moveTo>
                  <a:cubicBezTo>
                    <a:pt x="1821346" y="4817255"/>
                    <a:pt x="1655424" y="4799916"/>
                    <a:pt x="1481070" y="4727376"/>
                  </a:cubicBezTo>
                  <a:cubicBezTo>
                    <a:pt x="1254220" y="4632885"/>
                    <a:pt x="1108501" y="4482239"/>
                    <a:pt x="924285" y="4291506"/>
                  </a:cubicBezTo>
                  <a:lnTo>
                    <a:pt x="846494" y="4211490"/>
                  </a:lnTo>
                  <a:cubicBezTo>
                    <a:pt x="732274" y="4094727"/>
                    <a:pt x="625053" y="4012485"/>
                    <a:pt x="530399" y="3939786"/>
                  </a:cubicBezTo>
                  <a:cubicBezTo>
                    <a:pt x="374659" y="3820160"/>
                    <a:pt x="240076" y="3716919"/>
                    <a:pt x="152740" y="3517278"/>
                  </a:cubicBezTo>
                  <a:cubicBezTo>
                    <a:pt x="31520" y="3241757"/>
                    <a:pt x="30724" y="2942374"/>
                    <a:pt x="29770" y="2595745"/>
                  </a:cubicBezTo>
                  <a:cubicBezTo>
                    <a:pt x="29611" y="2544840"/>
                    <a:pt x="29452" y="2492504"/>
                    <a:pt x="28974" y="2438895"/>
                  </a:cubicBezTo>
                  <a:cubicBezTo>
                    <a:pt x="27702" y="2320065"/>
                    <a:pt x="20225" y="2214119"/>
                    <a:pt x="12907" y="2111674"/>
                  </a:cubicBezTo>
                  <a:cubicBezTo>
                    <a:pt x="-4274" y="1869081"/>
                    <a:pt x="-19227" y="1659577"/>
                    <a:pt x="72245" y="1442596"/>
                  </a:cubicBezTo>
                  <a:cubicBezTo>
                    <a:pt x="162444" y="1228637"/>
                    <a:pt x="316753" y="1097558"/>
                    <a:pt x="495242" y="945480"/>
                  </a:cubicBezTo>
                  <a:cubicBezTo>
                    <a:pt x="570329" y="881531"/>
                    <a:pt x="648120" y="815514"/>
                    <a:pt x="729092" y="736930"/>
                  </a:cubicBezTo>
                  <a:cubicBezTo>
                    <a:pt x="816110" y="652460"/>
                    <a:pt x="890401" y="570059"/>
                    <a:pt x="962305" y="490361"/>
                  </a:cubicBezTo>
                  <a:cubicBezTo>
                    <a:pt x="1136500" y="297083"/>
                    <a:pt x="1286832" y="130370"/>
                    <a:pt x="1525295" y="46695"/>
                  </a:cubicBezTo>
                  <a:cubicBezTo>
                    <a:pt x="1706330" y="-16617"/>
                    <a:pt x="1871774" y="-2459"/>
                    <a:pt x="2063150" y="13925"/>
                  </a:cubicBezTo>
                  <a:cubicBezTo>
                    <a:pt x="2158121" y="22038"/>
                    <a:pt x="2256275" y="30629"/>
                    <a:pt x="2368904" y="31265"/>
                  </a:cubicBezTo>
                  <a:cubicBezTo>
                    <a:pt x="2473102" y="31742"/>
                    <a:pt x="2565370" y="28083"/>
                    <a:pt x="2655728" y="24425"/>
                  </a:cubicBezTo>
                  <a:cubicBezTo>
                    <a:pt x="2894668" y="14880"/>
                    <a:pt x="3101156" y="6290"/>
                    <a:pt x="3325620" y="93941"/>
                  </a:cubicBezTo>
                  <a:cubicBezTo>
                    <a:pt x="3587468" y="196228"/>
                    <a:pt x="3749254" y="375826"/>
                    <a:pt x="3954151" y="603147"/>
                  </a:cubicBezTo>
                  <a:cubicBezTo>
                    <a:pt x="4007285" y="662164"/>
                    <a:pt x="4063281" y="724363"/>
                    <a:pt x="4124846" y="789108"/>
                  </a:cubicBezTo>
                  <a:lnTo>
                    <a:pt x="4217431" y="886304"/>
                  </a:lnTo>
                  <a:cubicBezTo>
                    <a:pt x="4463053" y="1142895"/>
                    <a:pt x="4657132" y="1345718"/>
                    <a:pt x="4745263" y="1661963"/>
                  </a:cubicBezTo>
                  <a:cubicBezTo>
                    <a:pt x="4787579" y="1812450"/>
                    <a:pt x="4784239" y="1934780"/>
                    <a:pt x="4780262" y="2089721"/>
                  </a:cubicBezTo>
                  <a:cubicBezTo>
                    <a:pt x="4778830" y="2146034"/>
                    <a:pt x="4777080" y="2206325"/>
                    <a:pt x="4777716" y="2273614"/>
                  </a:cubicBezTo>
                  <a:cubicBezTo>
                    <a:pt x="4778830" y="2396740"/>
                    <a:pt x="4786625" y="2506026"/>
                    <a:pt x="4794261" y="2611653"/>
                  </a:cubicBezTo>
                  <a:cubicBezTo>
                    <a:pt x="4811282" y="2848200"/>
                    <a:pt x="4826077" y="3052296"/>
                    <a:pt x="4747809" y="3276435"/>
                  </a:cubicBezTo>
                  <a:cubicBezTo>
                    <a:pt x="4675427" y="3483872"/>
                    <a:pt x="4550229" y="3615905"/>
                    <a:pt x="4377308" y="3798526"/>
                  </a:cubicBezTo>
                  <a:cubicBezTo>
                    <a:pt x="4335151" y="3843067"/>
                    <a:pt x="4290132" y="3890472"/>
                    <a:pt x="4242566" y="3942650"/>
                  </a:cubicBezTo>
                  <a:cubicBezTo>
                    <a:pt x="4186887" y="4003576"/>
                    <a:pt x="4135186" y="4061957"/>
                    <a:pt x="4085870" y="4117634"/>
                  </a:cubicBezTo>
                  <a:cubicBezTo>
                    <a:pt x="3835795" y="4400155"/>
                    <a:pt x="3638215" y="4623340"/>
                    <a:pt x="3312893" y="4739944"/>
                  </a:cubicBezTo>
                  <a:cubicBezTo>
                    <a:pt x="3120883" y="4809142"/>
                    <a:pt x="2954483" y="4806756"/>
                    <a:pt x="2744018" y="4803574"/>
                  </a:cubicBezTo>
                  <a:cubicBezTo>
                    <a:pt x="2671000" y="4802461"/>
                    <a:pt x="2591459" y="4801188"/>
                    <a:pt x="2502055" y="4802779"/>
                  </a:cubicBezTo>
                  <a:cubicBezTo>
                    <a:pt x="2413447" y="4804211"/>
                    <a:pt x="2331520" y="4807393"/>
                    <a:pt x="2254684" y="4810256"/>
                  </a:cubicBezTo>
                  <a:cubicBezTo>
                    <a:pt x="2167189" y="4814074"/>
                    <a:pt x="2085103" y="4817255"/>
                    <a:pt x="2006198" y="4817255"/>
                  </a:cubicBezTo>
                  <a:close/>
                  <a:moveTo>
                    <a:pt x="1821982" y="65626"/>
                  </a:moveTo>
                  <a:cubicBezTo>
                    <a:pt x="1728919" y="65626"/>
                    <a:pt x="1640629" y="76125"/>
                    <a:pt x="1547248" y="108735"/>
                  </a:cubicBezTo>
                  <a:cubicBezTo>
                    <a:pt x="1324693" y="186842"/>
                    <a:pt x="1179452" y="347828"/>
                    <a:pt x="1011303" y="534425"/>
                  </a:cubicBezTo>
                  <a:cubicBezTo>
                    <a:pt x="938761" y="614918"/>
                    <a:pt x="863675" y="698116"/>
                    <a:pt x="775067" y="784017"/>
                  </a:cubicBezTo>
                  <a:cubicBezTo>
                    <a:pt x="692503" y="864033"/>
                    <a:pt x="614076" y="930845"/>
                    <a:pt x="538194" y="995431"/>
                  </a:cubicBezTo>
                  <a:cubicBezTo>
                    <a:pt x="358910" y="1147985"/>
                    <a:pt x="217327" y="1268407"/>
                    <a:pt x="133173" y="1467889"/>
                  </a:cubicBezTo>
                  <a:cubicBezTo>
                    <a:pt x="47746" y="1670394"/>
                    <a:pt x="61427" y="1863036"/>
                    <a:pt x="78767" y="2106742"/>
                  </a:cubicBezTo>
                  <a:cubicBezTo>
                    <a:pt x="86085" y="2210142"/>
                    <a:pt x="93721" y="2317201"/>
                    <a:pt x="94993" y="2437781"/>
                  </a:cubicBezTo>
                  <a:cubicBezTo>
                    <a:pt x="95470" y="2491550"/>
                    <a:pt x="95630" y="2543886"/>
                    <a:pt x="95789" y="2595109"/>
                  </a:cubicBezTo>
                  <a:cubicBezTo>
                    <a:pt x="96743" y="2948260"/>
                    <a:pt x="97539" y="3227440"/>
                    <a:pt x="213191" y="3490394"/>
                  </a:cubicBezTo>
                  <a:cubicBezTo>
                    <a:pt x="293845" y="3674605"/>
                    <a:pt x="416020" y="3768460"/>
                    <a:pt x="570647" y="3887291"/>
                  </a:cubicBezTo>
                  <a:cubicBezTo>
                    <a:pt x="667050" y="3961262"/>
                    <a:pt x="776180" y="4045095"/>
                    <a:pt x="893741" y="4165198"/>
                  </a:cubicBezTo>
                  <a:lnTo>
                    <a:pt x="971691" y="4245533"/>
                  </a:lnTo>
                  <a:cubicBezTo>
                    <a:pt x="1150817" y="4430857"/>
                    <a:pt x="1292082" y="4577049"/>
                    <a:pt x="1506523" y="4666450"/>
                  </a:cubicBezTo>
                  <a:cubicBezTo>
                    <a:pt x="1741805" y="4764601"/>
                    <a:pt x="1956088" y="4756488"/>
                    <a:pt x="2252615" y="4744875"/>
                  </a:cubicBezTo>
                  <a:cubicBezTo>
                    <a:pt x="2329929" y="4741852"/>
                    <a:pt x="2412333" y="4738830"/>
                    <a:pt x="2501419" y="4737240"/>
                  </a:cubicBezTo>
                  <a:cubicBezTo>
                    <a:pt x="2591459" y="4735808"/>
                    <a:pt x="2671795" y="4736921"/>
                    <a:pt x="2745450" y="4738035"/>
                  </a:cubicBezTo>
                  <a:cubicBezTo>
                    <a:pt x="2957188" y="4741057"/>
                    <a:pt x="3110383" y="4743443"/>
                    <a:pt x="3291099" y="4678222"/>
                  </a:cubicBezTo>
                  <a:cubicBezTo>
                    <a:pt x="3600513" y="4567186"/>
                    <a:pt x="3783616" y="4360386"/>
                    <a:pt x="4037191" y="4074206"/>
                  </a:cubicBezTo>
                  <a:cubicBezTo>
                    <a:pt x="4086666" y="4018211"/>
                    <a:pt x="4138686" y="3959671"/>
                    <a:pt x="4194364" y="3898426"/>
                  </a:cubicBezTo>
                  <a:cubicBezTo>
                    <a:pt x="4242248" y="3845931"/>
                    <a:pt x="4287427" y="3798208"/>
                    <a:pt x="4329902" y="3753348"/>
                  </a:cubicBezTo>
                  <a:cubicBezTo>
                    <a:pt x="4497255" y="3576455"/>
                    <a:pt x="4618316" y="3448716"/>
                    <a:pt x="4686085" y="3254642"/>
                  </a:cubicBezTo>
                  <a:cubicBezTo>
                    <a:pt x="4759899" y="3043388"/>
                    <a:pt x="4746218" y="2854881"/>
                    <a:pt x="4729037" y="2616266"/>
                  </a:cubicBezTo>
                  <a:cubicBezTo>
                    <a:pt x="4721242" y="2509684"/>
                    <a:pt x="4713447" y="2399285"/>
                    <a:pt x="4712333" y="2274091"/>
                  </a:cubicBezTo>
                  <a:cubicBezTo>
                    <a:pt x="4711697" y="2206006"/>
                    <a:pt x="4713447" y="2144921"/>
                    <a:pt x="4714879" y="2087812"/>
                  </a:cubicBezTo>
                  <a:cubicBezTo>
                    <a:pt x="4718856" y="1938439"/>
                    <a:pt x="4722038" y="1820404"/>
                    <a:pt x="4682267" y="1679461"/>
                  </a:cubicBezTo>
                  <a:cubicBezTo>
                    <a:pt x="4598590" y="1378965"/>
                    <a:pt x="4409601" y="1181551"/>
                    <a:pt x="4170343" y="931482"/>
                  </a:cubicBezTo>
                  <a:lnTo>
                    <a:pt x="4077439" y="833967"/>
                  </a:lnTo>
                  <a:cubicBezTo>
                    <a:pt x="4015557" y="768746"/>
                    <a:pt x="3959083" y="706229"/>
                    <a:pt x="3905631" y="646734"/>
                  </a:cubicBezTo>
                  <a:cubicBezTo>
                    <a:pt x="3706620" y="425935"/>
                    <a:pt x="3549289" y="251427"/>
                    <a:pt x="3301917" y="154868"/>
                  </a:cubicBezTo>
                  <a:cubicBezTo>
                    <a:pt x="3090179" y="72148"/>
                    <a:pt x="2899759" y="79942"/>
                    <a:pt x="2658592" y="89646"/>
                  </a:cubicBezTo>
                  <a:cubicBezTo>
                    <a:pt x="2567597" y="93305"/>
                    <a:pt x="2473580" y="97600"/>
                    <a:pt x="2368745" y="96646"/>
                  </a:cubicBezTo>
                  <a:lnTo>
                    <a:pt x="2368745" y="96646"/>
                  </a:lnTo>
                  <a:cubicBezTo>
                    <a:pt x="2253570" y="95850"/>
                    <a:pt x="2149531" y="86942"/>
                    <a:pt x="2057900" y="79147"/>
                  </a:cubicBezTo>
                  <a:cubicBezTo>
                    <a:pt x="1972791" y="72307"/>
                    <a:pt x="1895955" y="65626"/>
                    <a:pt x="1821982" y="65626"/>
                  </a:cubicBezTo>
                  <a:close/>
                </a:path>
              </a:pathLst>
            </a:custGeom>
            <a:gradFill>
              <a:gsLst>
                <a:gs pos="100000">
                  <a:schemeClr val="accent2"/>
                </a:gs>
                <a:gs pos="0">
                  <a:schemeClr val="accent1"/>
                </a:gs>
              </a:gsLst>
              <a:lin ang="0" scaled="1"/>
            </a:gradFill>
            <a:ln w="1589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49" name="Freeform 48">
              <a:extLst>
                <a:ext uri="{FF2B5EF4-FFF2-40B4-BE49-F238E27FC236}">
                  <a16:creationId xmlns:a16="http://schemas.microsoft.com/office/drawing/2014/main" id="{1CA0E88A-CCDD-C767-3AA6-6D6C8A971891}"/>
                </a:ext>
              </a:extLst>
            </p:cNvPr>
            <p:cNvSpPr/>
            <p:nvPr/>
          </p:nvSpPr>
          <p:spPr>
            <a:xfrm>
              <a:off x="-2360099" y="1062053"/>
              <a:ext cx="4709579" cy="4722462"/>
            </a:xfrm>
            <a:custGeom>
              <a:avLst/>
              <a:gdLst>
                <a:gd name="connsiteX0" fmla="*/ 2051799 w 4709579"/>
                <a:gd name="connsiteY0" fmla="*/ 4722463 h 4722462"/>
                <a:gd name="connsiteX1" fmla="*/ 1442040 w 4709579"/>
                <a:gd name="connsiteY1" fmla="*/ 4622403 h 4722462"/>
                <a:gd name="connsiteX2" fmla="*/ 852325 w 4709579"/>
                <a:gd name="connsiteY2" fmla="*/ 4166330 h 4722462"/>
                <a:gd name="connsiteX3" fmla="*/ 815259 w 4709579"/>
                <a:gd name="connsiteY3" fmla="*/ 4128787 h 4722462"/>
                <a:gd name="connsiteX4" fmla="*/ 540048 w 4709579"/>
                <a:gd name="connsiteY4" fmla="*/ 3884286 h 4722462"/>
                <a:gd name="connsiteX5" fmla="*/ 152048 w 4709579"/>
                <a:gd name="connsiteY5" fmla="*/ 3434894 h 4722462"/>
                <a:gd name="connsiteX6" fmla="*/ 16351 w 4709579"/>
                <a:gd name="connsiteY6" fmla="*/ 2441617 h 4722462"/>
                <a:gd name="connsiteX7" fmla="*/ 15874 w 4709579"/>
                <a:gd name="connsiteY7" fmla="*/ 2385144 h 4722462"/>
                <a:gd name="connsiteX8" fmla="*/ 7284 w 4709579"/>
                <a:gd name="connsiteY8" fmla="*/ 2118213 h 4722462"/>
                <a:gd name="connsiteX9" fmla="*/ 81257 w 4709579"/>
                <a:gd name="connsiteY9" fmla="*/ 1412389 h 4722462"/>
                <a:gd name="connsiteX10" fmla="*/ 517140 w 4709579"/>
                <a:gd name="connsiteY10" fmla="*/ 884889 h 4722462"/>
                <a:gd name="connsiteX11" fmla="*/ 708197 w 4709579"/>
                <a:gd name="connsiteY11" fmla="*/ 709109 h 4722462"/>
                <a:gd name="connsiteX12" fmla="*/ 903072 w 4709579"/>
                <a:gd name="connsiteY12" fmla="*/ 509468 h 4722462"/>
                <a:gd name="connsiteX13" fmla="*/ 1502013 w 4709579"/>
                <a:gd name="connsiteY13" fmla="*/ 52440 h 4722462"/>
                <a:gd name="connsiteX14" fmla="*/ 2064367 w 4709579"/>
                <a:gd name="connsiteY14" fmla="*/ 8534 h 4722462"/>
                <a:gd name="connsiteX15" fmla="*/ 2326056 w 4709579"/>
                <a:gd name="connsiteY15" fmla="*/ 18715 h 4722462"/>
                <a:gd name="connsiteX16" fmla="*/ 2548770 w 4709579"/>
                <a:gd name="connsiteY16" fmla="*/ 16329 h 4722462"/>
                <a:gd name="connsiteX17" fmla="*/ 3266864 w 4709579"/>
                <a:gd name="connsiteY17" fmla="*/ 100799 h 4722462"/>
                <a:gd name="connsiteX18" fmla="*/ 3942960 w 4709579"/>
                <a:gd name="connsiteY18" fmla="*/ 646274 h 4722462"/>
                <a:gd name="connsiteX19" fmla="*/ 4061634 w 4709579"/>
                <a:gd name="connsiteY19" fmla="*/ 774490 h 4722462"/>
                <a:gd name="connsiteX20" fmla="*/ 4091383 w 4709579"/>
                <a:gd name="connsiteY20" fmla="*/ 806305 h 4722462"/>
                <a:gd name="connsiteX21" fmla="*/ 4654850 w 4709579"/>
                <a:gd name="connsiteY21" fmla="*/ 1646391 h 4722462"/>
                <a:gd name="connsiteX22" fmla="*/ 4694461 w 4709579"/>
                <a:gd name="connsiteY22" fmla="*/ 2097692 h 4722462"/>
                <a:gd name="connsiteX23" fmla="*/ 4693666 w 4709579"/>
                <a:gd name="connsiteY23" fmla="*/ 2247543 h 4722462"/>
                <a:gd name="connsiteX24" fmla="*/ 4702256 w 4709579"/>
                <a:gd name="connsiteY24" fmla="*/ 2522746 h 4722462"/>
                <a:gd name="connsiteX25" fmla="*/ 4638464 w 4709579"/>
                <a:gd name="connsiteY25" fmla="*/ 3227934 h 4722462"/>
                <a:gd name="connsiteX26" fmla="*/ 4248397 w 4709579"/>
                <a:gd name="connsiteY26" fmla="*/ 3778659 h 4722462"/>
                <a:gd name="connsiteX27" fmla="*/ 4151675 w 4709579"/>
                <a:gd name="connsiteY27" fmla="*/ 3883332 h 4722462"/>
                <a:gd name="connsiteX28" fmla="*/ 4061953 w 4709579"/>
                <a:gd name="connsiteY28" fmla="*/ 3982118 h 4722462"/>
                <a:gd name="connsiteX29" fmla="*/ 3228048 w 4709579"/>
                <a:gd name="connsiteY29" fmla="*/ 4644356 h 4722462"/>
                <a:gd name="connsiteX30" fmla="*/ 2624811 w 4709579"/>
                <a:gd name="connsiteY30" fmla="*/ 4714986 h 4722462"/>
                <a:gd name="connsiteX31" fmla="*/ 2436935 w 4709579"/>
                <a:gd name="connsiteY31" fmla="*/ 4715781 h 4722462"/>
                <a:gd name="connsiteX32" fmla="*/ 2270059 w 4709579"/>
                <a:gd name="connsiteY32" fmla="*/ 4719122 h 4722462"/>
                <a:gd name="connsiteX33" fmla="*/ 2051799 w 4709579"/>
                <a:gd name="connsiteY33" fmla="*/ 4722463 h 4722462"/>
                <a:gd name="connsiteX34" fmla="*/ 1844993 w 4709579"/>
                <a:gd name="connsiteY34" fmla="*/ 68824 h 4722462"/>
                <a:gd name="connsiteX35" fmla="*/ 1524762 w 4709579"/>
                <a:gd name="connsiteY35" fmla="*/ 117502 h 4722462"/>
                <a:gd name="connsiteX36" fmla="*/ 953023 w 4709579"/>
                <a:gd name="connsiteY36" fmla="*/ 556714 h 4722462"/>
                <a:gd name="connsiteX37" fmla="*/ 756080 w 4709579"/>
                <a:gd name="connsiteY37" fmla="*/ 758423 h 4722462"/>
                <a:gd name="connsiteX38" fmla="*/ 562955 w 4709579"/>
                <a:gd name="connsiteY38" fmla="*/ 936112 h 4722462"/>
                <a:gd name="connsiteX39" fmla="*/ 144730 w 4709579"/>
                <a:gd name="connsiteY39" fmla="*/ 1439114 h 4722462"/>
                <a:gd name="connsiteX40" fmla="*/ 76166 w 4709579"/>
                <a:gd name="connsiteY40" fmla="*/ 2114873 h 4722462"/>
                <a:gd name="connsiteX41" fmla="*/ 84916 w 4709579"/>
                <a:gd name="connsiteY41" fmla="*/ 2384349 h 4722462"/>
                <a:gd name="connsiteX42" fmla="*/ 85393 w 4709579"/>
                <a:gd name="connsiteY42" fmla="*/ 2440821 h 4722462"/>
                <a:gd name="connsiteX43" fmla="*/ 215203 w 4709579"/>
                <a:gd name="connsiteY43" fmla="*/ 3406737 h 4722462"/>
                <a:gd name="connsiteX44" fmla="*/ 583954 w 4709579"/>
                <a:gd name="connsiteY44" fmla="*/ 3830836 h 4722462"/>
                <a:gd name="connsiteX45" fmla="*/ 864256 w 4709579"/>
                <a:gd name="connsiteY45" fmla="*/ 4080110 h 4722462"/>
                <a:gd name="connsiteX46" fmla="*/ 901481 w 4709579"/>
                <a:gd name="connsiteY46" fmla="*/ 4117652 h 4722462"/>
                <a:gd name="connsiteX47" fmla="*/ 1468924 w 4709579"/>
                <a:gd name="connsiteY47" fmla="*/ 4558613 h 4722462"/>
                <a:gd name="connsiteX48" fmla="*/ 2268786 w 4709579"/>
                <a:gd name="connsiteY48" fmla="*/ 4649924 h 4722462"/>
                <a:gd name="connsiteX49" fmla="*/ 2436140 w 4709579"/>
                <a:gd name="connsiteY49" fmla="*/ 4646424 h 4722462"/>
                <a:gd name="connsiteX50" fmla="*/ 2625129 w 4709579"/>
                <a:gd name="connsiteY50" fmla="*/ 4645788 h 4722462"/>
                <a:gd name="connsiteX51" fmla="*/ 3204981 w 4709579"/>
                <a:gd name="connsiteY51" fmla="*/ 4579293 h 4722462"/>
                <a:gd name="connsiteX52" fmla="*/ 4010887 w 4709579"/>
                <a:gd name="connsiteY52" fmla="*/ 3935668 h 4722462"/>
                <a:gd name="connsiteX53" fmla="*/ 4100769 w 4709579"/>
                <a:gd name="connsiteY53" fmla="*/ 3836722 h 4722462"/>
                <a:gd name="connsiteX54" fmla="*/ 4197808 w 4709579"/>
                <a:gd name="connsiteY54" fmla="*/ 3731572 h 4722462"/>
                <a:gd name="connsiteX55" fmla="*/ 4573559 w 4709579"/>
                <a:gd name="connsiteY55" fmla="*/ 3204232 h 4722462"/>
                <a:gd name="connsiteX56" fmla="*/ 4633215 w 4709579"/>
                <a:gd name="connsiteY56" fmla="*/ 2525450 h 4722462"/>
                <a:gd name="connsiteX57" fmla="*/ 4624624 w 4709579"/>
                <a:gd name="connsiteY57" fmla="*/ 2247861 h 4722462"/>
                <a:gd name="connsiteX58" fmla="*/ 4625419 w 4709579"/>
                <a:gd name="connsiteY58" fmla="*/ 2096579 h 4722462"/>
                <a:gd name="connsiteX59" fmla="*/ 4588354 w 4709579"/>
                <a:gd name="connsiteY59" fmla="*/ 1664685 h 4722462"/>
                <a:gd name="connsiteX60" fmla="*/ 4040954 w 4709579"/>
                <a:gd name="connsiteY60" fmla="*/ 853233 h 4722462"/>
                <a:gd name="connsiteX61" fmla="*/ 4011365 w 4709579"/>
                <a:gd name="connsiteY61" fmla="*/ 821577 h 4722462"/>
                <a:gd name="connsiteX62" fmla="*/ 3892213 w 4709579"/>
                <a:gd name="connsiteY62" fmla="*/ 692724 h 4722462"/>
                <a:gd name="connsiteX63" fmla="*/ 3241570 w 4709579"/>
                <a:gd name="connsiteY63" fmla="*/ 164748 h 4722462"/>
                <a:gd name="connsiteX64" fmla="*/ 2550201 w 4709579"/>
                <a:gd name="connsiteY64" fmla="*/ 85209 h 4722462"/>
                <a:gd name="connsiteX65" fmla="*/ 2325737 w 4709579"/>
                <a:gd name="connsiteY65" fmla="*/ 87596 h 4722462"/>
                <a:gd name="connsiteX66" fmla="*/ 2325737 w 4709579"/>
                <a:gd name="connsiteY66" fmla="*/ 87596 h 4722462"/>
                <a:gd name="connsiteX67" fmla="*/ 2060390 w 4709579"/>
                <a:gd name="connsiteY67" fmla="*/ 77256 h 4722462"/>
                <a:gd name="connsiteX68" fmla="*/ 1844993 w 4709579"/>
                <a:gd name="connsiteY68" fmla="*/ 68824 h 4722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4709579" h="4722462">
                  <a:moveTo>
                    <a:pt x="2051799" y="4722463"/>
                  </a:moveTo>
                  <a:cubicBezTo>
                    <a:pt x="1832426" y="4722463"/>
                    <a:pt x="1640733" y="4705759"/>
                    <a:pt x="1442040" y="4622403"/>
                  </a:cubicBezTo>
                  <a:cubicBezTo>
                    <a:pt x="1205645" y="4523298"/>
                    <a:pt x="1049586" y="4365653"/>
                    <a:pt x="852325" y="4166330"/>
                  </a:cubicBezTo>
                  <a:lnTo>
                    <a:pt x="815259" y="4128787"/>
                  </a:lnTo>
                  <a:cubicBezTo>
                    <a:pt x="716787" y="4029523"/>
                    <a:pt x="622929" y="3952371"/>
                    <a:pt x="540048" y="3884286"/>
                  </a:cubicBezTo>
                  <a:cubicBezTo>
                    <a:pt x="380330" y="3753047"/>
                    <a:pt x="242406" y="3639626"/>
                    <a:pt x="152048" y="3434894"/>
                  </a:cubicBezTo>
                  <a:cubicBezTo>
                    <a:pt x="21442" y="3140283"/>
                    <a:pt x="19056" y="2816561"/>
                    <a:pt x="16351" y="2441617"/>
                  </a:cubicBezTo>
                  <a:lnTo>
                    <a:pt x="15874" y="2385144"/>
                  </a:lnTo>
                  <a:cubicBezTo>
                    <a:pt x="15079" y="2290016"/>
                    <a:pt x="10943" y="2201729"/>
                    <a:pt x="7284" y="2118213"/>
                  </a:cubicBezTo>
                  <a:cubicBezTo>
                    <a:pt x="-4329" y="1860986"/>
                    <a:pt x="-14510" y="1638596"/>
                    <a:pt x="81257" y="1412389"/>
                  </a:cubicBezTo>
                  <a:cubicBezTo>
                    <a:pt x="175115" y="1190476"/>
                    <a:pt x="333719" y="1048739"/>
                    <a:pt x="517140" y="884889"/>
                  </a:cubicBezTo>
                  <a:cubicBezTo>
                    <a:pt x="578068" y="830485"/>
                    <a:pt x="642178" y="773217"/>
                    <a:pt x="708197" y="709109"/>
                  </a:cubicBezTo>
                  <a:cubicBezTo>
                    <a:pt x="778511" y="640865"/>
                    <a:pt x="841825" y="574053"/>
                    <a:pt x="903072" y="509468"/>
                  </a:cubicBezTo>
                  <a:cubicBezTo>
                    <a:pt x="1091106" y="311258"/>
                    <a:pt x="1253369" y="139932"/>
                    <a:pt x="1502013" y="52440"/>
                  </a:cubicBezTo>
                  <a:cubicBezTo>
                    <a:pt x="1688934" y="-13259"/>
                    <a:pt x="1862810" y="-3078"/>
                    <a:pt x="2064367" y="8534"/>
                  </a:cubicBezTo>
                  <a:cubicBezTo>
                    <a:pt x="2146612" y="13307"/>
                    <a:pt x="2231720" y="18238"/>
                    <a:pt x="2326056" y="18715"/>
                  </a:cubicBezTo>
                  <a:cubicBezTo>
                    <a:pt x="2404642" y="19511"/>
                    <a:pt x="2478456" y="17761"/>
                    <a:pt x="2548770" y="16329"/>
                  </a:cubicBezTo>
                  <a:cubicBezTo>
                    <a:pt x="2806959" y="11239"/>
                    <a:pt x="3030150" y="7103"/>
                    <a:pt x="3266864" y="100799"/>
                  </a:cubicBezTo>
                  <a:cubicBezTo>
                    <a:pt x="3544142" y="211676"/>
                    <a:pt x="3720087" y="403522"/>
                    <a:pt x="3942960" y="646274"/>
                  </a:cubicBezTo>
                  <a:cubicBezTo>
                    <a:pt x="3980981" y="687634"/>
                    <a:pt x="4020273" y="730426"/>
                    <a:pt x="4061634" y="774490"/>
                  </a:cubicBezTo>
                  <a:lnTo>
                    <a:pt x="4091383" y="806305"/>
                  </a:lnTo>
                  <a:cubicBezTo>
                    <a:pt x="4354186" y="1087235"/>
                    <a:pt x="4561787" y="1308989"/>
                    <a:pt x="4654850" y="1646391"/>
                  </a:cubicBezTo>
                  <a:cubicBezTo>
                    <a:pt x="4698279" y="1802446"/>
                    <a:pt x="4696688" y="1932729"/>
                    <a:pt x="4694461" y="2097692"/>
                  </a:cubicBezTo>
                  <a:cubicBezTo>
                    <a:pt x="4693825" y="2144461"/>
                    <a:pt x="4693188" y="2194093"/>
                    <a:pt x="4693666" y="2247543"/>
                  </a:cubicBezTo>
                  <a:cubicBezTo>
                    <a:pt x="4694302" y="2345852"/>
                    <a:pt x="4698438" y="2436685"/>
                    <a:pt x="4702256" y="2522746"/>
                  </a:cubicBezTo>
                  <a:cubicBezTo>
                    <a:pt x="4713551" y="2775678"/>
                    <a:pt x="4723254" y="2994091"/>
                    <a:pt x="4638464" y="3227934"/>
                  </a:cubicBezTo>
                  <a:cubicBezTo>
                    <a:pt x="4560514" y="3443325"/>
                    <a:pt x="4422750" y="3591266"/>
                    <a:pt x="4248397" y="3778659"/>
                  </a:cubicBezTo>
                  <a:cubicBezTo>
                    <a:pt x="4217535" y="3811906"/>
                    <a:pt x="4185241" y="3846585"/>
                    <a:pt x="4151675" y="3883332"/>
                  </a:cubicBezTo>
                  <a:lnTo>
                    <a:pt x="4061953" y="3982118"/>
                  </a:lnTo>
                  <a:cubicBezTo>
                    <a:pt x="3788969" y="4283569"/>
                    <a:pt x="3573255" y="4521708"/>
                    <a:pt x="3228048" y="4644356"/>
                  </a:cubicBezTo>
                  <a:cubicBezTo>
                    <a:pt x="3027923" y="4715941"/>
                    <a:pt x="2849911" y="4715145"/>
                    <a:pt x="2624811" y="4714986"/>
                  </a:cubicBezTo>
                  <a:cubicBezTo>
                    <a:pt x="2566428" y="4714827"/>
                    <a:pt x="2504386" y="4714668"/>
                    <a:pt x="2436935" y="4715781"/>
                  </a:cubicBezTo>
                  <a:cubicBezTo>
                    <a:pt x="2378712" y="4716577"/>
                    <a:pt x="2323351" y="4717849"/>
                    <a:pt x="2270059" y="4719122"/>
                  </a:cubicBezTo>
                  <a:cubicBezTo>
                    <a:pt x="2194018" y="4720872"/>
                    <a:pt x="2121477" y="4722463"/>
                    <a:pt x="2051799" y="4722463"/>
                  </a:cubicBezTo>
                  <a:close/>
                  <a:moveTo>
                    <a:pt x="1844993" y="68824"/>
                  </a:moveTo>
                  <a:cubicBezTo>
                    <a:pt x="1734750" y="68824"/>
                    <a:pt x="1632460" y="79801"/>
                    <a:pt x="1524762" y="117502"/>
                  </a:cubicBezTo>
                  <a:cubicBezTo>
                    <a:pt x="1291867" y="199268"/>
                    <a:pt x="1134853" y="365026"/>
                    <a:pt x="953023" y="556714"/>
                  </a:cubicBezTo>
                  <a:cubicBezTo>
                    <a:pt x="891300" y="621776"/>
                    <a:pt x="827508" y="689225"/>
                    <a:pt x="756080" y="758423"/>
                  </a:cubicBezTo>
                  <a:cubicBezTo>
                    <a:pt x="689425" y="823168"/>
                    <a:pt x="624520" y="881072"/>
                    <a:pt x="562955" y="936112"/>
                  </a:cubicBezTo>
                  <a:cubicBezTo>
                    <a:pt x="385739" y="1094553"/>
                    <a:pt x="232702" y="1231359"/>
                    <a:pt x="144730" y="1439114"/>
                  </a:cubicBezTo>
                  <a:cubicBezTo>
                    <a:pt x="55008" y="1651004"/>
                    <a:pt x="64394" y="1855736"/>
                    <a:pt x="76166" y="2114873"/>
                  </a:cubicBezTo>
                  <a:cubicBezTo>
                    <a:pt x="79984" y="2199183"/>
                    <a:pt x="83961" y="2288426"/>
                    <a:pt x="84916" y="2384349"/>
                  </a:cubicBezTo>
                  <a:lnTo>
                    <a:pt x="85393" y="2440821"/>
                  </a:lnTo>
                  <a:cubicBezTo>
                    <a:pt x="88256" y="2823083"/>
                    <a:pt x="90483" y="3125171"/>
                    <a:pt x="215203" y="3406737"/>
                  </a:cubicBezTo>
                  <a:cubicBezTo>
                    <a:pt x="299039" y="3596516"/>
                    <a:pt x="424714" y="3699916"/>
                    <a:pt x="583954" y="3830836"/>
                  </a:cubicBezTo>
                  <a:cubicBezTo>
                    <a:pt x="667949" y="3900034"/>
                    <a:pt x="763239" y="3978459"/>
                    <a:pt x="864256" y="4080110"/>
                  </a:cubicBezTo>
                  <a:lnTo>
                    <a:pt x="901481" y="4117652"/>
                  </a:lnTo>
                  <a:cubicBezTo>
                    <a:pt x="1093492" y="4311567"/>
                    <a:pt x="1245097" y="4464917"/>
                    <a:pt x="1468924" y="4558613"/>
                  </a:cubicBezTo>
                  <a:cubicBezTo>
                    <a:pt x="1717092" y="4662809"/>
                    <a:pt x="1948237" y="4657400"/>
                    <a:pt x="2268786" y="4649924"/>
                  </a:cubicBezTo>
                  <a:cubicBezTo>
                    <a:pt x="2322238" y="4648651"/>
                    <a:pt x="2377757" y="4647378"/>
                    <a:pt x="2436140" y="4646424"/>
                  </a:cubicBezTo>
                  <a:cubicBezTo>
                    <a:pt x="2503909" y="4645470"/>
                    <a:pt x="2566428" y="4645628"/>
                    <a:pt x="2625129" y="4645788"/>
                  </a:cubicBezTo>
                  <a:cubicBezTo>
                    <a:pt x="2851661" y="4646105"/>
                    <a:pt x="3016151" y="4646742"/>
                    <a:pt x="3204981" y="4579293"/>
                  </a:cubicBezTo>
                  <a:cubicBezTo>
                    <a:pt x="3533802" y="4462372"/>
                    <a:pt x="3733927" y="4241414"/>
                    <a:pt x="4010887" y="3935668"/>
                  </a:cubicBezTo>
                  <a:lnTo>
                    <a:pt x="4100769" y="3836722"/>
                  </a:lnTo>
                  <a:cubicBezTo>
                    <a:pt x="4134494" y="3799816"/>
                    <a:pt x="4166946" y="3764978"/>
                    <a:pt x="4197808" y="3731572"/>
                  </a:cubicBezTo>
                  <a:cubicBezTo>
                    <a:pt x="4373434" y="3542907"/>
                    <a:pt x="4500222" y="3406419"/>
                    <a:pt x="4573559" y="3204232"/>
                  </a:cubicBezTo>
                  <a:cubicBezTo>
                    <a:pt x="4653577" y="2983274"/>
                    <a:pt x="4644668" y="2781246"/>
                    <a:pt x="4633215" y="2525450"/>
                  </a:cubicBezTo>
                  <a:cubicBezTo>
                    <a:pt x="4629396" y="2438754"/>
                    <a:pt x="4625261" y="2346966"/>
                    <a:pt x="4624624" y="2247861"/>
                  </a:cubicBezTo>
                  <a:cubicBezTo>
                    <a:pt x="4624306" y="2193775"/>
                    <a:pt x="4624783" y="2143825"/>
                    <a:pt x="4625419" y="2096579"/>
                  </a:cubicBezTo>
                  <a:cubicBezTo>
                    <a:pt x="4627488" y="1937184"/>
                    <a:pt x="4629078" y="1811195"/>
                    <a:pt x="4588354" y="1664685"/>
                  </a:cubicBezTo>
                  <a:cubicBezTo>
                    <a:pt x="4499745" y="1343667"/>
                    <a:pt x="4297234" y="1127164"/>
                    <a:pt x="4040954" y="853233"/>
                  </a:cubicBezTo>
                  <a:lnTo>
                    <a:pt x="4011365" y="821577"/>
                  </a:lnTo>
                  <a:cubicBezTo>
                    <a:pt x="3969845" y="777353"/>
                    <a:pt x="3930392" y="734244"/>
                    <a:pt x="3892213" y="692724"/>
                  </a:cubicBezTo>
                  <a:cubicBezTo>
                    <a:pt x="3675385" y="456336"/>
                    <a:pt x="3504054" y="269739"/>
                    <a:pt x="3241570" y="164748"/>
                  </a:cubicBezTo>
                  <a:cubicBezTo>
                    <a:pt x="3017742" y="76301"/>
                    <a:pt x="2811572" y="79960"/>
                    <a:pt x="2550201" y="85209"/>
                  </a:cubicBezTo>
                  <a:cubicBezTo>
                    <a:pt x="2479251" y="86641"/>
                    <a:pt x="2404960" y="87914"/>
                    <a:pt x="2325737" y="87596"/>
                  </a:cubicBezTo>
                  <a:lnTo>
                    <a:pt x="2325737" y="87596"/>
                  </a:lnTo>
                  <a:cubicBezTo>
                    <a:pt x="2229652" y="86959"/>
                    <a:pt x="2143589" y="82028"/>
                    <a:pt x="2060390" y="77256"/>
                  </a:cubicBezTo>
                  <a:cubicBezTo>
                    <a:pt x="1983394" y="72961"/>
                    <a:pt x="1912762" y="68824"/>
                    <a:pt x="1844993" y="68824"/>
                  </a:cubicBezTo>
                  <a:close/>
                </a:path>
              </a:pathLst>
            </a:custGeom>
            <a:gradFill>
              <a:gsLst>
                <a:gs pos="100000">
                  <a:schemeClr val="accent2"/>
                </a:gs>
                <a:gs pos="0">
                  <a:schemeClr val="accent1"/>
                </a:gs>
              </a:gsLst>
              <a:lin ang="0" scaled="1"/>
            </a:gradFill>
            <a:ln w="1589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50" name="Freeform 49">
              <a:extLst>
                <a:ext uri="{FF2B5EF4-FFF2-40B4-BE49-F238E27FC236}">
                  <a16:creationId xmlns:a16="http://schemas.microsoft.com/office/drawing/2014/main" id="{8A4E8231-ACC3-43A3-3EB4-9C0AED6B7DA3}"/>
                </a:ext>
              </a:extLst>
            </p:cNvPr>
            <p:cNvSpPr/>
            <p:nvPr/>
          </p:nvSpPr>
          <p:spPr>
            <a:xfrm>
              <a:off x="-2313758" y="1108657"/>
              <a:ext cx="4618544" cy="4632908"/>
            </a:xfrm>
            <a:custGeom>
              <a:avLst/>
              <a:gdLst>
                <a:gd name="connsiteX0" fmla="*/ 2123497 w 4618544"/>
                <a:gd name="connsiteY0" fmla="*/ 4632908 h 4632908"/>
                <a:gd name="connsiteX1" fmla="*/ 1406358 w 4618544"/>
                <a:gd name="connsiteY1" fmla="*/ 4519964 h 4632908"/>
                <a:gd name="connsiteX2" fmla="*/ 787212 w 4618544"/>
                <a:gd name="connsiteY2" fmla="*/ 4048777 h 4632908"/>
                <a:gd name="connsiteX3" fmla="*/ 561635 w 4618544"/>
                <a:gd name="connsiteY3" fmla="*/ 3841819 h 4632908"/>
                <a:gd name="connsiteX4" fmla="*/ 154863 w 4618544"/>
                <a:gd name="connsiteY4" fmla="*/ 3354884 h 4632908"/>
                <a:gd name="connsiteX5" fmla="*/ 6122 w 4618544"/>
                <a:gd name="connsiteY5" fmla="*/ 2333769 h 4632908"/>
                <a:gd name="connsiteX6" fmla="*/ 2941 w 4618544"/>
                <a:gd name="connsiteY6" fmla="*/ 2148285 h 4632908"/>
                <a:gd name="connsiteX7" fmla="*/ 93617 w 4618544"/>
                <a:gd name="connsiteY7" fmla="*/ 1384715 h 4632908"/>
                <a:gd name="connsiteX8" fmla="*/ 553204 w 4618544"/>
                <a:gd name="connsiteY8" fmla="*/ 813470 h 4632908"/>
                <a:gd name="connsiteX9" fmla="*/ 690332 w 4618544"/>
                <a:gd name="connsiteY9" fmla="*/ 683504 h 4632908"/>
                <a:gd name="connsiteX10" fmla="*/ 831755 w 4618544"/>
                <a:gd name="connsiteY10" fmla="*/ 542721 h 4632908"/>
                <a:gd name="connsiteX11" fmla="*/ 1481762 w 4618544"/>
                <a:gd name="connsiteY11" fmla="*/ 60559 h 4632908"/>
                <a:gd name="connsiteX12" fmla="*/ 2083249 w 4618544"/>
                <a:gd name="connsiteY12" fmla="*/ 3927 h 4632908"/>
                <a:gd name="connsiteX13" fmla="*/ 2286555 w 4618544"/>
                <a:gd name="connsiteY13" fmla="*/ 8540 h 4632908"/>
                <a:gd name="connsiteX14" fmla="*/ 2419070 w 4618544"/>
                <a:gd name="connsiteY14" fmla="*/ 8540 h 4632908"/>
                <a:gd name="connsiteX15" fmla="*/ 3211614 w 4618544"/>
                <a:gd name="connsiteY15" fmla="*/ 110032 h 4632908"/>
                <a:gd name="connsiteX16" fmla="*/ 3953411 w 4618544"/>
                <a:gd name="connsiteY16" fmla="*/ 710547 h 4632908"/>
                <a:gd name="connsiteX17" fmla="*/ 4001613 w 4618544"/>
                <a:gd name="connsiteY17" fmla="*/ 762565 h 4632908"/>
                <a:gd name="connsiteX18" fmla="*/ 4567625 w 4618544"/>
                <a:gd name="connsiteY18" fmla="*/ 1633194 h 4632908"/>
                <a:gd name="connsiteX19" fmla="*/ 4612645 w 4618544"/>
                <a:gd name="connsiteY19" fmla="*/ 2121242 h 4632908"/>
                <a:gd name="connsiteX20" fmla="*/ 4612804 w 4618544"/>
                <a:gd name="connsiteY20" fmla="*/ 2223847 h 4632908"/>
                <a:gd name="connsiteX21" fmla="*/ 4615827 w 4618544"/>
                <a:gd name="connsiteY21" fmla="*/ 2411398 h 4632908"/>
                <a:gd name="connsiteX22" fmla="*/ 4532468 w 4618544"/>
                <a:gd name="connsiteY22" fmla="*/ 3181808 h 4632908"/>
                <a:gd name="connsiteX23" fmla="*/ 4111697 w 4618544"/>
                <a:gd name="connsiteY23" fmla="*/ 3774370 h 4632908"/>
                <a:gd name="connsiteX24" fmla="*/ 4064291 w 4618544"/>
                <a:gd name="connsiteY24" fmla="*/ 3826070 h 4632908"/>
                <a:gd name="connsiteX25" fmla="*/ 3146709 w 4618544"/>
                <a:gd name="connsiteY25" fmla="*/ 4550824 h 4632908"/>
                <a:gd name="connsiteX26" fmla="*/ 2490975 w 4618544"/>
                <a:gd name="connsiteY26" fmla="*/ 4629409 h 4632908"/>
                <a:gd name="connsiteX27" fmla="*/ 2319804 w 4618544"/>
                <a:gd name="connsiteY27" fmla="*/ 4631159 h 4632908"/>
                <a:gd name="connsiteX28" fmla="*/ 2123497 w 4618544"/>
                <a:gd name="connsiteY28" fmla="*/ 4632908 h 4632908"/>
                <a:gd name="connsiteX29" fmla="*/ 1896965 w 4618544"/>
                <a:gd name="connsiteY29" fmla="*/ 72012 h 4632908"/>
                <a:gd name="connsiteX30" fmla="*/ 1505784 w 4618544"/>
                <a:gd name="connsiteY30" fmla="*/ 128484 h 4632908"/>
                <a:gd name="connsiteX31" fmla="*/ 883139 w 4618544"/>
                <a:gd name="connsiteY31" fmla="*/ 593307 h 4632908"/>
                <a:gd name="connsiteX32" fmla="*/ 740761 w 4618544"/>
                <a:gd name="connsiteY32" fmla="*/ 735045 h 4632908"/>
                <a:gd name="connsiteX33" fmla="*/ 602519 w 4618544"/>
                <a:gd name="connsiteY33" fmla="*/ 865965 h 4632908"/>
                <a:gd name="connsiteX34" fmla="*/ 160113 w 4618544"/>
                <a:gd name="connsiteY34" fmla="*/ 1412713 h 4632908"/>
                <a:gd name="connsiteX35" fmla="*/ 75164 w 4618544"/>
                <a:gd name="connsiteY35" fmla="*/ 2146535 h 4632908"/>
                <a:gd name="connsiteX36" fmla="*/ 78345 w 4618544"/>
                <a:gd name="connsiteY36" fmla="*/ 2333132 h 4632908"/>
                <a:gd name="connsiteX37" fmla="*/ 220882 w 4618544"/>
                <a:gd name="connsiteY37" fmla="*/ 3325296 h 4632908"/>
                <a:gd name="connsiteX38" fmla="*/ 609359 w 4618544"/>
                <a:gd name="connsiteY38" fmla="*/ 3787414 h 4632908"/>
                <a:gd name="connsiteX39" fmla="*/ 838278 w 4618544"/>
                <a:gd name="connsiteY39" fmla="*/ 3997396 h 4632908"/>
                <a:gd name="connsiteX40" fmla="*/ 1434674 w 4618544"/>
                <a:gd name="connsiteY40" fmla="*/ 4453311 h 4632908"/>
                <a:gd name="connsiteX41" fmla="*/ 2318690 w 4618544"/>
                <a:gd name="connsiteY41" fmla="*/ 4558778 h 4632908"/>
                <a:gd name="connsiteX42" fmla="*/ 2490339 w 4618544"/>
                <a:gd name="connsiteY42" fmla="*/ 4557029 h 4632908"/>
                <a:gd name="connsiteX43" fmla="*/ 3122529 w 4618544"/>
                <a:gd name="connsiteY43" fmla="*/ 4482581 h 4632908"/>
                <a:gd name="connsiteX44" fmla="*/ 4010840 w 4618544"/>
                <a:gd name="connsiteY44" fmla="*/ 3777233 h 4632908"/>
                <a:gd name="connsiteX45" fmla="*/ 4058405 w 4618544"/>
                <a:gd name="connsiteY45" fmla="*/ 3725374 h 4632908"/>
                <a:gd name="connsiteX46" fmla="*/ 4464699 w 4618544"/>
                <a:gd name="connsiteY46" fmla="*/ 3156197 h 4632908"/>
                <a:gd name="connsiteX47" fmla="*/ 4543445 w 4618544"/>
                <a:gd name="connsiteY47" fmla="*/ 2412671 h 4632908"/>
                <a:gd name="connsiteX48" fmla="*/ 4540422 w 4618544"/>
                <a:gd name="connsiteY48" fmla="*/ 2224006 h 4632908"/>
                <a:gd name="connsiteX49" fmla="*/ 4540263 w 4618544"/>
                <a:gd name="connsiteY49" fmla="*/ 2120765 h 4632908"/>
                <a:gd name="connsiteX50" fmla="*/ 4497788 w 4618544"/>
                <a:gd name="connsiteY50" fmla="*/ 1651965 h 4632908"/>
                <a:gd name="connsiteX51" fmla="*/ 3948321 w 4618544"/>
                <a:gd name="connsiteY51" fmla="*/ 811243 h 4632908"/>
                <a:gd name="connsiteX52" fmla="*/ 3900119 w 4618544"/>
                <a:gd name="connsiteY52" fmla="*/ 759066 h 4632908"/>
                <a:gd name="connsiteX53" fmla="*/ 3184252 w 4618544"/>
                <a:gd name="connsiteY53" fmla="*/ 176685 h 4632908"/>
                <a:gd name="connsiteX54" fmla="*/ 2418911 w 4618544"/>
                <a:gd name="connsiteY54" fmla="*/ 80443 h 4632908"/>
                <a:gd name="connsiteX55" fmla="*/ 2285760 w 4618544"/>
                <a:gd name="connsiteY55" fmla="*/ 80443 h 4632908"/>
                <a:gd name="connsiteX56" fmla="*/ 2285760 w 4618544"/>
                <a:gd name="connsiteY56" fmla="*/ 80443 h 4632908"/>
                <a:gd name="connsiteX57" fmla="*/ 2080545 w 4618544"/>
                <a:gd name="connsiteY57" fmla="*/ 75830 h 4632908"/>
                <a:gd name="connsiteX58" fmla="*/ 1896965 w 4618544"/>
                <a:gd name="connsiteY58" fmla="*/ 72012 h 4632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4618544" h="4632908">
                  <a:moveTo>
                    <a:pt x="2123497" y="4632908"/>
                  </a:moveTo>
                  <a:cubicBezTo>
                    <a:pt x="1853536" y="4632908"/>
                    <a:pt x="1635912" y="4617001"/>
                    <a:pt x="1406358" y="4519964"/>
                  </a:cubicBezTo>
                  <a:cubicBezTo>
                    <a:pt x="1155168" y="4413859"/>
                    <a:pt x="984632" y="4244761"/>
                    <a:pt x="787212" y="4048777"/>
                  </a:cubicBezTo>
                  <a:cubicBezTo>
                    <a:pt x="707513" y="3969716"/>
                    <a:pt x="633381" y="3904654"/>
                    <a:pt x="561635" y="3841819"/>
                  </a:cubicBezTo>
                  <a:cubicBezTo>
                    <a:pt x="394281" y="3695150"/>
                    <a:pt x="249994" y="3568524"/>
                    <a:pt x="154863" y="3354884"/>
                  </a:cubicBezTo>
                  <a:cubicBezTo>
                    <a:pt x="21553" y="3056614"/>
                    <a:pt x="8827" y="2729870"/>
                    <a:pt x="6122" y="2333769"/>
                  </a:cubicBezTo>
                  <a:cubicBezTo>
                    <a:pt x="5645" y="2269343"/>
                    <a:pt x="4213" y="2207621"/>
                    <a:pt x="2941" y="2148285"/>
                  </a:cubicBezTo>
                  <a:cubicBezTo>
                    <a:pt x="-3423" y="1867991"/>
                    <a:pt x="-8831" y="1625876"/>
                    <a:pt x="93617" y="1384715"/>
                  </a:cubicBezTo>
                  <a:cubicBezTo>
                    <a:pt x="193520" y="1149600"/>
                    <a:pt x="360238" y="993863"/>
                    <a:pt x="553204" y="813470"/>
                  </a:cubicBezTo>
                  <a:cubicBezTo>
                    <a:pt x="597428" y="771951"/>
                    <a:pt x="643403" y="729159"/>
                    <a:pt x="690332" y="683504"/>
                  </a:cubicBezTo>
                  <a:cubicBezTo>
                    <a:pt x="739647" y="635622"/>
                    <a:pt x="786417" y="588376"/>
                    <a:pt x="831755" y="542721"/>
                  </a:cubicBezTo>
                  <a:cubicBezTo>
                    <a:pt x="1038720" y="334012"/>
                    <a:pt x="1217369" y="153778"/>
                    <a:pt x="1481762" y="60559"/>
                  </a:cubicBezTo>
                  <a:cubicBezTo>
                    <a:pt x="1678864" y="-8958"/>
                    <a:pt x="1866262" y="-2913"/>
                    <a:pt x="2083249" y="3927"/>
                  </a:cubicBezTo>
                  <a:cubicBezTo>
                    <a:pt x="2147518" y="5995"/>
                    <a:pt x="2214810" y="8222"/>
                    <a:pt x="2286555" y="8540"/>
                  </a:cubicBezTo>
                  <a:cubicBezTo>
                    <a:pt x="2332053" y="8699"/>
                    <a:pt x="2376118" y="8540"/>
                    <a:pt x="2419070" y="8540"/>
                  </a:cubicBezTo>
                  <a:cubicBezTo>
                    <a:pt x="2718302" y="7427"/>
                    <a:pt x="2955652" y="6950"/>
                    <a:pt x="3211614" y="110032"/>
                  </a:cubicBezTo>
                  <a:cubicBezTo>
                    <a:pt x="3511960" y="232203"/>
                    <a:pt x="3706835" y="443298"/>
                    <a:pt x="3953411" y="710547"/>
                  </a:cubicBezTo>
                  <a:lnTo>
                    <a:pt x="4001613" y="762565"/>
                  </a:lnTo>
                  <a:cubicBezTo>
                    <a:pt x="4274597" y="1058289"/>
                    <a:pt x="4474881" y="1293723"/>
                    <a:pt x="4567625" y="1633194"/>
                  </a:cubicBezTo>
                  <a:cubicBezTo>
                    <a:pt x="4613122" y="1798634"/>
                    <a:pt x="4612963" y="1941008"/>
                    <a:pt x="4612645" y="2121242"/>
                  </a:cubicBezTo>
                  <a:lnTo>
                    <a:pt x="4612804" y="2223847"/>
                  </a:lnTo>
                  <a:cubicBezTo>
                    <a:pt x="4613281" y="2289068"/>
                    <a:pt x="4614554" y="2351426"/>
                    <a:pt x="4615827" y="2411398"/>
                  </a:cubicBezTo>
                  <a:cubicBezTo>
                    <a:pt x="4621712" y="2690419"/>
                    <a:pt x="4626644" y="2931421"/>
                    <a:pt x="4532468" y="3181808"/>
                  </a:cubicBezTo>
                  <a:cubicBezTo>
                    <a:pt x="4446723" y="3409924"/>
                    <a:pt x="4298777" y="3570751"/>
                    <a:pt x="4111697" y="3774370"/>
                  </a:cubicBezTo>
                  <a:lnTo>
                    <a:pt x="4064291" y="3826070"/>
                  </a:lnTo>
                  <a:cubicBezTo>
                    <a:pt x="3761082" y="4157268"/>
                    <a:pt x="3521664" y="4418791"/>
                    <a:pt x="3146709" y="4550824"/>
                  </a:cubicBezTo>
                  <a:cubicBezTo>
                    <a:pt x="2933540" y="4626386"/>
                    <a:pt x="2747892" y="4627659"/>
                    <a:pt x="2490975" y="4629409"/>
                  </a:cubicBezTo>
                  <a:lnTo>
                    <a:pt x="2319804" y="4631159"/>
                  </a:lnTo>
                  <a:cubicBezTo>
                    <a:pt x="2250762" y="4631954"/>
                    <a:pt x="2185698" y="4632908"/>
                    <a:pt x="2123497" y="4632908"/>
                  </a:cubicBezTo>
                  <a:close/>
                  <a:moveTo>
                    <a:pt x="1896965" y="72012"/>
                  </a:moveTo>
                  <a:cubicBezTo>
                    <a:pt x="1759041" y="72012"/>
                    <a:pt x="1635435" y="82829"/>
                    <a:pt x="1505784" y="128484"/>
                  </a:cubicBezTo>
                  <a:cubicBezTo>
                    <a:pt x="1256980" y="216136"/>
                    <a:pt x="1083740" y="390961"/>
                    <a:pt x="883139" y="593307"/>
                  </a:cubicBezTo>
                  <a:cubicBezTo>
                    <a:pt x="837482" y="639281"/>
                    <a:pt x="790394" y="686845"/>
                    <a:pt x="740761" y="735045"/>
                  </a:cubicBezTo>
                  <a:cubicBezTo>
                    <a:pt x="693354" y="781018"/>
                    <a:pt x="647221" y="824287"/>
                    <a:pt x="602519" y="865965"/>
                  </a:cubicBezTo>
                  <a:cubicBezTo>
                    <a:pt x="415598" y="1040791"/>
                    <a:pt x="253971" y="1191596"/>
                    <a:pt x="160113" y="1412713"/>
                  </a:cubicBezTo>
                  <a:cubicBezTo>
                    <a:pt x="63710" y="1639557"/>
                    <a:pt x="68800" y="1863219"/>
                    <a:pt x="75164" y="2146535"/>
                  </a:cubicBezTo>
                  <a:cubicBezTo>
                    <a:pt x="76595" y="2206348"/>
                    <a:pt x="77868" y="2268388"/>
                    <a:pt x="78345" y="2333132"/>
                  </a:cubicBezTo>
                  <a:cubicBezTo>
                    <a:pt x="81050" y="2720803"/>
                    <a:pt x="93299" y="3039912"/>
                    <a:pt x="220882" y="3325296"/>
                  </a:cubicBezTo>
                  <a:cubicBezTo>
                    <a:pt x="309491" y="3524619"/>
                    <a:pt x="441846" y="3640586"/>
                    <a:pt x="609359" y="3787414"/>
                  </a:cubicBezTo>
                  <a:cubicBezTo>
                    <a:pt x="678401" y="3848022"/>
                    <a:pt x="756828" y="3916744"/>
                    <a:pt x="838278" y="3997396"/>
                  </a:cubicBezTo>
                  <a:cubicBezTo>
                    <a:pt x="1030448" y="4187970"/>
                    <a:pt x="1196370" y="4352455"/>
                    <a:pt x="1434674" y="4453311"/>
                  </a:cubicBezTo>
                  <a:cubicBezTo>
                    <a:pt x="1703363" y="4566732"/>
                    <a:pt x="1961393" y="4563392"/>
                    <a:pt x="2318690" y="4558778"/>
                  </a:cubicBezTo>
                  <a:lnTo>
                    <a:pt x="2490339" y="4557029"/>
                  </a:lnTo>
                  <a:cubicBezTo>
                    <a:pt x="2740256" y="4555279"/>
                    <a:pt x="2920813" y="4554006"/>
                    <a:pt x="3122529" y="4482581"/>
                  </a:cubicBezTo>
                  <a:cubicBezTo>
                    <a:pt x="3480462" y="4356592"/>
                    <a:pt x="3703017" y="4113522"/>
                    <a:pt x="4010840" y="3777233"/>
                  </a:cubicBezTo>
                  <a:lnTo>
                    <a:pt x="4058405" y="3725374"/>
                  </a:lnTo>
                  <a:cubicBezTo>
                    <a:pt x="4247394" y="3519688"/>
                    <a:pt x="4383886" y="3371109"/>
                    <a:pt x="4464699" y="3156197"/>
                  </a:cubicBezTo>
                  <a:cubicBezTo>
                    <a:pt x="4553944" y="2918854"/>
                    <a:pt x="4549331" y="2695510"/>
                    <a:pt x="4543445" y="2412671"/>
                  </a:cubicBezTo>
                  <a:cubicBezTo>
                    <a:pt x="4542172" y="2352222"/>
                    <a:pt x="4540899" y="2289545"/>
                    <a:pt x="4540422" y="2224006"/>
                  </a:cubicBezTo>
                  <a:lnTo>
                    <a:pt x="4540263" y="2120765"/>
                  </a:lnTo>
                  <a:cubicBezTo>
                    <a:pt x="4540581" y="1946098"/>
                    <a:pt x="4540899" y="1808019"/>
                    <a:pt x="4497788" y="1651965"/>
                  </a:cubicBezTo>
                  <a:cubicBezTo>
                    <a:pt x="4409339" y="1328243"/>
                    <a:pt x="4214305" y="1099331"/>
                    <a:pt x="3948321" y="811243"/>
                  </a:cubicBezTo>
                  <a:lnTo>
                    <a:pt x="3900119" y="759066"/>
                  </a:lnTo>
                  <a:cubicBezTo>
                    <a:pt x="3659588" y="498497"/>
                    <a:pt x="3469645" y="292652"/>
                    <a:pt x="3184252" y="176685"/>
                  </a:cubicBezTo>
                  <a:cubicBezTo>
                    <a:pt x="2941494" y="79012"/>
                    <a:pt x="2710508" y="79489"/>
                    <a:pt x="2418911" y="80443"/>
                  </a:cubicBezTo>
                  <a:cubicBezTo>
                    <a:pt x="2375959" y="80602"/>
                    <a:pt x="2331416" y="80761"/>
                    <a:pt x="2285760" y="80443"/>
                  </a:cubicBezTo>
                  <a:lnTo>
                    <a:pt x="2285760" y="80443"/>
                  </a:lnTo>
                  <a:cubicBezTo>
                    <a:pt x="2213378" y="80125"/>
                    <a:pt x="2145450" y="77898"/>
                    <a:pt x="2080545" y="75830"/>
                  </a:cubicBezTo>
                  <a:cubicBezTo>
                    <a:pt x="2015958" y="73921"/>
                    <a:pt x="1955189" y="72012"/>
                    <a:pt x="1896965" y="72012"/>
                  </a:cubicBezTo>
                  <a:close/>
                </a:path>
              </a:pathLst>
            </a:custGeom>
            <a:gradFill>
              <a:gsLst>
                <a:gs pos="100000">
                  <a:schemeClr val="accent2"/>
                </a:gs>
                <a:gs pos="0">
                  <a:schemeClr val="accent1"/>
                </a:gs>
              </a:gsLst>
              <a:lin ang="0" scaled="1"/>
            </a:gradFill>
            <a:ln w="1589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51" name="Freeform 50">
              <a:extLst>
                <a:ext uri="{FF2B5EF4-FFF2-40B4-BE49-F238E27FC236}">
                  <a16:creationId xmlns:a16="http://schemas.microsoft.com/office/drawing/2014/main" id="{E529D526-67AD-1DE7-FAC2-926ADAA97536}"/>
                </a:ext>
              </a:extLst>
            </p:cNvPr>
            <p:cNvSpPr/>
            <p:nvPr/>
          </p:nvSpPr>
          <p:spPr>
            <a:xfrm>
              <a:off x="-2272340" y="1151668"/>
              <a:ext cx="4537509" cy="4549332"/>
            </a:xfrm>
            <a:custGeom>
              <a:avLst/>
              <a:gdLst>
                <a:gd name="connsiteX0" fmla="*/ 2204413 w 4537509"/>
                <a:gd name="connsiteY0" fmla="*/ 4549333 h 4549332"/>
                <a:gd name="connsiteX1" fmla="*/ 1375598 w 4537509"/>
                <a:gd name="connsiteY1" fmla="*/ 4420798 h 4549332"/>
                <a:gd name="connsiteX2" fmla="*/ 764089 w 4537509"/>
                <a:gd name="connsiteY2" fmla="*/ 3972201 h 4549332"/>
                <a:gd name="connsiteX3" fmla="*/ 605326 w 4537509"/>
                <a:gd name="connsiteY3" fmla="*/ 3822669 h 4549332"/>
                <a:gd name="connsiteX4" fmla="*/ 162284 w 4537509"/>
                <a:gd name="connsiteY4" fmla="*/ 3278467 h 4549332"/>
                <a:gd name="connsiteX5" fmla="*/ 975 w 4537509"/>
                <a:gd name="connsiteY5" fmla="*/ 2285986 h 4549332"/>
                <a:gd name="connsiteX6" fmla="*/ 657 w 4537509"/>
                <a:gd name="connsiteY6" fmla="*/ 2225536 h 4549332"/>
                <a:gd name="connsiteX7" fmla="*/ 110582 w 4537509"/>
                <a:gd name="connsiteY7" fmla="*/ 1360316 h 4549332"/>
                <a:gd name="connsiteX8" fmla="*/ 615348 w 4537509"/>
                <a:gd name="connsiteY8" fmla="*/ 721304 h 4549332"/>
                <a:gd name="connsiteX9" fmla="*/ 737363 w 4537509"/>
                <a:gd name="connsiteY9" fmla="*/ 602792 h 4549332"/>
                <a:gd name="connsiteX10" fmla="*/ 1466275 w 4537509"/>
                <a:gd name="connsiteY10" fmla="*/ 72111 h 4549332"/>
                <a:gd name="connsiteX11" fmla="*/ 2136167 w 4537509"/>
                <a:gd name="connsiteY11" fmla="*/ 844 h 4549332"/>
                <a:gd name="connsiteX12" fmla="*/ 2251660 w 4537509"/>
                <a:gd name="connsiteY12" fmla="*/ 1799 h 4549332"/>
                <a:gd name="connsiteX13" fmla="*/ 3161129 w 4537509"/>
                <a:gd name="connsiteY13" fmla="*/ 122698 h 4549332"/>
                <a:gd name="connsiteX14" fmla="*/ 3946514 w 4537509"/>
                <a:gd name="connsiteY14" fmla="*/ 753915 h 4549332"/>
                <a:gd name="connsiteX15" fmla="*/ 4485323 w 4537509"/>
                <a:gd name="connsiteY15" fmla="*/ 1623430 h 4549332"/>
                <a:gd name="connsiteX16" fmla="*/ 4536547 w 4537509"/>
                <a:gd name="connsiteY16" fmla="*/ 2173677 h 4549332"/>
                <a:gd name="connsiteX17" fmla="*/ 4537024 w 4537509"/>
                <a:gd name="connsiteY17" fmla="*/ 2253375 h 4549332"/>
                <a:gd name="connsiteX18" fmla="*/ 4431077 w 4537509"/>
                <a:gd name="connsiteY18" fmla="*/ 3138956 h 4549332"/>
                <a:gd name="connsiteX19" fmla="*/ 3981353 w 4537509"/>
                <a:gd name="connsiteY19" fmla="*/ 3772242 h 4549332"/>
                <a:gd name="connsiteX20" fmla="*/ 3069657 w 4537509"/>
                <a:gd name="connsiteY20" fmla="*/ 4460727 h 4549332"/>
                <a:gd name="connsiteX21" fmla="*/ 2323088 w 4537509"/>
                <a:gd name="connsiteY21" fmla="*/ 4548696 h 4549332"/>
                <a:gd name="connsiteX22" fmla="*/ 2204413 w 4537509"/>
                <a:gd name="connsiteY22" fmla="*/ 4549333 h 4549332"/>
                <a:gd name="connsiteX23" fmla="*/ 2005720 w 4537509"/>
                <a:gd name="connsiteY23" fmla="*/ 75293 h 4549332"/>
                <a:gd name="connsiteX24" fmla="*/ 1491569 w 4537509"/>
                <a:gd name="connsiteY24" fmla="*/ 143218 h 4549332"/>
                <a:gd name="connsiteX25" fmla="*/ 790178 w 4537509"/>
                <a:gd name="connsiteY25" fmla="*/ 656719 h 4549332"/>
                <a:gd name="connsiteX26" fmla="*/ 667845 w 4537509"/>
                <a:gd name="connsiteY26" fmla="*/ 775549 h 4549332"/>
                <a:gd name="connsiteX27" fmla="*/ 180101 w 4537509"/>
                <a:gd name="connsiteY27" fmla="*/ 1389746 h 4549332"/>
                <a:gd name="connsiteX28" fmla="*/ 76220 w 4537509"/>
                <a:gd name="connsiteY28" fmla="*/ 2224900 h 4549332"/>
                <a:gd name="connsiteX29" fmla="*/ 76698 w 4537509"/>
                <a:gd name="connsiteY29" fmla="*/ 2285508 h 4549332"/>
                <a:gd name="connsiteX30" fmla="*/ 231325 w 4537509"/>
                <a:gd name="connsiteY30" fmla="*/ 3247447 h 4549332"/>
                <a:gd name="connsiteX31" fmla="*/ 656709 w 4537509"/>
                <a:gd name="connsiteY31" fmla="*/ 3767310 h 4549332"/>
                <a:gd name="connsiteX32" fmla="*/ 816904 w 4537509"/>
                <a:gd name="connsiteY32" fmla="*/ 3918274 h 4549332"/>
                <a:gd name="connsiteX33" fmla="*/ 1405187 w 4537509"/>
                <a:gd name="connsiteY33" fmla="*/ 4351441 h 4549332"/>
                <a:gd name="connsiteX34" fmla="*/ 2317679 w 4537509"/>
                <a:gd name="connsiteY34" fmla="*/ 4473294 h 4549332"/>
                <a:gd name="connsiteX35" fmla="*/ 3044840 w 4537509"/>
                <a:gd name="connsiteY35" fmla="*/ 4389460 h 4549332"/>
                <a:gd name="connsiteX36" fmla="*/ 3925674 w 4537509"/>
                <a:gd name="connsiteY36" fmla="*/ 3721178 h 4549332"/>
                <a:gd name="connsiteX37" fmla="*/ 4360762 w 4537509"/>
                <a:gd name="connsiteY37" fmla="*/ 3111436 h 4549332"/>
                <a:gd name="connsiteX38" fmla="*/ 4461461 w 4537509"/>
                <a:gd name="connsiteY38" fmla="*/ 2253693 h 4549332"/>
                <a:gd name="connsiteX39" fmla="*/ 4460984 w 4537509"/>
                <a:gd name="connsiteY39" fmla="*/ 2173836 h 4549332"/>
                <a:gd name="connsiteX40" fmla="*/ 4412464 w 4537509"/>
                <a:gd name="connsiteY40" fmla="*/ 1642996 h 4549332"/>
                <a:gd name="connsiteX41" fmla="*/ 3890835 w 4537509"/>
                <a:gd name="connsiteY41" fmla="*/ 804501 h 4549332"/>
                <a:gd name="connsiteX42" fmla="*/ 3132494 w 4537509"/>
                <a:gd name="connsiteY42" fmla="*/ 192214 h 4549332"/>
                <a:gd name="connsiteX43" fmla="*/ 2251342 w 4537509"/>
                <a:gd name="connsiteY43" fmla="*/ 77042 h 4549332"/>
                <a:gd name="connsiteX44" fmla="*/ 2135371 w 4537509"/>
                <a:gd name="connsiteY44" fmla="*/ 76088 h 4549332"/>
                <a:gd name="connsiteX45" fmla="*/ 2005720 w 4537509"/>
                <a:gd name="connsiteY45" fmla="*/ 75293 h 4549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4537509" h="4549332">
                  <a:moveTo>
                    <a:pt x="2204413" y="4549333"/>
                  </a:moveTo>
                  <a:cubicBezTo>
                    <a:pt x="1888636" y="4549333"/>
                    <a:pt x="1635696" y="4531675"/>
                    <a:pt x="1375598" y="4420798"/>
                  </a:cubicBezTo>
                  <a:cubicBezTo>
                    <a:pt x="1127908" y="4315331"/>
                    <a:pt x="944965" y="4148459"/>
                    <a:pt x="764089" y="3972201"/>
                  </a:cubicBezTo>
                  <a:cubicBezTo>
                    <a:pt x="708888" y="3918433"/>
                    <a:pt x="655754" y="3869279"/>
                    <a:pt x="605326" y="3822669"/>
                  </a:cubicBezTo>
                  <a:cubicBezTo>
                    <a:pt x="423177" y="3654048"/>
                    <a:pt x="265687" y="3508492"/>
                    <a:pt x="162284" y="3278467"/>
                  </a:cubicBezTo>
                  <a:cubicBezTo>
                    <a:pt x="31360" y="2987833"/>
                    <a:pt x="3043" y="2671429"/>
                    <a:pt x="975" y="2285986"/>
                  </a:cubicBezTo>
                  <a:lnTo>
                    <a:pt x="657" y="2225536"/>
                  </a:lnTo>
                  <a:cubicBezTo>
                    <a:pt x="-1729" y="1891793"/>
                    <a:pt x="-3638" y="1628202"/>
                    <a:pt x="110582" y="1360316"/>
                  </a:cubicBezTo>
                  <a:cubicBezTo>
                    <a:pt x="220348" y="1102771"/>
                    <a:pt x="403451" y="926036"/>
                    <a:pt x="615348" y="721304"/>
                  </a:cubicBezTo>
                  <a:lnTo>
                    <a:pt x="737363" y="602792"/>
                  </a:lnTo>
                  <a:cubicBezTo>
                    <a:pt x="972168" y="373403"/>
                    <a:pt x="1174996" y="175193"/>
                    <a:pt x="1466275" y="72111"/>
                  </a:cubicBezTo>
                  <a:cubicBezTo>
                    <a:pt x="1681830" y="-4087"/>
                    <a:pt x="1892454" y="-1542"/>
                    <a:pt x="2136167" y="844"/>
                  </a:cubicBezTo>
                  <a:lnTo>
                    <a:pt x="2251660" y="1799"/>
                  </a:lnTo>
                  <a:cubicBezTo>
                    <a:pt x="2584299" y="2913"/>
                    <a:pt x="2871759" y="3867"/>
                    <a:pt x="3161129" y="122698"/>
                  </a:cubicBezTo>
                  <a:cubicBezTo>
                    <a:pt x="3472133" y="251232"/>
                    <a:pt x="3691825" y="474894"/>
                    <a:pt x="3946514" y="753915"/>
                  </a:cubicBezTo>
                  <a:cubicBezTo>
                    <a:pt x="4213135" y="1046776"/>
                    <a:pt x="4396238" y="1294459"/>
                    <a:pt x="4485323" y="1623430"/>
                  </a:cubicBezTo>
                  <a:cubicBezTo>
                    <a:pt x="4534957" y="1805573"/>
                    <a:pt x="4535593" y="1967990"/>
                    <a:pt x="4536547" y="2173677"/>
                  </a:cubicBezTo>
                  <a:lnTo>
                    <a:pt x="4537024" y="2253375"/>
                  </a:lnTo>
                  <a:cubicBezTo>
                    <a:pt x="4538934" y="2591572"/>
                    <a:pt x="4540524" y="2858822"/>
                    <a:pt x="4431077" y="3138956"/>
                  </a:cubicBezTo>
                  <a:cubicBezTo>
                    <a:pt x="4333718" y="3388389"/>
                    <a:pt x="4162547" y="3574827"/>
                    <a:pt x="3981353" y="3772242"/>
                  </a:cubicBezTo>
                  <a:cubicBezTo>
                    <a:pt x="3707733" y="4070352"/>
                    <a:pt x="3450180" y="4327897"/>
                    <a:pt x="3069657" y="4460727"/>
                  </a:cubicBezTo>
                  <a:cubicBezTo>
                    <a:pt x="2833262" y="4543447"/>
                    <a:pt x="2619297" y="4545674"/>
                    <a:pt x="2323088" y="4548696"/>
                  </a:cubicBezTo>
                  <a:cubicBezTo>
                    <a:pt x="2282522" y="4549174"/>
                    <a:pt x="2242910" y="4549333"/>
                    <a:pt x="2204413" y="4549333"/>
                  </a:cubicBezTo>
                  <a:close/>
                  <a:moveTo>
                    <a:pt x="2005720" y="75293"/>
                  </a:moveTo>
                  <a:cubicBezTo>
                    <a:pt x="1818004" y="75293"/>
                    <a:pt x="1657491" y="84519"/>
                    <a:pt x="1491569" y="143218"/>
                  </a:cubicBezTo>
                  <a:cubicBezTo>
                    <a:pt x="1216040" y="240733"/>
                    <a:pt x="1018619" y="433534"/>
                    <a:pt x="790178" y="656719"/>
                  </a:cubicBezTo>
                  <a:lnTo>
                    <a:pt x="667845" y="775549"/>
                  </a:lnTo>
                  <a:cubicBezTo>
                    <a:pt x="461834" y="974555"/>
                    <a:pt x="283822" y="1146358"/>
                    <a:pt x="180101" y="1389746"/>
                  </a:cubicBezTo>
                  <a:cubicBezTo>
                    <a:pt x="71925" y="1643314"/>
                    <a:pt x="73834" y="1899906"/>
                    <a:pt x="76220" y="2224900"/>
                  </a:cubicBezTo>
                  <a:lnTo>
                    <a:pt x="76698" y="2285508"/>
                  </a:lnTo>
                  <a:cubicBezTo>
                    <a:pt x="78607" y="2661407"/>
                    <a:pt x="105810" y="2968903"/>
                    <a:pt x="231325" y="3247447"/>
                  </a:cubicBezTo>
                  <a:cubicBezTo>
                    <a:pt x="328365" y="3463473"/>
                    <a:pt x="473288" y="3597575"/>
                    <a:pt x="656709" y="3767310"/>
                  </a:cubicBezTo>
                  <a:cubicBezTo>
                    <a:pt x="707615" y="3814397"/>
                    <a:pt x="761225" y="3863870"/>
                    <a:pt x="816904" y="3918274"/>
                  </a:cubicBezTo>
                  <a:cubicBezTo>
                    <a:pt x="992530" y="4089282"/>
                    <a:pt x="1169588" y="4251064"/>
                    <a:pt x="1405187" y="4351441"/>
                  </a:cubicBezTo>
                  <a:cubicBezTo>
                    <a:pt x="1683580" y="4470112"/>
                    <a:pt x="1959427" y="4476635"/>
                    <a:pt x="2317679" y="4473294"/>
                  </a:cubicBezTo>
                  <a:cubicBezTo>
                    <a:pt x="2611343" y="4470272"/>
                    <a:pt x="2820058" y="4468203"/>
                    <a:pt x="3044840" y="4389460"/>
                  </a:cubicBezTo>
                  <a:cubicBezTo>
                    <a:pt x="3408819" y="4262517"/>
                    <a:pt x="3659213" y="4011652"/>
                    <a:pt x="3925674" y="3721178"/>
                  </a:cubicBezTo>
                  <a:cubicBezTo>
                    <a:pt x="4139003" y="3488766"/>
                    <a:pt x="4274699" y="3331757"/>
                    <a:pt x="4360762" y="3111436"/>
                  </a:cubicBezTo>
                  <a:cubicBezTo>
                    <a:pt x="4464961" y="2844664"/>
                    <a:pt x="4463370" y="2583937"/>
                    <a:pt x="4461461" y="2253693"/>
                  </a:cubicBezTo>
                  <a:lnTo>
                    <a:pt x="4460984" y="2173836"/>
                  </a:lnTo>
                  <a:cubicBezTo>
                    <a:pt x="4460188" y="1973717"/>
                    <a:pt x="4459393" y="1815595"/>
                    <a:pt x="4412464" y="1642996"/>
                  </a:cubicBezTo>
                  <a:cubicBezTo>
                    <a:pt x="4327355" y="1328501"/>
                    <a:pt x="4149820" y="1089090"/>
                    <a:pt x="3890835" y="804501"/>
                  </a:cubicBezTo>
                  <a:cubicBezTo>
                    <a:pt x="3634237" y="523571"/>
                    <a:pt x="3429658" y="315022"/>
                    <a:pt x="3132494" y="192214"/>
                  </a:cubicBezTo>
                  <a:cubicBezTo>
                    <a:pt x="2856806" y="79110"/>
                    <a:pt x="2576186" y="78156"/>
                    <a:pt x="2251342" y="77042"/>
                  </a:cubicBezTo>
                  <a:lnTo>
                    <a:pt x="2135371" y="76088"/>
                  </a:lnTo>
                  <a:cubicBezTo>
                    <a:pt x="2090669" y="75770"/>
                    <a:pt x="2047558" y="75293"/>
                    <a:pt x="2005720" y="75293"/>
                  </a:cubicBezTo>
                  <a:close/>
                </a:path>
              </a:pathLst>
            </a:custGeom>
            <a:gradFill>
              <a:gsLst>
                <a:gs pos="100000">
                  <a:schemeClr val="accent2"/>
                </a:gs>
                <a:gs pos="0">
                  <a:schemeClr val="accent1"/>
                </a:gs>
              </a:gsLst>
              <a:lin ang="0" scaled="1"/>
            </a:gradFill>
            <a:ln w="1589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52" name="Freeform 51">
              <a:extLst>
                <a:ext uri="{FF2B5EF4-FFF2-40B4-BE49-F238E27FC236}">
                  <a16:creationId xmlns:a16="http://schemas.microsoft.com/office/drawing/2014/main" id="{664A72C2-35DD-A504-064C-24F30B8B2688}"/>
                </a:ext>
              </a:extLst>
            </p:cNvPr>
            <p:cNvSpPr/>
            <p:nvPr/>
          </p:nvSpPr>
          <p:spPr>
            <a:xfrm>
              <a:off x="-2234718" y="1189312"/>
              <a:ext cx="4464774" cy="4472555"/>
            </a:xfrm>
            <a:custGeom>
              <a:avLst/>
              <a:gdLst>
                <a:gd name="connsiteX0" fmla="*/ 2221196 w 4464774"/>
                <a:gd name="connsiteY0" fmla="*/ 4472556 h 4472555"/>
                <a:gd name="connsiteX1" fmla="*/ 1348634 w 4464774"/>
                <a:gd name="connsiteY1" fmla="*/ 4327159 h 4472555"/>
                <a:gd name="connsiteX2" fmla="*/ 745079 w 4464774"/>
                <a:gd name="connsiteY2" fmla="*/ 3901151 h 4472555"/>
                <a:gd name="connsiteX3" fmla="*/ 697036 w 4464774"/>
                <a:gd name="connsiteY3" fmla="*/ 3855337 h 4472555"/>
                <a:gd name="connsiteX4" fmla="*/ 173976 w 4464774"/>
                <a:gd name="connsiteY4" fmla="*/ 3207417 h 4472555"/>
                <a:gd name="connsiteX5" fmla="*/ 100 w 4464774"/>
                <a:gd name="connsiteY5" fmla="*/ 2243410 h 4472555"/>
                <a:gd name="connsiteX6" fmla="*/ 131820 w 4464774"/>
                <a:gd name="connsiteY6" fmla="*/ 1341125 h 4472555"/>
                <a:gd name="connsiteX7" fmla="*/ 668561 w 4464774"/>
                <a:gd name="connsiteY7" fmla="*/ 644368 h 4472555"/>
                <a:gd name="connsiteX8" fmla="*/ 1455060 w 4464774"/>
                <a:gd name="connsiteY8" fmla="*/ 88871 h 4472555"/>
                <a:gd name="connsiteX9" fmla="*/ 2220878 w 4464774"/>
                <a:gd name="connsiteY9" fmla="*/ 106 h 4472555"/>
                <a:gd name="connsiteX10" fmla="*/ 3115075 w 4464774"/>
                <a:gd name="connsiteY10" fmla="*/ 140412 h 4472555"/>
                <a:gd name="connsiteX11" fmla="*/ 3895688 w 4464774"/>
                <a:gd name="connsiteY11" fmla="*/ 750472 h 4472555"/>
                <a:gd name="connsiteX12" fmla="*/ 4407135 w 4464774"/>
                <a:gd name="connsiteY12" fmla="*/ 1618874 h 4472555"/>
                <a:gd name="connsiteX13" fmla="*/ 4464722 w 4464774"/>
                <a:gd name="connsiteY13" fmla="*/ 2188369 h 4472555"/>
                <a:gd name="connsiteX14" fmla="*/ 4333799 w 4464774"/>
                <a:gd name="connsiteY14" fmla="*/ 3101471 h 4472555"/>
                <a:gd name="connsiteX15" fmla="*/ 3902528 w 4464774"/>
                <a:gd name="connsiteY15" fmla="*/ 3723939 h 4472555"/>
                <a:gd name="connsiteX16" fmla="*/ 2996718 w 4464774"/>
                <a:gd name="connsiteY16" fmla="*/ 4375996 h 4472555"/>
                <a:gd name="connsiteX17" fmla="*/ 2265421 w 4464774"/>
                <a:gd name="connsiteY17" fmla="*/ 4472397 h 4472555"/>
                <a:gd name="connsiteX18" fmla="*/ 2221196 w 4464774"/>
                <a:gd name="connsiteY18" fmla="*/ 4472556 h 4472555"/>
                <a:gd name="connsiteX19" fmla="*/ 2178085 w 4464774"/>
                <a:gd name="connsiteY19" fmla="*/ 79009 h 4472555"/>
                <a:gd name="connsiteX20" fmla="*/ 1481308 w 4464774"/>
                <a:gd name="connsiteY20" fmla="*/ 163160 h 4472555"/>
                <a:gd name="connsiteX21" fmla="*/ 723285 w 4464774"/>
                <a:gd name="connsiteY21" fmla="*/ 701000 h 4472555"/>
                <a:gd name="connsiteX22" fmla="*/ 204043 w 4464774"/>
                <a:gd name="connsiteY22" fmla="*/ 1372304 h 4472555"/>
                <a:gd name="connsiteX23" fmla="*/ 78687 w 4464774"/>
                <a:gd name="connsiteY23" fmla="*/ 2243251 h 4472555"/>
                <a:gd name="connsiteX24" fmla="*/ 245404 w 4464774"/>
                <a:gd name="connsiteY24" fmla="*/ 3174965 h 4472555"/>
                <a:gd name="connsiteX25" fmla="*/ 750965 w 4464774"/>
                <a:gd name="connsiteY25" fmla="*/ 3798388 h 4472555"/>
                <a:gd name="connsiteX26" fmla="*/ 799167 w 4464774"/>
                <a:gd name="connsiteY26" fmla="*/ 3844361 h 4472555"/>
                <a:gd name="connsiteX27" fmla="*/ 1379337 w 4464774"/>
                <a:gd name="connsiteY27" fmla="*/ 4254938 h 4472555"/>
                <a:gd name="connsiteX28" fmla="*/ 2264466 w 4464774"/>
                <a:gd name="connsiteY28" fmla="*/ 4393653 h 4472555"/>
                <a:gd name="connsiteX29" fmla="*/ 2970629 w 4464774"/>
                <a:gd name="connsiteY29" fmla="*/ 4301707 h 4472555"/>
                <a:gd name="connsiteX30" fmla="*/ 3844304 w 4464774"/>
                <a:gd name="connsiteY30" fmla="*/ 3670649 h 4472555"/>
                <a:gd name="connsiteX31" fmla="*/ 4260462 w 4464774"/>
                <a:gd name="connsiteY31" fmla="*/ 3072042 h 4472555"/>
                <a:gd name="connsiteX32" fmla="*/ 4385659 w 4464774"/>
                <a:gd name="connsiteY32" fmla="*/ 2188847 h 4472555"/>
                <a:gd name="connsiteX33" fmla="*/ 4330617 w 4464774"/>
                <a:gd name="connsiteY33" fmla="*/ 1639554 h 4472555"/>
                <a:gd name="connsiteX34" fmla="*/ 3836669 w 4464774"/>
                <a:gd name="connsiteY34" fmla="*/ 803445 h 4472555"/>
                <a:gd name="connsiteX35" fmla="*/ 3084213 w 4464774"/>
                <a:gd name="connsiteY35" fmla="*/ 213429 h 4472555"/>
                <a:gd name="connsiteX36" fmla="*/ 2220401 w 4464774"/>
                <a:gd name="connsiteY36" fmla="*/ 79327 h 4472555"/>
                <a:gd name="connsiteX37" fmla="*/ 2220401 w 4464774"/>
                <a:gd name="connsiteY37" fmla="*/ 79327 h 4472555"/>
                <a:gd name="connsiteX38" fmla="*/ 2178085 w 4464774"/>
                <a:gd name="connsiteY38" fmla="*/ 79009 h 4472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4464774" h="4472555">
                  <a:moveTo>
                    <a:pt x="2221196" y="4472556"/>
                  </a:moveTo>
                  <a:cubicBezTo>
                    <a:pt x="1938190" y="4472556"/>
                    <a:pt x="1638481" y="4451876"/>
                    <a:pt x="1348634" y="4327159"/>
                  </a:cubicBezTo>
                  <a:cubicBezTo>
                    <a:pt x="1097444" y="4219305"/>
                    <a:pt x="910046" y="4058796"/>
                    <a:pt x="745079" y="3901151"/>
                  </a:cubicBezTo>
                  <a:lnTo>
                    <a:pt x="697036" y="3855337"/>
                  </a:lnTo>
                  <a:cubicBezTo>
                    <a:pt x="480685" y="3649491"/>
                    <a:pt x="293924" y="3471803"/>
                    <a:pt x="173976" y="3207417"/>
                  </a:cubicBezTo>
                  <a:cubicBezTo>
                    <a:pt x="55302" y="2946212"/>
                    <a:pt x="1691" y="2648897"/>
                    <a:pt x="100" y="2243410"/>
                  </a:cubicBezTo>
                  <a:cubicBezTo>
                    <a:pt x="-1172" y="1933051"/>
                    <a:pt x="7895" y="1630486"/>
                    <a:pt x="131820" y="1341125"/>
                  </a:cubicBezTo>
                  <a:cubicBezTo>
                    <a:pt x="250176" y="1064490"/>
                    <a:pt x="444892" y="861985"/>
                    <a:pt x="668561" y="644368"/>
                  </a:cubicBezTo>
                  <a:cubicBezTo>
                    <a:pt x="904479" y="414979"/>
                    <a:pt x="1141987" y="199748"/>
                    <a:pt x="1455060" y="88871"/>
                  </a:cubicBezTo>
                  <a:cubicBezTo>
                    <a:pt x="1690818" y="5197"/>
                    <a:pt x="1921487" y="-1007"/>
                    <a:pt x="2220878" y="106"/>
                  </a:cubicBezTo>
                  <a:cubicBezTo>
                    <a:pt x="2558290" y="902"/>
                    <a:pt x="2839387" y="25081"/>
                    <a:pt x="3115075" y="140412"/>
                  </a:cubicBezTo>
                  <a:cubicBezTo>
                    <a:pt x="3443260" y="278650"/>
                    <a:pt x="3684268" y="515357"/>
                    <a:pt x="3895688" y="750472"/>
                  </a:cubicBezTo>
                  <a:cubicBezTo>
                    <a:pt x="4174558" y="1061309"/>
                    <a:pt x="4327435" y="1320923"/>
                    <a:pt x="4407135" y="1618874"/>
                  </a:cubicBezTo>
                  <a:cubicBezTo>
                    <a:pt x="4459154" y="1812630"/>
                    <a:pt x="4464086" y="1998750"/>
                    <a:pt x="4464722" y="2188369"/>
                  </a:cubicBezTo>
                  <a:cubicBezTo>
                    <a:pt x="4465995" y="2548838"/>
                    <a:pt x="4444519" y="2827382"/>
                    <a:pt x="4333799" y="3101471"/>
                  </a:cubicBezTo>
                  <a:cubicBezTo>
                    <a:pt x="4240099" y="3331337"/>
                    <a:pt x="4099312" y="3510140"/>
                    <a:pt x="3902528" y="3723939"/>
                  </a:cubicBezTo>
                  <a:cubicBezTo>
                    <a:pt x="3664702" y="3982281"/>
                    <a:pt x="3390286" y="4240144"/>
                    <a:pt x="2996718" y="4375996"/>
                  </a:cubicBezTo>
                  <a:cubicBezTo>
                    <a:pt x="2772095" y="4453785"/>
                    <a:pt x="2558449" y="4470169"/>
                    <a:pt x="2265421" y="4472397"/>
                  </a:cubicBezTo>
                  <a:cubicBezTo>
                    <a:pt x="2250626" y="4472556"/>
                    <a:pt x="2235832" y="4472556"/>
                    <a:pt x="2221196" y="4472556"/>
                  </a:cubicBezTo>
                  <a:close/>
                  <a:moveTo>
                    <a:pt x="2178085" y="79009"/>
                  </a:moveTo>
                  <a:cubicBezTo>
                    <a:pt x="1906851" y="79009"/>
                    <a:pt x="1694159" y="87758"/>
                    <a:pt x="1481308" y="163160"/>
                  </a:cubicBezTo>
                  <a:cubicBezTo>
                    <a:pt x="1182871" y="268946"/>
                    <a:pt x="961430" y="469383"/>
                    <a:pt x="723285" y="701000"/>
                  </a:cubicBezTo>
                  <a:cubicBezTo>
                    <a:pt x="505820" y="912572"/>
                    <a:pt x="316673" y="1109032"/>
                    <a:pt x="204043" y="1372304"/>
                  </a:cubicBezTo>
                  <a:cubicBezTo>
                    <a:pt x="86163" y="1647667"/>
                    <a:pt x="77573" y="1941482"/>
                    <a:pt x="78687" y="2243251"/>
                  </a:cubicBezTo>
                  <a:cubicBezTo>
                    <a:pt x="80118" y="2637125"/>
                    <a:pt x="131661" y="2924419"/>
                    <a:pt x="245404" y="3174965"/>
                  </a:cubicBezTo>
                  <a:cubicBezTo>
                    <a:pt x="359147" y="3425511"/>
                    <a:pt x="532069" y="3589997"/>
                    <a:pt x="750965" y="3798388"/>
                  </a:cubicBezTo>
                  <a:lnTo>
                    <a:pt x="799167" y="3844361"/>
                  </a:lnTo>
                  <a:cubicBezTo>
                    <a:pt x="958885" y="3996915"/>
                    <a:pt x="1139601" y="4152015"/>
                    <a:pt x="1379337" y="4254938"/>
                  </a:cubicBezTo>
                  <a:cubicBezTo>
                    <a:pt x="1671092" y="4380291"/>
                    <a:pt x="1978119" y="4395722"/>
                    <a:pt x="2264466" y="4393653"/>
                  </a:cubicBezTo>
                  <a:cubicBezTo>
                    <a:pt x="2549381" y="4391585"/>
                    <a:pt x="2756346" y="4375837"/>
                    <a:pt x="2970629" y="4301707"/>
                  </a:cubicBezTo>
                  <a:cubicBezTo>
                    <a:pt x="3275429" y="4196557"/>
                    <a:pt x="3528528" y="4013619"/>
                    <a:pt x="3844304" y="3670649"/>
                  </a:cubicBezTo>
                  <a:cubicBezTo>
                    <a:pt x="4035043" y="3463371"/>
                    <a:pt x="4171217" y="3290932"/>
                    <a:pt x="4260462" y="3072042"/>
                  </a:cubicBezTo>
                  <a:cubicBezTo>
                    <a:pt x="4366410" y="2810042"/>
                    <a:pt x="4386932" y="2539929"/>
                    <a:pt x="4385659" y="2188847"/>
                  </a:cubicBezTo>
                  <a:cubicBezTo>
                    <a:pt x="4385023" y="2004635"/>
                    <a:pt x="4380250" y="1824083"/>
                    <a:pt x="4330617" y="1639554"/>
                  </a:cubicBezTo>
                  <a:cubicBezTo>
                    <a:pt x="4254417" y="1354329"/>
                    <a:pt x="4106630" y="1104260"/>
                    <a:pt x="3836669" y="803445"/>
                  </a:cubicBezTo>
                  <a:cubicBezTo>
                    <a:pt x="3631453" y="575011"/>
                    <a:pt x="3398240" y="345463"/>
                    <a:pt x="3084213" y="213429"/>
                  </a:cubicBezTo>
                  <a:cubicBezTo>
                    <a:pt x="2820774" y="103188"/>
                    <a:pt x="2548268" y="80122"/>
                    <a:pt x="2220401" y="79327"/>
                  </a:cubicBezTo>
                  <a:lnTo>
                    <a:pt x="2220401" y="79327"/>
                  </a:lnTo>
                  <a:cubicBezTo>
                    <a:pt x="2206243" y="79009"/>
                    <a:pt x="2192084" y="79009"/>
                    <a:pt x="2178085" y="79009"/>
                  </a:cubicBezTo>
                  <a:close/>
                </a:path>
              </a:pathLst>
            </a:custGeom>
            <a:gradFill>
              <a:gsLst>
                <a:gs pos="100000">
                  <a:schemeClr val="accent2"/>
                </a:gs>
                <a:gs pos="0">
                  <a:schemeClr val="accent1"/>
                </a:gs>
              </a:gsLst>
              <a:lin ang="0" scaled="1"/>
            </a:gradFill>
            <a:ln w="1589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53" name="Freeform 52">
              <a:extLst>
                <a:ext uri="{FF2B5EF4-FFF2-40B4-BE49-F238E27FC236}">
                  <a16:creationId xmlns:a16="http://schemas.microsoft.com/office/drawing/2014/main" id="{256AD115-B3F9-3E22-68DF-6E67254FECF4}"/>
                </a:ext>
              </a:extLst>
            </p:cNvPr>
            <p:cNvSpPr/>
            <p:nvPr/>
          </p:nvSpPr>
          <p:spPr>
            <a:xfrm>
              <a:off x="-2198353" y="1225529"/>
              <a:ext cx="4393842" cy="4397682"/>
            </a:xfrm>
            <a:custGeom>
              <a:avLst/>
              <a:gdLst>
                <a:gd name="connsiteX0" fmla="*/ 2200739 w 4393842"/>
                <a:gd name="connsiteY0" fmla="*/ 4397683 h 4397682"/>
                <a:gd name="connsiteX1" fmla="*/ 1322610 w 4393842"/>
                <a:gd name="connsiteY1" fmla="*/ 4235106 h 4397682"/>
                <a:gd name="connsiteX2" fmla="*/ 727009 w 4393842"/>
                <a:gd name="connsiteY2" fmla="*/ 3831687 h 4397682"/>
                <a:gd name="connsiteX3" fmla="*/ 186450 w 4393842"/>
                <a:gd name="connsiteY3" fmla="*/ 3137794 h 4397682"/>
                <a:gd name="connsiteX4" fmla="*/ 6 w 4393842"/>
                <a:gd name="connsiteY4" fmla="*/ 2202421 h 4397682"/>
                <a:gd name="connsiteX5" fmla="*/ 153838 w 4393842"/>
                <a:gd name="connsiteY5" fmla="*/ 1323680 h 4397682"/>
                <a:gd name="connsiteX6" fmla="*/ 660672 w 4393842"/>
                <a:gd name="connsiteY6" fmla="*/ 629149 h 4397682"/>
                <a:gd name="connsiteX7" fmla="*/ 1444784 w 4393842"/>
                <a:gd name="connsiteY7" fmla="*/ 107059 h 4397682"/>
                <a:gd name="connsiteX8" fmla="*/ 2185150 w 4393842"/>
                <a:gd name="connsiteY8" fmla="*/ 0 h 4397682"/>
                <a:gd name="connsiteX9" fmla="*/ 2191195 w 4393842"/>
                <a:gd name="connsiteY9" fmla="*/ 0 h 4397682"/>
                <a:gd name="connsiteX10" fmla="*/ 3069802 w 4393842"/>
                <a:gd name="connsiteY10" fmla="*/ 159713 h 4397682"/>
                <a:gd name="connsiteX11" fmla="*/ 3845801 w 4393842"/>
                <a:gd name="connsiteY11" fmla="*/ 748616 h 4397682"/>
                <a:gd name="connsiteX12" fmla="*/ 4329886 w 4393842"/>
                <a:gd name="connsiteY12" fmla="*/ 1615745 h 4397682"/>
                <a:gd name="connsiteX13" fmla="*/ 4393837 w 4393842"/>
                <a:gd name="connsiteY13" fmla="*/ 2174741 h 4397682"/>
                <a:gd name="connsiteX14" fmla="*/ 4237619 w 4393842"/>
                <a:gd name="connsiteY14" fmla="*/ 3065573 h 4397682"/>
                <a:gd name="connsiteX15" fmla="*/ 3824962 w 4393842"/>
                <a:gd name="connsiteY15" fmla="*/ 3676746 h 4397682"/>
                <a:gd name="connsiteX16" fmla="*/ 2925037 w 4393842"/>
                <a:gd name="connsiteY16" fmla="*/ 4292533 h 4397682"/>
                <a:gd name="connsiteX17" fmla="*/ 2213466 w 4393842"/>
                <a:gd name="connsiteY17" fmla="*/ 4397365 h 4397682"/>
                <a:gd name="connsiteX18" fmla="*/ 2200739 w 4393842"/>
                <a:gd name="connsiteY18" fmla="*/ 4397683 h 4397682"/>
                <a:gd name="connsiteX19" fmla="*/ 2185150 w 4393842"/>
                <a:gd name="connsiteY19" fmla="*/ 82402 h 4397682"/>
                <a:gd name="connsiteX20" fmla="*/ 1472305 w 4393842"/>
                <a:gd name="connsiteY20" fmla="*/ 184529 h 4397682"/>
                <a:gd name="connsiteX21" fmla="*/ 717941 w 4393842"/>
                <a:gd name="connsiteY21" fmla="*/ 688008 h 4397682"/>
                <a:gd name="connsiteX22" fmla="*/ 229402 w 4393842"/>
                <a:gd name="connsiteY22" fmla="*/ 1355972 h 4397682"/>
                <a:gd name="connsiteX23" fmla="*/ 82251 w 4393842"/>
                <a:gd name="connsiteY23" fmla="*/ 2202262 h 4397682"/>
                <a:gd name="connsiteX24" fmla="*/ 261218 w 4393842"/>
                <a:gd name="connsiteY24" fmla="*/ 3103592 h 4397682"/>
                <a:gd name="connsiteX25" fmla="*/ 783164 w 4393842"/>
                <a:gd name="connsiteY25" fmla="*/ 3771556 h 4397682"/>
                <a:gd name="connsiteX26" fmla="*/ 1355380 w 4393842"/>
                <a:gd name="connsiteY26" fmla="*/ 4159545 h 4397682"/>
                <a:gd name="connsiteX27" fmla="*/ 2213148 w 4393842"/>
                <a:gd name="connsiteY27" fmla="*/ 4315281 h 4397682"/>
                <a:gd name="connsiteX28" fmla="*/ 2898471 w 4393842"/>
                <a:gd name="connsiteY28" fmla="*/ 4214904 h 4397682"/>
                <a:gd name="connsiteX29" fmla="*/ 3764511 w 4393842"/>
                <a:gd name="connsiteY29" fmla="*/ 3621070 h 4397682"/>
                <a:gd name="connsiteX30" fmla="*/ 4161896 w 4393842"/>
                <a:gd name="connsiteY30" fmla="*/ 3033598 h 4397682"/>
                <a:gd name="connsiteX31" fmla="*/ 4311592 w 4393842"/>
                <a:gd name="connsiteY31" fmla="*/ 2174741 h 4397682"/>
                <a:gd name="connsiteX32" fmla="*/ 4250505 w 4393842"/>
                <a:gd name="connsiteY32" fmla="*/ 1636743 h 4397682"/>
                <a:gd name="connsiteX33" fmla="*/ 3784237 w 4393842"/>
                <a:gd name="connsiteY33" fmla="*/ 802862 h 4397682"/>
                <a:gd name="connsiteX34" fmla="*/ 3037508 w 4393842"/>
                <a:gd name="connsiteY34" fmla="*/ 235116 h 4397682"/>
                <a:gd name="connsiteX35" fmla="*/ 2191195 w 4393842"/>
                <a:gd name="connsiteY35" fmla="*/ 82084 h 4397682"/>
                <a:gd name="connsiteX36" fmla="*/ 2191195 w 4393842"/>
                <a:gd name="connsiteY36" fmla="*/ 82084 h 4397682"/>
                <a:gd name="connsiteX37" fmla="*/ 2185150 w 4393842"/>
                <a:gd name="connsiteY37" fmla="*/ 82402 h 4397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4393842" h="4397682">
                  <a:moveTo>
                    <a:pt x="2200739" y="4397683"/>
                  </a:moveTo>
                  <a:cubicBezTo>
                    <a:pt x="1857760" y="4397683"/>
                    <a:pt x="1578572" y="4345983"/>
                    <a:pt x="1322610" y="4235106"/>
                  </a:cubicBezTo>
                  <a:cubicBezTo>
                    <a:pt x="1115804" y="4145546"/>
                    <a:pt x="926497" y="4017330"/>
                    <a:pt x="727009" y="3831687"/>
                  </a:cubicBezTo>
                  <a:cubicBezTo>
                    <a:pt x="524498" y="3642386"/>
                    <a:pt x="318965" y="3427473"/>
                    <a:pt x="186450" y="3137794"/>
                  </a:cubicBezTo>
                  <a:cubicBezTo>
                    <a:pt x="61730" y="2866090"/>
                    <a:pt x="802" y="2560185"/>
                    <a:pt x="6" y="2202421"/>
                  </a:cubicBezTo>
                  <a:cubicBezTo>
                    <a:pt x="-630" y="1848793"/>
                    <a:pt x="48208" y="1569613"/>
                    <a:pt x="153838" y="1323680"/>
                  </a:cubicBezTo>
                  <a:cubicBezTo>
                    <a:pt x="256605" y="1084587"/>
                    <a:pt x="412823" y="870469"/>
                    <a:pt x="660672" y="629149"/>
                  </a:cubicBezTo>
                  <a:cubicBezTo>
                    <a:pt x="928883" y="367945"/>
                    <a:pt x="1178164" y="202028"/>
                    <a:pt x="1444784" y="107059"/>
                  </a:cubicBezTo>
                  <a:cubicBezTo>
                    <a:pt x="1652704" y="33247"/>
                    <a:pt x="1881145" y="0"/>
                    <a:pt x="2185150" y="0"/>
                  </a:cubicBezTo>
                  <a:cubicBezTo>
                    <a:pt x="2187218" y="0"/>
                    <a:pt x="2189127" y="0"/>
                    <a:pt x="2191195" y="0"/>
                  </a:cubicBezTo>
                  <a:cubicBezTo>
                    <a:pt x="2536242" y="477"/>
                    <a:pt x="2815431" y="51223"/>
                    <a:pt x="3069802" y="159713"/>
                  </a:cubicBezTo>
                  <a:cubicBezTo>
                    <a:pt x="3350422" y="279975"/>
                    <a:pt x="3596998" y="467050"/>
                    <a:pt x="3845801" y="748616"/>
                  </a:cubicBezTo>
                  <a:cubicBezTo>
                    <a:pt x="4090628" y="1026206"/>
                    <a:pt x="4248914" y="1309840"/>
                    <a:pt x="4329886" y="1615745"/>
                  </a:cubicBezTo>
                  <a:cubicBezTo>
                    <a:pt x="4373793" y="1780867"/>
                    <a:pt x="4393360" y="1953306"/>
                    <a:pt x="4393837" y="2174741"/>
                  </a:cubicBezTo>
                  <a:cubicBezTo>
                    <a:pt x="4394473" y="2527733"/>
                    <a:pt x="4344840" y="2810890"/>
                    <a:pt x="4237619" y="3065573"/>
                  </a:cubicBezTo>
                  <a:cubicBezTo>
                    <a:pt x="4149965" y="3272373"/>
                    <a:pt x="4018882" y="3466605"/>
                    <a:pt x="3824962" y="3676746"/>
                  </a:cubicBezTo>
                  <a:cubicBezTo>
                    <a:pt x="3544819" y="3980106"/>
                    <a:pt x="3250518" y="4181497"/>
                    <a:pt x="2925037" y="4292533"/>
                  </a:cubicBezTo>
                  <a:cubicBezTo>
                    <a:pt x="2716641" y="4363800"/>
                    <a:pt x="2497108" y="4396093"/>
                    <a:pt x="2213466" y="4397365"/>
                  </a:cubicBezTo>
                  <a:cubicBezTo>
                    <a:pt x="2209171" y="4397683"/>
                    <a:pt x="2205035" y="4397683"/>
                    <a:pt x="2200739" y="4397683"/>
                  </a:cubicBezTo>
                  <a:close/>
                  <a:moveTo>
                    <a:pt x="2185150" y="82402"/>
                  </a:moveTo>
                  <a:cubicBezTo>
                    <a:pt x="1890849" y="82402"/>
                    <a:pt x="1670839" y="113899"/>
                    <a:pt x="1472305" y="184529"/>
                  </a:cubicBezTo>
                  <a:cubicBezTo>
                    <a:pt x="1213639" y="276635"/>
                    <a:pt x="981062" y="431894"/>
                    <a:pt x="717941" y="688008"/>
                  </a:cubicBezTo>
                  <a:cubicBezTo>
                    <a:pt x="478205" y="921374"/>
                    <a:pt x="327555" y="1127379"/>
                    <a:pt x="229402" y="1355972"/>
                  </a:cubicBezTo>
                  <a:cubicBezTo>
                    <a:pt x="128226" y="1591247"/>
                    <a:pt x="81456" y="1860246"/>
                    <a:pt x="82251" y="2202262"/>
                  </a:cubicBezTo>
                  <a:cubicBezTo>
                    <a:pt x="82888" y="2547936"/>
                    <a:pt x="141430" y="2842706"/>
                    <a:pt x="261218" y="3103592"/>
                  </a:cubicBezTo>
                  <a:cubicBezTo>
                    <a:pt x="387847" y="3380227"/>
                    <a:pt x="586858" y="3588140"/>
                    <a:pt x="783164" y="3771556"/>
                  </a:cubicBezTo>
                  <a:cubicBezTo>
                    <a:pt x="975653" y="3950518"/>
                    <a:pt x="1157483" y="4073802"/>
                    <a:pt x="1355380" y="4159545"/>
                  </a:cubicBezTo>
                  <a:cubicBezTo>
                    <a:pt x="1603707" y="4266922"/>
                    <a:pt x="1873191" y="4318781"/>
                    <a:pt x="2213148" y="4315281"/>
                  </a:cubicBezTo>
                  <a:cubicBezTo>
                    <a:pt x="2487404" y="4314168"/>
                    <a:pt x="2698824" y="4283307"/>
                    <a:pt x="2898471" y="4214904"/>
                  </a:cubicBezTo>
                  <a:cubicBezTo>
                    <a:pt x="3210748" y="4108322"/>
                    <a:pt x="3494072" y="3914089"/>
                    <a:pt x="3764511" y="3621070"/>
                  </a:cubicBezTo>
                  <a:cubicBezTo>
                    <a:pt x="3954454" y="3415224"/>
                    <a:pt x="4076947" y="3234194"/>
                    <a:pt x="4161896" y="3033598"/>
                  </a:cubicBezTo>
                  <a:cubicBezTo>
                    <a:pt x="4264663" y="2789415"/>
                    <a:pt x="4312388" y="2516439"/>
                    <a:pt x="4311592" y="2174741"/>
                  </a:cubicBezTo>
                  <a:cubicBezTo>
                    <a:pt x="4311274" y="1960624"/>
                    <a:pt x="4292343" y="1794707"/>
                    <a:pt x="4250505" y="1636743"/>
                  </a:cubicBezTo>
                  <a:cubicBezTo>
                    <a:pt x="4172873" y="1343405"/>
                    <a:pt x="4020314" y="1070588"/>
                    <a:pt x="3784237" y="802862"/>
                  </a:cubicBezTo>
                  <a:cubicBezTo>
                    <a:pt x="3543864" y="530840"/>
                    <a:pt x="3306674" y="350287"/>
                    <a:pt x="3037508" y="235116"/>
                  </a:cubicBezTo>
                  <a:cubicBezTo>
                    <a:pt x="2793795" y="131079"/>
                    <a:pt x="2524789" y="82402"/>
                    <a:pt x="2191195" y="82084"/>
                  </a:cubicBezTo>
                  <a:lnTo>
                    <a:pt x="2191195" y="82084"/>
                  </a:lnTo>
                  <a:cubicBezTo>
                    <a:pt x="2188968" y="82402"/>
                    <a:pt x="2187058" y="82402"/>
                    <a:pt x="2185150" y="82402"/>
                  </a:cubicBezTo>
                  <a:close/>
                </a:path>
              </a:pathLst>
            </a:custGeom>
            <a:gradFill>
              <a:gsLst>
                <a:gs pos="100000">
                  <a:schemeClr val="accent2"/>
                </a:gs>
                <a:gs pos="0">
                  <a:schemeClr val="accent1"/>
                </a:gs>
              </a:gsLst>
              <a:lin ang="0" scaled="1"/>
            </a:gradFill>
            <a:ln w="1589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54" name="Freeform 53">
              <a:extLst>
                <a:ext uri="{FF2B5EF4-FFF2-40B4-BE49-F238E27FC236}">
                  <a16:creationId xmlns:a16="http://schemas.microsoft.com/office/drawing/2014/main" id="{3BE8DA8A-4259-0031-21A6-900C45A8F943}"/>
                </a:ext>
              </a:extLst>
            </p:cNvPr>
            <p:cNvSpPr/>
            <p:nvPr/>
          </p:nvSpPr>
          <p:spPr>
            <a:xfrm>
              <a:off x="-2161758" y="1262116"/>
              <a:ext cx="4322561" cy="4322439"/>
            </a:xfrm>
            <a:custGeom>
              <a:avLst/>
              <a:gdLst>
                <a:gd name="connsiteX0" fmla="*/ 2161281 w 4322561"/>
                <a:gd name="connsiteY0" fmla="*/ 4322440 h 4322439"/>
                <a:gd name="connsiteX1" fmla="*/ 0 w 4322561"/>
                <a:gd name="connsiteY1" fmla="*/ 2161220 h 4322439"/>
                <a:gd name="connsiteX2" fmla="*/ 2161281 w 4322561"/>
                <a:gd name="connsiteY2" fmla="*/ 0 h 4322439"/>
                <a:gd name="connsiteX3" fmla="*/ 4322562 w 4322561"/>
                <a:gd name="connsiteY3" fmla="*/ 2161220 h 4322439"/>
                <a:gd name="connsiteX4" fmla="*/ 2161281 w 4322561"/>
                <a:gd name="connsiteY4" fmla="*/ 4322440 h 4322439"/>
                <a:gd name="connsiteX5" fmla="*/ 2161281 w 4322561"/>
                <a:gd name="connsiteY5" fmla="*/ 85265 h 4322439"/>
                <a:gd name="connsiteX6" fmla="*/ 85427 w 4322561"/>
                <a:gd name="connsiteY6" fmla="*/ 2161061 h 4322439"/>
                <a:gd name="connsiteX7" fmla="*/ 2161281 w 4322561"/>
                <a:gd name="connsiteY7" fmla="*/ 4236856 h 4322439"/>
                <a:gd name="connsiteX8" fmla="*/ 4237135 w 4322561"/>
                <a:gd name="connsiteY8" fmla="*/ 2161061 h 4322439"/>
                <a:gd name="connsiteX9" fmla="*/ 2161281 w 4322561"/>
                <a:gd name="connsiteY9" fmla="*/ 85265 h 4322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22561" h="4322439">
                  <a:moveTo>
                    <a:pt x="2161281" y="4322440"/>
                  </a:moveTo>
                  <a:cubicBezTo>
                    <a:pt x="969602" y="4322440"/>
                    <a:pt x="0" y="3353025"/>
                    <a:pt x="0" y="2161220"/>
                  </a:cubicBezTo>
                  <a:cubicBezTo>
                    <a:pt x="0" y="969574"/>
                    <a:pt x="969443" y="0"/>
                    <a:pt x="2161281" y="0"/>
                  </a:cubicBezTo>
                  <a:cubicBezTo>
                    <a:pt x="3353120" y="0"/>
                    <a:pt x="4322562" y="969415"/>
                    <a:pt x="4322562" y="2161220"/>
                  </a:cubicBezTo>
                  <a:cubicBezTo>
                    <a:pt x="4322562" y="3352865"/>
                    <a:pt x="3352961" y="4322440"/>
                    <a:pt x="2161281" y="4322440"/>
                  </a:cubicBezTo>
                  <a:close/>
                  <a:moveTo>
                    <a:pt x="2161281" y="85265"/>
                  </a:moveTo>
                  <a:cubicBezTo>
                    <a:pt x="1016690" y="85265"/>
                    <a:pt x="85427" y="1016502"/>
                    <a:pt x="85427" y="2161061"/>
                  </a:cubicBezTo>
                  <a:cubicBezTo>
                    <a:pt x="85427" y="3305620"/>
                    <a:pt x="1016690" y="4236856"/>
                    <a:pt x="2161281" y="4236856"/>
                  </a:cubicBezTo>
                  <a:cubicBezTo>
                    <a:pt x="3305873" y="4236856"/>
                    <a:pt x="4237135" y="3305620"/>
                    <a:pt x="4237135" y="2161061"/>
                  </a:cubicBezTo>
                  <a:cubicBezTo>
                    <a:pt x="4237135" y="1016502"/>
                    <a:pt x="3305873" y="85265"/>
                    <a:pt x="2161281" y="85265"/>
                  </a:cubicBezTo>
                  <a:close/>
                </a:path>
              </a:pathLst>
            </a:custGeom>
            <a:gradFill>
              <a:gsLst>
                <a:gs pos="100000">
                  <a:schemeClr val="accent2"/>
                </a:gs>
                <a:gs pos="0">
                  <a:schemeClr val="accent1"/>
                </a:gs>
              </a:gsLst>
              <a:lin ang="0" scaled="1"/>
            </a:gradFill>
            <a:ln w="1589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sp>
        <p:nvSpPr>
          <p:cNvPr id="59" name="Rectangle 58">
            <a:extLst>
              <a:ext uri="{FF2B5EF4-FFF2-40B4-BE49-F238E27FC236}">
                <a16:creationId xmlns:a16="http://schemas.microsoft.com/office/drawing/2014/main" id="{FC29475B-CF7B-5F2F-8447-E04ED346110F}"/>
              </a:ext>
              <a:ext uri="{C183D7F6-B498-43B3-948B-1728B52AA6E4}">
                <adec:decorative xmlns:adec="http://schemas.microsoft.com/office/drawing/2017/decorative" val="1"/>
              </a:ext>
            </a:extLst>
          </p:cNvPr>
          <p:cNvSpPr/>
          <p:nvPr/>
        </p:nvSpPr>
        <p:spPr bwMode="auto">
          <a:xfrm>
            <a:off x="1099751" y="1729946"/>
            <a:ext cx="3731741" cy="3434430"/>
          </a:xfrm>
          <a:prstGeom prst="rect">
            <a:avLst/>
          </a:prstGeom>
          <a:gradFill>
            <a:gsLst>
              <a:gs pos="0">
                <a:schemeClr val="bg1">
                  <a:alpha val="0"/>
                </a:schemeClr>
              </a:gs>
              <a:gs pos="81000">
                <a:srgbClr val="000000"/>
              </a:gs>
              <a:gs pos="22000">
                <a:schemeClr val="bg1"/>
              </a:gs>
              <a:gs pos="100000">
                <a:schemeClr val="bg1">
                  <a:alpha val="0"/>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000000"/>
              </a:solidFill>
              <a:ea typeface="Segoe UI" pitchFamily="34" charset="0"/>
              <a:cs typeface="Segoe UI" pitchFamily="34" charset="0"/>
            </a:endParaRPr>
          </a:p>
        </p:txBody>
      </p:sp>
      <p:sp>
        <p:nvSpPr>
          <p:cNvPr id="55" name="Rectangle: Rounded Corners 2">
            <a:extLst>
              <a:ext uri="{FF2B5EF4-FFF2-40B4-BE49-F238E27FC236}">
                <a16:creationId xmlns:a16="http://schemas.microsoft.com/office/drawing/2014/main" id="{F74F7DFB-5F33-FF59-397A-D065722A9EE1}"/>
              </a:ext>
              <a:ext uri="{C183D7F6-B498-43B3-948B-1728B52AA6E4}">
                <adec:decorative xmlns:adec="http://schemas.microsoft.com/office/drawing/2017/decorative" val="1"/>
              </a:ext>
            </a:extLst>
          </p:cNvPr>
          <p:cNvSpPr/>
          <p:nvPr/>
        </p:nvSpPr>
        <p:spPr>
          <a:xfrm>
            <a:off x="5995028" y="1202503"/>
            <a:ext cx="6189802" cy="1189662"/>
          </a:xfrm>
          <a:prstGeom prst="roundRect">
            <a:avLst>
              <a:gd name="adj" fmla="val 14541"/>
            </a:avLst>
          </a:prstGeom>
          <a:gradFill>
            <a:gsLst>
              <a:gs pos="0">
                <a:schemeClr val="accent2">
                  <a:alpha val="64000"/>
                </a:schemeClr>
              </a:gs>
              <a:gs pos="47000">
                <a:schemeClr val="bg1">
                  <a:alpha val="78064"/>
                </a:schemeClr>
              </a:gs>
            </a:gsLst>
            <a:lin ang="4200000" scaled="0"/>
          </a:gradFill>
          <a:ln w="12700" cap="flat" cmpd="sng" algn="ctr">
            <a:noFill/>
            <a:prstDash val="solid"/>
            <a:headEnd type="none" w="med" len="med"/>
            <a:tailEnd type="none" w="med" len="med"/>
          </a:ln>
          <a:effectLst/>
        </p:spPr>
        <p:txBody>
          <a:bodyPr rot="0" spcFirstLastPara="0" vertOverflow="overflow" horzOverflow="overflow" vert="horz" wrap="square" lIns="72000" tIns="180000" rIns="72000" bIns="144000" numCol="1" spcCol="0" rtlCol="0" fromWordArt="0" anchor="ctr" anchorCtr="0" forceAA="0" compatLnSpc="1">
            <a:prstTxWarp prst="textNoShape">
              <a:avLst/>
            </a:prstTxWarp>
            <a:noAutofit/>
          </a:bodyPr>
          <a:lstStyle/>
          <a:p>
            <a:pPr algn="ctr"/>
            <a:endParaRPr lang="en-US" sz="1600" kern="0">
              <a:gradFill flip="none" rotWithShape="1">
                <a:gsLst>
                  <a:gs pos="0">
                    <a:srgbClr val="50E6FF"/>
                  </a:gs>
                  <a:gs pos="100000">
                    <a:srgbClr val="D59DFF"/>
                  </a:gs>
                </a:gsLst>
                <a:lin ang="2700000" scaled="1"/>
                <a:tileRect/>
              </a:gradFill>
              <a:latin typeface="Segoe UI Semibold"/>
            </a:endParaRPr>
          </a:p>
        </p:txBody>
      </p:sp>
      <p:sp>
        <p:nvSpPr>
          <p:cNvPr id="56" name="Rectangle: Rounded Corners 2">
            <a:extLst>
              <a:ext uri="{FF2B5EF4-FFF2-40B4-BE49-F238E27FC236}">
                <a16:creationId xmlns:a16="http://schemas.microsoft.com/office/drawing/2014/main" id="{73FF8945-41A3-7BB9-65EB-EE2CC40A66B4}"/>
              </a:ext>
              <a:ext uri="{C183D7F6-B498-43B3-948B-1728B52AA6E4}">
                <adec:decorative xmlns:adec="http://schemas.microsoft.com/office/drawing/2017/decorative" val="1"/>
              </a:ext>
            </a:extLst>
          </p:cNvPr>
          <p:cNvSpPr/>
          <p:nvPr/>
        </p:nvSpPr>
        <p:spPr>
          <a:xfrm>
            <a:off x="5995028" y="2732056"/>
            <a:ext cx="6189802" cy="1189662"/>
          </a:xfrm>
          <a:prstGeom prst="roundRect">
            <a:avLst>
              <a:gd name="adj" fmla="val 14541"/>
            </a:avLst>
          </a:prstGeom>
          <a:gradFill>
            <a:gsLst>
              <a:gs pos="0">
                <a:schemeClr val="accent2">
                  <a:alpha val="64000"/>
                </a:schemeClr>
              </a:gs>
              <a:gs pos="47000">
                <a:schemeClr val="bg1">
                  <a:alpha val="78064"/>
                </a:schemeClr>
              </a:gs>
            </a:gsLst>
            <a:lin ang="4200000" scaled="0"/>
          </a:gradFill>
          <a:ln w="12700" cap="flat" cmpd="sng" algn="ctr">
            <a:noFill/>
            <a:prstDash val="solid"/>
            <a:headEnd type="none" w="med" len="med"/>
            <a:tailEnd type="none" w="med" len="med"/>
          </a:ln>
          <a:effectLst/>
        </p:spPr>
        <p:txBody>
          <a:bodyPr rot="0" spcFirstLastPara="0" vertOverflow="overflow" horzOverflow="overflow" vert="horz" wrap="square" lIns="72000" tIns="180000" rIns="72000" bIns="144000" numCol="1" spcCol="0" rtlCol="0" fromWordArt="0" anchor="t" anchorCtr="0" forceAA="0" compatLnSpc="1">
            <a:prstTxWarp prst="textNoShape">
              <a:avLst/>
            </a:prstTxWarp>
            <a:noAutofit/>
          </a:bodyPr>
          <a:lstStyle/>
          <a:p>
            <a:pPr algn="ctr"/>
            <a:endParaRPr lang="en-US" sz="1600" kern="0">
              <a:gradFill flip="none" rotWithShape="1">
                <a:gsLst>
                  <a:gs pos="0">
                    <a:srgbClr val="50E6FF"/>
                  </a:gs>
                  <a:gs pos="100000">
                    <a:srgbClr val="D59DFF"/>
                  </a:gs>
                </a:gsLst>
                <a:lin ang="2700000" scaled="1"/>
                <a:tileRect/>
              </a:gradFill>
              <a:latin typeface="Segoe UI Semibold"/>
            </a:endParaRPr>
          </a:p>
        </p:txBody>
      </p:sp>
      <p:sp>
        <p:nvSpPr>
          <p:cNvPr id="57" name="Rectangle: Rounded Corners 2">
            <a:extLst>
              <a:ext uri="{FF2B5EF4-FFF2-40B4-BE49-F238E27FC236}">
                <a16:creationId xmlns:a16="http://schemas.microsoft.com/office/drawing/2014/main" id="{DB063E53-6A74-1FE9-A174-19FDA2FB3760}"/>
              </a:ext>
              <a:ext uri="{C183D7F6-B498-43B3-948B-1728B52AA6E4}">
                <adec:decorative xmlns:adec="http://schemas.microsoft.com/office/drawing/2017/decorative" val="1"/>
              </a:ext>
            </a:extLst>
          </p:cNvPr>
          <p:cNvSpPr/>
          <p:nvPr/>
        </p:nvSpPr>
        <p:spPr>
          <a:xfrm>
            <a:off x="5995028" y="4261609"/>
            <a:ext cx="6189802" cy="1374646"/>
          </a:xfrm>
          <a:prstGeom prst="roundRect">
            <a:avLst>
              <a:gd name="adj" fmla="val 14541"/>
            </a:avLst>
          </a:prstGeom>
          <a:gradFill>
            <a:gsLst>
              <a:gs pos="0">
                <a:schemeClr val="accent2">
                  <a:alpha val="64000"/>
                </a:schemeClr>
              </a:gs>
              <a:gs pos="47000">
                <a:schemeClr val="bg1">
                  <a:alpha val="78064"/>
                </a:schemeClr>
              </a:gs>
            </a:gsLst>
            <a:lin ang="4200000" scaled="0"/>
          </a:gradFill>
          <a:ln w="12700" cap="flat" cmpd="sng" algn="ctr">
            <a:noFill/>
            <a:prstDash val="solid"/>
            <a:headEnd type="none" w="med" len="med"/>
            <a:tailEnd type="none" w="med" len="med"/>
          </a:ln>
          <a:effectLst/>
        </p:spPr>
        <p:txBody>
          <a:bodyPr rot="0" spcFirstLastPara="0" vertOverflow="overflow" horzOverflow="overflow" vert="horz" wrap="square" lIns="72000" tIns="180000" rIns="72000" bIns="144000" numCol="1" spcCol="0" rtlCol="0" fromWordArt="0" anchor="t" anchorCtr="0" forceAA="0" compatLnSpc="1">
            <a:prstTxWarp prst="textNoShape">
              <a:avLst/>
            </a:prstTxWarp>
            <a:noAutofit/>
          </a:bodyPr>
          <a:lstStyle/>
          <a:p>
            <a:pPr algn="ctr"/>
            <a:endParaRPr lang="en-US" sz="1600" kern="0">
              <a:gradFill flip="none" rotWithShape="1">
                <a:gsLst>
                  <a:gs pos="0">
                    <a:srgbClr val="50E6FF"/>
                  </a:gs>
                  <a:gs pos="100000">
                    <a:srgbClr val="D59DFF"/>
                  </a:gs>
                </a:gsLst>
                <a:lin ang="2700000" scaled="1"/>
                <a:tileRect/>
              </a:gradFill>
              <a:latin typeface="Segoe UI Semibold"/>
            </a:endParaRPr>
          </a:p>
        </p:txBody>
      </p:sp>
      <p:grpSp>
        <p:nvGrpSpPr>
          <p:cNvPr id="8" name="Group 7" descr="72%">
            <a:extLst>
              <a:ext uri="{FF2B5EF4-FFF2-40B4-BE49-F238E27FC236}">
                <a16:creationId xmlns:a16="http://schemas.microsoft.com/office/drawing/2014/main" id="{AD13F356-068F-C6EA-1D6F-643E61A9E9E7}"/>
              </a:ext>
            </a:extLst>
          </p:cNvPr>
          <p:cNvGrpSpPr>
            <a:grpSpLocks/>
          </p:cNvGrpSpPr>
          <p:nvPr/>
        </p:nvGrpSpPr>
        <p:grpSpPr>
          <a:xfrm>
            <a:off x="6451228" y="1409387"/>
            <a:ext cx="775895" cy="775895"/>
            <a:chOff x="5352361" y="2443203"/>
            <a:chExt cx="1494971" cy="1494971"/>
          </a:xfrm>
        </p:grpSpPr>
        <p:sp>
          <p:nvSpPr>
            <p:cNvPr id="10" name="Oval 9">
              <a:extLst>
                <a:ext uri="{FF2B5EF4-FFF2-40B4-BE49-F238E27FC236}">
                  <a16:creationId xmlns:a16="http://schemas.microsoft.com/office/drawing/2014/main" id="{EA71F6FF-4164-997A-2191-4D0042C334D4}"/>
                </a:ext>
              </a:extLst>
            </p:cNvPr>
            <p:cNvSpPr/>
            <p:nvPr/>
          </p:nvSpPr>
          <p:spPr bwMode="auto">
            <a:xfrm>
              <a:off x="5352361" y="2443203"/>
              <a:ext cx="1494971" cy="1494971"/>
            </a:xfrm>
            <a:prstGeom prst="ellipse">
              <a:avLst/>
            </a:prstGeom>
            <a:solidFill>
              <a:schemeClr val="bg1"/>
            </a:solidFill>
            <a:ln w="38100">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50E6FF"/>
                </a:solidFill>
                <a:effectLst/>
                <a:uLnTx/>
                <a:uFillTx/>
                <a:latin typeface="Segoe UI Semibold"/>
                <a:ea typeface="Segoe UI" pitchFamily="34" charset="0"/>
                <a:cs typeface="Segoe UI" pitchFamily="34" charset="0"/>
              </a:endParaRPr>
            </a:p>
          </p:txBody>
        </p:sp>
        <p:sp>
          <p:nvSpPr>
            <p:cNvPr id="11" name="Arc 10">
              <a:extLst>
                <a:ext uri="{FF2B5EF4-FFF2-40B4-BE49-F238E27FC236}">
                  <a16:creationId xmlns:a16="http://schemas.microsoft.com/office/drawing/2014/main" id="{AE040E3C-4BDA-E256-CF92-37CF8A5BAE33}"/>
                </a:ext>
              </a:extLst>
            </p:cNvPr>
            <p:cNvSpPr/>
            <p:nvPr/>
          </p:nvSpPr>
          <p:spPr bwMode="auto">
            <a:xfrm>
              <a:off x="5352361" y="2443203"/>
              <a:ext cx="1494971" cy="1494971"/>
            </a:xfrm>
            <a:prstGeom prst="arc">
              <a:avLst>
                <a:gd name="adj1" fmla="val 16200000"/>
                <a:gd name="adj2" fmla="val 9944167"/>
              </a:avLst>
            </a:prstGeom>
            <a:solidFill>
              <a:schemeClr val="bg1"/>
            </a:solidFill>
            <a:ln w="57150" cap="rnd">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50E6FF"/>
                </a:solidFill>
                <a:effectLst/>
                <a:uLnTx/>
                <a:uFillTx/>
                <a:latin typeface="Segoe UI Semibold"/>
                <a:ea typeface="Segoe UI" pitchFamily="34" charset="0"/>
                <a:cs typeface="Segoe UI" pitchFamily="34" charset="0"/>
              </a:endParaRPr>
            </a:p>
          </p:txBody>
        </p:sp>
        <p:sp>
          <p:nvSpPr>
            <p:cNvPr id="12" name="TextBox 4">
              <a:extLst>
                <a:ext uri="{FF2B5EF4-FFF2-40B4-BE49-F238E27FC236}">
                  <a16:creationId xmlns:a16="http://schemas.microsoft.com/office/drawing/2014/main" id="{99FC220C-AEF1-CD7B-5F28-41FF109297E2}"/>
                </a:ext>
              </a:extLst>
            </p:cNvPr>
            <p:cNvSpPr txBox="1"/>
            <p:nvPr/>
          </p:nvSpPr>
          <p:spPr>
            <a:xfrm>
              <a:off x="5589390" y="2775578"/>
              <a:ext cx="1043955" cy="830220"/>
            </a:xfrm>
            <a:prstGeom prst="rect">
              <a:avLst/>
            </a:prstGeom>
            <a:noFill/>
            <a:ln w="57150">
              <a:noFill/>
            </a:ln>
          </p:spPr>
          <p:txBody>
            <a:bodyPr wrap="non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50E6FF"/>
                  </a:solidFill>
                  <a:effectLst/>
                  <a:uLnTx/>
                  <a:uFillTx/>
                  <a:latin typeface="Segoe UI Semibold"/>
                  <a:ea typeface="+mn-ea"/>
                  <a:cs typeface="+mn-cs"/>
                </a:rPr>
                <a:t>72</a:t>
              </a:r>
              <a:r>
                <a:rPr kumimoji="0" lang="en-US" sz="1400" b="0" i="0" u="none" strike="noStrike" kern="1200" cap="none" spc="0" normalizeH="0" baseline="0" noProof="0">
                  <a:ln>
                    <a:noFill/>
                  </a:ln>
                  <a:solidFill>
                    <a:srgbClr val="50E6FF"/>
                  </a:solidFill>
                  <a:effectLst/>
                  <a:uLnTx/>
                  <a:uFillTx/>
                  <a:latin typeface="Segoe UI Semibold"/>
                  <a:ea typeface="+mn-ea"/>
                  <a:cs typeface="+mn-cs"/>
                </a:rPr>
                <a:t>%</a:t>
              </a:r>
              <a:endParaRPr kumimoji="0" lang="en-US" sz="2000" b="0" i="0" u="none" strike="noStrike" kern="1200" cap="none" spc="0" normalizeH="0" baseline="0" noProof="0">
                <a:ln>
                  <a:noFill/>
                </a:ln>
                <a:solidFill>
                  <a:srgbClr val="50E6FF"/>
                </a:solidFill>
                <a:effectLst/>
                <a:uLnTx/>
                <a:uFillTx/>
                <a:latin typeface="Segoe UI Semibold"/>
                <a:ea typeface="+mn-ea"/>
                <a:cs typeface="+mn-cs"/>
              </a:endParaRPr>
            </a:p>
          </p:txBody>
        </p:sp>
      </p:grpSp>
      <p:sp>
        <p:nvSpPr>
          <p:cNvPr id="9" name="TextBox 5">
            <a:extLst>
              <a:ext uri="{FF2B5EF4-FFF2-40B4-BE49-F238E27FC236}">
                <a16:creationId xmlns:a16="http://schemas.microsoft.com/office/drawing/2014/main" id="{B8AA182D-F805-341E-6C73-41BABD2B2E71}"/>
              </a:ext>
            </a:extLst>
          </p:cNvPr>
          <p:cNvSpPr txBox="1">
            <a:spLocks/>
          </p:cNvSpPr>
          <p:nvPr/>
        </p:nvSpPr>
        <p:spPr>
          <a:xfrm>
            <a:off x="7544576" y="1428002"/>
            <a:ext cx="4089786" cy="738664"/>
          </a:xfrm>
          <a:prstGeom prst="rect">
            <a:avLst/>
          </a:prstGeom>
          <a:noFill/>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srgbClr val="FFFFFF"/>
                </a:solidFill>
                <a:effectLst/>
                <a:uLnTx/>
                <a:uFillTx/>
                <a:ea typeface="+mn-ea"/>
                <a:cs typeface="Segoe UI Semibold" panose="020B0702040204020203" pitchFamily="34" charset="0"/>
              </a:rPr>
              <a:t>of industry’s pace of transformation has accelerated as a result of the pandemic</a:t>
            </a:r>
            <a:r>
              <a:rPr kumimoji="0" lang="en-GB" sz="1200" b="0" u="none" strike="noStrike" kern="1200" cap="none" spc="0" normalizeH="0" baseline="60000" noProof="0" dirty="0">
                <a:ln>
                  <a:noFill/>
                </a:ln>
                <a:solidFill>
                  <a:srgbClr val="FFFFFF"/>
                </a:solidFill>
                <a:effectLst/>
                <a:uLnTx/>
                <a:uFillTx/>
                <a:ea typeface="+mn-ea"/>
                <a:cs typeface="Segoe UI Semibold" panose="020B0702040204020203" pitchFamily="34" charset="0"/>
              </a:rPr>
              <a:t>1</a:t>
            </a:r>
            <a:endParaRPr kumimoji="0" lang="en-GB" sz="1600" b="0" u="none" strike="noStrike" kern="1200" cap="none" spc="0" normalizeH="0" baseline="60000" noProof="0" dirty="0">
              <a:ln>
                <a:noFill/>
              </a:ln>
              <a:solidFill>
                <a:srgbClr val="FFFFFF"/>
              </a:solidFill>
              <a:effectLst/>
              <a:uLnTx/>
              <a:uFillTx/>
              <a:ea typeface="+mn-ea"/>
              <a:cs typeface="Segoe UI Semibold" panose="020B07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srgbClr val="50E6FF"/>
                </a:solidFill>
                <a:effectLst/>
                <a:uLnTx/>
                <a:uFillTx/>
                <a:ea typeface="+mn-ea"/>
                <a:cs typeface="Segoe UI Semibold" panose="020B0702040204020203" pitchFamily="34" charset="0"/>
              </a:rPr>
              <a:t>but existing IT platforms can hamper agility</a:t>
            </a:r>
            <a:endParaRPr kumimoji="0" lang="en-GB" sz="1600" b="0" i="1" u="none" strike="noStrike" kern="1200" cap="none" spc="0" normalizeH="0" baseline="50000" noProof="0" dirty="0">
              <a:ln>
                <a:noFill/>
              </a:ln>
              <a:solidFill>
                <a:srgbClr val="50E6FF"/>
              </a:solidFill>
              <a:effectLst/>
              <a:uLnTx/>
              <a:uFillTx/>
              <a:ea typeface="+mn-ea"/>
              <a:cs typeface="Segoe UI Semibold" panose="020B0702040204020203" pitchFamily="34" charset="0"/>
            </a:endParaRPr>
          </a:p>
        </p:txBody>
      </p:sp>
      <p:grpSp>
        <p:nvGrpSpPr>
          <p:cNvPr id="20" name="Group 19" descr="85%">
            <a:extLst>
              <a:ext uri="{FF2B5EF4-FFF2-40B4-BE49-F238E27FC236}">
                <a16:creationId xmlns:a16="http://schemas.microsoft.com/office/drawing/2014/main" id="{1B9A8F20-E304-E06D-CA63-602C3DF7AD3F}"/>
              </a:ext>
            </a:extLst>
          </p:cNvPr>
          <p:cNvGrpSpPr>
            <a:grpSpLocks/>
          </p:cNvGrpSpPr>
          <p:nvPr/>
        </p:nvGrpSpPr>
        <p:grpSpPr>
          <a:xfrm>
            <a:off x="6451228" y="4560985"/>
            <a:ext cx="775895" cy="775895"/>
            <a:chOff x="5352361" y="2443203"/>
            <a:chExt cx="1494971" cy="1494971"/>
          </a:xfrm>
        </p:grpSpPr>
        <p:sp>
          <p:nvSpPr>
            <p:cNvPr id="22" name="Oval 21">
              <a:extLst>
                <a:ext uri="{FF2B5EF4-FFF2-40B4-BE49-F238E27FC236}">
                  <a16:creationId xmlns:a16="http://schemas.microsoft.com/office/drawing/2014/main" id="{0CDC0E8F-E4A9-4092-0B87-C6810C50817D}"/>
                </a:ext>
              </a:extLst>
            </p:cNvPr>
            <p:cNvSpPr/>
            <p:nvPr/>
          </p:nvSpPr>
          <p:spPr bwMode="auto">
            <a:xfrm>
              <a:off x="5352361" y="2443203"/>
              <a:ext cx="1494971" cy="1494971"/>
            </a:xfrm>
            <a:prstGeom prst="ellipse">
              <a:avLst/>
            </a:prstGeom>
            <a:solidFill>
              <a:schemeClr val="bg1"/>
            </a:solidFill>
            <a:ln w="38100">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50E6FF"/>
                </a:solidFill>
                <a:effectLst/>
                <a:uLnTx/>
                <a:uFillTx/>
                <a:latin typeface="Segoe UI Semibold"/>
                <a:ea typeface="Segoe UI" pitchFamily="34" charset="0"/>
                <a:cs typeface="Segoe UI" pitchFamily="34" charset="0"/>
              </a:endParaRPr>
            </a:p>
          </p:txBody>
        </p:sp>
        <p:sp>
          <p:nvSpPr>
            <p:cNvPr id="23" name="Arc 22">
              <a:extLst>
                <a:ext uri="{FF2B5EF4-FFF2-40B4-BE49-F238E27FC236}">
                  <a16:creationId xmlns:a16="http://schemas.microsoft.com/office/drawing/2014/main" id="{A703484C-899E-64AD-18DF-1EFE4CA1F01A}"/>
                </a:ext>
              </a:extLst>
            </p:cNvPr>
            <p:cNvSpPr/>
            <p:nvPr/>
          </p:nvSpPr>
          <p:spPr bwMode="auto">
            <a:xfrm>
              <a:off x="5352361" y="2443203"/>
              <a:ext cx="1494971" cy="1494971"/>
            </a:xfrm>
            <a:prstGeom prst="arc">
              <a:avLst>
                <a:gd name="adj1" fmla="val 16200000"/>
                <a:gd name="adj2" fmla="val 14638261"/>
              </a:avLst>
            </a:prstGeom>
            <a:solidFill>
              <a:schemeClr val="bg1"/>
            </a:solidFill>
            <a:ln w="57150" cap="rnd">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50E6FF"/>
                </a:solidFill>
                <a:effectLst/>
                <a:uLnTx/>
                <a:uFillTx/>
                <a:latin typeface="Segoe UI Semibold"/>
                <a:ea typeface="Segoe UI" pitchFamily="34" charset="0"/>
                <a:cs typeface="Segoe UI" pitchFamily="34" charset="0"/>
              </a:endParaRPr>
            </a:p>
          </p:txBody>
        </p:sp>
        <p:sp>
          <p:nvSpPr>
            <p:cNvPr id="24" name="TextBox 4">
              <a:extLst>
                <a:ext uri="{FF2B5EF4-FFF2-40B4-BE49-F238E27FC236}">
                  <a16:creationId xmlns:a16="http://schemas.microsoft.com/office/drawing/2014/main" id="{CD41866D-AF2D-7187-7018-82BB0926D878}"/>
                </a:ext>
              </a:extLst>
            </p:cNvPr>
            <p:cNvSpPr txBox="1"/>
            <p:nvPr/>
          </p:nvSpPr>
          <p:spPr>
            <a:xfrm>
              <a:off x="5571693" y="2775578"/>
              <a:ext cx="1056309" cy="830220"/>
            </a:xfrm>
            <a:prstGeom prst="rect">
              <a:avLst/>
            </a:prstGeom>
            <a:noFill/>
          </p:spPr>
          <p:txBody>
            <a:bodyPr wrap="non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a:solidFill>
                    <a:srgbClr val="50E6FF"/>
                  </a:solidFill>
                  <a:latin typeface="Segoe UI Semibold"/>
                </a:rPr>
                <a:t>8</a:t>
              </a:r>
              <a:r>
                <a:rPr kumimoji="0" lang="en-US" sz="2800" b="0" i="0" u="none" strike="noStrike" kern="1200" cap="none" spc="0" normalizeH="0" baseline="0" noProof="0">
                  <a:ln>
                    <a:noFill/>
                  </a:ln>
                  <a:solidFill>
                    <a:srgbClr val="50E6FF"/>
                  </a:solidFill>
                  <a:effectLst/>
                  <a:uLnTx/>
                  <a:uFillTx/>
                  <a:latin typeface="Segoe UI Semibold"/>
                  <a:ea typeface="+mn-ea"/>
                  <a:cs typeface="+mn-cs"/>
                </a:rPr>
                <a:t>5</a:t>
              </a:r>
              <a:r>
                <a:rPr kumimoji="0" lang="en-US" sz="1400" b="0" i="0" u="none" strike="noStrike" kern="1200" cap="none" spc="0" normalizeH="0" baseline="0" noProof="0">
                  <a:ln>
                    <a:noFill/>
                  </a:ln>
                  <a:solidFill>
                    <a:srgbClr val="50E6FF"/>
                  </a:solidFill>
                  <a:effectLst/>
                  <a:uLnTx/>
                  <a:uFillTx/>
                  <a:latin typeface="Segoe UI Semibold"/>
                  <a:ea typeface="+mn-ea"/>
                  <a:cs typeface="+mn-cs"/>
                </a:rPr>
                <a:t>%</a:t>
              </a:r>
              <a:endParaRPr kumimoji="0" lang="en-US" sz="1200" b="0" i="0" u="none" strike="noStrike" kern="1200" cap="none" spc="0" normalizeH="0" baseline="0" noProof="0">
                <a:ln>
                  <a:noFill/>
                </a:ln>
                <a:solidFill>
                  <a:srgbClr val="50E6FF"/>
                </a:solidFill>
                <a:effectLst/>
                <a:uLnTx/>
                <a:uFillTx/>
                <a:latin typeface="Segoe UI Semibold"/>
                <a:ea typeface="+mn-ea"/>
                <a:cs typeface="+mn-cs"/>
              </a:endParaRPr>
            </a:p>
          </p:txBody>
        </p:sp>
      </p:grpSp>
      <p:sp>
        <p:nvSpPr>
          <p:cNvPr id="21" name="TextBox 5">
            <a:extLst>
              <a:ext uri="{FF2B5EF4-FFF2-40B4-BE49-F238E27FC236}">
                <a16:creationId xmlns:a16="http://schemas.microsoft.com/office/drawing/2014/main" id="{87417D62-570A-7DA5-117B-D47793882DF1}"/>
              </a:ext>
            </a:extLst>
          </p:cNvPr>
          <p:cNvSpPr txBox="1">
            <a:spLocks/>
          </p:cNvSpPr>
          <p:nvPr/>
        </p:nvSpPr>
        <p:spPr>
          <a:xfrm>
            <a:off x="7544576" y="4579600"/>
            <a:ext cx="4089786" cy="738664"/>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ea typeface="+mn-ea"/>
                <a:cs typeface="Segoe UI Semibold" panose="020B0702040204020203" pitchFamily="34" charset="0"/>
              </a:rPr>
              <a:t>of organizations will embrace a cloud-first approach by 2025</a:t>
            </a:r>
            <a:r>
              <a:rPr lang="en-US" sz="1200" baseline="60000" dirty="0">
                <a:solidFill>
                  <a:srgbClr val="FFFFFF"/>
                </a:solidFill>
                <a:cs typeface="Segoe UI Semibold" panose="020B0702040204020203" pitchFamily="34" charset="0"/>
              </a:rPr>
              <a:t>3</a:t>
            </a:r>
            <a:r>
              <a:rPr kumimoji="0" lang="en-US" sz="1600" b="0" i="1" u="none" strike="noStrike" kern="1200" cap="none" spc="0" normalizeH="0" baseline="50000" noProof="0" dirty="0">
                <a:ln>
                  <a:noFill/>
                </a:ln>
                <a:solidFill>
                  <a:srgbClr val="FFFFFF"/>
                </a:solidFill>
                <a:effectLst/>
                <a:uLnTx/>
                <a:uFillTx/>
                <a:ea typeface="+mn-ea"/>
                <a:cs typeface="Segoe UI Semibold" panose="020B0702040204020203" pitchFamily="34" charset="0"/>
              </a:rPr>
              <a:t> </a:t>
            </a:r>
            <a:r>
              <a:rPr kumimoji="0" lang="en-US" sz="1600" b="0" i="0" u="none" strike="noStrike" kern="1200" cap="none" spc="0" normalizeH="0" baseline="0" noProof="0" dirty="0">
                <a:ln>
                  <a:noFill/>
                </a:ln>
                <a:solidFill>
                  <a:srgbClr val="50E6FF"/>
                </a:solidFill>
                <a:effectLst/>
                <a:uLnTx/>
                <a:uFillTx/>
                <a:ea typeface="+mn-ea"/>
                <a:cs typeface="Segoe UI Semibold" panose="020B0702040204020203" pitchFamily="34" charset="0"/>
              </a:rPr>
              <a:t>but how do we make</a:t>
            </a:r>
            <a:r>
              <a:rPr lang="en-US" sz="1600" dirty="0">
                <a:solidFill>
                  <a:srgbClr val="50E6FF"/>
                </a:solidFill>
                <a:cs typeface="Segoe UI Semibold" panose="020B0702040204020203" pitchFamily="34" charset="0"/>
              </a:rPr>
              <a:t> the right investments for the future</a:t>
            </a:r>
            <a:r>
              <a:rPr kumimoji="0" lang="en-US" sz="1600" b="0" i="0" u="none" strike="noStrike" kern="1200" cap="none" spc="0" normalizeH="0" baseline="0" noProof="0" dirty="0">
                <a:ln>
                  <a:noFill/>
                </a:ln>
                <a:solidFill>
                  <a:srgbClr val="50E6FF"/>
                </a:solidFill>
                <a:effectLst/>
                <a:uLnTx/>
                <a:uFillTx/>
                <a:ea typeface="+mn-ea"/>
                <a:cs typeface="Segoe UI Semibold" panose="020B0702040204020203" pitchFamily="34" charset="0"/>
              </a:rPr>
              <a:t>?</a:t>
            </a:r>
            <a:endParaRPr kumimoji="0" lang="en-US" sz="1600" b="0" i="1" u="none" strike="noStrike" kern="1200" cap="none" spc="0" normalizeH="0" baseline="50000" noProof="0" dirty="0">
              <a:ln>
                <a:noFill/>
              </a:ln>
              <a:solidFill>
                <a:srgbClr val="50E6FF"/>
              </a:solidFill>
              <a:effectLst/>
              <a:uLnTx/>
              <a:uFillTx/>
              <a:ea typeface="+mn-ea"/>
              <a:cs typeface="Segoe UI Semibold" panose="020B0702040204020203" pitchFamily="34" charset="0"/>
            </a:endParaRPr>
          </a:p>
        </p:txBody>
      </p:sp>
      <p:grpSp>
        <p:nvGrpSpPr>
          <p:cNvPr id="25" name="Group 24" descr="74%">
            <a:extLst>
              <a:ext uri="{FF2B5EF4-FFF2-40B4-BE49-F238E27FC236}">
                <a16:creationId xmlns:a16="http://schemas.microsoft.com/office/drawing/2014/main" id="{85E76CB4-1F9A-FD5A-3F8A-CE244130225D}"/>
              </a:ext>
            </a:extLst>
          </p:cNvPr>
          <p:cNvGrpSpPr>
            <a:grpSpLocks/>
          </p:cNvGrpSpPr>
          <p:nvPr/>
        </p:nvGrpSpPr>
        <p:grpSpPr>
          <a:xfrm>
            <a:off x="6451228" y="2938940"/>
            <a:ext cx="775895" cy="775895"/>
            <a:chOff x="5352361" y="2443203"/>
            <a:chExt cx="1494971" cy="1494971"/>
          </a:xfrm>
        </p:grpSpPr>
        <p:sp>
          <p:nvSpPr>
            <p:cNvPr id="27" name="Oval 26">
              <a:extLst>
                <a:ext uri="{FF2B5EF4-FFF2-40B4-BE49-F238E27FC236}">
                  <a16:creationId xmlns:a16="http://schemas.microsoft.com/office/drawing/2014/main" id="{63CC07B8-91FE-1FAE-81F2-4FD51122EB40}"/>
                </a:ext>
              </a:extLst>
            </p:cNvPr>
            <p:cNvSpPr/>
            <p:nvPr/>
          </p:nvSpPr>
          <p:spPr bwMode="auto">
            <a:xfrm>
              <a:off x="5352361" y="2443203"/>
              <a:ext cx="1494971" cy="1494971"/>
            </a:xfrm>
            <a:prstGeom prst="ellipse">
              <a:avLst/>
            </a:prstGeom>
            <a:solidFill>
              <a:schemeClr val="bg1"/>
            </a:solidFill>
            <a:ln w="38100">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50E6FF"/>
                </a:solidFill>
                <a:effectLst/>
                <a:uLnTx/>
                <a:uFillTx/>
                <a:latin typeface="Segoe UI Semibold"/>
                <a:ea typeface="Segoe UI" pitchFamily="34" charset="0"/>
                <a:cs typeface="Segoe UI" pitchFamily="34" charset="0"/>
              </a:endParaRPr>
            </a:p>
          </p:txBody>
        </p:sp>
        <p:sp>
          <p:nvSpPr>
            <p:cNvPr id="28" name="Arc 27">
              <a:extLst>
                <a:ext uri="{FF2B5EF4-FFF2-40B4-BE49-F238E27FC236}">
                  <a16:creationId xmlns:a16="http://schemas.microsoft.com/office/drawing/2014/main" id="{FBDEBA61-2303-4B77-E256-60F79642634B}"/>
                </a:ext>
              </a:extLst>
            </p:cNvPr>
            <p:cNvSpPr/>
            <p:nvPr/>
          </p:nvSpPr>
          <p:spPr bwMode="auto">
            <a:xfrm>
              <a:off x="5352361" y="2443203"/>
              <a:ext cx="1494971" cy="1494971"/>
            </a:xfrm>
            <a:prstGeom prst="arc">
              <a:avLst>
                <a:gd name="adj1" fmla="val 16200000"/>
                <a:gd name="adj2" fmla="val 10504378"/>
              </a:avLst>
            </a:prstGeom>
            <a:solidFill>
              <a:schemeClr val="bg1"/>
            </a:solidFill>
            <a:ln w="57150" cap="rnd">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50E6FF"/>
                </a:solidFill>
                <a:effectLst/>
                <a:uLnTx/>
                <a:uFillTx/>
                <a:latin typeface="Segoe UI Semibold"/>
                <a:ea typeface="Segoe UI" pitchFamily="34" charset="0"/>
                <a:cs typeface="Segoe UI" pitchFamily="34" charset="0"/>
              </a:endParaRPr>
            </a:p>
          </p:txBody>
        </p:sp>
        <p:sp>
          <p:nvSpPr>
            <p:cNvPr id="29" name="TextBox 4">
              <a:extLst>
                <a:ext uri="{FF2B5EF4-FFF2-40B4-BE49-F238E27FC236}">
                  <a16:creationId xmlns:a16="http://schemas.microsoft.com/office/drawing/2014/main" id="{D430165C-D230-F21D-85E9-94CAFE7FECC9}"/>
                </a:ext>
              </a:extLst>
            </p:cNvPr>
            <p:cNvSpPr txBox="1"/>
            <p:nvPr/>
          </p:nvSpPr>
          <p:spPr>
            <a:xfrm>
              <a:off x="5570148" y="2775578"/>
              <a:ext cx="1059398" cy="830220"/>
            </a:xfrm>
            <a:prstGeom prst="rect">
              <a:avLst/>
            </a:prstGeom>
            <a:noFill/>
          </p:spPr>
          <p:txBody>
            <a:bodyPr wrap="non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a:solidFill>
                    <a:srgbClr val="50E6FF"/>
                  </a:solidFill>
                  <a:latin typeface="Segoe UI Semibold"/>
                </a:rPr>
                <a:t>74</a:t>
              </a:r>
              <a:r>
                <a:rPr kumimoji="0" lang="en-US" sz="1400" b="0" i="0" u="none" strike="noStrike" kern="1200" cap="none" spc="0" normalizeH="0" baseline="0" noProof="0">
                  <a:ln>
                    <a:noFill/>
                  </a:ln>
                  <a:solidFill>
                    <a:srgbClr val="50E6FF"/>
                  </a:solidFill>
                  <a:effectLst/>
                  <a:uLnTx/>
                  <a:uFillTx/>
                  <a:latin typeface="Segoe UI Semibold"/>
                  <a:ea typeface="+mn-ea"/>
                  <a:cs typeface="+mn-cs"/>
                </a:rPr>
                <a:t>%</a:t>
              </a:r>
              <a:endParaRPr kumimoji="0" lang="en-US" sz="1200" b="0" i="0" u="none" strike="noStrike" kern="1200" cap="none" spc="0" normalizeH="0" baseline="0" noProof="0">
                <a:ln>
                  <a:noFill/>
                </a:ln>
                <a:solidFill>
                  <a:srgbClr val="50E6FF"/>
                </a:solidFill>
                <a:effectLst/>
                <a:uLnTx/>
                <a:uFillTx/>
                <a:latin typeface="Segoe UI Semibold"/>
                <a:ea typeface="+mn-ea"/>
                <a:cs typeface="+mn-cs"/>
              </a:endParaRPr>
            </a:p>
          </p:txBody>
        </p:sp>
      </p:grpSp>
      <p:sp>
        <p:nvSpPr>
          <p:cNvPr id="26" name="TextBox 5">
            <a:extLst>
              <a:ext uri="{FF2B5EF4-FFF2-40B4-BE49-F238E27FC236}">
                <a16:creationId xmlns:a16="http://schemas.microsoft.com/office/drawing/2014/main" id="{F8053E32-9320-2A69-CD51-11D58C413223}"/>
              </a:ext>
            </a:extLst>
          </p:cNvPr>
          <p:cNvSpPr txBox="1">
            <a:spLocks/>
          </p:cNvSpPr>
          <p:nvPr/>
        </p:nvSpPr>
        <p:spPr>
          <a:xfrm>
            <a:off x="7544576" y="2957555"/>
            <a:ext cx="3784668" cy="738664"/>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ea typeface="+mn-ea"/>
                <a:cs typeface="+mn-cs"/>
              </a:rPr>
              <a:t>of migrated workloads have plans to be modernized</a:t>
            </a:r>
            <a:r>
              <a:rPr lang="en-US" sz="1200" baseline="60000" dirty="0">
                <a:solidFill>
                  <a:srgbClr val="FFFFFF"/>
                </a:solidFill>
                <a:cs typeface="Segoe UI Semibold" panose="020B0702040204020203" pitchFamily="34" charset="0"/>
              </a:rPr>
              <a:t>2</a:t>
            </a:r>
            <a:r>
              <a:rPr kumimoji="0" lang="en-US" sz="1600" b="0" i="1" u="none" strike="noStrike" kern="1200" cap="none" spc="0" normalizeH="0" baseline="50000" noProof="0" dirty="0">
                <a:ln>
                  <a:noFill/>
                </a:ln>
                <a:solidFill>
                  <a:srgbClr val="FFFFFF"/>
                </a:solidFill>
                <a:effectLst/>
                <a:uLnTx/>
                <a:uFillTx/>
                <a:ea typeface="+mn-ea"/>
                <a:cs typeface="Segoe UI Semibold" panose="020B0702040204020203" pitchFamily="34" charset="0"/>
              </a:rPr>
              <a:t> </a:t>
            </a:r>
            <a:r>
              <a:rPr kumimoji="0" lang="en-US" sz="1600" b="0" i="0" u="none" strike="noStrike" kern="1200" cap="none" spc="0" normalizeH="0" baseline="0" noProof="0" dirty="0">
                <a:ln>
                  <a:noFill/>
                </a:ln>
                <a:solidFill>
                  <a:srgbClr val="50E6FF"/>
                </a:solidFill>
                <a:effectLst/>
                <a:uLnTx/>
                <a:uFillTx/>
                <a:ea typeface="+mn-ea"/>
                <a:cs typeface="+mn-cs"/>
              </a:rPr>
              <a:t>but how can we optimize </a:t>
            </a:r>
            <a:r>
              <a:rPr lang="en-US" sz="1600" dirty="0">
                <a:solidFill>
                  <a:srgbClr val="50E6FF"/>
                </a:solidFill>
              </a:rPr>
              <a:t>and</a:t>
            </a:r>
            <a:r>
              <a:rPr kumimoji="0" lang="en-US" sz="1600" b="0" i="0" u="none" strike="noStrike" kern="1200" cap="none" spc="0" normalizeH="0" baseline="0" noProof="0" dirty="0">
                <a:ln>
                  <a:noFill/>
                </a:ln>
                <a:solidFill>
                  <a:srgbClr val="50E6FF"/>
                </a:solidFill>
                <a:effectLst/>
                <a:uLnTx/>
                <a:uFillTx/>
                <a:ea typeface="+mn-ea"/>
                <a:cs typeface="+mn-cs"/>
              </a:rPr>
              <a:t> prevent overspending? </a:t>
            </a:r>
            <a:endParaRPr kumimoji="0" lang="en-US" sz="1600" b="0" i="1" u="none" strike="noStrike" kern="1200" cap="none" spc="0" normalizeH="0" baseline="30000" noProof="0" dirty="0">
              <a:ln>
                <a:noFill/>
              </a:ln>
              <a:solidFill>
                <a:srgbClr val="50E6FF"/>
              </a:solidFill>
              <a:effectLst/>
              <a:uLnTx/>
              <a:uFillTx/>
              <a:ea typeface="+mn-ea"/>
              <a:cs typeface="Segoe UI Semibold" panose="020B0702040204020203" pitchFamily="34" charset="0"/>
            </a:endParaRPr>
          </a:p>
        </p:txBody>
      </p:sp>
      <p:sp>
        <p:nvSpPr>
          <p:cNvPr id="30" name="TextBox 1">
            <a:extLst>
              <a:ext uri="{FF2B5EF4-FFF2-40B4-BE49-F238E27FC236}">
                <a16:creationId xmlns:a16="http://schemas.microsoft.com/office/drawing/2014/main" id="{3D45229C-774C-86E9-7639-8E6623864838}"/>
              </a:ext>
            </a:extLst>
          </p:cNvPr>
          <p:cNvSpPr txBox="1"/>
          <p:nvPr/>
        </p:nvSpPr>
        <p:spPr>
          <a:xfrm>
            <a:off x="5995028" y="6406180"/>
            <a:ext cx="6664779" cy="369332"/>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4625" marR="0" lvl="0" indent="-174625" algn="l" defTabSz="914400" rtl="0" eaLnBrk="1" fontAlgn="auto" latinLnBrk="0" hangingPunct="1">
              <a:lnSpc>
                <a:spcPct val="100000"/>
              </a:lnSpc>
              <a:spcBef>
                <a:spcPts val="0"/>
              </a:spcBef>
              <a:spcAft>
                <a:spcPts val="0"/>
              </a:spcAft>
              <a:buClrTx/>
              <a:buSzTx/>
              <a:buFontTx/>
              <a:buAutoNum type="arabicPeriod"/>
              <a:tabLst/>
              <a:defRPr/>
            </a:pPr>
            <a:r>
              <a:rPr kumimoji="0" lang="en-US" sz="800" b="0" i="0" u="none" strike="noStrike" kern="1200" cap="none" spc="0" normalizeH="0" baseline="0" noProof="0" dirty="0">
                <a:ln>
                  <a:noFill/>
                </a:ln>
                <a:solidFill>
                  <a:srgbClr val="737373"/>
                </a:solidFill>
                <a:effectLst/>
                <a:uLnTx/>
                <a:uFillTx/>
                <a:latin typeface="Segoe UI"/>
                <a:ea typeface="+mn-ea"/>
                <a:cs typeface="+mn-cs"/>
              </a:rPr>
              <a:t>The transformation imperative: Digital drivers in Covid-19 pandemic, </a:t>
            </a:r>
            <a:r>
              <a:rPr kumimoji="0" lang="en-US" sz="800" b="0" i="1" u="none" strike="noStrike" kern="1200" cap="none" spc="0" normalizeH="0" baseline="0" noProof="0" dirty="0">
                <a:ln>
                  <a:noFill/>
                </a:ln>
                <a:solidFill>
                  <a:srgbClr val="737373"/>
                </a:solidFill>
                <a:effectLst/>
                <a:uLnTx/>
                <a:uFillTx/>
                <a:latin typeface="Segoe UI"/>
                <a:ea typeface="+mn-ea"/>
                <a:cs typeface="+mn-cs"/>
              </a:rPr>
              <a:t>The Economist Intelligence Unit, sponsored by Microsoft, </a:t>
            </a:r>
            <a:r>
              <a:rPr kumimoji="0" lang="en-US" sz="800" b="0" i="0" u="none" strike="noStrike" kern="1200" cap="none" spc="0" normalizeH="0" baseline="0" noProof="0" dirty="0">
                <a:ln>
                  <a:noFill/>
                </a:ln>
                <a:solidFill>
                  <a:srgbClr val="737373"/>
                </a:solidFill>
                <a:effectLst/>
                <a:uLnTx/>
                <a:uFillTx/>
                <a:latin typeface="Segoe UI"/>
                <a:ea typeface="+mn-ea"/>
                <a:cs typeface="+mn-cs"/>
              </a:rPr>
              <a:t>2021</a:t>
            </a:r>
          </a:p>
          <a:p>
            <a:pPr marL="174625" marR="0" lvl="0" indent="-174625" algn="l" defTabSz="914400" rtl="0" eaLnBrk="1" fontAlgn="auto" latinLnBrk="0" hangingPunct="1">
              <a:lnSpc>
                <a:spcPct val="100000"/>
              </a:lnSpc>
              <a:spcBef>
                <a:spcPts val="0"/>
              </a:spcBef>
              <a:spcAft>
                <a:spcPts val="0"/>
              </a:spcAft>
              <a:buClrTx/>
              <a:buSzTx/>
              <a:buFontTx/>
              <a:buAutoNum type="arabicPeriod"/>
              <a:tabLst/>
              <a:defRPr/>
            </a:pPr>
            <a:r>
              <a:rPr kumimoji="0" lang="en-US" sz="800" b="0" i="0" u="none" strike="noStrike" kern="1200" cap="none" spc="0" normalizeH="0" baseline="0" noProof="0" dirty="0">
                <a:ln>
                  <a:noFill/>
                </a:ln>
                <a:solidFill>
                  <a:srgbClr val="737373"/>
                </a:solidFill>
                <a:effectLst/>
                <a:uLnTx/>
                <a:uFillTx/>
                <a:latin typeface="Segoe UI"/>
                <a:ea typeface="+mn-ea"/>
                <a:cs typeface="+mn-cs"/>
              </a:rPr>
              <a:t>Global migration and modernization perception study commissioned by Microsoft</a:t>
            </a:r>
          </a:p>
          <a:p>
            <a:pPr marL="174625" indent="-174625">
              <a:buFontTx/>
              <a:buAutoNum type="arabicPeriod"/>
              <a:defRPr/>
            </a:pPr>
            <a:r>
              <a:rPr kumimoji="0" lang="en-US" sz="800" b="0" i="0" u="none" strike="noStrike" kern="1200" cap="none" spc="0" normalizeH="0" baseline="0" noProof="0" dirty="0">
                <a:ln>
                  <a:noFill/>
                </a:ln>
                <a:solidFill>
                  <a:srgbClr val="737373"/>
                </a:solidFill>
                <a:effectLst/>
                <a:uLnTx/>
                <a:uFillTx/>
                <a:latin typeface="Segoe UI"/>
                <a:ea typeface="+mn-ea"/>
                <a:cs typeface="+mn-cs"/>
              </a:rPr>
              <a:t>Top strategic technology trends for 2022: 12 trends shaping the future of digital business, </a:t>
            </a:r>
            <a:r>
              <a:rPr kumimoji="0" lang="en-US" sz="800" b="0" i="1" u="none" strike="noStrike" kern="1200" cap="none" spc="0" normalizeH="0" baseline="0" noProof="0" dirty="0">
                <a:ln>
                  <a:noFill/>
                </a:ln>
                <a:solidFill>
                  <a:srgbClr val="737373"/>
                </a:solidFill>
                <a:effectLst/>
                <a:uLnTx/>
                <a:uFillTx/>
                <a:latin typeface="Segoe UI"/>
                <a:ea typeface="+mn-ea"/>
                <a:cs typeface="+mn-cs"/>
              </a:rPr>
              <a:t>Gartner, </a:t>
            </a:r>
            <a:r>
              <a:rPr kumimoji="0" lang="en-US" sz="800" b="0" i="0" u="none" strike="noStrike" kern="1200" cap="none" spc="0" normalizeH="0" baseline="0" noProof="0" dirty="0">
                <a:ln>
                  <a:noFill/>
                </a:ln>
                <a:solidFill>
                  <a:srgbClr val="737373"/>
                </a:solidFill>
                <a:effectLst/>
                <a:uLnTx/>
                <a:uFillTx/>
                <a:latin typeface="Segoe UI"/>
                <a:ea typeface="+mn-ea"/>
                <a:cs typeface="+mn-cs"/>
              </a:rPr>
              <a:t>2022</a:t>
            </a:r>
          </a:p>
        </p:txBody>
      </p:sp>
      <p:sp>
        <p:nvSpPr>
          <p:cNvPr id="4" name="Title 3">
            <a:extLst>
              <a:ext uri="{FF2B5EF4-FFF2-40B4-BE49-F238E27FC236}">
                <a16:creationId xmlns:a16="http://schemas.microsoft.com/office/drawing/2014/main" id="{8819FBBF-A010-2D2C-EE5E-963E2E0BBE20}"/>
              </a:ext>
            </a:extLst>
          </p:cNvPr>
          <p:cNvSpPr>
            <a:spLocks noGrp="1"/>
          </p:cNvSpPr>
          <p:nvPr>
            <p:ph type="title"/>
          </p:nvPr>
        </p:nvSpPr>
        <p:spPr>
          <a:xfrm>
            <a:off x="1347469" y="2935941"/>
            <a:ext cx="4218826" cy="984885"/>
          </a:xfrm>
        </p:spPr>
        <p:txBody>
          <a:bodyPr/>
          <a:lstStyle/>
          <a:p>
            <a:r>
              <a:rPr lang="en-US"/>
              <a:t>Navigate uncertainty </a:t>
            </a:r>
            <a:br>
              <a:rPr lang="en-US"/>
            </a:br>
            <a:r>
              <a:rPr lang="en-US"/>
              <a:t>and accelerate growth </a:t>
            </a:r>
            <a:endParaRPr lang="en-US">
              <a:solidFill>
                <a:schemeClr val="accent1"/>
              </a:solidFill>
            </a:endParaRPr>
          </a:p>
        </p:txBody>
      </p:sp>
    </p:spTree>
    <p:extLst>
      <p:ext uri="{BB962C8B-B14F-4D97-AF65-F5344CB8AC3E}">
        <p14:creationId xmlns:p14="http://schemas.microsoft.com/office/powerpoint/2010/main" val="2610138352"/>
      </p:ext>
    </p:extLst>
  </p:cSld>
  <p:clrMapOvr>
    <a:masterClrMapping/>
  </p:clrMapOvr>
  <p:transition spd="slow">
    <p:push/>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6DB7571E-CD89-24E0-601A-82BB721CBEE7}"/>
              </a:ext>
              <a:ext uri="{C183D7F6-B498-43B3-948B-1728B52AA6E4}">
                <adec:decorative xmlns:adec="http://schemas.microsoft.com/office/drawing/2017/decorative" val="1"/>
              </a:ext>
            </a:extLst>
          </p:cNvPr>
          <p:cNvGrpSpPr/>
          <p:nvPr/>
        </p:nvGrpSpPr>
        <p:grpSpPr>
          <a:xfrm>
            <a:off x="5217681" y="2692536"/>
            <a:ext cx="5779833" cy="1465802"/>
            <a:chOff x="5217681" y="2692536"/>
            <a:chExt cx="5779833" cy="1465802"/>
          </a:xfrm>
        </p:grpSpPr>
        <p:grpSp>
          <p:nvGrpSpPr>
            <p:cNvPr id="19" name="Group 18">
              <a:extLst>
                <a:ext uri="{FF2B5EF4-FFF2-40B4-BE49-F238E27FC236}">
                  <a16:creationId xmlns:a16="http://schemas.microsoft.com/office/drawing/2014/main" id="{4EF9FA44-587A-5BE7-925A-B7ED206D0B8A}"/>
                </a:ext>
              </a:extLst>
            </p:cNvPr>
            <p:cNvGrpSpPr/>
            <p:nvPr/>
          </p:nvGrpSpPr>
          <p:grpSpPr>
            <a:xfrm rot="5400000">
              <a:off x="7374697" y="535520"/>
              <a:ext cx="1465802" cy="5779833"/>
              <a:chOff x="669929" y="2279714"/>
              <a:chExt cx="3507545" cy="2581788"/>
            </a:xfrm>
          </p:grpSpPr>
          <p:sp>
            <p:nvSpPr>
              <p:cNvPr id="20" name="Rectangle: Rounded Corners 15">
                <a:extLst>
                  <a:ext uri="{FF2B5EF4-FFF2-40B4-BE49-F238E27FC236}">
                    <a16:creationId xmlns:a16="http://schemas.microsoft.com/office/drawing/2014/main" id="{E696C83F-EE08-B3A7-CCB9-89D35EBCA700}"/>
                  </a:ext>
                </a:extLst>
              </p:cNvPr>
              <p:cNvSpPr/>
              <p:nvPr/>
            </p:nvSpPr>
            <p:spPr bwMode="auto">
              <a:xfrm>
                <a:off x="669929" y="2279714"/>
                <a:ext cx="3507545" cy="1211370"/>
              </a:xfrm>
              <a:prstGeom prst="roundRect">
                <a:avLst>
                  <a:gd name="adj" fmla="val 11494"/>
                </a:avLst>
              </a:prstGeom>
              <a:gradFill>
                <a:gsLst>
                  <a:gs pos="0">
                    <a:schemeClr val="accent2">
                      <a:alpha val="64000"/>
                    </a:schemeClr>
                  </a:gs>
                  <a:gs pos="47000">
                    <a:schemeClr val="bg1"/>
                  </a:gs>
                </a:gsLst>
                <a:lin ang="4200000" scaled="0"/>
              </a:gradFill>
              <a:ln w="12700" cap="flat" cmpd="sng" algn="ctr">
                <a:noFill/>
                <a:prstDash val="solid"/>
                <a:headEnd type="none" w="med" len="med"/>
                <a:tailEnd type="none" w="med" len="med"/>
              </a:ln>
              <a:effectLst/>
            </p:spPr>
            <p:txBody>
              <a:bodyPr rot="0" spcFirstLastPara="0" vertOverflow="overflow" horzOverflow="overflow" vert="horz" wrap="square" lIns="72000" tIns="180000" rIns="72000" bIns="14400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err="1">
                  <a:ln>
                    <a:noFill/>
                  </a:ln>
                  <a:gradFill flip="none" rotWithShape="1">
                    <a:gsLst>
                      <a:gs pos="0">
                        <a:srgbClr val="50E6FF"/>
                      </a:gs>
                      <a:gs pos="100000">
                        <a:srgbClr val="D59DFF"/>
                      </a:gs>
                    </a:gsLst>
                    <a:lin ang="2700000" scaled="1"/>
                    <a:tileRect/>
                  </a:gradFill>
                  <a:effectLst/>
                  <a:uLnTx/>
                  <a:uFillTx/>
                  <a:latin typeface="Segoe UI Semibold"/>
                  <a:ea typeface="+mn-ea"/>
                  <a:cs typeface="+mn-cs"/>
                </a:endParaRPr>
              </a:p>
            </p:txBody>
          </p:sp>
          <p:sp>
            <p:nvSpPr>
              <p:cNvPr id="21" name="Round Same Side Corner Rectangle 20">
                <a:extLst>
                  <a:ext uri="{FF2B5EF4-FFF2-40B4-BE49-F238E27FC236}">
                    <a16:creationId xmlns:a16="http://schemas.microsoft.com/office/drawing/2014/main" id="{E075F39E-D235-0B2B-07E6-2D2F3BE4DD24}"/>
                  </a:ext>
                </a:extLst>
              </p:cNvPr>
              <p:cNvSpPr/>
              <p:nvPr/>
            </p:nvSpPr>
            <p:spPr bwMode="auto">
              <a:xfrm>
                <a:off x="677494" y="2279714"/>
                <a:ext cx="3438646" cy="2581788"/>
              </a:xfrm>
              <a:prstGeom prst="round2SameRect">
                <a:avLst>
                  <a:gd name="adj1" fmla="val 9880"/>
                  <a:gd name="adj2" fmla="val 0"/>
                </a:avLst>
              </a:prstGeom>
              <a:ln>
                <a:gradFill>
                  <a:gsLst>
                    <a:gs pos="0">
                      <a:schemeClr val="accent1">
                        <a:alpha val="0"/>
                      </a:schemeClr>
                    </a:gs>
                    <a:gs pos="100000">
                      <a:schemeClr val="accent1"/>
                    </a:gs>
                  </a:gsLst>
                  <a:lin ang="162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grpSp>
        <p:pic>
          <p:nvPicPr>
            <p:cNvPr id="15" name="Picture 14" descr="Icon&#10;&#10;Description automatically generated">
              <a:extLst>
                <a:ext uri="{FF2B5EF4-FFF2-40B4-BE49-F238E27FC236}">
                  <a16:creationId xmlns:a16="http://schemas.microsoft.com/office/drawing/2014/main" id="{13AC93D8-596A-BF8C-32A5-C25E615B45F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01969" y="2867079"/>
              <a:ext cx="1545126" cy="1123841"/>
            </a:xfrm>
            <a:prstGeom prst="rect">
              <a:avLst/>
            </a:prstGeom>
          </p:spPr>
        </p:pic>
      </p:grpSp>
      <p:grpSp>
        <p:nvGrpSpPr>
          <p:cNvPr id="9" name="Group 8">
            <a:extLst>
              <a:ext uri="{FF2B5EF4-FFF2-40B4-BE49-F238E27FC236}">
                <a16:creationId xmlns:a16="http://schemas.microsoft.com/office/drawing/2014/main" id="{1CFC00F7-229B-B6F8-9CFC-A5AB071A9F0C}"/>
              </a:ext>
              <a:ext uri="{C183D7F6-B498-43B3-948B-1728B52AA6E4}">
                <adec:decorative xmlns:adec="http://schemas.microsoft.com/office/drawing/2017/decorative" val="1"/>
              </a:ext>
            </a:extLst>
          </p:cNvPr>
          <p:cNvGrpSpPr/>
          <p:nvPr/>
        </p:nvGrpSpPr>
        <p:grpSpPr>
          <a:xfrm>
            <a:off x="5217682" y="3209683"/>
            <a:ext cx="5779833" cy="2997161"/>
            <a:chOff x="5217682" y="3209683"/>
            <a:chExt cx="5779833" cy="2997161"/>
          </a:xfrm>
        </p:grpSpPr>
        <p:grpSp>
          <p:nvGrpSpPr>
            <p:cNvPr id="22" name="Group 21">
              <a:extLst>
                <a:ext uri="{FF2B5EF4-FFF2-40B4-BE49-F238E27FC236}">
                  <a16:creationId xmlns:a16="http://schemas.microsoft.com/office/drawing/2014/main" id="{74CEFBE8-F161-0F92-C9F8-375C182F7A61}"/>
                </a:ext>
              </a:extLst>
            </p:cNvPr>
            <p:cNvGrpSpPr/>
            <p:nvPr/>
          </p:nvGrpSpPr>
          <p:grpSpPr>
            <a:xfrm rot="16200000">
              <a:off x="7387513" y="2336624"/>
              <a:ext cx="1440172" cy="5779833"/>
              <a:chOff x="669929" y="2279714"/>
              <a:chExt cx="3446214" cy="2581788"/>
            </a:xfrm>
          </p:grpSpPr>
          <p:sp>
            <p:nvSpPr>
              <p:cNvPr id="23" name="Rectangle: Rounded Corners 15">
                <a:extLst>
                  <a:ext uri="{FF2B5EF4-FFF2-40B4-BE49-F238E27FC236}">
                    <a16:creationId xmlns:a16="http://schemas.microsoft.com/office/drawing/2014/main" id="{FE41A9E6-B45A-DE51-D3B5-9B7CDD53B25F}"/>
                  </a:ext>
                </a:extLst>
              </p:cNvPr>
              <p:cNvSpPr/>
              <p:nvPr/>
            </p:nvSpPr>
            <p:spPr bwMode="auto">
              <a:xfrm>
                <a:off x="669929" y="2279714"/>
                <a:ext cx="3446214" cy="1211370"/>
              </a:xfrm>
              <a:prstGeom prst="roundRect">
                <a:avLst>
                  <a:gd name="adj" fmla="val 11494"/>
                </a:avLst>
              </a:prstGeom>
              <a:gradFill>
                <a:gsLst>
                  <a:gs pos="0">
                    <a:schemeClr val="accent2">
                      <a:alpha val="64000"/>
                    </a:schemeClr>
                  </a:gs>
                  <a:gs pos="47000">
                    <a:schemeClr val="bg1"/>
                  </a:gs>
                </a:gsLst>
                <a:lin ang="4200000" scaled="0"/>
              </a:gradFill>
              <a:ln w="12700" cap="flat" cmpd="sng" algn="ctr">
                <a:noFill/>
                <a:prstDash val="solid"/>
                <a:headEnd type="none" w="med" len="med"/>
                <a:tailEnd type="none" w="med" len="med"/>
              </a:ln>
              <a:effectLst/>
            </p:spPr>
            <p:txBody>
              <a:bodyPr rot="0" spcFirstLastPara="0" vertOverflow="overflow" horzOverflow="overflow" vert="horz" wrap="square" lIns="72000" tIns="180000" rIns="72000" bIns="14400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err="1">
                  <a:ln>
                    <a:noFill/>
                  </a:ln>
                  <a:gradFill flip="none" rotWithShape="1">
                    <a:gsLst>
                      <a:gs pos="0">
                        <a:srgbClr val="50E6FF"/>
                      </a:gs>
                      <a:gs pos="100000">
                        <a:srgbClr val="D59DFF"/>
                      </a:gs>
                    </a:gsLst>
                    <a:lin ang="2700000" scaled="1"/>
                    <a:tileRect/>
                  </a:gradFill>
                  <a:effectLst/>
                  <a:uLnTx/>
                  <a:uFillTx/>
                  <a:latin typeface="Segoe UI Semibold"/>
                  <a:ea typeface="+mn-ea"/>
                  <a:cs typeface="+mn-cs"/>
                </a:endParaRPr>
              </a:p>
            </p:txBody>
          </p:sp>
          <p:sp>
            <p:nvSpPr>
              <p:cNvPr id="24" name="Round Same Side Corner Rectangle 23">
                <a:extLst>
                  <a:ext uri="{FF2B5EF4-FFF2-40B4-BE49-F238E27FC236}">
                    <a16:creationId xmlns:a16="http://schemas.microsoft.com/office/drawing/2014/main" id="{581B573D-606F-40E4-FC0A-16B8C4BA1108}"/>
                  </a:ext>
                </a:extLst>
              </p:cNvPr>
              <p:cNvSpPr/>
              <p:nvPr/>
            </p:nvSpPr>
            <p:spPr bwMode="auto">
              <a:xfrm>
                <a:off x="677494" y="2279714"/>
                <a:ext cx="3438646" cy="2581788"/>
              </a:xfrm>
              <a:prstGeom prst="round2SameRect">
                <a:avLst>
                  <a:gd name="adj1" fmla="val 9880"/>
                  <a:gd name="adj2" fmla="val 0"/>
                </a:avLst>
              </a:prstGeom>
              <a:ln>
                <a:gradFill>
                  <a:gsLst>
                    <a:gs pos="0">
                      <a:schemeClr val="accent1">
                        <a:alpha val="0"/>
                      </a:schemeClr>
                    </a:gs>
                    <a:gs pos="100000">
                      <a:schemeClr val="accent1"/>
                    </a:gs>
                  </a:gsLst>
                  <a:lin ang="162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grpSp>
        <p:pic>
          <p:nvPicPr>
            <p:cNvPr id="14" name="Graphic 13">
              <a:extLst>
                <a:ext uri="{FF2B5EF4-FFF2-40B4-BE49-F238E27FC236}">
                  <a16:creationId xmlns:a16="http://schemas.microsoft.com/office/drawing/2014/main" id="{8F25D797-6A27-355A-AE77-D046DBB29070}"/>
                </a:ext>
                <a:ext uri="{C183D7F6-B498-43B3-948B-1728B52AA6E4}">
                  <adec:decorative xmlns:adec="http://schemas.microsoft.com/office/drawing/2017/decorative" val="1"/>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454893" y="4626846"/>
              <a:ext cx="1839279" cy="1579998"/>
            </a:xfrm>
            <a:prstGeom prst="rect">
              <a:avLst/>
            </a:prstGeom>
          </p:spPr>
        </p:pic>
        <p:pic>
          <p:nvPicPr>
            <p:cNvPr id="28" name="Picture 27">
              <a:extLst>
                <a:ext uri="{FF2B5EF4-FFF2-40B4-BE49-F238E27FC236}">
                  <a16:creationId xmlns:a16="http://schemas.microsoft.com/office/drawing/2014/main" id="{EFC88ECE-C25C-E112-7E6D-E8F50F711894}"/>
                </a:ext>
              </a:extLst>
            </p:cNvPr>
            <p:cNvPicPr>
              <a:picLocks noChangeAspect="1"/>
            </p:cNvPicPr>
            <p:nvPr/>
          </p:nvPicPr>
          <p:blipFill>
            <a:blip r:embed="rId6"/>
            <a:stretch>
              <a:fillRect/>
            </a:stretch>
          </p:blipFill>
          <p:spPr>
            <a:xfrm>
              <a:off x="6922659" y="3209683"/>
              <a:ext cx="317195" cy="317195"/>
            </a:xfrm>
            <a:prstGeom prst="rect">
              <a:avLst/>
            </a:prstGeom>
          </p:spPr>
        </p:pic>
      </p:grpSp>
      <p:sp>
        <p:nvSpPr>
          <p:cNvPr id="2" name="Title 1">
            <a:extLst>
              <a:ext uri="{FF2B5EF4-FFF2-40B4-BE49-F238E27FC236}">
                <a16:creationId xmlns:a16="http://schemas.microsoft.com/office/drawing/2014/main" id="{7EE1AA33-4792-5005-E809-DAB4D0A2006E}"/>
              </a:ext>
            </a:extLst>
          </p:cNvPr>
          <p:cNvSpPr>
            <a:spLocks noGrp="1"/>
          </p:cNvSpPr>
          <p:nvPr>
            <p:ph type="title"/>
          </p:nvPr>
        </p:nvSpPr>
        <p:spPr>
          <a:xfrm>
            <a:off x="1107247" y="2936558"/>
            <a:ext cx="3753337" cy="984885"/>
          </a:xfrm>
        </p:spPr>
        <p:txBody>
          <a:bodyPr anchor="ctr"/>
          <a:lstStyle/>
          <a:p>
            <a:r>
              <a:rPr lang="en-US" sz="3200"/>
              <a:t>Do more with less on </a:t>
            </a:r>
            <a:r>
              <a:rPr lang="en-US" sz="3200">
                <a:solidFill>
                  <a:schemeClr val="accent1"/>
                </a:solidFill>
              </a:rPr>
              <a:t>Azure</a:t>
            </a:r>
          </a:p>
        </p:txBody>
      </p:sp>
      <p:sp>
        <p:nvSpPr>
          <p:cNvPr id="5" name="TextBox 4">
            <a:extLst>
              <a:ext uri="{FF2B5EF4-FFF2-40B4-BE49-F238E27FC236}">
                <a16:creationId xmlns:a16="http://schemas.microsoft.com/office/drawing/2014/main" id="{70097E6C-152D-29F7-43FE-D3C28DE91E5B}"/>
              </a:ext>
            </a:extLst>
          </p:cNvPr>
          <p:cNvSpPr txBox="1"/>
          <p:nvPr/>
        </p:nvSpPr>
        <p:spPr>
          <a:xfrm>
            <a:off x="7792145" y="3259650"/>
            <a:ext cx="2560320" cy="307777"/>
          </a:xfrm>
          <a:prstGeom prst="rect">
            <a:avLst/>
          </a:prstGeom>
          <a:noFill/>
        </p:spPr>
        <p:txBody>
          <a:bodyPr wrap="square" lIns="0" tIns="0" rIns="0" bIns="0" rtlCol="0" anchor="ctr" anchorCtr="0">
            <a:spAutoFit/>
          </a:bodyPr>
          <a:lstStyle>
            <a:defPPr>
              <a:defRPr lang="en-US"/>
            </a:defPPr>
            <a:lvl1pPr marL="285750" marR="0" lvl="0" indent="-285750" fontAlgn="auto">
              <a:lnSpc>
                <a:spcPct val="100000"/>
              </a:lnSpc>
              <a:spcBef>
                <a:spcPts val="0"/>
              </a:spcBef>
              <a:spcAft>
                <a:spcPts val="0"/>
              </a:spcAft>
              <a:buClr>
                <a:srgbClr val="0078D4"/>
              </a:buClr>
              <a:buSzTx/>
              <a:buFont typeface="Arial" panose="020B0604020202020204" pitchFamily="34" charset="0"/>
              <a:buChar char="•"/>
              <a:tabLst/>
              <a:defRPr kumimoji="0" sz="1400" b="0" i="0" u="none" strike="noStrike" cap="none" spc="0" normalizeH="0" baseline="0">
                <a:ln>
                  <a:noFill/>
                </a:ln>
                <a:solidFill>
                  <a:prstClr val="white"/>
                </a:solidFill>
                <a:effectLst/>
                <a:uLnTx/>
                <a:uFillTx/>
                <a:latin typeface="Segoe Pro" panose="020B0502040504020203" pitchFamily="34" charset="0"/>
              </a:defRPr>
            </a:lvl1pPr>
            <a:lvl2pPr lvl="1">
              <a:defRPr>
                <a:solidFill>
                  <a:schemeClr val="bg1"/>
                </a:solidFill>
              </a:defRPr>
            </a:lvl2pPr>
          </a:lstStyle>
          <a:p>
            <a:pPr marL="0" marR="0" lvl="1"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FFFFFF"/>
                </a:solidFill>
                <a:effectLst/>
                <a:uLnTx/>
                <a:uFillTx/>
                <a:latin typeface="+mj-lt"/>
                <a:ea typeface="+mn-ea"/>
                <a:cs typeface="+mn-cs"/>
              </a:rPr>
              <a:t>Optimize</a:t>
            </a:r>
            <a:r>
              <a:rPr kumimoji="0" lang="en-US" sz="2000" b="0" i="0" u="none" strike="noStrike" kern="1200" cap="none" spc="0" normalizeH="0" baseline="0" noProof="0">
                <a:ln>
                  <a:noFill/>
                </a:ln>
                <a:solidFill>
                  <a:srgbClr val="50E6FF"/>
                </a:solidFill>
                <a:effectLst/>
                <a:uLnTx/>
                <a:uFillTx/>
                <a:latin typeface="+mj-lt"/>
                <a:ea typeface="+mn-ea"/>
                <a:cs typeface="+mn-cs"/>
              </a:rPr>
              <a:t> cloud costs</a:t>
            </a:r>
            <a:endParaRPr kumimoji="0" lang="en-US" sz="2000" b="0" i="0" u="none" strike="noStrike" kern="1200" cap="none" spc="0" normalizeH="0" baseline="0" noProof="0">
              <a:ln>
                <a:noFill/>
              </a:ln>
              <a:solidFill>
                <a:srgbClr val="50E6FF"/>
              </a:solidFill>
              <a:effectLst/>
              <a:uLnTx/>
              <a:uFillTx/>
              <a:latin typeface="+mj-lt"/>
              <a:ea typeface="+mn-ea"/>
              <a:cs typeface="Segoe UI Semibold"/>
            </a:endParaRPr>
          </a:p>
        </p:txBody>
      </p:sp>
      <p:sp>
        <p:nvSpPr>
          <p:cNvPr id="6" name="TextBox 5">
            <a:extLst>
              <a:ext uri="{FF2B5EF4-FFF2-40B4-BE49-F238E27FC236}">
                <a16:creationId xmlns:a16="http://schemas.microsoft.com/office/drawing/2014/main" id="{BAF71A8A-1C70-4004-C042-D9EBAC70FA6E}"/>
              </a:ext>
            </a:extLst>
          </p:cNvPr>
          <p:cNvSpPr txBox="1"/>
          <p:nvPr/>
        </p:nvSpPr>
        <p:spPr>
          <a:xfrm>
            <a:off x="7792145" y="5103995"/>
            <a:ext cx="2560320" cy="307777"/>
          </a:xfrm>
          <a:prstGeom prst="rect">
            <a:avLst/>
          </a:prstGeom>
          <a:noFill/>
        </p:spPr>
        <p:txBody>
          <a:bodyPr wrap="square" lIns="0" tIns="0" rIns="0" bIns="0" rtlCol="0" anchor="ctr" anchorCtr="0">
            <a:spAutoFit/>
          </a:bodyPr>
          <a:lstStyle>
            <a:defPPr>
              <a:defRPr lang="en-US"/>
            </a:defPPr>
            <a:lvl1pPr marL="285750" marR="0" lvl="0" indent="-285750" fontAlgn="auto">
              <a:lnSpc>
                <a:spcPct val="100000"/>
              </a:lnSpc>
              <a:spcBef>
                <a:spcPts val="0"/>
              </a:spcBef>
              <a:spcAft>
                <a:spcPts val="0"/>
              </a:spcAft>
              <a:buClr>
                <a:srgbClr val="0078D4"/>
              </a:buClr>
              <a:buSzTx/>
              <a:buFont typeface="Arial" panose="020B0604020202020204" pitchFamily="34" charset="0"/>
              <a:buChar char="•"/>
              <a:tabLst/>
              <a:defRPr kumimoji="0" sz="1400" b="0" i="0" u="none" strike="noStrike" cap="none" spc="0" normalizeH="0" baseline="0">
                <a:ln>
                  <a:noFill/>
                </a:ln>
                <a:solidFill>
                  <a:prstClr val="white"/>
                </a:solidFill>
                <a:effectLst/>
                <a:uLnTx/>
                <a:uFillTx/>
                <a:latin typeface="Segoe Pro" panose="020B0502040504020203" pitchFamily="34" charset="0"/>
              </a:defRPr>
            </a:lvl1pPr>
          </a:lstStyle>
          <a:p>
            <a:pPr marL="0" marR="0" lvl="1"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FFFFFF"/>
                </a:solidFill>
                <a:effectLst/>
                <a:uLnTx/>
                <a:uFillTx/>
                <a:latin typeface="+mj-lt"/>
                <a:ea typeface="+mn-ea"/>
                <a:cs typeface="+mn-cs"/>
              </a:rPr>
              <a:t>Reinvest </a:t>
            </a:r>
            <a:r>
              <a:rPr kumimoji="0" lang="en-US" sz="2000" b="0" i="0" u="none" strike="noStrike" kern="1200" cap="none" spc="0" normalizeH="0" baseline="0" noProof="0">
                <a:ln>
                  <a:noFill/>
                </a:ln>
                <a:solidFill>
                  <a:srgbClr val="50E6FF"/>
                </a:solidFill>
                <a:effectLst/>
                <a:uLnTx/>
                <a:uFillTx/>
                <a:latin typeface="+mj-lt"/>
                <a:ea typeface="+mn-ea"/>
                <a:cs typeface="+mn-cs"/>
              </a:rPr>
              <a:t>to grow</a:t>
            </a:r>
            <a:endParaRPr kumimoji="0" lang="en-US" sz="2000" b="0" i="0" u="none" strike="noStrike" kern="1200" cap="none" spc="0" normalizeH="0" baseline="0" noProof="0">
              <a:ln>
                <a:noFill/>
              </a:ln>
              <a:solidFill>
                <a:srgbClr val="50E6FF"/>
              </a:solidFill>
              <a:effectLst/>
              <a:uLnTx/>
              <a:uFillTx/>
              <a:latin typeface="+mj-lt"/>
              <a:ea typeface="+mn-ea"/>
              <a:cs typeface="Segoe UI Semibold"/>
            </a:endParaRPr>
          </a:p>
        </p:txBody>
      </p:sp>
      <p:grpSp>
        <p:nvGrpSpPr>
          <p:cNvPr id="7" name="Group 6">
            <a:extLst>
              <a:ext uri="{FF2B5EF4-FFF2-40B4-BE49-F238E27FC236}">
                <a16:creationId xmlns:a16="http://schemas.microsoft.com/office/drawing/2014/main" id="{CB11C455-4071-AFFC-82B5-B9B73162911C}"/>
              </a:ext>
              <a:ext uri="{C183D7F6-B498-43B3-948B-1728B52AA6E4}">
                <adec:decorative xmlns:adec="http://schemas.microsoft.com/office/drawing/2017/decorative" val="1"/>
              </a:ext>
            </a:extLst>
          </p:cNvPr>
          <p:cNvGrpSpPr/>
          <p:nvPr/>
        </p:nvGrpSpPr>
        <p:grpSpPr>
          <a:xfrm>
            <a:off x="5217681" y="526875"/>
            <a:ext cx="5779833" cy="1843174"/>
            <a:chOff x="5217681" y="526875"/>
            <a:chExt cx="5779833" cy="1843174"/>
          </a:xfrm>
        </p:grpSpPr>
        <p:grpSp>
          <p:nvGrpSpPr>
            <p:cNvPr id="18" name="Group 17">
              <a:extLst>
                <a:ext uri="{FF2B5EF4-FFF2-40B4-BE49-F238E27FC236}">
                  <a16:creationId xmlns:a16="http://schemas.microsoft.com/office/drawing/2014/main" id="{0063ADE2-05AC-A15F-E316-35C6E9E1F1CE}"/>
                </a:ext>
              </a:extLst>
            </p:cNvPr>
            <p:cNvGrpSpPr/>
            <p:nvPr/>
          </p:nvGrpSpPr>
          <p:grpSpPr>
            <a:xfrm rot="16200000">
              <a:off x="7387512" y="-1239954"/>
              <a:ext cx="1440172" cy="5779833"/>
              <a:chOff x="669931" y="2279714"/>
              <a:chExt cx="3446214" cy="2581788"/>
            </a:xfrm>
          </p:grpSpPr>
          <p:sp>
            <p:nvSpPr>
              <p:cNvPr id="16" name="Rectangle: Rounded Corners 15">
                <a:extLst>
                  <a:ext uri="{FF2B5EF4-FFF2-40B4-BE49-F238E27FC236}">
                    <a16:creationId xmlns:a16="http://schemas.microsoft.com/office/drawing/2014/main" id="{FC4C9C95-2113-B460-72E3-66162522A918}"/>
                  </a:ext>
                </a:extLst>
              </p:cNvPr>
              <p:cNvSpPr/>
              <p:nvPr/>
            </p:nvSpPr>
            <p:spPr bwMode="auto">
              <a:xfrm>
                <a:off x="669931" y="2279714"/>
                <a:ext cx="3446214" cy="1211370"/>
              </a:xfrm>
              <a:prstGeom prst="roundRect">
                <a:avLst>
                  <a:gd name="adj" fmla="val 11494"/>
                </a:avLst>
              </a:prstGeom>
              <a:gradFill>
                <a:gsLst>
                  <a:gs pos="0">
                    <a:schemeClr val="accent2">
                      <a:alpha val="64000"/>
                    </a:schemeClr>
                  </a:gs>
                  <a:gs pos="47000">
                    <a:schemeClr val="bg1"/>
                  </a:gs>
                </a:gsLst>
                <a:lin ang="4200000" scaled="0"/>
              </a:gradFill>
              <a:ln w="12700" cap="flat" cmpd="sng" algn="ctr">
                <a:noFill/>
                <a:prstDash val="solid"/>
                <a:headEnd type="none" w="med" len="med"/>
                <a:tailEnd type="none" w="med" len="med"/>
              </a:ln>
              <a:effectLst/>
            </p:spPr>
            <p:txBody>
              <a:bodyPr rot="0" spcFirstLastPara="0" vertOverflow="overflow" horzOverflow="overflow" vert="horz" wrap="square" lIns="72000" tIns="180000" rIns="72000" bIns="14400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err="1">
                  <a:ln>
                    <a:noFill/>
                  </a:ln>
                  <a:gradFill flip="none" rotWithShape="1">
                    <a:gsLst>
                      <a:gs pos="0">
                        <a:srgbClr val="50E6FF"/>
                      </a:gs>
                      <a:gs pos="100000">
                        <a:srgbClr val="D59DFF"/>
                      </a:gs>
                    </a:gsLst>
                    <a:lin ang="2700000" scaled="1"/>
                    <a:tileRect/>
                  </a:gradFill>
                  <a:effectLst/>
                  <a:uLnTx/>
                  <a:uFillTx/>
                  <a:latin typeface="Segoe UI Semibold"/>
                  <a:ea typeface="+mn-ea"/>
                  <a:cs typeface="+mn-cs"/>
                </a:endParaRPr>
              </a:p>
            </p:txBody>
          </p:sp>
          <p:sp>
            <p:nvSpPr>
              <p:cNvPr id="17" name="Round Same Side Corner Rectangle 16">
                <a:extLst>
                  <a:ext uri="{FF2B5EF4-FFF2-40B4-BE49-F238E27FC236}">
                    <a16:creationId xmlns:a16="http://schemas.microsoft.com/office/drawing/2014/main" id="{E8526C4C-3C5E-B612-DC7C-DE945438DA2E}"/>
                  </a:ext>
                </a:extLst>
              </p:cNvPr>
              <p:cNvSpPr/>
              <p:nvPr/>
            </p:nvSpPr>
            <p:spPr bwMode="auto">
              <a:xfrm>
                <a:off x="677494" y="2279714"/>
                <a:ext cx="3438646" cy="2581788"/>
              </a:xfrm>
              <a:prstGeom prst="round2SameRect">
                <a:avLst>
                  <a:gd name="adj1" fmla="val 9880"/>
                  <a:gd name="adj2" fmla="val 0"/>
                </a:avLst>
              </a:prstGeom>
              <a:ln>
                <a:gradFill>
                  <a:gsLst>
                    <a:gs pos="0">
                      <a:schemeClr val="accent1">
                        <a:alpha val="0"/>
                      </a:schemeClr>
                    </a:gs>
                    <a:gs pos="100000">
                      <a:schemeClr val="accent1"/>
                    </a:gs>
                  </a:gsLst>
                  <a:lin ang="162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grpSp>
        <p:pic>
          <p:nvPicPr>
            <p:cNvPr id="3" name="Picture 2">
              <a:extLst>
                <a:ext uri="{FF2B5EF4-FFF2-40B4-BE49-F238E27FC236}">
                  <a16:creationId xmlns:a16="http://schemas.microsoft.com/office/drawing/2014/main" id="{E0668C6B-4D5A-5D15-B5DE-137F68639E25}"/>
                </a:ext>
                <a:ext uri="{C183D7F6-B498-43B3-948B-1728B52AA6E4}">
                  <adec:decorative xmlns:adec="http://schemas.microsoft.com/office/drawing/2017/decorative" val="1"/>
                </a:ext>
              </a:extLst>
            </p:cNvPr>
            <p:cNvPicPr>
              <a:picLocks noChangeAspect="1"/>
            </p:cNvPicPr>
            <p:nvPr/>
          </p:nvPicPr>
          <p:blipFill rotWithShape="1">
            <a:blip r:embed="rId7">
              <a:clrChange>
                <a:clrFrom>
                  <a:srgbClr val="000000"/>
                </a:clrFrom>
                <a:clrTo>
                  <a:srgbClr val="000000">
                    <a:alpha val="0"/>
                  </a:srgbClr>
                </a:clrTo>
              </a:clrChange>
            </a:blip>
            <a:srcRect l="8542" t="-1724" r="3115" b="5016"/>
            <a:stretch/>
          </p:blipFill>
          <p:spPr>
            <a:xfrm>
              <a:off x="5552912" y="526875"/>
              <a:ext cx="1643240" cy="1656740"/>
            </a:xfrm>
            <a:prstGeom prst="rect">
              <a:avLst/>
            </a:prstGeom>
          </p:spPr>
        </p:pic>
        <p:pic>
          <p:nvPicPr>
            <p:cNvPr id="29" name="Picture 28">
              <a:extLst>
                <a:ext uri="{FF2B5EF4-FFF2-40B4-BE49-F238E27FC236}">
                  <a16:creationId xmlns:a16="http://schemas.microsoft.com/office/drawing/2014/main" id="{C81C005C-716D-7DB5-7FB0-F768CFB821C8}"/>
                </a:ext>
              </a:extLst>
            </p:cNvPr>
            <p:cNvPicPr>
              <a:picLocks noChangeAspect="1"/>
            </p:cNvPicPr>
            <p:nvPr/>
          </p:nvPicPr>
          <p:blipFill>
            <a:blip r:embed="rId8"/>
            <a:stretch>
              <a:fillRect/>
            </a:stretch>
          </p:blipFill>
          <p:spPr>
            <a:xfrm>
              <a:off x="6778500" y="1960256"/>
              <a:ext cx="209997" cy="209997"/>
            </a:xfrm>
            <a:prstGeom prst="rect">
              <a:avLst/>
            </a:prstGeom>
          </p:spPr>
        </p:pic>
      </p:grpSp>
      <p:sp>
        <p:nvSpPr>
          <p:cNvPr id="4" name="TextBox 3">
            <a:extLst>
              <a:ext uri="{FF2B5EF4-FFF2-40B4-BE49-F238E27FC236}">
                <a16:creationId xmlns:a16="http://schemas.microsoft.com/office/drawing/2014/main" id="{7875ACBC-500E-5405-0CAD-EFE5187374BB}"/>
              </a:ext>
            </a:extLst>
          </p:cNvPr>
          <p:cNvSpPr txBox="1"/>
          <p:nvPr/>
        </p:nvSpPr>
        <p:spPr>
          <a:xfrm>
            <a:off x="7792145" y="1523990"/>
            <a:ext cx="2560320" cy="307777"/>
          </a:xfrm>
          <a:prstGeom prst="rect">
            <a:avLst/>
          </a:prstGeom>
          <a:noFill/>
        </p:spPr>
        <p:txBody>
          <a:bodyPr wrap="square" lIns="0" tIns="0" rIns="0" bIns="0" rtlCol="0" anchor="ctr" anchorCtr="0">
            <a:spAutoFit/>
          </a:bodyPr>
          <a:lstStyle>
            <a:defPPr>
              <a:defRPr lang="en-US"/>
            </a:defPPr>
            <a:lvl1pPr marL="285750" marR="0" lvl="0" indent="-285750" fontAlgn="auto">
              <a:lnSpc>
                <a:spcPct val="100000"/>
              </a:lnSpc>
              <a:spcBef>
                <a:spcPts val="0"/>
              </a:spcBef>
              <a:spcAft>
                <a:spcPts val="0"/>
              </a:spcAft>
              <a:buClr>
                <a:srgbClr val="0078D4"/>
              </a:buClr>
              <a:buSzTx/>
              <a:buFont typeface="Arial" panose="020B0604020202020204" pitchFamily="34" charset="0"/>
              <a:buChar char="•"/>
              <a:tabLst/>
              <a:defRPr kumimoji="0" sz="1400" b="0" i="0" u="none" strike="noStrike" cap="none" spc="0" normalizeH="0" baseline="0">
                <a:ln>
                  <a:noFill/>
                </a:ln>
                <a:solidFill>
                  <a:prstClr val="white"/>
                </a:solidFill>
                <a:effectLst/>
                <a:uLnTx/>
                <a:uFillTx/>
                <a:latin typeface="Segoe Pro" panose="020B0502040504020203" pitchFamily="34" charset="0"/>
              </a:defRPr>
            </a:lvl1pPr>
            <a:lvl2pPr lvl="1">
              <a:defRPr>
                <a:solidFill>
                  <a:schemeClr val="bg1"/>
                </a:solidFill>
              </a:defRPr>
            </a:lvl2pPr>
          </a:lstStyle>
          <a:p>
            <a:pPr marL="0" marR="0" lvl="1"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FFFFFF"/>
                </a:solidFill>
                <a:effectLst/>
                <a:uLnTx/>
                <a:uFillTx/>
                <a:latin typeface="+mj-lt"/>
                <a:ea typeface="+mn-ea"/>
                <a:cs typeface="+mn-cs"/>
              </a:rPr>
              <a:t>Migrate </a:t>
            </a:r>
            <a:r>
              <a:rPr kumimoji="0" lang="en-US" sz="2000" b="0" i="0" u="none" strike="noStrike" kern="1200" cap="none" spc="0" normalizeH="0" baseline="0" noProof="0">
                <a:ln>
                  <a:noFill/>
                </a:ln>
                <a:solidFill>
                  <a:srgbClr val="50E6FF"/>
                </a:solidFill>
                <a:effectLst/>
                <a:uLnTx/>
                <a:uFillTx/>
                <a:latin typeface="+mj-lt"/>
                <a:ea typeface="+mn-ea"/>
                <a:cs typeface="+mn-cs"/>
              </a:rPr>
              <a:t>and save</a:t>
            </a:r>
          </a:p>
        </p:txBody>
      </p:sp>
      <p:pic>
        <p:nvPicPr>
          <p:cNvPr id="10" name="Picture 9">
            <a:extLst>
              <a:ext uri="{FF2B5EF4-FFF2-40B4-BE49-F238E27FC236}">
                <a16:creationId xmlns:a16="http://schemas.microsoft.com/office/drawing/2014/main" id="{3B37DFAC-661E-9B36-2F72-0D48225D7970}"/>
              </a:ext>
              <a:ext uri="{C183D7F6-B498-43B3-948B-1728B52AA6E4}">
                <adec:decorative xmlns:adec="http://schemas.microsoft.com/office/drawing/2017/decorative" val="1"/>
              </a:ext>
            </a:extLst>
          </p:cNvPr>
          <p:cNvPicPr>
            <a:picLocks noChangeAspect="1"/>
          </p:cNvPicPr>
          <p:nvPr/>
        </p:nvPicPr>
        <p:blipFill>
          <a:blip r:embed="rId9"/>
          <a:srcRect/>
          <a:stretch/>
        </p:blipFill>
        <p:spPr>
          <a:xfrm>
            <a:off x="6788504" y="5609318"/>
            <a:ext cx="199993" cy="199993"/>
          </a:xfrm>
          <a:prstGeom prst="rect">
            <a:avLst/>
          </a:prstGeom>
        </p:spPr>
      </p:pic>
    </p:spTree>
    <p:extLst>
      <p:ext uri="{BB962C8B-B14F-4D97-AF65-F5344CB8AC3E}">
        <p14:creationId xmlns:p14="http://schemas.microsoft.com/office/powerpoint/2010/main" val="107341406"/>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8CFB48C4-40D7-BC4C-9469-4CF31B713324}"/>
              </a:ext>
              <a:ext uri="{C183D7F6-B498-43B3-948B-1728B52AA6E4}">
                <adec:decorative xmlns:adec="http://schemas.microsoft.com/office/drawing/2017/decorative" val="1"/>
              </a:ext>
            </a:extLst>
          </p:cNvPr>
          <p:cNvGrpSpPr/>
          <p:nvPr/>
        </p:nvGrpSpPr>
        <p:grpSpPr>
          <a:xfrm>
            <a:off x="669929" y="1790269"/>
            <a:ext cx="11158417" cy="2587701"/>
            <a:chOff x="669929" y="1998498"/>
            <a:chExt cx="11158417" cy="2587701"/>
          </a:xfrm>
        </p:grpSpPr>
        <p:sp>
          <p:nvSpPr>
            <p:cNvPr id="10" name="Rectangle: Rounded Corners 15">
              <a:extLst>
                <a:ext uri="{FF2B5EF4-FFF2-40B4-BE49-F238E27FC236}">
                  <a16:creationId xmlns:a16="http://schemas.microsoft.com/office/drawing/2014/main" id="{4C0ED273-B556-4E5D-5047-8F5EA6B6B5C9}"/>
                </a:ext>
              </a:extLst>
            </p:cNvPr>
            <p:cNvSpPr/>
            <p:nvPr/>
          </p:nvSpPr>
          <p:spPr bwMode="auto">
            <a:xfrm>
              <a:off x="669929" y="2004411"/>
              <a:ext cx="3507545" cy="1211370"/>
            </a:xfrm>
            <a:prstGeom prst="roundRect">
              <a:avLst>
                <a:gd name="adj" fmla="val 11494"/>
              </a:avLst>
            </a:prstGeom>
            <a:gradFill>
              <a:gsLst>
                <a:gs pos="0">
                  <a:schemeClr val="accent2">
                    <a:alpha val="64000"/>
                  </a:schemeClr>
                </a:gs>
                <a:gs pos="47000">
                  <a:schemeClr val="bg1"/>
                </a:gs>
              </a:gsLst>
              <a:lin ang="4200000" scaled="0"/>
            </a:gradFill>
            <a:ln w="12700" cap="flat" cmpd="sng" algn="ctr">
              <a:noFill/>
              <a:prstDash val="solid"/>
              <a:headEnd type="none" w="med" len="med"/>
              <a:tailEnd type="none" w="med" len="med"/>
            </a:ln>
            <a:effectLst/>
          </p:spPr>
          <p:txBody>
            <a:bodyPr rot="0" spcFirstLastPara="0" vertOverflow="overflow" horzOverflow="overflow" vert="horz" wrap="square" lIns="72000" tIns="180000" rIns="72000" bIns="14400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err="1">
                <a:ln>
                  <a:noFill/>
                </a:ln>
                <a:gradFill flip="none" rotWithShape="1">
                  <a:gsLst>
                    <a:gs pos="0">
                      <a:srgbClr val="50E6FF"/>
                    </a:gs>
                    <a:gs pos="100000">
                      <a:srgbClr val="D59DFF"/>
                    </a:gs>
                  </a:gsLst>
                  <a:lin ang="2700000" scaled="1"/>
                  <a:tileRect/>
                </a:gradFill>
                <a:effectLst/>
                <a:uLnTx/>
                <a:uFillTx/>
                <a:latin typeface="Segoe UI Semibold"/>
                <a:ea typeface="+mn-ea"/>
                <a:cs typeface="+mn-cs"/>
              </a:endParaRPr>
            </a:p>
          </p:txBody>
        </p:sp>
        <p:sp>
          <p:nvSpPr>
            <p:cNvPr id="14" name="Round Same Side Corner Rectangle 13">
              <a:extLst>
                <a:ext uri="{FF2B5EF4-FFF2-40B4-BE49-F238E27FC236}">
                  <a16:creationId xmlns:a16="http://schemas.microsoft.com/office/drawing/2014/main" id="{1DBAD793-C233-6EFD-58C5-65E25B87E72F}"/>
                </a:ext>
              </a:extLst>
            </p:cNvPr>
            <p:cNvSpPr/>
            <p:nvPr/>
          </p:nvSpPr>
          <p:spPr bwMode="auto">
            <a:xfrm>
              <a:off x="677494" y="1998498"/>
              <a:ext cx="3438645" cy="2587701"/>
            </a:xfrm>
            <a:prstGeom prst="round2SameRect">
              <a:avLst>
                <a:gd name="adj1" fmla="val 3861"/>
                <a:gd name="adj2" fmla="val 0"/>
              </a:avLst>
            </a:prstGeom>
            <a:ln>
              <a:gradFill>
                <a:gsLst>
                  <a:gs pos="0">
                    <a:schemeClr val="accent1">
                      <a:alpha val="0"/>
                    </a:schemeClr>
                  </a:gs>
                  <a:gs pos="100000">
                    <a:schemeClr val="accent1"/>
                  </a:gs>
                </a:gsLst>
                <a:lin ang="162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sp>
          <p:nvSpPr>
            <p:cNvPr id="8" name="Rectangle: Rounded Corners 15">
              <a:extLst>
                <a:ext uri="{FF2B5EF4-FFF2-40B4-BE49-F238E27FC236}">
                  <a16:creationId xmlns:a16="http://schemas.microsoft.com/office/drawing/2014/main" id="{185A5006-8423-B3CE-4A36-066A8DC0616D}"/>
                </a:ext>
              </a:extLst>
            </p:cNvPr>
            <p:cNvSpPr/>
            <p:nvPr/>
          </p:nvSpPr>
          <p:spPr bwMode="auto">
            <a:xfrm>
              <a:off x="4388941" y="2004411"/>
              <a:ext cx="3789149" cy="1211370"/>
            </a:xfrm>
            <a:prstGeom prst="roundRect">
              <a:avLst>
                <a:gd name="adj" fmla="val 11494"/>
              </a:avLst>
            </a:prstGeom>
            <a:gradFill>
              <a:gsLst>
                <a:gs pos="0">
                  <a:schemeClr val="accent2">
                    <a:alpha val="64000"/>
                  </a:schemeClr>
                </a:gs>
                <a:gs pos="47000">
                  <a:schemeClr val="bg1"/>
                </a:gs>
              </a:gsLst>
              <a:lin ang="4200000" scaled="0"/>
            </a:gradFill>
            <a:ln w="12700" cap="flat" cmpd="sng" algn="ctr">
              <a:noFill/>
              <a:prstDash val="solid"/>
              <a:headEnd type="none" w="med" len="med"/>
              <a:tailEnd type="none" w="med" len="med"/>
            </a:ln>
            <a:effectLst/>
          </p:spPr>
          <p:txBody>
            <a:bodyPr rot="0" spcFirstLastPara="0" vertOverflow="overflow" horzOverflow="overflow" vert="horz" wrap="square" lIns="72000" tIns="180000" rIns="72000" bIns="14400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err="1">
                <a:ln>
                  <a:noFill/>
                </a:ln>
                <a:gradFill flip="none" rotWithShape="1">
                  <a:gsLst>
                    <a:gs pos="0">
                      <a:srgbClr val="50E6FF"/>
                    </a:gs>
                    <a:gs pos="100000">
                      <a:srgbClr val="D59DFF"/>
                    </a:gs>
                  </a:gsLst>
                  <a:lin ang="2700000" scaled="1"/>
                  <a:tileRect/>
                </a:gradFill>
                <a:effectLst/>
                <a:uLnTx/>
                <a:uFillTx/>
                <a:latin typeface="Segoe UI Semibold"/>
                <a:ea typeface="+mn-ea"/>
                <a:cs typeface="+mn-cs"/>
              </a:endParaRPr>
            </a:p>
          </p:txBody>
        </p:sp>
        <p:sp>
          <p:nvSpPr>
            <p:cNvPr id="11" name="Rectangle: Rounded Corners 15">
              <a:extLst>
                <a:ext uri="{FF2B5EF4-FFF2-40B4-BE49-F238E27FC236}">
                  <a16:creationId xmlns:a16="http://schemas.microsoft.com/office/drawing/2014/main" id="{BC9E9DCC-B13C-CDFE-6DA3-D74B9977E209}"/>
                </a:ext>
              </a:extLst>
            </p:cNvPr>
            <p:cNvSpPr/>
            <p:nvPr/>
          </p:nvSpPr>
          <p:spPr bwMode="auto">
            <a:xfrm>
              <a:off x="8106566" y="2004411"/>
              <a:ext cx="3721780" cy="1211370"/>
            </a:xfrm>
            <a:prstGeom prst="roundRect">
              <a:avLst>
                <a:gd name="adj" fmla="val 11494"/>
              </a:avLst>
            </a:prstGeom>
            <a:gradFill>
              <a:gsLst>
                <a:gs pos="0">
                  <a:schemeClr val="accent2">
                    <a:alpha val="64000"/>
                  </a:schemeClr>
                </a:gs>
                <a:gs pos="47000">
                  <a:schemeClr val="bg1"/>
                </a:gs>
              </a:gsLst>
              <a:lin ang="4200000" scaled="0"/>
            </a:gradFill>
            <a:ln w="12700" cap="flat" cmpd="sng" algn="ctr">
              <a:noFill/>
              <a:prstDash val="solid"/>
              <a:headEnd type="none" w="med" len="med"/>
              <a:tailEnd type="none" w="med" len="med"/>
            </a:ln>
            <a:effectLst/>
          </p:spPr>
          <p:txBody>
            <a:bodyPr rot="0" spcFirstLastPara="0" vertOverflow="overflow" horzOverflow="overflow" vert="horz" wrap="square" lIns="72000" tIns="180000" rIns="72000" bIns="14400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err="1">
                <a:ln>
                  <a:noFill/>
                </a:ln>
                <a:gradFill flip="none" rotWithShape="1">
                  <a:gsLst>
                    <a:gs pos="0">
                      <a:srgbClr val="50E6FF"/>
                    </a:gs>
                    <a:gs pos="100000">
                      <a:srgbClr val="D59DFF"/>
                    </a:gs>
                  </a:gsLst>
                  <a:lin ang="2700000" scaled="1"/>
                  <a:tileRect/>
                </a:gradFill>
                <a:effectLst/>
                <a:uLnTx/>
                <a:uFillTx/>
                <a:latin typeface="Segoe UI Semibold"/>
                <a:ea typeface="+mn-ea"/>
                <a:cs typeface="+mn-cs"/>
              </a:endParaRPr>
            </a:p>
          </p:txBody>
        </p:sp>
        <p:sp>
          <p:nvSpPr>
            <p:cNvPr id="21" name="Round Same Side Corner Rectangle 20">
              <a:extLst>
                <a:ext uri="{FF2B5EF4-FFF2-40B4-BE49-F238E27FC236}">
                  <a16:creationId xmlns:a16="http://schemas.microsoft.com/office/drawing/2014/main" id="{D160BDC1-B0F6-2E1F-3D55-098914138E46}"/>
                </a:ext>
              </a:extLst>
            </p:cNvPr>
            <p:cNvSpPr/>
            <p:nvPr/>
          </p:nvSpPr>
          <p:spPr bwMode="auto">
            <a:xfrm>
              <a:off x="8102977" y="1998498"/>
              <a:ext cx="3438645" cy="2587701"/>
            </a:xfrm>
            <a:prstGeom prst="round2SameRect">
              <a:avLst>
                <a:gd name="adj1" fmla="val 3861"/>
                <a:gd name="adj2" fmla="val 0"/>
              </a:avLst>
            </a:prstGeom>
            <a:ln>
              <a:gradFill>
                <a:gsLst>
                  <a:gs pos="0">
                    <a:schemeClr val="accent1">
                      <a:alpha val="0"/>
                    </a:schemeClr>
                  </a:gs>
                  <a:gs pos="100000">
                    <a:schemeClr val="accent1"/>
                  </a:gs>
                </a:gsLst>
                <a:lin ang="162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sp>
          <p:nvSpPr>
            <p:cNvPr id="26" name="Round Same Side Corner Rectangle 25">
              <a:extLst>
                <a:ext uri="{FF2B5EF4-FFF2-40B4-BE49-F238E27FC236}">
                  <a16:creationId xmlns:a16="http://schemas.microsoft.com/office/drawing/2014/main" id="{E7222689-632D-085B-8F87-A9DD15756015}"/>
                </a:ext>
              </a:extLst>
            </p:cNvPr>
            <p:cNvSpPr/>
            <p:nvPr/>
          </p:nvSpPr>
          <p:spPr bwMode="auto">
            <a:xfrm>
              <a:off x="4390236" y="1998498"/>
              <a:ext cx="3438645" cy="2587701"/>
            </a:xfrm>
            <a:prstGeom prst="round2SameRect">
              <a:avLst>
                <a:gd name="adj1" fmla="val 3861"/>
                <a:gd name="adj2" fmla="val 0"/>
              </a:avLst>
            </a:prstGeom>
            <a:ln>
              <a:gradFill>
                <a:gsLst>
                  <a:gs pos="0">
                    <a:schemeClr val="accent1">
                      <a:alpha val="0"/>
                    </a:schemeClr>
                  </a:gs>
                  <a:gs pos="100000">
                    <a:schemeClr val="accent1"/>
                  </a:gs>
                </a:gsLst>
                <a:lin ang="162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grpSp>
      <p:sp>
        <p:nvSpPr>
          <p:cNvPr id="12" name="Title 11">
            <a:extLst>
              <a:ext uri="{FF2B5EF4-FFF2-40B4-BE49-F238E27FC236}">
                <a16:creationId xmlns:a16="http://schemas.microsoft.com/office/drawing/2014/main" id="{4EFFAA3A-FDA0-68B8-D009-B7D1B90166F0}"/>
              </a:ext>
            </a:extLst>
          </p:cNvPr>
          <p:cNvSpPr>
            <a:spLocks noGrp="1"/>
          </p:cNvSpPr>
          <p:nvPr>
            <p:ph type="title"/>
          </p:nvPr>
        </p:nvSpPr>
        <p:spPr/>
        <p:txBody>
          <a:bodyPr/>
          <a:lstStyle/>
          <a:p>
            <a:r>
              <a:rPr lang="en-US"/>
              <a:t>Navigate market uncertainty &amp; accelerate growth with Azure</a:t>
            </a:r>
          </a:p>
        </p:txBody>
      </p:sp>
      <p:sp>
        <p:nvSpPr>
          <p:cNvPr id="13" name="TextBox 12">
            <a:extLst>
              <a:ext uri="{FF2B5EF4-FFF2-40B4-BE49-F238E27FC236}">
                <a16:creationId xmlns:a16="http://schemas.microsoft.com/office/drawing/2014/main" id="{5F49ED35-F750-9E2D-E772-0B8B5BFEF6D1}"/>
              </a:ext>
            </a:extLst>
          </p:cNvPr>
          <p:cNvSpPr txBox="1"/>
          <p:nvPr/>
        </p:nvSpPr>
        <p:spPr>
          <a:xfrm>
            <a:off x="963809" y="2100423"/>
            <a:ext cx="2657451" cy="30777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50E6FF"/>
                </a:solidFill>
                <a:effectLst/>
                <a:uLnTx/>
                <a:uFillTx/>
                <a:latin typeface="Segoe UI Semibold"/>
                <a:ea typeface="+mn-ea"/>
                <a:cs typeface="Segoe UI"/>
              </a:rPr>
              <a:t>Migrate</a:t>
            </a:r>
            <a:endParaRPr kumimoji="0" lang="en-US" sz="2000" b="0" i="0" u="none" strike="noStrike" kern="1200" cap="none" spc="0" normalizeH="0" baseline="0" noProof="0">
              <a:ln>
                <a:noFill/>
              </a:ln>
              <a:solidFill>
                <a:srgbClr val="50E6FF"/>
              </a:solidFill>
              <a:effectLst/>
              <a:uLnTx/>
              <a:uFillTx/>
              <a:latin typeface="Segoe UI Semibold"/>
              <a:ea typeface="+mn-ea"/>
              <a:cs typeface="Segoe UI Semibold"/>
            </a:endParaRPr>
          </a:p>
        </p:txBody>
      </p:sp>
      <p:sp>
        <p:nvSpPr>
          <p:cNvPr id="15" name="TextBox 14">
            <a:extLst>
              <a:ext uri="{FF2B5EF4-FFF2-40B4-BE49-F238E27FC236}">
                <a16:creationId xmlns:a16="http://schemas.microsoft.com/office/drawing/2014/main" id="{231DB25B-5D7F-8BBB-216C-648A7CFCD113}"/>
              </a:ext>
            </a:extLst>
          </p:cNvPr>
          <p:cNvSpPr txBox="1"/>
          <p:nvPr/>
        </p:nvSpPr>
        <p:spPr>
          <a:xfrm>
            <a:off x="4678233" y="2100423"/>
            <a:ext cx="2657451" cy="30777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50E6FF"/>
                </a:solidFill>
                <a:effectLst/>
                <a:uLnTx/>
                <a:uFillTx/>
                <a:latin typeface="Segoe UI Semibold"/>
                <a:ea typeface="+mn-ea"/>
                <a:cs typeface="Segoe UI"/>
              </a:rPr>
              <a:t>Optimize</a:t>
            </a:r>
            <a:endParaRPr kumimoji="0" lang="en-US" sz="2000" b="0" i="0" u="none" strike="noStrike" kern="1200" cap="none" spc="0" normalizeH="0" baseline="0" noProof="0">
              <a:ln>
                <a:noFill/>
              </a:ln>
              <a:solidFill>
                <a:srgbClr val="50E6FF"/>
              </a:solidFill>
              <a:effectLst/>
              <a:uLnTx/>
              <a:uFillTx/>
              <a:latin typeface="Segoe UI Semibold"/>
              <a:ea typeface="+mn-ea"/>
              <a:cs typeface="Segoe UI Semibold"/>
            </a:endParaRPr>
          </a:p>
        </p:txBody>
      </p:sp>
      <p:sp>
        <p:nvSpPr>
          <p:cNvPr id="17" name="TextBox 16">
            <a:extLst>
              <a:ext uri="{FF2B5EF4-FFF2-40B4-BE49-F238E27FC236}">
                <a16:creationId xmlns:a16="http://schemas.microsoft.com/office/drawing/2014/main" id="{55E41775-E4B7-0519-CC5C-F1AF59F0DE0B}"/>
              </a:ext>
            </a:extLst>
          </p:cNvPr>
          <p:cNvSpPr txBox="1"/>
          <p:nvPr/>
        </p:nvSpPr>
        <p:spPr>
          <a:xfrm>
            <a:off x="8389557" y="2100423"/>
            <a:ext cx="2657451" cy="30777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50E6FF"/>
                </a:solidFill>
                <a:effectLst/>
                <a:uLnTx/>
                <a:uFillTx/>
                <a:latin typeface="Segoe UI Semibold"/>
                <a:ea typeface="+mn-ea"/>
                <a:cs typeface="Segoe UI"/>
              </a:rPr>
              <a:t>Reinvest</a:t>
            </a:r>
            <a:endParaRPr kumimoji="0" lang="en-US" sz="2000" b="0" i="0" u="none" strike="noStrike" kern="1200" cap="none" spc="0" normalizeH="0" baseline="0" noProof="0">
              <a:ln>
                <a:noFill/>
              </a:ln>
              <a:solidFill>
                <a:srgbClr val="50E6FF"/>
              </a:solidFill>
              <a:effectLst/>
              <a:uLnTx/>
              <a:uFillTx/>
              <a:latin typeface="Segoe UI Semibold"/>
              <a:ea typeface="+mn-ea"/>
              <a:cs typeface="Segoe UI Semibold"/>
            </a:endParaRPr>
          </a:p>
        </p:txBody>
      </p:sp>
      <p:sp>
        <p:nvSpPr>
          <p:cNvPr id="28" name="TextBox 27">
            <a:extLst>
              <a:ext uri="{FF2B5EF4-FFF2-40B4-BE49-F238E27FC236}">
                <a16:creationId xmlns:a16="http://schemas.microsoft.com/office/drawing/2014/main" id="{44568AA9-1401-B7C3-7331-CB3F966497CF}"/>
              </a:ext>
            </a:extLst>
          </p:cNvPr>
          <p:cNvSpPr txBox="1"/>
          <p:nvPr/>
        </p:nvSpPr>
        <p:spPr>
          <a:xfrm>
            <a:off x="968535" y="2588917"/>
            <a:ext cx="2384265" cy="430887"/>
          </a:xfrm>
          <a:prstGeom prst="rect">
            <a:avLst/>
          </a:prstGeom>
          <a:noFill/>
        </p:spPr>
        <p:txBody>
          <a:bodyPr wrap="square" lIns="0" tIns="0" rIns="0" bIns="0" rtlCol="0" anchor="t" anchorCtr="0">
            <a:spAutoFit/>
          </a:bodyPr>
          <a:lstStyle>
            <a:defPPr>
              <a:defRPr lang="en-US"/>
            </a:defPPr>
            <a:lvl1pPr marL="285750" marR="0" lvl="0" indent="-285750" fontAlgn="auto">
              <a:lnSpc>
                <a:spcPct val="100000"/>
              </a:lnSpc>
              <a:spcBef>
                <a:spcPts val="0"/>
              </a:spcBef>
              <a:spcAft>
                <a:spcPts val="0"/>
              </a:spcAft>
              <a:buClr>
                <a:srgbClr val="0078D4"/>
              </a:buClr>
              <a:buSzTx/>
              <a:buFont typeface="Arial" panose="020B0604020202020204" pitchFamily="34" charset="0"/>
              <a:buChar char="•"/>
              <a:tabLst/>
              <a:defRPr kumimoji="0" sz="1400" b="0" i="0" u="none" strike="noStrike" cap="none" spc="0" normalizeH="0" baseline="0">
                <a:ln>
                  <a:noFill/>
                </a:ln>
                <a:solidFill>
                  <a:prstClr val="white"/>
                </a:solidFill>
                <a:effectLst/>
                <a:uLnTx/>
                <a:uFillTx/>
                <a:latin typeface="Segoe Pro" panose="020B0502040504020203" pitchFamily="34" charset="0"/>
              </a:defRPr>
            </a:lvl1pPr>
            <a:lvl2pPr lvl="1">
              <a:defRPr>
                <a:solidFill>
                  <a:schemeClr val="bg1"/>
                </a:solidFill>
              </a:defRPr>
            </a:lvl2pPr>
          </a:lstStyle>
          <a:p>
            <a:pPr marL="0" marR="0" lvl="1" indent="0" algn="l"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mn-lt"/>
                <a:cs typeface="Segoe UI"/>
              </a:rPr>
              <a:t>Save on costs and </a:t>
            </a:r>
            <a:br>
              <a:rPr kumimoji="0" lang="en-US" sz="1400" b="0" i="0" u="none" strike="noStrike" kern="1200" cap="none" spc="0" normalizeH="0" baseline="0" noProof="0">
                <a:ln>
                  <a:noFill/>
                </a:ln>
                <a:solidFill>
                  <a:srgbClr val="FFFFFF"/>
                </a:solidFill>
                <a:effectLst/>
                <a:uLnTx/>
                <a:uFillTx/>
                <a:latin typeface="Segoe UI"/>
                <a:ea typeface="+mn-lt"/>
                <a:cs typeface="Segoe UI"/>
              </a:rPr>
            </a:br>
            <a:r>
              <a:rPr kumimoji="0" lang="en-US" sz="1400" b="0" i="0" u="none" strike="noStrike" kern="1200" cap="none" spc="0" normalizeH="0" baseline="0" noProof="0">
                <a:ln>
                  <a:noFill/>
                </a:ln>
                <a:solidFill>
                  <a:srgbClr val="FFFFFF"/>
                </a:solidFill>
                <a:effectLst/>
                <a:uLnTx/>
                <a:uFillTx/>
                <a:latin typeface="Segoe UI"/>
                <a:ea typeface="+mn-lt"/>
                <a:cs typeface="Segoe UI"/>
              </a:rPr>
              <a:t>gain efficiencies</a:t>
            </a:r>
            <a:endParaRPr kumimoji="0" lang="en-US" sz="1400" b="0" i="0" u="none" strike="noStrike" kern="1200" cap="none" spc="0" normalizeH="0" baseline="0" noProof="0">
              <a:ln>
                <a:noFill/>
              </a:ln>
              <a:solidFill>
                <a:srgbClr val="FFFFFF"/>
              </a:solidFill>
              <a:effectLst/>
              <a:uLnTx/>
              <a:uFillTx/>
              <a:latin typeface="Segoe UI"/>
              <a:ea typeface="+mn-ea"/>
              <a:cs typeface="Segoe UI"/>
            </a:endParaRPr>
          </a:p>
        </p:txBody>
      </p:sp>
      <p:sp>
        <p:nvSpPr>
          <p:cNvPr id="29" name="TextBox 28">
            <a:extLst>
              <a:ext uri="{FF2B5EF4-FFF2-40B4-BE49-F238E27FC236}">
                <a16:creationId xmlns:a16="http://schemas.microsoft.com/office/drawing/2014/main" id="{CD513D15-C385-F21B-05BF-601443E6B9E5}"/>
              </a:ext>
            </a:extLst>
          </p:cNvPr>
          <p:cNvSpPr txBox="1"/>
          <p:nvPr/>
        </p:nvSpPr>
        <p:spPr>
          <a:xfrm>
            <a:off x="4682959" y="2589202"/>
            <a:ext cx="2822269" cy="430887"/>
          </a:xfrm>
          <a:prstGeom prst="rect">
            <a:avLst/>
          </a:prstGeom>
          <a:noFill/>
        </p:spPr>
        <p:txBody>
          <a:bodyPr wrap="square" lIns="0" tIns="0" rIns="0" bIns="0" rtlCol="0" anchor="t" anchorCtr="0">
            <a:spAutoFit/>
          </a:bodyPr>
          <a:lstStyle>
            <a:defPPr>
              <a:defRPr lang="en-US"/>
            </a:defPPr>
            <a:lvl1pPr marL="285750" marR="0" lvl="0" indent="-285750" fontAlgn="auto">
              <a:lnSpc>
                <a:spcPct val="100000"/>
              </a:lnSpc>
              <a:spcBef>
                <a:spcPts val="0"/>
              </a:spcBef>
              <a:spcAft>
                <a:spcPts val="0"/>
              </a:spcAft>
              <a:buClr>
                <a:srgbClr val="0078D4"/>
              </a:buClr>
              <a:buSzTx/>
              <a:buFont typeface="Arial" panose="020B0604020202020204" pitchFamily="34" charset="0"/>
              <a:buChar char="•"/>
              <a:tabLst/>
              <a:defRPr kumimoji="0" sz="1400" b="0" i="0" u="none" strike="noStrike" cap="none" spc="0" normalizeH="0" baseline="0">
                <a:ln>
                  <a:noFill/>
                </a:ln>
                <a:solidFill>
                  <a:prstClr val="white"/>
                </a:solidFill>
                <a:effectLst/>
                <a:uLnTx/>
                <a:uFillTx/>
                <a:latin typeface="Segoe Pro" panose="020B0502040504020203" pitchFamily="34" charset="0"/>
              </a:defRPr>
            </a:lvl1pPr>
            <a:lvl2pPr lvl="1">
              <a:defRPr>
                <a:solidFill>
                  <a:schemeClr val="bg1"/>
                </a:solidFill>
              </a:defRPr>
            </a:lvl2pPr>
          </a:lstStyle>
          <a:p>
            <a:pPr marL="0" marR="0" lvl="1" indent="0" algn="l"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mn-ea"/>
                <a:cs typeface="+mn-cs"/>
              </a:rPr>
              <a:t>Rationalize existing cloud investments and improve agility</a:t>
            </a:r>
            <a:endParaRPr kumimoji="0" lang="en-US" sz="1400" b="0" i="0" u="none" strike="noStrike" kern="1200" cap="none" spc="0" normalizeH="0" baseline="0" noProof="0">
              <a:ln>
                <a:noFill/>
              </a:ln>
              <a:solidFill>
                <a:srgbClr val="000000"/>
              </a:solidFill>
              <a:effectLst/>
              <a:uLnTx/>
              <a:uFillTx/>
              <a:latin typeface="Segoe UI"/>
              <a:ea typeface="+mn-ea"/>
              <a:cs typeface="+mn-cs"/>
            </a:endParaRPr>
          </a:p>
        </p:txBody>
      </p:sp>
      <p:sp>
        <p:nvSpPr>
          <p:cNvPr id="30" name="TextBox 29">
            <a:extLst>
              <a:ext uri="{FF2B5EF4-FFF2-40B4-BE49-F238E27FC236}">
                <a16:creationId xmlns:a16="http://schemas.microsoft.com/office/drawing/2014/main" id="{80C2C33B-16C0-627C-3188-DA813F7F3E09}"/>
              </a:ext>
            </a:extLst>
          </p:cNvPr>
          <p:cNvSpPr txBox="1"/>
          <p:nvPr/>
        </p:nvSpPr>
        <p:spPr>
          <a:xfrm>
            <a:off x="8389557" y="2589202"/>
            <a:ext cx="2916205" cy="430887"/>
          </a:xfrm>
          <a:prstGeom prst="rect">
            <a:avLst/>
          </a:prstGeom>
          <a:noFill/>
        </p:spPr>
        <p:txBody>
          <a:bodyPr wrap="square" lIns="0" tIns="0" rIns="0" bIns="0" rtlCol="0" anchor="t" anchorCtr="0">
            <a:spAutoFit/>
          </a:bodyPr>
          <a:lstStyle>
            <a:defPPr>
              <a:defRPr lang="en-US"/>
            </a:defPPr>
            <a:lvl1pPr marL="285750" marR="0" lvl="0" indent="-285750" fontAlgn="auto">
              <a:lnSpc>
                <a:spcPct val="100000"/>
              </a:lnSpc>
              <a:spcBef>
                <a:spcPts val="0"/>
              </a:spcBef>
              <a:spcAft>
                <a:spcPts val="0"/>
              </a:spcAft>
              <a:buClr>
                <a:srgbClr val="0078D4"/>
              </a:buClr>
              <a:buSzTx/>
              <a:buFont typeface="Arial" panose="020B0604020202020204" pitchFamily="34" charset="0"/>
              <a:buChar char="•"/>
              <a:tabLst/>
              <a:defRPr kumimoji="0" sz="1400" b="0" i="0" u="none" strike="noStrike" cap="none" spc="0" normalizeH="0" baseline="0">
                <a:ln>
                  <a:noFill/>
                </a:ln>
                <a:solidFill>
                  <a:prstClr val="white"/>
                </a:solidFill>
                <a:effectLst/>
                <a:uLnTx/>
                <a:uFillTx/>
                <a:latin typeface="Segoe Pro" panose="020B0502040504020203" pitchFamily="34" charset="0"/>
              </a:defRPr>
            </a:lvl1pPr>
          </a:lstStyle>
          <a:p>
            <a:pPr marL="0" marR="0" lvl="1" indent="0" algn="l"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mn-ea"/>
                <a:cs typeface="Segoe UI"/>
              </a:rPr>
              <a:t>Become more resilient </a:t>
            </a:r>
            <a:br>
              <a:rPr lang="en-US" sz="1400">
                <a:solidFill>
                  <a:srgbClr val="FFFFFF"/>
                </a:solidFill>
                <a:latin typeface="Segoe UI"/>
                <a:cs typeface="Segoe UI"/>
              </a:rPr>
            </a:br>
            <a:r>
              <a:rPr kumimoji="0" lang="en-US" sz="1400" b="0" i="0" u="none" strike="noStrike" kern="1200" cap="none" spc="0" normalizeH="0" baseline="0" noProof="0">
                <a:ln>
                  <a:noFill/>
                </a:ln>
                <a:solidFill>
                  <a:srgbClr val="FFFFFF"/>
                </a:solidFill>
                <a:effectLst/>
                <a:uLnTx/>
                <a:uFillTx/>
                <a:latin typeface="Segoe UI"/>
                <a:ea typeface="+mn-ea"/>
                <a:cs typeface="Segoe UI"/>
              </a:rPr>
              <a:t>and drive innovation </a:t>
            </a:r>
          </a:p>
        </p:txBody>
      </p:sp>
      <p:sp>
        <p:nvSpPr>
          <p:cNvPr id="33" name="TextBox 32">
            <a:extLst>
              <a:ext uri="{FF2B5EF4-FFF2-40B4-BE49-F238E27FC236}">
                <a16:creationId xmlns:a16="http://schemas.microsoft.com/office/drawing/2014/main" id="{BC21289F-7B93-C4A7-9DCC-86E06E7F85D9}"/>
              </a:ext>
            </a:extLst>
          </p:cNvPr>
          <p:cNvSpPr txBox="1"/>
          <p:nvPr/>
        </p:nvSpPr>
        <p:spPr>
          <a:xfrm>
            <a:off x="8389557" y="3453760"/>
            <a:ext cx="2916205" cy="2123658"/>
          </a:xfrm>
          <a:prstGeom prst="rect">
            <a:avLst/>
          </a:prstGeom>
          <a:noFill/>
        </p:spPr>
        <p:txBody>
          <a:bodyPr wrap="square" lIns="0" tIns="0" rIns="0" bIns="0" rtlCol="0" anchor="t" anchorCtr="0">
            <a:spAutoFit/>
          </a:bodyPr>
          <a:lstStyle>
            <a:defPPr>
              <a:defRPr lang="en-US"/>
            </a:defPPr>
            <a:lvl1pPr marL="285750" marR="0" lvl="0" indent="-285750" fontAlgn="auto">
              <a:lnSpc>
                <a:spcPct val="100000"/>
              </a:lnSpc>
              <a:spcBef>
                <a:spcPts val="0"/>
              </a:spcBef>
              <a:spcAft>
                <a:spcPts val="0"/>
              </a:spcAft>
              <a:buClr>
                <a:srgbClr val="0078D4"/>
              </a:buClr>
              <a:buSzTx/>
              <a:buFont typeface="Arial" panose="020B0604020202020204" pitchFamily="34" charset="0"/>
              <a:buChar char="•"/>
              <a:tabLst/>
              <a:defRPr kumimoji="0" sz="1400" b="0" i="0" u="none" strike="noStrike" cap="none" spc="0" normalizeH="0" baseline="0">
                <a:ln>
                  <a:noFill/>
                </a:ln>
                <a:solidFill>
                  <a:prstClr val="white"/>
                </a:solidFill>
                <a:effectLst/>
                <a:uLnTx/>
                <a:uFillTx/>
                <a:latin typeface="Segoe Pro" panose="020B0502040504020203" pitchFamily="34" charset="0"/>
              </a:defRPr>
            </a:lvl1pPr>
          </a:lstStyle>
          <a:p>
            <a:pPr marL="0" marR="0" lvl="1" indent="0" algn="l" defTabSz="914400" rtl="0" eaLnBrk="1" fontAlgn="auto" latinLnBrk="0" hangingPunct="1">
              <a:lnSpc>
                <a:spcPct val="100000"/>
              </a:lnSpc>
              <a:spcBef>
                <a:spcPts val="0"/>
              </a:spcBef>
              <a:spcAft>
                <a:spcPts val="1800"/>
              </a:spcAft>
              <a:buClrTx/>
              <a:buSzTx/>
              <a:buFontTx/>
              <a:buNone/>
              <a:tabLst/>
              <a:defRPr/>
            </a:pPr>
            <a:r>
              <a:rPr kumimoji="0" lang="en-US" sz="1200" b="0" i="0" u="none" strike="noStrike" kern="1200" cap="none" spc="0" normalizeH="0" baseline="0" noProof="0" dirty="0">
                <a:ln>
                  <a:noFill/>
                </a:ln>
                <a:solidFill>
                  <a:srgbClr val="50E6FF"/>
                </a:solidFill>
                <a:effectLst/>
                <a:uLnTx/>
                <a:uFillTx/>
                <a:latin typeface="Segoe UI"/>
                <a:ea typeface="+mn-ea"/>
                <a:cs typeface="+mn-cs"/>
              </a:rPr>
              <a:t>Minimize downtime and data loss</a:t>
            </a:r>
            <a:r>
              <a:rPr kumimoji="0" lang="en-US" sz="1200" b="0" i="0" u="none" strike="noStrike" kern="1200" cap="none" spc="0" normalizeH="0" baseline="0" noProof="0" dirty="0">
                <a:ln>
                  <a:noFill/>
                </a:ln>
                <a:solidFill>
                  <a:srgbClr val="FFFFFF"/>
                </a:solidFill>
                <a:effectLst/>
                <a:uLnTx/>
                <a:uFillTx/>
                <a:latin typeface="Segoe UI"/>
                <a:ea typeface="+mn-ea"/>
                <a:cs typeface="+mn-cs"/>
              </a:rPr>
              <a:t> by securing your hybrid and multi-cloud, focusing on backup and disaster recovery </a:t>
            </a:r>
          </a:p>
          <a:p>
            <a:pPr marL="0" marR="0" lvl="1" indent="0" algn="l" defTabSz="914400" rtl="0" eaLnBrk="1" fontAlgn="auto" latinLnBrk="0" hangingPunct="1">
              <a:lnSpc>
                <a:spcPct val="100000"/>
              </a:lnSpc>
              <a:spcBef>
                <a:spcPts val="0"/>
              </a:spcBef>
              <a:spcAft>
                <a:spcPts val="1800"/>
              </a:spcAft>
              <a:buClrTx/>
              <a:buSzTx/>
              <a:buFontTx/>
              <a:buNone/>
              <a:tabLst/>
              <a:defRPr/>
            </a:pPr>
            <a:r>
              <a:rPr kumimoji="0" lang="en-US" sz="1200" b="0" i="0" u="none" strike="noStrike" kern="1200" cap="none" spc="0" normalizeH="0" baseline="0" noProof="0" dirty="0">
                <a:ln>
                  <a:noFill/>
                </a:ln>
                <a:effectLst/>
                <a:uLnTx/>
                <a:uFillTx/>
                <a:latin typeface="Segoe UI"/>
                <a:ea typeface="+mn-ea"/>
                <a:cs typeface="+mn-cs"/>
              </a:rPr>
              <a:t>Invest in app innovation with Azure App Service for </a:t>
            </a:r>
            <a:r>
              <a:rPr kumimoji="0" lang="en-US" sz="1200" b="0" i="0" u="none" strike="noStrike" kern="1200" cap="none" spc="0" normalizeH="0" baseline="0" noProof="0" dirty="0">
                <a:ln>
                  <a:noFill/>
                </a:ln>
                <a:solidFill>
                  <a:schemeClr val="accent1"/>
                </a:solidFill>
                <a:effectLst/>
                <a:uLnTx/>
                <a:uFillTx/>
                <a:latin typeface="Segoe UI"/>
                <a:ea typeface="+mn-ea"/>
                <a:cs typeface="+mn-cs"/>
              </a:rPr>
              <a:t>54% TCO savings </a:t>
            </a:r>
            <a:r>
              <a:rPr kumimoji="0" lang="en-US" sz="1200" b="0" i="0" u="none" strike="noStrike" kern="1200" cap="none" spc="0" normalizeH="0" baseline="0" noProof="0" dirty="0">
                <a:ln>
                  <a:noFill/>
                </a:ln>
                <a:effectLst/>
                <a:uLnTx/>
                <a:uFillTx/>
                <a:latin typeface="Segoe UI"/>
                <a:ea typeface="+mn-ea"/>
                <a:cs typeface="+mn-cs"/>
              </a:rPr>
              <a:t>&amp; Azure AI to </a:t>
            </a:r>
            <a:r>
              <a:rPr kumimoji="0" lang="en-US" sz="1200" b="0" i="0" u="none" strike="noStrike" kern="1200" cap="none" spc="0" normalizeH="0" baseline="0" noProof="0" dirty="0">
                <a:ln>
                  <a:noFill/>
                </a:ln>
                <a:solidFill>
                  <a:schemeClr val="accent1"/>
                </a:solidFill>
                <a:effectLst/>
                <a:uLnTx/>
                <a:uFillTx/>
                <a:latin typeface="Segoe UI"/>
                <a:ea typeface="+mn-ea"/>
                <a:cs typeface="+mn-cs"/>
              </a:rPr>
              <a:t>drive growth without developer reskilling</a:t>
            </a:r>
          </a:p>
          <a:p>
            <a:pPr marL="0" marR="0" lvl="1" indent="0" algn="l" defTabSz="914400" rtl="0" eaLnBrk="1" fontAlgn="auto" latinLnBrk="0" hangingPunct="1">
              <a:lnSpc>
                <a:spcPct val="100000"/>
              </a:lnSpc>
              <a:spcBef>
                <a:spcPts val="0"/>
              </a:spcBef>
              <a:spcAft>
                <a:spcPts val="1800"/>
              </a:spcAft>
              <a:buClrTx/>
              <a:buSzTx/>
              <a:buFontTx/>
              <a:buNone/>
              <a:tabLst/>
              <a:defRPr/>
            </a:pPr>
            <a:r>
              <a:rPr kumimoji="0" lang="en-US" sz="1200" b="0" i="0" u="none" strike="noStrike" kern="1200" cap="none" spc="0" normalizeH="0" baseline="0" noProof="0" dirty="0">
                <a:ln>
                  <a:noFill/>
                </a:ln>
                <a:effectLst/>
                <a:uLnTx/>
                <a:uFillTx/>
                <a:latin typeface="Segoe UI"/>
                <a:ea typeface="+mn-ea"/>
                <a:cs typeface="+mn-cs"/>
              </a:rPr>
              <a:t>Develop </a:t>
            </a:r>
            <a:r>
              <a:rPr kumimoji="0" lang="en-US" sz="1200" b="0" i="0" u="none" strike="noStrike" kern="1200" cap="none" spc="0" normalizeH="0" baseline="0" noProof="0" dirty="0">
                <a:ln>
                  <a:noFill/>
                </a:ln>
                <a:solidFill>
                  <a:schemeClr val="accent1"/>
                </a:solidFill>
                <a:effectLst/>
                <a:uLnTx/>
                <a:uFillTx/>
                <a:latin typeface="Segoe UI"/>
                <a:ea typeface="+mn-ea"/>
                <a:cs typeface="+mn-cs"/>
              </a:rPr>
              <a:t>innovative, sustainable solutions </a:t>
            </a:r>
            <a:r>
              <a:rPr kumimoji="0" lang="en-US" sz="1200" b="0" i="0" u="none" strike="noStrike" kern="1200" cap="none" spc="0" normalizeH="0" baseline="0" noProof="0" dirty="0">
                <a:ln>
                  <a:noFill/>
                </a:ln>
                <a:effectLst/>
                <a:uLnTx/>
                <a:uFillTx/>
                <a:latin typeface="Segoe UI"/>
                <a:ea typeface="+mn-ea"/>
                <a:cs typeface="+mn-cs"/>
              </a:rPr>
              <a:t>that create new value while reducing carbon footprint</a:t>
            </a:r>
          </a:p>
        </p:txBody>
      </p:sp>
      <p:sp>
        <p:nvSpPr>
          <p:cNvPr id="34" name="TextBox 33">
            <a:extLst>
              <a:ext uri="{FF2B5EF4-FFF2-40B4-BE49-F238E27FC236}">
                <a16:creationId xmlns:a16="http://schemas.microsoft.com/office/drawing/2014/main" id="{A2476483-A64A-4665-3F0E-778DC16A47F1}"/>
              </a:ext>
            </a:extLst>
          </p:cNvPr>
          <p:cNvSpPr txBox="1"/>
          <p:nvPr/>
        </p:nvSpPr>
        <p:spPr>
          <a:xfrm>
            <a:off x="4682959" y="3453760"/>
            <a:ext cx="3022766" cy="2123658"/>
          </a:xfrm>
          <a:prstGeom prst="rect">
            <a:avLst/>
          </a:prstGeom>
          <a:noFill/>
        </p:spPr>
        <p:txBody>
          <a:bodyPr wrap="square" lIns="0" tIns="0" rIns="0" bIns="0" rtlCol="0" anchor="t" anchorCtr="0">
            <a:spAutoFit/>
          </a:bodyPr>
          <a:lstStyle>
            <a:defPPr>
              <a:defRPr lang="en-US"/>
            </a:defPPr>
            <a:lvl1pPr marL="285750" marR="0" lvl="0" indent="-285750" fontAlgn="auto">
              <a:lnSpc>
                <a:spcPct val="100000"/>
              </a:lnSpc>
              <a:spcBef>
                <a:spcPts val="0"/>
              </a:spcBef>
              <a:spcAft>
                <a:spcPts val="0"/>
              </a:spcAft>
              <a:buClr>
                <a:srgbClr val="0078D4"/>
              </a:buClr>
              <a:buSzTx/>
              <a:buFont typeface="Arial" panose="020B0604020202020204" pitchFamily="34" charset="0"/>
              <a:buChar char="•"/>
              <a:tabLst/>
              <a:defRPr kumimoji="0" sz="1400" b="0" i="0" u="none" strike="noStrike" cap="none" spc="0" normalizeH="0" baseline="0">
                <a:ln>
                  <a:noFill/>
                </a:ln>
                <a:solidFill>
                  <a:prstClr val="white"/>
                </a:solidFill>
                <a:effectLst/>
                <a:uLnTx/>
                <a:uFillTx/>
                <a:latin typeface="Segoe Pro" panose="020B0502040504020203" pitchFamily="34" charset="0"/>
              </a:defRPr>
            </a:lvl1pPr>
          </a:lstStyle>
          <a:p>
            <a:pPr marL="0" marR="0" lvl="1" indent="0" algn="l" defTabSz="914400" rtl="0" eaLnBrk="1" fontAlgn="auto" latinLnBrk="0" hangingPunct="1">
              <a:lnSpc>
                <a:spcPct val="100000"/>
              </a:lnSpc>
              <a:spcBef>
                <a:spcPts val="0"/>
              </a:spcBef>
              <a:spcAft>
                <a:spcPts val="1800"/>
              </a:spcAft>
              <a:buClrTx/>
              <a:buSzTx/>
              <a:buFontTx/>
              <a:buNone/>
              <a:tabLst/>
              <a:defRPr/>
            </a:pPr>
            <a:r>
              <a:rPr kumimoji="0" lang="en-US" sz="1200" b="0" i="0" u="none" strike="noStrike" kern="1200" cap="none" spc="0" normalizeH="0" baseline="0" noProof="0" dirty="0">
                <a:ln>
                  <a:noFill/>
                </a:ln>
                <a:solidFill>
                  <a:srgbClr val="50E6FF"/>
                </a:solidFill>
                <a:effectLst/>
                <a:uLnTx/>
                <a:uFillTx/>
                <a:latin typeface="Segoe UI"/>
                <a:ea typeface="+mn-ea"/>
                <a:cs typeface="Segoe UI"/>
              </a:rPr>
              <a:t>Save up to 34% in year 1 </a:t>
            </a:r>
            <a:r>
              <a:rPr kumimoji="0" lang="en-US" sz="1200" b="0" i="0" u="none" strike="noStrike" kern="1200" cap="none" spc="0" normalizeH="0" baseline="0" noProof="0" dirty="0">
                <a:ln>
                  <a:noFill/>
                </a:ln>
                <a:solidFill>
                  <a:srgbClr val="FFFFFF"/>
                </a:solidFill>
                <a:effectLst/>
                <a:uLnTx/>
                <a:uFillTx/>
                <a:latin typeface="Segoe UI"/>
                <a:ea typeface="+mn-ea"/>
                <a:cs typeface="Segoe UI"/>
              </a:rPr>
              <a:t>by adopting Microsoft Cost Management to monitor &amp; reduce spend</a:t>
            </a:r>
          </a:p>
          <a:p>
            <a:pPr marL="0" marR="0" lvl="1" indent="0" algn="l" defTabSz="914400" rtl="0" eaLnBrk="1" fontAlgn="auto" latinLnBrk="0" hangingPunct="1">
              <a:lnSpc>
                <a:spcPct val="100000"/>
              </a:lnSpc>
              <a:spcBef>
                <a:spcPts val="0"/>
              </a:spcBef>
              <a:spcAft>
                <a:spcPts val="180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Segoe UI"/>
                <a:ea typeface="+mn-ea"/>
                <a:cs typeface="Segoe UI"/>
              </a:rPr>
              <a:t>Use Azure Advisor to </a:t>
            </a:r>
            <a:r>
              <a:rPr kumimoji="0" lang="en-US" sz="1200" b="0" i="0" u="none" strike="noStrike" kern="1200" cap="none" spc="0" normalizeH="0" baseline="0" noProof="0" dirty="0">
                <a:ln>
                  <a:noFill/>
                </a:ln>
                <a:solidFill>
                  <a:srgbClr val="50E6FF"/>
                </a:solidFill>
                <a:effectLst/>
                <a:uLnTx/>
                <a:uFillTx/>
                <a:latin typeface="Segoe UI"/>
                <a:ea typeface="+mn-ea"/>
                <a:cs typeface="Segoe UI"/>
              </a:rPr>
              <a:t>ensure technical workloads are well-architected</a:t>
            </a:r>
            <a:r>
              <a:rPr kumimoji="0" lang="en-US" sz="1200" b="0" i="0" u="none" strike="noStrike" kern="1200" cap="none" spc="0" normalizeH="0" baseline="0" noProof="0" dirty="0">
                <a:ln>
                  <a:noFill/>
                </a:ln>
                <a:solidFill>
                  <a:srgbClr val="FFFFFF"/>
                </a:solidFill>
                <a:effectLst/>
                <a:uLnTx/>
                <a:uFillTx/>
                <a:latin typeface="Segoe UI"/>
                <a:ea typeface="+mn-ea"/>
                <a:cs typeface="Segoe UI"/>
              </a:rPr>
              <a:t>; reducing costs, increasing security</a:t>
            </a:r>
            <a:r>
              <a:rPr lang="en-US" sz="1200" dirty="0">
                <a:solidFill>
                  <a:srgbClr val="FFFFFF"/>
                </a:solidFill>
                <a:latin typeface="Segoe UI"/>
                <a:cs typeface="Segoe UI"/>
              </a:rPr>
              <a:t> </a:t>
            </a:r>
            <a:r>
              <a:rPr kumimoji="0" lang="en-US" sz="1200" b="0" i="0" u="none" strike="noStrike" kern="1200" cap="none" spc="0" normalizeH="0" baseline="0" noProof="0" dirty="0">
                <a:ln>
                  <a:noFill/>
                </a:ln>
                <a:solidFill>
                  <a:srgbClr val="FFFFFF"/>
                </a:solidFill>
                <a:effectLst/>
                <a:uLnTx/>
                <a:uFillTx/>
                <a:latin typeface="Segoe UI"/>
                <a:ea typeface="+mn-ea"/>
                <a:cs typeface="Segoe UI"/>
              </a:rPr>
              <a:t>and reliability </a:t>
            </a:r>
          </a:p>
          <a:p>
            <a:pPr marL="0" marR="0" lvl="1" indent="0" algn="l" defTabSz="914400" rtl="0" eaLnBrk="1" fontAlgn="auto" latinLnBrk="0" hangingPunct="1">
              <a:lnSpc>
                <a:spcPct val="100000"/>
              </a:lnSpc>
              <a:spcBef>
                <a:spcPts val="0"/>
              </a:spcBef>
              <a:spcAft>
                <a:spcPts val="180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Segoe UI"/>
                <a:ea typeface="+mn-ea"/>
                <a:cs typeface="Segoe UI"/>
              </a:rPr>
              <a:t>Implement Azure Arc to </a:t>
            </a:r>
            <a:r>
              <a:rPr kumimoji="0" lang="en-US" sz="1200" b="0" i="0" u="none" strike="noStrike" kern="1200" cap="none" spc="0" normalizeH="0" baseline="0" noProof="0" dirty="0">
                <a:ln>
                  <a:noFill/>
                </a:ln>
                <a:solidFill>
                  <a:srgbClr val="50E6FF"/>
                </a:solidFill>
                <a:effectLst/>
                <a:uLnTx/>
                <a:uFillTx/>
                <a:latin typeface="Segoe UI"/>
                <a:ea typeface="+mn-ea"/>
                <a:cs typeface="Segoe UI"/>
              </a:rPr>
              <a:t>streamline costly 3</a:t>
            </a:r>
            <a:r>
              <a:rPr kumimoji="0" lang="en-US" sz="1200" b="0" i="0" u="none" strike="noStrike" kern="1200" cap="none" spc="0" normalizeH="0" baseline="30000" noProof="0" dirty="0">
                <a:ln>
                  <a:noFill/>
                </a:ln>
                <a:solidFill>
                  <a:srgbClr val="50E6FF"/>
                </a:solidFill>
                <a:effectLst/>
                <a:uLnTx/>
                <a:uFillTx/>
                <a:latin typeface="Segoe UI"/>
                <a:ea typeface="+mn-ea"/>
                <a:cs typeface="Segoe UI"/>
              </a:rPr>
              <a:t>rd</a:t>
            </a:r>
            <a:r>
              <a:rPr kumimoji="0" lang="en-US" sz="1200" b="0" i="0" u="none" strike="noStrike" kern="1200" cap="none" spc="0" normalizeH="0" baseline="0" noProof="0" dirty="0">
                <a:ln>
                  <a:noFill/>
                </a:ln>
                <a:solidFill>
                  <a:srgbClr val="50E6FF"/>
                </a:solidFill>
                <a:effectLst/>
                <a:uLnTx/>
                <a:uFillTx/>
                <a:latin typeface="Segoe UI"/>
                <a:ea typeface="+mn-ea"/>
                <a:cs typeface="Segoe UI"/>
              </a:rPr>
              <a:t> party tools</a:t>
            </a:r>
            <a:r>
              <a:rPr kumimoji="0" lang="en-US" sz="1200" b="0" i="0" u="none" strike="noStrike" kern="1200" cap="none" spc="0" normalizeH="0" baseline="0" noProof="0" dirty="0">
                <a:ln>
                  <a:noFill/>
                </a:ln>
                <a:solidFill>
                  <a:srgbClr val="FFFFFF"/>
                </a:solidFill>
                <a:effectLst/>
                <a:uLnTx/>
                <a:uFillTx/>
                <a:latin typeface="Segoe UI"/>
                <a:ea typeface="+mn-ea"/>
                <a:cs typeface="Segoe UI"/>
              </a:rPr>
              <a:t> across on-premise, edge, and multi-cloud</a:t>
            </a:r>
          </a:p>
        </p:txBody>
      </p:sp>
      <p:sp>
        <p:nvSpPr>
          <p:cNvPr id="35" name="TextBox 34">
            <a:extLst>
              <a:ext uri="{FF2B5EF4-FFF2-40B4-BE49-F238E27FC236}">
                <a16:creationId xmlns:a16="http://schemas.microsoft.com/office/drawing/2014/main" id="{D301C86A-8C4F-F429-CD4C-79DC31396149}"/>
              </a:ext>
            </a:extLst>
          </p:cNvPr>
          <p:cNvSpPr txBox="1"/>
          <p:nvPr/>
        </p:nvSpPr>
        <p:spPr>
          <a:xfrm>
            <a:off x="968535" y="3453760"/>
            <a:ext cx="2916205" cy="2308324"/>
          </a:xfrm>
          <a:prstGeom prst="rect">
            <a:avLst/>
          </a:prstGeom>
          <a:noFill/>
        </p:spPr>
        <p:txBody>
          <a:bodyPr wrap="square" lIns="0" tIns="0" rIns="0" bIns="0" rtlCol="0" anchor="t" anchorCtr="0">
            <a:spAutoFit/>
          </a:bodyPr>
          <a:lstStyle>
            <a:defPPr>
              <a:defRPr lang="en-US"/>
            </a:defPPr>
            <a:lvl1pPr marL="285750" marR="0" lvl="0" indent="-285750" fontAlgn="auto">
              <a:lnSpc>
                <a:spcPct val="100000"/>
              </a:lnSpc>
              <a:spcBef>
                <a:spcPts val="0"/>
              </a:spcBef>
              <a:spcAft>
                <a:spcPts val="0"/>
              </a:spcAft>
              <a:buClr>
                <a:srgbClr val="0078D4"/>
              </a:buClr>
              <a:buSzTx/>
              <a:buFont typeface="Arial" panose="020B0604020202020204" pitchFamily="34" charset="0"/>
              <a:buChar char="•"/>
              <a:tabLst/>
              <a:defRPr kumimoji="0" sz="1400" b="0" i="0" u="none" strike="noStrike" cap="none" spc="0" normalizeH="0" baseline="0">
                <a:ln>
                  <a:noFill/>
                </a:ln>
                <a:solidFill>
                  <a:prstClr val="white"/>
                </a:solidFill>
                <a:effectLst/>
                <a:uLnTx/>
                <a:uFillTx/>
                <a:latin typeface="Segoe Pro" panose="020B0502040504020203" pitchFamily="34" charset="0"/>
              </a:defRPr>
            </a:lvl1pPr>
          </a:lstStyle>
          <a:p>
            <a:pPr marL="0" marR="0" lvl="1" indent="0" algn="l" defTabSz="914400" rtl="0" eaLnBrk="1" fontAlgn="auto" latinLnBrk="0" hangingPunct="1">
              <a:lnSpc>
                <a:spcPct val="100000"/>
              </a:lnSpc>
              <a:spcBef>
                <a:spcPts val="0"/>
              </a:spcBef>
              <a:spcAft>
                <a:spcPts val="180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UI"/>
                <a:ea typeface="+mn-ea"/>
                <a:cs typeface="+mn-cs"/>
              </a:rPr>
              <a:t>Manage </a:t>
            </a:r>
            <a:r>
              <a:rPr kumimoji="0" lang="en-US" sz="1200" b="0" i="0" u="none" strike="noStrike" kern="1200" cap="none" spc="0" normalizeH="0" baseline="0" noProof="0">
                <a:ln>
                  <a:noFill/>
                </a:ln>
                <a:solidFill>
                  <a:srgbClr val="50E6FF"/>
                </a:solidFill>
                <a:effectLst/>
                <a:uLnTx/>
                <a:uFillTx/>
                <a:latin typeface="Segoe UI"/>
                <a:ea typeface="+mn-ea"/>
                <a:cs typeface="+mn-cs"/>
              </a:rPr>
              <a:t>escalating energy costs </a:t>
            </a:r>
            <a:r>
              <a:rPr kumimoji="0" lang="en-US" sz="1200" b="0" i="0" u="none" strike="noStrike" kern="1200" cap="none" spc="0" normalizeH="0" baseline="0" noProof="0">
                <a:ln>
                  <a:noFill/>
                </a:ln>
                <a:solidFill>
                  <a:srgbClr val="FFFFFF"/>
                </a:solidFill>
                <a:effectLst/>
                <a:uLnTx/>
                <a:uFillTx/>
                <a:latin typeface="Segoe UI"/>
                <a:ea typeface="+mn-ea"/>
                <a:cs typeface="+mn-cs"/>
              </a:rPr>
              <a:t>while reducing your energy usage and carbon emissions</a:t>
            </a:r>
          </a:p>
          <a:p>
            <a:pPr marL="0" marR="0" lvl="1" indent="0" algn="l" defTabSz="914400" rtl="0" eaLnBrk="1" fontAlgn="auto" latinLnBrk="0" hangingPunct="1">
              <a:lnSpc>
                <a:spcPct val="100000"/>
              </a:lnSpc>
              <a:spcBef>
                <a:spcPts val="0"/>
              </a:spcBef>
              <a:spcAft>
                <a:spcPts val="1800"/>
              </a:spcAft>
              <a:buClrTx/>
              <a:buSzTx/>
              <a:buFontTx/>
              <a:buNone/>
              <a:tabLst/>
              <a:defRPr/>
            </a:pPr>
            <a:r>
              <a:rPr kumimoji="0" lang="en-US" sz="1200" b="0" i="0" u="none" strike="noStrike" kern="1200" cap="none" spc="0" normalizeH="0" baseline="0" noProof="0">
                <a:ln>
                  <a:noFill/>
                </a:ln>
                <a:solidFill>
                  <a:srgbClr val="50E6FF"/>
                </a:solidFill>
                <a:effectLst/>
                <a:uLnTx/>
                <a:uFillTx/>
                <a:latin typeface="Segoe UI"/>
                <a:ea typeface="+mn-ea"/>
                <a:cs typeface="+mn-cs"/>
              </a:rPr>
              <a:t>Save</a:t>
            </a:r>
            <a:r>
              <a:rPr kumimoji="0" lang="en-US" sz="1200" b="0" i="0" u="none" strike="noStrike" kern="1200" cap="none" spc="0" normalizeH="0" baseline="0" noProof="0">
                <a:ln>
                  <a:noFill/>
                </a:ln>
                <a:solidFill>
                  <a:srgbClr val="50E6FF"/>
                </a:solidFill>
                <a:effectLst/>
                <a:uLnTx/>
                <a:uFillTx/>
                <a:latin typeface="Segoe UI"/>
                <a:ea typeface="+mn-ea"/>
                <a:cs typeface="Segoe UI"/>
              </a:rPr>
              <a:t> on IT infrastructure costs </a:t>
            </a:r>
            <a:r>
              <a:rPr kumimoji="0" lang="en-US" sz="1200" b="0" i="0" u="none" strike="noStrike" kern="1200" cap="none" spc="0" normalizeH="0" baseline="0" noProof="0">
                <a:ln>
                  <a:noFill/>
                </a:ln>
                <a:solidFill>
                  <a:srgbClr val="FFFFFF"/>
                </a:solidFill>
                <a:effectLst/>
                <a:uLnTx/>
                <a:uFillTx/>
                <a:latin typeface="Segoe UI"/>
                <a:ea typeface="+mn-ea"/>
                <a:cs typeface="Segoe UI"/>
              </a:rPr>
              <a:t>and improve operational efficiency, while maintaining agility</a:t>
            </a:r>
            <a:endParaRPr lang="en-US" sz="1200" b="0" i="0" u="none" strike="noStrike" kern="1200" cap="none" spc="0" normalizeH="0" baseline="0" noProof="0">
              <a:ln>
                <a:noFill/>
              </a:ln>
              <a:solidFill>
                <a:srgbClr val="FFFFFF"/>
              </a:solidFill>
              <a:effectLst/>
              <a:uLnTx/>
              <a:uFillTx/>
              <a:latin typeface="Segoe UI"/>
              <a:cs typeface="Segoe UI"/>
            </a:endParaRPr>
          </a:p>
          <a:p>
            <a:pPr marL="0" lvl="1">
              <a:spcAft>
                <a:spcPts val="1800"/>
              </a:spcAft>
              <a:defRPr/>
            </a:pPr>
            <a:r>
              <a:rPr kumimoji="0" lang="en-US" sz="1200" b="0" i="0" u="none" strike="noStrike" kern="1200" cap="none" spc="0" normalizeH="0" baseline="0" noProof="0">
                <a:ln>
                  <a:noFill/>
                </a:ln>
                <a:solidFill>
                  <a:srgbClr val="FFFFFF"/>
                </a:solidFill>
                <a:effectLst/>
                <a:uLnTx/>
                <a:uFillTx/>
                <a:latin typeface="Segoe UI"/>
                <a:ea typeface="+mn-ea"/>
                <a:cs typeface="Segoe UI"/>
              </a:rPr>
              <a:t>Achieve </a:t>
            </a:r>
            <a:r>
              <a:rPr kumimoji="0" lang="en-US" sz="1200" b="0" i="0" u="none" strike="noStrike" kern="1200" cap="none" spc="0" normalizeH="0" baseline="0" noProof="0">
                <a:ln>
                  <a:noFill/>
                </a:ln>
                <a:solidFill>
                  <a:srgbClr val="50E6FF"/>
                </a:solidFill>
                <a:effectLst/>
                <a:uLnTx/>
                <a:uFillTx/>
                <a:latin typeface="Segoe UI"/>
                <a:ea typeface="+mn-ea"/>
                <a:cs typeface="Segoe UI"/>
              </a:rPr>
              <a:t>up to 85% savings</a:t>
            </a:r>
            <a:r>
              <a:rPr kumimoji="0" lang="en-US" sz="1200" b="0" i="0" u="none" strike="noStrike" kern="1200" cap="none" spc="0" normalizeH="0" baseline="0" noProof="0">
                <a:ln>
                  <a:noFill/>
                </a:ln>
                <a:solidFill>
                  <a:srgbClr val="FFFFFF"/>
                </a:solidFill>
                <a:effectLst/>
                <a:uLnTx/>
                <a:uFillTx/>
                <a:latin typeface="Segoe UI"/>
                <a:ea typeface="+mn-ea"/>
                <a:cs typeface="Segoe UI"/>
              </a:rPr>
              <a:t> over standard pay-as-you-go rate</a:t>
            </a:r>
            <a:r>
              <a:rPr kumimoji="0" lang="en-US" sz="1200" b="0" i="0" u="none" strike="noStrike" kern="1200" cap="none" spc="0" normalizeH="0" baseline="0" noProof="0">
                <a:ln>
                  <a:noFill/>
                </a:ln>
                <a:solidFill>
                  <a:srgbClr val="50E6FF"/>
                </a:solidFill>
                <a:effectLst/>
                <a:uLnTx/>
                <a:uFillTx/>
                <a:latin typeface="Segoe UI"/>
                <a:ea typeface="+mn-ea"/>
                <a:cs typeface="Segoe UI"/>
              </a:rPr>
              <a:t> when migrating Windows &amp; SQL Server </a:t>
            </a:r>
            <a:r>
              <a:rPr kumimoji="0" lang="en-US" sz="1200" b="0" i="0" u="none" strike="noStrike" kern="1200" cap="none" spc="0" normalizeH="0" baseline="0" noProof="0">
                <a:ln>
                  <a:noFill/>
                </a:ln>
                <a:solidFill>
                  <a:srgbClr val="FFFFFF"/>
                </a:solidFill>
                <a:effectLst/>
                <a:uLnTx/>
                <a:uFillTx/>
                <a:latin typeface="Segoe UI"/>
                <a:ea typeface="+mn-ea"/>
                <a:cs typeface="Segoe UI"/>
              </a:rPr>
              <a:t>licenses with Azure Hybrid </a:t>
            </a:r>
            <a:r>
              <a:rPr lang="en-US" sz="1200">
                <a:solidFill>
                  <a:srgbClr val="FFFFFF"/>
                </a:solidFill>
                <a:latin typeface="Segoe UI"/>
                <a:cs typeface="Segoe UI"/>
              </a:rPr>
              <a:t>Bo </a:t>
            </a:r>
            <a:r>
              <a:rPr lang="en-US" sz="1200" err="1">
                <a:solidFill>
                  <a:srgbClr val="FFFFFF"/>
                </a:solidFill>
                <a:latin typeface="Segoe UI"/>
                <a:cs typeface="Segoe UI"/>
              </a:rPr>
              <a:t>enefit</a:t>
            </a:r>
            <a:endParaRPr lang="en-US" sz="1200" b="0" i="0" u="none" strike="noStrike" kern="1200" cap="none" spc="0" normalizeH="0" baseline="0" noProof="0">
              <a:ln>
                <a:noFill/>
              </a:ln>
              <a:solidFill>
                <a:srgbClr val="FFFFFF"/>
              </a:solidFill>
              <a:effectLst/>
              <a:uLnTx/>
              <a:uFillTx/>
              <a:latin typeface="Segoe UI"/>
              <a:cs typeface="Segoe UI"/>
            </a:endParaRPr>
          </a:p>
        </p:txBody>
      </p:sp>
      <p:pic>
        <p:nvPicPr>
          <p:cNvPr id="19" name="Picture 18" descr="Migrate icon">
            <a:extLst>
              <a:ext uri="{FF2B5EF4-FFF2-40B4-BE49-F238E27FC236}">
                <a16:creationId xmlns:a16="http://schemas.microsoft.com/office/drawing/2014/main" id="{52D48946-7E4C-BDEB-91ED-5C69509EAAA9}"/>
              </a:ext>
            </a:extLst>
          </p:cNvPr>
          <p:cNvPicPr>
            <a:picLocks noChangeAspect="1"/>
          </p:cNvPicPr>
          <p:nvPr/>
        </p:nvPicPr>
        <p:blipFill>
          <a:blip r:embed="rId3"/>
          <a:stretch>
            <a:fillRect/>
          </a:stretch>
        </p:blipFill>
        <p:spPr>
          <a:xfrm>
            <a:off x="3430113" y="1995676"/>
            <a:ext cx="488779" cy="488779"/>
          </a:xfrm>
          <a:prstGeom prst="rect">
            <a:avLst/>
          </a:prstGeom>
        </p:spPr>
      </p:pic>
      <p:pic>
        <p:nvPicPr>
          <p:cNvPr id="2" name="Picture 1" descr="Reinvest icon">
            <a:extLst>
              <a:ext uri="{FF2B5EF4-FFF2-40B4-BE49-F238E27FC236}">
                <a16:creationId xmlns:a16="http://schemas.microsoft.com/office/drawing/2014/main" id="{8D2BDF07-3797-08C4-8880-5A886E849E23}"/>
              </a:ext>
            </a:extLst>
          </p:cNvPr>
          <p:cNvPicPr>
            <a:picLocks noChangeAspect="1"/>
          </p:cNvPicPr>
          <p:nvPr/>
        </p:nvPicPr>
        <p:blipFill>
          <a:blip r:embed="rId4"/>
          <a:srcRect/>
          <a:stretch/>
        </p:blipFill>
        <p:spPr>
          <a:xfrm>
            <a:off x="10892568" y="1995676"/>
            <a:ext cx="488780" cy="488780"/>
          </a:xfrm>
          <a:prstGeom prst="rect">
            <a:avLst/>
          </a:prstGeom>
        </p:spPr>
      </p:pic>
      <p:pic>
        <p:nvPicPr>
          <p:cNvPr id="5" name="Picture 4" descr="Optimize icon">
            <a:extLst>
              <a:ext uri="{FF2B5EF4-FFF2-40B4-BE49-F238E27FC236}">
                <a16:creationId xmlns:a16="http://schemas.microsoft.com/office/drawing/2014/main" id="{EE284389-2838-F0BC-38E8-CC398425193C}"/>
              </a:ext>
            </a:extLst>
          </p:cNvPr>
          <p:cNvPicPr>
            <a:picLocks noChangeAspect="1"/>
          </p:cNvPicPr>
          <p:nvPr/>
        </p:nvPicPr>
        <p:blipFill>
          <a:blip r:embed="rId5"/>
          <a:stretch>
            <a:fillRect/>
          </a:stretch>
        </p:blipFill>
        <p:spPr>
          <a:xfrm>
            <a:off x="7074209" y="1995676"/>
            <a:ext cx="546855" cy="546855"/>
          </a:xfrm>
          <a:prstGeom prst="rect">
            <a:avLst/>
          </a:prstGeom>
        </p:spPr>
      </p:pic>
    </p:spTree>
    <p:extLst>
      <p:ext uri="{BB962C8B-B14F-4D97-AF65-F5344CB8AC3E}">
        <p14:creationId xmlns:p14="http://schemas.microsoft.com/office/powerpoint/2010/main" val="3797509634"/>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descr="Migrate and save illustration">
            <a:extLst>
              <a:ext uri="{FF2B5EF4-FFF2-40B4-BE49-F238E27FC236}">
                <a16:creationId xmlns:a16="http://schemas.microsoft.com/office/drawing/2014/main" id="{55DB5E29-CC00-FC19-7CED-F9483501E538}"/>
              </a:ext>
            </a:extLst>
          </p:cNvPr>
          <p:cNvGrpSpPr/>
          <p:nvPr/>
        </p:nvGrpSpPr>
        <p:grpSpPr>
          <a:xfrm>
            <a:off x="8624735" y="302490"/>
            <a:ext cx="3567264" cy="5483740"/>
            <a:chOff x="8624735" y="302490"/>
            <a:chExt cx="3567264" cy="5483740"/>
          </a:xfrm>
        </p:grpSpPr>
        <p:sp>
          <p:nvSpPr>
            <p:cNvPr id="68" name="Rectangle: Rounded Corners 15">
              <a:extLst>
                <a:ext uri="{FF2B5EF4-FFF2-40B4-BE49-F238E27FC236}">
                  <a16:creationId xmlns:a16="http://schemas.microsoft.com/office/drawing/2014/main" id="{A559459C-F3B1-427E-C3F4-EB187B4E2778}"/>
                </a:ext>
              </a:extLst>
            </p:cNvPr>
            <p:cNvSpPr/>
            <p:nvPr/>
          </p:nvSpPr>
          <p:spPr bwMode="auto">
            <a:xfrm flipV="1">
              <a:off x="8684454" y="1853734"/>
              <a:ext cx="3507545" cy="3932496"/>
            </a:xfrm>
            <a:prstGeom prst="roundRect">
              <a:avLst>
                <a:gd name="adj" fmla="val 6573"/>
              </a:avLst>
            </a:prstGeom>
            <a:gradFill>
              <a:gsLst>
                <a:gs pos="0">
                  <a:schemeClr val="accent2">
                    <a:alpha val="64000"/>
                  </a:schemeClr>
                </a:gs>
                <a:gs pos="47000">
                  <a:schemeClr val="bg1"/>
                </a:gs>
              </a:gsLst>
              <a:lin ang="4200000" scaled="0"/>
            </a:gradFill>
            <a:ln w="12700" cap="flat" cmpd="sng" algn="ctr">
              <a:noFill/>
              <a:prstDash val="solid"/>
              <a:headEnd type="none" w="med" len="med"/>
              <a:tailEnd type="none" w="med" len="med"/>
            </a:ln>
            <a:effectLst/>
          </p:spPr>
          <p:txBody>
            <a:bodyPr rot="0" spcFirstLastPara="0" vertOverflow="overflow" horzOverflow="overflow" vert="horz" wrap="square" lIns="72000" tIns="180000" rIns="72000" bIns="14400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err="1">
                <a:ln>
                  <a:noFill/>
                </a:ln>
                <a:gradFill flip="none" rotWithShape="1">
                  <a:gsLst>
                    <a:gs pos="0">
                      <a:srgbClr val="50E6FF"/>
                    </a:gs>
                    <a:gs pos="100000">
                      <a:srgbClr val="D59DFF"/>
                    </a:gs>
                  </a:gsLst>
                  <a:lin ang="2700000" scaled="1"/>
                  <a:tileRect/>
                </a:gradFill>
                <a:effectLst/>
                <a:uLnTx/>
                <a:uFillTx/>
                <a:latin typeface="Segoe UI Semibold"/>
                <a:ea typeface="+mn-ea"/>
                <a:cs typeface="+mn-cs"/>
              </a:endParaRPr>
            </a:p>
          </p:txBody>
        </p:sp>
        <p:sp>
          <p:nvSpPr>
            <p:cNvPr id="72" name="Oval 71">
              <a:extLst>
                <a:ext uri="{FF2B5EF4-FFF2-40B4-BE49-F238E27FC236}">
                  <a16:creationId xmlns:a16="http://schemas.microsoft.com/office/drawing/2014/main" id="{A0407697-387C-821E-D47E-F20E2E07F7E3}"/>
                </a:ext>
                <a:ext uri="{C183D7F6-B498-43B3-948B-1728B52AA6E4}">
                  <adec:decorative xmlns:adec="http://schemas.microsoft.com/office/drawing/2017/decorative" val="1"/>
                </a:ext>
              </a:extLst>
            </p:cNvPr>
            <p:cNvSpPr/>
            <p:nvPr/>
          </p:nvSpPr>
          <p:spPr bwMode="auto">
            <a:xfrm rot="10800000">
              <a:off x="8624735" y="302490"/>
              <a:ext cx="3312035" cy="3429000"/>
            </a:xfrm>
            <a:prstGeom prst="ellipse">
              <a:avLst/>
            </a:prstGeom>
            <a:gradFill flip="none" rotWithShape="1">
              <a:gsLst>
                <a:gs pos="0">
                  <a:schemeClr val="accent3"/>
                </a:gs>
                <a:gs pos="58000">
                  <a:schemeClr val="bg1"/>
                </a:gs>
              </a:gsLst>
              <a:path path="circle">
                <a:fillToRect l="50000" t="50000" r="50000" b="50000"/>
              </a:path>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Segoe UI"/>
                <a:ea typeface="Segoe UI" pitchFamily="34" charset="0"/>
                <a:cs typeface="Segoe UI" pitchFamily="34" charset="0"/>
              </a:endParaRPr>
            </a:p>
          </p:txBody>
        </p:sp>
        <p:pic>
          <p:nvPicPr>
            <p:cNvPr id="67" name="Picture 66">
              <a:extLst>
                <a:ext uri="{FF2B5EF4-FFF2-40B4-BE49-F238E27FC236}">
                  <a16:creationId xmlns:a16="http://schemas.microsoft.com/office/drawing/2014/main" id="{78E38434-90CA-72DE-2938-26438BE9DEF7}"/>
                </a:ext>
                <a:ext uri="{C183D7F6-B498-43B3-948B-1728B52AA6E4}">
                  <adec:decorative xmlns:adec="http://schemas.microsoft.com/office/drawing/2017/decorative" val="1"/>
                </a:ext>
              </a:extLst>
            </p:cNvPr>
            <p:cNvPicPr>
              <a:picLocks noChangeAspect="1"/>
            </p:cNvPicPr>
            <p:nvPr/>
          </p:nvPicPr>
          <p:blipFill rotWithShape="1">
            <a:blip r:embed="rId3">
              <a:clrChange>
                <a:clrFrom>
                  <a:srgbClr val="000000"/>
                </a:clrFrom>
                <a:clrTo>
                  <a:srgbClr val="000000">
                    <a:alpha val="0"/>
                  </a:srgbClr>
                </a:clrTo>
              </a:clrChange>
            </a:blip>
            <a:srcRect l="8542" t="-1724" r="3115" b="5016"/>
            <a:stretch/>
          </p:blipFill>
          <p:spPr>
            <a:xfrm>
              <a:off x="9034741" y="1048722"/>
              <a:ext cx="2660909" cy="2682769"/>
            </a:xfrm>
            <a:prstGeom prst="rect">
              <a:avLst/>
            </a:prstGeom>
          </p:spPr>
        </p:pic>
      </p:grpSp>
      <p:sp>
        <p:nvSpPr>
          <p:cNvPr id="2" name="Title 1">
            <a:extLst>
              <a:ext uri="{FF2B5EF4-FFF2-40B4-BE49-F238E27FC236}">
                <a16:creationId xmlns:a16="http://schemas.microsoft.com/office/drawing/2014/main" id="{D8F2E69C-F4E6-857F-67C3-235F04633252}"/>
              </a:ext>
            </a:extLst>
          </p:cNvPr>
          <p:cNvSpPr>
            <a:spLocks noGrp="1"/>
          </p:cNvSpPr>
          <p:nvPr>
            <p:ph type="title"/>
          </p:nvPr>
        </p:nvSpPr>
        <p:spPr>
          <a:xfrm>
            <a:off x="588263" y="1630942"/>
            <a:ext cx="11018520" cy="492443"/>
          </a:xfrm>
        </p:spPr>
        <p:txBody>
          <a:bodyPr/>
          <a:lstStyle/>
          <a:p>
            <a:r>
              <a:rPr lang="en-US" sz="3200">
                <a:cs typeface="Segoe UI"/>
              </a:rPr>
              <a:t>Lower costs and increase ROI</a:t>
            </a:r>
          </a:p>
        </p:txBody>
      </p:sp>
      <p:sp>
        <p:nvSpPr>
          <p:cNvPr id="11" name="Content Placeholder 10">
            <a:extLst>
              <a:ext uri="{FF2B5EF4-FFF2-40B4-BE49-F238E27FC236}">
                <a16:creationId xmlns:a16="http://schemas.microsoft.com/office/drawing/2014/main" id="{5E3D9F04-BE1E-D479-1802-1B82FC75A87A}"/>
              </a:ext>
            </a:extLst>
          </p:cNvPr>
          <p:cNvSpPr>
            <a:spLocks noGrp="1"/>
          </p:cNvSpPr>
          <p:nvPr>
            <p:ph sz="quarter" idx="10"/>
          </p:nvPr>
        </p:nvSpPr>
        <p:spPr>
          <a:xfrm>
            <a:off x="584200" y="2737928"/>
            <a:ext cx="2468880" cy="561692"/>
          </a:xfrm>
        </p:spPr>
        <p:txBody>
          <a:bodyPr vert="horz" wrap="square" lIns="0" tIns="0" rIns="0" bIns="0" rtlCol="0" anchor="t">
            <a:spAutoFit/>
          </a:bodyPr>
          <a:lstStyle/>
          <a:p>
            <a:pPr marL="0" indent="0" defTabSz="914367" fontAlgn="ctr">
              <a:lnSpc>
                <a:spcPct val="90000"/>
              </a:lnSpc>
              <a:spcBef>
                <a:spcPts val="0"/>
              </a:spcBef>
              <a:spcAft>
                <a:spcPts val="200"/>
              </a:spcAft>
              <a:buClr>
                <a:schemeClr val="tx1"/>
              </a:buClr>
              <a:buSzPct val="100000"/>
              <a:buNone/>
              <a:defRPr/>
            </a:pPr>
            <a:r>
              <a:rPr lang="en-US" sz="2000" spc="-50">
                <a:ln w="3175">
                  <a:noFill/>
                </a:ln>
                <a:latin typeface="+mj-lt"/>
                <a:cs typeface="Segoe UI"/>
              </a:rPr>
              <a:t>Use your existing investments</a:t>
            </a:r>
          </a:p>
        </p:txBody>
      </p:sp>
      <p:sp>
        <p:nvSpPr>
          <p:cNvPr id="10" name="Content Placeholder 10">
            <a:extLst>
              <a:ext uri="{FF2B5EF4-FFF2-40B4-BE49-F238E27FC236}">
                <a16:creationId xmlns:a16="http://schemas.microsoft.com/office/drawing/2014/main" id="{A0321D96-DD12-0653-3DB1-B2FF67EA4B3C}"/>
              </a:ext>
            </a:extLst>
          </p:cNvPr>
          <p:cNvSpPr txBox="1">
            <a:spLocks/>
          </p:cNvSpPr>
          <p:nvPr/>
        </p:nvSpPr>
        <p:spPr>
          <a:xfrm>
            <a:off x="3463086" y="2737928"/>
            <a:ext cx="2468880" cy="745845"/>
          </a:xfrm>
          <a:prstGeom prst="rect">
            <a:avLst/>
          </a:prstGeom>
        </p:spPr>
        <p:txBody>
          <a:bodyPr vert="horz" wrap="square" lIns="0" tIns="0" rIns="0" bIns="0" rtlCol="0" anchor="t">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914367">
              <a:lnSpc>
                <a:spcPct val="90000"/>
              </a:lnSpc>
              <a:spcBef>
                <a:spcPts val="0"/>
              </a:spcBef>
              <a:spcAft>
                <a:spcPts val="200"/>
              </a:spcAft>
              <a:buClr>
                <a:schemeClr val="tx1"/>
              </a:buClr>
              <a:buSzPct val="100000"/>
              <a:buNone/>
              <a:defRPr/>
            </a:pPr>
            <a:r>
              <a:rPr lang="en-US" sz="2000">
                <a:latin typeface="+mj-lt"/>
                <a:cs typeface="+mn-cs"/>
              </a:rPr>
              <a:t>Maximize your savings</a:t>
            </a:r>
          </a:p>
          <a:p>
            <a:pPr marL="0" indent="0" defTabSz="914367">
              <a:lnSpc>
                <a:spcPct val="90000"/>
              </a:lnSpc>
              <a:spcBef>
                <a:spcPts val="0"/>
              </a:spcBef>
              <a:spcAft>
                <a:spcPts val="200"/>
              </a:spcAft>
              <a:buClr>
                <a:schemeClr val="tx1"/>
              </a:buClr>
              <a:buSzPct val="100000"/>
              <a:buNone/>
              <a:defRPr/>
            </a:pPr>
            <a:endParaRPr lang="en-US" sz="1200">
              <a:latin typeface="+mj-lt"/>
              <a:cs typeface="+mn-cs"/>
            </a:endParaRPr>
          </a:p>
        </p:txBody>
      </p:sp>
      <p:sp>
        <p:nvSpPr>
          <p:cNvPr id="14" name="Content Placeholder 10">
            <a:extLst>
              <a:ext uri="{FF2B5EF4-FFF2-40B4-BE49-F238E27FC236}">
                <a16:creationId xmlns:a16="http://schemas.microsoft.com/office/drawing/2014/main" id="{FA01E98A-8A47-3732-9751-DE299DDF3C16}"/>
              </a:ext>
            </a:extLst>
          </p:cNvPr>
          <p:cNvSpPr txBox="1">
            <a:spLocks/>
          </p:cNvSpPr>
          <p:nvPr/>
        </p:nvSpPr>
        <p:spPr>
          <a:xfrm>
            <a:off x="6279379" y="2737928"/>
            <a:ext cx="2468880" cy="561692"/>
          </a:xfrm>
          <a:prstGeom prst="rect">
            <a:avLst/>
          </a:prstGeom>
        </p:spPr>
        <p:txBody>
          <a:bodyPr vert="horz" wrap="square" lIns="0" tIns="0" rIns="0" bIns="0" rtlCol="0" anchor="t">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914367" fontAlgn="ctr">
              <a:lnSpc>
                <a:spcPct val="90000"/>
              </a:lnSpc>
              <a:spcBef>
                <a:spcPts val="0"/>
              </a:spcBef>
              <a:spcAft>
                <a:spcPts val="200"/>
              </a:spcAft>
              <a:buClr>
                <a:schemeClr val="tx1"/>
              </a:buClr>
              <a:buSzPct val="100000"/>
              <a:buNone/>
              <a:defRPr/>
            </a:pPr>
            <a:r>
              <a:rPr lang="en-US" sz="2000">
                <a:latin typeface="+mj-lt"/>
                <a:cs typeface="+mn-cs"/>
              </a:rPr>
              <a:t>Increase sustainability</a:t>
            </a:r>
            <a:endParaRPr lang="en-US" sz="2000">
              <a:solidFill>
                <a:schemeClr val="accent1"/>
              </a:solidFill>
              <a:latin typeface="+mj-lt"/>
              <a:cs typeface="+mn-cs"/>
            </a:endParaRPr>
          </a:p>
        </p:txBody>
      </p:sp>
      <p:sp>
        <p:nvSpPr>
          <p:cNvPr id="6" name="TextBox 5">
            <a:extLst>
              <a:ext uri="{FF2B5EF4-FFF2-40B4-BE49-F238E27FC236}">
                <a16:creationId xmlns:a16="http://schemas.microsoft.com/office/drawing/2014/main" id="{AB9A0FC0-DD0F-CBDA-DD77-CB8365192726}"/>
              </a:ext>
            </a:extLst>
          </p:cNvPr>
          <p:cNvSpPr txBox="1"/>
          <p:nvPr/>
        </p:nvSpPr>
        <p:spPr>
          <a:xfrm>
            <a:off x="9072066" y="4593555"/>
            <a:ext cx="2503779" cy="847155"/>
          </a:xfrm>
          <a:prstGeom prst="rect">
            <a:avLst/>
          </a:prstGeom>
          <a:noFill/>
        </p:spPr>
        <p:txBody>
          <a:bodyPr wrap="square">
            <a:spAutoFit/>
          </a:bodyPr>
          <a:lstStyle/>
          <a:p>
            <a:pPr marL="0" indent="0" defTabSz="914367" fontAlgn="ctr">
              <a:lnSpc>
                <a:spcPct val="90000"/>
              </a:lnSpc>
              <a:spcBef>
                <a:spcPts val="0"/>
              </a:spcBef>
              <a:spcAft>
                <a:spcPts val="200"/>
              </a:spcAft>
              <a:buClr>
                <a:schemeClr val="tx1"/>
              </a:buClr>
              <a:buSzPct val="100000"/>
              <a:buNone/>
              <a:defRPr/>
            </a:pPr>
            <a:r>
              <a:rPr lang="en-US" spc="-50" dirty="0">
                <a:ln w="3175">
                  <a:noFill/>
                </a:ln>
                <a:cs typeface="Segoe UI"/>
              </a:rPr>
              <a:t>Customers can realize up to </a:t>
            </a:r>
            <a:r>
              <a:rPr lang="en-US" spc="-50" dirty="0">
                <a:ln w="3175">
                  <a:noFill/>
                </a:ln>
                <a:solidFill>
                  <a:schemeClr val="accent1"/>
                </a:solidFill>
                <a:cs typeface="Segoe UI"/>
              </a:rPr>
              <a:t>391% ROI on migrating to Azure</a:t>
            </a:r>
            <a:r>
              <a:rPr lang="en-US" sz="1200" spc="-50" baseline="40000" dirty="0">
                <a:ln w="3175">
                  <a:noFill/>
                </a:ln>
                <a:solidFill>
                  <a:schemeClr val="accent1"/>
                </a:solidFill>
                <a:cs typeface="Segoe UI"/>
              </a:rPr>
              <a:t>3</a:t>
            </a:r>
          </a:p>
        </p:txBody>
      </p:sp>
      <p:sp>
        <p:nvSpPr>
          <p:cNvPr id="15" name="TextBox 14">
            <a:extLst>
              <a:ext uri="{FF2B5EF4-FFF2-40B4-BE49-F238E27FC236}">
                <a16:creationId xmlns:a16="http://schemas.microsoft.com/office/drawing/2014/main" id="{0B5F3BA4-B7BB-B27F-4A08-3537081F47BC}"/>
              </a:ext>
            </a:extLst>
          </p:cNvPr>
          <p:cNvSpPr txBox="1"/>
          <p:nvPr/>
        </p:nvSpPr>
        <p:spPr>
          <a:xfrm>
            <a:off x="502347" y="6180356"/>
            <a:ext cx="10584132" cy="415498"/>
          </a:xfrm>
          <a:prstGeom prst="rect">
            <a:avLst/>
          </a:prstGeom>
          <a:noFill/>
        </p:spPr>
        <p:txBody>
          <a:bodyPr wrap="square">
            <a:spAutoFit/>
          </a:bodyPr>
          <a:lstStyle/>
          <a:p>
            <a:pPr marL="228600" indent="-228600">
              <a:buAutoNum type="arabicPeriod"/>
            </a:pPr>
            <a:r>
              <a:rPr lang="en-US" sz="700" dirty="0">
                <a:solidFill>
                  <a:srgbClr val="737373"/>
                </a:solidFill>
                <a:latin typeface="Segoe UI" panose="020B0502040204020203" pitchFamily="34" charset="0"/>
                <a:hlinkClick r:id="rId4">
                  <a:extLst>
                    <a:ext uri="{A12FA001-AC4F-418D-AE19-62706E023703}">
                      <ahyp:hlinkClr xmlns:ahyp="http://schemas.microsoft.com/office/drawing/2018/hyperlinkcolor" val="tx"/>
                    </a:ext>
                  </a:extLst>
                </a:hlinkClick>
              </a:rPr>
              <a:t>Azure savings plan for compute blog</a:t>
            </a:r>
            <a:endParaRPr lang="en-US" sz="700" dirty="0">
              <a:solidFill>
                <a:srgbClr val="737373"/>
              </a:solidFill>
              <a:latin typeface="Segoe UI" panose="020B0502040204020203" pitchFamily="34" charset="0"/>
            </a:endParaRPr>
          </a:p>
          <a:p>
            <a:pPr marL="228600" indent="-228600">
              <a:buAutoNum type="arabicPeriod"/>
            </a:pPr>
            <a:r>
              <a:rPr lang="en-US" sz="700" dirty="0">
                <a:solidFill>
                  <a:srgbClr val="737373"/>
                </a:solidFill>
                <a:latin typeface="Segoe UI" panose="020B0502040204020203" pitchFamily="34" charset="0"/>
                <a:hlinkClick r:id="rId5">
                  <a:extLst>
                    <a:ext uri="{A12FA001-AC4F-418D-AE19-62706E023703}">
                      <ahyp:hlinkClr xmlns:ahyp="http://schemas.microsoft.com/office/drawing/2018/hyperlinkcolor" val="tx"/>
                    </a:ext>
                  </a:extLst>
                </a:hlinkClick>
              </a:rPr>
              <a:t>The Carbon Benefits of Cloud Computing: a Study of the Microsoft Cloud</a:t>
            </a:r>
            <a:endParaRPr lang="en-US" sz="700" dirty="0">
              <a:solidFill>
                <a:srgbClr val="737373"/>
              </a:solidFill>
              <a:latin typeface="Segoe UI" panose="020B0502040204020203" pitchFamily="34" charset="0"/>
            </a:endParaRPr>
          </a:p>
          <a:p>
            <a:pPr marL="228600" indent="-228600">
              <a:buFontTx/>
              <a:buAutoNum type="arabicPeriod"/>
            </a:pPr>
            <a:r>
              <a:rPr lang="en-US" sz="700" dirty="0">
                <a:solidFill>
                  <a:srgbClr val="737373"/>
                </a:solidFill>
                <a:effectLst/>
                <a:latin typeface="Segoe UI" panose="020B0502040204020203" pitchFamily="34" charset="0"/>
                <a:hlinkClick r:id="rId6">
                  <a:extLst>
                    <a:ext uri="{A12FA001-AC4F-418D-AE19-62706E023703}">
                      <ahyp:hlinkClr xmlns:ahyp="http://schemas.microsoft.com/office/drawing/2018/hyperlinkcolor" val="tx"/>
                    </a:ext>
                  </a:extLst>
                </a:hlinkClick>
              </a:rPr>
              <a:t>IDC Business value of migrating and modernizing to Azure</a:t>
            </a:r>
            <a:r>
              <a:rPr lang="en-US" sz="700" dirty="0">
                <a:solidFill>
                  <a:srgbClr val="737373"/>
                </a:solidFill>
                <a:effectLst/>
                <a:latin typeface="Segoe UI" panose="020B0502040204020203" pitchFamily="34" charset="0"/>
              </a:rPr>
              <a:t> commissioned by Microsoft</a:t>
            </a:r>
          </a:p>
        </p:txBody>
      </p:sp>
      <p:cxnSp>
        <p:nvCxnSpPr>
          <p:cNvPr id="55" name="Straight Connector 54">
            <a:extLst>
              <a:ext uri="{FF2B5EF4-FFF2-40B4-BE49-F238E27FC236}">
                <a16:creationId xmlns:a16="http://schemas.microsoft.com/office/drawing/2014/main" id="{C359C127-D7C1-863E-0DBD-7B20D2C82CE8}"/>
              </a:ext>
              <a:ext uri="{C183D7F6-B498-43B3-948B-1728B52AA6E4}">
                <adec:decorative xmlns:adec="http://schemas.microsoft.com/office/drawing/2017/decorative" val="1"/>
              </a:ext>
            </a:extLst>
          </p:cNvPr>
          <p:cNvCxnSpPr>
            <a:cxnSpLocks/>
          </p:cNvCxnSpPr>
          <p:nvPr/>
        </p:nvCxnSpPr>
        <p:spPr>
          <a:xfrm flipV="1">
            <a:off x="751316" y="3414274"/>
            <a:ext cx="0" cy="500083"/>
          </a:xfrm>
          <a:prstGeom prst="line">
            <a:avLst/>
          </a:prstGeom>
          <a:ln>
            <a:gradFill>
              <a:gsLst>
                <a:gs pos="0">
                  <a:schemeClr val="accent1">
                    <a:alpha val="0"/>
                  </a:schemeClr>
                </a:gs>
                <a:gs pos="44000">
                  <a:schemeClr val="accent1"/>
                </a:gs>
                <a:gs pos="100000">
                  <a:schemeClr val="accent2"/>
                </a:gs>
              </a:gsLst>
              <a:lin ang="54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6" name="Content Placeholder 10">
            <a:extLst>
              <a:ext uri="{FF2B5EF4-FFF2-40B4-BE49-F238E27FC236}">
                <a16:creationId xmlns:a16="http://schemas.microsoft.com/office/drawing/2014/main" id="{05684923-A040-A456-0A74-5DCB8E87BAA1}"/>
              </a:ext>
            </a:extLst>
          </p:cNvPr>
          <p:cNvSpPr txBox="1">
            <a:spLocks/>
          </p:cNvSpPr>
          <p:nvPr/>
        </p:nvSpPr>
        <p:spPr>
          <a:xfrm>
            <a:off x="584200" y="4659727"/>
            <a:ext cx="2602620" cy="861774"/>
          </a:xfrm>
          <a:prstGeom prst="rect">
            <a:avLst/>
          </a:prstGeom>
        </p:spPr>
        <p:txBody>
          <a:bodyPr vert="horz" wrap="square" lIns="0" tIns="0" rIns="0" bIns="0" rtlCol="0" anchor="t">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914367" fontAlgn="ctr">
              <a:spcBef>
                <a:spcPts val="0"/>
              </a:spcBef>
              <a:spcAft>
                <a:spcPts val="200"/>
              </a:spcAft>
              <a:buClr>
                <a:schemeClr val="tx1"/>
              </a:buClr>
              <a:buSzPct val="100000"/>
              <a:buNone/>
              <a:defRPr/>
            </a:pPr>
            <a:r>
              <a:rPr lang="en-US" sz="1400">
                <a:solidFill>
                  <a:schemeClr val="accent1"/>
                </a:solidFill>
                <a:cs typeface="+mn-cs"/>
              </a:rPr>
              <a:t>Save up to 85% over pay-as-you-go rates when migrating Windows &amp; SQL Server licenses with Azure Hybrid Benefit</a:t>
            </a:r>
            <a:endParaRPr lang="en-US" sz="1400">
              <a:solidFill>
                <a:schemeClr val="bg1"/>
              </a:solidFill>
            </a:endParaRPr>
          </a:p>
        </p:txBody>
      </p:sp>
      <p:sp>
        <p:nvSpPr>
          <p:cNvPr id="58" name="TextBox 57">
            <a:extLst>
              <a:ext uri="{FF2B5EF4-FFF2-40B4-BE49-F238E27FC236}">
                <a16:creationId xmlns:a16="http://schemas.microsoft.com/office/drawing/2014/main" id="{0D35F849-2286-6C09-3BF1-EC5CCD023EA2}"/>
              </a:ext>
            </a:extLst>
          </p:cNvPr>
          <p:cNvSpPr txBox="1"/>
          <p:nvPr/>
        </p:nvSpPr>
        <p:spPr>
          <a:xfrm>
            <a:off x="584200" y="3914357"/>
            <a:ext cx="1454375" cy="769441"/>
          </a:xfrm>
          <a:prstGeom prst="rect">
            <a:avLst/>
          </a:prstGeom>
          <a:noFill/>
        </p:spPr>
        <p:txBody>
          <a:bodyPr wrap="square" lIns="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4400" b="0" i="0" u="none" strike="noStrike" kern="1200" cap="none" spc="0" normalizeH="0" baseline="0" noProof="0">
                <a:ln>
                  <a:noFill/>
                </a:ln>
                <a:gradFill flip="none" rotWithShape="1">
                  <a:gsLst>
                    <a:gs pos="45000">
                      <a:srgbClr val="0078D4"/>
                    </a:gs>
                    <a:gs pos="0">
                      <a:srgbClr val="50E6FF"/>
                    </a:gs>
                    <a:gs pos="100000">
                      <a:srgbClr val="000000"/>
                    </a:gs>
                  </a:gsLst>
                  <a:lin ang="5400000" scaled="0"/>
                  <a:tileRect/>
                </a:gradFill>
                <a:effectLst/>
                <a:uLnTx/>
                <a:uFillTx/>
                <a:latin typeface="+mj-lt"/>
                <a:ea typeface="+mn-ea"/>
                <a:cs typeface="+mn-cs"/>
              </a:rPr>
              <a:t>85% </a:t>
            </a:r>
          </a:p>
        </p:txBody>
      </p:sp>
      <p:cxnSp>
        <p:nvCxnSpPr>
          <p:cNvPr id="61" name="Straight Connector 60">
            <a:extLst>
              <a:ext uri="{FF2B5EF4-FFF2-40B4-BE49-F238E27FC236}">
                <a16:creationId xmlns:a16="http://schemas.microsoft.com/office/drawing/2014/main" id="{A3640093-595F-08F7-C5B9-00116A517400}"/>
              </a:ext>
              <a:ext uri="{C183D7F6-B498-43B3-948B-1728B52AA6E4}">
                <adec:decorative xmlns:adec="http://schemas.microsoft.com/office/drawing/2017/decorative" val="1"/>
              </a:ext>
            </a:extLst>
          </p:cNvPr>
          <p:cNvCxnSpPr>
            <a:cxnSpLocks/>
          </p:cNvCxnSpPr>
          <p:nvPr/>
        </p:nvCxnSpPr>
        <p:spPr>
          <a:xfrm flipV="1">
            <a:off x="3596178" y="3414274"/>
            <a:ext cx="0" cy="500083"/>
          </a:xfrm>
          <a:prstGeom prst="line">
            <a:avLst/>
          </a:prstGeom>
          <a:ln>
            <a:gradFill>
              <a:gsLst>
                <a:gs pos="0">
                  <a:schemeClr val="accent1">
                    <a:alpha val="0"/>
                  </a:schemeClr>
                </a:gs>
                <a:gs pos="44000">
                  <a:schemeClr val="accent1"/>
                </a:gs>
                <a:gs pos="100000">
                  <a:schemeClr val="accent2"/>
                </a:gs>
              </a:gsLst>
              <a:lin ang="54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2" name="Content Placeholder 10">
            <a:extLst>
              <a:ext uri="{FF2B5EF4-FFF2-40B4-BE49-F238E27FC236}">
                <a16:creationId xmlns:a16="http://schemas.microsoft.com/office/drawing/2014/main" id="{C8B4D4A2-93F2-B3DB-8E39-C57BD44F6DE6}"/>
              </a:ext>
            </a:extLst>
          </p:cNvPr>
          <p:cNvSpPr txBox="1">
            <a:spLocks/>
          </p:cNvSpPr>
          <p:nvPr/>
        </p:nvSpPr>
        <p:spPr>
          <a:xfrm>
            <a:off x="3429062" y="4659727"/>
            <a:ext cx="2382511" cy="861774"/>
          </a:xfrm>
          <a:prstGeom prst="rect">
            <a:avLst/>
          </a:prstGeom>
        </p:spPr>
        <p:txBody>
          <a:bodyPr vert="horz" wrap="square" lIns="0" tIns="0" rIns="0" bIns="0" rtlCol="0" anchor="t">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914367">
              <a:spcBef>
                <a:spcPts val="0"/>
              </a:spcBef>
              <a:spcAft>
                <a:spcPts val="200"/>
              </a:spcAft>
              <a:buClr>
                <a:schemeClr val="tx1"/>
              </a:buClr>
              <a:buSzPct val="100000"/>
              <a:buNone/>
              <a:defRPr/>
            </a:pPr>
            <a:r>
              <a:rPr lang="en-US" sz="1400" dirty="0">
                <a:solidFill>
                  <a:schemeClr val="accent1"/>
                </a:solidFill>
                <a:cs typeface="+mn-cs"/>
              </a:rPr>
              <a:t>Save up to 65% over </a:t>
            </a:r>
            <a:br>
              <a:rPr lang="en-US" sz="1400" dirty="0">
                <a:solidFill>
                  <a:schemeClr val="accent1"/>
                </a:solidFill>
                <a:cs typeface="+mn-cs"/>
              </a:rPr>
            </a:br>
            <a:r>
              <a:rPr lang="en-US" sz="1400" dirty="0">
                <a:solidFill>
                  <a:schemeClr val="accent1"/>
                </a:solidFill>
                <a:cs typeface="+mn-cs"/>
              </a:rPr>
              <a:t>pay-as-you-go rates on compute services with Azure savings plan for compute</a:t>
            </a:r>
            <a:r>
              <a:rPr lang="en-US" sz="1200" spc="-50" baseline="60000" dirty="0">
                <a:ln w="3175">
                  <a:noFill/>
                </a:ln>
                <a:solidFill>
                  <a:schemeClr val="accent1"/>
                </a:solidFill>
                <a:cs typeface="Segoe UI"/>
              </a:rPr>
              <a:t>1</a:t>
            </a:r>
            <a:endParaRPr lang="en-US" sz="1400" baseline="60000" dirty="0">
              <a:solidFill>
                <a:schemeClr val="accent1"/>
              </a:solidFill>
            </a:endParaRPr>
          </a:p>
        </p:txBody>
      </p:sp>
      <p:sp>
        <p:nvSpPr>
          <p:cNvPr id="63" name="TextBox 62">
            <a:extLst>
              <a:ext uri="{FF2B5EF4-FFF2-40B4-BE49-F238E27FC236}">
                <a16:creationId xmlns:a16="http://schemas.microsoft.com/office/drawing/2014/main" id="{489F5BD0-276D-2506-FA42-C1340FD025A6}"/>
              </a:ext>
            </a:extLst>
          </p:cNvPr>
          <p:cNvSpPr txBox="1"/>
          <p:nvPr/>
        </p:nvSpPr>
        <p:spPr>
          <a:xfrm>
            <a:off x="3429062" y="3914357"/>
            <a:ext cx="1454375" cy="769441"/>
          </a:xfrm>
          <a:prstGeom prst="rect">
            <a:avLst/>
          </a:prstGeom>
          <a:noFill/>
        </p:spPr>
        <p:txBody>
          <a:bodyPr wrap="square" lIns="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4400" b="0" i="0" u="none" strike="noStrike" kern="1200" cap="none" spc="0" normalizeH="0" baseline="0" noProof="0">
                <a:ln>
                  <a:noFill/>
                </a:ln>
                <a:gradFill flip="none" rotWithShape="1">
                  <a:gsLst>
                    <a:gs pos="45000">
                      <a:srgbClr val="0078D4"/>
                    </a:gs>
                    <a:gs pos="0">
                      <a:srgbClr val="50E6FF"/>
                    </a:gs>
                    <a:gs pos="100000">
                      <a:srgbClr val="000000"/>
                    </a:gs>
                  </a:gsLst>
                  <a:lin ang="5400000" scaled="0"/>
                  <a:tileRect/>
                </a:gradFill>
                <a:effectLst/>
                <a:uLnTx/>
                <a:uFillTx/>
                <a:latin typeface="+mj-lt"/>
                <a:ea typeface="+mn-ea"/>
                <a:cs typeface="+mn-cs"/>
              </a:rPr>
              <a:t>65% </a:t>
            </a:r>
          </a:p>
        </p:txBody>
      </p:sp>
      <p:cxnSp>
        <p:nvCxnSpPr>
          <p:cNvPr id="64" name="Straight Connector 63">
            <a:extLst>
              <a:ext uri="{FF2B5EF4-FFF2-40B4-BE49-F238E27FC236}">
                <a16:creationId xmlns:a16="http://schemas.microsoft.com/office/drawing/2014/main" id="{C220BED8-207C-6FCB-457B-DF5004193CC7}"/>
              </a:ext>
              <a:ext uri="{C183D7F6-B498-43B3-948B-1728B52AA6E4}">
                <adec:decorative xmlns:adec="http://schemas.microsoft.com/office/drawing/2017/decorative" val="1"/>
              </a:ext>
            </a:extLst>
          </p:cNvPr>
          <p:cNvCxnSpPr>
            <a:cxnSpLocks/>
          </p:cNvCxnSpPr>
          <p:nvPr/>
        </p:nvCxnSpPr>
        <p:spPr>
          <a:xfrm flipV="1">
            <a:off x="6411764" y="3414274"/>
            <a:ext cx="0" cy="500083"/>
          </a:xfrm>
          <a:prstGeom prst="line">
            <a:avLst/>
          </a:prstGeom>
          <a:ln>
            <a:gradFill>
              <a:gsLst>
                <a:gs pos="0">
                  <a:schemeClr val="accent1">
                    <a:alpha val="0"/>
                  </a:schemeClr>
                </a:gs>
                <a:gs pos="44000">
                  <a:schemeClr val="accent1"/>
                </a:gs>
                <a:gs pos="100000">
                  <a:schemeClr val="accent2"/>
                </a:gs>
              </a:gsLst>
              <a:lin ang="54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5" name="Content Placeholder 10">
            <a:extLst>
              <a:ext uri="{FF2B5EF4-FFF2-40B4-BE49-F238E27FC236}">
                <a16:creationId xmlns:a16="http://schemas.microsoft.com/office/drawing/2014/main" id="{24834392-90F0-19A9-6D54-CB45CCAECBFC}"/>
              </a:ext>
            </a:extLst>
          </p:cNvPr>
          <p:cNvSpPr txBox="1">
            <a:spLocks/>
          </p:cNvSpPr>
          <p:nvPr/>
        </p:nvSpPr>
        <p:spPr>
          <a:xfrm>
            <a:off x="6244649" y="4659727"/>
            <a:ext cx="2037702" cy="646331"/>
          </a:xfrm>
          <a:prstGeom prst="rect">
            <a:avLst/>
          </a:prstGeom>
        </p:spPr>
        <p:txBody>
          <a:bodyPr vert="horz" wrap="square" lIns="0" tIns="0" rIns="0" bIns="0" rtlCol="0" anchor="t">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914367" fontAlgn="ctr">
              <a:spcBef>
                <a:spcPts val="0"/>
              </a:spcBef>
              <a:spcAft>
                <a:spcPts val="200"/>
              </a:spcAft>
              <a:buClr>
                <a:schemeClr val="tx1"/>
              </a:buClr>
              <a:buSzPct val="100000"/>
              <a:buNone/>
              <a:defRPr/>
            </a:pPr>
            <a:r>
              <a:rPr lang="en-US" sz="1400" dirty="0">
                <a:solidFill>
                  <a:schemeClr val="accent1"/>
                </a:solidFill>
                <a:cs typeface="+mn-cs"/>
              </a:rPr>
              <a:t>Reduce energy usage up to 92% and carbon emissions up to 98%</a:t>
            </a:r>
            <a:r>
              <a:rPr lang="en-US" sz="1200" spc="-50" baseline="60000" dirty="0">
                <a:ln w="3175">
                  <a:noFill/>
                </a:ln>
                <a:solidFill>
                  <a:schemeClr val="accent1"/>
                </a:solidFill>
                <a:cs typeface="Segoe UI"/>
              </a:rPr>
              <a:t>2</a:t>
            </a:r>
          </a:p>
        </p:txBody>
      </p:sp>
      <p:sp>
        <p:nvSpPr>
          <p:cNvPr id="66" name="TextBox 65">
            <a:extLst>
              <a:ext uri="{FF2B5EF4-FFF2-40B4-BE49-F238E27FC236}">
                <a16:creationId xmlns:a16="http://schemas.microsoft.com/office/drawing/2014/main" id="{0302658C-4584-A470-96FA-D712A7366604}"/>
              </a:ext>
            </a:extLst>
          </p:cNvPr>
          <p:cNvSpPr txBox="1"/>
          <p:nvPr/>
        </p:nvSpPr>
        <p:spPr>
          <a:xfrm>
            <a:off x="6244648" y="3914357"/>
            <a:ext cx="1454375" cy="769441"/>
          </a:xfrm>
          <a:prstGeom prst="rect">
            <a:avLst/>
          </a:prstGeom>
          <a:noFill/>
        </p:spPr>
        <p:txBody>
          <a:bodyPr wrap="square" lIns="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4400" b="0" i="0" u="none" strike="noStrike" kern="1200" cap="none" spc="0" normalizeH="0" baseline="0" noProof="0">
                <a:ln>
                  <a:noFill/>
                </a:ln>
                <a:gradFill flip="none" rotWithShape="1">
                  <a:gsLst>
                    <a:gs pos="45000">
                      <a:srgbClr val="0078D4"/>
                    </a:gs>
                    <a:gs pos="0">
                      <a:srgbClr val="50E6FF"/>
                    </a:gs>
                    <a:gs pos="100000">
                      <a:srgbClr val="000000"/>
                    </a:gs>
                  </a:gsLst>
                  <a:lin ang="5400000" scaled="0"/>
                  <a:tileRect/>
                </a:gradFill>
                <a:effectLst/>
                <a:uLnTx/>
                <a:uFillTx/>
                <a:latin typeface="+mj-lt"/>
                <a:ea typeface="+mn-ea"/>
                <a:cs typeface="+mn-cs"/>
              </a:rPr>
              <a:t>92% </a:t>
            </a:r>
          </a:p>
        </p:txBody>
      </p:sp>
      <p:sp>
        <p:nvSpPr>
          <p:cNvPr id="69" name="TextBox 68">
            <a:extLst>
              <a:ext uri="{FF2B5EF4-FFF2-40B4-BE49-F238E27FC236}">
                <a16:creationId xmlns:a16="http://schemas.microsoft.com/office/drawing/2014/main" id="{545E2B01-6F74-1B40-CD7B-ECBC8F20FC92}"/>
              </a:ext>
            </a:extLst>
          </p:cNvPr>
          <p:cNvSpPr txBox="1"/>
          <p:nvPr/>
        </p:nvSpPr>
        <p:spPr>
          <a:xfrm>
            <a:off x="9104963" y="3914357"/>
            <a:ext cx="1454375" cy="769441"/>
          </a:xfrm>
          <a:prstGeom prst="rect">
            <a:avLst/>
          </a:prstGeom>
          <a:noFill/>
        </p:spPr>
        <p:txBody>
          <a:bodyPr wrap="square" lIns="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4400" b="0" i="0" u="none" strike="noStrike" kern="1200" cap="none" spc="0" normalizeH="0" baseline="0" noProof="0">
                <a:ln>
                  <a:noFill/>
                </a:ln>
                <a:gradFill flip="none" rotWithShape="1">
                  <a:gsLst>
                    <a:gs pos="45000">
                      <a:srgbClr val="0078D4"/>
                    </a:gs>
                    <a:gs pos="0">
                      <a:srgbClr val="50E6FF"/>
                    </a:gs>
                    <a:gs pos="100000">
                      <a:srgbClr val="000000"/>
                    </a:gs>
                  </a:gsLst>
                  <a:lin ang="5400000" scaled="0"/>
                  <a:tileRect/>
                </a:gradFill>
                <a:effectLst/>
                <a:uLnTx/>
                <a:uFillTx/>
                <a:latin typeface="+mj-lt"/>
                <a:ea typeface="+mn-ea"/>
                <a:cs typeface="+mn-cs"/>
              </a:rPr>
              <a:t>391% </a:t>
            </a:r>
          </a:p>
        </p:txBody>
      </p:sp>
      <p:sp>
        <p:nvSpPr>
          <p:cNvPr id="71" name="TextBox 70">
            <a:extLst>
              <a:ext uri="{FF2B5EF4-FFF2-40B4-BE49-F238E27FC236}">
                <a16:creationId xmlns:a16="http://schemas.microsoft.com/office/drawing/2014/main" id="{7E2198EA-B8F1-A43B-5824-B9C22564652E}"/>
              </a:ext>
            </a:extLst>
          </p:cNvPr>
          <p:cNvSpPr txBox="1"/>
          <p:nvPr/>
        </p:nvSpPr>
        <p:spPr>
          <a:xfrm>
            <a:off x="2675554" y="565021"/>
            <a:ext cx="1973825" cy="138499"/>
          </a:xfrm>
          <a:prstGeom prst="rect">
            <a:avLst/>
          </a:prstGeom>
          <a:noFill/>
        </p:spPr>
        <p:txBody>
          <a:bodyPr wrap="square" lIns="0" tIns="0" rIns="0" bIns="0">
            <a:spAutoFit/>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300" normalizeH="0" baseline="0" noProof="0">
                <a:ln>
                  <a:noFill/>
                </a:ln>
                <a:solidFill>
                  <a:schemeClr val="accent1"/>
                </a:solidFill>
                <a:effectLst/>
                <a:uLnTx/>
                <a:uFillTx/>
                <a:latin typeface="Segoe UI Semibold"/>
                <a:ea typeface="+mn-ea"/>
                <a:cs typeface="+mn-cs"/>
              </a:rPr>
              <a:t>MIGRATE AND SAVE</a:t>
            </a:r>
          </a:p>
        </p:txBody>
      </p:sp>
      <p:grpSp>
        <p:nvGrpSpPr>
          <p:cNvPr id="4" name="Group 3" descr="MIGRATE AND SAVE NAVIGATION">
            <a:extLst>
              <a:ext uri="{FF2B5EF4-FFF2-40B4-BE49-F238E27FC236}">
                <a16:creationId xmlns:a16="http://schemas.microsoft.com/office/drawing/2014/main" id="{8D44A44F-4A68-1327-D56E-FFB03BA2A5AC}"/>
              </a:ext>
            </a:extLst>
          </p:cNvPr>
          <p:cNvGrpSpPr/>
          <p:nvPr/>
        </p:nvGrpSpPr>
        <p:grpSpPr>
          <a:xfrm>
            <a:off x="583828" y="409640"/>
            <a:ext cx="1894901" cy="440154"/>
            <a:chOff x="583828" y="409640"/>
            <a:chExt cx="1894901" cy="440154"/>
          </a:xfrm>
        </p:grpSpPr>
        <p:cxnSp>
          <p:nvCxnSpPr>
            <p:cNvPr id="31" name="Straight Connector 30">
              <a:extLst>
                <a:ext uri="{FF2B5EF4-FFF2-40B4-BE49-F238E27FC236}">
                  <a16:creationId xmlns:a16="http://schemas.microsoft.com/office/drawing/2014/main" id="{746DD8A3-60D5-E5DA-7956-2E33D69060F5}"/>
                </a:ext>
                <a:ext uri="{C183D7F6-B498-43B3-948B-1728B52AA6E4}">
                  <adec:decorative xmlns:adec="http://schemas.microsoft.com/office/drawing/2017/decorative" val="1"/>
                </a:ext>
              </a:extLst>
            </p:cNvPr>
            <p:cNvCxnSpPr>
              <a:cxnSpLocks/>
            </p:cNvCxnSpPr>
            <p:nvPr/>
          </p:nvCxnSpPr>
          <p:spPr>
            <a:xfrm flipH="1">
              <a:off x="1018274" y="629717"/>
              <a:ext cx="1014593" cy="0"/>
            </a:xfrm>
            <a:prstGeom prst="line">
              <a:avLst/>
            </a:prstGeom>
            <a:solidFill>
              <a:schemeClr val="bg1">
                <a:lumMod val="95000"/>
                <a:lumOff val="5000"/>
              </a:schemeClr>
            </a:solidFill>
            <a:ln w="12700" cap="flat" cmpd="sng" algn="ctr">
              <a:solidFill>
                <a:srgbClr val="000000">
                  <a:lumMod val="75000"/>
                  <a:lumOff val="25000"/>
                </a:srgbClr>
              </a:solidFill>
              <a:prstDash val="solid"/>
              <a:headEnd type="none" w="med" len="med"/>
              <a:tailEnd type="none" w="med" len="med"/>
            </a:ln>
            <a:effectLst/>
          </p:spPr>
        </p:cxnSp>
        <p:sp>
          <p:nvSpPr>
            <p:cNvPr id="33" name="Oval 32">
              <a:extLst>
                <a:ext uri="{FF2B5EF4-FFF2-40B4-BE49-F238E27FC236}">
                  <a16:creationId xmlns:a16="http://schemas.microsoft.com/office/drawing/2014/main" id="{BE6F5932-515E-3D1D-30F4-4D46F23C6537}"/>
                </a:ext>
              </a:extLst>
            </p:cNvPr>
            <p:cNvSpPr/>
            <p:nvPr/>
          </p:nvSpPr>
          <p:spPr bwMode="auto">
            <a:xfrm>
              <a:off x="583828" y="409640"/>
              <a:ext cx="440154" cy="440154"/>
            </a:xfrm>
            <a:prstGeom prst="ellipse">
              <a:avLst/>
            </a:prstGeom>
            <a:solidFill>
              <a:schemeClr val="bg1"/>
            </a:solidFill>
            <a:ln w="12700" cap="flat" cmpd="sng" algn="ctr">
              <a:solidFill>
                <a:schemeClr val="accent1"/>
              </a:solidFill>
              <a:prstDash val="solid"/>
              <a:headEnd type="none" w="med" len="med"/>
              <a:tailEnd type="none" w="med" len="med"/>
            </a:ln>
            <a:effectLst/>
          </p:spPr>
          <p:txBody>
            <a:bodyPr rot="0" spcFirstLastPara="0" vertOverflow="overflow" horzOverflow="overflow" vert="horz" wrap="square" lIns="72000" tIns="180000" rIns="72000" bIns="14400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err="1">
                <a:ln>
                  <a:noFill/>
                </a:ln>
                <a:gradFill flip="none" rotWithShape="1">
                  <a:gsLst>
                    <a:gs pos="0">
                      <a:srgbClr val="50E6FF"/>
                    </a:gs>
                    <a:gs pos="100000">
                      <a:srgbClr val="D59DFF"/>
                    </a:gs>
                  </a:gsLst>
                  <a:lin ang="2700000" scaled="1"/>
                  <a:tileRect/>
                </a:gradFill>
                <a:effectLst/>
                <a:uLnTx/>
                <a:uFillTx/>
                <a:latin typeface="Segoe UI Semibold"/>
                <a:ea typeface="+mn-ea"/>
                <a:cs typeface="+mn-cs"/>
              </a:endParaRPr>
            </a:p>
          </p:txBody>
        </p:sp>
        <p:sp>
          <p:nvSpPr>
            <p:cNvPr id="36" name="Oval 35">
              <a:extLst>
                <a:ext uri="{FF2B5EF4-FFF2-40B4-BE49-F238E27FC236}">
                  <a16:creationId xmlns:a16="http://schemas.microsoft.com/office/drawing/2014/main" id="{31AC2967-2C84-46F4-2A7A-0A2B81435538}"/>
                </a:ext>
              </a:extLst>
            </p:cNvPr>
            <p:cNvSpPr/>
            <p:nvPr/>
          </p:nvSpPr>
          <p:spPr bwMode="auto">
            <a:xfrm>
              <a:off x="2038575" y="409640"/>
              <a:ext cx="440154" cy="440154"/>
            </a:xfrm>
            <a:prstGeom prst="ellipse">
              <a:avLst/>
            </a:prstGeom>
            <a:solidFill>
              <a:schemeClr val="bg1">
                <a:lumMod val="95000"/>
                <a:lumOff val="5000"/>
              </a:schemeClr>
            </a:solidFill>
            <a:ln w="12700" cap="flat" cmpd="sng" algn="ctr">
              <a:solidFill>
                <a:srgbClr val="000000">
                  <a:lumMod val="75000"/>
                  <a:lumOff val="25000"/>
                </a:srgbClr>
              </a:solidFill>
              <a:prstDash val="solid"/>
              <a:headEnd type="none" w="med" len="med"/>
              <a:tailEnd type="none" w="med" len="med"/>
            </a:ln>
            <a:effectLst/>
          </p:spPr>
          <p:txBody>
            <a:bodyPr rot="0" spcFirstLastPara="0" vertOverflow="overflow" horzOverflow="overflow" vert="horz" wrap="square" lIns="72000" tIns="180000" rIns="72000" bIns="14400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err="1">
                <a:ln>
                  <a:noFill/>
                </a:ln>
                <a:gradFill flip="none" rotWithShape="1">
                  <a:gsLst>
                    <a:gs pos="0">
                      <a:srgbClr val="50E6FF"/>
                    </a:gs>
                    <a:gs pos="100000">
                      <a:srgbClr val="D59DFF"/>
                    </a:gs>
                  </a:gsLst>
                  <a:lin ang="2700000" scaled="1"/>
                  <a:tileRect/>
                </a:gradFill>
                <a:effectLst/>
                <a:uLnTx/>
                <a:uFillTx/>
                <a:latin typeface="Segoe UI Semibold"/>
                <a:ea typeface="+mn-ea"/>
                <a:cs typeface="+mn-cs"/>
              </a:endParaRPr>
            </a:p>
          </p:txBody>
        </p:sp>
        <p:sp>
          <p:nvSpPr>
            <p:cNvPr id="39" name="Oval 38">
              <a:extLst>
                <a:ext uri="{FF2B5EF4-FFF2-40B4-BE49-F238E27FC236}">
                  <a16:creationId xmlns:a16="http://schemas.microsoft.com/office/drawing/2014/main" id="{BABC90ED-36A8-ECC7-13E2-7F74A4F25306}"/>
                </a:ext>
              </a:extLst>
            </p:cNvPr>
            <p:cNvSpPr/>
            <p:nvPr/>
          </p:nvSpPr>
          <p:spPr bwMode="auto">
            <a:xfrm>
              <a:off x="1311201" y="409640"/>
              <a:ext cx="440154" cy="440154"/>
            </a:xfrm>
            <a:prstGeom prst="ellipse">
              <a:avLst/>
            </a:prstGeom>
            <a:solidFill>
              <a:schemeClr val="bg1">
                <a:lumMod val="95000"/>
                <a:lumOff val="5000"/>
              </a:schemeClr>
            </a:solidFill>
            <a:ln w="12700" cap="flat" cmpd="sng" algn="ctr">
              <a:solidFill>
                <a:srgbClr val="000000">
                  <a:lumMod val="75000"/>
                  <a:lumOff val="25000"/>
                </a:srgbClr>
              </a:solidFill>
              <a:prstDash val="solid"/>
              <a:headEnd type="none" w="med" len="med"/>
              <a:tailEnd type="none" w="med" len="med"/>
            </a:ln>
            <a:effectLst/>
          </p:spPr>
          <p:txBody>
            <a:bodyPr rot="0" spcFirstLastPara="0" vertOverflow="overflow" horzOverflow="overflow" vert="horz" wrap="square" lIns="72000" tIns="180000" rIns="72000" bIns="14400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err="1">
                <a:ln>
                  <a:noFill/>
                </a:ln>
                <a:gradFill flip="none" rotWithShape="1">
                  <a:gsLst>
                    <a:gs pos="0">
                      <a:srgbClr val="50E6FF"/>
                    </a:gs>
                    <a:gs pos="100000">
                      <a:srgbClr val="D59DFF"/>
                    </a:gs>
                  </a:gsLst>
                  <a:lin ang="2700000" scaled="1"/>
                  <a:tileRect/>
                </a:gradFill>
                <a:effectLst/>
                <a:uLnTx/>
                <a:uFillTx/>
                <a:latin typeface="Segoe UI Semibold"/>
                <a:ea typeface="+mn-ea"/>
                <a:cs typeface="+mn-cs"/>
              </a:endParaRPr>
            </a:p>
          </p:txBody>
        </p:sp>
        <p:pic>
          <p:nvPicPr>
            <p:cNvPr id="74" name="Picture 73">
              <a:extLst>
                <a:ext uri="{FF2B5EF4-FFF2-40B4-BE49-F238E27FC236}">
                  <a16:creationId xmlns:a16="http://schemas.microsoft.com/office/drawing/2014/main" id="{E77A344F-732D-DEAF-5F8C-3DAB95333EFC}"/>
                </a:ext>
              </a:extLst>
            </p:cNvPr>
            <p:cNvPicPr>
              <a:picLocks noChangeAspect="1"/>
            </p:cNvPicPr>
            <p:nvPr/>
          </p:nvPicPr>
          <p:blipFill>
            <a:blip r:embed="rId7">
              <a:grayscl/>
              <a:alphaModFix amt="53000"/>
            </a:blip>
            <a:stretch>
              <a:fillRect/>
            </a:stretch>
          </p:blipFill>
          <p:spPr>
            <a:xfrm>
              <a:off x="1391647" y="486818"/>
              <a:ext cx="267846" cy="267846"/>
            </a:xfrm>
            <a:prstGeom prst="rect">
              <a:avLst/>
            </a:prstGeom>
          </p:spPr>
        </p:pic>
        <p:pic>
          <p:nvPicPr>
            <p:cNvPr id="75" name="Picture 74">
              <a:extLst>
                <a:ext uri="{FF2B5EF4-FFF2-40B4-BE49-F238E27FC236}">
                  <a16:creationId xmlns:a16="http://schemas.microsoft.com/office/drawing/2014/main" id="{AB0C106B-DA43-B3ED-22D7-B1AD20D95B36}"/>
                </a:ext>
              </a:extLst>
            </p:cNvPr>
            <p:cNvPicPr>
              <a:picLocks noChangeAspect="1"/>
            </p:cNvPicPr>
            <p:nvPr/>
          </p:nvPicPr>
          <p:blipFill>
            <a:blip r:embed="rId8">
              <a:alphaModFix amt="53000"/>
              <a:grayscl/>
            </a:blip>
            <a:srcRect/>
            <a:stretch/>
          </p:blipFill>
          <p:spPr>
            <a:xfrm>
              <a:off x="2141474" y="486818"/>
              <a:ext cx="264639" cy="264639"/>
            </a:xfrm>
            <a:prstGeom prst="rect">
              <a:avLst/>
            </a:prstGeom>
          </p:spPr>
        </p:pic>
        <p:pic>
          <p:nvPicPr>
            <p:cNvPr id="76" name="Picture 75">
              <a:extLst>
                <a:ext uri="{FF2B5EF4-FFF2-40B4-BE49-F238E27FC236}">
                  <a16:creationId xmlns:a16="http://schemas.microsoft.com/office/drawing/2014/main" id="{FFF86E54-A07A-9293-C014-0C2AA5C00D8C}"/>
                </a:ext>
              </a:extLst>
            </p:cNvPr>
            <p:cNvPicPr>
              <a:picLocks noChangeAspect="1"/>
            </p:cNvPicPr>
            <p:nvPr/>
          </p:nvPicPr>
          <p:blipFill>
            <a:blip r:embed="rId9"/>
            <a:stretch>
              <a:fillRect/>
            </a:stretch>
          </p:blipFill>
          <p:spPr>
            <a:xfrm>
              <a:off x="677019" y="497398"/>
              <a:ext cx="264638" cy="264638"/>
            </a:xfrm>
            <a:prstGeom prst="rect">
              <a:avLst/>
            </a:prstGeom>
          </p:spPr>
        </p:pic>
      </p:grpSp>
    </p:spTree>
    <p:extLst>
      <p:ext uri="{BB962C8B-B14F-4D97-AF65-F5344CB8AC3E}">
        <p14:creationId xmlns:p14="http://schemas.microsoft.com/office/powerpoint/2010/main" val="84035263"/>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0C8E8-3A6A-FEAF-AC0E-4913B472DB25}"/>
              </a:ext>
            </a:extLst>
          </p:cNvPr>
          <p:cNvSpPr>
            <a:spLocks noGrp="1"/>
          </p:cNvSpPr>
          <p:nvPr>
            <p:ph type="title"/>
          </p:nvPr>
        </p:nvSpPr>
        <p:spPr>
          <a:xfrm>
            <a:off x="588263" y="2690336"/>
            <a:ext cx="3767427" cy="1477328"/>
          </a:xfrm>
        </p:spPr>
        <p:txBody>
          <a:bodyPr anchor="ctr"/>
          <a:lstStyle/>
          <a:p>
            <a:r>
              <a:rPr lang="en-US">
                <a:cs typeface="Segoe UI"/>
              </a:rPr>
              <a:t>Get more, unparalleled</a:t>
            </a:r>
            <a:br>
              <a:rPr lang="en-US">
                <a:cs typeface="Segoe UI"/>
              </a:rPr>
            </a:br>
            <a:r>
              <a:rPr lang="en-US">
                <a:cs typeface="Segoe UI"/>
              </a:rPr>
              <a:t>value with Azure</a:t>
            </a:r>
          </a:p>
        </p:txBody>
      </p:sp>
      <p:sp>
        <p:nvSpPr>
          <p:cNvPr id="18" name="TextBox 17">
            <a:extLst>
              <a:ext uri="{FF2B5EF4-FFF2-40B4-BE49-F238E27FC236}">
                <a16:creationId xmlns:a16="http://schemas.microsoft.com/office/drawing/2014/main" id="{7B155B40-A9A0-8560-24F5-3EBC799184B4}"/>
              </a:ext>
            </a:extLst>
          </p:cNvPr>
          <p:cNvSpPr txBox="1"/>
          <p:nvPr/>
        </p:nvSpPr>
        <p:spPr>
          <a:xfrm>
            <a:off x="2675554" y="565021"/>
            <a:ext cx="1973825" cy="138499"/>
          </a:xfrm>
          <a:prstGeom prst="rect">
            <a:avLst/>
          </a:prstGeom>
          <a:noFill/>
        </p:spPr>
        <p:txBody>
          <a:bodyPr wrap="square" lIns="0" tIns="0" rIns="0" bIns="0">
            <a:spAutoFit/>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300" normalizeH="0" baseline="0" noProof="0">
                <a:ln>
                  <a:noFill/>
                </a:ln>
                <a:solidFill>
                  <a:schemeClr val="accent1"/>
                </a:solidFill>
                <a:effectLst/>
                <a:uLnTx/>
                <a:uFillTx/>
                <a:latin typeface="Segoe UI Semibold"/>
                <a:ea typeface="+mn-ea"/>
                <a:cs typeface="+mn-cs"/>
              </a:rPr>
              <a:t>MIGRATE AND SAVE</a:t>
            </a:r>
          </a:p>
        </p:txBody>
      </p:sp>
      <p:sp>
        <p:nvSpPr>
          <p:cNvPr id="4" name="TextBox 3">
            <a:extLst>
              <a:ext uri="{FF2B5EF4-FFF2-40B4-BE49-F238E27FC236}">
                <a16:creationId xmlns:a16="http://schemas.microsoft.com/office/drawing/2014/main" id="{12C62522-8B36-4CDB-61C5-9AD907DDCF2D}"/>
              </a:ext>
            </a:extLst>
          </p:cNvPr>
          <p:cNvSpPr txBox="1"/>
          <p:nvPr/>
        </p:nvSpPr>
        <p:spPr>
          <a:xfrm>
            <a:off x="5063613" y="1553392"/>
            <a:ext cx="5970556" cy="606628"/>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1" defTabSz="914367" fontAlgn="ctr">
              <a:spcAft>
                <a:spcPts val="200"/>
              </a:spcAft>
              <a:buClr>
                <a:srgbClr val="FFFFFF"/>
              </a:buClr>
              <a:buSzPct val="100000"/>
              <a:defRPr/>
            </a:pPr>
            <a:r>
              <a:rPr kumimoji="0" lang="en-US" sz="1400" b="0" i="0" u="none" kern="1200" cap="none" spc="0" normalizeH="0" baseline="0" noProof="0" dirty="0">
                <a:ln>
                  <a:noFill/>
                </a:ln>
                <a:solidFill>
                  <a:schemeClr val="accent1"/>
                </a:solidFill>
                <a:effectLst/>
                <a:uLnTx/>
                <a:uFillTx/>
                <a:ea typeface="+mn-ea"/>
                <a:cs typeface="+mn-cs"/>
              </a:rPr>
              <a:t>B</a:t>
            </a:r>
            <a:r>
              <a:rPr kumimoji="0" lang="en-US" sz="1400" b="0" i="0" u="none" strike="noStrike" kern="1200" cap="none" spc="0" normalizeH="0" baseline="0" noProof="0" dirty="0">
                <a:ln>
                  <a:noFill/>
                </a:ln>
                <a:solidFill>
                  <a:srgbClr val="50E6FF"/>
                </a:solidFill>
                <a:effectLst/>
                <a:uLnTx/>
                <a:uFillTx/>
                <a:ea typeface="+mn-ea"/>
                <a:cs typeface="+mn-cs"/>
              </a:rPr>
              <a:t>est price and performance</a:t>
            </a:r>
            <a:r>
              <a:rPr kumimoji="0" lang="en-US" sz="1400" b="0" i="0" u="none" strike="noStrike" kern="1200" cap="none" spc="0" normalizeH="0" baseline="0" noProof="0" dirty="0">
                <a:ln>
                  <a:noFill/>
                </a:ln>
                <a:solidFill>
                  <a:srgbClr val="30E5D0"/>
                </a:solidFill>
                <a:effectLst/>
                <a:uLnTx/>
                <a:uFillTx/>
                <a:ea typeface="+mn-ea"/>
                <a:cs typeface="+mn-cs"/>
              </a:rPr>
              <a:t> </a:t>
            </a:r>
            <a:r>
              <a:rPr kumimoji="0" lang="en-US" sz="1400" b="0" i="0" u="none" strike="noStrike" kern="1200" cap="none" spc="0" normalizeH="0" baseline="0" noProof="0" dirty="0">
                <a:ln>
                  <a:noFill/>
                </a:ln>
                <a:solidFill>
                  <a:srgbClr val="FFFFFF"/>
                </a:solidFill>
                <a:effectLst/>
                <a:uLnTx/>
                <a:uFillTx/>
                <a:ea typeface="+mn-ea"/>
                <a:cs typeface="+mn-cs"/>
              </a:rPr>
              <a:t>for SQL and Windows Server; </a:t>
            </a:r>
            <a:r>
              <a:rPr kumimoji="0" lang="en-US" sz="1400" b="0" i="0" u="none" strike="noStrike" kern="1200" cap="none" spc="0" normalizeH="0" baseline="0" noProof="0" dirty="0">
                <a:ln>
                  <a:noFill/>
                </a:ln>
                <a:solidFill>
                  <a:schemeClr val="accent1"/>
                </a:solidFill>
                <a:effectLst/>
                <a:uLnTx/>
                <a:uFillTx/>
                <a:ea typeface="+mn-ea"/>
                <a:cs typeface="+mn-cs"/>
              </a:rPr>
              <a:t>Best TCO</a:t>
            </a:r>
            <a:r>
              <a:rPr kumimoji="0" lang="en-US" sz="1400" b="0" i="0" u="none" strike="noStrike" kern="1200" cap="none" spc="0" normalizeH="0" baseline="0" noProof="0" dirty="0">
                <a:ln>
                  <a:noFill/>
                </a:ln>
                <a:solidFill>
                  <a:srgbClr val="FFFFFF"/>
                </a:solidFill>
                <a:effectLst/>
                <a:uLnTx/>
                <a:uFillTx/>
                <a:ea typeface="+mn-ea"/>
                <a:cs typeface="+mn-cs"/>
              </a:rPr>
              <a:t> for Azure Database for MySQL, Azure Database for PostgreSQL and Azure Arc-enabled Managed Instance</a:t>
            </a:r>
          </a:p>
        </p:txBody>
      </p:sp>
      <p:sp>
        <p:nvSpPr>
          <p:cNvPr id="5" name="TextBox 4">
            <a:extLst>
              <a:ext uri="{FF2B5EF4-FFF2-40B4-BE49-F238E27FC236}">
                <a16:creationId xmlns:a16="http://schemas.microsoft.com/office/drawing/2014/main" id="{D5C0DF3A-F9CD-B955-C442-7B88F93B0930}"/>
              </a:ext>
            </a:extLst>
          </p:cNvPr>
          <p:cNvSpPr txBox="1"/>
          <p:nvPr/>
        </p:nvSpPr>
        <p:spPr>
          <a:xfrm>
            <a:off x="5063613" y="2561908"/>
            <a:ext cx="6234178" cy="606627"/>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1" defTabSz="914367" fontAlgn="ctr">
              <a:spcAft>
                <a:spcPts val="200"/>
              </a:spcAft>
              <a:buClr>
                <a:srgbClr val="FFFFFF"/>
              </a:buClr>
              <a:buSzPct val="100000"/>
              <a:defRPr/>
            </a:pPr>
            <a:r>
              <a:rPr kumimoji="0" lang="en-US" sz="1400" b="0" i="0" u="none" kern="1200" cap="none" spc="0" normalizeH="0" baseline="0" noProof="0" dirty="0">
                <a:ln>
                  <a:noFill/>
                </a:ln>
                <a:solidFill>
                  <a:schemeClr val="tx1"/>
                </a:solidFill>
                <a:effectLst/>
                <a:uLnTx/>
                <a:uFillTx/>
                <a:ea typeface="+mn-ea"/>
                <a:cs typeface="+mn-cs"/>
              </a:rPr>
              <a:t>Top performing Azure databases up to </a:t>
            </a:r>
            <a:r>
              <a:rPr kumimoji="0" lang="en-US" sz="1400" b="0" i="0" u="none" kern="1200" cap="none" spc="0" normalizeH="0" baseline="0" noProof="0" dirty="0">
                <a:ln>
                  <a:noFill/>
                </a:ln>
                <a:solidFill>
                  <a:schemeClr val="accent1"/>
                </a:solidFill>
                <a:effectLst/>
                <a:uLnTx/>
                <a:uFillTx/>
                <a:ea typeface="+mn-ea"/>
                <a:cs typeface="+mn-cs"/>
              </a:rPr>
              <a:t>5x faster than AWS</a:t>
            </a:r>
            <a:r>
              <a:rPr kumimoji="0" lang="en-US" sz="1200" b="0" u="none" kern="1200" cap="none" spc="0" normalizeH="0" baseline="60000" noProof="0" dirty="0">
                <a:ln>
                  <a:noFill/>
                </a:ln>
                <a:solidFill>
                  <a:schemeClr val="accent1"/>
                </a:solidFill>
                <a:effectLst/>
                <a:uLnTx/>
                <a:uFillTx/>
                <a:ea typeface="+mn-ea"/>
                <a:cs typeface="+mn-cs"/>
              </a:rPr>
              <a:t>1</a:t>
            </a:r>
            <a:endParaRPr kumimoji="0" lang="en-US" sz="1200" b="0" u="none" strike="noStrike" kern="1200" cap="none" spc="0" normalizeH="0" baseline="60000" noProof="0" dirty="0">
              <a:ln>
                <a:noFill/>
              </a:ln>
              <a:solidFill>
                <a:srgbClr val="FFFFFF"/>
              </a:solidFill>
              <a:effectLst/>
              <a:uLnTx/>
              <a:uFillTx/>
              <a:ea typeface="+mn-ea"/>
              <a:cs typeface="+mn-cs"/>
            </a:endParaRPr>
          </a:p>
        </p:txBody>
      </p:sp>
      <p:sp>
        <p:nvSpPr>
          <p:cNvPr id="8" name="TextBox 7">
            <a:extLst>
              <a:ext uri="{FF2B5EF4-FFF2-40B4-BE49-F238E27FC236}">
                <a16:creationId xmlns:a16="http://schemas.microsoft.com/office/drawing/2014/main" id="{5ED75B01-21EB-BCE7-E61B-4A5ED64B58D9}"/>
              </a:ext>
            </a:extLst>
          </p:cNvPr>
          <p:cNvSpPr txBox="1"/>
          <p:nvPr/>
        </p:nvSpPr>
        <p:spPr>
          <a:xfrm>
            <a:off x="5063614" y="3448132"/>
            <a:ext cx="6234178" cy="60662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1" algn="l" defTabSz="914367" rtl="0" eaLnBrk="1" fontAlgn="ctr" latinLnBrk="0" hangingPunct="1">
              <a:spcBef>
                <a:spcPts val="0"/>
              </a:spcBef>
              <a:spcAft>
                <a:spcPts val="200"/>
              </a:spcAft>
              <a:buClr>
                <a:srgbClr val="FFFFFF"/>
              </a:buClr>
              <a:buSzPct val="100000"/>
              <a:tabLst/>
              <a:defRPr/>
            </a:pPr>
            <a:r>
              <a:rPr kumimoji="0" lang="en-US" sz="1400" b="0" i="0" u="none" strike="noStrike" kern="1200" cap="none" spc="0" normalizeH="0" baseline="0" noProof="0" dirty="0">
                <a:ln>
                  <a:noFill/>
                </a:ln>
                <a:solidFill>
                  <a:schemeClr val="accent1"/>
                </a:solidFill>
                <a:effectLst/>
                <a:uLnTx/>
                <a:uFillTx/>
                <a:ea typeface="+mn-ea"/>
                <a:cs typeface="+mn-cs"/>
              </a:rPr>
              <a:t>Windows Server features only available on Azure – </a:t>
            </a:r>
            <a:r>
              <a:rPr kumimoji="0" lang="en-US" sz="1400" b="0" i="0" u="none" strike="noStrike" kern="1200" cap="none" spc="0" normalizeH="0" baseline="0" noProof="0" dirty="0">
                <a:ln>
                  <a:noFill/>
                </a:ln>
                <a:effectLst/>
                <a:uLnTx/>
                <a:uFillTx/>
                <a:ea typeface="+mn-ea"/>
                <a:cs typeface="+mn-cs"/>
              </a:rPr>
              <a:t>simplify </a:t>
            </a:r>
            <a:r>
              <a:rPr kumimoji="0" lang="en-US" sz="1400" b="0" i="0" u="none" strike="noStrike" kern="1200" cap="none" spc="0" normalizeH="0" baseline="0" noProof="0" dirty="0">
                <a:ln>
                  <a:noFill/>
                </a:ln>
                <a:solidFill>
                  <a:srgbClr val="FFFFFF"/>
                </a:solidFill>
                <a:effectLst/>
                <a:uLnTx/>
                <a:uFillTx/>
                <a:ea typeface="+mn-ea"/>
                <a:cs typeface="+mn-cs"/>
              </a:rPr>
              <a:t>management with Azure </a:t>
            </a:r>
            <a:r>
              <a:rPr kumimoji="0" lang="en-US" sz="1400" b="0" i="0" u="none" strike="noStrike" kern="1200" cap="none" spc="0" normalizeH="0" baseline="0" noProof="0" dirty="0" err="1">
                <a:ln>
                  <a:noFill/>
                </a:ln>
                <a:solidFill>
                  <a:srgbClr val="FFFFFF"/>
                </a:solidFill>
                <a:effectLst/>
                <a:uLnTx/>
                <a:uFillTx/>
                <a:ea typeface="+mn-ea"/>
                <a:cs typeface="+mn-cs"/>
              </a:rPr>
              <a:t>Automanage</a:t>
            </a:r>
            <a:r>
              <a:rPr kumimoji="0" lang="en-US" sz="1400" b="0" i="0" u="none" strike="noStrike" kern="1200" cap="none" spc="0" normalizeH="0" baseline="0" noProof="0" dirty="0">
                <a:ln>
                  <a:noFill/>
                </a:ln>
                <a:solidFill>
                  <a:srgbClr val="FFFFFF"/>
                </a:solidFill>
                <a:effectLst/>
                <a:uLnTx/>
                <a:uFillTx/>
                <a:ea typeface="+mn-ea"/>
                <a:cs typeface="+mn-cs"/>
              </a:rPr>
              <a:t> and patch without rebooting using </a:t>
            </a:r>
            <a:r>
              <a:rPr kumimoji="0" lang="en-US" sz="1400" b="0" i="0" u="none" strike="noStrike" kern="1200" cap="none" spc="0" normalizeH="0" baseline="0" noProof="0" dirty="0" err="1">
                <a:ln>
                  <a:noFill/>
                </a:ln>
                <a:solidFill>
                  <a:srgbClr val="FFFFFF"/>
                </a:solidFill>
                <a:effectLst/>
                <a:uLnTx/>
                <a:uFillTx/>
                <a:ea typeface="+mn-ea"/>
                <a:cs typeface="+mn-cs"/>
              </a:rPr>
              <a:t>Hotpatch</a:t>
            </a:r>
            <a:endParaRPr kumimoji="0" lang="en-US" sz="1400" b="0" i="0" u="none" strike="noStrike" kern="1200" cap="none" spc="0" normalizeH="0" baseline="0" noProof="0" dirty="0">
              <a:ln>
                <a:noFill/>
              </a:ln>
              <a:solidFill>
                <a:srgbClr val="FFFFFF"/>
              </a:solidFill>
              <a:effectLst/>
              <a:uLnTx/>
              <a:uFillTx/>
              <a:ea typeface="+mn-ea"/>
              <a:cs typeface="+mn-cs"/>
            </a:endParaRPr>
          </a:p>
        </p:txBody>
      </p:sp>
      <p:sp>
        <p:nvSpPr>
          <p:cNvPr id="23" name="TextBox 22">
            <a:extLst>
              <a:ext uri="{FF2B5EF4-FFF2-40B4-BE49-F238E27FC236}">
                <a16:creationId xmlns:a16="http://schemas.microsoft.com/office/drawing/2014/main" id="{C7183BE2-716D-6844-2E01-7C788B282260}"/>
              </a:ext>
            </a:extLst>
          </p:cNvPr>
          <p:cNvSpPr txBox="1"/>
          <p:nvPr/>
        </p:nvSpPr>
        <p:spPr>
          <a:xfrm>
            <a:off x="5063614" y="4313253"/>
            <a:ext cx="6234178" cy="60662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1" indent="0" algn="l" defTabSz="914367" rtl="0" eaLnBrk="1" fontAlgn="ctr" latinLnBrk="0" hangingPunct="1">
              <a:lnSpc>
                <a:spcPct val="100000"/>
              </a:lnSpc>
              <a:spcBef>
                <a:spcPts val="0"/>
              </a:spcBef>
              <a:spcAft>
                <a:spcPts val="200"/>
              </a:spcAft>
              <a:buClr>
                <a:srgbClr val="FFFFFF"/>
              </a:buClr>
              <a:buSzPct val="100000"/>
              <a:buFontTx/>
              <a:buNone/>
              <a:tabLst/>
              <a:defRPr/>
            </a:pPr>
            <a:r>
              <a:rPr kumimoji="0" lang="en-US" sz="1400" b="0" i="0" u="none" strike="noStrike" kern="1200" cap="none" spc="0" normalizeH="0" baseline="0" noProof="0" dirty="0">
                <a:ln>
                  <a:noFill/>
                </a:ln>
                <a:solidFill>
                  <a:srgbClr val="FFFFFF"/>
                </a:solidFill>
                <a:effectLst/>
                <a:uLnTx/>
                <a:uFillTx/>
                <a:latin typeface="Segoe UI"/>
                <a:ea typeface="+mn-ea"/>
                <a:cs typeface="+mn-cs"/>
              </a:rPr>
              <a:t>Reduce hands-on time using systems </a:t>
            </a:r>
            <a:r>
              <a:rPr kumimoji="0" lang="en-US" sz="1400" b="0" i="0" u="none" strike="noStrike" kern="1200" cap="none" spc="0" normalizeH="0" baseline="0" noProof="0" dirty="0">
                <a:ln>
                  <a:noFill/>
                </a:ln>
                <a:solidFill>
                  <a:srgbClr val="50E6FF"/>
                </a:solidFill>
                <a:effectLst/>
                <a:uLnTx/>
                <a:uFillTx/>
                <a:latin typeface="Segoe UI"/>
                <a:ea typeface="+mn-ea"/>
                <a:cs typeface="+mn-cs"/>
              </a:rPr>
              <a:t>built with 99.995% SLAs</a:t>
            </a:r>
            <a:endParaRPr kumimoji="0" lang="en-US" sz="1400" b="0" i="0" u="none" strike="sngStrike" kern="1200" cap="none" spc="0" normalizeH="0" baseline="0" noProof="0" dirty="0">
              <a:ln>
                <a:noFill/>
              </a:ln>
              <a:solidFill>
                <a:srgbClr val="FFFFFF">
                  <a:hueOff val="0"/>
                  <a:satOff val="0"/>
                  <a:lumOff val="0"/>
                  <a:alphaOff val="0"/>
                </a:srgbClr>
              </a:solidFill>
              <a:effectLst/>
              <a:uLnTx/>
              <a:uFillTx/>
              <a:latin typeface="Segoe UI"/>
              <a:ea typeface="+mn-ea"/>
              <a:cs typeface="+mn-cs"/>
            </a:endParaRPr>
          </a:p>
        </p:txBody>
      </p:sp>
      <p:sp>
        <p:nvSpPr>
          <p:cNvPr id="28" name="TextBox 27">
            <a:extLst>
              <a:ext uri="{FF2B5EF4-FFF2-40B4-BE49-F238E27FC236}">
                <a16:creationId xmlns:a16="http://schemas.microsoft.com/office/drawing/2014/main" id="{F12577AB-7714-5DCE-2403-D35200C64AB5}"/>
              </a:ext>
            </a:extLst>
          </p:cNvPr>
          <p:cNvSpPr txBox="1"/>
          <p:nvPr/>
        </p:nvSpPr>
        <p:spPr>
          <a:xfrm>
            <a:off x="5063613" y="5195608"/>
            <a:ext cx="6234178" cy="606628"/>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l" defTabSz="914367" rtl="0" eaLnBrk="1" fontAlgn="auto" latinLnBrk="0" hangingPunct="1">
              <a:lnSpc>
                <a:spcPct val="100000"/>
              </a:lnSpc>
              <a:spcBef>
                <a:spcPts val="0"/>
              </a:spcBef>
              <a:spcAft>
                <a:spcPts val="200"/>
              </a:spcAft>
              <a:buClrTx/>
              <a:buSzTx/>
              <a:buFontTx/>
              <a:buNone/>
              <a:tabLst/>
              <a:defRPr/>
            </a:pPr>
            <a:r>
              <a:rPr kumimoji="0" lang="en-US" sz="1400" b="0" i="0" u="none" strike="noStrike" kern="1200" cap="none" spc="0" normalizeH="0" baseline="0" noProof="0">
                <a:ln>
                  <a:noFill/>
                </a:ln>
                <a:solidFill>
                  <a:srgbClr val="50E6FF"/>
                </a:solidFill>
                <a:effectLst/>
                <a:uLnTx/>
                <a:uFillTx/>
                <a:latin typeface="Segoe UI"/>
                <a:ea typeface="+mn-ea"/>
                <a:cs typeface="+mn-cs"/>
              </a:rPr>
              <a:t>Best in class</a:t>
            </a:r>
            <a:r>
              <a:rPr kumimoji="0" lang="en-US" sz="1400" b="0" i="0" u="none" strike="noStrike" kern="1200" cap="none" spc="0" normalizeH="0" baseline="0" noProof="0">
                <a:ln>
                  <a:noFill/>
                </a:ln>
                <a:solidFill>
                  <a:srgbClr val="FFFFFF">
                    <a:hueOff val="0"/>
                    <a:satOff val="0"/>
                    <a:lumOff val="0"/>
                    <a:alphaOff val="0"/>
                  </a:srgbClr>
                </a:solidFill>
                <a:effectLst/>
                <a:uLnTx/>
                <a:uFillTx/>
                <a:latin typeface="Segoe UI"/>
                <a:ea typeface="+mn-ea"/>
                <a:cs typeface="+mn-cs"/>
              </a:rPr>
              <a:t> free migration tools, programs, and incentives plus architecture delivered as code and training to accelerate time to value</a:t>
            </a:r>
            <a:endParaRPr kumimoji="0" lang="en-US" sz="1400" b="0" i="0" u="none" strike="noStrike" kern="1200" cap="none" spc="0" normalizeH="0" baseline="0" noProof="0">
              <a:ln>
                <a:noFill/>
              </a:ln>
              <a:solidFill>
                <a:srgbClr val="FFFFFF">
                  <a:hueOff val="0"/>
                  <a:satOff val="0"/>
                  <a:lumOff val="0"/>
                  <a:alphaOff val="0"/>
                </a:srgbClr>
              </a:solidFill>
              <a:effectLst/>
              <a:uLnTx/>
              <a:uFillTx/>
              <a:latin typeface="Segoe UI"/>
              <a:ea typeface="+mn-lt"/>
              <a:cs typeface="Segoe UI"/>
            </a:endParaRPr>
          </a:p>
        </p:txBody>
      </p:sp>
      <p:grpSp>
        <p:nvGrpSpPr>
          <p:cNvPr id="19" name="Group 18">
            <a:extLst>
              <a:ext uri="{FF2B5EF4-FFF2-40B4-BE49-F238E27FC236}">
                <a16:creationId xmlns:a16="http://schemas.microsoft.com/office/drawing/2014/main" id="{6DC1DF71-30FA-2EF7-DA44-F57AE1D17C4D}"/>
              </a:ext>
              <a:ext uri="{C183D7F6-B498-43B3-948B-1728B52AA6E4}">
                <adec:decorative xmlns:adec="http://schemas.microsoft.com/office/drawing/2017/decorative" val="1"/>
              </a:ext>
            </a:extLst>
          </p:cNvPr>
          <p:cNvGrpSpPr/>
          <p:nvPr/>
        </p:nvGrpSpPr>
        <p:grpSpPr>
          <a:xfrm>
            <a:off x="5063613" y="2454596"/>
            <a:ext cx="6234178" cy="2590454"/>
            <a:chOff x="5063613" y="2454596"/>
            <a:chExt cx="6234178" cy="2590454"/>
          </a:xfrm>
        </p:grpSpPr>
        <p:grpSp>
          <p:nvGrpSpPr>
            <p:cNvPr id="24" name="Group 23">
              <a:extLst>
                <a:ext uri="{FF2B5EF4-FFF2-40B4-BE49-F238E27FC236}">
                  <a16:creationId xmlns:a16="http://schemas.microsoft.com/office/drawing/2014/main" id="{D7F9B3E8-4251-62D1-C380-D8A998731F03}"/>
                </a:ext>
              </a:extLst>
            </p:cNvPr>
            <p:cNvGrpSpPr/>
            <p:nvPr/>
          </p:nvGrpSpPr>
          <p:grpSpPr>
            <a:xfrm>
              <a:off x="5063613" y="2454596"/>
              <a:ext cx="6234178" cy="1796892"/>
              <a:chOff x="5340097" y="2993527"/>
              <a:chExt cx="5957694" cy="1796892"/>
            </a:xfrm>
          </p:grpSpPr>
          <p:cxnSp>
            <p:nvCxnSpPr>
              <p:cNvPr id="25" name="Straight Connector 24">
                <a:extLst>
                  <a:ext uri="{FF2B5EF4-FFF2-40B4-BE49-F238E27FC236}">
                    <a16:creationId xmlns:a16="http://schemas.microsoft.com/office/drawing/2014/main" id="{A240BD78-0BF2-97E8-C03E-B64477F0D6C6}"/>
                  </a:ext>
                </a:extLst>
              </p:cNvPr>
              <p:cNvCxnSpPr/>
              <p:nvPr/>
            </p:nvCxnSpPr>
            <p:spPr>
              <a:xfrm>
                <a:off x="5340097" y="2993527"/>
                <a:ext cx="5957694" cy="0"/>
              </a:xfrm>
              <a:prstGeom prst="line">
                <a:avLst/>
              </a:prstGeom>
              <a:ln>
                <a:solidFill>
                  <a:schemeClr val="accent2"/>
                </a:solidFill>
                <a:prstDash val="sysDot"/>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E090FE4D-6716-FF54-2CA7-50F7D3A1857E}"/>
                  </a:ext>
                </a:extLst>
              </p:cNvPr>
              <p:cNvCxnSpPr/>
              <p:nvPr/>
            </p:nvCxnSpPr>
            <p:spPr>
              <a:xfrm>
                <a:off x="5340097" y="3790332"/>
                <a:ext cx="5957694" cy="0"/>
              </a:xfrm>
              <a:prstGeom prst="line">
                <a:avLst/>
              </a:prstGeom>
              <a:ln>
                <a:solidFill>
                  <a:schemeClr val="accent2"/>
                </a:solidFill>
                <a:prstDash val="sysDot"/>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2CFF8066-5C67-2FB2-253A-72634E26CB6F}"/>
                  </a:ext>
                </a:extLst>
              </p:cNvPr>
              <p:cNvCxnSpPr/>
              <p:nvPr/>
            </p:nvCxnSpPr>
            <p:spPr>
              <a:xfrm>
                <a:off x="5340097" y="4790419"/>
                <a:ext cx="5957694" cy="0"/>
              </a:xfrm>
              <a:prstGeom prst="line">
                <a:avLst/>
              </a:prstGeom>
              <a:ln>
                <a:solidFill>
                  <a:schemeClr val="accent2"/>
                </a:solidFill>
                <a:prstDash val="sysDot"/>
                <a:headEnd type="none" w="lg" len="med"/>
                <a:tailEnd type="none" w="lg" len="med"/>
              </a:ln>
            </p:spPr>
            <p:style>
              <a:lnRef idx="1">
                <a:schemeClr val="accent1"/>
              </a:lnRef>
              <a:fillRef idx="0">
                <a:schemeClr val="accent1"/>
              </a:fillRef>
              <a:effectRef idx="0">
                <a:schemeClr val="accent1"/>
              </a:effectRef>
              <a:fontRef idx="minor">
                <a:schemeClr val="tx1"/>
              </a:fontRef>
            </p:style>
          </p:cxnSp>
        </p:grpSp>
        <p:cxnSp>
          <p:nvCxnSpPr>
            <p:cNvPr id="29" name="Straight Connector 28">
              <a:extLst>
                <a:ext uri="{FF2B5EF4-FFF2-40B4-BE49-F238E27FC236}">
                  <a16:creationId xmlns:a16="http://schemas.microsoft.com/office/drawing/2014/main" id="{1B97E1EC-0B05-2FF0-2FC6-3141B5C9CC87}"/>
                </a:ext>
              </a:extLst>
            </p:cNvPr>
            <p:cNvCxnSpPr/>
            <p:nvPr/>
          </p:nvCxnSpPr>
          <p:spPr>
            <a:xfrm>
              <a:off x="5063613" y="5045050"/>
              <a:ext cx="6234178" cy="0"/>
            </a:xfrm>
            <a:prstGeom prst="line">
              <a:avLst/>
            </a:prstGeom>
            <a:ln>
              <a:solidFill>
                <a:schemeClr val="accent2"/>
              </a:solidFill>
              <a:prstDash val="sysDot"/>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33" name="TextBox 32">
            <a:extLst>
              <a:ext uri="{FF2B5EF4-FFF2-40B4-BE49-F238E27FC236}">
                <a16:creationId xmlns:a16="http://schemas.microsoft.com/office/drawing/2014/main" id="{727A4037-C1D6-DBA6-7C5E-B11054D62CF9}"/>
              </a:ext>
            </a:extLst>
          </p:cNvPr>
          <p:cNvSpPr txBox="1"/>
          <p:nvPr/>
        </p:nvSpPr>
        <p:spPr>
          <a:xfrm>
            <a:off x="494021" y="6463622"/>
            <a:ext cx="6760722" cy="215444"/>
          </a:xfrm>
          <a:prstGeom prst="rect">
            <a:avLst/>
          </a:prstGeom>
          <a:noFill/>
        </p:spPr>
        <p:txBody>
          <a:bodyPr wrap="square">
            <a:spAutoFit/>
          </a:bodyPr>
          <a:lstStyle/>
          <a:p>
            <a:pPr marL="228600" marR="0" lvl="0" indent="-228600" algn="l" defTabSz="914225" rtl="0" eaLnBrk="1" fontAlgn="auto" latinLnBrk="0" hangingPunct="1">
              <a:lnSpc>
                <a:spcPct val="100000"/>
              </a:lnSpc>
              <a:spcBef>
                <a:spcPts val="0"/>
              </a:spcBef>
              <a:spcAft>
                <a:spcPts val="0"/>
              </a:spcAft>
              <a:buClrTx/>
              <a:buSzTx/>
              <a:buFont typeface="+mj-lt"/>
              <a:buAutoNum type="arabicPeriod"/>
              <a:tabLst/>
              <a:defRPr/>
            </a:pPr>
            <a:r>
              <a:rPr kumimoji="0" lang="en-US" sz="800" b="0" i="0" u="none" strike="noStrike" kern="1200" cap="none" spc="0" normalizeH="0" baseline="0" noProof="0" dirty="0">
                <a:ln>
                  <a:noFill/>
                </a:ln>
                <a:solidFill>
                  <a:srgbClr val="737373"/>
                </a:solidFill>
                <a:effectLst/>
                <a:uLnTx/>
                <a:uFillTx/>
                <a:latin typeface="Segoe UI"/>
                <a:ea typeface="+mn-ea"/>
                <a:cs typeface="+mn-cs"/>
                <a:hlinkClick r:id="rId3">
                  <a:extLst>
                    <a:ext uri="{A12FA001-AC4F-418D-AE19-62706E023703}">
                      <ahyp:hlinkClr xmlns:ahyp="http://schemas.microsoft.com/office/drawing/2018/hyperlinkcolor" val="tx"/>
                    </a:ext>
                  </a:extLst>
                </a:hlinkClick>
              </a:rPr>
              <a:t>Microsoft Azure SQL Managed Instance (principledtechnologies.com)</a:t>
            </a:r>
            <a:endParaRPr kumimoji="0" lang="en-US" sz="800" b="0" i="0" u="none" strike="noStrike" kern="1200" cap="none" spc="0" normalizeH="0" baseline="0" noProof="0" dirty="0">
              <a:ln>
                <a:noFill/>
              </a:ln>
              <a:solidFill>
                <a:srgbClr val="737373"/>
              </a:solidFill>
              <a:effectLst/>
              <a:uLnTx/>
              <a:uFillTx/>
              <a:latin typeface="Segoe UI"/>
              <a:ea typeface="+mn-ea"/>
              <a:cs typeface="+mn-cs"/>
            </a:endParaRPr>
          </a:p>
        </p:txBody>
      </p:sp>
      <p:grpSp>
        <p:nvGrpSpPr>
          <p:cNvPr id="3" name="Group 2" descr="MIGRATE AND SAVE NAVIGATION">
            <a:extLst>
              <a:ext uri="{FF2B5EF4-FFF2-40B4-BE49-F238E27FC236}">
                <a16:creationId xmlns:a16="http://schemas.microsoft.com/office/drawing/2014/main" id="{7ACD9AD7-F999-AEAE-3CCA-B692B5637D97}"/>
              </a:ext>
            </a:extLst>
          </p:cNvPr>
          <p:cNvGrpSpPr/>
          <p:nvPr/>
        </p:nvGrpSpPr>
        <p:grpSpPr>
          <a:xfrm>
            <a:off x="583828" y="409640"/>
            <a:ext cx="1894901" cy="440154"/>
            <a:chOff x="583828" y="409640"/>
            <a:chExt cx="1894901" cy="440154"/>
          </a:xfrm>
        </p:grpSpPr>
        <p:cxnSp>
          <p:nvCxnSpPr>
            <p:cNvPr id="6" name="Straight Connector 5">
              <a:extLst>
                <a:ext uri="{FF2B5EF4-FFF2-40B4-BE49-F238E27FC236}">
                  <a16:creationId xmlns:a16="http://schemas.microsoft.com/office/drawing/2014/main" id="{10F0C381-398B-D5D3-235A-FD49956829AF}"/>
                </a:ext>
                <a:ext uri="{C183D7F6-B498-43B3-948B-1728B52AA6E4}">
                  <adec:decorative xmlns:adec="http://schemas.microsoft.com/office/drawing/2017/decorative" val="1"/>
                </a:ext>
              </a:extLst>
            </p:cNvPr>
            <p:cNvCxnSpPr>
              <a:cxnSpLocks/>
            </p:cNvCxnSpPr>
            <p:nvPr/>
          </p:nvCxnSpPr>
          <p:spPr>
            <a:xfrm flipH="1">
              <a:off x="1018274" y="629717"/>
              <a:ext cx="1014593" cy="0"/>
            </a:xfrm>
            <a:prstGeom prst="line">
              <a:avLst/>
            </a:prstGeom>
            <a:solidFill>
              <a:schemeClr val="bg1">
                <a:lumMod val="95000"/>
                <a:lumOff val="5000"/>
              </a:schemeClr>
            </a:solidFill>
            <a:ln w="12700" cap="flat" cmpd="sng" algn="ctr">
              <a:solidFill>
                <a:srgbClr val="000000">
                  <a:lumMod val="75000"/>
                  <a:lumOff val="25000"/>
                </a:srgbClr>
              </a:solidFill>
              <a:prstDash val="solid"/>
              <a:headEnd type="none" w="med" len="med"/>
              <a:tailEnd type="none" w="med" len="med"/>
            </a:ln>
            <a:effectLst/>
          </p:spPr>
        </p:cxnSp>
        <p:sp>
          <p:nvSpPr>
            <p:cNvPr id="7" name="Oval 6">
              <a:extLst>
                <a:ext uri="{FF2B5EF4-FFF2-40B4-BE49-F238E27FC236}">
                  <a16:creationId xmlns:a16="http://schemas.microsoft.com/office/drawing/2014/main" id="{3CE2F123-A57B-AD0F-351B-B8D7E5E3A05E}"/>
                </a:ext>
              </a:extLst>
            </p:cNvPr>
            <p:cNvSpPr/>
            <p:nvPr/>
          </p:nvSpPr>
          <p:spPr bwMode="auto">
            <a:xfrm>
              <a:off x="583828" y="409640"/>
              <a:ext cx="440154" cy="440154"/>
            </a:xfrm>
            <a:prstGeom prst="ellipse">
              <a:avLst/>
            </a:prstGeom>
            <a:solidFill>
              <a:schemeClr val="bg1"/>
            </a:solidFill>
            <a:ln w="12700" cap="flat" cmpd="sng" algn="ctr">
              <a:solidFill>
                <a:schemeClr val="accent1"/>
              </a:solidFill>
              <a:prstDash val="solid"/>
              <a:headEnd type="none" w="med" len="med"/>
              <a:tailEnd type="none" w="med" len="med"/>
            </a:ln>
            <a:effectLst/>
          </p:spPr>
          <p:txBody>
            <a:bodyPr rot="0" spcFirstLastPara="0" vertOverflow="overflow" horzOverflow="overflow" vert="horz" wrap="square" lIns="72000" tIns="180000" rIns="72000" bIns="14400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err="1">
                <a:ln>
                  <a:noFill/>
                </a:ln>
                <a:gradFill flip="none" rotWithShape="1">
                  <a:gsLst>
                    <a:gs pos="0">
                      <a:srgbClr val="50E6FF"/>
                    </a:gs>
                    <a:gs pos="100000">
                      <a:srgbClr val="D59DFF"/>
                    </a:gs>
                  </a:gsLst>
                  <a:lin ang="2700000" scaled="1"/>
                  <a:tileRect/>
                </a:gradFill>
                <a:effectLst/>
                <a:uLnTx/>
                <a:uFillTx/>
                <a:latin typeface="Segoe UI Semibold"/>
                <a:ea typeface="+mn-ea"/>
                <a:cs typeface="+mn-cs"/>
              </a:endParaRPr>
            </a:p>
          </p:txBody>
        </p:sp>
        <p:sp>
          <p:nvSpPr>
            <p:cNvPr id="9" name="Oval 8">
              <a:extLst>
                <a:ext uri="{FF2B5EF4-FFF2-40B4-BE49-F238E27FC236}">
                  <a16:creationId xmlns:a16="http://schemas.microsoft.com/office/drawing/2014/main" id="{0CA2AD6F-2142-C039-B27C-B6A62208C970}"/>
                </a:ext>
              </a:extLst>
            </p:cNvPr>
            <p:cNvSpPr/>
            <p:nvPr/>
          </p:nvSpPr>
          <p:spPr bwMode="auto">
            <a:xfrm>
              <a:off x="2038575" y="409640"/>
              <a:ext cx="440154" cy="440154"/>
            </a:xfrm>
            <a:prstGeom prst="ellipse">
              <a:avLst/>
            </a:prstGeom>
            <a:solidFill>
              <a:schemeClr val="bg1">
                <a:lumMod val="95000"/>
                <a:lumOff val="5000"/>
              </a:schemeClr>
            </a:solidFill>
            <a:ln w="12700" cap="flat" cmpd="sng" algn="ctr">
              <a:solidFill>
                <a:srgbClr val="000000">
                  <a:lumMod val="75000"/>
                  <a:lumOff val="25000"/>
                </a:srgbClr>
              </a:solidFill>
              <a:prstDash val="solid"/>
              <a:headEnd type="none" w="med" len="med"/>
              <a:tailEnd type="none" w="med" len="med"/>
            </a:ln>
            <a:effectLst/>
          </p:spPr>
          <p:txBody>
            <a:bodyPr rot="0" spcFirstLastPara="0" vertOverflow="overflow" horzOverflow="overflow" vert="horz" wrap="square" lIns="72000" tIns="180000" rIns="72000" bIns="14400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err="1">
                <a:ln>
                  <a:noFill/>
                </a:ln>
                <a:gradFill flip="none" rotWithShape="1">
                  <a:gsLst>
                    <a:gs pos="0">
                      <a:srgbClr val="50E6FF"/>
                    </a:gs>
                    <a:gs pos="100000">
                      <a:srgbClr val="D59DFF"/>
                    </a:gs>
                  </a:gsLst>
                  <a:lin ang="2700000" scaled="1"/>
                  <a:tileRect/>
                </a:gradFill>
                <a:effectLst/>
                <a:uLnTx/>
                <a:uFillTx/>
                <a:latin typeface="Segoe UI Semibold"/>
                <a:ea typeface="+mn-ea"/>
                <a:cs typeface="+mn-cs"/>
              </a:endParaRPr>
            </a:p>
          </p:txBody>
        </p:sp>
        <p:sp>
          <p:nvSpPr>
            <p:cNvPr id="10" name="Oval 9">
              <a:extLst>
                <a:ext uri="{FF2B5EF4-FFF2-40B4-BE49-F238E27FC236}">
                  <a16:creationId xmlns:a16="http://schemas.microsoft.com/office/drawing/2014/main" id="{5EBEBCEE-7563-9ED2-0D91-0B2FA27D7DA6}"/>
                </a:ext>
              </a:extLst>
            </p:cNvPr>
            <p:cNvSpPr/>
            <p:nvPr/>
          </p:nvSpPr>
          <p:spPr bwMode="auto">
            <a:xfrm>
              <a:off x="1311201" y="409640"/>
              <a:ext cx="440154" cy="440154"/>
            </a:xfrm>
            <a:prstGeom prst="ellipse">
              <a:avLst/>
            </a:prstGeom>
            <a:solidFill>
              <a:schemeClr val="bg1">
                <a:lumMod val="95000"/>
                <a:lumOff val="5000"/>
              </a:schemeClr>
            </a:solidFill>
            <a:ln w="12700" cap="flat" cmpd="sng" algn="ctr">
              <a:solidFill>
                <a:srgbClr val="000000">
                  <a:lumMod val="75000"/>
                  <a:lumOff val="25000"/>
                </a:srgbClr>
              </a:solidFill>
              <a:prstDash val="solid"/>
              <a:headEnd type="none" w="med" len="med"/>
              <a:tailEnd type="none" w="med" len="med"/>
            </a:ln>
            <a:effectLst/>
          </p:spPr>
          <p:txBody>
            <a:bodyPr rot="0" spcFirstLastPara="0" vertOverflow="overflow" horzOverflow="overflow" vert="horz" wrap="square" lIns="72000" tIns="180000" rIns="72000" bIns="14400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err="1">
                <a:ln>
                  <a:noFill/>
                </a:ln>
                <a:gradFill flip="none" rotWithShape="1">
                  <a:gsLst>
                    <a:gs pos="0">
                      <a:srgbClr val="50E6FF"/>
                    </a:gs>
                    <a:gs pos="100000">
                      <a:srgbClr val="D59DFF"/>
                    </a:gs>
                  </a:gsLst>
                  <a:lin ang="2700000" scaled="1"/>
                  <a:tileRect/>
                </a:gradFill>
                <a:effectLst/>
                <a:uLnTx/>
                <a:uFillTx/>
                <a:latin typeface="Segoe UI Semibold"/>
                <a:ea typeface="+mn-ea"/>
                <a:cs typeface="+mn-cs"/>
              </a:endParaRPr>
            </a:p>
          </p:txBody>
        </p:sp>
        <p:pic>
          <p:nvPicPr>
            <p:cNvPr id="11" name="Picture 10">
              <a:extLst>
                <a:ext uri="{FF2B5EF4-FFF2-40B4-BE49-F238E27FC236}">
                  <a16:creationId xmlns:a16="http://schemas.microsoft.com/office/drawing/2014/main" id="{7A54911C-781D-B866-F9D8-DB0DC7A0CE5D}"/>
                </a:ext>
              </a:extLst>
            </p:cNvPr>
            <p:cNvPicPr>
              <a:picLocks noChangeAspect="1"/>
            </p:cNvPicPr>
            <p:nvPr/>
          </p:nvPicPr>
          <p:blipFill>
            <a:blip r:embed="rId4">
              <a:grayscl/>
              <a:alphaModFix amt="53000"/>
            </a:blip>
            <a:stretch>
              <a:fillRect/>
            </a:stretch>
          </p:blipFill>
          <p:spPr>
            <a:xfrm>
              <a:off x="1391647" y="486818"/>
              <a:ext cx="267846" cy="267846"/>
            </a:xfrm>
            <a:prstGeom prst="rect">
              <a:avLst/>
            </a:prstGeom>
          </p:spPr>
        </p:pic>
        <p:pic>
          <p:nvPicPr>
            <p:cNvPr id="12" name="Picture 11">
              <a:extLst>
                <a:ext uri="{FF2B5EF4-FFF2-40B4-BE49-F238E27FC236}">
                  <a16:creationId xmlns:a16="http://schemas.microsoft.com/office/drawing/2014/main" id="{4CF155F0-2C33-B348-9707-6DC1DDD9829F}"/>
                </a:ext>
              </a:extLst>
            </p:cNvPr>
            <p:cNvPicPr>
              <a:picLocks noChangeAspect="1"/>
            </p:cNvPicPr>
            <p:nvPr/>
          </p:nvPicPr>
          <p:blipFill>
            <a:blip r:embed="rId5">
              <a:alphaModFix amt="53000"/>
              <a:grayscl/>
            </a:blip>
            <a:srcRect/>
            <a:stretch/>
          </p:blipFill>
          <p:spPr>
            <a:xfrm>
              <a:off x="2141474" y="486818"/>
              <a:ext cx="264639" cy="264639"/>
            </a:xfrm>
            <a:prstGeom prst="rect">
              <a:avLst/>
            </a:prstGeom>
          </p:spPr>
        </p:pic>
        <p:pic>
          <p:nvPicPr>
            <p:cNvPr id="13" name="Picture 12">
              <a:extLst>
                <a:ext uri="{FF2B5EF4-FFF2-40B4-BE49-F238E27FC236}">
                  <a16:creationId xmlns:a16="http://schemas.microsoft.com/office/drawing/2014/main" id="{A4894A24-EB0F-2043-07AC-773A44062DB7}"/>
                </a:ext>
              </a:extLst>
            </p:cNvPr>
            <p:cNvPicPr>
              <a:picLocks noChangeAspect="1"/>
            </p:cNvPicPr>
            <p:nvPr/>
          </p:nvPicPr>
          <p:blipFill>
            <a:blip r:embed="rId6"/>
            <a:stretch>
              <a:fillRect/>
            </a:stretch>
          </p:blipFill>
          <p:spPr>
            <a:xfrm>
              <a:off x="677019" y="497398"/>
              <a:ext cx="264638" cy="264638"/>
            </a:xfrm>
            <a:prstGeom prst="rect">
              <a:avLst/>
            </a:prstGeom>
          </p:spPr>
        </p:pic>
      </p:grpSp>
    </p:spTree>
    <p:extLst>
      <p:ext uri="{BB962C8B-B14F-4D97-AF65-F5344CB8AC3E}">
        <p14:creationId xmlns:p14="http://schemas.microsoft.com/office/powerpoint/2010/main" val="4027396107"/>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0C8E8-3A6A-FEAF-AC0E-4913B472DB25}"/>
              </a:ext>
            </a:extLst>
          </p:cNvPr>
          <p:cNvSpPr>
            <a:spLocks noGrp="1"/>
          </p:cNvSpPr>
          <p:nvPr>
            <p:ph type="title"/>
          </p:nvPr>
        </p:nvSpPr>
        <p:spPr>
          <a:xfrm>
            <a:off x="588263" y="1630006"/>
            <a:ext cx="11018520" cy="492443"/>
          </a:xfrm>
        </p:spPr>
        <p:txBody>
          <a:bodyPr/>
          <a:lstStyle/>
          <a:p>
            <a:r>
              <a:rPr lang="en-US"/>
              <a:t>Save more long-term by investing in Azure</a:t>
            </a:r>
          </a:p>
        </p:txBody>
      </p:sp>
      <p:sp>
        <p:nvSpPr>
          <p:cNvPr id="25" name="Oval 24">
            <a:extLst>
              <a:ext uri="{FF2B5EF4-FFF2-40B4-BE49-F238E27FC236}">
                <a16:creationId xmlns:a16="http://schemas.microsoft.com/office/drawing/2014/main" id="{E0BE55F8-5CC7-24C5-06C0-E981C0F96BB3}"/>
              </a:ext>
              <a:ext uri="{C183D7F6-B498-43B3-948B-1728B52AA6E4}">
                <adec:decorative xmlns:adec="http://schemas.microsoft.com/office/drawing/2017/decorative" val="1"/>
              </a:ext>
            </a:extLst>
          </p:cNvPr>
          <p:cNvSpPr/>
          <p:nvPr/>
        </p:nvSpPr>
        <p:spPr bwMode="auto">
          <a:xfrm rot="10800000">
            <a:off x="8120266" y="2362506"/>
            <a:ext cx="3167132" cy="3113952"/>
          </a:xfrm>
          <a:prstGeom prst="ellipse">
            <a:avLst/>
          </a:prstGeom>
          <a:gradFill flip="none" rotWithShape="1">
            <a:gsLst>
              <a:gs pos="0">
                <a:schemeClr val="accent2">
                  <a:alpha val="40000"/>
                </a:schemeClr>
              </a:gs>
              <a:gs pos="41000">
                <a:schemeClr val="bg1">
                  <a:alpha val="0"/>
                </a:schemeClr>
              </a:gs>
            </a:gsLst>
            <a:path path="circle">
              <a:fillToRect l="50000" t="50000" r="50000" b="50000"/>
            </a:path>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sp>
        <p:nvSpPr>
          <p:cNvPr id="21" name="Oval 20">
            <a:extLst>
              <a:ext uri="{FF2B5EF4-FFF2-40B4-BE49-F238E27FC236}">
                <a16:creationId xmlns:a16="http://schemas.microsoft.com/office/drawing/2014/main" id="{DCE1BF9B-2D72-EC8F-0EE6-B492733A82D9}"/>
              </a:ext>
              <a:ext uri="{C183D7F6-B498-43B3-948B-1728B52AA6E4}">
                <adec:decorative xmlns:adec="http://schemas.microsoft.com/office/drawing/2017/decorative" val="1"/>
              </a:ext>
            </a:extLst>
          </p:cNvPr>
          <p:cNvSpPr/>
          <p:nvPr/>
        </p:nvSpPr>
        <p:spPr bwMode="auto">
          <a:xfrm rot="10800000">
            <a:off x="830645" y="2362506"/>
            <a:ext cx="3167132" cy="3113952"/>
          </a:xfrm>
          <a:prstGeom prst="ellipse">
            <a:avLst/>
          </a:prstGeom>
          <a:gradFill flip="none" rotWithShape="1">
            <a:gsLst>
              <a:gs pos="0">
                <a:schemeClr val="accent2">
                  <a:alpha val="40000"/>
                </a:schemeClr>
              </a:gs>
              <a:gs pos="41000">
                <a:schemeClr val="bg1">
                  <a:alpha val="0"/>
                </a:schemeClr>
              </a:gs>
            </a:gsLst>
            <a:path path="circle">
              <a:fillToRect l="50000" t="50000" r="50000" b="50000"/>
            </a:path>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sp>
        <p:nvSpPr>
          <p:cNvPr id="23" name="Oval 22">
            <a:extLst>
              <a:ext uri="{FF2B5EF4-FFF2-40B4-BE49-F238E27FC236}">
                <a16:creationId xmlns:a16="http://schemas.microsoft.com/office/drawing/2014/main" id="{AF854912-0ECA-6C10-1588-77EDD82F8809}"/>
              </a:ext>
              <a:ext uri="{C183D7F6-B498-43B3-948B-1728B52AA6E4}">
                <adec:decorative xmlns:adec="http://schemas.microsoft.com/office/drawing/2017/decorative" val="1"/>
              </a:ext>
            </a:extLst>
          </p:cNvPr>
          <p:cNvSpPr/>
          <p:nvPr/>
        </p:nvSpPr>
        <p:spPr bwMode="auto">
          <a:xfrm rot="10800000">
            <a:off x="4482519" y="2362506"/>
            <a:ext cx="3167132" cy="3113952"/>
          </a:xfrm>
          <a:prstGeom prst="ellipse">
            <a:avLst/>
          </a:prstGeom>
          <a:gradFill flip="none" rotWithShape="1">
            <a:gsLst>
              <a:gs pos="0">
                <a:schemeClr val="accent2">
                  <a:alpha val="40000"/>
                </a:schemeClr>
              </a:gs>
              <a:gs pos="41000">
                <a:schemeClr val="bg1">
                  <a:alpha val="0"/>
                </a:schemeClr>
              </a:gs>
            </a:gsLst>
            <a:path path="circle">
              <a:fillToRect l="50000" t="50000" r="50000" b="50000"/>
            </a:path>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grpSp>
        <p:nvGrpSpPr>
          <p:cNvPr id="15" name="Group 14">
            <a:extLst>
              <a:ext uri="{FF2B5EF4-FFF2-40B4-BE49-F238E27FC236}">
                <a16:creationId xmlns:a16="http://schemas.microsoft.com/office/drawing/2014/main" id="{A71E600F-C391-87F4-5BF4-8A9D096EC043}"/>
              </a:ext>
              <a:ext uri="{C183D7F6-B498-43B3-948B-1728B52AA6E4}">
                <adec:decorative xmlns:adec="http://schemas.microsoft.com/office/drawing/2017/decorative" val="1"/>
              </a:ext>
            </a:extLst>
          </p:cNvPr>
          <p:cNvGrpSpPr/>
          <p:nvPr/>
        </p:nvGrpSpPr>
        <p:grpSpPr>
          <a:xfrm>
            <a:off x="583827" y="3096457"/>
            <a:ext cx="10950391" cy="2616084"/>
            <a:chOff x="1040547" y="2444320"/>
            <a:chExt cx="9509851" cy="2466865"/>
          </a:xfrm>
        </p:grpSpPr>
        <p:sp>
          <p:nvSpPr>
            <p:cNvPr id="16" name="Round Same Side Corner Rectangle 15">
              <a:extLst>
                <a:ext uri="{FF2B5EF4-FFF2-40B4-BE49-F238E27FC236}">
                  <a16:creationId xmlns:a16="http://schemas.microsoft.com/office/drawing/2014/main" id="{82418F6E-8001-865F-5D38-ADC20CE431A1}"/>
                </a:ext>
              </a:extLst>
            </p:cNvPr>
            <p:cNvSpPr/>
            <p:nvPr/>
          </p:nvSpPr>
          <p:spPr bwMode="auto">
            <a:xfrm>
              <a:off x="1040547" y="2444320"/>
              <a:ext cx="3166924" cy="2371013"/>
            </a:xfrm>
            <a:prstGeom prst="round2SameRect">
              <a:avLst>
                <a:gd name="adj1" fmla="val 11785"/>
                <a:gd name="adj2" fmla="val 0"/>
              </a:avLst>
            </a:prstGeom>
            <a:ln>
              <a:gradFill>
                <a:gsLst>
                  <a:gs pos="0">
                    <a:schemeClr val="accent1">
                      <a:alpha val="0"/>
                    </a:schemeClr>
                  </a:gs>
                  <a:gs pos="100000">
                    <a:schemeClr val="accent1"/>
                  </a:gs>
                </a:gsLst>
                <a:lin ang="162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err="1">
                <a:solidFill>
                  <a:srgbClr val="000000"/>
                </a:solidFill>
                <a:ea typeface="Segoe UI" pitchFamily="34" charset="0"/>
                <a:cs typeface="Segoe UI" pitchFamily="34" charset="0"/>
              </a:endParaRPr>
            </a:p>
          </p:txBody>
        </p:sp>
        <p:sp>
          <p:nvSpPr>
            <p:cNvPr id="17" name="Round Same Side Corner Rectangle 16">
              <a:extLst>
                <a:ext uri="{FF2B5EF4-FFF2-40B4-BE49-F238E27FC236}">
                  <a16:creationId xmlns:a16="http://schemas.microsoft.com/office/drawing/2014/main" id="{FEA5F80E-F42F-F81A-CCE2-499B86B3A993}"/>
                </a:ext>
              </a:extLst>
            </p:cNvPr>
            <p:cNvSpPr/>
            <p:nvPr/>
          </p:nvSpPr>
          <p:spPr bwMode="auto">
            <a:xfrm rot="10800000">
              <a:off x="4212010" y="3203641"/>
              <a:ext cx="3166924" cy="1707544"/>
            </a:xfrm>
            <a:prstGeom prst="round2SameRect">
              <a:avLst>
                <a:gd name="adj1" fmla="val 11785"/>
                <a:gd name="adj2" fmla="val 0"/>
              </a:avLst>
            </a:prstGeom>
            <a:ln>
              <a:gradFill>
                <a:gsLst>
                  <a:gs pos="0">
                    <a:schemeClr val="accent1">
                      <a:alpha val="0"/>
                    </a:schemeClr>
                  </a:gs>
                  <a:gs pos="100000">
                    <a:schemeClr val="accent1"/>
                  </a:gs>
                </a:gsLst>
                <a:lin ang="162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err="1">
                <a:solidFill>
                  <a:srgbClr val="000000"/>
                </a:solidFill>
                <a:ea typeface="Segoe UI" pitchFamily="34" charset="0"/>
                <a:cs typeface="Segoe UI" pitchFamily="34" charset="0"/>
              </a:endParaRPr>
            </a:p>
          </p:txBody>
        </p:sp>
        <p:sp>
          <p:nvSpPr>
            <p:cNvPr id="18" name="Round Same Side Corner Rectangle 17">
              <a:extLst>
                <a:ext uri="{FF2B5EF4-FFF2-40B4-BE49-F238E27FC236}">
                  <a16:creationId xmlns:a16="http://schemas.microsoft.com/office/drawing/2014/main" id="{39FDFC0A-DB08-4A85-F1E2-11DF2C247464}"/>
                </a:ext>
              </a:extLst>
            </p:cNvPr>
            <p:cNvSpPr/>
            <p:nvPr/>
          </p:nvSpPr>
          <p:spPr bwMode="auto">
            <a:xfrm>
              <a:off x="7383474" y="2444320"/>
              <a:ext cx="3166924" cy="2371013"/>
            </a:xfrm>
            <a:prstGeom prst="round2SameRect">
              <a:avLst>
                <a:gd name="adj1" fmla="val 11785"/>
                <a:gd name="adj2" fmla="val 0"/>
              </a:avLst>
            </a:prstGeom>
            <a:ln>
              <a:gradFill>
                <a:gsLst>
                  <a:gs pos="0">
                    <a:schemeClr val="accent1">
                      <a:alpha val="0"/>
                    </a:schemeClr>
                  </a:gs>
                  <a:gs pos="100000">
                    <a:schemeClr val="accent1"/>
                  </a:gs>
                </a:gsLst>
                <a:lin ang="162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err="1">
                <a:solidFill>
                  <a:srgbClr val="000000"/>
                </a:solidFill>
                <a:ea typeface="Segoe UI" pitchFamily="34" charset="0"/>
                <a:cs typeface="Segoe UI" pitchFamily="34" charset="0"/>
              </a:endParaRPr>
            </a:p>
          </p:txBody>
        </p:sp>
      </p:grpSp>
      <p:sp>
        <p:nvSpPr>
          <p:cNvPr id="5" name="TextBox 4">
            <a:extLst>
              <a:ext uri="{FF2B5EF4-FFF2-40B4-BE49-F238E27FC236}">
                <a16:creationId xmlns:a16="http://schemas.microsoft.com/office/drawing/2014/main" id="{65100DF9-F1C2-BCFC-7842-B07585B32A4A}"/>
              </a:ext>
            </a:extLst>
          </p:cNvPr>
          <p:cNvSpPr txBox="1"/>
          <p:nvPr/>
        </p:nvSpPr>
        <p:spPr>
          <a:xfrm>
            <a:off x="882134" y="4315701"/>
            <a:ext cx="3050030" cy="738664"/>
          </a:xfrm>
          <a:prstGeom prst="rect">
            <a:avLst/>
          </a:prstGeom>
          <a:noFill/>
        </p:spPr>
        <p:txBody>
          <a:bodyPr wrap="square" lIns="91440" tIns="45720" rIns="91440" bIns="45720" anchor="t">
            <a:spAutoFit/>
          </a:bodyPr>
          <a:lstStyle/>
          <a:p>
            <a:pPr algn="ctr" defTabSz="914367" fontAlgn="ctr">
              <a:spcAft>
                <a:spcPts val="200"/>
              </a:spcAft>
              <a:buClr>
                <a:srgbClr val="FFFFFF"/>
              </a:buClr>
              <a:buSzPct val="100000"/>
              <a:defRPr/>
            </a:pPr>
            <a:r>
              <a:rPr lang="en-US" sz="1400">
                <a:cs typeface="Segoe UI"/>
              </a:rPr>
              <a:t>Migrate </a:t>
            </a:r>
            <a:r>
              <a:rPr lang="en-US" sz="1400" err="1">
                <a:cs typeface="Segoe UI"/>
              </a:rPr>
              <a:t>CapEx</a:t>
            </a:r>
            <a:r>
              <a:rPr lang="en-US" sz="1400">
                <a:cs typeface="Segoe UI"/>
              </a:rPr>
              <a:t> to </a:t>
            </a:r>
            <a:r>
              <a:rPr lang="en-US" sz="1400" err="1">
                <a:cs typeface="Segoe UI"/>
              </a:rPr>
              <a:t>OpEx</a:t>
            </a:r>
            <a:r>
              <a:rPr lang="en-US" sz="1400">
                <a:cs typeface="Segoe UI"/>
              </a:rPr>
              <a:t> to </a:t>
            </a:r>
            <a:r>
              <a:rPr lang="en-US" sz="1400">
                <a:solidFill>
                  <a:schemeClr val="accent1"/>
                </a:solidFill>
                <a:cs typeface="Segoe UI"/>
              </a:rPr>
              <a:t>lower financial risk and </a:t>
            </a:r>
            <a:r>
              <a:rPr lang="en-US" sz="1400">
                <a:solidFill>
                  <a:srgbClr val="50E6FF"/>
                </a:solidFill>
                <a:cs typeface="Segoe UI"/>
              </a:rPr>
              <a:t>improve agility </a:t>
            </a:r>
            <a:r>
              <a:rPr lang="en-US" sz="1400">
                <a:cs typeface="Segoe UI"/>
              </a:rPr>
              <a:t>for macro-economic conditions </a:t>
            </a:r>
            <a:endParaRPr kumimoji="0" lang="en-US" sz="1400" b="0" i="1" u="none" strike="noStrike" kern="1200" cap="none" spc="0" normalizeH="0" baseline="30000" noProof="0">
              <a:ln>
                <a:noFill/>
              </a:ln>
              <a:solidFill>
                <a:srgbClr val="50E6FF"/>
              </a:solidFill>
              <a:effectLst/>
              <a:uLnTx/>
              <a:uFillTx/>
              <a:cs typeface="Segoe UI"/>
            </a:endParaRPr>
          </a:p>
        </p:txBody>
      </p:sp>
      <p:sp>
        <p:nvSpPr>
          <p:cNvPr id="11" name="TextBox 10">
            <a:extLst>
              <a:ext uri="{FF2B5EF4-FFF2-40B4-BE49-F238E27FC236}">
                <a16:creationId xmlns:a16="http://schemas.microsoft.com/office/drawing/2014/main" id="{34AFE010-0E40-52AF-C2C9-BD6457C80195}"/>
              </a:ext>
            </a:extLst>
          </p:cNvPr>
          <p:cNvSpPr txBox="1"/>
          <p:nvPr/>
        </p:nvSpPr>
        <p:spPr>
          <a:xfrm>
            <a:off x="4566301" y="4315701"/>
            <a:ext cx="2985440" cy="954107"/>
          </a:xfrm>
          <a:prstGeom prst="rect">
            <a:avLst/>
          </a:prstGeom>
          <a:noFill/>
        </p:spPr>
        <p:txBody>
          <a:bodyPr wrap="square" lIns="91440" tIns="45720" rIns="91440" bIns="45720" anchor="t">
            <a:spAutoFit/>
          </a:bodyPr>
          <a:lstStyle/>
          <a:p>
            <a:pPr algn="ctr" defTabSz="914367" fontAlgn="ctr">
              <a:spcAft>
                <a:spcPts val="200"/>
              </a:spcAft>
              <a:buClr>
                <a:srgbClr val="FFFFFF"/>
              </a:buClr>
              <a:buSzPct val="100000"/>
              <a:defRPr/>
            </a:pPr>
            <a:r>
              <a:rPr lang="en-US" sz="1400">
                <a:solidFill>
                  <a:srgbClr val="FFFFFF"/>
                </a:solidFill>
                <a:cs typeface="Segoe UI"/>
              </a:rPr>
              <a:t>Flexibility to migrate and modernize compute environment while </a:t>
            </a:r>
            <a:r>
              <a:rPr lang="en-US" sz="1400">
                <a:solidFill>
                  <a:srgbClr val="50E6FF"/>
                </a:solidFill>
                <a:cs typeface="Segoe UI"/>
              </a:rPr>
              <a:t>cost optimizing </a:t>
            </a:r>
            <a:r>
              <a:rPr lang="en-US" sz="1400">
                <a:solidFill>
                  <a:srgbClr val="FFFFFF"/>
                </a:solidFill>
                <a:cs typeface="Segoe UI"/>
              </a:rPr>
              <a:t>with strategic price offerings</a:t>
            </a:r>
            <a:endParaRPr lang="en-US" sz="1400">
              <a:cs typeface="Segoe UI"/>
            </a:endParaRPr>
          </a:p>
        </p:txBody>
      </p:sp>
      <p:sp>
        <p:nvSpPr>
          <p:cNvPr id="12" name="TextBox 11">
            <a:extLst>
              <a:ext uri="{FF2B5EF4-FFF2-40B4-BE49-F238E27FC236}">
                <a16:creationId xmlns:a16="http://schemas.microsoft.com/office/drawing/2014/main" id="{7E02B6A0-6FB6-EF63-35AE-FDC6F58E6ECB}"/>
              </a:ext>
            </a:extLst>
          </p:cNvPr>
          <p:cNvSpPr txBox="1"/>
          <p:nvPr/>
        </p:nvSpPr>
        <p:spPr>
          <a:xfrm>
            <a:off x="8310058" y="4315701"/>
            <a:ext cx="2787548" cy="1220847"/>
          </a:xfrm>
          <a:prstGeom prst="rect">
            <a:avLst/>
          </a:prstGeom>
          <a:noFill/>
        </p:spPr>
        <p:txBody>
          <a:bodyPr wrap="square" lIns="91440" tIns="45720" rIns="91440" bIns="45720" anchor="t">
            <a:spAutoFit/>
          </a:bodyPr>
          <a:lstStyle/>
          <a:p>
            <a:pPr algn="ctr" defTabSz="914367" fontAlgn="ctr">
              <a:spcAft>
                <a:spcPts val="200"/>
              </a:spcAft>
              <a:buClr>
                <a:srgbClr val="FFFFFF"/>
              </a:buClr>
              <a:buSzPct val="100000"/>
              <a:defRPr/>
            </a:pPr>
            <a:r>
              <a:rPr lang="en-US" sz="1400">
                <a:solidFill>
                  <a:srgbClr val="50E6FF"/>
                </a:solidFill>
                <a:cs typeface="Segoe UI"/>
              </a:rPr>
              <a:t>Reduce your carbon footprint</a:t>
            </a:r>
            <a:r>
              <a:rPr lang="en-US" sz="1400">
                <a:solidFill>
                  <a:srgbClr val="30E5D0"/>
                </a:solidFill>
                <a:cs typeface="Segoe UI"/>
              </a:rPr>
              <a:t> </a:t>
            </a:r>
            <a:r>
              <a:rPr lang="en-US" sz="1400">
                <a:solidFill>
                  <a:srgbClr val="FFFFFF"/>
                </a:solidFill>
                <a:cs typeface="Segoe UI"/>
              </a:rPr>
              <a:t>with our power-efficient, sustainable datacenters</a:t>
            </a:r>
            <a:endParaRPr lang="en-US" sz="1400">
              <a:ea typeface="+mn-lt"/>
              <a:cs typeface="+mn-lt"/>
            </a:endParaRPr>
          </a:p>
          <a:p>
            <a:pPr marL="342900" indent="-342900" algn="ctr" defTabSz="914367" fontAlgn="ctr">
              <a:spcAft>
                <a:spcPts val="200"/>
              </a:spcAft>
              <a:buClr>
                <a:srgbClr val="FFFFFF"/>
              </a:buClr>
              <a:buSzPct val="100000"/>
              <a:buFont typeface="Arial" panose="020B0604020202020204" pitchFamily="34" charset="0"/>
              <a:buChar char="•"/>
              <a:defRPr/>
            </a:pPr>
            <a:endParaRPr kumimoji="0" lang="en-US" sz="1400" b="0" i="0" u="none" strike="noStrike" kern="1200" cap="none" spc="0" normalizeH="0" baseline="0" noProof="0">
              <a:ln>
                <a:noFill/>
              </a:ln>
              <a:solidFill>
                <a:srgbClr val="FFFFFF"/>
              </a:solidFill>
              <a:effectLst/>
              <a:uLnTx/>
              <a:uFillTx/>
              <a:cs typeface="Segoe UI"/>
            </a:endParaRPr>
          </a:p>
          <a:p>
            <a:pPr marL="342900" marR="0" lvl="0" indent="-342900" algn="ctr" defTabSz="914367" rtl="0" eaLnBrk="1" fontAlgn="ctr" latinLnBrk="0" hangingPunct="1">
              <a:spcBef>
                <a:spcPts val="0"/>
              </a:spcBef>
              <a:spcAft>
                <a:spcPts val="200"/>
              </a:spcAft>
              <a:buClr>
                <a:srgbClr val="FFFFFF"/>
              </a:buClr>
              <a:buSzPct val="100000"/>
              <a:buFont typeface="Arial" panose="020B0604020202020204" pitchFamily="34" charset="0"/>
              <a:buChar char="•"/>
              <a:tabLst/>
              <a:defRPr/>
            </a:pPr>
            <a:endParaRPr kumimoji="0" lang="en-US" sz="1400" b="0" i="0" u="none" strike="noStrike" kern="1200" cap="none" spc="0" normalizeH="0" baseline="0" noProof="0">
              <a:ln>
                <a:noFill/>
              </a:ln>
              <a:solidFill>
                <a:srgbClr val="50E6FF"/>
              </a:solidFill>
              <a:effectLst/>
              <a:uLnTx/>
              <a:uFillTx/>
              <a:cs typeface="Segoe UI"/>
            </a:endParaRPr>
          </a:p>
        </p:txBody>
      </p:sp>
      <p:sp>
        <p:nvSpPr>
          <p:cNvPr id="28" name="page" title="Icon of a rectangle with a dotted line in the middle, an arrow on the right side pointing to the right">
            <a:extLst>
              <a:ext uri="{FF2B5EF4-FFF2-40B4-BE49-F238E27FC236}">
                <a16:creationId xmlns:a16="http://schemas.microsoft.com/office/drawing/2014/main" id="{0E303D5C-0B5E-824B-F070-1850C63DBD2F}"/>
              </a:ext>
            </a:extLst>
          </p:cNvPr>
          <p:cNvSpPr>
            <a:spLocks noChangeAspect="1" noEditPoints="1"/>
          </p:cNvSpPr>
          <p:nvPr/>
        </p:nvSpPr>
        <p:spPr bwMode="auto">
          <a:xfrm>
            <a:off x="2183439" y="3708417"/>
            <a:ext cx="461541" cy="332914"/>
          </a:xfrm>
          <a:custGeom>
            <a:avLst/>
            <a:gdLst>
              <a:gd name="T0" fmla="*/ 244 w 244"/>
              <a:gd name="T1" fmla="*/ 80 h 176"/>
              <a:gd name="T2" fmla="*/ 244 w 244"/>
              <a:gd name="T3" fmla="*/ 176 h 176"/>
              <a:gd name="T4" fmla="*/ 0 w 244"/>
              <a:gd name="T5" fmla="*/ 176 h 176"/>
              <a:gd name="T6" fmla="*/ 0 w 244"/>
              <a:gd name="T7" fmla="*/ 0 h 176"/>
              <a:gd name="T8" fmla="*/ 244 w 244"/>
              <a:gd name="T9" fmla="*/ 0 h 176"/>
              <a:gd name="T10" fmla="*/ 244 w 244"/>
              <a:gd name="T11" fmla="*/ 80 h 176"/>
              <a:gd name="T12" fmla="*/ 122 w 244"/>
              <a:gd name="T13" fmla="*/ 0 h 176"/>
              <a:gd name="T14" fmla="*/ 122 w 244"/>
              <a:gd name="T15" fmla="*/ 26 h 176"/>
              <a:gd name="T16" fmla="*/ 122 w 244"/>
              <a:gd name="T17" fmla="*/ 44 h 176"/>
              <a:gd name="T18" fmla="*/ 122 w 244"/>
              <a:gd name="T19" fmla="*/ 79 h 176"/>
              <a:gd name="T20" fmla="*/ 122 w 244"/>
              <a:gd name="T21" fmla="*/ 95 h 176"/>
              <a:gd name="T22" fmla="*/ 122 w 244"/>
              <a:gd name="T23" fmla="*/ 130 h 176"/>
              <a:gd name="T24" fmla="*/ 122 w 244"/>
              <a:gd name="T25" fmla="*/ 148 h 176"/>
              <a:gd name="T26" fmla="*/ 122 w 244"/>
              <a:gd name="T27" fmla="*/ 176 h 176"/>
              <a:gd name="T28" fmla="*/ 182 w 244"/>
              <a:gd name="T29" fmla="*/ 114 h 176"/>
              <a:gd name="T30" fmla="*/ 207 w 244"/>
              <a:gd name="T31" fmla="*/ 88 h 176"/>
              <a:gd name="T32" fmla="*/ 182 w 244"/>
              <a:gd name="T33" fmla="*/ 62 h 176"/>
              <a:gd name="T34" fmla="*/ 207 w 244"/>
              <a:gd name="T35" fmla="*/ 88 h 176"/>
              <a:gd name="T36" fmla="*/ 147 w 244"/>
              <a:gd name="T37" fmla="*/ 88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44" h="176">
                <a:moveTo>
                  <a:pt x="244" y="80"/>
                </a:moveTo>
                <a:lnTo>
                  <a:pt x="244" y="176"/>
                </a:lnTo>
                <a:lnTo>
                  <a:pt x="0" y="176"/>
                </a:lnTo>
                <a:lnTo>
                  <a:pt x="0" y="0"/>
                </a:lnTo>
                <a:lnTo>
                  <a:pt x="244" y="0"/>
                </a:lnTo>
                <a:lnTo>
                  <a:pt x="244" y="80"/>
                </a:lnTo>
                <a:moveTo>
                  <a:pt x="122" y="0"/>
                </a:moveTo>
                <a:lnTo>
                  <a:pt x="122" y="26"/>
                </a:lnTo>
                <a:moveTo>
                  <a:pt x="122" y="44"/>
                </a:moveTo>
                <a:lnTo>
                  <a:pt x="122" y="79"/>
                </a:lnTo>
                <a:moveTo>
                  <a:pt x="122" y="95"/>
                </a:moveTo>
                <a:lnTo>
                  <a:pt x="122" y="130"/>
                </a:lnTo>
                <a:moveTo>
                  <a:pt x="122" y="148"/>
                </a:moveTo>
                <a:lnTo>
                  <a:pt x="122" y="176"/>
                </a:lnTo>
                <a:moveTo>
                  <a:pt x="182" y="114"/>
                </a:moveTo>
                <a:lnTo>
                  <a:pt x="207" y="88"/>
                </a:lnTo>
                <a:lnTo>
                  <a:pt x="182" y="62"/>
                </a:lnTo>
                <a:moveTo>
                  <a:pt x="207" y="88"/>
                </a:moveTo>
                <a:lnTo>
                  <a:pt x="147" y="88"/>
                </a:lnTo>
              </a:path>
            </a:pathLst>
          </a:custGeom>
          <a:noFill/>
          <a:ln w="15875" cap="sq">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900">
              <a:gradFill>
                <a:gsLst>
                  <a:gs pos="0">
                    <a:srgbClr val="505050"/>
                  </a:gs>
                  <a:gs pos="100000">
                    <a:srgbClr val="505050"/>
                  </a:gs>
                </a:gsLst>
                <a:lin ang="5400000" scaled="1"/>
              </a:gradFill>
            </a:endParaRPr>
          </a:p>
        </p:txBody>
      </p:sp>
      <p:sp>
        <p:nvSpPr>
          <p:cNvPr id="29" name="money_2" title="Icon of a dollar sign with an arrow around it pointing clockwise">
            <a:extLst>
              <a:ext uri="{FF2B5EF4-FFF2-40B4-BE49-F238E27FC236}">
                <a16:creationId xmlns:a16="http://schemas.microsoft.com/office/drawing/2014/main" id="{872A8BC5-A9CE-F4DD-1540-A7DC8E4A2C7A}"/>
              </a:ext>
            </a:extLst>
          </p:cNvPr>
          <p:cNvSpPr>
            <a:spLocks noChangeAspect="1" noEditPoints="1"/>
          </p:cNvSpPr>
          <p:nvPr/>
        </p:nvSpPr>
        <p:spPr bwMode="auto">
          <a:xfrm>
            <a:off x="5831671" y="3635161"/>
            <a:ext cx="454699" cy="479426"/>
          </a:xfrm>
          <a:custGeom>
            <a:avLst/>
            <a:gdLst>
              <a:gd name="T0" fmla="*/ 307 w 307"/>
              <a:gd name="T1" fmla="*/ 163 h 326"/>
              <a:gd name="T2" fmla="*/ 282 w 307"/>
              <a:gd name="T3" fmla="*/ 244 h 326"/>
              <a:gd name="T4" fmla="*/ 82 w 307"/>
              <a:gd name="T5" fmla="*/ 281 h 326"/>
              <a:gd name="T6" fmla="*/ 45 w 307"/>
              <a:gd name="T7" fmla="*/ 82 h 326"/>
              <a:gd name="T8" fmla="*/ 245 w 307"/>
              <a:gd name="T9" fmla="*/ 45 h 326"/>
              <a:gd name="T10" fmla="*/ 297 w 307"/>
              <a:gd name="T11" fmla="*/ 110 h 326"/>
              <a:gd name="T12" fmla="*/ 257 w 307"/>
              <a:gd name="T13" fmla="*/ 99 h 326"/>
              <a:gd name="T14" fmla="*/ 297 w 307"/>
              <a:gd name="T15" fmla="*/ 109 h 326"/>
              <a:gd name="T16" fmla="*/ 307 w 307"/>
              <a:gd name="T17" fmla="*/ 70 h 326"/>
              <a:gd name="T18" fmla="*/ 126 w 307"/>
              <a:gd name="T19" fmla="*/ 199 h 326"/>
              <a:gd name="T20" fmla="*/ 182 w 307"/>
              <a:gd name="T21" fmla="*/ 199 h 326"/>
              <a:gd name="T22" fmla="*/ 202 w 307"/>
              <a:gd name="T23" fmla="*/ 179 h 326"/>
              <a:gd name="T24" fmla="*/ 182 w 307"/>
              <a:gd name="T25" fmla="*/ 158 h 326"/>
              <a:gd name="T26" fmla="*/ 147 w 307"/>
              <a:gd name="T27" fmla="*/ 158 h 326"/>
              <a:gd name="T28" fmla="*/ 126 w 307"/>
              <a:gd name="T29" fmla="*/ 137 h 326"/>
              <a:gd name="T30" fmla="*/ 147 w 307"/>
              <a:gd name="T31" fmla="*/ 117 h 326"/>
              <a:gd name="T32" fmla="*/ 201 w 307"/>
              <a:gd name="T33" fmla="*/ 117 h 326"/>
              <a:gd name="T34" fmla="*/ 164 w 307"/>
              <a:gd name="T35" fmla="*/ 88 h 326"/>
              <a:gd name="T36" fmla="*/ 164 w 307"/>
              <a:gd name="T37" fmla="*/ 226 h 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07" h="326">
                <a:moveTo>
                  <a:pt x="307" y="163"/>
                </a:moveTo>
                <a:cubicBezTo>
                  <a:pt x="307" y="191"/>
                  <a:pt x="299" y="219"/>
                  <a:pt x="282" y="244"/>
                </a:cubicBezTo>
                <a:cubicBezTo>
                  <a:pt x="237" y="310"/>
                  <a:pt x="148" y="326"/>
                  <a:pt x="82" y="281"/>
                </a:cubicBezTo>
                <a:cubicBezTo>
                  <a:pt x="17" y="236"/>
                  <a:pt x="0" y="147"/>
                  <a:pt x="45" y="82"/>
                </a:cubicBezTo>
                <a:cubicBezTo>
                  <a:pt x="90" y="16"/>
                  <a:pt x="179" y="0"/>
                  <a:pt x="245" y="45"/>
                </a:cubicBezTo>
                <a:cubicBezTo>
                  <a:pt x="269" y="61"/>
                  <a:pt x="287" y="84"/>
                  <a:pt x="297" y="110"/>
                </a:cubicBezTo>
                <a:moveTo>
                  <a:pt x="257" y="99"/>
                </a:moveTo>
                <a:cubicBezTo>
                  <a:pt x="297" y="109"/>
                  <a:pt x="297" y="109"/>
                  <a:pt x="297" y="109"/>
                </a:cubicBezTo>
                <a:cubicBezTo>
                  <a:pt x="307" y="70"/>
                  <a:pt x="307" y="70"/>
                  <a:pt x="307" y="70"/>
                </a:cubicBezTo>
                <a:moveTo>
                  <a:pt x="126" y="199"/>
                </a:moveTo>
                <a:cubicBezTo>
                  <a:pt x="182" y="199"/>
                  <a:pt x="182" y="199"/>
                  <a:pt x="182" y="199"/>
                </a:cubicBezTo>
                <a:cubicBezTo>
                  <a:pt x="193" y="199"/>
                  <a:pt x="202" y="190"/>
                  <a:pt x="202" y="179"/>
                </a:cubicBezTo>
                <a:cubicBezTo>
                  <a:pt x="202" y="168"/>
                  <a:pt x="193" y="158"/>
                  <a:pt x="182" y="158"/>
                </a:cubicBezTo>
                <a:cubicBezTo>
                  <a:pt x="147" y="158"/>
                  <a:pt x="147" y="158"/>
                  <a:pt x="147" y="158"/>
                </a:cubicBezTo>
                <a:cubicBezTo>
                  <a:pt x="136" y="158"/>
                  <a:pt x="126" y="148"/>
                  <a:pt x="126" y="137"/>
                </a:cubicBezTo>
                <a:cubicBezTo>
                  <a:pt x="126" y="126"/>
                  <a:pt x="136" y="117"/>
                  <a:pt x="147" y="117"/>
                </a:cubicBezTo>
                <a:cubicBezTo>
                  <a:pt x="201" y="117"/>
                  <a:pt x="201" y="117"/>
                  <a:pt x="201" y="117"/>
                </a:cubicBezTo>
                <a:moveTo>
                  <a:pt x="164" y="88"/>
                </a:moveTo>
                <a:cubicBezTo>
                  <a:pt x="164" y="226"/>
                  <a:pt x="164" y="226"/>
                  <a:pt x="164" y="226"/>
                </a:cubicBezTo>
              </a:path>
            </a:pathLst>
          </a:custGeom>
          <a:noFill/>
          <a:ln w="15875" cap="flat">
            <a:solidFill>
              <a:schemeClr val="accent1"/>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gradFill>
                <a:gsLst>
                  <a:gs pos="0">
                    <a:srgbClr val="505050"/>
                  </a:gs>
                  <a:gs pos="100000">
                    <a:srgbClr val="505050"/>
                  </a:gs>
                </a:gsLst>
                <a:lin ang="5400000" scaled="1"/>
              </a:gradFill>
            </a:endParaRPr>
          </a:p>
        </p:txBody>
      </p:sp>
      <p:sp>
        <p:nvSpPr>
          <p:cNvPr id="30" name="SkiResorts_EB45" title="Icon of mountains">
            <a:extLst>
              <a:ext uri="{FF2B5EF4-FFF2-40B4-BE49-F238E27FC236}">
                <a16:creationId xmlns:a16="http://schemas.microsoft.com/office/drawing/2014/main" id="{DA1B0DD0-0495-9AC8-80AC-1FEC3C20C838}"/>
              </a:ext>
            </a:extLst>
          </p:cNvPr>
          <p:cNvSpPr>
            <a:spLocks noChangeAspect="1" noEditPoints="1"/>
          </p:cNvSpPr>
          <p:nvPr/>
        </p:nvSpPr>
        <p:spPr bwMode="auto">
          <a:xfrm>
            <a:off x="9412474" y="3660274"/>
            <a:ext cx="596841" cy="429201"/>
          </a:xfrm>
          <a:custGeom>
            <a:avLst/>
            <a:gdLst>
              <a:gd name="T0" fmla="*/ 0 w 5319"/>
              <a:gd name="T1" fmla="*/ 3825 h 3825"/>
              <a:gd name="T2" fmla="*/ 1913 w 5319"/>
              <a:gd name="T3" fmla="*/ 0 h 3825"/>
              <a:gd name="T4" fmla="*/ 3819 w 5319"/>
              <a:gd name="T5" fmla="*/ 3825 h 3825"/>
              <a:gd name="T6" fmla="*/ 0 w 5319"/>
              <a:gd name="T7" fmla="*/ 3825 h 3825"/>
              <a:gd name="T8" fmla="*/ 3754 w 5319"/>
              <a:gd name="T9" fmla="*/ 3825 h 3825"/>
              <a:gd name="T10" fmla="*/ 5319 w 5319"/>
              <a:gd name="T11" fmla="*/ 3825 h 3825"/>
              <a:gd name="T12" fmla="*/ 3938 w 5319"/>
              <a:gd name="T13" fmla="*/ 1153 h 3825"/>
              <a:gd name="T14" fmla="*/ 3200 w 5319"/>
              <a:gd name="T15" fmla="*/ 2535 h 3825"/>
              <a:gd name="T16" fmla="*/ 1313 w 5319"/>
              <a:gd name="T17" fmla="*/ 1199 h 3825"/>
              <a:gd name="T18" fmla="*/ 1913 w 5319"/>
              <a:gd name="T19" fmla="*/ 1798 h 3825"/>
              <a:gd name="T20" fmla="*/ 2510 w 5319"/>
              <a:gd name="T21" fmla="*/ 1200 h 3825"/>
              <a:gd name="T22" fmla="*/ 4747 w 5319"/>
              <a:gd name="T23" fmla="*/ 2719 h 3825"/>
              <a:gd name="T24" fmla="*/ 3938 w 5319"/>
              <a:gd name="T25" fmla="*/ 2719 h 3825"/>
              <a:gd name="T26" fmla="*/ 3490 w 5319"/>
              <a:gd name="T27" fmla="*/ 3167 h 38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319" h="3825">
                <a:moveTo>
                  <a:pt x="0" y="3825"/>
                </a:moveTo>
                <a:lnTo>
                  <a:pt x="1913" y="0"/>
                </a:lnTo>
                <a:lnTo>
                  <a:pt x="3819" y="3825"/>
                </a:lnTo>
                <a:lnTo>
                  <a:pt x="0" y="3825"/>
                </a:lnTo>
                <a:moveTo>
                  <a:pt x="3754" y="3825"/>
                </a:moveTo>
                <a:lnTo>
                  <a:pt x="5319" y="3825"/>
                </a:lnTo>
                <a:lnTo>
                  <a:pt x="3938" y="1153"/>
                </a:lnTo>
                <a:lnTo>
                  <a:pt x="3200" y="2535"/>
                </a:lnTo>
                <a:moveTo>
                  <a:pt x="1313" y="1199"/>
                </a:moveTo>
                <a:lnTo>
                  <a:pt x="1913" y="1798"/>
                </a:lnTo>
                <a:lnTo>
                  <a:pt x="2510" y="1200"/>
                </a:lnTo>
                <a:moveTo>
                  <a:pt x="4747" y="2719"/>
                </a:moveTo>
                <a:lnTo>
                  <a:pt x="3938" y="2719"/>
                </a:lnTo>
                <a:lnTo>
                  <a:pt x="3490" y="3167"/>
                </a:lnTo>
              </a:path>
            </a:pathLst>
          </a:custGeom>
          <a:noFill/>
          <a:ln w="15875" cap="flat">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 name="TextBox 25">
            <a:extLst>
              <a:ext uri="{FF2B5EF4-FFF2-40B4-BE49-F238E27FC236}">
                <a16:creationId xmlns:a16="http://schemas.microsoft.com/office/drawing/2014/main" id="{1EF73522-B8AF-A75C-D913-90956E05A44F}"/>
              </a:ext>
            </a:extLst>
          </p:cNvPr>
          <p:cNvSpPr txBox="1"/>
          <p:nvPr/>
        </p:nvSpPr>
        <p:spPr>
          <a:xfrm>
            <a:off x="2675554" y="565021"/>
            <a:ext cx="1973825" cy="138499"/>
          </a:xfrm>
          <a:prstGeom prst="rect">
            <a:avLst/>
          </a:prstGeom>
          <a:noFill/>
        </p:spPr>
        <p:txBody>
          <a:bodyPr wrap="square" lIns="0" tIns="0" rIns="0" bIns="0">
            <a:spAutoFit/>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300" normalizeH="0" baseline="0" noProof="0">
                <a:ln>
                  <a:noFill/>
                </a:ln>
                <a:solidFill>
                  <a:schemeClr val="accent1"/>
                </a:solidFill>
                <a:effectLst/>
                <a:uLnTx/>
                <a:uFillTx/>
                <a:latin typeface="Segoe UI Semibold"/>
                <a:ea typeface="+mn-ea"/>
                <a:cs typeface="+mn-cs"/>
              </a:rPr>
              <a:t>MIGRATE AND SAVE</a:t>
            </a:r>
          </a:p>
        </p:txBody>
      </p:sp>
      <p:grpSp>
        <p:nvGrpSpPr>
          <p:cNvPr id="27" name="Group 26" descr="MIGRATE AND SAVE NAVIGATION">
            <a:extLst>
              <a:ext uri="{FF2B5EF4-FFF2-40B4-BE49-F238E27FC236}">
                <a16:creationId xmlns:a16="http://schemas.microsoft.com/office/drawing/2014/main" id="{55C76974-F9F2-1CB1-2058-4D2AA176EC94}"/>
              </a:ext>
            </a:extLst>
          </p:cNvPr>
          <p:cNvGrpSpPr/>
          <p:nvPr/>
        </p:nvGrpSpPr>
        <p:grpSpPr>
          <a:xfrm>
            <a:off x="583828" y="409640"/>
            <a:ext cx="1894901" cy="440154"/>
            <a:chOff x="583828" y="409640"/>
            <a:chExt cx="1894901" cy="440154"/>
          </a:xfrm>
        </p:grpSpPr>
        <p:cxnSp>
          <p:nvCxnSpPr>
            <p:cNvPr id="31" name="Straight Connector 30">
              <a:extLst>
                <a:ext uri="{FF2B5EF4-FFF2-40B4-BE49-F238E27FC236}">
                  <a16:creationId xmlns:a16="http://schemas.microsoft.com/office/drawing/2014/main" id="{EC2A1404-922F-9695-7824-9D926981B1FE}"/>
                </a:ext>
                <a:ext uri="{C183D7F6-B498-43B3-948B-1728B52AA6E4}">
                  <adec:decorative xmlns:adec="http://schemas.microsoft.com/office/drawing/2017/decorative" val="1"/>
                </a:ext>
              </a:extLst>
            </p:cNvPr>
            <p:cNvCxnSpPr>
              <a:cxnSpLocks/>
            </p:cNvCxnSpPr>
            <p:nvPr/>
          </p:nvCxnSpPr>
          <p:spPr>
            <a:xfrm flipH="1">
              <a:off x="1018274" y="629717"/>
              <a:ext cx="1014593" cy="0"/>
            </a:xfrm>
            <a:prstGeom prst="line">
              <a:avLst/>
            </a:prstGeom>
            <a:solidFill>
              <a:schemeClr val="bg1">
                <a:lumMod val="95000"/>
                <a:lumOff val="5000"/>
              </a:schemeClr>
            </a:solidFill>
            <a:ln w="12700" cap="flat" cmpd="sng" algn="ctr">
              <a:solidFill>
                <a:srgbClr val="000000">
                  <a:lumMod val="75000"/>
                  <a:lumOff val="25000"/>
                </a:srgbClr>
              </a:solidFill>
              <a:prstDash val="solid"/>
              <a:headEnd type="none" w="med" len="med"/>
              <a:tailEnd type="none" w="med" len="med"/>
            </a:ln>
            <a:effectLst/>
          </p:spPr>
        </p:cxnSp>
        <p:sp>
          <p:nvSpPr>
            <p:cNvPr id="35" name="Oval 34">
              <a:extLst>
                <a:ext uri="{FF2B5EF4-FFF2-40B4-BE49-F238E27FC236}">
                  <a16:creationId xmlns:a16="http://schemas.microsoft.com/office/drawing/2014/main" id="{CA70F115-E71E-4274-EF03-AE55D6224386}"/>
                </a:ext>
              </a:extLst>
            </p:cNvPr>
            <p:cNvSpPr/>
            <p:nvPr/>
          </p:nvSpPr>
          <p:spPr bwMode="auto">
            <a:xfrm>
              <a:off x="583828" y="409640"/>
              <a:ext cx="440154" cy="440154"/>
            </a:xfrm>
            <a:prstGeom prst="ellipse">
              <a:avLst/>
            </a:prstGeom>
            <a:solidFill>
              <a:schemeClr val="bg1"/>
            </a:solidFill>
            <a:ln w="12700" cap="flat" cmpd="sng" algn="ctr">
              <a:solidFill>
                <a:schemeClr val="accent1"/>
              </a:solidFill>
              <a:prstDash val="solid"/>
              <a:headEnd type="none" w="med" len="med"/>
              <a:tailEnd type="none" w="med" len="med"/>
            </a:ln>
            <a:effectLst/>
          </p:spPr>
          <p:txBody>
            <a:bodyPr rot="0" spcFirstLastPara="0" vertOverflow="overflow" horzOverflow="overflow" vert="horz" wrap="square" lIns="72000" tIns="180000" rIns="72000" bIns="14400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err="1">
                <a:ln>
                  <a:noFill/>
                </a:ln>
                <a:gradFill flip="none" rotWithShape="1">
                  <a:gsLst>
                    <a:gs pos="0">
                      <a:srgbClr val="50E6FF"/>
                    </a:gs>
                    <a:gs pos="100000">
                      <a:srgbClr val="D59DFF"/>
                    </a:gs>
                  </a:gsLst>
                  <a:lin ang="2700000" scaled="1"/>
                  <a:tileRect/>
                </a:gradFill>
                <a:effectLst/>
                <a:uLnTx/>
                <a:uFillTx/>
                <a:latin typeface="Segoe UI Semibold"/>
                <a:ea typeface="+mn-ea"/>
                <a:cs typeface="+mn-cs"/>
              </a:endParaRPr>
            </a:p>
          </p:txBody>
        </p:sp>
        <p:sp>
          <p:nvSpPr>
            <p:cNvPr id="36" name="Oval 35">
              <a:extLst>
                <a:ext uri="{FF2B5EF4-FFF2-40B4-BE49-F238E27FC236}">
                  <a16:creationId xmlns:a16="http://schemas.microsoft.com/office/drawing/2014/main" id="{05C38EDC-FA4E-6516-5424-AB9B5EEE736C}"/>
                </a:ext>
              </a:extLst>
            </p:cNvPr>
            <p:cNvSpPr/>
            <p:nvPr/>
          </p:nvSpPr>
          <p:spPr bwMode="auto">
            <a:xfrm>
              <a:off x="2038575" y="409640"/>
              <a:ext cx="440154" cy="440154"/>
            </a:xfrm>
            <a:prstGeom prst="ellipse">
              <a:avLst/>
            </a:prstGeom>
            <a:solidFill>
              <a:schemeClr val="bg1">
                <a:lumMod val="95000"/>
                <a:lumOff val="5000"/>
              </a:schemeClr>
            </a:solidFill>
            <a:ln w="12700" cap="flat" cmpd="sng" algn="ctr">
              <a:solidFill>
                <a:srgbClr val="000000">
                  <a:lumMod val="75000"/>
                  <a:lumOff val="25000"/>
                </a:srgbClr>
              </a:solidFill>
              <a:prstDash val="solid"/>
              <a:headEnd type="none" w="med" len="med"/>
              <a:tailEnd type="none" w="med" len="med"/>
            </a:ln>
            <a:effectLst/>
          </p:spPr>
          <p:txBody>
            <a:bodyPr rot="0" spcFirstLastPara="0" vertOverflow="overflow" horzOverflow="overflow" vert="horz" wrap="square" lIns="72000" tIns="180000" rIns="72000" bIns="14400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err="1">
                <a:ln>
                  <a:noFill/>
                </a:ln>
                <a:gradFill flip="none" rotWithShape="1">
                  <a:gsLst>
                    <a:gs pos="0">
                      <a:srgbClr val="50E6FF"/>
                    </a:gs>
                    <a:gs pos="100000">
                      <a:srgbClr val="D59DFF"/>
                    </a:gs>
                  </a:gsLst>
                  <a:lin ang="2700000" scaled="1"/>
                  <a:tileRect/>
                </a:gradFill>
                <a:effectLst/>
                <a:uLnTx/>
                <a:uFillTx/>
                <a:latin typeface="Segoe UI Semibold"/>
                <a:ea typeface="+mn-ea"/>
                <a:cs typeface="+mn-cs"/>
              </a:endParaRPr>
            </a:p>
          </p:txBody>
        </p:sp>
        <p:sp>
          <p:nvSpPr>
            <p:cNvPr id="37" name="Oval 36">
              <a:extLst>
                <a:ext uri="{FF2B5EF4-FFF2-40B4-BE49-F238E27FC236}">
                  <a16:creationId xmlns:a16="http://schemas.microsoft.com/office/drawing/2014/main" id="{9E4E9998-5C17-73DA-66B3-47B7851B1838}"/>
                </a:ext>
              </a:extLst>
            </p:cNvPr>
            <p:cNvSpPr/>
            <p:nvPr/>
          </p:nvSpPr>
          <p:spPr bwMode="auto">
            <a:xfrm>
              <a:off x="1311201" y="409640"/>
              <a:ext cx="440154" cy="440154"/>
            </a:xfrm>
            <a:prstGeom prst="ellipse">
              <a:avLst/>
            </a:prstGeom>
            <a:solidFill>
              <a:schemeClr val="bg1">
                <a:lumMod val="95000"/>
                <a:lumOff val="5000"/>
              </a:schemeClr>
            </a:solidFill>
            <a:ln w="12700" cap="flat" cmpd="sng" algn="ctr">
              <a:solidFill>
                <a:srgbClr val="000000">
                  <a:lumMod val="75000"/>
                  <a:lumOff val="25000"/>
                </a:srgbClr>
              </a:solidFill>
              <a:prstDash val="solid"/>
              <a:headEnd type="none" w="med" len="med"/>
              <a:tailEnd type="none" w="med" len="med"/>
            </a:ln>
            <a:effectLst/>
          </p:spPr>
          <p:txBody>
            <a:bodyPr rot="0" spcFirstLastPara="0" vertOverflow="overflow" horzOverflow="overflow" vert="horz" wrap="square" lIns="72000" tIns="180000" rIns="72000" bIns="14400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err="1">
                <a:ln>
                  <a:noFill/>
                </a:ln>
                <a:gradFill flip="none" rotWithShape="1">
                  <a:gsLst>
                    <a:gs pos="0">
                      <a:srgbClr val="50E6FF"/>
                    </a:gs>
                    <a:gs pos="100000">
                      <a:srgbClr val="D59DFF"/>
                    </a:gs>
                  </a:gsLst>
                  <a:lin ang="2700000" scaled="1"/>
                  <a:tileRect/>
                </a:gradFill>
                <a:effectLst/>
                <a:uLnTx/>
                <a:uFillTx/>
                <a:latin typeface="Segoe UI Semibold"/>
                <a:ea typeface="+mn-ea"/>
                <a:cs typeface="+mn-cs"/>
              </a:endParaRPr>
            </a:p>
          </p:txBody>
        </p:sp>
        <p:pic>
          <p:nvPicPr>
            <p:cNvPr id="38" name="Picture 37">
              <a:extLst>
                <a:ext uri="{FF2B5EF4-FFF2-40B4-BE49-F238E27FC236}">
                  <a16:creationId xmlns:a16="http://schemas.microsoft.com/office/drawing/2014/main" id="{4392BC70-AE59-B37A-B7C4-857C6E921768}"/>
                </a:ext>
              </a:extLst>
            </p:cNvPr>
            <p:cNvPicPr>
              <a:picLocks noChangeAspect="1"/>
            </p:cNvPicPr>
            <p:nvPr/>
          </p:nvPicPr>
          <p:blipFill>
            <a:blip r:embed="rId3">
              <a:grayscl/>
              <a:alphaModFix amt="53000"/>
            </a:blip>
            <a:stretch>
              <a:fillRect/>
            </a:stretch>
          </p:blipFill>
          <p:spPr>
            <a:xfrm>
              <a:off x="1391647" y="486818"/>
              <a:ext cx="267846" cy="267846"/>
            </a:xfrm>
            <a:prstGeom prst="rect">
              <a:avLst/>
            </a:prstGeom>
          </p:spPr>
        </p:pic>
        <p:pic>
          <p:nvPicPr>
            <p:cNvPr id="39" name="Picture 38">
              <a:extLst>
                <a:ext uri="{FF2B5EF4-FFF2-40B4-BE49-F238E27FC236}">
                  <a16:creationId xmlns:a16="http://schemas.microsoft.com/office/drawing/2014/main" id="{F7219A94-9607-8780-B527-7B9C2A6F7C76}"/>
                </a:ext>
              </a:extLst>
            </p:cNvPr>
            <p:cNvPicPr>
              <a:picLocks noChangeAspect="1"/>
            </p:cNvPicPr>
            <p:nvPr/>
          </p:nvPicPr>
          <p:blipFill>
            <a:blip r:embed="rId4">
              <a:alphaModFix amt="53000"/>
              <a:grayscl/>
            </a:blip>
            <a:srcRect/>
            <a:stretch/>
          </p:blipFill>
          <p:spPr>
            <a:xfrm>
              <a:off x="2141474" y="486818"/>
              <a:ext cx="264639" cy="264639"/>
            </a:xfrm>
            <a:prstGeom prst="rect">
              <a:avLst/>
            </a:prstGeom>
          </p:spPr>
        </p:pic>
        <p:pic>
          <p:nvPicPr>
            <p:cNvPr id="40" name="Picture 39">
              <a:extLst>
                <a:ext uri="{FF2B5EF4-FFF2-40B4-BE49-F238E27FC236}">
                  <a16:creationId xmlns:a16="http://schemas.microsoft.com/office/drawing/2014/main" id="{E5EDD784-F9A1-0F20-0FBB-6FE6AE064DF6}"/>
                </a:ext>
              </a:extLst>
            </p:cNvPr>
            <p:cNvPicPr>
              <a:picLocks noChangeAspect="1"/>
            </p:cNvPicPr>
            <p:nvPr/>
          </p:nvPicPr>
          <p:blipFill>
            <a:blip r:embed="rId5"/>
            <a:stretch>
              <a:fillRect/>
            </a:stretch>
          </p:blipFill>
          <p:spPr>
            <a:xfrm>
              <a:off x="677019" y="497398"/>
              <a:ext cx="264638" cy="264638"/>
            </a:xfrm>
            <a:prstGeom prst="rect">
              <a:avLst/>
            </a:prstGeom>
          </p:spPr>
        </p:pic>
      </p:grpSp>
    </p:spTree>
    <p:extLst>
      <p:ext uri="{BB962C8B-B14F-4D97-AF65-F5344CB8AC3E}">
        <p14:creationId xmlns:p14="http://schemas.microsoft.com/office/powerpoint/2010/main" val="1842010490"/>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135323A-FB2F-33FE-7AC7-A9AB31402AD2}"/>
              </a:ext>
              <a:ext uri="{C183D7F6-B498-43B3-948B-1728B52AA6E4}">
                <adec:decorative xmlns:adec="http://schemas.microsoft.com/office/drawing/2017/decorative" val="1"/>
              </a:ext>
            </a:extLst>
          </p:cNvPr>
          <p:cNvSpPr/>
          <p:nvPr/>
        </p:nvSpPr>
        <p:spPr bwMode="auto">
          <a:xfrm>
            <a:off x="4432873" y="4092275"/>
            <a:ext cx="3618407" cy="2765725"/>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pic>
        <p:nvPicPr>
          <p:cNvPr id="1026" name="Picture 2" descr="Group of CEMEX employees posed for a photo">
            <a:extLst>
              <a:ext uri="{FF2B5EF4-FFF2-40B4-BE49-F238E27FC236}">
                <a16:creationId xmlns:a16="http://schemas.microsoft.com/office/drawing/2014/main" id="{CA135648-A5E4-C8A7-3DC8-51EBA007AFB3}"/>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a:stretch/>
        </p:blipFill>
        <p:spPr bwMode="auto">
          <a:xfrm>
            <a:off x="4243258" y="11876"/>
            <a:ext cx="7945135" cy="4080399"/>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B4E60DAD-90A1-84C6-40CF-297122B245E1}"/>
              </a:ext>
              <a:ext uri="{C183D7F6-B498-43B3-948B-1728B52AA6E4}">
                <adec:decorative xmlns:adec="http://schemas.microsoft.com/office/drawing/2017/decorative" val="1"/>
              </a:ext>
            </a:extLst>
          </p:cNvPr>
          <p:cNvSpPr/>
          <p:nvPr/>
        </p:nvSpPr>
        <p:spPr bwMode="auto">
          <a:xfrm>
            <a:off x="1" y="696233"/>
            <a:ext cx="2790334" cy="883852"/>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sp>
        <p:nvSpPr>
          <p:cNvPr id="12" name="Rectangle 11">
            <a:extLst>
              <a:ext uri="{FF2B5EF4-FFF2-40B4-BE49-F238E27FC236}">
                <a16:creationId xmlns:a16="http://schemas.microsoft.com/office/drawing/2014/main" id="{B81970D8-2E27-6FAF-D327-4C3416D8EA54}"/>
              </a:ext>
              <a:ext uri="{C183D7F6-B498-43B3-948B-1728B52AA6E4}">
                <adec:decorative xmlns:adec="http://schemas.microsoft.com/office/drawing/2017/decorative" val="1"/>
              </a:ext>
            </a:extLst>
          </p:cNvPr>
          <p:cNvSpPr/>
          <p:nvPr/>
        </p:nvSpPr>
        <p:spPr bwMode="auto">
          <a:xfrm>
            <a:off x="4243258" y="0"/>
            <a:ext cx="3808022" cy="4095482"/>
          </a:xfrm>
          <a:prstGeom prst="rect">
            <a:avLst/>
          </a:prstGeom>
          <a:solidFill>
            <a:schemeClr val="bg1">
              <a:alpha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sp>
        <p:nvSpPr>
          <p:cNvPr id="3" name="Title 2">
            <a:extLst>
              <a:ext uri="{FF2B5EF4-FFF2-40B4-BE49-F238E27FC236}">
                <a16:creationId xmlns:a16="http://schemas.microsoft.com/office/drawing/2014/main" id="{285333DA-5197-9C4B-6786-091ABABA981F}"/>
              </a:ext>
            </a:extLst>
          </p:cNvPr>
          <p:cNvSpPr>
            <a:spLocks noGrp="1"/>
          </p:cNvSpPr>
          <p:nvPr>
            <p:ph type="title"/>
          </p:nvPr>
        </p:nvSpPr>
        <p:spPr>
          <a:xfrm>
            <a:off x="588263" y="310243"/>
            <a:ext cx="11018520" cy="215444"/>
          </a:xfrm>
        </p:spPr>
        <p:txBody>
          <a:bodyPr/>
          <a:lstStyle/>
          <a:p>
            <a:r>
              <a:rPr lang="en-US" sz="1400">
                <a:solidFill>
                  <a:schemeClr val="bg1"/>
                </a:solidFill>
              </a:rPr>
              <a:t>Case Study</a:t>
            </a:r>
          </a:p>
        </p:txBody>
      </p:sp>
      <p:sp>
        <p:nvSpPr>
          <p:cNvPr id="19" name="Rectangle 18">
            <a:hlinkClick r:id="rId4"/>
            <a:extLst>
              <a:ext uri="{FF2B5EF4-FFF2-40B4-BE49-F238E27FC236}">
                <a16:creationId xmlns:a16="http://schemas.microsoft.com/office/drawing/2014/main" id="{5C021831-6AF5-037D-2E6C-656C06E009D1}"/>
              </a:ext>
            </a:extLst>
          </p:cNvPr>
          <p:cNvSpPr/>
          <p:nvPr/>
        </p:nvSpPr>
        <p:spPr bwMode="auto">
          <a:xfrm>
            <a:off x="8051280" y="5263372"/>
            <a:ext cx="3361358" cy="520860"/>
          </a:xfrm>
          <a:prstGeom prst="rect">
            <a:avLst/>
          </a:prstGeom>
          <a:solidFill>
            <a:srgbClr val="40404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65760" tIns="146304" rIns="182880" bIns="146304"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Segoe UI Semibold"/>
                <a:ea typeface="+mn-ea"/>
                <a:cs typeface="+mn-cs"/>
              </a:rPr>
              <a:t>Read the full customer story</a:t>
            </a:r>
          </a:p>
        </p:txBody>
      </p:sp>
      <p:sp>
        <p:nvSpPr>
          <p:cNvPr id="22" name="TextBox 21">
            <a:extLst>
              <a:ext uri="{FF2B5EF4-FFF2-40B4-BE49-F238E27FC236}">
                <a16:creationId xmlns:a16="http://schemas.microsoft.com/office/drawing/2014/main" id="{8C1908D1-079E-CC3E-F9DF-C935FF041B98}"/>
              </a:ext>
            </a:extLst>
          </p:cNvPr>
          <p:cNvSpPr txBox="1"/>
          <p:nvPr/>
        </p:nvSpPr>
        <p:spPr>
          <a:xfrm>
            <a:off x="4432873" y="651250"/>
            <a:ext cx="3319041" cy="3293209"/>
          </a:xfrm>
          <a:prstGeom prst="rect">
            <a:avLst/>
          </a:prstGeom>
          <a:noFill/>
        </p:spPr>
        <p:txBody>
          <a:bodyPr wrap="square" lIns="91440" tIns="45720" rIns="91440" bIns="45720" anchor="t">
            <a:spAutoFit/>
          </a:bodyPr>
          <a:lstStyle/>
          <a:p>
            <a:pPr marL="0" marR="0" lvl="1" indent="0" algn="l" defTabSz="914367" rtl="0" eaLnBrk="1" fontAlgn="ctr" latinLnBrk="0" hangingPunct="1">
              <a:lnSpc>
                <a:spcPct val="100000"/>
              </a:lnSpc>
              <a:spcBef>
                <a:spcPts val="0"/>
              </a:spcBef>
              <a:spcAft>
                <a:spcPts val="1600"/>
              </a:spcAft>
              <a:buClr>
                <a:srgbClr val="FFFFFF"/>
              </a:buClr>
              <a:buSzPct val="100000"/>
              <a:buFontTx/>
              <a:buNone/>
              <a:tabLst/>
              <a:defRPr/>
            </a:pPr>
            <a:r>
              <a:rPr kumimoji="0" lang="en-US" sz="1200" b="0" i="0" u="none" strike="noStrike" kern="1200" cap="none" spc="0" normalizeH="0" baseline="0" noProof="0" dirty="0">
                <a:ln>
                  <a:noFill/>
                </a:ln>
                <a:solidFill>
                  <a:srgbClr val="FFFFFF"/>
                </a:solidFill>
                <a:effectLst/>
                <a:uLnTx/>
                <a:uFillTx/>
                <a:latin typeface="SegoeUI"/>
                <a:ea typeface="+mn-ea"/>
                <a:cs typeface="+mn-cs"/>
              </a:rPr>
              <a:t>Network latency times and procurement delays were negatively impacting employees’ experience and their work</a:t>
            </a:r>
          </a:p>
          <a:p>
            <a:pPr marL="0" marR="0" lvl="1" indent="0" algn="l" defTabSz="914367" rtl="0" eaLnBrk="1" fontAlgn="ctr" latinLnBrk="0" hangingPunct="1">
              <a:lnSpc>
                <a:spcPct val="100000"/>
              </a:lnSpc>
              <a:spcBef>
                <a:spcPts val="0"/>
              </a:spcBef>
              <a:spcAft>
                <a:spcPts val="1600"/>
              </a:spcAft>
              <a:buClr>
                <a:srgbClr val="FFFFFF"/>
              </a:buClr>
              <a:buSzPct val="100000"/>
              <a:buFontTx/>
              <a:buNone/>
              <a:tabLst/>
              <a:defRPr/>
            </a:pPr>
            <a:r>
              <a:rPr kumimoji="0" lang="en-US" sz="1200" b="0" i="0" u="none" strike="noStrike" kern="1200" cap="none" spc="0" normalizeH="0" baseline="0" noProof="0" dirty="0">
                <a:ln>
                  <a:noFill/>
                </a:ln>
                <a:solidFill>
                  <a:srgbClr val="FFFFFF"/>
                </a:solidFill>
                <a:effectLst/>
                <a:uLnTx/>
                <a:uFillTx/>
                <a:latin typeface="SegoeUI"/>
                <a:ea typeface="+mn-ea"/>
                <a:cs typeface="+mn-cs"/>
              </a:rPr>
              <a:t>CEMEX knew migration to the cloud could improve customers’ experiences, strengthen existing business, and build a solid foundation for future growth</a:t>
            </a:r>
          </a:p>
          <a:p>
            <a:pPr marL="0" marR="0" lvl="1" indent="0" algn="l" defTabSz="914367" rtl="0" eaLnBrk="1" fontAlgn="auto" latinLnBrk="0" hangingPunct="1">
              <a:lnSpc>
                <a:spcPct val="100000"/>
              </a:lnSpc>
              <a:spcBef>
                <a:spcPts val="0"/>
              </a:spcBef>
              <a:spcAft>
                <a:spcPts val="160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Segoe UI"/>
                <a:ea typeface="+mn-lt"/>
                <a:cs typeface="Segoe UI"/>
              </a:rPr>
              <a:t>Along with moving 16 of its SAP systems to Azure, CEMEX migrated non-SAP solutions including Window Server</a:t>
            </a:r>
            <a:endParaRPr kumimoji="0" lang="en-US" sz="1200" b="0" i="0" u="none" strike="noStrike" kern="1200" cap="none" spc="0" normalizeH="0" baseline="0" noProof="0" dirty="0">
              <a:ln>
                <a:noFill/>
              </a:ln>
              <a:solidFill>
                <a:srgbClr val="FFFFFF"/>
              </a:solidFill>
              <a:effectLst/>
              <a:uLnTx/>
              <a:uFillTx/>
              <a:latin typeface="SegoeUI"/>
              <a:ea typeface="+mn-lt"/>
              <a:cs typeface="Segoe UI"/>
            </a:endParaRPr>
          </a:p>
          <a:p>
            <a:pPr marL="0" marR="0" lvl="1" indent="0" algn="l" defTabSz="914367" rtl="0" eaLnBrk="1" fontAlgn="auto" latinLnBrk="0" hangingPunct="1">
              <a:lnSpc>
                <a:spcPct val="100000"/>
              </a:lnSpc>
              <a:spcBef>
                <a:spcPts val="0"/>
              </a:spcBef>
              <a:spcAft>
                <a:spcPts val="160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Segoe UI"/>
                <a:ea typeface="+mn-lt"/>
                <a:cs typeface="Segoe UI"/>
              </a:rPr>
              <a:t>Migration lead to improved performance between 40-70 % for migrated SAP applications, increased infrastructure flexibility, and added new HA capabilities</a:t>
            </a:r>
            <a:endParaRPr kumimoji="0" lang="en-US" sz="1200" b="0" i="0" u="none" strike="noStrike" kern="1200" cap="none" spc="0" normalizeH="0" baseline="0" noProof="0" dirty="0">
              <a:ln>
                <a:noFill/>
              </a:ln>
              <a:solidFill>
                <a:srgbClr val="FFFFFF"/>
              </a:solidFill>
              <a:effectLst/>
              <a:uLnTx/>
              <a:uFillTx/>
              <a:latin typeface="SegoeUI"/>
              <a:ea typeface="+mn-ea"/>
              <a:cs typeface="+mn-cs"/>
            </a:endParaRPr>
          </a:p>
        </p:txBody>
      </p:sp>
      <p:cxnSp>
        <p:nvCxnSpPr>
          <p:cNvPr id="27" name="Straight Connector 26">
            <a:extLst>
              <a:ext uri="{FF2B5EF4-FFF2-40B4-BE49-F238E27FC236}">
                <a16:creationId xmlns:a16="http://schemas.microsoft.com/office/drawing/2014/main" id="{717FA7FB-C410-EC9C-7EC5-379A96DAAC6B}"/>
              </a:ext>
              <a:ext uri="{C183D7F6-B498-43B3-948B-1728B52AA6E4}">
                <adec:decorative xmlns:adec="http://schemas.microsoft.com/office/drawing/2017/decorative" val="1"/>
              </a:ext>
            </a:extLst>
          </p:cNvPr>
          <p:cNvCxnSpPr/>
          <p:nvPr/>
        </p:nvCxnSpPr>
        <p:spPr>
          <a:xfrm>
            <a:off x="4528777" y="1354238"/>
            <a:ext cx="3223137" cy="0"/>
          </a:xfrm>
          <a:prstGeom prst="line">
            <a:avLst/>
          </a:prstGeom>
          <a:ln>
            <a:solidFill>
              <a:schemeClr val="accent2"/>
            </a:solidFill>
            <a:prstDash val="sysDot"/>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85C1996-2BFF-2AE9-370D-812231CDD802}"/>
              </a:ext>
              <a:ext uri="{C183D7F6-B498-43B3-948B-1728B52AA6E4}">
                <adec:decorative xmlns:adec="http://schemas.microsoft.com/office/drawing/2017/decorative" val="1"/>
              </a:ext>
            </a:extLst>
          </p:cNvPr>
          <p:cNvCxnSpPr/>
          <p:nvPr/>
        </p:nvCxnSpPr>
        <p:spPr>
          <a:xfrm>
            <a:off x="4528777" y="2318132"/>
            <a:ext cx="3223137" cy="0"/>
          </a:xfrm>
          <a:prstGeom prst="line">
            <a:avLst/>
          </a:prstGeom>
          <a:ln>
            <a:solidFill>
              <a:schemeClr val="accent2"/>
            </a:solidFill>
            <a:prstDash val="sysDot"/>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0" name="Title 1">
            <a:extLst>
              <a:ext uri="{FF2B5EF4-FFF2-40B4-BE49-F238E27FC236}">
                <a16:creationId xmlns:a16="http://schemas.microsoft.com/office/drawing/2014/main" id="{9522E3A5-5CF8-4C85-8AC7-3FFBD0564025}"/>
              </a:ext>
            </a:extLst>
          </p:cNvPr>
          <p:cNvSpPr txBox="1">
            <a:spLocks/>
          </p:cNvSpPr>
          <p:nvPr/>
        </p:nvSpPr>
        <p:spPr>
          <a:xfrm>
            <a:off x="588263" y="2057227"/>
            <a:ext cx="3398785" cy="2462213"/>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3200" b="0" i="0" u="none" strike="noStrike" kern="1200" cap="none" spc="-50" normalizeH="0" baseline="0" noProof="0">
                <a:ln w="3175">
                  <a:noFill/>
                </a:ln>
                <a:solidFill>
                  <a:srgbClr val="FFFFFF"/>
                </a:solidFill>
                <a:effectLst/>
                <a:uLnTx/>
                <a:uFillTx/>
                <a:latin typeface="Segoe UI Semibold"/>
                <a:ea typeface="+mn-ea"/>
                <a:cs typeface="Segoe UI" pitchFamily="34" charset="0"/>
              </a:rPr>
              <a:t>CEMEX migrates to Azure for better availability, performance, and lower costs</a:t>
            </a:r>
          </a:p>
        </p:txBody>
      </p:sp>
      <p:sp>
        <p:nvSpPr>
          <p:cNvPr id="31" name="Oval 30">
            <a:hlinkClick r:id="rId4"/>
            <a:extLst>
              <a:ext uri="{FF2B5EF4-FFF2-40B4-BE49-F238E27FC236}">
                <a16:creationId xmlns:a16="http://schemas.microsoft.com/office/drawing/2014/main" id="{EC447917-9493-0ACE-ACE8-34756EA4E492}"/>
              </a:ext>
              <a:ext uri="{C183D7F6-B498-43B3-948B-1728B52AA6E4}">
                <adec:decorative xmlns:adec="http://schemas.microsoft.com/office/drawing/2017/decorative" val="1"/>
              </a:ext>
            </a:extLst>
          </p:cNvPr>
          <p:cNvSpPr/>
          <p:nvPr/>
        </p:nvSpPr>
        <p:spPr bwMode="auto">
          <a:xfrm>
            <a:off x="7893060" y="5362325"/>
            <a:ext cx="324568" cy="324568"/>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sp>
        <p:nvSpPr>
          <p:cNvPr id="32" name="Triangle 31">
            <a:extLst>
              <a:ext uri="{FF2B5EF4-FFF2-40B4-BE49-F238E27FC236}">
                <a16:creationId xmlns:a16="http://schemas.microsoft.com/office/drawing/2014/main" id="{BF03718D-24D9-5672-3706-A0092F2C4C1E}"/>
              </a:ext>
              <a:ext uri="{C183D7F6-B498-43B3-948B-1728B52AA6E4}">
                <adec:decorative xmlns:adec="http://schemas.microsoft.com/office/drawing/2017/decorative" val="1"/>
              </a:ext>
            </a:extLst>
          </p:cNvPr>
          <p:cNvSpPr/>
          <p:nvPr/>
        </p:nvSpPr>
        <p:spPr bwMode="auto">
          <a:xfrm rot="5400000">
            <a:off x="8008847" y="5464570"/>
            <a:ext cx="139294" cy="120081"/>
          </a:xfrm>
          <a:prstGeom prst="triangl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pic>
        <p:nvPicPr>
          <p:cNvPr id="1028" name="Picture 4" descr="CEMEX logo">
            <a:extLst>
              <a:ext uri="{FF2B5EF4-FFF2-40B4-BE49-F238E27FC236}">
                <a16:creationId xmlns:a16="http://schemas.microsoft.com/office/drawing/2014/main" id="{10A76B44-F6BC-2434-E252-1FA88AF77124}"/>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a:stretch/>
        </p:blipFill>
        <p:spPr bwMode="auto">
          <a:xfrm>
            <a:off x="536751" y="770195"/>
            <a:ext cx="1814830" cy="75887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FBE94941-D46A-85D1-44B5-C1142F6A030E}"/>
              </a:ext>
            </a:extLst>
          </p:cNvPr>
          <p:cNvSpPr txBox="1"/>
          <p:nvPr/>
        </p:nvSpPr>
        <p:spPr>
          <a:xfrm>
            <a:off x="4555447" y="4398241"/>
            <a:ext cx="3219403" cy="1569660"/>
          </a:xfrm>
          <a:prstGeom prst="rect">
            <a:avLst/>
          </a:prstGeom>
          <a:noFill/>
        </p:spPr>
        <p:txBody>
          <a:bodyPr wrap="square" lIns="91440" tIns="45720" rIns="91440" bIns="45720" anchor="t">
            <a:spAutoFit/>
          </a:bodyPr>
          <a:lstStyle/>
          <a:p>
            <a:pPr marL="91440" marR="0" lvl="1" indent="-457200" algn="l" defTabSz="914367" rtl="0" eaLnBrk="1" fontAlgn="auto" latinLnBrk="0" hangingPunct="1">
              <a:lnSpc>
                <a:spcPct val="100000"/>
              </a:lnSpc>
              <a:spcBef>
                <a:spcPts val="0"/>
              </a:spcBef>
              <a:spcAft>
                <a:spcPts val="160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UI"/>
                <a:ea typeface="+mn-lt"/>
                <a:cs typeface="Segoe UI"/>
              </a:rPr>
              <a:t>  "In the on-premises environment, we had 1,000 servers, and up to 40 percent weren’t really being used. We were able to decommission a lot of those, which saved us money. Now that we’re in Azure, the servers are optimized to take best advantage of Azure capabilities, which provides additional economic benefits."</a:t>
            </a:r>
            <a:endParaRPr kumimoji="0" lang="en-US" sz="1200" b="0" i="0" u="none" strike="noStrike" kern="1200" cap="none" spc="0" normalizeH="0" baseline="0" noProof="0">
              <a:ln>
                <a:noFill/>
              </a:ln>
              <a:solidFill>
                <a:srgbClr val="FFFFFF"/>
              </a:solidFill>
              <a:effectLst/>
              <a:uLnTx/>
              <a:uFillTx/>
              <a:latin typeface="Segoe UI"/>
              <a:ea typeface="+mn-ea"/>
              <a:cs typeface="Segoe UI"/>
            </a:endParaRPr>
          </a:p>
        </p:txBody>
      </p:sp>
      <p:sp>
        <p:nvSpPr>
          <p:cNvPr id="7" name="TextBox 6">
            <a:extLst>
              <a:ext uri="{FF2B5EF4-FFF2-40B4-BE49-F238E27FC236}">
                <a16:creationId xmlns:a16="http://schemas.microsoft.com/office/drawing/2014/main" id="{F04391A0-0552-5DA3-0F47-35C68E636E14}"/>
              </a:ext>
            </a:extLst>
          </p:cNvPr>
          <p:cNvSpPr txBox="1"/>
          <p:nvPr/>
        </p:nvSpPr>
        <p:spPr>
          <a:xfrm>
            <a:off x="4681349" y="6097719"/>
            <a:ext cx="2133600" cy="430887"/>
          </a:xfrm>
          <a:prstGeom prst="rect">
            <a:avLst/>
          </a:prstGeom>
          <a:noFill/>
        </p:spPr>
        <p:txBody>
          <a:bodyPr wrap="square">
            <a:spAutoFit/>
          </a:bodyPr>
          <a:lstStyle/>
          <a:p>
            <a:pPr marL="182880" marR="0" lvl="0" indent="-18288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SegoeUI"/>
                <a:ea typeface="+mn-ea"/>
                <a:cs typeface="+mn-cs"/>
              </a:rPr>
              <a:t>— Juan Vazquez, </a:t>
            </a:r>
            <a:br>
              <a:rPr kumimoji="0" lang="en-US" sz="1100" b="0" i="0" u="none" strike="noStrike" kern="1200" cap="none" spc="0" normalizeH="0" baseline="0" noProof="0">
                <a:ln>
                  <a:noFill/>
                </a:ln>
                <a:solidFill>
                  <a:srgbClr val="FFFFFF"/>
                </a:solidFill>
                <a:effectLst/>
                <a:uLnTx/>
                <a:uFillTx/>
                <a:latin typeface="SegoeUI"/>
                <a:ea typeface="+mn-ea"/>
                <a:cs typeface="+mn-cs"/>
              </a:rPr>
            </a:br>
            <a:r>
              <a:rPr kumimoji="0" lang="en-US" sz="1100" b="0" i="0" u="none" strike="noStrike" kern="1200" cap="none" spc="0" normalizeH="0" baseline="0" noProof="0">
                <a:ln>
                  <a:noFill/>
                </a:ln>
                <a:solidFill>
                  <a:srgbClr val="FFFFFF"/>
                </a:solidFill>
                <a:effectLst/>
                <a:uLnTx/>
                <a:uFillTx/>
                <a:latin typeface="SegoeUI"/>
                <a:ea typeface="+mn-ea"/>
                <a:cs typeface="+mn-cs"/>
              </a:rPr>
              <a:t>IT Architect at CEMEX</a:t>
            </a:r>
          </a:p>
        </p:txBody>
      </p:sp>
      <p:cxnSp>
        <p:nvCxnSpPr>
          <p:cNvPr id="6" name="Straight Connector 5">
            <a:extLst>
              <a:ext uri="{FF2B5EF4-FFF2-40B4-BE49-F238E27FC236}">
                <a16:creationId xmlns:a16="http://schemas.microsoft.com/office/drawing/2014/main" id="{9C48C4E9-4488-131C-AA66-E7CD7D0E5AF3}"/>
              </a:ext>
              <a:ext uri="{C183D7F6-B498-43B3-948B-1728B52AA6E4}">
                <adec:decorative xmlns:adec="http://schemas.microsoft.com/office/drawing/2017/decorative" val="1"/>
              </a:ext>
            </a:extLst>
          </p:cNvPr>
          <p:cNvCxnSpPr>
            <a:cxnSpLocks/>
          </p:cNvCxnSpPr>
          <p:nvPr/>
        </p:nvCxnSpPr>
        <p:spPr>
          <a:xfrm>
            <a:off x="4522777" y="2996132"/>
            <a:ext cx="3223137" cy="0"/>
          </a:xfrm>
          <a:prstGeom prst="line">
            <a:avLst/>
          </a:prstGeom>
          <a:ln>
            <a:solidFill>
              <a:schemeClr val="accent2"/>
            </a:solidFill>
            <a:prstDash val="sysDot"/>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34093404"/>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Rounded Corners 15">
            <a:extLst>
              <a:ext uri="{FF2B5EF4-FFF2-40B4-BE49-F238E27FC236}">
                <a16:creationId xmlns:a16="http://schemas.microsoft.com/office/drawing/2014/main" id="{4C5756ED-16C9-DBD7-2963-B83EFF20FBE4}"/>
              </a:ext>
              <a:ext uri="{C183D7F6-B498-43B3-948B-1728B52AA6E4}">
                <adec:decorative xmlns:adec="http://schemas.microsoft.com/office/drawing/2017/decorative" val="1"/>
              </a:ext>
            </a:extLst>
          </p:cNvPr>
          <p:cNvSpPr/>
          <p:nvPr/>
        </p:nvSpPr>
        <p:spPr bwMode="auto">
          <a:xfrm flipV="1">
            <a:off x="8684454" y="1937571"/>
            <a:ext cx="3507545" cy="3932496"/>
          </a:xfrm>
          <a:prstGeom prst="roundRect">
            <a:avLst>
              <a:gd name="adj" fmla="val 6573"/>
            </a:avLst>
          </a:prstGeom>
          <a:gradFill>
            <a:gsLst>
              <a:gs pos="0">
                <a:schemeClr val="accent2">
                  <a:alpha val="64000"/>
                </a:schemeClr>
              </a:gs>
              <a:gs pos="47000">
                <a:schemeClr val="bg1"/>
              </a:gs>
            </a:gsLst>
            <a:lin ang="4200000" scaled="0"/>
          </a:gradFill>
          <a:ln w="12700" cap="flat" cmpd="sng" algn="ctr">
            <a:noFill/>
            <a:prstDash val="solid"/>
            <a:headEnd type="none" w="med" len="med"/>
            <a:tailEnd type="none" w="med" len="med"/>
          </a:ln>
          <a:effectLst/>
        </p:spPr>
        <p:txBody>
          <a:bodyPr rot="0" spcFirstLastPara="0" vertOverflow="overflow" horzOverflow="overflow" vert="horz" wrap="square" lIns="72000" tIns="180000" rIns="72000" bIns="14400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err="1">
              <a:ln>
                <a:noFill/>
              </a:ln>
              <a:gradFill flip="none" rotWithShape="1">
                <a:gsLst>
                  <a:gs pos="0">
                    <a:srgbClr val="50E6FF"/>
                  </a:gs>
                  <a:gs pos="100000">
                    <a:srgbClr val="D59DFF"/>
                  </a:gs>
                </a:gsLst>
                <a:lin ang="2700000" scaled="1"/>
                <a:tileRect/>
              </a:gradFill>
              <a:effectLst/>
              <a:uLnTx/>
              <a:uFillTx/>
              <a:latin typeface="Segoe UI Semibold"/>
              <a:ea typeface="+mn-ea"/>
              <a:cs typeface="+mn-cs"/>
            </a:endParaRPr>
          </a:p>
        </p:txBody>
      </p:sp>
      <p:sp>
        <p:nvSpPr>
          <p:cNvPr id="18" name="Oval 17">
            <a:extLst>
              <a:ext uri="{FF2B5EF4-FFF2-40B4-BE49-F238E27FC236}">
                <a16:creationId xmlns:a16="http://schemas.microsoft.com/office/drawing/2014/main" id="{EC385360-6826-3D0A-D311-A48DD3FBE698}"/>
              </a:ext>
              <a:ext uri="{C183D7F6-B498-43B3-948B-1728B52AA6E4}">
                <adec:decorative xmlns:adec="http://schemas.microsoft.com/office/drawing/2017/decorative" val="1"/>
              </a:ext>
            </a:extLst>
          </p:cNvPr>
          <p:cNvSpPr/>
          <p:nvPr/>
        </p:nvSpPr>
        <p:spPr bwMode="auto">
          <a:xfrm rot="10800000">
            <a:off x="8589554" y="569194"/>
            <a:ext cx="3312035" cy="3429000"/>
          </a:xfrm>
          <a:prstGeom prst="ellipse">
            <a:avLst/>
          </a:prstGeom>
          <a:gradFill flip="none" rotWithShape="1">
            <a:gsLst>
              <a:gs pos="0">
                <a:schemeClr val="accent3"/>
              </a:gs>
              <a:gs pos="58000">
                <a:schemeClr val="bg1"/>
              </a:gs>
            </a:gsLst>
            <a:path path="circle">
              <a:fillToRect l="50000" t="50000" r="50000" b="50000"/>
            </a:path>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Segoe UI"/>
              <a:ea typeface="Segoe UI" pitchFamily="34" charset="0"/>
              <a:cs typeface="Segoe UI" pitchFamily="34" charset="0"/>
            </a:endParaRPr>
          </a:p>
        </p:txBody>
      </p:sp>
      <p:sp>
        <p:nvSpPr>
          <p:cNvPr id="19" name="TextBox 18">
            <a:extLst>
              <a:ext uri="{FF2B5EF4-FFF2-40B4-BE49-F238E27FC236}">
                <a16:creationId xmlns:a16="http://schemas.microsoft.com/office/drawing/2014/main" id="{CF646BF8-ABF3-83BE-E561-6666543910CF}"/>
              </a:ext>
            </a:extLst>
          </p:cNvPr>
          <p:cNvSpPr txBox="1"/>
          <p:nvPr/>
        </p:nvSpPr>
        <p:spPr>
          <a:xfrm>
            <a:off x="9035854" y="4710416"/>
            <a:ext cx="2741562" cy="984885"/>
          </a:xfrm>
          <a:prstGeom prst="rect">
            <a:avLst/>
          </a:prstGeom>
          <a:noFill/>
        </p:spPr>
        <p:txBody>
          <a:bodyPr wrap="square" lIns="91440" tIns="45720" rIns="91440" bIns="45720" anchor="t">
            <a:spAutoFit/>
          </a:bodyPr>
          <a:lstStyle/>
          <a:p>
            <a:pPr defTabSz="914367" fontAlgn="ctr">
              <a:lnSpc>
                <a:spcPct val="90000"/>
              </a:lnSpc>
              <a:spcAft>
                <a:spcPts val="200"/>
              </a:spcAft>
              <a:buClr>
                <a:schemeClr val="tx1"/>
              </a:buClr>
              <a:buSzPct val="100000"/>
              <a:defRPr/>
            </a:pPr>
            <a:r>
              <a:rPr lang="en-US" sz="1600" spc="-50" dirty="0">
                <a:ln w="3175">
                  <a:noFill/>
                </a:ln>
                <a:cs typeface="Segoe UI"/>
              </a:rPr>
              <a:t>organizations that lift-and-shift to the cloud without cost optimization will overspend by 70% in first 18-months</a:t>
            </a:r>
            <a:r>
              <a:rPr lang="en-US" sz="1200" spc="-50" baseline="20000" dirty="0">
                <a:ln w="3175">
                  <a:noFill/>
                </a:ln>
                <a:cs typeface="Segoe UI"/>
              </a:rPr>
              <a:t>3</a:t>
            </a:r>
            <a:endParaRPr lang="en-US" sz="1600" spc="-50" baseline="20000" dirty="0">
              <a:ln w="3175">
                <a:noFill/>
              </a:ln>
              <a:cs typeface="Segoe UI"/>
            </a:endParaRPr>
          </a:p>
        </p:txBody>
      </p:sp>
      <p:sp>
        <p:nvSpPr>
          <p:cNvPr id="21" name="TextBox 20">
            <a:extLst>
              <a:ext uri="{FF2B5EF4-FFF2-40B4-BE49-F238E27FC236}">
                <a16:creationId xmlns:a16="http://schemas.microsoft.com/office/drawing/2014/main" id="{295ECFCC-B7AD-0DA5-9C4C-1EA298BF06CF}"/>
              </a:ext>
            </a:extLst>
          </p:cNvPr>
          <p:cNvSpPr txBox="1"/>
          <p:nvPr/>
        </p:nvSpPr>
        <p:spPr>
          <a:xfrm>
            <a:off x="9104963" y="4013540"/>
            <a:ext cx="1454375" cy="769441"/>
          </a:xfrm>
          <a:prstGeom prst="rect">
            <a:avLst/>
          </a:prstGeom>
          <a:noFill/>
        </p:spPr>
        <p:txBody>
          <a:bodyPr wrap="square" lIns="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4400" b="0" i="0" u="none" strike="noStrike" kern="1200" cap="none" spc="0" normalizeH="0" baseline="0" noProof="0">
                <a:ln>
                  <a:noFill/>
                </a:ln>
                <a:gradFill flip="none" rotWithShape="1">
                  <a:gsLst>
                    <a:gs pos="45000">
                      <a:srgbClr val="0078D4"/>
                    </a:gs>
                    <a:gs pos="0">
                      <a:srgbClr val="50E6FF"/>
                    </a:gs>
                    <a:gs pos="100000">
                      <a:srgbClr val="000000"/>
                    </a:gs>
                  </a:gsLst>
                  <a:lin ang="5400000" scaled="0"/>
                  <a:tileRect/>
                </a:gradFill>
                <a:effectLst/>
                <a:uLnTx/>
                <a:uFillTx/>
                <a:latin typeface="+mj-lt"/>
                <a:ea typeface="+mn-ea"/>
                <a:cs typeface="+mn-cs"/>
              </a:rPr>
              <a:t>45% </a:t>
            </a:r>
          </a:p>
        </p:txBody>
      </p:sp>
      <p:sp>
        <p:nvSpPr>
          <p:cNvPr id="12" name="Title 11">
            <a:extLst>
              <a:ext uri="{FF2B5EF4-FFF2-40B4-BE49-F238E27FC236}">
                <a16:creationId xmlns:a16="http://schemas.microsoft.com/office/drawing/2014/main" id="{4EFFAA3A-FDA0-68B8-D009-B7D1B90166F0}"/>
              </a:ext>
            </a:extLst>
          </p:cNvPr>
          <p:cNvSpPr>
            <a:spLocks noGrp="1"/>
          </p:cNvSpPr>
          <p:nvPr>
            <p:ph type="title"/>
          </p:nvPr>
        </p:nvSpPr>
        <p:spPr>
          <a:xfrm>
            <a:off x="588263" y="1634955"/>
            <a:ext cx="11018520" cy="492443"/>
          </a:xfrm>
        </p:spPr>
        <p:txBody>
          <a:bodyPr/>
          <a:lstStyle/>
          <a:p>
            <a:r>
              <a:rPr lang="en-US" sz="3200"/>
              <a:t>Recognize the full value of the cloud</a:t>
            </a:r>
          </a:p>
        </p:txBody>
      </p:sp>
      <p:sp>
        <p:nvSpPr>
          <p:cNvPr id="2" name="Content Placeholder 1">
            <a:extLst>
              <a:ext uri="{FF2B5EF4-FFF2-40B4-BE49-F238E27FC236}">
                <a16:creationId xmlns:a16="http://schemas.microsoft.com/office/drawing/2014/main" id="{A4D4B044-42DE-C09D-94D1-CFF8BAA45AB8}"/>
              </a:ext>
            </a:extLst>
          </p:cNvPr>
          <p:cNvSpPr>
            <a:spLocks noGrp="1"/>
          </p:cNvSpPr>
          <p:nvPr>
            <p:ph sz="quarter" idx="10"/>
          </p:nvPr>
        </p:nvSpPr>
        <p:spPr>
          <a:xfrm>
            <a:off x="584202" y="2902068"/>
            <a:ext cx="1894525" cy="553998"/>
          </a:xfrm>
        </p:spPr>
        <p:txBody>
          <a:bodyPr vert="horz" wrap="square" lIns="0" tIns="0" rIns="0" bIns="0" rtlCol="0" anchor="t">
            <a:spAutoFit/>
          </a:bodyPr>
          <a:lstStyle/>
          <a:p>
            <a:pPr marL="0" indent="0">
              <a:buNone/>
            </a:pPr>
            <a:r>
              <a:rPr lang="en-US" sz="1800">
                <a:latin typeface="+mj-lt"/>
                <a:cs typeface="+mn-cs"/>
              </a:rPr>
              <a:t>Reliably control spend</a:t>
            </a:r>
            <a:endParaRPr lang="en-US" sz="1800" strike="sngStrike">
              <a:latin typeface="+mj-lt"/>
              <a:cs typeface="+mn-cs"/>
            </a:endParaRPr>
          </a:p>
        </p:txBody>
      </p:sp>
      <p:sp>
        <p:nvSpPr>
          <p:cNvPr id="4" name="Content Placeholder 1">
            <a:extLst>
              <a:ext uri="{FF2B5EF4-FFF2-40B4-BE49-F238E27FC236}">
                <a16:creationId xmlns:a16="http://schemas.microsoft.com/office/drawing/2014/main" id="{6715D697-A40E-F902-CCA4-9371964474AF}"/>
              </a:ext>
            </a:extLst>
          </p:cNvPr>
          <p:cNvSpPr txBox="1">
            <a:spLocks/>
          </p:cNvSpPr>
          <p:nvPr/>
        </p:nvSpPr>
        <p:spPr>
          <a:xfrm>
            <a:off x="2887427" y="2902068"/>
            <a:ext cx="2473431" cy="553998"/>
          </a:xfrm>
          <a:prstGeom prst="rect">
            <a:avLst/>
          </a:prstGeom>
        </p:spPr>
        <p:txBody>
          <a:bodyPr vert="horz" wrap="square" lIns="0" tIns="0" rIns="0" bIns="0" rtlCol="0" anchor="t">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800">
                <a:latin typeface="+mj-lt"/>
                <a:cs typeface="+mn-cs"/>
              </a:rPr>
              <a:t>Improve workload operational excellence</a:t>
            </a:r>
            <a:endParaRPr lang="en-US" sz="1800" strike="sngStrike">
              <a:latin typeface="+mj-lt"/>
              <a:cs typeface="+mn-cs"/>
            </a:endParaRPr>
          </a:p>
        </p:txBody>
      </p:sp>
      <p:sp>
        <p:nvSpPr>
          <p:cNvPr id="9" name="Content Placeholder 1">
            <a:extLst>
              <a:ext uri="{FF2B5EF4-FFF2-40B4-BE49-F238E27FC236}">
                <a16:creationId xmlns:a16="http://schemas.microsoft.com/office/drawing/2014/main" id="{BE564A09-47AC-DE08-FFCA-B81D40596D05}"/>
              </a:ext>
            </a:extLst>
          </p:cNvPr>
          <p:cNvSpPr txBox="1">
            <a:spLocks/>
          </p:cNvSpPr>
          <p:nvPr/>
        </p:nvSpPr>
        <p:spPr>
          <a:xfrm>
            <a:off x="5872574" y="2902068"/>
            <a:ext cx="2384632" cy="830997"/>
          </a:xfrm>
          <a:prstGeom prst="rect">
            <a:avLst/>
          </a:prstGeom>
        </p:spPr>
        <p:txBody>
          <a:bodyPr vert="horz" wrap="square" lIns="0" tIns="0" rIns="0" bIns="0" rtlCol="0" anchor="t">
            <a:spAutoFit/>
          </a:bodyPr>
          <a:lstStyle>
            <a:defPPr>
              <a:defRPr lang="en-US"/>
            </a:defPPr>
            <a:lvl1pPr marR="0" indent="0" defTabSz="932742" fontAlgn="auto">
              <a:lnSpc>
                <a:spcPct val="100000"/>
              </a:lnSpc>
              <a:spcBef>
                <a:spcPct val="20000"/>
              </a:spcBef>
              <a:spcAft>
                <a:spcPts val="0"/>
              </a:spcAft>
              <a:buClrTx/>
              <a:buSzPct val="90000"/>
              <a:buFont typeface="Wingdings" panose="05000000000000000000" pitchFamily="2" charset="2"/>
              <a:buNone/>
              <a:tabLst/>
              <a:defRPr sz="1400" spc="0" baseline="0"/>
            </a:lvl1pPr>
            <a:lvl2pPr marR="0" indent="-228600" defTabSz="932742" fontAlgn="auto">
              <a:lnSpc>
                <a:spcPct val="100000"/>
              </a:lnSpc>
              <a:spcBef>
                <a:spcPct val="20000"/>
              </a:spcBef>
              <a:spcAft>
                <a:spcPts val="0"/>
              </a:spcAft>
              <a:buClrTx/>
              <a:buSzPct val="90000"/>
              <a:buFont typeface="Wingdings" panose="05000000000000000000" pitchFamily="2" charset="2"/>
              <a:buChar char=""/>
              <a:tabLst/>
              <a:defRPr sz="2000" spc="0" baseline="0"/>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6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r>
              <a:rPr lang="en-US" sz="1800">
                <a:latin typeface="+mj-lt"/>
              </a:rPr>
              <a:t>Increase productivity of hybrid and on-prem workloads</a:t>
            </a:r>
          </a:p>
        </p:txBody>
      </p:sp>
      <p:sp>
        <p:nvSpPr>
          <p:cNvPr id="15" name="TextBox 14">
            <a:extLst>
              <a:ext uri="{FF2B5EF4-FFF2-40B4-BE49-F238E27FC236}">
                <a16:creationId xmlns:a16="http://schemas.microsoft.com/office/drawing/2014/main" id="{F08B2E83-1045-4E6A-C89A-D718C658B999}"/>
              </a:ext>
            </a:extLst>
          </p:cNvPr>
          <p:cNvSpPr txBox="1"/>
          <p:nvPr/>
        </p:nvSpPr>
        <p:spPr>
          <a:xfrm>
            <a:off x="2675554" y="565021"/>
            <a:ext cx="2456885" cy="138499"/>
          </a:xfrm>
          <a:prstGeom prst="rect">
            <a:avLst/>
          </a:prstGeom>
          <a:noFill/>
        </p:spPr>
        <p:txBody>
          <a:bodyPr wrap="square" lIns="0" tIns="0" rIns="0" bIns="0">
            <a:spAutoFit/>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300" normalizeH="0" baseline="0" noProof="0">
                <a:ln>
                  <a:noFill/>
                </a:ln>
                <a:solidFill>
                  <a:schemeClr val="accent1"/>
                </a:solidFill>
                <a:effectLst/>
                <a:uLnTx/>
                <a:uFillTx/>
                <a:latin typeface="Segoe UI Semibold"/>
                <a:ea typeface="+mn-ea"/>
                <a:cs typeface="+mn-cs"/>
              </a:rPr>
              <a:t>OPTIMIZE CLOUD COSTS</a:t>
            </a:r>
          </a:p>
        </p:txBody>
      </p:sp>
      <p:sp>
        <p:nvSpPr>
          <p:cNvPr id="23" name="Content Placeholder 10">
            <a:extLst>
              <a:ext uri="{FF2B5EF4-FFF2-40B4-BE49-F238E27FC236}">
                <a16:creationId xmlns:a16="http://schemas.microsoft.com/office/drawing/2014/main" id="{30CA67D0-0F80-D1A9-AA68-8D5C9533F518}"/>
              </a:ext>
            </a:extLst>
          </p:cNvPr>
          <p:cNvSpPr txBox="1">
            <a:spLocks/>
          </p:cNvSpPr>
          <p:nvPr/>
        </p:nvSpPr>
        <p:spPr>
          <a:xfrm>
            <a:off x="584202" y="4924526"/>
            <a:ext cx="1778464" cy="553998"/>
          </a:xfrm>
          <a:prstGeom prst="rect">
            <a:avLst/>
          </a:prstGeom>
        </p:spPr>
        <p:txBody>
          <a:bodyPr vert="horz" wrap="square" lIns="0" tIns="0" rIns="0" bIns="0" rtlCol="0" anchor="t">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200" dirty="0">
                <a:solidFill>
                  <a:schemeClr val="accent1"/>
                </a:solidFill>
              </a:rPr>
              <a:t>Potential year-1 savings from using Microsoft Cost Management</a:t>
            </a:r>
            <a:r>
              <a:rPr lang="en-US" sz="1100" baseline="50000" dirty="0">
                <a:solidFill>
                  <a:schemeClr val="accent1"/>
                </a:solidFill>
                <a:cs typeface="Segoe UI"/>
              </a:rPr>
              <a:t>1</a:t>
            </a:r>
            <a:endParaRPr lang="en-US" sz="1200" baseline="50000" dirty="0">
              <a:solidFill>
                <a:schemeClr val="bg1"/>
              </a:solidFill>
            </a:endParaRPr>
          </a:p>
        </p:txBody>
      </p:sp>
      <p:sp>
        <p:nvSpPr>
          <p:cNvPr id="25" name="Content Placeholder 10">
            <a:extLst>
              <a:ext uri="{FF2B5EF4-FFF2-40B4-BE49-F238E27FC236}">
                <a16:creationId xmlns:a16="http://schemas.microsoft.com/office/drawing/2014/main" id="{B914AA3A-736E-5733-1713-EA60AD155BFA}"/>
              </a:ext>
            </a:extLst>
          </p:cNvPr>
          <p:cNvSpPr txBox="1">
            <a:spLocks/>
          </p:cNvSpPr>
          <p:nvPr/>
        </p:nvSpPr>
        <p:spPr>
          <a:xfrm>
            <a:off x="2893557" y="4924526"/>
            <a:ext cx="2238882" cy="553998"/>
          </a:xfrm>
          <a:prstGeom prst="rect">
            <a:avLst/>
          </a:prstGeom>
        </p:spPr>
        <p:txBody>
          <a:bodyPr vert="horz" wrap="square" lIns="0" tIns="0" rIns="0" bIns="0" rtlCol="0" anchor="t">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200" dirty="0">
                <a:solidFill>
                  <a:schemeClr val="accent1"/>
                </a:solidFill>
                <a:cs typeface="Segoe UI"/>
              </a:rPr>
              <a:t>Automated recommendations and architecture as code help IT staff prioritize what matters most</a:t>
            </a:r>
          </a:p>
        </p:txBody>
      </p:sp>
      <p:grpSp>
        <p:nvGrpSpPr>
          <p:cNvPr id="30" name="Group 29">
            <a:extLst>
              <a:ext uri="{FF2B5EF4-FFF2-40B4-BE49-F238E27FC236}">
                <a16:creationId xmlns:a16="http://schemas.microsoft.com/office/drawing/2014/main" id="{BA47CD39-E5B1-921B-3A5D-7B38F346D4A7}"/>
              </a:ext>
              <a:ext uri="{C183D7F6-B498-43B3-948B-1728B52AA6E4}">
                <adec:decorative xmlns:adec="http://schemas.microsoft.com/office/drawing/2017/decorative" val="1"/>
              </a:ext>
            </a:extLst>
          </p:cNvPr>
          <p:cNvGrpSpPr/>
          <p:nvPr/>
        </p:nvGrpSpPr>
        <p:grpSpPr>
          <a:xfrm>
            <a:off x="661574" y="3595687"/>
            <a:ext cx="5367248" cy="619990"/>
            <a:chOff x="661574" y="3607770"/>
            <a:chExt cx="5367248" cy="748321"/>
          </a:xfrm>
        </p:grpSpPr>
        <p:cxnSp>
          <p:nvCxnSpPr>
            <p:cNvPr id="24" name="Straight Connector 23">
              <a:extLst>
                <a:ext uri="{FF2B5EF4-FFF2-40B4-BE49-F238E27FC236}">
                  <a16:creationId xmlns:a16="http://schemas.microsoft.com/office/drawing/2014/main" id="{FFEA3956-74A4-436D-1221-E2FFD183573F}"/>
                </a:ext>
                <a:ext uri="{C183D7F6-B498-43B3-948B-1728B52AA6E4}">
                  <adec:decorative xmlns:adec="http://schemas.microsoft.com/office/drawing/2017/decorative" val="1"/>
                </a:ext>
              </a:extLst>
            </p:cNvPr>
            <p:cNvCxnSpPr>
              <a:cxnSpLocks/>
            </p:cNvCxnSpPr>
            <p:nvPr/>
          </p:nvCxnSpPr>
          <p:spPr>
            <a:xfrm flipV="1">
              <a:off x="3024528" y="3607770"/>
              <a:ext cx="0" cy="748321"/>
            </a:xfrm>
            <a:prstGeom prst="line">
              <a:avLst/>
            </a:prstGeom>
            <a:ln>
              <a:gradFill>
                <a:gsLst>
                  <a:gs pos="0">
                    <a:schemeClr val="accent1">
                      <a:alpha val="0"/>
                    </a:schemeClr>
                  </a:gs>
                  <a:gs pos="44000">
                    <a:schemeClr val="accent1"/>
                  </a:gs>
                  <a:gs pos="100000">
                    <a:schemeClr val="accent2"/>
                  </a:gs>
                </a:gsLst>
                <a:lin ang="54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AEBEAAF6-59C8-A6C0-B5E3-6E9BCDA9268D}"/>
                </a:ext>
                <a:ext uri="{C183D7F6-B498-43B3-948B-1728B52AA6E4}">
                  <adec:decorative xmlns:adec="http://schemas.microsoft.com/office/drawing/2017/decorative" val="1"/>
                </a:ext>
              </a:extLst>
            </p:cNvPr>
            <p:cNvCxnSpPr>
              <a:cxnSpLocks/>
            </p:cNvCxnSpPr>
            <p:nvPr/>
          </p:nvCxnSpPr>
          <p:spPr>
            <a:xfrm flipV="1">
              <a:off x="6028822" y="3856008"/>
              <a:ext cx="0" cy="500083"/>
            </a:xfrm>
            <a:prstGeom prst="line">
              <a:avLst/>
            </a:prstGeom>
            <a:ln>
              <a:gradFill>
                <a:gsLst>
                  <a:gs pos="0">
                    <a:schemeClr val="accent1">
                      <a:alpha val="0"/>
                    </a:schemeClr>
                  </a:gs>
                  <a:gs pos="44000">
                    <a:schemeClr val="accent1"/>
                  </a:gs>
                  <a:gs pos="100000">
                    <a:schemeClr val="accent2"/>
                  </a:gs>
                </a:gsLst>
                <a:lin ang="54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F45E4BA9-1976-7874-4C7B-FF8C30312C11}"/>
                </a:ext>
                <a:ext uri="{C183D7F6-B498-43B3-948B-1728B52AA6E4}">
                  <adec:decorative xmlns:adec="http://schemas.microsoft.com/office/drawing/2017/decorative" val="1"/>
                </a:ext>
              </a:extLst>
            </p:cNvPr>
            <p:cNvCxnSpPr>
              <a:cxnSpLocks/>
            </p:cNvCxnSpPr>
            <p:nvPr/>
          </p:nvCxnSpPr>
          <p:spPr>
            <a:xfrm flipV="1">
              <a:off x="661574" y="3607770"/>
              <a:ext cx="0" cy="748321"/>
            </a:xfrm>
            <a:prstGeom prst="line">
              <a:avLst/>
            </a:prstGeom>
            <a:ln>
              <a:gradFill>
                <a:gsLst>
                  <a:gs pos="0">
                    <a:schemeClr val="accent1">
                      <a:alpha val="0"/>
                    </a:schemeClr>
                  </a:gs>
                  <a:gs pos="44000">
                    <a:schemeClr val="accent1"/>
                  </a:gs>
                  <a:gs pos="100000">
                    <a:schemeClr val="accent2"/>
                  </a:gs>
                </a:gsLst>
                <a:lin ang="54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27" name="Content Placeholder 10">
            <a:extLst>
              <a:ext uri="{FF2B5EF4-FFF2-40B4-BE49-F238E27FC236}">
                <a16:creationId xmlns:a16="http://schemas.microsoft.com/office/drawing/2014/main" id="{016109A5-0298-6550-2359-BB39996BEF7B}"/>
              </a:ext>
            </a:extLst>
          </p:cNvPr>
          <p:cNvSpPr txBox="1">
            <a:spLocks/>
          </p:cNvSpPr>
          <p:nvPr/>
        </p:nvSpPr>
        <p:spPr>
          <a:xfrm>
            <a:off x="5882728" y="4924526"/>
            <a:ext cx="2310658" cy="738664"/>
          </a:xfrm>
          <a:prstGeom prst="rect">
            <a:avLst/>
          </a:prstGeom>
        </p:spPr>
        <p:txBody>
          <a:bodyPr vert="horz" wrap="square" lIns="0" tIns="0" rIns="0" bIns="0" rtlCol="0" anchor="t">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200" dirty="0">
                <a:solidFill>
                  <a:schemeClr val="accent1"/>
                </a:solidFill>
                <a:cs typeface="Segoe UI"/>
              </a:rPr>
              <a:t>Potential 3-year ROI and reduced spend on 3rd party tools used to manage multi-cloud &amp; hybrid environments</a:t>
            </a:r>
            <a:r>
              <a:rPr lang="en-US" sz="1100" baseline="40000" dirty="0">
                <a:solidFill>
                  <a:schemeClr val="accent1"/>
                </a:solidFill>
                <a:cs typeface="Segoe UI"/>
              </a:rPr>
              <a:t>2</a:t>
            </a:r>
            <a:endParaRPr lang="en-US" sz="1200" baseline="40000" dirty="0">
              <a:solidFill>
                <a:schemeClr val="accent1"/>
              </a:solidFill>
              <a:cs typeface="Segoe UI"/>
            </a:endParaRPr>
          </a:p>
        </p:txBody>
      </p:sp>
      <p:sp>
        <p:nvSpPr>
          <p:cNvPr id="28" name="TextBox 27">
            <a:extLst>
              <a:ext uri="{FF2B5EF4-FFF2-40B4-BE49-F238E27FC236}">
                <a16:creationId xmlns:a16="http://schemas.microsoft.com/office/drawing/2014/main" id="{FEB92445-3856-B8A8-8828-473F6D1F0D02}"/>
              </a:ext>
            </a:extLst>
          </p:cNvPr>
          <p:cNvSpPr txBox="1"/>
          <p:nvPr/>
        </p:nvSpPr>
        <p:spPr>
          <a:xfrm>
            <a:off x="582313" y="4141431"/>
            <a:ext cx="1454375" cy="769441"/>
          </a:xfrm>
          <a:prstGeom prst="rect">
            <a:avLst/>
          </a:prstGeom>
          <a:noFill/>
        </p:spPr>
        <p:txBody>
          <a:bodyPr wrap="square" lIns="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4400" b="0" i="0" u="none" strike="noStrike" kern="1200" cap="none" spc="0" normalizeH="0" baseline="0" noProof="0">
                <a:ln>
                  <a:noFill/>
                </a:ln>
                <a:gradFill flip="none" rotWithShape="1">
                  <a:gsLst>
                    <a:gs pos="45000">
                      <a:srgbClr val="0078D4"/>
                    </a:gs>
                    <a:gs pos="0">
                      <a:srgbClr val="50E6FF"/>
                    </a:gs>
                    <a:gs pos="100000">
                      <a:srgbClr val="000000"/>
                    </a:gs>
                  </a:gsLst>
                  <a:lin ang="5400000" scaled="0"/>
                  <a:tileRect/>
                </a:gradFill>
                <a:effectLst/>
                <a:uLnTx/>
                <a:uFillTx/>
                <a:latin typeface="+mj-lt"/>
                <a:ea typeface="+mn-ea"/>
                <a:cs typeface="+mn-cs"/>
              </a:rPr>
              <a:t>34% </a:t>
            </a:r>
          </a:p>
        </p:txBody>
      </p:sp>
      <p:sp>
        <p:nvSpPr>
          <p:cNvPr id="29" name="TextBox 28">
            <a:extLst>
              <a:ext uri="{FF2B5EF4-FFF2-40B4-BE49-F238E27FC236}">
                <a16:creationId xmlns:a16="http://schemas.microsoft.com/office/drawing/2014/main" id="{5FE2D67C-069D-479A-BF84-5DFF0F14F8F6}"/>
              </a:ext>
            </a:extLst>
          </p:cNvPr>
          <p:cNvSpPr txBox="1"/>
          <p:nvPr/>
        </p:nvSpPr>
        <p:spPr>
          <a:xfrm>
            <a:off x="5867456" y="4141431"/>
            <a:ext cx="1773564" cy="769441"/>
          </a:xfrm>
          <a:prstGeom prst="rect">
            <a:avLst/>
          </a:prstGeom>
          <a:noFill/>
        </p:spPr>
        <p:txBody>
          <a:bodyPr wrap="square" lIns="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4400" b="0" i="0" u="none" strike="noStrike" kern="1200" cap="none" spc="0" normalizeH="0" baseline="0" noProof="0">
                <a:ln>
                  <a:noFill/>
                </a:ln>
                <a:gradFill flip="none" rotWithShape="1">
                  <a:gsLst>
                    <a:gs pos="45000">
                      <a:srgbClr val="0078D4"/>
                    </a:gs>
                    <a:gs pos="0">
                      <a:srgbClr val="50E6FF"/>
                    </a:gs>
                    <a:gs pos="100000">
                      <a:srgbClr val="000000"/>
                    </a:gs>
                  </a:gsLst>
                  <a:lin ang="5400000" scaled="0"/>
                  <a:tileRect/>
                </a:gradFill>
                <a:effectLst/>
                <a:uLnTx/>
                <a:uFillTx/>
                <a:latin typeface="+mj-lt"/>
                <a:ea typeface="+mn-ea"/>
                <a:cs typeface="+mn-cs"/>
              </a:rPr>
              <a:t>206% </a:t>
            </a:r>
          </a:p>
        </p:txBody>
      </p:sp>
      <p:pic>
        <p:nvPicPr>
          <p:cNvPr id="32" name="Picture 31" descr="Optimize cloud costs Illustration">
            <a:extLst>
              <a:ext uri="{FF2B5EF4-FFF2-40B4-BE49-F238E27FC236}">
                <a16:creationId xmlns:a16="http://schemas.microsoft.com/office/drawing/2014/main" id="{21D1C6BF-0AB3-80F6-112A-554A7F369DE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01205" y="1951598"/>
            <a:ext cx="2585371" cy="1880459"/>
          </a:xfrm>
          <a:prstGeom prst="rect">
            <a:avLst/>
          </a:prstGeom>
        </p:spPr>
      </p:pic>
      <p:sp>
        <p:nvSpPr>
          <p:cNvPr id="3" name="cloud_2" title="Icon of a cloud made of two arrows pointing towards eachother">
            <a:extLst>
              <a:ext uri="{FF2B5EF4-FFF2-40B4-BE49-F238E27FC236}">
                <a16:creationId xmlns:a16="http://schemas.microsoft.com/office/drawing/2014/main" id="{564AD585-C1AC-E868-6AFB-791B2AC7CC4D}"/>
              </a:ext>
            </a:extLst>
          </p:cNvPr>
          <p:cNvSpPr>
            <a:spLocks noChangeAspect="1" noEditPoints="1"/>
          </p:cNvSpPr>
          <p:nvPr/>
        </p:nvSpPr>
        <p:spPr bwMode="auto">
          <a:xfrm>
            <a:off x="2887428" y="4348888"/>
            <a:ext cx="614349" cy="354526"/>
          </a:xfrm>
          <a:custGeom>
            <a:avLst/>
            <a:gdLst>
              <a:gd name="T0" fmla="*/ 138 w 349"/>
              <a:gd name="T1" fmla="*/ 181 h 200"/>
              <a:gd name="T2" fmla="*/ 49 w 349"/>
              <a:gd name="T3" fmla="*/ 181 h 200"/>
              <a:gd name="T4" fmla="*/ 0 w 349"/>
              <a:gd name="T5" fmla="*/ 132 h 200"/>
              <a:gd name="T6" fmla="*/ 49 w 349"/>
              <a:gd name="T7" fmla="*/ 84 h 200"/>
              <a:gd name="T8" fmla="*/ 59 w 349"/>
              <a:gd name="T9" fmla="*/ 85 h 200"/>
              <a:gd name="T10" fmla="*/ 148 w 349"/>
              <a:gd name="T11" fmla="*/ 0 h 200"/>
              <a:gd name="T12" fmla="*/ 234 w 349"/>
              <a:gd name="T13" fmla="*/ 68 h 200"/>
              <a:gd name="T14" fmla="*/ 282 w 349"/>
              <a:gd name="T15" fmla="*/ 47 h 200"/>
              <a:gd name="T16" fmla="*/ 349 w 349"/>
              <a:gd name="T17" fmla="*/ 114 h 200"/>
              <a:gd name="T18" fmla="*/ 282 w 349"/>
              <a:gd name="T19" fmla="*/ 180 h 200"/>
              <a:gd name="T20" fmla="*/ 282 w 349"/>
              <a:gd name="T21" fmla="*/ 180 h 200"/>
              <a:gd name="T22" fmla="*/ 206 w 349"/>
              <a:gd name="T23" fmla="*/ 180 h 200"/>
              <a:gd name="T24" fmla="*/ 119 w 349"/>
              <a:gd name="T25" fmla="*/ 200 h 200"/>
              <a:gd name="T26" fmla="*/ 138 w 349"/>
              <a:gd name="T27" fmla="*/ 181 h 200"/>
              <a:gd name="T28" fmla="*/ 119 w 349"/>
              <a:gd name="T29" fmla="*/ 161 h 200"/>
              <a:gd name="T30" fmla="*/ 225 w 349"/>
              <a:gd name="T31" fmla="*/ 161 h 200"/>
              <a:gd name="T32" fmla="*/ 206 w 349"/>
              <a:gd name="T33" fmla="*/ 180 h 200"/>
              <a:gd name="T34" fmla="*/ 225 w 349"/>
              <a:gd name="T35" fmla="*/ 20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49" h="200">
                <a:moveTo>
                  <a:pt x="138" y="181"/>
                </a:moveTo>
                <a:cubicBezTo>
                  <a:pt x="49" y="181"/>
                  <a:pt x="49" y="181"/>
                  <a:pt x="49" y="181"/>
                </a:cubicBezTo>
                <a:cubicBezTo>
                  <a:pt x="22" y="181"/>
                  <a:pt x="0" y="159"/>
                  <a:pt x="0" y="132"/>
                </a:cubicBezTo>
                <a:cubicBezTo>
                  <a:pt x="0" y="105"/>
                  <a:pt x="22" y="84"/>
                  <a:pt x="49" y="84"/>
                </a:cubicBezTo>
                <a:cubicBezTo>
                  <a:pt x="52" y="84"/>
                  <a:pt x="56" y="84"/>
                  <a:pt x="59" y="85"/>
                </a:cubicBezTo>
                <a:cubicBezTo>
                  <a:pt x="61" y="38"/>
                  <a:pt x="100" y="0"/>
                  <a:pt x="148" y="0"/>
                </a:cubicBezTo>
                <a:cubicBezTo>
                  <a:pt x="189" y="0"/>
                  <a:pt x="224" y="29"/>
                  <a:pt x="234" y="68"/>
                </a:cubicBezTo>
                <a:cubicBezTo>
                  <a:pt x="246" y="55"/>
                  <a:pt x="263" y="47"/>
                  <a:pt x="282" y="47"/>
                </a:cubicBezTo>
                <a:cubicBezTo>
                  <a:pt x="319" y="47"/>
                  <a:pt x="349" y="77"/>
                  <a:pt x="349" y="114"/>
                </a:cubicBezTo>
                <a:cubicBezTo>
                  <a:pt x="349" y="151"/>
                  <a:pt x="319" y="180"/>
                  <a:pt x="282" y="180"/>
                </a:cubicBezTo>
                <a:cubicBezTo>
                  <a:pt x="282" y="180"/>
                  <a:pt x="282" y="180"/>
                  <a:pt x="282" y="180"/>
                </a:cubicBezTo>
                <a:cubicBezTo>
                  <a:pt x="206" y="180"/>
                  <a:pt x="206" y="180"/>
                  <a:pt x="206" y="180"/>
                </a:cubicBezTo>
                <a:moveTo>
                  <a:pt x="119" y="200"/>
                </a:moveTo>
                <a:cubicBezTo>
                  <a:pt x="138" y="181"/>
                  <a:pt x="138" y="181"/>
                  <a:pt x="138" y="181"/>
                </a:cubicBezTo>
                <a:cubicBezTo>
                  <a:pt x="119" y="161"/>
                  <a:pt x="119" y="161"/>
                  <a:pt x="119" y="161"/>
                </a:cubicBezTo>
                <a:moveTo>
                  <a:pt x="225" y="161"/>
                </a:moveTo>
                <a:cubicBezTo>
                  <a:pt x="206" y="180"/>
                  <a:pt x="206" y="180"/>
                  <a:pt x="206" y="180"/>
                </a:cubicBezTo>
                <a:cubicBezTo>
                  <a:pt x="225" y="200"/>
                  <a:pt x="225" y="200"/>
                  <a:pt x="225" y="200"/>
                </a:cubicBezTo>
              </a:path>
            </a:pathLst>
          </a:custGeom>
          <a:noFill/>
          <a:ln w="15875" cap="sq">
            <a:gradFill>
              <a:gsLst>
                <a:gs pos="0">
                  <a:schemeClr val="accent2"/>
                </a:gs>
                <a:gs pos="100000">
                  <a:schemeClr val="accent1"/>
                </a:gs>
              </a:gsLst>
              <a:lin ang="16200000" scaled="0"/>
            </a:gradFill>
            <a:prstDash val="solid"/>
            <a:miter lim="800000"/>
            <a:headEnd/>
            <a:tailEnd/>
          </a:ln>
        </p:spPr>
        <p:txBody>
          <a:bodyPr vert="horz" wrap="square" lIns="91440" tIns="45720" rIns="91440" bIns="45720" numCol="1" anchor="t" anchorCtr="0" compatLnSpc="1">
            <a:prstTxWarp prst="textNoShape">
              <a:avLst/>
            </a:prstTxWarp>
          </a:bodyPr>
          <a:lstStyle/>
          <a:p>
            <a:endParaRPr lang="en-US">
              <a:gradFill>
                <a:gsLst>
                  <a:gs pos="0">
                    <a:srgbClr val="505050"/>
                  </a:gs>
                  <a:gs pos="100000">
                    <a:srgbClr val="505050"/>
                  </a:gs>
                </a:gsLst>
              </a:gradFill>
            </a:endParaRPr>
          </a:p>
        </p:txBody>
      </p:sp>
      <p:sp>
        <p:nvSpPr>
          <p:cNvPr id="5" name="Footer Placeholder 21">
            <a:extLst>
              <a:ext uri="{FF2B5EF4-FFF2-40B4-BE49-F238E27FC236}">
                <a16:creationId xmlns:a16="http://schemas.microsoft.com/office/drawing/2014/main" id="{B9D3DB6D-E37F-DEC7-DFAD-EC6BD8282B45}"/>
              </a:ext>
            </a:extLst>
          </p:cNvPr>
          <p:cNvSpPr txBox="1">
            <a:spLocks/>
          </p:cNvSpPr>
          <p:nvPr/>
        </p:nvSpPr>
        <p:spPr>
          <a:xfrm>
            <a:off x="376922" y="6401714"/>
            <a:ext cx="7055509" cy="401172"/>
          </a:xfrm>
          <a:prstGeom prst="rect">
            <a:avLst/>
          </a:prstGeom>
        </p:spPr>
        <p:txBody>
          <a:bodyPr vert="horz"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28600" indent="-228600">
              <a:buFont typeface="+mj-lt"/>
              <a:buAutoNum type="arabicPeriod"/>
              <a:defRPr/>
            </a:pPr>
            <a:r>
              <a:rPr lang="en-US" sz="700" dirty="0">
                <a:solidFill>
                  <a:srgbClr val="737373"/>
                </a:solidFill>
                <a:latin typeface="Segoe UI" panose="020B0502040204020203" pitchFamily="34" charset="0"/>
                <a:cs typeface="Segoe UI" panose="020B0502040204020203" pitchFamily="34" charset="0"/>
                <a:hlinkClick r:id="rId4">
                  <a:extLst>
                    <a:ext uri="{A12FA001-AC4F-418D-AE19-62706E023703}">
                      <ahyp:hlinkClr xmlns:ahyp="http://schemas.microsoft.com/office/drawing/2018/hyperlinkcolor" val="tx"/>
                    </a:ext>
                  </a:extLst>
                </a:hlinkClick>
              </a:rPr>
              <a:t>The Total Economic Impact™ of Azure Cost Management and Billing—a commissioned study conducted by Forrester Consulting. Published: February 2021</a:t>
            </a:r>
            <a:endParaRPr lang="en-US" sz="700" dirty="0">
              <a:solidFill>
                <a:srgbClr val="737373"/>
              </a:solidFill>
              <a:latin typeface="Segoe UI" panose="020B0502040204020203" pitchFamily="34" charset="0"/>
              <a:cs typeface="Segoe UI" panose="020B0502040204020203" pitchFamily="34" charset="0"/>
            </a:endParaRPr>
          </a:p>
          <a:p>
            <a:pPr marL="228600" indent="-228600">
              <a:buFont typeface="+mj-lt"/>
              <a:buAutoNum type="arabicPeriod"/>
              <a:defRPr/>
            </a:pPr>
            <a:r>
              <a:rPr lang="en-US" sz="700" dirty="0">
                <a:solidFill>
                  <a:srgbClr val="737373"/>
                </a:solidFill>
                <a:latin typeface="Segoe UI" panose="020B0502040204020203" pitchFamily="34" charset="0"/>
                <a:cs typeface="Segoe UI" panose="020B0502040204020203" pitchFamily="34" charset="0"/>
                <a:hlinkClick r:id="rId5">
                  <a:extLst>
                    <a:ext uri="{A12FA001-AC4F-418D-AE19-62706E023703}">
                      <ahyp:hlinkClr xmlns:ahyp="http://schemas.microsoft.com/office/drawing/2018/hyperlinkcolor" val="tx"/>
                    </a:ext>
                  </a:extLst>
                </a:hlinkClick>
              </a:rPr>
              <a:t>The Total Economic Impact™ Of Microsoft Azure Arc for Security and Governance</a:t>
            </a:r>
            <a:r>
              <a:rPr lang="en-US" sz="700" dirty="0">
                <a:solidFill>
                  <a:srgbClr val="737373"/>
                </a:solidFill>
                <a:latin typeface="Segoe UI" panose="020B0502040204020203" pitchFamily="34" charset="0"/>
                <a:cs typeface="Segoe UI" panose="020B0502040204020203" pitchFamily="34" charset="0"/>
              </a:rPr>
              <a:t> – a commissioned study conducted by Forrester Consulting. Published June 2022</a:t>
            </a:r>
          </a:p>
          <a:p>
            <a:pPr marL="228600" indent="-228600">
              <a:buFont typeface="+mj-lt"/>
              <a:buAutoNum type="arabicPeriod"/>
              <a:defRPr/>
            </a:pPr>
            <a:r>
              <a:rPr lang="en-US" sz="700" dirty="0">
                <a:solidFill>
                  <a:srgbClr val="737373"/>
                </a:solidFill>
                <a:latin typeface="Segoe UI" panose="020B0502040204020203" pitchFamily="34" charset="0"/>
                <a:cs typeface="Segoe UI" panose="020B0502040204020203" pitchFamily="34" charset="0"/>
              </a:rPr>
              <a:t>Gartner IT Symposium 2020</a:t>
            </a:r>
          </a:p>
        </p:txBody>
      </p:sp>
      <p:grpSp>
        <p:nvGrpSpPr>
          <p:cNvPr id="33" name="Group 32" descr="Optimize cloud cost navigation">
            <a:extLst>
              <a:ext uri="{FF2B5EF4-FFF2-40B4-BE49-F238E27FC236}">
                <a16:creationId xmlns:a16="http://schemas.microsoft.com/office/drawing/2014/main" id="{708F9853-DB10-3CEE-846C-A2919C9F059B}"/>
              </a:ext>
            </a:extLst>
          </p:cNvPr>
          <p:cNvGrpSpPr/>
          <p:nvPr/>
        </p:nvGrpSpPr>
        <p:grpSpPr>
          <a:xfrm>
            <a:off x="583828" y="409640"/>
            <a:ext cx="1894901" cy="440154"/>
            <a:chOff x="583828" y="409640"/>
            <a:chExt cx="1894901" cy="440154"/>
          </a:xfrm>
        </p:grpSpPr>
        <p:cxnSp>
          <p:nvCxnSpPr>
            <p:cNvPr id="7" name="Straight Connector 6">
              <a:extLst>
                <a:ext uri="{FF2B5EF4-FFF2-40B4-BE49-F238E27FC236}">
                  <a16:creationId xmlns:a16="http://schemas.microsoft.com/office/drawing/2014/main" id="{B6E119F5-726C-1D28-3BB4-2D740F4EC99F}"/>
                </a:ext>
                <a:ext uri="{C183D7F6-B498-43B3-948B-1728B52AA6E4}">
                  <adec:decorative xmlns:adec="http://schemas.microsoft.com/office/drawing/2017/decorative" val="1"/>
                </a:ext>
              </a:extLst>
            </p:cNvPr>
            <p:cNvCxnSpPr>
              <a:cxnSpLocks/>
            </p:cNvCxnSpPr>
            <p:nvPr/>
          </p:nvCxnSpPr>
          <p:spPr>
            <a:xfrm flipH="1">
              <a:off x="1018274" y="629717"/>
              <a:ext cx="1014593" cy="0"/>
            </a:xfrm>
            <a:prstGeom prst="line">
              <a:avLst/>
            </a:prstGeom>
            <a:solidFill>
              <a:schemeClr val="bg1">
                <a:lumMod val="95000"/>
                <a:lumOff val="5000"/>
              </a:schemeClr>
            </a:solidFill>
            <a:ln w="12700" cap="flat" cmpd="sng" algn="ctr">
              <a:solidFill>
                <a:srgbClr val="000000">
                  <a:lumMod val="75000"/>
                  <a:lumOff val="25000"/>
                </a:srgbClr>
              </a:solidFill>
              <a:prstDash val="solid"/>
              <a:headEnd type="none" w="med" len="med"/>
              <a:tailEnd type="none" w="med" len="med"/>
            </a:ln>
            <a:effectLst/>
          </p:spPr>
        </p:cxnSp>
        <p:sp>
          <p:nvSpPr>
            <p:cNvPr id="8" name="Oval 7">
              <a:extLst>
                <a:ext uri="{FF2B5EF4-FFF2-40B4-BE49-F238E27FC236}">
                  <a16:creationId xmlns:a16="http://schemas.microsoft.com/office/drawing/2014/main" id="{B9F9E4ED-A30E-B21F-9E9A-6E15399E7474}"/>
                </a:ext>
              </a:extLst>
            </p:cNvPr>
            <p:cNvSpPr/>
            <p:nvPr/>
          </p:nvSpPr>
          <p:spPr bwMode="auto">
            <a:xfrm>
              <a:off x="583828" y="409640"/>
              <a:ext cx="440154" cy="440154"/>
            </a:xfrm>
            <a:prstGeom prst="ellipse">
              <a:avLst/>
            </a:prstGeom>
            <a:solidFill>
              <a:schemeClr val="bg1">
                <a:lumMod val="95000"/>
                <a:lumOff val="5000"/>
              </a:schemeClr>
            </a:solidFill>
            <a:ln w="12700" cap="flat" cmpd="sng" algn="ctr">
              <a:solidFill>
                <a:srgbClr val="000000">
                  <a:lumMod val="75000"/>
                  <a:lumOff val="25000"/>
                </a:srgbClr>
              </a:solidFill>
              <a:prstDash val="solid"/>
              <a:headEnd type="none" w="med" len="med"/>
              <a:tailEnd type="none" w="med" len="med"/>
            </a:ln>
            <a:effectLst/>
          </p:spPr>
          <p:txBody>
            <a:bodyPr rot="0" spcFirstLastPara="0" vertOverflow="overflow" horzOverflow="overflow" vert="horz" wrap="square" lIns="72000" tIns="180000" rIns="72000" bIns="144000" numCol="1" spcCol="0" rtlCol="0" fromWordArt="0" anchor="t" anchorCtr="0" forceAA="0" compatLnSpc="1">
              <a:prstTxWarp prst="textNoShape">
                <a:avLst/>
              </a:prstTxWarp>
              <a:noAutofit/>
            </a:bodyPr>
            <a:lstStyle/>
            <a:p>
              <a:pPr algn="ctr"/>
              <a:endParaRPr lang="en-US" sz="1600" kern="0" err="1">
                <a:gradFill flip="none" rotWithShape="1">
                  <a:gsLst>
                    <a:gs pos="0">
                      <a:srgbClr val="50E6FF"/>
                    </a:gs>
                    <a:gs pos="100000">
                      <a:srgbClr val="D59DFF"/>
                    </a:gs>
                  </a:gsLst>
                  <a:lin ang="2700000" scaled="1"/>
                  <a:tileRect/>
                </a:gradFill>
                <a:latin typeface="Segoe UI Semibold"/>
              </a:endParaRPr>
            </a:p>
          </p:txBody>
        </p:sp>
        <p:sp>
          <p:nvSpPr>
            <p:cNvPr id="10" name="Oval 9">
              <a:extLst>
                <a:ext uri="{FF2B5EF4-FFF2-40B4-BE49-F238E27FC236}">
                  <a16:creationId xmlns:a16="http://schemas.microsoft.com/office/drawing/2014/main" id="{DAB04B3E-FD13-42B4-700E-C07E8FC85209}"/>
                </a:ext>
              </a:extLst>
            </p:cNvPr>
            <p:cNvSpPr/>
            <p:nvPr/>
          </p:nvSpPr>
          <p:spPr bwMode="auto">
            <a:xfrm>
              <a:off x="2038575" y="409640"/>
              <a:ext cx="440154" cy="440154"/>
            </a:xfrm>
            <a:prstGeom prst="ellipse">
              <a:avLst/>
            </a:prstGeom>
            <a:solidFill>
              <a:schemeClr val="bg1">
                <a:lumMod val="95000"/>
                <a:lumOff val="5000"/>
              </a:schemeClr>
            </a:solidFill>
            <a:ln w="12700" cap="flat" cmpd="sng" algn="ctr">
              <a:solidFill>
                <a:srgbClr val="000000">
                  <a:lumMod val="75000"/>
                  <a:lumOff val="25000"/>
                </a:srgbClr>
              </a:solidFill>
              <a:prstDash val="solid"/>
              <a:headEnd type="none" w="med" len="med"/>
              <a:tailEnd type="none" w="med" len="med"/>
            </a:ln>
            <a:effectLst/>
          </p:spPr>
          <p:txBody>
            <a:bodyPr rot="0" spcFirstLastPara="0" vertOverflow="overflow" horzOverflow="overflow" vert="horz" wrap="square" lIns="72000" tIns="180000" rIns="72000" bIns="14400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err="1">
                <a:ln>
                  <a:noFill/>
                </a:ln>
                <a:gradFill flip="none" rotWithShape="1">
                  <a:gsLst>
                    <a:gs pos="0">
                      <a:srgbClr val="50E6FF"/>
                    </a:gs>
                    <a:gs pos="100000">
                      <a:srgbClr val="D59DFF"/>
                    </a:gs>
                  </a:gsLst>
                  <a:lin ang="2700000" scaled="1"/>
                  <a:tileRect/>
                </a:gradFill>
                <a:effectLst/>
                <a:uLnTx/>
                <a:uFillTx/>
                <a:latin typeface="Segoe UI Semibold"/>
                <a:ea typeface="+mn-ea"/>
                <a:cs typeface="+mn-cs"/>
              </a:endParaRPr>
            </a:p>
          </p:txBody>
        </p:sp>
        <p:sp>
          <p:nvSpPr>
            <p:cNvPr id="14" name="Oval 13">
              <a:extLst>
                <a:ext uri="{FF2B5EF4-FFF2-40B4-BE49-F238E27FC236}">
                  <a16:creationId xmlns:a16="http://schemas.microsoft.com/office/drawing/2014/main" id="{A6EBBD70-E294-3884-6488-9537E3C02ADB}"/>
                </a:ext>
              </a:extLst>
            </p:cNvPr>
            <p:cNvSpPr/>
            <p:nvPr/>
          </p:nvSpPr>
          <p:spPr bwMode="auto">
            <a:xfrm>
              <a:off x="1311201" y="409640"/>
              <a:ext cx="440154" cy="440154"/>
            </a:xfrm>
            <a:prstGeom prst="ellipse">
              <a:avLst/>
            </a:prstGeom>
            <a:solidFill>
              <a:schemeClr val="bg1"/>
            </a:solidFill>
            <a:ln w="12700" cap="flat" cmpd="sng" algn="ctr">
              <a:solidFill>
                <a:schemeClr val="accent1"/>
              </a:solidFill>
              <a:prstDash val="solid"/>
              <a:headEnd type="none" w="med" len="med"/>
              <a:tailEnd type="none" w="med" len="med"/>
            </a:ln>
            <a:effectLst/>
          </p:spPr>
          <p:txBody>
            <a:bodyPr rot="0" spcFirstLastPara="0" vertOverflow="overflow" horzOverflow="overflow" vert="horz" wrap="square" lIns="72000" tIns="180000" rIns="72000" bIns="144000" numCol="1" spcCol="0" rtlCol="0" fromWordArt="0" anchor="t" anchorCtr="0" forceAA="0" compatLnSpc="1">
              <a:prstTxWarp prst="textNoShape">
                <a:avLst/>
              </a:prstTxWarp>
              <a:noAutofit/>
            </a:bodyPr>
            <a:lstStyle/>
            <a:p>
              <a:pPr algn="ctr"/>
              <a:endParaRPr lang="en-US" sz="1600" kern="0" err="1">
                <a:gradFill flip="none" rotWithShape="1">
                  <a:gsLst>
                    <a:gs pos="0">
                      <a:srgbClr val="50E6FF"/>
                    </a:gs>
                    <a:gs pos="100000">
                      <a:srgbClr val="D59DFF"/>
                    </a:gs>
                  </a:gsLst>
                  <a:lin ang="2700000" scaled="1"/>
                  <a:tileRect/>
                </a:gradFill>
                <a:latin typeface="Segoe UI Semibold"/>
              </a:endParaRPr>
            </a:p>
          </p:txBody>
        </p:sp>
        <p:pic>
          <p:nvPicPr>
            <p:cNvPr id="16" name="Picture 15">
              <a:extLst>
                <a:ext uri="{FF2B5EF4-FFF2-40B4-BE49-F238E27FC236}">
                  <a16:creationId xmlns:a16="http://schemas.microsoft.com/office/drawing/2014/main" id="{2C4BDF20-1428-DA2F-0CF2-81CC6A3B567D}"/>
                </a:ext>
              </a:extLst>
            </p:cNvPr>
            <p:cNvPicPr>
              <a:picLocks noChangeAspect="1"/>
            </p:cNvPicPr>
            <p:nvPr/>
          </p:nvPicPr>
          <p:blipFill>
            <a:blip r:embed="rId6"/>
            <a:stretch>
              <a:fillRect/>
            </a:stretch>
          </p:blipFill>
          <p:spPr>
            <a:xfrm>
              <a:off x="1394021" y="486818"/>
              <a:ext cx="267846" cy="267846"/>
            </a:xfrm>
            <a:prstGeom prst="rect">
              <a:avLst/>
            </a:prstGeom>
          </p:spPr>
        </p:pic>
        <p:pic>
          <p:nvPicPr>
            <p:cNvPr id="20" name="Picture 19">
              <a:extLst>
                <a:ext uri="{FF2B5EF4-FFF2-40B4-BE49-F238E27FC236}">
                  <a16:creationId xmlns:a16="http://schemas.microsoft.com/office/drawing/2014/main" id="{C86F31E6-678C-A4C9-9C2C-DDE6F02C8154}"/>
                </a:ext>
              </a:extLst>
            </p:cNvPr>
            <p:cNvPicPr>
              <a:picLocks noChangeAspect="1"/>
            </p:cNvPicPr>
            <p:nvPr/>
          </p:nvPicPr>
          <p:blipFill>
            <a:blip r:embed="rId7">
              <a:grayscl/>
              <a:alphaModFix amt="53000"/>
            </a:blip>
            <a:srcRect/>
            <a:stretch/>
          </p:blipFill>
          <p:spPr>
            <a:xfrm>
              <a:off x="2126332" y="486818"/>
              <a:ext cx="264639" cy="264639"/>
            </a:xfrm>
            <a:prstGeom prst="rect">
              <a:avLst/>
            </a:prstGeom>
          </p:spPr>
        </p:pic>
        <p:pic>
          <p:nvPicPr>
            <p:cNvPr id="31" name="Picture 30">
              <a:extLst>
                <a:ext uri="{FF2B5EF4-FFF2-40B4-BE49-F238E27FC236}">
                  <a16:creationId xmlns:a16="http://schemas.microsoft.com/office/drawing/2014/main" id="{4C16DA45-FC82-BC6D-276F-5127E3E0BC24}"/>
                </a:ext>
              </a:extLst>
            </p:cNvPr>
            <p:cNvPicPr>
              <a:picLocks noChangeAspect="1"/>
            </p:cNvPicPr>
            <p:nvPr/>
          </p:nvPicPr>
          <p:blipFill>
            <a:blip r:embed="rId8">
              <a:alphaModFix amt="53000"/>
              <a:grayscl/>
            </a:blip>
            <a:stretch>
              <a:fillRect/>
            </a:stretch>
          </p:blipFill>
          <p:spPr>
            <a:xfrm>
              <a:off x="677019" y="497398"/>
              <a:ext cx="264638" cy="264638"/>
            </a:xfrm>
            <a:prstGeom prst="rect">
              <a:avLst/>
            </a:prstGeom>
          </p:spPr>
        </p:pic>
      </p:grpSp>
    </p:spTree>
    <p:extLst>
      <p:ext uri="{BB962C8B-B14F-4D97-AF65-F5344CB8AC3E}">
        <p14:creationId xmlns:p14="http://schemas.microsoft.com/office/powerpoint/2010/main" val="4034355460"/>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Oval 15">
            <a:extLst>
              <a:ext uri="{FF2B5EF4-FFF2-40B4-BE49-F238E27FC236}">
                <a16:creationId xmlns:a16="http://schemas.microsoft.com/office/drawing/2014/main" id="{F37F2603-CCF1-045F-A00A-E40AAC5E3559}"/>
              </a:ext>
              <a:ext uri="{C183D7F6-B498-43B3-948B-1728B52AA6E4}">
                <adec:decorative xmlns:adec="http://schemas.microsoft.com/office/drawing/2017/decorative" val="1"/>
              </a:ext>
            </a:extLst>
          </p:cNvPr>
          <p:cNvSpPr/>
          <p:nvPr/>
        </p:nvSpPr>
        <p:spPr bwMode="auto">
          <a:xfrm>
            <a:off x="4873721" y="36576"/>
            <a:ext cx="6784848" cy="6784848"/>
          </a:xfrm>
          <a:prstGeom prst="ellipse">
            <a:avLst/>
          </a:prstGeom>
          <a:gradFill flip="none" rotWithShape="1">
            <a:gsLst>
              <a:gs pos="0">
                <a:schemeClr val="accent3"/>
              </a:gs>
              <a:gs pos="58000">
                <a:schemeClr val="bg1"/>
              </a:gs>
            </a:gsLst>
            <a:path path="circle">
              <a:fillToRect l="50000" t="50000" r="50000" b="50000"/>
            </a:path>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grpSp>
        <p:nvGrpSpPr>
          <p:cNvPr id="19" name="Group 18">
            <a:extLst>
              <a:ext uri="{FF2B5EF4-FFF2-40B4-BE49-F238E27FC236}">
                <a16:creationId xmlns:a16="http://schemas.microsoft.com/office/drawing/2014/main" id="{D50F743C-CEEB-349C-AF25-91B3BAB3229D}"/>
              </a:ext>
              <a:ext uri="{C183D7F6-B498-43B3-948B-1728B52AA6E4}">
                <adec:decorative xmlns:adec="http://schemas.microsoft.com/office/drawing/2017/decorative" val="1"/>
              </a:ext>
            </a:extLst>
          </p:cNvPr>
          <p:cNvGrpSpPr/>
          <p:nvPr/>
        </p:nvGrpSpPr>
        <p:grpSpPr>
          <a:xfrm>
            <a:off x="3930871" y="1621632"/>
            <a:ext cx="7727699" cy="4216659"/>
            <a:chOff x="4972339" y="1190848"/>
            <a:chExt cx="5968929" cy="3902273"/>
          </a:xfrm>
        </p:grpSpPr>
        <p:sp>
          <p:nvSpPr>
            <p:cNvPr id="17" name="Rectangle: Rounded Corners 4">
              <a:extLst>
                <a:ext uri="{FF2B5EF4-FFF2-40B4-BE49-F238E27FC236}">
                  <a16:creationId xmlns:a16="http://schemas.microsoft.com/office/drawing/2014/main" id="{73303FE6-98B7-56B8-FDA1-D9826923ABD5}"/>
                </a:ext>
              </a:extLst>
            </p:cNvPr>
            <p:cNvSpPr/>
            <p:nvPr/>
          </p:nvSpPr>
          <p:spPr>
            <a:xfrm rot="5400000">
              <a:off x="4483571" y="1679616"/>
              <a:ext cx="3902273" cy="2924738"/>
            </a:xfrm>
            <a:prstGeom prst="roundRect">
              <a:avLst>
                <a:gd name="adj" fmla="val 2723"/>
              </a:avLst>
            </a:prstGeom>
            <a:solidFill>
              <a:schemeClr val="bg1">
                <a:lumMod val="95000"/>
                <a:lumOff val="5000"/>
              </a:schemeClr>
            </a:solidFill>
            <a:ln w="12700" cap="flat" cmpd="sng" algn="ctr">
              <a:solidFill>
                <a:srgbClr val="000000">
                  <a:lumMod val="75000"/>
                  <a:lumOff val="25000"/>
                </a:srgbClr>
              </a:solidFill>
              <a:prstDash val="solid"/>
              <a:headEnd type="none" w="med" len="med"/>
              <a:tailEnd type="none" w="med" len="med"/>
            </a:ln>
            <a:effectLst/>
          </p:spPr>
          <p:txBody>
            <a:bodyPr rot="0" spcFirstLastPara="0" vertOverflow="overflow" horzOverflow="overflow" vert="horz" wrap="square" lIns="72000" tIns="180000" rIns="72000" bIns="144000" numCol="1" spcCol="0" rtlCol="0" fromWordArt="0" anchor="t" anchorCtr="0" forceAA="0" compatLnSpc="1">
              <a:prstTxWarp prst="textNoShape">
                <a:avLst/>
              </a:prstTxWarp>
              <a:noAutofit/>
            </a:bodyPr>
            <a:lstStyle/>
            <a:p>
              <a:pPr algn="ctr"/>
              <a:endParaRPr lang="en-US" sz="1600" kern="0">
                <a:gradFill flip="none" rotWithShape="1">
                  <a:gsLst>
                    <a:gs pos="0">
                      <a:srgbClr val="50E6FF"/>
                    </a:gs>
                    <a:gs pos="100000">
                      <a:srgbClr val="D59DFF"/>
                    </a:gs>
                  </a:gsLst>
                  <a:lin ang="2700000" scaled="1"/>
                  <a:tileRect/>
                </a:gradFill>
                <a:latin typeface="Segoe UI Semibold"/>
              </a:endParaRPr>
            </a:p>
          </p:txBody>
        </p:sp>
        <p:sp>
          <p:nvSpPr>
            <p:cNvPr id="18" name="Rectangle: Rounded Corners 4">
              <a:extLst>
                <a:ext uri="{FF2B5EF4-FFF2-40B4-BE49-F238E27FC236}">
                  <a16:creationId xmlns:a16="http://schemas.microsoft.com/office/drawing/2014/main" id="{5526EB52-FD1F-9AA1-7C68-23838128DB77}"/>
                </a:ext>
              </a:extLst>
            </p:cNvPr>
            <p:cNvSpPr/>
            <p:nvPr/>
          </p:nvSpPr>
          <p:spPr>
            <a:xfrm rot="5400000">
              <a:off x="7783818" y="1423561"/>
              <a:ext cx="3390161" cy="2924738"/>
            </a:xfrm>
            <a:prstGeom prst="roundRect">
              <a:avLst>
                <a:gd name="adj" fmla="val 2723"/>
              </a:avLst>
            </a:prstGeom>
            <a:solidFill>
              <a:schemeClr val="bg1">
                <a:lumMod val="95000"/>
                <a:lumOff val="5000"/>
              </a:schemeClr>
            </a:solidFill>
            <a:ln w="12700" cap="flat" cmpd="sng" algn="ctr">
              <a:solidFill>
                <a:srgbClr val="000000">
                  <a:lumMod val="75000"/>
                  <a:lumOff val="25000"/>
                </a:srgbClr>
              </a:solidFill>
              <a:prstDash val="solid"/>
              <a:headEnd type="none" w="med" len="med"/>
              <a:tailEnd type="none" w="med" len="med"/>
            </a:ln>
            <a:effectLst/>
          </p:spPr>
          <p:txBody>
            <a:bodyPr rot="0" spcFirstLastPara="0" vertOverflow="overflow" horzOverflow="overflow" vert="horz" wrap="square" lIns="72000" tIns="180000" rIns="72000" bIns="144000" numCol="1" spcCol="0" rtlCol="0" fromWordArt="0" anchor="t" anchorCtr="0" forceAA="0" compatLnSpc="1">
              <a:prstTxWarp prst="textNoShape">
                <a:avLst/>
              </a:prstTxWarp>
              <a:noAutofit/>
            </a:bodyPr>
            <a:lstStyle/>
            <a:p>
              <a:pPr algn="ctr"/>
              <a:endParaRPr lang="en-US" sz="1600" kern="0">
                <a:gradFill flip="none" rotWithShape="1">
                  <a:gsLst>
                    <a:gs pos="0">
                      <a:srgbClr val="50E6FF"/>
                    </a:gs>
                    <a:gs pos="100000">
                      <a:srgbClr val="D59DFF"/>
                    </a:gs>
                  </a:gsLst>
                  <a:lin ang="2700000" scaled="1"/>
                  <a:tileRect/>
                </a:gradFill>
                <a:latin typeface="Segoe UI Semibold"/>
              </a:endParaRPr>
            </a:p>
          </p:txBody>
        </p:sp>
      </p:grpSp>
      <p:sp>
        <p:nvSpPr>
          <p:cNvPr id="2" name="Title 1">
            <a:extLst>
              <a:ext uri="{FF2B5EF4-FFF2-40B4-BE49-F238E27FC236}">
                <a16:creationId xmlns:a16="http://schemas.microsoft.com/office/drawing/2014/main" id="{4C10C8E8-3A6A-FEAF-AC0E-4913B472DB25}"/>
              </a:ext>
            </a:extLst>
          </p:cNvPr>
          <p:cNvSpPr>
            <a:spLocks noGrp="1"/>
          </p:cNvSpPr>
          <p:nvPr>
            <p:ph type="title"/>
          </p:nvPr>
        </p:nvSpPr>
        <p:spPr>
          <a:xfrm>
            <a:off x="586740" y="2444115"/>
            <a:ext cx="4153426" cy="1969770"/>
          </a:xfrm>
        </p:spPr>
        <p:txBody>
          <a:bodyPr anchor="ctr"/>
          <a:lstStyle/>
          <a:p>
            <a:r>
              <a:rPr lang="en-US" sz="3200"/>
              <a:t>Do more with </a:t>
            </a:r>
            <a:br>
              <a:rPr lang="en-US" sz="3200"/>
            </a:br>
            <a:r>
              <a:rPr lang="en-US" sz="3200"/>
              <a:t>less without compromising </a:t>
            </a:r>
            <a:br>
              <a:rPr lang="en-US" sz="3200"/>
            </a:br>
            <a:r>
              <a:rPr lang="en-US" sz="3200"/>
              <a:t>quality</a:t>
            </a:r>
          </a:p>
        </p:txBody>
      </p:sp>
      <p:sp>
        <p:nvSpPr>
          <p:cNvPr id="8" name="Content Placeholder 7">
            <a:extLst>
              <a:ext uri="{FF2B5EF4-FFF2-40B4-BE49-F238E27FC236}">
                <a16:creationId xmlns:a16="http://schemas.microsoft.com/office/drawing/2014/main" id="{973DEF86-9AC7-3C58-A754-F04E1114283C}"/>
              </a:ext>
            </a:extLst>
          </p:cNvPr>
          <p:cNvSpPr>
            <a:spLocks noGrp="1"/>
          </p:cNvSpPr>
          <p:nvPr>
            <p:ph sz="quarter" idx="10"/>
          </p:nvPr>
        </p:nvSpPr>
        <p:spPr>
          <a:xfrm>
            <a:off x="4252936" y="2570861"/>
            <a:ext cx="3142389" cy="2934650"/>
          </a:xfrm>
        </p:spPr>
        <p:txBody>
          <a:bodyPr vert="horz" wrap="square" lIns="0" tIns="0" rIns="0" bIns="0" rtlCol="0" anchor="t">
            <a:spAutoFit/>
          </a:bodyPr>
          <a:lstStyle/>
          <a:p>
            <a:pPr marL="0" lvl="1" indent="0">
              <a:spcBef>
                <a:spcPts val="600"/>
              </a:spcBef>
              <a:spcAft>
                <a:spcPts val="1200"/>
              </a:spcAft>
              <a:buNone/>
              <a:defRPr/>
            </a:pPr>
            <a:r>
              <a:rPr lang="en-US" dirty="0">
                <a:solidFill>
                  <a:schemeClr val="accent1"/>
                </a:solidFill>
                <a:latin typeface="+mj-lt"/>
              </a:rPr>
              <a:t>Reduce operating costs</a:t>
            </a:r>
          </a:p>
          <a:p>
            <a:pPr marL="0" lvl="1" indent="0">
              <a:spcBef>
                <a:spcPts val="600"/>
              </a:spcBef>
              <a:spcAft>
                <a:spcPts val="1200"/>
              </a:spcAft>
              <a:buNone/>
              <a:defRPr/>
            </a:pPr>
            <a:r>
              <a:rPr lang="en-US" sz="1200" dirty="0"/>
              <a:t>Visualize, monitor, and forecast cloud spending with </a:t>
            </a:r>
            <a:r>
              <a:rPr lang="en-US" sz="1200" dirty="0">
                <a:solidFill>
                  <a:schemeClr val="accent1"/>
                </a:solidFill>
              </a:rPr>
              <a:t>Microsoft Cost Management</a:t>
            </a:r>
            <a:endParaRPr lang="en-US" sz="1200" dirty="0"/>
          </a:p>
          <a:p>
            <a:pPr marL="0" lvl="1" indent="0" defTabSz="914367" fontAlgn="ctr">
              <a:lnSpc>
                <a:spcPct val="90000"/>
              </a:lnSpc>
              <a:spcBef>
                <a:spcPts val="600"/>
              </a:spcBef>
              <a:spcAft>
                <a:spcPts val="1200"/>
              </a:spcAft>
              <a:buClr>
                <a:schemeClr val="tx1"/>
              </a:buClr>
              <a:buSzPct val="100000"/>
              <a:buNone/>
              <a:defRPr/>
            </a:pPr>
            <a:r>
              <a:rPr lang="en-US" sz="1200" dirty="0">
                <a:solidFill>
                  <a:schemeClr val="accent1"/>
                </a:solidFill>
              </a:rPr>
              <a:t>Azure savings plan for compute – new, flexible pricing model </a:t>
            </a:r>
            <a:r>
              <a:rPr lang="en-US" sz="1200" dirty="0"/>
              <a:t>needing less labor to monitor and budget Azure investments</a:t>
            </a:r>
          </a:p>
          <a:p>
            <a:pPr marL="0" lvl="1" indent="0" defTabSz="914367" fontAlgn="ctr">
              <a:lnSpc>
                <a:spcPct val="90000"/>
              </a:lnSpc>
              <a:spcBef>
                <a:spcPts val="600"/>
              </a:spcBef>
              <a:spcAft>
                <a:spcPts val="1200"/>
              </a:spcAft>
              <a:buClr>
                <a:schemeClr val="tx1"/>
              </a:buClr>
              <a:buSzPct val="100000"/>
              <a:buNone/>
              <a:defRPr/>
            </a:pPr>
            <a:r>
              <a:rPr lang="en-US" sz="1200" dirty="0">
                <a:solidFill>
                  <a:schemeClr val="accent1"/>
                </a:solidFill>
              </a:rPr>
              <a:t>Azure Advisor </a:t>
            </a:r>
            <a:r>
              <a:rPr lang="en-US" sz="1200" dirty="0"/>
              <a:t>provides proactive, actionable recommendations to save costs </a:t>
            </a:r>
          </a:p>
          <a:p>
            <a:pPr marL="0" lvl="1" indent="0" defTabSz="914367" fontAlgn="ctr">
              <a:lnSpc>
                <a:spcPct val="90000"/>
              </a:lnSpc>
              <a:spcBef>
                <a:spcPts val="600"/>
              </a:spcBef>
              <a:spcAft>
                <a:spcPts val="1200"/>
              </a:spcAft>
              <a:buClr>
                <a:schemeClr val="tx1"/>
              </a:buClr>
              <a:buSzPct val="100000"/>
              <a:buNone/>
              <a:defRPr/>
            </a:pPr>
            <a:r>
              <a:rPr lang="en-US" sz="1200" dirty="0"/>
              <a:t>Eliminate inefficiencies and put </a:t>
            </a:r>
            <a:r>
              <a:rPr lang="en-US" sz="1200" dirty="0">
                <a:solidFill>
                  <a:schemeClr val="accent1"/>
                </a:solidFill>
              </a:rPr>
              <a:t>data-driven decision making</a:t>
            </a:r>
            <a:r>
              <a:rPr lang="en-US" sz="1200" dirty="0"/>
              <a:t> in the hands of the right people with </a:t>
            </a:r>
            <a:r>
              <a:rPr lang="en-US" sz="1200" dirty="0">
                <a:solidFill>
                  <a:schemeClr val="accent1"/>
                </a:solidFill>
              </a:rPr>
              <a:t>Azure Synapse Analytics</a:t>
            </a:r>
          </a:p>
        </p:txBody>
      </p:sp>
      <p:sp>
        <p:nvSpPr>
          <p:cNvPr id="9" name="Content Placeholder 7">
            <a:extLst>
              <a:ext uri="{FF2B5EF4-FFF2-40B4-BE49-F238E27FC236}">
                <a16:creationId xmlns:a16="http://schemas.microsoft.com/office/drawing/2014/main" id="{39EFCB0D-1561-4EBC-1355-E4F550A80360}"/>
              </a:ext>
            </a:extLst>
          </p:cNvPr>
          <p:cNvSpPr txBox="1">
            <a:spLocks/>
          </p:cNvSpPr>
          <p:nvPr/>
        </p:nvSpPr>
        <p:spPr>
          <a:xfrm>
            <a:off x="8235700" y="2570861"/>
            <a:ext cx="3059213" cy="3212418"/>
          </a:xfrm>
          <a:prstGeom prst="rect">
            <a:avLst/>
          </a:prstGeom>
        </p:spPr>
        <p:txBody>
          <a:bodyPr vert="horz" wrap="square" lIns="0" tIns="0" rIns="0" bIns="0" rtlCol="0" anchor="t">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1" indent="0" algn="l" defTabSz="932742" rtl="0" eaLnBrk="1" fontAlgn="auto" latinLnBrk="0" hangingPunct="1">
              <a:lnSpc>
                <a:spcPct val="100000"/>
              </a:lnSpc>
              <a:spcBef>
                <a:spcPts val="600"/>
              </a:spcBef>
              <a:spcAft>
                <a:spcPts val="1200"/>
              </a:spcAft>
              <a:buClrTx/>
              <a:buSzPct val="90000"/>
              <a:buFont typeface="Wingdings" panose="05000000000000000000" pitchFamily="2" charset="2"/>
              <a:buNone/>
              <a:tabLst/>
              <a:defRPr/>
            </a:pPr>
            <a:r>
              <a:rPr lang="en-US" dirty="0">
                <a:solidFill>
                  <a:schemeClr val="accent1"/>
                </a:solidFill>
                <a:latin typeface="+mj-lt"/>
              </a:rPr>
              <a:t>Achieve better quality</a:t>
            </a:r>
          </a:p>
          <a:p>
            <a:pPr marL="0" marR="0" lvl="1" indent="0" algn="l" defTabSz="932742" rtl="0" eaLnBrk="1" fontAlgn="auto" latinLnBrk="0" hangingPunct="1">
              <a:lnSpc>
                <a:spcPct val="100000"/>
              </a:lnSpc>
              <a:spcBef>
                <a:spcPts val="600"/>
              </a:spcBef>
              <a:spcAft>
                <a:spcPts val="1200"/>
              </a:spcAft>
              <a:buClrTx/>
              <a:buSzPct val="90000"/>
              <a:buFont typeface="Wingdings" panose="05000000000000000000" pitchFamily="2" charset="2"/>
              <a:buNone/>
              <a:tabLst/>
              <a:defRPr/>
            </a:pPr>
            <a:r>
              <a:rPr kumimoji="0" lang="en-US" sz="1200" b="0" i="0" u="none" strike="noStrike" kern="1200" cap="none" spc="0" normalizeH="0" baseline="0" noProof="0" dirty="0">
                <a:ln>
                  <a:noFill/>
                </a:ln>
                <a:solidFill>
                  <a:schemeClr val="accent1"/>
                </a:solidFill>
                <a:effectLst/>
                <a:uLnTx/>
                <a:uFillTx/>
                <a:latin typeface="Segoe UI"/>
                <a:ea typeface="+mn-ea"/>
                <a:cs typeface="+mn-cs"/>
              </a:rPr>
              <a:t>World-class best practices</a:t>
            </a:r>
            <a:r>
              <a:rPr kumimoji="0" lang="en-US" sz="1200" b="0" i="0" u="none" strike="noStrike" kern="1200" cap="none" spc="0" normalizeH="0" baseline="0" noProof="0" dirty="0">
                <a:ln>
                  <a:noFill/>
                </a:ln>
                <a:effectLst/>
                <a:uLnTx/>
                <a:uFillTx/>
                <a:latin typeface="Segoe UI"/>
                <a:ea typeface="+mn-ea"/>
                <a:cs typeface="+mn-cs"/>
              </a:rPr>
              <a:t> and reference architectures to help optimize and deploy workloads</a:t>
            </a:r>
          </a:p>
          <a:p>
            <a:pPr marL="0" marR="0" lvl="1" indent="0" algn="l" defTabSz="914367" rtl="0" eaLnBrk="1" fontAlgn="ctr" latinLnBrk="0" hangingPunct="1">
              <a:lnSpc>
                <a:spcPct val="90000"/>
              </a:lnSpc>
              <a:spcBef>
                <a:spcPts val="600"/>
              </a:spcBef>
              <a:spcAft>
                <a:spcPts val="1200"/>
              </a:spcAft>
              <a:buClr>
                <a:srgbClr val="FFFFFF"/>
              </a:buClr>
              <a:buSzPct val="100000"/>
              <a:buNone/>
              <a:tabLst/>
              <a:defRPr/>
            </a:pPr>
            <a:r>
              <a:rPr lang="en-US" sz="1200" dirty="0">
                <a:solidFill>
                  <a:schemeClr val="accent1"/>
                </a:solidFill>
                <a:latin typeface="Segoe UI"/>
              </a:rPr>
              <a:t>Automated evaluation tools and self-serve assessments </a:t>
            </a:r>
            <a:r>
              <a:rPr lang="en-US" sz="1200" dirty="0">
                <a:latin typeface="Segoe UI"/>
              </a:rPr>
              <a:t>for personalized, workload-specific recommendations </a:t>
            </a:r>
            <a:endParaRPr kumimoji="0" lang="en-US" sz="1200" b="0" i="0" u="none" strike="noStrike" kern="1200" cap="none" spc="0" normalizeH="0" baseline="0" noProof="0" dirty="0">
              <a:ln>
                <a:noFill/>
              </a:ln>
              <a:effectLst/>
              <a:uLnTx/>
              <a:uFillTx/>
              <a:latin typeface="Segoe UI"/>
              <a:ea typeface="+mn-ea"/>
              <a:cs typeface="+mn-cs"/>
            </a:endParaRPr>
          </a:p>
          <a:p>
            <a:pPr marL="0" marR="0" lvl="1" indent="0" algn="l" defTabSz="914367" rtl="0" eaLnBrk="1" fontAlgn="ctr" latinLnBrk="0" hangingPunct="1">
              <a:lnSpc>
                <a:spcPct val="90000"/>
              </a:lnSpc>
              <a:spcBef>
                <a:spcPts val="600"/>
              </a:spcBef>
              <a:spcAft>
                <a:spcPts val="1200"/>
              </a:spcAft>
              <a:buClr>
                <a:srgbClr val="FFFFFF"/>
              </a:buClr>
              <a:buSzPct val="100000"/>
              <a:buNone/>
              <a:tabLst/>
              <a:defRPr/>
            </a:pPr>
            <a:r>
              <a:rPr lang="en-US" sz="1200" dirty="0">
                <a:latin typeface="Segoe UI"/>
              </a:rPr>
              <a:t>Achieve an Azure Advisor score &gt;70 to </a:t>
            </a:r>
            <a:r>
              <a:rPr lang="en-US" sz="1200" dirty="0">
                <a:solidFill>
                  <a:schemeClr val="accent1"/>
                </a:solidFill>
                <a:latin typeface="Segoe UI"/>
              </a:rPr>
              <a:t>reduce the odds of application failure</a:t>
            </a:r>
          </a:p>
          <a:p>
            <a:pPr marL="0" marR="0" lvl="1" indent="0" algn="l" defTabSz="914367" rtl="0" eaLnBrk="1" fontAlgn="ctr" latinLnBrk="0" hangingPunct="1">
              <a:lnSpc>
                <a:spcPct val="90000"/>
              </a:lnSpc>
              <a:spcBef>
                <a:spcPts val="600"/>
              </a:spcBef>
              <a:spcAft>
                <a:spcPts val="1200"/>
              </a:spcAft>
              <a:buClr>
                <a:srgbClr val="FFFFFF"/>
              </a:buClr>
              <a:buSzPct val="100000"/>
              <a:buNone/>
              <a:tabLst/>
              <a:defRPr/>
            </a:pPr>
            <a:endParaRPr kumimoji="0" lang="en-US" sz="1200" b="0" i="0" u="none" strike="noStrike" kern="1200" cap="none" spc="0" normalizeH="0" baseline="0" noProof="0" dirty="0">
              <a:ln>
                <a:noFill/>
              </a:ln>
              <a:solidFill>
                <a:schemeClr val="accent1"/>
              </a:solidFill>
              <a:effectLst/>
              <a:uLnTx/>
              <a:uFillTx/>
              <a:latin typeface="Segoe UI"/>
              <a:ea typeface="+mn-ea"/>
              <a:cs typeface="+mn-cs"/>
            </a:endParaRPr>
          </a:p>
          <a:p>
            <a:pPr marL="0" marR="0" lvl="1" indent="0" algn="l" defTabSz="914367" rtl="0" eaLnBrk="1" fontAlgn="ctr" latinLnBrk="0" hangingPunct="1">
              <a:lnSpc>
                <a:spcPct val="90000"/>
              </a:lnSpc>
              <a:spcBef>
                <a:spcPts val="600"/>
              </a:spcBef>
              <a:spcAft>
                <a:spcPts val="1200"/>
              </a:spcAft>
              <a:buClr>
                <a:srgbClr val="FFFFFF"/>
              </a:buClr>
              <a:buSzPct val="100000"/>
              <a:buNone/>
              <a:tabLst/>
              <a:defRPr/>
            </a:pPr>
            <a:endParaRPr kumimoji="0" lang="en-US" sz="1400" b="0" i="0" u="none" strike="noStrike" kern="1200" cap="none" spc="0" normalizeH="0" baseline="0" noProof="0" dirty="0">
              <a:ln>
                <a:noFill/>
              </a:ln>
              <a:solidFill>
                <a:schemeClr val="accent1"/>
              </a:solidFill>
              <a:effectLst/>
              <a:uLnTx/>
              <a:uFillTx/>
              <a:latin typeface="Segoe UI"/>
              <a:ea typeface="+mn-ea"/>
              <a:cs typeface="+mn-cs"/>
            </a:endParaRPr>
          </a:p>
        </p:txBody>
      </p:sp>
      <p:sp>
        <p:nvSpPr>
          <p:cNvPr id="12" name="TextBox 11">
            <a:extLst>
              <a:ext uri="{FF2B5EF4-FFF2-40B4-BE49-F238E27FC236}">
                <a16:creationId xmlns:a16="http://schemas.microsoft.com/office/drawing/2014/main" id="{81078734-57BD-5F7E-519F-D6C48506AC77}"/>
              </a:ext>
            </a:extLst>
          </p:cNvPr>
          <p:cNvSpPr txBox="1"/>
          <p:nvPr/>
        </p:nvSpPr>
        <p:spPr>
          <a:xfrm>
            <a:off x="2675554" y="565021"/>
            <a:ext cx="2456885" cy="138499"/>
          </a:xfrm>
          <a:prstGeom prst="rect">
            <a:avLst/>
          </a:prstGeom>
          <a:noFill/>
        </p:spPr>
        <p:txBody>
          <a:bodyPr wrap="square" lIns="0" tIns="0" rIns="0" bIns="0">
            <a:spAutoFit/>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300" normalizeH="0" baseline="0" noProof="0">
                <a:ln>
                  <a:noFill/>
                </a:ln>
                <a:solidFill>
                  <a:schemeClr val="accent1"/>
                </a:solidFill>
                <a:effectLst/>
                <a:uLnTx/>
                <a:uFillTx/>
                <a:latin typeface="Segoe UI Semibold"/>
                <a:ea typeface="+mn-ea"/>
                <a:cs typeface="+mn-cs"/>
              </a:rPr>
              <a:t>OPTIMIZE CLOUD COSTS</a:t>
            </a:r>
          </a:p>
        </p:txBody>
      </p:sp>
      <p:cxnSp>
        <p:nvCxnSpPr>
          <p:cNvPr id="22" name="Straight Connector 21">
            <a:extLst>
              <a:ext uri="{FF2B5EF4-FFF2-40B4-BE49-F238E27FC236}">
                <a16:creationId xmlns:a16="http://schemas.microsoft.com/office/drawing/2014/main" id="{FED74367-7D5F-3F92-F72A-D43837ACCB7B}"/>
              </a:ext>
              <a:ext uri="{C183D7F6-B498-43B3-948B-1728B52AA6E4}">
                <adec:decorative xmlns:adec="http://schemas.microsoft.com/office/drawing/2017/decorative" val="1"/>
              </a:ext>
            </a:extLst>
          </p:cNvPr>
          <p:cNvCxnSpPr>
            <a:cxnSpLocks/>
          </p:cNvCxnSpPr>
          <p:nvPr/>
        </p:nvCxnSpPr>
        <p:spPr>
          <a:xfrm>
            <a:off x="4252936" y="3590762"/>
            <a:ext cx="3142389" cy="0"/>
          </a:xfrm>
          <a:prstGeom prst="line">
            <a:avLst/>
          </a:prstGeom>
          <a:ln>
            <a:solidFill>
              <a:schemeClr val="accent2"/>
            </a:solidFill>
            <a:prstDash val="sysDot"/>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F90E8E00-8025-C4A3-3DBD-C18D3DBCBA4C}"/>
              </a:ext>
              <a:ext uri="{C183D7F6-B498-43B3-948B-1728B52AA6E4}">
                <adec:decorative xmlns:adec="http://schemas.microsoft.com/office/drawing/2017/decorative" val="1"/>
              </a:ext>
            </a:extLst>
          </p:cNvPr>
          <p:cNvCxnSpPr>
            <a:cxnSpLocks/>
          </p:cNvCxnSpPr>
          <p:nvPr/>
        </p:nvCxnSpPr>
        <p:spPr>
          <a:xfrm>
            <a:off x="4252936" y="4308089"/>
            <a:ext cx="3142389" cy="0"/>
          </a:xfrm>
          <a:prstGeom prst="line">
            <a:avLst/>
          </a:prstGeom>
          <a:ln>
            <a:solidFill>
              <a:schemeClr val="accent2"/>
            </a:solidFill>
            <a:prstDash val="sysDot"/>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D96CFF45-AF1B-C189-B9D2-BEFE1A51C447}"/>
              </a:ext>
              <a:ext uri="{C183D7F6-B498-43B3-948B-1728B52AA6E4}">
                <adec:decorative xmlns:adec="http://schemas.microsoft.com/office/drawing/2017/decorative" val="1"/>
              </a:ext>
            </a:extLst>
          </p:cNvPr>
          <p:cNvCxnSpPr>
            <a:cxnSpLocks/>
          </p:cNvCxnSpPr>
          <p:nvPr/>
        </p:nvCxnSpPr>
        <p:spPr>
          <a:xfrm>
            <a:off x="8204826" y="3757972"/>
            <a:ext cx="3142389" cy="0"/>
          </a:xfrm>
          <a:prstGeom prst="line">
            <a:avLst/>
          </a:prstGeom>
          <a:ln>
            <a:solidFill>
              <a:schemeClr val="accent2"/>
            </a:solidFill>
            <a:prstDash val="sysDot"/>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1048651B-6CA6-2719-438B-DC93C12EC7D8}"/>
              </a:ext>
              <a:ext uri="{C183D7F6-B498-43B3-948B-1728B52AA6E4}">
                <adec:decorative xmlns:adec="http://schemas.microsoft.com/office/drawing/2017/decorative" val="1"/>
              </a:ext>
            </a:extLst>
          </p:cNvPr>
          <p:cNvCxnSpPr>
            <a:cxnSpLocks/>
          </p:cNvCxnSpPr>
          <p:nvPr/>
        </p:nvCxnSpPr>
        <p:spPr>
          <a:xfrm>
            <a:off x="8204826" y="4481838"/>
            <a:ext cx="3142389" cy="0"/>
          </a:xfrm>
          <a:prstGeom prst="line">
            <a:avLst/>
          </a:prstGeom>
          <a:ln>
            <a:solidFill>
              <a:schemeClr val="accent2"/>
            </a:solidFill>
            <a:prstDash val="sysDot"/>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7" name="arrow_15_bidi" descr="Icon of a arrow in a circle pointed down">
            <a:extLst>
              <a:ext uri="{FF2B5EF4-FFF2-40B4-BE49-F238E27FC236}">
                <a16:creationId xmlns:a16="http://schemas.microsoft.com/office/drawing/2014/main" id="{DCB3381B-8C33-132B-0E61-03EADF581D93}"/>
              </a:ext>
            </a:extLst>
          </p:cNvPr>
          <p:cNvSpPr>
            <a:spLocks noChangeAspect="1" noEditPoints="1"/>
          </p:cNvSpPr>
          <p:nvPr/>
        </p:nvSpPr>
        <p:spPr bwMode="auto">
          <a:xfrm rot="16200000" flipH="1">
            <a:off x="4232335" y="1919992"/>
            <a:ext cx="367430" cy="365760"/>
          </a:xfrm>
          <a:custGeom>
            <a:avLst/>
            <a:gdLst>
              <a:gd name="T0" fmla="*/ 0 w 304"/>
              <a:gd name="T1" fmla="*/ 151 h 303"/>
              <a:gd name="T2" fmla="*/ 152 w 304"/>
              <a:gd name="T3" fmla="*/ 0 h 303"/>
              <a:gd name="T4" fmla="*/ 304 w 304"/>
              <a:gd name="T5" fmla="*/ 151 h 303"/>
              <a:gd name="T6" fmla="*/ 152 w 304"/>
              <a:gd name="T7" fmla="*/ 303 h 303"/>
              <a:gd name="T8" fmla="*/ 0 w 304"/>
              <a:gd name="T9" fmla="*/ 151 h 303"/>
              <a:gd name="T10" fmla="*/ 151 w 304"/>
              <a:gd name="T11" fmla="*/ 223 h 303"/>
              <a:gd name="T12" fmla="*/ 223 w 304"/>
              <a:gd name="T13" fmla="*/ 151 h 303"/>
              <a:gd name="T14" fmla="*/ 151 w 304"/>
              <a:gd name="T15" fmla="*/ 79 h 303"/>
              <a:gd name="T16" fmla="*/ 223 w 304"/>
              <a:gd name="T17" fmla="*/ 151 h 303"/>
              <a:gd name="T18" fmla="*/ 73 w 304"/>
              <a:gd name="T19" fmla="*/ 151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4" h="303">
                <a:moveTo>
                  <a:pt x="0" y="151"/>
                </a:moveTo>
                <a:cubicBezTo>
                  <a:pt x="0" y="68"/>
                  <a:pt x="68" y="0"/>
                  <a:pt x="152" y="0"/>
                </a:cubicBezTo>
                <a:cubicBezTo>
                  <a:pt x="236" y="0"/>
                  <a:pt x="304" y="68"/>
                  <a:pt x="304" y="151"/>
                </a:cubicBezTo>
                <a:cubicBezTo>
                  <a:pt x="304" y="235"/>
                  <a:pt x="236" y="303"/>
                  <a:pt x="152" y="303"/>
                </a:cubicBezTo>
                <a:cubicBezTo>
                  <a:pt x="68" y="303"/>
                  <a:pt x="0" y="235"/>
                  <a:pt x="0" y="151"/>
                </a:cubicBezTo>
                <a:close/>
                <a:moveTo>
                  <a:pt x="151" y="223"/>
                </a:moveTo>
                <a:cubicBezTo>
                  <a:pt x="223" y="151"/>
                  <a:pt x="223" y="151"/>
                  <a:pt x="223" y="151"/>
                </a:cubicBezTo>
                <a:cubicBezTo>
                  <a:pt x="151" y="79"/>
                  <a:pt x="151" y="79"/>
                  <a:pt x="151" y="79"/>
                </a:cubicBezTo>
                <a:moveTo>
                  <a:pt x="223" y="151"/>
                </a:moveTo>
                <a:cubicBezTo>
                  <a:pt x="73" y="151"/>
                  <a:pt x="73" y="151"/>
                  <a:pt x="73" y="151"/>
                </a:cubicBezTo>
              </a:path>
            </a:pathLst>
          </a:custGeom>
          <a:noFill/>
          <a:ln w="15875" cap="sq">
            <a:gradFill>
              <a:gsLst>
                <a:gs pos="0">
                  <a:schemeClr val="accent1"/>
                </a:gs>
                <a:gs pos="100000">
                  <a:schemeClr val="accent2"/>
                </a:gs>
              </a:gsLst>
              <a:lin ang="0" scaled="0"/>
            </a:gradFill>
            <a:prstDash val="solid"/>
            <a:miter lim="800000"/>
            <a:headEnd/>
            <a:tailEnd/>
          </a:ln>
        </p:spPr>
        <p:txBody>
          <a:bodyPr vert="horz" wrap="square" lIns="91440" tIns="45720" rIns="91440" bIns="45720" numCol="1" anchor="t" anchorCtr="0" compatLnSpc="1">
            <a:prstTxWarp prst="textNoShape">
              <a:avLst/>
            </a:prstTxWarp>
          </a:bodyPr>
          <a:lstStyle/>
          <a:p>
            <a:endParaRPr lang="en-US" sz="900">
              <a:gradFill>
                <a:gsLst>
                  <a:gs pos="0">
                    <a:srgbClr val="505050"/>
                  </a:gs>
                  <a:gs pos="100000">
                    <a:srgbClr val="505050"/>
                  </a:gs>
                </a:gsLst>
                <a:lin ang="5400000" scaled="1"/>
              </a:gradFill>
            </a:endParaRPr>
          </a:p>
        </p:txBody>
      </p:sp>
      <p:sp>
        <p:nvSpPr>
          <p:cNvPr id="29" name="arrow_15_bidi" descr="Icon of a arrow in a circle pointed up">
            <a:extLst>
              <a:ext uri="{FF2B5EF4-FFF2-40B4-BE49-F238E27FC236}">
                <a16:creationId xmlns:a16="http://schemas.microsoft.com/office/drawing/2014/main" id="{AD71DB76-3039-654F-28C6-6A6ACCB3018F}"/>
              </a:ext>
            </a:extLst>
          </p:cNvPr>
          <p:cNvSpPr>
            <a:spLocks noChangeAspect="1" noEditPoints="1"/>
          </p:cNvSpPr>
          <p:nvPr/>
        </p:nvSpPr>
        <p:spPr bwMode="auto">
          <a:xfrm rot="5400000" flipH="1">
            <a:off x="8234865" y="1919992"/>
            <a:ext cx="367430" cy="365760"/>
          </a:xfrm>
          <a:custGeom>
            <a:avLst/>
            <a:gdLst>
              <a:gd name="T0" fmla="*/ 0 w 304"/>
              <a:gd name="T1" fmla="*/ 151 h 303"/>
              <a:gd name="T2" fmla="*/ 152 w 304"/>
              <a:gd name="T3" fmla="*/ 0 h 303"/>
              <a:gd name="T4" fmla="*/ 304 w 304"/>
              <a:gd name="T5" fmla="*/ 151 h 303"/>
              <a:gd name="T6" fmla="*/ 152 w 304"/>
              <a:gd name="T7" fmla="*/ 303 h 303"/>
              <a:gd name="T8" fmla="*/ 0 w 304"/>
              <a:gd name="T9" fmla="*/ 151 h 303"/>
              <a:gd name="T10" fmla="*/ 151 w 304"/>
              <a:gd name="T11" fmla="*/ 223 h 303"/>
              <a:gd name="T12" fmla="*/ 223 w 304"/>
              <a:gd name="T13" fmla="*/ 151 h 303"/>
              <a:gd name="T14" fmla="*/ 151 w 304"/>
              <a:gd name="T15" fmla="*/ 79 h 303"/>
              <a:gd name="T16" fmla="*/ 223 w 304"/>
              <a:gd name="T17" fmla="*/ 151 h 303"/>
              <a:gd name="T18" fmla="*/ 73 w 304"/>
              <a:gd name="T19" fmla="*/ 151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4" h="303">
                <a:moveTo>
                  <a:pt x="0" y="151"/>
                </a:moveTo>
                <a:cubicBezTo>
                  <a:pt x="0" y="68"/>
                  <a:pt x="68" y="0"/>
                  <a:pt x="152" y="0"/>
                </a:cubicBezTo>
                <a:cubicBezTo>
                  <a:pt x="236" y="0"/>
                  <a:pt x="304" y="68"/>
                  <a:pt x="304" y="151"/>
                </a:cubicBezTo>
                <a:cubicBezTo>
                  <a:pt x="304" y="235"/>
                  <a:pt x="236" y="303"/>
                  <a:pt x="152" y="303"/>
                </a:cubicBezTo>
                <a:cubicBezTo>
                  <a:pt x="68" y="303"/>
                  <a:pt x="0" y="235"/>
                  <a:pt x="0" y="151"/>
                </a:cubicBezTo>
                <a:close/>
                <a:moveTo>
                  <a:pt x="151" y="223"/>
                </a:moveTo>
                <a:cubicBezTo>
                  <a:pt x="223" y="151"/>
                  <a:pt x="223" y="151"/>
                  <a:pt x="223" y="151"/>
                </a:cubicBezTo>
                <a:cubicBezTo>
                  <a:pt x="151" y="79"/>
                  <a:pt x="151" y="79"/>
                  <a:pt x="151" y="79"/>
                </a:cubicBezTo>
                <a:moveTo>
                  <a:pt x="223" y="151"/>
                </a:moveTo>
                <a:cubicBezTo>
                  <a:pt x="73" y="151"/>
                  <a:pt x="73" y="151"/>
                  <a:pt x="73" y="151"/>
                </a:cubicBezTo>
              </a:path>
            </a:pathLst>
          </a:custGeom>
          <a:noFill/>
          <a:ln w="15875" cap="sq">
            <a:gradFill>
              <a:gsLst>
                <a:gs pos="0">
                  <a:schemeClr val="accent1"/>
                </a:gs>
                <a:gs pos="100000">
                  <a:schemeClr val="accent2"/>
                </a:gs>
              </a:gsLst>
              <a:lin ang="0" scaled="0"/>
            </a:gradFill>
            <a:prstDash val="solid"/>
            <a:miter lim="800000"/>
            <a:headEnd/>
            <a:tailEnd/>
          </a:ln>
        </p:spPr>
        <p:txBody>
          <a:bodyPr vert="horz" wrap="square" lIns="91440" tIns="45720" rIns="91440" bIns="45720" numCol="1" anchor="t" anchorCtr="0" compatLnSpc="1">
            <a:prstTxWarp prst="textNoShape">
              <a:avLst/>
            </a:prstTxWarp>
          </a:bodyPr>
          <a:lstStyle/>
          <a:p>
            <a:endParaRPr lang="en-US" sz="900">
              <a:gradFill>
                <a:gsLst>
                  <a:gs pos="0">
                    <a:srgbClr val="505050"/>
                  </a:gs>
                  <a:gs pos="100000">
                    <a:srgbClr val="505050"/>
                  </a:gs>
                </a:gsLst>
                <a:lin ang="5400000" scaled="1"/>
              </a:gradFill>
            </a:endParaRPr>
          </a:p>
        </p:txBody>
      </p:sp>
      <p:cxnSp>
        <p:nvCxnSpPr>
          <p:cNvPr id="33" name="Straight Connector 32">
            <a:extLst>
              <a:ext uri="{FF2B5EF4-FFF2-40B4-BE49-F238E27FC236}">
                <a16:creationId xmlns:a16="http://schemas.microsoft.com/office/drawing/2014/main" id="{828B3AD1-6F84-D398-5A51-538C31409340}"/>
              </a:ext>
              <a:ext uri="{C183D7F6-B498-43B3-948B-1728B52AA6E4}">
                <adec:decorative xmlns:adec="http://schemas.microsoft.com/office/drawing/2017/decorative" val="1"/>
              </a:ext>
            </a:extLst>
          </p:cNvPr>
          <p:cNvCxnSpPr>
            <a:cxnSpLocks/>
          </p:cNvCxnSpPr>
          <p:nvPr/>
        </p:nvCxnSpPr>
        <p:spPr>
          <a:xfrm>
            <a:off x="4252936" y="4869403"/>
            <a:ext cx="3142389" cy="0"/>
          </a:xfrm>
          <a:prstGeom prst="line">
            <a:avLst/>
          </a:prstGeom>
          <a:ln>
            <a:solidFill>
              <a:schemeClr val="accent2"/>
            </a:solidFill>
            <a:prstDash val="sysDot"/>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34" name="Group 33" descr="Optimize cloud cost navigation">
            <a:extLst>
              <a:ext uri="{FF2B5EF4-FFF2-40B4-BE49-F238E27FC236}">
                <a16:creationId xmlns:a16="http://schemas.microsoft.com/office/drawing/2014/main" id="{7F887D04-8E7A-92FF-694E-3B5DDF2C8899}"/>
              </a:ext>
            </a:extLst>
          </p:cNvPr>
          <p:cNvGrpSpPr/>
          <p:nvPr/>
        </p:nvGrpSpPr>
        <p:grpSpPr>
          <a:xfrm>
            <a:off x="583828" y="409640"/>
            <a:ext cx="1894901" cy="440154"/>
            <a:chOff x="583828" y="409640"/>
            <a:chExt cx="1894901" cy="440154"/>
          </a:xfrm>
        </p:grpSpPr>
        <p:cxnSp>
          <p:nvCxnSpPr>
            <p:cNvPr id="35" name="Straight Connector 34">
              <a:extLst>
                <a:ext uri="{FF2B5EF4-FFF2-40B4-BE49-F238E27FC236}">
                  <a16:creationId xmlns:a16="http://schemas.microsoft.com/office/drawing/2014/main" id="{33DE6FAE-E07C-8703-6957-5CA57F93E289}"/>
                </a:ext>
                <a:ext uri="{C183D7F6-B498-43B3-948B-1728B52AA6E4}">
                  <adec:decorative xmlns:adec="http://schemas.microsoft.com/office/drawing/2017/decorative" val="1"/>
                </a:ext>
              </a:extLst>
            </p:cNvPr>
            <p:cNvCxnSpPr>
              <a:cxnSpLocks/>
            </p:cNvCxnSpPr>
            <p:nvPr/>
          </p:nvCxnSpPr>
          <p:spPr>
            <a:xfrm flipH="1">
              <a:off x="1018274" y="629717"/>
              <a:ext cx="1014593" cy="0"/>
            </a:xfrm>
            <a:prstGeom prst="line">
              <a:avLst/>
            </a:prstGeom>
            <a:solidFill>
              <a:schemeClr val="bg1">
                <a:lumMod val="95000"/>
                <a:lumOff val="5000"/>
              </a:schemeClr>
            </a:solidFill>
            <a:ln w="12700" cap="flat" cmpd="sng" algn="ctr">
              <a:solidFill>
                <a:srgbClr val="000000">
                  <a:lumMod val="75000"/>
                  <a:lumOff val="25000"/>
                </a:srgbClr>
              </a:solidFill>
              <a:prstDash val="solid"/>
              <a:headEnd type="none" w="med" len="med"/>
              <a:tailEnd type="none" w="med" len="med"/>
            </a:ln>
            <a:effectLst/>
          </p:spPr>
        </p:cxnSp>
        <p:sp>
          <p:nvSpPr>
            <p:cNvPr id="36" name="Oval 35">
              <a:extLst>
                <a:ext uri="{FF2B5EF4-FFF2-40B4-BE49-F238E27FC236}">
                  <a16:creationId xmlns:a16="http://schemas.microsoft.com/office/drawing/2014/main" id="{B2A3FC5C-AB08-80B7-318B-9EACE868223A}"/>
                </a:ext>
              </a:extLst>
            </p:cNvPr>
            <p:cNvSpPr/>
            <p:nvPr/>
          </p:nvSpPr>
          <p:spPr bwMode="auto">
            <a:xfrm>
              <a:off x="583828" y="409640"/>
              <a:ext cx="440154" cy="440154"/>
            </a:xfrm>
            <a:prstGeom prst="ellipse">
              <a:avLst/>
            </a:prstGeom>
            <a:solidFill>
              <a:schemeClr val="bg1">
                <a:lumMod val="95000"/>
                <a:lumOff val="5000"/>
              </a:schemeClr>
            </a:solidFill>
            <a:ln w="12700" cap="flat" cmpd="sng" algn="ctr">
              <a:solidFill>
                <a:srgbClr val="000000">
                  <a:lumMod val="75000"/>
                  <a:lumOff val="25000"/>
                </a:srgbClr>
              </a:solidFill>
              <a:prstDash val="solid"/>
              <a:headEnd type="none" w="med" len="med"/>
              <a:tailEnd type="none" w="med" len="med"/>
            </a:ln>
            <a:effectLst/>
          </p:spPr>
          <p:txBody>
            <a:bodyPr rot="0" spcFirstLastPara="0" vertOverflow="overflow" horzOverflow="overflow" vert="horz" wrap="square" lIns="72000" tIns="180000" rIns="72000" bIns="144000" numCol="1" spcCol="0" rtlCol="0" fromWordArt="0" anchor="t" anchorCtr="0" forceAA="0" compatLnSpc="1">
              <a:prstTxWarp prst="textNoShape">
                <a:avLst/>
              </a:prstTxWarp>
              <a:noAutofit/>
            </a:bodyPr>
            <a:lstStyle/>
            <a:p>
              <a:pPr algn="ctr"/>
              <a:endParaRPr lang="en-US" sz="1600" kern="0" err="1">
                <a:gradFill flip="none" rotWithShape="1">
                  <a:gsLst>
                    <a:gs pos="0">
                      <a:srgbClr val="50E6FF"/>
                    </a:gs>
                    <a:gs pos="100000">
                      <a:srgbClr val="D59DFF"/>
                    </a:gs>
                  </a:gsLst>
                  <a:lin ang="2700000" scaled="1"/>
                  <a:tileRect/>
                </a:gradFill>
                <a:latin typeface="Segoe UI Semibold"/>
              </a:endParaRPr>
            </a:p>
          </p:txBody>
        </p:sp>
        <p:sp>
          <p:nvSpPr>
            <p:cNvPr id="37" name="Oval 36">
              <a:extLst>
                <a:ext uri="{FF2B5EF4-FFF2-40B4-BE49-F238E27FC236}">
                  <a16:creationId xmlns:a16="http://schemas.microsoft.com/office/drawing/2014/main" id="{0BC282CD-3C62-CF5C-40C1-592126A66AD1}"/>
                </a:ext>
              </a:extLst>
            </p:cNvPr>
            <p:cNvSpPr/>
            <p:nvPr/>
          </p:nvSpPr>
          <p:spPr bwMode="auto">
            <a:xfrm>
              <a:off x="2038575" y="409640"/>
              <a:ext cx="440154" cy="440154"/>
            </a:xfrm>
            <a:prstGeom prst="ellipse">
              <a:avLst/>
            </a:prstGeom>
            <a:solidFill>
              <a:schemeClr val="bg1">
                <a:lumMod val="95000"/>
                <a:lumOff val="5000"/>
              </a:schemeClr>
            </a:solidFill>
            <a:ln w="12700" cap="flat" cmpd="sng" algn="ctr">
              <a:solidFill>
                <a:srgbClr val="000000">
                  <a:lumMod val="75000"/>
                  <a:lumOff val="25000"/>
                </a:srgbClr>
              </a:solidFill>
              <a:prstDash val="solid"/>
              <a:headEnd type="none" w="med" len="med"/>
              <a:tailEnd type="none" w="med" len="med"/>
            </a:ln>
            <a:effectLst/>
          </p:spPr>
          <p:txBody>
            <a:bodyPr rot="0" spcFirstLastPara="0" vertOverflow="overflow" horzOverflow="overflow" vert="horz" wrap="square" lIns="72000" tIns="180000" rIns="72000" bIns="14400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err="1">
                <a:ln>
                  <a:noFill/>
                </a:ln>
                <a:gradFill flip="none" rotWithShape="1">
                  <a:gsLst>
                    <a:gs pos="0">
                      <a:srgbClr val="50E6FF"/>
                    </a:gs>
                    <a:gs pos="100000">
                      <a:srgbClr val="D59DFF"/>
                    </a:gs>
                  </a:gsLst>
                  <a:lin ang="2700000" scaled="1"/>
                  <a:tileRect/>
                </a:gradFill>
                <a:effectLst/>
                <a:uLnTx/>
                <a:uFillTx/>
                <a:latin typeface="Segoe UI Semibold"/>
                <a:ea typeface="+mn-ea"/>
                <a:cs typeface="+mn-cs"/>
              </a:endParaRPr>
            </a:p>
          </p:txBody>
        </p:sp>
        <p:sp>
          <p:nvSpPr>
            <p:cNvPr id="38" name="Oval 37">
              <a:extLst>
                <a:ext uri="{FF2B5EF4-FFF2-40B4-BE49-F238E27FC236}">
                  <a16:creationId xmlns:a16="http://schemas.microsoft.com/office/drawing/2014/main" id="{E37DB412-66DE-C2A5-4C15-A1DA15850593}"/>
                </a:ext>
              </a:extLst>
            </p:cNvPr>
            <p:cNvSpPr/>
            <p:nvPr/>
          </p:nvSpPr>
          <p:spPr bwMode="auto">
            <a:xfrm>
              <a:off x="1311201" y="409640"/>
              <a:ext cx="440154" cy="440154"/>
            </a:xfrm>
            <a:prstGeom prst="ellipse">
              <a:avLst/>
            </a:prstGeom>
            <a:solidFill>
              <a:schemeClr val="bg1"/>
            </a:solidFill>
            <a:ln w="12700" cap="flat" cmpd="sng" algn="ctr">
              <a:solidFill>
                <a:schemeClr val="accent1"/>
              </a:solidFill>
              <a:prstDash val="solid"/>
              <a:headEnd type="none" w="med" len="med"/>
              <a:tailEnd type="none" w="med" len="med"/>
            </a:ln>
            <a:effectLst/>
          </p:spPr>
          <p:txBody>
            <a:bodyPr rot="0" spcFirstLastPara="0" vertOverflow="overflow" horzOverflow="overflow" vert="horz" wrap="square" lIns="72000" tIns="180000" rIns="72000" bIns="144000" numCol="1" spcCol="0" rtlCol="0" fromWordArt="0" anchor="t" anchorCtr="0" forceAA="0" compatLnSpc="1">
              <a:prstTxWarp prst="textNoShape">
                <a:avLst/>
              </a:prstTxWarp>
              <a:noAutofit/>
            </a:bodyPr>
            <a:lstStyle/>
            <a:p>
              <a:pPr algn="ctr"/>
              <a:endParaRPr lang="en-US" sz="1600" kern="0" err="1">
                <a:gradFill flip="none" rotWithShape="1">
                  <a:gsLst>
                    <a:gs pos="0">
                      <a:srgbClr val="50E6FF"/>
                    </a:gs>
                    <a:gs pos="100000">
                      <a:srgbClr val="D59DFF"/>
                    </a:gs>
                  </a:gsLst>
                  <a:lin ang="2700000" scaled="1"/>
                  <a:tileRect/>
                </a:gradFill>
                <a:latin typeface="Segoe UI Semibold"/>
              </a:endParaRPr>
            </a:p>
          </p:txBody>
        </p:sp>
        <p:pic>
          <p:nvPicPr>
            <p:cNvPr id="39" name="Picture 38">
              <a:extLst>
                <a:ext uri="{FF2B5EF4-FFF2-40B4-BE49-F238E27FC236}">
                  <a16:creationId xmlns:a16="http://schemas.microsoft.com/office/drawing/2014/main" id="{C21FC495-553C-BB23-9F44-E924E50C403A}"/>
                </a:ext>
              </a:extLst>
            </p:cNvPr>
            <p:cNvPicPr>
              <a:picLocks noChangeAspect="1"/>
            </p:cNvPicPr>
            <p:nvPr/>
          </p:nvPicPr>
          <p:blipFill>
            <a:blip r:embed="rId3"/>
            <a:stretch>
              <a:fillRect/>
            </a:stretch>
          </p:blipFill>
          <p:spPr>
            <a:xfrm>
              <a:off x="1394021" y="486818"/>
              <a:ext cx="267846" cy="267846"/>
            </a:xfrm>
            <a:prstGeom prst="rect">
              <a:avLst/>
            </a:prstGeom>
          </p:spPr>
        </p:pic>
        <p:pic>
          <p:nvPicPr>
            <p:cNvPr id="40" name="Picture 39">
              <a:extLst>
                <a:ext uri="{FF2B5EF4-FFF2-40B4-BE49-F238E27FC236}">
                  <a16:creationId xmlns:a16="http://schemas.microsoft.com/office/drawing/2014/main" id="{712BB2AD-5BD9-B92A-912B-02DBCDA88804}"/>
                </a:ext>
              </a:extLst>
            </p:cNvPr>
            <p:cNvPicPr>
              <a:picLocks noChangeAspect="1"/>
            </p:cNvPicPr>
            <p:nvPr/>
          </p:nvPicPr>
          <p:blipFill>
            <a:blip r:embed="rId4">
              <a:grayscl/>
              <a:alphaModFix amt="53000"/>
            </a:blip>
            <a:srcRect/>
            <a:stretch/>
          </p:blipFill>
          <p:spPr>
            <a:xfrm>
              <a:off x="2126332" y="486818"/>
              <a:ext cx="264639" cy="264639"/>
            </a:xfrm>
            <a:prstGeom prst="rect">
              <a:avLst/>
            </a:prstGeom>
          </p:spPr>
        </p:pic>
        <p:pic>
          <p:nvPicPr>
            <p:cNvPr id="41" name="Picture 40">
              <a:extLst>
                <a:ext uri="{FF2B5EF4-FFF2-40B4-BE49-F238E27FC236}">
                  <a16:creationId xmlns:a16="http://schemas.microsoft.com/office/drawing/2014/main" id="{9979E34B-7B31-527A-D5D4-6FBF24788E90}"/>
                </a:ext>
              </a:extLst>
            </p:cNvPr>
            <p:cNvPicPr>
              <a:picLocks noChangeAspect="1"/>
            </p:cNvPicPr>
            <p:nvPr/>
          </p:nvPicPr>
          <p:blipFill>
            <a:blip r:embed="rId5">
              <a:alphaModFix amt="53000"/>
              <a:grayscl/>
            </a:blip>
            <a:stretch>
              <a:fillRect/>
            </a:stretch>
          </p:blipFill>
          <p:spPr>
            <a:xfrm>
              <a:off x="677019" y="497398"/>
              <a:ext cx="264638" cy="264638"/>
            </a:xfrm>
            <a:prstGeom prst="rect">
              <a:avLst/>
            </a:prstGeom>
          </p:spPr>
        </p:pic>
      </p:grpSp>
    </p:spTree>
    <p:extLst>
      <p:ext uri="{BB962C8B-B14F-4D97-AF65-F5344CB8AC3E}">
        <p14:creationId xmlns:p14="http://schemas.microsoft.com/office/powerpoint/2010/main" val="4132887377"/>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C82E4DD0-6F96-CC35-FCEA-D3A801CBBE49}"/>
              </a:ext>
              <a:ext uri="{C183D7F6-B498-43B3-948B-1728B52AA6E4}">
                <adec:decorative xmlns:adec="http://schemas.microsoft.com/office/drawing/2017/decorative" val="1"/>
              </a:ext>
            </a:extLst>
          </p:cNvPr>
          <p:cNvGrpSpPr/>
          <p:nvPr/>
        </p:nvGrpSpPr>
        <p:grpSpPr>
          <a:xfrm rot="10800000">
            <a:off x="0" y="1287015"/>
            <a:ext cx="12192000" cy="5429716"/>
            <a:chOff x="0" y="1600201"/>
            <a:chExt cx="12192000" cy="5429716"/>
          </a:xfrm>
        </p:grpSpPr>
        <p:sp>
          <p:nvSpPr>
            <p:cNvPr id="22" name="Rectangle 21">
              <a:extLst>
                <a:ext uri="{FF2B5EF4-FFF2-40B4-BE49-F238E27FC236}">
                  <a16:creationId xmlns:a16="http://schemas.microsoft.com/office/drawing/2014/main" id="{248CC72C-CAB1-6572-0EF3-91EB7D1D61BD}"/>
                </a:ext>
              </a:extLst>
            </p:cNvPr>
            <p:cNvSpPr/>
            <p:nvPr/>
          </p:nvSpPr>
          <p:spPr bwMode="auto">
            <a:xfrm>
              <a:off x="0" y="2148558"/>
              <a:ext cx="12192000" cy="4881359"/>
            </a:xfrm>
            <a:prstGeom prst="rect">
              <a:avLst/>
            </a:prstGeom>
            <a:gradFill>
              <a:gsLst>
                <a:gs pos="0">
                  <a:schemeClr val="bg2">
                    <a:alpha val="0"/>
                  </a:schemeClr>
                </a:gs>
                <a:gs pos="100000">
                  <a:schemeClr val="bg2"/>
                </a:gs>
              </a:gsLst>
              <a:lin ang="162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000000"/>
                </a:solidFill>
                <a:ea typeface="Segoe UI" pitchFamily="34" charset="0"/>
                <a:cs typeface="Segoe UI" pitchFamily="34" charset="0"/>
              </a:endParaRPr>
            </a:p>
          </p:txBody>
        </p:sp>
        <p:sp>
          <p:nvSpPr>
            <p:cNvPr id="23" name="Freeform 22">
              <a:extLst>
                <a:ext uri="{FF2B5EF4-FFF2-40B4-BE49-F238E27FC236}">
                  <a16:creationId xmlns:a16="http://schemas.microsoft.com/office/drawing/2014/main" id="{A9940762-34CC-4494-86DC-1FE9FDCBC3F4}"/>
                </a:ext>
              </a:extLst>
            </p:cNvPr>
            <p:cNvSpPr/>
            <p:nvPr/>
          </p:nvSpPr>
          <p:spPr bwMode="auto">
            <a:xfrm>
              <a:off x="0" y="1600201"/>
              <a:ext cx="12192000" cy="4691433"/>
            </a:xfrm>
            <a:custGeom>
              <a:avLst/>
              <a:gdLst>
                <a:gd name="connsiteX0" fmla="*/ 0 w 12192000"/>
                <a:gd name="connsiteY0" fmla="*/ 0 h 4988678"/>
                <a:gd name="connsiteX1" fmla="*/ 12192000 w 12192000"/>
                <a:gd name="connsiteY1" fmla="*/ 0 h 4988678"/>
                <a:gd name="connsiteX2" fmla="*/ 12192000 w 12192000"/>
                <a:gd name="connsiteY2" fmla="*/ 1938332 h 4988678"/>
                <a:gd name="connsiteX3" fmla="*/ 12146294 w 12192000"/>
                <a:gd name="connsiteY3" fmla="*/ 2032802 h 4988678"/>
                <a:gd name="connsiteX4" fmla="*/ 6096000 w 12192000"/>
                <a:gd name="connsiteY4" fmla="*/ 4988678 h 4988678"/>
                <a:gd name="connsiteX5" fmla="*/ 45706 w 12192000"/>
                <a:gd name="connsiteY5" fmla="*/ 2032802 h 4988678"/>
                <a:gd name="connsiteX6" fmla="*/ 0 w 12192000"/>
                <a:gd name="connsiteY6" fmla="*/ 1938332 h 4988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4988678">
                  <a:moveTo>
                    <a:pt x="0" y="0"/>
                  </a:moveTo>
                  <a:lnTo>
                    <a:pt x="12192000" y="0"/>
                  </a:lnTo>
                  <a:lnTo>
                    <a:pt x="12192000" y="1938332"/>
                  </a:lnTo>
                  <a:lnTo>
                    <a:pt x="12146294" y="2032802"/>
                  </a:lnTo>
                  <a:cubicBezTo>
                    <a:pt x="11243250" y="3757689"/>
                    <a:pt x="8875175" y="4988678"/>
                    <a:pt x="6096000" y="4988678"/>
                  </a:cubicBezTo>
                  <a:cubicBezTo>
                    <a:pt x="3316825" y="4988678"/>
                    <a:pt x="948751" y="3757689"/>
                    <a:pt x="45706" y="2032802"/>
                  </a:cubicBezTo>
                  <a:lnTo>
                    <a:pt x="0" y="1938332"/>
                  </a:ln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000000"/>
                </a:solidFill>
                <a:ea typeface="Segoe UI" pitchFamily="34" charset="0"/>
                <a:cs typeface="Segoe UI" pitchFamily="34" charset="0"/>
              </a:endParaRPr>
            </a:p>
          </p:txBody>
        </p:sp>
      </p:grpSp>
      <p:grpSp>
        <p:nvGrpSpPr>
          <p:cNvPr id="17" name="Group 16">
            <a:extLst>
              <a:ext uri="{FF2B5EF4-FFF2-40B4-BE49-F238E27FC236}">
                <a16:creationId xmlns:a16="http://schemas.microsoft.com/office/drawing/2014/main" id="{5F9D2211-E841-0321-405A-96C493369702}"/>
              </a:ext>
              <a:ext uri="{C183D7F6-B498-43B3-948B-1728B52AA6E4}">
                <adec:decorative xmlns:adec="http://schemas.microsoft.com/office/drawing/2017/decorative" val="1"/>
              </a:ext>
            </a:extLst>
          </p:cNvPr>
          <p:cNvGrpSpPr/>
          <p:nvPr/>
        </p:nvGrpSpPr>
        <p:grpSpPr>
          <a:xfrm flipV="1">
            <a:off x="583827" y="3096457"/>
            <a:ext cx="10950391" cy="2616084"/>
            <a:chOff x="1040547" y="2444320"/>
            <a:chExt cx="9509851" cy="2466865"/>
          </a:xfrm>
        </p:grpSpPr>
        <p:sp>
          <p:nvSpPr>
            <p:cNvPr id="18" name="Round Same Side Corner Rectangle 17">
              <a:extLst>
                <a:ext uri="{FF2B5EF4-FFF2-40B4-BE49-F238E27FC236}">
                  <a16:creationId xmlns:a16="http://schemas.microsoft.com/office/drawing/2014/main" id="{BEB03A3D-22CC-936C-67BA-9534C6D7FCDB}"/>
                </a:ext>
              </a:extLst>
            </p:cNvPr>
            <p:cNvSpPr/>
            <p:nvPr/>
          </p:nvSpPr>
          <p:spPr bwMode="auto">
            <a:xfrm>
              <a:off x="1040547" y="2444320"/>
              <a:ext cx="3166924" cy="2371013"/>
            </a:xfrm>
            <a:prstGeom prst="round2SameRect">
              <a:avLst>
                <a:gd name="adj1" fmla="val 11785"/>
                <a:gd name="adj2" fmla="val 0"/>
              </a:avLst>
            </a:prstGeom>
            <a:ln>
              <a:gradFill>
                <a:gsLst>
                  <a:gs pos="0">
                    <a:schemeClr val="accent1">
                      <a:alpha val="0"/>
                    </a:schemeClr>
                  </a:gs>
                  <a:gs pos="100000">
                    <a:schemeClr val="accent1"/>
                  </a:gs>
                </a:gsLst>
                <a:lin ang="162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err="1">
                <a:solidFill>
                  <a:srgbClr val="000000"/>
                </a:solidFill>
                <a:ea typeface="Segoe UI" pitchFamily="34" charset="0"/>
                <a:cs typeface="Segoe UI" pitchFamily="34" charset="0"/>
              </a:endParaRPr>
            </a:p>
          </p:txBody>
        </p:sp>
        <p:sp>
          <p:nvSpPr>
            <p:cNvPr id="19" name="Round Same Side Corner Rectangle 18">
              <a:extLst>
                <a:ext uri="{FF2B5EF4-FFF2-40B4-BE49-F238E27FC236}">
                  <a16:creationId xmlns:a16="http://schemas.microsoft.com/office/drawing/2014/main" id="{F5145F62-874A-2C5F-8563-4F62C3BCCE1D}"/>
                </a:ext>
              </a:extLst>
            </p:cNvPr>
            <p:cNvSpPr/>
            <p:nvPr/>
          </p:nvSpPr>
          <p:spPr bwMode="auto">
            <a:xfrm rot="10800000">
              <a:off x="4212010" y="3203641"/>
              <a:ext cx="3166924" cy="1707544"/>
            </a:xfrm>
            <a:prstGeom prst="round2SameRect">
              <a:avLst>
                <a:gd name="adj1" fmla="val 11785"/>
                <a:gd name="adj2" fmla="val 0"/>
              </a:avLst>
            </a:prstGeom>
            <a:ln>
              <a:gradFill>
                <a:gsLst>
                  <a:gs pos="0">
                    <a:schemeClr val="accent1">
                      <a:alpha val="0"/>
                    </a:schemeClr>
                  </a:gs>
                  <a:gs pos="100000">
                    <a:schemeClr val="accent1"/>
                  </a:gs>
                </a:gsLst>
                <a:lin ang="162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err="1">
                <a:solidFill>
                  <a:srgbClr val="000000"/>
                </a:solidFill>
                <a:ea typeface="Segoe UI" pitchFamily="34" charset="0"/>
                <a:cs typeface="Segoe UI" pitchFamily="34" charset="0"/>
              </a:endParaRPr>
            </a:p>
          </p:txBody>
        </p:sp>
        <p:sp>
          <p:nvSpPr>
            <p:cNvPr id="20" name="Round Same Side Corner Rectangle 19">
              <a:extLst>
                <a:ext uri="{FF2B5EF4-FFF2-40B4-BE49-F238E27FC236}">
                  <a16:creationId xmlns:a16="http://schemas.microsoft.com/office/drawing/2014/main" id="{272FC81E-122B-DCF5-A60B-D4FBDC217A25}"/>
                </a:ext>
              </a:extLst>
            </p:cNvPr>
            <p:cNvSpPr/>
            <p:nvPr/>
          </p:nvSpPr>
          <p:spPr bwMode="auto">
            <a:xfrm>
              <a:off x="7383474" y="2444320"/>
              <a:ext cx="3166924" cy="2371013"/>
            </a:xfrm>
            <a:prstGeom prst="round2SameRect">
              <a:avLst>
                <a:gd name="adj1" fmla="val 11785"/>
                <a:gd name="adj2" fmla="val 0"/>
              </a:avLst>
            </a:prstGeom>
            <a:ln>
              <a:gradFill>
                <a:gsLst>
                  <a:gs pos="0">
                    <a:schemeClr val="accent1">
                      <a:alpha val="0"/>
                    </a:schemeClr>
                  </a:gs>
                  <a:gs pos="100000">
                    <a:schemeClr val="accent1"/>
                  </a:gs>
                </a:gsLst>
                <a:lin ang="162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err="1">
                <a:solidFill>
                  <a:srgbClr val="000000"/>
                </a:solidFill>
                <a:ea typeface="Segoe UI" pitchFamily="34" charset="0"/>
                <a:cs typeface="Segoe UI" pitchFamily="34" charset="0"/>
              </a:endParaRPr>
            </a:p>
          </p:txBody>
        </p:sp>
      </p:grpSp>
      <p:sp>
        <p:nvSpPr>
          <p:cNvPr id="2" name="Title 1">
            <a:extLst>
              <a:ext uri="{FF2B5EF4-FFF2-40B4-BE49-F238E27FC236}">
                <a16:creationId xmlns:a16="http://schemas.microsoft.com/office/drawing/2014/main" id="{4C10C8E8-3A6A-FEAF-AC0E-4913B472DB25}"/>
              </a:ext>
            </a:extLst>
          </p:cNvPr>
          <p:cNvSpPr>
            <a:spLocks noGrp="1"/>
          </p:cNvSpPr>
          <p:nvPr>
            <p:ph type="title"/>
          </p:nvPr>
        </p:nvSpPr>
        <p:spPr>
          <a:xfrm>
            <a:off x="590644" y="1588077"/>
            <a:ext cx="11018520" cy="492443"/>
          </a:xfrm>
        </p:spPr>
        <p:txBody>
          <a:bodyPr/>
          <a:lstStyle/>
          <a:p>
            <a:r>
              <a:rPr lang="en-US" sz="3200"/>
              <a:t>Bring cloud innovation anywhere with Azure Arc</a:t>
            </a:r>
            <a:endParaRPr lang="en-US" sz="3200" strike="sngStrike"/>
          </a:p>
        </p:txBody>
      </p:sp>
      <p:sp>
        <p:nvSpPr>
          <p:cNvPr id="6" name="Text Placeholder 5">
            <a:extLst>
              <a:ext uri="{FF2B5EF4-FFF2-40B4-BE49-F238E27FC236}">
                <a16:creationId xmlns:a16="http://schemas.microsoft.com/office/drawing/2014/main" id="{1F1A50A5-DFC8-A652-293C-B46418BC922F}"/>
              </a:ext>
            </a:extLst>
          </p:cNvPr>
          <p:cNvSpPr>
            <a:spLocks noGrp="1"/>
          </p:cNvSpPr>
          <p:nvPr>
            <p:ph sz="quarter" idx="10"/>
          </p:nvPr>
        </p:nvSpPr>
        <p:spPr>
          <a:xfrm>
            <a:off x="1091197" y="4165710"/>
            <a:ext cx="2566725" cy="1077218"/>
          </a:xfrm>
        </p:spPr>
        <p:txBody>
          <a:bodyPr/>
          <a:lstStyle/>
          <a:p>
            <a:pPr marL="0" lvl="1" indent="0" algn="ctr" defTabSz="932742">
              <a:lnSpc>
                <a:spcPct val="100000"/>
              </a:lnSpc>
              <a:spcBef>
                <a:spcPct val="20000"/>
              </a:spcBef>
              <a:spcAft>
                <a:spcPts val="0"/>
              </a:spcAft>
              <a:buNone/>
              <a:defRPr/>
            </a:pPr>
            <a:r>
              <a:rPr lang="en-US" sz="1400">
                <a:solidFill>
                  <a:schemeClr val="tx1"/>
                </a:solidFill>
              </a:rPr>
              <a:t>Save costs on disparate management</a:t>
            </a:r>
            <a:r>
              <a:rPr lang="en-US" sz="1400"/>
              <a:t> tools by u</a:t>
            </a:r>
            <a:r>
              <a:rPr lang="en-US" sz="1400">
                <a:solidFill>
                  <a:schemeClr val="tx1"/>
                </a:solidFill>
              </a:rPr>
              <a:t>sing a </a:t>
            </a:r>
            <a:r>
              <a:rPr lang="en-US" sz="1400">
                <a:solidFill>
                  <a:schemeClr val="accent1"/>
                </a:solidFill>
              </a:rPr>
              <a:t>single control pane </a:t>
            </a:r>
            <a:r>
              <a:rPr lang="en-US" sz="1400">
                <a:solidFill>
                  <a:schemeClr val="tx1"/>
                </a:solidFill>
              </a:rPr>
              <a:t>to secure and </a:t>
            </a:r>
            <a:r>
              <a:rPr lang="en-US" sz="1400"/>
              <a:t>govern hybrid and </a:t>
            </a:r>
            <a:br>
              <a:rPr lang="en-US" sz="1400"/>
            </a:br>
            <a:r>
              <a:rPr lang="en-US" sz="1400"/>
              <a:t>multi-cloud environments</a:t>
            </a:r>
          </a:p>
        </p:txBody>
      </p:sp>
      <p:sp>
        <p:nvSpPr>
          <p:cNvPr id="8" name="Text Placeholder 5">
            <a:extLst>
              <a:ext uri="{FF2B5EF4-FFF2-40B4-BE49-F238E27FC236}">
                <a16:creationId xmlns:a16="http://schemas.microsoft.com/office/drawing/2014/main" id="{5E5DE2DE-1F85-2479-C433-7A2AEF37E775}"/>
              </a:ext>
            </a:extLst>
          </p:cNvPr>
          <p:cNvSpPr txBox="1">
            <a:spLocks/>
          </p:cNvSpPr>
          <p:nvPr/>
        </p:nvSpPr>
        <p:spPr>
          <a:xfrm>
            <a:off x="8248905" y="4165710"/>
            <a:ext cx="2923979" cy="861774"/>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1" indent="0" algn="ctr">
              <a:buFont typeface="Wingdings" panose="05000000000000000000" pitchFamily="2" charset="2"/>
              <a:buNone/>
              <a:defRPr/>
            </a:pPr>
            <a:r>
              <a:rPr lang="en-US" sz="1400">
                <a:solidFill>
                  <a:schemeClr val="accent1"/>
                </a:solidFill>
              </a:rPr>
              <a:t>Flexibly meet regulatory and connectivity needs </a:t>
            </a:r>
            <a:r>
              <a:rPr lang="en-US" sz="1400"/>
              <a:t>with a range of infrastructure options including optimizing your existing hardware</a:t>
            </a:r>
          </a:p>
        </p:txBody>
      </p:sp>
      <p:sp>
        <p:nvSpPr>
          <p:cNvPr id="13" name="TextBox 12">
            <a:extLst>
              <a:ext uri="{FF2B5EF4-FFF2-40B4-BE49-F238E27FC236}">
                <a16:creationId xmlns:a16="http://schemas.microsoft.com/office/drawing/2014/main" id="{B7AAB2D0-0CB5-EBD0-9FF4-77DC597FBE9F}"/>
              </a:ext>
            </a:extLst>
          </p:cNvPr>
          <p:cNvSpPr txBox="1"/>
          <p:nvPr/>
        </p:nvSpPr>
        <p:spPr>
          <a:xfrm>
            <a:off x="2675554" y="565021"/>
            <a:ext cx="2456885" cy="138499"/>
          </a:xfrm>
          <a:prstGeom prst="rect">
            <a:avLst/>
          </a:prstGeom>
          <a:noFill/>
        </p:spPr>
        <p:txBody>
          <a:bodyPr wrap="square" lIns="0" tIns="0" rIns="0" bIns="0">
            <a:spAutoFit/>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300" normalizeH="0" baseline="0" noProof="0">
                <a:ln>
                  <a:noFill/>
                </a:ln>
                <a:solidFill>
                  <a:schemeClr val="accent1"/>
                </a:solidFill>
                <a:effectLst/>
                <a:uLnTx/>
                <a:uFillTx/>
                <a:latin typeface="Segoe UI Semibold"/>
                <a:ea typeface="+mn-ea"/>
                <a:cs typeface="+mn-cs"/>
              </a:rPr>
              <a:t>OPTIMIZE CLOUD COSTS</a:t>
            </a:r>
          </a:p>
        </p:txBody>
      </p:sp>
      <p:sp>
        <p:nvSpPr>
          <p:cNvPr id="27" name="Rectangle 26">
            <a:extLst>
              <a:ext uri="{FF2B5EF4-FFF2-40B4-BE49-F238E27FC236}">
                <a16:creationId xmlns:a16="http://schemas.microsoft.com/office/drawing/2014/main" id="{8F167B07-D76F-2CA9-3E38-7CC55E2DA79D}"/>
              </a:ext>
              <a:ext uri="{C183D7F6-B498-43B3-948B-1728B52AA6E4}">
                <adec:decorative xmlns:adec="http://schemas.microsoft.com/office/drawing/2017/decorative" val="1"/>
              </a:ext>
            </a:extLst>
          </p:cNvPr>
          <p:cNvSpPr/>
          <p:nvPr/>
        </p:nvSpPr>
        <p:spPr bwMode="auto">
          <a:xfrm rot="5400000">
            <a:off x="5592042" y="2293599"/>
            <a:ext cx="933960" cy="1704467"/>
          </a:xfrm>
          <a:prstGeom prst="rect">
            <a:avLst/>
          </a:prstGeom>
          <a:gradFill>
            <a:gsLst>
              <a:gs pos="0">
                <a:schemeClr val="bg1">
                  <a:alpha val="0"/>
                </a:schemeClr>
              </a:gs>
              <a:gs pos="81000">
                <a:srgbClr val="000000"/>
              </a:gs>
              <a:gs pos="22000">
                <a:schemeClr val="bg1"/>
              </a:gs>
              <a:gs pos="100000">
                <a:schemeClr val="bg1">
                  <a:alpha val="0"/>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000000"/>
              </a:solidFill>
              <a:ea typeface="Segoe UI" pitchFamily="34" charset="0"/>
              <a:cs typeface="Segoe UI" pitchFamily="34" charset="0"/>
            </a:endParaRPr>
          </a:p>
        </p:txBody>
      </p:sp>
      <p:sp>
        <p:nvSpPr>
          <p:cNvPr id="16" name="Oval 15">
            <a:extLst>
              <a:ext uri="{FF2B5EF4-FFF2-40B4-BE49-F238E27FC236}">
                <a16:creationId xmlns:a16="http://schemas.microsoft.com/office/drawing/2014/main" id="{64AA21AF-D209-3632-47C3-5683D1566ACD}"/>
              </a:ext>
              <a:ext uri="{C183D7F6-B498-43B3-948B-1728B52AA6E4}">
                <adec:decorative xmlns:adec="http://schemas.microsoft.com/office/drawing/2017/decorative" val="1"/>
              </a:ext>
            </a:extLst>
          </p:cNvPr>
          <p:cNvSpPr/>
          <p:nvPr/>
        </p:nvSpPr>
        <p:spPr bwMode="auto">
          <a:xfrm rot="10800000">
            <a:off x="4230473" y="1155142"/>
            <a:ext cx="3948936" cy="3882629"/>
          </a:xfrm>
          <a:prstGeom prst="ellipse">
            <a:avLst/>
          </a:prstGeom>
          <a:gradFill flip="none" rotWithShape="1">
            <a:gsLst>
              <a:gs pos="0">
                <a:schemeClr val="accent2">
                  <a:alpha val="40000"/>
                </a:schemeClr>
              </a:gs>
              <a:gs pos="41000">
                <a:schemeClr val="bg1">
                  <a:alpha val="0"/>
                </a:schemeClr>
              </a:gs>
            </a:gsLst>
            <a:path path="circle">
              <a:fillToRect l="50000" t="50000" r="50000" b="50000"/>
            </a:path>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pic>
        <p:nvPicPr>
          <p:cNvPr id="21" name="Picture 7" descr="Azure Arc product icon">
            <a:extLst>
              <a:ext uri="{FF2B5EF4-FFF2-40B4-BE49-F238E27FC236}">
                <a16:creationId xmlns:a16="http://schemas.microsoft.com/office/drawing/2014/main" id="{4C74FC79-FE53-D698-2C94-DD0242566C3D}"/>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t="3913" b="3913"/>
          <a:stretch/>
        </p:blipFill>
        <p:spPr>
          <a:xfrm>
            <a:off x="5330520" y="2417002"/>
            <a:ext cx="1474277" cy="1358909"/>
          </a:xfrm>
          <a:prstGeom prst="rect">
            <a:avLst/>
          </a:prstGeom>
          <a:noFill/>
          <a:ln>
            <a:noFill/>
            <a:headEnd type="none" w="med" len="med"/>
            <a:tailEnd type="none" w="med" len="med"/>
          </a:ln>
          <a:effectLst/>
        </p:spPr>
      </p:pic>
      <p:sp>
        <p:nvSpPr>
          <p:cNvPr id="7" name="Text Placeholder 5">
            <a:extLst>
              <a:ext uri="{FF2B5EF4-FFF2-40B4-BE49-F238E27FC236}">
                <a16:creationId xmlns:a16="http://schemas.microsoft.com/office/drawing/2014/main" id="{4D6CA8EE-0470-2B48-3962-17AB929729D6}"/>
              </a:ext>
            </a:extLst>
          </p:cNvPr>
          <p:cNvSpPr txBox="1">
            <a:spLocks/>
          </p:cNvSpPr>
          <p:nvPr/>
        </p:nvSpPr>
        <p:spPr>
          <a:xfrm>
            <a:off x="4852322" y="4165710"/>
            <a:ext cx="2487357" cy="861774"/>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1" indent="0" algn="ctr">
              <a:buFont typeface="Wingdings" panose="05000000000000000000" pitchFamily="2" charset="2"/>
              <a:buNone/>
              <a:defRPr/>
            </a:pPr>
            <a:r>
              <a:rPr lang="en-US" sz="1400"/>
              <a:t>Bring </a:t>
            </a:r>
            <a:r>
              <a:rPr lang="en-US" sz="1400">
                <a:solidFill>
                  <a:schemeClr val="accent1"/>
                </a:solidFill>
              </a:rPr>
              <a:t>cloud management, app and data services anywhere </a:t>
            </a:r>
            <a:r>
              <a:rPr lang="en-US" sz="1400"/>
              <a:t>and extend </a:t>
            </a:r>
            <a:r>
              <a:rPr lang="en-US" sz="1400">
                <a:solidFill>
                  <a:schemeClr val="accent1"/>
                </a:solidFill>
              </a:rPr>
              <a:t>compute and AI to the edge</a:t>
            </a:r>
          </a:p>
        </p:txBody>
      </p:sp>
      <p:grpSp>
        <p:nvGrpSpPr>
          <p:cNvPr id="29" name="Group 28" descr="Optimize cloud cost navigation">
            <a:extLst>
              <a:ext uri="{FF2B5EF4-FFF2-40B4-BE49-F238E27FC236}">
                <a16:creationId xmlns:a16="http://schemas.microsoft.com/office/drawing/2014/main" id="{C403808E-B379-ECCC-9BF4-C3DCF5ABC5C7}"/>
              </a:ext>
            </a:extLst>
          </p:cNvPr>
          <p:cNvGrpSpPr/>
          <p:nvPr/>
        </p:nvGrpSpPr>
        <p:grpSpPr>
          <a:xfrm>
            <a:off x="583828" y="409640"/>
            <a:ext cx="1894901" cy="440154"/>
            <a:chOff x="583828" y="409640"/>
            <a:chExt cx="1894901" cy="440154"/>
          </a:xfrm>
        </p:grpSpPr>
        <p:cxnSp>
          <p:nvCxnSpPr>
            <p:cNvPr id="33" name="Straight Connector 32">
              <a:extLst>
                <a:ext uri="{FF2B5EF4-FFF2-40B4-BE49-F238E27FC236}">
                  <a16:creationId xmlns:a16="http://schemas.microsoft.com/office/drawing/2014/main" id="{18E94012-52BB-51D9-EE81-EB31D7FC2D56}"/>
                </a:ext>
                <a:ext uri="{C183D7F6-B498-43B3-948B-1728B52AA6E4}">
                  <adec:decorative xmlns:adec="http://schemas.microsoft.com/office/drawing/2017/decorative" val="1"/>
                </a:ext>
              </a:extLst>
            </p:cNvPr>
            <p:cNvCxnSpPr>
              <a:cxnSpLocks/>
            </p:cNvCxnSpPr>
            <p:nvPr/>
          </p:nvCxnSpPr>
          <p:spPr>
            <a:xfrm flipH="1">
              <a:off x="1018274" y="629717"/>
              <a:ext cx="1014593" cy="0"/>
            </a:xfrm>
            <a:prstGeom prst="line">
              <a:avLst/>
            </a:prstGeom>
            <a:solidFill>
              <a:schemeClr val="bg1">
                <a:lumMod val="95000"/>
                <a:lumOff val="5000"/>
              </a:schemeClr>
            </a:solidFill>
            <a:ln w="12700" cap="flat" cmpd="sng" algn="ctr">
              <a:solidFill>
                <a:srgbClr val="000000">
                  <a:lumMod val="75000"/>
                  <a:lumOff val="25000"/>
                </a:srgbClr>
              </a:solidFill>
              <a:prstDash val="solid"/>
              <a:headEnd type="none" w="med" len="med"/>
              <a:tailEnd type="none" w="med" len="med"/>
            </a:ln>
            <a:effectLst/>
          </p:spPr>
        </p:cxnSp>
        <p:sp>
          <p:nvSpPr>
            <p:cNvPr id="34" name="Oval 33">
              <a:extLst>
                <a:ext uri="{FF2B5EF4-FFF2-40B4-BE49-F238E27FC236}">
                  <a16:creationId xmlns:a16="http://schemas.microsoft.com/office/drawing/2014/main" id="{A7A954A8-63CF-0685-F082-0E28DF90BAB8}"/>
                </a:ext>
              </a:extLst>
            </p:cNvPr>
            <p:cNvSpPr/>
            <p:nvPr/>
          </p:nvSpPr>
          <p:spPr bwMode="auto">
            <a:xfrm>
              <a:off x="583828" y="409640"/>
              <a:ext cx="440154" cy="440154"/>
            </a:xfrm>
            <a:prstGeom prst="ellipse">
              <a:avLst/>
            </a:prstGeom>
            <a:solidFill>
              <a:schemeClr val="bg1">
                <a:lumMod val="95000"/>
                <a:lumOff val="5000"/>
              </a:schemeClr>
            </a:solidFill>
            <a:ln w="12700" cap="flat" cmpd="sng" algn="ctr">
              <a:solidFill>
                <a:srgbClr val="000000">
                  <a:lumMod val="75000"/>
                  <a:lumOff val="25000"/>
                </a:srgbClr>
              </a:solidFill>
              <a:prstDash val="solid"/>
              <a:headEnd type="none" w="med" len="med"/>
              <a:tailEnd type="none" w="med" len="med"/>
            </a:ln>
            <a:effectLst/>
          </p:spPr>
          <p:txBody>
            <a:bodyPr rot="0" spcFirstLastPara="0" vertOverflow="overflow" horzOverflow="overflow" vert="horz" wrap="square" lIns="72000" tIns="180000" rIns="72000" bIns="144000" numCol="1" spcCol="0" rtlCol="0" fromWordArt="0" anchor="t" anchorCtr="0" forceAA="0" compatLnSpc="1">
              <a:prstTxWarp prst="textNoShape">
                <a:avLst/>
              </a:prstTxWarp>
              <a:noAutofit/>
            </a:bodyPr>
            <a:lstStyle/>
            <a:p>
              <a:pPr algn="ctr"/>
              <a:endParaRPr lang="en-US" sz="1600" kern="0" err="1">
                <a:gradFill flip="none" rotWithShape="1">
                  <a:gsLst>
                    <a:gs pos="0">
                      <a:srgbClr val="50E6FF"/>
                    </a:gs>
                    <a:gs pos="100000">
                      <a:srgbClr val="D59DFF"/>
                    </a:gs>
                  </a:gsLst>
                  <a:lin ang="2700000" scaled="1"/>
                  <a:tileRect/>
                </a:gradFill>
                <a:latin typeface="Segoe UI Semibold"/>
              </a:endParaRPr>
            </a:p>
          </p:txBody>
        </p:sp>
        <p:sp>
          <p:nvSpPr>
            <p:cNvPr id="35" name="Oval 34">
              <a:extLst>
                <a:ext uri="{FF2B5EF4-FFF2-40B4-BE49-F238E27FC236}">
                  <a16:creationId xmlns:a16="http://schemas.microsoft.com/office/drawing/2014/main" id="{893FD25D-A2CB-FD55-4A78-FE9FEF0A95BC}"/>
                </a:ext>
              </a:extLst>
            </p:cNvPr>
            <p:cNvSpPr/>
            <p:nvPr/>
          </p:nvSpPr>
          <p:spPr bwMode="auto">
            <a:xfrm>
              <a:off x="2038575" y="409640"/>
              <a:ext cx="440154" cy="440154"/>
            </a:xfrm>
            <a:prstGeom prst="ellipse">
              <a:avLst/>
            </a:prstGeom>
            <a:solidFill>
              <a:schemeClr val="bg1">
                <a:lumMod val="95000"/>
                <a:lumOff val="5000"/>
              </a:schemeClr>
            </a:solidFill>
            <a:ln w="12700" cap="flat" cmpd="sng" algn="ctr">
              <a:solidFill>
                <a:srgbClr val="000000">
                  <a:lumMod val="75000"/>
                  <a:lumOff val="25000"/>
                </a:srgbClr>
              </a:solidFill>
              <a:prstDash val="solid"/>
              <a:headEnd type="none" w="med" len="med"/>
              <a:tailEnd type="none" w="med" len="med"/>
            </a:ln>
            <a:effectLst/>
          </p:spPr>
          <p:txBody>
            <a:bodyPr rot="0" spcFirstLastPara="0" vertOverflow="overflow" horzOverflow="overflow" vert="horz" wrap="square" lIns="72000" tIns="180000" rIns="72000" bIns="14400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err="1">
                <a:ln>
                  <a:noFill/>
                </a:ln>
                <a:gradFill flip="none" rotWithShape="1">
                  <a:gsLst>
                    <a:gs pos="0">
                      <a:srgbClr val="50E6FF"/>
                    </a:gs>
                    <a:gs pos="100000">
                      <a:srgbClr val="D59DFF"/>
                    </a:gs>
                  </a:gsLst>
                  <a:lin ang="2700000" scaled="1"/>
                  <a:tileRect/>
                </a:gradFill>
                <a:effectLst/>
                <a:uLnTx/>
                <a:uFillTx/>
                <a:latin typeface="Segoe UI Semibold"/>
                <a:ea typeface="+mn-ea"/>
                <a:cs typeface="+mn-cs"/>
              </a:endParaRPr>
            </a:p>
          </p:txBody>
        </p:sp>
        <p:sp>
          <p:nvSpPr>
            <p:cNvPr id="36" name="Oval 35">
              <a:extLst>
                <a:ext uri="{FF2B5EF4-FFF2-40B4-BE49-F238E27FC236}">
                  <a16:creationId xmlns:a16="http://schemas.microsoft.com/office/drawing/2014/main" id="{84DC98ED-8438-4929-A8C5-1C056EC17200}"/>
                </a:ext>
              </a:extLst>
            </p:cNvPr>
            <p:cNvSpPr/>
            <p:nvPr/>
          </p:nvSpPr>
          <p:spPr bwMode="auto">
            <a:xfrm>
              <a:off x="1311201" y="409640"/>
              <a:ext cx="440154" cy="440154"/>
            </a:xfrm>
            <a:prstGeom prst="ellipse">
              <a:avLst/>
            </a:prstGeom>
            <a:solidFill>
              <a:schemeClr val="bg1"/>
            </a:solidFill>
            <a:ln w="12700" cap="flat" cmpd="sng" algn="ctr">
              <a:solidFill>
                <a:schemeClr val="accent1"/>
              </a:solidFill>
              <a:prstDash val="solid"/>
              <a:headEnd type="none" w="med" len="med"/>
              <a:tailEnd type="none" w="med" len="med"/>
            </a:ln>
            <a:effectLst/>
          </p:spPr>
          <p:txBody>
            <a:bodyPr rot="0" spcFirstLastPara="0" vertOverflow="overflow" horzOverflow="overflow" vert="horz" wrap="square" lIns="72000" tIns="180000" rIns="72000" bIns="144000" numCol="1" spcCol="0" rtlCol="0" fromWordArt="0" anchor="t" anchorCtr="0" forceAA="0" compatLnSpc="1">
              <a:prstTxWarp prst="textNoShape">
                <a:avLst/>
              </a:prstTxWarp>
              <a:noAutofit/>
            </a:bodyPr>
            <a:lstStyle/>
            <a:p>
              <a:pPr algn="ctr"/>
              <a:endParaRPr lang="en-US" sz="1600" kern="0" err="1">
                <a:gradFill flip="none" rotWithShape="1">
                  <a:gsLst>
                    <a:gs pos="0">
                      <a:srgbClr val="50E6FF"/>
                    </a:gs>
                    <a:gs pos="100000">
                      <a:srgbClr val="D59DFF"/>
                    </a:gs>
                  </a:gsLst>
                  <a:lin ang="2700000" scaled="1"/>
                  <a:tileRect/>
                </a:gradFill>
                <a:latin typeface="Segoe UI Semibold"/>
              </a:endParaRPr>
            </a:p>
          </p:txBody>
        </p:sp>
        <p:pic>
          <p:nvPicPr>
            <p:cNvPr id="37" name="Picture 36">
              <a:extLst>
                <a:ext uri="{FF2B5EF4-FFF2-40B4-BE49-F238E27FC236}">
                  <a16:creationId xmlns:a16="http://schemas.microsoft.com/office/drawing/2014/main" id="{0825615C-93C9-7E11-645C-9D64EE75AD8A}"/>
                </a:ext>
              </a:extLst>
            </p:cNvPr>
            <p:cNvPicPr>
              <a:picLocks noChangeAspect="1"/>
            </p:cNvPicPr>
            <p:nvPr/>
          </p:nvPicPr>
          <p:blipFill>
            <a:blip r:embed="rId5"/>
            <a:stretch>
              <a:fillRect/>
            </a:stretch>
          </p:blipFill>
          <p:spPr>
            <a:xfrm>
              <a:off x="1394021" y="486818"/>
              <a:ext cx="267846" cy="267846"/>
            </a:xfrm>
            <a:prstGeom prst="rect">
              <a:avLst/>
            </a:prstGeom>
          </p:spPr>
        </p:pic>
        <p:pic>
          <p:nvPicPr>
            <p:cNvPr id="38" name="Picture 37">
              <a:extLst>
                <a:ext uri="{FF2B5EF4-FFF2-40B4-BE49-F238E27FC236}">
                  <a16:creationId xmlns:a16="http://schemas.microsoft.com/office/drawing/2014/main" id="{4D2C2547-AC12-72E8-4993-BE9EF18F8F5D}"/>
                </a:ext>
              </a:extLst>
            </p:cNvPr>
            <p:cNvPicPr>
              <a:picLocks noChangeAspect="1"/>
            </p:cNvPicPr>
            <p:nvPr/>
          </p:nvPicPr>
          <p:blipFill>
            <a:blip r:embed="rId6">
              <a:grayscl/>
              <a:alphaModFix amt="53000"/>
            </a:blip>
            <a:srcRect/>
            <a:stretch/>
          </p:blipFill>
          <p:spPr>
            <a:xfrm>
              <a:off x="2126332" y="486818"/>
              <a:ext cx="264639" cy="264639"/>
            </a:xfrm>
            <a:prstGeom prst="rect">
              <a:avLst/>
            </a:prstGeom>
          </p:spPr>
        </p:pic>
        <p:pic>
          <p:nvPicPr>
            <p:cNvPr id="39" name="Picture 38">
              <a:extLst>
                <a:ext uri="{FF2B5EF4-FFF2-40B4-BE49-F238E27FC236}">
                  <a16:creationId xmlns:a16="http://schemas.microsoft.com/office/drawing/2014/main" id="{D09B8A74-987C-3CEB-69B7-A4C1D8074037}"/>
                </a:ext>
              </a:extLst>
            </p:cNvPr>
            <p:cNvPicPr>
              <a:picLocks noChangeAspect="1"/>
            </p:cNvPicPr>
            <p:nvPr/>
          </p:nvPicPr>
          <p:blipFill>
            <a:blip r:embed="rId7">
              <a:alphaModFix amt="53000"/>
              <a:grayscl/>
            </a:blip>
            <a:stretch>
              <a:fillRect/>
            </a:stretch>
          </p:blipFill>
          <p:spPr>
            <a:xfrm>
              <a:off x="677019" y="497398"/>
              <a:ext cx="264638" cy="264638"/>
            </a:xfrm>
            <a:prstGeom prst="rect">
              <a:avLst/>
            </a:prstGeom>
          </p:spPr>
        </p:pic>
      </p:grpSp>
    </p:spTree>
    <p:extLst>
      <p:ext uri="{BB962C8B-B14F-4D97-AF65-F5344CB8AC3E}">
        <p14:creationId xmlns:p14="http://schemas.microsoft.com/office/powerpoint/2010/main" val="3601723315"/>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Two men posing in fashionable attire sold by ASOS">
            <a:extLst>
              <a:ext uri="{FF2B5EF4-FFF2-40B4-BE49-F238E27FC236}">
                <a16:creationId xmlns:a16="http://schemas.microsoft.com/office/drawing/2014/main" id="{6B854693-E44A-0ED1-5DC7-0C55BFBBA29E}"/>
              </a:ext>
              <a:ext uri="{C183D7F6-B498-43B3-948B-1728B52AA6E4}">
                <adec:decorative xmlns:adec="http://schemas.microsoft.com/office/drawing/2017/decorative" val="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a:stretch/>
        </p:blipFill>
        <p:spPr bwMode="auto">
          <a:xfrm>
            <a:off x="4255783" y="0"/>
            <a:ext cx="7948743" cy="4162659"/>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B4E60DAD-90A1-84C6-40CF-297122B245E1}"/>
              </a:ext>
              <a:ext uri="{C183D7F6-B498-43B3-948B-1728B52AA6E4}">
                <adec:decorative xmlns:adec="http://schemas.microsoft.com/office/drawing/2017/decorative" val="1"/>
              </a:ext>
            </a:extLst>
          </p:cNvPr>
          <p:cNvSpPr/>
          <p:nvPr/>
        </p:nvSpPr>
        <p:spPr bwMode="auto">
          <a:xfrm>
            <a:off x="1" y="696233"/>
            <a:ext cx="2790334" cy="883852"/>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sp>
        <p:nvSpPr>
          <p:cNvPr id="12" name="Rectangle 11">
            <a:extLst>
              <a:ext uri="{FF2B5EF4-FFF2-40B4-BE49-F238E27FC236}">
                <a16:creationId xmlns:a16="http://schemas.microsoft.com/office/drawing/2014/main" id="{B81970D8-2E27-6FAF-D327-4C3416D8EA54}"/>
              </a:ext>
              <a:ext uri="{C183D7F6-B498-43B3-948B-1728B52AA6E4}">
                <adec:decorative xmlns:adec="http://schemas.microsoft.com/office/drawing/2017/decorative" val="1"/>
              </a:ext>
            </a:extLst>
          </p:cNvPr>
          <p:cNvSpPr/>
          <p:nvPr/>
        </p:nvSpPr>
        <p:spPr bwMode="auto">
          <a:xfrm>
            <a:off x="4243258" y="1"/>
            <a:ext cx="3808022" cy="4162658"/>
          </a:xfrm>
          <a:prstGeom prst="rect">
            <a:avLst/>
          </a:prstGeom>
          <a:solidFill>
            <a:schemeClr val="bg1">
              <a:alpha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sp>
        <p:nvSpPr>
          <p:cNvPr id="3" name="Title 2">
            <a:extLst>
              <a:ext uri="{FF2B5EF4-FFF2-40B4-BE49-F238E27FC236}">
                <a16:creationId xmlns:a16="http://schemas.microsoft.com/office/drawing/2014/main" id="{285333DA-5197-9C4B-6786-091ABABA981F}"/>
              </a:ext>
            </a:extLst>
          </p:cNvPr>
          <p:cNvSpPr>
            <a:spLocks noGrp="1"/>
          </p:cNvSpPr>
          <p:nvPr>
            <p:ph type="title"/>
          </p:nvPr>
        </p:nvSpPr>
        <p:spPr>
          <a:xfrm>
            <a:off x="588263" y="310243"/>
            <a:ext cx="11018520" cy="215444"/>
          </a:xfrm>
        </p:spPr>
        <p:txBody>
          <a:bodyPr/>
          <a:lstStyle/>
          <a:p>
            <a:r>
              <a:rPr lang="en-US" sz="1400">
                <a:solidFill>
                  <a:schemeClr val="bg1"/>
                </a:solidFill>
              </a:rPr>
              <a:t>Case Study</a:t>
            </a:r>
          </a:p>
        </p:txBody>
      </p:sp>
      <p:sp>
        <p:nvSpPr>
          <p:cNvPr id="19" name="Rectangle 18">
            <a:extLst>
              <a:ext uri="{FF2B5EF4-FFF2-40B4-BE49-F238E27FC236}">
                <a16:creationId xmlns:a16="http://schemas.microsoft.com/office/drawing/2014/main" id="{5C021831-6AF5-037D-2E6C-656C06E009D1}"/>
              </a:ext>
            </a:extLst>
          </p:cNvPr>
          <p:cNvSpPr/>
          <p:nvPr/>
        </p:nvSpPr>
        <p:spPr bwMode="auto">
          <a:xfrm>
            <a:off x="8013702" y="5263372"/>
            <a:ext cx="3361358" cy="520860"/>
          </a:xfrm>
          <a:prstGeom prst="rect">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65760" tIns="146304" rIns="182880" bIns="146304"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Segoe UI Semibold"/>
                <a:ea typeface="+mn-ea"/>
                <a:cs typeface="+mn-cs"/>
              </a:rPr>
              <a:t>Read the full customer story</a:t>
            </a:r>
          </a:p>
        </p:txBody>
      </p:sp>
      <p:sp>
        <p:nvSpPr>
          <p:cNvPr id="22" name="TextBox 21">
            <a:extLst>
              <a:ext uri="{FF2B5EF4-FFF2-40B4-BE49-F238E27FC236}">
                <a16:creationId xmlns:a16="http://schemas.microsoft.com/office/drawing/2014/main" id="{8C1908D1-079E-CC3E-F9DF-C935FF041B98}"/>
              </a:ext>
            </a:extLst>
          </p:cNvPr>
          <p:cNvSpPr txBox="1"/>
          <p:nvPr/>
        </p:nvSpPr>
        <p:spPr>
          <a:xfrm>
            <a:off x="4528776" y="717687"/>
            <a:ext cx="3223137" cy="2923877"/>
          </a:xfrm>
          <a:prstGeom prst="rect">
            <a:avLst/>
          </a:prstGeom>
          <a:noFill/>
        </p:spPr>
        <p:txBody>
          <a:bodyPr wrap="square" lIns="91440" tIns="45720" rIns="91440" bIns="45720" anchor="t">
            <a:spAutoFit/>
          </a:bodyPr>
          <a:lstStyle/>
          <a:p>
            <a:pPr marL="0" marR="0" lvl="1" indent="0" algn="l" defTabSz="914367" rtl="0" eaLnBrk="1" fontAlgn="ctr" latinLnBrk="0" hangingPunct="1">
              <a:lnSpc>
                <a:spcPct val="100000"/>
              </a:lnSpc>
              <a:spcBef>
                <a:spcPts val="0"/>
              </a:spcBef>
              <a:spcAft>
                <a:spcPts val="1600"/>
              </a:spcAft>
              <a:buClr>
                <a:srgbClr val="FFFFFF"/>
              </a:buClr>
              <a:buSzPct val="100000"/>
              <a:buFontTx/>
              <a:buNone/>
              <a:tabLst/>
              <a:defRPr/>
            </a:pPr>
            <a:r>
              <a:rPr kumimoji="0" lang="en-US" sz="1200" b="0" i="0" u="none" strike="noStrike" kern="1200" cap="none" spc="0" normalizeH="0" baseline="0" noProof="0" dirty="0">
                <a:ln>
                  <a:noFill/>
                </a:ln>
                <a:solidFill>
                  <a:srgbClr val="FFFFFF"/>
                </a:solidFill>
                <a:effectLst/>
                <a:uLnTx/>
                <a:uFillTx/>
                <a:latin typeface="SegoeUI"/>
                <a:ea typeface="+mn-ea"/>
                <a:cs typeface="+mn-cs"/>
              </a:rPr>
              <a:t>Pandemic forced difficult decisions to remain financially stable; ASOS identified tech cost optimization strategy to minimize impact</a:t>
            </a:r>
          </a:p>
          <a:p>
            <a:pPr marL="0" marR="0" lvl="1" indent="0" algn="l" defTabSz="914367" rtl="0" eaLnBrk="1" fontAlgn="ctr" latinLnBrk="0" hangingPunct="1">
              <a:lnSpc>
                <a:spcPct val="100000"/>
              </a:lnSpc>
              <a:spcBef>
                <a:spcPts val="0"/>
              </a:spcBef>
              <a:spcAft>
                <a:spcPts val="1600"/>
              </a:spcAft>
              <a:buClr>
                <a:srgbClr val="FFFFFF"/>
              </a:buClr>
              <a:buSzPct val="100000"/>
              <a:buFontTx/>
              <a:buNone/>
              <a:tabLst/>
              <a:defRPr/>
            </a:pPr>
            <a:r>
              <a:rPr kumimoji="0" lang="en-US" sz="1200" b="0" i="0" u="none" strike="noStrike" kern="1200" cap="none" spc="0" normalizeH="0" baseline="0" noProof="0" dirty="0">
                <a:ln>
                  <a:noFill/>
                </a:ln>
                <a:solidFill>
                  <a:srgbClr val="FFFFFF"/>
                </a:solidFill>
                <a:effectLst/>
                <a:uLnTx/>
                <a:uFillTx/>
                <a:latin typeface="SegoeUI"/>
                <a:ea typeface="+mn-ea"/>
                <a:cs typeface="+mn-cs"/>
              </a:rPr>
              <a:t>Microsoft consulted with Azure Well-Architected Framework, Azure Cost Management and Billing, Azure Advisor, </a:t>
            </a:r>
            <a:br>
              <a:rPr kumimoji="0" lang="en-US" sz="1200" b="0" i="0" u="none" strike="noStrike" kern="1200" cap="none" spc="0" normalizeH="0" baseline="0" noProof="0" dirty="0">
                <a:ln>
                  <a:noFill/>
                </a:ln>
                <a:solidFill>
                  <a:srgbClr val="FFFFFF"/>
                </a:solidFill>
                <a:effectLst/>
                <a:uLnTx/>
                <a:uFillTx/>
                <a:latin typeface="SegoeUI"/>
                <a:ea typeface="+mn-ea"/>
                <a:cs typeface="+mn-cs"/>
              </a:rPr>
            </a:br>
            <a:r>
              <a:rPr kumimoji="0" lang="en-US" sz="1200" b="0" i="0" u="none" strike="noStrike" kern="1200" cap="none" spc="0" normalizeH="0" baseline="0" noProof="0" dirty="0">
                <a:ln>
                  <a:noFill/>
                </a:ln>
                <a:solidFill>
                  <a:srgbClr val="FFFFFF"/>
                </a:solidFill>
                <a:effectLst/>
                <a:uLnTx/>
                <a:uFillTx/>
                <a:latin typeface="SegoeUI"/>
                <a:ea typeface="+mn-ea"/>
                <a:cs typeface="+mn-cs"/>
              </a:rPr>
              <a:t>and more</a:t>
            </a:r>
          </a:p>
          <a:p>
            <a:pPr marL="0" marR="0" lvl="1" indent="0" algn="l" defTabSz="914367" rtl="0" eaLnBrk="1" fontAlgn="ctr" latinLnBrk="0" hangingPunct="1">
              <a:lnSpc>
                <a:spcPct val="100000"/>
              </a:lnSpc>
              <a:spcBef>
                <a:spcPts val="0"/>
              </a:spcBef>
              <a:spcAft>
                <a:spcPts val="1600"/>
              </a:spcAft>
              <a:buClr>
                <a:srgbClr val="FFFFFF"/>
              </a:buClr>
              <a:buSzPct val="100000"/>
              <a:buFontTx/>
              <a:buNone/>
              <a:tabLst/>
              <a:defRPr/>
            </a:pPr>
            <a:r>
              <a:rPr kumimoji="0" lang="en-US" sz="1200" b="0" i="0" u="none" strike="noStrike" kern="1200" cap="none" spc="0" normalizeH="0" baseline="0" noProof="0" dirty="0">
                <a:ln>
                  <a:noFill/>
                </a:ln>
                <a:solidFill>
                  <a:srgbClr val="FFFFFF"/>
                </a:solidFill>
                <a:effectLst/>
                <a:uLnTx/>
                <a:uFillTx/>
                <a:latin typeface="SegoeUI"/>
                <a:ea typeface="+mn-ea"/>
                <a:cs typeface="+mn-cs"/>
              </a:rPr>
              <a:t>ASOS benefited from the efficiencies without having to give up much in return </a:t>
            </a:r>
          </a:p>
          <a:p>
            <a:pPr marL="0" marR="0" lvl="1" indent="0" algn="l" defTabSz="914367" rtl="0" eaLnBrk="1" fontAlgn="ctr" latinLnBrk="0" hangingPunct="1">
              <a:lnSpc>
                <a:spcPct val="100000"/>
              </a:lnSpc>
              <a:spcBef>
                <a:spcPts val="0"/>
              </a:spcBef>
              <a:spcAft>
                <a:spcPts val="1600"/>
              </a:spcAft>
              <a:buClr>
                <a:srgbClr val="FFFFFF"/>
              </a:buClr>
              <a:buSzPct val="100000"/>
              <a:buFontTx/>
              <a:buNone/>
              <a:tabLst/>
              <a:defRPr/>
            </a:pPr>
            <a:r>
              <a:rPr kumimoji="0" lang="en-US" sz="1200" b="0" i="0" u="none" strike="noStrike" kern="1200" cap="none" spc="0" normalizeH="0" baseline="0" noProof="0" dirty="0">
                <a:ln>
                  <a:noFill/>
                </a:ln>
                <a:solidFill>
                  <a:srgbClr val="FFFFFF"/>
                </a:solidFill>
                <a:effectLst/>
                <a:uLnTx/>
                <a:uFillTx/>
                <a:latin typeface="SegoeUI"/>
                <a:ea typeface="+mn-ea"/>
                <a:cs typeface="+mn-cs"/>
              </a:rPr>
              <a:t>In fact, financial impact was immediate </a:t>
            </a:r>
            <a:r>
              <a:rPr kumimoji="0" lang="en-US" sz="1200" b="0" i="1" u="none" strike="noStrike" kern="1200" cap="none" spc="0" normalizeH="0" baseline="0" noProof="0" dirty="0">
                <a:ln>
                  <a:noFill/>
                </a:ln>
                <a:solidFill>
                  <a:srgbClr val="FFFFFF"/>
                </a:solidFill>
                <a:effectLst/>
                <a:uLnTx/>
                <a:uFillTx/>
                <a:latin typeface="SegoeUI"/>
                <a:ea typeface="+mn-ea"/>
                <a:cs typeface="+mn-cs"/>
              </a:rPr>
              <a:t>and</a:t>
            </a:r>
            <a:r>
              <a:rPr kumimoji="0" lang="en-US" sz="1200" b="0" i="0" u="none" strike="noStrike" kern="1200" cap="none" spc="0" normalizeH="0" baseline="0" noProof="0" dirty="0">
                <a:ln>
                  <a:noFill/>
                </a:ln>
                <a:solidFill>
                  <a:srgbClr val="FFFFFF"/>
                </a:solidFill>
                <a:effectLst/>
                <a:uLnTx/>
                <a:uFillTx/>
                <a:latin typeface="SegoeUI"/>
                <a:ea typeface="+mn-ea"/>
                <a:cs typeface="+mn-cs"/>
              </a:rPr>
              <a:t> significant — far bigger than initially predicted (25-40%)</a:t>
            </a:r>
            <a:endParaRPr kumimoji="0" lang="en-US" sz="1200" b="0" i="0" u="none" strike="noStrike" kern="1200" cap="none" spc="0" normalizeH="0" baseline="0" noProof="0" dirty="0">
              <a:ln>
                <a:noFill/>
              </a:ln>
              <a:solidFill>
                <a:srgbClr val="FFFFFF"/>
              </a:solidFill>
              <a:effectLst/>
              <a:uLnTx/>
              <a:uFillTx/>
              <a:latin typeface="Segoe UI"/>
              <a:ea typeface="+mn-ea"/>
              <a:cs typeface="+mn-cs"/>
            </a:endParaRPr>
          </a:p>
        </p:txBody>
      </p:sp>
      <p:cxnSp>
        <p:nvCxnSpPr>
          <p:cNvPr id="27" name="Straight Connector 26">
            <a:extLst>
              <a:ext uri="{FF2B5EF4-FFF2-40B4-BE49-F238E27FC236}">
                <a16:creationId xmlns:a16="http://schemas.microsoft.com/office/drawing/2014/main" id="{717FA7FB-C410-EC9C-7EC5-379A96DAAC6B}"/>
              </a:ext>
              <a:ext uri="{C183D7F6-B498-43B3-948B-1728B52AA6E4}">
                <adec:decorative xmlns:adec="http://schemas.microsoft.com/office/drawing/2017/decorative" val="1"/>
              </a:ext>
            </a:extLst>
          </p:cNvPr>
          <p:cNvCxnSpPr/>
          <p:nvPr/>
        </p:nvCxnSpPr>
        <p:spPr>
          <a:xfrm>
            <a:off x="4528777" y="1437818"/>
            <a:ext cx="3223137" cy="0"/>
          </a:xfrm>
          <a:prstGeom prst="line">
            <a:avLst/>
          </a:prstGeom>
          <a:ln>
            <a:solidFill>
              <a:schemeClr val="accent2"/>
            </a:solidFill>
            <a:prstDash val="sysDot"/>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85C1996-2BFF-2AE9-370D-812231CDD802}"/>
              </a:ext>
              <a:ext uri="{C183D7F6-B498-43B3-948B-1728B52AA6E4}">
                <adec:decorative xmlns:adec="http://schemas.microsoft.com/office/drawing/2017/decorative" val="1"/>
              </a:ext>
            </a:extLst>
          </p:cNvPr>
          <p:cNvCxnSpPr/>
          <p:nvPr/>
        </p:nvCxnSpPr>
        <p:spPr>
          <a:xfrm>
            <a:off x="4528777" y="2338086"/>
            <a:ext cx="3223137" cy="0"/>
          </a:xfrm>
          <a:prstGeom prst="line">
            <a:avLst/>
          </a:prstGeom>
          <a:ln>
            <a:solidFill>
              <a:schemeClr val="accent2"/>
            </a:solidFill>
            <a:prstDash val="sysDot"/>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D3F853DA-750D-E964-80BE-0F0EAADF8058}"/>
              </a:ext>
              <a:ext uri="{C183D7F6-B498-43B3-948B-1728B52AA6E4}">
                <adec:decorative xmlns:adec="http://schemas.microsoft.com/office/drawing/2017/decorative" val="1"/>
              </a:ext>
            </a:extLst>
          </p:cNvPr>
          <p:cNvCxnSpPr/>
          <p:nvPr/>
        </p:nvCxnSpPr>
        <p:spPr>
          <a:xfrm>
            <a:off x="4528777" y="2939342"/>
            <a:ext cx="3223137" cy="0"/>
          </a:xfrm>
          <a:prstGeom prst="line">
            <a:avLst/>
          </a:prstGeom>
          <a:ln>
            <a:solidFill>
              <a:schemeClr val="accent2"/>
            </a:solidFill>
            <a:prstDash val="sysDot"/>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0" name="Title 1">
            <a:extLst>
              <a:ext uri="{FF2B5EF4-FFF2-40B4-BE49-F238E27FC236}">
                <a16:creationId xmlns:a16="http://schemas.microsoft.com/office/drawing/2014/main" id="{9522E3A5-5CF8-4C85-8AC7-3FFBD0564025}"/>
              </a:ext>
            </a:extLst>
          </p:cNvPr>
          <p:cNvSpPr txBox="1">
            <a:spLocks/>
          </p:cNvSpPr>
          <p:nvPr/>
        </p:nvSpPr>
        <p:spPr>
          <a:xfrm>
            <a:off x="588264" y="2057227"/>
            <a:ext cx="3641146" cy="1969770"/>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3200" b="0" i="0" u="none" strike="noStrike" kern="1200" cap="none" spc="-50" normalizeH="0" baseline="0" noProof="0">
                <a:ln w="3175">
                  <a:noFill/>
                </a:ln>
                <a:solidFill>
                  <a:srgbClr val="FFFFFF"/>
                </a:solidFill>
                <a:effectLst/>
                <a:uLnTx/>
                <a:uFillTx/>
                <a:latin typeface="Segoe UI Semibold"/>
                <a:ea typeface="+mn-ea"/>
                <a:cs typeface="Segoe UI"/>
              </a:rPr>
              <a:t>ASOS adapts to business realities</a:t>
            </a:r>
            <a:br>
              <a:rPr kumimoji="0" lang="en-US" sz="3200" b="0" i="0" u="none" strike="noStrike" kern="1200" cap="none" spc="-50" normalizeH="0" baseline="0" noProof="0">
                <a:ln w="3175">
                  <a:noFill/>
                </a:ln>
                <a:solidFill>
                  <a:srgbClr val="FFFFFF"/>
                </a:solidFill>
                <a:effectLst/>
                <a:uLnTx/>
                <a:uFillTx/>
                <a:latin typeface="Segoe UI Semibold"/>
                <a:ea typeface="+mn-ea"/>
                <a:cs typeface="Segoe UI" pitchFamily="34" charset="0"/>
              </a:rPr>
            </a:br>
            <a:r>
              <a:rPr kumimoji="0" lang="en-US" sz="3200" b="0" i="0" u="none" strike="noStrike" kern="1200" cap="none" spc="-50" normalizeH="0" baseline="0" noProof="0">
                <a:ln w="3175">
                  <a:noFill/>
                </a:ln>
                <a:solidFill>
                  <a:srgbClr val="FFFFFF"/>
                </a:solidFill>
                <a:effectLst/>
                <a:uLnTx/>
                <a:uFillTx/>
                <a:latin typeface="Segoe UI Semibold"/>
                <a:ea typeface="+mn-ea"/>
                <a:cs typeface="Segoe UI"/>
              </a:rPr>
              <a:t>with cost optimization</a:t>
            </a:r>
          </a:p>
        </p:txBody>
      </p:sp>
      <p:pic>
        <p:nvPicPr>
          <p:cNvPr id="5" name="Picture 4" descr="ASOS logo">
            <a:extLst>
              <a:ext uri="{FF2B5EF4-FFF2-40B4-BE49-F238E27FC236}">
                <a16:creationId xmlns:a16="http://schemas.microsoft.com/office/drawing/2014/main" id="{80FFE322-A474-B0CA-6A42-4F921962422F}"/>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a:stretch/>
        </p:blipFill>
        <p:spPr bwMode="auto">
          <a:xfrm>
            <a:off x="397650" y="835929"/>
            <a:ext cx="1667551" cy="601889"/>
          </a:xfrm>
          <a:prstGeom prst="rect">
            <a:avLst/>
          </a:prstGeom>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4F22E419-485C-840F-37AD-7303E967585F}"/>
              </a:ext>
              <a:ext uri="{C183D7F6-B498-43B3-948B-1728B52AA6E4}">
                <adec:decorative xmlns:adec="http://schemas.microsoft.com/office/drawing/2017/decorative" val="1"/>
              </a:ext>
            </a:extLst>
          </p:cNvPr>
          <p:cNvSpPr/>
          <p:nvPr/>
        </p:nvSpPr>
        <p:spPr bwMode="auto">
          <a:xfrm>
            <a:off x="4298940" y="4162659"/>
            <a:ext cx="3719513" cy="2695341"/>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sp>
        <p:nvSpPr>
          <p:cNvPr id="31" name="Oval 30">
            <a:extLst>
              <a:ext uri="{FF2B5EF4-FFF2-40B4-BE49-F238E27FC236}">
                <a16:creationId xmlns:a16="http://schemas.microsoft.com/office/drawing/2014/main" id="{EC447917-9493-0ACE-ACE8-34756EA4E492}"/>
              </a:ext>
              <a:ext uri="{C183D7F6-B498-43B3-948B-1728B52AA6E4}">
                <adec:decorative xmlns:adec="http://schemas.microsoft.com/office/drawing/2017/decorative" val="1"/>
              </a:ext>
            </a:extLst>
          </p:cNvPr>
          <p:cNvSpPr/>
          <p:nvPr/>
        </p:nvSpPr>
        <p:spPr bwMode="auto">
          <a:xfrm>
            <a:off x="7893060" y="5362324"/>
            <a:ext cx="324568" cy="324568"/>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sp>
        <p:nvSpPr>
          <p:cNvPr id="32" name="Triangle 31">
            <a:extLst>
              <a:ext uri="{FF2B5EF4-FFF2-40B4-BE49-F238E27FC236}">
                <a16:creationId xmlns:a16="http://schemas.microsoft.com/office/drawing/2014/main" id="{BF03718D-24D9-5672-3706-A0092F2C4C1E}"/>
              </a:ext>
              <a:ext uri="{C183D7F6-B498-43B3-948B-1728B52AA6E4}">
                <adec:decorative xmlns:adec="http://schemas.microsoft.com/office/drawing/2017/decorative" val="1"/>
              </a:ext>
            </a:extLst>
          </p:cNvPr>
          <p:cNvSpPr/>
          <p:nvPr/>
        </p:nvSpPr>
        <p:spPr bwMode="auto">
          <a:xfrm rot="5400000">
            <a:off x="8008847" y="5464568"/>
            <a:ext cx="139294" cy="120081"/>
          </a:xfrm>
          <a:prstGeom prst="triangl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sp>
        <p:nvSpPr>
          <p:cNvPr id="8" name="TextBox 7">
            <a:extLst>
              <a:ext uri="{FF2B5EF4-FFF2-40B4-BE49-F238E27FC236}">
                <a16:creationId xmlns:a16="http://schemas.microsoft.com/office/drawing/2014/main" id="{E487195C-1B89-74F6-341A-D12B4350EFB1}"/>
              </a:ext>
            </a:extLst>
          </p:cNvPr>
          <p:cNvSpPr txBox="1"/>
          <p:nvPr/>
        </p:nvSpPr>
        <p:spPr>
          <a:xfrm>
            <a:off x="4608000" y="4370990"/>
            <a:ext cx="3081403" cy="1246495"/>
          </a:xfrm>
          <a:prstGeom prst="rect">
            <a:avLst/>
          </a:prstGeom>
          <a:noFill/>
        </p:spPr>
        <p:txBody>
          <a:bodyPr wrap="square" lIns="91440" tIns="45720" rIns="91440" bIns="45720" anchor="t">
            <a:spAutoFit/>
          </a:bodyPr>
          <a:lstStyle/>
          <a:p>
            <a:pPr marL="91440" marR="0" lvl="1" indent="-457200" algn="l" defTabSz="914367" rtl="0" eaLnBrk="1" fontAlgn="auto" latinLnBrk="0" hangingPunct="1">
              <a:lnSpc>
                <a:spcPct val="100000"/>
              </a:lnSpc>
              <a:spcBef>
                <a:spcPts val="0"/>
              </a:spcBef>
              <a:spcAft>
                <a:spcPts val="1600"/>
              </a:spcAft>
              <a:buClrTx/>
              <a:buSzTx/>
              <a:buFontTx/>
              <a:buNone/>
              <a:tabLst/>
              <a:defRPr/>
            </a:pPr>
            <a:r>
              <a:rPr kumimoji="0" lang="en-US" sz="1500" b="0" i="0" u="none" strike="noStrike" kern="1200" cap="none" spc="0" normalizeH="0" baseline="0" noProof="0">
                <a:ln>
                  <a:noFill/>
                </a:ln>
                <a:solidFill>
                  <a:srgbClr val="FFFFFF"/>
                </a:solidFill>
                <a:effectLst/>
                <a:uLnTx/>
                <a:uFillTx/>
                <a:latin typeface="Segoe UI"/>
                <a:ea typeface="+mn-ea"/>
                <a:cs typeface="+mn-cs"/>
              </a:rPr>
              <a:t>  "We achieved</a:t>
            </a:r>
            <a:r>
              <a:rPr kumimoji="0" lang="en-US" sz="1500" b="0" i="0" u="none" strike="noStrike" kern="1200" cap="none" spc="0" normalizeH="0" baseline="0" noProof="0">
                <a:ln>
                  <a:noFill/>
                </a:ln>
                <a:solidFill>
                  <a:srgbClr val="FFFFFF"/>
                </a:solidFill>
                <a:effectLst/>
                <a:uLnTx/>
                <a:uFillTx/>
                <a:latin typeface="Segoe UI"/>
                <a:ea typeface="+mn-lt"/>
                <a:cs typeface="Segoe UI"/>
              </a:rPr>
              <a:t> a 15 to 20 percent benefit on the annual spend as a result of the housekeeping. No one realized that the fruit of that was that big"</a:t>
            </a: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9" name="TextBox 8">
            <a:extLst>
              <a:ext uri="{FF2B5EF4-FFF2-40B4-BE49-F238E27FC236}">
                <a16:creationId xmlns:a16="http://schemas.microsoft.com/office/drawing/2014/main" id="{032A38B7-6816-7ECE-EB9E-D72FCFC21A0C}"/>
              </a:ext>
            </a:extLst>
          </p:cNvPr>
          <p:cNvSpPr txBox="1"/>
          <p:nvPr/>
        </p:nvSpPr>
        <p:spPr>
          <a:xfrm>
            <a:off x="4698050" y="5786347"/>
            <a:ext cx="2133600" cy="430887"/>
          </a:xfrm>
          <a:prstGeom prst="rect">
            <a:avLst/>
          </a:prstGeom>
          <a:noFill/>
        </p:spPr>
        <p:txBody>
          <a:bodyPr wrap="square">
            <a:spAutoFit/>
          </a:bodyPr>
          <a:lstStyle/>
          <a:p>
            <a:pPr marL="182880" marR="0" lvl="0" indent="-18288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SegoeUI"/>
                <a:ea typeface="+mn-ea"/>
                <a:cs typeface="+mn-cs"/>
              </a:rPr>
              <a:t>— Kristina </a:t>
            </a:r>
            <a:r>
              <a:rPr kumimoji="0" lang="en-US" sz="1100" b="0" i="0" u="none" strike="noStrike" kern="1200" cap="none" spc="0" normalizeH="0" baseline="0" noProof="0" err="1">
                <a:ln>
                  <a:noFill/>
                </a:ln>
                <a:solidFill>
                  <a:srgbClr val="FFFFFF"/>
                </a:solidFill>
                <a:effectLst/>
                <a:uLnTx/>
                <a:uFillTx/>
                <a:latin typeface="SegoeUI"/>
                <a:ea typeface="+mn-ea"/>
                <a:cs typeface="+mn-cs"/>
              </a:rPr>
              <a:t>Moln</a:t>
            </a:r>
            <a:r>
              <a:rPr kumimoji="0" lang="en-US" sz="1100" b="0" i="0" u="none" strike="noStrike" kern="1200" cap="none" spc="0" normalizeH="0" baseline="0" noProof="0">
                <a:ln>
                  <a:noFill/>
                </a:ln>
                <a:solidFill>
                  <a:srgbClr val="FFFFFF"/>
                </a:solidFill>
                <a:effectLst/>
                <a:uLnTx/>
                <a:uFillTx/>
                <a:latin typeface="SegoeUI"/>
                <a:ea typeface="+mn-ea"/>
                <a:cs typeface="+mn-cs"/>
              </a:rPr>
              <a:t>-Page, </a:t>
            </a:r>
            <a:br>
              <a:rPr kumimoji="0" lang="en-US" sz="1100" b="0" i="0" u="none" strike="noStrike" kern="1200" cap="none" spc="0" normalizeH="0" baseline="0" noProof="0">
                <a:ln>
                  <a:noFill/>
                </a:ln>
                <a:solidFill>
                  <a:srgbClr val="FFFFFF"/>
                </a:solidFill>
                <a:effectLst/>
                <a:uLnTx/>
                <a:uFillTx/>
                <a:latin typeface="SegoeUI"/>
                <a:ea typeface="+mn-ea"/>
                <a:cs typeface="+mn-cs"/>
              </a:rPr>
            </a:br>
            <a:r>
              <a:rPr kumimoji="0" lang="en-US" sz="1100" b="0" i="0" u="none" strike="noStrike" kern="1200" cap="none" spc="0" normalizeH="0" baseline="0" noProof="0">
                <a:ln>
                  <a:noFill/>
                </a:ln>
                <a:solidFill>
                  <a:srgbClr val="FFFFFF"/>
                </a:solidFill>
                <a:effectLst/>
                <a:uLnTx/>
                <a:uFillTx/>
                <a:latin typeface="SegoeUI"/>
                <a:ea typeface="+mn-ea"/>
                <a:cs typeface="+mn-cs"/>
              </a:rPr>
              <a:t>Head of Finance at ASOS</a:t>
            </a:r>
          </a:p>
        </p:txBody>
      </p:sp>
    </p:spTree>
    <p:extLst>
      <p:ext uri="{BB962C8B-B14F-4D97-AF65-F5344CB8AC3E}">
        <p14:creationId xmlns:p14="http://schemas.microsoft.com/office/powerpoint/2010/main" val="4286803722"/>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descr="Reinvest to grow illustration">
            <a:extLst>
              <a:ext uri="{FF2B5EF4-FFF2-40B4-BE49-F238E27FC236}">
                <a16:creationId xmlns:a16="http://schemas.microsoft.com/office/drawing/2014/main" id="{3E9F5F8F-94AE-5E73-2492-4CEC0B834B81}"/>
              </a:ext>
            </a:extLst>
          </p:cNvPr>
          <p:cNvGrpSpPr/>
          <p:nvPr/>
        </p:nvGrpSpPr>
        <p:grpSpPr>
          <a:xfrm>
            <a:off x="8202946" y="703008"/>
            <a:ext cx="3989053" cy="5300555"/>
            <a:chOff x="8202946" y="703008"/>
            <a:chExt cx="3989053" cy="5300555"/>
          </a:xfrm>
        </p:grpSpPr>
        <p:sp>
          <p:nvSpPr>
            <p:cNvPr id="7" name="Rectangle: Rounded Corners 15">
              <a:extLst>
                <a:ext uri="{FF2B5EF4-FFF2-40B4-BE49-F238E27FC236}">
                  <a16:creationId xmlns:a16="http://schemas.microsoft.com/office/drawing/2014/main" id="{52935AA9-B3D4-8000-0412-9DC7EFA6015D}"/>
                </a:ext>
              </a:extLst>
            </p:cNvPr>
            <p:cNvSpPr/>
            <p:nvPr/>
          </p:nvSpPr>
          <p:spPr bwMode="auto">
            <a:xfrm flipV="1">
              <a:off x="8684454" y="2071067"/>
              <a:ext cx="3507545" cy="3932496"/>
            </a:xfrm>
            <a:prstGeom prst="roundRect">
              <a:avLst>
                <a:gd name="adj" fmla="val 6573"/>
              </a:avLst>
            </a:prstGeom>
            <a:gradFill>
              <a:gsLst>
                <a:gs pos="0">
                  <a:schemeClr val="accent2">
                    <a:alpha val="64000"/>
                  </a:schemeClr>
                </a:gs>
                <a:gs pos="47000">
                  <a:schemeClr val="bg1"/>
                </a:gs>
              </a:gsLst>
              <a:lin ang="4200000" scaled="0"/>
            </a:gradFill>
            <a:ln w="12700" cap="flat" cmpd="sng" algn="ctr">
              <a:noFill/>
              <a:prstDash val="solid"/>
              <a:headEnd type="none" w="med" len="med"/>
              <a:tailEnd type="none" w="med" len="med"/>
            </a:ln>
            <a:effectLst/>
          </p:spPr>
          <p:txBody>
            <a:bodyPr rot="0" spcFirstLastPara="0" vertOverflow="overflow" horzOverflow="overflow" vert="horz" wrap="square" lIns="72000" tIns="180000" rIns="72000" bIns="14400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err="1">
                <a:ln>
                  <a:noFill/>
                </a:ln>
                <a:gradFill flip="none" rotWithShape="1">
                  <a:gsLst>
                    <a:gs pos="0">
                      <a:srgbClr val="50E6FF"/>
                    </a:gs>
                    <a:gs pos="100000">
                      <a:srgbClr val="D59DFF"/>
                    </a:gs>
                  </a:gsLst>
                  <a:lin ang="2700000" scaled="1"/>
                  <a:tileRect/>
                </a:gradFill>
                <a:effectLst/>
                <a:uLnTx/>
                <a:uFillTx/>
                <a:latin typeface="Segoe UI Semibold"/>
                <a:ea typeface="+mn-ea"/>
                <a:cs typeface="+mn-cs"/>
              </a:endParaRPr>
            </a:p>
          </p:txBody>
        </p:sp>
        <p:sp>
          <p:nvSpPr>
            <p:cNvPr id="12" name="Oval 11">
              <a:extLst>
                <a:ext uri="{FF2B5EF4-FFF2-40B4-BE49-F238E27FC236}">
                  <a16:creationId xmlns:a16="http://schemas.microsoft.com/office/drawing/2014/main" id="{61A34CEC-8F25-3141-0CF0-DEB4125B2F63}"/>
                </a:ext>
                <a:ext uri="{C183D7F6-B498-43B3-948B-1728B52AA6E4}">
                  <adec:decorative xmlns:adec="http://schemas.microsoft.com/office/drawing/2017/decorative" val="1"/>
                </a:ext>
              </a:extLst>
            </p:cNvPr>
            <p:cNvSpPr/>
            <p:nvPr/>
          </p:nvSpPr>
          <p:spPr bwMode="auto">
            <a:xfrm rot="10800000">
              <a:off x="8202946" y="703008"/>
              <a:ext cx="3312035" cy="3429000"/>
            </a:xfrm>
            <a:prstGeom prst="ellipse">
              <a:avLst/>
            </a:prstGeom>
            <a:gradFill flip="none" rotWithShape="1">
              <a:gsLst>
                <a:gs pos="0">
                  <a:schemeClr val="accent3"/>
                </a:gs>
                <a:gs pos="58000">
                  <a:schemeClr val="bg1"/>
                </a:gs>
              </a:gsLst>
              <a:path path="circle">
                <a:fillToRect l="50000" t="50000" r="50000" b="50000"/>
              </a:path>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Segoe UI"/>
                <a:ea typeface="Segoe UI" pitchFamily="34" charset="0"/>
                <a:cs typeface="Segoe UI" pitchFamily="34" charset="0"/>
              </a:endParaRPr>
            </a:p>
          </p:txBody>
        </p:sp>
        <p:pic>
          <p:nvPicPr>
            <p:cNvPr id="19" name="Graphic 18">
              <a:extLst>
                <a:ext uri="{FF2B5EF4-FFF2-40B4-BE49-F238E27FC236}">
                  <a16:creationId xmlns:a16="http://schemas.microsoft.com/office/drawing/2014/main" id="{9FDA9372-D871-3BCE-124A-29455B15A158}"/>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018096" y="1979737"/>
              <a:ext cx="2840259" cy="2439871"/>
            </a:xfrm>
            <a:prstGeom prst="rect">
              <a:avLst/>
            </a:prstGeom>
          </p:spPr>
        </p:pic>
      </p:grpSp>
      <p:sp>
        <p:nvSpPr>
          <p:cNvPr id="21" name="Content Placeholder 10">
            <a:extLst>
              <a:ext uri="{FF2B5EF4-FFF2-40B4-BE49-F238E27FC236}">
                <a16:creationId xmlns:a16="http://schemas.microsoft.com/office/drawing/2014/main" id="{4AEFA26C-8433-0E8E-379D-1C81A61A6994}"/>
              </a:ext>
            </a:extLst>
          </p:cNvPr>
          <p:cNvSpPr txBox="1">
            <a:spLocks/>
          </p:cNvSpPr>
          <p:nvPr/>
        </p:nvSpPr>
        <p:spPr>
          <a:xfrm>
            <a:off x="584200" y="5152362"/>
            <a:ext cx="2205653" cy="430887"/>
          </a:xfrm>
          <a:prstGeom prst="rect">
            <a:avLst/>
          </a:prstGeom>
        </p:spPr>
        <p:txBody>
          <a:bodyPr vert="horz" wrap="square" lIns="0" tIns="0" rIns="0" bIns="0" rtlCol="0" anchor="t">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400" dirty="0">
                <a:solidFill>
                  <a:schemeClr val="accent1"/>
                </a:solidFill>
                <a:latin typeface="Segoe UI" panose="020B0502040204020203" pitchFamily="34" charset="0"/>
              </a:rPr>
              <a:t>a</a:t>
            </a:r>
            <a:r>
              <a:rPr lang="en-US" sz="1400" dirty="0">
                <a:solidFill>
                  <a:schemeClr val="accent1"/>
                </a:solidFill>
                <a:effectLst/>
                <a:latin typeface="Segoe UI" panose="020B0502040204020203" pitchFamily="34" charset="0"/>
              </a:rPr>
              <a:t>verage cost of </a:t>
            </a:r>
            <a:br>
              <a:rPr lang="en-US" sz="1400" dirty="0">
                <a:solidFill>
                  <a:schemeClr val="accent1"/>
                </a:solidFill>
                <a:effectLst/>
                <a:latin typeface="Segoe UI" panose="020B0502040204020203" pitchFamily="34" charset="0"/>
              </a:rPr>
            </a:br>
            <a:r>
              <a:rPr lang="en-US" sz="1400" dirty="0">
                <a:solidFill>
                  <a:schemeClr val="accent1"/>
                </a:solidFill>
                <a:effectLst/>
                <a:latin typeface="Segoe UI" panose="020B0502040204020203" pitchFamily="34" charset="0"/>
              </a:rPr>
              <a:t>security breach</a:t>
            </a:r>
            <a:r>
              <a:rPr lang="en-US" sz="1200" baseline="60000" dirty="0">
                <a:solidFill>
                  <a:schemeClr val="accent1"/>
                </a:solidFill>
                <a:effectLst/>
                <a:latin typeface="Segoe UI" panose="020B0502040204020203" pitchFamily="34" charset="0"/>
              </a:rPr>
              <a:t>1</a:t>
            </a:r>
            <a:endParaRPr lang="en-US" sz="1400" baseline="60000" dirty="0">
              <a:solidFill>
                <a:schemeClr val="accent1"/>
              </a:solidFill>
            </a:endParaRPr>
          </a:p>
        </p:txBody>
      </p:sp>
      <p:sp>
        <p:nvSpPr>
          <p:cNvPr id="22" name="TextBox 21">
            <a:extLst>
              <a:ext uri="{FF2B5EF4-FFF2-40B4-BE49-F238E27FC236}">
                <a16:creationId xmlns:a16="http://schemas.microsoft.com/office/drawing/2014/main" id="{F4344773-4A6E-FF21-C918-C4E16C94819D}"/>
              </a:ext>
            </a:extLst>
          </p:cNvPr>
          <p:cNvSpPr txBox="1"/>
          <p:nvPr/>
        </p:nvSpPr>
        <p:spPr>
          <a:xfrm>
            <a:off x="584200" y="4429092"/>
            <a:ext cx="2470072" cy="769441"/>
          </a:xfrm>
          <a:prstGeom prst="rect">
            <a:avLst/>
          </a:prstGeom>
          <a:noFill/>
        </p:spPr>
        <p:txBody>
          <a:bodyPr wrap="square" lIns="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4400" b="0" i="0" u="none" strike="noStrike" kern="1200" cap="none" spc="0" normalizeH="0" baseline="0" noProof="0">
                <a:ln>
                  <a:noFill/>
                </a:ln>
                <a:gradFill flip="none" rotWithShape="1">
                  <a:gsLst>
                    <a:gs pos="45000">
                      <a:srgbClr val="0078D4"/>
                    </a:gs>
                    <a:gs pos="0">
                      <a:srgbClr val="50E6FF"/>
                    </a:gs>
                    <a:gs pos="100000">
                      <a:srgbClr val="000000"/>
                    </a:gs>
                  </a:gsLst>
                  <a:lin ang="5400000" scaled="0"/>
                  <a:tileRect/>
                </a:gradFill>
                <a:effectLst/>
                <a:uLnTx/>
                <a:uFillTx/>
                <a:latin typeface="Segoe UI Semibold"/>
                <a:ea typeface="+mn-ea"/>
                <a:cs typeface="+mn-cs"/>
              </a:rPr>
              <a:t>$4.3M</a:t>
            </a:r>
          </a:p>
        </p:txBody>
      </p:sp>
      <p:sp>
        <p:nvSpPr>
          <p:cNvPr id="24" name="TextBox 23">
            <a:extLst>
              <a:ext uri="{FF2B5EF4-FFF2-40B4-BE49-F238E27FC236}">
                <a16:creationId xmlns:a16="http://schemas.microsoft.com/office/drawing/2014/main" id="{670EAC5E-30A5-293F-411F-4421414AEDEE}"/>
              </a:ext>
            </a:extLst>
          </p:cNvPr>
          <p:cNvSpPr txBox="1"/>
          <p:nvPr/>
        </p:nvSpPr>
        <p:spPr>
          <a:xfrm>
            <a:off x="3372626" y="4429092"/>
            <a:ext cx="2539298" cy="769441"/>
          </a:xfrm>
          <a:prstGeom prst="rect">
            <a:avLst/>
          </a:prstGeom>
          <a:noFill/>
        </p:spPr>
        <p:txBody>
          <a:bodyPr wrap="square" lIns="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4400" b="0" i="0" u="none" strike="noStrike" kern="1200" cap="none" spc="0" normalizeH="0" baseline="0" noProof="0">
                <a:ln>
                  <a:noFill/>
                </a:ln>
                <a:gradFill flip="none" rotWithShape="1">
                  <a:gsLst>
                    <a:gs pos="45000">
                      <a:srgbClr val="0078D4"/>
                    </a:gs>
                    <a:gs pos="0">
                      <a:srgbClr val="50E6FF"/>
                    </a:gs>
                    <a:gs pos="100000">
                      <a:srgbClr val="000000"/>
                    </a:gs>
                  </a:gsLst>
                  <a:lin ang="5400000" scaled="0"/>
                  <a:tileRect/>
                </a:gradFill>
                <a:effectLst/>
                <a:uLnTx/>
                <a:uFillTx/>
                <a:latin typeface="Segoe UI Semibold"/>
                <a:ea typeface="+mn-ea"/>
                <a:cs typeface="+mn-cs"/>
              </a:rPr>
              <a:t>$300k</a:t>
            </a:r>
          </a:p>
        </p:txBody>
      </p:sp>
      <p:sp>
        <p:nvSpPr>
          <p:cNvPr id="26" name="TextBox 25">
            <a:extLst>
              <a:ext uri="{FF2B5EF4-FFF2-40B4-BE49-F238E27FC236}">
                <a16:creationId xmlns:a16="http://schemas.microsoft.com/office/drawing/2014/main" id="{EB8EF189-0728-6951-2432-1022F57374F6}"/>
              </a:ext>
            </a:extLst>
          </p:cNvPr>
          <p:cNvSpPr txBox="1"/>
          <p:nvPr/>
        </p:nvSpPr>
        <p:spPr>
          <a:xfrm>
            <a:off x="5956650" y="4429092"/>
            <a:ext cx="1454375" cy="769441"/>
          </a:xfrm>
          <a:prstGeom prst="rect">
            <a:avLst/>
          </a:prstGeom>
          <a:noFill/>
        </p:spPr>
        <p:txBody>
          <a:bodyPr wrap="square" lIns="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4400" b="0" i="0" u="none" strike="noStrike" kern="1200" cap="none" spc="0" normalizeH="0" baseline="0" noProof="0">
                <a:ln>
                  <a:noFill/>
                </a:ln>
                <a:gradFill flip="none" rotWithShape="1">
                  <a:gsLst>
                    <a:gs pos="45000">
                      <a:srgbClr val="0078D4"/>
                    </a:gs>
                    <a:gs pos="0">
                      <a:srgbClr val="50E6FF"/>
                    </a:gs>
                    <a:gs pos="100000">
                      <a:srgbClr val="000000"/>
                    </a:gs>
                  </a:gsLst>
                  <a:lin ang="5400000" scaled="0"/>
                  <a:tileRect/>
                </a:gradFill>
                <a:effectLst/>
                <a:uLnTx/>
                <a:uFillTx/>
                <a:latin typeface="Segoe UI Semibold"/>
                <a:ea typeface="+mn-ea"/>
                <a:cs typeface="+mn-cs"/>
              </a:rPr>
              <a:t>61% </a:t>
            </a:r>
          </a:p>
        </p:txBody>
      </p:sp>
      <p:sp>
        <p:nvSpPr>
          <p:cNvPr id="2" name="Title 1">
            <a:extLst>
              <a:ext uri="{FF2B5EF4-FFF2-40B4-BE49-F238E27FC236}">
                <a16:creationId xmlns:a16="http://schemas.microsoft.com/office/drawing/2014/main" id="{D8F2E69C-F4E6-857F-67C3-235F04633252}"/>
              </a:ext>
            </a:extLst>
          </p:cNvPr>
          <p:cNvSpPr>
            <a:spLocks noGrp="1"/>
          </p:cNvSpPr>
          <p:nvPr>
            <p:ph type="title"/>
          </p:nvPr>
        </p:nvSpPr>
        <p:spPr>
          <a:xfrm>
            <a:off x="588263" y="1579970"/>
            <a:ext cx="11018520" cy="984885"/>
          </a:xfrm>
        </p:spPr>
        <p:txBody>
          <a:bodyPr/>
          <a:lstStyle/>
          <a:p>
            <a:r>
              <a:rPr lang="en-US" sz="3200"/>
              <a:t>Accelerate growth with your</a:t>
            </a:r>
            <a:br>
              <a:rPr lang="en-US" sz="3200"/>
            </a:br>
            <a:r>
              <a:rPr lang="en-US" sz="3200"/>
              <a:t>migration and optimization gains</a:t>
            </a:r>
          </a:p>
        </p:txBody>
      </p:sp>
      <p:sp>
        <p:nvSpPr>
          <p:cNvPr id="11" name="Content Placeholder 10">
            <a:extLst>
              <a:ext uri="{FF2B5EF4-FFF2-40B4-BE49-F238E27FC236}">
                <a16:creationId xmlns:a16="http://schemas.microsoft.com/office/drawing/2014/main" id="{5E3D9F04-BE1E-D479-1802-1B82FC75A87A}"/>
              </a:ext>
            </a:extLst>
          </p:cNvPr>
          <p:cNvSpPr>
            <a:spLocks noGrp="1"/>
          </p:cNvSpPr>
          <p:nvPr>
            <p:ph sz="quarter" idx="10"/>
          </p:nvPr>
        </p:nvSpPr>
        <p:spPr>
          <a:xfrm>
            <a:off x="592516" y="3216562"/>
            <a:ext cx="2470068" cy="449354"/>
          </a:xfrm>
        </p:spPr>
        <p:txBody>
          <a:bodyPr/>
          <a:lstStyle/>
          <a:p>
            <a:pPr marL="0" indent="0" defTabSz="914367" fontAlgn="ctr">
              <a:lnSpc>
                <a:spcPct val="90000"/>
              </a:lnSpc>
              <a:spcBef>
                <a:spcPts val="0"/>
              </a:spcBef>
              <a:spcAft>
                <a:spcPts val="200"/>
              </a:spcAft>
              <a:buClr>
                <a:schemeClr val="tx1"/>
              </a:buClr>
              <a:buSzPct val="100000"/>
              <a:buNone/>
              <a:defRPr/>
            </a:pPr>
            <a:r>
              <a:rPr lang="en-US" sz="1600">
                <a:latin typeface="+mj-lt"/>
                <a:cs typeface="+mn-cs"/>
              </a:rPr>
              <a:t>Enhance critical security </a:t>
            </a:r>
            <a:br>
              <a:rPr lang="en-US" sz="1600">
                <a:latin typeface="+mj-lt"/>
                <a:cs typeface="+mn-cs"/>
              </a:rPr>
            </a:br>
            <a:r>
              <a:rPr lang="en-US" sz="1600">
                <a:latin typeface="+mj-lt"/>
                <a:cs typeface="+mn-cs"/>
              </a:rPr>
              <a:t>and compliance posture</a:t>
            </a:r>
            <a:endParaRPr lang="en-US" sz="2000">
              <a:latin typeface="+mj-lt"/>
            </a:endParaRPr>
          </a:p>
        </p:txBody>
      </p:sp>
      <p:sp>
        <p:nvSpPr>
          <p:cNvPr id="3" name="TextBox 2">
            <a:extLst>
              <a:ext uri="{FF2B5EF4-FFF2-40B4-BE49-F238E27FC236}">
                <a16:creationId xmlns:a16="http://schemas.microsoft.com/office/drawing/2014/main" id="{09EF44CA-CD96-926D-B03B-5626D150FD06}"/>
              </a:ext>
            </a:extLst>
          </p:cNvPr>
          <p:cNvSpPr txBox="1"/>
          <p:nvPr/>
        </p:nvSpPr>
        <p:spPr>
          <a:xfrm>
            <a:off x="3372627" y="3216562"/>
            <a:ext cx="2349164" cy="670953"/>
          </a:xfrm>
          <a:prstGeom prst="rect">
            <a:avLst/>
          </a:prstGeom>
        </p:spPr>
        <p:txBody>
          <a:bodyPr vert="horz" wrap="square" lIns="0" tIns="0" rIns="0" bIns="0" rtlCol="0">
            <a:spAutoFit/>
          </a:bodyPr>
          <a:lstStyle>
            <a:lvl1pPr marR="0" indent="0" defTabSz="914367" fontAlgn="ctr">
              <a:lnSpc>
                <a:spcPct val="90000"/>
              </a:lnSpc>
              <a:spcBef>
                <a:spcPts val="0"/>
              </a:spcBef>
              <a:spcAft>
                <a:spcPts val="200"/>
              </a:spcAft>
              <a:buClr>
                <a:schemeClr val="tx1"/>
              </a:buClr>
              <a:buSzPct val="100000"/>
              <a:buFont typeface="Wingdings" panose="05000000000000000000" pitchFamily="2" charset="2"/>
              <a:buNone/>
              <a:tabLst/>
              <a:defRPr sz="1400" spc="0" baseline="0"/>
            </a:lvl1pPr>
            <a:lvl2pPr marR="0" indent="-228600" defTabSz="932742" fontAlgn="auto">
              <a:lnSpc>
                <a:spcPct val="100000"/>
              </a:lnSpc>
              <a:spcBef>
                <a:spcPct val="20000"/>
              </a:spcBef>
              <a:spcAft>
                <a:spcPts val="0"/>
              </a:spcAft>
              <a:buClrTx/>
              <a:buSzPct val="90000"/>
              <a:buFont typeface="Wingdings" panose="05000000000000000000" pitchFamily="2" charset="2"/>
              <a:buChar char=""/>
              <a:tabLst/>
              <a:defRPr sz="2000" spc="0" baseline="0"/>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6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r>
              <a:rPr lang="en-US" sz="1600">
                <a:latin typeface="+mj-lt"/>
              </a:rPr>
              <a:t>Prioritize business continuity &amp; disaster recovery</a:t>
            </a:r>
          </a:p>
        </p:txBody>
      </p:sp>
      <p:sp>
        <p:nvSpPr>
          <p:cNvPr id="6" name="TextBox 5">
            <a:extLst>
              <a:ext uri="{FF2B5EF4-FFF2-40B4-BE49-F238E27FC236}">
                <a16:creationId xmlns:a16="http://schemas.microsoft.com/office/drawing/2014/main" id="{320B5B2B-4D12-37CC-C3CF-4A51947957F2}"/>
              </a:ext>
            </a:extLst>
          </p:cNvPr>
          <p:cNvSpPr txBox="1"/>
          <p:nvPr/>
        </p:nvSpPr>
        <p:spPr>
          <a:xfrm>
            <a:off x="5956649" y="3216562"/>
            <a:ext cx="2562659" cy="670953"/>
          </a:xfrm>
          <a:prstGeom prst="rect">
            <a:avLst/>
          </a:prstGeom>
        </p:spPr>
        <p:txBody>
          <a:bodyPr vert="horz" wrap="square" lIns="0" tIns="0" rIns="0" bIns="0" rtlCol="0">
            <a:spAutoFit/>
          </a:bodyPr>
          <a:lstStyle>
            <a:defPPr>
              <a:defRPr lang="en-US"/>
            </a:defPPr>
            <a:lvl1pPr marR="0" indent="0" defTabSz="914367" fontAlgn="ctr">
              <a:lnSpc>
                <a:spcPct val="90000"/>
              </a:lnSpc>
              <a:spcBef>
                <a:spcPts val="0"/>
              </a:spcBef>
              <a:spcAft>
                <a:spcPts val="200"/>
              </a:spcAft>
              <a:buClr>
                <a:schemeClr val="tx1"/>
              </a:buClr>
              <a:buSzPct val="100000"/>
              <a:buFont typeface="Wingdings" panose="05000000000000000000" pitchFamily="2" charset="2"/>
              <a:buNone/>
              <a:tabLst/>
              <a:defRPr sz="1400" spc="0" baseline="0"/>
            </a:lvl1pPr>
            <a:lvl2pPr marR="0" indent="-228600" defTabSz="932742" fontAlgn="auto">
              <a:lnSpc>
                <a:spcPct val="100000"/>
              </a:lnSpc>
              <a:spcBef>
                <a:spcPct val="20000"/>
              </a:spcBef>
              <a:spcAft>
                <a:spcPts val="0"/>
              </a:spcAft>
              <a:buClrTx/>
              <a:buSzPct val="90000"/>
              <a:buFont typeface="Wingdings" panose="05000000000000000000" pitchFamily="2" charset="2"/>
              <a:buChar char=""/>
              <a:tabLst/>
              <a:defRPr sz="2000" spc="0" baseline="0"/>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6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r>
              <a:rPr lang="en-US" sz="1600">
                <a:latin typeface="+mj-lt"/>
              </a:rPr>
              <a:t>Develop innovative solutions for new </a:t>
            </a:r>
            <a:br>
              <a:rPr lang="en-US" sz="1600">
                <a:latin typeface="+mj-lt"/>
              </a:rPr>
            </a:br>
            <a:r>
              <a:rPr lang="en-US" sz="1600">
                <a:latin typeface="+mj-lt"/>
              </a:rPr>
              <a:t>business value</a:t>
            </a:r>
          </a:p>
        </p:txBody>
      </p:sp>
      <p:sp>
        <p:nvSpPr>
          <p:cNvPr id="16" name="TextBox 15">
            <a:extLst>
              <a:ext uri="{FF2B5EF4-FFF2-40B4-BE49-F238E27FC236}">
                <a16:creationId xmlns:a16="http://schemas.microsoft.com/office/drawing/2014/main" id="{399FE240-2E98-874E-4012-16258FF9EC4F}"/>
              </a:ext>
            </a:extLst>
          </p:cNvPr>
          <p:cNvSpPr txBox="1"/>
          <p:nvPr/>
        </p:nvSpPr>
        <p:spPr>
          <a:xfrm>
            <a:off x="9072066" y="5147765"/>
            <a:ext cx="2741562" cy="541687"/>
          </a:xfrm>
          <a:prstGeom prst="rect">
            <a:avLst/>
          </a:prstGeom>
          <a:noFill/>
        </p:spPr>
        <p:txBody>
          <a:bodyPr wrap="square">
            <a:spAutoFit/>
          </a:bodyPr>
          <a:lstStyle/>
          <a:p>
            <a:pPr marL="0" indent="0" defTabSz="914367" fontAlgn="ctr">
              <a:lnSpc>
                <a:spcPct val="90000"/>
              </a:lnSpc>
              <a:spcBef>
                <a:spcPts val="0"/>
              </a:spcBef>
              <a:spcAft>
                <a:spcPts val="200"/>
              </a:spcAft>
              <a:buClr>
                <a:schemeClr val="tx1"/>
              </a:buClr>
              <a:buSzPct val="100000"/>
              <a:buNone/>
              <a:defRPr/>
            </a:pPr>
            <a:r>
              <a:rPr lang="en-US" sz="1600" spc="-50" dirty="0">
                <a:ln w="3175">
                  <a:noFill/>
                </a:ln>
                <a:cs typeface="Segoe UI"/>
              </a:rPr>
              <a:t>of customers will adopt a cloud first approach by 2025 </a:t>
            </a:r>
          </a:p>
        </p:txBody>
      </p:sp>
      <p:sp>
        <p:nvSpPr>
          <p:cNvPr id="17" name="TextBox 16">
            <a:extLst>
              <a:ext uri="{FF2B5EF4-FFF2-40B4-BE49-F238E27FC236}">
                <a16:creationId xmlns:a16="http://schemas.microsoft.com/office/drawing/2014/main" id="{DAF15811-38E9-356A-DF7A-CCE83C8FC821}"/>
              </a:ext>
            </a:extLst>
          </p:cNvPr>
          <p:cNvSpPr txBox="1"/>
          <p:nvPr/>
        </p:nvSpPr>
        <p:spPr>
          <a:xfrm>
            <a:off x="9104963" y="4429092"/>
            <a:ext cx="1454375" cy="769441"/>
          </a:xfrm>
          <a:prstGeom prst="rect">
            <a:avLst/>
          </a:prstGeom>
          <a:noFill/>
        </p:spPr>
        <p:txBody>
          <a:bodyPr wrap="square" lIns="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4400" b="0" i="0" u="none" strike="noStrike" kern="1200" cap="none" spc="0" normalizeH="0" baseline="0" noProof="0">
                <a:ln>
                  <a:noFill/>
                </a:ln>
                <a:gradFill flip="none" rotWithShape="1">
                  <a:gsLst>
                    <a:gs pos="45000">
                      <a:srgbClr val="0078D4"/>
                    </a:gs>
                    <a:gs pos="0">
                      <a:srgbClr val="50E6FF"/>
                    </a:gs>
                    <a:gs pos="100000">
                      <a:srgbClr val="000000"/>
                    </a:gs>
                  </a:gsLst>
                  <a:lin ang="5400000" scaled="0"/>
                  <a:tileRect/>
                </a:gradFill>
                <a:effectLst/>
                <a:uLnTx/>
                <a:uFillTx/>
                <a:latin typeface="Segoe UI Semibold"/>
                <a:ea typeface="+mn-ea"/>
                <a:cs typeface="+mn-cs"/>
              </a:rPr>
              <a:t>85% </a:t>
            </a:r>
          </a:p>
        </p:txBody>
      </p:sp>
      <p:sp>
        <p:nvSpPr>
          <p:cNvPr id="27" name="Content Placeholder 10">
            <a:extLst>
              <a:ext uri="{FF2B5EF4-FFF2-40B4-BE49-F238E27FC236}">
                <a16:creationId xmlns:a16="http://schemas.microsoft.com/office/drawing/2014/main" id="{52A16055-13C5-6E93-8BF5-197FEF5E380D}"/>
              </a:ext>
            </a:extLst>
          </p:cNvPr>
          <p:cNvSpPr txBox="1">
            <a:spLocks/>
          </p:cNvSpPr>
          <p:nvPr/>
        </p:nvSpPr>
        <p:spPr>
          <a:xfrm>
            <a:off x="3372627" y="5152362"/>
            <a:ext cx="2205653" cy="430887"/>
          </a:xfrm>
          <a:prstGeom prst="rect">
            <a:avLst/>
          </a:prstGeom>
        </p:spPr>
        <p:txBody>
          <a:bodyPr vert="horz" wrap="square" lIns="0" tIns="0" rIns="0" bIns="0" rtlCol="0" anchor="t">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400" dirty="0">
                <a:solidFill>
                  <a:schemeClr val="accent1"/>
                </a:solidFill>
                <a:effectLst/>
                <a:latin typeface="Segoe UI" panose="020B0502040204020203" pitchFamily="34" charset="0"/>
              </a:rPr>
              <a:t>Average per-</a:t>
            </a:r>
            <a:r>
              <a:rPr lang="en-US" sz="1400" dirty="0">
                <a:solidFill>
                  <a:schemeClr val="accent1"/>
                </a:solidFill>
                <a:latin typeface="Segoe UI" panose="020B0502040204020203" pitchFamily="34" charset="0"/>
              </a:rPr>
              <a:t>hour cost of enterprise downtime</a:t>
            </a:r>
            <a:r>
              <a:rPr lang="en-US" sz="1200" baseline="60000" dirty="0">
                <a:solidFill>
                  <a:schemeClr val="accent1"/>
                </a:solidFill>
                <a:latin typeface="Segoe UI" panose="020B0502040204020203" pitchFamily="34" charset="0"/>
              </a:rPr>
              <a:t>2</a:t>
            </a:r>
            <a:endParaRPr lang="en-US" sz="1400" baseline="60000" dirty="0">
              <a:solidFill>
                <a:schemeClr val="accent1"/>
              </a:solidFill>
            </a:endParaRPr>
          </a:p>
        </p:txBody>
      </p:sp>
      <p:sp>
        <p:nvSpPr>
          <p:cNvPr id="28" name="Content Placeholder 10">
            <a:extLst>
              <a:ext uri="{FF2B5EF4-FFF2-40B4-BE49-F238E27FC236}">
                <a16:creationId xmlns:a16="http://schemas.microsoft.com/office/drawing/2014/main" id="{6548B429-566E-32E4-952D-3AEEA29755EB}"/>
              </a:ext>
            </a:extLst>
          </p:cNvPr>
          <p:cNvSpPr txBox="1">
            <a:spLocks/>
          </p:cNvSpPr>
          <p:nvPr/>
        </p:nvSpPr>
        <p:spPr>
          <a:xfrm>
            <a:off x="5956650" y="5147765"/>
            <a:ext cx="2205653" cy="430887"/>
          </a:xfrm>
          <a:prstGeom prst="rect">
            <a:avLst/>
          </a:prstGeom>
        </p:spPr>
        <p:txBody>
          <a:bodyPr vert="horz" wrap="square" lIns="0" tIns="0" rIns="0" bIns="0" rtlCol="0" anchor="t">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400" dirty="0">
                <a:solidFill>
                  <a:schemeClr val="accent1"/>
                </a:solidFill>
                <a:latin typeface="Segoe UI" panose="020B0502040204020203" pitchFamily="34" charset="0"/>
              </a:rPr>
              <a:t>average revenue increase from data transformations</a:t>
            </a:r>
            <a:r>
              <a:rPr lang="en-US" sz="1200" baseline="60000" dirty="0">
                <a:solidFill>
                  <a:schemeClr val="accent1"/>
                </a:solidFill>
                <a:latin typeface="Segoe UI" panose="020B0502040204020203" pitchFamily="34" charset="0"/>
              </a:rPr>
              <a:t>3</a:t>
            </a:r>
            <a:endParaRPr lang="en-US" sz="1400" baseline="60000" dirty="0">
              <a:solidFill>
                <a:schemeClr val="accent1"/>
              </a:solidFill>
              <a:latin typeface="Segoe UI" panose="020B0502040204020203" pitchFamily="34" charset="0"/>
            </a:endParaRPr>
          </a:p>
        </p:txBody>
      </p:sp>
      <p:sp>
        <p:nvSpPr>
          <p:cNvPr id="35" name="TextBox 34">
            <a:extLst>
              <a:ext uri="{FF2B5EF4-FFF2-40B4-BE49-F238E27FC236}">
                <a16:creationId xmlns:a16="http://schemas.microsoft.com/office/drawing/2014/main" id="{849D1991-5A00-A1A2-FAF1-B8E8A94ED064}"/>
              </a:ext>
            </a:extLst>
          </p:cNvPr>
          <p:cNvSpPr txBox="1"/>
          <p:nvPr/>
        </p:nvSpPr>
        <p:spPr>
          <a:xfrm>
            <a:off x="2675554" y="565021"/>
            <a:ext cx="2456885" cy="138499"/>
          </a:xfrm>
          <a:prstGeom prst="rect">
            <a:avLst/>
          </a:prstGeom>
          <a:noFill/>
        </p:spPr>
        <p:txBody>
          <a:bodyPr wrap="square" lIns="0" tIns="0" rIns="0" bIns="0">
            <a:spAutoFit/>
          </a:bodyPr>
          <a:lstStyle>
            <a:defPPr>
              <a:defRPr lang="en-US"/>
            </a:defPPr>
            <a:lvl2pPr marL="0" marR="0" lvl="1" indent="0" fontAlgn="auto">
              <a:lnSpc>
                <a:spcPct val="100000"/>
              </a:lnSpc>
              <a:spcBef>
                <a:spcPts val="0"/>
              </a:spcBef>
              <a:spcAft>
                <a:spcPts val="0"/>
              </a:spcAft>
              <a:buClrTx/>
              <a:buSzTx/>
              <a:buFontTx/>
              <a:buNone/>
              <a:tabLst/>
              <a:defRPr kumimoji="0" sz="900" b="0" i="0" u="none" strike="noStrike" cap="none" spc="300" normalizeH="0" baseline="0">
                <a:ln>
                  <a:noFill/>
                </a:ln>
                <a:solidFill>
                  <a:schemeClr val="accent1"/>
                </a:solidFill>
                <a:effectLst/>
                <a:uLnTx/>
                <a:uFillTx/>
                <a:latin typeface="Segoe UI Semibold"/>
              </a:defRPr>
            </a:lvl2pPr>
          </a:lstStyle>
          <a:p>
            <a:pPr lvl="1"/>
            <a:r>
              <a:rPr lang="en-US"/>
              <a:t>REINVEST TO GROW</a:t>
            </a:r>
          </a:p>
        </p:txBody>
      </p:sp>
      <p:grpSp>
        <p:nvGrpSpPr>
          <p:cNvPr id="15" name="Group 14" descr="Reinvest to grow navigation">
            <a:extLst>
              <a:ext uri="{FF2B5EF4-FFF2-40B4-BE49-F238E27FC236}">
                <a16:creationId xmlns:a16="http://schemas.microsoft.com/office/drawing/2014/main" id="{C4F35DF1-3D88-3242-6986-3F03A50DAD75}"/>
              </a:ext>
            </a:extLst>
          </p:cNvPr>
          <p:cNvGrpSpPr/>
          <p:nvPr/>
        </p:nvGrpSpPr>
        <p:grpSpPr>
          <a:xfrm>
            <a:off x="583828" y="409640"/>
            <a:ext cx="1894901" cy="440154"/>
            <a:chOff x="583828" y="409640"/>
            <a:chExt cx="1894901" cy="440154"/>
          </a:xfrm>
        </p:grpSpPr>
        <p:cxnSp>
          <p:nvCxnSpPr>
            <p:cNvPr id="31" name="Straight Connector 30">
              <a:extLst>
                <a:ext uri="{FF2B5EF4-FFF2-40B4-BE49-F238E27FC236}">
                  <a16:creationId xmlns:a16="http://schemas.microsoft.com/office/drawing/2014/main" id="{516AE72F-CCD4-1028-C19A-C9FFB9506E4E}"/>
                </a:ext>
                <a:ext uri="{C183D7F6-B498-43B3-948B-1728B52AA6E4}">
                  <adec:decorative xmlns:adec="http://schemas.microsoft.com/office/drawing/2017/decorative" val="1"/>
                </a:ext>
              </a:extLst>
            </p:cNvPr>
            <p:cNvCxnSpPr>
              <a:cxnSpLocks/>
            </p:cNvCxnSpPr>
            <p:nvPr/>
          </p:nvCxnSpPr>
          <p:spPr>
            <a:xfrm flipH="1">
              <a:off x="1018274" y="629717"/>
              <a:ext cx="1014593" cy="0"/>
            </a:xfrm>
            <a:prstGeom prst="line">
              <a:avLst/>
            </a:prstGeom>
            <a:solidFill>
              <a:schemeClr val="bg1">
                <a:lumMod val="95000"/>
                <a:lumOff val="5000"/>
              </a:schemeClr>
            </a:solidFill>
            <a:ln w="12700" cap="flat" cmpd="sng" algn="ctr">
              <a:solidFill>
                <a:srgbClr val="000000">
                  <a:lumMod val="75000"/>
                  <a:lumOff val="25000"/>
                </a:srgbClr>
              </a:solidFill>
              <a:prstDash val="solid"/>
              <a:headEnd type="none" w="med" len="med"/>
              <a:tailEnd type="none" w="med" len="med"/>
            </a:ln>
            <a:effectLst/>
          </p:spPr>
        </p:cxnSp>
        <p:sp>
          <p:nvSpPr>
            <p:cNvPr id="32" name="Oval 31">
              <a:extLst>
                <a:ext uri="{FF2B5EF4-FFF2-40B4-BE49-F238E27FC236}">
                  <a16:creationId xmlns:a16="http://schemas.microsoft.com/office/drawing/2014/main" id="{8128A5CA-C3C3-2977-9C98-1ADC45C14EE6}"/>
                </a:ext>
              </a:extLst>
            </p:cNvPr>
            <p:cNvSpPr/>
            <p:nvPr/>
          </p:nvSpPr>
          <p:spPr bwMode="auto">
            <a:xfrm>
              <a:off x="583828" y="409640"/>
              <a:ext cx="440154" cy="440154"/>
            </a:xfrm>
            <a:prstGeom prst="ellipse">
              <a:avLst/>
            </a:prstGeom>
            <a:solidFill>
              <a:schemeClr val="bg1">
                <a:lumMod val="95000"/>
                <a:lumOff val="5000"/>
              </a:schemeClr>
            </a:solidFill>
            <a:ln w="12700" cap="flat" cmpd="sng" algn="ctr">
              <a:solidFill>
                <a:srgbClr val="000000">
                  <a:lumMod val="75000"/>
                  <a:lumOff val="25000"/>
                </a:srgbClr>
              </a:solidFill>
              <a:prstDash val="solid"/>
              <a:headEnd type="none" w="med" len="med"/>
              <a:tailEnd type="none" w="med" len="med"/>
            </a:ln>
            <a:effectLst/>
          </p:spPr>
          <p:txBody>
            <a:bodyPr rot="0" spcFirstLastPara="0" vertOverflow="overflow" horzOverflow="overflow" vert="horz" wrap="square" lIns="72000" tIns="180000" rIns="72000" bIns="144000" numCol="1" spcCol="0" rtlCol="0" fromWordArt="0" anchor="t" anchorCtr="0" forceAA="0" compatLnSpc="1">
              <a:prstTxWarp prst="textNoShape">
                <a:avLst/>
              </a:prstTxWarp>
              <a:noAutofit/>
            </a:bodyPr>
            <a:lstStyle/>
            <a:p>
              <a:pPr algn="ctr"/>
              <a:endParaRPr lang="en-US" sz="1600" kern="0" err="1">
                <a:gradFill flip="none" rotWithShape="1">
                  <a:gsLst>
                    <a:gs pos="0">
                      <a:srgbClr val="50E6FF"/>
                    </a:gs>
                    <a:gs pos="100000">
                      <a:srgbClr val="D59DFF"/>
                    </a:gs>
                  </a:gsLst>
                  <a:lin ang="2700000" scaled="1"/>
                  <a:tileRect/>
                </a:gradFill>
                <a:latin typeface="Segoe UI Semibold"/>
              </a:endParaRPr>
            </a:p>
          </p:txBody>
        </p:sp>
        <p:sp>
          <p:nvSpPr>
            <p:cNvPr id="33" name="Oval 32">
              <a:extLst>
                <a:ext uri="{FF2B5EF4-FFF2-40B4-BE49-F238E27FC236}">
                  <a16:creationId xmlns:a16="http://schemas.microsoft.com/office/drawing/2014/main" id="{EAA13B95-67A0-026C-D943-5D2A34C56E28}"/>
                </a:ext>
              </a:extLst>
            </p:cNvPr>
            <p:cNvSpPr/>
            <p:nvPr/>
          </p:nvSpPr>
          <p:spPr bwMode="auto">
            <a:xfrm>
              <a:off x="2038575" y="409640"/>
              <a:ext cx="440154" cy="440154"/>
            </a:xfrm>
            <a:prstGeom prst="ellipse">
              <a:avLst/>
            </a:prstGeom>
            <a:solidFill>
              <a:schemeClr val="bg1"/>
            </a:solidFill>
            <a:ln w="12700" cap="flat" cmpd="sng" algn="ctr">
              <a:solidFill>
                <a:schemeClr val="accent1"/>
              </a:solidFill>
              <a:prstDash val="solid"/>
              <a:headEnd type="none" w="med" len="med"/>
              <a:tailEnd type="none" w="med" len="med"/>
            </a:ln>
            <a:effectLst/>
          </p:spPr>
          <p:txBody>
            <a:bodyPr rot="0" spcFirstLastPara="0" vertOverflow="overflow" horzOverflow="overflow" vert="horz" wrap="square" lIns="72000" tIns="180000" rIns="72000" bIns="144000" numCol="1" spcCol="0" rtlCol="0" fromWordArt="0" anchor="t" anchorCtr="0" forceAA="0" compatLnSpc="1">
              <a:prstTxWarp prst="textNoShape">
                <a:avLst/>
              </a:prstTxWarp>
              <a:noAutofit/>
            </a:bodyPr>
            <a:lstStyle/>
            <a:p>
              <a:pPr algn="ctr"/>
              <a:endParaRPr lang="en-US" sz="1600" kern="0" err="1">
                <a:gradFill flip="none" rotWithShape="1">
                  <a:gsLst>
                    <a:gs pos="0">
                      <a:srgbClr val="50E6FF"/>
                    </a:gs>
                    <a:gs pos="100000">
                      <a:srgbClr val="D59DFF"/>
                    </a:gs>
                  </a:gsLst>
                  <a:lin ang="2700000" scaled="1"/>
                  <a:tileRect/>
                </a:gradFill>
                <a:latin typeface="Segoe UI Semibold"/>
              </a:endParaRPr>
            </a:p>
          </p:txBody>
        </p:sp>
        <p:sp>
          <p:nvSpPr>
            <p:cNvPr id="34" name="Oval 33">
              <a:extLst>
                <a:ext uri="{FF2B5EF4-FFF2-40B4-BE49-F238E27FC236}">
                  <a16:creationId xmlns:a16="http://schemas.microsoft.com/office/drawing/2014/main" id="{9326503C-B74D-D1E5-0379-DB56E05A254E}"/>
                </a:ext>
              </a:extLst>
            </p:cNvPr>
            <p:cNvSpPr/>
            <p:nvPr/>
          </p:nvSpPr>
          <p:spPr bwMode="auto">
            <a:xfrm>
              <a:off x="1311201" y="409640"/>
              <a:ext cx="440154" cy="440154"/>
            </a:xfrm>
            <a:prstGeom prst="ellipse">
              <a:avLst/>
            </a:prstGeom>
            <a:solidFill>
              <a:schemeClr val="bg1">
                <a:lumMod val="95000"/>
                <a:lumOff val="5000"/>
              </a:schemeClr>
            </a:solidFill>
            <a:ln w="12700" cap="flat" cmpd="sng" algn="ctr">
              <a:solidFill>
                <a:srgbClr val="000000">
                  <a:lumMod val="75000"/>
                  <a:lumOff val="25000"/>
                </a:srgbClr>
              </a:solidFill>
              <a:prstDash val="solid"/>
              <a:headEnd type="none" w="med" len="med"/>
              <a:tailEnd type="none" w="med" len="med"/>
            </a:ln>
            <a:effectLst/>
          </p:spPr>
          <p:txBody>
            <a:bodyPr rot="0" spcFirstLastPara="0" vertOverflow="overflow" horzOverflow="overflow" vert="horz" wrap="square" lIns="72000" tIns="180000" rIns="72000" bIns="144000" numCol="1" spcCol="0" rtlCol="0" fromWordArt="0" anchor="t" anchorCtr="0" forceAA="0" compatLnSpc="1">
              <a:prstTxWarp prst="textNoShape">
                <a:avLst/>
              </a:prstTxWarp>
              <a:noAutofit/>
            </a:bodyPr>
            <a:lstStyle/>
            <a:p>
              <a:pPr algn="ctr"/>
              <a:endParaRPr lang="en-US" sz="1600" kern="0" err="1">
                <a:gradFill flip="none" rotWithShape="1">
                  <a:gsLst>
                    <a:gs pos="0">
                      <a:srgbClr val="50E6FF"/>
                    </a:gs>
                    <a:gs pos="100000">
                      <a:srgbClr val="D59DFF"/>
                    </a:gs>
                  </a:gsLst>
                  <a:lin ang="2700000" scaled="1"/>
                  <a:tileRect/>
                </a:gradFill>
                <a:latin typeface="Segoe UI Semibold"/>
              </a:endParaRPr>
            </a:p>
          </p:txBody>
        </p:sp>
        <p:pic>
          <p:nvPicPr>
            <p:cNvPr id="39" name="Picture 38">
              <a:extLst>
                <a:ext uri="{FF2B5EF4-FFF2-40B4-BE49-F238E27FC236}">
                  <a16:creationId xmlns:a16="http://schemas.microsoft.com/office/drawing/2014/main" id="{5EACF126-350E-191A-7D25-4986D346F6E0}"/>
                </a:ext>
              </a:extLst>
            </p:cNvPr>
            <p:cNvPicPr>
              <a:picLocks noChangeAspect="1"/>
            </p:cNvPicPr>
            <p:nvPr/>
          </p:nvPicPr>
          <p:blipFill>
            <a:blip r:embed="rId5">
              <a:grayscl/>
              <a:alphaModFix amt="53000"/>
            </a:blip>
            <a:stretch>
              <a:fillRect/>
            </a:stretch>
          </p:blipFill>
          <p:spPr>
            <a:xfrm>
              <a:off x="1394021" y="502426"/>
              <a:ext cx="267846" cy="267846"/>
            </a:xfrm>
            <a:prstGeom prst="rect">
              <a:avLst/>
            </a:prstGeom>
          </p:spPr>
        </p:pic>
        <p:pic>
          <p:nvPicPr>
            <p:cNvPr id="40" name="Picture 39">
              <a:extLst>
                <a:ext uri="{FF2B5EF4-FFF2-40B4-BE49-F238E27FC236}">
                  <a16:creationId xmlns:a16="http://schemas.microsoft.com/office/drawing/2014/main" id="{95236FCB-338B-6B62-092B-30DA2349A215}"/>
                </a:ext>
              </a:extLst>
            </p:cNvPr>
            <p:cNvPicPr>
              <a:picLocks noChangeAspect="1"/>
            </p:cNvPicPr>
            <p:nvPr/>
          </p:nvPicPr>
          <p:blipFill>
            <a:blip r:embed="rId6"/>
            <a:srcRect/>
            <a:stretch/>
          </p:blipFill>
          <p:spPr>
            <a:xfrm>
              <a:off x="2126332" y="486818"/>
              <a:ext cx="264639" cy="264639"/>
            </a:xfrm>
            <a:prstGeom prst="rect">
              <a:avLst/>
            </a:prstGeom>
          </p:spPr>
        </p:pic>
        <p:pic>
          <p:nvPicPr>
            <p:cNvPr id="41" name="Picture 40">
              <a:extLst>
                <a:ext uri="{FF2B5EF4-FFF2-40B4-BE49-F238E27FC236}">
                  <a16:creationId xmlns:a16="http://schemas.microsoft.com/office/drawing/2014/main" id="{7C5ACDC6-77E6-62D3-319D-F0CC754EEBE6}"/>
                </a:ext>
              </a:extLst>
            </p:cNvPr>
            <p:cNvPicPr>
              <a:picLocks noChangeAspect="1"/>
            </p:cNvPicPr>
            <p:nvPr/>
          </p:nvPicPr>
          <p:blipFill>
            <a:blip r:embed="rId7">
              <a:alphaModFix amt="53000"/>
              <a:grayscl/>
            </a:blip>
            <a:stretch>
              <a:fillRect/>
            </a:stretch>
          </p:blipFill>
          <p:spPr>
            <a:xfrm>
              <a:off x="677019" y="497398"/>
              <a:ext cx="264638" cy="264638"/>
            </a:xfrm>
            <a:prstGeom prst="rect">
              <a:avLst/>
            </a:prstGeom>
          </p:spPr>
        </p:pic>
      </p:grpSp>
      <p:sp>
        <p:nvSpPr>
          <p:cNvPr id="5" name="TextBox 4">
            <a:extLst>
              <a:ext uri="{FF2B5EF4-FFF2-40B4-BE49-F238E27FC236}">
                <a16:creationId xmlns:a16="http://schemas.microsoft.com/office/drawing/2014/main" id="{AAB7B369-AECD-4899-62B5-C16C2FB96DB6}"/>
              </a:ext>
            </a:extLst>
          </p:cNvPr>
          <p:cNvSpPr txBox="1"/>
          <p:nvPr/>
        </p:nvSpPr>
        <p:spPr>
          <a:xfrm>
            <a:off x="477256" y="6331499"/>
            <a:ext cx="6760722" cy="461665"/>
          </a:xfrm>
          <a:prstGeom prst="rect">
            <a:avLst/>
          </a:prstGeom>
          <a:noFill/>
        </p:spPr>
        <p:txBody>
          <a:bodyPr wrap="square">
            <a:spAutoFit/>
          </a:bodyPr>
          <a:lstStyle/>
          <a:p>
            <a:pPr marL="174625" marR="0" lvl="0" indent="-174625" fontAlgn="auto">
              <a:lnSpc>
                <a:spcPct val="100000"/>
              </a:lnSpc>
              <a:buClrTx/>
              <a:buSzTx/>
              <a:buFontTx/>
              <a:buAutoNum type="arabicPeriod"/>
              <a:tabLst/>
              <a:defRPr/>
            </a:pPr>
            <a:r>
              <a:rPr lang="en-US" sz="800" dirty="0">
                <a:solidFill>
                  <a:srgbClr val="E6E6E6">
                    <a:lumMod val="50000"/>
                  </a:srgbClr>
                </a:solidFill>
                <a:latin typeface="Segoe UI"/>
              </a:rPr>
              <a:t>Cost of a data breach report 2022, IBM</a:t>
            </a:r>
          </a:p>
          <a:p>
            <a:pPr marL="174625" marR="0" lvl="0" indent="-174625" fontAlgn="auto">
              <a:lnSpc>
                <a:spcPct val="100000"/>
              </a:lnSpc>
              <a:buClrTx/>
              <a:buSzTx/>
              <a:buFontTx/>
              <a:buAutoNum type="arabicPeriod"/>
              <a:tabLst/>
              <a:defRPr/>
            </a:pPr>
            <a:r>
              <a:rPr lang="en-US" sz="800" dirty="0">
                <a:solidFill>
                  <a:srgbClr val="E6E6E6">
                    <a:lumMod val="50000"/>
                  </a:srgbClr>
                </a:solidFill>
                <a:latin typeface="Segoe UI"/>
              </a:rPr>
              <a:t>The Cost of Enterprise Downtime, Tech Channel</a:t>
            </a:r>
          </a:p>
          <a:p>
            <a:pPr marL="174625" indent="-174625">
              <a:buFontTx/>
              <a:buAutoNum type="arabicPeriod"/>
              <a:defRPr/>
            </a:pPr>
            <a:r>
              <a:rPr lang="en-US" sz="800" dirty="0">
                <a:solidFill>
                  <a:srgbClr val="E6E6E6">
                    <a:lumMod val="50000"/>
                  </a:srgbClr>
                </a:solidFill>
                <a:latin typeface="Segoe UI"/>
              </a:rPr>
              <a:t>“</a:t>
            </a:r>
            <a:r>
              <a:rPr lang="en-US" sz="800" dirty="0">
                <a:solidFill>
                  <a:srgbClr val="E6E6E6">
                    <a:lumMod val="50000"/>
                  </a:srgbClr>
                </a:solidFill>
                <a:latin typeface="Segoe UI"/>
                <a:hlinkClick r:id="rId8">
                  <a:extLst>
                    <a:ext uri="{A12FA001-AC4F-418D-AE19-62706E023703}">
                      <ahyp:hlinkClr xmlns:ahyp="http://schemas.microsoft.com/office/drawing/2018/hyperlinkcolor" val="tx"/>
                    </a:ext>
                  </a:extLst>
                </a:hlinkClick>
              </a:rPr>
              <a:t>How to lead a data-driven digital transformation</a:t>
            </a:r>
            <a:r>
              <a:rPr lang="en-US" sz="800" dirty="0">
                <a:solidFill>
                  <a:srgbClr val="E6E6E6">
                    <a:lumMod val="50000"/>
                  </a:srgbClr>
                </a:solidFill>
                <a:latin typeface="Segoe UI"/>
              </a:rPr>
              <a:t>,” Harvard Business Review </a:t>
            </a:r>
          </a:p>
        </p:txBody>
      </p:sp>
      <p:grpSp>
        <p:nvGrpSpPr>
          <p:cNvPr id="14" name="Group 13">
            <a:extLst>
              <a:ext uri="{FF2B5EF4-FFF2-40B4-BE49-F238E27FC236}">
                <a16:creationId xmlns:a16="http://schemas.microsoft.com/office/drawing/2014/main" id="{255ACFA7-BBCE-4394-1E92-E1090EBCBC58}"/>
              </a:ext>
              <a:ext uri="{C183D7F6-B498-43B3-948B-1728B52AA6E4}">
                <adec:decorative xmlns:adec="http://schemas.microsoft.com/office/drawing/2017/decorative" val="1"/>
              </a:ext>
            </a:extLst>
          </p:cNvPr>
          <p:cNvGrpSpPr/>
          <p:nvPr/>
        </p:nvGrpSpPr>
        <p:grpSpPr>
          <a:xfrm>
            <a:off x="748906" y="3793351"/>
            <a:ext cx="5350598" cy="731891"/>
            <a:chOff x="748906" y="3793351"/>
            <a:chExt cx="5350598" cy="731891"/>
          </a:xfrm>
        </p:grpSpPr>
        <p:cxnSp>
          <p:nvCxnSpPr>
            <p:cNvPr id="30" name="Straight Connector 29">
              <a:extLst>
                <a:ext uri="{FF2B5EF4-FFF2-40B4-BE49-F238E27FC236}">
                  <a16:creationId xmlns:a16="http://schemas.microsoft.com/office/drawing/2014/main" id="{8707B54D-642F-3A4A-92F7-FF7CB74CBD03}"/>
                </a:ext>
                <a:ext uri="{C183D7F6-B498-43B3-948B-1728B52AA6E4}">
                  <adec:decorative xmlns:adec="http://schemas.microsoft.com/office/drawing/2017/decorative" val="1"/>
                </a:ext>
              </a:extLst>
            </p:cNvPr>
            <p:cNvCxnSpPr>
              <a:cxnSpLocks/>
            </p:cNvCxnSpPr>
            <p:nvPr/>
          </p:nvCxnSpPr>
          <p:spPr>
            <a:xfrm flipV="1">
              <a:off x="6099504" y="4037315"/>
              <a:ext cx="0" cy="487927"/>
            </a:xfrm>
            <a:prstGeom prst="line">
              <a:avLst/>
            </a:prstGeom>
            <a:ln>
              <a:gradFill>
                <a:gsLst>
                  <a:gs pos="0">
                    <a:schemeClr val="accent1">
                      <a:alpha val="0"/>
                    </a:schemeClr>
                  </a:gs>
                  <a:gs pos="44000">
                    <a:schemeClr val="accent1"/>
                  </a:gs>
                  <a:gs pos="100000">
                    <a:schemeClr val="accent2"/>
                  </a:gs>
                </a:gsLst>
                <a:lin ang="54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93848C69-FAA0-009D-519D-676349E474E3}"/>
                </a:ext>
                <a:ext uri="{C183D7F6-B498-43B3-948B-1728B52AA6E4}">
                  <adec:decorative xmlns:adec="http://schemas.microsoft.com/office/drawing/2017/decorative" val="1"/>
                </a:ext>
              </a:extLst>
            </p:cNvPr>
            <p:cNvCxnSpPr>
              <a:cxnSpLocks/>
            </p:cNvCxnSpPr>
            <p:nvPr/>
          </p:nvCxnSpPr>
          <p:spPr>
            <a:xfrm flipV="1">
              <a:off x="3528320" y="4037315"/>
              <a:ext cx="0" cy="487927"/>
            </a:xfrm>
            <a:prstGeom prst="line">
              <a:avLst/>
            </a:prstGeom>
            <a:ln>
              <a:gradFill>
                <a:gsLst>
                  <a:gs pos="0">
                    <a:schemeClr val="accent1">
                      <a:alpha val="0"/>
                    </a:schemeClr>
                  </a:gs>
                  <a:gs pos="44000">
                    <a:schemeClr val="accent1"/>
                  </a:gs>
                  <a:gs pos="100000">
                    <a:schemeClr val="accent2"/>
                  </a:gs>
                </a:gsLst>
                <a:lin ang="54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600CA639-5B19-4EE2-B2EF-100A2D2CD55D}"/>
                </a:ext>
                <a:ext uri="{C183D7F6-B498-43B3-948B-1728B52AA6E4}">
                  <adec:decorative xmlns:adec="http://schemas.microsoft.com/office/drawing/2017/decorative" val="1"/>
                </a:ext>
              </a:extLst>
            </p:cNvPr>
            <p:cNvCxnSpPr>
              <a:cxnSpLocks/>
            </p:cNvCxnSpPr>
            <p:nvPr/>
          </p:nvCxnSpPr>
          <p:spPr>
            <a:xfrm flipV="1">
              <a:off x="748906" y="3793351"/>
              <a:ext cx="0" cy="635741"/>
            </a:xfrm>
            <a:prstGeom prst="line">
              <a:avLst/>
            </a:prstGeom>
            <a:ln>
              <a:gradFill>
                <a:gsLst>
                  <a:gs pos="0">
                    <a:schemeClr val="accent1">
                      <a:alpha val="0"/>
                    </a:schemeClr>
                  </a:gs>
                  <a:gs pos="44000">
                    <a:schemeClr val="accent1"/>
                  </a:gs>
                  <a:gs pos="100000">
                    <a:schemeClr val="accent2"/>
                  </a:gs>
                </a:gsLst>
                <a:lin ang="54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320003022"/>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Oval 17">
            <a:extLst>
              <a:ext uri="{FF2B5EF4-FFF2-40B4-BE49-F238E27FC236}">
                <a16:creationId xmlns:a16="http://schemas.microsoft.com/office/drawing/2014/main" id="{70EFE33E-F22D-D4E8-C2EB-B2B370C035C3}"/>
              </a:ext>
              <a:ext uri="{C183D7F6-B498-43B3-948B-1728B52AA6E4}">
                <adec:decorative xmlns:adec="http://schemas.microsoft.com/office/drawing/2017/decorative" val="1"/>
              </a:ext>
            </a:extLst>
          </p:cNvPr>
          <p:cNvSpPr/>
          <p:nvPr/>
        </p:nvSpPr>
        <p:spPr bwMode="auto">
          <a:xfrm>
            <a:off x="4873721" y="36576"/>
            <a:ext cx="6784848" cy="6784848"/>
          </a:xfrm>
          <a:prstGeom prst="ellipse">
            <a:avLst/>
          </a:prstGeom>
          <a:gradFill flip="none" rotWithShape="1">
            <a:gsLst>
              <a:gs pos="0">
                <a:schemeClr val="accent3"/>
              </a:gs>
              <a:gs pos="58000">
                <a:schemeClr val="bg1"/>
              </a:gs>
            </a:gsLst>
            <a:path path="circle">
              <a:fillToRect l="50000" t="50000" r="50000" b="50000"/>
            </a:path>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Segoe UI"/>
              <a:ea typeface="Segoe UI" pitchFamily="34" charset="0"/>
              <a:cs typeface="Segoe UI" pitchFamily="34" charset="0"/>
            </a:endParaRPr>
          </a:p>
        </p:txBody>
      </p:sp>
      <p:grpSp>
        <p:nvGrpSpPr>
          <p:cNvPr id="23" name="Group 22">
            <a:extLst>
              <a:ext uri="{FF2B5EF4-FFF2-40B4-BE49-F238E27FC236}">
                <a16:creationId xmlns:a16="http://schemas.microsoft.com/office/drawing/2014/main" id="{9C49F648-18E5-4104-A354-251AA147B1ED}"/>
              </a:ext>
              <a:ext uri="{C183D7F6-B498-43B3-948B-1728B52AA6E4}">
                <adec:decorative xmlns:adec="http://schemas.microsoft.com/office/drawing/2017/decorative" val="1"/>
              </a:ext>
            </a:extLst>
          </p:cNvPr>
          <p:cNvGrpSpPr/>
          <p:nvPr/>
        </p:nvGrpSpPr>
        <p:grpSpPr>
          <a:xfrm>
            <a:off x="4544009" y="963060"/>
            <a:ext cx="7212562" cy="2509430"/>
            <a:chOff x="4863428" y="1190848"/>
            <a:chExt cx="6210740" cy="2644038"/>
          </a:xfrm>
        </p:grpSpPr>
        <p:sp>
          <p:nvSpPr>
            <p:cNvPr id="19" name="Rectangle: Rounded Corners 4">
              <a:extLst>
                <a:ext uri="{FF2B5EF4-FFF2-40B4-BE49-F238E27FC236}">
                  <a16:creationId xmlns:a16="http://schemas.microsoft.com/office/drawing/2014/main" id="{33828EA2-37A1-F8D5-5C89-D80AE439B095}"/>
                </a:ext>
              </a:extLst>
            </p:cNvPr>
            <p:cNvSpPr/>
            <p:nvPr/>
          </p:nvSpPr>
          <p:spPr>
            <a:xfrm rot="5400000">
              <a:off x="4524661" y="1529615"/>
              <a:ext cx="2644036" cy="1966502"/>
            </a:xfrm>
            <a:prstGeom prst="roundRect">
              <a:avLst>
                <a:gd name="adj" fmla="val 2723"/>
              </a:avLst>
            </a:prstGeom>
            <a:solidFill>
              <a:schemeClr val="bg1">
                <a:lumMod val="95000"/>
                <a:lumOff val="5000"/>
              </a:schemeClr>
            </a:solidFill>
            <a:ln w="12700" cap="flat" cmpd="sng" algn="ctr">
              <a:solidFill>
                <a:srgbClr val="000000">
                  <a:lumMod val="75000"/>
                  <a:lumOff val="25000"/>
                </a:srgbClr>
              </a:solidFill>
              <a:prstDash val="solid"/>
              <a:headEnd type="none" w="med" len="med"/>
              <a:tailEnd type="none" w="med" len="med"/>
            </a:ln>
            <a:effectLst/>
          </p:spPr>
          <p:txBody>
            <a:bodyPr rot="0" spcFirstLastPara="0" vertOverflow="overflow" horzOverflow="overflow" vert="horz" wrap="square" lIns="72000" tIns="180000" rIns="72000" bIns="144000" numCol="1" spcCol="0" rtlCol="0" fromWordArt="0" anchor="t" anchorCtr="0" forceAA="0" compatLnSpc="1">
              <a:prstTxWarp prst="textNoShape">
                <a:avLst/>
              </a:prstTxWarp>
              <a:noAutofit/>
            </a:bodyPr>
            <a:lstStyle/>
            <a:p>
              <a:pPr algn="ctr"/>
              <a:endParaRPr lang="en-US" sz="1600" kern="0">
                <a:gradFill flip="none" rotWithShape="1">
                  <a:gsLst>
                    <a:gs pos="0">
                      <a:srgbClr val="50E6FF"/>
                    </a:gs>
                    <a:gs pos="100000">
                      <a:srgbClr val="D59DFF"/>
                    </a:gs>
                  </a:gsLst>
                  <a:lin ang="2700000" scaled="1"/>
                  <a:tileRect/>
                </a:gradFill>
                <a:latin typeface="Segoe UI Semibold"/>
              </a:endParaRPr>
            </a:p>
          </p:txBody>
        </p:sp>
        <p:sp>
          <p:nvSpPr>
            <p:cNvPr id="20" name="Rectangle: Rounded Corners 4">
              <a:extLst>
                <a:ext uri="{FF2B5EF4-FFF2-40B4-BE49-F238E27FC236}">
                  <a16:creationId xmlns:a16="http://schemas.microsoft.com/office/drawing/2014/main" id="{6BA7B301-1E51-6100-6BEC-0D2B099970B1}"/>
                </a:ext>
              </a:extLst>
            </p:cNvPr>
            <p:cNvSpPr/>
            <p:nvPr/>
          </p:nvSpPr>
          <p:spPr>
            <a:xfrm rot="5400000">
              <a:off x="6646780" y="1529616"/>
              <a:ext cx="2644037" cy="1966503"/>
            </a:xfrm>
            <a:prstGeom prst="roundRect">
              <a:avLst>
                <a:gd name="adj" fmla="val 2723"/>
              </a:avLst>
            </a:prstGeom>
            <a:solidFill>
              <a:schemeClr val="bg1">
                <a:lumMod val="95000"/>
                <a:lumOff val="5000"/>
              </a:schemeClr>
            </a:solidFill>
            <a:ln w="12700" cap="flat" cmpd="sng" algn="ctr">
              <a:solidFill>
                <a:srgbClr val="000000">
                  <a:lumMod val="75000"/>
                  <a:lumOff val="25000"/>
                </a:srgbClr>
              </a:solidFill>
              <a:prstDash val="solid"/>
              <a:headEnd type="none" w="med" len="med"/>
              <a:tailEnd type="none" w="med" len="med"/>
            </a:ln>
            <a:effectLst/>
          </p:spPr>
          <p:txBody>
            <a:bodyPr rot="0" spcFirstLastPara="0" vertOverflow="overflow" horzOverflow="overflow" vert="horz" wrap="square" lIns="72000" tIns="180000" rIns="72000" bIns="144000" numCol="1" spcCol="0" rtlCol="0" fromWordArt="0" anchor="t" anchorCtr="0" forceAA="0" compatLnSpc="1">
              <a:prstTxWarp prst="textNoShape">
                <a:avLst/>
              </a:prstTxWarp>
              <a:noAutofit/>
            </a:bodyPr>
            <a:lstStyle/>
            <a:p>
              <a:pPr algn="ctr"/>
              <a:endParaRPr lang="en-US" sz="1600" kern="0">
                <a:gradFill flip="none" rotWithShape="1">
                  <a:gsLst>
                    <a:gs pos="0">
                      <a:srgbClr val="50E6FF"/>
                    </a:gs>
                    <a:gs pos="100000">
                      <a:srgbClr val="D59DFF"/>
                    </a:gs>
                  </a:gsLst>
                  <a:lin ang="2700000" scaled="1"/>
                  <a:tileRect/>
                </a:gradFill>
                <a:latin typeface="Segoe UI Semibold"/>
              </a:endParaRPr>
            </a:p>
          </p:txBody>
        </p:sp>
        <p:sp>
          <p:nvSpPr>
            <p:cNvPr id="21" name="Rectangle: Rounded Corners 4">
              <a:extLst>
                <a:ext uri="{FF2B5EF4-FFF2-40B4-BE49-F238E27FC236}">
                  <a16:creationId xmlns:a16="http://schemas.microsoft.com/office/drawing/2014/main" id="{52347083-05F4-B421-33A7-C2D965568EF4}"/>
                </a:ext>
              </a:extLst>
            </p:cNvPr>
            <p:cNvSpPr/>
            <p:nvPr/>
          </p:nvSpPr>
          <p:spPr>
            <a:xfrm rot="5400000">
              <a:off x="8768898" y="1529615"/>
              <a:ext cx="2644038" cy="1966503"/>
            </a:xfrm>
            <a:prstGeom prst="roundRect">
              <a:avLst>
                <a:gd name="adj" fmla="val 2723"/>
              </a:avLst>
            </a:prstGeom>
            <a:solidFill>
              <a:schemeClr val="bg1">
                <a:lumMod val="95000"/>
                <a:lumOff val="5000"/>
              </a:schemeClr>
            </a:solidFill>
            <a:ln w="12700" cap="flat" cmpd="sng" algn="ctr">
              <a:solidFill>
                <a:srgbClr val="000000">
                  <a:lumMod val="75000"/>
                  <a:lumOff val="25000"/>
                </a:srgbClr>
              </a:solidFill>
              <a:prstDash val="solid"/>
              <a:headEnd type="none" w="med" len="med"/>
              <a:tailEnd type="none" w="med" len="med"/>
            </a:ln>
            <a:effectLst/>
          </p:spPr>
          <p:txBody>
            <a:bodyPr rot="0" spcFirstLastPara="0" vertOverflow="overflow" horzOverflow="overflow" vert="horz" wrap="square" lIns="72000" tIns="180000" rIns="72000" bIns="144000" numCol="1" spcCol="0" rtlCol="0" fromWordArt="0" anchor="t" anchorCtr="0" forceAA="0" compatLnSpc="1">
              <a:prstTxWarp prst="textNoShape">
                <a:avLst/>
              </a:prstTxWarp>
              <a:noAutofit/>
            </a:bodyPr>
            <a:lstStyle/>
            <a:p>
              <a:pPr algn="ctr"/>
              <a:endParaRPr lang="en-US" sz="1600" kern="0">
                <a:gradFill flip="none" rotWithShape="1">
                  <a:gsLst>
                    <a:gs pos="0">
                      <a:srgbClr val="50E6FF"/>
                    </a:gs>
                    <a:gs pos="100000">
                      <a:srgbClr val="D59DFF"/>
                    </a:gs>
                  </a:gsLst>
                  <a:lin ang="2700000" scaled="1"/>
                  <a:tileRect/>
                </a:gradFill>
                <a:latin typeface="Segoe UI Semibold"/>
              </a:endParaRPr>
            </a:p>
          </p:txBody>
        </p:sp>
      </p:grpSp>
      <p:grpSp>
        <p:nvGrpSpPr>
          <p:cNvPr id="24" name="Group 23">
            <a:extLst>
              <a:ext uri="{FF2B5EF4-FFF2-40B4-BE49-F238E27FC236}">
                <a16:creationId xmlns:a16="http://schemas.microsoft.com/office/drawing/2014/main" id="{4FFB8317-C54A-8A80-3837-CD34A8200DA9}"/>
              </a:ext>
              <a:ext uri="{C183D7F6-B498-43B3-948B-1728B52AA6E4}">
                <adec:decorative xmlns:adec="http://schemas.microsoft.com/office/drawing/2017/decorative" val="1"/>
              </a:ext>
            </a:extLst>
          </p:cNvPr>
          <p:cNvGrpSpPr/>
          <p:nvPr/>
        </p:nvGrpSpPr>
        <p:grpSpPr>
          <a:xfrm>
            <a:off x="4544009" y="3659607"/>
            <a:ext cx="7212562" cy="2509430"/>
            <a:chOff x="4863428" y="1190848"/>
            <a:chExt cx="6210740" cy="2644038"/>
          </a:xfrm>
        </p:grpSpPr>
        <p:sp>
          <p:nvSpPr>
            <p:cNvPr id="25" name="Rectangle: Rounded Corners 4">
              <a:extLst>
                <a:ext uri="{FF2B5EF4-FFF2-40B4-BE49-F238E27FC236}">
                  <a16:creationId xmlns:a16="http://schemas.microsoft.com/office/drawing/2014/main" id="{E5F77E77-ED1E-1638-AC16-1C19576572B9}"/>
                </a:ext>
              </a:extLst>
            </p:cNvPr>
            <p:cNvSpPr/>
            <p:nvPr/>
          </p:nvSpPr>
          <p:spPr>
            <a:xfrm rot="5400000">
              <a:off x="4524661" y="1529615"/>
              <a:ext cx="2644036" cy="1966502"/>
            </a:xfrm>
            <a:prstGeom prst="roundRect">
              <a:avLst>
                <a:gd name="adj" fmla="val 2723"/>
              </a:avLst>
            </a:prstGeom>
            <a:solidFill>
              <a:schemeClr val="bg1">
                <a:lumMod val="95000"/>
                <a:lumOff val="5000"/>
              </a:schemeClr>
            </a:solidFill>
            <a:ln w="12700" cap="flat" cmpd="sng" algn="ctr">
              <a:solidFill>
                <a:srgbClr val="000000">
                  <a:lumMod val="75000"/>
                  <a:lumOff val="25000"/>
                </a:srgbClr>
              </a:solidFill>
              <a:prstDash val="solid"/>
              <a:headEnd type="none" w="med" len="med"/>
              <a:tailEnd type="none" w="med" len="med"/>
            </a:ln>
            <a:effectLst/>
          </p:spPr>
          <p:txBody>
            <a:bodyPr rot="0" spcFirstLastPara="0" vertOverflow="overflow" horzOverflow="overflow" vert="horz" wrap="square" lIns="72000" tIns="180000" rIns="72000" bIns="144000" numCol="1" spcCol="0" rtlCol="0" fromWordArt="0" anchor="t" anchorCtr="0" forceAA="0" compatLnSpc="1">
              <a:prstTxWarp prst="textNoShape">
                <a:avLst/>
              </a:prstTxWarp>
              <a:noAutofit/>
            </a:bodyPr>
            <a:lstStyle/>
            <a:p>
              <a:pPr algn="ctr"/>
              <a:endParaRPr lang="en-US" sz="1600" kern="0">
                <a:gradFill flip="none" rotWithShape="1">
                  <a:gsLst>
                    <a:gs pos="0">
                      <a:srgbClr val="50E6FF"/>
                    </a:gs>
                    <a:gs pos="100000">
                      <a:srgbClr val="D59DFF"/>
                    </a:gs>
                  </a:gsLst>
                  <a:lin ang="2700000" scaled="1"/>
                  <a:tileRect/>
                </a:gradFill>
                <a:latin typeface="Segoe UI Semibold"/>
              </a:endParaRPr>
            </a:p>
          </p:txBody>
        </p:sp>
        <p:sp>
          <p:nvSpPr>
            <p:cNvPr id="26" name="Rectangle: Rounded Corners 4">
              <a:extLst>
                <a:ext uri="{FF2B5EF4-FFF2-40B4-BE49-F238E27FC236}">
                  <a16:creationId xmlns:a16="http://schemas.microsoft.com/office/drawing/2014/main" id="{F63CD386-CD00-35BF-88DD-FD885B592240}"/>
                </a:ext>
              </a:extLst>
            </p:cNvPr>
            <p:cNvSpPr/>
            <p:nvPr/>
          </p:nvSpPr>
          <p:spPr>
            <a:xfrm rot="5400000">
              <a:off x="6646780" y="1529616"/>
              <a:ext cx="2644037" cy="1966503"/>
            </a:xfrm>
            <a:prstGeom prst="roundRect">
              <a:avLst>
                <a:gd name="adj" fmla="val 2723"/>
              </a:avLst>
            </a:prstGeom>
            <a:solidFill>
              <a:schemeClr val="bg1">
                <a:lumMod val="95000"/>
                <a:lumOff val="5000"/>
              </a:schemeClr>
            </a:solidFill>
            <a:ln w="12700" cap="flat" cmpd="sng" algn="ctr">
              <a:solidFill>
                <a:srgbClr val="000000">
                  <a:lumMod val="75000"/>
                  <a:lumOff val="25000"/>
                </a:srgbClr>
              </a:solidFill>
              <a:prstDash val="solid"/>
              <a:headEnd type="none" w="med" len="med"/>
              <a:tailEnd type="none" w="med" len="med"/>
            </a:ln>
            <a:effectLst/>
          </p:spPr>
          <p:txBody>
            <a:bodyPr rot="0" spcFirstLastPara="0" vertOverflow="overflow" horzOverflow="overflow" vert="horz" wrap="square" lIns="72000" tIns="180000" rIns="72000" bIns="144000" numCol="1" spcCol="0" rtlCol="0" fromWordArt="0" anchor="t" anchorCtr="0" forceAA="0" compatLnSpc="1">
              <a:prstTxWarp prst="textNoShape">
                <a:avLst/>
              </a:prstTxWarp>
              <a:noAutofit/>
            </a:bodyPr>
            <a:lstStyle/>
            <a:p>
              <a:pPr algn="ctr"/>
              <a:endParaRPr lang="en-US" sz="1600" kern="0">
                <a:gradFill flip="none" rotWithShape="1">
                  <a:gsLst>
                    <a:gs pos="0">
                      <a:srgbClr val="50E6FF"/>
                    </a:gs>
                    <a:gs pos="100000">
                      <a:srgbClr val="D59DFF"/>
                    </a:gs>
                  </a:gsLst>
                  <a:lin ang="2700000" scaled="1"/>
                  <a:tileRect/>
                </a:gradFill>
                <a:latin typeface="Segoe UI Semibold"/>
              </a:endParaRPr>
            </a:p>
          </p:txBody>
        </p:sp>
        <p:sp>
          <p:nvSpPr>
            <p:cNvPr id="27" name="Rectangle: Rounded Corners 4">
              <a:extLst>
                <a:ext uri="{FF2B5EF4-FFF2-40B4-BE49-F238E27FC236}">
                  <a16:creationId xmlns:a16="http://schemas.microsoft.com/office/drawing/2014/main" id="{E791E1E1-B85C-8922-99DE-CD5F475EAE82}"/>
                </a:ext>
              </a:extLst>
            </p:cNvPr>
            <p:cNvSpPr/>
            <p:nvPr/>
          </p:nvSpPr>
          <p:spPr>
            <a:xfrm rot="5400000">
              <a:off x="8768898" y="1529615"/>
              <a:ext cx="2644038" cy="1966503"/>
            </a:xfrm>
            <a:prstGeom prst="roundRect">
              <a:avLst>
                <a:gd name="adj" fmla="val 2723"/>
              </a:avLst>
            </a:prstGeom>
            <a:solidFill>
              <a:schemeClr val="bg1">
                <a:lumMod val="95000"/>
                <a:lumOff val="5000"/>
              </a:schemeClr>
            </a:solidFill>
            <a:ln w="12700" cap="flat" cmpd="sng" algn="ctr">
              <a:solidFill>
                <a:srgbClr val="000000">
                  <a:lumMod val="75000"/>
                  <a:lumOff val="25000"/>
                </a:srgbClr>
              </a:solidFill>
              <a:prstDash val="solid"/>
              <a:headEnd type="none" w="med" len="med"/>
              <a:tailEnd type="none" w="med" len="med"/>
            </a:ln>
            <a:effectLst/>
          </p:spPr>
          <p:txBody>
            <a:bodyPr rot="0" spcFirstLastPara="0" vertOverflow="overflow" horzOverflow="overflow" vert="horz" wrap="square" lIns="72000" tIns="180000" rIns="72000" bIns="144000" numCol="1" spcCol="0" rtlCol="0" fromWordArt="0" anchor="t" anchorCtr="0" forceAA="0" compatLnSpc="1">
              <a:prstTxWarp prst="textNoShape">
                <a:avLst/>
              </a:prstTxWarp>
              <a:noAutofit/>
            </a:bodyPr>
            <a:lstStyle/>
            <a:p>
              <a:pPr algn="ctr"/>
              <a:endParaRPr lang="en-US" sz="1600" kern="0">
                <a:gradFill flip="none" rotWithShape="1">
                  <a:gsLst>
                    <a:gs pos="0">
                      <a:srgbClr val="50E6FF"/>
                    </a:gs>
                    <a:gs pos="100000">
                      <a:srgbClr val="D59DFF"/>
                    </a:gs>
                  </a:gsLst>
                  <a:lin ang="2700000" scaled="1"/>
                  <a:tileRect/>
                </a:gradFill>
                <a:latin typeface="Segoe UI Semibold"/>
              </a:endParaRPr>
            </a:p>
          </p:txBody>
        </p:sp>
      </p:grpSp>
      <p:sp>
        <p:nvSpPr>
          <p:cNvPr id="2" name="Title 1">
            <a:extLst>
              <a:ext uri="{FF2B5EF4-FFF2-40B4-BE49-F238E27FC236}">
                <a16:creationId xmlns:a16="http://schemas.microsoft.com/office/drawing/2014/main" id="{4C10C8E8-3A6A-FEAF-AC0E-4913B472DB25}"/>
              </a:ext>
            </a:extLst>
          </p:cNvPr>
          <p:cNvSpPr>
            <a:spLocks noGrp="1"/>
          </p:cNvSpPr>
          <p:nvPr>
            <p:ph type="title"/>
          </p:nvPr>
        </p:nvSpPr>
        <p:spPr>
          <a:xfrm>
            <a:off x="588263" y="1922278"/>
            <a:ext cx="3563323" cy="1477328"/>
          </a:xfrm>
        </p:spPr>
        <p:txBody>
          <a:bodyPr/>
          <a:lstStyle/>
          <a:p>
            <a:r>
              <a:rPr lang="en-US"/>
              <a:t>Reduce threats &amp; ensure critical business continuity</a:t>
            </a:r>
          </a:p>
        </p:txBody>
      </p:sp>
      <p:sp>
        <p:nvSpPr>
          <p:cNvPr id="11" name="TextBox 10">
            <a:extLst>
              <a:ext uri="{FF2B5EF4-FFF2-40B4-BE49-F238E27FC236}">
                <a16:creationId xmlns:a16="http://schemas.microsoft.com/office/drawing/2014/main" id="{E1A6458A-2AF1-0E7A-586A-46A8E32A32CF}"/>
              </a:ext>
            </a:extLst>
          </p:cNvPr>
          <p:cNvSpPr txBox="1"/>
          <p:nvPr/>
        </p:nvSpPr>
        <p:spPr>
          <a:xfrm>
            <a:off x="490918" y="6182302"/>
            <a:ext cx="13277874" cy="584775"/>
          </a:xfrm>
          <a:prstGeom prst="rect">
            <a:avLst/>
          </a:prstGeom>
          <a:noFill/>
        </p:spPr>
        <p:txBody>
          <a:bodyPr wrap="square">
            <a:spAutoFit/>
          </a:bodyPr>
          <a:lstStyle/>
          <a:p>
            <a:pPr>
              <a:defRPr/>
            </a:pPr>
            <a:r>
              <a:rPr lang="en-US" sz="800" dirty="0">
                <a:solidFill>
                  <a:srgbClr val="000000">
                    <a:lumMod val="50000"/>
                    <a:lumOff val="50000"/>
                  </a:srgbClr>
                </a:solidFill>
                <a:latin typeface="Segoe UI"/>
              </a:rPr>
              <a:t>1. </a:t>
            </a:r>
            <a:r>
              <a:rPr lang="en-US" sz="800" dirty="0">
                <a:solidFill>
                  <a:srgbClr val="000000">
                    <a:lumMod val="50000"/>
                    <a:lumOff val="50000"/>
                  </a:srgbClr>
                </a:solidFill>
                <a:latin typeface="Segoe UI"/>
                <a:hlinkClick r:id="rId3">
                  <a:extLst>
                    <a:ext uri="{A12FA001-AC4F-418D-AE19-62706E023703}">
                      <ahyp:hlinkClr xmlns:ahyp="http://schemas.microsoft.com/office/drawing/2018/hyperlinkcolor" val="tx"/>
                    </a:ext>
                  </a:extLst>
                </a:hlinkClick>
              </a:rPr>
              <a:t>Business value of Azure Site Recovery and Azure backup by IDC</a:t>
            </a:r>
            <a:endParaRPr lang="en-US" sz="800" dirty="0">
              <a:solidFill>
                <a:srgbClr val="000000">
                  <a:lumMod val="50000"/>
                  <a:lumOff val="50000"/>
                </a:srgbClr>
              </a:solidFill>
              <a:latin typeface="Segoe UI"/>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rgbClr val="000000">
                    <a:lumMod val="50000"/>
                    <a:lumOff val="50000"/>
                  </a:srgbClr>
                </a:solidFill>
                <a:latin typeface="Segoe UI"/>
              </a:rPr>
              <a:t>2. </a:t>
            </a:r>
            <a:r>
              <a:rPr lang="en-US" sz="800" dirty="0">
                <a:solidFill>
                  <a:srgbClr val="000000">
                    <a:lumMod val="50000"/>
                    <a:lumOff val="50000"/>
                  </a:srgbClr>
                </a:solidFill>
                <a:latin typeface="Segoe UI"/>
                <a:hlinkClick r:id="rId4">
                  <a:extLst>
                    <a:ext uri="{A12FA001-AC4F-418D-AE19-62706E023703}">
                      <ahyp:hlinkClr xmlns:ahyp="http://schemas.microsoft.com/office/drawing/2018/hyperlinkcolor" val="tx"/>
                    </a:ext>
                  </a:extLst>
                </a:hlinkClick>
              </a:rPr>
              <a:t>Total Economic Impact of Microsoft Sentinel study by Forrester Consulting</a:t>
            </a:r>
            <a:endParaRPr lang="en-US" sz="800" dirty="0">
              <a:solidFill>
                <a:srgbClr val="000000">
                  <a:lumMod val="50000"/>
                  <a:lumOff val="50000"/>
                </a:srgbClr>
              </a:solidFill>
              <a:latin typeface="Segoe UI"/>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rgbClr val="000000">
                    <a:lumMod val="50000"/>
                    <a:lumOff val="50000"/>
                  </a:srgbClr>
                </a:solidFill>
                <a:latin typeface="Segoe UI"/>
              </a:rPr>
              <a:t>3. Dynamic data masking only available in Azure SQL. Not SQL in AWS RDS.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rgbClr val="000000">
                    <a:lumMod val="50000"/>
                    <a:lumOff val="50000"/>
                  </a:srgbClr>
                </a:solidFill>
                <a:latin typeface="Segoe UI"/>
              </a:rPr>
              <a:t>4. </a:t>
            </a:r>
            <a:r>
              <a:rPr lang="en-US" sz="800" dirty="0">
                <a:solidFill>
                  <a:srgbClr val="000000">
                    <a:lumMod val="50000"/>
                    <a:lumOff val="50000"/>
                  </a:srgbClr>
                </a:solidFill>
                <a:latin typeface="Segoe UI"/>
                <a:hlinkClick r:id="rId5">
                  <a:extLst>
                    <a:ext uri="{A12FA001-AC4F-418D-AE19-62706E023703}">
                      <ahyp:hlinkClr xmlns:ahyp="http://schemas.microsoft.com/office/drawing/2018/hyperlinkcolor" val="tx"/>
                    </a:ext>
                  </a:extLst>
                </a:hlinkClick>
              </a:rPr>
              <a:t>McKinsey &amp; Company: Driving business outcomes through Developer Velocity 2020</a:t>
            </a:r>
            <a:r>
              <a:rPr lang="en-US" sz="800" dirty="0">
                <a:solidFill>
                  <a:srgbClr val="000000">
                    <a:lumMod val="50000"/>
                    <a:lumOff val="50000"/>
                  </a:srgbClr>
                </a:solidFill>
                <a:latin typeface="Segoe UI"/>
              </a:rPr>
              <a:t> </a:t>
            </a:r>
          </a:p>
        </p:txBody>
      </p:sp>
      <p:sp>
        <p:nvSpPr>
          <p:cNvPr id="5" name="TextBox 4">
            <a:extLst>
              <a:ext uri="{FF2B5EF4-FFF2-40B4-BE49-F238E27FC236}">
                <a16:creationId xmlns:a16="http://schemas.microsoft.com/office/drawing/2014/main" id="{1012800E-B1CF-167E-A9DE-4AD1B1F008AF}"/>
              </a:ext>
            </a:extLst>
          </p:cNvPr>
          <p:cNvSpPr txBox="1"/>
          <p:nvPr/>
        </p:nvSpPr>
        <p:spPr>
          <a:xfrm>
            <a:off x="4685235" y="1886289"/>
            <a:ext cx="2020362" cy="1231106"/>
          </a:xfrm>
          <a:prstGeom prst="rect">
            <a:avLst/>
          </a:prstGeom>
          <a:noFill/>
        </p:spPr>
        <p:txBody>
          <a:bodyPr wrap="square" lIns="91440" tIns="45720" rIns="91440" bIns="45720" anchor="t">
            <a:spAutoFit/>
          </a:bodyPr>
          <a:lstStyle/>
          <a:p>
            <a:pPr marL="0" lvl="1" algn="ctr" defTabSz="914367" fontAlgn="ctr">
              <a:spcAft>
                <a:spcPts val="1600"/>
              </a:spcAft>
              <a:buClr>
                <a:srgbClr val="FFFFFF"/>
              </a:buClr>
              <a:buSzPct val="100000"/>
              <a:defRPr/>
            </a:pPr>
            <a:r>
              <a:rPr kumimoji="0" lang="en-US" sz="1400" b="0" i="0" u="none" strike="noStrike" kern="1200" cap="none" spc="0" normalizeH="0" baseline="0" noProof="0" dirty="0">
                <a:ln>
                  <a:noFill/>
                </a:ln>
                <a:solidFill>
                  <a:srgbClr val="50E6FF"/>
                </a:solidFill>
                <a:effectLst/>
                <a:uLnTx/>
                <a:uFillTx/>
                <a:latin typeface="+mj-lt"/>
                <a:ea typeface="+mn-ea"/>
                <a:cs typeface="+mn-cs"/>
              </a:rPr>
              <a:t>Reduce downtime </a:t>
            </a:r>
            <a:br>
              <a:rPr kumimoji="0" lang="en-US" sz="1200" b="0" i="0" u="none" strike="noStrike" kern="1200" cap="none" spc="0" normalizeH="0" baseline="0" noProof="0" dirty="0">
                <a:ln>
                  <a:noFill/>
                </a:ln>
                <a:solidFill>
                  <a:srgbClr val="50E6FF"/>
                </a:solidFill>
                <a:effectLst/>
                <a:uLnTx/>
                <a:uFillTx/>
                <a:ea typeface="+mn-ea"/>
                <a:cs typeface="+mn-cs"/>
              </a:rPr>
            </a:br>
            <a:r>
              <a:rPr kumimoji="0" lang="en-US" sz="1200" b="0" i="0" u="none" strike="noStrike" kern="1200" cap="none" spc="0" normalizeH="0" noProof="0" dirty="0">
                <a:ln>
                  <a:noFill/>
                </a:ln>
                <a:solidFill>
                  <a:srgbClr val="FFFFFF"/>
                </a:solidFill>
                <a:effectLst/>
                <a:uLnTx/>
                <a:uFillTx/>
                <a:ea typeface="+mn-ea"/>
                <a:cs typeface="+mn-cs"/>
              </a:rPr>
              <a:t>with Azure Site </a:t>
            </a:r>
            <a:r>
              <a:rPr lang="en-US" sz="1200" dirty="0">
                <a:solidFill>
                  <a:srgbClr val="FFFFFF"/>
                </a:solidFill>
              </a:rPr>
              <a:t>Recovery </a:t>
            </a:r>
            <a:r>
              <a:rPr kumimoji="0" lang="en-US" sz="1200" b="0" i="0" u="none" strike="noStrike" kern="1200" cap="none" spc="0" normalizeH="0" noProof="0" dirty="0">
                <a:ln>
                  <a:noFill/>
                </a:ln>
                <a:solidFill>
                  <a:srgbClr val="FFFFFF"/>
                </a:solidFill>
                <a:effectLst/>
                <a:uLnTx/>
                <a:uFillTx/>
                <a:ea typeface="+mn-ea"/>
                <a:cs typeface="+mn-cs"/>
              </a:rPr>
              <a:t>and Azure Backup to avoid up to 93% of unplanned down time vs on-premise</a:t>
            </a:r>
            <a:r>
              <a:rPr kumimoji="0" lang="en-US" sz="1200" b="0" i="0" u="none" strike="noStrike" kern="1200" cap="none" spc="0" normalizeH="0" baseline="30000" noProof="0" dirty="0">
                <a:ln>
                  <a:noFill/>
                </a:ln>
                <a:solidFill>
                  <a:srgbClr val="FFFFFF"/>
                </a:solidFill>
                <a:effectLst/>
                <a:uLnTx/>
                <a:uFillTx/>
                <a:ea typeface="+mn-ea"/>
                <a:cs typeface="+mn-cs"/>
              </a:rPr>
              <a:t>1</a:t>
            </a:r>
            <a:endParaRPr kumimoji="0" lang="en-US" sz="1200" b="0" i="1" u="none" strike="noStrike" kern="1200" cap="none" spc="0" normalizeH="0" baseline="30000" noProof="0" dirty="0">
              <a:ln>
                <a:noFill/>
              </a:ln>
              <a:solidFill>
                <a:srgbClr val="FFFFFF"/>
              </a:solidFill>
              <a:effectLst/>
              <a:uLnTx/>
              <a:uFillTx/>
              <a:ea typeface="+mn-ea"/>
              <a:cs typeface="+mn-cs"/>
            </a:endParaRPr>
          </a:p>
        </p:txBody>
      </p:sp>
      <p:sp>
        <p:nvSpPr>
          <p:cNvPr id="17" name="TextBox 16">
            <a:extLst>
              <a:ext uri="{FF2B5EF4-FFF2-40B4-BE49-F238E27FC236}">
                <a16:creationId xmlns:a16="http://schemas.microsoft.com/office/drawing/2014/main" id="{3B738D34-73F1-3414-B71E-01241CD792B3}"/>
              </a:ext>
            </a:extLst>
          </p:cNvPr>
          <p:cNvSpPr txBox="1"/>
          <p:nvPr/>
        </p:nvSpPr>
        <p:spPr>
          <a:xfrm>
            <a:off x="2675554" y="565021"/>
            <a:ext cx="2456885" cy="138499"/>
          </a:xfrm>
          <a:prstGeom prst="rect">
            <a:avLst/>
          </a:prstGeom>
          <a:noFill/>
        </p:spPr>
        <p:txBody>
          <a:bodyPr wrap="square" lIns="0" tIns="0" rIns="0" bIns="0">
            <a:spAutoFit/>
          </a:bodyPr>
          <a:lstStyle>
            <a:defPPr>
              <a:defRPr lang="en-US"/>
            </a:defPPr>
            <a:lvl2pPr marL="0" marR="0" lvl="1" indent="0" fontAlgn="auto">
              <a:lnSpc>
                <a:spcPct val="100000"/>
              </a:lnSpc>
              <a:spcBef>
                <a:spcPts val="0"/>
              </a:spcBef>
              <a:spcAft>
                <a:spcPts val="0"/>
              </a:spcAft>
              <a:buClrTx/>
              <a:buSzTx/>
              <a:buFontTx/>
              <a:buNone/>
              <a:tabLst/>
              <a:defRPr kumimoji="0" sz="900" b="0" i="0" u="none" strike="noStrike" cap="none" spc="300" normalizeH="0" baseline="0">
                <a:ln>
                  <a:noFill/>
                </a:ln>
                <a:solidFill>
                  <a:schemeClr val="accent1"/>
                </a:solidFill>
                <a:effectLst/>
                <a:uLnTx/>
                <a:uFillTx/>
                <a:latin typeface="Segoe UI Semibold"/>
              </a:defRPr>
            </a:lvl2pPr>
          </a:lstStyle>
          <a:p>
            <a:pPr lvl="1"/>
            <a:r>
              <a:rPr lang="en-US"/>
              <a:t>REINVEST TO GROW</a:t>
            </a:r>
          </a:p>
        </p:txBody>
      </p:sp>
      <p:sp>
        <p:nvSpPr>
          <p:cNvPr id="28" name="TextBox 27">
            <a:extLst>
              <a:ext uri="{FF2B5EF4-FFF2-40B4-BE49-F238E27FC236}">
                <a16:creationId xmlns:a16="http://schemas.microsoft.com/office/drawing/2014/main" id="{E3A675FE-774E-2211-CF7C-C79990C4693F}"/>
              </a:ext>
            </a:extLst>
          </p:cNvPr>
          <p:cNvSpPr txBox="1"/>
          <p:nvPr/>
        </p:nvSpPr>
        <p:spPr>
          <a:xfrm>
            <a:off x="7129855" y="1886289"/>
            <a:ext cx="2020362" cy="1261884"/>
          </a:xfrm>
          <a:prstGeom prst="rect">
            <a:avLst/>
          </a:prstGeom>
          <a:noFill/>
        </p:spPr>
        <p:txBody>
          <a:bodyPr wrap="square">
            <a:spAutoFit/>
          </a:bodyPr>
          <a:lstStyle/>
          <a:p>
            <a:pPr marL="0" lvl="1" algn="ctr" defTabSz="914367" fontAlgn="ctr">
              <a:spcAft>
                <a:spcPts val="1600"/>
              </a:spcAft>
              <a:buClr>
                <a:srgbClr val="FFFFFF"/>
              </a:buClr>
              <a:buSzPct val="100000"/>
              <a:defRPr/>
            </a:pPr>
            <a:r>
              <a:rPr lang="en-US" sz="1400" dirty="0">
                <a:solidFill>
                  <a:srgbClr val="50E6FF"/>
                </a:solidFill>
                <a:latin typeface="+mj-lt"/>
              </a:rPr>
              <a:t>Limitless speed</a:t>
            </a:r>
            <a:br>
              <a:rPr lang="en-US" sz="1400" dirty="0">
                <a:solidFill>
                  <a:srgbClr val="50E6FF"/>
                </a:solidFill>
                <a:latin typeface="+mj-lt"/>
              </a:rPr>
            </a:br>
            <a:r>
              <a:rPr lang="en-US" sz="1400" dirty="0">
                <a:solidFill>
                  <a:srgbClr val="50E6FF"/>
                </a:solidFill>
                <a:latin typeface="+mj-lt"/>
              </a:rPr>
              <a:t>and scale</a:t>
            </a:r>
            <a:br>
              <a:rPr kumimoji="0" lang="en-US" sz="1200" b="0" i="0" u="none" strike="noStrike" kern="1200" cap="none" spc="0" normalizeH="0" baseline="0" noProof="0" dirty="0">
                <a:ln>
                  <a:noFill/>
                </a:ln>
                <a:solidFill>
                  <a:srgbClr val="50E6FF"/>
                </a:solidFill>
                <a:effectLst/>
                <a:uLnTx/>
                <a:uFillTx/>
                <a:ea typeface="+mn-ea"/>
                <a:cs typeface="+mn-cs"/>
              </a:rPr>
            </a:br>
            <a:r>
              <a:rPr kumimoji="0" lang="en-US" sz="1200" b="0" i="0" u="none" strike="noStrike" kern="1200" cap="none" spc="0" normalizeH="0" baseline="0" noProof="0" dirty="0">
                <a:ln>
                  <a:noFill/>
                </a:ln>
                <a:solidFill>
                  <a:srgbClr val="FFFFFF"/>
                </a:solidFill>
                <a:effectLst/>
                <a:uLnTx/>
                <a:uFillTx/>
                <a:latin typeface="Segoe UI"/>
                <a:ea typeface="+mn-ea"/>
                <a:cs typeface="+mn-cs"/>
              </a:rPr>
              <a:t>Microsoft Sentinel delivers </a:t>
            </a:r>
            <a:br>
              <a:rPr kumimoji="0" lang="en-US" sz="1200" b="0" i="0" u="none" strike="noStrike" kern="1200" cap="none" spc="0" normalizeH="0" baseline="0" noProof="0" dirty="0">
                <a:ln>
                  <a:noFill/>
                </a:ln>
                <a:solidFill>
                  <a:srgbClr val="FFFFFF"/>
                </a:solidFill>
                <a:effectLst/>
                <a:uLnTx/>
                <a:uFillTx/>
                <a:latin typeface="Segoe UI"/>
                <a:ea typeface="+mn-ea"/>
                <a:cs typeface="+mn-cs"/>
              </a:rPr>
            </a:br>
            <a:r>
              <a:rPr kumimoji="0" lang="en-US" sz="1200" b="0" i="0" u="none" strike="noStrike" kern="1200" cap="none" spc="0" normalizeH="0" baseline="0" noProof="0" dirty="0">
                <a:ln>
                  <a:noFill/>
                </a:ln>
                <a:solidFill>
                  <a:srgbClr val="FFFFFF"/>
                </a:solidFill>
                <a:effectLst/>
                <a:uLnTx/>
                <a:uFillTx/>
                <a:latin typeface="Segoe UI"/>
                <a:ea typeface="+mn-ea"/>
                <a:cs typeface="+mn-cs"/>
              </a:rPr>
              <a:t>67% faster deployment 48% cheaper than on-premise SIEMs</a:t>
            </a:r>
            <a:r>
              <a:rPr lang="en-US" sz="1200" baseline="30000" dirty="0">
                <a:solidFill>
                  <a:srgbClr val="FFFFFF"/>
                </a:solidFill>
                <a:latin typeface="Segoe UI"/>
              </a:rPr>
              <a:t>2</a:t>
            </a:r>
            <a:endParaRPr kumimoji="0" lang="en-US" sz="1200" b="0" i="1" u="none" strike="noStrike" kern="1200" cap="none" spc="0" normalizeH="0" baseline="30000" noProof="0" dirty="0">
              <a:ln>
                <a:noFill/>
              </a:ln>
              <a:solidFill>
                <a:srgbClr val="FFFFFF"/>
              </a:solidFill>
              <a:effectLst/>
              <a:uLnTx/>
              <a:uFillTx/>
              <a:ea typeface="+mn-ea"/>
              <a:cs typeface="+mn-cs"/>
            </a:endParaRPr>
          </a:p>
        </p:txBody>
      </p:sp>
      <p:sp>
        <p:nvSpPr>
          <p:cNvPr id="29" name="TextBox 28">
            <a:extLst>
              <a:ext uri="{FF2B5EF4-FFF2-40B4-BE49-F238E27FC236}">
                <a16:creationId xmlns:a16="http://schemas.microsoft.com/office/drawing/2014/main" id="{E3CD9843-985D-F312-9B3F-04CBD1C855B7}"/>
              </a:ext>
            </a:extLst>
          </p:cNvPr>
          <p:cNvSpPr txBox="1"/>
          <p:nvPr/>
        </p:nvSpPr>
        <p:spPr>
          <a:xfrm>
            <a:off x="9585296" y="1886289"/>
            <a:ext cx="2058939" cy="1261884"/>
          </a:xfrm>
          <a:prstGeom prst="rect">
            <a:avLst/>
          </a:prstGeom>
          <a:noFill/>
        </p:spPr>
        <p:txBody>
          <a:bodyPr wrap="square">
            <a:spAutoFit/>
          </a:bodyPr>
          <a:lstStyle/>
          <a:p>
            <a:pPr marL="0" lvl="1" algn="ctr" defTabSz="914367" fontAlgn="ctr">
              <a:spcAft>
                <a:spcPts val="1600"/>
              </a:spcAft>
              <a:buClr>
                <a:srgbClr val="FFFFFF"/>
              </a:buClr>
              <a:buSzPct val="100000"/>
              <a:defRPr/>
            </a:pPr>
            <a:r>
              <a:rPr lang="en-US" sz="1400">
                <a:solidFill>
                  <a:srgbClr val="50E6FF"/>
                </a:solidFill>
                <a:latin typeface="+mj-lt"/>
              </a:rPr>
              <a:t>Streamline </a:t>
            </a:r>
            <a:br>
              <a:rPr lang="en-US" sz="1400">
                <a:solidFill>
                  <a:srgbClr val="50E6FF"/>
                </a:solidFill>
                <a:latin typeface="+mj-lt"/>
              </a:rPr>
            </a:br>
            <a:r>
              <a:rPr lang="en-US" sz="1400">
                <a:solidFill>
                  <a:srgbClr val="50E6FF"/>
                </a:solidFill>
                <a:latin typeface="+mj-lt"/>
              </a:rPr>
              <a:t>compliance</a:t>
            </a:r>
            <a:br>
              <a:rPr kumimoji="0" lang="en-US" sz="1200" b="0" i="0" u="none" strike="noStrike" kern="1200" cap="none" spc="0" normalizeH="0" baseline="0" noProof="0">
                <a:ln>
                  <a:noFill/>
                </a:ln>
                <a:solidFill>
                  <a:srgbClr val="50E6FF"/>
                </a:solidFill>
                <a:effectLst/>
                <a:uLnTx/>
                <a:uFillTx/>
                <a:ea typeface="+mn-ea"/>
                <a:cs typeface="+mn-cs"/>
              </a:rPr>
            </a:br>
            <a:r>
              <a:rPr kumimoji="0" lang="en-US" sz="1200" b="0" i="0" u="none" strike="noStrike" kern="1200" cap="none" spc="0" normalizeH="0" baseline="0" noProof="0">
                <a:ln>
                  <a:noFill/>
                </a:ln>
                <a:solidFill>
                  <a:srgbClr val="FFFFFF"/>
                </a:solidFill>
                <a:effectLst/>
                <a:uLnTx/>
                <a:uFillTx/>
                <a:latin typeface="Segoe UI"/>
                <a:ea typeface="+mn-ea"/>
                <a:cs typeface="+mn-cs"/>
              </a:rPr>
              <a:t>Over 325 global, regional, and industry regulations and standards, </a:t>
            </a:r>
            <a:br>
              <a:rPr kumimoji="0" lang="en-US" sz="1200" b="0" i="0" u="none" strike="noStrike" kern="1200" cap="none" spc="0" normalizeH="0" baseline="0" noProof="0">
                <a:ln>
                  <a:noFill/>
                </a:ln>
                <a:solidFill>
                  <a:srgbClr val="FFFFFF"/>
                </a:solidFill>
                <a:effectLst/>
                <a:uLnTx/>
                <a:uFillTx/>
                <a:latin typeface="Segoe UI"/>
                <a:ea typeface="+mn-ea"/>
                <a:cs typeface="+mn-cs"/>
              </a:rPr>
            </a:br>
            <a:r>
              <a:rPr kumimoji="0" lang="en-US" sz="1200" b="0" i="0" u="none" strike="noStrike" kern="1200" cap="none" spc="0" normalizeH="0" baseline="0" noProof="0">
                <a:ln>
                  <a:noFill/>
                </a:ln>
                <a:solidFill>
                  <a:srgbClr val="FFFFFF"/>
                </a:solidFill>
                <a:effectLst/>
                <a:uLnTx/>
                <a:uFillTx/>
                <a:latin typeface="Segoe UI"/>
                <a:ea typeface="+mn-ea"/>
                <a:cs typeface="+mn-cs"/>
              </a:rPr>
              <a:t>out-of-the-box</a:t>
            </a:r>
            <a:endParaRPr kumimoji="0" lang="en-US" sz="1200" b="0" i="1" u="none" strike="noStrike" kern="1200" cap="none" spc="0" normalizeH="0" baseline="30000" noProof="0">
              <a:ln>
                <a:noFill/>
              </a:ln>
              <a:solidFill>
                <a:srgbClr val="FFFFFF"/>
              </a:solidFill>
              <a:effectLst/>
              <a:uLnTx/>
              <a:uFillTx/>
              <a:ea typeface="+mn-ea"/>
              <a:cs typeface="+mn-cs"/>
            </a:endParaRPr>
          </a:p>
        </p:txBody>
      </p:sp>
      <p:sp>
        <p:nvSpPr>
          <p:cNvPr id="30" name="TextBox 29">
            <a:extLst>
              <a:ext uri="{FF2B5EF4-FFF2-40B4-BE49-F238E27FC236}">
                <a16:creationId xmlns:a16="http://schemas.microsoft.com/office/drawing/2014/main" id="{0AAD74FF-0A85-D74B-8253-2FE78C9122AD}"/>
              </a:ext>
            </a:extLst>
          </p:cNvPr>
          <p:cNvSpPr txBox="1"/>
          <p:nvPr/>
        </p:nvSpPr>
        <p:spPr>
          <a:xfrm>
            <a:off x="4685235" y="4581121"/>
            <a:ext cx="2020362" cy="892552"/>
          </a:xfrm>
          <a:prstGeom prst="rect">
            <a:avLst/>
          </a:prstGeom>
          <a:noFill/>
        </p:spPr>
        <p:txBody>
          <a:bodyPr wrap="square">
            <a:spAutoFit/>
          </a:bodyPr>
          <a:lstStyle/>
          <a:p>
            <a:pPr marL="0" lvl="1" algn="ctr" defTabSz="914367" fontAlgn="ctr">
              <a:spcAft>
                <a:spcPts val="1600"/>
              </a:spcAft>
              <a:buClr>
                <a:srgbClr val="FFFFFF"/>
              </a:buClr>
              <a:buSzPct val="100000"/>
              <a:defRPr/>
            </a:pPr>
            <a:r>
              <a:rPr lang="en-US" sz="1400" dirty="0">
                <a:solidFill>
                  <a:srgbClr val="50E6FF"/>
                </a:solidFill>
                <a:latin typeface="+mj-lt"/>
              </a:rPr>
              <a:t>Strengthen Data </a:t>
            </a:r>
            <a:r>
              <a:rPr lang="en-US" sz="1200" dirty="0">
                <a:solidFill>
                  <a:srgbClr val="FFFFFF"/>
                </a:solidFill>
                <a:latin typeface="Segoe UI"/>
              </a:rPr>
              <a:t>security with </a:t>
            </a:r>
            <a:r>
              <a:rPr kumimoji="0" lang="en-US" sz="1200" b="0" i="0" u="none" strike="noStrike" kern="1200" cap="none" spc="0" normalizeH="0" baseline="0" noProof="0" dirty="0">
                <a:ln>
                  <a:noFill/>
                </a:ln>
                <a:effectLst/>
                <a:uLnTx/>
                <a:uFillTx/>
                <a:latin typeface="Segoe UI"/>
                <a:ea typeface="+mn-ea"/>
                <a:cs typeface="+mn-cs"/>
              </a:rPr>
              <a:t>dynamic data masking, only available on Azure SQL</a:t>
            </a:r>
            <a:r>
              <a:rPr lang="en-US" sz="1200" baseline="30000" dirty="0">
                <a:latin typeface="Segoe UI"/>
              </a:rPr>
              <a:t>3</a:t>
            </a:r>
            <a:endParaRPr kumimoji="0" lang="en-US" sz="1200" b="0" u="none" strike="noStrike" kern="1200" cap="none" spc="0" normalizeH="0" baseline="30000" noProof="0" dirty="0">
              <a:ln>
                <a:noFill/>
              </a:ln>
              <a:solidFill>
                <a:srgbClr val="FFFFFF"/>
              </a:solidFill>
              <a:effectLst/>
              <a:uLnTx/>
              <a:uFillTx/>
              <a:ea typeface="+mn-ea"/>
              <a:cs typeface="+mn-cs"/>
            </a:endParaRPr>
          </a:p>
        </p:txBody>
      </p:sp>
      <p:sp>
        <p:nvSpPr>
          <p:cNvPr id="31" name="TextBox 30">
            <a:extLst>
              <a:ext uri="{FF2B5EF4-FFF2-40B4-BE49-F238E27FC236}">
                <a16:creationId xmlns:a16="http://schemas.microsoft.com/office/drawing/2014/main" id="{2BC26B54-4E51-C44D-A4B8-771EF1902A48}"/>
              </a:ext>
            </a:extLst>
          </p:cNvPr>
          <p:cNvSpPr txBox="1"/>
          <p:nvPr/>
        </p:nvSpPr>
        <p:spPr>
          <a:xfrm>
            <a:off x="7129855" y="4581121"/>
            <a:ext cx="2020362" cy="1446550"/>
          </a:xfrm>
          <a:prstGeom prst="rect">
            <a:avLst/>
          </a:prstGeom>
          <a:noFill/>
        </p:spPr>
        <p:txBody>
          <a:bodyPr wrap="square" lIns="91440" tIns="45720" rIns="91440" bIns="45720" anchor="t">
            <a:spAutoFit/>
          </a:bodyPr>
          <a:lstStyle/>
          <a:p>
            <a:pPr marL="0" lvl="1" algn="ctr" defTabSz="914367">
              <a:spcAft>
                <a:spcPts val="1600"/>
              </a:spcAft>
              <a:defRPr/>
            </a:pPr>
            <a:r>
              <a:rPr lang="en-US" sz="1400">
                <a:solidFill>
                  <a:srgbClr val="50E6FF"/>
                </a:solidFill>
                <a:latin typeface="+mj-lt"/>
              </a:rPr>
              <a:t>Simplify replication</a:t>
            </a:r>
            <a:br>
              <a:rPr lang="en-US" sz="1200" b="0" i="0" u="none" strike="noStrike" kern="1200" cap="none" spc="0" normalizeH="0" baseline="0" noProof="0">
                <a:ln>
                  <a:noFill/>
                </a:ln>
                <a:effectLst/>
                <a:uLnTx/>
                <a:uFillTx/>
              </a:rPr>
            </a:br>
            <a:r>
              <a:rPr lang="en-US" sz="1200">
                <a:ea typeface="+mn-lt"/>
                <a:cs typeface="+mn-lt"/>
              </a:rPr>
              <a:t>by disaster recovery of on-premises VMware VMs, Hyper-V VMs, </a:t>
            </a:r>
            <a:r>
              <a:rPr kumimoji="0" lang="en-US" sz="1200" b="0" i="0" u="none" strike="noStrike" kern="1200" cap="none" spc="0" normalizeH="0" baseline="0" noProof="0">
                <a:ln>
                  <a:noFill/>
                </a:ln>
                <a:effectLst/>
                <a:uLnTx/>
                <a:uFillTx/>
                <a:ea typeface="+mn-lt"/>
                <a:cs typeface="+mn-lt"/>
              </a:rPr>
              <a:t>or</a:t>
            </a:r>
            <a:r>
              <a:rPr lang="en-US" sz="1200">
                <a:ea typeface="+mn-lt"/>
                <a:cs typeface="+mn-lt"/>
              </a:rPr>
              <a:t> Windows/Linux physical servers </a:t>
            </a:r>
            <a:r>
              <a:rPr kumimoji="0" lang="en-US" sz="1200" b="0" i="0" u="none" strike="noStrike" kern="1200" cap="none" spc="0" normalizeH="0" baseline="0" noProof="0">
                <a:ln>
                  <a:noFill/>
                </a:ln>
                <a:effectLst/>
                <a:uLnTx/>
                <a:uFillTx/>
                <a:ea typeface="+mn-lt"/>
                <a:cs typeface="+mn-lt"/>
              </a:rPr>
              <a:t>to </a:t>
            </a:r>
            <a:r>
              <a:rPr lang="en-US" sz="1200">
                <a:ea typeface="+mn-lt"/>
                <a:cs typeface="+mn-lt"/>
              </a:rPr>
              <a:t>Azure using Azure Site Recovery</a:t>
            </a:r>
            <a:endParaRPr lang="en-US" sz="1200" b="0" i="1" u="none" strike="noStrike" kern="1200" cap="none" spc="0" normalizeH="0" baseline="30000" noProof="0">
              <a:ln>
                <a:noFill/>
              </a:ln>
              <a:effectLst/>
              <a:uLnTx/>
              <a:uFillTx/>
              <a:cs typeface="Segoe UI"/>
            </a:endParaRPr>
          </a:p>
        </p:txBody>
      </p:sp>
      <p:sp>
        <p:nvSpPr>
          <p:cNvPr id="32" name="TextBox 31">
            <a:extLst>
              <a:ext uri="{FF2B5EF4-FFF2-40B4-BE49-F238E27FC236}">
                <a16:creationId xmlns:a16="http://schemas.microsoft.com/office/drawing/2014/main" id="{18890B19-ADA7-3C0A-AFD2-7D03B8FCAC23}"/>
              </a:ext>
            </a:extLst>
          </p:cNvPr>
          <p:cNvSpPr txBox="1"/>
          <p:nvPr/>
        </p:nvSpPr>
        <p:spPr>
          <a:xfrm>
            <a:off x="9541038" y="4581121"/>
            <a:ext cx="2143219" cy="1446550"/>
          </a:xfrm>
          <a:prstGeom prst="rect">
            <a:avLst/>
          </a:prstGeom>
          <a:noFill/>
        </p:spPr>
        <p:txBody>
          <a:bodyPr wrap="square">
            <a:spAutoFit/>
          </a:bodyPr>
          <a:lstStyle/>
          <a:p>
            <a:pPr marL="0" lvl="1" algn="ctr" defTabSz="914367" fontAlgn="ctr">
              <a:spcAft>
                <a:spcPts val="1600"/>
              </a:spcAft>
              <a:buClr>
                <a:srgbClr val="FFFFFF"/>
              </a:buClr>
              <a:buSzPct val="100000"/>
              <a:defRPr/>
            </a:pPr>
            <a:r>
              <a:rPr lang="en-US" sz="1400" dirty="0">
                <a:solidFill>
                  <a:srgbClr val="50E6FF"/>
                </a:solidFill>
                <a:latin typeface="+mj-lt"/>
              </a:rPr>
              <a:t>Empower developers</a:t>
            </a:r>
            <a:br>
              <a:rPr kumimoji="0" lang="en-US" sz="1200" b="0" i="0" u="none" strike="noStrike" kern="1200" cap="none" spc="0" normalizeH="0" baseline="0" noProof="0" dirty="0">
                <a:ln>
                  <a:noFill/>
                </a:ln>
                <a:solidFill>
                  <a:srgbClr val="50E6FF"/>
                </a:solidFill>
                <a:effectLst/>
                <a:uLnTx/>
                <a:uFillTx/>
                <a:ea typeface="+mn-ea"/>
                <a:cs typeface="+mn-cs"/>
              </a:rPr>
            </a:br>
            <a:r>
              <a:rPr kumimoji="0" lang="en-US" sz="1200" b="0" i="0" u="none" strike="noStrike" kern="1200" cap="none" spc="0" normalizeH="0" baseline="0" noProof="0" dirty="0">
                <a:ln>
                  <a:noFill/>
                </a:ln>
                <a:effectLst/>
                <a:uLnTx/>
                <a:uFillTx/>
                <a:ea typeface="+mn-ea"/>
                <a:cs typeface="+mn-cs"/>
              </a:rPr>
              <a:t>with embedded security features like Azure web app firewall and </a:t>
            </a:r>
            <a:r>
              <a:rPr kumimoji="0" lang="en-US" sz="1200" b="0" i="0" u="none" strike="noStrike" kern="1200" cap="none" spc="0" normalizeH="0" baseline="0" noProof="0" dirty="0">
                <a:ln>
                  <a:noFill/>
                </a:ln>
                <a:solidFill>
                  <a:srgbClr val="FFFFFF"/>
                </a:solidFill>
                <a:effectLst/>
                <a:uLnTx/>
                <a:uFillTx/>
                <a:latin typeface="Segoe UI"/>
                <a:ea typeface="+mn-ea"/>
                <a:cs typeface="+mn-cs"/>
              </a:rPr>
              <a:t>get 80% fewer security incidents by integrating security in development</a:t>
            </a:r>
            <a:r>
              <a:rPr lang="en-US" sz="1200" baseline="30000" dirty="0">
                <a:solidFill>
                  <a:srgbClr val="FFFFFF"/>
                </a:solidFill>
                <a:latin typeface="Segoe UI"/>
              </a:rPr>
              <a:t>4</a:t>
            </a:r>
            <a:endParaRPr kumimoji="0" lang="en-US" sz="1200" b="0" i="1" u="none" strike="noStrike" kern="1200" cap="none" spc="0" normalizeH="0" baseline="30000" noProof="0" dirty="0">
              <a:ln>
                <a:noFill/>
              </a:ln>
              <a:solidFill>
                <a:srgbClr val="FFFFFF"/>
              </a:solidFill>
              <a:effectLst/>
              <a:uLnTx/>
              <a:uFillTx/>
              <a:ea typeface="+mn-ea"/>
              <a:cs typeface="+mn-cs"/>
            </a:endParaRPr>
          </a:p>
        </p:txBody>
      </p:sp>
      <p:sp>
        <p:nvSpPr>
          <p:cNvPr id="33" name="arrow_15_bidi" descr="Icon of a arrow in a circle pointed down">
            <a:extLst>
              <a:ext uri="{FF2B5EF4-FFF2-40B4-BE49-F238E27FC236}">
                <a16:creationId xmlns:a16="http://schemas.microsoft.com/office/drawing/2014/main" id="{A21BF5A3-B66B-896C-1F6A-733EE7452D06}"/>
              </a:ext>
            </a:extLst>
          </p:cNvPr>
          <p:cNvSpPr>
            <a:spLocks noChangeAspect="1" noEditPoints="1"/>
          </p:cNvSpPr>
          <p:nvPr/>
        </p:nvSpPr>
        <p:spPr bwMode="auto">
          <a:xfrm rot="16200000" flipH="1">
            <a:off x="5502148" y="1292475"/>
            <a:ext cx="367430" cy="365760"/>
          </a:xfrm>
          <a:custGeom>
            <a:avLst/>
            <a:gdLst>
              <a:gd name="T0" fmla="*/ 0 w 304"/>
              <a:gd name="T1" fmla="*/ 151 h 303"/>
              <a:gd name="T2" fmla="*/ 152 w 304"/>
              <a:gd name="T3" fmla="*/ 0 h 303"/>
              <a:gd name="T4" fmla="*/ 304 w 304"/>
              <a:gd name="T5" fmla="*/ 151 h 303"/>
              <a:gd name="T6" fmla="*/ 152 w 304"/>
              <a:gd name="T7" fmla="*/ 303 h 303"/>
              <a:gd name="T8" fmla="*/ 0 w 304"/>
              <a:gd name="T9" fmla="*/ 151 h 303"/>
              <a:gd name="T10" fmla="*/ 151 w 304"/>
              <a:gd name="T11" fmla="*/ 223 h 303"/>
              <a:gd name="T12" fmla="*/ 223 w 304"/>
              <a:gd name="T13" fmla="*/ 151 h 303"/>
              <a:gd name="T14" fmla="*/ 151 w 304"/>
              <a:gd name="T15" fmla="*/ 79 h 303"/>
              <a:gd name="T16" fmla="*/ 223 w 304"/>
              <a:gd name="T17" fmla="*/ 151 h 303"/>
              <a:gd name="T18" fmla="*/ 73 w 304"/>
              <a:gd name="T19" fmla="*/ 151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4" h="303">
                <a:moveTo>
                  <a:pt x="0" y="151"/>
                </a:moveTo>
                <a:cubicBezTo>
                  <a:pt x="0" y="68"/>
                  <a:pt x="68" y="0"/>
                  <a:pt x="152" y="0"/>
                </a:cubicBezTo>
                <a:cubicBezTo>
                  <a:pt x="236" y="0"/>
                  <a:pt x="304" y="68"/>
                  <a:pt x="304" y="151"/>
                </a:cubicBezTo>
                <a:cubicBezTo>
                  <a:pt x="304" y="235"/>
                  <a:pt x="236" y="303"/>
                  <a:pt x="152" y="303"/>
                </a:cubicBezTo>
                <a:cubicBezTo>
                  <a:pt x="68" y="303"/>
                  <a:pt x="0" y="235"/>
                  <a:pt x="0" y="151"/>
                </a:cubicBezTo>
                <a:close/>
                <a:moveTo>
                  <a:pt x="151" y="223"/>
                </a:moveTo>
                <a:cubicBezTo>
                  <a:pt x="223" y="151"/>
                  <a:pt x="223" y="151"/>
                  <a:pt x="223" y="151"/>
                </a:cubicBezTo>
                <a:cubicBezTo>
                  <a:pt x="151" y="79"/>
                  <a:pt x="151" y="79"/>
                  <a:pt x="151" y="79"/>
                </a:cubicBezTo>
                <a:moveTo>
                  <a:pt x="223" y="151"/>
                </a:moveTo>
                <a:cubicBezTo>
                  <a:pt x="73" y="151"/>
                  <a:pt x="73" y="151"/>
                  <a:pt x="73" y="151"/>
                </a:cubicBezTo>
              </a:path>
            </a:pathLst>
          </a:custGeom>
          <a:noFill/>
          <a:ln w="15875" cap="sq">
            <a:gradFill>
              <a:gsLst>
                <a:gs pos="0">
                  <a:schemeClr val="accent1"/>
                </a:gs>
                <a:gs pos="100000">
                  <a:schemeClr val="accent2"/>
                </a:gs>
              </a:gsLst>
              <a:lin ang="0" scaled="0"/>
            </a:gradFill>
            <a:prstDash val="solid"/>
            <a:miter lim="800000"/>
            <a:headEnd/>
            <a:tailEnd/>
          </a:ln>
        </p:spPr>
        <p:txBody>
          <a:bodyPr vert="horz" wrap="square" lIns="91440" tIns="45720" rIns="91440" bIns="45720" numCol="1" anchor="t" anchorCtr="0" compatLnSpc="1">
            <a:prstTxWarp prst="textNoShape">
              <a:avLst/>
            </a:prstTxWarp>
          </a:bodyPr>
          <a:lstStyle/>
          <a:p>
            <a:endParaRPr lang="en-US" sz="900">
              <a:gradFill>
                <a:gsLst>
                  <a:gs pos="0">
                    <a:srgbClr val="505050"/>
                  </a:gs>
                  <a:gs pos="100000">
                    <a:srgbClr val="505050"/>
                  </a:gs>
                </a:gsLst>
                <a:lin ang="5400000" scaled="1"/>
              </a:gradFill>
            </a:endParaRPr>
          </a:p>
        </p:txBody>
      </p:sp>
      <p:sp>
        <p:nvSpPr>
          <p:cNvPr id="34" name="Move_E7C2" title="Icon of four arrows pointing away from eachother">
            <a:extLst>
              <a:ext uri="{FF2B5EF4-FFF2-40B4-BE49-F238E27FC236}">
                <a16:creationId xmlns:a16="http://schemas.microsoft.com/office/drawing/2014/main" id="{BE86A144-1D92-F20F-903E-5930771F76FE}"/>
              </a:ext>
            </a:extLst>
          </p:cNvPr>
          <p:cNvSpPr>
            <a:spLocks noChangeAspect="1" noEditPoints="1"/>
          </p:cNvSpPr>
          <p:nvPr/>
        </p:nvSpPr>
        <p:spPr bwMode="auto">
          <a:xfrm>
            <a:off x="7957201" y="1296898"/>
            <a:ext cx="365669" cy="365760"/>
          </a:xfrm>
          <a:custGeom>
            <a:avLst/>
            <a:gdLst>
              <a:gd name="T0" fmla="*/ 736 w 3999"/>
              <a:gd name="T1" fmla="*/ 2737 h 4000"/>
              <a:gd name="T2" fmla="*/ 0 w 3999"/>
              <a:gd name="T3" fmla="*/ 2001 h 4000"/>
              <a:gd name="T4" fmla="*/ 736 w 3999"/>
              <a:gd name="T5" fmla="*/ 1264 h 4000"/>
              <a:gd name="T6" fmla="*/ 86 w 3999"/>
              <a:gd name="T7" fmla="*/ 2001 h 4000"/>
              <a:gd name="T8" fmla="*/ 1264 w 3999"/>
              <a:gd name="T9" fmla="*/ 2001 h 4000"/>
              <a:gd name="T10" fmla="*/ 1264 w 3999"/>
              <a:gd name="T11" fmla="*/ 3265 h 4000"/>
              <a:gd name="T12" fmla="*/ 2000 w 3999"/>
              <a:gd name="T13" fmla="*/ 4000 h 4000"/>
              <a:gd name="T14" fmla="*/ 2735 w 3999"/>
              <a:gd name="T15" fmla="*/ 3265 h 4000"/>
              <a:gd name="T16" fmla="*/ 2000 w 3999"/>
              <a:gd name="T17" fmla="*/ 3915 h 4000"/>
              <a:gd name="T18" fmla="*/ 2000 w 3999"/>
              <a:gd name="T19" fmla="*/ 2737 h 4000"/>
              <a:gd name="T20" fmla="*/ 3264 w 3999"/>
              <a:gd name="T21" fmla="*/ 2737 h 4000"/>
              <a:gd name="T22" fmla="*/ 3999 w 3999"/>
              <a:gd name="T23" fmla="*/ 2001 h 4000"/>
              <a:gd name="T24" fmla="*/ 3264 w 3999"/>
              <a:gd name="T25" fmla="*/ 1264 h 4000"/>
              <a:gd name="T26" fmla="*/ 3913 w 3999"/>
              <a:gd name="T27" fmla="*/ 2001 h 4000"/>
              <a:gd name="T28" fmla="*/ 2735 w 3999"/>
              <a:gd name="T29" fmla="*/ 2001 h 4000"/>
              <a:gd name="T30" fmla="*/ 2735 w 3999"/>
              <a:gd name="T31" fmla="*/ 736 h 4000"/>
              <a:gd name="T32" fmla="*/ 2000 w 3999"/>
              <a:gd name="T33" fmla="*/ 0 h 4000"/>
              <a:gd name="T34" fmla="*/ 1264 w 3999"/>
              <a:gd name="T35" fmla="*/ 736 h 4000"/>
              <a:gd name="T36" fmla="*/ 2000 w 3999"/>
              <a:gd name="T37" fmla="*/ 86 h 4000"/>
              <a:gd name="T38" fmla="*/ 2000 w 3999"/>
              <a:gd name="T39" fmla="*/ 1264 h 40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999" h="4000">
                <a:moveTo>
                  <a:pt x="736" y="2737"/>
                </a:moveTo>
                <a:lnTo>
                  <a:pt x="0" y="2001"/>
                </a:lnTo>
                <a:lnTo>
                  <a:pt x="736" y="1264"/>
                </a:lnTo>
                <a:moveTo>
                  <a:pt x="86" y="2001"/>
                </a:moveTo>
                <a:lnTo>
                  <a:pt x="1264" y="2001"/>
                </a:lnTo>
                <a:moveTo>
                  <a:pt x="1264" y="3265"/>
                </a:moveTo>
                <a:lnTo>
                  <a:pt x="2000" y="4000"/>
                </a:lnTo>
                <a:lnTo>
                  <a:pt x="2735" y="3265"/>
                </a:lnTo>
                <a:moveTo>
                  <a:pt x="2000" y="3915"/>
                </a:moveTo>
                <a:lnTo>
                  <a:pt x="2000" y="2737"/>
                </a:lnTo>
                <a:moveTo>
                  <a:pt x="3264" y="2737"/>
                </a:moveTo>
                <a:lnTo>
                  <a:pt x="3999" y="2001"/>
                </a:lnTo>
                <a:lnTo>
                  <a:pt x="3264" y="1264"/>
                </a:lnTo>
                <a:moveTo>
                  <a:pt x="3913" y="2001"/>
                </a:moveTo>
                <a:lnTo>
                  <a:pt x="2735" y="2001"/>
                </a:lnTo>
                <a:moveTo>
                  <a:pt x="2735" y="736"/>
                </a:moveTo>
                <a:lnTo>
                  <a:pt x="2000" y="0"/>
                </a:lnTo>
                <a:lnTo>
                  <a:pt x="1264" y="736"/>
                </a:lnTo>
                <a:moveTo>
                  <a:pt x="2000" y="86"/>
                </a:moveTo>
                <a:lnTo>
                  <a:pt x="2000" y="1264"/>
                </a:lnTo>
              </a:path>
            </a:pathLst>
          </a:custGeom>
          <a:noFill/>
          <a:ln w="15875" cap="sq">
            <a:gradFill>
              <a:gsLst>
                <a:gs pos="0">
                  <a:schemeClr val="accent1"/>
                </a:gs>
                <a:gs pos="100000">
                  <a:schemeClr val="accent2"/>
                </a:gs>
              </a:gsLst>
              <a:lin ang="5400000" scaled="0"/>
            </a:gradFill>
            <a:prstDash val="solid"/>
            <a:miter lim="800000"/>
            <a:headEnd/>
            <a:tailEnd/>
          </a:ln>
        </p:spPr>
        <p:txBody>
          <a:bodyPr vert="horz" wrap="square" lIns="91440" tIns="45720" rIns="91440" bIns="45720" numCol="1" anchor="t" anchorCtr="0" compatLnSpc="1">
            <a:prstTxWarp prst="textNoShape">
              <a:avLst/>
            </a:prstTxWarp>
          </a:bodyPr>
          <a:lstStyle/>
          <a:p>
            <a:endParaRPr lang="en-US" sz="900">
              <a:gradFill>
                <a:gsLst>
                  <a:gs pos="0">
                    <a:srgbClr val="505050"/>
                  </a:gs>
                  <a:gs pos="100000">
                    <a:srgbClr val="505050"/>
                  </a:gs>
                </a:gsLst>
                <a:lin ang="5400000" scaled="1"/>
              </a:gradFill>
            </a:endParaRPr>
          </a:p>
        </p:txBody>
      </p:sp>
      <p:sp>
        <p:nvSpPr>
          <p:cNvPr id="35" name="arrow_6" title="Icon of two arrows pointing in opposite direction of each other">
            <a:extLst>
              <a:ext uri="{FF2B5EF4-FFF2-40B4-BE49-F238E27FC236}">
                <a16:creationId xmlns:a16="http://schemas.microsoft.com/office/drawing/2014/main" id="{BB38575D-93DB-38BC-249B-4B5519324F8B}"/>
              </a:ext>
            </a:extLst>
          </p:cNvPr>
          <p:cNvSpPr>
            <a:spLocks noChangeAspect="1" noEditPoints="1"/>
          </p:cNvSpPr>
          <p:nvPr/>
        </p:nvSpPr>
        <p:spPr bwMode="auto">
          <a:xfrm>
            <a:off x="10467884" y="1374252"/>
            <a:ext cx="303240" cy="284818"/>
          </a:xfrm>
          <a:custGeom>
            <a:avLst/>
            <a:gdLst>
              <a:gd name="T0" fmla="*/ 162 w 214"/>
              <a:gd name="T1" fmla="*/ 0 h 201"/>
              <a:gd name="T2" fmla="*/ 214 w 214"/>
              <a:gd name="T3" fmla="*/ 53 h 201"/>
              <a:gd name="T4" fmla="*/ 162 w 214"/>
              <a:gd name="T5" fmla="*/ 105 h 201"/>
              <a:gd name="T6" fmla="*/ 214 w 214"/>
              <a:gd name="T7" fmla="*/ 53 h 201"/>
              <a:gd name="T8" fmla="*/ 0 w 214"/>
              <a:gd name="T9" fmla="*/ 53 h 201"/>
              <a:gd name="T10" fmla="*/ 52 w 214"/>
              <a:gd name="T11" fmla="*/ 96 h 201"/>
              <a:gd name="T12" fmla="*/ 0 w 214"/>
              <a:gd name="T13" fmla="*/ 148 h 201"/>
              <a:gd name="T14" fmla="*/ 52 w 214"/>
              <a:gd name="T15" fmla="*/ 201 h 201"/>
              <a:gd name="T16" fmla="*/ 0 w 214"/>
              <a:gd name="T17" fmla="*/ 148 h 201"/>
              <a:gd name="T18" fmla="*/ 214 w 214"/>
              <a:gd name="T19" fmla="*/ 148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4" h="201">
                <a:moveTo>
                  <a:pt x="162" y="0"/>
                </a:moveTo>
                <a:lnTo>
                  <a:pt x="214" y="53"/>
                </a:lnTo>
                <a:lnTo>
                  <a:pt x="162" y="105"/>
                </a:lnTo>
                <a:moveTo>
                  <a:pt x="214" y="53"/>
                </a:moveTo>
                <a:lnTo>
                  <a:pt x="0" y="53"/>
                </a:lnTo>
                <a:moveTo>
                  <a:pt x="52" y="96"/>
                </a:moveTo>
                <a:lnTo>
                  <a:pt x="0" y="148"/>
                </a:lnTo>
                <a:lnTo>
                  <a:pt x="52" y="201"/>
                </a:lnTo>
                <a:moveTo>
                  <a:pt x="0" y="148"/>
                </a:moveTo>
                <a:lnTo>
                  <a:pt x="214" y="148"/>
                </a:lnTo>
              </a:path>
            </a:pathLst>
          </a:custGeom>
          <a:noFill/>
          <a:ln w="15875" cap="sq">
            <a:gradFill>
              <a:gsLst>
                <a:gs pos="0">
                  <a:schemeClr val="accent1"/>
                </a:gs>
                <a:gs pos="100000">
                  <a:schemeClr val="accent2"/>
                </a:gs>
              </a:gsLst>
              <a:lin ang="5400000" scaled="0"/>
            </a:gradFill>
            <a:prstDash val="solid"/>
            <a:miter lim="800000"/>
            <a:headEnd/>
            <a:tailEnd/>
          </a:ln>
        </p:spPr>
        <p:txBody>
          <a:bodyPr vert="horz" wrap="square" lIns="91440" tIns="45720" rIns="91440" bIns="45720" numCol="1" anchor="t" anchorCtr="0" compatLnSpc="1">
            <a:prstTxWarp prst="textNoShape">
              <a:avLst/>
            </a:prstTxWarp>
          </a:bodyPr>
          <a:lstStyle/>
          <a:p>
            <a:endParaRPr lang="en-US" sz="900">
              <a:gradFill>
                <a:gsLst>
                  <a:gs pos="0">
                    <a:srgbClr val="505050"/>
                  </a:gs>
                  <a:gs pos="100000">
                    <a:srgbClr val="505050"/>
                  </a:gs>
                </a:gsLst>
                <a:lin ang="5400000" scaled="1"/>
              </a:gradFill>
            </a:endParaRPr>
          </a:p>
        </p:txBody>
      </p:sp>
      <p:sp>
        <p:nvSpPr>
          <p:cNvPr id="36" name="Shield_EA18" title="Icon of a shield">
            <a:extLst>
              <a:ext uri="{FF2B5EF4-FFF2-40B4-BE49-F238E27FC236}">
                <a16:creationId xmlns:a16="http://schemas.microsoft.com/office/drawing/2014/main" id="{92E2640B-A6FF-9E69-A523-2848CFA745A7}"/>
              </a:ext>
            </a:extLst>
          </p:cNvPr>
          <p:cNvSpPr>
            <a:spLocks noChangeAspect="1"/>
          </p:cNvSpPr>
          <p:nvPr/>
        </p:nvSpPr>
        <p:spPr bwMode="auto">
          <a:xfrm>
            <a:off x="5517965" y="4030837"/>
            <a:ext cx="343544" cy="365760"/>
          </a:xfrm>
          <a:custGeom>
            <a:avLst/>
            <a:gdLst>
              <a:gd name="T0" fmla="*/ 3500 w 3500"/>
              <a:gd name="T1" fmla="*/ 1375 h 3725"/>
              <a:gd name="T2" fmla="*/ 1750 w 3500"/>
              <a:gd name="T3" fmla="*/ 3725 h 3725"/>
              <a:gd name="T4" fmla="*/ 0 w 3500"/>
              <a:gd name="T5" fmla="*/ 1375 h 3725"/>
              <a:gd name="T6" fmla="*/ 0 w 3500"/>
              <a:gd name="T7" fmla="*/ 500 h 3725"/>
              <a:gd name="T8" fmla="*/ 1125 w 3500"/>
              <a:gd name="T9" fmla="*/ 187 h 3725"/>
              <a:gd name="T10" fmla="*/ 1750 w 3500"/>
              <a:gd name="T11" fmla="*/ 0 h 3725"/>
              <a:gd name="T12" fmla="*/ 2375 w 3500"/>
              <a:gd name="T13" fmla="*/ 187 h 3725"/>
              <a:gd name="T14" fmla="*/ 3500 w 3500"/>
              <a:gd name="T15" fmla="*/ 500 h 3725"/>
              <a:gd name="T16" fmla="*/ 3500 w 3500"/>
              <a:gd name="T17" fmla="*/ 1375 h 3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00" h="3725">
                <a:moveTo>
                  <a:pt x="3500" y="1375"/>
                </a:moveTo>
                <a:cubicBezTo>
                  <a:pt x="3500" y="2302"/>
                  <a:pt x="2831" y="3117"/>
                  <a:pt x="1750" y="3725"/>
                </a:cubicBezTo>
                <a:cubicBezTo>
                  <a:pt x="669" y="3117"/>
                  <a:pt x="0" y="2302"/>
                  <a:pt x="0" y="1375"/>
                </a:cubicBezTo>
                <a:cubicBezTo>
                  <a:pt x="0" y="500"/>
                  <a:pt x="0" y="500"/>
                  <a:pt x="0" y="500"/>
                </a:cubicBezTo>
                <a:cubicBezTo>
                  <a:pt x="440" y="500"/>
                  <a:pt x="837" y="380"/>
                  <a:pt x="1125" y="187"/>
                </a:cubicBezTo>
                <a:cubicBezTo>
                  <a:pt x="1285" y="71"/>
                  <a:pt x="1506" y="0"/>
                  <a:pt x="1750" y="0"/>
                </a:cubicBezTo>
                <a:cubicBezTo>
                  <a:pt x="1994" y="0"/>
                  <a:pt x="2215" y="71"/>
                  <a:pt x="2375" y="187"/>
                </a:cubicBezTo>
                <a:cubicBezTo>
                  <a:pt x="2663" y="380"/>
                  <a:pt x="3060" y="500"/>
                  <a:pt x="3500" y="500"/>
                </a:cubicBezTo>
                <a:lnTo>
                  <a:pt x="3500" y="1375"/>
                </a:lnTo>
                <a:close/>
              </a:path>
            </a:pathLst>
          </a:custGeom>
          <a:noFill/>
          <a:ln w="15875" cap="sq">
            <a:gradFill>
              <a:gsLst>
                <a:gs pos="0">
                  <a:schemeClr val="accent1"/>
                </a:gs>
                <a:gs pos="100000">
                  <a:schemeClr val="accent2"/>
                </a:gs>
              </a:gsLst>
              <a:lin ang="5400000" scaled="0"/>
            </a:gradFill>
            <a:prstDash val="solid"/>
            <a:miter lim="800000"/>
            <a:headEnd/>
            <a:tailEnd/>
          </a:ln>
        </p:spPr>
        <p:txBody>
          <a:bodyPr vert="horz" wrap="square" lIns="91440" tIns="45720" rIns="91440" bIns="45720" numCol="1" anchor="t" anchorCtr="0" compatLnSpc="1">
            <a:prstTxWarp prst="textNoShape">
              <a:avLst/>
            </a:prstTxWarp>
          </a:bodyPr>
          <a:lstStyle/>
          <a:p>
            <a:endParaRPr lang="en-US" sz="900">
              <a:gradFill>
                <a:gsLst>
                  <a:gs pos="0">
                    <a:srgbClr val="505050"/>
                  </a:gs>
                  <a:gs pos="100000">
                    <a:srgbClr val="505050"/>
                  </a:gs>
                </a:gsLst>
                <a:lin ang="5400000" scaled="1"/>
              </a:gradFill>
            </a:endParaRPr>
          </a:p>
        </p:txBody>
      </p:sp>
      <p:sp>
        <p:nvSpPr>
          <p:cNvPr id="37" name="check 3" title="Icon of a checkmark with a circle around it">
            <a:extLst>
              <a:ext uri="{FF2B5EF4-FFF2-40B4-BE49-F238E27FC236}">
                <a16:creationId xmlns:a16="http://schemas.microsoft.com/office/drawing/2014/main" id="{82F3E72C-B72E-7F85-22D9-CA9A18AAEC86}"/>
              </a:ext>
            </a:extLst>
          </p:cNvPr>
          <p:cNvSpPr>
            <a:spLocks noChangeAspect="1" noEditPoints="1"/>
          </p:cNvSpPr>
          <p:nvPr/>
        </p:nvSpPr>
        <p:spPr bwMode="auto">
          <a:xfrm>
            <a:off x="7968603" y="4030837"/>
            <a:ext cx="367893" cy="365760"/>
          </a:xfrm>
          <a:custGeom>
            <a:avLst/>
            <a:gdLst>
              <a:gd name="T0" fmla="*/ 250 w 250"/>
              <a:gd name="T1" fmla="*/ 125 h 250"/>
              <a:gd name="T2" fmla="*/ 125 w 250"/>
              <a:gd name="T3" fmla="*/ 250 h 250"/>
              <a:gd name="T4" fmla="*/ 0 w 250"/>
              <a:gd name="T5" fmla="*/ 125 h 250"/>
              <a:gd name="T6" fmla="*/ 125 w 250"/>
              <a:gd name="T7" fmla="*/ 0 h 250"/>
              <a:gd name="T8" fmla="*/ 250 w 250"/>
              <a:gd name="T9" fmla="*/ 125 h 250"/>
              <a:gd name="T10" fmla="*/ 60 w 250"/>
              <a:gd name="T11" fmla="*/ 125 h 250"/>
              <a:gd name="T12" fmla="*/ 100 w 250"/>
              <a:gd name="T13" fmla="*/ 165 h 250"/>
              <a:gd name="T14" fmla="*/ 190 w 250"/>
              <a:gd name="T15" fmla="*/ 74 h 25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0" h="250">
                <a:moveTo>
                  <a:pt x="250" y="125"/>
                </a:moveTo>
                <a:cubicBezTo>
                  <a:pt x="250" y="194"/>
                  <a:pt x="194" y="250"/>
                  <a:pt x="125" y="250"/>
                </a:cubicBezTo>
                <a:cubicBezTo>
                  <a:pt x="56" y="250"/>
                  <a:pt x="0" y="194"/>
                  <a:pt x="0" y="125"/>
                </a:cubicBezTo>
                <a:cubicBezTo>
                  <a:pt x="0" y="56"/>
                  <a:pt x="56" y="0"/>
                  <a:pt x="125" y="0"/>
                </a:cubicBezTo>
                <a:cubicBezTo>
                  <a:pt x="194" y="0"/>
                  <a:pt x="250" y="56"/>
                  <a:pt x="250" y="125"/>
                </a:cubicBezTo>
                <a:close/>
                <a:moveTo>
                  <a:pt x="60" y="125"/>
                </a:moveTo>
                <a:cubicBezTo>
                  <a:pt x="100" y="165"/>
                  <a:pt x="100" y="165"/>
                  <a:pt x="100" y="165"/>
                </a:cubicBezTo>
                <a:cubicBezTo>
                  <a:pt x="190" y="74"/>
                  <a:pt x="190" y="74"/>
                  <a:pt x="190" y="74"/>
                </a:cubicBezTo>
              </a:path>
            </a:pathLst>
          </a:custGeom>
          <a:noFill/>
          <a:ln w="15875" cap="sq">
            <a:gradFill>
              <a:gsLst>
                <a:gs pos="0">
                  <a:schemeClr val="accent1"/>
                </a:gs>
                <a:gs pos="100000">
                  <a:schemeClr val="accent2"/>
                </a:gs>
              </a:gsLst>
              <a:lin ang="5400000" scaled="0"/>
            </a:gradFill>
            <a:prstDash val="solid"/>
            <a:miter lim="800000"/>
            <a:headEnd/>
            <a:tailEnd/>
          </a:ln>
        </p:spPr>
        <p:txBody>
          <a:bodyPr vert="horz" wrap="square" lIns="91440" tIns="45720" rIns="91440" bIns="45720" numCol="1" anchor="t" anchorCtr="0" compatLnSpc="1">
            <a:prstTxWarp prst="textNoShape">
              <a:avLst/>
            </a:prstTxWarp>
          </a:bodyPr>
          <a:lstStyle/>
          <a:p>
            <a:endParaRPr lang="en-US" sz="900">
              <a:gradFill>
                <a:gsLst>
                  <a:gs pos="0">
                    <a:srgbClr val="505050"/>
                  </a:gs>
                  <a:gs pos="100000">
                    <a:srgbClr val="505050"/>
                  </a:gs>
                </a:gsLst>
                <a:lin ang="5400000" scaled="1"/>
              </a:gradFill>
            </a:endParaRPr>
          </a:p>
        </p:txBody>
      </p:sp>
      <p:sp>
        <p:nvSpPr>
          <p:cNvPr id="38" name="Embed_ECCE" title="Icon of two chevron brackets around a backslash">
            <a:extLst>
              <a:ext uri="{FF2B5EF4-FFF2-40B4-BE49-F238E27FC236}">
                <a16:creationId xmlns:a16="http://schemas.microsoft.com/office/drawing/2014/main" id="{BFA91A74-4CA0-DFD3-1A59-D34D62B53A10}"/>
              </a:ext>
            </a:extLst>
          </p:cNvPr>
          <p:cNvSpPr>
            <a:spLocks noChangeAspect="1" noEditPoints="1"/>
          </p:cNvSpPr>
          <p:nvPr/>
        </p:nvSpPr>
        <p:spPr bwMode="auto">
          <a:xfrm>
            <a:off x="10406223" y="4030837"/>
            <a:ext cx="426562" cy="365760"/>
          </a:xfrm>
          <a:custGeom>
            <a:avLst/>
            <a:gdLst>
              <a:gd name="T0" fmla="*/ 672 w 3136"/>
              <a:gd name="T1" fmla="*/ 2017 h 2689"/>
              <a:gd name="T2" fmla="*/ 0 w 3136"/>
              <a:gd name="T3" fmla="*/ 1345 h 2689"/>
              <a:gd name="T4" fmla="*/ 672 w 3136"/>
              <a:gd name="T5" fmla="*/ 672 h 2689"/>
              <a:gd name="T6" fmla="*/ 2464 w 3136"/>
              <a:gd name="T7" fmla="*/ 2017 h 2689"/>
              <a:gd name="T8" fmla="*/ 3136 w 3136"/>
              <a:gd name="T9" fmla="*/ 1345 h 2689"/>
              <a:gd name="T10" fmla="*/ 2464 w 3136"/>
              <a:gd name="T11" fmla="*/ 672 h 2689"/>
              <a:gd name="T12" fmla="*/ 1121 w 3136"/>
              <a:gd name="T13" fmla="*/ 2689 h 2689"/>
              <a:gd name="T14" fmla="*/ 2017 w 3136"/>
              <a:gd name="T15" fmla="*/ 0 h 268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136" h="2689">
                <a:moveTo>
                  <a:pt x="672" y="2017"/>
                </a:moveTo>
                <a:lnTo>
                  <a:pt x="0" y="1345"/>
                </a:lnTo>
                <a:lnTo>
                  <a:pt x="672" y="672"/>
                </a:lnTo>
                <a:moveTo>
                  <a:pt x="2464" y="2017"/>
                </a:moveTo>
                <a:lnTo>
                  <a:pt x="3136" y="1345"/>
                </a:lnTo>
                <a:lnTo>
                  <a:pt x="2464" y="672"/>
                </a:lnTo>
                <a:moveTo>
                  <a:pt x="1121" y="2689"/>
                </a:moveTo>
                <a:lnTo>
                  <a:pt x="2017" y="0"/>
                </a:lnTo>
              </a:path>
            </a:pathLst>
          </a:custGeom>
          <a:noFill/>
          <a:ln w="15875" cap="sq">
            <a:gradFill>
              <a:gsLst>
                <a:gs pos="0">
                  <a:schemeClr val="accent1"/>
                </a:gs>
                <a:gs pos="100000">
                  <a:schemeClr val="accent2"/>
                </a:gs>
              </a:gsLst>
              <a:lin ang="5400000" scaled="0"/>
            </a:gradFill>
            <a:prstDash val="solid"/>
            <a:miter lim="800000"/>
            <a:headEnd/>
            <a:tailEnd/>
          </a:ln>
        </p:spPr>
        <p:txBody>
          <a:bodyPr vert="horz" wrap="square" lIns="91440" tIns="45720" rIns="91440" bIns="45720" numCol="1" anchor="t" anchorCtr="0" compatLnSpc="1">
            <a:prstTxWarp prst="textNoShape">
              <a:avLst/>
            </a:prstTxWarp>
          </a:bodyPr>
          <a:lstStyle/>
          <a:p>
            <a:endParaRPr lang="en-US" sz="900">
              <a:gradFill>
                <a:gsLst>
                  <a:gs pos="0">
                    <a:srgbClr val="505050"/>
                  </a:gs>
                  <a:gs pos="100000">
                    <a:srgbClr val="505050"/>
                  </a:gs>
                </a:gsLst>
                <a:lin ang="5400000" scaled="1"/>
              </a:gradFill>
            </a:endParaRPr>
          </a:p>
        </p:txBody>
      </p:sp>
      <p:grpSp>
        <p:nvGrpSpPr>
          <p:cNvPr id="22" name="Group 21" descr="Reinvest to grow navigation">
            <a:extLst>
              <a:ext uri="{FF2B5EF4-FFF2-40B4-BE49-F238E27FC236}">
                <a16:creationId xmlns:a16="http://schemas.microsoft.com/office/drawing/2014/main" id="{1B9C83DB-0314-A62C-F11D-77EA2E569A2E}"/>
              </a:ext>
            </a:extLst>
          </p:cNvPr>
          <p:cNvGrpSpPr/>
          <p:nvPr/>
        </p:nvGrpSpPr>
        <p:grpSpPr>
          <a:xfrm>
            <a:off x="583828" y="409640"/>
            <a:ext cx="1894901" cy="440154"/>
            <a:chOff x="583828" y="409640"/>
            <a:chExt cx="1894901" cy="440154"/>
          </a:xfrm>
        </p:grpSpPr>
        <p:cxnSp>
          <p:nvCxnSpPr>
            <p:cNvPr id="42" name="Straight Connector 41">
              <a:extLst>
                <a:ext uri="{FF2B5EF4-FFF2-40B4-BE49-F238E27FC236}">
                  <a16:creationId xmlns:a16="http://schemas.microsoft.com/office/drawing/2014/main" id="{DE0AF435-F865-232D-B358-3B1F3650E46B}"/>
                </a:ext>
                <a:ext uri="{C183D7F6-B498-43B3-948B-1728B52AA6E4}">
                  <adec:decorative xmlns:adec="http://schemas.microsoft.com/office/drawing/2017/decorative" val="1"/>
                </a:ext>
              </a:extLst>
            </p:cNvPr>
            <p:cNvCxnSpPr>
              <a:cxnSpLocks/>
            </p:cNvCxnSpPr>
            <p:nvPr/>
          </p:nvCxnSpPr>
          <p:spPr>
            <a:xfrm flipH="1">
              <a:off x="1018274" y="629717"/>
              <a:ext cx="1014593" cy="0"/>
            </a:xfrm>
            <a:prstGeom prst="line">
              <a:avLst/>
            </a:prstGeom>
            <a:solidFill>
              <a:schemeClr val="bg1">
                <a:lumMod val="95000"/>
                <a:lumOff val="5000"/>
              </a:schemeClr>
            </a:solidFill>
            <a:ln w="12700" cap="flat" cmpd="sng" algn="ctr">
              <a:solidFill>
                <a:srgbClr val="000000">
                  <a:lumMod val="75000"/>
                  <a:lumOff val="25000"/>
                </a:srgbClr>
              </a:solidFill>
              <a:prstDash val="solid"/>
              <a:headEnd type="none" w="med" len="med"/>
              <a:tailEnd type="none" w="med" len="med"/>
            </a:ln>
            <a:effectLst/>
          </p:spPr>
        </p:cxnSp>
        <p:sp>
          <p:nvSpPr>
            <p:cNvPr id="43" name="Oval 42">
              <a:extLst>
                <a:ext uri="{FF2B5EF4-FFF2-40B4-BE49-F238E27FC236}">
                  <a16:creationId xmlns:a16="http://schemas.microsoft.com/office/drawing/2014/main" id="{55BAAD3E-64DE-20D0-DF9D-DB6D302086DF}"/>
                </a:ext>
              </a:extLst>
            </p:cNvPr>
            <p:cNvSpPr/>
            <p:nvPr/>
          </p:nvSpPr>
          <p:spPr bwMode="auto">
            <a:xfrm>
              <a:off x="583828" y="409640"/>
              <a:ext cx="440154" cy="440154"/>
            </a:xfrm>
            <a:prstGeom prst="ellipse">
              <a:avLst/>
            </a:prstGeom>
            <a:solidFill>
              <a:schemeClr val="bg1">
                <a:lumMod val="95000"/>
                <a:lumOff val="5000"/>
              </a:schemeClr>
            </a:solidFill>
            <a:ln w="12700" cap="flat" cmpd="sng" algn="ctr">
              <a:solidFill>
                <a:srgbClr val="000000">
                  <a:lumMod val="75000"/>
                  <a:lumOff val="25000"/>
                </a:srgbClr>
              </a:solidFill>
              <a:prstDash val="solid"/>
              <a:headEnd type="none" w="med" len="med"/>
              <a:tailEnd type="none" w="med" len="med"/>
            </a:ln>
            <a:effectLst/>
          </p:spPr>
          <p:txBody>
            <a:bodyPr rot="0" spcFirstLastPara="0" vertOverflow="overflow" horzOverflow="overflow" vert="horz" wrap="square" lIns="72000" tIns="180000" rIns="72000" bIns="144000" numCol="1" spcCol="0" rtlCol="0" fromWordArt="0" anchor="t" anchorCtr="0" forceAA="0" compatLnSpc="1">
              <a:prstTxWarp prst="textNoShape">
                <a:avLst/>
              </a:prstTxWarp>
              <a:noAutofit/>
            </a:bodyPr>
            <a:lstStyle/>
            <a:p>
              <a:pPr algn="ctr"/>
              <a:endParaRPr lang="en-US" sz="1600" kern="0" err="1">
                <a:gradFill flip="none" rotWithShape="1">
                  <a:gsLst>
                    <a:gs pos="0">
                      <a:srgbClr val="50E6FF"/>
                    </a:gs>
                    <a:gs pos="100000">
                      <a:srgbClr val="D59DFF"/>
                    </a:gs>
                  </a:gsLst>
                  <a:lin ang="2700000" scaled="1"/>
                  <a:tileRect/>
                </a:gradFill>
                <a:latin typeface="Segoe UI Semibold"/>
              </a:endParaRPr>
            </a:p>
          </p:txBody>
        </p:sp>
        <p:sp>
          <p:nvSpPr>
            <p:cNvPr id="44" name="Oval 43">
              <a:extLst>
                <a:ext uri="{FF2B5EF4-FFF2-40B4-BE49-F238E27FC236}">
                  <a16:creationId xmlns:a16="http://schemas.microsoft.com/office/drawing/2014/main" id="{8A1C1B28-A4F0-BF09-EB5C-BF804ADB469C}"/>
                </a:ext>
              </a:extLst>
            </p:cNvPr>
            <p:cNvSpPr/>
            <p:nvPr/>
          </p:nvSpPr>
          <p:spPr bwMode="auto">
            <a:xfrm>
              <a:off x="2038575" y="409640"/>
              <a:ext cx="440154" cy="440154"/>
            </a:xfrm>
            <a:prstGeom prst="ellipse">
              <a:avLst/>
            </a:prstGeom>
            <a:solidFill>
              <a:schemeClr val="bg1"/>
            </a:solidFill>
            <a:ln w="12700" cap="flat" cmpd="sng" algn="ctr">
              <a:solidFill>
                <a:schemeClr val="accent1"/>
              </a:solidFill>
              <a:prstDash val="solid"/>
              <a:headEnd type="none" w="med" len="med"/>
              <a:tailEnd type="none" w="med" len="med"/>
            </a:ln>
            <a:effectLst/>
          </p:spPr>
          <p:txBody>
            <a:bodyPr rot="0" spcFirstLastPara="0" vertOverflow="overflow" horzOverflow="overflow" vert="horz" wrap="square" lIns="72000" tIns="180000" rIns="72000" bIns="144000" numCol="1" spcCol="0" rtlCol="0" fromWordArt="0" anchor="t" anchorCtr="0" forceAA="0" compatLnSpc="1">
              <a:prstTxWarp prst="textNoShape">
                <a:avLst/>
              </a:prstTxWarp>
              <a:noAutofit/>
            </a:bodyPr>
            <a:lstStyle/>
            <a:p>
              <a:pPr algn="ctr"/>
              <a:endParaRPr lang="en-US" sz="1600" kern="0" err="1">
                <a:gradFill flip="none" rotWithShape="1">
                  <a:gsLst>
                    <a:gs pos="0">
                      <a:srgbClr val="50E6FF"/>
                    </a:gs>
                    <a:gs pos="100000">
                      <a:srgbClr val="D59DFF"/>
                    </a:gs>
                  </a:gsLst>
                  <a:lin ang="2700000" scaled="1"/>
                  <a:tileRect/>
                </a:gradFill>
                <a:latin typeface="Segoe UI Semibold"/>
              </a:endParaRPr>
            </a:p>
          </p:txBody>
        </p:sp>
        <p:sp>
          <p:nvSpPr>
            <p:cNvPr id="45" name="Oval 44">
              <a:extLst>
                <a:ext uri="{FF2B5EF4-FFF2-40B4-BE49-F238E27FC236}">
                  <a16:creationId xmlns:a16="http://schemas.microsoft.com/office/drawing/2014/main" id="{38695EC1-1274-3409-6E93-168B0C43A607}"/>
                </a:ext>
              </a:extLst>
            </p:cNvPr>
            <p:cNvSpPr/>
            <p:nvPr/>
          </p:nvSpPr>
          <p:spPr bwMode="auto">
            <a:xfrm>
              <a:off x="1311201" y="409640"/>
              <a:ext cx="440154" cy="440154"/>
            </a:xfrm>
            <a:prstGeom prst="ellipse">
              <a:avLst/>
            </a:prstGeom>
            <a:solidFill>
              <a:schemeClr val="bg1">
                <a:lumMod val="95000"/>
                <a:lumOff val="5000"/>
              </a:schemeClr>
            </a:solidFill>
            <a:ln w="12700" cap="flat" cmpd="sng" algn="ctr">
              <a:solidFill>
                <a:srgbClr val="000000">
                  <a:lumMod val="75000"/>
                  <a:lumOff val="25000"/>
                </a:srgbClr>
              </a:solidFill>
              <a:prstDash val="solid"/>
              <a:headEnd type="none" w="med" len="med"/>
              <a:tailEnd type="none" w="med" len="med"/>
            </a:ln>
            <a:effectLst/>
          </p:spPr>
          <p:txBody>
            <a:bodyPr rot="0" spcFirstLastPara="0" vertOverflow="overflow" horzOverflow="overflow" vert="horz" wrap="square" lIns="72000" tIns="180000" rIns="72000" bIns="144000" numCol="1" spcCol="0" rtlCol="0" fromWordArt="0" anchor="t" anchorCtr="0" forceAA="0" compatLnSpc="1">
              <a:prstTxWarp prst="textNoShape">
                <a:avLst/>
              </a:prstTxWarp>
              <a:noAutofit/>
            </a:bodyPr>
            <a:lstStyle/>
            <a:p>
              <a:pPr algn="ctr"/>
              <a:endParaRPr lang="en-US" sz="1600" kern="0" err="1">
                <a:gradFill flip="none" rotWithShape="1">
                  <a:gsLst>
                    <a:gs pos="0">
                      <a:srgbClr val="50E6FF"/>
                    </a:gs>
                    <a:gs pos="100000">
                      <a:srgbClr val="D59DFF"/>
                    </a:gs>
                  </a:gsLst>
                  <a:lin ang="2700000" scaled="1"/>
                  <a:tileRect/>
                </a:gradFill>
                <a:latin typeface="Segoe UI Semibold"/>
              </a:endParaRPr>
            </a:p>
          </p:txBody>
        </p:sp>
        <p:pic>
          <p:nvPicPr>
            <p:cNvPr id="46" name="Picture 45">
              <a:extLst>
                <a:ext uri="{FF2B5EF4-FFF2-40B4-BE49-F238E27FC236}">
                  <a16:creationId xmlns:a16="http://schemas.microsoft.com/office/drawing/2014/main" id="{4190A300-2916-A43F-BAA9-9B1C6EE7A951}"/>
                </a:ext>
              </a:extLst>
            </p:cNvPr>
            <p:cNvPicPr>
              <a:picLocks noChangeAspect="1"/>
            </p:cNvPicPr>
            <p:nvPr/>
          </p:nvPicPr>
          <p:blipFill>
            <a:blip r:embed="rId6">
              <a:grayscl/>
              <a:alphaModFix amt="53000"/>
            </a:blip>
            <a:stretch>
              <a:fillRect/>
            </a:stretch>
          </p:blipFill>
          <p:spPr>
            <a:xfrm>
              <a:off x="1394021" y="502426"/>
              <a:ext cx="267846" cy="267846"/>
            </a:xfrm>
            <a:prstGeom prst="rect">
              <a:avLst/>
            </a:prstGeom>
          </p:spPr>
        </p:pic>
        <p:pic>
          <p:nvPicPr>
            <p:cNvPr id="47" name="Picture 46">
              <a:extLst>
                <a:ext uri="{FF2B5EF4-FFF2-40B4-BE49-F238E27FC236}">
                  <a16:creationId xmlns:a16="http://schemas.microsoft.com/office/drawing/2014/main" id="{33EFE23A-8FA0-FA7F-3FBF-D6462B0C55E9}"/>
                </a:ext>
              </a:extLst>
            </p:cNvPr>
            <p:cNvPicPr>
              <a:picLocks noChangeAspect="1"/>
            </p:cNvPicPr>
            <p:nvPr/>
          </p:nvPicPr>
          <p:blipFill>
            <a:blip r:embed="rId7"/>
            <a:srcRect/>
            <a:stretch/>
          </p:blipFill>
          <p:spPr>
            <a:xfrm>
              <a:off x="2126332" y="486818"/>
              <a:ext cx="264639" cy="264639"/>
            </a:xfrm>
            <a:prstGeom prst="rect">
              <a:avLst/>
            </a:prstGeom>
          </p:spPr>
        </p:pic>
        <p:pic>
          <p:nvPicPr>
            <p:cNvPr id="48" name="Picture 47">
              <a:extLst>
                <a:ext uri="{FF2B5EF4-FFF2-40B4-BE49-F238E27FC236}">
                  <a16:creationId xmlns:a16="http://schemas.microsoft.com/office/drawing/2014/main" id="{46D8E0C3-E84B-8A16-3265-0E70339EEFAB}"/>
                </a:ext>
              </a:extLst>
            </p:cNvPr>
            <p:cNvPicPr>
              <a:picLocks noChangeAspect="1"/>
            </p:cNvPicPr>
            <p:nvPr/>
          </p:nvPicPr>
          <p:blipFill>
            <a:blip r:embed="rId8">
              <a:alphaModFix amt="53000"/>
              <a:grayscl/>
            </a:blip>
            <a:stretch>
              <a:fillRect/>
            </a:stretch>
          </p:blipFill>
          <p:spPr>
            <a:xfrm>
              <a:off x="677019" y="497398"/>
              <a:ext cx="264638" cy="264638"/>
            </a:xfrm>
            <a:prstGeom prst="rect">
              <a:avLst/>
            </a:prstGeom>
          </p:spPr>
        </p:pic>
      </p:grpSp>
    </p:spTree>
    <p:extLst>
      <p:ext uri="{BB962C8B-B14F-4D97-AF65-F5344CB8AC3E}">
        <p14:creationId xmlns:p14="http://schemas.microsoft.com/office/powerpoint/2010/main" val="1726669164"/>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Oval 14">
            <a:extLst>
              <a:ext uri="{FF2B5EF4-FFF2-40B4-BE49-F238E27FC236}">
                <a16:creationId xmlns:a16="http://schemas.microsoft.com/office/drawing/2014/main" id="{FD8E12B6-03C5-9E03-DA63-D861C8499DCC}"/>
              </a:ext>
              <a:ext uri="{C183D7F6-B498-43B3-948B-1728B52AA6E4}">
                <adec:decorative xmlns:adec="http://schemas.microsoft.com/office/drawing/2017/decorative" val="1"/>
              </a:ext>
            </a:extLst>
          </p:cNvPr>
          <p:cNvSpPr/>
          <p:nvPr/>
        </p:nvSpPr>
        <p:spPr bwMode="auto">
          <a:xfrm>
            <a:off x="4873721" y="36576"/>
            <a:ext cx="6784848" cy="6784848"/>
          </a:xfrm>
          <a:prstGeom prst="ellipse">
            <a:avLst/>
          </a:prstGeom>
          <a:gradFill flip="none" rotWithShape="1">
            <a:gsLst>
              <a:gs pos="0">
                <a:schemeClr val="accent3"/>
              </a:gs>
              <a:gs pos="58000">
                <a:schemeClr val="bg1"/>
              </a:gs>
            </a:gsLst>
            <a:path path="circle">
              <a:fillToRect l="50000" t="50000" r="50000" b="50000"/>
            </a:path>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grpSp>
        <p:nvGrpSpPr>
          <p:cNvPr id="49" name="Group 48">
            <a:extLst>
              <a:ext uri="{FF2B5EF4-FFF2-40B4-BE49-F238E27FC236}">
                <a16:creationId xmlns:a16="http://schemas.microsoft.com/office/drawing/2014/main" id="{CC8AF22C-CF87-368B-7EC4-CFB9965CF71D}"/>
              </a:ext>
              <a:ext uri="{C183D7F6-B498-43B3-948B-1728B52AA6E4}">
                <adec:decorative xmlns:adec="http://schemas.microsoft.com/office/drawing/2017/decorative" val="1"/>
              </a:ext>
            </a:extLst>
          </p:cNvPr>
          <p:cNvGrpSpPr/>
          <p:nvPr/>
        </p:nvGrpSpPr>
        <p:grpSpPr>
          <a:xfrm>
            <a:off x="8182165" y="1592830"/>
            <a:ext cx="3636023" cy="4491101"/>
            <a:chOff x="8182165" y="1592830"/>
            <a:chExt cx="3636023" cy="4491101"/>
          </a:xfrm>
        </p:grpSpPr>
        <p:sp>
          <p:nvSpPr>
            <p:cNvPr id="29" name="Rectangle: Rounded Corners 4">
              <a:extLst>
                <a:ext uri="{FF2B5EF4-FFF2-40B4-BE49-F238E27FC236}">
                  <a16:creationId xmlns:a16="http://schemas.microsoft.com/office/drawing/2014/main" id="{4FB5FAAC-8BAF-DC5C-90A2-9F4919DE83D0}"/>
                </a:ext>
              </a:extLst>
            </p:cNvPr>
            <p:cNvSpPr/>
            <p:nvPr/>
          </p:nvSpPr>
          <p:spPr>
            <a:xfrm rot="5400000">
              <a:off x="7754626" y="2020369"/>
              <a:ext cx="4491101" cy="3636023"/>
            </a:xfrm>
            <a:prstGeom prst="roundRect">
              <a:avLst>
                <a:gd name="adj" fmla="val 2723"/>
              </a:avLst>
            </a:prstGeom>
            <a:solidFill>
              <a:schemeClr val="bg1">
                <a:lumMod val="95000"/>
                <a:lumOff val="5000"/>
              </a:schemeClr>
            </a:solidFill>
            <a:ln w="12700" cap="flat" cmpd="sng" algn="ctr">
              <a:solidFill>
                <a:srgbClr val="000000">
                  <a:lumMod val="75000"/>
                  <a:lumOff val="25000"/>
                </a:srgbClr>
              </a:solidFill>
              <a:prstDash val="solid"/>
              <a:headEnd type="none" w="med" len="med"/>
              <a:tailEnd type="none" w="med" len="med"/>
            </a:ln>
            <a:effectLst/>
          </p:spPr>
          <p:txBody>
            <a:bodyPr rot="0" spcFirstLastPara="0" vertOverflow="overflow" horzOverflow="overflow" vert="horz" wrap="square" lIns="72000" tIns="180000" rIns="72000" bIns="144000" numCol="1" spcCol="0" rtlCol="0" fromWordArt="0" anchor="t" anchorCtr="0" forceAA="0" compatLnSpc="1">
              <a:prstTxWarp prst="textNoShape">
                <a:avLst/>
              </a:prstTxWarp>
              <a:noAutofit/>
            </a:bodyPr>
            <a:lstStyle/>
            <a:p>
              <a:pPr algn="ctr"/>
              <a:endParaRPr lang="en-US" sz="1600" kern="0">
                <a:gradFill flip="none" rotWithShape="1">
                  <a:gsLst>
                    <a:gs pos="0">
                      <a:srgbClr val="50E6FF"/>
                    </a:gs>
                    <a:gs pos="100000">
                      <a:srgbClr val="D59DFF"/>
                    </a:gs>
                  </a:gsLst>
                  <a:lin ang="2700000" scaled="1"/>
                  <a:tileRect/>
                </a:gradFill>
                <a:latin typeface="Segoe UI Semibold"/>
              </a:endParaRPr>
            </a:p>
          </p:txBody>
        </p:sp>
        <p:grpSp>
          <p:nvGrpSpPr>
            <p:cNvPr id="48" name="Group 47">
              <a:extLst>
                <a:ext uri="{FF2B5EF4-FFF2-40B4-BE49-F238E27FC236}">
                  <a16:creationId xmlns:a16="http://schemas.microsoft.com/office/drawing/2014/main" id="{5A647AF7-9575-6D3B-49ED-C7C5C8E50F28}"/>
                </a:ext>
              </a:extLst>
            </p:cNvPr>
            <p:cNvGrpSpPr/>
            <p:nvPr/>
          </p:nvGrpSpPr>
          <p:grpSpPr>
            <a:xfrm>
              <a:off x="8522103" y="3269948"/>
              <a:ext cx="2891840" cy="1819747"/>
              <a:chOff x="8458732" y="3269948"/>
              <a:chExt cx="2891840" cy="1819747"/>
            </a:xfrm>
          </p:grpSpPr>
          <p:cxnSp>
            <p:nvCxnSpPr>
              <p:cNvPr id="27" name="Straight Connector 26">
                <a:extLst>
                  <a:ext uri="{FF2B5EF4-FFF2-40B4-BE49-F238E27FC236}">
                    <a16:creationId xmlns:a16="http://schemas.microsoft.com/office/drawing/2014/main" id="{DDB41AED-5E24-CCBE-0811-377FBE736868}"/>
                  </a:ext>
                </a:extLst>
              </p:cNvPr>
              <p:cNvCxnSpPr>
                <a:cxnSpLocks/>
              </p:cNvCxnSpPr>
              <p:nvPr/>
            </p:nvCxnSpPr>
            <p:spPr>
              <a:xfrm>
                <a:off x="8458732" y="3269948"/>
                <a:ext cx="2891840" cy="0"/>
              </a:xfrm>
              <a:prstGeom prst="line">
                <a:avLst/>
              </a:prstGeom>
              <a:ln>
                <a:solidFill>
                  <a:schemeClr val="accent2"/>
                </a:solidFill>
                <a:prstDash val="sysDot"/>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394282D8-C414-F4C6-F7E2-994DD044D937}"/>
                  </a:ext>
                </a:extLst>
              </p:cNvPr>
              <p:cNvCxnSpPr>
                <a:cxnSpLocks/>
              </p:cNvCxnSpPr>
              <p:nvPr/>
            </p:nvCxnSpPr>
            <p:spPr>
              <a:xfrm>
                <a:off x="8458732" y="4093813"/>
                <a:ext cx="2891840" cy="0"/>
              </a:xfrm>
              <a:prstGeom prst="line">
                <a:avLst/>
              </a:prstGeom>
              <a:ln>
                <a:solidFill>
                  <a:schemeClr val="accent2"/>
                </a:solidFill>
                <a:prstDash val="sysDot"/>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FE76CFD4-F177-AD5E-EDAA-879460651378}"/>
                  </a:ext>
                </a:extLst>
              </p:cNvPr>
              <p:cNvCxnSpPr>
                <a:cxnSpLocks/>
              </p:cNvCxnSpPr>
              <p:nvPr/>
            </p:nvCxnSpPr>
            <p:spPr>
              <a:xfrm>
                <a:off x="8458732" y="5089695"/>
                <a:ext cx="2891840" cy="0"/>
              </a:xfrm>
              <a:prstGeom prst="line">
                <a:avLst/>
              </a:prstGeom>
              <a:ln>
                <a:solidFill>
                  <a:schemeClr val="accent2"/>
                </a:solidFill>
                <a:prstDash val="sysDot"/>
                <a:headEnd type="none" w="lg" len="med"/>
                <a:tailEnd type="none" w="lg" len="med"/>
              </a:ln>
            </p:spPr>
            <p:style>
              <a:lnRef idx="1">
                <a:schemeClr val="accent1"/>
              </a:lnRef>
              <a:fillRef idx="0">
                <a:schemeClr val="accent1"/>
              </a:fillRef>
              <a:effectRef idx="0">
                <a:schemeClr val="accent1"/>
              </a:effectRef>
              <a:fontRef idx="minor">
                <a:schemeClr val="tx1"/>
              </a:fontRef>
            </p:style>
          </p:cxnSp>
        </p:grpSp>
      </p:grpSp>
      <p:sp>
        <p:nvSpPr>
          <p:cNvPr id="2" name="Content Placeholder 7">
            <a:extLst>
              <a:ext uri="{FF2B5EF4-FFF2-40B4-BE49-F238E27FC236}">
                <a16:creationId xmlns:a16="http://schemas.microsoft.com/office/drawing/2014/main" id="{66E09154-B741-415B-FA28-67094219940D}"/>
              </a:ext>
            </a:extLst>
          </p:cNvPr>
          <p:cNvSpPr txBox="1">
            <a:spLocks/>
          </p:cNvSpPr>
          <p:nvPr/>
        </p:nvSpPr>
        <p:spPr>
          <a:xfrm>
            <a:off x="8535488" y="1889629"/>
            <a:ext cx="3014347" cy="3908762"/>
          </a:xfrm>
          <a:prstGeom prst="rect">
            <a:avLst/>
          </a:prstGeom>
        </p:spPr>
        <p:txBody>
          <a:bodyPr vert="horz" wrap="square" lIns="0" tIns="0" rIns="0" bIns="0" rtlCol="0" anchor="t">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1" indent="0">
              <a:spcBef>
                <a:spcPts val="888"/>
              </a:spcBef>
              <a:spcAft>
                <a:spcPts val="1200"/>
              </a:spcAft>
              <a:buNone/>
              <a:defRPr/>
            </a:pPr>
            <a:r>
              <a:rPr lang="en-US" dirty="0">
                <a:solidFill>
                  <a:schemeClr val="accent1"/>
                </a:solidFill>
                <a:latin typeface="+mj-lt"/>
              </a:rPr>
              <a:t>Unlock the value </a:t>
            </a:r>
            <a:br>
              <a:rPr lang="en-US" dirty="0">
                <a:solidFill>
                  <a:schemeClr val="accent1"/>
                </a:solidFill>
                <a:latin typeface="+mj-lt"/>
              </a:rPr>
            </a:br>
            <a:r>
              <a:rPr lang="en-US" dirty="0">
                <a:solidFill>
                  <a:schemeClr val="accent1"/>
                </a:solidFill>
                <a:latin typeface="+mj-lt"/>
              </a:rPr>
              <a:t>of your data</a:t>
            </a:r>
            <a:endParaRPr kumimoji="0" lang="en-US" sz="1400" b="0" i="0" u="none" strike="noStrike" kern="1200" cap="none" spc="0" normalizeH="0" baseline="0" noProof="0" dirty="0">
              <a:ln>
                <a:noFill/>
              </a:ln>
              <a:solidFill>
                <a:srgbClr val="FFFFFF"/>
              </a:solidFill>
              <a:effectLst/>
              <a:uLnTx/>
              <a:uFillTx/>
              <a:latin typeface="Segoe UI"/>
              <a:ea typeface="+mn-ea"/>
              <a:cs typeface="+mn-cs"/>
            </a:endParaRPr>
          </a:p>
          <a:p>
            <a:pPr marL="0" lvl="1" indent="0" defTabSz="914367" fontAlgn="ctr">
              <a:spcBef>
                <a:spcPts val="888"/>
              </a:spcBef>
              <a:spcAft>
                <a:spcPts val="1200"/>
              </a:spcAft>
              <a:buClr>
                <a:srgbClr val="FFFFFF"/>
              </a:buClr>
              <a:buSzPct val="100000"/>
              <a:buNone/>
              <a:defRPr/>
            </a:pPr>
            <a:r>
              <a:rPr kumimoji="0" lang="en-US" sz="1200" b="0" i="0" u="none" strike="noStrike" kern="1200" cap="none" spc="0" normalizeH="0" baseline="0" noProof="0" dirty="0">
                <a:ln>
                  <a:noFill/>
                </a:ln>
                <a:solidFill>
                  <a:srgbClr val="FFFFFF"/>
                </a:solidFill>
                <a:effectLst/>
                <a:uLnTx/>
                <a:uFillTx/>
                <a:latin typeface="Segoe UI"/>
                <a:ea typeface="+mn-ea"/>
                <a:cs typeface="+mn-cs"/>
              </a:rPr>
              <a:t>Put an end to the integration tax and innovate with confidence </a:t>
            </a:r>
          </a:p>
          <a:p>
            <a:pPr marL="0" lvl="1" indent="0" defTabSz="914367" fontAlgn="ctr">
              <a:spcBef>
                <a:spcPts val="888"/>
              </a:spcBef>
              <a:spcAft>
                <a:spcPts val="1200"/>
              </a:spcAft>
              <a:buClr>
                <a:srgbClr val="FFFFFF"/>
              </a:buClr>
              <a:buSzPct val="100000"/>
              <a:buNone/>
              <a:defRPr/>
            </a:pPr>
            <a:r>
              <a:rPr lang="en-US" sz="1200" dirty="0">
                <a:solidFill>
                  <a:srgbClr val="FFFFFF"/>
                </a:solidFill>
                <a:latin typeface="Segoe UI"/>
              </a:rPr>
              <a:t>Empower faster decision-making with an </a:t>
            </a:r>
            <a:r>
              <a:rPr lang="en-US" sz="1200" dirty="0">
                <a:solidFill>
                  <a:schemeClr val="accent1"/>
                </a:solidFill>
                <a:latin typeface="Segoe UI"/>
              </a:rPr>
              <a:t>integrated data platform</a:t>
            </a:r>
            <a:r>
              <a:rPr lang="en-US" sz="1200" dirty="0">
                <a:solidFill>
                  <a:srgbClr val="FFFFFF"/>
                </a:solidFill>
                <a:latin typeface="Segoe UI"/>
              </a:rPr>
              <a:t>, adapting to your needs with </a:t>
            </a:r>
            <a:r>
              <a:rPr lang="en-US" sz="1200" dirty="0">
                <a:solidFill>
                  <a:schemeClr val="accent1"/>
                </a:solidFill>
                <a:latin typeface="Segoe UI"/>
              </a:rPr>
              <a:t>AI-driven capabilities</a:t>
            </a:r>
          </a:p>
          <a:p>
            <a:pPr marL="0" lvl="1" indent="0" defTabSz="914367" fontAlgn="ctr">
              <a:spcBef>
                <a:spcPts val="888"/>
              </a:spcBef>
              <a:spcAft>
                <a:spcPts val="1200"/>
              </a:spcAft>
              <a:buClr>
                <a:srgbClr val="FFFFFF"/>
              </a:buClr>
              <a:buSzPct val="100000"/>
              <a:buNone/>
              <a:defRPr/>
            </a:pPr>
            <a:r>
              <a:rPr kumimoji="0" lang="en-US" sz="1200" b="0" i="0" u="none" strike="noStrike" kern="1200" cap="none" spc="0" normalizeH="0" baseline="0" noProof="0" dirty="0">
                <a:ln>
                  <a:noFill/>
                </a:ln>
                <a:solidFill>
                  <a:srgbClr val="FFFFFF"/>
                </a:solidFill>
                <a:effectLst/>
                <a:uLnTx/>
                <a:uFillTx/>
                <a:latin typeface="Segoe UI"/>
                <a:ea typeface="+mn-ea"/>
                <a:cs typeface="+mn-cs"/>
              </a:rPr>
              <a:t>Optimize your </a:t>
            </a:r>
            <a:r>
              <a:rPr kumimoji="0" lang="en-US" sz="1200" b="0" i="0" u="none" strike="noStrike" kern="1200" cap="none" spc="0" normalizeH="0" baseline="0" noProof="0" dirty="0">
                <a:ln>
                  <a:noFill/>
                </a:ln>
                <a:solidFill>
                  <a:schemeClr val="accent1"/>
                </a:solidFill>
                <a:effectLst/>
                <a:uLnTx/>
                <a:uFillTx/>
                <a:latin typeface="Segoe UI"/>
                <a:ea typeface="+mn-ea"/>
                <a:cs typeface="+mn-cs"/>
              </a:rPr>
              <a:t>data estate with automated insights </a:t>
            </a:r>
            <a:r>
              <a:rPr kumimoji="0" lang="en-US" sz="1200" b="0" i="0" u="none" strike="noStrike" kern="1200" cap="none" spc="0" normalizeH="0" baseline="0" noProof="0" dirty="0">
                <a:ln>
                  <a:noFill/>
                </a:ln>
                <a:effectLst/>
                <a:uLnTx/>
                <a:uFillTx/>
                <a:latin typeface="Segoe UI"/>
                <a:ea typeface="+mn-ea"/>
                <a:cs typeface="+mn-cs"/>
              </a:rPr>
              <a:t>for data quality, exposure &amp; compliance risks, and </a:t>
            </a:r>
            <a:r>
              <a:rPr kumimoji="0" lang="en-US" sz="1200" b="0" i="0" u="none" strike="noStrike" kern="1200" cap="none" spc="0" normalizeH="0" baseline="0" noProof="0" dirty="0">
                <a:ln>
                  <a:noFill/>
                </a:ln>
                <a:solidFill>
                  <a:srgbClr val="FFFFFF"/>
                </a:solidFill>
                <a:effectLst/>
                <a:uLnTx/>
                <a:uFillTx/>
                <a:latin typeface="Segoe UI"/>
                <a:ea typeface="+mn-ea"/>
                <a:cs typeface="+mn-cs"/>
              </a:rPr>
              <a:t>productivity opportunities</a:t>
            </a:r>
          </a:p>
          <a:p>
            <a:pPr marL="0" lvl="1" indent="0" defTabSz="914367">
              <a:spcBef>
                <a:spcPts val="888"/>
              </a:spcBef>
              <a:spcAft>
                <a:spcPts val="1200"/>
              </a:spcAft>
              <a:buNone/>
              <a:defRPr/>
            </a:pPr>
            <a:r>
              <a:rPr lang="en-US" sz="1200" dirty="0">
                <a:latin typeface="Segoe UI"/>
                <a:cs typeface="Segoe UI"/>
              </a:rPr>
              <a:t>Record, report, and reduce </a:t>
            </a:r>
            <a:r>
              <a:rPr lang="en-US" sz="1200" dirty="0">
                <a:solidFill>
                  <a:srgbClr val="FFFFFF"/>
                </a:solidFill>
                <a:latin typeface="Segoe UI"/>
                <a:cs typeface="Segoe UI"/>
              </a:rPr>
              <a:t>your environmental impact with </a:t>
            </a:r>
            <a:r>
              <a:rPr lang="en-US" sz="1200" dirty="0">
                <a:solidFill>
                  <a:schemeClr val="accent1"/>
                </a:solidFill>
                <a:latin typeface="Segoe UI"/>
                <a:cs typeface="Segoe UI"/>
              </a:rPr>
              <a:t>Microsoft Sustainability Manager</a:t>
            </a:r>
          </a:p>
        </p:txBody>
      </p:sp>
      <p:grpSp>
        <p:nvGrpSpPr>
          <p:cNvPr id="46" name="Group 45">
            <a:extLst>
              <a:ext uri="{FF2B5EF4-FFF2-40B4-BE49-F238E27FC236}">
                <a16:creationId xmlns:a16="http://schemas.microsoft.com/office/drawing/2014/main" id="{1399E3AC-204F-5A48-99E3-4D97D32C41A3}"/>
              </a:ext>
              <a:ext uri="{C183D7F6-B498-43B3-948B-1728B52AA6E4}">
                <adec:decorative xmlns:adec="http://schemas.microsoft.com/office/drawing/2017/decorative" val="1"/>
              </a:ext>
            </a:extLst>
          </p:cNvPr>
          <p:cNvGrpSpPr/>
          <p:nvPr/>
        </p:nvGrpSpPr>
        <p:grpSpPr>
          <a:xfrm>
            <a:off x="4544009" y="1592831"/>
            <a:ext cx="3534110" cy="3784927"/>
            <a:chOff x="4544009" y="1592831"/>
            <a:chExt cx="3534110" cy="3784927"/>
          </a:xfrm>
        </p:grpSpPr>
        <p:sp>
          <p:nvSpPr>
            <p:cNvPr id="17" name="Rectangle: Rounded Corners 4">
              <a:extLst>
                <a:ext uri="{FF2B5EF4-FFF2-40B4-BE49-F238E27FC236}">
                  <a16:creationId xmlns:a16="http://schemas.microsoft.com/office/drawing/2014/main" id="{33EBD7E7-D396-E4CD-5BF2-F3C71BE8C8CA}"/>
                </a:ext>
              </a:extLst>
            </p:cNvPr>
            <p:cNvSpPr/>
            <p:nvPr/>
          </p:nvSpPr>
          <p:spPr>
            <a:xfrm rot="5400000">
              <a:off x="4418600" y="1718240"/>
              <a:ext cx="3784927" cy="3534110"/>
            </a:xfrm>
            <a:prstGeom prst="roundRect">
              <a:avLst>
                <a:gd name="adj" fmla="val 2723"/>
              </a:avLst>
            </a:prstGeom>
            <a:solidFill>
              <a:schemeClr val="bg1">
                <a:lumMod val="95000"/>
                <a:lumOff val="5000"/>
              </a:schemeClr>
            </a:solidFill>
            <a:ln w="12700" cap="flat" cmpd="sng" algn="ctr">
              <a:solidFill>
                <a:srgbClr val="000000">
                  <a:lumMod val="75000"/>
                  <a:lumOff val="25000"/>
                </a:srgbClr>
              </a:solidFill>
              <a:prstDash val="solid"/>
              <a:headEnd type="none" w="med" len="med"/>
              <a:tailEnd type="none" w="med" len="med"/>
            </a:ln>
            <a:effectLst/>
          </p:spPr>
          <p:txBody>
            <a:bodyPr rot="0" spcFirstLastPara="0" vertOverflow="overflow" horzOverflow="overflow" vert="horz" wrap="square" lIns="72000" tIns="180000" rIns="72000" bIns="144000" numCol="1" spcCol="0" rtlCol="0" fromWordArt="0" anchor="t" anchorCtr="0" forceAA="0" compatLnSpc="1">
              <a:prstTxWarp prst="textNoShape">
                <a:avLst/>
              </a:prstTxWarp>
              <a:noAutofit/>
            </a:bodyPr>
            <a:lstStyle/>
            <a:p>
              <a:pPr algn="ctr"/>
              <a:endParaRPr lang="en-US" sz="1600" kern="0">
                <a:gradFill flip="none" rotWithShape="1">
                  <a:gsLst>
                    <a:gs pos="0">
                      <a:srgbClr val="50E6FF"/>
                    </a:gs>
                    <a:gs pos="100000">
                      <a:srgbClr val="D59DFF"/>
                    </a:gs>
                  </a:gsLst>
                  <a:lin ang="2700000" scaled="1"/>
                  <a:tileRect/>
                </a:gradFill>
                <a:latin typeface="Segoe UI Semibold"/>
              </a:endParaRPr>
            </a:p>
          </p:txBody>
        </p:sp>
        <p:cxnSp>
          <p:nvCxnSpPr>
            <p:cNvPr id="33" name="Straight Connector 32">
              <a:extLst>
                <a:ext uri="{FF2B5EF4-FFF2-40B4-BE49-F238E27FC236}">
                  <a16:creationId xmlns:a16="http://schemas.microsoft.com/office/drawing/2014/main" id="{617218A7-FB09-18C1-3549-F5BA47EB9430}"/>
                </a:ext>
              </a:extLst>
            </p:cNvPr>
            <p:cNvCxnSpPr>
              <a:cxnSpLocks/>
            </p:cNvCxnSpPr>
            <p:nvPr/>
          </p:nvCxnSpPr>
          <p:spPr>
            <a:xfrm>
              <a:off x="4837346" y="3505338"/>
              <a:ext cx="2891840" cy="0"/>
            </a:xfrm>
            <a:prstGeom prst="line">
              <a:avLst/>
            </a:prstGeom>
            <a:ln>
              <a:solidFill>
                <a:schemeClr val="accent2"/>
              </a:solidFill>
              <a:prstDash val="sysDot"/>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854894AB-4E8A-28A8-E257-5753F9F5496E}"/>
                </a:ext>
              </a:extLst>
            </p:cNvPr>
            <p:cNvCxnSpPr>
              <a:cxnSpLocks/>
            </p:cNvCxnSpPr>
            <p:nvPr/>
          </p:nvCxnSpPr>
          <p:spPr>
            <a:xfrm>
              <a:off x="4837346" y="4314699"/>
              <a:ext cx="2891840" cy="0"/>
            </a:xfrm>
            <a:prstGeom prst="line">
              <a:avLst/>
            </a:prstGeom>
            <a:ln>
              <a:solidFill>
                <a:schemeClr val="accent2"/>
              </a:solidFill>
              <a:prstDash val="sysDot"/>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25" name="Title 24">
            <a:extLst>
              <a:ext uri="{FF2B5EF4-FFF2-40B4-BE49-F238E27FC236}">
                <a16:creationId xmlns:a16="http://schemas.microsoft.com/office/drawing/2014/main" id="{A2B0E337-6E32-9FBA-F51A-71EE3C8E3B86}"/>
              </a:ext>
            </a:extLst>
          </p:cNvPr>
          <p:cNvSpPr>
            <a:spLocks noGrp="1"/>
          </p:cNvSpPr>
          <p:nvPr>
            <p:ph type="title"/>
          </p:nvPr>
        </p:nvSpPr>
        <p:spPr>
          <a:xfrm>
            <a:off x="588263" y="1933163"/>
            <a:ext cx="2852054" cy="492443"/>
          </a:xfrm>
        </p:spPr>
        <p:txBody>
          <a:bodyPr/>
          <a:lstStyle/>
          <a:p>
            <a:r>
              <a:rPr lang="en-US"/>
              <a:t>Create new business value</a:t>
            </a:r>
          </a:p>
        </p:txBody>
      </p:sp>
      <p:sp>
        <p:nvSpPr>
          <p:cNvPr id="14" name="TextBox 13">
            <a:extLst>
              <a:ext uri="{FF2B5EF4-FFF2-40B4-BE49-F238E27FC236}">
                <a16:creationId xmlns:a16="http://schemas.microsoft.com/office/drawing/2014/main" id="{7495F057-9126-C411-D383-20C0F3FE5084}"/>
              </a:ext>
            </a:extLst>
          </p:cNvPr>
          <p:cNvSpPr txBox="1"/>
          <p:nvPr/>
        </p:nvSpPr>
        <p:spPr>
          <a:xfrm>
            <a:off x="2675554" y="565021"/>
            <a:ext cx="2456885" cy="138499"/>
          </a:xfrm>
          <a:prstGeom prst="rect">
            <a:avLst/>
          </a:prstGeom>
          <a:noFill/>
        </p:spPr>
        <p:txBody>
          <a:bodyPr wrap="square" lIns="0" tIns="0" rIns="0" bIns="0">
            <a:spAutoFit/>
          </a:bodyPr>
          <a:lstStyle>
            <a:defPPr>
              <a:defRPr lang="en-US"/>
            </a:defPPr>
            <a:lvl2pPr marL="0" marR="0" lvl="1" indent="0" fontAlgn="auto">
              <a:lnSpc>
                <a:spcPct val="100000"/>
              </a:lnSpc>
              <a:spcBef>
                <a:spcPts val="0"/>
              </a:spcBef>
              <a:spcAft>
                <a:spcPts val="0"/>
              </a:spcAft>
              <a:buClrTx/>
              <a:buSzTx/>
              <a:buFontTx/>
              <a:buNone/>
              <a:tabLst/>
              <a:defRPr kumimoji="0" sz="900" b="0" i="0" u="none" strike="noStrike" cap="none" spc="300" normalizeH="0" baseline="0">
                <a:ln>
                  <a:noFill/>
                </a:ln>
                <a:solidFill>
                  <a:schemeClr val="accent1"/>
                </a:solidFill>
                <a:effectLst/>
                <a:uLnTx/>
                <a:uFillTx/>
                <a:latin typeface="Segoe UI Semibold"/>
              </a:defRPr>
            </a:lvl2pPr>
          </a:lstStyle>
          <a:p>
            <a:pPr lvl="1"/>
            <a:r>
              <a:rPr lang="en-US"/>
              <a:t>REINVEST TO GROW</a:t>
            </a:r>
          </a:p>
        </p:txBody>
      </p:sp>
      <p:sp>
        <p:nvSpPr>
          <p:cNvPr id="30" name="Content Placeholder 7">
            <a:extLst>
              <a:ext uri="{FF2B5EF4-FFF2-40B4-BE49-F238E27FC236}">
                <a16:creationId xmlns:a16="http://schemas.microsoft.com/office/drawing/2014/main" id="{13D683DC-CC40-B8E4-8F0E-D3A52F1344F0}"/>
              </a:ext>
            </a:extLst>
          </p:cNvPr>
          <p:cNvSpPr txBox="1">
            <a:spLocks/>
          </p:cNvSpPr>
          <p:nvPr/>
        </p:nvSpPr>
        <p:spPr>
          <a:xfrm>
            <a:off x="4874623" y="1934886"/>
            <a:ext cx="2854563" cy="3085460"/>
          </a:xfrm>
          <a:prstGeom prst="rect">
            <a:avLst/>
          </a:prstGeom>
        </p:spPr>
        <p:txBody>
          <a:bodyPr vert="horz" wrap="square" lIns="0" tIns="0" rIns="0" bIns="0" rtlCol="0" anchor="t">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1" indent="0">
              <a:spcBef>
                <a:spcPts val="888"/>
              </a:spcBef>
              <a:spcAft>
                <a:spcPts val="1200"/>
              </a:spcAft>
              <a:buNone/>
              <a:defRPr/>
            </a:pPr>
            <a:r>
              <a:rPr lang="en-US" dirty="0">
                <a:solidFill>
                  <a:schemeClr val="accent1"/>
                </a:solidFill>
                <a:latin typeface="+mj-lt"/>
              </a:rPr>
              <a:t>Build future-proof </a:t>
            </a:r>
            <a:br>
              <a:rPr lang="en-US" dirty="0">
                <a:solidFill>
                  <a:schemeClr val="accent1"/>
                </a:solidFill>
                <a:latin typeface="+mj-lt"/>
              </a:rPr>
            </a:br>
            <a:r>
              <a:rPr lang="en-US" dirty="0">
                <a:solidFill>
                  <a:schemeClr val="accent1"/>
                </a:solidFill>
                <a:latin typeface="+mj-lt"/>
              </a:rPr>
              <a:t>apps wherever you are</a:t>
            </a:r>
            <a:endParaRPr lang="en-US" dirty="0">
              <a:solidFill>
                <a:schemeClr val="accent1"/>
              </a:solidFill>
            </a:endParaRPr>
          </a:p>
          <a:p>
            <a:pPr marL="0" marR="0" lvl="1" indent="0" algn="l" defTabSz="914367" rtl="0" eaLnBrk="1" fontAlgn="ctr" latinLnBrk="0" hangingPunct="1">
              <a:lnSpc>
                <a:spcPct val="100000"/>
              </a:lnSpc>
              <a:spcBef>
                <a:spcPts val="888"/>
              </a:spcBef>
              <a:spcAft>
                <a:spcPts val="1200"/>
              </a:spcAft>
              <a:buClr>
                <a:srgbClr val="FFFFFF"/>
              </a:buClr>
              <a:buSzPct val="100000"/>
              <a:buNone/>
              <a:tabLst/>
              <a:defRPr/>
            </a:pPr>
            <a:r>
              <a:rPr kumimoji="0" lang="en-US" sz="1200" b="0" i="0" u="none" strike="noStrike" kern="1200" cap="none" spc="0" normalizeH="0" baseline="0" noProof="0" dirty="0">
                <a:ln>
                  <a:noFill/>
                </a:ln>
                <a:solidFill>
                  <a:srgbClr val="50E6FF"/>
                </a:solidFill>
                <a:effectLst/>
                <a:uLnTx/>
                <a:uFillTx/>
                <a:latin typeface="Segoe UI"/>
                <a:ea typeface="+mn-ea"/>
                <a:cs typeface="+mn-cs"/>
              </a:rPr>
              <a:t>Accelerate developer velocity</a:t>
            </a:r>
            <a:r>
              <a:rPr kumimoji="0" lang="en-US" sz="1200" b="0" i="0" u="none" strike="noStrike" kern="1200" cap="none" spc="0" normalizeH="0" baseline="0" noProof="0" dirty="0">
                <a:ln>
                  <a:noFill/>
                </a:ln>
                <a:solidFill>
                  <a:srgbClr val="FFFFFF"/>
                </a:solidFill>
                <a:effectLst/>
                <a:uLnTx/>
                <a:uFillTx/>
                <a:latin typeface="Segoe UI"/>
                <a:ea typeface="+mn-ea"/>
                <a:cs typeface="+mn-cs"/>
              </a:rPr>
              <a:t> up to 46% by building </a:t>
            </a:r>
            <a:r>
              <a:rPr lang="en-US" sz="1200" dirty="0">
                <a:solidFill>
                  <a:srgbClr val="FFFFFF"/>
                </a:solidFill>
                <a:latin typeface="Segoe UI"/>
              </a:rPr>
              <a:t>with</a:t>
            </a:r>
            <a:r>
              <a:rPr kumimoji="0" lang="en-US" sz="1200" b="0" i="0" u="none" strike="noStrike" kern="1200" cap="none" spc="0" normalizeH="0" baseline="0" noProof="0" dirty="0">
                <a:ln>
                  <a:noFill/>
                </a:ln>
                <a:solidFill>
                  <a:srgbClr val="FFFFFF"/>
                </a:solidFill>
                <a:effectLst/>
                <a:uLnTx/>
                <a:uFillTx/>
                <a:latin typeface="Segoe UI"/>
                <a:ea typeface="+mn-ea"/>
                <a:cs typeface="+mn-cs"/>
              </a:rPr>
              <a:t> any Kubernetes, using known tools</a:t>
            </a:r>
          </a:p>
          <a:p>
            <a:pPr marL="0" marR="0" lvl="1" indent="0" algn="l" defTabSz="914367" rtl="0" eaLnBrk="1" fontAlgn="ctr" latinLnBrk="0" hangingPunct="1">
              <a:lnSpc>
                <a:spcPct val="100000"/>
              </a:lnSpc>
              <a:spcBef>
                <a:spcPts val="888"/>
              </a:spcBef>
              <a:spcAft>
                <a:spcPts val="1200"/>
              </a:spcAft>
              <a:buClr>
                <a:srgbClr val="FFFFFF"/>
              </a:buClr>
              <a:buSzPct val="100000"/>
              <a:buNone/>
              <a:tabLst/>
              <a:defRPr/>
            </a:pPr>
            <a:r>
              <a:rPr kumimoji="0" lang="en-US" sz="1200" b="0" i="0" u="none" strike="noStrike" kern="1200" cap="none" spc="0" normalizeH="0" baseline="0" noProof="0" dirty="0">
                <a:ln>
                  <a:noFill/>
                </a:ln>
                <a:solidFill>
                  <a:srgbClr val="50E6FF"/>
                </a:solidFill>
                <a:effectLst/>
                <a:uLnTx/>
                <a:uFillTx/>
                <a:latin typeface="Segoe UI"/>
                <a:ea typeface="+mn-ea"/>
                <a:cs typeface="+mn-cs"/>
              </a:rPr>
              <a:t>Build containerized apps</a:t>
            </a:r>
            <a:r>
              <a:rPr kumimoji="0" lang="en-US" sz="1200" b="0" i="0" u="none" strike="noStrike" kern="1200" cap="none" spc="0" normalizeH="0" baseline="0" noProof="0" dirty="0">
                <a:ln>
                  <a:noFill/>
                </a:ln>
                <a:solidFill>
                  <a:srgbClr val="FFFFFF"/>
                </a:solidFill>
                <a:effectLst/>
                <a:uLnTx/>
                <a:uFillTx/>
                <a:latin typeface="Segoe UI"/>
                <a:ea typeface="+mn-ea"/>
                <a:cs typeface="+mn-cs"/>
              </a:rPr>
              <a:t> w/Azure Kubernetes Service &amp; deploy consistently, anywhere, with no additional cost​</a:t>
            </a:r>
            <a:endParaRPr kumimoji="0" lang="en-US" sz="1200" b="0" i="0" u="none" strike="noStrike" kern="1200" cap="none" spc="0" normalizeH="0" baseline="0" noProof="0" dirty="0">
              <a:ln>
                <a:noFill/>
              </a:ln>
              <a:solidFill>
                <a:srgbClr val="50E6FF"/>
              </a:solidFill>
              <a:effectLst/>
              <a:uLnTx/>
              <a:uFillTx/>
              <a:latin typeface="Segoe UI"/>
              <a:ea typeface="+mn-ea"/>
              <a:cs typeface="+mn-cs"/>
            </a:endParaRPr>
          </a:p>
          <a:p>
            <a:pPr marL="0" marR="0" lvl="1" indent="0" algn="l" defTabSz="914367" rtl="0" eaLnBrk="1" fontAlgn="ctr" latinLnBrk="0" hangingPunct="1">
              <a:lnSpc>
                <a:spcPct val="100000"/>
              </a:lnSpc>
              <a:spcBef>
                <a:spcPts val="888"/>
              </a:spcBef>
              <a:spcAft>
                <a:spcPts val="1200"/>
              </a:spcAft>
              <a:buClr>
                <a:srgbClr val="FFFFFF"/>
              </a:buClr>
              <a:buSzPct val="100000"/>
              <a:buNone/>
              <a:tabLst/>
              <a:defRPr/>
            </a:pPr>
            <a:r>
              <a:rPr kumimoji="0" lang="en-US" sz="1200" b="0" i="0" u="none" strike="noStrike" kern="1200" cap="none" spc="0" normalizeH="0" baseline="0" noProof="0" dirty="0">
                <a:ln>
                  <a:noFill/>
                </a:ln>
                <a:solidFill>
                  <a:srgbClr val="FFFFFF"/>
                </a:solidFill>
                <a:effectLst/>
                <a:uLnTx/>
                <a:uFillTx/>
                <a:latin typeface="Segoe UI"/>
                <a:ea typeface="+mn-ea"/>
                <a:cs typeface="+mn-cs"/>
              </a:rPr>
              <a:t>Utilize </a:t>
            </a:r>
            <a:r>
              <a:rPr kumimoji="0" lang="en-US" sz="1200" b="0" i="0" u="none" strike="noStrike" kern="1200" cap="none" spc="0" normalizeH="0" baseline="0" noProof="0" dirty="0">
                <a:ln>
                  <a:noFill/>
                </a:ln>
                <a:solidFill>
                  <a:srgbClr val="50E6FF"/>
                </a:solidFill>
                <a:effectLst/>
                <a:uLnTx/>
                <a:uFillTx/>
                <a:latin typeface="Segoe UI"/>
                <a:ea typeface="+mn-ea"/>
                <a:cs typeface="+mn-cs"/>
              </a:rPr>
              <a:t>built-in maintenance, patching, scaling &amp; over-provisioning</a:t>
            </a:r>
            <a:r>
              <a:rPr kumimoji="0" lang="en-US" sz="1200" b="0" i="0" u="none" strike="noStrike" kern="1200" cap="none" spc="0" normalizeH="0" baseline="0" noProof="0" dirty="0">
                <a:ln>
                  <a:noFill/>
                </a:ln>
                <a:solidFill>
                  <a:srgbClr val="FFFFFF"/>
                </a:solidFill>
                <a:effectLst/>
                <a:uLnTx/>
                <a:uFillTx/>
                <a:latin typeface="Segoe UI"/>
                <a:ea typeface="+mn-ea"/>
                <a:cs typeface="+mn-cs"/>
              </a:rPr>
              <a:t> protections to focus dev time on high priority initiatives</a:t>
            </a:r>
            <a:endParaRPr kumimoji="0" lang="en-US" sz="1200" b="0" i="0" u="none" strike="noStrike" kern="1200" cap="none" spc="0" normalizeH="0" baseline="0" noProof="0" dirty="0">
              <a:ln>
                <a:noFill/>
              </a:ln>
              <a:solidFill>
                <a:srgbClr val="FFFFFF"/>
              </a:solidFill>
              <a:effectLst/>
              <a:uLnTx/>
              <a:uFillTx/>
              <a:latin typeface="Segoe UI"/>
              <a:ea typeface="+mn-ea"/>
              <a:cs typeface="Segoe UI"/>
            </a:endParaRPr>
          </a:p>
        </p:txBody>
      </p:sp>
      <p:grpSp>
        <p:nvGrpSpPr>
          <p:cNvPr id="35" name="Group 34" descr="Reinvest to grow navigation">
            <a:extLst>
              <a:ext uri="{FF2B5EF4-FFF2-40B4-BE49-F238E27FC236}">
                <a16:creationId xmlns:a16="http://schemas.microsoft.com/office/drawing/2014/main" id="{B5C094FE-B582-5FCB-EFCA-4B947FEE10AF}"/>
              </a:ext>
            </a:extLst>
          </p:cNvPr>
          <p:cNvGrpSpPr/>
          <p:nvPr/>
        </p:nvGrpSpPr>
        <p:grpSpPr>
          <a:xfrm>
            <a:off x="583828" y="409640"/>
            <a:ext cx="1894901" cy="440154"/>
            <a:chOff x="583828" y="409640"/>
            <a:chExt cx="1894901" cy="440154"/>
          </a:xfrm>
        </p:grpSpPr>
        <p:cxnSp>
          <p:nvCxnSpPr>
            <p:cNvPr id="39" name="Straight Connector 38">
              <a:extLst>
                <a:ext uri="{FF2B5EF4-FFF2-40B4-BE49-F238E27FC236}">
                  <a16:creationId xmlns:a16="http://schemas.microsoft.com/office/drawing/2014/main" id="{4C4003F1-21C5-9E28-13C5-0A7F351CAD77}"/>
                </a:ext>
                <a:ext uri="{C183D7F6-B498-43B3-948B-1728B52AA6E4}">
                  <adec:decorative xmlns:adec="http://schemas.microsoft.com/office/drawing/2017/decorative" val="1"/>
                </a:ext>
              </a:extLst>
            </p:cNvPr>
            <p:cNvCxnSpPr>
              <a:cxnSpLocks/>
            </p:cNvCxnSpPr>
            <p:nvPr/>
          </p:nvCxnSpPr>
          <p:spPr>
            <a:xfrm flipH="1">
              <a:off x="1018274" y="629717"/>
              <a:ext cx="1014593" cy="0"/>
            </a:xfrm>
            <a:prstGeom prst="line">
              <a:avLst/>
            </a:prstGeom>
            <a:solidFill>
              <a:schemeClr val="bg1">
                <a:lumMod val="95000"/>
                <a:lumOff val="5000"/>
              </a:schemeClr>
            </a:solidFill>
            <a:ln w="12700" cap="flat" cmpd="sng" algn="ctr">
              <a:solidFill>
                <a:srgbClr val="000000">
                  <a:lumMod val="75000"/>
                  <a:lumOff val="25000"/>
                </a:srgbClr>
              </a:solidFill>
              <a:prstDash val="solid"/>
              <a:headEnd type="none" w="med" len="med"/>
              <a:tailEnd type="none" w="med" len="med"/>
            </a:ln>
            <a:effectLst/>
          </p:spPr>
        </p:cxnSp>
        <p:sp>
          <p:nvSpPr>
            <p:cNvPr id="40" name="Oval 39">
              <a:extLst>
                <a:ext uri="{FF2B5EF4-FFF2-40B4-BE49-F238E27FC236}">
                  <a16:creationId xmlns:a16="http://schemas.microsoft.com/office/drawing/2014/main" id="{75CDFEA0-9831-17AE-6E35-96ECA8E76B35}"/>
                </a:ext>
              </a:extLst>
            </p:cNvPr>
            <p:cNvSpPr/>
            <p:nvPr/>
          </p:nvSpPr>
          <p:spPr bwMode="auto">
            <a:xfrm>
              <a:off x="583828" y="409640"/>
              <a:ext cx="440154" cy="440154"/>
            </a:xfrm>
            <a:prstGeom prst="ellipse">
              <a:avLst/>
            </a:prstGeom>
            <a:solidFill>
              <a:schemeClr val="bg1">
                <a:lumMod val="95000"/>
                <a:lumOff val="5000"/>
              </a:schemeClr>
            </a:solidFill>
            <a:ln w="12700" cap="flat" cmpd="sng" algn="ctr">
              <a:solidFill>
                <a:srgbClr val="000000">
                  <a:lumMod val="75000"/>
                  <a:lumOff val="25000"/>
                </a:srgbClr>
              </a:solidFill>
              <a:prstDash val="solid"/>
              <a:headEnd type="none" w="med" len="med"/>
              <a:tailEnd type="none" w="med" len="med"/>
            </a:ln>
            <a:effectLst/>
          </p:spPr>
          <p:txBody>
            <a:bodyPr rot="0" spcFirstLastPara="0" vertOverflow="overflow" horzOverflow="overflow" vert="horz" wrap="square" lIns="72000" tIns="180000" rIns="72000" bIns="144000" numCol="1" spcCol="0" rtlCol="0" fromWordArt="0" anchor="t" anchorCtr="0" forceAA="0" compatLnSpc="1">
              <a:prstTxWarp prst="textNoShape">
                <a:avLst/>
              </a:prstTxWarp>
              <a:noAutofit/>
            </a:bodyPr>
            <a:lstStyle/>
            <a:p>
              <a:pPr algn="ctr"/>
              <a:endParaRPr lang="en-US" sz="1600" kern="0" err="1">
                <a:gradFill flip="none" rotWithShape="1">
                  <a:gsLst>
                    <a:gs pos="0">
                      <a:srgbClr val="50E6FF"/>
                    </a:gs>
                    <a:gs pos="100000">
                      <a:srgbClr val="D59DFF"/>
                    </a:gs>
                  </a:gsLst>
                  <a:lin ang="2700000" scaled="1"/>
                  <a:tileRect/>
                </a:gradFill>
                <a:latin typeface="Segoe UI Semibold"/>
              </a:endParaRPr>
            </a:p>
          </p:txBody>
        </p:sp>
        <p:sp>
          <p:nvSpPr>
            <p:cNvPr id="41" name="Oval 40">
              <a:extLst>
                <a:ext uri="{FF2B5EF4-FFF2-40B4-BE49-F238E27FC236}">
                  <a16:creationId xmlns:a16="http://schemas.microsoft.com/office/drawing/2014/main" id="{92F4B762-269D-C104-0F85-A0083E9ACDE1}"/>
                </a:ext>
              </a:extLst>
            </p:cNvPr>
            <p:cNvSpPr/>
            <p:nvPr/>
          </p:nvSpPr>
          <p:spPr bwMode="auto">
            <a:xfrm>
              <a:off x="2038575" y="409640"/>
              <a:ext cx="440154" cy="440154"/>
            </a:xfrm>
            <a:prstGeom prst="ellipse">
              <a:avLst/>
            </a:prstGeom>
            <a:solidFill>
              <a:schemeClr val="bg1"/>
            </a:solidFill>
            <a:ln w="12700" cap="flat" cmpd="sng" algn="ctr">
              <a:solidFill>
                <a:schemeClr val="accent1"/>
              </a:solidFill>
              <a:prstDash val="solid"/>
              <a:headEnd type="none" w="med" len="med"/>
              <a:tailEnd type="none" w="med" len="med"/>
            </a:ln>
            <a:effectLst/>
          </p:spPr>
          <p:txBody>
            <a:bodyPr rot="0" spcFirstLastPara="0" vertOverflow="overflow" horzOverflow="overflow" vert="horz" wrap="square" lIns="72000" tIns="180000" rIns="72000" bIns="144000" numCol="1" spcCol="0" rtlCol="0" fromWordArt="0" anchor="t" anchorCtr="0" forceAA="0" compatLnSpc="1">
              <a:prstTxWarp prst="textNoShape">
                <a:avLst/>
              </a:prstTxWarp>
              <a:noAutofit/>
            </a:bodyPr>
            <a:lstStyle/>
            <a:p>
              <a:pPr algn="ctr"/>
              <a:endParaRPr lang="en-US" sz="1600" kern="0" err="1">
                <a:gradFill flip="none" rotWithShape="1">
                  <a:gsLst>
                    <a:gs pos="0">
                      <a:srgbClr val="50E6FF"/>
                    </a:gs>
                    <a:gs pos="100000">
                      <a:srgbClr val="D59DFF"/>
                    </a:gs>
                  </a:gsLst>
                  <a:lin ang="2700000" scaled="1"/>
                  <a:tileRect/>
                </a:gradFill>
                <a:latin typeface="Segoe UI Semibold"/>
              </a:endParaRPr>
            </a:p>
          </p:txBody>
        </p:sp>
        <p:sp>
          <p:nvSpPr>
            <p:cNvPr id="42" name="Oval 41">
              <a:extLst>
                <a:ext uri="{FF2B5EF4-FFF2-40B4-BE49-F238E27FC236}">
                  <a16:creationId xmlns:a16="http://schemas.microsoft.com/office/drawing/2014/main" id="{4AC70616-ABC7-71E6-FB9C-E41B44A1DAF8}"/>
                </a:ext>
              </a:extLst>
            </p:cNvPr>
            <p:cNvSpPr/>
            <p:nvPr/>
          </p:nvSpPr>
          <p:spPr bwMode="auto">
            <a:xfrm>
              <a:off x="1311201" y="409640"/>
              <a:ext cx="440154" cy="440154"/>
            </a:xfrm>
            <a:prstGeom prst="ellipse">
              <a:avLst/>
            </a:prstGeom>
            <a:solidFill>
              <a:schemeClr val="bg1">
                <a:lumMod val="95000"/>
                <a:lumOff val="5000"/>
              </a:schemeClr>
            </a:solidFill>
            <a:ln w="12700" cap="flat" cmpd="sng" algn="ctr">
              <a:solidFill>
                <a:srgbClr val="000000">
                  <a:lumMod val="75000"/>
                  <a:lumOff val="25000"/>
                </a:srgbClr>
              </a:solidFill>
              <a:prstDash val="solid"/>
              <a:headEnd type="none" w="med" len="med"/>
              <a:tailEnd type="none" w="med" len="med"/>
            </a:ln>
            <a:effectLst/>
          </p:spPr>
          <p:txBody>
            <a:bodyPr rot="0" spcFirstLastPara="0" vertOverflow="overflow" horzOverflow="overflow" vert="horz" wrap="square" lIns="72000" tIns="180000" rIns="72000" bIns="144000" numCol="1" spcCol="0" rtlCol="0" fromWordArt="0" anchor="t" anchorCtr="0" forceAA="0" compatLnSpc="1">
              <a:prstTxWarp prst="textNoShape">
                <a:avLst/>
              </a:prstTxWarp>
              <a:noAutofit/>
            </a:bodyPr>
            <a:lstStyle/>
            <a:p>
              <a:pPr algn="ctr"/>
              <a:endParaRPr lang="en-US" sz="1600" kern="0" err="1">
                <a:gradFill flip="none" rotWithShape="1">
                  <a:gsLst>
                    <a:gs pos="0">
                      <a:srgbClr val="50E6FF"/>
                    </a:gs>
                    <a:gs pos="100000">
                      <a:srgbClr val="D59DFF"/>
                    </a:gs>
                  </a:gsLst>
                  <a:lin ang="2700000" scaled="1"/>
                  <a:tileRect/>
                </a:gradFill>
                <a:latin typeface="Segoe UI Semibold"/>
              </a:endParaRPr>
            </a:p>
          </p:txBody>
        </p:sp>
        <p:pic>
          <p:nvPicPr>
            <p:cNvPr id="43" name="Picture 42">
              <a:extLst>
                <a:ext uri="{FF2B5EF4-FFF2-40B4-BE49-F238E27FC236}">
                  <a16:creationId xmlns:a16="http://schemas.microsoft.com/office/drawing/2014/main" id="{63A32F0E-3B17-4DEE-B652-929F861BCE33}"/>
                </a:ext>
              </a:extLst>
            </p:cNvPr>
            <p:cNvPicPr>
              <a:picLocks noChangeAspect="1"/>
            </p:cNvPicPr>
            <p:nvPr/>
          </p:nvPicPr>
          <p:blipFill>
            <a:blip r:embed="rId3">
              <a:grayscl/>
              <a:alphaModFix amt="53000"/>
            </a:blip>
            <a:stretch>
              <a:fillRect/>
            </a:stretch>
          </p:blipFill>
          <p:spPr>
            <a:xfrm>
              <a:off x="1394021" y="502426"/>
              <a:ext cx="267846" cy="267846"/>
            </a:xfrm>
            <a:prstGeom prst="rect">
              <a:avLst/>
            </a:prstGeom>
          </p:spPr>
        </p:pic>
        <p:pic>
          <p:nvPicPr>
            <p:cNvPr id="44" name="Picture 43">
              <a:extLst>
                <a:ext uri="{FF2B5EF4-FFF2-40B4-BE49-F238E27FC236}">
                  <a16:creationId xmlns:a16="http://schemas.microsoft.com/office/drawing/2014/main" id="{DBAFD8C3-E287-2AA7-163E-2F5261808DCE}"/>
                </a:ext>
              </a:extLst>
            </p:cNvPr>
            <p:cNvPicPr>
              <a:picLocks noChangeAspect="1"/>
            </p:cNvPicPr>
            <p:nvPr/>
          </p:nvPicPr>
          <p:blipFill>
            <a:blip r:embed="rId4"/>
            <a:srcRect/>
            <a:stretch/>
          </p:blipFill>
          <p:spPr>
            <a:xfrm>
              <a:off x="2126332" y="486818"/>
              <a:ext cx="264639" cy="264639"/>
            </a:xfrm>
            <a:prstGeom prst="rect">
              <a:avLst/>
            </a:prstGeom>
          </p:spPr>
        </p:pic>
        <p:pic>
          <p:nvPicPr>
            <p:cNvPr id="45" name="Picture 44">
              <a:extLst>
                <a:ext uri="{FF2B5EF4-FFF2-40B4-BE49-F238E27FC236}">
                  <a16:creationId xmlns:a16="http://schemas.microsoft.com/office/drawing/2014/main" id="{B91A398A-F312-E765-6DBC-78EF137E47B3}"/>
                </a:ext>
              </a:extLst>
            </p:cNvPr>
            <p:cNvPicPr>
              <a:picLocks noChangeAspect="1"/>
            </p:cNvPicPr>
            <p:nvPr/>
          </p:nvPicPr>
          <p:blipFill>
            <a:blip r:embed="rId5">
              <a:alphaModFix amt="53000"/>
              <a:grayscl/>
            </a:blip>
            <a:stretch>
              <a:fillRect/>
            </a:stretch>
          </p:blipFill>
          <p:spPr>
            <a:xfrm>
              <a:off x="677019" y="497398"/>
              <a:ext cx="264638" cy="264638"/>
            </a:xfrm>
            <a:prstGeom prst="rect">
              <a:avLst/>
            </a:prstGeom>
          </p:spPr>
        </p:pic>
      </p:grpSp>
    </p:spTree>
    <p:extLst>
      <p:ext uri="{BB962C8B-B14F-4D97-AF65-F5344CB8AC3E}">
        <p14:creationId xmlns:p14="http://schemas.microsoft.com/office/powerpoint/2010/main" val="3128398989"/>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descr="A diagram of a basketball play">
            <a:extLst>
              <a:ext uri="{FF2B5EF4-FFF2-40B4-BE49-F238E27FC236}">
                <a16:creationId xmlns:a16="http://schemas.microsoft.com/office/drawing/2014/main" id="{A5C2E40E-567D-02F8-9C28-A9BE389E25F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a:stretch/>
        </p:blipFill>
        <p:spPr bwMode="auto">
          <a:xfrm>
            <a:off x="4298940" y="1"/>
            <a:ext cx="7893060" cy="4162658"/>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B4E60DAD-90A1-84C6-40CF-297122B245E1}"/>
              </a:ext>
              <a:ext uri="{C183D7F6-B498-43B3-948B-1728B52AA6E4}">
                <adec:decorative xmlns:adec="http://schemas.microsoft.com/office/drawing/2017/decorative" val="1"/>
              </a:ext>
            </a:extLst>
          </p:cNvPr>
          <p:cNvSpPr/>
          <p:nvPr/>
        </p:nvSpPr>
        <p:spPr bwMode="auto">
          <a:xfrm>
            <a:off x="1" y="696233"/>
            <a:ext cx="2790334" cy="883852"/>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sp>
        <p:nvSpPr>
          <p:cNvPr id="12" name="Rectangle 11">
            <a:extLst>
              <a:ext uri="{FF2B5EF4-FFF2-40B4-BE49-F238E27FC236}">
                <a16:creationId xmlns:a16="http://schemas.microsoft.com/office/drawing/2014/main" id="{B81970D8-2E27-6FAF-D327-4C3416D8EA54}"/>
              </a:ext>
              <a:ext uri="{C183D7F6-B498-43B3-948B-1728B52AA6E4}">
                <adec:decorative xmlns:adec="http://schemas.microsoft.com/office/drawing/2017/decorative" val="1"/>
              </a:ext>
            </a:extLst>
          </p:cNvPr>
          <p:cNvSpPr/>
          <p:nvPr/>
        </p:nvSpPr>
        <p:spPr bwMode="auto">
          <a:xfrm>
            <a:off x="4243258" y="1"/>
            <a:ext cx="3808022" cy="4162658"/>
          </a:xfrm>
          <a:prstGeom prst="rect">
            <a:avLst/>
          </a:prstGeom>
          <a:solidFill>
            <a:schemeClr val="bg1">
              <a:alpha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sp>
        <p:nvSpPr>
          <p:cNvPr id="3" name="Title 2">
            <a:extLst>
              <a:ext uri="{FF2B5EF4-FFF2-40B4-BE49-F238E27FC236}">
                <a16:creationId xmlns:a16="http://schemas.microsoft.com/office/drawing/2014/main" id="{285333DA-5197-9C4B-6786-091ABABA981F}"/>
              </a:ext>
            </a:extLst>
          </p:cNvPr>
          <p:cNvSpPr>
            <a:spLocks noGrp="1"/>
          </p:cNvSpPr>
          <p:nvPr>
            <p:ph type="title"/>
          </p:nvPr>
        </p:nvSpPr>
        <p:spPr>
          <a:xfrm>
            <a:off x="588263" y="310243"/>
            <a:ext cx="11018520" cy="215444"/>
          </a:xfrm>
        </p:spPr>
        <p:txBody>
          <a:bodyPr/>
          <a:lstStyle/>
          <a:p>
            <a:r>
              <a:rPr lang="en-US" sz="1400">
                <a:solidFill>
                  <a:schemeClr val="bg1"/>
                </a:solidFill>
              </a:rPr>
              <a:t>Case Study</a:t>
            </a:r>
          </a:p>
        </p:txBody>
      </p:sp>
      <p:sp>
        <p:nvSpPr>
          <p:cNvPr id="19" name="Rectangle 18">
            <a:hlinkClick r:id="rId4"/>
            <a:extLst>
              <a:ext uri="{FF2B5EF4-FFF2-40B4-BE49-F238E27FC236}">
                <a16:creationId xmlns:a16="http://schemas.microsoft.com/office/drawing/2014/main" id="{5C021831-6AF5-037D-2E6C-656C06E009D1}"/>
              </a:ext>
            </a:extLst>
          </p:cNvPr>
          <p:cNvSpPr/>
          <p:nvPr/>
        </p:nvSpPr>
        <p:spPr bwMode="auto">
          <a:xfrm>
            <a:off x="8011558" y="5264178"/>
            <a:ext cx="3361358" cy="520860"/>
          </a:xfrm>
          <a:prstGeom prst="rect">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65760" tIns="146304" rIns="182880" bIns="146304"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Segoe UI Semibold"/>
                <a:ea typeface="+mn-ea"/>
                <a:cs typeface="+mn-cs"/>
              </a:rPr>
              <a:t>Read the full customer story</a:t>
            </a:r>
          </a:p>
        </p:txBody>
      </p:sp>
      <p:sp>
        <p:nvSpPr>
          <p:cNvPr id="22" name="TextBox 21">
            <a:extLst>
              <a:ext uri="{FF2B5EF4-FFF2-40B4-BE49-F238E27FC236}">
                <a16:creationId xmlns:a16="http://schemas.microsoft.com/office/drawing/2014/main" id="{8C1908D1-079E-CC3E-F9DF-C935FF041B98}"/>
              </a:ext>
            </a:extLst>
          </p:cNvPr>
          <p:cNvSpPr txBox="1"/>
          <p:nvPr/>
        </p:nvSpPr>
        <p:spPr>
          <a:xfrm>
            <a:off x="4486340" y="194381"/>
            <a:ext cx="3307512" cy="4257576"/>
          </a:xfrm>
          <a:prstGeom prst="rect">
            <a:avLst/>
          </a:prstGeom>
          <a:noFill/>
        </p:spPr>
        <p:txBody>
          <a:bodyPr wrap="square" lIns="91440" tIns="45720" rIns="91440" bIns="45720" anchor="t">
            <a:spAutoFit/>
          </a:bodyPr>
          <a:lstStyle/>
          <a:p>
            <a:pPr marL="0" marR="0" lvl="1" indent="0" algn="l" defTabSz="914367" rtl="0" eaLnBrk="1" fontAlgn="ctr" latinLnBrk="0" hangingPunct="1">
              <a:lnSpc>
                <a:spcPct val="100000"/>
              </a:lnSpc>
              <a:spcBef>
                <a:spcPts val="0"/>
              </a:spcBef>
              <a:spcAft>
                <a:spcPts val="1600"/>
              </a:spcAft>
              <a:buClr>
                <a:srgbClr val="FFFFFF"/>
              </a:buClr>
              <a:buSzPct val="100000"/>
              <a:buFontTx/>
              <a:buNone/>
              <a:tabLst/>
              <a:defRPr/>
            </a:pPr>
            <a:endParaRPr kumimoji="0" lang="en-US" sz="1200" b="0" i="0" u="none" strike="noStrike" kern="1200" cap="none" spc="0" normalizeH="0" baseline="0" noProof="0">
              <a:ln>
                <a:noFill/>
              </a:ln>
              <a:solidFill>
                <a:srgbClr val="FFFFFF"/>
              </a:solidFill>
              <a:effectLst/>
              <a:uLnTx/>
              <a:uFillTx/>
              <a:latin typeface="Segoe UI"/>
              <a:ea typeface="+mn-ea"/>
              <a:cs typeface="Segoe UI"/>
            </a:endParaRPr>
          </a:p>
          <a:p>
            <a:pPr marL="0" marR="0" lvl="1" indent="0" algn="l" defTabSz="914367" rtl="0" eaLnBrk="1" fontAlgn="ctr" latinLnBrk="0" hangingPunct="1">
              <a:lnSpc>
                <a:spcPct val="100000"/>
              </a:lnSpc>
              <a:spcBef>
                <a:spcPts val="0"/>
              </a:spcBef>
              <a:spcAft>
                <a:spcPts val="1600"/>
              </a:spcAft>
              <a:buClr>
                <a:srgbClr val="FFFFFF"/>
              </a:buClr>
              <a:buSzPct val="100000"/>
              <a:buFontTx/>
              <a:buNone/>
              <a:tabLst/>
              <a:defRPr/>
            </a:pPr>
            <a:r>
              <a:rPr kumimoji="0" lang="en-US" sz="1200" b="0" i="0" u="none" strike="noStrike" kern="1200" cap="none" spc="0" normalizeH="0" baseline="0" noProof="0">
                <a:ln>
                  <a:noFill/>
                </a:ln>
                <a:solidFill>
                  <a:srgbClr val="FFFFFF"/>
                </a:solidFill>
                <a:effectLst/>
                <a:uLnTx/>
                <a:uFillTx/>
                <a:latin typeface="Segoe UI"/>
                <a:ea typeface="+mn-ea"/>
                <a:cs typeface="+mn-cs"/>
              </a:rPr>
              <a:t>NBA's direct-to-consumer platform, built on Microsoft Azure, delivers personalized content to fans and generates nearly 10 billion daily interactions </a:t>
            </a:r>
            <a:endParaRPr kumimoji="0" lang="en-US" sz="1200" b="0" i="0" u="none" strike="noStrike" kern="1200" cap="none" spc="0" normalizeH="0" baseline="0" noProof="0">
              <a:ln>
                <a:noFill/>
              </a:ln>
              <a:solidFill>
                <a:srgbClr val="FFFFFF"/>
              </a:solidFill>
              <a:effectLst/>
              <a:uLnTx/>
              <a:uFillTx/>
              <a:latin typeface="Segoe UI"/>
              <a:ea typeface="+mn-ea"/>
              <a:cs typeface="Segoe UI"/>
            </a:endParaRPr>
          </a:p>
          <a:p>
            <a:pPr marL="0" marR="0" lvl="1" indent="0" algn="l" defTabSz="914367" rtl="0" eaLnBrk="1" fontAlgn="ctr" latinLnBrk="0" hangingPunct="1">
              <a:lnSpc>
                <a:spcPct val="100000"/>
              </a:lnSpc>
              <a:spcBef>
                <a:spcPts val="0"/>
              </a:spcBef>
              <a:spcAft>
                <a:spcPts val="1600"/>
              </a:spcAft>
              <a:buClr>
                <a:srgbClr val="FFFFFF"/>
              </a:buClr>
              <a:buSzPct val="100000"/>
              <a:buFontTx/>
              <a:buNone/>
              <a:tabLst/>
              <a:defRPr/>
            </a:pPr>
            <a:r>
              <a:rPr kumimoji="0" lang="en-US" sz="1200" b="0" i="0" u="none" strike="noStrike" kern="1200" cap="none" spc="0" normalizeH="0" baseline="0" noProof="0">
                <a:ln>
                  <a:noFill/>
                </a:ln>
                <a:solidFill>
                  <a:srgbClr val="FFFFFF"/>
                </a:solidFill>
                <a:effectLst/>
                <a:uLnTx/>
                <a:uFillTx/>
                <a:latin typeface="Segoe UI"/>
                <a:ea typeface="+mn-ea"/>
                <a:cs typeface="+mn-cs"/>
              </a:rPr>
              <a:t>NBA relies on Microsoft Azure to make sense of that sea of numbers using tools such as Azure Data Lake Storage, Azure Machine Learning, Azure Databricks</a:t>
            </a:r>
            <a:endParaRPr kumimoji="0" lang="en-US" sz="1200" b="0" i="0" u="none" strike="noStrike" kern="1200" cap="none" spc="0" normalizeH="0" baseline="0" noProof="0">
              <a:ln>
                <a:noFill/>
              </a:ln>
              <a:solidFill>
                <a:srgbClr val="FFFFFF"/>
              </a:solidFill>
              <a:effectLst/>
              <a:uLnTx/>
              <a:uFillTx/>
              <a:latin typeface="Segoe UI"/>
              <a:ea typeface="+mn-ea"/>
              <a:cs typeface="Segoe UI"/>
            </a:endParaRPr>
          </a:p>
          <a:p>
            <a:pPr marL="0" marR="0" lvl="1" indent="0" algn="l" defTabSz="914367" rtl="0" eaLnBrk="1" fontAlgn="auto" latinLnBrk="0" hangingPunct="1">
              <a:lnSpc>
                <a:spcPct val="100000"/>
              </a:lnSpc>
              <a:spcBef>
                <a:spcPts val="0"/>
              </a:spcBef>
              <a:spcAft>
                <a:spcPts val="160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UI"/>
                <a:ea typeface="+mn-ea"/>
                <a:cs typeface="+mn-cs"/>
              </a:rPr>
              <a:t>Azure AI capabilities turn billions of data points into insightful metrics about players and games to power innovative fan experiences and engagement </a:t>
            </a:r>
            <a:endParaRPr kumimoji="0" lang="en-US" sz="1200" b="0" i="0" u="none" strike="noStrike" kern="1200" cap="none" spc="0" normalizeH="0" baseline="0" noProof="0">
              <a:ln>
                <a:noFill/>
              </a:ln>
              <a:solidFill>
                <a:srgbClr val="FFFFFF"/>
              </a:solidFill>
              <a:effectLst/>
              <a:uLnTx/>
              <a:uFillTx/>
              <a:latin typeface="Segoe UI"/>
              <a:ea typeface="+mn-ea"/>
              <a:cs typeface="Segoe UI"/>
            </a:endParaRPr>
          </a:p>
          <a:p>
            <a:pPr marL="0" marR="0" lvl="1" indent="0" algn="l" defTabSz="914367" rtl="0" eaLnBrk="1" fontAlgn="auto" latinLnBrk="0" hangingPunct="1">
              <a:lnSpc>
                <a:spcPct val="100000"/>
              </a:lnSpc>
              <a:spcBef>
                <a:spcPts val="0"/>
              </a:spcBef>
              <a:spcAft>
                <a:spcPts val="160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UI"/>
                <a:ea typeface="+mn-lt"/>
                <a:cs typeface="Segoe UI"/>
              </a:rPr>
              <a:t>Turnkey solutions and developer friendly tools enabled the team to fully implement the solution in a matter of weeks</a:t>
            </a:r>
            <a:endParaRPr kumimoji="0" lang="en-US" sz="1800" b="0" i="0" u="none" strike="noStrike" kern="1200" cap="none" spc="0" normalizeH="0" baseline="0" noProof="0">
              <a:ln>
                <a:noFill/>
              </a:ln>
              <a:solidFill>
                <a:srgbClr val="FFFFFF"/>
              </a:solidFill>
              <a:effectLst/>
              <a:uLnTx/>
              <a:uFillTx/>
              <a:latin typeface="Segoe UI"/>
              <a:ea typeface="+mn-ea"/>
              <a:cs typeface="+mn-cs"/>
            </a:endParaRPr>
          </a:p>
          <a:p>
            <a:pPr marL="0" marR="0" lvl="1" indent="0" algn="l" defTabSz="914367" rtl="0" eaLnBrk="1" fontAlgn="ctr" latinLnBrk="0" hangingPunct="1">
              <a:lnSpc>
                <a:spcPct val="100000"/>
              </a:lnSpc>
              <a:spcBef>
                <a:spcPts val="0"/>
              </a:spcBef>
              <a:spcAft>
                <a:spcPts val="1600"/>
              </a:spcAft>
              <a:buClr>
                <a:srgbClr val="FFFFFF"/>
              </a:buClr>
              <a:buSzPct val="100000"/>
              <a:buFontTx/>
              <a:buNone/>
              <a:tabLst/>
              <a:defRPr/>
            </a:pPr>
            <a:endParaRPr kumimoji="0" lang="en-US" sz="1200" b="0" i="0" u="none" strike="noStrike" kern="1200" cap="none" spc="0" normalizeH="0" baseline="0" noProof="0">
              <a:ln>
                <a:noFill/>
              </a:ln>
              <a:solidFill>
                <a:srgbClr val="FFFFFF"/>
              </a:solidFill>
              <a:effectLst/>
              <a:uLnTx/>
              <a:uFillTx/>
              <a:latin typeface="Segoe UI"/>
              <a:ea typeface="+mn-ea"/>
              <a:cs typeface="+mn-cs"/>
            </a:endParaRPr>
          </a:p>
        </p:txBody>
      </p:sp>
      <p:cxnSp>
        <p:nvCxnSpPr>
          <p:cNvPr id="27" name="Straight Connector 26">
            <a:extLst>
              <a:ext uri="{FF2B5EF4-FFF2-40B4-BE49-F238E27FC236}">
                <a16:creationId xmlns:a16="http://schemas.microsoft.com/office/drawing/2014/main" id="{717FA7FB-C410-EC9C-7EC5-379A96DAAC6B}"/>
              </a:ext>
              <a:ext uri="{C183D7F6-B498-43B3-948B-1728B52AA6E4}">
                <adec:decorative xmlns:adec="http://schemas.microsoft.com/office/drawing/2017/decorative" val="1"/>
              </a:ext>
            </a:extLst>
          </p:cNvPr>
          <p:cNvCxnSpPr>
            <a:cxnSpLocks/>
          </p:cNvCxnSpPr>
          <p:nvPr/>
        </p:nvCxnSpPr>
        <p:spPr>
          <a:xfrm>
            <a:off x="4528776" y="1469064"/>
            <a:ext cx="3223137" cy="0"/>
          </a:xfrm>
          <a:prstGeom prst="line">
            <a:avLst/>
          </a:prstGeom>
          <a:ln>
            <a:solidFill>
              <a:schemeClr val="accent2"/>
            </a:solidFill>
            <a:prstDash val="sysDot"/>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85C1996-2BFF-2AE9-370D-812231CDD802}"/>
              </a:ext>
              <a:ext uri="{C183D7F6-B498-43B3-948B-1728B52AA6E4}">
                <adec:decorative xmlns:adec="http://schemas.microsoft.com/office/drawing/2017/decorative" val="1"/>
              </a:ext>
            </a:extLst>
          </p:cNvPr>
          <p:cNvCxnSpPr>
            <a:cxnSpLocks/>
          </p:cNvCxnSpPr>
          <p:nvPr/>
        </p:nvCxnSpPr>
        <p:spPr>
          <a:xfrm>
            <a:off x="4528776" y="2425112"/>
            <a:ext cx="3223137" cy="0"/>
          </a:xfrm>
          <a:prstGeom prst="line">
            <a:avLst/>
          </a:prstGeom>
          <a:ln>
            <a:solidFill>
              <a:schemeClr val="accent2"/>
            </a:solidFill>
            <a:prstDash val="sysDot"/>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D3F853DA-750D-E964-80BE-0F0EAADF8058}"/>
              </a:ext>
              <a:ext uri="{C183D7F6-B498-43B3-948B-1728B52AA6E4}">
                <adec:decorative xmlns:adec="http://schemas.microsoft.com/office/drawing/2017/decorative" val="1"/>
              </a:ext>
            </a:extLst>
          </p:cNvPr>
          <p:cNvCxnSpPr>
            <a:cxnSpLocks/>
          </p:cNvCxnSpPr>
          <p:nvPr/>
        </p:nvCxnSpPr>
        <p:spPr>
          <a:xfrm>
            <a:off x="4528776" y="3338590"/>
            <a:ext cx="3223137" cy="0"/>
          </a:xfrm>
          <a:prstGeom prst="line">
            <a:avLst/>
          </a:prstGeom>
          <a:ln>
            <a:solidFill>
              <a:schemeClr val="accent2"/>
            </a:solidFill>
            <a:prstDash val="sysDot"/>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0" name="Title 1">
            <a:extLst>
              <a:ext uri="{FF2B5EF4-FFF2-40B4-BE49-F238E27FC236}">
                <a16:creationId xmlns:a16="http://schemas.microsoft.com/office/drawing/2014/main" id="{9522E3A5-5CF8-4C85-8AC7-3FFBD0564025}"/>
              </a:ext>
            </a:extLst>
          </p:cNvPr>
          <p:cNvSpPr txBox="1">
            <a:spLocks/>
          </p:cNvSpPr>
          <p:nvPr/>
        </p:nvSpPr>
        <p:spPr>
          <a:xfrm>
            <a:off x="588263" y="2057227"/>
            <a:ext cx="3289945" cy="2954655"/>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3200" b="0" i="0" u="none" strike="noStrike" kern="1200" cap="none" spc="-50" normalizeH="0" baseline="0" noProof="0">
                <a:ln w="3175">
                  <a:noFill/>
                </a:ln>
                <a:solidFill>
                  <a:srgbClr val="FFFFFF"/>
                </a:solidFill>
                <a:effectLst/>
                <a:uLnTx/>
                <a:uFillTx/>
                <a:latin typeface="Segoe UI Semibold"/>
                <a:ea typeface="+mn-ea"/>
                <a:cs typeface="Segoe UI" pitchFamily="34" charset="0"/>
              </a:rPr>
              <a:t>NBA uses Microsoft Azure to power new content that elevates fan engagement</a:t>
            </a:r>
          </a:p>
        </p:txBody>
      </p:sp>
      <p:sp>
        <p:nvSpPr>
          <p:cNvPr id="7" name="Rectangle 6">
            <a:extLst>
              <a:ext uri="{FF2B5EF4-FFF2-40B4-BE49-F238E27FC236}">
                <a16:creationId xmlns:a16="http://schemas.microsoft.com/office/drawing/2014/main" id="{4F22E419-485C-840F-37AD-7303E967585F}"/>
              </a:ext>
              <a:ext uri="{C183D7F6-B498-43B3-948B-1728B52AA6E4}">
                <adec:decorative xmlns:adec="http://schemas.microsoft.com/office/drawing/2017/decorative" val="1"/>
              </a:ext>
            </a:extLst>
          </p:cNvPr>
          <p:cNvSpPr/>
          <p:nvPr/>
        </p:nvSpPr>
        <p:spPr bwMode="auto">
          <a:xfrm>
            <a:off x="4298940" y="4162659"/>
            <a:ext cx="3719513" cy="2695341"/>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sp>
        <p:nvSpPr>
          <p:cNvPr id="31" name="Oval 30">
            <a:hlinkClick r:id="rId4"/>
            <a:extLst>
              <a:ext uri="{FF2B5EF4-FFF2-40B4-BE49-F238E27FC236}">
                <a16:creationId xmlns:a16="http://schemas.microsoft.com/office/drawing/2014/main" id="{EC447917-9493-0ACE-ACE8-34756EA4E492}"/>
              </a:ext>
              <a:ext uri="{C183D7F6-B498-43B3-948B-1728B52AA6E4}">
                <adec:decorative xmlns:adec="http://schemas.microsoft.com/office/drawing/2017/decorative" val="1"/>
              </a:ext>
            </a:extLst>
          </p:cNvPr>
          <p:cNvSpPr/>
          <p:nvPr/>
        </p:nvSpPr>
        <p:spPr bwMode="auto">
          <a:xfrm>
            <a:off x="7893060" y="5362324"/>
            <a:ext cx="324568" cy="324568"/>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sp>
        <p:nvSpPr>
          <p:cNvPr id="32" name="Triangle 31">
            <a:extLst>
              <a:ext uri="{FF2B5EF4-FFF2-40B4-BE49-F238E27FC236}">
                <a16:creationId xmlns:a16="http://schemas.microsoft.com/office/drawing/2014/main" id="{BF03718D-24D9-5672-3706-A0092F2C4C1E}"/>
              </a:ext>
              <a:ext uri="{C183D7F6-B498-43B3-948B-1728B52AA6E4}">
                <adec:decorative xmlns:adec="http://schemas.microsoft.com/office/drawing/2017/decorative" val="1"/>
              </a:ext>
            </a:extLst>
          </p:cNvPr>
          <p:cNvSpPr/>
          <p:nvPr/>
        </p:nvSpPr>
        <p:spPr bwMode="auto">
          <a:xfrm rot="5400000">
            <a:off x="8008847" y="5464568"/>
            <a:ext cx="139294" cy="120081"/>
          </a:xfrm>
          <a:prstGeom prst="triangl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sp>
        <p:nvSpPr>
          <p:cNvPr id="8" name="TextBox 7">
            <a:extLst>
              <a:ext uri="{FF2B5EF4-FFF2-40B4-BE49-F238E27FC236}">
                <a16:creationId xmlns:a16="http://schemas.microsoft.com/office/drawing/2014/main" id="{E487195C-1B89-74F6-341A-D12B4350EFB1}"/>
              </a:ext>
            </a:extLst>
          </p:cNvPr>
          <p:cNvSpPr txBox="1"/>
          <p:nvPr/>
        </p:nvSpPr>
        <p:spPr>
          <a:xfrm>
            <a:off x="4572000" y="4486123"/>
            <a:ext cx="3081403" cy="1246495"/>
          </a:xfrm>
          <a:prstGeom prst="rect">
            <a:avLst/>
          </a:prstGeom>
          <a:noFill/>
        </p:spPr>
        <p:txBody>
          <a:bodyPr wrap="square" lIns="91440" tIns="45720" rIns="91440" bIns="45720" anchor="t">
            <a:spAutoFit/>
          </a:bodyPr>
          <a:lstStyle/>
          <a:p>
            <a:pPr marL="91440" marR="0" lvl="1" indent="-457200" algn="l" defTabSz="914367" rtl="0" eaLnBrk="1" fontAlgn="ctr" latinLnBrk="0" hangingPunct="1">
              <a:lnSpc>
                <a:spcPct val="100000"/>
              </a:lnSpc>
              <a:spcBef>
                <a:spcPts val="0"/>
              </a:spcBef>
              <a:spcAft>
                <a:spcPts val="1600"/>
              </a:spcAft>
              <a:buClr>
                <a:srgbClr val="FFFFFF"/>
              </a:buClr>
              <a:buSzPct val="100000"/>
              <a:buFontTx/>
              <a:buNone/>
              <a:tabLst/>
              <a:defRPr/>
            </a:pPr>
            <a:r>
              <a:rPr kumimoji="0" lang="en-US" sz="1500" b="0" i="0" u="none" strike="noStrike" kern="1200" cap="none" spc="0" normalizeH="0" baseline="0" noProof="0">
                <a:ln>
                  <a:noFill/>
                </a:ln>
                <a:solidFill>
                  <a:srgbClr val="FFFFFF"/>
                </a:solidFill>
                <a:effectLst/>
                <a:uLnTx/>
                <a:uFillTx/>
                <a:latin typeface="Segoe UI"/>
                <a:ea typeface="+mn-ea"/>
                <a:cs typeface="+mn-cs"/>
              </a:rPr>
              <a:t>“We’ve always been sitting on a lot of data, but we needed Azure and AI to unlock its potential and find the interesting nuggets in those billions of data points.”</a:t>
            </a:r>
          </a:p>
        </p:txBody>
      </p:sp>
      <p:sp>
        <p:nvSpPr>
          <p:cNvPr id="9" name="TextBox 8">
            <a:extLst>
              <a:ext uri="{FF2B5EF4-FFF2-40B4-BE49-F238E27FC236}">
                <a16:creationId xmlns:a16="http://schemas.microsoft.com/office/drawing/2014/main" id="{032A38B7-6816-7ECE-EB9E-D72FCFC21A0C}"/>
              </a:ext>
            </a:extLst>
          </p:cNvPr>
          <p:cNvSpPr txBox="1"/>
          <p:nvPr/>
        </p:nvSpPr>
        <p:spPr>
          <a:xfrm>
            <a:off x="4657095" y="5786347"/>
            <a:ext cx="2842350" cy="600164"/>
          </a:xfrm>
          <a:prstGeom prst="rect">
            <a:avLst/>
          </a:prstGeom>
          <a:noFill/>
        </p:spPr>
        <p:txBody>
          <a:bodyPr wrap="square">
            <a:spAutoFit/>
          </a:bodyPr>
          <a:lstStyle/>
          <a:p>
            <a:pPr marL="182880" marR="0" lvl="0" indent="-18288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SegoeUI"/>
                <a:ea typeface="+mn-ea"/>
                <a:cs typeface="+mn-cs"/>
              </a:rPr>
              <a:t>— Charlie </a:t>
            </a:r>
            <a:r>
              <a:rPr kumimoji="0" lang="en-US" sz="1100" b="0" i="0" u="none" strike="noStrike" kern="1200" cap="none" spc="0" normalizeH="0" baseline="0" noProof="0" err="1">
                <a:ln>
                  <a:noFill/>
                </a:ln>
                <a:solidFill>
                  <a:srgbClr val="FFFFFF"/>
                </a:solidFill>
                <a:effectLst/>
                <a:uLnTx/>
                <a:uFillTx/>
                <a:latin typeface="SegoeUI"/>
                <a:ea typeface="+mn-ea"/>
                <a:cs typeface="+mn-cs"/>
              </a:rPr>
              <a:t>Rohlf</a:t>
            </a:r>
            <a:r>
              <a:rPr kumimoji="0" lang="en-US" sz="1100" b="0" i="0" u="none" strike="noStrike" kern="1200" cap="none" spc="0" normalizeH="0" baseline="0" noProof="0">
                <a:ln>
                  <a:noFill/>
                </a:ln>
                <a:solidFill>
                  <a:srgbClr val="FFFFFF"/>
                </a:solidFill>
                <a:effectLst/>
                <a:uLnTx/>
                <a:uFillTx/>
                <a:latin typeface="SegoeUI"/>
                <a:ea typeface="+mn-ea"/>
                <a:cs typeface="+mn-cs"/>
              </a:rPr>
              <a:t>: Associate Vice President, Stats Technology Product Development at the National Basketball Association</a:t>
            </a:r>
          </a:p>
        </p:txBody>
      </p:sp>
      <p:pic>
        <p:nvPicPr>
          <p:cNvPr id="2050" name="Picture 2" descr="See the source image">
            <a:extLst>
              <a:ext uri="{FF2B5EF4-FFF2-40B4-BE49-F238E27FC236}">
                <a16:creationId xmlns:a16="http://schemas.microsoft.com/office/drawing/2014/main" id="{40E6735F-4B68-B68F-CD33-BCFCB1E634CB}"/>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a:stretch/>
        </p:blipFill>
        <p:spPr bwMode="auto">
          <a:xfrm>
            <a:off x="588263" y="784746"/>
            <a:ext cx="1137355" cy="7953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27544186"/>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Oval 52">
            <a:extLst>
              <a:ext uri="{FF2B5EF4-FFF2-40B4-BE49-F238E27FC236}">
                <a16:creationId xmlns:a16="http://schemas.microsoft.com/office/drawing/2014/main" id="{658380E8-58B0-A299-6426-43E91FE212F2}"/>
              </a:ext>
              <a:ext uri="{C183D7F6-B498-43B3-948B-1728B52AA6E4}">
                <adec:decorative xmlns:adec="http://schemas.microsoft.com/office/drawing/2017/decorative" val="1"/>
              </a:ext>
            </a:extLst>
          </p:cNvPr>
          <p:cNvSpPr/>
          <p:nvPr/>
        </p:nvSpPr>
        <p:spPr bwMode="auto">
          <a:xfrm>
            <a:off x="4498674" y="2557801"/>
            <a:ext cx="2088911" cy="2439016"/>
          </a:xfrm>
          <a:prstGeom prst="ellipse">
            <a:avLst/>
          </a:prstGeom>
          <a:gradFill flip="none" rotWithShape="1">
            <a:gsLst>
              <a:gs pos="0">
                <a:schemeClr val="bg2"/>
              </a:gs>
              <a:gs pos="58000">
                <a:schemeClr val="bg1">
                  <a:alpha val="0"/>
                </a:schemeClr>
              </a:gs>
            </a:gsLst>
            <a:path path="circle">
              <a:fillToRect l="50000" t="50000" r="50000" b="50000"/>
            </a:path>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Segoe UI"/>
              <a:ea typeface="Segoe UI" pitchFamily="34" charset="0"/>
              <a:cs typeface="Segoe UI" pitchFamily="34" charset="0"/>
            </a:endParaRPr>
          </a:p>
        </p:txBody>
      </p:sp>
      <p:sp>
        <p:nvSpPr>
          <p:cNvPr id="63" name="Oval 62">
            <a:extLst>
              <a:ext uri="{FF2B5EF4-FFF2-40B4-BE49-F238E27FC236}">
                <a16:creationId xmlns:a16="http://schemas.microsoft.com/office/drawing/2014/main" id="{580DB6C3-2E66-D27C-9098-D3803AA5AD90}"/>
              </a:ext>
              <a:ext uri="{C183D7F6-B498-43B3-948B-1728B52AA6E4}">
                <adec:decorative xmlns:adec="http://schemas.microsoft.com/office/drawing/2017/decorative" val="1"/>
              </a:ext>
            </a:extLst>
          </p:cNvPr>
          <p:cNvSpPr/>
          <p:nvPr/>
        </p:nvSpPr>
        <p:spPr bwMode="auto">
          <a:xfrm>
            <a:off x="7199125" y="2557801"/>
            <a:ext cx="2088911" cy="2439016"/>
          </a:xfrm>
          <a:prstGeom prst="ellipse">
            <a:avLst/>
          </a:prstGeom>
          <a:gradFill flip="none" rotWithShape="1">
            <a:gsLst>
              <a:gs pos="0">
                <a:schemeClr val="bg2"/>
              </a:gs>
              <a:gs pos="58000">
                <a:schemeClr val="bg1">
                  <a:alpha val="0"/>
                </a:schemeClr>
              </a:gs>
            </a:gsLst>
            <a:path path="circle">
              <a:fillToRect l="50000" t="50000" r="50000" b="50000"/>
            </a:path>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Segoe UI"/>
              <a:ea typeface="Segoe UI" pitchFamily="34" charset="0"/>
              <a:cs typeface="Segoe UI" pitchFamily="34" charset="0"/>
            </a:endParaRPr>
          </a:p>
        </p:txBody>
      </p:sp>
      <p:sp>
        <p:nvSpPr>
          <p:cNvPr id="64" name="Oval 63">
            <a:extLst>
              <a:ext uri="{FF2B5EF4-FFF2-40B4-BE49-F238E27FC236}">
                <a16:creationId xmlns:a16="http://schemas.microsoft.com/office/drawing/2014/main" id="{62D134B4-9842-0FDA-C827-5E28B6D226B3}"/>
              </a:ext>
              <a:ext uri="{C183D7F6-B498-43B3-948B-1728B52AA6E4}">
                <adec:decorative xmlns:adec="http://schemas.microsoft.com/office/drawing/2017/decorative" val="1"/>
              </a:ext>
            </a:extLst>
          </p:cNvPr>
          <p:cNvSpPr/>
          <p:nvPr/>
        </p:nvSpPr>
        <p:spPr bwMode="auto">
          <a:xfrm>
            <a:off x="9574353" y="2557801"/>
            <a:ext cx="2088911" cy="2439016"/>
          </a:xfrm>
          <a:prstGeom prst="ellipse">
            <a:avLst/>
          </a:prstGeom>
          <a:gradFill flip="none" rotWithShape="1">
            <a:gsLst>
              <a:gs pos="0">
                <a:schemeClr val="bg2"/>
              </a:gs>
              <a:gs pos="58000">
                <a:schemeClr val="bg1">
                  <a:alpha val="0"/>
                </a:schemeClr>
              </a:gs>
            </a:gsLst>
            <a:path path="circle">
              <a:fillToRect l="50000" t="50000" r="50000" b="50000"/>
            </a:path>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Segoe UI"/>
              <a:ea typeface="Segoe UI" pitchFamily="34" charset="0"/>
              <a:cs typeface="Segoe UI" pitchFamily="34" charset="0"/>
            </a:endParaRPr>
          </a:p>
        </p:txBody>
      </p:sp>
      <p:sp>
        <p:nvSpPr>
          <p:cNvPr id="122" name="Title 121">
            <a:extLst>
              <a:ext uri="{FF2B5EF4-FFF2-40B4-BE49-F238E27FC236}">
                <a16:creationId xmlns:a16="http://schemas.microsoft.com/office/drawing/2014/main" id="{768BC6E3-009D-362C-DC8F-1050E79E2AD8}"/>
              </a:ext>
            </a:extLst>
          </p:cNvPr>
          <p:cNvSpPr>
            <a:spLocks noGrp="1"/>
          </p:cNvSpPr>
          <p:nvPr>
            <p:ph type="title"/>
          </p:nvPr>
        </p:nvSpPr>
        <p:spPr>
          <a:xfrm>
            <a:off x="586740" y="2583851"/>
            <a:ext cx="4062262" cy="1969770"/>
          </a:xfrm>
        </p:spPr>
        <p:txBody>
          <a:bodyPr/>
          <a:lstStyle/>
          <a:p>
            <a:r>
              <a:rPr lang="en-US" sz="3200"/>
              <a:t>Azure solutions </a:t>
            </a:r>
            <a:br>
              <a:rPr lang="en-US" sz="3200"/>
            </a:br>
            <a:r>
              <a:rPr lang="en-US" sz="3200"/>
              <a:t>to navigate market</a:t>
            </a:r>
            <a:br>
              <a:rPr lang="en-US" sz="3200"/>
            </a:br>
            <a:r>
              <a:rPr lang="en-US" sz="3200"/>
              <a:t>uncertainty and accelerate growth</a:t>
            </a:r>
            <a:endParaRPr lang="en-US"/>
          </a:p>
        </p:txBody>
      </p:sp>
      <p:grpSp>
        <p:nvGrpSpPr>
          <p:cNvPr id="30" name="Group 29">
            <a:extLst>
              <a:ext uri="{FF2B5EF4-FFF2-40B4-BE49-F238E27FC236}">
                <a16:creationId xmlns:a16="http://schemas.microsoft.com/office/drawing/2014/main" id="{502A71E1-9576-3DF9-8E06-84B14E5FB257}"/>
              </a:ext>
              <a:ext uri="{C183D7F6-B498-43B3-948B-1728B52AA6E4}">
                <adec:decorative xmlns:adec="http://schemas.microsoft.com/office/drawing/2017/decorative" val="1"/>
              </a:ext>
            </a:extLst>
          </p:cNvPr>
          <p:cNvGrpSpPr/>
          <p:nvPr/>
        </p:nvGrpSpPr>
        <p:grpSpPr>
          <a:xfrm>
            <a:off x="9844263" y="770716"/>
            <a:ext cx="1801919" cy="897460"/>
            <a:chOff x="677494" y="2279714"/>
            <a:chExt cx="3470966" cy="2581788"/>
          </a:xfrm>
        </p:grpSpPr>
        <p:sp>
          <p:nvSpPr>
            <p:cNvPr id="34" name="Rectangle: Rounded Corners 15">
              <a:extLst>
                <a:ext uri="{FF2B5EF4-FFF2-40B4-BE49-F238E27FC236}">
                  <a16:creationId xmlns:a16="http://schemas.microsoft.com/office/drawing/2014/main" id="{0EC27989-FE60-2BC4-287E-69AFD1FD4C69}"/>
                </a:ext>
              </a:extLst>
            </p:cNvPr>
            <p:cNvSpPr/>
            <p:nvPr/>
          </p:nvSpPr>
          <p:spPr bwMode="auto">
            <a:xfrm>
              <a:off x="702248" y="2279714"/>
              <a:ext cx="3446212" cy="1620672"/>
            </a:xfrm>
            <a:prstGeom prst="roundRect">
              <a:avLst>
                <a:gd name="adj" fmla="val 11494"/>
              </a:avLst>
            </a:prstGeom>
            <a:gradFill>
              <a:gsLst>
                <a:gs pos="0">
                  <a:schemeClr val="accent2">
                    <a:alpha val="64000"/>
                  </a:schemeClr>
                </a:gs>
                <a:gs pos="47000">
                  <a:schemeClr val="bg1"/>
                </a:gs>
              </a:gsLst>
              <a:lin ang="4200000" scaled="0"/>
            </a:gradFill>
            <a:ln w="12700" cap="flat" cmpd="sng" algn="ctr">
              <a:noFill/>
              <a:prstDash val="solid"/>
              <a:headEnd type="none" w="med" len="med"/>
              <a:tailEnd type="none" w="med" len="med"/>
            </a:ln>
            <a:effectLst/>
          </p:spPr>
          <p:txBody>
            <a:bodyPr rot="0" spcFirstLastPara="0" vertOverflow="overflow" horzOverflow="overflow" vert="horz" wrap="square" lIns="72000" tIns="180000" rIns="72000" bIns="14400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err="1">
                <a:ln>
                  <a:noFill/>
                </a:ln>
                <a:gradFill flip="none" rotWithShape="1">
                  <a:gsLst>
                    <a:gs pos="0">
                      <a:srgbClr val="50E6FF"/>
                    </a:gs>
                    <a:gs pos="100000">
                      <a:srgbClr val="D59DFF"/>
                    </a:gs>
                  </a:gsLst>
                  <a:lin ang="2700000" scaled="1"/>
                  <a:tileRect/>
                </a:gradFill>
                <a:effectLst/>
                <a:uLnTx/>
                <a:uFillTx/>
                <a:latin typeface="Segoe UI Semibold"/>
                <a:ea typeface="+mn-ea"/>
                <a:cs typeface="+mn-cs"/>
              </a:endParaRPr>
            </a:p>
          </p:txBody>
        </p:sp>
        <p:sp>
          <p:nvSpPr>
            <p:cNvPr id="35" name="Round Same Side Corner Rectangle 34">
              <a:extLst>
                <a:ext uri="{FF2B5EF4-FFF2-40B4-BE49-F238E27FC236}">
                  <a16:creationId xmlns:a16="http://schemas.microsoft.com/office/drawing/2014/main" id="{2F0D0BA9-7078-2A0D-DD1C-A1D127EDF0C7}"/>
                </a:ext>
              </a:extLst>
            </p:cNvPr>
            <p:cNvSpPr/>
            <p:nvPr/>
          </p:nvSpPr>
          <p:spPr bwMode="auto">
            <a:xfrm>
              <a:off x="677494" y="2279714"/>
              <a:ext cx="3438646" cy="2581788"/>
            </a:xfrm>
            <a:prstGeom prst="round2SameRect">
              <a:avLst>
                <a:gd name="adj1" fmla="val 9880"/>
                <a:gd name="adj2" fmla="val 0"/>
              </a:avLst>
            </a:prstGeom>
            <a:ln>
              <a:gradFill>
                <a:gsLst>
                  <a:gs pos="0">
                    <a:schemeClr val="accent1">
                      <a:alpha val="0"/>
                    </a:schemeClr>
                  </a:gs>
                  <a:gs pos="100000">
                    <a:schemeClr val="accent1"/>
                  </a:gs>
                </a:gsLst>
                <a:lin ang="162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grpSp>
      <p:pic>
        <p:nvPicPr>
          <p:cNvPr id="75" name="Picture 74">
            <a:extLst>
              <a:ext uri="{FF2B5EF4-FFF2-40B4-BE49-F238E27FC236}">
                <a16:creationId xmlns:a16="http://schemas.microsoft.com/office/drawing/2014/main" id="{792226E2-DE7B-15F0-9256-FF03BA8D245E}"/>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10603685" y="577006"/>
            <a:ext cx="278557" cy="387420"/>
          </a:xfrm>
          <a:prstGeom prst="rect">
            <a:avLst/>
          </a:prstGeom>
        </p:spPr>
      </p:pic>
      <p:grpSp>
        <p:nvGrpSpPr>
          <p:cNvPr id="27" name="Group 26">
            <a:extLst>
              <a:ext uri="{FF2B5EF4-FFF2-40B4-BE49-F238E27FC236}">
                <a16:creationId xmlns:a16="http://schemas.microsoft.com/office/drawing/2014/main" id="{BC12670D-359A-57B0-6C09-552BB04768FA}"/>
              </a:ext>
              <a:ext uri="{C183D7F6-B498-43B3-948B-1728B52AA6E4}">
                <adec:decorative xmlns:adec="http://schemas.microsoft.com/office/drawing/2017/decorative" val="1"/>
              </a:ext>
            </a:extLst>
          </p:cNvPr>
          <p:cNvGrpSpPr/>
          <p:nvPr/>
        </p:nvGrpSpPr>
        <p:grpSpPr>
          <a:xfrm>
            <a:off x="7366211" y="1253941"/>
            <a:ext cx="1789068" cy="897460"/>
            <a:chOff x="669933" y="2279714"/>
            <a:chExt cx="3446212" cy="2581788"/>
          </a:xfrm>
        </p:grpSpPr>
        <p:sp>
          <p:nvSpPr>
            <p:cNvPr id="28" name="Rectangle: Rounded Corners 15">
              <a:extLst>
                <a:ext uri="{FF2B5EF4-FFF2-40B4-BE49-F238E27FC236}">
                  <a16:creationId xmlns:a16="http://schemas.microsoft.com/office/drawing/2014/main" id="{1691E191-0E1B-3EAD-EB7B-3A0DADAC228F}"/>
                </a:ext>
              </a:extLst>
            </p:cNvPr>
            <p:cNvSpPr/>
            <p:nvPr/>
          </p:nvSpPr>
          <p:spPr bwMode="auto">
            <a:xfrm>
              <a:off x="669933" y="2279719"/>
              <a:ext cx="3446212" cy="1741927"/>
            </a:xfrm>
            <a:prstGeom prst="roundRect">
              <a:avLst>
                <a:gd name="adj" fmla="val 11494"/>
              </a:avLst>
            </a:prstGeom>
            <a:gradFill>
              <a:gsLst>
                <a:gs pos="0">
                  <a:schemeClr val="accent2">
                    <a:alpha val="64000"/>
                  </a:schemeClr>
                </a:gs>
                <a:gs pos="47000">
                  <a:schemeClr val="bg1"/>
                </a:gs>
              </a:gsLst>
              <a:lin ang="4200000" scaled="0"/>
            </a:gradFill>
            <a:ln w="12700" cap="flat" cmpd="sng" algn="ctr">
              <a:noFill/>
              <a:prstDash val="solid"/>
              <a:headEnd type="none" w="med" len="med"/>
              <a:tailEnd type="none" w="med" len="med"/>
            </a:ln>
            <a:effectLst/>
          </p:spPr>
          <p:txBody>
            <a:bodyPr rot="0" spcFirstLastPara="0" vertOverflow="overflow" horzOverflow="overflow" vert="horz" wrap="square" lIns="72000" tIns="180000" rIns="72000" bIns="14400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err="1">
                <a:ln>
                  <a:noFill/>
                </a:ln>
                <a:gradFill flip="none" rotWithShape="1">
                  <a:gsLst>
                    <a:gs pos="0">
                      <a:srgbClr val="50E6FF"/>
                    </a:gs>
                    <a:gs pos="100000">
                      <a:srgbClr val="D59DFF"/>
                    </a:gs>
                  </a:gsLst>
                  <a:lin ang="2700000" scaled="1"/>
                  <a:tileRect/>
                </a:gradFill>
                <a:effectLst/>
                <a:uLnTx/>
                <a:uFillTx/>
                <a:latin typeface="Segoe UI Semibold"/>
                <a:ea typeface="+mn-ea"/>
                <a:cs typeface="+mn-cs"/>
              </a:endParaRPr>
            </a:p>
          </p:txBody>
        </p:sp>
        <p:sp>
          <p:nvSpPr>
            <p:cNvPr id="29" name="Round Same Side Corner Rectangle 28">
              <a:extLst>
                <a:ext uri="{FF2B5EF4-FFF2-40B4-BE49-F238E27FC236}">
                  <a16:creationId xmlns:a16="http://schemas.microsoft.com/office/drawing/2014/main" id="{17423E85-2364-6460-A078-22600AC7F1E4}"/>
                </a:ext>
              </a:extLst>
            </p:cNvPr>
            <p:cNvSpPr/>
            <p:nvPr/>
          </p:nvSpPr>
          <p:spPr bwMode="auto">
            <a:xfrm>
              <a:off x="677494" y="2279714"/>
              <a:ext cx="3438646" cy="2581788"/>
            </a:xfrm>
            <a:prstGeom prst="round2SameRect">
              <a:avLst>
                <a:gd name="adj1" fmla="val 9880"/>
                <a:gd name="adj2" fmla="val 0"/>
              </a:avLst>
            </a:prstGeom>
            <a:ln>
              <a:gradFill>
                <a:gsLst>
                  <a:gs pos="0">
                    <a:schemeClr val="accent1">
                      <a:alpha val="0"/>
                    </a:schemeClr>
                  </a:gs>
                  <a:gs pos="100000">
                    <a:schemeClr val="accent1"/>
                  </a:gs>
                </a:gsLst>
                <a:lin ang="162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grpSp>
      <p:pic>
        <p:nvPicPr>
          <p:cNvPr id="70" name="Picture 69">
            <a:extLst>
              <a:ext uri="{FF2B5EF4-FFF2-40B4-BE49-F238E27FC236}">
                <a16:creationId xmlns:a16="http://schemas.microsoft.com/office/drawing/2014/main" id="{A555434A-25CE-2765-DE94-1F6C3AA21CB4}"/>
              </a:ext>
              <a:ext uri="{C183D7F6-B498-43B3-948B-1728B52AA6E4}">
                <adec:decorative xmlns:adec="http://schemas.microsoft.com/office/drawing/2017/decorative" val="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12151" y="1042213"/>
            <a:ext cx="365878" cy="365878"/>
          </a:xfrm>
          <a:prstGeom prst="rect">
            <a:avLst/>
          </a:prstGeom>
        </p:spPr>
      </p:pic>
      <p:sp>
        <p:nvSpPr>
          <p:cNvPr id="68" name="TextBox 67">
            <a:extLst>
              <a:ext uri="{FF2B5EF4-FFF2-40B4-BE49-F238E27FC236}">
                <a16:creationId xmlns:a16="http://schemas.microsoft.com/office/drawing/2014/main" id="{02138991-B9B1-A959-C9AE-A4C5AD1F7B7C}"/>
              </a:ext>
            </a:extLst>
          </p:cNvPr>
          <p:cNvSpPr txBox="1"/>
          <p:nvPr/>
        </p:nvSpPr>
        <p:spPr>
          <a:xfrm>
            <a:off x="7375669" y="1548979"/>
            <a:ext cx="1779607" cy="484748"/>
          </a:xfrm>
          <a:prstGeom prst="rect">
            <a:avLst/>
          </a:prstGeom>
          <a:noFill/>
        </p:spPr>
        <p:txBody>
          <a:bodyPr wrap="square" lIns="0" tIns="0" rIns="0" bIns="0" rtlCol="0" anchor="t">
            <a:spAutoFit/>
          </a:bodyPr>
          <a:lstStyle/>
          <a:p>
            <a:pPr algn="ctr"/>
            <a:r>
              <a:rPr lang="en-US" sz="1050">
                <a:solidFill>
                  <a:schemeClr val="accent1"/>
                </a:solidFill>
              </a:rPr>
              <a:t>Optimize cost savings, improve resilience and architecture</a:t>
            </a:r>
          </a:p>
        </p:txBody>
      </p:sp>
      <p:sp>
        <p:nvSpPr>
          <p:cNvPr id="74" name="TextBox 73">
            <a:extLst>
              <a:ext uri="{FF2B5EF4-FFF2-40B4-BE49-F238E27FC236}">
                <a16:creationId xmlns:a16="http://schemas.microsoft.com/office/drawing/2014/main" id="{F5B38350-100B-0B5D-1054-BE6B95342769}"/>
              </a:ext>
            </a:extLst>
          </p:cNvPr>
          <p:cNvSpPr txBox="1"/>
          <p:nvPr/>
        </p:nvSpPr>
        <p:spPr>
          <a:xfrm>
            <a:off x="9996339" y="1085569"/>
            <a:ext cx="1510617" cy="484748"/>
          </a:xfrm>
          <a:prstGeom prst="rect">
            <a:avLst/>
          </a:prstGeom>
          <a:noFill/>
        </p:spPr>
        <p:txBody>
          <a:bodyPr wrap="square" lIns="0" tIns="0" rIns="0" bIns="0" rtlCol="0">
            <a:spAutoFit/>
          </a:bodyPr>
          <a:lstStyle/>
          <a:p>
            <a:pPr algn="ctr"/>
            <a:r>
              <a:rPr lang="en-US" sz="1050" dirty="0">
                <a:solidFill>
                  <a:schemeClr val="accent1"/>
                </a:solidFill>
              </a:rPr>
              <a:t>Retire technical debt, invest in critical security, &amp; future-proof your apps</a:t>
            </a:r>
          </a:p>
        </p:txBody>
      </p:sp>
      <p:sp>
        <p:nvSpPr>
          <p:cNvPr id="37" name="TextBox 36">
            <a:extLst>
              <a:ext uri="{FF2B5EF4-FFF2-40B4-BE49-F238E27FC236}">
                <a16:creationId xmlns:a16="http://schemas.microsoft.com/office/drawing/2014/main" id="{A56C1716-5FC8-8017-D54D-63BF21E70282}"/>
              </a:ext>
            </a:extLst>
          </p:cNvPr>
          <p:cNvSpPr txBox="1"/>
          <p:nvPr/>
        </p:nvSpPr>
        <p:spPr>
          <a:xfrm>
            <a:off x="4503318" y="4155260"/>
            <a:ext cx="2560320" cy="276999"/>
          </a:xfrm>
          <a:prstGeom prst="rect">
            <a:avLst/>
          </a:prstGeom>
          <a:noFill/>
        </p:spPr>
        <p:txBody>
          <a:bodyPr wrap="square" lIns="0" tIns="0" rIns="0" bIns="0" rtlCol="0" anchor="ctr" anchorCtr="0">
            <a:spAutoFit/>
          </a:bodyPr>
          <a:lstStyle>
            <a:defPPr>
              <a:defRPr lang="en-US"/>
            </a:defPPr>
            <a:lvl1pPr marL="285750" marR="0" lvl="0" indent="-285750" fontAlgn="auto">
              <a:lnSpc>
                <a:spcPct val="100000"/>
              </a:lnSpc>
              <a:spcBef>
                <a:spcPts val="0"/>
              </a:spcBef>
              <a:spcAft>
                <a:spcPts val="0"/>
              </a:spcAft>
              <a:buClr>
                <a:srgbClr val="0078D4"/>
              </a:buClr>
              <a:buSzTx/>
              <a:buFont typeface="Arial" panose="020B0604020202020204" pitchFamily="34" charset="0"/>
              <a:buChar char="•"/>
              <a:tabLst/>
              <a:defRPr kumimoji="0" sz="1400" b="0" i="0" u="none" strike="noStrike" cap="none" spc="0" normalizeH="0" baseline="0">
                <a:ln>
                  <a:noFill/>
                </a:ln>
                <a:solidFill>
                  <a:prstClr val="white"/>
                </a:solidFill>
                <a:effectLst/>
                <a:uLnTx/>
                <a:uFillTx/>
                <a:latin typeface="Segoe Pro" panose="020B0502040504020203" pitchFamily="34" charset="0"/>
              </a:defRPr>
            </a:lvl1pPr>
            <a:lvl2pPr lvl="1">
              <a:defRPr>
                <a:solidFill>
                  <a:schemeClr val="bg1"/>
                </a:solidFill>
              </a:defRPr>
            </a:lvl2pPr>
          </a:lstStyle>
          <a:p>
            <a:pPr marL="0" marR="0" lvl="1"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a:ln>
                  <a:noFill/>
                </a:ln>
                <a:solidFill>
                  <a:srgbClr val="FFFFFF"/>
                </a:solidFill>
                <a:effectLst/>
                <a:uLnTx/>
                <a:uFillTx/>
                <a:latin typeface="Segoe UI Semibold"/>
                <a:ea typeface="+mn-ea"/>
                <a:cs typeface="+mn-cs"/>
              </a:rPr>
              <a:t>Migrate </a:t>
            </a:r>
            <a:r>
              <a:rPr kumimoji="0" lang="en-US" b="0" i="0" u="none" strike="noStrike" kern="1200" cap="none" spc="0" normalizeH="0" baseline="0" noProof="0">
                <a:ln>
                  <a:noFill/>
                </a:ln>
                <a:solidFill>
                  <a:srgbClr val="50E6FF"/>
                </a:solidFill>
                <a:effectLst/>
                <a:uLnTx/>
                <a:uFillTx/>
                <a:latin typeface="Segoe UI Semibold"/>
                <a:ea typeface="+mn-ea"/>
                <a:cs typeface="+mn-cs"/>
              </a:rPr>
              <a:t>and save</a:t>
            </a:r>
          </a:p>
        </p:txBody>
      </p:sp>
      <p:sp>
        <p:nvSpPr>
          <p:cNvPr id="38" name="TextBox 37">
            <a:extLst>
              <a:ext uri="{FF2B5EF4-FFF2-40B4-BE49-F238E27FC236}">
                <a16:creationId xmlns:a16="http://schemas.microsoft.com/office/drawing/2014/main" id="{EC3BC439-6346-29B8-B785-6BD2D5C9B7FE}"/>
              </a:ext>
            </a:extLst>
          </p:cNvPr>
          <p:cNvSpPr txBox="1"/>
          <p:nvPr/>
        </p:nvSpPr>
        <p:spPr>
          <a:xfrm>
            <a:off x="7044790" y="4155260"/>
            <a:ext cx="2560320" cy="276999"/>
          </a:xfrm>
          <a:prstGeom prst="rect">
            <a:avLst/>
          </a:prstGeom>
          <a:noFill/>
        </p:spPr>
        <p:txBody>
          <a:bodyPr wrap="square" lIns="0" tIns="0" rIns="0" bIns="0" rtlCol="0" anchor="ctr" anchorCtr="0">
            <a:spAutoFit/>
          </a:bodyPr>
          <a:lstStyle>
            <a:defPPr>
              <a:defRPr lang="en-US"/>
            </a:defPPr>
            <a:lvl1pPr marL="285750" marR="0" lvl="0" indent="-285750" fontAlgn="auto">
              <a:lnSpc>
                <a:spcPct val="100000"/>
              </a:lnSpc>
              <a:spcBef>
                <a:spcPts val="0"/>
              </a:spcBef>
              <a:spcAft>
                <a:spcPts val="0"/>
              </a:spcAft>
              <a:buClr>
                <a:srgbClr val="0078D4"/>
              </a:buClr>
              <a:buSzTx/>
              <a:buFont typeface="Arial" panose="020B0604020202020204" pitchFamily="34" charset="0"/>
              <a:buChar char="•"/>
              <a:tabLst/>
              <a:defRPr kumimoji="0" sz="1400" b="0" i="0" u="none" strike="noStrike" cap="none" spc="0" normalizeH="0" baseline="0">
                <a:ln>
                  <a:noFill/>
                </a:ln>
                <a:solidFill>
                  <a:prstClr val="white"/>
                </a:solidFill>
                <a:effectLst/>
                <a:uLnTx/>
                <a:uFillTx/>
                <a:latin typeface="Segoe Pro" panose="020B0502040504020203" pitchFamily="34" charset="0"/>
              </a:defRPr>
            </a:lvl1pPr>
            <a:lvl2pPr lvl="1">
              <a:defRPr>
                <a:solidFill>
                  <a:schemeClr val="bg1"/>
                </a:solidFill>
              </a:defRPr>
            </a:lvl2pPr>
          </a:lstStyle>
          <a:p>
            <a:pPr marL="0" marR="0" lvl="1"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a:ln>
                  <a:noFill/>
                </a:ln>
                <a:solidFill>
                  <a:srgbClr val="FFFFFF"/>
                </a:solidFill>
                <a:effectLst/>
                <a:uLnTx/>
                <a:uFillTx/>
                <a:latin typeface="Segoe UI Semibold"/>
                <a:ea typeface="+mn-ea"/>
                <a:cs typeface="+mn-cs"/>
              </a:rPr>
              <a:t>Optimize</a:t>
            </a:r>
            <a:r>
              <a:rPr kumimoji="0" lang="en-US" b="0" i="0" u="none" strike="noStrike" kern="1200" cap="none" spc="0" normalizeH="0" baseline="0" noProof="0">
                <a:ln>
                  <a:noFill/>
                </a:ln>
                <a:solidFill>
                  <a:srgbClr val="50E6FF"/>
                </a:solidFill>
                <a:effectLst/>
                <a:uLnTx/>
                <a:uFillTx/>
                <a:latin typeface="Segoe UI Semibold"/>
                <a:ea typeface="+mn-ea"/>
                <a:cs typeface="+mn-cs"/>
              </a:rPr>
              <a:t> cloud costs</a:t>
            </a:r>
            <a:endParaRPr kumimoji="0" lang="en-US" b="0" i="0" u="none" strike="noStrike" kern="1200" cap="none" spc="0" normalizeH="0" baseline="0" noProof="0">
              <a:ln>
                <a:noFill/>
              </a:ln>
              <a:solidFill>
                <a:srgbClr val="50E6FF"/>
              </a:solidFill>
              <a:effectLst/>
              <a:uLnTx/>
              <a:uFillTx/>
              <a:latin typeface="Segoe UI Semibold"/>
              <a:ea typeface="+mn-ea"/>
              <a:cs typeface="Segoe UI Semibold"/>
            </a:endParaRPr>
          </a:p>
        </p:txBody>
      </p:sp>
      <p:sp>
        <p:nvSpPr>
          <p:cNvPr id="39" name="TextBox 38">
            <a:extLst>
              <a:ext uri="{FF2B5EF4-FFF2-40B4-BE49-F238E27FC236}">
                <a16:creationId xmlns:a16="http://schemas.microsoft.com/office/drawing/2014/main" id="{E879FE78-BEE1-7796-A3C4-11C53821B92B}"/>
              </a:ext>
            </a:extLst>
          </p:cNvPr>
          <p:cNvSpPr txBox="1"/>
          <p:nvPr/>
        </p:nvSpPr>
        <p:spPr>
          <a:xfrm>
            <a:off x="9568103" y="4155260"/>
            <a:ext cx="2396036" cy="276999"/>
          </a:xfrm>
          <a:prstGeom prst="rect">
            <a:avLst/>
          </a:prstGeom>
          <a:noFill/>
        </p:spPr>
        <p:txBody>
          <a:bodyPr wrap="square" lIns="0" tIns="0" rIns="0" bIns="0" rtlCol="0" anchor="ctr" anchorCtr="0">
            <a:spAutoFit/>
          </a:bodyPr>
          <a:lstStyle>
            <a:defPPr>
              <a:defRPr lang="en-US"/>
            </a:defPPr>
            <a:lvl1pPr marL="285750" marR="0" lvl="0" indent="-285750" fontAlgn="auto">
              <a:lnSpc>
                <a:spcPct val="100000"/>
              </a:lnSpc>
              <a:spcBef>
                <a:spcPts val="0"/>
              </a:spcBef>
              <a:spcAft>
                <a:spcPts val="0"/>
              </a:spcAft>
              <a:buClr>
                <a:srgbClr val="0078D4"/>
              </a:buClr>
              <a:buSzTx/>
              <a:buFont typeface="Arial" panose="020B0604020202020204" pitchFamily="34" charset="0"/>
              <a:buChar char="•"/>
              <a:tabLst/>
              <a:defRPr kumimoji="0" sz="1400" b="0" i="0" u="none" strike="noStrike" cap="none" spc="0" normalizeH="0" baseline="0">
                <a:ln>
                  <a:noFill/>
                </a:ln>
                <a:solidFill>
                  <a:prstClr val="white"/>
                </a:solidFill>
                <a:effectLst/>
                <a:uLnTx/>
                <a:uFillTx/>
                <a:latin typeface="Segoe Pro" panose="020B0502040504020203" pitchFamily="34" charset="0"/>
              </a:defRPr>
            </a:lvl1pPr>
          </a:lstStyle>
          <a:p>
            <a:pPr marL="0" marR="0" lvl="1"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a:ln>
                  <a:noFill/>
                </a:ln>
                <a:solidFill>
                  <a:srgbClr val="FFFFFF"/>
                </a:solidFill>
                <a:effectLst/>
                <a:uLnTx/>
                <a:uFillTx/>
                <a:latin typeface="Segoe UI Semibold"/>
                <a:ea typeface="+mn-ea"/>
                <a:cs typeface="+mn-cs"/>
              </a:rPr>
              <a:t>Reinvest </a:t>
            </a:r>
            <a:r>
              <a:rPr kumimoji="0" lang="en-US" b="0" i="0" u="none" strike="noStrike" kern="1200" cap="none" spc="0" normalizeH="0" baseline="0" noProof="0">
                <a:ln>
                  <a:noFill/>
                </a:ln>
                <a:solidFill>
                  <a:srgbClr val="50E6FF"/>
                </a:solidFill>
                <a:effectLst/>
                <a:uLnTx/>
                <a:uFillTx/>
                <a:latin typeface="Segoe UI Semibold"/>
                <a:ea typeface="+mn-ea"/>
                <a:cs typeface="+mn-cs"/>
              </a:rPr>
              <a:t>to grow</a:t>
            </a:r>
            <a:endParaRPr kumimoji="0" lang="en-US" b="0" i="0" u="none" strike="noStrike" kern="1200" cap="none" spc="0" normalizeH="0" baseline="0" noProof="0">
              <a:ln>
                <a:noFill/>
              </a:ln>
              <a:solidFill>
                <a:srgbClr val="50E6FF"/>
              </a:solidFill>
              <a:effectLst/>
              <a:uLnTx/>
              <a:uFillTx/>
              <a:latin typeface="Segoe UI Semibold"/>
              <a:ea typeface="+mn-ea"/>
              <a:cs typeface="Segoe UI Semibold"/>
            </a:endParaRPr>
          </a:p>
        </p:txBody>
      </p:sp>
      <p:grpSp>
        <p:nvGrpSpPr>
          <p:cNvPr id="50" name="Group 49">
            <a:extLst>
              <a:ext uri="{FF2B5EF4-FFF2-40B4-BE49-F238E27FC236}">
                <a16:creationId xmlns:a16="http://schemas.microsoft.com/office/drawing/2014/main" id="{EFD3E0E4-B9DF-1103-6DA3-CC730BC4CFB3}"/>
              </a:ext>
              <a:ext uri="{C183D7F6-B498-43B3-948B-1728B52AA6E4}">
                <adec:decorative xmlns:adec="http://schemas.microsoft.com/office/drawing/2017/decorative" val="1"/>
              </a:ext>
            </a:extLst>
          </p:cNvPr>
          <p:cNvGrpSpPr/>
          <p:nvPr/>
        </p:nvGrpSpPr>
        <p:grpSpPr>
          <a:xfrm>
            <a:off x="4348346" y="1923250"/>
            <a:ext cx="1347839" cy="897460"/>
            <a:chOff x="677494" y="2279714"/>
            <a:chExt cx="3470966" cy="2581788"/>
          </a:xfrm>
        </p:grpSpPr>
        <p:sp>
          <p:nvSpPr>
            <p:cNvPr id="51" name="Rectangle: Rounded Corners 15">
              <a:extLst>
                <a:ext uri="{FF2B5EF4-FFF2-40B4-BE49-F238E27FC236}">
                  <a16:creationId xmlns:a16="http://schemas.microsoft.com/office/drawing/2014/main" id="{7A950F22-FE65-DB22-47F9-DF7FFCC359F9}"/>
                </a:ext>
              </a:extLst>
            </p:cNvPr>
            <p:cNvSpPr/>
            <p:nvPr/>
          </p:nvSpPr>
          <p:spPr bwMode="auto">
            <a:xfrm>
              <a:off x="702248" y="2279714"/>
              <a:ext cx="3446212" cy="1620672"/>
            </a:xfrm>
            <a:prstGeom prst="roundRect">
              <a:avLst>
                <a:gd name="adj" fmla="val 11494"/>
              </a:avLst>
            </a:prstGeom>
            <a:gradFill>
              <a:gsLst>
                <a:gs pos="0">
                  <a:schemeClr val="accent2">
                    <a:alpha val="64000"/>
                  </a:schemeClr>
                </a:gs>
                <a:gs pos="47000">
                  <a:schemeClr val="bg1"/>
                </a:gs>
              </a:gsLst>
              <a:lin ang="4200000" scaled="0"/>
            </a:gradFill>
            <a:ln w="12700" cap="flat" cmpd="sng" algn="ctr">
              <a:noFill/>
              <a:prstDash val="solid"/>
              <a:headEnd type="none" w="med" len="med"/>
              <a:tailEnd type="none" w="med" len="med"/>
            </a:ln>
            <a:effectLst/>
          </p:spPr>
          <p:txBody>
            <a:bodyPr rot="0" spcFirstLastPara="0" vertOverflow="overflow" horzOverflow="overflow" vert="horz" wrap="square" lIns="72000" tIns="180000" rIns="72000" bIns="14400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err="1">
                <a:ln>
                  <a:noFill/>
                </a:ln>
                <a:gradFill flip="none" rotWithShape="1">
                  <a:gsLst>
                    <a:gs pos="0">
                      <a:srgbClr val="50E6FF"/>
                    </a:gs>
                    <a:gs pos="100000">
                      <a:srgbClr val="D59DFF"/>
                    </a:gs>
                  </a:gsLst>
                  <a:lin ang="2700000" scaled="1"/>
                  <a:tileRect/>
                </a:gradFill>
                <a:effectLst/>
                <a:uLnTx/>
                <a:uFillTx/>
                <a:latin typeface="Segoe UI Semibold"/>
                <a:ea typeface="+mn-ea"/>
                <a:cs typeface="+mn-cs"/>
              </a:endParaRPr>
            </a:p>
          </p:txBody>
        </p:sp>
        <p:sp>
          <p:nvSpPr>
            <p:cNvPr id="52" name="Round Same Side Corner Rectangle 51">
              <a:extLst>
                <a:ext uri="{FF2B5EF4-FFF2-40B4-BE49-F238E27FC236}">
                  <a16:creationId xmlns:a16="http://schemas.microsoft.com/office/drawing/2014/main" id="{91A05A03-265F-5D50-CA2F-FAA7745B5A6C}"/>
                </a:ext>
              </a:extLst>
            </p:cNvPr>
            <p:cNvSpPr/>
            <p:nvPr/>
          </p:nvSpPr>
          <p:spPr bwMode="auto">
            <a:xfrm>
              <a:off x="677494" y="2279714"/>
              <a:ext cx="3438646" cy="2581788"/>
            </a:xfrm>
            <a:prstGeom prst="round2SameRect">
              <a:avLst>
                <a:gd name="adj1" fmla="val 9880"/>
                <a:gd name="adj2" fmla="val 0"/>
              </a:avLst>
            </a:prstGeom>
            <a:ln>
              <a:gradFill>
                <a:gsLst>
                  <a:gs pos="0">
                    <a:schemeClr val="accent1">
                      <a:alpha val="0"/>
                    </a:schemeClr>
                  </a:gs>
                  <a:gs pos="100000">
                    <a:schemeClr val="accent1"/>
                  </a:gs>
                </a:gsLst>
                <a:lin ang="162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grpSp>
      <p:pic>
        <p:nvPicPr>
          <p:cNvPr id="56" name="Picture 55">
            <a:extLst>
              <a:ext uri="{FF2B5EF4-FFF2-40B4-BE49-F238E27FC236}">
                <a16:creationId xmlns:a16="http://schemas.microsoft.com/office/drawing/2014/main" id="{B2278074-B19D-5B1D-7B96-2E9376FC4A67}"/>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4861369" y="1782970"/>
            <a:ext cx="321792" cy="321792"/>
          </a:xfrm>
          <a:prstGeom prst="rect">
            <a:avLst/>
          </a:prstGeom>
        </p:spPr>
      </p:pic>
      <p:sp>
        <p:nvSpPr>
          <p:cNvPr id="54" name="TextBox 53">
            <a:extLst>
              <a:ext uri="{FF2B5EF4-FFF2-40B4-BE49-F238E27FC236}">
                <a16:creationId xmlns:a16="http://schemas.microsoft.com/office/drawing/2014/main" id="{2246BD4E-B487-FE39-9A80-33A121DE5FB4}"/>
              </a:ext>
            </a:extLst>
          </p:cNvPr>
          <p:cNvSpPr txBox="1"/>
          <p:nvPr/>
        </p:nvSpPr>
        <p:spPr>
          <a:xfrm>
            <a:off x="4530617" y="2201998"/>
            <a:ext cx="983296" cy="484748"/>
          </a:xfrm>
          <a:prstGeom prst="rect">
            <a:avLst/>
          </a:prstGeom>
          <a:noFill/>
        </p:spPr>
        <p:txBody>
          <a:bodyPr wrap="square" lIns="0" tIns="0" rIns="0" bIns="0" rtlCol="0">
            <a:spAutoFit/>
          </a:bodyPr>
          <a:lstStyle/>
          <a:p>
            <a:pPr algn="ctr"/>
            <a:r>
              <a:rPr lang="en-US" sz="1050" dirty="0">
                <a:solidFill>
                  <a:schemeClr val="accent1"/>
                </a:solidFill>
              </a:rPr>
              <a:t>Flip CAPEX to OPEX, save vs on-premise</a:t>
            </a:r>
          </a:p>
        </p:txBody>
      </p:sp>
      <p:grpSp>
        <p:nvGrpSpPr>
          <p:cNvPr id="55" name="Group 54">
            <a:extLst>
              <a:ext uri="{FF2B5EF4-FFF2-40B4-BE49-F238E27FC236}">
                <a16:creationId xmlns:a16="http://schemas.microsoft.com/office/drawing/2014/main" id="{ECC0691F-A287-C5F7-77F4-14E0B9431E78}"/>
              </a:ext>
              <a:ext uri="{C183D7F6-B498-43B3-948B-1728B52AA6E4}">
                <adec:decorative xmlns:adec="http://schemas.microsoft.com/office/drawing/2017/decorative" val="1"/>
              </a:ext>
            </a:extLst>
          </p:cNvPr>
          <p:cNvGrpSpPr/>
          <p:nvPr/>
        </p:nvGrpSpPr>
        <p:grpSpPr>
          <a:xfrm>
            <a:off x="5185484" y="3033429"/>
            <a:ext cx="1078153" cy="1087010"/>
            <a:chOff x="5552912" y="787914"/>
            <a:chExt cx="1643240" cy="1656740"/>
          </a:xfrm>
        </p:grpSpPr>
        <p:pic>
          <p:nvPicPr>
            <p:cNvPr id="59" name="Picture 58">
              <a:extLst>
                <a:ext uri="{FF2B5EF4-FFF2-40B4-BE49-F238E27FC236}">
                  <a16:creationId xmlns:a16="http://schemas.microsoft.com/office/drawing/2014/main" id="{C51A36AA-C11D-C64B-1A28-90F08FAF0089}"/>
                </a:ext>
                <a:ext uri="{C183D7F6-B498-43B3-948B-1728B52AA6E4}">
                  <adec:decorative xmlns:adec="http://schemas.microsoft.com/office/drawing/2017/decorative" val="1"/>
                </a:ext>
              </a:extLst>
            </p:cNvPr>
            <p:cNvPicPr>
              <a:picLocks noChangeAspect="1"/>
            </p:cNvPicPr>
            <p:nvPr/>
          </p:nvPicPr>
          <p:blipFill rotWithShape="1">
            <a:blip r:embed="rId5">
              <a:clrChange>
                <a:clrFrom>
                  <a:srgbClr val="000000"/>
                </a:clrFrom>
                <a:clrTo>
                  <a:srgbClr val="000000">
                    <a:alpha val="0"/>
                  </a:srgbClr>
                </a:clrTo>
              </a:clrChange>
            </a:blip>
            <a:srcRect l="8542" t="-1724" r="3115" b="5016"/>
            <a:stretch/>
          </p:blipFill>
          <p:spPr>
            <a:xfrm>
              <a:off x="5552912" y="787914"/>
              <a:ext cx="1643240" cy="1656740"/>
            </a:xfrm>
            <a:prstGeom prst="rect">
              <a:avLst/>
            </a:prstGeom>
          </p:spPr>
        </p:pic>
        <p:pic>
          <p:nvPicPr>
            <p:cNvPr id="60" name="Picture 59">
              <a:extLst>
                <a:ext uri="{FF2B5EF4-FFF2-40B4-BE49-F238E27FC236}">
                  <a16:creationId xmlns:a16="http://schemas.microsoft.com/office/drawing/2014/main" id="{873826B3-B7E2-53DC-AFED-40C081185221}"/>
                </a:ext>
              </a:extLst>
            </p:cNvPr>
            <p:cNvPicPr>
              <a:picLocks noChangeAspect="1"/>
            </p:cNvPicPr>
            <p:nvPr/>
          </p:nvPicPr>
          <p:blipFill>
            <a:blip r:embed="rId6"/>
            <a:stretch>
              <a:fillRect/>
            </a:stretch>
          </p:blipFill>
          <p:spPr>
            <a:xfrm>
              <a:off x="6778500" y="2221295"/>
              <a:ext cx="209997" cy="209997"/>
            </a:xfrm>
            <a:prstGeom prst="rect">
              <a:avLst/>
            </a:prstGeom>
          </p:spPr>
        </p:pic>
      </p:grpSp>
      <p:grpSp>
        <p:nvGrpSpPr>
          <p:cNvPr id="65" name="Group 64">
            <a:extLst>
              <a:ext uri="{FF2B5EF4-FFF2-40B4-BE49-F238E27FC236}">
                <a16:creationId xmlns:a16="http://schemas.microsoft.com/office/drawing/2014/main" id="{B2430727-4FBE-4553-7EF6-9B4C4560F678}"/>
              </a:ext>
              <a:ext uri="{C183D7F6-B498-43B3-948B-1728B52AA6E4}">
                <adec:decorative xmlns:adec="http://schemas.microsoft.com/office/drawing/2017/decorative" val="1"/>
              </a:ext>
            </a:extLst>
          </p:cNvPr>
          <p:cNvGrpSpPr/>
          <p:nvPr/>
        </p:nvGrpSpPr>
        <p:grpSpPr>
          <a:xfrm>
            <a:off x="7677626" y="3272522"/>
            <a:ext cx="1294649" cy="841838"/>
            <a:chOff x="5418757" y="3066872"/>
            <a:chExt cx="1728338" cy="1123841"/>
          </a:xfrm>
        </p:grpSpPr>
        <p:pic>
          <p:nvPicPr>
            <p:cNvPr id="66" name="Picture 65">
              <a:extLst>
                <a:ext uri="{FF2B5EF4-FFF2-40B4-BE49-F238E27FC236}">
                  <a16:creationId xmlns:a16="http://schemas.microsoft.com/office/drawing/2014/main" id="{AA28A12D-3ADC-5118-4655-B1546F1317B6}"/>
                </a:ext>
              </a:extLst>
            </p:cNvPr>
            <p:cNvPicPr>
              <a:picLocks noChangeAspect="1"/>
            </p:cNvPicPr>
            <p:nvPr/>
          </p:nvPicPr>
          <p:blipFill>
            <a:blip r:embed="rId7"/>
            <a:srcRect/>
            <a:stretch/>
          </p:blipFill>
          <p:spPr>
            <a:xfrm>
              <a:off x="5418757" y="3479176"/>
              <a:ext cx="268309" cy="268309"/>
            </a:xfrm>
            <a:prstGeom prst="rect">
              <a:avLst/>
            </a:prstGeom>
          </p:spPr>
        </p:pic>
        <p:pic>
          <p:nvPicPr>
            <p:cNvPr id="67" name="Picture 66" descr="Icon&#10;&#10;Description automatically generated">
              <a:extLst>
                <a:ext uri="{FF2B5EF4-FFF2-40B4-BE49-F238E27FC236}">
                  <a16:creationId xmlns:a16="http://schemas.microsoft.com/office/drawing/2014/main" id="{752F0527-7687-E922-F438-A80893431F26}"/>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601969" y="3066872"/>
              <a:ext cx="1545126" cy="1123841"/>
            </a:xfrm>
            <a:prstGeom prst="rect">
              <a:avLst/>
            </a:prstGeom>
          </p:spPr>
        </p:pic>
      </p:grpSp>
      <p:grpSp>
        <p:nvGrpSpPr>
          <p:cNvPr id="69" name="Group 68">
            <a:extLst>
              <a:ext uri="{FF2B5EF4-FFF2-40B4-BE49-F238E27FC236}">
                <a16:creationId xmlns:a16="http://schemas.microsoft.com/office/drawing/2014/main" id="{8F3B6E01-719B-7C62-0B69-FD6ECC5CE2FC}"/>
              </a:ext>
              <a:ext uri="{C183D7F6-B498-43B3-948B-1728B52AA6E4}">
                <adec:decorative xmlns:adec="http://schemas.microsoft.com/office/drawing/2017/decorative" val="1"/>
              </a:ext>
            </a:extLst>
          </p:cNvPr>
          <p:cNvGrpSpPr/>
          <p:nvPr/>
        </p:nvGrpSpPr>
        <p:grpSpPr>
          <a:xfrm>
            <a:off x="10157380" y="3134784"/>
            <a:ext cx="1217482" cy="1045855"/>
            <a:chOff x="5454893" y="4836131"/>
            <a:chExt cx="1839279" cy="1579998"/>
          </a:xfrm>
        </p:grpSpPr>
        <p:pic>
          <p:nvPicPr>
            <p:cNvPr id="71" name="Graphic 70">
              <a:extLst>
                <a:ext uri="{FF2B5EF4-FFF2-40B4-BE49-F238E27FC236}">
                  <a16:creationId xmlns:a16="http://schemas.microsoft.com/office/drawing/2014/main" id="{8288245B-09F4-D7C0-47A7-E519DF8E5447}"/>
                </a:ext>
                <a:ext uri="{C183D7F6-B498-43B3-948B-1728B52AA6E4}">
                  <adec:decorative xmlns:adec="http://schemas.microsoft.com/office/drawing/2017/decorative" val="1"/>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454893" y="4836131"/>
              <a:ext cx="1839279" cy="1579998"/>
            </a:xfrm>
            <a:prstGeom prst="rect">
              <a:avLst/>
            </a:prstGeom>
          </p:spPr>
        </p:pic>
        <p:pic>
          <p:nvPicPr>
            <p:cNvPr id="72" name="Picture 71">
              <a:extLst>
                <a:ext uri="{FF2B5EF4-FFF2-40B4-BE49-F238E27FC236}">
                  <a16:creationId xmlns:a16="http://schemas.microsoft.com/office/drawing/2014/main" id="{F496D290-B779-5E15-A5DC-8CA10D2F49A4}"/>
                </a:ext>
              </a:extLst>
            </p:cNvPr>
            <p:cNvPicPr>
              <a:picLocks noChangeAspect="1"/>
            </p:cNvPicPr>
            <p:nvPr/>
          </p:nvPicPr>
          <p:blipFill>
            <a:blip r:embed="rId11"/>
            <a:stretch>
              <a:fillRect/>
            </a:stretch>
          </p:blipFill>
          <p:spPr>
            <a:xfrm>
              <a:off x="6829900" y="5733592"/>
              <a:ext cx="317195" cy="317195"/>
            </a:xfrm>
            <a:prstGeom prst="rect">
              <a:avLst/>
            </a:prstGeom>
          </p:spPr>
        </p:pic>
      </p:grpSp>
      <p:sp>
        <p:nvSpPr>
          <p:cNvPr id="73" name="Triangle 72">
            <a:extLst>
              <a:ext uri="{FF2B5EF4-FFF2-40B4-BE49-F238E27FC236}">
                <a16:creationId xmlns:a16="http://schemas.microsoft.com/office/drawing/2014/main" id="{D2AC0F02-6EB7-7A9A-093F-8DDE737E5C73}"/>
              </a:ext>
              <a:ext uri="{C183D7F6-B498-43B3-948B-1728B52AA6E4}">
                <adec:decorative xmlns:adec="http://schemas.microsoft.com/office/drawing/2017/decorative" val="1"/>
              </a:ext>
            </a:extLst>
          </p:cNvPr>
          <p:cNvSpPr/>
          <p:nvPr/>
        </p:nvSpPr>
        <p:spPr bwMode="auto">
          <a:xfrm rot="10800000">
            <a:off x="4844500" y="4771635"/>
            <a:ext cx="1760121" cy="369280"/>
          </a:xfrm>
          <a:prstGeom prst="triangle">
            <a:avLst/>
          </a:prstGeom>
          <a:gradFill flip="none" rotWithShape="1">
            <a:gsLst>
              <a:gs pos="100000">
                <a:schemeClr val="bg1">
                  <a:alpha val="0"/>
                </a:schemeClr>
              </a:gs>
              <a:gs pos="0">
                <a:schemeClr val="accent2"/>
              </a:gs>
            </a:gsLst>
            <a:lin ang="5400000" scaled="0"/>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sp>
        <p:nvSpPr>
          <p:cNvPr id="77" name="TextBox 76">
            <a:extLst>
              <a:ext uri="{FF2B5EF4-FFF2-40B4-BE49-F238E27FC236}">
                <a16:creationId xmlns:a16="http://schemas.microsoft.com/office/drawing/2014/main" id="{FF49D601-14EE-A5F3-0A97-385544462C34}"/>
              </a:ext>
            </a:extLst>
          </p:cNvPr>
          <p:cNvSpPr txBox="1"/>
          <p:nvPr/>
        </p:nvSpPr>
        <p:spPr>
          <a:xfrm>
            <a:off x="4844500" y="5481582"/>
            <a:ext cx="1760120" cy="338554"/>
          </a:xfrm>
          <a:prstGeom prst="rect">
            <a:avLst/>
          </a:prstGeom>
          <a:noFill/>
        </p:spPr>
        <p:txBody>
          <a:bodyPr wrap="square" lIns="0" tIns="0" rIns="0" bIns="0" rtlCol="0">
            <a:spAutoFit/>
          </a:bodyPr>
          <a:lstStyle/>
          <a:p>
            <a:pPr algn="ctr"/>
            <a:r>
              <a:rPr lang="en-US" sz="1100"/>
              <a:t>Migrate Infrastructure workloads to Azure</a:t>
            </a:r>
          </a:p>
        </p:txBody>
      </p:sp>
      <p:cxnSp>
        <p:nvCxnSpPr>
          <p:cNvPr id="78" name="Straight Connector 77">
            <a:extLst>
              <a:ext uri="{FF2B5EF4-FFF2-40B4-BE49-F238E27FC236}">
                <a16:creationId xmlns:a16="http://schemas.microsoft.com/office/drawing/2014/main" id="{9326AAB2-DA20-35CE-A818-238852A71F55}"/>
              </a:ext>
              <a:ext uri="{C183D7F6-B498-43B3-948B-1728B52AA6E4}">
                <adec:decorative xmlns:adec="http://schemas.microsoft.com/office/drawing/2017/decorative" val="1"/>
              </a:ext>
            </a:extLst>
          </p:cNvPr>
          <p:cNvCxnSpPr>
            <a:cxnSpLocks/>
          </p:cNvCxnSpPr>
          <p:nvPr/>
        </p:nvCxnSpPr>
        <p:spPr>
          <a:xfrm flipV="1">
            <a:off x="5724560" y="5206774"/>
            <a:ext cx="0" cy="254268"/>
          </a:xfrm>
          <a:prstGeom prst="line">
            <a:avLst/>
          </a:prstGeom>
          <a:ln>
            <a:gradFill>
              <a:gsLst>
                <a:gs pos="0">
                  <a:schemeClr val="accent1">
                    <a:alpha val="0"/>
                  </a:schemeClr>
                </a:gs>
                <a:gs pos="44000">
                  <a:schemeClr val="accent1"/>
                </a:gs>
                <a:gs pos="100000">
                  <a:schemeClr val="accent2"/>
                </a:gs>
              </a:gsLst>
              <a:lin ang="54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79" name="TextBox 78">
            <a:extLst>
              <a:ext uri="{FF2B5EF4-FFF2-40B4-BE49-F238E27FC236}">
                <a16:creationId xmlns:a16="http://schemas.microsoft.com/office/drawing/2014/main" id="{BD77663A-109C-D7F6-6E9A-25A320B0A529}"/>
              </a:ext>
            </a:extLst>
          </p:cNvPr>
          <p:cNvSpPr txBox="1"/>
          <p:nvPr/>
        </p:nvSpPr>
        <p:spPr>
          <a:xfrm>
            <a:off x="7044790" y="5481582"/>
            <a:ext cx="2560320" cy="169277"/>
          </a:xfrm>
          <a:prstGeom prst="rect">
            <a:avLst/>
          </a:prstGeom>
          <a:noFill/>
        </p:spPr>
        <p:txBody>
          <a:bodyPr wrap="square" lIns="0" tIns="0" rIns="0" bIns="0" rtlCol="0">
            <a:spAutoFit/>
          </a:bodyPr>
          <a:lstStyle/>
          <a:p>
            <a:pPr algn="ctr"/>
            <a:r>
              <a:rPr lang="en-US" sz="1100"/>
              <a:t>Enable Customer Success</a:t>
            </a:r>
          </a:p>
        </p:txBody>
      </p:sp>
      <p:sp>
        <p:nvSpPr>
          <p:cNvPr id="80" name="Triangle 79">
            <a:extLst>
              <a:ext uri="{FF2B5EF4-FFF2-40B4-BE49-F238E27FC236}">
                <a16:creationId xmlns:a16="http://schemas.microsoft.com/office/drawing/2014/main" id="{986DD0D2-9871-E247-2B6E-B116852536E8}"/>
              </a:ext>
              <a:ext uri="{C183D7F6-B498-43B3-948B-1728B52AA6E4}">
                <adec:decorative xmlns:adec="http://schemas.microsoft.com/office/drawing/2017/decorative" val="1"/>
              </a:ext>
            </a:extLst>
          </p:cNvPr>
          <p:cNvSpPr/>
          <p:nvPr/>
        </p:nvSpPr>
        <p:spPr bwMode="auto">
          <a:xfrm rot="10800000">
            <a:off x="7444890" y="4771635"/>
            <a:ext cx="1760121" cy="369280"/>
          </a:xfrm>
          <a:prstGeom prst="triangle">
            <a:avLst/>
          </a:prstGeom>
          <a:gradFill flip="none" rotWithShape="1">
            <a:gsLst>
              <a:gs pos="100000">
                <a:schemeClr val="bg1">
                  <a:alpha val="0"/>
                </a:schemeClr>
              </a:gs>
              <a:gs pos="0">
                <a:schemeClr val="accent2"/>
              </a:gs>
            </a:gsLst>
            <a:lin ang="5400000" scaled="0"/>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cxnSp>
        <p:nvCxnSpPr>
          <p:cNvPr id="86" name="Straight Connector 85">
            <a:extLst>
              <a:ext uri="{FF2B5EF4-FFF2-40B4-BE49-F238E27FC236}">
                <a16:creationId xmlns:a16="http://schemas.microsoft.com/office/drawing/2014/main" id="{A4F3EEDA-3DA0-994B-85BA-260CD1CAF39F}"/>
              </a:ext>
              <a:ext uri="{C183D7F6-B498-43B3-948B-1728B52AA6E4}">
                <adec:decorative xmlns:adec="http://schemas.microsoft.com/office/drawing/2017/decorative" val="1"/>
              </a:ext>
            </a:extLst>
          </p:cNvPr>
          <p:cNvCxnSpPr>
            <a:cxnSpLocks/>
          </p:cNvCxnSpPr>
          <p:nvPr/>
        </p:nvCxnSpPr>
        <p:spPr>
          <a:xfrm flipV="1">
            <a:off x="8324950" y="5206774"/>
            <a:ext cx="0" cy="254268"/>
          </a:xfrm>
          <a:prstGeom prst="line">
            <a:avLst/>
          </a:prstGeom>
          <a:ln>
            <a:gradFill>
              <a:gsLst>
                <a:gs pos="0">
                  <a:schemeClr val="accent1">
                    <a:alpha val="0"/>
                  </a:schemeClr>
                </a:gs>
                <a:gs pos="44000">
                  <a:schemeClr val="accent1"/>
                </a:gs>
                <a:gs pos="100000">
                  <a:schemeClr val="accent2"/>
                </a:gs>
              </a:gsLst>
              <a:lin ang="54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87" name="TextBox 86">
            <a:extLst>
              <a:ext uri="{FF2B5EF4-FFF2-40B4-BE49-F238E27FC236}">
                <a16:creationId xmlns:a16="http://schemas.microsoft.com/office/drawing/2014/main" id="{6AEDA257-5C40-D97A-265E-95BD2FF524B7}"/>
              </a:ext>
            </a:extLst>
          </p:cNvPr>
          <p:cNvSpPr txBox="1"/>
          <p:nvPr/>
        </p:nvSpPr>
        <p:spPr>
          <a:xfrm>
            <a:off x="9451682" y="5489321"/>
            <a:ext cx="2628878" cy="169277"/>
          </a:xfrm>
          <a:prstGeom prst="rect">
            <a:avLst/>
          </a:prstGeom>
          <a:noFill/>
        </p:spPr>
        <p:txBody>
          <a:bodyPr wrap="square" lIns="0" tIns="0" rIns="0" bIns="0" rtlCol="0">
            <a:spAutoFit/>
          </a:bodyPr>
          <a:lstStyle/>
          <a:p>
            <a:pPr algn="ctr"/>
            <a:r>
              <a:rPr lang="en-US" sz="1100"/>
              <a:t>Business Continuity &amp; Disaster Recovery</a:t>
            </a:r>
          </a:p>
        </p:txBody>
      </p:sp>
      <p:sp>
        <p:nvSpPr>
          <p:cNvPr id="88" name="TextBox 87">
            <a:extLst>
              <a:ext uri="{FF2B5EF4-FFF2-40B4-BE49-F238E27FC236}">
                <a16:creationId xmlns:a16="http://schemas.microsoft.com/office/drawing/2014/main" id="{3ADB7121-975F-9B0C-E482-D7E2169835EE}"/>
              </a:ext>
            </a:extLst>
          </p:cNvPr>
          <p:cNvSpPr txBox="1"/>
          <p:nvPr/>
        </p:nvSpPr>
        <p:spPr>
          <a:xfrm>
            <a:off x="9666884" y="5751290"/>
            <a:ext cx="2231685" cy="169277"/>
          </a:xfrm>
          <a:prstGeom prst="rect">
            <a:avLst/>
          </a:prstGeom>
          <a:noFill/>
        </p:spPr>
        <p:txBody>
          <a:bodyPr wrap="square" lIns="0" tIns="0" rIns="0" bIns="0" rtlCol="0">
            <a:spAutoFit/>
          </a:bodyPr>
          <a:lstStyle/>
          <a:p>
            <a:pPr algn="ctr"/>
            <a:r>
              <a:rPr lang="en-US" sz="1100"/>
              <a:t>Modernize Enterprise Applications</a:t>
            </a:r>
          </a:p>
        </p:txBody>
      </p:sp>
      <p:sp>
        <p:nvSpPr>
          <p:cNvPr id="89" name="TextBox 88">
            <a:extLst>
              <a:ext uri="{FF2B5EF4-FFF2-40B4-BE49-F238E27FC236}">
                <a16:creationId xmlns:a16="http://schemas.microsoft.com/office/drawing/2014/main" id="{15C93B31-34BD-6B54-9527-B005A477F3BE}"/>
              </a:ext>
            </a:extLst>
          </p:cNvPr>
          <p:cNvSpPr txBox="1"/>
          <p:nvPr/>
        </p:nvSpPr>
        <p:spPr>
          <a:xfrm>
            <a:off x="9581789" y="6002910"/>
            <a:ext cx="2368665" cy="169277"/>
          </a:xfrm>
          <a:prstGeom prst="rect">
            <a:avLst/>
          </a:prstGeom>
          <a:noFill/>
        </p:spPr>
        <p:txBody>
          <a:bodyPr wrap="square" lIns="0" tIns="0" rIns="0" bIns="0" rtlCol="0">
            <a:spAutoFit/>
          </a:bodyPr>
          <a:lstStyle/>
          <a:p>
            <a:pPr algn="ctr"/>
            <a:r>
              <a:rPr lang="en-US" sz="1100"/>
              <a:t>Microsoft Intelligent Data Platform</a:t>
            </a:r>
          </a:p>
        </p:txBody>
      </p:sp>
      <p:sp>
        <p:nvSpPr>
          <p:cNvPr id="90" name="Triangle 89">
            <a:extLst>
              <a:ext uri="{FF2B5EF4-FFF2-40B4-BE49-F238E27FC236}">
                <a16:creationId xmlns:a16="http://schemas.microsoft.com/office/drawing/2014/main" id="{A3E5B532-E2EF-912C-37A0-F2D6C89A389B}"/>
              </a:ext>
              <a:ext uri="{C183D7F6-B498-43B3-948B-1728B52AA6E4}">
                <adec:decorative xmlns:adec="http://schemas.microsoft.com/office/drawing/2017/decorative" val="1"/>
              </a:ext>
            </a:extLst>
          </p:cNvPr>
          <p:cNvSpPr/>
          <p:nvPr/>
        </p:nvSpPr>
        <p:spPr bwMode="auto">
          <a:xfrm rot="10800000">
            <a:off x="9886061" y="4757976"/>
            <a:ext cx="1760121" cy="369280"/>
          </a:xfrm>
          <a:prstGeom prst="triangle">
            <a:avLst/>
          </a:prstGeom>
          <a:gradFill flip="none" rotWithShape="1">
            <a:gsLst>
              <a:gs pos="100000">
                <a:schemeClr val="bg1">
                  <a:alpha val="0"/>
                </a:schemeClr>
              </a:gs>
              <a:gs pos="0">
                <a:schemeClr val="accent2"/>
              </a:gs>
            </a:gsLst>
            <a:lin ang="5400000" scaled="0"/>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cxnSp>
        <p:nvCxnSpPr>
          <p:cNvPr id="91" name="Straight Connector 90">
            <a:extLst>
              <a:ext uri="{FF2B5EF4-FFF2-40B4-BE49-F238E27FC236}">
                <a16:creationId xmlns:a16="http://schemas.microsoft.com/office/drawing/2014/main" id="{4BA85535-1E8D-4C66-EDF4-B454B38863BA}"/>
              </a:ext>
              <a:ext uri="{C183D7F6-B498-43B3-948B-1728B52AA6E4}">
                <adec:decorative xmlns:adec="http://schemas.microsoft.com/office/drawing/2017/decorative" val="1"/>
              </a:ext>
            </a:extLst>
          </p:cNvPr>
          <p:cNvCxnSpPr>
            <a:cxnSpLocks/>
          </p:cNvCxnSpPr>
          <p:nvPr/>
        </p:nvCxnSpPr>
        <p:spPr>
          <a:xfrm flipV="1">
            <a:off x="10766121" y="5193115"/>
            <a:ext cx="0" cy="254268"/>
          </a:xfrm>
          <a:prstGeom prst="line">
            <a:avLst/>
          </a:prstGeom>
          <a:ln>
            <a:gradFill>
              <a:gsLst>
                <a:gs pos="0">
                  <a:schemeClr val="accent1">
                    <a:alpha val="0"/>
                  </a:schemeClr>
                </a:gs>
                <a:gs pos="44000">
                  <a:schemeClr val="accent1"/>
                </a:gs>
                <a:gs pos="100000">
                  <a:schemeClr val="accent2"/>
                </a:gs>
              </a:gsLst>
              <a:lin ang="54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07" name="Triangle 106">
            <a:extLst>
              <a:ext uri="{FF2B5EF4-FFF2-40B4-BE49-F238E27FC236}">
                <a16:creationId xmlns:a16="http://schemas.microsoft.com/office/drawing/2014/main" id="{D356439A-9546-697C-7288-DE10845E89C4}"/>
              </a:ext>
              <a:ext uri="{C183D7F6-B498-43B3-948B-1728B52AA6E4}">
                <adec:decorative xmlns:adec="http://schemas.microsoft.com/office/drawing/2017/decorative" val="1"/>
              </a:ext>
            </a:extLst>
          </p:cNvPr>
          <p:cNvSpPr/>
          <p:nvPr/>
        </p:nvSpPr>
        <p:spPr bwMode="auto">
          <a:xfrm rot="10800000" flipV="1">
            <a:off x="4844500" y="2729891"/>
            <a:ext cx="1760121" cy="369280"/>
          </a:xfrm>
          <a:prstGeom prst="triangle">
            <a:avLst/>
          </a:prstGeom>
          <a:gradFill flip="none" rotWithShape="1">
            <a:gsLst>
              <a:gs pos="100000">
                <a:schemeClr val="bg1">
                  <a:alpha val="0"/>
                </a:schemeClr>
              </a:gs>
              <a:gs pos="0">
                <a:schemeClr val="accent2"/>
              </a:gs>
            </a:gsLst>
            <a:lin ang="5400000" scaled="0"/>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sp>
        <p:nvSpPr>
          <p:cNvPr id="108" name="Triangle 107">
            <a:extLst>
              <a:ext uri="{FF2B5EF4-FFF2-40B4-BE49-F238E27FC236}">
                <a16:creationId xmlns:a16="http://schemas.microsoft.com/office/drawing/2014/main" id="{808A6274-C554-F559-E868-FD309E9F92BA}"/>
              </a:ext>
              <a:ext uri="{C183D7F6-B498-43B3-948B-1728B52AA6E4}">
                <adec:decorative xmlns:adec="http://schemas.microsoft.com/office/drawing/2017/decorative" val="1"/>
              </a:ext>
            </a:extLst>
          </p:cNvPr>
          <p:cNvSpPr/>
          <p:nvPr/>
        </p:nvSpPr>
        <p:spPr bwMode="auto">
          <a:xfrm rot="10800000" flipV="1">
            <a:off x="7444890" y="2729891"/>
            <a:ext cx="1760121" cy="369280"/>
          </a:xfrm>
          <a:prstGeom prst="triangle">
            <a:avLst/>
          </a:prstGeom>
          <a:gradFill flip="none" rotWithShape="1">
            <a:gsLst>
              <a:gs pos="100000">
                <a:schemeClr val="bg1">
                  <a:alpha val="0"/>
                </a:schemeClr>
              </a:gs>
              <a:gs pos="0">
                <a:schemeClr val="accent2"/>
              </a:gs>
            </a:gsLst>
            <a:lin ang="5400000" scaled="0"/>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sp>
        <p:nvSpPr>
          <p:cNvPr id="109" name="Triangle 108">
            <a:extLst>
              <a:ext uri="{FF2B5EF4-FFF2-40B4-BE49-F238E27FC236}">
                <a16:creationId xmlns:a16="http://schemas.microsoft.com/office/drawing/2014/main" id="{80D7E46B-C37D-1D0E-9DC0-9F80F9B5C2FE}"/>
              </a:ext>
              <a:ext uri="{C183D7F6-B498-43B3-948B-1728B52AA6E4}">
                <adec:decorative xmlns:adec="http://schemas.microsoft.com/office/drawing/2017/decorative" val="1"/>
              </a:ext>
            </a:extLst>
          </p:cNvPr>
          <p:cNvSpPr/>
          <p:nvPr/>
        </p:nvSpPr>
        <p:spPr bwMode="auto">
          <a:xfrm rot="10800000" flipV="1">
            <a:off x="9886061" y="2716232"/>
            <a:ext cx="1760121" cy="369280"/>
          </a:xfrm>
          <a:prstGeom prst="triangle">
            <a:avLst/>
          </a:prstGeom>
          <a:gradFill flip="none" rotWithShape="1">
            <a:gsLst>
              <a:gs pos="100000">
                <a:schemeClr val="bg1">
                  <a:alpha val="0"/>
                </a:schemeClr>
              </a:gs>
              <a:gs pos="0">
                <a:schemeClr val="accent2"/>
              </a:gs>
            </a:gsLst>
            <a:lin ang="5400000" scaled="0"/>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grpSp>
        <p:nvGrpSpPr>
          <p:cNvPr id="2" name="Group 1">
            <a:extLst>
              <a:ext uri="{FF2B5EF4-FFF2-40B4-BE49-F238E27FC236}">
                <a16:creationId xmlns:a16="http://schemas.microsoft.com/office/drawing/2014/main" id="{B90723C2-CED6-C443-DE4B-C1A1A5986311}"/>
              </a:ext>
              <a:ext uri="{C183D7F6-B498-43B3-948B-1728B52AA6E4}">
                <adec:decorative xmlns:adec="http://schemas.microsoft.com/office/drawing/2017/decorative" val="1"/>
              </a:ext>
            </a:extLst>
          </p:cNvPr>
          <p:cNvGrpSpPr/>
          <p:nvPr/>
        </p:nvGrpSpPr>
        <p:grpSpPr>
          <a:xfrm>
            <a:off x="5686574" y="1670736"/>
            <a:ext cx="1347839" cy="897460"/>
            <a:chOff x="677494" y="2279714"/>
            <a:chExt cx="3470966" cy="2581788"/>
          </a:xfrm>
        </p:grpSpPr>
        <p:sp>
          <p:nvSpPr>
            <p:cNvPr id="3" name="Rectangle: Rounded Corners 15">
              <a:extLst>
                <a:ext uri="{FF2B5EF4-FFF2-40B4-BE49-F238E27FC236}">
                  <a16:creationId xmlns:a16="http://schemas.microsoft.com/office/drawing/2014/main" id="{61200C34-95D9-ECFA-BF97-CAE97A0C94CA}"/>
                </a:ext>
              </a:extLst>
            </p:cNvPr>
            <p:cNvSpPr/>
            <p:nvPr/>
          </p:nvSpPr>
          <p:spPr bwMode="auto">
            <a:xfrm>
              <a:off x="702248" y="2279714"/>
              <a:ext cx="3446212" cy="1620672"/>
            </a:xfrm>
            <a:prstGeom prst="roundRect">
              <a:avLst>
                <a:gd name="adj" fmla="val 11494"/>
              </a:avLst>
            </a:prstGeom>
            <a:gradFill>
              <a:gsLst>
                <a:gs pos="0">
                  <a:schemeClr val="accent2">
                    <a:alpha val="64000"/>
                  </a:schemeClr>
                </a:gs>
                <a:gs pos="47000">
                  <a:schemeClr val="bg1"/>
                </a:gs>
              </a:gsLst>
              <a:lin ang="4200000" scaled="0"/>
            </a:gradFill>
            <a:ln w="12700" cap="flat" cmpd="sng" algn="ctr">
              <a:noFill/>
              <a:prstDash val="solid"/>
              <a:headEnd type="none" w="med" len="med"/>
              <a:tailEnd type="none" w="med" len="med"/>
            </a:ln>
            <a:effectLst/>
          </p:spPr>
          <p:txBody>
            <a:bodyPr rot="0" spcFirstLastPara="0" vertOverflow="overflow" horzOverflow="overflow" vert="horz" wrap="square" lIns="72000" tIns="180000" rIns="72000" bIns="14400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err="1">
                <a:ln>
                  <a:noFill/>
                </a:ln>
                <a:gradFill flip="none" rotWithShape="1">
                  <a:gsLst>
                    <a:gs pos="0">
                      <a:srgbClr val="50E6FF"/>
                    </a:gs>
                    <a:gs pos="100000">
                      <a:srgbClr val="D59DFF"/>
                    </a:gs>
                  </a:gsLst>
                  <a:lin ang="2700000" scaled="1"/>
                  <a:tileRect/>
                </a:gradFill>
                <a:effectLst/>
                <a:uLnTx/>
                <a:uFillTx/>
                <a:latin typeface="Segoe UI Semibold"/>
                <a:ea typeface="+mn-ea"/>
                <a:cs typeface="+mn-cs"/>
              </a:endParaRPr>
            </a:p>
          </p:txBody>
        </p:sp>
        <p:sp>
          <p:nvSpPr>
            <p:cNvPr id="4" name="Round Same Side Corner Rectangle 3">
              <a:extLst>
                <a:ext uri="{FF2B5EF4-FFF2-40B4-BE49-F238E27FC236}">
                  <a16:creationId xmlns:a16="http://schemas.microsoft.com/office/drawing/2014/main" id="{31C47702-EF78-DB37-18C2-4CD88384FE1A}"/>
                </a:ext>
              </a:extLst>
            </p:cNvPr>
            <p:cNvSpPr/>
            <p:nvPr/>
          </p:nvSpPr>
          <p:spPr bwMode="auto">
            <a:xfrm>
              <a:off x="677494" y="2279714"/>
              <a:ext cx="3438646" cy="2581788"/>
            </a:xfrm>
            <a:prstGeom prst="round2SameRect">
              <a:avLst>
                <a:gd name="adj1" fmla="val 9880"/>
                <a:gd name="adj2" fmla="val 0"/>
              </a:avLst>
            </a:prstGeom>
            <a:ln>
              <a:gradFill>
                <a:gsLst>
                  <a:gs pos="0">
                    <a:schemeClr val="accent1">
                      <a:alpha val="0"/>
                    </a:schemeClr>
                  </a:gs>
                  <a:gs pos="100000">
                    <a:schemeClr val="accent1"/>
                  </a:gs>
                </a:gsLst>
                <a:lin ang="162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grpSp>
      <p:sp>
        <p:nvSpPr>
          <p:cNvPr id="6" name="TextBox 5">
            <a:extLst>
              <a:ext uri="{FF2B5EF4-FFF2-40B4-BE49-F238E27FC236}">
                <a16:creationId xmlns:a16="http://schemas.microsoft.com/office/drawing/2014/main" id="{8159BAF6-5F06-263E-49DB-D50A212A55EB}"/>
              </a:ext>
            </a:extLst>
          </p:cNvPr>
          <p:cNvSpPr txBox="1"/>
          <p:nvPr/>
        </p:nvSpPr>
        <p:spPr>
          <a:xfrm>
            <a:off x="5788670" y="1949484"/>
            <a:ext cx="1153018" cy="484748"/>
          </a:xfrm>
          <a:prstGeom prst="rect">
            <a:avLst/>
          </a:prstGeom>
          <a:noFill/>
        </p:spPr>
        <p:txBody>
          <a:bodyPr wrap="square" lIns="0" tIns="0" rIns="0" bIns="0" rtlCol="0">
            <a:spAutoFit/>
          </a:bodyPr>
          <a:lstStyle/>
          <a:p>
            <a:pPr algn="ctr"/>
            <a:r>
              <a:rPr lang="en-US" sz="1050" dirty="0">
                <a:solidFill>
                  <a:schemeClr val="accent1"/>
                </a:solidFill>
              </a:rPr>
              <a:t>Scale seamlessly to meet demand as needed</a:t>
            </a:r>
          </a:p>
        </p:txBody>
      </p:sp>
      <p:pic>
        <p:nvPicPr>
          <p:cNvPr id="62" name="Picture 61">
            <a:extLst>
              <a:ext uri="{FF2B5EF4-FFF2-40B4-BE49-F238E27FC236}">
                <a16:creationId xmlns:a16="http://schemas.microsoft.com/office/drawing/2014/main" id="{3ED46265-BD3C-64BC-2EE2-60F3A3186625}"/>
              </a:ext>
              <a:ext uri="{C183D7F6-B498-43B3-948B-1728B52AA6E4}">
                <adec:decorative xmlns:adec="http://schemas.microsoft.com/office/drawing/2017/decorative" val="1"/>
              </a:ext>
            </a:extLst>
          </p:cNvPr>
          <p:cNvPicPr>
            <a:picLocks noChangeAspect="1"/>
          </p:cNvPicPr>
          <p:nvPr/>
        </p:nvPicPr>
        <p:blipFill>
          <a:blip r:embed="rId12"/>
          <a:stretch>
            <a:fillRect/>
          </a:stretch>
        </p:blipFill>
        <p:spPr>
          <a:xfrm>
            <a:off x="6234583" y="1580309"/>
            <a:ext cx="239270" cy="239270"/>
          </a:xfrm>
          <a:prstGeom prst="rect">
            <a:avLst/>
          </a:prstGeom>
        </p:spPr>
      </p:pic>
    </p:spTree>
    <p:extLst>
      <p:ext uri="{BB962C8B-B14F-4D97-AF65-F5344CB8AC3E}">
        <p14:creationId xmlns:p14="http://schemas.microsoft.com/office/powerpoint/2010/main" val="3871790745"/>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Oval 15">
            <a:extLst>
              <a:ext uri="{FF2B5EF4-FFF2-40B4-BE49-F238E27FC236}">
                <a16:creationId xmlns:a16="http://schemas.microsoft.com/office/drawing/2014/main" id="{C7AD3CEB-230D-4785-30DC-0F92B7901FDA}"/>
              </a:ext>
              <a:ext uri="{C183D7F6-B498-43B3-948B-1728B52AA6E4}">
                <adec:decorative xmlns:adec="http://schemas.microsoft.com/office/drawing/2017/decorative" val="1"/>
              </a:ext>
            </a:extLst>
          </p:cNvPr>
          <p:cNvSpPr/>
          <p:nvPr/>
        </p:nvSpPr>
        <p:spPr bwMode="auto">
          <a:xfrm>
            <a:off x="7121986" y="1856512"/>
            <a:ext cx="3740314" cy="4367197"/>
          </a:xfrm>
          <a:prstGeom prst="ellipse">
            <a:avLst/>
          </a:prstGeom>
          <a:gradFill flip="none" rotWithShape="1">
            <a:gsLst>
              <a:gs pos="0">
                <a:schemeClr val="bg2"/>
              </a:gs>
              <a:gs pos="58000">
                <a:schemeClr val="bg1">
                  <a:alpha val="0"/>
                </a:schemeClr>
              </a:gs>
            </a:gsLst>
            <a:path path="circle">
              <a:fillToRect l="50000" t="50000" r="50000" b="50000"/>
            </a:path>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Segoe UI"/>
              <a:ea typeface="Segoe UI" pitchFamily="34" charset="0"/>
              <a:cs typeface="Segoe UI" pitchFamily="34" charset="0"/>
            </a:endParaRPr>
          </a:p>
        </p:txBody>
      </p:sp>
      <p:sp>
        <p:nvSpPr>
          <p:cNvPr id="17" name="Oval 16">
            <a:extLst>
              <a:ext uri="{FF2B5EF4-FFF2-40B4-BE49-F238E27FC236}">
                <a16:creationId xmlns:a16="http://schemas.microsoft.com/office/drawing/2014/main" id="{2F9EAB11-AC8D-0E8D-04F0-F73147A01EE5}"/>
              </a:ext>
              <a:ext uri="{C183D7F6-B498-43B3-948B-1728B52AA6E4}">
                <adec:decorative xmlns:adec="http://schemas.microsoft.com/office/drawing/2017/decorative" val="1"/>
              </a:ext>
            </a:extLst>
          </p:cNvPr>
          <p:cNvSpPr/>
          <p:nvPr/>
        </p:nvSpPr>
        <p:spPr bwMode="auto">
          <a:xfrm>
            <a:off x="4339457" y="1856512"/>
            <a:ext cx="3740314" cy="4367197"/>
          </a:xfrm>
          <a:prstGeom prst="ellipse">
            <a:avLst/>
          </a:prstGeom>
          <a:gradFill flip="none" rotWithShape="1">
            <a:gsLst>
              <a:gs pos="0">
                <a:schemeClr val="bg2"/>
              </a:gs>
              <a:gs pos="58000">
                <a:schemeClr val="bg1">
                  <a:alpha val="0"/>
                </a:schemeClr>
              </a:gs>
            </a:gsLst>
            <a:path path="circle">
              <a:fillToRect l="50000" t="50000" r="50000" b="50000"/>
            </a:path>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Segoe UI"/>
              <a:ea typeface="Segoe UI" pitchFamily="34" charset="0"/>
              <a:cs typeface="Segoe UI" pitchFamily="34" charset="0"/>
            </a:endParaRPr>
          </a:p>
        </p:txBody>
      </p:sp>
      <p:sp>
        <p:nvSpPr>
          <p:cNvPr id="18" name="Oval 17">
            <a:extLst>
              <a:ext uri="{FF2B5EF4-FFF2-40B4-BE49-F238E27FC236}">
                <a16:creationId xmlns:a16="http://schemas.microsoft.com/office/drawing/2014/main" id="{485212EF-6C2F-0D6F-020B-495AC5F41CFE}"/>
              </a:ext>
              <a:ext uri="{C183D7F6-B498-43B3-948B-1728B52AA6E4}">
                <adec:decorative xmlns:adec="http://schemas.microsoft.com/office/drawing/2017/decorative" val="1"/>
              </a:ext>
            </a:extLst>
          </p:cNvPr>
          <p:cNvSpPr/>
          <p:nvPr/>
        </p:nvSpPr>
        <p:spPr bwMode="auto">
          <a:xfrm>
            <a:off x="1556928" y="1856512"/>
            <a:ext cx="3740314" cy="4367197"/>
          </a:xfrm>
          <a:prstGeom prst="ellipse">
            <a:avLst/>
          </a:prstGeom>
          <a:gradFill flip="none" rotWithShape="1">
            <a:gsLst>
              <a:gs pos="0">
                <a:schemeClr val="bg2"/>
              </a:gs>
              <a:gs pos="58000">
                <a:schemeClr val="bg1">
                  <a:alpha val="0"/>
                </a:schemeClr>
              </a:gs>
            </a:gsLst>
            <a:path path="circle">
              <a:fillToRect l="50000" t="50000" r="50000" b="50000"/>
            </a:path>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Segoe UI"/>
              <a:ea typeface="Segoe UI" pitchFamily="34" charset="0"/>
              <a:cs typeface="Segoe UI" pitchFamily="34" charset="0"/>
            </a:endParaRPr>
          </a:p>
        </p:txBody>
      </p:sp>
      <p:sp>
        <p:nvSpPr>
          <p:cNvPr id="5" name="Title 4">
            <a:extLst>
              <a:ext uri="{FF2B5EF4-FFF2-40B4-BE49-F238E27FC236}">
                <a16:creationId xmlns:a16="http://schemas.microsoft.com/office/drawing/2014/main" id="{F06C2F36-7372-61BB-1086-A211C0D81659}"/>
              </a:ext>
            </a:extLst>
          </p:cNvPr>
          <p:cNvSpPr>
            <a:spLocks noGrp="1"/>
          </p:cNvSpPr>
          <p:nvPr>
            <p:ph type="title"/>
          </p:nvPr>
        </p:nvSpPr>
        <p:spPr>
          <a:xfrm>
            <a:off x="571499" y="833718"/>
            <a:ext cx="11018520" cy="492443"/>
          </a:xfrm>
        </p:spPr>
        <p:txBody>
          <a:bodyPr/>
          <a:lstStyle/>
          <a:p>
            <a:r>
              <a:rPr lang="en-US"/>
              <a:t>Next Steps</a:t>
            </a:r>
          </a:p>
        </p:txBody>
      </p:sp>
      <p:sp>
        <p:nvSpPr>
          <p:cNvPr id="4" name="Rectangle: Rounded Corners 4">
            <a:extLst>
              <a:ext uri="{FF2B5EF4-FFF2-40B4-BE49-F238E27FC236}">
                <a16:creationId xmlns:a16="http://schemas.microsoft.com/office/drawing/2014/main" id="{5B0E4F39-899F-5109-A269-8CE9F8AEA5D6}"/>
              </a:ext>
              <a:ext uri="{C183D7F6-B498-43B3-948B-1728B52AA6E4}">
                <adec:decorative xmlns:adec="http://schemas.microsoft.com/office/drawing/2017/decorative" val="1"/>
              </a:ext>
            </a:extLst>
          </p:cNvPr>
          <p:cNvSpPr/>
          <p:nvPr/>
        </p:nvSpPr>
        <p:spPr>
          <a:xfrm>
            <a:off x="571499" y="2068927"/>
            <a:ext cx="2585107" cy="3438709"/>
          </a:xfrm>
          <a:prstGeom prst="roundRect">
            <a:avLst>
              <a:gd name="adj" fmla="val 2723"/>
            </a:avLst>
          </a:prstGeom>
          <a:solidFill>
            <a:schemeClr val="bg1">
              <a:lumMod val="95000"/>
              <a:lumOff val="5000"/>
            </a:schemeClr>
          </a:solidFill>
          <a:ln w="12700" cap="flat" cmpd="sng" algn="ctr">
            <a:solidFill>
              <a:srgbClr val="000000">
                <a:lumMod val="75000"/>
                <a:lumOff val="25000"/>
              </a:srgbClr>
            </a:solidFill>
            <a:prstDash val="solid"/>
            <a:headEnd type="none" w="med" len="med"/>
            <a:tailEnd type="none" w="med" len="med"/>
          </a:ln>
          <a:effectLst/>
        </p:spPr>
        <p:txBody>
          <a:bodyPr rot="0" spcFirstLastPara="0" vertOverflow="overflow" horzOverflow="overflow" vert="horz" wrap="square" lIns="72000" tIns="180000" rIns="72000" bIns="14400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gradFill flip="none" rotWithShape="1">
                <a:gsLst>
                  <a:gs pos="0">
                    <a:srgbClr val="50E6FF"/>
                  </a:gs>
                  <a:gs pos="100000">
                    <a:srgbClr val="D59DFF"/>
                  </a:gs>
                </a:gsLst>
                <a:lin ang="2700000" scaled="1"/>
                <a:tileRect/>
              </a:gradFill>
              <a:effectLst/>
              <a:uLnTx/>
              <a:uFillTx/>
              <a:latin typeface="Segoe UI Semibold"/>
              <a:ea typeface="+mn-ea"/>
              <a:cs typeface="+mn-cs"/>
            </a:endParaRPr>
          </a:p>
        </p:txBody>
      </p:sp>
      <p:sp>
        <p:nvSpPr>
          <p:cNvPr id="27" name="TextBox 26">
            <a:extLst>
              <a:ext uri="{FF2B5EF4-FFF2-40B4-BE49-F238E27FC236}">
                <a16:creationId xmlns:a16="http://schemas.microsoft.com/office/drawing/2014/main" id="{EC52DABE-3BE5-9AA4-1AFF-90DA0C040E8B}"/>
              </a:ext>
            </a:extLst>
          </p:cNvPr>
          <p:cNvSpPr txBox="1"/>
          <p:nvPr/>
        </p:nvSpPr>
        <p:spPr>
          <a:xfrm>
            <a:off x="782613" y="3358217"/>
            <a:ext cx="2162878" cy="1061829"/>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a:ln>
                  <a:noFill/>
                </a:ln>
                <a:solidFill>
                  <a:srgbClr val="50E6FF"/>
                </a:solidFill>
                <a:effectLst/>
                <a:uLnTx/>
                <a:uFillTx/>
                <a:latin typeface="Segoe UI Semibold"/>
                <a:ea typeface="+mn-ea"/>
                <a:cs typeface="+mn-cs"/>
              </a:rPr>
              <a:t>Technical Solution Assessment</a:t>
            </a:r>
            <a:endParaRPr kumimoji="0" lang="en-US" sz="1400" b="1" i="0" u="none" strike="noStrike" kern="1200" cap="none" spc="0" normalizeH="0" baseline="0" noProof="0">
              <a:ln>
                <a:noFill/>
              </a:ln>
              <a:solidFill>
                <a:srgbClr val="50E6FF"/>
              </a:solidFill>
              <a:effectLst/>
              <a:uLnTx/>
              <a:uFillTx/>
              <a:latin typeface="Segoe UI Semibold"/>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UI"/>
                <a:ea typeface="+mn-ea"/>
                <a:cs typeface="+mn-cs"/>
              </a:rPr>
              <a:t>Assess how your workload can move to Azure and see how much you can save</a:t>
            </a:r>
          </a:p>
        </p:txBody>
      </p:sp>
      <p:sp>
        <p:nvSpPr>
          <p:cNvPr id="2" name="TextBox 1">
            <a:extLst>
              <a:ext uri="{FF2B5EF4-FFF2-40B4-BE49-F238E27FC236}">
                <a16:creationId xmlns:a16="http://schemas.microsoft.com/office/drawing/2014/main" id="{CA17B08F-B156-8948-5281-B8491E93AF59}"/>
              </a:ext>
            </a:extLst>
          </p:cNvPr>
          <p:cNvSpPr txBox="1"/>
          <p:nvPr/>
        </p:nvSpPr>
        <p:spPr>
          <a:xfrm>
            <a:off x="1079486" y="5001488"/>
            <a:ext cx="1569132" cy="369332"/>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ctr" defTabSz="914367" rtl="0" eaLnBrk="1" fontAlgn="auto" latinLnBrk="0" hangingPunct="1">
              <a:lnSpc>
                <a:spcPct val="100000"/>
              </a:lnSpc>
              <a:spcBef>
                <a:spcPts val="1000"/>
              </a:spcBef>
              <a:spcAft>
                <a:spcPts val="800"/>
              </a:spcAft>
              <a:buClrTx/>
              <a:buSzTx/>
              <a:buFontTx/>
              <a:buNone/>
              <a:tabLst/>
              <a:defRPr/>
            </a:pPr>
            <a:r>
              <a:rPr kumimoji="0" lang="en-US" sz="1200" b="0" i="0" u="none" strike="noStrike" kern="1200" cap="none" spc="0" normalizeH="0" baseline="0" noProof="0">
                <a:ln>
                  <a:noFill/>
                </a:ln>
                <a:solidFill>
                  <a:srgbClr val="50E6FF"/>
                </a:solidFill>
                <a:effectLst/>
                <a:uLnTx/>
                <a:uFillTx/>
                <a:latin typeface="Segoe UI"/>
                <a:ea typeface="+mn-ea"/>
                <a:cs typeface="Segoe UI"/>
                <a:hlinkClick r:id="rId2"/>
              </a:rPr>
              <a:t>Take a solution assessment</a:t>
            </a:r>
            <a:endParaRPr kumimoji="0" lang="en-US" sz="1200" b="0" i="0" u="none" strike="noStrike" kern="1200" cap="none" spc="0" normalizeH="0" baseline="30000" noProof="0">
              <a:ln>
                <a:noFill/>
              </a:ln>
              <a:solidFill>
                <a:srgbClr val="50E6FF"/>
              </a:solidFill>
              <a:effectLst/>
              <a:uLnTx/>
              <a:uFillTx/>
              <a:latin typeface="Segoe UI"/>
              <a:ea typeface="+mn-ea"/>
              <a:cs typeface="Segoe UI"/>
            </a:endParaRPr>
          </a:p>
        </p:txBody>
      </p:sp>
      <p:sp>
        <p:nvSpPr>
          <p:cNvPr id="6" name="Rectangle: Rounded Corners 4">
            <a:extLst>
              <a:ext uri="{FF2B5EF4-FFF2-40B4-BE49-F238E27FC236}">
                <a16:creationId xmlns:a16="http://schemas.microsoft.com/office/drawing/2014/main" id="{6759EE8B-CECA-73EC-B4E0-74E6E8CE5887}"/>
              </a:ext>
              <a:ext uri="{C183D7F6-B498-43B3-948B-1728B52AA6E4}">
                <adec:decorative xmlns:adec="http://schemas.microsoft.com/office/drawing/2017/decorative" val="1"/>
              </a:ext>
            </a:extLst>
          </p:cNvPr>
          <p:cNvSpPr/>
          <p:nvPr/>
        </p:nvSpPr>
        <p:spPr>
          <a:xfrm>
            <a:off x="3445412" y="2068927"/>
            <a:ext cx="2585107" cy="3438709"/>
          </a:xfrm>
          <a:prstGeom prst="roundRect">
            <a:avLst>
              <a:gd name="adj" fmla="val 2723"/>
            </a:avLst>
          </a:prstGeom>
          <a:solidFill>
            <a:schemeClr val="bg1">
              <a:lumMod val="95000"/>
              <a:lumOff val="5000"/>
            </a:schemeClr>
          </a:solidFill>
          <a:ln w="12700" cap="flat" cmpd="sng" algn="ctr">
            <a:solidFill>
              <a:srgbClr val="000000">
                <a:lumMod val="75000"/>
                <a:lumOff val="25000"/>
              </a:srgbClr>
            </a:solidFill>
            <a:prstDash val="solid"/>
            <a:headEnd type="none" w="med" len="med"/>
            <a:tailEnd type="none" w="med" len="med"/>
          </a:ln>
          <a:effectLst/>
        </p:spPr>
        <p:txBody>
          <a:bodyPr rot="0" spcFirstLastPara="0" vertOverflow="overflow" horzOverflow="overflow" vert="horz" wrap="square" lIns="72000" tIns="180000" rIns="72000" bIns="14400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gradFill flip="none" rotWithShape="1">
                <a:gsLst>
                  <a:gs pos="0">
                    <a:srgbClr val="50E6FF"/>
                  </a:gs>
                  <a:gs pos="100000">
                    <a:srgbClr val="D59DFF"/>
                  </a:gs>
                </a:gsLst>
                <a:lin ang="2700000" scaled="1"/>
                <a:tileRect/>
              </a:gradFill>
              <a:effectLst/>
              <a:uLnTx/>
              <a:uFillTx/>
              <a:latin typeface="Segoe UI Semibold"/>
              <a:ea typeface="+mn-ea"/>
              <a:cs typeface="+mn-cs"/>
            </a:endParaRPr>
          </a:p>
        </p:txBody>
      </p:sp>
      <p:sp>
        <p:nvSpPr>
          <p:cNvPr id="55" name="TextBox 54">
            <a:extLst>
              <a:ext uri="{FF2B5EF4-FFF2-40B4-BE49-F238E27FC236}">
                <a16:creationId xmlns:a16="http://schemas.microsoft.com/office/drawing/2014/main" id="{BA0301BD-AF22-EA13-807C-07F353C4E890}"/>
              </a:ext>
            </a:extLst>
          </p:cNvPr>
          <p:cNvSpPr txBox="1"/>
          <p:nvPr/>
        </p:nvSpPr>
        <p:spPr>
          <a:xfrm>
            <a:off x="3687768" y="3358217"/>
            <a:ext cx="2162878" cy="1061829"/>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a:ln>
                  <a:noFill/>
                </a:ln>
                <a:solidFill>
                  <a:srgbClr val="50E6FF"/>
                </a:solidFill>
                <a:effectLst/>
                <a:uLnTx/>
                <a:uFillTx/>
                <a:latin typeface="Segoe UI Semibold"/>
                <a:ea typeface="+mn-ea"/>
                <a:cs typeface="+mn-cs"/>
              </a:rPr>
              <a:t>Azure Migration &amp; Modernization Program</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UI"/>
                <a:ea typeface="+mn-ea"/>
                <a:cs typeface="+mn-cs"/>
              </a:rPr>
              <a:t>Get technical &amp; partner expertise to accelerate your migration</a:t>
            </a:r>
          </a:p>
        </p:txBody>
      </p:sp>
      <p:sp>
        <p:nvSpPr>
          <p:cNvPr id="9" name="TextBox 8">
            <a:extLst>
              <a:ext uri="{FF2B5EF4-FFF2-40B4-BE49-F238E27FC236}">
                <a16:creationId xmlns:a16="http://schemas.microsoft.com/office/drawing/2014/main" id="{76E9CF62-0881-2548-2877-F2708E061083}"/>
              </a:ext>
            </a:extLst>
          </p:cNvPr>
          <p:cNvSpPr txBox="1"/>
          <p:nvPr/>
        </p:nvSpPr>
        <p:spPr>
          <a:xfrm>
            <a:off x="3827322" y="5001488"/>
            <a:ext cx="1821285" cy="184666"/>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ctr" defTabSz="914367" rtl="0" eaLnBrk="1" fontAlgn="auto" latinLnBrk="0" hangingPunct="1">
              <a:lnSpc>
                <a:spcPct val="100000"/>
              </a:lnSpc>
              <a:spcBef>
                <a:spcPts val="1000"/>
              </a:spcBef>
              <a:spcAft>
                <a:spcPts val="800"/>
              </a:spcAft>
              <a:buClrTx/>
              <a:buSzTx/>
              <a:buFontTx/>
              <a:buNone/>
              <a:tabLst/>
              <a:defRPr/>
            </a:pPr>
            <a:r>
              <a:rPr kumimoji="0" lang="en-US" sz="1200" b="0" i="0" u="none" strike="noStrike" kern="1200" cap="none" spc="0" normalizeH="0" baseline="0" noProof="0">
                <a:ln>
                  <a:noFill/>
                </a:ln>
                <a:solidFill>
                  <a:srgbClr val="50E6FF"/>
                </a:solidFill>
                <a:effectLst/>
                <a:uLnTx/>
                <a:uFillTx/>
                <a:latin typeface="Segoe UI"/>
                <a:ea typeface="+mn-ea"/>
                <a:cs typeface="Segoe UI"/>
                <a:hlinkClick r:id="rId3"/>
              </a:rPr>
              <a:t>Nominate a project today</a:t>
            </a:r>
            <a:endParaRPr kumimoji="0" lang="en-US" sz="1200" b="0" i="0" u="none" strike="noStrike" kern="1200" cap="none" spc="0" normalizeH="0" baseline="30000" noProof="0">
              <a:ln>
                <a:noFill/>
              </a:ln>
              <a:solidFill>
                <a:srgbClr val="50E6FF"/>
              </a:solidFill>
              <a:effectLst/>
              <a:uLnTx/>
              <a:uFillTx/>
              <a:latin typeface="Segoe UI"/>
              <a:ea typeface="+mn-ea"/>
              <a:cs typeface="Segoe UI"/>
            </a:endParaRPr>
          </a:p>
        </p:txBody>
      </p:sp>
      <p:sp>
        <p:nvSpPr>
          <p:cNvPr id="7" name="Rectangle: Rounded Corners 4">
            <a:extLst>
              <a:ext uri="{FF2B5EF4-FFF2-40B4-BE49-F238E27FC236}">
                <a16:creationId xmlns:a16="http://schemas.microsoft.com/office/drawing/2014/main" id="{0F9CBC0D-BD7E-BCB3-6D6A-16BA432E360B}"/>
              </a:ext>
              <a:ext uri="{C183D7F6-B498-43B3-948B-1728B52AA6E4}">
                <adec:decorative xmlns:adec="http://schemas.microsoft.com/office/drawing/2017/decorative" val="1"/>
              </a:ext>
            </a:extLst>
          </p:cNvPr>
          <p:cNvSpPr/>
          <p:nvPr/>
        </p:nvSpPr>
        <p:spPr>
          <a:xfrm>
            <a:off x="6319325" y="2068927"/>
            <a:ext cx="2585107" cy="3438709"/>
          </a:xfrm>
          <a:prstGeom prst="roundRect">
            <a:avLst>
              <a:gd name="adj" fmla="val 2723"/>
            </a:avLst>
          </a:prstGeom>
          <a:solidFill>
            <a:schemeClr val="bg1">
              <a:lumMod val="95000"/>
              <a:lumOff val="5000"/>
            </a:schemeClr>
          </a:solidFill>
          <a:ln w="12700" cap="flat" cmpd="sng" algn="ctr">
            <a:solidFill>
              <a:srgbClr val="000000">
                <a:lumMod val="75000"/>
                <a:lumOff val="25000"/>
              </a:srgbClr>
            </a:solidFill>
            <a:prstDash val="solid"/>
            <a:headEnd type="none" w="med" len="med"/>
            <a:tailEnd type="none" w="med" len="med"/>
          </a:ln>
          <a:effectLst/>
        </p:spPr>
        <p:txBody>
          <a:bodyPr rot="0" spcFirstLastPara="0" vertOverflow="overflow" horzOverflow="overflow" vert="horz" wrap="square" lIns="72000" tIns="180000" rIns="72000" bIns="14400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gradFill flip="none" rotWithShape="1">
                <a:gsLst>
                  <a:gs pos="0">
                    <a:srgbClr val="50E6FF"/>
                  </a:gs>
                  <a:gs pos="100000">
                    <a:srgbClr val="D59DFF"/>
                  </a:gs>
                </a:gsLst>
                <a:lin ang="2700000" scaled="1"/>
                <a:tileRect/>
              </a:gradFill>
              <a:effectLst/>
              <a:uLnTx/>
              <a:uFillTx/>
              <a:latin typeface="Segoe UI Semibold"/>
              <a:ea typeface="+mn-ea"/>
              <a:cs typeface="+mn-cs"/>
            </a:endParaRPr>
          </a:p>
        </p:txBody>
      </p:sp>
      <p:sp>
        <p:nvSpPr>
          <p:cNvPr id="66" name="TextBox 65">
            <a:extLst>
              <a:ext uri="{FF2B5EF4-FFF2-40B4-BE49-F238E27FC236}">
                <a16:creationId xmlns:a16="http://schemas.microsoft.com/office/drawing/2014/main" id="{5AFB47F0-6629-FBF8-EFA3-A618F4EDB02C}"/>
              </a:ext>
            </a:extLst>
          </p:cNvPr>
          <p:cNvSpPr txBox="1"/>
          <p:nvPr/>
        </p:nvSpPr>
        <p:spPr>
          <a:xfrm>
            <a:off x="6525986" y="3358217"/>
            <a:ext cx="2203025" cy="1061829"/>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a:ln>
                  <a:noFill/>
                </a:ln>
                <a:solidFill>
                  <a:srgbClr val="50E6FF"/>
                </a:solidFill>
                <a:effectLst/>
                <a:uLnTx/>
                <a:uFillTx/>
                <a:latin typeface="Segoe UI Semibold"/>
                <a:ea typeface="+mn-ea"/>
                <a:cs typeface="+mn-cs"/>
              </a:rPr>
              <a:t>Azure Advisor</a:t>
            </a:r>
            <a:br>
              <a:rPr kumimoji="0" lang="en-US" sz="1400" b="0" i="0" u="none" strike="noStrike" kern="1200" cap="none" spc="0" normalizeH="0" baseline="0" noProof="0">
                <a:ln>
                  <a:noFill/>
                </a:ln>
                <a:solidFill>
                  <a:srgbClr val="50E6FF"/>
                </a:solidFill>
                <a:effectLst/>
                <a:uLnTx/>
                <a:uFillTx/>
                <a:latin typeface="Segoe UI Semibold"/>
                <a:ea typeface="+mn-ea"/>
                <a:cs typeface="+mn-cs"/>
              </a:rPr>
            </a:br>
            <a:endParaRPr kumimoji="0" lang="en-US" sz="1400" b="0" i="0" u="none" strike="noStrike" kern="1200" cap="none" spc="0" normalizeH="0" baseline="0" noProof="0">
              <a:ln>
                <a:noFill/>
              </a:ln>
              <a:solidFill>
                <a:srgbClr val="50E6FF"/>
              </a:solidFill>
              <a:effectLst/>
              <a:uLnTx/>
              <a:uFillTx/>
              <a:latin typeface="Segoe UI Semibold"/>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UI"/>
                <a:ea typeface="+mn-ea"/>
                <a:cs typeface="+mn-cs"/>
              </a:rPr>
              <a:t>Ensure your architecture is optimized with personalized recommendations</a:t>
            </a:r>
          </a:p>
        </p:txBody>
      </p:sp>
      <p:sp>
        <p:nvSpPr>
          <p:cNvPr id="10" name="TextBox 9">
            <a:extLst>
              <a:ext uri="{FF2B5EF4-FFF2-40B4-BE49-F238E27FC236}">
                <a16:creationId xmlns:a16="http://schemas.microsoft.com/office/drawing/2014/main" id="{1AEF90C2-86FA-9F06-A3BD-7D0D207084F9}"/>
              </a:ext>
            </a:extLst>
          </p:cNvPr>
          <p:cNvSpPr txBox="1"/>
          <p:nvPr/>
        </p:nvSpPr>
        <p:spPr>
          <a:xfrm>
            <a:off x="6842932" y="4888567"/>
            <a:ext cx="1569132" cy="451682"/>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ctr" defTabSz="914367" rtl="0" eaLnBrk="1" fontAlgn="auto" latinLnBrk="0" hangingPunct="1">
              <a:lnSpc>
                <a:spcPct val="100000"/>
              </a:lnSpc>
              <a:spcBef>
                <a:spcPts val="1000"/>
              </a:spcBef>
              <a:spcAft>
                <a:spcPts val="800"/>
              </a:spcAft>
              <a:buClrTx/>
              <a:buSzTx/>
              <a:buFontTx/>
              <a:buNone/>
              <a:tabLst/>
              <a:defRPr/>
            </a:pPr>
            <a:r>
              <a:rPr kumimoji="0" lang="en-US" sz="1200" b="0" i="0" u="none" strike="noStrike" kern="1200" cap="none" spc="0" normalizeH="0" baseline="0" noProof="0">
                <a:ln>
                  <a:noFill/>
                </a:ln>
                <a:solidFill>
                  <a:srgbClr val="50E6FF"/>
                </a:solidFill>
                <a:effectLst/>
                <a:uLnTx/>
                <a:uFillTx/>
                <a:latin typeface="Segoe UI"/>
                <a:ea typeface="+mn-ea"/>
                <a:cs typeface="Segoe UI"/>
                <a:hlinkClick r:id="rId4"/>
              </a:rPr>
              <a:t>Get your personalized recommendations</a:t>
            </a:r>
            <a:endParaRPr kumimoji="0" lang="en-US" sz="1200" b="0" i="0" u="none" strike="noStrike" kern="1200" cap="none" spc="0" normalizeH="0" baseline="30000" noProof="0">
              <a:ln>
                <a:noFill/>
              </a:ln>
              <a:solidFill>
                <a:srgbClr val="50E6FF"/>
              </a:solidFill>
              <a:effectLst/>
              <a:uLnTx/>
              <a:uFillTx/>
              <a:latin typeface="Segoe UI"/>
              <a:ea typeface="+mn-ea"/>
              <a:cs typeface="Segoe UI"/>
            </a:endParaRPr>
          </a:p>
        </p:txBody>
      </p:sp>
      <p:sp>
        <p:nvSpPr>
          <p:cNvPr id="8" name="Rectangle: Rounded Corners 4">
            <a:extLst>
              <a:ext uri="{FF2B5EF4-FFF2-40B4-BE49-F238E27FC236}">
                <a16:creationId xmlns:a16="http://schemas.microsoft.com/office/drawing/2014/main" id="{EC4056BB-3520-AF6D-AA47-C4BA85231B99}"/>
              </a:ext>
              <a:ext uri="{C183D7F6-B498-43B3-948B-1728B52AA6E4}">
                <adec:decorative xmlns:adec="http://schemas.microsoft.com/office/drawing/2017/decorative" val="1"/>
              </a:ext>
            </a:extLst>
          </p:cNvPr>
          <p:cNvSpPr/>
          <p:nvPr/>
        </p:nvSpPr>
        <p:spPr>
          <a:xfrm>
            <a:off x="9193236" y="2068927"/>
            <a:ext cx="2585107" cy="3438709"/>
          </a:xfrm>
          <a:prstGeom prst="roundRect">
            <a:avLst>
              <a:gd name="adj" fmla="val 2723"/>
            </a:avLst>
          </a:prstGeom>
          <a:solidFill>
            <a:schemeClr val="bg1">
              <a:lumMod val="95000"/>
              <a:lumOff val="5000"/>
            </a:schemeClr>
          </a:solidFill>
          <a:ln w="12700" cap="flat" cmpd="sng" algn="ctr">
            <a:solidFill>
              <a:srgbClr val="000000">
                <a:lumMod val="75000"/>
                <a:lumOff val="25000"/>
              </a:srgbClr>
            </a:solidFill>
            <a:prstDash val="solid"/>
            <a:headEnd type="none" w="med" len="med"/>
            <a:tailEnd type="none" w="med" len="med"/>
          </a:ln>
          <a:effectLst/>
        </p:spPr>
        <p:txBody>
          <a:bodyPr rot="0" spcFirstLastPara="0" vertOverflow="overflow" horzOverflow="overflow" vert="horz" wrap="square" lIns="72000" tIns="180000" rIns="72000" bIns="14400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gradFill flip="none" rotWithShape="1">
                <a:gsLst>
                  <a:gs pos="0">
                    <a:srgbClr val="50E6FF"/>
                  </a:gs>
                  <a:gs pos="100000">
                    <a:srgbClr val="D59DFF"/>
                  </a:gs>
                </a:gsLst>
                <a:lin ang="2700000" scaled="1"/>
                <a:tileRect/>
              </a:gradFill>
              <a:effectLst/>
              <a:uLnTx/>
              <a:uFillTx/>
              <a:latin typeface="Segoe UI Semibold"/>
              <a:ea typeface="+mn-ea"/>
              <a:cs typeface="+mn-cs"/>
            </a:endParaRPr>
          </a:p>
        </p:txBody>
      </p:sp>
      <p:sp>
        <p:nvSpPr>
          <p:cNvPr id="11" name="TextBox 10">
            <a:extLst>
              <a:ext uri="{FF2B5EF4-FFF2-40B4-BE49-F238E27FC236}">
                <a16:creationId xmlns:a16="http://schemas.microsoft.com/office/drawing/2014/main" id="{A0498AE9-34E7-0D0E-1FA8-15580397DD39}"/>
              </a:ext>
            </a:extLst>
          </p:cNvPr>
          <p:cNvSpPr txBox="1"/>
          <p:nvPr/>
        </p:nvSpPr>
        <p:spPr>
          <a:xfrm>
            <a:off x="9384277" y="3358217"/>
            <a:ext cx="2203025" cy="877163"/>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a:ln>
                  <a:noFill/>
                </a:ln>
                <a:solidFill>
                  <a:srgbClr val="50E6FF"/>
                </a:solidFill>
                <a:effectLst/>
                <a:uLnTx/>
                <a:uFillTx/>
                <a:latin typeface="Segoe UI Semibold"/>
                <a:ea typeface="+mn-ea"/>
                <a:cs typeface="+mn-cs"/>
              </a:rPr>
              <a:t>Microsoft Security</a:t>
            </a:r>
            <a:br>
              <a:rPr kumimoji="0" lang="en-US" sz="1400" b="0" i="0" u="none" strike="noStrike" kern="1200" cap="none" spc="0" normalizeH="0" baseline="0" noProof="0">
                <a:ln>
                  <a:noFill/>
                </a:ln>
                <a:solidFill>
                  <a:srgbClr val="50E6FF"/>
                </a:solidFill>
                <a:effectLst/>
                <a:uLnTx/>
                <a:uFillTx/>
                <a:latin typeface="Segoe UI Semibold"/>
                <a:ea typeface="+mn-ea"/>
                <a:cs typeface="+mn-cs"/>
              </a:rPr>
            </a:br>
            <a:endParaRPr kumimoji="0" lang="en-US" sz="1400" b="0" i="0" u="none" strike="noStrike" kern="1200" cap="none" spc="0" normalizeH="0" baseline="0" noProof="0">
              <a:ln>
                <a:noFill/>
              </a:ln>
              <a:solidFill>
                <a:srgbClr val="50E6FF"/>
              </a:solidFill>
              <a:effectLst/>
              <a:uLnTx/>
              <a:uFillTx/>
              <a:latin typeface="Segoe UI Semibold"/>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UI"/>
                <a:ea typeface="+mn-ea"/>
                <a:cs typeface="+mn-cs"/>
              </a:rPr>
              <a:t>Become more resilient and improve your security posture</a:t>
            </a:r>
          </a:p>
        </p:txBody>
      </p:sp>
      <p:sp>
        <p:nvSpPr>
          <p:cNvPr id="12" name="TextBox 11">
            <a:extLst>
              <a:ext uri="{FF2B5EF4-FFF2-40B4-BE49-F238E27FC236}">
                <a16:creationId xmlns:a16="http://schemas.microsoft.com/office/drawing/2014/main" id="{FDA12F3F-A171-AADE-50F7-E488DE8875D3}"/>
              </a:ext>
            </a:extLst>
          </p:cNvPr>
          <p:cNvSpPr txBox="1"/>
          <p:nvPr/>
        </p:nvSpPr>
        <p:spPr>
          <a:xfrm>
            <a:off x="9497395" y="4888567"/>
            <a:ext cx="1976787" cy="369332"/>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ctr" defTabSz="914367" rtl="0" eaLnBrk="1" fontAlgn="auto" latinLnBrk="0" hangingPunct="1">
              <a:lnSpc>
                <a:spcPct val="100000"/>
              </a:lnSpc>
              <a:spcBef>
                <a:spcPts val="1000"/>
              </a:spcBef>
              <a:spcAft>
                <a:spcPts val="800"/>
              </a:spcAft>
              <a:buClrTx/>
              <a:buSzTx/>
              <a:buFontTx/>
              <a:buNone/>
              <a:tabLst/>
              <a:defRPr/>
            </a:pPr>
            <a:r>
              <a:rPr kumimoji="0" lang="en-US" sz="1200" b="0" i="0" u="none" strike="noStrike" kern="1200" cap="none" spc="0" normalizeH="0" baseline="0" noProof="0">
                <a:ln>
                  <a:noFill/>
                </a:ln>
                <a:solidFill>
                  <a:srgbClr val="50E6FF"/>
                </a:solidFill>
                <a:effectLst/>
                <a:uLnTx/>
                <a:uFillTx/>
                <a:latin typeface="Segoe UI"/>
                <a:ea typeface="+mn-ea"/>
                <a:cs typeface="Segoe UI"/>
                <a:hlinkClick r:id="rId5"/>
              </a:rPr>
              <a:t>Work with your partner to request a security workshop</a:t>
            </a:r>
            <a:endParaRPr kumimoji="0" lang="en-US" sz="1200" b="0" i="0" u="none" strike="noStrike" kern="1200" cap="none" spc="0" normalizeH="0" baseline="30000" noProof="0">
              <a:ln>
                <a:noFill/>
              </a:ln>
              <a:solidFill>
                <a:srgbClr val="50E6FF"/>
              </a:solidFill>
              <a:effectLst/>
              <a:uLnTx/>
              <a:uFillTx/>
              <a:latin typeface="Segoe UI"/>
              <a:ea typeface="+mn-ea"/>
              <a:cs typeface="Segoe UI"/>
            </a:endParaRPr>
          </a:p>
        </p:txBody>
      </p:sp>
      <p:sp>
        <p:nvSpPr>
          <p:cNvPr id="3" name="Chevron 72" descr="Arrow pointing to the right">
            <a:extLst>
              <a:ext uri="{FF2B5EF4-FFF2-40B4-BE49-F238E27FC236}">
                <a16:creationId xmlns:a16="http://schemas.microsoft.com/office/drawing/2014/main" id="{6124D5CC-8E3D-7FDC-A0A7-8C850DA24619}"/>
              </a:ext>
            </a:extLst>
          </p:cNvPr>
          <p:cNvSpPr/>
          <p:nvPr/>
        </p:nvSpPr>
        <p:spPr bwMode="auto">
          <a:xfrm>
            <a:off x="1721526" y="2522141"/>
            <a:ext cx="285052" cy="491390"/>
          </a:xfrm>
          <a:prstGeom prst="chevron">
            <a:avLst>
              <a:gd name="adj" fmla="val 79831"/>
            </a:avLst>
          </a:prstGeom>
          <a:gradFill>
            <a:gsLst>
              <a:gs pos="0">
                <a:schemeClr val="accent2"/>
              </a:gs>
              <a:gs pos="100000">
                <a:schemeClr val="accent1"/>
              </a:gs>
            </a:gsLst>
            <a:lin ang="162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Segoe UI"/>
              <a:ea typeface="Segoe UI" pitchFamily="34" charset="0"/>
              <a:cs typeface="Segoe UI" pitchFamily="34" charset="0"/>
            </a:endParaRPr>
          </a:p>
        </p:txBody>
      </p:sp>
      <p:sp>
        <p:nvSpPr>
          <p:cNvPr id="13" name="Chevron 72" descr="Arrow pointing to the right">
            <a:extLst>
              <a:ext uri="{FF2B5EF4-FFF2-40B4-BE49-F238E27FC236}">
                <a16:creationId xmlns:a16="http://schemas.microsoft.com/office/drawing/2014/main" id="{249B4C79-B4EF-2DD8-904B-3FE95108D90F}"/>
              </a:ext>
            </a:extLst>
          </p:cNvPr>
          <p:cNvSpPr/>
          <p:nvPr/>
        </p:nvSpPr>
        <p:spPr bwMode="auto">
          <a:xfrm>
            <a:off x="4626681" y="2522141"/>
            <a:ext cx="285052" cy="491390"/>
          </a:xfrm>
          <a:prstGeom prst="chevron">
            <a:avLst>
              <a:gd name="adj" fmla="val 79831"/>
            </a:avLst>
          </a:prstGeom>
          <a:gradFill>
            <a:gsLst>
              <a:gs pos="0">
                <a:schemeClr val="accent2"/>
              </a:gs>
              <a:gs pos="100000">
                <a:schemeClr val="accent1"/>
              </a:gs>
            </a:gsLst>
            <a:lin ang="162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Segoe UI"/>
              <a:ea typeface="Segoe UI" pitchFamily="34" charset="0"/>
              <a:cs typeface="Segoe UI" pitchFamily="34" charset="0"/>
            </a:endParaRPr>
          </a:p>
        </p:txBody>
      </p:sp>
      <p:sp>
        <p:nvSpPr>
          <p:cNvPr id="14" name="Chevron 72" descr="Arrow pointing to the right">
            <a:extLst>
              <a:ext uri="{FF2B5EF4-FFF2-40B4-BE49-F238E27FC236}">
                <a16:creationId xmlns:a16="http://schemas.microsoft.com/office/drawing/2014/main" id="{B7F09186-BCDC-C933-3492-E98FA6BBB404}"/>
              </a:ext>
            </a:extLst>
          </p:cNvPr>
          <p:cNvSpPr/>
          <p:nvPr/>
        </p:nvSpPr>
        <p:spPr bwMode="auto">
          <a:xfrm>
            <a:off x="7484972" y="2522141"/>
            <a:ext cx="285052" cy="491390"/>
          </a:xfrm>
          <a:prstGeom prst="chevron">
            <a:avLst>
              <a:gd name="adj" fmla="val 79831"/>
            </a:avLst>
          </a:prstGeom>
          <a:gradFill>
            <a:gsLst>
              <a:gs pos="0">
                <a:schemeClr val="accent2"/>
              </a:gs>
              <a:gs pos="100000">
                <a:schemeClr val="accent1"/>
              </a:gs>
            </a:gsLst>
            <a:lin ang="162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Segoe UI"/>
              <a:ea typeface="Segoe UI" pitchFamily="34" charset="0"/>
              <a:cs typeface="Segoe UI" pitchFamily="34" charset="0"/>
            </a:endParaRPr>
          </a:p>
        </p:txBody>
      </p:sp>
      <p:sp>
        <p:nvSpPr>
          <p:cNvPr id="15" name="Chevron 72" descr="Arrow pointing to the right">
            <a:extLst>
              <a:ext uri="{FF2B5EF4-FFF2-40B4-BE49-F238E27FC236}">
                <a16:creationId xmlns:a16="http://schemas.microsoft.com/office/drawing/2014/main" id="{ACCAACE3-52C1-C933-5A5E-2CABFD62567E}"/>
              </a:ext>
            </a:extLst>
          </p:cNvPr>
          <p:cNvSpPr/>
          <p:nvPr/>
        </p:nvSpPr>
        <p:spPr bwMode="auto">
          <a:xfrm>
            <a:off x="10343262" y="2522141"/>
            <a:ext cx="285052" cy="491390"/>
          </a:xfrm>
          <a:prstGeom prst="chevron">
            <a:avLst>
              <a:gd name="adj" fmla="val 79831"/>
            </a:avLst>
          </a:prstGeom>
          <a:gradFill>
            <a:gsLst>
              <a:gs pos="0">
                <a:schemeClr val="accent2"/>
              </a:gs>
              <a:gs pos="100000">
                <a:schemeClr val="accent1"/>
              </a:gs>
            </a:gsLst>
            <a:lin ang="162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1536787652"/>
      </p:ext>
    </p:extLst>
  </p:cSld>
  <p:clrMapOvr>
    <a:masterClrMapping/>
  </p:clrMapOvr>
  <p:transition>
    <p:fade/>
  </p:transition>
</p:sld>
</file>

<file path=ppt/theme/theme1.xml><?xml version="1.0" encoding="utf-8"?>
<a:theme xmlns:a="http://schemas.openxmlformats.org/drawingml/2006/main" name="KEEP_Black Template">
  <a:themeElements>
    <a:clrScheme name="TS_20_Blue on Black">
      <a:dk1>
        <a:srgbClr val="000000"/>
      </a:dk1>
      <a:lt1>
        <a:srgbClr val="FFFFFF"/>
      </a:lt1>
      <a:dk2>
        <a:srgbClr val="243A5E"/>
      </a:dk2>
      <a:lt2>
        <a:srgbClr val="E6E6E6"/>
      </a:lt2>
      <a:accent1>
        <a:srgbClr val="50E6FF"/>
      </a:accent1>
      <a:accent2>
        <a:srgbClr val="0078D4"/>
      </a:accent2>
      <a:accent3>
        <a:srgbClr val="243A5E"/>
      </a:accent3>
      <a:accent4>
        <a:srgbClr val="30E5D0"/>
      </a:accent4>
      <a:accent5>
        <a:srgbClr val="008575"/>
      </a:accent5>
      <a:accent6>
        <a:srgbClr val="D2D2D2"/>
      </a:accent6>
      <a:hlink>
        <a:srgbClr val="50E6FF"/>
      </a:hlink>
      <a:folHlink>
        <a:srgbClr val="50E6FF"/>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000000"/>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smtClean="0"/>
        </a:defPPr>
      </a:lstStyle>
    </a:txDef>
  </a:objectDefaults>
  <a:extraClrSchemeLst/>
  <a:extLst>
    <a:ext uri="{05A4C25C-085E-4340-85A3-A5531E510DB2}">
      <thm15:themeFamily xmlns:thm15="http://schemas.microsoft.com/office/thememl/2012/main" name="Microsoft brand template_WHITE_Blue_Accent.potx" id="{D66F7511-47FD-43CB-A804-3BD691A97EAD}" vid="{5E227C23-4ECD-456A-8393-399A513A27CA}"/>
    </a:ext>
  </a:extLst>
</a:theme>
</file>

<file path=ppt/theme/theme2.xml><?xml version="1.0" encoding="utf-8"?>
<a:theme xmlns:a="http://schemas.openxmlformats.org/drawingml/2006/main" name="1_KEEP_Black Template">
  <a:themeElements>
    <a:clrScheme name="TS_20_Blue on Black">
      <a:dk1>
        <a:srgbClr val="000000"/>
      </a:dk1>
      <a:lt1>
        <a:srgbClr val="FFFFFF"/>
      </a:lt1>
      <a:dk2>
        <a:srgbClr val="243A5E"/>
      </a:dk2>
      <a:lt2>
        <a:srgbClr val="E6E6E6"/>
      </a:lt2>
      <a:accent1>
        <a:srgbClr val="50E6FF"/>
      </a:accent1>
      <a:accent2>
        <a:srgbClr val="0078D4"/>
      </a:accent2>
      <a:accent3>
        <a:srgbClr val="243A5E"/>
      </a:accent3>
      <a:accent4>
        <a:srgbClr val="30E5D0"/>
      </a:accent4>
      <a:accent5>
        <a:srgbClr val="008575"/>
      </a:accent5>
      <a:accent6>
        <a:srgbClr val="D2D2D2"/>
      </a:accent6>
      <a:hlink>
        <a:srgbClr val="50E6FF"/>
      </a:hlink>
      <a:folHlink>
        <a:srgbClr val="50E6FF"/>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000000"/>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smtClean="0"/>
        </a:defPPr>
      </a:lstStyle>
    </a:txDef>
  </a:objectDefaults>
  <a:extraClrSchemeLst/>
  <a:extLst>
    <a:ext uri="{05A4C25C-085E-4340-85A3-A5531E510DB2}">
      <thm15:themeFamily xmlns:thm15="http://schemas.microsoft.com/office/thememl/2012/main" name="Microsoft brand template_WHITE_Blue_Accent.potx" id="{D66F7511-47FD-43CB-A804-3BD691A97EAD}" vid="{5E227C23-4ECD-456A-8393-399A513A27CA}"/>
    </a:ext>
  </a:extLst>
</a:theme>
</file>

<file path=ppt/theme/theme3.xml><?xml version="1.0" encoding="utf-8"?>
<a:theme xmlns:a="http://schemas.openxmlformats.org/drawingml/2006/main" name="2_Black Template">
  <a:themeElements>
    <a:clrScheme name="TS_20_Blue on Black">
      <a:dk1>
        <a:srgbClr val="000000"/>
      </a:dk1>
      <a:lt1>
        <a:srgbClr val="FFFFFF"/>
      </a:lt1>
      <a:dk2>
        <a:srgbClr val="243A5E"/>
      </a:dk2>
      <a:lt2>
        <a:srgbClr val="E6E6E6"/>
      </a:lt2>
      <a:accent1>
        <a:srgbClr val="50E6FF"/>
      </a:accent1>
      <a:accent2>
        <a:srgbClr val="0078D4"/>
      </a:accent2>
      <a:accent3>
        <a:srgbClr val="243A5E"/>
      </a:accent3>
      <a:accent4>
        <a:srgbClr val="30E5D0"/>
      </a:accent4>
      <a:accent5>
        <a:srgbClr val="008575"/>
      </a:accent5>
      <a:accent6>
        <a:srgbClr val="D2D2D2"/>
      </a:accent6>
      <a:hlink>
        <a:srgbClr val="50E6FF"/>
      </a:hlink>
      <a:folHlink>
        <a:srgbClr val="50E6FF"/>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000000"/>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smtClean="0"/>
        </a:defPPr>
      </a:lstStyle>
    </a:txDef>
  </a:objectDefaults>
  <a:extraClrSchemeLst/>
  <a:extLst>
    <a:ext uri="{05A4C25C-085E-4340-85A3-A5531E510DB2}">
      <thm15:themeFamily xmlns:thm15="http://schemas.microsoft.com/office/thememl/2012/main" name="Microsoft brand template_WHITE_Blue_Accent.potx" id="{D66F7511-47FD-43CB-A804-3BD691A97EAD}" vid="{5E227C23-4ECD-456A-8393-399A513A27C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4a8dd2e3-973b-4893-8a0d-d73a7ea69ec4">
      <Terms xmlns="http://schemas.microsoft.com/office/infopath/2007/PartnerControls"/>
    </lcf76f155ced4ddcb4097134ff3c332f>
    <TaxCatchAll xmlns="37d591ed-dee3-4e01-bab2-b0577df84dce" xsi:nil="true"/>
    <_ip_UnifiedCompliancePolicyUIAction xmlns="http://schemas.microsoft.com/sharepoint/v3" xsi:nil="true"/>
    <_ip_UnifiedCompliancePolicyProperties xmlns="http://schemas.microsoft.com/sharepoint/v3"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6211445E7754A74EA74CD621A0F31404" ma:contentTypeVersion="14" ma:contentTypeDescription="Create a new document." ma:contentTypeScope="" ma:versionID="d5994d647360cdf9ad13f37469bd64f3">
  <xsd:schema xmlns:xsd="http://www.w3.org/2001/XMLSchema" xmlns:xs="http://www.w3.org/2001/XMLSchema" xmlns:p="http://schemas.microsoft.com/office/2006/metadata/properties" xmlns:ns1="http://schemas.microsoft.com/sharepoint/v3" xmlns:ns2="4a8dd2e3-973b-4893-8a0d-d73a7ea69ec4" xmlns:ns3="37d591ed-dee3-4e01-bab2-b0577df84dce" targetNamespace="http://schemas.microsoft.com/office/2006/metadata/properties" ma:root="true" ma:fieldsID="f4170fccb5c0e6e3f1c3ed12b0e7bc2f" ns1:_="" ns2:_="" ns3:_="">
    <xsd:import namespace="http://schemas.microsoft.com/sharepoint/v3"/>
    <xsd:import namespace="4a8dd2e3-973b-4893-8a0d-d73a7ea69ec4"/>
    <xsd:import namespace="37d591ed-dee3-4e01-bab2-b0577df84dce"/>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a8dd2e3-973b-4893-8a0d-d73a7ea69ec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7d591ed-dee3-4e01-bab2-b0577df84dce"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9007109c-f698-4be0-b260-3e8f1b249279}" ma:internalName="TaxCatchAll" ma:showField="CatchAllData" ma:web="37d591ed-dee3-4e01-bab2-b0577df84dc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33DB247-D461-4927-93FF-A0426EAAD835}">
  <ds:schemaRefs>
    <ds:schemaRef ds:uri="http://schemas.microsoft.com/sharepoint/v3/contenttype/forms"/>
  </ds:schemaRefs>
</ds:datastoreItem>
</file>

<file path=customXml/itemProps2.xml><?xml version="1.0" encoding="utf-8"?>
<ds:datastoreItem xmlns:ds="http://schemas.openxmlformats.org/officeDocument/2006/customXml" ds:itemID="{EAF55263-BB27-47F6-A2BB-F2DAE0D520BB}">
  <ds:schemaRefs>
    <ds:schemaRef ds:uri="http://schemas.microsoft.com/office/2006/metadata/properties"/>
    <ds:schemaRef ds:uri="http://schemas.microsoft.com/office/infopath/2007/PartnerControls"/>
    <ds:schemaRef ds:uri="4a8dd2e3-973b-4893-8a0d-d73a7ea69ec4"/>
    <ds:schemaRef ds:uri="37d591ed-dee3-4e01-bab2-b0577df84dce"/>
    <ds:schemaRef ds:uri="http://schemas.microsoft.com/sharepoint/v3"/>
  </ds:schemaRefs>
</ds:datastoreItem>
</file>

<file path=customXml/itemProps3.xml><?xml version="1.0" encoding="utf-8"?>
<ds:datastoreItem xmlns:ds="http://schemas.openxmlformats.org/officeDocument/2006/customXml" ds:itemID="{E65E267B-D624-4C1E-AF9D-B074F72E6F7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4a8dd2e3-973b-4893-8a0d-d73a7ea69ec4"/>
    <ds:schemaRef ds:uri="37d591ed-dee3-4e01-bab2-b0577df84dc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a7a471ca-2c4b-4a75-8ee2-a41ce8b6c322}" enabled="1" method="Privileged" siteId="{e79918f6-a69b-4b33-8166-e897131f7346}" removed="0"/>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office theme</Template>
  <TotalTime>0</TotalTime>
  <Words>3712</Words>
  <Application>Microsoft Office PowerPoint</Application>
  <PresentationFormat>Widescreen</PresentationFormat>
  <Paragraphs>293</Paragraphs>
  <Slides>20</Slides>
  <Notes>17</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20</vt:i4>
      </vt:variant>
    </vt:vector>
  </HeadingPairs>
  <TitlesOfParts>
    <vt:vector size="30" baseType="lpstr">
      <vt:lpstr>Aptos</vt:lpstr>
      <vt:lpstr>Arial</vt:lpstr>
      <vt:lpstr>Calibri</vt:lpstr>
      <vt:lpstr>Segoe UI</vt:lpstr>
      <vt:lpstr>Segoe UI Semibold</vt:lpstr>
      <vt:lpstr>SegoeUI</vt:lpstr>
      <vt:lpstr>Wingdings</vt:lpstr>
      <vt:lpstr>KEEP_Black Template</vt:lpstr>
      <vt:lpstr>1_KEEP_Black Template</vt:lpstr>
      <vt:lpstr>2_Black Template</vt:lpstr>
      <vt:lpstr>Navigate market  uncertainty and accelerate growth</vt:lpstr>
      <vt:lpstr>We face increasingly  uncertain times</vt:lpstr>
      <vt:lpstr>But your opportunity is not slowing down</vt:lpstr>
      <vt:lpstr>Navigate uncertainty  and accelerate growth </vt:lpstr>
      <vt:lpstr>Do more with less on Azure</vt:lpstr>
      <vt:lpstr>Navigate market uncertainty &amp; accelerate growth with Azure</vt:lpstr>
      <vt:lpstr>Lower costs and increase ROI</vt:lpstr>
      <vt:lpstr>Get more, unparalleled value with Azure</vt:lpstr>
      <vt:lpstr>Save more long-term by investing in Azure</vt:lpstr>
      <vt:lpstr>Case Study</vt:lpstr>
      <vt:lpstr>Recognize the full value of the cloud</vt:lpstr>
      <vt:lpstr>Do more with  less without compromising  quality</vt:lpstr>
      <vt:lpstr>Bring cloud innovation anywhere with Azure Arc</vt:lpstr>
      <vt:lpstr>Case Study</vt:lpstr>
      <vt:lpstr>Accelerate growth with your migration and optimization gains</vt:lpstr>
      <vt:lpstr>Reduce threats &amp; ensure critical business continuity</vt:lpstr>
      <vt:lpstr>Create new business value</vt:lpstr>
      <vt:lpstr>Case Study</vt:lpstr>
      <vt:lpstr>Azure solutions  to navigate market uncertainty and accelerate growth</vt:lpstr>
      <vt:lpstr>Next Steps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Navigate market  uncertainty and accelerate growth</dc:title>
  <dc:creator/>
  <cp:revision>2</cp:revision>
  <dcterms:created xsi:type="dcterms:W3CDTF">2022-10-12T23:24:12Z</dcterms:created>
  <dcterms:modified xsi:type="dcterms:W3CDTF">2025-10-07T07:36:51Z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0x0101006211445E7754A74EA74CD621A0F31404</vt:lpwstr>
  </property>
  <property fmtid="{D5CDD505-2E9C-101B-9397-08002B2CF9AE}" pid="4" name="ClassificationContentMarkingFooterLocations">
    <vt:lpwstr>KEEP_Black Template:6\1_KEEP_Black Template:6\2_Black Template:6</vt:lpwstr>
  </property>
  <property fmtid="{D5CDD505-2E9C-101B-9397-08002B2CF9AE}" pid="5" name="ClassificationContentMarkingFooterText">
    <vt:lpwstr>Information Classification: Public </vt:lpwstr>
  </property>
</Properties>
</file>