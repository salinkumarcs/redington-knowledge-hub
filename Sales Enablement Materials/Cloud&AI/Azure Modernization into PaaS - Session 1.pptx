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5.xml" ContentType="application/vnd.openxmlformats-officedocument.theme+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6.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7.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8.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9.xml" ContentType="application/vnd.openxmlformats-officedocument.theme+xml"/>
  <Override PartName="/ppt/tags/tag1.xml" ContentType="application/vnd.openxmlformats-officedocument.presentationml.tags+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098" r:id="rId4"/>
    <p:sldMasterId id="2147484742" r:id="rId5"/>
    <p:sldMasterId id="2147484726" r:id="rId6"/>
    <p:sldMasterId id="2147485109" r:id="rId7"/>
    <p:sldMasterId id="2147485155" r:id="rId8"/>
    <p:sldMasterId id="2147485177" r:id="rId9"/>
    <p:sldMasterId id="2147485196" r:id="rId10"/>
    <p:sldMasterId id="2147485223" r:id="rId11"/>
    <p:sldMasterId id="2147485264" r:id="rId12"/>
  </p:sldMasterIdLst>
  <p:notesMasterIdLst>
    <p:notesMasterId r:id="rId50"/>
  </p:notesMasterIdLst>
  <p:sldIdLst>
    <p:sldId id="1820" r:id="rId13"/>
    <p:sldId id="1821" r:id="rId14"/>
    <p:sldId id="2147469725" r:id="rId15"/>
    <p:sldId id="2146846763" r:id="rId16"/>
    <p:sldId id="2147469724" r:id="rId17"/>
    <p:sldId id="2076136946" r:id="rId18"/>
    <p:sldId id="2147469946" r:id="rId19"/>
    <p:sldId id="2076136260" r:id="rId20"/>
    <p:sldId id="2076137848" r:id="rId21"/>
    <p:sldId id="2147469947" r:id="rId22"/>
    <p:sldId id="2147469948" r:id="rId23"/>
    <p:sldId id="2076137823" r:id="rId24"/>
    <p:sldId id="2076138048" r:id="rId25"/>
    <p:sldId id="2076138049" r:id="rId26"/>
    <p:sldId id="2147468186" r:id="rId27"/>
    <p:sldId id="2076138051" r:id="rId28"/>
    <p:sldId id="2076138052" r:id="rId29"/>
    <p:sldId id="2076138053" r:id="rId30"/>
    <p:sldId id="307" r:id="rId31"/>
    <p:sldId id="2076138054" r:id="rId32"/>
    <p:sldId id="2147469945" r:id="rId33"/>
    <p:sldId id="327" r:id="rId34"/>
    <p:sldId id="2076136866" r:id="rId35"/>
    <p:sldId id="2076137847" r:id="rId36"/>
    <p:sldId id="2145705522" r:id="rId37"/>
    <p:sldId id="2145705516" r:id="rId38"/>
    <p:sldId id="2145705517" r:id="rId39"/>
    <p:sldId id="2145705518" r:id="rId40"/>
    <p:sldId id="2147469949" r:id="rId41"/>
    <p:sldId id="2142532742" r:id="rId42"/>
    <p:sldId id="2145706029" r:id="rId43"/>
    <p:sldId id="2076137849" r:id="rId44"/>
    <p:sldId id="2145705512" r:id="rId45"/>
    <p:sldId id="2145705511" r:id="rId46"/>
    <p:sldId id="2076137699" r:id="rId47"/>
    <p:sldId id="2147469950" r:id="rId48"/>
    <p:sldId id="2076138047" r:id="rId4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777A4DA-126C-42EE-8A84-DF7C8BB8030A}">
          <p14:sldIdLst>
            <p14:sldId id="1820"/>
            <p14:sldId id="1821"/>
          </p14:sldIdLst>
        </p14:section>
        <p14:section name="Introduction" id="{FF08788F-9DFC-4A96-9A4F-16BA9290E7D3}">
          <p14:sldIdLst>
            <p14:sldId id="2147469725"/>
            <p14:sldId id="2146846763"/>
            <p14:sldId id="2147469724"/>
            <p14:sldId id="2076136946"/>
            <p14:sldId id="2147469946"/>
          </p14:sldIdLst>
        </p14:section>
        <p14:section name="Case studies" id="{7D446904-23DE-4B5A-A198-3F4EE3C1A6CC}">
          <p14:sldIdLst>
            <p14:sldId id="2076136260"/>
            <p14:sldId id="2076137848"/>
            <p14:sldId id="2147469947"/>
            <p14:sldId id="2147469948"/>
            <p14:sldId id="2076137823"/>
          </p14:sldIdLst>
        </p14:section>
        <p14:section name="Why Azure" id="{8DDDFD2A-655B-47E3-A638-141A83BEF0BB}">
          <p14:sldIdLst>
            <p14:sldId id="2076138048"/>
            <p14:sldId id="2076138049"/>
          </p14:sldIdLst>
        </p14:section>
        <p14:section name="Azure SQL" id="{B9820666-5ED3-4842-BC4F-3733A5C9908B}">
          <p14:sldIdLst>
            <p14:sldId id="2147468186"/>
            <p14:sldId id="2076138051"/>
            <p14:sldId id="2076138052"/>
            <p14:sldId id="2076138053"/>
            <p14:sldId id="307"/>
            <p14:sldId id="2076138054"/>
            <p14:sldId id="2147469945"/>
            <p14:sldId id="327"/>
            <p14:sldId id="2076136866"/>
          </p14:sldIdLst>
        </p14:section>
        <p14:section name="Azure OSS databases" id="{757AAF03-2D02-4640-A9F5-81DE54D17AC1}">
          <p14:sldIdLst>
            <p14:sldId id="2076137847"/>
            <p14:sldId id="2145705522"/>
            <p14:sldId id="2145705516"/>
            <p14:sldId id="2145705517"/>
            <p14:sldId id="2145705518"/>
            <p14:sldId id="2147469949"/>
            <p14:sldId id="2142532742"/>
            <p14:sldId id="2145706029"/>
          </p14:sldIdLst>
        </p14:section>
        <p14:section name="Migration" id="{DA1F4916-E3C6-4672-840C-5CD4B0532247}">
          <p14:sldIdLst>
            <p14:sldId id="2076137849"/>
            <p14:sldId id="2145705512"/>
            <p14:sldId id="2145705511"/>
            <p14:sldId id="2076137699"/>
            <p14:sldId id="2147469950"/>
            <p14:sldId id="2076138047"/>
          </p14:sldIdLst>
        </p14:section>
        <p14:section name="Appendix" id="{53C0D365-70AE-4B4F-8595-3FCA974FC5C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3B292D-2EE2-D4C0-DD00-BB3C5A3F3747}" name="Eric Hudson" initials="EH" userId="S::erhud@microsoft.com::f859fe2f-7739-4afd-950e-064b49c0dc77" providerId="AD"/>
  <p188:author id="{FDA15187-C414-11C8-17D4-F2F90932CDE6}" name="Gabi Pacheco" initials="GP" userId="S::gabipacheco@microsoft.com::54df8758-1424-469d-9134-0998e8169f16" providerId="AD"/>
  <p188:author id="{B573B898-851A-81DC-1570-C726058025BA}" name="Jasmine Henry" initials="JH" userId="S::jashenry@microsoft.com::5c7e4700-55bf-45ef-8505-8e7761456b9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ick Dwyer" initials="ND" lastIdx="32" clrIdx="0">
    <p:extLst>
      <p:ext uri="{19B8F6BF-5375-455C-9EA6-DF929625EA0E}">
        <p15:presenceInfo xmlns:p15="http://schemas.microsoft.com/office/powerpoint/2012/main" userId="S::Nick@2a.consulting::637372cd-8f04-49e1-a9c8-f5dbbdc447b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71" autoAdjust="0"/>
    <p:restoredTop sz="71687" autoAdjust="0"/>
  </p:normalViewPr>
  <p:slideViewPr>
    <p:cSldViewPr snapToGrid="0">
      <p:cViewPr varScale="1">
        <p:scale>
          <a:sx n="49" d="100"/>
          <a:sy n="49" d="100"/>
        </p:scale>
        <p:origin x="1614"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microsoft.com/office/2018/10/relationships/authors" Target="authors.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in Kumar" userId="285015fa-8ca7-4b4f-93a6-38ccd96422c0" providerId="ADAL" clId="{62B8D9C3-01B5-4830-AB4D-9FB3E315989E}"/>
    <pc:docChg chg="undo custSel delSld modSld modSection">
      <pc:chgData name="Salin Kumar" userId="285015fa-8ca7-4b4f-93a6-38ccd96422c0" providerId="ADAL" clId="{62B8D9C3-01B5-4830-AB4D-9FB3E315989E}" dt="2023-08-16T18:23:18.844" v="57" actId="47"/>
      <pc:docMkLst>
        <pc:docMk/>
      </pc:docMkLst>
      <pc:sldChg chg="modSp mod">
        <pc:chgData name="Salin Kumar" userId="285015fa-8ca7-4b4f-93a6-38ccd96422c0" providerId="ADAL" clId="{62B8D9C3-01B5-4830-AB4D-9FB3E315989E}" dt="2023-08-03T06:31:53.152" v="33" actId="20577"/>
        <pc:sldMkLst>
          <pc:docMk/>
          <pc:sldMk cId="1917135785" sldId="1820"/>
        </pc:sldMkLst>
        <pc:spChg chg="mod">
          <ac:chgData name="Salin Kumar" userId="285015fa-8ca7-4b4f-93a6-38ccd96422c0" providerId="ADAL" clId="{62B8D9C3-01B5-4830-AB4D-9FB3E315989E}" dt="2023-08-03T06:31:53.152" v="33" actId="20577"/>
          <ac:spMkLst>
            <pc:docMk/>
            <pc:sldMk cId="1917135785" sldId="1820"/>
            <ac:spMk id="4" creationId="{00000000-0000-0000-0000-000000000000}"/>
          </ac:spMkLst>
        </pc:spChg>
      </pc:sldChg>
      <pc:sldChg chg="modSp mod">
        <pc:chgData name="Salin Kumar" userId="285015fa-8ca7-4b4f-93a6-38ccd96422c0" providerId="ADAL" clId="{62B8D9C3-01B5-4830-AB4D-9FB3E315989E}" dt="2023-08-03T06:32:36.891" v="37" actId="1076"/>
        <pc:sldMkLst>
          <pc:docMk/>
          <pc:sldMk cId="79814387" sldId="1821"/>
        </pc:sldMkLst>
        <pc:spChg chg="mod">
          <ac:chgData name="Salin Kumar" userId="285015fa-8ca7-4b4f-93a6-38ccd96422c0" providerId="ADAL" clId="{62B8D9C3-01B5-4830-AB4D-9FB3E315989E}" dt="2023-08-03T06:32:36.891" v="37" actId="1076"/>
          <ac:spMkLst>
            <pc:docMk/>
            <pc:sldMk cId="79814387" sldId="1821"/>
            <ac:spMk id="2" creationId="{B8EB5FBF-7A11-624E-AA00-C53BF09BA7EB}"/>
          </ac:spMkLst>
        </pc:spChg>
        <pc:spChg chg="mod">
          <ac:chgData name="Salin Kumar" userId="285015fa-8ca7-4b4f-93a6-38ccd96422c0" providerId="ADAL" clId="{62B8D9C3-01B5-4830-AB4D-9FB3E315989E}" dt="2023-08-03T06:32:24.974" v="36" actId="20577"/>
          <ac:spMkLst>
            <pc:docMk/>
            <pc:sldMk cId="79814387" sldId="1821"/>
            <ac:spMk id="3" creationId="{7A026A1A-543E-E746-9FD3-87127F947D8A}"/>
          </ac:spMkLst>
        </pc:spChg>
      </pc:sldChg>
      <pc:sldChg chg="modSp mod">
        <pc:chgData name="Salin Kumar" userId="285015fa-8ca7-4b4f-93a6-38ccd96422c0" providerId="ADAL" clId="{62B8D9C3-01B5-4830-AB4D-9FB3E315989E}" dt="2023-08-03T06:35:13.233" v="39" actId="20577"/>
        <pc:sldMkLst>
          <pc:docMk/>
          <pc:sldMk cId="1457026325" sldId="2076136260"/>
        </pc:sldMkLst>
        <pc:spChg chg="mod">
          <ac:chgData name="Salin Kumar" userId="285015fa-8ca7-4b4f-93a6-38ccd96422c0" providerId="ADAL" clId="{62B8D9C3-01B5-4830-AB4D-9FB3E315989E}" dt="2023-08-03T06:35:13.233" v="39" actId="20577"/>
          <ac:spMkLst>
            <pc:docMk/>
            <pc:sldMk cId="1457026325" sldId="2076136260"/>
            <ac:spMk id="2" creationId="{9922F2B9-C87D-407C-A1EE-615CB232F138}"/>
          </ac:spMkLst>
        </pc:spChg>
      </pc:sldChg>
      <pc:sldChg chg="del">
        <pc:chgData name="Salin Kumar" userId="285015fa-8ca7-4b4f-93a6-38ccd96422c0" providerId="ADAL" clId="{62B8D9C3-01B5-4830-AB4D-9FB3E315989E}" dt="2023-08-16T18:23:18.844" v="57" actId="47"/>
        <pc:sldMkLst>
          <pc:docMk/>
          <pc:sldMk cId="2656423172" sldId="2076137350"/>
        </pc:sldMkLst>
      </pc:sldChg>
      <pc:sldChg chg="modSp mod">
        <pc:chgData name="Salin Kumar" userId="285015fa-8ca7-4b4f-93a6-38ccd96422c0" providerId="ADAL" clId="{62B8D9C3-01B5-4830-AB4D-9FB3E315989E}" dt="2023-08-03T06:40:36.498" v="41" actId="6549"/>
        <pc:sldMkLst>
          <pc:docMk/>
          <pc:sldMk cId="1258187891" sldId="2076138047"/>
        </pc:sldMkLst>
        <pc:spChg chg="mod">
          <ac:chgData name="Salin Kumar" userId="285015fa-8ca7-4b4f-93a6-38ccd96422c0" providerId="ADAL" clId="{62B8D9C3-01B5-4830-AB4D-9FB3E315989E}" dt="2023-08-03T06:40:36.498" v="41" actId="6549"/>
          <ac:spMkLst>
            <pc:docMk/>
            <pc:sldMk cId="1258187891" sldId="2076138047"/>
            <ac:spMk id="2" creationId="{B8EB5FBF-7A11-624E-AA00-C53BF09BA7EB}"/>
          </ac:spMkLst>
        </pc:spChg>
      </pc:sldChg>
      <pc:sldChg chg="modNotesTx">
        <pc:chgData name="Salin Kumar" userId="285015fa-8ca7-4b4f-93a6-38ccd96422c0" providerId="ADAL" clId="{62B8D9C3-01B5-4830-AB4D-9FB3E315989E}" dt="2023-08-16T18:15:02.365" v="56" actId="20577"/>
        <pc:sldMkLst>
          <pc:docMk/>
          <pc:sldMk cId="3125030215" sldId="2076138048"/>
        </pc:sldMkLst>
      </pc:sldChg>
      <pc:sldChg chg="del">
        <pc:chgData name="Salin Kumar" userId="285015fa-8ca7-4b4f-93a6-38ccd96422c0" providerId="ADAL" clId="{62B8D9C3-01B5-4830-AB4D-9FB3E315989E}" dt="2023-08-03T06:40:25.687" v="40" actId="47"/>
        <pc:sldMkLst>
          <pc:docMk/>
          <pc:sldMk cId="1543774540" sldId="2134804581"/>
        </pc:sldMkLst>
      </pc:sldChg>
      <pc:sldChg chg="del">
        <pc:chgData name="Salin Kumar" userId="285015fa-8ca7-4b4f-93a6-38ccd96422c0" providerId="ADAL" clId="{62B8D9C3-01B5-4830-AB4D-9FB3E315989E}" dt="2023-08-03T06:40:54.468" v="43" actId="47"/>
        <pc:sldMkLst>
          <pc:docMk/>
          <pc:sldMk cId="1395054128" sldId="2145705514"/>
        </pc:sldMkLst>
      </pc:sldChg>
      <pc:sldChg chg="del">
        <pc:chgData name="Salin Kumar" userId="285015fa-8ca7-4b4f-93a6-38ccd96422c0" providerId="ADAL" clId="{62B8D9C3-01B5-4830-AB4D-9FB3E315989E}" dt="2023-08-03T06:40:53.142" v="42" actId="47"/>
        <pc:sldMkLst>
          <pc:docMk/>
          <pc:sldMk cId="3708360970" sldId="214570551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https://microsoft-my.sharepoint.com/personal/jachilds_microsoft_com/Documents/ORCAS/Ad%20Hoc/Azure%20vs.%20Cloud%20Competitors%20TCO.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https://microsoft-my.sharepoint.com/personal/jachilds_microsoft_com/Documents/ORCAS/Ad%20Hoc/Azure%20vs.%20Cloud%20Competitors%20TC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229149204678463E-2"/>
          <c:y val="4.079622716491179E-2"/>
          <c:w val="0.73815036737581252"/>
          <c:h val="0.8604843302738383"/>
        </c:manualLayout>
      </c:layout>
      <c:barChart>
        <c:barDir val="col"/>
        <c:grouping val="stacked"/>
        <c:varyColors val="0"/>
        <c:ser>
          <c:idx val="0"/>
          <c:order val="0"/>
          <c:tx>
            <c:strRef>
              <c:f>'[Azure vs. Cloud Competitors TCO.xlsx]Sheet1'!$D$13</c:f>
              <c:strCache>
                <c:ptCount val="1"/>
                <c:pt idx="0">
                  <c:v>Compute Cost</c:v>
                </c:pt>
              </c:strCache>
            </c:strRef>
          </c:tx>
          <c:spPr>
            <a:solidFill>
              <a:schemeClr val="accent1"/>
            </a:solidFill>
            <a:ln>
              <a:solidFill>
                <a:schemeClr val="bg1"/>
              </a:solidFill>
            </a:ln>
            <a:effectLst/>
          </c:spPr>
          <c:invertIfNegative val="0"/>
          <c:dPt>
            <c:idx val="0"/>
            <c:invertIfNegative val="0"/>
            <c:bubble3D val="0"/>
            <c:extLst>
              <c:ext xmlns:c16="http://schemas.microsoft.com/office/drawing/2014/chart" uri="{C3380CC4-5D6E-409C-BE32-E72D297353CC}">
                <c16:uniqueId val="{00000000-BBCD-48E9-9E91-4D18A5021EF5}"/>
              </c:ext>
            </c:extLst>
          </c:dPt>
          <c:dPt>
            <c:idx val="1"/>
            <c:invertIfNegative val="0"/>
            <c:bubble3D val="0"/>
            <c:spPr>
              <a:solidFill>
                <a:schemeClr val="accent4">
                  <a:lumMod val="50000"/>
                </a:schemeClr>
              </a:solidFill>
              <a:ln>
                <a:solidFill>
                  <a:schemeClr val="bg1"/>
                </a:solidFill>
              </a:ln>
              <a:effectLst/>
            </c:spPr>
            <c:extLst>
              <c:ext xmlns:c16="http://schemas.microsoft.com/office/drawing/2014/chart" uri="{C3380CC4-5D6E-409C-BE32-E72D297353CC}">
                <c16:uniqueId val="{00000002-BBCD-48E9-9E91-4D18A5021EF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'[Azure vs. Cloud Competitors TCO.xlsx]Sheet1'!$C$57:$C$58</c:f>
              <c:strCache>
                <c:ptCount val="2"/>
                <c:pt idx="0">
                  <c:v>Azure MySQL GP 8 vCore</c:v>
                </c:pt>
                <c:pt idx="1">
                  <c:v>AWS RDS MySQL db.m4.2xlarge</c:v>
                </c:pt>
              </c:strCache>
            </c:strRef>
          </c:cat>
          <c:val>
            <c:numRef>
              <c:f>'[Azure vs. Cloud Competitors TCO.xlsx]Sheet1'!$D$57:$D$58</c:f>
              <c:numCache>
                <c:formatCode>"$"#,##0_);[Red]\("$"#,##0\)</c:formatCode>
                <c:ptCount val="2"/>
                <c:pt idx="0">
                  <c:v>521.54399999999998</c:v>
                </c:pt>
                <c:pt idx="1">
                  <c:v>1041.5999999999999</c:v>
                </c:pt>
              </c:numCache>
            </c:numRef>
          </c:val>
          <c:extLst>
            <c:ext xmlns:c16="http://schemas.microsoft.com/office/drawing/2014/chart" uri="{C3380CC4-5D6E-409C-BE32-E72D297353CC}">
              <c16:uniqueId val="{00000003-BBCD-48E9-9E91-4D18A5021EF5}"/>
            </c:ext>
          </c:extLst>
        </c:ser>
        <c:ser>
          <c:idx val="1"/>
          <c:order val="1"/>
          <c:tx>
            <c:strRef>
              <c:f>'[Azure vs. Cloud Competitors TCO.xlsx]Sheet1'!$E$13</c:f>
              <c:strCache>
                <c:ptCount val="1"/>
                <c:pt idx="0">
                  <c:v>Storage Cost</c:v>
                </c:pt>
              </c:strCache>
            </c:strRef>
          </c:tx>
          <c:spPr>
            <a:solidFill>
              <a:schemeClr val="accent2"/>
            </a:solidFill>
            <a:ln>
              <a:solidFill>
                <a:schemeClr val="bg1"/>
              </a:solidFill>
            </a:ln>
            <a:effectLst/>
          </c:spPr>
          <c:invertIfNegative val="0"/>
          <c:dPt>
            <c:idx val="0"/>
            <c:invertIfNegative val="0"/>
            <c:bubble3D val="0"/>
            <c:extLst>
              <c:ext xmlns:c16="http://schemas.microsoft.com/office/drawing/2014/chart" uri="{C3380CC4-5D6E-409C-BE32-E72D297353CC}">
                <c16:uniqueId val="{00000004-BBCD-48E9-9E91-4D18A5021EF5}"/>
              </c:ext>
            </c:extLst>
          </c:dPt>
          <c:dPt>
            <c:idx val="1"/>
            <c:invertIfNegative val="0"/>
            <c:bubble3D val="0"/>
            <c:spPr>
              <a:solidFill>
                <a:schemeClr val="accent4"/>
              </a:solidFill>
              <a:ln>
                <a:solidFill>
                  <a:schemeClr val="bg1"/>
                </a:solidFill>
              </a:ln>
              <a:effectLst/>
            </c:spPr>
            <c:extLst>
              <c:ext xmlns:c16="http://schemas.microsoft.com/office/drawing/2014/chart" uri="{C3380CC4-5D6E-409C-BE32-E72D297353CC}">
                <c16:uniqueId val="{00000006-BBCD-48E9-9E91-4D18A5021EF5}"/>
              </c:ext>
            </c:extLst>
          </c:dPt>
          <c:dLbls>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4-BBCD-48E9-9E91-4D18A5021EF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'[Azure vs. Cloud Competitors TCO.xlsx]Sheet1'!$C$57:$C$58</c:f>
              <c:strCache>
                <c:ptCount val="2"/>
                <c:pt idx="0">
                  <c:v>Azure MySQL GP 8 vCore</c:v>
                </c:pt>
                <c:pt idx="1">
                  <c:v>AWS RDS MySQL db.m4.2xlarge</c:v>
                </c:pt>
              </c:strCache>
            </c:strRef>
          </c:cat>
          <c:val>
            <c:numRef>
              <c:f>'[Azure vs. Cloud Competitors TCO.xlsx]Sheet1'!$E$57:$E$58</c:f>
              <c:numCache>
                <c:formatCode>"$"#,##0_);[Red]\("$"#,##0\)</c:formatCode>
                <c:ptCount val="2"/>
                <c:pt idx="0">
                  <c:v>115</c:v>
                </c:pt>
                <c:pt idx="1">
                  <c:v>230</c:v>
                </c:pt>
              </c:numCache>
            </c:numRef>
          </c:val>
          <c:extLst>
            <c:ext xmlns:c16="http://schemas.microsoft.com/office/drawing/2014/chart" uri="{C3380CC4-5D6E-409C-BE32-E72D297353CC}">
              <c16:uniqueId val="{00000007-BBCD-48E9-9E91-4D18A5021EF5}"/>
            </c:ext>
          </c:extLst>
        </c:ser>
        <c:ser>
          <c:idx val="2"/>
          <c:order val="2"/>
          <c:tx>
            <c:strRef>
              <c:f>'[Azure vs. Cloud Competitors TCO.xlsx]Sheet1'!$F$13</c:f>
              <c:strCache>
                <c:ptCount val="1"/>
                <c:pt idx="0">
                  <c:v>Total Monthly Cost</c:v>
                </c:pt>
              </c:strCache>
            </c:strRef>
          </c:tx>
          <c:spPr>
            <a:noFill/>
            <a:ln>
              <a:noFill/>
            </a:ln>
            <a:effectLst/>
          </c:spPr>
          <c:invertIfNegative val="0"/>
          <c:dLbls>
            <c:dLbl>
              <c:idx val="1"/>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BBCD-48E9-9E91-4D18A5021EF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'[Azure vs. Cloud Competitors TCO.xlsx]Sheet1'!$C$57:$C$58</c:f>
              <c:strCache>
                <c:ptCount val="2"/>
                <c:pt idx="0">
                  <c:v>Azure MySQL GP 8 vCore</c:v>
                </c:pt>
                <c:pt idx="1">
                  <c:v>AWS RDS MySQL db.m4.2xlarge</c:v>
                </c:pt>
              </c:strCache>
            </c:strRef>
          </c:cat>
          <c:val>
            <c:numRef>
              <c:f>'[Azure vs. Cloud Competitors TCO.xlsx]Sheet1'!$F$57:$F$58</c:f>
              <c:numCache>
                <c:formatCode>"$"#,##0_);[Red]\("$"#,##0\)</c:formatCode>
                <c:ptCount val="2"/>
                <c:pt idx="0">
                  <c:v>636.54399999999998</c:v>
                </c:pt>
                <c:pt idx="1">
                  <c:v>1271.5999999999999</c:v>
                </c:pt>
              </c:numCache>
            </c:numRef>
          </c:val>
          <c:extLst>
            <c:ext xmlns:c16="http://schemas.microsoft.com/office/drawing/2014/chart" uri="{C3380CC4-5D6E-409C-BE32-E72D297353CC}">
              <c16:uniqueId val="{00000009-BBCD-48E9-9E91-4D18A5021EF5}"/>
            </c:ext>
          </c:extLst>
        </c:ser>
        <c:dLbls>
          <c:dLblPos val="ctr"/>
          <c:showLegendKey val="0"/>
          <c:showVal val="1"/>
          <c:showCatName val="0"/>
          <c:showSerName val="0"/>
          <c:showPercent val="0"/>
          <c:showBubbleSize val="0"/>
        </c:dLbls>
        <c:gapWidth val="50"/>
        <c:overlap val="100"/>
        <c:axId val="790960544"/>
        <c:axId val="790954312"/>
      </c:barChart>
      <c:catAx>
        <c:axId val="790960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0954312"/>
        <c:crosses val="autoZero"/>
        <c:auto val="1"/>
        <c:lblAlgn val="ctr"/>
        <c:lblOffset val="100"/>
        <c:noMultiLvlLbl val="0"/>
      </c:catAx>
      <c:valAx>
        <c:axId val="790954312"/>
        <c:scaling>
          <c:orientation val="minMax"/>
          <c:max val="2000"/>
        </c:scaling>
        <c:delete val="1"/>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crossAx val="790960544"/>
        <c:crosses val="autoZero"/>
        <c:crossBetween val="between"/>
        <c:majorUnit val="5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237796664441091"/>
          <c:y val="4.079612186283444E-2"/>
          <c:w val="0.73815036737581252"/>
          <c:h val="0.8604843302738383"/>
        </c:manualLayout>
      </c:layout>
      <c:barChart>
        <c:barDir val="col"/>
        <c:grouping val="stacked"/>
        <c:varyColors val="0"/>
        <c:ser>
          <c:idx val="0"/>
          <c:order val="0"/>
          <c:tx>
            <c:strRef>
              <c:f>'[Azure vs. Cloud Competitors TCO.xlsx]Sheet1'!$D$13</c:f>
              <c:strCache>
                <c:ptCount val="1"/>
                <c:pt idx="0">
                  <c:v>Compute Cost</c:v>
                </c:pt>
              </c:strCache>
            </c:strRef>
          </c:tx>
          <c:spPr>
            <a:solidFill>
              <a:schemeClr val="accent1"/>
            </a:solidFill>
            <a:ln>
              <a:solidFill>
                <a:schemeClr val="bg1"/>
              </a:solidFill>
            </a:ln>
            <a:effectLst/>
          </c:spPr>
          <c:invertIfNegative val="0"/>
          <c:dPt>
            <c:idx val="0"/>
            <c:invertIfNegative val="0"/>
            <c:bubble3D val="0"/>
            <c:extLst>
              <c:ext xmlns:c16="http://schemas.microsoft.com/office/drawing/2014/chart" uri="{C3380CC4-5D6E-409C-BE32-E72D297353CC}">
                <c16:uniqueId val="{00000000-F12E-416D-814C-A6DC76FB5FD2}"/>
              </c:ext>
            </c:extLst>
          </c:dPt>
          <c:dPt>
            <c:idx val="1"/>
            <c:invertIfNegative val="0"/>
            <c:bubble3D val="0"/>
            <c:spPr>
              <a:solidFill>
                <a:schemeClr val="accent4">
                  <a:lumMod val="50000"/>
                </a:schemeClr>
              </a:solidFill>
              <a:ln>
                <a:solidFill>
                  <a:schemeClr val="bg1"/>
                </a:solidFill>
              </a:ln>
              <a:effectLst/>
            </c:spPr>
            <c:extLst>
              <c:ext xmlns:c16="http://schemas.microsoft.com/office/drawing/2014/chart" uri="{C3380CC4-5D6E-409C-BE32-E72D297353CC}">
                <c16:uniqueId val="{00000002-F12E-416D-814C-A6DC76FB5FD2}"/>
              </c:ext>
            </c:extLst>
          </c:dPt>
          <c:dLbls>
            <c:delete val="1"/>
          </c:dLbls>
          <c:cat>
            <c:strRef>
              <c:f>'[Azure vs. Cloud Competitors TCO.xlsx]Sheet1'!$C$83:$C$84</c:f>
              <c:strCache>
                <c:ptCount val="2"/>
                <c:pt idx="0">
                  <c:v>Azure MySQL MO 8 vCore</c:v>
                </c:pt>
                <c:pt idx="1">
                  <c:v>AWS RDS MySQL db.r4.2xlarge</c:v>
                </c:pt>
              </c:strCache>
            </c:strRef>
          </c:cat>
          <c:val>
            <c:numRef>
              <c:f>'[Azure vs. Cloud Competitors TCO.xlsx]Sheet1'!$D$83:$D$84</c:f>
              <c:numCache>
                <c:formatCode>"$"#,##0_);[Red]\("$"#,##0\)</c:formatCode>
                <c:ptCount val="2"/>
                <c:pt idx="0">
                  <c:v>703.07999999999993</c:v>
                </c:pt>
                <c:pt idx="1">
                  <c:v>1428.48</c:v>
                </c:pt>
              </c:numCache>
            </c:numRef>
          </c:val>
          <c:extLst>
            <c:ext xmlns:c16="http://schemas.microsoft.com/office/drawing/2014/chart" uri="{C3380CC4-5D6E-409C-BE32-E72D297353CC}">
              <c16:uniqueId val="{00000003-F12E-416D-814C-A6DC76FB5FD2}"/>
            </c:ext>
          </c:extLst>
        </c:ser>
        <c:ser>
          <c:idx val="1"/>
          <c:order val="1"/>
          <c:tx>
            <c:strRef>
              <c:f>'[Azure vs. Cloud Competitors TCO.xlsx]Sheet1'!$E$13</c:f>
              <c:strCache>
                <c:ptCount val="1"/>
                <c:pt idx="0">
                  <c:v>Storage Cost</c:v>
                </c:pt>
              </c:strCache>
            </c:strRef>
          </c:tx>
          <c:spPr>
            <a:solidFill>
              <a:schemeClr val="accent1"/>
            </a:solidFill>
            <a:ln>
              <a:solidFill>
                <a:schemeClr val="bg1"/>
              </a:solidFill>
            </a:ln>
            <a:effectLst/>
          </c:spPr>
          <c:invertIfNegative val="0"/>
          <c:dPt>
            <c:idx val="0"/>
            <c:invertIfNegative val="0"/>
            <c:bubble3D val="0"/>
            <c:spPr>
              <a:solidFill>
                <a:schemeClr val="accent2"/>
              </a:solidFill>
              <a:ln>
                <a:solidFill>
                  <a:schemeClr val="bg1"/>
                </a:solidFill>
              </a:ln>
              <a:effectLst/>
            </c:spPr>
            <c:extLst>
              <c:ext xmlns:c16="http://schemas.microsoft.com/office/drawing/2014/chart" uri="{C3380CC4-5D6E-409C-BE32-E72D297353CC}">
                <c16:uniqueId val="{00000005-F12E-416D-814C-A6DC76FB5FD2}"/>
              </c:ext>
            </c:extLst>
          </c:dPt>
          <c:dPt>
            <c:idx val="1"/>
            <c:invertIfNegative val="0"/>
            <c:bubble3D val="0"/>
            <c:spPr>
              <a:solidFill>
                <a:schemeClr val="accent4"/>
              </a:solidFill>
              <a:ln>
                <a:solidFill>
                  <a:schemeClr val="bg1"/>
                </a:solidFill>
              </a:ln>
              <a:effectLst/>
            </c:spPr>
            <c:extLst>
              <c:ext xmlns:c16="http://schemas.microsoft.com/office/drawing/2014/chart" uri="{C3380CC4-5D6E-409C-BE32-E72D297353CC}">
                <c16:uniqueId val="{00000007-F12E-416D-814C-A6DC76FB5FD2}"/>
              </c:ext>
            </c:extLst>
          </c:dPt>
          <c:dLbls>
            <c:delete val="1"/>
          </c:dLbls>
          <c:cat>
            <c:strRef>
              <c:f>'[Azure vs. Cloud Competitors TCO.xlsx]Sheet1'!$C$83:$C$84</c:f>
              <c:strCache>
                <c:ptCount val="2"/>
                <c:pt idx="0">
                  <c:v>Azure MySQL MO 8 vCore</c:v>
                </c:pt>
                <c:pt idx="1">
                  <c:v>AWS RDS MySQL db.r4.2xlarge</c:v>
                </c:pt>
              </c:strCache>
            </c:strRef>
          </c:cat>
          <c:val>
            <c:numRef>
              <c:f>'[Azure vs. Cloud Competitors TCO.xlsx]Sheet1'!$E$83:$E$84</c:f>
              <c:numCache>
                <c:formatCode>"$"#,##0_);[Red]\("$"#,##0\)</c:formatCode>
                <c:ptCount val="2"/>
                <c:pt idx="0">
                  <c:v>115</c:v>
                </c:pt>
                <c:pt idx="1">
                  <c:v>230</c:v>
                </c:pt>
              </c:numCache>
            </c:numRef>
          </c:val>
          <c:extLst>
            <c:ext xmlns:c16="http://schemas.microsoft.com/office/drawing/2014/chart" uri="{C3380CC4-5D6E-409C-BE32-E72D297353CC}">
              <c16:uniqueId val="{00000008-F12E-416D-814C-A6DC76FB5FD2}"/>
            </c:ext>
          </c:extLst>
        </c:ser>
        <c:ser>
          <c:idx val="2"/>
          <c:order val="2"/>
          <c:tx>
            <c:strRef>
              <c:f>'[Azure vs. Cloud Competitors TCO.xlsx]Sheet1'!$F$13</c:f>
              <c:strCache>
                <c:ptCount val="1"/>
                <c:pt idx="0">
                  <c:v>Total Monthly Cost</c:v>
                </c:pt>
              </c:strCache>
            </c:strRef>
          </c:tx>
          <c:spPr>
            <a:noFill/>
            <a:ln>
              <a:noFill/>
            </a:ln>
            <a:effectLst/>
          </c:spPr>
          <c:invertIfNegative val="0"/>
          <c:dLbls>
            <c:delete val="1"/>
          </c:dLbls>
          <c:cat>
            <c:strRef>
              <c:f>'[Azure vs. Cloud Competitors TCO.xlsx]Sheet1'!$C$83:$C$84</c:f>
              <c:strCache>
                <c:ptCount val="2"/>
                <c:pt idx="0">
                  <c:v>Azure MySQL MO 8 vCore</c:v>
                </c:pt>
                <c:pt idx="1">
                  <c:v>AWS RDS MySQL db.r4.2xlarge</c:v>
                </c:pt>
              </c:strCache>
            </c:strRef>
          </c:cat>
          <c:val>
            <c:numRef>
              <c:f>'[Azure vs. Cloud Competitors TCO.xlsx]Sheet1'!$F$83:$F$84</c:f>
              <c:numCache>
                <c:formatCode>"$"#,##0_);[Red]\("$"#,##0\)</c:formatCode>
                <c:ptCount val="2"/>
                <c:pt idx="0">
                  <c:v>818.07999999999993</c:v>
                </c:pt>
                <c:pt idx="1">
                  <c:v>1658.48</c:v>
                </c:pt>
              </c:numCache>
            </c:numRef>
          </c:val>
          <c:extLst>
            <c:ext xmlns:c16="http://schemas.microsoft.com/office/drawing/2014/chart" uri="{C3380CC4-5D6E-409C-BE32-E72D297353CC}">
              <c16:uniqueId val="{0000000A-F12E-416D-814C-A6DC76FB5FD2}"/>
            </c:ext>
          </c:extLst>
        </c:ser>
        <c:dLbls>
          <c:dLblPos val="ctr"/>
          <c:showLegendKey val="0"/>
          <c:showVal val="1"/>
          <c:showCatName val="0"/>
          <c:showSerName val="0"/>
          <c:showPercent val="0"/>
          <c:showBubbleSize val="0"/>
        </c:dLbls>
        <c:gapWidth val="50"/>
        <c:overlap val="100"/>
        <c:axId val="790960544"/>
        <c:axId val="790954312"/>
      </c:barChart>
      <c:catAx>
        <c:axId val="790960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0954312"/>
        <c:crosses val="autoZero"/>
        <c:auto val="1"/>
        <c:lblAlgn val="ctr"/>
        <c:lblOffset val="100"/>
        <c:noMultiLvlLbl val="0"/>
      </c:catAx>
      <c:valAx>
        <c:axId val="790954312"/>
        <c:scaling>
          <c:orientation val="minMax"/>
          <c:max val="2000"/>
        </c:scaling>
        <c:delete val="1"/>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crossAx val="790960544"/>
        <c:crosses val="autoZero"/>
        <c:crossBetween val="between"/>
        <c:majorUnit val="5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B3FD028F-19D4-4855-99FD-7E01D45AC548}" type="datetimeFigureOut">
              <a:rPr lang="en-US" smtClean="0"/>
              <a:t>8/16/2023</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6961CA17-F42D-4A8B-9CCD-3C184AAD0AA0}" type="slidenum">
              <a:rPr lang="en-US" smtClean="0"/>
              <a:t>‹#›</a:t>
            </a:fld>
            <a:endParaRPr lang="en-US"/>
          </a:p>
        </p:txBody>
      </p:sp>
    </p:spTree>
    <p:extLst>
      <p:ext uri="{BB962C8B-B14F-4D97-AF65-F5344CB8AC3E}">
        <p14:creationId xmlns:p14="http://schemas.microsoft.com/office/powerpoint/2010/main" val="224084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customers.microsoft.com/en-us/story/allscripts-partner-professional-services-azur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customers.microsoft.com/en-us/story/allscripts-partner-professional-services-azur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customers.microsoft.com/en-us/story/allscripts-partner-professional-services-azur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customers.microsoft.com/en-us/story/allscripts-partner-professional-services-azur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nam06.safelinks.protection.outlook.com/?url=https%3A%2F%2Fazure.microsoft.com%2Fen-us%2Foverview%2Fcost-optimization%2F&amp;data=04%7C01%7Cpragyap%40microsoft.com%7C4838f32fb5e248ff638908d7f1625c5c%7C72f988bf86f141af91ab2d7cd011db47%7C1%7C0%7C637243277075309950%7CUnknown%7CTWFpbGZsb3d8eyJWIjoiMC4wLjAwMDAiLCJQIjoiV2luMzIiLCJBTiI6Ik1haWwiLCJXVCI6Mn0%3D%7C-1&amp;sdata=lSFevCgVcj9TWZCf9dBn1ixto4LMiiiG%2BAHdLQ%2F3M1g%3D&amp;reserved=0" TargetMode="External"/><Relationship Id="rId13" Type="http://schemas.openxmlformats.org/officeDocument/2006/relationships/hyperlink" Target="https://customers.microsoft.com/en-us/story/allscripts-partner-professional-services-azure" TargetMode="External"/><Relationship Id="rId18" Type="http://schemas.openxmlformats.org/officeDocument/2006/relationships/hyperlink" Target="https://appmigration.microsoft.com/" TargetMode="External"/><Relationship Id="rId26" Type="http://schemas.openxmlformats.org/officeDocument/2006/relationships/hyperlink" Target="https://www.microsoft.com/en-us/solution-providers/search?cacheId=9c2fed4f-f9e2-42fb-8966-4c565f08f11e" TargetMode="External"/><Relationship Id="rId3" Type="http://schemas.openxmlformats.org/officeDocument/2006/relationships/hyperlink" Target="https://azure.microsoft.com/en-us/overview/azure-vs-aws/cost-savings/" TargetMode="External"/><Relationship Id="rId21" Type="http://schemas.openxmlformats.org/officeDocument/2006/relationships/hyperlink" Target="https://azure.microsoft.com/en-us/services/azure-sentinel/" TargetMode="External"/><Relationship Id="rId7" Type="http://schemas.openxmlformats.org/officeDocument/2006/relationships/hyperlink" Target="https://nam06.safelinks.protection.outlook.com/?url=https%3A%2F%2Fazure.microsoft.com%2Fen-us%2Fmigration%2Fmigration-program%2F&amp;data=04%7C01%7Cpragyap%40microsoft.com%7C4838f32fb5e248ff638908d7f1625c5c%7C72f988bf86f141af91ab2d7cd011db47%7C1%7C0%7C637243277075299957%7CUnknown%7CTWFpbGZsb3d8eyJWIjoiMC4wLjAwMDAiLCJQIjoiV2luMzIiLCJBTiI6Ik1haWwiLCJXVCI6Mn0%3D%7C-1&amp;sdata=dpi9zOd3gMiTToNFlPzEfisO3jo0o133esZzyC65dXc%3D&amp;reserved=0" TargetMode="External"/><Relationship Id="rId12" Type="http://schemas.openxmlformats.org/officeDocument/2006/relationships/hyperlink" Target="https://azure.microsoft.com/en-us/services/virtual-machines/secure-well-managed-iaas/" TargetMode="External"/><Relationship Id="rId17" Type="http://schemas.openxmlformats.org/officeDocument/2006/relationships/hyperlink" Target="https://azure.microsoft.com/en-us/services/app-service/" TargetMode="External"/><Relationship Id="rId25" Type="http://schemas.openxmlformats.org/officeDocument/2006/relationships/hyperlink" Target="https://azure.microsoft.com/en-us/migration/migration-program/" TargetMode="External"/><Relationship Id="rId2" Type="http://schemas.openxmlformats.org/officeDocument/2006/relationships/slide" Target="../slides/slide12.xml"/><Relationship Id="rId16" Type="http://schemas.openxmlformats.org/officeDocument/2006/relationships/hyperlink" Target="https://customers.microsoft.com/en-us/story/754838-premera-blue-cross-health-payor-azure" TargetMode="External"/><Relationship Id="rId20" Type="http://schemas.openxmlformats.org/officeDocument/2006/relationships/hyperlink" Target="https://azure.microsoft.com/en-us/services/security-center/" TargetMode="External"/><Relationship Id="rId1" Type="http://schemas.openxmlformats.org/officeDocument/2006/relationships/notesMaster" Target="../notesMasters/notesMaster1.xml"/><Relationship Id="rId6" Type="http://schemas.openxmlformats.org/officeDocument/2006/relationships/hyperlink" Target="https://docs.microsoft.com/en-us/azure/cloud-adoption-framework/" TargetMode="External"/><Relationship Id="rId11" Type="http://schemas.openxmlformats.org/officeDocument/2006/relationships/hyperlink" Target="https://azure.microsoft.com/en-us/overview/azure-vmware/" TargetMode="External"/><Relationship Id="rId24" Type="http://schemas.openxmlformats.org/officeDocument/2006/relationships/hyperlink" Target="https://azure.microsoft.com/en-us/services/site-recovery/" TargetMode="External"/><Relationship Id="rId5" Type="http://schemas.openxmlformats.org/officeDocument/2006/relationships/hyperlink" Target="https://www.microsoft.com/en-us/cloud-platform/extended-security-updates" TargetMode="External"/><Relationship Id="rId15" Type="http://schemas.openxmlformats.org/officeDocument/2006/relationships/hyperlink" Target="https://customers.microsoft.com/en-us/story/725726-komplett-retail-azure-norway" TargetMode="External"/><Relationship Id="rId23" Type="http://schemas.openxmlformats.org/officeDocument/2006/relationships/hyperlink" Target="https://azure.microsoft.com/en-us/services/backup/" TargetMode="External"/><Relationship Id="rId10" Type="http://schemas.openxmlformats.org/officeDocument/2006/relationships/hyperlink" Target="https://azure.microsoft.com/en-us/overview/what-is-azure/iaas/" TargetMode="External"/><Relationship Id="rId19" Type="http://schemas.openxmlformats.org/officeDocument/2006/relationships/hyperlink" Target="https://azure.microsoft.com/en-us/services/sql-database/" TargetMode="External"/><Relationship Id="rId4" Type="http://schemas.openxmlformats.org/officeDocument/2006/relationships/hyperlink" Target="https://azure.microsoft.com/en-us/pricing/hybrid-benefit/" TargetMode="External"/><Relationship Id="rId9" Type="http://schemas.openxmlformats.org/officeDocument/2006/relationships/hyperlink" Target="https://azure.microsoft.com/en-us/services/azure-migrate/" TargetMode="External"/><Relationship Id="rId14" Type="http://schemas.openxmlformats.org/officeDocument/2006/relationships/hyperlink" Target="https://customers.microsoft.com/en-us/story/maersk-travel-transportation-microsoft-services" TargetMode="External"/><Relationship Id="rId22" Type="http://schemas.openxmlformats.org/officeDocument/2006/relationships/hyperlink" Target="https://docs.microsoft.com/en-us/azure/best-practices-availability-paired-regions" TargetMode="External"/><Relationship Id="rId27" Type="http://schemas.openxmlformats.org/officeDocument/2006/relationships/hyperlink" Target="https://azure.microsoft.com/en-us/migration/"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zure.microsoft.com/en-us/services/sql-database-edge/"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azure.microsoft.com/en-us/overview/security/" TargetMode="External"/><Relationship Id="rId3" Type="http://schemas.openxmlformats.org/officeDocument/2006/relationships/hyperlink" Target="https://azure.microsoft.com/en-us/pricing/hybrid-benefit/" TargetMode="External"/><Relationship Id="rId7" Type="http://schemas.openxmlformats.org/officeDocument/2006/relationships/hyperlink" Target="https://docs.microsoft.com/en-us/azure/security/fundamentals/threat-detection#advanced-threat-detection-features-other-azure-services"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docs.microsoft.com/en-us/azure/sql-database/sql-database-technical-overview#create-and-manage-azure-sql-resources-with-the-azure-portal" TargetMode="External"/><Relationship Id="rId5" Type="http://schemas.openxmlformats.org/officeDocument/2006/relationships/hyperlink" Target="https://azure.microsoft.com/en-us/pricing/dev-test/" TargetMode="External"/><Relationship Id="rId4" Type="http://schemas.openxmlformats.org/officeDocument/2006/relationships/hyperlink" Target="https://azure.microsoft.com/en-us/reservations/" TargetMode="External"/><Relationship Id="rId9" Type="http://schemas.openxmlformats.org/officeDocument/2006/relationships/hyperlink" Target="https://azure.microsoft.com/en-us/overview/trusted-cloud/compliance/"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customers.microsoft.com/en-us/story/geekwire" TargetMode="External"/><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https://aka.ms/kjqu8y"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072DC8-D49D-432C-9D46-A7718B5F549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8/16/2023 4:44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62291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61CA17-F42D-4A8B-9CCD-3C184AAD0AA0}" type="slidenum">
              <a:rPr lang="en-US" smtClean="0"/>
              <a:t>2</a:t>
            </a:fld>
            <a:endParaRPr lang="en-US"/>
          </a:p>
        </p:txBody>
      </p:sp>
    </p:spTree>
    <p:extLst>
      <p:ext uri="{BB962C8B-B14F-4D97-AF65-F5344CB8AC3E}">
        <p14:creationId xmlns:p14="http://schemas.microsoft.com/office/powerpoint/2010/main" val="236001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8613" y="720725"/>
            <a:ext cx="6416675" cy="360997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Calibri" panose="020F0502020204030204" pitchFamily="34" charset="0"/>
              </a:rPr>
              <a:t>A year ago, businesses were responding to immediate needs created by the global crisis.  The good news is that we see many working through the recovery with new approaches utilizing the cloud and, in some cases, looking to even reimagine their businesses for the long term.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Calibri" panose="020F0502020204030204" pitchFamily="34" charset="0"/>
            </a:endParaRPr>
          </a:p>
          <a:p>
            <a:pPr>
              <a:defRPr/>
            </a:pPr>
            <a:r>
              <a:rPr lang="en-US" dirty="0"/>
              <a:t>Many of our customers are now thinking about planning what’s next. Given the uncertain macro environment but optimism on recovery, focusing on value, reducing cost and adapting business models and product offerings is center change. Eventually, our customers will start shape their future and focus on growth. </a:t>
            </a:r>
            <a:endParaRPr lang="en-US" dirty="0">
              <a:cs typeface="Calibri"/>
            </a:endParaRP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43403" rtl="0" eaLnBrk="1" fontAlgn="auto" latinLnBrk="0" hangingPunct="1">
              <a:lnSpc>
                <a:spcPct val="100000"/>
              </a:lnSpc>
              <a:spcBef>
                <a:spcPts val="0"/>
              </a:spcBef>
              <a:spcAft>
                <a:spcPts val="0"/>
              </a:spcAft>
              <a:buClrTx/>
              <a:buSzTx/>
              <a:buFontTx/>
              <a:buNone/>
              <a:tabLst/>
              <a:defRPr/>
            </a:pPr>
            <a:fld id="{596C6A1E-CC73-4395-9E98-AF1EE1E6ADC6}"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43403"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0743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As the pandemic is coming to an end, there are four winning strategies that IT leaders are adopting to continue the momentum to accelerate digital transformation: </a:t>
            </a:r>
          </a:p>
          <a:p>
            <a:pPr marL="0"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a:spcBef>
                <a:spcPts val="0"/>
              </a:spcBef>
              <a:spcAft>
                <a:spcPts val="0"/>
              </a:spcAft>
            </a:pPr>
            <a:r>
              <a:rPr lang="en-US" sz="1800" b="1" dirty="0">
                <a:effectLst/>
                <a:latin typeface="Calibri" panose="020F0502020204030204" pitchFamily="34" charset="0"/>
                <a:ea typeface="Times New Roman" panose="02020603050405020304" pitchFamily="18" charset="0"/>
              </a:rPr>
              <a:t>First</a:t>
            </a:r>
            <a:r>
              <a:rPr lang="en-US" sz="1800" dirty="0">
                <a:effectLst/>
                <a:latin typeface="Calibri" panose="020F0502020204030204" pitchFamily="34" charset="0"/>
                <a:ea typeface="Times New Roman" panose="02020603050405020304" pitchFamily="18" charset="0"/>
              </a:rPr>
              <a:t>, top performers in each industry are </a:t>
            </a:r>
            <a:r>
              <a:rPr lang="en-US" sz="1800" b="1" dirty="0">
                <a:effectLst/>
                <a:latin typeface="Calibri" panose="020F0502020204030204" pitchFamily="34" charset="0"/>
                <a:ea typeface="Times New Roman" panose="02020603050405020304" pitchFamily="18" charset="0"/>
              </a:rPr>
              <a:t>prioritizing their investments and talents towards new growth initiatives </a:t>
            </a:r>
            <a:r>
              <a:rPr lang="en-US" sz="1800" b="0" dirty="0">
                <a:effectLst/>
                <a:latin typeface="Calibri" panose="020F0502020204030204" pitchFamily="34" charset="0"/>
                <a:ea typeface="Times New Roman" panose="02020603050405020304" pitchFamily="18" charset="0"/>
              </a:rPr>
              <a:t>to stay ahead of the curve. </a:t>
            </a:r>
            <a:r>
              <a:rPr lang="en-US" sz="4400" dirty="0"/>
              <a:t>The global pandemic has given organizations the permission and courage to accelerate changes. To ensure the momentum continues post pandemic, </a:t>
            </a:r>
            <a:r>
              <a:rPr lang="en-US" sz="1800" b="0" dirty="0">
                <a:effectLst/>
                <a:latin typeface="Calibri" panose="020F0502020204030204" pitchFamily="34" charset="0"/>
                <a:ea typeface="Times New Roman" panose="02020603050405020304" pitchFamily="18" charset="0"/>
              </a:rPr>
              <a:t>IT leaders must help create urgencies in their organizations to invest in digital innovation and capture new opportunities. </a:t>
            </a:r>
          </a:p>
          <a:p>
            <a:pPr marL="0" marR="0" fontAlgn="base">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Second</a:t>
            </a:r>
            <a:r>
              <a:rPr lang="en-US" sz="1800" dirty="0">
                <a:effectLst/>
                <a:latin typeface="Calibri" panose="020F0502020204030204" pitchFamily="34" charset="0"/>
                <a:ea typeface="Calibri" panose="020F0502020204030204" pitchFamily="34" charset="0"/>
                <a:cs typeface="Calibri" panose="020F0502020204030204" pitchFamily="34" charset="0"/>
              </a:rPr>
              <a:t>, legacy systems and apps, sometimes referenced to as </a:t>
            </a:r>
            <a:r>
              <a:rPr lang="en-US" sz="1800" b="1" dirty="0">
                <a:effectLst/>
                <a:latin typeface="Calibri" panose="020F0502020204030204" pitchFamily="34" charset="0"/>
                <a:ea typeface="Calibri" panose="020F0502020204030204" pitchFamily="34" charset="0"/>
                <a:cs typeface="Calibri" panose="020F0502020204030204" pitchFamily="34" charset="0"/>
              </a:rPr>
              <a:t>technical debt</a:t>
            </a:r>
            <a:r>
              <a:rPr lang="en-US" sz="1800" dirty="0">
                <a:effectLst/>
                <a:latin typeface="Calibri" panose="020F0502020204030204" pitchFamily="34" charset="0"/>
                <a:ea typeface="Calibri" panose="020F0502020204030204" pitchFamily="34" charset="0"/>
                <a:cs typeface="Calibri" panose="020F0502020204030204" pitchFamily="34" charset="0"/>
              </a:rPr>
              <a:t>, can one of the biggest risks to a company’s transformation strategy. According to a McKinsey report, a company that spends more than half of its IT project budget on integrations and fixing legacy systems is likely to be caught in a tech-debt spiral. It’s important to methodically assess the existing IT and application portfolio and build a comprehensive modernization plan aligning to your business objectives. We have programs and support such as the Microsoft Cloud Adoption Framework and Azure Migration and Modernization Program (AMMP) that help you simplify and accelerate your cloud journey.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a:r>
              <a:rPr lang="en-US" sz="1800" b="1" dirty="0">
                <a:effectLst/>
                <a:latin typeface="Calibri" panose="020F0502020204030204" pitchFamily="34" charset="0"/>
                <a:ea typeface="Times New Roman" panose="02020603050405020304" pitchFamily="18" charset="0"/>
              </a:rPr>
              <a:t>Third</a:t>
            </a:r>
            <a:r>
              <a:rPr lang="en-US" sz="1800" dirty="0">
                <a:effectLst/>
                <a:latin typeface="Calibri" panose="020F0502020204030204" pitchFamily="34" charset="0"/>
                <a:ea typeface="Times New Roman" panose="02020603050405020304" pitchFamily="18" charset="0"/>
              </a:rPr>
              <a:t>, the global pandemic </a:t>
            </a:r>
            <a:r>
              <a:rPr lang="en-US" sz="4400" dirty="0"/>
              <a:t>exposed the fragility of </a:t>
            </a:r>
            <a:r>
              <a:rPr lang="en-US" sz="4400" b="1" dirty="0"/>
              <a:t>business operations</a:t>
            </a:r>
            <a:r>
              <a:rPr lang="en-US" sz="4400" dirty="0"/>
              <a:t>. Many organizations suffered severe disruptions in their supply chains during the initial lockdown, which are still slowly being resolved. IT leaders need to adopt the right technologies to </a:t>
            </a:r>
            <a:r>
              <a:rPr lang="en-US" sz="4400" b="1" dirty="0"/>
              <a:t>make the supply chain more resilient and efficient </a:t>
            </a:r>
            <a:r>
              <a:rPr lang="en-US" sz="4400" dirty="0"/>
              <a:t>- for example, duplicating key suppliers to create redundancy, bringing key business processes in house. The pandemic also drove the prevalence of </a:t>
            </a:r>
            <a:r>
              <a:rPr lang="en-US" sz="4400" b="1" dirty="0"/>
              <a:t>digital workplace</a:t>
            </a:r>
            <a:r>
              <a:rPr lang="en-US" sz="4400" dirty="0"/>
              <a:t>, it’s the IT leaders’ job to evaluate and adopt new technologies to continue to increase workplace productivity and collaboration.</a:t>
            </a:r>
          </a:p>
          <a:p>
            <a:pPr marL="0" marR="0" fontAlgn="base"/>
            <a:endParaRPr lang="en-US" sz="1800" dirty="0">
              <a:effectLst/>
              <a:latin typeface="Calibri" panose="020F0502020204030204" pitchFamily="34" charset="0"/>
              <a:ea typeface="Times New Roman" panose="02020603050405020304" pitchFamily="18" charset="0"/>
            </a:endParaRPr>
          </a:p>
          <a:p>
            <a:pPr marL="0" marR="0" fontAlgn="base">
              <a:spcBef>
                <a:spcPts val="0"/>
              </a:spcBef>
              <a:spcAft>
                <a:spcPts val="0"/>
              </a:spcAft>
            </a:pPr>
            <a:r>
              <a:rPr lang="en-US" sz="1800" dirty="0">
                <a:effectLst/>
                <a:latin typeface="Calibri" panose="020F0502020204030204" pitchFamily="34" charset="0"/>
                <a:ea typeface="Times New Roman" panose="02020603050405020304" pitchFamily="18" charset="0"/>
              </a:rPr>
              <a:t>Lastly, changes will not happen unless you build the right skills and culture. It is crucial to </a:t>
            </a:r>
            <a:r>
              <a:rPr lang="en-US" sz="1800" b="1" dirty="0">
                <a:effectLst/>
                <a:latin typeface="Calibri" panose="020F0502020204030204" pitchFamily="34" charset="0"/>
                <a:ea typeface="Times New Roman" panose="02020603050405020304" pitchFamily="18" charset="0"/>
              </a:rPr>
              <a:t>have the right IT leadership team in place, invest in upskilling the IT workforce, and cultivate a culture that embraces agility and innovation.  </a:t>
            </a:r>
          </a:p>
          <a:p>
            <a:pPr marL="0" marR="0" fontAlgn="base">
              <a:spcBef>
                <a:spcPts val="0"/>
              </a:spcBef>
              <a:spcAft>
                <a:spcPts val="0"/>
              </a:spcAft>
            </a:pPr>
            <a:endParaRPr lang="en-US" sz="1800" dirty="0">
              <a:effectLst/>
              <a:latin typeface="Calibri" panose="020F0502020204030204" pitchFamily="34" charset="0"/>
              <a:ea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484898-C74C-410F-827F-F5F157B684C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787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 findings predict continued migration and modernization momentum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CE064-7369-417B-A65C-55689CDB12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1095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C4C51"/>
                </a:solidFill>
                <a:effectLst/>
                <a:latin typeface="Segoe UI" panose="020B0502040204020203" pitchFamily="34" charset="0"/>
              </a:rPr>
              <a:t>A number of issues are driving customers to the cloud including Software and hardware end of support, outgrowing existing data centers, the need to integrate acquired companies as well as the ability to innovate with modern applications.</a:t>
            </a:r>
          </a:p>
          <a:p>
            <a:endParaRPr lang="en-US" b="0" i="0" dirty="0">
              <a:solidFill>
                <a:srgbClr val="4C4C51"/>
              </a:solidFill>
              <a:effectLst/>
              <a:latin typeface="Segoe UI" panose="020B0502040204020203" pitchFamily="34" charset="0"/>
            </a:endParaRPr>
          </a:p>
          <a:p>
            <a:endParaRPr lang="en-US" b="0" i="0" dirty="0">
              <a:solidFill>
                <a:srgbClr val="4C4C51"/>
              </a:solidFill>
              <a:effectLst/>
              <a:latin typeface="Segoe UI" panose="020B0502040204020203"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6AE915-B316-4484-9EA0-03EB58256B5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520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dirty="0">
                <a:solidFill>
                  <a:srgbClr val="000000"/>
                </a:solidFill>
                <a:effectLst/>
                <a:latin typeface="Segoe UI" panose="020B0502040204020203" pitchFamily="34" charset="0"/>
              </a:rPr>
              <a:t>Azure offers a comprehensive mix of technology, best practice guidance, programs, offers, and tools to migrate your entire datacenter to the cloud. Migrate with confidence and optimize your costs with our on-demand global infrastructure with the most regions of any cloud vendor. </a:t>
            </a:r>
          </a:p>
          <a:p>
            <a:pPr rtl="0" fontAlgn="base"/>
            <a:endParaRPr lang="en-US" sz="1200" b="0" i="0" dirty="0">
              <a:solidFill>
                <a:srgbClr val="000000"/>
              </a:solidFill>
              <a:effectLst/>
              <a:latin typeface="Segoe UI" panose="020B0502040204020203" pitchFamily="34" charset="0"/>
            </a:endParaRPr>
          </a:p>
          <a:p>
            <a:pPr rtl="0" fontAlgn="base"/>
            <a:r>
              <a:rPr lang="en-US" sz="1200" b="0" i="0" dirty="0">
                <a:solidFill>
                  <a:srgbClr val="000000"/>
                </a:solidFill>
                <a:effectLst/>
                <a:latin typeface="Segoe UI" panose="020B0502040204020203" pitchFamily="34" charset="0"/>
              </a:rPr>
              <a:t>Azure is the best cloud destination for your servers, applications, and databases. Our cost saving offers and capabilities are hybrid by design, knowing that you will likely operate that way for the foreseeable future. With Azure, you can be confident that you are running your Windows and SQL workloads at the lowest total cost of ownership versus competitors. Migrate your proprietary or open source databases, modernize your applications, and optimize your costs in the process. In addition to delivering a competitive total cost of ownership (TCO), customers can secure their workloads with industry leading intelligence and built-in security controls. Your business is no longer hostage to the capacity of your data center, and customers can scale their applications on demand to meet the business demands of tomorrow, without having to worry about infrastructure management. </a:t>
            </a:r>
          </a:p>
          <a:p>
            <a:pPr rtl="0" fontAlgn="base"/>
            <a:endParaRPr lang="en-US" sz="1200" b="0" i="0" u="none" strike="noStrike" kern="1200" dirty="0">
              <a:solidFill>
                <a:srgbClr val="000000"/>
              </a:solidFill>
              <a:effectLst/>
              <a:latin typeface="Segoe UI" panose="020B0502040204020203" pitchFamily="34" charset="0"/>
              <a:ea typeface="+mn-ea"/>
              <a:cs typeface="+mn-cs"/>
            </a:endParaRPr>
          </a:p>
          <a:p>
            <a:pPr algn="l" rtl="0" fontAlgn="base"/>
            <a:r>
              <a:rPr lang="en-US" sz="1200" b="0" i="0" dirty="0">
                <a:solidFill>
                  <a:srgbClr val="000000"/>
                </a:solidFill>
                <a:effectLst/>
                <a:latin typeface="Segoe UI" panose="020B0502040204020203" pitchFamily="34" charset="0"/>
              </a:rPr>
              <a:t>Microsoft Azure is investing in areas to help you weather the crisis and set you up for resilience in the long term.  </a:t>
            </a:r>
          </a:p>
          <a:p>
            <a:pPr algn="l" rtl="0" fontAlgn="base"/>
            <a:endParaRPr lang="en-US" sz="1800" b="0" i="0" dirty="0">
              <a:solidFill>
                <a:srgbClr val="000000"/>
              </a:solidFill>
              <a:effectLst/>
              <a:latin typeface="Segoe UI" panose="020B0502040204020203" pitchFamily="34" charset="0"/>
            </a:endParaRPr>
          </a:p>
          <a:p>
            <a:endParaRPr lang="en-US" dirty="0"/>
          </a:p>
        </p:txBody>
      </p:sp>
      <p:sp>
        <p:nvSpPr>
          <p:cNvPr id="4" name="Slide Number Placeholder 3"/>
          <p:cNvSpPr>
            <a:spLocks noGrp="1"/>
          </p:cNvSpPr>
          <p:nvPr>
            <p:ph type="sldNum" sz="quarter" idx="5"/>
          </p:nvPr>
        </p:nvSpPr>
        <p:spPr/>
        <p:txBody>
          <a:bodyPr/>
          <a:lstStyle/>
          <a:p>
            <a:fld id="{6961CA17-F42D-4A8B-9CCD-3C184AAD0AA0}" type="slidenum">
              <a:rPr lang="en-US" smtClean="0"/>
              <a:t>7</a:t>
            </a:fld>
            <a:endParaRPr lang="en-US"/>
          </a:p>
        </p:txBody>
      </p:sp>
    </p:spTree>
    <p:extLst>
      <p:ext uri="{BB962C8B-B14F-4D97-AF65-F5344CB8AC3E}">
        <p14:creationId xmlns:p14="http://schemas.microsoft.com/office/powerpoint/2010/main" val="309214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Customer story: </a:t>
            </a:r>
            <a:r>
              <a:rPr lang="en-US" sz="1200" b="0" i="0" kern="1200">
                <a:solidFill>
                  <a:schemeClr val="tx1"/>
                </a:solidFill>
                <a:effectLst/>
                <a:latin typeface="+mn-lt"/>
                <a:ea typeface="+mn-ea"/>
                <a:cs typeface="+mn-cs"/>
                <a:hlinkClick r:id="rId3" tooltip="https://customers.microsoft.com/en-us/story/allscripts-partner-professional-services-azure"/>
              </a:rPr>
              <a:t>https://customers.microsoft.com/en-us/story/allscripts-partner-professional-services-azure</a:t>
            </a:r>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66D5F-0566-4011-ABFD-8B4F303C3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3248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Customer story: </a:t>
            </a:r>
            <a:r>
              <a:rPr lang="en-US" sz="1200" b="0" i="0" kern="1200">
                <a:solidFill>
                  <a:schemeClr val="tx1"/>
                </a:solidFill>
                <a:effectLst/>
                <a:latin typeface="+mn-lt"/>
                <a:ea typeface="+mn-ea"/>
                <a:cs typeface="+mn-cs"/>
                <a:hlinkClick r:id="rId3" tooltip="https://customers.microsoft.com/en-us/story/allscripts-partner-professional-services-azure"/>
              </a:rPr>
              <a:t>https://customers.microsoft.com/en-us/story/allscripts-partner-professional-services-azure</a:t>
            </a:r>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66D5F-0566-4011-ABFD-8B4F303C3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7052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Customer story: </a:t>
            </a:r>
            <a:r>
              <a:rPr lang="en-US" sz="1200" b="0" i="0" kern="1200" dirty="0">
                <a:solidFill>
                  <a:schemeClr val="tx1"/>
                </a:solidFill>
                <a:effectLst/>
                <a:latin typeface="+mn-lt"/>
                <a:ea typeface="+mn-ea"/>
                <a:cs typeface="+mn-cs"/>
                <a:hlinkClick r:id="rId3" tooltip="https://customers.microsoft.com/en-us/story/allscripts-partner-professional-services-azure"/>
              </a:rPr>
              <a:t>https://customers.microsoft.com/en-us/story/allscripts-partner-professional-services-azure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66D5F-0566-4011-ABFD-8B4F303C3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7282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Customer story: </a:t>
            </a:r>
            <a:r>
              <a:rPr lang="en-US" sz="1200" b="0" i="0" kern="1200" dirty="0">
                <a:solidFill>
                  <a:schemeClr val="tx1"/>
                </a:solidFill>
                <a:effectLst/>
                <a:latin typeface="+mn-lt"/>
                <a:ea typeface="+mn-ea"/>
                <a:cs typeface="+mn-cs"/>
                <a:hlinkClick r:id="rId3" tooltip="https://customers.microsoft.com/en-us/story/allscripts-partner-professional-services-azure"/>
              </a:rPr>
              <a:t>https://customers.microsoft.com/en-us/story/allscripts-partner-professional-services-azure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66D5F-0566-4011-ABFD-8B4F303C3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2500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600"/>
              </a:spcAft>
            </a:pPr>
            <a:r>
              <a:rPr lang="en-US" sz="900" b="1" dirty="0">
                <a:effectLst/>
                <a:latin typeface="Calibri" panose="020F0502020204030204" pitchFamily="34" charset="0"/>
                <a:ea typeface="Calibri" panose="020F0502020204030204" pitchFamily="34" charset="0"/>
                <a:cs typeface="Arial" panose="020B0604020202020204" pitchFamily="34" charset="0"/>
              </a:rPr>
              <a:t>Migrate to Azure: Save now, be future ready </a:t>
            </a:r>
            <a:br>
              <a:rPr lang="en-US" sz="900" dirty="0">
                <a:effectLst/>
                <a:latin typeface="Calibri" panose="020F0502020204030204" pitchFamily="34" charset="0"/>
                <a:ea typeface="Calibri" panose="020F0502020204030204" pitchFamily="34" charset="0"/>
                <a:cs typeface="Arial" panose="020B0604020202020204" pitchFamily="34" charset="0"/>
              </a:rPr>
            </a:br>
            <a:r>
              <a:rPr lang="en-US" sz="900" dirty="0">
                <a:effectLst/>
                <a:latin typeface="Calibri" panose="020F0502020204030204" pitchFamily="34" charset="0"/>
                <a:ea typeface="Calibri" panose="020F0502020204030204" pitchFamily="34" charset="0"/>
                <a:cs typeface="Arial" panose="020B0604020202020204" pitchFamily="34" charset="0"/>
              </a:rPr>
              <a:t>When migrating to the cloud, Azure can provide unique and differentiated value that can help you save. Here’s how…</a:t>
            </a:r>
          </a:p>
          <a:p>
            <a:pPr marL="0" marR="0">
              <a:lnSpc>
                <a:spcPct val="107000"/>
              </a:lnSpc>
              <a:spcBef>
                <a:spcPts val="0"/>
              </a:spcBef>
              <a:spcAft>
                <a:spcPts val="800"/>
              </a:spcAft>
            </a:pPr>
            <a:endParaRPr lang="en-US" sz="9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900" b="1" dirty="0">
                <a:effectLst/>
                <a:latin typeface="Calibri" panose="020F0502020204030204" pitchFamily="34" charset="0"/>
                <a:ea typeface="Calibri" panose="020F0502020204030204" pitchFamily="34" charset="0"/>
                <a:cs typeface="Arial" panose="020B0604020202020204" pitchFamily="34" charset="0"/>
              </a:rPr>
              <a:t>Save money with unique offers and programs. </a:t>
            </a:r>
            <a:br>
              <a:rPr lang="en-US" sz="900" dirty="0">
                <a:effectLst/>
                <a:latin typeface="Calibri" panose="020F0502020204030204" pitchFamily="34" charset="0"/>
                <a:ea typeface="Calibri" panose="020F0502020204030204" pitchFamily="34" charset="0"/>
                <a:cs typeface="Arial" panose="020B0604020202020204" pitchFamily="34" charset="0"/>
              </a:rPr>
            </a:br>
            <a:r>
              <a:rPr lang="en-US" sz="900" dirty="0">
                <a:effectLst/>
                <a:latin typeface="Calibri" panose="020F0502020204030204" pitchFamily="34" charset="0"/>
                <a:ea typeface="Calibri" panose="020F0502020204030204" pitchFamily="34" charset="0"/>
                <a:cs typeface="Arial" panose="020B0604020202020204" pitchFamily="34" charset="0"/>
              </a:rPr>
              <a:t>Meeting your business and budget needs has always been a priority for us. We make this possible through unique offers, transparent and competitive pricing, and free cost management tools. Azure is the most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3"/>
              </a:rPr>
              <a:t>cost-effective cloud</a:t>
            </a:r>
            <a:r>
              <a:rPr lang="en-US" sz="900" dirty="0">
                <a:effectLst/>
                <a:latin typeface="Calibri" panose="020F0502020204030204" pitchFamily="34" charset="0"/>
                <a:ea typeface="Calibri" panose="020F0502020204030204" pitchFamily="34" charset="0"/>
                <a:cs typeface="Arial" panose="020B0604020202020204" pitchFamily="34" charset="0"/>
              </a:rPr>
              <a:t> for Windows Server and SQL Server with offers like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4"/>
              </a:rPr>
              <a:t>Azure Hybrid Benefit</a:t>
            </a:r>
            <a:r>
              <a:rPr lang="en-US" sz="900" dirty="0">
                <a:effectLst/>
                <a:latin typeface="Calibri" panose="020F0502020204030204" pitchFamily="34" charset="0"/>
                <a:ea typeface="Calibri" panose="020F0502020204030204" pitchFamily="34" charset="0"/>
                <a:cs typeface="Arial" panose="020B0604020202020204" pitchFamily="34" charset="0"/>
              </a:rPr>
              <a:t> and free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5"/>
              </a:rPr>
              <a:t>extended security updates</a:t>
            </a:r>
            <a:r>
              <a:rPr lang="en-US" sz="900" dirty="0">
                <a:effectLst/>
                <a:latin typeface="Calibri" panose="020F0502020204030204" pitchFamily="34" charset="0"/>
                <a:ea typeface="Calibri" panose="020F0502020204030204" pitchFamily="34" charset="0"/>
                <a:cs typeface="Arial" panose="020B0604020202020204" pitchFamily="34" charset="0"/>
              </a:rPr>
              <a:t>—AWS is 5x more expensive. Lower your migration costs and risk through </a:t>
            </a:r>
            <a:r>
              <a:rPr lang="en-US" sz="900" dirty="0">
                <a:effectLst/>
                <a:latin typeface="Calibri" panose="020F0502020204030204" pitchFamily="34" charset="0"/>
                <a:ea typeface="Calibri" panose="020F0502020204030204" pitchFamily="34" charset="0"/>
                <a:cs typeface="Calibri" panose="020F0502020204030204" pitchFamily="34" charset="0"/>
              </a:rPr>
              <a:t>best practice</a:t>
            </a: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guidance with the </a:t>
            </a:r>
            <a:r>
              <a:rPr lang="en-US" sz="900"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6"/>
              </a:rPr>
              <a:t>Cloud Adoption Framework for Azure</a:t>
            </a: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900"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7"/>
              </a:rPr>
              <a:t>expert assistance with the Azure Migration Program</a:t>
            </a: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and free </a:t>
            </a:r>
            <a:r>
              <a:rPr lang="en-US" sz="900"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8"/>
              </a:rPr>
              <a:t>cost optimization tools</a:t>
            </a: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pPr marL="0" marR="0">
              <a:lnSpc>
                <a:spcPct val="107000"/>
              </a:lnSpc>
              <a:spcBef>
                <a:spcPts val="0"/>
              </a:spcBef>
              <a:spcAft>
                <a:spcPts val="800"/>
              </a:spcAft>
            </a:pPr>
            <a:endParaRPr lang="en-US" sz="9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Having worked with many of you, we have found that </a:t>
            </a:r>
            <a:r>
              <a:rPr lang="en-US" sz="900" dirty="0">
                <a:effectLst/>
                <a:latin typeface="Calibri" panose="020F0502020204030204" pitchFamily="34" charset="0"/>
                <a:ea typeface="Calibri" panose="020F0502020204030204" pitchFamily="34" charset="0"/>
                <a:cs typeface="Arial" panose="020B0604020202020204" pitchFamily="34" charset="0"/>
              </a:rPr>
              <a:t>a simple ‘lift-optimize-shift’ migration strategy is your best bet to quickly realize cost savings and efficiencies. Start this process with a few simple steps. First, perform an assessment with our free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9"/>
              </a:rPr>
              <a:t>Azure Migrate</a:t>
            </a:r>
            <a:r>
              <a:rPr lang="en-US" sz="900" dirty="0">
                <a:effectLst/>
                <a:latin typeface="Calibri" panose="020F0502020204030204" pitchFamily="34" charset="0"/>
                <a:ea typeface="Calibri" panose="020F0502020204030204" pitchFamily="34" charset="0"/>
                <a:cs typeface="Arial" panose="020B0604020202020204" pitchFamily="34" charset="0"/>
              </a:rPr>
              <a:t> tool to help identify which workloads are cloud-ready, understand rightsizing recommendations, and opportunities to apply cost-savings offers unique to Azure. Next, migrate your Windows Server, SQL Server, and Linux infrastructure to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0"/>
              </a:rPr>
              <a:t>Azure IaaS</a:t>
            </a:r>
            <a:r>
              <a:rPr lang="en-US" sz="900" dirty="0">
                <a:effectLst/>
                <a:latin typeface="Calibri" panose="020F0502020204030204" pitchFamily="34" charset="0"/>
                <a:ea typeface="Calibri" panose="020F0502020204030204" pitchFamily="34" charset="0"/>
                <a:cs typeface="Arial" panose="020B0604020202020204" pitchFamily="34" charset="0"/>
              </a:rPr>
              <a:t> (or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1"/>
              </a:rPr>
              <a:t>Azure VMware Solutions</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rPr>
              <a:t> </a:t>
            </a:r>
            <a:r>
              <a:rPr lang="en-US" sz="900" dirty="0">
                <a:effectLst/>
                <a:latin typeface="Calibri" panose="020F0502020204030204" pitchFamily="34" charset="0"/>
                <a:ea typeface="Calibri" panose="020F0502020204030204" pitchFamily="34" charset="0"/>
                <a:cs typeface="Arial" panose="020B0604020202020204" pitchFamily="34" charset="0"/>
              </a:rPr>
              <a:t>for VMware environments) using assessment results. And then keep your workloads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2"/>
              </a:rPr>
              <a:t>secure and well managed</a:t>
            </a:r>
            <a:r>
              <a:rPr lang="en-US" sz="900" dirty="0">
                <a:effectLst/>
                <a:latin typeface="Calibri" panose="020F0502020204030204" pitchFamily="34" charset="0"/>
                <a:ea typeface="Calibri" panose="020F0502020204030204" pitchFamily="34" charset="0"/>
                <a:cs typeface="Arial" panose="020B0604020202020204" pitchFamily="34" charset="0"/>
              </a:rPr>
              <a:t> on Azure. Customers such as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3"/>
              </a:rPr>
              <a:t>Allscripts</a:t>
            </a:r>
            <a:r>
              <a:rPr lang="en-US" sz="900" dirty="0">
                <a:effectLst/>
                <a:latin typeface="Calibri" panose="020F0502020204030204" pitchFamily="34" charset="0"/>
                <a:ea typeface="Calibri" panose="020F0502020204030204" pitchFamily="34" charset="0"/>
                <a:cs typeface="Arial" panose="020B0604020202020204" pitchFamily="34" charset="0"/>
              </a:rPr>
              <a:t> and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4"/>
              </a:rPr>
              <a:t>Maersk</a:t>
            </a:r>
            <a:r>
              <a:rPr lang="en-US" sz="900" dirty="0">
                <a:effectLst/>
                <a:latin typeface="Calibri" panose="020F0502020204030204" pitchFamily="34" charset="0"/>
                <a:ea typeface="Calibri" panose="020F0502020204030204" pitchFamily="34" charset="0"/>
                <a:cs typeface="Arial" panose="020B0604020202020204" pitchFamily="34" charset="0"/>
              </a:rPr>
              <a:t> have used this approach to save money and time. </a:t>
            </a:r>
          </a:p>
          <a:p>
            <a:pPr marL="0" marR="0">
              <a:lnSpc>
                <a:spcPct val="107000"/>
              </a:lnSpc>
              <a:spcBef>
                <a:spcPts val="0"/>
              </a:spcBef>
              <a:spcAft>
                <a:spcPts val="800"/>
              </a:spcAft>
            </a:pPr>
            <a:endParaRPr lang="en-US" sz="9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900" b="1" dirty="0">
                <a:effectLst/>
                <a:latin typeface="Calibri" panose="020F0502020204030204" pitchFamily="34" charset="0"/>
                <a:ea typeface="Calibri" panose="020F0502020204030204" pitchFamily="34" charset="0"/>
                <a:cs typeface="Arial" panose="020B0604020202020204" pitchFamily="34" charset="0"/>
              </a:rPr>
              <a:t>Drive scale and operational efficiencies and focus on what matters. </a:t>
            </a:r>
            <a:br>
              <a:rPr lang="en-US" sz="900" b="1" dirty="0">
                <a:effectLst/>
                <a:latin typeface="Calibri" panose="020F0502020204030204" pitchFamily="34" charset="0"/>
                <a:ea typeface="Calibri" panose="020F0502020204030204" pitchFamily="34" charset="0"/>
                <a:cs typeface="Arial" panose="020B0604020202020204" pitchFamily="34" charset="0"/>
              </a:rPr>
            </a:br>
            <a:r>
              <a:rPr lang="en-US" sz="900" dirty="0">
                <a:effectLst/>
                <a:latin typeface="Calibri" panose="020F0502020204030204" pitchFamily="34" charset="0"/>
                <a:ea typeface="Calibri" panose="020F0502020204030204" pitchFamily="34" charset="0"/>
                <a:cs typeface="Arial" panose="020B0604020202020204" pitchFamily="34" charset="0"/>
              </a:rPr>
              <a:t>Many customers are migrating to the cloud to scale their most demanding workloads—for example,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5"/>
              </a:rPr>
              <a:t>e-commerce web sites</a:t>
            </a:r>
            <a:r>
              <a:rPr lang="en-US" sz="900" dirty="0">
                <a:effectLst/>
                <a:latin typeface="Calibri" panose="020F0502020204030204" pitchFamily="34" charset="0"/>
                <a:ea typeface="Calibri" panose="020F0502020204030204" pitchFamily="34" charset="0"/>
                <a:cs typeface="Arial" panose="020B0604020202020204" pitchFamily="34" charset="0"/>
              </a:rPr>
              <a:t> or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6"/>
              </a:rPr>
              <a:t>health care portals</a:t>
            </a:r>
            <a:r>
              <a:rPr lang="en-US" sz="900" dirty="0">
                <a:effectLst/>
                <a:latin typeface="Calibri" panose="020F0502020204030204" pitchFamily="34" charset="0"/>
                <a:ea typeface="Calibri" panose="020F0502020204030204" pitchFamily="34" charset="0"/>
                <a:cs typeface="Arial" panose="020B0604020202020204" pitchFamily="34" charset="0"/>
              </a:rPr>
              <a:t>—and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rPr>
              <a:t>Azure SQL </a:t>
            </a:r>
            <a:r>
              <a:rPr lang="en-US" sz="900" u="sng" dirty="0" err="1">
                <a:solidFill>
                  <a:srgbClr val="0563C1"/>
                </a:solidFill>
                <a:effectLst/>
                <a:latin typeface="Calibri" panose="020F0502020204030204" pitchFamily="34" charset="0"/>
                <a:ea typeface="Calibri" panose="020F0502020204030204" pitchFamily="34" charset="0"/>
                <a:cs typeface="Arial" panose="020B0604020202020204" pitchFamily="34" charset="0"/>
              </a:rPr>
              <a:t>Database</a:t>
            </a:r>
            <a:r>
              <a:rPr lang="en-US" sz="900" dirty="0" err="1">
                <a:effectLst/>
                <a:latin typeface="Calibri" panose="020F0502020204030204" pitchFamily="34" charset="0"/>
                <a:ea typeface="Calibri" panose="020F0502020204030204" pitchFamily="34" charset="0"/>
                <a:cs typeface="Arial" panose="020B0604020202020204" pitchFamily="34" charset="0"/>
              </a:rPr>
              <a:t>drive</a:t>
            </a:r>
            <a:r>
              <a:rPr lang="en-US" sz="900" dirty="0">
                <a:effectLst/>
                <a:latin typeface="Calibri" panose="020F0502020204030204" pitchFamily="34" charset="0"/>
                <a:ea typeface="Calibri" panose="020F0502020204030204" pitchFamily="34" charset="0"/>
                <a:cs typeface="Arial" panose="020B0604020202020204" pitchFamily="34" charset="0"/>
              </a:rPr>
              <a:t> cost savings and reliability. Migrating these web applications to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7"/>
              </a:rPr>
              <a:t>Azure App Service</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rPr>
              <a:t> </a:t>
            </a:r>
            <a:r>
              <a:rPr lang="en-US" sz="900" dirty="0">
                <a:effectLst/>
                <a:latin typeface="Calibri" panose="020F0502020204030204" pitchFamily="34" charset="0"/>
                <a:ea typeface="Calibri" panose="020F0502020204030204" pitchFamily="34" charset="0"/>
                <a:cs typeface="Arial" panose="020B0604020202020204" pitchFamily="34" charset="0"/>
              </a:rPr>
              <a:t>unlocks benefits like automated load balancing and infrastructure maintenance, giving your staff valuable time back. There is opportunity to easily assess whether your website can be rapidly moved to App Service with the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8"/>
              </a:rPr>
              <a:t>App Service Migration</a:t>
            </a:r>
            <a:r>
              <a:rPr lang="en-US" sz="900" dirty="0">
                <a:effectLst/>
                <a:latin typeface="Calibri" panose="020F0502020204030204" pitchFamily="34" charset="0"/>
                <a:ea typeface="Calibri" panose="020F0502020204030204" pitchFamily="34" charset="0"/>
                <a:cs typeface="Arial" panose="020B0604020202020204" pitchFamily="34" charset="0"/>
              </a:rPr>
              <a:t> assistant. And, migrating your website’s database to a fully managed database like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19"/>
              </a:rPr>
              <a:t>Azure SQL Database</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rPr>
              <a:t> </a:t>
            </a:r>
            <a:r>
              <a:rPr lang="en-US" sz="900" dirty="0">
                <a:effectLst/>
                <a:latin typeface="Calibri" panose="020F0502020204030204" pitchFamily="34" charset="0"/>
                <a:ea typeface="Calibri" panose="020F0502020204030204" pitchFamily="34" charset="0"/>
                <a:cs typeface="Arial" panose="020B0604020202020204" pitchFamily="34" charset="0"/>
              </a:rPr>
              <a:t>reduces the management and database administration overhead such as patching, high availability setup, and access control. Migrating to these Azure services requires little to no change to your existing web application and database, so it’s low-risk and cost-effective. </a:t>
            </a:r>
          </a:p>
          <a:p>
            <a:pPr marL="0" marR="0">
              <a:lnSpc>
                <a:spcPct val="107000"/>
              </a:lnSpc>
              <a:spcBef>
                <a:spcPts val="0"/>
              </a:spcBef>
              <a:spcAft>
                <a:spcPts val="800"/>
              </a:spcAft>
            </a:pPr>
            <a:endParaRPr lang="en-US" sz="9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900" b="1" dirty="0">
                <a:effectLst/>
                <a:latin typeface="Calibri" panose="020F0502020204030204" pitchFamily="34" charset="0"/>
                <a:ea typeface="Calibri" panose="020F0502020204030204" pitchFamily="34" charset="0"/>
                <a:cs typeface="Arial" panose="020B0604020202020204" pitchFamily="34" charset="0"/>
              </a:rPr>
              <a:t>Keep your investments safe with unmatched security and built-in resiliency. </a:t>
            </a:r>
            <a:br>
              <a:rPr lang="en-US" sz="900" b="1" dirty="0">
                <a:effectLst/>
                <a:latin typeface="Calibri" panose="020F0502020204030204" pitchFamily="34" charset="0"/>
                <a:ea typeface="Calibri" panose="020F0502020204030204" pitchFamily="34" charset="0"/>
                <a:cs typeface="Arial" panose="020B0604020202020204" pitchFamily="34" charset="0"/>
              </a:rPr>
            </a:br>
            <a:r>
              <a:rPr lang="en-US" sz="900" dirty="0">
                <a:effectLst/>
                <a:latin typeface="Calibri" panose="020F0502020204030204" pitchFamily="34" charset="0"/>
                <a:ea typeface="Calibri" panose="020F0502020204030204" pitchFamily="34" charset="0"/>
                <a:cs typeface="Arial" panose="020B0604020202020204" pitchFamily="34" charset="0"/>
              </a:rPr>
              <a:t>Microsoft spends $1B annually on cybersecurity. We have over 3,500 Microsoft security professionals constantly monitoring our customers’ environments through advanced AI, analyzing more than 6.5 trillion security signals to detect and respond to threats with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20"/>
              </a:rPr>
              <a:t>Azure Security Center</a:t>
            </a:r>
            <a:r>
              <a:rPr lang="en-US" sz="900" dirty="0">
                <a:effectLst/>
                <a:latin typeface="Calibri" panose="020F0502020204030204" pitchFamily="34" charset="0"/>
                <a:ea typeface="Calibri" panose="020F0502020204030204" pitchFamily="34" charset="0"/>
                <a:cs typeface="Arial" panose="020B0604020202020204" pitchFamily="34" charset="0"/>
              </a:rPr>
              <a:t>. Use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21"/>
              </a:rPr>
              <a:t>Azure Sentinel</a:t>
            </a:r>
            <a:r>
              <a:rPr lang="en-US" sz="900" dirty="0">
                <a:effectLst/>
                <a:latin typeface="Calibri" panose="020F0502020204030204" pitchFamily="34" charset="0"/>
                <a:ea typeface="Calibri" panose="020F0502020204030204" pitchFamily="34" charset="0"/>
                <a:cs typeface="Arial" panose="020B0604020202020204" pitchFamily="34" charset="0"/>
              </a:rPr>
              <a:t>, a cloud native security information event management (SIEM) for end to end threat detection and response across your enterprise.  Azure provides built-in high-availability and disaster recovery options to ensure maximum resilience for your workloads. This includes infrastructure investments such as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22"/>
              </a:rPr>
              <a:t>paired datacenter regions and availability zones</a:t>
            </a:r>
            <a:r>
              <a:rPr lang="en-US" sz="900" dirty="0">
                <a:effectLst/>
                <a:latin typeface="Calibri" panose="020F0502020204030204" pitchFamily="34" charset="0"/>
                <a:ea typeface="Calibri" panose="020F0502020204030204" pitchFamily="34" charset="0"/>
                <a:cs typeface="Arial" panose="020B0604020202020204" pitchFamily="34" charset="0"/>
              </a:rPr>
              <a:t> for the best possible performance and security, as well as cost effective services like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23"/>
              </a:rPr>
              <a:t>Azure Backup</a:t>
            </a:r>
            <a:r>
              <a:rPr lang="en-US" sz="900" dirty="0">
                <a:effectLst/>
                <a:latin typeface="Calibri" panose="020F0502020204030204" pitchFamily="34" charset="0"/>
                <a:ea typeface="Calibri" panose="020F0502020204030204" pitchFamily="34" charset="0"/>
                <a:cs typeface="Arial" panose="020B0604020202020204" pitchFamily="34" charset="0"/>
              </a:rPr>
              <a:t> and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24"/>
              </a:rPr>
              <a:t>Azure Site Recovery</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rPr>
              <a:t> </a:t>
            </a:r>
            <a:r>
              <a:rPr lang="en-US" sz="900" dirty="0">
                <a:effectLst/>
                <a:latin typeface="Calibri" panose="020F0502020204030204" pitchFamily="34" charset="0"/>
                <a:ea typeface="Calibri" panose="020F0502020204030204" pitchFamily="34" charset="0"/>
                <a:cs typeface="Arial" panose="020B0604020202020204" pitchFamily="34" charset="0"/>
              </a:rPr>
              <a:t>to keep your applications running during planned or unplanned outages. </a:t>
            </a:r>
          </a:p>
          <a:p>
            <a:pPr marL="0" marR="0">
              <a:lnSpc>
                <a:spcPct val="107000"/>
              </a:lnSpc>
              <a:spcBef>
                <a:spcPts val="0"/>
              </a:spcBef>
              <a:spcAft>
                <a:spcPts val="800"/>
              </a:spcAft>
            </a:pPr>
            <a:endParaRPr lang="en-US" sz="9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600"/>
              </a:spcAft>
            </a:pPr>
            <a:r>
              <a:rPr lang="en-US" sz="900" b="1" dirty="0">
                <a:effectLst/>
                <a:latin typeface="Calibri" panose="020F0502020204030204" pitchFamily="34" charset="0"/>
                <a:ea typeface="Calibri" panose="020F0502020204030204" pitchFamily="34" charset="0"/>
                <a:cs typeface="Arial" panose="020B0604020202020204" pitchFamily="34" charset="0"/>
              </a:rPr>
              <a:t>Stay flexible with the cloud that’s hybrid by design. </a:t>
            </a:r>
            <a:br>
              <a:rPr lang="en-US" sz="900" dirty="0">
                <a:effectLst/>
                <a:latin typeface="Calibri" panose="020F0502020204030204" pitchFamily="34" charset="0"/>
                <a:ea typeface="Calibri" panose="020F0502020204030204" pitchFamily="34" charset="0"/>
                <a:cs typeface="Arial" panose="020B0604020202020204" pitchFamily="34" charset="0"/>
              </a:rPr>
            </a:br>
            <a:r>
              <a:rPr lang="en-US" sz="900" dirty="0">
                <a:effectLst/>
                <a:latin typeface="Calibri" panose="020F0502020204030204" pitchFamily="34" charset="0"/>
                <a:ea typeface="Calibri" panose="020F0502020204030204" pitchFamily="34" charset="0"/>
                <a:cs typeface="Arial" panose="020B0604020202020204" pitchFamily="34" charset="0"/>
              </a:rPr>
              <a:t>We understand that your organization will be in a hybrid state with investments that span multiple environments for the foreseeable future. We also know that you need flexibility to extend your on-premises investments and leverage them as you move to the cloud. </a:t>
            </a:r>
            <a:r>
              <a:rPr lang="en-US" sz="9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4"/>
              </a:rPr>
              <a:t>Azure Hybrid Benefit</a:t>
            </a:r>
            <a:r>
              <a:rPr lang="en-US" sz="900" dirty="0">
                <a:effectLst/>
                <a:latin typeface="Calibri" panose="020F0502020204030204" pitchFamily="34" charset="0"/>
                <a:ea typeface="Calibri" panose="020F0502020204030204" pitchFamily="34" charset="0"/>
                <a:cs typeface="Arial" panose="020B0604020202020204" pitchFamily="34" charset="0"/>
              </a:rPr>
              <a:t> enables you to re-use your existing Windows Server and SQL Server investments in the cloud and save money. </a:t>
            </a:r>
          </a:p>
          <a:p>
            <a:pPr marL="0" marR="0">
              <a:lnSpc>
                <a:spcPct val="107000"/>
              </a:lnSpc>
              <a:spcBef>
                <a:spcPts val="0"/>
              </a:spcBef>
              <a:spcAft>
                <a:spcPts val="600"/>
              </a:spcAft>
            </a:pPr>
            <a:r>
              <a:rPr lang="en-US" sz="900" dirty="0">
                <a:effectLst/>
                <a:latin typeface="Calibri" panose="020F0502020204030204" pitchFamily="34" charset="0"/>
                <a:ea typeface="Times New Roman" panose="02020603050405020304" pitchFamily="18" charset="0"/>
                <a:cs typeface="Calibri" panose="020F0502020204030204" pitchFamily="34" charset="0"/>
              </a:rPr>
              <a:t>If you are ready to make the move and need help, join the </a:t>
            </a:r>
            <a:r>
              <a:rPr lang="en-US" sz="900" u="sng" dirty="0">
                <a:solidFill>
                  <a:srgbClr val="0563C1"/>
                </a:solidFill>
                <a:effectLst/>
                <a:latin typeface="Calibri" panose="020F0502020204030204" pitchFamily="34" charset="0"/>
                <a:ea typeface="Times New Roman" panose="02020603050405020304" pitchFamily="18" charset="0"/>
                <a:cs typeface="Calibri" panose="020F0502020204030204" pitchFamily="34" charset="0"/>
                <a:hlinkClick r:id="rId25"/>
              </a:rPr>
              <a:t>Azure Migration Program</a:t>
            </a:r>
            <a:r>
              <a:rPr lang="en-US" sz="900" dirty="0">
                <a:effectLst/>
                <a:latin typeface="Calibri" panose="020F0502020204030204" pitchFamily="34" charset="0"/>
                <a:ea typeface="Times New Roman" panose="02020603050405020304" pitchFamily="18" charset="0"/>
                <a:cs typeface="Calibri" panose="020F0502020204030204" pitchFamily="34" charset="0"/>
              </a:rPr>
              <a:t>, where we, along with our </a:t>
            </a:r>
            <a:r>
              <a:rPr lang="en-US" sz="900" u="sng" dirty="0">
                <a:solidFill>
                  <a:srgbClr val="0563C1"/>
                </a:solidFill>
                <a:effectLst/>
                <a:latin typeface="Calibri" panose="020F0502020204030204" pitchFamily="34" charset="0"/>
                <a:ea typeface="Times New Roman" panose="02020603050405020304" pitchFamily="18" charset="0"/>
                <a:cs typeface="Calibri" panose="020F0502020204030204" pitchFamily="34" charset="0"/>
                <a:hlinkClick r:id="rId26"/>
              </a:rPr>
              <a:t>partner ecosystem</a:t>
            </a:r>
            <a:r>
              <a:rPr lang="en-US" sz="900" u="sng" dirty="0">
                <a:solidFill>
                  <a:srgbClr val="0563C1"/>
                </a:solidFill>
                <a:effectLst/>
                <a:latin typeface="Calibri" panose="020F0502020204030204" pitchFamily="34" charset="0"/>
                <a:ea typeface="Times New Roman" panose="02020603050405020304" pitchFamily="18" charset="0"/>
                <a:cs typeface="Calibri" panose="020F0502020204030204" pitchFamily="34" charset="0"/>
              </a:rPr>
              <a:t>,</a:t>
            </a:r>
            <a:r>
              <a:rPr lang="en-US" sz="900" dirty="0">
                <a:effectLst/>
                <a:latin typeface="Calibri" panose="020F0502020204030204" pitchFamily="34" charset="0"/>
                <a:ea typeface="Times New Roman" panose="02020603050405020304" pitchFamily="18" charset="0"/>
                <a:cs typeface="Calibri" panose="020F0502020204030204" pitchFamily="34" charset="0"/>
              </a:rPr>
              <a:t> will help you accelerate your journey in a low-risk, cost-effective way. Learn more by visiting </a:t>
            </a:r>
            <a:r>
              <a:rPr lang="en-US" sz="900" u="sng" dirty="0">
                <a:solidFill>
                  <a:srgbClr val="0563C1"/>
                </a:solidFill>
                <a:effectLst/>
                <a:latin typeface="Calibri" panose="020F0502020204030204" pitchFamily="34" charset="0"/>
                <a:ea typeface="Times New Roman" panose="02020603050405020304" pitchFamily="18" charset="0"/>
                <a:cs typeface="Calibri" panose="020F0502020204030204" pitchFamily="34" charset="0"/>
                <a:hlinkClick r:id="rId27"/>
              </a:rPr>
              <a:t>Azure migration center</a:t>
            </a:r>
            <a:r>
              <a:rPr lang="en-US" sz="900" dirty="0">
                <a:effectLst/>
                <a:latin typeface="Calibri" panose="020F0502020204030204" pitchFamily="34" charset="0"/>
                <a:ea typeface="Times New Roman" panose="02020603050405020304" pitchFamily="18"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900" dirty="0">
                <a:effectLst/>
                <a:latin typeface="Calibri" panose="020F0502020204030204" pitchFamily="34" charset="0"/>
                <a:ea typeface="Calibri" panose="020F0502020204030204" pitchFamily="34" charset="0"/>
                <a:cs typeface="Arial" panose="020B0604020202020204" pitchFamily="34" charset="0"/>
              </a:rPr>
              <a:t> </a:t>
            </a:r>
          </a:p>
          <a:p>
            <a:pPr marL="0" marR="0">
              <a:lnSpc>
                <a:spcPct val="107000"/>
              </a:lnSpc>
              <a:spcBef>
                <a:spcPts val="0"/>
              </a:spcBef>
              <a:spcAft>
                <a:spcPts val="800"/>
              </a:spcAft>
            </a:pPr>
            <a:r>
              <a:rPr lang="en-US" sz="900" dirty="0">
                <a:effectLst/>
                <a:latin typeface="Calibri" panose="020F0502020204030204" pitchFamily="34" charset="0"/>
                <a:ea typeface="Calibri" panose="020F0502020204030204" pitchFamily="34" charset="0"/>
                <a:cs typeface="Arial" panose="020B0604020202020204" pitchFamily="34" charset="0"/>
              </a:rPr>
              <a:t> </a:t>
            </a:r>
          </a:p>
          <a:p>
            <a:pPr marL="0" marR="0">
              <a:lnSpc>
                <a:spcPct val="107000"/>
              </a:lnSpc>
              <a:spcBef>
                <a:spcPts val="0"/>
              </a:spcBef>
              <a:spcAft>
                <a:spcPts val="800"/>
              </a:spcAft>
            </a:pPr>
            <a:r>
              <a:rPr lang="en-US" sz="900" dirty="0">
                <a:effectLst/>
                <a:latin typeface="Calibri" panose="020F0502020204030204" pitchFamily="34" charset="0"/>
                <a:ea typeface="Calibri" panose="020F0502020204030204" pitchFamily="34" charset="0"/>
                <a:cs typeface="Arial" panose="020B0604020202020204" pitchFamily="34" charset="0"/>
              </a:rPr>
              <a:t> </a:t>
            </a:r>
          </a:p>
          <a:p>
            <a:pPr rtl="0" fontAlgn="base"/>
            <a:endParaRPr lang="en-US" sz="800" b="0" i="0" u="none" strike="noStrike" kern="1200" dirty="0">
              <a:solidFill>
                <a:schemeClr val="tx1"/>
              </a:solidFill>
              <a:effectLst/>
              <a:latin typeface="Segoe UI Light" pitchFamily="34" charset="0"/>
              <a:ea typeface="+mn-ea"/>
              <a:cs typeface="+mn-cs"/>
            </a:endParaRPr>
          </a:p>
          <a:p>
            <a:pPr rtl="0" fontAlgn="base"/>
            <a:endParaRPr lang="en-US"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May Leadership Summit 2018</a:t>
            </a:r>
          </a:p>
        </p:txBody>
      </p:sp>
      <p:sp>
        <p:nvSpPr>
          <p:cNvPr id="5" name="Footer Placeholder 4"/>
          <p:cNvSpPr>
            <a:spLocks noGrp="1"/>
          </p:cNvSpPr>
          <p:nvPr>
            <p:ph type="ftr" sz="quarter" idx="11"/>
          </p:nvPr>
        </p:nvSpPr>
        <p:spPr/>
        <p:txBody>
          <a:bodyPr/>
          <a:lstStyle/>
          <a:p>
            <a:pPr marL="571500" marR="0" lvl="0" indent="0" algn="l" defTabSz="2681615" rtl="0" eaLnBrk="0"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8/16/2023 4:44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09527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u="none" strike="noStrike" dirty="0">
                <a:solidFill>
                  <a:srgbClr val="000000"/>
                </a:solidFill>
                <a:effectLst/>
                <a:latin typeface="Calibri" panose="020F0502020204030204" pitchFamily="34" charset="0"/>
              </a:rPr>
              <a:t>Now, why Azure?</a:t>
            </a:r>
          </a:p>
          <a:p>
            <a:pPr algn="l" rtl="0" fontAlgn="base"/>
            <a:r>
              <a:rPr lang="en-US" sz="1800" b="0" i="0" u="none" strike="noStrike" dirty="0">
                <a:solidFill>
                  <a:srgbClr val="000000"/>
                </a:solidFill>
                <a:effectLst/>
                <a:latin typeface="Calibri" panose="020F0502020204030204" pitchFamily="34" charset="0"/>
              </a:rPr>
              <a:t>Well, Azure is a leader in the cloud industry, with over 25 years of innovation.</a:t>
            </a:r>
          </a:p>
          <a:p>
            <a:pPr algn="l" rtl="0" fontAlgn="base"/>
            <a:r>
              <a:rPr lang="en-US" sz="1800" b="0" i="0" u="none" strike="noStrike" dirty="0">
                <a:solidFill>
                  <a:srgbClr val="000000"/>
                </a:solidFill>
                <a:effectLst/>
                <a:latin typeface="Calibri" panose="020F0502020204030204" pitchFamily="34" charset="0"/>
              </a:rPr>
              <a:t>For example, Azure SQL DB provides most comprehensive forward and backward compatibility.  Azure support SQL 2005 onwards, for example.  And once in Azure, we keep your SQL infra evergreen by patching and updating it on your behalf. </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u="none" strike="noStrike" dirty="0">
                <a:solidFill>
                  <a:srgbClr val="000000"/>
                </a:solidFill>
                <a:effectLst/>
                <a:latin typeface="Calibri" panose="020F0502020204030204" pitchFamily="34" charset="0"/>
              </a:rPr>
              <a:t>Azure App Service is the most productive managed service platform for your .NET apps. </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u="none" strike="noStrike" dirty="0">
                <a:solidFill>
                  <a:srgbClr val="000000"/>
                </a:solidFill>
                <a:effectLst/>
                <a:latin typeface="Calibri" panose="020F0502020204030204" pitchFamily="34" charset="0"/>
              </a:rPr>
              <a:t>We analyze 6.5 trillion threat signals every day that helps us build solutions like</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ASC</a:t>
            </a: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l" rtl="0" fontAlgn="base">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Azure Sentinel</a:t>
            </a: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l" rtl="0" fontAlgn="base">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Confidential computing</a:t>
            </a: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l" rtl="0" fontAlgn="base">
              <a:buFont typeface="Arial" panose="020B0604020202020204" pitchFamily="34" charset="0"/>
              <a:buChar char="•"/>
            </a:pP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l" rtl="0" fontAlgn="base"/>
            <a:r>
              <a:rPr lang="en-US" sz="1800" b="0" i="0" u="none" strike="noStrike" dirty="0">
                <a:solidFill>
                  <a:srgbClr val="000000"/>
                </a:solidFill>
                <a:effectLst/>
                <a:latin typeface="Calibri" panose="020F0502020204030204" pitchFamily="34" charset="0"/>
              </a:rPr>
              <a:t>With Azure governance, you get the most advanced set of governance capabilities of any major cloud provider. Take advantage of built-in and custom policies to set guardrails in your subscriptions. Easily deploy fully governed environments throughout your organization with Azure Blueprints. And, manage costs by gaining insights into your cloud spend so that you get the most from your cloud investments.90+ compliance offerings, more than any other cloud provider, first party support, fortune 500 companies….</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buFont typeface="Arial" panose="020B0604020202020204" pitchFamily="34" charset="0"/>
              <a:buChar char="•"/>
            </a:pP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l" rtl="0" fontAlgn="base"/>
            <a:r>
              <a:rPr lang="en-US" sz="1800" b="0" i="0" u="none" strike="noStrike" dirty="0">
                <a:solidFill>
                  <a:srgbClr val="000000"/>
                </a:solidFill>
                <a:effectLst/>
                <a:latin typeface="Calibri" panose="020F0502020204030204" pitchFamily="34" charset="0"/>
              </a:rPr>
              <a:t>Azure is the best plan to run your Windows &amp; SQL.  AWS is 5x as expensive. </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buFont typeface="Arial" panose="020B0604020202020204" pitchFamily="34" charset="0"/>
              <a:buChar char="•"/>
            </a:pP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l" rtl="0" fontAlgn="base"/>
            <a:r>
              <a:rPr lang="en-US" sz="1800" b="0" i="0" u="none" strike="noStrike" dirty="0">
                <a:solidFill>
                  <a:srgbClr val="000000"/>
                </a:solidFill>
                <a:effectLst/>
                <a:latin typeface="Calibri" panose="020F0502020204030204" pitchFamily="34" charset="0"/>
              </a:rPr>
              <a:t>We run the same SQL Server Engine code base across Azure and on-premises.  So you get consistency across a broad surface area. </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u="none" strike="noStrike" dirty="0">
                <a:solidFill>
                  <a:srgbClr val="000000"/>
                </a:solidFill>
                <a:effectLst/>
                <a:latin typeface="Calibri" panose="020F0502020204030204" pitchFamily="34" charset="0"/>
              </a:rPr>
              <a:t>Windows Admin Center with 2.5M+ Windows Server nodes that are hybrid enabled with Azure. </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u="none" strike="noStrike" dirty="0">
                <a:solidFill>
                  <a:srgbClr val="000000"/>
                </a:solidFill>
                <a:effectLst/>
                <a:latin typeface="Calibri" panose="020F0502020204030204" pitchFamily="34" charset="0"/>
              </a:rPr>
              <a:t>Capabilities like DR (Azure Site Recovery) and backup (Azure Backup) are seamlessly integrated that you can enable them for your environments with a few clicks. </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buFont typeface="Arial" panose="020B0604020202020204" pitchFamily="34" charset="0"/>
              <a:buChar char="•"/>
            </a:pP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l" rtl="0" fontAlgn="base">
              <a:buFont typeface="Arial" panose="020B0604020202020204" pitchFamily="34" charset="0"/>
              <a:buChar char="•"/>
            </a:pPr>
            <a:r>
              <a:rPr lang="en-US" sz="1800" b="0" i="0" dirty="0">
                <a:solidFill>
                  <a:srgbClr val="444444"/>
                </a:solidFill>
                <a:effectLst/>
                <a:latin typeface="Calibri" panose="020F0502020204030204" pitchFamily="34" charset="0"/>
              </a:rPr>
              <a:t>​</a:t>
            </a:r>
            <a:endParaRPr lang="en-US" sz="1800" b="0" i="0" dirty="0">
              <a:solidFill>
                <a:srgbClr val="444444"/>
              </a:solidFill>
              <a:effectLst/>
              <a:latin typeface="Arial" panose="020B060402020202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525D1A-9CA5-4E94-B922-48D4C7E4CB4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5192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that you’ve decided you want to migrate, how exactly do you get there? Azure offers various methods to help you get to the cloud.</a:t>
            </a:r>
          </a:p>
          <a:p>
            <a:endParaRPr lang="en-US"/>
          </a:p>
          <a:p>
            <a:r>
              <a:rPr lang="en-US"/>
              <a:t>You may choose to “rehost” or “lift-and-shift” your database as is to the cloud, and place is on SQL Server on Azure VMs, allowing you to make no changes to your pre-existing application.</a:t>
            </a:r>
          </a:p>
          <a:p>
            <a:endParaRPr lang="en-US"/>
          </a:p>
          <a:p>
            <a:r>
              <a:rPr lang="en-US"/>
              <a:t>However, you may find that you’d like to move to a PaaS offering, such as Azure SQL MI, in which case you’d have to apply some changes to your application design to get it to the cloud. This is what is known as refactoring your application/database.</a:t>
            </a:r>
          </a:p>
          <a:p>
            <a:endParaRPr lang="en-US"/>
          </a:p>
          <a:p>
            <a:r>
              <a:rPr lang="en-US"/>
              <a:t>Or you may want to start fresh and rebuild a cloud-native application on Azure SQL Database, in which case Azure offers the tools to help you get there as well. </a:t>
            </a:r>
          </a:p>
          <a:p>
            <a:endParaRPr lang="en-US"/>
          </a:p>
          <a:p>
            <a:r>
              <a:rPr lang="en-US"/>
              <a:t>Whichever option you choose to take, Azure has the tools and resources available to help you get there.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6AE915-B316-4484-9EA0-03EB58256B5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706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effectLst/>
              </a:rPr>
              <a:t>Azure SQL is a family of fully-managed, secure and intelligent SQL database services. Azure offers the widest range of deployment options for SQL from </a:t>
            </a:r>
            <a:r>
              <a:rPr lang="en-US" u="sng" kern="1200" dirty="0">
                <a:effectLst/>
                <a:hlinkClick r:id="rId3"/>
              </a:rPr>
              <a:t>edge</a:t>
            </a:r>
            <a:r>
              <a:rPr lang="en-US" kern="1200" dirty="0">
                <a:effectLst/>
              </a:rPr>
              <a:t> to cloud.</a:t>
            </a:r>
            <a:r>
              <a:rPr lang="en-US" dirty="0"/>
              <a:t> </a:t>
            </a:r>
            <a:r>
              <a:rPr lang="en-US" kern="1200" dirty="0">
                <a:effectLst/>
              </a:rPr>
              <a:t> With Azure SQL, you can rehost SQL workloads on SQL Server on Azure Virtual Machines,</a:t>
            </a:r>
            <a:r>
              <a:rPr lang="en-US" dirty="0"/>
              <a:t> </a:t>
            </a:r>
            <a:r>
              <a:rPr lang="en-US" kern="1200" dirty="0">
                <a:effectLst/>
              </a:rPr>
              <a:t>modernize existing applications with Azure SQL Managed Instance and</a:t>
            </a:r>
            <a:r>
              <a:rPr lang="en-US" dirty="0"/>
              <a:t> </a:t>
            </a:r>
            <a:r>
              <a:rPr lang="en-US" kern="1200" dirty="0">
                <a:effectLst/>
              </a:rPr>
              <a:t>support modern cloud applications with Azure SQL Database and Azure SQL Edge.</a:t>
            </a:r>
            <a:r>
              <a:rPr lang="en-US" dirty="0"/>
              <a:t>  </a:t>
            </a:r>
            <a:endParaRPr lang="en-US" dirty="0">
              <a:ea typeface="+mn-ea"/>
              <a:cs typeface="+mn-cs"/>
            </a:endParaRPr>
          </a:p>
          <a:p>
            <a:endParaRPr lang="en-US" dirty="0"/>
          </a:p>
          <a:p>
            <a:r>
              <a:rPr lang="en-US" kern="1200" dirty="0">
                <a:effectLst/>
              </a:rPr>
              <a:t>Azure SQL is built upon the same SQL Server engine, so you can migrate applications with ease and continue to use the tools, languages and resources you’re familiar with.</a:t>
            </a:r>
            <a:r>
              <a:rPr lang="en-US" dirty="0"/>
              <a:t> </a:t>
            </a:r>
            <a:r>
              <a:rPr lang="en-US" kern="1200" dirty="0">
                <a:effectLst/>
              </a:rPr>
              <a:t> Your skills and experience transfer to the cloud</a:t>
            </a:r>
            <a:r>
              <a:rPr lang="en-US" dirty="0"/>
              <a:t> and edge</a:t>
            </a:r>
            <a:r>
              <a:rPr lang="en-US" kern="1200" dirty="0">
                <a:effectLst/>
              </a:rPr>
              <a:t>, so you can do even more with what you already have.</a:t>
            </a:r>
            <a:endParaRPr lang="en-US" dirty="0">
              <a:cs typeface="Calibri" panose="020F0502020204030204"/>
            </a:endParaRPr>
          </a:p>
          <a:p>
            <a:endParaRPr lang="en-US" dirty="0"/>
          </a:p>
          <a:p>
            <a:r>
              <a:rPr lang="en-US" dirty="0"/>
              <a:t>The services within Azure SQL support a variety of scenarios:</a:t>
            </a:r>
            <a:endParaRPr lang="en-US" dirty="0">
              <a:cs typeface="Calibri" panose="020F0502020204030204"/>
            </a:endParaRPr>
          </a:p>
          <a:p>
            <a:r>
              <a:rPr lang="en-US" dirty="0"/>
              <a:t>SQL Server on Azure Virtual Machines</a:t>
            </a:r>
            <a:endParaRPr lang="en-US" dirty="0">
              <a:cs typeface="Calibri" panose="020F0502020204030204"/>
            </a:endParaRPr>
          </a:p>
          <a:p>
            <a:r>
              <a:rPr lang="en-US" i="1" dirty="0"/>
              <a:t>Lift-and-shift your SQL workloads with ease and maintain with 100% SQL Server compatibility and operating system-level access</a:t>
            </a:r>
            <a:endParaRPr lang="en-US" dirty="0"/>
          </a:p>
          <a:p>
            <a:r>
              <a:rPr lang="en-US" dirty="0"/>
              <a:t> </a:t>
            </a:r>
            <a:endParaRPr lang="en-US" dirty="0">
              <a:cs typeface="Calibri"/>
            </a:endParaRPr>
          </a:p>
          <a:p>
            <a:r>
              <a:rPr lang="en-US" dirty="0"/>
              <a:t>Azure SQL Managed Instance</a:t>
            </a:r>
            <a:endParaRPr lang="en-US" dirty="0">
              <a:cs typeface="Calibri"/>
            </a:endParaRPr>
          </a:p>
          <a:p>
            <a:r>
              <a:rPr lang="en-US" i="1" dirty="0"/>
              <a:t>Modernize your existing SQL Server applications at scale with an intelligent fully managed service</a:t>
            </a:r>
            <a:endParaRPr lang="en-US" dirty="0"/>
          </a:p>
          <a:p>
            <a:r>
              <a:rPr lang="en-US" dirty="0"/>
              <a:t> </a:t>
            </a:r>
            <a:endParaRPr lang="en-US" dirty="0">
              <a:cs typeface="Calibri"/>
            </a:endParaRPr>
          </a:p>
          <a:p>
            <a:r>
              <a:rPr lang="en-US" dirty="0"/>
              <a:t>Azure SQL Database</a:t>
            </a:r>
            <a:endParaRPr lang="en-US" dirty="0">
              <a:cs typeface="Calibri"/>
            </a:endParaRPr>
          </a:p>
          <a:p>
            <a:r>
              <a:rPr lang="en-US" i="1" dirty="0"/>
              <a:t>Support modern cloud applications on an intelligent, managed service that includes serverless compute</a:t>
            </a:r>
            <a:r>
              <a:rPr lang="en-US" dirty="0"/>
              <a:t> </a:t>
            </a:r>
          </a:p>
          <a:p>
            <a:endParaRPr lang="en-US" dirty="0">
              <a:cs typeface="Calibri"/>
            </a:endParaRPr>
          </a:p>
          <a:p>
            <a:r>
              <a:rPr lang="en-US" dirty="0"/>
              <a:t>Azure SQL Edge</a:t>
            </a:r>
            <a:endParaRPr lang="en-US" dirty="0">
              <a:cs typeface="Calibri" panose="020F0502020204030204"/>
            </a:endParaRPr>
          </a:p>
          <a:p>
            <a:r>
              <a:rPr lang="en-US" i="1" dirty="0"/>
              <a:t>Run IoT edge compute with a SQL database optimized with data streaming, time series, and AI capabilities built-in</a:t>
            </a:r>
            <a:endParaRPr lang="en-US" dirty="0">
              <a:ea typeface="+mn-ea"/>
              <a:cs typeface="+mn-cs"/>
            </a:endParaRPr>
          </a:p>
          <a:p>
            <a:endParaRPr lang="en-US" sz="1200" kern="1200" dirty="0">
              <a:solidFill>
                <a:schemeClr val="tx1"/>
              </a:solidFill>
              <a:effectLst/>
              <a:latin typeface="+mn-lt"/>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3DE33B-6BA1-4569-8418-75B90D64D5EE}" type="slidenum">
              <a:rPr kumimoji="0" lang="en-US" sz="2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9373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why run SQL on Azure? Well, Azure SQL is the best choice for SQL Server workloads, with each of the services within the family built upon the same SQL Server engine you’re already familiar with.</a:t>
            </a:r>
          </a:p>
          <a:p>
            <a:endParaRPr lang="en-US"/>
          </a:p>
          <a:p>
            <a:r>
              <a:rPr lang="en-US"/>
              <a:t>Azure SQL: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Is Fully-managed and always up to date</a:t>
            </a:r>
            <a:r>
              <a:rPr lang="en-US"/>
              <a:t>, allowing you to s</a:t>
            </a:r>
            <a:r>
              <a:rPr lang="en-US" sz="1200" kern="1200">
                <a:solidFill>
                  <a:schemeClr val="tx1"/>
                </a:solidFill>
                <a:effectLst/>
                <a:latin typeface="+mn-lt"/>
                <a:ea typeface="+mn-ea"/>
                <a:cs typeface="+mn-cs"/>
              </a:rPr>
              <a:t>pend more time innovating and less time patching, updating, and backing up your databases. Azure is the only cloud with evergreen SQL that automatically applies the latest updates and patches so that your databases are always up to date—eliminating end-of-support hassles.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Let’s you use your existing SQL experience in the cloud.  </a:t>
            </a:r>
            <a:r>
              <a:rPr lang="en-US" sz="1200" b="0" kern="1200">
                <a:solidFill>
                  <a:schemeClr val="tx1"/>
                </a:solidFill>
                <a:effectLst/>
                <a:latin typeface="+mn-lt"/>
                <a:ea typeface="+mn-ea"/>
                <a:cs typeface="+mn-cs"/>
              </a:rPr>
              <a:t>Built on the same SQL Server technology that you’re </a:t>
            </a:r>
            <a:r>
              <a:rPr lang="en-US" sz="1200" kern="1200">
                <a:solidFill>
                  <a:schemeClr val="tx1"/>
                </a:solidFill>
                <a:effectLst/>
                <a:latin typeface="+mn-lt"/>
                <a:ea typeface="+mn-ea"/>
                <a:cs typeface="+mn-cs"/>
              </a:rPr>
              <a:t>already familiar with, so you don’t need to relearn your SQL skills when you make the move. Develop your application once using your existing SQL skills and deploy it on any Azure SQL cloud database on Azure.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Helps you save with the lowest total cost of ownership.  </a:t>
            </a:r>
            <a:r>
              <a:rPr lang="en-US" sz="1200" kern="1200">
                <a:solidFill>
                  <a:schemeClr val="tx1"/>
                </a:solidFill>
                <a:effectLst/>
                <a:latin typeface="+mn-lt"/>
                <a:ea typeface="+mn-ea"/>
                <a:cs typeface="+mn-cs"/>
              </a:rPr>
              <a:t>Get industry-leading pricing and maximize your existing on-premises investments when you migrate your SQL Server databases to Azure:</a:t>
            </a:r>
          </a:p>
          <a:p>
            <a:pPr marL="171450" indent="-171450">
              <a:buFont typeface="Arial" panose="020B0604020202020204" pitchFamily="34" charset="0"/>
              <a:buChar char="•"/>
            </a:pPr>
            <a:r>
              <a:rPr lang="en-US" sz="1200" kern="1200">
                <a:solidFill>
                  <a:schemeClr val="tx1"/>
                </a:solidFill>
                <a:effectLst/>
                <a:latin typeface="+mn-lt"/>
                <a:ea typeface="+mn-ea"/>
                <a:cs typeface="+mn-cs"/>
              </a:rPr>
              <a:t>Save up to 85 percent</a:t>
            </a:r>
            <a:r>
              <a:rPr lang="en-US" sz="1200" kern="1200" baseline="30000">
                <a:solidFill>
                  <a:schemeClr val="tx1"/>
                </a:solidFill>
                <a:effectLst/>
                <a:latin typeface="+mn-lt"/>
                <a:ea typeface="+mn-ea"/>
                <a:cs typeface="+mn-cs"/>
              </a:rPr>
              <a:t>1</a:t>
            </a:r>
            <a:r>
              <a:rPr lang="en-US" sz="1200" kern="1200">
                <a:solidFill>
                  <a:schemeClr val="tx1"/>
                </a:solidFill>
                <a:effectLst/>
                <a:latin typeface="+mn-lt"/>
                <a:ea typeface="+mn-ea"/>
                <a:cs typeface="+mn-cs"/>
              </a:rPr>
              <a:t> off pay-as-you-go pricing when you bring your existing SQL Server licenses to Azure with </a:t>
            </a:r>
            <a:r>
              <a:rPr lang="en-US" sz="1200" u="sng" kern="1200">
                <a:solidFill>
                  <a:schemeClr val="tx1"/>
                </a:solidFill>
                <a:effectLst/>
                <a:latin typeface="+mn-lt"/>
                <a:ea typeface="+mn-ea"/>
                <a:cs typeface="+mn-cs"/>
                <a:hlinkClick r:id="rId3"/>
              </a:rPr>
              <a:t>Azure Hybrid Benefit</a:t>
            </a:r>
            <a:r>
              <a:rPr lang="en-US" sz="1200" kern="120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a:solidFill>
                  <a:schemeClr val="tx1"/>
                </a:solidFill>
                <a:effectLst/>
                <a:latin typeface="+mn-lt"/>
                <a:ea typeface="+mn-ea"/>
                <a:cs typeface="+mn-cs"/>
              </a:rPr>
              <a:t>Get more cloud for less when you combine Azure Hybrid Benefit with </a:t>
            </a:r>
            <a:r>
              <a:rPr lang="en-US" sz="1200" u="sng" kern="1200">
                <a:solidFill>
                  <a:schemeClr val="tx1"/>
                </a:solidFill>
                <a:effectLst/>
                <a:latin typeface="+mn-lt"/>
                <a:ea typeface="+mn-ea"/>
                <a:cs typeface="+mn-cs"/>
                <a:hlinkClick r:id="rId4"/>
              </a:rPr>
              <a:t>reservation pricing</a:t>
            </a:r>
            <a:r>
              <a:rPr lang="en-US" sz="1200" kern="120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a:solidFill>
                  <a:schemeClr val="tx1"/>
                </a:solidFill>
                <a:effectLst/>
                <a:latin typeface="+mn-lt"/>
                <a:ea typeface="+mn-ea"/>
                <a:cs typeface="+mn-cs"/>
              </a:rPr>
              <a:t>Qualify for discounted rates to support your ongoing </a:t>
            </a:r>
            <a:r>
              <a:rPr lang="en-US" sz="1200" u="sng" kern="1200">
                <a:solidFill>
                  <a:schemeClr val="tx1"/>
                </a:solidFill>
                <a:effectLst/>
                <a:latin typeface="+mn-lt"/>
                <a:ea typeface="+mn-ea"/>
                <a:cs typeface="+mn-cs"/>
                <a:hlinkClick r:id="rId5"/>
              </a:rPr>
              <a:t>development and testing</a:t>
            </a:r>
            <a:r>
              <a:rPr lang="en-US" sz="1200" kern="1200">
                <a:solidFill>
                  <a:schemeClr val="tx1"/>
                </a:solidFill>
                <a:effectLst/>
                <a:latin typeface="+mn-lt"/>
                <a:ea typeface="+mn-ea"/>
                <a:cs typeface="+mn-cs"/>
              </a:rPr>
              <a:t> on Azure. </a:t>
            </a:r>
          </a:p>
          <a:p>
            <a:pPr marL="171450" lvl="0" indent="-171450">
              <a:buFont typeface="Arial" panose="020B0604020202020204" pitchFamily="34" charset="0"/>
              <a:buChar char="•"/>
            </a:pPr>
            <a:r>
              <a:rPr lang="en-US" sz="1200" kern="1200">
                <a:solidFill>
                  <a:schemeClr val="tx1"/>
                </a:solidFill>
                <a:effectLst/>
                <a:latin typeface="+mn-lt"/>
                <a:ea typeface="+mn-ea"/>
                <a:cs typeface="+mn-cs"/>
              </a:rPr>
              <a:t>Spend less time monitoring your workloads with a single </a:t>
            </a:r>
            <a:r>
              <a:rPr lang="en-US" sz="1200" u="sng" kern="1200">
                <a:solidFill>
                  <a:schemeClr val="tx1"/>
                </a:solidFill>
                <a:effectLst/>
                <a:latin typeface="+mn-lt"/>
                <a:ea typeface="+mn-ea"/>
                <a:cs typeface="+mn-cs"/>
                <a:hlinkClick r:id="rId6"/>
              </a:rPr>
              <a:t>portal</a:t>
            </a:r>
            <a:r>
              <a:rPr lang="en-US" sz="1200" kern="1200">
                <a:solidFill>
                  <a:schemeClr val="tx1"/>
                </a:solidFill>
                <a:effectLst/>
                <a:latin typeface="+mn-lt"/>
                <a:ea typeface="+mn-ea"/>
                <a:cs typeface="+mn-cs"/>
              </a:rPr>
              <a:t> that lets you view all of your Azure SQL databases, virtual machines, pools, and instances in one place.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 </a:t>
            </a:r>
          </a:p>
          <a:p>
            <a:pPr lvl="0"/>
            <a:r>
              <a:rPr lang="en-US"/>
              <a:t>Protects your investment with built-in, intelligent security. R</a:t>
            </a:r>
            <a:r>
              <a:rPr lang="en-US" sz="1200" kern="1200">
                <a:solidFill>
                  <a:schemeClr val="tx1"/>
                </a:solidFill>
                <a:effectLst/>
                <a:latin typeface="+mn-lt"/>
                <a:ea typeface="+mn-ea"/>
                <a:cs typeface="+mn-cs"/>
              </a:rPr>
              <a:t>emediate potential threats in real-time with intelligent </a:t>
            </a:r>
            <a:r>
              <a:rPr lang="en-US" sz="1200" u="sng" kern="1200">
                <a:solidFill>
                  <a:schemeClr val="tx1"/>
                </a:solidFill>
                <a:effectLst/>
                <a:latin typeface="+mn-lt"/>
                <a:ea typeface="+mn-ea"/>
                <a:cs typeface="+mn-cs"/>
                <a:hlinkClick r:id="rId7"/>
              </a:rPr>
              <a:t>threat detection</a:t>
            </a:r>
            <a:r>
              <a:rPr lang="en-US" sz="1200" kern="1200">
                <a:solidFill>
                  <a:schemeClr val="tx1"/>
                </a:solidFill>
                <a:effectLst/>
                <a:latin typeface="+mn-lt"/>
                <a:ea typeface="+mn-ea"/>
                <a:cs typeface="+mn-cs"/>
              </a:rPr>
              <a:t> and proactive vulnerability assessment alerts.  Get industry-leading, multi-layered protection with </a:t>
            </a:r>
            <a:r>
              <a:rPr lang="en-US" sz="1200" u="sng" kern="1200">
                <a:solidFill>
                  <a:schemeClr val="tx1"/>
                </a:solidFill>
                <a:effectLst/>
                <a:latin typeface="+mn-lt"/>
                <a:ea typeface="+mn-ea"/>
                <a:cs typeface="+mn-cs"/>
                <a:hlinkClick r:id="rId8"/>
              </a:rPr>
              <a:t>built-in security controls</a:t>
            </a:r>
            <a:r>
              <a:rPr lang="en-US" sz="1200" kern="1200">
                <a:solidFill>
                  <a:schemeClr val="tx1"/>
                </a:solidFill>
                <a:effectLst/>
                <a:latin typeface="+mn-lt"/>
                <a:ea typeface="+mn-ea"/>
                <a:cs typeface="+mn-cs"/>
              </a:rPr>
              <a:t> including T-SQL, authentication, networking, and key management.  Take advantage of the most comprehensive </a:t>
            </a:r>
            <a:r>
              <a:rPr lang="en-US" sz="1200" u="sng" kern="1200">
                <a:solidFill>
                  <a:schemeClr val="tx1"/>
                </a:solidFill>
                <a:effectLst/>
                <a:latin typeface="+mn-lt"/>
                <a:ea typeface="+mn-ea"/>
                <a:cs typeface="+mn-cs"/>
                <a:hlinkClick r:id="rId9"/>
              </a:rPr>
              <a:t>compliance coverage</a:t>
            </a:r>
            <a:r>
              <a:rPr lang="en-US" sz="1200" kern="1200">
                <a:solidFill>
                  <a:schemeClr val="tx1"/>
                </a:solidFill>
                <a:effectLst/>
                <a:latin typeface="+mn-lt"/>
                <a:ea typeface="+mn-ea"/>
                <a:cs typeface="+mn-cs"/>
              </a:rPr>
              <a:t> of any cloud database service.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3DE33B-6BA1-4569-8418-75B90D64D5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79179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understand that it’s not always easy to know where to start, so we’ve created this simplified flow chart with some key features of each database offering to help you choose the best destination for your needs. </a:t>
            </a:r>
          </a:p>
          <a:p>
            <a:endParaRPr lang="en-US" dirty="0"/>
          </a:p>
          <a:p>
            <a:r>
              <a:rPr lang="en-US" dirty="0"/>
              <a:t>If you know you’ll need OS level access and don’t want to make changes to your existing codebase, then SQL Server on Azure VM is the right option for you. </a:t>
            </a:r>
          </a:p>
          <a:p>
            <a:endParaRPr lang="en-US" dirty="0"/>
          </a:p>
          <a:p>
            <a:r>
              <a:rPr lang="en-US" dirty="0"/>
              <a:t>If your goal is to modernize an existing application, and want to take advantage of all the features of Azure PaaS, then Azure SQL MI may be the right fit. With a few tweaks to your existing application, you should be able to run on MI and take advantage of your instance easily.</a:t>
            </a:r>
          </a:p>
          <a:p>
            <a:endParaRPr lang="en-US" dirty="0"/>
          </a:p>
          <a:p>
            <a:r>
              <a:rPr lang="en-US" dirty="0"/>
              <a:t>And finally, if you’re looking to begin building cloud-native applications on Azure, or are looking for the flexibility to automatically pause and resume intermittent workloads, then Azure SQL Database is the perfect choice.</a:t>
            </a:r>
          </a:p>
          <a:p>
            <a:endParaRPr lang="en-US" dirty="0"/>
          </a:p>
          <a:p>
            <a:r>
              <a:rPr lang="en-US" dirty="0"/>
              <a:t>Once on Azure, take advantage of all Azure SQL has to offer.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6EF678-834A-48C3-A149-68FB38FF4BB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7561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00" y="744538"/>
            <a:ext cx="6618288" cy="3722687"/>
          </a:xfrm>
          <a:prstGeom prst="rect">
            <a:avLst/>
          </a:prstGeom>
        </p:spPr>
      </p:sp>
      <p:sp>
        <p:nvSpPr>
          <p:cNvPr id="3" name="Notes Placeholder 2"/>
          <p:cNvSpPr>
            <a:spLocks noGrp="1"/>
          </p:cNvSpPr>
          <p:nvPr>
            <p:ph type="body" idx="1"/>
          </p:nvPr>
        </p:nvSpPr>
        <p:spPr>
          <a:xfrm>
            <a:off x="666909" y="4715907"/>
            <a:ext cx="5335270" cy="4467701"/>
          </a:xfrm>
          <a:prstGeom prst="rect">
            <a:avLst/>
          </a:prstGeom>
        </p:spPr>
        <p:txBody>
          <a:bodyPr>
            <a:normAutofit/>
          </a:bodyPr>
          <a:lstStyle/>
          <a:p>
            <a:pPr marL="0" marR="0" lvl="0" indent="0" algn="l" defTabSz="932742" rtl="0" eaLnBrk="1" fontAlgn="auto" latinLnBrk="0" hangingPunct="1">
              <a:lnSpc>
                <a:spcPct val="90000"/>
              </a:lnSpc>
              <a:spcBef>
                <a:spcPts val="0"/>
              </a:spcBef>
              <a:spcAft>
                <a:spcPts val="340"/>
              </a:spcAft>
              <a:buClrTx/>
              <a:buSzTx/>
              <a:buFont typeface="+mj-lt"/>
              <a:buNone/>
              <a:tabLst/>
              <a:defRPr/>
            </a:pPr>
            <a:r>
              <a:rPr lang="en-US" sz="900" b="0" baseline="0" dirty="0">
                <a:solidFill>
                  <a:srgbClr val="FFFFFF"/>
                </a:solidFill>
              </a:rPr>
              <a:t>We know that optimizing for costs is a crucial piece to any change within a business, that’s why Azure offers key benefits to help you get the most out of your investment.</a:t>
            </a:r>
          </a:p>
          <a:p>
            <a:pPr marL="0" marR="0" lvl="0" indent="0" algn="l" defTabSz="932742" rtl="0" eaLnBrk="1" fontAlgn="auto" latinLnBrk="0" hangingPunct="1">
              <a:lnSpc>
                <a:spcPct val="90000"/>
              </a:lnSpc>
              <a:spcBef>
                <a:spcPts val="0"/>
              </a:spcBef>
              <a:spcAft>
                <a:spcPts val="340"/>
              </a:spcAft>
              <a:buClrTx/>
              <a:buSzTx/>
              <a:buFont typeface="+mj-lt"/>
              <a:buNone/>
              <a:tabLst/>
              <a:defRPr/>
            </a:pPr>
            <a:endParaRPr lang="en-US" sz="900" b="0" baseline="0" dirty="0">
              <a:solidFill>
                <a:srgbClr val="FFFFFF"/>
              </a:solidFill>
            </a:endParaRPr>
          </a:p>
          <a:p>
            <a:pPr marL="0" marR="0" lvl="0" indent="0" algn="l" defTabSz="932742" rtl="0" eaLnBrk="1" fontAlgn="auto" latinLnBrk="0" hangingPunct="1">
              <a:lnSpc>
                <a:spcPct val="90000"/>
              </a:lnSpc>
              <a:spcBef>
                <a:spcPts val="0"/>
              </a:spcBef>
              <a:spcAft>
                <a:spcPts val="340"/>
              </a:spcAft>
              <a:buClrTx/>
              <a:buSzTx/>
              <a:buFont typeface="+mj-lt"/>
              <a:buNone/>
              <a:tabLst/>
              <a:defRPr/>
            </a:pPr>
            <a:r>
              <a:rPr lang="en-US" sz="900" b="0" baseline="0" dirty="0">
                <a:solidFill>
                  <a:srgbClr val="FFFFFF"/>
                </a:solidFill>
              </a:rPr>
              <a:t>With </a:t>
            </a:r>
            <a:r>
              <a:rPr lang="en-US" sz="900" b="1" baseline="0" dirty="0">
                <a:solidFill>
                  <a:srgbClr val="FFFFFF"/>
                </a:solidFill>
              </a:rPr>
              <a:t>AHB</a:t>
            </a:r>
            <a:r>
              <a:rPr lang="en-US" sz="900" b="0" baseline="0" dirty="0">
                <a:solidFill>
                  <a:srgbClr val="FFFFFF"/>
                </a:solidFill>
              </a:rPr>
              <a:t>, bring your pre-existing SQL Licenses with active Software Assurance to the cloud and save up to 59% vs other cloud providers. Leverage your on-premise time and monetary investments by bringing both skills and licenses to Azure SQL.</a:t>
            </a:r>
          </a:p>
          <a:p>
            <a:pPr marL="0" marR="0" lvl="0" indent="0" algn="l" defTabSz="932742" rtl="0" eaLnBrk="1" fontAlgn="auto" latinLnBrk="0" hangingPunct="1">
              <a:lnSpc>
                <a:spcPct val="90000"/>
              </a:lnSpc>
              <a:spcBef>
                <a:spcPts val="0"/>
              </a:spcBef>
              <a:spcAft>
                <a:spcPts val="340"/>
              </a:spcAft>
              <a:buClrTx/>
              <a:buSzTx/>
              <a:buFont typeface="+mj-lt"/>
              <a:buNone/>
              <a:tabLst/>
              <a:defRPr/>
            </a:pPr>
            <a:endParaRPr lang="en-US" sz="900" b="0" baseline="0" dirty="0">
              <a:solidFill>
                <a:srgbClr val="FFFFFF"/>
              </a:solidFill>
            </a:endParaRPr>
          </a:p>
          <a:p>
            <a:pPr marL="0" marR="0" lvl="0" indent="0" algn="l" defTabSz="932742" rtl="0" eaLnBrk="1" fontAlgn="auto" latinLnBrk="0" hangingPunct="1">
              <a:lnSpc>
                <a:spcPct val="90000"/>
              </a:lnSpc>
              <a:spcBef>
                <a:spcPts val="0"/>
              </a:spcBef>
              <a:spcAft>
                <a:spcPts val="340"/>
              </a:spcAft>
              <a:buClrTx/>
              <a:buSzTx/>
              <a:buFont typeface="+mj-lt"/>
              <a:buNone/>
              <a:tabLst/>
              <a:defRPr/>
            </a:pPr>
            <a:r>
              <a:rPr lang="en-US" sz="900" b="0" baseline="0" dirty="0">
                <a:solidFill>
                  <a:srgbClr val="FFFFFF"/>
                </a:solidFill>
              </a:rPr>
              <a:t>With </a:t>
            </a:r>
            <a:r>
              <a:rPr lang="en-US" sz="900" b="1" baseline="0" dirty="0">
                <a:solidFill>
                  <a:srgbClr val="FFFFFF"/>
                </a:solidFill>
              </a:rPr>
              <a:t>RC, </a:t>
            </a:r>
            <a:r>
              <a:rPr lang="en-US" sz="900" b="0" baseline="0" dirty="0">
                <a:solidFill>
                  <a:srgbClr val="FFFFFF"/>
                </a:solidFill>
              </a:rPr>
              <a:t>pay for resources up front and save up to 33% on list price by making a one or three year commitment. You can combine this with AHB to save up to 80% in Azure.</a:t>
            </a:r>
          </a:p>
          <a:p>
            <a:pPr marL="0" marR="0" lvl="0" indent="0" algn="l" defTabSz="932742" rtl="0" eaLnBrk="1" fontAlgn="auto" latinLnBrk="0" hangingPunct="1">
              <a:lnSpc>
                <a:spcPct val="90000"/>
              </a:lnSpc>
              <a:spcBef>
                <a:spcPts val="0"/>
              </a:spcBef>
              <a:spcAft>
                <a:spcPts val="340"/>
              </a:spcAft>
              <a:buClrTx/>
              <a:buSzTx/>
              <a:buFont typeface="+mj-lt"/>
              <a:buNone/>
              <a:tabLst/>
              <a:defRPr/>
            </a:pPr>
            <a:endParaRPr lang="en-US" sz="900" b="0" baseline="0" dirty="0">
              <a:solidFill>
                <a:srgbClr val="FFFFFF"/>
              </a:solidFill>
            </a:endParaRPr>
          </a:p>
          <a:p>
            <a:pPr marL="0" marR="0" lvl="0" indent="0" algn="l" defTabSz="932742" rtl="0" eaLnBrk="1" fontAlgn="auto" latinLnBrk="0" hangingPunct="1">
              <a:lnSpc>
                <a:spcPct val="90000"/>
              </a:lnSpc>
              <a:spcBef>
                <a:spcPts val="0"/>
              </a:spcBef>
              <a:spcAft>
                <a:spcPts val="340"/>
              </a:spcAft>
              <a:buClrTx/>
              <a:buSzTx/>
              <a:buFont typeface="+mj-lt"/>
              <a:buNone/>
              <a:tabLst/>
              <a:defRPr/>
            </a:pPr>
            <a:r>
              <a:rPr lang="en-US" sz="900" b="0" baseline="0" dirty="0">
                <a:solidFill>
                  <a:srgbClr val="FFFFFF"/>
                </a:solidFill>
              </a:rPr>
              <a:t>If you’re still in the development/testing phase of your product, take advantage of special Dev/Test pricing, available with an active Visual Studio subscription, and save up to 55% vs list price.</a:t>
            </a:r>
          </a:p>
          <a:p>
            <a:pPr marL="0" marR="0" lvl="0" indent="0" algn="l" defTabSz="932742" rtl="0" eaLnBrk="1" fontAlgn="auto" latinLnBrk="0" hangingPunct="1">
              <a:lnSpc>
                <a:spcPct val="90000"/>
              </a:lnSpc>
              <a:spcBef>
                <a:spcPts val="0"/>
              </a:spcBef>
              <a:spcAft>
                <a:spcPts val="340"/>
              </a:spcAft>
              <a:buClrTx/>
              <a:buSzTx/>
              <a:buFont typeface="+mj-lt"/>
              <a:buNone/>
              <a:tabLst/>
              <a:defRPr/>
            </a:pPr>
            <a:endParaRPr lang="en-US" sz="900" b="0" baseline="0" dirty="0">
              <a:solidFill>
                <a:srgbClr val="FFFFFF"/>
              </a:solidFill>
            </a:endParaRPr>
          </a:p>
          <a:p>
            <a:pPr marL="0" marR="0" lvl="0" indent="0" algn="l" defTabSz="932742" rtl="0" eaLnBrk="1" fontAlgn="auto" latinLnBrk="0" hangingPunct="1">
              <a:lnSpc>
                <a:spcPct val="90000"/>
              </a:lnSpc>
              <a:spcBef>
                <a:spcPts val="0"/>
              </a:spcBef>
              <a:spcAft>
                <a:spcPts val="340"/>
              </a:spcAft>
              <a:buClrTx/>
              <a:buSzTx/>
              <a:buFont typeface="+mj-lt"/>
              <a:buNone/>
              <a:tabLst/>
              <a:defRPr/>
            </a:pPr>
            <a:r>
              <a:rPr lang="en-US" sz="900" b="0" baseline="0" dirty="0">
                <a:solidFill>
                  <a:srgbClr val="FFFFFF"/>
                </a:solidFill>
              </a:rPr>
              <a:t>And finally, take advantage of the only cloud that offers free extended security updates for your SQL Server 2008/2008R for the next 3 years if you choose to run on Azure VMs.</a:t>
            </a:r>
          </a:p>
          <a:p>
            <a:pPr marL="0" marR="0" lvl="0" indent="0" algn="l" defTabSz="932742" rtl="0" eaLnBrk="1" fontAlgn="auto" latinLnBrk="0" hangingPunct="1">
              <a:lnSpc>
                <a:spcPct val="90000"/>
              </a:lnSpc>
              <a:spcBef>
                <a:spcPts val="0"/>
              </a:spcBef>
              <a:spcAft>
                <a:spcPts val="340"/>
              </a:spcAft>
              <a:buClrTx/>
              <a:buSzTx/>
              <a:buFont typeface="+mj-lt"/>
              <a:buNone/>
              <a:tabLst/>
              <a:defRPr/>
            </a:pPr>
            <a:endParaRPr lang="en-US" sz="900" b="0" baseline="0" dirty="0">
              <a:solidFill>
                <a:srgbClr val="FFFFFF"/>
              </a:solidFill>
            </a:endParaRPr>
          </a:p>
        </p:txBody>
      </p:sp>
      <p:sp>
        <p:nvSpPr>
          <p:cNvPr id="4" name="Date Placeholder 3"/>
          <p:cNvSpPr>
            <a:spLocks noGrp="1"/>
          </p:cNvSpPr>
          <p:nvPr>
            <p:ph type="dt" idx="10"/>
          </p:nvPr>
        </p:nvSpPr>
        <p:spPr>
          <a:xfrm>
            <a:off x="3777607" y="0"/>
            <a:ext cx="2889938" cy="496411"/>
          </a:xfrm>
          <a:prstGeom prst="rect">
            <a:avLst/>
          </a:prstGeom>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EA2B2ED8-C573-45EF-BF68-CEC19505703A}"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8/16/2023 4:44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2"/>
          </p:nvPr>
        </p:nvSpPr>
        <p:spPr>
          <a:xfrm>
            <a:off x="6002178" y="9430091"/>
            <a:ext cx="665366" cy="496411"/>
          </a:xfrm>
          <a:prstGeom prst="rect">
            <a:avLst/>
          </a:prstGeom>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Footer Placeholder 5"/>
          <p:cNvSpPr>
            <a:spLocks noGrp="1"/>
          </p:cNvSpPr>
          <p:nvPr>
            <p:ph type="ftr" sz="quarter" idx="13"/>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Header Placeholder 8"/>
          <p:cNvSpPr>
            <a:spLocks noGrp="1"/>
          </p:cNvSpPr>
          <p:nvPr>
            <p:ph type="hdr" sz="quarter" idx="14"/>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572430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Azure Hybrid Benefit for SQL is an Azure benefit for customers with active software assurance (including subscription licensing) on their SQL cores.</a:t>
            </a:r>
          </a:p>
          <a:p>
            <a:endParaRPr lang="en-US" dirty="0"/>
          </a:p>
          <a:p>
            <a:r>
              <a:rPr lang="en-US" dirty="0"/>
              <a:t>Customers can use their cores on-premises, or as </a:t>
            </a:r>
            <a:r>
              <a:rPr lang="en-US" dirty="0" err="1"/>
              <a:t>vCores</a:t>
            </a:r>
            <a:r>
              <a:rPr lang="en-US" dirty="0"/>
              <a:t> towards eligible Azure data services, detailed on the following slide. By using this benefit, the customer is charged the ‘base rate’ in Azure, which excludes the charges </a:t>
            </a:r>
          </a:p>
          <a:p>
            <a:endParaRPr lang="en-US" dirty="0"/>
          </a:p>
          <a:p>
            <a:r>
              <a:rPr lang="en-US" dirty="0"/>
              <a:t>Note this benefit is </a:t>
            </a:r>
            <a:r>
              <a:rPr lang="en-US" u="sng" dirty="0"/>
              <a:t>core only</a:t>
            </a:r>
            <a:r>
              <a:rPr lang="en-US" u="none" dirty="0"/>
              <a:t>. If customers have server/CAL licensing they will not be able to leverage the Azure Hybrid Benefit and should consider moving to the Core model</a:t>
            </a:r>
          </a:p>
          <a:p>
            <a:endParaRPr lang="en-US" u="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Segoe UI"/>
              </a:rPr>
              <a:t>The </a:t>
            </a:r>
            <a:r>
              <a:rPr lang="en-US" sz="1200" b="1" dirty="0">
                <a:solidFill>
                  <a:srgbClr val="000000"/>
                </a:solidFill>
                <a:latin typeface="Segoe UI"/>
              </a:rPr>
              <a:t>‘base rate’ </a:t>
            </a:r>
            <a:r>
              <a:rPr lang="en-US" sz="1200" dirty="0">
                <a:solidFill>
                  <a:srgbClr val="000000"/>
                </a:solidFill>
                <a:latin typeface="Segoe UI"/>
              </a:rPr>
              <a:t>is the cost of compute, storage, backup, and any I/O charges that may apply. SQL license costs are waived</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0E968E-2979-444F-98B4-65D2F8A04D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896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202"/>
              </a:spcAft>
            </a:pPr>
            <a:r>
              <a:rPr lang="en-US" sz="2000" dirty="0"/>
              <a:t>But, not only can you do more with what you have, but you can also get more for performance for your money.</a:t>
            </a:r>
          </a:p>
          <a:p>
            <a:pPr>
              <a:spcAft>
                <a:spcPts val="1202"/>
              </a:spcAft>
            </a:pPr>
            <a:endParaRPr lang="en-US" sz="2000" dirty="0"/>
          </a:p>
          <a:p>
            <a:pPr>
              <a:spcAft>
                <a:spcPts val="1202"/>
              </a:spcAft>
            </a:pPr>
            <a:r>
              <a:rPr lang="en-US" sz="2000" dirty="0"/>
              <a:t>Azure SQL provides more value through leading price-performance.  Recent reports from </a:t>
            </a:r>
            <a:r>
              <a:rPr lang="en-US" sz="2000" dirty="0" err="1"/>
              <a:t>GigaOm</a:t>
            </a:r>
            <a:r>
              <a:rPr lang="en-US" sz="2000" dirty="0"/>
              <a:t>, an independent research firm, </a:t>
            </a:r>
            <a:r>
              <a:rPr lang="en-US" sz="2000" dirty="0">
                <a:solidFill>
                  <a:srgbClr val="000000"/>
                </a:solidFill>
                <a:latin typeface="+mn-lt"/>
                <a:ea typeface="Segoe UI" charset="0"/>
                <a:cs typeface="Calibri" panose="020F0502020204030204"/>
              </a:rPr>
              <a:t>concluded the following:</a:t>
            </a:r>
          </a:p>
          <a:p>
            <a:pPr marL="342900" indent="-342900">
              <a:spcAft>
                <a:spcPts val="1202"/>
              </a:spcAft>
              <a:buFont typeface="Arial" panose="020B0604020202020204" pitchFamily="34" charset="0"/>
              <a:buChar char="•"/>
            </a:pPr>
            <a:r>
              <a:rPr lang="en-US" sz="2000" dirty="0"/>
              <a:t>SQL Server on Azure Virtual Machines is up to </a:t>
            </a:r>
            <a:r>
              <a:rPr lang="en-US" sz="2000" b="1" dirty="0"/>
              <a:t>3.6 times faster </a:t>
            </a:r>
            <a:r>
              <a:rPr lang="en-US" sz="2000" dirty="0"/>
              <a:t>and costs up to</a:t>
            </a:r>
            <a:r>
              <a:rPr lang="en-US" sz="2000" b="1" dirty="0">
                <a:latin typeface="Segoe UI Semibold"/>
                <a:cs typeface="Segoe UI Semibold"/>
              </a:rPr>
              <a:t> 84</a:t>
            </a:r>
            <a:r>
              <a:rPr lang="en-US" sz="2000" b="1" dirty="0"/>
              <a:t>% less than the competition.</a:t>
            </a:r>
            <a:r>
              <a:rPr lang="en-US" sz="2000" b="0" baseline="30000" dirty="0"/>
              <a:t>1</a:t>
            </a:r>
          </a:p>
          <a:p>
            <a:pPr marL="342900" indent="-342900">
              <a:spcAft>
                <a:spcPts val="1202"/>
              </a:spcAft>
              <a:buFont typeface="Arial" panose="020B0604020202020204" pitchFamily="34" charset="0"/>
              <a:buChar char="•"/>
            </a:pPr>
            <a:r>
              <a:rPr lang="en-US" sz="2000" b="0" dirty="0">
                <a:solidFill>
                  <a:srgbClr val="000000"/>
                </a:solidFill>
                <a:latin typeface="+mn-lt"/>
                <a:cs typeface="Calibri" panose="020F0502020204030204"/>
              </a:rPr>
              <a:t>Azure SQL Database meets your mission-critical requirements while costing up to </a:t>
            </a:r>
            <a:r>
              <a:rPr lang="en-US" sz="2000" b="1" dirty="0">
                <a:solidFill>
                  <a:srgbClr val="000000"/>
                </a:solidFill>
                <a:latin typeface="+mn-lt"/>
                <a:cs typeface="Calibri" panose="020F0502020204030204"/>
              </a:rPr>
              <a:t>86% less than the competition</a:t>
            </a:r>
            <a:r>
              <a:rPr lang="en-US" sz="2000" b="0" dirty="0">
                <a:solidFill>
                  <a:srgbClr val="000000"/>
                </a:solidFill>
                <a:latin typeface="+mn-lt"/>
                <a:cs typeface="Calibri" panose="020F0502020204030204"/>
              </a:rPr>
              <a:t>.</a:t>
            </a:r>
            <a:r>
              <a:rPr lang="en-US" sz="2000" b="0" baseline="30000" dirty="0">
                <a:solidFill>
                  <a:srgbClr val="000000"/>
                </a:solidFill>
                <a:latin typeface="+mn-lt"/>
                <a:cs typeface="Calibri" panose="020F0502020204030204"/>
              </a:rPr>
              <a:t>2</a:t>
            </a:r>
          </a:p>
          <a:p>
            <a:pPr marL="342900" indent="-342900">
              <a:spcAft>
                <a:spcPts val="1202"/>
              </a:spcAft>
              <a:buFont typeface="Arial" panose="020B0604020202020204" pitchFamily="34" charset="0"/>
              <a:buChar char="•"/>
            </a:pPr>
            <a:endParaRPr lang="en-US" sz="2000" b="0" dirty="0">
              <a:solidFill>
                <a:srgbClr val="000000"/>
              </a:solidFill>
              <a:latin typeface="+mn-lt"/>
              <a:cs typeface="Calibri" panose="020F0502020204030204"/>
            </a:endParaRPr>
          </a:p>
          <a:p>
            <a:pPr marL="0" indent="0">
              <a:spcAft>
                <a:spcPts val="1202"/>
              </a:spcAft>
              <a:buFont typeface="Arial" panose="020B0604020202020204" pitchFamily="34" charset="0"/>
              <a:buNone/>
            </a:pPr>
            <a:r>
              <a:rPr lang="en-US" sz="1200" i="1" kern="1200" baseline="30000" dirty="0">
                <a:solidFill>
                  <a:schemeClr val="tx1"/>
                </a:solidFill>
                <a:latin typeface="+mn-lt"/>
                <a:ea typeface="+mn-ea"/>
                <a:cs typeface="+mn-cs"/>
              </a:rPr>
              <a:t>1</a:t>
            </a:r>
            <a:r>
              <a:rPr lang="en-US" sz="1200" i="1" kern="1200" dirty="0">
                <a:solidFill>
                  <a:schemeClr val="tx1"/>
                </a:solidFill>
                <a:latin typeface="+mn-lt"/>
                <a:ea typeface="+mn-ea"/>
                <a:cs typeface="+mn-cs"/>
              </a:rPr>
              <a:t>Price-performance claims based on data from a study commissioned by Microsoft and conducted by </a:t>
            </a:r>
            <a:r>
              <a:rPr lang="en-US" sz="1200" i="1" kern="1200" dirty="0" err="1">
                <a:solidFill>
                  <a:schemeClr val="tx1"/>
                </a:solidFill>
                <a:latin typeface="+mn-lt"/>
                <a:ea typeface="+mn-ea"/>
                <a:cs typeface="+mn-cs"/>
              </a:rPr>
              <a:t>GigaOm</a:t>
            </a:r>
            <a:r>
              <a:rPr lang="en-US" sz="1200" i="1" kern="1200" dirty="0">
                <a:solidFill>
                  <a:schemeClr val="tx1"/>
                </a:solidFill>
                <a:latin typeface="+mn-lt"/>
                <a:ea typeface="+mn-ea"/>
                <a:cs typeface="+mn-cs"/>
              </a:rPr>
              <a:t> in February 2020. The study compared price performance between SQL Server 2019 Enterprise Edition on Windows Server 2019 Datacenter edition in Azure E32as_v4 instance type with P30 Premium SSD Disks and the SQL Server 2019 Enterprise Edition on Windows Server 2019 Datacenter edition in AWS EC2 r5a.8xlarge instance type with General Purpose (gp2) volumes. Benchmark data is taken from a </a:t>
            </a:r>
            <a:r>
              <a:rPr lang="en-US" sz="1200" i="1" kern="1200" dirty="0" err="1">
                <a:solidFill>
                  <a:schemeClr val="tx1"/>
                </a:solidFill>
                <a:latin typeface="+mn-lt"/>
                <a:ea typeface="+mn-ea"/>
                <a:cs typeface="+mn-cs"/>
              </a:rPr>
              <a:t>GigaOm</a:t>
            </a:r>
            <a:r>
              <a:rPr lang="en-US" sz="1200" i="1" kern="1200" dirty="0">
                <a:solidFill>
                  <a:schemeClr val="tx1"/>
                </a:solidFill>
                <a:latin typeface="+mn-lt"/>
                <a:ea typeface="+mn-ea"/>
                <a:cs typeface="+mn-cs"/>
              </a:rPr>
              <a:t> Analytic Field Test derived from a recognized industry standard, TPC Benchmark™ E (TPC-E). The Field Test does not implement the full TPC-E benchmark and as such is not comparable to any published TPC-E benchmarks. Prices are based on publicly available US pricing in West US for SQL Server on Azure Virtual Machines and Northern California for AWS EC2 as of January 2020. The pricing incorporates three-year reservations for Azure and AWS compute pricing, and Azure Hybrid Benefit for SQL Server and Azure Hybrid Benefit for Windows Server and License Mobility for SQL Server in AWS, excluding Software Assurance costs. Actual results and prices may vary based on configuration and region.</a:t>
            </a:r>
          </a:p>
          <a:p>
            <a:pPr marL="0" indent="0">
              <a:spcAft>
                <a:spcPts val="1202"/>
              </a:spcAft>
              <a:buFont typeface="Arial" panose="020B0604020202020204" pitchFamily="34" charset="0"/>
              <a:buNone/>
            </a:pPr>
            <a:endParaRPr lang="en-US" sz="1200" b="0" i="1" dirty="0"/>
          </a:p>
          <a:p>
            <a:pPr marL="0" marR="0" lvl="0" indent="0" algn="l" defTabSz="914400" rtl="0" eaLnBrk="1" fontAlgn="auto" latinLnBrk="0" hangingPunct="1">
              <a:lnSpc>
                <a:spcPct val="100000"/>
              </a:lnSpc>
              <a:spcBef>
                <a:spcPts val="0"/>
              </a:spcBef>
              <a:spcAft>
                <a:spcPts val="1202"/>
              </a:spcAft>
              <a:buClrTx/>
              <a:buSzTx/>
              <a:buFont typeface="Arial" panose="020B0604020202020204" pitchFamily="34" charset="0"/>
              <a:buNone/>
              <a:tabLst/>
              <a:defRPr/>
            </a:pPr>
            <a:r>
              <a:rPr lang="en-US" sz="1200" i="1" baseline="30000" dirty="0"/>
              <a:t>2</a:t>
            </a:r>
            <a:r>
              <a:rPr lang="en-US" sz="1200" i="1" dirty="0"/>
              <a:t>Price-performance claim based on data from a study commissioned by Microsoft and conducted by </a:t>
            </a:r>
            <a:r>
              <a:rPr lang="en-US" sz="1200" i="1" dirty="0" err="1"/>
              <a:t>GigaOM</a:t>
            </a:r>
            <a:r>
              <a:rPr lang="en-US" sz="1200" i="1" dirty="0"/>
              <a:t> in August 2019. The study compared price performance between a single, 80 </a:t>
            </a:r>
            <a:r>
              <a:rPr lang="en-US" sz="1200" i="1" dirty="0" err="1"/>
              <a:t>vCore</a:t>
            </a:r>
            <a:r>
              <a:rPr lang="en-US" sz="1200" i="1" dirty="0"/>
              <a:t>, Gen 5 Azure SQL Database on the business critical service tier and the db.r4.16xlarge offering for SQL Server on AWS RDS. Benchmark data is taken from a </a:t>
            </a:r>
            <a:r>
              <a:rPr lang="en-US" sz="1200" i="1" dirty="0" err="1"/>
              <a:t>GigaOM</a:t>
            </a:r>
            <a:r>
              <a:rPr lang="en-US" sz="1200" i="1" dirty="0"/>
              <a:t> Analytic Field Test derived from a recognized industry standard, TPC Benchmark™ E (TPC-E), and is based on a mixture of read-only and update intensive transactions that simulate activities found in complex OLTP application environments. Price-performance is calculated by </a:t>
            </a:r>
            <a:r>
              <a:rPr lang="en-US" sz="1200" i="1" dirty="0" err="1"/>
              <a:t>GigaOm</a:t>
            </a:r>
            <a:r>
              <a:rPr lang="en-US" sz="1200" i="1" dirty="0"/>
              <a:t> as the cost of running the cloud platform continuously for three years divided by transactions per second throughput. Prices are based on publicly available US pricing in East US for Azure SQL Database and US East (Ohio) for AWS RDS as of August 2019. Price-performance results are based upon the configurations detailed in the </a:t>
            </a:r>
            <a:r>
              <a:rPr lang="en-US" sz="1200" i="1" dirty="0" err="1"/>
              <a:t>GigaOM</a:t>
            </a:r>
            <a:r>
              <a:rPr lang="en-US" sz="1200" i="1" dirty="0"/>
              <a:t> Analytic Field Test.  Actual results and prices may vary based on configuration and region.</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B55DC690-BF42-4CD8-A685-CF61807EAAC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00678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previous stories are just a sample of the types of scenarios that Azure SQL supports – and the benefits customers have experienced when choosing Azure SQL.</a:t>
            </a:r>
          </a:p>
          <a:p>
            <a:endParaRPr lang="en-US" dirty="0"/>
          </a:p>
          <a:p>
            <a:r>
              <a:rPr lang="en-US" dirty="0"/>
              <a:t>Enterprise Strategy Group recently published a commissioned study that looked at the potential savings and operational benefits of migrating from on-premises to Azure SQL, first to IaaS and then continuing to PaaS.</a:t>
            </a:r>
          </a:p>
          <a:p>
            <a:endParaRPr lang="en-US" dirty="0"/>
          </a:p>
          <a:p>
            <a:r>
              <a:rPr lang="en-US" dirty="0"/>
              <a:t>ESG saw that modernizing on Azure SQL’s managed databases provided an incremental +17% cost savings vs Azure SQL VMs, but also significant reductions in app and systems administration costs.</a:t>
            </a:r>
          </a:p>
          <a:p>
            <a:endParaRPr lang="en-US" dirty="0"/>
          </a:p>
          <a:p>
            <a:r>
              <a:rPr lang="en-US" dirty="0"/>
              <a:t>The benefits of fully-managed services are compelling, but ultimately you need to decide which Azure SQL options are right for you.</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A69098-AF98-44ED-B19A-289934A1943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1256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want to highlight this important component of Azure SQL: enabling defense in depth and simplifying security management with built-in controls and services </a:t>
            </a:r>
          </a:p>
          <a:p>
            <a:endParaRPr lang="en-US" sz="1200" b="1">
              <a:latin typeface="Segoe UI" panose="020B0502040204020203" pitchFamily="34" charset="0"/>
              <a:cs typeface="Segoe UI" panose="020B0502040204020203" pitchFamily="34" charset="0"/>
            </a:endParaRPr>
          </a:p>
          <a:p>
            <a:r>
              <a:rPr lang="en-US" sz="1200" b="1">
                <a:latin typeface="Segoe UI" panose="020B0502040204020203" pitchFamily="34" charset="0"/>
                <a:cs typeface="Segoe UI" panose="020B0502040204020203" pitchFamily="34" charset="0"/>
              </a:rPr>
              <a:t>Our security model is based on layers of security </a:t>
            </a:r>
            <a:r>
              <a:rPr lang="en-US" sz="1200">
                <a:latin typeface="Segoe UI" panose="020B0502040204020203" pitchFamily="34" charset="0"/>
                <a:cs typeface="Segoe UI" panose="020B0502040204020203" pitchFamily="34" charset="0"/>
              </a:rPr>
              <a:t> (info protection, access management and threat protection) that together provide an excellent security coverage. </a:t>
            </a:r>
          </a:p>
          <a:p>
            <a:endParaRPr lang="en-US" sz="120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01820"/>
                </a:solidFill>
                <a:effectLst/>
                <a:uLnTx/>
                <a:uFillTx/>
                <a:latin typeface="Segoe UI"/>
                <a:ea typeface="+mn-ea"/>
                <a:cs typeface="+mn-cs"/>
              </a:rPr>
              <a:t>Compliance for government, healthcare, payment, personal, public sector regulations, building on top of the more than 90 compliance certifications of Azure – more than any other cloud! </a:t>
            </a:r>
          </a:p>
          <a:p>
            <a:endParaRPr lang="en-US" sz="1200" b="1">
              <a:latin typeface="Segoe UI" panose="020B0502040204020203" pitchFamily="34" charset="0"/>
              <a:cs typeface="Segoe UI" panose="020B0502040204020203" pitchFamily="34" charset="0"/>
            </a:endParaRPr>
          </a:p>
          <a:p>
            <a:r>
              <a:rPr lang="en-US" sz="1200" b="1">
                <a:latin typeface="Segoe UI" panose="020B0502040204020203" pitchFamily="34" charset="0"/>
                <a:cs typeface="Segoe UI" panose="020B0502040204020203" pitchFamily="34" charset="0"/>
              </a:rPr>
              <a:t>We’ve recently invested more in an additional dimension of the security lifecycle – Security Management</a:t>
            </a:r>
          </a:p>
          <a:p>
            <a:r>
              <a:rPr lang="en-US" sz="1200">
                <a:latin typeface="Segoe UI" panose="020B0502040204020203" pitchFamily="34" charset="0"/>
                <a:cs typeface="Segoe UI" panose="020B0502040204020203" pitchFamily="34" charset="0"/>
              </a:rPr>
              <a:t>Aimed at enabling visibility into your security state, helping with discovery of sensitive data and managing it in a secure way, and maintaining security and compliance baselines over time</a:t>
            </a:r>
          </a:p>
          <a:p>
            <a:pPr defTabSz="931774">
              <a:defRPr/>
            </a:pPr>
            <a:endParaRPr kumimoji="0" lang="en-US" sz="1200" b="0" i="0" u="none" strike="noStrike" kern="1200" cap="none" spc="0" normalizeH="0" baseline="0" noProof="0">
              <a:ln>
                <a:noFill/>
              </a:ln>
              <a:solidFill>
                <a:srgbClr val="101820"/>
              </a:solidFill>
              <a:effectLst/>
              <a:uLnTx/>
              <a:uFillTx/>
              <a:latin typeface="Segoe UI"/>
              <a:ea typeface="+mn-ea"/>
              <a:cs typeface="+mn-cs"/>
            </a:endParaRPr>
          </a:p>
          <a:p>
            <a:pPr marL="0" marR="0" lvl="0" indent="0" algn="l" defTabSz="931774" rtl="0" eaLnBrk="1" fontAlgn="auto" latinLnBrk="0" hangingPunct="1">
              <a:lnSpc>
                <a:spcPct val="100000"/>
              </a:lnSpc>
              <a:spcBef>
                <a:spcPts val="0"/>
              </a:spcBef>
              <a:spcAft>
                <a:spcPts val="0"/>
              </a:spcAft>
              <a:buClrTx/>
              <a:buSzTx/>
              <a:buFontTx/>
              <a:buNone/>
              <a:tabLst/>
              <a:defRPr/>
            </a:pPr>
            <a:r>
              <a:rPr lang="en-US" b="1"/>
              <a:t>Data protection: </a:t>
            </a:r>
            <a:r>
              <a:rPr lang="en-GB" sz="1200">
                <a:latin typeface="Segoe UI Light" pitchFamily="34" charset="0"/>
              </a:rPr>
              <a:t>Ensure confidentiality and integrity of data by leveraging multiple encryption options for data at rest in virtual machines, databases and storage. Data encryption controls are built-in to services from virtual machines to storage and Azure SQL. </a:t>
            </a:r>
            <a:r>
              <a:rPr lang="en-US" sz="1200">
                <a:latin typeface="Segoe UI Light" pitchFamily="34" charset="0"/>
              </a:rPr>
              <a:t>Azure Key Vault enables you to safeguard and control cryptographic keys and other secrets used by cloud apps and services.</a:t>
            </a:r>
          </a:p>
          <a:p>
            <a:pPr marL="0" marR="0" lvl="0" indent="0" algn="l" defTabSz="931774" rtl="0" eaLnBrk="1" fontAlgn="auto" latinLnBrk="0" hangingPunct="1">
              <a:lnSpc>
                <a:spcPct val="100000"/>
              </a:lnSpc>
              <a:spcBef>
                <a:spcPts val="0"/>
              </a:spcBef>
              <a:spcAft>
                <a:spcPts val="0"/>
              </a:spcAft>
              <a:buClrTx/>
              <a:buSzTx/>
              <a:buFontTx/>
              <a:buNone/>
              <a:tabLst/>
              <a:defRPr/>
            </a:pPr>
            <a:endParaRPr lang="en-US" sz="1200">
              <a:latin typeface="Segoe UI Light" pitchFamily="34" charset="0"/>
            </a:endParaRPr>
          </a:p>
          <a:p>
            <a:pPr defTabSz="931774">
              <a:defRPr/>
            </a:pPr>
            <a:r>
              <a:rPr kumimoji="0" lang="en-US" sz="1200" b="1" i="0" u="none" strike="noStrike" kern="1200" cap="none" spc="0" normalizeH="0" baseline="0" noProof="0">
                <a:ln>
                  <a:noFill/>
                </a:ln>
                <a:solidFill>
                  <a:srgbClr val="101820"/>
                </a:solidFill>
                <a:effectLst/>
                <a:uLnTx/>
                <a:uFillTx/>
                <a:latin typeface="Segoe UI"/>
                <a:ea typeface="+mn-ea"/>
                <a:cs typeface="+mn-cs"/>
              </a:rPr>
              <a:t>Access management</a:t>
            </a:r>
          </a:p>
          <a:p>
            <a:pPr marL="0" marR="0" lvl="0" indent="0" algn="l" defTabSz="931774" rtl="0" eaLnBrk="1" fontAlgn="auto" latinLnBrk="0" hangingPunct="1">
              <a:lnSpc>
                <a:spcPct val="100000"/>
              </a:lnSpc>
              <a:spcBef>
                <a:spcPts val="0"/>
              </a:spcBef>
              <a:spcAft>
                <a:spcPts val="0"/>
              </a:spcAft>
              <a:buClrTx/>
              <a:buSzTx/>
              <a:buFontTx/>
              <a:buNone/>
              <a:tabLst/>
              <a:defRPr/>
            </a:pPr>
            <a:r>
              <a:rPr lang="en-US"/>
              <a:t>Identity: With the industry leading solution for Identity and access management with Azure Active Directory, you can get greater control over protecting against identity threats. Capabilities like Role based access control, MFA or Identity protection will ensure the right users are getting the appropriate level of access and will help you minimize risks associated with identity thefts or misuse of admin privileges</a:t>
            </a:r>
          </a:p>
          <a:p>
            <a:pPr marL="0" marR="0" lvl="0" indent="0" algn="l" defTabSz="931774" rtl="0" eaLnBrk="1" fontAlgn="auto" latinLnBrk="0" hangingPunct="1">
              <a:lnSpc>
                <a:spcPct val="100000"/>
              </a:lnSpc>
              <a:spcBef>
                <a:spcPts val="0"/>
              </a:spcBef>
              <a:spcAft>
                <a:spcPts val="0"/>
              </a:spcAft>
              <a:buClrTx/>
              <a:buSzTx/>
              <a:buFontTx/>
              <a:buNone/>
              <a:tabLst/>
              <a:defRPr/>
            </a:pPr>
            <a:endParaRPr lang="en-US"/>
          </a:p>
          <a:p>
            <a:pPr marL="0" marR="0" lvl="0" indent="0" algn="l" defTabSz="931774"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mn-lt"/>
                <a:ea typeface="+mn-ea"/>
                <a:cs typeface="+mn-cs"/>
              </a:rPr>
              <a:t>Threat Protection and Security Management</a:t>
            </a:r>
            <a:r>
              <a:rPr lang="en-US" sz="1200" kern="1200">
                <a:solidFill>
                  <a:schemeClr val="tx1"/>
                </a:solidFill>
                <a:latin typeface="+mn-lt"/>
                <a:ea typeface="+mn-ea"/>
                <a:cs typeface="+mn-cs"/>
              </a:rPr>
              <a:t>: Finally it is equally important to assess security state continuously, especially as cloud workloads change dynamically.  Azure Security Center will help you monitor security state of Azure resources and hybrid workloads. It will provide a dynamic security score card and recommendations to improve your security in a centralized console making security management easier across different resources.  And you get advanced threat protection across many services like virtual machines, servers, apps, Azure SQL, Storage, containers on VMs </a:t>
            </a:r>
            <a:endParaRPr lang="en-US"/>
          </a:p>
          <a:p>
            <a:pPr defTabSz="931774">
              <a:defRPr/>
            </a:pPr>
            <a:endParaRPr lang="en-US" sz="1200">
              <a:solidFill>
                <a:srgbClr val="494949"/>
              </a:solidFill>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pPr defTabSz="931774">
              <a:defRPr/>
            </a:pPr>
            <a:fld id="{2C52CFDC-D2D5-4B9F-BA75-89F771E01AEB}" type="slidenum">
              <a:rPr lang="en-US">
                <a:solidFill>
                  <a:prstClr val="black"/>
                </a:solidFill>
                <a:latin typeface="Calibri" panose="020F0502020204030204"/>
              </a:rPr>
              <a:pPr defTabSz="931774">
                <a:defRPr/>
              </a:pPr>
              <a:t>22</a:t>
            </a:fld>
            <a:endParaRPr lang="en-US">
              <a:solidFill>
                <a:prstClr val="black"/>
              </a:solidFill>
              <a:latin typeface="Calibri" panose="020F0502020204030204"/>
            </a:endParaRPr>
          </a:p>
        </p:txBody>
      </p:sp>
    </p:spTree>
    <p:extLst>
      <p:ext uri="{BB962C8B-B14F-4D97-AF65-F5344CB8AC3E}">
        <p14:creationId xmlns:p14="http://schemas.microsoft.com/office/powerpoint/2010/main" val="3612552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8206B87-2AFC-47DA-91A7-270E07D18E42}"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S PGothic" panose="020B0600070205080204" pitchFamily="34" charset="-128"/>
              <a:cs typeface="+mn-cs"/>
            </a:endParaRPr>
          </a:p>
        </p:txBody>
      </p:sp>
    </p:spTree>
    <p:extLst>
      <p:ext uri="{BB962C8B-B14F-4D97-AF65-F5344CB8AC3E}">
        <p14:creationId xmlns:p14="http://schemas.microsoft.com/office/powerpoint/2010/main" val="1004690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171450" indent="-171450" algn="l" defTabSz="932472" fontAlgn="base">
              <a:spcBef>
                <a:spcPct val="0"/>
              </a:spcBef>
              <a:spcAft>
                <a:spcPct val="0"/>
              </a:spcAft>
              <a:buFont typeface="Arial" panose="020B0604020202020204" pitchFamily="34" charset="0"/>
              <a:buChar char="•"/>
            </a:pPr>
            <a:r>
              <a:rPr lang="en-US" dirty="0"/>
              <a:t>We talked about Microsoft workloads such as Windows Server and SQL Server</a:t>
            </a:r>
          </a:p>
          <a:p>
            <a:pPr marL="0" indent="0" algn="l" defTabSz="932472" fontAlgn="base">
              <a:spcBef>
                <a:spcPct val="0"/>
              </a:spcBef>
              <a:spcAft>
                <a:spcPct val="0"/>
              </a:spcAft>
              <a:buFont typeface="Arial" panose="020B0604020202020204" pitchFamily="34" charset="0"/>
              <a:buNone/>
            </a:pPr>
            <a:endParaRPr lang="en-US" dirty="0"/>
          </a:p>
          <a:p>
            <a:pPr marL="171450" indent="-171450" algn="l" defTabSz="932472" fontAlgn="base">
              <a:spcBef>
                <a:spcPct val="0"/>
              </a:spcBef>
              <a:spcAft>
                <a:spcPct val="0"/>
              </a:spcAft>
              <a:buFont typeface="Arial" panose="020B0604020202020204" pitchFamily="34" charset="0"/>
              <a:buChar char="•"/>
            </a:pPr>
            <a:r>
              <a:rPr lang="en-US" sz="1200" dirty="0"/>
              <a:t>Linux workloads and OSS databases are the fastest growing in Azure, with more than 50% of Azure VMs running Linux, and more than 60% Azure Marketplace images are Linux based.</a:t>
            </a:r>
          </a:p>
          <a:p>
            <a:endParaRPr lang="en-US" altLang="zh-TW" dirty="0">
              <a:ea typeface="新細明體"/>
              <a:cs typeface="Calibri"/>
            </a:endParaRPr>
          </a:p>
        </p:txBody>
      </p:sp>
      <p:sp>
        <p:nvSpPr>
          <p:cNvPr id="4" name="投影片編號版面配置區 3"/>
          <p:cNvSpPr>
            <a:spLocks noGrp="1"/>
          </p:cNvSpPr>
          <p:nvPr>
            <p:ph type="sldNum" sz="quarter" idx="5"/>
          </p:nvPr>
        </p:nvSpPr>
        <p:spPr/>
        <p:txBody>
          <a:bodyPr/>
          <a:lstStyle/>
          <a:p>
            <a:fld id="{A734A7FB-1EC1-4392-BA4E-227A434B8B4C}" type="slidenum">
              <a:rPr lang="en-US" smtClean="0"/>
              <a:t>25</a:t>
            </a:fld>
            <a:endParaRPr lang="en-US"/>
          </a:p>
        </p:txBody>
      </p:sp>
    </p:spTree>
    <p:extLst>
      <p:ext uri="{BB962C8B-B14F-4D97-AF65-F5344CB8AC3E}">
        <p14:creationId xmlns:p14="http://schemas.microsoft.com/office/powerpoint/2010/main" val="16195476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61CA17-F42D-4A8B-9CCD-3C184AAD0AA0}" type="slidenum">
              <a:rPr lang="en-US" smtClean="0"/>
              <a:t>26</a:t>
            </a:fld>
            <a:endParaRPr lang="en-US"/>
          </a:p>
        </p:txBody>
      </p:sp>
    </p:spTree>
    <p:extLst>
      <p:ext uri="{BB962C8B-B14F-4D97-AF65-F5344CB8AC3E}">
        <p14:creationId xmlns:p14="http://schemas.microsoft.com/office/powerpoint/2010/main" val="3018426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47813" y="820738"/>
            <a:ext cx="3914775" cy="22018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879B6-07CF-41BF-AA25-1C316A3F64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9484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Azure Databases for MySQL, PostgreSQL and MariaDB are fully managed, enterprise-ready community databases-as-a-service to help you focus on your app, not your database </a:t>
            </a:r>
          </a:p>
          <a:p>
            <a:endParaRPr lang="en-US" dirty="0"/>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Protect data with greater manageability and security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Speed queries and insights with better performance and intelligence </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Deploy apps globally in minutes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Save time with built-in tools and resources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200" dirty="0">
                <a:solidFill>
                  <a:prstClr val="black"/>
                </a:solidFill>
                <a:latin typeface="Segoe UI" panose="020B0502040204020203" pitchFamily="34" charset="0"/>
                <a:cs typeface="Segoe UI" panose="020B0502040204020203" pitchFamily="34" charset="0"/>
              </a:rPr>
              <a:t>Improve TCO with built-in features for HA, performance and security </a:t>
            </a:r>
          </a:p>
          <a:p>
            <a:endParaRPr lang="en-US" dirty="0"/>
          </a:p>
        </p:txBody>
      </p:sp>
      <p:sp>
        <p:nvSpPr>
          <p:cNvPr id="4" name="Slide Number Placeholder 3"/>
          <p:cNvSpPr>
            <a:spLocks noGrp="1"/>
          </p:cNvSpPr>
          <p:nvPr>
            <p:ph type="sldNum" sz="quarter" idx="5"/>
          </p:nvPr>
        </p:nvSpPr>
        <p:spPr/>
        <p:txBody>
          <a:bodyPr/>
          <a:lstStyle/>
          <a:p>
            <a:fld id="{0822288F-F403-414B-91AB-F118825C6F22}" type="slidenum">
              <a:rPr lang="en-US" smtClean="0"/>
              <a:t>28</a:t>
            </a:fld>
            <a:endParaRPr lang="en-US"/>
          </a:p>
        </p:txBody>
      </p:sp>
    </p:spTree>
    <p:extLst>
      <p:ext uri="{BB962C8B-B14F-4D97-AF65-F5344CB8AC3E}">
        <p14:creationId xmlns:p14="http://schemas.microsoft.com/office/powerpoint/2010/main" val="37461818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https://customers.microsoft.com/en-us/story/geekwire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hlinkClick r:id="rId4"/>
              </a:rPr>
              <a:t>https://aka.ms/kjqu8y</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dirty="0"/>
              <a:t>Based in Seattle, Washington, </a:t>
            </a:r>
            <a:r>
              <a:rPr lang="en-US" sz="1200" dirty="0" err="1"/>
              <a:t>GeekWire</a:t>
            </a:r>
            <a:r>
              <a:rPr lang="en-US" sz="1200" dirty="0"/>
              <a:t> is a rapidly growing technology news site with a global readership. In addition to covering the latest innovation, </a:t>
            </a:r>
            <a:r>
              <a:rPr lang="en-US" sz="1200" dirty="0" err="1"/>
              <a:t>GeekWire</a:t>
            </a:r>
            <a:r>
              <a:rPr lang="en-US" sz="1200" dirty="0"/>
              <a:t> serves the Pacific Northwest tech community with events, a job board, startup resources, a weekly radio show, and more. As its popularity and site traffic increased, so did performance concerns.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66D5F-0566-4011-ABFD-8B4F303C3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59720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Segoe UI" panose="020B0502040204020203" pitchFamily="34" charset="0"/>
              </a:rPr>
              <a:t>Most Oracle database retain critical financial and PII data. The risk of a breach is real concern for many of these customers.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392B89-7F7A-40C6-BA82-541ECD924F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0444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You can lift and shift to Azure and then evolve over time, or you can make the jump straight to PaaS databases.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8/16/2023 4:44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353517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61CA17-F42D-4A8B-9CCD-3C184AAD0AA0}" type="slidenum">
              <a:rPr lang="en-US" smtClean="0"/>
              <a:t>32</a:t>
            </a:fld>
            <a:endParaRPr lang="en-US"/>
          </a:p>
        </p:txBody>
      </p:sp>
    </p:spTree>
    <p:extLst>
      <p:ext uri="{BB962C8B-B14F-4D97-AF65-F5344CB8AC3E}">
        <p14:creationId xmlns:p14="http://schemas.microsoft.com/office/powerpoint/2010/main" val="15132023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Based upon the Cloud Adoption Framework, there are critical dimensions every organization should address to prepare for migrations at scale. It is important to understand your current level of readiness for a migration project to be a success. These dimensions span various planning, technical and support aspects of the migration project. </a:t>
            </a:r>
          </a:p>
          <a:p>
            <a:endParaRPr lang="en-US" dirty="0"/>
          </a:p>
          <a:p>
            <a:r>
              <a:rPr lang="en-US" dirty="0"/>
              <a:t>Above view shows how CAF and Migration come together. </a:t>
            </a:r>
          </a:p>
          <a:p>
            <a:endParaRPr lang="en-US" dirty="0"/>
          </a:p>
          <a:p>
            <a:pPr marL="171450" indent="-171450">
              <a:buFont typeface="Arial" panose="020B0604020202020204" pitchFamily="34" charset="0"/>
              <a:buChar char="•"/>
            </a:pPr>
            <a:r>
              <a:rPr lang="en-US" dirty="0"/>
              <a:t>Strategy – This is about working with the customer to a) define their cloud strategy/vision/roadmap b) get their leadership team aligned. </a:t>
            </a:r>
          </a:p>
          <a:p>
            <a:pPr marL="171450" indent="-171450">
              <a:buFont typeface="Arial" panose="020B0604020202020204" pitchFamily="34" charset="0"/>
              <a:buChar char="•"/>
            </a:pPr>
            <a:r>
              <a:rPr lang="en-US" dirty="0"/>
              <a:t>Plan – This is about getting a realistic sense of their apps/infra/data estate, do workload discovery/assessment, identify migration workloads/scenarios, and build the business case – all of these feed into a migration plan. </a:t>
            </a:r>
          </a:p>
          <a:p>
            <a:pPr marL="171450" indent="-171450">
              <a:buFont typeface="Arial" panose="020B0604020202020204" pitchFamily="34" charset="0"/>
              <a:buChar char="•"/>
            </a:pPr>
            <a:r>
              <a:rPr lang="en-US" dirty="0"/>
              <a:t>Ready – This is about getting the customer ready to make the move by skilling up their staff. It also includes building the Landing Zone (“helipad” on Azure) for their workloads. </a:t>
            </a:r>
          </a:p>
          <a:p>
            <a:pPr marL="171450" indent="-171450">
              <a:buFont typeface="Arial" panose="020B0604020202020204" pitchFamily="34" charset="0"/>
              <a:buChar char="•"/>
            </a:pPr>
            <a:r>
              <a:rPr lang="en-US" dirty="0"/>
              <a:t>Adopt – This is the phase where you start moving batches of workloads (migration waves), including rightsizing/end-to-end testing prior to cut over. </a:t>
            </a:r>
          </a:p>
          <a:p>
            <a:pPr marL="171450" indent="-171450">
              <a:buFont typeface="Arial" panose="020B0604020202020204" pitchFamily="34" charset="0"/>
              <a:buChar char="•"/>
            </a:pPr>
            <a:r>
              <a:rPr lang="en-US" dirty="0"/>
              <a:t>Governance and Management – You need to maintain an ongoing rhythm of governance and management during and after the move. This includes ensuring backup/monitoring/security etc. as well as things like cost management/subscription management. </a:t>
            </a:r>
          </a:p>
          <a:p>
            <a:pPr marL="0" indent="0">
              <a:buFont typeface="Arial" panose="020B0604020202020204" pitchFamily="34" charset="0"/>
              <a:buNone/>
            </a:pPr>
            <a:endParaRPr lang="en-US" dirty="0"/>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510682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your migration to Azure today!</a:t>
            </a:r>
          </a:p>
          <a:p>
            <a:endParaRPr lang="en-US"/>
          </a:p>
          <a:p>
            <a:r>
              <a:rPr lang="en-US"/>
              <a:t>Begin by assessing your environment and receiving an estimated monthly cost with our Azure TCO calculator</a:t>
            </a:r>
          </a:p>
          <a:p>
            <a:endParaRPr lang="en-US"/>
          </a:p>
          <a:p>
            <a:r>
              <a:rPr lang="en-US"/>
              <a:t>Then begin the migration using DMS and the Data Migration Assistant, found within Azure Migrate</a:t>
            </a:r>
          </a:p>
          <a:p>
            <a:endParaRPr lang="en-US"/>
          </a:p>
          <a:p>
            <a:r>
              <a:rPr lang="en-US"/>
              <a:t>Once on Azure, ensure to optimize your environment to efficiently run your workloads, and take advantage of cost-saving opportunities with AHB and Reserved Capacity</a:t>
            </a:r>
          </a:p>
          <a:p>
            <a:endParaRPr lang="en-US"/>
          </a:p>
          <a:p>
            <a:r>
              <a:rPr lang="en-US"/>
              <a:t>Stay on top of security and any detected threats in the Azure Security Center, and ensure that you won’t lose any data during an unexpected outage by setting up database backups. </a:t>
            </a:r>
          </a:p>
        </p:txBody>
      </p:sp>
      <p:sp>
        <p:nvSpPr>
          <p:cNvPr id="4" name="Slide Number Placeholder 3"/>
          <p:cNvSpPr>
            <a:spLocks noGrp="1"/>
          </p:cNvSpPr>
          <p:nvPr>
            <p:ph type="sldNum" sz="quarter" idx="10"/>
          </p:nvPr>
        </p:nvSpPr>
        <p:spPr/>
        <p:txBody>
          <a:bodyPr/>
          <a:lstStyle/>
          <a:p>
            <a:pPr marL="0" marR="0" lvl="0" indent="0" algn="r" defTabSz="960193" rtl="0" eaLnBrk="1" fontAlgn="auto" latinLnBrk="0" hangingPunct="1">
              <a:lnSpc>
                <a:spcPct val="100000"/>
              </a:lnSpc>
              <a:spcBef>
                <a:spcPts val="0"/>
              </a:spcBef>
              <a:spcAft>
                <a:spcPts val="0"/>
              </a:spcAft>
              <a:buClrTx/>
              <a:buSzTx/>
              <a:buFontTx/>
              <a:buNone/>
              <a:tabLst/>
              <a:defRPr/>
            </a:pPr>
            <a:fld id="{E98C02C0-98AB-4661-8FF3-2C79CAD8CBF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0193"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10552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i="0" u="none" strike="noStrike" kern="1200" dirty="0">
                <a:solidFill>
                  <a:schemeClr val="tx1"/>
                </a:solidFill>
                <a:effectLst/>
                <a:latin typeface="Segoe UI Light" pitchFamily="34" charset="0"/>
                <a:ea typeface="+mn-ea"/>
                <a:cs typeface="+mn-cs"/>
              </a:rPr>
              <a:t>Discover, assess, and migrate on-premises applications, infrastructure, and data. Centrally plan and track the migration across multiple Microsoft and independent software vendor (ISV) tools.</a:t>
            </a:r>
          </a:p>
          <a:p>
            <a:endParaRPr lang="en-US" sz="900" b="0" i="0" u="none" strike="noStrike" kern="1200" dirty="0">
              <a:solidFill>
                <a:schemeClr val="tx1"/>
              </a:solidFill>
              <a:effectLst/>
              <a:latin typeface="Segoe UI Light" pitchFamily="34" charset="0"/>
              <a:ea typeface="+mn-ea"/>
              <a:cs typeface="+mn-cs"/>
            </a:endParaRPr>
          </a:p>
          <a:p>
            <a:r>
              <a:rPr lang="en-US" sz="900" b="0" i="0" u="none" strike="noStrike" kern="1200" dirty="0">
                <a:solidFill>
                  <a:schemeClr val="tx1"/>
                </a:solidFill>
                <a:effectLst/>
                <a:latin typeface="Segoe UI Light" pitchFamily="34" charset="0"/>
                <a:ea typeface="+mn-ea"/>
                <a:cs typeface="+mn-cs"/>
              </a:rPr>
              <a:t>A comprehensive approach to migrating your application and datacenter estate. Supports key migration workloads like Windows Server, Linux, SQL and other Databases, data with Data Box, Web Applications, and Workstations (including Virtual Desktop Infrastructure). Holistic across VMware, Hyper-V, physical server, and cloud-to-cloud migration.</a:t>
            </a:r>
            <a:endParaRPr lang="en-US" dirty="0"/>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170286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Font typeface="Calibri" panose="020F0502020204030204" pitchFamily="34" charset="0"/>
              <a:buNone/>
            </a:pPr>
            <a:endParaRPr lang="en-US" sz="1100" u="none">
              <a:solidFill>
                <a:srgbClr val="0563C1"/>
              </a:solidFill>
              <a:effectLst/>
              <a:latin typeface="Calibri" panose="020F0502020204030204" pitchFamily="34" charset="0"/>
              <a:ea typeface="Calibri" panose="020F0502020204030204" pitchFamily="34" charset="0"/>
            </a:endParaRPr>
          </a:p>
          <a:p>
            <a:pPr marL="0" marR="0" lvl="0" indent="0">
              <a:spcBef>
                <a:spcPts val="0"/>
              </a:spcBef>
              <a:spcAft>
                <a:spcPts val="0"/>
              </a:spcAft>
              <a:buFont typeface="Calibri" panose="020F0502020204030204" pitchFamily="34" charset="0"/>
              <a:buNone/>
            </a:pPr>
            <a:r>
              <a:rPr lang="en-US" sz="1100" u="none">
                <a:solidFill>
                  <a:srgbClr val="0563C1"/>
                </a:solidFill>
                <a:effectLst/>
                <a:latin typeface="Calibri" panose="020F0502020204030204" pitchFamily="34" charset="0"/>
                <a:ea typeface="Calibri" panose="020F0502020204030204" pitchFamily="34" charset="0"/>
              </a:rPr>
              <a:t>We have a portfolio of migrations tools based on your desired migration source and migration targets</a:t>
            </a:r>
            <a:endParaRPr lang="en-US" sz="1100" u="none">
              <a:effectLst/>
              <a:latin typeface="Calibri" panose="020F0502020204030204" pitchFamily="34" charset="0"/>
              <a:ea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6AE915-B316-4484-9EA0-03EB58256B5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18501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9.xml"/><Relationship Id="rId1" Type="http://schemas.openxmlformats.org/officeDocument/2006/relationships/tags" Target="../tags/tag1.xml"/><Relationship Id="rId4" Type="http://schemas.openxmlformats.org/officeDocument/2006/relationships/image" Target="../media/image12.emf"/></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MS logo white - EMF" descr="Microsoft logo white text version">
            <a:extLst>
              <a:ext uri="{FF2B5EF4-FFF2-40B4-BE49-F238E27FC236}">
                <a16:creationId xmlns:a16="http://schemas.microsoft.com/office/drawing/2014/main" id="{F4DDC873-B78F-4A52-9091-6AB1225F43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8561212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82601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099553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862239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628A1-6D0B-4C49-9848-3A328EDFE1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6453682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mp; half-page">
    <p:bg>
      <p:bgRef idx="1001">
        <a:schemeClr val="bg2"/>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90" y="1789244"/>
            <a:ext cx="4898137" cy="1239122"/>
          </a:xfrm>
        </p:spPr>
        <p:txBody>
          <a:bodyPr wrap="square">
            <a:spAutoFit/>
          </a:bodyPr>
          <a:lstStyle>
            <a:lvl1pPr marL="0" indent="0">
              <a:lnSpc>
                <a:spcPct val="110000"/>
              </a:lnSpc>
              <a:spcBef>
                <a:spcPts val="1200"/>
              </a:spcBef>
              <a:buNone/>
              <a:defRPr sz="1800">
                <a:latin typeface="+mn-lt"/>
              </a:defRPr>
            </a:lvl1pPr>
            <a:lvl2pPr marL="228600" indent="0">
              <a:buNone/>
              <a:defRPr sz="1600"/>
            </a:lvl2pPr>
            <a:lvl3pPr marL="457200" indent="0">
              <a:buNone/>
              <a:defRPr sz="1200"/>
            </a:lvl3pPr>
            <a:lvl4pPr marL="685800" indent="0">
              <a:buNone/>
              <a:defRPr sz="1100"/>
            </a:lvl4pPr>
            <a:lvl5pPr marL="914400" indent="0">
              <a:buNone/>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71C8B1F2-78FA-459C-BF10-7369EC0885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1977603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628A1-6D0B-4C49-9848-3A328EDFE13F}"/>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3AD74EE-BB23-477C-B547-7FF949AFFC11}"/>
              </a:ext>
            </a:extLst>
          </p:cNvPr>
          <p:cNvSpPr>
            <a:spLocks noGrp="1"/>
          </p:cNvSpPr>
          <p:nvPr>
            <p:ph type="body" sz="quarter" idx="10"/>
          </p:nvPr>
        </p:nvSpPr>
        <p:spPr>
          <a:xfrm>
            <a:off x="584200" y="1809750"/>
            <a:ext cx="5067300" cy="603242"/>
          </a:xfrm>
        </p:spPr>
        <p:txBody>
          <a:bodyPr/>
          <a:lstStyle>
            <a:lvl1pPr marL="0" indent="0">
              <a:buNone/>
              <a:defRPr sz="2000">
                <a:solidFill>
                  <a:schemeClr val="accent2"/>
                </a:solidFill>
                <a:latin typeface="+mj-lt"/>
              </a:defRPr>
            </a:lvl1pPr>
            <a:lvl2pPr marL="285750" indent="-285750">
              <a:buFont typeface="Arial" panose="020B0604020202020204" pitchFamily="34" charset="0"/>
              <a:buChar char="•"/>
              <a:defRPr sz="1600"/>
            </a:lvl2pPr>
            <a:lvl3pPr marL="457200" indent="0">
              <a:buNone/>
              <a:defRPr/>
            </a:lvl3pPr>
            <a:lvl4pPr marL="661988" indent="0">
              <a:buNone/>
              <a:defRPr/>
            </a:lvl4pPr>
            <a:lvl5pPr marL="855663" indent="0">
              <a:buNone/>
              <a:defRPr/>
            </a:lvl5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196CCCAE-7C1E-48F5-96F9-217176546A49}"/>
              </a:ext>
            </a:extLst>
          </p:cNvPr>
          <p:cNvSpPr>
            <a:spLocks noGrp="1"/>
          </p:cNvSpPr>
          <p:nvPr>
            <p:ph type="pic" sz="quarter" idx="11"/>
          </p:nvPr>
        </p:nvSpPr>
        <p:spPr>
          <a:xfrm>
            <a:off x="6477000" y="3429000"/>
            <a:ext cx="5715000" cy="3428999"/>
          </a:xfrm>
        </p:spPr>
        <p:txBody>
          <a:bodyPr/>
          <a:lstStyle/>
          <a:p>
            <a:endParaRPr lang="en-US"/>
          </a:p>
        </p:txBody>
      </p:sp>
      <p:sp>
        <p:nvSpPr>
          <p:cNvPr id="8" name="Text Placeholder 3">
            <a:extLst>
              <a:ext uri="{FF2B5EF4-FFF2-40B4-BE49-F238E27FC236}">
                <a16:creationId xmlns:a16="http://schemas.microsoft.com/office/drawing/2014/main" id="{FA1BC9F1-A052-4A55-A548-4E1FE39CFB8C}"/>
              </a:ext>
            </a:extLst>
          </p:cNvPr>
          <p:cNvSpPr>
            <a:spLocks noGrp="1"/>
          </p:cNvSpPr>
          <p:nvPr>
            <p:ph type="body" sz="quarter" idx="12"/>
          </p:nvPr>
        </p:nvSpPr>
        <p:spPr>
          <a:xfrm>
            <a:off x="6477000" y="2025650"/>
            <a:ext cx="5132388" cy="504754"/>
          </a:xfrm>
        </p:spPr>
        <p:txBody>
          <a:bodyPr/>
          <a:lstStyle>
            <a:lvl1pPr marL="0" indent="0">
              <a:buFont typeface="Arial" panose="020B0604020202020204" pitchFamily="34" charset="0"/>
              <a:buNone/>
              <a:defRPr sz="1600">
                <a:solidFill>
                  <a:schemeClr val="accent2"/>
                </a:solidFill>
                <a:latin typeface="+mn-lt"/>
              </a:defRPr>
            </a:lvl1pPr>
            <a:lvl2pPr marL="0" indent="0" algn="l">
              <a:buFont typeface="Arial" panose="020B0604020202020204" pitchFamily="34" charset="0"/>
              <a:buNone/>
              <a:defRPr sz="1400">
                <a:latin typeface="+mj-lt"/>
              </a:defRPr>
            </a:lvl2pPr>
            <a:lvl3pPr marL="457200" indent="0">
              <a:buNone/>
              <a:defRPr/>
            </a:lvl3pPr>
            <a:lvl4pPr marL="661988" indent="0">
              <a:buNone/>
              <a:defRPr/>
            </a:lvl4pPr>
            <a:lvl5pPr marL="855663" indent="0">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1440807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se Study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ED50A-A838-4946-80BC-C7CC0DDCF2A9}"/>
              </a:ext>
            </a:extLst>
          </p:cNvPr>
          <p:cNvSpPr>
            <a:spLocks noGrp="1"/>
          </p:cNvSpPr>
          <p:nvPr>
            <p:ph type="title"/>
          </p:nvPr>
        </p:nvSpPr>
        <p:spPr>
          <a:xfrm>
            <a:off x="588263" y="457200"/>
            <a:ext cx="5012437" cy="430887"/>
          </a:xfrm>
        </p:spPr>
        <p:txBody>
          <a:bodyPr/>
          <a:lstStyle>
            <a:lvl1pPr>
              <a:defRPr sz="2800"/>
            </a:lvl1pPr>
          </a:lstStyle>
          <a:p>
            <a:r>
              <a:rPr lang="en-US"/>
              <a:t>Click to edit Master title style</a:t>
            </a:r>
          </a:p>
        </p:txBody>
      </p:sp>
      <p:sp>
        <p:nvSpPr>
          <p:cNvPr id="3" name="Rectangle 2">
            <a:extLst>
              <a:ext uri="{FF2B5EF4-FFF2-40B4-BE49-F238E27FC236}">
                <a16:creationId xmlns:a16="http://schemas.microsoft.com/office/drawing/2014/main" id="{59E855CA-D049-4FAD-A36A-60B66A27B3AD}"/>
              </a:ext>
              <a:ext uri="{C183D7F6-B498-43B3-948B-1728B52AA6E4}">
                <adec:decorative xmlns:adec="http://schemas.microsoft.com/office/drawing/2017/decorative" val="1"/>
              </a:ext>
            </a:extLst>
          </p:cNvPr>
          <p:cNvSpPr/>
          <p:nvPr userDrawn="1"/>
        </p:nvSpPr>
        <p:spPr>
          <a:xfrm>
            <a:off x="0" y="5684837"/>
            <a:ext cx="12192000" cy="1173163"/>
          </a:xfrm>
          <a:prstGeom prst="rect">
            <a:avLst/>
          </a:prstGeom>
          <a:solidFill>
            <a:schemeClr val="tx2"/>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Segoe UI"/>
              <a:ea typeface="+mn-ea"/>
              <a:cs typeface="+mn-cs"/>
            </a:endParaRPr>
          </a:p>
        </p:txBody>
      </p:sp>
      <p:sp>
        <p:nvSpPr>
          <p:cNvPr id="18" name="Picture Placeholder 17">
            <a:extLst>
              <a:ext uri="{FF2B5EF4-FFF2-40B4-BE49-F238E27FC236}">
                <a16:creationId xmlns:a16="http://schemas.microsoft.com/office/drawing/2014/main" id="{42BCC36E-831E-4362-815C-ACF7B5F574D4}"/>
              </a:ext>
            </a:extLst>
          </p:cNvPr>
          <p:cNvSpPr>
            <a:spLocks noGrp="1"/>
          </p:cNvSpPr>
          <p:nvPr>
            <p:ph type="pic" sz="quarter" idx="10"/>
          </p:nvPr>
        </p:nvSpPr>
        <p:spPr>
          <a:xfrm>
            <a:off x="6096000" y="0"/>
            <a:ext cx="6096000" cy="5684838"/>
          </a:xfrm>
        </p:spPr>
        <p:txBody>
          <a:bodyPr/>
          <a:lstStyle/>
          <a:p>
            <a:endParaRPr lang="en-US"/>
          </a:p>
        </p:txBody>
      </p:sp>
      <p:sp>
        <p:nvSpPr>
          <p:cNvPr id="20" name="Text Placeholder 19">
            <a:extLst>
              <a:ext uri="{FF2B5EF4-FFF2-40B4-BE49-F238E27FC236}">
                <a16:creationId xmlns:a16="http://schemas.microsoft.com/office/drawing/2014/main" id="{5CB8611F-14EF-49B1-9717-B2D60D9B57F3}"/>
              </a:ext>
            </a:extLst>
          </p:cNvPr>
          <p:cNvSpPr>
            <a:spLocks noGrp="1"/>
          </p:cNvSpPr>
          <p:nvPr>
            <p:ph type="body" sz="quarter" idx="11"/>
          </p:nvPr>
        </p:nvSpPr>
        <p:spPr>
          <a:xfrm>
            <a:off x="588963" y="2683627"/>
            <a:ext cx="5011737" cy="1000274"/>
          </a:xfrm>
        </p:spPr>
        <p:txBody>
          <a:bodyPr/>
          <a:lstStyle>
            <a:lvl1pPr marL="0" indent="0">
              <a:buNone/>
              <a:defRPr sz="1400">
                <a:latin typeface="+mn-lt"/>
              </a:defRPr>
            </a:lvl1pPr>
            <a:lvl2pPr marL="228600" indent="0">
              <a:buNone/>
              <a:defRPr sz="1200">
                <a:latin typeface="+mn-lt"/>
              </a:defRPr>
            </a:lvl2pPr>
            <a:lvl3pPr marL="457200" indent="0">
              <a:buNone/>
              <a:defRPr sz="1050">
                <a:latin typeface="+mn-lt"/>
              </a:defRPr>
            </a:lvl3pPr>
            <a:lvl4pPr marL="661988" indent="0">
              <a:buNone/>
              <a:defRPr sz="1000">
                <a:latin typeface="+mn-lt"/>
              </a:defRPr>
            </a:lvl4pPr>
            <a:lvl5pPr marL="855663" indent="0">
              <a:buNone/>
              <a:defRPr sz="1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036549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lit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5146331" cy="1107996"/>
          </a:xfrm>
        </p:spPr>
        <p:txBody>
          <a:bodyPr>
            <a:spAutoFit/>
          </a:bodyPr>
          <a:lstStyle/>
          <a:p>
            <a:r>
              <a:rPr lang="en-US"/>
              <a:t>Click to edit Master title style</a:t>
            </a:r>
          </a:p>
        </p:txBody>
      </p:sp>
      <p:sp>
        <p:nvSpPr>
          <p:cNvPr id="3" name="Text Placeholder 2"/>
          <p:cNvSpPr>
            <a:spLocks noGrp="1"/>
          </p:cNvSpPr>
          <p:nvPr>
            <p:ph type="body" sz="quarter" idx="10"/>
          </p:nvPr>
        </p:nvSpPr>
        <p:spPr>
          <a:xfrm>
            <a:off x="584200" y="1923177"/>
            <a:ext cx="5146331" cy="1268039"/>
          </a:xfrm>
        </p:spPr>
        <p:txBody>
          <a:bodyPr/>
          <a:lstStyle>
            <a:lvl1pPr>
              <a:spcBef>
                <a:spcPts val="800"/>
              </a:spcBef>
              <a:defRPr sz="2000"/>
            </a:lvl1pPr>
            <a:lvl2pPr>
              <a:defRPr sz="16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0FB4210-801B-4ED3-BCD7-3A36E6E35036}"/>
              </a:ext>
            </a:extLst>
          </p:cNvPr>
          <p:cNvSpPr>
            <a:spLocks noGrp="1"/>
          </p:cNvSpPr>
          <p:nvPr>
            <p:ph type="pic" sz="quarter" idx="11"/>
          </p:nvPr>
        </p:nvSpPr>
        <p:spPr>
          <a:xfrm>
            <a:off x="6096001" y="0"/>
            <a:ext cx="6096000" cy="6858000"/>
          </a:xfrm>
        </p:spPr>
        <p:txBody>
          <a:bodyPr/>
          <a:lstStyle/>
          <a:p>
            <a:endParaRPr lang="en-US"/>
          </a:p>
        </p:txBody>
      </p:sp>
    </p:spTree>
    <p:extLst>
      <p:ext uri="{BB962C8B-B14F-4D97-AF65-F5344CB8AC3E}">
        <p14:creationId xmlns:p14="http://schemas.microsoft.com/office/powerpoint/2010/main" val="7906630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ft big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2F3B8-09D5-4269-A4BC-8B6B6FA0475F}"/>
              </a:ext>
            </a:extLst>
          </p:cNvPr>
          <p:cNvSpPr>
            <a:spLocks noGrp="1"/>
          </p:cNvSpPr>
          <p:nvPr>
            <p:ph type="title"/>
          </p:nvPr>
        </p:nvSpPr>
        <p:spPr>
          <a:xfrm>
            <a:off x="914259" y="1544139"/>
            <a:ext cx="4590644" cy="1231106"/>
          </a:xfrm>
        </p:spPr>
        <p:txBody>
          <a:bodyPr/>
          <a:lstStyle>
            <a:lvl1pPr>
              <a:defRPr sz="4000"/>
            </a:lvl1pPr>
          </a:lstStyle>
          <a:p>
            <a:r>
              <a:rPr lang="en-US"/>
              <a:t>Click to edit Master title style</a:t>
            </a:r>
          </a:p>
        </p:txBody>
      </p:sp>
      <p:sp>
        <p:nvSpPr>
          <p:cNvPr id="7" name="Picture Placeholder 6">
            <a:extLst>
              <a:ext uri="{FF2B5EF4-FFF2-40B4-BE49-F238E27FC236}">
                <a16:creationId xmlns:a16="http://schemas.microsoft.com/office/drawing/2014/main" id="{CC91F959-89D9-400C-9B8C-79FB496739F9}"/>
              </a:ext>
            </a:extLst>
          </p:cNvPr>
          <p:cNvSpPr>
            <a:spLocks noGrp="1"/>
          </p:cNvSpPr>
          <p:nvPr>
            <p:ph type="pic" sz="quarter" idx="10"/>
          </p:nvPr>
        </p:nvSpPr>
        <p:spPr>
          <a:xfrm>
            <a:off x="6096000" y="0"/>
            <a:ext cx="6096000" cy="6858000"/>
          </a:xfrm>
        </p:spPr>
        <p:txBody>
          <a:bodyPr/>
          <a:lstStyle/>
          <a:p>
            <a:endParaRPr lang="en-US"/>
          </a:p>
        </p:txBody>
      </p:sp>
      <p:sp>
        <p:nvSpPr>
          <p:cNvPr id="9" name="Text Placeholder 8">
            <a:extLst>
              <a:ext uri="{FF2B5EF4-FFF2-40B4-BE49-F238E27FC236}">
                <a16:creationId xmlns:a16="http://schemas.microsoft.com/office/drawing/2014/main" id="{C4B271D5-6DF8-471A-952B-E5EF65535D62}"/>
              </a:ext>
            </a:extLst>
          </p:cNvPr>
          <p:cNvSpPr>
            <a:spLocks noGrp="1"/>
          </p:cNvSpPr>
          <p:nvPr>
            <p:ph type="body" sz="quarter" idx="11"/>
          </p:nvPr>
        </p:nvSpPr>
        <p:spPr>
          <a:xfrm>
            <a:off x="914400" y="4093482"/>
            <a:ext cx="3900714" cy="184666"/>
          </a:xfrm>
        </p:spPr>
        <p:txBody>
          <a:bodyPr/>
          <a:lstStyle>
            <a:lvl1pPr marL="0" indent="0">
              <a:buNone/>
              <a:defRPr sz="1200" baseline="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Tree>
    <p:extLst>
      <p:ext uri="{BB962C8B-B14F-4D97-AF65-F5344CB8AC3E}">
        <p14:creationId xmlns:p14="http://schemas.microsoft.com/office/powerpoint/2010/main" val="95865945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ight big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2F3B8-09D5-4269-A4BC-8B6B6FA0475F}"/>
              </a:ext>
            </a:extLst>
          </p:cNvPr>
          <p:cNvSpPr>
            <a:spLocks noGrp="1"/>
          </p:cNvSpPr>
          <p:nvPr>
            <p:ph type="title"/>
          </p:nvPr>
        </p:nvSpPr>
        <p:spPr>
          <a:xfrm>
            <a:off x="6687097" y="1544139"/>
            <a:ext cx="4590644" cy="1231106"/>
          </a:xfrm>
        </p:spPr>
        <p:txBody>
          <a:bodyPr/>
          <a:lstStyle>
            <a:lvl1pPr algn="r">
              <a:defRPr sz="4000"/>
            </a:lvl1pPr>
          </a:lstStyle>
          <a:p>
            <a:r>
              <a:rPr lang="en-US"/>
              <a:t>Click to edit Master title style</a:t>
            </a:r>
          </a:p>
        </p:txBody>
      </p:sp>
      <p:sp>
        <p:nvSpPr>
          <p:cNvPr id="7" name="Picture Placeholder 6">
            <a:extLst>
              <a:ext uri="{FF2B5EF4-FFF2-40B4-BE49-F238E27FC236}">
                <a16:creationId xmlns:a16="http://schemas.microsoft.com/office/drawing/2014/main" id="{CC91F959-89D9-400C-9B8C-79FB496739F9}"/>
              </a:ext>
            </a:extLst>
          </p:cNvPr>
          <p:cNvSpPr>
            <a:spLocks noGrp="1"/>
          </p:cNvSpPr>
          <p:nvPr>
            <p:ph type="pic" sz="quarter" idx="10"/>
          </p:nvPr>
        </p:nvSpPr>
        <p:spPr>
          <a:xfrm>
            <a:off x="0" y="0"/>
            <a:ext cx="6096000" cy="6858000"/>
          </a:xfrm>
        </p:spPr>
        <p:txBody>
          <a:bodyPr/>
          <a:lstStyle/>
          <a:p>
            <a:endParaRPr lang="en-US"/>
          </a:p>
        </p:txBody>
      </p:sp>
      <p:sp>
        <p:nvSpPr>
          <p:cNvPr id="9" name="Text Placeholder 8">
            <a:extLst>
              <a:ext uri="{FF2B5EF4-FFF2-40B4-BE49-F238E27FC236}">
                <a16:creationId xmlns:a16="http://schemas.microsoft.com/office/drawing/2014/main" id="{C4B271D5-6DF8-471A-952B-E5EF65535D62}"/>
              </a:ext>
            </a:extLst>
          </p:cNvPr>
          <p:cNvSpPr>
            <a:spLocks noGrp="1"/>
          </p:cNvSpPr>
          <p:nvPr>
            <p:ph type="body" sz="quarter" idx="11"/>
          </p:nvPr>
        </p:nvSpPr>
        <p:spPr>
          <a:xfrm>
            <a:off x="6687238" y="4093482"/>
            <a:ext cx="4591050" cy="184666"/>
          </a:xfrm>
        </p:spPr>
        <p:txBody>
          <a:bodyPr/>
          <a:lstStyle>
            <a:lvl1pPr marL="0" indent="0" algn="r">
              <a:buNone/>
              <a:defRPr sz="1200" baseline="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Tree>
    <p:extLst>
      <p:ext uri="{BB962C8B-B14F-4D97-AF65-F5344CB8AC3E}">
        <p14:creationId xmlns:p14="http://schemas.microsoft.com/office/powerpoint/2010/main" val="366172422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939635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464248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mp; half-page">
    <p:bg>
      <p:bgRef idx="1001">
        <a:schemeClr val="bg2"/>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90" y="1560644"/>
            <a:ext cx="4898137" cy="1239122"/>
          </a:xfrm>
        </p:spPr>
        <p:txBody>
          <a:bodyPr wrap="square">
            <a:spAutoFit/>
          </a:bodyPr>
          <a:lstStyle>
            <a:lvl1pPr marL="0" indent="0">
              <a:lnSpc>
                <a:spcPct val="110000"/>
              </a:lnSpc>
              <a:spcBef>
                <a:spcPts val="1200"/>
              </a:spcBef>
              <a:buNone/>
              <a:defRPr sz="1800">
                <a:latin typeface="+mn-lt"/>
              </a:defRPr>
            </a:lvl1pPr>
            <a:lvl2pPr marL="228600" indent="0">
              <a:buNone/>
              <a:defRPr sz="1600"/>
            </a:lvl2pPr>
            <a:lvl3pPr marL="457200" indent="0">
              <a:buNone/>
              <a:defRPr sz="1200"/>
            </a:lvl3pPr>
            <a:lvl4pPr marL="685800" indent="0">
              <a:buNone/>
              <a:defRPr sz="1100"/>
            </a:lvl4pPr>
            <a:lvl5pPr marL="914400" indent="0">
              <a:buNone/>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C4B7896-F978-4D6E-861E-D10AD51486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50885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1"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2563205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1"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3464344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1"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spTree>
    <p:extLst>
      <p:ext uri="{BB962C8B-B14F-4D97-AF65-F5344CB8AC3E}">
        <p14:creationId xmlns:p14="http://schemas.microsoft.com/office/powerpoint/2010/main" val="6644169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1"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spTree>
    <p:extLst>
      <p:ext uri="{BB962C8B-B14F-4D97-AF65-F5344CB8AC3E}">
        <p14:creationId xmlns:p14="http://schemas.microsoft.com/office/powerpoint/2010/main" val="1313255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1"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3" name="MS logo white - EMF" descr="Microsoft logo white text version">
            <a:extLst>
              <a:ext uri="{FF2B5EF4-FFF2-40B4-BE49-F238E27FC236}">
                <a16:creationId xmlns:a16="http://schemas.microsoft.com/office/drawing/2014/main" id="{698F7F0E-D4BF-47D5-893E-D6AD1A06C9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921099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1"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3134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754863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8444750"/>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6753128"/>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tx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7358972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2"/>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69801300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blue">
    <p:bg>
      <p:bgPr>
        <a:solidFill>
          <a:schemeClr val="accent1"/>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28494" y="6318462"/>
            <a:ext cx="4482124"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DBCC3F24-BF53-4EF0-8FC2-26C4B364170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28682" y="3204862"/>
            <a:ext cx="2102988" cy="448276"/>
          </a:xfrm>
          <a:prstGeom prst="rect">
            <a:avLst/>
          </a:prstGeom>
        </p:spPr>
      </p:pic>
    </p:spTree>
    <p:extLst>
      <p:ext uri="{BB962C8B-B14F-4D97-AF65-F5344CB8AC3E}">
        <p14:creationId xmlns:p14="http://schemas.microsoft.com/office/powerpoint/2010/main" val="2673413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slide blue">
    <p:bg>
      <p:bgPr>
        <a:solidFill>
          <a:srgbClr val="0278D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73B716-5AC1-4E6F-99C0-F195B0C5870F}"/>
              </a:ext>
            </a:extLst>
          </p:cNvPr>
          <p:cNvSpPr>
            <a:spLocks noGrp="1"/>
          </p:cNvSpPr>
          <p:nvPr>
            <p:ph type="title" hasCustomPrompt="1"/>
          </p:nvPr>
        </p:nvSpPr>
        <p:spPr>
          <a:xfrm>
            <a:off x="429544" y="2956282"/>
            <a:ext cx="9401560" cy="945435"/>
          </a:xfrm>
          <a:noFill/>
        </p:spPr>
        <p:txBody>
          <a:bodyPr lIns="0" tIns="0" rIns="0" bIns="182880" anchor="b" anchorCtr="0"/>
          <a:lstStyle>
            <a:lvl1pPr>
              <a:defRPr sz="4902" strike="noStrike" spc="-147" baseline="0">
                <a:solidFill>
                  <a:schemeClr val="bg2"/>
                </a:solidFill>
              </a:defRPr>
            </a:lvl1pPr>
          </a:lstStyle>
          <a:p>
            <a:r>
              <a:rPr lang="en-US"/>
              <a:t>Presentation title</a:t>
            </a:r>
          </a:p>
        </p:txBody>
      </p:sp>
      <p:sp>
        <p:nvSpPr>
          <p:cNvPr id="6" name="Text Placeholder 4">
            <a:extLst>
              <a:ext uri="{FF2B5EF4-FFF2-40B4-BE49-F238E27FC236}">
                <a16:creationId xmlns:a16="http://schemas.microsoft.com/office/drawing/2014/main" id="{E78FD896-9F6B-4251-9F12-35FEF1AF740F}"/>
              </a:ext>
            </a:extLst>
          </p:cNvPr>
          <p:cNvSpPr>
            <a:spLocks noGrp="1"/>
          </p:cNvSpPr>
          <p:nvPr>
            <p:ph type="body" sz="quarter" idx="12" hasCustomPrompt="1"/>
          </p:nvPr>
        </p:nvSpPr>
        <p:spPr>
          <a:xfrm>
            <a:off x="426426" y="5890660"/>
            <a:ext cx="9401560" cy="945435"/>
          </a:xfrm>
          <a:noFill/>
        </p:spPr>
        <p:txBody>
          <a:bodyPr lIns="0" tIns="0" rIns="0" bIns="0">
            <a:noAutofit/>
          </a:bodyPr>
          <a:lstStyle>
            <a:lvl1pPr marL="0" indent="0">
              <a:lnSpc>
                <a:spcPct val="100000"/>
              </a:lnSpc>
              <a:spcBef>
                <a:spcPts val="0"/>
              </a:spcBef>
              <a:buNone/>
              <a:defRPr sz="1568" spc="0" baseline="0">
                <a:solidFill>
                  <a:schemeClr val="bg2"/>
                </a:solidFill>
                <a:latin typeface="+mn-lt"/>
              </a:defRPr>
            </a:lvl1pPr>
          </a:lstStyle>
          <a:p>
            <a:pPr lvl="0"/>
            <a:r>
              <a:rPr lang="en-US"/>
              <a:t>Speaker name</a:t>
            </a:r>
          </a:p>
          <a:p>
            <a:pPr lvl="0"/>
            <a:r>
              <a:rPr lang="en-US"/>
              <a:t>Date</a:t>
            </a:r>
          </a:p>
        </p:txBody>
      </p:sp>
      <p:pic>
        <p:nvPicPr>
          <p:cNvPr id="10"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719016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Split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2060948"/>
            <a:ext cx="5212080" cy="1268039"/>
          </a:xfrm>
        </p:spPr>
        <p:txBody>
          <a:bodyPr wrap="square">
            <a:spAutoFit/>
          </a:bodyPr>
          <a:lstStyle>
            <a:lvl1pPr marL="0" indent="0">
              <a:spcBef>
                <a:spcPts val="1200"/>
              </a:spcBef>
              <a:buClr>
                <a:schemeClr val="tx1"/>
              </a:buClr>
              <a:buFont typeface="Wingdings" panose="05000000000000000000" pitchFamily="2" charset="2"/>
              <a:buNone/>
              <a:defRPr sz="2000" b="0">
                <a:solidFill>
                  <a:schemeClr val="accent1"/>
                </a:solidFill>
                <a:latin typeface="+mj-lt"/>
                <a:cs typeface="Segoe UI" panose="020B0502040204020203" pitchFamily="34" charset="0"/>
              </a:defRPr>
            </a:lvl1pPr>
            <a:lvl2pPr marL="0" indent="0">
              <a:spcBef>
                <a:spcPts val="600"/>
              </a:spcBef>
              <a:buFont typeface="Wingdings" panose="05000000000000000000" pitchFamily="2" charset="2"/>
              <a:buNone/>
              <a:defRPr sz="1600" b="0"/>
            </a:lvl2pPr>
            <a:lvl3pPr marL="285750" indent="0">
              <a:buFont typeface="Wingdings" panose="05000000000000000000" pitchFamily="2" charset="2"/>
              <a:buNone/>
              <a:tabLst/>
              <a:defRPr sz="1200" b="0"/>
            </a:lvl3pPr>
            <a:lvl4pPr marL="457200" indent="0">
              <a:buFont typeface="Wingdings" panose="05000000000000000000" pitchFamily="2" charset="2"/>
              <a:buNone/>
              <a:defRPr sz="1100" b="0"/>
            </a:lvl4pPr>
            <a:lvl5pPr marL="687388" indent="0">
              <a:buFont typeface="Wingdings" panose="05000000000000000000" pitchFamily="2" charset="2"/>
              <a:buNone/>
              <a:tabLst/>
              <a:defRPr sz="11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04255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643154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662557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022698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38726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6744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2466142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2787034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Tree>
    <p:extLst>
      <p:ext uri="{BB962C8B-B14F-4D97-AF65-F5344CB8AC3E}">
        <p14:creationId xmlns:p14="http://schemas.microsoft.com/office/powerpoint/2010/main" val="90207150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34141772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1238552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4920607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4154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53171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4842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5923976"/>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27181308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88281793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blue">
    <p:bg>
      <p:bgPr>
        <a:solidFill>
          <a:srgbClr val="0278D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73B716-5AC1-4E6F-99C0-F195B0C5870F}"/>
              </a:ext>
            </a:extLst>
          </p:cNvPr>
          <p:cNvSpPr>
            <a:spLocks noGrp="1"/>
          </p:cNvSpPr>
          <p:nvPr>
            <p:ph type="title" hasCustomPrompt="1"/>
          </p:nvPr>
        </p:nvSpPr>
        <p:spPr>
          <a:xfrm>
            <a:off x="429544" y="2956282"/>
            <a:ext cx="9401560" cy="945435"/>
          </a:xfrm>
          <a:noFill/>
        </p:spPr>
        <p:txBody>
          <a:bodyPr lIns="0" tIns="0" rIns="0" bIns="182880" anchor="b" anchorCtr="0"/>
          <a:lstStyle>
            <a:lvl1pPr>
              <a:defRPr sz="4902" strike="noStrike" spc="-147" baseline="0">
                <a:solidFill>
                  <a:schemeClr val="bg2"/>
                </a:solidFill>
              </a:defRPr>
            </a:lvl1pPr>
          </a:lstStyle>
          <a:p>
            <a:r>
              <a:rPr lang="en-US"/>
              <a:t>Presentation title</a:t>
            </a:r>
          </a:p>
        </p:txBody>
      </p:sp>
      <p:sp>
        <p:nvSpPr>
          <p:cNvPr id="6" name="Text Placeholder 4">
            <a:extLst>
              <a:ext uri="{FF2B5EF4-FFF2-40B4-BE49-F238E27FC236}">
                <a16:creationId xmlns:a16="http://schemas.microsoft.com/office/drawing/2014/main" id="{E78FD896-9F6B-4251-9F12-35FEF1AF740F}"/>
              </a:ext>
            </a:extLst>
          </p:cNvPr>
          <p:cNvSpPr>
            <a:spLocks noGrp="1"/>
          </p:cNvSpPr>
          <p:nvPr>
            <p:ph type="body" sz="quarter" idx="12" hasCustomPrompt="1"/>
          </p:nvPr>
        </p:nvSpPr>
        <p:spPr>
          <a:xfrm>
            <a:off x="426426" y="5890660"/>
            <a:ext cx="9401560" cy="945435"/>
          </a:xfrm>
          <a:noFill/>
        </p:spPr>
        <p:txBody>
          <a:bodyPr lIns="0" tIns="0" rIns="0" bIns="0">
            <a:noAutofit/>
          </a:bodyPr>
          <a:lstStyle>
            <a:lvl1pPr marL="0" indent="0">
              <a:lnSpc>
                <a:spcPct val="100000"/>
              </a:lnSpc>
              <a:spcBef>
                <a:spcPts val="0"/>
              </a:spcBef>
              <a:buNone/>
              <a:defRPr sz="1568" spc="0" baseline="0">
                <a:solidFill>
                  <a:schemeClr val="bg2"/>
                </a:solidFill>
                <a:latin typeface="+mn-lt"/>
              </a:defRPr>
            </a:lvl1pPr>
          </a:lstStyle>
          <a:p>
            <a:pPr lvl="0"/>
            <a:r>
              <a:rPr lang="en-US"/>
              <a:t>Speaker name</a:t>
            </a:r>
          </a:p>
          <a:p>
            <a:pPr lvl="0"/>
            <a:r>
              <a:rPr lang="en-US"/>
              <a:t>Date</a:t>
            </a:r>
          </a:p>
        </p:txBody>
      </p:sp>
      <p:pic>
        <p:nvPicPr>
          <p:cNvPr id="10"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521472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6425" y="1202871"/>
            <a:ext cx="3632388" cy="1172553"/>
          </a:xfrm>
        </p:spPr>
        <p:txBody>
          <a:bodyPr lIns="0" tIns="0" rIns="0" bIns="0"/>
          <a:lstStyle>
            <a:lvl1pPr>
              <a:defRPr sz="1961" spc="0" baseline="0">
                <a:solidFill>
                  <a:srgbClr val="000000"/>
                </a:solidFill>
              </a:defRPr>
            </a:lvl1pPr>
          </a:lstStyle>
          <a:p>
            <a:r>
              <a:rPr lang="en-US"/>
              <a:t>Contents</a:t>
            </a:r>
          </a:p>
        </p:txBody>
      </p:sp>
      <p:sp>
        <p:nvSpPr>
          <p:cNvPr id="4" name="Text Placeholder 3"/>
          <p:cNvSpPr>
            <a:spLocks noGrp="1"/>
          </p:cNvSpPr>
          <p:nvPr>
            <p:ph type="body" sz="quarter" idx="10" hasCustomPrompt="1"/>
          </p:nvPr>
        </p:nvSpPr>
        <p:spPr>
          <a:xfrm>
            <a:off x="6212722" y="1202872"/>
            <a:ext cx="3618382" cy="3289228"/>
          </a:xfrm>
        </p:spPr>
        <p:txBody>
          <a:bodyPr wrap="square" lIns="0" tIns="0" rIns="0" bIns="0">
            <a:noAutofit/>
          </a:bodyPr>
          <a:lstStyle>
            <a:lvl1pPr marL="0" marR="0" indent="0" algn="l" defTabSz="507330" rtl="0" eaLnBrk="1" fontAlgn="auto" latinLnBrk="0" hangingPunct="1">
              <a:lnSpc>
                <a:spcPct val="100000"/>
              </a:lnSpc>
              <a:spcBef>
                <a:spcPts val="0"/>
              </a:spcBef>
              <a:spcAft>
                <a:spcPts val="490"/>
              </a:spcAft>
              <a:buClrTx/>
              <a:buSzPct val="90000"/>
              <a:buFont typeface="Wingdings" panose="05000000000000000000" pitchFamily="2" charset="2"/>
              <a:buNone/>
              <a:tabLst/>
              <a:defRPr sz="1961" spc="0" baseline="0">
                <a:solidFill>
                  <a:schemeClr val="accent1"/>
                </a:solidFill>
                <a:latin typeface="+mj-lt"/>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p:txBody>
      </p:sp>
    </p:spTree>
    <p:extLst>
      <p:ext uri="{BB962C8B-B14F-4D97-AF65-F5344CB8AC3E}">
        <p14:creationId xmlns:p14="http://schemas.microsoft.com/office/powerpoint/2010/main" val="421008258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7318" y="2139702"/>
            <a:ext cx="11339774" cy="1223171"/>
          </a:xfrm>
        </p:spPr>
        <p:txBody>
          <a:bodyPr wrap="square" lIns="0" tIns="0" rIns="0" bIns="0">
            <a:spAutoFit/>
          </a:bodyPr>
          <a:lstStyle>
            <a:lvl1pPr marL="0" indent="0">
              <a:lnSpc>
                <a:spcPct val="90000"/>
              </a:lnSpc>
              <a:spcBef>
                <a:spcPts val="0"/>
              </a:spcBef>
              <a:spcAft>
                <a:spcPts val="1274"/>
              </a:spcAft>
              <a:buNone/>
              <a:defRPr sz="2549" b="0" i="0">
                <a:solidFill>
                  <a:srgbClr val="000000"/>
                </a:solidFill>
                <a:latin typeface="+mn-lt"/>
              </a:defRPr>
            </a:lvl1pPr>
            <a:lvl2pPr marL="224097" indent="0">
              <a:lnSpc>
                <a:spcPct val="90000"/>
              </a:lnSpc>
              <a:spcBef>
                <a:spcPts val="0"/>
              </a:spcBef>
              <a:spcAft>
                <a:spcPts val="1274"/>
              </a:spcAft>
              <a:buNone/>
              <a:defRPr sz="1961">
                <a:solidFill>
                  <a:srgbClr val="000000"/>
                </a:solidFill>
              </a:defRPr>
            </a:lvl2pPr>
            <a:lvl3pPr marL="448193" indent="0">
              <a:spcBef>
                <a:spcPts val="0"/>
              </a:spcBef>
              <a:spcAft>
                <a:spcPts val="1274"/>
              </a:spcAft>
              <a:buNone/>
              <a:defRPr sz="1961">
                <a:solidFill>
                  <a:srgbClr val="000000"/>
                </a:solidFill>
              </a:defRPr>
            </a:lvl3pPr>
            <a:lvl4pPr marL="672290" indent="0">
              <a:spcBef>
                <a:spcPts val="0"/>
              </a:spcBef>
              <a:spcAft>
                <a:spcPts val="1274"/>
              </a:spcAft>
              <a:buNone/>
              <a:defRPr sz="1961"/>
            </a:lvl4pPr>
            <a:lvl5pPr marL="896386" indent="0">
              <a:buNone/>
              <a:defRPr/>
            </a:lvl5pPr>
          </a:lstStyle>
          <a:p>
            <a:pPr lvl="0"/>
            <a:r>
              <a:rPr lang="en-US"/>
              <a:t>First level Segoe UI 26pt</a:t>
            </a:r>
          </a:p>
          <a:p>
            <a:pPr lvl="1"/>
            <a:r>
              <a:rPr lang="en-US"/>
              <a:t>Second level Segoe UI 20pt</a:t>
            </a:r>
          </a:p>
          <a:p>
            <a:pPr lvl="2"/>
            <a:r>
              <a:rPr lang="en-US"/>
              <a:t>Third level Segoe UI 20pt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Heading Segoe UI </a:t>
            </a:r>
            <a:r>
              <a:rPr lang="en-US" err="1"/>
              <a:t>Semibold</a:t>
            </a:r>
            <a:r>
              <a:rPr lang="en-US"/>
              <a:t> 32pt</a:t>
            </a:r>
          </a:p>
        </p:txBody>
      </p:sp>
    </p:spTree>
    <p:extLst>
      <p:ext uri="{BB962C8B-B14F-4D97-AF65-F5344CB8AC3E}">
        <p14:creationId xmlns:p14="http://schemas.microsoft.com/office/powerpoint/2010/main" val="145873745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mp; body slide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7319" y="2141394"/>
            <a:ext cx="11339774" cy="1223171"/>
          </a:xfrm>
        </p:spPr>
        <p:txBody>
          <a:bodyPr wrap="square" lIns="0" tIns="0" rIns="0" bIns="0">
            <a:spAutoFit/>
          </a:bodyPr>
          <a:lstStyle>
            <a:lvl1pPr marL="268916" indent="-268916">
              <a:lnSpc>
                <a:spcPct val="90000"/>
              </a:lnSpc>
              <a:spcBef>
                <a:spcPts val="0"/>
              </a:spcBef>
              <a:spcAft>
                <a:spcPts val="1274"/>
              </a:spcAft>
              <a:buClr>
                <a:srgbClr val="000000"/>
              </a:buClr>
              <a:buSzPct val="77000"/>
              <a:buFont typeface="Arial" panose="020B0604020202020204" pitchFamily="34" charset="0"/>
              <a:buChar char="•"/>
              <a:defRPr sz="2549" b="0" i="0">
                <a:solidFill>
                  <a:srgbClr val="000000"/>
                </a:solidFill>
                <a:latin typeface="+mn-lt"/>
              </a:defRPr>
            </a:lvl1pPr>
            <a:lvl2pPr marL="537832" indent="-224097">
              <a:lnSpc>
                <a:spcPct val="90000"/>
              </a:lnSpc>
              <a:spcBef>
                <a:spcPts val="0"/>
              </a:spcBef>
              <a:spcAft>
                <a:spcPts val="1274"/>
              </a:spcAft>
              <a:buClr>
                <a:srgbClr val="000000"/>
              </a:buClr>
              <a:buSzPct val="77000"/>
              <a:buFont typeface="Arial" panose="020B0604020202020204" pitchFamily="34" charset="0"/>
              <a:buChar char="•"/>
              <a:defRPr sz="1961">
                <a:solidFill>
                  <a:srgbClr val="000000"/>
                </a:solidFill>
              </a:defRPr>
            </a:lvl2pPr>
            <a:lvl3pPr marL="806748" indent="-224097">
              <a:spcBef>
                <a:spcPts val="0"/>
              </a:spcBef>
              <a:spcAft>
                <a:spcPts val="1274"/>
              </a:spcAft>
              <a:buClr>
                <a:srgbClr val="000000"/>
              </a:buClr>
              <a:buSzPct val="77000"/>
              <a:buFont typeface="Arial" panose="020B0604020202020204" pitchFamily="34" charset="0"/>
              <a:buChar char="•"/>
              <a:defRPr sz="1961">
                <a:solidFill>
                  <a:srgbClr val="000000"/>
                </a:solidFill>
              </a:defRPr>
            </a:lvl3pPr>
            <a:lvl4pPr marL="672290" indent="0">
              <a:spcBef>
                <a:spcPts val="0"/>
              </a:spcBef>
              <a:spcAft>
                <a:spcPts val="1274"/>
              </a:spcAft>
              <a:buNone/>
              <a:defRPr sz="1961"/>
            </a:lvl4pPr>
            <a:lvl5pPr marL="896386" indent="0">
              <a:buNone/>
              <a:defRPr/>
            </a:lvl5pPr>
          </a:lstStyle>
          <a:p>
            <a:pPr lvl="0"/>
            <a:r>
              <a:rPr lang="en-US"/>
              <a:t>First level Segoe UI 26pt</a:t>
            </a:r>
          </a:p>
          <a:p>
            <a:pPr lvl="1"/>
            <a:r>
              <a:rPr lang="en-US"/>
              <a:t>Second level Segoe UI 20pt</a:t>
            </a:r>
          </a:p>
          <a:p>
            <a:pPr lvl="2"/>
            <a:r>
              <a:rPr lang="en-US"/>
              <a:t>Third level Segoe UI 20pt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a:solidFill>
                  <a:srgbClr val="000000"/>
                </a:solidFill>
              </a:defRPr>
            </a:lvl1pPr>
          </a:lstStyle>
          <a:p>
            <a:r>
              <a:rPr lang="en-US"/>
              <a:t>Heading Segoe UI </a:t>
            </a:r>
            <a:r>
              <a:rPr lang="en-US" err="1"/>
              <a:t>Semibold</a:t>
            </a:r>
            <a:r>
              <a:rPr lang="en-US"/>
              <a:t> 32pt</a:t>
            </a:r>
          </a:p>
        </p:txBody>
      </p:sp>
      <p:sp>
        <p:nvSpPr>
          <p:cNvPr id="5" name="Text Placeholder 3">
            <a:extLst>
              <a:ext uri="{FF2B5EF4-FFF2-40B4-BE49-F238E27FC236}">
                <a16:creationId xmlns:a16="http://schemas.microsoft.com/office/drawing/2014/main" id="{BF94EA65-2CBF-4A04-9D22-169D8572F347}"/>
              </a:ext>
            </a:extLst>
          </p:cNvPr>
          <p:cNvSpPr>
            <a:spLocks noGrp="1"/>
          </p:cNvSpPr>
          <p:nvPr>
            <p:ph type="body" sz="quarter" idx="12" hasCustomPrompt="1"/>
          </p:nvPr>
        </p:nvSpPr>
        <p:spPr>
          <a:xfrm>
            <a:off x="426423" y="1083831"/>
            <a:ext cx="11339774" cy="353070"/>
          </a:xfrm>
        </p:spPr>
        <p:txBody>
          <a:bodyPr wrap="square" lIns="0" tIns="0" rIns="0" bIns="0">
            <a:spAutoFit/>
          </a:bodyPr>
          <a:lstStyle>
            <a:lvl1pPr marL="0" indent="0">
              <a:lnSpc>
                <a:spcPct val="90000"/>
              </a:lnSpc>
              <a:spcBef>
                <a:spcPts val="0"/>
              </a:spcBef>
              <a:spcAft>
                <a:spcPts val="1274"/>
              </a:spcAft>
              <a:buNone/>
              <a:defRPr sz="2549" b="0" i="0">
                <a:solidFill>
                  <a:srgbClr val="000000"/>
                </a:solidFill>
                <a:latin typeface="+mn-lt"/>
              </a:defRPr>
            </a:lvl1pPr>
            <a:lvl2pPr marL="224097" indent="0">
              <a:lnSpc>
                <a:spcPct val="90000"/>
              </a:lnSpc>
              <a:spcBef>
                <a:spcPts val="0"/>
              </a:spcBef>
              <a:spcAft>
                <a:spcPts val="1274"/>
              </a:spcAft>
              <a:buNone/>
              <a:defRPr sz="1961">
                <a:solidFill>
                  <a:schemeClr val="tx2"/>
                </a:solidFill>
              </a:defRPr>
            </a:lvl2pPr>
            <a:lvl3pPr marL="448193" indent="0">
              <a:spcBef>
                <a:spcPts val="0"/>
              </a:spcBef>
              <a:spcAft>
                <a:spcPts val="1274"/>
              </a:spcAft>
              <a:buNone/>
              <a:defRPr sz="1961"/>
            </a:lvl3pPr>
            <a:lvl4pPr marL="672290" indent="0">
              <a:spcBef>
                <a:spcPts val="0"/>
              </a:spcBef>
              <a:spcAft>
                <a:spcPts val="1274"/>
              </a:spcAft>
              <a:buNone/>
              <a:defRPr sz="1961"/>
            </a:lvl4pPr>
            <a:lvl5pPr marL="896386" indent="0">
              <a:buNone/>
              <a:defRPr/>
            </a:lvl5pPr>
          </a:lstStyle>
          <a:p>
            <a:pPr lvl="0"/>
            <a:r>
              <a:rPr lang="en-US"/>
              <a:t>Subtitle Segoe UI 26pt</a:t>
            </a:r>
          </a:p>
        </p:txBody>
      </p:sp>
    </p:spTree>
    <p:extLst>
      <p:ext uri="{BB962C8B-B14F-4D97-AF65-F5344CB8AC3E}">
        <p14:creationId xmlns:p14="http://schemas.microsoft.com/office/powerpoint/2010/main" val="44329279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190880170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evice layout">
    <p:spTree>
      <p:nvGrpSpPr>
        <p:cNvPr id="1" name=""/>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562D5679-B66F-A244-9E94-0FFE5F1B6168}"/>
              </a:ext>
            </a:extLst>
          </p:cNvPr>
          <p:cNvSpPr>
            <a:spLocks noGrp="1"/>
          </p:cNvSpPr>
          <p:nvPr>
            <p:ph type="clipArt" sz="quarter" idx="11" hasCustomPrompt="1"/>
          </p:nvPr>
        </p:nvSpPr>
        <p:spPr>
          <a:xfrm>
            <a:off x="5982391" y="2145841"/>
            <a:ext cx="5780073" cy="3756460"/>
          </a:xfrm>
        </p:spPr>
        <p:txBody>
          <a:bodyPr anchor="ctr">
            <a:noAutofit/>
          </a:bodyPr>
          <a:lstStyle>
            <a:lvl1pPr algn="ctr">
              <a:defRPr sz="1961">
                <a:latin typeface="+mj-lt"/>
              </a:defRPr>
            </a:lvl1pPr>
          </a:lstStyle>
          <a:p>
            <a:r>
              <a:rPr lang="en-US"/>
              <a:t>Drop photo here</a:t>
            </a:r>
          </a:p>
        </p:txBody>
      </p:sp>
      <p:sp>
        <p:nvSpPr>
          <p:cNvPr id="4" name="Text Placeholder 3"/>
          <p:cNvSpPr>
            <a:spLocks noGrp="1"/>
          </p:cNvSpPr>
          <p:nvPr>
            <p:ph type="body" sz="quarter" idx="10" hasCustomPrompt="1"/>
          </p:nvPr>
        </p:nvSpPr>
        <p:spPr>
          <a:xfrm>
            <a:off x="426424" y="2145841"/>
            <a:ext cx="5138175" cy="2573509"/>
          </a:xfrm>
        </p:spPr>
        <p:txBody>
          <a:bodyPr wrap="square" lIns="0" tIns="0" rIns="0" bIns="0">
            <a:noAutofit/>
          </a:bodyPr>
          <a:lstStyle>
            <a:lvl1pPr marL="0" marR="0" indent="0" algn="l" defTabSz="914367" rtl="0" eaLnBrk="1" fontAlgn="auto" latinLnBrk="0" hangingPunct="1">
              <a:lnSpc>
                <a:spcPct val="90000"/>
              </a:lnSpc>
              <a:spcBef>
                <a:spcPts val="0"/>
              </a:spcBef>
              <a:spcAft>
                <a:spcPts val="2549"/>
              </a:spcAft>
              <a:buClrTx/>
              <a:buSzPct val="90000"/>
              <a:buFont typeface="Wingdings" panose="05000000000000000000" pitchFamily="2" charset="2"/>
              <a:buNone/>
              <a:tabLst/>
              <a:defRPr sz="2549" b="0" i="0">
                <a:solidFill>
                  <a:srgbClr val="000000"/>
                </a:solidFill>
                <a:latin typeface="+mn-lt"/>
              </a:defRPr>
            </a:lvl1pPr>
            <a:lvl2pPr marL="224097" marR="0" indent="0" algn="l" defTabSz="914367"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48193" indent="0">
              <a:buNone/>
              <a:defRPr/>
            </a:lvl3pPr>
            <a:lvl4pPr marL="672290" indent="0">
              <a:buNone/>
              <a:defRPr/>
            </a:lvl4pPr>
            <a:lvl5pPr marL="896386" indent="0">
              <a:buNone/>
              <a:defRPr/>
            </a:lvl5pPr>
          </a:lstStyle>
          <a:p>
            <a:pPr lvl="0"/>
            <a:r>
              <a:rPr lang="pt-BR"/>
              <a:t>Subhead Segoe UI 26pt</a:t>
            </a:r>
          </a:p>
          <a:p>
            <a:pPr lvl="0"/>
            <a:r>
              <a:rPr lang="pt-BR"/>
              <a:t>Subhead Segoe UI 26pt</a:t>
            </a:r>
          </a:p>
          <a:p>
            <a:pPr lvl="0"/>
            <a:r>
              <a:rPr lang="pt-BR"/>
              <a:t>Subhead Segoe UI 26pt</a:t>
            </a:r>
          </a:p>
        </p:txBody>
      </p:sp>
      <p:sp>
        <p:nvSpPr>
          <p:cNvPr id="6" name="Title Placeholder 1">
            <a:extLst>
              <a:ext uri="{FF2B5EF4-FFF2-40B4-BE49-F238E27FC236}">
                <a16:creationId xmlns:a16="http://schemas.microsoft.com/office/drawing/2014/main" id="{E60CBD1C-0AFE-4EB9-94D7-943981FE05EE}"/>
              </a:ext>
            </a:extLst>
          </p:cNvPr>
          <p:cNvSpPr>
            <a:spLocks noGrp="1"/>
          </p:cNvSpPr>
          <p:nvPr>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Device layout</a:t>
            </a:r>
          </a:p>
        </p:txBody>
      </p:sp>
    </p:spTree>
    <p:extLst>
      <p:ext uri="{BB962C8B-B14F-4D97-AF65-F5344CB8AC3E}">
        <p14:creationId xmlns:p14="http://schemas.microsoft.com/office/powerpoint/2010/main" val="274504529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aphic layout: three columns graphic and text">
    <p:spTree>
      <p:nvGrpSpPr>
        <p:cNvPr id="1" name=""/>
        <p:cNvGrpSpPr/>
        <p:nvPr/>
      </p:nvGrpSpPr>
      <p:grpSpPr>
        <a:xfrm>
          <a:off x="0" y="0"/>
          <a:ext cx="0" cy="0"/>
          <a:chOff x="0" y="0"/>
          <a:chExt cx="0" cy="0"/>
        </a:xfrm>
      </p:grpSpPr>
      <p:sp>
        <p:nvSpPr>
          <p:cNvPr id="3" name="Rectangle 2"/>
          <p:cNvSpPr/>
          <p:nvPr userDrawn="1"/>
        </p:nvSpPr>
        <p:spPr bwMode="auto">
          <a:xfrm>
            <a:off x="426425" y="1599723"/>
            <a:ext cx="3632388"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897219"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6" name="Rectangle 5"/>
          <p:cNvSpPr/>
          <p:nvPr userDrawn="1"/>
        </p:nvSpPr>
        <p:spPr bwMode="auto">
          <a:xfrm>
            <a:off x="4281363" y="1599723"/>
            <a:ext cx="3623052"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126965" y="1599723"/>
            <a:ext cx="3635499"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7" name="Content Placeholder 15"/>
          <p:cNvSpPr>
            <a:spLocks noGrp="1"/>
          </p:cNvSpPr>
          <p:nvPr userDrawn="1">
            <p:ph sz="quarter" idx="18" hasCustomPrompt="1"/>
          </p:nvPr>
        </p:nvSpPr>
        <p:spPr>
          <a:xfrm>
            <a:off x="4746694"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8" name="Content Placeholder 15"/>
          <p:cNvSpPr>
            <a:spLocks noGrp="1"/>
          </p:cNvSpPr>
          <p:nvPr userDrawn="1">
            <p:ph sz="quarter" idx="19" hasCustomPrompt="1"/>
          </p:nvPr>
        </p:nvSpPr>
        <p:spPr>
          <a:xfrm>
            <a:off x="8598490"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2" name="Title Placeholder 1">
            <a:extLst>
              <a:ext uri="{FF2B5EF4-FFF2-40B4-BE49-F238E27FC236}">
                <a16:creationId xmlns:a16="http://schemas.microsoft.com/office/drawing/2014/main" id="{FC74E6E5-9DAD-4A14-9C20-D9F9150874FE}"/>
              </a:ext>
            </a:extLst>
          </p:cNvPr>
          <p:cNvSpPr>
            <a:spLocks noGrp="1"/>
          </p:cNvSpPr>
          <p:nvPr userDrawn="1">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Graphic layout: three columns graphic and text</a:t>
            </a:r>
          </a:p>
        </p:txBody>
      </p:sp>
      <p:sp>
        <p:nvSpPr>
          <p:cNvPr id="13" name="Text Placeholder 4">
            <a:extLst>
              <a:ext uri="{FF2B5EF4-FFF2-40B4-BE49-F238E27FC236}">
                <a16:creationId xmlns:a16="http://schemas.microsoft.com/office/drawing/2014/main" id="{FB052D15-67DF-4845-863F-FEC853640A9E}"/>
              </a:ext>
            </a:extLst>
          </p:cNvPr>
          <p:cNvSpPr>
            <a:spLocks noGrp="1"/>
          </p:cNvSpPr>
          <p:nvPr userDrawn="1">
            <p:ph type="body" sz="quarter" idx="11" hasCustomPrompt="1"/>
          </p:nvPr>
        </p:nvSpPr>
        <p:spPr>
          <a:xfrm>
            <a:off x="426425" y="4927922"/>
            <a:ext cx="3627659" cy="1307666"/>
          </a:xfrm>
        </p:spPr>
        <p:txBody>
          <a:bodyPr lIns="0" tIns="0" rIns="0" bIns="0"/>
          <a:lstStyle>
            <a:lvl1pPr marL="0" indent="0">
              <a:lnSpc>
                <a:spcPct val="100000"/>
              </a:lnSpc>
              <a:spcBef>
                <a:spcPts val="0"/>
              </a:spcBef>
              <a:spcAft>
                <a:spcPts val="784"/>
              </a:spcAft>
              <a:buNone/>
              <a:defRPr sz="1568" b="1">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4" name="Text Placeholder 4">
            <a:extLst>
              <a:ext uri="{FF2B5EF4-FFF2-40B4-BE49-F238E27FC236}">
                <a16:creationId xmlns:a16="http://schemas.microsoft.com/office/drawing/2014/main" id="{A5ECD4C7-D870-4003-9FA8-85EBBED87940}"/>
              </a:ext>
            </a:extLst>
          </p:cNvPr>
          <p:cNvSpPr>
            <a:spLocks noGrp="1"/>
          </p:cNvSpPr>
          <p:nvPr userDrawn="1">
            <p:ph type="body" sz="quarter" idx="12" hasCustomPrompt="1"/>
          </p:nvPr>
        </p:nvSpPr>
        <p:spPr>
          <a:xfrm>
            <a:off x="4281362" y="4927922"/>
            <a:ext cx="3623051"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5" name="Text Placeholder 4">
            <a:extLst>
              <a:ext uri="{FF2B5EF4-FFF2-40B4-BE49-F238E27FC236}">
                <a16:creationId xmlns:a16="http://schemas.microsoft.com/office/drawing/2014/main" id="{AA9BECBA-B2CC-4EE6-B54E-9ADB03EB2595}"/>
              </a:ext>
            </a:extLst>
          </p:cNvPr>
          <p:cNvSpPr>
            <a:spLocks noGrp="1"/>
          </p:cNvSpPr>
          <p:nvPr userDrawn="1">
            <p:ph type="body" sz="quarter" idx="13" hasCustomPrompt="1"/>
          </p:nvPr>
        </p:nvSpPr>
        <p:spPr>
          <a:xfrm>
            <a:off x="8126963" y="4927922"/>
            <a:ext cx="3635502"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Tree>
    <p:extLst>
      <p:ext uri="{BB962C8B-B14F-4D97-AF65-F5344CB8AC3E}">
        <p14:creationId xmlns:p14="http://schemas.microsoft.com/office/powerpoint/2010/main" val="317102224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raphic layout: four columns graphic and tex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594C393-E06E-3A4C-A658-2526A14DA5A1}"/>
              </a:ext>
            </a:extLst>
          </p:cNvPr>
          <p:cNvSpPr/>
          <p:nvPr userDrawn="1"/>
        </p:nvSpPr>
        <p:spPr bwMode="auto">
          <a:xfrm>
            <a:off x="9109046"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A011C51E-94BA-C44D-ABF4-E87C4124DAF0}"/>
              </a:ext>
            </a:extLst>
          </p:cNvPr>
          <p:cNvSpPr/>
          <p:nvPr userDrawn="1"/>
        </p:nvSpPr>
        <p:spPr bwMode="auto">
          <a:xfrm>
            <a:off x="6214840"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E6DDB665-2DD7-AE40-9862-C6E8E22E9215}"/>
              </a:ext>
            </a:extLst>
          </p:cNvPr>
          <p:cNvSpPr/>
          <p:nvPr userDrawn="1"/>
        </p:nvSpPr>
        <p:spPr bwMode="auto">
          <a:xfrm>
            <a:off x="3320633"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CD677DE-AA2C-984C-BAE1-54D5F0B518CE}"/>
              </a:ext>
            </a:extLst>
          </p:cNvPr>
          <p:cNvSpPr/>
          <p:nvPr userDrawn="1"/>
        </p:nvSpPr>
        <p:spPr bwMode="auto">
          <a:xfrm>
            <a:off x="426426"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0347712A-15EB-884C-BF95-7C690BA77817}"/>
              </a:ext>
            </a:extLst>
          </p:cNvPr>
          <p:cNvSpPr>
            <a:spLocks noGrp="1"/>
          </p:cNvSpPr>
          <p:nvPr>
            <p:ph type="title" hasCustomPrompt="1"/>
          </p:nvPr>
        </p:nvSpPr>
        <p:spPr>
          <a:xfrm>
            <a:off x="426424" y="435824"/>
            <a:ext cx="11336039" cy="744014"/>
          </a:xfrm>
        </p:spPr>
        <p:txBody>
          <a:bodyPr/>
          <a:lstStyle>
            <a:lvl1pPr>
              <a:defRPr/>
            </a:lvl1pPr>
          </a:lstStyle>
          <a:p>
            <a:r>
              <a:rPr lang="en-US"/>
              <a:t>Graphic layout: four columns graphic and text</a:t>
            </a:r>
          </a:p>
        </p:txBody>
      </p:sp>
      <p:sp>
        <p:nvSpPr>
          <p:cNvPr id="4" name="Content Placeholder 15">
            <a:extLst>
              <a:ext uri="{FF2B5EF4-FFF2-40B4-BE49-F238E27FC236}">
                <a16:creationId xmlns:a16="http://schemas.microsoft.com/office/drawing/2014/main" id="{F580A529-D3A8-5643-80BA-3E2BE1AA8D57}"/>
              </a:ext>
            </a:extLst>
          </p:cNvPr>
          <p:cNvSpPr>
            <a:spLocks noGrp="1"/>
          </p:cNvSpPr>
          <p:nvPr>
            <p:ph sz="quarter" idx="17" hasCustomPrompt="1"/>
          </p:nvPr>
        </p:nvSpPr>
        <p:spPr>
          <a:xfrm>
            <a:off x="966751" y="2135537"/>
            <a:ext cx="1572767"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7" name="Content Placeholder 15">
            <a:extLst>
              <a:ext uri="{FF2B5EF4-FFF2-40B4-BE49-F238E27FC236}">
                <a16:creationId xmlns:a16="http://schemas.microsoft.com/office/drawing/2014/main" id="{1F6D7A4B-5FFE-2741-8477-E0CAA019B079}"/>
              </a:ext>
            </a:extLst>
          </p:cNvPr>
          <p:cNvSpPr>
            <a:spLocks noGrp="1"/>
          </p:cNvSpPr>
          <p:nvPr>
            <p:ph sz="quarter" idx="18" hasCustomPrompt="1"/>
          </p:nvPr>
        </p:nvSpPr>
        <p:spPr>
          <a:xfrm>
            <a:off x="3849259"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9" name="Text Placeholder 4">
            <a:extLst>
              <a:ext uri="{FF2B5EF4-FFF2-40B4-BE49-F238E27FC236}">
                <a16:creationId xmlns:a16="http://schemas.microsoft.com/office/drawing/2014/main" id="{07CF99F6-2487-AC48-8A09-B34B72BD5FE9}"/>
              </a:ext>
            </a:extLst>
          </p:cNvPr>
          <p:cNvSpPr>
            <a:spLocks noGrp="1"/>
          </p:cNvSpPr>
          <p:nvPr>
            <p:ph type="body" sz="quarter" idx="11" hasCustomPrompt="1"/>
          </p:nvPr>
        </p:nvSpPr>
        <p:spPr>
          <a:xfrm>
            <a:off x="426426" y="4927922"/>
            <a:ext cx="2653417" cy="1307666"/>
          </a:xfrm>
        </p:spPr>
        <p:txBody>
          <a:bodyPr lIns="0" tIns="0" rIns="0" bIns="0"/>
          <a:lstStyle>
            <a:lvl1pPr marL="0" indent="0">
              <a:lnSpc>
                <a:spcPct val="100000"/>
              </a:lnSpc>
              <a:spcBef>
                <a:spcPts val="0"/>
              </a:spcBef>
              <a:spcAft>
                <a:spcPts val="784"/>
              </a:spcAft>
              <a:buNone/>
              <a:defRPr sz="1568" b="1">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0" name="Text Placeholder 4">
            <a:extLst>
              <a:ext uri="{FF2B5EF4-FFF2-40B4-BE49-F238E27FC236}">
                <a16:creationId xmlns:a16="http://schemas.microsoft.com/office/drawing/2014/main" id="{7F7B5F75-90C0-F44E-9322-8FF1108BD340}"/>
              </a:ext>
            </a:extLst>
          </p:cNvPr>
          <p:cNvSpPr>
            <a:spLocks noGrp="1"/>
          </p:cNvSpPr>
          <p:nvPr>
            <p:ph type="body" sz="quarter" idx="12" hasCustomPrompt="1"/>
          </p:nvPr>
        </p:nvSpPr>
        <p:spPr>
          <a:xfrm>
            <a:off x="3320633"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1" name="Text Placeholder 4">
            <a:extLst>
              <a:ext uri="{FF2B5EF4-FFF2-40B4-BE49-F238E27FC236}">
                <a16:creationId xmlns:a16="http://schemas.microsoft.com/office/drawing/2014/main" id="{6E444E9C-8096-FE42-BE2A-094180C61109}"/>
              </a:ext>
            </a:extLst>
          </p:cNvPr>
          <p:cNvSpPr>
            <a:spLocks noGrp="1"/>
          </p:cNvSpPr>
          <p:nvPr>
            <p:ph type="body" sz="quarter" idx="13" hasCustomPrompt="1"/>
          </p:nvPr>
        </p:nvSpPr>
        <p:spPr>
          <a:xfrm>
            <a:off x="6214840"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3" name="Content Placeholder 15">
            <a:extLst>
              <a:ext uri="{FF2B5EF4-FFF2-40B4-BE49-F238E27FC236}">
                <a16:creationId xmlns:a16="http://schemas.microsoft.com/office/drawing/2014/main" id="{30602BFF-4B8C-D046-AD65-47970BC89DF5}"/>
              </a:ext>
            </a:extLst>
          </p:cNvPr>
          <p:cNvSpPr>
            <a:spLocks noGrp="1"/>
          </p:cNvSpPr>
          <p:nvPr>
            <p:ph sz="quarter" idx="19" hasCustomPrompt="1"/>
          </p:nvPr>
        </p:nvSpPr>
        <p:spPr>
          <a:xfrm>
            <a:off x="6743466"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4" name="Content Placeholder 15">
            <a:extLst>
              <a:ext uri="{FF2B5EF4-FFF2-40B4-BE49-F238E27FC236}">
                <a16:creationId xmlns:a16="http://schemas.microsoft.com/office/drawing/2014/main" id="{88A8CB35-A244-544E-8BAE-53CB85074FBB}"/>
              </a:ext>
            </a:extLst>
          </p:cNvPr>
          <p:cNvSpPr>
            <a:spLocks noGrp="1"/>
          </p:cNvSpPr>
          <p:nvPr>
            <p:ph sz="quarter" idx="20" hasCustomPrompt="1"/>
          </p:nvPr>
        </p:nvSpPr>
        <p:spPr>
          <a:xfrm>
            <a:off x="9637672"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5" name="Text Placeholder 4">
            <a:extLst>
              <a:ext uri="{FF2B5EF4-FFF2-40B4-BE49-F238E27FC236}">
                <a16:creationId xmlns:a16="http://schemas.microsoft.com/office/drawing/2014/main" id="{D8D35D15-66F4-4840-BA72-4B7AB5A24EFD}"/>
              </a:ext>
            </a:extLst>
          </p:cNvPr>
          <p:cNvSpPr>
            <a:spLocks noGrp="1"/>
          </p:cNvSpPr>
          <p:nvPr>
            <p:ph type="body" sz="quarter" idx="21" hasCustomPrompt="1"/>
          </p:nvPr>
        </p:nvSpPr>
        <p:spPr>
          <a:xfrm>
            <a:off x="9109046"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Tree>
    <p:extLst>
      <p:ext uri="{BB962C8B-B14F-4D97-AF65-F5344CB8AC3E}">
        <p14:creationId xmlns:p14="http://schemas.microsoft.com/office/powerpoint/2010/main" val="1302211739"/>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426424" y="2135536"/>
            <a:ext cx="11336039" cy="4288197"/>
          </a:xfrm>
        </p:spPr>
        <p:txBody>
          <a:bodyPr bIns="1737360" anchor="ctr">
            <a:noAutofit/>
          </a:bodyPr>
          <a:lstStyle>
            <a:lvl1pPr algn="ctr">
              <a:defRPr sz="1961">
                <a:solidFill>
                  <a:srgbClr val="000000"/>
                </a:solidFill>
                <a:latin typeface="+mj-lt"/>
              </a:defRPr>
            </a:lvl1pPr>
          </a:lstStyle>
          <a:p>
            <a:r>
              <a:rPr lang="en-US"/>
              <a:t>Click icon to add table</a:t>
            </a:r>
          </a:p>
        </p:txBody>
      </p:sp>
      <p:sp>
        <p:nvSpPr>
          <p:cNvPr id="5" name="Title Placeholder 1">
            <a:extLst>
              <a:ext uri="{FF2B5EF4-FFF2-40B4-BE49-F238E27FC236}">
                <a16:creationId xmlns:a16="http://schemas.microsoft.com/office/drawing/2014/main" id="{4F997AC3-87B6-4E0B-88C2-A05069E413C4}"/>
              </a:ext>
            </a:extLst>
          </p:cNvPr>
          <p:cNvSpPr>
            <a:spLocks noGrp="1"/>
          </p:cNvSpPr>
          <p:nvPr>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Table layout</a:t>
            </a:r>
          </a:p>
        </p:txBody>
      </p:sp>
    </p:spTree>
    <p:extLst>
      <p:ext uri="{BB962C8B-B14F-4D97-AF65-F5344CB8AC3E}">
        <p14:creationId xmlns:p14="http://schemas.microsoft.com/office/powerpoint/2010/main" val="2363701992"/>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 white">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26425" y="1184319"/>
            <a:ext cx="7477989" cy="3535032"/>
          </a:xfrm>
          <a:noFill/>
        </p:spPr>
        <p:txBody>
          <a:bodyPr vert="horz" wrap="square" lIns="0" tIns="0" rIns="0" bIns="0" rtlCol="0" anchor="t" anchorCtr="0">
            <a:noAutofit/>
          </a:bodyPr>
          <a:lstStyle>
            <a:lvl1pPr>
              <a:lnSpc>
                <a:spcPct val="90000"/>
              </a:lnSpc>
              <a:defRPr lang="en-US" sz="5294" spc="-147" dirty="0">
                <a:solidFill>
                  <a:srgbClr val="000000"/>
                </a:solidFill>
              </a:defRPr>
            </a:lvl1pPr>
          </a:lstStyle>
          <a:p>
            <a:pPr marL="0" lvl="0">
              <a:lnSpc>
                <a:spcPts val="5490"/>
              </a:lnSpc>
            </a:pPr>
            <a:r>
              <a:rPr lang="en-US"/>
              <a:t>Section title</a:t>
            </a:r>
          </a:p>
        </p:txBody>
      </p:sp>
    </p:spTree>
    <p:extLst>
      <p:ext uri="{BB962C8B-B14F-4D97-AF65-F5344CB8AC3E}">
        <p14:creationId xmlns:p14="http://schemas.microsoft.com/office/powerpoint/2010/main" val="382052994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title blue">
    <p:bg>
      <p:bgPr>
        <a:solidFill>
          <a:srgbClr val="0278D4"/>
        </a:solidFill>
        <a:effectLst/>
      </p:bgPr>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26425" y="1184319"/>
            <a:ext cx="7477989" cy="3535032"/>
          </a:xfrm>
          <a:noFill/>
        </p:spPr>
        <p:txBody>
          <a:bodyPr vert="horz" wrap="square" lIns="0" tIns="0" rIns="0" bIns="0" rtlCol="0" anchor="t" anchorCtr="0">
            <a:noAutofit/>
          </a:bodyPr>
          <a:lstStyle>
            <a:lvl1pPr>
              <a:lnSpc>
                <a:spcPct val="90000"/>
              </a:lnSpc>
              <a:defRPr lang="en-US" sz="5294" spc="-147" dirty="0">
                <a:solidFill>
                  <a:schemeClr val="tx2"/>
                </a:solidFill>
              </a:defRPr>
            </a:lvl1pPr>
          </a:lstStyle>
          <a:p>
            <a:pPr marL="0" lvl="0">
              <a:lnSpc>
                <a:spcPts val="5490"/>
              </a:lnSpc>
            </a:pPr>
            <a:r>
              <a:rPr lang="en-US"/>
              <a:t>Section title</a:t>
            </a:r>
          </a:p>
        </p:txBody>
      </p:sp>
    </p:spTree>
    <p:extLst>
      <p:ext uri="{BB962C8B-B14F-4D97-AF65-F5344CB8AC3E}">
        <p14:creationId xmlns:p14="http://schemas.microsoft.com/office/powerpoint/2010/main" val="424568679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304042"/>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ank you whi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07DE85-B70F-4309-8506-6C011BC20860}"/>
              </a:ext>
            </a:extLst>
          </p:cNvPr>
          <p:cNvSpPr>
            <a:spLocks noGrp="1"/>
          </p:cNvSpPr>
          <p:nvPr>
            <p:ph type="title" hasCustomPrompt="1"/>
          </p:nvPr>
        </p:nvSpPr>
        <p:spPr>
          <a:xfrm>
            <a:off x="426424" y="1829711"/>
            <a:ext cx="7477989" cy="1473396"/>
          </a:xfrm>
          <a:noFill/>
        </p:spPr>
        <p:txBody>
          <a:bodyPr lIns="0" tIns="0" rIns="0" bIns="0" anchor="t" anchorCtr="0"/>
          <a:lstStyle>
            <a:lvl1pPr>
              <a:lnSpc>
                <a:spcPct val="100000"/>
              </a:lnSpc>
              <a:spcAft>
                <a:spcPts val="1274"/>
              </a:spcAft>
              <a:defRPr sz="2549" spc="-147" baseline="0">
                <a:solidFill>
                  <a:schemeClr val="accent1"/>
                </a:solidFill>
              </a:defRPr>
            </a:lvl1pPr>
          </a:lstStyle>
          <a:p>
            <a:r>
              <a:rPr lang="en-US"/>
              <a:t>Thank you.</a:t>
            </a:r>
          </a:p>
        </p:txBody>
      </p:sp>
      <p:sp>
        <p:nvSpPr>
          <p:cNvPr id="7" name="Text Box 3">
            <a:extLst>
              <a:ext uri="{FF2B5EF4-FFF2-40B4-BE49-F238E27FC236}">
                <a16:creationId xmlns:a16="http://schemas.microsoft.com/office/drawing/2014/main" id="{F3523A4C-09FD-49AC-AA6D-1A6E7B7893EE}"/>
              </a:ext>
            </a:extLst>
          </p:cNvPr>
          <p:cNvSpPr txBox="1">
            <a:spLocks noChangeArrowheads="1"/>
          </p:cNvSpPr>
          <p:nvPr userDrawn="1"/>
        </p:nvSpPr>
        <p:spPr bwMode="blackWhite">
          <a:xfrm>
            <a:off x="428494" y="6318462"/>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rgbClr val="000000"/>
                </a:solidFill>
                <a:cs typeface="Segoe UI" pitchFamily="34" charset="0"/>
              </a:rPr>
              <a:t>© Copyright Microsoft Corporation. All rights reserved. </a:t>
            </a:r>
          </a:p>
        </p:txBody>
      </p:sp>
      <p:pic>
        <p:nvPicPr>
          <p:cNvPr id="8" name="Picture 7">
            <a:extLst>
              <a:ext uri="{FF2B5EF4-FFF2-40B4-BE49-F238E27FC236}">
                <a16:creationId xmlns:a16="http://schemas.microsoft.com/office/drawing/2014/main" id="{944C8B45-9D01-4389-94BD-CBAF3D8B350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429544" y="437137"/>
            <a:ext cx="896425" cy="190218"/>
          </a:xfrm>
          <a:prstGeom prst="rect">
            <a:avLst/>
          </a:prstGeom>
        </p:spPr>
      </p:pic>
    </p:spTree>
    <p:extLst>
      <p:ext uri="{BB962C8B-B14F-4D97-AF65-F5344CB8AC3E}">
        <p14:creationId xmlns:p14="http://schemas.microsoft.com/office/powerpoint/2010/main" val="11146744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ank you blue">
    <p:bg>
      <p:bgPr>
        <a:solidFill>
          <a:srgbClr val="0278D4"/>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26425" y="1829711"/>
            <a:ext cx="7477989" cy="1473396"/>
          </a:xfrm>
          <a:noFill/>
        </p:spPr>
        <p:txBody>
          <a:bodyPr lIns="0" tIns="0" rIns="0" bIns="0" anchor="t" anchorCtr="0"/>
          <a:lstStyle>
            <a:lvl1pPr>
              <a:lnSpc>
                <a:spcPct val="100000"/>
              </a:lnSpc>
              <a:spcAft>
                <a:spcPts val="1274"/>
              </a:spcAft>
              <a:defRPr sz="2549" spc="-147" baseline="0">
                <a:solidFill>
                  <a:schemeClr val="bg2"/>
                </a:solidFill>
              </a:defRPr>
            </a:lvl1pPr>
          </a:lstStyle>
          <a:p>
            <a:r>
              <a:rPr lang="en-US"/>
              <a:t>Thank you.</a:t>
            </a:r>
          </a:p>
        </p:txBody>
      </p:sp>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28494" y="6318462"/>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bg2"/>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C36BDE7C-8AED-4A87-A171-2EB14E4B983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428681" y="437140"/>
            <a:ext cx="896425" cy="191140"/>
          </a:xfrm>
          <a:prstGeom prst="rect">
            <a:avLst/>
          </a:prstGeom>
        </p:spPr>
      </p:pic>
    </p:spTree>
    <p:extLst>
      <p:ext uri="{BB962C8B-B14F-4D97-AF65-F5344CB8AC3E}">
        <p14:creationId xmlns:p14="http://schemas.microsoft.com/office/powerpoint/2010/main" val="38084943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IOT dark Title-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0" y="1122363"/>
            <a:ext cx="5538818" cy="2387600"/>
          </a:xfrm>
        </p:spPr>
        <p:txBody>
          <a:bodyPr rIns="0" anchor="b"/>
          <a:lstStyle>
            <a:lvl1pPr algn="l">
              <a:defRPr sz="4800">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0" y="3602038"/>
            <a:ext cx="5538818" cy="1655762"/>
          </a:xfrm>
        </p:spPr>
        <p:txBody>
          <a:bodyPr/>
          <a:lstStyle>
            <a:lvl1pPr marL="0" indent="0" algn="l">
              <a:lnSpc>
                <a:spcPct val="100000"/>
              </a:lnSpc>
              <a:buNone/>
              <a:defRPr sz="2400">
                <a:solidFill>
                  <a:schemeClr val="accent3"/>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grpSp>
        <p:nvGrpSpPr>
          <p:cNvPr id="7" name="Group 6">
            <a:extLst>
              <a:ext uri="{FF2B5EF4-FFF2-40B4-BE49-F238E27FC236}">
                <a16:creationId xmlns:a16="http://schemas.microsoft.com/office/drawing/2014/main" id="{6DC60F1E-E48C-467D-94CA-0BA8E30F8A39}"/>
              </a:ext>
            </a:extLst>
          </p:cNvPr>
          <p:cNvGrpSpPr/>
          <p:nvPr userDrawn="1"/>
        </p:nvGrpSpPr>
        <p:grpSpPr>
          <a:xfrm>
            <a:off x="553823" y="547295"/>
            <a:ext cx="1554197" cy="330567"/>
            <a:chOff x="7353301" y="-1897063"/>
            <a:chExt cx="5749290" cy="1225867"/>
          </a:xfrm>
        </p:grpSpPr>
        <p:sp>
          <p:nvSpPr>
            <p:cNvPr id="8" name="Freeform: Shape 7">
              <a:extLst>
                <a:ext uri="{FF2B5EF4-FFF2-40B4-BE49-F238E27FC236}">
                  <a16:creationId xmlns:a16="http://schemas.microsoft.com/office/drawing/2014/main" id="{534EF251-2F00-499F-95F8-BA86441D1355}"/>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B5896159-2C65-4206-B4BA-AD03FEC82FEA}"/>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0E514DB2-0A0B-4734-9800-E3961DF21E00}"/>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3831C1C1-EC71-4524-AF28-E220FEBEB8FA}"/>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12A9F166-6D5F-4F93-87BC-9DBDBBB56C4A}"/>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pic>
        <p:nvPicPr>
          <p:cNvPr id="13" name="Picture 12" descr="A picture containing device, fan, web&#10;&#10;Description automatically generated">
            <a:extLst>
              <a:ext uri="{FF2B5EF4-FFF2-40B4-BE49-F238E27FC236}">
                <a16:creationId xmlns:a16="http://schemas.microsoft.com/office/drawing/2014/main" id="{3B0F8754-6345-4046-9C1F-DB752BA0D9CB}"/>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099363" y="663268"/>
            <a:ext cx="5545182" cy="5531464"/>
          </a:xfrm>
          <a:prstGeom prst="rect">
            <a:avLst/>
          </a:prstGeom>
        </p:spPr>
      </p:pic>
    </p:spTree>
    <p:extLst>
      <p:ext uri="{BB962C8B-B14F-4D97-AF65-F5344CB8AC3E}">
        <p14:creationId xmlns:p14="http://schemas.microsoft.com/office/powerpoint/2010/main" val="79401760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1_IOT dark Title-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0" y="1122363"/>
            <a:ext cx="5538818" cy="2387600"/>
          </a:xfrm>
        </p:spPr>
        <p:txBody>
          <a:bodyPr rIns="0" anchor="b"/>
          <a:lstStyle>
            <a:lvl1pPr algn="l">
              <a:defRPr sz="4800">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0" y="3602038"/>
            <a:ext cx="5538818" cy="1655762"/>
          </a:xfrm>
        </p:spPr>
        <p:txBody>
          <a:bodyPr/>
          <a:lstStyle>
            <a:lvl1pPr marL="0" indent="0" algn="l">
              <a:lnSpc>
                <a:spcPct val="100000"/>
              </a:lnSpc>
              <a:buNone/>
              <a:defRPr sz="2400">
                <a:solidFill>
                  <a:schemeClr val="accent3"/>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Tree>
    <p:extLst>
      <p:ext uri="{BB962C8B-B14F-4D97-AF65-F5344CB8AC3E}">
        <p14:creationId xmlns:p14="http://schemas.microsoft.com/office/powerpoint/2010/main" val="42449386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IOT dark Title-3">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125006" y="1122363"/>
            <a:ext cx="7263935" cy="2387600"/>
          </a:xfrm>
        </p:spPr>
        <p:txBody>
          <a:bodyPr rIns="0" anchor="b"/>
          <a:lstStyle>
            <a:lvl1pPr algn="l">
              <a:defRPr sz="4800">
                <a:solidFill>
                  <a:schemeClr val="tx2"/>
                </a:solidFill>
              </a:defRPr>
            </a:lvl1pPr>
          </a:lstStyle>
          <a:p>
            <a:r>
              <a:rPr lang="en-US"/>
              <a:t>Click to edit Master title style</a:t>
            </a:r>
          </a:p>
        </p:txBody>
      </p:sp>
      <p:sp>
        <p:nvSpPr>
          <p:cNvPr id="3" name="Subtitle 2"/>
          <p:cNvSpPr>
            <a:spLocks noGrp="1"/>
          </p:cNvSpPr>
          <p:nvPr>
            <p:ph type="subTitle" idx="1"/>
          </p:nvPr>
        </p:nvSpPr>
        <p:spPr>
          <a:xfrm>
            <a:off x="4125006" y="3602038"/>
            <a:ext cx="7263935" cy="1655762"/>
          </a:xfrm>
        </p:spPr>
        <p:txBody>
          <a:bodyPr/>
          <a:lstStyle>
            <a:lvl1pPr marL="0" indent="0" algn="l">
              <a:lnSpc>
                <a:spcPct val="100000"/>
              </a:lnSpc>
              <a:buNone/>
              <a:defRPr sz="2400">
                <a:solidFill>
                  <a:schemeClr val="accent3"/>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grpSp>
        <p:nvGrpSpPr>
          <p:cNvPr id="7" name="Group 6">
            <a:extLst>
              <a:ext uri="{FF2B5EF4-FFF2-40B4-BE49-F238E27FC236}">
                <a16:creationId xmlns:a16="http://schemas.microsoft.com/office/drawing/2014/main" id="{6DC60F1E-E48C-467D-94CA-0BA8E30F8A39}"/>
              </a:ext>
            </a:extLst>
          </p:cNvPr>
          <p:cNvGrpSpPr/>
          <p:nvPr userDrawn="1"/>
        </p:nvGrpSpPr>
        <p:grpSpPr>
          <a:xfrm>
            <a:off x="10090351" y="547295"/>
            <a:ext cx="1554197" cy="330567"/>
            <a:chOff x="7353301" y="-1897063"/>
            <a:chExt cx="5749290" cy="1225867"/>
          </a:xfrm>
        </p:grpSpPr>
        <p:sp>
          <p:nvSpPr>
            <p:cNvPr id="8" name="Freeform: Shape 7">
              <a:extLst>
                <a:ext uri="{FF2B5EF4-FFF2-40B4-BE49-F238E27FC236}">
                  <a16:creationId xmlns:a16="http://schemas.microsoft.com/office/drawing/2014/main" id="{534EF251-2F00-499F-95F8-BA86441D1355}"/>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B5896159-2C65-4206-B4BA-AD03FEC82FEA}"/>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0E514DB2-0A0B-4734-9800-E3961DF21E00}"/>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3831C1C1-EC71-4524-AF28-E220FEBEB8FA}"/>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12A9F166-6D5F-4F93-87BC-9DBDBBB56C4A}"/>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pic>
        <p:nvPicPr>
          <p:cNvPr id="13" name="Picture 12" descr="A picture containing device, fan, web&#10;&#10;Description automatically generated">
            <a:extLst>
              <a:ext uri="{FF2B5EF4-FFF2-40B4-BE49-F238E27FC236}">
                <a16:creationId xmlns:a16="http://schemas.microsoft.com/office/drawing/2014/main" id="{3B0F8754-6345-4046-9C1F-DB752BA0D9CB}"/>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1" y="-12699"/>
            <a:ext cx="3434957" cy="6883398"/>
          </a:xfrm>
          <a:prstGeom prst="rect">
            <a:avLst/>
          </a:prstGeom>
        </p:spPr>
      </p:pic>
    </p:spTree>
    <p:extLst>
      <p:ext uri="{BB962C8B-B14F-4D97-AF65-F5344CB8AC3E}">
        <p14:creationId xmlns:p14="http://schemas.microsoft.com/office/powerpoint/2010/main" val="8616027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ypography Title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3" y="1122366"/>
            <a:ext cx="6827265" cy="2576513"/>
          </a:xfrm>
        </p:spPr>
        <p:txBody>
          <a:bodyPr rIns="0" anchor="b"/>
          <a:lstStyle>
            <a:lvl1pPr algn="r">
              <a:defRPr sz="5996">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3" y="3698876"/>
            <a:ext cx="6827265" cy="1558924"/>
          </a:xfrm>
        </p:spPr>
        <p:txBody>
          <a:bodyPr/>
          <a:lstStyle>
            <a:lvl1pPr marL="0" indent="0" algn="r">
              <a:lnSpc>
                <a:spcPct val="100000"/>
              </a:lnSpc>
              <a:buNone/>
              <a:defRPr sz="2400">
                <a:solidFill>
                  <a:schemeClr val="accent1"/>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6"/>
            <a:ext cx="4158426" cy="4135437"/>
          </a:xfrm>
        </p:spPr>
        <p:txBody>
          <a:bodyPr rIns="0" anchor="ctr"/>
          <a:lstStyle>
            <a:lvl1pPr marL="0" indent="0" algn="l">
              <a:buNone/>
              <a:defRPr>
                <a:solidFill>
                  <a:schemeClr val="accent3"/>
                </a:solidFill>
                <a:latin typeface="+mj-lt"/>
              </a:defRPr>
            </a:lvl1pPr>
            <a:lvl2pPr marL="455883" indent="0">
              <a:buNone/>
              <a:defRPr/>
            </a:lvl2pPr>
            <a:lvl3pPr marL="911764" indent="0">
              <a:buNone/>
              <a:defRPr/>
            </a:lvl3pPr>
            <a:lvl4pPr marL="1367646" indent="0">
              <a:buNone/>
              <a:defRPr/>
            </a:lvl4pPr>
            <a:lvl5pPr marL="182352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1"/>
            <a:ext cx="0" cy="36210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8783A4E-B35D-4CCD-8C43-468408556000}"/>
              </a:ext>
            </a:extLst>
          </p:cNvPr>
          <p:cNvGrpSpPr/>
          <p:nvPr userDrawn="1"/>
        </p:nvGrpSpPr>
        <p:grpSpPr>
          <a:xfrm>
            <a:off x="553823" y="547295"/>
            <a:ext cx="1554197" cy="330567"/>
            <a:chOff x="7353301" y="-1897063"/>
            <a:chExt cx="5749290" cy="1225867"/>
          </a:xfrm>
        </p:grpSpPr>
        <p:sp>
          <p:nvSpPr>
            <p:cNvPr id="14" name="Freeform: Shape 13">
              <a:extLst>
                <a:ext uri="{FF2B5EF4-FFF2-40B4-BE49-F238E27FC236}">
                  <a16:creationId xmlns:a16="http://schemas.microsoft.com/office/drawing/2014/main" id="{B3E1E658-63AA-4B90-9FAE-C2A0667908E7}"/>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79D8DE20-1A41-4F32-A2F7-D6BD777AD318}"/>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5FA3E4C6-6EB9-4031-8A5E-9AB5F258FD63}"/>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C814088-BEA7-4D58-BEA6-545A939CB1F2}"/>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0FCD5A5B-9703-4A12-A4FA-54B47108EFD1}"/>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84310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ypography Title Whit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3" y="1122366"/>
            <a:ext cx="6827265" cy="2576513"/>
          </a:xfrm>
        </p:spPr>
        <p:txBody>
          <a:bodyPr rIns="0" anchor="b"/>
          <a:lstStyle>
            <a:lvl1pPr algn="r">
              <a:defRPr sz="5996">
                <a:solidFill>
                  <a:schemeClr val="tx1"/>
                </a:solidFill>
              </a:defRPr>
            </a:lvl1pPr>
          </a:lstStyle>
          <a:p>
            <a:r>
              <a:rPr lang="en-US"/>
              <a:t>Click to edit Master title style</a:t>
            </a:r>
          </a:p>
        </p:txBody>
      </p:sp>
      <p:sp>
        <p:nvSpPr>
          <p:cNvPr id="3" name="Subtitle 2"/>
          <p:cNvSpPr>
            <a:spLocks noGrp="1"/>
          </p:cNvSpPr>
          <p:nvPr>
            <p:ph type="subTitle" idx="1"/>
          </p:nvPr>
        </p:nvSpPr>
        <p:spPr>
          <a:xfrm>
            <a:off x="553823" y="3698876"/>
            <a:ext cx="6827265" cy="1558924"/>
          </a:xfrm>
        </p:spPr>
        <p:txBody>
          <a:bodyPr/>
          <a:lstStyle>
            <a:lvl1pPr marL="0" indent="0" algn="r">
              <a:lnSpc>
                <a:spcPct val="100000"/>
              </a:lnSpc>
              <a:buNone/>
              <a:defRPr sz="2394">
                <a:solidFill>
                  <a:schemeClr val="accent1"/>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6"/>
            <a:ext cx="4158426" cy="4135437"/>
          </a:xfrm>
        </p:spPr>
        <p:txBody>
          <a:bodyPr rIns="0" anchor="ctr"/>
          <a:lstStyle>
            <a:lvl1pPr marL="0" indent="0" algn="l">
              <a:buNone/>
              <a:defRPr>
                <a:solidFill>
                  <a:schemeClr val="accent3"/>
                </a:solidFill>
                <a:latin typeface="+mj-lt"/>
              </a:defRPr>
            </a:lvl1pPr>
            <a:lvl2pPr marL="455883" indent="0">
              <a:buNone/>
              <a:defRPr/>
            </a:lvl2pPr>
            <a:lvl3pPr marL="911764" indent="0">
              <a:buNone/>
              <a:defRPr/>
            </a:lvl3pPr>
            <a:lvl4pPr marL="1367646" indent="0">
              <a:buNone/>
              <a:defRPr/>
            </a:lvl4pPr>
            <a:lvl5pPr marL="182352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1"/>
            <a:ext cx="0" cy="36210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85FEDB6-AE1B-4A26-A3DA-CCF9A9D4731D}"/>
              </a:ext>
            </a:extLst>
          </p:cNvPr>
          <p:cNvGrpSpPr/>
          <p:nvPr userDrawn="1"/>
        </p:nvGrpSpPr>
        <p:grpSpPr>
          <a:xfrm>
            <a:off x="553823" y="547295"/>
            <a:ext cx="1554197" cy="330567"/>
            <a:chOff x="7353301" y="-1897063"/>
            <a:chExt cx="5749290" cy="1225867"/>
          </a:xfrm>
        </p:grpSpPr>
        <p:sp>
          <p:nvSpPr>
            <p:cNvPr id="10" name="Freeform: Shape 9">
              <a:extLst>
                <a:ext uri="{FF2B5EF4-FFF2-40B4-BE49-F238E27FC236}">
                  <a16:creationId xmlns:a16="http://schemas.microsoft.com/office/drawing/2014/main" id="{009D12FA-0F93-4FF8-AB34-E1592DCD290E}"/>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rgbClr val="737373"/>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FFEAC267-163C-4DCC-8381-D0CAC8DEC502}"/>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10C74F8-8AA7-4335-B883-92AC821E5BC6}"/>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10F6CD7D-FED7-4E94-B613-8858CD9EF9D5}"/>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84D0F63C-34B6-4893-AC74-41986002A339}"/>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12776259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2_IOT dark Title-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0" y="1122363"/>
            <a:ext cx="5538818" cy="2387600"/>
          </a:xfrm>
        </p:spPr>
        <p:txBody>
          <a:bodyPr rIns="0" anchor="b"/>
          <a:lstStyle>
            <a:lvl1pPr algn="l">
              <a:defRPr sz="4800">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0" y="3602038"/>
            <a:ext cx="5538818" cy="1655762"/>
          </a:xfrm>
        </p:spPr>
        <p:txBody>
          <a:bodyPr/>
          <a:lstStyle>
            <a:lvl1pPr marL="0" indent="0" algn="l">
              <a:lnSpc>
                <a:spcPct val="100000"/>
              </a:lnSpc>
              <a:buNone/>
              <a:defRPr sz="2400">
                <a:solidFill>
                  <a:schemeClr val="accent3"/>
                </a:solidFill>
              </a:defRPr>
            </a:lvl1pPr>
            <a:lvl2pPr marL="455970" indent="0" algn="ctr">
              <a:buNone/>
              <a:defRPr sz="1995"/>
            </a:lvl2pPr>
            <a:lvl3pPr marL="911939" indent="0" algn="ctr">
              <a:buNone/>
              <a:defRPr sz="1795"/>
            </a:lvl3pPr>
            <a:lvl4pPr marL="1367909" indent="0" algn="ctr">
              <a:buNone/>
              <a:defRPr sz="1596"/>
            </a:lvl4pPr>
            <a:lvl5pPr marL="1823878" indent="0" algn="ctr">
              <a:buNone/>
              <a:defRPr sz="1596"/>
            </a:lvl5pPr>
            <a:lvl6pPr marL="2279847" indent="0" algn="ctr">
              <a:buNone/>
              <a:defRPr sz="1596"/>
            </a:lvl6pPr>
            <a:lvl7pPr marL="2735816" indent="0" algn="ctr">
              <a:buNone/>
              <a:defRPr sz="1596"/>
            </a:lvl7pPr>
            <a:lvl8pPr marL="3191786" indent="0" algn="ctr">
              <a:buNone/>
              <a:defRPr sz="1596"/>
            </a:lvl8pPr>
            <a:lvl9pPr marL="3647755" indent="0" algn="ctr">
              <a:buNone/>
              <a:defRPr sz="1596"/>
            </a:lvl9pPr>
          </a:lstStyle>
          <a:p>
            <a:r>
              <a:rPr lang="en-US"/>
              <a:t>Click to edit Master subtitle style</a:t>
            </a:r>
          </a:p>
        </p:txBody>
      </p:sp>
      <p:grpSp>
        <p:nvGrpSpPr>
          <p:cNvPr id="7" name="Group 6">
            <a:extLst>
              <a:ext uri="{FF2B5EF4-FFF2-40B4-BE49-F238E27FC236}">
                <a16:creationId xmlns:a16="http://schemas.microsoft.com/office/drawing/2014/main" id="{6DC60F1E-E48C-467D-94CA-0BA8E30F8A39}"/>
              </a:ext>
            </a:extLst>
          </p:cNvPr>
          <p:cNvGrpSpPr/>
          <p:nvPr userDrawn="1"/>
        </p:nvGrpSpPr>
        <p:grpSpPr>
          <a:xfrm>
            <a:off x="553822" y="547294"/>
            <a:ext cx="1554197" cy="330567"/>
            <a:chOff x="7353301" y="-1897063"/>
            <a:chExt cx="5749290" cy="1225867"/>
          </a:xfrm>
        </p:grpSpPr>
        <p:sp>
          <p:nvSpPr>
            <p:cNvPr id="8" name="Freeform: Shape 7">
              <a:extLst>
                <a:ext uri="{FF2B5EF4-FFF2-40B4-BE49-F238E27FC236}">
                  <a16:creationId xmlns:a16="http://schemas.microsoft.com/office/drawing/2014/main" id="{534EF251-2F00-499F-95F8-BA86441D1355}"/>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B5896159-2C65-4206-B4BA-AD03FEC82FEA}"/>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0E514DB2-0A0B-4734-9800-E3961DF21E00}"/>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3831C1C1-EC71-4524-AF28-E220FEBEB8FA}"/>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12A9F166-6D5F-4F93-87BC-9DBDBBB56C4A}"/>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pic>
        <p:nvPicPr>
          <p:cNvPr id="13" name="Picture 12" descr="A picture containing device, fan, web&#10;&#10;Description automatically generated">
            <a:extLst>
              <a:ext uri="{FF2B5EF4-FFF2-40B4-BE49-F238E27FC236}">
                <a16:creationId xmlns:a16="http://schemas.microsoft.com/office/drawing/2014/main" id="{3B0F8754-6345-4046-9C1F-DB752BA0D9CB}"/>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099363" y="663268"/>
            <a:ext cx="5545182" cy="5531464"/>
          </a:xfrm>
          <a:prstGeom prst="rect">
            <a:avLst/>
          </a:prstGeom>
        </p:spPr>
      </p:pic>
    </p:spTree>
    <p:extLst>
      <p:ext uri="{BB962C8B-B14F-4D97-AF65-F5344CB8AC3E}">
        <p14:creationId xmlns:p14="http://schemas.microsoft.com/office/powerpoint/2010/main" val="23044094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3_IOT dark Title-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0" y="1122363"/>
            <a:ext cx="5538818" cy="2387600"/>
          </a:xfrm>
        </p:spPr>
        <p:txBody>
          <a:bodyPr rIns="0" anchor="b"/>
          <a:lstStyle>
            <a:lvl1pPr algn="l">
              <a:defRPr sz="4800">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0" y="3602038"/>
            <a:ext cx="5538818" cy="1655762"/>
          </a:xfrm>
        </p:spPr>
        <p:txBody>
          <a:bodyPr/>
          <a:lstStyle>
            <a:lvl1pPr marL="0" indent="0" algn="l">
              <a:lnSpc>
                <a:spcPct val="100000"/>
              </a:lnSpc>
              <a:buNone/>
              <a:defRPr sz="2400">
                <a:solidFill>
                  <a:schemeClr val="accent3"/>
                </a:solidFill>
              </a:defRPr>
            </a:lvl1pPr>
            <a:lvl2pPr marL="455970" indent="0" algn="ctr">
              <a:buNone/>
              <a:defRPr sz="1995"/>
            </a:lvl2pPr>
            <a:lvl3pPr marL="911939" indent="0" algn="ctr">
              <a:buNone/>
              <a:defRPr sz="1795"/>
            </a:lvl3pPr>
            <a:lvl4pPr marL="1367909" indent="0" algn="ctr">
              <a:buNone/>
              <a:defRPr sz="1596"/>
            </a:lvl4pPr>
            <a:lvl5pPr marL="1823878" indent="0" algn="ctr">
              <a:buNone/>
              <a:defRPr sz="1596"/>
            </a:lvl5pPr>
            <a:lvl6pPr marL="2279847" indent="0" algn="ctr">
              <a:buNone/>
              <a:defRPr sz="1596"/>
            </a:lvl6pPr>
            <a:lvl7pPr marL="2735816" indent="0" algn="ctr">
              <a:buNone/>
              <a:defRPr sz="1596"/>
            </a:lvl7pPr>
            <a:lvl8pPr marL="3191786" indent="0" algn="ctr">
              <a:buNone/>
              <a:defRPr sz="1596"/>
            </a:lvl8pPr>
            <a:lvl9pPr marL="3647755" indent="0" algn="ctr">
              <a:buNone/>
              <a:defRPr sz="1596"/>
            </a:lvl9pPr>
          </a:lstStyle>
          <a:p>
            <a:r>
              <a:rPr lang="en-US"/>
              <a:t>Click to edit Master subtitle style</a:t>
            </a:r>
          </a:p>
        </p:txBody>
      </p:sp>
    </p:spTree>
    <p:extLst>
      <p:ext uri="{BB962C8B-B14F-4D97-AF65-F5344CB8AC3E}">
        <p14:creationId xmlns:p14="http://schemas.microsoft.com/office/powerpoint/2010/main" val="399235265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1_IOT dark Title-3">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125006" y="1122363"/>
            <a:ext cx="7263935" cy="2387600"/>
          </a:xfrm>
        </p:spPr>
        <p:txBody>
          <a:bodyPr rIns="0" anchor="b"/>
          <a:lstStyle>
            <a:lvl1pPr algn="l">
              <a:defRPr sz="4800">
                <a:solidFill>
                  <a:schemeClr val="tx2"/>
                </a:solidFill>
              </a:defRPr>
            </a:lvl1pPr>
          </a:lstStyle>
          <a:p>
            <a:r>
              <a:rPr lang="en-US"/>
              <a:t>Click to edit Master title style</a:t>
            </a:r>
          </a:p>
        </p:txBody>
      </p:sp>
      <p:sp>
        <p:nvSpPr>
          <p:cNvPr id="3" name="Subtitle 2"/>
          <p:cNvSpPr>
            <a:spLocks noGrp="1"/>
          </p:cNvSpPr>
          <p:nvPr>
            <p:ph type="subTitle" idx="1"/>
          </p:nvPr>
        </p:nvSpPr>
        <p:spPr>
          <a:xfrm>
            <a:off x="4125006" y="3602038"/>
            <a:ext cx="7263935" cy="1655762"/>
          </a:xfrm>
        </p:spPr>
        <p:txBody>
          <a:bodyPr/>
          <a:lstStyle>
            <a:lvl1pPr marL="0" indent="0" algn="l">
              <a:lnSpc>
                <a:spcPct val="100000"/>
              </a:lnSpc>
              <a:buNone/>
              <a:defRPr sz="2400">
                <a:solidFill>
                  <a:schemeClr val="accent3"/>
                </a:solidFill>
              </a:defRPr>
            </a:lvl1pPr>
            <a:lvl2pPr marL="455970" indent="0" algn="ctr">
              <a:buNone/>
              <a:defRPr sz="1995"/>
            </a:lvl2pPr>
            <a:lvl3pPr marL="911939" indent="0" algn="ctr">
              <a:buNone/>
              <a:defRPr sz="1795"/>
            </a:lvl3pPr>
            <a:lvl4pPr marL="1367909" indent="0" algn="ctr">
              <a:buNone/>
              <a:defRPr sz="1596"/>
            </a:lvl4pPr>
            <a:lvl5pPr marL="1823878" indent="0" algn="ctr">
              <a:buNone/>
              <a:defRPr sz="1596"/>
            </a:lvl5pPr>
            <a:lvl6pPr marL="2279847" indent="0" algn="ctr">
              <a:buNone/>
              <a:defRPr sz="1596"/>
            </a:lvl6pPr>
            <a:lvl7pPr marL="2735816" indent="0" algn="ctr">
              <a:buNone/>
              <a:defRPr sz="1596"/>
            </a:lvl7pPr>
            <a:lvl8pPr marL="3191786" indent="0" algn="ctr">
              <a:buNone/>
              <a:defRPr sz="1596"/>
            </a:lvl8pPr>
            <a:lvl9pPr marL="3647755" indent="0" algn="ctr">
              <a:buNone/>
              <a:defRPr sz="1596"/>
            </a:lvl9pPr>
          </a:lstStyle>
          <a:p>
            <a:r>
              <a:rPr lang="en-US"/>
              <a:t>Click to edit Master subtitle style</a:t>
            </a:r>
          </a:p>
        </p:txBody>
      </p:sp>
      <p:grpSp>
        <p:nvGrpSpPr>
          <p:cNvPr id="7" name="Group 6">
            <a:extLst>
              <a:ext uri="{FF2B5EF4-FFF2-40B4-BE49-F238E27FC236}">
                <a16:creationId xmlns:a16="http://schemas.microsoft.com/office/drawing/2014/main" id="{6DC60F1E-E48C-467D-94CA-0BA8E30F8A39}"/>
              </a:ext>
            </a:extLst>
          </p:cNvPr>
          <p:cNvGrpSpPr/>
          <p:nvPr userDrawn="1"/>
        </p:nvGrpSpPr>
        <p:grpSpPr>
          <a:xfrm>
            <a:off x="10090350" y="547294"/>
            <a:ext cx="1554197" cy="330567"/>
            <a:chOff x="7353301" y="-1897063"/>
            <a:chExt cx="5749290" cy="1225867"/>
          </a:xfrm>
        </p:grpSpPr>
        <p:sp>
          <p:nvSpPr>
            <p:cNvPr id="8" name="Freeform: Shape 7">
              <a:extLst>
                <a:ext uri="{FF2B5EF4-FFF2-40B4-BE49-F238E27FC236}">
                  <a16:creationId xmlns:a16="http://schemas.microsoft.com/office/drawing/2014/main" id="{534EF251-2F00-499F-95F8-BA86441D1355}"/>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B5896159-2C65-4206-B4BA-AD03FEC82FEA}"/>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0E514DB2-0A0B-4734-9800-E3961DF21E00}"/>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3831C1C1-EC71-4524-AF28-E220FEBEB8FA}"/>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12A9F166-6D5F-4F93-87BC-9DBDBBB56C4A}"/>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pic>
        <p:nvPicPr>
          <p:cNvPr id="13" name="Picture 12" descr="A picture containing device, fan, web&#10;&#10;Description automatically generated">
            <a:extLst>
              <a:ext uri="{FF2B5EF4-FFF2-40B4-BE49-F238E27FC236}">
                <a16:creationId xmlns:a16="http://schemas.microsoft.com/office/drawing/2014/main" id="{3B0F8754-6345-4046-9C1F-DB752BA0D9CB}"/>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0" y="-12699"/>
            <a:ext cx="3434957" cy="6883398"/>
          </a:xfrm>
          <a:prstGeom prst="rect">
            <a:avLst/>
          </a:prstGeom>
        </p:spPr>
      </p:pic>
    </p:spTree>
    <p:extLst>
      <p:ext uri="{BB962C8B-B14F-4D97-AF65-F5344CB8AC3E}">
        <p14:creationId xmlns:p14="http://schemas.microsoft.com/office/powerpoint/2010/main" val="288598679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ypography Title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2" y="1122365"/>
            <a:ext cx="6827265" cy="2576513"/>
          </a:xfrm>
        </p:spPr>
        <p:txBody>
          <a:bodyPr rIns="0" anchor="b"/>
          <a:lstStyle>
            <a:lvl1pPr algn="r">
              <a:defRPr sz="5998">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2" y="3698876"/>
            <a:ext cx="6827265" cy="1558924"/>
          </a:xfrm>
        </p:spPr>
        <p:txBody>
          <a:bodyPr/>
          <a:lstStyle>
            <a:lvl1pPr marL="0" indent="0" algn="r">
              <a:lnSpc>
                <a:spcPct val="100000"/>
              </a:lnSpc>
              <a:buNone/>
              <a:defRPr sz="2400">
                <a:solidFill>
                  <a:schemeClr val="accent1"/>
                </a:solidFill>
              </a:defRPr>
            </a:lvl1pPr>
            <a:lvl2pPr marL="455970" indent="0" algn="ctr">
              <a:buNone/>
              <a:defRPr sz="1995"/>
            </a:lvl2pPr>
            <a:lvl3pPr marL="911939" indent="0" algn="ctr">
              <a:buNone/>
              <a:defRPr sz="1795"/>
            </a:lvl3pPr>
            <a:lvl4pPr marL="1367909" indent="0" algn="ctr">
              <a:buNone/>
              <a:defRPr sz="1596"/>
            </a:lvl4pPr>
            <a:lvl5pPr marL="1823878" indent="0" algn="ctr">
              <a:buNone/>
              <a:defRPr sz="1596"/>
            </a:lvl5pPr>
            <a:lvl6pPr marL="2279847" indent="0" algn="ctr">
              <a:buNone/>
              <a:defRPr sz="1596"/>
            </a:lvl6pPr>
            <a:lvl7pPr marL="2735816" indent="0" algn="ctr">
              <a:buNone/>
              <a:defRPr sz="1596"/>
            </a:lvl7pPr>
            <a:lvl8pPr marL="3191786" indent="0" algn="ctr">
              <a:buNone/>
              <a:defRPr sz="1596"/>
            </a:lvl8pPr>
            <a:lvl9pPr marL="3647755"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5"/>
            <a:ext cx="4158426" cy="4135437"/>
          </a:xfrm>
        </p:spPr>
        <p:txBody>
          <a:bodyPr rIns="0" anchor="ctr"/>
          <a:lstStyle>
            <a:lvl1pPr marL="0" indent="0" algn="l">
              <a:buNone/>
              <a:defRPr>
                <a:solidFill>
                  <a:schemeClr val="accent3"/>
                </a:solidFill>
                <a:latin typeface="+mj-lt"/>
              </a:defRPr>
            </a:lvl1pPr>
            <a:lvl2pPr marL="455970" indent="0">
              <a:buNone/>
              <a:defRPr/>
            </a:lvl2pPr>
            <a:lvl3pPr marL="911939" indent="0">
              <a:buNone/>
              <a:defRPr/>
            </a:lvl3pPr>
            <a:lvl4pPr marL="1367909" indent="0">
              <a:buNone/>
              <a:defRPr/>
            </a:lvl4pPr>
            <a:lvl5pPr marL="182387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0"/>
            <a:ext cx="0" cy="36210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8783A4E-B35D-4CCD-8C43-468408556000}"/>
              </a:ext>
            </a:extLst>
          </p:cNvPr>
          <p:cNvGrpSpPr/>
          <p:nvPr userDrawn="1"/>
        </p:nvGrpSpPr>
        <p:grpSpPr>
          <a:xfrm>
            <a:off x="553822" y="547294"/>
            <a:ext cx="1554197" cy="330567"/>
            <a:chOff x="7353301" y="-1897063"/>
            <a:chExt cx="5749290" cy="1225867"/>
          </a:xfrm>
        </p:grpSpPr>
        <p:sp>
          <p:nvSpPr>
            <p:cNvPr id="14" name="Freeform: Shape 13">
              <a:extLst>
                <a:ext uri="{FF2B5EF4-FFF2-40B4-BE49-F238E27FC236}">
                  <a16:creationId xmlns:a16="http://schemas.microsoft.com/office/drawing/2014/main" id="{B3E1E658-63AA-4B90-9FAE-C2A0667908E7}"/>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79D8DE20-1A41-4F32-A2F7-D6BD777AD318}"/>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5FA3E4C6-6EB9-4031-8A5E-9AB5F258FD63}"/>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C814088-BEA7-4D58-BEA6-545A939CB1F2}"/>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0FCD5A5B-9703-4A12-A4FA-54B47108EFD1}"/>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6847427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ypography Title Whit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2" y="1122365"/>
            <a:ext cx="6827265" cy="2576513"/>
          </a:xfrm>
        </p:spPr>
        <p:txBody>
          <a:bodyPr rIns="0" anchor="b"/>
          <a:lstStyle>
            <a:lvl1pPr algn="r">
              <a:defRPr sz="5998">
                <a:solidFill>
                  <a:schemeClr val="tx1"/>
                </a:solidFill>
              </a:defRPr>
            </a:lvl1pPr>
          </a:lstStyle>
          <a:p>
            <a:r>
              <a:rPr lang="en-US"/>
              <a:t>Click to edit Master title style</a:t>
            </a:r>
          </a:p>
        </p:txBody>
      </p:sp>
      <p:sp>
        <p:nvSpPr>
          <p:cNvPr id="3" name="Subtitle 2"/>
          <p:cNvSpPr>
            <a:spLocks noGrp="1"/>
          </p:cNvSpPr>
          <p:nvPr>
            <p:ph type="subTitle" idx="1"/>
          </p:nvPr>
        </p:nvSpPr>
        <p:spPr>
          <a:xfrm>
            <a:off x="553822" y="3698876"/>
            <a:ext cx="6827265" cy="1558924"/>
          </a:xfrm>
        </p:spPr>
        <p:txBody>
          <a:bodyPr/>
          <a:lstStyle>
            <a:lvl1pPr marL="0" indent="0" algn="r">
              <a:lnSpc>
                <a:spcPct val="100000"/>
              </a:lnSpc>
              <a:buNone/>
              <a:defRPr sz="2394">
                <a:solidFill>
                  <a:schemeClr val="accent1"/>
                </a:solidFill>
              </a:defRPr>
            </a:lvl1pPr>
            <a:lvl2pPr marL="455970" indent="0" algn="ctr">
              <a:buNone/>
              <a:defRPr sz="1995"/>
            </a:lvl2pPr>
            <a:lvl3pPr marL="911939" indent="0" algn="ctr">
              <a:buNone/>
              <a:defRPr sz="1795"/>
            </a:lvl3pPr>
            <a:lvl4pPr marL="1367909" indent="0" algn="ctr">
              <a:buNone/>
              <a:defRPr sz="1596"/>
            </a:lvl4pPr>
            <a:lvl5pPr marL="1823878" indent="0" algn="ctr">
              <a:buNone/>
              <a:defRPr sz="1596"/>
            </a:lvl5pPr>
            <a:lvl6pPr marL="2279847" indent="0" algn="ctr">
              <a:buNone/>
              <a:defRPr sz="1596"/>
            </a:lvl6pPr>
            <a:lvl7pPr marL="2735816" indent="0" algn="ctr">
              <a:buNone/>
              <a:defRPr sz="1596"/>
            </a:lvl7pPr>
            <a:lvl8pPr marL="3191786" indent="0" algn="ctr">
              <a:buNone/>
              <a:defRPr sz="1596"/>
            </a:lvl8pPr>
            <a:lvl9pPr marL="3647755"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5"/>
            <a:ext cx="4158426" cy="4135437"/>
          </a:xfrm>
        </p:spPr>
        <p:txBody>
          <a:bodyPr rIns="0" anchor="ctr"/>
          <a:lstStyle>
            <a:lvl1pPr marL="0" indent="0" algn="l">
              <a:buNone/>
              <a:defRPr>
                <a:solidFill>
                  <a:schemeClr val="accent3"/>
                </a:solidFill>
                <a:latin typeface="+mj-lt"/>
              </a:defRPr>
            </a:lvl1pPr>
            <a:lvl2pPr marL="455970" indent="0">
              <a:buNone/>
              <a:defRPr/>
            </a:lvl2pPr>
            <a:lvl3pPr marL="911939" indent="0">
              <a:buNone/>
              <a:defRPr/>
            </a:lvl3pPr>
            <a:lvl4pPr marL="1367909" indent="0">
              <a:buNone/>
              <a:defRPr/>
            </a:lvl4pPr>
            <a:lvl5pPr marL="182387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0"/>
            <a:ext cx="0" cy="36210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85FEDB6-AE1B-4A26-A3DA-CCF9A9D4731D}"/>
              </a:ext>
            </a:extLst>
          </p:cNvPr>
          <p:cNvGrpSpPr/>
          <p:nvPr userDrawn="1"/>
        </p:nvGrpSpPr>
        <p:grpSpPr>
          <a:xfrm>
            <a:off x="553822" y="547294"/>
            <a:ext cx="1554197" cy="330567"/>
            <a:chOff x="7353301" y="-1897063"/>
            <a:chExt cx="5749290" cy="1225867"/>
          </a:xfrm>
        </p:grpSpPr>
        <p:sp>
          <p:nvSpPr>
            <p:cNvPr id="10" name="Freeform: Shape 9">
              <a:extLst>
                <a:ext uri="{FF2B5EF4-FFF2-40B4-BE49-F238E27FC236}">
                  <a16:creationId xmlns:a16="http://schemas.microsoft.com/office/drawing/2014/main" id="{009D12FA-0F93-4FF8-AB34-E1592DCD290E}"/>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rgbClr val="737373"/>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FFEAC267-163C-4DCC-8381-D0CAC8DEC502}"/>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10C74F8-8AA7-4335-B883-92AC821E5BC6}"/>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10F6CD7D-FED7-4E94-B613-8858CD9EF9D5}"/>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84D0F63C-34B6-4893-AC74-41986002A339}"/>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6987721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8"/>
            <a:ext cx="11081177" cy="1020601"/>
          </a:xfrm>
        </p:spPr>
        <p:txBody>
          <a:bodyPr anchor="t"/>
          <a:lstStyle/>
          <a:p>
            <a:r>
              <a:rPr lang="en-US"/>
              <a:t>Click to edit Master title style</a:t>
            </a:r>
          </a:p>
        </p:txBody>
      </p:sp>
      <p:sp>
        <p:nvSpPr>
          <p:cNvPr id="3" name="Content Placeholder 2"/>
          <p:cNvSpPr>
            <a:spLocks noGrp="1"/>
          </p:cNvSpPr>
          <p:nvPr>
            <p:ph idx="1"/>
          </p:nvPr>
        </p:nvSpPr>
        <p:spPr>
          <a:xfrm>
            <a:off x="563369" y="1620572"/>
            <a:ext cx="11081177" cy="4689743"/>
          </a:xfrm>
        </p:spPr>
        <p:txBody>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IN"/>
              <a:t>Microsoft Confidential</a:t>
            </a:r>
          </a:p>
        </p:txBody>
      </p:sp>
      <p:sp>
        <p:nvSpPr>
          <p:cNvPr id="6" name="Slide Number Placeholder 5"/>
          <p:cNvSpPr>
            <a:spLocks noGrp="1"/>
          </p:cNvSpPr>
          <p:nvPr>
            <p:ph type="sldNum" sz="quarter" idx="12"/>
          </p:nvPr>
        </p:nvSpPr>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21967572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IN"/>
              <a:t>Microsoft Confidential</a:t>
            </a:r>
          </a:p>
        </p:txBody>
      </p:sp>
      <p:sp>
        <p:nvSpPr>
          <p:cNvPr id="6" name="Text Placeholder 5">
            <a:extLst>
              <a:ext uri="{FF2B5EF4-FFF2-40B4-BE49-F238E27FC236}">
                <a16:creationId xmlns:a16="http://schemas.microsoft.com/office/drawing/2014/main" id="{90511ECA-E42E-4E41-86BD-D4D827D05FA1}"/>
              </a:ext>
            </a:extLst>
          </p:cNvPr>
          <p:cNvSpPr>
            <a:spLocks noGrp="1"/>
          </p:cNvSpPr>
          <p:nvPr>
            <p:ph type="body" sz="quarter" idx="13" hasCustomPrompt="1"/>
          </p:nvPr>
        </p:nvSpPr>
        <p:spPr>
          <a:xfrm>
            <a:off x="563369" y="1222805"/>
            <a:ext cx="11081177" cy="457200"/>
          </a:xfrm>
        </p:spPr>
        <p:txBody>
          <a:bodyPr anchor="ctr"/>
          <a:lstStyle>
            <a:lvl1pPr marL="0" indent="0">
              <a:buNone/>
              <a:defRPr sz="2200">
                <a:latin typeface="+mj-lt"/>
              </a:defRPr>
            </a:lvl1pPr>
          </a:lstStyle>
          <a:p>
            <a:pPr lvl="0"/>
            <a:r>
              <a:rPr lang="en-US"/>
              <a:t>Subheading</a:t>
            </a:r>
          </a:p>
        </p:txBody>
      </p:sp>
      <p:sp>
        <p:nvSpPr>
          <p:cNvPr id="7" name="Slide Number Placeholder 5">
            <a:extLst>
              <a:ext uri="{FF2B5EF4-FFF2-40B4-BE49-F238E27FC236}">
                <a16:creationId xmlns:a16="http://schemas.microsoft.com/office/drawing/2014/main" id="{3668EBDF-6910-4128-87F9-14E83FC783AF}"/>
              </a:ext>
            </a:extLst>
          </p:cNvPr>
          <p:cNvSpPr>
            <a:spLocks noGrp="1"/>
          </p:cNvSpPr>
          <p:nvPr>
            <p:ph type="sldNum" sz="quarter" idx="12"/>
          </p:nvPr>
        </p:nvSpPr>
        <p:spPr>
          <a:xfrm>
            <a:off x="11734143"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93748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F35098CE-1BC0-4F62-97B9-03F11A4C0A4C}"/>
              </a:ext>
            </a:extLst>
          </p:cNvPr>
          <p:cNvSpPr>
            <a:spLocks noGrp="1"/>
          </p:cNvSpPr>
          <p:nvPr>
            <p:ph type="sldNum" sz="quarter" idx="12"/>
          </p:nvPr>
        </p:nvSpPr>
        <p:spPr>
          <a:xfrm>
            <a:off x="11734143"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36009608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Microsoft Confidential</a:t>
            </a:r>
          </a:p>
        </p:txBody>
      </p:sp>
      <p:sp>
        <p:nvSpPr>
          <p:cNvPr id="4" name="Slide Number Placeholder 3"/>
          <p:cNvSpPr>
            <a:spLocks noGrp="1"/>
          </p:cNvSpPr>
          <p:nvPr>
            <p:ph type="sldNum" sz="quarter" idx="12"/>
          </p:nvPr>
        </p:nvSpPr>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53496512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Logo dark background">
    <p:bg>
      <p:bgPr>
        <a:solidFill>
          <a:schemeClr val="tx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B362EF1-2988-4403-A3C8-C72CA6DE0D3D}"/>
              </a:ext>
            </a:extLst>
          </p:cNvPr>
          <p:cNvGrpSpPr/>
          <p:nvPr userDrawn="1"/>
        </p:nvGrpSpPr>
        <p:grpSpPr>
          <a:xfrm>
            <a:off x="5318903" y="3263719"/>
            <a:ext cx="1554197" cy="330567"/>
            <a:chOff x="7353301" y="-1897063"/>
            <a:chExt cx="5749290" cy="1225867"/>
          </a:xfrm>
        </p:grpSpPr>
        <p:sp>
          <p:nvSpPr>
            <p:cNvPr id="8" name="Freeform: Shape 7">
              <a:extLst>
                <a:ext uri="{FF2B5EF4-FFF2-40B4-BE49-F238E27FC236}">
                  <a16:creationId xmlns:a16="http://schemas.microsoft.com/office/drawing/2014/main" id="{3FC215F4-E829-40B3-AF89-C2C169FD81BB}"/>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79168AD1-DA5A-4F02-94CF-900D978C8843}"/>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2DB99652-FA2A-4F27-B178-B1097BBF86C0}"/>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BE9F5BC5-4146-416D-8FD0-3887606F5DBA}"/>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31E88531-CD36-4398-B789-1F3C19138CCF}"/>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05221627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Logo white background">
    <p:bg>
      <p:bgPr>
        <a:solidFill>
          <a:schemeClr val="bg1"/>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1"/>
                </a:solidFill>
              </a:defRPr>
            </a:lvl1pPr>
          </a:lstStyle>
          <a:p>
            <a:r>
              <a:rPr lang="en-IN"/>
              <a:t>Microsoft Confidential</a:t>
            </a:r>
          </a:p>
        </p:txBody>
      </p:sp>
      <p:grpSp>
        <p:nvGrpSpPr>
          <p:cNvPr id="7" name="Group 6">
            <a:extLst>
              <a:ext uri="{FF2B5EF4-FFF2-40B4-BE49-F238E27FC236}">
                <a16:creationId xmlns:a16="http://schemas.microsoft.com/office/drawing/2014/main" id="{9B362EF1-2988-4403-A3C8-C72CA6DE0D3D}"/>
              </a:ext>
            </a:extLst>
          </p:cNvPr>
          <p:cNvGrpSpPr/>
          <p:nvPr userDrawn="1"/>
        </p:nvGrpSpPr>
        <p:grpSpPr>
          <a:xfrm>
            <a:off x="5318903" y="3263719"/>
            <a:ext cx="1554197" cy="330567"/>
            <a:chOff x="7353301" y="-1897063"/>
            <a:chExt cx="5749290" cy="1225867"/>
          </a:xfrm>
        </p:grpSpPr>
        <p:sp>
          <p:nvSpPr>
            <p:cNvPr id="8" name="Freeform: Shape 7">
              <a:extLst>
                <a:ext uri="{FF2B5EF4-FFF2-40B4-BE49-F238E27FC236}">
                  <a16:creationId xmlns:a16="http://schemas.microsoft.com/office/drawing/2014/main" id="{3FC215F4-E829-40B3-AF89-C2C169FD81BB}"/>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rgbClr val="737373"/>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79168AD1-DA5A-4F02-94CF-900D978C8843}"/>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2DB99652-FA2A-4F27-B178-B1097BBF86C0}"/>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BE9F5BC5-4146-416D-8FD0-3887606F5DBA}"/>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31E88531-CD36-4398-B789-1F3C19138CCF}"/>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83428680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Appendix">
    <p:bg>
      <p:bgPr>
        <a:solidFill>
          <a:schemeClr val="tx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7C5EDF-361A-4236-B112-44913FF70957}"/>
              </a:ext>
            </a:extLst>
          </p:cNvPr>
          <p:cNvSpPr>
            <a:spLocks noGrp="1"/>
          </p:cNvSpPr>
          <p:nvPr>
            <p:ph type="title"/>
          </p:nvPr>
        </p:nvSpPr>
        <p:spPr>
          <a:xfrm>
            <a:off x="563369" y="2918699"/>
            <a:ext cx="11081177" cy="1020602"/>
          </a:xfrm>
        </p:spPr>
        <p:txBody>
          <a:bodyPr anchor="ctr"/>
          <a:lstStyle>
            <a:lvl1pPr>
              <a:defRPr sz="3200">
                <a:solidFill>
                  <a:schemeClr val="accent3"/>
                </a:solidFill>
              </a:defRPr>
            </a:lvl1pPr>
          </a:lstStyle>
          <a:p>
            <a:r>
              <a:rPr lang="en-US"/>
              <a:t>Click to edit Master title style</a:t>
            </a:r>
          </a:p>
        </p:txBody>
      </p:sp>
    </p:spTree>
    <p:extLst>
      <p:ext uri="{BB962C8B-B14F-4D97-AF65-F5344CB8AC3E}">
        <p14:creationId xmlns:p14="http://schemas.microsoft.com/office/powerpoint/2010/main" val="216033545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563369" y="1506067"/>
            <a:ext cx="11081177" cy="2396047"/>
          </a:xfrm>
          <a:prstGeom prst="rect">
            <a:avLst/>
          </a:prstGeom>
        </p:spPr>
        <p:txBody>
          <a:bodyPr/>
          <a:lstStyle>
            <a:lvl1pPr marL="283968" indent="-283968">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58626" indent="-27465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2594" indent="-283968">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6045" indent="-223452">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89496" indent="-223452">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4" y="6238878"/>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16"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a:xfrm>
            <a:off x="563369" y="473236"/>
            <a:ext cx="11081177" cy="1020602"/>
          </a:xfrm>
        </p:spPr>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2715050511"/>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7" y="620430"/>
            <a:ext cx="11306469" cy="403137"/>
          </a:xfrm>
        </p:spPr>
        <p:txBody>
          <a:bodyPr wrap="square" lIns="0" tIns="0" rIns="0" bIns="0">
            <a:spAutoFit/>
          </a:bodyPr>
          <a:lstStyle>
            <a:lvl1pPr>
              <a:lnSpc>
                <a:spcPts val="3135"/>
              </a:lnSpc>
              <a:defRPr sz="2745" strike="noStrike">
                <a:solidFill>
                  <a:schemeClr val="tx1"/>
                </a:solidFill>
              </a:defRPr>
            </a:lvl1pPr>
          </a:lstStyle>
          <a:p>
            <a:r>
              <a:rPr lang="en-US"/>
              <a:t>Title</a:t>
            </a:r>
          </a:p>
        </p:txBody>
      </p:sp>
      <p:sp>
        <p:nvSpPr>
          <p:cNvPr id="5" name="Footer Placeholder 14">
            <a:extLst>
              <a:ext uri="{FF2B5EF4-FFF2-40B4-BE49-F238E27FC236}">
                <a16:creationId xmlns:a16="http://schemas.microsoft.com/office/drawing/2014/main" id="{95231FD8-80B3-7243-A07F-7383027E4426}"/>
              </a:ext>
            </a:extLst>
          </p:cNvPr>
          <p:cNvSpPr>
            <a:spLocks noGrp="1"/>
          </p:cNvSpPr>
          <p:nvPr>
            <p:ph type="ftr" sz="quarter" idx="3"/>
          </p:nvPr>
        </p:nvSpPr>
        <p:spPr>
          <a:xfrm>
            <a:off x="361840" y="6450196"/>
            <a:ext cx="11586711" cy="118296"/>
          </a:xfrm>
          <a:prstGeom prst="rect">
            <a:avLst/>
          </a:prstGeom>
        </p:spPr>
        <p:txBody>
          <a:bodyPr vert="horz" lIns="91440" tIns="45720" rIns="91440" bIns="45720" numCol="2" rtlCol="0" anchor="ctr"/>
          <a:lstStyle>
            <a:lvl1pPr algn="l">
              <a:defRPr sz="686">
                <a:solidFill>
                  <a:schemeClr val="tx1">
                    <a:tint val="75000"/>
                  </a:schemeClr>
                </a:solidFill>
              </a:defRPr>
            </a:lvl1pPr>
          </a:lstStyle>
          <a:p>
            <a:r>
              <a:rPr lang="en-US">
                <a:solidFill>
                  <a:schemeClr val="bg1">
                    <a:lumMod val="65000"/>
                  </a:schemeClr>
                </a:solidFill>
              </a:rPr>
              <a:t>Microsoft Confidential</a:t>
            </a:r>
          </a:p>
        </p:txBody>
      </p:sp>
    </p:spTree>
    <p:extLst>
      <p:ext uri="{BB962C8B-B14F-4D97-AF65-F5344CB8AC3E}">
        <p14:creationId xmlns:p14="http://schemas.microsoft.com/office/powerpoint/2010/main" val="75010912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563369" y="1506067"/>
            <a:ext cx="11081177" cy="2396047"/>
          </a:xfrm>
          <a:prstGeom prst="rect">
            <a:avLst/>
          </a:prstGeom>
        </p:spPr>
        <p:txBody>
          <a:bodyPr/>
          <a:lstStyle>
            <a:lvl1pPr marL="284023" indent="-28402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58733" indent="-274711">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2756" indent="-28402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6250" indent="-223494">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89744" indent="-223494">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3" y="6238878"/>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17"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a:xfrm>
            <a:off x="563369" y="473236"/>
            <a:ext cx="11081177" cy="1020602"/>
          </a:xfrm>
        </p:spPr>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59715354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87B2D66C-ED12-49C4-87B3-971271683801}"/>
              </a:ext>
            </a:extLst>
          </p:cNvPr>
          <p:cNvSpPr>
            <a:spLocks noGrp="1"/>
          </p:cNvSpPr>
          <p:nvPr>
            <p:ph type="title"/>
          </p:nvPr>
        </p:nvSpPr>
        <p:spPr>
          <a:xfrm>
            <a:off x="588263" y="457200"/>
            <a:ext cx="11018520" cy="553998"/>
          </a:xfrm>
        </p:spPr>
        <p:txBody>
          <a:bodyPr/>
          <a:lstStyle/>
          <a:p>
            <a:r>
              <a:rPr lang="en-US"/>
              <a:t>Click to edit Master title style</a:t>
            </a:r>
          </a:p>
        </p:txBody>
      </p:sp>
    </p:spTree>
    <p:extLst>
      <p:ext uri="{BB962C8B-B14F-4D97-AF65-F5344CB8AC3E}">
        <p14:creationId xmlns:p14="http://schemas.microsoft.com/office/powerpoint/2010/main" val="4132320083"/>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896211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107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5086490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758819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1642033"/>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827265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solidFill>
                  <a:schemeClr val="tx1"/>
                </a:solidFill>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479728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993696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18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353157144"/>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CENTER &amp; SUB">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412F9F24-8B6A-40C4-8536-D0EECE328CED}"/>
              </a:ext>
            </a:extLst>
          </p:cNvPr>
          <p:cNvSpPr>
            <a:spLocks noGrp="1"/>
          </p:cNvSpPr>
          <p:nvPr>
            <p:ph type="body" sz="quarter" idx="11"/>
          </p:nvPr>
        </p:nvSpPr>
        <p:spPr>
          <a:xfrm>
            <a:off x="588263" y="1050302"/>
            <a:ext cx="11015474" cy="307777"/>
          </a:xfrm>
        </p:spPr>
        <p:txBody>
          <a:bodyPr/>
          <a:lstStyle>
            <a:lvl1pPr marL="0" indent="0" algn="ctr">
              <a:spcBef>
                <a:spcPts val="1800"/>
              </a:spcBef>
              <a:spcAft>
                <a:spcPts val="0"/>
              </a:spcAft>
              <a:buNone/>
              <a:defRPr sz="2000">
                <a:solidFill>
                  <a:schemeClr val="accent2"/>
                </a:solidFill>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3" name="Title 2">
            <a:extLst>
              <a:ext uri="{FF2B5EF4-FFF2-40B4-BE49-F238E27FC236}">
                <a16:creationId xmlns:a16="http://schemas.microsoft.com/office/drawing/2014/main" id="{22C05E05-2421-4436-913A-F55D8721D6B7}"/>
              </a:ext>
            </a:extLst>
          </p:cNvPr>
          <p:cNvSpPr>
            <a:spLocks noGrp="1"/>
          </p:cNvSpPr>
          <p:nvPr>
            <p:ph type="title"/>
          </p:nvPr>
        </p:nvSpPr>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2397070736"/>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_Black Notes slide Layout">
    <p:bg bwMode="black">
      <p:bgPr>
        <a:solidFill>
          <a:srgbClr val="000000"/>
        </a:solidFill>
        <a:effectLst/>
      </p:bgPr>
    </p:bg>
    <p:spTree>
      <p:nvGrpSpPr>
        <p:cNvPr id="1" name=""/>
        <p:cNvGrpSpPr/>
        <p:nvPr/>
      </p:nvGrpSpPr>
      <p:grpSpPr>
        <a:xfrm>
          <a:off x="0" y="0"/>
          <a:ext cx="0" cy="0"/>
          <a:chOff x="0" y="0"/>
          <a:chExt cx="0" cy="0"/>
        </a:xfrm>
      </p:grpSpPr>
      <p:sp>
        <p:nvSpPr>
          <p:cNvPr id="4" name="Text Placeholder 6"/>
          <p:cNvSpPr>
            <a:spLocks noGrp="1"/>
          </p:cNvSpPr>
          <p:nvPr>
            <p:ph type="body" sz="quarter" idx="11" hasCustomPrompt="1"/>
          </p:nvPr>
        </p:nvSpPr>
        <p:spPr>
          <a:xfrm>
            <a:off x="4" y="6238876"/>
            <a:ext cx="12192001" cy="619125"/>
          </a:xfrm>
          <a:prstGeom prst="rect">
            <a:avLst/>
          </a:prstGeom>
          <a:solidFill>
            <a:srgbClr val="FFFF99"/>
          </a:solidFill>
        </p:spPr>
        <p:txBody>
          <a:bodyPr wrap="square" lIns="128019" tIns="64010" rIns="128019" bIns="64010" anchor="b" anchorCtr="0">
            <a:noAutofit/>
          </a:bodyPr>
          <a:lstStyle>
            <a:lvl1pPr algn="r">
              <a:buFont typeface="Arial" pitchFamily="34" charset="0"/>
              <a:buNone/>
              <a:defRPr sz="2941" spc="-4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5" name="Text Placeholder 5"/>
          <p:cNvSpPr>
            <a:spLocks noGrp="1"/>
          </p:cNvSpPr>
          <p:nvPr>
            <p:ph type="body" sz="quarter" idx="12" hasCustomPrompt="1"/>
          </p:nvPr>
        </p:nvSpPr>
        <p:spPr>
          <a:xfrm>
            <a:off x="0" y="1"/>
            <a:ext cx="12192000" cy="1232898"/>
          </a:xfrm>
        </p:spPr>
        <p:txBody>
          <a:bodyPr lIns="393192" tIns="393192" bIns="91440">
            <a:normAutofit/>
          </a:bodyPr>
          <a:lstStyle>
            <a:lvl1pPr marL="0" indent="0">
              <a:buNone/>
              <a:defRPr sz="4400">
                <a:solidFill>
                  <a:schemeClr val="tx1"/>
                </a:solidFill>
                <a:latin typeface="+mj-lt"/>
              </a:defRPr>
            </a:lvl1pPr>
          </a:lstStyle>
          <a:p>
            <a:pPr lvl="0"/>
            <a:r>
              <a:rPr lang="en-US"/>
              <a:t>Click to edit Master title style</a:t>
            </a:r>
          </a:p>
        </p:txBody>
      </p:sp>
      <p:sp>
        <p:nvSpPr>
          <p:cNvPr id="7" name="Text Placeholder 6"/>
          <p:cNvSpPr>
            <a:spLocks noGrp="1"/>
          </p:cNvSpPr>
          <p:nvPr>
            <p:ph type="body" sz="quarter" idx="13"/>
          </p:nvPr>
        </p:nvSpPr>
        <p:spPr>
          <a:xfrm>
            <a:off x="389106" y="1233489"/>
            <a:ext cx="11802894" cy="1569199"/>
          </a:xfrm>
        </p:spPr>
        <p:txBody>
          <a:bodyPr/>
          <a:lstStyle>
            <a:lvl1pPr marL="0" indent="0">
              <a:buNone/>
              <a:defRPr/>
            </a:lvl1pPr>
            <a:lvl2pPr marL="457025" indent="0">
              <a:buNone/>
              <a:defRPr/>
            </a:lvl2pPr>
            <a:lvl3pPr marL="914049" indent="0">
              <a:buNone/>
              <a:defRPr/>
            </a:lvl3pPr>
            <a:lvl4pPr marL="1371074" indent="0">
              <a:buNone/>
              <a:defRPr/>
            </a:lvl4pPr>
            <a:lvl5pPr marL="1828098"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392205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C9A3A-6795-4A87-B9CA-F0BD83FB492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6623047"/>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Blank ligh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52174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768">
          <p15:clr>
            <a:srgbClr val="FBAE40"/>
          </p15:clr>
        </p15:guide>
        <p15:guide id="5" orient="horz" pos="355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Only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6" name="Text Placeholder 5">
            <a:extLst>
              <a:ext uri="{FF2B5EF4-FFF2-40B4-BE49-F238E27FC236}">
                <a16:creationId xmlns:a16="http://schemas.microsoft.com/office/drawing/2014/main" id="{90511ECA-E42E-4E41-86BD-D4D827D05FA1}"/>
              </a:ext>
            </a:extLst>
          </p:cNvPr>
          <p:cNvSpPr>
            <a:spLocks noGrp="1"/>
          </p:cNvSpPr>
          <p:nvPr>
            <p:ph type="body" sz="quarter" idx="13" hasCustomPrompt="1"/>
          </p:nvPr>
        </p:nvSpPr>
        <p:spPr>
          <a:xfrm>
            <a:off x="563369" y="1222805"/>
            <a:ext cx="11081177" cy="457200"/>
          </a:xfrm>
        </p:spPr>
        <p:txBody>
          <a:bodyPr anchor="ctr"/>
          <a:lstStyle>
            <a:lvl1pPr marL="0" indent="0">
              <a:buNone/>
              <a:defRPr sz="2200">
                <a:latin typeface="+mj-lt"/>
              </a:defRPr>
            </a:lvl1pPr>
          </a:lstStyle>
          <a:p>
            <a:pPr lvl="0"/>
            <a:r>
              <a:rPr lang="en-US"/>
              <a:t>Subheading</a:t>
            </a:r>
          </a:p>
        </p:txBody>
      </p:sp>
      <p:sp>
        <p:nvSpPr>
          <p:cNvPr id="4" name="Footer Placeholder 3"/>
          <p:cNvSpPr>
            <a:spLocks noGrp="1"/>
          </p:cNvSpPr>
          <p:nvPr>
            <p:ph type="ftr" sz="quarter" idx="11"/>
          </p:nvPr>
        </p:nvSpPr>
        <p:spPr/>
        <p:txBody>
          <a:bodyPr/>
          <a:lstStyle/>
          <a:p>
            <a:endParaRPr lang="en-IN"/>
          </a:p>
        </p:txBody>
      </p:sp>
      <p:sp>
        <p:nvSpPr>
          <p:cNvPr id="7" name="Slide Number Placeholder 5">
            <a:extLst>
              <a:ext uri="{FF2B5EF4-FFF2-40B4-BE49-F238E27FC236}">
                <a16:creationId xmlns:a16="http://schemas.microsoft.com/office/drawing/2014/main" id="{3668EBDF-6910-4128-87F9-14E83FC783AF}"/>
              </a:ext>
            </a:extLst>
          </p:cNvPr>
          <p:cNvSpPr>
            <a:spLocks noGrp="1"/>
          </p:cNvSpPr>
          <p:nvPr>
            <p:ph type="sldNum" sz="quarter" idx="12"/>
          </p:nvPr>
        </p:nvSpPr>
        <p:spPr>
          <a:xfrm>
            <a:off x="11734142"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52764364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5098CE-1BC0-4F62-97B9-03F11A4C0A4C}"/>
              </a:ext>
            </a:extLst>
          </p:cNvPr>
          <p:cNvSpPr>
            <a:spLocks noGrp="1"/>
          </p:cNvSpPr>
          <p:nvPr>
            <p:ph type="sldNum" sz="quarter" idx="12"/>
          </p:nvPr>
        </p:nvSpPr>
        <p:spPr>
          <a:xfrm>
            <a:off x="11734142"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31233983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lvl1pPr>
          </a:lstStyle>
          <a:p>
            <a:r>
              <a:rPr lang="en-IN"/>
              <a:t>Footer</a:t>
            </a:r>
          </a:p>
        </p:txBody>
      </p:sp>
      <p:sp>
        <p:nvSpPr>
          <p:cNvPr id="4" name="Slide Number Placeholder 3"/>
          <p:cNvSpPr>
            <a:spLocks noGrp="1"/>
          </p:cNvSpPr>
          <p:nvPr>
            <p:ph type="sldNum" sz="quarter" idx="12"/>
          </p:nvPr>
        </p:nvSpPr>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81637938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Logo dark background">
    <p:bg>
      <p:bgPr>
        <a:solidFill>
          <a:schemeClr val="tx1"/>
        </a:solidFill>
        <a:effectLst/>
      </p:bgPr>
    </p:bg>
    <p:spTree>
      <p:nvGrpSpPr>
        <p:cNvPr id="1" name=""/>
        <p:cNvGrpSpPr/>
        <p:nvPr/>
      </p:nvGrpSpPr>
      <p:grpSpPr>
        <a:xfrm>
          <a:off x="0" y="0"/>
          <a:ext cx="0" cy="0"/>
          <a:chOff x="0" y="0"/>
          <a:chExt cx="0" cy="0"/>
        </a:xfrm>
      </p:grpSpPr>
      <p:grpSp>
        <p:nvGrpSpPr>
          <p:cNvPr id="7" name="Group 6" descr="Microsoft logo">
            <a:extLst>
              <a:ext uri="{FF2B5EF4-FFF2-40B4-BE49-F238E27FC236}">
                <a16:creationId xmlns:a16="http://schemas.microsoft.com/office/drawing/2014/main" id="{9B362EF1-2988-4403-A3C8-C72CA6DE0D3D}"/>
              </a:ext>
            </a:extLst>
          </p:cNvPr>
          <p:cNvGrpSpPr/>
          <p:nvPr userDrawn="1"/>
        </p:nvGrpSpPr>
        <p:grpSpPr>
          <a:xfrm>
            <a:off x="5318902" y="3263718"/>
            <a:ext cx="1554197" cy="330567"/>
            <a:chOff x="7353301" y="-1897063"/>
            <a:chExt cx="5749290" cy="1225867"/>
          </a:xfrm>
        </p:grpSpPr>
        <p:sp>
          <p:nvSpPr>
            <p:cNvPr id="8" name="Freeform: Shape 7">
              <a:extLst>
                <a:ext uri="{FF2B5EF4-FFF2-40B4-BE49-F238E27FC236}">
                  <a16:creationId xmlns:a16="http://schemas.microsoft.com/office/drawing/2014/main" id="{3FC215F4-E829-40B3-AF89-C2C169FD81BB}"/>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79168AD1-DA5A-4F02-94CF-900D978C8843}"/>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2DB99652-FA2A-4F27-B178-B1097BBF86C0}"/>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BE9F5BC5-4146-416D-8FD0-3887606F5DBA}"/>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31E88531-CD36-4398-B789-1F3C19138CCF}"/>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99810266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Appendix">
    <p:bg>
      <p:bgPr>
        <a:solidFill>
          <a:schemeClr val="tx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7C5EDF-361A-4236-B112-44913FF70957}"/>
              </a:ext>
            </a:extLst>
          </p:cNvPr>
          <p:cNvSpPr>
            <a:spLocks noGrp="1"/>
          </p:cNvSpPr>
          <p:nvPr>
            <p:ph type="title"/>
          </p:nvPr>
        </p:nvSpPr>
        <p:spPr>
          <a:xfrm>
            <a:off x="563369" y="2918699"/>
            <a:ext cx="11081177" cy="1020602"/>
          </a:xfrm>
        </p:spPr>
        <p:txBody>
          <a:bodyPr anchor="ctr"/>
          <a:lstStyle>
            <a:lvl1pPr>
              <a:defRPr sz="3200">
                <a:solidFill>
                  <a:schemeClr val="accent3"/>
                </a:solidFill>
              </a:defRPr>
            </a:lvl1pPr>
          </a:lstStyle>
          <a:p>
            <a:r>
              <a:rPr lang="en-US"/>
              <a:t>Click to edit Master title style</a:t>
            </a:r>
          </a:p>
        </p:txBody>
      </p:sp>
    </p:spTree>
    <p:extLst>
      <p:ext uri="{BB962C8B-B14F-4D97-AF65-F5344CB8AC3E}">
        <p14:creationId xmlns:p14="http://schemas.microsoft.com/office/powerpoint/2010/main" val="209816091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a:xfrm>
            <a:off x="563369" y="473236"/>
            <a:ext cx="11081177" cy="1020602"/>
          </a:xfrm>
        </p:spPr>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
        <p:nvSpPr>
          <p:cNvPr id="6" name="Text Placeholder 5"/>
          <p:cNvSpPr>
            <a:spLocks noGrp="1"/>
          </p:cNvSpPr>
          <p:nvPr>
            <p:ph type="body" sz="quarter" idx="10" hasCustomPrompt="1"/>
          </p:nvPr>
        </p:nvSpPr>
        <p:spPr bwMode="white">
          <a:xfrm>
            <a:off x="563369" y="1506067"/>
            <a:ext cx="11081177" cy="2396047"/>
          </a:xfrm>
          <a:prstGeom prst="rect">
            <a:avLst/>
          </a:prstGeom>
        </p:spPr>
        <p:txBody>
          <a:bodyPr/>
          <a:lstStyle>
            <a:lvl1pPr marL="284078" indent="-284078">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58840" indent="-274764">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2918" indent="-284078">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6455" indent="-223537">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89992" indent="-223537">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2" y="6238878"/>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18"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360242443"/>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6CE95-7702-4611-896A-27BFB4AA46A9}"/>
              </a:ext>
            </a:extLst>
          </p:cNvPr>
          <p:cNvSpPr>
            <a:spLocks noGrp="1"/>
          </p:cNvSpPr>
          <p:nvPr>
            <p:ph type="title"/>
          </p:nvPr>
        </p:nvSpPr>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274097759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586B890-515F-42C5-B73C-5836FC7F796C}"/>
              </a:ext>
            </a:extLst>
          </p:cNvPr>
          <p:cNvSpPr>
            <a:spLocks noGrp="1"/>
          </p:cNvSpPr>
          <p:nvPr>
            <p:ph type="sldNum" sz="quarter" idx="11"/>
          </p:nvPr>
        </p:nvSpPr>
        <p:spPr/>
        <p:txBody>
          <a:bodyPr/>
          <a:lstStyle/>
          <a:p>
            <a:fld id="{1B7849BA-436A-4D63-AE19-3A8FDDD87C6E}" type="slidenum">
              <a:rPr lang="en-US" smtClean="0"/>
              <a:pPr/>
              <a:t>‹#›</a:t>
            </a:fld>
            <a:endParaRPr lang="en-US" sz="1000"/>
          </a:p>
        </p:txBody>
      </p:sp>
    </p:spTree>
    <p:extLst>
      <p:ext uri="{BB962C8B-B14F-4D97-AF65-F5344CB8AC3E}">
        <p14:creationId xmlns:p14="http://schemas.microsoft.com/office/powerpoint/2010/main" val="653415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87229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Title &amp; sub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6423"/>
            <a:ext cx="11018520" cy="553998"/>
          </a:xfrm>
        </p:spPr>
        <p:txBody>
          <a:bodyPr/>
          <a:lstStyle>
            <a:lvl1pPr>
              <a:defRPr sz="3600">
                <a:solidFill>
                  <a:schemeClr val="accent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119169"/>
            <a:ext cx="11018520" cy="338554"/>
          </a:xfrm>
        </p:spPr>
        <p:txBody>
          <a:bodyPr wrap="square">
            <a:spAutoFit/>
          </a:bodyPr>
          <a:lstStyle>
            <a:lvl1pPr marL="0" indent="0">
              <a:spcBef>
                <a:spcPts val="600"/>
              </a:spcBef>
              <a:spcAft>
                <a:spcPts val="0"/>
              </a:spcAft>
              <a:buNone/>
              <a:defRPr sz="22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94449426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6" orient="horz" pos="773">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 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8153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pos="4310">
          <p15:clr>
            <a:srgbClr val="5ACBF0"/>
          </p15:clr>
        </p15:guide>
        <p15:guide id="32" pos="4494">
          <p15:clr>
            <a:srgbClr val="5ACBF0"/>
          </p15:clr>
        </p15:guide>
        <p15:guide id="33" pos="5811">
          <p15:clr>
            <a:srgbClr val="5ACBF0"/>
          </p15:clr>
        </p15:guide>
        <p15:guide id="34" pos="5998">
          <p15:clr>
            <a:srgbClr val="5ACBF0"/>
          </p15:clr>
        </p15:guide>
        <p15:guide id="35" pos="3653">
          <p15:clr>
            <a:srgbClr val="A4A3A4"/>
          </p15:clr>
        </p15:guide>
        <p15:guide id="36" pos="5151">
          <p15:clr>
            <a:srgbClr val="A4A3A4"/>
          </p15:clr>
        </p15:guide>
        <p15:guide id="37" pos="6652">
          <p15:clr>
            <a:srgbClr val="A4A3A4"/>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Title &amp; half-pag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8263" y="1114960"/>
            <a:ext cx="1419441" cy="280782"/>
          </a:xfrm>
        </p:spPr>
        <p:txBody>
          <a:bodyPr wrap="square">
            <a:spAutoFit/>
          </a:bodyPr>
          <a:lstStyle>
            <a:lvl1pPr marL="0" indent="0">
              <a:lnSpc>
                <a:spcPct val="110000"/>
              </a:lnSpc>
              <a:spcBef>
                <a:spcPts val="1200"/>
              </a:spcBef>
              <a:buNone/>
              <a:defRPr sz="1800">
                <a:latin typeface="+mn-lt"/>
              </a:defRPr>
            </a:lvl1pPr>
            <a:lvl2pPr marL="228600" indent="0">
              <a:buNone/>
              <a:defRPr sz="1600"/>
            </a:lvl2pPr>
            <a:lvl3pPr marL="457200" indent="0">
              <a:buNone/>
              <a:defRPr sz="1200"/>
            </a:lvl3pPr>
            <a:lvl4pPr marL="685800" indent="0">
              <a:buNone/>
              <a:defRPr sz="1100"/>
            </a:lvl4pPr>
            <a:lvl5pPr marL="914400" indent="0">
              <a:buNone/>
              <a:defRPr sz="1100"/>
            </a:lvl5pPr>
          </a:lstStyle>
          <a:p>
            <a:pPr lvl="0"/>
            <a:endParaRPr lang="en-US"/>
          </a:p>
        </p:txBody>
      </p:sp>
      <p:sp>
        <p:nvSpPr>
          <p:cNvPr id="2" name="Title 1">
            <a:extLst>
              <a:ext uri="{FF2B5EF4-FFF2-40B4-BE49-F238E27FC236}">
                <a16:creationId xmlns:a16="http://schemas.microsoft.com/office/drawing/2014/main" id="{CC4B7896-F978-4D6E-861E-D10AD51486D4}"/>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028A523F-B33B-41B4-A8A6-2A1A029F4E9A}"/>
              </a:ext>
            </a:extLst>
          </p:cNvPr>
          <p:cNvSpPr>
            <a:spLocks noGrp="1"/>
          </p:cNvSpPr>
          <p:nvPr>
            <p:ph sz="quarter" idx="11"/>
          </p:nvPr>
        </p:nvSpPr>
        <p:spPr>
          <a:xfrm>
            <a:off x="2335213" y="1114425"/>
            <a:ext cx="1719262" cy="430887"/>
          </a:xfrm>
        </p:spPr>
        <p:txBody>
          <a:bodyPr/>
          <a:lstStyle/>
          <a:p>
            <a:pPr lvl="0"/>
            <a:endParaRPr lang="en-US"/>
          </a:p>
        </p:txBody>
      </p:sp>
      <p:sp>
        <p:nvSpPr>
          <p:cNvPr id="7" name="Content Placeholder 6">
            <a:extLst>
              <a:ext uri="{FF2B5EF4-FFF2-40B4-BE49-F238E27FC236}">
                <a16:creationId xmlns:a16="http://schemas.microsoft.com/office/drawing/2014/main" id="{FCC114DD-F366-45CF-9D99-83B5344801E2}"/>
              </a:ext>
            </a:extLst>
          </p:cNvPr>
          <p:cNvSpPr>
            <a:spLocks noGrp="1"/>
          </p:cNvSpPr>
          <p:nvPr>
            <p:ph sz="quarter" idx="12"/>
          </p:nvPr>
        </p:nvSpPr>
        <p:spPr>
          <a:xfrm>
            <a:off x="4381500" y="1114425"/>
            <a:ext cx="1631950" cy="430887"/>
          </a:xfrm>
        </p:spPr>
        <p:txBody>
          <a:bodyPr/>
          <a:lstStyle/>
          <a:p>
            <a:pPr lvl="0"/>
            <a:endParaRPr lang="en-US"/>
          </a:p>
        </p:txBody>
      </p:sp>
      <p:sp>
        <p:nvSpPr>
          <p:cNvPr id="9" name="Content Placeholder 8">
            <a:extLst>
              <a:ext uri="{FF2B5EF4-FFF2-40B4-BE49-F238E27FC236}">
                <a16:creationId xmlns:a16="http://schemas.microsoft.com/office/drawing/2014/main" id="{4E8A375B-B98E-4E65-BF49-E5C1A059387C}"/>
              </a:ext>
            </a:extLst>
          </p:cNvPr>
          <p:cNvSpPr>
            <a:spLocks noGrp="1"/>
          </p:cNvSpPr>
          <p:nvPr>
            <p:ph sz="quarter" idx="13"/>
          </p:nvPr>
        </p:nvSpPr>
        <p:spPr>
          <a:xfrm>
            <a:off x="6529388" y="1212850"/>
            <a:ext cx="914400" cy="430887"/>
          </a:xfrm>
        </p:spPr>
        <p:txBody>
          <a:bodyPr/>
          <a:lstStyle/>
          <a:p>
            <a:pPr lvl="0"/>
            <a:endParaRPr lang="en-US"/>
          </a:p>
        </p:txBody>
      </p:sp>
      <p:sp>
        <p:nvSpPr>
          <p:cNvPr id="11" name="Content Placeholder 10">
            <a:extLst>
              <a:ext uri="{FF2B5EF4-FFF2-40B4-BE49-F238E27FC236}">
                <a16:creationId xmlns:a16="http://schemas.microsoft.com/office/drawing/2014/main" id="{9C3923F0-312D-4B79-8001-E3CF8BBD302E}"/>
              </a:ext>
            </a:extLst>
          </p:cNvPr>
          <p:cNvSpPr>
            <a:spLocks noGrp="1"/>
          </p:cNvSpPr>
          <p:nvPr>
            <p:ph sz="quarter" idx="14"/>
          </p:nvPr>
        </p:nvSpPr>
        <p:spPr>
          <a:xfrm>
            <a:off x="7802563" y="1212850"/>
            <a:ext cx="914400" cy="430887"/>
          </a:xfrm>
        </p:spPr>
        <p:txBody>
          <a:bodyPr/>
          <a:lstStyle/>
          <a:p>
            <a:pPr lvl="0"/>
            <a:endParaRPr lang="en-US"/>
          </a:p>
        </p:txBody>
      </p:sp>
      <p:sp>
        <p:nvSpPr>
          <p:cNvPr id="13" name="Content Placeholder 12">
            <a:extLst>
              <a:ext uri="{FF2B5EF4-FFF2-40B4-BE49-F238E27FC236}">
                <a16:creationId xmlns:a16="http://schemas.microsoft.com/office/drawing/2014/main" id="{E2EDE1C5-4C7E-4352-81A3-08BB97099B35}"/>
              </a:ext>
            </a:extLst>
          </p:cNvPr>
          <p:cNvSpPr>
            <a:spLocks noGrp="1"/>
          </p:cNvSpPr>
          <p:nvPr>
            <p:ph sz="quarter" idx="15"/>
          </p:nvPr>
        </p:nvSpPr>
        <p:spPr>
          <a:xfrm>
            <a:off x="9302750" y="1212850"/>
            <a:ext cx="914400" cy="430887"/>
          </a:xfrm>
        </p:spPr>
        <p:txBody>
          <a:bodyPr/>
          <a:lstStyle/>
          <a:p>
            <a:pPr lvl="0"/>
            <a:endParaRPr lang="en-US"/>
          </a:p>
        </p:txBody>
      </p:sp>
      <p:sp>
        <p:nvSpPr>
          <p:cNvPr id="15" name="Content Placeholder 14">
            <a:extLst>
              <a:ext uri="{FF2B5EF4-FFF2-40B4-BE49-F238E27FC236}">
                <a16:creationId xmlns:a16="http://schemas.microsoft.com/office/drawing/2014/main" id="{EFAD48BA-10A5-4C9E-8BF1-0E4FCD8D0E7D}"/>
              </a:ext>
            </a:extLst>
          </p:cNvPr>
          <p:cNvSpPr>
            <a:spLocks noGrp="1"/>
          </p:cNvSpPr>
          <p:nvPr>
            <p:ph sz="quarter" idx="16"/>
          </p:nvPr>
        </p:nvSpPr>
        <p:spPr>
          <a:xfrm>
            <a:off x="10664825" y="1114425"/>
            <a:ext cx="914400" cy="430887"/>
          </a:xfrm>
        </p:spPr>
        <p:txBody>
          <a:bodyPr/>
          <a:lstStyle/>
          <a:p>
            <a:pPr lvl="0"/>
            <a:endParaRPr lang="en-US"/>
          </a:p>
        </p:txBody>
      </p:sp>
      <p:sp>
        <p:nvSpPr>
          <p:cNvPr id="17" name="Content Placeholder 16">
            <a:extLst>
              <a:ext uri="{FF2B5EF4-FFF2-40B4-BE49-F238E27FC236}">
                <a16:creationId xmlns:a16="http://schemas.microsoft.com/office/drawing/2014/main" id="{85C62EAD-C108-4F19-8A5C-70AE85A1D833}"/>
              </a:ext>
            </a:extLst>
          </p:cNvPr>
          <p:cNvSpPr>
            <a:spLocks noGrp="1"/>
          </p:cNvSpPr>
          <p:nvPr>
            <p:ph sz="quarter" idx="17"/>
          </p:nvPr>
        </p:nvSpPr>
        <p:spPr>
          <a:xfrm>
            <a:off x="260350" y="2017713"/>
            <a:ext cx="914400" cy="430887"/>
          </a:xfrm>
        </p:spPr>
        <p:txBody>
          <a:bodyPr/>
          <a:lstStyle/>
          <a:p>
            <a:pPr lvl="0"/>
            <a:endParaRPr lang="en-US"/>
          </a:p>
        </p:txBody>
      </p:sp>
      <p:sp>
        <p:nvSpPr>
          <p:cNvPr id="19" name="Content Placeholder 18">
            <a:extLst>
              <a:ext uri="{FF2B5EF4-FFF2-40B4-BE49-F238E27FC236}">
                <a16:creationId xmlns:a16="http://schemas.microsoft.com/office/drawing/2014/main" id="{68788F89-0D73-4C71-9CDD-8C037290FF7E}"/>
              </a:ext>
            </a:extLst>
          </p:cNvPr>
          <p:cNvSpPr>
            <a:spLocks noGrp="1"/>
          </p:cNvSpPr>
          <p:nvPr>
            <p:ph sz="quarter" idx="18"/>
          </p:nvPr>
        </p:nvSpPr>
        <p:spPr>
          <a:xfrm>
            <a:off x="1789113" y="1893888"/>
            <a:ext cx="914400" cy="430887"/>
          </a:xfrm>
        </p:spPr>
        <p:txBody>
          <a:bodyPr/>
          <a:lstStyle/>
          <a:p>
            <a:pPr lvl="0"/>
            <a:endParaRPr lang="en-US"/>
          </a:p>
        </p:txBody>
      </p:sp>
      <p:sp>
        <p:nvSpPr>
          <p:cNvPr id="21" name="Content Placeholder 20">
            <a:extLst>
              <a:ext uri="{FF2B5EF4-FFF2-40B4-BE49-F238E27FC236}">
                <a16:creationId xmlns:a16="http://schemas.microsoft.com/office/drawing/2014/main" id="{1121815B-5A49-472A-AF5B-A05D17327B6D}"/>
              </a:ext>
            </a:extLst>
          </p:cNvPr>
          <p:cNvSpPr>
            <a:spLocks noGrp="1"/>
          </p:cNvSpPr>
          <p:nvPr>
            <p:ph sz="quarter" idx="19"/>
          </p:nvPr>
        </p:nvSpPr>
        <p:spPr>
          <a:xfrm>
            <a:off x="3508375" y="2043113"/>
            <a:ext cx="914400" cy="430887"/>
          </a:xfrm>
        </p:spPr>
        <p:txBody>
          <a:bodyPr/>
          <a:lstStyle/>
          <a:p>
            <a:pPr lvl="0"/>
            <a:endParaRPr lang="en-US"/>
          </a:p>
        </p:txBody>
      </p:sp>
      <p:sp>
        <p:nvSpPr>
          <p:cNvPr id="23" name="Content Placeholder 22">
            <a:extLst>
              <a:ext uri="{FF2B5EF4-FFF2-40B4-BE49-F238E27FC236}">
                <a16:creationId xmlns:a16="http://schemas.microsoft.com/office/drawing/2014/main" id="{508848EE-8BE4-4436-9924-2D0E2C153F11}"/>
              </a:ext>
            </a:extLst>
          </p:cNvPr>
          <p:cNvSpPr>
            <a:spLocks noGrp="1"/>
          </p:cNvSpPr>
          <p:nvPr>
            <p:ph sz="quarter" idx="20"/>
          </p:nvPr>
        </p:nvSpPr>
        <p:spPr>
          <a:xfrm>
            <a:off x="4860925" y="1919288"/>
            <a:ext cx="914400" cy="430887"/>
          </a:xfrm>
        </p:spPr>
        <p:txBody>
          <a:bodyPr/>
          <a:lstStyle/>
          <a:p>
            <a:pPr lvl="0"/>
            <a:endParaRPr lang="en-US"/>
          </a:p>
        </p:txBody>
      </p:sp>
      <p:sp>
        <p:nvSpPr>
          <p:cNvPr id="25" name="Content Placeholder 24">
            <a:extLst>
              <a:ext uri="{FF2B5EF4-FFF2-40B4-BE49-F238E27FC236}">
                <a16:creationId xmlns:a16="http://schemas.microsoft.com/office/drawing/2014/main" id="{35B579E7-8145-4FE9-84B9-DBCEB050D7A0}"/>
              </a:ext>
            </a:extLst>
          </p:cNvPr>
          <p:cNvSpPr>
            <a:spLocks noGrp="1"/>
          </p:cNvSpPr>
          <p:nvPr>
            <p:ph sz="quarter" idx="21"/>
          </p:nvPr>
        </p:nvSpPr>
        <p:spPr>
          <a:xfrm>
            <a:off x="6391275" y="2447925"/>
            <a:ext cx="914400" cy="430887"/>
          </a:xfrm>
        </p:spPr>
        <p:txBody>
          <a:bodyPr/>
          <a:lstStyle/>
          <a:p>
            <a:pPr lvl="0"/>
            <a:endParaRPr lang="en-US"/>
          </a:p>
        </p:txBody>
      </p:sp>
      <p:sp>
        <p:nvSpPr>
          <p:cNvPr id="27" name="Content Placeholder 26">
            <a:extLst>
              <a:ext uri="{FF2B5EF4-FFF2-40B4-BE49-F238E27FC236}">
                <a16:creationId xmlns:a16="http://schemas.microsoft.com/office/drawing/2014/main" id="{FF5D93A0-6D7C-4711-B0BD-856435E8131D}"/>
              </a:ext>
            </a:extLst>
          </p:cNvPr>
          <p:cNvSpPr>
            <a:spLocks noGrp="1"/>
          </p:cNvSpPr>
          <p:nvPr>
            <p:ph sz="quarter" idx="22"/>
          </p:nvPr>
        </p:nvSpPr>
        <p:spPr>
          <a:xfrm>
            <a:off x="7643813" y="2185988"/>
            <a:ext cx="914400" cy="430887"/>
          </a:xfrm>
        </p:spPr>
        <p:txBody>
          <a:bodyPr/>
          <a:lstStyle/>
          <a:p>
            <a:pPr lvl="0"/>
            <a:endParaRPr lang="en-US"/>
          </a:p>
        </p:txBody>
      </p:sp>
      <p:sp>
        <p:nvSpPr>
          <p:cNvPr id="29" name="Content Placeholder 28">
            <a:extLst>
              <a:ext uri="{FF2B5EF4-FFF2-40B4-BE49-F238E27FC236}">
                <a16:creationId xmlns:a16="http://schemas.microsoft.com/office/drawing/2014/main" id="{D70C0BD0-5A4B-4DB3-8E8C-B57CD17F9086}"/>
              </a:ext>
            </a:extLst>
          </p:cNvPr>
          <p:cNvSpPr>
            <a:spLocks noGrp="1"/>
          </p:cNvSpPr>
          <p:nvPr>
            <p:ph sz="quarter" idx="23"/>
          </p:nvPr>
        </p:nvSpPr>
        <p:spPr>
          <a:xfrm>
            <a:off x="8896350" y="2185988"/>
            <a:ext cx="966924" cy="430887"/>
          </a:xfrm>
        </p:spPr>
        <p:txBody>
          <a:bodyPr/>
          <a:lstStyle/>
          <a:p>
            <a:pPr lvl="0"/>
            <a:endParaRPr lang="en-US"/>
          </a:p>
        </p:txBody>
      </p:sp>
      <p:sp>
        <p:nvSpPr>
          <p:cNvPr id="31" name="Content Placeholder 30">
            <a:extLst>
              <a:ext uri="{FF2B5EF4-FFF2-40B4-BE49-F238E27FC236}">
                <a16:creationId xmlns:a16="http://schemas.microsoft.com/office/drawing/2014/main" id="{215BB3FE-4EBD-4F92-B5C0-05D1D775727B}"/>
              </a:ext>
            </a:extLst>
          </p:cNvPr>
          <p:cNvSpPr>
            <a:spLocks noGrp="1"/>
          </p:cNvSpPr>
          <p:nvPr>
            <p:ph sz="quarter" idx="24"/>
          </p:nvPr>
        </p:nvSpPr>
        <p:spPr>
          <a:xfrm>
            <a:off x="10426700" y="2349500"/>
            <a:ext cx="914400" cy="430887"/>
          </a:xfrm>
        </p:spPr>
        <p:txBody>
          <a:bodyPr/>
          <a:lstStyle/>
          <a:p>
            <a:pPr lvl="0"/>
            <a:endParaRPr lang="en-US"/>
          </a:p>
        </p:txBody>
      </p:sp>
      <p:sp>
        <p:nvSpPr>
          <p:cNvPr id="18" name="Rectangle 17">
            <a:extLst>
              <a:ext uri="{FF2B5EF4-FFF2-40B4-BE49-F238E27FC236}">
                <a16:creationId xmlns:a16="http://schemas.microsoft.com/office/drawing/2014/main" id="{A417C7B8-429E-4674-9BEE-BA72127A0AF6}"/>
              </a:ext>
              <a:ext uri="{C183D7F6-B498-43B3-948B-1728B52AA6E4}">
                <adec:decorative xmlns:adec="http://schemas.microsoft.com/office/drawing/2017/decorative" val="1"/>
              </a:ext>
            </a:extLst>
          </p:cNvPr>
          <p:cNvSpPr/>
          <p:nvPr userDrawn="1"/>
        </p:nvSpPr>
        <p:spPr bwMode="auto">
          <a:xfrm>
            <a:off x="6992536" y="2704864"/>
            <a:ext cx="4670406" cy="3568960"/>
          </a:xfrm>
          <a:prstGeom prst="rect">
            <a:avLst/>
          </a:prstGeom>
          <a:solidFill>
            <a:schemeClr val="bg1"/>
          </a:solidFill>
          <a:ln>
            <a:noFill/>
            <a:headEnd type="none" w="med" len="med"/>
            <a:tailEnd type="none" w="med" len="med"/>
          </a:ln>
          <a:effectLst>
            <a:outerShdw blurRad="381000" algn="tl" rotWithShape="0">
              <a:schemeClr val="tx1">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7172270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7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57194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628A1-6D0B-4C49-9848-3A328EDFE13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D913550-DA46-4256-8213-7CDF4A0B1781}"/>
              </a:ext>
            </a:extLst>
          </p:cNvPr>
          <p:cNvSpPr>
            <a:spLocks noGrp="1"/>
          </p:cNvSpPr>
          <p:nvPr>
            <p:ph sz="quarter" idx="10"/>
          </p:nvPr>
        </p:nvSpPr>
        <p:spPr>
          <a:xfrm>
            <a:off x="347663" y="1271588"/>
            <a:ext cx="2763837" cy="430887"/>
          </a:xfrm>
        </p:spPr>
        <p:txBody>
          <a:bodyPr/>
          <a:lstStyle/>
          <a:p>
            <a:pPr lvl="0"/>
            <a:endParaRPr lang="en-US"/>
          </a:p>
        </p:txBody>
      </p:sp>
      <p:sp>
        <p:nvSpPr>
          <p:cNvPr id="6" name="Content Placeholder 5">
            <a:extLst>
              <a:ext uri="{FF2B5EF4-FFF2-40B4-BE49-F238E27FC236}">
                <a16:creationId xmlns:a16="http://schemas.microsoft.com/office/drawing/2014/main" id="{C1DB3788-27E6-4685-A8C5-E0DFBDD34A05}"/>
              </a:ext>
            </a:extLst>
          </p:cNvPr>
          <p:cNvSpPr>
            <a:spLocks noGrp="1"/>
          </p:cNvSpPr>
          <p:nvPr>
            <p:ph sz="quarter" idx="11"/>
          </p:nvPr>
        </p:nvSpPr>
        <p:spPr>
          <a:xfrm>
            <a:off x="3429000" y="1147763"/>
            <a:ext cx="1917700" cy="430887"/>
          </a:xfrm>
        </p:spPr>
        <p:txBody>
          <a:bodyPr/>
          <a:lstStyle/>
          <a:p>
            <a:pPr lvl="0"/>
            <a:endParaRPr lang="en-US"/>
          </a:p>
        </p:txBody>
      </p:sp>
      <p:sp>
        <p:nvSpPr>
          <p:cNvPr id="8" name="Content Placeholder 7">
            <a:extLst>
              <a:ext uri="{FF2B5EF4-FFF2-40B4-BE49-F238E27FC236}">
                <a16:creationId xmlns:a16="http://schemas.microsoft.com/office/drawing/2014/main" id="{CC01E7C5-0B97-404B-BE37-7B07D633D245}"/>
              </a:ext>
            </a:extLst>
          </p:cNvPr>
          <p:cNvSpPr>
            <a:spLocks noGrp="1"/>
          </p:cNvSpPr>
          <p:nvPr>
            <p:ph sz="quarter" idx="12"/>
          </p:nvPr>
        </p:nvSpPr>
        <p:spPr>
          <a:xfrm>
            <a:off x="5664200" y="1147763"/>
            <a:ext cx="2058988" cy="430887"/>
          </a:xfrm>
        </p:spPr>
        <p:txBody>
          <a:bodyPr/>
          <a:lstStyle/>
          <a:p>
            <a:pPr lvl="0"/>
            <a:endParaRPr lang="en-US"/>
          </a:p>
        </p:txBody>
      </p:sp>
      <p:sp>
        <p:nvSpPr>
          <p:cNvPr id="10" name="Content Placeholder 9">
            <a:extLst>
              <a:ext uri="{FF2B5EF4-FFF2-40B4-BE49-F238E27FC236}">
                <a16:creationId xmlns:a16="http://schemas.microsoft.com/office/drawing/2014/main" id="{9119D3FE-D23D-4DDC-B553-E2CFC7328F31}"/>
              </a:ext>
            </a:extLst>
          </p:cNvPr>
          <p:cNvSpPr>
            <a:spLocks noGrp="1"/>
          </p:cNvSpPr>
          <p:nvPr>
            <p:ph sz="quarter" idx="13"/>
          </p:nvPr>
        </p:nvSpPr>
        <p:spPr>
          <a:xfrm>
            <a:off x="7881938" y="1147763"/>
            <a:ext cx="1917700" cy="430887"/>
          </a:xfrm>
        </p:spPr>
        <p:txBody>
          <a:bodyPr/>
          <a:lstStyle/>
          <a:p>
            <a:pPr lvl="0"/>
            <a:endParaRPr lang="en-US"/>
          </a:p>
        </p:txBody>
      </p:sp>
      <p:sp>
        <p:nvSpPr>
          <p:cNvPr id="12" name="Content Placeholder 11">
            <a:extLst>
              <a:ext uri="{FF2B5EF4-FFF2-40B4-BE49-F238E27FC236}">
                <a16:creationId xmlns:a16="http://schemas.microsoft.com/office/drawing/2014/main" id="{6A87C641-81F2-4522-A64F-BA56E7234E16}"/>
              </a:ext>
            </a:extLst>
          </p:cNvPr>
          <p:cNvSpPr>
            <a:spLocks noGrp="1"/>
          </p:cNvSpPr>
          <p:nvPr>
            <p:ph sz="quarter" idx="14"/>
          </p:nvPr>
        </p:nvSpPr>
        <p:spPr>
          <a:xfrm>
            <a:off x="188913" y="1957388"/>
            <a:ext cx="2127250" cy="430887"/>
          </a:xfrm>
        </p:spPr>
        <p:txBody>
          <a:bodyPr/>
          <a:lstStyle/>
          <a:p>
            <a:pPr lvl="0"/>
            <a:endParaRPr lang="en-US"/>
          </a:p>
        </p:txBody>
      </p:sp>
      <p:sp>
        <p:nvSpPr>
          <p:cNvPr id="14" name="Content Placeholder 13">
            <a:extLst>
              <a:ext uri="{FF2B5EF4-FFF2-40B4-BE49-F238E27FC236}">
                <a16:creationId xmlns:a16="http://schemas.microsoft.com/office/drawing/2014/main" id="{90940B98-EF1E-43F4-9116-2854AE49C0F2}"/>
              </a:ext>
            </a:extLst>
          </p:cNvPr>
          <p:cNvSpPr>
            <a:spLocks noGrp="1"/>
          </p:cNvSpPr>
          <p:nvPr>
            <p:ph sz="quarter" idx="15"/>
          </p:nvPr>
        </p:nvSpPr>
        <p:spPr>
          <a:xfrm>
            <a:off x="2563813" y="1858963"/>
            <a:ext cx="2127250" cy="430887"/>
          </a:xfrm>
        </p:spPr>
        <p:txBody>
          <a:bodyPr/>
          <a:lstStyle/>
          <a:p>
            <a:pPr lvl="0"/>
            <a:endParaRPr lang="en-US"/>
          </a:p>
        </p:txBody>
      </p:sp>
      <p:sp>
        <p:nvSpPr>
          <p:cNvPr id="16" name="Content Placeholder 15">
            <a:extLst>
              <a:ext uri="{FF2B5EF4-FFF2-40B4-BE49-F238E27FC236}">
                <a16:creationId xmlns:a16="http://schemas.microsoft.com/office/drawing/2014/main" id="{1E344E71-CB9B-45C4-8909-47072D923FC7}"/>
              </a:ext>
            </a:extLst>
          </p:cNvPr>
          <p:cNvSpPr>
            <a:spLocks noGrp="1"/>
          </p:cNvSpPr>
          <p:nvPr>
            <p:ph sz="quarter" idx="16"/>
          </p:nvPr>
        </p:nvSpPr>
        <p:spPr>
          <a:xfrm>
            <a:off x="4938713" y="1701800"/>
            <a:ext cx="2058987" cy="430887"/>
          </a:xfrm>
        </p:spPr>
        <p:txBody>
          <a:bodyPr/>
          <a:lstStyle/>
          <a:p>
            <a:pPr lvl="0"/>
            <a:endParaRPr lang="en-US"/>
          </a:p>
        </p:txBody>
      </p:sp>
      <p:sp>
        <p:nvSpPr>
          <p:cNvPr id="18" name="Content Placeholder 17">
            <a:extLst>
              <a:ext uri="{FF2B5EF4-FFF2-40B4-BE49-F238E27FC236}">
                <a16:creationId xmlns:a16="http://schemas.microsoft.com/office/drawing/2014/main" id="{3DCE1CEA-BC07-4B93-8090-3B356551F07D}"/>
              </a:ext>
            </a:extLst>
          </p:cNvPr>
          <p:cNvSpPr>
            <a:spLocks noGrp="1"/>
          </p:cNvSpPr>
          <p:nvPr>
            <p:ph sz="quarter" idx="17"/>
          </p:nvPr>
        </p:nvSpPr>
        <p:spPr>
          <a:xfrm>
            <a:off x="7415213" y="1714500"/>
            <a:ext cx="2212975" cy="430887"/>
          </a:xfrm>
        </p:spPr>
        <p:txBody>
          <a:bodyPr/>
          <a:lstStyle/>
          <a:p>
            <a:pPr lvl="0"/>
            <a:endParaRPr lang="en-US"/>
          </a:p>
        </p:txBody>
      </p:sp>
      <p:sp>
        <p:nvSpPr>
          <p:cNvPr id="20" name="Content Placeholder 19">
            <a:extLst>
              <a:ext uri="{FF2B5EF4-FFF2-40B4-BE49-F238E27FC236}">
                <a16:creationId xmlns:a16="http://schemas.microsoft.com/office/drawing/2014/main" id="{5D8E30C0-D551-45C7-976D-36272EE62D7A}"/>
              </a:ext>
            </a:extLst>
          </p:cNvPr>
          <p:cNvSpPr>
            <a:spLocks noGrp="1"/>
          </p:cNvSpPr>
          <p:nvPr>
            <p:ph sz="quarter" idx="18"/>
          </p:nvPr>
        </p:nvSpPr>
        <p:spPr>
          <a:xfrm>
            <a:off x="10137775" y="1350963"/>
            <a:ext cx="1865313" cy="430887"/>
          </a:xfrm>
        </p:spPr>
        <p:txBody>
          <a:bodyPr/>
          <a:lstStyle/>
          <a:p>
            <a:pPr lvl="0"/>
            <a:endParaRPr lang="en-US"/>
          </a:p>
        </p:txBody>
      </p:sp>
      <p:sp>
        <p:nvSpPr>
          <p:cNvPr id="22" name="Content Placeholder 21">
            <a:extLst>
              <a:ext uri="{FF2B5EF4-FFF2-40B4-BE49-F238E27FC236}">
                <a16:creationId xmlns:a16="http://schemas.microsoft.com/office/drawing/2014/main" id="{883A46AA-7744-481E-A6C6-3A82CE5D7B6C}"/>
              </a:ext>
            </a:extLst>
          </p:cNvPr>
          <p:cNvSpPr>
            <a:spLocks noGrp="1"/>
          </p:cNvSpPr>
          <p:nvPr>
            <p:ph sz="quarter" idx="19"/>
          </p:nvPr>
        </p:nvSpPr>
        <p:spPr>
          <a:xfrm>
            <a:off x="288925" y="2603500"/>
            <a:ext cx="2274888" cy="430887"/>
          </a:xfrm>
        </p:spPr>
        <p:txBody>
          <a:bodyPr/>
          <a:lstStyle/>
          <a:p>
            <a:pPr lvl="0"/>
            <a:endParaRPr lang="en-US"/>
          </a:p>
        </p:txBody>
      </p:sp>
      <p:sp>
        <p:nvSpPr>
          <p:cNvPr id="24" name="Content Placeholder 23">
            <a:extLst>
              <a:ext uri="{FF2B5EF4-FFF2-40B4-BE49-F238E27FC236}">
                <a16:creationId xmlns:a16="http://schemas.microsoft.com/office/drawing/2014/main" id="{ABE12C81-B5B8-46AC-90CC-A782F2006953}"/>
              </a:ext>
            </a:extLst>
          </p:cNvPr>
          <p:cNvSpPr>
            <a:spLocks noGrp="1"/>
          </p:cNvSpPr>
          <p:nvPr>
            <p:ph sz="quarter" idx="20"/>
          </p:nvPr>
        </p:nvSpPr>
        <p:spPr>
          <a:xfrm>
            <a:off x="3052763" y="2446338"/>
            <a:ext cx="2058987" cy="430887"/>
          </a:xfrm>
        </p:spPr>
        <p:txBody>
          <a:bodyPr/>
          <a:lstStyle/>
          <a:p>
            <a:pPr lvl="0"/>
            <a:endParaRPr lang="en-US"/>
          </a:p>
        </p:txBody>
      </p:sp>
      <p:sp>
        <p:nvSpPr>
          <p:cNvPr id="26" name="Content Placeholder 25">
            <a:extLst>
              <a:ext uri="{FF2B5EF4-FFF2-40B4-BE49-F238E27FC236}">
                <a16:creationId xmlns:a16="http://schemas.microsoft.com/office/drawing/2014/main" id="{19C11D4E-8F7B-4484-9226-E448F56F7460}"/>
              </a:ext>
            </a:extLst>
          </p:cNvPr>
          <p:cNvSpPr>
            <a:spLocks noGrp="1"/>
          </p:cNvSpPr>
          <p:nvPr>
            <p:ph sz="quarter" idx="21"/>
          </p:nvPr>
        </p:nvSpPr>
        <p:spPr>
          <a:xfrm>
            <a:off x="5476875" y="2289175"/>
            <a:ext cx="2127250" cy="430887"/>
          </a:xfrm>
        </p:spPr>
        <p:txBody>
          <a:bodyPr/>
          <a:lstStyle/>
          <a:p>
            <a:pPr lvl="0"/>
            <a:endParaRPr lang="en-US"/>
          </a:p>
        </p:txBody>
      </p:sp>
      <p:sp>
        <p:nvSpPr>
          <p:cNvPr id="28" name="Content Placeholder 27">
            <a:extLst>
              <a:ext uri="{FF2B5EF4-FFF2-40B4-BE49-F238E27FC236}">
                <a16:creationId xmlns:a16="http://schemas.microsoft.com/office/drawing/2014/main" id="{032CB179-2892-4B72-8878-1758AE9CBD46}"/>
              </a:ext>
            </a:extLst>
          </p:cNvPr>
          <p:cNvSpPr>
            <a:spLocks noGrp="1"/>
          </p:cNvSpPr>
          <p:nvPr>
            <p:ph sz="quarter" idx="22"/>
          </p:nvPr>
        </p:nvSpPr>
        <p:spPr>
          <a:xfrm>
            <a:off x="7969250" y="2387600"/>
            <a:ext cx="2446338" cy="430887"/>
          </a:xfrm>
        </p:spPr>
        <p:txBody>
          <a:bodyPr/>
          <a:lstStyle/>
          <a:p>
            <a:pPr lvl="0"/>
            <a:endParaRPr lang="en-US"/>
          </a:p>
        </p:txBody>
      </p:sp>
      <p:sp>
        <p:nvSpPr>
          <p:cNvPr id="30" name="Content Placeholder 29">
            <a:extLst>
              <a:ext uri="{FF2B5EF4-FFF2-40B4-BE49-F238E27FC236}">
                <a16:creationId xmlns:a16="http://schemas.microsoft.com/office/drawing/2014/main" id="{F0A018A6-8241-48D1-BE49-3525B0E28D24}"/>
              </a:ext>
            </a:extLst>
          </p:cNvPr>
          <p:cNvSpPr>
            <a:spLocks noGrp="1"/>
          </p:cNvSpPr>
          <p:nvPr>
            <p:ph sz="quarter" idx="23"/>
          </p:nvPr>
        </p:nvSpPr>
        <p:spPr>
          <a:xfrm>
            <a:off x="109538" y="3157538"/>
            <a:ext cx="2693987" cy="430887"/>
          </a:xfrm>
        </p:spPr>
        <p:txBody>
          <a:bodyPr/>
          <a:lstStyle/>
          <a:p>
            <a:pPr lvl="0"/>
            <a:endParaRPr lang="en-US"/>
          </a:p>
        </p:txBody>
      </p:sp>
      <p:sp>
        <p:nvSpPr>
          <p:cNvPr id="32" name="Content Placeholder 31">
            <a:extLst>
              <a:ext uri="{FF2B5EF4-FFF2-40B4-BE49-F238E27FC236}">
                <a16:creationId xmlns:a16="http://schemas.microsoft.com/office/drawing/2014/main" id="{BDFD7455-590C-4843-94B1-F6278D71A094}"/>
              </a:ext>
            </a:extLst>
          </p:cNvPr>
          <p:cNvSpPr>
            <a:spLocks noGrp="1"/>
          </p:cNvSpPr>
          <p:nvPr>
            <p:ph sz="quarter" idx="24"/>
          </p:nvPr>
        </p:nvSpPr>
        <p:spPr>
          <a:xfrm>
            <a:off x="3221038" y="3059113"/>
            <a:ext cx="2058987" cy="430887"/>
          </a:xfrm>
        </p:spPr>
        <p:txBody>
          <a:bodyPr/>
          <a:lstStyle/>
          <a:p>
            <a:pPr lvl="0"/>
            <a:endParaRPr lang="en-US"/>
          </a:p>
        </p:txBody>
      </p:sp>
      <p:sp>
        <p:nvSpPr>
          <p:cNvPr id="34" name="Content Placeholder 33">
            <a:extLst>
              <a:ext uri="{FF2B5EF4-FFF2-40B4-BE49-F238E27FC236}">
                <a16:creationId xmlns:a16="http://schemas.microsoft.com/office/drawing/2014/main" id="{DFE2CABA-3916-457B-B231-E17F31DF745E}"/>
              </a:ext>
            </a:extLst>
          </p:cNvPr>
          <p:cNvSpPr>
            <a:spLocks noGrp="1"/>
          </p:cNvSpPr>
          <p:nvPr>
            <p:ph sz="quarter" idx="25"/>
          </p:nvPr>
        </p:nvSpPr>
        <p:spPr>
          <a:xfrm>
            <a:off x="5664200" y="2876550"/>
            <a:ext cx="1849438" cy="430887"/>
          </a:xfrm>
        </p:spPr>
        <p:txBody>
          <a:bodyPr/>
          <a:lstStyle/>
          <a:p>
            <a:pPr lvl="0"/>
            <a:endParaRPr lang="en-US"/>
          </a:p>
        </p:txBody>
      </p:sp>
      <p:sp>
        <p:nvSpPr>
          <p:cNvPr id="36" name="Content Placeholder 35">
            <a:extLst>
              <a:ext uri="{FF2B5EF4-FFF2-40B4-BE49-F238E27FC236}">
                <a16:creationId xmlns:a16="http://schemas.microsoft.com/office/drawing/2014/main" id="{B151E109-F23E-4D1B-81A9-CBEE68DFBBAC}"/>
              </a:ext>
            </a:extLst>
          </p:cNvPr>
          <p:cNvSpPr>
            <a:spLocks noGrp="1"/>
          </p:cNvSpPr>
          <p:nvPr>
            <p:ph sz="quarter" idx="26"/>
          </p:nvPr>
        </p:nvSpPr>
        <p:spPr>
          <a:xfrm>
            <a:off x="8212138" y="3033713"/>
            <a:ext cx="2790825" cy="430887"/>
          </a:xfrm>
        </p:spPr>
        <p:txBody>
          <a:bodyPr/>
          <a:lstStyle/>
          <a:p>
            <a:pPr lvl="0"/>
            <a:endParaRPr lang="en-US"/>
          </a:p>
        </p:txBody>
      </p:sp>
    </p:spTree>
    <p:extLst>
      <p:ext uri="{BB962C8B-B14F-4D97-AF65-F5344CB8AC3E}">
        <p14:creationId xmlns:p14="http://schemas.microsoft.com/office/powerpoint/2010/main" val="4189583133"/>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Blank ligh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21725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768">
          <p15:clr>
            <a:srgbClr val="FBAE40"/>
          </p15:clr>
        </p15:guide>
        <p15:guide id="5" orient="horz" pos="3552">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Black Notes slide Layout">
    <p:bg bwMode="black">
      <p:bgPr>
        <a:solidFill>
          <a:srgbClr val="000000"/>
        </a:solidFill>
        <a:effectLst/>
      </p:bgPr>
    </p:bg>
    <p:spTree>
      <p:nvGrpSpPr>
        <p:cNvPr id="1" name=""/>
        <p:cNvGrpSpPr/>
        <p:nvPr/>
      </p:nvGrpSpPr>
      <p:grpSpPr>
        <a:xfrm>
          <a:off x="0" y="0"/>
          <a:ext cx="0" cy="0"/>
          <a:chOff x="0" y="0"/>
          <a:chExt cx="0" cy="0"/>
        </a:xfrm>
      </p:grpSpPr>
      <p:sp>
        <p:nvSpPr>
          <p:cNvPr id="4" name="Text Placeholder 6"/>
          <p:cNvSpPr>
            <a:spLocks noGrp="1"/>
          </p:cNvSpPr>
          <p:nvPr>
            <p:ph type="body" sz="quarter" idx="11" hasCustomPrompt="1"/>
          </p:nvPr>
        </p:nvSpPr>
        <p:spPr>
          <a:xfrm>
            <a:off x="4" y="6238876"/>
            <a:ext cx="12192001" cy="619125"/>
          </a:xfrm>
          <a:prstGeom prst="rect">
            <a:avLst/>
          </a:prstGeom>
          <a:solidFill>
            <a:srgbClr val="FFFF99"/>
          </a:solidFill>
        </p:spPr>
        <p:txBody>
          <a:bodyPr wrap="square" lIns="128019" tIns="64010" rIns="128019" bIns="64010" anchor="b" anchorCtr="0">
            <a:noAutofit/>
          </a:bodyPr>
          <a:lstStyle>
            <a:lvl1pPr algn="r">
              <a:buFont typeface="Arial" pitchFamily="34" charset="0"/>
              <a:buNone/>
              <a:defRPr sz="2941" spc="-4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5" name="Text Placeholder 5"/>
          <p:cNvSpPr>
            <a:spLocks noGrp="1"/>
          </p:cNvSpPr>
          <p:nvPr>
            <p:ph type="body" sz="quarter" idx="12" hasCustomPrompt="1"/>
          </p:nvPr>
        </p:nvSpPr>
        <p:spPr>
          <a:xfrm>
            <a:off x="0" y="1"/>
            <a:ext cx="12192000" cy="1232898"/>
          </a:xfrm>
        </p:spPr>
        <p:txBody>
          <a:bodyPr lIns="393192" tIns="393192" bIns="91440">
            <a:normAutofit/>
          </a:bodyPr>
          <a:lstStyle>
            <a:lvl1pPr marL="0" indent="0">
              <a:buNone/>
              <a:defRPr sz="4400">
                <a:solidFill>
                  <a:schemeClr val="tx1"/>
                </a:solidFill>
                <a:latin typeface="+mj-lt"/>
              </a:defRPr>
            </a:lvl1pPr>
          </a:lstStyle>
          <a:p>
            <a:pPr lvl="0"/>
            <a:r>
              <a:rPr lang="en-US"/>
              <a:t>Click to edit Master title style</a:t>
            </a:r>
          </a:p>
        </p:txBody>
      </p:sp>
      <p:sp>
        <p:nvSpPr>
          <p:cNvPr id="7" name="Text Placeholder 6"/>
          <p:cNvSpPr>
            <a:spLocks noGrp="1"/>
          </p:cNvSpPr>
          <p:nvPr>
            <p:ph type="body" sz="quarter" idx="13"/>
          </p:nvPr>
        </p:nvSpPr>
        <p:spPr>
          <a:xfrm>
            <a:off x="389106" y="1233489"/>
            <a:ext cx="11802894" cy="1569199"/>
          </a:xfrm>
        </p:spPr>
        <p:txBody>
          <a:bodyPr/>
          <a:lstStyle>
            <a:lvl1pPr marL="0" indent="0">
              <a:buNone/>
              <a:defRPr/>
            </a:lvl1pPr>
            <a:lvl2pPr marL="457025" indent="0">
              <a:buNone/>
              <a:defRPr/>
            </a:lvl2pPr>
            <a:lvl3pPr marL="914049" indent="0">
              <a:buNone/>
              <a:defRPr/>
            </a:lvl3pPr>
            <a:lvl4pPr marL="1371074" indent="0">
              <a:buNone/>
              <a:defRPr/>
            </a:lvl4pPr>
            <a:lvl5pPr marL="1828098"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267016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9"/>
            <a:ext cx="11081177" cy="1020601"/>
          </a:xfrm>
        </p:spPr>
        <p:txBody>
          <a:bodyPr anchor="t"/>
          <a:lstStyle/>
          <a:p>
            <a:r>
              <a:rPr lang="en-US"/>
              <a:t>Click to edit Master title style</a:t>
            </a:r>
          </a:p>
        </p:txBody>
      </p:sp>
      <p:sp>
        <p:nvSpPr>
          <p:cNvPr id="3" name="Content Placeholder 2"/>
          <p:cNvSpPr>
            <a:spLocks noGrp="1"/>
          </p:cNvSpPr>
          <p:nvPr>
            <p:ph idx="1"/>
          </p:nvPr>
        </p:nvSpPr>
        <p:spPr>
          <a:xfrm>
            <a:off x="563369" y="1620573"/>
            <a:ext cx="11081177" cy="4689743"/>
          </a:xfrm>
        </p:spPr>
        <p:txBody>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424514662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Only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IN"/>
          </a:p>
        </p:txBody>
      </p:sp>
      <p:sp>
        <p:nvSpPr>
          <p:cNvPr id="6" name="Text Placeholder 5">
            <a:extLst>
              <a:ext uri="{FF2B5EF4-FFF2-40B4-BE49-F238E27FC236}">
                <a16:creationId xmlns:a16="http://schemas.microsoft.com/office/drawing/2014/main" id="{90511ECA-E42E-4E41-86BD-D4D827D05FA1}"/>
              </a:ext>
            </a:extLst>
          </p:cNvPr>
          <p:cNvSpPr>
            <a:spLocks noGrp="1"/>
          </p:cNvSpPr>
          <p:nvPr>
            <p:ph type="body" sz="quarter" idx="13" hasCustomPrompt="1"/>
          </p:nvPr>
        </p:nvSpPr>
        <p:spPr>
          <a:xfrm>
            <a:off x="563369" y="1222805"/>
            <a:ext cx="11081177" cy="457200"/>
          </a:xfrm>
        </p:spPr>
        <p:txBody>
          <a:bodyPr anchor="ctr"/>
          <a:lstStyle>
            <a:lvl1pPr marL="0" indent="0">
              <a:buNone/>
              <a:defRPr sz="2200">
                <a:latin typeface="+mj-lt"/>
              </a:defRPr>
            </a:lvl1pPr>
          </a:lstStyle>
          <a:p>
            <a:pPr lvl="0"/>
            <a:r>
              <a:rPr lang="en-US"/>
              <a:t>Subheading</a:t>
            </a:r>
          </a:p>
        </p:txBody>
      </p:sp>
      <p:sp>
        <p:nvSpPr>
          <p:cNvPr id="7" name="Slide Number Placeholder 5">
            <a:extLst>
              <a:ext uri="{FF2B5EF4-FFF2-40B4-BE49-F238E27FC236}">
                <a16:creationId xmlns:a16="http://schemas.microsoft.com/office/drawing/2014/main" id="{3668EBDF-6910-4128-87F9-14E83FC783AF}"/>
              </a:ext>
            </a:extLst>
          </p:cNvPr>
          <p:cNvSpPr>
            <a:spLocks noGrp="1"/>
          </p:cNvSpPr>
          <p:nvPr>
            <p:ph type="sldNum" sz="quarter" idx="12"/>
          </p:nvPr>
        </p:nvSpPr>
        <p:spPr>
          <a:xfrm>
            <a:off x="11734144"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652445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F35098CE-1BC0-4F62-97B9-03F11A4C0A4C}"/>
              </a:ext>
            </a:extLst>
          </p:cNvPr>
          <p:cNvSpPr>
            <a:spLocks noGrp="1"/>
          </p:cNvSpPr>
          <p:nvPr>
            <p:ph type="sldNum" sz="quarter" idx="12"/>
          </p:nvPr>
        </p:nvSpPr>
        <p:spPr>
          <a:xfrm>
            <a:off x="11734144"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175025208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lvl1pPr>
              <a:defRPr>
                <a:solidFill>
                  <a:schemeClr val="bg1"/>
                </a:solidFill>
              </a:defRPr>
            </a:lvl1pPr>
          </a:lstStyle>
          <a:p>
            <a:r>
              <a:rPr lang="en-US"/>
              <a:t>Click to edit Master title style</a:t>
            </a:r>
          </a:p>
        </p:txBody>
      </p:sp>
      <p:sp>
        <p:nvSpPr>
          <p:cNvPr id="6" name="Slide Number Placeholder 5">
            <a:extLst>
              <a:ext uri="{FF2B5EF4-FFF2-40B4-BE49-F238E27FC236}">
                <a16:creationId xmlns:a16="http://schemas.microsoft.com/office/drawing/2014/main" id="{F35098CE-1BC0-4F62-97B9-03F11A4C0A4C}"/>
              </a:ext>
            </a:extLst>
          </p:cNvPr>
          <p:cNvSpPr>
            <a:spLocks noGrp="1"/>
          </p:cNvSpPr>
          <p:nvPr>
            <p:ph type="sldNum" sz="quarter" idx="12"/>
          </p:nvPr>
        </p:nvSpPr>
        <p:spPr>
          <a:xfrm>
            <a:off x="11734144"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40271610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3886147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Appendix">
    <p:bg>
      <p:bgPr>
        <a:solidFill>
          <a:schemeClr val="tx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7C5EDF-361A-4236-B112-44913FF70957}"/>
              </a:ext>
            </a:extLst>
          </p:cNvPr>
          <p:cNvSpPr>
            <a:spLocks noGrp="1"/>
          </p:cNvSpPr>
          <p:nvPr>
            <p:ph type="title"/>
          </p:nvPr>
        </p:nvSpPr>
        <p:spPr>
          <a:xfrm>
            <a:off x="563369" y="2918699"/>
            <a:ext cx="11081177" cy="1020602"/>
          </a:xfrm>
        </p:spPr>
        <p:txBody>
          <a:bodyPr anchor="ctr"/>
          <a:lstStyle>
            <a:lvl1pPr>
              <a:defRPr sz="3200">
                <a:solidFill>
                  <a:schemeClr val="accent3"/>
                </a:solidFill>
              </a:defRPr>
            </a:lvl1pPr>
          </a:lstStyle>
          <a:p>
            <a:r>
              <a:rPr lang="en-US"/>
              <a:t>Click to edit Master title style</a:t>
            </a:r>
          </a:p>
        </p:txBody>
      </p:sp>
    </p:spTree>
    <p:extLst>
      <p:ext uri="{BB962C8B-B14F-4D97-AF65-F5344CB8AC3E}">
        <p14:creationId xmlns:p14="http://schemas.microsoft.com/office/powerpoint/2010/main" val="208372137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87B2D66C-ED12-49C4-87B3-971271683801}"/>
              </a:ext>
            </a:extLst>
          </p:cNvPr>
          <p:cNvSpPr>
            <a:spLocks noGrp="1"/>
          </p:cNvSpPr>
          <p:nvPr>
            <p:ph type="title"/>
          </p:nvPr>
        </p:nvSpPr>
        <p:spPr>
          <a:xfrm>
            <a:off x="588263" y="457200"/>
            <a:ext cx="11018520" cy="553998"/>
          </a:xfrm>
        </p:spPr>
        <p:txBody>
          <a:bodyPr/>
          <a:lstStyle/>
          <a:p>
            <a:r>
              <a:rPr lang="en-US"/>
              <a:t>Click to edit Master title style</a:t>
            </a:r>
          </a:p>
        </p:txBody>
      </p:sp>
    </p:spTree>
    <p:extLst>
      <p:ext uri="{BB962C8B-B14F-4D97-AF65-F5344CB8AC3E}">
        <p14:creationId xmlns:p14="http://schemas.microsoft.com/office/powerpoint/2010/main" val="3087520907"/>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5747186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90"/>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419"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82"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251"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59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693753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2" y="585790"/>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1932"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 Copyright Microsoft Corporation. All rights reserved. </a:t>
            </a:r>
          </a:p>
        </p:txBody>
      </p:sp>
    </p:spTree>
    <p:extLst>
      <p:ext uri="{BB962C8B-B14F-4D97-AF65-F5344CB8AC3E}">
        <p14:creationId xmlns:p14="http://schemas.microsoft.com/office/powerpoint/2010/main" val="384577157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3" y="6269040"/>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53655309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014773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rgbClr val="000000"/>
                </a:solidFill>
              </a:defRPr>
            </a:lvl1pPr>
          </a:lstStyle>
          <a:p>
            <a:pPr marL="0" lvl="0">
              <a:lnSpc>
                <a:spcPts val="5489"/>
              </a:lnSpc>
            </a:pPr>
            <a:r>
              <a:rPr lang="en-US"/>
              <a:t>Section title</a:t>
            </a:r>
          </a:p>
        </p:txBody>
      </p:sp>
    </p:spTree>
    <p:extLst>
      <p:ext uri="{BB962C8B-B14F-4D97-AF65-F5344CB8AC3E}">
        <p14:creationId xmlns:p14="http://schemas.microsoft.com/office/powerpoint/2010/main" val="1595576066"/>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Title &amp; 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1"/>
            <a:ext cx="11018838" cy="1095685"/>
          </a:xfrm>
        </p:spPr>
        <p:txBody>
          <a:bodyPr/>
          <a:lstStyle>
            <a:lvl1pPr>
              <a:buClr>
                <a:schemeClr val="tx1">
                  <a:lumMod val="50000"/>
                  <a:lumOff val="50000"/>
                </a:schemeClr>
              </a:buClr>
              <a:buSzPct val="100000"/>
              <a:defRPr/>
            </a:lvl1pPr>
            <a:lvl2pPr marL="639957">
              <a:buClr>
                <a:schemeClr val="tx1">
                  <a:lumMod val="50000"/>
                  <a:lumOff val="50000"/>
                </a:schemeClr>
              </a:buClr>
              <a:buSzPct val="100000"/>
              <a:defRPr/>
            </a:lvl2pPr>
            <a:lvl3pPr marL="1097069">
              <a:buClr>
                <a:schemeClr val="tx1">
                  <a:lumMod val="50000"/>
                  <a:lumOff val="50000"/>
                </a:schemeClr>
              </a:buClr>
              <a:buSzPct val="100000"/>
              <a:defRPr/>
            </a:lvl3pPr>
            <a:lvl4pPr>
              <a:buClr>
                <a:schemeClr val="tx1">
                  <a:lumMod val="50000"/>
                  <a:lumOff val="50000"/>
                </a:schemeClr>
              </a:buClr>
              <a:buSzPct val="100000"/>
              <a:defRPr/>
            </a:lvl4pPr>
          </a:lstStyle>
          <a:p>
            <a:pPr lvl="0"/>
            <a:r>
              <a:rPr lang="en-US"/>
              <a:t>Click to edit Master text styles</a:t>
            </a:r>
          </a:p>
          <a:p>
            <a:pPr lvl="1"/>
            <a:r>
              <a:rPr lang="en-US"/>
              <a:t>Second level</a:t>
            </a:r>
          </a:p>
          <a:p>
            <a:pPr lvl="2"/>
            <a:r>
              <a:rPr lang="en-US"/>
              <a:t>Third level</a:t>
            </a:r>
          </a:p>
        </p:txBody>
      </p:sp>
      <p:sp>
        <p:nvSpPr>
          <p:cNvPr id="5" name="TextBox 4">
            <a:extLst>
              <a:ext uri="{FF2B5EF4-FFF2-40B4-BE49-F238E27FC236}">
                <a16:creationId xmlns:a16="http://schemas.microsoft.com/office/drawing/2014/main" id="{2E4A3D60-9462-4E00-8783-8DB549CD4F54}"/>
              </a:ext>
            </a:extLst>
          </p:cNvPr>
          <p:cNvSpPr txBox="1"/>
          <p:nvPr userDrawn="1"/>
        </p:nvSpPr>
        <p:spPr>
          <a:xfrm>
            <a:off x="5175877" y="6605852"/>
            <a:ext cx="1840247" cy="123111"/>
          </a:xfrm>
          <a:prstGeom prst="rect">
            <a:avLst/>
          </a:prstGeom>
          <a:noFill/>
        </p:spPr>
        <p:txBody>
          <a:bodyPr wrap="none" lIns="0" tIns="0" rIns="0" bIns="0" rtlCol="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200" normalizeH="0" noProof="0">
                <a:ln>
                  <a:noFill/>
                </a:ln>
                <a:solidFill>
                  <a:schemeClr val="accent5"/>
                </a:solidFill>
                <a:effectLst/>
                <a:uLnTx/>
                <a:uFillTx/>
                <a:latin typeface="Segoe UI" panose="020B0502040204020203" pitchFamily="34" charset="0"/>
                <a:ea typeface="+mn-ea"/>
                <a:cs typeface="Segoe UI" panose="020B0502040204020203" pitchFamily="34" charset="0"/>
              </a:rPr>
              <a:t>MICROSOFT CONFIDENTIAL</a:t>
            </a:r>
          </a:p>
        </p:txBody>
      </p:sp>
    </p:spTree>
    <p:extLst>
      <p:ext uri="{BB962C8B-B14F-4D97-AF65-F5344CB8AC3E}">
        <p14:creationId xmlns:p14="http://schemas.microsoft.com/office/powerpoint/2010/main" val="329718031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6" y="1922586"/>
            <a:ext cx="9384447" cy="3365537"/>
          </a:xfrm>
          <a:prstGeom prst="rect">
            <a:avLst/>
          </a:prstGeom>
        </p:spPr>
        <p:txBody>
          <a:bodyPr wrap="square" lIns="0" tIns="0" rIns="0" bIns="0">
            <a:spAutoFit/>
          </a:bodyPr>
          <a:lstStyle>
            <a:lvl1pPr marL="336080" marR="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080" marR="0" lvl="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080" marR="0" lvl="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369739006"/>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1"/>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MS logo white - EMF" descr="Microsoft logo white text version">
            <a:extLst>
              <a:ext uri="{FF2B5EF4-FFF2-40B4-BE49-F238E27FC236}">
                <a16:creationId xmlns:a16="http://schemas.microsoft.com/office/drawing/2014/main" id="{F4DDC873-B78F-4A52-9091-6AB1225F43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23887762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0" y="585789"/>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1"/>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993197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547898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16127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929893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Only">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628A1-6D0B-4C49-9848-3A328EDFE1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073762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628A1-6D0B-4C49-9848-3A328EDFE13F}"/>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3AD74EE-BB23-477C-B547-7FF949AFFC11}"/>
              </a:ext>
            </a:extLst>
          </p:cNvPr>
          <p:cNvSpPr>
            <a:spLocks noGrp="1"/>
          </p:cNvSpPr>
          <p:nvPr>
            <p:ph type="body" sz="quarter" idx="10"/>
          </p:nvPr>
        </p:nvSpPr>
        <p:spPr>
          <a:xfrm>
            <a:off x="584200" y="1809750"/>
            <a:ext cx="5067300" cy="603242"/>
          </a:xfrm>
        </p:spPr>
        <p:txBody>
          <a:bodyPr/>
          <a:lstStyle>
            <a:lvl1pPr marL="0" indent="0">
              <a:buNone/>
              <a:defRPr sz="2000">
                <a:solidFill>
                  <a:schemeClr val="accent2"/>
                </a:solidFill>
                <a:latin typeface="+mj-lt"/>
              </a:defRPr>
            </a:lvl1pPr>
            <a:lvl2pPr marL="285695" indent="-285695">
              <a:buFont typeface="Arial" panose="020B0604020202020204" pitchFamily="34" charset="0"/>
              <a:buChar char="•"/>
              <a:defRPr sz="1600"/>
            </a:lvl2pPr>
            <a:lvl3pPr marL="457112" indent="0">
              <a:buNone/>
              <a:defRPr/>
            </a:lvl3pPr>
            <a:lvl4pPr marL="661861" indent="0">
              <a:buNone/>
              <a:defRPr/>
            </a:lvl4pPr>
            <a:lvl5pPr marL="855499" indent="0">
              <a:buNone/>
              <a:defRPr/>
            </a:lvl5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196CCCAE-7C1E-48F5-96F9-217176546A49}"/>
              </a:ext>
            </a:extLst>
          </p:cNvPr>
          <p:cNvSpPr>
            <a:spLocks noGrp="1"/>
          </p:cNvSpPr>
          <p:nvPr>
            <p:ph type="pic" sz="quarter" idx="11"/>
          </p:nvPr>
        </p:nvSpPr>
        <p:spPr>
          <a:xfrm>
            <a:off x="6477000" y="3429001"/>
            <a:ext cx="5715000" cy="430901"/>
          </a:xfrm>
        </p:spPr>
        <p:txBody>
          <a:bodyPr/>
          <a:lstStyle/>
          <a:p>
            <a:endParaRPr lang="en-US"/>
          </a:p>
        </p:txBody>
      </p:sp>
      <p:sp>
        <p:nvSpPr>
          <p:cNvPr id="8" name="Text Placeholder 3">
            <a:extLst>
              <a:ext uri="{FF2B5EF4-FFF2-40B4-BE49-F238E27FC236}">
                <a16:creationId xmlns:a16="http://schemas.microsoft.com/office/drawing/2014/main" id="{FA1BC9F1-A052-4A55-A548-4E1FE39CFB8C}"/>
              </a:ext>
            </a:extLst>
          </p:cNvPr>
          <p:cNvSpPr>
            <a:spLocks noGrp="1"/>
          </p:cNvSpPr>
          <p:nvPr>
            <p:ph type="body" sz="quarter" idx="12"/>
          </p:nvPr>
        </p:nvSpPr>
        <p:spPr>
          <a:xfrm>
            <a:off x="6477000" y="2025650"/>
            <a:ext cx="5132388" cy="504754"/>
          </a:xfrm>
        </p:spPr>
        <p:txBody>
          <a:bodyPr/>
          <a:lstStyle>
            <a:lvl1pPr marL="0" indent="0">
              <a:buFont typeface="Arial" panose="020B0604020202020204" pitchFamily="34" charset="0"/>
              <a:buNone/>
              <a:defRPr sz="1600">
                <a:solidFill>
                  <a:schemeClr val="accent2"/>
                </a:solidFill>
                <a:latin typeface="+mn-lt"/>
              </a:defRPr>
            </a:lvl1pPr>
            <a:lvl2pPr marL="0" indent="0" algn="l">
              <a:buFont typeface="Arial" panose="020B0604020202020204" pitchFamily="34" charset="0"/>
              <a:buNone/>
              <a:defRPr sz="1400">
                <a:latin typeface="+mj-lt"/>
              </a:defRPr>
            </a:lvl2pPr>
            <a:lvl3pPr marL="457112" indent="0">
              <a:buNone/>
              <a:defRPr/>
            </a:lvl3pPr>
            <a:lvl4pPr marL="661861" indent="0">
              <a:buNone/>
              <a:defRPr/>
            </a:lvl4pPr>
            <a:lvl5pPr marL="855499" indent="0">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6969946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plit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1"/>
            <a:ext cx="5146331" cy="1107996"/>
          </a:xfrm>
        </p:spPr>
        <p:txBody>
          <a:bodyPr>
            <a:spAutoFit/>
          </a:bodyPr>
          <a:lstStyle/>
          <a:p>
            <a:r>
              <a:rPr lang="en-US"/>
              <a:t>Click to edit Master title style</a:t>
            </a:r>
          </a:p>
        </p:txBody>
      </p:sp>
      <p:sp>
        <p:nvSpPr>
          <p:cNvPr id="3" name="Text Placeholder 2"/>
          <p:cNvSpPr>
            <a:spLocks noGrp="1"/>
          </p:cNvSpPr>
          <p:nvPr>
            <p:ph type="body" sz="quarter" idx="10"/>
          </p:nvPr>
        </p:nvSpPr>
        <p:spPr>
          <a:xfrm>
            <a:off x="584201" y="1923177"/>
            <a:ext cx="5146331" cy="1268039"/>
          </a:xfrm>
        </p:spPr>
        <p:txBody>
          <a:bodyPr/>
          <a:lstStyle>
            <a:lvl1pPr>
              <a:spcBef>
                <a:spcPts val="800"/>
              </a:spcBef>
              <a:defRPr sz="2000"/>
            </a:lvl1pPr>
            <a:lvl2pPr>
              <a:defRPr sz="16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0FB4210-801B-4ED3-BCD7-3A36E6E35036}"/>
              </a:ext>
            </a:extLst>
          </p:cNvPr>
          <p:cNvSpPr>
            <a:spLocks noGrp="1"/>
          </p:cNvSpPr>
          <p:nvPr>
            <p:ph type="pic" sz="quarter" idx="11"/>
          </p:nvPr>
        </p:nvSpPr>
        <p:spPr>
          <a:xfrm>
            <a:off x="6096001" y="0"/>
            <a:ext cx="6096000" cy="430901"/>
          </a:xfrm>
        </p:spPr>
        <p:txBody>
          <a:bodyPr/>
          <a:lstStyle/>
          <a:p>
            <a:endParaRPr lang="en-US"/>
          </a:p>
        </p:txBody>
      </p:sp>
    </p:spTree>
    <p:extLst>
      <p:ext uri="{BB962C8B-B14F-4D97-AF65-F5344CB8AC3E}">
        <p14:creationId xmlns:p14="http://schemas.microsoft.com/office/powerpoint/2010/main" val="401001142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pli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3D3045-96A6-47EA-8E6C-C98A6581098A}"/>
              </a:ext>
            </a:extLst>
          </p:cNvPr>
          <p:cNvSpPr/>
          <p:nvPr userDrawn="1"/>
        </p:nvSpPr>
        <p:spPr bwMode="auto">
          <a:xfrm>
            <a:off x="0" y="0"/>
            <a:ext cx="60960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l" defTabSz="932293"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5146331" cy="1107996"/>
          </a:xfrm>
        </p:spPr>
        <p:txBody>
          <a:bodyPr anchor="ctr">
            <a:spAutoFit/>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p:nvPr>
        </p:nvSpPr>
        <p:spPr>
          <a:xfrm>
            <a:off x="6879772" y="2794981"/>
            <a:ext cx="4616560" cy="1268039"/>
          </a:xfrm>
        </p:spPr>
        <p:txBody>
          <a:bodyPr anchor="ctr"/>
          <a:lstStyle>
            <a:lvl1pPr marL="399973" indent="-399973">
              <a:spcBef>
                <a:spcPts val="1800"/>
              </a:spcBef>
              <a:defRPr sz="2000">
                <a:latin typeface="+mn-lt"/>
              </a:defRPr>
            </a:lvl1pPr>
            <a:lvl2pPr>
              <a:defRPr sz="16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94346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eft big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2F3B8-09D5-4269-A4BC-8B6B6FA0475F}"/>
              </a:ext>
            </a:extLst>
          </p:cNvPr>
          <p:cNvSpPr>
            <a:spLocks noGrp="1"/>
          </p:cNvSpPr>
          <p:nvPr>
            <p:ph type="title"/>
          </p:nvPr>
        </p:nvSpPr>
        <p:spPr>
          <a:xfrm>
            <a:off x="914259" y="1544139"/>
            <a:ext cx="4590644" cy="1231106"/>
          </a:xfrm>
        </p:spPr>
        <p:txBody>
          <a:bodyPr/>
          <a:lstStyle>
            <a:lvl1pPr>
              <a:defRPr sz="4000"/>
            </a:lvl1pPr>
          </a:lstStyle>
          <a:p>
            <a:r>
              <a:rPr lang="en-US"/>
              <a:t>Click to edit Master title style</a:t>
            </a:r>
          </a:p>
        </p:txBody>
      </p:sp>
      <p:sp>
        <p:nvSpPr>
          <p:cNvPr id="7" name="Picture Placeholder 6">
            <a:extLst>
              <a:ext uri="{FF2B5EF4-FFF2-40B4-BE49-F238E27FC236}">
                <a16:creationId xmlns:a16="http://schemas.microsoft.com/office/drawing/2014/main" id="{CC91F959-89D9-400C-9B8C-79FB496739F9}"/>
              </a:ext>
            </a:extLst>
          </p:cNvPr>
          <p:cNvSpPr>
            <a:spLocks noGrp="1"/>
          </p:cNvSpPr>
          <p:nvPr>
            <p:ph type="pic" sz="quarter" idx="10"/>
          </p:nvPr>
        </p:nvSpPr>
        <p:spPr>
          <a:xfrm>
            <a:off x="6096000" y="0"/>
            <a:ext cx="6096000" cy="430901"/>
          </a:xfrm>
        </p:spPr>
        <p:txBody>
          <a:bodyPr/>
          <a:lstStyle/>
          <a:p>
            <a:endParaRPr lang="en-US"/>
          </a:p>
        </p:txBody>
      </p:sp>
      <p:sp>
        <p:nvSpPr>
          <p:cNvPr id="9" name="Text Placeholder 8">
            <a:extLst>
              <a:ext uri="{FF2B5EF4-FFF2-40B4-BE49-F238E27FC236}">
                <a16:creationId xmlns:a16="http://schemas.microsoft.com/office/drawing/2014/main" id="{C4B271D5-6DF8-471A-952B-E5EF65535D62}"/>
              </a:ext>
            </a:extLst>
          </p:cNvPr>
          <p:cNvSpPr>
            <a:spLocks noGrp="1"/>
          </p:cNvSpPr>
          <p:nvPr>
            <p:ph type="body" sz="quarter" idx="11"/>
          </p:nvPr>
        </p:nvSpPr>
        <p:spPr>
          <a:xfrm>
            <a:off x="914401" y="4093482"/>
            <a:ext cx="3900714" cy="184666"/>
          </a:xfrm>
        </p:spPr>
        <p:txBody>
          <a:bodyPr/>
          <a:lstStyle>
            <a:lvl1pPr marL="0" indent="0">
              <a:buNone/>
              <a:defRPr sz="1200" baseline="0">
                <a:latin typeface="+mn-lt"/>
              </a:defRPr>
            </a:lvl1pPr>
            <a:lvl2pPr marL="228556" indent="0">
              <a:buNone/>
              <a:defRPr/>
            </a:lvl2pPr>
            <a:lvl3pPr marL="457112" indent="0">
              <a:buNone/>
              <a:defRPr/>
            </a:lvl3pPr>
            <a:lvl4pPr marL="661861" indent="0">
              <a:buNone/>
              <a:defRPr/>
            </a:lvl4pPr>
            <a:lvl5pPr marL="855499" indent="0">
              <a:buNone/>
              <a:defRPr/>
            </a:lvl5pPr>
          </a:lstStyle>
          <a:p>
            <a:pPr lvl="0"/>
            <a:r>
              <a:rPr lang="en-US"/>
              <a:t>Edit Master text styles</a:t>
            </a:r>
          </a:p>
        </p:txBody>
      </p:sp>
    </p:spTree>
    <p:extLst>
      <p:ext uri="{BB962C8B-B14F-4D97-AF65-F5344CB8AC3E}">
        <p14:creationId xmlns:p14="http://schemas.microsoft.com/office/powerpoint/2010/main" val="244319934"/>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Right big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2F3B8-09D5-4269-A4BC-8B6B6FA0475F}"/>
              </a:ext>
            </a:extLst>
          </p:cNvPr>
          <p:cNvSpPr>
            <a:spLocks noGrp="1"/>
          </p:cNvSpPr>
          <p:nvPr>
            <p:ph type="title"/>
          </p:nvPr>
        </p:nvSpPr>
        <p:spPr>
          <a:xfrm>
            <a:off x="6687097" y="1544139"/>
            <a:ext cx="4590644" cy="1231106"/>
          </a:xfrm>
        </p:spPr>
        <p:txBody>
          <a:bodyPr/>
          <a:lstStyle>
            <a:lvl1pPr algn="r">
              <a:defRPr sz="4000"/>
            </a:lvl1pPr>
          </a:lstStyle>
          <a:p>
            <a:r>
              <a:rPr lang="en-US"/>
              <a:t>Click to edit Master title style</a:t>
            </a:r>
          </a:p>
        </p:txBody>
      </p:sp>
      <p:sp>
        <p:nvSpPr>
          <p:cNvPr id="7" name="Picture Placeholder 6">
            <a:extLst>
              <a:ext uri="{FF2B5EF4-FFF2-40B4-BE49-F238E27FC236}">
                <a16:creationId xmlns:a16="http://schemas.microsoft.com/office/drawing/2014/main" id="{CC91F959-89D9-400C-9B8C-79FB496739F9}"/>
              </a:ext>
            </a:extLst>
          </p:cNvPr>
          <p:cNvSpPr>
            <a:spLocks noGrp="1"/>
          </p:cNvSpPr>
          <p:nvPr>
            <p:ph type="pic" sz="quarter" idx="10"/>
          </p:nvPr>
        </p:nvSpPr>
        <p:spPr>
          <a:xfrm>
            <a:off x="0" y="0"/>
            <a:ext cx="6096000" cy="430901"/>
          </a:xfrm>
        </p:spPr>
        <p:txBody>
          <a:bodyPr/>
          <a:lstStyle/>
          <a:p>
            <a:endParaRPr lang="en-US"/>
          </a:p>
        </p:txBody>
      </p:sp>
      <p:sp>
        <p:nvSpPr>
          <p:cNvPr id="9" name="Text Placeholder 8">
            <a:extLst>
              <a:ext uri="{FF2B5EF4-FFF2-40B4-BE49-F238E27FC236}">
                <a16:creationId xmlns:a16="http://schemas.microsoft.com/office/drawing/2014/main" id="{C4B271D5-6DF8-471A-952B-E5EF65535D62}"/>
              </a:ext>
            </a:extLst>
          </p:cNvPr>
          <p:cNvSpPr>
            <a:spLocks noGrp="1"/>
          </p:cNvSpPr>
          <p:nvPr>
            <p:ph type="body" sz="quarter" idx="11"/>
          </p:nvPr>
        </p:nvSpPr>
        <p:spPr>
          <a:xfrm>
            <a:off x="6687238" y="4093482"/>
            <a:ext cx="4591050" cy="184666"/>
          </a:xfrm>
        </p:spPr>
        <p:txBody>
          <a:bodyPr/>
          <a:lstStyle>
            <a:lvl1pPr marL="0" indent="0" algn="r">
              <a:buNone/>
              <a:defRPr sz="1200" baseline="0">
                <a:latin typeface="+mn-lt"/>
              </a:defRPr>
            </a:lvl1pPr>
            <a:lvl2pPr marL="228556" indent="0">
              <a:buNone/>
              <a:defRPr/>
            </a:lvl2pPr>
            <a:lvl3pPr marL="457112" indent="0">
              <a:buNone/>
              <a:defRPr/>
            </a:lvl3pPr>
            <a:lvl4pPr marL="661861" indent="0">
              <a:buNone/>
              <a:defRPr/>
            </a:lvl4pPr>
            <a:lvl5pPr marL="855499" indent="0">
              <a:buNone/>
              <a:defRPr/>
            </a:lvl5pPr>
          </a:lstStyle>
          <a:p>
            <a:pPr lvl="0"/>
            <a:r>
              <a:rPr lang="en-US"/>
              <a:t>Edit Master text styles</a:t>
            </a:r>
          </a:p>
        </p:txBody>
      </p:sp>
    </p:spTree>
    <p:extLst>
      <p:ext uri="{BB962C8B-B14F-4D97-AF65-F5344CB8AC3E}">
        <p14:creationId xmlns:p14="http://schemas.microsoft.com/office/powerpoint/2010/main" val="4174828761"/>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171512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30" indent="-231730">
              <a:spcBef>
                <a:spcPts val="1223"/>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6956" indent="-171417">
              <a:buFont typeface="Wingdings" panose="05000000000000000000" pitchFamily="2" charset="2"/>
              <a:buChar char=""/>
              <a:defRPr sz="2000" b="0"/>
            </a:lvl2pPr>
            <a:lvl3pPr marL="639640" indent="-188876">
              <a:buFont typeface="Wingdings" panose="05000000000000000000" pitchFamily="2" charset="2"/>
              <a:buChar char=""/>
              <a:tabLst/>
              <a:defRPr sz="1600" b="0"/>
            </a:lvl3pPr>
            <a:lvl4pPr marL="828516" indent="-176180">
              <a:buFont typeface="Wingdings" panose="05000000000000000000" pitchFamily="2" charset="2"/>
              <a:buChar char=""/>
              <a:defRPr sz="1400" b="0"/>
            </a:lvl4pPr>
            <a:lvl5pPr marL="1023741" indent="-169830">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30" indent="-231730">
              <a:spcBef>
                <a:spcPts val="1223"/>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6956" indent="-171417">
              <a:buFont typeface="Wingdings" panose="05000000000000000000" pitchFamily="2" charset="2"/>
              <a:buChar char=""/>
              <a:defRPr sz="2000" b="0"/>
            </a:lvl2pPr>
            <a:lvl3pPr marL="639640" indent="-188876">
              <a:buFont typeface="Wingdings" panose="05000000000000000000" pitchFamily="2" charset="2"/>
              <a:buChar char=""/>
              <a:tabLst/>
              <a:defRPr sz="1600" b="0"/>
            </a:lvl3pPr>
            <a:lvl4pPr marL="828516" indent="-176180">
              <a:buFont typeface="Wingdings" panose="05000000000000000000" pitchFamily="2" charset="2"/>
              <a:buChar char=""/>
              <a:defRPr sz="1400" b="0"/>
            </a:lvl4pPr>
            <a:lvl5pPr marL="1023741" indent="-169830">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37354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563" rtl="0" eaLnBrk="1" latinLnBrk="0" hangingPunct="1">
              <a:lnSpc>
                <a:spcPct val="90000"/>
              </a:lnSpc>
              <a:spcBef>
                <a:spcPct val="0"/>
              </a:spcBef>
              <a:buNone/>
              <a:defRPr lang="en-US" sz="3600" b="1"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07792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7427439"/>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141140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9"/>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486"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95"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40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795"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607374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tx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111"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4052883909"/>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2"/>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49856957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losing blue">
    <p:bg>
      <p:bgPr>
        <a:solidFill>
          <a:schemeClr val="accent1"/>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28494" y="6318462"/>
            <a:ext cx="4482124"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111"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DBCC3F24-BF53-4EF0-8FC2-26C4B364170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28682" y="3204862"/>
            <a:ext cx="2102988" cy="448276"/>
          </a:xfrm>
          <a:prstGeom prst="rect">
            <a:avLst/>
          </a:prstGeom>
        </p:spPr>
      </p:pic>
    </p:spTree>
    <p:extLst>
      <p:ext uri="{BB962C8B-B14F-4D97-AF65-F5344CB8AC3E}">
        <p14:creationId xmlns:p14="http://schemas.microsoft.com/office/powerpoint/2010/main" val="1503917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lank whit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01173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325CC-58EF-419D-89DF-41C08AA559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4A4C26-71D2-46E5-8930-AAE9FCA190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89ADDB-2778-418E-A71D-73131A12F80B}"/>
              </a:ext>
            </a:extLst>
          </p:cNvPr>
          <p:cNvSpPr>
            <a:spLocks noGrp="1"/>
          </p:cNvSpPr>
          <p:nvPr>
            <p:ph type="dt" sz="half" idx="10"/>
          </p:nvPr>
        </p:nvSpPr>
        <p:spPr/>
        <p:txBody>
          <a:bodyPr/>
          <a:lstStyle/>
          <a:p>
            <a:fld id="{2E99F85C-7C59-4824-833F-E06B04FF259D}" type="datetimeFigureOut">
              <a:rPr lang="en-US" smtClean="0"/>
              <a:t>8/16/2023</a:t>
            </a:fld>
            <a:endParaRPr lang="en-US"/>
          </a:p>
        </p:txBody>
      </p:sp>
      <p:sp>
        <p:nvSpPr>
          <p:cNvPr id="5" name="Footer Placeholder 4">
            <a:extLst>
              <a:ext uri="{FF2B5EF4-FFF2-40B4-BE49-F238E27FC236}">
                <a16:creationId xmlns:a16="http://schemas.microsoft.com/office/drawing/2014/main" id="{388B2B08-B19F-454E-92FC-5FBEB64AA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A6FA8-47D5-4D78-B110-DA4F4828080B}"/>
              </a:ext>
            </a:extLst>
          </p:cNvPr>
          <p:cNvSpPr>
            <a:spLocks noGrp="1"/>
          </p:cNvSpPr>
          <p:nvPr>
            <p:ph type="sldNum" sz="quarter" idx="12"/>
          </p:nvPr>
        </p:nvSpPr>
        <p:spPr/>
        <p:txBody>
          <a:bodyPr/>
          <a:lstStyle/>
          <a:p>
            <a:fld id="{DCBB70F6-7110-42A0-A402-CFAC9D583D47}" type="slidenum">
              <a:rPr lang="en-US" smtClean="0"/>
              <a:t>‹#›</a:t>
            </a:fld>
            <a:endParaRPr lang="en-US"/>
          </a:p>
        </p:txBody>
      </p:sp>
    </p:spTree>
    <p:extLst>
      <p:ext uri="{BB962C8B-B14F-4D97-AF65-F5344CB8AC3E}">
        <p14:creationId xmlns:p14="http://schemas.microsoft.com/office/powerpoint/2010/main" val="34171766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60pt Title/22pt Text - Accent4">
    <p:bg>
      <p:bgPr>
        <a:solidFill>
          <a:schemeClr val="accent4"/>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57" y="1558"/>
          <a:ext cx="1556" cy="1556"/>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57" y="1558"/>
                        <a:ext cx="1556" cy="1556"/>
                      </a:xfrm>
                      <a:prstGeom prst="rect">
                        <a:avLst/>
                      </a:prstGeom>
                    </p:spPr>
                  </p:pic>
                </p:oleObj>
              </mc:Fallback>
            </mc:AlternateContent>
          </a:graphicData>
        </a:graphic>
      </p:graphicFrame>
      <p:sp>
        <p:nvSpPr>
          <p:cNvPr id="7" name="Title 1"/>
          <p:cNvSpPr>
            <a:spLocks noGrp="1"/>
          </p:cNvSpPr>
          <p:nvPr>
            <p:ph type="ctrTitle" hasCustomPrompt="1"/>
          </p:nvPr>
        </p:nvSpPr>
        <p:spPr>
          <a:xfrm>
            <a:off x="573714" y="2100816"/>
            <a:ext cx="11007660" cy="905181"/>
          </a:xfrm>
        </p:spPr>
        <p:txBody>
          <a:bodyPr/>
          <a:lstStyle>
            <a:lvl1pPr>
              <a:defRPr sz="5881">
                <a:solidFill>
                  <a:schemeClr val="bg1"/>
                </a:solidFill>
              </a:defRPr>
            </a:lvl1pPr>
          </a:lstStyle>
          <a:p>
            <a:r>
              <a:rPr lang="en-US"/>
              <a:t>Title</a:t>
            </a:r>
          </a:p>
        </p:txBody>
      </p:sp>
      <p:sp>
        <p:nvSpPr>
          <p:cNvPr id="10" name="Subtitle 2"/>
          <p:cNvSpPr>
            <a:spLocks noGrp="1"/>
          </p:cNvSpPr>
          <p:nvPr>
            <p:ph type="subTitle" idx="1" hasCustomPrompt="1"/>
          </p:nvPr>
        </p:nvSpPr>
        <p:spPr>
          <a:xfrm>
            <a:off x="573712" y="3877276"/>
            <a:ext cx="11008097" cy="331946"/>
          </a:xfrm>
        </p:spPr>
        <p:txBody>
          <a:bodyPr/>
          <a:lstStyle>
            <a:lvl1pPr marL="0" indent="0" algn="l">
              <a:lnSpc>
                <a:spcPct val="100000"/>
              </a:lnSpc>
              <a:buNone/>
              <a:defRPr sz="2157">
                <a:solidFill>
                  <a:schemeClr val="bg1"/>
                </a:solidFill>
                <a:latin typeface="+mn-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a:t>Subtitle</a:t>
            </a:r>
          </a:p>
        </p:txBody>
      </p:sp>
    </p:spTree>
    <p:extLst>
      <p:ext uri="{BB962C8B-B14F-4D97-AF65-F5344CB8AC3E}">
        <p14:creationId xmlns:p14="http://schemas.microsoft.com/office/powerpoint/2010/main" val="38341000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075"/>
              </a:lnSpc>
              <a:defRPr sz="2691" strike="noStrike">
                <a:solidFill>
                  <a:srgbClr val="000000"/>
                </a:solidFill>
              </a:defRPr>
            </a:lvl1pPr>
          </a:lstStyle>
          <a:p>
            <a:r>
              <a:rPr lang="en-US"/>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70" y="6455175"/>
            <a:ext cx="11306469" cy="206851"/>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895920" rtl="0" eaLnBrk="0" fontAlgn="auto" latinLnBrk="0" hangingPunct="0">
              <a:lnSpc>
                <a:spcPct val="100000"/>
              </a:lnSpc>
              <a:spcBef>
                <a:spcPts val="0"/>
              </a:spcBef>
              <a:spcAft>
                <a:spcPts val="0"/>
              </a:spcAft>
              <a:buClrTx/>
              <a:buSzTx/>
              <a:buFontTx/>
              <a:buNone/>
              <a:tabLst/>
              <a:defRPr/>
            </a:pPr>
            <a:r>
              <a:rPr kumimoji="0" lang="en-US" sz="672" b="0" i="0" u="none" strike="noStrike" kern="1200" cap="none" spc="0" normalizeH="0" baseline="0" noProof="0">
                <a:ln>
                  <a:noFill/>
                </a:ln>
                <a:solidFill>
                  <a:srgbClr val="EBEBEB">
                    <a:lumMod val="75000"/>
                  </a:srgbClr>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85279474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2.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image" Target="../media/image6.png"/><Relationship Id="rId2" Type="http://schemas.openxmlformats.org/officeDocument/2006/relationships/slideLayout" Target="../slideLayouts/slideLayout47.xml"/><Relationship Id="rId16" Type="http://schemas.openxmlformats.org/officeDocument/2006/relationships/image" Target="../media/image5.emf"/><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3.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image" Target="../media/image11.emf"/><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1.xml"/><Relationship Id="rId13" Type="http://schemas.openxmlformats.org/officeDocument/2006/relationships/slideLayout" Target="../slideLayouts/slideLayout106.xml"/><Relationship Id="rId3" Type="http://schemas.openxmlformats.org/officeDocument/2006/relationships/slideLayout" Target="../slideLayouts/slideLayout96.xml"/><Relationship Id="rId7" Type="http://schemas.openxmlformats.org/officeDocument/2006/relationships/slideLayout" Target="../slideLayouts/slideLayout100.xml"/><Relationship Id="rId12" Type="http://schemas.openxmlformats.org/officeDocument/2006/relationships/slideLayout" Target="../slideLayouts/slideLayout105.xml"/><Relationship Id="rId17" Type="http://schemas.openxmlformats.org/officeDocument/2006/relationships/theme" Target="../theme/theme6.xml"/><Relationship Id="rId2" Type="http://schemas.openxmlformats.org/officeDocument/2006/relationships/slideLayout" Target="../slideLayouts/slideLayout95.xml"/><Relationship Id="rId16" Type="http://schemas.openxmlformats.org/officeDocument/2006/relationships/slideLayout" Target="../slideLayouts/slideLayout109.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5" Type="http://schemas.openxmlformats.org/officeDocument/2006/relationships/slideLayout" Target="../slideLayouts/slideLayout108.xml"/><Relationship Id="rId10" Type="http://schemas.openxmlformats.org/officeDocument/2006/relationships/slideLayout" Target="../slideLayouts/slideLayout103.xml"/><Relationship Id="rId4" Type="http://schemas.openxmlformats.org/officeDocument/2006/relationships/slideLayout" Target="../slideLayouts/slideLayout97.xml"/><Relationship Id="rId9" Type="http://schemas.openxmlformats.org/officeDocument/2006/relationships/slideLayout" Target="../slideLayouts/slideLayout102.xml"/><Relationship Id="rId14" Type="http://schemas.openxmlformats.org/officeDocument/2006/relationships/slideLayout" Target="../slideLayouts/slideLayout107.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12.xml"/><Relationship Id="rId7" Type="http://schemas.openxmlformats.org/officeDocument/2006/relationships/theme" Target="../theme/theme7.xml"/><Relationship Id="rId2" Type="http://schemas.openxmlformats.org/officeDocument/2006/relationships/slideLayout" Target="../slideLayouts/slideLayout111.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3.xml"/><Relationship Id="rId3" Type="http://schemas.openxmlformats.org/officeDocument/2006/relationships/slideLayout" Target="../slideLayouts/slideLayout118.xml"/><Relationship Id="rId7" Type="http://schemas.openxmlformats.org/officeDocument/2006/relationships/slideLayout" Target="../slideLayouts/slideLayout122.xml"/><Relationship Id="rId2" Type="http://schemas.openxmlformats.org/officeDocument/2006/relationships/slideLayout" Target="../slideLayouts/slideLayout117.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image" Target="../media/image11.emf"/><Relationship Id="rId5" Type="http://schemas.openxmlformats.org/officeDocument/2006/relationships/slideLayout" Target="../slideLayouts/slideLayout120.xml"/><Relationship Id="rId10" Type="http://schemas.openxmlformats.org/officeDocument/2006/relationships/theme" Target="../theme/theme8.xml"/><Relationship Id="rId4" Type="http://schemas.openxmlformats.org/officeDocument/2006/relationships/slideLayout" Target="../slideLayouts/slideLayout119.xml"/><Relationship Id="rId9" Type="http://schemas.openxmlformats.org/officeDocument/2006/relationships/slideLayout" Target="../slideLayouts/slideLayout124.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slideLayout" Target="../slideLayouts/slideLayout145.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5" Type="http://schemas.openxmlformats.org/officeDocument/2006/relationships/image" Target="../media/image1.emf"/><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24" Type="http://schemas.openxmlformats.org/officeDocument/2006/relationships/theme" Target="../theme/theme9.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23" Type="http://schemas.openxmlformats.org/officeDocument/2006/relationships/slideLayout" Target="../slideLayouts/slideLayout147.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slideLayout" Target="../slideLayouts/slideLayout1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98090009"/>
      </p:ext>
    </p:extLst>
  </p:cSld>
  <p:clrMap bg1="lt1" tx1="dk1" bg2="lt2" tx2="dk2" accent1="accent1" accent2="accent2" accent3="accent3" accent4="accent4" accent5="accent5" accent6="accent6" hlink="hlink" folHlink="folHlink"/>
  <p:sldLayoutIdLst>
    <p:sldLayoutId id="2147485099" r:id="rId1"/>
    <p:sldLayoutId id="2147485100" r:id="rId2"/>
    <p:sldLayoutId id="2147485101" r:id="rId3"/>
    <p:sldLayoutId id="2147485102" r:id="rId4"/>
    <p:sldLayoutId id="2147485103" r:id="rId5"/>
    <p:sldLayoutId id="2147484792" r:id="rId6"/>
    <p:sldLayoutId id="2147485104" r:id="rId7"/>
    <p:sldLayoutId id="2147484793" r:id="rId8"/>
    <p:sldLayoutId id="2147485105" r:id="rId9"/>
    <p:sldLayoutId id="2147485106" r:id="rId10"/>
    <p:sldLayoutId id="2147485107" r:id="rId11"/>
    <p:sldLayoutId id="2147484775" r:id="rId12"/>
    <p:sldLayoutId id="2147484776" r:id="rId13"/>
    <p:sldLayoutId id="2147484777" r:id="rId14"/>
    <p:sldLayoutId id="2147484778" r:id="rId15"/>
    <p:sldLayoutId id="2147484779" r:id="rId16"/>
    <p:sldLayoutId id="2147484780" r:id="rId17"/>
    <p:sldLayoutId id="2147484781" r:id="rId18"/>
    <p:sldLayoutId id="2147484782" r:id="rId19"/>
    <p:sldLayoutId id="2147484785" r:id="rId20"/>
    <p:sldLayoutId id="2147484786" r:id="rId21"/>
    <p:sldLayoutId id="2147484787" r:id="rId22"/>
    <p:sldLayoutId id="2147484788" r:id="rId23"/>
    <p:sldLayoutId id="2147484789" r:id="rId24"/>
    <p:sldLayoutId id="2147484790" r:id="rId25"/>
    <p:sldLayoutId id="2147484791" r:id="rId26"/>
    <p:sldLayoutId id="2147485262" r:id="rId27"/>
    <p:sldLayoutId id="2147485263" r:id="rId2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269389358"/>
      </p:ext>
    </p:extLst>
  </p:cSld>
  <p:clrMap bg1="dk1" tx1="lt1" bg2="dk2" tx2="lt2" accent1="accent1" accent2="accent2" accent3="accent3" accent4="accent4" accent5="accent5" accent6="accent6" hlink="hlink" folHlink="folHlink"/>
  <p:sldLayoutIdLst>
    <p:sldLayoutId id="2147484746" r:id="rId1"/>
    <p:sldLayoutId id="2147484747" r:id="rId2"/>
    <p:sldLayoutId id="2147484748" r:id="rId3"/>
    <p:sldLayoutId id="2147484749" r:id="rId4"/>
    <p:sldLayoutId id="2147484750" r:id="rId5"/>
    <p:sldLayoutId id="2147484751" r:id="rId6"/>
    <p:sldLayoutId id="2147484752" r:id="rId7"/>
    <p:sldLayoutId id="2147484765" r:id="rId8"/>
    <p:sldLayoutId id="2147484766" r:id="rId9"/>
    <p:sldLayoutId id="2147484767" r:id="rId10"/>
    <p:sldLayoutId id="2147484768" r:id="rId11"/>
    <p:sldLayoutId id="2147484769" r:id="rId12"/>
    <p:sldLayoutId id="2147484770" r:id="rId13"/>
    <p:sldLayoutId id="2147484771" r:id="rId14"/>
    <p:sldLayoutId id="2147484772" r:id="rId15"/>
    <p:sldLayoutId id="2147484773" r:id="rId16"/>
    <p:sldLayoutId id="2147484774" r:id="rId1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6424" y="435824"/>
            <a:ext cx="11336039" cy="744014"/>
          </a:xfrm>
          <a:prstGeom prst="rect">
            <a:avLst/>
          </a:prstGeom>
        </p:spPr>
        <p:txBody>
          <a:bodyPr vert="horz" wrap="square" lIns="0" tIns="164592" rIns="0" bIns="0" rtlCol="0" anchor="t">
            <a:noAutofit/>
          </a:bodyPr>
          <a:lstStyle/>
          <a:p>
            <a:r>
              <a:rPr lang="en-US"/>
              <a:t>Click to edit Master title style</a:t>
            </a:r>
          </a:p>
        </p:txBody>
      </p:sp>
      <p:sp>
        <p:nvSpPr>
          <p:cNvPr id="4" name="Text Placeholder 3"/>
          <p:cNvSpPr>
            <a:spLocks noGrp="1"/>
          </p:cNvSpPr>
          <p:nvPr>
            <p:ph type="body" idx="1"/>
          </p:nvPr>
        </p:nvSpPr>
        <p:spPr>
          <a:xfrm>
            <a:off x="437319" y="1866615"/>
            <a:ext cx="11336039" cy="1276484"/>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16" cstate="screen">
            <a:extLst>
              <a:ext uri="{28A0092B-C50C-407E-A947-70E740481C1C}">
                <a14:useLocalDpi xmlns:a14="http://schemas.microsoft.com/office/drawing/2010/main" val="0"/>
              </a:ext>
            </a:extLst>
          </a:blip>
          <a:stretch>
            <a:fillRect/>
          </a:stretch>
        </p:blipFill>
        <p:spPr>
          <a:xfrm rot="5400000">
            <a:off x="9688817" y="3012080"/>
            <a:ext cx="6858623" cy="833218"/>
          </a:xfrm>
          <a:prstGeom prst="rect">
            <a:avLst/>
          </a:prstGeom>
        </p:spPr>
      </p:pic>
      <p:pic>
        <p:nvPicPr>
          <p:cNvPr id="10" name="Picture 9">
            <a:extLst>
              <a:ext uri="{FF2B5EF4-FFF2-40B4-BE49-F238E27FC236}">
                <a16:creationId xmlns:a16="http://schemas.microsoft.com/office/drawing/2014/main" id="{5F66C9DB-A981-45BC-B811-A6F95811A81C}"/>
              </a:ext>
            </a:extLst>
          </p:cNvPr>
          <p:cNvPicPr>
            <a:picLocks noChangeAspect="1"/>
          </p:cNvPicPr>
          <p:nvPr userDrawn="1"/>
        </p:nvPicPr>
        <p:blipFill>
          <a:blip r:embed="rId17" cstate="screen">
            <a:extLst>
              <a:ext uri="{28A0092B-C50C-407E-A947-70E740481C1C}">
                <a14:useLocalDpi xmlns:a14="http://schemas.microsoft.com/office/drawing/2010/main" val="0"/>
              </a:ext>
            </a:extLst>
          </a:blip>
          <a:stretch>
            <a:fillRect/>
          </a:stretch>
        </p:blipFill>
        <p:spPr>
          <a:xfrm rot="5400000">
            <a:off x="9039878" y="3221594"/>
            <a:ext cx="6858000" cy="414812"/>
          </a:xfrm>
          <a:prstGeom prst="rect">
            <a:avLst/>
          </a:prstGeom>
        </p:spPr>
      </p:pic>
    </p:spTree>
    <p:extLst>
      <p:ext uri="{BB962C8B-B14F-4D97-AF65-F5344CB8AC3E}">
        <p14:creationId xmlns:p14="http://schemas.microsoft.com/office/powerpoint/2010/main" val="1747523769"/>
      </p:ext>
    </p:extLst>
  </p:cSld>
  <p:clrMap bg1="lt1" tx1="dk1" bg2="lt2" tx2="dk2" accent1="accent1" accent2="accent2" accent3="accent3" accent4="accent4" accent5="accent5" accent6="accent6" hlink="hlink" folHlink="folHlink"/>
  <p:sldLayoutIdLst>
    <p:sldLayoutId id="2147484728" r:id="rId1"/>
    <p:sldLayoutId id="2147484729" r:id="rId2"/>
    <p:sldLayoutId id="2147484730" r:id="rId3"/>
    <p:sldLayoutId id="2147484731" r:id="rId4"/>
    <p:sldLayoutId id="2147484732" r:id="rId5"/>
    <p:sldLayoutId id="2147484733" r:id="rId6"/>
    <p:sldLayoutId id="2147484734" r:id="rId7"/>
    <p:sldLayoutId id="2147484735" r:id="rId8"/>
    <p:sldLayoutId id="2147484736" r:id="rId9"/>
    <p:sldLayoutId id="2147484737" r:id="rId10"/>
    <p:sldLayoutId id="2147484738" r:id="rId11"/>
    <p:sldLayoutId id="2147484739" r:id="rId12"/>
    <p:sldLayoutId id="2147484740" r:id="rId13"/>
    <p:sldLayoutId id="2147484741" r:id="rId14"/>
  </p:sldLayoutIdLst>
  <p:transition>
    <p:fade/>
  </p:transition>
  <p:txStyles>
    <p:titleStyle>
      <a:lvl1pPr algn="l" defTabSz="914367" rtl="0" eaLnBrk="1" latinLnBrk="0" hangingPunct="1">
        <a:lnSpc>
          <a:spcPct val="90000"/>
        </a:lnSpc>
        <a:spcBef>
          <a:spcPct val="0"/>
        </a:spcBef>
        <a:buNone/>
        <a:defRPr lang="en-US" sz="3137" b="0" kern="1200" cap="none" spc="-147"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2549" kern="1200" spc="0" baseline="0">
          <a:solidFill>
            <a:srgbClr val="000000"/>
          </a:solidFill>
          <a:latin typeface="+mn-lt"/>
          <a:ea typeface="+mn-ea"/>
          <a:cs typeface="+mn-cs"/>
        </a:defRPr>
      </a:lvl1pPr>
      <a:lvl2pPr marL="224097"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3pPr>
      <a:lvl4pPr marL="672290"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4pPr>
      <a:lvl5pPr marL="896386"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73">
          <p15:clr>
            <a:srgbClr val="C35EA4"/>
          </p15:clr>
        </p15:guide>
        <p15:guide id="4" pos="1517">
          <p15:clr>
            <a:srgbClr val="C35EA4"/>
          </p15:clr>
        </p15:guide>
        <p15:guide id="5" pos="2608">
          <p15:clr>
            <a:srgbClr val="C35EA4"/>
          </p15:clr>
        </p15:guide>
        <p15:guide id="6" pos="2751">
          <p15:clr>
            <a:srgbClr val="C35EA4"/>
          </p15:clr>
        </p15:guide>
        <p15:guide id="7" pos="3844">
          <p15:clr>
            <a:srgbClr val="C35EA4"/>
          </p15:clr>
        </p15:guide>
        <p15:guide id="8" pos="3989">
          <p15:clr>
            <a:srgbClr val="C35EA4"/>
          </p15:clr>
        </p15:guide>
        <p15:guide id="9" pos="5079">
          <p15:clr>
            <a:srgbClr val="C35EA4"/>
          </p15:clr>
        </p15:guide>
        <p15:guide id="10" pos="5222">
          <p15:clr>
            <a:srgbClr val="C35EA4"/>
          </p15:clr>
        </p15:guide>
        <p15:guide id="11" pos="6317">
          <p15:clr>
            <a:srgbClr val="C35EA4"/>
          </p15:clr>
        </p15:guide>
        <p15:guide id="12" pos="6460">
          <p15:clr>
            <a:srgbClr val="C35EA4"/>
          </p15:clr>
        </p15:guide>
        <p15:guide id="16" pos="274">
          <p15:clr>
            <a:srgbClr val="F26B43"/>
          </p15:clr>
        </p15:guide>
        <p15:guide id="17" pos="7558">
          <p15:clr>
            <a:srgbClr val="F26B43"/>
          </p15:clr>
        </p15:guide>
        <p15:guide id="18" orient="horz" pos="758">
          <p15:clr>
            <a:srgbClr val="5ACBF0"/>
          </p15:clr>
        </p15:guide>
        <p15:guide id="19" orient="horz" pos="1372">
          <p15:clr>
            <a:srgbClr val="5ACBF0"/>
          </p15:clr>
        </p15:guide>
        <p15:guide id="20" orient="horz" pos="612">
          <p15:clr>
            <a:srgbClr val="5ACBF0"/>
          </p15:clr>
        </p15:guide>
        <p15:guide id="21" orient="horz" pos="1515">
          <p15:clr>
            <a:srgbClr val="5ACBF0"/>
          </p15:clr>
        </p15:guide>
        <p15:guide id="22" orient="horz" pos="2127">
          <p15:clr>
            <a:srgbClr val="5ACBF0"/>
          </p15:clr>
        </p15:guide>
        <p15:guide id="23" orient="horz" pos="2275">
          <p15:clr>
            <a:srgbClr val="5ACBF0"/>
          </p15:clr>
        </p15:guide>
        <p15:guide id="25" orient="horz" pos="280">
          <p15:clr>
            <a:srgbClr val="F26B43"/>
          </p15:clr>
        </p15:guide>
        <p15:guide id="26" orient="horz" pos="4127">
          <p15:clr>
            <a:srgbClr val="F26B43"/>
          </p15:clr>
        </p15:guide>
        <p15:guide id="27" orient="horz" pos="2889">
          <p15:clr>
            <a:srgbClr val="5ACBF0"/>
          </p15:clr>
        </p15:guide>
        <p15:guide id="28" orient="horz" pos="3032">
          <p15:clr>
            <a:srgbClr val="5ACBF0"/>
          </p15:clr>
        </p15:guide>
        <p15:guide id="29" orient="horz" pos="3648">
          <p15:clr>
            <a:srgbClr val="5ACBF0"/>
          </p15:clr>
        </p15:guide>
        <p15:guide id="30" orient="horz" pos="3792">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3369" y="473236"/>
            <a:ext cx="11081177" cy="1020602"/>
          </a:xfrm>
          <a:prstGeom prst="rect">
            <a:avLst/>
          </a:prstGeom>
        </p:spPr>
        <p:txBody>
          <a:bodyPr vert="horz" lIns="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563369" y="1620572"/>
            <a:ext cx="11081177" cy="4689743"/>
          </a:xfrm>
          <a:prstGeom prst="rect">
            <a:avLst/>
          </a:prstGeom>
        </p:spPr>
        <p:txBody>
          <a:bodyPr vert="horz" lIns="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492716"/>
            <a:ext cx="4114800" cy="182880"/>
          </a:xfrm>
          <a:prstGeom prst="rect">
            <a:avLst/>
          </a:prstGeom>
        </p:spPr>
        <p:txBody>
          <a:bodyPr vert="horz" lIns="91440" tIns="45720" rIns="91440" bIns="45720" rtlCol="0" anchor="ctr"/>
          <a:lstStyle>
            <a:lvl1pPr algn="ctr">
              <a:defRPr sz="800">
                <a:ln>
                  <a:noFill/>
                </a:ln>
                <a:solidFill>
                  <a:schemeClr val="bg2"/>
                </a:solidFill>
              </a:defRPr>
            </a:lvl1pPr>
          </a:lstStyle>
          <a:p>
            <a:r>
              <a:rPr lang="en-IN"/>
              <a:t>Microsoft Confidential</a:t>
            </a:r>
          </a:p>
        </p:txBody>
      </p:sp>
      <p:sp>
        <p:nvSpPr>
          <p:cNvPr id="6" name="Slide Number Placeholder 5"/>
          <p:cNvSpPr>
            <a:spLocks noGrp="1"/>
          </p:cNvSpPr>
          <p:nvPr>
            <p:ph type="sldNum" sz="quarter" idx="4"/>
          </p:nvPr>
        </p:nvSpPr>
        <p:spPr>
          <a:xfrm>
            <a:off x="11734143" y="6401594"/>
            <a:ext cx="366667" cy="365125"/>
          </a:xfrm>
          <a:prstGeom prst="rect">
            <a:avLst/>
          </a:prstGeom>
        </p:spPr>
        <p:txBody>
          <a:bodyPr vert="horz" lIns="91440" tIns="45720" rIns="91440" bIns="45720" rtlCol="0" anchor="ctr"/>
          <a:lstStyle>
            <a:lvl1pPr algn="r">
              <a:defRPr sz="800">
                <a:solidFill>
                  <a:schemeClr val="bg2"/>
                </a:solidFill>
                <a:latin typeface="+mn-lt"/>
              </a:defRPr>
            </a:lvl1pPr>
          </a:lstStyle>
          <a:p>
            <a:fld id="{7B76384A-BF72-4EC3-9EB1-950545506B9E}" type="slidenum">
              <a:rPr lang="en-IN" smtClean="0"/>
              <a:pPr/>
              <a:t>‹#›</a:t>
            </a:fld>
            <a:endParaRPr lang="en-IN"/>
          </a:p>
        </p:txBody>
      </p:sp>
    </p:spTree>
    <p:extLst>
      <p:ext uri="{BB962C8B-B14F-4D97-AF65-F5344CB8AC3E}">
        <p14:creationId xmlns:p14="http://schemas.microsoft.com/office/powerpoint/2010/main" val="357739165"/>
      </p:ext>
    </p:extLst>
  </p:cSld>
  <p:clrMap bg1="lt1" tx1="dk1" bg2="lt2" tx2="dk2" accent1="accent1" accent2="accent2" accent3="accent3" accent4="accent4" accent5="accent5" accent6="accent6" hlink="hlink" folHlink="folHlink"/>
  <p:sldLayoutIdLst>
    <p:sldLayoutId id="2147485112" r:id="rId1"/>
    <p:sldLayoutId id="2147485113" r:id="rId2"/>
    <p:sldLayoutId id="2147485115" r:id="rId3"/>
    <p:sldLayoutId id="2147485117" r:id="rId4"/>
    <p:sldLayoutId id="2147485118" r:id="rId5"/>
    <p:sldLayoutId id="2147485121" r:id="rId6"/>
    <p:sldLayoutId id="2147485122" r:id="rId7"/>
    <p:sldLayoutId id="2147485124" r:id="rId8"/>
    <p:sldLayoutId id="2147485126" r:id="rId9"/>
    <p:sldLayoutId id="2147485127" r:id="rId10"/>
    <p:sldLayoutId id="2147485128" r:id="rId11"/>
    <p:sldLayoutId id="2147485129" r:id="rId12"/>
    <p:sldLayoutId id="2147485130" r:id="rId13"/>
    <p:sldLayoutId id="2147485131" r:id="rId14"/>
    <p:sldLayoutId id="2147485142" r:id="rId15"/>
    <p:sldLayoutId id="2147485143" r:id="rId16"/>
    <p:sldLayoutId id="2147485144" r:id="rId17"/>
    <p:sldLayoutId id="2147485145" r:id="rId18"/>
    <p:sldLayoutId id="2147485146" r:id="rId19"/>
    <p:sldLayoutId id="2147485147" r:id="rId20"/>
    <p:sldLayoutId id="2147485148" r:id="rId21"/>
  </p:sldLayoutIdLst>
  <p:hf sldNum="0" hdr="0" ftr="0" dt="0"/>
  <p:txStyles>
    <p:titleStyle>
      <a:lvl1pPr algn="l" defTabSz="911939" rtl="0" eaLnBrk="1" latinLnBrk="0" hangingPunct="1">
        <a:lnSpc>
          <a:spcPct val="90000"/>
        </a:lnSpc>
        <a:spcBef>
          <a:spcPct val="0"/>
        </a:spcBef>
        <a:buNone/>
        <a:defRPr sz="3600" kern="1200">
          <a:solidFill>
            <a:schemeClr val="bg2"/>
          </a:solidFill>
          <a:latin typeface="+mj-lt"/>
          <a:ea typeface="+mj-ea"/>
          <a:cs typeface="+mj-cs"/>
        </a:defRPr>
      </a:lvl1pPr>
    </p:titleStyle>
    <p:bodyStyle>
      <a:lvl1pPr marL="227985" indent="-227985" algn="l" defTabSz="911939" rtl="0" eaLnBrk="1" latinLnBrk="0" hangingPunct="1">
        <a:lnSpc>
          <a:spcPct val="90000"/>
        </a:lnSpc>
        <a:spcBef>
          <a:spcPts val="998"/>
        </a:spcBef>
        <a:buFont typeface="Arial" panose="020B0604020202020204" pitchFamily="34" charset="0"/>
        <a:buChar char="•"/>
        <a:defRPr sz="2800" kern="1200">
          <a:solidFill>
            <a:schemeClr val="bg2"/>
          </a:solidFill>
          <a:latin typeface="+mn-lt"/>
          <a:ea typeface="+mn-ea"/>
          <a:cs typeface="+mn-cs"/>
        </a:defRPr>
      </a:lvl1pPr>
      <a:lvl2pPr marL="683954" indent="-227985" algn="l" defTabSz="911939" rtl="0" eaLnBrk="1" latinLnBrk="0" hangingPunct="1">
        <a:lnSpc>
          <a:spcPct val="90000"/>
        </a:lnSpc>
        <a:spcBef>
          <a:spcPts val="499"/>
        </a:spcBef>
        <a:buFont typeface="Arial" panose="020B0604020202020204" pitchFamily="34" charset="0"/>
        <a:buChar char="•"/>
        <a:defRPr sz="2400" kern="1200">
          <a:solidFill>
            <a:schemeClr val="bg2"/>
          </a:solidFill>
          <a:latin typeface="+mn-lt"/>
          <a:ea typeface="+mn-ea"/>
          <a:cs typeface="+mn-cs"/>
        </a:defRPr>
      </a:lvl2pPr>
      <a:lvl3pPr marL="1139924" indent="-227985" algn="l" defTabSz="911939" rtl="0" eaLnBrk="1" latinLnBrk="0" hangingPunct="1">
        <a:lnSpc>
          <a:spcPct val="90000"/>
        </a:lnSpc>
        <a:spcBef>
          <a:spcPts val="499"/>
        </a:spcBef>
        <a:buFont typeface="Arial" panose="020B0604020202020204" pitchFamily="34" charset="0"/>
        <a:buChar char="•"/>
        <a:defRPr sz="2000" kern="1200">
          <a:solidFill>
            <a:schemeClr val="bg2"/>
          </a:solidFill>
          <a:latin typeface="+mn-lt"/>
          <a:ea typeface="+mn-ea"/>
          <a:cs typeface="+mn-cs"/>
        </a:defRPr>
      </a:lvl3pPr>
      <a:lvl4pPr marL="1595893" indent="-227985" algn="l" defTabSz="911939" rtl="0" eaLnBrk="1" latinLnBrk="0" hangingPunct="1">
        <a:lnSpc>
          <a:spcPct val="90000"/>
        </a:lnSpc>
        <a:spcBef>
          <a:spcPts val="499"/>
        </a:spcBef>
        <a:buFont typeface="Arial" panose="020B0604020202020204" pitchFamily="34" charset="0"/>
        <a:buChar char="•"/>
        <a:defRPr sz="1800" kern="1200">
          <a:solidFill>
            <a:schemeClr val="bg2"/>
          </a:solidFill>
          <a:latin typeface="+mn-lt"/>
          <a:ea typeface="+mn-ea"/>
          <a:cs typeface="+mn-cs"/>
        </a:defRPr>
      </a:lvl4pPr>
      <a:lvl5pPr marL="2051863" indent="-227985" algn="l" defTabSz="911939" rtl="0" eaLnBrk="1" latinLnBrk="0" hangingPunct="1">
        <a:lnSpc>
          <a:spcPct val="90000"/>
        </a:lnSpc>
        <a:spcBef>
          <a:spcPts val="499"/>
        </a:spcBef>
        <a:buFont typeface="Arial" panose="020B0604020202020204" pitchFamily="34" charset="0"/>
        <a:buChar char="•"/>
        <a:defRPr sz="1800" kern="1200">
          <a:solidFill>
            <a:schemeClr val="bg2"/>
          </a:solidFill>
          <a:latin typeface="+mn-lt"/>
          <a:ea typeface="+mn-ea"/>
          <a:cs typeface="+mn-cs"/>
        </a:defRPr>
      </a:lvl5pPr>
      <a:lvl6pPr marL="2507832" indent="-227985" algn="l" defTabSz="911939"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6pPr>
      <a:lvl7pPr marL="2963802" indent="-227985" algn="l" defTabSz="911939"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7pPr>
      <a:lvl8pPr marL="3419772" indent="-227985" algn="l" defTabSz="911939"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8pPr>
      <a:lvl9pPr marL="3875741" indent="-227985" algn="l" defTabSz="911939"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9pPr>
    </p:bodyStyle>
    <p:otherStyle>
      <a:defPPr>
        <a:defRPr lang="en-US"/>
      </a:defPPr>
      <a:lvl1pPr marL="0" algn="l" defTabSz="911939" rtl="0" eaLnBrk="1" latinLnBrk="0" hangingPunct="1">
        <a:defRPr sz="1795" kern="1200">
          <a:solidFill>
            <a:schemeClr val="tx1"/>
          </a:solidFill>
          <a:latin typeface="+mn-lt"/>
          <a:ea typeface="+mn-ea"/>
          <a:cs typeface="+mn-cs"/>
        </a:defRPr>
      </a:lvl1pPr>
      <a:lvl2pPr marL="455970" algn="l" defTabSz="911939" rtl="0" eaLnBrk="1" latinLnBrk="0" hangingPunct="1">
        <a:defRPr sz="1795" kern="1200">
          <a:solidFill>
            <a:schemeClr val="tx1"/>
          </a:solidFill>
          <a:latin typeface="+mn-lt"/>
          <a:ea typeface="+mn-ea"/>
          <a:cs typeface="+mn-cs"/>
        </a:defRPr>
      </a:lvl2pPr>
      <a:lvl3pPr marL="911939" algn="l" defTabSz="911939" rtl="0" eaLnBrk="1" latinLnBrk="0" hangingPunct="1">
        <a:defRPr sz="1795" kern="1200">
          <a:solidFill>
            <a:schemeClr val="tx1"/>
          </a:solidFill>
          <a:latin typeface="+mn-lt"/>
          <a:ea typeface="+mn-ea"/>
          <a:cs typeface="+mn-cs"/>
        </a:defRPr>
      </a:lvl3pPr>
      <a:lvl4pPr marL="1367909" algn="l" defTabSz="911939" rtl="0" eaLnBrk="1" latinLnBrk="0" hangingPunct="1">
        <a:defRPr sz="1795" kern="1200">
          <a:solidFill>
            <a:schemeClr val="tx1"/>
          </a:solidFill>
          <a:latin typeface="+mn-lt"/>
          <a:ea typeface="+mn-ea"/>
          <a:cs typeface="+mn-cs"/>
        </a:defRPr>
      </a:lvl4pPr>
      <a:lvl5pPr marL="1823878" algn="l" defTabSz="911939" rtl="0" eaLnBrk="1" latinLnBrk="0" hangingPunct="1">
        <a:defRPr sz="1795" kern="1200">
          <a:solidFill>
            <a:schemeClr val="tx1"/>
          </a:solidFill>
          <a:latin typeface="+mn-lt"/>
          <a:ea typeface="+mn-ea"/>
          <a:cs typeface="+mn-cs"/>
        </a:defRPr>
      </a:lvl5pPr>
      <a:lvl6pPr marL="2279847" algn="l" defTabSz="911939" rtl="0" eaLnBrk="1" latinLnBrk="0" hangingPunct="1">
        <a:defRPr sz="1795" kern="1200">
          <a:solidFill>
            <a:schemeClr val="tx1"/>
          </a:solidFill>
          <a:latin typeface="+mn-lt"/>
          <a:ea typeface="+mn-ea"/>
          <a:cs typeface="+mn-cs"/>
        </a:defRPr>
      </a:lvl6pPr>
      <a:lvl7pPr marL="2735816" algn="l" defTabSz="911939" rtl="0" eaLnBrk="1" latinLnBrk="0" hangingPunct="1">
        <a:defRPr sz="1795" kern="1200">
          <a:solidFill>
            <a:schemeClr val="tx1"/>
          </a:solidFill>
          <a:latin typeface="+mn-lt"/>
          <a:ea typeface="+mn-ea"/>
          <a:cs typeface="+mn-cs"/>
        </a:defRPr>
      </a:lvl7pPr>
      <a:lvl8pPr marL="3191786" algn="l" defTabSz="911939" rtl="0" eaLnBrk="1" latinLnBrk="0" hangingPunct="1">
        <a:defRPr sz="1795" kern="1200">
          <a:solidFill>
            <a:schemeClr val="tx1"/>
          </a:solidFill>
          <a:latin typeface="+mn-lt"/>
          <a:ea typeface="+mn-ea"/>
          <a:cs typeface="+mn-cs"/>
        </a:defRPr>
      </a:lvl8pPr>
      <a:lvl9pPr marL="3647755" algn="l" defTabSz="911939" rtl="0" eaLnBrk="1" latinLnBrk="0" hangingPunct="1">
        <a:defRPr sz="1795"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17">
          <p15:clr>
            <a:srgbClr val="F26B43"/>
          </p15:clr>
        </p15:guide>
        <p15:guide id="3" pos="348">
          <p15:clr>
            <a:srgbClr val="F26B43"/>
          </p15:clr>
        </p15:guide>
        <p15:guide id="13" orient="horz" pos="3975">
          <p15:clr>
            <a:srgbClr val="F26B43"/>
          </p15:clr>
        </p15:guide>
        <p15:guide id="14" orient="horz" pos="348">
          <p15:clr>
            <a:srgbClr val="F26B43"/>
          </p15:clr>
        </p15:guide>
        <p15:guide id="15" orient="horz" pos="833">
          <p15:clr>
            <a:srgbClr val="F26B43"/>
          </p15:clr>
        </p15:guide>
        <p15:guide id="16" orient="horz" pos="94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522549204"/>
      </p:ext>
    </p:extLst>
  </p:cSld>
  <p:clrMap bg1="dk1" tx1="lt1" bg2="dk2" tx2="lt2" accent1="accent1" accent2="accent2" accent3="accent3" accent4="accent4" accent5="accent5" accent6="accent6" hlink="hlink" folHlink="folHlink"/>
  <p:sldLayoutIdLst>
    <p:sldLayoutId id="2147485164" r:id="rId1"/>
    <p:sldLayoutId id="2147485165" r:id="rId2"/>
    <p:sldLayoutId id="2147485166" r:id="rId3"/>
    <p:sldLayoutId id="2147485167" r:id="rId4"/>
    <p:sldLayoutId id="2147485168" r:id="rId5"/>
    <p:sldLayoutId id="2147485169" r:id="rId6"/>
    <p:sldLayoutId id="2147485170" r:id="rId7"/>
    <p:sldLayoutId id="2147485171" r:id="rId8"/>
    <p:sldLayoutId id="2147485172" r:id="rId9"/>
    <p:sldLayoutId id="2147485173" r:id="rId10"/>
    <p:sldLayoutId id="2147485174" r:id="rId11"/>
    <p:sldLayoutId id="2147485175" r:id="rId12"/>
    <p:sldLayoutId id="2147485176" r:id="rId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3369" y="473236"/>
            <a:ext cx="11081177" cy="1020602"/>
          </a:xfrm>
          <a:prstGeom prst="rect">
            <a:avLst/>
          </a:prstGeom>
        </p:spPr>
        <p:txBody>
          <a:bodyPr vert="horz" lIns="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563369" y="1620571"/>
            <a:ext cx="11081177" cy="4689743"/>
          </a:xfrm>
          <a:prstGeom prst="rect">
            <a:avLst/>
          </a:prstGeom>
        </p:spPr>
        <p:txBody>
          <a:bodyPr vert="horz" lIns="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492715"/>
            <a:ext cx="4114800" cy="182880"/>
          </a:xfrm>
          <a:prstGeom prst="rect">
            <a:avLst/>
          </a:prstGeom>
        </p:spPr>
        <p:txBody>
          <a:bodyPr vert="horz" lIns="91440" tIns="45720" rIns="91440" bIns="45720" rtlCol="0" anchor="ctr"/>
          <a:lstStyle>
            <a:lvl1pPr algn="ctr">
              <a:defRPr sz="800">
                <a:ln>
                  <a:noFill/>
                </a:ln>
                <a:solidFill>
                  <a:schemeClr val="bg1"/>
                </a:solidFill>
              </a:defRPr>
            </a:lvl1pPr>
          </a:lstStyle>
          <a:p>
            <a:endParaRPr lang="en-IN"/>
          </a:p>
        </p:txBody>
      </p:sp>
      <p:sp>
        <p:nvSpPr>
          <p:cNvPr id="6" name="Slide Number Placeholder 5"/>
          <p:cNvSpPr>
            <a:spLocks noGrp="1"/>
          </p:cNvSpPr>
          <p:nvPr>
            <p:ph type="sldNum" sz="quarter" idx="4"/>
          </p:nvPr>
        </p:nvSpPr>
        <p:spPr>
          <a:xfrm>
            <a:off x="11722236" y="6401594"/>
            <a:ext cx="366667" cy="365125"/>
          </a:xfrm>
          <a:prstGeom prst="rect">
            <a:avLst/>
          </a:prstGeom>
        </p:spPr>
        <p:txBody>
          <a:bodyPr vert="horz" lIns="91440" tIns="45720" rIns="91440" bIns="45720" rtlCol="0" anchor="ctr"/>
          <a:lstStyle>
            <a:lvl1pPr algn="r">
              <a:defRPr sz="900">
                <a:solidFill>
                  <a:schemeClr val="bg1"/>
                </a:solidFill>
                <a:latin typeface="+mn-lt"/>
              </a:defRPr>
            </a:lvl1pPr>
          </a:lstStyle>
          <a:p>
            <a:fld id="{7B76384A-BF72-4EC3-9EB1-950545506B9E}" type="slidenum">
              <a:rPr lang="en-IN" smtClean="0"/>
              <a:pPr/>
              <a:t>‹#›</a:t>
            </a:fld>
            <a:endParaRPr lang="en-IN"/>
          </a:p>
        </p:txBody>
      </p:sp>
    </p:spTree>
    <p:extLst>
      <p:ext uri="{BB962C8B-B14F-4D97-AF65-F5344CB8AC3E}">
        <p14:creationId xmlns:p14="http://schemas.microsoft.com/office/powerpoint/2010/main" val="2420716559"/>
      </p:ext>
    </p:extLst>
  </p:cSld>
  <p:clrMap bg1="lt1" tx1="dk1" bg2="lt2" tx2="dk2" accent1="accent1" accent2="accent2" accent3="accent3" accent4="accent4" accent5="accent5" accent6="accent6" hlink="hlink" folHlink="folHlink"/>
  <p:sldLayoutIdLst>
    <p:sldLayoutId id="2147485180" r:id="rId1"/>
    <p:sldLayoutId id="2147485181" r:id="rId2"/>
    <p:sldLayoutId id="2147485182" r:id="rId3"/>
    <p:sldLayoutId id="2147485183" r:id="rId4"/>
    <p:sldLayoutId id="2147485184" r:id="rId5"/>
    <p:sldLayoutId id="2147485185" r:id="rId6"/>
    <p:sldLayoutId id="2147485186" r:id="rId7"/>
    <p:sldLayoutId id="2147485187" r:id="rId8"/>
    <p:sldLayoutId id="2147485188" r:id="rId9"/>
    <p:sldLayoutId id="2147485189" r:id="rId10"/>
    <p:sldLayoutId id="2147485190" r:id="rId11"/>
    <p:sldLayoutId id="2147485191" r:id="rId12"/>
    <p:sldLayoutId id="2147485192" r:id="rId13"/>
    <p:sldLayoutId id="2147485193" r:id="rId14"/>
    <p:sldLayoutId id="2147485194" r:id="rId15"/>
    <p:sldLayoutId id="2147485195" r:id="rId16"/>
  </p:sldLayoutIdLst>
  <p:hf hdr="0" ftr="0" dt="0"/>
  <p:txStyles>
    <p:titleStyle>
      <a:lvl1pPr algn="l" defTabSz="912114"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029" indent="-228029" algn="l" defTabSz="912114" rtl="0" eaLnBrk="1" latinLnBrk="0" hangingPunct="1">
        <a:lnSpc>
          <a:spcPct val="90000"/>
        </a:lnSpc>
        <a:spcBef>
          <a:spcPts val="998"/>
        </a:spcBef>
        <a:buFont typeface="Arial" panose="020B0604020202020204" pitchFamily="34" charset="0"/>
        <a:buChar char="•"/>
        <a:defRPr sz="2800" kern="1200">
          <a:solidFill>
            <a:schemeClr val="bg1"/>
          </a:solidFill>
          <a:latin typeface="+mn-lt"/>
          <a:ea typeface="+mn-ea"/>
          <a:cs typeface="+mn-cs"/>
        </a:defRPr>
      </a:lvl1pPr>
      <a:lvl2pPr marL="684086" indent="-228029" algn="l" defTabSz="912114" rtl="0" eaLnBrk="1" latinLnBrk="0" hangingPunct="1">
        <a:lnSpc>
          <a:spcPct val="90000"/>
        </a:lnSpc>
        <a:spcBef>
          <a:spcPts val="499"/>
        </a:spcBef>
        <a:buFont typeface="Arial" panose="020B0604020202020204" pitchFamily="34" charset="0"/>
        <a:buChar char="•"/>
        <a:defRPr sz="2400" kern="1200">
          <a:solidFill>
            <a:schemeClr val="bg1"/>
          </a:solidFill>
          <a:latin typeface="+mn-lt"/>
          <a:ea typeface="+mn-ea"/>
          <a:cs typeface="+mn-cs"/>
        </a:defRPr>
      </a:lvl2pPr>
      <a:lvl3pPr marL="1140143" indent="-228029" algn="l" defTabSz="912114" rtl="0" eaLnBrk="1" latinLnBrk="0" hangingPunct="1">
        <a:lnSpc>
          <a:spcPct val="90000"/>
        </a:lnSpc>
        <a:spcBef>
          <a:spcPts val="499"/>
        </a:spcBef>
        <a:buFont typeface="Arial" panose="020B0604020202020204" pitchFamily="34" charset="0"/>
        <a:buChar char="•"/>
        <a:defRPr sz="2000" kern="1200">
          <a:solidFill>
            <a:schemeClr val="bg1"/>
          </a:solidFill>
          <a:latin typeface="+mn-lt"/>
          <a:ea typeface="+mn-ea"/>
          <a:cs typeface="+mn-cs"/>
        </a:defRPr>
      </a:lvl3pPr>
      <a:lvl4pPr marL="1596200" indent="-228029" algn="l" defTabSz="912114" rtl="0" eaLnBrk="1" latinLnBrk="0" hangingPunct="1">
        <a:lnSpc>
          <a:spcPct val="90000"/>
        </a:lnSpc>
        <a:spcBef>
          <a:spcPts val="499"/>
        </a:spcBef>
        <a:buFont typeface="Arial" panose="020B0604020202020204" pitchFamily="34" charset="0"/>
        <a:buChar char="•"/>
        <a:defRPr sz="1800" kern="1200">
          <a:solidFill>
            <a:schemeClr val="bg1"/>
          </a:solidFill>
          <a:latin typeface="+mn-lt"/>
          <a:ea typeface="+mn-ea"/>
          <a:cs typeface="+mn-cs"/>
        </a:defRPr>
      </a:lvl4pPr>
      <a:lvl5pPr marL="2052257" indent="-228029" algn="l" defTabSz="912114" rtl="0" eaLnBrk="1" latinLnBrk="0" hangingPunct="1">
        <a:lnSpc>
          <a:spcPct val="90000"/>
        </a:lnSpc>
        <a:spcBef>
          <a:spcPts val="499"/>
        </a:spcBef>
        <a:buFont typeface="Arial" panose="020B0604020202020204" pitchFamily="34" charset="0"/>
        <a:buChar char="•"/>
        <a:defRPr sz="1800" kern="1200">
          <a:solidFill>
            <a:schemeClr val="bg1"/>
          </a:solidFill>
          <a:latin typeface="+mn-lt"/>
          <a:ea typeface="+mn-ea"/>
          <a:cs typeface="+mn-cs"/>
        </a:defRPr>
      </a:lvl5pPr>
      <a:lvl6pPr marL="2508314"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6pPr>
      <a:lvl7pPr marL="2964371"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7pPr>
      <a:lvl8pPr marL="3420428"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8pPr>
      <a:lvl9pPr marL="3876485"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9pPr>
    </p:bodyStyle>
    <p:otherStyle>
      <a:defPPr>
        <a:defRPr lang="en-US"/>
      </a:defPPr>
      <a:lvl1pPr marL="0" algn="l" defTabSz="912114" rtl="0" eaLnBrk="1" latinLnBrk="0" hangingPunct="1">
        <a:defRPr sz="1795" kern="1200">
          <a:solidFill>
            <a:schemeClr val="tx1"/>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17">
          <p15:clr>
            <a:srgbClr val="F26B43"/>
          </p15:clr>
        </p15:guide>
        <p15:guide id="3" pos="348">
          <p15:clr>
            <a:srgbClr val="F26B43"/>
          </p15:clr>
        </p15:guide>
        <p15:guide id="13" orient="horz" pos="3975">
          <p15:clr>
            <a:srgbClr val="F26B43"/>
          </p15:clr>
        </p15:guide>
        <p15:guide id="14" orient="horz" pos="348">
          <p15:clr>
            <a:srgbClr val="F26B43"/>
          </p15:clr>
        </p15:guide>
        <p15:guide id="15" orient="horz" pos="833">
          <p15:clr>
            <a:srgbClr val="F26B43"/>
          </p15:clr>
        </p15:guide>
        <p15:guide id="16" orient="horz" pos="94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3369" y="473236"/>
            <a:ext cx="11081177" cy="1020602"/>
          </a:xfrm>
          <a:prstGeom prst="rect">
            <a:avLst/>
          </a:prstGeom>
        </p:spPr>
        <p:txBody>
          <a:bodyPr vert="horz" lIns="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563369" y="1620573"/>
            <a:ext cx="11081177" cy="4689743"/>
          </a:xfrm>
          <a:prstGeom prst="rect">
            <a:avLst/>
          </a:prstGeom>
        </p:spPr>
        <p:txBody>
          <a:bodyPr vert="horz" lIns="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492717"/>
            <a:ext cx="4114800" cy="182880"/>
          </a:xfrm>
          <a:prstGeom prst="rect">
            <a:avLst/>
          </a:prstGeom>
        </p:spPr>
        <p:txBody>
          <a:bodyPr vert="horz" lIns="91440" tIns="45720" rIns="91440" bIns="45720" rtlCol="0" anchor="ctr"/>
          <a:lstStyle>
            <a:lvl1pPr algn="ctr">
              <a:defRPr sz="800">
                <a:ln>
                  <a:noFill/>
                </a:ln>
                <a:solidFill>
                  <a:schemeClr val="bg2"/>
                </a:solidFill>
              </a:defRPr>
            </a:lvl1pPr>
          </a:lstStyle>
          <a:p>
            <a:endParaRPr lang="en-IN"/>
          </a:p>
        </p:txBody>
      </p:sp>
      <p:sp>
        <p:nvSpPr>
          <p:cNvPr id="6" name="Slide Number Placeholder 5"/>
          <p:cNvSpPr>
            <a:spLocks noGrp="1"/>
          </p:cNvSpPr>
          <p:nvPr>
            <p:ph type="sldNum" sz="quarter" idx="4"/>
          </p:nvPr>
        </p:nvSpPr>
        <p:spPr>
          <a:xfrm>
            <a:off x="11734144" y="6401594"/>
            <a:ext cx="366667" cy="365125"/>
          </a:xfrm>
          <a:prstGeom prst="rect">
            <a:avLst/>
          </a:prstGeom>
        </p:spPr>
        <p:txBody>
          <a:bodyPr vert="horz" lIns="91440" tIns="45720" rIns="91440" bIns="45720" rtlCol="0" anchor="ctr"/>
          <a:lstStyle>
            <a:lvl1pPr algn="r">
              <a:defRPr sz="800">
                <a:solidFill>
                  <a:schemeClr val="bg2"/>
                </a:solidFill>
                <a:latin typeface="+mn-lt"/>
              </a:defRPr>
            </a:lvl1pPr>
          </a:lstStyle>
          <a:p>
            <a:fld id="{7B76384A-BF72-4EC3-9EB1-950545506B9E}" type="slidenum">
              <a:rPr lang="en-IN" smtClean="0"/>
              <a:pPr/>
              <a:t>‹#›</a:t>
            </a:fld>
            <a:endParaRPr lang="en-IN"/>
          </a:p>
        </p:txBody>
      </p:sp>
    </p:spTree>
    <p:extLst>
      <p:ext uri="{BB962C8B-B14F-4D97-AF65-F5344CB8AC3E}">
        <p14:creationId xmlns:p14="http://schemas.microsoft.com/office/powerpoint/2010/main" val="527332920"/>
      </p:ext>
    </p:extLst>
  </p:cSld>
  <p:clrMap bg1="lt1" tx1="dk1" bg2="lt2" tx2="dk2" accent1="accent1" accent2="accent2" accent3="accent3" accent4="accent4" accent5="accent5" accent6="accent6" hlink="hlink" folHlink="folHlink"/>
  <p:sldLayoutIdLst>
    <p:sldLayoutId id="2147485203" r:id="rId1"/>
    <p:sldLayoutId id="2147485204" r:id="rId2"/>
    <p:sldLayoutId id="2147485207" r:id="rId3"/>
    <p:sldLayoutId id="2147485210" r:id="rId4"/>
    <p:sldLayoutId id="2147485212" r:id="rId5"/>
    <p:sldLayoutId id="2147485217" r:id="rId6"/>
  </p:sldLayoutIdLst>
  <p:hf hdr="0" ftr="0" dt="0"/>
  <p:txStyles>
    <p:titleStyle>
      <a:lvl1pPr algn="l" defTabSz="911764" rtl="0" eaLnBrk="1" latinLnBrk="0" hangingPunct="1">
        <a:lnSpc>
          <a:spcPct val="90000"/>
        </a:lnSpc>
        <a:spcBef>
          <a:spcPct val="0"/>
        </a:spcBef>
        <a:buNone/>
        <a:defRPr sz="3600" kern="1200">
          <a:solidFill>
            <a:schemeClr val="bg2"/>
          </a:solidFill>
          <a:latin typeface="+mj-lt"/>
          <a:ea typeface="+mj-ea"/>
          <a:cs typeface="+mj-cs"/>
        </a:defRPr>
      </a:lvl1pPr>
    </p:titleStyle>
    <p:bodyStyle>
      <a:lvl1pPr marL="227941" indent="-227941" algn="l" defTabSz="911764" rtl="0" eaLnBrk="1" latinLnBrk="0" hangingPunct="1">
        <a:lnSpc>
          <a:spcPct val="90000"/>
        </a:lnSpc>
        <a:spcBef>
          <a:spcPts val="998"/>
        </a:spcBef>
        <a:buFont typeface="Arial" panose="020B0604020202020204" pitchFamily="34" charset="0"/>
        <a:buChar char="•"/>
        <a:defRPr sz="2800" kern="1200">
          <a:solidFill>
            <a:schemeClr val="bg2"/>
          </a:solidFill>
          <a:latin typeface="+mn-lt"/>
          <a:ea typeface="+mn-ea"/>
          <a:cs typeface="+mn-cs"/>
        </a:defRPr>
      </a:lvl1pPr>
      <a:lvl2pPr marL="683823" indent="-227941" algn="l" defTabSz="911764" rtl="0" eaLnBrk="1" latinLnBrk="0" hangingPunct="1">
        <a:lnSpc>
          <a:spcPct val="90000"/>
        </a:lnSpc>
        <a:spcBef>
          <a:spcPts val="499"/>
        </a:spcBef>
        <a:buFont typeface="Arial" panose="020B0604020202020204" pitchFamily="34" charset="0"/>
        <a:buChar char="•"/>
        <a:defRPr sz="2400" kern="1200">
          <a:solidFill>
            <a:schemeClr val="bg2"/>
          </a:solidFill>
          <a:latin typeface="+mn-lt"/>
          <a:ea typeface="+mn-ea"/>
          <a:cs typeface="+mn-cs"/>
        </a:defRPr>
      </a:lvl2pPr>
      <a:lvl3pPr marL="1139705" indent="-227941" algn="l" defTabSz="911764" rtl="0" eaLnBrk="1" latinLnBrk="0" hangingPunct="1">
        <a:lnSpc>
          <a:spcPct val="90000"/>
        </a:lnSpc>
        <a:spcBef>
          <a:spcPts val="499"/>
        </a:spcBef>
        <a:buFont typeface="Arial" panose="020B0604020202020204" pitchFamily="34" charset="0"/>
        <a:buChar char="•"/>
        <a:defRPr sz="2000" kern="1200">
          <a:solidFill>
            <a:schemeClr val="bg2"/>
          </a:solidFill>
          <a:latin typeface="+mn-lt"/>
          <a:ea typeface="+mn-ea"/>
          <a:cs typeface="+mn-cs"/>
        </a:defRPr>
      </a:lvl3pPr>
      <a:lvl4pPr marL="1595586" indent="-227941" algn="l" defTabSz="911764" rtl="0" eaLnBrk="1" latinLnBrk="0" hangingPunct="1">
        <a:lnSpc>
          <a:spcPct val="90000"/>
        </a:lnSpc>
        <a:spcBef>
          <a:spcPts val="499"/>
        </a:spcBef>
        <a:buFont typeface="Arial" panose="020B0604020202020204" pitchFamily="34" charset="0"/>
        <a:buChar char="•"/>
        <a:defRPr sz="1800" kern="1200">
          <a:solidFill>
            <a:schemeClr val="bg2"/>
          </a:solidFill>
          <a:latin typeface="+mn-lt"/>
          <a:ea typeface="+mn-ea"/>
          <a:cs typeface="+mn-cs"/>
        </a:defRPr>
      </a:lvl4pPr>
      <a:lvl5pPr marL="2051469" indent="-227941" algn="l" defTabSz="911764" rtl="0" eaLnBrk="1" latinLnBrk="0" hangingPunct="1">
        <a:lnSpc>
          <a:spcPct val="90000"/>
        </a:lnSpc>
        <a:spcBef>
          <a:spcPts val="499"/>
        </a:spcBef>
        <a:buFont typeface="Arial" panose="020B0604020202020204" pitchFamily="34" charset="0"/>
        <a:buChar char="•"/>
        <a:defRPr sz="1800" kern="1200">
          <a:solidFill>
            <a:schemeClr val="bg2"/>
          </a:solidFill>
          <a:latin typeface="+mn-lt"/>
          <a:ea typeface="+mn-ea"/>
          <a:cs typeface="+mn-cs"/>
        </a:defRPr>
      </a:lvl5pPr>
      <a:lvl6pPr marL="2507351" indent="-227941" algn="l" defTabSz="91176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6pPr>
      <a:lvl7pPr marL="2963233" indent="-227941" algn="l" defTabSz="91176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7pPr>
      <a:lvl8pPr marL="3419115" indent="-227941" algn="l" defTabSz="91176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8pPr>
      <a:lvl9pPr marL="3874997" indent="-227941" algn="l" defTabSz="91176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9pPr>
    </p:bodyStyle>
    <p:otherStyle>
      <a:defPPr>
        <a:defRPr lang="en-US"/>
      </a:defPPr>
      <a:lvl1pPr marL="0" algn="l" defTabSz="911764" rtl="0" eaLnBrk="1" latinLnBrk="0" hangingPunct="1">
        <a:defRPr sz="1795" kern="1200">
          <a:solidFill>
            <a:schemeClr val="tx1"/>
          </a:solidFill>
          <a:latin typeface="+mn-lt"/>
          <a:ea typeface="+mn-ea"/>
          <a:cs typeface="+mn-cs"/>
        </a:defRPr>
      </a:lvl1pPr>
      <a:lvl2pPr marL="455883" algn="l" defTabSz="911764" rtl="0" eaLnBrk="1" latinLnBrk="0" hangingPunct="1">
        <a:defRPr sz="1795" kern="1200">
          <a:solidFill>
            <a:schemeClr val="tx1"/>
          </a:solidFill>
          <a:latin typeface="+mn-lt"/>
          <a:ea typeface="+mn-ea"/>
          <a:cs typeface="+mn-cs"/>
        </a:defRPr>
      </a:lvl2pPr>
      <a:lvl3pPr marL="911764" algn="l" defTabSz="911764" rtl="0" eaLnBrk="1" latinLnBrk="0" hangingPunct="1">
        <a:defRPr sz="1795" kern="1200">
          <a:solidFill>
            <a:schemeClr val="tx1"/>
          </a:solidFill>
          <a:latin typeface="+mn-lt"/>
          <a:ea typeface="+mn-ea"/>
          <a:cs typeface="+mn-cs"/>
        </a:defRPr>
      </a:lvl3pPr>
      <a:lvl4pPr marL="1367646" algn="l" defTabSz="911764" rtl="0" eaLnBrk="1" latinLnBrk="0" hangingPunct="1">
        <a:defRPr sz="1795" kern="1200">
          <a:solidFill>
            <a:schemeClr val="tx1"/>
          </a:solidFill>
          <a:latin typeface="+mn-lt"/>
          <a:ea typeface="+mn-ea"/>
          <a:cs typeface="+mn-cs"/>
        </a:defRPr>
      </a:lvl4pPr>
      <a:lvl5pPr marL="1823528" algn="l" defTabSz="911764" rtl="0" eaLnBrk="1" latinLnBrk="0" hangingPunct="1">
        <a:defRPr sz="1795" kern="1200">
          <a:solidFill>
            <a:schemeClr val="tx1"/>
          </a:solidFill>
          <a:latin typeface="+mn-lt"/>
          <a:ea typeface="+mn-ea"/>
          <a:cs typeface="+mn-cs"/>
        </a:defRPr>
      </a:lvl5pPr>
      <a:lvl6pPr marL="2279409" algn="l" defTabSz="911764" rtl="0" eaLnBrk="1" latinLnBrk="0" hangingPunct="1">
        <a:defRPr sz="1795" kern="1200">
          <a:solidFill>
            <a:schemeClr val="tx1"/>
          </a:solidFill>
          <a:latin typeface="+mn-lt"/>
          <a:ea typeface="+mn-ea"/>
          <a:cs typeface="+mn-cs"/>
        </a:defRPr>
      </a:lvl6pPr>
      <a:lvl7pPr marL="2735291" algn="l" defTabSz="911764" rtl="0" eaLnBrk="1" latinLnBrk="0" hangingPunct="1">
        <a:defRPr sz="1795" kern="1200">
          <a:solidFill>
            <a:schemeClr val="tx1"/>
          </a:solidFill>
          <a:latin typeface="+mn-lt"/>
          <a:ea typeface="+mn-ea"/>
          <a:cs typeface="+mn-cs"/>
        </a:defRPr>
      </a:lvl7pPr>
      <a:lvl8pPr marL="3191174" algn="l" defTabSz="911764" rtl="0" eaLnBrk="1" latinLnBrk="0" hangingPunct="1">
        <a:defRPr sz="1795" kern="1200">
          <a:solidFill>
            <a:schemeClr val="tx1"/>
          </a:solidFill>
          <a:latin typeface="+mn-lt"/>
          <a:ea typeface="+mn-ea"/>
          <a:cs typeface="+mn-cs"/>
        </a:defRPr>
      </a:lvl8pPr>
      <a:lvl9pPr marL="3647054" algn="l" defTabSz="911764" rtl="0" eaLnBrk="1" latinLnBrk="0" hangingPunct="1">
        <a:defRPr sz="1795"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17">
          <p15:clr>
            <a:srgbClr val="F26B43"/>
          </p15:clr>
        </p15:guide>
        <p15:guide id="3" pos="348">
          <p15:clr>
            <a:srgbClr val="F26B43"/>
          </p15:clr>
        </p15:guide>
        <p15:guide id="13" orient="horz" pos="3975">
          <p15:clr>
            <a:srgbClr val="F26B43"/>
          </p15:clr>
        </p15:guide>
        <p15:guide id="14" orient="horz" pos="348">
          <p15:clr>
            <a:srgbClr val="F26B43"/>
          </p15:clr>
        </p15:guide>
        <p15:guide id="15" orient="horz" pos="833">
          <p15:clr>
            <a:srgbClr val="F26B43"/>
          </p15:clr>
        </p15:guide>
        <p15:guide id="16" orient="horz" pos="94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5"/>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2"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l="762"/>
          <a:stretch/>
        </p:blipFill>
        <p:spPr>
          <a:xfrm rot="5400000">
            <a:off x="9464500" y="2843775"/>
            <a:ext cx="6858000" cy="1170455"/>
          </a:xfrm>
          <a:prstGeom prst="rect">
            <a:avLst/>
          </a:prstGeom>
        </p:spPr>
      </p:pic>
    </p:spTree>
    <p:extLst>
      <p:ext uri="{BB962C8B-B14F-4D97-AF65-F5344CB8AC3E}">
        <p14:creationId xmlns:p14="http://schemas.microsoft.com/office/powerpoint/2010/main" val="1767400412"/>
      </p:ext>
    </p:extLst>
  </p:cSld>
  <p:clrMap bg1="dk1" tx1="lt1" bg2="dk2" tx2="lt2" accent1="accent1" accent2="accent2" accent3="accent3" accent4="accent4" accent5="accent5" accent6="accent6" hlink="hlink" folHlink="folHlink"/>
  <p:sldLayoutIdLst>
    <p:sldLayoutId id="2147485232" r:id="rId1"/>
    <p:sldLayoutId id="2147485233" r:id="rId2"/>
    <p:sldLayoutId id="2147485248" r:id="rId3"/>
    <p:sldLayoutId id="2147485249" r:id="rId4"/>
    <p:sldLayoutId id="2147485250" r:id="rId5"/>
    <p:sldLayoutId id="2147485251" r:id="rId6"/>
    <p:sldLayoutId id="2147485259" r:id="rId7"/>
    <p:sldLayoutId id="2147485260" r:id="rId8"/>
    <p:sldLayoutId id="2147485261" r:id="rId9"/>
  </p:sldLayoutIdLst>
  <p:transition>
    <p:fade/>
  </p:transition>
  <p:hf sldNum="0" hdr="0" ftr="0" dt="0"/>
  <p:txStyles>
    <p:titleStyle>
      <a:lvl1pPr algn="l" defTabSz="932384"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512"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025"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6973" marR="0" indent="-199948"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639" marR="0" indent="-180906"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544" marR="0" indent="-168211"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4054"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248"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6440"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2633"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384" rtl="0" eaLnBrk="1" latinLnBrk="0" hangingPunct="1">
        <a:defRPr sz="1800" kern="1200">
          <a:solidFill>
            <a:schemeClr val="tx1"/>
          </a:solidFill>
          <a:latin typeface="+mn-lt"/>
          <a:ea typeface="+mn-ea"/>
          <a:cs typeface="+mn-cs"/>
        </a:defRPr>
      </a:lvl1pPr>
      <a:lvl2pPr marL="466192" algn="l" defTabSz="932384" rtl="0" eaLnBrk="1" latinLnBrk="0" hangingPunct="1">
        <a:defRPr sz="1800" kern="1200">
          <a:solidFill>
            <a:schemeClr val="tx1"/>
          </a:solidFill>
          <a:latin typeface="+mn-lt"/>
          <a:ea typeface="+mn-ea"/>
          <a:cs typeface="+mn-cs"/>
        </a:defRPr>
      </a:lvl2pPr>
      <a:lvl3pPr marL="932384" algn="l" defTabSz="932384" rtl="0" eaLnBrk="1" latinLnBrk="0" hangingPunct="1">
        <a:defRPr sz="1800" kern="1200">
          <a:solidFill>
            <a:schemeClr val="tx1"/>
          </a:solidFill>
          <a:latin typeface="+mn-lt"/>
          <a:ea typeface="+mn-ea"/>
          <a:cs typeface="+mn-cs"/>
        </a:defRPr>
      </a:lvl3pPr>
      <a:lvl4pPr marL="1398575" algn="l" defTabSz="932384" rtl="0" eaLnBrk="1" latinLnBrk="0" hangingPunct="1">
        <a:defRPr sz="1800" kern="1200">
          <a:solidFill>
            <a:schemeClr val="tx1"/>
          </a:solidFill>
          <a:latin typeface="+mn-lt"/>
          <a:ea typeface="+mn-ea"/>
          <a:cs typeface="+mn-cs"/>
        </a:defRPr>
      </a:lvl4pPr>
      <a:lvl5pPr marL="1864768" algn="l" defTabSz="932384" rtl="0" eaLnBrk="1" latinLnBrk="0" hangingPunct="1">
        <a:defRPr sz="1800" kern="1200">
          <a:solidFill>
            <a:schemeClr val="tx1"/>
          </a:solidFill>
          <a:latin typeface="+mn-lt"/>
          <a:ea typeface="+mn-ea"/>
          <a:cs typeface="+mn-cs"/>
        </a:defRPr>
      </a:lvl5pPr>
      <a:lvl6pPr marL="2330960" algn="l" defTabSz="932384" rtl="0" eaLnBrk="1" latinLnBrk="0" hangingPunct="1">
        <a:defRPr sz="1800" kern="1200">
          <a:solidFill>
            <a:schemeClr val="tx1"/>
          </a:solidFill>
          <a:latin typeface="+mn-lt"/>
          <a:ea typeface="+mn-ea"/>
          <a:cs typeface="+mn-cs"/>
        </a:defRPr>
      </a:lvl6pPr>
      <a:lvl7pPr marL="2797152" algn="l" defTabSz="932384" rtl="0" eaLnBrk="1" latinLnBrk="0" hangingPunct="1">
        <a:defRPr sz="1800" kern="1200">
          <a:solidFill>
            <a:schemeClr val="tx1"/>
          </a:solidFill>
          <a:latin typeface="+mn-lt"/>
          <a:ea typeface="+mn-ea"/>
          <a:cs typeface="+mn-cs"/>
        </a:defRPr>
      </a:lvl7pPr>
      <a:lvl8pPr marL="3263343" algn="l" defTabSz="932384" rtl="0" eaLnBrk="1" latinLnBrk="0" hangingPunct="1">
        <a:defRPr sz="1800" kern="1200">
          <a:solidFill>
            <a:schemeClr val="tx1"/>
          </a:solidFill>
          <a:latin typeface="+mn-lt"/>
          <a:ea typeface="+mn-ea"/>
          <a:cs typeface="+mn-cs"/>
        </a:defRPr>
      </a:lvl8pPr>
      <a:lvl9pPr marL="3729536" algn="l" defTabSz="9323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4"/>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rot="5400000">
            <a:off x="9288989"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62922305"/>
      </p:ext>
    </p:extLst>
  </p:cSld>
  <p:clrMap bg1="lt1" tx1="dk1" bg2="lt2" tx2="dk2" accent1="accent1" accent2="accent2" accent3="accent3" accent4="accent4" accent5="accent5" accent6="accent6" hlink="hlink" folHlink="folHlink"/>
  <p:sldLayoutIdLst>
    <p:sldLayoutId id="2147485265" r:id="rId1"/>
    <p:sldLayoutId id="2147485266" r:id="rId2"/>
    <p:sldLayoutId id="2147485267" r:id="rId3"/>
    <p:sldLayoutId id="2147485268" r:id="rId4"/>
    <p:sldLayoutId id="2147485269" r:id="rId5"/>
    <p:sldLayoutId id="2147485270" r:id="rId6"/>
    <p:sldLayoutId id="2147485271" r:id="rId7"/>
    <p:sldLayoutId id="2147485272" r:id="rId8"/>
    <p:sldLayoutId id="2147485273" r:id="rId9"/>
    <p:sldLayoutId id="2147485274" r:id="rId10"/>
    <p:sldLayoutId id="2147485275" r:id="rId11"/>
    <p:sldLayoutId id="2147485276" r:id="rId12"/>
    <p:sldLayoutId id="2147485285" r:id="rId13"/>
    <p:sldLayoutId id="2147485286" r:id="rId14"/>
    <p:sldLayoutId id="2147485287" r:id="rId15"/>
    <p:sldLayoutId id="2147485288" r:id="rId16"/>
    <p:sldLayoutId id="2147485289" r:id="rId17"/>
    <p:sldLayoutId id="2147485290" r:id="rId18"/>
    <p:sldLayoutId id="2147485291" r:id="rId19"/>
    <p:sldLayoutId id="2147485292" r:id="rId20"/>
    <p:sldLayoutId id="2147485293" r:id="rId21"/>
    <p:sldLayoutId id="2147485294" r:id="rId22"/>
    <p:sldLayoutId id="2147485295" r:id="rId23"/>
  </p:sldLayoutIdLst>
  <p:transition>
    <p:fade/>
  </p:transition>
  <p:hf sldNum="0" hdr="0" ftr="0" dt="0"/>
  <p:txStyles>
    <p:titleStyle>
      <a:lvl1pPr algn="l" defTabSz="932563"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xml"/><Relationship Id="rId1" Type="http://schemas.openxmlformats.org/officeDocument/2006/relationships/slideLayout" Target="../slideLayouts/slideLayout29.xml"/><Relationship Id="rId4" Type="http://schemas.openxmlformats.org/officeDocument/2006/relationships/image" Target="../media/image14.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xml"/><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3" Type="http://schemas.openxmlformats.org/officeDocument/2006/relationships/hyperlink" Target="https://www.gartner.com/en/newsroom/press-releases/2021-04-21-gartner-forecasts-worldwide-public-cloud-end-user-spending-to-grow-23-percent-in-2021" TargetMode="External"/><Relationship Id="rId2" Type="http://schemas.openxmlformats.org/officeDocument/2006/relationships/notesSlide" Target="../notesSlides/notesSlide5.xml"/><Relationship Id="rId1" Type="http://schemas.openxmlformats.org/officeDocument/2006/relationships/slideLayout" Target="../slideLayouts/slideLayout95.xml"/><Relationship Id="rId4" Type="http://schemas.openxmlformats.org/officeDocument/2006/relationships/hyperlink" Target="https://www.gartner.com/en/newsroom/press-releases/2017-04-05-gartner-says-a-massive-shift-to-hybrid-infrastructure-services-is-underway"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28.xml"/><Relationship Id="rId5" Type="http://schemas.microsoft.com/office/2007/relationships/hdphoto" Target="../media/hdphoto1.wdp"/><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8.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8.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www.tpc.org/4081" TargetMode="External"/><Relationship Id="rId7" Type="http://schemas.openxmlformats.org/officeDocument/2006/relationships/hyperlink" Target="https://gigaom.com/report/sql-transaction-processing-price-performance-testing-azure-eas-vs-aws-r5a/" TargetMode="Externa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hyperlink" Target="http://www.tpc.org/3321" TargetMode="External"/><Relationship Id="rId5" Type="http://schemas.openxmlformats.org/officeDocument/2006/relationships/hyperlink" Target="http://www.tpc.org/3329" TargetMode="External"/><Relationship Id="rId4" Type="http://schemas.openxmlformats.org/officeDocument/2006/relationships/hyperlink" Target="http://www.tpc.org/3331"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9" Type="http://schemas.openxmlformats.org/officeDocument/2006/relationships/hyperlink" Target="https://azure.microsoft.com/en-us/migration/get-started/"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 Id="rId9" Type="http://schemas.openxmlformats.org/officeDocument/2006/relationships/image" Target="../media/image39.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4.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hyperlink" Target="https://azure.microsoft.com/services/sql-database/campaign/" TargetMode="External"/><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0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sv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svg"/><Relationship Id="rId9"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28.xml"/><Relationship Id="rId5" Type="http://schemas.openxmlformats.org/officeDocument/2006/relationships/image" Target="../media/image53.png"/><Relationship Id="rId4" Type="http://schemas.microsoft.com/office/2007/relationships/hdphoto" Target="../media/hdphoto3.wdp"/></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113.xml"/><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slides/_rels/slide31.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37.png"/><Relationship Id="rId18" Type="http://schemas.openxmlformats.org/officeDocument/2006/relationships/image" Target="../media/image43.svg"/><Relationship Id="rId3" Type="http://schemas.openxmlformats.org/officeDocument/2006/relationships/image" Target="../media/image58.png"/><Relationship Id="rId7" Type="http://schemas.openxmlformats.org/officeDocument/2006/relationships/image" Target="../media/image61.png"/><Relationship Id="rId12" Type="http://schemas.openxmlformats.org/officeDocument/2006/relationships/image" Target="../media/image66.svg"/><Relationship Id="rId17" Type="http://schemas.openxmlformats.org/officeDocument/2006/relationships/image" Target="../media/image42.png"/><Relationship Id="rId2" Type="http://schemas.openxmlformats.org/officeDocument/2006/relationships/notesSlide" Target="../notesSlides/notesSlide30.xml"/><Relationship Id="rId16" Type="http://schemas.openxmlformats.org/officeDocument/2006/relationships/image" Target="../media/image68.svg"/><Relationship Id="rId1" Type="http://schemas.openxmlformats.org/officeDocument/2006/relationships/slideLayout" Target="../slideLayouts/slideLayout113.xml"/><Relationship Id="rId6" Type="http://schemas.microsoft.com/office/2007/relationships/hdphoto" Target="../media/hdphoto4.wdp"/><Relationship Id="rId11" Type="http://schemas.openxmlformats.org/officeDocument/2006/relationships/image" Target="../media/image65.png"/><Relationship Id="rId5" Type="http://schemas.openxmlformats.org/officeDocument/2006/relationships/image" Target="../media/image60.png"/><Relationship Id="rId15" Type="http://schemas.openxmlformats.org/officeDocument/2006/relationships/image" Target="../media/image67.png"/><Relationship Id="rId10" Type="http://schemas.openxmlformats.org/officeDocument/2006/relationships/image" Target="../media/image64.svg"/><Relationship Id="rId4" Type="http://schemas.openxmlformats.org/officeDocument/2006/relationships/image" Target="../media/image59.svg"/><Relationship Id="rId9" Type="http://schemas.openxmlformats.org/officeDocument/2006/relationships/image" Target="../media/image63.png"/><Relationship Id="rId14" Type="http://schemas.openxmlformats.org/officeDocument/2006/relationships/image" Target="../media/image38.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7.xml"/></Relationships>
</file>

<file path=ppt/slides/_rels/slide33.xml.rels><?xml version="1.0" encoding="UTF-8" standalone="yes"?>
<Relationships xmlns="http://schemas.openxmlformats.org/package/2006/relationships"><Relationship Id="rId8" Type="http://schemas.openxmlformats.org/officeDocument/2006/relationships/image" Target="../media/image74.svg"/><Relationship Id="rId13" Type="http://schemas.openxmlformats.org/officeDocument/2006/relationships/image" Target="../media/image79.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svg"/><Relationship Id="rId2" Type="http://schemas.openxmlformats.org/officeDocument/2006/relationships/notesSlide" Target="../notesSlides/notesSlide32.xml"/><Relationship Id="rId1" Type="http://schemas.openxmlformats.org/officeDocument/2006/relationships/slideLayout" Target="../slideLayouts/slideLayout71.xml"/><Relationship Id="rId6" Type="http://schemas.openxmlformats.org/officeDocument/2006/relationships/image" Target="../media/image72.sv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70.svg"/><Relationship Id="rId9" Type="http://schemas.openxmlformats.org/officeDocument/2006/relationships/image" Target="../media/image75.png"/><Relationship Id="rId14" Type="http://schemas.openxmlformats.org/officeDocument/2006/relationships/image" Target="../media/image80.svg"/></Relationships>
</file>

<file path=ppt/slides/_rels/slide34.xml.rels><?xml version="1.0" encoding="UTF-8" standalone="yes"?>
<Relationships xmlns="http://schemas.openxmlformats.org/package/2006/relationships"><Relationship Id="rId8" Type="http://schemas.openxmlformats.org/officeDocument/2006/relationships/hyperlink" Target="https://docs.microsoft.com/en-us/azure/backup/" TargetMode="External"/><Relationship Id="rId3" Type="http://schemas.openxmlformats.org/officeDocument/2006/relationships/hyperlink" Target="https://azure.microsoft.com/services/azure-migrate/" TargetMode="External"/><Relationship Id="rId7" Type="http://schemas.openxmlformats.org/officeDocument/2006/relationships/hyperlink" Target="https://docs.microsoft.com/en-us/azure/security-center/" TargetMode="External"/><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hyperlink" Target="https://azure.microsoft.com/en-us/pricing/reserved-vm-instances/" TargetMode="External"/><Relationship Id="rId5" Type="http://schemas.openxmlformats.org/officeDocument/2006/relationships/hyperlink" Target="https://azure.microsoft.com/en-us/pricing/hybrid-benefit/" TargetMode="External"/><Relationship Id="rId4" Type="http://schemas.openxmlformats.org/officeDocument/2006/relationships/hyperlink" Target="https://azure.microsoft.com/en-us/services/database-migration/"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2.xml"/></Relationships>
</file>

<file path=ppt/slides/_rels/slide36.xml.rels><?xml version="1.0" encoding="UTF-8" standalone="yes"?>
<Relationships xmlns="http://schemas.openxmlformats.org/package/2006/relationships"><Relationship Id="rId8" Type="http://schemas.microsoft.com/office/2007/relationships/hdphoto" Target="../media/hdphoto7.wdp"/><Relationship Id="rId13" Type="http://schemas.openxmlformats.org/officeDocument/2006/relationships/image" Target="../media/image86.png"/><Relationship Id="rId18" Type="http://schemas.openxmlformats.org/officeDocument/2006/relationships/image" Target="../media/image90.svg"/><Relationship Id="rId3" Type="http://schemas.openxmlformats.org/officeDocument/2006/relationships/image" Target="../media/image81.png"/><Relationship Id="rId21" Type="http://schemas.openxmlformats.org/officeDocument/2006/relationships/image" Target="../media/image42.png"/><Relationship Id="rId7" Type="http://schemas.openxmlformats.org/officeDocument/2006/relationships/image" Target="../media/image83.png"/><Relationship Id="rId12" Type="http://schemas.microsoft.com/office/2007/relationships/hdphoto" Target="../media/hdphoto9.wdp"/><Relationship Id="rId17" Type="http://schemas.openxmlformats.org/officeDocument/2006/relationships/image" Target="../media/image89.png"/><Relationship Id="rId2" Type="http://schemas.openxmlformats.org/officeDocument/2006/relationships/notesSlide" Target="../notesSlides/notesSlide35.xml"/><Relationship Id="rId16" Type="http://schemas.microsoft.com/office/2007/relationships/hdphoto" Target="../media/hdphoto10.wdp"/><Relationship Id="rId20" Type="http://schemas.openxmlformats.org/officeDocument/2006/relationships/image" Target="../media/image45.svg"/><Relationship Id="rId1" Type="http://schemas.openxmlformats.org/officeDocument/2006/relationships/slideLayout" Target="../slideLayouts/slideLayout129.xml"/><Relationship Id="rId6" Type="http://schemas.microsoft.com/office/2007/relationships/hdphoto" Target="../media/hdphoto6.wdp"/><Relationship Id="rId11" Type="http://schemas.openxmlformats.org/officeDocument/2006/relationships/image" Target="../media/image85.png"/><Relationship Id="rId24" Type="http://schemas.openxmlformats.org/officeDocument/2006/relationships/image" Target="../media/image68.svg"/><Relationship Id="rId5" Type="http://schemas.openxmlformats.org/officeDocument/2006/relationships/image" Target="../media/image82.png"/><Relationship Id="rId15" Type="http://schemas.openxmlformats.org/officeDocument/2006/relationships/image" Target="../media/image88.png"/><Relationship Id="rId23" Type="http://schemas.openxmlformats.org/officeDocument/2006/relationships/image" Target="../media/image67.png"/><Relationship Id="rId10" Type="http://schemas.microsoft.com/office/2007/relationships/hdphoto" Target="../media/hdphoto8.wdp"/><Relationship Id="rId19" Type="http://schemas.openxmlformats.org/officeDocument/2006/relationships/image" Target="../media/image44.png"/><Relationship Id="rId4" Type="http://schemas.microsoft.com/office/2007/relationships/hdphoto" Target="../media/hdphoto5.wdp"/><Relationship Id="rId9" Type="http://schemas.openxmlformats.org/officeDocument/2006/relationships/image" Target="../media/image84.png"/><Relationship Id="rId14" Type="http://schemas.openxmlformats.org/officeDocument/2006/relationships/image" Target="../media/image87.png"/><Relationship Id="rId22" Type="http://schemas.openxmlformats.org/officeDocument/2006/relationships/image" Target="../media/image43.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584200" y="2979778"/>
            <a:ext cx="9144000" cy="553998"/>
          </a:xfrm>
        </p:spPr>
        <p:txBody>
          <a:bodyPr/>
          <a:lstStyle/>
          <a:p>
            <a:r>
              <a:rPr lang="en-US" dirty="0">
                <a:solidFill>
                  <a:schemeClr val="tx1"/>
                </a:solidFill>
              </a:rPr>
              <a:t>Azure Modernization into PaaS</a:t>
            </a:r>
          </a:p>
        </p:txBody>
      </p:sp>
      <p:pic>
        <p:nvPicPr>
          <p:cNvPr id="6" name="Picture 5">
            <a:extLst>
              <a:ext uri="{FF2B5EF4-FFF2-40B4-BE49-F238E27FC236}">
                <a16:creationId xmlns:a16="http://schemas.microsoft.com/office/drawing/2014/main" id="{0592E9E4-5F87-024B-B68D-ADBF48243F7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9171301" y="3143250"/>
            <a:ext cx="6858000" cy="571500"/>
          </a:xfrm>
          <a:prstGeom prst="rect">
            <a:avLst/>
          </a:prstGeom>
        </p:spPr>
      </p:pic>
      <p:pic>
        <p:nvPicPr>
          <p:cNvPr id="8" name="Picture 7" descr="gears working together">
            <a:extLst>
              <a:ext uri="{FF2B5EF4-FFF2-40B4-BE49-F238E27FC236}">
                <a16:creationId xmlns:a16="http://schemas.microsoft.com/office/drawing/2014/main" id="{D2BDDA66-9944-314D-887C-52E1A02CBE80}"/>
              </a:ext>
            </a:extLst>
          </p:cNvPr>
          <p:cNvPicPr>
            <a:picLocks noChangeAspect="1"/>
          </p:cNvPicPr>
          <p:nvPr/>
        </p:nvPicPr>
        <p:blipFill rotWithShape="1">
          <a:blip r:embed="rId4">
            <a:extLst>
              <a:ext uri="{28A0092B-C50C-407E-A947-70E740481C1C}">
                <a14:useLocalDpi xmlns:a14="http://schemas.microsoft.com/office/drawing/2010/main" val="0"/>
              </a:ext>
            </a:extLst>
          </a:blip>
          <a:srcRect r="598"/>
          <a:stretch/>
        </p:blipFill>
        <p:spPr>
          <a:xfrm>
            <a:off x="7192862" y="393700"/>
            <a:ext cx="4999138" cy="6070600"/>
          </a:xfrm>
          <a:prstGeom prst="rect">
            <a:avLst/>
          </a:prstGeom>
        </p:spPr>
      </p:pic>
    </p:spTree>
    <p:extLst>
      <p:ext uri="{BB962C8B-B14F-4D97-AF65-F5344CB8AC3E}">
        <p14:creationId xmlns:p14="http://schemas.microsoft.com/office/powerpoint/2010/main" val="1917135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B5FBF-7A11-624E-AA00-C53BF09BA7EB}"/>
              </a:ext>
            </a:extLst>
          </p:cNvPr>
          <p:cNvSpPr>
            <a:spLocks noGrp="1"/>
          </p:cNvSpPr>
          <p:nvPr>
            <p:ph type="title"/>
          </p:nvPr>
        </p:nvSpPr>
        <p:spPr>
          <a:xfrm>
            <a:off x="391477" y="2724013"/>
            <a:ext cx="11250626" cy="945301"/>
          </a:xfrm>
        </p:spPr>
        <p:txBody>
          <a:bodyPr/>
          <a:lstStyle/>
          <a:p>
            <a:br>
              <a:rPr lang="en-US" dirty="0">
                <a:solidFill>
                  <a:schemeClr val="bg1"/>
                </a:solidFill>
              </a:rPr>
            </a:br>
            <a:br>
              <a:rPr lang="en-US" dirty="0">
                <a:solidFill>
                  <a:schemeClr val="bg1"/>
                </a:solidFill>
              </a:rPr>
            </a:br>
            <a:r>
              <a:rPr lang="en-US" dirty="0">
                <a:solidFill>
                  <a:schemeClr val="bg1"/>
                </a:solidFill>
              </a:rPr>
              <a:t>Why Migrate your databases to Azure</a:t>
            </a:r>
          </a:p>
        </p:txBody>
      </p:sp>
      <p:sp>
        <p:nvSpPr>
          <p:cNvPr id="3" name="Text Placeholder 2">
            <a:extLst>
              <a:ext uri="{FF2B5EF4-FFF2-40B4-BE49-F238E27FC236}">
                <a16:creationId xmlns:a16="http://schemas.microsoft.com/office/drawing/2014/main" id="{7A026A1A-543E-E746-9FD3-87127F947D8A}"/>
              </a:ext>
            </a:extLst>
          </p:cNvPr>
          <p:cNvSpPr>
            <a:spLocks noGrp="1"/>
          </p:cNvSpPr>
          <p:nvPr>
            <p:ph type="body" sz="quarter" idx="12"/>
          </p:nvPr>
        </p:nvSpPr>
        <p:spPr>
          <a:xfrm>
            <a:off x="391477" y="4133987"/>
            <a:ext cx="9401560" cy="945301"/>
          </a:xfrm>
        </p:spPr>
        <p:txBody>
          <a:bodyPr/>
          <a:lstStyle/>
          <a:p>
            <a:r>
              <a:rPr lang="en-US" sz="2745" dirty="0">
                <a:solidFill>
                  <a:schemeClr val="bg1"/>
                </a:solidFill>
                <a:latin typeface="+mj-lt"/>
              </a:rPr>
              <a:t>Speaker Name</a:t>
            </a:r>
          </a:p>
          <a:p>
            <a:r>
              <a:rPr lang="en-US" sz="2745" dirty="0">
                <a:solidFill>
                  <a:schemeClr val="bg1"/>
                </a:solidFill>
              </a:rPr>
              <a:t>Title</a:t>
            </a:r>
          </a:p>
        </p:txBody>
      </p:sp>
    </p:spTree>
    <p:extLst>
      <p:ext uri="{BB962C8B-B14F-4D97-AF65-F5344CB8AC3E}">
        <p14:creationId xmlns:p14="http://schemas.microsoft.com/office/powerpoint/2010/main" val="7981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9" name="Rectangle 8" descr="Shows different points between 2020 and 2021 and beyond">
            <a:extLst>
              <a:ext uri="{FF2B5EF4-FFF2-40B4-BE49-F238E27FC236}">
                <a16:creationId xmlns:a16="http://schemas.microsoft.com/office/drawing/2014/main" id="{58805774-D605-4C2F-92F5-0225958A3D89}"/>
              </a:ext>
              <a:ext uri="{C183D7F6-B498-43B3-948B-1728B52AA6E4}">
                <adec:decorative xmlns:adec="http://schemas.microsoft.com/office/drawing/2017/decorative" val="0"/>
              </a:ext>
            </a:extLst>
          </p:cNvPr>
          <p:cNvSpPr/>
          <p:nvPr/>
        </p:nvSpPr>
        <p:spPr>
          <a:xfrm>
            <a:off x="0" y="-24383"/>
            <a:ext cx="12191999" cy="3713562"/>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6" name="Title 15">
            <a:extLst>
              <a:ext uri="{FF2B5EF4-FFF2-40B4-BE49-F238E27FC236}">
                <a16:creationId xmlns:a16="http://schemas.microsoft.com/office/drawing/2014/main" id="{933C13E3-8247-4713-9F01-F66BD7FE1B10}"/>
              </a:ext>
            </a:extLst>
          </p:cNvPr>
          <p:cNvSpPr>
            <a:spLocks noGrp="1"/>
          </p:cNvSpPr>
          <p:nvPr>
            <p:ph type="title" idx="4294967295"/>
          </p:nvPr>
        </p:nvSpPr>
        <p:spPr>
          <a:xfrm>
            <a:off x="1174750" y="457200"/>
            <a:ext cx="11017250" cy="554038"/>
          </a:xfrm>
        </p:spPr>
        <p:txBody>
          <a:bodyPr>
            <a:noAutofit/>
          </a:bodyPr>
          <a:lstStyle/>
          <a:p>
            <a:pPr algn="ctr"/>
            <a:r>
              <a:rPr lang="en-US" dirty="0">
                <a:solidFill>
                  <a:schemeClr val="bg1"/>
                </a:solidFill>
              </a:rPr>
              <a:t>Two Years of Unprecedented Change</a:t>
            </a:r>
          </a:p>
        </p:txBody>
      </p:sp>
      <p:sp>
        <p:nvSpPr>
          <p:cNvPr id="5" name="Rectangle 4" descr="Shows comparison of 2020 to 2021 and beyond">
            <a:extLst>
              <a:ext uri="{FF2B5EF4-FFF2-40B4-BE49-F238E27FC236}">
                <a16:creationId xmlns:a16="http://schemas.microsoft.com/office/drawing/2014/main" id="{1C1C70CD-0E69-4073-9847-6BFC906BF2F9}"/>
              </a:ext>
            </a:extLst>
          </p:cNvPr>
          <p:cNvSpPr/>
          <p:nvPr/>
        </p:nvSpPr>
        <p:spPr>
          <a:xfrm>
            <a:off x="-772" y="3697833"/>
            <a:ext cx="12191999" cy="3160167"/>
          </a:xfrm>
          <a:prstGeom prst="rect">
            <a:avLst/>
          </a:prstGeom>
          <a:solidFill>
            <a:schemeClr val="tx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9" name="TextBox 18">
            <a:extLst>
              <a:ext uri="{FF2B5EF4-FFF2-40B4-BE49-F238E27FC236}">
                <a16:creationId xmlns:a16="http://schemas.microsoft.com/office/drawing/2014/main" id="{490E7AC2-A14F-46A8-A678-864AD5699849}"/>
              </a:ext>
            </a:extLst>
          </p:cNvPr>
          <p:cNvSpPr txBox="1"/>
          <p:nvPr/>
        </p:nvSpPr>
        <p:spPr>
          <a:xfrm>
            <a:off x="118098" y="3978637"/>
            <a:ext cx="404788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gradFill>
                  <a:gsLst>
                    <a:gs pos="0">
                      <a:srgbClr val="0078D4"/>
                    </a:gs>
                    <a:gs pos="100000">
                      <a:srgbClr val="50E6FF"/>
                    </a:gs>
                  </a:gsLst>
                  <a:lin ang="3600000" scaled="0"/>
                </a:gradFill>
                <a:effectLst/>
                <a:uLnTx/>
                <a:uFillTx/>
                <a:latin typeface="Segoe UI"/>
                <a:ea typeface="+mn-ea"/>
                <a:cs typeface="+mn-cs"/>
              </a:rPr>
              <a:t>2020: </a:t>
            </a:r>
            <a:r>
              <a:rPr lang="en-US" sz="2000" b="1" dirty="0">
                <a:gradFill>
                  <a:gsLst>
                    <a:gs pos="0">
                      <a:srgbClr val="0078D4"/>
                    </a:gs>
                    <a:gs pos="100000">
                      <a:srgbClr val="50E6FF"/>
                    </a:gs>
                  </a:gsLst>
                  <a:lin ang="3600000" scaled="0"/>
                </a:gradFill>
                <a:latin typeface="Segoe UI"/>
              </a:rPr>
              <a:t>Responding in real time</a:t>
            </a:r>
            <a:endParaRPr kumimoji="0" lang="en-US" sz="2000" b="0" i="0" u="none" strike="noStrike" kern="1200" cap="none" spc="0" normalizeH="0" baseline="0" noProof="0" dirty="0">
              <a:ln>
                <a:noFill/>
              </a:ln>
              <a:solidFill>
                <a:prstClr val="black"/>
              </a:solidFill>
              <a:effectLst/>
              <a:uLnTx/>
              <a:uFillTx/>
              <a:latin typeface="Segoe UI"/>
              <a:ea typeface="+mn-ea"/>
              <a:cs typeface="+mn-cs"/>
            </a:endParaRPr>
          </a:p>
        </p:txBody>
      </p:sp>
      <p:sp>
        <p:nvSpPr>
          <p:cNvPr id="12" name="TextBox 11">
            <a:extLst>
              <a:ext uri="{FF2B5EF4-FFF2-40B4-BE49-F238E27FC236}">
                <a16:creationId xmlns:a16="http://schemas.microsoft.com/office/drawing/2014/main" id="{82F9DB1F-C089-44FC-B076-45B31CA8D609}"/>
              </a:ext>
            </a:extLst>
          </p:cNvPr>
          <p:cNvSpPr txBox="1"/>
          <p:nvPr/>
        </p:nvSpPr>
        <p:spPr>
          <a:xfrm>
            <a:off x="217715" y="4603164"/>
            <a:ext cx="3681710" cy="1721433"/>
          </a:xfrm>
          <a:prstGeom prst="rect">
            <a:avLst/>
          </a:prstGeom>
        </p:spPr>
        <p:txBody>
          <a:bodyPr vert="horz" wrap="square" lIns="0" tIns="0" rIns="0" bIns="0" numCol="1" spcCol="0" rtlCol="0" anchor="t" anchorCtr="0">
            <a:noAutofit/>
          </a:bodyPr>
          <a:lstStyle>
            <a:defPPr>
              <a:defRPr lang="en-US"/>
            </a:defPPr>
            <a:lvl1pPr marR="0" indent="0" defTabSz="932742" fontAlgn="auto">
              <a:lnSpc>
                <a:spcPct val="100000"/>
              </a:lnSpc>
              <a:spcBef>
                <a:spcPts val="300"/>
              </a:spcBef>
              <a:spcAft>
                <a:spcPts val="0"/>
              </a:spcAft>
              <a:buClrTx/>
              <a:buSzPct val="90000"/>
              <a:buFont typeface="Wingdings" panose="05000000000000000000" pitchFamily="2" charset="2"/>
              <a:buNone/>
              <a:tabLst/>
              <a:defRPr sz="1600" spc="0" baseline="0">
                <a:gradFill>
                  <a:gsLst>
                    <a:gs pos="6316">
                      <a:schemeClr val="tx1"/>
                    </a:gs>
                    <a:gs pos="26316">
                      <a:schemeClr val="tx1"/>
                    </a:gs>
                  </a:gsLst>
                  <a:lin ang="16200000" scaled="1"/>
                </a:gradFill>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rPr>
              <a:t>Remote work and learning</a:t>
            </a:r>
          </a:p>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rPr>
              <a:t>Solutions to maintain business continuity</a:t>
            </a:r>
          </a:p>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r>
              <a:rPr lang="en-US" sz="1800" dirty="0">
                <a:solidFill>
                  <a:prstClr val="white"/>
                </a:solidFill>
                <a:latin typeface="Segoe UI"/>
              </a:rPr>
              <a:t>Employee and customer well-being and safety</a:t>
            </a:r>
            <a:endParaRPr kumimoji="0" lang="en-US" sz="18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endParaRPr>
          </a:p>
        </p:txBody>
      </p:sp>
      <p:sp>
        <p:nvSpPr>
          <p:cNvPr id="2" name="Rectangle 1">
            <a:extLst>
              <a:ext uri="{FF2B5EF4-FFF2-40B4-BE49-F238E27FC236}">
                <a16:creationId xmlns:a16="http://schemas.microsoft.com/office/drawing/2014/main" id="{B3CDB97C-E2AE-4454-8962-BCBC08A488E9}"/>
              </a:ext>
              <a:ext uri="{C183D7F6-B498-43B3-948B-1728B52AA6E4}">
                <adec:decorative xmlns:adec="http://schemas.microsoft.com/office/drawing/2017/decorative" val="1"/>
              </a:ext>
            </a:extLst>
          </p:cNvPr>
          <p:cNvSpPr/>
          <p:nvPr/>
        </p:nvSpPr>
        <p:spPr>
          <a:xfrm>
            <a:off x="4251992" y="3844636"/>
            <a:ext cx="7548051" cy="2826326"/>
          </a:xfrm>
          <a:prstGeom prst="rect">
            <a:avLst/>
          </a:prstGeom>
          <a:noFill/>
          <a:ln w="285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7B2490A-3817-4C54-8187-6981C9B369A9}"/>
              </a:ext>
            </a:extLst>
          </p:cNvPr>
          <p:cNvSpPr txBox="1"/>
          <p:nvPr/>
        </p:nvSpPr>
        <p:spPr>
          <a:xfrm>
            <a:off x="4361839" y="4009646"/>
            <a:ext cx="722257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gradFill>
                  <a:gsLst>
                    <a:gs pos="0">
                      <a:srgbClr val="0078D4"/>
                    </a:gs>
                    <a:gs pos="100000">
                      <a:srgbClr val="50E6FF"/>
                    </a:gs>
                  </a:gsLst>
                  <a:lin ang="3600000" scaled="0"/>
                </a:gradFill>
                <a:effectLst/>
                <a:uLnTx/>
                <a:uFillTx/>
                <a:latin typeface="Segoe UI"/>
                <a:ea typeface="+mn-ea"/>
                <a:cs typeface="+mn-cs"/>
              </a:rPr>
              <a:t>2021 and beyond: Recovering and reimagining the future </a:t>
            </a:r>
            <a:endParaRPr kumimoji="0" lang="en-US" sz="2000" b="0" i="0" u="none" strike="noStrike" kern="1200" cap="none" spc="0" normalizeH="0" baseline="0" noProof="0" dirty="0">
              <a:ln>
                <a:noFill/>
              </a:ln>
              <a:solidFill>
                <a:prstClr val="black"/>
              </a:solidFill>
              <a:effectLst/>
              <a:uLnTx/>
              <a:uFillTx/>
              <a:latin typeface="Segoe UI"/>
              <a:ea typeface="+mn-ea"/>
              <a:cs typeface="+mn-cs"/>
            </a:endParaRPr>
          </a:p>
        </p:txBody>
      </p:sp>
      <p:sp>
        <p:nvSpPr>
          <p:cNvPr id="15" name="TextBox 14">
            <a:extLst>
              <a:ext uri="{FF2B5EF4-FFF2-40B4-BE49-F238E27FC236}">
                <a16:creationId xmlns:a16="http://schemas.microsoft.com/office/drawing/2014/main" id="{D579E2E2-6F9B-488E-9D61-698933A90223}"/>
              </a:ext>
            </a:extLst>
          </p:cNvPr>
          <p:cNvSpPr txBox="1"/>
          <p:nvPr/>
        </p:nvSpPr>
        <p:spPr>
          <a:xfrm>
            <a:off x="4499053" y="4590189"/>
            <a:ext cx="3477486" cy="1969770"/>
          </a:xfrm>
          <a:prstGeom prst="rect">
            <a:avLst/>
          </a:prstGeom>
        </p:spPr>
        <p:txBody>
          <a:bodyPr vert="horz" wrap="square" lIns="0" tIns="0" rIns="0" bIns="0" rtlCol="0" anchor="t" anchorCtr="0">
            <a:noAutofit/>
          </a:bodyPr>
          <a:lstStyle>
            <a:defPPr>
              <a:defRPr lang="en-US"/>
            </a:defPPr>
            <a:lvl1pPr marR="0" indent="0" defTabSz="932742" fontAlgn="auto">
              <a:lnSpc>
                <a:spcPct val="100000"/>
              </a:lnSpc>
              <a:spcBef>
                <a:spcPts val="300"/>
              </a:spcBef>
              <a:spcAft>
                <a:spcPts val="0"/>
              </a:spcAft>
              <a:buClrTx/>
              <a:buSzPct val="90000"/>
              <a:buFont typeface="Wingdings" panose="05000000000000000000" pitchFamily="2" charset="2"/>
              <a:buNone/>
              <a:tabLst/>
              <a:defRPr sz="1600" spc="0" baseline="0">
                <a:gradFill>
                  <a:gsLst>
                    <a:gs pos="6316">
                      <a:schemeClr val="tx1"/>
                    </a:gs>
                    <a:gs pos="26316">
                      <a:schemeClr val="tx1"/>
                    </a:gs>
                  </a:gsLst>
                  <a:lin ang="16200000" scaled="1"/>
                </a:gradFill>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rPr>
              <a:t>Enabling effective hybrid work </a:t>
            </a:r>
          </a:p>
          <a:p>
            <a:pPr>
              <a:lnSpc>
                <a:spcPct val="90000"/>
              </a:lnSpc>
              <a:spcBef>
                <a:spcPts val="1200"/>
              </a:spcBef>
              <a:defRPr/>
            </a:pPr>
            <a:r>
              <a:rPr kumimoji="0" lang="en-US" sz="18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rPr>
              <a:t>Revitalizing stalled business strategies</a:t>
            </a:r>
          </a:p>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rPr>
              <a:t>Resilient infrastructure and fortified disaster recovery strategies</a:t>
            </a:r>
          </a:p>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endParaRPr kumimoji="0" lang="en-US" sz="20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endParaRPr>
          </a:p>
        </p:txBody>
      </p:sp>
      <p:sp>
        <p:nvSpPr>
          <p:cNvPr id="25" name="TextBox 24">
            <a:extLst>
              <a:ext uri="{FF2B5EF4-FFF2-40B4-BE49-F238E27FC236}">
                <a16:creationId xmlns:a16="http://schemas.microsoft.com/office/drawing/2014/main" id="{7F73EEB3-71C5-4DD5-832E-D89ECE954FBB}"/>
              </a:ext>
            </a:extLst>
          </p:cNvPr>
          <p:cNvSpPr txBox="1"/>
          <p:nvPr/>
        </p:nvSpPr>
        <p:spPr>
          <a:xfrm>
            <a:off x="8106929" y="4590189"/>
            <a:ext cx="3477486" cy="1969770"/>
          </a:xfrm>
          <a:prstGeom prst="rect">
            <a:avLst/>
          </a:prstGeom>
        </p:spPr>
        <p:txBody>
          <a:bodyPr vert="horz" wrap="square" lIns="0" tIns="0" rIns="0" bIns="0" rtlCol="0" anchor="t" anchorCtr="0">
            <a:noAutofit/>
          </a:bodyPr>
          <a:lstStyle>
            <a:defPPr>
              <a:defRPr lang="en-US"/>
            </a:defPPr>
            <a:lvl1pPr marR="0" indent="0" defTabSz="932742" fontAlgn="auto">
              <a:lnSpc>
                <a:spcPct val="100000"/>
              </a:lnSpc>
              <a:spcBef>
                <a:spcPts val="300"/>
              </a:spcBef>
              <a:spcAft>
                <a:spcPts val="0"/>
              </a:spcAft>
              <a:buClrTx/>
              <a:buSzPct val="90000"/>
              <a:buFont typeface="Wingdings" panose="05000000000000000000" pitchFamily="2" charset="2"/>
              <a:buNone/>
              <a:tabLst/>
              <a:defRPr sz="1600" spc="0" baseline="0">
                <a:gradFill>
                  <a:gsLst>
                    <a:gs pos="6316">
                      <a:schemeClr val="tx1"/>
                    </a:gs>
                    <a:gs pos="26316">
                      <a:schemeClr val="tx1"/>
                    </a:gs>
                  </a:gsLst>
                  <a:lin ang="16200000" scaled="1"/>
                </a:gradFill>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r>
              <a:rPr lang="en-US" sz="1800" dirty="0">
                <a:solidFill>
                  <a:prstClr val="white"/>
                </a:solidFill>
                <a:latin typeface="Segoe UI"/>
              </a:rPr>
              <a:t>Sustained innovation to meet changing customer behavior</a:t>
            </a:r>
          </a:p>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r>
              <a:rPr lang="en-US" sz="1800" dirty="0">
                <a:solidFill>
                  <a:prstClr val="white"/>
                </a:solidFill>
                <a:latin typeface="Segoe UI"/>
              </a:rPr>
              <a:t>Adoption of emerging technologies to stay competitive</a:t>
            </a:r>
          </a:p>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r>
              <a:rPr lang="en-US" sz="1800" dirty="0">
                <a:solidFill>
                  <a:prstClr val="white"/>
                </a:solidFill>
                <a:latin typeface="Segoe UI"/>
              </a:rPr>
              <a:t>Ensuring employees have the needed skills to be successful</a:t>
            </a:r>
            <a:endParaRPr kumimoji="0" lang="en-US" sz="18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endParaRPr>
          </a:p>
          <a:p>
            <a:pPr marL="0" marR="0" lvl="0" indent="0" algn="l" defTabSz="932742" rtl="0" eaLnBrk="1" fontAlgn="auto" latinLnBrk="0" hangingPunct="1">
              <a:lnSpc>
                <a:spcPct val="90000"/>
              </a:lnSpc>
              <a:spcBef>
                <a:spcPts val="1200"/>
              </a:spcBef>
              <a:spcAft>
                <a:spcPts val="0"/>
              </a:spcAft>
              <a:buClrTx/>
              <a:buSzPct val="90000"/>
              <a:buFont typeface="Wingdings" panose="05000000000000000000" pitchFamily="2" charset="2"/>
              <a:buNone/>
              <a:tabLst/>
              <a:defRPr/>
            </a:pPr>
            <a:endParaRPr kumimoji="0" lang="en-US" sz="2000" b="0"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endParaRPr>
          </a:p>
        </p:txBody>
      </p:sp>
      <p:cxnSp>
        <p:nvCxnSpPr>
          <p:cNvPr id="24" name="Straight Connector 23">
            <a:extLst>
              <a:ext uri="{FF2B5EF4-FFF2-40B4-BE49-F238E27FC236}">
                <a16:creationId xmlns:a16="http://schemas.microsoft.com/office/drawing/2014/main" id="{019E0373-A511-4776-9F2A-F280B82DFF07}"/>
              </a:ext>
              <a:ext uri="{C183D7F6-B498-43B3-948B-1728B52AA6E4}">
                <adec:decorative xmlns:adec="http://schemas.microsoft.com/office/drawing/2017/decorative" val="1"/>
              </a:ext>
            </a:extLst>
          </p:cNvPr>
          <p:cNvCxnSpPr>
            <a:cxnSpLocks/>
          </p:cNvCxnSpPr>
          <p:nvPr/>
        </p:nvCxnSpPr>
        <p:spPr>
          <a:xfrm>
            <a:off x="4721070" y="4410197"/>
            <a:ext cx="2906708" cy="0"/>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cxnSp>
      <p:cxnSp>
        <p:nvCxnSpPr>
          <p:cNvPr id="26" name="Straight Connector 25">
            <a:extLst>
              <a:ext uri="{FF2B5EF4-FFF2-40B4-BE49-F238E27FC236}">
                <a16:creationId xmlns:a16="http://schemas.microsoft.com/office/drawing/2014/main" id="{4073E36F-9D17-4659-9B99-FB0F0A715F83}"/>
              </a:ext>
              <a:ext uri="{C183D7F6-B498-43B3-948B-1728B52AA6E4}">
                <adec:decorative xmlns:adec="http://schemas.microsoft.com/office/drawing/2017/decorative" val="1"/>
              </a:ext>
            </a:extLst>
          </p:cNvPr>
          <p:cNvCxnSpPr>
            <a:cxnSpLocks/>
          </p:cNvCxnSpPr>
          <p:nvPr/>
        </p:nvCxnSpPr>
        <p:spPr>
          <a:xfrm>
            <a:off x="563369" y="4410197"/>
            <a:ext cx="2906708" cy="0"/>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cxnSp>
      <p:cxnSp>
        <p:nvCxnSpPr>
          <p:cNvPr id="3" name="Straight Connector 2">
            <a:extLst>
              <a:ext uri="{FF2B5EF4-FFF2-40B4-BE49-F238E27FC236}">
                <a16:creationId xmlns:a16="http://schemas.microsoft.com/office/drawing/2014/main" id="{9F58FA11-41AA-4A25-A906-1C9EC1720B07}"/>
              </a:ext>
              <a:ext uri="{C183D7F6-B498-43B3-948B-1728B52AA6E4}">
                <adec:decorative xmlns:adec="http://schemas.microsoft.com/office/drawing/2017/decorative" val="1"/>
              </a:ext>
            </a:extLst>
          </p:cNvPr>
          <p:cNvCxnSpPr>
            <a:cxnSpLocks/>
          </p:cNvCxnSpPr>
          <p:nvPr/>
        </p:nvCxnSpPr>
        <p:spPr>
          <a:xfrm>
            <a:off x="7649550" y="4412887"/>
            <a:ext cx="2906708" cy="0"/>
          </a:xfrm>
          <a:prstGeom prst="line">
            <a:avLst/>
          </a:prstGeom>
          <a:noFill/>
          <a:ln w="2540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cxnSp>
    </p:spTree>
    <p:extLst>
      <p:ext uri="{BB962C8B-B14F-4D97-AF65-F5344CB8AC3E}">
        <p14:creationId xmlns:p14="http://schemas.microsoft.com/office/powerpoint/2010/main" val="2298058417"/>
      </p:ext>
    </p:extLst>
  </p:cSld>
  <p:clrMapOvr>
    <a:masterClrMapping/>
  </p:clrMapOvr>
  <p:transition advClick="0" advTm="1000">
    <p:fade/>
  </p:transition>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EA9A7-4105-4E71-8941-EDD3F955FA2B}"/>
              </a:ext>
            </a:extLst>
          </p:cNvPr>
          <p:cNvSpPr>
            <a:spLocks noGrp="1"/>
          </p:cNvSpPr>
          <p:nvPr>
            <p:ph type="title" idx="4294967295"/>
          </p:nvPr>
        </p:nvSpPr>
        <p:spPr>
          <a:xfrm>
            <a:off x="547563" y="2457173"/>
            <a:ext cx="4503618" cy="2773680"/>
          </a:xfrm>
        </p:spPr>
        <p:txBody>
          <a:bodyPr/>
          <a:lstStyle/>
          <a:p>
            <a:r>
              <a:rPr lang="en-US" sz="4400" dirty="0"/>
              <a:t>Winning strategy IT leaders are adopting</a:t>
            </a:r>
          </a:p>
        </p:txBody>
      </p:sp>
      <p:cxnSp>
        <p:nvCxnSpPr>
          <p:cNvPr id="49" name="Straight Connector 48">
            <a:extLst>
              <a:ext uri="{FF2B5EF4-FFF2-40B4-BE49-F238E27FC236}">
                <a16:creationId xmlns:a16="http://schemas.microsoft.com/office/drawing/2014/main" id="{D93A914B-45DF-491C-A5F1-B45EFABCE1DC}"/>
              </a:ext>
              <a:ext uri="{C183D7F6-B498-43B3-948B-1728B52AA6E4}">
                <adec:decorative xmlns:adec="http://schemas.microsoft.com/office/drawing/2017/decorative" val="1"/>
              </a:ext>
            </a:extLst>
          </p:cNvPr>
          <p:cNvCxnSpPr>
            <a:cxnSpLocks/>
          </p:cNvCxnSpPr>
          <p:nvPr/>
        </p:nvCxnSpPr>
        <p:spPr>
          <a:xfrm>
            <a:off x="7233005" y="1693"/>
            <a:ext cx="0" cy="6856307"/>
          </a:xfrm>
          <a:prstGeom prst="line">
            <a:avLst/>
          </a:prstGeom>
          <a:ln w="15875">
            <a:gradFill flip="none" rotWithShape="1">
              <a:gsLst>
                <a:gs pos="0">
                  <a:schemeClr val="bg1">
                    <a:lumMod val="65000"/>
                    <a:lumOff val="35000"/>
                    <a:alpha val="0"/>
                  </a:schemeClr>
                </a:gs>
                <a:gs pos="69000">
                  <a:srgbClr val="595959"/>
                </a:gs>
                <a:gs pos="26000">
                  <a:schemeClr val="bg1">
                    <a:lumMod val="65000"/>
                    <a:lumOff val="35000"/>
                  </a:schemeClr>
                </a:gs>
                <a:gs pos="100000">
                  <a:schemeClr val="bg1">
                    <a:lumMod val="65000"/>
                    <a:lumOff val="35000"/>
                    <a:alpha val="0"/>
                  </a:schemeClr>
                </a:gs>
              </a:gsLst>
              <a:lin ang="16200000" scaled="1"/>
              <a:tileRect/>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59" name="Picture 58">
            <a:extLst>
              <a:ext uri="{FF2B5EF4-FFF2-40B4-BE49-F238E27FC236}">
                <a16:creationId xmlns:a16="http://schemas.microsoft.com/office/drawing/2014/main" id="{2EE5B96F-A627-4753-9ED7-616843BBB24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3105" y="1054566"/>
            <a:ext cx="360195" cy="360195"/>
          </a:xfrm>
          <a:prstGeom prst="rect">
            <a:avLst/>
          </a:prstGeom>
        </p:spPr>
      </p:pic>
      <p:sp>
        <p:nvSpPr>
          <p:cNvPr id="50" name="Oval 49">
            <a:extLst>
              <a:ext uri="{FF2B5EF4-FFF2-40B4-BE49-F238E27FC236}">
                <a16:creationId xmlns:a16="http://schemas.microsoft.com/office/drawing/2014/main" id="{85036313-BD5A-4517-8F78-4BA5EB891EE4}"/>
              </a:ext>
              <a:ext uri="{C183D7F6-B498-43B3-948B-1728B52AA6E4}">
                <adec:decorative xmlns:adec="http://schemas.microsoft.com/office/drawing/2017/decorative" val="1"/>
              </a:ext>
            </a:extLst>
          </p:cNvPr>
          <p:cNvSpPr/>
          <p:nvPr/>
        </p:nvSpPr>
        <p:spPr bwMode="auto">
          <a:xfrm>
            <a:off x="7187285" y="1148712"/>
            <a:ext cx="91440" cy="91440"/>
          </a:xfrm>
          <a:prstGeom prst="ellipse">
            <a:avLst/>
          </a:prstGeom>
          <a:gradFill>
            <a:gsLst>
              <a:gs pos="0">
                <a:schemeClr val="accent2"/>
              </a:gs>
              <a:gs pos="100000">
                <a:schemeClr val="accent1"/>
              </a:gs>
            </a:gsLst>
            <a:lin ang="18600000" scaled="0"/>
          </a:gradFill>
          <a:ln w="15875">
            <a:no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35" tIns="146268" rIns="182835" bIns="146268" numCol="1" spcCol="0" rtlCol="0" fromWordArt="0" anchor="t" anchorCtr="0" forceAA="0" compatLnSpc="1">
            <a:prstTxWarp prst="textNoShape">
              <a:avLst/>
            </a:prstTxWarp>
            <a:noAutofit/>
          </a:bodyPr>
          <a:lstStyle/>
          <a:p>
            <a:pPr marL="0" marR="0" lvl="0" indent="0" algn="l" defTabSz="93230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4" name="TextBox 53">
            <a:extLst>
              <a:ext uri="{FF2B5EF4-FFF2-40B4-BE49-F238E27FC236}">
                <a16:creationId xmlns:a16="http://schemas.microsoft.com/office/drawing/2014/main" id="{B438F530-2539-4257-A365-C6B5A92C3F68}"/>
              </a:ext>
            </a:extLst>
          </p:cNvPr>
          <p:cNvSpPr txBox="1"/>
          <p:nvPr/>
        </p:nvSpPr>
        <p:spPr>
          <a:xfrm>
            <a:off x="7528216" y="1023722"/>
            <a:ext cx="3414204" cy="55399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mn-cs"/>
              </a:rPr>
              <a:t>Prioritize investment and people</a:t>
            </a:r>
            <a:br>
              <a:rPr kumimoji="0" lang="en-US" sz="1800" b="0" i="0" u="none" strike="noStrike" kern="1200" cap="none" spc="0" normalizeH="0" baseline="0" noProof="0">
                <a:ln>
                  <a:noFill/>
                </a:ln>
                <a:solidFill>
                  <a:srgbClr val="50E6FF"/>
                </a:solidFill>
                <a:effectLst/>
                <a:uLnTx/>
                <a:uFillTx/>
                <a:latin typeface="Segoe UI Semibold"/>
                <a:ea typeface="+mn-ea"/>
                <a:cs typeface="+mn-cs"/>
              </a:rPr>
            </a:br>
            <a:r>
              <a:rPr kumimoji="0" lang="en-US" sz="1800" b="0" i="0" u="none" strike="noStrike" kern="1200" cap="none" spc="0" normalizeH="0" baseline="0" noProof="0">
                <a:ln>
                  <a:noFill/>
                </a:ln>
                <a:solidFill>
                  <a:srgbClr val="FFFFFF"/>
                </a:solidFill>
                <a:effectLst/>
                <a:uLnTx/>
                <a:uFillTx/>
                <a:latin typeface="Segoe UI Semibold"/>
                <a:ea typeface="+mn-ea"/>
                <a:cs typeface="+mn-cs"/>
              </a:rPr>
              <a:t>fueling new growth initiatives</a:t>
            </a:r>
          </a:p>
        </p:txBody>
      </p:sp>
      <p:grpSp>
        <p:nvGrpSpPr>
          <p:cNvPr id="10" name="server 2">
            <a:extLst>
              <a:ext uri="{FF2B5EF4-FFF2-40B4-BE49-F238E27FC236}">
                <a16:creationId xmlns:a16="http://schemas.microsoft.com/office/drawing/2014/main" id="{1756748D-1894-49D4-A331-B685641F0E87}"/>
              </a:ext>
              <a:ext uri="{C183D7F6-B498-43B3-948B-1728B52AA6E4}">
                <adec:decorative xmlns:adec="http://schemas.microsoft.com/office/drawing/2017/decorative" val="1"/>
              </a:ext>
            </a:extLst>
          </p:cNvPr>
          <p:cNvGrpSpPr>
            <a:grpSpLocks noChangeAspect="1"/>
          </p:cNvGrpSpPr>
          <p:nvPr/>
        </p:nvGrpSpPr>
        <p:grpSpPr bwMode="auto">
          <a:xfrm>
            <a:off x="6523773" y="2310944"/>
            <a:ext cx="314096" cy="279674"/>
            <a:chOff x="1608" y="1359"/>
            <a:chExt cx="292" cy="260"/>
          </a:xfrm>
        </p:grpSpPr>
        <p:sp>
          <p:nvSpPr>
            <p:cNvPr id="11" name="AutoShape 11">
              <a:extLst>
                <a:ext uri="{FF2B5EF4-FFF2-40B4-BE49-F238E27FC236}">
                  <a16:creationId xmlns:a16="http://schemas.microsoft.com/office/drawing/2014/main" id="{D88C3FD7-F1E4-4DF3-A834-437CD45A5309}"/>
                </a:ext>
              </a:extLst>
            </p:cNvPr>
            <p:cNvSpPr>
              <a:spLocks noChangeAspect="1" noChangeArrowheads="1" noTextEdit="1"/>
            </p:cNvSpPr>
            <p:nvPr/>
          </p:nvSpPr>
          <p:spPr bwMode="auto">
            <a:xfrm>
              <a:off x="1608" y="1359"/>
              <a:ext cx="29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2" name="Rectangle 13">
              <a:extLst>
                <a:ext uri="{FF2B5EF4-FFF2-40B4-BE49-F238E27FC236}">
                  <a16:creationId xmlns:a16="http://schemas.microsoft.com/office/drawing/2014/main" id="{9C2F0BC7-6174-483A-856E-527DC83E9412}"/>
                </a:ext>
              </a:extLst>
            </p:cNvPr>
            <p:cNvSpPr>
              <a:spLocks noChangeArrowheads="1"/>
            </p:cNvSpPr>
            <p:nvPr/>
          </p:nvSpPr>
          <p:spPr bwMode="auto">
            <a:xfrm>
              <a:off x="1608" y="1359"/>
              <a:ext cx="64" cy="25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 name="Rectangle 14">
              <a:extLst>
                <a:ext uri="{FF2B5EF4-FFF2-40B4-BE49-F238E27FC236}">
                  <a16:creationId xmlns:a16="http://schemas.microsoft.com/office/drawing/2014/main" id="{DBFEC07D-BD2C-4881-B8F2-0AE7F03332F3}"/>
                </a:ext>
              </a:extLst>
            </p:cNvPr>
            <p:cNvSpPr>
              <a:spLocks noChangeArrowheads="1"/>
            </p:cNvSpPr>
            <p:nvPr/>
          </p:nvSpPr>
          <p:spPr bwMode="auto">
            <a:xfrm>
              <a:off x="1633" y="1586"/>
              <a:ext cx="15" cy="13"/>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 name="Rectangle 15">
              <a:extLst>
                <a:ext uri="{FF2B5EF4-FFF2-40B4-BE49-F238E27FC236}">
                  <a16:creationId xmlns:a16="http://schemas.microsoft.com/office/drawing/2014/main" id="{8184D020-52B9-4B79-A98A-9269DA78CB43}"/>
                </a:ext>
              </a:extLst>
            </p:cNvPr>
            <p:cNvSpPr>
              <a:spLocks noChangeArrowheads="1"/>
            </p:cNvSpPr>
            <p:nvPr/>
          </p:nvSpPr>
          <p:spPr bwMode="auto">
            <a:xfrm>
              <a:off x="1683" y="1359"/>
              <a:ext cx="65" cy="25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 name="Rectangle 16">
              <a:extLst>
                <a:ext uri="{FF2B5EF4-FFF2-40B4-BE49-F238E27FC236}">
                  <a16:creationId xmlns:a16="http://schemas.microsoft.com/office/drawing/2014/main" id="{E6BEC790-DCB2-44FE-919C-AC29ABAB898B}"/>
                </a:ext>
              </a:extLst>
            </p:cNvPr>
            <p:cNvSpPr>
              <a:spLocks noChangeArrowheads="1"/>
            </p:cNvSpPr>
            <p:nvPr/>
          </p:nvSpPr>
          <p:spPr bwMode="auto">
            <a:xfrm>
              <a:off x="1709" y="1586"/>
              <a:ext cx="14" cy="13"/>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 name="Rectangle 17">
              <a:extLst>
                <a:ext uri="{FF2B5EF4-FFF2-40B4-BE49-F238E27FC236}">
                  <a16:creationId xmlns:a16="http://schemas.microsoft.com/office/drawing/2014/main" id="{F616738C-5B28-41FF-85A3-F041439CFF58}"/>
                </a:ext>
              </a:extLst>
            </p:cNvPr>
            <p:cNvSpPr>
              <a:spLocks noChangeArrowheads="1"/>
            </p:cNvSpPr>
            <p:nvPr/>
          </p:nvSpPr>
          <p:spPr bwMode="auto">
            <a:xfrm>
              <a:off x="1760" y="1359"/>
              <a:ext cx="64" cy="25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 name="Rectangle 18">
              <a:extLst>
                <a:ext uri="{FF2B5EF4-FFF2-40B4-BE49-F238E27FC236}">
                  <a16:creationId xmlns:a16="http://schemas.microsoft.com/office/drawing/2014/main" id="{28C6DC66-006E-40FD-BAF1-B6FDC163E295}"/>
                </a:ext>
              </a:extLst>
            </p:cNvPr>
            <p:cNvSpPr>
              <a:spLocks noChangeArrowheads="1"/>
            </p:cNvSpPr>
            <p:nvPr/>
          </p:nvSpPr>
          <p:spPr bwMode="auto">
            <a:xfrm>
              <a:off x="1784" y="1586"/>
              <a:ext cx="14" cy="13"/>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 name="Rectangle 19">
              <a:extLst>
                <a:ext uri="{FF2B5EF4-FFF2-40B4-BE49-F238E27FC236}">
                  <a16:creationId xmlns:a16="http://schemas.microsoft.com/office/drawing/2014/main" id="{9A48F83B-2593-40D1-930F-CA3263C239A2}"/>
                </a:ext>
              </a:extLst>
            </p:cNvPr>
            <p:cNvSpPr>
              <a:spLocks noChangeArrowheads="1"/>
            </p:cNvSpPr>
            <p:nvPr/>
          </p:nvSpPr>
          <p:spPr bwMode="auto">
            <a:xfrm>
              <a:off x="1835" y="1359"/>
              <a:ext cx="64" cy="25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20">
              <a:extLst>
                <a:ext uri="{FF2B5EF4-FFF2-40B4-BE49-F238E27FC236}">
                  <a16:creationId xmlns:a16="http://schemas.microsoft.com/office/drawing/2014/main" id="{BA509703-CE2A-4763-8DFF-A054A5DB52ED}"/>
                </a:ext>
              </a:extLst>
            </p:cNvPr>
            <p:cNvSpPr>
              <a:spLocks noChangeArrowheads="1"/>
            </p:cNvSpPr>
            <p:nvPr/>
          </p:nvSpPr>
          <p:spPr bwMode="auto">
            <a:xfrm>
              <a:off x="1860" y="1586"/>
              <a:ext cx="14" cy="13"/>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 name="Rectangle 21">
              <a:extLst>
                <a:ext uri="{FF2B5EF4-FFF2-40B4-BE49-F238E27FC236}">
                  <a16:creationId xmlns:a16="http://schemas.microsoft.com/office/drawing/2014/main" id="{14C661F9-ED78-44D6-891E-CC1E30F47A67}"/>
                </a:ext>
              </a:extLst>
            </p:cNvPr>
            <p:cNvSpPr>
              <a:spLocks noChangeArrowheads="1"/>
            </p:cNvSpPr>
            <p:nvPr/>
          </p:nvSpPr>
          <p:spPr bwMode="auto">
            <a:xfrm>
              <a:off x="1633" y="1554"/>
              <a:ext cx="15"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22">
              <a:extLst>
                <a:ext uri="{FF2B5EF4-FFF2-40B4-BE49-F238E27FC236}">
                  <a16:creationId xmlns:a16="http://schemas.microsoft.com/office/drawing/2014/main" id="{3E382032-5888-41C9-9698-C5D0A8C92777}"/>
                </a:ext>
              </a:extLst>
            </p:cNvPr>
            <p:cNvSpPr>
              <a:spLocks noChangeArrowheads="1"/>
            </p:cNvSpPr>
            <p:nvPr/>
          </p:nvSpPr>
          <p:spPr bwMode="auto">
            <a:xfrm>
              <a:off x="1709" y="1554"/>
              <a:ext cx="14"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 name="Rectangle 23">
              <a:extLst>
                <a:ext uri="{FF2B5EF4-FFF2-40B4-BE49-F238E27FC236}">
                  <a16:creationId xmlns:a16="http://schemas.microsoft.com/office/drawing/2014/main" id="{3ED546B4-B1F7-4F9D-9644-0EBFE2D5D26F}"/>
                </a:ext>
              </a:extLst>
            </p:cNvPr>
            <p:cNvSpPr>
              <a:spLocks noChangeArrowheads="1"/>
            </p:cNvSpPr>
            <p:nvPr/>
          </p:nvSpPr>
          <p:spPr bwMode="auto">
            <a:xfrm>
              <a:off x="1784" y="1554"/>
              <a:ext cx="14"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 name="Rectangle 24">
              <a:extLst>
                <a:ext uri="{FF2B5EF4-FFF2-40B4-BE49-F238E27FC236}">
                  <a16:creationId xmlns:a16="http://schemas.microsoft.com/office/drawing/2014/main" id="{16C0C379-AA7A-4B7E-84E0-76D3A56C283D}"/>
                </a:ext>
              </a:extLst>
            </p:cNvPr>
            <p:cNvSpPr>
              <a:spLocks noChangeArrowheads="1"/>
            </p:cNvSpPr>
            <p:nvPr/>
          </p:nvSpPr>
          <p:spPr bwMode="auto">
            <a:xfrm>
              <a:off x="1860" y="1554"/>
              <a:ext cx="14"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51" name="Oval 50">
            <a:extLst>
              <a:ext uri="{FF2B5EF4-FFF2-40B4-BE49-F238E27FC236}">
                <a16:creationId xmlns:a16="http://schemas.microsoft.com/office/drawing/2014/main" id="{80C44DA1-EB0E-4156-B9FC-892D35A1C44A}"/>
              </a:ext>
              <a:ext uri="{C183D7F6-B498-43B3-948B-1728B52AA6E4}">
                <adec:decorative xmlns:adec="http://schemas.microsoft.com/office/drawing/2017/decorative" val="1"/>
              </a:ext>
            </a:extLst>
          </p:cNvPr>
          <p:cNvSpPr/>
          <p:nvPr/>
        </p:nvSpPr>
        <p:spPr bwMode="auto">
          <a:xfrm>
            <a:off x="7187285" y="2375759"/>
            <a:ext cx="91440" cy="91440"/>
          </a:xfrm>
          <a:prstGeom prst="ellipse">
            <a:avLst/>
          </a:prstGeom>
          <a:gradFill>
            <a:gsLst>
              <a:gs pos="0">
                <a:schemeClr val="accent2"/>
              </a:gs>
              <a:gs pos="100000">
                <a:schemeClr val="accent1"/>
              </a:gs>
            </a:gsLst>
            <a:lin ang="18600000" scaled="0"/>
          </a:gradFill>
          <a:ln w="15875">
            <a:no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35" tIns="146268" rIns="182835" bIns="146268" numCol="1" spcCol="0" rtlCol="0" fromWordArt="0" anchor="t" anchorCtr="0" forceAA="0" compatLnSpc="1">
            <a:prstTxWarp prst="textNoShape">
              <a:avLst/>
            </a:prstTxWarp>
            <a:noAutofit/>
          </a:bodyPr>
          <a:lstStyle/>
          <a:p>
            <a:pPr marL="0" marR="0" lvl="0" indent="0" algn="l" defTabSz="93230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5" name="TextBox 54">
            <a:extLst>
              <a:ext uri="{FF2B5EF4-FFF2-40B4-BE49-F238E27FC236}">
                <a16:creationId xmlns:a16="http://schemas.microsoft.com/office/drawing/2014/main" id="{F18DA480-04EC-4D6E-826B-60FA30E8E267}"/>
              </a:ext>
            </a:extLst>
          </p:cNvPr>
          <p:cNvSpPr txBox="1"/>
          <p:nvPr/>
        </p:nvSpPr>
        <p:spPr>
          <a:xfrm>
            <a:off x="7528216" y="2250769"/>
            <a:ext cx="4044377" cy="55399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mn-cs"/>
              </a:rPr>
              <a:t>Reduce technical debt</a:t>
            </a:r>
            <a:br>
              <a:rPr kumimoji="0" lang="en-US" sz="1800" b="0" i="0" u="none" strike="noStrike" kern="1200" cap="none" spc="0" normalizeH="0" baseline="0" noProof="0">
                <a:ln>
                  <a:noFill/>
                </a:ln>
                <a:solidFill>
                  <a:srgbClr val="50E6FF"/>
                </a:solidFill>
                <a:effectLst/>
                <a:uLnTx/>
                <a:uFillTx/>
                <a:latin typeface="Segoe UI Semibold"/>
                <a:ea typeface="+mn-ea"/>
                <a:cs typeface="+mn-cs"/>
              </a:rPr>
            </a:br>
            <a:r>
              <a:rPr kumimoji="0" lang="en-US" sz="1800" b="0" i="0" u="none" strike="noStrike" kern="1200" cap="none" spc="0" normalizeH="0" baseline="0" noProof="0">
                <a:ln>
                  <a:noFill/>
                </a:ln>
                <a:solidFill>
                  <a:srgbClr val="FFFFFF"/>
                </a:solidFill>
                <a:effectLst/>
                <a:uLnTx/>
                <a:uFillTx/>
                <a:latin typeface="Segoe UI Semibold"/>
                <a:ea typeface="+mn-ea"/>
                <a:cs typeface="+mn-cs"/>
              </a:rPr>
              <a:t>accelerating IT and app modernization</a:t>
            </a:r>
          </a:p>
        </p:txBody>
      </p:sp>
      <p:grpSp>
        <p:nvGrpSpPr>
          <p:cNvPr id="71" name="connect modularity 1">
            <a:extLst>
              <a:ext uri="{FF2B5EF4-FFF2-40B4-BE49-F238E27FC236}">
                <a16:creationId xmlns:a16="http://schemas.microsoft.com/office/drawing/2014/main" id="{AFA58F2B-EDDF-46E2-9D02-AD45DD16D97F}"/>
              </a:ext>
              <a:ext uri="{C183D7F6-B498-43B3-948B-1728B52AA6E4}">
                <adec:decorative xmlns:adec="http://schemas.microsoft.com/office/drawing/2017/decorative" val="1"/>
              </a:ext>
            </a:extLst>
          </p:cNvPr>
          <p:cNvGrpSpPr/>
          <p:nvPr/>
        </p:nvGrpSpPr>
        <p:grpSpPr>
          <a:xfrm>
            <a:off x="6468750" y="3437781"/>
            <a:ext cx="424143" cy="426584"/>
            <a:chOff x="701889" y="2154397"/>
            <a:chExt cx="443543" cy="441987"/>
          </a:xfrm>
        </p:grpSpPr>
        <p:sp>
          <p:nvSpPr>
            <p:cNvPr id="72" name="Freeform 964">
              <a:extLst>
                <a:ext uri="{FF2B5EF4-FFF2-40B4-BE49-F238E27FC236}">
                  <a16:creationId xmlns:a16="http://schemas.microsoft.com/office/drawing/2014/main" id="{E2EAA38D-F610-437E-812B-AF4F29A07E40}"/>
                </a:ext>
              </a:extLst>
            </p:cNvPr>
            <p:cNvSpPr>
              <a:spLocks/>
            </p:cNvSpPr>
            <p:nvPr/>
          </p:nvSpPr>
          <p:spPr bwMode="auto">
            <a:xfrm>
              <a:off x="701889" y="2154397"/>
              <a:ext cx="443543" cy="441987"/>
            </a:xfrm>
            <a:custGeom>
              <a:avLst/>
              <a:gdLst>
                <a:gd name="T0" fmla="*/ 384 w 384"/>
                <a:gd name="T1" fmla="*/ 212 h 384"/>
                <a:gd name="T2" fmla="*/ 384 w 384"/>
                <a:gd name="T3" fmla="*/ 172 h 384"/>
                <a:gd name="T4" fmla="*/ 342 w 384"/>
                <a:gd name="T5" fmla="*/ 172 h 384"/>
                <a:gd name="T6" fmla="*/ 313 w 384"/>
                <a:gd name="T7" fmla="*/ 100 h 384"/>
                <a:gd name="T8" fmla="*/ 342 w 384"/>
                <a:gd name="T9" fmla="*/ 71 h 384"/>
                <a:gd name="T10" fmla="*/ 313 w 384"/>
                <a:gd name="T11" fmla="*/ 42 h 384"/>
                <a:gd name="T12" fmla="*/ 284 w 384"/>
                <a:gd name="T13" fmla="*/ 71 h 384"/>
                <a:gd name="T14" fmla="*/ 212 w 384"/>
                <a:gd name="T15" fmla="*/ 42 h 384"/>
                <a:gd name="T16" fmla="*/ 212 w 384"/>
                <a:gd name="T17" fmla="*/ 0 h 384"/>
                <a:gd name="T18" fmla="*/ 172 w 384"/>
                <a:gd name="T19" fmla="*/ 0 h 384"/>
                <a:gd name="T20" fmla="*/ 172 w 384"/>
                <a:gd name="T21" fmla="*/ 42 h 384"/>
                <a:gd name="T22" fmla="*/ 100 w 384"/>
                <a:gd name="T23" fmla="*/ 71 h 384"/>
                <a:gd name="T24" fmla="*/ 71 w 384"/>
                <a:gd name="T25" fmla="*/ 42 h 384"/>
                <a:gd name="T26" fmla="*/ 42 w 384"/>
                <a:gd name="T27" fmla="*/ 71 h 384"/>
                <a:gd name="T28" fmla="*/ 71 w 384"/>
                <a:gd name="T29" fmla="*/ 100 h 384"/>
                <a:gd name="T30" fmla="*/ 42 w 384"/>
                <a:gd name="T31" fmla="*/ 172 h 384"/>
                <a:gd name="T32" fmla="*/ 0 w 384"/>
                <a:gd name="T33" fmla="*/ 172 h 384"/>
                <a:gd name="T34" fmla="*/ 0 w 384"/>
                <a:gd name="T35" fmla="*/ 212 h 384"/>
                <a:gd name="T36" fmla="*/ 42 w 384"/>
                <a:gd name="T37" fmla="*/ 212 h 384"/>
                <a:gd name="T38" fmla="*/ 85 w 384"/>
                <a:gd name="T39" fmla="*/ 299 h 384"/>
                <a:gd name="T40" fmla="*/ 172 w 384"/>
                <a:gd name="T41" fmla="*/ 342 h 384"/>
                <a:gd name="T42" fmla="*/ 172 w 384"/>
                <a:gd name="T43" fmla="*/ 384 h 384"/>
                <a:gd name="T44" fmla="*/ 212 w 384"/>
                <a:gd name="T45" fmla="*/ 384 h 384"/>
                <a:gd name="T46" fmla="*/ 212 w 384"/>
                <a:gd name="T47" fmla="*/ 342 h 384"/>
                <a:gd name="T48" fmla="*/ 284 w 384"/>
                <a:gd name="T49" fmla="*/ 313 h 384"/>
                <a:gd name="T50" fmla="*/ 313 w 384"/>
                <a:gd name="T51" fmla="*/ 342 h 384"/>
                <a:gd name="T52" fmla="*/ 342 w 384"/>
                <a:gd name="T53" fmla="*/ 313 h 384"/>
                <a:gd name="T54" fmla="*/ 313 w 384"/>
                <a:gd name="T55" fmla="*/ 284 h 384"/>
                <a:gd name="T56" fmla="*/ 342 w 384"/>
                <a:gd name="T57" fmla="*/ 212 h 384"/>
                <a:gd name="T58" fmla="*/ 384 w 384"/>
                <a:gd name="T59" fmla="*/ 21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4" h="384">
                  <a:moveTo>
                    <a:pt x="384" y="212"/>
                  </a:moveTo>
                  <a:cubicBezTo>
                    <a:pt x="384" y="172"/>
                    <a:pt x="384" y="172"/>
                    <a:pt x="384" y="172"/>
                  </a:cubicBezTo>
                  <a:cubicBezTo>
                    <a:pt x="342" y="172"/>
                    <a:pt x="342" y="172"/>
                    <a:pt x="342" y="172"/>
                  </a:cubicBezTo>
                  <a:cubicBezTo>
                    <a:pt x="339" y="146"/>
                    <a:pt x="329" y="121"/>
                    <a:pt x="313" y="100"/>
                  </a:cubicBezTo>
                  <a:cubicBezTo>
                    <a:pt x="342" y="71"/>
                    <a:pt x="342" y="71"/>
                    <a:pt x="342" y="71"/>
                  </a:cubicBezTo>
                  <a:cubicBezTo>
                    <a:pt x="313" y="42"/>
                    <a:pt x="313" y="42"/>
                    <a:pt x="313" y="42"/>
                  </a:cubicBezTo>
                  <a:cubicBezTo>
                    <a:pt x="284" y="71"/>
                    <a:pt x="284" y="71"/>
                    <a:pt x="284" y="71"/>
                  </a:cubicBezTo>
                  <a:cubicBezTo>
                    <a:pt x="263" y="55"/>
                    <a:pt x="238" y="45"/>
                    <a:pt x="212" y="42"/>
                  </a:cubicBezTo>
                  <a:cubicBezTo>
                    <a:pt x="212" y="0"/>
                    <a:pt x="212" y="0"/>
                    <a:pt x="212" y="0"/>
                  </a:cubicBezTo>
                  <a:cubicBezTo>
                    <a:pt x="172" y="0"/>
                    <a:pt x="172" y="0"/>
                    <a:pt x="172" y="0"/>
                  </a:cubicBezTo>
                  <a:cubicBezTo>
                    <a:pt x="172" y="42"/>
                    <a:pt x="172" y="42"/>
                    <a:pt x="172" y="42"/>
                  </a:cubicBezTo>
                  <a:cubicBezTo>
                    <a:pt x="146" y="45"/>
                    <a:pt x="121" y="55"/>
                    <a:pt x="100" y="71"/>
                  </a:cubicBezTo>
                  <a:cubicBezTo>
                    <a:pt x="71" y="42"/>
                    <a:pt x="71" y="42"/>
                    <a:pt x="71" y="42"/>
                  </a:cubicBezTo>
                  <a:cubicBezTo>
                    <a:pt x="42" y="71"/>
                    <a:pt x="42" y="71"/>
                    <a:pt x="42" y="71"/>
                  </a:cubicBezTo>
                  <a:cubicBezTo>
                    <a:pt x="71" y="100"/>
                    <a:pt x="71" y="100"/>
                    <a:pt x="71" y="100"/>
                  </a:cubicBezTo>
                  <a:cubicBezTo>
                    <a:pt x="55" y="121"/>
                    <a:pt x="45" y="146"/>
                    <a:pt x="42" y="172"/>
                  </a:cubicBezTo>
                  <a:cubicBezTo>
                    <a:pt x="0" y="172"/>
                    <a:pt x="0" y="172"/>
                    <a:pt x="0" y="172"/>
                  </a:cubicBezTo>
                  <a:cubicBezTo>
                    <a:pt x="0" y="212"/>
                    <a:pt x="0" y="212"/>
                    <a:pt x="0" y="212"/>
                  </a:cubicBezTo>
                  <a:cubicBezTo>
                    <a:pt x="42" y="212"/>
                    <a:pt x="42" y="212"/>
                    <a:pt x="42" y="212"/>
                  </a:cubicBezTo>
                  <a:cubicBezTo>
                    <a:pt x="46" y="245"/>
                    <a:pt x="61" y="276"/>
                    <a:pt x="85" y="299"/>
                  </a:cubicBezTo>
                  <a:cubicBezTo>
                    <a:pt x="108" y="323"/>
                    <a:pt x="139" y="338"/>
                    <a:pt x="172" y="342"/>
                  </a:cubicBezTo>
                  <a:cubicBezTo>
                    <a:pt x="172" y="384"/>
                    <a:pt x="172" y="384"/>
                    <a:pt x="172" y="384"/>
                  </a:cubicBezTo>
                  <a:cubicBezTo>
                    <a:pt x="212" y="384"/>
                    <a:pt x="212" y="384"/>
                    <a:pt x="212" y="384"/>
                  </a:cubicBezTo>
                  <a:cubicBezTo>
                    <a:pt x="212" y="342"/>
                    <a:pt x="212" y="342"/>
                    <a:pt x="212" y="342"/>
                  </a:cubicBezTo>
                  <a:cubicBezTo>
                    <a:pt x="238" y="339"/>
                    <a:pt x="263" y="329"/>
                    <a:pt x="284" y="313"/>
                  </a:cubicBezTo>
                  <a:cubicBezTo>
                    <a:pt x="313" y="342"/>
                    <a:pt x="313" y="342"/>
                    <a:pt x="313" y="342"/>
                  </a:cubicBezTo>
                  <a:cubicBezTo>
                    <a:pt x="342" y="313"/>
                    <a:pt x="342" y="313"/>
                    <a:pt x="342" y="313"/>
                  </a:cubicBezTo>
                  <a:cubicBezTo>
                    <a:pt x="313" y="284"/>
                    <a:pt x="313" y="284"/>
                    <a:pt x="313" y="284"/>
                  </a:cubicBezTo>
                  <a:cubicBezTo>
                    <a:pt x="329" y="263"/>
                    <a:pt x="339" y="238"/>
                    <a:pt x="342" y="212"/>
                  </a:cubicBezTo>
                  <a:lnTo>
                    <a:pt x="384" y="2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73" name="Freeform 965">
              <a:extLst>
                <a:ext uri="{FF2B5EF4-FFF2-40B4-BE49-F238E27FC236}">
                  <a16:creationId xmlns:a16="http://schemas.microsoft.com/office/drawing/2014/main" id="{56ECF335-64E5-4BBA-A2BB-2BB97C27B927}"/>
                </a:ext>
              </a:extLst>
            </p:cNvPr>
            <p:cNvSpPr>
              <a:spLocks/>
            </p:cNvSpPr>
            <p:nvPr/>
          </p:nvSpPr>
          <p:spPr bwMode="auto">
            <a:xfrm>
              <a:off x="795267" y="2244662"/>
              <a:ext cx="259900" cy="261457"/>
            </a:xfrm>
            <a:custGeom>
              <a:avLst/>
              <a:gdLst>
                <a:gd name="T0" fmla="*/ 0 w 225"/>
                <a:gd name="T1" fmla="*/ 114 h 227"/>
                <a:gd name="T2" fmla="*/ 25 w 225"/>
                <a:gd name="T3" fmla="*/ 43 h 227"/>
                <a:gd name="T4" fmla="*/ 89 w 225"/>
                <a:gd name="T5" fmla="*/ 5 h 227"/>
                <a:gd name="T6" fmla="*/ 163 w 225"/>
                <a:gd name="T7" fmla="*/ 16 h 227"/>
                <a:gd name="T8" fmla="*/ 214 w 225"/>
                <a:gd name="T9" fmla="*/ 71 h 227"/>
                <a:gd name="T10" fmla="*/ 217 w 225"/>
                <a:gd name="T11" fmla="*/ 146 h 227"/>
                <a:gd name="T12" fmla="*/ 173 w 225"/>
                <a:gd name="T13" fmla="*/ 206 h 227"/>
                <a:gd name="T14" fmla="*/ 100 w 225"/>
                <a:gd name="T15" fmla="*/ 225 h 227"/>
                <a:gd name="T16" fmla="*/ 32 w 225"/>
                <a:gd name="T17" fmla="*/ 193 h 227"/>
                <a:gd name="T18" fmla="*/ 8 w 225"/>
                <a:gd name="T19" fmla="*/ 157 h 227"/>
                <a:gd name="T20" fmla="*/ 0 w 225"/>
                <a:gd name="T21" fmla="*/ 11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 h="227">
                  <a:moveTo>
                    <a:pt x="0" y="114"/>
                  </a:moveTo>
                  <a:cubicBezTo>
                    <a:pt x="0" y="88"/>
                    <a:pt x="9" y="63"/>
                    <a:pt x="25" y="43"/>
                  </a:cubicBezTo>
                  <a:cubicBezTo>
                    <a:pt x="41" y="24"/>
                    <a:pt x="64" y="10"/>
                    <a:pt x="89" y="5"/>
                  </a:cubicBezTo>
                  <a:cubicBezTo>
                    <a:pt x="115" y="0"/>
                    <a:pt x="141" y="4"/>
                    <a:pt x="163" y="16"/>
                  </a:cubicBezTo>
                  <a:cubicBezTo>
                    <a:pt x="186" y="28"/>
                    <a:pt x="204" y="48"/>
                    <a:pt x="214" y="71"/>
                  </a:cubicBezTo>
                  <a:cubicBezTo>
                    <a:pt x="224" y="95"/>
                    <a:pt x="225" y="122"/>
                    <a:pt x="217" y="146"/>
                  </a:cubicBezTo>
                  <a:cubicBezTo>
                    <a:pt x="210" y="171"/>
                    <a:pt x="194" y="192"/>
                    <a:pt x="173" y="206"/>
                  </a:cubicBezTo>
                  <a:cubicBezTo>
                    <a:pt x="151" y="221"/>
                    <a:pt x="126" y="227"/>
                    <a:pt x="100" y="225"/>
                  </a:cubicBezTo>
                  <a:cubicBezTo>
                    <a:pt x="75" y="222"/>
                    <a:pt x="51" y="211"/>
                    <a:pt x="32" y="193"/>
                  </a:cubicBezTo>
                  <a:cubicBezTo>
                    <a:pt x="22" y="182"/>
                    <a:pt x="14" y="170"/>
                    <a:pt x="8" y="157"/>
                  </a:cubicBezTo>
                  <a:cubicBezTo>
                    <a:pt x="3" y="143"/>
                    <a:pt x="0" y="129"/>
                    <a:pt x="0" y="114"/>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74" name="Freeform 966">
              <a:extLst>
                <a:ext uri="{FF2B5EF4-FFF2-40B4-BE49-F238E27FC236}">
                  <a16:creationId xmlns:a16="http://schemas.microsoft.com/office/drawing/2014/main" id="{63678644-4181-4956-879F-04392870CEE6}"/>
                </a:ext>
              </a:extLst>
            </p:cNvPr>
            <p:cNvSpPr>
              <a:spLocks/>
            </p:cNvSpPr>
            <p:nvPr/>
          </p:nvSpPr>
          <p:spPr bwMode="auto">
            <a:xfrm>
              <a:off x="750134" y="2299133"/>
              <a:ext cx="250563" cy="249007"/>
            </a:xfrm>
            <a:custGeom>
              <a:avLst/>
              <a:gdLst>
                <a:gd name="T0" fmla="*/ 131 w 161"/>
                <a:gd name="T1" fmla="*/ 0 h 160"/>
                <a:gd name="T2" fmla="*/ 56 w 161"/>
                <a:gd name="T3" fmla="*/ 0 h 160"/>
                <a:gd name="T4" fmla="*/ 56 w 161"/>
                <a:gd name="T5" fmla="*/ 30 h 160"/>
                <a:gd name="T6" fmla="*/ 110 w 161"/>
                <a:gd name="T7" fmla="*/ 30 h 160"/>
                <a:gd name="T8" fmla="*/ 0 w 161"/>
                <a:gd name="T9" fmla="*/ 139 h 160"/>
                <a:gd name="T10" fmla="*/ 22 w 161"/>
                <a:gd name="T11" fmla="*/ 160 h 160"/>
                <a:gd name="T12" fmla="*/ 131 w 161"/>
                <a:gd name="T13" fmla="*/ 51 h 160"/>
                <a:gd name="T14" fmla="*/ 131 w 161"/>
                <a:gd name="T15" fmla="*/ 105 h 160"/>
                <a:gd name="T16" fmla="*/ 161 w 161"/>
                <a:gd name="T17" fmla="*/ 105 h 160"/>
                <a:gd name="T18" fmla="*/ 161 w 161"/>
                <a:gd name="T19" fmla="*/ 30 h 160"/>
                <a:gd name="T20" fmla="*/ 161 w 161"/>
                <a:gd name="T21" fmla="*/ 0 h 160"/>
                <a:gd name="T22" fmla="*/ 131 w 161"/>
                <a:gd name="T23"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1" h="160">
                  <a:moveTo>
                    <a:pt x="131" y="0"/>
                  </a:moveTo>
                  <a:lnTo>
                    <a:pt x="56" y="0"/>
                  </a:lnTo>
                  <a:lnTo>
                    <a:pt x="56" y="30"/>
                  </a:lnTo>
                  <a:lnTo>
                    <a:pt x="110" y="30"/>
                  </a:lnTo>
                  <a:lnTo>
                    <a:pt x="0" y="139"/>
                  </a:lnTo>
                  <a:lnTo>
                    <a:pt x="22" y="160"/>
                  </a:lnTo>
                  <a:lnTo>
                    <a:pt x="131" y="51"/>
                  </a:lnTo>
                  <a:lnTo>
                    <a:pt x="131" y="105"/>
                  </a:lnTo>
                  <a:lnTo>
                    <a:pt x="161" y="105"/>
                  </a:lnTo>
                  <a:lnTo>
                    <a:pt x="161" y="30"/>
                  </a:lnTo>
                  <a:lnTo>
                    <a:pt x="161" y="0"/>
                  </a:lnTo>
                  <a:lnTo>
                    <a:pt x="13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52" name="Oval 51">
            <a:extLst>
              <a:ext uri="{FF2B5EF4-FFF2-40B4-BE49-F238E27FC236}">
                <a16:creationId xmlns:a16="http://schemas.microsoft.com/office/drawing/2014/main" id="{B7A77989-AA4F-4478-8F6D-7AE6EA7DD52D}"/>
              </a:ext>
              <a:ext uri="{C183D7F6-B498-43B3-948B-1728B52AA6E4}">
                <adec:decorative xmlns:adec="http://schemas.microsoft.com/office/drawing/2017/decorative" val="1"/>
              </a:ext>
            </a:extLst>
          </p:cNvPr>
          <p:cNvSpPr/>
          <p:nvPr/>
        </p:nvSpPr>
        <p:spPr bwMode="auto">
          <a:xfrm>
            <a:off x="7187285" y="3589259"/>
            <a:ext cx="91440" cy="91440"/>
          </a:xfrm>
          <a:prstGeom prst="ellipse">
            <a:avLst/>
          </a:prstGeom>
          <a:gradFill>
            <a:gsLst>
              <a:gs pos="0">
                <a:schemeClr val="accent2"/>
              </a:gs>
              <a:gs pos="100000">
                <a:schemeClr val="accent1"/>
              </a:gs>
            </a:gsLst>
            <a:lin ang="18600000" scaled="0"/>
          </a:gradFill>
          <a:ln w="15875">
            <a:no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35" tIns="146268" rIns="182835" bIns="146268" numCol="1" spcCol="0" rtlCol="0" fromWordArt="0" anchor="t" anchorCtr="0" forceAA="0" compatLnSpc="1">
            <a:prstTxWarp prst="textNoShape">
              <a:avLst/>
            </a:prstTxWarp>
            <a:noAutofit/>
          </a:bodyPr>
          <a:lstStyle/>
          <a:p>
            <a:pPr marL="0" marR="0" lvl="0" indent="0" algn="l" defTabSz="93230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6" name="TextBox 55">
            <a:extLst>
              <a:ext uri="{FF2B5EF4-FFF2-40B4-BE49-F238E27FC236}">
                <a16:creationId xmlns:a16="http://schemas.microsoft.com/office/drawing/2014/main" id="{4256A85D-31D5-4711-8E10-E0F5BD17FDA0}"/>
              </a:ext>
            </a:extLst>
          </p:cNvPr>
          <p:cNvSpPr txBox="1"/>
          <p:nvPr/>
        </p:nvSpPr>
        <p:spPr>
          <a:xfrm>
            <a:off x="7528217" y="3464269"/>
            <a:ext cx="4165932" cy="830997"/>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mn-cs"/>
              </a:rPr>
              <a:t>Remodel business operations</a:t>
            </a:r>
            <a:br>
              <a:rPr kumimoji="0" lang="en-US" sz="1800" b="0" i="0" u="none" strike="noStrike" kern="1200" cap="none" spc="0" normalizeH="0" baseline="0" noProof="0">
                <a:ln>
                  <a:noFill/>
                </a:ln>
                <a:solidFill>
                  <a:srgbClr val="50E6FF"/>
                </a:solidFill>
                <a:effectLst/>
                <a:uLnTx/>
                <a:uFillTx/>
                <a:latin typeface="Segoe UI Semibold"/>
                <a:ea typeface="+mn-ea"/>
                <a:cs typeface="+mn-cs"/>
              </a:rPr>
            </a:br>
            <a:r>
              <a:rPr kumimoji="0" lang="en-US" sz="1800" b="0" i="0" u="none" strike="noStrike" kern="1200" cap="none" spc="0" normalizeH="0" baseline="0" noProof="0">
                <a:ln>
                  <a:noFill/>
                </a:ln>
                <a:solidFill>
                  <a:srgbClr val="FFFFFF"/>
                </a:solidFill>
                <a:effectLst/>
                <a:uLnTx/>
                <a:uFillTx/>
                <a:latin typeface="Segoe UI Semibold"/>
                <a:ea typeface="+mn-ea"/>
                <a:cs typeface="+mn-cs"/>
              </a:rPr>
              <a:t>increasing efficiency and digital resilience</a:t>
            </a:r>
          </a:p>
        </p:txBody>
      </p:sp>
      <p:grpSp>
        <p:nvGrpSpPr>
          <p:cNvPr id="3" name="Group 2">
            <a:extLst>
              <a:ext uri="{FF2B5EF4-FFF2-40B4-BE49-F238E27FC236}">
                <a16:creationId xmlns:a16="http://schemas.microsoft.com/office/drawing/2014/main" id="{8F53E49F-BCEB-4D6B-A33C-56121FD474EC}"/>
              </a:ext>
              <a:ext uri="{C183D7F6-B498-43B3-948B-1728B52AA6E4}">
                <adec:decorative xmlns:adec="http://schemas.microsoft.com/office/drawing/2017/decorative" val="1"/>
              </a:ext>
            </a:extLst>
          </p:cNvPr>
          <p:cNvGrpSpPr/>
          <p:nvPr/>
        </p:nvGrpSpPr>
        <p:grpSpPr>
          <a:xfrm>
            <a:off x="6506250" y="4940645"/>
            <a:ext cx="349143" cy="345962"/>
            <a:chOff x="6514606" y="4837635"/>
            <a:chExt cx="349143" cy="345962"/>
          </a:xfrm>
        </p:grpSpPr>
        <p:grpSp>
          <p:nvGrpSpPr>
            <p:cNvPr id="78" name="person" descr="person">
              <a:extLst>
                <a:ext uri="{FF2B5EF4-FFF2-40B4-BE49-F238E27FC236}">
                  <a16:creationId xmlns:a16="http://schemas.microsoft.com/office/drawing/2014/main" id="{C01BC884-FB8A-4642-B251-265D475C0D69}"/>
                </a:ext>
              </a:extLst>
            </p:cNvPr>
            <p:cNvGrpSpPr/>
            <p:nvPr/>
          </p:nvGrpSpPr>
          <p:grpSpPr>
            <a:xfrm>
              <a:off x="6514606" y="4837635"/>
              <a:ext cx="197283" cy="238744"/>
              <a:chOff x="5517875" y="3368919"/>
              <a:chExt cx="233375" cy="282423"/>
            </a:xfrm>
          </p:grpSpPr>
          <p:sp>
            <p:nvSpPr>
              <p:cNvPr id="79" name="Freeform: Shape 78">
                <a:extLst>
                  <a:ext uri="{FF2B5EF4-FFF2-40B4-BE49-F238E27FC236}">
                    <a16:creationId xmlns:a16="http://schemas.microsoft.com/office/drawing/2014/main" id="{C10C86A1-5ABD-4577-A11C-045749BB1ACB}"/>
                  </a:ext>
                </a:extLst>
              </p:cNvPr>
              <p:cNvSpPr/>
              <p:nvPr/>
            </p:nvSpPr>
            <p:spPr>
              <a:xfrm>
                <a:off x="5570580" y="3368919"/>
                <a:ext cx="126834" cy="126834"/>
              </a:xfrm>
              <a:custGeom>
                <a:avLst/>
                <a:gdLst>
                  <a:gd name="connsiteX0" fmla="*/ 129210 w 126834"/>
                  <a:gd name="connsiteY0" fmla="*/ 65352 h 126834"/>
                  <a:gd name="connsiteX1" fmla="*/ 65858 w 126834"/>
                  <a:gd name="connsiteY1" fmla="*/ 128703 h 126834"/>
                  <a:gd name="connsiteX2" fmla="*/ 2001 w 126834"/>
                  <a:gd name="connsiteY2" fmla="*/ 65352 h 126834"/>
                  <a:gd name="connsiteX3" fmla="*/ 65858 w 126834"/>
                  <a:gd name="connsiteY3" fmla="*/ 2001 h 126834"/>
                  <a:gd name="connsiteX4" fmla="*/ 129210 w 126834"/>
                  <a:gd name="connsiteY4" fmla="*/ 65352 h 126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834" h="126834">
                    <a:moveTo>
                      <a:pt x="129210" y="65352"/>
                    </a:moveTo>
                    <a:cubicBezTo>
                      <a:pt x="129210" y="100321"/>
                      <a:pt x="100829" y="128703"/>
                      <a:pt x="65858" y="128703"/>
                    </a:cubicBezTo>
                    <a:cubicBezTo>
                      <a:pt x="30889" y="128703"/>
                      <a:pt x="2001" y="100321"/>
                      <a:pt x="2001" y="65352"/>
                    </a:cubicBezTo>
                    <a:cubicBezTo>
                      <a:pt x="2001" y="30382"/>
                      <a:pt x="30382" y="2001"/>
                      <a:pt x="65858" y="2001"/>
                    </a:cubicBezTo>
                    <a:cubicBezTo>
                      <a:pt x="101335" y="2001"/>
                      <a:pt x="129210" y="30382"/>
                      <a:pt x="129210" y="65352"/>
                    </a:cubicBezTo>
                    <a:close/>
                  </a:path>
                </a:pathLst>
              </a:custGeom>
              <a:solidFill>
                <a:srgbClr val="0078D4"/>
              </a:solidFill>
              <a:ln w="5008"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80" name="Freeform: Shape 79">
                <a:extLst>
                  <a:ext uri="{FF2B5EF4-FFF2-40B4-BE49-F238E27FC236}">
                    <a16:creationId xmlns:a16="http://schemas.microsoft.com/office/drawing/2014/main" id="{D96D15AC-3645-455A-B6CB-EFEC091171A8}"/>
                  </a:ext>
                </a:extLst>
              </p:cNvPr>
              <p:cNvSpPr/>
              <p:nvPr/>
            </p:nvSpPr>
            <p:spPr>
              <a:xfrm>
                <a:off x="5517875" y="3519435"/>
                <a:ext cx="233375" cy="131907"/>
              </a:xfrm>
              <a:custGeom>
                <a:avLst/>
                <a:gdLst>
                  <a:gd name="connsiteX0" fmla="*/ 118060 w 233374"/>
                  <a:gd name="connsiteY0" fmla="*/ 2001 h 131907"/>
                  <a:gd name="connsiteX1" fmla="*/ 234119 w 233374"/>
                  <a:gd name="connsiteY1" fmla="*/ 118059 h 131907"/>
                  <a:gd name="connsiteX2" fmla="*/ 234119 w 233374"/>
                  <a:gd name="connsiteY2" fmla="*/ 132250 h 131907"/>
                  <a:gd name="connsiteX3" fmla="*/ 2001 w 233374"/>
                  <a:gd name="connsiteY3" fmla="*/ 132250 h 131907"/>
                  <a:gd name="connsiteX4" fmla="*/ 2001 w 233374"/>
                  <a:gd name="connsiteY4" fmla="*/ 117552 h 131907"/>
                  <a:gd name="connsiteX5" fmla="*/ 118060 w 233374"/>
                  <a:gd name="connsiteY5" fmla="*/ 2001 h 13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74" h="131907">
                    <a:moveTo>
                      <a:pt x="118060" y="2001"/>
                    </a:moveTo>
                    <a:cubicBezTo>
                      <a:pt x="181917" y="2001"/>
                      <a:pt x="234119" y="53695"/>
                      <a:pt x="234119" y="118059"/>
                    </a:cubicBezTo>
                    <a:lnTo>
                      <a:pt x="234119" y="132250"/>
                    </a:lnTo>
                    <a:lnTo>
                      <a:pt x="2001" y="132250"/>
                    </a:lnTo>
                    <a:lnTo>
                      <a:pt x="2001" y="117552"/>
                    </a:lnTo>
                    <a:cubicBezTo>
                      <a:pt x="2001" y="53695"/>
                      <a:pt x="53695" y="2001"/>
                      <a:pt x="118060" y="2001"/>
                    </a:cubicBezTo>
                    <a:close/>
                  </a:path>
                </a:pathLst>
              </a:custGeom>
              <a:solidFill>
                <a:srgbClr val="0078D4"/>
              </a:solidFill>
              <a:ln w="5008"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81" name="person" descr="person">
              <a:extLst>
                <a:ext uri="{FF2B5EF4-FFF2-40B4-BE49-F238E27FC236}">
                  <a16:creationId xmlns:a16="http://schemas.microsoft.com/office/drawing/2014/main" id="{FDEAF3C9-707E-47F5-9F3E-22AC37A6F7EF}"/>
                </a:ext>
              </a:extLst>
            </p:cNvPr>
            <p:cNvGrpSpPr/>
            <p:nvPr/>
          </p:nvGrpSpPr>
          <p:grpSpPr>
            <a:xfrm>
              <a:off x="6666466" y="4944853"/>
              <a:ext cx="197283" cy="238744"/>
              <a:chOff x="5517875" y="3368919"/>
              <a:chExt cx="233375" cy="282423"/>
            </a:xfrm>
            <a:solidFill>
              <a:schemeClr val="accent1"/>
            </a:solidFill>
          </p:grpSpPr>
          <p:sp>
            <p:nvSpPr>
              <p:cNvPr id="82" name="Freeform: Shape 81">
                <a:extLst>
                  <a:ext uri="{FF2B5EF4-FFF2-40B4-BE49-F238E27FC236}">
                    <a16:creationId xmlns:a16="http://schemas.microsoft.com/office/drawing/2014/main" id="{0783B2B3-CE88-4A76-A82E-8BC3084A227D}"/>
                  </a:ext>
                </a:extLst>
              </p:cNvPr>
              <p:cNvSpPr/>
              <p:nvPr/>
            </p:nvSpPr>
            <p:spPr>
              <a:xfrm>
                <a:off x="5570580" y="3368919"/>
                <a:ext cx="126834" cy="126834"/>
              </a:xfrm>
              <a:custGeom>
                <a:avLst/>
                <a:gdLst>
                  <a:gd name="connsiteX0" fmla="*/ 129210 w 126834"/>
                  <a:gd name="connsiteY0" fmla="*/ 65352 h 126834"/>
                  <a:gd name="connsiteX1" fmla="*/ 65858 w 126834"/>
                  <a:gd name="connsiteY1" fmla="*/ 128703 h 126834"/>
                  <a:gd name="connsiteX2" fmla="*/ 2001 w 126834"/>
                  <a:gd name="connsiteY2" fmla="*/ 65352 h 126834"/>
                  <a:gd name="connsiteX3" fmla="*/ 65858 w 126834"/>
                  <a:gd name="connsiteY3" fmla="*/ 2001 h 126834"/>
                  <a:gd name="connsiteX4" fmla="*/ 129210 w 126834"/>
                  <a:gd name="connsiteY4" fmla="*/ 65352 h 126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834" h="126834">
                    <a:moveTo>
                      <a:pt x="129210" y="65352"/>
                    </a:moveTo>
                    <a:cubicBezTo>
                      <a:pt x="129210" y="100321"/>
                      <a:pt x="100829" y="128703"/>
                      <a:pt x="65858" y="128703"/>
                    </a:cubicBezTo>
                    <a:cubicBezTo>
                      <a:pt x="30889" y="128703"/>
                      <a:pt x="2001" y="100321"/>
                      <a:pt x="2001" y="65352"/>
                    </a:cubicBezTo>
                    <a:cubicBezTo>
                      <a:pt x="2001" y="30382"/>
                      <a:pt x="30382" y="2001"/>
                      <a:pt x="65858" y="2001"/>
                    </a:cubicBezTo>
                    <a:cubicBezTo>
                      <a:pt x="101335" y="2001"/>
                      <a:pt x="129210" y="30382"/>
                      <a:pt x="129210" y="65352"/>
                    </a:cubicBezTo>
                    <a:close/>
                  </a:path>
                </a:pathLst>
              </a:custGeom>
              <a:grpFill/>
              <a:ln w="5008" cap="flat">
                <a:solidFill>
                  <a:schemeClr val="accent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83" name="Freeform: Shape 82">
                <a:extLst>
                  <a:ext uri="{FF2B5EF4-FFF2-40B4-BE49-F238E27FC236}">
                    <a16:creationId xmlns:a16="http://schemas.microsoft.com/office/drawing/2014/main" id="{3BCC306D-26E4-4C5B-949C-41D1E46B5ED7}"/>
                  </a:ext>
                </a:extLst>
              </p:cNvPr>
              <p:cNvSpPr/>
              <p:nvPr/>
            </p:nvSpPr>
            <p:spPr>
              <a:xfrm>
                <a:off x="5517875" y="3519435"/>
                <a:ext cx="233375" cy="131907"/>
              </a:xfrm>
              <a:custGeom>
                <a:avLst/>
                <a:gdLst>
                  <a:gd name="connsiteX0" fmla="*/ 118060 w 233374"/>
                  <a:gd name="connsiteY0" fmla="*/ 2001 h 131907"/>
                  <a:gd name="connsiteX1" fmla="*/ 234119 w 233374"/>
                  <a:gd name="connsiteY1" fmla="*/ 118059 h 131907"/>
                  <a:gd name="connsiteX2" fmla="*/ 234119 w 233374"/>
                  <a:gd name="connsiteY2" fmla="*/ 132250 h 131907"/>
                  <a:gd name="connsiteX3" fmla="*/ 2001 w 233374"/>
                  <a:gd name="connsiteY3" fmla="*/ 132250 h 131907"/>
                  <a:gd name="connsiteX4" fmla="*/ 2001 w 233374"/>
                  <a:gd name="connsiteY4" fmla="*/ 117552 h 131907"/>
                  <a:gd name="connsiteX5" fmla="*/ 118060 w 233374"/>
                  <a:gd name="connsiteY5" fmla="*/ 2001 h 13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74" h="131907">
                    <a:moveTo>
                      <a:pt x="118060" y="2001"/>
                    </a:moveTo>
                    <a:cubicBezTo>
                      <a:pt x="181917" y="2001"/>
                      <a:pt x="234119" y="53695"/>
                      <a:pt x="234119" y="118059"/>
                    </a:cubicBezTo>
                    <a:lnTo>
                      <a:pt x="234119" y="132250"/>
                    </a:lnTo>
                    <a:lnTo>
                      <a:pt x="2001" y="132250"/>
                    </a:lnTo>
                    <a:lnTo>
                      <a:pt x="2001" y="117552"/>
                    </a:lnTo>
                    <a:cubicBezTo>
                      <a:pt x="2001" y="53695"/>
                      <a:pt x="53695" y="2001"/>
                      <a:pt x="118060" y="2001"/>
                    </a:cubicBezTo>
                    <a:close/>
                  </a:path>
                </a:pathLst>
              </a:custGeom>
              <a:grpFill/>
              <a:ln w="5008" cap="flat">
                <a:solidFill>
                  <a:schemeClr val="accent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sp>
        <p:nvSpPr>
          <p:cNvPr id="53" name="Oval 52">
            <a:extLst>
              <a:ext uri="{FF2B5EF4-FFF2-40B4-BE49-F238E27FC236}">
                <a16:creationId xmlns:a16="http://schemas.microsoft.com/office/drawing/2014/main" id="{5B2AFECC-6842-4A6F-97F1-8D0472FD6FC2}"/>
              </a:ext>
              <a:ext uri="{C183D7F6-B498-43B3-948B-1728B52AA6E4}">
                <adec:decorative xmlns:adec="http://schemas.microsoft.com/office/drawing/2017/decorative" val="1"/>
              </a:ext>
            </a:extLst>
          </p:cNvPr>
          <p:cNvSpPr/>
          <p:nvPr/>
        </p:nvSpPr>
        <p:spPr bwMode="auto">
          <a:xfrm>
            <a:off x="7187285" y="5113626"/>
            <a:ext cx="91440" cy="91440"/>
          </a:xfrm>
          <a:prstGeom prst="ellipse">
            <a:avLst/>
          </a:prstGeom>
          <a:gradFill>
            <a:gsLst>
              <a:gs pos="0">
                <a:schemeClr val="accent2"/>
              </a:gs>
              <a:gs pos="100000">
                <a:schemeClr val="accent1"/>
              </a:gs>
            </a:gsLst>
            <a:lin ang="18600000" scaled="0"/>
          </a:gradFill>
          <a:ln w="15875">
            <a:no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35" tIns="146268" rIns="182835" bIns="146268" numCol="1" spcCol="0" rtlCol="0" fromWordArt="0" anchor="t" anchorCtr="0" forceAA="0" compatLnSpc="1">
            <a:prstTxWarp prst="textNoShape">
              <a:avLst/>
            </a:prstTxWarp>
            <a:noAutofit/>
          </a:bodyPr>
          <a:lstStyle/>
          <a:p>
            <a:pPr marL="0" marR="0" lvl="0" indent="0" algn="l" defTabSz="93230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7" name="TextBox 56">
            <a:extLst>
              <a:ext uri="{FF2B5EF4-FFF2-40B4-BE49-F238E27FC236}">
                <a16:creationId xmlns:a16="http://schemas.microsoft.com/office/drawing/2014/main" id="{C324A0F0-8F25-4DED-8DD5-A6F9ADA54AC9}"/>
              </a:ext>
            </a:extLst>
          </p:cNvPr>
          <p:cNvSpPr txBox="1"/>
          <p:nvPr/>
        </p:nvSpPr>
        <p:spPr>
          <a:xfrm>
            <a:off x="7528216" y="4988636"/>
            <a:ext cx="4284476" cy="830997"/>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mn-cs"/>
              </a:rPr>
              <a:t>Build the right skills and culture</a:t>
            </a:r>
            <a:br>
              <a:rPr kumimoji="0" lang="en-US" sz="1800" b="0" i="0" u="none" strike="noStrike" kern="1200" cap="none" spc="0" normalizeH="0" baseline="0" noProof="0">
                <a:ln>
                  <a:noFill/>
                </a:ln>
                <a:solidFill>
                  <a:srgbClr val="50E6FF"/>
                </a:solidFill>
                <a:effectLst/>
                <a:uLnTx/>
                <a:uFillTx/>
                <a:latin typeface="Segoe UI Semibold"/>
                <a:ea typeface="+mn-ea"/>
                <a:cs typeface="+mn-cs"/>
              </a:rPr>
            </a:br>
            <a:r>
              <a:rPr kumimoji="0" lang="en-US" sz="1800" b="0" i="0" u="none" strike="noStrike" kern="1200" cap="none" spc="0" normalizeH="0" baseline="0" noProof="0">
                <a:ln>
                  <a:noFill/>
                </a:ln>
                <a:solidFill>
                  <a:srgbClr val="FFFFFF"/>
                </a:solidFill>
                <a:effectLst/>
                <a:uLnTx/>
                <a:uFillTx/>
                <a:latin typeface="Segoe UI Semibold"/>
                <a:ea typeface="+mn-ea"/>
                <a:cs typeface="+mn-cs"/>
              </a:rPr>
              <a:t>upskilling people and cultivating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mn-cs"/>
              </a:rPr>
              <a:t>a culture of innovation</a:t>
            </a:r>
          </a:p>
        </p:txBody>
      </p:sp>
    </p:spTree>
    <p:extLst>
      <p:ext uri="{BB962C8B-B14F-4D97-AF65-F5344CB8AC3E}">
        <p14:creationId xmlns:p14="http://schemas.microsoft.com/office/powerpoint/2010/main" val="13457484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4">
            <a:extLst>
              <a:ext uri="{FF2B5EF4-FFF2-40B4-BE49-F238E27FC236}">
                <a16:creationId xmlns:a16="http://schemas.microsoft.com/office/drawing/2014/main" id="{CB9BD3C0-66FC-4687-8AF2-1189A307D469}"/>
              </a:ext>
            </a:extLst>
          </p:cNvPr>
          <p:cNvSpPr>
            <a:spLocks noGrp="1"/>
          </p:cNvSpPr>
          <p:nvPr>
            <p:ph type="title"/>
          </p:nvPr>
        </p:nvSpPr>
        <p:spPr>
          <a:xfrm>
            <a:off x="555411" y="257070"/>
            <a:ext cx="11081177" cy="1020602"/>
          </a:xfrm>
        </p:spPr>
        <p:txBody>
          <a:bodyPr/>
          <a:lstStyle/>
          <a:p>
            <a:r>
              <a:rPr lang="en-US"/>
              <a:t>Industry findings predict continued migration and modernization momentum</a:t>
            </a:r>
          </a:p>
        </p:txBody>
      </p:sp>
      <p:sp>
        <p:nvSpPr>
          <p:cNvPr id="36" name="Rectangle 35">
            <a:extLst>
              <a:ext uri="{FF2B5EF4-FFF2-40B4-BE49-F238E27FC236}">
                <a16:creationId xmlns:a16="http://schemas.microsoft.com/office/drawing/2014/main" id="{342319C6-5334-446B-8B9B-F76D698AFC1B}"/>
              </a:ext>
            </a:extLst>
          </p:cNvPr>
          <p:cNvSpPr/>
          <p:nvPr/>
        </p:nvSpPr>
        <p:spPr bwMode="auto">
          <a:xfrm>
            <a:off x="563369" y="1600732"/>
            <a:ext cx="1950252" cy="110799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7200" b="0" i="0" u="none" strike="noStrike" kern="1200" cap="none" spc="-50" normalizeH="0" baseline="0" noProof="0">
                <a:ln w="3175">
                  <a:noFill/>
                </a:ln>
                <a:gradFill flip="none" rotWithShape="1">
                  <a:gsLst>
                    <a:gs pos="100000">
                      <a:srgbClr val="0078D4"/>
                    </a:gs>
                    <a:gs pos="0">
                      <a:srgbClr val="50E6FF"/>
                    </a:gs>
                  </a:gsLst>
                  <a:lin ang="2700000" scaled="1"/>
                  <a:tileRect/>
                </a:gradFill>
                <a:effectLst/>
                <a:uLnTx/>
                <a:uFillTx/>
                <a:latin typeface="Segoe UI Semibold"/>
                <a:ea typeface="+mn-ea"/>
                <a:cs typeface="+mn-cs"/>
              </a:rPr>
              <a:t>23</a:t>
            </a:r>
            <a:r>
              <a:rPr kumimoji="0" lang="en-US" sz="4400" b="0" i="0" u="none" strike="noStrike" kern="1200" cap="none" spc="-50" normalizeH="0" baseline="0" noProof="0">
                <a:ln>
                  <a:noFill/>
                </a:ln>
                <a:gradFill flip="none" rotWithShape="1">
                  <a:gsLst>
                    <a:gs pos="0">
                      <a:srgbClr val="50E6FF"/>
                    </a:gs>
                    <a:gs pos="100000">
                      <a:srgbClr val="8661C5"/>
                    </a:gs>
                  </a:gsLst>
                  <a:lin ang="2700000" scaled="1"/>
                  <a:tileRect/>
                </a:gradFill>
                <a:effectLst/>
                <a:uLnTx/>
                <a:uFillTx/>
                <a:latin typeface="Segoe UI Semibold"/>
                <a:ea typeface="Segoe UI" pitchFamily="34" charset="0"/>
                <a:cs typeface="Segoe UI" pitchFamily="34" charset="0"/>
              </a:rPr>
              <a:t>%</a:t>
            </a:r>
            <a:endParaRPr kumimoji="0" lang="en-US" sz="5400" b="0" i="0" u="none" strike="noStrike" kern="1200" cap="none" spc="-50" normalizeH="0" baseline="0" noProof="0">
              <a:ln>
                <a:noFill/>
              </a:ln>
              <a:gradFill flip="none" rotWithShape="1">
                <a:gsLst>
                  <a:gs pos="0">
                    <a:srgbClr val="50E6FF"/>
                  </a:gs>
                  <a:gs pos="100000">
                    <a:srgbClr val="8661C5"/>
                  </a:gs>
                </a:gsLst>
                <a:lin ang="2700000" scaled="1"/>
                <a:tileRect/>
              </a:gradFill>
              <a:effectLst/>
              <a:uLnTx/>
              <a:uFillTx/>
              <a:latin typeface="Segoe UI Semibold"/>
              <a:ea typeface="Segoe UI" pitchFamily="34" charset="0"/>
              <a:cs typeface="Segoe UI" pitchFamily="34" charset="0"/>
            </a:endParaRPr>
          </a:p>
        </p:txBody>
      </p:sp>
      <p:sp>
        <p:nvSpPr>
          <p:cNvPr id="44" name="TextBox 43">
            <a:extLst>
              <a:ext uri="{FF2B5EF4-FFF2-40B4-BE49-F238E27FC236}">
                <a16:creationId xmlns:a16="http://schemas.microsoft.com/office/drawing/2014/main" id="{E7A7F2BC-2903-4C9D-A3C8-62071E068FDD}"/>
              </a:ext>
            </a:extLst>
          </p:cNvPr>
          <p:cNvSpPr txBox="1"/>
          <p:nvPr/>
        </p:nvSpPr>
        <p:spPr>
          <a:xfrm>
            <a:off x="563369" y="2668219"/>
            <a:ext cx="2309126" cy="664797"/>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t>projected growth in cloud-based IT spends in 2021</a:t>
            </a:r>
          </a:p>
        </p:txBody>
      </p:sp>
      <p:sp>
        <p:nvSpPr>
          <p:cNvPr id="61" name="TextBox 60">
            <a:extLst>
              <a:ext uri="{FF2B5EF4-FFF2-40B4-BE49-F238E27FC236}">
                <a16:creationId xmlns:a16="http://schemas.microsoft.com/office/drawing/2014/main" id="{769AE58B-8467-44E8-97AD-8CDC9D89EA67}"/>
              </a:ext>
            </a:extLst>
          </p:cNvPr>
          <p:cNvSpPr txBox="1"/>
          <p:nvPr/>
        </p:nvSpPr>
        <p:spPr>
          <a:xfrm>
            <a:off x="4101197" y="1600732"/>
            <a:ext cx="2179631"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50" normalizeH="0" baseline="0" noProof="0">
                <a:ln w="3175">
                  <a:noFill/>
                </a:ln>
                <a:gradFill flip="none" rotWithShape="1">
                  <a:gsLst>
                    <a:gs pos="100000">
                      <a:srgbClr val="0078D4"/>
                    </a:gs>
                    <a:gs pos="0">
                      <a:srgbClr val="50E6FF"/>
                    </a:gs>
                  </a:gsLst>
                  <a:lin ang="2700000" scaled="1"/>
                  <a:tileRect/>
                </a:gradFill>
                <a:effectLst/>
                <a:uLnTx/>
                <a:uFillTx/>
                <a:latin typeface="Segoe UI Semibold"/>
                <a:ea typeface="+mn-ea"/>
                <a:cs typeface="+mn-cs"/>
              </a:rPr>
              <a:t>59</a:t>
            </a:r>
            <a:r>
              <a:rPr kumimoji="0" lang="en-US" sz="4400" b="0" i="0" u="none" strike="noStrike" kern="1200" cap="none" spc="-50" normalizeH="0" baseline="0" noProof="0">
                <a:ln>
                  <a:noFill/>
                </a:ln>
                <a:gradFill flip="none" rotWithShape="1">
                  <a:gsLst>
                    <a:gs pos="0">
                      <a:srgbClr val="50E6FF"/>
                    </a:gs>
                    <a:gs pos="100000">
                      <a:srgbClr val="8661C5"/>
                    </a:gs>
                  </a:gsLst>
                  <a:lin ang="2700000" scaled="1"/>
                  <a:tileRect/>
                </a:gradFill>
                <a:effectLst/>
                <a:uLnTx/>
                <a:uFillTx/>
                <a:latin typeface="Segoe UI Semibold"/>
                <a:ea typeface="+mn-ea"/>
                <a:cs typeface="Segoe UI" pitchFamily="34" charset="0"/>
              </a:rPr>
              <a:t>%</a:t>
            </a:r>
          </a:p>
        </p:txBody>
      </p:sp>
      <p:sp>
        <p:nvSpPr>
          <p:cNvPr id="62" name="TextBox 61">
            <a:extLst>
              <a:ext uri="{FF2B5EF4-FFF2-40B4-BE49-F238E27FC236}">
                <a16:creationId xmlns:a16="http://schemas.microsoft.com/office/drawing/2014/main" id="{95ADE965-E281-40DB-BA71-63893EFC2187}"/>
              </a:ext>
            </a:extLst>
          </p:cNvPr>
          <p:cNvSpPr txBox="1"/>
          <p:nvPr/>
        </p:nvSpPr>
        <p:spPr>
          <a:xfrm>
            <a:off x="4101197" y="2668219"/>
            <a:ext cx="2900093" cy="886397"/>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t>of organizations responded that migrating more workloads to the cloud is a top Cloud Initiative for 2021*</a:t>
            </a:r>
          </a:p>
        </p:txBody>
      </p:sp>
      <p:sp>
        <p:nvSpPr>
          <p:cNvPr id="59" name="Rectangle 58">
            <a:extLst>
              <a:ext uri="{FF2B5EF4-FFF2-40B4-BE49-F238E27FC236}">
                <a16:creationId xmlns:a16="http://schemas.microsoft.com/office/drawing/2014/main" id="{94955845-4991-4509-A0E2-9B2DC418F730}"/>
              </a:ext>
            </a:extLst>
          </p:cNvPr>
          <p:cNvSpPr/>
          <p:nvPr/>
        </p:nvSpPr>
        <p:spPr>
          <a:xfrm>
            <a:off x="8081334" y="1600732"/>
            <a:ext cx="1648208" cy="1089529"/>
          </a:xfrm>
          <a:prstGeom prst="rect">
            <a:avLst/>
          </a:prstGeom>
        </p:spPr>
        <p:txBody>
          <a:bodyPr wrap="none">
            <a:spAutoFit/>
          </a:bodyPr>
          <a:lstStyle/>
          <a:p>
            <a:pPr marL="0" marR="0" lvl="0" indent="0" algn="l" defTabSz="797999" rtl="0" eaLnBrk="1" fontAlgn="base" latinLnBrk="0" hangingPunct="1">
              <a:lnSpc>
                <a:spcPct val="90000"/>
              </a:lnSpc>
              <a:spcBef>
                <a:spcPct val="0"/>
              </a:spcBef>
              <a:spcAft>
                <a:spcPct val="0"/>
              </a:spcAft>
              <a:buClrTx/>
              <a:buSzPct val="90000"/>
              <a:buFontTx/>
              <a:buNone/>
              <a:tabLst>
                <a:tab pos="920876" algn="l"/>
              </a:tabLst>
              <a:defRPr/>
            </a:pPr>
            <a:r>
              <a:rPr kumimoji="0" lang="en-US" sz="7200" b="0" i="0" u="none" strike="noStrike" kern="1200" cap="none" spc="-50" normalizeH="0" baseline="0" noProof="0">
                <a:ln w="3175">
                  <a:noFill/>
                </a:ln>
                <a:gradFill flip="none" rotWithShape="1">
                  <a:gsLst>
                    <a:gs pos="100000">
                      <a:srgbClr val="0078D4"/>
                    </a:gs>
                    <a:gs pos="0">
                      <a:srgbClr val="50E6FF"/>
                    </a:gs>
                  </a:gsLst>
                  <a:lin ang="2700000" scaled="1"/>
                  <a:tileRect/>
                </a:gradFill>
                <a:effectLst/>
                <a:uLnTx/>
                <a:uFillTx/>
                <a:latin typeface="Segoe UI Semibold"/>
                <a:ea typeface="+mn-ea"/>
                <a:cs typeface="+mn-cs"/>
              </a:rPr>
              <a:t>72</a:t>
            </a:r>
            <a:r>
              <a:rPr kumimoji="0" lang="en-US" sz="4400" b="0" i="0" u="none" strike="noStrike" kern="1200" cap="none" spc="-50" normalizeH="0" baseline="0" noProof="0">
                <a:ln>
                  <a:noFill/>
                </a:ln>
                <a:gradFill flip="none" rotWithShape="1">
                  <a:gsLst>
                    <a:gs pos="0">
                      <a:srgbClr val="50E6FF"/>
                    </a:gs>
                    <a:gs pos="100000">
                      <a:srgbClr val="8661C5"/>
                    </a:gs>
                  </a:gsLst>
                  <a:lin ang="2700000" scaled="1"/>
                  <a:tileRect/>
                </a:gradFill>
                <a:effectLst/>
                <a:uLnTx/>
                <a:uFillTx/>
                <a:latin typeface="Segoe UI Semibold"/>
                <a:ea typeface="+mn-ea"/>
                <a:cs typeface="Segoe UI" pitchFamily="34" charset="0"/>
              </a:rPr>
              <a:t>%</a:t>
            </a:r>
          </a:p>
        </p:txBody>
      </p:sp>
      <p:sp>
        <p:nvSpPr>
          <p:cNvPr id="58" name="Rectangle 57">
            <a:extLst>
              <a:ext uri="{FF2B5EF4-FFF2-40B4-BE49-F238E27FC236}">
                <a16:creationId xmlns:a16="http://schemas.microsoft.com/office/drawing/2014/main" id="{242ACDD7-E15C-433B-A914-03D7B1F7B60B}"/>
              </a:ext>
            </a:extLst>
          </p:cNvPr>
          <p:cNvSpPr/>
          <p:nvPr/>
        </p:nvSpPr>
        <p:spPr>
          <a:xfrm>
            <a:off x="8204503" y="2582917"/>
            <a:ext cx="3413980" cy="1089529"/>
          </a:xfrm>
          <a:prstGeom prst="rect">
            <a:avLst/>
          </a:prstGeom>
        </p:spPr>
        <p:txBody>
          <a:bodyPr wrap="square">
            <a:no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t>of organizations reported industry’s pace of transformation has been accelerating as a result of the pandemic</a:t>
            </a:r>
          </a:p>
        </p:txBody>
      </p:sp>
      <p:sp>
        <p:nvSpPr>
          <p:cNvPr id="40" name="Rectangle 39">
            <a:extLst>
              <a:ext uri="{FF2B5EF4-FFF2-40B4-BE49-F238E27FC236}">
                <a16:creationId xmlns:a16="http://schemas.microsoft.com/office/drawing/2014/main" id="{4F312DFC-0F83-4E02-83BD-EDA8AE950A3C}"/>
              </a:ext>
            </a:extLst>
          </p:cNvPr>
          <p:cNvSpPr/>
          <p:nvPr/>
        </p:nvSpPr>
        <p:spPr bwMode="auto">
          <a:xfrm>
            <a:off x="563369" y="3933345"/>
            <a:ext cx="1482778" cy="110799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7200" b="0" i="0" u="none" strike="noStrike" kern="1200" cap="none" spc="-50" normalizeH="0" baseline="0" noProof="0">
                <a:ln w="3175">
                  <a:noFill/>
                </a:ln>
                <a:gradFill flip="none" rotWithShape="1">
                  <a:gsLst>
                    <a:gs pos="100000">
                      <a:srgbClr val="0078D4"/>
                    </a:gs>
                    <a:gs pos="0">
                      <a:srgbClr val="50E6FF"/>
                    </a:gs>
                  </a:gsLst>
                  <a:lin ang="2700000" scaled="1"/>
                  <a:tileRect/>
                </a:gradFill>
                <a:effectLst/>
                <a:uLnTx/>
                <a:uFillTx/>
                <a:latin typeface="Segoe UI Semibold"/>
                <a:ea typeface="+mn-ea"/>
                <a:cs typeface="+mn-cs"/>
              </a:rPr>
              <a:t>90</a:t>
            </a:r>
            <a:r>
              <a:rPr kumimoji="0" lang="en-US" sz="4400" b="0" i="0" u="none" strike="noStrike" kern="1200" cap="none" spc="-50" normalizeH="0" baseline="0" noProof="0">
                <a:ln>
                  <a:noFill/>
                </a:ln>
                <a:gradFill flip="none" rotWithShape="1">
                  <a:gsLst>
                    <a:gs pos="0">
                      <a:srgbClr val="50E6FF"/>
                    </a:gs>
                    <a:gs pos="100000">
                      <a:srgbClr val="8661C5"/>
                    </a:gs>
                  </a:gsLst>
                  <a:lin ang="2700000" scaled="1"/>
                  <a:tileRect/>
                </a:gradFill>
                <a:effectLst/>
                <a:uLnTx/>
                <a:uFillTx/>
                <a:latin typeface="Segoe UI Semibold"/>
                <a:ea typeface="+mn-ea"/>
                <a:cs typeface="Segoe UI" pitchFamily="34" charset="0"/>
              </a:rPr>
              <a:t>%</a:t>
            </a:r>
          </a:p>
        </p:txBody>
      </p:sp>
      <p:sp>
        <p:nvSpPr>
          <p:cNvPr id="48" name="TextBox 47">
            <a:extLst>
              <a:ext uri="{FF2B5EF4-FFF2-40B4-BE49-F238E27FC236}">
                <a16:creationId xmlns:a16="http://schemas.microsoft.com/office/drawing/2014/main" id="{59AC74EB-ACFD-4501-9310-6EE562CFDC1E}"/>
              </a:ext>
            </a:extLst>
          </p:cNvPr>
          <p:cNvSpPr txBox="1"/>
          <p:nvPr/>
        </p:nvSpPr>
        <p:spPr>
          <a:xfrm>
            <a:off x="563369" y="5047214"/>
            <a:ext cx="2569028" cy="664797"/>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t>of existing apps will still be in use, cloud modernization </a:t>
            </a:r>
            <a:br>
              <a:rPr kumimoji="0" lang="en-US" sz="16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br>
            <a:r>
              <a:rPr kumimoji="0" lang="en-US" sz="16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t>top benefit</a:t>
            </a:r>
          </a:p>
        </p:txBody>
      </p:sp>
      <p:sp>
        <p:nvSpPr>
          <p:cNvPr id="63" name="TextBox 62">
            <a:extLst>
              <a:ext uri="{FF2B5EF4-FFF2-40B4-BE49-F238E27FC236}">
                <a16:creationId xmlns:a16="http://schemas.microsoft.com/office/drawing/2014/main" id="{4B8822B1-B6D8-4DC5-B938-AC391CFBCC16}"/>
              </a:ext>
            </a:extLst>
          </p:cNvPr>
          <p:cNvSpPr txBox="1"/>
          <p:nvPr/>
        </p:nvSpPr>
        <p:spPr>
          <a:xfrm>
            <a:off x="4101197" y="3933345"/>
            <a:ext cx="204900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50" normalizeH="0" baseline="0" noProof="0">
                <a:ln w="3175">
                  <a:noFill/>
                </a:ln>
                <a:gradFill flip="none" rotWithShape="1">
                  <a:gsLst>
                    <a:gs pos="100000">
                      <a:srgbClr val="0078D4"/>
                    </a:gs>
                    <a:gs pos="0">
                      <a:srgbClr val="50E6FF"/>
                    </a:gs>
                  </a:gsLst>
                  <a:lin ang="2700000" scaled="1"/>
                  <a:tileRect/>
                </a:gradFill>
                <a:effectLst/>
                <a:uLnTx/>
                <a:uFillTx/>
                <a:latin typeface="Segoe UI Semibold"/>
                <a:ea typeface="+mn-ea"/>
                <a:cs typeface="+mn-cs"/>
              </a:rPr>
              <a:t>23</a:t>
            </a:r>
            <a:r>
              <a:rPr kumimoji="0" lang="en-US" sz="4400" b="0" i="0" u="none" strike="noStrike" kern="1200" cap="none" spc="-50" normalizeH="0" baseline="0" noProof="0">
                <a:ln>
                  <a:noFill/>
                </a:ln>
                <a:gradFill flip="none" rotWithShape="1">
                  <a:gsLst>
                    <a:gs pos="0">
                      <a:srgbClr val="50E6FF"/>
                    </a:gs>
                    <a:gs pos="100000">
                      <a:srgbClr val="8661C5"/>
                    </a:gs>
                  </a:gsLst>
                  <a:lin ang="2700000" scaled="1"/>
                  <a:tileRect/>
                </a:gradFill>
                <a:effectLst/>
                <a:uLnTx/>
                <a:uFillTx/>
                <a:latin typeface="Segoe UI Semibold"/>
                <a:ea typeface="+mn-ea"/>
                <a:cs typeface="Segoe UI" pitchFamily="34" charset="0"/>
              </a:rPr>
              <a:t>%</a:t>
            </a:r>
          </a:p>
        </p:txBody>
      </p:sp>
      <p:sp>
        <p:nvSpPr>
          <p:cNvPr id="64" name="TextBox 63">
            <a:extLst>
              <a:ext uri="{FF2B5EF4-FFF2-40B4-BE49-F238E27FC236}">
                <a16:creationId xmlns:a16="http://schemas.microsoft.com/office/drawing/2014/main" id="{E8A6AB88-A891-4075-A6AE-376D65A531E5}"/>
              </a:ext>
            </a:extLst>
          </p:cNvPr>
          <p:cNvSpPr txBox="1"/>
          <p:nvPr/>
        </p:nvSpPr>
        <p:spPr>
          <a:xfrm>
            <a:off x="4101197" y="5053540"/>
            <a:ext cx="2900093" cy="664797"/>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t>growth in end user spend on public cloud computing to $332B</a:t>
            </a:r>
            <a:r>
              <a:rPr kumimoji="0" lang="en-US" sz="11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t>**</a:t>
            </a:r>
            <a:endParaRPr kumimoji="0" lang="en-US" sz="1600" b="0" i="0" u="none" strike="noStrike" kern="1200" cap="none" spc="0" normalizeH="0" baseline="0" noProof="0">
              <a:ln>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endParaRPr>
          </a:p>
        </p:txBody>
      </p:sp>
      <p:sp>
        <p:nvSpPr>
          <p:cNvPr id="19" name="TextBox 18">
            <a:extLst>
              <a:ext uri="{FF2B5EF4-FFF2-40B4-BE49-F238E27FC236}">
                <a16:creationId xmlns:a16="http://schemas.microsoft.com/office/drawing/2014/main" id="{8187A6A0-F13B-47FC-BEE1-F3C867C5790B}"/>
              </a:ext>
            </a:extLst>
          </p:cNvPr>
          <p:cNvSpPr txBox="1"/>
          <p:nvPr/>
        </p:nvSpPr>
        <p:spPr>
          <a:xfrm>
            <a:off x="8204503" y="3933345"/>
            <a:ext cx="204900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50" normalizeH="0" baseline="0" noProof="0">
                <a:ln w="3175">
                  <a:noFill/>
                </a:ln>
                <a:gradFill flip="none" rotWithShape="1">
                  <a:gsLst>
                    <a:gs pos="100000">
                      <a:srgbClr val="0078D4"/>
                    </a:gs>
                    <a:gs pos="0">
                      <a:srgbClr val="50E6FF"/>
                    </a:gs>
                  </a:gsLst>
                  <a:lin ang="2700000" scaled="1"/>
                  <a:tileRect/>
                </a:gradFill>
                <a:effectLst/>
                <a:uLnTx/>
                <a:uFillTx/>
                <a:latin typeface="Segoe UI Semibold"/>
                <a:ea typeface="+mn-ea"/>
                <a:cs typeface="+mn-cs"/>
              </a:rPr>
              <a:t>90</a:t>
            </a:r>
            <a:r>
              <a:rPr kumimoji="0" lang="en-US" sz="4400" b="0" i="0" u="none" strike="noStrike" kern="1200" cap="none" spc="-50" normalizeH="0" baseline="0" noProof="0">
                <a:ln>
                  <a:noFill/>
                </a:ln>
                <a:gradFill flip="none" rotWithShape="1">
                  <a:gsLst>
                    <a:gs pos="0">
                      <a:srgbClr val="50E6FF"/>
                    </a:gs>
                    <a:gs pos="100000">
                      <a:srgbClr val="8661C5"/>
                    </a:gs>
                  </a:gsLst>
                  <a:lin ang="2700000" scaled="1"/>
                  <a:tileRect/>
                </a:gradFill>
                <a:effectLst/>
                <a:uLnTx/>
                <a:uFillTx/>
                <a:latin typeface="Segoe UI Semibold"/>
                <a:ea typeface="+mn-ea"/>
                <a:cs typeface="Segoe UI" pitchFamily="34" charset="0"/>
              </a:rPr>
              <a:t>%</a:t>
            </a:r>
          </a:p>
        </p:txBody>
      </p:sp>
      <p:sp>
        <p:nvSpPr>
          <p:cNvPr id="18" name="Title 3">
            <a:extLst>
              <a:ext uri="{FF2B5EF4-FFF2-40B4-BE49-F238E27FC236}">
                <a16:creationId xmlns:a16="http://schemas.microsoft.com/office/drawing/2014/main" id="{1895CC41-6D42-4D28-81E0-2F65359FB0E8}"/>
              </a:ext>
            </a:extLst>
          </p:cNvPr>
          <p:cNvSpPr txBox="1">
            <a:spLocks/>
          </p:cNvSpPr>
          <p:nvPr/>
        </p:nvSpPr>
        <p:spPr bwMode="auto">
          <a:xfrm>
            <a:off x="8204503" y="5061111"/>
            <a:ext cx="2691553" cy="797141"/>
          </a:xfrm>
          <a:prstGeom prst="rect">
            <a:avLst/>
          </a:prstGeom>
          <a:noFill/>
        </p:spPr>
        <p:txBody>
          <a:bodyPr vert="horz" wrap="square" lIns="0" tIns="0" rIns="0" bIns="0" rtlCol="0" anchor="ctr" anchorCtr="0">
            <a:spAutoFit/>
          </a:bodyPr>
          <a:lstStyle>
            <a:lvl1pPr algn="l" defTabSz="932742" rtl="0" eaLnBrk="1" latinLnBrk="0" hangingPunct="1">
              <a:lnSpc>
                <a:spcPct val="90000"/>
              </a:lnSpc>
              <a:spcBef>
                <a:spcPct val="0"/>
              </a:spcBef>
              <a:buNone/>
              <a:defRPr lang="en-US" sz="3600" b="0" kern="1200" cap="none" spc="-50" baseline="0">
                <a:ln w="3175">
                  <a:noFill/>
                </a:ln>
                <a:gradFill>
                  <a:gsLst>
                    <a:gs pos="74359">
                      <a:schemeClr val="tx1"/>
                    </a:gs>
                    <a:gs pos="57576">
                      <a:schemeClr val="tx1"/>
                    </a:gs>
                  </a:gsLst>
                  <a:lin ang="5400000" scaled="0"/>
                </a:gradFill>
                <a:effectLst/>
                <a:latin typeface="Segoe UI" panose="020B0502040204020203" pitchFamily="34" charset="0"/>
                <a:ea typeface="+mn-ea"/>
                <a:cs typeface="Segoe UI" panose="020B0502040204020203" pitchFamily="34" charset="0"/>
              </a:defRPr>
            </a:lvl1pPr>
          </a:lstStyle>
          <a:p>
            <a:pPr marL="0" marR="0" lvl="0" indent="0" algn="l" defTabSz="932472" rtl="0" eaLnBrk="1" fontAlgn="base" latinLnBrk="0" hangingPunct="1">
              <a:lnSpc>
                <a:spcPct val="90000"/>
              </a:lnSpc>
              <a:spcBef>
                <a:spcPct val="0"/>
              </a:spcBef>
              <a:spcAft>
                <a:spcPts val="600"/>
              </a:spcAft>
              <a:buClrTx/>
              <a:buSzPct val="90000"/>
              <a:buFontTx/>
              <a:buNone/>
              <a:tabLst/>
              <a:defRPr/>
            </a:pPr>
            <a:r>
              <a:rPr kumimoji="0" lang="en-US" sz="1600" b="0" i="0" u="none" strike="noStrike" kern="1200" cap="none" spc="-50" normalizeH="0" baseline="0" noProof="0" dirty="0">
                <a:ln w="3175">
                  <a:noFill/>
                </a:ln>
                <a:gradFill>
                  <a:gsLst>
                    <a:gs pos="0">
                      <a:srgbClr val="FFFFFF"/>
                    </a:gs>
                    <a:gs pos="100000">
                      <a:srgbClr val="FFFFFF"/>
                    </a:gs>
                  </a:gsLst>
                  <a:lin ang="18900000" scaled="1"/>
                </a:gradFill>
                <a:effectLst/>
                <a:uLnTx/>
                <a:uFillTx/>
                <a:latin typeface="Segoe UI Semibold"/>
                <a:ea typeface="+mn-ea"/>
                <a:cs typeface="Segoe UI Semibold" panose="020B0702040204020203" pitchFamily="34" charset="0"/>
              </a:rPr>
              <a:t>of enterprises depend on hybrid cloud infrastructure</a:t>
            </a:r>
          </a:p>
          <a:p>
            <a:pPr marL="0" marR="0" lvl="0" indent="0" algn="l" defTabSz="932472" rtl="0" eaLnBrk="1" fontAlgn="base" latinLnBrk="0" hangingPunct="1">
              <a:lnSpc>
                <a:spcPct val="90000"/>
              </a:lnSpc>
              <a:spcBef>
                <a:spcPct val="0"/>
              </a:spcBef>
              <a:spcAft>
                <a:spcPts val="600"/>
              </a:spcAft>
              <a:buClrTx/>
              <a:buSzPct val="90000"/>
              <a:buFontTx/>
              <a:buNone/>
              <a:tabLst/>
              <a:defRPr/>
            </a:pPr>
            <a:endParaRPr kumimoji="0" lang="en-US" sz="2000" b="0" i="0" u="none" strike="noStrike" kern="1200" cap="none" spc="0" normalizeH="0" baseline="0" noProof="0" dirty="0">
              <a:ln>
                <a:noFill/>
              </a:ln>
              <a:gradFill>
                <a:gsLst>
                  <a:gs pos="98947">
                    <a:srgbClr val="FFFFFF"/>
                  </a:gs>
                  <a:gs pos="74000">
                    <a:srgbClr val="FFFFFF"/>
                  </a:gs>
                </a:gsLst>
                <a:lin ang="18900000" scaled="1"/>
              </a:gradFill>
              <a:effectLst/>
              <a:uLnTx/>
              <a:uFillTx/>
              <a:latin typeface="Segoe UI Semibold"/>
              <a:ea typeface="Segoe UI" pitchFamily="34" charset="0"/>
              <a:cs typeface="Segoe UI" panose="020B0502040204020203" pitchFamily="34" charset="0"/>
            </a:endParaRPr>
          </a:p>
        </p:txBody>
      </p:sp>
      <p:sp>
        <p:nvSpPr>
          <p:cNvPr id="32" name="TextBox 31">
            <a:extLst>
              <a:ext uri="{FF2B5EF4-FFF2-40B4-BE49-F238E27FC236}">
                <a16:creationId xmlns:a16="http://schemas.microsoft.com/office/drawing/2014/main" id="{DA0CB8CC-BD44-49FB-982E-F55D12F1ABA3}"/>
              </a:ext>
            </a:extLst>
          </p:cNvPr>
          <p:cNvSpPr txBox="1"/>
          <p:nvPr/>
        </p:nvSpPr>
        <p:spPr>
          <a:xfrm>
            <a:off x="555411" y="6309258"/>
            <a:ext cx="7348731" cy="4154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50000"/>
                    <a:lumOff val="50000"/>
                  </a:prstClr>
                </a:solidFill>
                <a:effectLst/>
                <a:uLnTx/>
                <a:uFillTx/>
                <a:latin typeface="Segoe UI"/>
                <a:ea typeface="+mn-ea"/>
                <a:cs typeface="+mn-cs"/>
              </a:rPr>
              <a:t>*Source: Flexera State of the cloud 2021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50000"/>
                    <a:lumOff val="50000"/>
                  </a:prstClr>
                </a:solidFill>
                <a:effectLst/>
                <a:uLnTx/>
                <a:uFillTx/>
                <a:latin typeface="Segoe UI"/>
                <a:ea typeface="+mn-ea"/>
                <a:cs typeface="+mn-cs"/>
              </a:rPr>
              <a:t>**Gartner Press Release: </a:t>
            </a:r>
            <a:r>
              <a:rPr kumimoji="0" lang="en-US" sz="900" b="0" i="0" u="none" strike="noStrike" kern="1200" cap="none" spc="0" normalizeH="0" baseline="0" noProof="0">
                <a:ln>
                  <a:noFill/>
                </a:ln>
                <a:solidFill>
                  <a:prstClr val="black"/>
                </a:solidFill>
                <a:effectLst/>
                <a:uLnTx/>
                <a:uFillTx/>
                <a:latin typeface="Segoe UI"/>
                <a:ea typeface="+mn-ea"/>
                <a:cs typeface="+mn-cs"/>
                <a:hlinkClick r:id="rId3"/>
              </a:rPr>
              <a:t>Gartner Forecasts Worldwide Public Cloud End-User Spending to Grow 23% in 2021</a:t>
            </a:r>
            <a:endParaRPr kumimoji="0" lang="en-US" sz="90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50000"/>
                    <a:lumOff val="50000"/>
                  </a:prstClr>
                </a:solidFill>
                <a:effectLst/>
                <a:uLnTx/>
                <a:uFillTx/>
                <a:latin typeface="Segoe UI"/>
                <a:ea typeface="+mn-ea"/>
                <a:cs typeface="+mn-cs"/>
              </a:rPr>
              <a:t>Source</a:t>
            </a:r>
            <a:r>
              <a:rPr kumimoji="0" lang="en-US" sz="800" b="0" i="0" u="none" strike="noStrike" kern="1200" cap="none" spc="0" normalizeH="0" baseline="0" noProof="0">
                <a:ln>
                  <a:noFill/>
                </a:ln>
                <a:gradFill>
                  <a:gsLst>
                    <a:gs pos="2917">
                      <a:srgbClr val="FFFFFF"/>
                    </a:gs>
                    <a:gs pos="30000">
                      <a:srgbClr val="FFFFFF"/>
                    </a:gs>
                  </a:gsLst>
                  <a:lin ang="5400000" scaled="0"/>
                </a:gradFill>
                <a:effectLst/>
                <a:uLnTx/>
                <a:uFillTx/>
                <a:latin typeface="Segoe UI"/>
                <a:ea typeface="+mn-ea"/>
                <a:cs typeface="+mn-cs"/>
              </a:rPr>
              <a:t>: </a:t>
            </a:r>
            <a:r>
              <a:rPr kumimoji="0" lang="en-US" sz="800" b="0" i="0" u="sng" strike="noStrike" kern="1200" cap="none" spc="0" normalizeH="0" baseline="0" noProof="0">
                <a:ln>
                  <a:noFill/>
                </a:ln>
                <a:solidFill>
                  <a:srgbClr val="0563C1"/>
                </a:solidFill>
                <a:effectLst/>
                <a:uLnTx/>
                <a:uFillTx/>
                <a:latin typeface="Segoe UI" panose="020B0502040204020203" pitchFamily="34" charset="0"/>
                <a:ea typeface="Calibri" panose="020F0502020204030204" pitchFamily="34" charset="0"/>
                <a:cs typeface="+mn-cs"/>
                <a:hlinkClick r:id="rId4"/>
              </a:rPr>
              <a:t>Gartner Says a Massive Shift to Hybrid Infrastructure Services Is Underway</a:t>
            </a:r>
            <a:endParaRPr kumimoji="0" lang="en-US" sz="800" b="0" i="0" u="none" strike="noStrike" kern="1200" cap="none" spc="0" normalizeH="0" baseline="0" noProof="0">
              <a:ln>
                <a:noFill/>
              </a:ln>
              <a:gradFill>
                <a:gsLst>
                  <a:gs pos="2917">
                    <a:srgbClr val="FFFFFF"/>
                  </a:gs>
                  <a:gs pos="30000">
                    <a:srgbClr val="FFFFFF"/>
                  </a:gs>
                </a:gsLst>
                <a:lin ang="5400000" scaled="0"/>
              </a:gradFill>
              <a:effectLst/>
              <a:uLnTx/>
              <a:uFillTx/>
              <a:latin typeface="Segoe UI"/>
              <a:ea typeface="+mn-ea"/>
              <a:cs typeface="+mn-cs"/>
            </a:endParaRPr>
          </a:p>
        </p:txBody>
      </p:sp>
      <p:sp>
        <p:nvSpPr>
          <p:cNvPr id="3" name="Slide Number Placeholder 2">
            <a:extLst>
              <a:ext uri="{FF2B5EF4-FFF2-40B4-BE49-F238E27FC236}">
                <a16:creationId xmlns:a16="http://schemas.microsoft.com/office/drawing/2014/main" id="{2B7EFE3C-A3BD-4932-B2EE-AB800655C18F}"/>
              </a:ext>
            </a:extLst>
          </p:cNvPr>
          <p:cNvSpPr>
            <a:spLocks noGrp="1"/>
          </p:cNvSpPr>
          <p:nvPr>
            <p:ph type="sldNum" sz="quarter" idx="12"/>
          </p:nvPr>
        </p:nvSpPr>
        <p:spPr>
          <a:xfrm>
            <a:off x="11734142" y="6275130"/>
            <a:ext cx="36666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76384A-BF72-4EC3-9EB1-950545506B9E}" type="slidenum">
              <a:rPr kumimoji="0" lang="en-IN" sz="900" b="0" i="0" u="none" strike="noStrike" kern="1200" cap="none" spc="0" normalizeH="0" baseline="0" noProof="0" smtClean="0">
                <a:ln>
                  <a:noFill/>
                </a:ln>
                <a:solidFill>
                  <a:prstClr val="white"/>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9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804436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0D26C4-150B-B742-8436-F973E64B4C04}"/>
              </a:ext>
            </a:extLst>
          </p:cNvPr>
          <p:cNvSpPr>
            <a:spLocks noGrp="1"/>
          </p:cNvSpPr>
          <p:nvPr>
            <p:ph type="title"/>
          </p:nvPr>
        </p:nvSpPr>
        <p:spPr/>
        <p:txBody>
          <a:bodyPr/>
          <a:lstStyle/>
          <a:p>
            <a:r>
              <a:rPr lang="en-US"/>
              <a:t>What’s driving migrations to Azure?</a:t>
            </a:r>
          </a:p>
        </p:txBody>
      </p:sp>
      <p:sp>
        <p:nvSpPr>
          <p:cNvPr id="2" name="TextBox 1">
            <a:extLst>
              <a:ext uri="{FF2B5EF4-FFF2-40B4-BE49-F238E27FC236}">
                <a16:creationId xmlns:a16="http://schemas.microsoft.com/office/drawing/2014/main" id="{3353157B-7D6E-4BE0-A065-36599A3E3783}"/>
              </a:ext>
            </a:extLst>
          </p:cNvPr>
          <p:cNvSpPr txBox="1"/>
          <p:nvPr/>
        </p:nvSpPr>
        <p:spPr>
          <a:xfrm>
            <a:off x="597730" y="1477148"/>
            <a:ext cx="2081358" cy="61555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50E6FF"/>
                </a:solidFill>
                <a:effectLst/>
                <a:uLnTx/>
                <a:uFillTx/>
                <a:latin typeface="Segoe UI Semibold"/>
                <a:ea typeface="+mn-ea"/>
                <a:cs typeface="+mn-cs"/>
              </a:rPr>
              <a:t>Infrastructure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50E6FF"/>
                </a:solidFill>
                <a:effectLst/>
                <a:uLnTx/>
                <a:uFillTx/>
                <a:latin typeface="Segoe UI Semibold"/>
                <a:ea typeface="+mn-ea"/>
                <a:cs typeface="+mn-cs"/>
              </a:rPr>
              <a:t>oriented drivers</a:t>
            </a:r>
          </a:p>
        </p:txBody>
      </p:sp>
      <p:cxnSp>
        <p:nvCxnSpPr>
          <p:cNvPr id="3" name="Straight Connector 2">
            <a:extLst>
              <a:ext uri="{FF2B5EF4-FFF2-40B4-BE49-F238E27FC236}">
                <a16:creationId xmlns:a16="http://schemas.microsoft.com/office/drawing/2014/main" id="{F256AB5C-C852-4681-9ED6-324E8799F7D9}"/>
              </a:ext>
              <a:ext uri="{C183D7F6-B498-43B3-948B-1728B52AA6E4}">
                <adec:decorative xmlns:adec="http://schemas.microsoft.com/office/drawing/2017/decorative" val="1"/>
              </a:ext>
            </a:extLst>
          </p:cNvPr>
          <p:cNvCxnSpPr>
            <a:cxnSpLocks/>
          </p:cNvCxnSpPr>
          <p:nvPr/>
        </p:nvCxnSpPr>
        <p:spPr>
          <a:xfrm flipH="1" flipV="1">
            <a:off x="2032821" y="5976491"/>
            <a:ext cx="4062790" cy="869051"/>
          </a:xfrm>
          <a:prstGeom prst="line">
            <a:avLst/>
          </a:prstGeom>
          <a:ln>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440AF59-748F-4C9E-A604-1F97F639012F}"/>
              </a:ext>
              <a:ext uri="{C183D7F6-B498-43B3-948B-1728B52AA6E4}">
                <adec:decorative xmlns:adec="http://schemas.microsoft.com/office/drawing/2017/decorative" val="1"/>
              </a:ext>
            </a:extLst>
          </p:cNvPr>
          <p:cNvCxnSpPr>
            <a:cxnSpLocks/>
          </p:cNvCxnSpPr>
          <p:nvPr/>
        </p:nvCxnSpPr>
        <p:spPr>
          <a:xfrm flipH="1" flipV="1">
            <a:off x="2562177" y="4254989"/>
            <a:ext cx="3533434" cy="2590553"/>
          </a:xfrm>
          <a:prstGeom prst="line">
            <a:avLst/>
          </a:prstGeom>
          <a:ln>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7938765-B8DA-41F0-94C9-17DE5DB1E88E}"/>
              </a:ext>
              <a:ext uri="{C183D7F6-B498-43B3-948B-1728B52AA6E4}">
                <adec:decorative xmlns:adec="http://schemas.microsoft.com/office/drawing/2017/decorative" val="1"/>
              </a:ext>
            </a:extLst>
          </p:cNvPr>
          <p:cNvCxnSpPr>
            <a:cxnSpLocks/>
          </p:cNvCxnSpPr>
          <p:nvPr/>
        </p:nvCxnSpPr>
        <p:spPr>
          <a:xfrm flipH="1" flipV="1">
            <a:off x="3613025" y="2893879"/>
            <a:ext cx="2482586" cy="3963636"/>
          </a:xfrm>
          <a:prstGeom prst="line">
            <a:avLst/>
          </a:prstGeom>
          <a:ln>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8D009DF-39DA-426B-916E-0C45BF3439A6}"/>
              </a:ext>
              <a:ext uri="{C183D7F6-B498-43B3-948B-1728B52AA6E4}">
                <adec:decorative xmlns:adec="http://schemas.microsoft.com/office/drawing/2017/decorative" val="1"/>
              </a:ext>
            </a:extLst>
          </p:cNvPr>
          <p:cNvCxnSpPr>
            <a:cxnSpLocks/>
          </p:cNvCxnSpPr>
          <p:nvPr/>
        </p:nvCxnSpPr>
        <p:spPr>
          <a:xfrm flipH="1" flipV="1">
            <a:off x="5294871" y="2144865"/>
            <a:ext cx="798554" cy="4712649"/>
          </a:xfrm>
          <a:prstGeom prst="line">
            <a:avLst/>
          </a:prstGeom>
          <a:ln>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1A4F077-57C0-4E53-B2C0-4BCF767950C2}"/>
              </a:ext>
              <a:ext uri="{C183D7F6-B498-43B3-948B-1728B52AA6E4}">
                <adec:decorative xmlns:adec="http://schemas.microsoft.com/office/drawing/2017/decorative" val="1"/>
              </a:ext>
            </a:extLst>
          </p:cNvPr>
          <p:cNvCxnSpPr>
            <a:cxnSpLocks/>
          </p:cNvCxnSpPr>
          <p:nvPr/>
        </p:nvCxnSpPr>
        <p:spPr>
          <a:xfrm flipV="1">
            <a:off x="6095611" y="2111552"/>
            <a:ext cx="936316" cy="4745963"/>
          </a:xfrm>
          <a:prstGeom prst="line">
            <a:avLst/>
          </a:prstGeom>
          <a:ln>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D6DC958-EFF3-49BC-8E7D-186C72B8605E}"/>
              </a:ext>
              <a:ext uri="{C183D7F6-B498-43B3-948B-1728B52AA6E4}">
                <adec:decorative xmlns:adec="http://schemas.microsoft.com/office/drawing/2017/decorative" val="1"/>
              </a:ext>
            </a:extLst>
          </p:cNvPr>
          <p:cNvCxnSpPr>
            <a:cxnSpLocks/>
          </p:cNvCxnSpPr>
          <p:nvPr/>
        </p:nvCxnSpPr>
        <p:spPr>
          <a:xfrm flipH="1">
            <a:off x="6095611" y="2924005"/>
            <a:ext cx="2471722" cy="3933509"/>
          </a:xfrm>
          <a:prstGeom prst="line">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D464093-D293-48FC-8271-2302D09A4CD4}"/>
              </a:ext>
              <a:ext uri="{C183D7F6-B498-43B3-948B-1728B52AA6E4}">
                <adec:decorative xmlns:adec="http://schemas.microsoft.com/office/drawing/2017/decorative" val="1"/>
              </a:ext>
            </a:extLst>
          </p:cNvPr>
          <p:cNvCxnSpPr>
            <a:cxnSpLocks/>
          </p:cNvCxnSpPr>
          <p:nvPr/>
        </p:nvCxnSpPr>
        <p:spPr>
          <a:xfrm flipV="1">
            <a:off x="6095611" y="4369296"/>
            <a:ext cx="3524428" cy="2488219"/>
          </a:xfrm>
          <a:prstGeom prst="line">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9F99F-30E4-4606-9467-3AB959208B5E}"/>
              </a:ext>
              <a:ext uri="{C183D7F6-B498-43B3-948B-1728B52AA6E4}">
                <adec:decorative xmlns:adec="http://schemas.microsoft.com/office/drawing/2017/decorative" val="1"/>
              </a:ext>
            </a:extLst>
          </p:cNvPr>
          <p:cNvCxnSpPr>
            <a:cxnSpLocks/>
          </p:cNvCxnSpPr>
          <p:nvPr/>
        </p:nvCxnSpPr>
        <p:spPr>
          <a:xfrm flipV="1">
            <a:off x="6095611" y="5976349"/>
            <a:ext cx="4321143" cy="881166"/>
          </a:xfrm>
          <a:prstGeom prst="line">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0" name="Oval 41">
            <a:extLst>
              <a:ext uri="{FF2B5EF4-FFF2-40B4-BE49-F238E27FC236}">
                <a16:creationId xmlns:a16="http://schemas.microsoft.com/office/drawing/2014/main" id="{D30C10D6-BF89-4AEC-AB5C-CD4DF7C62289}"/>
              </a:ext>
            </a:extLst>
          </p:cNvPr>
          <p:cNvSpPr/>
          <p:nvPr/>
        </p:nvSpPr>
        <p:spPr bwMode="auto">
          <a:xfrm>
            <a:off x="1192771" y="5108831"/>
            <a:ext cx="1613565" cy="1613565"/>
          </a:xfrm>
          <a:prstGeom prst="ellipse">
            <a:avLst/>
          </a:prstGeom>
          <a:solidFill>
            <a:schemeClr val="accent1"/>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143428" rIns="0"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Semibold"/>
                <a:ea typeface="+mn-ea"/>
                <a:cs typeface="+mn-cs"/>
              </a:rPr>
              <a:t>Datacenter contract expiry</a:t>
            </a:r>
          </a:p>
        </p:txBody>
      </p:sp>
      <p:sp>
        <p:nvSpPr>
          <p:cNvPr id="49" name="Oval 48">
            <a:extLst>
              <a:ext uri="{FF2B5EF4-FFF2-40B4-BE49-F238E27FC236}">
                <a16:creationId xmlns:a16="http://schemas.microsoft.com/office/drawing/2014/main" id="{C97675C9-81F6-4673-AFC0-B686CD8B01F3}"/>
              </a:ext>
            </a:extLst>
          </p:cNvPr>
          <p:cNvSpPr/>
          <p:nvPr/>
        </p:nvSpPr>
        <p:spPr bwMode="auto">
          <a:xfrm>
            <a:off x="1688096" y="3350466"/>
            <a:ext cx="1613565" cy="1613565"/>
          </a:xfrm>
          <a:prstGeom prst="ellipse">
            <a:avLst/>
          </a:prstGeom>
          <a:solidFill>
            <a:schemeClr val="accent1"/>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143428" rIns="0"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Semibold"/>
                <a:ea typeface="+mn-ea"/>
                <a:cs typeface="+mn-cs"/>
              </a:rPr>
              <a:t>Software end of support</a:t>
            </a:r>
          </a:p>
        </p:txBody>
      </p:sp>
      <p:sp>
        <p:nvSpPr>
          <p:cNvPr id="75" name="Oval 74">
            <a:extLst>
              <a:ext uri="{FF2B5EF4-FFF2-40B4-BE49-F238E27FC236}">
                <a16:creationId xmlns:a16="http://schemas.microsoft.com/office/drawing/2014/main" id="{E12943AD-E0C0-4E00-B99C-63EFB240D6C2}"/>
              </a:ext>
            </a:extLst>
          </p:cNvPr>
          <p:cNvSpPr/>
          <p:nvPr/>
        </p:nvSpPr>
        <p:spPr bwMode="auto">
          <a:xfrm>
            <a:off x="2824272" y="1973657"/>
            <a:ext cx="1613565" cy="1613565"/>
          </a:xfrm>
          <a:prstGeom prst="ellipse">
            <a:avLst/>
          </a:prstGeom>
          <a:solidFill>
            <a:schemeClr val="accent1"/>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143428" rIns="0"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Semibold"/>
                <a:ea typeface="+mn-ea"/>
                <a:cs typeface="+mn-cs"/>
              </a:rPr>
              <a:t>Quickly integrate acquisitions</a:t>
            </a:r>
          </a:p>
        </p:txBody>
      </p:sp>
      <p:sp>
        <p:nvSpPr>
          <p:cNvPr id="50" name="Oval 49">
            <a:extLst>
              <a:ext uri="{FF2B5EF4-FFF2-40B4-BE49-F238E27FC236}">
                <a16:creationId xmlns:a16="http://schemas.microsoft.com/office/drawing/2014/main" id="{6BF53BA7-D539-495F-9A6F-231032429E0D}"/>
              </a:ext>
            </a:extLst>
          </p:cNvPr>
          <p:cNvSpPr/>
          <p:nvPr/>
        </p:nvSpPr>
        <p:spPr bwMode="auto">
          <a:xfrm>
            <a:off x="4477673" y="1298467"/>
            <a:ext cx="1613565" cy="1613565"/>
          </a:xfrm>
          <a:prstGeom prst="ellipse">
            <a:avLst/>
          </a:prstGeom>
          <a:solidFill>
            <a:schemeClr val="accent1"/>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143428" rIns="0"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Semibold"/>
                <a:ea typeface="+mn-ea"/>
                <a:cs typeface="+mn-cs"/>
              </a:rPr>
              <a:t>Urgent Capacity needs</a:t>
            </a:r>
          </a:p>
        </p:txBody>
      </p:sp>
      <p:sp>
        <p:nvSpPr>
          <p:cNvPr id="81" name="Oval 80">
            <a:extLst>
              <a:ext uri="{FF2B5EF4-FFF2-40B4-BE49-F238E27FC236}">
                <a16:creationId xmlns:a16="http://schemas.microsoft.com/office/drawing/2014/main" id="{1704329E-0144-47F5-BFEF-9C842626C818}"/>
              </a:ext>
            </a:extLst>
          </p:cNvPr>
          <p:cNvSpPr/>
          <p:nvPr/>
        </p:nvSpPr>
        <p:spPr bwMode="auto">
          <a:xfrm>
            <a:off x="6227721" y="1268340"/>
            <a:ext cx="1613565" cy="1613565"/>
          </a:xfrm>
          <a:prstGeom prst="ellipse">
            <a:avLst/>
          </a:prstGeom>
          <a:solidFill>
            <a:schemeClr val="accent1"/>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143428" rIns="0"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Semibold"/>
                <a:ea typeface="+mn-ea"/>
                <a:cs typeface="+mn-cs"/>
              </a:rPr>
              <a:t>Software &amp; Hardware refresh</a:t>
            </a:r>
          </a:p>
        </p:txBody>
      </p:sp>
      <p:sp>
        <p:nvSpPr>
          <p:cNvPr id="41" name="Oval 40">
            <a:extLst>
              <a:ext uri="{FF2B5EF4-FFF2-40B4-BE49-F238E27FC236}">
                <a16:creationId xmlns:a16="http://schemas.microsoft.com/office/drawing/2014/main" id="{D160B46B-2789-404A-B95D-24761203D2C8}"/>
              </a:ext>
              <a:ext uri="{C183D7F6-B498-43B3-948B-1728B52AA6E4}">
                <adec:decorative xmlns:adec="http://schemas.microsoft.com/office/drawing/2017/decorative" val="1"/>
              </a:ext>
            </a:extLst>
          </p:cNvPr>
          <p:cNvSpPr/>
          <p:nvPr/>
        </p:nvSpPr>
        <p:spPr>
          <a:xfrm>
            <a:off x="3357743" y="6213350"/>
            <a:ext cx="173174" cy="173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sp>
        <p:nvSpPr>
          <p:cNvPr id="36" name="Oval 35">
            <a:extLst>
              <a:ext uri="{FF2B5EF4-FFF2-40B4-BE49-F238E27FC236}">
                <a16:creationId xmlns:a16="http://schemas.microsoft.com/office/drawing/2014/main" id="{5748F25B-4CCF-324A-99E7-2BFD41A2C1F7}"/>
              </a:ext>
              <a:ext uri="{C183D7F6-B498-43B3-948B-1728B52AA6E4}">
                <adec:decorative xmlns:adec="http://schemas.microsoft.com/office/drawing/2017/decorative" val="1"/>
              </a:ext>
            </a:extLst>
          </p:cNvPr>
          <p:cNvSpPr/>
          <p:nvPr/>
        </p:nvSpPr>
        <p:spPr>
          <a:xfrm>
            <a:off x="3834564" y="5157334"/>
            <a:ext cx="173174" cy="173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sp>
        <p:nvSpPr>
          <p:cNvPr id="35" name="Oval 34">
            <a:extLst>
              <a:ext uri="{FF2B5EF4-FFF2-40B4-BE49-F238E27FC236}">
                <a16:creationId xmlns:a16="http://schemas.microsoft.com/office/drawing/2014/main" id="{49064BB3-4D96-E344-8C28-05CF5D82B53B}"/>
              </a:ext>
              <a:ext uri="{C183D7F6-B498-43B3-948B-1728B52AA6E4}">
                <adec:decorative xmlns:adec="http://schemas.microsoft.com/office/drawing/2017/decorative" val="1"/>
              </a:ext>
            </a:extLst>
          </p:cNvPr>
          <p:cNvSpPr/>
          <p:nvPr/>
        </p:nvSpPr>
        <p:spPr>
          <a:xfrm>
            <a:off x="4571398" y="4464642"/>
            <a:ext cx="173174" cy="173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sp>
        <p:nvSpPr>
          <p:cNvPr id="34" name="Oval 33">
            <a:extLst>
              <a:ext uri="{FF2B5EF4-FFF2-40B4-BE49-F238E27FC236}">
                <a16:creationId xmlns:a16="http://schemas.microsoft.com/office/drawing/2014/main" id="{364711FE-EB20-5B4B-BAA1-6E58B25B20C4}"/>
              </a:ext>
              <a:ext uri="{C183D7F6-B498-43B3-948B-1728B52AA6E4}">
                <adec:decorative xmlns:adec="http://schemas.microsoft.com/office/drawing/2017/decorative" val="1"/>
              </a:ext>
            </a:extLst>
          </p:cNvPr>
          <p:cNvSpPr/>
          <p:nvPr/>
        </p:nvSpPr>
        <p:spPr>
          <a:xfrm>
            <a:off x="5552712" y="4070759"/>
            <a:ext cx="173174" cy="173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sp>
        <p:nvSpPr>
          <p:cNvPr id="33" name="Oval 32">
            <a:extLst>
              <a:ext uri="{FF2B5EF4-FFF2-40B4-BE49-F238E27FC236}">
                <a16:creationId xmlns:a16="http://schemas.microsoft.com/office/drawing/2014/main" id="{D4EC9A57-4D33-134F-BA97-62E86E710A7E}"/>
              </a:ext>
              <a:ext uri="{C183D7F6-B498-43B3-948B-1728B52AA6E4}">
                <adec:decorative xmlns:adec="http://schemas.microsoft.com/office/drawing/2017/decorative" val="1"/>
              </a:ext>
            </a:extLst>
          </p:cNvPr>
          <p:cNvSpPr/>
          <p:nvPr/>
        </p:nvSpPr>
        <p:spPr>
          <a:xfrm>
            <a:off x="6544212" y="4070759"/>
            <a:ext cx="173174" cy="173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A848FFA7-8D09-4874-A9F2-74E6F5723C11}"/>
              </a:ext>
            </a:extLst>
          </p:cNvPr>
          <p:cNvSpPr txBox="1"/>
          <p:nvPr/>
        </p:nvSpPr>
        <p:spPr>
          <a:xfrm>
            <a:off x="9381901" y="1477148"/>
            <a:ext cx="2543815" cy="615553"/>
          </a:xfrm>
          <a:prstGeom prst="rect">
            <a:avLst/>
          </a:prstGeom>
          <a:noFill/>
        </p:spPr>
        <p:txBody>
          <a:bodyPr wrap="square" lIns="0" tIns="0" rIns="0" bIns="0" rtlCol="0">
            <a:spAutoFit/>
          </a:bodyPr>
          <a:lstStyle>
            <a:defPPr>
              <a:defRPr lang="en-US"/>
            </a:defPPr>
            <a:lvl1pPr>
              <a:defRPr sz="2000">
                <a:solidFill>
                  <a:schemeClr val="accent1"/>
                </a:solidFill>
              </a:defRPr>
            </a:lvl1p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50E6FF"/>
                </a:solidFill>
                <a:effectLst/>
                <a:uLnTx/>
                <a:uFillTx/>
                <a:latin typeface="Segoe UI Semibold"/>
                <a:ea typeface="+mn-ea"/>
                <a:cs typeface="+mn-cs"/>
              </a:rPr>
              <a:t>App oriented modernization drivers</a:t>
            </a:r>
          </a:p>
        </p:txBody>
      </p:sp>
      <p:sp>
        <p:nvSpPr>
          <p:cNvPr id="46" name="Oval 45">
            <a:extLst>
              <a:ext uri="{FF2B5EF4-FFF2-40B4-BE49-F238E27FC236}">
                <a16:creationId xmlns:a16="http://schemas.microsoft.com/office/drawing/2014/main" id="{B2F8F9B2-A27F-4BF1-BF82-CB345FF9439D}"/>
              </a:ext>
            </a:extLst>
          </p:cNvPr>
          <p:cNvSpPr/>
          <p:nvPr/>
        </p:nvSpPr>
        <p:spPr bwMode="auto">
          <a:xfrm>
            <a:off x="7783722" y="2006048"/>
            <a:ext cx="1613565" cy="1613565"/>
          </a:xfrm>
          <a:prstGeom prst="ellipse">
            <a:avLst/>
          </a:prstGeom>
          <a:solidFill>
            <a:schemeClr val="bg1"/>
          </a:solidFill>
          <a:ln w="28575">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143428" rIns="0"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Semibold"/>
                <a:ea typeface="+mn-ea"/>
                <a:cs typeface="+mn-cs"/>
              </a:rPr>
              <a:t>Security threats</a:t>
            </a:r>
          </a:p>
        </p:txBody>
      </p:sp>
      <p:sp>
        <p:nvSpPr>
          <p:cNvPr id="47" name="Oval 46">
            <a:extLst>
              <a:ext uri="{FF2B5EF4-FFF2-40B4-BE49-F238E27FC236}">
                <a16:creationId xmlns:a16="http://schemas.microsoft.com/office/drawing/2014/main" id="{6E0B8ADE-4757-4B28-8956-0BF084D43DE9}"/>
              </a:ext>
            </a:extLst>
          </p:cNvPr>
          <p:cNvSpPr/>
          <p:nvPr/>
        </p:nvSpPr>
        <p:spPr bwMode="auto">
          <a:xfrm>
            <a:off x="8849974" y="3522431"/>
            <a:ext cx="1613565" cy="1613565"/>
          </a:xfrm>
          <a:prstGeom prst="ellipse">
            <a:avLst/>
          </a:prstGeom>
          <a:solidFill>
            <a:schemeClr val="bg1"/>
          </a:solidFill>
          <a:ln w="28575">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143428" rIns="0"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Semibold"/>
                <a:ea typeface="+mn-ea"/>
                <a:cs typeface="+mn-cs"/>
              </a:rPr>
              <a:t>Compliance</a:t>
            </a:r>
          </a:p>
        </p:txBody>
      </p:sp>
      <p:sp>
        <p:nvSpPr>
          <p:cNvPr id="48" name="Oval 47">
            <a:extLst>
              <a:ext uri="{FF2B5EF4-FFF2-40B4-BE49-F238E27FC236}">
                <a16:creationId xmlns:a16="http://schemas.microsoft.com/office/drawing/2014/main" id="{B5B75E0C-9196-4240-B257-AEBC15329844}"/>
              </a:ext>
            </a:extLst>
          </p:cNvPr>
          <p:cNvSpPr/>
          <p:nvPr/>
        </p:nvSpPr>
        <p:spPr bwMode="auto">
          <a:xfrm>
            <a:off x="9672479" y="5108831"/>
            <a:ext cx="1613565" cy="1613565"/>
          </a:xfrm>
          <a:prstGeom prst="ellipse">
            <a:avLst/>
          </a:prstGeom>
          <a:solidFill>
            <a:schemeClr val="bg1"/>
          </a:solidFill>
          <a:ln w="28575">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143428" rIns="0"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Semibold"/>
                <a:ea typeface="+mn-ea"/>
                <a:cs typeface="+mn-cs"/>
              </a:rPr>
              <a:t>Application innovation</a:t>
            </a:r>
          </a:p>
        </p:txBody>
      </p:sp>
      <p:sp>
        <p:nvSpPr>
          <p:cNvPr id="9" name="Oval 8">
            <a:extLst>
              <a:ext uri="{FF2B5EF4-FFF2-40B4-BE49-F238E27FC236}">
                <a16:creationId xmlns:a16="http://schemas.microsoft.com/office/drawing/2014/main" id="{B59DD490-E148-814A-A7CA-22ADE20AE946}"/>
              </a:ext>
              <a:ext uri="{C183D7F6-B498-43B3-948B-1728B52AA6E4}">
                <adec:decorative xmlns:adec="http://schemas.microsoft.com/office/drawing/2017/decorative" val="1"/>
              </a:ext>
            </a:extLst>
          </p:cNvPr>
          <p:cNvSpPr/>
          <p:nvPr/>
        </p:nvSpPr>
        <p:spPr>
          <a:xfrm>
            <a:off x="7446439" y="4462237"/>
            <a:ext cx="173174" cy="173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sp>
        <p:nvSpPr>
          <p:cNvPr id="31" name="Oval 30">
            <a:extLst>
              <a:ext uri="{FF2B5EF4-FFF2-40B4-BE49-F238E27FC236}">
                <a16:creationId xmlns:a16="http://schemas.microsoft.com/office/drawing/2014/main" id="{E6FA0409-6652-8244-BE32-FB6FB4CDA4CC}"/>
              </a:ext>
              <a:ext uri="{C183D7F6-B498-43B3-948B-1728B52AA6E4}">
                <adec:decorative xmlns:adec="http://schemas.microsoft.com/office/drawing/2017/decorative" val="1"/>
              </a:ext>
            </a:extLst>
          </p:cNvPr>
          <p:cNvSpPr/>
          <p:nvPr/>
        </p:nvSpPr>
        <p:spPr>
          <a:xfrm>
            <a:off x="8231800" y="5201476"/>
            <a:ext cx="173174" cy="173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sp>
        <p:nvSpPr>
          <p:cNvPr id="32" name="Oval 31">
            <a:extLst>
              <a:ext uri="{FF2B5EF4-FFF2-40B4-BE49-F238E27FC236}">
                <a16:creationId xmlns:a16="http://schemas.microsoft.com/office/drawing/2014/main" id="{3B8FBBC4-61E6-BD42-BB2B-7CDB2D57996E}"/>
              </a:ext>
              <a:ext uri="{C183D7F6-B498-43B3-948B-1728B52AA6E4}">
                <adec:decorative xmlns:adec="http://schemas.microsoft.com/office/drawing/2017/decorative" val="1"/>
              </a:ext>
            </a:extLst>
          </p:cNvPr>
          <p:cNvSpPr/>
          <p:nvPr/>
        </p:nvSpPr>
        <p:spPr>
          <a:xfrm>
            <a:off x="8635870" y="6243910"/>
            <a:ext cx="173174" cy="173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sp>
        <p:nvSpPr>
          <p:cNvPr id="8" name="Oval 7">
            <a:extLst>
              <a:ext uri="{FF2B5EF4-FFF2-40B4-BE49-F238E27FC236}">
                <a16:creationId xmlns:a16="http://schemas.microsoft.com/office/drawing/2014/main" id="{EB4EA9A2-4528-B64A-AD4F-3719F488955F}"/>
              </a:ext>
              <a:ext uri="{C183D7F6-B498-43B3-948B-1728B52AA6E4}">
                <adec:decorative xmlns:adec="http://schemas.microsoft.com/office/drawing/2017/decorative" val="1"/>
              </a:ext>
            </a:extLst>
          </p:cNvPr>
          <p:cNvSpPr/>
          <p:nvPr/>
        </p:nvSpPr>
        <p:spPr>
          <a:xfrm>
            <a:off x="3427099" y="4085332"/>
            <a:ext cx="5337802" cy="53378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pic>
        <p:nvPicPr>
          <p:cNvPr id="27" name="Picture 26">
            <a:extLst>
              <a:ext uri="{FF2B5EF4-FFF2-40B4-BE49-F238E27FC236}">
                <a16:creationId xmlns:a16="http://schemas.microsoft.com/office/drawing/2014/main" id="{346889A7-3B17-0742-BE20-ECB431EF18C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1028" y="3670978"/>
            <a:ext cx="5413537" cy="6213940"/>
          </a:xfrm>
          <a:prstGeom prst="rect">
            <a:avLst/>
          </a:prstGeom>
        </p:spPr>
      </p:pic>
      <p:sp>
        <p:nvSpPr>
          <p:cNvPr id="10" name="Rectangle 9">
            <a:extLst>
              <a:ext uri="{FF2B5EF4-FFF2-40B4-BE49-F238E27FC236}">
                <a16:creationId xmlns:a16="http://schemas.microsoft.com/office/drawing/2014/main" id="{65E0261E-250F-4A4A-8640-0E44982A1991}"/>
              </a:ext>
            </a:extLst>
          </p:cNvPr>
          <p:cNvSpPr/>
          <p:nvPr/>
        </p:nvSpPr>
        <p:spPr>
          <a:xfrm>
            <a:off x="3126593" y="6336584"/>
            <a:ext cx="5938814" cy="5209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Segoe UI Semibold"/>
                <a:ea typeface="+mn-ea"/>
                <a:cs typeface="+mn-cs"/>
              </a:rPr>
              <a:t>Migration and innovation triggers </a:t>
            </a:r>
          </a:p>
        </p:txBody>
      </p:sp>
    </p:spTree>
    <p:extLst>
      <p:ext uri="{BB962C8B-B14F-4D97-AF65-F5344CB8AC3E}">
        <p14:creationId xmlns:p14="http://schemas.microsoft.com/office/powerpoint/2010/main" val="125558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down)">
                                      <p:cBhvr>
                                        <p:cTn id="14" dur="500"/>
                                        <p:tgtEl>
                                          <p:spTgt spid="59"/>
                                        </p:tgtEl>
                                      </p:cBhvr>
                                    </p:animEffec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childTnLst>
                                </p:cTn>
                              </p:par>
                            </p:childTnLst>
                          </p:cTn>
                        </p:par>
                        <p:par>
                          <p:cTn id="18" fill="hold">
                            <p:stCondLst>
                              <p:cond delay="1000"/>
                            </p:stCondLst>
                            <p:childTnLst>
                              <p:par>
                                <p:cTn id="19" presetID="22" presetClass="entr" presetSubtype="4" fill="hold" nodeType="after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wipe(down)">
                                      <p:cBhvr>
                                        <p:cTn id="21" dur="500"/>
                                        <p:tgtEl>
                                          <p:spTgt spid="55"/>
                                        </p:tgtEl>
                                      </p:cBhvr>
                                    </p:animEffect>
                                  </p:childTnLst>
                                </p:cTn>
                              </p:par>
                            </p:childTnLst>
                          </p:cTn>
                        </p:par>
                        <p:par>
                          <p:cTn id="22" fill="hold">
                            <p:stCondLst>
                              <p:cond delay="1500"/>
                            </p:stCondLst>
                            <p:childTnLst>
                              <p:par>
                                <p:cTn id="23" presetID="1" presetClass="entr" presetSubtype="0" fill="hold" grpId="0" nodeType="afterEffect">
                                  <p:stCondLst>
                                    <p:cond delay="0"/>
                                  </p:stCondLst>
                                  <p:childTnLst>
                                    <p:set>
                                      <p:cBhvr>
                                        <p:cTn id="24" dur="1" fill="hold">
                                          <p:stCondLst>
                                            <p:cond delay="0"/>
                                          </p:stCondLst>
                                        </p:cTn>
                                        <p:tgtEl>
                                          <p:spTgt spid="75"/>
                                        </p:tgtEl>
                                        <p:attrNameLst>
                                          <p:attrName>style.visibility</p:attrName>
                                        </p:attrNameLst>
                                      </p:cBhvr>
                                      <p:to>
                                        <p:strVal val="visible"/>
                                      </p:to>
                                    </p:set>
                                  </p:childTnLst>
                                </p:cTn>
                              </p:par>
                            </p:childTnLst>
                          </p:cTn>
                        </p:par>
                        <p:par>
                          <p:cTn id="25" fill="hold">
                            <p:stCondLst>
                              <p:cond delay="1500"/>
                            </p:stCondLst>
                            <p:childTnLst>
                              <p:par>
                                <p:cTn id="26" presetID="22" presetClass="entr" presetSubtype="4" fill="hold" nodeType="after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down)">
                                      <p:cBhvr>
                                        <p:cTn id="28" dur="500"/>
                                        <p:tgtEl>
                                          <p:spTgt spid="45"/>
                                        </p:tgtEl>
                                      </p:cBhvr>
                                    </p:animEffect>
                                  </p:childTnLst>
                                </p:cTn>
                              </p:par>
                            </p:childTnLst>
                          </p:cTn>
                        </p:par>
                        <p:par>
                          <p:cTn id="29" fill="hold">
                            <p:stCondLst>
                              <p:cond delay="2000"/>
                            </p:stCondLst>
                            <p:childTnLst>
                              <p:par>
                                <p:cTn id="30" presetID="1" presetClass="entr" presetSubtype="0" fill="hold" grpId="0" nodeType="afterEffect">
                                  <p:stCondLst>
                                    <p:cond delay="0"/>
                                  </p:stCondLst>
                                  <p:childTnLst>
                                    <p:set>
                                      <p:cBhvr>
                                        <p:cTn id="31" dur="1" fill="hold">
                                          <p:stCondLst>
                                            <p:cond delay="0"/>
                                          </p:stCondLst>
                                        </p:cTn>
                                        <p:tgtEl>
                                          <p:spTgt spid="50"/>
                                        </p:tgtEl>
                                        <p:attrNameLst>
                                          <p:attrName>style.visibility</p:attrName>
                                        </p:attrNameLst>
                                      </p:cBhvr>
                                      <p:to>
                                        <p:strVal val="visible"/>
                                      </p:to>
                                    </p:set>
                                  </p:childTnLst>
                                </p:cTn>
                              </p:par>
                            </p:childTnLst>
                          </p:cTn>
                        </p:par>
                        <p:par>
                          <p:cTn id="32" fill="hold">
                            <p:stCondLst>
                              <p:cond delay="2000"/>
                            </p:stCondLst>
                            <p:childTnLst>
                              <p:par>
                                <p:cTn id="33" presetID="22" presetClass="entr" presetSubtype="4" fill="hold"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down)">
                                      <p:cBhvr>
                                        <p:cTn id="35" dur="500"/>
                                        <p:tgtEl>
                                          <p:spTgt spid="44"/>
                                        </p:tgtEl>
                                      </p:cBhvr>
                                    </p:animEffect>
                                  </p:childTnLst>
                                </p:cTn>
                              </p:par>
                            </p:childTnLst>
                          </p:cTn>
                        </p:par>
                        <p:par>
                          <p:cTn id="36" fill="hold">
                            <p:stCondLst>
                              <p:cond delay="2500"/>
                            </p:stCondLst>
                            <p:childTnLst>
                              <p:par>
                                <p:cTn id="37" presetID="1" presetClass="entr" presetSubtype="0" fill="hold" grpId="0" nodeType="after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childTnLst>
                          </p:cTn>
                        </p:par>
                        <p:par>
                          <p:cTn id="39" fill="hold">
                            <p:stCondLst>
                              <p:cond delay="2500"/>
                            </p:stCondLst>
                            <p:childTnLst>
                              <p:par>
                                <p:cTn id="40" presetID="42" presetClass="entr" presetSubtype="0" fill="hold" grpId="0" nodeType="after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1000"/>
                                        <p:tgtEl>
                                          <p:spTgt spid="2"/>
                                        </p:tgtEl>
                                      </p:cBhvr>
                                    </p:animEffect>
                                    <p:anim calcmode="lin" valueType="num">
                                      <p:cBhvr>
                                        <p:cTn id="43" dur="1000" fill="hold"/>
                                        <p:tgtEl>
                                          <p:spTgt spid="2"/>
                                        </p:tgtEl>
                                        <p:attrNameLst>
                                          <p:attrName>ppt_x</p:attrName>
                                        </p:attrNameLst>
                                      </p:cBhvr>
                                      <p:tavLst>
                                        <p:tav tm="0">
                                          <p:val>
                                            <p:strVal val="#ppt_x"/>
                                          </p:val>
                                        </p:tav>
                                        <p:tav tm="100000">
                                          <p:val>
                                            <p:strVal val="#ppt_x"/>
                                          </p:val>
                                        </p:tav>
                                      </p:tavLst>
                                    </p:anim>
                                    <p:anim calcmode="lin" valueType="num">
                                      <p:cBhvr>
                                        <p:cTn id="4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wipe(down)">
                                      <p:cBhvr>
                                        <p:cTn id="49" dur="500"/>
                                        <p:tgtEl>
                                          <p:spTgt spid="39"/>
                                        </p:tgtEl>
                                      </p:cBhvr>
                                    </p:animEffec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par>
                          <p:cTn id="53" fill="hold">
                            <p:stCondLst>
                              <p:cond delay="500"/>
                            </p:stCondLst>
                            <p:childTnLst>
                              <p:par>
                                <p:cTn id="54" presetID="22" presetClass="entr" presetSubtype="4" fill="hold" nodeType="after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down)">
                                      <p:cBhvr>
                                        <p:cTn id="56" dur="500"/>
                                        <p:tgtEl>
                                          <p:spTgt spid="38"/>
                                        </p:tgtEl>
                                      </p:cBhvr>
                                    </p:animEffect>
                                  </p:childTnLst>
                                </p:cTn>
                              </p:par>
                            </p:childTnLst>
                          </p:cTn>
                        </p:par>
                        <p:par>
                          <p:cTn id="57" fill="hold">
                            <p:stCondLst>
                              <p:cond delay="1000"/>
                            </p:stCondLst>
                            <p:childTnLst>
                              <p:par>
                                <p:cTn id="58" presetID="1" presetClass="entr" presetSubtype="0" fill="hold" grpId="0" nodeType="afterEffect">
                                  <p:stCondLst>
                                    <p:cond delay="0"/>
                                  </p:stCondLst>
                                  <p:childTnLst>
                                    <p:set>
                                      <p:cBhvr>
                                        <p:cTn id="59" dur="1" fill="hold">
                                          <p:stCondLst>
                                            <p:cond delay="0"/>
                                          </p:stCondLst>
                                        </p:cTn>
                                        <p:tgtEl>
                                          <p:spTgt spid="47"/>
                                        </p:tgtEl>
                                        <p:attrNameLst>
                                          <p:attrName>style.visibility</p:attrName>
                                        </p:attrNameLst>
                                      </p:cBhvr>
                                      <p:to>
                                        <p:strVal val="visible"/>
                                      </p:to>
                                    </p:set>
                                  </p:childTnLst>
                                </p:cTn>
                              </p:par>
                            </p:childTnLst>
                          </p:cTn>
                        </p:par>
                        <p:par>
                          <p:cTn id="60" fill="hold">
                            <p:stCondLst>
                              <p:cond delay="1000"/>
                            </p:stCondLst>
                            <p:childTnLst>
                              <p:par>
                                <p:cTn id="61" presetID="22" presetClass="entr" presetSubtype="4" fill="hold" nodeType="afterEffect">
                                  <p:stCondLst>
                                    <p:cond delay="0"/>
                                  </p:stCondLst>
                                  <p:childTnLst>
                                    <p:set>
                                      <p:cBhvr>
                                        <p:cTn id="62" dur="1" fill="hold">
                                          <p:stCondLst>
                                            <p:cond delay="0"/>
                                          </p:stCondLst>
                                        </p:cTn>
                                        <p:tgtEl>
                                          <p:spTgt spid="60"/>
                                        </p:tgtEl>
                                        <p:attrNameLst>
                                          <p:attrName>style.visibility</p:attrName>
                                        </p:attrNameLst>
                                      </p:cBhvr>
                                      <p:to>
                                        <p:strVal val="visible"/>
                                      </p:to>
                                    </p:set>
                                    <p:animEffect transition="in" filter="wipe(down)">
                                      <p:cBhvr>
                                        <p:cTn id="63" dur="500"/>
                                        <p:tgtEl>
                                          <p:spTgt spid="60"/>
                                        </p:tgtEl>
                                      </p:cBhvr>
                                    </p:animEffect>
                                  </p:childTnLst>
                                </p:cTn>
                              </p:par>
                            </p:childTnLst>
                          </p:cTn>
                        </p:par>
                        <p:par>
                          <p:cTn id="64" fill="hold">
                            <p:stCondLst>
                              <p:cond delay="1500"/>
                            </p:stCondLst>
                            <p:childTnLst>
                              <p:par>
                                <p:cTn id="65" presetID="1" presetClass="entr" presetSubtype="0" fill="hold" grpId="0" nodeType="after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42"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1000"/>
                                        <p:tgtEl>
                                          <p:spTgt spid="23"/>
                                        </p:tgtEl>
                                      </p:cBhvr>
                                    </p:animEffect>
                                    <p:anim calcmode="lin" valueType="num">
                                      <p:cBhvr>
                                        <p:cTn id="70" dur="1000" fill="hold"/>
                                        <p:tgtEl>
                                          <p:spTgt spid="23"/>
                                        </p:tgtEl>
                                        <p:attrNameLst>
                                          <p:attrName>ppt_x</p:attrName>
                                        </p:attrNameLst>
                                      </p:cBhvr>
                                      <p:tavLst>
                                        <p:tav tm="0">
                                          <p:val>
                                            <p:strVal val="#ppt_x"/>
                                          </p:val>
                                        </p:tav>
                                        <p:tav tm="100000">
                                          <p:val>
                                            <p:strVal val="#ppt_x"/>
                                          </p:val>
                                        </p:tav>
                                      </p:tavLst>
                                    </p:anim>
                                    <p:anim calcmode="lin" valueType="num">
                                      <p:cBhvr>
                                        <p:cTn id="7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0" grpId="0" animBg="1"/>
      <p:bldP spid="49" grpId="0" animBg="1"/>
      <p:bldP spid="75" grpId="0" animBg="1"/>
      <p:bldP spid="50" grpId="0" animBg="1"/>
      <p:bldP spid="81" grpId="0" animBg="1"/>
      <p:bldP spid="23" grpId="0"/>
      <p:bldP spid="46" grpId="0" animBg="1"/>
      <p:bldP spid="47" grpId="0" animBg="1"/>
      <p:bldP spid="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45639366-5551-4A54-8887-9F6175B366A1}"/>
              </a:ext>
            </a:extLst>
          </p:cNvPr>
          <p:cNvSpPr txBox="1">
            <a:spLocks noGrp="1"/>
          </p:cNvSpPr>
          <p:nvPr>
            <p:ph type="title" idx="4294967295"/>
          </p:nvPr>
        </p:nvSpPr>
        <p:spPr>
          <a:xfrm>
            <a:off x="296950" y="413216"/>
            <a:ext cx="11655840" cy="89966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ts val="1800"/>
              </a:spcBef>
              <a:spcAft>
                <a:spcPts val="1200"/>
              </a:spcAft>
              <a:buClrTx/>
              <a:buSzTx/>
              <a:buFontTx/>
              <a:buNone/>
              <a:tabLst/>
              <a:defRPr/>
            </a:pPr>
            <a:r>
              <a:rPr kumimoji="0" lang="en-US" sz="3600" b="0" i="0" u="none" strike="noStrike" kern="1200" cap="none" spc="0" normalizeH="0" baseline="0" noProof="0" dirty="0">
                <a:ln w="3175">
                  <a:noFill/>
                </a:ln>
                <a:solidFill>
                  <a:schemeClr val="tx1"/>
                </a:solidFill>
                <a:effectLst/>
                <a:uLnTx/>
                <a:uFillTx/>
                <a:latin typeface="+mj-lt"/>
                <a:ea typeface="+mn-ea"/>
                <a:cs typeface="Segoe UI" pitchFamily="34" charset="0"/>
              </a:rPr>
              <a:t>Why customers choose to migrate </a:t>
            </a:r>
          </a:p>
        </p:txBody>
      </p:sp>
      <p:grpSp>
        <p:nvGrpSpPr>
          <p:cNvPr id="24" name="Group 146">
            <a:extLst>
              <a:ext uri="{FF2B5EF4-FFF2-40B4-BE49-F238E27FC236}">
                <a16:creationId xmlns:a16="http://schemas.microsoft.com/office/drawing/2014/main" id="{8255AE11-8067-4AD0-A3F8-476B8F104C5D}"/>
              </a:ext>
              <a:ext uri="{C183D7F6-B498-43B3-948B-1728B52AA6E4}">
                <adec:decorative xmlns:adec="http://schemas.microsoft.com/office/drawing/2017/decorative" val="1"/>
              </a:ext>
            </a:extLst>
          </p:cNvPr>
          <p:cNvGrpSpPr>
            <a:grpSpLocks noChangeAspect="1"/>
          </p:cNvGrpSpPr>
          <p:nvPr/>
        </p:nvGrpSpPr>
        <p:grpSpPr bwMode="auto">
          <a:xfrm>
            <a:off x="1685431" y="2343411"/>
            <a:ext cx="903390" cy="903390"/>
            <a:chOff x="410" y="1787"/>
            <a:chExt cx="312" cy="312"/>
          </a:xfrm>
        </p:grpSpPr>
        <p:sp>
          <p:nvSpPr>
            <p:cNvPr id="25" name="AutoShape 145">
              <a:extLst>
                <a:ext uri="{FF2B5EF4-FFF2-40B4-BE49-F238E27FC236}">
                  <a16:creationId xmlns:a16="http://schemas.microsoft.com/office/drawing/2014/main" id="{90E5B215-41F5-4D10-AC38-210E294778EB}"/>
                </a:ext>
              </a:extLst>
            </p:cNvPr>
            <p:cNvSpPr>
              <a:spLocks noChangeAspect="1" noChangeArrowheads="1" noTextEdit="1"/>
            </p:cNvSpPr>
            <p:nvPr/>
          </p:nvSpPr>
          <p:spPr bwMode="auto">
            <a:xfrm>
              <a:off x="410" y="1787"/>
              <a:ext cx="31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Oval 147">
              <a:extLst>
                <a:ext uri="{FF2B5EF4-FFF2-40B4-BE49-F238E27FC236}">
                  <a16:creationId xmlns:a16="http://schemas.microsoft.com/office/drawing/2014/main" id="{DECC11B2-C4A3-4851-ADB0-DFA5306A023E}"/>
                </a:ext>
              </a:extLst>
            </p:cNvPr>
            <p:cNvSpPr>
              <a:spLocks noChangeArrowheads="1"/>
            </p:cNvSpPr>
            <p:nvPr/>
          </p:nvSpPr>
          <p:spPr bwMode="auto">
            <a:xfrm>
              <a:off x="410" y="2041"/>
              <a:ext cx="59" cy="5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49">
              <a:extLst>
                <a:ext uri="{FF2B5EF4-FFF2-40B4-BE49-F238E27FC236}">
                  <a16:creationId xmlns:a16="http://schemas.microsoft.com/office/drawing/2014/main" id="{15A43938-F27A-4573-83F7-DFF18C44125A}"/>
                </a:ext>
              </a:extLst>
            </p:cNvPr>
            <p:cNvSpPr>
              <a:spLocks/>
            </p:cNvSpPr>
            <p:nvPr/>
          </p:nvSpPr>
          <p:spPr bwMode="auto">
            <a:xfrm>
              <a:off x="468" y="1874"/>
              <a:ext cx="168" cy="167"/>
            </a:xfrm>
            <a:custGeom>
              <a:avLst/>
              <a:gdLst>
                <a:gd name="T0" fmla="*/ 147 w 168"/>
                <a:gd name="T1" fmla="*/ 0 h 167"/>
                <a:gd name="T2" fmla="*/ 168 w 168"/>
                <a:gd name="T3" fmla="*/ 20 h 167"/>
                <a:gd name="T4" fmla="*/ 21 w 168"/>
                <a:gd name="T5" fmla="*/ 167 h 167"/>
                <a:gd name="T6" fmla="*/ 0 w 168"/>
                <a:gd name="T7" fmla="*/ 147 h 167"/>
                <a:gd name="T8" fmla="*/ 147 w 168"/>
                <a:gd name="T9" fmla="*/ 0 h 167"/>
              </a:gdLst>
              <a:ahLst/>
              <a:cxnLst>
                <a:cxn ang="0">
                  <a:pos x="T0" y="T1"/>
                </a:cxn>
                <a:cxn ang="0">
                  <a:pos x="T2" y="T3"/>
                </a:cxn>
                <a:cxn ang="0">
                  <a:pos x="T4" y="T5"/>
                </a:cxn>
                <a:cxn ang="0">
                  <a:pos x="T6" y="T7"/>
                </a:cxn>
                <a:cxn ang="0">
                  <a:pos x="T8" y="T9"/>
                </a:cxn>
              </a:cxnLst>
              <a:rect l="0" t="0" r="r" b="b"/>
              <a:pathLst>
                <a:path w="168" h="167">
                  <a:moveTo>
                    <a:pt x="147" y="0"/>
                  </a:moveTo>
                  <a:lnTo>
                    <a:pt x="168" y="20"/>
                  </a:lnTo>
                  <a:lnTo>
                    <a:pt x="21" y="167"/>
                  </a:lnTo>
                  <a:lnTo>
                    <a:pt x="0" y="147"/>
                  </a:lnTo>
                  <a:lnTo>
                    <a:pt x="147"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150">
              <a:extLst>
                <a:ext uri="{FF2B5EF4-FFF2-40B4-BE49-F238E27FC236}">
                  <a16:creationId xmlns:a16="http://schemas.microsoft.com/office/drawing/2014/main" id="{290D0031-3679-4766-870A-A59327FFBE87}"/>
                </a:ext>
              </a:extLst>
            </p:cNvPr>
            <p:cNvSpPr>
              <a:spLocks noChangeArrowheads="1"/>
            </p:cNvSpPr>
            <p:nvPr/>
          </p:nvSpPr>
          <p:spPr bwMode="auto">
            <a:xfrm>
              <a:off x="615" y="1865"/>
              <a:ext cx="29" cy="9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151">
              <a:extLst>
                <a:ext uri="{FF2B5EF4-FFF2-40B4-BE49-F238E27FC236}">
                  <a16:creationId xmlns:a16="http://schemas.microsoft.com/office/drawing/2014/main" id="{E3755137-4A59-4EA0-9A5A-04330F790416}"/>
                </a:ext>
              </a:extLst>
            </p:cNvPr>
            <p:cNvSpPr>
              <a:spLocks noChangeArrowheads="1"/>
            </p:cNvSpPr>
            <p:nvPr/>
          </p:nvSpPr>
          <p:spPr bwMode="auto">
            <a:xfrm>
              <a:off x="546" y="1865"/>
              <a:ext cx="98" cy="29"/>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0" name="Freeform 17">
            <a:extLst>
              <a:ext uri="{FF2B5EF4-FFF2-40B4-BE49-F238E27FC236}">
                <a16:creationId xmlns:a16="http://schemas.microsoft.com/office/drawing/2014/main" id="{2669501A-78F8-4F1A-B43E-787391FDA724}"/>
              </a:ext>
              <a:ext uri="{C183D7F6-B498-43B3-948B-1728B52AA6E4}">
                <adec:decorative xmlns:adec="http://schemas.microsoft.com/office/drawing/2017/decorative" val="1"/>
              </a:ext>
            </a:extLst>
          </p:cNvPr>
          <p:cNvSpPr>
            <a:spLocks noEditPoints="1"/>
          </p:cNvSpPr>
          <p:nvPr/>
        </p:nvSpPr>
        <p:spPr bwMode="auto">
          <a:xfrm>
            <a:off x="2499508" y="2143989"/>
            <a:ext cx="253592" cy="490929"/>
          </a:xfrm>
          <a:custGeom>
            <a:avLst/>
            <a:gdLst>
              <a:gd name="T0" fmla="*/ 339 w 339"/>
              <a:gd name="T1" fmla="*/ 440 h 662"/>
              <a:gd name="T2" fmla="*/ 303 w 339"/>
              <a:gd name="T3" fmla="*/ 534 h 662"/>
              <a:gd name="T4" fmla="*/ 195 w 339"/>
              <a:gd name="T5" fmla="*/ 578 h 662"/>
              <a:gd name="T6" fmla="*/ 195 w 339"/>
              <a:gd name="T7" fmla="*/ 662 h 662"/>
              <a:gd name="T8" fmla="*/ 144 w 339"/>
              <a:gd name="T9" fmla="*/ 662 h 662"/>
              <a:gd name="T10" fmla="*/ 144 w 339"/>
              <a:gd name="T11" fmla="*/ 580 h 662"/>
              <a:gd name="T12" fmla="*/ 10 w 339"/>
              <a:gd name="T13" fmla="*/ 547 h 662"/>
              <a:gd name="T14" fmla="*/ 10 w 339"/>
              <a:gd name="T15" fmla="*/ 450 h 662"/>
              <a:gd name="T16" fmla="*/ 71 w 339"/>
              <a:gd name="T17" fmla="*/ 480 h 662"/>
              <a:gd name="T18" fmla="*/ 144 w 339"/>
              <a:gd name="T19" fmla="*/ 497 h 662"/>
              <a:gd name="T20" fmla="*/ 144 w 339"/>
              <a:gd name="T21" fmla="*/ 368 h 662"/>
              <a:gd name="T22" fmla="*/ 33 w 339"/>
              <a:gd name="T23" fmla="*/ 305 h 662"/>
              <a:gd name="T24" fmla="*/ 0 w 339"/>
              <a:gd name="T25" fmla="*/ 214 h 662"/>
              <a:gd name="T26" fmla="*/ 40 w 339"/>
              <a:gd name="T27" fmla="*/ 119 h 662"/>
              <a:gd name="T28" fmla="*/ 144 w 339"/>
              <a:gd name="T29" fmla="*/ 74 h 662"/>
              <a:gd name="T30" fmla="*/ 144 w 339"/>
              <a:gd name="T31" fmla="*/ 0 h 662"/>
              <a:gd name="T32" fmla="*/ 195 w 339"/>
              <a:gd name="T33" fmla="*/ 0 h 662"/>
              <a:gd name="T34" fmla="*/ 195 w 339"/>
              <a:gd name="T35" fmla="*/ 73 h 662"/>
              <a:gd name="T36" fmla="*/ 306 w 339"/>
              <a:gd name="T37" fmla="*/ 97 h 662"/>
              <a:gd name="T38" fmla="*/ 306 w 339"/>
              <a:gd name="T39" fmla="*/ 192 h 662"/>
              <a:gd name="T40" fmla="*/ 195 w 339"/>
              <a:gd name="T41" fmla="*/ 155 h 662"/>
              <a:gd name="T42" fmla="*/ 195 w 339"/>
              <a:gd name="T43" fmla="*/ 289 h 662"/>
              <a:gd name="T44" fmla="*/ 306 w 339"/>
              <a:gd name="T45" fmla="*/ 353 h 662"/>
              <a:gd name="T46" fmla="*/ 339 w 339"/>
              <a:gd name="T47" fmla="*/ 440 h 662"/>
              <a:gd name="T48" fmla="*/ 144 w 339"/>
              <a:gd name="T49" fmla="*/ 269 h 662"/>
              <a:gd name="T50" fmla="*/ 144 w 339"/>
              <a:gd name="T51" fmla="*/ 157 h 662"/>
              <a:gd name="T52" fmla="*/ 94 w 339"/>
              <a:gd name="T53" fmla="*/ 208 h 662"/>
              <a:gd name="T54" fmla="*/ 144 w 339"/>
              <a:gd name="T55" fmla="*/ 269 h 662"/>
              <a:gd name="T56" fmla="*/ 246 w 339"/>
              <a:gd name="T57" fmla="*/ 445 h 662"/>
              <a:gd name="T58" fmla="*/ 195 w 339"/>
              <a:gd name="T59" fmla="*/ 388 h 662"/>
              <a:gd name="T60" fmla="*/ 195 w 339"/>
              <a:gd name="T61" fmla="*/ 495 h 662"/>
              <a:gd name="T62" fmla="*/ 246 w 339"/>
              <a:gd name="T63" fmla="*/ 445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9" h="662">
                <a:moveTo>
                  <a:pt x="339" y="440"/>
                </a:moveTo>
                <a:cubicBezTo>
                  <a:pt x="339" y="479"/>
                  <a:pt x="327" y="510"/>
                  <a:pt x="303" y="534"/>
                </a:cubicBezTo>
                <a:cubicBezTo>
                  <a:pt x="278" y="558"/>
                  <a:pt x="242" y="572"/>
                  <a:pt x="195" y="578"/>
                </a:cubicBezTo>
                <a:cubicBezTo>
                  <a:pt x="195" y="662"/>
                  <a:pt x="195" y="662"/>
                  <a:pt x="195" y="662"/>
                </a:cubicBezTo>
                <a:cubicBezTo>
                  <a:pt x="144" y="662"/>
                  <a:pt x="144" y="662"/>
                  <a:pt x="144" y="662"/>
                </a:cubicBezTo>
                <a:cubicBezTo>
                  <a:pt x="144" y="580"/>
                  <a:pt x="144" y="580"/>
                  <a:pt x="144" y="580"/>
                </a:cubicBezTo>
                <a:cubicBezTo>
                  <a:pt x="95" y="579"/>
                  <a:pt x="51" y="569"/>
                  <a:pt x="10" y="547"/>
                </a:cubicBezTo>
                <a:cubicBezTo>
                  <a:pt x="10" y="450"/>
                  <a:pt x="10" y="450"/>
                  <a:pt x="10" y="450"/>
                </a:cubicBezTo>
                <a:cubicBezTo>
                  <a:pt x="23" y="460"/>
                  <a:pt x="43" y="470"/>
                  <a:pt x="71" y="480"/>
                </a:cubicBezTo>
                <a:cubicBezTo>
                  <a:pt x="99" y="490"/>
                  <a:pt x="123" y="495"/>
                  <a:pt x="144" y="497"/>
                </a:cubicBezTo>
                <a:cubicBezTo>
                  <a:pt x="144" y="368"/>
                  <a:pt x="144" y="368"/>
                  <a:pt x="144" y="368"/>
                </a:cubicBezTo>
                <a:cubicBezTo>
                  <a:pt x="91" y="349"/>
                  <a:pt x="55" y="328"/>
                  <a:pt x="33" y="305"/>
                </a:cubicBezTo>
                <a:cubicBezTo>
                  <a:pt x="11" y="282"/>
                  <a:pt x="0" y="252"/>
                  <a:pt x="0" y="214"/>
                </a:cubicBezTo>
                <a:cubicBezTo>
                  <a:pt x="0" y="177"/>
                  <a:pt x="14" y="145"/>
                  <a:pt x="40" y="119"/>
                </a:cubicBezTo>
                <a:cubicBezTo>
                  <a:pt x="67" y="94"/>
                  <a:pt x="101" y="79"/>
                  <a:pt x="144" y="74"/>
                </a:cubicBezTo>
                <a:cubicBezTo>
                  <a:pt x="144" y="0"/>
                  <a:pt x="144" y="0"/>
                  <a:pt x="144" y="0"/>
                </a:cubicBezTo>
                <a:cubicBezTo>
                  <a:pt x="195" y="0"/>
                  <a:pt x="195" y="0"/>
                  <a:pt x="195" y="0"/>
                </a:cubicBezTo>
                <a:cubicBezTo>
                  <a:pt x="195" y="73"/>
                  <a:pt x="195" y="73"/>
                  <a:pt x="195" y="73"/>
                </a:cubicBezTo>
                <a:cubicBezTo>
                  <a:pt x="245" y="75"/>
                  <a:pt x="282" y="83"/>
                  <a:pt x="306" y="97"/>
                </a:cubicBezTo>
                <a:cubicBezTo>
                  <a:pt x="306" y="192"/>
                  <a:pt x="306" y="192"/>
                  <a:pt x="306" y="192"/>
                </a:cubicBezTo>
                <a:cubicBezTo>
                  <a:pt x="274" y="172"/>
                  <a:pt x="236" y="160"/>
                  <a:pt x="195" y="155"/>
                </a:cubicBezTo>
                <a:cubicBezTo>
                  <a:pt x="195" y="289"/>
                  <a:pt x="195" y="289"/>
                  <a:pt x="195" y="289"/>
                </a:cubicBezTo>
                <a:cubicBezTo>
                  <a:pt x="247" y="308"/>
                  <a:pt x="284" y="329"/>
                  <a:pt x="306" y="353"/>
                </a:cubicBezTo>
                <a:cubicBezTo>
                  <a:pt x="328" y="376"/>
                  <a:pt x="339" y="405"/>
                  <a:pt x="339" y="440"/>
                </a:cubicBezTo>
                <a:close/>
                <a:moveTo>
                  <a:pt x="144" y="269"/>
                </a:moveTo>
                <a:cubicBezTo>
                  <a:pt x="144" y="157"/>
                  <a:pt x="144" y="157"/>
                  <a:pt x="144" y="157"/>
                </a:cubicBezTo>
                <a:cubicBezTo>
                  <a:pt x="111" y="163"/>
                  <a:pt x="94" y="180"/>
                  <a:pt x="94" y="208"/>
                </a:cubicBezTo>
                <a:cubicBezTo>
                  <a:pt x="94" y="233"/>
                  <a:pt x="111" y="253"/>
                  <a:pt x="144" y="269"/>
                </a:cubicBezTo>
                <a:close/>
                <a:moveTo>
                  <a:pt x="246" y="445"/>
                </a:moveTo>
                <a:cubicBezTo>
                  <a:pt x="246" y="422"/>
                  <a:pt x="229" y="403"/>
                  <a:pt x="195" y="388"/>
                </a:cubicBezTo>
                <a:cubicBezTo>
                  <a:pt x="195" y="495"/>
                  <a:pt x="195" y="495"/>
                  <a:pt x="195" y="495"/>
                </a:cubicBezTo>
                <a:cubicBezTo>
                  <a:pt x="229" y="490"/>
                  <a:pt x="246" y="473"/>
                  <a:pt x="246" y="445"/>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2E18A278-B053-4E84-A0A5-25CAF133B5D3}"/>
              </a:ext>
            </a:extLst>
          </p:cNvPr>
          <p:cNvSpPr txBox="1"/>
          <p:nvPr/>
        </p:nvSpPr>
        <p:spPr>
          <a:xfrm>
            <a:off x="874089" y="3396853"/>
            <a:ext cx="2535745" cy="332399"/>
          </a:xfrm>
          <a:prstGeom prst="rect">
            <a:avLst/>
          </a:prstGeom>
          <a:noFill/>
        </p:spPr>
        <p:txBody>
          <a:bodyPr wrap="square" lIns="0" tIns="0" rIns="0" bIns="0" rtlCol="0">
            <a:spAutoFit/>
          </a:bodyPr>
          <a:lstStyle/>
          <a:p>
            <a:pPr algn="ctr">
              <a:lnSpc>
                <a:spcPct val="90000"/>
              </a:lnSpc>
              <a:spcAft>
                <a:spcPts val="600"/>
              </a:spcAft>
            </a:pPr>
            <a:r>
              <a:rPr lang="en-US" sz="2400" dirty="0">
                <a:solidFill>
                  <a:schemeClr val="accent2"/>
                </a:solidFill>
                <a:latin typeface="+mj-lt"/>
              </a:rPr>
              <a:t>Optimize cost</a:t>
            </a:r>
          </a:p>
        </p:txBody>
      </p:sp>
      <p:sp>
        <p:nvSpPr>
          <p:cNvPr id="3" name="Rectangle 2">
            <a:extLst>
              <a:ext uri="{FF2B5EF4-FFF2-40B4-BE49-F238E27FC236}">
                <a16:creationId xmlns:a16="http://schemas.microsoft.com/office/drawing/2014/main" id="{0DC4E138-1306-47DC-A518-0A847DA8A881}"/>
              </a:ext>
            </a:extLst>
          </p:cNvPr>
          <p:cNvSpPr/>
          <p:nvPr/>
        </p:nvSpPr>
        <p:spPr>
          <a:xfrm>
            <a:off x="353491" y="4755049"/>
            <a:ext cx="3576940" cy="152598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7" tIns="45713" rIns="91427" bIns="45713" numCol="1" spcCol="0" rtlCol="0" fromWordArt="0" anchor="t" anchorCtr="0" forceAA="0" compatLnSpc="1">
            <a:prstTxWarp prst="textNoShape">
              <a:avLst/>
            </a:prstTxWarp>
            <a:spAutoFit/>
          </a:bodyPr>
          <a:lstStyle/>
          <a:p>
            <a:pPr defTabSz="914225">
              <a:spcAft>
                <a:spcPts val="600"/>
              </a:spcAft>
              <a:defRPr/>
            </a:pPr>
            <a:r>
              <a:rPr lang="en-US" sz="1400" b="1">
                <a:solidFill>
                  <a:schemeClr val="tx1"/>
                </a:solidFill>
                <a:latin typeface="+mj-lt"/>
              </a:rPr>
              <a:t>Lowest TCO </a:t>
            </a:r>
          </a:p>
          <a:p>
            <a:pPr marL="285750" indent="-285750" defTabSz="914225">
              <a:spcAft>
                <a:spcPts val="600"/>
              </a:spcAft>
              <a:buFont typeface="Arial" panose="020B0604020202020204" pitchFamily="34" charset="0"/>
              <a:buChar char="•"/>
              <a:defRPr/>
            </a:pPr>
            <a:r>
              <a:rPr lang="en-US" sz="1400">
                <a:solidFill>
                  <a:schemeClr val="tx1"/>
                </a:solidFill>
                <a:latin typeface="Segoe UI"/>
              </a:rPr>
              <a:t>Driven by pay-for-what-you-use, automated admin, and HA/DR built-in</a:t>
            </a:r>
          </a:p>
          <a:p>
            <a:pPr marL="285750" indent="-285750" defTabSz="914225">
              <a:spcAft>
                <a:spcPts val="600"/>
              </a:spcAft>
              <a:buFont typeface="Arial" panose="020B0604020202020204" pitchFamily="34" charset="0"/>
              <a:buChar char="•"/>
              <a:defRPr/>
            </a:pPr>
            <a:r>
              <a:rPr lang="en-US" sz="1400">
                <a:solidFill>
                  <a:schemeClr val="tx1"/>
                </a:solidFill>
                <a:latin typeface="Segoe UI"/>
              </a:rPr>
              <a:t>Machine Learning-based, continuous performance optimization lowers costs significantly</a:t>
            </a:r>
          </a:p>
        </p:txBody>
      </p:sp>
      <p:sp>
        <p:nvSpPr>
          <p:cNvPr id="7" name="Diamond 50">
            <a:extLst>
              <a:ext uri="{FF2B5EF4-FFF2-40B4-BE49-F238E27FC236}">
                <a16:creationId xmlns:a16="http://schemas.microsoft.com/office/drawing/2014/main" id="{73E13081-68FB-4D72-AAEB-8CD3CEA42A34}"/>
              </a:ext>
              <a:ext uri="{C183D7F6-B498-43B3-948B-1728B52AA6E4}">
                <adec:decorative xmlns:adec="http://schemas.microsoft.com/office/drawing/2017/decorative" val="1"/>
              </a:ext>
            </a:extLst>
          </p:cNvPr>
          <p:cNvSpPr/>
          <p:nvPr/>
        </p:nvSpPr>
        <p:spPr>
          <a:xfrm>
            <a:off x="3820501" y="2019192"/>
            <a:ext cx="570760" cy="2012003"/>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2" name="Group 4" descr="magnifying glass looking at analytics">
            <a:extLst>
              <a:ext uri="{FF2B5EF4-FFF2-40B4-BE49-F238E27FC236}">
                <a16:creationId xmlns:a16="http://schemas.microsoft.com/office/drawing/2014/main" id="{0B06025A-DC08-40E5-8F70-A016511A298D}"/>
              </a:ext>
            </a:extLst>
          </p:cNvPr>
          <p:cNvGrpSpPr>
            <a:grpSpLocks noChangeAspect="1"/>
          </p:cNvGrpSpPr>
          <p:nvPr/>
        </p:nvGrpSpPr>
        <p:grpSpPr bwMode="auto">
          <a:xfrm>
            <a:off x="5626203" y="2471725"/>
            <a:ext cx="770160" cy="770154"/>
            <a:chOff x="4616" y="999"/>
            <a:chExt cx="312" cy="312"/>
          </a:xfrm>
        </p:grpSpPr>
        <p:sp>
          <p:nvSpPr>
            <p:cNvPr id="13" name="Freeform 5">
              <a:extLst>
                <a:ext uri="{FF2B5EF4-FFF2-40B4-BE49-F238E27FC236}">
                  <a16:creationId xmlns:a16="http://schemas.microsoft.com/office/drawing/2014/main" id="{53D8C0DC-7BAB-4C22-965D-1D17E906C32B}"/>
                </a:ext>
              </a:extLst>
            </p:cNvPr>
            <p:cNvSpPr>
              <a:spLocks/>
            </p:cNvSpPr>
            <p:nvPr/>
          </p:nvSpPr>
          <p:spPr bwMode="auto">
            <a:xfrm>
              <a:off x="4780" y="1163"/>
              <a:ext cx="148" cy="148"/>
            </a:xfrm>
            <a:custGeom>
              <a:avLst/>
              <a:gdLst>
                <a:gd name="T0" fmla="*/ 148 w 148"/>
                <a:gd name="T1" fmla="*/ 127 h 148"/>
                <a:gd name="T2" fmla="*/ 127 w 148"/>
                <a:gd name="T3" fmla="*/ 148 h 148"/>
                <a:gd name="T4" fmla="*/ 52 w 148"/>
                <a:gd name="T5" fmla="*/ 73 h 148"/>
                <a:gd name="T6" fmla="*/ 0 w 148"/>
                <a:gd name="T7" fmla="*/ 21 h 148"/>
                <a:gd name="T8" fmla="*/ 21 w 148"/>
                <a:gd name="T9" fmla="*/ 0 h 148"/>
                <a:gd name="T10" fmla="*/ 148 w 148"/>
                <a:gd name="T11" fmla="*/ 127 h 148"/>
              </a:gdLst>
              <a:ahLst/>
              <a:cxnLst>
                <a:cxn ang="0">
                  <a:pos x="T0" y="T1"/>
                </a:cxn>
                <a:cxn ang="0">
                  <a:pos x="T2" y="T3"/>
                </a:cxn>
                <a:cxn ang="0">
                  <a:pos x="T4" y="T5"/>
                </a:cxn>
                <a:cxn ang="0">
                  <a:pos x="T6" y="T7"/>
                </a:cxn>
                <a:cxn ang="0">
                  <a:pos x="T8" y="T9"/>
                </a:cxn>
                <a:cxn ang="0">
                  <a:pos x="T10" y="T11"/>
                </a:cxn>
              </a:cxnLst>
              <a:rect l="0" t="0" r="r" b="b"/>
              <a:pathLst>
                <a:path w="148" h="148">
                  <a:moveTo>
                    <a:pt x="148" y="127"/>
                  </a:moveTo>
                  <a:lnTo>
                    <a:pt x="127" y="148"/>
                  </a:lnTo>
                  <a:lnTo>
                    <a:pt x="52" y="73"/>
                  </a:lnTo>
                  <a:lnTo>
                    <a:pt x="0" y="21"/>
                  </a:lnTo>
                  <a:lnTo>
                    <a:pt x="21" y="0"/>
                  </a:lnTo>
                  <a:lnTo>
                    <a:pt x="148" y="12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EF7413D3-1A33-4661-92EF-899CB9052A90}"/>
                </a:ext>
              </a:extLst>
            </p:cNvPr>
            <p:cNvSpPr>
              <a:spLocks noEditPoints="1"/>
            </p:cNvSpPr>
            <p:nvPr/>
          </p:nvSpPr>
          <p:spPr bwMode="auto">
            <a:xfrm>
              <a:off x="4616" y="999"/>
              <a:ext cx="215" cy="215"/>
            </a:xfrm>
            <a:custGeom>
              <a:avLst/>
              <a:gdLst>
                <a:gd name="T0" fmla="*/ 469 w 938"/>
                <a:gd name="T1" fmla="*/ 0 h 939"/>
                <a:gd name="T2" fmla="*/ 0 w 938"/>
                <a:gd name="T3" fmla="*/ 470 h 939"/>
                <a:gd name="T4" fmla="*/ 469 w 938"/>
                <a:gd name="T5" fmla="*/ 939 h 939"/>
                <a:gd name="T6" fmla="*/ 938 w 938"/>
                <a:gd name="T7" fmla="*/ 470 h 939"/>
                <a:gd name="T8" fmla="*/ 469 w 938"/>
                <a:gd name="T9" fmla="*/ 0 h 939"/>
                <a:gd name="T10" fmla="*/ 469 w 938"/>
                <a:gd name="T11" fmla="*/ 811 h 939"/>
                <a:gd name="T12" fmla="*/ 128 w 938"/>
                <a:gd name="T13" fmla="*/ 470 h 939"/>
                <a:gd name="T14" fmla="*/ 469 w 938"/>
                <a:gd name="T15" fmla="*/ 128 h 939"/>
                <a:gd name="T16" fmla="*/ 810 w 938"/>
                <a:gd name="T17" fmla="*/ 470 h 939"/>
                <a:gd name="T18" fmla="*/ 469 w 938"/>
                <a:gd name="T19" fmla="*/ 81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8" h="939">
                  <a:moveTo>
                    <a:pt x="469" y="0"/>
                  </a:moveTo>
                  <a:cubicBezTo>
                    <a:pt x="210" y="0"/>
                    <a:pt x="0" y="210"/>
                    <a:pt x="0" y="470"/>
                  </a:cubicBezTo>
                  <a:cubicBezTo>
                    <a:pt x="0" y="729"/>
                    <a:pt x="210" y="939"/>
                    <a:pt x="469" y="939"/>
                  </a:cubicBezTo>
                  <a:cubicBezTo>
                    <a:pt x="728" y="939"/>
                    <a:pt x="938" y="729"/>
                    <a:pt x="938" y="470"/>
                  </a:cubicBezTo>
                  <a:cubicBezTo>
                    <a:pt x="938" y="210"/>
                    <a:pt x="728" y="0"/>
                    <a:pt x="469" y="0"/>
                  </a:cubicBezTo>
                  <a:close/>
                  <a:moveTo>
                    <a:pt x="469" y="811"/>
                  </a:moveTo>
                  <a:cubicBezTo>
                    <a:pt x="280" y="811"/>
                    <a:pt x="128" y="658"/>
                    <a:pt x="128" y="470"/>
                  </a:cubicBezTo>
                  <a:cubicBezTo>
                    <a:pt x="128" y="281"/>
                    <a:pt x="280" y="128"/>
                    <a:pt x="469" y="128"/>
                  </a:cubicBezTo>
                  <a:cubicBezTo>
                    <a:pt x="658" y="128"/>
                    <a:pt x="810" y="281"/>
                    <a:pt x="810" y="470"/>
                  </a:cubicBezTo>
                  <a:cubicBezTo>
                    <a:pt x="810" y="658"/>
                    <a:pt x="658" y="811"/>
                    <a:pt x="469" y="81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7">
              <a:extLst>
                <a:ext uri="{FF2B5EF4-FFF2-40B4-BE49-F238E27FC236}">
                  <a16:creationId xmlns:a16="http://schemas.microsoft.com/office/drawing/2014/main" id="{CBC1896D-FB23-41EC-86C0-29CF365EE7FB}"/>
                </a:ext>
              </a:extLst>
            </p:cNvPr>
            <p:cNvSpPr>
              <a:spLocks noChangeArrowheads="1"/>
            </p:cNvSpPr>
            <p:nvPr/>
          </p:nvSpPr>
          <p:spPr bwMode="auto">
            <a:xfrm>
              <a:off x="4742" y="1107"/>
              <a:ext cx="20" cy="4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8">
              <a:extLst>
                <a:ext uri="{FF2B5EF4-FFF2-40B4-BE49-F238E27FC236}">
                  <a16:creationId xmlns:a16="http://schemas.microsoft.com/office/drawing/2014/main" id="{E6240AC7-049A-4275-B711-00FC9939F9BE}"/>
                </a:ext>
              </a:extLst>
            </p:cNvPr>
            <p:cNvSpPr>
              <a:spLocks noChangeArrowheads="1"/>
            </p:cNvSpPr>
            <p:nvPr/>
          </p:nvSpPr>
          <p:spPr bwMode="auto">
            <a:xfrm>
              <a:off x="4713" y="1077"/>
              <a:ext cx="19" cy="7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9">
              <a:extLst>
                <a:ext uri="{FF2B5EF4-FFF2-40B4-BE49-F238E27FC236}">
                  <a16:creationId xmlns:a16="http://schemas.microsoft.com/office/drawing/2014/main" id="{8D83AC2B-63FB-4CB7-9BCA-680455B0067E}"/>
                </a:ext>
              </a:extLst>
            </p:cNvPr>
            <p:cNvSpPr>
              <a:spLocks noChangeArrowheads="1"/>
            </p:cNvSpPr>
            <p:nvPr/>
          </p:nvSpPr>
          <p:spPr bwMode="auto">
            <a:xfrm>
              <a:off x="4684" y="1058"/>
              <a:ext cx="19" cy="97"/>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9" name="TextBox 8">
            <a:extLst>
              <a:ext uri="{FF2B5EF4-FFF2-40B4-BE49-F238E27FC236}">
                <a16:creationId xmlns:a16="http://schemas.microsoft.com/office/drawing/2014/main" id="{80389068-FF64-4691-8D46-E1EB58449B18}"/>
              </a:ext>
            </a:extLst>
          </p:cNvPr>
          <p:cNvSpPr txBox="1"/>
          <p:nvPr/>
        </p:nvSpPr>
        <p:spPr>
          <a:xfrm>
            <a:off x="4816787" y="3396853"/>
            <a:ext cx="2535745" cy="332399"/>
          </a:xfrm>
          <a:prstGeom prst="rect">
            <a:avLst/>
          </a:prstGeom>
          <a:noFill/>
        </p:spPr>
        <p:txBody>
          <a:bodyPr wrap="square" lIns="0" tIns="0" rIns="0" bIns="0" rtlCol="0">
            <a:spAutoFit/>
          </a:bodyPr>
          <a:lstStyle/>
          <a:p>
            <a:pPr algn="ctr">
              <a:lnSpc>
                <a:spcPct val="90000"/>
              </a:lnSpc>
              <a:spcAft>
                <a:spcPts val="600"/>
              </a:spcAft>
            </a:pPr>
            <a:r>
              <a:rPr lang="en-US" sz="2400">
                <a:solidFill>
                  <a:schemeClr val="accent2"/>
                </a:solidFill>
                <a:latin typeface="+mj-lt"/>
              </a:rPr>
              <a:t>Mitigate risk</a:t>
            </a:r>
          </a:p>
        </p:txBody>
      </p:sp>
      <p:sp>
        <p:nvSpPr>
          <p:cNvPr id="5" name="Rectangle 4">
            <a:extLst>
              <a:ext uri="{FF2B5EF4-FFF2-40B4-BE49-F238E27FC236}">
                <a16:creationId xmlns:a16="http://schemas.microsoft.com/office/drawing/2014/main" id="{7970DB89-3950-4DB4-BD84-65D7C4F81A0E}"/>
              </a:ext>
            </a:extLst>
          </p:cNvPr>
          <p:cNvSpPr/>
          <p:nvPr/>
        </p:nvSpPr>
        <p:spPr>
          <a:xfrm>
            <a:off x="4296189" y="4755049"/>
            <a:ext cx="3576940" cy="175431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7" tIns="45713" rIns="91427" bIns="45713" numCol="1" spcCol="0" rtlCol="0" fromWordArt="0" anchor="t" anchorCtr="0" forceAA="0" compatLnSpc="1">
            <a:prstTxWarp prst="textNoShape">
              <a:avLst/>
            </a:prstTxWarp>
            <a:spAutoFit/>
          </a:bodyPr>
          <a:lstStyle/>
          <a:p>
            <a:pPr defTabSz="914225">
              <a:spcAft>
                <a:spcPts val="600"/>
              </a:spcAft>
              <a:defRPr/>
            </a:pPr>
            <a:r>
              <a:rPr lang="en-US" sz="1400" b="1">
                <a:solidFill>
                  <a:schemeClr val="tx1"/>
                </a:solidFill>
                <a:latin typeface="+mj-lt"/>
              </a:rPr>
              <a:t>Automated and modern security capabilities </a:t>
            </a:r>
          </a:p>
          <a:p>
            <a:pPr marL="285750" indent="-285750" defTabSz="914225">
              <a:spcAft>
                <a:spcPts val="600"/>
              </a:spcAft>
              <a:buFont typeface="Arial" panose="020B0604020202020204" pitchFamily="34" charset="0"/>
              <a:buChar char="•"/>
              <a:defRPr/>
            </a:pPr>
            <a:r>
              <a:rPr lang="en-US" sz="1400">
                <a:solidFill>
                  <a:schemeClr val="tx1"/>
                </a:solidFill>
                <a:latin typeface="Segoe UI"/>
              </a:rPr>
              <a:t>Powerful security like Advanced Threat Protection built-in </a:t>
            </a:r>
          </a:p>
          <a:p>
            <a:pPr marL="285750" indent="-285750" defTabSz="914225">
              <a:spcAft>
                <a:spcPts val="600"/>
              </a:spcAft>
              <a:buFont typeface="Arial" panose="020B0604020202020204" pitchFamily="34" charset="0"/>
              <a:buChar char="•"/>
              <a:defRPr/>
            </a:pPr>
            <a:r>
              <a:rPr lang="en-US" sz="1400" err="1">
                <a:solidFill>
                  <a:schemeClr val="tx1"/>
                </a:solidFill>
                <a:latin typeface="Segoe UI"/>
              </a:rPr>
              <a:t>Versionless</a:t>
            </a:r>
            <a:r>
              <a:rPr lang="en-US" sz="1400">
                <a:solidFill>
                  <a:schemeClr val="tx1"/>
                </a:solidFill>
                <a:latin typeface="Segoe UI"/>
              </a:rPr>
              <a:t>, managed platform freeing yourself from patching, upgrades, and EOS cycles </a:t>
            </a:r>
          </a:p>
        </p:txBody>
      </p:sp>
      <p:sp>
        <p:nvSpPr>
          <p:cNvPr id="11" name="Diamond 50">
            <a:extLst>
              <a:ext uri="{FF2B5EF4-FFF2-40B4-BE49-F238E27FC236}">
                <a16:creationId xmlns:a16="http://schemas.microsoft.com/office/drawing/2014/main" id="{97E8AE7F-A76B-4350-89DD-3BD0FE5749CE}"/>
              </a:ext>
              <a:ext uri="{C183D7F6-B498-43B3-948B-1728B52AA6E4}">
                <adec:decorative xmlns:adec="http://schemas.microsoft.com/office/drawing/2017/decorative" val="1"/>
              </a:ext>
            </a:extLst>
          </p:cNvPr>
          <p:cNvSpPr/>
          <p:nvPr/>
        </p:nvSpPr>
        <p:spPr>
          <a:xfrm>
            <a:off x="7763201" y="2019192"/>
            <a:ext cx="570760" cy="2012003"/>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8" name="Group 13" descr="lightbulb">
            <a:extLst>
              <a:ext uri="{FF2B5EF4-FFF2-40B4-BE49-F238E27FC236}">
                <a16:creationId xmlns:a16="http://schemas.microsoft.com/office/drawing/2014/main" id="{CFA2047E-DA75-4107-A46A-89D7ABE10C51}"/>
              </a:ext>
            </a:extLst>
          </p:cNvPr>
          <p:cNvGrpSpPr>
            <a:grpSpLocks noChangeAspect="1"/>
          </p:cNvGrpSpPr>
          <p:nvPr/>
        </p:nvGrpSpPr>
        <p:grpSpPr bwMode="auto">
          <a:xfrm>
            <a:off x="9645694" y="2457711"/>
            <a:ext cx="570760" cy="791455"/>
            <a:chOff x="1057" y="999"/>
            <a:chExt cx="225" cy="312"/>
          </a:xfrm>
        </p:grpSpPr>
        <p:sp>
          <p:nvSpPr>
            <p:cNvPr id="19" name="AutoShape 12">
              <a:extLst>
                <a:ext uri="{FF2B5EF4-FFF2-40B4-BE49-F238E27FC236}">
                  <a16:creationId xmlns:a16="http://schemas.microsoft.com/office/drawing/2014/main" id="{80FE6CA4-48E2-4E2E-848B-FA8BF9FB3BD3}"/>
                </a:ext>
              </a:extLst>
            </p:cNvPr>
            <p:cNvSpPr>
              <a:spLocks noChangeAspect="1" noChangeArrowheads="1" noTextEdit="1"/>
            </p:cNvSpPr>
            <p:nvPr/>
          </p:nvSpPr>
          <p:spPr bwMode="auto">
            <a:xfrm>
              <a:off x="1057" y="999"/>
              <a:ext cx="22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Oval 14">
              <a:extLst>
                <a:ext uri="{FF2B5EF4-FFF2-40B4-BE49-F238E27FC236}">
                  <a16:creationId xmlns:a16="http://schemas.microsoft.com/office/drawing/2014/main" id="{4215F453-5946-43F9-9CAB-09C1A88B0FE5}"/>
                </a:ext>
              </a:extLst>
            </p:cNvPr>
            <p:cNvSpPr>
              <a:spLocks noChangeArrowheads="1"/>
            </p:cNvSpPr>
            <p:nvPr/>
          </p:nvSpPr>
          <p:spPr bwMode="auto">
            <a:xfrm>
              <a:off x="1057" y="999"/>
              <a:ext cx="225" cy="224"/>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5">
              <a:extLst>
                <a:ext uri="{FF2B5EF4-FFF2-40B4-BE49-F238E27FC236}">
                  <a16:creationId xmlns:a16="http://schemas.microsoft.com/office/drawing/2014/main" id="{B88A4150-D84A-4F82-A1B5-1815C78D77C5}"/>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F2414905-A050-4275-B037-49402D2F3425}"/>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6C565CC4-259D-4750-87B1-5956EDCAB54E}"/>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0" name="TextBox 9">
            <a:extLst>
              <a:ext uri="{FF2B5EF4-FFF2-40B4-BE49-F238E27FC236}">
                <a16:creationId xmlns:a16="http://schemas.microsoft.com/office/drawing/2014/main" id="{6A895E0F-E199-4CFB-BE40-CDC9ACBC127F}"/>
              </a:ext>
            </a:extLst>
          </p:cNvPr>
          <p:cNvSpPr txBox="1"/>
          <p:nvPr/>
        </p:nvSpPr>
        <p:spPr>
          <a:xfrm>
            <a:off x="8756264" y="3396853"/>
            <a:ext cx="2535745" cy="332399"/>
          </a:xfrm>
          <a:prstGeom prst="rect">
            <a:avLst/>
          </a:prstGeom>
          <a:noFill/>
        </p:spPr>
        <p:txBody>
          <a:bodyPr wrap="square" lIns="0" tIns="0" rIns="0" bIns="0" rtlCol="0">
            <a:spAutoFit/>
          </a:bodyPr>
          <a:lstStyle/>
          <a:p>
            <a:pPr algn="ctr">
              <a:lnSpc>
                <a:spcPct val="90000"/>
              </a:lnSpc>
              <a:spcAft>
                <a:spcPts val="600"/>
              </a:spcAft>
            </a:pPr>
            <a:r>
              <a:rPr lang="en-US" sz="2400">
                <a:solidFill>
                  <a:schemeClr val="accent2"/>
                </a:solidFill>
                <a:latin typeface="+mj-lt"/>
              </a:rPr>
              <a:t>Enable innovation</a:t>
            </a:r>
          </a:p>
        </p:txBody>
      </p:sp>
      <p:sp>
        <p:nvSpPr>
          <p:cNvPr id="4" name="Rectangle 3">
            <a:extLst>
              <a:ext uri="{FF2B5EF4-FFF2-40B4-BE49-F238E27FC236}">
                <a16:creationId xmlns:a16="http://schemas.microsoft.com/office/drawing/2014/main" id="{F57F634B-2C3E-4089-8D71-68D9ABB460F9}"/>
              </a:ext>
            </a:extLst>
          </p:cNvPr>
          <p:cNvSpPr/>
          <p:nvPr/>
        </p:nvSpPr>
        <p:spPr>
          <a:xfrm>
            <a:off x="8238889" y="4755049"/>
            <a:ext cx="3570495" cy="13234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7" tIns="45713" rIns="91427" bIns="45713" numCol="1" spcCol="0" rtlCol="0" fromWordArt="0" anchor="t" anchorCtr="0" forceAA="0" compatLnSpc="1">
            <a:prstTxWarp prst="textNoShape">
              <a:avLst/>
            </a:prstTxWarp>
            <a:spAutoFit/>
          </a:bodyPr>
          <a:lstStyle/>
          <a:p>
            <a:pPr defTabSz="914225">
              <a:spcAft>
                <a:spcPts val="600"/>
              </a:spcAft>
              <a:defRPr/>
            </a:pPr>
            <a:r>
              <a:rPr lang="en-US" sz="1400" b="1">
                <a:solidFill>
                  <a:schemeClr val="tx1"/>
                </a:solidFill>
                <a:latin typeface="+mj-lt"/>
              </a:rPr>
              <a:t>Dynamic scale, Global scale by default </a:t>
            </a:r>
          </a:p>
          <a:p>
            <a:pPr marL="285750" indent="-285750" defTabSz="914225">
              <a:spcAft>
                <a:spcPts val="600"/>
              </a:spcAft>
              <a:buFont typeface="Arial" panose="020B0604020202020204" pitchFamily="34" charset="0"/>
              <a:buChar char="•"/>
              <a:defRPr/>
            </a:pPr>
            <a:r>
              <a:rPr lang="en-US" sz="1400">
                <a:solidFill>
                  <a:schemeClr val="tx1"/>
                </a:solidFill>
                <a:latin typeface="Segoe UI"/>
              </a:rPr>
              <a:t>Accelerate speed to market and create new business models </a:t>
            </a:r>
          </a:p>
          <a:p>
            <a:pPr marL="285750" marR="0" lvl="0" indent="-285750" algn="l" defTabSz="914225"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a:solidFill>
                  <a:schemeClr val="tx1"/>
                </a:solidFill>
                <a:latin typeface="Segoe UI"/>
              </a:rPr>
              <a:t>Leverage </a:t>
            </a:r>
            <a:r>
              <a:rPr lang="en-US" sz="1400" err="1">
                <a:solidFill>
                  <a:schemeClr val="tx1"/>
                </a:solidFill>
                <a:latin typeface="Segoe UI"/>
              </a:rPr>
              <a:t>Cloud+Data+AI</a:t>
            </a:r>
            <a:r>
              <a:rPr lang="en-US" sz="1400">
                <a:solidFill>
                  <a:schemeClr val="tx1"/>
                </a:solidFill>
                <a:latin typeface="Segoe UI"/>
              </a:rPr>
              <a:t> to unlock your digital transformation scenarios</a:t>
            </a:r>
          </a:p>
        </p:txBody>
      </p:sp>
    </p:spTree>
    <p:extLst>
      <p:ext uri="{BB962C8B-B14F-4D97-AF65-F5344CB8AC3E}">
        <p14:creationId xmlns:p14="http://schemas.microsoft.com/office/powerpoint/2010/main" val="40849272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ientist sitting at a lab table&#10;">
            <a:extLst>
              <a:ext uri="{FF2B5EF4-FFF2-40B4-BE49-F238E27FC236}">
                <a16:creationId xmlns:a16="http://schemas.microsoft.com/office/drawing/2014/main" id="{0FA7D79D-CEB3-4149-806F-5D0B690D5C87}"/>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flipH="1">
            <a:off x="-1" y="0"/>
            <a:ext cx="12192002" cy="6858000"/>
          </a:xfrm>
          <a:prstGeom prst="rect">
            <a:avLst/>
          </a:prstGeom>
        </p:spPr>
      </p:pic>
      <p:sp>
        <p:nvSpPr>
          <p:cNvPr id="7" name="Rectangle 6">
            <a:extLst>
              <a:ext uri="{FF2B5EF4-FFF2-40B4-BE49-F238E27FC236}">
                <a16:creationId xmlns:a16="http://schemas.microsoft.com/office/drawing/2014/main" id="{96BA14C8-19EA-456A-9B49-47BE42667DEB}"/>
              </a:ext>
              <a:ext uri="{C183D7F6-B498-43B3-948B-1728B52AA6E4}">
                <adec:decorative xmlns:adec="http://schemas.microsoft.com/office/drawing/2017/decorative" val="1"/>
              </a:ext>
            </a:extLst>
          </p:cNvPr>
          <p:cNvSpPr/>
          <p:nvPr/>
        </p:nvSpPr>
        <p:spPr bwMode="auto">
          <a:xfrm>
            <a:off x="0" y="0"/>
            <a:ext cx="12019547" cy="6858000"/>
          </a:xfrm>
          <a:prstGeom prst="rect">
            <a:avLst/>
          </a:prstGeom>
          <a:gradFill flip="none" rotWithShape="1">
            <a:gsLst>
              <a:gs pos="69000">
                <a:srgbClr val="000000">
                  <a:alpha val="20000"/>
                </a:srgbClr>
              </a:gs>
              <a:gs pos="38000">
                <a:srgbClr val="000000"/>
              </a:gs>
              <a:gs pos="0">
                <a:schemeClr val="tx1"/>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9922F2B9-C87D-407C-A1EE-615CB232F138}"/>
              </a:ext>
            </a:extLst>
          </p:cNvPr>
          <p:cNvSpPr>
            <a:spLocks noGrp="1"/>
          </p:cNvSpPr>
          <p:nvPr>
            <p:ph type="title"/>
          </p:nvPr>
        </p:nvSpPr>
        <p:spPr>
          <a:xfrm>
            <a:off x="477423" y="457200"/>
            <a:ext cx="11018520" cy="1107996"/>
          </a:xfrm>
        </p:spPr>
        <p:txBody>
          <a:bodyPr/>
          <a:lstStyle/>
          <a:p>
            <a:r>
              <a:rPr lang="en-US" dirty="0">
                <a:solidFill>
                  <a:schemeClr val="bg1"/>
                </a:solidFill>
              </a:rPr>
              <a:t>Allscripts leveraged existing licensing to seamlessly migrate to the cloud with Azure Virtual Machines </a:t>
            </a:r>
          </a:p>
        </p:txBody>
      </p:sp>
      <p:sp>
        <p:nvSpPr>
          <p:cNvPr id="6" name="Text Placeholder 5">
            <a:extLst>
              <a:ext uri="{FF2B5EF4-FFF2-40B4-BE49-F238E27FC236}">
                <a16:creationId xmlns:a16="http://schemas.microsoft.com/office/drawing/2014/main" id="{D38A1AF7-2748-4F05-BB21-1FCE30D2CFFF}"/>
              </a:ext>
            </a:extLst>
          </p:cNvPr>
          <p:cNvSpPr>
            <a:spLocks noGrp="1"/>
          </p:cNvSpPr>
          <p:nvPr>
            <p:ph type="body" sz="quarter" idx="10"/>
          </p:nvPr>
        </p:nvSpPr>
        <p:spPr>
          <a:xfrm>
            <a:off x="476076" y="3847061"/>
            <a:ext cx="5212080" cy="1400383"/>
          </a:xfrm>
        </p:spPr>
        <p:txBody>
          <a:bodyPr/>
          <a:lstStyle/>
          <a:p>
            <a:r>
              <a:rPr lang="en-US" sz="1400">
                <a:solidFill>
                  <a:schemeClr val="bg1"/>
                </a:solidFill>
                <a:latin typeface="Segoe UI Semibold" panose="020B0502040204020203" pitchFamily="34" charset="0"/>
                <a:cs typeface="Segoe UI Semibold" panose="020B0502040204020203" pitchFamily="34" charset="0"/>
              </a:rPr>
              <a:t>“By moving our acquired applications to Azure, we were able to get them up, running, and adding value to the business in three weeks versus the three months needed to requisition servers and storage.”</a:t>
            </a:r>
          </a:p>
          <a:p>
            <a:pPr lvl="1" algn="r">
              <a:spcBef>
                <a:spcPts val="1800"/>
              </a:spcBef>
            </a:pPr>
            <a:r>
              <a:rPr lang="en-US" sz="1000">
                <a:solidFill>
                  <a:schemeClr val="bg1"/>
                </a:solidFill>
                <a:latin typeface="Segoe UI Semibold" panose="020B0502040204020203" pitchFamily="34" charset="0"/>
                <a:cs typeface="Segoe UI Semibold" panose="020B0502040204020203" pitchFamily="34" charset="0"/>
              </a:rPr>
              <a:t>Peter Tomlinson</a:t>
            </a:r>
            <a:br>
              <a:rPr lang="en-US" sz="1000">
                <a:solidFill>
                  <a:schemeClr val="bg1"/>
                </a:solidFill>
                <a:latin typeface="Segoe UI Semibold" panose="020B0502040204020203" pitchFamily="34" charset="0"/>
                <a:cs typeface="Segoe UI Semibold" panose="020B0502040204020203" pitchFamily="34" charset="0"/>
              </a:rPr>
            </a:br>
            <a:r>
              <a:rPr lang="en-US" sz="1000">
                <a:solidFill>
                  <a:schemeClr val="bg1"/>
                </a:solidFill>
                <a:cs typeface="Segoe UI Semibold" panose="020B0502040204020203" pitchFamily="34" charset="0"/>
              </a:rPr>
              <a:t>Director of IS, Technology Operations at Allscripts</a:t>
            </a:r>
          </a:p>
        </p:txBody>
      </p:sp>
      <p:pic>
        <p:nvPicPr>
          <p:cNvPr id="5" name="Picture 2" descr="Allscripts logo">
            <a:extLst>
              <a:ext uri="{FF2B5EF4-FFF2-40B4-BE49-F238E27FC236}">
                <a16:creationId xmlns:a16="http://schemas.microsoft.com/office/drawing/2014/main" id="{4FEF067E-6969-4D89-8537-99D0EB3695E0}"/>
              </a:ext>
            </a:extLst>
          </p:cNvPr>
          <p:cNvPicPr>
            <a:picLocks noChangeAspect="1" noChangeArrowheads="1"/>
          </p:cNvPicPr>
          <p:nvPr/>
        </p:nvPicPr>
        <p:blipFill>
          <a:blip r:embed="rId4" cstate="hq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bwMode="auto">
          <a:xfrm>
            <a:off x="476076" y="5870974"/>
            <a:ext cx="1965005" cy="40399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419B39A7-1B5F-4A65-B557-4BFCC5305F42}"/>
              </a:ext>
              <a:ext uri="{C183D7F6-B498-43B3-948B-1728B52AA6E4}">
                <adec:decorative xmlns:adec="http://schemas.microsoft.com/office/drawing/2017/decorative" val="1"/>
              </a:ext>
            </a:extLst>
          </p:cNvPr>
          <p:cNvGrpSpPr/>
          <p:nvPr/>
        </p:nvGrpSpPr>
        <p:grpSpPr>
          <a:xfrm>
            <a:off x="390369" y="1947590"/>
            <a:ext cx="6176682" cy="1413426"/>
            <a:chOff x="501209" y="1810105"/>
            <a:chExt cx="4919976" cy="1413426"/>
          </a:xfrm>
        </p:grpSpPr>
        <p:sp>
          <p:nvSpPr>
            <p:cNvPr id="8" name="Rectangle 7">
              <a:extLst>
                <a:ext uri="{FF2B5EF4-FFF2-40B4-BE49-F238E27FC236}">
                  <a16:creationId xmlns:a16="http://schemas.microsoft.com/office/drawing/2014/main" id="{4CEF0043-ABDC-43B4-9384-C4861BE785B6}"/>
                </a:ext>
              </a:extLst>
            </p:cNvPr>
            <p:cNvSpPr/>
            <p:nvPr/>
          </p:nvSpPr>
          <p:spPr>
            <a:xfrm>
              <a:off x="501209" y="2053980"/>
              <a:ext cx="1234175" cy="954107"/>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Need to consolidate data after acquisitions </a:t>
              </a:r>
            </a:p>
          </p:txBody>
        </p:sp>
        <p:sp>
          <p:nvSpPr>
            <p:cNvPr id="10" name="TextBox 9">
              <a:extLst>
                <a:ext uri="{FF2B5EF4-FFF2-40B4-BE49-F238E27FC236}">
                  <a16:creationId xmlns:a16="http://schemas.microsoft.com/office/drawing/2014/main" id="{D3CA6C54-8A50-46F5-BE59-BB7FBF4A4027}"/>
                </a:ext>
              </a:extLst>
            </p:cNvPr>
            <p:cNvSpPr txBox="1"/>
            <p:nvPr/>
          </p:nvSpPr>
          <p:spPr>
            <a:xfrm>
              <a:off x="501210"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Challenge</a:t>
              </a:r>
            </a:p>
          </p:txBody>
        </p:sp>
        <p:sp>
          <p:nvSpPr>
            <p:cNvPr id="11" name="TextBox 10">
              <a:extLst>
                <a:ext uri="{FF2B5EF4-FFF2-40B4-BE49-F238E27FC236}">
                  <a16:creationId xmlns:a16="http://schemas.microsoft.com/office/drawing/2014/main" id="{5BF6A40D-3733-4C9E-9C86-7A65D9602EFD}"/>
                </a:ext>
              </a:extLst>
            </p:cNvPr>
            <p:cNvSpPr txBox="1"/>
            <p:nvPr/>
          </p:nvSpPr>
          <p:spPr>
            <a:xfrm>
              <a:off x="2048165"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Solution</a:t>
              </a:r>
            </a:p>
          </p:txBody>
        </p:sp>
        <p:sp>
          <p:nvSpPr>
            <p:cNvPr id="12" name="TextBox 11">
              <a:extLst>
                <a:ext uri="{FF2B5EF4-FFF2-40B4-BE49-F238E27FC236}">
                  <a16:creationId xmlns:a16="http://schemas.microsoft.com/office/drawing/2014/main" id="{4C74EA4C-56CF-4CBE-88B8-D068BB59B5BF}"/>
                </a:ext>
              </a:extLst>
            </p:cNvPr>
            <p:cNvSpPr txBox="1"/>
            <p:nvPr/>
          </p:nvSpPr>
          <p:spPr>
            <a:xfrm>
              <a:off x="3946257"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Outcome</a:t>
              </a:r>
            </a:p>
          </p:txBody>
        </p:sp>
        <p:sp>
          <p:nvSpPr>
            <p:cNvPr id="13" name="Rectangle 12">
              <a:extLst>
                <a:ext uri="{FF2B5EF4-FFF2-40B4-BE49-F238E27FC236}">
                  <a16:creationId xmlns:a16="http://schemas.microsoft.com/office/drawing/2014/main" id="{F78B1B57-60A9-4401-8803-44F86157D2E4}"/>
                </a:ext>
              </a:extLst>
            </p:cNvPr>
            <p:cNvSpPr/>
            <p:nvPr/>
          </p:nvSpPr>
          <p:spPr>
            <a:xfrm>
              <a:off x="2048165" y="2053980"/>
              <a:ext cx="1621968" cy="1169551"/>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Migration of 600 SQL Server VMs to Azure with existing Windows and SQL Licenses </a:t>
              </a:r>
            </a:p>
          </p:txBody>
        </p:sp>
        <p:sp>
          <p:nvSpPr>
            <p:cNvPr id="14" name="Rectangle 13">
              <a:extLst>
                <a:ext uri="{FF2B5EF4-FFF2-40B4-BE49-F238E27FC236}">
                  <a16:creationId xmlns:a16="http://schemas.microsoft.com/office/drawing/2014/main" id="{460A4CEC-C738-4034-85B7-ECCFCC6D17B6}"/>
                </a:ext>
              </a:extLst>
            </p:cNvPr>
            <p:cNvSpPr/>
            <p:nvPr/>
          </p:nvSpPr>
          <p:spPr>
            <a:xfrm>
              <a:off x="3946257" y="2053980"/>
              <a:ext cx="1474928" cy="954107"/>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Licensing savings up to 82% with Azure Hybrid Benefit</a:t>
              </a:r>
            </a:p>
          </p:txBody>
        </p:sp>
        <p:grpSp>
          <p:nvGrpSpPr>
            <p:cNvPr id="3" name="Group 2">
              <a:extLst>
                <a:ext uri="{FF2B5EF4-FFF2-40B4-BE49-F238E27FC236}">
                  <a16:creationId xmlns:a16="http://schemas.microsoft.com/office/drawing/2014/main" id="{866DCFC7-C322-41A4-B871-344BC3B4DDF0}"/>
                </a:ext>
              </a:extLst>
            </p:cNvPr>
            <p:cNvGrpSpPr/>
            <p:nvPr/>
          </p:nvGrpSpPr>
          <p:grpSpPr>
            <a:xfrm>
              <a:off x="1705347" y="1912074"/>
              <a:ext cx="2121762" cy="827637"/>
              <a:chOff x="1798268" y="1912074"/>
              <a:chExt cx="2121762" cy="827637"/>
            </a:xfrm>
          </p:grpSpPr>
          <p:sp>
            <p:nvSpPr>
              <p:cNvPr id="16" name="Diamond 50">
                <a:extLst>
                  <a:ext uri="{FF2B5EF4-FFF2-40B4-BE49-F238E27FC236}">
                    <a16:creationId xmlns:a16="http://schemas.microsoft.com/office/drawing/2014/main" id="{29868C89-2FDD-430F-8EA8-9DFB1F3B0A56}"/>
                  </a:ext>
                </a:extLst>
              </p:cNvPr>
              <p:cNvSpPr/>
              <p:nvPr/>
            </p:nvSpPr>
            <p:spPr>
              <a:xfrm>
                <a:off x="1798268"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 name="Diamond 50">
                <a:extLst>
                  <a:ext uri="{FF2B5EF4-FFF2-40B4-BE49-F238E27FC236}">
                    <a16:creationId xmlns:a16="http://schemas.microsoft.com/office/drawing/2014/main" id="{36712490-9961-45DF-9F93-53A127ADFD5E}"/>
                  </a:ext>
                </a:extLst>
              </p:cNvPr>
              <p:cNvSpPr/>
              <p:nvPr/>
            </p:nvSpPr>
            <p:spPr>
              <a:xfrm>
                <a:off x="3733017"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spTree>
    <p:extLst>
      <p:ext uri="{BB962C8B-B14F-4D97-AF65-F5344CB8AC3E}">
        <p14:creationId xmlns:p14="http://schemas.microsoft.com/office/powerpoint/2010/main" val="1457026325"/>
      </p:ext>
    </p:extLst>
  </p:cSld>
  <p:clrMapOvr>
    <a:masterClrMapping/>
  </p:clrMapOvr>
  <p:transition advTm="68869">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7">
            <a:extLst>
              <a:ext uri="{FF2B5EF4-FFF2-40B4-BE49-F238E27FC236}">
                <a16:creationId xmlns:a16="http://schemas.microsoft.com/office/drawing/2014/main" id="{1C9AF33A-B3BB-6B4A-8C23-D2CF4B44A41E}"/>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204ACB67-9531-B644-8EE5-6C8B234E5C05}"/>
              </a:ext>
              <a:ext uri="{C183D7F6-B498-43B3-948B-1728B52AA6E4}">
                <adec:decorative xmlns:adec="http://schemas.microsoft.com/office/drawing/2017/decorative" val="1"/>
              </a:ext>
            </a:extLst>
          </p:cNvPr>
          <p:cNvSpPr/>
          <p:nvPr/>
        </p:nvSpPr>
        <p:spPr bwMode="auto">
          <a:xfrm>
            <a:off x="0" y="0"/>
            <a:ext cx="12019547" cy="6858000"/>
          </a:xfrm>
          <a:prstGeom prst="rect">
            <a:avLst/>
          </a:prstGeom>
          <a:gradFill flip="none" rotWithShape="1">
            <a:gsLst>
              <a:gs pos="69000">
                <a:srgbClr val="000000">
                  <a:alpha val="20000"/>
                </a:srgbClr>
              </a:gs>
              <a:gs pos="38000">
                <a:srgbClr val="000000"/>
              </a:gs>
              <a:gs pos="0">
                <a:schemeClr val="tx1"/>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9922F2B9-C87D-407C-A1EE-615CB232F138}"/>
              </a:ext>
            </a:extLst>
          </p:cNvPr>
          <p:cNvSpPr>
            <a:spLocks noGrp="1"/>
          </p:cNvSpPr>
          <p:nvPr>
            <p:ph type="title"/>
          </p:nvPr>
        </p:nvSpPr>
        <p:spPr>
          <a:xfrm>
            <a:off x="449713" y="457200"/>
            <a:ext cx="11018520" cy="1107996"/>
          </a:xfrm>
        </p:spPr>
        <p:txBody>
          <a:bodyPr/>
          <a:lstStyle/>
          <a:p>
            <a:r>
              <a:rPr lang="en-US">
                <a:solidFill>
                  <a:schemeClr val="bg1"/>
                </a:solidFill>
              </a:rPr>
              <a:t>Komatsu achieves breakthrough performance </a:t>
            </a:r>
            <a:br>
              <a:rPr lang="en-US">
                <a:solidFill>
                  <a:schemeClr val="bg1"/>
                </a:solidFill>
              </a:rPr>
            </a:br>
            <a:r>
              <a:rPr lang="en-US">
                <a:solidFill>
                  <a:schemeClr val="bg1"/>
                </a:solidFill>
              </a:rPr>
              <a:t>for less with Azure SQL Managed Instance </a:t>
            </a:r>
          </a:p>
        </p:txBody>
      </p:sp>
      <p:sp>
        <p:nvSpPr>
          <p:cNvPr id="22" name="Text Placeholder 5">
            <a:extLst>
              <a:ext uri="{FF2B5EF4-FFF2-40B4-BE49-F238E27FC236}">
                <a16:creationId xmlns:a16="http://schemas.microsoft.com/office/drawing/2014/main" id="{14880814-5454-9C40-B37F-B4DE1B9EA8CA}"/>
              </a:ext>
            </a:extLst>
          </p:cNvPr>
          <p:cNvSpPr>
            <a:spLocks noGrp="1"/>
          </p:cNvSpPr>
          <p:nvPr>
            <p:ph type="body" sz="quarter" idx="10"/>
          </p:nvPr>
        </p:nvSpPr>
        <p:spPr>
          <a:xfrm>
            <a:off x="470728" y="3742351"/>
            <a:ext cx="5212080" cy="1400383"/>
          </a:xfrm>
        </p:spPr>
        <p:txBody>
          <a:bodyPr/>
          <a:lstStyle/>
          <a:p>
            <a:r>
              <a:rPr lang="en-US" sz="1400" dirty="0">
                <a:solidFill>
                  <a:schemeClr val="bg1"/>
                </a:solidFill>
                <a:latin typeface="Segoe UI Semibold" panose="020B0502040204020203" pitchFamily="34" charset="0"/>
                <a:cs typeface="Segoe UI Semibold" panose="020B0502040204020203" pitchFamily="34" charset="0"/>
              </a:rPr>
              <a:t>“We immediately realized a 49% cost savings and a 25-30% performance improvement, and the promise of applying artificial intelligence through machine learning to our data is an exciting opportunity for us.”</a:t>
            </a:r>
          </a:p>
          <a:p>
            <a:pPr lvl="1" algn="r">
              <a:spcBef>
                <a:spcPts val="1800"/>
              </a:spcBef>
            </a:pPr>
            <a:r>
              <a:rPr lang="en-US" sz="1000" dirty="0">
                <a:solidFill>
                  <a:schemeClr val="bg1"/>
                </a:solidFill>
                <a:latin typeface="Segoe UI Semibold" panose="020B0502040204020203" pitchFamily="34" charset="0"/>
                <a:cs typeface="Segoe UI Semibold" panose="020B0502040204020203" pitchFamily="34" charset="0"/>
              </a:rPr>
              <a:t>John Steele</a:t>
            </a:r>
            <a:br>
              <a:rPr lang="en-US" sz="1000" dirty="0">
                <a:solidFill>
                  <a:schemeClr val="bg1"/>
                </a:solidFill>
                <a:latin typeface="Segoe UI Semibold" panose="020B0502040204020203" pitchFamily="34" charset="0"/>
                <a:cs typeface="Segoe UI Semibold" panose="020B0502040204020203" pitchFamily="34" charset="0"/>
              </a:rPr>
            </a:br>
            <a:r>
              <a:rPr lang="en-US" sz="1000" dirty="0">
                <a:solidFill>
                  <a:schemeClr val="bg1"/>
                </a:solidFill>
                <a:cs typeface="Segoe UI Semibold" panose="020B0502040204020203" pitchFamily="34" charset="0"/>
              </a:rPr>
              <a:t>GM of Business Technology &amp; Systems, Komatsu Australia</a:t>
            </a:r>
          </a:p>
        </p:txBody>
      </p:sp>
      <p:grpSp>
        <p:nvGrpSpPr>
          <p:cNvPr id="4" name="Group 3">
            <a:extLst>
              <a:ext uri="{FF2B5EF4-FFF2-40B4-BE49-F238E27FC236}">
                <a16:creationId xmlns:a16="http://schemas.microsoft.com/office/drawing/2014/main" id="{419B39A7-1B5F-4A65-B557-4BFCC5305F42}"/>
              </a:ext>
              <a:ext uri="{C183D7F6-B498-43B3-948B-1728B52AA6E4}">
                <adec:decorative xmlns:adec="http://schemas.microsoft.com/office/drawing/2017/decorative" val="1"/>
              </a:ext>
            </a:extLst>
          </p:cNvPr>
          <p:cNvGrpSpPr/>
          <p:nvPr/>
        </p:nvGrpSpPr>
        <p:grpSpPr>
          <a:xfrm>
            <a:off x="362659" y="1947590"/>
            <a:ext cx="7160354" cy="982539"/>
            <a:chOff x="501209" y="1810105"/>
            <a:chExt cx="5233915" cy="982539"/>
          </a:xfrm>
        </p:grpSpPr>
        <p:sp>
          <p:nvSpPr>
            <p:cNvPr id="8" name="Rectangle 7">
              <a:extLst>
                <a:ext uri="{FF2B5EF4-FFF2-40B4-BE49-F238E27FC236}">
                  <a16:creationId xmlns:a16="http://schemas.microsoft.com/office/drawing/2014/main" id="{4CEF0043-ABDC-43B4-9384-C4861BE785B6}"/>
                </a:ext>
              </a:extLst>
            </p:cNvPr>
            <p:cNvSpPr/>
            <p:nvPr/>
          </p:nvSpPr>
          <p:spPr>
            <a:xfrm>
              <a:off x="501209" y="2053980"/>
              <a:ext cx="1234175" cy="738664"/>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Multiple apps for different data siloed insights </a:t>
              </a:r>
            </a:p>
          </p:txBody>
        </p:sp>
        <p:sp>
          <p:nvSpPr>
            <p:cNvPr id="10" name="TextBox 9">
              <a:extLst>
                <a:ext uri="{FF2B5EF4-FFF2-40B4-BE49-F238E27FC236}">
                  <a16:creationId xmlns:a16="http://schemas.microsoft.com/office/drawing/2014/main" id="{D3CA6C54-8A50-46F5-BE59-BB7FBF4A4027}"/>
                </a:ext>
              </a:extLst>
            </p:cNvPr>
            <p:cNvSpPr txBox="1"/>
            <p:nvPr/>
          </p:nvSpPr>
          <p:spPr>
            <a:xfrm>
              <a:off x="501210"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Challenge</a:t>
              </a:r>
            </a:p>
          </p:txBody>
        </p:sp>
        <p:sp>
          <p:nvSpPr>
            <p:cNvPr id="11" name="TextBox 10">
              <a:extLst>
                <a:ext uri="{FF2B5EF4-FFF2-40B4-BE49-F238E27FC236}">
                  <a16:creationId xmlns:a16="http://schemas.microsoft.com/office/drawing/2014/main" id="{5BF6A40D-3733-4C9E-9C86-7A65D9602EFD}"/>
                </a:ext>
              </a:extLst>
            </p:cNvPr>
            <p:cNvSpPr txBox="1"/>
            <p:nvPr/>
          </p:nvSpPr>
          <p:spPr>
            <a:xfrm>
              <a:off x="2048165"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Solution</a:t>
              </a:r>
            </a:p>
          </p:txBody>
        </p:sp>
        <p:sp>
          <p:nvSpPr>
            <p:cNvPr id="12" name="TextBox 11">
              <a:extLst>
                <a:ext uri="{FF2B5EF4-FFF2-40B4-BE49-F238E27FC236}">
                  <a16:creationId xmlns:a16="http://schemas.microsoft.com/office/drawing/2014/main" id="{4C74EA4C-56CF-4CBE-88B8-D068BB59B5BF}"/>
                </a:ext>
              </a:extLst>
            </p:cNvPr>
            <p:cNvSpPr txBox="1"/>
            <p:nvPr/>
          </p:nvSpPr>
          <p:spPr>
            <a:xfrm>
              <a:off x="3946257"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Outcome</a:t>
              </a:r>
            </a:p>
          </p:txBody>
        </p:sp>
        <p:sp>
          <p:nvSpPr>
            <p:cNvPr id="13" name="Rectangle 12">
              <a:extLst>
                <a:ext uri="{FF2B5EF4-FFF2-40B4-BE49-F238E27FC236}">
                  <a16:creationId xmlns:a16="http://schemas.microsoft.com/office/drawing/2014/main" id="{F78B1B57-60A9-4401-8803-44F86157D2E4}"/>
                </a:ext>
              </a:extLst>
            </p:cNvPr>
            <p:cNvSpPr/>
            <p:nvPr/>
          </p:nvSpPr>
          <p:spPr>
            <a:xfrm>
              <a:off x="2048165" y="2053980"/>
              <a:ext cx="1621968" cy="738664"/>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lang="en-US" sz="1400" kern="0">
                  <a:solidFill>
                    <a:srgbClr val="FFFFFF"/>
                  </a:solidFill>
                  <a:latin typeface="Segoe UI" panose="020B0502040204020203" pitchFamily="34" charset="0"/>
                  <a:cs typeface="Segoe UI" panose="020B0502040204020203" pitchFamily="34" charset="0"/>
                </a:rPr>
                <a:t>Azure SQL now serves as a common repository for all relevant data </a:t>
              </a:r>
              <a:endParaRPr kumimoji="0" lang="en-US" sz="14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14" name="Rectangle 13">
              <a:extLst>
                <a:ext uri="{FF2B5EF4-FFF2-40B4-BE49-F238E27FC236}">
                  <a16:creationId xmlns:a16="http://schemas.microsoft.com/office/drawing/2014/main" id="{460A4CEC-C738-4034-85B7-ECCFCC6D17B6}"/>
                </a:ext>
              </a:extLst>
            </p:cNvPr>
            <p:cNvSpPr/>
            <p:nvPr/>
          </p:nvSpPr>
          <p:spPr>
            <a:xfrm>
              <a:off x="3946257" y="2053980"/>
              <a:ext cx="1788867" cy="738664"/>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lang="en-US" sz="1400" kern="0">
                  <a:solidFill>
                    <a:srgbClr val="FFFFFF"/>
                  </a:solidFill>
                  <a:latin typeface="Segoe UI" panose="020B0502040204020203" pitchFamily="34" charset="0"/>
                  <a:cs typeface="Segoe UI" panose="020B0502040204020203" pitchFamily="34" charset="0"/>
                </a:rPr>
                <a:t>A single consolidated source of truth for greater insights that costs</a:t>
              </a:r>
              <a:r>
                <a:rPr kumimoji="0" lang="en-US" sz="14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 49% less </a:t>
              </a:r>
            </a:p>
          </p:txBody>
        </p:sp>
        <p:grpSp>
          <p:nvGrpSpPr>
            <p:cNvPr id="3" name="Group 2">
              <a:extLst>
                <a:ext uri="{FF2B5EF4-FFF2-40B4-BE49-F238E27FC236}">
                  <a16:creationId xmlns:a16="http://schemas.microsoft.com/office/drawing/2014/main" id="{866DCFC7-C322-41A4-B871-344BC3B4DDF0}"/>
                </a:ext>
              </a:extLst>
            </p:cNvPr>
            <p:cNvGrpSpPr/>
            <p:nvPr/>
          </p:nvGrpSpPr>
          <p:grpSpPr>
            <a:xfrm>
              <a:off x="1705347" y="1912074"/>
              <a:ext cx="2121762" cy="827637"/>
              <a:chOff x="1798268" y="1912074"/>
              <a:chExt cx="2121762" cy="827637"/>
            </a:xfrm>
          </p:grpSpPr>
          <p:sp>
            <p:nvSpPr>
              <p:cNvPr id="16" name="Diamond 50">
                <a:extLst>
                  <a:ext uri="{FF2B5EF4-FFF2-40B4-BE49-F238E27FC236}">
                    <a16:creationId xmlns:a16="http://schemas.microsoft.com/office/drawing/2014/main" id="{29868C89-2FDD-430F-8EA8-9DFB1F3B0A56}"/>
                  </a:ext>
                </a:extLst>
              </p:cNvPr>
              <p:cNvSpPr/>
              <p:nvPr/>
            </p:nvSpPr>
            <p:spPr>
              <a:xfrm>
                <a:off x="1798268"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 name="Diamond 50">
                <a:extLst>
                  <a:ext uri="{FF2B5EF4-FFF2-40B4-BE49-F238E27FC236}">
                    <a16:creationId xmlns:a16="http://schemas.microsoft.com/office/drawing/2014/main" id="{36712490-9961-45DF-9F93-53A127ADFD5E}"/>
                  </a:ext>
                </a:extLst>
              </p:cNvPr>
              <p:cNvSpPr/>
              <p:nvPr/>
            </p:nvSpPr>
            <p:spPr>
              <a:xfrm>
                <a:off x="3733017"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pic>
        <p:nvPicPr>
          <p:cNvPr id="6" name="Picture 5" descr="Komatsu logo">
            <a:extLst>
              <a:ext uri="{FF2B5EF4-FFF2-40B4-BE49-F238E27FC236}">
                <a16:creationId xmlns:a16="http://schemas.microsoft.com/office/drawing/2014/main" id="{95EA1936-B761-6B48-A496-137C9E700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076" y="5863026"/>
            <a:ext cx="1719072" cy="320893"/>
          </a:xfrm>
          <a:prstGeom prst="rect">
            <a:avLst/>
          </a:prstGeom>
        </p:spPr>
      </p:pic>
    </p:spTree>
    <p:extLst>
      <p:ext uri="{BB962C8B-B14F-4D97-AF65-F5344CB8AC3E}">
        <p14:creationId xmlns:p14="http://schemas.microsoft.com/office/powerpoint/2010/main" val="3272074390"/>
      </p:ext>
    </p:extLst>
  </p:cSld>
  <p:clrMapOvr>
    <a:masterClrMapping/>
  </p:clrMapOvr>
  <p:transition advTm="80248">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20" descr="Woman in medical field">
            <a:extLst>
              <a:ext uri="{FF2B5EF4-FFF2-40B4-BE49-F238E27FC236}">
                <a16:creationId xmlns:a16="http://schemas.microsoft.com/office/drawing/2014/main" id="{66432380-57F8-4D2A-BF9D-778858318DBE}"/>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837988" y="0"/>
            <a:ext cx="7354012" cy="6858000"/>
          </a:xfrm>
          <a:prstGeom prst="rect">
            <a:avLst/>
          </a:prstGeom>
        </p:spPr>
      </p:pic>
      <p:sp>
        <p:nvSpPr>
          <p:cNvPr id="19" name="Rectangle 18">
            <a:extLst>
              <a:ext uri="{FF2B5EF4-FFF2-40B4-BE49-F238E27FC236}">
                <a16:creationId xmlns:a16="http://schemas.microsoft.com/office/drawing/2014/main" id="{204ACB67-9531-B644-8EE5-6C8B234E5C05}"/>
              </a:ext>
              <a:ext uri="{C183D7F6-B498-43B3-948B-1728B52AA6E4}">
                <adec:decorative xmlns:adec="http://schemas.microsoft.com/office/drawing/2017/decorative" val="1"/>
              </a:ext>
            </a:extLst>
          </p:cNvPr>
          <p:cNvSpPr/>
          <p:nvPr/>
        </p:nvSpPr>
        <p:spPr bwMode="auto">
          <a:xfrm>
            <a:off x="0" y="0"/>
            <a:ext cx="12019547" cy="6858000"/>
          </a:xfrm>
          <a:prstGeom prst="rect">
            <a:avLst/>
          </a:prstGeom>
          <a:gradFill flip="none" rotWithShape="1">
            <a:gsLst>
              <a:gs pos="69000">
                <a:srgbClr val="000000">
                  <a:alpha val="20000"/>
                </a:srgbClr>
              </a:gs>
              <a:gs pos="38000">
                <a:srgbClr val="000000"/>
              </a:gs>
              <a:gs pos="0">
                <a:schemeClr val="tx1"/>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9922F2B9-C87D-407C-A1EE-615CB232F138}"/>
              </a:ext>
            </a:extLst>
          </p:cNvPr>
          <p:cNvSpPr>
            <a:spLocks noGrp="1"/>
          </p:cNvSpPr>
          <p:nvPr>
            <p:ph type="title"/>
          </p:nvPr>
        </p:nvSpPr>
        <p:spPr>
          <a:xfrm>
            <a:off x="449713" y="457200"/>
            <a:ext cx="11018520" cy="1107996"/>
          </a:xfrm>
        </p:spPr>
        <p:txBody>
          <a:bodyPr/>
          <a:lstStyle/>
          <a:p>
            <a:r>
              <a:rPr lang="en-US" dirty="0">
                <a:solidFill>
                  <a:schemeClr val="bg1"/>
                </a:solidFill>
              </a:rPr>
              <a:t>The Allscripts prescription for agility: </a:t>
            </a:r>
            <a:br>
              <a:rPr lang="en-US" dirty="0">
                <a:solidFill>
                  <a:schemeClr val="bg1"/>
                </a:solidFill>
              </a:rPr>
            </a:br>
            <a:r>
              <a:rPr lang="en-US" dirty="0">
                <a:solidFill>
                  <a:schemeClr val="bg1"/>
                </a:solidFill>
              </a:rPr>
              <a:t>lift and shift to the cloud</a:t>
            </a:r>
          </a:p>
        </p:txBody>
      </p:sp>
      <p:sp>
        <p:nvSpPr>
          <p:cNvPr id="22" name="Text Placeholder 5">
            <a:extLst>
              <a:ext uri="{FF2B5EF4-FFF2-40B4-BE49-F238E27FC236}">
                <a16:creationId xmlns:a16="http://schemas.microsoft.com/office/drawing/2014/main" id="{14880814-5454-9C40-B37F-B4DE1B9EA8CA}"/>
              </a:ext>
            </a:extLst>
          </p:cNvPr>
          <p:cNvSpPr>
            <a:spLocks noGrp="1"/>
          </p:cNvSpPr>
          <p:nvPr>
            <p:ph type="body" sz="quarter" idx="10"/>
          </p:nvPr>
        </p:nvSpPr>
        <p:spPr>
          <a:xfrm>
            <a:off x="470728" y="3742351"/>
            <a:ext cx="5212080" cy="1400383"/>
          </a:xfrm>
        </p:spPr>
        <p:txBody>
          <a:bodyPr/>
          <a:lstStyle/>
          <a:p>
            <a:r>
              <a:rPr lang="en-US" sz="1400" dirty="0">
                <a:solidFill>
                  <a:schemeClr val="bg1"/>
                </a:solidFill>
                <a:latin typeface="Segoe UI Semibold" panose="020B0502040204020203" pitchFamily="34" charset="0"/>
                <a:cs typeface="Segoe UI Semibold" panose="020B0502040204020203" pitchFamily="34" charset="0"/>
              </a:rPr>
              <a:t>“By moving our acquired applications to Azure, we were able to get them up, running, and adding value to the business in three weeks versus the three months needed to requisition servers and storage.”</a:t>
            </a:r>
          </a:p>
          <a:p>
            <a:pPr lvl="1" algn="r">
              <a:spcBef>
                <a:spcPts val="1800"/>
              </a:spcBef>
            </a:pPr>
            <a:r>
              <a:rPr lang="en-US" sz="1000" dirty="0">
                <a:solidFill>
                  <a:schemeClr val="bg1"/>
                </a:solidFill>
                <a:latin typeface="Segoe UI Semibold" panose="020B0502040204020203" pitchFamily="34" charset="0"/>
                <a:cs typeface="Segoe UI Semibold" panose="020B0502040204020203" pitchFamily="34" charset="0"/>
              </a:rPr>
              <a:t>Peter Tomlinson</a:t>
            </a:r>
            <a:br>
              <a:rPr lang="en-US" sz="1000" dirty="0">
                <a:solidFill>
                  <a:schemeClr val="bg1"/>
                </a:solidFill>
                <a:latin typeface="Segoe UI Semibold" panose="020B0502040204020203" pitchFamily="34" charset="0"/>
                <a:cs typeface="Segoe UI Semibold" panose="020B0502040204020203" pitchFamily="34" charset="0"/>
              </a:rPr>
            </a:br>
            <a:r>
              <a:rPr lang="en-US" sz="1000" dirty="0">
                <a:solidFill>
                  <a:schemeClr val="bg1"/>
                </a:solidFill>
                <a:cs typeface="Segoe UI Semibold" panose="020B0502040204020203" pitchFamily="34" charset="0"/>
              </a:rPr>
              <a:t>Director of IS, Technology Operations</a:t>
            </a:r>
          </a:p>
        </p:txBody>
      </p:sp>
      <p:grpSp>
        <p:nvGrpSpPr>
          <p:cNvPr id="4" name="Group 3">
            <a:extLst>
              <a:ext uri="{FF2B5EF4-FFF2-40B4-BE49-F238E27FC236}">
                <a16:creationId xmlns:a16="http://schemas.microsoft.com/office/drawing/2014/main" id="{419B39A7-1B5F-4A65-B557-4BFCC5305F42}"/>
              </a:ext>
              <a:ext uri="{C183D7F6-B498-43B3-948B-1728B52AA6E4}">
                <adec:decorative xmlns:adec="http://schemas.microsoft.com/office/drawing/2017/decorative" val="1"/>
              </a:ext>
            </a:extLst>
          </p:cNvPr>
          <p:cNvGrpSpPr/>
          <p:nvPr/>
        </p:nvGrpSpPr>
        <p:grpSpPr>
          <a:xfrm>
            <a:off x="362659" y="1947590"/>
            <a:ext cx="7160354" cy="1197982"/>
            <a:chOff x="501209" y="1810105"/>
            <a:chExt cx="5233915" cy="1197982"/>
          </a:xfrm>
        </p:grpSpPr>
        <p:sp>
          <p:nvSpPr>
            <p:cNvPr id="8" name="Rectangle 7">
              <a:extLst>
                <a:ext uri="{FF2B5EF4-FFF2-40B4-BE49-F238E27FC236}">
                  <a16:creationId xmlns:a16="http://schemas.microsoft.com/office/drawing/2014/main" id="{4CEF0043-ABDC-43B4-9384-C4861BE785B6}"/>
                </a:ext>
              </a:extLst>
            </p:cNvPr>
            <p:cNvSpPr/>
            <p:nvPr/>
          </p:nvSpPr>
          <p:spPr>
            <a:xfrm>
              <a:off x="501209" y="2053980"/>
              <a:ext cx="1234175" cy="954107"/>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rPr>
                <a:t>Datacenter sprawl and hosting synchronization issues</a:t>
              </a:r>
            </a:p>
          </p:txBody>
        </p:sp>
        <p:sp>
          <p:nvSpPr>
            <p:cNvPr id="10" name="TextBox 9">
              <a:extLst>
                <a:ext uri="{FF2B5EF4-FFF2-40B4-BE49-F238E27FC236}">
                  <a16:creationId xmlns:a16="http://schemas.microsoft.com/office/drawing/2014/main" id="{D3CA6C54-8A50-46F5-BE59-BB7FBF4A4027}"/>
                </a:ext>
              </a:extLst>
            </p:cNvPr>
            <p:cNvSpPr txBox="1"/>
            <p:nvPr/>
          </p:nvSpPr>
          <p:spPr>
            <a:xfrm>
              <a:off x="501210"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Challenge</a:t>
              </a:r>
            </a:p>
          </p:txBody>
        </p:sp>
        <p:sp>
          <p:nvSpPr>
            <p:cNvPr id="11" name="TextBox 10">
              <a:extLst>
                <a:ext uri="{FF2B5EF4-FFF2-40B4-BE49-F238E27FC236}">
                  <a16:creationId xmlns:a16="http://schemas.microsoft.com/office/drawing/2014/main" id="{5BF6A40D-3733-4C9E-9C86-7A65D9602EFD}"/>
                </a:ext>
              </a:extLst>
            </p:cNvPr>
            <p:cNvSpPr txBox="1"/>
            <p:nvPr/>
          </p:nvSpPr>
          <p:spPr>
            <a:xfrm>
              <a:off x="2048165"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Solution</a:t>
              </a:r>
            </a:p>
          </p:txBody>
        </p:sp>
        <p:sp>
          <p:nvSpPr>
            <p:cNvPr id="12" name="TextBox 11">
              <a:extLst>
                <a:ext uri="{FF2B5EF4-FFF2-40B4-BE49-F238E27FC236}">
                  <a16:creationId xmlns:a16="http://schemas.microsoft.com/office/drawing/2014/main" id="{4C74EA4C-56CF-4CBE-88B8-D068BB59B5BF}"/>
                </a:ext>
              </a:extLst>
            </p:cNvPr>
            <p:cNvSpPr txBox="1"/>
            <p:nvPr/>
          </p:nvSpPr>
          <p:spPr>
            <a:xfrm>
              <a:off x="3946257"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Outcome</a:t>
              </a:r>
            </a:p>
          </p:txBody>
        </p:sp>
        <p:sp>
          <p:nvSpPr>
            <p:cNvPr id="13" name="Rectangle 12">
              <a:extLst>
                <a:ext uri="{FF2B5EF4-FFF2-40B4-BE49-F238E27FC236}">
                  <a16:creationId xmlns:a16="http://schemas.microsoft.com/office/drawing/2014/main" id="{F78B1B57-60A9-4401-8803-44F86157D2E4}"/>
                </a:ext>
              </a:extLst>
            </p:cNvPr>
            <p:cNvSpPr/>
            <p:nvPr/>
          </p:nvSpPr>
          <p:spPr>
            <a:xfrm>
              <a:off x="2048165" y="2053980"/>
              <a:ext cx="1621968" cy="954107"/>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lang="en-US" sz="1400" kern="0" dirty="0">
                  <a:solidFill>
                    <a:srgbClr val="FFFFFF"/>
                  </a:solidFill>
                  <a:latin typeface="Segoe UI" panose="020B0502040204020203" pitchFamily="34" charset="0"/>
                  <a:cs typeface="Segoe UI" panose="020B0502040204020203" pitchFamily="34" charset="0"/>
                </a:rPr>
                <a:t>Lifted and shifted dozens of acquired applications to </a:t>
              </a:r>
              <a:r>
                <a:rPr lang="en-US" sz="1400" b="1" kern="0" dirty="0">
                  <a:solidFill>
                    <a:srgbClr val="FFFFFF"/>
                  </a:solidFill>
                  <a:latin typeface="Segoe UI" panose="020B0502040204020203" pitchFamily="34" charset="0"/>
                  <a:cs typeface="Segoe UI" panose="020B0502040204020203" pitchFamily="34" charset="0"/>
                </a:rPr>
                <a:t>Azure Virtual Machines</a:t>
              </a:r>
              <a:endParaRPr kumimoji="0" lang="en-US" sz="1400" b="1"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14" name="Rectangle 13">
              <a:extLst>
                <a:ext uri="{FF2B5EF4-FFF2-40B4-BE49-F238E27FC236}">
                  <a16:creationId xmlns:a16="http://schemas.microsoft.com/office/drawing/2014/main" id="{460A4CEC-C738-4034-85B7-ECCFCC6D17B6}"/>
                </a:ext>
              </a:extLst>
            </p:cNvPr>
            <p:cNvSpPr/>
            <p:nvPr/>
          </p:nvSpPr>
          <p:spPr>
            <a:xfrm>
              <a:off x="3946257" y="2053980"/>
              <a:ext cx="1788867" cy="523220"/>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lang="en-US" sz="1400" kern="0" dirty="0">
                  <a:solidFill>
                    <a:srgbClr val="FFFFFF"/>
                  </a:solidFill>
                  <a:latin typeface="Segoe UI" panose="020B0502040204020203" pitchFamily="34" charset="0"/>
                  <a:cs typeface="Segoe UI" panose="020B0502040204020203" pitchFamily="34" charset="0"/>
                </a:rPr>
                <a:t>Dramatic time-to-market gains and savings </a:t>
              </a:r>
              <a:endParaRPr kumimoji="0" lang="en-US" sz="1400" b="0"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endParaRPr>
            </a:p>
          </p:txBody>
        </p:sp>
        <p:grpSp>
          <p:nvGrpSpPr>
            <p:cNvPr id="3" name="Group 2">
              <a:extLst>
                <a:ext uri="{FF2B5EF4-FFF2-40B4-BE49-F238E27FC236}">
                  <a16:creationId xmlns:a16="http://schemas.microsoft.com/office/drawing/2014/main" id="{866DCFC7-C322-41A4-B871-344BC3B4DDF0}"/>
                </a:ext>
              </a:extLst>
            </p:cNvPr>
            <p:cNvGrpSpPr/>
            <p:nvPr/>
          </p:nvGrpSpPr>
          <p:grpSpPr>
            <a:xfrm>
              <a:off x="1705347" y="1912074"/>
              <a:ext cx="2121762" cy="827637"/>
              <a:chOff x="1798268" y="1912074"/>
              <a:chExt cx="2121762" cy="827637"/>
            </a:xfrm>
          </p:grpSpPr>
          <p:sp>
            <p:nvSpPr>
              <p:cNvPr id="16" name="Diamond 50">
                <a:extLst>
                  <a:ext uri="{FF2B5EF4-FFF2-40B4-BE49-F238E27FC236}">
                    <a16:creationId xmlns:a16="http://schemas.microsoft.com/office/drawing/2014/main" id="{29868C89-2FDD-430F-8EA8-9DFB1F3B0A56}"/>
                  </a:ext>
                </a:extLst>
              </p:cNvPr>
              <p:cNvSpPr/>
              <p:nvPr/>
            </p:nvSpPr>
            <p:spPr>
              <a:xfrm>
                <a:off x="1798268"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 name="Diamond 50">
                <a:extLst>
                  <a:ext uri="{FF2B5EF4-FFF2-40B4-BE49-F238E27FC236}">
                    <a16:creationId xmlns:a16="http://schemas.microsoft.com/office/drawing/2014/main" id="{36712490-9961-45DF-9F93-53A127ADFD5E}"/>
                  </a:ext>
                </a:extLst>
              </p:cNvPr>
              <p:cNvSpPr/>
              <p:nvPr/>
            </p:nvSpPr>
            <p:spPr>
              <a:xfrm>
                <a:off x="3733017"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pic>
        <p:nvPicPr>
          <p:cNvPr id="1028" name="Picture 4" descr="Sign In">
            <a:extLst>
              <a:ext uri="{FF2B5EF4-FFF2-40B4-BE49-F238E27FC236}">
                <a16:creationId xmlns:a16="http://schemas.microsoft.com/office/drawing/2014/main" id="{5269511F-83C4-4F67-ABF4-60241487AD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728" y="5959037"/>
            <a:ext cx="2250784" cy="697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791015"/>
      </p:ext>
    </p:extLst>
  </p:cSld>
  <p:clrMapOvr>
    <a:masterClrMapping/>
  </p:clrMapOvr>
  <p:transition advTm="80248">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wearing glasses reviews a computer screen">
            <a:extLst>
              <a:ext uri="{FF2B5EF4-FFF2-40B4-BE49-F238E27FC236}">
                <a16:creationId xmlns:a16="http://schemas.microsoft.com/office/drawing/2014/main" id="{71747089-90E2-4000-AFA5-E39CC3D3BC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0"/>
            <a:ext cx="10287000" cy="6858000"/>
          </a:xfrm>
          <a:prstGeom prst="rect">
            <a:avLst/>
          </a:prstGeom>
        </p:spPr>
      </p:pic>
      <p:sp>
        <p:nvSpPr>
          <p:cNvPr id="19" name="Rectangle 18">
            <a:extLst>
              <a:ext uri="{FF2B5EF4-FFF2-40B4-BE49-F238E27FC236}">
                <a16:creationId xmlns:a16="http://schemas.microsoft.com/office/drawing/2014/main" id="{204ACB67-9531-B644-8EE5-6C8B234E5C05}"/>
              </a:ext>
              <a:ext uri="{C183D7F6-B498-43B3-948B-1728B52AA6E4}">
                <adec:decorative xmlns:adec="http://schemas.microsoft.com/office/drawing/2017/decorative" val="1"/>
              </a:ext>
            </a:extLst>
          </p:cNvPr>
          <p:cNvSpPr/>
          <p:nvPr/>
        </p:nvSpPr>
        <p:spPr bwMode="auto">
          <a:xfrm>
            <a:off x="0" y="0"/>
            <a:ext cx="12019547" cy="6858000"/>
          </a:xfrm>
          <a:prstGeom prst="rect">
            <a:avLst/>
          </a:prstGeom>
          <a:gradFill flip="none" rotWithShape="1">
            <a:gsLst>
              <a:gs pos="69000">
                <a:srgbClr val="000000">
                  <a:alpha val="20000"/>
                </a:srgbClr>
              </a:gs>
              <a:gs pos="38000">
                <a:srgbClr val="000000"/>
              </a:gs>
              <a:gs pos="0">
                <a:schemeClr val="tx1"/>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9922F2B9-C87D-407C-A1EE-615CB232F138}"/>
              </a:ext>
            </a:extLst>
          </p:cNvPr>
          <p:cNvSpPr>
            <a:spLocks noGrp="1"/>
          </p:cNvSpPr>
          <p:nvPr>
            <p:ph type="title"/>
          </p:nvPr>
        </p:nvSpPr>
        <p:spPr>
          <a:xfrm>
            <a:off x="449713" y="457200"/>
            <a:ext cx="11018520" cy="1661993"/>
          </a:xfrm>
        </p:spPr>
        <p:txBody>
          <a:bodyPr/>
          <a:lstStyle/>
          <a:p>
            <a:r>
              <a:rPr lang="en-US" dirty="0">
                <a:solidFill>
                  <a:schemeClr val="bg1"/>
                </a:solidFill>
              </a:rPr>
              <a:t>H&amp;R Block delivers scalable tax preparation services with Azure SQL Managed Instance and SQL Server on Azure Virtual Machines</a:t>
            </a:r>
          </a:p>
        </p:txBody>
      </p:sp>
      <p:sp>
        <p:nvSpPr>
          <p:cNvPr id="22" name="Text Placeholder 5">
            <a:extLst>
              <a:ext uri="{FF2B5EF4-FFF2-40B4-BE49-F238E27FC236}">
                <a16:creationId xmlns:a16="http://schemas.microsoft.com/office/drawing/2014/main" id="{14880814-5454-9C40-B37F-B4DE1B9EA8CA}"/>
              </a:ext>
            </a:extLst>
          </p:cNvPr>
          <p:cNvSpPr>
            <a:spLocks noGrp="1"/>
          </p:cNvSpPr>
          <p:nvPr>
            <p:ph type="body" sz="quarter" idx="10"/>
          </p:nvPr>
        </p:nvSpPr>
        <p:spPr>
          <a:xfrm>
            <a:off x="449713" y="4115564"/>
            <a:ext cx="5212080" cy="969496"/>
          </a:xfrm>
        </p:spPr>
        <p:txBody>
          <a:bodyPr/>
          <a:lstStyle/>
          <a:p>
            <a:r>
              <a:rPr lang="en-US" sz="1400" dirty="0">
                <a:solidFill>
                  <a:schemeClr val="bg1"/>
                </a:solidFill>
                <a:latin typeface="Segoe UI Semibold" panose="020B0502040204020203" pitchFamily="34" charset="0"/>
                <a:cs typeface="Segoe UI Semibold" panose="020B0502040204020203" pitchFamily="34" charset="0"/>
              </a:rPr>
              <a:t>“Azure makes it easier to continue our work using AI, machine learning, and other ways to serve our customers better.”</a:t>
            </a:r>
          </a:p>
          <a:p>
            <a:pPr lvl="1" algn="r">
              <a:spcBef>
                <a:spcPts val="1800"/>
              </a:spcBef>
            </a:pPr>
            <a:r>
              <a:rPr lang="en-US" sz="1000" dirty="0">
                <a:solidFill>
                  <a:schemeClr val="bg1"/>
                </a:solidFill>
                <a:latin typeface="Segoe UI Semibold" panose="020B0502040204020203" pitchFamily="34" charset="0"/>
                <a:cs typeface="Segoe UI Semibold" panose="020B0502040204020203" pitchFamily="34" charset="0"/>
              </a:rPr>
              <a:t>Sameer Agarwal</a:t>
            </a:r>
            <a:br>
              <a:rPr lang="en-US" sz="1000" dirty="0">
                <a:solidFill>
                  <a:schemeClr val="bg1"/>
                </a:solidFill>
                <a:latin typeface="Segoe UI Semibold" panose="020B0502040204020203" pitchFamily="34" charset="0"/>
                <a:cs typeface="Segoe UI Semibold" panose="020B0502040204020203" pitchFamily="34" charset="0"/>
              </a:rPr>
            </a:br>
            <a:r>
              <a:rPr lang="en-US" sz="1000" dirty="0">
                <a:solidFill>
                  <a:schemeClr val="bg1"/>
                </a:solidFill>
                <a:cs typeface="Segoe UI Semibold" panose="020B0502040204020203" pitchFamily="34" charset="0"/>
              </a:rPr>
              <a:t>Manager, Enterprise Data Analytics</a:t>
            </a:r>
          </a:p>
        </p:txBody>
      </p:sp>
      <p:grpSp>
        <p:nvGrpSpPr>
          <p:cNvPr id="4" name="Group 3">
            <a:extLst>
              <a:ext uri="{FF2B5EF4-FFF2-40B4-BE49-F238E27FC236}">
                <a16:creationId xmlns:a16="http://schemas.microsoft.com/office/drawing/2014/main" id="{419B39A7-1B5F-4A65-B557-4BFCC5305F42}"/>
              </a:ext>
              <a:ext uri="{C183D7F6-B498-43B3-948B-1728B52AA6E4}">
                <adec:decorative xmlns:adec="http://schemas.microsoft.com/office/drawing/2017/decorative" val="1"/>
              </a:ext>
            </a:extLst>
          </p:cNvPr>
          <p:cNvGrpSpPr/>
          <p:nvPr/>
        </p:nvGrpSpPr>
        <p:grpSpPr>
          <a:xfrm>
            <a:off x="362659" y="2550571"/>
            <a:ext cx="7160354" cy="982539"/>
            <a:chOff x="501209" y="1810105"/>
            <a:chExt cx="5233915" cy="982539"/>
          </a:xfrm>
        </p:grpSpPr>
        <p:sp>
          <p:nvSpPr>
            <p:cNvPr id="8" name="Rectangle 7">
              <a:extLst>
                <a:ext uri="{FF2B5EF4-FFF2-40B4-BE49-F238E27FC236}">
                  <a16:creationId xmlns:a16="http://schemas.microsoft.com/office/drawing/2014/main" id="{4CEF0043-ABDC-43B4-9384-C4861BE785B6}"/>
                </a:ext>
              </a:extLst>
            </p:cNvPr>
            <p:cNvSpPr/>
            <p:nvPr/>
          </p:nvSpPr>
          <p:spPr>
            <a:xfrm>
              <a:off x="501209" y="2053980"/>
              <a:ext cx="1234175" cy="738664"/>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rPr>
                <a:t>Disparate data sources hindered performance</a:t>
              </a:r>
            </a:p>
          </p:txBody>
        </p:sp>
        <p:sp>
          <p:nvSpPr>
            <p:cNvPr id="10" name="TextBox 9">
              <a:extLst>
                <a:ext uri="{FF2B5EF4-FFF2-40B4-BE49-F238E27FC236}">
                  <a16:creationId xmlns:a16="http://schemas.microsoft.com/office/drawing/2014/main" id="{D3CA6C54-8A50-46F5-BE59-BB7FBF4A4027}"/>
                </a:ext>
              </a:extLst>
            </p:cNvPr>
            <p:cNvSpPr txBox="1"/>
            <p:nvPr/>
          </p:nvSpPr>
          <p:spPr>
            <a:xfrm>
              <a:off x="501210"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Challenge</a:t>
              </a:r>
            </a:p>
          </p:txBody>
        </p:sp>
        <p:sp>
          <p:nvSpPr>
            <p:cNvPr id="11" name="TextBox 10">
              <a:extLst>
                <a:ext uri="{FF2B5EF4-FFF2-40B4-BE49-F238E27FC236}">
                  <a16:creationId xmlns:a16="http://schemas.microsoft.com/office/drawing/2014/main" id="{5BF6A40D-3733-4C9E-9C86-7A65D9602EFD}"/>
                </a:ext>
              </a:extLst>
            </p:cNvPr>
            <p:cNvSpPr txBox="1"/>
            <p:nvPr/>
          </p:nvSpPr>
          <p:spPr>
            <a:xfrm>
              <a:off x="2048165"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Solution</a:t>
              </a:r>
            </a:p>
          </p:txBody>
        </p:sp>
        <p:sp>
          <p:nvSpPr>
            <p:cNvPr id="12" name="TextBox 11">
              <a:extLst>
                <a:ext uri="{FF2B5EF4-FFF2-40B4-BE49-F238E27FC236}">
                  <a16:creationId xmlns:a16="http://schemas.microsoft.com/office/drawing/2014/main" id="{4C74EA4C-56CF-4CBE-88B8-D068BB59B5BF}"/>
                </a:ext>
              </a:extLst>
            </p:cNvPr>
            <p:cNvSpPr txBox="1"/>
            <p:nvPr/>
          </p:nvSpPr>
          <p:spPr>
            <a:xfrm>
              <a:off x="3946257"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Outcome</a:t>
              </a:r>
            </a:p>
          </p:txBody>
        </p:sp>
        <p:sp>
          <p:nvSpPr>
            <p:cNvPr id="13" name="Rectangle 12">
              <a:extLst>
                <a:ext uri="{FF2B5EF4-FFF2-40B4-BE49-F238E27FC236}">
                  <a16:creationId xmlns:a16="http://schemas.microsoft.com/office/drawing/2014/main" id="{F78B1B57-60A9-4401-8803-44F86157D2E4}"/>
                </a:ext>
              </a:extLst>
            </p:cNvPr>
            <p:cNvSpPr/>
            <p:nvPr/>
          </p:nvSpPr>
          <p:spPr>
            <a:xfrm>
              <a:off x="2048165" y="2053980"/>
              <a:ext cx="1621968" cy="738664"/>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lang="en-US" sz="1400" kern="0" dirty="0">
                  <a:solidFill>
                    <a:srgbClr val="FFFFFF"/>
                  </a:solidFill>
                  <a:latin typeface="Segoe UI" panose="020B0502040204020203" pitchFamily="34" charset="0"/>
                  <a:cs typeface="Segoe UI" panose="020B0502040204020203" pitchFamily="34" charset="0"/>
                </a:rPr>
                <a:t>Migrated the data tier of all its applications to Azure data services</a:t>
              </a:r>
              <a:endParaRPr kumimoji="0" lang="en-US" sz="1400" b="1"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14" name="Rectangle 13">
              <a:extLst>
                <a:ext uri="{FF2B5EF4-FFF2-40B4-BE49-F238E27FC236}">
                  <a16:creationId xmlns:a16="http://schemas.microsoft.com/office/drawing/2014/main" id="{460A4CEC-C738-4034-85B7-ECCFCC6D17B6}"/>
                </a:ext>
              </a:extLst>
            </p:cNvPr>
            <p:cNvSpPr/>
            <p:nvPr/>
          </p:nvSpPr>
          <p:spPr>
            <a:xfrm>
              <a:off x="3946257" y="2053980"/>
              <a:ext cx="1788867" cy="738664"/>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lang="en-US" sz="1400" kern="0" dirty="0">
                  <a:solidFill>
                    <a:srgbClr val="FFFFFF"/>
                  </a:solidFill>
                  <a:latin typeface="Segoe UI" panose="020B0502040204020203" pitchFamily="34" charset="0"/>
                  <a:cs typeface="Segoe UI" panose="020B0502040204020203" pitchFamily="34" charset="0"/>
                </a:rPr>
                <a:t>Improved application performance and reduced roadblocks to innovation</a:t>
              </a:r>
              <a:endParaRPr kumimoji="0" lang="en-US" sz="1400" b="0"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endParaRPr>
            </a:p>
          </p:txBody>
        </p:sp>
        <p:grpSp>
          <p:nvGrpSpPr>
            <p:cNvPr id="3" name="Group 2">
              <a:extLst>
                <a:ext uri="{FF2B5EF4-FFF2-40B4-BE49-F238E27FC236}">
                  <a16:creationId xmlns:a16="http://schemas.microsoft.com/office/drawing/2014/main" id="{866DCFC7-C322-41A4-B871-344BC3B4DDF0}"/>
                </a:ext>
              </a:extLst>
            </p:cNvPr>
            <p:cNvGrpSpPr/>
            <p:nvPr/>
          </p:nvGrpSpPr>
          <p:grpSpPr>
            <a:xfrm>
              <a:off x="1705347" y="1912074"/>
              <a:ext cx="2121762" cy="827637"/>
              <a:chOff x="1798268" y="1912074"/>
              <a:chExt cx="2121762" cy="827637"/>
            </a:xfrm>
          </p:grpSpPr>
          <p:sp>
            <p:nvSpPr>
              <p:cNvPr id="16" name="Diamond 50">
                <a:extLst>
                  <a:ext uri="{FF2B5EF4-FFF2-40B4-BE49-F238E27FC236}">
                    <a16:creationId xmlns:a16="http://schemas.microsoft.com/office/drawing/2014/main" id="{29868C89-2FDD-430F-8EA8-9DFB1F3B0A56}"/>
                  </a:ext>
                </a:extLst>
              </p:cNvPr>
              <p:cNvSpPr/>
              <p:nvPr/>
            </p:nvSpPr>
            <p:spPr>
              <a:xfrm>
                <a:off x="1798268"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 name="Diamond 50">
                <a:extLst>
                  <a:ext uri="{FF2B5EF4-FFF2-40B4-BE49-F238E27FC236}">
                    <a16:creationId xmlns:a16="http://schemas.microsoft.com/office/drawing/2014/main" id="{36712490-9961-45DF-9F93-53A127ADFD5E}"/>
                  </a:ext>
                </a:extLst>
              </p:cNvPr>
              <p:cNvSpPr/>
              <p:nvPr/>
            </p:nvSpPr>
            <p:spPr>
              <a:xfrm>
                <a:off x="3733017"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pic>
        <p:nvPicPr>
          <p:cNvPr id="21" name="Picture Placeholder 12" descr="Man looking at computer screen">
            <a:extLst>
              <a:ext uri="{FF2B5EF4-FFF2-40B4-BE49-F238E27FC236}">
                <a16:creationId xmlns:a16="http://schemas.microsoft.com/office/drawing/2014/main" id="{8FC711FC-57AF-4C8A-973A-411A38030CBB}"/>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584200" y="5893600"/>
            <a:ext cx="750876" cy="750876"/>
          </a:xfrm>
          <a:prstGeom prst="rect">
            <a:avLst/>
          </a:prstGeom>
        </p:spPr>
      </p:pic>
    </p:spTree>
    <p:extLst>
      <p:ext uri="{BB962C8B-B14F-4D97-AF65-F5344CB8AC3E}">
        <p14:creationId xmlns:p14="http://schemas.microsoft.com/office/powerpoint/2010/main" val="2356235266"/>
      </p:ext>
    </p:extLst>
  </p:cSld>
  <p:clrMapOvr>
    <a:masterClrMapping/>
  </p:clrMapOvr>
  <p:transition advTm="80248">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88CCC2C-2BE4-104C-B5EA-F7B4CFE6EFA0}"/>
              </a:ext>
            </a:extLst>
          </p:cNvPr>
          <p:cNvSpPr>
            <a:spLocks noGrp="1"/>
          </p:cNvSpPr>
          <p:nvPr>
            <p:ph type="title"/>
          </p:nvPr>
        </p:nvSpPr>
        <p:spPr/>
        <p:txBody>
          <a:bodyPr/>
          <a:lstStyle/>
          <a:p>
            <a:r>
              <a:rPr lang="en-US"/>
              <a:t>Migrate to Azure: Save now, be future ready</a:t>
            </a:r>
          </a:p>
        </p:txBody>
      </p:sp>
      <p:sp>
        <p:nvSpPr>
          <p:cNvPr id="95" name="TextBox 94">
            <a:extLst>
              <a:ext uri="{FF2B5EF4-FFF2-40B4-BE49-F238E27FC236}">
                <a16:creationId xmlns:a16="http://schemas.microsoft.com/office/drawing/2014/main" id="{F817441D-0709-487D-AB65-44FBD95004E7}"/>
              </a:ext>
            </a:extLst>
          </p:cNvPr>
          <p:cNvSpPr txBox="1"/>
          <p:nvPr/>
        </p:nvSpPr>
        <p:spPr>
          <a:xfrm>
            <a:off x="649405" y="1092416"/>
            <a:ext cx="10534784" cy="406441"/>
          </a:xfrm>
          <a:prstGeom prst="rect">
            <a:avLst/>
          </a:prstGeom>
          <a:noFill/>
        </p:spPr>
        <p:txBody>
          <a:bodyPr wrap="none" lIns="0" tIns="0" rIns="0" bIns="0" rtlCol="0">
            <a:noAutofit/>
          </a:bodyPr>
          <a:lstStyle/>
          <a:p>
            <a:pPr marL="0" marR="0" lvl="0" indent="0" defTabSz="914400" rtl="0" eaLnBrk="1" fontAlgn="auto" latinLnBrk="0" hangingPunct="1">
              <a:lnSpc>
                <a:spcPct val="107000"/>
              </a:lnSpc>
              <a:spcBef>
                <a:spcPts val="0"/>
              </a:spcBef>
              <a:spcAft>
                <a:spcPts val="0"/>
              </a:spcAft>
              <a:buClrTx/>
              <a:buSzTx/>
              <a:buFontTx/>
              <a:buNone/>
              <a:tabLst/>
              <a:defRPr/>
            </a:pPr>
            <a:r>
              <a:rPr kumimoji="0" lang="en-US" sz="2000" b="0" u="none" strike="noStrike" kern="1200" cap="none" spc="0" normalizeH="0" baseline="0" noProof="0" dirty="0">
                <a:ln>
                  <a:noFill/>
                </a:ln>
                <a:solidFill>
                  <a:schemeClr val="accent2"/>
                </a:solidFill>
                <a:effectLst/>
                <a:uLnTx/>
                <a:uFillTx/>
                <a:latin typeface="Segoe UI Semibold"/>
                <a:ea typeface="Calibri" panose="020F0502020204030204" pitchFamily="34" charset="0"/>
                <a:cs typeface="Arial" panose="020B0604020202020204" pitchFamily="34" charset="0"/>
              </a:rPr>
              <a:t>Save money &amp; improve efficiency by bringing your workloads to Azure  </a:t>
            </a:r>
          </a:p>
        </p:txBody>
      </p:sp>
      <p:grpSp>
        <p:nvGrpSpPr>
          <p:cNvPr id="71" name="Group 10" descr="bars going down with money symbol - saving money">
            <a:extLst>
              <a:ext uri="{FF2B5EF4-FFF2-40B4-BE49-F238E27FC236}">
                <a16:creationId xmlns:a16="http://schemas.microsoft.com/office/drawing/2014/main" id="{A5AC35FA-85F1-FD40-898F-EB9BF366558A}"/>
              </a:ext>
            </a:extLst>
          </p:cNvPr>
          <p:cNvGrpSpPr>
            <a:grpSpLocks noChangeAspect="1"/>
          </p:cNvGrpSpPr>
          <p:nvPr/>
        </p:nvGrpSpPr>
        <p:grpSpPr bwMode="auto">
          <a:xfrm>
            <a:off x="1867696" y="2302635"/>
            <a:ext cx="433388" cy="495301"/>
            <a:chOff x="1033" y="999"/>
            <a:chExt cx="273" cy="312"/>
          </a:xfrm>
        </p:grpSpPr>
        <p:sp>
          <p:nvSpPr>
            <p:cNvPr id="75" name="Rectangle 11">
              <a:extLst>
                <a:ext uri="{FF2B5EF4-FFF2-40B4-BE49-F238E27FC236}">
                  <a16:creationId xmlns:a16="http://schemas.microsoft.com/office/drawing/2014/main" id="{C4D410CF-EC29-DF4D-ABFD-D415C315BE0F}"/>
                </a:ext>
              </a:extLst>
            </p:cNvPr>
            <p:cNvSpPr>
              <a:spLocks noChangeArrowheads="1"/>
            </p:cNvSpPr>
            <p:nvPr/>
          </p:nvSpPr>
          <p:spPr bwMode="auto">
            <a:xfrm>
              <a:off x="1277" y="1243"/>
              <a:ext cx="29" cy="6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p:txBody>
        </p:sp>
        <p:sp>
          <p:nvSpPr>
            <p:cNvPr id="76" name="Rectangle 12">
              <a:extLst>
                <a:ext uri="{FF2B5EF4-FFF2-40B4-BE49-F238E27FC236}">
                  <a16:creationId xmlns:a16="http://schemas.microsoft.com/office/drawing/2014/main" id="{5B467F59-D06B-CC43-B937-FFFB0176F543}"/>
                </a:ext>
              </a:extLst>
            </p:cNvPr>
            <p:cNvSpPr>
              <a:spLocks noChangeArrowheads="1"/>
            </p:cNvSpPr>
            <p:nvPr/>
          </p:nvSpPr>
          <p:spPr bwMode="auto">
            <a:xfrm>
              <a:off x="1228" y="1194"/>
              <a:ext cx="29" cy="11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7" name="Rectangle 13">
              <a:extLst>
                <a:ext uri="{FF2B5EF4-FFF2-40B4-BE49-F238E27FC236}">
                  <a16:creationId xmlns:a16="http://schemas.microsoft.com/office/drawing/2014/main" id="{8625B0CC-3911-AA4B-95DB-97BD9A9D7679}"/>
                </a:ext>
              </a:extLst>
            </p:cNvPr>
            <p:cNvSpPr>
              <a:spLocks noChangeArrowheads="1"/>
            </p:cNvSpPr>
            <p:nvPr/>
          </p:nvSpPr>
          <p:spPr bwMode="auto">
            <a:xfrm>
              <a:off x="1179" y="1145"/>
              <a:ext cx="30" cy="16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8" name="Rectangle 14">
              <a:extLst>
                <a:ext uri="{FF2B5EF4-FFF2-40B4-BE49-F238E27FC236}">
                  <a16:creationId xmlns:a16="http://schemas.microsoft.com/office/drawing/2014/main" id="{FA36EEEC-5953-2B4E-BAA5-FBA1BC1A7D5D}"/>
                </a:ext>
              </a:extLst>
            </p:cNvPr>
            <p:cNvSpPr>
              <a:spLocks noChangeArrowheads="1"/>
            </p:cNvSpPr>
            <p:nvPr/>
          </p:nvSpPr>
          <p:spPr bwMode="auto">
            <a:xfrm>
              <a:off x="1131" y="1097"/>
              <a:ext cx="29" cy="21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9" name="Rectangle 15">
              <a:extLst>
                <a:ext uri="{FF2B5EF4-FFF2-40B4-BE49-F238E27FC236}">
                  <a16:creationId xmlns:a16="http://schemas.microsoft.com/office/drawing/2014/main" id="{62FC0668-974B-B54E-9658-E5152FFBED8F}"/>
                </a:ext>
              </a:extLst>
            </p:cNvPr>
            <p:cNvSpPr>
              <a:spLocks noChangeArrowheads="1"/>
            </p:cNvSpPr>
            <p:nvPr/>
          </p:nvSpPr>
          <p:spPr bwMode="auto">
            <a:xfrm>
              <a:off x="1082" y="1048"/>
              <a:ext cx="29" cy="2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80" name="Rectangle 16">
              <a:extLst>
                <a:ext uri="{FF2B5EF4-FFF2-40B4-BE49-F238E27FC236}">
                  <a16:creationId xmlns:a16="http://schemas.microsoft.com/office/drawing/2014/main" id="{4DB82A87-03A6-7042-82CD-6D4B1DB0EABF}"/>
                </a:ext>
              </a:extLst>
            </p:cNvPr>
            <p:cNvSpPr>
              <a:spLocks noChangeArrowheads="1"/>
            </p:cNvSpPr>
            <p:nvPr/>
          </p:nvSpPr>
          <p:spPr bwMode="auto">
            <a:xfrm>
              <a:off x="1033" y="999"/>
              <a:ext cx="29" cy="3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81" name="Freeform 17">
              <a:extLst>
                <a:ext uri="{FF2B5EF4-FFF2-40B4-BE49-F238E27FC236}">
                  <a16:creationId xmlns:a16="http://schemas.microsoft.com/office/drawing/2014/main" id="{41F8D188-6757-184A-9DB1-D446A36E9B45}"/>
                </a:ext>
              </a:extLst>
            </p:cNvPr>
            <p:cNvSpPr>
              <a:spLocks noEditPoints="1"/>
            </p:cNvSpPr>
            <p:nvPr/>
          </p:nvSpPr>
          <p:spPr bwMode="auto">
            <a:xfrm>
              <a:off x="1228" y="999"/>
              <a:ext cx="78" cy="151"/>
            </a:xfrm>
            <a:custGeom>
              <a:avLst/>
              <a:gdLst>
                <a:gd name="T0" fmla="*/ 339 w 339"/>
                <a:gd name="T1" fmla="*/ 440 h 662"/>
                <a:gd name="T2" fmla="*/ 303 w 339"/>
                <a:gd name="T3" fmla="*/ 534 h 662"/>
                <a:gd name="T4" fmla="*/ 195 w 339"/>
                <a:gd name="T5" fmla="*/ 578 h 662"/>
                <a:gd name="T6" fmla="*/ 195 w 339"/>
                <a:gd name="T7" fmla="*/ 662 h 662"/>
                <a:gd name="T8" fmla="*/ 144 w 339"/>
                <a:gd name="T9" fmla="*/ 662 h 662"/>
                <a:gd name="T10" fmla="*/ 144 w 339"/>
                <a:gd name="T11" fmla="*/ 580 h 662"/>
                <a:gd name="T12" fmla="*/ 10 w 339"/>
                <a:gd name="T13" fmla="*/ 547 h 662"/>
                <a:gd name="T14" fmla="*/ 10 w 339"/>
                <a:gd name="T15" fmla="*/ 450 h 662"/>
                <a:gd name="T16" fmla="*/ 71 w 339"/>
                <a:gd name="T17" fmla="*/ 480 h 662"/>
                <a:gd name="T18" fmla="*/ 144 w 339"/>
                <a:gd name="T19" fmla="*/ 497 h 662"/>
                <a:gd name="T20" fmla="*/ 144 w 339"/>
                <a:gd name="T21" fmla="*/ 368 h 662"/>
                <a:gd name="T22" fmla="*/ 33 w 339"/>
                <a:gd name="T23" fmla="*/ 305 h 662"/>
                <a:gd name="T24" fmla="*/ 0 w 339"/>
                <a:gd name="T25" fmla="*/ 214 h 662"/>
                <a:gd name="T26" fmla="*/ 40 w 339"/>
                <a:gd name="T27" fmla="*/ 119 h 662"/>
                <a:gd name="T28" fmla="*/ 144 w 339"/>
                <a:gd name="T29" fmla="*/ 74 h 662"/>
                <a:gd name="T30" fmla="*/ 144 w 339"/>
                <a:gd name="T31" fmla="*/ 0 h 662"/>
                <a:gd name="T32" fmla="*/ 195 w 339"/>
                <a:gd name="T33" fmla="*/ 0 h 662"/>
                <a:gd name="T34" fmla="*/ 195 w 339"/>
                <a:gd name="T35" fmla="*/ 73 h 662"/>
                <a:gd name="T36" fmla="*/ 306 w 339"/>
                <a:gd name="T37" fmla="*/ 97 h 662"/>
                <a:gd name="T38" fmla="*/ 306 w 339"/>
                <a:gd name="T39" fmla="*/ 192 h 662"/>
                <a:gd name="T40" fmla="*/ 195 w 339"/>
                <a:gd name="T41" fmla="*/ 155 h 662"/>
                <a:gd name="T42" fmla="*/ 195 w 339"/>
                <a:gd name="T43" fmla="*/ 289 h 662"/>
                <a:gd name="T44" fmla="*/ 306 w 339"/>
                <a:gd name="T45" fmla="*/ 353 h 662"/>
                <a:gd name="T46" fmla="*/ 339 w 339"/>
                <a:gd name="T47" fmla="*/ 440 h 662"/>
                <a:gd name="T48" fmla="*/ 144 w 339"/>
                <a:gd name="T49" fmla="*/ 269 h 662"/>
                <a:gd name="T50" fmla="*/ 144 w 339"/>
                <a:gd name="T51" fmla="*/ 157 h 662"/>
                <a:gd name="T52" fmla="*/ 94 w 339"/>
                <a:gd name="T53" fmla="*/ 208 h 662"/>
                <a:gd name="T54" fmla="*/ 144 w 339"/>
                <a:gd name="T55" fmla="*/ 269 h 662"/>
                <a:gd name="T56" fmla="*/ 246 w 339"/>
                <a:gd name="T57" fmla="*/ 445 h 662"/>
                <a:gd name="T58" fmla="*/ 195 w 339"/>
                <a:gd name="T59" fmla="*/ 388 h 662"/>
                <a:gd name="T60" fmla="*/ 195 w 339"/>
                <a:gd name="T61" fmla="*/ 495 h 662"/>
                <a:gd name="T62" fmla="*/ 246 w 339"/>
                <a:gd name="T63" fmla="*/ 445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9" h="662">
                  <a:moveTo>
                    <a:pt x="339" y="440"/>
                  </a:moveTo>
                  <a:cubicBezTo>
                    <a:pt x="339" y="479"/>
                    <a:pt x="327" y="510"/>
                    <a:pt x="303" y="534"/>
                  </a:cubicBezTo>
                  <a:cubicBezTo>
                    <a:pt x="278" y="558"/>
                    <a:pt x="242" y="572"/>
                    <a:pt x="195" y="578"/>
                  </a:cubicBezTo>
                  <a:cubicBezTo>
                    <a:pt x="195" y="662"/>
                    <a:pt x="195" y="662"/>
                    <a:pt x="195" y="662"/>
                  </a:cubicBezTo>
                  <a:cubicBezTo>
                    <a:pt x="144" y="662"/>
                    <a:pt x="144" y="662"/>
                    <a:pt x="144" y="662"/>
                  </a:cubicBezTo>
                  <a:cubicBezTo>
                    <a:pt x="144" y="580"/>
                    <a:pt x="144" y="580"/>
                    <a:pt x="144" y="580"/>
                  </a:cubicBezTo>
                  <a:cubicBezTo>
                    <a:pt x="95" y="579"/>
                    <a:pt x="51" y="569"/>
                    <a:pt x="10" y="547"/>
                  </a:cubicBezTo>
                  <a:cubicBezTo>
                    <a:pt x="10" y="450"/>
                    <a:pt x="10" y="450"/>
                    <a:pt x="10" y="450"/>
                  </a:cubicBezTo>
                  <a:cubicBezTo>
                    <a:pt x="23" y="460"/>
                    <a:pt x="43" y="470"/>
                    <a:pt x="71" y="480"/>
                  </a:cubicBezTo>
                  <a:cubicBezTo>
                    <a:pt x="99" y="490"/>
                    <a:pt x="123" y="495"/>
                    <a:pt x="144" y="497"/>
                  </a:cubicBezTo>
                  <a:cubicBezTo>
                    <a:pt x="144" y="368"/>
                    <a:pt x="144" y="368"/>
                    <a:pt x="144" y="368"/>
                  </a:cubicBezTo>
                  <a:cubicBezTo>
                    <a:pt x="91" y="349"/>
                    <a:pt x="55" y="328"/>
                    <a:pt x="33" y="305"/>
                  </a:cubicBezTo>
                  <a:cubicBezTo>
                    <a:pt x="11" y="282"/>
                    <a:pt x="0" y="252"/>
                    <a:pt x="0" y="214"/>
                  </a:cubicBezTo>
                  <a:cubicBezTo>
                    <a:pt x="0" y="177"/>
                    <a:pt x="14" y="145"/>
                    <a:pt x="40" y="119"/>
                  </a:cubicBezTo>
                  <a:cubicBezTo>
                    <a:pt x="67" y="94"/>
                    <a:pt x="101" y="79"/>
                    <a:pt x="144" y="74"/>
                  </a:cubicBezTo>
                  <a:cubicBezTo>
                    <a:pt x="144" y="0"/>
                    <a:pt x="144" y="0"/>
                    <a:pt x="144" y="0"/>
                  </a:cubicBezTo>
                  <a:cubicBezTo>
                    <a:pt x="195" y="0"/>
                    <a:pt x="195" y="0"/>
                    <a:pt x="195" y="0"/>
                  </a:cubicBezTo>
                  <a:cubicBezTo>
                    <a:pt x="195" y="73"/>
                    <a:pt x="195" y="73"/>
                    <a:pt x="195" y="73"/>
                  </a:cubicBezTo>
                  <a:cubicBezTo>
                    <a:pt x="245" y="75"/>
                    <a:pt x="282" y="83"/>
                    <a:pt x="306" y="97"/>
                  </a:cubicBezTo>
                  <a:cubicBezTo>
                    <a:pt x="306" y="192"/>
                    <a:pt x="306" y="192"/>
                    <a:pt x="306" y="192"/>
                  </a:cubicBezTo>
                  <a:cubicBezTo>
                    <a:pt x="274" y="172"/>
                    <a:pt x="236" y="160"/>
                    <a:pt x="195" y="155"/>
                  </a:cubicBezTo>
                  <a:cubicBezTo>
                    <a:pt x="195" y="289"/>
                    <a:pt x="195" y="289"/>
                    <a:pt x="195" y="289"/>
                  </a:cubicBezTo>
                  <a:cubicBezTo>
                    <a:pt x="247" y="308"/>
                    <a:pt x="284" y="329"/>
                    <a:pt x="306" y="353"/>
                  </a:cubicBezTo>
                  <a:cubicBezTo>
                    <a:pt x="328" y="376"/>
                    <a:pt x="339" y="405"/>
                    <a:pt x="339" y="440"/>
                  </a:cubicBezTo>
                  <a:close/>
                  <a:moveTo>
                    <a:pt x="144" y="269"/>
                  </a:moveTo>
                  <a:cubicBezTo>
                    <a:pt x="144" y="157"/>
                    <a:pt x="144" y="157"/>
                    <a:pt x="144" y="157"/>
                  </a:cubicBezTo>
                  <a:cubicBezTo>
                    <a:pt x="111" y="163"/>
                    <a:pt x="94" y="180"/>
                    <a:pt x="94" y="208"/>
                  </a:cubicBezTo>
                  <a:cubicBezTo>
                    <a:pt x="94" y="233"/>
                    <a:pt x="111" y="253"/>
                    <a:pt x="144" y="269"/>
                  </a:cubicBezTo>
                  <a:close/>
                  <a:moveTo>
                    <a:pt x="246" y="445"/>
                  </a:moveTo>
                  <a:cubicBezTo>
                    <a:pt x="246" y="422"/>
                    <a:pt x="229" y="403"/>
                    <a:pt x="195" y="388"/>
                  </a:cubicBezTo>
                  <a:cubicBezTo>
                    <a:pt x="195" y="495"/>
                    <a:pt x="195" y="495"/>
                    <a:pt x="195" y="495"/>
                  </a:cubicBezTo>
                  <a:cubicBezTo>
                    <a:pt x="229" y="490"/>
                    <a:pt x="246" y="473"/>
                    <a:pt x="246" y="445"/>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26" name="Rectangle 25">
            <a:extLst>
              <a:ext uri="{FF2B5EF4-FFF2-40B4-BE49-F238E27FC236}">
                <a16:creationId xmlns:a16="http://schemas.microsoft.com/office/drawing/2014/main" id="{68ABE1D2-79DF-4CF1-98C6-49994B3E91F1}"/>
              </a:ext>
            </a:extLst>
          </p:cNvPr>
          <p:cNvSpPr/>
          <p:nvPr/>
        </p:nvSpPr>
        <p:spPr>
          <a:xfrm>
            <a:off x="725295" y="2957855"/>
            <a:ext cx="2486407" cy="584775"/>
          </a:xfrm>
          <a:prstGeom prst="rect">
            <a:avLst/>
          </a:prstGeom>
        </p:spPr>
        <p:txBody>
          <a:bodyPr wrap="square" anchor="t">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effectLst/>
                <a:uLnTx/>
                <a:uFillTx/>
                <a:ea typeface="+mn-ea"/>
                <a:cs typeface="+mn-cs"/>
              </a:rPr>
              <a:t>Save money with unique offers and programs</a:t>
            </a:r>
          </a:p>
        </p:txBody>
      </p:sp>
      <p:grpSp>
        <p:nvGrpSpPr>
          <p:cNvPr id="15" name="Group 14" descr="shield with lock">
            <a:extLst>
              <a:ext uri="{FF2B5EF4-FFF2-40B4-BE49-F238E27FC236}">
                <a16:creationId xmlns:a16="http://schemas.microsoft.com/office/drawing/2014/main" id="{0CF8E5C5-5DDB-AF4C-AAB6-5B86B1229982}"/>
              </a:ext>
              <a:ext uri="{C183D7F6-B498-43B3-948B-1728B52AA6E4}">
                <adec:decorative xmlns:adec="http://schemas.microsoft.com/office/drawing/2017/decorative" val="0"/>
              </a:ext>
            </a:extLst>
          </p:cNvPr>
          <p:cNvGrpSpPr/>
          <p:nvPr/>
        </p:nvGrpSpPr>
        <p:grpSpPr>
          <a:xfrm>
            <a:off x="5556059" y="2182367"/>
            <a:ext cx="611423" cy="611423"/>
            <a:chOff x="5400300" y="2187629"/>
            <a:chExt cx="611423" cy="611423"/>
          </a:xfrm>
        </p:grpSpPr>
        <p:pic>
          <p:nvPicPr>
            <p:cNvPr id="109" name="Picture 108" descr="A shield lock">
              <a:extLst>
                <a:ext uri="{FF2B5EF4-FFF2-40B4-BE49-F238E27FC236}">
                  <a16:creationId xmlns:a16="http://schemas.microsoft.com/office/drawing/2014/main" id="{390E9D03-DCD3-4FB0-8289-4E8FB776A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0300" y="2187629"/>
              <a:ext cx="611423" cy="611423"/>
            </a:xfrm>
            <a:prstGeom prst="rect">
              <a:avLst/>
            </a:prstGeom>
          </p:spPr>
        </p:pic>
        <p:sp>
          <p:nvSpPr>
            <p:cNvPr id="11" name="Rectangle 10">
              <a:extLst>
                <a:ext uri="{FF2B5EF4-FFF2-40B4-BE49-F238E27FC236}">
                  <a16:creationId xmlns:a16="http://schemas.microsoft.com/office/drawing/2014/main" id="{027C761B-8BFD-BD45-8C77-3158854806B6}"/>
                </a:ext>
              </a:extLst>
            </p:cNvPr>
            <p:cNvSpPr/>
            <p:nvPr/>
          </p:nvSpPr>
          <p:spPr>
            <a:xfrm>
              <a:off x="5638800" y="2392656"/>
              <a:ext cx="152400" cy="2313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nvGrpSpPr>
            <p:cNvPr id="14" name="Group 13">
              <a:extLst>
                <a:ext uri="{FF2B5EF4-FFF2-40B4-BE49-F238E27FC236}">
                  <a16:creationId xmlns:a16="http://schemas.microsoft.com/office/drawing/2014/main" id="{4C5DE3E3-106E-BE4E-B425-D74A0AD8A487}"/>
                </a:ext>
              </a:extLst>
            </p:cNvPr>
            <p:cNvGrpSpPr/>
            <p:nvPr/>
          </p:nvGrpSpPr>
          <p:grpSpPr>
            <a:xfrm>
              <a:off x="5660614" y="2428845"/>
              <a:ext cx="90791" cy="155483"/>
              <a:chOff x="6447692" y="1992923"/>
              <a:chExt cx="155049" cy="265528"/>
            </a:xfrm>
          </p:grpSpPr>
          <p:sp>
            <p:nvSpPr>
              <p:cNvPr id="12" name="Oval 11">
                <a:extLst>
                  <a:ext uri="{FF2B5EF4-FFF2-40B4-BE49-F238E27FC236}">
                    <a16:creationId xmlns:a16="http://schemas.microsoft.com/office/drawing/2014/main" id="{FEFDB88A-F897-AF40-9898-78983FAE15F6}"/>
                  </a:ext>
                </a:extLst>
              </p:cNvPr>
              <p:cNvSpPr/>
              <p:nvPr/>
            </p:nvSpPr>
            <p:spPr>
              <a:xfrm>
                <a:off x="6447692" y="1992923"/>
                <a:ext cx="155049" cy="1550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3" name="Rectangle 12">
                <a:extLst>
                  <a:ext uri="{FF2B5EF4-FFF2-40B4-BE49-F238E27FC236}">
                    <a16:creationId xmlns:a16="http://schemas.microsoft.com/office/drawing/2014/main" id="{27946365-FB26-5640-866F-049026C76A2C}"/>
                  </a:ext>
                </a:extLst>
              </p:cNvPr>
              <p:cNvSpPr/>
              <p:nvPr/>
            </p:nvSpPr>
            <p:spPr>
              <a:xfrm>
                <a:off x="6502357" y="2063745"/>
                <a:ext cx="45719" cy="19470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grpSp>
      </p:grpSp>
      <p:sp>
        <p:nvSpPr>
          <p:cNvPr id="110" name="Rectangle 109">
            <a:extLst>
              <a:ext uri="{FF2B5EF4-FFF2-40B4-BE49-F238E27FC236}">
                <a16:creationId xmlns:a16="http://schemas.microsoft.com/office/drawing/2014/main" id="{8F268769-42A1-4115-8D63-3647918AB324}"/>
              </a:ext>
            </a:extLst>
          </p:cNvPr>
          <p:cNvSpPr/>
          <p:nvPr/>
        </p:nvSpPr>
        <p:spPr>
          <a:xfrm>
            <a:off x="3904380" y="2937839"/>
            <a:ext cx="3914775" cy="584775"/>
          </a:xfrm>
          <a:prstGeom prst="rect">
            <a:avLst/>
          </a:prstGeom>
        </p:spPr>
        <p:txBody>
          <a:bodyPr wrap="square" anchor="t">
            <a:spAutoFit/>
          </a:bodyPr>
          <a:lstStyle/>
          <a:p>
            <a:pPr marL="0" marR="0" lvl="0" indent="0" algn="ctr" defTabSz="914192"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dirty="0">
                <a:ln>
                  <a:noFill/>
                </a:ln>
                <a:effectLst/>
                <a:uLnTx/>
                <a:uFillTx/>
                <a:ea typeface="+mn-ea"/>
                <a:cs typeface="+mn-cs"/>
              </a:rPr>
              <a:t>Keep your assets safe with unmatched security &amp; built-in resiliency</a:t>
            </a:r>
          </a:p>
        </p:txBody>
      </p:sp>
      <p:grpSp>
        <p:nvGrpSpPr>
          <p:cNvPr id="3" name="Group 2" descr="Hand with idea lightbulb in it">
            <a:extLst>
              <a:ext uri="{FF2B5EF4-FFF2-40B4-BE49-F238E27FC236}">
                <a16:creationId xmlns:a16="http://schemas.microsoft.com/office/drawing/2014/main" id="{FA9C7891-C5A1-4C02-85FF-25DC5D869CD5}"/>
              </a:ext>
            </a:extLst>
          </p:cNvPr>
          <p:cNvGrpSpPr/>
          <p:nvPr/>
        </p:nvGrpSpPr>
        <p:grpSpPr>
          <a:xfrm>
            <a:off x="9677081" y="1993089"/>
            <a:ext cx="525355" cy="828862"/>
            <a:chOff x="9677081" y="1993089"/>
            <a:chExt cx="525355" cy="828862"/>
          </a:xfrm>
        </p:grpSpPr>
        <p:grpSp>
          <p:nvGrpSpPr>
            <p:cNvPr id="82" name="Group 13">
              <a:extLst>
                <a:ext uri="{FF2B5EF4-FFF2-40B4-BE49-F238E27FC236}">
                  <a16:creationId xmlns:a16="http://schemas.microsoft.com/office/drawing/2014/main" id="{B583BF1E-74F4-B64F-BC9B-757B11B364C0}"/>
                </a:ext>
                <a:ext uri="{C183D7F6-B498-43B3-948B-1728B52AA6E4}">
                  <adec:decorative xmlns:adec="http://schemas.microsoft.com/office/drawing/2017/decorative" val="1"/>
                </a:ext>
              </a:extLst>
            </p:cNvPr>
            <p:cNvGrpSpPr>
              <a:grpSpLocks noChangeAspect="1"/>
            </p:cNvGrpSpPr>
            <p:nvPr/>
          </p:nvGrpSpPr>
          <p:grpSpPr bwMode="auto">
            <a:xfrm>
              <a:off x="9752442" y="1993089"/>
              <a:ext cx="374696" cy="519579"/>
              <a:chOff x="1057" y="999"/>
              <a:chExt cx="225" cy="312"/>
            </a:xfrm>
          </p:grpSpPr>
          <p:sp>
            <p:nvSpPr>
              <p:cNvPr id="83" name="AutoShape 12">
                <a:extLst>
                  <a:ext uri="{FF2B5EF4-FFF2-40B4-BE49-F238E27FC236}">
                    <a16:creationId xmlns:a16="http://schemas.microsoft.com/office/drawing/2014/main" id="{CC650EDA-DA6F-EB4B-BF9E-3E23D27DBE22}"/>
                  </a:ext>
                </a:extLst>
              </p:cNvPr>
              <p:cNvSpPr>
                <a:spLocks noChangeAspect="1" noChangeArrowheads="1" noTextEdit="1"/>
              </p:cNvSpPr>
              <p:nvPr/>
            </p:nvSpPr>
            <p:spPr bwMode="auto">
              <a:xfrm>
                <a:off x="1057" y="999"/>
                <a:ext cx="22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Oval 14">
                <a:extLst>
                  <a:ext uri="{FF2B5EF4-FFF2-40B4-BE49-F238E27FC236}">
                    <a16:creationId xmlns:a16="http://schemas.microsoft.com/office/drawing/2014/main" id="{7A730AFE-DB29-BF44-874E-954998FF3204}"/>
                  </a:ext>
                </a:extLst>
              </p:cNvPr>
              <p:cNvSpPr>
                <a:spLocks noChangeArrowheads="1"/>
              </p:cNvSpPr>
              <p:nvPr/>
            </p:nvSpPr>
            <p:spPr bwMode="auto">
              <a:xfrm>
                <a:off x="1057" y="999"/>
                <a:ext cx="225" cy="224"/>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15">
                <a:extLst>
                  <a:ext uri="{FF2B5EF4-FFF2-40B4-BE49-F238E27FC236}">
                    <a16:creationId xmlns:a16="http://schemas.microsoft.com/office/drawing/2014/main" id="{196C7C0C-4457-3D49-ACB3-E72C52B5560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16">
                <a:extLst>
                  <a:ext uri="{FF2B5EF4-FFF2-40B4-BE49-F238E27FC236}">
                    <a16:creationId xmlns:a16="http://schemas.microsoft.com/office/drawing/2014/main" id="{42D2E7B2-7B14-2C40-B258-563EEADB12BD}"/>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solidFill>
                <a:schemeClr val="accent2"/>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7" name="Freeform 17">
                <a:extLst>
                  <a:ext uri="{FF2B5EF4-FFF2-40B4-BE49-F238E27FC236}">
                    <a16:creationId xmlns:a16="http://schemas.microsoft.com/office/drawing/2014/main" id="{A3231E4B-8039-EA49-A062-13018045BB54}"/>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1" name="Group 60">
              <a:extLst>
                <a:ext uri="{FF2B5EF4-FFF2-40B4-BE49-F238E27FC236}">
                  <a16:creationId xmlns:a16="http://schemas.microsoft.com/office/drawing/2014/main" id="{B3D9F546-BE19-4915-BB76-F962DDCE4D07}"/>
                </a:ext>
                <a:ext uri="{C183D7F6-B498-43B3-948B-1728B52AA6E4}">
                  <adec:decorative xmlns:adec="http://schemas.microsoft.com/office/drawing/2017/decorative" val="1"/>
                </a:ext>
              </a:extLst>
            </p:cNvPr>
            <p:cNvGrpSpPr/>
            <p:nvPr/>
          </p:nvGrpSpPr>
          <p:grpSpPr>
            <a:xfrm>
              <a:off x="9677081" y="2387402"/>
              <a:ext cx="525355" cy="434549"/>
              <a:chOff x="2433998" y="3057678"/>
              <a:chExt cx="592808" cy="490346"/>
            </a:xfrm>
          </p:grpSpPr>
          <p:sp>
            <p:nvSpPr>
              <p:cNvPr id="74" name="Freeform 24">
                <a:extLst>
                  <a:ext uri="{FF2B5EF4-FFF2-40B4-BE49-F238E27FC236}">
                    <a16:creationId xmlns:a16="http://schemas.microsoft.com/office/drawing/2014/main" id="{263FA2AF-4F08-4C4A-AD9D-A02AE32E32A2}"/>
                  </a:ext>
                </a:extLst>
              </p:cNvPr>
              <p:cNvSpPr>
                <a:spLocks/>
              </p:cNvSpPr>
              <p:nvPr/>
            </p:nvSpPr>
            <p:spPr bwMode="auto">
              <a:xfrm>
                <a:off x="2730438" y="3057678"/>
                <a:ext cx="124875" cy="32765"/>
              </a:xfrm>
              <a:custGeom>
                <a:avLst/>
                <a:gdLst>
                  <a:gd name="T0" fmla="*/ 97 w 97"/>
                  <a:gd name="T1" fmla="*/ 0 h 41"/>
                  <a:gd name="T2" fmla="*/ 69 w 97"/>
                  <a:gd name="T3" fmla="*/ 41 h 41"/>
                  <a:gd name="T4" fmla="*/ 33 w 97"/>
                  <a:gd name="T5" fmla="*/ 41 h 41"/>
                  <a:gd name="T6" fmla="*/ 0 w 97"/>
                  <a:gd name="T7" fmla="*/ 0 h 41"/>
                </a:gdLst>
                <a:ahLst/>
                <a:cxnLst>
                  <a:cxn ang="0">
                    <a:pos x="T0" y="T1"/>
                  </a:cxn>
                  <a:cxn ang="0">
                    <a:pos x="T2" y="T3"/>
                  </a:cxn>
                  <a:cxn ang="0">
                    <a:pos x="T4" y="T5"/>
                  </a:cxn>
                  <a:cxn ang="0">
                    <a:pos x="T6" y="T7"/>
                  </a:cxn>
                </a:cxnLst>
                <a:rect l="0" t="0" r="r" b="b"/>
                <a:pathLst>
                  <a:path w="97" h="41">
                    <a:moveTo>
                      <a:pt x="97" y="0"/>
                    </a:moveTo>
                    <a:lnTo>
                      <a:pt x="69" y="41"/>
                    </a:lnTo>
                    <a:lnTo>
                      <a:pt x="33" y="41"/>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63" name="Group 62">
                <a:extLst>
                  <a:ext uri="{FF2B5EF4-FFF2-40B4-BE49-F238E27FC236}">
                    <a16:creationId xmlns:a16="http://schemas.microsoft.com/office/drawing/2014/main" id="{ADABDFEB-DA66-4554-BC6B-3AB02F22C9E3}"/>
                  </a:ext>
                </a:extLst>
              </p:cNvPr>
              <p:cNvGrpSpPr/>
              <p:nvPr/>
            </p:nvGrpSpPr>
            <p:grpSpPr>
              <a:xfrm>
                <a:off x="2433998" y="3307615"/>
                <a:ext cx="592808" cy="240409"/>
                <a:chOff x="4132301" y="3119661"/>
                <a:chExt cx="793387" cy="321753"/>
              </a:xfrm>
            </p:grpSpPr>
            <p:sp>
              <p:nvSpPr>
                <p:cNvPr id="64" name="Freeform 5">
                  <a:extLst>
                    <a:ext uri="{FF2B5EF4-FFF2-40B4-BE49-F238E27FC236}">
                      <a16:creationId xmlns:a16="http://schemas.microsoft.com/office/drawing/2014/main" id="{CFA3255F-3727-46DA-96B3-B59CFAE64046}"/>
                    </a:ext>
                  </a:extLst>
                </p:cNvPr>
                <p:cNvSpPr>
                  <a:spLocks/>
                </p:cNvSpPr>
                <p:nvPr/>
              </p:nvSpPr>
              <p:spPr bwMode="auto">
                <a:xfrm>
                  <a:off x="4242875" y="3119661"/>
                  <a:ext cx="682813" cy="243544"/>
                </a:xfrm>
                <a:custGeom>
                  <a:avLst/>
                  <a:gdLst>
                    <a:gd name="T0" fmla="*/ 477 w 964"/>
                    <a:gd name="T1" fmla="*/ 315 h 342"/>
                    <a:gd name="T2" fmla="*/ 490 w 964"/>
                    <a:gd name="T3" fmla="*/ 314 h 342"/>
                    <a:gd name="T4" fmla="*/ 681 w 964"/>
                    <a:gd name="T5" fmla="*/ 313 h 342"/>
                    <a:gd name="T6" fmla="*/ 790 w 964"/>
                    <a:gd name="T7" fmla="*/ 275 h 342"/>
                    <a:gd name="T8" fmla="*/ 928 w 964"/>
                    <a:gd name="T9" fmla="*/ 161 h 342"/>
                    <a:gd name="T10" fmla="*/ 961 w 964"/>
                    <a:gd name="T11" fmla="*/ 111 h 342"/>
                    <a:gd name="T12" fmla="*/ 950 w 964"/>
                    <a:gd name="T13" fmla="*/ 62 h 342"/>
                    <a:gd name="T14" fmla="*/ 875 w 964"/>
                    <a:gd name="T15" fmla="*/ 54 h 342"/>
                    <a:gd name="T16" fmla="*/ 827 w 964"/>
                    <a:gd name="T17" fmla="*/ 95 h 342"/>
                    <a:gd name="T18" fmla="*/ 763 w 964"/>
                    <a:gd name="T19" fmla="*/ 150 h 342"/>
                    <a:gd name="T20" fmla="*/ 626 w 964"/>
                    <a:gd name="T21" fmla="*/ 190 h 342"/>
                    <a:gd name="T22" fmla="*/ 532 w 964"/>
                    <a:gd name="T23" fmla="*/ 177 h 342"/>
                    <a:gd name="T24" fmla="*/ 476 w 964"/>
                    <a:gd name="T25" fmla="*/ 159 h 342"/>
                    <a:gd name="T26" fmla="*/ 473 w 964"/>
                    <a:gd name="T27" fmla="*/ 143 h 342"/>
                    <a:gd name="T28" fmla="*/ 481 w 964"/>
                    <a:gd name="T29" fmla="*/ 140 h 342"/>
                    <a:gd name="T30" fmla="*/ 557 w 964"/>
                    <a:gd name="T31" fmla="*/ 148 h 342"/>
                    <a:gd name="T32" fmla="*/ 652 w 964"/>
                    <a:gd name="T33" fmla="*/ 155 h 342"/>
                    <a:gd name="T34" fmla="*/ 710 w 964"/>
                    <a:gd name="T35" fmla="*/ 109 h 342"/>
                    <a:gd name="T36" fmla="*/ 681 w 964"/>
                    <a:gd name="T37" fmla="*/ 49 h 342"/>
                    <a:gd name="T38" fmla="*/ 616 w 964"/>
                    <a:gd name="T39" fmla="*/ 35 h 342"/>
                    <a:gd name="T40" fmla="*/ 298 w 964"/>
                    <a:gd name="T41" fmla="*/ 2 h 342"/>
                    <a:gd name="T42" fmla="*/ 232 w 964"/>
                    <a:gd name="T43" fmla="*/ 11 h 342"/>
                    <a:gd name="T44" fmla="*/ 160 w 964"/>
                    <a:gd name="T45" fmla="*/ 51 h 342"/>
                    <a:gd name="T46" fmla="*/ 4 w 964"/>
                    <a:gd name="T47" fmla="*/ 141 h 342"/>
                    <a:gd name="T48" fmla="*/ 2 w 964"/>
                    <a:gd name="T49" fmla="*/ 150 h 342"/>
                    <a:gd name="T50" fmla="*/ 23 w 964"/>
                    <a:gd name="T51" fmla="*/ 189 h 342"/>
                    <a:gd name="T52" fmla="*/ 148 w 964"/>
                    <a:gd name="T53" fmla="*/ 339 h 342"/>
                    <a:gd name="T54" fmla="*/ 157 w 964"/>
                    <a:gd name="T55" fmla="*/ 341 h 342"/>
                    <a:gd name="T56" fmla="*/ 184 w 964"/>
                    <a:gd name="T57" fmla="*/ 330 h 342"/>
                    <a:gd name="T58" fmla="*/ 289 w 964"/>
                    <a:gd name="T59" fmla="*/ 311 h 342"/>
                    <a:gd name="T60" fmla="*/ 477 w 964"/>
                    <a:gd name="T61" fmla="*/ 315 h 342"/>
                    <a:gd name="T62" fmla="*/ 477 w 964"/>
                    <a:gd name="T63" fmla="*/ 314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4" h="342">
                      <a:moveTo>
                        <a:pt x="477" y="315"/>
                      </a:moveTo>
                      <a:cubicBezTo>
                        <a:pt x="490" y="314"/>
                        <a:pt x="490" y="314"/>
                        <a:pt x="490" y="314"/>
                      </a:cubicBezTo>
                      <a:cubicBezTo>
                        <a:pt x="554" y="314"/>
                        <a:pt x="618" y="314"/>
                        <a:pt x="681" y="313"/>
                      </a:cubicBezTo>
                      <a:cubicBezTo>
                        <a:pt x="722" y="313"/>
                        <a:pt x="759" y="302"/>
                        <a:pt x="790" y="275"/>
                      </a:cubicBezTo>
                      <a:cubicBezTo>
                        <a:pt x="836" y="237"/>
                        <a:pt x="882" y="199"/>
                        <a:pt x="928" y="161"/>
                      </a:cubicBezTo>
                      <a:cubicBezTo>
                        <a:pt x="944" y="147"/>
                        <a:pt x="957" y="132"/>
                        <a:pt x="961" y="111"/>
                      </a:cubicBezTo>
                      <a:cubicBezTo>
                        <a:pt x="964" y="93"/>
                        <a:pt x="963" y="76"/>
                        <a:pt x="950" y="62"/>
                      </a:cubicBezTo>
                      <a:cubicBezTo>
                        <a:pt x="933" y="44"/>
                        <a:pt x="899" y="39"/>
                        <a:pt x="875" y="54"/>
                      </a:cubicBezTo>
                      <a:cubicBezTo>
                        <a:pt x="858" y="66"/>
                        <a:pt x="843" y="81"/>
                        <a:pt x="827" y="95"/>
                      </a:cubicBezTo>
                      <a:cubicBezTo>
                        <a:pt x="805" y="113"/>
                        <a:pt x="785" y="134"/>
                        <a:pt x="763" y="150"/>
                      </a:cubicBezTo>
                      <a:cubicBezTo>
                        <a:pt x="722" y="180"/>
                        <a:pt x="676" y="195"/>
                        <a:pt x="626" y="190"/>
                      </a:cubicBezTo>
                      <a:cubicBezTo>
                        <a:pt x="594" y="188"/>
                        <a:pt x="563" y="183"/>
                        <a:pt x="532" y="177"/>
                      </a:cubicBezTo>
                      <a:cubicBezTo>
                        <a:pt x="513" y="173"/>
                        <a:pt x="494" y="166"/>
                        <a:pt x="476" y="159"/>
                      </a:cubicBezTo>
                      <a:cubicBezTo>
                        <a:pt x="468" y="156"/>
                        <a:pt x="474" y="149"/>
                        <a:pt x="473" y="143"/>
                      </a:cubicBezTo>
                      <a:cubicBezTo>
                        <a:pt x="473" y="142"/>
                        <a:pt x="478" y="140"/>
                        <a:pt x="481" y="140"/>
                      </a:cubicBezTo>
                      <a:cubicBezTo>
                        <a:pt x="506" y="143"/>
                        <a:pt x="532" y="146"/>
                        <a:pt x="557" y="148"/>
                      </a:cubicBezTo>
                      <a:cubicBezTo>
                        <a:pt x="589" y="151"/>
                        <a:pt x="621" y="155"/>
                        <a:pt x="652" y="155"/>
                      </a:cubicBezTo>
                      <a:cubicBezTo>
                        <a:pt x="680" y="156"/>
                        <a:pt x="703" y="136"/>
                        <a:pt x="710" y="109"/>
                      </a:cubicBezTo>
                      <a:cubicBezTo>
                        <a:pt x="717" y="82"/>
                        <a:pt x="707" y="58"/>
                        <a:pt x="681" y="49"/>
                      </a:cubicBezTo>
                      <a:cubicBezTo>
                        <a:pt x="660" y="41"/>
                        <a:pt x="638" y="37"/>
                        <a:pt x="616" y="35"/>
                      </a:cubicBezTo>
                      <a:cubicBezTo>
                        <a:pt x="510" y="23"/>
                        <a:pt x="404" y="13"/>
                        <a:pt x="298" y="2"/>
                      </a:cubicBezTo>
                      <a:cubicBezTo>
                        <a:pt x="275" y="0"/>
                        <a:pt x="253" y="0"/>
                        <a:pt x="232" y="11"/>
                      </a:cubicBezTo>
                      <a:cubicBezTo>
                        <a:pt x="208" y="24"/>
                        <a:pt x="184" y="37"/>
                        <a:pt x="160" y="51"/>
                      </a:cubicBezTo>
                      <a:cubicBezTo>
                        <a:pt x="108" y="81"/>
                        <a:pt x="56" y="111"/>
                        <a:pt x="4" y="141"/>
                      </a:cubicBezTo>
                      <a:cubicBezTo>
                        <a:pt x="0" y="144"/>
                        <a:pt x="0" y="146"/>
                        <a:pt x="2" y="150"/>
                      </a:cubicBezTo>
                      <a:cubicBezTo>
                        <a:pt x="9" y="163"/>
                        <a:pt x="16" y="176"/>
                        <a:pt x="23" y="189"/>
                      </a:cubicBezTo>
                      <a:cubicBezTo>
                        <a:pt x="57" y="246"/>
                        <a:pt x="99" y="296"/>
                        <a:pt x="148" y="339"/>
                      </a:cubicBezTo>
                      <a:cubicBezTo>
                        <a:pt x="150" y="341"/>
                        <a:pt x="154" y="342"/>
                        <a:pt x="157" y="341"/>
                      </a:cubicBezTo>
                      <a:cubicBezTo>
                        <a:pt x="166" y="338"/>
                        <a:pt x="175" y="333"/>
                        <a:pt x="184" y="330"/>
                      </a:cubicBezTo>
                      <a:cubicBezTo>
                        <a:pt x="218" y="317"/>
                        <a:pt x="253" y="311"/>
                        <a:pt x="289" y="311"/>
                      </a:cubicBezTo>
                      <a:cubicBezTo>
                        <a:pt x="352" y="312"/>
                        <a:pt x="414" y="314"/>
                        <a:pt x="477" y="315"/>
                      </a:cubicBezTo>
                      <a:cubicBezTo>
                        <a:pt x="477" y="315"/>
                        <a:pt x="477" y="314"/>
                        <a:pt x="477" y="314"/>
                      </a:cubicBezTo>
                    </a:path>
                  </a:pathLst>
                </a:custGeom>
                <a:solidFill>
                  <a:srgbClr val="0078D4"/>
                </a:solidFill>
                <a:ln>
                  <a:noFill/>
                </a:ln>
              </p:spPr>
              <p:txBody>
                <a:bodyPr vert="horz" wrap="square" lIns="91427" tIns="45713" rIns="91427" bIns="45713" numCol="1" anchor="t" anchorCtr="0" compatLnSpc="1">
                  <a:prstTxWarp prst="textNoShape">
                    <a:avLst/>
                  </a:prstTxWarp>
                </a:bodyP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66" name="Group 65">
                  <a:extLst>
                    <a:ext uri="{FF2B5EF4-FFF2-40B4-BE49-F238E27FC236}">
                      <a16:creationId xmlns:a16="http://schemas.microsoft.com/office/drawing/2014/main" id="{7F8614A7-9140-41F5-97C0-AE6814341AF1}"/>
                    </a:ext>
                  </a:extLst>
                </p:cNvPr>
                <p:cNvGrpSpPr/>
                <p:nvPr/>
              </p:nvGrpSpPr>
              <p:grpSpPr>
                <a:xfrm rot="20706135">
                  <a:off x="4132301" y="3155903"/>
                  <a:ext cx="203532" cy="285511"/>
                  <a:chOff x="4170378" y="3096101"/>
                  <a:chExt cx="114300" cy="160338"/>
                </a:xfrm>
              </p:grpSpPr>
              <p:sp>
                <p:nvSpPr>
                  <p:cNvPr id="67" name="Freeform 75">
                    <a:extLst>
                      <a:ext uri="{FF2B5EF4-FFF2-40B4-BE49-F238E27FC236}">
                        <a16:creationId xmlns:a16="http://schemas.microsoft.com/office/drawing/2014/main" id="{137481FA-7BB4-492D-BAC2-39A0582DEB38}"/>
                      </a:ext>
                    </a:extLst>
                  </p:cNvPr>
                  <p:cNvSpPr>
                    <a:spLocks/>
                  </p:cNvSpPr>
                  <p:nvPr/>
                </p:nvSpPr>
                <p:spPr bwMode="auto">
                  <a:xfrm>
                    <a:off x="4170378" y="3096101"/>
                    <a:ext cx="114300" cy="160338"/>
                  </a:xfrm>
                  <a:custGeom>
                    <a:avLst/>
                    <a:gdLst>
                      <a:gd name="T0" fmla="*/ 13 w 72"/>
                      <a:gd name="T1" fmla="*/ 101 h 101"/>
                      <a:gd name="T2" fmla="*/ 72 w 72"/>
                      <a:gd name="T3" fmla="*/ 101 h 101"/>
                      <a:gd name="T4" fmla="*/ 72 w 72"/>
                      <a:gd name="T5" fmla="*/ 0 h 101"/>
                      <a:gd name="T6" fmla="*/ 0 w 72"/>
                      <a:gd name="T7" fmla="*/ 0 h 101"/>
                      <a:gd name="T8" fmla="*/ 13 w 72"/>
                      <a:gd name="T9" fmla="*/ 101 h 101"/>
                    </a:gdLst>
                    <a:ahLst/>
                    <a:cxnLst>
                      <a:cxn ang="0">
                        <a:pos x="T0" y="T1"/>
                      </a:cxn>
                      <a:cxn ang="0">
                        <a:pos x="T2" y="T3"/>
                      </a:cxn>
                      <a:cxn ang="0">
                        <a:pos x="T4" y="T5"/>
                      </a:cxn>
                      <a:cxn ang="0">
                        <a:pos x="T6" y="T7"/>
                      </a:cxn>
                      <a:cxn ang="0">
                        <a:pos x="T8" y="T9"/>
                      </a:cxn>
                    </a:cxnLst>
                    <a:rect l="0" t="0" r="r" b="b"/>
                    <a:pathLst>
                      <a:path w="72" h="101">
                        <a:moveTo>
                          <a:pt x="13" y="101"/>
                        </a:moveTo>
                        <a:lnTo>
                          <a:pt x="72" y="101"/>
                        </a:lnTo>
                        <a:lnTo>
                          <a:pt x="72" y="0"/>
                        </a:lnTo>
                        <a:lnTo>
                          <a:pt x="0" y="0"/>
                        </a:lnTo>
                        <a:lnTo>
                          <a:pt x="13" y="10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68" name="Oval 76">
                    <a:extLst>
                      <a:ext uri="{FF2B5EF4-FFF2-40B4-BE49-F238E27FC236}">
                        <a16:creationId xmlns:a16="http://schemas.microsoft.com/office/drawing/2014/main" id="{7D868C6B-48A8-4A85-B870-CD2A7BA920A8}"/>
                      </a:ext>
                    </a:extLst>
                  </p:cNvPr>
                  <p:cNvSpPr>
                    <a:spLocks noChangeArrowheads="1"/>
                  </p:cNvSpPr>
                  <p:nvPr/>
                </p:nvSpPr>
                <p:spPr bwMode="auto">
                  <a:xfrm>
                    <a:off x="4257259" y="3143448"/>
                    <a:ext cx="22225" cy="22225"/>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grpSp>
        </p:grpSp>
      </p:grpSp>
      <p:sp>
        <p:nvSpPr>
          <p:cNvPr id="60" name="Rectangle 59">
            <a:extLst>
              <a:ext uri="{FF2B5EF4-FFF2-40B4-BE49-F238E27FC236}">
                <a16:creationId xmlns:a16="http://schemas.microsoft.com/office/drawing/2014/main" id="{AD425843-254C-4F61-9576-9E443E3913F6}"/>
              </a:ext>
            </a:extLst>
          </p:cNvPr>
          <p:cNvSpPr/>
          <p:nvPr/>
        </p:nvSpPr>
        <p:spPr>
          <a:xfrm>
            <a:off x="8408765" y="2932312"/>
            <a:ext cx="2947987" cy="584775"/>
          </a:xfrm>
          <a:prstGeom prst="rect">
            <a:avLst/>
          </a:prstGeom>
        </p:spPr>
        <p:txBody>
          <a:bodyPr wrap="square" anchor="t">
            <a:spAutoFit/>
          </a:bodyPr>
          <a:lstStyle/>
          <a:p>
            <a:pPr marL="0" marR="0" lvl="0" indent="0" algn="ctr" defTabSz="914192" rtl="0" eaLnBrk="1" fontAlgn="auto" latinLnBrk="0" hangingPunct="1">
              <a:lnSpc>
                <a:spcPct val="100000"/>
              </a:lnSpc>
              <a:spcBef>
                <a:spcPts val="600"/>
              </a:spcBef>
              <a:spcAft>
                <a:spcPts val="600"/>
              </a:spcAft>
              <a:buClrTx/>
              <a:buSzTx/>
              <a:buFontTx/>
              <a:buNone/>
              <a:tabLst/>
              <a:defRPr/>
            </a:pPr>
            <a:r>
              <a:rPr kumimoji="0" lang="en-US" sz="1600" b="0" i="0" u="none" strike="noStrike" kern="0" cap="none" spc="0" normalizeH="0" baseline="0" noProof="0" dirty="0">
                <a:ln>
                  <a:noFill/>
                </a:ln>
                <a:effectLst/>
                <a:uLnTx/>
                <a:uFillTx/>
                <a:ea typeface="+mn-ea"/>
                <a:cs typeface="+mn-cs"/>
              </a:rPr>
              <a:t> </a:t>
            </a:r>
            <a:r>
              <a:rPr kumimoji="0" lang="en-US" sz="1600" b="0" i="0" u="none" strike="noStrike" kern="1200" cap="none" spc="0" normalizeH="0" baseline="0" noProof="0" dirty="0">
                <a:ln>
                  <a:noFill/>
                </a:ln>
                <a:effectLst/>
                <a:uLnTx/>
                <a:uFillTx/>
                <a:ea typeface="+mn-ea"/>
                <a:cs typeface="+mn-cs"/>
              </a:rPr>
              <a:t>Scale your applications and workloads on-demand </a:t>
            </a:r>
          </a:p>
        </p:txBody>
      </p:sp>
      <p:sp>
        <p:nvSpPr>
          <p:cNvPr id="96" name="Left Bracket 95">
            <a:extLst>
              <a:ext uri="{FF2B5EF4-FFF2-40B4-BE49-F238E27FC236}">
                <a16:creationId xmlns:a16="http://schemas.microsoft.com/office/drawing/2014/main" id="{9F8E20E5-BA3E-4418-90F8-7EF2307DF5ED}"/>
              </a:ext>
              <a:ext uri="{C183D7F6-B498-43B3-948B-1728B52AA6E4}">
                <adec:decorative xmlns:adec="http://schemas.microsoft.com/office/drawing/2017/decorative" val="1"/>
              </a:ext>
            </a:extLst>
          </p:cNvPr>
          <p:cNvSpPr/>
          <p:nvPr/>
        </p:nvSpPr>
        <p:spPr>
          <a:xfrm rot="16200000">
            <a:off x="5456696" y="518665"/>
            <a:ext cx="842921" cy="8123295"/>
          </a:xfrm>
          <a:prstGeom prst="leftBracket">
            <a:avLst>
              <a:gd name="adj" fmla="val 2963"/>
            </a:avLst>
          </a:prstGeom>
          <a:noFill/>
          <a:ln w="25400" cap="flat" cmpd="sng" algn="ctr">
            <a:solidFill>
              <a:srgbClr val="0078D4"/>
            </a:solidFill>
            <a:prstDash val="solid"/>
            <a:headEnd type="none" w="lg" len="med"/>
            <a:tailEnd type="none" w="lg" len="med"/>
          </a:ln>
          <a:effectLst/>
        </p:spPr>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1A1A1A"/>
              </a:solidFill>
              <a:effectLst/>
              <a:uLnTx/>
              <a:uFillTx/>
              <a:latin typeface="Segoe UI"/>
              <a:ea typeface="+mn-ea"/>
              <a:cs typeface="+mn-cs"/>
            </a:endParaRPr>
          </a:p>
        </p:txBody>
      </p:sp>
      <p:grpSp>
        <p:nvGrpSpPr>
          <p:cNvPr id="4" name="Group 3" descr="two buildings, one on premises and one with a cloud over it">
            <a:extLst>
              <a:ext uri="{FF2B5EF4-FFF2-40B4-BE49-F238E27FC236}">
                <a16:creationId xmlns:a16="http://schemas.microsoft.com/office/drawing/2014/main" id="{9C7AF71E-43CF-40DE-8209-6D558769AB8F}"/>
              </a:ext>
            </a:extLst>
          </p:cNvPr>
          <p:cNvGrpSpPr/>
          <p:nvPr/>
        </p:nvGrpSpPr>
        <p:grpSpPr>
          <a:xfrm>
            <a:off x="5568723" y="4107991"/>
            <a:ext cx="549686" cy="495302"/>
            <a:chOff x="5568723" y="4107991"/>
            <a:chExt cx="549686" cy="495302"/>
          </a:xfrm>
        </p:grpSpPr>
        <p:grpSp>
          <p:nvGrpSpPr>
            <p:cNvPr id="2" name="Group 1" descr="Buildings representing on-premises and cloud">
              <a:extLst>
                <a:ext uri="{FF2B5EF4-FFF2-40B4-BE49-F238E27FC236}">
                  <a16:creationId xmlns:a16="http://schemas.microsoft.com/office/drawing/2014/main" id="{0EC383AA-F66A-B147-B1A7-26917E64A2E5}"/>
                </a:ext>
                <a:ext uri="{C183D7F6-B498-43B3-948B-1728B52AA6E4}">
                  <adec:decorative xmlns:adec="http://schemas.microsoft.com/office/drawing/2017/decorative" val="0"/>
                </a:ext>
              </a:extLst>
            </p:cNvPr>
            <p:cNvGrpSpPr/>
            <p:nvPr/>
          </p:nvGrpSpPr>
          <p:grpSpPr>
            <a:xfrm>
              <a:off x="5623109" y="4107991"/>
              <a:ext cx="495300" cy="495301"/>
              <a:chOff x="5412965" y="4110063"/>
              <a:chExt cx="495300" cy="495301"/>
            </a:xfrm>
          </p:grpSpPr>
          <p:sp>
            <p:nvSpPr>
              <p:cNvPr id="42" name="Rectangle 5">
                <a:extLst>
                  <a:ext uri="{FF2B5EF4-FFF2-40B4-BE49-F238E27FC236}">
                    <a16:creationId xmlns:a16="http://schemas.microsoft.com/office/drawing/2014/main" id="{CE8940B8-9B2B-144D-A14E-F5072F87501C}"/>
                  </a:ext>
                </a:extLst>
              </p:cNvPr>
              <p:cNvSpPr>
                <a:spLocks noChangeArrowheads="1"/>
              </p:cNvSpPr>
              <p:nvPr/>
            </p:nvSpPr>
            <p:spPr bwMode="auto">
              <a:xfrm>
                <a:off x="5412965" y="4110063"/>
                <a:ext cx="247650" cy="495300"/>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3" name="Rectangle 42">
                <a:extLst>
                  <a:ext uri="{FF2B5EF4-FFF2-40B4-BE49-F238E27FC236}">
                    <a16:creationId xmlns:a16="http://schemas.microsoft.com/office/drawing/2014/main" id="{BB7E2B5F-F9E3-2444-B5E5-E5D0CD563F62}"/>
                  </a:ext>
                </a:extLst>
              </p:cNvPr>
              <p:cNvSpPr>
                <a:spLocks noChangeArrowheads="1"/>
              </p:cNvSpPr>
              <p:nvPr/>
            </p:nvSpPr>
            <p:spPr bwMode="auto">
              <a:xfrm>
                <a:off x="5660615" y="4357713"/>
                <a:ext cx="247650" cy="24765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4" name="Rectangle 7">
                <a:extLst>
                  <a:ext uri="{FF2B5EF4-FFF2-40B4-BE49-F238E27FC236}">
                    <a16:creationId xmlns:a16="http://schemas.microsoft.com/office/drawing/2014/main" id="{C15EA86A-B44F-EA4A-9907-8732884FA7A0}"/>
                  </a:ext>
                </a:extLst>
              </p:cNvPr>
              <p:cNvSpPr>
                <a:spLocks noChangeArrowheads="1"/>
              </p:cNvSpPr>
              <p:nvPr/>
            </p:nvSpPr>
            <p:spPr bwMode="auto">
              <a:xfrm>
                <a:off x="5474878" y="4187851"/>
                <a:ext cx="46038" cy="4603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5" name="Rectangle 8">
                <a:extLst>
                  <a:ext uri="{FF2B5EF4-FFF2-40B4-BE49-F238E27FC236}">
                    <a16:creationId xmlns:a16="http://schemas.microsoft.com/office/drawing/2014/main" id="{607C01E8-6690-7C44-9AF1-3B887EF035E1}"/>
                  </a:ext>
                </a:extLst>
              </p:cNvPr>
              <p:cNvSpPr>
                <a:spLocks noChangeArrowheads="1"/>
              </p:cNvSpPr>
              <p:nvPr/>
            </p:nvSpPr>
            <p:spPr bwMode="auto">
              <a:xfrm>
                <a:off x="5552665" y="4187851"/>
                <a:ext cx="46038" cy="4603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6" name="Rectangle 9">
                <a:extLst>
                  <a:ext uri="{FF2B5EF4-FFF2-40B4-BE49-F238E27FC236}">
                    <a16:creationId xmlns:a16="http://schemas.microsoft.com/office/drawing/2014/main" id="{CA96BEAD-277E-B742-A164-937993029DE8}"/>
                  </a:ext>
                </a:extLst>
              </p:cNvPr>
              <p:cNvSpPr>
                <a:spLocks noChangeArrowheads="1"/>
              </p:cNvSpPr>
              <p:nvPr/>
            </p:nvSpPr>
            <p:spPr bwMode="auto">
              <a:xfrm>
                <a:off x="5474878" y="4264051"/>
                <a:ext cx="46038" cy="4762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7" name="Rectangle 10">
                <a:extLst>
                  <a:ext uri="{FF2B5EF4-FFF2-40B4-BE49-F238E27FC236}">
                    <a16:creationId xmlns:a16="http://schemas.microsoft.com/office/drawing/2014/main" id="{B0BDB795-10C8-6149-8305-4A2961BF8623}"/>
                  </a:ext>
                </a:extLst>
              </p:cNvPr>
              <p:cNvSpPr>
                <a:spLocks noChangeArrowheads="1"/>
              </p:cNvSpPr>
              <p:nvPr/>
            </p:nvSpPr>
            <p:spPr bwMode="auto">
              <a:xfrm>
                <a:off x="5552665" y="4264051"/>
                <a:ext cx="46038" cy="4762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8" name="Rectangle 11">
                <a:extLst>
                  <a:ext uri="{FF2B5EF4-FFF2-40B4-BE49-F238E27FC236}">
                    <a16:creationId xmlns:a16="http://schemas.microsoft.com/office/drawing/2014/main" id="{32DD462B-DF79-9748-B023-6FDB191D8406}"/>
                  </a:ext>
                </a:extLst>
              </p:cNvPr>
              <p:cNvSpPr>
                <a:spLocks noChangeArrowheads="1"/>
              </p:cNvSpPr>
              <p:nvPr/>
            </p:nvSpPr>
            <p:spPr bwMode="auto">
              <a:xfrm>
                <a:off x="5474878" y="4341838"/>
                <a:ext cx="46038" cy="4762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9" name="Rectangle 12">
                <a:extLst>
                  <a:ext uri="{FF2B5EF4-FFF2-40B4-BE49-F238E27FC236}">
                    <a16:creationId xmlns:a16="http://schemas.microsoft.com/office/drawing/2014/main" id="{784F8F5E-DC97-5B49-9867-AC7BF2C046E9}"/>
                  </a:ext>
                </a:extLst>
              </p:cNvPr>
              <p:cNvSpPr>
                <a:spLocks noChangeArrowheads="1"/>
              </p:cNvSpPr>
              <p:nvPr/>
            </p:nvSpPr>
            <p:spPr bwMode="auto">
              <a:xfrm>
                <a:off x="5552665" y="4341838"/>
                <a:ext cx="46038" cy="4762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0" name="Rectangle 13">
                <a:extLst>
                  <a:ext uri="{FF2B5EF4-FFF2-40B4-BE49-F238E27FC236}">
                    <a16:creationId xmlns:a16="http://schemas.microsoft.com/office/drawing/2014/main" id="{704D0EB5-A5EA-224F-8D72-8F29FF1DF4A0}"/>
                  </a:ext>
                </a:extLst>
              </p:cNvPr>
              <p:cNvSpPr>
                <a:spLocks noChangeArrowheads="1"/>
              </p:cNvSpPr>
              <p:nvPr/>
            </p:nvSpPr>
            <p:spPr bwMode="auto">
              <a:xfrm>
                <a:off x="5474878" y="4419626"/>
                <a:ext cx="46038" cy="4603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1" name="Rectangle 14">
                <a:extLst>
                  <a:ext uri="{FF2B5EF4-FFF2-40B4-BE49-F238E27FC236}">
                    <a16:creationId xmlns:a16="http://schemas.microsoft.com/office/drawing/2014/main" id="{D8446E7B-6AA4-DB49-88DD-894815DEF29B}"/>
                  </a:ext>
                </a:extLst>
              </p:cNvPr>
              <p:cNvSpPr>
                <a:spLocks noChangeArrowheads="1"/>
              </p:cNvSpPr>
              <p:nvPr/>
            </p:nvSpPr>
            <p:spPr bwMode="auto">
              <a:xfrm>
                <a:off x="5552665" y="4419626"/>
                <a:ext cx="46038" cy="4603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3" name="Rectangle 15">
                <a:extLst>
                  <a:ext uri="{FF2B5EF4-FFF2-40B4-BE49-F238E27FC236}">
                    <a16:creationId xmlns:a16="http://schemas.microsoft.com/office/drawing/2014/main" id="{529AF445-45A5-A046-84D5-BA6501F120FC}"/>
                  </a:ext>
                </a:extLst>
              </p:cNvPr>
              <p:cNvSpPr>
                <a:spLocks noChangeArrowheads="1"/>
              </p:cNvSpPr>
              <p:nvPr/>
            </p:nvSpPr>
            <p:spPr bwMode="auto">
              <a:xfrm>
                <a:off x="5506628" y="4543451"/>
                <a:ext cx="60325" cy="61913"/>
              </a:xfrm>
              <a:prstGeom prst="rect">
                <a:avLst/>
              </a:prstGeom>
              <a:solidFill>
                <a:srgbClr val="F8F7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4" name="Rectangle 16">
                <a:extLst>
                  <a:ext uri="{FF2B5EF4-FFF2-40B4-BE49-F238E27FC236}">
                    <a16:creationId xmlns:a16="http://schemas.microsoft.com/office/drawing/2014/main" id="{137D732C-1145-8B49-884C-9565639999AE}"/>
                  </a:ext>
                </a:extLst>
              </p:cNvPr>
              <p:cNvSpPr>
                <a:spLocks noChangeArrowheads="1"/>
              </p:cNvSpPr>
              <p:nvPr/>
            </p:nvSpPr>
            <p:spPr bwMode="auto">
              <a:xfrm>
                <a:off x="5722528" y="4419626"/>
                <a:ext cx="46038" cy="4603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5" name="Rectangle 17">
                <a:extLst>
                  <a:ext uri="{FF2B5EF4-FFF2-40B4-BE49-F238E27FC236}">
                    <a16:creationId xmlns:a16="http://schemas.microsoft.com/office/drawing/2014/main" id="{E2CF95FB-5B51-8A4B-8973-1DDE4B3CD301}"/>
                  </a:ext>
                </a:extLst>
              </p:cNvPr>
              <p:cNvSpPr>
                <a:spLocks noChangeArrowheads="1"/>
              </p:cNvSpPr>
              <p:nvPr/>
            </p:nvSpPr>
            <p:spPr bwMode="auto">
              <a:xfrm>
                <a:off x="5800315" y="4419626"/>
                <a:ext cx="46038" cy="4603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6" name="Rectangle 18">
                <a:extLst>
                  <a:ext uri="{FF2B5EF4-FFF2-40B4-BE49-F238E27FC236}">
                    <a16:creationId xmlns:a16="http://schemas.microsoft.com/office/drawing/2014/main" id="{2433377D-0EE4-6441-8F52-F6F15DA20C32}"/>
                  </a:ext>
                </a:extLst>
              </p:cNvPr>
              <p:cNvSpPr>
                <a:spLocks noChangeArrowheads="1"/>
              </p:cNvSpPr>
              <p:nvPr/>
            </p:nvSpPr>
            <p:spPr bwMode="auto">
              <a:xfrm>
                <a:off x="5752690" y="4543451"/>
                <a:ext cx="63500" cy="61913"/>
              </a:xfrm>
              <a:prstGeom prst="rect">
                <a:avLst/>
              </a:prstGeom>
              <a:solidFill>
                <a:srgbClr val="F8F7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7" name="Oval 19">
                <a:extLst>
                  <a:ext uri="{FF2B5EF4-FFF2-40B4-BE49-F238E27FC236}">
                    <a16:creationId xmlns:a16="http://schemas.microsoft.com/office/drawing/2014/main" id="{7350B822-970A-FD40-B9F4-ADB78FEA1355}"/>
                  </a:ext>
                </a:extLst>
              </p:cNvPr>
              <p:cNvSpPr>
                <a:spLocks noChangeArrowheads="1"/>
              </p:cNvSpPr>
              <p:nvPr/>
            </p:nvSpPr>
            <p:spPr bwMode="auto">
              <a:xfrm>
                <a:off x="5722528" y="4187851"/>
                <a:ext cx="93663" cy="92075"/>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8" name="Freeform 20">
                <a:extLst>
                  <a:ext uri="{FF2B5EF4-FFF2-40B4-BE49-F238E27FC236}">
                    <a16:creationId xmlns:a16="http://schemas.microsoft.com/office/drawing/2014/main" id="{1FC4F994-D99E-C446-94B6-3DF7DB891F33}"/>
                  </a:ext>
                </a:extLst>
              </p:cNvPr>
              <p:cNvSpPr>
                <a:spLocks/>
              </p:cNvSpPr>
              <p:nvPr/>
            </p:nvSpPr>
            <p:spPr bwMode="auto">
              <a:xfrm>
                <a:off x="5706653" y="4245001"/>
                <a:ext cx="155575" cy="34925"/>
              </a:xfrm>
              <a:custGeom>
                <a:avLst/>
                <a:gdLst>
                  <a:gd name="T0" fmla="*/ 379 w 427"/>
                  <a:gd name="T1" fmla="*/ 96 h 96"/>
                  <a:gd name="T2" fmla="*/ 48 w 427"/>
                  <a:gd name="T3" fmla="*/ 96 h 96"/>
                  <a:gd name="T4" fmla="*/ 0 w 427"/>
                  <a:gd name="T5" fmla="*/ 48 h 96"/>
                  <a:gd name="T6" fmla="*/ 0 w 427"/>
                  <a:gd name="T7" fmla="*/ 48 h 96"/>
                  <a:gd name="T8" fmla="*/ 48 w 427"/>
                  <a:gd name="T9" fmla="*/ 0 h 96"/>
                  <a:gd name="T10" fmla="*/ 379 w 427"/>
                  <a:gd name="T11" fmla="*/ 0 h 96"/>
                  <a:gd name="T12" fmla="*/ 427 w 427"/>
                  <a:gd name="T13" fmla="*/ 48 h 96"/>
                  <a:gd name="T14" fmla="*/ 427 w 427"/>
                  <a:gd name="T15" fmla="*/ 48 h 96"/>
                  <a:gd name="T16" fmla="*/ 379 w 427"/>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 h="96">
                    <a:moveTo>
                      <a:pt x="379" y="96"/>
                    </a:moveTo>
                    <a:cubicBezTo>
                      <a:pt x="48" y="96"/>
                      <a:pt x="48" y="96"/>
                      <a:pt x="48" y="96"/>
                    </a:cubicBezTo>
                    <a:cubicBezTo>
                      <a:pt x="22" y="96"/>
                      <a:pt x="0" y="75"/>
                      <a:pt x="0" y="48"/>
                    </a:cubicBezTo>
                    <a:cubicBezTo>
                      <a:pt x="0" y="48"/>
                      <a:pt x="0" y="48"/>
                      <a:pt x="0" y="48"/>
                    </a:cubicBezTo>
                    <a:cubicBezTo>
                      <a:pt x="0" y="21"/>
                      <a:pt x="22" y="0"/>
                      <a:pt x="48" y="0"/>
                    </a:cubicBezTo>
                    <a:cubicBezTo>
                      <a:pt x="379" y="0"/>
                      <a:pt x="379" y="0"/>
                      <a:pt x="379" y="0"/>
                    </a:cubicBezTo>
                    <a:cubicBezTo>
                      <a:pt x="406" y="0"/>
                      <a:pt x="427" y="21"/>
                      <a:pt x="427" y="48"/>
                    </a:cubicBezTo>
                    <a:cubicBezTo>
                      <a:pt x="427" y="48"/>
                      <a:pt x="427" y="48"/>
                      <a:pt x="427" y="48"/>
                    </a:cubicBezTo>
                    <a:cubicBezTo>
                      <a:pt x="427" y="75"/>
                      <a:pt x="406" y="96"/>
                      <a:pt x="379" y="9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59" name="Oval 21">
                <a:extLst>
                  <a:ext uri="{FF2B5EF4-FFF2-40B4-BE49-F238E27FC236}">
                    <a16:creationId xmlns:a16="http://schemas.microsoft.com/office/drawing/2014/main" id="{C82449CE-B808-B14A-9C49-773D2136B6BD}"/>
                  </a:ext>
                </a:extLst>
              </p:cNvPr>
              <p:cNvSpPr>
                <a:spLocks noChangeArrowheads="1"/>
              </p:cNvSpPr>
              <p:nvPr/>
            </p:nvSpPr>
            <p:spPr bwMode="auto">
              <a:xfrm>
                <a:off x="5784440" y="4203726"/>
                <a:ext cx="61913" cy="60325"/>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41" name="AutoShape 3">
              <a:extLst>
                <a:ext uri="{FF2B5EF4-FFF2-40B4-BE49-F238E27FC236}">
                  <a16:creationId xmlns:a16="http://schemas.microsoft.com/office/drawing/2014/main" id="{A830EA82-F51B-974C-A1F9-4F9BD0CABDA1}"/>
                </a:ext>
                <a:ext uri="{C183D7F6-B498-43B3-948B-1728B52AA6E4}">
                  <adec:decorative xmlns:adec="http://schemas.microsoft.com/office/drawing/2017/decorative" val="1"/>
                </a:ext>
              </a:extLst>
            </p:cNvPr>
            <p:cNvSpPr>
              <a:spLocks noChangeAspect="1" noChangeArrowheads="1" noTextEdit="1"/>
            </p:cNvSpPr>
            <p:nvPr/>
          </p:nvSpPr>
          <p:spPr bwMode="auto">
            <a:xfrm>
              <a:off x="5568723" y="4107993"/>
              <a:ext cx="4953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33" name="TextBox 32">
            <a:extLst>
              <a:ext uri="{FF2B5EF4-FFF2-40B4-BE49-F238E27FC236}">
                <a16:creationId xmlns:a16="http://schemas.microsoft.com/office/drawing/2014/main" id="{9956D519-5368-4D94-9379-BCC0B89F527B}"/>
              </a:ext>
            </a:extLst>
          </p:cNvPr>
          <p:cNvSpPr txBox="1"/>
          <p:nvPr/>
        </p:nvSpPr>
        <p:spPr>
          <a:xfrm>
            <a:off x="3420115" y="4814955"/>
            <a:ext cx="5178273" cy="338554"/>
          </a:xfrm>
          <a:prstGeom prst="rect">
            <a:avLst/>
          </a:prstGeom>
          <a:solidFill>
            <a:schemeClr val="bg1"/>
          </a:solid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effectLst/>
                <a:uLnTx/>
                <a:uFillTx/>
                <a:ea typeface="+mn-ea"/>
                <a:cs typeface="+mn-cs"/>
              </a:rPr>
              <a:t>Stay flexible with the cloud that’s hybrid by design</a:t>
            </a:r>
          </a:p>
        </p:txBody>
      </p:sp>
      <p:sp>
        <p:nvSpPr>
          <p:cNvPr id="31" name="TextBox 30">
            <a:extLst>
              <a:ext uri="{FF2B5EF4-FFF2-40B4-BE49-F238E27FC236}">
                <a16:creationId xmlns:a16="http://schemas.microsoft.com/office/drawing/2014/main" id="{65D55D18-3764-4ECD-B5FD-BD63E433405F}"/>
              </a:ext>
            </a:extLst>
          </p:cNvPr>
          <p:cNvSpPr txBox="1"/>
          <p:nvPr/>
        </p:nvSpPr>
        <p:spPr>
          <a:xfrm>
            <a:off x="2508175" y="6062362"/>
            <a:ext cx="6738530" cy="397416"/>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2000" b="0" i="0" u="none" strike="noStrike" kern="1200" cap="none" spc="0" normalizeH="0" baseline="0" noProof="0">
                <a:ln>
                  <a:noFill/>
                </a:ln>
                <a:effectLst/>
                <a:uLnTx/>
                <a:uFillTx/>
                <a:latin typeface="Segoe UI Semibold"/>
                <a:ea typeface="Calibri" panose="020F0502020204030204" pitchFamily="34" charset="0"/>
                <a:cs typeface="Arial" panose="020B0604020202020204" pitchFamily="34" charset="0"/>
              </a:rPr>
              <a:t>Let’s go forward, together.  We’re here to help. </a:t>
            </a:r>
          </a:p>
        </p:txBody>
      </p:sp>
    </p:spTree>
    <p:extLst>
      <p:ext uri="{BB962C8B-B14F-4D97-AF65-F5344CB8AC3E}">
        <p14:creationId xmlns:p14="http://schemas.microsoft.com/office/powerpoint/2010/main" val="2544311951"/>
      </p:ext>
    </p:extLst>
  </p:cSld>
  <p:clrMapOvr>
    <a:masterClrMapping/>
  </p:clrMapOvr>
  <mc:AlternateContent xmlns:mc="http://schemas.openxmlformats.org/markup-compatibility/2006" xmlns:p14="http://schemas.microsoft.com/office/powerpoint/2010/main">
    <mc:Choice Requires="p14">
      <p:transition spd="med" p14:dur="700" advTm="213113">
        <p:fade/>
      </p:transition>
    </mc:Choice>
    <mc:Fallback xmlns="">
      <p:transition spd="med" advTm="213113">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5943DDA-909C-C74C-9571-A7852EA4D8EA}"/>
              </a:ext>
            </a:extLst>
          </p:cNvPr>
          <p:cNvSpPr>
            <a:spLocks noGrp="1"/>
          </p:cNvSpPr>
          <p:nvPr>
            <p:ph type="title"/>
          </p:nvPr>
        </p:nvSpPr>
        <p:spPr/>
        <p:txBody>
          <a:bodyPr/>
          <a:lstStyle/>
          <a:p>
            <a:r>
              <a:rPr lang="en-GB"/>
              <a:t>Why trust us for your data estate modernization?</a:t>
            </a:r>
            <a:endParaRPr lang="en-US"/>
          </a:p>
        </p:txBody>
      </p:sp>
      <p:sp>
        <p:nvSpPr>
          <p:cNvPr id="26" name="Title 1">
            <a:extLst>
              <a:ext uri="{FF2B5EF4-FFF2-40B4-BE49-F238E27FC236}">
                <a16:creationId xmlns:a16="http://schemas.microsoft.com/office/drawing/2014/main" id="{C00625DD-ADC2-D94E-864F-39D09BC20F33}"/>
              </a:ext>
            </a:extLst>
          </p:cNvPr>
          <p:cNvSpPr txBox="1">
            <a:spLocks/>
          </p:cNvSpPr>
          <p:nvPr/>
        </p:nvSpPr>
        <p:spPr>
          <a:xfrm>
            <a:off x="759763" y="1497693"/>
            <a:ext cx="1928356" cy="646331"/>
          </a:xfrm>
          <a:prstGeom prst="rect">
            <a:avLst/>
          </a:prstGeom>
        </p:spPr>
        <p:txBody>
          <a:bodyPr wrap="square">
            <a:sp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w="3175">
                  <a:noFill/>
                </a:ln>
                <a:solidFill>
                  <a:srgbClr val="50E6FF"/>
                </a:solidFill>
                <a:effectLst/>
                <a:uLnTx/>
                <a:uFillTx/>
                <a:latin typeface="Segoe UI Semibold"/>
                <a:ea typeface="+mn-ea"/>
                <a:cs typeface="Segoe UI" pitchFamily="34" charset="0"/>
              </a:rPr>
              <a:t>25+ years Innovation</a:t>
            </a:r>
          </a:p>
        </p:txBody>
      </p:sp>
      <p:grpSp>
        <p:nvGrpSpPr>
          <p:cNvPr id="40" name="Group 10">
            <a:extLst>
              <a:ext uri="{FF2B5EF4-FFF2-40B4-BE49-F238E27FC236}">
                <a16:creationId xmlns:a16="http://schemas.microsoft.com/office/drawing/2014/main" id="{F973167F-B86B-4A64-AC8E-19006692E60B}"/>
              </a:ext>
              <a:ext uri="{C183D7F6-B498-43B3-948B-1728B52AA6E4}">
                <adec:decorative xmlns:adec="http://schemas.microsoft.com/office/drawing/2017/decorative" val="1"/>
              </a:ext>
            </a:extLst>
          </p:cNvPr>
          <p:cNvGrpSpPr>
            <a:grpSpLocks noChangeAspect="1"/>
          </p:cNvGrpSpPr>
          <p:nvPr/>
        </p:nvGrpSpPr>
        <p:grpSpPr bwMode="auto">
          <a:xfrm>
            <a:off x="1355078" y="2416606"/>
            <a:ext cx="737726" cy="728388"/>
            <a:chOff x="410" y="999"/>
            <a:chExt cx="316" cy="312"/>
          </a:xfrm>
          <a:solidFill>
            <a:schemeClr val="accent1"/>
          </a:solidFill>
        </p:grpSpPr>
        <p:sp>
          <p:nvSpPr>
            <p:cNvPr id="41" name="Freeform 11">
              <a:extLst>
                <a:ext uri="{FF2B5EF4-FFF2-40B4-BE49-F238E27FC236}">
                  <a16:creationId xmlns:a16="http://schemas.microsoft.com/office/drawing/2014/main" id="{CA79E93D-6979-4727-9AB6-5CC2B27D32FD}"/>
                </a:ext>
              </a:extLst>
            </p:cNvPr>
            <p:cNvSpPr>
              <a:spLocks/>
            </p:cNvSpPr>
            <p:nvPr/>
          </p:nvSpPr>
          <p:spPr bwMode="auto">
            <a:xfrm>
              <a:off x="634" y="999"/>
              <a:ext cx="31" cy="27"/>
            </a:xfrm>
            <a:custGeom>
              <a:avLst/>
              <a:gdLst>
                <a:gd name="T0" fmla="*/ 24 w 31"/>
                <a:gd name="T1" fmla="*/ 27 h 27"/>
                <a:gd name="T2" fmla="*/ 0 w 31"/>
                <a:gd name="T3" fmla="*/ 18 h 27"/>
                <a:gd name="T4" fmla="*/ 7 w 31"/>
                <a:gd name="T5" fmla="*/ 0 h 27"/>
                <a:gd name="T6" fmla="*/ 31 w 31"/>
                <a:gd name="T7" fmla="*/ 9 h 27"/>
                <a:gd name="T8" fmla="*/ 24 w 31"/>
                <a:gd name="T9" fmla="*/ 27 h 27"/>
              </a:gdLst>
              <a:ahLst/>
              <a:cxnLst>
                <a:cxn ang="0">
                  <a:pos x="T0" y="T1"/>
                </a:cxn>
                <a:cxn ang="0">
                  <a:pos x="T2" y="T3"/>
                </a:cxn>
                <a:cxn ang="0">
                  <a:pos x="T4" y="T5"/>
                </a:cxn>
                <a:cxn ang="0">
                  <a:pos x="T6" y="T7"/>
                </a:cxn>
                <a:cxn ang="0">
                  <a:pos x="T8" y="T9"/>
                </a:cxn>
              </a:cxnLst>
              <a:rect l="0" t="0" r="r" b="b"/>
              <a:pathLst>
                <a:path w="31" h="27">
                  <a:moveTo>
                    <a:pt x="24" y="27"/>
                  </a:moveTo>
                  <a:lnTo>
                    <a:pt x="0" y="18"/>
                  </a:lnTo>
                  <a:lnTo>
                    <a:pt x="7" y="0"/>
                  </a:lnTo>
                  <a:lnTo>
                    <a:pt x="31" y="9"/>
                  </a:lnTo>
                  <a:lnTo>
                    <a:pt x="2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48" name="Freeform 12">
              <a:extLst>
                <a:ext uri="{FF2B5EF4-FFF2-40B4-BE49-F238E27FC236}">
                  <a16:creationId xmlns:a16="http://schemas.microsoft.com/office/drawing/2014/main" id="{98EB4545-9661-45B0-965D-580CF79B45FE}"/>
                </a:ext>
              </a:extLst>
            </p:cNvPr>
            <p:cNvSpPr>
              <a:spLocks/>
            </p:cNvSpPr>
            <p:nvPr/>
          </p:nvSpPr>
          <p:spPr bwMode="auto">
            <a:xfrm>
              <a:off x="552" y="1000"/>
              <a:ext cx="32" cy="28"/>
            </a:xfrm>
            <a:custGeom>
              <a:avLst/>
              <a:gdLst>
                <a:gd name="T0" fmla="*/ 0 w 32"/>
                <a:gd name="T1" fmla="*/ 10 h 28"/>
                <a:gd name="T2" fmla="*/ 24 w 32"/>
                <a:gd name="T3" fmla="*/ 0 h 28"/>
                <a:gd name="T4" fmla="*/ 32 w 32"/>
                <a:gd name="T5" fmla="*/ 18 h 28"/>
                <a:gd name="T6" fmla="*/ 8 w 32"/>
                <a:gd name="T7" fmla="*/ 28 h 28"/>
                <a:gd name="T8" fmla="*/ 0 w 32"/>
                <a:gd name="T9" fmla="*/ 10 h 28"/>
              </a:gdLst>
              <a:ahLst/>
              <a:cxnLst>
                <a:cxn ang="0">
                  <a:pos x="T0" y="T1"/>
                </a:cxn>
                <a:cxn ang="0">
                  <a:pos x="T2" y="T3"/>
                </a:cxn>
                <a:cxn ang="0">
                  <a:pos x="T4" y="T5"/>
                </a:cxn>
                <a:cxn ang="0">
                  <a:pos x="T6" y="T7"/>
                </a:cxn>
                <a:cxn ang="0">
                  <a:pos x="T8" y="T9"/>
                </a:cxn>
              </a:cxnLst>
              <a:rect l="0" t="0" r="r" b="b"/>
              <a:pathLst>
                <a:path w="32" h="28">
                  <a:moveTo>
                    <a:pt x="0" y="10"/>
                  </a:moveTo>
                  <a:lnTo>
                    <a:pt x="24" y="0"/>
                  </a:lnTo>
                  <a:lnTo>
                    <a:pt x="32" y="18"/>
                  </a:lnTo>
                  <a:lnTo>
                    <a:pt x="8" y="28"/>
                  </a:lnTo>
                  <a:lnTo>
                    <a:pt x="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42C033BB-A7F8-4A75-977E-D8590F676B4D}"/>
                </a:ext>
              </a:extLst>
            </p:cNvPr>
            <p:cNvSpPr>
              <a:spLocks noChangeArrowheads="1"/>
            </p:cNvSpPr>
            <p:nvPr/>
          </p:nvSpPr>
          <p:spPr bwMode="auto">
            <a:xfrm>
              <a:off x="472" y="1299"/>
              <a:ext cx="15" cy="1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8A3389D0-D2E7-4BED-A4A3-4EDE3A3D9E62}"/>
                </a:ext>
              </a:extLst>
            </p:cNvPr>
            <p:cNvSpPr>
              <a:spLocks noChangeArrowheads="1"/>
            </p:cNvSpPr>
            <p:nvPr/>
          </p:nvSpPr>
          <p:spPr bwMode="auto">
            <a:xfrm>
              <a:off x="410" y="1236"/>
              <a:ext cx="12" cy="1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1" name="Freeform 15">
              <a:extLst>
                <a:ext uri="{FF2B5EF4-FFF2-40B4-BE49-F238E27FC236}">
                  <a16:creationId xmlns:a16="http://schemas.microsoft.com/office/drawing/2014/main" id="{3AE5791B-3FF3-450F-94FC-A23492D76B52}"/>
                </a:ext>
              </a:extLst>
            </p:cNvPr>
            <p:cNvSpPr>
              <a:spLocks/>
            </p:cNvSpPr>
            <p:nvPr/>
          </p:nvSpPr>
          <p:spPr bwMode="auto">
            <a:xfrm>
              <a:off x="425" y="1278"/>
              <a:ext cx="19" cy="18"/>
            </a:xfrm>
            <a:custGeom>
              <a:avLst/>
              <a:gdLst>
                <a:gd name="T0" fmla="*/ 8 w 19"/>
                <a:gd name="T1" fmla="*/ 0 h 18"/>
                <a:gd name="T2" fmla="*/ 19 w 19"/>
                <a:gd name="T3" fmla="*/ 10 h 18"/>
                <a:gd name="T4" fmla="*/ 11 w 19"/>
                <a:gd name="T5" fmla="*/ 18 h 18"/>
                <a:gd name="T6" fmla="*/ 0 w 19"/>
                <a:gd name="T7" fmla="*/ 8 h 18"/>
                <a:gd name="T8" fmla="*/ 8 w 19"/>
                <a:gd name="T9" fmla="*/ 0 h 18"/>
              </a:gdLst>
              <a:ahLst/>
              <a:cxnLst>
                <a:cxn ang="0">
                  <a:pos x="T0" y="T1"/>
                </a:cxn>
                <a:cxn ang="0">
                  <a:pos x="T2" y="T3"/>
                </a:cxn>
                <a:cxn ang="0">
                  <a:pos x="T4" y="T5"/>
                </a:cxn>
                <a:cxn ang="0">
                  <a:pos x="T6" y="T7"/>
                </a:cxn>
                <a:cxn ang="0">
                  <a:pos x="T8" y="T9"/>
                </a:cxn>
              </a:cxnLst>
              <a:rect l="0" t="0" r="r" b="b"/>
              <a:pathLst>
                <a:path w="19" h="18">
                  <a:moveTo>
                    <a:pt x="8" y="0"/>
                  </a:moveTo>
                  <a:lnTo>
                    <a:pt x="19" y="10"/>
                  </a:lnTo>
                  <a:lnTo>
                    <a:pt x="11" y="18"/>
                  </a:lnTo>
                  <a:lnTo>
                    <a:pt x="0" y="8"/>
                  </a:lnTo>
                  <a:lnTo>
                    <a:pt x="8"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2" name="Freeform 16">
              <a:extLst>
                <a:ext uri="{FF2B5EF4-FFF2-40B4-BE49-F238E27FC236}">
                  <a16:creationId xmlns:a16="http://schemas.microsoft.com/office/drawing/2014/main" id="{17550739-5FCC-419D-866E-9D8C899E460E}"/>
                </a:ext>
              </a:extLst>
            </p:cNvPr>
            <p:cNvSpPr>
              <a:spLocks noEditPoints="1"/>
            </p:cNvSpPr>
            <p:nvPr/>
          </p:nvSpPr>
          <p:spPr bwMode="auto">
            <a:xfrm>
              <a:off x="494" y="1009"/>
              <a:ext cx="232" cy="204"/>
            </a:xfrm>
            <a:custGeom>
              <a:avLst/>
              <a:gdLst>
                <a:gd name="T0" fmla="*/ 507 w 1015"/>
                <a:gd name="T1" fmla="*/ 128 h 896"/>
                <a:gd name="T2" fmla="*/ 626 w 1015"/>
                <a:gd name="T3" fmla="*/ 151 h 896"/>
                <a:gd name="T4" fmla="*/ 801 w 1015"/>
                <a:gd name="T5" fmla="*/ 322 h 896"/>
                <a:gd name="T6" fmla="*/ 804 w 1015"/>
                <a:gd name="T7" fmla="*/ 567 h 896"/>
                <a:gd name="T8" fmla="*/ 685 w 1015"/>
                <a:gd name="T9" fmla="*/ 714 h 896"/>
                <a:gd name="T10" fmla="*/ 600 w 1015"/>
                <a:gd name="T11" fmla="*/ 754 h 896"/>
                <a:gd name="T12" fmla="*/ 507 w 1015"/>
                <a:gd name="T13" fmla="*/ 768 h 896"/>
                <a:gd name="T14" fmla="*/ 389 w 1015"/>
                <a:gd name="T15" fmla="*/ 745 h 896"/>
                <a:gd name="T16" fmla="*/ 213 w 1015"/>
                <a:gd name="T17" fmla="*/ 575 h 896"/>
                <a:gd name="T18" fmla="*/ 210 w 1015"/>
                <a:gd name="T19" fmla="*/ 330 h 896"/>
                <a:gd name="T20" fmla="*/ 330 w 1015"/>
                <a:gd name="T21" fmla="*/ 182 h 896"/>
                <a:gd name="T22" fmla="*/ 414 w 1015"/>
                <a:gd name="T23" fmla="*/ 142 h 896"/>
                <a:gd name="T24" fmla="*/ 507 w 1015"/>
                <a:gd name="T25" fmla="*/ 128 h 896"/>
                <a:gd name="T26" fmla="*/ 507 w 1015"/>
                <a:gd name="T27" fmla="*/ 128 h 896"/>
                <a:gd name="T28" fmla="*/ 507 w 1015"/>
                <a:gd name="T29" fmla="*/ 128 h 896"/>
                <a:gd name="T30" fmla="*/ 507 w 1015"/>
                <a:gd name="T31" fmla="*/ 0 h 896"/>
                <a:gd name="T32" fmla="*/ 91 w 1015"/>
                <a:gd name="T33" fmla="*/ 282 h 896"/>
                <a:gd name="T34" fmla="*/ 341 w 1015"/>
                <a:gd name="T35" fmla="*/ 864 h 896"/>
                <a:gd name="T36" fmla="*/ 507 w 1015"/>
                <a:gd name="T37" fmla="*/ 896 h 896"/>
                <a:gd name="T38" fmla="*/ 923 w 1015"/>
                <a:gd name="T39" fmla="*/ 614 h 896"/>
                <a:gd name="T40" fmla="*/ 673 w 1015"/>
                <a:gd name="T41" fmla="*/ 32 h 896"/>
                <a:gd name="T42" fmla="*/ 507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7" y="128"/>
                  </a:moveTo>
                  <a:cubicBezTo>
                    <a:pt x="548" y="128"/>
                    <a:pt x="588" y="136"/>
                    <a:pt x="626" y="151"/>
                  </a:cubicBezTo>
                  <a:cubicBezTo>
                    <a:pt x="705" y="183"/>
                    <a:pt x="767" y="244"/>
                    <a:pt x="801" y="322"/>
                  </a:cubicBezTo>
                  <a:cubicBezTo>
                    <a:pt x="835" y="401"/>
                    <a:pt x="836" y="487"/>
                    <a:pt x="804" y="567"/>
                  </a:cubicBezTo>
                  <a:cubicBezTo>
                    <a:pt x="780" y="627"/>
                    <a:pt x="739" y="679"/>
                    <a:pt x="685" y="714"/>
                  </a:cubicBezTo>
                  <a:cubicBezTo>
                    <a:pt x="659" y="732"/>
                    <a:pt x="630" y="745"/>
                    <a:pt x="600" y="754"/>
                  </a:cubicBezTo>
                  <a:cubicBezTo>
                    <a:pt x="570" y="764"/>
                    <a:pt x="538" y="768"/>
                    <a:pt x="507" y="768"/>
                  </a:cubicBezTo>
                  <a:cubicBezTo>
                    <a:pt x="467" y="768"/>
                    <a:pt x="427" y="761"/>
                    <a:pt x="389" y="745"/>
                  </a:cubicBezTo>
                  <a:cubicBezTo>
                    <a:pt x="309" y="714"/>
                    <a:pt x="247" y="653"/>
                    <a:pt x="213" y="575"/>
                  </a:cubicBezTo>
                  <a:cubicBezTo>
                    <a:pt x="180" y="496"/>
                    <a:pt x="178" y="409"/>
                    <a:pt x="210" y="330"/>
                  </a:cubicBezTo>
                  <a:cubicBezTo>
                    <a:pt x="234" y="269"/>
                    <a:pt x="276" y="218"/>
                    <a:pt x="330" y="182"/>
                  </a:cubicBezTo>
                  <a:cubicBezTo>
                    <a:pt x="356" y="165"/>
                    <a:pt x="384" y="151"/>
                    <a:pt x="414" y="142"/>
                  </a:cubicBezTo>
                  <a:cubicBezTo>
                    <a:pt x="445" y="133"/>
                    <a:pt x="476" y="128"/>
                    <a:pt x="507" y="128"/>
                  </a:cubicBezTo>
                  <a:cubicBezTo>
                    <a:pt x="507" y="128"/>
                    <a:pt x="507" y="128"/>
                    <a:pt x="507" y="128"/>
                  </a:cubicBezTo>
                  <a:cubicBezTo>
                    <a:pt x="507" y="128"/>
                    <a:pt x="507" y="128"/>
                    <a:pt x="507" y="128"/>
                  </a:cubicBezTo>
                  <a:moveTo>
                    <a:pt x="507" y="0"/>
                  </a:moveTo>
                  <a:cubicBezTo>
                    <a:pt x="329" y="0"/>
                    <a:pt x="161" y="107"/>
                    <a:pt x="91" y="282"/>
                  </a:cubicBezTo>
                  <a:cubicBezTo>
                    <a:pt x="0" y="512"/>
                    <a:pt x="111" y="773"/>
                    <a:pt x="341" y="864"/>
                  </a:cubicBezTo>
                  <a:cubicBezTo>
                    <a:pt x="396" y="886"/>
                    <a:pt x="452" y="896"/>
                    <a:pt x="507" y="896"/>
                  </a:cubicBezTo>
                  <a:cubicBezTo>
                    <a:pt x="685" y="896"/>
                    <a:pt x="853" y="790"/>
                    <a:pt x="923" y="614"/>
                  </a:cubicBezTo>
                  <a:cubicBezTo>
                    <a:pt x="1015" y="385"/>
                    <a:pt x="903" y="124"/>
                    <a:pt x="673" y="32"/>
                  </a:cubicBezTo>
                  <a:cubicBezTo>
                    <a:pt x="619" y="11"/>
                    <a:pt x="563" y="0"/>
                    <a:pt x="50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3" name="Freeform 17">
              <a:extLst>
                <a:ext uri="{FF2B5EF4-FFF2-40B4-BE49-F238E27FC236}">
                  <a16:creationId xmlns:a16="http://schemas.microsoft.com/office/drawing/2014/main" id="{AFA121E0-1179-498C-B968-4D79FCA103F4}"/>
                </a:ext>
              </a:extLst>
            </p:cNvPr>
            <p:cNvSpPr>
              <a:spLocks/>
            </p:cNvSpPr>
            <p:nvPr/>
          </p:nvSpPr>
          <p:spPr bwMode="auto">
            <a:xfrm>
              <a:off x="555" y="1196"/>
              <a:ext cx="31" cy="27"/>
            </a:xfrm>
            <a:custGeom>
              <a:avLst/>
              <a:gdLst>
                <a:gd name="T0" fmla="*/ 24 w 31"/>
                <a:gd name="T1" fmla="*/ 27 h 27"/>
                <a:gd name="T2" fmla="*/ 0 w 31"/>
                <a:gd name="T3" fmla="*/ 18 h 27"/>
                <a:gd name="T4" fmla="*/ 7 w 31"/>
                <a:gd name="T5" fmla="*/ 0 h 27"/>
                <a:gd name="T6" fmla="*/ 31 w 31"/>
                <a:gd name="T7" fmla="*/ 9 h 27"/>
                <a:gd name="T8" fmla="*/ 24 w 31"/>
                <a:gd name="T9" fmla="*/ 27 h 27"/>
              </a:gdLst>
              <a:ahLst/>
              <a:cxnLst>
                <a:cxn ang="0">
                  <a:pos x="T0" y="T1"/>
                </a:cxn>
                <a:cxn ang="0">
                  <a:pos x="T2" y="T3"/>
                </a:cxn>
                <a:cxn ang="0">
                  <a:pos x="T4" y="T5"/>
                </a:cxn>
                <a:cxn ang="0">
                  <a:pos x="T6" y="T7"/>
                </a:cxn>
                <a:cxn ang="0">
                  <a:pos x="T8" y="T9"/>
                </a:cxn>
              </a:cxnLst>
              <a:rect l="0" t="0" r="r" b="b"/>
              <a:pathLst>
                <a:path w="31" h="27">
                  <a:moveTo>
                    <a:pt x="24" y="27"/>
                  </a:moveTo>
                  <a:lnTo>
                    <a:pt x="0" y="18"/>
                  </a:lnTo>
                  <a:lnTo>
                    <a:pt x="7" y="0"/>
                  </a:lnTo>
                  <a:lnTo>
                    <a:pt x="31" y="9"/>
                  </a:lnTo>
                  <a:lnTo>
                    <a:pt x="2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4" name="Freeform 18">
              <a:extLst>
                <a:ext uri="{FF2B5EF4-FFF2-40B4-BE49-F238E27FC236}">
                  <a16:creationId xmlns:a16="http://schemas.microsoft.com/office/drawing/2014/main" id="{E4BD556A-3ECF-4C60-9DE2-A63B4835B936}"/>
                </a:ext>
              </a:extLst>
            </p:cNvPr>
            <p:cNvSpPr>
              <a:spLocks/>
            </p:cNvSpPr>
            <p:nvPr/>
          </p:nvSpPr>
          <p:spPr bwMode="auto">
            <a:xfrm>
              <a:off x="695" y="1135"/>
              <a:ext cx="27" cy="31"/>
            </a:xfrm>
            <a:custGeom>
              <a:avLst/>
              <a:gdLst>
                <a:gd name="T0" fmla="*/ 27 w 27"/>
                <a:gd name="T1" fmla="*/ 7 h 31"/>
                <a:gd name="T2" fmla="*/ 17 w 27"/>
                <a:gd name="T3" fmla="*/ 31 h 31"/>
                <a:gd name="T4" fmla="*/ 0 w 27"/>
                <a:gd name="T5" fmla="*/ 24 h 31"/>
                <a:gd name="T6" fmla="*/ 9 w 27"/>
                <a:gd name="T7" fmla="*/ 0 h 31"/>
                <a:gd name="T8" fmla="*/ 27 w 27"/>
                <a:gd name="T9" fmla="*/ 7 h 31"/>
              </a:gdLst>
              <a:ahLst/>
              <a:cxnLst>
                <a:cxn ang="0">
                  <a:pos x="T0" y="T1"/>
                </a:cxn>
                <a:cxn ang="0">
                  <a:pos x="T2" y="T3"/>
                </a:cxn>
                <a:cxn ang="0">
                  <a:pos x="T4" y="T5"/>
                </a:cxn>
                <a:cxn ang="0">
                  <a:pos x="T6" y="T7"/>
                </a:cxn>
                <a:cxn ang="0">
                  <a:pos x="T8" y="T9"/>
                </a:cxn>
              </a:cxnLst>
              <a:rect l="0" t="0" r="r" b="b"/>
              <a:pathLst>
                <a:path w="27" h="31">
                  <a:moveTo>
                    <a:pt x="27" y="7"/>
                  </a:moveTo>
                  <a:lnTo>
                    <a:pt x="17" y="31"/>
                  </a:lnTo>
                  <a:lnTo>
                    <a:pt x="0" y="24"/>
                  </a:lnTo>
                  <a:lnTo>
                    <a:pt x="9" y="0"/>
                  </a:lnTo>
                  <a:lnTo>
                    <a:pt x="27"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5" name="Freeform 19">
              <a:extLst>
                <a:ext uri="{FF2B5EF4-FFF2-40B4-BE49-F238E27FC236}">
                  <a16:creationId xmlns:a16="http://schemas.microsoft.com/office/drawing/2014/main" id="{96162745-D814-431F-A597-AEA5E49DE5C9}"/>
                </a:ext>
              </a:extLst>
            </p:cNvPr>
            <p:cNvSpPr>
              <a:spLocks/>
            </p:cNvSpPr>
            <p:nvPr/>
          </p:nvSpPr>
          <p:spPr bwMode="auto">
            <a:xfrm>
              <a:off x="498" y="1056"/>
              <a:ext cx="27" cy="31"/>
            </a:xfrm>
            <a:custGeom>
              <a:avLst/>
              <a:gdLst>
                <a:gd name="T0" fmla="*/ 27 w 27"/>
                <a:gd name="T1" fmla="*/ 7 h 31"/>
                <a:gd name="T2" fmla="*/ 18 w 27"/>
                <a:gd name="T3" fmla="*/ 31 h 31"/>
                <a:gd name="T4" fmla="*/ 0 w 27"/>
                <a:gd name="T5" fmla="*/ 24 h 31"/>
                <a:gd name="T6" fmla="*/ 9 w 27"/>
                <a:gd name="T7" fmla="*/ 0 h 31"/>
                <a:gd name="T8" fmla="*/ 27 w 27"/>
                <a:gd name="T9" fmla="*/ 7 h 31"/>
              </a:gdLst>
              <a:ahLst/>
              <a:cxnLst>
                <a:cxn ang="0">
                  <a:pos x="T0" y="T1"/>
                </a:cxn>
                <a:cxn ang="0">
                  <a:pos x="T2" y="T3"/>
                </a:cxn>
                <a:cxn ang="0">
                  <a:pos x="T4" y="T5"/>
                </a:cxn>
                <a:cxn ang="0">
                  <a:pos x="T6" y="T7"/>
                </a:cxn>
                <a:cxn ang="0">
                  <a:pos x="T8" y="T9"/>
                </a:cxn>
              </a:cxnLst>
              <a:rect l="0" t="0" r="r" b="b"/>
              <a:pathLst>
                <a:path w="27" h="31">
                  <a:moveTo>
                    <a:pt x="27" y="7"/>
                  </a:moveTo>
                  <a:lnTo>
                    <a:pt x="18" y="31"/>
                  </a:lnTo>
                  <a:lnTo>
                    <a:pt x="0" y="24"/>
                  </a:lnTo>
                  <a:lnTo>
                    <a:pt x="9" y="0"/>
                  </a:lnTo>
                  <a:lnTo>
                    <a:pt x="27"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6" name="Freeform 20">
              <a:extLst>
                <a:ext uri="{FF2B5EF4-FFF2-40B4-BE49-F238E27FC236}">
                  <a16:creationId xmlns:a16="http://schemas.microsoft.com/office/drawing/2014/main" id="{07B4C2FB-918B-4189-8AF3-5F4D408DAF4E}"/>
                </a:ext>
              </a:extLst>
            </p:cNvPr>
            <p:cNvSpPr>
              <a:spLocks/>
            </p:cNvSpPr>
            <p:nvPr/>
          </p:nvSpPr>
          <p:spPr bwMode="auto">
            <a:xfrm>
              <a:off x="498" y="1137"/>
              <a:ext cx="28" cy="32"/>
            </a:xfrm>
            <a:custGeom>
              <a:avLst/>
              <a:gdLst>
                <a:gd name="T0" fmla="*/ 18 w 28"/>
                <a:gd name="T1" fmla="*/ 0 h 32"/>
                <a:gd name="T2" fmla="*/ 28 w 28"/>
                <a:gd name="T3" fmla="*/ 24 h 32"/>
                <a:gd name="T4" fmla="*/ 11 w 28"/>
                <a:gd name="T5" fmla="*/ 32 h 32"/>
                <a:gd name="T6" fmla="*/ 0 w 28"/>
                <a:gd name="T7" fmla="*/ 8 h 32"/>
                <a:gd name="T8" fmla="*/ 18 w 28"/>
                <a:gd name="T9" fmla="*/ 0 h 32"/>
              </a:gdLst>
              <a:ahLst/>
              <a:cxnLst>
                <a:cxn ang="0">
                  <a:pos x="T0" y="T1"/>
                </a:cxn>
                <a:cxn ang="0">
                  <a:pos x="T2" y="T3"/>
                </a:cxn>
                <a:cxn ang="0">
                  <a:pos x="T4" y="T5"/>
                </a:cxn>
                <a:cxn ang="0">
                  <a:pos x="T6" y="T7"/>
                </a:cxn>
                <a:cxn ang="0">
                  <a:pos x="T8" y="T9"/>
                </a:cxn>
              </a:cxnLst>
              <a:rect l="0" t="0" r="r" b="b"/>
              <a:pathLst>
                <a:path w="28" h="32">
                  <a:moveTo>
                    <a:pt x="18" y="0"/>
                  </a:moveTo>
                  <a:lnTo>
                    <a:pt x="28" y="24"/>
                  </a:lnTo>
                  <a:lnTo>
                    <a:pt x="11" y="32"/>
                  </a:lnTo>
                  <a:lnTo>
                    <a:pt x="0" y="8"/>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7" name="Freeform 21">
              <a:extLst>
                <a:ext uri="{FF2B5EF4-FFF2-40B4-BE49-F238E27FC236}">
                  <a16:creationId xmlns:a16="http://schemas.microsoft.com/office/drawing/2014/main" id="{42654D19-BB60-4E10-83A9-017EC668DABD}"/>
                </a:ext>
              </a:extLst>
            </p:cNvPr>
            <p:cNvSpPr>
              <a:spLocks/>
            </p:cNvSpPr>
            <p:nvPr/>
          </p:nvSpPr>
          <p:spPr bwMode="auto">
            <a:xfrm>
              <a:off x="693" y="1054"/>
              <a:ext cx="28" cy="31"/>
            </a:xfrm>
            <a:custGeom>
              <a:avLst/>
              <a:gdLst>
                <a:gd name="T0" fmla="*/ 18 w 28"/>
                <a:gd name="T1" fmla="*/ 0 h 31"/>
                <a:gd name="T2" fmla="*/ 28 w 28"/>
                <a:gd name="T3" fmla="*/ 23 h 31"/>
                <a:gd name="T4" fmla="*/ 11 w 28"/>
                <a:gd name="T5" fmla="*/ 31 h 31"/>
                <a:gd name="T6" fmla="*/ 0 w 28"/>
                <a:gd name="T7" fmla="*/ 7 h 31"/>
                <a:gd name="T8" fmla="*/ 18 w 28"/>
                <a:gd name="T9" fmla="*/ 0 h 31"/>
              </a:gdLst>
              <a:ahLst/>
              <a:cxnLst>
                <a:cxn ang="0">
                  <a:pos x="T0" y="T1"/>
                </a:cxn>
                <a:cxn ang="0">
                  <a:pos x="T2" y="T3"/>
                </a:cxn>
                <a:cxn ang="0">
                  <a:pos x="T4" y="T5"/>
                </a:cxn>
                <a:cxn ang="0">
                  <a:pos x="T6" y="T7"/>
                </a:cxn>
                <a:cxn ang="0">
                  <a:pos x="T8" y="T9"/>
                </a:cxn>
              </a:cxnLst>
              <a:rect l="0" t="0" r="r" b="b"/>
              <a:pathLst>
                <a:path w="28" h="31">
                  <a:moveTo>
                    <a:pt x="18" y="0"/>
                  </a:moveTo>
                  <a:lnTo>
                    <a:pt x="28" y="23"/>
                  </a:lnTo>
                  <a:lnTo>
                    <a:pt x="11" y="31"/>
                  </a:lnTo>
                  <a:lnTo>
                    <a:pt x="0" y="7"/>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8" name="Freeform 22">
              <a:extLst>
                <a:ext uri="{FF2B5EF4-FFF2-40B4-BE49-F238E27FC236}">
                  <a16:creationId xmlns:a16="http://schemas.microsoft.com/office/drawing/2014/main" id="{DF7BE316-0558-4274-946E-50519B449174}"/>
                </a:ext>
              </a:extLst>
            </p:cNvPr>
            <p:cNvSpPr>
              <a:spLocks/>
            </p:cNvSpPr>
            <p:nvPr/>
          </p:nvSpPr>
          <p:spPr bwMode="auto">
            <a:xfrm>
              <a:off x="636" y="1194"/>
              <a:ext cx="31" cy="28"/>
            </a:xfrm>
            <a:custGeom>
              <a:avLst/>
              <a:gdLst>
                <a:gd name="T0" fmla="*/ 0 w 31"/>
                <a:gd name="T1" fmla="*/ 11 h 28"/>
                <a:gd name="T2" fmla="*/ 24 w 31"/>
                <a:gd name="T3" fmla="*/ 0 h 28"/>
                <a:gd name="T4" fmla="*/ 31 w 31"/>
                <a:gd name="T5" fmla="*/ 18 h 28"/>
                <a:gd name="T6" fmla="*/ 8 w 31"/>
                <a:gd name="T7" fmla="*/ 28 h 28"/>
                <a:gd name="T8" fmla="*/ 0 w 31"/>
                <a:gd name="T9" fmla="*/ 11 h 28"/>
              </a:gdLst>
              <a:ahLst/>
              <a:cxnLst>
                <a:cxn ang="0">
                  <a:pos x="T0" y="T1"/>
                </a:cxn>
                <a:cxn ang="0">
                  <a:pos x="T2" y="T3"/>
                </a:cxn>
                <a:cxn ang="0">
                  <a:pos x="T4" y="T5"/>
                </a:cxn>
                <a:cxn ang="0">
                  <a:pos x="T6" y="T7"/>
                </a:cxn>
                <a:cxn ang="0">
                  <a:pos x="T8" y="T9"/>
                </a:cxn>
              </a:cxnLst>
              <a:rect l="0" t="0" r="r" b="b"/>
              <a:pathLst>
                <a:path w="31" h="28">
                  <a:moveTo>
                    <a:pt x="0" y="11"/>
                  </a:moveTo>
                  <a:lnTo>
                    <a:pt x="24" y="0"/>
                  </a:lnTo>
                  <a:lnTo>
                    <a:pt x="31" y="18"/>
                  </a:lnTo>
                  <a:lnTo>
                    <a:pt x="8" y="28"/>
                  </a:lnTo>
                  <a:lnTo>
                    <a:pt x="0"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9" name="Freeform 23">
              <a:extLst>
                <a:ext uri="{FF2B5EF4-FFF2-40B4-BE49-F238E27FC236}">
                  <a16:creationId xmlns:a16="http://schemas.microsoft.com/office/drawing/2014/main" id="{D0173F85-9E25-4309-938F-2DF8A009A6B9}"/>
                </a:ext>
              </a:extLst>
            </p:cNvPr>
            <p:cNvSpPr>
              <a:spLocks noEditPoints="1"/>
            </p:cNvSpPr>
            <p:nvPr/>
          </p:nvSpPr>
          <p:spPr bwMode="auto">
            <a:xfrm>
              <a:off x="419" y="1185"/>
              <a:ext cx="118" cy="117"/>
            </a:xfrm>
            <a:custGeom>
              <a:avLst/>
              <a:gdLst>
                <a:gd name="T0" fmla="*/ 258 w 516"/>
                <a:gd name="T1" fmla="*/ 128 h 512"/>
                <a:gd name="T2" fmla="*/ 348 w 516"/>
                <a:gd name="T3" fmla="*/ 165 h 512"/>
                <a:gd name="T4" fmla="*/ 386 w 516"/>
                <a:gd name="T5" fmla="*/ 254 h 512"/>
                <a:gd name="T6" fmla="*/ 350 w 516"/>
                <a:gd name="T7" fmla="*/ 345 h 512"/>
                <a:gd name="T8" fmla="*/ 260 w 516"/>
                <a:gd name="T9" fmla="*/ 384 h 512"/>
                <a:gd name="T10" fmla="*/ 258 w 516"/>
                <a:gd name="T11" fmla="*/ 384 h 512"/>
                <a:gd name="T12" fmla="*/ 168 w 516"/>
                <a:gd name="T13" fmla="*/ 347 h 512"/>
                <a:gd name="T14" fmla="*/ 130 w 516"/>
                <a:gd name="T15" fmla="*/ 258 h 512"/>
                <a:gd name="T16" fmla="*/ 166 w 516"/>
                <a:gd name="T17" fmla="*/ 167 h 512"/>
                <a:gd name="T18" fmla="*/ 256 w 516"/>
                <a:gd name="T19" fmla="*/ 128 h 512"/>
                <a:gd name="T20" fmla="*/ 258 w 516"/>
                <a:gd name="T21" fmla="*/ 128 h 512"/>
                <a:gd name="T22" fmla="*/ 258 w 516"/>
                <a:gd name="T23" fmla="*/ 128 h 512"/>
                <a:gd name="T24" fmla="*/ 258 w 516"/>
                <a:gd name="T25" fmla="*/ 128 h 512"/>
                <a:gd name="T26" fmla="*/ 258 w 516"/>
                <a:gd name="T27" fmla="*/ 0 h 512"/>
                <a:gd name="T28" fmla="*/ 255 w 516"/>
                <a:gd name="T29" fmla="*/ 0 h 512"/>
                <a:gd name="T30" fmla="*/ 2 w 516"/>
                <a:gd name="T31" fmla="*/ 259 h 512"/>
                <a:gd name="T32" fmla="*/ 258 w 516"/>
                <a:gd name="T33" fmla="*/ 512 h 512"/>
                <a:gd name="T34" fmla="*/ 261 w 516"/>
                <a:gd name="T35" fmla="*/ 512 h 512"/>
                <a:gd name="T36" fmla="*/ 514 w 516"/>
                <a:gd name="T37" fmla="*/ 253 h 512"/>
                <a:gd name="T38" fmla="*/ 258 w 516"/>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6" h="512">
                  <a:moveTo>
                    <a:pt x="258" y="128"/>
                  </a:moveTo>
                  <a:cubicBezTo>
                    <a:pt x="292" y="128"/>
                    <a:pt x="324" y="141"/>
                    <a:pt x="348" y="165"/>
                  </a:cubicBezTo>
                  <a:cubicBezTo>
                    <a:pt x="372" y="189"/>
                    <a:pt x="386" y="220"/>
                    <a:pt x="386" y="254"/>
                  </a:cubicBezTo>
                  <a:cubicBezTo>
                    <a:pt x="386" y="288"/>
                    <a:pt x="374" y="321"/>
                    <a:pt x="350" y="345"/>
                  </a:cubicBezTo>
                  <a:cubicBezTo>
                    <a:pt x="326" y="370"/>
                    <a:pt x="294" y="383"/>
                    <a:pt x="260" y="384"/>
                  </a:cubicBezTo>
                  <a:cubicBezTo>
                    <a:pt x="259" y="384"/>
                    <a:pt x="259" y="384"/>
                    <a:pt x="258" y="384"/>
                  </a:cubicBezTo>
                  <a:cubicBezTo>
                    <a:pt x="224" y="384"/>
                    <a:pt x="192" y="371"/>
                    <a:pt x="168" y="347"/>
                  </a:cubicBezTo>
                  <a:cubicBezTo>
                    <a:pt x="144" y="323"/>
                    <a:pt x="130" y="291"/>
                    <a:pt x="130" y="258"/>
                  </a:cubicBezTo>
                  <a:cubicBezTo>
                    <a:pt x="130" y="223"/>
                    <a:pt x="143" y="191"/>
                    <a:pt x="166" y="167"/>
                  </a:cubicBezTo>
                  <a:cubicBezTo>
                    <a:pt x="190" y="142"/>
                    <a:pt x="222" y="128"/>
                    <a:pt x="256" y="128"/>
                  </a:cubicBezTo>
                  <a:cubicBezTo>
                    <a:pt x="257" y="128"/>
                    <a:pt x="258" y="128"/>
                    <a:pt x="258" y="128"/>
                  </a:cubicBezTo>
                  <a:cubicBezTo>
                    <a:pt x="258" y="128"/>
                    <a:pt x="258" y="128"/>
                    <a:pt x="258" y="128"/>
                  </a:cubicBezTo>
                  <a:cubicBezTo>
                    <a:pt x="258" y="128"/>
                    <a:pt x="258" y="128"/>
                    <a:pt x="258" y="128"/>
                  </a:cubicBezTo>
                  <a:moveTo>
                    <a:pt x="258" y="0"/>
                  </a:moveTo>
                  <a:cubicBezTo>
                    <a:pt x="257" y="0"/>
                    <a:pt x="256" y="0"/>
                    <a:pt x="255" y="0"/>
                  </a:cubicBezTo>
                  <a:cubicBezTo>
                    <a:pt x="113" y="2"/>
                    <a:pt x="0" y="118"/>
                    <a:pt x="2" y="259"/>
                  </a:cubicBezTo>
                  <a:cubicBezTo>
                    <a:pt x="4" y="399"/>
                    <a:pt x="118" y="512"/>
                    <a:pt x="258" y="512"/>
                  </a:cubicBezTo>
                  <a:cubicBezTo>
                    <a:pt x="259" y="512"/>
                    <a:pt x="260" y="512"/>
                    <a:pt x="261" y="512"/>
                  </a:cubicBezTo>
                  <a:cubicBezTo>
                    <a:pt x="403" y="510"/>
                    <a:pt x="516" y="394"/>
                    <a:pt x="514" y="253"/>
                  </a:cubicBezTo>
                  <a:cubicBezTo>
                    <a:pt x="512" y="112"/>
                    <a:pt x="398" y="0"/>
                    <a:pt x="258"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0" name="Freeform 24">
              <a:extLst>
                <a:ext uri="{FF2B5EF4-FFF2-40B4-BE49-F238E27FC236}">
                  <a16:creationId xmlns:a16="http://schemas.microsoft.com/office/drawing/2014/main" id="{5D765489-5BE9-46D0-B950-5749FF8BD869}"/>
                </a:ext>
              </a:extLst>
            </p:cNvPr>
            <p:cNvSpPr>
              <a:spLocks/>
            </p:cNvSpPr>
            <p:nvPr/>
          </p:nvSpPr>
          <p:spPr bwMode="auto">
            <a:xfrm>
              <a:off x="470" y="1175"/>
              <a:ext cx="14" cy="12"/>
            </a:xfrm>
            <a:custGeom>
              <a:avLst/>
              <a:gdLst>
                <a:gd name="T0" fmla="*/ 14 w 14"/>
                <a:gd name="T1" fmla="*/ 11 h 12"/>
                <a:gd name="T2" fmla="*/ 0 w 14"/>
                <a:gd name="T3" fmla="*/ 12 h 12"/>
                <a:gd name="T4" fmla="*/ 0 w 14"/>
                <a:gd name="T5" fmla="*/ 0 h 12"/>
                <a:gd name="T6" fmla="*/ 14 w 14"/>
                <a:gd name="T7" fmla="*/ 0 h 12"/>
                <a:gd name="T8" fmla="*/ 14 w 14"/>
                <a:gd name="T9" fmla="*/ 11 h 12"/>
              </a:gdLst>
              <a:ahLst/>
              <a:cxnLst>
                <a:cxn ang="0">
                  <a:pos x="T0" y="T1"/>
                </a:cxn>
                <a:cxn ang="0">
                  <a:pos x="T2" y="T3"/>
                </a:cxn>
                <a:cxn ang="0">
                  <a:pos x="T4" y="T5"/>
                </a:cxn>
                <a:cxn ang="0">
                  <a:pos x="T6" y="T7"/>
                </a:cxn>
                <a:cxn ang="0">
                  <a:pos x="T8" y="T9"/>
                </a:cxn>
              </a:cxnLst>
              <a:rect l="0" t="0" r="r" b="b"/>
              <a:pathLst>
                <a:path w="14" h="12">
                  <a:moveTo>
                    <a:pt x="14" y="11"/>
                  </a:moveTo>
                  <a:lnTo>
                    <a:pt x="0" y="12"/>
                  </a:lnTo>
                  <a:lnTo>
                    <a:pt x="0" y="0"/>
                  </a:lnTo>
                  <a:lnTo>
                    <a:pt x="14" y="0"/>
                  </a:lnTo>
                  <a:lnTo>
                    <a:pt x="14" y="1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1" name="Freeform 25">
              <a:extLst>
                <a:ext uri="{FF2B5EF4-FFF2-40B4-BE49-F238E27FC236}">
                  <a16:creationId xmlns:a16="http://schemas.microsoft.com/office/drawing/2014/main" id="{4AF405BC-E2AD-4320-9DF6-76D001007AD1}"/>
                </a:ext>
              </a:extLst>
            </p:cNvPr>
            <p:cNvSpPr>
              <a:spLocks/>
            </p:cNvSpPr>
            <p:nvPr/>
          </p:nvSpPr>
          <p:spPr bwMode="auto">
            <a:xfrm>
              <a:off x="534" y="1236"/>
              <a:ext cx="13" cy="14"/>
            </a:xfrm>
            <a:custGeom>
              <a:avLst/>
              <a:gdLst>
                <a:gd name="T0" fmla="*/ 12 w 13"/>
                <a:gd name="T1" fmla="*/ 0 h 14"/>
                <a:gd name="T2" fmla="*/ 13 w 13"/>
                <a:gd name="T3" fmla="*/ 14 h 14"/>
                <a:gd name="T4" fmla="*/ 0 w 13"/>
                <a:gd name="T5" fmla="*/ 14 h 14"/>
                <a:gd name="T6" fmla="*/ 0 w 13"/>
                <a:gd name="T7" fmla="*/ 0 h 14"/>
                <a:gd name="T8" fmla="*/ 12 w 13"/>
                <a:gd name="T9" fmla="*/ 0 h 14"/>
              </a:gdLst>
              <a:ahLst/>
              <a:cxnLst>
                <a:cxn ang="0">
                  <a:pos x="T0" y="T1"/>
                </a:cxn>
                <a:cxn ang="0">
                  <a:pos x="T2" y="T3"/>
                </a:cxn>
                <a:cxn ang="0">
                  <a:pos x="T4" y="T5"/>
                </a:cxn>
                <a:cxn ang="0">
                  <a:pos x="T6" y="T7"/>
                </a:cxn>
                <a:cxn ang="0">
                  <a:pos x="T8" y="T9"/>
                </a:cxn>
              </a:cxnLst>
              <a:rect l="0" t="0" r="r" b="b"/>
              <a:pathLst>
                <a:path w="13" h="14">
                  <a:moveTo>
                    <a:pt x="12" y="0"/>
                  </a:moveTo>
                  <a:lnTo>
                    <a:pt x="13" y="14"/>
                  </a:lnTo>
                  <a:lnTo>
                    <a:pt x="0" y="14"/>
                  </a:lnTo>
                  <a:lnTo>
                    <a:pt x="0" y="0"/>
                  </a:lnTo>
                  <a:lnTo>
                    <a:pt x="12"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2" name="Freeform 26">
              <a:extLst>
                <a:ext uri="{FF2B5EF4-FFF2-40B4-BE49-F238E27FC236}">
                  <a16:creationId xmlns:a16="http://schemas.microsoft.com/office/drawing/2014/main" id="{C2F5583A-A213-4182-BA02-668CF09E7228}"/>
                </a:ext>
              </a:extLst>
            </p:cNvPr>
            <p:cNvSpPr>
              <a:spLocks/>
            </p:cNvSpPr>
            <p:nvPr/>
          </p:nvSpPr>
          <p:spPr bwMode="auto">
            <a:xfrm>
              <a:off x="513" y="1190"/>
              <a:ext cx="18" cy="18"/>
            </a:xfrm>
            <a:custGeom>
              <a:avLst/>
              <a:gdLst>
                <a:gd name="T0" fmla="*/ 8 w 18"/>
                <a:gd name="T1" fmla="*/ 0 h 18"/>
                <a:gd name="T2" fmla="*/ 18 w 18"/>
                <a:gd name="T3" fmla="*/ 10 h 18"/>
                <a:gd name="T4" fmla="*/ 10 w 18"/>
                <a:gd name="T5" fmla="*/ 18 h 18"/>
                <a:gd name="T6" fmla="*/ 0 w 18"/>
                <a:gd name="T7" fmla="*/ 8 h 18"/>
                <a:gd name="T8" fmla="*/ 8 w 18"/>
                <a:gd name="T9" fmla="*/ 0 h 18"/>
              </a:gdLst>
              <a:ahLst/>
              <a:cxnLst>
                <a:cxn ang="0">
                  <a:pos x="T0" y="T1"/>
                </a:cxn>
                <a:cxn ang="0">
                  <a:pos x="T2" y="T3"/>
                </a:cxn>
                <a:cxn ang="0">
                  <a:pos x="T4" y="T5"/>
                </a:cxn>
                <a:cxn ang="0">
                  <a:pos x="T6" y="T7"/>
                </a:cxn>
                <a:cxn ang="0">
                  <a:pos x="T8" y="T9"/>
                </a:cxn>
              </a:cxnLst>
              <a:rect l="0" t="0" r="r" b="b"/>
              <a:pathLst>
                <a:path w="18" h="18">
                  <a:moveTo>
                    <a:pt x="8" y="0"/>
                  </a:moveTo>
                  <a:lnTo>
                    <a:pt x="18" y="10"/>
                  </a:lnTo>
                  <a:lnTo>
                    <a:pt x="10" y="18"/>
                  </a:lnTo>
                  <a:lnTo>
                    <a:pt x="0" y="8"/>
                  </a:lnTo>
                  <a:lnTo>
                    <a:pt x="8"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3" name="Freeform 27">
              <a:extLst>
                <a:ext uri="{FF2B5EF4-FFF2-40B4-BE49-F238E27FC236}">
                  <a16:creationId xmlns:a16="http://schemas.microsoft.com/office/drawing/2014/main" id="{31A9E88D-00F5-4B35-88C7-8D4302D69C0B}"/>
                </a:ext>
              </a:extLst>
            </p:cNvPr>
            <p:cNvSpPr>
              <a:spLocks/>
            </p:cNvSpPr>
            <p:nvPr/>
          </p:nvSpPr>
          <p:spPr bwMode="auto">
            <a:xfrm>
              <a:off x="514" y="1277"/>
              <a:ext cx="19" cy="18"/>
            </a:xfrm>
            <a:custGeom>
              <a:avLst/>
              <a:gdLst>
                <a:gd name="T0" fmla="*/ 0 w 19"/>
                <a:gd name="T1" fmla="*/ 10 h 18"/>
                <a:gd name="T2" fmla="*/ 10 w 19"/>
                <a:gd name="T3" fmla="*/ 0 h 18"/>
                <a:gd name="T4" fmla="*/ 19 w 19"/>
                <a:gd name="T5" fmla="*/ 8 h 18"/>
                <a:gd name="T6" fmla="*/ 8 w 19"/>
                <a:gd name="T7" fmla="*/ 18 h 18"/>
                <a:gd name="T8" fmla="*/ 0 w 19"/>
                <a:gd name="T9" fmla="*/ 10 h 18"/>
              </a:gdLst>
              <a:ahLst/>
              <a:cxnLst>
                <a:cxn ang="0">
                  <a:pos x="T0" y="T1"/>
                </a:cxn>
                <a:cxn ang="0">
                  <a:pos x="T2" y="T3"/>
                </a:cxn>
                <a:cxn ang="0">
                  <a:pos x="T4" y="T5"/>
                </a:cxn>
                <a:cxn ang="0">
                  <a:pos x="T6" y="T7"/>
                </a:cxn>
                <a:cxn ang="0">
                  <a:pos x="T8" y="T9"/>
                </a:cxn>
              </a:cxnLst>
              <a:rect l="0" t="0" r="r" b="b"/>
              <a:pathLst>
                <a:path w="19" h="18">
                  <a:moveTo>
                    <a:pt x="0" y="10"/>
                  </a:moveTo>
                  <a:lnTo>
                    <a:pt x="10" y="0"/>
                  </a:lnTo>
                  <a:lnTo>
                    <a:pt x="19" y="8"/>
                  </a:lnTo>
                  <a:lnTo>
                    <a:pt x="8" y="18"/>
                  </a:lnTo>
                  <a:lnTo>
                    <a:pt x="0" y="1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4" name="Freeform 28">
              <a:extLst>
                <a:ext uri="{FF2B5EF4-FFF2-40B4-BE49-F238E27FC236}">
                  <a16:creationId xmlns:a16="http://schemas.microsoft.com/office/drawing/2014/main" id="{720DA1C7-3EAF-4636-95B0-E7B0B3BD3DB1}"/>
                </a:ext>
              </a:extLst>
            </p:cNvPr>
            <p:cNvSpPr>
              <a:spLocks/>
            </p:cNvSpPr>
            <p:nvPr/>
          </p:nvSpPr>
          <p:spPr bwMode="auto">
            <a:xfrm>
              <a:off x="424" y="1191"/>
              <a:ext cx="19" cy="18"/>
            </a:xfrm>
            <a:custGeom>
              <a:avLst/>
              <a:gdLst>
                <a:gd name="T0" fmla="*/ 0 w 19"/>
                <a:gd name="T1" fmla="*/ 11 h 18"/>
                <a:gd name="T2" fmla="*/ 11 w 19"/>
                <a:gd name="T3" fmla="*/ 0 h 18"/>
                <a:gd name="T4" fmla="*/ 19 w 19"/>
                <a:gd name="T5" fmla="*/ 8 h 18"/>
                <a:gd name="T6" fmla="*/ 8 w 19"/>
                <a:gd name="T7" fmla="*/ 18 h 18"/>
                <a:gd name="T8" fmla="*/ 0 w 19"/>
                <a:gd name="T9" fmla="*/ 11 h 18"/>
              </a:gdLst>
              <a:ahLst/>
              <a:cxnLst>
                <a:cxn ang="0">
                  <a:pos x="T0" y="T1"/>
                </a:cxn>
                <a:cxn ang="0">
                  <a:pos x="T2" y="T3"/>
                </a:cxn>
                <a:cxn ang="0">
                  <a:pos x="T4" y="T5"/>
                </a:cxn>
                <a:cxn ang="0">
                  <a:pos x="T6" y="T7"/>
                </a:cxn>
                <a:cxn ang="0">
                  <a:pos x="T8" y="T9"/>
                </a:cxn>
              </a:cxnLst>
              <a:rect l="0" t="0" r="r" b="b"/>
              <a:pathLst>
                <a:path w="19" h="18">
                  <a:moveTo>
                    <a:pt x="0" y="11"/>
                  </a:moveTo>
                  <a:lnTo>
                    <a:pt x="11" y="0"/>
                  </a:lnTo>
                  <a:lnTo>
                    <a:pt x="19" y="8"/>
                  </a:lnTo>
                  <a:lnTo>
                    <a:pt x="8" y="18"/>
                  </a:lnTo>
                  <a:lnTo>
                    <a:pt x="0" y="1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38" name="TextBox 37">
            <a:extLst>
              <a:ext uri="{FF2B5EF4-FFF2-40B4-BE49-F238E27FC236}">
                <a16:creationId xmlns:a16="http://schemas.microsoft.com/office/drawing/2014/main" id="{C6C699EB-C94A-4D6B-9422-75F0586F0D3A}"/>
              </a:ext>
            </a:extLst>
          </p:cNvPr>
          <p:cNvSpPr txBox="1"/>
          <p:nvPr/>
        </p:nvSpPr>
        <p:spPr>
          <a:xfrm>
            <a:off x="580941" y="3417577"/>
            <a:ext cx="2286000" cy="64633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Segoe UI"/>
                <a:ea typeface="Segoe UI Semilight" charset="0"/>
                <a:cs typeface="Segoe UI" panose="020B0502040204020203" pitchFamily="34" charset="0"/>
              </a:rPr>
              <a:t>Industry leading performance and security*, with unmatched cloud scale</a:t>
            </a:r>
            <a:endParaRPr kumimoji="0" lang="en-US" sz="1400" b="0" i="0" u="none" strike="noStrike" kern="1200" cap="none" spc="0" normalizeH="0" baseline="0" noProof="0">
              <a:ln>
                <a:noFill/>
              </a:ln>
              <a:solidFill>
                <a:prstClr val="white"/>
              </a:solidFill>
              <a:effectLst/>
              <a:uLnTx/>
              <a:uFillTx/>
              <a:latin typeface="Segoe UI"/>
              <a:ea typeface="+mn-ea"/>
              <a:cs typeface="Segoe UI" panose="020B0502040204020203" pitchFamily="34" charset="0"/>
            </a:endParaRPr>
          </a:p>
        </p:txBody>
      </p:sp>
      <p:sp>
        <p:nvSpPr>
          <p:cNvPr id="30" name="Title 1">
            <a:extLst>
              <a:ext uri="{FF2B5EF4-FFF2-40B4-BE49-F238E27FC236}">
                <a16:creationId xmlns:a16="http://schemas.microsoft.com/office/drawing/2014/main" id="{0B06472D-B890-FB40-B8B6-471D64BA71B3}"/>
              </a:ext>
            </a:extLst>
          </p:cNvPr>
          <p:cNvSpPr txBox="1">
            <a:spLocks/>
          </p:cNvSpPr>
          <p:nvPr/>
        </p:nvSpPr>
        <p:spPr>
          <a:xfrm>
            <a:off x="3777497" y="1497693"/>
            <a:ext cx="1721186" cy="646331"/>
          </a:xfrm>
          <a:prstGeom prst="rect">
            <a:avLst/>
          </a:prstGeom>
        </p:spPr>
        <p:txBody>
          <a:bodyPr wrap="square">
            <a:sp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w="3175">
                  <a:noFill/>
                </a:ln>
                <a:solidFill>
                  <a:srgbClr val="50E6FF"/>
                </a:solidFill>
                <a:effectLst/>
                <a:uLnTx/>
                <a:uFillTx/>
                <a:latin typeface="Segoe UI Semibold"/>
                <a:ea typeface="+mn-ea"/>
                <a:cs typeface="Segoe UI" pitchFamily="34" charset="0"/>
              </a:rPr>
              <a:t>Seamless </a:t>
            </a:r>
            <a:br>
              <a:rPr kumimoji="0" lang="en-US" sz="1800" b="0" i="0" u="none" strike="noStrike" kern="1200" cap="none" spc="0" normalizeH="0" baseline="0" noProof="0">
                <a:ln w="3175">
                  <a:noFill/>
                </a:ln>
                <a:solidFill>
                  <a:srgbClr val="50E6FF"/>
                </a:solidFill>
                <a:effectLst/>
                <a:uLnTx/>
                <a:uFillTx/>
                <a:latin typeface="Segoe UI Semibold"/>
                <a:ea typeface="+mn-ea"/>
                <a:cs typeface="Segoe UI" pitchFamily="34" charset="0"/>
              </a:rPr>
            </a:br>
            <a:r>
              <a:rPr kumimoji="0" lang="en-US" sz="1800" b="0" i="0" u="none" strike="noStrike" kern="1200" cap="none" spc="0" normalizeH="0" baseline="0" noProof="0">
                <a:ln w="3175">
                  <a:noFill/>
                </a:ln>
                <a:solidFill>
                  <a:srgbClr val="50E6FF"/>
                </a:solidFill>
                <a:effectLst/>
                <a:uLnTx/>
                <a:uFillTx/>
                <a:latin typeface="Segoe UI Semibold"/>
                <a:ea typeface="+mn-ea"/>
                <a:cs typeface="Segoe UI" pitchFamily="34" charset="0"/>
              </a:rPr>
              <a:t>Migration</a:t>
            </a:r>
          </a:p>
        </p:txBody>
      </p:sp>
      <p:grpSp>
        <p:nvGrpSpPr>
          <p:cNvPr id="66" name="Group 146">
            <a:extLst>
              <a:ext uri="{FF2B5EF4-FFF2-40B4-BE49-F238E27FC236}">
                <a16:creationId xmlns:a16="http://schemas.microsoft.com/office/drawing/2014/main" id="{904F016A-D645-4969-8CDB-B36DB70345FE}"/>
              </a:ext>
              <a:ext uri="{C183D7F6-B498-43B3-948B-1728B52AA6E4}">
                <adec:decorative xmlns:adec="http://schemas.microsoft.com/office/drawing/2017/decorative" val="1"/>
              </a:ext>
            </a:extLst>
          </p:cNvPr>
          <p:cNvGrpSpPr>
            <a:grpSpLocks noChangeAspect="1"/>
          </p:cNvGrpSpPr>
          <p:nvPr/>
        </p:nvGrpSpPr>
        <p:grpSpPr bwMode="auto">
          <a:xfrm>
            <a:off x="4273896" y="2416606"/>
            <a:ext cx="728388" cy="728388"/>
            <a:chOff x="410" y="1787"/>
            <a:chExt cx="312" cy="312"/>
          </a:xfrm>
          <a:solidFill>
            <a:schemeClr val="accent1"/>
          </a:solidFill>
        </p:grpSpPr>
        <p:sp>
          <p:nvSpPr>
            <p:cNvPr id="71" name="Oval 147">
              <a:extLst>
                <a:ext uri="{FF2B5EF4-FFF2-40B4-BE49-F238E27FC236}">
                  <a16:creationId xmlns:a16="http://schemas.microsoft.com/office/drawing/2014/main" id="{ACDA005A-7450-43B9-A907-1D5D9F3C5A8E}"/>
                </a:ext>
              </a:extLst>
            </p:cNvPr>
            <p:cNvSpPr>
              <a:spLocks noChangeArrowheads="1"/>
            </p:cNvSpPr>
            <p:nvPr/>
          </p:nvSpPr>
          <p:spPr bwMode="auto">
            <a:xfrm>
              <a:off x="410" y="2041"/>
              <a:ext cx="59" cy="5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2" name="Rectangle 148">
              <a:extLst>
                <a:ext uri="{FF2B5EF4-FFF2-40B4-BE49-F238E27FC236}">
                  <a16:creationId xmlns:a16="http://schemas.microsoft.com/office/drawing/2014/main" id="{E1F0D4DD-8D11-450F-9775-601211BF6345}"/>
                </a:ext>
              </a:extLst>
            </p:cNvPr>
            <p:cNvSpPr>
              <a:spLocks noChangeArrowheads="1"/>
            </p:cNvSpPr>
            <p:nvPr/>
          </p:nvSpPr>
          <p:spPr bwMode="auto">
            <a:xfrm>
              <a:off x="664" y="1787"/>
              <a:ext cx="58" cy="5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3" name="Freeform 149">
              <a:extLst>
                <a:ext uri="{FF2B5EF4-FFF2-40B4-BE49-F238E27FC236}">
                  <a16:creationId xmlns:a16="http://schemas.microsoft.com/office/drawing/2014/main" id="{D7BD6D8E-B6D1-4D2B-9852-45558D170E83}"/>
                </a:ext>
              </a:extLst>
            </p:cNvPr>
            <p:cNvSpPr>
              <a:spLocks/>
            </p:cNvSpPr>
            <p:nvPr/>
          </p:nvSpPr>
          <p:spPr bwMode="auto">
            <a:xfrm>
              <a:off x="468" y="1874"/>
              <a:ext cx="168" cy="167"/>
            </a:xfrm>
            <a:custGeom>
              <a:avLst/>
              <a:gdLst>
                <a:gd name="T0" fmla="*/ 147 w 168"/>
                <a:gd name="T1" fmla="*/ 0 h 167"/>
                <a:gd name="T2" fmla="*/ 168 w 168"/>
                <a:gd name="T3" fmla="*/ 20 h 167"/>
                <a:gd name="T4" fmla="*/ 21 w 168"/>
                <a:gd name="T5" fmla="*/ 167 h 167"/>
                <a:gd name="T6" fmla="*/ 0 w 168"/>
                <a:gd name="T7" fmla="*/ 147 h 167"/>
                <a:gd name="T8" fmla="*/ 147 w 168"/>
                <a:gd name="T9" fmla="*/ 0 h 167"/>
              </a:gdLst>
              <a:ahLst/>
              <a:cxnLst>
                <a:cxn ang="0">
                  <a:pos x="T0" y="T1"/>
                </a:cxn>
                <a:cxn ang="0">
                  <a:pos x="T2" y="T3"/>
                </a:cxn>
                <a:cxn ang="0">
                  <a:pos x="T4" y="T5"/>
                </a:cxn>
                <a:cxn ang="0">
                  <a:pos x="T6" y="T7"/>
                </a:cxn>
                <a:cxn ang="0">
                  <a:pos x="T8" y="T9"/>
                </a:cxn>
              </a:cxnLst>
              <a:rect l="0" t="0" r="r" b="b"/>
              <a:pathLst>
                <a:path w="168" h="167">
                  <a:moveTo>
                    <a:pt x="147" y="0"/>
                  </a:moveTo>
                  <a:lnTo>
                    <a:pt x="168" y="20"/>
                  </a:lnTo>
                  <a:lnTo>
                    <a:pt x="21" y="167"/>
                  </a:lnTo>
                  <a:lnTo>
                    <a:pt x="0" y="147"/>
                  </a:lnTo>
                  <a:lnTo>
                    <a:pt x="1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4" name="Rectangle 150">
              <a:extLst>
                <a:ext uri="{FF2B5EF4-FFF2-40B4-BE49-F238E27FC236}">
                  <a16:creationId xmlns:a16="http://schemas.microsoft.com/office/drawing/2014/main" id="{E59DC8EB-7EAC-45D7-B917-1A0800837335}"/>
                </a:ext>
              </a:extLst>
            </p:cNvPr>
            <p:cNvSpPr>
              <a:spLocks noChangeArrowheads="1"/>
            </p:cNvSpPr>
            <p:nvPr/>
          </p:nvSpPr>
          <p:spPr bwMode="auto">
            <a:xfrm>
              <a:off x="615" y="1865"/>
              <a:ext cx="29" cy="9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0" name="Rectangle 151">
              <a:extLst>
                <a:ext uri="{FF2B5EF4-FFF2-40B4-BE49-F238E27FC236}">
                  <a16:creationId xmlns:a16="http://schemas.microsoft.com/office/drawing/2014/main" id="{A5DE9AB0-9A4D-4D0C-A266-6CE50D869BCB}"/>
                </a:ext>
              </a:extLst>
            </p:cNvPr>
            <p:cNvSpPr>
              <a:spLocks noChangeArrowheads="1"/>
            </p:cNvSpPr>
            <p:nvPr/>
          </p:nvSpPr>
          <p:spPr bwMode="auto">
            <a:xfrm>
              <a:off x="546" y="1865"/>
              <a:ext cx="98" cy="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31" name="TextBox 30">
            <a:extLst>
              <a:ext uri="{FF2B5EF4-FFF2-40B4-BE49-F238E27FC236}">
                <a16:creationId xmlns:a16="http://schemas.microsoft.com/office/drawing/2014/main" id="{6F4242EB-E098-4AFE-8BBF-7850937E0531}"/>
              </a:ext>
            </a:extLst>
          </p:cNvPr>
          <p:cNvSpPr txBox="1"/>
          <p:nvPr/>
        </p:nvSpPr>
        <p:spPr>
          <a:xfrm>
            <a:off x="3495090" y="3417577"/>
            <a:ext cx="2286000" cy="86177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Segoe UI" panose="020B0502040204020203" pitchFamily="34" charset="0"/>
              </a:rPr>
              <a:t>Full parity with SQL Server for easy lift-and-shift or modernizing existing applications </a:t>
            </a:r>
          </a:p>
        </p:txBody>
      </p:sp>
      <p:sp>
        <p:nvSpPr>
          <p:cNvPr id="81" name="Title 1">
            <a:extLst>
              <a:ext uri="{FF2B5EF4-FFF2-40B4-BE49-F238E27FC236}">
                <a16:creationId xmlns:a16="http://schemas.microsoft.com/office/drawing/2014/main" id="{93B7A503-2A98-487C-9DDA-AC464871ECDB}"/>
              </a:ext>
            </a:extLst>
          </p:cNvPr>
          <p:cNvSpPr txBox="1">
            <a:spLocks/>
          </p:cNvSpPr>
          <p:nvPr/>
        </p:nvSpPr>
        <p:spPr>
          <a:xfrm>
            <a:off x="6616638" y="1497693"/>
            <a:ext cx="1871205" cy="646331"/>
          </a:xfrm>
          <a:prstGeom prst="rect">
            <a:avLst/>
          </a:prstGeom>
        </p:spPr>
        <p:txBody>
          <a:bodyPr wrap="square">
            <a:sp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w="3175">
                  <a:noFill/>
                </a:ln>
                <a:solidFill>
                  <a:srgbClr val="50E6FF"/>
                </a:solidFill>
                <a:effectLst/>
                <a:uLnTx/>
                <a:uFillTx/>
                <a:latin typeface="Segoe UI Semibold"/>
                <a:ea typeface="+mn-ea"/>
                <a:cs typeface="Segoe UI" pitchFamily="34" charset="0"/>
              </a:rPr>
              <a:t>Competitive TCO</a:t>
            </a:r>
          </a:p>
        </p:txBody>
      </p:sp>
      <p:grpSp>
        <p:nvGrpSpPr>
          <p:cNvPr id="93" name="Group 4">
            <a:extLst>
              <a:ext uri="{FF2B5EF4-FFF2-40B4-BE49-F238E27FC236}">
                <a16:creationId xmlns:a16="http://schemas.microsoft.com/office/drawing/2014/main" id="{FBB740C8-AB48-400D-9037-1FA7DAF09F94}"/>
              </a:ext>
              <a:ext uri="{C183D7F6-B498-43B3-948B-1728B52AA6E4}">
                <adec:decorative xmlns:adec="http://schemas.microsoft.com/office/drawing/2017/decorative" val="1"/>
              </a:ext>
            </a:extLst>
          </p:cNvPr>
          <p:cNvGrpSpPr>
            <a:grpSpLocks noChangeAspect="1"/>
          </p:cNvGrpSpPr>
          <p:nvPr/>
        </p:nvGrpSpPr>
        <p:grpSpPr bwMode="auto">
          <a:xfrm>
            <a:off x="7188046" y="2417773"/>
            <a:ext cx="728388" cy="726054"/>
            <a:chOff x="410" y="1000"/>
            <a:chExt cx="312" cy="311"/>
          </a:xfrm>
          <a:solidFill>
            <a:schemeClr val="accent1"/>
          </a:solidFill>
        </p:grpSpPr>
        <p:sp>
          <p:nvSpPr>
            <p:cNvPr id="94" name="Freeform 5">
              <a:extLst>
                <a:ext uri="{FF2B5EF4-FFF2-40B4-BE49-F238E27FC236}">
                  <a16:creationId xmlns:a16="http://schemas.microsoft.com/office/drawing/2014/main" id="{43FED7F8-7575-40B8-81B4-6D113FA10FDE}"/>
                </a:ext>
              </a:extLst>
            </p:cNvPr>
            <p:cNvSpPr>
              <a:spLocks noEditPoints="1"/>
            </p:cNvSpPr>
            <p:nvPr/>
          </p:nvSpPr>
          <p:spPr bwMode="auto">
            <a:xfrm>
              <a:off x="527" y="1081"/>
              <a:ext cx="78" cy="149"/>
            </a:xfrm>
            <a:custGeom>
              <a:avLst/>
              <a:gdLst>
                <a:gd name="T0" fmla="*/ 341 w 341"/>
                <a:gd name="T1" fmla="*/ 434 h 650"/>
                <a:gd name="T2" fmla="*/ 304 w 341"/>
                <a:gd name="T3" fmla="*/ 529 h 650"/>
                <a:gd name="T4" fmla="*/ 196 w 341"/>
                <a:gd name="T5" fmla="*/ 573 h 650"/>
                <a:gd name="T6" fmla="*/ 196 w 341"/>
                <a:gd name="T7" fmla="*/ 650 h 650"/>
                <a:gd name="T8" fmla="*/ 144 w 341"/>
                <a:gd name="T9" fmla="*/ 650 h 650"/>
                <a:gd name="T10" fmla="*/ 144 w 341"/>
                <a:gd name="T11" fmla="*/ 575 h 650"/>
                <a:gd name="T12" fmla="*/ 9 w 341"/>
                <a:gd name="T13" fmla="*/ 542 h 650"/>
                <a:gd name="T14" fmla="*/ 9 w 341"/>
                <a:gd name="T15" fmla="*/ 444 h 650"/>
                <a:gd name="T16" fmla="*/ 71 w 341"/>
                <a:gd name="T17" fmla="*/ 474 h 650"/>
                <a:gd name="T18" fmla="*/ 144 w 341"/>
                <a:gd name="T19" fmla="*/ 491 h 650"/>
                <a:gd name="T20" fmla="*/ 144 w 341"/>
                <a:gd name="T21" fmla="*/ 362 h 650"/>
                <a:gd name="T22" fmla="*/ 32 w 341"/>
                <a:gd name="T23" fmla="*/ 298 h 650"/>
                <a:gd name="T24" fmla="*/ 0 w 341"/>
                <a:gd name="T25" fmla="*/ 207 h 650"/>
                <a:gd name="T26" fmla="*/ 40 w 341"/>
                <a:gd name="T27" fmla="*/ 111 h 650"/>
                <a:gd name="T28" fmla="*/ 144 w 341"/>
                <a:gd name="T29" fmla="*/ 66 h 650"/>
                <a:gd name="T30" fmla="*/ 144 w 341"/>
                <a:gd name="T31" fmla="*/ 0 h 650"/>
                <a:gd name="T32" fmla="*/ 196 w 341"/>
                <a:gd name="T33" fmla="*/ 0 h 650"/>
                <a:gd name="T34" fmla="*/ 196 w 341"/>
                <a:gd name="T35" fmla="*/ 65 h 650"/>
                <a:gd name="T36" fmla="*/ 308 w 341"/>
                <a:gd name="T37" fmla="*/ 89 h 650"/>
                <a:gd name="T38" fmla="*/ 308 w 341"/>
                <a:gd name="T39" fmla="*/ 185 h 650"/>
                <a:gd name="T40" fmla="*/ 196 w 341"/>
                <a:gd name="T41" fmla="*/ 148 h 650"/>
                <a:gd name="T42" fmla="*/ 196 w 341"/>
                <a:gd name="T43" fmla="*/ 283 h 650"/>
                <a:gd name="T44" fmla="*/ 308 w 341"/>
                <a:gd name="T45" fmla="*/ 347 h 650"/>
                <a:gd name="T46" fmla="*/ 341 w 341"/>
                <a:gd name="T47" fmla="*/ 434 h 650"/>
                <a:gd name="T48" fmla="*/ 144 w 341"/>
                <a:gd name="T49" fmla="*/ 262 h 650"/>
                <a:gd name="T50" fmla="*/ 144 w 341"/>
                <a:gd name="T51" fmla="*/ 149 h 650"/>
                <a:gd name="T52" fmla="*/ 94 w 341"/>
                <a:gd name="T53" fmla="*/ 201 h 650"/>
                <a:gd name="T54" fmla="*/ 144 w 341"/>
                <a:gd name="T55" fmla="*/ 262 h 650"/>
                <a:gd name="T56" fmla="*/ 246 w 341"/>
                <a:gd name="T57" fmla="*/ 439 h 650"/>
                <a:gd name="T58" fmla="*/ 196 w 341"/>
                <a:gd name="T59" fmla="*/ 382 h 650"/>
                <a:gd name="T60" fmla="*/ 196 w 341"/>
                <a:gd name="T61" fmla="*/ 490 h 650"/>
                <a:gd name="T62" fmla="*/ 246 w 341"/>
                <a:gd name="T63" fmla="*/ 439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0">
                  <a:moveTo>
                    <a:pt x="341" y="434"/>
                  </a:moveTo>
                  <a:cubicBezTo>
                    <a:pt x="341" y="473"/>
                    <a:pt x="329" y="505"/>
                    <a:pt x="304" y="529"/>
                  </a:cubicBezTo>
                  <a:cubicBezTo>
                    <a:pt x="279" y="553"/>
                    <a:pt x="243" y="568"/>
                    <a:pt x="196" y="573"/>
                  </a:cubicBezTo>
                  <a:cubicBezTo>
                    <a:pt x="196" y="650"/>
                    <a:pt x="196" y="650"/>
                    <a:pt x="196" y="650"/>
                  </a:cubicBezTo>
                  <a:cubicBezTo>
                    <a:pt x="144" y="650"/>
                    <a:pt x="144" y="650"/>
                    <a:pt x="144" y="650"/>
                  </a:cubicBezTo>
                  <a:cubicBezTo>
                    <a:pt x="144" y="575"/>
                    <a:pt x="144" y="575"/>
                    <a:pt x="144" y="575"/>
                  </a:cubicBezTo>
                  <a:cubicBezTo>
                    <a:pt x="95" y="575"/>
                    <a:pt x="50" y="564"/>
                    <a:pt x="9" y="542"/>
                  </a:cubicBezTo>
                  <a:cubicBezTo>
                    <a:pt x="9" y="444"/>
                    <a:pt x="9" y="444"/>
                    <a:pt x="9" y="444"/>
                  </a:cubicBezTo>
                  <a:cubicBezTo>
                    <a:pt x="22" y="454"/>
                    <a:pt x="43" y="465"/>
                    <a:pt x="71" y="474"/>
                  </a:cubicBezTo>
                  <a:cubicBezTo>
                    <a:pt x="99" y="484"/>
                    <a:pt x="123" y="490"/>
                    <a:pt x="144" y="491"/>
                  </a:cubicBezTo>
                  <a:cubicBezTo>
                    <a:pt x="144" y="362"/>
                    <a:pt x="144" y="362"/>
                    <a:pt x="144" y="362"/>
                  </a:cubicBezTo>
                  <a:cubicBezTo>
                    <a:pt x="91" y="342"/>
                    <a:pt x="54" y="321"/>
                    <a:pt x="32" y="298"/>
                  </a:cubicBezTo>
                  <a:cubicBezTo>
                    <a:pt x="11" y="275"/>
                    <a:pt x="0" y="244"/>
                    <a:pt x="0" y="207"/>
                  </a:cubicBezTo>
                  <a:cubicBezTo>
                    <a:pt x="0" y="169"/>
                    <a:pt x="13" y="137"/>
                    <a:pt x="40" y="111"/>
                  </a:cubicBezTo>
                  <a:cubicBezTo>
                    <a:pt x="67" y="85"/>
                    <a:pt x="101" y="70"/>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1"/>
                    <a:pt x="285" y="323"/>
                    <a:pt x="308" y="347"/>
                  </a:cubicBezTo>
                  <a:cubicBezTo>
                    <a:pt x="330" y="370"/>
                    <a:pt x="341" y="399"/>
                    <a:pt x="341" y="434"/>
                  </a:cubicBezTo>
                  <a:close/>
                  <a:moveTo>
                    <a:pt x="144" y="262"/>
                  </a:moveTo>
                  <a:cubicBezTo>
                    <a:pt x="144" y="149"/>
                    <a:pt x="144" y="149"/>
                    <a:pt x="144" y="149"/>
                  </a:cubicBezTo>
                  <a:cubicBezTo>
                    <a:pt x="111" y="155"/>
                    <a:pt x="94" y="172"/>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4"/>
                    <a:pt x="246" y="467"/>
                    <a:pt x="246" y="43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5" name="Freeform 6">
              <a:extLst>
                <a:ext uri="{FF2B5EF4-FFF2-40B4-BE49-F238E27FC236}">
                  <a16:creationId xmlns:a16="http://schemas.microsoft.com/office/drawing/2014/main" id="{891F6C87-525B-4626-94EC-AB41100D5F06}"/>
                </a:ext>
              </a:extLst>
            </p:cNvPr>
            <p:cNvSpPr>
              <a:spLocks/>
            </p:cNvSpPr>
            <p:nvPr/>
          </p:nvSpPr>
          <p:spPr bwMode="auto">
            <a:xfrm>
              <a:off x="410" y="1000"/>
              <a:ext cx="312" cy="311"/>
            </a:xfrm>
            <a:custGeom>
              <a:avLst/>
              <a:gdLst>
                <a:gd name="T0" fmla="*/ 682 w 1365"/>
                <a:gd name="T1" fmla="*/ 1364 h 1364"/>
                <a:gd name="T2" fmla="*/ 0 w 1365"/>
                <a:gd name="T3" fmla="*/ 682 h 1364"/>
                <a:gd name="T4" fmla="*/ 682 w 1365"/>
                <a:gd name="T5" fmla="*/ 0 h 1364"/>
                <a:gd name="T6" fmla="*/ 1280 w 1365"/>
                <a:gd name="T7" fmla="*/ 352 h 1364"/>
                <a:gd name="T8" fmla="*/ 1311 w 1365"/>
                <a:gd name="T9" fmla="*/ 408 h 1364"/>
                <a:gd name="T10" fmla="*/ 1199 w 1365"/>
                <a:gd name="T11" fmla="*/ 470 h 1364"/>
                <a:gd name="T12" fmla="*/ 1168 w 1365"/>
                <a:gd name="T13" fmla="*/ 414 h 1364"/>
                <a:gd name="T14" fmla="*/ 682 w 1365"/>
                <a:gd name="T15" fmla="*/ 128 h 1364"/>
                <a:gd name="T16" fmla="*/ 128 w 1365"/>
                <a:gd name="T17" fmla="*/ 682 h 1364"/>
                <a:gd name="T18" fmla="*/ 682 w 1365"/>
                <a:gd name="T19" fmla="*/ 1236 h 1364"/>
                <a:gd name="T20" fmla="*/ 1237 w 1365"/>
                <a:gd name="T21" fmla="*/ 682 h 1364"/>
                <a:gd name="T22" fmla="*/ 1237 w 1365"/>
                <a:gd name="T23" fmla="*/ 682 h 1364"/>
                <a:gd name="T24" fmla="*/ 1365 w 1365"/>
                <a:gd name="T25" fmla="*/ 682 h 1364"/>
                <a:gd name="T26" fmla="*/ 1365 w 1365"/>
                <a:gd name="T27" fmla="*/ 682 h 1364"/>
                <a:gd name="T28" fmla="*/ 682 w 1365"/>
                <a:gd name="T29" fmla="*/ 1364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65" h="1364">
                  <a:moveTo>
                    <a:pt x="682" y="1364"/>
                  </a:moveTo>
                  <a:cubicBezTo>
                    <a:pt x="306" y="1364"/>
                    <a:pt x="0" y="1058"/>
                    <a:pt x="0" y="682"/>
                  </a:cubicBezTo>
                  <a:cubicBezTo>
                    <a:pt x="0" y="306"/>
                    <a:pt x="306" y="0"/>
                    <a:pt x="682" y="0"/>
                  </a:cubicBezTo>
                  <a:cubicBezTo>
                    <a:pt x="931" y="0"/>
                    <a:pt x="1160" y="135"/>
                    <a:pt x="1280" y="352"/>
                  </a:cubicBezTo>
                  <a:cubicBezTo>
                    <a:pt x="1311" y="408"/>
                    <a:pt x="1311" y="408"/>
                    <a:pt x="1311" y="408"/>
                  </a:cubicBezTo>
                  <a:cubicBezTo>
                    <a:pt x="1199" y="470"/>
                    <a:pt x="1199" y="470"/>
                    <a:pt x="1199" y="470"/>
                  </a:cubicBezTo>
                  <a:cubicBezTo>
                    <a:pt x="1168" y="414"/>
                    <a:pt x="1168" y="414"/>
                    <a:pt x="1168" y="414"/>
                  </a:cubicBezTo>
                  <a:cubicBezTo>
                    <a:pt x="1070" y="237"/>
                    <a:pt x="884" y="128"/>
                    <a:pt x="682" y="128"/>
                  </a:cubicBezTo>
                  <a:cubicBezTo>
                    <a:pt x="377" y="128"/>
                    <a:pt x="128" y="376"/>
                    <a:pt x="128" y="682"/>
                  </a:cubicBezTo>
                  <a:cubicBezTo>
                    <a:pt x="128" y="988"/>
                    <a:pt x="377" y="1236"/>
                    <a:pt x="682" y="1236"/>
                  </a:cubicBezTo>
                  <a:cubicBezTo>
                    <a:pt x="988" y="1236"/>
                    <a:pt x="1237" y="988"/>
                    <a:pt x="1237" y="682"/>
                  </a:cubicBezTo>
                  <a:cubicBezTo>
                    <a:pt x="1237" y="682"/>
                    <a:pt x="1237" y="682"/>
                    <a:pt x="1237" y="682"/>
                  </a:cubicBezTo>
                  <a:cubicBezTo>
                    <a:pt x="1365" y="682"/>
                    <a:pt x="1365" y="682"/>
                    <a:pt x="1365" y="682"/>
                  </a:cubicBezTo>
                  <a:cubicBezTo>
                    <a:pt x="1365" y="682"/>
                    <a:pt x="1365" y="682"/>
                    <a:pt x="1365" y="682"/>
                  </a:cubicBezTo>
                  <a:cubicBezTo>
                    <a:pt x="1365" y="1058"/>
                    <a:pt x="1059" y="1364"/>
                    <a:pt x="682" y="13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6" name="Freeform 7">
              <a:extLst>
                <a:ext uri="{FF2B5EF4-FFF2-40B4-BE49-F238E27FC236}">
                  <a16:creationId xmlns:a16="http://schemas.microsoft.com/office/drawing/2014/main" id="{69393139-AEC4-446B-A53E-E78E81B2041E}"/>
                </a:ext>
              </a:extLst>
            </p:cNvPr>
            <p:cNvSpPr>
              <a:spLocks/>
            </p:cNvSpPr>
            <p:nvPr/>
          </p:nvSpPr>
          <p:spPr bwMode="auto">
            <a:xfrm>
              <a:off x="634" y="1029"/>
              <a:ext cx="88" cy="88"/>
            </a:xfrm>
            <a:custGeom>
              <a:avLst/>
              <a:gdLst>
                <a:gd name="T0" fmla="*/ 0 w 88"/>
                <a:gd name="T1" fmla="*/ 88 h 88"/>
                <a:gd name="T2" fmla="*/ 0 w 88"/>
                <a:gd name="T3" fmla="*/ 59 h 88"/>
                <a:gd name="T4" fmla="*/ 59 w 88"/>
                <a:gd name="T5" fmla="*/ 59 h 88"/>
                <a:gd name="T6" fmla="*/ 59 w 88"/>
                <a:gd name="T7" fmla="*/ 0 h 88"/>
                <a:gd name="T8" fmla="*/ 88 w 88"/>
                <a:gd name="T9" fmla="*/ 0 h 88"/>
                <a:gd name="T10" fmla="*/ 88 w 88"/>
                <a:gd name="T11" fmla="*/ 88 h 88"/>
                <a:gd name="T12" fmla="*/ 0 w 88"/>
                <a:gd name="T13" fmla="*/ 88 h 88"/>
              </a:gdLst>
              <a:ahLst/>
              <a:cxnLst>
                <a:cxn ang="0">
                  <a:pos x="T0" y="T1"/>
                </a:cxn>
                <a:cxn ang="0">
                  <a:pos x="T2" y="T3"/>
                </a:cxn>
                <a:cxn ang="0">
                  <a:pos x="T4" y="T5"/>
                </a:cxn>
                <a:cxn ang="0">
                  <a:pos x="T6" y="T7"/>
                </a:cxn>
                <a:cxn ang="0">
                  <a:pos x="T8" y="T9"/>
                </a:cxn>
                <a:cxn ang="0">
                  <a:pos x="T10" y="T11"/>
                </a:cxn>
                <a:cxn ang="0">
                  <a:pos x="T12" y="T13"/>
                </a:cxn>
              </a:cxnLst>
              <a:rect l="0" t="0" r="r" b="b"/>
              <a:pathLst>
                <a:path w="88" h="88">
                  <a:moveTo>
                    <a:pt x="0" y="88"/>
                  </a:moveTo>
                  <a:lnTo>
                    <a:pt x="0" y="59"/>
                  </a:lnTo>
                  <a:lnTo>
                    <a:pt x="59" y="59"/>
                  </a:lnTo>
                  <a:lnTo>
                    <a:pt x="59" y="0"/>
                  </a:lnTo>
                  <a:lnTo>
                    <a:pt x="88" y="0"/>
                  </a:lnTo>
                  <a:lnTo>
                    <a:pt x="88" y="88"/>
                  </a:lnTo>
                  <a:lnTo>
                    <a:pt x="0"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37" name="TextBox 36">
            <a:extLst>
              <a:ext uri="{FF2B5EF4-FFF2-40B4-BE49-F238E27FC236}">
                <a16:creationId xmlns:a16="http://schemas.microsoft.com/office/drawing/2014/main" id="{3E164E8F-7AD8-4211-A35B-5F6731E222D2}"/>
              </a:ext>
            </a:extLst>
          </p:cNvPr>
          <p:cNvSpPr txBox="1"/>
          <p:nvPr/>
        </p:nvSpPr>
        <p:spPr>
          <a:xfrm>
            <a:off x="6303380" y="3417577"/>
            <a:ext cx="2497720" cy="86177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Segoe UI" panose="020B0502040204020203" pitchFamily="34" charset="0"/>
              </a:rPr>
              <a:t>Save with Azure Hybrid Benefit and receive</a:t>
            </a:r>
            <a:r>
              <a:rPr kumimoji="0" lang="en-US" sz="1400" b="1" i="0" u="none" strike="noStrike" kern="1200" cap="none" spc="0" normalizeH="0" baseline="0" noProof="0">
                <a:ln>
                  <a:noFill/>
                </a:ln>
                <a:solidFill>
                  <a:prstClr val="white"/>
                </a:solidFill>
                <a:effectLst/>
                <a:uLnTx/>
                <a:uFillTx/>
                <a:latin typeface="Segoe UI"/>
                <a:ea typeface="+mn-ea"/>
                <a:cs typeface="Segoe UI" panose="020B0502040204020203" pitchFamily="34" charset="0"/>
              </a:rPr>
              <a:t> </a:t>
            </a:r>
            <a:r>
              <a:rPr kumimoji="0" lang="en-US" sz="1400" b="0" i="0" u="none" strike="noStrike" kern="1200" cap="none" spc="0" normalizeH="0" baseline="0" noProof="0">
                <a:ln>
                  <a:noFill/>
                </a:ln>
                <a:solidFill>
                  <a:prstClr val="white"/>
                </a:solidFill>
                <a:effectLst/>
                <a:uLnTx/>
                <a:uFillTx/>
                <a:latin typeface="Segoe UI"/>
                <a:ea typeface="+mn-ea"/>
                <a:cs typeface="Segoe UI" panose="020B0502040204020203" pitchFamily="34" charset="0"/>
              </a:rPr>
              <a:t>up to 87% better price performance than the alternatives</a:t>
            </a:r>
          </a:p>
        </p:txBody>
      </p:sp>
      <p:sp>
        <p:nvSpPr>
          <p:cNvPr id="32" name="Title 1">
            <a:extLst>
              <a:ext uri="{FF2B5EF4-FFF2-40B4-BE49-F238E27FC236}">
                <a16:creationId xmlns:a16="http://schemas.microsoft.com/office/drawing/2014/main" id="{656E358F-8A94-F84D-AC37-2349630E609B}"/>
              </a:ext>
            </a:extLst>
          </p:cNvPr>
          <p:cNvSpPr txBox="1">
            <a:spLocks/>
          </p:cNvSpPr>
          <p:nvPr/>
        </p:nvSpPr>
        <p:spPr>
          <a:xfrm>
            <a:off x="9530786" y="1497693"/>
            <a:ext cx="1871205" cy="646331"/>
          </a:xfrm>
          <a:prstGeom prst="rect">
            <a:avLst/>
          </a:prstGeom>
        </p:spPr>
        <p:txBody>
          <a:bodyPr wrap="square">
            <a:sp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w="3175">
                  <a:noFill/>
                </a:ln>
                <a:solidFill>
                  <a:srgbClr val="50E6FF"/>
                </a:solidFill>
                <a:effectLst/>
                <a:uLnTx/>
                <a:uFillTx/>
                <a:latin typeface="Segoe UI Semibold"/>
                <a:ea typeface="+mn-ea"/>
                <a:cs typeface="Segoe UI" pitchFamily="34" charset="0"/>
              </a:rPr>
              <a:t>Programmatic Support</a:t>
            </a:r>
          </a:p>
        </p:txBody>
      </p:sp>
      <p:grpSp>
        <p:nvGrpSpPr>
          <p:cNvPr id="97" name="Group 60">
            <a:extLst>
              <a:ext uri="{FF2B5EF4-FFF2-40B4-BE49-F238E27FC236}">
                <a16:creationId xmlns:a16="http://schemas.microsoft.com/office/drawing/2014/main" id="{A5C3F328-BF10-465E-A7BF-D1A8A10A302C}"/>
              </a:ext>
              <a:ext uri="{C183D7F6-B498-43B3-948B-1728B52AA6E4}">
                <adec:decorative xmlns:adec="http://schemas.microsoft.com/office/drawing/2017/decorative" val="1"/>
              </a:ext>
            </a:extLst>
          </p:cNvPr>
          <p:cNvGrpSpPr>
            <a:grpSpLocks noChangeAspect="1"/>
          </p:cNvGrpSpPr>
          <p:nvPr/>
        </p:nvGrpSpPr>
        <p:grpSpPr bwMode="auto">
          <a:xfrm>
            <a:off x="10102194" y="2507655"/>
            <a:ext cx="728388" cy="546291"/>
            <a:chOff x="410" y="1038"/>
            <a:chExt cx="312" cy="234"/>
          </a:xfrm>
          <a:solidFill>
            <a:schemeClr val="accent2"/>
          </a:solidFill>
        </p:grpSpPr>
        <p:sp>
          <p:nvSpPr>
            <p:cNvPr id="98" name="AutoShape 59">
              <a:extLst>
                <a:ext uri="{FF2B5EF4-FFF2-40B4-BE49-F238E27FC236}">
                  <a16:creationId xmlns:a16="http://schemas.microsoft.com/office/drawing/2014/main" id="{257B14BF-1F0E-425D-8A94-E8D350FB4CA2}"/>
                </a:ext>
              </a:extLst>
            </p:cNvPr>
            <p:cNvSpPr>
              <a:spLocks noChangeAspect="1" noChangeArrowheads="1" noTextEdit="1"/>
            </p:cNvSpPr>
            <p:nvPr/>
          </p:nvSpPr>
          <p:spPr bwMode="auto">
            <a:xfrm>
              <a:off x="410" y="1038"/>
              <a:ext cx="312" cy="23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9" name="Rectangle 61">
              <a:extLst>
                <a:ext uri="{FF2B5EF4-FFF2-40B4-BE49-F238E27FC236}">
                  <a16:creationId xmlns:a16="http://schemas.microsoft.com/office/drawing/2014/main" id="{82F0B460-36D7-41B7-9DB3-4C1E987E9EBC}"/>
                </a:ext>
              </a:extLst>
            </p:cNvPr>
            <p:cNvSpPr>
              <a:spLocks noChangeArrowheads="1"/>
            </p:cNvSpPr>
            <p:nvPr/>
          </p:nvSpPr>
          <p:spPr bwMode="auto">
            <a:xfrm>
              <a:off x="410" y="1038"/>
              <a:ext cx="312" cy="29"/>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0" name="Rectangle 62">
              <a:extLst>
                <a:ext uri="{FF2B5EF4-FFF2-40B4-BE49-F238E27FC236}">
                  <a16:creationId xmlns:a16="http://schemas.microsoft.com/office/drawing/2014/main" id="{60ABC2F8-FDFD-4A03-AD8F-C2455AC908FE}"/>
                </a:ext>
              </a:extLst>
            </p:cNvPr>
            <p:cNvSpPr>
              <a:spLocks noChangeArrowheads="1"/>
            </p:cNvSpPr>
            <p:nvPr/>
          </p:nvSpPr>
          <p:spPr bwMode="auto">
            <a:xfrm>
              <a:off x="410" y="1067"/>
              <a:ext cx="312" cy="20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1" name="Oval 63">
              <a:extLst>
                <a:ext uri="{FF2B5EF4-FFF2-40B4-BE49-F238E27FC236}">
                  <a16:creationId xmlns:a16="http://schemas.microsoft.com/office/drawing/2014/main" id="{A6C2783D-A598-4C19-B068-509555640037}"/>
                </a:ext>
              </a:extLst>
            </p:cNvPr>
            <p:cNvSpPr>
              <a:spLocks noChangeArrowheads="1"/>
            </p:cNvSpPr>
            <p:nvPr/>
          </p:nvSpPr>
          <p:spPr bwMode="auto">
            <a:xfrm>
              <a:off x="537" y="1106"/>
              <a:ext cx="58" cy="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2" name="Freeform 64">
              <a:extLst>
                <a:ext uri="{FF2B5EF4-FFF2-40B4-BE49-F238E27FC236}">
                  <a16:creationId xmlns:a16="http://schemas.microsoft.com/office/drawing/2014/main" id="{28456538-2310-404B-AF2F-360E44C3EC23}"/>
                </a:ext>
              </a:extLst>
            </p:cNvPr>
            <p:cNvSpPr>
              <a:spLocks/>
            </p:cNvSpPr>
            <p:nvPr/>
          </p:nvSpPr>
          <p:spPr bwMode="auto">
            <a:xfrm>
              <a:off x="508" y="1175"/>
              <a:ext cx="117" cy="58"/>
            </a:xfrm>
            <a:custGeom>
              <a:avLst/>
              <a:gdLst>
                <a:gd name="T0" fmla="*/ 0 w 512"/>
                <a:gd name="T1" fmla="*/ 256 h 256"/>
                <a:gd name="T2" fmla="*/ 256 w 512"/>
                <a:gd name="T3" fmla="*/ 0 h 256"/>
                <a:gd name="T4" fmla="*/ 512 w 512"/>
                <a:gd name="T5" fmla="*/ 256 h 256"/>
                <a:gd name="T6" fmla="*/ 0 w 512"/>
                <a:gd name="T7" fmla="*/ 256 h 256"/>
              </a:gdLst>
              <a:ahLst/>
              <a:cxnLst>
                <a:cxn ang="0">
                  <a:pos x="T0" y="T1"/>
                </a:cxn>
                <a:cxn ang="0">
                  <a:pos x="T2" y="T3"/>
                </a:cxn>
                <a:cxn ang="0">
                  <a:pos x="T4" y="T5"/>
                </a:cxn>
                <a:cxn ang="0">
                  <a:pos x="T6" y="T7"/>
                </a:cxn>
              </a:cxnLst>
              <a:rect l="0" t="0" r="r" b="b"/>
              <a:pathLst>
                <a:path w="512" h="256">
                  <a:moveTo>
                    <a:pt x="0" y="256"/>
                  </a:moveTo>
                  <a:cubicBezTo>
                    <a:pt x="0" y="114"/>
                    <a:pt x="114" y="0"/>
                    <a:pt x="256" y="0"/>
                  </a:cubicBezTo>
                  <a:cubicBezTo>
                    <a:pt x="397" y="0"/>
                    <a:pt x="512" y="114"/>
                    <a:pt x="512" y="256"/>
                  </a:cubicBezTo>
                  <a:lnTo>
                    <a:pt x="0" y="2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3" name="Oval 65">
              <a:extLst>
                <a:ext uri="{FF2B5EF4-FFF2-40B4-BE49-F238E27FC236}">
                  <a16:creationId xmlns:a16="http://schemas.microsoft.com/office/drawing/2014/main" id="{2836A846-E320-4491-9E8F-44B25A224F6F}"/>
                </a:ext>
              </a:extLst>
            </p:cNvPr>
            <p:cNvSpPr>
              <a:spLocks noChangeArrowheads="1"/>
            </p:cNvSpPr>
            <p:nvPr/>
          </p:nvSpPr>
          <p:spPr bwMode="auto">
            <a:xfrm>
              <a:off x="420" y="1048"/>
              <a:ext cx="9" cy="1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4" name="Oval 66">
              <a:extLst>
                <a:ext uri="{FF2B5EF4-FFF2-40B4-BE49-F238E27FC236}">
                  <a16:creationId xmlns:a16="http://schemas.microsoft.com/office/drawing/2014/main" id="{A2C0E49E-99A2-4D0B-8F25-5695B7EF3A44}"/>
                </a:ext>
              </a:extLst>
            </p:cNvPr>
            <p:cNvSpPr>
              <a:spLocks noChangeArrowheads="1"/>
            </p:cNvSpPr>
            <p:nvPr/>
          </p:nvSpPr>
          <p:spPr bwMode="auto">
            <a:xfrm>
              <a:off x="434" y="1048"/>
              <a:ext cx="10" cy="1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5" name="Oval 67">
              <a:extLst>
                <a:ext uri="{FF2B5EF4-FFF2-40B4-BE49-F238E27FC236}">
                  <a16:creationId xmlns:a16="http://schemas.microsoft.com/office/drawing/2014/main" id="{E9A96633-F497-465F-859E-E75590EDFB77}"/>
                </a:ext>
              </a:extLst>
            </p:cNvPr>
            <p:cNvSpPr>
              <a:spLocks noChangeArrowheads="1"/>
            </p:cNvSpPr>
            <p:nvPr/>
          </p:nvSpPr>
          <p:spPr bwMode="auto">
            <a:xfrm>
              <a:off x="449" y="1048"/>
              <a:ext cx="10" cy="1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29" name="TextBox 28">
            <a:extLst>
              <a:ext uri="{FF2B5EF4-FFF2-40B4-BE49-F238E27FC236}">
                <a16:creationId xmlns:a16="http://schemas.microsoft.com/office/drawing/2014/main" id="{3309347E-3FDE-4774-ACA6-2D328C103E8C}"/>
              </a:ext>
            </a:extLst>
          </p:cNvPr>
          <p:cNvSpPr txBox="1"/>
          <p:nvPr/>
        </p:nvSpPr>
        <p:spPr>
          <a:xfrm>
            <a:off x="9323388" y="3417577"/>
            <a:ext cx="2286000" cy="1077218"/>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Segoe UI"/>
              </a:rPr>
              <a:t>Free migration tools, POC/ trials with support from Microsoft through the </a:t>
            </a:r>
            <a:br>
              <a:rPr kumimoji="0" lang="en-US" sz="1400" b="0" i="0" u="none" strike="noStrike" kern="1200" cap="none" spc="0" normalizeH="0" baseline="0" noProof="0">
                <a:ln>
                  <a:noFill/>
                </a:ln>
                <a:solidFill>
                  <a:prstClr val="white"/>
                </a:solidFill>
                <a:effectLst/>
                <a:uLnTx/>
                <a:uFillTx/>
                <a:latin typeface="Segoe UI"/>
                <a:ea typeface="+mn-ea"/>
                <a:cs typeface="Segoe UI"/>
              </a:rPr>
            </a:br>
            <a:r>
              <a:rPr kumimoji="0" lang="en-US" sz="1400" b="0" i="0" u="none" strike="noStrike" kern="1200" cap="none" spc="0" normalizeH="0" baseline="0" noProof="0">
                <a:ln>
                  <a:noFill/>
                </a:ln>
                <a:solidFill>
                  <a:prstClr val="white"/>
                </a:solidFill>
                <a:effectLst/>
                <a:uLnTx/>
                <a:uFillTx/>
                <a:latin typeface="Segoe UI"/>
                <a:ea typeface="+mn-ea"/>
                <a:cs typeface="Segoe UI"/>
              </a:rPr>
              <a:t>Azure Migration and Modernization Program</a:t>
            </a:r>
          </a:p>
        </p:txBody>
      </p:sp>
      <p:sp>
        <p:nvSpPr>
          <p:cNvPr id="65" name="Left Bracket 64">
            <a:extLst>
              <a:ext uri="{FF2B5EF4-FFF2-40B4-BE49-F238E27FC236}">
                <a16:creationId xmlns:a16="http://schemas.microsoft.com/office/drawing/2014/main" id="{A749BD9C-50FF-4862-A93C-86B6D0F08502}"/>
              </a:ext>
              <a:ext uri="{C183D7F6-B498-43B3-948B-1728B52AA6E4}">
                <adec:decorative xmlns:adec="http://schemas.microsoft.com/office/drawing/2017/decorative" val="1"/>
              </a:ext>
            </a:extLst>
          </p:cNvPr>
          <p:cNvSpPr/>
          <p:nvPr/>
        </p:nvSpPr>
        <p:spPr>
          <a:xfrm rot="16200000">
            <a:off x="5856392" y="-996100"/>
            <a:ext cx="467619" cy="11018519"/>
          </a:xfrm>
          <a:prstGeom prst="leftBracket">
            <a:avLst>
              <a:gd name="adj" fmla="val 2963"/>
            </a:avLst>
          </a:prstGeom>
          <a:noFill/>
          <a:ln w="15875" cap="flat" cmpd="sng" algn="ctr">
            <a:solidFill>
              <a:schemeClr val="accent2"/>
            </a:solidFill>
            <a:prstDash val="sysDash"/>
            <a:headEnd type="none" w="lg" len="med"/>
            <a:tailEnd type="none" w="lg" len="med"/>
          </a:ln>
          <a:effectLst/>
        </p:spPr>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prstClr val="white"/>
              </a:solidFill>
              <a:effectLst/>
              <a:uLnTx/>
              <a:uFillTx/>
              <a:latin typeface="Segoe UI"/>
              <a:ea typeface="+mn-ea"/>
              <a:cs typeface="+mn-cs"/>
            </a:endParaRPr>
          </a:p>
        </p:txBody>
      </p:sp>
      <p:sp>
        <p:nvSpPr>
          <p:cNvPr id="67" name="TextBox 66">
            <a:extLst>
              <a:ext uri="{FF2B5EF4-FFF2-40B4-BE49-F238E27FC236}">
                <a16:creationId xmlns:a16="http://schemas.microsoft.com/office/drawing/2014/main" id="{C66276B3-7AEF-494D-B1A0-A16C4355B972}"/>
              </a:ext>
            </a:extLst>
          </p:cNvPr>
          <p:cNvSpPr txBox="1"/>
          <p:nvPr/>
        </p:nvSpPr>
        <p:spPr>
          <a:xfrm>
            <a:off x="5060950" y="4527958"/>
            <a:ext cx="1942522" cy="425448"/>
          </a:xfrm>
          <a:prstGeom prst="rect">
            <a:avLst/>
          </a:prstGeom>
          <a:solidFill>
            <a:schemeClr val="bg1"/>
          </a:solidFill>
          <a:ln>
            <a:noFill/>
          </a:ln>
        </p:spPr>
        <p:txBody>
          <a:bodyPr wrap="square" lIns="0" tIns="0" rIns="0" bIns="0" rtlCol="0" anchor="ctr" anchorCtr="0">
            <a:noAutofit/>
          </a:bodyPr>
          <a:lstStyle/>
          <a:p>
            <a:pPr marL="0" marR="0" lvl="0" indent="0" algn="ctr" defTabSz="896386" rtl="0" eaLnBrk="1" fontAlgn="auto" latinLnBrk="0" hangingPunct="1">
              <a:lnSpc>
                <a:spcPct val="100000"/>
              </a:lnSpc>
              <a:spcBef>
                <a:spcPts val="0"/>
              </a:spcBef>
              <a:spcAft>
                <a:spcPts val="0"/>
              </a:spcAft>
              <a:buClrTx/>
              <a:buSzTx/>
              <a:buFontTx/>
              <a:buNone/>
              <a:tabLst/>
              <a:defRPr/>
            </a:pPr>
            <a:r>
              <a:rPr kumimoji="0" lang="en-US" sz="1961" b="0" i="0" u="none" strike="noStrike" kern="1200" cap="none" spc="0" normalizeH="0" baseline="0" noProof="0">
                <a:ln>
                  <a:noFill/>
                </a:ln>
                <a:solidFill>
                  <a:prstClr val="white"/>
                </a:solidFill>
                <a:effectLst/>
                <a:uLnTx/>
                <a:uFillTx/>
                <a:latin typeface="Segoe UI Semibold"/>
                <a:ea typeface="+mn-ea"/>
                <a:cs typeface="+mn-cs"/>
              </a:rPr>
              <a:t>Built-in hybrid</a:t>
            </a:r>
          </a:p>
        </p:txBody>
      </p:sp>
      <p:sp>
        <p:nvSpPr>
          <p:cNvPr id="68" name="Rectangle 67">
            <a:extLst>
              <a:ext uri="{FF2B5EF4-FFF2-40B4-BE49-F238E27FC236}">
                <a16:creationId xmlns:a16="http://schemas.microsoft.com/office/drawing/2014/main" id="{76A312B2-3B21-4225-B080-DEDE766029F3}"/>
              </a:ext>
            </a:extLst>
          </p:cNvPr>
          <p:cNvSpPr/>
          <p:nvPr/>
        </p:nvSpPr>
        <p:spPr>
          <a:xfrm>
            <a:off x="3230183" y="4987234"/>
            <a:ext cx="5731633"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Operate hybrid seamlessly with integrated backup &amp; disaster recovery</a:t>
            </a:r>
          </a:p>
        </p:txBody>
      </p:sp>
      <p:sp>
        <p:nvSpPr>
          <p:cNvPr id="2" name="TextBox 1">
            <a:extLst>
              <a:ext uri="{FF2B5EF4-FFF2-40B4-BE49-F238E27FC236}">
                <a16:creationId xmlns:a16="http://schemas.microsoft.com/office/drawing/2014/main" id="{119BFF21-E75E-4A8A-B907-2432A238C967}"/>
              </a:ext>
            </a:extLst>
          </p:cNvPr>
          <p:cNvSpPr txBox="1"/>
          <p:nvPr/>
        </p:nvSpPr>
        <p:spPr>
          <a:xfrm>
            <a:off x="580940" y="5944232"/>
            <a:ext cx="10821039" cy="630942"/>
          </a:xfrm>
          <a:prstGeom prst="rect">
            <a:avLst/>
          </a:prstGeom>
          <a:noFill/>
        </p:spPr>
        <p:txBody>
          <a:bodyPr wrap="square" lIns="0" tIns="0" rIns="0" bIns="0" rtlCol="0">
            <a:spAutoFit/>
          </a:bodyPr>
          <a:lstStyle/>
          <a:p>
            <a:pPr marL="0" marR="0" lvl="0" indent="0" algn="l" defTabSz="914225" rtl="0" eaLnBrk="1" fontAlgn="auto" latinLnBrk="0" hangingPunct="1">
              <a:lnSpc>
                <a:spcPct val="9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EBEBEB"/>
                </a:solidFill>
                <a:effectLst/>
                <a:uLnTx/>
                <a:uFillTx/>
                <a:latin typeface="Segoe UI"/>
                <a:ea typeface="+mn-ea"/>
                <a:cs typeface="+mn-cs"/>
              </a:rPr>
              <a:t>* All Claims as of 2/20/2019.</a:t>
            </a:r>
            <a:br>
              <a:rPr kumimoji="0" lang="en-US" sz="800" b="0" i="0" u="none" strike="noStrike" kern="1200" cap="none" spc="0" normalizeH="0" baseline="0" noProof="0" dirty="0">
                <a:ln>
                  <a:noFill/>
                </a:ln>
                <a:solidFill>
                  <a:srgbClr val="EBEBEB"/>
                </a:solidFill>
                <a:effectLst/>
                <a:uLnTx/>
                <a:uFillTx/>
                <a:latin typeface="Segoe UI"/>
                <a:ea typeface="+mn-ea"/>
                <a:cs typeface="+mn-cs"/>
              </a:rPr>
            </a:br>
            <a:r>
              <a:rPr kumimoji="0" lang="en-US" sz="800" b="0" i="0" u="none" strike="noStrike" kern="1200" cap="none" spc="0" normalizeH="0" baseline="30000" noProof="0" dirty="0">
                <a:ln>
                  <a:noFill/>
                </a:ln>
                <a:solidFill>
                  <a:srgbClr val="50E6FF"/>
                </a:solidFill>
                <a:effectLst/>
                <a:uLnTx/>
                <a:uFillTx/>
                <a:latin typeface="Segoe UI"/>
                <a:ea typeface="+mn-ea"/>
                <a:cs typeface="+mn-cs"/>
              </a:rPr>
              <a:t> </a:t>
            </a:r>
            <a:r>
              <a:rPr kumimoji="0" lang="en-US" sz="800" b="0" i="0" u="none" strike="noStrike" kern="1200" cap="none" spc="0" normalizeH="0" baseline="0" noProof="0" dirty="0">
                <a:ln>
                  <a:noFill/>
                </a:ln>
                <a:solidFill>
                  <a:srgbClr val="50E6FF"/>
                </a:solidFill>
                <a:effectLst/>
                <a:uLnTx/>
                <a:uFillTx/>
                <a:latin typeface="Segoe UI"/>
                <a:ea typeface="+mn-ea"/>
                <a:cs typeface="+mn-cs"/>
                <a:hlinkClick r:id="rId3">
                  <a:extLst>
                    <a:ext uri="{A12FA001-AC4F-418D-AE19-62706E023703}">
                      <ahyp:hlinkClr xmlns:ahyp="http://schemas.microsoft.com/office/drawing/2018/hyperlinkcolor" val="tx"/>
                    </a:ext>
                  </a:extLst>
                </a:hlinkClick>
              </a:rPr>
              <a:t>http://www.tpc.org/4081</a:t>
            </a:r>
            <a:r>
              <a:rPr kumimoji="0" lang="en-US" sz="800" b="0" i="0" u="none" strike="noStrike" kern="1200" cap="none" spc="0" normalizeH="0" baseline="0" noProof="0" dirty="0">
                <a:ln>
                  <a:noFill/>
                </a:ln>
                <a:solidFill>
                  <a:srgbClr val="757575"/>
                </a:solidFill>
                <a:effectLst/>
                <a:uLnTx/>
                <a:uFillTx/>
                <a:latin typeface="Segoe UI"/>
                <a:ea typeface="+mn-ea"/>
                <a:cs typeface="+mn-cs"/>
              </a:rPr>
              <a:t>; </a:t>
            </a:r>
            <a:r>
              <a:rPr kumimoji="0" lang="en-US" sz="800" b="0" i="0" u="none" strike="noStrike" kern="1200" cap="none" spc="0" normalizeH="0" baseline="30000" noProof="0" dirty="0">
                <a:ln>
                  <a:noFill/>
                </a:ln>
                <a:solidFill>
                  <a:srgbClr val="757575"/>
                </a:solidFill>
                <a:effectLst/>
                <a:uLnTx/>
                <a:uFillTx/>
                <a:latin typeface="Segoe UI"/>
                <a:ea typeface="+mn-ea"/>
                <a:cs typeface="+mn-cs"/>
              </a:rPr>
              <a:t> </a:t>
            </a:r>
            <a:r>
              <a:rPr kumimoji="0" lang="en-US" sz="800" b="0" i="0" u="none" strike="noStrike" kern="1200" cap="none" spc="0" normalizeH="0" baseline="0" noProof="0" dirty="0">
                <a:ln>
                  <a:noFill/>
                </a:ln>
                <a:solidFill>
                  <a:srgbClr val="50E6FF"/>
                </a:solidFill>
                <a:effectLst/>
                <a:uLnTx/>
                <a:uFillTx/>
                <a:latin typeface="Segoe UI"/>
                <a:ea typeface="+mn-ea"/>
                <a:cs typeface="+mn-cs"/>
                <a:hlinkClick r:id="rId4">
                  <a:extLst>
                    <a:ext uri="{A12FA001-AC4F-418D-AE19-62706E023703}">
                      <ahyp:hlinkClr xmlns:ahyp="http://schemas.microsoft.com/office/drawing/2018/hyperlinkcolor" val="tx"/>
                    </a:ext>
                  </a:extLst>
                </a:hlinkClick>
              </a:rPr>
              <a:t>http://www.tpc.org/3331</a:t>
            </a:r>
            <a:r>
              <a:rPr kumimoji="0" lang="en-US" sz="800" b="0" i="0" u="none" strike="noStrike" kern="1200" cap="none" spc="0" normalizeH="0" baseline="0" noProof="0" dirty="0">
                <a:ln>
                  <a:noFill/>
                </a:ln>
                <a:solidFill>
                  <a:srgbClr val="757575"/>
                </a:solidFill>
                <a:effectLst/>
                <a:uLnTx/>
                <a:uFillTx/>
                <a:latin typeface="Segoe UI"/>
                <a:ea typeface="+mn-ea"/>
                <a:cs typeface="+mn-cs"/>
              </a:rPr>
              <a:t>; </a:t>
            </a:r>
            <a:r>
              <a:rPr kumimoji="0" lang="en-US" sz="800" b="0" i="0" u="none" strike="noStrike" kern="1200" cap="none" spc="0" normalizeH="0" baseline="0" noProof="0" dirty="0">
                <a:ln>
                  <a:noFill/>
                </a:ln>
                <a:solidFill>
                  <a:srgbClr val="50E6FF"/>
                </a:solidFill>
                <a:effectLst/>
                <a:uLnTx/>
                <a:uFillTx/>
                <a:latin typeface="Segoe UI"/>
                <a:ea typeface="+mn-ea"/>
                <a:cs typeface="+mn-cs"/>
                <a:hlinkClick r:id="rId5">
                  <a:extLst>
                    <a:ext uri="{A12FA001-AC4F-418D-AE19-62706E023703}">
                      <ahyp:hlinkClr xmlns:ahyp="http://schemas.microsoft.com/office/drawing/2018/hyperlinkcolor" val="tx"/>
                    </a:ext>
                  </a:extLst>
                </a:hlinkClick>
              </a:rPr>
              <a:t>http://www.tpc.org/3329</a:t>
            </a:r>
            <a:r>
              <a:rPr kumimoji="0" lang="en-US" sz="800" b="0" i="0" u="none" strike="noStrike" kern="1200" cap="none" spc="0" normalizeH="0" baseline="0" noProof="0" dirty="0">
                <a:ln>
                  <a:noFill/>
                </a:ln>
                <a:solidFill>
                  <a:srgbClr val="757575"/>
                </a:solidFill>
                <a:effectLst/>
                <a:uLnTx/>
                <a:uFillTx/>
                <a:latin typeface="Segoe UI"/>
                <a:ea typeface="+mn-ea"/>
                <a:cs typeface="+mn-cs"/>
              </a:rPr>
              <a:t>; </a:t>
            </a:r>
            <a:r>
              <a:rPr kumimoji="0" lang="en-US" sz="800" b="0" i="0" u="none" strike="noStrike" kern="1200" cap="none" spc="0" normalizeH="0" baseline="0" noProof="0" dirty="0">
                <a:ln>
                  <a:noFill/>
                </a:ln>
                <a:solidFill>
                  <a:srgbClr val="50E6FF"/>
                </a:solidFill>
                <a:effectLst/>
                <a:uLnTx/>
                <a:uFillTx/>
                <a:latin typeface="Segoe UI"/>
                <a:ea typeface="+mn-ea"/>
                <a:cs typeface="+mn-cs"/>
                <a:hlinkClick r:id="rId6">
                  <a:extLst>
                    <a:ext uri="{A12FA001-AC4F-418D-AE19-62706E023703}">
                      <ahyp:hlinkClr xmlns:ahyp="http://schemas.microsoft.com/office/drawing/2018/hyperlinkcolor" val="tx"/>
                    </a:ext>
                  </a:extLst>
                </a:hlinkClick>
              </a:rPr>
              <a:t>http://www.tpc.org/3321</a:t>
            </a:r>
            <a:r>
              <a:rPr kumimoji="0" lang="en-US" sz="800" b="0" i="0" u="none" strike="noStrike" kern="1200" cap="none" spc="0" normalizeH="0" baseline="0" noProof="0" dirty="0">
                <a:ln>
                  <a:noFill/>
                </a:ln>
                <a:solidFill>
                  <a:srgbClr val="757575"/>
                </a:solidFill>
                <a:effectLst/>
                <a:uLnTx/>
                <a:uFillTx/>
                <a:latin typeface="Segoe UI"/>
                <a:ea typeface="+mn-ea"/>
                <a:cs typeface="+mn-cs"/>
              </a:rPr>
              <a:t>; </a:t>
            </a:r>
            <a:r>
              <a:rPr kumimoji="0" lang="en-US" sz="800" b="0" i="0" u="none" strike="noStrike" kern="1200" cap="none" spc="0" normalizeH="0" baseline="30000" noProof="0" dirty="0">
                <a:ln>
                  <a:noFill/>
                </a:ln>
                <a:solidFill>
                  <a:srgbClr val="757575"/>
                </a:solidFill>
                <a:effectLst/>
                <a:uLnTx/>
                <a:uFillTx/>
                <a:latin typeface="Segoe UI"/>
                <a:ea typeface="+mn-ea"/>
                <a:cs typeface="+mn-cs"/>
              </a:rPr>
              <a:t> </a:t>
            </a:r>
            <a:r>
              <a:rPr kumimoji="0" lang="en-US" sz="800" b="0" i="0" u="none" strike="noStrike" kern="1200" cap="none" spc="0" normalizeH="0" baseline="0" noProof="0" dirty="0">
                <a:ln>
                  <a:noFill/>
                </a:ln>
                <a:solidFill>
                  <a:srgbClr val="EBEBEB"/>
                </a:solidFill>
                <a:effectLst/>
                <a:uLnTx/>
                <a:uFillTx/>
                <a:latin typeface="Segoe UI"/>
                <a:ea typeface="+mn-ea"/>
                <a:cs typeface="+mn-cs"/>
              </a:rPr>
              <a:t>National Institute of Standards and Technology Comprehensive Vulnerability Database</a:t>
            </a:r>
          </a:p>
          <a:p>
            <a:pPr marL="0" marR="0" lvl="0" indent="0" algn="l" defTabSz="914225" rtl="0" eaLnBrk="1" fontAlgn="auto" latinLnBrk="0" hangingPunct="1">
              <a:lnSpc>
                <a:spcPct val="90000"/>
              </a:lnSpc>
              <a:spcBef>
                <a:spcPts val="0"/>
              </a:spcBef>
              <a:spcAft>
                <a:spcPts val="600"/>
              </a:spcAft>
              <a:buClrTx/>
              <a:buSzTx/>
              <a:buFontTx/>
              <a:buNone/>
              <a:tabLst/>
              <a:defRPr/>
            </a:pPr>
            <a:r>
              <a:rPr kumimoji="0" lang="en-US" sz="800" b="1" i="0" u="none" strike="noStrike" kern="1200" cap="none" spc="0" normalizeH="0" baseline="0" noProof="0" dirty="0">
                <a:ln>
                  <a:noFill/>
                </a:ln>
                <a:solidFill>
                  <a:srgbClr val="EBEBEB"/>
                </a:solidFill>
                <a:effectLst/>
                <a:uLnTx/>
                <a:uFillTx/>
                <a:latin typeface="Segoe UI"/>
                <a:ea typeface="+mn-ea"/>
                <a:cs typeface="+mn-cs"/>
              </a:rPr>
              <a:t>**</a:t>
            </a:r>
            <a:r>
              <a:rPr kumimoji="0" lang="en-US" sz="800" b="1" i="0" u="none" strike="noStrike" kern="1200" cap="none" spc="0" normalizeH="0" baseline="0" noProof="0" dirty="0">
                <a:ln>
                  <a:noFill/>
                </a:ln>
                <a:solidFill>
                  <a:srgbClr val="EBEBEB"/>
                </a:solidFill>
                <a:effectLst/>
                <a:uLnTx/>
                <a:uFillTx/>
                <a:latin typeface="Segoe UI"/>
                <a:ea typeface="+mn-ea"/>
                <a:cs typeface="Segoe UI Semilight" panose="020B0402040204020203" pitchFamily="34" charset="0"/>
              </a:rPr>
              <a:t> </a:t>
            </a:r>
            <a:r>
              <a:rPr kumimoji="0" lang="en-US" sz="800" b="0" i="0" u="none" strike="noStrike" kern="1200" cap="none" spc="0" normalizeH="0" baseline="0" noProof="0" dirty="0">
                <a:ln>
                  <a:noFill/>
                </a:ln>
                <a:solidFill>
                  <a:srgbClr val="EBEBEB"/>
                </a:solidFill>
                <a:effectLst/>
                <a:uLnTx/>
                <a:uFillTx/>
                <a:latin typeface="Segoe UI"/>
                <a:ea typeface="+mn-ea"/>
                <a:cs typeface="+mn-cs"/>
              </a:rPr>
              <a:t>Data sets derived from industry-recognized TPC-E Benchmark™. Simulated 400 concurrent users, unlimited pacing, 8 deg of parallelism, 5 test runs. Results above were for Premium SSD storage on Windows Server.  Similar tests run for Red Hat Enterprise Linux and for high-end storage.</a:t>
            </a:r>
            <a:br>
              <a:rPr kumimoji="0" lang="en-US" sz="800" b="0" i="0" u="none" strike="noStrike" kern="1200" cap="none" spc="0" normalizeH="0" baseline="0" noProof="0" dirty="0">
                <a:ln>
                  <a:noFill/>
                </a:ln>
                <a:solidFill>
                  <a:srgbClr val="EBEBEB"/>
                </a:solidFill>
                <a:effectLst/>
                <a:uLnTx/>
                <a:uFillTx/>
                <a:latin typeface="Segoe UI"/>
                <a:ea typeface="+mn-ea"/>
                <a:cs typeface="+mn-cs"/>
              </a:rPr>
            </a:br>
            <a:r>
              <a:rPr kumimoji="0" lang="en-US" sz="800" b="0" i="0" u="none" strike="noStrike" kern="1200" cap="none" spc="0" normalizeH="0" baseline="0" noProof="0" dirty="0">
                <a:ln>
                  <a:noFill/>
                </a:ln>
                <a:solidFill>
                  <a:srgbClr val="50E6FF"/>
                </a:solidFill>
                <a:effectLst/>
                <a:uLnTx/>
                <a:uFillTx/>
                <a:latin typeface="Segoe UI"/>
                <a:ea typeface="+mn-ea"/>
                <a:cs typeface="+mn-cs"/>
                <a:hlinkClick r:id="rId7">
                  <a:extLst>
                    <a:ext uri="{A12FA001-AC4F-418D-AE19-62706E023703}">
                      <ahyp:hlinkClr xmlns:ahyp="http://schemas.microsoft.com/office/drawing/2018/hyperlinkcolor" val="tx"/>
                    </a:ext>
                  </a:extLst>
                </a:hlinkClick>
              </a:rPr>
              <a:t>https://gigaom.com/report/sql-transaction-processing-price-performance-testing-azure-eas-vs-aws-r5a/</a:t>
            </a:r>
            <a:r>
              <a:rPr kumimoji="0" lang="en-US" sz="800" b="0" i="0" u="none" strike="noStrike" kern="1200" cap="none" spc="0" normalizeH="0" baseline="0" noProof="0" dirty="0">
                <a:ln>
                  <a:noFill/>
                </a:ln>
                <a:solidFill>
                  <a:srgbClr val="50E6FF"/>
                </a:solidFill>
                <a:effectLst/>
                <a:uLnTx/>
                <a:uFillTx/>
                <a:latin typeface="Segoe UI"/>
                <a:ea typeface="+mn-ea"/>
                <a:cs typeface="+mn-cs"/>
              </a:rPr>
              <a:t> </a:t>
            </a:r>
          </a:p>
        </p:txBody>
      </p:sp>
    </p:spTree>
    <p:extLst>
      <p:ext uri="{BB962C8B-B14F-4D97-AF65-F5344CB8AC3E}">
        <p14:creationId xmlns:p14="http://schemas.microsoft.com/office/powerpoint/2010/main" val="312503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1D6A-B41A-4F2B-801C-5139BD81DC43}"/>
              </a:ext>
            </a:extLst>
          </p:cNvPr>
          <p:cNvSpPr>
            <a:spLocks noGrp="1"/>
          </p:cNvSpPr>
          <p:nvPr>
            <p:ph type="title"/>
          </p:nvPr>
        </p:nvSpPr>
        <p:spPr/>
        <p:txBody>
          <a:bodyPr/>
          <a:lstStyle/>
          <a:p>
            <a:r>
              <a:rPr lang="en-US"/>
              <a:t>Cloud migration strategies</a:t>
            </a:r>
          </a:p>
        </p:txBody>
      </p:sp>
      <p:sp>
        <p:nvSpPr>
          <p:cNvPr id="4" name="Rectangle 3">
            <a:extLst>
              <a:ext uri="{FF2B5EF4-FFF2-40B4-BE49-F238E27FC236}">
                <a16:creationId xmlns:a16="http://schemas.microsoft.com/office/drawing/2014/main" id="{C4475DF3-AEED-473B-AA73-235340BFBB16}"/>
              </a:ext>
            </a:extLst>
          </p:cNvPr>
          <p:cNvSpPr/>
          <p:nvPr/>
        </p:nvSpPr>
        <p:spPr>
          <a:xfrm>
            <a:off x="584200" y="2046473"/>
            <a:ext cx="924560" cy="215444"/>
          </a:xfrm>
          <a:prstGeom prst="rect">
            <a:avLst/>
          </a:prstGeom>
          <a:noFill/>
          <a:ln w="2540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Semibold"/>
                <a:ea typeface="+mn-ea"/>
                <a:cs typeface="+mn-cs"/>
              </a:rPr>
              <a:t>Rehost</a:t>
            </a:r>
          </a:p>
        </p:txBody>
      </p:sp>
      <p:sp>
        <p:nvSpPr>
          <p:cNvPr id="10" name="Graphic 8" descr="Arrow: Counterclockwise curve">
            <a:extLst>
              <a:ext uri="{FF2B5EF4-FFF2-40B4-BE49-F238E27FC236}">
                <a16:creationId xmlns:a16="http://schemas.microsoft.com/office/drawing/2014/main" id="{ACE09ACA-514E-4B16-8B7F-9B42834C275D}"/>
              </a:ext>
            </a:extLst>
          </p:cNvPr>
          <p:cNvSpPr/>
          <p:nvPr/>
        </p:nvSpPr>
        <p:spPr>
          <a:xfrm rot="2700000">
            <a:off x="904960" y="1461934"/>
            <a:ext cx="288884" cy="570362"/>
          </a:xfrm>
          <a:custGeom>
            <a:avLst/>
            <a:gdLst>
              <a:gd name="connsiteX0" fmla="*/ 278606 w 371475"/>
              <a:gd name="connsiteY0" fmla="*/ 734854 h 733425"/>
              <a:gd name="connsiteX1" fmla="*/ 102394 w 371475"/>
              <a:gd name="connsiteY1" fmla="*/ 236696 h 733425"/>
              <a:gd name="connsiteX2" fmla="*/ 7144 w 371475"/>
              <a:gd name="connsiteY2" fmla="*/ 330994 h 733425"/>
              <a:gd name="connsiteX3" fmla="*/ 7144 w 371475"/>
              <a:gd name="connsiteY3" fmla="*/ 7144 h 733425"/>
              <a:gd name="connsiteX4" fmla="*/ 330994 w 371475"/>
              <a:gd name="connsiteY4" fmla="*/ 7144 h 733425"/>
              <a:gd name="connsiteX5" fmla="*/ 243364 w 371475"/>
              <a:gd name="connsiteY5" fmla="*/ 94774 h 733425"/>
              <a:gd name="connsiteX6" fmla="*/ 278606 w 371475"/>
              <a:gd name="connsiteY6" fmla="*/ 734854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1475" h="733425">
                <a:moveTo>
                  <a:pt x="278606" y="734854"/>
                </a:moveTo>
                <a:cubicBezTo>
                  <a:pt x="278606" y="734854"/>
                  <a:pt x="389096" y="522446"/>
                  <a:pt x="102394" y="236696"/>
                </a:cubicBezTo>
                <a:lnTo>
                  <a:pt x="7144" y="330994"/>
                </a:lnTo>
                <a:lnTo>
                  <a:pt x="7144" y="7144"/>
                </a:lnTo>
                <a:lnTo>
                  <a:pt x="330994" y="7144"/>
                </a:lnTo>
                <a:lnTo>
                  <a:pt x="243364" y="94774"/>
                </a:lnTo>
                <a:cubicBezTo>
                  <a:pt x="244316" y="95726"/>
                  <a:pt x="491966" y="392906"/>
                  <a:pt x="278606" y="734854"/>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A516330B-32B8-4D65-AAA4-0C6DE055FC18}"/>
              </a:ext>
            </a:extLst>
          </p:cNvPr>
          <p:cNvSpPr/>
          <p:nvPr/>
        </p:nvSpPr>
        <p:spPr>
          <a:xfrm>
            <a:off x="1670172" y="1537325"/>
            <a:ext cx="8852812"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Segoe UI"/>
                <a:ea typeface="+mn-ea"/>
                <a:cs typeface="+mn-cs"/>
              </a:rPr>
              <a:t>Often referred to as “lift and shift” migration, this no-code option lets you migrate your existing applications to Azure quickly</a:t>
            </a:r>
            <a:r>
              <a:rPr kumimoji="0" lang="en-US" sz="1200" b="0" i="0" u="none" strike="noStrike" kern="1200" cap="none" spc="0" normalizeH="0" baseline="0" noProof="0">
                <a:ln>
                  <a:noFill/>
                </a:ln>
                <a:solidFill>
                  <a:prstClr val="white"/>
                </a:solidFill>
                <a:effectLst/>
                <a:uLnTx/>
                <a:uFillTx/>
                <a:latin typeface="Segoe UI"/>
                <a:ea typeface="+mn-ea"/>
                <a:cs typeface="+mn-cs"/>
              </a:rPr>
              <a:t>. Each application is migrated as-is, which provides the benefits of the cloud without the risks or costs of making code changes, and you can leverage SQL Server on Azure Virtual Machines, Microsoft’s infrastructure as a service (IaaS) product, to achieve that.</a:t>
            </a:r>
          </a:p>
        </p:txBody>
      </p:sp>
      <p:sp>
        <p:nvSpPr>
          <p:cNvPr id="5" name="Rectangle 4">
            <a:extLst>
              <a:ext uri="{FF2B5EF4-FFF2-40B4-BE49-F238E27FC236}">
                <a16:creationId xmlns:a16="http://schemas.microsoft.com/office/drawing/2014/main" id="{6B3107EA-05FD-4E8C-ABAF-427E6CDB8E7D}"/>
              </a:ext>
            </a:extLst>
          </p:cNvPr>
          <p:cNvSpPr/>
          <p:nvPr/>
        </p:nvSpPr>
        <p:spPr>
          <a:xfrm>
            <a:off x="584200" y="3211775"/>
            <a:ext cx="924560" cy="215444"/>
          </a:xfrm>
          <a:prstGeom prst="rect">
            <a:avLst/>
          </a:prstGeom>
          <a:noFill/>
          <a:ln w="2540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Semibold"/>
                <a:ea typeface="+mn-ea"/>
                <a:cs typeface="+mn-cs"/>
              </a:rPr>
              <a:t>Refactor</a:t>
            </a:r>
            <a:endParaRPr kumimoji="0" lang="en-US" sz="1800" b="0" i="0" u="none" strike="noStrike" kern="1200" cap="none" spc="0" normalizeH="0" baseline="0" noProof="0">
              <a:ln>
                <a:noFill/>
              </a:ln>
              <a:solidFill>
                <a:prstClr val="white"/>
              </a:solidFill>
              <a:effectLst/>
              <a:uLnTx/>
              <a:uFillTx/>
              <a:latin typeface="Segoe UI Semibold"/>
              <a:ea typeface="+mn-ea"/>
              <a:cs typeface="+mn-cs"/>
            </a:endParaRPr>
          </a:p>
        </p:txBody>
      </p:sp>
      <p:pic>
        <p:nvPicPr>
          <p:cNvPr id="23" name="Graphic 22" descr="Repeat">
            <a:extLst>
              <a:ext uri="{FF2B5EF4-FFF2-40B4-BE49-F238E27FC236}">
                <a16:creationId xmlns:a16="http://schemas.microsoft.com/office/drawing/2014/main" id="{B1D0069C-737C-4A2B-B0AC-08FC6B7CC6A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8026" y="2535888"/>
            <a:ext cx="646455" cy="646455"/>
          </a:xfrm>
          <a:prstGeom prst="rect">
            <a:avLst/>
          </a:prstGeom>
        </p:spPr>
      </p:pic>
      <p:sp>
        <p:nvSpPr>
          <p:cNvPr id="12" name="Rectangle 11">
            <a:extLst>
              <a:ext uri="{FF2B5EF4-FFF2-40B4-BE49-F238E27FC236}">
                <a16:creationId xmlns:a16="http://schemas.microsoft.com/office/drawing/2014/main" id="{8C7D42F4-DF2C-43B1-BE84-7F33602A6F24}"/>
              </a:ext>
            </a:extLst>
          </p:cNvPr>
          <p:cNvSpPr/>
          <p:nvPr/>
        </p:nvSpPr>
        <p:spPr>
          <a:xfrm>
            <a:off x="1670172" y="2676027"/>
            <a:ext cx="954598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Segoe UI"/>
                <a:ea typeface="+mn-ea"/>
                <a:cs typeface="+mn-cs"/>
              </a:rPr>
              <a:t>Often referred to as repackage, this cloud migration strategy involves some change to the application design but no wholesale changes to the application code</a:t>
            </a:r>
            <a:r>
              <a:rPr kumimoji="0" lang="en-US" sz="1200" b="0" i="0" u="none" strike="noStrike" kern="1200" cap="none" spc="0" normalizeH="0" baseline="0" noProof="0">
                <a:ln>
                  <a:noFill/>
                </a:ln>
                <a:solidFill>
                  <a:prstClr val="white"/>
                </a:solidFill>
                <a:effectLst/>
                <a:uLnTx/>
                <a:uFillTx/>
                <a:latin typeface="Segoe UI"/>
                <a:ea typeface="+mn-ea"/>
                <a:cs typeface="+mn-cs"/>
              </a:rPr>
              <a:t>. Your application can take advantage of infrastructure as a service (IaaS) and platform as a service (PaaS) products, such as Azure App Service, Azure SQL Managed Instance, and containers.</a:t>
            </a:r>
          </a:p>
        </p:txBody>
      </p:sp>
      <p:sp>
        <p:nvSpPr>
          <p:cNvPr id="6" name="Rectangle 5">
            <a:extLst>
              <a:ext uri="{FF2B5EF4-FFF2-40B4-BE49-F238E27FC236}">
                <a16:creationId xmlns:a16="http://schemas.microsoft.com/office/drawing/2014/main" id="{AB4AB60C-AD68-45B4-94A0-5D38D24B19BA}"/>
              </a:ext>
            </a:extLst>
          </p:cNvPr>
          <p:cNvSpPr/>
          <p:nvPr/>
        </p:nvSpPr>
        <p:spPr>
          <a:xfrm>
            <a:off x="584200" y="4343359"/>
            <a:ext cx="924560" cy="215444"/>
          </a:xfrm>
          <a:prstGeom prst="rect">
            <a:avLst/>
          </a:prstGeom>
          <a:noFill/>
          <a:ln w="2540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Semibold"/>
                <a:ea typeface="+mn-ea"/>
                <a:cs typeface="+mn-cs"/>
              </a:rPr>
              <a:t>Rearchitect</a:t>
            </a:r>
            <a:endParaRPr kumimoji="0" lang="en-US" sz="1800" b="0" i="0" u="none" strike="noStrike" kern="1200" cap="none" spc="0" normalizeH="0" baseline="0" noProof="0">
              <a:ln>
                <a:noFill/>
              </a:ln>
              <a:solidFill>
                <a:prstClr val="white"/>
              </a:solidFill>
              <a:effectLst/>
              <a:uLnTx/>
              <a:uFillTx/>
              <a:latin typeface="Segoe UI Semibold"/>
              <a:ea typeface="+mn-ea"/>
              <a:cs typeface="+mn-cs"/>
            </a:endParaRPr>
          </a:p>
        </p:txBody>
      </p:sp>
      <p:pic>
        <p:nvPicPr>
          <p:cNvPr id="21" name="Graphic 20" descr="Single gear">
            <a:extLst>
              <a:ext uri="{FF2B5EF4-FFF2-40B4-BE49-F238E27FC236}">
                <a16:creationId xmlns:a16="http://schemas.microsoft.com/office/drawing/2014/main" id="{9EB03D5D-5636-4EF8-8297-AA04C39A8C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5703" y="3650888"/>
            <a:ext cx="711100" cy="711100"/>
          </a:xfrm>
          <a:prstGeom prst="rect">
            <a:avLst/>
          </a:prstGeom>
        </p:spPr>
      </p:pic>
      <p:sp>
        <p:nvSpPr>
          <p:cNvPr id="3" name="Rectangle 2">
            <a:extLst>
              <a:ext uri="{FF2B5EF4-FFF2-40B4-BE49-F238E27FC236}">
                <a16:creationId xmlns:a16="http://schemas.microsoft.com/office/drawing/2014/main" id="{27440C5F-9B68-416B-B437-E667A0A065D2}"/>
              </a:ext>
            </a:extLst>
          </p:cNvPr>
          <p:cNvSpPr/>
          <p:nvPr/>
        </p:nvSpPr>
        <p:spPr>
          <a:xfrm>
            <a:off x="1679920" y="3735904"/>
            <a:ext cx="928018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Segoe UI"/>
                <a:ea typeface="+mn-ea"/>
                <a:cs typeface="+mn-cs"/>
              </a:rPr>
              <a:t>Modify or extend your application's code base to scale and optimize it for the cloud</a:t>
            </a:r>
            <a:r>
              <a:rPr kumimoji="0" lang="en-US" sz="1200" b="0" i="0" u="none" strike="noStrike" kern="1200" cap="none" spc="0" normalizeH="0" baseline="0" noProof="0">
                <a:ln>
                  <a:noFill/>
                </a:ln>
                <a:solidFill>
                  <a:prstClr val="white"/>
                </a:solidFill>
                <a:effectLst/>
                <a:uLnTx/>
                <a:uFillTx/>
                <a:latin typeface="Segoe UI"/>
                <a:ea typeface="+mn-ea"/>
                <a:cs typeface="+mn-cs"/>
              </a:rPr>
              <a:t>. Modernize your app into a resilient, highly scalable, independently deployable architecture and use Azure SQL Database, Microsoft’s platform as a service (PaaS) offering, to accelerate the process, scale applications with confidence, and manage your apps with ease.</a:t>
            </a:r>
          </a:p>
        </p:txBody>
      </p:sp>
      <p:sp>
        <p:nvSpPr>
          <p:cNvPr id="7" name="Rectangle 6">
            <a:extLst>
              <a:ext uri="{FF2B5EF4-FFF2-40B4-BE49-F238E27FC236}">
                <a16:creationId xmlns:a16="http://schemas.microsoft.com/office/drawing/2014/main" id="{D4C57F26-6EFA-40CC-99D4-71AC1FBE3AA0}"/>
              </a:ext>
            </a:extLst>
          </p:cNvPr>
          <p:cNvSpPr/>
          <p:nvPr/>
        </p:nvSpPr>
        <p:spPr>
          <a:xfrm>
            <a:off x="584200" y="5605755"/>
            <a:ext cx="924560" cy="215444"/>
          </a:xfrm>
          <a:prstGeom prst="rect">
            <a:avLst/>
          </a:prstGeom>
          <a:noFill/>
          <a:ln w="2540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Semibold"/>
                <a:ea typeface="+mn-ea"/>
                <a:cs typeface="+mn-cs"/>
              </a:rPr>
              <a:t>Rebuild</a:t>
            </a:r>
            <a:endParaRPr kumimoji="0" lang="en-US" sz="1800" b="0" i="0" u="none" strike="noStrike" kern="1200" cap="none" spc="0" normalizeH="0" baseline="0" noProof="0">
              <a:ln>
                <a:noFill/>
              </a:ln>
              <a:solidFill>
                <a:prstClr val="white"/>
              </a:solidFill>
              <a:effectLst/>
              <a:uLnTx/>
              <a:uFillTx/>
              <a:latin typeface="Segoe UI Semibold"/>
              <a:ea typeface="+mn-ea"/>
              <a:cs typeface="+mn-cs"/>
            </a:endParaRPr>
          </a:p>
        </p:txBody>
      </p:sp>
      <p:pic>
        <p:nvPicPr>
          <p:cNvPr id="25" name="Graphic 24" descr="Hammer">
            <a:extLst>
              <a:ext uri="{FF2B5EF4-FFF2-40B4-BE49-F238E27FC236}">
                <a16:creationId xmlns:a16="http://schemas.microsoft.com/office/drawing/2014/main" id="{A5BD40CB-D717-49F4-BE0E-74CB805A17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8026" y="4944559"/>
            <a:ext cx="646455" cy="646455"/>
          </a:xfrm>
          <a:prstGeom prst="rect">
            <a:avLst/>
          </a:prstGeom>
        </p:spPr>
      </p:pic>
      <p:sp>
        <p:nvSpPr>
          <p:cNvPr id="8" name="Rectangle 7">
            <a:extLst>
              <a:ext uri="{FF2B5EF4-FFF2-40B4-BE49-F238E27FC236}">
                <a16:creationId xmlns:a16="http://schemas.microsoft.com/office/drawing/2014/main" id="{5F40BA0B-C2AC-4AE9-A18E-BD8A7FD523AD}"/>
              </a:ext>
            </a:extLst>
          </p:cNvPr>
          <p:cNvSpPr/>
          <p:nvPr/>
        </p:nvSpPr>
        <p:spPr>
          <a:xfrm>
            <a:off x="1679920" y="4865151"/>
            <a:ext cx="9545980"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Segoe UI"/>
                <a:ea typeface="+mn-ea"/>
                <a:cs typeface="+mn-cs"/>
              </a:rPr>
              <a:t>Rebuild an application from scratch using cloud-native technologies</a:t>
            </a:r>
            <a:r>
              <a:rPr kumimoji="0" lang="en-US" sz="1200" b="0" i="0" u="none" strike="noStrike" kern="1200" cap="none" spc="0" normalizeH="0" baseline="0" noProof="0">
                <a:ln>
                  <a:noFill/>
                </a:ln>
                <a:solidFill>
                  <a:prstClr val="white"/>
                </a:solidFill>
                <a:effectLst/>
                <a:uLnTx/>
                <a:uFillTx/>
                <a:latin typeface="Segoe UI"/>
                <a:ea typeface="+mn-ea"/>
                <a:cs typeface="+mn-cs"/>
              </a:rPr>
              <a:t>. Azure platform as a service (PaaS) provides a complete development and deployment environment in the cloud, without the expense and complexity of software licenses, the need for underlying application infrastructure, or middleware and other resources. With this cloud migration strategy, you manage the applications and services you develop, and Azure manages everything else.</a:t>
            </a:r>
          </a:p>
        </p:txBody>
      </p:sp>
      <p:sp>
        <p:nvSpPr>
          <p:cNvPr id="26" name="TextBox 25">
            <a:extLst>
              <a:ext uri="{FF2B5EF4-FFF2-40B4-BE49-F238E27FC236}">
                <a16:creationId xmlns:a16="http://schemas.microsoft.com/office/drawing/2014/main" id="{D6C47250-B58A-42DB-902A-BCD52F838DDD}"/>
              </a:ext>
            </a:extLst>
          </p:cNvPr>
          <p:cNvSpPr txBox="1"/>
          <p:nvPr/>
        </p:nvSpPr>
        <p:spPr>
          <a:xfrm>
            <a:off x="588263" y="6197411"/>
            <a:ext cx="6411499"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Segoe UI"/>
                <a:ea typeface="+mn-ea"/>
                <a:cs typeface="+mn-cs"/>
              </a:rPr>
              <a:t>For more information about cloud migration strategies, see </a:t>
            </a:r>
            <a:r>
              <a:rPr kumimoji="0" lang="en-US" sz="1200" b="0" i="0" u="none" strike="noStrike" kern="1200" cap="none" spc="0" normalizeH="0" baseline="0" noProof="0">
                <a:ln>
                  <a:noFill/>
                </a:ln>
                <a:solidFill>
                  <a:srgbClr val="50E6FF"/>
                </a:solidFill>
                <a:effectLst/>
                <a:uLnTx/>
                <a:uFillTx/>
                <a:latin typeface="Segoe UI"/>
                <a:ea typeface="+mn-ea"/>
                <a:cs typeface="+mn-cs"/>
                <a:hlinkClick r:id="rId9">
                  <a:extLst>
                    <a:ext uri="{A12FA001-AC4F-418D-AE19-62706E023703}">
                      <ahyp:hlinkClr xmlns:ahyp="http://schemas.microsoft.com/office/drawing/2018/hyperlinkcolor" val="tx"/>
                    </a:ext>
                  </a:extLst>
                </a:hlinkClick>
              </a:rPr>
              <a:t>Start your cloud migration process</a:t>
            </a:r>
            <a:r>
              <a:rPr kumimoji="0" lang="en-US" sz="1200" b="0" i="0" u="none" strike="noStrike" kern="1200" cap="none" spc="0" normalizeH="0" baseline="0" noProof="0">
                <a:ln>
                  <a:noFill/>
                </a:ln>
                <a:solidFill>
                  <a:srgbClr val="50E6FF"/>
                </a:solidFill>
                <a:effectLst/>
                <a:uLnTx/>
                <a:uFillTx/>
                <a:latin typeface="Segoe UI"/>
                <a:ea typeface="+mn-ea"/>
                <a:cs typeface="+mn-cs"/>
              </a:rPr>
              <a:t>.</a:t>
            </a:r>
          </a:p>
        </p:txBody>
      </p:sp>
    </p:spTree>
    <p:extLst>
      <p:ext uri="{BB962C8B-B14F-4D97-AF65-F5344CB8AC3E}">
        <p14:creationId xmlns:p14="http://schemas.microsoft.com/office/powerpoint/2010/main" val="376320316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460B9-9196-43A7-B516-D284C8225E75}"/>
              </a:ext>
            </a:extLst>
          </p:cNvPr>
          <p:cNvSpPr>
            <a:spLocks noGrp="1"/>
          </p:cNvSpPr>
          <p:nvPr>
            <p:ph type="title"/>
          </p:nvPr>
        </p:nvSpPr>
        <p:spPr/>
        <p:txBody>
          <a:bodyPr/>
          <a:lstStyle/>
          <a:p>
            <a:r>
              <a:rPr lang="en-US">
                <a:solidFill>
                  <a:schemeClr val="tx1"/>
                </a:solidFill>
              </a:rPr>
              <a:t>Azure SQL</a:t>
            </a:r>
          </a:p>
        </p:txBody>
      </p:sp>
      <p:sp>
        <p:nvSpPr>
          <p:cNvPr id="44" name="TextBox 43">
            <a:extLst>
              <a:ext uri="{FF2B5EF4-FFF2-40B4-BE49-F238E27FC236}">
                <a16:creationId xmlns:a16="http://schemas.microsoft.com/office/drawing/2014/main" id="{06DD9A3A-924E-4025-8EE0-2DC50D054D75}"/>
              </a:ext>
            </a:extLst>
          </p:cNvPr>
          <p:cNvSpPr txBox="1"/>
          <p:nvPr/>
        </p:nvSpPr>
        <p:spPr>
          <a:xfrm>
            <a:off x="388307" y="901566"/>
            <a:ext cx="5487395" cy="572464"/>
          </a:xfrm>
          <a:prstGeom prst="rect">
            <a:avLst/>
          </a:prstGeom>
          <a:noFill/>
        </p:spPr>
        <p:txBody>
          <a:bodyPr wrap="square" lIns="182880" tIns="146304" rIns="182880" bIns="146304" rtlCol="0" anchor="t">
            <a:spAutoFit/>
          </a:bodyPr>
          <a:lstStyle/>
          <a:p>
            <a:pPr>
              <a:lnSpc>
                <a:spcPct val="90000"/>
              </a:lnSpc>
              <a:spcAft>
                <a:spcPts val="600"/>
              </a:spcAft>
              <a:defRPr/>
            </a:pPr>
            <a:r>
              <a:rPr kumimoji="0" lang="en-US" sz="2000" b="0" i="0" u="none" strike="noStrike" kern="1200" cap="none" spc="0" normalizeH="0" baseline="0" noProof="0" dirty="0">
                <a:ln w="3175">
                  <a:noFill/>
                </a:ln>
                <a:solidFill>
                  <a:schemeClr val="accent2"/>
                </a:solidFill>
                <a:effectLst/>
                <a:uLnTx/>
                <a:uFillTx/>
                <a:latin typeface="Segoe UI Semibold"/>
                <a:ea typeface="+mn-ea"/>
                <a:cs typeface="Segoe UI"/>
              </a:rPr>
              <a:t>The family of SQL cloud </a:t>
            </a:r>
            <a:r>
              <a:rPr lang="en-US" sz="2000" dirty="0">
                <a:ln w="3175">
                  <a:noFill/>
                </a:ln>
                <a:solidFill>
                  <a:schemeClr val="accent2"/>
                </a:solidFill>
                <a:latin typeface="Segoe UI Semibold"/>
                <a:cs typeface="Segoe UI"/>
              </a:rPr>
              <a:t>to edge </a:t>
            </a:r>
            <a:r>
              <a:rPr kumimoji="0" lang="en-US" sz="2000" b="0" i="0" u="none" strike="noStrike" kern="1200" cap="none" spc="0" normalizeH="0" baseline="0" noProof="0" dirty="0">
                <a:ln w="3175">
                  <a:noFill/>
                </a:ln>
                <a:solidFill>
                  <a:schemeClr val="accent2"/>
                </a:solidFill>
                <a:effectLst/>
                <a:uLnTx/>
                <a:uFillTx/>
                <a:latin typeface="Segoe UI Semibold"/>
                <a:ea typeface="+mn-ea"/>
                <a:cs typeface="Segoe UI"/>
              </a:rPr>
              <a:t>databases</a:t>
            </a:r>
          </a:p>
        </p:txBody>
      </p:sp>
      <p:sp>
        <p:nvSpPr>
          <p:cNvPr id="42" name="Rectangle 41">
            <a:extLst>
              <a:ext uri="{FF2B5EF4-FFF2-40B4-BE49-F238E27FC236}">
                <a16:creationId xmlns:a16="http://schemas.microsoft.com/office/drawing/2014/main" id="{4E2FC658-429C-47B2-BABF-EBB280DEE09D}"/>
              </a:ext>
            </a:extLst>
          </p:cNvPr>
          <p:cNvSpPr/>
          <p:nvPr/>
        </p:nvSpPr>
        <p:spPr bwMode="auto">
          <a:xfrm>
            <a:off x="181455" y="4658178"/>
            <a:ext cx="3383280" cy="34209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Infrastructure-as-a-Service</a:t>
            </a:r>
          </a:p>
        </p:txBody>
      </p:sp>
      <p:pic>
        <p:nvPicPr>
          <p:cNvPr id="4" name="Graphic 3" descr="SQL Server on Azure Virtual Machines logo">
            <a:extLst>
              <a:ext uri="{FF2B5EF4-FFF2-40B4-BE49-F238E27FC236}">
                <a16:creationId xmlns:a16="http://schemas.microsoft.com/office/drawing/2014/main" id="{9D033DE7-C527-4702-BD0C-01643D1D1F5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3599" y="2116801"/>
            <a:ext cx="1078992" cy="1078992"/>
          </a:xfrm>
          <a:prstGeom prst="rect">
            <a:avLst/>
          </a:prstGeom>
        </p:spPr>
      </p:pic>
      <p:sp>
        <p:nvSpPr>
          <p:cNvPr id="37" name="Rectangle 36">
            <a:extLst>
              <a:ext uri="{FF2B5EF4-FFF2-40B4-BE49-F238E27FC236}">
                <a16:creationId xmlns:a16="http://schemas.microsoft.com/office/drawing/2014/main" id="{E6C7CC21-B68F-48B6-80D4-A6A7D9F2F34C}"/>
              </a:ext>
            </a:extLst>
          </p:cNvPr>
          <p:cNvSpPr/>
          <p:nvPr/>
        </p:nvSpPr>
        <p:spPr>
          <a:xfrm>
            <a:off x="526827" y="3227076"/>
            <a:ext cx="2692534" cy="618631"/>
          </a:xfrm>
          <a:prstGeom prst="rect">
            <a:avLst/>
          </a:prstGeom>
        </p:spPr>
        <p:txBody>
          <a:bodyPr wrap="square" lIns="91440">
            <a:spAutoFit/>
          </a:bodyPr>
          <a:lstStyle/>
          <a:p>
            <a:pPr marL="0" marR="0" lvl="0" indent="0" algn="ctr" defTabSz="914080" rtl="0" eaLnBrk="1" fontAlgn="base" latinLnBrk="0" hangingPunct="1">
              <a:lnSpc>
                <a:spcPct val="95000"/>
              </a:lnSpc>
              <a:spcBef>
                <a:spcPct val="0"/>
              </a:spcBef>
              <a:spcAft>
                <a:spcPct val="0"/>
              </a:spcAft>
              <a:buClrTx/>
              <a:buSzTx/>
              <a:buFontTx/>
              <a:buNone/>
              <a:tabLst/>
              <a:defRPr/>
            </a:pPr>
            <a:r>
              <a:rPr kumimoji="0" lang="en-US" sz="1800" b="0" i="0" u="none" strike="noStrike" kern="0" cap="none" spc="0" normalizeH="0" baseline="0" noProof="0" dirty="0">
                <a:ln>
                  <a:noFill/>
                </a:ln>
                <a:solidFill>
                  <a:schemeClr val="accent2"/>
                </a:solidFill>
                <a:effectLst/>
                <a:uLnTx/>
                <a:uFillTx/>
                <a:latin typeface="Segoe UI Semibold"/>
                <a:ea typeface="+mn-ea"/>
                <a:cs typeface="Segoe UI Semibold" panose="020B0502040204020203" pitchFamily="34" charset="0"/>
              </a:rPr>
              <a:t>SQL Server on Azure Virtual Machines</a:t>
            </a:r>
            <a:endParaRPr kumimoji="0" lang="en-US" sz="2000" b="0" i="0" u="none" strike="noStrike" kern="0" cap="none" spc="0" normalizeH="0" baseline="0" noProof="0" dirty="0">
              <a:ln>
                <a:noFill/>
              </a:ln>
              <a:solidFill>
                <a:schemeClr val="accent2"/>
              </a:solidFill>
              <a:effectLst/>
              <a:uLnTx/>
              <a:uFillTx/>
              <a:latin typeface="Segoe UI Semibold"/>
              <a:ea typeface="+mn-ea"/>
              <a:cs typeface="Segoe UI Semibold" panose="020B0502040204020203" pitchFamily="34" charset="0"/>
            </a:endParaRPr>
          </a:p>
        </p:txBody>
      </p:sp>
      <p:sp>
        <p:nvSpPr>
          <p:cNvPr id="40" name="Rectangle 39">
            <a:extLst>
              <a:ext uri="{FF2B5EF4-FFF2-40B4-BE49-F238E27FC236}">
                <a16:creationId xmlns:a16="http://schemas.microsoft.com/office/drawing/2014/main" id="{5B944FFB-A844-47D1-8A58-98A574F1BCC5}"/>
              </a:ext>
            </a:extLst>
          </p:cNvPr>
          <p:cNvSpPr/>
          <p:nvPr/>
        </p:nvSpPr>
        <p:spPr>
          <a:xfrm>
            <a:off x="101521" y="3782805"/>
            <a:ext cx="3503674" cy="584775"/>
          </a:xfrm>
          <a:prstGeom prst="rect">
            <a:avLst/>
          </a:prstGeom>
        </p:spPr>
        <p:txBody>
          <a:bodyPr wrap="square" lIns="91440" tIns="45720" rIns="91440" bIns="45720" anchor="t">
            <a:spAutoFit/>
          </a:bodyPr>
          <a:lstStyle/>
          <a:p>
            <a:pPr marL="0" marR="0" lvl="0" indent="0" algn="ctr" defTabSz="914377" rtl="0" eaLnBrk="1" fontAlgn="auto" latinLnBrk="0" hangingPunct="1">
              <a:lnSpc>
                <a:spcPct val="100000"/>
              </a:lnSpc>
              <a:spcBef>
                <a:spcPts val="0"/>
              </a:spcBef>
              <a:spcAft>
                <a:spcPts val="800"/>
              </a:spcAft>
              <a:buClrTx/>
              <a:buSzTx/>
              <a:buFontTx/>
              <a:buNone/>
              <a:tabLst/>
              <a:defRPr/>
            </a:pPr>
            <a:r>
              <a:rPr kumimoji="0" lang="en-US" sz="1600" b="0" i="0" u="none" strike="noStrike" kern="0" cap="none" spc="0" normalizeH="0" baseline="0" noProof="0" dirty="0">
                <a:ln>
                  <a:noFill/>
                </a:ln>
                <a:effectLst/>
                <a:uLnTx/>
                <a:uFillTx/>
                <a:latin typeface="Segoe UI"/>
                <a:ea typeface="+mn-ea"/>
                <a:cs typeface="+mn-cs"/>
              </a:rPr>
              <a:t>Best for lift and shift and/or workloads requiring OS-level access</a:t>
            </a:r>
            <a:endParaRPr kumimoji="0" lang="en-US" sz="1600" b="0" i="0" u="none" strike="noStrike" kern="0" cap="none" spc="0" normalizeH="0" baseline="0" noProof="0" dirty="0">
              <a:ln>
                <a:noFill/>
              </a:ln>
              <a:effectLst/>
              <a:uLnTx/>
              <a:uFillTx/>
              <a:latin typeface="Segoe UI"/>
              <a:ea typeface="+mn-ea"/>
              <a:cs typeface="Segoe UI Semibold"/>
            </a:endParaRPr>
          </a:p>
        </p:txBody>
      </p:sp>
      <p:sp>
        <p:nvSpPr>
          <p:cNvPr id="18" name="Rectangle 17">
            <a:extLst>
              <a:ext uri="{FF2B5EF4-FFF2-40B4-BE49-F238E27FC236}">
                <a16:creationId xmlns:a16="http://schemas.microsoft.com/office/drawing/2014/main" id="{22D955C9-7ABE-44A4-B7A6-A5F098087164}"/>
              </a:ext>
            </a:extLst>
          </p:cNvPr>
          <p:cNvSpPr/>
          <p:nvPr/>
        </p:nvSpPr>
        <p:spPr bwMode="auto">
          <a:xfrm>
            <a:off x="3774630" y="4658178"/>
            <a:ext cx="5357338" cy="34209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Platform-as-a-Service </a:t>
            </a:r>
          </a:p>
        </p:txBody>
      </p:sp>
      <p:pic>
        <p:nvPicPr>
          <p:cNvPr id="20" name="Graphic 19" descr="Azure SQL Managed Instance">
            <a:extLst>
              <a:ext uri="{FF2B5EF4-FFF2-40B4-BE49-F238E27FC236}">
                <a16:creationId xmlns:a16="http://schemas.microsoft.com/office/drawing/2014/main" id="{75D1114F-29C2-4DBA-91E1-4614104C1F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35797" y="2162576"/>
            <a:ext cx="1031763" cy="1031763"/>
          </a:xfrm>
          <a:prstGeom prst="rect">
            <a:avLst/>
          </a:prstGeom>
        </p:spPr>
      </p:pic>
      <p:sp>
        <p:nvSpPr>
          <p:cNvPr id="16" name="Rectangle 15">
            <a:extLst>
              <a:ext uri="{FF2B5EF4-FFF2-40B4-BE49-F238E27FC236}">
                <a16:creationId xmlns:a16="http://schemas.microsoft.com/office/drawing/2014/main" id="{B1EC080E-2F89-4608-9152-878A553272F7}"/>
              </a:ext>
            </a:extLst>
          </p:cNvPr>
          <p:cNvSpPr/>
          <p:nvPr/>
        </p:nvSpPr>
        <p:spPr>
          <a:xfrm>
            <a:off x="4201175" y="3227076"/>
            <a:ext cx="2155435" cy="618631"/>
          </a:xfrm>
          <a:prstGeom prst="rect">
            <a:avLst/>
          </a:prstGeom>
        </p:spPr>
        <p:txBody>
          <a:bodyPr wrap="square" lIns="91440">
            <a:spAutoFit/>
          </a:bodyPr>
          <a:lstStyle/>
          <a:p>
            <a:pPr marL="0" marR="0" lvl="0" indent="0" algn="ctr" defTabSz="914080" rtl="0" eaLnBrk="1" fontAlgn="base" latinLnBrk="0" hangingPunct="1">
              <a:lnSpc>
                <a:spcPct val="95000"/>
              </a:lnSpc>
              <a:spcBef>
                <a:spcPct val="0"/>
              </a:spcBef>
              <a:spcAft>
                <a:spcPct val="0"/>
              </a:spcAft>
              <a:buClrTx/>
              <a:buSzTx/>
              <a:buFontTx/>
              <a:buNone/>
              <a:tabLst/>
              <a:defRPr/>
            </a:pPr>
            <a:r>
              <a:rPr kumimoji="0" lang="en-US" sz="1800" b="0" i="0" u="none" strike="noStrike" kern="0" cap="none" spc="0" normalizeH="0" baseline="0" noProof="0" dirty="0">
                <a:ln>
                  <a:noFill/>
                </a:ln>
                <a:solidFill>
                  <a:schemeClr val="accent2"/>
                </a:solidFill>
                <a:effectLst/>
                <a:uLnTx/>
                <a:uFillTx/>
                <a:latin typeface="Segoe UI Semibold"/>
                <a:ea typeface="+mn-ea"/>
                <a:cs typeface="Segoe UI Semibold" panose="020B0502040204020203" pitchFamily="34" charset="0"/>
              </a:rPr>
              <a:t>Azure SQL Managed Instance</a:t>
            </a:r>
            <a:endParaRPr kumimoji="0" lang="en-US" sz="2000" b="0" i="0" u="none" strike="noStrike" kern="0" cap="none" spc="0" normalizeH="0" baseline="0" noProof="0" dirty="0">
              <a:ln>
                <a:noFill/>
              </a:ln>
              <a:solidFill>
                <a:schemeClr val="accent2"/>
              </a:solidFill>
              <a:effectLst/>
              <a:uLnTx/>
              <a:uFillTx/>
              <a:latin typeface="Segoe UI Semibold"/>
              <a:ea typeface="+mn-ea"/>
              <a:cs typeface="Segoe UI Semibold" panose="020B0502040204020203" pitchFamily="34" charset="0"/>
            </a:endParaRPr>
          </a:p>
        </p:txBody>
      </p:sp>
      <p:sp>
        <p:nvSpPr>
          <p:cNvPr id="17" name="Text Placeholder 8">
            <a:extLst>
              <a:ext uri="{FF2B5EF4-FFF2-40B4-BE49-F238E27FC236}">
                <a16:creationId xmlns:a16="http://schemas.microsoft.com/office/drawing/2014/main" id="{8B5FF250-58F1-4AD1-A6A6-B1F17C999338}"/>
              </a:ext>
            </a:extLst>
          </p:cNvPr>
          <p:cNvSpPr txBox="1">
            <a:spLocks/>
          </p:cNvSpPr>
          <p:nvPr/>
        </p:nvSpPr>
        <p:spPr>
          <a:xfrm>
            <a:off x="4076850" y="3782805"/>
            <a:ext cx="2279760" cy="584775"/>
          </a:xfrm>
          <a:prstGeom prst="rect">
            <a:avLst/>
          </a:prstGeom>
        </p:spPr>
        <p:txBody>
          <a:bodyPr vert="horz" wrap="square" lIns="91440" tIns="45720" rIns="91440" bIns="4572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800"/>
              </a:spcAft>
              <a:buClrTx/>
              <a:buSzTx/>
              <a:buFont typeface="Wingdings" panose="05000000000000000000" pitchFamily="2" charset="2"/>
              <a:buNone/>
              <a:tabLst/>
              <a:defRPr/>
            </a:pPr>
            <a:r>
              <a:rPr kumimoji="0" lang="en-US" sz="1600" b="0" i="0" u="none" strike="noStrike" kern="0" cap="none" spc="0" normalizeH="0" baseline="0" noProof="0" dirty="0">
                <a:ln>
                  <a:noFill/>
                </a:ln>
                <a:solidFill>
                  <a:schemeClr val="tx1"/>
                </a:solidFill>
                <a:effectLst/>
                <a:uLnTx/>
                <a:uFillTx/>
                <a:latin typeface="Segoe UI"/>
                <a:ea typeface="+mn-ea"/>
                <a:cs typeface="Segoe UI Semilight" panose="020B0402040204020203" pitchFamily="34" charset="0"/>
              </a:rPr>
              <a:t>Best for modernizing existing apps</a:t>
            </a:r>
            <a:endParaRPr kumimoji="0" lang="en-US" sz="1600" b="0" i="0" u="none" strike="sngStrike" kern="0" cap="none" spc="0" normalizeH="0" baseline="0" noProof="0" dirty="0">
              <a:ln>
                <a:noFill/>
              </a:ln>
              <a:solidFill>
                <a:schemeClr val="tx1"/>
              </a:solidFill>
              <a:effectLst/>
              <a:uLnTx/>
              <a:uFillTx/>
              <a:latin typeface="Segoe UI"/>
              <a:ea typeface="+mn-ea"/>
              <a:cs typeface="Segoe UI Semilight" panose="020B0402040204020203" pitchFamily="34" charset="0"/>
            </a:endParaRPr>
          </a:p>
        </p:txBody>
      </p:sp>
      <p:pic>
        <p:nvPicPr>
          <p:cNvPr id="47" name="Graphic 46" descr="Azure SQL Database logo">
            <a:extLst>
              <a:ext uri="{FF2B5EF4-FFF2-40B4-BE49-F238E27FC236}">
                <a16:creationId xmlns:a16="http://schemas.microsoft.com/office/drawing/2014/main" id="{F123A4A5-E267-425E-AEBA-BC8DBE079DF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40855" y="2116801"/>
            <a:ext cx="1077538" cy="1077538"/>
          </a:xfrm>
          <a:prstGeom prst="rect">
            <a:avLst/>
          </a:prstGeom>
        </p:spPr>
      </p:pic>
      <p:sp>
        <p:nvSpPr>
          <p:cNvPr id="34" name="Rectangle 33">
            <a:extLst>
              <a:ext uri="{FF2B5EF4-FFF2-40B4-BE49-F238E27FC236}">
                <a16:creationId xmlns:a16="http://schemas.microsoft.com/office/drawing/2014/main" id="{DBE09068-1C5D-43CD-90BA-B08F8556FFE0}"/>
              </a:ext>
            </a:extLst>
          </p:cNvPr>
          <p:cNvSpPr/>
          <p:nvPr/>
        </p:nvSpPr>
        <p:spPr>
          <a:xfrm>
            <a:off x="6815543" y="3227076"/>
            <a:ext cx="1936444" cy="618631"/>
          </a:xfrm>
          <a:prstGeom prst="rect">
            <a:avLst/>
          </a:prstGeom>
        </p:spPr>
        <p:txBody>
          <a:bodyPr wrap="square" lIns="91440">
            <a:spAutoFit/>
          </a:bodyPr>
          <a:lstStyle/>
          <a:p>
            <a:pPr marL="0" marR="0" lvl="0" indent="0" algn="ctr" defTabSz="914080" rtl="0" eaLnBrk="1" fontAlgn="base" latinLnBrk="0" hangingPunct="1">
              <a:lnSpc>
                <a:spcPct val="95000"/>
              </a:lnSpc>
              <a:spcBef>
                <a:spcPct val="0"/>
              </a:spcBef>
              <a:spcAft>
                <a:spcPct val="0"/>
              </a:spcAft>
              <a:buClrTx/>
              <a:buSzTx/>
              <a:buFontTx/>
              <a:buNone/>
              <a:tabLst/>
              <a:defRPr/>
            </a:pPr>
            <a:r>
              <a:rPr kumimoji="0" lang="en-US" sz="1800" b="0" i="0" u="none" strike="noStrike" kern="0" cap="none" spc="0" normalizeH="0" baseline="0" noProof="0" dirty="0">
                <a:ln>
                  <a:noFill/>
                </a:ln>
                <a:solidFill>
                  <a:schemeClr val="accent2"/>
                </a:solidFill>
                <a:effectLst/>
                <a:uLnTx/>
                <a:uFillTx/>
                <a:latin typeface="Segoe UI Semibold"/>
                <a:ea typeface="+mn-ea"/>
                <a:cs typeface="Segoe UI Semibold" panose="020B0502040204020203" pitchFamily="34" charset="0"/>
              </a:rPr>
              <a:t>Azure SQL Database</a:t>
            </a:r>
            <a:endParaRPr kumimoji="0" lang="en-US" sz="2000" b="0" i="0" u="none" strike="noStrike" kern="0" cap="none" spc="0" normalizeH="0" baseline="0" noProof="0" dirty="0">
              <a:ln>
                <a:noFill/>
              </a:ln>
              <a:solidFill>
                <a:schemeClr val="accent2"/>
              </a:solidFill>
              <a:effectLst/>
              <a:uLnTx/>
              <a:uFillTx/>
              <a:latin typeface="Segoe UI Semibold"/>
              <a:ea typeface="+mn-ea"/>
              <a:cs typeface="Segoe UI Semibold" panose="020B0502040204020203" pitchFamily="34" charset="0"/>
            </a:endParaRPr>
          </a:p>
        </p:txBody>
      </p:sp>
      <p:sp>
        <p:nvSpPr>
          <p:cNvPr id="39" name="Text Placeholder 8">
            <a:extLst>
              <a:ext uri="{FF2B5EF4-FFF2-40B4-BE49-F238E27FC236}">
                <a16:creationId xmlns:a16="http://schemas.microsoft.com/office/drawing/2014/main" id="{999A2B34-D717-4000-9873-3189A43F91B6}"/>
              </a:ext>
            </a:extLst>
          </p:cNvPr>
          <p:cNvSpPr txBox="1">
            <a:spLocks/>
          </p:cNvSpPr>
          <p:nvPr/>
        </p:nvSpPr>
        <p:spPr>
          <a:xfrm>
            <a:off x="6778502" y="3782805"/>
            <a:ext cx="2002244" cy="584775"/>
          </a:xfrm>
          <a:prstGeom prst="rect">
            <a:avLst/>
          </a:prstGeom>
        </p:spPr>
        <p:txBody>
          <a:bodyPr vert="horz" wrap="square" lIns="91440" tIns="45720" rIns="91440" bIns="4572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800"/>
              </a:spcAft>
              <a:buClrTx/>
              <a:buSzTx/>
              <a:buFont typeface="Wingdings" panose="05000000000000000000" pitchFamily="2" charset="2"/>
              <a:buNone/>
              <a:tabLst/>
              <a:defRPr/>
            </a:pPr>
            <a:r>
              <a:rPr kumimoji="0" lang="en-US" sz="1600" b="0" i="0" u="none" strike="noStrike" kern="0" cap="none" spc="0" normalizeH="0" baseline="0" noProof="0" dirty="0">
                <a:ln>
                  <a:noFill/>
                </a:ln>
                <a:solidFill>
                  <a:schemeClr val="tx1"/>
                </a:solidFill>
                <a:effectLst/>
                <a:uLnTx/>
                <a:uFillTx/>
                <a:latin typeface="Segoe UI"/>
                <a:ea typeface="+mn-ea"/>
                <a:cs typeface="Segoe UI Semilight" panose="020B0402040204020203" pitchFamily="34" charset="0"/>
              </a:rPr>
              <a:t>Best for supporting modern cloud apps</a:t>
            </a:r>
            <a:endParaRPr kumimoji="0" lang="en-US" sz="1600" b="0" i="0" u="none" strike="sngStrike" kern="0" cap="none" spc="0" normalizeH="0" baseline="0" noProof="0" dirty="0">
              <a:ln>
                <a:noFill/>
              </a:ln>
              <a:solidFill>
                <a:schemeClr val="tx1"/>
              </a:solidFill>
              <a:effectLst/>
              <a:uLnTx/>
              <a:uFillTx/>
              <a:latin typeface="Segoe UI"/>
              <a:ea typeface="+mn-ea"/>
              <a:cs typeface="Segoe UI Semilight" panose="020B0402040204020203" pitchFamily="34" charset="0"/>
            </a:endParaRPr>
          </a:p>
        </p:txBody>
      </p:sp>
      <p:sp>
        <p:nvSpPr>
          <p:cNvPr id="7" name="Rectangle 6">
            <a:extLst>
              <a:ext uri="{FF2B5EF4-FFF2-40B4-BE49-F238E27FC236}">
                <a16:creationId xmlns:a16="http://schemas.microsoft.com/office/drawing/2014/main" id="{06AE58F9-C619-494D-AEAD-D339C2647252}"/>
              </a:ext>
            </a:extLst>
          </p:cNvPr>
          <p:cNvSpPr/>
          <p:nvPr/>
        </p:nvSpPr>
        <p:spPr bwMode="auto">
          <a:xfrm>
            <a:off x="9342521" y="4658178"/>
            <a:ext cx="2668024" cy="34209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Edge Computing</a:t>
            </a:r>
          </a:p>
        </p:txBody>
      </p:sp>
      <p:pic>
        <p:nvPicPr>
          <p:cNvPr id="3" name="Picture 2" descr="Azure SQL Edge logo">
            <a:extLst>
              <a:ext uri="{FF2B5EF4-FFF2-40B4-BE49-F238E27FC236}">
                <a16:creationId xmlns:a16="http://schemas.microsoft.com/office/drawing/2014/main" id="{6D2C7A7C-C82C-4F62-9DC6-1342B83836E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79839" y="2114050"/>
            <a:ext cx="1193388" cy="1083284"/>
          </a:xfrm>
          <a:prstGeom prst="rect">
            <a:avLst/>
          </a:prstGeom>
        </p:spPr>
      </p:pic>
      <p:sp>
        <p:nvSpPr>
          <p:cNvPr id="5" name="Rectangle 4">
            <a:extLst>
              <a:ext uri="{FF2B5EF4-FFF2-40B4-BE49-F238E27FC236}">
                <a16:creationId xmlns:a16="http://schemas.microsoft.com/office/drawing/2014/main" id="{C1608DF5-91DF-4C70-9987-E53052C03B18}"/>
              </a:ext>
            </a:extLst>
          </p:cNvPr>
          <p:cNvSpPr/>
          <p:nvPr/>
        </p:nvSpPr>
        <p:spPr>
          <a:xfrm>
            <a:off x="9814526" y="3227076"/>
            <a:ext cx="1724014" cy="618631"/>
          </a:xfrm>
          <a:prstGeom prst="rect">
            <a:avLst/>
          </a:prstGeom>
        </p:spPr>
        <p:txBody>
          <a:bodyPr wrap="square" lIns="91440">
            <a:spAutoFit/>
          </a:bodyPr>
          <a:lstStyle/>
          <a:p>
            <a:pPr marL="0" marR="0" lvl="0" indent="0" algn="ctr" defTabSz="914080" rtl="0" eaLnBrk="1" fontAlgn="base" latinLnBrk="0" hangingPunct="1">
              <a:lnSpc>
                <a:spcPct val="95000"/>
              </a:lnSpc>
              <a:spcBef>
                <a:spcPct val="0"/>
              </a:spcBef>
              <a:spcAft>
                <a:spcPct val="0"/>
              </a:spcAft>
              <a:buClrTx/>
              <a:buSzTx/>
              <a:buFontTx/>
              <a:buNone/>
              <a:tabLst/>
              <a:defRPr/>
            </a:pPr>
            <a:r>
              <a:rPr kumimoji="0" lang="en-US" sz="1800" b="0" i="0" u="none" strike="noStrike" kern="0" cap="none" spc="0" normalizeH="0" baseline="0" noProof="0">
                <a:ln>
                  <a:noFill/>
                </a:ln>
                <a:solidFill>
                  <a:schemeClr val="accent2"/>
                </a:solidFill>
                <a:effectLst/>
                <a:uLnTx/>
                <a:uFillTx/>
                <a:latin typeface="Segoe UI Semibold"/>
                <a:ea typeface="+mn-ea"/>
                <a:cs typeface="Segoe UI Semibold" panose="020B0502040204020203" pitchFamily="34" charset="0"/>
              </a:rPr>
              <a:t>Azure SQL Edge</a:t>
            </a:r>
            <a:endParaRPr kumimoji="0" lang="en-US" sz="2000" b="0" i="0" u="none" strike="noStrike" kern="0" cap="none" spc="0" normalizeH="0" baseline="0" noProof="0">
              <a:ln>
                <a:noFill/>
              </a:ln>
              <a:solidFill>
                <a:schemeClr val="accent2"/>
              </a:solidFill>
              <a:effectLst/>
              <a:uLnTx/>
              <a:uFillTx/>
              <a:latin typeface="Segoe UI Semibold"/>
              <a:ea typeface="+mn-ea"/>
              <a:cs typeface="Segoe UI Semibold" panose="020B0502040204020203" pitchFamily="34" charset="0"/>
            </a:endParaRPr>
          </a:p>
        </p:txBody>
      </p:sp>
      <p:sp>
        <p:nvSpPr>
          <p:cNvPr id="6" name="Text Placeholder 8">
            <a:extLst>
              <a:ext uri="{FF2B5EF4-FFF2-40B4-BE49-F238E27FC236}">
                <a16:creationId xmlns:a16="http://schemas.microsoft.com/office/drawing/2014/main" id="{7F8D7353-EF3A-4762-B024-DF0CCEDB1D43}"/>
              </a:ext>
            </a:extLst>
          </p:cNvPr>
          <p:cNvSpPr txBox="1">
            <a:spLocks/>
          </p:cNvSpPr>
          <p:nvPr/>
        </p:nvSpPr>
        <p:spPr>
          <a:xfrm>
            <a:off x="9675411" y="3782805"/>
            <a:ext cx="2002244" cy="584775"/>
          </a:xfrm>
          <a:prstGeom prst="rect">
            <a:avLst/>
          </a:prstGeom>
        </p:spPr>
        <p:txBody>
          <a:bodyPr vert="horz" wrap="square" lIns="91440" tIns="45720" rIns="91440" bIns="4572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800"/>
              </a:spcAft>
              <a:buClrTx/>
              <a:buSzTx/>
              <a:buFont typeface="Wingdings" panose="05000000000000000000" pitchFamily="2" charset="2"/>
              <a:buNone/>
              <a:tabLst/>
              <a:defRPr/>
            </a:pPr>
            <a:r>
              <a:rPr kumimoji="0" lang="en-US" sz="1600" b="0" i="0" u="none" strike="noStrike" kern="0" cap="none" spc="0" normalizeH="0" baseline="0" noProof="0">
                <a:ln>
                  <a:noFill/>
                </a:ln>
                <a:solidFill>
                  <a:schemeClr val="tx1"/>
                </a:solidFill>
                <a:effectLst/>
                <a:uLnTx/>
                <a:uFillTx/>
                <a:latin typeface="Segoe UI"/>
                <a:ea typeface="+mn-ea"/>
                <a:cs typeface="Segoe UI Semilight" panose="020B0402040204020203" pitchFamily="34" charset="0"/>
              </a:rPr>
              <a:t>Best for extending apps to IoT edge</a:t>
            </a:r>
            <a:endParaRPr kumimoji="0" lang="en-US" sz="1600" b="0" i="0" u="none" strike="sngStrike" kern="0" cap="none" spc="0" normalizeH="0" baseline="0" noProof="0">
              <a:ln>
                <a:noFill/>
              </a:ln>
              <a:solidFill>
                <a:schemeClr val="tx1"/>
              </a:solidFill>
              <a:effectLst/>
              <a:uLnTx/>
              <a:uFillTx/>
              <a:latin typeface="Segoe UI"/>
              <a:ea typeface="+mn-ea"/>
              <a:cs typeface="Segoe UI Semilight" panose="020B0402040204020203" pitchFamily="34" charset="0"/>
            </a:endParaRPr>
          </a:p>
        </p:txBody>
      </p:sp>
      <p:sp>
        <p:nvSpPr>
          <p:cNvPr id="8" name="Title 1">
            <a:extLst>
              <a:ext uri="{FF2B5EF4-FFF2-40B4-BE49-F238E27FC236}">
                <a16:creationId xmlns:a16="http://schemas.microsoft.com/office/drawing/2014/main" id="{B184EAA9-3435-4364-928B-ADEFD4DE9CFD}"/>
              </a:ext>
            </a:extLst>
          </p:cNvPr>
          <p:cNvSpPr txBox="1">
            <a:spLocks/>
          </p:cNvSpPr>
          <p:nvPr/>
        </p:nvSpPr>
        <p:spPr>
          <a:xfrm>
            <a:off x="732015" y="6051138"/>
            <a:ext cx="11018520" cy="369332"/>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ctr" defTabSz="914400">
              <a:defRPr/>
            </a:pPr>
            <a:r>
              <a:rPr lang="en-US" sz="2400" spc="0">
                <a:ln>
                  <a:noFill/>
                </a:ln>
                <a:ea typeface="+mj-lt"/>
                <a:cs typeface="+mj-lt"/>
              </a:rPr>
              <a:t>Azure is the cloud that knows SQL Server best</a:t>
            </a:r>
            <a:endParaRPr lang="en-US"/>
          </a:p>
        </p:txBody>
      </p:sp>
    </p:spTree>
    <p:extLst>
      <p:ext uri="{BB962C8B-B14F-4D97-AF65-F5344CB8AC3E}">
        <p14:creationId xmlns:p14="http://schemas.microsoft.com/office/powerpoint/2010/main" val="1961945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F4DF-55BD-422C-9FAD-3914C9918F6A}"/>
              </a:ext>
            </a:extLst>
          </p:cNvPr>
          <p:cNvSpPr>
            <a:spLocks noGrp="1"/>
          </p:cNvSpPr>
          <p:nvPr>
            <p:ph type="title"/>
          </p:nvPr>
        </p:nvSpPr>
        <p:spPr/>
        <p:txBody>
          <a:bodyPr/>
          <a:lstStyle/>
          <a:p>
            <a:r>
              <a:rPr lang="en-US" dirty="0"/>
              <a:t>Azure SQL is the best choice for SQL Server workloads</a:t>
            </a:r>
          </a:p>
        </p:txBody>
      </p:sp>
      <p:sp>
        <p:nvSpPr>
          <p:cNvPr id="63" name="TextBox 62">
            <a:extLst>
              <a:ext uri="{FF2B5EF4-FFF2-40B4-BE49-F238E27FC236}">
                <a16:creationId xmlns:a16="http://schemas.microsoft.com/office/drawing/2014/main" id="{1A262A65-43C2-41F3-B159-B9314DF94BB2}"/>
              </a:ext>
            </a:extLst>
          </p:cNvPr>
          <p:cNvSpPr txBox="1"/>
          <p:nvPr/>
        </p:nvSpPr>
        <p:spPr>
          <a:xfrm>
            <a:off x="587584" y="1056463"/>
            <a:ext cx="9397582" cy="2769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w="3175">
                  <a:noFill/>
                </a:ln>
                <a:solidFill>
                  <a:srgbClr val="50E6FF"/>
                </a:solidFill>
                <a:effectLst/>
                <a:uLnTx/>
                <a:uFillTx/>
                <a:latin typeface="Segoe UI Semibold"/>
                <a:ea typeface="+mn-ea"/>
                <a:cs typeface="Segoe UI" pitchFamily="34" charset="0"/>
              </a:rPr>
              <a:t>Run any workload anywhere on the industry-leading SQL Server engine</a:t>
            </a:r>
          </a:p>
        </p:txBody>
      </p:sp>
      <p:sp>
        <p:nvSpPr>
          <p:cNvPr id="6" name="Rectangle 5">
            <a:extLst>
              <a:ext uri="{FF2B5EF4-FFF2-40B4-BE49-F238E27FC236}">
                <a16:creationId xmlns:a16="http://schemas.microsoft.com/office/drawing/2014/main" id="{4D524B65-B984-4FAE-A886-3186482829BD}"/>
              </a:ext>
            </a:extLst>
          </p:cNvPr>
          <p:cNvSpPr/>
          <p:nvPr/>
        </p:nvSpPr>
        <p:spPr>
          <a:xfrm>
            <a:off x="815875" y="1845005"/>
            <a:ext cx="1785281" cy="492443"/>
          </a:xfrm>
          <a:prstGeom prst="rect">
            <a:avLst/>
          </a:prstGeom>
          <a:noFill/>
          <a:ln w="15875" cap="flat" cmpd="sng" algn="ctr">
            <a:noFill/>
            <a:prstDash val="soli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50E6FF"/>
                </a:solidFill>
                <a:effectLst/>
                <a:uLnTx/>
                <a:uFillTx/>
                <a:latin typeface="Segoe UI Semibold" panose="020B0502040204020203" pitchFamily="34" charset="0"/>
                <a:ea typeface="+mn-ea"/>
                <a:cs typeface="Segoe UI Semibold" panose="020B0502040204020203" pitchFamily="34" charset="0"/>
              </a:rPr>
              <a:t>Fully-managed and always up to date</a:t>
            </a:r>
          </a:p>
        </p:txBody>
      </p:sp>
      <p:sp>
        <p:nvSpPr>
          <p:cNvPr id="67" name="Oval 66">
            <a:extLst>
              <a:ext uri="{FF2B5EF4-FFF2-40B4-BE49-F238E27FC236}">
                <a16:creationId xmlns:a16="http://schemas.microsoft.com/office/drawing/2014/main" id="{69C8B13E-3DB4-4F0C-ADB9-F6EAFCBFE0E0}"/>
              </a:ext>
              <a:ext uri="{C183D7F6-B498-43B3-948B-1728B52AA6E4}">
                <adec:decorative xmlns:adec="http://schemas.microsoft.com/office/drawing/2017/decorative" val="1"/>
              </a:ext>
            </a:extLst>
          </p:cNvPr>
          <p:cNvSpPr/>
          <p:nvPr/>
        </p:nvSpPr>
        <p:spPr bwMode="auto">
          <a:xfrm>
            <a:off x="980119" y="2534843"/>
            <a:ext cx="1346662" cy="1346662"/>
          </a:xfrm>
          <a:prstGeom prst="ellipse">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95" name="Graphic 1">
            <a:extLst>
              <a:ext uri="{FF2B5EF4-FFF2-40B4-BE49-F238E27FC236}">
                <a16:creationId xmlns:a16="http://schemas.microsoft.com/office/drawing/2014/main" id="{2B887F30-65A8-406B-AD9C-CC7291CA1074}"/>
              </a:ext>
              <a:ext uri="{C183D7F6-B498-43B3-948B-1728B52AA6E4}">
                <adec:decorative xmlns:adec="http://schemas.microsoft.com/office/drawing/2017/decorative" val="1"/>
              </a:ext>
            </a:extLst>
          </p:cNvPr>
          <p:cNvGrpSpPr>
            <a:grpSpLocks noChangeAspect="1"/>
          </p:cNvGrpSpPr>
          <p:nvPr/>
        </p:nvGrpSpPr>
        <p:grpSpPr>
          <a:xfrm>
            <a:off x="1301766" y="2872817"/>
            <a:ext cx="703538" cy="704088"/>
            <a:chOff x="3537040" y="6890607"/>
            <a:chExt cx="395374" cy="395683"/>
          </a:xfrm>
          <a:solidFill>
            <a:schemeClr val="accent1"/>
          </a:solidFill>
        </p:grpSpPr>
        <p:sp>
          <p:nvSpPr>
            <p:cNvPr id="96" name="Freeform: Shape 95">
              <a:extLst>
                <a:ext uri="{FF2B5EF4-FFF2-40B4-BE49-F238E27FC236}">
                  <a16:creationId xmlns:a16="http://schemas.microsoft.com/office/drawing/2014/main" id="{1F5354A2-B3D9-45BF-ADBD-6599A3D1B605}"/>
                </a:ext>
              </a:extLst>
            </p:cNvPr>
            <p:cNvSpPr/>
            <p:nvPr/>
          </p:nvSpPr>
          <p:spPr>
            <a:xfrm>
              <a:off x="3537040" y="6890607"/>
              <a:ext cx="395374" cy="395683"/>
            </a:xfrm>
            <a:custGeom>
              <a:avLst/>
              <a:gdLst>
                <a:gd name="connsiteX0" fmla="*/ 395375 w 395374"/>
                <a:gd name="connsiteY0" fmla="*/ 218553 h 395683"/>
                <a:gd name="connsiteX1" fmla="*/ 395375 w 395374"/>
                <a:gd name="connsiteY1" fmla="*/ 177130 h 395683"/>
                <a:gd name="connsiteX2" fmla="*/ 352406 w 395374"/>
                <a:gd name="connsiteY2" fmla="*/ 177130 h 395683"/>
                <a:gd name="connsiteX3" fmla="*/ 321802 w 395374"/>
                <a:gd name="connsiteY3" fmla="*/ 103249 h 395683"/>
                <a:gd name="connsiteX4" fmla="*/ 352097 w 395374"/>
                <a:gd name="connsiteY4" fmla="*/ 72954 h 395683"/>
                <a:gd name="connsiteX5" fmla="*/ 322730 w 395374"/>
                <a:gd name="connsiteY5" fmla="*/ 43587 h 395683"/>
                <a:gd name="connsiteX6" fmla="*/ 292435 w 395374"/>
                <a:gd name="connsiteY6" fmla="*/ 73882 h 395683"/>
                <a:gd name="connsiteX7" fmla="*/ 218554 w 395374"/>
                <a:gd name="connsiteY7" fmla="*/ 43278 h 395683"/>
                <a:gd name="connsiteX8" fmla="*/ 218554 w 395374"/>
                <a:gd name="connsiteY8" fmla="*/ 0 h 395683"/>
                <a:gd name="connsiteX9" fmla="*/ 176821 w 395374"/>
                <a:gd name="connsiteY9" fmla="*/ 0 h 395683"/>
                <a:gd name="connsiteX10" fmla="*/ 176821 w 395374"/>
                <a:gd name="connsiteY10" fmla="*/ 42969 h 395683"/>
                <a:gd name="connsiteX11" fmla="*/ 102940 w 395374"/>
                <a:gd name="connsiteY11" fmla="*/ 73572 h 395683"/>
                <a:gd name="connsiteX12" fmla="*/ 72645 w 395374"/>
                <a:gd name="connsiteY12" fmla="*/ 43278 h 395683"/>
                <a:gd name="connsiteX13" fmla="*/ 43278 w 395374"/>
                <a:gd name="connsiteY13" fmla="*/ 72645 h 395683"/>
                <a:gd name="connsiteX14" fmla="*/ 73573 w 395374"/>
                <a:gd name="connsiteY14" fmla="*/ 102940 h 395683"/>
                <a:gd name="connsiteX15" fmla="*/ 42969 w 395374"/>
                <a:gd name="connsiteY15" fmla="*/ 176821 h 395683"/>
                <a:gd name="connsiteX16" fmla="*/ 0 w 395374"/>
                <a:gd name="connsiteY16" fmla="*/ 176821 h 395683"/>
                <a:gd name="connsiteX17" fmla="*/ 0 w 395374"/>
                <a:gd name="connsiteY17" fmla="*/ 218553 h 395683"/>
                <a:gd name="connsiteX18" fmla="*/ 42969 w 395374"/>
                <a:gd name="connsiteY18" fmla="*/ 218553 h 395683"/>
                <a:gd name="connsiteX19" fmla="*/ 87483 w 395374"/>
                <a:gd name="connsiteY19" fmla="*/ 308200 h 395683"/>
                <a:gd name="connsiteX20" fmla="*/ 177130 w 395374"/>
                <a:gd name="connsiteY20" fmla="*/ 352715 h 395683"/>
                <a:gd name="connsiteX21" fmla="*/ 177130 w 395374"/>
                <a:gd name="connsiteY21" fmla="*/ 395684 h 395683"/>
                <a:gd name="connsiteX22" fmla="*/ 218863 w 395374"/>
                <a:gd name="connsiteY22" fmla="*/ 395684 h 395683"/>
                <a:gd name="connsiteX23" fmla="*/ 218863 w 395374"/>
                <a:gd name="connsiteY23" fmla="*/ 352715 h 395683"/>
                <a:gd name="connsiteX24" fmla="*/ 292744 w 395374"/>
                <a:gd name="connsiteY24" fmla="*/ 322111 h 395683"/>
                <a:gd name="connsiteX25" fmla="*/ 323039 w 395374"/>
                <a:gd name="connsiteY25" fmla="*/ 352406 h 395683"/>
                <a:gd name="connsiteX26" fmla="*/ 352406 w 395374"/>
                <a:gd name="connsiteY26" fmla="*/ 323039 h 395683"/>
                <a:gd name="connsiteX27" fmla="*/ 322111 w 395374"/>
                <a:gd name="connsiteY27" fmla="*/ 292744 h 395683"/>
                <a:gd name="connsiteX28" fmla="*/ 352715 w 395374"/>
                <a:gd name="connsiteY28" fmla="*/ 218862 h 395683"/>
                <a:gd name="connsiteX29" fmla="*/ 395375 w 395374"/>
                <a:gd name="connsiteY29" fmla="*/ 218862 h 395683"/>
                <a:gd name="connsiteX30" fmla="*/ 82846 w 395374"/>
                <a:gd name="connsiteY30" fmla="*/ 197842 h 395683"/>
                <a:gd name="connsiteX31" fmla="*/ 108813 w 395374"/>
                <a:gd name="connsiteY31" fmla="*/ 125197 h 395683"/>
                <a:gd name="connsiteX32" fmla="*/ 174967 w 395374"/>
                <a:gd name="connsiteY32" fmla="*/ 85628 h 395683"/>
                <a:gd name="connsiteX33" fmla="*/ 251321 w 395374"/>
                <a:gd name="connsiteY33" fmla="*/ 97066 h 395683"/>
                <a:gd name="connsiteX34" fmla="*/ 303255 w 395374"/>
                <a:gd name="connsiteY34" fmla="*/ 154255 h 395683"/>
                <a:gd name="connsiteX35" fmla="*/ 306964 w 395374"/>
                <a:gd name="connsiteY35" fmla="*/ 231228 h 395683"/>
                <a:gd name="connsiteX36" fmla="*/ 260904 w 395374"/>
                <a:gd name="connsiteY36" fmla="*/ 293362 h 395683"/>
                <a:gd name="connsiteX37" fmla="*/ 186095 w 395374"/>
                <a:gd name="connsiteY37" fmla="*/ 312219 h 395683"/>
                <a:gd name="connsiteX38" fmla="*/ 116232 w 395374"/>
                <a:gd name="connsiteY38" fmla="*/ 279142 h 395683"/>
                <a:gd name="connsiteX39" fmla="*/ 91193 w 395374"/>
                <a:gd name="connsiteY39" fmla="*/ 242047 h 395683"/>
                <a:gd name="connsiteX40" fmla="*/ 82846 w 395374"/>
                <a:gd name="connsiteY40" fmla="*/ 197842 h 395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95374" h="395683">
                  <a:moveTo>
                    <a:pt x="395375" y="218553"/>
                  </a:moveTo>
                  <a:lnTo>
                    <a:pt x="395375" y="177130"/>
                  </a:lnTo>
                  <a:lnTo>
                    <a:pt x="352406" y="177130"/>
                  </a:lnTo>
                  <a:cubicBezTo>
                    <a:pt x="348696" y="150236"/>
                    <a:pt x="338186" y="124888"/>
                    <a:pt x="321802" y="103249"/>
                  </a:cubicBezTo>
                  <a:lnTo>
                    <a:pt x="352097" y="72954"/>
                  </a:lnTo>
                  <a:lnTo>
                    <a:pt x="322730" y="43587"/>
                  </a:lnTo>
                  <a:lnTo>
                    <a:pt x="292435" y="73882"/>
                  </a:lnTo>
                  <a:cubicBezTo>
                    <a:pt x="270796" y="57498"/>
                    <a:pt x="245448" y="46987"/>
                    <a:pt x="218554" y="43278"/>
                  </a:cubicBezTo>
                  <a:lnTo>
                    <a:pt x="218554" y="0"/>
                  </a:lnTo>
                  <a:lnTo>
                    <a:pt x="176821" y="0"/>
                  </a:lnTo>
                  <a:lnTo>
                    <a:pt x="176821" y="42969"/>
                  </a:lnTo>
                  <a:cubicBezTo>
                    <a:pt x="149927" y="46678"/>
                    <a:pt x="124579" y="57189"/>
                    <a:pt x="102940" y="73572"/>
                  </a:cubicBezTo>
                  <a:lnTo>
                    <a:pt x="72645" y="43278"/>
                  </a:lnTo>
                  <a:lnTo>
                    <a:pt x="43278" y="72645"/>
                  </a:lnTo>
                  <a:lnTo>
                    <a:pt x="73573" y="102940"/>
                  </a:lnTo>
                  <a:cubicBezTo>
                    <a:pt x="57189" y="124579"/>
                    <a:pt x="46679" y="149927"/>
                    <a:pt x="42969" y="176821"/>
                  </a:cubicBezTo>
                  <a:lnTo>
                    <a:pt x="0" y="176821"/>
                  </a:lnTo>
                  <a:lnTo>
                    <a:pt x="0" y="218553"/>
                  </a:lnTo>
                  <a:lnTo>
                    <a:pt x="42969" y="218553"/>
                  </a:lnTo>
                  <a:cubicBezTo>
                    <a:pt x="47606" y="252557"/>
                    <a:pt x="63062" y="284088"/>
                    <a:pt x="87483" y="308200"/>
                  </a:cubicBezTo>
                  <a:cubicBezTo>
                    <a:pt x="111595" y="332312"/>
                    <a:pt x="143126" y="348078"/>
                    <a:pt x="177130" y="352715"/>
                  </a:cubicBezTo>
                  <a:lnTo>
                    <a:pt x="177130" y="395684"/>
                  </a:lnTo>
                  <a:lnTo>
                    <a:pt x="218863" y="395684"/>
                  </a:lnTo>
                  <a:lnTo>
                    <a:pt x="218863" y="352715"/>
                  </a:lnTo>
                  <a:cubicBezTo>
                    <a:pt x="245757" y="349005"/>
                    <a:pt x="271105" y="338495"/>
                    <a:pt x="292744" y="322111"/>
                  </a:cubicBezTo>
                  <a:lnTo>
                    <a:pt x="323039" y="352406"/>
                  </a:lnTo>
                  <a:lnTo>
                    <a:pt x="352406" y="323039"/>
                  </a:lnTo>
                  <a:lnTo>
                    <a:pt x="322111" y="292744"/>
                  </a:lnTo>
                  <a:cubicBezTo>
                    <a:pt x="338495" y="271105"/>
                    <a:pt x="349005" y="245757"/>
                    <a:pt x="352715" y="218862"/>
                  </a:cubicBezTo>
                  <a:lnTo>
                    <a:pt x="395375" y="218862"/>
                  </a:lnTo>
                  <a:close/>
                  <a:moveTo>
                    <a:pt x="82846" y="197842"/>
                  </a:moveTo>
                  <a:cubicBezTo>
                    <a:pt x="82846" y="171257"/>
                    <a:pt x="92120" y="145599"/>
                    <a:pt x="108813" y="125197"/>
                  </a:cubicBezTo>
                  <a:cubicBezTo>
                    <a:pt x="125506" y="104794"/>
                    <a:pt x="149000" y="90574"/>
                    <a:pt x="174967" y="85628"/>
                  </a:cubicBezTo>
                  <a:cubicBezTo>
                    <a:pt x="200933" y="80373"/>
                    <a:pt x="227827" y="84392"/>
                    <a:pt x="251321" y="97066"/>
                  </a:cubicBezTo>
                  <a:cubicBezTo>
                    <a:pt x="274815" y="109431"/>
                    <a:pt x="293053" y="129834"/>
                    <a:pt x="303255" y="154255"/>
                  </a:cubicBezTo>
                  <a:cubicBezTo>
                    <a:pt x="313456" y="178676"/>
                    <a:pt x="314692" y="205879"/>
                    <a:pt x="306964" y="231228"/>
                  </a:cubicBezTo>
                  <a:cubicBezTo>
                    <a:pt x="299236" y="256576"/>
                    <a:pt x="283161" y="278524"/>
                    <a:pt x="260904" y="293362"/>
                  </a:cubicBezTo>
                  <a:cubicBezTo>
                    <a:pt x="238956" y="308200"/>
                    <a:pt x="212371" y="314692"/>
                    <a:pt x="186095" y="312219"/>
                  </a:cubicBezTo>
                  <a:cubicBezTo>
                    <a:pt x="159819" y="309746"/>
                    <a:pt x="135089" y="297999"/>
                    <a:pt x="116232" y="279142"/>
                  </a:cubicBezTo>
                  <a:cubicBezTo>
                    <a:pt x="105413" y="268632"/>
                    <a:pt x="97066" y="255958"/>
                    <a:pt x="91193" y="242047"/>
                  </a:cubicBezTo>
                  <a:cubicBezTo>
                    <a:pt x="85938" y="227827"/>
                    <a:pt x="82846" y="212989"/>
                    <a:pt x="82846" y="197842"/>
                  </a:cubicBezTo>
                  <a:close/>
                </a:path>
              </a:pathLst>
            </a:custGeom>
            <a:solidFill>
              <a:srgbClr val="50E6FF"/>
            </a:solidFill>
            <a:ln w="3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7" name="Freeform: Shape 96">
              <a:extLst>
                <a:ext uri="{FF2B5EF4-FFF2-40B4-BE49-F238E27FC236}">
                  <a16:creationId xmlns:a16="http://schemas.microsoft.com/office/drawing/2014/main" id="{C4C19C42-B758-4AB3-8E58-FF0FA571DFD0}"/>
                </a:ext>
              </a:extLst>
            </p:cNvPr>
            <p:cNvSpPr/>
            <p:nvPr/>
          </p:nvSpPr>
          <p:spPr>
            <a:xfrm>
              <a:off x="3580008" y="7019822"/>
              <a:ext cx="223190" cy="223190"/>
            </a:xfrm>
            <a:custGeom>
              <a:avLst/>
              <a:gdLst>
                <a:gd name="connsiteX0" fmla="*/ 181458 w 223190"/>
                <a:gd name="connsiteY0" fmla="*/ 0 h 223190"/>
                <a:gd name="connsiteX1" fmla="*/ 77282 w 223190"/>
                <a:gd name="connsiteY1" fmla="*/ 0 h 223190"/>
                <a:gd name="connsiteX2" fmla="*/ 77282 w 223190"/>
                <a:gd name="connsiteY2" fmla="*/ 41732 h 223190"/>
                <a:gd name="connsiteX3" fmla="*/ 152091 w 223190"/>
                <a:gd name="connsiteY3" fmla="*/ 41732 h 223190"/>
                <a:gd name="connsiteX4" fmla="*/ 0 w 223190"/>
                <a:gd name="connsiteY4" fmla="*/ 193823 h 223190"/>
                <a:gd name="connsiteX5" fmla="*/ 29367 w 223190"/>
                <a:gd name="connsiteY5" fmla="*/ 223190 h 223190"/>
                <a:gd name="connsiteX6" fmla="*/ 181458 w 223190"/>
                <a:gd name="connsiteY6" fmla="*/ 71099 h 223190"/>
                <a:gd name="connsiteX7" fmla="*/ 181458 w 223190"/>
                <a:gd name="connsiteY7" fmla="*/ 145908 h 223190"/>
                <a:gd name="connsiteX8" fmla="*/ 223190 w 223190"/>
                <a:gd name="connsiteY8" fmla="*/ 145908 h 223190"/>
                <a:gd name="connsiteX9" fmla="*/ 223190 w 223190"/>
                <a:gd name="connsiteY9" fmla="*/ 41423 h 223190"/>
                <a:gd name="connsiteX10" fmla="*/ 223190 w 223190"/>
                <a:gd name="connsiteY10" fmla="*/ 0 h 223190"/>
                <a:gd name="connsiteX11" fmla="*/ 181458 w 223190"/>
                <a:gd name="connsiteY11" fmla="*/ 0 h 22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190" h="223190">
                  <a:moveTo>
                    <a:pt x="181458" y="0"/>
                  </a:moveTo>
                  <a:lnTo>
                    <a:pt x="77282" y="0"/>
                  </a:lnTo>
                  <a:lnTo>
                    <a:pt x="77282" y="41732"/>
                  </a:lnTo>
                  <a:lnTo>
                    <a:pt x="152091" y="41732"/>
                  </a:lnTo>
                  <a:lnTo>
                    <a:pt x="0" y="193823"/>
                  </a:lnTo>
                  <a:lnTo>
                    <a:pt x="29367" y="223190"/>
                  </a:lnTo>
                  <a:lnTo>
                    <a:pt x="181458" y="71099"/>
                  </a:lnTo>
                  <a:lnTo>
                    <a:pt x="181458" y="145908"/>
                  </a:lnTo>
                  <a:lnTo>
                    <a:pt x="223190" y="145908"/>
                  </a:lnTo>
                  <a:lnTo>
                    <a:pt x="223190" y="41423"/>
                  </a:lnTo>
                  <a:lnTo>
                    <a:pt x="223190" y="0"/>
                  </a:lnTo>
                  <a:lnTo>
                    <a:pt x="181458" y="0"/>
                  </a:lnTo>
                  <a:close/>
                </a:path>
              </a:pathLst>
            </a:custGeom>
            <a:solidFill>
              <a:srgbClr val="0078D4"/>
            </a:solidFill>
            <a:ln w="3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19" name="TextBox 18">
            <a:extLst>
              <a:ext uri="{FF2B5EF4-FFF2-40B4-BE49-F238E27FC236}">
                <a16:creationId xmlns:a16="http://schemas.microsoft.com/office/drawing/2014/main" id="{0187D4BD-A5ED-42BD-92BC-61CD0A99AD28}"/>
              </a:ext>
            </a:extLst>
          </p:cNvPr>
          <p:cNvSpPr txBox="1"/>
          <p:nvPr/>
        </p:nvSpPr>
        <p:spPr>
          <a:xfrm>
            <a:off x="666573" y="4128505"/>
            <a:ext cx="2021536" cy="73866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Segoe UI"/>
                <a:ea typeface="+mn-ea"/>
                <a:cs typeface="+mn-cs"/>
              </a:rPr>
              <a:t>Be more productive with </a:t>
            </a:r>
            <a:r>
              <a:rPr kumimoji="0" lang="en-US" sz="1200" b="1" i="0" u="none" strike="noStrike" kern="1200" cap="none" spc="0" normalizeH="0" baseline="0" noProof="0" dirty="0">
                <a:ln>
                  <a:noFill/>
                </a:ln>
                <a:solidFill>
                  <a:prstClr val="white"/>
                </a:solidFill>
                <a:effectLst/>
                <a:uLnTx/>
                <a:uFillTx/>
                <a:latin typeface="Segoe UI"/>
                <a:ea typeface="+mn-ea"/>
                <a:cs typeface="+mn-cs"/>
              </a:rPr>
              <a:t>AI-powered features </a:t>
            </a:r>
            <a:r>
              <a:rPr kumimoji="0" lang="en-US" sz="1200" b="0" i="0" u="none" strike="noStrike" kern="1200" cap="none" spc="0" normalizeH="0" baseline="0" noProof="0" dirty="0">
                <a:ln>
                  <a:noFill/>
                </a:ln>
                <a:solidFill>
                  <a:prstClr val="white"/>
                </a:solidFill>
                <a:effectLst/>
                <a:uLnTx/>
                <a:uFillTx/>
                <a:latin typeface="Segoe UI"/>
                <a:ea typeface="+mn-ea"/>
                <a:cs typeface="+mn-cs"/>
              </a:rPr>
              <a:t>that automate tasks and optimize performance for you</a:t>
            </a:r>
          </a:p>
        </p:txBody>
      </p:sp>
      <p:sp>
        <p:nvSpPr>
          <p:cNvPr id="7" name="Rectangle 6">
            <a:extLst>
              <a:ext uri="{FF2B5EF4-FFF2-40B4-BE49-F238E27FC236}">
                <a16:creationId xmlns:a16="http://schemas.microsoft.com/office/drawing/2014/main" id="{80D278BB-7181-4DB9-B71F-5157CC850FFF}"/>
              </a:ext>
            </a:extLst>
          </p:cNvPr>
          <p:cNvSpPr/>
          <p:nvPr/>
        </p:nvSpPr>
        <p:spPr>
          <a:xfrm>
            <a:off x="3471737" y="1845005"/>
            <a:ext cx="2258568" cy="492443"/>
          </a:xfrm>
          <a:prstGeom prst="rect">
            <a:avLst/>
          </a:prstGeom>
          <a:noFill/>
          <a:ln w="15875" cap="flat" cmpd="sng" algn="ctr">
            <a:noFill/>
            <a:prstDash val="soli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Use your existing SQL experience in the cloud</a:t>
            </a:r>
          </a:p>
        </p:txBody>
      </p:sp>
      <p:sp>
        <p:nvSpPr>
          <p:cNvPr id="69" name="Oval 68">
            <a:extLst>
              <a:ext uri="{FF2B5EF4-FFF2-40B4-BE49-F238E27FC236}">
                <a16:creationId xmlns:a16="http://schemas.microsoft.com/office/drawing/2014/main" id="{1D7CC016-524A-4BAD-B857-09B879348489}"/>
              </a:ext>
              <a:ext uri="{C183D7F6-B498-43B3-948B-1728B52AA6E4}">
                <adec:decorative xmlns:adec="http://schemas.microsoft.com/office/drawing/2017/decorative" val="1"/>
              </a:ext>
            </a:extLst>
          </p:cNvPr>
          <p:cNvSpPr/>
          <p:nvPr/>
        </p:nvSpPr>
        <p:spPr bwMode="auto">
          <a:xfrm>
            <a:off x="3947140" y="2534843"/>
            <a:ext cx="1346662" cy="1346662"/>
          </a:xfrm>
          <a:prstGeom prst="ellipse">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81" name="Group 183" descr="arrows going in 4 directions, one is a different color">
            <a:extLst>
              <a:ext uri="{FF2B5EF4-FFF2-40B4-BE49-F238E27FC236}">
                <a16:creationId xmlns:a16="http://schemas.microsoft.com/office/drawing/2014/main" id="{05892D8C-B7F7-4BFC-BB9A-F49FDDFEB6BD}"/>
              </a:ext>
            </a:extLst>
          </p:cNvPr>
          <p:cNvGrpSpPr>
            <a:grpSpLocks noChangeAspect="1"/>
          </p:cNvGrpSpPr>
          <p:nvPr/>
        </p:nvGrpSpPr>
        <p:grpSpPr bwMode="auto">
          <a:xfrm>
            <a:off x="4248550" y="2872817"/>
            <a:ext cx="704088" cy="704088"/>
            <a:chOff x="2812" y="2781"/>
            <a:chExt cx="312" cy="312"/>
          </a:xfrm>
        </p:grpSpPr>
        <p:sp>
          <p:nvSpPr>
            <p:cNvPr id="82" name="AutoShape 182">
              <a:extLst>
                <a:ext uri="{FF2B5EF4-FFF2-40B4-BE49-F238E27FC236}">
                  <a16:creationId xmlns:a16="http://schemas.microsoft.com/office/drawing/2014/main" id="{0302E776-DBC5-4A4A-A12A-7A4E68B34514}"/>
                </a:ext>
              </a:extLst>
            </p:cNvPr>
            <p:cNvSpPr>
              <a:spLocks noChangeAspect="1" noChangeArrowheads="1" noTextEdit="1"/>
            </p:cNvSpPr>
            <p:nvPr/>
          </p:nvSpPr>
          <p:spPr bwMode="auto">
            <a:xfrm>
              <a:off x="2812" y="2781"/>
              <a:ext cx="31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3" name="Rectangle 184">
              <a:extLst>
                <a:ext uri="{FF2B5EF4-FFF2-40B4-BE49-F238E27FC236}">
                  <a16:creationId xmlns:a16="http://schemas.microsoft.com/office/drawing/2014/main" id="{D429CFC7-60FC-4D7B-997B-A7DE89A0812C}"/>
                </a:ext>
              </a:extLst>
            </p:cNvPr>
            <p:cNvSpPr>
              <a:spLocks noChangeArrowheads="1"/>
            </p:cNvSpPr>
            <p:nvPr/>
          </p:nvSpPr>
          <p:spPr bwMode="auto">
            <a:xfrm>
              <a:off x="3095" y="2781"/>
              <a:ext cx="29" cy="97"/>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4" name="Rectangle 185">
              <a:extLst>
                <a:ext uri="{FF2B5EF4-FFF2-40B4-BE49-F238E27FC236}">
                  <a16:creationId xmlns:a16="http://schemas.microsoft.com/office/drawing/2014/main" id="{D1FCB2E9-D6C5-460F-8AFE-EBB16A0F9144}"/>
                </a:ext>
              </a:extLst>
            </p:cNvPr>
            <p:cNvSpPr>
              <a:spLocks noChangeArrowheads="1"/>
            </p:cNvSpPr>
            <p:nvPr/>
          </p:nvSpPr>
          <p:spPr bwMode="auto">
            <a:xfrm>
              <a:off x="3027" y="2781"/>
              <a:ext cx="97" cy="3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5" name="Rectangle 186">
              <a:extLst>
                <a:ext uri="{FF2B5EF4-FFF2-40B4-BE49-F238E27FC236}">
                  <a16:creationId xmlns:a16="http://schemas.microsoft.com/office/drawing/2014/main" id="{1E62EAD2-DEF9-49D3-ACAD-1C8CAF6D5780}"/>
                </a:ext>
              </a:extLst>
            </p:cNvPr>
            <p:cNvSpPr>
              <a:spLocks noChangeArrowheads="1"/>
            </p:cNvSpPr>
            <p:nvPr/>
          </p:nvSpPr>
          <p:spPr bwMode="auto">
            <a:xfrm>
              <a:off x="3027" y="3064"/>
              <a:ext cx="97"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6" name="Rectangle 187">
              <a:extLst>
                <a:ext uri="{FF2B5EF4-FFF2-40B4-BE49-F238E27FC236}">
                  <a16:creationId xmlns:a16="http://schemas.microsoft.com/office/drawing/2014/main" id="{3638CBE4-5106-4572-8FB7-2D82CCD2631C}"/>
                </a:ext>
              </a:extLst>
            </p:cNvPr>
            <p:cNvSpPr>
              <a:spLocks noChangeArrowheads="1"/>
            </p:cNvSpPr>
            <p:nvPr/>
          </p:nvSpPr>
          <p:spPr bwMode="auto">
            <a:xfrm>
              <a:off x="3095" y="2995"/>
              <a:ext cx="29" cy="9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7" name="Rectangle 188">
              <a:extLst>
                <a:ext uri="{FF2B5EF4-FFF2-40B4-BE49-F238E27FC236}">
                  <a16:creationId xmlns:a16="http://schemas.microsoft.com/office/drawing/2014/main" id="{326A7B84-0072-413B-8423-1C16778751C6}"/>
                </a:ext>
              </a:extLst>
            </p:cNvPr>
            <p:cNvSpPr>
              <a:spLocks noChangeArrowheads="1"/>
            </p:cNvSpPr>
            <p:nvPr/>
          </p:nvSpPr>
          <p:spPr bwMode="auto">
            <a:xfrm>
              <a:off x="2812" y="2995"/>
              <a:ext cx="29" cy="9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8" name="Rectangle 189">
              <a:extLst>
                <a:ext uri="{FF2B5EF4-FFF2-40B4-BE49-F238E27FC236}">
                  <a16:creationId xmlns:a16="http://schemas.microsoft.com/office/drawing/2014/main" id="{BAE1C90E-59F9-4EA8-844A-23554BB87890}"/>
                </a:ext>
              </a:extLst>
            </p:cNvPr>
            <p:cNvSpPr>
              <a:spLocks noChangeArrowheads="1"/>
            </p:cNvSpPr>
            <p:nvPr/>
          </p:nvSpPr>
          <p:spPr bwMode="auto">
            <a:xfrm>
              <a:off x="2812" y="3064"/>
              <a:ext cx="98"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9" name="Freeform 190">
              <a:extLst>
                <a:ext uri="{FF2B5EF4-FFF2-40B4-BE49-F238E27FC236}">
                  <a16:creationId xmlns:a16="http://schemas.microsoft.com/office/drawing/2014/main" id="{90FAE157-5096-48B3-BC27-5876EDB05EF8}"/>
                </a:ext>
              </a:extLst>
            </p:cNvPr>
            <p:cNvSpPr>
              <a:spLocks/>
            </p:cNvSpPr>
            <p:nvPr/>
          </p:nvSpPr>
          <p:spPr bwMode="auto">
            <a:xfrm>
              <a:off x="2949" y="2789"/>
              <a:ext cx="167" cy="168"/>
            </a:xfrm>
            <a:custGeom>
              <a:avLst/>
              <a:gdLst>
                <a:gd name="T0" fmla="*/ 147 w 167"/>
                <a:gd name="T1" fmla="*/ 0 h 168"/>
                <a:gd name="T2" fmla="*/ 167 w 167"/>
                <a:gd name="T3" fmla="*/ 21 h 168"/>
                <a:gd name="T4" fmla="*/ 21 w 167"/>
                <a:gd name="T5" fmla="*/ 168 h 168"/>
                <a:gd name="T6" fmla="*/ 0 w 167"/>
                <a:gd name="T7" fmla="*/ 147 h 168"/>
                <a:gd name="T8" fmla="*/ 147 w 167"/>
                <a:gd name="T9" fmla="*/ 0 h 168"/>
              </a:gdLst>
              <a:ahLst/>
              <a:cxnLst>
                <a:cxn ang="0">
                  <a:pos x="T0" y="T1"/>
                </a:cxn>
                <a:cxn ang="0">
                  <a:pos x="T2" y="T3"/>
                </a:cxn>
                <a:cxn ang="0">
                  <a:pos x="T4" y="T5"/>
                </a:cxn>
                <a:cxn ang="0">
                  <a:pos x="T6" y="T7"/>
                </a:cxn>
                <a:cxn ang="0">
                  <a:pos x="T8" y="T9"/>
                </a:cxn>
              </a:cxnLst>
              <a:rect l="0" t="0" r="r" b="b"/>
              <a:pathLst>
                <a:path w="167" h="168">
                  <a:moveTo>
                    <a:pt x="147" y="0"/>
                  </a:moveTo>
                  <a:lnTo>
                    <a:pt x="167" y="21"/>
                  </a:lnTo>
                  <a:lnTo>
                    <a:pt x="21" y="168"/>
                  </a:lnTo>
                  <a:lnTo>
                    <a:pt x="0" y="147"/>
                  </a:lnTo>
                  <a:lnTo>
                    <a:pt x="147"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0" name="Freeform 191">
              <a:extLst>
                <a:ext uri="{FF2B5EF4-FFF2-40B4-BE49-F238E27FC236}">
                  <a16:creationId xmlns:a16="http://schemas.microsoft.com/office/drawing/2014/main" id="{EB191884-BADF-4405-9C6F-1B6CCD80A5FB}"/>
                </a:ext>
              </a:extLst>
            </p:cNvPr>
            <p:cNvSpPr>
              <a:spLocks/>
            </p:cNvSpPr>
            <p:nvPr/>
          </p:nvSpPr>
          <p:spPr bwMode="auto">
            <a:xfrm>
              <a:off x="2948" y="2918"/>
              <a:ext cx="168" cy="167"/>
            </a:xfrm>
            <a:custGeom>
              <a:avLst/>
              <a:gdLst>
                <a:gd name="T0" fmla="*/ 168 w 168"/>
                <a:gd name="T1" fmla="*/ 146 h 167"/>
                <a:gd name="T2" fmla="*/ 147 w 168"/>
                <a:gd name="T3" fmla="*/ 167 h 167"/>
                <a:gd name="T4" fmla="*/ 0 w 168"/>
                <a:gd name="T5" fmla="*/ 20 h 167"/>
                <a:gd name="T6" fmla="*/ 21 w 168"/>
                <a:gd name="T7" fmla="*/ 0 h 167"/>
                <a:gd name="T8" fmla="*/ 168 w 168"/>
                <a:gd name="T9" fmla="*/ 146 h 167"/>
              </a:gdLst>
              <a:ahLst/>
              <a:cxnLst>
                <a:cxn ang="0">
                  <a:pos x="T0" y="T1"/>
                </a:cxn>
                <a:cxn ang="0">
                  <a:pos x="T2" y="T3"/>
                </a:cxn>
                <a:cxn ang="0">
                  <a:pos x="T4" y="T5"/>
                </a:cxn>
                <a:cxn ang="0">
                  <a:pos x="T6" y="T7"/>
                </a:cxn>
                <a:cxn ang="0">
                  <a:pos x="T8" y="T9"/>
                </a:cxn>
              </a:cxnLst>
              <a:rect l="0" t="0" r="r" b="b"/>
              <a:pathLst>
                <a:path w="168" h="167">
                  <a:moveTo>
                    <a:pt x="168" y="146"/>
                  </a:moveTo>
                  <a:lnTo>
                    <a:pt x="147" y="167"/>
                  </a:lnTo>
                  <a:lnTo>
                    <a:pt x="0" y="20"/>
                  </a:lnTo>
                  <a:lnTo>
                    <a:pt x="21" y="0"/>
                  </a:lnTo>
                  <a:lnTo>
                    <a:pt x="168" y="14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1" name="Freeform 192">
              <a:extLst>
                <a:ext uri="{FF2B5EF4-FFF2-40B4-BE49-F238E27FC236}">
                  <a16:creationId xmlns:a16="http://schemas.microsoft.com/office/drawing/2014/main" id="{D36D553D-35F8-480C-B62E-C59D0990A018}"/>
                </a:ext>
              </a:extLst>
            </p:cNvPr>
            <p:cNvSpPr>
              <a:spLocks/>
            </p:cNvSpPr>
            <p:nvPr/>
          </p:nvSpPr>
          <p:spPr bwMode="auto">
            <a:xfrm>
              <a:off x="2820" y="2917"/>
              <a:ext cx="167" cy="168"/>
            </a:xfrm>
            <a:custGeom>
              <a:avLst/>
              <a:gdLst>
                <a:gd name="T0" fmla="*/ 20 w 167"/>
                <a:gd name="T1" fmla="*/ 168 h 168"/>
                <a:gd name="T2" fmla="*/ 0 w 167"/>
                <a:gd name="T3" fmla="*/ 147 h 168"/>
                <a:gd name="T4" fmla="*/ 147 w 167"/>
                <a:gd name="T5" fmla="*/ 0 h 168"/>
                <a:gd name="T6" fmla="*/ 167 w 167"/>
                <a:gd name="T7" fmla="*/ 21 h 168"/>
                <a:gd name="T8" fmla="*/ 20 w 167"/>
                <a:gd name="T9" fmla="*/ 168 h 168"/>
              </a:gdLst>
              <a:ahLst/>
              <a:cxnLst>
                <a:cxn ang="0">
                  <a:pos x="T0" y="T1"/>
                </a:cxn>
                <a:cxn ang="0">
                  <a:pos x="T2" y="T3"/>
                </a:cxn>
                <a:cxn ang="0">
                  <a:pos x="T4" y="T5"/>
                </a:cxn>
                <a:cxn ang="0">
                  <a:pos x="T6" y="T7"/>
                </a:cxn>
                <a:cxn ang="0">
                  <a:pos x="T8" y="T9"/>
                </a:cxn>
              </a:cxnLst>
              <a:rect l="0" t="0" r="r" b="b"/>
              <a:pathLst>
                <a:path w="167" h="168">
                  <a:moveTo>
                    <a:pt x="20" y="168"/>
                  </a:moveTo>
                  <a:lnTo>
                    <a:pt x="0" y="147"/>
                  </a:lnTo>
                  <a:lnTo>
                    <a:pt x="147" y="0"/>
                  </a:lnTo>
                  <a:lnTo>
                    <a:pt x="167" y="21"/>
                  </a:lnTo>
                  <a:lnTo>
                    <a:pt x="20" y="16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2" name="Freeform 193">
              <a:extLst>
                <a:ext uri="{FF2B5EF4-FFF2-40B4-BE49-F238E27FC236}">
                  <a16:creationId xmlns:a16="http://schemas.microsoft.com/office/drawing/2014/main" id="{6174560C-2700-48F9-B805-AB8EC8DF6537}"/>
                </a:ext>
              </a:extLst>
            </p:cNvPr>
            <p:cNvSpPr>
              <a:spLocks/>
            </p:cNvSpPr>
            <p:nvPr/>
          </p:nvSpPr>
          <p:spPr bwMode="auto">
            <a:xfrm>
              <a:off x="2820" y="2789"/>
              <a:ext cx="168" cy="167"/>
            </a:xfrm>
            <a:custGeom>
              <a:avLst/>
              <a:gdLst>
                <a:gd name="T0" fmla="*/ 0 w 168"/>
                <a:gd name="T1" fmla="*/ 21 h 167"/>
                <a:gd name="T2" fmla="*/ 21 w 168"/>
                <a:gd name="T3" fmla="*/ 0 h 167"/>
                <a:gd name="T4" fmla="*/ 168 w 168"/>
                <a:gd name="T5" fmla="*/ 147 h 167"/>
                <a:gd name="T6" fmla="*/ 147 w 168"/>
                <a:gd name="T7" fmla="*/ 167 h 167"/>
                <a:gd name="T8" fmla="*/ 0 w 168"/>
                <a:gd name="T9" fmla="*/ 21 h 167"/>
              </a:gdLst>
              <a:ahLst/>
              <a:cxnLst>
                <a:cxn ang="0">
                  <a:pos x="T0" y="T1"/>
                </a:cxn>
                <a:cxn ang="0">
                  <a:pos x="T2" y="T3"/>
                </a:cxn>
                <a:cxn ang="0">
                  <a:pos x="T4" y="T5"/>
                </a:cxn>
                <a:cxn ang="0">
                  <a:pos x="T6" y="T7"/>
                </a:cxn>
                <a:cxn ang="0">
                  <a:pos x="T8" y="T9"/>
                </a:cxn>
              </a:cxnLst>
              <a:rect l="0" t="0" r="r" b="b"/>
              <a:pathLst>
                <a:path w="168" h="167">
                  <a:moveTo>
                    <a:pt x="0" y="21"/>
                  </a:moveTo>
                  <a:lnTo>
                    <a:pt x="21" y="0"/>
                  </a:lnTo>
                  <a:lnTo>
                    <a:pt x="168" y="147"/>
                  </a:lnTo>
                  <a:lnTo>
                    <a:pt x="147" y="167"/>
                  </a:lnTo>
                  <a:lnTo>
                    <a:pt x="0" y="2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3" name="Rectangle 194">
              <a:extLst>
                <a:ext uri="{FF2B5EF4-FFF2-40B4-BE49-F238E27FC236}">
                  <a16:creationId xmlns:a16="http://schemas.microsoft.com/office/drawing/2014/main" id="{B4E050BD-668A-451C-8F6D-3647B8586E1A}"/>
                </a:ext>
              </a:extLst>
            </p:cNvPr>
            <p:cNvSpPr>
              <a:spLocks noChangeArrowheads="1"/>
            </p:cNvSpPr>
            <p:nvPr/>
          </p:nvSpPr>
          <p:spPr bwMode="auto">
            <a:xfrm>
              <a:off x="2812" y="2781"/>
              <a:ext cx="98"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4" name="Rectangle 195">
              <a:extLst>
                <a:ext uri="{FF2B5EF4-FFF2-40B4-BE49-F238E27FC236}">
                  <a16:creationId xmlns:a16="http://schemas.microsoft.com/office/drawing/2014/main" id="{B70F9016-5163-45E7-A1B6-D9AAC21F8C31}"/>
                </a:ext>
              </a:extLst>
            </p:cNvPr>
            <p:cNvSpPr>
              <a:spLocks noChangeArrowheads="1"/>
            </p:cNvSpPr>
            <p:nvPr/>
          </p:nvSpPr>
          <p:spPr bwMode="auto">
            <a:xfrm>
              <a:off x="2812" y="2781"/>
              <a:ext cx="30" cy="9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22" name="TextBox 21">
            <a:extLst>
              <a:ext uri="{FF2B5EF4-FFF2-40B4-BE49-F238E27FC236}">
                <a16:creationId xmlns:a16="http://schemas.microsoft.com/office/drawing/2014/main" id="{BC4B1986-7465-4327-BD16-E3E4EC7BD9D5}"/>
              </a:ext>
            </a:extLst>
          </p:cNvPr>
          <p:cNvSpPr txBox="1"/>
          <p:nvPr/>
        </p:nvSpPr>
        <p:spPr>
          <a:xfrm>
            <a:off x="3471310" y="4128505"/>
            <a:ext cx="2258568" cy="73866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Segoe UI"/>
                <a:ea typeface="+mn-ea"/>
                <a:cs typeface="+mn-cs"/>
              </a:rPr>
              <a:t>Build on what you know with a </a:t>
            </a:r>
            <a:r>
              <a:rPr kumimoji="0" lang="en-US" sz="1200" b="1" i="0" u="none" strike="noStrike" kern="1200" cap="none" spc="0" normalizeH="0" baseline="0" noProof="0">
                <a:ln>
                  <a:noFill/>
                </a:ln>
                <a:solidFill>
                  <a:prstClr val="white"/>
                </a:solidFill>
                <a:effectLst/>
                <a:uLnTx/>
                <a:uFillTx/>
                <a:latin typeface="Segoe UI"/>
                <a:ea typeface="+mn-ea"/>
                <a:cs typeface="+mn-cs"/>
              </a:rPr>
              <a:t>consistent code base </a:t>
            </a:r>
            <a:r>
              <a:rPr kumimoji="0" lang="en-US" sz="1200" b="0" i="0" u="none" strike="noStrike" kern="1200" cap="none" spc="0" normalizeH="0" baseline="0" noProof="0">
                <a:ln>
                  <a:noFill/>
                </a:ln>
                <a:solidFill>
                  <a:prstClr val="white"/>
                </a:solidFill>
                <a:effectLst/>
                <a:uLnTx/>
                <a:uFillTx/>
                <a:latin typeface="Segoe UI"/>
                <a:ea typeface="+mn-ea"/>
                <a:cs typeface="+mn-cs"/>
              </a:rPr>
              <a:t>and deploy it anywhere from edge to cloud</a:t>
            </a:r>
          </a:p>
        </p:txBody>
      </p:sp>
      <p:sp>
        <p:nvSpPr>
          <p:cNvPr id="73" name="Rectangle 72">
            <a:extLst>
              <a:ext uri="{FF2B5EF4-FFF2-40B4-BE49-F238E27FC236}">
                <a16:creationId xmlns:a16="http://schemas.microsoft.com/office/drawing/2014/main" id="{CAD8DFD0-E06B-452E-B660-661CA231B4CE}"/>
              </a:ext>
            </a:extLst>
          </p:cNvPr>
          <p:cNvSpPr/>
          <p:nvPr/>
        </p:nvSpPr>
        <p:spPr>
          <a:xfrm>
            <a:off x="6275190" y="1845005"/>
            <a:ext cx="2614810" cy="492443"/>
          </a:xfrm>
          <a:prstGeom prst="rect">
            <a:avLst/>
          </a:prstGeom>
          <a:noFill/>
          <a:ln w="15875" cap="flat" cmpd="sng" algn="ctr">
            <a:noFill/>
            <a:prstDash val="soli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Save with the lowest total cost of ownership</a:t>
            </a:r>
          </a:p>
        </p:txBody>
      </p:sp>
      <p:sp>
        <p:nvSpPr>
          <p:cNvPr id="72" name="Oval 71">
            <a:extLst>
              <a:ext uri="{FF2B5EF4-FFF2-40B4-BE49-F238E27FC236}">
                <a16:creationId xmlns:a16="http://schemas.microsoft.com/office/drawing/2014/main" id="{1B37EAB2-6BD9-4B4D-A2E0-720A979B7A4A}"/>
              </a:ext>
              <a:ext uri="{C183D7F6-B498-43B3-948B-1728B52AA6E4}">
                <adec:decorative xmlns:adec="http://schemas.microsoft.com/office/drawing/2017/decorative" val="1"/>
              </a:ext>
            </a:extLst>
          </p:cNvPr>
          <p:cNvSpPr/>
          <p:nvPr/>
        </p:nvSpPr>
        <p:spPr bwMode="auto">
          <a:xfrm>
            <a:off x="6913991" y="2535050"/>
            <a:ext cx="1343249" cy="1350789"/>
          </a:xfrm>
          <a:prstGeom prst="ellipse">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151" name="data 4">
            <a:extLst>
              <a:ext uri="{FF2B5EF4-FFF2-40B4-BE49-F238E27FC236}">
                <a16:creationId xmlns:a16="http://schemas.microsoft.com/office/drawing/2014/main" id="{156CA544-3C92-4F8E-B943-BBDD0989D28E}"/>
              </a:ext>
              <a:ext uri="{C183D7F6-B498-43B3-948B-1728B52AA6E4}">
                <adec:decorative xmlns:adec="http://schemas.microsoft.com/office/drawing/2017/decorative" val="1"/>
              </a:ext>
            </a:extLst>
          </p:cNvPr>
          <p:cNvGrpSpPr/>
          <p:nvPr/>
        </p:nvGrpSpPr>
        <p:grpSpPr>
          <a:xfrm>
            <a:off x="7262765" y="2858445"/>
            <a:ext cx="673947" cy="713440"/>
            <a:chOff x="2634513" y="3079730"/>
            <a:chExt cx="351636" cy="372246"/>
          </a:xfrm>
        </p:grpSpPr>
        <p:sp>
          <p:nvSpPr>
            <p:cNvPr id="152" name="Freeform: Shape 151">
              <a:extLst>
                <a:ext uri="{FF2B5EF4-FFF2-40B4-BE49-F238E27FC236}">
                  <a16:creationId xmlns:a16="http://schemas.microsoft.com/office/drawing/2014/main" id="{1BEA6650-42A3-4217-8913-073F5CC22E6C}"/>
                </a:ext>
              </a:extLst>
            </p:cNvPr>
            <p:cNvSpPr/>
            <p:nvPr/>
          </p:nvSpPr>
          <p:spPr>
            <a:xfrm>
              <a:off x="2947497" y="3371850"/>
              <a:ext cx="38652" cy="77303"/>
            </a:xfrm>
            <a:custGeom>
              <a:avLst/>
              <a:gdLst>
                <a:gd name="connsiteX0" fmla="*/ 1166 w 38651"/>
                <a:gd name="connsiteY0" fmla="*/ 79769 h 77302"/>
                <a:gd name="connsiteX1" fmla="*/ 39946 w 38651"/>
                <a:gd name="connsiteY1" fmla="*/ 79769 h 77302"/>
                <a:gd name="connsiteX2" fmla="*/ 39946 w 38651"/>
                <a:gd name="connsiteY2" fmla="*/ 1166 h 77302"/>
                <a:gd name="connsiteX3" fmla="*/ 1166 w 38651"/>
                <a:gd name="connsiteY3" fmla="*/ 1166 h 77302"/>
                <a:gd name="connsiteX4" fmla="*/ 1166 w 38651"/>
                <a:gd name="connsiteY4" fmla="*/ 79769 h 7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51" h="77302">
                  <a:moveTo>
                    <a:pt x="1166" y="79769"/>
                  </a:moveTo>
                  <a:lnTo>
                    <a:pt x="39946" y="79769"/>
                  </a:lnTo>
                  <a:lnTo>
                    <a:pt x="39946" y="1166"/>
                  </a:lnTo>
                  <a:lnTo>
                    <a:pt x="1166" y="1166"/>
                  </a:lnTo>
                  <a:lnTo>
                    <a:pt x="1166" y="79769"/>
                  </a:lnTo>
                  <a:close/>
                </a:path>
              </a:pathLst>
            </a:custGeom>
            <a:solidFill>
              <a:srgbClr val="0078D4"/>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1CA15DA7-2F58-4CAF-A920-BF5D30FA8A3D}"/>
                </a:ext>
              </a:extLst>
            </p:cNvPr>
            <p:cNvSpPr/>
            <p:nvPr/>
          </p:nvSpPr>
          <p:spPr>
            <a:xfrm>
              <a:off x="2868955" y="3333395"/>
              <a:ext cx="38652" cy="115954"/>
            </a:xfrm>
            <a:custGeom>
              <a:avLst/>
              <a:gdLst>
                <a:gd name="connsiteX0" fmla="*/ 1166 w 38651"/>
                <a:gd name="connsiteY0" fmla="*/ 118223 h 115954"/>
                <a:gd name="connsiteX1" fmla="*/ 39946 w 38651"/>
                <a:gd name="connsiteY1" fmla="*/ 118223 h 115954"/>
                <a:gd name="connsiteX2" fmla="*/ 39946 w 38651"/>
                <a:gd name="connsiteY2" fmla="*/ 1166 h 115954"/>
                <a:gd name="connsiteX3" fmla="*/ 1166 w 38651"/>
                <a:gd name="connsiteY3" fmla="*/ 1166 h 115954"/>
                <a:gd name="connsiteX4" fmla="*/ 1166 w 38651"/>
                <a:gd name="connsiteY4" fmla="*/ 118223 h 115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51" h="115954">
                  <a:moveTo>
                    <a:pt x="1166" y="118223"/>
                  </a:moveTo>
                  <a:lnTo>
                    <a:pt x="39946" y="118223"/>
                  </a:lnTo>
                  <a:lnTo>
                    <a:pt x="39946" y="1166"/>
                  </a:lnTo>
                  <a:lnTo>
                    <a:pt x="1166" y="1166"/>
                  </a:lnTo>
                  <a:lnTo>
                    <a:pt x="1166" y="118223"/>
                  </a:lnTo>
                  <a:close/>
                </a:path>
              </a:pathLst>
            </a:custGeom>
            <a:solidFill>
              <a:srgbClr val="0078D4"/>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7332AE5F-4B41-4072-806D-8315606BF153}"/>
                </a:ext>
              </a:extLst>
            </p:cNvPr>
            <p:cNvSpPr/>
            <p:nvPr/>
          </p:nvSpPr>
          <p:spPr>
            <a:xfrm>
              <a:off x="2713119" y="3157093"/>
              <a:ext cx="38652" cy="293750"/>
            </a:xfrm>
            <a:custGeom>
              <a:avLst/>
              <a:gdLst>
                <a:gd name="connsiteX0" fmla="*/ 1166 w 38651"/>
                <a:gd name="connsiteY0" fmla="*/ 294527 h 293750"/>
                <a:gd name="connsiteX1" fmla="*/ 39946 w 38651"/>
                <a:gd name="connsiteY1" fmla="*/ 294527 h 293750"/>
                <a:gd name="connsiteX2" fmla="*/ 39946 w 38651"/>
                <a:gd name="connsiteY2" fmla="*/ 1166 h 293750"/>
                <a:gd name="connsiteX3" fmla="*/ 1166 w 38651"/>
                <a:gd name="connsiteY3" fmla="*/ 1166 h 293750"/>
                <a:gd name="connsiteX4" fmla="*/ 1166 w 38651"/>
                <a:gd name="connsiteY4" fmla="*/ 294527 h 293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51" h="293750">
                  <a:moveTo>
                    <a:pt x="1166" y="294527"/>
                  </a:moveTo>
                  <a:lnTo>
                    <a:pt x="39946" y="294527"/>
                  </a:lnTo>
                  <a:lnTo>
                    <a:pt x="39946" y="1166"/>
                  </a:lnTo>
                  <a:lnTo>
                    <a:pt x="1166" y="1166"/>
                  </a:lnTo>
                  <a:lnTo>
                    <a:pt x="1166" y="294527"/>
                  </a:lnTo>
                  <a:close/>
                </a:path>
              </a:pathLst>
            </a:custGeom>
            <a:solidFill>
              <a:srgbClr val="0078D4"/>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55" name="Freeform: Shape 154">
              <a:extLst>
                <a:ext uri="{FF2B5EF4-FFF2-40B4-BE49-F238E27FC236}">
                  <a16:creationId xmlns:a16="http://schemas.microsoft.com/office/drawing/2014/main" id="{E64577F6-628C-428A-9438-CACBE73B72B1}"/>
                </a:ext>
              </a:extLst>
            </p:cNvPr>
            <p:cNvSpPr/>
            <p:nvPr/>
          </p:nvSpPr>
          <p:spPr>
            <a:xfrm>
              <a:off x="2791720" y="3254854"/>
              <a:ext cx="38652" cy="197122"/>
            </a:xfrm>
            <a:custGeom>
              <a:avLst/>
              <a:gdLst>
                <a:gd name="connsiteX0" fmla="*/ 1166 w 38651"/>
                <a:gd name="connsiteY0" fmla="*/ 196762 h 197121"/>
                <a:gd name="connsiteX1" fmla="*/ 39946 w 38651"/>
                <a:gd name="connsiteY1" fmla="*/ 196762 h 197121"/>
                <a:gd name="connsiteX2" fmla="*/ 39946 w 38651"/>
                <a:gd name="connsiteY2" fmla="*/ 1166 h 197121"/>
                <a:gd name="connsiteX3" fmla="*/ 1166 w 38651"/>
                <a:gd name="connsiteY3" fmla="*/ 1166 h 197121"/>
                <a:gd name="connsiteX4" fmla="*/ 1166 w 38651"/>
                <a:gd name="connsiteY4" fmla="*/ 196762 h 197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51" h="197121">
                  <a:moveTo>
                    <a:pt x="1166" y="196762"/>
                  </a:moveTo>
                  <a:lnTo>
                    <a:pt x="39946" y="196762"/>
                  </a:lnTo>
                  <a:lnTo>
                    <a:pt x="39946" y="1166"/>
                  </a:lnTo>
                  <a:lnTo>
                    <a:pt x="1166" y="1166"/>
                  </a:lnTo>
                  <a:lnTo>
                    <a:pt x="1166" y="196762"/>
                  </a:lnTo>
                  <a:close/>
                </a:path>
              </a:pathLst>
            </a:custGeom>
            <a:solidFill>
              <a:srgbClr val="0078D4"/>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56" name="Freeform: Shape 155">
              <a:extLst>
                <a:ext uri="{FF2B5EF4-FFF2-40B4-BE49-F238E27FC236}">
                  <a16:creationId xmlns:a16="http://schemas.microsoft.com/office/drawing/2014/main" id="{DBD72F3B-E63E-4736-9342-E658DD33C535}"/>
                </a:ext>
              </a:extLst>
            </p:cNvPr>
            <p:cNvSpPr/>
            <p:nvPr/>
          </p:nvSpPr>
          <p:spPr>
            <a:xfrm>
              <a:off x="2634513" y="3079730"/>
              <a:ext cx="38652" cy="371053"/>
            </a:xfrm>
            <a:custGeom>
              <a:avLst/>
              <a:gdLst>
                <a:gd name="connsiteX0" fmla="*/ 1166 w 38651"/>
                <a:gd name="connsiteY0" fmla="*/ 371893 h 371052"/>
                <a:gd name="connsiteX1" fmla="*/ 40142 w 38651"/>
                <a:gd name="connsiteY1" fmla="*/ 371893 h 371052"/>
                <a:gd name="connsiteX2" fmla="*/ 40142 w 38651"/>
                <a:gd name="connsiteY2" fmla="*/ 1166 h 371052"/>
                <a:gd name="connsiteX3" fmla="*/ 1166 w 38651"/>
                <a:gd name="connsiteY3" fmla="*/ 1166 h 371052"/>
                <a:gd name="connsiteX4" fmla="*/ 1166 w 38651"/>
                <a:gd name="connsiteY4" fmla="*/ 371893 h 37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51" h="371052">
                  <a:moveTo>
                    <a:pt x="1166" y="371893"/>
                  </a:moveTo>
                  <a:lnTo>
                    <a:pt x="40142" y="371893"/>
                  </a:lnTo>
                  <a:lnTo>
                    <a:pt x="40142" y="1166"/>
                  </a:lnTo>
                  <a:lnTo>
                    <a:pt x="1166" y="1166"/>
                  </a:lnTo>
                  <a:lnTo>
                    <a:pt x="1166" y="371893"/>
                  </a:lnTo>
                  <a:close/>
                </a:path>
              </a:pathLst>
            </a:custGeom>
            <a:solidFill>
              <a:srgbClr val="0078D4"/>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57" name="Freeform: Shape 156">
              <a:extLst>
                <a:ext uri="{FF2B5EF4-FFF2-40B4-BE49-F238E27FC236}">
                  <a16:creationId xmlns:a16="http://schemas.microsoft.com/office/drawing/2014/main" id="{93FB5097-D59A-4846-8F26-A0C0700898B4}"/>
                </a:ext>
              </a:extLst>
            </p:cNvPr>
            <p:cNvSpPr/>
            <p:nvPr/>
          </p:nvSpPr>
          <p:spPr>
            <a:xfrm>
              <a:off x="2890399" y="3079730"/>
              <a:ext cx="88899" cy="177796"/>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chemeClr val="accent2"/>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74" name="TextBox 73">
            <a:extLst>
              <a:ext uri="{FF2B5EF4-FFF2-40B4-BE49-F238E27FC236}">
                <a16:creationId xmlns:a16="http://schemas.microsoft.com/office/drawing/2014/main" id="{AD51EE51-3952-4E0B-BC03-19CF653A20C9}"/>
              </a:ext>
            </a:extLst>
          </p:cNvPr>
          <p:cNvSpPr txBox="1"/>
          <p:nvPr/>
        </p:nvSpPr>
        <p:spPr>
          <a:xfrm>
            <a:off x="6513078" y="4128505"/>
            <a:ext cx="2515511" cy="73866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Segoe UI"/>
                <a:ea typeface="+mn-ea"/>
                <a:cs typeface="+mn-cs"/>
              </a:rPr>
              <a:t>Get more cloud for less with </a:t>
            </a:r>
            <a:r>
              <a:rPr kumimoji="0" lang="en-US" sz="1200" b="1" i="0" u="none" strike="noStrike" kern="1200" cap="none" spc="0" normalizeH="0" baseline="0" noProof="0">
                <a:ln>
                  <a:noFill/>
                </a:ln>
                <a:solidFill>
                  <a:prstClr val="white"/>
                </a:solidFill>
                <a:effectLst/>
                <a:uLnTx/>
                <a:uFillTx/>
                <a:latin typeface="Segoe UI"/>
                <a:ea typeface="+mn-ea"/>
                <a:cs typeface="+mn-cs"/>
              </a:rPr>
              <a:t>leading price-performance </a:t>
            </a:r>
            <a:r>
              <a:rPr kumimoji="0" lang="en-US" sz="1200" b="0" i="0" u="none" strike="noStrike" kern="1200" cap="none" spc="0" normalizeH="0" baseline="0" noProof="0">
                <a:ln>
                  <a:noFill/>
                </a:ln>
                <a:solidFill>
                  <a:prstClr val="white"/>
                </a:solidFill>
                <a:effectLst/>
                <a:uLnTx/>
                <a:uFillTx/>
                <a:latin typeface="Segoe UI"/>
                <a:ea typeface="+mn-ea"/>
                <a:cs typeface="+mn-cs"/>
              </a:rPr>
              <a:t>and savings up to 85% off pay-as-you-go rates with </a:t>
            </a:r>
            <a:r>
              <a:rPr kumimoji="0" lang="en-US" sz="1200" b="1" i="0" u="none" strike="noStrike" kern="1200" cap="none" spc="0" normalizeH="0" baseline="0" noProof="0">
                <a:ln>
                  <a:noFill/>
                </a:ln>
                <a:solidFill>
                  <a:prstClr val="white"/>
                </a:solidFill>
                <a:effectLst/>
                <a:uLnTx/>
                <a:uFillTx/>
                <a:latin typeface="Segoe UI"/>
                <a:ea typeface="+mn-ea"/>
                <a:cs typeface="+mn-cs"/>
              </a:rPr>
              <a:t>Azure Hybrid Benefit</a:t>
            </a:r>
            <a:r>
              <a:rPr kumimoji="0" lang="en-US" sz="1200" b="0" i="0" u="none" strike="noStrike" kern="1200" cap="none" spc="0" normalizeH="0" baseline="0" noProof="0">
                <a:ln>
                  <a:noFill/>
                </a:ln>
                <a:solidFill>
                  <a:prstClr val="white"/>
                </a:solidFill>
                <a:effectLst/>
                <a:uLnTx/>
                <a:uFillTx/>
                <a:latin typeface="Segoe UI"/>
                <a:ea typeface="+mn-ea"/>
                <a:cs typeface="+mn-cs"/>
              </a:rPr>
              <a:t>.</a:t>
            </a:r>
          </a:p>
        </p:txBody>
      </p:sp>
      <p:sp>
        <p:nvSpPr>
          <p:cNvPr id="121" name="Rectangle 120">
            <a:extLst>
              <a:ext uri="{FF2B5EF4-FFF2-40B4-BE49-F238E27FC236}">
                <a16:creationId xmlns:a16="http://schemas.microsoft.com/office/drawing/2014/main" id="{ED6A3C3D-A698-4B2A-888B-74F987930A31}"/>
              </a:ext>
            </a:extLst>
          </p:cNvPr>
          <p:cNvSpPr/>
          <p:nvPr/>
        </p:nvSpPr>
        <p:spPr>
          <a:xfrm>
            <a:off x="9485795" y="1845005"/>
            <a:ext cx="2120988" cy="738664"/>
          </a:xfrm>
          <a:prstGeom prst="rect">
            <a:avLst/>
          </a:prstGeom>
          <a:noFill/>
          <a:ln w="15875" cap="flat" cmpd="sng" algn="ctr">
            <a:noFill/>
            <a:prstDash val="soli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Protect your data with built-in, real-time intelligent security</a:t>
            </a:r>
          </a:p>
        </p:txBody>
      </p:sp>
      <p:sp>
        <p:nvSpPr>
          <p:cNvPr id="120" name="Oval 119">
            <a:extLst>
              <a:ext uri="{FF2B5EF4-FFF2-40B4-BE49-F238E27FC236}">
                <a16:creationId xmlns:a16="http://schemas.microsoft.com/office/drawing/2014/main" id="{8A36CC57-4EB1-4CCE-8BC4-96D9C69CD9DB}"/>
              </a:ext>
              <a:ext uri="{C183D7F6-B498-43B3-948B-1728B52AA6E4}">
                <adec:decorative xmlns:adec="http://schemas.microsoft.com/office/drawing/2017/decorative" val="1"/>
              </a:ext>
            </a:extLst>
          </p:cNvPr>
          <p:cNvSpPr/>
          <p:nvPr/>
        </p:nvSpPr>
        <p:spPr bwMode="auto">
          <a:xfrm>
            <a:off x="9877427" y="2534843"/>
            <a:ext cx="1346662" cy="1346662"/>
          </a:xfrm>
          <a:prstGeom prst="ellipse">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64" name="Group 125">
            <a:extLst>
              <a:ext uri="{FF2B5EF4-FFF2-40B4-BE49-F238E27FC236}">
                <a16:creationId xmlns:a16="http://schemas.microsoft.com/office/drawing/2014/main" id="{EAF0A188-8484-497C-8374-48322591E0F2}"/>
              </a:ext>
              <a:ext uri="{C183D7F6-B498-43B3-948B-1728B52AA6E4}">
                <adec:decorative xmlns:adec="http://schemas.microsoft.com/office/drawing/2017/decorative" val="1"/>
              </a:ext>
            </a:extLst>
          </p:cNvPr>
          <p:cNvGrpSpPr>
            <a:grpSpLocks noChangeAspect="1"/>
          </p:cNvGrpSpPr>
          <p:nvPr/>
        </p:nvGrpSpPr>
        <p:grpSpPr bwMode="auto">
          <a:xfrm>
            <a:off x="10382177" y="2874528"/>
            <a:ext cx="349858" cy="699715"/>
            <a:chOff x="1692" y="2781"/>
            <a:chExt cx="156" cy="312"/>
          </a:xfrm>
        </p:grpSpPr>
        <p:sp>
          <p:nvSpPr>
            <p:cNvPr id="65" name="AutoShape 124">
              <a:extLst>
                <a:ext uri="{FF2B5EF4-FFF2-40B4-BE49-F238E27FC236}">
                  <a16:creationId xmlns:a16="http://schemas.microsoft.com/office/drawing/2014/main" id="{A626A4F9-6726-4890-BEFE-ED1C15895787}"/>
                </a:ext>
              </a:extLst>
            </p:cNvPr>
            <p:cNvSpPr>
              <a:spLocks noChangeAspect="1" noChangeArrowheads="1" noTextEdit="1"/>
            </p:cNvSpPr>
            <p:nvPr/>
          </p:nvSpPr>
          <p:spPr bwMode="auto">
            <a:xfrm>
              <a:off x="1692" y="2781"/>
              <a:ext cx="156"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6" name="Rectangle 126">
              <a:extLst>
                <a:ext uri="{FF2B5EF4-FFF2-40B4-BE49-F238E27FC236}">
                  <a16:creationId xmlns:a16="http://schemas.microsoft.com/office/drawing/2014/main" id="{3B6BF316-696B-4678-97FA-212F1C5DB3DE}"/>
                </a:ext>
              </a:extLst>
            </p:cNvPr>
            <p:cNvSpPr>
              <a:spLocks noChangeArrowheads="1"/>
            </p:cNvSpPr>
            <p:nvPr/>
          </p:nvSpPr>
          <p:spPr bwMode="auto">
            <a:xfrm>
              <a:off x="1692" y="2781"/>
              <a:ext cx="156" cy="31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8" name="Rectangle 127">
              <a:extLst>
                <a:ext uri="{FF2B5EF4-FFF2-40B4-BE49-F238E27FC236}">
                  <a16:creationId xmlns:a16="http://schemas.microsoft.com/office/drawing/2014/main" id="{2DBFD560-1036-42C0-A292-D525CC8E5976}"/>
                </a:ext>
              </a:extLst>
            </p:cNvPr>
            <p:cNvSpPr>
              <a:spLocks noChangeArrowheads="1"/>
            </p:cNvSpPr>
            <p:nvPr/>
          </p:nvSpPr>
          <p:spPr bwMode="auto">
            <a:xfrm>
              <a:off x="1711" y="3005"/>
              <a:ext cx="118" cy="2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0" name="Rectangle 128">
              <a:extLst>
                <a:ext uri="{FF2B5EF4-FFF2-40B4-BE49-F238E27FC236}">
                  <a16:creationId xmlns:a16="http://schemas.microsoft.com/office/drawing/2014/main" id="{56BBB34B-B52E-4CCB-97BC-E0DC50F162E4}"/>
                </a:ext>
              </a:extLst>
            </p:cNvPr>
            <p:cNvSpPr>
              <a:spLocks noChangeArrowheads="1"/>
            </p:cNvSpPr>
            <p:nvPr/>
          </p:nvSpPr>
          <p:spPr bwMode="auto">
            <a:xfrm>
              <a:off x="1711" y="2810"/>
              <a:ext cx="118" cy="2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1" name="Rectangle 129">
              <a:extLst>
                <a:ext uri="{FF2B5EF4-FFF2-40B4-BE49-F238E27FC236}">
                  <a16:creationId xmlns:a16="http://schemas.microsoft.com/office/drawing/2014/main" id="{5269A03F-1AB3-4A23-8162-38C320C20E27}"/>
                </a:ext>
              </a:extLst>
            </p:cNvPr>
            <p:cNvSpPr>
              <a:spLocks noChangeArrowheads="1"/>
            </p:cNvSpPr>
            <p:nvPr/>
          </p:nvSpPr>
          <p:spPr bwMode="auto">
            <a:xfrm>
              <a:off x="1711" y="3044"/>
              <a:ext cx="118" cy="2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5" name="Oval 130">
              <a:extLst>
                <a:ext uri="{FF2B5EF4-FFF2-40B4-BE49-F238E27FC236}">
                  <a16:creationId xmlns:a16="http://schemas.microsoft.com/office/drawing/2014/main" id="{0BD9BB02-23CA-4568-A566-B06ED6E1852F}"/>
                </a:ext>
              </a:extLst>
            </p:cNvPr>
            <p:cNvSpPr>
              <a:spLocks noChangeArrowheads="1"/>
            </p:cNvSpPr>
            <p:nvPr/>
          </p:nvSpPr>
          <p:spPr bwMode="auto">
            <a:xfrm>
              <a:off x="1738" y="2893"/>
              <a:ext cx="44" cy="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9" name="Freeform 131">
              <a:extLst>
                <a:ext uri="{FF2B5EF4-FFF2-40B4-BE49-F238E27FC236}">
                  <a16:creationId xmlns:a16="http://schemas.microsoft.com/office/drawing/2014/main" id="{11062219-48C3-476A-A224-0EBBBED19D1E}"/>
                </a:ext>
              </a:extLst>
            </p:cNvPr>
            <p:cNvSpPr>
              <a:spLocks/>
            </p:cNvSpPr>
            <p:nvPr/>
          </p:nvSpPr>
          <p:spPr bwMode="auto">
            <a:xfrm>
              <a:off x="1731" y="2917"/>
              <a:ext cx="78" cy="20"/>
            </a:xfrm>
            <a:custGeom>
              <a:avLst/>
              <a:gdLst>
                <a:gd name="T0" fmla="*/ 300 w 342"/>
                <a:gd name="T1" fmla="*/ 85 h 85"/>
                <a:gd name="T2" fmla="*/ 42 w 342"/>
                <a:gd name="T3" fmla="*/ 85 h 85"/>
                <a:gd name="T4" fmla="*/ 0 w 342"/>
                <a:gd name="T5" fmla="*/ 44 h 85"/>
                <a:gd name="T6" fmla="*/ 0 w 342"/>
                <a:gd name="T7" fmla="*/ 42 h 85"/>
                <a:gd name="T8" fmla="*/ 42 w 342"/>
                <a:gd name="T9" fmla="*/ 0 h 85"/>
                <a:gd name="T10" fmla="*/ 300 w 342"/>
                <a:gd name="T11" fmla="*/ 0 h 85"/>
                <a:gd name="T12" fmla="*/ 342 w 342"/>
                <a:gd name="T13" fmla="*/ 42 h 85"/>
                <a:gd name="T14" fmla="*/ 342 w 342"/>
                <a:gd name="T15" fmla="*/ 44 h 85"/>
                <a:gd name="T16" fmla="*/ 300 w 342"/>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2" h="85">
                  <a:moveTo>
                    <a:pt x="300" y="85"/>
                  </a:moveTo>
                  <a:cubicBezTo>
                    <a:pt x="42" y="85"/>
                    <a:pt x="42" y="85"/>
                    <a:pt x="42" y="85"/>
                  </a:cubicBezTo>
                  <a:cubicBezTo>
                    <a:pt x="19" y="85"/>
                    <a:pt x="0" y="67"/>
                    <a:pt x="0" y="44"/>
                  </a:cubicBezTo>
                  <a:cubicBezTo>
                    <a:pt x="0" y="42"/>
                    <a:pt x="0" y="42"/>
                    <a:pt x="0" y="42"/>
                  </a:cubicBezTo>
                  <a:cubicBezTo>
                    <a:pt x="0" y="19"/>
                    <a:pt x="19" y="0"/>
                    <a:pt x="42" y="0"/>
                  </a:cubicBezTo>
                  <a:cubicBezTo>
                    <a:pt x="300" y="0"/>
                    <a:pt x="300" y="0"/>
                    <a:pt x="300" y="0"/>
                  </a:cubicBezTo>
                  <a:cubicBezTo>
                    <a:pt x="323" y="0"/>
                    <a:pt x="342" y="19"/>
                    <a:pt x="342" y="42"/>
                  </a:cubicBezTo>
                  <a:cubicBezTo>
                    <a:pt x="342" y="44"/>
                    <a:pt x="342" y="44"/>
                    <a:pt x="342" y="44"/>
                  </a:cubicBezTo>
                  <a:cubicBezTo>
                    <a:pt x="342" y="67"/>
                    <a:pt x="323" y="85"/>
                    <a:pt x="300" y="8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0" name="Oval 132">
              <a:extLst>
                <a:ext uri="{FF2B5EF4-FFF2-40B4-BE49-F238E27FC236}">
                  <a16:creationId xmlns:a16="http://schemas.microsoft.com/office/drawing/2014/main" id="{78B41CA2-F759-45C5-A7CA-363E97D5D7C8}"/>
                </a:ext>
              </a:extLst>
            </p:cNvPr>
            <p:cNvSpPr>
              <a:spLocks noChangeArrowheads="1"/>
            </p:cNvSpPr>
            <p:nvPr/>
          </p:nvSpPr>
          <p:spPr bwMode="auto">
            <a:xfrm>
              <a:off x="1767" y="2903"/>
              <a:ext cx="30"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122" name="TextBox 121">
            <a:extLst>
              <a:ext uri="{FF2B5EF4-FFF2-40B4-BE49-F238E27FC236}">
                <a16:creationId xmlns:a16="http://schemas.microsoft.com/office/drawing/2014/main" id="{0398533C-7884-4B9C-97B9-8681DFF8A1F3}"/>
              </a:ext>
            </a:extLst>
          </p:cNvPr>
          <p:cNvSpPr txBox="1"/>
          <p:nvPr/>
        </p:nvSpPr>
        <p:spPr>
          <a:xfrm>
            <a:off x="9726369" y="4128505"/>
            <a:ext cx="1983277"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Segoe UI"/>
                <a:ea typeface="+mn-ea"/>
                <a:cs typeface="Segoe UI" panose="020B0502040204020203" pitchFamily="34" charset="0"/>
              </a:rPr>
              <a:t>Secure your data with layers of protection, built-in controls, </a:t>
            </a:r>
            <a:r>
              <a:rPr kumimoji="0" lang="en-US" sz="1200" b="1" i="0" u="none" strike="noStrike" kern="0" cap="none" spc="0" normalizeH="0" baseline="0" noProof="0">
                <a:ln>
                  <a:noFill/>
                </a:ln>
                <a:solidFill>
                  <a:prstClr val="white"/>
                </a:solidFill>
                <a:effectLst/>
                <a:uLnTx/>
                <a:uFillTx/>
                <a:latin typeface="Segoe UI"/>
                <a:ea typeface="+mn-ea"/>
                <a:cs typeface="Segoe UI" panose="020B0502040204020203" pitchFamily="34" charset="0"/>
              </a:rPr>
              <a:t>intelligent threat detection</a:t>
            </a:r>
            <a:r>
              <a:rPr kumimoji="0" lang="en-US" sz="1200" b="0" i="0" u="none" strike="noStrike" kern="0" cap="none" spc="0" normalizeH="0" baseline="0" noProof="0">
                <a:ln>
                  <a:noFill/>
                </a:ln>
                <a:solidFill>
                  <a:prstClr val="white"/>
                </a:solidFill>
                <a:effectLst/>
                <a:uLnTx/>
                <a:uFillTx/>
                <a:latin typeface="Segoe UI"/>
                <a:ea typeface="+mn-ea"/>
                <a:cs typeface="Segoe UI" panose="020B0502040204020203" pitchFamily="34" charset="0"/>
              </a:rPr>
              <a:t>, and the </a:t>
            </a:r>
            <a:r>
              <a:rPr kumimoji="0" lang="en-US" sz="1200" b="1" i="0" u="none" strike="noStrike" kern="0" cap="none" spc="0" normalizeH="0" baseline="0" noProof="0">
                <a:ln>
                  <a:noFill/>
                </a:ln>
                <a:solidFill>
                  <a:prstClr val="white"/>
                </a:solidFill>
                <a:effectLst/>
                <a:uLnTx/>
                <a:uFillTx/>
                <a:latin typeface="Segoe UI"/>
                <a:ea typeface="+mn-ea"/>
                <a:cs typeface="Segoe UI" panose="020B0502040204020203" pitchFamily="34" charset="0"/>
              </a:rPr>
              <a:t>broadest set of compliance offerings</a:t>
            </a:r>
          </a:p>
        </p:txBody>
      </p:sp>
      <p:sp>
        <p:nvSpPr>
          <p:cNvPr id="125" name="Rectangle 124">
            <a:extLst>
              <a:ext uri="{FF2B5EF4-FFF2-40B4-BE49-F238E27FC236}">
                <a16:creationId xmlns:a16="http://schemas.microsoft.com/office/drawing/2014/main" id="{D05872BC-3E95-4E39-B7DD-555F7544FBAD}"/>
              </a:ext>
            </a:extLst>
          </p:cNvPr>
          <p:cNvSpPr/>
          <p:nvPr/>
        </p:nvSpPr>
        <p:spPr>
          <a:xfrm>
            <a:off x="3799643" y="5428321"/>
            <a:ext cx="4767308" cy="338554"/>
          </a:xfrm>
          <a:prstGeom prst="rect">
            <a:avLst/>
          </a:prstGeom>
          <a:noFill/>
          <a:ln w="10795" cap="flat" cmpd="sng" algn="ctr">
            <a:noFill/>
            <a:prstDash val="solid"/>
          </a:ln>
          <a:effectLst/>
        </p:spPr>
        <p:txBody>
          <a:bodyPr wrap="square" lIns="91440" tIns="45720" rIns="91440" bIns="4572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50E6FF"/>
                </a:solidFill>
                <a:effectLst/>
                <a:uLnTx/>
                <a:uFillTx/>
                <a:latin typeface="Segoe UI Semibold"/>
                <a:ea typeface="+mn-ea"/>
                <a:cs typeface="Segoe UI Semibold" panose="020B0702040204020203" pitchFamily="34" charset="0"/>
              </a:rPr>
              <a:t>The only cloud with evergreen SQL </a:t>
            </a:r>
          </a:p>
        </p:txBody>
      </p:sp>
      <p:cxnSp>
        <p:nvCxnSpPr>
          <p:cNvPr id="39" name="Straight Connector 38">
            <a:extLst>
              <a:ext uri="{FF2B5EF4-FFF2-40B4-BE49-F238E27FC236}">
                <a16:creationId xmlns:a16="http://schemas.microsoft.com/office/drawing/2014/main" id="{64DF2AE2-AF45-44A8-A2E5-8E85E8268414}"/>
              </a:ext>
              <a:ext uri="{C183D7F6-B498-43B3-948B-1728B52AA6E4}">
                <adec:decorative xmlns:adec="http://schemas.microsoft.com/office/drawing/2017/decorative" val="1"/>
              </a:ext>
            </a:extLst>
          </p:cNvPr>
          <p:cNvCxnSpPr>
            <a:cxnSpLocks/>
          </p:cNvCxnSpPr>
          <p:nvPr/>
        </p:nvCxnSpPr>
        <p:spPr>
          <a:xfrm flipH="1">
            <a:off x="617489" y="5804362"/>
            <a:ext cx="10957023" cy="0"/>
          </a:xfrm>
          <a:prstGeom prst="line">
            <a:avLst/>
          </a:prstGeom>
          <a:ln w="12700">
            <a:solidFill>
              <a:schemeClr val="accent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0DF7730-09F5-40A0-9EC0-4823B9C67C83}"/>
              </a:ext>
            </a:extLst>
          </p:cNvPr>
          <p:cNvSpPr txBox="1"/>
          <p:nvPr/>
        </p:nvSpPr>
        <p:spPr>
          <a:xfrm>
            <a:off x="3799644" y="5902177"/>
            <a:ext cx="5090356" cy="18461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Segoe UI"/>
                <a:ea typeface="+mn-ea"/>
                <a:cs typeface="+mn-cs"/>
              </a:rPr>
              <a:t>Software is continually updated and never requires patches</a:t>
            </a:r>
          </a:p>
        </p:txBody>
      </p:sp>
    </p:spTree>
    <p:extLst>
      <p:ext uri="{BB962C8B-B14F-4D97-AF65-F5344CB8AC3E}">
        <p14:creationId xmlns:p14="http://schemas.microsoft.com/office/powerpoint/2010/main" val="71724860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1209F-9E99-47E1-81B9-28F134FDCA86}"/>
              </a:ext>
            </a:extLst>
          </p:cNvPr>
          <p:cNvSpPr>
            <a:spLocks noGrp="1"/>
          </p:cNvSpPr>
          <p:nvPr>
            <p:ph type="title"/>
          </p:nvPr>
        </p:nvSpPr>
        <p:spPr/>
        <p:txBody>
          <a:bodyPr/>
          <a:lstStyle/>
          <a:p>
            <a:r>
              <a:rPr lang="en-US" dirty="0"/>
              <a:t>Which Azure SQL offering is right for you?</a:t>
            </a:r>
          </a:p>
        </p:txBody>
      </p:sp>
      <p:sp>
        <p:nvSpPr>
          <p:cNvPr id="3" name="TextBox 2">
            <a:extLst>
              <a:ext uri="{FF2B5EF4-FFF2-40B4-BE49-F238E27FC236}">
                <a16:creationId xmlns:a16="http://schemas.microsoft.com/office/drawing/2014/main" id="{DC967137-2953-4120-AEB7-0A3F4CC946A0}"/>
              </a:ext>
            </a:extLst>
          </p:cNvPr>
          <p:cNvSpPr txBox="1"/>
          <p:nvPr/>
        </p:nvSpPr>
        <p:spPr>
          <a:xfrm>
            <a:off x="572363" y="1420226"/>
            <a:ext cx="1401625"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0E6FF"/>
                </a:solidFill>
                <a:effectLst/>
                <a:uLnTx/>
                <a:uFillTx/>
                <a:latin typeface="Segoe UI Semibold"/>
                <a:ea typeface="+mn-ea"/>
                <a:cs typeface="+mn-cs"/>
              </a:rPr>
              <a:t>Migration</a:t>
            </a:r>
          </a:p>
        </p:txBody>
      </p:sp>
      <p:sp>
        <p:nvSpPr>
          <p:cNvPr id="6" name="Rectangle 5">
            <a:extLst>
              <a:ext uri="{FF2B5EF4-FFF2-40B4-BE49-F238E27FC236}">
                <a16:creationId xmlns:a16="http://schemas.microsoft.com/office/drawing/2014/main" id="{2E8FD663-11AB-114D-B2D3-501CE85D752D}"/>
              </a:ext>
              <a:ext uri="{C183D7F6-B498-43B3-948B-1728B52AA6E4}">
                <adec:decorative xmlns:adec="http://schemas.microsoft.com/office/drawing/2017/decorative" val="1"/>
              </a:ext>
            </a:extLst>
          </p:cNvPr>
          <p:cNvSpPr/>
          <p:nvPr/>
        </p:nvSpPr>
        <p:spPr>
          <a:xfrm>
            <a:off x="584200" y="1705518"/>
            <a:ext cx="4913875" cy="1217423"/>
          </a:xfrm>
          <a:prstGeom prst="rect">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9" name="Rectangle 48">
            <a:extLst>
              <a:ext uri="{FF2B5EF4-FFF2-40B4-BE49-F238E27FC236}">
                <a16:creationId xmlns:a16="http://schemas.microsoft.com/office/drawing/2014/main" id="{5E245CF9-A209-0340-8EC0-976283FA2A36}"/>
              </a:ext>
            </a:extLst>
          </p:cNvPr>
          <p:cNvSpPr/>
          <p:nvPr/>
        </p:nvSpPr>
        <p:spPr>
          <a:xfrm>
            <a:off x="584202" y="1691493"/>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32" name="Rectangle 31">
            <a:extLst>
              <a:ext uri="{FF2B5EF4-FFF2-40B4-BE49-F238E27FC236}">
                <a16:creationId xmlns:a16="http://schemas.microsoft.com/office/drawing/2014/main" id="{CC4221C3-F2A0-43C6-9C44-93A7F2629370}"/>
              </a:ext>
            </a:extLst>
          </p:cNvPr>
          <p:cNvSpPr/>
          <p:nvPr/>
        </p:nvSpPr>
        <p:spPr>
          <a:xfrm>
            <a:off x="584201" y="1934128"/>
            <a:ext cx="5043683"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numCol="2" rtlCol="0" anchor="t">
            <a:spAutoFit/>
          </a:bodyPr>
          <a:lstStyle/>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Segoe UI"/>
                <a:ea typeface="+mn-ea"/>
                <a:cs typeface="Segoe UI"/>
              </a:rPr>
              <a:t>OS level access?</a:t>
            </a:r>
            <a:endParaRPr kumimoji="0" lang="en-US" sz="1100" b="0" i="0" u="none" strike="noStrike" kern="1200" cap="none" spc="0" normalizeH="0" baseline="0" noProof="0" dirty="0">
              <a:ln>
                <a:noFill/>
              </a:ln>
              <a:effectLst/>
              <a:uLnTx/>
              <a:uFillTx/>
              <a:latin typeface="Segoe UI" panose="020B0502040204020203" pitchFamily="34" charset="0"/>
              <a:ea typeface="+mn-ea"/>
              <a:cs typeface="Segoe UI" panose="020B0502040204020203" pitchFamily="34" charset="0"/>
            </a:endParaRP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Segoe UI"/>
                <a:ea typeface="+mn-ea"/>
                <a:cs typeface="Segoe UI"/>
              </a:rPr>
              <a:t>SQL Server versions 2008 - 2019? </a:t>
            </a:r>
            <a:endParaRPr kumimoji="0" lang="en-US" sz="1800" b="0" i="0" u="none" strike="noStrike" kern="1200" cap="none" spc="0" normalizeH="0" baseline="0" noProof="0" dirty="0">
              <a:ln>
                <a:noFill/>
              </a:ln>
              <a:effectLst/>
              <a:uLnTx/>
              <a:uFillTx/>
              <a:latin typeface="Segoe UI"/>
              <a:ea typeface="+mn-ea"/>
              <a:cs typeface="+mn-cs"/>
            </a:endParaRPr>
          </a:p>
          <a:p>
            <a:pPr marL="115570" indent="-115570">
              <a:spcAft>
                <a:spcPts val="600"/>
              </a:spcAft>
              <a:buFont typeface="Arial" panose="020B0604020202020204" pitchFamily="34" charset="0"/>
              <a:buChar char="•"/>
              <a:defRPr/>
            </a:pPr>
            <a:r>
              <a:rPr lang="en-US" sz="1100" dirty="0" err="1">
                <a:latin typeface="Segoe UI"/>
                <a:cs typeface="Segoe UI"/>
              </a:rPr>
              <a:t>PolyBase</a:t>
            </a:r>
            <a:r>
              <a:rPr lang="en-US" sz="1100" dirty="0">
                <a:latin typeface="Segoe UI"/>
                <a:cs typeface="Segoe UI"/>
              </a:rPr>
              <a:t>/</a:t>
            </a:r>
            <a:r>
              <a:rPr lang="en-US" sz="1100" dirty="0" err="1">
                <a:latin typeface="Segoe UI"/>
                <a:cs typeface="Segoe UI"/>
              </a:rPr>
              <a:t>Filestream</a:t>
            </a:r>
            <a:r>
              <a:rPr lang="en-US" sz="1100" dirty="0">
                <a:latin typeface="Segoe UI"/>
                <a:cs typeface="Segoe UI"/>
              </a:rPr>
              <a:t>? </a:t>
            </a:r>
          </a:p>
          <a:p>
            <a:pPr marL="115570" indent="-115570">
              <a:spcAft>
                <a:spcPts val="600"/>
              </a:spcAft>
              <a:buFont typeface="Arial" panose="020B0604020202020204" pitchFamily="34" charset="0"/>
              <a:buChar char="•"/>
              <a:defRPr/>
            </a:pPr>
            <a:r>
              <a:rPr kumimoji="0" lang="en-US" sz="1100" b="0" i="0" u="none" strike="noStrike" kern="1200" cap="none" spc="0" normalizeH="0" baseline="0" noProof="0" dirty="0">
                <a:ln>
                  <a:noFill/>
                </a:ln>
                <a:effectLst/>
                <a:uLnTx/>
                <a:uFillTx/>
                <a:latin typeface="Segoe UI"/>
                <a:cs typeface="Segoe UI"/>
              </a:rPr>
              <a:t>Capabilities at the VM level?</a:t>
            </a:r>
            <a:r>
              <a:rPr lang="en-US" sz="1100" dirty="0">
                <a:latin typeface="Segoe UI"/>
                <a:cs typeface="Segoe UI"/>
              </a:rPr>
              <a:t> </a:t>
            </a:r>
            <a:endParaRPr lang="en-US" sz="1100" b="0" i="0" u="none" strike="noStrike" kern="1200" cap="none" spc="0" normalizeH="0" baseline="0" noProof="0" dirty="0">
              <a:ln>
                <a:noFill/>
              </a:ln>
              <a:effectLst/>
              <a:uLnTx/>
              <a:uFillTx/>
              <a:latin typeface="Segoe UI" panose="020B0502040204020203" pitchFamily="34" charset="0"/>
              <a:cs typeface="Segoe UI" panose="020B0502040204020203" pitchFamily="34" charset="0"/>
            </a:endParaRP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Segoe UI"/>
                <a:cs typeface="Segoe UI"/>
              </a:rPr>
              <a:t>SSRS/SSAS?</a:t>
            </a:r>
            <a:endParaRPr lang="en-US" sz="1100" b="0" i="0" u="none" strike="noStrike" kern="1200" cap="none" spc="0" normalizeH="0" baseline="0" noProof="0" dirty="0">
              <a:ln>
                <a:noFill/>
              </a:ln>
              <a:effectLst/>
              <a:uLnTx/>
              <a:uFillTx/>
              <a:latin typeface="Segoe UI"/>
              <a:cs typeface="Segoe UI"/>
            </a:endParaRPr>
          </a:p>
        </p:txBody>
      </p:sp>
      <p:cxnSp>
        <p:nvCxnSpPr>
          <p:cNvPr id="126" name="Straight Arrow Connector 125">
            <a:extLst>
              <a:ext uri="{FF2B5EF4-FFF2-40B4-BE49-F238E27FC236}">
                <a16:creationId xmlns:a16="http://schemas.microsoft.com/office/drawing/2014/main" id="{6827E739-D1D6-7C48-A023-81B5FDF76262}"/>
              </a:ext>
              <a:ext uri="{C183D7F6-B498-43B3-948B-1728B52AA6E4}">
                <adec:decorative xmlns:adec="http://schemas.microsoft.com/office/drawing/2017/decorative" val="1"/>
              </a:ext>
            </a:extLst>
          </p:cNvPr>
          <p:cNvCxnSpPr>
            <a:cxnSpLocks/>
          </p:cNvCxnSpPr>
          <p:nvPr/>
        </p:nvCxnSpPr>
        <p:spPr>
          <a:xfrm>
            <a:off x="5486752" y="2314229"/>
            <a:ext cx="3580851"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D6CA5382-40CC-CE40-81F0-223CFBA5ADF5}"/>
              </a:ext>
            </a:extLst>
          </p:cNvPr>
          <p:cNvSpPr txBox="1"/>
          <p:nvPr/>
        </p:nvSpPr>
        <p:spPr>
          <a:xfrm>
            <a:off x="7016641" y="1993742"/>
            <a:ext cx="52107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0E6FF"/>
                </a:solidFill>
                <a:effectLst/>
                <a:uLnTx/>
                <a:uFillTx/>
                <a:latin typeface="Segoe UI"/>
                <a:ea typeface="+mn-ea"/>
                <a:cs typeface="Segoe UI" panose="020B0502040204020203" pitchFamily="34" charset="0"/>
              </a:rPr>
              <a:t>Yes</a:t>
            </a:r>
          </a:p>
        </p:txBody>
      </p:sp>
      <p:pic>
        <p:nvPicPr>
          <p:cNvPr id="72" name="Graphic 71" descr="SQL Server on Azure VMs logo">
            <a:extLst>
              <a:ext uri="{FF2B5EF4-FFF2-40B4-BE49-F238E27FC236}">
                <a16:creationId xmlns:a16="http://schemas.microsoft.com/office/drawing/2014/main" id="{55D314BD-CC51-4D51-8F81-8874A86F68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67727" y="2037623"/>
            <a:ext cx="553212" cy="553212"/>
          </a:xfrm>
          <a:prstGeom prst="rect">
            <a:avLst/>
          </a:prstGeom>
        </p:spPr>
      </p:pic>
      <p:sp>
        <p:nvSpPr>
          <p:cNvPr id="118" name="Rectangle 117">
            <a:extLst>
              <a:ext uri="{FF2B5EF4-FFF2-40B4-BE49-F238E27FC236}">
                <a16:creationId xmlns:a16="http://schemas.microsoft.com/office/drawing/2014/main" id="{DFF04D71-45E1-BB45-9A4F-307E51BA62FE}"/>
              </a:ext>
            </a:extLst>
          </p:cNvPr>
          <p:cNvSpPr/>
          <p:nvPr/>
        </p:nvSpPr>
        <p:spPr>
          <a:xfrm>
            <a:off x="10083940" y="2098786"/>
            <a:ext cx="1288973"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0E6FF"/>
                </a:solidFill>
                <a:effectLst/>
                <a:uLnTx/>
                <a:uFillTx/>
                <a:latin typeface="Segoe UI Semibold"/>
                <a:ea typeface="+mn-ea"/>
                <a:cs typeface="+mn-cs"/>
              </a:rPr>
              <a:t>SQL Server </a:t>
            </a:r>
            <a:br>
              <a:rPr kumimoji="0" lang="en-US" sz="1400" b="1" i="0" u="none" strike="noStrike" kern="1200" cap="none" spc="0" normalizeH="0" baseline="0" noProof="0" dirty="0">
                <a:ln>
                  <a:noFill/>
                </a:ln>
                <a:solidFill>
                  <a:srgbClr val="50E6FF"/>
                </a:solidFill>
                <a:effectLst/>
                <a:uLnTx/>
                <a:uFillTx/>
                <a:latin typeface="Segoe UI Semibold"/>
                <a:ea typeface="+mn-ea"/>
                <a:cs typeface="+mn-cs"/>
              </a:rPr>
            </a:br>
            <a:r>
              <a:rPr kumimoji="0" lang="en-US" sz="1400" b="1" i="0" u="none" strike="noStrike" kern="1200" cap="none" spc="0" normalizeH="0" baseline="0" noProof="0" dirty="0">
                <a:ln>
                  <a:noFill/>
                </a:ln>
                <a:solidFill>
                  <a:srgbClr val="50E6FF"/>
                </a:solidFill>
                <a:effectLst/>
                <a:uLnTx/>
                <a:uFillTx/>
                <a:latin typeface="Segoe UI Semibold"/>
                <a:ea typeface="+mn-ea"/>
                <a:cs typeface="+mn-cs"/>
              </a:rPr>
              <a:t>on Azure VMs</a:t>
            </a:r>
          </a:p>
        </p:txBody>
      </p:sp>
      <p:cxnSp>
        <p:nvCxnSpPr>
          <p:cNvPr id="119" name="Straight Arrow Connector 118">
            <a:extLst>
              <a:ext uri="{FF2B5EF4-FFF2-40B4-BE49-F238E27FC236}">
                <a16:creationId xmlns:a16="http://schemas.microsoft.com/office/drawing/2014/main" id="{BAF97881-4989-5A43-A3CA-A183964A7452}"/>
              </a:ext>
              <a:ext uri="{C183D7F6-B498-43B3-948B-1728B52AA6E4}">
                <adec:decorative xmlns:adec="http://schemas.microsoft.com/office/drawing/2017/decorative" val="1"/>
              </a:ext>
            </a:extLst>
          </p:cNvPr>
          <p:cNvCxnSpPr>
            <a:cxnSpLocks/>
            <a:stCxn id="6" idx="2"/>
            <a:endCxn id="51" idx="0"/>
          </p:cNvCxnSpPr>
          <p:nvPr/>
        </p:nvCxnSpPr>
        <p:spPr>
          <a:xfrm flipH="1">
            <a:off x="3035765" y="2922941"/>
            <a:ext cx="5373" cy="720720"/>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379C39F6-2EC7-4B5F-AA05-93145AF4FF0F}"/>
              </a:ext>
            </a:extLst>
          </p:cNvPr>
          <p:cNvSpPr txBox="1"/>
          <p:nvPr/>
        </p:nvSpPr>
        <p:spPr>
          <a:xfrm>
            <a:off x="3108621" y="3095526"/>
            <a:ext cx="52107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Segoe UI Semibold"/>
                <a:ea typeface="+mn-ea"/>
                <a:cs typeface="Segoe UI" panose="020B0502040204020203" pitchFamily="34" charset="0"/>
              </a:rPr>
              <a:t>No</a:t>
            </a:r>
          </a:p>
        </p:txBody>
      </p:sp>
      <p:sp>
        <p:nvSpPr>
          <p:cNvPr id="4" name="TextBox 3">
            <a:extLst>
              <a:ext uri="{FF2B5EF4-FFF2-40B4-BE49-F238E27FC236}">
                <a16:creationId xmlns:a16="http://schemas.microsoft.com/office/drawing/2014/main" id="{856B8C7E-6860-4CD0-BFC6-101CA2D1A363}"/>
              </a:ext>
            </a:extLst>
          </p:cNvPr>
          <p:cNvSpPr txBox="1"/>
          <p:nvPr/>
        </p:nvSpPr>
        <p:spPr>
          <a:xfrm>
            <a:off x="584201" y="3329727"/>
            <a:ext cx="1856843"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0E6FF"/>
                </a:solidFill>
                <a:effectLst/>
                <a:uLnTx/>
                <a:uFillTx/>
                <a:latin typeface="Segoe UI Semibold"/>
                <a:ea typeface="+mn-ea"/>
                <a:cs typeface="+mn-cs"/>
              </a:rPr>
              <a:t>App Modernization</a:t>
            </a:r>
          </a:p>
        </p:txBody>
      </p:sp>
      <p:sp>
        <p:nvSpPr>
          <p:cNvPr id="51" name="Rectangle 50">
            <a:extLst>
              <a:ext uri="{FF2B5EF4-FFF2-40B4-BE49-F238E27FC236}">
                <a16:creationId xmlns:a16="http://schemas.microsoft.com/office/drawing/2014/main" id="{52F6959F-02D2-A444-B4E9-80F2431732B1}"/>
              </a:ext>
              <a:ext uri="{C183D7F6-B498-43B3-948B-1728B52AA6E4}">
                <adec:decorative xmlns:adec="http://schemas.microsoft.com/office/drawing/2017/decorative" val="1"/>
              </a:ext>
            </a:extLst>
          </p:cNvPr>
          <p:cNvSpPr/>
          <p:nvPr/>
        </p:nvSpPr>
        <p:spPr>
          <a:xfrm>
            <a:off x="572362" y="3643661"/>
            <a:ext cx="4926806" cy="1137962"/>
          </a:xfrm>
          <a:prstGeom prst="rect">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2" name="Rectangle 51">
            <a:extLst>
              <a:ext uri="{FF2B5EF4-FFF2-40B4-BE49-F238E27FC236}">
                <a16:creationId xmlns:a16="http://schemas.microsoft.com/office/drawing/2014/main" id="{62E1AD9C-B1E7-D843-848B-430E2FFA4436}"/>
              </a:ext>
            </a:extLst>
          </p:cNvPr>
          <p:cNvSpPr/>
          <p:nvPr/>
        </p:nvSpPr>
        <p:spPr>
          <a:xfrm>
            <a:off x="584202" y="3675474"/>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33" name="Rectangle 32">
            <a:extLst>
              <a:ext uri="{FF2B5EF4-FFF2-40B4-BE49-F238E27FC236}">
                <a16:creationId xmlns:a16="http://schemas.microsoft.com/office/drawing/2014/main" id="{41A9227F-8585-4E9B-B947-064C16D9FF9E}"/>
              </a:ext>
            </a:extLst>
          </p:cNvPr>
          <p:cNvSpPr/>
          <p:nvPr/>
        </p:nvSpPr>
        <p:spPr>
          <a:xfrm>
            <a:off x="584201" y="3918109"/>
            <a:ext cx="5043683"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spAutoFit/>
          </a:bodyPr>
          <a:lstStyle/>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An instance model?</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Linked Server?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Cross-DB transactions?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SQL Agent?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Capabilities at the instance level?</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SSIS?</a:t>
            </a:r>
          </a:p>
        </p:txBody>
      </p:sp>
      <p:cxnSp>
        <p:nvCxnSpPr>
          <p:cNvPr id="128" name="Straight Arrow Connector 127">
            <a:extLst>
              <a:ext uri="{FF2B5EF4-FFF2-40B4-BE49-F238E27FC236}">
                <a16:creationId xmlns:a16="http://schemas.microsoft.com/office/drawing/2014/main" id="{C8B1280D-5164-754C-988B-5767BA278DD9}"/>
              </a:ext>
              <a:ext uri="{C183D7F6-B498-43B3-948B-1728B52AA6E4}">
                <adec:decorative xmlns:adec="http://schemas.microsoft.com/office/drawing/2017/decorative" val="1"/>
              </a:ext>
            </a:extLst>
          </p:cNvPr>
          <p:cNvCxnSpPr>
            <a:cxnSpLocks/>
          </p:cNvCxnSpPr>
          <p:nvPr/>
        </p:nvCxnSpPr>
        <p:spPr>
          <a:xfrm>
            <a:off x="5486752" y="4212642"/>
            <a:ext cx="3580851"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93118CA4-BA2F-FE47-8596-A17E4C875D18}"/>
              </a:ext>
            </a:extLst>
          </p:cNvPr>
          <p:cNvSpPr txBox="1"/>
          <p:nvPr/>
        </p:nvSpPr>
        <p:spPr>
          <a:xfrm>
            <a:off x="7016641" y="3819661"/>
            <a:ext cx="52107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0E6FF"/>
                </a:solidFill>
                <a:effectLst/>
                <a:uLnTx/>
                <a:uFillTx/>
                <a:latin typeface="Segoe UI"/>
                <a:ea typeface="+mn-ea"/>
                <a:cs typeface="Segoe UI" panose="020B0502040204020203" pitchFamily="34" charset="0"/>
              </a:rPr>
              <a:t>Yes</a:t>
            </a:r>
          </a:p>
        </p:txBody>
      </p:sp>
      <p:pic>
        <p:nvPicPr>
          <p:cNvPr id="73" name="Graphic 72" descr="SQL Server Managed Instance logo">
            <a:extLst>
              <a:ext uri="{FF2B5EF4-FFF2-40B4-BE49-F238E27FC236}">
                <a16:creationId xmlns:a16="http://schemas.microsoft.com/office/drawing/2014/main" id="{D401AD4D-1EB0-4955-BD17-D62364385C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02846" y="3936036"/>
            <a:ext cx="553212" cy="553212"/>
          </a:xfrm>
          <a:prstGeom prst="rect">
            <a:avLst/>
          </a:prstGeom>
        </p:spPr>
      </p:pic>
      <p:sp>
        <p:nvSpPr>
          <p:cNvPr id="117" name="Rectangle 116">
            <a:extLst>
              <a:ext uri="{FF2B5EF4-FFF2-40B4-BE49-F238E27FC236}">
                <a16:creationId xmlns:a16="http://schemas.microsoft.com/office/drawing/2014/main" id="{ACA1DA0B-A6FD-D84B-AB02-B2D630C237E6}"/>
              </a:ext>
            </a:extLst>
          </p:cNvPr>
          <p:cNvSpPr/>
          <p:nvPr/>
        </p:nvSpPr>
        <p:spPr>
          <a:xfrm>
            <a:off x="10108306" y="3997199"/>
            <a:ext cx="1498477"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0E6FF"/>
                </a:solidFill>
                <a:effectLst/>
                <a:uLnTx/>
                <a:uFillTx/>
                <a:latin typeface="Segoe UI Semibold"/>
                <a:ea typeface="+mn-ea"/>
                <a:cs typeface="+mn-cs"/>
              </a:rPr>
              <a:t>Azure SQL</a:t>
            </a:r>
            <a:br>
              <a:rPr kumimoji="0" lang="en-US" sz="1400" b="1" i="0" u="none" strike="noStrike" kern="1200" cap="none" spc="0" normalizeH="0" baseline="0" noProof="0" dirty="0">
                <a:ln>
                  <a:noFill/>
                </a:ln>
                <a:solidFill>
                  <a:srgbClr val="50E6FF"/>
                </a:solidFill>
                <a:effectLst/>
                <a:uLnTx/>
                <a:uFillTx/>
                <a:latin typeface="Segoe UI Semibold"/>
                <a:ea typeface="+mn-ea"/>
                <a:cs typeface="+mn-cs"/>
              </a:rPr>
            </a:br>
            <a:r>
              <a:rPr kumimoji="0" lang="en-US" sz="1400" b="1" i="0" u="none" strike="noStrike" kern="1200" cap="none" spc="0" normalizeH="0" baseline="0" noProof="0" dirty="0">
                <a:ln>
                  <a:noFill/>
                </a:ln>
                <a:solidFill>
                  <a:srgbClr val="50E6FF"/>
                </a:solidFill>
                <a:effectLst/>
                <a:uLnTx/>
                <a:uFillTx/>
                <a:latin typeface="Segoe UI Semibold"/>
                <a:ea typeface="+mn-ea"/>
                <a:cs typeface="+mn-cs"/>
              </a:rPr>
              <a:t>Managed Instance</a:t>
            </a:r>
          </a:p>
        </p:txBody>
      </p:sp>
      <p:cxnSp>
        <p:nvCxnSpPr>
          <p:cNvPr id="125" name="Straight Arrow Connector 124">
            <a:extLst>
              <a:ext uri="{FF2B5EF4-FFF2-40B4-BE49-F238E27FC236}">
                <a16:creationId xmlns:a16="http://schemas.microsoft.com/office/drawing/2014/main" id="{9315AD3B-E1B6-364C-BDCF-E2D9CB2FA962}"/>
              </a:ext>
              <a:ext uri="{C183D7F6-B498-43B3-948B-1728B52AA6E4}">
                <adec:decorative xmlns:adec="http://schemas.microsoft.com/office/drawing/2017/decorative" val="1"/>
              </a:ext>
            </a:extLst>
          </p:cNvPr>
          <p:cNvCxnSpPr>
            <a:cxnSpLocks/>
            <a:stCxn id="51" idx="2"/>
            <a:endCxn id="53" idx="0"/>
          </p:cNvCxnSpPr>
          <p:nvPr/>
        </p:nvCxnSpPr>
        <p:spPr>
          <a:xfrm flipH="1">
            <a:off x="3035758" y="4781623"/>
            <a:ext cx="7" cy="644057"/>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B09836A8-282D-F241-98B4-C184A460D8D8}"/>
              </a:ext>
            </a:extLst>
          </p:cNvPr>
          <p:cNvSpPr txBox="1"/>
          <p:nvPr/>
        </p:nvSpPr>
        <p:spPr>
          <a:xfrm>
            <a:off x="3108621" y="4947641"/>
            <a:ext cx="52107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Segoe UI Semibold"/>
                <a:ea typeface="+mn-ea"/>
                <a:cs typeface="Segoe UI" panose="020B0502040204020203" pitchFamily="34" charset="0"/>
              </a:rPr>
              <a:t>No</a:t>
            </a:r>
          </a:p>
        </p:txBody>
      </p:sp>
      <p:sp>
        <p:nvSpPr>
          <p:cNvPr id="5" name="TextBox 4">
            <a:extLst>
              <a:ext uri="{FF2B5EF4-FFF2-40B4-BE49-F238E27FC236}">
                <a16:creationId xmlns:a16="http://schemas.microsoft.com/office/drawing/2014/main" id="{3B7696B7-004B-4BFF-B8EF-15C4BB6D52EE}"/>
              </a:ext>
            </a:extLst>
          </p:cNvPr>
          <p:cNvSpPr txBox="1"/>
          <p:nvPr/>
        </p:nvSpPr>
        <p:spPr>
          <a:xfrm>
            <a:off x="584201" y="5121409"/>
            <a:ext cx="1430479"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50E6FF"/>
                </a:solidFill>
                <a:effectLst/>
                <a:uLnTx/>
                <a:uFillTx/>
                <a:latin typeface="Segoe UI Semibold"/>
                <a:ea typeface="+mn-ea"/>
                <a:cs typeface="+mn-cs"/>
              </a:rPr>
              <a:t>App Innovation</a:t>
            </a:r>
          </a:p>
        </p:txBody>
      </p:sp>
      <p:sp>
        <p:nvSpPr>
          <p:cNvPr id="53" name="Rectangle 52">
            <a:extLst>
              <a:ext uri="{FF2B5EF4-FFF2-40B4-BE49-F238E27FC236}">
                <a16:creationId xmlns:a16="http://schemas.microsoft.com/office/drawing/2014/main" id="{2471F584-7108-7A44-BC06-9D10BEAC9DEC}"/>
              </a:ext>
              <a:ext uri="{C183D7F6-B498-43B3-948B-1728B52AA6E4}">
                <adec:decorative xmlns:adec="http://schemas.microsoft.com/office/drawing/2017/decorative" val="1"/>
              </a:ext>
            </a:extLst>
          </p:cNvPr>
          <p:cNvSpPr/>
          <p:nvPr/>
        </p:nvSpPr>
        <p:spPr>
          <a:xfrm>
            <a:off x="572362" y="5425680"/>
            <a:ext cx="4926791" cy="1137951"/>
          </a:xfrm>
          <a:prstGeom prst="rect">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4" name="Rectangle 53">
            <a:extLst>
              <a:ext uri="{FF2B5EF4-FFF2-40B4-BE49-F238E27FC236}">
                <a16:creationId xmlns:a16="http://schemas.microsoft.com/office/drawing/2014/main" id="{2B2F61FB-EDB7-114A-97F7-B4C27E3B3677}"/>
              </a:ext>
            </a:extLst>
          </p:cNvPr>
          <p:cNvSpPr/>
          <p:nvPr/>
        </p:nvSpPr>
        <p:spPr>
          <a:xfrm>
            <a:off x="613055" y="5480337"/>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35" name="Rectangle 34">
            <a:extLst>
              <a:ext uri="{FF2B5EF4-FFF2-40B4-BE49-F238E27FC236}">
                <a16:creationId xmlns:a16="http://schemas.microsoft.com/office/drawing/2014/main" id="{8469E920-F0F0-495F-91F1-9AA88BCEF858}"/>
              </a:ext>
            </a:extLst>
          </p:cNvPr>
          <p:cNvSpPr/>
          <p:nvPr/>
        </p:nvSpPr>
        <p:spPr>
          <a:xfrm>
            <a:off x="613055" y="5722972"/>
            <a:ext cx="3455652" cy="754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A database model?</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Up to 100TB of database storage?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Ability to automatically pause/restart a workload?</a:t>
            </a:r>
          </a:p>
        </p:txBody>
      </p:sp>
      <p:cxnSp>
        <p:nvCxnSpPr>
          <p:cNvPr id="130" name="Straight Arrow Connector 129">
            <a:extLst>
              <a:ext uri="{FF2B5EF4-FFF2-40B4-BE49-F238E27FC236}">
                <a16:creationId xmlns:a16="http://schemas.microsoft.com/office/drawing/2014/main" id="{AFF129E0-FAA4-C24D-816A-16C08E5869B4}"/>
              </a:ext>
              <a:ext uri="{C183D7F6-B498-43B3-948B-1728B52AA6E4}">
                <adec:decorative xmlns:adec="http://schemas.microsoft.com/office/drawing/2017/decorative" val="1"/>
              </a:ext>
            </a:extLst>
          </p:cNvPr>
          <p:cNvCxnSpPr>
            <a:cxnSpLocks/>
          </p:cNvCxnSpPr>
          <p:nvPr/>
        </p:nvCxnSpPr>
        <p:spPr>
          <a:xfrm>
            <a:off x="5486752" y="5994655"/>
            <a:ext cx="3580851"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DCF92B66-EB9B-C845-A9CF-39CBC23F59A9}"/>
              </a:ext>
            </a:extLst>
          </p:cNvPr>
          <p:cNvSpPr txBox="1"/>
          <p:nvPr/>
        </p:nvSpPr>
        <p:spPr>
          <a:xfrm>
            <a:off x="7016641" y="5625323"/>
            <a:ext cx="52107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50E6FF"/>
                </a:solidFill>
                <a:effectLst/>
                <a:uLnTx/>
                <a:uFillTx/>
                <a:latin typeface="Segoe UI"/>
                <a:ea typeface="+mn-ea"/>
                <a:cs typeface="Segoe UI" panose="020B0502040204020203" pitchFamily="34" charset="0"/>
              </a:rPr>
              <a:t>Yes</a:t>
            </a:r>
          </a:p>
        </p:txBody>
      </p:sp>
      <p:pic>
        <p:nvPicPr>
          <p:cNvPr id="71" name="Graphic 70" descr="Azure SQL Database logo">
            <a:extLst>
              <a:ext uri="{FF2B5EF4-FFF2-40B4-BE49-F238E27FC236}">
                <a16:creationId xmlns:a16="http://schemas.microsoft.com/office/drawing/2014/main" id="{CC9A7A38-DF73-4AFB-8315-7E93A052DEF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67727" y="5718049"/>
            <a:ext cx="553212" cy="553212"/>
          </a:xfrm>
          <a:prstGeom prst="rect">
            <a:avLst/>
          </a:prstGeom>
        </p:spPr>
      </p:pic>
      <p:sp>
        <p:nvSpPr>
          <p:cNvPr id="114" name="Rectangle 113">
            <a:extLst>
              <a:ext uri="{FF2B5EF4-FFF2-40B4-BE49-F238E27FC236}">
                <a16:creationId xmlns:a16="http://schemas.microsoft.com/office/drawing/2014/main" id="{6FA4CBC4-239B-AA41-A800-8E4ACDF2A07B}"/>
              </a:ext>
            </a:extLst>
          </p:cNvPr>
          <p:cNvSpPr/>
          <p:nvPr/>
        </p:nvSpPr>
        <p:spPr>
          <a:xfrm>
            <a:off x="10049642" y="5779212"/>
            <a:ext cx="1288973"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0E6FF"/>
                </a:solidFill>
                <a:effectLst/>
                <a:uLnTx/>
                <a:uFillTx/>
                <a:latin typeface="Segoe UI Semibold"/>
                <a:ea typeface="+mn-ea"/>
                <a:cs typeface="+mn-cs"/>
              </a:rPr>
              <a:t>Azure SQL Database </a:t>
            </a:r>
          </a:p>
        </p:txBody>
      </p:sp>
      <p:sp>
        <p:nvSpPr>
          <p:cNvPr id="132" name="TextBox 131">
            <a:extLst>
              <a:ext uri="{FF2B5EF4-FFF2-40B4-BE49-F238E27FC236}">
                <a16:creationId xmlns:a16="http://schemas.microsoft.com/office/drawing/2014/main" id="{03E8A5E2-22F7-F648-929C-DB06385C74A5}"/>
              </a:ext>
            </a:extLst>
          </p:cNvPr>
          <p:cNvSpPr txBox="1"/>
          <p:nvPr/>
        </p:nvSpPr>
        <p:spPr>
          <a:xfrm>
            <a:off x="6003281" y="5502212"/>
            <a:ext cx="52107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Segoe UI Semibold"/>
                <a:ea typeface="+mn-ea"/>
                <a:cs typeface="Segoe UI" panose="020B0502040204020203" pitchFamily="34" charset="0"/>
              </a:rPr>
              <a:t>No</a:t>
            </a:r>
          </a:p>
        </p:txBody>
      </p:sp>
      <p:cxnSp>
        <p:nvCxnSpPr>
          <p:cNvPr id="12" name="Elbow Connector 11" descr="Arrow connecting to Azure SQL Managed Instance icon">
            <a:extLst>
              <a:ext uri="{FF2B5EF4-FFF2-40B4-BE49-F238E27FC236}">
                <a16:creationId xmlns:a16="http://schemas.microsoft.com/office/drawing/2014/main" id="{6A3F546E-B7DA-DC45-9A23-080D59D4BB84}"/>
              </a:ext>
              <a:ext uri="{C183D7F6-B498-43B3-948B-1728B52AA6E4}">
                <adec:decorative xmlns:adec="http://schemas.microsoft.com/office/drawing/2017/decorative" val="0"/>
              </a:ext>
            </a:extLst>
          </p:cNvPr>
          <p:cNvCxnSpPr>
            <a:cxnSpLocks/>
          </p:cNvCxnSpPr>
          <p:nvPr/>
        </p:nvCxnSpPr>
        <p:spPr>
          <a:xfrm flipV="1">
            <a:off x="5510992" y="4350011"/>
            <a:ext cx="3539606" cy="1507277"/>
          </a:xfrm>
          <a:prstGeom prst="bentConnector3">
            <a:avLst>
              <a:gd name="adj1" fmla="val 29817"/>
            </a:avLst>
          </a:prstGeom>
          <a:ln w="15875">
            <a:solidFill>
              <a:schemeClr val="tx1"/>
            </a:solidFill>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39950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553998"/>
          </a:xfrm>
        </p:spPr>
        <p:txBody>
          <a:bodyPr/>
          <a:lstStyle/>
          <a:p>
            <a:r>
              <a:rPr lang="en-US" dirty="0"/>
              <a:t>Key offers lower your total cost of ownership </a:t>
            </a:r>
          </a:p>
        </p:txBody>
      </p:sp>
      <p:sp>
        <p:nvSpPr>
          <p:cNvPr id="9" name="Rectangle 8">
            <a:extLst>
              <a:ext uri="{FF2B5EF4-FFF2-40B4-BE49-F238E27FC236}">
                <a16:creationId xmlns:a16="http://schemas.microsoft.com/office/drawing/2014/main" id="{3794599A-5E65-4CC0-A0D9-8A51F801565C}"/>
              </a:ext>
            </a:extLst>
          </p:cNvPr>
          <p:cNvSpPr/>
          <p:nvPr/>
        </p:nvSpPr>
        <p:spPr>
          <a:xfrm>
            <a:off x="588263" y="1799952"/>
            <a:ext cx="2834640" cy="280782"/>
          </a:xfrm>
          <a:prstGeom prst="rect">
            <a:avLst/>
          </a:prstGeom>
        </p:spPr>
        <p:txBody>
          <a:bodyPr wrap="none" lIns="0" tIns="0" rIns="0" bIns="0">
            <a:spAutoFit/>
          </a:bodyPr>
          <a:lstStyle/>
          <a:p>
            <a:pPr marL="0" marR="0" lvl="0" indent="0" algn="l" defTabSz="932742" rtl="0" eaLnBrk="1" fontAlgn="auto" latinLnBrk="0" hangingPunct="1">
              <a:lnSpc>
                <a:spcPct val="110000"/>
              </a:lnSpc>
              <a:spcBef>
                <a:spcPts val="1200"/>
              </a:spcBef>
              <a:spcAft>
                <a:spcPts val="0"/>
              </a:spcAft>
              <a:buClrTx/>
              <a:buSzPct val="90000"/>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Segoe UI Semilight" panose="020B0402040204020203" pitchFamily="34" charset="0"/>
              </a:rPr>
              <a:t>Azure Hybrid Benefit</a:t>
            </a:r>
          </a:p>
        </p:txBody>
      </p:sp>
      <p:grpSp>
        <p:nvGrpSpPr>
          <p:cNvPr id="7" name="Group 6" descr="building and cloud showing hybrid">
            <a:extLst>
              <a:ext uri="{FF2B5EF4-FFF2-40B4-BE49-F238E27FC236}">
                <a16:creationId xmlns:a16="http://schemas.microsoft.com/office/drawing/2014/main" id="{D78EB371-7AC0-4C0F-B85E-435DC9B83C09}"/>
              </a:ext>
            </a:extLst>
          </p:cNvPr>
          <p:cNvGrpSpPr/>
          <p:nvPr/>
        </p:nvGrpSpPr>
        <p:grpSpPr>
          <a:xfrm>
            <a:off x="3764221" y="1604621"/>
            <a:ext cx="682712" cy="671444"/>
            <a:chOff x="1465223" y="2692715"/>
            <a:chExt cx="1237066" cy="1216649"/>
          </a:xfrm>
        </p:grpSpPr>
        <p:grpSp>
          <p:nvGrpSpPr>
            <p:cNvPr id="75" name="Group 149">
              <a:extLst>
                <a:ext uri="{FF2B5EF4-FFF2-40B4-BE49-F238E27FC236}">
                  <a16:creationId xmlns:a16="http://schemas.microsoft.com/office/drawing/2014/main" id="{C9F56F00-0113-4848-AABB-177BFC4F2CEB}"/>
                </a:ext>
              </a:extLst>
            </p:cNvPr>
            <p:cNvGrpSpPr>
              <a:grpSpLocks noChangeAspect="1"/>
            </p:cNvGrpSpPr>
            <p:nvPr/>
          </p:nvGrpSpPr>
          <p:grpSpPr bwMode="auto">
            <a:xfrm>
              <a:off x="1814132" y="3038551"/>
              <a:ext cx="507475" cy="507475"/>
              <a:chOff x="410" y="2781"/>
              <a:chExt cx="312" cy="312"/>
            </a:xfrm>
          </p:grpSpPr>
          <p:sp>
            <p:nvSpPr>
              <p:cNvPr id="76" name="AutoShape 148">
                <a:extLst>
                  <a:ext uri="{FF2B5EF4-FFF2-40B4-BE49-F238E27FC236}">
                    <a16:creationId xmlns:a16="http://schemas.microsoft.com/office/drawing/2014/main" id="{FF0A3080-8505-489D-955A-BE8CDBC3996E}"/>
                  </a:ext>
                </a:extLst>
              </p:cNvPr>
              <p:cNvSpPr>
                <a:spLocks noChangeAspect="1" noChangeArrowheads="1" noTextEdit="1"/>
              </p:cNvSpPr>
              <p:nvPr/>
            </p:nvSpPr>
            <p:spPr bwMode="auto">
              <a:xfrm>
                <a:off x="410" y="2781"/>
                <a:ext cx="31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7" name="Rectangle 150">
                <a:extLst>
                  <a:ext uri="{FF2B5EF4-FFF2-40B4-BE49-F238E27FC236}">
                    <a16:creationId xmlns:a16="http://schemas.microsoft.com/office/drawing/2014/main" id="{035D66DB-69A7-4CFF-92F1-CB00163D7E36}"/>
                  </a:ext>
                </a:extLst>
              </p:cNvPr>
              <p:cNvSpPr>
                <a:spLocks noChangeArrowheads="1"/>
              </p:cNvSpPr>
              <p:nvPr/>
            </p:nvSpPr>
            <p:spPr bwMode="auto">
              <a:xfrm>
                <a:off x="410" y="2781"/>
                <a:ext cx="312" cy="3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8" name="Rectangle 151">
                <a:extLst>
                  <a:ext uri="{FF2B5EF4-FFF2-40B4-BE49-F238E27FC236}">
                    <a16:creationId xmlns:a16="http://schemas.microsoft.com/office/drawing/2014/main" id="{EF8897CA-62C6-41D3-9A8A-5C06724B6D35}"/>
                  </a:ext>
                </a:extLst>
              </p:cNvPr>
              <p:cNvSpPr>
                <a:spLocks noChangeArrowheads="1"/>
              </p:cNvSpPr>
              <p:nvPr/>
            </p:nvSpPr>
            <p:spPr bwMode="auto">
              <a:xfrm>
                <a:off x="410" y="2781"/>
                <a:ext cx="156" cy="31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9" name="Rectangle 152">
                <a:extLst>
                  <a:ext uri="{FF2B5EF4-FFF2-40B4-BE49-F238E27FC236}">
                    <a16:creationId xmlns:a16="http://schemas.microsoft.com/office/drawing/2014/main" id="{40BF42C3-12C7-480A-AC83-6EC4420BEAD2}"/>
                  </a:ext>
                </a:extLst>
              </p:cNvPr>
              <p:cNvSpPr>
                <a:spLocks noChangeArrowheads="1"/>
              </p:cNvSpPr>
              <p:nvPr/>
            </p:nvSpPr>
            <p:spPr bwMode="auto">
              <a:xfrm>
                <a:off x="566" y="2937"/>
                <a:ext cx="156" cy="156"/>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0" name="Rectangle 153">
                <a:extLst>
                  <a:ext uri="{FF2B5EF4-FFF2-40B4-BE49-F238E27FC236}">
                    <a16:creationId xmlns:a16="http://schemas.microsoft.com/office/drawing/2014/main" id="{D4EA2719-8FB2-4979-B741-44FE4B493E66}"/>
                  </a:ext>
                </a:extLst>
              </p:cNvPr>
              <p:cNvSpPr>
                <a:spLocks noChangeArrowheads="1"/>
              </p:cNvSpPr>
              <p:nvPr/>
            </p:nvSpPr>
            <p:spPr bwMode="auto">
              <a:xfrm>
                <a:off x="449" y="2830"/>
                <a:ext cx="29"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1" name="Rectangle 154">
                <a:extLst>
                  <a:ext uri="{FF2B5EF4-FFF2-40B4-BE49-F238E27FC236}">
                    <a16:creationId xmlns:a16="http://schemas.microsoft.com/office/drawing/2014/main" id="{4D4ABD1C-9EDE-4760-8E91-587FF75C2AF9}"/>
                  </a:ext>
                </a:extLst>
              </p:cNvPr>
              <p:cNvSpPr>
                <a:spLocks noChangeArrowheads="1"/>
              </p:cNvSpPr>
              <p:nvPr/>
            </p:nvSpPr>
            <p:spPr bwMode="auto">
              <a:xfrm>
                <a:off x="498" y="2830"/>
                <a:ext cx="29"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2" name="Rectangle 155">
                <a:extLst>
                  <a:ext uri="{FF2B5EF4-FFF2-40B4-BE49-F238E27FC236}">
                    <a16:creationId xmlns:a16="http://schemas.microsoft.com/office/drawing/2014/main" id="{08B11885-4899-4D6D-9B71-83D2B7D0931D}"/>
                  </a:ext>
                </a:extLst>
              </p:cNvPr>
              <p:cNvSpPr>
                <a:spLocks noChangeArrowheads="1"/>
              </p:cNvSpPr>
              <p:nvPr/>
            </p:nvSpPr>
            <p:spPr bwMode="auto">
              <a:xfrm>
                <a:off x="449" y="2878"/>
                <a:ext cx="29" cy="3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3" name="Rectangle 156">
                <a:extLst>
                  <a:ext uri="{FF2B5EF4-FFF2-40B4-BE49-F238E27FC236}">
                    <a16:creationId xmlns:a16="http://schemas.microsoft.com/office/drawing/2014/main" id="{2BA60EE7-E86E-449C-8C7A-99C6B050E80D}"/>
                  </a:ext>
                </a:extLst>
              </p:cNvPr>
              <p:cNvSpPr>
                <a:spLocks noChangeArrowheads="1"/>
              </p:cNvSpPr>
              <p:nvPr/>
            </p:nvSpPr>
            <p:spPr bwMode="auto">
              <a:xfrm>
                <a:off x="498" y="2878"/>
                <a:ext cx="29" cy="3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4" name="Rectangle 157">
                <a:extLst>
                  <a:ext uri="{FF2B5EF4-FFF2-40B4-BE49-F238E27FC236}">
                    <a16:creationId xmlns:a16="http://schemas.microsoft.com/office/drawing/2014/main" id="{9DE84B55-14A2-4A94-8E78-5DF28B4B5330}"/>
                  </a:ext>
                </a:extLst>
              </p:cNvPr>
              <p:cNvSpPr>
                <a:spLocks noChangeArrowheads="1"/>
              </p:cNvSpPr>
              <p:nvPr/>
            </p:nvSpPr>
            <p:spPr bwMode="auto">
              <a:xfrm>
                <a:off x="449" y="2927"/>
                <a:ext cx="29" cy="3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5" name="Rectangle 158">
                <a:extLst>
                  <a:ext uri="{FF2B5EF4-FFF2-40B4-BE49-F238E27FC236}">
                    <a16:creationId xmlns:a16="http://schemas.microsoft.com/office/drawing/2014/main" id="{3BAC4F53-064F-4352-9F25-BE31421E8FD9}"/>
                  </a:ext>
                </a:extLst>
              </p:cNvPr>
              <p:cNvSpPr>
                <a:spLocks noChangeArrowheads="1"/>
              </p:cNvSpPr>
              <p:nvPr/>
            </p:nvSpPr>
            <p:spPr bwMode="auto">
              <a:xfrm>
                <a:off x="498" y="2927"/>
                <a:ext cx="29" cy="3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6" name="Rectangle 159">
                <a:extLst>
                  <a:ext uri="{FF2B5EF4-FFF2-40B4-BE49-F238E27FC236}">
                    <a16:creationId xmlns:a16="http://schemas.microsoft.com/office/drawing/2014/main" id="{D3BBAC68-8B77-489D-AB6D-04AFA7CBF091}"/>
                  </a:ext>
                </a:extLst>
              </p:cNvPr>
              <p:cNvSpPr>
                <a:spLocks noChangeArrowheads="1"/>
              </p:cNvSpPr>
              <p:nvPr/>
            </p:nvSpPr>
            <p:spPr bwMode="auto">
              <a:xfrm>
                <a:off x="449" y="2976"/>
                <a:ext cx="29"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7" name="Rectangle 160">
                <a:extLst>
                  <a:ext uri="{FF2B5EF4-FFF2-40B4-BE49-F238E27FC236}">
                    <a16:creationId xmlns:a16="http://schemas.microsoft.com/office/drawing/2014/main" id="{5ABA3559-27CD-4E22-A249-DE4433B6F0B2}"/>
                  </a:ext>
                </a:extLst>
              </p:cNvPr>
              <p:cNvSpPr>
                <a:spLocks noChangeArrowheads="1"/>
              </p:cNvSpPr>
              <p:nvPr/>
            </p:nvSpPr>
            <p:spPr bwMode="auto">
              <a:xfrm>
                <a:off x="498" y="2976"/>
                <a:ext cx="29"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8" name="Rectangle 161">
                <a:extLst>
                  <a:ext uri="{FF2B5EF4-FFF2-40B4-BE49-F238E27FC236}">
                    <a16:creationId xmlns:a16="http://schemas.microsoft.com/office/drawing/2014/main" id="{75C31DE8-80BA-432F-AA70-0746DD263E99}"/>
                  </a:ext>
                </a:extLst>
              </p:cNvPr>
              <p:cNvSpPr>
                <a:spLocks noChangeArrowheads="1"/>
              </p:cNvSpPr>
              <p:nvPr/>
            </p:nvSpPr>
            <p:spPr bwMode="auto">
              <a:xfrm>
                <a:off x="469" y="3054"/>
                <a:ext cx="39" cy="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9" name="Rectangle 162">
                <a:extLst>
                  <a:ext uri="{FF2B5EF4-FFF2-40B4-BE49-F238E27FC236}">
                    <a16:creationId xmlns:a16="http://schemas.microsoft.com/office/drawing/2014/main" id="{0787C6C9-385A-4BAF-88B0-1E203D767A19}"/>
                  </a:ext>
                </a:extLst>
              </p:cNvPr>
              <p:cNvSpPr>
                <a:spLocks noChangeArrowheads="1"/>
              </p:cNvSpPr>
              <p:nvPr/>
            </p:nvSpPr>
            <p:spPr bwMode="auto">
              <a:xfrm>
                <a:off x="605" y="2976"/>
                <a:ext cx="29"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0" name="Rectangle 163">
                <a:extLst>
                  <a:ext uri="{FF2B5EF4-FFF2-40B4-BE49-F238E27FC236}">
                    <a16:creationId xmlns:a16="http://schemas.microsoft.com/office/drawing/2014/main" id="{0356AB48-DD89-4DF8-A8A1-1C9F2DF68559}"/>
                  </a:ext>
                </a:extLst>
              </p:cNvPr>
              <p:cNvSpPr>
                <a:spLocks noChangeArrowheads="1"/>
              </p:cNvSpPr>
              <p:nvPr/>
            </p:nvSpPr>
            <p:spPr bwMode="auto">
              <a:xfrm>
                <a:off x="654" y="2976"/>
                <a:ext cx="29"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1" name="Rectangle 164">
                <a:extLst>
                  <a:ext uri="{FF2B5EF4-FFF2-40B4-BE49-F238E27FC236}">
                    <a16:creationId xmlns:a16="http://schemas.microsoft.com/office/drawing/2014/main" id="{26A27C89-4812-475B-99B3-9ED9C4C50CB8}"/>
                  </a:ext>
                </a:extLst>
              </p:cNvPr>
              <p:cNvSpPr>
                <a:spLocks noChangeArrowheads="1"/>
              </p:cNvSpPr>
              <p:nvPr/>
            </p:nvSpPr>
            <p:spPr bwMode="auto">
              <a:xfrm>
                <a:off x="625" y="3054"/>
                <a:ext cx="39" cy="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2" name="Oval 165">
                <a:extLst>
                  <a:ext uri="{FF2B5EF4-FFF2-40B4-BE49-F238E27FC236}">
                    <a16:creationId xmlns:a16="http://schemas.microsoft.com/office/drawing/2014/main" id="{D1FE0342-5BC6-42C7-A204-23342CA5D484}"/>
                  </a:ext>
                </a:extLst>
              </p:cNvPr>
              <p:cNvSpPr>
                <a:spLocks noChangeArrowheads="1"/>
              </p:cNvSpPr>
              <p:nvPr/>
            </p:nvSpPr>
            <p:spPr bwMode="auto">
              <a:xfrm>
                <a:off x="605" y="2830"/>
                <a:ext cx="59" cy="5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3" name="Freeform 166">
                <a:extLst>
                  <a:ext uri="{FF2B5EF4-FFF2-40B4-BE49-F238E27FC236}">
                    <a16:creationId xmlns:a16="http://schemas.microsoft.com/office/drawing/2014/main" id="{8226094F-3A8B-4FF1-9698-B7D30F193967}"/>
                  </a:ext>
                </a:extLst>
              </p:cNvPr>
              <p:cNvSpPr>
                <a:spLocks/>
              </p:cNvSpPr>
              <p:nvPr/>
            </p:nvSpPr>
            <p:spPr bwMode="auto">
              <a:xfrm>
                <a:off x="595" y="2866"/>
                <a:ext cx="98" cy="22"/>
              </a:xfrm>
              <a:custGeom>
                <a:avLst/>
                <a:gdLst>
                  <a:gd name="T0" fmla="*/ 378 w 426"/>
                  <a:gd name="T1" fmla="*/ 96 h 96"/>
                  <a:gd name="T2" fmla="*/ 48 w 426"/>
                  <a:gd name="T3" fmla="*/ 96 h 96"/>
                  <a:gd name="T4" fmla="*/ 0 w 426"/>
                  <a:gd name="T5" fmla="*/ 48 h 96"/>
                  <a:gd name="T6" fmla="*/ 0 w 426"/>
                  <a:gd name="T7" fmla="*/ 48 h 96"/>
                  <a:gd name="T8" fmla="*/ 48 w 426"/>
                  <a:gd name="T9" fmla="*/ 0 h 96"/>
                  <a:gd name="T10" fmla="*/ 378 w 426"/>
                  <a:gd name="T11" fmla="*/ 0 h 96"/>
                  <a:gd name="T12" fmla="*/ 426 w 426"/>
                  <a:gd name="T13" fmla="*/ 48 h 96"/>
                  <a:gd name="T14" fmla="*/ 426 w 426"/>
                  <a:gd name="T15" fmla="*/ 48 h 96"/>
                  <a:gd name="T16" fmla="*/ 378 w 426"/>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96">
                    <a:moveTo>
                      <a:pt x="378" y="96"/>
                    </a:moveTo>
                    <a:cubicBezTo>
                      <a:pt x="48" y="96"/>
                      <a:pt x="48" y="96"/>
                      <a:pt x="48" y="96"/>
                    </a:cubicBezTo>
                    <a:cubicBezTo>
                      <a:pt x="21" y="96"/>
                      <a:pt x="0" y="75"/>
                      <a:pt x="0" y="48"/>
                    </a:cubicBezTo>
                    <a:cubicBezTo>
                      <a:pt x="0" y="48"/>
                      <a:pt x="0" y="48"/>
                      <a:pt x="0" y="48"/>
                    </a:cubicBezTo>
                    <a:cubicBezTo>
                      <a:pt x="0" y="21"/>
                      <a:pt x="21" y="0"/>
                      <a:pt x="48" y="0"/>
                    </a:cubicBezTo>
                    <a:cubicBezTo>
                      <a:pt x="378" y="0"/>
                      <a:pt x="378" y="0"/>
                      <a:pt x="378" y="0"/>
                    </a:cubicBezTo>
                    <a:cubicBezTo>
                      <a:pt x="405" y="0"/>
                      <a:pt x="426" y="21"/>
                      <a:pt x="426" y="48"/>
                    </a:cubicBezTo>
                    <a:cubicBezTo>
                      <a:pt x="426" y="48"/>
                      <a:pt x="426" y="48"/>
                      <a:pt x="426" y="48"/>
                    </a:cubicBezTo>
                    <a:cubicBezTo>
                      <a:pt x="426" y="75"/>
                      <a:pt x="405" y="96"/>
                      <a:pt x="378" y="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4" name="Oval 167">
                <a:extLst>
                  <a:ext uri="{FF2B5EF4-FFF2-40B4-BE49-F238E27FC236}">
                    <a16:creationId xmlns:a16="http://schemas.microsoft.com/office/drawing/2014/main" id="{DD0C44C4-B4B9-44C4-9754-90CC5CE9C0C8}"/>
                  </a:ext>
                </a:extLst>
              </p:cNvPr>
              <p:cNvSpPr>
                <a:spLocks noChangeArrowheads="1"/>
              </p:cNvSpPr>
              <p:nvPr/>
            </p:nvSpPr>
            <p:spPr bwMode="auto">
              <a:xfrm>
                <a:off x="644" y="2840"/>
                <a:ext cx="39" cy="3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96" name="Freeform 6">
              <a:extLst>
                <a:ext uri="{FF2B5EF4-FFF2-40B4-BE49-F238E27FC236}">
                  <a16:creationId xmlns:a16="http://schemas.microsoft.com/office/drawing/2014/main" id="{EECDB30C-9268-4FDA-AD3E-C093310F9C2B}"/>
                </a:ext>
              </a:extLst>
            </p:cNvPr>
            <p:cNvSpPr>
              <a:spLocks/>
            </p:cNvSpPr>
            <p:nvPr/>
          </p:nvSpPr>
          <p:spPr bwMode="auto">
            <a:xfrm>
              <a:off x="1465223" y="2692715"/>
              <a:ext cx="1220560" cy="1216649"/>
            </a:xfrm>
            <a:custGeom>
              <a:avLst/>
              <a:gdLst>
                <a:gd name="T0" fmla="*/ 682 w 1365"/>
                <a:gd name="T1" fmla="*/ 1364 h 1364"/>
                <a:gd name="T2" fmla="*/ 0 w 1365"/>
                <a:gd name="T3" fmla="*/ 682 h 1364"/>
                <a:gd name="T4" fmla="*/ 682 w 1365"/>
                <a:gd name="T5" fmla="*/ 0 h 1364"/>
                <a:gd name="T6" fmla="*/ 1280 w 1365"/>
                <a:gd name="T7" fmla="*/ 352 h 1364"/>
                <a:gd name="T8" fmla="*/ 1311 w 1365"/>
                <a:gd name="T9" fmla="*/ 408 h 1364"/>
                <a:gd name="T10" fmla="*/ 1199 w 1365"/>
                <a:gd name="T11" fmla="*/ 470 h 1364"/>
                <a:gd name="T12" fmla="*/ 1168 w 1365"/>
                <a:gd name="T13" fmla="*/ 414 h 1364"/>
                <a:gd name="T14" fmla="*/ 682 w 1365"/>
                <a:gd name="T15" fmla="*/ 128 h 1364"/>
                <a:gd name="T16" fmla="*/ 128 w 1365"/>
                <a:gd name="T17" fmla="*/ 682 h 1364"/>
                <a:gd name="T18" fmla="*/ 682 w 1365"/>
                <a:gd name="T19" fmla="*/ 1236 h 1364"/>
                <a:gd name="T20" fmla="*/ 1237 w 1365"/>
                <a:gd name="T21" fmla="*/ 682 h 1364"/>
                <a:gd name="T22" fmla="*/ 1237 w 1365"/>
                <a:gd name="T23" fmla="*/ 682 h 1364"/>
                <a:gd name="T24" fmla="*/ 1365 w 1365"/>
                <a:gd name="T25" fmla="*/ 682 h 1364"/>
                <a:gd name="T26" fmla="*/ 1365 w 1365"/>
                <a:gd name="T27" fmla="*/ 682 h 1364"/>
                <a:gd name="T28" fmla="*/ 682 w 1365"/>
                <a:gd name="T29" fmla="*/ 1364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65" h="1364">
                  <a:moveTo>
                    <a:pt x="682" y="1364"/>
                  </a:moveTo>
                  <a:cubicBezTo>
                    <a:pt x="306" y="1364"/>
                    <a:pt x="0" y="1058"/>
                    <a:pt x="0" y="682"/>
                  </a:cubicBezTo>
                  <a:cubicBezTo>
                    <a:pt x="0" y="306"/>
                    <a:pt x="306" y="0"/>
                    <a:pt x="682" y="0"/>
                  </a:cubicBezTo>
                  <a:cubicBezTo>
                    <a:pt x="931" y="0"/>
                    <a:pt x="1160" y="135"/>
                    <a:pt x="1280" y="352"/>
                  </a:cubicBezTo>
                  <a:cubicBezTo>
                    <a:pt x="1311" y="408"/>
                    <a:pt x="1311" y="408"/>
                    <a:pt x="1311" y="408"/>
                  </a:cubicBezTo>
                  <a:cubicBezTo>
                    <a:pt x="1199" y="470"/>
                    <a:pt x="1199" y="470"/>
                    <a:pt x="1199" y="470"/>
                  </a:cubicBezTo>
                  <a:cubicBezTo>
                    <a:pt x="1168" y="414"/>
                    <a:pt x="1168" y="414"/>
                    <a:pt x="1168" y="414"/>
                  </a:cubicBezTo>
                  <a:cubicBezTo>
                    <a:pt x="1070" y="237"/>
                    <a:pt x="884" y="128"/>
                    <a:pt x="682" y="128"/>
                  </a:cubicBezTo>
                  <a:cubicBezTo>
                    <a:pt x="377" y="128"/>
                    <a:pt x="128" y="376"/>
                    <a:pt x="128" y="682"/>
                  </a:cubicBezTo>
                  <a:cubicBezTo>
                    <a:pt x="128" y="988"/>
                    <a:pt x="377" y="1236"/>
                    <a:pt x="682" y="1236"/>
                  </a:cubicBezTo>
                  <a:cubicBezTo>
                    <a:pt x="988" y="1236"/>
                    <a:pt x="1237" y="988"/>
                    <a:pt x="1237" y="682"/>
                  </a:cubicBezTo>
                  <a:cubicBezTo>
                    <a:pt x="1237" y="682"/>
                    <a:pt x="1237" y="682"/>
                    <a:pt x="1237" y="682"/>
                  </a:cubicBezTo>
                  <a:cubicBezTo>
                    <a:pt x="1365" y="682"/>
                    <a:pt x="1365" y="682"/>
                    <a:pt x="1365" y="682"/>
                  </a:cubicBezTo>
                  <a:cubicBezTo>
                    <a:pt x="1365" y="682"/>
                    <a:pt x="1365" y="682"/>
                    <a:pt x="1365" y="682"/>
                  </a:cubicBezTo>
                  <a:cubicBezTo>
                    <a:pt x="1365" y="1058"/>
                    <a:pt x="1059" y="1364"/>
                    <a:pt x="682" y="136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7" name="Freeform 7">
              <a:extLst>
                <a:ext uri="{FF2B5EF4-FFF2-40B4-BE49-F238E27FC236}">
                  <a16:creationId xmlns:a16="http://schemas.microsoft.com/office/drawing/2014/main" id="{BAABEC1F-1A08-48BE-A26F-05F541BE9994}"/>
                </a:ext>
              </a:extLst>
            </p:cNvPr>
            <p:cNvSpPr>
              <a:spLocks/>
            </p:cNvSpPr>
            <p:nvPr/>
          </p:nvSpPr>
          <p:spPr bwMode="auto">
            <a:xfrm>
              <a:off x="2358028" y="2798303"/>
              <a:ext cx="344261" cy="344261"/>
            </a:xfrm>
            <a:custGeom>
              <a:avLst/>
              <a:gdLst>
                <a:gd name="T0" fmla="*/ 0 w 88"/>
                <a:gd name="T1" fmla="*/ 88 h 88"/>
                <a:gd name="T2" fmla="*/ 0 w 88"/>
                <a:gd name="T3" fmla="*/ 59 h 88"/>
                <a:gd name="T4" fmla="*/ 59 w 88"/>
                <a:gd name="T5" fmla="*/ 59 h 88"/>
                <a:gd name="T6" fmla="*/ 59 w 88"/>
                <a:gd name="T7" fmla="*/ 0 h 88"/>
                <a:gd name="T8" fmla="*/ 88 w 88"/>
                <a:gd name="T9" fmla="*/ 0 h 88"/>
                <a:gd name="T10" fmla="*/ 88 w 88"/>
                <a:gd name="T11" fmla="*/ 88 h 88"/>
                <a:gd name="T12" fmla="*/ 0 w 88"/>
                <a:gd name="T13" fmla="*/ 88 h 88"/>
              </a:gdLst>
              <a:ahLst/>
              <a:cxnLst>
                <a:cxn ang="0">
                  <a:pos x="T0" y="T1"/>
                </a:cxn>
                <a:cxn ang="0">
                  <a:pos x="T2" y="T3"/>
                </a:cxn>
                <a:cxn ang="0">
                  <a:pos x="T4" y="T5"/>
                </a:cxn>
                <a:cxn ang="0">
                  <a:pos x="T6" y="T7"/>
                </a:cxn>
                <a:cxn ang="0">
                  <a:pos x="T8" y="T9"/>
                </a:cxn>
                <a:cxn ang="0">
                  <a:pos x="T10" y="T11"/>
                </a:cxn>
                <a:cxn ang="0">
                  <a:pos x="T12" y="T13"/>
                </a:cxn>
              </a:cxnLst>
              <a:rect l="0" t="0" r="r" b="b"/>
              <a:pathLst>
                <a:path w="88" h="88">
                  <a:moveTo>
                    <a:pt x="0" y="88"/>
                  </a:moveTo>
                  <a:lnTo>
                    <a:pt x="0" y="59"/>
                  </a:lnTo>
                  <a:lnTo>
                    <a:pt x="59" y="59"/>
                  </a:lnTo>
                  <a:lnTo>
                    <a:pt x="59" y="0"/>
                  </a:lnTo>
                  <a:lnTo>
                    <a:pt x="88" y="0"/>
                  </a:lnTo>
                  <a:lnTo>
                    <a:pt x="88" y="88"/>
                  </a:lnTo>
                  <a:lnTo>
                    <a:pt x="0" y="8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4" name="Text Placeholder 3"/>
          <p:cNvSpPr>
            <a:spLocks noGrp="1"/>
          </p:cNvSpPr>
          <p:nvPr>
            <p:ph type="body" sz="quarter" idx="10"/>
          </p:nvPr>
        </p:nvSpPr>
        <p:spPr>
          <a:xfrm>
            <a:off x="4835836" y="1724900"/>
            <a:ext cx="5209864" cy="430887"/>
          </a:xfrm>
        </p:spPr>
        <p:txBody>
          <a:bodyPr wrap="square" lIns="0" tIns="0" rIns="0" bIns="0">
            <a:spAutoFit/>
          </a:bodyPr>
          <a:lstStyle/>
          <a:p>
            <a:pPr marL="0" lvl="1"/>
            <a:r>
              <a:rPr lang="en-US" sz="1400"/>
              <a:t>Maximize existing investments in on-premises licenses with discounted rates on Azure SQL Database. Save up to 59% vs. AWS.</a:t>
            </a:r>
          </a:p>
        </p:txBody>
      </p:sp>
      <p:sp>
        <p:nvSpPr>
          <p:cNvPr id="6" name="Rectangle 5">
            <a:extLst>
              <a:ext uri="{FF2B5EF4-FFF2-40B4-BE49-F238E27FC236}">
                <a16:creationId xmlns:a16="http://schemas.microsoft.com/office/drawing/2014/main" id="{777C615E-B799-4FA8-9E2A-219F75C638BB}"/>
              </a:ext>
            </a:extLst>
          </p:cNvPr>
          <p:cNvSpPr/>
          <p:nvPr/>
        </p:nvSpPr>
        <p:spPr>
          <a:xfrm>
            <a:off x="588263" y="3105462"/>
            <a:ext cx="2834640" cy="280782"/>
          </a:xfrm>
          <a:prstGeom prst="rect">
            <a:avLst/>
          </a:prstGeom>
        </p:spPr>
        <p:txBody>
          <a:bodyPr wrap="none" lIns="0" tIns="0" rIns="0" bIns="0">
            <a:spAutoFit/>
          </a:bodyPr>
          <a:lstStyle/>
          <a:p>
            <a:pPr marL="0" marR="0" lvl="0" indent="0" algn="l" defTabSz="932742" rtl="0" eaLnBrk="1" fontAlgn="auto" latinLnBrk="0" hangingPunct="1">
              <a:lnSpc>
                <a:spcPct val="110000"/>
              </a:lnSpc>
              <a:spcBef>
                <a:spcPts val="1200"/>
              </a:spcBef>
              <a:spcAft>
                <a:spcPts val="0"/>
              </a:spcAft>
              <a:buClrTx/>
              <a:buSzPct val="90000"/>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Segoe UI Semilight" panose="020B0402040204020203" pitchFamily="34" charset="0"/>
              </a:rPr>
              <a:t>Reserved capacity </a:t>
            </a:r>
          </a:p>
        </p:txBody>
      </p:sp>
      <p:grpSp>
        <p:nvGrpSpPr>
          <p:cNvPr id="98" name="Group 10" descr="bars going down with money symbol">
            <a:extLst>
              <a:ext uri="{FF2B5EF4-FFF2-40B4-BE49-F238E27FC236}">
                <a16:creationId xmlns:a16="http://schemas.microsoft.com/office/drawing/2014/main" id="{36302876-2738-453E-A79E-6C9EE6BA0FB7}"/>
              </a:ext>
            </a:extLst>
          </p:cNvPr>
          <p:cNvGrpSpPr>
            <a:grpSpLocks noChangeAspect="1"/>
          </p:cNvGrpSpPr>
          <p:nvPr/>
        </p:nvGrpSpPr>
        <p:grpSpPr bwMode="auto">
          <a:xfrm>
            <a:off x="3843335" y="2937627"/>
            <a:ext cx="524482" cy="599406"/>
            <a:chOff x="1033" y="999"/>
            <a:chExt cx="273" cy="312"/>
          </a:xfrm>
        </p:grpSpPr>
        <p:sp>
          <p:nvSpPr>
            <p:cNvPr id="99" name="Rectangle 11">
              <a:extLst>
                <a:ext uri="{FF2B5EF4-FFF2-40B4-BE49-F238E27FC236}">
                  <a16:creationId xmlns:a16="http://schemas.microsoft.com/office/drawing/2014/main" id="{B0A8CF4D-82F8-42CD-8106-FCABE55C1522}"/>
                </a:ext>
              </a:extLst>
            </p:cNvPr>
            <p:cNvSpPr>
              <a:spLocks noChangeArrowheads="1"/>
            </p:cNvSpPr>
            <p:nvPr/>
          </p:nvSpPr>
          <p:spPr bwMode="auto">
            <a:xfrm>
              <a:off x="1277" y="1243"/>
              <a:ext cx="29" cy="6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00" name="Rectangle 12">
              <a:extLst>
                <a:ext uri="{FF2B5EF4-FFF2-40B4-BE49-F238E27FC236}">
                  <a16:creationId xmlns:a16="http://schemas.microsoft.com/office/drawing/2014/main" id="{ADAF2E1F-0DB9-4D4D-A962-F2CADD9D2813}"/>
                </a:ext>
              </a:extLst>
            </p:cNvPr>
            <p:cNvSpPr>
              <a:spLocks noChangeArrowheads="1"/>
            </p:cNvSpPr>
            <p:nvPr/>
          </p:nvSpPr>
          <p:spPr bwMode="auto">
            <a:xfrm>
              <a:off x="1228" y="1194"/>
              <a:ext cx="29" cy="11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01" name="Rectangle 13">
              <a:extLst>
                <a:ext uri="{FF2B5EF4-FFF2-40B4-BE49-F238E27FC236}">
                  <a16:creationId xmlns:a16="http://schemas.microsoft.com/office/drawing/2014/main" id="{B24E11AE-E6B2-496D-9BDD-6C107CE76499}"/>
                </a:ext>
              </a:extLst>
            </p:cNvPr>
            <p:cNvSpPr>
              <a:spLocks noChangeArrowheads="1"/>
            </p:cNvSpPr>
            <p:nvPr/>
          </p:nvSpPr>
          <p:spPr bwMode="auto">
            <a:xfrm>
              <a:off x="1179" y="1145"/>
              <a:ext cx="30" cy="16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02" name="Rectangle 14">
              <a:extLst>
                <a:ext uri="{FF2B5EF4-FFF2-40B4-BE49-F238E27FC236}">
                  <a16:creationId xmlns:a16="http://schemas.microsoft.com/office/drawing/2014/main" id="{D7D79767-CE67-4EFD-B483-D050B7C29C2B}"/>
                </a:ext>
              </a:extLst>
            </p:cNvPr>
            <p:cNvSpPr>
              <a:spLocks noChangeArrowheads="1"/>
            </p:cNvSpPr>
            <p:nvPr/>
          </p:nvSpPr>
          <p:spPr bwMode="auto">
            <a:xfrm>
              <a:off x="1131" y="1097"/>
              <a:ext cx="29" cy="21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03" name="Rectangle 15">
              <a:extLst>
                <a:ext uri="{FF2B5EF4-FFF2-40B4-BE49-F238E27FC236}">
                  <a16:creationId xmlns:a16="http://schemas.microsoft.com/office/drawing/2014/main" id="{0D1C2EA7-829F-415F-87DF-371B8918D5F7}"/>
                </a:ext>
              </a:extLst>
            </p:cNvPr>
            <p:cNvSpPr>
              <a:spLocks noChangeArrowheads="1"/>
            </p:cNvSpPr>
            <p:nvPr/>
          </p:nvSpPr>
          <p:spPr bwMode="auto">
            <a:xfrm>
              <a:off x="1082" y="1048"/>
              <a:ext cx="29" cy="2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04" name="Rectangle 16">
              <a:extLst>
                <a:ext uri="{FF2B5EF4-FFF2-40B4-BE49-F238E27FC236}">
                  <a16:creationId xmlns:a16="http://schemas.microsoft.com/office/drawing/2014/main" id="{E86C2B78-72FE-408C-9A5B-50C1625C2002}"/>
                </a:ext>
              </a:extLst>
            </p:cNvPr>
            <p:cNvSpPr>
              <a:spLocks noChangeArrowheads="1"/>
            </p:cNvSpPr>
            <p:nvPr/>
          </p:nvSpPr>
          <p:spPr bwMode="auto">
            <a:xfrm>
              <a:off x="1033" y="999"/>
              <a:ext cx="29" cy="31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05" name="Freeform 17">
              <a:extLst>
                <a:ext uri="{FF2B5EF4-FFF2-40B4-BE49-F238E27FC236}">
                  <a16:creationId xmlns:a16="http://schemas.microsoft.com/office/drawing/2014/main" id="{DD717133-188B-46A3-8E08-796B06DB8201}"/>
                </a:ext>
              </a:extLst>
            </p:cNvPr>
            <p:cNvSpPr>
              <a:spLocks noEditPoints="1"/>
            </p:cNvSpPr>
            <p:nvPr/>
          </p:nvSpPr>
          <p:spPr bwMode="auto">
            <a:xfrm>
              <a:off x="1228" y="999"/>
              <a:ext cx="78" cy="151"/>
            </a:xfrm>
            <a:custGeom>
              <a:avLst/>
              <a:gdLst>
                <a:gd name="T0" fmla="*/ 339 w 339"/>
                <a:gd name="T1" fmla="*/ 440 h 662"/>
                <a:gd name="T2" fmla="*/ 303 w 339"/>
                <a:gd name="T3" fmla="*/ 534 h 662"/>
                <a:gd name="T4" fmla="*/ 195 w 339"/>
                <a:gd name="T5" fmla="*/ 578 h 662"/>
                <a:gd name="T6" fmla="*/ 195 w 339"/>
                <a:gd name="T7" fmla="*/ 662 h 662"/>
                <a:gd name="T8" fmla="*/ 144 w 339"/>
                <a:gd name="T9" fmla="*/ 662 h 662"/>
                <a:gd name="T10" fmla="*/ 144 w 339"/>
                <a:gd name="T11" fmla="*/ 580 h 662"/>
                <a:gd name="T12" fmla="*/ 10 w 339"/>
                <a:gd name="T13" fmla="*/ 547 h 662"/>
                <a:gd name="T14" fmla="*/ 10 w 339"/>
                <a:gd name="T15" fmla="*/ 450 h 662"/>
                <a:gd name="T16" fmla="*/ 71 w 339"/>
                <a:gd name="T17" fmla="*/ 480 h 662"/>
                <a:gd name="T18" fmla="*/ 144 w 339"/>
                <a:gd name="T19" fmla="*/ 497 h 662"/>
                <a:gd name="T20" fmla="*/ 144 w 339"/>
                <a:gd name="T21" fmla="*/ 368 h 662"/>
                <a:gd name="T22" fmla="*/ 33 w 339"/>
                <a:gd name="T23" fmla="*/ 305 h 662"/>
                <a:gd name="T24" fmla="*/ 0 w 339"/>
                <a:gd name="T25" fmla="*/ 214 h 662"/>
                <a:gd name="T26" fmla="*/ 40 w 339"/>
                <a:gd name="T27" fmla="*/ 119 h 662"/>
                <a:gd name="T28" fmla="*/ 144 w 339"/>
                <a:gd name="T29" fmla="*/ 74 h 662"/>
                <a:gd name="T30" fmla="*/ 144 w 339"/>
                <a:gd name="T31" fmla="*/ 0 h 662"/>
                <a:gd name="T32" fmla="*/ 195 w 339"/>
                <a:gd name="T33" fmla="*/ 0 h 662"/>
                <a:gd name="T34" fmla="*/ 195 w 339"/>
                <a:gd name="T35" fmla="*/ 73 h 662"/>
                <a:gd name="T36" fmla="*/ 306 w 339"/>
                <a:gd name="T37" fmla="*/ 97 h 662"/>
                <a:gd name="T38" fmla="*/ 306 w 339"/>
                <a:gd name="T39" fmla="*/ 192 h 662"/>
                <a:gd name="T40" fmla="*/ 195 w 339"/>
                <a:gd name="T41" fmla="*/ 155 h 662"/>
                <a:gd name="T42" fmla="*/ 195 w 339"/>
                <a:gd name="T43" fmla="*/ 289 h 662"/>
                <a:gd name="T44" fmla="*/ 306 w 339"/>
                <a:gd name="T45" fmla="*/ 353 h 662"/>
                <a:gd name="T46" fmla="*/ 339 w 339"/>
                <a:gd name="T47" fmla="*/ 440 h 662"/>
                <a:gd name="T48" fmla="*/ 144 w 339"/>
                <a:gd name="T49" fmla="*/ 269 h 662"/>
                <a:gd name="T50" fmla="*/ 144 w 339"/>
                <a:gd name="T51" fmla="*/ 157 h 662"/>
                <a:gd name="T52" fmla="*/ 94 w 339"/>
                <a:gd name="T53" fmla="*/ 208 h 662"/>
                <a:gd name="T54" fmla="*/ 144 w 339"/>
                <a:gd name="T55" fmla="*/ 269 h 662"/>
                <a:gd name="T56" fmla="*/ 246 w 339"/>
                <a:gd name="T57" fmla="*/ 445 h 662"/>
                <a:gd name="T58" fmla="*/ 195 w 339"/>
                <a:gd name="T59" fmla="*/ 388 h 662"/>
                <a:gd name="T60" fmla="*/ 195 w 339"/>
                <a:gd name="T61" fmla="*/ 495 h 662"/>
                <a:gd name="T62" fmla="*/ 246 w 339"/>
                <a:gd name="T63" fmla="*/ 445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9" h="662">
                  <a:moveTo>
                    <a:pt x="339" y="440"/>
                  </a:moveTo>
                  <a:cubicBezTo>
                    <a:pt x="339" y="479"/>
                    <a:pt x="327" y="510"/>
                    <a:pt x="303" y="534"/>
                  </a:cubicBezTo>
                  <a:cubicBezTo>
                    <a:pt x="278" y="558"/>
                    <a:pt x="242" y="572"/>
                    <a:pt x="195" y="578"/>
                  </a:cubicBezTo>
                  <a:cubicBezTo>
                    <a:pt x="195" y="662"/>
                    <a:pt x="195" y="662"/>
                    <a:pt x="195" y="662"/>
                  </a:cubicBezTo>
                  <a:cubicBezTo>
                    <a:pt x="144" y="662"/>
                    <a:pt x="144" y="662"/>
                    <a:pt x="144" y="662"/>
                  </a:cubicBezTo>
                  <a:cubicBezTo>
                    <a:pt x="144" y="580"/>
                    <a:pt x="144" y="580"/>
                    <a:pt x="144" y="580"/>
                  </a:cubicBezTo>
                  <a:cubicBezTo>
                    <a:pt x="95" y="579"/>
                    <a:pt x="51" y="569"/>
                    <a:pt x="10" y="547"/>
                  </a:cubicBezTo>
                  <a:cubicBezTo>
                    <a:pt x="10" y="450"/>
                    <a:pt x="10" y="450"/>
                    <a:pt x="10" y="450"/>
                  </a:cubicBezTo>
                  <a:cubicBezTo>
                    <a:pt x="23" y="460"/>
                    <a:pt x="43" y="470"/>
                    <a:pt x="71" y="480"/>
                  </a:cubicBezTo>
                  <a:cubicBezTo>
                    <a:pt x="99" y="490"/>
                    <a:pt x="123" y="495"/>
                    <a:pt x="144" y="497"/>
                  </a:cubicBezTo>
                  <a:cubicBezTo>
                    <a:pt x="144" y="368"/>
                    <a:pt x="144" y="368"/>
                    <a:pt x="144" y="368"/>
                  </a:cubicBezTo>
                  <a:cubicBezTo>
                    <a:pt x="91" y="349"/>
                    <a:pt x="55" y="328"/>
                    <a:pt x="33" y="305"/>
                  </a:cubicBezTo>
                  <a:cubicBezTo>
                    <a:pt x="11" y="282"/>
                    <a:pt x="0" y="252"/>
                    <a:pt x="0" y="214"/>
                  </a:cubicBezTo>
                  <a:cubicBezTo>
                    <a:pt x="0" y="177"/>
                    <a:pt x="14" y="145"/>
                    <a:pt x="40" y="119"/>
                  </a:cubicBezTo>
                  <a:cubicBezTo>
                    <a:pt x="67" y="94"/>
                    <a:pt x="101" y="79"/>
                    <a:pt x="144" y="74"/>
                  </a:cubicBezTo>
                  <a:cubicBezTo>
                    <a:pt x="144" y="0"/>
                    <a:pt x="144" y="0"/>
                    <a:pt x="144" y="0"/>
                  </a:cubicBezTo>
                  <a:cubicBezTo>
                    <a:pt x="195" y="0"/>
                    <a:pt x="195" y="0"/>
                    <a:pt x="195" y="0"/>
                  </a:cubicBezTo>
                  <a:cubicBezTo>
                    <a:pt x="195" y="73"/>
                    <a:pt x="195" y="73"/>
                    <a:pt x="195" y="73"/>
                  </a:cubicBezTo>
                  <a:cubicBezTo>
                    <a:pt x="245" y="75"/>
                    <a:pt x="282" y="83"/>
                    <a:pt x="306" y="97"/>
                  </a:cubicBezTo>
                  <a:cubicBezTo>
                    <a:pt x="306" y="192"/>
                    <a:pt x="306" y="192"/>
                    <a:pt x="306" y="192"/>
                  </a:cubicBezTo>
                  <a:cubicBezTo>
                    <a:pt x="274" y="172"/>
                    <a:pt x="236" y="160"/>
                    <a:pt x="195" y="155"/>
                  </a:cubicBezTo>
                  <a:cubicBezTo>
                    <a:pt x="195" y="289"/>
                    <a:pt x="195" y="289"/>
                    <a:pt x="195" y="289"/>
                  </a:cubicBezTo>
                  <a:cubicBezTo>
                    <a:pt x="247" y="308"/>
                    <a:pt x="284" y="329"/>
                    <a:pt x="306" y="353"/>
                  </a:cubicBezTo>
                  <a:cubicBezTo>
                    <a:pt x="328" y="376"/>
                    <a:pt x="339" y="405"/>
                    <a:pt x="339" y="440"/>
                  </a:cubicBezTo>
                  <a:close/>
                  <a:moveTo>
                    <a:pt x="144" y="269"/>
                  </a:moveTo>
                  <a:cubicBezTo>
                    <a:pt x="144" y="157"/>
                    <a:pt x="144" y="157"/>
                    <a:pt x="144" y="157"/>
                  </a:cubicBezTo>
                  <a:cubicBezTo>
                    <a:pt x="111" y="163"/>
                    <a:pt x="94" y="180"/>
                    <a:pt x="94" y="208"/>
                  </a:cubicBezTo>
                  <a:cubicBezTo>
                    <a:pt x="94" y="233"/>
                    <a:pt x="111" y="253"/>
                    <a:pt x="144" y="269"/>
                  </a:cubicBezTo>
                  <a:close/>
                  <a:moveTo>
                    <a:pt x="246" y="445"/>
                  </a:moveTo>
                  <a:cubicBezTo>
                    <a:pt x="246" y="422"/>
                    <a:pt x="229" y="403"/>
                    <a:pt x="195" y="388"/>
                  </a:cubicBezTo>
                  <a:cubicBezTo>
                    <a:pt x="195" y="495"/>
                    <a:pt x="195" y="495"/>
                    <a:pt x="195" y="495"/>
                  </a:cubicBezTo>
                  <a:cubicBezTo>
                    <a:pt x="229" y="490"/>
                    <a:pt x="246" y="473"/>
                    <a:pt x="246" y="445"/>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3" name="Rectangle 2">
            <a:extLst>
              <a:ext uri="{FF2B5EF4-FFF2-40B4-BE49-F238E27FC236}">
                <a16:creationId xmlns:a16="http://schemas.microsoft.com/office/drawing/2014/main" id="{9E638C26-BEE2-44CF-B5C1-ECCA68A3F152}"/>
              </a:ext>
            </a:extLst>
          </p:cNvPr>
          <p:cNvSpPr/>
          <p:nvPr/>
        </p:nvSpPr>
        <p:spPr>
          <a:xfrm>
            <a:off x="4835836" y="3027356"/>
            <a:ext cx="5622129" cy="430887"/>
          </a:xfrm>
          <a:prstGeom prst="rect">
            <a:avLst/>
          </a:prstGeom>
        </p:spPr>
        <p:txBody>
          <a:bodyPr wrap="square" lIns="0" tIns="0" rIns="0" bIns="0">
            <a:spAutoFit/>
          </a:bodyPr>
          <a:lstStyle/>
          <a:p>
            <a:pPr marL="0" marR="0" lvl="1" indent="0" algn="l" defTabSz="93274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1200" cap="none" spc="0" normalizeH="0" baseline="0" noProof="0">
                <a:ln>
                  <a:noFill/>
                </a:ln>
                <a:gradFill>
                  <a:gsLst>
                    <a:gs pos="1250">
                      <a:prstClr val="white"/>
                    </a:gs>
                    <a:gs pos="100000">
                      <a:prstClr val="white"/>
                    </a:gs>
                  </a:gsLst>
                  <a:lin ang="5400000" scaled="0"/>
                </a:gradFill>
                <a:effectLst/>
                <a:uLnTx/>
                <a:uFillTx/>
                <a:latin typeface="Segoe UI"/>
                <a:ea typeface="+mn-ea"/>
                <a:cs typeface="+mn-cs"/>
              </a:rPr>
              <a:t>Reserve Azure SQL resources in advance and save up to 33%. Combine with Azure Hybrid Benefit for savings up to 80%.</a:t>
            </a:r>
          </a:p>
        </p:txBody>
      </p:sp>
      <p:sp>
        <p:nvSpPr>
          <p:cNvPr id="8" name="Rectangle 7">
            <a:extLst>
              <a:ext uri="{FF2B5EF4-FFF2-40B4-BE49-F238E27FC236}">
                <a16:creationId xmlns:a16="http://schemas.microsoft.com/office/drawing/2014/main" id="{870ADB63-F103-4083-9DC9-CE443E2E55B1}"/>
              </a:ext>
            </a:extLst>
          </p:cNvPr>
          <p:cNvSpPr/>
          <p:nvPr/>
        </p:nvSpPr>
        <p:spPr>
          <a:xfrm>
            <a:off x="588263" y="4410972"/>
            <a:ext cx="2834640" cy="280782"/>
          </a:xfrm>
          <a:prstGeom prst="rect">
            <a:avLst/>
          </a:prstGeom>
        </p:spPr>
        <p:txBody>
          <a:bodyPr wrap="none" lIns="0" tIns="0" rIns="0" bIns="0">
            <a:spAutoFit/>
          </a:bodyPr>
          <a:lstStyle/>
          <a:p>
            <a:pPr marL="0" marR="0" lvl="0" indent="0" algn="l" defTabSz="932742" rtl="0" eaLnBrk="1" fontAlgn="auto" latinLnBrk="0" hangingPunct="1">
              <a:lnSpc>
                <a:spcPct val="110000"/>
              </a:lnSpc>
              <a:spcBef>
                <a:spcPts val="1200"/>
              </a:spcBef>
              <a:spcAft>
                <a:spcPts val="0"/>
              </a:spcAft>
              <a:buClrTx/>
              <a:buSzPct val="90000"/>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Segoe UI Semilight" panose="020B0402040204020203" pitchFamily="34" charset="0"/>
              </a:rPr>
              <a:t>Dev/test pricing </a:t>
            </a:r>
          </a:p>
        </p:txBody>
      </p:sp>
      <p:grpSp>
        <p:nvGrpSpPr>
          <p:cNvPr id="62" name="Group 20" descr="gears with money symbol">
            <a:extLst>
              <a:ext uri="{FF2B5EF4-FFF2-40B4-BE49-F238E27FC236}">
                <a16:creationId xmlns:a16="http://schemas.microsoft.com/office/drawing/2014/main" id="{3E40D1A0-A3B7-43E3-BDC0-25613CC5A2D6}"/>
              </a:ext>
            </a:extLst>
          </p:cNvPr>
          <p:cNvGrpSpPr>
            <a:grpSpLocks noChangeAspect="1"/>
          </p:cNvGrpSpPr>
          <p:nvPr/>
        </p:nvGrpSpPr>
        <p:grpSpPr bwMode="auto">
          <a:xfrm>
            <a:off x="3764220" y="4198595"/>
            <a:ext cx="682712" cy="682712"/>
            <a:chOff x="1614" y="999"/>
            <a:chExt cx="312" cy="312"/>
          </a:xfrm>
        </p:grpSpPr>
        <p:sp>
          <p:nvSpPr>
            <p:cNvPr id="63" name="Freeform 21">
              <a:extLst>
                <a:ext uri="{FF2B5EF4-FFF2-40B4-BE49-F238E27FC236}">
                  <a16:creationId xmlns:a16="http://schemas.microsoft.com/office/drawing/2014/main" id="{6378C4DF-1343-4F0C-B624-EC0A880D716E}"/>
                </a:ext>
              </a:extLst>
            </p:cNvPr>
            <p:cNvSpPr>
              <a:spLocks noEditPoints="1"/>
            </p:cNvSpPr>
            <p:nvPr/>
          </p:nvSpPr>
          <p:spPr bwMode="auto">
            <a:xfrm>
              <a:off x="1623" y="1185"/>
              <a:ext cx="118" cy="117"/>
            </a:xfrm>
            <a:custGeom>
              <a:avLst/>
              <a:gdLst>
                <a:gd name="T0" fmla="*/ 258 w 516"/>
                <a:gd name="T1" fmla="*/ 128 h 512"/>
                <a:gd name="T2" fmla="*/ 348 w 516"/>
                <a:gd name="T3" fmla="*/ 165 h 512"/>
                <a:gd name="T4" fmla="*/ 386 w 516"/>
                <a:gd name="T5" fmla="*/ 254 h 512"/>
                <a:gd name="T6" fmla="*/ 349 w 516"/>
                <a:gd name="T7" fmla="*/ 345 h 512"/>
                <a:gd name="T8" fmla="*/ 259 w 516"/>
                <a:gd name="T9" fmla="*/ 384 h 512"/>
                <a:gd name="T10" fmla="*/ 258 w 516"/>
                <a:gd name="T11" fmla="*/ 384 h 512"/>
                <a:gd name="T12" fmla="*/ 168 w 516"/>
                <a:gd name="T13" fmla="*/ 347 h 512"/>
                <a:gd name="T14" fmla="*/ 130 w 516"/>
                <a:gd name="T15" fmla="*/ 257 h 512"/>
                <a:gd name="T16" fmla="*/ 166 w 516"/>
                <a:gd name="T17" fmla="*/ 166 h 512"/>
                <a:gd name="T18" fmla="*/ 256 w 516"/>
                <a:gd name="T19" fmla="*/ 128 h 512"/>
                <a:gd name="T20" fmla="*/ 258 w 516"/>
                <a:gd name="T21" fmla="*/ 128 h 512"/>
                <a:gd name="T22" fmla="*/ 258 w 516"/>
                <a:gd name="T23" fmla="*/ 128 h 512"/>
                <a:gd name="T24" fmla="*/ 258 w 516"/>
                <a:gd name="T25" fmla="*/ 128 h 512"/>
                <a:gd name="T26" fmla="*/ 258 w 516"/>
                <a:gd name="T27" fmla="*/ 0 h 512"/>
                <a:gd name="T28" fmla="*/ 254 w 516"/>
                <a:gd name="T29" fmla="*/ 0 h 512"/>
                <a:gd name="T30" fmla="*/ 2 w 516"/>
                <a:gd name="T31" fmla="*/ 259 h 512"/>
                <a:gd name="T32" fmla="*/ 258 w 516"/>
                <a:gd name="T33" fmla="*/ 512 h 512"/>
                <a:gd name="T34" fmla="*/ 261 w 516"/>
                <a:gd name="T35" fmla="*/ 512 h 512"/>
                <a:gd name="T36" fmla="*/ 514 w 516"/>
                <a:gd name="T37" fmla="*/ 252 h 512"/>
                <a:gd name="T38" fmla="*/ 258 w 516"/>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6" h="512">
                  <a:moveTo>
                    <a:pt x="258" y="128"/>
                  </a:moveTo>
                  <a:cubicBezTo>
                    <a:pt x="292" y="128"/>
                    <a:pt x="324" y="141"/>
                    <a:pt x="348" y="165"/>
                  </a:cubicBezTo>
                  <a:cubicBezTo>
                    <a:pt x="372" y="188"/>
                    <a:pt x="385" y="220"/>
                    <a:pt x="386" y="254"/>
                  </a:cubicBezTo>
                  <a:cubicBezTo>
                    <a:pt x="386" y="288"/>
                    <a:pt x="373" y="321"/>
                    <a:pt x="349" y="345"/>
                  </a:cubicBezTo>
                  <a:cubicBezTo>
                    <a:pt x="326" y="370"/>
                    <a:pt x="294" y="383"/>
                    <a:pt x="259" y="384"/>
                  </a:cubicBezTo>
                  <a:cubicBezTo>
                    <a:pt x="259" y="384"/>
                    <a:pt x="258" y="384"/>
                    <a:pt x="258" y="384"/>
                  </a:cubicBezTo>
                  <a:cubicBezTo>
                    <a:pt x="224" y="384"/>
                    <a:pt x="192" y="371"/>
                    <a:pt x="168" y="347"/>
                  </a:cubicBezTo>
                  <a:cubicBezTo>
                    <a:pt x="144" y="323"/>
                    <a:pt x="130" y="291"/>
                    <a:pt x="130" y="257"/>
                  </a:cubicBezTo>
                  <a:cubicBezTo>
                    <a:pt x="129" y="223"/>
                    <a:pt x="142" y="191"/>
                    <a:pt x="166" y="166"/>
                  </a:cubicBezTo>
                  <a:cubicBezTo>
                    <a:pt x="190" y="142"/>
                    <a:pt x="222" y="128"/>
                    <a:pt x="256" y="128"/>
                  </a:cubicBezTo>
                  <a:cubicBezTo>
                    <a:pt x="257" y="128"/>
                    <a:pt x="257" y="128"/>
                    <a:pt x="258" y="128"/>
                  </a:cubicBezTo>
                  <a:cubicBezTo>
                    <a:pt x="258" y="128"/>
                    <a:pt x="258" y="128"/>
                    <a:pt x="258" y="128"/>
                  </a:cubicBezTo>
                  <a:cubicBezTo>
                    <a:pt x="258" y="128"/>
                    <a:pt x="258" y="128"/>
                    <a:pt x="258" y="128"/>
                  </a:cubicBezTo>
                  <a:moveTo>
                    <a:pt x="258" y="0"/>
                  </a:moveTo>
                  <a:cubicBezTo>
                    <a:pt x="257" y="0"/>
                    <a:pt x="256" y="0"/>
                    <a:pt x="254" y="0"/>
                  </a:cubicBezTo>
                  <a:cubicBezTo>
                    <a:pt x="113" y="2"/>
                    <a:pt x="0" y="118"/>
                    <a:pt x="2" y="259"/>
                  </a:cubicBezTo>
                  <a:cubicBezTo>
                    <a:pt x="4" y="399"/>
                    <a:pt x="118" y="512"/>
                    <a:pt x="258" y="512"/>
                  </a:cubicBezTo>
                  <a:cubicBezTo>
                    <a:pt x="259" y="512"/>
                    <a:pt x="260" y="512"/>
                    <a:pt x="261" y="512"/>
                  </a:cubicBezTo>
                  <a:cubicBezTo>
                    <a:pt x="402" y="510"/>
                    <a:pt x="516" y="394"/>
                    <a:pt x="514" y="252"/>
                  </a:cubicBezTo>
                  <a:cubicBezTo>
                    <a:pt x="512" y="112"/>
                    <a:pt x="398" y="0"/>
                    <a:pt x="25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64" name="Freeform 22">
              <a:extLst>
                <a:ext uri="{FF2B5EF4-FFF2-40B4-BE49-F238E27FC236}">
                  <a16:creationId xmlns:a16="http://schemas.microsoft.com/office/drawing/2014/main" id="{0620855E-99E9-406E-A594-92463F869F8C}"/>
                </a:ext>
              </a:extLst>
            </p:cNvPr>
            <p:cNvSpPr>
              <a:spLocks/>
            </p:cNvSpPr>
            <p:nvPr/>
          </p:nvSpPr>
          <p:spPr bwMode="auto">
            <a:xfrm>
              <a:off x="1674" y="1174"/>
              <a:ext cx="15" cy="13"/>
            </a:xfrm>
            <a:custGeom>
              <a:avLst/>
              <a:gdLst>
                <a:gd name="T0" fmla="*/ 14 w 15"/>
                <a:gd name="T1" fmla="*/ 0 h 13"/>
                <a:gd name="T2" fmla="*/ 0 w 15"/>
                <a:gd name="T3" fmla="*/ 1 h 13"/>
                <a:gd name="T4" fmla="*/ 0 w 15"/>
                <a:gd name="T5" fmla="*/ 13 h 13"/>
                <a:gd name="T6" fmla="*/ 15 w 15"/>
                <a:gd name="T7" fmla="*/ 13 h 13"/>
                <a:gd name="T8" fmla="*/ 14 w 15"/>
                <a:gd name="T9" fmla="*/ 0 h 13"/>
                <a:gd name="T10" fmla="*/ 14 w 15"/>
                <a:gd name="T11" fmla="*/ 0 h 13"/>
              </a:gdLst>
              <a:ahLst/>
              <a:cxnLst>
                <a:cxn ang="0">
                  <a:pos x="T0" y="T1"/>
                </a:cxn>
                <a:cxn ang="0">
                  <a:pos x="T2" y="T3"/>
                </a:cxn>
                <a:cxn ang="0">
                  <a:pos x="T4" y="T5"/>
                </a:cxn>
                <a:cxn ang="0">
                  <a:pos x="T6" y="T7"/>
                </a:cxn>
                <a:cxn ang="0">
                  <a:pos x="T8" y="T9"/>
                </a:cxn>
                <a:cxn ang="0">
                  <a:pos x="T10" y="T11"/>
                </a:cxn>
              </a:cxnLst>
              <a:rect l="0" t="0" r="r" b="b"/>
              <a:pathLst>
                <a:path w="15" h="13">
                  <a:moveTo>
                    <a:pt x="14" y="0"/>
                  </a:moveTo>
                  <a:lnTo>
                    <a:pt x="0" y="1"/>
                  </a:lnTo>
                  <a:lnTo>
                    <a:pt x="0" y="13"/>
                  </a:lnTo>
                  <a:lnTo>
                    <a:pt x="15" y="13"/>
                  </a:lnTo>
                  <a:lnTo>
                    <a:pt x="14" y="0"/>
                  </a:lnTo>
                  <a:lnTo>
                    <a:pt x="1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65" name="Freeform 23">
              <a:extLst>
                <a:ext uri="{FF2B5EF4-FFF2-40B4-BE49-F238E27FC236}">
                  <a16:creationId xmlns:a16="http://schemas.microsoft.com/office/drawing/2014/main" id="{F934E9E8-672D-4B32-89AC-3AC85F13676A}"/>
                </a:ext>
              </a:extLst>
            </p:cNvPr>
            <p:cNvSpPr>
              <a:spLocks/>
            </p:cNvSpPr>
            <p:nvPr/>
          </p:nvSpPr>
          <p:spPr bwMode="auto">
            <a:xfrm>
              <a:off x="1676" y="1299"/>
              <a:ext cx="15" cy="12"/>
            </a:xfrm>
            <a:custGeom>
              <a:avLst/>
              <a:gdLst>
                <a:gd name="T0" fmla="*/ 15 w 15"/>
                <a:gd name="T1" fmla="*/ 0 h 12"/>
                <a:gd name="T2" fmla="*/ 0 w 15"/>
                <a:gd name="T3" fmla="*/ 0 h 12"/>
                <a:gd name="T4" fmla="*/ 0 w 15"/>
                <a:gd name="T5" fmla="*/ 12 h 12"/>
                <a:gd name="T6" fmla="*/ 15 w 15"/>
                <a:gd name="T7" fmla="*/ 12 h 12"/>
                <a:gd name="T8" fmla="*/ 15 w 15"/>
                <a:gd name="T9" fmla="*/ 0 h 12"/>
                <a:gd name="T10" fmla="*/ 15 w 15"/>
                <a:gd name="T11" fmla="*/ 0 h 12"/>
              </a:gdLst>
              <a:ahLst/>
              <a:cxnLst>
                <a:cxn ang="0">
                  <a:pos x="T0" y="T1"/>
                </a:cxn>
                <a:cxn ang="0">
                  <a:pos x="T2" y="T3"/>
                </a:cxn>
                <a:cxn ang="0">
                  <a:pos x="T4" y="T5"/>
                </a:cxn>
                <a:cxn ang="0">
                  <a:pos x="T6" y="T7"/>
                </a:cxn>
                <a:cxn ang="0">
                  <a:pos x="T8" y="T9"/>
                </a:cxn>
                <a:cxn ang="0">
                  <a:pos x="T10" y="T11"/>
                </a:cxn>
              </a:cxnLst>
              <a:rect l="0" t="0" r="r" b="b"/>
              <a:pathLst>
                <a:path w="15" h="12">
                  <a:moveTo>
                    <a:pt x="15" y="0"/>
                  </a:moveTo>
                  <a:lnTo>
                    <a:pt x="0" y="0"/>
                  </a:lnTo>
                  <a:lnTo>
                    <a:pt x="0" y="12"/>
                  </a:lnTo>
                  <a:lnTo>
                    <a:pt x="15" y="12"/>
                  </a:lnTo>
                  <a:lnTo>
                    <a:pt x="15" y="0"/>
                  </a:lnTo>
                  <a:lnTo>
                    <a:pt x="15"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66" name="Freeform 24">
              <a:extLst>
                <a:ext uri="{FF2B5EF4-FFF2-40B4-BE49-F238E27FC236}">
                  <a16:creationId xmlns:a16="http://schemas.microsoft.com/office/drawing/2014/main" id="{85293B8E-B3A8-4A77-B5C9-64D5EF10856B}"/>
                </a:ext>
              </a:extLst>
            </p:cNvPr>
            <p:cNvSpPr>
              <a:spLocks/>
            </p:cNvSpPr>
            <p:nvPr/>
          </p:nvSpPr>
          <p:spPr bwMode="auto">
            <a:xfrm>
              <a:off x="1738" y="1236"/>
              <a:ext cx="13" cy="14"/>
            </a:xfrm>
            <a:custGeom>
              <a:avLst/>
              <a:gdLst>
                <a:gd name="T0" fmla="*/ 12 w 13"/>
                <a:gd name="T1" fmla="*/ 0 h 14"/>
                <a:gd name="T2" fmla="*/ 0 w 13"/>
                <a:gd name="T3" fmla="*/ 0 h 14"/>
                <a:gd name="T4" fmla="*/ 1 w 13"/>
                <a:gd name="T5" fmla="*/ 14 h 14"/>
                <a:gd name="T6" fmla="*/ 13 w 13"/>
                <a:gd name="T7" fmla="*/ 14 h 14"/>
                <a:gd name="T8" fmla="*/ 12 w 13"/>
                <a:gd name="T9" fmla="*/ 0 h 14"/>
                <a:gd name="T10" fmla="*/ 12 w 13"/>
                <a:gd name="T11" fmla="*/ 0 h 14"/>
              </a:gdLst>
              <a:ahLst/>
              <a:cxnLst>
                <a:cxn ang="0">
                  <a:pos x="T0" y="T1"/>
                </a:cxn>
                <a:cxn ang="0">
                  <a:pos x="T2" y="T3"/>
                </a:cxn>
                <a:cxn ang="0">
                  <a:pos x="T4" y="T5"/>
                </a:cxn>
                <a:cxn ang="0">
                  <a:pos x="T6" y="T7"/>
                </a:cxn>
                <a:cxn ang="0">
                  <a:pos x="T8" y="T9"/>
                </a:cxn>
                <a:cxn ang="0">
                  <a:pos x="T10" y="T11"/>
                </a:cxn>
              </a:cxnLst>
              <a:rect l="0" t="0" r="r" b="b"/>
              <a:pathLst>
                <a:path w="13" h="14">
                  <a:moveTo>
                    <a:pt x="12" y="0"/>
                  </a:moveTo>
                  <a:lnTo>
                    <a:pt x="0" y="0"/>
                  </a:lnTo>
                  <a:lnTo>
                    <a:pt x="1" y="14"/>
                  </a:lnTo>
                  <a:lnTo>
                    <a:pt x="13" y="14"/>
                  </a:lnTo>
                  <a:lnTo>
                    <a:pt x="12" y="0"/>
                  </a:lnTo>
                  <a:lnTo>
                    <a:pt x="12"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67" name="Freeform 25">
              <a:extLst>
                <a:ext uri="{FF2B5EF4-FFF2-40B4-BE49-F238E27FC236}">
                  <a16:creationId xmlns:a16="http://schemas.microsoft.com/office/drawing/2014/main" id="{7DD5A7CD-4DDC-4FF6-A5AB-4200B92DB9D7}"/>
                </a:ext>
              </a:extLst>
            </p:cNvPr>
            <p:cNvSpPr>
              <a:spLocks/>
            </p:cNvSpPr>
            <p:nvPr/>
          </p:nvSpPr>
          <p:spPr bwMode="auto">
            <a:xfrm>
              <a:off x="1614" y="1236"/>
              <a:ext cx="12" cy="14"/>
            </a:xfrm>
            <a:custGeom>
              <a:avLst/>
              <a:gdLst>
                <a:gd name="T0" fmla="*/ 12 w 12"/>
                <a:gd name="T1" fmla="*/ 0 h 14"/>
                <a:gd name="T2" fmla="*/ 0 w 12"/>
                <a:gd name="T3" fmla="*/ 0 h 14"/>
                <a:gd name="T4" fmla="*/ 0 w 12"/>
                <a:gd name="T5" fmla="*/ 14 h 14"/>
                <a:gd name="T6" fmla="*/ 12 w 12"/>
                <a:gd name="T7" fmla="*/ 14 h 14"/>
                <a:gd name="T8" fmla="*/ 12 w 12"/>
                <a:gd name="T9" fmla="*/ 0 h 14"/>
                <a:gd name="T10" fmla="*/ 12 w 12"/>
                <a:gd name="T11" fmla="*/ 0 h 14"/>
              </a:gdLst>
              <a:ahLst/>
              <a:cxnLst>
                <a:cxn ang="0">
                  <a:pos x="T0" y="T1"/>
                </a:cxn>
                <a:cxn ang="0">
                  <a:pos x="T2" y="T3"/>
                </a:cxn>
                <a:cxn ang="0">
                  <a:pos x="T4" y="T5"/>
                </a:cxn>
                <a:cxn ang="0">
                  <a:pos x="T6" y="T7"/>
                </a:cxn>
                <a:cxn ang="0">
                  <a:pos x="T8" y="T9"/>
                </a:cxn>
                <a:cxn ang="0">
                  <a:pos x="T10" y="T11"/>
                </a:cxn>
              </a:cxnLst>
              <a:rect l="0" t="0" r="r" b="b"/>
              <a:pathLst>
                <a:path w="12" h="14">
                  <a:moveTo>
                    <a:pt x="12" y="0"/>
                  </a:moveTo>
                  <a:lnTo>
                    <a:pt x="0" y="0"/>
                  </a:lnTo>
                  <a:lnTo>
                    <a:pt x="0" y="14"/>
                  </a:lnTo>
                  <a:lnTo>
                    <a:pt x="12" y="14"/>
                  </a:lnTo>
                  <a:lnTo>
                    <a:pt x="12" y="0"/>
                  </a:lnTo>
                  <a:lnTo>
                    <a:pt x="12"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68" name="Freeform 26">
              <a:extLst>
                <a:ext uri="{FF2B5EF4-FFF2-40B4-BE49-F238E27FC236}">
                  <a16:creationId xmlns:a16="http://schemas.microsoft.com/office/drawing/2014/main" id="{298E41CC-9DBB-49C3-9AB3-EC6E535B8C2E}"/>
                </a:ext>
              </a:extLst>
            </p:cNvPr>
            <p:cNvSpPr>
              <a:spLocks/>
            </p:cNvSpPr>
            <p:nvPr/>
          </p:nvSpPr>
          <p:spPr bwMode="auto">
            <a:xfrm>
              <a:off x="1630" y="1278"/>
              <a:ext cx="18" cy="18"/>
            </a:xfrm>
            <a:custGeom>
              <a:avLst/>
              <a:gdLst>
                <a:gd name="T0" fmla="*/ 7 w 18"/>
                <a:gd name="T1" fmla="*/ 0 h 18"/>
                <a:gd name="T2" fmla="*/ 0 w 18"/>
                <a:gd name="T3" fmla="*/ 8 h 18"/>
                <a:gd name="T4" fmla="*/ 10 w 18"/>
                <a:gd name="T5" fmla="*/ 18 h 18"/>
                <a:gd name="T6" fmla="*/ 18 w 18"/>
                <a:gd name="T7" fmla="*/ 10 h 18"/>
                <a:gd name="T8" fmla="*/ 7 w 18"/>
                <a:gd name="T9" fmla="*/ 0 h 18"/>
                <a:gd name="T10" fmla="*/ 7 w 18"/>
                <a:gd name="T11" fmla="*/ 0 h 18"/>
              </a:gdLst>
              <a:ahLst/>
              <a:cxnLst>
                <a:cxn ang="0">
                  <a:pos x="T0" y="T1"/>
                </a:cxn>
                <a:cxn ang="0">
                  <a:pos x="T2" y="T3"/>
                </a:cxn>
                <a:cxn ang="0">
                  <a:pos x="T4" y="T5"/>
                </a:cxn>
                <a:cxn ang="0">
                  <a:pos x="T6" y="T7"/>
                </a:cxn>
                <a:cxn ang="0">
                  <a:pos x="T8" y="T9"/>
                </a:cxn>
                <a:cxn ang="0">
                  <a:pos x="T10" y="T11"/>
                </a:cxn>
              </a:cxnLst>
              <a:rect l="0" t="0" r="r" b="b"/>
              <a:pathLst>
                <a:path w="18" h="18">
                  <a:moveTo>
                    <a:pt x="7" y="0"/>
                  </a:moveTo>
                  <a:lnTo>
                    <a:pt x="0" y="8"/>
                  </a:lnTo>
                  <a:lnTo>
                    <a:pt x="10" y="18"/>
                  </a:lnTo>
                  <a:lnTo>
                    <a:pt x="18" y="10"/>
                  </a:lnTo>
                  <a:lnTo>
                    <a:pt x="7" y="0"/>
                  </a:lnTo>
                  <a:lnTo>
                    <a:pt x="7"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69" name="Freeform 27">
              <a:extLst>
                <a:ext uri="{FF2B5EF4-FFF2-40B4-BE49-F238E27FC236}">
                  <a16:creationId xmlns:a16="http://schemas.microsoft.com/office/drawing/2014/main" id="{C8572625-3F86-45F8-BB6E-E24B84AFF6C1}"/>
                </a:ext>
              </a:extLst>
            </p:cNvPr>
            <p:cNvSpPr>
              <a:spLocks/>
            </p:cNvSpPr>
            <p:nvPr/>
          </p:nvSpPr>
          <p:spPr bwMode="auto">
            <a:xfrm>
              <a:off x="1717" y="1190"/>
              <a:ext cx="19" cy="18"/>
            </a:xfrm>
            <a:custGeom>
              <a:avLst/>
              <a:gdLst>
                <a:gd name="T0" fmla="*/ 8 w 19"/>
                <a:gd name="T1" fmla="*/ 0 h 18"/>
                <a:gd name="T2" fmla="*/ 0 w 19"/>
                <a:gd name="T3" fmla="*/ 8 h 18"/>
                <a:gd name="T4" fmla="*/ 11 w 19"/>
                <a:gd name="T5" fmla="*/ 18 h 18"/>
                <a:gd name="T6" fmla="*/ 19 w 19"/>
                <a:gd name="T7" fmla="*/ 10 h 18"/>
                <a:gd name="T8" fmla="*/ 8 w 19"/>
                <a:gd name="T9" fmla="*/ 0 h 18"/>
                <a:gd name="T10" fmla="*/ 8 w 19"/>
                <a:gd name="T11" fmla="*/ 0 h 18"/>
              </a:gdLst>
              <a:ahLst/>
              <a:cxnLst>
                <a:cxn ang="0">
                  <a:pos x="T0" y="T1"/>
                </a:cxn>
                <a:cxn ang="0">
                  <a:pos x="T2" y="T3"/>
                </a:cxn>
                <a:cxn ang="0">
                  <a:pos x="T4" y="T5"/>
                </a:cxn>
                <a:cxn ang="0">
                  <a:pos x="T6" y="T7"/>
                </a:cxn>
                <a:cxn ang="0">
                  <a:pos x="T8" y="T9"/>
                </a:cxn>
                <a:cxn ang="0">
                  <a:pos x="T10" y="T11"/>
                </a:cxn>
              </a:cxnLst>
              <a:rect l="0" t="0" r="r" b="b"/>
              <a:pathLst>
                <a:path w="19" h="18">
                  <a:moveTo>
                    <a:pt x="8" y="0"/>
                  </a:moveTo>
                  <a:lnTo>
                    <a:pt x="0" y="8"/>
                  </a:lnTo>
                  <a:lnTo>
                    <a:pt x="11" y="18"/>
                  </a:lnTo>
                  <a:lnTo>
                    <a:pt x="19" y="10"/>
                  </a:lnTo>
                  <a:lnTo>
                    <a:pt x="8" y="0"/>
                  </a:lnTo>
                  <a:lnTo>
                    <a:pt x="8"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0" name="Freeform 28">
              <a:extLst>
                <a:ext uri="{FF2B5EF4-FFF2-40B4-BE49-F238E27FC236}">
                  <a16:creationId xmlns:a16="http://schemas.microsoft.com/office/drawing/2014/main" id="{64CF120E-D05B-443F-B3A0-9F1CAC7B6864}"/>
                </a:ext>
              </a:extLst>
            </p:cNvPr>
            <p:cNvSpPr>
              <a:spLocks/>
            </p:cNvSpPr>
            <p:nvPr/>
          </p:nvSpPr>
          <p:spPr bwMode="auto">
            <a:xfrm>
              <a:off x="1718" y="1277"/>
              <a:ext cx="19" cy="18"/>
            </a:xfrm>
            <a:custGeom>
              <a:avLst/>
              <a:gdLst>
                <a:gd name="T0" fmla="*/ 10 w 19"/>
                <a:gd name="T1" fmla="*/ 0 h 18"/>
                <a:gd name="T2" fmla="*/ 0 w 19"/>
                <a:gd name="T3" fmla="*/ 10 h 18"/>
                <a:gd name="T4" fmla="*/ 8 w 19"/>
                <a:gd name="T5" fmla="*/ 18 h 18"/>
                <a:gd name="T6" fmla="*/ 19 w 19"/>
                <a:gd name="T7" fmla="*/ 7 h 18"/>
                <a:gd name="T8" fmla="*/ 10 w 19"/>
                <a:gd name="T9" fmla="*/ 0 h 18"/>
                <a:gd name="T10" fmla="*/ 10 w 19"/>
                <a:gd name="T11" fmla="*/ 0 h 18"/>
              </a:gdLst>
              <a:ahLst/>
              <a:cxnLst>
                <a:cxn ang="0">
                  <a:pos x="T0" y="T1"/>
                </a:cxn>
                <a:cxn ang="0">
                  <a:pos x="T2" y="T3"/>
                </a:cxn>
                <a:cxn ang="0">
                  <a:pos x="T4" y="T5"/>
                </a:cxn>
                <a:cxn ang="0">
                  <a:pos x="T6" y="T7"/>
                </a:cxn>
                <a:cxn ang="0">
                  <a:pos x="T8" y="T9"/>
                </a:cxn>
                <a:cxn ang="0">
                  <a:pos x="T10" y="T11"/>
                </a:cxn>
              </a:cxnLst>
              <a:rect l="0" t="0" r="r" b="b"/>
              <a:pathLst>
                <a:path w="19" h="18">
                  <a:moveTo>
                    <a:pt x="10" y="0"/>
                  </a:moveTo>
                  <a:lnTo>
                    <a:pt x="0" y="10"/>
                  </a:lnTo>
                  <a:lnTo>
                    <a:pt x="8" y="18"/>
                  </a:lnTo>
                  <a:lnTo>
                    <a:pt x="19" y="7"/>
                  </a:lnTo>
                  <a:lnTo>
                    <a:pt x="10" y="0"/>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1" name="Freeform 29">
              <a:extLst>
                <a:ext uri="{FF2B5EF4-FFF2-40B4-BE49-F238E27FC236}">
                  <a16:creationId xmlns:a16="http://schemas.microsoft.com/office/drawing/2014/main" id="{4DE6EF0C-4DEA-43DC-9C6F-54AC088834BE}"/>
                </a:ext>
              </a:extLst>
            </p:cNvPr>
            <p:cNvSpPr>
              <a:spLocks/>
            </p:cNvSpPr>
            <p:nvPr/>
          </p:nvSpPr>
          <p:spPr bwMode="auto">
            <a:xfrm>
              <a:off x="1628" y="1191"/>
              <a:ext cx="19" cy="18"/>
            </a:xfrm>
            <a:custGeom>
              <a:avLst/>
              <a:gdLst>
                <a:gd name="T0" fmla="*/ 11 w 19"/>
                <a:gd name="T1" fmla="*/ 0 h 18"/>
                <a:gd name="T2" fmla="*/ 0 w 19"/>
                <a:gd name="T3" fmla="*/ 11 h 18"/>
                <a:gd name="T4" fmla="*/ 8 w 19"/>
                <a:gd name="T5" fmla="*/ 18 h 18"/>
                <a:gd name="T6" fmla="*/ 19 w 19"/>
                <a:gd name="T7" fmla="*/ 8 h 18"/>
                <a:gd name="T8" fmla="*/ 11 w 19"/>
                <a:gd name="T9" fmla="*/ 0 h 18"/>
                <a:gd name="T10" fmla="*/ 11 w 19"/>
                <a:gd name="T11" fmla="*/ 0 h 18"/>
              </a:gdLst>
              <a:ahLst/>
              <a:cxnLst>
                <a:cxn ang="0">
                  <a:pos x="T0" y="T1"/>
                </a:cxn>
                <a:cxn ang="0">
                  <a:pos x="T2" y="T3"/>
                </a:cxn>
                <a:cxn ang="0">
                  <a:pos x="T4" y="T5"/>
                </a:cxn>
                <a:cxn ang="0">
                  <a:pos x="T6" y="T7"/>
                </a:cxn>
                <a:cxn ang="0">
                  <a:pos x="T8" y="T9"/>
                </a:cxn>
                <a:cxn ang="0">
                  <a:pos x="T10" y="T11"/>
                </a:cxn>
              </a:cxnLst>
              <a:rect l="0" t="0" r="r" b="b"/>
              <a:pathLst>
                <a:path w="19" h="18">
                  <a:moveTo>
                    <a:pt x="11" y="0"/>
                  </a:moveTo>
                  <a:lnTo>
                    <a:pt x="0" y="11"/>
                  </a:lnTo>
                  <a:lnTo>
                    <a:pt x="8" y="18"/>
                  </a:lnTo>
                  <a:lnTo>
                    <a:pt x="19" y="8"/>
                  </a:lnTo>
                  <a:lnTo>
                    <a:pt x="11" y="0"/>
                  </a:lnTo>
                  <a:lnTo>
                    <a:pt x="1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2" name="Freeform 30">
              <a:extLst>
                <a:ext uri="{FF2B5EF4-FFF2-40B4-BE49-F238E27FC236}">
                  <a16:creationId xmlns:a16="http://schemas.microsoft.com/office/drawing/2014/main" id="{C5DD9218-75FE-4389-8D42-E8F5523D5BEF}"/>
                </a:ext>
              </a:extLst>
            </p:cNvPr>
            <p:cNvSpPr>
              <a:spLocks noEditPoints="1"/>
            </p:cNvSpPr>
            <p:nvPr/>
          </p:nvSpPr>
          <p:spPr bwMode="auto">
            <a:xfrm>
              <a:off x="1702" y="999"/>
              <a:ext cx="224" cy="224"/>
            </a:xfrm>
            <a:custGeom>
              <a:avLst/>
              <a:gdLst>
                <a:gd name="T0" fmla="*/ 924 w 982"/>
                <a:gd name="T1" fmla="*/ 603 h 982"/>
                <a:gd name="T2" fmla="*/ 921 w 982"/>
                <a:gd name="T3" fmla="*/ 367 h 982"/>
                <a:gd name="T4" fmla="*/ 978 w 982"/>
                <a:gd name="T5" fmla="*/ 343 h 982"/>
                <a:gd name="T6" fmla="*/ 934 w 982"/>
                <a:gd name="T7" fmla="*/ 240 h 982"/>
                <a:gd name="T8" fmla="*/ 877 w 982"/>
                <a:gd name="T9" fmla="*/ 264 h 982"/>
                <a:gd name="T10" fmla="*/ 708 w 982"/>
                <a:gd name="T11" fmla="*/ 99 h 982"/>
                <a:gd name="T12" fmla="*/ 731 w 982"/>
                <a:gd name="T13" fmla="*/ 42 h 982"/>
                <a:gd name="T14" fmla="*/ 626 w 982"/>
                <a:gd name="T15" fmla="*/ 0 h 982"/>
                <a:gd name="T16" fmla="*/ 603 w 982"/>
                <a:gd name="T17" fmla="*/ 58 h 982"/>
                <a:gd name="T18" fmla="*/ 367 w 982"/>
                <a:gd name="T19" fmla="*/ 61 h 982"/>
                <a:gd name="T20" fmla="*/ 343 w 982"/>
                <a:gd name="T21" fmla="*/ 4 h 982"/>
                <a:gd name="T22" fmla="*/ 240 w 982"/>
                <a:gd name="T23" fmla="*/ 49 h 982"/>
                <a:gd name="T24" fmla="*/ 264 w 982"/>
                <a:gd name="T25" fmla="*/ 105 h 982"/>
                <a:gd name="T26" fmla="*/ 99 w 982"/>
                <a:gd name="T27" fmla="*/ 274 h 982"/>
                <a:gd name="T28" fmla="*/ 42 w 982"/>
                <a:gd name="T29" fmla="*/ 251 h 982"/>
                <a:gd name="T30" fmla="*/ 0 w 982"/>
                <a:gd name="T31" fmla="*/ 356 h 982"/>
                <a:gd name="T32" fmla="*/ 57 w 982"/>
                <a:gd name="T33" fmla="*/ 379 h 982"/>
                <a:gd name="T34" fmla="*/ 61 w 982"/>
                <a:gd name="T35" fmla="*/ 615 h 982"/>
                <a:gd name="T36" fmla="*/ 4 w 982"/>
                <a:gd name="T37" fmla="*/ 639 h 982"/>
                <a:gd name="T38" fmla="*/ 48 w 982"/>
                <a:gd name="T39" fmla="*/ 742 h 982"/>
                <a:gd name="T40" fmla="*/ 105 w 982"/>
                <a:gd name="T41" fmla="*/ 718 h 982"/>
                <a:gd name="T42" fmla="*/ 274 w 982"/>
                <a:gd name="T43" fmla="*/ 883 h 982"/>
                <a:gd name="T44" fmla="*/ 251 w 982"/>
                <a:gd name="T45" fmla="*/ 940 h 982"/>
                <a:gd name="T46" fmla="*/ 356 w 982"/>
                <a:gd name="T47" fmla="*/ 982 h 982"/>
                <a:gd name="T48" fmla="*/ 379 w 982"/>
                <a:gd name="T49" fmla="*/ 925 h 982"/>
                <a:gd name="T50" fmla="*/ 615 w 982"/>
                <a:gd name="T51" fmla="*/ 921 h 982"/>
                <a:gd name="T52" fmla="*/ 639 w 982"/>
                <a:gd name="T53" fmla="*/ 978 h 982"/>
                <a:gd name="T54" fmla="*/ 742 w 982"/>
                <a:gd name="T55" fmla="*/ 934 h 982"/>
                <a:gd name="T56" fmla="*/ 718 w 982"/>
                <a:gd name="T57" fmla="*/ 877 h 982"/>
                <a:gd name="T58" fmla="*/ 883 w 982"/>
                <a:gd name="T59" fmla="*/ 708 h 982"/>
                <a:gd name="T60" fmla="*/ 940 w 982"/>
                <a:gd name="T61" fmla="*/ 731 h 982"/>
                <a:gd name="T62" fmla="*/ 982 w 982"/>
                <a:gd name="T63" fmla="*/ 626 h 982"/>
                <a:gd name="T64" fmla="*/ 924 w 982"/>
                <a:gd name="T65" fmla="*/ 603 h 982"/>
                <a:gd name="T66" fmla="*/ 491 w 982"/>
                <a:gd name="T67" fmla="*/ 813 h 982"/>
                <a:gd name="T68" fmla="*/ 169 w 982"/>
                <a:gd name="T69" fmla="*/ 491 h 982"/>
                <a:gd name="T70" fmla="*/ 491 w 982"/>
                <a:gd name="T71" fmla="*/ 169 h 982"/>
                <a:gd name="T72" fmla="*/ 813 w 982"/>
                <a:gd name="T73" fmla="*/ 491 h 982"/>
                <a:gd name="T74" fmla="*/ 491 w 982"/>
                <a:gd name="T75" fmla="*/ 813 h 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82" h="982">
                  <a:moveTo>
                    <a:pt x="924" y="603"/>
                  </a:moveTo>
                  <a:cubicBezTo>
                    <a:pt x="945" y="524"/>
                    <a:pt x="943" y="443"/>
                    <a:pt x="921" y="367"/>
                  </a:cubicBezTo>
                  <a:cubicBezTo>
                    <a:pt x="978" y="343"/>
                    <a:pt x="978" y="343"/>
                    <a:pt x="978" y="343"/>
                  </a:cubicBezTo>
                  <a:cubicBezTo>
                    <a:pt x="934" y="240"/>
                    <a:pt x="934" y="240"/>
                    <a:pt x="934" y="240"/>
                  </a:cubicBezTo>
                  <a:cubicBezTo>
                    <a:pt x="877" y="264"/>
                    <a:pt x="877" y="264"/>
                    <a:pt x="877" y="264"/>
                  </a:cubicBezTo>
                  <a:cubicBezTo>
                    <a:pt x="837" y="197"/>
                    <a:pt x="780" y="139"/>
                    <a:pt x="708" y="99"/>
                  </a:cubicBezTo>
                  <a:cubicBezTo>
                    <a:pt x="731" y="42"/>
                    <a:pt x="731" y="42"/>
                    <a:pt x="731" y="42"/>
                  </a:cubicBezTo>
                  <a:cubicBezTo>
                    <a:pt x="626" y="0"/>
                    <a:pt x="626" y="0"/>
                    <a:pt x="626" y="0"/>
                  </a:cubicBezTo>
                  <a:cubicBezTo>
                    <a:pt x="603" y="58"/>
                    <a:pt x="603" y="58"/>
                    <a:pt x="603" y="58"/>
                  </a:cubicBezTo>
                  <a:cubicBezTo>
                    <a:pt x="524" y="37"/>
                    <a:pt x="442" y="39"/>
                    <a:pt x="367" y="61"/>
                  </a:cubicBezTo>
                  <a:cubicBezTo>
                    <a:pt x="343" y="4"/>
                    <a:pt x="343" y="4"/>
                    <a:pt x="343" y="4"/>
                  </a:cubicBezTo>
                  <a:cubicBezTo>
                    <a:pt x="240" y="49"/>
                    <a:pt x="240" y="49"/>
                    <a:pt x="240" y="49"/>
                  </a:cubicBezTo>
                  <a:cubicBezTo>
                    <a:pt x="264" y="105"/>
                    <a:pt x="264" y="105"/>
                    <a:pt x="264" y="105"/>
                  </a:cubicBezTo>
                  <a:cubicBezTo>
                    <a:pt x="196" y="145"/>
                    <a:pt x="139" y="202"/>
                    <a:pt x="99" y="274"/>
                  </a:cubicBezTo>
                  <a:cubicBezTo>
                    <a:pt x="42" y="251"/>
                    <a:pt x="42" y="251"/>
                    <a:pt x="42" y="251"/>
                  </a:cubicBezTo>
                  <a:cubicBezTo>
                    <a:pt x="0" y="356"/>
                    <a:pt x="0" y="356"/>
                    <a:pt x="0" y="356"/>
                  </a:cubicBezTo>
                  <a:cubicBezTo>
                    <a:pt x="57" y="379"/>
                    <a:pt x="57" y="379"/>
                    <a:pt x="57" y="379"/>
                  </a:cubicBezTo>
                  <a:cubicBezTo>
                    <a:pt x="37" y="458"/>
                    <a:pt x="39" y="540"/>
                    <a:pt x="61" y="615"/>
                  </a:cubicBezTo>
                  <a:cubicBezTo>
                    <a:pt x="4" y="639"/>
                    <a:pt x="4" y="639"/>
                    <a:pt x="4" y="639"/>
                  </a:cubicBezTo>
                  <a:cubicBezTo>
                    <a:pt x="48" y="742"/>
                    <a:pt x="48" y="742"/>
                    <a:pt x="48" y="742"/>
                  </a:cubicBezTo>
                  <a:cubicBezTo>
                    <a:pt x="105" y="718"/>
                    <a:pt x="105" y="718"/>
                    <a:pt x="105" y="718"/>
                  </a:cubicBezTo>
                  <a:cubicBezTo>
                    <a:pt x="145" y="786"/>
                    <a:pt x="202" y="843"/>
                    <a:pt x="274" y="883"/>
                  </a:cubicBezTo>
                  <a:cubicBezTo>
                    <a:pt x="251" y="940"/>
                    <a:pt x="251" y="940"/>
                    <a:pt x="251" y="940"/>
                  </a:cubicBezTo>
                  <a:cubicBezTo>
                    <a:pt x="356" y="982"/>
                    <a:pt x="356" y="982"/>
                    <a:pt x="356" y="982"/>
                  </a:cubicBezTo>
                  <a:cubicBezTo>
                    <a:pt x="379" y="925"/>
                    <a:pt x="379" y="925"/>
                    <a:pt x="379" y="925"/>
                  </a:cubicBezTo>
                  <a:cubicBezTo>
                    <a:pt x="458" y="945"/>
                    <a:pt x="540" y="943"/>
                    <a:pt x="615" y="921"/>
                  </a:cubicBezTo>
                  <a:cubicBezTo>
                    <a:pt x="639" y="978"/>
                    <a:pt x="639" y="978"/>
                    <a:pt x="639" y="978"/>
                  </a:cubicBezTo>
                  <a:cubicBezTo>
                    <a:pt x="742" y="934"/>
                    <a:pt x="742" y="934"/>
                    <a:pt x="742" y="934"/>
                  </a:cubicBezTo>
                  <a:cubicBezTo>
                    <a:pt x="718" y="877"/>
                    <a:pt x="718" y="877"/>
                    <a:pt x="718" y="877"/>
                  </a:cubicBezTo>
                  <a:cubicBezTo>
                    <a:pt x="785" y="837"/>
                    <a:pt x="843" y="780"/>
                    <a:pt x="883" y="708"/>
                  </a:cubicBezTo>
                  <a:cubicBezTo>
                    <a:pt x="940" y="731"/>
                    <a:pt x="940" y="731"/>
                    <a:pt x="940" y="731"/>
                  </a:cubicBezTo>
                  <a:cubicBezTo>
                    <a:pt x="982" y="626"/>
                    <a:pt x="982" y="626"/>
                    <a:pt x="982" y="626"/>
                  </a:cubicBezTo>
                  <a:lnTo>
                    <a:pt x="924" y="603"/>
                  </a:lnTo>
                  <a:close/>
                  <a:moveTo>
                    <a:pt x="491" y="813"/>
                  </a:moveTo>
                  <a:cubicBezTo>
                    <a:pt x="313" y="813"/>
                    <a:pt x="169" y="669"/>
                    <a:pt x="169" y="491"/>
                  </a:cubicBezTo>
                  <a:cubicBezTo>
                    <a:pt x="169" y="313"/>
                    <a:pt x="313" y="169"/>
                    <a:pt x="491" y="169"/>
                  </a:cubicBezTo>
                  <a:cubicBezTo>
                    <a:pt x="669" y="169"/>
                    <a:pt x="813" y="313"/>
                    <a:pt x="813" y="491"/>
                  </a:cubicBezTo>
                  <a:cubicBezTo>
                    <a:pt x="813" y="669"/>
                    <a:pt x="669" y="813"/>
                    <a:pt x="491" y="813"/>
                  </a:cubicBezTo>
                  <a:close/>
                </a:path>
              </a:pathLst>
            </a:custGeom>
            <a:solidFill>
              <a:schemeClr val="accent1"/>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3" name="Freeform 31">
              <a:extLst>
                <a:ext uri="{FF2B5EF4-FFF2-40B4-BE49-F238E27FC236}">
                  <a16:creationId xmlns:a16="http://schemas.microsoft.com/office/drawing/2014/main" id="{51C55EDA-E0F8-475D-A99C-18A43AAEE981}"/>
                </a:ext>
              </a:extLst>
            </p:cNvPr>
            <p:cNvSpPr>
              <a:spLocks noEditPoints="1"/>
            </p:cNvSpPr>
            <p:nvPr/>
          </p:nvSpPr>
          <p:spPr bwMode="auto">
            <a:xfrm>
              <a:off x="1783" y="1053"/>
              <a:ext cx="62" cy="116"/>
            </a:xfrm>
            <a:custGeom>
              <a:avLst/>
              <a:gdLst>
                <a:gd name="T0" fmla="*/ 155 w 268"/>
                <a:gd name="T1" fmla="*/ 0 h 512"/>
                <a:gd name="T2" fmla="*/ 113 w 268"/>
                <a:gd name="T3" fmla="*/ 1 h 512"/>
                <a:gd name="T4" fmla="*/ 113 w 268"/>
                <a:gd name="T5" fmla="*/ 53 h 512"/>
                <a:gd name="T6" fmla="*/ 31 w 268"/>
                <a:gd name="T7" fmla="*/ 89 h 512"/>
                <a:gd name="T8" fmla="*/ 0 w 268"/>
                <a:gd name="T9" fmla="*/ 164 h 512"/>
                <a:gd name="T10" fmla="*/ 25 w 268"/>
                <a:gd name="T11" fmla="*/ 235 h 512"/>
                <a:gd name="T12" fmla="*/ 113 w 268"/>
                <a:gd name="T13" fmla="*/ 286 h 512"/>
                <a:gd name="T14" fmla="*/ 113 w 268"/>
                <a:gd name="T15" fmla="*/ 387 h 512"/>
                <a:gd name="T16" fmla="*/ 55 w 268"/>
                <a:gd name="T17" fmla="*/ 374 h 512"/>
                <a:gd name="T18" fmla="*/ 7 w 268"/>
                <a:gd name="T19" fmla="*/ 350 h 512"/>
                <a:gd name="T20" fmla="*/ 7 w 268"/>
                <a:gd name="T21" fmla="*/ 428 h 512"/>
                <a:gd name="T22" fmla="*/ 113 w 268"/>
                <a:gd name="T23" fmla="*/ 453 h 512"/>
                <a:gd name="T24" fmla="*/ 113 w 268"/>
                <a:gd name="T25" fmla="*/ 512 h 512"/>
                <a:gd name="T26" fmla="*/ 155 w 268"/>
                <a:gd name="T27" fmla="*/ 511 h 512"/>
                <a:gd name="T28" fmla="*/ 155 w 268"/>
                <a:gd name="T29" fmla="*/ 451 h 512"/>
                <a:gd name="T30" fmla="*/ 239 w 268"/>
                <a:gd name="T31" fmla="*/ 417 h 512"/>
                <a:gd name="T32" fmla="*/ 268 w 268"/>
                <a:gd name="T33" fmla="*/ 342 h 512"/>
                <a:gd name="T34" fmla="*/ 242 w 268"/>
                <a:gd name="T35" fmla="*/ 274 h 512"/>
                <a:gd name="T36" fmla="*/ 155 w 268"/>
                <a:gd name="T37" fmla="*/ 222 h 512"/>
                <a:gd name="T38" fmla="*/ 155 w 268"/>
                <a:gd name="T39" fmla="*/ 116 h 512"/>
                <a:gd name="T40" fmla="*/ 242 w 268"/>
                <a:gd name="T41" fmla="*/ 146 h 512"/>
                <a:gd name="T42" fmla="*/ 242 w 268"/>
                <a:gd name="T43" fmla="*/ 71 h 512"/>
                <a:gd name="T44" fmla="*/ 155 w 268"/>
                <a:gd name="T45" fmla="*/ 51 h 512"/>
                <a:gd name="T46" fmla="*/ 155 w 268"/>
                <a:gd name="T47" fmla="*/ 0 h 512"/>
                <a:gd name="T48" fmla="*/ 113 w 268"/>
                <a:gd name="T49" fmla="*/ 207 h 512"/>
                <a:gd name="T50" fmla="*/ 74 w 268"/>
                <a:gd name="T51" fmla="*/ 159 h 512"/>
                <a:gd name="T52" fmla="*/ 113 w 268"/>
                <a:gd name="T53" fmla="*/ 118 h 512"/>
                <a:gd name="T54" fmla="*/ 113 w 268"/>
                <a:gd name="T55" fmla="*/ 207 h 512"/>
                <a:gd name="T56" fmla="*/ 155 w 268"/>
                <a:gd name="T57" fmla="*/ 385 h 512"/>
                <a:gd name="T58" fmla="*/ 155 w 268"/>
                <a:gd name="T59" fmla="*/ 301 h 512"/>
                <a:gd name="T60" fmla="*/ 194 w 268"/>
                <a:gd name="T61" fmla="*/ 346 h 512"/>
                <a:gd name="T62" fmla="*/ 155 w 268"/>
                <a:gd name="T63" fmla="*/ 38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8" h="512">
                  <a:moveTo>
                    <a:pt x="155" y="0"/>
                  </a:moveTo>
                  <a:cubicBezTo>
                    <a:pt x="113" y="1"/>
                    <a:pt x="113" y="1"/>
                    <a:pt x="113" y="1"/>
                  </a:cubicBezTo>
                  <a:cubicBezTo>
                    <a:pt x="113" y="53"/>
                    <a:pt x="113" y="53"/>
                    <a:pt x="113" y="53"/>
                  </a:cubicBezTo>
                  <a:cubicBezTo>
                    <a:pt x="79" y="56"/>
                    <a:pt x="52" y="68"/>
                    <a:pt x="31" y="89"/>
                  </a:cubicBezTo>
                  <a:cubicBezTo>
                    <a:pt x="10" y="109"/>
                    <a:pt x="0" y="134"/>
                    <a:pt x="0" y="164"/>
                  </a:cubicBezTo>
                  <a:cubicBezTo>
                    <a:pt x="0" y="193"/>
                    <a:pt x="8" y="217"/>
                    <a:pt x="25" y="235"/>
                  </a:cubicBezTo>
                  <a:cubicBezTo>
                    <a:pt x="42" y="254"/>
                    <a:pt x="72" y="270"/>
                    <a:pt x="113" y="286"/>
                  </a:cubicBezTo>
                  <a:cubicBezTo>
                    <a:pt x="113" y="387"/>
                    <a:pt x="113" y="387"/>
                    <a:pt x="113" y="387"/>
                  </a:cubicBezTo>
                  <a:cubicBezTo>
                    <a:pt x="97" y="386"/>
                    <a:pt x="77" y="382"/>
                    <a:pt x="55" y="374"/>
                  </a:cubicBezTo>
                  <a:cubicBezTo>
                    <a:pt x="33" y="366"/>
                    <a:pt x="17" y="358"/>
                    <a:pt x="7" y="350"/>
                  </a:cubicBezTo>
                  <a:cubicBezTo>
                    <a:pt x="7" y="428"/>
                    <a:pt x="7" y="428"/>
                    <a:pt x="7" y="428"/>
                  </a:cubicBezTo>
                  <a:cubicBezTo>
                    <a:pt x="39" y="444"/>
                    <a:pt x="74" y="453"/>
                    <a:pt x="113" y="453"/>
                  </a:cubicBezTo>
                  <a:cubicBezTo>
                    <a:pt x="113" y="512"/>
                    <a:pt x="113" y="512"/>
                    <a:pt x="113" y="512"/>
                  </a:cubicBezTo>
                  <a:cubicBezTo>
                    <a:pt x="155" y="511"/>
                    <a:pt x="155" y="511"/>
                    <a:pt x="155" y="511"/>
                  </a:cubicBezTo>
                  <a:cubicBezTo>
                    <a:pt x="155" y="451"/>
                    <a:pt x="155" y="451"/>
                    <a:pt x="155" y="451"/>
                  </a:cubicBezTo>
                  <a:cubicBezTo>
                    <a:pt x="192" y="446"/>
                    <a:pt x="219" y="436"/>
                    <a:pt x="239" y="417"/>
                  </a:cubicBezTo>
                  <a:cubicBezTo>
                    <a:pt x="258" y="398"/>
                    <a:pt x="268" y="373"/>
                    <a:pt x="268" y="342"/>
                  </a:cubicBezTo>
                  <a:cubicBezTo>
                    <a:pt x="268" y="315"/>
                    <a:pt x="259" y="292"/>
                    <a:pt x="242" y="274"/>
                  </a:cubicBezTo>
                  <a:cubicBezTo>
                    <a:pt x="224" y="255"/>
                    <a:pt x="196" y="237"/>
                    <a:pt x="155" y="222"/>
                  </a:cubicBezTo>
                  <a:cubicBezTo>
                    <a:pt x="155" y="116"/>
                    <a:pt x="155" y="116"/>
                    <a:pt x="155" y="116"/>
                  </a:cubicBezTo>
                  <a:cubicBezTo>
                    <a:pt x="188" y="120"/>
                    <a:pt x="216" y="131"/>
                    <a:pt x="242" y="146"/>
                  </a:cubicBezTo>
                  <a:cubicBezTo>
                    <a:pt x="242" y="71"/>
                    <a:pt x="242" y="71"/>
                    <a:pt x="242" y="71"/>
                  </a:cubicBezTo>
                  <a:cubicBezTo>
                    <a:pt x="222" y="60"/>
                    <a:pt x="195" y="53"/>
                    <a:pt x="155" y="51"/>
                  </a:cubicBezTo>
                  <a:cubicBezTo>
                    <a:pt x="155" y="0"/>
                    <a:pt x="155" y="0"/>
                    <a:pt x="155" y="0"/>
                  </a:cubicBezTo>
                  <a:close/>
                  <a:moveTo>
                    <a:pt x="113" y="207"/>
                  </a:moveTo>
                  <a:cubicBezTo>
                    <a:pt x="87" y="195"/>
                    <a:pt x="74" y="179"/>
                    <a:pt x="74" y="159"/>
                  </a:cubicBezTo>
                  <a:cubicBezTo>
                    <a:pt x="74" y="137"/>
                    <a:pt x="87" y="123"/>
                    <a:pt x="113" y="118"/>
                  </a:cubicBezTo>
                  <a:cubicBezTo>
                    <a:pt x="113" y="207"/>
                    <a:pt x="113" y="207"/>
                    <a:pt x="113" y="207"/>
                  </a:cubicBezTo>
                  <a:close/>
                  <a:moveTo>
                    <a:pt x="155" y="385"/>
                  </a:moveTo>
                  <a:cubicBezTo>
                    <a:pt x="155" y="301"/>
                    <a:pt x="155" y="301"/>
                    <a:pt x="155" y="301"/>
                  </a:cubicBezTo>
                  <a:cubicBezTo>
                    <a:pt x="182" y="312"/>
                    <a:pt x="194" y="328"/>
                    <a:pt x="194" y="346"/>
                  </a:cubicBezTo>
                  <a:cubicBezTo>
                    <a:pt x="194" y="369"/>
                    <a:pt x="182" y="381"/>
                    <a:pt x="155" y="38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5" name="Rectangle 4">
            <a:extLst>
              <a:ext uri="{FF2B5EF4-FFF2-40B4-BE49-F238E27FC236}">
                <a16:creationId xmlns:a16="http://schemas.microsoft.com/office/drawing/2014/main" id="{5B4D5162-4E7A-46A9-939C-4DB1BA1F477A}"/>
              </a:ext>
            </a:extLst>
          </p:cNvPr>
          <p:cNvSpPr/>
          <p:nvPr/>
        </p:nvSpPr>
        <p:spPr>
          <a:xfrm>
            <a:off x="4835836" y="4329812"/>
            <a:ext cx="4420052" cy="430887"/>
          </a:xfrm>
          <a:prstGeom prst="rect">
            <a:avLst/>
          </a:prstGeom>
        </p:spPr>
        <p:txBody>
          <a:bodyPr wrap="square" lIns="0" tIns="0" rIns="0" bIns="0">
            <a:spAutoFit/>
          </a:bodyPr>
          <a:lstStyle/>
          <a:p>
            <a:pPr marL="0" marR="0" lvl="1" indent="0" algn="l" defTabSz="93274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1200" cap="none" spc="0" normalizeH="0" baseline="0" noProof="0">
                <a:ln>
                  <a:noFill/>
                </a:ln>
                <a:gradFill>
                  <a:gsLst>
                    <a:gs pos="1250">
                      <a:prstClr val="white"/>
                    </a:gs>
                    <a:gs pos="100000">
                      <a:prstClr val="white"/>
                    </a:gs>
                  </a:gsLst>
                  <a:lin ang="5400000" scaled="0"/>
                </a:gradFill>
                <a:effectLst/>
                <a:uLnTx/>
                <a:uFillTx/>
                <a:latin typeface="Segoe UI"/>
                <a:ea typeface="+mn-ea"/>
                <a:cs typeface="+mn-cs"/>
              </a:rPr>
              <a:t>Save up to 55% versus list prices, eligible with active Visual Studio subscriptions .</a:t>
            </a:r>
          </a:p>
        </p:txBody>
      </p:sp>
      <p:sp>
        <p:nvSpPr>
          <p:cNvPr id="95" name="Rectangle 94">
            <a:extLst>
              <a:ext uri="{FF2B5EF4-FFF2-40B4-BE49-F238E27FC236}">
                <a16:creationId xmlns:a16="http://schemas.microsoft.com/office/drawing/2014/main" id="{66E63D8A-A582-4653-AEDB-27E835B4B2ED}"/>
              </a:ext>
            </a:extLst>
          </p:cNvPr>
          <p:cNvSpPr/>
          <p:nvPr/>
        </p:nvSpPr>
        <p:spPr>
          <a:xfrm>
            <a:off x="588263" y="5716482"/>
            <a:ext cx="2834640" cy="280782"/>
          </a:xfrm>
          <a:prstGeom prst="rect">
            <a:avLst/>
          </a:prstGeom>
        </p:spPr>
        <p:txBody>
          <a:bodyPr wrap="square" lIns="0" tIns="0" rIns="0" bIns="0">
            <a:spAutoFit/>
          </a:bodyPr>
          <a:lstStyle/>
          <a:p>
            <a:pPr marL="0" marR="0" lvl="0" indent="0" algn="l" defTabSz="932742" rtl="0" eaLnBrk="1" fontAlgn="auto" latinLnBrk="0" hangingPunct="1">
              <a:lnSpc>
                <a:spcPct val="110000"/>
              </a:lnSpc>
              <a:spcBef>
                <a:spcPts val="1200"/>
              </a:spcBef>
              <a:spcAft>
                <a:spcPts val="0"/>
              </a:spcAft>
              <a:buClrTx/>
              <a:buSzPct val="90000"/>
              <a:buFontTx/>
              <a:buNone/>
              <a:tabLst/>
              <a:defRPr/>
            </a:pPr>
            <a:r>
              <a:rPr kumimoji="0" lang="en-US" sz="1800" b="0" i="0" u="none" strike="noStrike" kern="1200" cap="none" spc="0" normalizeH="0" baseline="0" noProof="0" dirty="0">
                <a:ln>
                  <a:noFill/>
                </a:ln>
                <a:solidFill>
                  <a:srgbClr val="50E6FF"/>
                </a:solidFill>
                <a:effectLst/>
                <a:uLnTx/>
                <a:uFillTx/>
                <a:latin typeface="Segoe UI Semibold"/>
                <a:ea typeface="+mn-ea"/>
                <a:cs typeface="Segoe UI Semilight" panose="020B0402040204020203" pitchFamily="34" charset="0"/>
              </a:rPr>
              <a:t>Extended security updates </a:t>
            </a:r>
          </a:p>
        </p:txBody>
      </p:sp>
      <p:grpSp>
        <p:nvGrpSpPr>
          <p:cNvPr id="118" name="Group 117" descr="lock">
            <a:extLst>
              <a:ext uri="{FF2B5EF4-FFF2-40B4-BE49-F238E27FC236}">
                <a16:creationId xmlns:a16="http://schemas.microsoft.com/office/drawing/2014/main" id="{B509961F-2F91-447C-9ABF-843AB14C2B66}"/>
              </a:ext>
            </a:extLst>
          </p:cNvPr>
          <p:cNvGrpSpPr>
            <a:grpSpLocks noChangeAspect="1"/>
          </p:cNvGrpSpPr>
          <p:nvPr/>
        </p:nvGrpSpPr>
        <p:grpSpPr>
          <a:xfrm>
            <a:off x="3858565" y="5542869"/>
            <a:ext cx="494022" cy="609686"/>
            <a:chOff x="1980078" y="253998"/>
            <a:chExt cx="3830386" cy="4727197"/>
          </a:xfrm>
          <a:solidFill>
            <a:srgbClr val="50E6FF"/>
          </a:solidFill>
        </p:grpSpPr>
        <p:sp>
          <p:nvSpPr>
            <p:cNvPr id="119" name="Rectangle 27">
              <a:extLst>
                <a:ext uri="{FF2B5EF4-FFF2-40B4-BE49-F238E27FC236}">
                  <a16:creationId xmlns:a16="http://schemas.microsoft.com/office/drawing/2014/main" id="{140A4BA3-0D7D-4E57-A13E-C9CAD891B5A5}"/>
                </a:ext>
              </a:extLst>
            </p:cNvPr>
            <p:cNvSpPr>
              <a:spLocks noChangeArrowheads="1"/>
            </p:cNvSpPr>
            <p:nvPr/>
          </p:nvSpPr>
          <p:spPr bwMode="auto">
            <a:xfrm>
              <a:off x="1980078" y="2169196"/>
              <a:ext cx="3830386" cy="281199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20" name="Freeform 29">
              <a:extLst>
                <a:ext uri="{FF2B5EF4-FFF2-40B4-BE49-F238E27FC236}">
                  <a16:creationId xmlns:a16="http://schemas.microsoft.com/office/drawing/2014/main" id="{CCDFC26F-4922-4F69-A194-349A0D935EB6}"/>
                </a:ext>
              </a:extLst>
            </p:cNvPr>
            <p:cNvSpPr>
              <a:spLocks/>
            </p:cNvSpPr>
            <p:nvPr/>
          </p:nvSpPr>
          <p:spPr bwMode="auto">
            <a:xfrm>
              <a:off x="3454477" y="2913999"/>
              <a:ext cx="881597" cy="881598"/>
            </a:xfrm>
            <a:custGeom>
              <a:avLst/>
              <a:gdLst>
                <a:gd name="T0" fmla="*/ 256 w 256"/>
                <a:gd name="T1" fmla="*/ 127 h 256"/>
                <a:gd name="T2" fmla="*/ 256 w 256"/>
                <a:gd name="T3" fmla="*/ 129 h 256"/>
                <a:gd name="T4" fmla="*/ 129 w 256"/>
                <a:gd name="T5" fmla="*/ 256 h 256"/>
                <a:gd name="T6" fmla="*/ 127 w 256"/>
                <a:gd name="T7" fmla="*/ 256 h 256"/>
                <a:gd name="T8" fmla="*/ 0 w 256"/>
                <a:gd name="T9" fmla="*/ 129 h 256"/>
                <a:gd name="T10" fmla="*/ 0 w 256"/>
                <a:gd name="T11" fmla="*/ 127 h 256"/>
                <a:gd name="T12" fmla="*/ 127 w 256"/>
                <a:gd name="T13" fmla="*/ 0 h 256"/>
                <a:gd name="T14" fmla="*/ 129 w 256"/>
                <a:gd name="T15" fmla="*/ 0 h 256"/>
                <a:gd name="T16" fmla="*/ 256 w 256"/>
                <a:gd name="T17" fmla="*/ 12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127"/>
                  </a:moveTo>
                  <a:cubicBezTo>
                    <a:pt x="256" y="129"/>
                    <a:pt x="256" y="129"/>
                    <a:pt x="256" y="129"/>
                  </a:cubicBezTo>
                  <a:cubicBezTo>
                    <a:pt x="256" y="199"/>
                    <a:pt x="199" y="256"/>
                    <a:pt x="129" y="256"/>
                  </a:cubicBezTo>
                  <a:cubicBezTo>
                    <a:pt x="127" y="256"/>
                    <a:pt x="127" y="256"/>
                    <a:pt x="127" y="256"/>
                  </a:cubicBezTo>
                  <a:cubicBezTo>
                    <a:pt x="57" y="256"/>
                    <a:pt x="0" y="199"/>
                    <a:pt x="0" y="129"/>
                  </a:cubicBezTo>
                  <a:cubicBezTo>
                    <a:pt x="0" y="127"/>
                    <a:pt x="0" y="127"/>
                    <a:pt x="0" y="127"/>
                  </a:cubicBezTo>
                  <a:cubicBezTo>
                    <a:pt x="0" y="57"/>
                    <a:pt x="57" y="0"/>
                    <a:pt x="127" y="0"/>
                  </a:cubicBezTo>
                  <a:cubicBezTo>
                    <a:pt x="129" y="0"/>
                    <a:pt x="129" y="0"/>
                    <a:pt x="129" y="0"/>
                  </a:cubicBezTo>
                  <a:cubicBezTo>
                    <a:pt x="199" y="0"/>
                    <a:pt x="256" y="57"/>
                    <a:pt x="256"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21" name="Freeform 30">
              <a:extLst>
                <a:ext uri="{FF2B5EF4-FFF2-40B4-BE49-F238E27FC236}">
                  <a16:creationId xmlns:a16="http://schemas.microsoft.com/office/drawing/2014/main" id="{362A1FAB-5C55-43A4-B794-97BB4D24DED4}"/>
                </a:ext>
              </a:extLst>
            </p:cNvPr>
            <p:cNvSpPr>
              <a:spLocks/>
            </p:cNvSpPr>
            <p:nvPr/>
          </p:nvSpPr>
          <p:spPr bwMode="auto">
            <a:xfrm>
              <a:off x="3667277" y="3354793"/>
              <a:ext cx="455998" cy="1033598"/>
            </a:xfrm>
            <a:custGeom>
              <a:avLst/>
              <a:gdLst>
                <a:gd name="T0" fmla="*/ 64 w 128"/>
                <a:gd name="T1" fmla="*/ 299 h 299"/>
                <a:gd name="T2" fmla="*/ 63 w 128"/>
                <a:gd name="T3" fmla="*/ 299 h 299"/>
                <a:gd name="T4" fmla="*/ 0 w 128"/>
                <a:gd name="T5" fmla="*/ 236 h 299"/>
                <a:gd name="T6" fmla="*/ 0 w 128"/>
                <a:gd name="T7" fmla="*/ 64 h 299"/>
                <a:gd name="T8" fmla="*/ 63 w 128"/>
                <a:gd name="T9" fmla="*/ 0 h 299"/>
                <a:gd name="T10" fmla="*/ 64 w 128"/>
                <a:gd name="T11" fmla="*/ 0 h 299"/>
                <a:gd name="T12" fmla="*/ 128 w 128"/>
                <a:gd name="T13" fmla="*/ 64 h 299"/>
                <a:gd name="T14" fmla="*/ 128 w 128"/>
                <a:gd name="T15" fmla="*/ 236 h 299"/>
                <a:gd name="T16" fmla="*/ 64 w 128"/>
                <a:gd name="T17" fmla="*/ 29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299">
                  <a:moveTo>
                    <a:pt x="64" y="299"/>
                  </a:moveTo>
                  <a:cubicBezTo>
                    <a:pt x="63" y="299"/>
                    <a:pt x="63" y="299"/>
                    <a:pt x="63" y="299"/>
                  </a:cubicBezTo>
                  <a:cubicBezTo>
                    <a:pt x="28" y="299"/>
                    <a:pt x="0" y="271"/>
                    <a:pt x="0" y="236"/>
                  </a:cubicBezTo>
                  <a:cubicBezTo>
                    <a:pt x="0" y="64"/>
                    <a:pt x="0" y="64"/>
                    <a:pt x="0" y="64"/>
                  </a:cubicBezTo>
                  <a:cubicBezTo>
                    <a:pt x="0" y="29"/>
                    <a:pt x="28" y="0"/>
                    <a:pt x="63" y="0"/>
                  </a:cubicBezTo>
                  <a:cubicBezTo>
                    <a:pt x="64" y="0"/>
                    <a:pt x="64" y="0"/>
                    <a:pt x="64" y="0"/>
                  </a:cubicBezTo>
                  <a:cubicBezTo>
                    <a:pt x="100" y="0"/>
                    <a:pt x="128" y="29"/>
                    <a:pt x="128" y="64"/>
                  </a:cubicBezTo>
                  <a:cubicBezTo>
                    <a:pt x="128" y="236"/>
                    <a:pt x="128" y="236"/>
                    <a:pt x="128" y="236"/>
                  </a:cubicBezTo>
                  <a:cubicBezTo>
                    <a:pt x="128" y="271"/>
                    <a:pt x="100" y="299"/>
                    <a:pt x="64" y="2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22" name="Freeform: Shape 121">
              <a:extLst>
                <a:ext uri="{FF2B5EF4-FFF2-40B4-BE49-F238E27FC236}">
                  <a16:creationId xmlns:a16="http://schemas.microsoft.com/office/drawing/2014/main" id="{D5E99DB9-209E-4821-A771-6610D12F5E5E}"/>
                </a:ext>
              </a:extLst>
            </p:cNvPr>
            <p:cNvSpPr/>
            <p:nvPr/>
          </p:nvSpPr>
          <p:spPr bwMode="auto">
            <a:xfrm>
              <a:off x="2420880" y="253998"/>
              <a:ext cx="2948790" cy="2423888"/>
            </a:xfrm>
            <a:custGeom>
              <a:avLst/>
              <a:gdLst>
                <a:gd name="connsiteX0" fmla="*/ 1474395 w 2948790"/>
                <a:gd name="connsiteY0" fmla="*/ 0 h 2423888"/>
                <a:gd name="connsiteX1" fmla="*/ 2948790 w 2948790"/>
                <a:gd name="connsiteY1" fmla="*/ 1474395 h 2423888"/>
                <a:gd name="connsiteX2" fmla="*/ 2948790 w 2948790"/>
                <a:gd name="connsiteY2" fmla="*/ 2423888 h 2423888"/>
                <a:gd name="connsiteX3" fmla="*/ 2505425 w 2948790"/>
                <a:gd name="connsiteY3" fmla="*/ 2423888 h 2423888"/>
                <a:gd name="connsiteX4" fmla="*/ 2506265 w 2948790"/>
                <a:gd name="connsiteY4" fmla="*/ 1475461 h 2423888"/>
                <a:gd name="connsiteX5" fmla="*/ 1474395 w 2948790"/>
                <a:gd name="connsiteY5" fmla="*/ 443591 h 2423888"/>
                <a:gd name="connsiteX6" fmla="*/ 442525 w 2948790"/>
                <a:gd name="connsiteY6" fmla="*/ 1475461 h 2423888"/>
                <a:gd name="connsiteX7" fmla="*/ 442525 w 2948790"/>
                <a:gd name="connsiteY7" fmla="*/ 2423888 h 2423888"/>
                <a:gd name="connsiteX8" fmla="*/ 0 w 2948790"/>
                <a:gd name="connsiteY8" fmla="*/ 2423888 h 2423888"/>
                <a:gd name="connsiteX9" fmla="*/ 0 w 2948790"/>
                <a:gd name="connsiteY9" fmla="*/ 1474395 h 2423888"/>
                <a:gd name="connsiteX10" fmla="*/ 1474395 w 2948790"/>
                <a:gd name="connsiteY10" fmla="*/ 0 h 242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48790" h="2423888">
                  <a:moveTo>
                    <a:pt x="1474395" y="0"/>
                  </a:moveTo>
                  <a:cubicBezTo>
                    <a:pt x="2288681" y="0"/>
                    <a:pt x="2948790" y="660109"/>
                    <a:pt x="2948790" y="1474395"/>
                  </a:cubicBezTo>
                  <a:lnTo>
                    <a:pt x="2948790" y="2423888"/>
                  </a:lnTo>
                  <a:lnTo>
                    <a:pt x="2505425" y="2423888"/>
                  </a:lnTo>
                  <a:lnTo>
                    <a:pt x="2506265" y="1475461"/>
                  </a:lnTo>
                  <a:cubicBezTo>
                    <a:pt x="2506265" y="905575"/>
                    <a:pt x="2044281" y="443591"/>
                    <a:pt x="1474395" y="443591"/>
                  </a:cubicBezTo>
                  <a:cubicBezTo>
                    <a:pt x="904509" y="443591"/>
                    <a:pt x="442525" y="905575"/>
                    <a:pt x="442525" y="1475461"/>
                  </a:cubicBezTo>
                  <a:lnTo>
                    <a:pt x="442525" y="2423888"/>
                  </a:lnTo>
                  <a:lnTo>
                    <a:pt x="0" y="2423888"/>
                  </a:lnTo>
                  <a:lnTo>
                    <a:pt x="0" y="1474395"/>
                  </a:lnTo>
                  <a:cubicBezTo>
                    <a:pt x="0" y="660109"/>
                    <a:pt x="660109" y="0"/>
                    <a:pt x="1474395" y="0"/>
                  </a:cubicBezTo>
                  <a:close/>
                </a:path>
              </a:pathLst>
            </a:cu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sp>
        <p:nvSpPr>
          <p:cNvPr id="74" name="Rectangle 73">
            <a:extLst>
              <a:ext uri="{FF2B5EF4-FFF2-40B4-BE49-F238E27FC236}">
                <a16:creationId xmlns:a16="http://schemas.microsoft.com/office/drawing/2014/main" id="{76551AAA-FE84-49A1-90F6-F695D76F3C10}"/>
              </a:ext>
            </a:extLst>
          </p:cNvPr>
          <p:cNvSpPr/>
          <p:nvPr/>
        </p:nvSpPr>
        <p:spPr>
          <a:xfrm>
            <a:off x="4835835" y="5632269"/>
            <a:ext cx="5209863" cy="430887"/>
          </a:xfrm>
          <a:prstGeom prst="rect">
            <a:avLst/>
          </a:prstGeom>
        </p:spPr>
        <p:txBody>
          <a:bodyPr wrap="square" lIns="0" tIns="0" rIns="0" bIns="0">
            <a:spAutoFit/>
          </a:bodyPr>
          <a:lstStyle/>
          <a:p>
            <a:pPr marL="0" marR="0" lvl="1" indent="0" algn="l" defTabSz="93274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1200" cap="none" spc="0" normalizeH="0" baseline="0" noProof="0" dirty="0">
                <a:ln>
                  <a:noFill/>
                </a:ln>
                <a:gradFill>
                  <a:gsLst>
                    <a:gs pos="1250">
                      <a:prstClr val="white"/>
                    </a:gs>
                    <a:gs pos="100000">
                      <a:prstClr val="white"/>
                    </a:gs>
                  </a:gsLst>
                  <a:lin ang="5400000" scaled="0"/>
                </a:gradFill>
                <a:effectLst/>
                <a:uLnTx/>
                <a:uFillTx/>
                <a:latin typeface="Segoe UI"/>
                <a:ea typeface="+mn-ea"/>
                <a:cs typeface="+mn-cs"/>
              </a:rPr>
              <a:t>Get free extended security updates for SQL Server 2008 and 2008 R2 for three years when running on Azure Virtual Machines.</a:t>
            </a:r>
          </a:p>
        </p:txBody>
      </p:sp>
    </p:spTree>
    <p:extLst>
      <p:ext uri="{BB962C8B-B14F-4D97-AF65-F5344CB8AC3E}">
        <p14:creationId xmlns:p14="http://schemas.microsoft.com/office/powerpoint/2010/main" val="122926014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72DB2-93D5-4721-870A-9FF007FB894B}"/>
              </a:ext>
            </a:extLst>
          </p:cNvPr>
          <p:cNvSpPr>
            <a:spLocks noGrp="1"/>
          </p:cNvSpPr>
          <p:nvPr>
            <p:ph type="title"/>
          </p:nvPr>
        </p:nvSpPr>
        <p:spPr/>
        <p:txBody>
          <a:bodyPr/>
          <a:lstStyle/>
          <a:p>
            <a:r>
              <a:rPr lang="en-US" dirty="0"/>
              <a:t>Azure Hybrid Benefit for SQL Server</a:t>
            </a:r>
          </a:p>
        </p:txBody>
      </p:sp>
      <p:sp>
        <p:nvSpPr>
          <p:cNvPr id="4" name="Text Placeholder 3">
            <a:extLst>
              <a:ext uri="{FF2B5EF4-FFF2-40B4-BE49-F238E27FC236}">
                <a16:creationId xmlns:a16="http://schemas.microsoft.com/office/drawing/2014/main" id="{FB95D8C8-0E10-A142-A75D-A840BA0E4954}"/>
              </a:ext>
            </a:extLst>
          </p:cNvPr>
          <p:cNvSpPr>
            <a:spLocks noGrp="1"/>
          </p:cNvSpPr>
          <p:nvPr>
            <p:ph type="body" sz="quarter" idx="13"/>
          </p:nvPr>
        </p:nvSpPr>
        <p:spPr/>
        <p:txBody>
          <a:bodyPr/>
          <a:lstStyle/>
          <a:p>
            <a:r>
              <a:rPr lang="en-US" dirty="0">
                <a:solidFill>
                  <a:schemeClr val="accent3"/>
                </a:solidFill>
              </a:rPr>
              <a:t>Azure only benefit for customers with active SA or subscriptions on SQL cores</a:t>
            </a:r>
          </a:p>
        </p:txBody>
      </p:sp>
      <p:grpSp>
        <p:nvGrpSpPr>
          <p:cNvPr id="153" name="Group 10">
            <a:extLst>
              <a:ext uri="{FF2B5EF4-FFF2-40B4-BE49-F238E27FC236}">
                <a16:creationId xmlns:a16="http://schemas.microsoft.com/office/drawing/2014/main" id="{FC6B4482-C7CF-49CA-AAFE-851DBF466CAE}"/>
              </a:ext>
              <a:ext uri="{C183D7F6-B498-43B3-948B-1728B52AA6E4}">
                <adec:decorative xmlns:adec="http://schemas.microsoft.com/office/drawing/2017/decorative" val="1"/>
              </a:ext>
            </a:extLst>
          </p:cNvPr>
          <p:cNvGrpSpPr>
            <a:grpSpLocks noChangeAspect="1"/>
          </p:cNvGrpSpPr>
          <p:nvPr/>
        </p:nvGrpSpPr>
        <p:grpSpPr bwMode="auto">
          <a:xfrm>
            <a:off x="468843" y="1862697"/>
            <a:ext cx="320040" cy="365760"/>
            <a:chOff x="1033" y="999"/>
            <a:chExt cx="273" cy="312"/>
          </a:xfrm>
          <a:solidFill>
            <a:schemeClr val="accent1"/>
          </a:solidFill>
        </p:grpSpPr>
        <p:sp>
          <p:nvSpPr>
            <p:cNvPr id="154" name="Rectangle 11">
              <a:extLst>
                <a:ext uri="{FF2B5EF4-FFF2-40B4-BE49-F238E27FC236}">
                  <a16:creationId xmlns:a16="http://schemas.microsoft.com/office/drawing/2014/main" id="{A7FE93AF-474D-4A46-BD6A-D01AA2E8D3DA}"/>
                </a:ext>
              </a:extLst>
            </p:cNvPr>
            <p:cNvSpPr>
              <a:spLocks noChangeArrowheads="1"/>
            </p:cNvSpPr>
            <p:nvPr/>
          </p:nvSpPr>
          <p:spPr bwMode="auto">
            <a:xfrm>
              <a:off x="1277" y="1243"/>
              <a:ext cx="29" cy="68"/>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5" name="Rectangle 12">
              <a:extLst>
                <a:ext uri="{FF2B5EF4-FFF2-40B4-BE49-F238E27FC236}">
                  <a16:creationId xmlns:a16="http://schemas.microsoft.com/office/drawing/2014/main" id="{A389F448-D0FD-491C-A279-FAA945E19230}"/>
                </a:ext>
              </a:extLst>
            </p:cNvPr>
            <p:cNvSpPr>
              <a:spLocks noChangeArrowheads="1"/>
            </p:cNvSpPr>
            <p:nvPr/>
          </p:nvSpPr>
          <p:spPr bwMode="auto">
            <a:xfrm>
              <a:off x="1228" y="1194"/>
              <a:ext cx="29" cy="117"/>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6" name="Rectangle 13">
              <a:extLst>
                <a:ext uri="{FF2B5EF4-FFF2-40B4-BE49-F238E27FC236}">
                  <a16:creationId xmlns:a16="http://schemas.microsoft.com/office/drawing/2014/main" id="{1564E257-D09D-487A-AC2D-14A2F1489B56}"/>
                </a:ext>
              </a:extLst>
            </p:cNvPr>
            <p:cNvSpPr>
              <a:spLocks noChangeArrowheads="1"/>
            </p:cNvSpPr>
            <p:nvPr/>
          </p:nvSpPr>
          <p:spPr bwMode="auto">
            <a:xfrm>
              <a:off x="1179" y="1145"/>
              <a:ext cx="30" cy="166"/>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7" name="Rectangle 14">
              <a:extLst>
                <a:ext uri="{FF2B5EF4-FFF2-40B4-BE49-F238E27FC236}">
                  <a16:creationId xmlns:a16="http://schemas.microsoft.com/office/drawing/2014/main" id="{A965FE50-103A-4042-A7BB-990AF995CE27}"/>
                </a:ext>
              </a:extLst>
            </p:cNvPr>
            <p:cNvSpPr>
              <a:spLocks noChangeArrowheads="1"/>
            </p:cNvSpPr>
            <p:nvPr/>
          </p:nvSpPr>
          <p:spPr bwMode="auto">
            <a:xfrm>
              <a:off x="1131" y="1097"/>
              <a:ext cx="29" cy="21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8" name="Rectangle 15">
              <a:extLst>
                <a:ext uri="{FF2B5EF4-FFF2-40B4-BE49-F238E27FC236}">
                  <a16:creationId xmlns:a16="http://schemas.microsoft.com/office/drawing/2014/main" id="{8FC59667-6B83-4786-9DEA-557891785910}"/>
                </a:ext>
              </a:extLst>
            </p:cNvPr>
            <p:cNvSpPr>
              <a:spLocks noChangeArrowheads="1"/>
            </p:cNvSpPr>
            <p:nvPr/>
          </p:nvSpPr>
          <p:spPr bwMode="auto">
            <a:xfrm>
              <a:off x="1082" y="1048"/>
              <a:ext cx="29" cy="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9" name="Rectangle 16">
              <a:extLst>
                <a:ext uri="{FF2B5EF4-FFF2-40B4-BE49-F238E27FC236}">
                  <a16:creationId xmlns:a16="http://schemas.microsoft.com/office/drawing/2014/main" id="{97600787-D0B7-4B83-BD60-996B11D56EF2}"/>
                </a:ext>
              </a:extLst>
            </p:cNvPr>
            <p:cNvSpPr>
              <a:spLocks noChangeArrowheads="1"/>
            </p:cNvSpPr>
            <p:nvPr/>
          </p:nvSpPr>
          <p:spPr bwMode="auto">
            <a:xfrm>
              <a:off x="1033" y="999"/>
              <a:ext cx="29" cy="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0" name="Freeform 17">
              <a:extLst>
                <a:ext uri="{FF2B5EF4-FFF2-40B4-BE49-F238E27FC236}">
                  <a16:creationId xmlns:a16="http://schemas.microsoft.com/office/drawing/2014/main" id="{AC75B18F-B129-452F-94F2-68591572F356}"/>
                </a:ext>
              </a:extLst>
            </p:cNvPr>
            <p:cNvSpPr>
              <a:spLocks noEditPoints="1"/>
            </p:cNvSpPr>
            <p:nvPr/>
          </p:nvSpPr>
          <p:spPr bwMode="auto">
            <a:xfrm>
              <a:off x="1228" y="999"/>
              <a:ext cx="78" cy="151"/>
            </a:xfrm>
            <a:custGeom>
              <a:avLst/>
              <a:gdLst>
                <a:gd name="T0" fmla="*/ 339 w 339"/>
                <a:gd name="T1" fmla="*/ 440 h 662"/>
                <a:gd name="T2" fmla="*/ 303 w 339"/>
                <a:gd name="T3" fmla="*/ 534 h 662"/>
                <a:gd name="T4" fmla="*/ 195 w 339"/>
                <a:gd name="T5" fmla="*/ 578 h 662"/>
                <a:gd name="T6" fmla="*/ 195 w 339"/>
                <a:gd name="T7" fmla="*/ 662 h 662"/>
                <a:gd name="T8" fmla="*/ 144 w 339"/>
                <a:gd name="T9" fmla="*/ 662 h 662"/>
                <a:gd name="T10" fmla="*/ 144 w 339"/>
                <a:gd name="T11" fmla="*/ 580 h 662"/>
                <a:gd name="T12" fmla="*/ 10 w 339"/>
                <a:gd name="T13" fmla="*/ 547 h 662"/>
                <a:gd name="T14" fmla="*/ 10 w 339"/>
                <a:gd name="T15" fmla="*/ 450 h 662"/>
                <a:gd name="T16" fmla="*/ 71 w 339"/>
                <a:gd name="T17" fmla="*/ 480 h 662"/>
                <a:gd name="T18" fmla="*/ 144 w 339"/>
                <a:gd name="T19" fmla="*/ 497 h 662"/>
                <a:gd name="T20" fmla="*/ 144 w 339"/>
                <a:gd name="T21" fmla="*/ 368 h 662"/>
                <a:gd name="T22" fmla="*/ 33 w 339"/>
                <a:gd name="T23" fmla="*/ 305 h 662"/>
                <a:gd name="T24" fmla="*/ 0 w 339"/>
                <a:gd name="T25" fmla="*/ 214 h 662"/>
                <a:gd name="T26" fmla="*/ 40 w 339"/>
                <a:gd name="T27" fmla="*/ 119 h 662"/>
                <a:gd name="T28" fmla="*/ 144 w 339"/>
                <a:gd name="T29" fmla="*/ 74 h 662"/>
                <a:gd name="T30" fmla="*/ 144 w 339"/>
                <a:gd name="T31" fmla="*/ 0 h 662"/>
                <a:gd name="T32" fmla="*/ 195 w 339"/>
                <a:gd name="T33" fmla="*/ 0 h 662"/>
                <a:gd name="T34" fmla="*/ 195 w 339"/>
                <a:gd name="T35" fmla="*/ 73 h 662"/>
                <a:gd name="T36" fmla="*/ 306 w 339"/>
                <a:gd name="T37" fmla="*/ 97 h 662"/>
                <a:gd name="T38" fmla="*/ 306 w 339"/>
                <a:gd name="T39" fmla="*/ 192 h 662"/>
                <a:gd name="T40" fmla="*/ 195 w 339"/>
                <a:gd name="T41" fmla="*/ 155 h 662"/>
                <a:gd name="T42" fmla="*/ 195 w 339"/>
                <a:gd name="T43" fmla="*/ 289 h 662"/>
                <a:gd name="T44" fmla="*/ 306 w 339"/>
                <a:gd name="T45" fmla="*/ 353 h 662"/>
                <a:gd name="T46" fmla="*/ 339 w 339"/>
                <a:gd name="T47" fmla="*/ 440 h 662"/>
                <a:gd name="T48" fmla="*/ 144 w 339"/>
                <a:gd name="T49" fmla="*/ 269 h 662"/>
                <a:gd name="T50" fmla="*/ 144 w 339"/>
                <a:gd name="T51" fmla="*/ 157 h 662"/>
                <a:gd name="T52" fmla="*/ 94 w 339"/>
                <a:gd name="T53" fmla="*/ 208 h 662"/>
                <a:gd name="T54" fmla="*/ 144 w 339"/>
                <a:gd name="T55" fmla="*/ 269 h 662"/>
                <a:gd name="T56" fmla="*/ 246 w 339"/>
                <a:gd name="T57" fmla="*/ 445 h 662"/>
                <a:gd name="T58" fmla="*/ 195 w 339"/>
                <a:gd name="T59" fmla="*/ 388 h 662"/>
                <a:gd name="T60" fmla="*/ 195 w 339"/>
                <a:gd name="T61" fmla="*/ 495 h 662"/>
                <a:gd name="T62" fmla="*/ 246 w 339"/>
                <a:gd name="T63" fmla="*/ 445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9" h="662">
                  <a:moveTo>
                    <a:pt x="339" y="440"/>
                  </a:moveTo>
                  <a:cubicBezTo>
                    <a:pt x="339" y="479"/>
                    <a:pt x="327" y="510"/>
                    <a:pt x="303" y="534"/>
                  </a:cubicBezTo>
                  <a:cubicBezTo>
                    <a:pt x="278" y="558"/>
                    <a:pt x="242" y="572"/>
                    <a:pt x="195" y="578"/>
                  </a:cubicBezTo>
                  <a:cubicBezTo>
                    <a:pt x="195" y="662"/>
                    <a:pt x="195" y="662"/>
                    <a:pt x="195" y="662"/>
                  </a:cubicBezTo>
                  <a:cubicBezTo>
                    <a:pt x="144" y="662"/>
                    <a:pt x="144" y="662"/>
                    <a:pt x="144" y="662"/>
                  </a:cubicBezTo>
                  <a:cubicBezTo>
                    <a:pt x="144" y="580"/>
                    <a:pt x="144" y="580"/>
                    <a:pt x="144" y="580"/>
                  </a:cubicBezTo>
                  <a:cubicBezTo>
                    <a:pt x="95" y="579"/>
                    <a:pt x="51" y="569"/>
                    <a:pt x="10" y="547"/>
                  </a:cubicBezTo>
                  <a:cubicBezTo>
                    <a:pt x="10" y="450"/>
                    <a:pt x="10" y="450"/>
                    <a:pt x="10" y="450"/>
                  </a:cubicBezTo>
                  <a:cubicBezTo>
                    <a:pt x="23" y="460"/>
                    <a:pt x="43" y="470"/>
                    <a:pt x="71" y="480"/>
                  </a:cubicBezTo>
                  <a:cubicBezTo>
                    <a:pt x="99" y="490"/>
                    <a:pt x="123" y="495"/>
                    <a:pt x="144" y="497"/>
                  </a:cubicBezTo>
                  <a:cubicBezTo>
                    <a:pt x="144" y="368"/>
                    <a:pt x="144" y="368"/>
                    <a:pt x="144" y="368"/>
                  </a:cubicBezTo>
                  <a:cubicBezTo>
                    <a:pt x="91" y="349"/>
                    <a:pt x="55" y="328"/>
                    <a:pt x="33" y="305"/>
                  </a:cubicBezTo>
                  <a:cubicBezTo>
                    <a:pt x="11" y="282"/>
                    <a:pt x="0" y="252"/>
                    <a:pt x="0" y="214"/>
                  </a:cubicBezTo>
                  <a:cubicBezTo>
                    <a:pt x="0" y="177"/>
                    <a:pt x="14" y="145"/>
                    <a:pt x="40" y="119"/>
                  </a:cubicBezTo>
                  <a:cubicBezTo>
                    <a:pt x="67" y="94"/>
                    <a:pt x="101" y="79"/>
                    <a:pt x="144" y="74"/>
                  </a:cubicBezTo>
                  <a:cubicBezTo>
                    <a:pt x="144" y="0"/>
                    <a:pt x="144" y="0"/>
                    <a:pt x="144" y="0"/>
                  </a:cubicBezTo>
                  <a:cubicBezTo>
                    <a:pt x="195" y="0"/>
                    <a:pt x="195" y="0"/>
                    <a:pt x="195" y="0"/>
                  </a:cubicBezTo>
                  <a:cubicBezTo>
                    <a:pt x="195" y="73"/>
                    <a:pt x="195" y="73"/>
                    <a:pt x="195" y="73"/>
                  </a:cubicBezTo>
                  <a:cubicBezTo>
                    <a:pt x="245" y="75"/>
                    <a:pt x="282" y="83"/>
                    <a:pt x="306" y="97"/>
                  </a:cubicBezTo>
                  <a:cubicBezTo>
                    <a:pt x="306" y="192"/>
                    <a:pt x="306" y="192"/>
                    <a:pt x="306" y="192"/>
                  </a:cubicBezTo>
                  <a:cubicBezTo>
                    <a:pt x="274" y="172"/>
                    <a:pt x="236" y="160"/>
                    <a:pt x="195" y="155"/>
                  </a:cubicBezTo>
                  <a:cubicBezTo>
                    <a:pt x="195" y="289"/>
                    <a:pt x="195" y="289"/>
                    <a:pt x="195" y="289"/>
                  </a:cubicBezTo>
                  <a:cubicBezTo>
                    <a:pt x="247" y="308"/>
                    <a:pt x="284" y="329"/>
                    <a:pt x="306" y="353"/>
                  </a:cubicBezTo>
                  <a:cubicBezTo>
                    <a:pt x="328" y="376"/>
                    <a:pt x="339" y="405"/>
                    <a:pt x="339" y="440"/>
                  </a:cubicBezTo>
                  <a:close/>
                  <a:moveTo>
                    <a:pt x="144" y="269"/>
                  </a:moveTo>
                  <a:cubicBezTo>
                    <a:pt x="144" y="157"/>
                    <a:pt x="144" y="157"/>
                    <a:pt x="144" y="157"/>
                  </a:cubicBezTo>
                  <a:cubicBezTo>
                    <a:pt x="111" y="163"/>
                    <a:pt x="94" y="180"/>
                    <a:pt x="94" y="208"/>
                  </a:cubicBezTo>
                  <a:cubicBezTo>
                    <a:pt x="94" y="233"/>
                    <a:pt x="111" y="253"/>
                    <a:pt x="144" y="269"/>
                  </a:cubicBezTo>
                  <a:close/>
                  <a:moveTo>
                    <a:pt x="246" y="445"/>
                  </a:moveTo>
                  <a:cubicBezTo>
                    <a:pt x="246" y="422"/>
                    <a:pt x="229" y="403"/>
                    <a:pt x="195" y="388"/>
                  </a:cubicBezTo>
                  <a:cubicBezTo>
                    <a:pt x="195" y="495"/>
                    <a:pt x="195" y="495"/>
                    <a:pt x="195" y="495"/>
                  </a:cubicBezTo>
                  <a:cubicBezTo>
                    <a:pt x="229" y="490"/>
                    <a:pt x="246" y="473"/>
                    <a:pt x="246" y="4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8" name="Rectangle 27">
            <a:extLst>
              <a:ext uri="{FF2B5EF4-FFF2-40B4-BE49-F238E27FC236}">
                <a16:creationId xmlns:a16="http://schemas.microsoft.com/office/drawing/2014/main" id="{D645656F-6F0A-495A-B365-0EEF0B017C6F}"/>
              </a:ext>
            </a:extLst>
          </p:cNvPr>
          <p:cNvSpPr/>
          <p:nvPr/>
        </p:nvSpPr>
        <p:spPr>
          <a:xfrm>
            <a:off x="1069069" y="1722197"/>
            <a:ext cx="3988610" cy="647354"/>
          </a:xfrm>
          <a:prstGeom prst="rect">
            <a:avLst/>
          </a:prstGeom>
        </p:spPr>
        <p:txBody>
          <a:bodyPr lIns="0" tIns="0" rIns="0" bIns="0" anchor="ctr">
            <a:noAutofit/>
          </a:bodyPr>
          <a:lstStyle/>
          <a:p>
            <a:pPr marL="0" marR="0" lvl="0" indent="0" algn="l" defTabSz="89635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Segoe UI"/>
                <a:ea typeface="+mn-ea"/>
                <a:cs typeface="+mn-cs"/>
              </a:rPr>
              <a:t>Significantly reduce the costs of running SQL IaaS and PaaS in Azure</a:t>
            </a:r>
          </a:p>
        </p:txBody>
      </p:sp>
      <p:grpSp>
        <p:nvGrpSpPr>
          <p:cNvPr id="150" name="Group 149">
            <a:extLst>
              <a:ext uri="{FF2B5EF4-FFF2-40B4-BE49-F238E27FC236}">
                <a16:creationId xmlns:a16="http://schemas.microsoft.com/office/drawing/2014/main" id="{B072FADA-A861-4253-B298-5E204082245F}"/>
              </a:ext>
              <a:ext uri="{C183D7F6-B498-43B3-948B-1728B52AA6E4}">
                <adec:decorative xmlns:adec="http://schemas.microsoft.com/office/drawing/2017/decorative" val="1"/>
              </a:ext>
            </a:extLst>
          </p:cNvPr>
          <p:cNvGrpSpPr>
            <a:grpSpLocks noChangeAspect="1"/>
          </p:cNvGrpSpPr>
          <p:nvPr/>
        </p:nvGrpSpPr>
        <p:grpSpPr>
          <a:xfrm>
            <a:off x="514563" y="2768058"/>
            <a:ext cx="228600" cy="365760"/>
            <a:chOff x="4556125" y="1585913"/>
            <a:chExt cx="309563" cy="495300"/>
          </a:xfrm>
        </p:grpSpPr>
        <p:sp>
          <p:nvSpPr>
            <p:cNvPr id="151" name="Rectangle 45">
              <a:extLst>
                <a:ext uri="{FF2B5EF4-FFF2-40B4-BE49-F238E27FC236}">
                  <a16:creationId xmlns:a16="http://schemas.microsoft.com/office/drawing/2014/main" id="{6962C18E-58E0-4EB0-BEFA-18F0552C7FBD}"/>
                </a:ext>
              </a:extLst>
            </p:cNvPr>
            <p:cNvSpPr>
              <a:spLocks noChangeArrowheads="1"/>
            </p:cNvSpPr>
            <p:nvPr/>
          </p:nvSpPr>
          <p:spPr bwMode="auto">
            <a:xfrm>
              <a:off x="4556125" y="1585913"/>
              <a:ext cx="309563" cy="495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2" name="Freeform 46">
              <a:extLst>
                <a:ext uri="{FF2B5EF4-FFF2-40B4-BE49-F238E27FC236}">
                  <a16:creationId xmlns:a16="http://schemas.microsoft.com/office/drawing/2014/main" id="{223507FD-D6B0-4C6D-B75E-C117E8BF4D19}"/>
                </a:ext>
              </a:extLst>
            </p:cNvPr>
            <p:cNvSpPr>
              <a:spLocks noEditPoints="1"/>
            </p:cNvSpPr>
            <p:nvPr/>
          </p:nvSpPr>
          <p:spPr bwMode="auto">
            <a:xfrm>
              <a:off x="4648200" y="1716088"/>
              <a:ext cx="125413" cy="234950"/>
            </a:xfrm>
            <a:custGeom>
              <a:avLst/>
              <a:gdLst>
                <a:gd name="T0" fmla="*/ 342 w 342"/>
                <a:gd name="T1" fmla="*/ 434 h 650"/>
                <a:gd name="T2" fmla="*/ 305 w 342"/>
                <a:gd name="T3" fmla="*/ 529 h 650"/>
                <a:gd name="T4" fmla="*/ 196 w 342"/>
                <a:gd name="T5" fmla="*/ 573 h 650"/>
                <a:gd name="T6" fmla="*/ 196 w 342"/>
                <a:gd name="T7" fmla="*/ 650 h 650"/>
                <a:gd name="T8" fmla="*/ 144 w 342"/>
                <a:gd name="T9" fmla="*/ 650 h 650"/>
                <a:gd name="T10" fmla="*/ 144 w 342"/>
                <a:gd name="T11" fmla="*/ 575 h 650"/>
                <a:gd name="T12" fmla="*/ 10 w 342"/>
                <a:gd name="T13" fmla="*/ 543 h 650"/>
                <a:gd name="T14" fmla="*/ 10 w 342"/>
                <a:gd name="T15" fmla="*/ 444 h 650"/>
                <a:gd name="T16" fmla="*/ 71 w 342"/>
                <a:gd name="T17" fmla="*/ 474 h 650"/>
                <a:gd name="T18" fmla="*/ 144 w 342"/>
                <a:gd name="T19" fmla="*/ 491 h 650"/>
                <a:gd name="T20" fmla="*/ 144 w 342"/>
                <a:gd name="T21" fmla="*/ 362 h 650"/>
                <a:gd name="T22" fmla="*/ 33 w 342"/>
                <a:gd name="T23" fmla="*/ 298 h 650"/>
                <a:gd name="T24" fmla="*/ 0 w 342"/>
                <a:gd name="T25" fmla="*/ 207 h 650"/>
                <a:gd name="T26" fmla="*/ 41 w 342"/>
                <a:gd name="T27" fmla="*/ 111 h 650"/>
                <a:gd name="T28" fmla="*/ 144 w 342"/>
                <a:gd name="T29" fmla="*/ 66 h 650"/>
                <a:gd name="T30" fmla="*/ 144 w 342"/>
                <a:gd name="T31" fmla="*/ 0 h 650"/>
                <a:gd name="T32" fmla="*/ 196 w 342"/>
                <a:gd name="T33" fmla="*/ 0 h 650"/>
                <a:gd name="T34" fmla="*/ 196 w 342"/>
                <a:gd name="T35" fmla="*/ 65 h 650"/>
                <a:gd name="T36" fmla="*/ 308 w 342"/>
                <a:gd name="T37" fmla="*/ 89 h 650"/>
                <a:gd name="T38" fmla="*/ 308 w 342"/>
                <a:gd name="T39" fmla="*/ 185 h 650"/>
                <a:gd name="T40" fmla="*/ 196 w 342"/>
                <a:gd name="T41" fmla="*/ 148 h 650"/>
                <a:gd name="T42" fmla="*/ 196 w 342"/>
                <a:gd name="T43" fmla="*/ 283 h 650"/>
                <a:gd name="T44" fmla="*/ 308 w 342"/>
                <a:gd name="T45" fmla="*/ 347 h 650"/>
                <a:gd name="T46" fmla="*/ 342 w 342"/>
                <a:gd name="T47" fmla="*/ 434 h 650"/>
                <a:gd name="T48" fmla="*/ 144 w 342"/>
                <a:gd name="T49" fmla="*/ 262 h 650"/>
                <a:gd name="T50" fmla="*/ 144 w 342"/>
                <a:gd name="T51" fmla="*/ 149 h 650"/>
                <a:gd name="T52" fmla="*/ 95 w 342"/>
                <a:gd name="T53" fmla="*/ 201 h 650"/>
                <a:gd name="T54" fmla="*/ 144 w 342"/>
                <a:gd name="T55" fmla="*/ 262 h 650"/>
                <a:gd name="T56" fmla="*/ 247 w 342"/>
                <a:gd name="T57" fmla="*/ 439 h 650"/>
                <a:gd name="T58" fmla="*/ 196 w 342"/>
                <a:gd name="T59" fmla="*/ 382 h 650"/>
                <a:gd name="T60" fmla="*/ 196 w 342"/>
                <a:gd name="T61" fmla="*/ 490 h 650"/>
                <a:gd name="T62" fmla="*/ 247 w 342"/>
                <a:gd name="T63" fmla="*/ 439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2" h="650">
                  <a:moveTo>
                    <a:pt x="342" y="434"/>
                  </a:moveTo>
                  <a:cubicBezTo>
                    <a:pt x="342" y="473"/>
                    <a:pt x="329" y="505"/>
                    <a:pt x="305" y="529"/>
                  </a:cubicBezTo>
                  <a:cubicBezTo>
                    <a:pt x="280" y="553"/>
                    <a:pt x="244" y="568"/>
                    <a:pt x="196" y="573"/>
                  </a:cubicBezTo>
                  <a:cubicBezTo>
                    <a:pt x="196" y="650"/>
                    <a:pt x="196" y="650"/>
                    <a:pt x="196" y="650"/>
                  </a:cubicBezTo>
                  <a:cubicBezTo>
                    <a:pt x="144" y="650"/>
                    <a:pt x="144" y="650"/>
                    <a:pt x="144" y="650"/>
                  </a:cubicBezTo>
                  <a:cubicBezTo>
                    <a:pt x="144" y="575"/>
                    <a:pt x="144" y="575"/>
                    <a:pt x="144" y="575"/>
                  </a:cubicBezTo>
                  <a:cubicBezTo>
                    <a:pt x="96" y="575"/>
                    <a:pt x="51" y="564"/>
                    <a:pt x="10" y="543"/>
                  </a:cubicBezTo>
                  <a:cubicBezTo>
                    <a:pt x="10" y="444"/>
                    <a:pt x="10" y="444"/>
                    <a:pt x="10" y="444"/>
                  </a:cubicBezTo>
                  <a:cubicBezTo>
                    <a:pt x="23" y="454"/>
                    <a:pt x="43" y="465"/>
                    <a:pt x="71" y="474"/>
                  </a:cubicBezTo>
                  <a:cubicBezTo>
                    <a:pt x="99" y="484"/>
                    <a:pt x="124" y="490"/>
                    <a:pt x="144" y="491"/>
                  </a:cubicBezTo>
                  <a:cubicBezTo>
                    <a:pt x="144" y="362"/>
                    <a:pt x="144" y="362"/>
                    <a:pt x="144" y="362"/>
                  </a:cubicBezTo>
                  <a:cubicBezTo>
                    <a:pt x="92" y="342"/>
                    <a:pt x="55" y="321"/>
                    <a:pt x="33" y="298"/>
                  </a:cubicBezTo>
                  <a:cubicBezTo>
                    <a:pt x="11" y="275"/>
                    <a:pt x="0" y="245"/>
                    <a:pt x="0" y="207"/>
                  </a:cubicBezTo>
                  <a:cubicBezTo>
                    <a:pt x="0" y="169"/>
                    <a:pt x="14" y="137"/>
                    <a:pt x="41" y="111"/>
                  </a:cubicBezTo>
                  <a:cubicBezTo>
                    <a:pt x="67" y="85"/>
                    <a:pt x="102" y="70"/>
                    <a:pt x="144" y="66"/>
                  </a:cubicBezTo>
                  <a:cubicBezTo>
                    <a:pt x="144" y="0"/>
                    <a:pt x="144" y="0"/>
                    <a:pt x="144" y="0"/>
                  </a:cubicBezTo>
                  <a:cubicBezTo>
                    <a:pt x="196" y="0"/>
                    <a:pt x="196" y="0"/>
                    <a:pt x="196" y="0"/>
                  </a:cubicBezTo>
                  <a:cubicBezTo>
                    <a:pt x="196" y="65"/>
                    <a:pt x="196" y="65"/>
                    <a:pt x="196" y="65"/>
                  </a:cubicBezTo>
                  <a:cubicBezTo>
                    <a:pt x="246" y="67"/>
                    <a:pt x="284" y="75"/>
                    <a:pt x="308" y="89"/>
                  </a:cubicBezTo>
                  <a:cubicBezTo>
                    <a:pt x="308" y="185"/>
                    <a:pt x="308" y="185"/>
                    <a:pt x="308" y="185"/>
                  </a:cubicBezTo>
                  <a:cubicBezTo>
                    <a:pt x="275" y="165"/>
                    <a:pt x="238" y="153"/>
                    <a:pt x="196" y="148"/>
                  </a:cubicBezTo>
                  <a:cubicBezTo>
                    <a:pt x="196" y="283"/>
                    <a:pt x="196" y="283"/>
                    <a:pt x="196" y="283"/>
                  </a:cubicBezTo>
                  <a:cubicBezTo>
                    <a:pt x="249" y="302"/>
                    <a:pt x="286" y="323"/>
                    <a:pt x="308" y="347"/>
                  </a:cubicBezTo>
                  <a:cubicBezTo>
                    <a:pt x="331" y="370"/>
                    <a:pt x="342" y="399"/>
                    <a:pt x="342" y="434"/>
                  </a:cubicBezTo>
                  <a:close/>
                  <a:moveTo>
                    <a:pt x="144" y="262"/>
                  </a:moveTo>
                  <a:cubicBezTo>
                    <a:pt x="144" y="149"/>
                    <a:pt x="144" y="149"/>
                    <a:pt x="144" y="149"/>
                  </a:cubicBezTo>
                  <a:cubicBezTo>
                    <a:pt x="111" y="155"/>
                    <a:pt x="95" y="172"/>
                    <a:pt x="95" y="201"/>
                  </a:cubicBezTo>
                  <a:cubicBezTo>
                    <a:pt x="95" y="226"/>
                    <a:pt x="111" y="246"/>
                    <a:pt x="144" y="262"/>
                  </a:cubicBezTo>
                  <a:close/>
                  <a:moveTo>
                    <a:pt x="247" y="439"/>
                  </a:moveTo>
                  <a:cubicBezTo>
                    <a:pt x="247" y="416"/>
                    <a:pt x="230" y="397"/>
                    <a:pt x="196" y="382"/>
                  </a:cubicBezTo>
                  <a:cubicBezTo>
                    <a:pt x="196" y="490"/>
                    <a:pt x="196" y="490"/>
                    <a:pt x="196" y="490"/>
                  </a:cubicBezTo>
                  <a:cubicBezTo>
                    <a:pt x="230" y="484"/>
                    <a:pt x="247" y="468"/>
                    <a:pt x="247" y="439"/>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9" name="Rectangle 28">
            <a:extLst>
              <a:ext uri="{FF2B5EF4-FFF2-40B4-BE49-F238E27FC236}">
                <a16:creationId xmlns:a16="http://schemas.microsoft.com/office/drawing/2014/main" id="{E156602B-9AB7-4D67-AC4B-851393C90B5A}"/>
              </a:ext>
            </a:extLst>
          </p:cNvPr>
          <p:cNvSpPr/>
          <p:nvPr/>
        </p:nvSpPr>
        <p:spPr>
          <a:xfrm>
            <a:off x="1069070" y="2628451"/>
            <a:ext cx="4293409" cy="647354"/>
          </a:xfrm>
          <a:prstGeom prst="rect">
            <a:avLst/>
          </a:prstGeom>
        </p:spPr>
        <p:txBody>
          <a:bodyPr lIns="0" tIns="0" rIns="0" bIns="0" anchor="ctr">
            <a:noAutofit/>
          </a:bodyPr>
          <a:lstStyle/>
          <a:p>
            <a:pPr marL="0" marR="0" lvl="0" indent="0" algn="l" defTabSz="89635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a:ea typeface="+mn-ea"/>
                <a:cs typeface="+mn-cs"/>
              </a:rPr>
              <a:t>Pay only the ‘base rate’ in Azure on SQL IaaS, SQL DB PaaS, and ADF v2 SSIS</a:t>
            </a:r>
          </a:p>
        </p:txBody>
      </p:sp>
      <p:grpSp>
        <p:nvGrpSpPr>
          <p:cNvPr id="143" name="Group 142">
            <a:extLst>
              <a:ext uri="{FF2B5EF4-FFF2-40B4-BE49-F238E27FC236}">
                <a16:creationId xmlns:a16="http://schemas.microsoft.com/office/drawing/2014/main" id="{93CF40B3-E760-45A3-9A16-ABB1ADEB0EB3}"/>
              </a:ext>
              <a:ext uri="{C183D7F6-B498-43B3-948B-1728B52AA6E4}">
                <adec:decorative xmlns:adec="http://schemas.microsoft.com/office/drawing/2017/decorative" val="1"/>
              </a:ext>
            </a:extLst>
          </p:cNvPr>
          <p:cNvGrpSpPr>
            <a:grpSpLocks noChangeAspect="1"/>
          </p:cNvGrpSpPr>
          <p:nvPr/>
        </p:nvGrpSpPr>
        <p:grpSpPr>
          <a:xfrm>
            <a:off x="503426" y="3673419"/>
            <a:ext cx="250874" cy="365760"/>
            <a:chOff x="6448425" y="1585913"/>
            <a:chExt cx="339725" cy="495300"/>
          </a:xfrm>
        </p:grpSpPr>
        <p:sp>
          <p:nvSpPr>
            <p:cNvPr id="144" name="Rectangle 138">
              <a:extLst>
                <a:ext uri="{FF2B5EF4-FFF2-40B4-BE49-F238E27FC236}">
                  <a16:creationId xmlns:a16="http://schemas.microsoft.com/office/drawing/2014/main" id="{6F6DC311-BFFB-4652-A155-C996360A76CB}"/>
                </a:ext>
              </a:extLst>
            </p:cNvPr>
            <p:cNvSpPr>
              <a:spLocks noChangeArrowheads="1"/>
            </p:cNvSpPr>
            <p:nvPr/>
          </p:nvSpPr>
          <p:spPr bwMode="auto">
            <a:xfrm>
              <a:off x="6448425" y="1585913"/>
              <a:ext cx="339725" cy="4953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5" name="Rectangle 139">
              <a:extLst>
                <a:ext uri="{FF2B5EF4-FFF2-40B4-BE49-F238E27FC236}">
                  <a16:creationId xmlns:a16="http://schemas.microsoft.com/office/drawing/2014/main" id="{3A580449-FDE2-4198-8DD8-952C0A581EED}"/>
                </a:ext>
              </a:extLst>
            </p:cNvPr>
            <p:cNvSpPr>
              <a:spLocks noChangeArrowheads="1"/>
            </p:cNvSpPr>
            <p:nvPr/>
          </p:nvSpPr>
          <p:spPr bwMode="auto">
            <a:xfrm>
              <a:off x="6494463" y="1647826"/>
              <a:ext cx="247650" cy="46038"/>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6" name="Rectangle 140">
              <a:extLst>
                <a:ext uri="{FF2B5EF4-FFF2-40B4-BE49-F238E27FC236}">
                  <a16:creationId xmlns:a16="http://schemas.microsoft.com/office/drawing/2014/main" id="{437040A0-175B-4FD4-AE6B-F6FB7AD20158}"/>
                </a:ext>
              </a:extLst>
            </p:cNvPr>
            <p:cNvSpPr>
              <a:spLocks noChangeArrowheads="1"/>
            </p:cNvSpPr>
            <p:nvPr/>
          </p:nvSpPr>
          <p:spPr bwMode="auto">
            <a:xfrm>
              <a:off x="6494463" y="1725613"/>
              <a:ext cx="247650" cy="4603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7" name="Rectangle 141">
              <a:extLst>
                <a:ext uri="{FF2B5EF4-FFF2-40B4-BE49-F238E27FC236}">
                  <a16:creationId xmlns:a16="http://schemas.microsoft.com/office/drawing/2014/main" id="{85518C09-4E61-4829-BA70-E0D62C80EC22}"/>
                </a:ext>
              </a:extLst>
            </p:cNvPr>
            <p:cNvSpPr>
              <a:spLocks noChangeArrowheads="1"/>
            </p:cNvSpPr>
            <p:nvPr/>
          </p:nvSpPr>
          <p:spPr bwMode="auto">
            <a:xfrm>
              <a:off x="6494463" y="1801813"/>
              <a:ext cx="247650" cy="4762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8" name="Rectangle 142">
              <a:extLst>
                <a:ext uri="{FF2B5EF4-FFF2-40B4-BE49-F238E27FC236}">
                  <a16:creationId xmlns:a16="http://schemas.microsoft.com/office/drawing/2014/main" id="{D2A4399C-3644-496C-9B4B-C2AD533B5D9B}"/>
                </a:ext>
              </a:extLst>
            </p:cNvPr>
            <p:cNvSpPr>
              <a:spLocks noChangeArrowheads="1"/>
            </p:cNvSpPr>
            <p:nvPr/>
          </p:nvSpPr>
          <p:spPr bwMode="auto">
            <a:xfrm>
              <a:off x="6494463" y="1879601"/>
              <a:ext cx="247650" cy="4603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9" name="Rectangle 143">
              <a:extLst>
                <a:ext uri="{FF2B5EF4-FFF2-40B4-BE49-F238E27FC236}">
                  <a16:creationId xmlns:a16="http://schemas.microsoft.com/office/drawing/2014/main" id="{CB023E25-15E4-4A18-9A38-39A6FCC8A6C8}"/>
                </a:ext>
              </a:extLst>
            </p:cNvPr>
            <p:cNvSpPr>
              <a:spLocks noChangeArrowheads="1"/>
            </p:cNvSpPr>
            <p:nvPr/>
          </p:nvSpPr>
          <p:spPr bwMode="auto">
            <a:xfrm>
              <a:off x="6494463" y="1957388"/>
              <a:ext cx="139700" cy="4603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30" name="Rectangle 29">
            <a:extLst>
              <a:ext uri="{FF2B5EF4-FFF2-40B4-BE49-F238E27FC236}">
                <a16:creationId xmlns:a16="http://schemas.microsoft.com/office/drawing/2014/main" id="{0DC074F8-BF89-4F08-BCD0-7CCB133E9096}"/>
              </a:ext>
            </a:extLst>
          </p:cNvPr>
          <p:cNvSpPr/>
          <p:nvPr/>
        </p:nvSpPr>
        <p:spPr>
          <a:xfrm>
            <a:off x="1069070" y="3534705"/>
            <a:ext cx="5379259" cy="647354"/>
          </a:xfrm>
          <a:prstGeom prst="rect">
            <a:avLst/>
          </a:prstGeom>
        </p:spPr>
        <p:txBody>
          <a:bodyPr lIns="0" tIns="0" rIns="0" bIns="0" anchor="ctr">
            <a:noAutofit/>
          </a:bodyPr>
          <a:lstStyle/>
          <a:p>
            <a:pPr marL="0" marR="0" lvl="0" indent="0" algn="l" defTabSz="89635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Segoe UI"/>
                <a:ea typeface="+mn-ea"/>
                <a:cs typeface="+mn-cs"/>
              </a:rPr>
              <a:t>Available for SQL Server core licenses only</a:t>
            </a:r>
          </a:p>
        </p:txBody>
      </p:sp>
      <p:grpSp>
        <p:nvGrpSpPr>
          <p:cNvPr id="124" name="Group 10">
            <a:extLst>
              <a:ext uri="{FF2B5EF4-FFF2-40B4-BE49-F238E27FC236}">
                <a16:creationId xmlns:a16="http://schemas.microsoft.com/office/drawing/2014/main" id="{6E5EA9AC-029C-4875-94C0-45E8469FB8C0}"/>
              </a:ext>
              <a:ext uri="{C183D7F6-B498-43B3-948B-1728B52AA6E4}">
                <adec:decorative xmlns:adec="http://schemas.microsoft.com/office/drawing/2017/decorative" val="1"/>
              </a:ext>
            </a:extLst>
          </p:cNvPr>
          <p:cNvGrpSpPr>
            <a:grpSpLocks noChangeAspect="1"/>
          </p:cNvGrpSpPr>
          <p:nvPr/>
        </p:nvGrpSpPr>
        <p:grpSpPr bwMode="auto">
          <a:xfrm>
            <a:off x="443638" y="4578780"/>
            <a:ext cx="370450" cy="365760"/>
            <a:chOff x="410" y="999"/>
            <a:chExt cx="316" cy="312"/>
          </a:xfrm>
        </p:grpSpPr>
        <p:sp>
          <p:nvSpPr>
            <p:cNvPr id="125" name="Freeform 11">
              <a:extLst>
                <a:ext uri="{FF2B5EF4-FFF2-40B4-BE49-F238E27FC236}">
                  <a16:creationId xmlns:a16="http://schemas.microsoft.com/office/drawing/2014/main" id="{0E9FCCCD-4482-4699-9296-0B79B2387318}"/>
                </a:ext>
              </a:extLst>
            </p:cNvPr>
            <p:cNvSpPr>
              <a:spLocks/>
            </p:cNvSpPr>
            <p:nvPr/>
          </p:nvSpPr>
          <p:spPr bwMode="auto">
            <a:xfrm>
              <a:off x="634" y="999"/>
              <a:ext cx="31" cy="27"/>
            </a:xfrm>
            <a:custGeom>
              <a:avLst/>
              <a:gdLst>
                <a:gd name="T0" fmla="*/ 24 w 31"/>
                <a:gd name="T1" fmla="*/ 27 h 27"/>
                <a:gd name="T2" fmla="*/ 0 w 31"/>
                <a:gd name="T3" fmla="*/ 18 h 27"/>
                <a:gd name="T4" fmla="*/ 7 w 31"/>
                <a:gd name="T5" fmla="*/ 0 h 27"/>
                <a:gd name="T6" fmla="*/ 31 w 31"/>
                <a:gd name="T7" fmla="*/ 9 h 27"/>
                <a:gd name="T8" fmla="*/ 24 w 31"/>
                <a:gd name="T9" fmla="*/ 27 h 27"/>
              </a:gdLst>
              <a:ahLst/>
              <a:cxnLst>
                <a:cxn ang="0">
                  <a:pos x="T0" y="T1"/>
                </a:cxn>
                <a:cxn ang="0">
                  <a:pos x="T2" y="T3"/>
                </a:cxn>
                <a:cxn ang="0">
                  <a:pos x="T4" y="T5"/>
                </a:cxn>
                <a:cxn ang="0">
                  <a:pos x="T6" y="T7"/>
                </a:cxn>
                <a:cxn ang="0">
                  <a:pos x="T8" y="T9"/>
                </a:cxn>
              </a:cxnLst>
              <a:rect l="0" t="0" r="r" b="b"/>
              <a:pathLst>
                <a:path w="31" h="27">
                  <a:moveTo>
                    <a:pt x="24" y="27"/>
                  </a:moveTo>
                  <a:lnTo>
                    <a:pt x="0" y="18"/>
                  </a:lnTo>
                  <a:lnTo>
                    <a:pt x="7" y="0"/>
                  </a:lnTo>
                  <a:lnTo>
                    <a:pt x="31" y="9"/>
                  </a:lnTo>
                  <a:lnTo>
                    <a:pt x="24" y="2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6" name="Freeform 12">
              <a:extLst>
                <a:ext uri="{FF2B5EF4-FFF2-40B4-BE49-F238E27FC236}">
                  <a16:creationId xmlns:a16="http://schemas.microsoft.com/office/drawing/2014/main" id="{E8407DC4-56B3-4F4B-9EF9-BB687B7B7C59}"/>
                </a:ext>
              </a:extLst>
            </p:cNvPr>
            <p:cNvSpPr>
              <a:spLocks/>
            </p:cNvSpPr>
            <p:nvPr/>
          </p:nvSpPr>
          <p:spPr bwMode="auto">
            <a:xfrm>
              <a:off x="552" y="1000"/>
              <a:ext cx="32" cy="28"/>
            </a:xfrm>
            <a:custGeom>
              <a:avLst/>
              <a:gdLst>
                <a:gd name="T0" fmla="*/ 0 w 32"/>
                <a:gd name="T1" fmla="*/ 10 h 28"/>
                <a:gd name="T2" fmla="*/ 24 w 32"/>
                <a:gd name="T3" fmla="*/ 0 h 28"/>
                <a:gd name="T4" fmla="*/ 32 w 32"/>
                <a:gd name="T5" fmla="*/ 18 h 28"/>
                <a:gd name="T6" fmla="*/ 8 w 32"/>
                <a:gd name="T7" fmla="*/ 28 h 28"/>
                <a:gd name="T8" fmla="*/ 0 w 32"/>
                <a:gd name="T9" fmla="*/ 10 h 28"/>
              </a:gdLst>
              <a:ahLst/>
              <a:cxnLst>
                <a:cxn ang="0">
                  <a:pos x="T0" y="T1"/>
                </a:cxn>
                <a:cxn ang="0">
                  <a:pos x="T2" y="T3"/>
                </a:cxn>
                <a:cxn ang="0">
                  <a:pos x="T4" y="T5"/>
                </a:cxn>
                <a:cxn ang="0">
                  <a:pos x="T6" y="T7"/>
                </a:cxn>
                <a:cxn ang="0">
                  <a:pos x="T8" y="T9"/>
                </a:cxn>
              </a:cxnLst>
              <a:rect l="0" t="0" r="r" b="b"/>
              <a:pathLst>
                <a:path w="32" h="28">
                  <a:moveTo>
                    <a:pt x="0" y="10"/>
                  </a:moveTo>
                  <a:lnTo>
                    <a:pt x="24" y="0"/>
                  </a:lnTo>
                  <a:lnTo>
                    <a:pt x="32" y="18"/>
                  </a:lnTo>
                  <a:lnTo>
                    <a:pt x="8" y="28"/>
                  </a:lnTo>
                  <a:lnTo>
                    <a:pt x="0" y="1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7" name="Rectangle 126">
              <a:extLst>
                <a:ext uri="{FF2B5EF4-FFF2-40B4-BE49-F238E27FC236}">
                  <a16:creationId xmlns:a16="http://schemas.microsoft.com/office/drawing/2014/main" id="{5796671C-32C6-42D1-8433-ED65AAA39BAE}"/>
                </a:ext>
              </a:extLst>
            </p:cNvPr>
            <p:cNvSpPr>
              <a:spLocks noChangeArrowheads="1"/>
            </p:cNvSpPr>
            <p:nvPr/>
          </p:nvSpPr>
          <p:spPr bwMode="auto">
            <a:xfrm>
              <a:off x="472" y="1299"/>
              <a:ext cx="15" cy="1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8" name="Rectangle 127">
              <a:extLst>
                <a:ext uri="{FF2B5EF4-FFF2-40B4-BE49-F238E27FC236}">
                  <a16:creationId xmlns:a16="http://schemas.microsoft.com/office/drawing/2014/main" id="{D551BBF9-E47F-4A0B-8CB9-B95787A6ADEA}"/>
                </a:ext>
              </a:extLst>
            </p:cNvPr>
            <p:cNvSpPr>
              <a:spLocks noChangeArrowheads="1"/>
            </p:cNvSpPr>
            <p:nvPr/>
          </p:nvSpPr>
          <p:spPr bwMode="auto">
            <a:xfrm>
              <a:off x="410" y="1236"/>
              <a:ext cx="12" cy="14"/>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9" name="Freeform 15">
              <a:extLst>
                <a:ext uri="{FF2B5EF4-FFF2-40B4-BE49-F238E27FC236}">
                  <a16:creationId xmlns:a16="http://schemas.microsoft.com/office/drawing/2014/main" id="{A6932496-9127-460A-8B7E-88B9FDC76E52}"/>
                </a:ext>
              </a:extLst>
            </p:cNvPr>
            <p:cNvSpPr>
              <a:spLocks/>
            </p:cNvSpPr>
            <p:nvPr/>
          </p:nvSpPr>
          <p:spPr bwMode="auto">
            <a:xfrm>
              <a:off x="425" y="1278"/>
              <a:ext cx="19" cy="18"/>
            </a:xfrm>
            <a:custGeom>
              <a:avLst/>
              <a:gdLst>
                <a:gd name="T0" fmla="*/ 8 w 19"/>
                <a:gd name="T1" fmla="*/ 0 h 18"/>
                <a:gd name="T2" fmla="*/ 19 w 19"/>
                <a:gd name="T3" fmla="*/ 10 h 18"/>
                <a:gd name="T4" fmla="*/ 11 w 19"/>
                <a:gd name="T5" fmla="*/ 18 h 18"/>
                <a:gd name="T6" fmla="*/ 0 w 19"/>
                <a:gd name="T7" fmla="*/ 8 h 18"/>
                <a:gd name="T8" fmla="*/ 8 w 19"/>
                <a:gd name="T9" fmla="*/ 0 h 18"/>
              </a:gdLst>
              <a:ahLst/>
              <a:cxnLst>
                <a:cxn ang="0">
                  <a:pos x="T0" y="T1"/>
                </a:cxn>
                <a:cxn ang="0">
                  <a:pos x="T2" y="T3"/>
                </a:cxn>
                <a:cxn ang="0">
                  <a:pos x="T4" y="T5"/>
                </a:cxn>
                <a:cxn ang="0">
                  <a:pos x="T6" y="T7"/>
                </a:cxn>
                <a:cxn ang="0">
                  <a:pos x="T8" y="T9"/>
                </a:cxn>
              </a:cxnLst>
              <a:rect l="0" t="0" r="r" b="b"/>
              <a:pathLst>
                <a:path w="19" h="18">
                  <a:moveTo>
                    <a:pt x="8" y="0"/>
                  </a:moveTo>
                  <a:lnTo>
                    <a:pt x="19" y="10"/>
                  </a:lnTo>
                  <a:lnTo>
                    <a:pt x="11" y="18"/>
                  </a:lnTo>
                  <a:lnTo>
                    <a:pt x="0" y="8"/>
                  </a:lnTo>
                  <a:lnTo>
                    <a:pt x="8"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0" name="Freeform 16">
              <a:extLst>
                <a:ext uri="{FF2B5EF4-FFF2-40B4-BE49-F238E27FC236}">
                  <a16:creationId xmlns:a16="http://schemas.microsoft.com/office/drawing/2014/main" id="{3A395722-34CF-440E-B1C2-A932A86E811F}"/>
                </a:ext>
              </a:extLst>
            </p:cNvPr>
            <p:cNvSpPr>
              <a:spLocks noEditPoints="1"/>
            </p:cNvSpPr>
            <p:nvPr/>
          </p:nvSpPr>
          <p:spPr bwMode="auto">
            <a:xfrm>
              <a:off x="494" y="1009"/>
              <a:ext cx="232" cy="204"/>
            </a:xfrm>
            <a:custGeom>
              <a:avLst/>
              <a:gdLst>
                <a:gd name="T0" fmla="*/ 507 w 1015"/>
                <a:gd name="T1" fmla="*/ 128 h 896"/>
                <a:gd name="T2" fmla="*/ 626 w 1015"/>
                <a:gd name="T3" fmla="*/ 151 h 896"/>
                <a:gd name="T4" fmla="*/ 801 w 1015"/>
                <a:gd name="T5" fmla="*/ 322 h 896"/>
                <a:gd name="T6" fmla="*/ 804 w 1015"/>
                <a:gd name="T7" fmla="*/ 567 h 896"/>
                <a:gd name="T8" fmla="*/ 685 w 1015"/>
                <a:gd name="T9" fmla="*/ 714 h 896"/>
                <a:gd name="T10" fmla="*/ 600 w 1015"/>
                <a:gd name="T11" fmla="*/ 754 h 896"/>
                <a:gd name="T12" fmla="*/ 507 w 1015"/>
                <a:gd name="T13" fmla="*/ 768 h 896"/>
                <a:gd name="T14" fmla="*/ 389 w 1015"/>
                <a:gd name="T15" fmla="*/ 745 h 896"/>
                <a:gd name="T16" fmla="*/ 213 w 1015"/>
                <a:gd name="T17" fmla="*/ 575 h 896"/>
                <a:gd name="T18" fmla="*/ 210 w 1015"/>
                <a:gd name="T19" fmla="*/ 330 h 896"/>
                <a:gd name="T20" fmla="*/ 330 w 1015"/>
                <a:gd name="T21" fmla="*/ 182 h 896"/>
                <a:gd name="T22" fmla="*/ 414 w 1015"/>
                <a:gd name="T23" fmla="*/ 142 h 896"/>
                <a:gd name="T24" fmla="*/ 507 w 1015"/>
                <a:gd name="T25" fmla="*/ 128 h 896"/>
                <a:gd name="T26" fmla="*/ 507 w 1015"/>
                <a:gd name="T27" fmla="*/ 128 h 896"/>
                <a:gd name="T28" fmla="*/ 507 w 1015"/>
                <a:gd name="T29" fmla="*/ 128 h 896"/>
                <a:gd name="T30" fmla="*/ 507 w 1015"/>
                <a:gd name="T31" fmla="*/ 0 h 896"/>
                <a:gd name="T32" fmla="*/ 91 w 1015"/>
                <a:gd name="T33" fmla="*/ 282 h 896"/>
                <a:gd name="T34" fmla="*/ 341 w 1015"/>
                <a:gd name="T35" fmla="*/ 864 h 896"/>
                <a:gd name="T36" fmla="*/ 507 w 1015"/>
                <a:gd name="T37" fmla="*/ 896 h 896"/>
                <a:gd name="T38" fmla="*/ 923 w 1015"/>
                <a:gd name="T39" fmla="*/ 614 h 896"/>
                <a:gd name="T40" fmla="*/ 673 w 1015"/>
                <a:gd name="T41" fmla="*/ 32 h 896"/>
                <a:gd name="T42" fmla="*/ 507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7" y="128"/>
                  </a:moveTo>
                  <a:cubicBezTo>
                    <a:pt x="548" y="128"/>
                    <a:pt x="588" y="136"/>
                    <a:pt x="626" y="151"/>
                  </a:cubicBezTo>
                  <a:cubicBezTo>
                    <a:pt x="705" y="183"/>
                    <a:pt x="767" y="244"/>
                    <a:pt x="801" y="322"/>
                  </a:cubicBezTo>
                  <a:cubicBezTo>
                    <a:pt x="835" y="401"/>
                    <a:pt x="836" y="487"/>
                    <a:pt x="804" y="567"/>
                  </a:cubicBezTo>
                  <a:cubicBezTo>
                    <a:pt x="780" y="627"/>
                    <a:pt x="739" y="679"/>
                    <a:pt x="685" y="714"/>
                  </a:cubicBezTo>
                  <a:cubicBezTo>
                    <a:pt x="659" y="732"/>
                    <a:pt x="630" y="745"/>
                    <a:pt x="600" y="754"/>
                  </a:cubicBezTo>
                  <a:cubicBezTo>
                    <a:pt x="570" y="764"/>
                    <a:pt x="538" y="768"/>
                    <a:pt x="507" y="768"/>
                  </a:cubicBezTo>
                  <a:cubicBezTo>
                    <a:pt x="467" y="768"/>
                    <a:pt x="427" y="761"/>
                    <a:pt x="389" y="745"/>
                  </a:cubicBezTo>
                  <a:cubicBezTo>
                    <a:pt x="309" y="714"/>
                    <a:pt x="247" y="653"/>
                    <a:pt x="213" y="575"/>
                  </a:cubicBezTo>
                  <a:cubicBezTo>
                    <a:pt x="180" y="496"/>
                    <a:pt x="178" y="409"/>
                    <a:pt x="210" y="330"/>
                  </a:cubicBezTo>
                  <a:cubicBezTo>
                    <a:pt x="234" y="269"/>
                    <a:pt x="276" y="218"/>
                    <a:pt x="330" y="182"/>
                  </a:cubicBezTo>
                  <a:cubicBezTo>
                    <a:pt x="356" y="165"/>
                    <a:pt x="384" y="151"/>
                    <a:pt x="414" y="142"/>
                  </a:cubicBezTo>
                  <a:cubicBezTo>
                    <a:pt x="445" y="133"/>
                    <a:pt x="476" y="128"/>
                    <a:pt x="507" y="128"/>
                  </a:cubicBezTo>
                  <a:cubicBezTo>
                    <a:pt x="507" y="128"/>
                    <a:pt x="507" y="128"/>
                    <a:pt x="507" y="128"/>
                  </a:cubicBezTo>
                  <a:cubicBezTo>
                    <a:pt x="507" y="128"/>
                    <a:pt x="507" y="128"/>
                    <a:pt x="507" y="128"/>
                  </a:cubicBezTo>
                  <a:moveTo>
                    <a:pt x="507" y="0"/>
                  </a:moveTo>
                  <a:cubicBezTo>
                    <a:pt x="329" y="0"/>
                    <a:pt x="161" y="107"/>
                    <a:pt x="91" y="282"/>
                  </a:cubicBezTo>
                  <a:cubicBezTo>
                    <a:pt x="0" y="512"/>
                    <a:pt x="111" y="773"/>
                    <a:pt x="341" y="864"/>
                  </a:cubicBezTo>
                  <a:cubicBezTo>
                    <a:pt x="396" y="886"/>
                    <a:pt x="452" y="896"/>
                    <a:pt x="507" y="896"/>
                  </a:cubicBezTo>
                  <a:cubicBezTo>
                    <a:pt x="685" y="896"/>
                    <a:pt x="853" y="790"/>
                    <a:pt x="923" y="614"/>
                  </a:cubicBezTo>
                  <a:cubicBezTo>
                    <a:pt x="1015" y="385"/>
                    <a:pt x="903" y="124"/>
                    <a:pt x="673" y="32"/>
                  </a:cubicBezTo>
                  <a:cubicBezTo>
                    <a:pt x="619" y="11"/>
                    <a:pt x="563" y="0"/>
                    <a:pt x="507" y="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1" name="Freeform 17">
              <a:extLst>
                <a:ext uri="{FF2B5EF4-FFF2-40B4-BE49-F238E27FC236}">
                  <a16:creationId xmlns:a16="http://schemas.microsoft.com/office/drawing/2014/main" id="{0CB54A51-0D87-4864-95B9-73B5DF3E3231}"/>
                </a:ext>
              </a:extLst>
            </p:cNvPr>
            <p:cNvSpPr>
              <a:spLocks/>
            </p:cNvSpPr>
            <p:nvPr/>
          </p:nvSpPr>
          <p:spPr bwMode="auto">
            <a:xfrm>
              <a:off x="555" y="1196"/>
              <a:ext cx="31" cy="27"/>
            </a:xfrm>
            <a:custGeom>
              <a:avLst/>
              <a:gdLst>
                <a:gd name="T0" fmla="*/ 24 w 31"/>
                <a:gd name="T1" fmla="*/ 27 h 27"/>
                <a:gd name="T2" fmla="*/ 0 w 31"/>
                <a:gd name="T3" fmla="*/ 18 h 27"/>
                <a:gd name="T4" fmla="*/ 7 w 31"/>
                <a:gd name="T5" fmla="*/ 0 h 27"/>
                <a:gd name="T6" fmla="*/ 31 w 31"/>
                <a:gd name="T7" fmla="*/ 9 h 27"/>
                <a:gd name="T8" fmla="*/ 24 w 31"/>
                <a:gd name="T9" fmla="*/ 27 h 27"/>
              </a:gdLst>
              <a:ahLst/>
              <a:cxnLst>
                <a:cxn ang="0">
                  <a:pos x="T0" y="T1"/>
                </a:cxn>
                <a:cxn ang="0">
                  <a:pos x="T2" y="T3"/>
                </a:cxn>
                <a:cxn ang="0">
                  <a:pos x="T4" y="T5"/>
                </a:cxn>
                <a:cxn ang="0">
                  <a:pos x="T6" y="T7"/>
                </a:cxn>
                <a:cxn ang="0">
                  <a:pos x="T8" y="T9"/>
                </a:cxn>
              </a:cxnLst>
              <a:rect l="0" t="0" r="r" b="b"/>
              <a:pathLst>
                <a:path w="31" h="27">
                  <a:moveTo>
                    <a:pt x="24" y="27"/>
                  </a:moveTo>
                  <a:lnTo>
                    <a:pt x="0" y="18"/>
                  </a:lnTo>
                  <a:lnTo>
                    <a:pt x="7" y="0"/>
                  </a:lnTo>
                  <a:lnTo>
                    <a:pt x="31" y="9"/>
                  </a:lnTo>
                  <a:lnTo>
                    <a:pt x="24" y="2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2" name="Freeform 18">
              <a:extLst>
                <a:ext uri="{FF2B5EF4-FFF2-40B4-BE49-F238E27FC236}">
                  <a16:creationId xmlns:a16="http://schemas.microsoft.com/office/drawing/2014/main" id="{89C8C564-BF7F-4816-BF93-D6DC1E4B9B17}"/>
                </a:ext>
              </a:extLst>
            </p:cNvPr>
            <p:cNvSpPr>
              <a:spLocks/>
            </p:cNvSpPr>
            <p:nvPr/>
          </p:nvSpPr>
          <p:spPr bwMode="auto">
            <a:xfrm>
              <a:off x="695" y="1135"/>
              <a:ext cx="27" cy="31"/>
            </a:xfrm>
            <a:custGeom>
              <a:avLst/>
              <a:gdLst>
                <a:gd name="T0" fmla="*/ 27 w 27"/>
                <a:gd name="T1" fmla="*/ 7 h 31"/>
                <a:gd name="T2" fmla="*/ 17 w 27"/>
                <a:gd name="T3" fmla="*/ 31 h 31"/>
                <a:gd name="T4" fmla="*/ 0 w 27"/>
                <a:gd name="T5" fmla="*/ 24 h 31"/>
                <a:gd name="T6" fmla="*/ 9 w 27"/>
                <a:gd name="T7" fmla="*/ 0 h 31"/>
                <a:gd name="T8" fmla="*/ 27 w 27"/>
                <a:gd name="T9" fmla="*/ 7 h 31"/>
              </a:gdLst>
              <a:ahLst/>
              <a:cxnLst>
                <a:cxn ang="0">
                  <a:pos x="T0" y="T1"/>
                </a:cxn>
                <a:cxn ang="0">
                  <a:pos x="T2" y="T3"/>
                </a:cxn>
                <a:cxn ang="0">
                  <a:pos x="T4" y="T5"/>
                </a:cxn>
                <a:cxn ang="0">
                  <a:pos x="T6" y="T7"/>
                </a:cxn>
                <a:cxn ang="0">
                  <a:pos x="T8" y="T9"/>
                </a:cxn>
              </a:cxnLst>
              <a:rect l="0" t="0" r="r" b="b"/>
              <a:pathLst>
                <a:path w="27" h="31">
                  <a:moveTo>
                    <a:pt x="27" y="7"/>
                  </a:moveTo>
                  <a:lnTo>
                    <a:pt x="17" y="31"/>
                  </a:lnTo>
                  <a:lnTo>
                    <a:pt x="0" y="24"/>
                  </a:lnTo>
                  <a:lnTo>
                    <a:pt x="9" y="0"/>
                  </a:lnTo>
                  <a:lnTo>
                    <a:pt x="27" y="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3" name="Freeform 19">
              <a:extLst>
                <a:ext uri="{FF2B5EF4-FFF2-40B4-BE49-F238E27FC236}">
                  <a16:creationId xmlns:a16="http://schemas.microsoft.com/office/drawing/2014/main" id="{865885D8-1B3A-4014-81B6-987E1540BE79}"/>
                </a:ext>
              </a:extLst>
            </p:cNvPr>
            <p:cNvSpPr>
              <a:spLocks/>
            </p:cNvSpPr>
            <p:nvPr/>
          </p:nvSpPr>
          <p:spPr bwMode="auto">
            <a:xfrm>
              <a:off x="498" y="1056"/>
              <a:ext cx="27" cy="31"/>
            </a:xfrm>
            <a:custGeom>
              <a:avLst/>
              <a:gdLst>
                <a:gd name="T0" fmla="*/ 27 w 27"/>
                <a:gd name="T1" fmla="*/ 7 h 31"/>
                <a:gd name="T2" fmla="*/ 18 w 27"/>
                <a:gd name="T3" fmla="*/ 31 h 31"/>
                <a:gd name="T4" fmla="*/ 0 w 27"/>
                <a:gd name="T5" fmla="*/ 24 h 31"/>
                <a:gd name="T6" fmla="*/ 9 w 27"/>
                <a:gd name="T7" fmla="*/ 0 h 31"/>
                <a:gd name="T8" fmla="*/ 27 w 27"/>
                <a:gd name="T9" fmla="*/ 7 h 31"/>
              </a:gdLst>
              <a:ahLst/>
              <a:cxnLst>
                <a:cxn ang="0">
                  <a:pos x="T0" y="T1"/>
                </a:cxn>
                <a:cxn ang="0">
                  <a:pos x="T2" y="T3"/>
                </a:cxn>
                <a:cxn ang="0">
                  <a:pos x="T4" y="T5"/>
                </a:cxn>
                <a:cxn ang="0">
                  <a:pos x="T6" y="T7"/>
                </a:cxn>
                <a:cxn ang="0">
                  <a:pos x="T8" y="T9"/>
                </a:cxn>
              </a:cxnLst>
              <a:rect l="0" t="0" r="r" b="b"/>
              <a:pathLst>
                <a:path w="27" h="31">
                  <a:moveTo>
                    <a:pt x="27" y="7"/>
                  </a:moveTo>
                  <a:lnTo>
                    <a:pt x="18" y="31"/>
                  </a:lnTo>
                  <a:lnTo>
                    <a:pt x="0" y="24"/>
                  </a:lnTo>
                  <a:lnTo>
                    <a:pt x="9" y="0"/>
                  </a:lnTo>
                  <a:lnTo>
                    <a:pt x="27" y="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4" name="Freeform 20">
              <a:extLst>
                <a:ext uri="{FF2B5EF4-FFF2-40B4-BE49-F238E27FC236}">
                  <a16:creationId xmlns:a16="http://schemas.microsoft.com/office/drawing/2014/main" id="{4E3AF36D-5340-459D-98BA-8AD85B882F37}"/>
                </a:ext>
              </a:extLst>
            </p:cNvPr>
            <p:cNvSpPr>
              <a:spLocks/>
            </p:cNvSpPr>
            <p:nvPr/>
          </p:nvSpPr>
          <p:spPr bwMode="auto">
            <a:xfrm>
              <a:off x="498" y="1137"/>
              <a:ext cx="28" cy="32"/>
            </a:xfrm>
            <a:custGeom>
              <a:avLst/>
              <a:gdLst>
                <a:gd name="T0" fmla="*/ 18 w 28"/>
                <a:gd name="T1" fmla="*/ 0 h 32"/>
                <a:gd name="T2" fmla="*/ 28 w 28"/>
                <a:gd name="T3" fmla="*/ 24 h 32"/>
                <a:gd name="T4" fmla="*/ 11 w 28"/>
                <a:gd name="T5" fmla="*/ 32 h 32"/>
                <a:gd name="T6" fmla="*/ 0 w 28"/>
                <a:gd name="T7" fmla="*/ 8 h 32"/>
                <a:gd name="T8" fmla="*/ 18 w 28"/>
                <a:gd name="T9" fmla="*/ 0 h 32"/>
              </a:gdLst>
              <a:ahLst/>
              <a:cxnLst>
                <a:cxn ang="0">
                  <a:pos x="T0" y="T1"/>
                </a:cxn>
                <a:cxn ang="0">
                  <a:pos x="T2" y="T3"/>
                </a:cxn>
                <a:cxn ang="0">
                  <a:pos x="T4" y="T5"/>
                </a:cxn>
                <a:cxn ang="0">
                  <a:pos x="T6" y="T7"/>
                </a:cxn>
                <a:cxn ang="0">
                  <a:pos x="T8" y="T9"/>
                </a:cxn>
              </a:cxnLst>
              <a:rect l="0" t="0" r="r" b="b"/>
              <a:pathLst>
                <a:path w="28" h="32">
                  <a:moveTo>
                    <a:pt x="18" y="0"/>
                  </a:moveTo>
                  <a:lnTo>
                    <a:pt x="28" y="24"/>
                  </a:lnTo>
                  <a:lnTo>
                    <a:pt x="11" y="32"/>
                  </a:lnTo>
                  <a:lnTo>
                    <a:pt x="0" y="8"/>
                  </a:lnTo>
                  <a:lnTo>
                    <a:pt x="18"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21">
              <a:extLst>
                <a:ext uri="{FF2B5EF4-FFF2-40B4-BE49-F238E27FC236}">
                  <a16:creationId xmlns:a16="http://schemas.microsoft.com/office/drawing/2014/main" id="{AE63D820-8A68-421C-94BD-E2E4D209E1D2}"/>
                </a:ext>
              </a:extLst>
            </p:cNvPr>
            <p:cNvSpPr>
              <a:spLocks/>
            </p:cNvSpPr>
            <p:nvPr/>
          </p:nvSpPr>
          <p:spPr bwMode="auto">
            <a:xfrm>
              <a:off x="693" y="1054"/>
              <a:ext cx="28" cy="31"/>
            </a:xfrm>
            <a:custGeom>
              <a:avLst/>
              <a:gdLst>
                <a:gd name="T0" fmla="*/ 18 w 28"/>
                <a:gd name="T1" fmla="*/ 0 h 31"/>
                <a:gd name="T2" fmla="*/ 28 w 28"/>
                <a:gd name="T3" fmla="*/ 23 h 31"/>
                <a:gd name="T4" fmla="*/ 11 w 28"/>
                <a:gd name="T5" fmla="*/ 31 h 31"/>
                <a:gd name="T6" fmla="*/ 0 w 28"/>
                <a:gd name="T7" fmla="*/ 7 h 31"/>
                <a:gd name="T8" fmla="*/ 18 w 28"/>
                <a:gd name="T9" fmla="*/ 0 h 31"/>
              </a:gdLst>
              <a:ahLst/>
              <a:cxnLst>
                <a:cxn ang="0">
                  <a:pos x="T0" y="T1"/>
                </a:cxn>
                <a:cxn ang="0">
                  <a:pos x="T2" y="T3"/>
                </a:cxn>
                <a:cxn ang="0">
                  <a:pos x="T4" y="T5"/>
                </a:cxn>
                <a:cxn ang="0">
                  <a:pos x="T6" y="T7"/>
                </a:cxn>
                <a:cxn ang="0">
                  <a:pos x="T8" y="T9"/>
                </a:cxn>
              </a:cxnLst>
              <a:rect l="0" t="0" r="r" b="b"/>
              <a:pathLst>
                <a:path w="28" h="31">
                  <a:moveTo>
                    <a:pt x="18" y="0"/>
                  </a:moveTo>
                  <a:lnTo>
                    <a:pt x="28" y="23"/>
                  </a:lnTo>
                  <a:lnTo>
                    <a:pt x="11" y="31"/>
                  </a:lnTo>
                  <a:lnTo>
                    <a:pt x="0" y="7"/>
                  </a:lnTo>
                  <a:lnTo>
                    <a:pt x="18"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6" name="Freeform 22">
              <a:extLst>
                <a:ext uri="{FF2B5EF4-FFF2-40B4-BE49-F238E27FC236}">
                  <a16:creationId xmlns:a16="http://schemas.microsoft.com/office/drawing/2014/main" id="{319E7FC9-EE92-48AB-82F5-743D0B8E863F}"/>
                </a:ext>
              </a:extLst>
            </p:cNvPr>
            <p:cNvSpPr>
              <a:spLocks/>
            </p:cNvSpPr>
            <p:nvPr/>
          </p:nvSpPr>
          <p:spPr bwMode="auto">
            <a:xfrm>
              <a:off x="636" y="1194"/>
              <a:ext cx="31" cy="28"/>
            </a:xfrm>
            <a:custGeom>
              <a:avLst/>
              <a:gdLst>
                <a:gd name="T0" fmla="*/ 0 w 31"/>
                <a:gd name="T1" fmla="*/ 11 h 28"/>
                <a:gd name="T2" fmla="*/ 24 w 31"/>
                <a:gd name="T3" fmla="*/ 0 h 28"/>
                <a:gd name="T4" fmla="*/ 31 w 31"/>
                <a:gd name="T5" fmla="*/ 18 h 28"/>
                <a:gd name="T6" fmla="*/ 8 w 31"/>
                <a:gd name="T7" fmla="*/ 28 h 28"/>
                <a:gd name="T8" fmla="*/ 0 w 31"/>
                <a:gd name="T9" fmla="*/ 11 h 28"/>
              </a:gdLst>
              <a:ahLst/>
              <a:cxnLst>
                <a:cxn ang="0">
                  <a:pos x="T0" y="T1"/>
                </a:cxn>
                <a:cxn ang="0">
                  <a:pos x="T2" y="T3"/>
                </a:cxn>
                <a:cxn ang="0">
                  <a:pos x="T4" y="T5"/>
                </a:cxn>
                <a:cxn ang="0">
                  <a:pos x="T6" y="T7"/>
                </a:cxn>
                <a:cxn ang="0">
                  <a:pos x="T8" y="T9"/>
                </a:cxn>
              </a:cxnLst>
              <a:rect l="0" t="0" r="r" b="b"/>
              <a:pathLst>
                <a:path w="31" h="28">
                  <a:moveTo>
                    <a:pt x="0" y="11"/>
                  </a:moveTo>
                  <a:lnTo>
                    <a:pt x="24" y="0"/>
                  </a:lnTo>
                  <a:lnTo>
                    <a:pt x="31" y="18"/>
                  </a:lnTo>
                  <a:lnTo>
                    <a:pt x="8" y="28"/>
                  </a:lnTo>
                  <a:lnTo>
                    <a:pt x="0" y="11"/>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7" name="Freeform 23">
              <a:extLst>
                <a:ext uri="{FF2B5EF4-FFF2-40B4-BE49-F238E27FC236}">
                  <a16:creationId xmlns:a16="http://schemas.microsoft.com/office/drawing/2014/main" id="{1B6D0443-8D5F-4082-8894-C7048F577EC2}"/>
                </a:ext>
              </a:extLst>
            </p:cNvPr>
            <p:cNvSpPr>
              <a:spLocks noEditPoints="1"/>
            </p:cNvSpPr>
            <p:nvPr/>
          </p:nvSpPr>
          <p:spPr bwMode="auto">
            <a:xfrm>
              <a:off x="419" y="1185"/>
              <a:ext cx="118" cy="117"/>
            </a:xfrm>
            <a:custGeom>
              <a:avLst/>
              <a:gdLst>
                <a:gd name="T0" fmla="*/ 258 w 516"/>
                <a:gd name="T1" fmla="*/ 128 h 512"/>
                <a:gd name="T2" fmla="*/ 348 w 516"/>
                <a:gd name="T3" fmla="*/ 165 h 512"/>
                <a:gd name="T4" fmla="*/ 386 w 516"/>
                <a:gd name="T5" fmla="*/ 254 h 512"/>
                <a:gd name="T6" fmla="*/ 350 w 516"/>
                <a:gd name="T7" fmla="*/ 345 h 512"/>
                <a:gd name="T8" fmla="*/ 260 w 516"/>
                <a:gd name="T9" fmla="*/ 384 h 512"/>
                <a:gd name="T10" fmla="*/ 258 w 516"/>
                <a:gd name="T11" fmla="*/ 384 h 512"/>
                <a:gd name="T12" fmla="*/ 168 w 516"/>
                <a:gd name="T13" fmla="*/ 347 h 512"/>
                <a:gd name="T14" fmla="*/ 130 w 516"/>
                <a:gd name="T15" fmla="*/ 258 h 512"/>
                <a:gd name="T16" fmla="*/ 166 w 516"/>
                <a:gd name="T17" fmla="*/ 167 h 512"/>
                <a:gd name="T18" fmla="*/ 256 w 516"/>
                <a:gd name="T19" fmla="*/ 128 h 512"/>
                <a:gd name="T20" fmla="*/ 258 w 516"/>
                <a:gd name="T21" fmla="*/ 128 h 512"/>
                <a:gd name="T22" fmla="*/ 258 w 516"/>
                <a:gd name="T23" fmla="*/ 128 h 512"/>
                <a:gd name="T24" fmla="*/ 258 w 516"/>
                <a:gd name="T25" fmla="*/ 128 h 512"/>
                <a:gd name="T26" fmla="*/ 258 w 516"/>
                <a:gd name="T27" fmla="*/ 0 h 512"/>
                <a:gd name="T28" fmla="*/ 255 w 516"/>
                <a:gd name="T29" fmla="*/ 0 h 512"/>
                <a:gd name="T30" fmla="*/ 2 w 516"/>
                <a:gd name="T31" fmla="*/ 259 h 512"/>
                <a:gd name="T32" fmla="*/ 258 w 516"/>
                <a:gd name="T33" fmla="*/ 512 h 512"/>
                <a:gd name="T34" fmla="*/ 261 w 516"/>
                <a:gd name="T35" fmla="*/ 512 h 512"/>
                <a:gd name="T36" fmla="*/ 514 w 516"/>
                <a:gd name="T37" fmla="*/ 253 h 512"/>
                <a:gd name="T38" fmla="*/ 258 w 516"/>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6" h="512">
                  <a:moveTo>
                    <a:pt x="258" y="128"/>
                  </a:moveTo>
                  <a:cubicBezTo>
                    <a:pt x="292" y="128"/>
                    <a:pt x="324" y="141"/>
                    <a:pt x="348" y="165"/>
                  </a:cubicBezTo>
                  <a:cubicBezTo>
                    <a:pt x="372" y="189"/>
                    <a:pt x="386" y="220"/>
                    <a:pt x="386" y="254"/>
                  </a:cubicBezTo>
                  <a:cubicBezTo>
                    <a:pt x="386" y="288"/>
                    <a:pt x="374" y="321"/>
                    <a:pt x="350" y="345"/>
                  </a:cubicBezTo>
                  <a:cubicBezTo>
                    <a:pt x="326" y="370"/>
                    <a:pt x="294" y="383"/>
                    <a:pt x="260" y="384"/>
                  </a:cubicBezTo>
                  <a:cubicBezTo>
                    <a:pt x="259" y="384"/>
                    <a:pt x="259" y="384"/>
                    <a:pt x="258" y="384"/>
                  </a:cubicBezTo>
                  <a:cubicBezTo>
                    <a:pt x="224" y="384"/>
                    <a:pt x="192" y="371"/>
                    <a:pt x="168" y="347"/>
                  </a:cubicBezTo>
                  <a:cubicBezTo>
                    <a:pt x="144" y="323"/>
                    <a:pt x="130" y="291"/>
                    <a:pt x="130" y="258"/>
                  </a:cubicBezTo>
                  <a:cubicBezTo>
                    <a:pt x="130" y="223"/>
                    <a:pt x="143" y="191"/>
                    <a:pt x="166" y="167"/>
                  </a:cubicBezTo>
                  <a:cubicBezTo>
                    <a:pt x="190" y="142"/>
                    <a:pt x="222" y="128"/>
                    <a:pt x="256" y="128"/>
                  </a:cubicBezTo>
                  <a:cubicBezTo>
                    <a:pt x="257" y="128"/>
                    <a:pt x="258" y="128"/>
                    <a:pt x="258" y="128"/>
                  </a:cubicBezTo>
                  <a:cubicBezTo>
                    <a:pt x="258" y="128"/>
                    <a:pt x="258" y="128"/>
                    <a:pt x="258" y="128"/>
                  </a:cubicBezTo>
                  <a:cubicBezTo>
                    <a:pt x="258" y="128"/>
                    <a:pt x="258" y="128"/>
                    <a:pt x="258" y="128"/>
                  </a:cubicBezTo>
                  <a:moveTo>
                    <a:pt x="258" y="0"/>
                  </a:moveTo>
                  <a:cubicBezTo>
                    <a:pt x="257" y="0"/>
                    <a:pt x="256" y="0"/>
                    <a:pt x="255" y="0"/>
                  </a:cubicBezTo>
                  <a:cubicBezTo>
                    <a:pt x="113" y="2"/>
                    <a:pt x="0" y="118"/>
                    <a:pt x="2" y="259"/>
                  </a:cubicBezTo>
                  <a:cubicBezTo>
                    <a:pt x="4" y="399"/>
                    <a:pt x="118" y="512"/>
                    <a:pt x="258" y="512"/>
                  </a:cubicBezTo>
                  <a:cubicBezTo>
                    <a:pt x="259" y="512"/>
                    <a:pt x="260" y="512"/>
                    <a:pt x="261" y="512"/>
                  </a:cubicBezTo>
                  <a:cubicBezTo>
                    <a:pt x="403" y="510"/>
                    <a:pt x="516" y="394"/>
                    <a:pt x="514" y="253"/>
                  </a:cubicBezTo>
                  <a:cubicBezTo>
                    <a:pt x="512" y="112"/>
                    <a:pt x="398" y="0"/>
                    <a:pt x="25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8" name="Freeform 24">
              <a:extLst>
                <a:ext uri="{FF2B5EF4-FFF2-40B4-BE49-F238E27FC236}">
                  <a16:creationId xmlns:a16="http://schemas.microsoft.com/office/drawing/2014/main" id="{BCA6804D-969B-4637-9594-F7A0734E33E1}"/>
                </a:ext>
              </a:extLst>
            </p:cNvPr>
            <p:cNvSpPr>
              <a:spLocks/>
            </p:cNvSpPr>
            <p:nvPr/>
          </p:nvSpPr>
          <p:spPr bwMode="auto">
            <a:xfrm>
              <a:off x="470" y="1175"/>
              <a:ext cx="14" cy="12"/>
            </a:xfrm>
            <a:custGeom>
              <a:avLst/>
              <a:gdLst>
                <a:gd name="T0" fmla="*/ 14 w 14"/>
                <a:gd name="T1" fmla="*/ 11 h 12"/>
                <a:gd name="T2" fmla="*/ 0 w 14"/>
                <a:gd name="T3" fmla="*/ 12 h 12"/>
                <a:gd name="T4" fmla="*/ 0 w 14"/>
                <a:gd name="T5" fmla="*/ 0 h 12"/>
                <a:gd name="T6" fmla="*/ 14 w 14"/>
                <a:gd name="T7" fmla="*/ 0 h 12"/>
                <a:gd name="T8" fmla="*/ 14 w 14"/>
                <a:gd name="T9" fmla="*/ 11 h 12"/>
              </a:gdLst>
              <a:ahLst/>
              <a:cxnLst>
                <a:cxn ang="0">
                  <a:pos x="T0" y="T1"/>
                </a:cxn>
                <a:cxn ang="0">
                  <a:pos x="T2" y="T3"/>
                </a:cxn>
                <a:cxn ang="0">
                  <a:pos x="T4" y="T5"/>
                </a:cxn>
                <a:cxn ang="0">
                  <a:pos x="T6" y="T7"/>
                </a:cxn>
                <a:cxn ang="0">
                  <a:pos x="T8" y="T9"/>
                </a:cxn>
              </a:cxnLst>
              <a:rect l="0" t="0" r="r" b="b"/>
              <a:pathLst>
                <a:path w="14" h="12">
                  <a:moveTo>
                    <a:pt x="14" y="11"/>
                  </a:moveTo>
                  <a:lnTo>
                    <a:pt x="0" y="12"/>
                  </a:lnTo>
                  <a:lnTo>
                    <a:pt x="0" y="0"/>
                  </a:lnTo>
                  <a:lnTo>
                    <a:pt x="14" y="0"/>
                  </a:lnTo>
                  <a:lnTo>
                    <a:pt x="14" y="1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9" name="Freeform 25">
              <a:extLst>
                <a:ext uri="{FF2B5EF4-FFF2-40B4-BE49-F238E27FC236}">
                  <a16:creationId xmlns:a16="http://schemas.microsoft.com/office/drawing/2014/main" id="{FC835C95-BB53-451B-880E-8B717FC6376E}"/>
                </a:ext>
              </a:extLst>
            </p:cNvPr>
            <p:cNvSpPr>
              <a:spLocks/>
            </p:cNvSpPr>
            <p:nvPr/>
          </p:nvSpPr>
          <p:spPr bwMode="auto">
            <a:xfrm>
              <a:off x="534" y="1236"/>
              <a:ext cx="13" cy="14"/>
            </a:xfrm>
            <a:custGeom>
              <a:avLst/>
              <a:gdLst>
                <a:gd name="T0" fmla="*/ 12 w 13"/>
                <a:gd name="T1" fmla="*/ 0 h 14"/>
                <a:gd name="T2" fmla="*/ 13 w 13"/>
                <a:gd name="T3" fmla="*/ 14 h 14"/>
                <a:gd name="T4" fmla="*/ 0 w 13"/>
                <a:gd name="T5" fmla="*/ 14 h 14"/>
                <a:gd name="T6" fmla="*/ 0 w 13"/>
                <a:gd name="T7" fmla="*/ 0 h 14"/>
                <a:gd name="T8" fmla="*/ 12 w 13"/>
                <a:gd name="T9" fmla="*/ 0 h 14"/>
              </a:gdLst>
              <a:ahLst/>
              <a:cxnLst>
                <a:cxn ang="0">
                  <a:pos x="T0" y="T1"/>
                </a:cxn>
                <a:cxn ang="0">
                  <a:pos x="T2" y="T3"/>
                </a:cxn>
                <a:cxn ang="0">
                  <a:pos x="T4" y="T5"/>
                </a:cxn>
                <a:cxn ang="0">
                  <a:pos x="T6" y="T7"/>
                </a:cxn>
                <a:cxn ang="0">
                  <a:pos x="T8" y="T9"/>
                </a:cxn>
              </a:cxnLst>
              <a:rect l="0" t="0" r="r" b="b"/>
              <a:pathLst>
                <a:path w="13" h="14">
                  <a:moveTo>
                    <a:pt x="12" y="0"/>
                  </a:moveTo>
                  <a:lnTo>
                    <a:pt x="13" y="14"/>
                  </a:lnTo>
                  <a:lnTo>
                    <a:pt x="0" y="14"/>
                  </a:lnTo>
                  <a:lnTo>
                    <a:pt x="0" y="0"/>
                  </a:lnTo>
                  <a:lnTo>
                    <a:pt x="12"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0" name="Freeform 26">
              <a:extLst>
                <a:ext uri="{FF2B5EF4-FFF2-40B4-BE49-F238E27FC236}">
                  <a16:creationId xmlns:a16="http://schemas.microsoft.com/office/drawing/2014/main" id="{F3862831-ED87-4F32-A49A-D582FC7B73D6}"/>
                </a:ext>
              </a:extLst>
            </p:cNvPr>
            <p:cNvSpPr>
              <a:spLocks/>
            </p:cNvSpPr>
            <p:nvPr/>
          </p:nvSpPr>
          <p:spPr bwMode="auto">
            <a:xfrm>
              <a:off x="513" y="1190"/>
              <a:ext cx="18" cy="18"/>
            </a:xfrm>
            <a:custGeom>
              <a:avLst/>
              <a:gdLst>
                <a:gd name="T0" fmla="*/ 8 w 18"/>
                <a:gd name="T1" fmla="*/ 0 h 18"/>
                <a:gd name="T2" fmla="*/ 18 w 18"/>
                <a:gd name="T3" fmla="*/ 10 h 18"/>
                <a:gd name="T4" fmla="*/ 10 w 18"/>
                <a:gd name="T5" fmla="*/ 18 h 18"/>
                <a:gd name="T6" fmla="*/ 0 w 18"/>
                <a:gd name="T7" fmla="*/ 8 h 18"/>
                <a:gd name="T8" fmla="*/ 8 w 18"/>
                <a:gd name="T9" fmla="*/ 0 h 18"/>
              </a:gdLst>
              <a:ahLst/>
              <a:cxnLst>
                <a:cxn ang="0">
                  <a:pos x="T0" y="T1"/>
                </a:cxn>
                <a:cxn ang="0">
                  <a:pos x="T2" y="T3"/>
                </a:cxn>
                <a:cxn ang="0">
                  <a:pos x="T4" y="T5"/>
                </a:cxn>
                <a:cxn ang="0">
                  <a:pos x="T6" y="T7"/>
                </a:cxn>
                <a:cxn ang="0">
                  <a:pos x="T8" y="T9"/>
                </a:cxn>
              </a:cxnLst>
              <a:rect l="0" t="0" r="r" b="b"/>
              <a:pathLst>
                <a:path w="18" h="18">
                  <a:moveTo>
                    <a:pt x="8" y="0"/>
                  </a:moveTo>
                  <a:lnTo>
                    <a:pt x="18" y="10"/>
                  </a:lnTo>
                  <a:lnTo>
                    <a:pt x="10" y="18"/>
                  </a:lnTo>
                  <a:lnTo>
                    <a:pt x="0" y="8"/>
                  </a:lnTo>
                  <a:lnTo>
                    <a:pt x="8"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1" name="Freeform 27">
              <a:extLst>
                <a:ext uri="{FF2B5EF4-FFF2-40B4-BE49-F238E27FC236}">
                  <a16:creationId xmlns:a16="http://schemas.microsoft.com/office/drawing/2014/main" id="{0AA82592-AD88-43CE-8DE7-2E7234EABBC7}"/>
                </a:ext>
              </a:extLst>
            </p:cNvPr>
            <p:cNvSpPr>
              <a:spLocks/>
            </p:cNvSpPr>
            <p:nvPr/>
          </p:nvSpPr>
          <p:spPr bwMode="auto">
            <a:xfrm>
              <a:off x="514" y="1277"/>
              <a:ext cx="19" cy="18"/>
            </a:xfrm>
            <a:custGeom>
              <a:avLst/>
              <a:gdLst>
                <a:gd name="T0" fmla="*/ 0 w 19"/>
                <a:gd name="T1" fmla="*/ 10 h 18"/>
                <a:gd name="T2" fmla="*/ 10 w 19"/>
                <a:gd name="T3" fmla="*/ 0 h 18"/>
                <a:gd name="T4" fmla="*/ 19 w 19"/>
                <a:gd name="T5" fmla="*/ 8 h 18"/>
                <a:gd name="T6" fmla="*/ 8 w 19"/>
                <a:gd name="T7" fmla="*/ 18 h 18"/>
                <a:gd name="T8" fmla="*/ 0 w 19"/>
                <a:gd name="T9" fmla="*/ 10 h 18"/>
              </a:gdLst>
              <a:ahLst/>
              <a:cxnLst>
                <a:cxn ang="0">
                  <a:pos x="T0" y="T1"/>
                </a:cxn>
                <a:cxn ang="0">
                  <a:pos x="T2" y="T3"/>
                </a:cxn>
                <a:cxn ang="0">
                  <a:pos x="T4" y="T5"/>
                </a:cxn>
                <a:cxn ang="0">
                  <a:pos x="T6" y="T7"/>
                </a:cxn>
                <a:cxn ang="0">
                  <a:pos x="T8" y="T9"/>
                </a:cxn>
              </a:cxnLst>
              <a:rect l="0" t="0" r="r" b="b"/>
              <a:pathLst>
                <a:path w="19" h="18">
                  <a:moveTo>
                    <a:pt x="0" y="10"/>
                  </a:moveTo>
                  <a:lnTo>
                    <a:pt x="10" y="0"/>
                  </a:lnTo>
                  <a:lnTo>
                    <a:pt x="19" y="8"/>
                  </a:lnTo>
                  <a:lnTo>
                    <a:pt x="8" y="18"/>
                  </a:lnTo>
                  <a:lnTo>
                    <a:pt x="0"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2" name="Freeform 28">
              <a:extLst>
                <a:ext uri="{FF2B5EF4-FFF2-40B4-BE49-F238E27FC236}">
                  <a16:creationId xmlns:a16="http://schemas.microsoft.com/office/drawing/2014/main" id="{2B9756F8-603E-496A-B77F-70D55B2DC1D0}"/>
                </a:ext>
              </a:extLst>
            </p:cNvPr>
            <p:cNvSpPr>
              <a:spLocks/>
            </p:cNvSpPr>
            <p:nvPr/>
          </p:nvSpPr>
          <p:spPr bwMode="auto">
            <a:xfrm>
              <a:off x="424" y="1191"/>
              <a:ext cx="19" cy="18"/>
            </a:xfrm>
            <a:custGeom>
              <a:avLst/>
              <a:gdLst>
                <a:gd name="T0" fmla="*/ 0 w 19"/>
                <a:gd name="T1" fmla="*/ 11 h 18"/>
                <a:gd name="T2" fmla="*/ 11 w 19"/>
                <a:gd name="T3" fmla="*/ 0 h 18"/>
                <a:gd name="T4" fmla="*/ 19 w 19"/>
                <a:gd name="T5" fmla="*/ 8 h 18"/>
                <a:gd name="T6" fmla="*/ 8 w 19"/>
                <a:gd name="T7" fmla="*/ 18 h 18"/>
                <a:gd name="T8" fmla="*/ 0 w 19"/>
                <a:gd name="T9" fmla="*/ 11 h 18"/>
              </a:gdLst>
              <a:ahLst/>
              <a:cxnLst>
                <a:cxn ang="0">
                  <a:pos x="T0" y="T1"/>
                </a:cxn>
                <a:cxn ang="0">
                  <a:pos x="T2" y="T3"/>
                </a:cxn>
                <a:cxn ang="0">
                  <a:pos x="T4" y="T5"/>
                </a:cxn>
                <a:cxn ang="0">
                  <a:pos x="T6" y="T7"/>
                </a:cxn>
                <a:cxn ang="0">
                  <a:pos x="T8" y="T9"/>
                </a:cxn>
              </a:cxnLst>
              <a:rect l="0" t="0" r="r" b="b"/>
              <a:pathLst>
                <a:path w="19" h="18">
                  <a:moveTo>
                    <a:pt x="0" y="11"/>
                  </a:moveTo>
                  <a:lnTo>
                    <a:pt x="11" y="0"/>
                  </a:lnTo>
                  <a:lnTo>
                    <a:pt x="19" y="8"/>
                  </a:lnTo>
                  <a:lnTo>
                    <a:pt x="8" y="18"/>
                  </a:lnTo>
                  <a:lnTo>
                    <a:pt x="0" y="1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33" name="Rectangle 32">
            <a:extLst>
              <a:ext uri="{FF2B5EF4-FFF2-40B4-BE49-F238E27FC236}">
                <a16:creationId xmlns:a16="http://schemas.microsoft.com/office/drawing/2014/main" id="{254FBC15-8B20-4D3C-BBEA-D9605931B5E7}"/>
              </a:ext>
            </a:extLst>
          </p:cNvPr>
          <p:cNvSpPr/>
          <p:nvPr/>
        </p:nvSpPr>
        <p:spPr>
          <a:xfrm>
            <a:off x="1069071" y="4440959"/>
            <a:ext cx="4169584" cy="647354"/>
          </a:xfrm>
          <a:prstGeom prst="rect">
            <a:avLst/>
          </a:prstGeom>
        </p:spPr>
        <p:txBody>
          <a:bodyPr lIns="0" tIns="0" rIns="0" bIns="0" anchor="ctr">
            <a:noAutofit/>
          </a:bodyPr>
          <a:lstStyle/>
          <a:p>
            <a:pPr marL="0" marR="0" lvl="0" indent="0" algn="l" defTabSz="89635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Segoe UI"/>
                <a:ea typeface="+mn-ea"/>
                <a:cs typeface="+mn-cs"/>
              </a:rPr>
              <a:t>Customers can use their cores on-premises, </a:t>
            </a:r>
            <a:r>
              <a:rPr kumimoji="0" lang="en-US" sz="1600" b="1" i="0" u="none" strike="noStrike" kern="1200" cap="none" spc="0" normalizeH="0" baseline="0" noProof="0">
                <a:ln>
                  <a:noFill/>
                </a:ln>
                <a:solidFill>
                  <a:schemeClr val="bg1"/>
                </a:solidFill>
                <a:effectLst/>
                <a:uLnTx/>
                <a:uFillTx/>
                <a:latin typeface="Segoe UI"/>
                <a:ea typeface="+mn-ea"/>
                <a:cs typeface="+mn-cs"/>
              </a:rPr>
              <a:t>OR </a:t>
            </a:r>
            <a:r>
              <a:rPr kumimoji="0" lang="en-US" sz="1600" b="0" i="0" u="none" strike="noStrike" kern="1200" cap="none" spc="0" normalizeH="0" baseline="0" noProof="0">
                <a:ln>
                  <a:noFill/>
                </a:ln>
                <a:solidFill>
                  <a:schemeClr val="bg1"/>
                </a:solidFill>
                <a:effectLst/>
                <a:uLnTx/>
                <a:uFillTx/>
                <a:latin typeface="Segoe UI"/>
                <a:ea typeface="+mn-ea"/>
                <a:cs typeface="+mn-cs"/>
              </a:rPr>
              <a:t>as </a:t>
            </a:r>
            <a:r>
              <a:rPr kumimoji="0" lang="en-US" sz="1600" b="0" i="0" u="none" strike="noStrike" kern="1200" cap="none" spc="0" normalizeH="0" baseline="0" noProof="0" err="1">
                <a:ln>
                  <a:noFill/>
                </a:ln>
                <a:solidFill>
                  <a:schemeClr val="bg1"/>
                </a:solidFill>
                <a:effectLst/>
                <a:uLnTx/>
                <a:uFillTx/>
                <a:latin typeface="Segoe UI"/>
                <a:ea typeface="+mn-ea"/>
                <a:cs typeface="+mn-cs"/>
              </a:rPr>
              <a:t>vCores</a:t>
            </a:r>
            <a:r>
              <a:rPr kumimoji="0" lang="en-US" sz="1600" b="0" i="0" u="none" strike="noStrike" kern="1200" cap="none" spc="0" normalizeH="0" baseline="0" noProof="0">
                <a:ln>
                  <a:noFill/>
                </a:ln>
                <a:solidFill>
                  <a:schemeClr val="bg1"/>
                </a:solidFill>
                <a:effectLst/>
                <a:uLnTx/>
                <a:uFillTx/>
                <a:latin typeface="Segoe UI"/>
                <a:ea typeface="+mn-ea"/>
                <a:cs typeface="+mn-cs"/>
              </a:rPr>
              <a:t> in Azure</a:t>
            </a:r>
          </a:p>
        </p:txBody>
      </p:sp>
      <p:sp>
        <p:nvSpPr>
          <p:cNvPr id="36" name="Rectangle 35">
            <a:extLst>
              <a:ext uri="{FF2B5EF4-FFF2-40B4-BE49-F238E27FC236}">
                <a16:creationId xmlns:a16="http://schemas.microsoft.com/office/drawing/2014/main" id="{602E6E28-073D-404F-B0DE-B707C8C019F4}"/>
              </a:ext>
            </a:extLst>
          </p:cNvPr>
          <p:cNvSpPr/>
          <p:nvPr/>
        </p:nvSpPr>
        <p:spPr>
          <a:xfrm>
            <a:off x="1069070" y="5347214"/>
            <a:ext cx="5379259" cy="647354"/>
          </a:xfrm>
          <a:prstGeom prst="rect">
            <a:avLst/>
          </a:prstGeom>
        </p:spPr>
        <p:txBody>
          <a:bodyPr lIns="0" tIns="0" rIns="0" bIns="0" anchor="ctr">
            <a:noAutofit/>
          </a:bodyPr>
          <a:lstStyle/>
          <a:p>
            <a:pPr marL="0" marR="0" lvl="0" indent="0" algn="l" defTabSz="89635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Segoe UI"/>
                <a:ea typeface="+mn-ea"/>
                <a:cs typeface="+mn-cs"/>
              </a:rPr>
              <a:t>However, cores can be used on-premises and in Azure simultaneously for up to 180 days, to allow for migration</a:t>
            </a:r>
          </a:p>
        </p:txBody>
      </p:sp>
      <p:cxnSp>
        <p:nvCxnSpPr>
          <p:cNvPr id="39" name="Straight Connector 38">
            <a:extLst>
              <a:ext uri="{FF2B5EF4-FFF2-40B4-BE49-F238E27FC236}">
                <a16:creationId xmlns:a16="http://schemas.microsoft.com/office/drawing/2014/main" id="{1E6CEA92-439E-4518-9F51-918FC2BE9E41}"/>
              </a:ext>
              <a:ext uri="{C183D7F6-B498-43B3-948B-1728B52AA6E4}">
                <adec:decorative xmlns:adec="http://schemas.microsoft.com/office/drawing/2017/decorative" val="1"/>
              </a:ext>
            </a:extLst>
          </p:cNvPr>
          <p:cNvCxnSpPr>
            <a:cxnSpLocks/>
          </p:cNvCxnSpPr>
          <p:nvPr/>
        </p:nvCxnSpPr>
        <p:spPr>
          <a:xfrm flipH="1">
            <a:off x="9208543" y="1914737"/>
            <a:ext cx="318607" cy="0"/>
          </a:xfrm>
          <a:prstGeom prst="line">
            <a:avLst/>
          </a:prstGeom>
          <a:ln w="12700">
            <a:solidFill>
              <a:schemeClr val="accent4"/>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9635A02-6EE1-4DFC-9595-A3CC58CAADB8}"/>
              </a:ext>
              <a:ext uri="{C183D7F6-B498-43B3-948B-1728B52AA6E4}">
                <adec:decorative xmlns:adec="http://schemas.microsoft.com/office/drawing/2017/decorative" val="1"/>
              </a:ext>
            </a:extLst>
          </p:cNvPr>
          <p:cNvCxnSpPr>
            <a:cxnSpLocks/>
          </p:cNvCxnSpPr>
          <p:nvPr/>
        </p:nvCxnSpPr>
        <p:spPr>
          <a:xfrm flipH="1">
            <a:off x="9208542" y="3777548"/>
            <a:ext cx="318608" cy="0"/>
          </a:xfrm>
          <a:prstGeom prst="line">
            <a:avLst/>
          </a:prstGeom>
          <a:ln w="12700">
            <a:solidFill>
              <a:schemeClr val="accent4"/>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08F16349-6BE8-4DCE-A60B-691846A068BD}"/>
              </a:ext>
            </a:extLst>
          </p:cNvPr>
          <p:cNvSpPr/>
          <p:nvPr/>
        </p:nvSpPr>
        <p:spPr bwMode="auto">
          <a:xfrm>
            <a:off x="7127203" y="1914737"/>
            <a:ext cx="2081339" cy="372562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ts val="588"/>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Segoe UI Semibold"/>
                <a:ea typeface="Segoe UI" pitchFamily="34" charset="0"/>
                <a:cs typeface="Segoe UI" pitchFamily="34" charset="0"/>
              </a:rPr>
              <a:t>Azure SQL Database</a:t>
            </a:r>
            <a:br>
              <a:rPr kumimoji="0" lang="en-US" sz="1400" b="0" i="0" u="none" strike="noStrike" kern="1200" cap="none" spc="0" normalizeH="0" baseline="0" noProof="0" dirty="0">
                <a:ln>
                  <a:noFill/>
                </a:ln>
                <a:solidFill>
                  <a:schemeClr val="tx1"/>
                </a:solidFill>
                <a:effectLst/>
                <a:uLnTx/>
                <a:uFillTx/>
                <a:latin typeface="Segoe UI Semibold"/>
                <a:ea typeface="Segoe UI" pitchFamily="34" charset="0"/>
                <a:cs typeface="Segoe UI" pitchFamily="34" charset="0"/>
              </a:rPr>
            </a:br>
            <a:r>
              <a:rPr kumimoji="0" lang="en-US" sz="1400" b="0" i="0" u="none" strike="noStrike" kern="1200" cap="none" spc="0" normalizeH="0" baseline="0" noProof="0" dirty="0">
                <a:ln>
                  <a:noFill/>
                </a:ln>
                <a:solidFill>
                  <a:schemeClr val="tx1"/>
                </a:solidFill>
                <a:effectLst/>
                <a:uLnTx/>
                <a:uFillTx/>
                <a:latin typeface="Segoe UI Semibold"/>
                <a:ea typeface="Segoe UI" pitchFamily="34" charset="0"/>
                <a:cs typeface="Segoe UI" pitchFamily="34" charset="0"/>
              </a:rPr>
              <a:t>Business Critical</a:t>
            </a:r>
          </a:p>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a:ea typeface="Segoe UI" pitchFamily="34" charset="0"/>
                <a:cs typeface="Segoe UI" pitchFamily="34" charset="0"/>
              </a:rPr>
              <a:t>8 </a:t>
            </a:r>
            <a:r>
              <a:rPr kumimoji="0" lang="en-US" sz="1200" b="0" i="0" u="none" strike="noStrike" kern="1200" cap="none" spc="0" normalizeH="0" baseline="0" noProof="0" dirty="0" err="1">
                <a:ln>
                  <a:noFill/>
                </a:ln>
                <a:solidFill>
                  <a:schemeClr val="tx1"/>
                </a:solidFill>
                <a:effectLst/>
                <a:uLnTx/>
                <a:uFillTx/>
                <a:latin typeface="Segoe UI"/>
                <a:ea typeface="Segoe UI" pitchFamily="34" charset="0"/>
                <a:cs typeface="Segoe UI" pitchFamily="34" charset="0"/>
              </a:rPr>
              <a:t>vCores</a:t>
            </a:r>
            <a:r>
              <a:rPr kumimoji="0" lang="en-US" sz="1200" b="0" i="0" u="none" strike="noStrike" kern="1200" cap="none" spc="0" normalizeH="0" baseline="0" noProof="0" dirty="0">
                <a:ln>
                  <a:noFill/>
                </a:ln>
                <a:solidFill>
                  <a:schemeClr val="tx1"/>
                </a:solidFill>
                <a:effectLst/>
                <a:uLnTx/>
                <a:uFillTx/>
                <a:latin typeface="Segoe UI"/>
                <a:ea typeface="Segoe UI" pitchFamily="34" charset="0"/>
                <a:cs typeface="Segoe UI" pitchFamily="34" charset="0"/>
              </a:rPr>
              <a:t>, US West 2,</a:t>
            </a:r>
            <a:br>
              <a:rPr kumimoji="0" lang="en-US" sz="1200" b="0" i="0" u="none" strike="noStrike" kern="1200" cap="none" spc="0" normalizeH="0" baseline="0" noProof="0" dirty="0">
                <a:ln>
                  <a:noFill/>
                </a:ln>
                <a:solidFill>
                  <a:schemeClr val="tx1"/>
                </a:solidFill>
                <a:effectLst/>
                <a:uLnTx/>
                <a:uFillTx/>
                <a:latin typeface="Segoe UI"/>
                <a:ea typeface="Segoe UI" pitchFamily="34" charset="0"/>
                <a:cs typeface="Segoe UI" pitchFamily="34" charset="0"/>
              </a:rPr>
            </a:br>
            <a:r>
              <a:rPr kumimoji="0" lang="en-US" sz="1200" b="0" i="0" u="none" strike="noStrike" kern="1200" cap="none" spc="0" normalizeH="0" baseline="0" noProof="0" dirty="0">
                <a:ln>
                  <a:noFill/>
                </a:ln>
                <a:solidFill>
                  <a:schemeClr val="tx1"/>
                </a:solidFill>
                <a:effectLst/>
                <a:uLnTx/>
                <a:uFillTx/>
                <a:latin typeface="Segoe UI"/>
                <a:ea typeface="Segoe UI" pitchFamily="34" charset="0"/>
                <a:cs typeface="Segoe UI" pitchFamily="34" charset="0"/>
              </a:rPr>
              <a:t>730 hours per month</a:t>
            </a:r>
          </a:p>
        </p:txBody>
      </p:sp>
      <p:sp>
        <p:nvSpPr>
          <p:cNvPr id="50" name="TextBox 49">
            <a:extLst>
              <a:ext uri="{FF2B5EF4-FFF2-40B4-BE49-F238E27FC236}">
                <a16:creationId xmlns:a16="http://schemas.microsoft.com/office/drawing/2014/main" id="{01A38EEF-3AA4-459C-B685-7BAAECDBD006}"/>
              </a:ext>
            </a:extLst>
          </p:cNvPr>
          <p:cNvSpPr txBox="1"/>
          <p:nvPr/>
        </p:nvSpPr>
        <p:spPr>
          <a:xfrm>
            <a:off x="7127204" y="5700000"/>
            <a:ext cx="2081339" cy="215444"/>
          </a:xfrm>
          <a:prstGeom prst="rect">
            <a:avLst/>
          </a:prstGeom>
          <a:noFill/>
        </p:spPr>
        <p:txBody>
          <a:bodyPr wrap="square" lIns="0" tIns="0" rIns="0" bIns="0" rtlCol="0">
            <a:spAutoFit/>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Segoe UI Semibold"/>
                <a:ea typeface="+mn-ea"/>
                <a:cs typeface="+mn-cs"/>
              </a:rPr>
              <a:t>Without Hybrid Benefit</a:t>
            </a:r>
            <a:endParaRPr kumimoji="0" lang="en-GB" sz="1400" b="0" i="0" u="none" strike="noStrike" kern="1200" cap="none" spc="0" normalizeH="0" baseline="0" noProof="0" dirty="0">
              <a:ln>
                <a:noFill/>
              </a:ln>
              <a:solidFill>
                <a:schemeClr val="bg1"/>
              </a:solidFill>
              <a:effectLst/>
              <a:uLnTx/>
              <a:uFillTx/>
              <a:latin typeface="Segoe UI Semibold"/>
              <a:ea typeface="+mn-ea"/>
              <a:cs typeface="+mn-cs"/>
            </a:endParaRPr>
          </a:p>
        </p:txBody>
      </p:sp>
      <p:sp>
        <p:nvSpPr>
          <p:cNvPr id="48" name="Rectangle 47">
            <a:extLst>
              <a:ext uri="{FF2B5EF4-FFF2-40B4-BE49-F238E27FC236}">
                <a16:creationId xmlns:a16="http://schemas.microsoft.com/office/drawing/2014/main" id="{3E70D121-5DC1-4589-AD2A-15A3039972C1}"/>
              </a:ext>
            </a:extLst>
          </p:cNvPr>
          <p:cNvSpPr/>
          <p:nvPr/>
        </p:nvSpPr>
        <p:spPr>
          <a:xfrm>
            <a:off x="7736664" y="5248255"/>
            <a:ext cx="862416" cy="246221"/>
          </a:xfrm>
          <a:prstGeom prst="rect">
            <a:avLst/>
          </a:prstGeom>
        </p:spPr>
        <p:txBody>
          <a:bodyPr wrap="none" lIns="0" tIns="0" rIns="0" bIns="0">
            <a:sp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effectLst/>
                <a:uLnTx/>
                <a:uFillTx/>
                <a:latin typeface="Segoe UI Semibold"/>
                <a:ea typeface="Segoe UI" pitchFamily="34" charset="0"/>
                <a:cs typeface="Segoe UI" pitchFamily="34" charset="0"/>
              </a:rPr>
              <a:t>$3,967.91</a:t>
            </a:r>
            <a:endParaRPr kumimoji="0" lang="en-GB" sz="1600" b="0" i="0" u="none" strike="noStrike" kern="1200" cap="none" spc="0" normalizeH="0" baseline="0" noProof="0" dirty="0">
              <a:ln>
                <a:noFill/>
              </a:ln>
              <a:effectLst/>
              <a:uLnTx/>
              <a:uFillTx/>
              <a:latin typeface="Segoe UI Semibold"/>
              <a:ea typeface="Segoe UI" pitchFamily="34" charset="0"/>
              <a:cs typeface="Segoe UI" pitchFamily="34" charset="0"/>
            </a:endParaRPr>
          </a:p>
        </p:txBody>
      </p:sp>
      <p:sp>
        <p:nvSpPr>
          <p:cNvPr id="46" name="Rectangle 45">
            <a:extLst>
              <a:ext uri="{FF2B5EF4-FFF2-40B4-BE49-F238E27FC236}">
                <a16:creationId xmlns:a16="http://schemas.microsoft.com/office/drawing/2014/main" id="{5D0D2488-6E45-40E2-B097-F75CAEC47126}"/>
              </a:ext>
            </a:extLst>
          </p:cNvPr>
          <p:cNvSpPr/>
          <p:nvPr/>
        </p:nvSpPr>
        <p:spPr bwMode="auto">
          <a:xfrm>
            <a:off x="9530510" y="3778222"/>
            <a:ext cx="2081339" cy="186213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ts val="588"/>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rPr>
              <a:t>Azure SQL Database</a:t>
            </a:r>
            <a:br>
              <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rPr>
            </a:br>
            <a:r>
              <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rPr>
              <a:t>Business Critical</a:t>
            </a:r>
          </a:p>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8 </a:t>
            </a:r>
            <a:r>
              <a:rPr kumimoji="0" lang="en-US" sz="12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rPr>
              <a:t>vCores</a:t>
            </a:r>
            <a:r>
              <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 US West 2,</a:t>
            </a:r>
            <a:br>
              <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br>
            <a:r>
              <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730 hours per month</a:t>
            </a:r>
          </a:p>
        </p:txBody>
      </p:sp>
      <p:sp>
        <p:nvSpPr>
          <p:cNvPr id="85" name="TextBox 84">
            <a:extLst>
              <a:ext uri="{FF2B5EF4-FFF2-40B4-BE49-F238E27FC236}">
                <a16:creationId xmlns:a16="http://schemas.microsoft.com/office/drawing/2014/main" id="{E8EA713E-28C8-3545-99AD-684E3D55BE29}"/>
              </a:ext>
            </a:extLst>
          </p:cNvPr>
          <p:cNvSpPr txBox="1"/>
          <p:nvPr/>
        </p:nvSpPr>
        <p:spPr>
          <a:xfrm>
            <a:off x="9963481" y="2661082"/>
            <a:ext cx="1215397" cy="424732"/>
          </a:xfrm>
          <a:prstGeom prst="rect">
            <a:avLst/>
          </a:prstGeom>
          <a:solidFill>
            <a:schemeClr val="tx1"/>
          </a:solidFill>
        </p:spPr>
        <p:txBody>
          <a:bodyPr wrap="none" lIns="91440" tIns="91440" rIns="91440" bIns="109728"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lang="en-US" sz="1600" b="1" dirty="0">
                <a:solidFill>
                  <a:schemeClr val="accent3"/>
                </a:solidFill>
                <a:latin typeface="+mj-lt"/>
                <a:cs typeface="Segoe UI" panose="020B0502040204020203" pitchFamily="34" charset="0"/>
              </a:rPr>
              <a:t>~55</a:t>
            </a:r>
            <a:r>
              <a:rPr kumimoji="0" lang="en-US" sz="1600" b="1" i="0" u="none" strike="noStrike" kern="1200" cap="none" spc="0" normalizeH="0" baseline="0" noProof="0" dirty="0">
                <a:ln>
                  <a:noFill/>
                </a:ln>
                <a:solidFill>
                  <a:schemeClr val="accent3"/>
                </a:solidFill>
                <a:effectLst/>
                <a:uLnTx/>
                <a:uFillTx/>
                <a:latin typeface="+mj-lt"/>
                <a:ea typeface="+mn-ea"/>
                <a:cs typeface="Segoe UI" panose="020B0502040204020203" pitchFamily="34" charset="0"/>
              </a:rPr>
              <a:t>% LESS</a:t>
            </a:r>
          </a:p>
        </p:txBody>
      </p:sp>
      <p:sp>
        <p:nvSpPr>
          <p:cNvPr id="51" name="TextBox 50">
            <a:extLst>
              <a:ext uri="{FF2B5EF4-FFF2-40B4-BE49-F238E27FC236}">
                <a16:creationId xmlns:a16="http://schemas.microsoft.com/office/drawing/2014/main" id="{D474B024-4BA8-4A02-A039-C7E00CAF0B21}"/>
              </a:ext>
            </a:extLst>
          </p:cNvPr>
          <p:cNvSpPr txBox="1"/>
          <p:nvPr/>
        </p:nvSpPr>
        <p:spPr>
          <a:xfrm>
            <a:off x="9527151" y="5700000"/>
            <a:ext cx="2088060" cy="215444"/>
          </a:xfrm>
          <a:prstGeom prst="rect">
            <a:avLst/>
          </a:prstGeom>
          <a:noFill/>
        </p:spPr>
        <p:txBody>
          <a:bodyPr wrap="square" lIns="0" tIns="0" rIns="0" bIns="0" rtlCol="0">
            <a:spAutoFit/>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3"/>
                </a:solidFill>
                <a:effectLst/>
                <a:uLnTx/>
                <a:uFillTx/>
                <a:latin typeface="Segoe UI Semibold"/>
                <a:ea typeface="+mn-ea"/>
                <a:cs typeface="+mn-cs"/>
              </a:rPr>
              <a:t>With Hybrid Benefit</a:t>
            </a:r>
            <a:endParaRPr kumimoji="0" lang="en-GB" sz="1400" b="0" i="0" u="none" strike="noStrike" kern="1200" cap="none" spc="0" normalizeH="0" baseline="0" noProof="0" dirty="0">
              <a:ln>
                <a:noFill/>
              </a:ln>
              <a:solidFill>
                <a:schemeClr val="accent3"/>
              </a:solidFill>
              <a:effectLst/>
              <a:uLnTx/>
              <a:uFillTx/>
              <a:latin typeface="Segoe UI Semibold"/>
              <a:ea typeface="+mn-ea"/>
              <a:cs typeface="+mn-cs"/>
            </a:endParaRPr>
          </a:p>
        </p:txBody>
      </p:sp>
      <p:sp>
        <p:nvSpPr>
          <p:cNvPr id="49" name="Rectangle 48">
            <a:extLst>
              <a:ext uri="{FF2B5EF4-FFF2-40B4-BE49-F238E27FC236}">
                <a16:creationId xmlns:a16="http://schemas.microsoft.com/office/drawing/2014/main" id="{F1E00F4A-6F37-42FE-AA51-93CC39EC42D4}"/>
              </a:ext>
            </a:extLst>
          </p:cNvPr>
          <p:cNvSpPr/>
          <p:nvPr/>
        </p:nvSpPr>
        <p:spPr>
          <a:xfrm>
            <a:off x="10144333" y="5248255"/>
            <a:ext cx="853694" cy="231166"/>
          </a:xfrm>
          <a:prstGeom prst="rect">
            <a:avLst/>
          </a:prstGeom>
        </p:spPr>
        <p:txBody>
          <a:bodyPr wrap="none" lIns="0" tIns="0" rIns="0" bIns="0">
            <a:sp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$1,777.91</a:t>
            </a:r>
          </a:p>
        </p:txBody>
      </p:sp>
      <p:grpSp>
        <p:nvGrpSpPr>
          <p:cNvPr id="161" name="Group 19">
            <a:extLst>
              <a:ext uri="{FF2B5EF4-FFF2-40B4-BE49-F238E27FC236}">
                <a16:creationId xmlns:a16="http://schemas.microsoft.com/office/drawing/2014/main" id="{E227675D-ABAB-42C8-BD48-E7A412FFAE95}"/>
              </a:ext>
              <a:ext uri="{C183D7F6-B498-43B3-948B-1728B52AA6E4}">
                <adec:decorative xmlns:adec="http://schemas.microsoft.com/office/drawing/2017/decorative" val="1"/>
              </a:ext>
            </a:extLst>
          </p:cNvPr>
          <p:cNvGrpSpPr>
            <a:grpSpLocks noChangeAspect="1"/>
          </p:cNvGrpSpPr>
          <p:nvPr/>
        </p:nvGrpSpPr>
        <p:grpSpPr bwMode="auto">
          <a:xfrm>
            <a:off x="444806" y="5463037"/>
            <a:ext cx="370449" cy="386861"/>
            <a:chOff x="5806" y="981"/>
            <a:chExt cx="316" cy="330"/>
          </a:xfrm>
        </p:grpSpPr>
        <p:sp>
          <p:nvSpPr>
            <p:cNvPr id="162" name="AutoShape 18">
              <a:extLst>
                <a:ext uri="{FF2B5EF4-FFF2-40B4-BE49-F238E27FC236}">
                  <a16:creationId xmlns:a16="http://schemas.microsoft.com/office/drawing/2014/main" id="{4AB48348-B184-42CA-820E-14B23CC2F4D2}"/>
                </a:ext>
              </a:extLst>
            </p:cNvPr>
            <p:cNvSpPr>
              <a:spLocks noChangeAspect="1" noChangeArrowheads="1" noTextEdit="1"/>
            </p:cNvSpPr>
            <p:nvPr/>
          </p:nvSpPr>
          <p:spPr bwMode="auto">
            <a:xfrm>
              <a:off x="5807" y="999"/>
              <a:ext cx="312" cy="3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3" name="Rectangle 20">
              <a:extLst>
                <a:ext uri="{FF2B5EF4-FFF2-40B4-BE49-F238E27FC236}">
                  <a16:creationId xmlns:a16="http://schemas.microsoft.com/office/drawing/2014/main" id="{0FE40847-44EC-4144-AA4B-F08F229141B7}"/>
                </a:ext>
              </a:extLst>
            </p:cNvPr>
            <p:cNvSpPr>
              <a:spLocks noChangeArrowheads="1"/>
            </p:cNvSpPr>
            <p:nvPr/>
          </p:nvSpPr>
          <p:spPr bwMode="auto">
            <a:xfrm>
              <a:off x="5807" y="1028"/>
              <a:ext cx="315" cy="283"/>
            </a:xfrm>
            <a:prstGeom prst="rect">
              <a:avLst/>
            </a:prstGeom>
            <a:solidFill>
              <a:srgbClr val="000000"/>
            </a:solidFill>
            <a:ln w="9525">
              <a:solidFill>
                <a:schemeClr val="accent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4" name="Rectangle 21">
              <a:extLst>
                <a:ext uri="{FF2B5EF4-FFF2-40B4-BE49-F238E27FC236}">
                  <a16:creationId xmlns:a16="http://schemas.microsoft.com/office/drawing/2014/main" id="{78179EBB-02EC-4AB1-A753-C84D28720DC3}"/>
                </a:ext>
              </a:extLst>
            </p:cNvPr>
            <p:cNvSpPr>
              <a:spLocks noChangeArrowheads="1"/>
            </p:cNvSpPr>
            <p:nvPr/>
          </p:nvSpPr>
          <p:spPr bwMode="auto">
            <a:xfrm>
              <a:off x="5806" y="981"/>
              <a:ext cx="315" cy="44"/>
            </a:xfrm>
            <a:prstGeom prst="rect">
              <a:avLst/>
            </a:prstGeom>
            <a:solidFill>
              <a:srgbClr val="0078D4"/>
            </a:solidFill>
            <a:ln w="9525">
              <a:solidFill>
                <a:schemeClr val="accent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5" name="Rectangle 22">
              <a:extLst>
                <a:ext uri="{FF2B5EF4-FFF2-40B4-BE49-F238E27FC236}">
                  <a16:creationId xmlns:a16="http://schemas.microsoft.com/office/drawing/2014/main" id="{BD1F23AF-AF1C-4C32-813F-6D2F9B2E07AD}"/>
                </a:ext>
              </a:extLst>
            </p:cNvPr>
            <p:cNvSpPr>
              <a:spLocks noChangeArrowheads="1"/>
            </p:cNvSpPr>
            <p:nvPr/>
          </p:nvSpPr>
          <p:spPr bwMode="auto">
            <a:xfrm>
              <a:off x="5851" y="1082"/>
              <a:ext cx="29" cy="29"/>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6" name="Rectangle 23">
              <a:extLst>
                <a:ext uri="{FF2B5EF4-FFF2-40B4-BE49-F238E27FC236}">
                  <a16:creationId xmlns:a16="http://schemas.microsoft.com/office/drawing/2014/main" id="{3788EAAF-651C-4E62-AEA7-2BCED6794369}"/>
                </a:ext>
              </a:extLst>
            </p:cNvPr>
            <p:cNvSpPr>
              <a:spLocks noChangeArrowheads="1"/>
            </p:cNvSpPr>
            <p:nvPr/>
          </p:nvSpPr>
          <p:spPr bwMode="auto">
            <a:xfrm>
              <a:off x="5900" y="1082"/>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7" name="Rectangle 24">
              <a:extLst>
                <a:ext uri="{FF2B5EF4-FFF2-40B4-BE49-F238E27FC236}">
                  <a16:creationId xmlns:a16="http://schemas.microsoft.com/office/drawing/2014/main" id="{F6FFC24A-49B9-4751-867B-93A39F5DCFA4}"/>
                </a:ext>
              </a:extLst>
            </p:cNvPr>
            <p:cNvSpPr>
              <a:spLocks noChangeArrowheads="1"/>
            </p:cNvSpPr>
            <p:nvPr/>
          </p:nvSpPr>
          <p:spPr bwMode="auto">
            <a:xfrm>
              <a:off x="5948" y="1082"/>
              <a:ext cx="30"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8" name="Rectangle 25">
              <a:extLst>
                <a:ext uri="{FF2B5EF4-FFF2-40B4-BE49-F238E27FC236}">
                  <a16:creationId xmlns:a16="http://schemas.microsoft.com/office/drawing/2014/main" id="{FE5184DB-3400-463C-A9EC-48E48B15E61C}"/>
                </a:ext>
              </a:extLst>
            </p:cNvPr>
            <p:cNvSpPr>
              <a:spLocks noChangeArrowheads="1"/>
            </p:cNvSpPr>
            <p:nvPr/>
          </p:nvSpPr>
          <p:spPr bwMode="auto">
            <a:xfrm>
              <a:off x="5997" y="1082"/>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9" name="Rectangle 26">
              <a:extLst>
                <a:ext uri="{FF2B5EF4-FFF2-40B4-BE49-F238E27FC236}">
                  <a16:creationId xmlns:a16="http://schemas.microsoft.com/office/drawing/2014/main" id="{D91377E1-9CEC-4B21-9B2D-A6E474B9FC54}"/>
                </a:ext>
              </a:extLst>
            </p:cNvPr>
            <p:cNvSpPr>
              <a:spLocks noChangeArrowheads="1"/>
            </p:cNvSpPr>
            <p:nvPr/>
          </p:nvSpPr>
          <p:spPr bwMode="auto">
            <a:xfrm>
              <a:off x="5851" y="1131"/>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0" name="Rectangle 27">
              <a:extLst>
                <a:ext uri="{FF2B5EF4-FFF2-40B4-BE49-F238E27FC236}">
                  <a16:creationId xmlns:a16="http://schemas.microsoft.com/office/drawing/2014/main" id="{A1F036E5-26D5-44B4-A1ED-9DC3E5FBA51E}"/>
                </a:ext>
              </a:extLst>
            </p:cNvPr>
            <p:cNvSpPr>
              <a:spLocks noChangeArrowheads="1"/>
            </p:cNvSpPr>
            <p:nvPr/>
          </p:nvSpPr>
          <p:spPr bwMode="auto">
            <a:xfrm>
              <a:off x="5900" y="1131"/>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1" name="Rectangle 28">
              <a:extLst>
                <a:ext uri="{FF2B5EF4-FFF2-40B4-BE49-F238E27FC236}">
                  <a16:creationId xmlns:a16="http://schemas.microsoft.com/office/drawing/2014/main" id="{7D85E2DD-CA27-487A-ABC2-11D8F77FD47A}"/>
                </a:ext>
              </a:extLst>
            </p:cNvPr>
            <p:cNvSpPr>
              <a:spLocks noChangeArrowheads="1"/>
            </p:cNvSpPr>
            <p:nvPr/>
          </p:nvSpPr>
          <p:spPr bwMode="auto">
            <a:xfrm>
              <a:off x="5948" y="1131"/>
              <a:ext cx="30" cy="29"/>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2" name="Rectangle 29">
              <a:extLst>
                <a:ext uri="{FF2B5EF4-FFF2-40B4-BE49-F238E27FC236}">
                  <a16:creationId xmlns:a16="http://schemas.microsoft.com/office/drawing/2014/main" id="{C86C1003-DF57-416A-B295-71A69A04E6AA}"/>
                </a:ext>
              </a:extLst>
            </p:cNvPr>
            <p:cNvSpPr>
              <a:spLocks noChangeArrowheads="1"/>
            </p:cNvSpPr>
            <p:nvPr/>
          </p:nvSpPr>
          <p:spPr bwMode="auto">
            <a:xfrm>
              <a:off x="5997" y="1131"/>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3" name="Rectangle 30">
              <a:extLst>
                <a:ext uri="{FF2B5EF4-FFF2-40B4-BE49-F238E27FC236}">
                  <a16:creationId xmlns:a16="http://schemas.microsoft.com/office/drawing/2014/main" id="{C220BE87-E8B7-4B0F-BCA6-412D38CE2CAC}"/>
                </a:ext>
              </a:extLst>
            </p:cNvPr>
            <p:cNvSpPr>
              <a:spLocks noChangeArrowheads="1"/>
            </p:cNvSpPr>
            <p:nvPr/>
          </p:nvSpPr>
          <p:spPr bwMode="auto">
            <a:xfrm>
              <a:off x="5851" y="1179"/>
              <a:ext cx="29" cy="30"/>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4" name="Rectangle 31">
              <a:extLst>
                <a:ext uri="{FF2B5EF4-FFF2-40B4-BE49-F238E27FC236}">
                  <a16:creationId xmlns:a16="http://schemas.microsoft.com/office/drawing/2014/main" id="{1E37AC66-D68D-45B4-87CE-E57AE186DCEC}"/>
                </a:ext>
              </a:extLst>
            </p:cNvPr>
            <p:cNvSpPr>
              <a:spLocks noChangeArrowheads="1"/>
            </p:cNvSpPr>
            <p:nvPr/>
          </p:nvSpPr>
          <p:spPr bwMode="auto">
            <a:xfrm>
              <a:off x="5900" y="1179"/>
              <a:ext cx="29" cy="30"/>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5" name="Rectangle 32">
              <a:extLst>
                <a:ext uri="{FF2B5EF4-FFF2-40B4-BE49-F238E27FC236}">
                  <a16:creationId xmlns:a16="http://schemas.microsoft.com/office/drawing/2014/main" id="{66BE9B33-DEF2-456A-8C94-84E0BF0EB76F}"/>
                </a:ext>
              </a:extLst>
            </p:cNvPr>
            <p:cNvSpPr>
              <a:spLocks noChangeArrowheads="1"/>
            </p:cNvSpPr>
            <p:nvPr/>
          </p:nvSpPr>
          <p:spPr bwMode="auto">
            <a:xfrm>
              <a:off x="5948" y="1179"/>
              <a:ext cx="30" cy="30"/>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6" name="Rectangle 33">
              <a:extLst>
                <a:ext uri="{FF2B5EF4-FFF2-40B4-BE49-F238E27FC236}">
                  <a16:creationId xmlns:a16="http://schemas.microsoft.com/office/drawing/2014/main" id="{6EB7325F-C257-4E5C-8624-6178C0AF90AE}"/>
                </a:ext>
              </a:extLst>
            </p:cNvPr>
            <p:cNvSpPr>
              <a:spLocks noChangeArrowheads="1"/>
            </p:cNvSpPr>
            <p:nvPr/>
          </p:nvSpPr>
          <p:spPr bwMode="auto">
            <a:xfrm>
              <a:off x="5997" y="1179"/>
              <a:ext cx="29" cy="30"/>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7" name="Rectangle 34">
              <a:extLst>
                <a:ext uri="{FF2B5EF4-FFF2-40B4-BE49-F238E27FC236}">
                  <a16:creationId xmlns:a16="http://schemas.microsoft.com/office/drawing/2014/main" id="{DBC03353-1D48-4062-9F5B-E2AEF9488DFF}"/>
                </a:ext>
              </a:extLst>
            </p:cNvPr>
            <p:cNvSpPr>
              <a:spLocks noChangeArrowheads="1"/>
            </p:cNvSpPr>
            <p:nvPr/>
          </p:nvSpPr>
          <p:spPr bwMode="auto">
            <a:xfrm>
              <a:off x="5851" y="1228"/>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8" name="Rectangle 35">
              <a:extLst>
                <a:ext uri="{FF2B5EF4-FFF2-40B4-BE49-F238E27FC236}">
                  <a16:creationId xmlns:a16="http://schemas.microsoft.com/office/drawing/2014/main" id="{A065FF4C-2209-469C-A26C-3EEA91B46AD8}"/>
                </a:ext>
              </a:extLst>
            </p:cNvPr>
            <p:cNvSpPr>
              <a:spLocks noChangeArrowheads="1"/>
            </p:cNvSpPr>
            <p:nvPr/>
          </p:nvSpPr>
          <p:spPr bwMode="auto">
            <a:xfrm>
              <a:off x="5900" y="1228"/>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9" name="Rectangle 36">
              <a:extLst>
                <a:ext uri="{FF2B5EF4-FFF2-40B4-BE49-F238E27FC236}">
                  <a16:creationId xmlns:a16="http://schemas.microsoft.com/office/drawing/2014/main" id="{E5DDFC19-AAB8-4841-84E1-135F53AD9142}"/>
                </a:ext>
              </a:extLst>
            </p:cNvPr>
            <p:cNvSpPr>
              <a:spLocks noChangeArrowheads="1"/>
            </p:cNvSpPr>
            <p:nvPr/>
          </p:nvSpPr>
          <p:spPr bwMode="auto">
            <a:xfrm>
              <a:off x="5948" y="1228"/>
              <a:ext cx="30"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0" name="Rectangle 179">
              <a:extLst>
                <a:ext uri="{FF2B5EF4-FFF2-40B4-BE49-F238E27FC236}">
                  <a16:creationId xmlns:a16="http://schemas.microsoft.com/office/drawing/2014/main" id="{B288C71F-32F3-4D42-BABC-A0923913462A}"/>
                </a:ext>
              </a:extLst>
            </p:cNvPr>
            <p:cNvSpPr>
              <a:spLocks noChangeArrowheads="1"/>
            </p:cNvSpPr>
            <p:nvPr/>
          </p:nvSpPr>
          <p:spPr bwMode="auto">
            <a:xfrm>
              <a:off x="5997" y="1228"/>
              <a:ext cx="29" cy="29"/>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1" name="Rectangle 180">
              <a:extLst>
                <a:ext uri="{FF2B5EF4-FFF2-40B4-BE49-F238E27FC236}">
                  <a16:creationId xmlns:a16="http://schemas.microsoft.com/office/drawing/2014/main" id="{7A397300-C18B-4D45-A78E-6D5DE04A2E0D}"/>
                </a:ext>
              </a:extLst>
            </p:cNvPr>
            <p:cNvSpPr>
              <a:spLocks noChangeArrowheads="1"/>
            </p:cNvSpPr>
            <p:nvPr/>
          </p:nvSpPr>
          <p:spPr bwMode="auto">
            <a:xfrm>
              <a:off x="6046" y="1082"/>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2" name="Rectangle 181">
              <a:extLst>
                <a:ext uri="{FF2B5EF4-FFF2-40B4-BE49-F238E27FC236}">
                  <a16:creationId xmlns:a16="http://schemas.microsoft.com/office/drawing/2014/main" id="{7D027E8E-96FC-43B2-9941-43EAB48C9045}"/>
                </a:ext>
              </a:extLst>
            </p:cNvPr>
            <p:cNvSpPr>
              <a:spLocks noChangeArrowheads="1"/>
            </p:cNvSpPr>
            <p:nvPr/>
          </p:nvSpPr>
          <p:spPr bwMode="auto">
            <a:xfrm>
              <a:off x="6046" y="1131"/>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3" name="Rectangle 182">
              <a:extLst>
                <a:ext uri="{FF2B5EF4-FFF2-40B4-BE49-F238E27FC236}">
                  <a16:creationId xmlns:a16="http://schemas.microsoft.com/office/drawing/2014/main" id="{CA708869-6BC6-42D5-922C-E8CF72E4CF96}"/>
                </a:ext>
              </a:extLst>
            </p:cNvPr>
            <p:cNvSpPr>
              <a:spLocks noChangeArrowheads="1"/>
            </p:cNvSpPr>
            <p:nvPr/>
          </p:nvSpPr>
          <p:spPr bwMode="auto">
            <a:xfrm>
              <a:off x="6046" y="1179"/>
              <a:ext cx="29" cy="30"/>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4" name="Rectangle 183">
              <a:extLst>
                <a:ext uri="{FF2B5EF4-FFF2-40B4-BE49-F238E27FC236}">
                  <a16:creationId xmlns:a16="http://schemas.microsoft.com/office/drawing/2014/main" id="{7414503C-04EF-46C1-AAAA-3626DD40C0E1}"/>
                </a:ext>
              </a:extLst>
            </p:cNvPr>
            <p:cNvSpPr>
              <a:spLocks noChangeArrowheads="1"/>
            </p:cNvSpPr>
            <p:nvPr/>
          </p:nvSpPr>
          <p:spPr bwMode="auto">
            <a:xfrm>
              <a:off x="6046" y="1228"/>
              <a:ext cx="29" cy="2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84" name="Rectangle 14">
            <a:extLst>
              <a:ext uri="{FF2B5EF4-FFF2-40B4-BE49-F238E27FC236}">
                <a16:creationId xmlns:a16="http://schemas.microsoft.com/office/drawing/2014/main" id="{14B25ECE-30A5-F742-8BD3-4847437E34F4}"/>
              </a:ext>
              <a:ext uri="{C183D7F6-B498-43B3-948B-1728B52AA6E4}">
                <adec:decorative xmlns:adec="http://schemas.microsoft.com/office/drawing/2017/decorative" val="1"/>
              </a:ext>
            </a:extLst>
          </p:cNvPr>
          <p:cNvSpPr/>
          <p:nvPr/>
        </p:nvSpPr>
        <p:spPr bwMode="auto">
          <a:xfrm flipH="1">
            <a:off x="7134323" y="1908788"/>
            <a:ext cx="3414528" cy="1717789"/>
          </a:xfrm>
          <a:custGeom>
            <a:avLst/>
            <a:gdLst>
              <a:gd name="connsiteX0" fmla="*/ 0 w 1429105"/>
              <a:gd name="connsiteY0" fmla="*/ 0 h 2218675"/>
              <a:gd name="connsiteX1" fmla="*/ 1429105 w 1429105"/>
              <a:gd name="connsiteY1" fmla="*/ 0 h 2218675"/>
              <a:gd name="connsiteX2" fmla="*/ 1429105 w 1429105"/>
              <a:gd name="connsiteY2" fmla="*/ 2218675 h 2218675"/>
              <a:gd name="connsiteX3" fmla="*/ 0 w 1429105"/>
              <a:gd name="connsiteY3" fmla="*/ 2218675 h 2218675"/>
              <a:gd name="connsiteX4" fmla="*/ 0 w 1429105"/>
              <a:gd name="connsiteY4" fmla="*/ 0 h 2218675"/>
              <a:gd name="connsiteX0" fmla="*/ 1429105 w 1520545"/>
              <a:gd name="connsiteY0" fmla="*/ 2218675 h 2310115"/>
              <a:gd name="connsiteX1" fmla="*/ 0 w 1520545"/>
              <a:gd name="connsiteY1" fmla="*/ 2218675 h 2310115"/>
              <a:gd name="connsiteX2" fmla="*/ 0 w 1520545"/>
              <a:gd name="connsiteY2" fmla="*/ 0 h 2310115"/>
              <a:gd name="connsiteX3" fmla="*/ 1429105 w 1520545"/>
              <a:gd name="connsiteY3" fmla="*/ 0 h 2310115"/>
              <a:gd name="connsiteX4" fmla="*/ 1520545 w 1520545"/>
              <a:gd name="connsiteY4" fmla="*/ 2310115 h 2310115"/>
              <a:gd name="connsiteX0" fmla="*/ 1429105 w 1429105"/>
              <a:gd name="connsiteY0" fmla="*/ 2218675 h 2218675"/>
              <a:gd name="connsiteX1" fmla="*/ 0 w 1429105"/>
              <a:gd name="connsiteY1" fmla="*/ 2218675 h 2218675"/>
              <a:gd name="connsiteX2" fmla="*/ 0 w 1429105"/>
              <a:gd name="connsiteY2" fmla="*/ 0 h 2218675"/>
              <a:gd name="connsiteX3" fmla="*/ 1429105 w 1429105"/>
              <a:gd name="connsiteY3" fmla="*/ 0 h 2218675"/>
              <a:gd name="connsiteX0" fmla="*/ 0 w 1429105"/>
              <a:gd name="connsiteY0" fmla="*/ 2218675 h 2218675"/>
              <a:gd name="connsiteX1" fmla="*/ 0 w 1429105"/>
              <a:gd name="connsiteY1" fmla="*/ 0 h 2218675"/>
              <a:gd name="connsiteX2" fmla="*/ 1429105 w 1429105"/>
              <a:gd name="connsiteY2" fmla="*/ 0 h 2218675"/>
            </a:gdLst>
            <a:ahLst/>
            <a:cxnLst>
              <a:cxn ang="0">
                <a:pos x="connsiteX0" y="connsiteY0"/>
              </a:cxn>
              <a:cxn ang="0">
                <a:pos x="connsiteX1" y="connsiteY1"/>
              </a:cxn>
              <a:cxn ang="0">
                <a:pos x="connsiteX2" y="connsiteY2"/>
              </a:cxn>
            </a:cxnLst>
            <a:rect l="l" t="t" r="r" b="b"/>
            <a:pathLst>
              <a:path w="1429105" h="2218675">
                <a:moveTo>
                  <a:pt x="0" y="2218675"/>
                </a:moveTo>
                <a:lnTo>
                  <a:pt x="0" y="0"/>
                </a:lnTo>
                <a:lnTo>
                  <a:pt x="1429105" y="0"/>
                </a:lnTo>
              </a:path>
            </a:pathLst>
          </a:custGeom>
          <a:ln w="15875">
            <a:solidFill>
              <a:schemeClr val="tx2"/>
            </a:solidFill>
            <a:headEnd type="triangle" w="med"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3" name="TextBox 72">
            <a:extLst>
              <a:ext uri="{FF2B5EF4-FFF2-40B4-BE49-F238E27FC236}">
                <a16:creationId xmlns:a16="http://schemas.microsoft.com/office/drawing/2014/main" id="{DFB64443-9350-42CA-84FC-DD8249709DAE}"/>
              </a:ext>
            </a:extLst>
          </p:cNvPr>
          <p:cNvSpPr txBox="1"/>
          <p:nvPr/>
        </p:nvSpPr>
        <p:spPr>
          <a:xfrm>
            <a:off x="442150" y="6218369"/>
            <a:ext cx="5237723" cy="184640"/>
          </a:xfrm>
          <a:prstGeom prst="rect">
            <a:avLst/>
          </a:prstGeom>
          <a:noFill/>
        </p:spPr>
        <p:txBody>
          <a:bodyPr wrap="square" lIns="0" tIns="0" rIns="0" bIns="0" rtlCol="0">
            <a:no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176" b="0" i="0" u="none" strike="noStrike" kern="1200" cap="none" spc="0" normalizeH="0" baseline="0" noProof="0" dirty="0">
                <a:ln>
                  <a:noFill/>
                </a:ln>
                <a:solidFill>
                  <a:schemeClr val="bg1"/>
                </a:solidFill>
                <a:effectLst/>
                <a:uLnTx/>
                <a:uFillTx/>
                <a:latin typeface="Segoe UI"/>
                <a:ea typeface="+mn-ea"/>
                <a:cs typeface="+mn-cs"/>
              </a:rPr>
              <a:t>*Combining the Azure Hybrid Benefit for Windows and SQL</a:t>
            </a:r>
            <a:endParaRPr kumimoji="0" lang="en-GB" sz="1176" b="0" i="0" u="none" strike="noStrike" kern="1200" cap="none" spc="0" normalizeH="0" baseline="0" noProof="0" dirty="0">
              <a:ln>
                <a:noFill/>
              </a:ln>
              <a:solidFill>
                <a:schemeClr val="bg1"/>
              </a:solidFill>
              <a:effectLst/>
              <a:uLnTx/>
              <a:uFillTx/>
              <a:latin typeface="Segoe UI"/>
              <a:ea typeface="+mn-ea"/>
              <a:cs typeface="+mn-cs"/>
            </a:endParaRPr>
          </a:p>
        </p:txBody>
      </p:sp>
    </p:spTree>
    <p:extLst>
      <p:ext uri="{BB962C8B-B14F-4D97-AF65-F5344CB8AC3E}">
        <p14:creationId xmlns:p14="http://schemas.microsoft.com/office/powerpoint/2010/main" val="2602499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578D32-7DD4-498A-B783-FC890A0F134B}"/>
              </a:ext>
            </a:extLst>
          </p:cNvPr>
          <p:cNvSpPr>
            <a:spLocks noGrp="1"/>
          </p:cNvSpPr>
          <p:nvPr>
            <p:ph type="title"/>
          </p:nvPr>
        </p:nvSpPr>
        <p:spPr/>
        <p:txBody>
          <a:bodyPr/>
          <a:lstStyle/>
          <a:p>
            <a:r>
              <a:rPr lang="en-US" dirty="0"/>
              <a:t>Mission critical SQL Server performance in Azure costs up to 84% less than alternatives</a:t>
            </a:r>
          </a:p>
        </p:txBody>
      </p:sp>
      <p:sp>
        <p:nvSpPr>
          <p:cNvPr id="9" name="Rectangle 8">
            <a:extLst>
              <a:ext uri="{FF2B5EF4-FFF2-40B4-BE49-F238E27FC236}">
                <a16:creationId xmlns:a16="http://schemas.microsoft.com/office/drawing/2014/main" id="{66D915B9-A842-4664-9058-09A94B51E40D}"/>
              </a:ext>
              <a:ext uri="{C183D7F6-B498-43B3-948B-1728B52AA6E4}">
                <adec:decorative xmlns:adec="http://schemas.microsoft.com/office/drawing/2017/decorative" val="1"/>
              </a:ext>
            </a:extLst>
          </p:cNvPr>
          <p:cNvSpPr/>
          <p:nvPr/>
        </p:nvSpPr>
        <p:spPr bwMode="auto">
          <a:xfrm>
            <a:off x="588263" y="2025650"/>
            <a:ext cx="5029200" cy="4250739"/>
          </a:xfrm>
          <a:prstGeom prst="rect">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6" name="TextBox 25">
            <a:extLst>
              <a:ext uri="{FF2B5EF4-FFF2-40B4-BE49-F238E27FC236}">
                <a16:creationId xmlns:a16="http://schemas.microsoft.com/office/drawing/2014/main" id="{A6EEB928-914C-4554-86DE-0680D3DE13C5}"/>
              </a:ext>
            </a:extLst>
          </p:cNvPr>
          <p:cNvSpPr txBox="1"/>
          <p:nvPr/>
        </p:nvSpPr>
        <p:spPr>
          <a:xfrm>
            <a:off x="1230459" y="2154006"/>
            <a:ext cx="3744808" cy="46166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Semibold"/>
                <a:ea typeface="+mn-ea"/>
                <a:cs typeface="+mn-cs"/>
              </a:rPr>
              <a:t>Azure SQL Database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Segoe UI Semibold"/>
                <a:ea typeface="+mn-ea"/>
                <a:cs typeface="+mn-cs"/>
              </a:rPr>
              <a:t>GigaOm</a:t>
            </a:r>
            <a:r>
              <a:rPr kumimoji="0" lang="en-US" sz="1200" b="0" i="0" u="none" strike="noStrike" kern="1200" cap="none" spc="0" normalizeH="0" baseline="0" noProof="0" dirty="0">
                <a:ln>
                  <a:noFill/>
                </a:ln>
                <a:solidFill>
                  <a:prstClr val="white"/>
                </a:solidFill>
                <a:effectLst/>
                <a:uLnTx/>
                <a:uFillTx/>
                <a:latin typeface="Segoe UI Semibold"/>
                <a:ea typeface="+mn-ea"/>
                <a:cs typeface="+mn-cs"/>
              </a:rPr>
              <a:t> Price-Performance Benchmark, October 2019</a:t>
            </a:r>
          </a:p>
        </p:txBody>
      </p:sp>
      <p:sp>
        <p:nvSpPr>
          <p:cNvPr id="40" name="TextBox 39">
            <a:extLst>
              <a:ext uri="{FF2B5EF4-FFF2-40B4-BE49-F238E27FC236}">
                <a16:creationId xmlns:a16="http://schemas.microsoft.com/office/drawing/2014/main" id="{39BF94A3-E323-4EAF-B0FD-2EA996689089}"/>
              </a:ext>
            </a:extLst>
          </p:cNvPr>
          <p:cNvSpPr txBox="1"/>
          <p:nvPr/>
        </p:nvSpPr>
        <p:spPr>
          <a:xfrm rot="16200000">
            <a:off x="542084" y="3855005"/>
            <a:ext cx="1784720" cy="397032"/>
          </a:xfrm>
          <a:prstGeom prst="rect">
            <a:avLst/>
          </a:prstGeom>
          <a:noFill/>
        </p:spPr>
        <p:txBody>
          <a:bodyPr wrap="none" lIns="91440" tIns="91440" rIns="91440" bIns="109728"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Segoe UI Semibold"/>
                <a:ea typeface="+mn-ea"/>
                <a:cs typeface="+mn-cs"/>
              </a:rPr>
              <a:t>3-year pricing / </a:t>
            </a:r>
            <a:r>
              <a:rPr kumimoji="0" lang="en-US" sz="1400" b="1" i="0" u="none" strike="noStrike" kern="1200" cap="none" spc="0" normalizeH="0" baseline="0" noProof="0" dirty="0" err="1">
                <a:ln>
                  <a:noFill/>
                </a:ln>
                <a:solidFill>
                  <a:prstClr val="white"/>
                </a:solidFill>
                <a:effectLst/>
                <a:uLnTx/>
                <a:uFillTx/>
                <a:latin typeface="Segoe UI Semibold"/>
                <a:ea typeface="+mn-ea"/>
                <a:cs typeface="+mn-cs"/>
              </a:rPr>
              <a:t>tps</a:t>
            </a:r>
            <a:endParaRPr kumimoji="0" lang="en-US" sz="1400" b="1" i="0" u="none" strike="noStrike" kern="1200" cap="none" spc="0" normalizeH="0" baseline="0" noProof="0" dirty="0">
              <a:ln>
                <a:noFill/>
              </a:ln>
              <a:solidFill>
                <a:prstClr val="white"/>
              </a:solidFill>
              <a:effectLst/>
              <a:uLnTx/>
              <a:uFillTx/>
              <a:latin typeface="Segoe UI Semibold"/>
              <a:ea typeface="+mn-ea"/>
              <a:cs typeface="+mn-cs"/>
            </a:endParaRPr>
          </a:p>
        </p:txBody>
      </p:sp>
      <p:sp>
        <p:nvSpPr>
          <p:cNvPr id="37" name="TextBox 36">
            <a:extLst>
              <a:ext uri="{FF2B5EF4-FFF2-40B4-BE49-F238E27FC236}">
                <a16:creationId xmlns:a16="http://schemas.microsoft.com/office/drawing/2014/main" id="{114AEB0B-F75A-4293-84BF-1A74468385F1}"/>
              </a:ext>
            </a:extLst>
          </p:cNvPr>
          <p:cNvSpPr txBox="1"/>
          <p:nvPr/>
        </p:nvSpPr>
        <p:spPr>
          <a:xfrm>
            <a:off x="1994314" y="3845562"/>
            <a:ext cx="1099981" cy="424732"/>
          </a:xfrm>
          <a:prstGeom prst="rect">
            <a:avLst/>
          </a:prstGeom>
          <a:solidFill>
            <a:schemeClr val="bg1"/>
          </a:solidFill>
        </p:spPr>
        <p:txBody>
          <a:bodyPr wrap="none" lIns="91440" tIns="91440" rIns="91440" bIns="109728"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86% LESS</a:t>
            </a:r>
          </a:p>
        </p:txBody>
      </p:sp>
      <p:sp>
        <p:nvSpPr>
          <p:cNvPr id="22" name="TextBox 21">
            <a:extLst>
              <a:ext uri="{FF2B5EF4-FFF2-40B4-BE49-F238E27FC236}">
                <a16:creationId xmlns:a16="http://schemas.microsoft.com/office/drawing/2014/main" id="{2CF843F5-4F87-470B-A406-28C4BC644745}"/>
              </a:ext>
            </a:extLst>
          </p:cNvPr>
          <p:cNvSpPr txBox="1"/>
          <p:nvPr/>
        </p:nvSpPr>
        <p:spPr>
          <a:xfrm>
            <a:off x="2230083" y="4965579"/>
            <a:ext cx="637995" cy="1938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50E6FF"/>
                </a:solidFill>
                <a:effectLst/>
                <a:uLnTx/>
                <a:uFillTx/>
                <a:latin typeface="Segoe UI Semibold"/>
                <a:ea typeface="+mn-ea"/>
                <a:cs typeface="+mn-cs"/>
              </a:rPr>
              <a:t>$290.72</a:t>
            </a:r>
          </a:p>
        </p:txBody>
      </p:sp>
      <p:sp>
        <p:nvSpPr>
          <p:cNvPr id="20" name="g" descr="Azure cost bar">
            <a:extLst>
              <a:ext uri="{FF2B5EF4-FFF2-40B4-BE49-F238E27FC236}">
                <a16:creationId xmlns:a16="http://schemas.microsoft.com/office/drawing/2014/main" id="{D45E44C0-4838-4BC5-BE51-653FD3C24E12}"/>
              </a:ext>
              <a:ext uri="{C183D7F6-B498-43B3-948B-1728B52AA6E4}">
                <adec:decorative xmlns:adec="http://schemas.microsoft.com/office/drawing/2017/decorative" val="0"/>
              </a:ext>
            </a:extLst>
          </p:cNvPr>
          <p:cNvSpPr/>
          <p:nvPr/>
        </p:nvSpPr>
        <p:spPr bwMode="auto">
          <a:xfrm>
            <a:off x="2164482" y="5241744"/>
            <a:ext cx="769196" cy="4281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10680">
                    <a:srgbClr val="FFFFFF"/>
                  </a:gs>
                  <a:gs pos="77000">
                    <a:srgbClr val="FFFFFF"/>
                  </a:gs>
                </a:gsLst>
                <a:lin ang="5400000" scaled="0"/>
              </a:gradFill>
              <a:effectLst/>
              <a:uLnTx/>
              <a:uFillTx/>
              <a:latin typeface="Segoe UI"/>
              <a:ea typeface="Segoe UI" pitchFamily="34" charset="0"/>
              <a:cs typeface="Segoe UI" pitchFamily="34" charset="0"/>
            </a:endParaRPr>
          </a:p>
        </p:txBody>
      </p:sp>
      <p:grpSp>
        <p:nvGrpSpPr>
          <p:cNvPr id="42" name="Group 41" descr="Azure logo">
            <a:extLst>
              <a:ext uri="{FF2B5EF4-FFF2-40B4-BE49-F238E27FC236}">
                <a16:creationId xmlns:a16="http://schemas.microsoft.com/office/drawing/2014/main" id="{3B55C263-2A8F-8241-94F3-FCA55645E7C2}"/>
              </a:ext>
            </a:extLst>
          </p:cNvPr>
          <p:cNvGrpSpPr>
            <a:grpSpLocks noChangeAspect="1"/>
          </p:cNvGrpSpPr>
          <p:nvPr/>
        </p:nvGrpSpPr>
        <p:grpSpPr>
          <a:xfrm>
            <a:off x="2385159" y="5795058"/>
            <a:ext cx="331859" cy="257404"/>
            <a:chOff x="3486498" y="5451027"/>
            <a:chExt cx="1893396" cy="1468600"/>
          </a:xfrm>
          <a:solidFill>
            <a:schemeClr val="accent1"/>
          </a:solidFill>
        </p:grpSpPr>
        <p:sp>
          <p:nvSpPr>
            <p:cNvPr id="43" name="Freeform: Shape 23">
              <a:extLst>
                <a:ext uri="{FF2B5EF4-FFF2-40B4-BE49-F238E27FC236}">
                  <a16:creationId xmlns:a16="http://schemas.microsoft.com/office/drawing/2014/main" id="{7E276B12-AF91-2F49-925B-56F32963A9A6}"/>
                </a:ext>
              </a:extLst>
            </p:cNvPr>
            <p:cNvSpPr/>
            <p:nvPr/>
          </p:nvSpPr>
          <p:spPr bwMode="auto">
            <a:xfrm>
              <a:off x="3486498" y="5451027"/>
              <a:ext cx="1068765" cy="1323278"/>
            </a:xfrm>
            <a:custGeom>
              <a:avLst/>
              <a:gdLst>
                <a:gd name="connsiteX0" fmla="*/ 1033494 w 1033494"/>
                <a:gd name="connsiteY0" fmla="*/ 0 h 1283793"/>
                <a:gd name="connsiteX1" fmla="*/ 468302 w 1033494"/>
                <a:gd name="connsiteY1" fmla="*/ 458209 h 1283793"/>
                <a:gd name="connsiteX2" fmla="*/ 0 w 1033494"/>
                <a:gd name="connsiteY2" fmla="*/ 1283793 h 1283793"/>
                <a:gd name="connsiteX3" fmla="*/ 446098 w 1033494"/>
                <a:gd name="connsiteY3" fmla="*/ 1283793 h 1283793"/>
                <a:gd name="connsiteX4" fmla="*/ 1033494 w 1033494"/>
                <a:gd name="connsiteY4" fmla="*/ 0 h 1283793"/>
                <a:gd name="connsiteX0" fmla="*/ 1047475 w 1047475"/>
                <a:gd name="connsiteY0" fmla="*/ 0 h 1283793"/>
                <a:gd name="connsiteX1" fmla="*/ 482283 w 1047475"/>
                <a:gd name="connsiteY1" fmla="*/ 458209 h 1283793"/>
                <a:gd name="connsiteX2" fmla="*/ 0 w 1047475"/>
                <a:gd name="connsiteY2" fmla="*/ 1281817 h 1283793"/>
                <a:gd name="connsiteX3" fmla="*/ 460079 w 1047475"/>
                <a:gd name="connsiteY3" fmla="*/ 1283793 h 1283793"/>
                <a:gd name="connsiteX4" fmla="*/ 1047475 w 1047475"/>
                <a:gd name="connsiteY4" fmla="*/ 0 h 1283793"/>
                <a:gd name="connsiteX0" fmla="*/ 1049473 w 1049473"/>
                <a:gd name="connsiteY0" fmla="*/ 0 h 1297628"/>
                <a:gd name="connsiteX1" fmla="*/ 482283 w 1049473"/>
                <a:gd name="connsiteY1" fmla="*/ 472044 h 1297628"/>
                <a:gd name="connsiteX2" fmla="*/ 0 w 1049473"/>
                <a:gd name="connsiteY2" fmla="*/ 1295652 h 1297628"/>
                <a:gd name="connsiteX3" fmla="*/ 460079 w 1049473"/>
                <a:gd name="connsiteY3" fmla="*/ 1297628 h 1297628"/>
                <a:gd name="connsiteX4" fmla="*/ 1049473 w 1049473"/>
                <a:gd name="connsiteY4" fmla="*/ 0 h 1297628"/>
                <a:gd name="connsiteX0" fmla="*/ 1057462 w 1057462"/>
                <a:gd name="connsiteY0" fmla="*/ 0 h 1295651"/>
                <a:gd name="connsiteX1" fmla="*/ 482283 w 1057462"/>
                <a:gd name="connsiteY1" fmla="*/ 470067 h 1295651"/>
                <a:gd name="connsiteX2" fmla="*/ 0 w 1057462"/>
                <a:gd name="connsiteY2" fmla="*/ 1293675 h 1295651"/>
                <a:gd name="connsiteX3" fmla="*/ 460079 w 1057462"/>
                <a:gd name="connsiteY3" fmla="*/ 1295651 h 1295651"/>
                <a:gd name="connsiteX4" fmla="*/ 1057462 w 1057462"/>
                <a:gd name="connsiteY4" fmla="*/ 0 h 1295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462" h="1295651">
                  <a:moveTo>
                    <a:pt x="1057462" y="0"/>
                  </a:moveTo>
                  <a:lnTo>
                    <a:pt x="482283" y="470067"/>
                  </a:lnTo>
                  <a:lnTo>
                    <a:pt x="0" y="1293675"/>
                  </a:lnTo>
                  <a:lnTo>
                    <a:pt x="460079" y="1295651"/>
                  </a:lnTo>
                  <a:lnTo>
                    <a:pt x="1057462"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4" name="Freeform: Shape 24">
              <a:extLst>
                <a:ext uri="{FF2B5EF4-FFF2-40B4-BE49-F238E27FC236}">
                  <a16:creationId xmlns:a16="http://schemas.microsoft.com/office/drawing/2014/main" id="{303331B3-F7EC-7442-A546-8FCF94305068}"/>
                </a:ext>
              </a:extLst>
            </p:cNvPr>
            <p:cNvSpPr/>
            <p:nvPr/>
          </p:nvSpPr>
          <p:spPr bwMode="auto">
            <a:xfrm>
              <a:off x="3918466" y="5540962"/>
              <a:ext cx="1461428" cy="1378665"/>
            </a:xfrm>
            <a:custGeom>
              <a:avLst/>
              <a:gdLst>
                <a:gd name="connsiteX0" fmla="*/ 672175 w 1461426"/>
                <a:gd name="connsiteY0" fmla="*/ 0 h 1358480"/>
                <a:gd name="connsiteX1" fmla="*/ 440043 w 1461426"/>
                <a:gd name="connsiteY1" fmla="*/ 658045 h 1358480"/>
                <a:gd name="connsiteX2" fmla="*/ 876048 w 1461426"/>
                <a:gd name="connsiteY2" fmla="*/ 1186904 h 1358480"/>
                <a:gd name="connsiteX3" fmla="*/ 0 w 1461426"/>
                <a:gd name="connsiteY3" fmla="*/ 1336276 h 1358480"/>
                <a:gd name="connsiteX4" fmla="*/ 1439222 w 1461426"/>
                <a:gd name="connsiteY4" fmla="*/ 1358480 h 1358480"/>
                <a:gd name="connsiteX5" fmla="*/ 1461426 w 1461426"/>
                <a:gd name="connsiteY5" fmla="*/ 1344350 h 1358480"/>
                <a:gd name="connsiteX6" fmla="*/ 672175 w 1461426"/>
                <a:gd name="connsiteY6" fmla="*/ 0 h 1358480"/>
                <a:gd name="connsiteX0" fmla="*/ 672175 w 1461426"/>
                <a:gd name="connsiteY0" fmla="*/ 0 h 1358480"/>
                <a:gd name="connsiteX1" fmla="*/ 440043 w 1461426"/>
                <a:gd name="connsiteY1" fmla="*/ 658045 h 1358480"/>
                <a:gd name="connsiteX2" fmla="*/ 876048 w 1461426"/>
                <a:gd name="connsiteY2" fmla="*/ 1186904 h 1358480"/>
                <a:gd name="connsiteX3" fmla="*/ 0 w 1461426"/>
                <a:gd name="connsiteY3" fmla="*/ 1348387 h 1358480"/>
                <a:gd name="connsiteX4" fmla="*/ 1439222 w 1461426"/>
                <a:gd name="connsiteY4" fmla="*/ 1358480 h 1358480"/>
                <a:gd name="connsiteX5" fmla="*/ 1461426 w 1461426"/>
                <a:gd name="connsiteY5" fmla="*/ 1344350 h 1358480"/>
                <a:gd name="connsiteX6" fmla="*/ 672175 w 1461426"/>
                <a:gd name="connsiteY6" fmla="*/ 0 h 1358480"/>
                <a:gd name="connsiteX0" fmla="*/ 682268 w 1461426"/>
                <a:gd name="connsiteY0" fmla="*/ 0 h 1378666"/>
                <a:gd name="connsiteX1" fmla="*/ 440043 w 1461426"/>
                <a:gd name="connsiteY1" fmla="*/ 678231 h 1378666"/>
                <a:gd name="connsiteX2" fmla="*/ 876048 w 1461426"/>
                <a:gd name="connsiteY2" fmla="*/ 1207090 h 1378666"/>
                <a:gd name="connsiteX3" fmla="*/ 0 w 1461426"/>
                <a:gd name="connsiteY3" fmla="*/ 1368573 h 1378666"/>
                <a:gd name="connsiteX4" fmla="*/ 1439222 w 1461426"/>
                <a:gd name="connsiteY4" fmla="*/ 1378666 h 1378666"/>
                <a:gd name="connsiteX5" fmla="*/ 1461426 w 1461426"/>
                <a:gd name="connsiteY5" fmla="*/ 1364536 h 1378666"/>
                <a:gd name="connsiteX6" fmla="*/ 682268 w 1461426"/>
                <a:gd name="connsiteY6" fmla="*/ 0 h 137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1426" h="1378666">
                  <a:moveTo>
                    <a:pt x="682268" y="0"/>
                  </a:moveTo>
                  <a:lnTo>
                    <a:pt x="440043" y="678231"/>
                  </a:lnTo>
                  <a:lnTo>
                    <a:pt x="876048" y="1207090"/>
                  </a:lnTo>
                  <a:lnTo>
                    <a:pt x="0" y="1368573"/>
                  </a:lnTo>
                  <a:lnTo>
                    <a:pt x="1439222" y="1378666"/>
                  </a:lnTo>
                  <a:lnTo>
                    <a:pt x="1461426" y="1364536"/>
                  </a:lnTo>
                  <a:lnTo>
                    <a:pt x="682268"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
        <p:nvSpPr>
          <p:cNvPr id="5" name="TextBox 4">
            <a:extLst>
              <a:ext uri="{FF2B5EF4-FFF2-40B4-BE49-F238E27FC236}">
                <a16:creationId xmlns:a16="http://schemas.microsoft.com/office/drawing/2014/main" id="{37F7D17F-9F03-4704-9936-B56C79DD9029}"/>
              </a:ext>
            </a:extLst>
          </p:cNvPr>
          <p:cNvSpPr txBox="1"/>
          <p:nvPr/>
        </p:nvSpPr>
        <p:spPr>
          <a:xfrm>
            <a:off x="3710390" y="2839597"/>
            <a:ext cx="702115" cy="1938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gradFill>
                  <a:gsLst>
                    <a:gs pos="10680">
                      <a:srgbClr val="FFFFFF"/>
                    </a:gs>
                    <a:gs pos="77000">
                      <a:srgbClr val="FFFFFF"/>
                    </a:gs>
                  </a:gsLst>
                  <a:lin ang="5400000" scaled="0"/>
                </a:gradFill>
                <a:effectLst/>
                <a:uLnTx/>
                <a:uFillTx/>
                <a:latin typeface="Segoe UI Semibold"/>
                <a:ea typeface="+mn-ea"/>
                <a:cs typeface="+mn-cs"/>
              </a:rPr>
              <a:t>$2,119.10</a:t>
            </a:r>
          </a:p>
        </p:txBody>
      </p:sp>
      <p:sp>
        <p:nvSpPr>
          <p:cNvPr id="3" name="Rectangle 2" descr="AWS cost bar">
            <a:extLst>
              <a:ext uri="{FF2B5EF4-FFF2-40B4-BE49-F238E27FC236}">
                <a16:creationId xmlns:a16="http://schemas.microsoft.com/office/drawing/2014/main" id="{8A97837D-8706-4EF1-B507-7A45EF002A48}"/>
              </a:ext>
            </a:extLst>
          </p:cNvPr>
          <p:cNvSpPr/>
          <p:nvPr/>
        </p:nvSpPr>
        <p:spPr bwMode="auto">
          <a:xfrm>
            <a:off x="3676848" y="3104192"/>
            <a:ext cx="769196" cy="2565731"/>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10680">
                    <a:srgbClr val="FFFFFF"/>
                  </a:gs>
                  <a:gs pos="77000">
                    <a:srgbClr val="FFFFFF"/>
                  </a:gs>
                </a:gsLst>
                <a:lin ang="5400000" scaled="0"/>
              </a:gradFill>
              <a:effectLst/>
              <a:uLnTx/>
              <a:uFillTx/>
              <a:latin typeface="Segoe UI"/>
              <a:ea typeface="Segoe UI" pitchFamily="34" charset="0"/>
              <a:cs typeface="Segoe UI" pitchFamily="34" charset="0"/>
            </a:endParaRPr>
          </a:p>
        </p:txBody>
      </p:sp>
      <p:pic>
        <p:nvPicPr>
          <p:cNvPr id="8" name="Picture 7" descr="aws logo">
            <a:extLst>
              <a:ext uri="{FF2B5EF4-FFF2-40B4-BE49-F238E27FC236}">
                <a16:creationId xmlns:a16="http://schemas.microsoft.com/office/drawing/2014/main" id="{4E633D62-F615-4DAE-8EE8-D15085A036B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896120" y="5803300"/>
            <a:ext cx="388890" cy="233333"/>
          </a:xfrm>
          <a:prstGeom prst="rect">
            <a:avLst/>
          </a:prstGeom>
        </p:spPr>
      </p:pic>
      <p:sp>
        <p:nvSpPr>
          <p:cNvPr id="15" name="Rectangle 14">
            <a:extLst>
              <a:ext uri="{FF2B5EF4-FFF2-40B4-BE49-F238E27FC236}">
                <a16:creationId xmlns:a16="http://schemas.microsoft.com/office/drawing/2014/main" id="{74D2122D-4A4E-4D94-86BF-B070CF774362}"/>
              </a:ext>
              <a:ext uri="{C183D7F6-B498-43B3-948B-1728B52AA6E4}">
                <adec:decorative xmlns:adec="http://schemas.microsoft.com/office/drawing/2017/decorative" val="1"/>
              </a:ext>
            </a:extLst>
          </p:cNvPr>
          <p:cNvSpPr/>
          <p:nvPr/>
        </p:nvSpPr>
        <p:spPr bwMode="auto">
          <a:xfrm>
            <a:off x="2549138" y="3113718"/>
            <a:ext cx="1127711" cy="1717789"/>
          </a:xfrm>
          <a:custGeom>
            <a:avLst/>
            <a:gdLst>
              <a:gd name="connsiteX0" fmla="*/ 0 w 1429105"/>
              <a:gd name="connsiteY0" fmla="*/ 0 h 2218675"/>
              <a:gd name="connsiteX1" fmla="*/ 1429105 w 1429105"/>
              <a:gd name="connsiteY1" fmla="*/ 0 h 2218675"/>
              <a:gd name="connsiteX2" fmla="*/ 1429105 w 1429105"/>
              <a:gd name="connsiteY2" fmla="*/ 2218675 h 2218675"/>
              <a:gd name="connsiteX3" fmla="*/ 0 w 1429105"/>
              <a:gd name="connsiteY3" fmla="*/ 2218675 h 2218675"/>
              <a:gd name="connsiteX4" fmla="*/ 0 w 1429105"/>
              <a:gd name="connsiteY4" fmla="*/ 0 h 2218675"/>
              <a:gd name="connsiteX0" fmla="*/ 1429105 w 1520545"/>
              <a:gd name="connsiteY0" fmla="*/ 2218675 h 2310115"/>
              <a:gd name="connsiteX1" fmla="*/ 0 w 1520545"/>
              <a:gd name="connsiteY1" fmla="*/ 2218675 h 2310115"/>
              <a:gd name="connsiteX2" fmla="*/ 0 w 1520545"/>
              <a:gd name="connsiteY2" fmla="*/ 0 h 2310115"/>
              <a:gd name="connsiteX3" fmla="*/ 1429105 w 1520545"/>
              <a:gd name="connsiteY3" fmla="*/ 0 h 2310115"/>
              <a:gd name="connsiteX4" fmla="*/ 1520545 w 1520545"/>
              <a:gd name="connsiteY4" fmla="*/ 2310115 h 2310115"/>
              <a:gd name="connsiteX0" fmla="*/ 1429105 w 1429105"/>
              <a:gd name="connsiteY0" fmla="*/ 2218675 h 2218675"/>
              <a:gd name="connsiteX1" fmla="*/ 0 w 1429105"/>
              <a:gd name="connsiteY1" fmla="*/ 2218675 h 2218675"/>
              <a:gd name="connsiteX2" fmla="*/ 0 w 1429105"/>
              <a:gd name="connsiteY2" fmla="*/ 0 h 2218675"/>
              <a:gd name="connsiteX3" fmla="*/ 1429105 w 1429105"/>
              <a:gd name="connsiteY3" fmla="*/ 0 h 2218675"/>
              <a:gd name="connsiteX0" fmla="*/ 0 w 1429105"/>
              <a:gd name="connsiteY0" fmla="*/ 2218675 h 2218675"/>
              <a:gd name="connsiteX1" fmla="*/ 0 w 1429105"/>
              <a:gd name="connsiteY1" fmla="*/ 0 h 2218675"/>
              <a:gd name="connsiteX2" fmla="*/ 1429105 w 1429105"/>
              <a:gd name="connsiteY2" fmla="*/ 0 h 2218675"/>
            </a:gdLst>
            <a:ahLst/>
            <a:cxnLst>
              <a:cxn ang="0">
                <a:pos x="connsiteX0" y="connsiteY0"/>
              </a:cxn>
              <a:cxn ang="0">
                <a:pos x="connsiteX1" y="connsiteY1"/>
              </a:cxn>
              <a:cxn ang="0">
                <a:pos x="connsiteX2" y="connsiteY2"/>
              </a:cxn>
            </a:cxnLst>
            <a:rect l="l" t="t" r="r" b="b"/>
            <a:pathLst>
              <a:path w="1429105" h="2218675">
                <a:moveTo>
                  <a:pt x="0" y="2218675"/>
                </a:moveTo>
                <a:lnTo>
                  <a:pt x="0" y="0"/>
                </a:lnTo>
                <a:lnTo>
                  <a:pt x="1429105" y="0"/>
                </a:lnTo>
              </a:path>
            </a:pathLst>
          </a:custGeom>
          <a:ln w="15875">
            <a:solidFill>
              <a:schemeClr val="accent2"/>
            </a:solidFill>
            <a:headEnd type="triangle" w="med"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cxnSp>
        <p:nvCxnSpPr>
          <p:cNvPr id="12" name="Straight Connector 11">
            <a:extLst>
              <a:ext uri="{FF2B5EF4-FFF2-40B4-BE49-F238E27FC236}">
                <a16:creationId xmlns:a16="http://schemas.microsoft.com/office/drawing/2014/main" id="{F4E679F3-6BC5-417F-9F99-AC807712435C}"/>
              </a:ext>
              <a:ext uri="{C183D7F6-B498-43B3-948B-1728B52AA6E4}">
                <adec:decorative xmlns:adec="http://schemas.microsoft.com/office/drawing/2017/decorative" val="1"/>
              </a:ext>
            </a:extLst>
          </p:cNvPr>
          <p:cNvCxnSpPr>
            <a:cxnSpLocks/>
          </p:cNvCxnSpPr>
          <p:nvPr/>
        </p:nvCxnSpPr>
        <p:spPr>
          <a:xfrm>
            <a:off x="1518258" y="5674096"/>
            <a:ext cx="3619303"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07BBEC4C-C0CA-459B-AC20-60036F3FCEA4}"/>
              </a:ext>
              <a:ext uri="{C183D7F6-B498-43B3-948B-1728B52AA6E4}">
                <adec:decorative xmlns:adec="http://schemas.microsoft.com/office/drawing/2017/decorative" val="1"/>
              </a:ext>
            </a:extLst>
          </p:cNvPr>
          <p:cNvSpPr/>
          <p:nvPr/>
        </p:nvSpPr>
        <p:spPr bwMode="auto">
          <a:xfrm>
            <a:off x="6570522" y="2025650"/>
            <a:ext cx="5029200" cy="4250739"/>
          </a:xfrm>
          <a:prstGeom prst="rect">
            <a:avLst/>
          </a:prstGeom>
          <a:solidFill>
            <a:schemeClr val="bg1"/>
          </a:solidFill>
          <a:ln>
            <a:noFill/>
            <a:headEnd type="none" w="med" len="med"/>
            <a:tailEnd type="none" w="med" len="med"/>
          </a:ln>
          <a:effectLst>
            <a:outerShdw blurRad="254000" algn="tl" rotWithShape="0">
              <a:schemeClr val="accent2">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5" name="TextBox 24">
            <a:extLst>
              <a:ext uri="{FF2B5EF4-FFF2-40B4-BE49-F238E27FC236}">
                <a16:creationId xmlns:a16="http://schemas.microsoft.com/office/drawing/2014/main" id="{11A42D30-2CD3-4294-B5FA-20EA55616D6B}"/>
              </a:ext>
            </a:extLst>
          </p:cNvPr>
          <p:cNvSpPr txBox="1"/>
          <p:nvPr/>
        </p:nvSpPr>
        <p:spPr>
          <a:xfrm>
            <a:off x="7175529" y="2154007"/>
            <a:ext cx="3819187" cy="461665"/>
          </a:xfrm>
          <a:prstGeom prst="rect">
            <a:avLst/>
          </a:prstGeom>
          <a:noFill/>
        </p:spPr>
        <p:txBody>
          <a:bodyPr wrap="non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Segoe UI Semibold"/>
                <a:ea typeface="+mn-ea"/>
                <a:cs typeface="+mn-cs"/>
              </a:rPr>
              <a:t>SQL Server on Azure VMs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Segoe UI Semibold"/>
                <a:ea typeface="+mn-ea"/>
                <a:cs typeface="+mn-cs"/>
              </a:rPr>
              <a:t>GigaOm Price-Performance Benchmark, February 2020</a:t>
            </a:r>
            <a:endParaRPr kumimoji="0" lang="en-US" sz="1200" b="0" i="0" u="none" strike="noStrike" kern="1200" cap="none" spc="0" normalizeH="0" baseline="0" noProof="0">
              <a:ln>
                <a:noFill/>
              </a:ln>
              <a:solidFill>
                <a:prstClr val="white"/>
              </a:solidFill>
              <a:effectLst/>
              <a:uLnTx/>
              <a:uFillTx/>
              <a:latin typeface="Segoe UI Semibold"/>
              <a:ea typeface="+mn-ea"/>
              <a:cs typeface="Segoe UI Semibold"/>
            </a:endParaRPr>
          </a:p>
        </p:txBody>
      </p:sp>
      <p:sp>
        <p:nvSpPr>
          <p:cNvPr id="39" name="TextBox 38">
            <a:extLst>
              <a:ext uri="{FF2B5EF4-FFF2-40B4-BE49-F238E27FC236}">
                <a16:creationId xmlns:a16="http://schemas.microsoft.com/office/drawing/2014/main" id="{CE0EDDC0-BE6E-47EA-901C-C1DCB70FD3E9}"/>
              </a:ext>
            </a:extLst>
          </p:cNvPr>
          <p:cNvSpPr txBox="1"/>
          <p:nvPr/>
        </p:nvSpPr>
        <p:spPr>
          <a:xfrm rot="16200000">
            <a:off x="6436843" y="3855005"/>
            <a:ext cx="1784720" cy="397032"/>
          </a:xfrm>
          <a:prstGeom prst="rect">
            <a:avLst/>
          </a:prstGeom>
          <a:noFill/>
        </p:spPr>
        <p:txBody>
          <a:bodyPr wrap="none" lIns="91440" tIns="91440" rIns="91440" bIns="109728"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Segoe UI Semibold"/>
                <a:ea typeface="+mn-ea"/>
                <a:cs typeface="+mn-cs"/>
              </a:rPr>
              <a:t>3-year pricing / tps</a:t>
            </a:r>
          </a:p>
        </p:txBody>
      </p:sp>
      <p:sp>
        <p:nvSpPr>
          <p:cNvPr id="35" name="TextBox 34">
            <a:extLst>
              <a:ext uri="{FF2B5EF4-FFF2-40B4-BE49-F238E27FC236}">
                <a16:creationId xmlns:a16="http://schemas.microsoft.com/office/drawing/2014/main" id="{AED91DA6-2F1A-455D-8B76-1A3A55EC063E}"/>
              </a:ext>
            </a:extLst>
          </p:cNvPr>
          <p:cNvSpPr txBox="1"/>
          <p:nvPr/>
        </p:nvSpPr>
        <p:spPr>
          <a:xfrm>
            <a:off x="7869359" y="3845563"/>
            <a:ext cx="1099981" cy="424732"/>
          </a:xfrm>
          <a:prstGeom prst="rect">
            <a:avLst/>
          </a:prstGeom>
          <a:solidFill>
            <a:schemeClr val="bg1"/>
          </a:solidFill>
        </p:spPr>
        <p:txBody>
          <a:bodyPr wrap="none" lIns="91440" tIns="91440" rIns="91440" bIns="109728"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84% LESS</a:t>
            </a:r>
          </a:p>
        </p:txBody>
      </p:sp>
      <p:sp>
        <p:nvSpPr>
          <p:cNvPr id="27" name="TextBox 26">
            <a:extLst>
              <a:ext uri="{FF2B5EF4-FFF2-40B4-BE49-F238E27FC236}">
                <a16:creationId xmlns:a16="http://schemas.microsoft.com/office/drawing/2014/main" id="{3231D014-2AB6-4089-BEAE-988D6D9ADA1C}"/>
              </a:ext>
            </a:extLst>
          </p:cNvPr>
          <p:cNvSpPr txBox="1"/>
          <p:nvPr/>
        </p:nvSpPr>
        <p:spPr>
          <a:xfrm>
            <a:off x="8163639" y="4965580"/>
            <a:ext cx="520976" cy="1938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50E6FF"/>
                </a:solidFill>
                <a:effectLst/>
                <a:uLnTx/>
                <a:uFillTx/>
                <a:latin typeface="Segoe UI Semibold"/>
                <a:ea typeface="+mn-ea"/>
                <a:cs typeface="+mn-cs"/>
              </a:rPr>
              <a:t>$61.64</a:t>
            </a:r>
          </a:p>
        </p:txBody>
      </p:sp>
      <p:sp>
        <p:nvSpPr>
          <p:cNvPr id="28" name="g" descr="Azure cost bar">
            <a:extLst>
              <a:ext uri="{FF2B5EF4-FFF2-40B4-BE49-F238E27FC236}">
                <a16:creationId xmlns:a16="http://schemas.microsoft.com/office/drawing/2014/main" id="{7EC6E127-B6F7-4B91-85C1-7ED1C3D14D84}"/>
              </a:ext>
              <a:ext uri="{C183D7F6-B498-43B3-948B-1728B52AA6E4}">
                <adec:decorative xmlns:adec="http://schemas.microsoft.com/office/drawing/2017/decorative" val="0"/>
              </a:ext>
            </a:extLst>
          </p:cNvPr>
          <p:cNvSpPr/>
          <p:nvPr/>
        </p:nvSpPr>
        <p:spPr bwMode="auto">
          <a:xfrm>
            <a:off x="8039527" y="5241745"/>
            <a:ext cx="769196" cy="4281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10680">
                    <a:srgbClr val="FFFFFF"/>
                  </a:gs>
                  <a:gs pos="77000">
                    <a:srgbClr val="FFFFFF"/>
                  </a:gs>
                </a:gsLst>
                <a:lin ang="5400000" scaled="0"/>
              </a:gradFill>
              <a:effectLst/>
              <a:uLnTx/>
              <a:uFillTx/>
              <a:latin typeface="Segoe UI"/>
              <a:ea typeface="Segoe UI" pitchFamily="34" charset="0"/>
              <a:cs typeface="Segoe UI" pitchFamily="34" charset="0"/>
            </a:endParaRPr>
          </a:p>
        </p:txBody>
      </p:sp>
      <p:grpSp>
        <p:nvGrpSpPr>
          <p:cNvPr id="46" name="Group 45" descr="Azure logo">
            <a:extLst>
              <a:ext uri="{FF2B5EF4-FFF2-40B4-BE49-F238E27FC236}">
                <a16:creationId xmlns:a16="http://schemas.microsoft.com/office/drawing/2014/main" id="{68A78D34-A075-0046-A738-F030F9B40D8D}"/>
              </a:ext>
            </a:extLst>
          </p:cNvPr>
          <p:cNvGrpSpPr>
            <a:grpSpLocks noChangeAspect="1"/>
          </p:cNvGrpSpPr>
          <p:nvPr/>
        </p:nvGrpSpPr>
        <p:grpSpPr>
          <a:xfrm>
            <a:off x="8267459" y="5795058"/>
            <a:ext cx="331859" cy="257404"/>
            <a:chOff x="3486498" y="5451027"/>
            <a:chExt cx="1893396" cy="1468600"/>
          </a:xfrm>
          <a:solidFill>
            <a:schemeClr val="accent1"/>
          </a:solidFill>
        </p:grpSpPr>
        <p:sp>
          <p:nvSpPr>
            <p:cNvPr id="47" name="Freeform: Shape 23">
              <a:extLst>
                <a:ext uri="{FF2B5EF4-FFF2-40B4-BE49-F238E27FC236}">
                  <a16:creationId xmlns:a16="http://schemas.microsoft.com/office/drawing/2014/main" id="{B3363D3B-A1ED-5E40-9A38-C96C631F8485}"/>
                </a:ext>
              </a:extLst>
            </p:cNvPr>
            <p:cNvSpPr/>
            <p:nvPr/>
          </p:nvSpPr>
          <p:spPr bwMode="auto">
            <a:xfrm>
              <a:off x="3486498" y="5451027"/>
              <a:ext cx="1068765" cy="1323278"/>
            </a:xfrm>
            <a:custGeom>
              <a:avLst/>
              <a:gdLst>
                <a:gd name="connsiteX0" fmla="*/ 1033494 w 1033494"/>
                <a:gd name="connsiteY0" fmla="*/ 0 h 1283793"/>
                <a:gd name="connsiteX1" fmla="*/ 468302 w 1033494"/>
                <a:gd name="connsiteY1" fmla="*/ 458209 h 1283793"/>
                <a:gd name="connsiteX2" fmla="*/ 0 w 1033494"/>
                <a:gd name="connsiteY2" fmla="*/ 1283793 h 1283793"/>
                <a:gd name="connsiteX3" fmla="*/ 446098 w 1033494"/>
                <a:gd name="connsiteY3" fmla="*/ 1283793 h 1283793"/>
                <a:gd name="connsiteX4" fmla="*/ 1033494 w 1033494"/>
                <a:gd name="connsiteY4" fmla="*/ 0 h 1283793"/>
                <a:gd name="connsiteX0" fmla="*/ 1047475 w 1047475"/>
                <a:gd name="connsiteY0" fmla="*/ 0 h 1283793"/>
                <a:gd name="connsiteX1" fmla="*/ 482283 w 1047475"/>
                <a:gd name="connsiteY1" fmla="*/ 458209 h 1283793"/>
                <a:gd name="connsiteX2" fmla="*/ 0 w 1047475"/>
                <a:gd name="connsiteY2" fmla="*/ 1281817 h 1283793"/>
                <a:gd name="connsiteX3" fmla="*/ 460079 w 1047475"/>
                <a:gd name="connsiteY3" fmla="*/ 1283793 h 1283793"/>
                <a:gd name="connsiteX4" fmla="*/ 1047475 w 1047475"/>
                <a:gd name="connsiteY4" fmla="*/ 0 h 1283793"/>
                <a:gd name="connsiteX0" fmla="*/ 1049473 w 1049473"/>
                <a:gd name="connsiteY0" fmla="*/ 0 h 1297628"/>
                <a:gd name="connsiteX1" fmla="*/ 482283 w 1049473"/>
                <a:gd name="connsiteY1" fmla="*/ 472044 h 1297628"/>
                <a:gd name="connsiteX2" fmla="*/ 0 w 1049473"/>
                <a:gd name="connsiteY2" fmla="*/ 1295652 h 1297628"/>
                <a:gd name="connsiteX3" fmla="*/ 460079 w 1049473"/>
                <a:gd name="connsiteY3" fmla="*/ 1297628 h 1297628"/>
                <a:gd name="connsiteX4" fmla="*/ 1049473 w 1049473"/>
                <a:gd name="connsiteY4" fmla="*/ 0 h 1297628"/>
                <a:gd name="connsiteX0" fmla="*/ 1057462 w 1057462"/>
                <a:gd name="connsiteY0" fmla="*/ 0 h 1295651"/>
                <a:gd name="connsiteX1" fmla="*/ 482283 w 1057462"/>
                <a:gd name="connsiteY1" fmla="*/ 470067 h 1295651"/>
                <a:gd name="connsiteX2" fmla="*/ 0 w 1057462"/>
                <a:gd name="connsiteY2" fmla="*/ 1293675 h 1295651"/>
                <a:gd name="connsiteX3" fmla="*/ 460079 w 1057462"/>
                <a:gd name="connsiteY3" fmla="*/ 1295651 h 1295651"/>
                <a:gd name="connsiteX4" fmla="*/ 1057462 w 1057462"/>
                <a:gd name="connsiteY4" fmla="*/ 0 h 1295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462" h="1295651">
                  <a:moveTo>
                    <a:pt x="1057462" y="0"/>
                  </a:moveTo>
                  <a:lnTo>
                    <a:pt x="482283" y="470067"/>
                  </a:lnTo>
                  <a:lnTo>
                    <a:pt x="0" y="1293675"/>
                  </a:lnTo>
                  <a:lnTo>
                    <a:pt x="460079" y="1295651"/>
                  </a:lnTo>
                  <a:lnTo>
                    <a:pt x="1057462"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8" name="Freeform: Shape 24">
              <a:extLst>
                <a:ext uri="{FF2B5EF4-FFF2-40B4-BE49-F238E27FC236}">
                  <a16:creationId xmlns:a16="http://schemas.microsoft.com/office/drawing/2014/main" id="{76CB3E2B-7C2A-2D46-94B6-BF01BEF0A26F}"/>
                </a:ext>
              </a:extLst>
            </p:cNvPr>
            <p:cNvSpPr/>
            <p:nvPr/>
          </p:nvSpPr>
          <p:spPr bwMode="auto">
            <a:xfrm>
              <a:off x="3918466" y="5540962"/>
              <a:ext cx="1461428" cy="1378665"/>
            </a:xfrm>
            <a:custGeom>
              <a:avLst/>
              <a:gdLst>
                <a:gd name="connsiteX0" fmla="*/ 672175 w 1461426"/>
                <a:gd name="connsiteY0" fmla="*/ 0 h 1358480"/>
                <a:gd name="connsiteX1" fmla="*/ 440043 w 1461426"/>
                <a:gd name="connsiteY1" fmla="*/ 658045 h 1358480"/>
                <a:gd name="connsiteX2" fmla="*/ 876048 w 1461426"/>
                <a:gd name="connsiteY2" fmla="*/ 1186904 h 1358480"/>
                <a:gd name="connsiteX3" fmla="*/ 0 w 1461426"/>
                <a:gd name="connsiteY3" fmla="*/ 1336276 h 1358480"/>
                <a:gd name="connsiteX4" fmla="*/ 1439222 w 1461426"/>
                <a:gd name="connsiteY4" fmla="*/ 1358480 h 1358480"/>
                <a:gd name="connsiteX5" fmla="*/ 1461426 w 1461426"/>
                <a:gd name="connsiteY5" fmla="*/ 1344350 h 1358480"/>
                <a:gd name="connsiteX6" fmla="*/ 672175 w 1461426"/>
                <a:gd name="connsiteY6" fmla="*/ 0 h 1358480"/>
                <a:gd name="connsiteX0" fmla="*/ 672175 w 1461426"/>
                <a:gd name="connsiteY0" fmla="*/ 0 h 1358480"/>
                <a:gd name="connsiteX1" fmla="*/ 440043 w 1461426"/>
                <a:gd name="connsiteY1" fmla="*/ 658045 h 1358480"/>
                <a:gd name="connsiteX2" fmla="*/ 876048 w 1461426"/>
                <a:gd name="connsiteY2" fmla="*/ 1186904 h 1358480"/>
                <a:gd name="connsiteX3" fmla="*/ 0 w 1461426"/>
                <a:gd name="connsiteY3" fmla="*/ 1348387 h 1358480"/>
                <a:gd name="connsiteX4" fmla="*/ 1439222 w 1461426"/>
                <a:gd name="connsiteY4" fmla="*/ 1358480 h 1358480"/>
                <a:gd name="connsiteX5" fmla="*/ 1461426 w 1461426"/>
                <a:gd name="connsiteY5" fmla="*/ 1344350 h 1358480"/>
                <a:gd name="connsiteX6" fmla="*/ 672175 w 1461426"/>
                <a:gd name="connsiteY6" fmla="*/ 0 h 1358480"/>
                <a:gd name="connsiteX0" fmla="*/ 682268 w 1461426"/>
                <a:gd name="connsiteY0" fmla="*/ 0 h 1378666"/>
                <a:gd name="connsiteX1" fmla="*/ 440043 w 1461426"/>
                <a:gd name="connsiteY1" fmla="*/ 678231 h 1378666"/>
                <a:gd name="connsiteX2" fmla="*/ 876048 w 1461426"/>
                <a:gd name="connsiteY2" fmla="*/ 1207090 h 1378666"/>
                <a:gd name="connsiteX3" fmla="*/ 0 w 1461426"/>
                <a:gd name="connsiteY3" fmla="*/ 1368573 h 1378666"/>
                <a:gd name="connsiteX4" fmla="*/ 1439222 w 1461426"/>
                <a:gd name="connsiteY4" fmla="*/ 1378666 h 1378666"/>
                <a:gd name="connsiteX5" fmla="*/ 1461426 w 1461426"/>
                <a:gd name="connsiteY5" fmla="*/ 1364536 h 1378666"/>
                <a:gd name="connsiteX6" fmla="*/ 682268 w 1461426"/>
                <a:gd name="connsiteY6" fmla="*/ 0 h 137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1426" h="1378666">
                  <a:moveTo>
                    <a:pt x="682268" y="0"/>
                  </a:moveTo>
                  <a:lnTo>
                    <a:pt x="440043" y="678231"/>
                  </a:lnTo>
                  <a:lnTo>
                    <a:pt x="876048" y="1207090"/>
                  </a:lnTo>
                  <a:lnTo>
                    <a:pt x="0" y="1368573"/>
                  </a:lnTo>
                  <a:lnTo>
                    <a:pt x="1439222" y="1378666"/>
                  </a:lnTo>
                  <a:lnTo>
                    <a:pt x="1461426" y="1364536"/>
                  </a:lnTo>
                  <a:lnTo>
                    <a:pt x="682268"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
        <p:nvSpPr>
          <p:cNvPr id="30" name="TextBox 29">
            <a:extLst>
              <a:ext uri="{FF2B5EF4-FFF2-40B4-BE49-F238E27FC236}">
                <a16:creationId xmlns:a16="http://schemas.microsoft.com/office/drawing/2014/main" id="{7AFECE8E-990C-4B4E-92CA-E0608665093A}"/>
              </a:ext>
            </a:extLst>
          </p:cNvPr>
          <p:cNvSpPr txBox="1"/>
          <p:nvPr/>
        </p:nvSpPr>
        <p:spPr>
          <a:xfrm>
            <a:off x="9611087" y="2839598"/>
            <a:ext cx="650819" cy="1938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gradFill>
                  <a:gsLst>
                    <a:gs pos="10680">
                      <a:srgbClr val="FFFFFF"/>
                    </a:gs>
                    <a:gs pos="77000">
                      <a:srgbClr val="FFFFFF"/>
                    </a:gs>
                  </a:gsLst>
                  <a:lin ang="5400000" scaled="0"/>
                </a:gradFill>
                <a:effectLst/>
                <a:uLnTx/>
                <a:uFillTx/>
                <a:latin typeface="Segoe UI Semibold"/>
                <a:ea typeface="+mn-ea"/>
                <a:cs typeface="+mn-cs"/>
              </a:rPr>
              <a:t>$445.65</a:t>
            </a:r>
          </a:p>
        </p:txBody>
      </p:sp>
      <p:sp>
        <p:nvSpPr>
          <p:cNvPr id="29" name="Rectangle 28" descr="AWS cost bar">
            <a:extLst>
              <a:ext uri="{FF2B5EF4-FFF2-40B4-BE49-F238E27FC236}">
                <a16:creationId xmlns:a16="http://schemas.microsoft.com/office/drawing/2014/main" id="{312FE39C-4F3E-4FAC-8199-6C083C7B1108}"/>
              </a:ext>
            </a:extLst>
          </p:cNvPr>
          <p:cNvSpPr/>
          <p:nvPr/>
        </p:nvSpPr>
        <p:spPr bwMode="auto">
          <a:xfrm>
            <a:off x="9551893" y="3078229"/>
            <a:ext cx="769196" cy="259169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10680">
                    <a:srgbClr val="FFFFFF"/>
                  </a:gs>
                  <a:gs pos="77000">
                    <a:srgbClr val="FFFFFF"/>
                  </a:gs>
                </a:gsLst>
                <a:lin ang="5400000" scaled="0"/>
              </a:gradFill>
              <a:effectLst/>
              <a:uLnTx/>
              <a:uFillTx/>
              <a:latin typeface="Segoe UI"/>
              <a:ea typeface="Segoe UI" pitchFamily="34" charset="0"/>
              <a:cs typeface="Segoe UI" pitchFamily="34" charset="0"/>
            </a:endParaRPr>
          </a:p>
        </p:txBody>
      </p:sp>
      <p:pic>
        <p:nvPicPr>
          <p:cNvPr id="45" name="Picture 44" descr="aws logo">
            <a:extLst>
              <a:ext uri="{FF2B5EF4-FFF2-40B4-BE49-F238E27FC236}">
                <a16:creationId xmlns:a16="http://schemas.microsoft.com/office/drawing/2014/main" id="{F4F9E5CD-AB5E-3E4F-9326-B3BA98B5E79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78420" y="5803300"/>
            <a:ext cx="388890" cy="233333"/>
          </a:xfrm>
          <a:prstGeom prst="rect">
            <a:avLst/>
          </a:prstGeom>
        </p:spPr>
      </p:pic>
      <p:sp>
        <p:nvSpPr>
          <p:cNvPr id="33" name="Rectangle 14">
            <a:extLst>
              <a:ext uri="{FF2B5EF4-FFF2-40B4-BE49-F238E27FC236}">
                <a16:creationId xmlns:a16="http://schemas.microsoft.com/office/drawing/2014/main" id="{92690652-F8D9-4821-ADEE-9F86F9A8165C}"/>
              </a:ext>
              <a:ext uri="{C183D7F6-B498-43B3-948B-1728B52AA6E4}">
                <adec:decorative xmlns:adec="http://schemas.microsoft.com/office/drawing/2017/decorative" val="1"/>
              </a:ext>
            </a:extLst>
          </p:cNvPr>
          <p:cNvSpPr/>
          <p:nvPr/>
        </p:nvSpPr>
        <p:spPr bwMode="auto">
          <a:xfrm>
            <a:off x="8424183" y="3090769"/>
            <a:ext cx="1127711" cy="1750262"/>
          </a:xfrm>
          <a:custGeom>
            <a:avLst/>
            <a:gdLst>
              <a:gd name="connsiteX0" fmla="*/ 0 w 1429105"/>
              <a:gd name="connsiteY0" fmla="*/ 0 h 2218675"/>
              <a:gd name="connsiteX1" fmla="*/ 1429105 w 1429105"/>
              <a:gd name="connsiteY1" fmla="*/ 0 h 2218675"/>
              <a:gd name="connsiteX2" fmla="*/ 1429105 w 1429105"/>
              <a:gd name="connsiteY2" fmla="*/ 2218675 h 2218675"/>
              <a:gd name="connsiteX3" fmla="*/ 0 w 1429105"/>
              <a:gd name="connsiteY3" fmla="*/ 2218675 h 2218675"/>
              <a:gd name="connsiteX4" fmla="*/ 0 w 1429105"/>
              <a:gd name="connsiteY4" fmla="*/ 0 h 2218675"/>
              <a:gd name="connsiteX0" fmla="*/ 1429105 w 1520545"/>
              <a:gd name="connsiteY0" fmla="*/ 2218675 h 2310115"/>
              <a:gd name="connsiteX1" fmla="*/ 0 w 1520545"/>
              <a:gd name="connsiteY1" fmla="*/ 2218675 h 2310115"/>
              <a:gd name="connsiteX2" fmla="*/ 0 w 1520545"/>
              <a:gd name="connsiteY2" fmla="*/ 0 h 2310115"/>
              <a:gd name="connsiteX3" fmla="*/ 1429105 w 1520545"/>
              <a:gd name="connsiteY3" fmla="*/ 0 h 2310115"/>
              <a:gd name="connsiteX4" fmla="*/ 1520545 w 1520545"/>
              <a:gd name="connsiteY4" fmla="*/ 2310115 h 2310115"/>
              <a:gd name="connsiteX0" fmla="*/ 1429105 w 1429105"/>
              <a:gd name="connsiteY0" fmla="*/ 2218675 h 2218675"/>
              <a:gd name="connsiteX1" fmla="*/ 0 w 1429105"/>
              <a:gd name="connsiteY1" fmla="*/ 2218675 h 2218675"/>
              <a:gd name="connsiteX2" fmla="*/ 0 w 1429105"/>
              <a:gd name="connsiteY2" fmla="*/ 0 h 2218675"/>
              <a:gd name="connsiteX3" fmla="*/ 1429105 w 1429105"/>
              <a:gd name="connsiteY3" fmla="*/ 0 h 2218675"/>
              <a:gd name="connsiteX0" fmla="*/ 0 w 1429105"/>
              <a:gd name="connsiteY0" fmla="*/ 2218675 h 2218675"/>
              <a:gd name="connsiteX1" fmla="*/ 0 w 1429105"/>
              <a:gd name="connsiteY1" fmla="*/ 0 h 2218675"/>
              <a:gd name="connsiteX2" fmla="*/ 1429105 w 1429105"/>
              <a:gd name="connsiteY2" fmla="*/ 0 h 2218675"/>
            </a:gdLst>
            <a:ahLst/>
            <a:cxnLst>
              <a:cxn ang="0">
                <a:pos x="connsiteX0" y="connsiteY0"/>
              </a:cxn>
              <a:cxn ang="0">
                <a:pos x="connsiteX1" y="connsiteY1"/>
              </a:cxn>
              <a:cxn ang="0">
                <a:pos x="connsiteX2" y="connsiteY2"/>
              </a:cxn>
            </a:cxnLst>
            <a:rect l="l" t="t" r="r" b="b"/>
            <a:pathLst>
              <a:path w="1429105" h="2218675">
                <a:moveTo>
                  <a:pt x="0" y="2218675"/>
                </a:moveTo>
                <a:lnTo>
                  <a:pt x="0" y="0"/>
                </a:lnTo>
                <a:lnTo>
                  <a:pt x="1429105" y="0"/>
                </a:lnTo>
              </a:path>
            </a:pathLst>
          </a:custGeom>
          <a:ln w="15875">
            <a:solidFill>
              <a:schemeClr val="accent2"/>
            </a:solidFill>
            <a:headEnd type="triangle" w="med"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31" name="Straight Connector 30">
            <a:extLst>
              <a:ext uri="{FF2B5EF4-FFF2-40B4-BE49-F238E27FC236}">
                <a16:creationId xmlns:a16="http://schemas.microsoft.com/office/drawing/2014/main" id="{B5190D83-AACA-4D53-88B3-943DBF589C1A}"/>
              </a:ext>
              <a:ext uri="{C183D7F6-B498-43B3-948B-1728B52AA6E4}">
                <adec:decorative xmlns:adec="http://schemas.microsoft.com/office/drawing/2017/decorative" val="1"/>
              </a:ext>
            </a:extLst>
          </p:cNvPr>
          <p:cNvCxnSpPr>
            <a:cxnSpLocks/>
          </p:cNvCxnSpPr>
          <p:nvPr/>
        </p:nvCxnSpPr>
        <p:spPr>
          <a:xfrm>
            <a:off x="7393303" y="5674097"/>
            <a:ext cx="3619303"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992C65F-15E0-426D-8ED9-B89627A62264}"/>
              </a:ext>
            </a:extLst>
          </p:cNvPr>
          <p:cNvSpPr txBox="1"/>
          <p:nvPr/>
        </p:nvSpPr>
        <p:spPr>
          <a:xfrm>
            <a:off x="588263" y="6455883"/>
            <a:ext cx="10823952" cy="10772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Segoe UI"/>
                <a:ea typeface="+mn-ea"/>
                <a:cs typeface="+mn-cs"/>
              </a:rPr>
              <a:t>*Source: GigaOm.com.  Read more at </a:t>
            </a:r>
            <a:r>
              <a:rPr kumimoji="0" lang="en-US" sz="700" b="0" i="0" u="none" strike="noStrike" kern="1200" cap="none" spc="0" normalizeH="0" baseline="0" noProof="0">
                <a:ln>
                  <a:noFill/>
                </a:ln>
                <a:solidFill>
                  <a:srgbClr val="50E6FF"/>
                </a:solidFill>
                <a:effectLst/>
                <a:uLnTx/>
                <a:uFillTx/>
                <a:latin typeface="Segoe UI"/>
                <a:ea typeface="+mn-ea"/>
                <a:cs typeface="+mn-cs"/>
                <a:hlinkClick r:id="rId5">
                  <a:extLst>
                    <a:ext uri="{A12FA001-AC4F-418D-AE19-62706E023703}">
                      <ahyp:hlinkClr xmlns:ahyp="http://schemas.microsoft.com/office/drawing/2018/hyperlinkcolor" val="tx"/>
                    </a:ext>
                  </a:extLst>
                </a:hlinkClick>
              </a:rPr>
              <a:t>https://azure.microsoft.com/services/sql-database/campaign/</a:t>
            </a:r>
            <a:r>
              <a:rPr kumimoji="0" lang="en-US" sz="700" b="0" i="0" u="none" strike="noStrike" kern="1200" cap="none" spc="0" normalizeH="0" baseline="0" noProof="0">
                <a:ln>
                  <a:noFill/>
                </a:ln>
                <a:solidFill>
                  <a:srgbClr val="50E6FF"/>
                </a:solidFill>
                <a:effectLst/>
                <a:uLnTx/>
                <a:uFillTx/>
                <a:latin typeface="Segoe UI"/>
                <a:ea typeface="+mn-ea"/>
                <a:cs typeface="+mn-cs"/>
              </a:rPr>
              <a:t> </a:t>
            </a:r>
          </a:p>
        </p:txBody>
      </p:sp>
    </p:spTree>
    <p:extLst>
      <p:ext uri="{BB962C8B-B14F-4D97-AF65-F5344CB8AC3E}">
        <p14:creationId xmlns:p14="http://schemas.microsoft.com/office/powerpoint/2010/main" val="2509566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46984-4CED-4F76-9D84-02BF342EC684}"/>
              </a:ext>
            </a:extLst>
          </p:cNvPr>
          <p:cNvSpPr>
            <a:spLocks noGrp="1"/>
          </p:cNvSpPr>
          <p:nvPr>
            <p:ph type="title"/>
          </p:nvPr>
        </p:nvSpPr>
        <p:spPr>
          <a:xfrm>
            <a:off x="589044" y="457622"/>
            <a:ext cx="10961757" cy="553998"/>
          </a:xfrm>
        </p:spPr>
        <p:txBody>
          <a:bodyPr/>
          <a:lstStyle/>
          <a:p>
            <a:r>
              <a:rPr lang="en-US" sz="3200"/>
              <a:t>Migrate to IaaS, continue to PaaS and boost your ROI</a:t>
            </a:r>
          </a:p>
        </p:txBody>
      </p:sp>
      <p:sp>
        <p:nvSpPr>
          <p:cNvPr id="4" name="Text Placeholder 3">
            <a:extLst>
              <a:ext uri="{FF2B5EF4-FFF2-40B4-BE49-F238E27FC236}">
                <a16:creationId xmlns:a16="http://schemas.microsoft.com/office/drawing/2014/main" id="{5051992B-8EA2-47C7-AF44-6C8E3567B44D}"/>
              </a:ext>
            </a:extLst>
          </p:cNvPr>
          <p:cNvSpPr>
            <a:spLocks noGrp="1"/>
          </p:cNvSpPr>
          <p:nvPr>
            <p:ph type="body" sz="quarter" idx="10"/>
          </p:nvPr>
        </p:nvSpPr>
        <p:spPr>
          <a:xfrm>
            <a:off x="587173" y="1641096"/>
            <a:ext cx="5652709" cy="1287212"/>
          </a:xfrm>
        </p:spPr>
        <p:txBody>
          <a:bodyPr/>
          <a:lstStyle/>
          <a:p>
            <a:r>
              <a:rPr lang="en-US"/>
              <a:t>Enterprise Strategy Group examined potential cost savings and business benefits enterprises would achieve from migrating on-premises databases to Azure SQL, first to IaaS then to PaaS.</a:t>
            </a:r>
          </a:p>
        </p:txBody>
      </p:sp>
      <p:pic>
        <p:nvPicPr>
          <p:cNvPr id="5" name="Picture 4" descr="Cover page of the recently published commissioned study that looked at the potential savings and operational benefits of migrating from on-premises to Azure SQL, first to IaaS and then continuing to PaaS by the Enterprise Strategy Group.">
            <a:extLst>
              <a:ext uri="{FF2B5EF4-FFF2-40B4-BE49-F238E27FC236}">
                <a16:creationId xmlns:a16="http://schemas.microsoft.com/office/drawing/2014/main" id="{F35CA8AE-4710-4C9B-AEFE-29C3AF3000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7173" y="3170098"/>
            <a:ext cx="4437473" cy="5768718"/>
          </a:xfrm>
          <a:prstGeom prst="rect">
            <a:avLst/>
          </a:prstGeom>
          <a:ln>
            <a:solidFill>
              <a:srgbClr val="053D5C"/>
            </a:solidFill>
          </a:ln>
        </p:spPr>
      </p:pic>
      <p:sp>
        <p:nvSpPr>
          <p:cNvPr id="6" name="Content Placeholder 5">
            <a:extLst>
              <a:ext uri="{FF2B5EF4-FFF2-40B4-BE49-F238E27FC236}">
                <a16:creationId xmlns:a16="http://schemas.microsoft.com/office/drawing/2014/main" id="{C963C917-1D0B-49EC-93CE-B2723FFA6352}"/>
              </a:ext>
            </a:extLst>
          </p:cNvPr>
          <p:cNvSpPr>
            <a:spLocks noGrp="1"/>
          </p:cNvSpPr>
          <p:nvPr>
            <p:ph sz="quarter" idx="11"/>
          </p:nvPr>
        </p:nvSpPr>
        <p:spPr>
          <a:xfrm>
            <a:off x="7230556" y="1248692"/>
            <a:ext cx="4083747" cy="249299"/>
          </a:xfrm>
        </p:spPr>
        <p:txBody>
          <a:bodyPr/>
          <a:lstStyle/>
          <a:p>
            <a:pPr marL="0" indent="0" algn="ctr" defTabSz="914225">
              <a:lnSpc>
                <a:spcPct val="90000"/>
              </a:lnSpc>
              <a:spcBef>
                <a:spcPts val="0"/>
              </a:spcBef>
              <a:spcAft>
                <a:spcPts val="600"/>
              </a:spcAft>
              <a:buSzTx/>
              <a:buNone/>
              <a:defRPr/>
            </a:pPr>
            <a:r>
              <a:rPr lang="en-US" sz="1800">
                <a:solidFill>
                  <a:prstClr val="black"/>
                </a:solidFill>
                <a:latin typeface="Segoe UI Semibold"/>
                <a:cs typeface="+mn-cs"/>
              </a:rPr>
              <a:t>Key report benefits and findings</a:t>
            </a:r>
            <a:r>
              <a:rPr lang="en-US" sz="1800" baseline="30000">
                <a:solidFill>
                  <a:prstClr val="black"/>
                </a:solidFill>
                <a:latin typeface="Segoe UI Semibold"/>
                <a:cs typeface="+mn-cs"/>
              </a:rPr>
              <a:t>1</a:t>
            </a:r>
          </a:p>
        </p:txBody>
      </p:sp>
      <p:sp>
        <p:nvSpPr>
          <p:cNvPr id="7" name="Content Placeholder 6">
            <a:extLst>
              <a:ext uri="{FF2B5EF4-FFF2-40B4-BE49-F238E27FC236}">
                <a16:creationId xmlns:a16="http://schemas.microsoft.com/office/drawing/2014/main" id="{5DAB5DA6-8FF5-41CF-B707-B58D34F39629}"/>
              </a:ext>
            </a:extLst>
          </p:cNvPr>
          <p:cNvSpPr>
            <a:spLocks noGrp="1"/>
          </p:cNvSpPr>
          <p:nvPr>
            <p:ph sz="quarter" idx="12"/>
          </p:nvPr>
        </p:nvSpPr>
        <p:spPr>
          <a:xfrm>
            <a:off x="7711797" y="1666651"/>
            <a:ext cx="3129725" cy="830997"/>
          </a:xfrm>
        </p:spPr>
        <p:txBody>
          <a:bodyPr/>
          <a:lstStyle/>
          <a:p>
            <a:pPr marL="0" indent="0" algn="ctr" defTabSz="914225">
              <a:spcBef>
                <a:spcPts val="0"/>
              </a:spcBef>
              <a:buSzTx/>
              <a:buNone/>
              <a:defRPr/>
            </a:pPr>
            <a:r>
              <a:rPr lang="en-US" sz="3000" dirty="0">
                <a:solidFill>
                  <a:schemeClr val="accent3">
                    <a:lumMod val="75000"/>
                  </a:schemeClr>
                </a:solidFill>
                <a:latin typeface="Segoe UI Semibold"/>
                <a:ea typeface="Times New Roman" panose="02020603050405020304" pitchFamily="18" charset="0"/>
                <a:cs typeface="+mn-cs"/>
              </a:rPr>
              <a:t>Up to 47%</a:t>
            </a:r>
            <a:endParaRPr lang="en-US" b="1" dirty="0">
              <a:solidFill>
                <a:schemeClr val="accent3">
                  <a:lumMod val="75000"/>
                </a:schemeClr>
              </a:solidFill>
              <a:latin typeface="Segoe UI Semibold"/>
              <a:ea typeface="Times New Roman" panose="02020603050405020304" pitchFamily="18" charset="0"/>
              <a:cs typeface="+mn-cs"/>
            </a:endParaRPr>
          </a:p>
          <a:p>
            <a:pPr marL="0" indent="0" algn="ctr" defTabSz="914225">
              <a:spcBef>
                <a:spcPts val="0"/>
              </a:spcBef>
              <a:buSzTx/>
              <a:buNone/>
              <a:defRPr/>
            </a:pPr>
            <a:r>
              <a:rPr lang="en-US" sz="1200" dirty="0">
                <a:latin typeface="Segoe UI"/>
                <a:ea typeface="DengXian" panose="02010600030101010101" pitchFamily="2" charset="-122"/>
                <a:cs typeface="+mn-cs"/>
              </a:rPr>
              <a:t>Cost savings on Azure SQL VMs vs on-premises SQL Server</a:t>
            </a:r>
          </a:p>
        </p:txBody>
      </p:sp>
      <p:sp>
        <p:nvSpPr>
          <p:cNvPr id="8" name="Content Placeholder 7">
            <a:extLst>
              <a:ext uri="{FF2B5EF4-FFF2-40B4-BE49-F238E27FC236}">
                <a16:creationId xmlns:a16="http://schemas.microsoft.com/office/drawing/2014/main" id="{66B003B0-FC6A-4F52-BE1C-322511822DB1}"/>
              </a:ext>
            </a:extLst>
          </p:cNvPr>
          <p:cNvSpPr>
            <a:spLocks noGrp="1"/>
          </p:cNvSpPr>
          <p:nvPr>
            <p:ph sz="quarter" idx="13"/>
          </p:nvPr>
        </p:nvSpPr>
        <p:spPr>
          <a:xfrm>
            <a:off x="7085854" y="2835975"/>
            <a:ext cx="4921252" cy="215444"/>
          </a:xfrm>
        </p:spPr>
        <p:txBody>
          <a:bodyPr/>
          <a:lstStyle/>
          <a:p>
            <a:pPr marL="0" indent="0" defTabSz="914225">
              <a:spcBef>
                <a:spcPts val="0"/>
              </a:spcBef>
              <a:buSzTx/>
              <a:buNone/>
            </a:pPr>
            <a:r>
              <a:rPr lang="en-US" sz="1400">
                <a:solidFill>
                  <a:schemeClr val="accent1"/>
                </a:solidFill>
                <a:latin typeface="Segoe UI"/>
                <a:cs typeface="+mn-cs"/>
              </a:rPr>
              <a:t>Modernizing on Azure SQL yields even </a:t>
            </a:r>
            <a:r>
              <a:rPr lang="en-US" sz="1400" b="1">
                <a:solidFill>
                  <a:schemeClr val="accent1"/>
                </a:solidFill>
                <a:latin typeface="Segoe UI"/>
                <a:cs typeface="+mn-cs"/>
              </a:rPr>
              <a:t>greater</a:t>
            </a:r>
            <a:r>
              <a:rPr lang="en-US" sz="1400">
                <a:solidFill>
                  <a:schemeClr val="accent1"/>
                </a:solidFill>
                <a:latin typeface="Segoe UI"/>
                <a:cs typeface="+mn-cs"/>
              </a:rPr>
              <a:t> benefits…</a:t>
            </a:r>
          </a:p>
        </p:txBody>
      </p:sp>
      <p:sp>
        <p:nvSpPr>
          <p:cNvPr id="9" name="Content Placeholder 8">
            <a:extLst>
              <a:ext uri="{FF2B5EF4-FFF2-40B4-BE49-F238E27FC236}">
                <a16:creationId xmlns:a16="http://schemas.microsoft.com/office/drawing/2014/main" id="{819471DA-4294-403D-AFFC-B53E6C573EFC}"/>
              </a:ext>
            </a:extLst>
          </p:cNvPr>
          <p:cNvSpPr>
            <a:spLocks noGrp="1"/>
          </p:cNvSpPr>
          <p:nvPr>
            <p:ph sz="quarter" idx="14"/>
          </p:nvPr>
        </p:nvSpPr>
        <p:spPr>
          <a:xfrm>
            <a:off x="7857828" y="3202188"/>
            <a:ext cx="2836697" cy="830997"/>
          </a:xfrm>
        </p:spPr>
        <p:txBody>
          <a:bodyPr/>
          <a:lstStyle/>
          <a:p>
            <a:pPr marL="0" indent="0" algn="ctr" defTabSz="914225">
              <a:spcBef>
                <a:spcPts val="0"/>
              </a:spcBef>
              <a:buSzTx/>
              <a:buNone/>
              <a:defRPr/>
            </a:pPr>
            <a:r>
              <a:rPr lang="en-US" sz="3000" dirty="0">
                <a:solidFill>
                  <a:srgbClr val="0078D4"/>
                </a:solidFill>
                <a:latin typeface="Segoe UI Semibold"/>
                <a:cs typeface="+mn-cs"/>
              </a:rPr>
              <a:t>+17%</a:t>
            </a:r>
          </a:p>
          <a:p>
            <a:pPr marL="0" indent="0" algn="ctr" defTabSz="914225">
              <a:spcBef>
                <a:spcPts val="0"/>
              </a:spcBef>
              <a:buSzTx/>
              <a:buNone/>
              <a:defRPr/>
            </a:pPr>
            <a:r>
              <a:rPr lang="en-US" sz="1200" dirty="0">
                <a:solidFill>
                  <a:prstClr val="black"/>
                </a:solidFill>
                <a:latin typeface="Segoe UI"/>
                <a:ea typeface="Times New Roman" panose="02020603050405020304" pitchFamily="18" charset="0"/>
                <a:cs typeface="+mn-cs"/>
              </a:rPr>
              <a:t>Additional cost savings on Azure SQL managed databases vs Azure SQL VMs</a:t>
            </a:r>
            <a:endParaRPr lang="en-US" sz="1200" dirty="0">
              <a:solidFill>
                <a:prstClr val="black"/>
              </a:solidFill>
              <a:latin typeface="Segoe UI"/>
              <a:ea typeface="DengXian" panose="02010600030101010101" pitchFamily="2" charset="-122"/>
              <a:cs typeface="+mn-cs"/>
            </a:endParaRPr>
          </a:p>
        </p:txBody>
      </p:sp>
      <p:sp>
        <p:nvSpPr>
          <p:cNvPr id="10" name="Content Placeholder 9">
            <a:extLst>
              <a:ext uri="{FF2B5EF4-FFF2-40B4-BE49-F238E27FC236}">
                <a16:creationId xmlns:a16="http://schemas.microsoft.com/office/drawing/2014/main" id="{F75574FD-3819-4049-8755-DFCDED38E674}"/>
              </a:ext>
            </a:extLst>
          </p:cNvPr>
          <p:cNvSpPr>
            <a:spLocks noGrp="1"/>
          </p:cNvSpPr>
          <p:nvPr>
            <p:ph sz="quarter" idx="15"/>
          </p:nvPr>
        </p:nvSpPr>
        <p:spPr>
          <a:xfrm>
            <a:off x="7046107" y="4165469"/>
            <a:ext cx="2665222" cy="923330"/>
          </a:xfrm>
        </p:spPr>
        <p:txBody>
          <a:bodyPr/>
          <a:lstStyle/>
          <a:p>
            <a:pPr marL="0" indent="0" algn="ctr" defTabSz="914225">
              <a:spcBef>
                <a:spcPts val="0"/>
              </a:spcBef>
              <a:buSzTx/>
              <a:buNone/>
              <a:defRPr/>
            </a:pPr>
            <a:r>
              <a:rPr lang="en-US" sz="3600" dirty="0">
                <a:solidFill>
                  <a:srgbClr val="0078D4"/>
                </a:solidFill>
                <a:latin typeface="Segoe UI Semibold"/>
                <a:cs typeface="+mn-cs"/>
              </a:rPr>
              <a:t>53%</a:t>
            </a:r>
          </a:p>
          <a:p>
            <a:pPr marL="0" indent="0" algn="ctr" defTabSz="914225">
              <a:spcBef>
                <a:spcPts val="0"/>
              </a:spcBef>
              <a:buSzTx/>
              <a:buNone/>
              <a:defRPr/>
            </a:pPr>
            <a:r>
              <a:rPr lang="en-US" sz="1200" dirty="0">
                <a:solidFill>
                  <a:prstClr val="black"/>
                </a:solidFill>
                <a:latin typeface="Segoe UI"/>
                <a:ea typeface="Times New Roman" panose="02020603050405020304" pitchFamily="18" charset="0"/>
                <a:cs typeface="+mn-cs"/>
              </a:rPr>
              <a:t>Lower cost of application administration</a:t>
            </a:r>
            <a:endParaRPr lang="en-US" sz="1200" dirty="0">
              <a:solidFill>
                <a:prstClr val="black"/>
              </a:solidFill>
              <a:latin typeface="Segoe UI"/>
              <a:ea typeface="DengXian" panose="02010600030101010101" pitchFamily="2" charset="-122"/>
              <a:cs typeface="+mn-cs"/>
            </a:endParaRPr>
          </a:p>
        </p:txBody>
      </p:sp>
      <p:sp>
        <p:nvSpPr>
          <p:cNvPr id="11" name="Content Placeholder 10">
            <a:extLst>
              <a:ext uri="{FF2B5EF4-FFF2-40B4-BE49-F238E27FC236}">
                <a16:creationId xmlns:a16="http://schemas.microsoft.com/office/drawing/2014/main" id="{68942DD0-3BAD-4138-9D83-196A71DB23F2}"/>
              </a:ext>
            </a:extLst>
          </p:cNvPr>
          <p:cNvSpPr>
            <a:spLocks noGrp="1"/>
          </p:cNvSpPr>
          <p:nvPr>
            <p:ph sz="quarter" idx="16"/>
          </p:nvPr>
        </p:nvSpPr>
        <p:spPr>
          <a:xfrm>
            <a:off x="9175758" y="4165469"/>
            <a:ext cx="2375044" cy="923330"/>
          </a:xfrm>
        </p:spPr>
        <p:txBody>
          <a:bodyPr/>
          <a:lstStyle/>
          <a:p>
            <a:pPr marL="0" indent="0" algn="ctr" defTabSz="914225">
              <a:spcBef>
                <a:spcPts val="0"/>
              </a:spcBef>
              <a:buSzTx/>
              <a:buNone/>
              <a:defRPr/>
            </a:pPr>
            <a:r>
              <a:rPr lang="en-US" sz="3600">
                <a:solidFill>
                  <a:srgbClr val="0078D4"/>
                </a:solidFill>
                <a:latin typeface="Segoe UI Semibold"/>
                <a:cs typeface="+mn-cs"/>
              </a:rPr>
              <a:t>90%</a:t>
            </a:r>
          </a:p>
          <a:p>
            <a:pPr marL="0" indent="0" algn="ctr" defTabSz="914225">
              <a:spcBef>
                <a:spcPts val="0"/>
              </a:spcBef>
              <a:buSzTx/>
              <a:buNone/>
              <a:defRPr/>
            </a:pPr>
            <a:r>
              <a:rPr lang="en-US" sz="1200">
                <a:solidFill>
                  <a:prstClr val="black"/>
                </a:solidFill>
                <a:latin typeface="Segoe UI"/>
                <a:ea typeface="DengXian" panose="02010600030101010101" pitchFamily="2" charset="-122"/>
                <a:cs typeface="+mn-cs"/>
              </a:rPr>
              <a:t>Lower cost of systems administration</a:t>
            </a:r>
          </a:p>
        </p:txBody>
      </p:sp>
      <p:sp>
        <p:nvSpPr>
          <p:cNvPr id="12" name="Content Placeholder 11">
            <a:extLst>
              <a:ext uri="{FF2B5EF4-FFF2-40B4-BE49-F238E27FC236}">
                <a16:creationId xmlns:a16="http://schemas.microsoft.com/office/drawing/2014/main" id="{F8CFAD72-2F52-46B5-9164-AB0CBB39E9B0}"/>
              </a:ext>
            </a:extLst>
          </p:cNvPr>
          <p:cNvSpPr>
            <a:spLocks noGrp="1"/>
          </p:cNvSpPr>
          <p:nvPr>
            <p:ph sz="quarter" idx="17"/>
          </p:nvPr>
        </p:nvSpPr>
        <p:spPr>
          <a:xfrm>
            <a:off x="8060398" y="5226577"/>
            <a:ext cx="2427570" cy="923330"/>
          </a:xfrm>
        </p:spPr>
        <p:txBody>
          <a:bodyPr/>
          <a:lstStyle/>
          <a:p>
            <a:pPr marL="0" indent="0" algn="ctr" defTabSz="914225">
              <a:spcBef>
                <a:spcPts val="0"/>
              </a:spcBef>
              <a:buSzTx/>
              <a:buNone/>
              <a:defRPr/>
            </a:pPr>
            <a:r>
              <a:rPr lang="en-US" sz="3600">
                <a:solidFill>
                  <a:srgbClr val="0078D4"/>
                </a:solidFill>
                <a:latin typeface="Segoe UI Semibold"/>
                <a:cs typeface="+mn-cs"/>
              </a:rPr>
              <a:t>+$30M</a:t>
            </a:r>
          </a:p>
          <a:p>
            <a:pPr marL="0" indent="0" algn="ctr" defTabSz="914225">
              <a:spcBef>
                <a:spcPts val="0"/>
              </a:spcBef>
              <a:buSzTx/>
              <a:buNone/>
              <a:defRPr/>
            </a:pPr>
            <a:r>
              <a:rPr lang="en-US" sz="1200">
                <a:solidFill>
                  <a:prstClr val="black"/>
                </a:solidFill>
                <a:latin typeface="Segoe UI"/>
                <a:ea typeface="DengXian" panose="02010600030101010101" pitchFamily="2" charset="-122"/>
                <a:cs typeface="+mn-cs"/>
              </a:rPr>
              <a:t>Additional revenue due to faster time to market</a:t>
            </a:r>
          </a:p>
        </p:txBody>
      </p:sp>
      <p:sp>
        <p:nvSpPr>
          <p:cNvPr id="13" name="Content Placeholder 12">
            <a:extLst>
              <a:ext uri="{FF2B5EF4-FFF2-40B4-BE49-F238E27FC236}">
                <a16:creationId xmlns:a16="http://schemas.microsoft.com/office/drawing/2014/main" id="{5A062E5F-084E-4A45-8DE7-C2700063FF94}"/>
              </a:ext>
            </a:extLst>
          </p:cNvPr>
          <p:cNvSpPr>
            <a:spLocks noGrp="1"/>
          </p:cNvSpPr>
          <p:nvPr>
            <p:ph sz="quarter" idx="18"/>
          </p:nvPr>
        </p:nvSpPr>
        <p:spPr>
          <a:xfrm>
            <a:off x="6989523" y="6411528"/>
            <a:ext cx="4678473" cy="369332"/>
          </a:xfrm>
        </p:spPr>
        <p:txBody>
          <a:bodyPr/>
          <a:lstStyle/>
          <a:p>
            <a:pPr marL="0" indent="0" defTabSz="914225">
              <a:spcBef>
                <a:spcPts val="0"/>
              </a:spcBef>
              <a:buSzTx/>
              <a:buNone/>
            </a:pPr>
            <a:r>
              <a:rPr lang="en-US" sz="800" baseline="30000" dirty="0">
                <a:latin typeface="Verdana" panose="020B0604030504040204" pitchFamily="34" charset="0"/>
                <a:ea typeface="Times New Roman" panose="02020603050405020304" pitchFamily="18" charset="0"/>
                <a:cs typeface="Arial" panose="020B0604020202020204" pitchFamily="34" charset="0"/>
              </a:rPr>
              <a:t>1</a:t>
            </a:r>
            <a:r>
              <a:rPr lang="en-US" sz="800" dirty="0">
                <a:latin typeface="Verdana" panose="020B0604030504040204" pitchFamily="34" charset="0"/>
                <a:ea typeface="Times New Roman" panose="02020603050405020304" pitchFamily="18" charset="0"/>
                <a:cs typeface="Arial" panose="020B0604020202020204" pitchFamily="34" charset="0"/>
              </a:rPr>
              <a:t> Results are based on interviewed customers. “The Economic Value of Migration On-premises SQL Server Instances to Microsoft Azure SQL Solutions,” a commissioned study conducted by The Enterprise Strategy Group on behalf of Microsoft, October 2020.</a:t>
            </a:r>
            <a:endParaRPr lang="en-US" sz="1000" dirty="0">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40688786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B2AAB2-C915-274D-B3D2-FCF9175C338F}"/>
              </a:ext>
            </a:extLst>
          </p:cNvPr>
          <p:cNvSpPr>
            <a:spLocks noGrp="1"/>
          </p:cNvSpPr>
          <p:nvPr>
            <p:ph type="title"/>
          </p:nvPr>
        </p:nvSpPr>
        <p:spPr/>
        <p:txBody>
          <a:bodyPr/>
          <a:lstStyle/>
          <a:p>
            <a:r>
              <a:rPr lang="en-US" dirty="0">
                <a:solidFill>
                  <a:schemeClr val="tx1"/>
                </a:solidFill>
              </a:rPr>
              <a:t>Layers of security</a:t>
            </a:r>
          </a:p>
        </p:txBody>
      </p:sp>
      <p:grpSp>
        <p:nvGrpSpPr>
          <p:cNvPr id="4" name="Group 3" descr="layers around database and cloud">
            <a:extLst>
              <a:ext uri="{FF2B5EF4-FFF2-40B4-BE49-F238E27FC236}">
                <a16:creationId xmlns:a16="http://schemas.microsoft.com/office/drawing/2014/main" id="{68744703-2730-4F1E-A5F1-418F8A7D1BF8}"/>
              </a:ext>
            </a:extLst>
          </p:cNvPr>
          <p:cNvGrpSpPr/>
          <p:nvPr/>
        </p:nvGrpSpPr>
        <p:grpSpPr>
          <a:xfrm>
            <a:off x="601898" y="1402292"/>
            <a:ext cx="3839935" cy="3839935"/>
            <a:chOff x="1123033" y="1388077"/>
            <a:chExt cx="3840480" cy="3840480"/>
          </a:xfrm>
        </p:grpSpPr>
        <p:sp>
          <p:nvSpPr>
            <p:cNvPr id="31" name="Donut 30"/>
            <p:cNvSpPr>
              <a:spLocks/>
            </p:cNvSpPr>
            <p:nvPr/>
          </p:nvSpPr>
          <p:spPr bwMode="auto">
            <a:xfrm>
              <a:off x="1781983" y="2059236"/>
              <a:ext cx="2478376" cy="2478376"/>
            </a:xfrm>
            <a:prstGeom prst="donut">
              <a:avLst>
                <a:gd name="adj" fmla="val 14900"/>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5" tIns="146284" rIns="182855" bIns="146284" numCol="1" spcCol="0" rtlCol="0" fromWordArt="0" anchor="t" anchorCtr="0" forceAA="0" compatLnSpc="1">
              <a:prstTxWarp prst="textNoShape">
                <a:avLst/>
              </a:prstTxWarp>
              <a:noAutofit/>
            </a:bodyPr>
            <a:lstStyle/>
            <a:p>
              <a:pPr marL="0" marR="0" lvl="0" indent="0" algn="ctr" defTabSz="932365"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2" name="Donut 31"/>
            <p:cNvSpPr>
              <a:spLocks noChangeAspect="1"/>
            </p:cNvSpPr>
            <p:nvPr/>
          </p:nvSpPr>
          <p:spPr bwMode="auto">
            <a:xfrm>
              <a:off x="1384563" y="1656833"/>
              <a:ext cx="3292307" cy="3292307"/>
            </a:xfrm>
            <a:prstGeom prst="donut">
              <a:avLst>
                <a:gd name="adj" fmla="val 1268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5" tIns="146284" rIns="182855" bIns="146284" numCol="1" spcCol="0" rtlCol="0" fromWordArt="0" anchor="t" anchorCtr="0" forceAA="0" compatLnSpc="1">
              <a:prstTxWarp prst="textNoShape">
                <a:avLst/>
              </a:prstTxWarp>
              <a:noAutofit/>
            </a:bodyPr>
            <a:lstStyle/>
            <a:p>
              <a:pPr marL="0" marR="0" lvl="0" indent="0" algn="ctr" defTabSz="932365"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3" name="Donut 32"/>
            <p:cNvSpPr>
              <a:spLocks noChangeAspect="1"/>
            </p:cNvSpPr>
            <p:nvPr/>
          </p:nvSpPr>
          <p:spPr bwMode="auto">
            <a:xfrm>
              <a:off x="1123033" y="1388077"/>
              <a:ext cx="3840480" cy="3840480"/>
            </a:xfrm>
            <a:prstGeom prst="donut">
              <a:avLst>
                <a:gd name="adj" fmla="val 7887"/>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5" tIns="146284" rIns="182855" bIns="146284" numCol="1" spcCol="0" rtlCol="0" fromWordArt="0" anchor="t" anchorCtr="0" forceAA="0" compatLnSpc="1">
              <a:prstTxWarp prst="textNoShape">
                <a:avLst/>
              </a:prstTxWarp>
              <a:noAutofit/>
            </a:bodyPr>
            <a:lstStyle/>
            <a:p>
              <a:pPr marL="0" marR="0" lvl="0" indent="0" algn="ctr" defTabSz="932365"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4" name="Group 63">
            <a:extLst>
              <a:ext uri="{FF2B5EF4-FFF2-40B4-BE49-F238E27FC236}">
                <a16:creationId xmlns:a16="http://schemas.microsoft.com/office/drawing/2014/main" id="{75837168-F9B1-894A-8AC9-430B1986733E}"/>
              </a:ext>
              <a:ext uri="{C183D7F6-B498-43B3-948B-1728B52AA6E4}">
                <adec:decorative xmlns:adec="http://schemas.microsoft.com/office/drawing/2017/decorative" val="1"/>
              </a:ext>
            </a:extLst>
          </p:cNvPr>
          <p:cNvGrpSpPr>
            <a:grpSpLocks noChangeAspect="1"/>
          </p:cNvGrpSpPr>
          <p:nvPr/>
        </p:nvGrpSpPr>
        <p:grpSpPr>
          <a:xfrm>
            <a:off x="1872769" y="2933761"/>
            <a:ext cx="481760" cy="649746"/>
            <a:chOff x="2409384" y="1555006"/>
            <a:chExt cx="498916" cy="672884"/>
          </a:xfrm>
        </p:grpSpPr>
        <p:sp>
          <p:nvSpPr>
            <p:cNvPr id="65" name="Can 64">
              <a:extLst>
                <a:ext uri="{FF2B5EF4-FFF2-40B4-BE49-F238E27FC236}">
                  <a16:creationId xmlns:a16="http://schemas.microsoft.com/office/drawing/2014/main" id="{087D6A3F-6711-EF4C-A114-0F81426BE503}"/>
                </a:ext>
              </a:extLst>
            </p:cNvPr>
            <p:cNvSpPr/>
            <p:nvPr/>
          </p:nvSpPr>
          <p:spPr bwMode="auto">
            <a:xfrm>
              <a:off x="2409385" y="1590217"/>
              <a:ext cx="498915" cy="637673"/>
            </a:xfrm>
            <a:prstGeom prst="can">
              <a:avLst>
                <a:gd name="adj" fmla="val 25869"/>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6" name="Oval 65">
              <a:extLst>
                <a:ext uri="{FF2B5EF4-FFF2-40B4-BE49-F238E27FC236}">
                  <a16:creationId xmlns:a16="http://schemas.microsoft.com/office/drawing/2014/main" id="{E04B0C06-E50E-4046-A4B7-3F6A4A3A67D6}"/>
                </a:ext>
              </a:extLst>
            </p:cNvPr>
            <p:cNvSpPr/>
            <p:nvPr/>
          </p:nvSpPr>
          <p:spPr bwMode="auto">
            <a:xfrm>
              <a:off x="2409384" y="1555006"/>
              <a:ext cx="498915" cy="179146"/>
            </a:xfrm>
            <a:prstGeom prst="ellipse">
              <a:avLst/>
            </a:prstGeom>
            <a:solidFill>
              <a:srgbClr val="50E6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67" name="Group 66">
            <a:extLst>
              <a:ext uri="{FF2B5EF4-FFF2-40B4-BE49-F238E27FC236}">
                <a16:creationId xmlns:a16="http://schemas.microsoft.com/office/drawing/2014/main" id="{C13740F1-1E59-974F-9A0D-CF8822768ED8}"/>
              </a:ext>
              <a:ext uri="{C183D7F6-B498-43B3-948B-1728B52AA6E4}">
                <adec:decorative xmlns:adec="http://schemas.microsoft.com/office/drawing/2017/decorative" val="1"/>
              </a:ext>
            </a:extLst>
          </p:cNvPr>
          <p:cNvGrpSpPr/>
          <p:nvPr/>
        </p:nvGrpSpPr>
        <p:grpSpPr>
          <a:xfrm>
            <a:off x="2418275" y="3136659"/>
            <a:ext cx="715664" cy="423555"/>
            <a:chOff x="1944062" y="2375197"/>
            <a:chExt cx="206037" cy="121940"/>
          </a:xfrm>
          <a:solidFill>
            <a:schemeClr val="accent2"/>
          </a:solidFill>
        </p:grpSpPr>
        <p:sp>
          <p:nvSpPr>
            <p:cNvPr id="68" name="Oval 134">
              <a:extLst>
                <a:ext uri="{FF2B5EF4-FFF2-40B4-BE49-F238E27FC236}">
                  <a16:creationId xmlns:a16="http://schemas.microsoft.com/office/drawing/2014/main" id="{9AC2A373-F004-7949-9E22-5208521855B0}"/>
                </a:ext>
              </a:extLst>
            </p:cNvPr>
            <p:cNvSpPr>
              <a:spLocks noChangeArrowheads="1"/>
            </p:cNvSpPr>
            <p:nvPr/>
          </p:nvSpPr>
          <p:spPr bwMode="auto">
            <a:xfrm>
              <a:off x="1965086" y="2375197"/>
              <a:ext cx="121940" cy="1219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135">
              <a:extLst>
                <a:ext uri="{FF2B5EF4-FFF2-40B4-BE49-F238E27FC236}">
                  <a16:creationId xmlns:a16="http://schemas.microsoft.com/office/drawing/2014/main" id="{C2097631-19B8-8148-A050-06BB04A1B1D3}"/>
                </a:ext>
              </a:extLst>
            </p:cNvPr>
            <p:cNvSpPr>
              <a:spLocks/>
            </p:cNvSpPr>
            <p:nvPr/>
          </p:nvSpPr>
          <p:spPr bwMode="auto">
            <a:xfrm>
              <a:off x="1944062" y="2450884"/>
              <a:ext cx="206037" cy="46253"/>
            </a:xfrm>
            <a:custGeom>
              <a:avLst/>
              <a:gdLst>
                <a:gd name="T0" fmla="*/ 379 w 427"/>
                <a:gd name="T1" fmla="*/ 96 h 96"/>
                <a:gd name="T2" fmla="*/ 48 w 427"/>
                <a:gd name="T3" fmla="*/ 96 h 96"/>
                <a:gd name="T4" fmla="*/ 0 w 427"/>
                <a:gd name="T5" fmla="*/ 48 h 96"/>
                <a:gd name="T6" fmla="*/ 0 w 427"/>
                <a:gd name="T7" fmla="*/ 48 h 96"/>
                <a:gd name="T8" fmla="*/ 48 w 427"/>
                <a:gd name="T9" fmla="*/ 0 h 96"/>
                <a:gd name="T10" fmla="*/ 379 w 427"/>
                <a:gd name="T11" fmla="*/ 0 h 96"/>
                <a:gd name="T12" fmla="*/ 427 w 427"/>
                <a:gd name="T13" fmla="*/ 48 h 96"/>
                <a:gd name="T14" fmla="*/ 427 w 427"/>
                <a:gd name="T15" fmla="*/ 48 h 96"/>
                <a:gd name="T16" fmla="*/ 379 w 427"/>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 h="96">
                  <a:moveTo>
                    <a:pt x="379" y="96"/>
                  </a:moveTo>
                  <a:cubicBezTo>
                    <a:pt x="48" y="96"/>
                    <a:pt x="48" y="96"/>
                    <a:pt x="48" y="96"/>
                  </a:cubicBezTo>
                  <a:cubicBezTo>
                    <a:pt x="22" y="96"/>
                    <a:pt x="0" y="74"/>
                    <a:pt x="0" y="48"/>
                  </a:cubicBezTo>
                  <a:cubicBezTo>
                    <a:pt x="0" y="48"/>
                    <a:pt x="0" y="48"/>
                    <a:pt x="0" y="48"/>
                  </a:cubicBezTo>
                  <a:cubicBezTo>
                    <a:pt x="0" y="21"/>
                    <a:pt x="22" y="0"/>
                    <a:pt x="48" y="0"/>
                  </a:cubicBezTo>
                  <a:cubicBezTo>
                    <a:pt x="379" y="0"/>
                    <a:pt x="379" y="0"/>
                    <a:pt x="379" y="0"/>
                  </a:cubicBezTo>
                  <a:cubicBezTo>
                    <a:pt x="405" y="0"/>
                    <a:pt x="427" y="21"/>
                    <a:pt x="427" y="48"/>
                  </a:cubicBezTo>
                  <a:cubicBezTo>
                    <a:pt x="427" y="48"/>
                    <a:pt x="427" y="48"/>
                    <a:pt x="427" y="48"/>
                  </a:cubicBezTo>
                  <a:cubicBezTo>
                    <a:pt x="427" y="74"/>
                    <a:pt x="405" y="96"/>
                    <a:pt x="379"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Oval 136">
              <a:extLst>
                <a:ext uri="{FF2B5EF4-FFF2-40B4-BE49-F238E27FC236}">
                  <a16:creationId xmlns:a16="http://schemas.microsoft.com/office/drawing/2014/main" id="{E23ED93C-A75D-BF49-AE14-346C364A90CD}"/>
                </a:ext>
              </a:extLst>
            </p:cNvPr>
            <p:cNvSpPr>
              <a:spLocks noChangeArrowheads="1"/>
            </p:cNvSpPr>
            <p:nvPr/>
          </p:nvSpPr>
          <p:spPr bwMode="auto">
            <a:xfrm>
              <a:off x="2047080" y="2394118"/>
              <a:ext cx="81995" cy="8409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1" name="Rectangle 40"/>
          <p:cNvSpPr/>
          <p:nvPr/>
        </p:nvSpPr>
        <p:spPr>
          <a:xfrm>
            <a:off x="5588766" y="1151109"/>
            <a:ext cx="5045358" cy="1286506"/>
          </a:xfrm>
          <a:prstGeom prst="rect">
            <a:avLst/>
          </a:prstGeom>
        </p:spPr>
        <p:txBody>
          <a:bodyPr wrap="square">
            <a:spAutoFit/>
          </a:bodyPr>
          <a:lstStyle/>
          <a:p>
            <a:pPr marL="0" marR="0" lvl="0" indent="0" algn="l" defTabSz="914086" rtl="0" eaLnBrk="1" fontAlgn="auto" latinLnBrk="0" hangingPunct="1">
              <a:lnSpc>
                <a:spcPct val="90000"/>
              </a:lnSpc>
              <a:spcBef>
                <a:spcPts val="0"/>
              </a:spcBef>
              <a:spcAft>
                <a:spcPts val="0"/>
              </a:spcAft>
              <a:buClrTx/>
              <a:buSzTx/>
              <a:buFontTx/>
              <a:buNone/>
              <a:tabLst/>
              <a:defRPr/>
            </a:pPr>
            <a:r>
              <a:rPr lang="en-US" sz="2400" dirty="0">
                <a:solidFill>
                  <a:schemeClr val="accent5"/>
                </a:solidFill>
                <a:latin typeface="+mj-lt"/>
              </a:rPr>
              <a:t>Advanced Threat Protection</a:t>
            </a:r>
            <a:endParaRPr kumimoji="0" lang="he-IL" sz="2400" i="0" u="none" strike="noStrike" kern="1200" cap="none" spc="0" normalizeH="0" baseline="0" noProof="0" dirty="0">
              <a:ln>
                <a:noFill/>
              </a:ln>
              <a:solidFill>
                <a:schemeClr val="accent5"/>
              </a:solidFill>
              <a:effectLst/>
              <a:uLnTx/>
              <a:uFillTx/>
              <a:latin typeface="+mj-lt"/>
              <a:ea typeface="+mn-ea"/>
              <a:cs typeface="+mn-cs"/>
            </a:endParaRP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Segoe UI"/>
                <a:ea typeface="+mn-ea"/>
                <a:cs typeface="+mn-cs"/>
              </a:rPr>
              <a:t>Information Protection	:</a:t>
            </a:r>
            <a:r>
              <a:rPr kumimoji="0" lang="en-US" sz="1400" b="1" i="1" u="none" strike="noStrike" kern="1200" cap="none" spc="0" normalizeH="0" baseline="0" noProof="0" dirty="0">
                <a:ln>
                  <a:noFill/>
                </a:ln>
                <a:solidFill>
                  <a:schemeClr val="accent5"/>
                </a:solidFill>
                <a:effectLst/>
                <a:uLnTx/>
                <a:uFillTx/>
                <a:latin typeface="Segoe UI"/>
                <a:ea typeface="+mn-ea"/>
                <a:cs typeface="+mn-cs"/>
              </a:rPr>
              <a:t>  </a:t>
            </a:r>
            <a:r>
              <a:rPr kumimoji="0" lang="en-US" sz="1400" b="0" i="0" u="none" strike="noStrike" kern="1200" cap="none" spc="0" normalizeH="0" baseline="0" noProof="0" dirty="0">
                <a:ln>
                  <a:noFill/>
                </a:ln>
                <a:solidFill>
                  <a:schemeClr val="accent5"/>
                </a:solidFill>
                <a:effectLst/>
                <a:uLnTx/>
                <a:uFillTx/>
                <a:latin typeface="Segoe UI"/>
                <a:ea typeface="+mn-ea"/>
                <a:cs typeface="+mn-cs"/>
              </a:rPr>
              <a:t>Data Discovery &amp; Classification </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Segoe UI"/>
                <a:ea typeface="+mn-ea"/>
                <a:cs typeface="+mn-cs"/>
              </a:rPr>
              <a:t>Vulnerability scanning	:  Vulnerability Assessment </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Segoe UI"/>
                <a:ea typeface="+mn-ea"/>
                <a:cs typeface="+mn-cs"/>
              </a:rPr>
              <a:t>Threat Detection	:  Advanced Threat Detection</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Segoe UI"/>
                <a:ea typeface="+mn-ea"/>
                <a:cs typeface="+mn-cs"/>
              </a:rPr>
              <a:t>Centralized dashboard	:  ASC Integration &amp; OMS Integration</a:t>
            </a:r>
          </a:p>
        </p:txBody>
      </p:sp>
      <p:sp>
        <p:nvSpPr>
          <p:cNvPr id="40" name="Freeform 39">
            <a:extLst>
              <a:ext uri="{C183D7F6-B498-43B3-948B-1728B52AA6E4}">
                <adec:decorative xmlns:adec="http://schemas.microsoft.com/office/drawing/2017/decorative" val="1"/>
              </a:ext>
            </a:extLst>
          </p:cNvPr>
          <p:cNvSpPr/>
          <p:nvPr/>
        </p:nvSpPr>
        <p:spPr bwMode="auto">
          <a:xfrm flipV="1">
            <a:off x="4044553" y="1518913"/>
            <a:ext cx="7040879" cy="694686"/>
          </a:xfrm>
          <a:custGeom>
            <a:avLst/>
            <a:gdLst>
              <a:gd name="connsiteX0" fmla="*/ 6120384 w 6120384"/>
              <a:gd name="connsiteY0" fmla="*/ 548640 h 548640"/>
              <a:gd name="connsiteX1" fmla="*/ 548640 w 6120384"/>
              <a:gd name="connsiteY1" fmla="*/ 548640 h 548640"/>
              <a:gd name="connsiteX2" fmla="*/ 0 w 6120384"/>
              <a:gd name="connsiteY2" fmla="*/ 0 h 548640"/>
              <a:gd name="connsiteX0" fmla="*/ 6666295 w 6666295"/>
              <a:gd name="connsiteY0" fmla="*/ 541816 h 548640"/>
              <a:gd name="connsiteX1" fmla="*/ 548640 w 6666295"/>
              <a:gd name="connsiteY1" fmla="*/ 548640 h 548640"/>
              <a:gd name="connsiteX2" fmla="*/ 0 w 6666295"/>
              <a:gd name="connsiteY2" fmla="*/ 0 h 548640"/>
              <a:gd name="connsiteX0" fmla="*/ 6666295 w 6666295"/>
              <a:gd name="connsiteY0" fmla="*/ 541816 h 541816"/>
              <a:gd name="connsiteX1" fmla="*/ 448156 w 6666295"/>
              <a:gd name="connsiteY1" fmla="*/ 518495 h 541816"/>
              <a:gd name="connsiteX2" fmla="*/ 0 w 6666295"/>
              <a:gd name="connsiteY2" fmla="*/ 0 h 541816"/>
              <a:gd name="connsiteX0" fmla="*/ 6666295 w 6666295"/>
              <a:gd name="connsiteY0" fmla="*/ 541816 h 568737"/>
              <a:gd name="connsiteX1" fmla="*/ 458205 w 6666295"/>
              <a:gd name="connsiteY1" fmla="*/ 568737 h 568737"/>
              <a:gd name="connsiteX2" fmla="*/ 0 w 6666295"/>
              <a:gd name="connsiteY2" fmla="*/ 0 h 568737"/>
              <a:gd name="connsiteX0" fmla="*/ 5907881 w 5907881"/>
              <a:gd name="connsiteY0" fmla="*/ 552574 h 568737"/>
              <a:gd name="connsiteX1" fmla="*/ 458205 w 5907881"/>
              <a:gd name="connsiteY1" fmla="*/ 568737 h 568737"/>
              <a:gd name="connsiteX2" fmla="*/ 0 w 5907881"/>
              <a:gd name="connsiteY2" fmla="*/ 0 h 568737"/>
              <a:gd name="connsiteX0" fmla="*/ 5987891 w 5987891"/>
              <a:gd name="connsiteY0" fmla="*/ 552574 h 568737"/>
              <a:gd name="connsiteX1" fmla="*/ 458205 w 5987891"/>
              <a:gd name="connsiteY1" fmla="*/ 568737 h 568737"/>
              <a:gd name="connsiteX2" fmla="*/ 0 w 5987891"/>
              <a:gd name="connsiteY2" fmla="*/ 0 h 568737"/>
            </a:gdLst>
            <a:ahLst/>
            <a:cxnLst>
              <a:cxn ang="0">
                <a:pos x="connsiteX0" y="connsiteY0"/>
              </a:cxn>
              <a:cxn ang="0">
                <a:pos x="connsiteX1" y="connsiteY1"/>
              </a:cxn>
              <a:cxn ang="0">
                <a:pos x="connsiteX2" y="connsiteY2"/>
              </a:cxn>
            </a:cxnLst>
            <a:rect l="l" t="t" r="r" b="b"/>
            <a:pathLst>
              <a:path w="5987891" h="568737">
                <a:moveTo>
                  <a:pt x="5987891" y="552574"/>
                </a:moveTo>
                <a:lnTo>
                  <a:pt x="458205" y="568737"/>
                </a:lnTo>
                <a:lnTo>
                  <a:pt x="0" y="0"/>
                </a:lnTo>
              </a:path>
            </a:pathLst>
          </a:custGeom>
          <a:noFill/>
          <a:ln w="12700">
            <a:solidFill>
              <a:schemeClr val="tx1"/>
            </a:solidFill>
            <a:prstDash val="solid"/>
            <a:headEnd type="oval" w="med" len="med"/>
            <a:tailEnd type="oval"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29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5" name="Rectangle 34"/>
          <p:cNvSpPr/>
          <p:nvPr/>
        </p:nvSpPr>
        <p:spPr>
          <a:xfrm>
            <a:off x="5588765" y="2764034"/>
            <a:ext cx="5384038" cy="1184940"/>
          </a:xfrm>
          <a:prstGeom prst="rect">
            <a:avLst/>
          </a:prstGeom>
        </p:spPr>
        <p:txBody>
          <a:bodyPr wrap="none">
            <a:spAutoFit/>
          </a:bodyPr>
          <a:lstStyle/>
          <a:p>
            <a:pPr marL="0" marR="0" lvl="0" indent="0" algn="l" defTabSz="914296" rtl="0" eaLnBrk="1" fontAlgn="auto" latinLnBrk="0" hangingPunct="1">
              <a:lnSpc>
                <a:spcPct val="100000"/>
              </a:lnSpc>
              <a:spcBef>
                <a:spcPts val="0"/>
              </a:spcBef>
              <a:spcAft>
                <a:spcPts val="600"/>
              </a:spcAft>
              <a:buClrTx/>
              <a:buSzTx/>
              <a:buFontTx/>
              <a:buNone/>
              <a:tabLst/>
              <a:defRPr/>
            </a:pPr>
            <a:r>
              <a:rPr kumimoji="0" lang="en-US" sz="2400" i="0" u="none" strike="noStrike" kern="1200" cap="none" spc="0" normalizeH="0" baseline="0" noProof="0">
                <a:ln>
                  <a:noFill/>
                </a:ln>
                <a:solidFill>
                  <a:schemeClr val="accent5"/>
                </a:solidFill>
                <a:effectLst/>
                <a:uLnTx/>
                <a:uFillTx/>
                <a:latin typeface="+mj-lt"/>
              </a:rPr>
              <a:t>Access Management </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accent5"/>
                </a:solidFill>
                <a:effectLst/>
                <a:uLnTx/>
                <a:uFillTx/>
                <a:latin typeface="Segoe UI"/>
                <a:ea typeface="+mn-ea"/>
                <a:cs typeface="+mn-cs"/>
              </a:rPr>
              <a:t>Network access	: SQL Firewall + VNET Service Endpoints</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accent5"/>
                </a:solidFill>
                <a:effectLst/>
                <a:uLnTx/>
                <a:uFillTx/>
                <a:latin typeface="Segoe UI"/>
                <a:ea typeface="+mn-ea"/>
                <a:cs typeface="+mn-cs"/>
              </a:rPr>
              <a:t>Database access	: SQL &amp; AAD Universal Auth + MFA </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accent5"/>
                </a:solidFill>
                <a:effectLst/>
                <a:uLnTx/>
                <a:uFillTx/>
                <a:latin typeface="Segoe UI"/>
                <a:ea typeface="+mn-ea"/>
                <a:cs typeface="+mn-cs"/>
              </a:rPr>
              <a:t>Granular permissions	: SQL roles, permissions model</a:t>
            </a:r>
          </a:p>
        </p:txBody>
      </p:sp>
      <p:sp>
        <p:nvSpPr>
          <p:cNvPr id="36" name="Freeform 35">
            <a:extLst>
              <a:ext uri="{C183D7F6-B498-43B3-948B-1728B52AA6E4}">
                <adec:decorative xmlns:adec="http://schemas.microsoft.com/office/drawing/2017/decorative" val="1"/>
              </a:ext>
            </a:extLst>
          </p:cNvPr>
          <p:cNvSpPr/>
          <p:nvPr/>
        </p:nvSpPr>
        <p:spPr bwMode="auto">
          <a:xfrm flipV="1">
            <a:off x="4058889" y="3139604"/>
            <a:ext cx="7040880" cy="0"/>
          </a:xfrm>
          <a:custGeom>
            <a:avLst/>
            <a:gdLst>
              <a:gd name="connsiteX0" fmla="*/ 0 w 6571488"/>
              <a:gd name="connsiteY0" fmla="*/ 97536 h 97536"/>
              <a:gd name="connsiteX1" fmla="*/ 792480 w 6571488"/>
              <a:gd name="connsiteY1" fmla="*/ 0 h 97536"/>
              <a:gd name="connsiteX2" fmla="*/ 6571488 w 6571488"/>
              <a:gd name="connsiteY2" fmla="*/ 0 h 97536"/>
              <a:gd name="connsiteX0" fmla="*/ 0 w 6498336"/>
              <a:gd name="connsiteY0" fmla="*/ 0 h 219456"/>
              <a:gd name="connsiteX1" fmla="*/ 719328 w 6498336"/>
              <a:gd name="connsiteY1" fmla="*/ 219456 h 219456"/>
              <a:gd name="connsiteX2" fmla="*/ 6498336 w 6498336"/>
              <a:gd name="connsiteY2" fmla="*/ 219456 h 219456"/>
              <a:gd name="connsiteX0" fmla="*/ 0 w 6938476"/>
              <a:gd name="connsiteY0" fmla="*/ 0 h 219456"/>
              <a:gd name="connsiteX1" fmla="*/ 719328 w 6938476"/>
              <a:gd name="connsiteY1" fmla="*/ 219456 h 219456"/>
              <a:gd name="connsiteX2" fmla="*/ 6938476 w 6938476"/>
              <a:gd name="connsiteY2" fmla="*/ 219456 h 219456"/>
              <a:gd name="connsiteX0" fmla="*/ 0 w 7008815"/>
              <a:gd name="connsiteY0" fmla="*/ 1608 h 1608"/>
              <a:gd name="connsiteX1" fmla="*/ 789667 w 7008815"/>
              <a:gd name="connsiteY1" fmla="*/ 0 h 1608"/>
              <a:gd name="connsiteX2" fmla="*/ 7008815 w 7008815"/>
              <a:gd name="connsiteY2" fmla="*/ 0 h 1608"/>
              <a:gd name="connsiteX0" fmla="*/ 0 w 10000"/>
              <a:gd name="connsiteY0" fmla="*/ 10000 h 10000"/>
              <a:gd name="connsiteX1" fmla="*/ 10000 w 10000"/>
              <a:gd name="connsiteY1" fmla="*/ 0 h 10000"/>
              <a:gd name="connsiteX0" fmla="*/ 0 w 11649"/>
              <a:gd name="connsiteY0" fmla="*/ 10000 h 10000"/>
              <a:gd name="connsiteX1" fmla="*/ 11649 w 11649"/>
              <a:gd name="connsiteY1" fmla="*/ 0 h 10000"/>
              <a:gd name="connsiteX0" fmla="*/ 0 w 11665"/>
              <a:gd name="connsiteY0" fmla="*/ 2500 h 2500"/>
              <a:gd name="connsiteX1" fmla="*/ 11665 w 11665"/>
              <a:gd name="connsiteY1" fmla="*/ 0 h 2500"/>
              <a:gd name="connsiteX0" fmla="*/ 0 w 9854"/>
              <a:gd name="connsiteY0" fmla="*/ 10000 h 10000"/>
              <a:gd name="connsiteX1" fmla="*/ 9854 w 9854"/>
              <a:gd name="connsiteY1" fmla="*/ 0 h 10000"/>
            </a:gdLst>
            <a:ahLst/>
            <a:cxnLst>
              <a:cxn ang="0">
                <a:pos x="connsiteX0" y="connsiteY0"/>
              </a:cxn>
              <a:cxn ang="0">
                <a:pos x="connsiteX1" y="connsiteY1"/>
              </a:cxn>
            </a:cxnLst>
            <a:rect l="l" t="t" r="r" b="b"/>
            <a:pathLst>
              <a:path w="9854" h="10000">
                <a:moveTo>
                  <a:pt x="0" y="10000"/>
                </a:moveTo>
                <a:lnTo>
                  <a:pt x="9854" y="0"/>
                </a:lnTo>
              </a:path>
            </a:pathLst>
          </a:custGeom>
          <a:noFill/>
          <a:ln w="12700">
            <a:solidFill>
              <a:schemeClr val="accent1"/>
            </a:solidFill>
            <a:prstDash val="solid"/>
            <a:headEnd type="oval" w="med" len="med"/>
            <a:tailEnd type="oval"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29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01820"/>
              </a:solidFill>
              <a:effectLst/>
              <a:uLnTx/>
              <a:uFillTx/>
              <a:latin typeface="Segoe UI Semilight"/>
              <a:ea typeface="+mn-ea"/>
              <a:cs typeface="+mn-cs"/>
            </a:endParaRPr>
          </a:p>
        </p:txBody>
      </p:sp>
      <p:sp>
        <p:nvSpPr>
          <p:cNvPr id="49" name="Rectangle 48"/>
          <p:cNvSpPr/>
          <p:nvPr/>
        </p:nvSpPr>
        <p:spPr>
          <a:xfrm>
            <a:off x="5588765" y="4317981"/>
            <a:ext cx="5779806" cy="1286506"/>
          </a:xfrm>
          <a:prstGeom prst="rect">
            <a:avLst/>
          </a:prstGeom>
        </p:spPr>
        <p:txBody>
          <a:bodyPr wrap="square">
            <a:spAutoFit/>
          </a:bodyPr>
          <a:lstStyle/>
          <a:p>
            <a:pPr marL="0" marR="0" lvl="0" indent="0" algn="l" defTabSz="914086" rtl="0" eaLnBrk="1" fontAlgn="auto" latinLnBrk="0" hangingPunct="1">
              <a:lnSpc>
                <a:spcPct val="90000"/>
              </a:lnSpc>
              <a:spcBef>
                <a:spcPts val="0"/>
              </a:spcBef>
              <a:spcAft>
                <a:spcPts val="0"/>
              </a:spcAft>
              <a:buClrTx/>
              <a:buSzTx/>
              <a:buFontTx/>
              <a:buNone/>
              <a:tabLst/>
              <a:defRPr/>
            </a:pPr>
            <a:r>
              <a:rPr kumimoji="0" lang="en-US" sz="2400" i="0" u="none" strike="noStrike" kern="1200" cap="none" spc="0" normalizeH="0" baseline="0" noProof="0" dirty="0">
                <a:ln>
                  <a:noFill/>
                </a:ln>
                <a:solidFill>
                  <a:schemeClr val="accent5"/>
                </a:solidFill>
                <a:effectLst/>
                <a:uLnTx/>
                <a:uFillTx/>
                <a:latin typeface="+mj-lt"/>
              </a:rPr>
              <a:t>Data Protection </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Segoe UI"/>
                <a:ea typeface="+mn-ea"/>
                <a:cs typeface="+mn-cs"/>
              </a:rPr>
              <a:t>Encryption at rest	: Transparent Data Encryption </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Segoe UI"/>
                <a:ea typeface="+mn-ea"/>
                <a:cs typeface="+mn-cs"/>
              </a:rPr>
              <a:t>Encryption in use 	: Always Encrypted </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Segoe UI"/>
                <a:ea typeface="+mn-ea"/>
                <a:cs typeface="+mn-cs"/>
              </a:rPr>
              <a:t>App data protection	: Row-Level Security and Dynamic Data Masking</a:t>
            </a:r>
          </a:p>
          <a:p>
            <a:pPr marL="0" marR="0" lvl="0" indent="0" algn="l" defTabSz="91429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Segoe UI"/>
                <a:ea typeface="+mn-ea"/>
                <a:cs typeface="+mn-cs"/>
              </a:rPr>
              <a:t>Monitoring	    	: Auditing</a:t>
            </a:r>
          </a:p>
        </p:txBody>
      </p:sp>
      <p:sp>
        <p:nvSpPr>
          <p:cNvPr id="78" name="Freeform 77">
            <a:extLst>
              <a:ext uri="{FF2B5EF4-FFF2-40B4-BE49-F238E27FC236}">
                <a16:creationId xmlns:a16="http://schemas.microsoft.com/office/drawing/2014/main" id="{75E0565A-0C75-3247-89F1-93BD90641809}"/>
              </a:ext>
              <a:ext uri="{C183D7F6-B498-43B3-948B-1728B52AA6E4}">
                <adec:decorative xmlns:adec="http://schemas.microsoft.com/office/drawing/2017/decorative" val="1"/>
              </a:ext>
            </a:extLst>
          </p:cNvPr>
          <p:cNvSpPr/>
          <p:nvPr/>
        </p:nvSpPr>
        <p:spPr bwMode="auto">
          <a:xfrm flipV="1">
            <a:off x="3133939" y="4077649"/>
            <a:ext cx="7955280" cy="603743"/>
          </a:xfrm>
          <a:custGeom>
            <a:avLst/>
            <a:gdLst>
              <a:gd name="connsiteX0" fmla="*/ 0 w 5779008"/>
              <a:gd name="connsiteY0" fmla="*/ 341376 h 341376"/>
              <a:gd name="connsiteX1" fmla="*/ 1097280 w 5779008"/>
              <a:gd name="connsiteY1" fmla="*/ 0 h 341376"/>
              <a:gd name="connsiteX2" fmla="*/ 5779008 w 5779008"/>
              <a:gd name="connsiteY2" fmla="*/ 0 h 341376"/>
              <a:gd name="connsiteX0" fmla="*/ 0 w 6256679"/>
              <a:gd name="connsiteY0" fmla="*/ 341376 h 341376"/>
              <a:gd name="connsiteX1" fmla="*/ 1097280 w 6256679"/>
              <a:gd name="connsiteY1" fmla="*/ 0 h 341376"/>
              <a:gd name="connsiteX2" fmla="*/ 6256679 w 6256679"/>
              <a:gd name="connsiteY2" fmla="*/ 0 h 341376"/>
              <a:gd name="connsiteX0" fmla="*/ 0 w 6256679"/>
              <a:gd name="connsiteY0" fmla="*/ 341376 h 341376"/>
              <a:gd name="connsiteX1" fmla="*/ 1217860 w 6256679"/>
              <a:gd name="connsiteY1" fmla="*/ 0 h 341376"/>
              <a:gd name="connsiteX2" fmla="*/ 6256679 w 6256679"/>
              <a:gd name="connsiteY2" fmla="*/ 0 h 341376"/>
              <a:gd name="connsiteX0" fmla="*/ 0 w 5493004"/>
              <a:gd name="connsiteY0" fmla="*/ 341376 h 341376"/>
              <a:gd name="connsiteX1" fmla="*/ 1217860 w 5493004"/>
              <a:gd name="connsiteY1" fmla="*/ 0 h 341376"/>
              <a:gd name="connsiteX2" fmla="*/ 5493004 w 5493004"/>
              <a:gd name="connsiteY2" fmla="*/ 0 h 341376"/>
              <a:gd name="connsiteX0" fmla="*/ 0 w 5837249"/>
              <a:gd name="connsiteY0" fmla="*/ 341376 h 341376"/>
              <a:gd name="connsiteX1" fmla="*/ 1217860 w 5837249"/>
              <a:gd name="connsiteY1" fmla="*/ 0 h 341376"/>
              <a:gd name="connsiteX2" fmla="*/ 5837249 w 5837249"/>
              <a:gd name="connsiteY2" fmla="*/ 5379 h 341376"/>
              <a:gd name="connsiteX0" fmla="*/ 0 w 6020129"/>
              <a:gd name="connsiteY0" fmla="*/ 341376 h 341376"/>
              <a:gd name="connsiteX1" fmla="*/ 1217860 w 6020129"/>
              <a:gd name="connsiteY1" fmla="*/ 0 h 341376"/>
              <a:gd name="connsiteX2" fmla="*/ 6020129 w 6020129"/>
              <a:gd name="connsiteY2" fmla="*/ 16809 h 341376"/>
            </a:gdLst>
            <a:ahLst/>
            <a:cxnLst>
              <a:cxn ang="0">
                <a:pos x="connsiteX0" y="connsiteY0"/>
              </a:cxn>
              <a:cxn ang="0">
                <a:pos x="connsiteX1" y="connsiteY1"/>
              </a:cxn>
              <a:cxn ang="0">
                <a:pos x="connsiteX2" y="connsiteY2"/>
              </a:cxn>
            </a:cxnLst>
            <a:rect l="l" t="t" r="r" b="b"/>
            <a:pathLst>
              <a:path w="6020129" h="341376">
                <a:moveTo>
                  <a:pt x="0" y="341376"/>
                </a:moveTo>
                <a:lnTo>
                  <a:pt x="1217860" y="0"/>
                </a:lnTo>
                <a:lnTo>
                  <a:pt x="6020129" y="16809"/>
                </a:lnTo>
              </a:path>
            </a:pathLst>
          </a:custGeom>
          <a:noFill/>
          <a:ln w="12700">
            <a:solidFill>
              <a:schemeClr val="accent2"/>
            </a:solidFill>
            <a:prstDash val="solid"/>
            <a:headEnd type="oval" w="med" len="med"/>
            <a:tailEnd type="oval"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29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8" name="TextBox 27"/>
          <p:cNvSpPr txBox="1"/>
          <p:nvPr/>
        </p:nvSpPr>
        <p:spPr>
          <a:xfrm>
            <a:off x="401785" y="6165599"/>
            <a:ext cx="7323537" cy="489282"/>
          </a:xfrm>
          <a:prstGeom prst="rect">
            <a:avLst/>
          </a:prstGeom>
          <a:noFill/>
        </p:spPr>
        <p:txBody>
          <a:bodyPr wrap="square" lIns="182828" tIns="146263" rIns="182828" bIns="146263" rtlCol="0">
            <a:spAutoFit/>
          </a:bodyPr>
          <a:lstStyle/>
          <a:p>
            <a:pPr marL="0" marR="0" lvl="0" indent="0" algn="l" defTabSz="914120" rtl="0" eaLnBrk="1" fontAlgn="auto" latinLnBrk="0" hangingPunct="1">
              <a:lnSpc>
                <a:spcPct val="90000"/>
              </a:lnSpc>
              <a:spcBef>
                <a:spcPts val="0"/>
              </a:spcBef>
              <a:spcAft>
                <a:spcPts val="600"/>
              </a:spcAft>
              <a:buClrTx/>
              <a:buSzTx/>
              <a:buFontTx/>
              <a:buNone/>
              <a:tabLst/>
              <a:defRPr/>
            </a:pPr>
            <a:r>
              <a:rPr kumimoji="0" lang="en-US" sz="1400" i="0" u="none" strike="noStrike" kern="1200" cap="none" spc="0" normalizeH="0" baseline="0" noProof="0">
                <a:ln>
                  <a:noFill/>
                </a:ln>
                <a:solidFill>
                  <a:schemeClr val="accent5"/>
                </a:solidFill>
                <a:effectLst/>
                <a:uLnTx/>
                <a:uFillTx/>
                <a:latin typeface="+mj-lt"/>
                <a:ea typeface="+mn-ea"/>
                <a:cs typeface="+mn-cs"/>
              </a:rPr>
              <a:t>Compliance</a:t>
            </a:r>
            <a:r>
              <a:rPr kumimoji="0" lang="en-US" sz="1400" b="0" i="0" u="none" strike="noStrike" kern="1200" cap="none" spc="-100" normalizeH="0" baseline="0" noProof="0">
                <a:ln w="3175">
                  <a:noFill/>
                </a:ln>
                <a:solidFill>
                  <a:schemeClr val="accent5"/>
                </a:solidFill>
                <a:effectLst/>
                <a:uLnTx/>
                <a:uFillTx/>
                <a:latin typeface="Segoe UI"/>
                <a:ea typeface="+mn-ea"/>
                <a:cs typeface="Segoe UI" pitchFamily="34" charset="0"/>
              </a:rPr>
              <a:t>: </a:t>
            </a:r>
            <a:r>
              <a:rPr lang="en-US" sz="1400" spc="-100">
                <a:ln w="3175">
                  <a:noFill/>
                </a:ln>
                <a:solidFill>
                  <a:schemeClr val="accent5"/>
                </a:solidFill>
                <a:latin typeface="Segoe UI"/>
                <a:cs typeface="Segoe UI" pitchFamily="34" charset="0"/>
              </a:rPr>
              <a:t> </a:t>
            </a:r>
            <a:r>
              <a:rPr kumimoji="0" lang="en-US" sz="1400" b="0" i="0" u="none" strike="noStrike" kern="1200" cap="none" spc="0" normalizeH="0" baseline="0" noProof="0">
                <a:ln>
                  <a:noFill/>
                </a:ln>
                <a:solidFill>
                  <a:schemeClr val="accent5"/>
                </a:solidFill>
                <a:effectLst/>
                <a:uLnTx/>
                <a:uFillTx/>
                <a:latin typeface="Segoe UI"/>
                <a:ea typeface="+mn-ea"/>
                <a:cs typeface="+mn-cs"/>
              </a:rPr>
              <a:t>FedRAMP,  HIPAA, PCI, EU Model Clauses, GDPR, UK G-Cloud, ISO</a:t>
            </a:r>
          </a:p>
        </p:txBody>
      </p:sp>
      <p:grpSp>
        <p:nvGrpSpPr>
          <p:cNvPr id="12" name="Group 11">
            <a:extLst>
              <a:ext uri="{FF2B5EF4-FFF2-40B4-BE49-F238E27FC236}">
                <a16:creationId xmlns:a16="http://schemas.microsoft.com/office/drawing/2014/main" id="{DAB2A680-7F82-014D-8480-F915961DAC34}"/>
              </a:ext>
              <a:ext uri="{C183D7F6-B498-43B3-948B-1728B52AA6E4}">
                <adec:decorative xmlns:adec="http://schemas.microsoft.com/office/drawing/2017/decorative" val="1"/>
              </a:ext>
            </a:extLst>
          </p:cNvPr>
          <p:cNvGrpSpPr/>
          <p:nvPr/>
        </p:nvGrpSpPr>
        <p:grpSpPr>
          <a:xfrm>
            <a:off x="4745609" y="1195543"/>
            <a:ext cx="770160" cy="770154"/>
            <a:chOff x="4745609" y="1195543"/>
            <a:chExt cx="770160" cy="770154"/>
          </a:xfrm>
        </p:grpSpPr>
        <p:sp>
          <p:nvSpPr>
            <p:cNvPr id="76" name="Oval 75">
              <a:extLst>
                <a:ext uri="{FF2B5EF4-FFF2-40B4-BE49-F238E27FC236}">
                  <a16:creationId xmlns:a16="http://schemas.microsoft.com/office/drawing/2014/main" id="{3E8CA67B-2167-1046-8D8A-2566A5CC2AC0}"/>
                </a:ext>
              </a:extLst>
            </p:cNvPr>
            <p:cNvSpPr/>
            <p:nvPr/>
          </p:nvSpPr>
          <p:spPr bwMode="auto">
            <a:xfrm>
              <a:off x="4761944" y="1208285"/>
              <a:ext cx="504217" cy="504217"/>
            </a:xfrm>
            <a:prstGeom prst="ellips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57" name="Group 4">
              <a:extLst>
                <a:ext uri="{FF2B5EF4-FFF2-40B4-BE49-F238E27FC236}">
                  <a16:creationId xmlns:a16="http://schemas.microsoft.com/office/drawing/2014/main" id="{4733B0CD-5901-0E46-A67C-A9B4F0ACE06B}"/>
                </a:ext>
              </a:extLst>
            </p:cNvPr>
            <p:cNvGrpSpPr>
              <a:grpSpLocks noChangeAspect="1"/>
            </p:cNvGrpSpPr>
            <p:nvPr/>
          </p:nvGrpSpPr>
          <p:grpSpPr bwMode="auto">
            <a:xfrm>
              <a:off x="4745609" y="1195543"/>
              <a:ext cx="770160" cy="770154"/>
              <a:chOff x="4616" y="999"/>
              <a:chExt cx="312" cy="312"/>
            </a:xfrm>
          </p:grpSpPr>
          <p:sp>
            <p:nvSpPr>
              <p:cNvPr id="58" name="Freeform 5">
                <a:extLst>
                  <a:ext uri="{FF2B5EF4-FFF2-40B4-BE49-F238E27FC236}">
                    <a16:creationId xmlns:a16="http://schemas.microsoft.com/office/drawing/2014/main" id="{F3BF7C22-8D6E-5E43-9D25-F56A3DADDA5D}"/>
                  </a:ext>
                </a:extLst>
              </p:cNvPr>
              <p:cNvSpPr>
                <a:spLocks/>
              </p:cNvSpPr>
              <p:nvPr/>
            </p:nvSpPr>
            <p:spPr bwMode="auto">
              <a:xfrm>
                <a:off x="4780" y="1163"/>
                <a:ext cx="148" cy="148"/>
              </a:xfrm>
              <a:custGeom>
                <a:avLst/>
                <a:gdLst>
                  <a:gd name="T0" fmla="*/ 148 w 148"/>
                  <a:gd name="T1" fmla="*/ 127 h 148"/>
                  <a:gd name="T2" fmla="*/ 127 w 148"/>
                  <a:gd name="T3" fmla="*/ 148 h 148"/>
                  <a:gd name="T4" fmla="*/ 52 w 148"/>
                  <a:gd name="T5" fmla="*/ 73 h 148"/>
                  <a:gd name="T6" fmla="*/ 0 w 148"/>
                  <a:gd name="T7" fmla="*/ 21 h 148"/>
                  <a:gd name="T8" fmla="*/ 21 w 148"/>
                  <a:gd name="T9" fmla="*/ 0 h 148"/>
                  <a:gd name="T10" fmla="*/ 148 w 148"/>
                  <a:gd name="T11" fmla="*/ 127 h 148"/>
                </a:gdLst>
                <a:ahLst/>
                <a:cxnLst>
                  <a:cxn ang="0">
                    <a:pos x="T0" y="T1"/>
                  </a:cxn>
                  <a:cxn ang="0">
                    <a:pos x="T2" y="T3"/>
                  </a:cxn>
                  <a:cxn ang="0">
                    <a:pos x="T4" y="T5"/>
                  </a:cxn>
                  <a:cxn ang="0">
                    <a:pos x="T6" y="T7"/>
                  </a:cxn>
                  <a:cxn ang="0">
                    <a:pos x="T8" y="T9"/>
                  </a:cxn>
                  <a:cxn ang="0">
                    <a:pos x="T10" y="T11"/>
                  </a:cxn>
                </a:cxnLst>
                <a:rect l="0" t="0" r="r" b="b"/>
                <a:pathLst>
                  <a:path w="148" h="148">
                    <a:moveTo>
                      <a:pt x="148" y="127"/>
                    </a:moveTo>
                    <a:lnTo>
                      <a:pt x="127" y="148"/>
                    </a:lnTo>
                    <a:lnTo>
                      <a:pt x="52" y="73"/>
                    </a:lnTo>
                    <a:lnTo>
                      <a:pt x="0" y="21"/>
                    </a:lnTo>
                    <a:lnTo>
                      <a:pt x="21" y="0"/>
                    </a:lnTo>
                    <a:lnTo>
                      <a:pt x="148" y="12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6">
                <a:extLst>
                  <a:ext uri="{FF2B5EF4-FFF2-40B4-BE49-F238E27FC236}">
                    <a16:creationId xmlns:a16="http://schemas.microsoft.com/office/drawing/2014/main" id="{659EFAF6-5472-ED45-9091-956FE3AFE2C3}"/>
                  </a:ext>
                </a:extLst>
              </p:cNvPr>
              <p:cNvSpPr>
                <a:spLocks noEditPoints="1"/>
              </p:cNvSpPr>
              <p:nvPr/>
            </p:nvSpPr>
            <p:spPr bwMode="auto">
              <a:xfrm>
                <a:off x="4616" y="999"/>
                <a:ext cx="215" cy="215"/>
              </a:xfrm>
              <a:custGeom>
                <a:avLst/>
                <a:gdLst>
                  <a:gd name="T0" fmla="*/ 469 w 938"/>
                  <a:gd name="T1" fmla="*/ 0 h 939"/>
                  <a:gd name="T2" fmla="*/ 0 w 938"/>
                  <a:gd name="T3" fmla="*/ 470 h 939"/>
                  <a:gd name="T4" fmla="*/ 469 w 938"/>
                  <a:gd name="T5" fmla="*/ 939 h 939"/>
                  <a:gd name="T6" fmla="*/ 938 w 938"/>
                  <a:gd name="T7" fmla="*/ 470 h 939"/>
                  <a:gd name="T8" fmla="*/ 469 w 938"/>
                  <a:gd name="T9" fmla="*/ 0 h 939"/>
                  <a:gd name="T10" fmla="*/ 469 w 938"/>
                  <a:gd name="T11" fmla="*/ 811 h 939"/>
                  <a:gd name="T12" fmla="*/ 128 w 938"/>
                  <a:gd name="T13" fmla="*/ 470 h 939"/>
                  <a:gd name="T14" fmla="*/ 469 w 938"/>
                  <a:gd name="T15" fmla="*/ 128 h 939"/>
                  <a:gd name="T16" fmla="*/ 810 w 938"/>
                  <a:gd name="T17" fmla="*/ 470 h 939"/>
                  <a:gd name="T18" fmla="*/ 469 w 938"/>
                  <a:gd name="T19" fmla="*/ 81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8" h="939">
                    <a:moveTo>
                      <a:pt x="469" y="0"/>
                    </a:moveTo>
                    <a:cubicBezTo>
                      <a:pt x="210" y="0"/>
                      <a:pt x="0" y="210"/>
                      <a:pt x="0" y="470"/>
                    </a:cubicBezTo>
                    <a:cubicBezTo>
                      <a:pt x="0" y="729"/>
                      <a:pt x="210" y="939"/>
                      <a:pt x="469" y="939"/>
                    </a:cubicBezTo>
                    <a:cubicBezTo>
                      <a:pt x="728" y="939"/>
                      <a:pt x="938" y="729"/>
                      <a:pt x="938" y="470"/>
                    </a:cubicBezTo>
                    <a:cubicBezTo>
                      <a:pt x="938" y="210"/>
                      <a:pt x="728" y="0"/>
                      <a:pt x="469" y="0"/>
                    </a:cubicBezTo>
                    <a:close/>
                    <a:moveTo>
                      <a:pt x="469" y="811"/>
                    </a:moveTo>
                    <a:cubicBezTo>
                      <a:pt x="280" y="811"/>
                      <a:pt x="128" y="658"/>
                      <a:pt x="128" y="470"/>
                    </a:cubicBezTo>
                    <a:cubicBezTo>
                      <a:pt x="128" y="281"/>
                      <a:pt x="280" y="128"/>
                      <a:pt x="469" y="128"/>
                    </a:cubicBezTo>
                    <a:cubicBezTo>
                      <a:pt x="658" y="128"/>
                      <a:pt x="810" y="281"/>
                      <a:pt x="810" y="470"/>
                    </a:cubicBezTo>
                    <a:cubicBezTo>
                      <a:pt x="810" y="658"/>
                      <a:pt x="658" y="811"/>
                      <a:pt x="469" y="81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7">
                <a:extLst>
                  <a:ext uri="{FF2B5EF4-FFF2-40B4-BE49-F238E27FC236}">
                    <a16:creationId xmlns:a16="http://schemas.microsoft.com/office/drawing/2014/main" id="{D6094234-4281-CE4C-A8F7-E45FEE58BF29}"/>
                  </a:ext>
                </a:extLst>
              </p:cNvPr>
              <p:cNvSpPr>
                <a:spLocks noChangeArrowheads="1"/>
              </p:cNvSpPr>
              <p:nvPr/>
            </p:nvSpPr>
            <p:spPr bwMode="auto">
              <a:xfrm>
                <a:off x="4742" y="1107"/>
                <a:ext cx="20" cy="4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8">
                <a:extLst>
                  <a:ext uri="{FF2B5EF4-FFF2-40B4-BE49-F238E27FC236}">
                    <a16:creationId xmlns:a16="http://schemas.microsoft.com/office/drawing/2014/main" id="{72CF6ACE-5B4F-7C4E-8D22-2A07CB9ED3A4}"/>
                  </a:ext>
                </a:extLst>
              </p:cNvPr>
              <p:cNvSpPr>
                <a:spLocks noChangeArrowheads="1"/>
              </p:cNvSpPr>
              <p:nvPr/>
            </p:nvSpPr>
            <p:spPr bwMode="auto">
              <a:xfrm>
                <a:off x="4713" y="1077"/>
                <a:ext cx="19" cy="7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9">
                <a:extLst>
                  <a:ext uri="{FF2B5EF4-FFF2-40B4-BE49-F238E27FC236}">
                    <a16:creationId xmlns:a16="http://schemas.microsoft.com/office/drawing/2014/main" id="{B4B0A424-BCCC-E24D-B0AB-7D685127AE22}"/>
                  </a:ext>
                </a:extLst>
              </p:cNvPr>
              <p:cNvSpPr>
                <a:spLocks noChangeArrowheads="1"/>
              </p:cNvSpPr>
              <p:nvPr/>
            </p:nvSpPr>
            <p:spPr bwMode="auto">
              <a:xfrm>
                <a:off x="4684" y="1058"/>
                <a:ext cx="19" cy="97"/>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1" name="Group 10">
            <a:extLst>
              <a:ext uri="{FF2B5EF4-FFF2-40B4-BE49-F238E27FC236}">
                <a16:creationId xmlns:a16="http://schemas.microsoft.com/office/drawing/2014/main" id="{11380850-20E1-DB4B-AC67-3EF8CD8ECD3A}"/>
              </a:ext>
              <a:ext uri="{C183D7F6-B498-43B3-948B-1728B52AA6E4}">
                <adec:decorative xmlns:adec="http://schemas.microsoft.com/office/drawing/2017/decorative" val="1"/>
              </a:ext>
            </a:extLst>
          </p:cNvPr>
          <p:cNvGrpSpPr/>
          <p:nvPr/>
        </p:nvGrpSpPr>
        <p:grpSpPr>
          <a:xfrm>
            <a:off x="4878581" y="2841886"/>
            <a:ext cx="504217" cy="508000"/>
            <a:chOff x="4599705" y="3456952"/>
            <a:chExt cx="504217" cy="508000"/>
          </a:xfrm>
        </p:grpSpPr>
        <p:sp>
          <p:nvSpPr>
            <p:cNvPr id="9" name="Oval 8">
              <a:extLst>
                <a:ext uri="{FF2B5EF4-FFF2-40B4-BE49-F238E27FC236}">
                  <a16:creationId xmlns:a16="http://schemas.microsoft.com/office/drawing/2014/main" id="{3C9137FA-EA6F-594A-880F-C85201088C27}"/>
                </a:ext>
              </a:extLst>
            </p:cNvPr>
            <p:cNvSpPr/>
            <p:nvPr/>
          </p:nvSpPr>
          <p:spPr bwMode="auto">
            <a:xfrm>
              <a:off x="4599705" y="3456952"/>
              <a:ext cx="504217" cy="504217"/>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71" name="Group 46">
              <a:extLst>
                <a:ext uri="{FF2B5EF4-FFF2-40B4-BE49-F238E27FC236}">
                  <a16:creationId xmlns:a16="http://schemas.microsoft.com/office/drawing/2014/main" id="{A2294C06-1D4C-4E45-A6B2-FD9CEBB703B8}"/>
                </a:ext>
              </a:extLst>
            </p:cNvPr>
            <p:cNvGrpSpPr>
              <a:grpSpLocks noChangeAspect="1"/>
            </p:cNvGrpSpPr>
            <p:nvPr/>
          </p:nvGrpSpPr>
          <p:grpSpPr bwMode="auto">
            <a:xfrm>
              <a:off x="4599705" y="3456952"/>
              <a:ext cx="495300" cy="508000"/>
              <a:chOff x="2812" y="999"/>
              <a:chExt cx="312" cy="320"/>
            </a:xfrm>
          </p:grpSpPr>
          <p:sp>
            <p:nvSpPr>
              <p:cNvPr id="72" name="AutoShape 45">
                <a:extLst>
                  <a:ext uri="{FF2B5EF4-FFF2-40B4-BE49-F238E27FC236}">
                    <a16:creationId xmlns:a16="http://schemas.microsoft.com/office/drawing/2014/main" id="{5FB39EB6-8D57-3349-B1EB-F784249BEEC8}"/>
                  </a:ext>
                </a:extLst>
              </p:cNvPr>
              <p:cNvSpPr>
                <a:spLocks noChangeAspect="1" noChangeArrowheads="1" noTextEdit="1"/>
              </p:cNvSpPr>
              <p:nvPr/>
            </p:nvSpPr>
            <p:spPr bwMode="auto">
              <a:xfrm>
                <a:off x="2812" y="999"/>
                <a:ext cx="31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47">
                <a:extLst>
                  <a:ext uri="{FF2B5EF4-FFF2-40B4-BE49-F238E27FC236}">
                    <a16:creationId xmlns:a16="http://schemas.microsoft.com/office/drawing/2014/main" id="{3951A4C7-B198-864B-A114-163581085584}"/>
                  </a:ext>
                </a:extLst>
              </p:cNvPr>
              <p:cNvSpPr>
                <a:spLocks/>
              </p:cNvSpPr>
              <p:nvPr/>
            </p:nvSpPr>
            <p:spPr bwMode="auto">
              <a:xfrm>
                <a:off x="2812" y="999"/>
                <a:ext cx="312" cy="320"/>
              </a:xfrm>
              <a:custGeom>
                <a:avLst/>
                <a:gdLst>
                  <a:gd name="T0" fmla="*/ 682 w 1365"/>
                  <a:gd name="T1" fmla="*/ 1365 h 1365"/>
                  <a:gd name="T2" fmla="*/ 0 w 1365"/>
                  <a:gd name="T3" fmla="*/ 683 h 1365"/>
                  <a:gd name="T4" fmla="*/ 682 w 1365"/>
                  <a:gd name="T5" fmla="*/ 0 h 1365"/>
                  <a:gd name="T6" fmla="*/ 682 w 1365"/>
                  <a:gd name="T7" fmla="*/ 128 h 1365"/>
                  <a:gd name="T8" fmla="*/ 128 w 1365"/>
                  <a:gd name="T9" fmla="*/ 683 h 1365"/>
                  <a:gd name="T10" fmla="*/ 682 w 1365"/>
                  <a:gd name="T11" fmla="*/ 1237 h 1365"/>
                  <a:gd name="T12" fmla="*/ 1237 w 1365"/>
                  <a:gd name="T13" fmla="*/ 683 h 1365"/>
                  <a:gd name="T14" fmla="*/ 1365 w 1365"/>
                  <a:gd name="T15" fmla="*/ 683 h 1365"/>
                  <a:gd name="T16" fmla="*/ 682 w 1365"/>
                  <a:gd name="T17" fmla="*/ 1365 h 1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5" h="1365">
                    <a:moveTo>
                      <a:pt x="682" y="1365"/>
                    </a:moveTo>
                    <a:cubicBezTo>
                      <a:pt x="306" y="1365"/>
                      <a:pt x="0" y="1059"/>
                      <a:pt x="0" y="683"/>
                    </a:cubicBezTo>
                    <a:cubicBezTo>
                      <a:pt x="0" y="306"/>
                      <a:pt x="306" y="0"/>
                      <a:pt x="682" y="0"/>
                    </a:cubicBezTo>
                    <a:cubicBezTo>
                      <a:pt x="682" y="128"/>
                      <a:pt x="682" y="128"/>
                      <a:pt x="682" y="128"/>
                    </a:cubicBezTo>
                    <a:cubicBezTo>
                      <a:pt x="377" y="128"/>
                      <a:pt x="128" y="377"/>
                      <a:pt x="128" y="683"/>
                    </a:cubicBezTo>
                    <a:cubicBezTo>
                      <a:pt x="128" y="988"/>
                      <a:pt x="377" y="1237"/>
                      <a:pt x="682" y="1237"/>
                    </a:cubicBezTo>
                    <a:cubicBezTo>
                      <a:pt x="988" y="1237"/>
                      <a:pt x="1237" y="988"/>
                      <a:pt x="1237" y="683"/>
                    </a:cubicBezTo>
                    <a:cubicBezTo>
                      <a:pt x="1365" y="683"/>
                      <a:pt x="1365" y="683"/>
                      <a:pt x="1365" y="683"/>
                    </a:cubicBezTo>
                    <a:cubicBezTo>
                      <a:pt x="1365" y="1059"/>
                      <a:pt x="1058" y="1365"/>
                      <a:pt x="682" y="13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48">
                <a:extLst>
                  <a:ext uri="{FF2B5EF4-FFF2-40B4-BE49-F238E27FC236}">
                    <a16:creationId xmlns:a16="http://schemas.microsoft.com/office/drawing/2014/main" id="{E566006F-FA4D-2D4B-A8F5-1C9A69B32A92}"/>
                  </a:ext>
                </a:extLst>
              </p:cNvPr>
              <p:cNvSpPr>
                <a:spLocks/>
              </p:cNvSpPr>
              <p:nvPr/>
            </p:nvSpPr>
            <p:spPr bwMode="auto">
              <a:xfrm>
                <a:off x="2947" y="1068"/>
                <a:ext cx="135" cy="135"/>
              </a:xfrm>
              <a:custGeom>
                <a:avLst/>
                <a:gdLst>
                  <a:gd name="T0" fmla="*/ 0 w 135"/>
                  <a:gd name="T1" fmla="*/ 115 h 135"/>
                  <a:gd name="T2" fmla="*/ 20 w 135"/>
                  <a:gd name="T3" fmla="*/ 135 h 135"/>
                  <a:gd name="T4" fmla="*/ 135 w 135"/>
                  <a:gd name="T5" fmla="*/ 21 h 135"/>
                  <a:gd name="T6" fmla="*/ 115 w 135"/>
                  <a:gd name="T7" fmla="*/ 0 h 135"/>
                  <a:gd name="T8" fmla="*/ 0 w 135"/>
                  <a:gd name="T9" fmla="*/ 115 h 135"/>
                </a:gdLst>
                <a:ahLst/>
                <a:cxnLst>
                  <a:cxn ang="0">
                    <a:pos x="T0" y="T1"/>
                  </a:cxn>
                  <a:cxn ang="0">
                    <a:pos x="T2" y="T3"/>
                  </a:cxn>
                  <a:cxn ang="0">
                    <a:pos x="T4" y="T5"/>
                  </a:cxn>
                  <a:cxn ang="0">
                    <a:pos x="T6" y="T7"/>
                  </a:cxn>
                  <a:cxn ang="0">
                    <a:pos x="T8" y="T9"/>
                  </a:cxn>
                </a:cxnLst>
                <a:rect l="0" t="0" r="r" b="b"/>
                <a:pathLst>
                  <a:path w="135" h="135">
                    <a:moveTo>
                      <a:pt x="0" y="115"/>
                    </a:moveTo>
                    <a:lnTo>
                      <a:pt x="20" y="135"/>
                    </a:lnTo>
                    <a:lnTo>
                      <a:pt x="135" y="21"/>
                    </a:lnTo>
                    <a:lnTo>
                      <a:pt x="115" y="0"/>
                    </a:lnTo>
                    <a:lnTo>
                      <a:pt x="0" y="115"/>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49">
                <a:extLst>
                  <a:ext uri="{FF2B5EF4-FFF2-40B4-BE49-F238E27FC236}">
                    <a16:creationId xmlns:a16="http://schemas.microsoft.com/office/drawing/2014/main" id="{9E519AA0-F4F1-6843-97D3-BF225B7DC372}"/>
                  </a:ext>
                </a:extLst>
              </p:cNvPr>
              <p:cNvSpPr>
                <a:spLocks/>
              </p:cNvSpPr>
              <p:nvPr/>
            </p:nvSpPr>
            <p:spPr bwMode="auto">
              <a:xfrm>
                <a:off x="2902" y="1117"/>
                <a:ext cx="86" cy="86"/>
              </a:xfrm>
              <a:custGeom>
                <a:avLst/>
                <a:gdLst>
                  <a:gd name="T0" fmla="*/ 65 w 86"/>
                  <a:gd name="T1" fmla="*/ 86 h 86"/>
                  <a:gd name="T2" fmla="*/ 86 w 86"/>
                  <a:gd name="T3" fmla="*/ 65 h 86"/>
                  <a:gd name="T4" fmla="*/ 20 w 86"/>
                  <a:gd name="T5" fmla="*/ 0 h 86"/>
                  <a:gd name="T6" fmla="*/ 0 w 86"/>
                  <a:gd name="T7" fmla="*/ 21 h 86"/>
                  <a:gd name="T8" fmla="*/ 65 w 86"/>
                  <a:gd name="T9" fmla="*/ 86 h 86"/>
                </a:gdLst>
                <a:ahLst/>
                <a:cxnLst>
                  <a:cxn ang="0">
                    <a:pos x="T0" y="T1"/>
                  </a:cxn>
                  <a:cxn ang="0">
                    <a:pos x="T2" y="T3"/>
                  </a:cxn>
                  <a:cxn ang="0">
                    <a:pos x="T4" y="T5"/>
                  </a:cxn>
                  <a:cxn ang="0">
                    <a:pos x="T6" y="T7"/>
                  </a:cxn>
                  <a:cxn ang="0">
                    <a:pos x="T8" y="T9"/>
                  </a:cxn>
                </a:cxnLst>
                <a:rect l="0" t="0" r="r" b="b"/>
                <a:pathLst>
                  <a:path w="86" h="86">
                    <a:moveTo>
                      <a:pt x="65" y="86"/>
                    </a:moveTo>
                    <a:lnTo>
                      <a:pt x="86" y="65"/>
                    </a:lnTo>
                    <a:lnTo>
                      <a:pt x="20" y="0"/>
                    </a:lnTo>
                    <a:lnTo>
                      <a:pt x="0" y="21"/>
                    </a:lnTo>
                    <a:lnTo>
                      <a:pt x="65" y="8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9" name="Group 28">
            <a:extLst>
              <a:ext uri="{FF2B5EF4-FFF2-40B4-BE49-F238E27FC236}">
                <a16:creationId xmlns:a16="http://schemas.microsoft.com/office/drawing/2014/main" id="{E410741B-54F6-784E-8B14-46C16F4839FC}"/>
              </a:ext>
              <a:ext uri="{C183D7F6-B498-43B3-948B-1728B52AA6E4}">
                <adec:decorative xmlns:adec="http://schemas.microsoft.com/office/drawing/2017/decorative" val="1"/>
              </a:ext>
            </a:extLst>
          </p:cNvPr>
          <p:cNvGrpSpPr>
            <a:grpSpLocks noChangeAspect="1"/>
          </p:cNvGrpSpPr>
          <p:nvPr/>
        </p:nvGrpSpPr>
        <p:grpSpPr>
          <a:xfrm>
            <a:off x="4883678" y="4317981"/>
            <a:ext cx="494022" cy="609686"/>
            <a:chOff x="1980078" y="253998"/>
            <a:chExt cx="3830386" cy="4727197"/>
          </a:xfrm>
          <a:solidFill>
            <a:srgbClr val="50E6FF"/>
          </a:solidFill>
        </p:grpSpPr>
        <p:sp>
          <p:nvSpPr>
            <p:cNvPr id="30" name="Rectangle 27">
              <a:extLst>
                <a:ext uri="{FF2B5EF4-FFF2-40B4-BE49-F238E27FC236}">
                  <a16:creationId xmlns:a16="http://schemas.microsoft.com/office/drawing/2014/main" id="{DBD3B8E3-5142-4644-A373-575868EBB748}"/>
                </a:ext>
              </a:extLst>
            </p:cNvPr>
            <p:cNvSpPr>
              <a:spLocks noChangeArrowheads="1"/>
            </p:cNvSpPr>
            <p:nvPr/>
          </p:nvSpPr>
          <p:spPr bwMode="auto">
            <a:xfrm>
              <a:off x="1980078" y="2169196"/>
              <a:ext cx="3830386" cy="281199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42" name="Freeform 29">
              <a:extLst>
                <a:ext uri="{FF2B5EF4-FFF2-40B4-BE49-F238E27FC236}">
                  <a16:creationId xmlns:a16="http://schemas.microsoft.com/office/drawing/2014/main" id="{A66D13F4-E26A-644D-AE8A-EA09A0E1055A}"/>
                </a:ext>
              </a:extLst>
            </p:cNvPr>
            <p:cNvSpPr>
              <a:spLocks/>
            </p:cNvSpPr>
            <p:nvPr/>
          </p:nvSpPr>
          <p:spPr bwMode="auto">
            <a:xfrm>
              <a:off x="3454477" y="2913999"/>
              <a:ext cx="881597" cy="881598"/>
            </a:xfrm>
            <a:custGeom>
              <a:avLst/>
              <a:gdLst>
                <a:gd name="T0" fmla="*/ 256 w 256"/>
                <a:gd name="T1" fmla="*/ 127 h 256"/>
                <a:gd name="T2" fmla="*/ 256 w 256"/>
                <a:gd name="T3" fmla="*/ 129 h 256"/>
                <a:gd name="T4" fmla="*/ 129 w 256"/>
                <a:gd name="T5" fmla="*/ 256 h 256"/>
                <a:gd name="T6" fmla="*/ 127 w 256"/>
                <a:gd name="T7" fmla="*/ 256 h 256"/>
                <a:gd name="T8" fmla="*/ 0 w 256"/>
                <a:gd name="T9" fmla="*/ 129 h 256"/>
                <a:gd name="T10" fmla="*/ 0 w 256"/>
                <a:gd name="T11" fmla="*/ 127 h 256"/>
                <a:gd name="T12" fmla="*/ 127 w 256"/>
                <a:gd name="T13" fmla="*/ 0 h 256"/>
                <a:gd name="T14" fmla="*/ 129 w 256"/>
                <a:gd name="T15" fmla="*/ 0 h 256"/>
                <a:gd name="T16" fmla="*/ 256 w 256"/>
                <a:gd name="T17" fmla="*/ 12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127"/>
                  </a:moveTo>
                  <a:cubicBezTo>
                    <a:pt x="256" y="129"/>
                    <a:pt x="256" y="129"/>
                    <a:pt x="256" y="129"/>
                  </a:cubicBezTo>
                  <a:cubicBezTo>
                    <a:pt x="256" y="199"/>
                    <a:pt x="199" y="256"/>
                    <a:pt x="129" y="256"/>
                  </a:cubicBezTo>
                  <a:cubicBezTo>
                    <a:pt x="127" y="256"/>
                    <a:pt x="127" y="256"/>
                    <a:pt x="127" y="256"/>
                  </a:cubicBezTo>
                  <a:cubicBezTo>
                    <a:pt x="57" y="256"/>
                    <a:pt x="0" y="199"/>
                    <a:pt x="0" y="129"/>
                  </a:cubicBezTo>
                  <a:cubicBezTo>
                    <a:pt x="0" y="127"/>
                    <a:pt x="0" y="127"/>
                    <a:pt x="0" y="127"/>
                  </a:cubicBezTo>
                  <a:cubicBezTo>
                    <a:pt x="0" y="57"/>
                    <a:pt x="57" y="0"/>
                    <a:pt x="127" y="0"/>
                  </a:cubicBezTo>
                  <a:cubicBezTo>
                    <a:pt x="129" y="0"/>
                    <a:pt x="129" y="0"/>
                    <a:pt x="129" y="0"/>
                  </a:cubicBezTo>
                  <a:cubicBezTo>
                    <a:pt x="199" y="0"/>
                    <a:pt x="256" y="57"/>
                    <a:pt x="256"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44" name="Freeform 30">
              <a:extLst>
                <a:ext uri="{FF2B5EF4-FFF2-40B4-BE49-F238E27FC236}">
                  <a16:creationId xmlns:a16="http://schemas.microsoft.com/office/drawing/2014/main" id="{FD3BB9E9-07C6-0747-845A-A53A1CAA49E1}"/>
                </a:ext>
              </a:extLst>
            </p:cNvPr>
            <p:cNvSpPr>
              <a:spLocks/>
            </p:cNvSpPr>
            <p:nvPr/>
          </p:nvSpPr>
          <p:spPr bwMode="auto">
            <a:xfrm>
              <a:off x="3667277" y="3354793"/>
              <a:ext cx="455998" cy="1033598"/>
            </a:xfrm>
            <a:custGeom>
              <a:avLst/>
              <a:gdLst>
                <a:gd name="T0" fmla="*/ 64 w 128"/>
                <a:gd name="T1" fmla="*/ 299 h 299"/>
                <a:gd name="T2" fmla="*/ 63 w 128"/>
                <a:gd name="T3" fmla="*/ 299 h 299"/>
                <a:gd name="T4" fmla="*/ 0 w 128"/>
                <a:gd name="T5" fmla="*/ 236 h 299"/>
                <a:gd name="T6" fmla="*/ 0 w 128"/>
                <a:gd name="T7" fmla="*/ 64 h 299"/>
                <a:gd name="T8" fmla="*/ 63 w 128"/>
                <a:gd name="T9" fmla="*/ 0 h 299"/>
                <a:gd name="T10" fmla="*/ 64 w 128"/>
                <a:gd name="T11" fmla="*/ 0 h 299"/>
                <a:gd name="T12" fmla="*/ 128 w 128"/>
                <a:gd name="T13" fmla="*/ 64 h 299"/>
                <a:gd name="T14" fmla="*/ 128 w 128"/>
                <a:gd name="T15" fmla="*/ 236 h 299"/>
                <a:gd name="T16" fmla="*/ 64 w 128"/>
                <a:gd name="T17" fmla="*/ 29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299">
                  <a:moveTo>
                    <a:pt x="64" y="299"/>
                  </a:moveTo>
                  <a:cubicBezTo>
                    <a:pt x="63" y="299"/>
                    <a:pt x="63" y="299"/>
                    <a:pt x="63" y="299"/>
                  </a:cubicBezTo>
                  <a:cubicBezTo>
                    <a:pt x="28" y="299"/>
                    <a:pt x="0" y="271"/>
                    <a:pt x="0" y="236"/>
                  </a:cubicBezTo>
                  <a:cubicBezTo>
                    <a:pt x="0" y="64"/>
                    <a:pt x="0" y="64"/>
                    <a:pt x="0" y="64"/>
                  </a:cubicBezTo>
                  <a:cubicBezTo>
                    <a:pt x="0" y="29"/>
                    <a:pt x="28" y="0"/>
                    <a:pt x="63" y="0"/>
                  </a:cubicBezTo>
                  <a:cubicBezTo>
                    <a:pt x="64" y="0"/>
                    <a:pt x="64" y="0"/>
                    <a:pt x="64" y="0"/>
                  </a:cubicBezTo>
                  <a:cubicBezTo>
                    <a:pt x="100" y="0"/>
                    <a:pt x="128" y="29"/>
                    <a:pt x="128" y="64"/>
                  </a:cubicBezTo>
                  <a:cubicBezTo>
                    <a:pt x="128" y="236"/>
                    <a:pt x="128" y="236"/>
                    <a:pt x="128" y="236"/>
                  </a:cubicBezTo>
                  <a:cubicBezTo>
                    <a:pt x="128" y="271"/>
                    <a:pt x="100" y="299"/>
                    <a:pt x="64" y="2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45" name="Freeform: Shape 121">
              <a:extLst>
                <a:ext uri="{FF2B5EF4-FFF2-40B4-BE49-F238E27FC236}">
                  <a16:creationId xmlns:a16="http://schemas.microsoft.com/office/drawing/2014/main" id="{9A3D473D-3DDA-A74A-8F4F-97694B5DEA14}"/>
                </a:ext>
              </a:extLst>
            </p:cNvPr>
            <p:cNvSpPr/>
            <p:nvPr/>
          </p:nvSpPr>
          <p:spPr bwMode="auto">
            <a:xfrm>
              <a:off x="2420880" y="253998"/>
              <a:ext cx="2948790" cy="2423888"/>
            </a:xfrm>
            <a:custGeom>
              <a:avLst/>
              <a:gdLst>
                <a:gd name="connsiteX0" fmla="*/ 1474395 w 2948790"/>
                <a:gd name="connsiteY0" fmla="*/ 0 h 2423888"/>
                <a:gd name="connsiteX1" fmla="*/ 2948790 w 2948790"/>
                <a:gd name="connsiteY1" fmla="*/ 1474395 h 2423888"/>
                <a:gd name="connsiteX2" fmla="*/ 2948790 w 2948790"/>
                <a:gd name="connsiteY2" fmla="*/ 2423888 h 2423888"/>
                <a:gd name="connsiteX3" fmla="*/ 2505425 w 2948790"/>
                <a:gd name="connsiteY3" fmla="*/ 2423888 h 2423888"/>
                <a:gd name="connsiteX4" fmla="*/ 2506265 w 2948790"/>
                <a:gd name="connsiteY4" fmla="*/ 1475461 h 2423888"/>
                <a:gd name="connsiteX5" fmla="*/ 1474395 w 2948790"/>
                <a:gd name="connsiteY5" fmla="*/ 443591 h 2423888"/>
                <a:gd name="connsiteX6" fmla="*/ 442525 w 2948790"/>
                <a:gd name="connsiteY6" fmla="*/ 1475461 h 2423888"/>
                <a:gd name="connsiteX7" fmla="*/ 442525 w 2948790"/>
                <a:gd name="connsiteY7" fmla="*/ 2423888 h 2423888"/>
                <a:gd name="connsiteX8" fmla="*/ 0 w 2948790"/>
                <a:gd name="connsiteY8" fmla="*/ 2423888 h 2423888"/>
                <a:gd name="connsiteX9" fmla="*/ 0 w 2948790"/>
                <a:gd name="connsiteY9" fmla="*/ 1474395 h 2423888"/>
                <a:gd name="connsiteX10" fmla="*/ 1474395 w 2948790"/>
                <a:gd name="connsiteY10" fmla="*/ 0 h 242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48790" h="2423888">
                  <a:moveTo>
                    <a:pt x="1474395" y="0"/>
                  </a:moveTo>
                  <a:cubicBezTo>
                    <a:pt x="2288681" y="0"/>
                    <a:pt x="2948790" y="660109"/>
                    <a:pt x="2948790" y="1474395"/>
                  </a:cubicBezTo>
                  <a:lnTo>
                    <a:pt x="2948790" y="2423888"/>
                  </a:lnTo>
                  <a:lnTo>
                    <a:pt x="2505425" y="2423888"/>
                  </a:lnTo>
                  <a:lnTo>
                    <a:pt x="2506265" y="1475461"/>
                  </a:lnTo>
                  <a:cubicBezTo>
                    <a:pt x="2506265" y="905575"/>
                    <a:pt x="2044281" y="443591"/>
                    <a:pt x="1474395" y="443591"/>
                  </a:cubicBezTo>
                  <a:cubicBezTo>
                    <a:pt x="904509" y="443591"/>
                    <a:pt x="442525" y="905575"/>
                    <a:pt x="442525" y="1475461"/>
                  </a:cubicBezTo>
                  <a:lnTo>
                    <a:pt x="442525" y="2423888"/>
                  </a:lnTo>
                  <a:lnTo>
                    <a:pt x="0" y="2423888"/>
                  </a:lnTo>
                  <a:lnTo>
                    <a:pt x="0" y="1474395"/>
                  </a:lnTo>
                  <a:cubicBezTo>
                    <a:pt x="0" y="660109"/>
                    <a:pt x="660109" y="0"/>
                    <a:pt x="1474395" y="0"/>
                  </a:cubicBezTo>
                  <a:close/>
                </a:path>
              </a:pathLst>
            </a:cu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spTree>
    <p:extLst>
      <p:ext uri="{BB962C8B-B14F-4D97-AF65-F5344CB8AC3E}">
        <p14:creationId xmlns:p14="http://schemas.microsoft.com/office/powerpoint/2010/main" val="362436616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DADD5D-A38A-4D58-BE72-9957DA049B91}"/>
              </a:ext>
            </a:extLst>
          </p:cNvPr>
          <p:cNvSpPr>
            <a:spLocks noGrp="1"/>
          </p:cNvSpPr>
          <p:nvPr>
            <p:ph type="title"/>
          </p:nvPr>
        </p:nvSpPr>
        <p:spPr>
          <a:xfrm>
            <a:off x="588263" y="457200"/>
            <a:ext cx="11018520" cy="492443"/>
          </a:xfrm>
        </p:spPr>
        <p:txBody>
          <a:bodyPr/>
          <a:lstStyle/>
          <a:p>
            <a:r>
              <a:rPr lang="en-US" sz="3200" b="0" dirty="0">
                <a:solidFill>
                  <a:schemeClr val="tx1"/>
                </a:solidFill>
                <a:ea typeface="+mj-ea"/>
              </a:rPr>
              <a:t>Windows Server and SQL Server 2012/2012 R2 End of Support</a:t>
            </a:r>
          </a:p>
        </p:txBody>
      </p:sp>
      <p:sp>
        <p:nvSpPr>
          <p:cNvPr id="18" name="Rectangle 17">
            <a:extLst>
              <a:ext uri="{FF2B5EF4-FFF2-40B4-BE49-F238E27FC236}">
                <a16:creationId xmlns:a16="http://schemas.microsoft.com/office/drawing/2014/main" id="{1A397314-FD14-4A23-9A13-BF5FCD83EB7F}"/>
              </a:ext>
            </a:extLst>
          </p:cNvPr>
          <p:cNvSpPr/>
          <p:nvPr/>
        </p:nvSpPr>
        <p:spPr>
          <a:xfrm>
            <a:off x="617866" y="1430776"/>
            <a:ext cx="4249500" cy="369332"/>
          </a:xfrm>
          <a:prstGeom prst="rect">
            <a:avLst/>
          </a:prstGeom>
        </p:spPr>
        <p:txBody>
          <a:bodyPr wrap="square" lIns="0" anchor="t">
            <a:spAutoFit/>
          </a:bodyPr>
          <a:lstStyle/>
          <a:p>
            <a:pPr marL="0" marR="0" lvl="1" indent="0" algn="l" defTabSz="912813" rtl="0" eaLnBrk="1" fontAlgn="base" latinLnBrk="0" hangingPunct="1">
              <a:lnSpc>
                <a:spcPct val="90000"/>
              </a:lnSpc>
              <a:spcBef>
                <a:spcPct val="0"/>
              </a:spcBef>
              <a:spcAft>
                <a:spcPts val="588"/>
              </a:spcAft>
              <a:buClrTx/>
              <a:buSzTx/>
              <a:buFontTx/>
              <a:buNone/>
              <a:tabLst/>
              <a:defRPr/>
            </a:pPr>
            <a:r>
              <a:rPr kumimoji="0" lang="en-US" sz="2000" b="1" i="0" u="none" strike="noStrike" kern="1200" cap="none" spc="-50" normalizeH="0" baseline="0" noProof="0" dirty="0">
                <a:ln w="3175">
                  <a:noFill/>
                </a:ln>
                <a:solidFill>
                  <a:schemeClr val="accent2"/>
                </a:solidFill>
                <a:effectLst/>
                <a:uLnTx/>
                <a:uFillTx/>
                <a:latin typeface="Segoe UI Semibold"/>
                <a:ea typeface="MS PGothic" panose="020B0600070205080204" pitchFamily="34" charset="-128"/>
                <a:cs typeface="Segoe UI" pitchFamily="34" charset="0"/>
              </a:rPr>
              <a:t>Migrate to Azure </a:t>
            </a:r>
          </a:p>
        </p:txBody>
      </p:sp>
      <p:sp>
        <p:nvSpPr>
          <p:cNvPr id="14" name="TextBox 13">
            <a:extLst>
              <a:ext uri="{FF2B5EF4-FFF2-40B4-BE49-F238E27FC236}">
                <a16:creationId xmlns:a16="http://schemas.microsoft.com/office/drawing/2014/main" id="{486C3C08-C6C8-422D-AAEF-67B585FC5C39}"/>
              </a:ext>
            </a:extLst>
          </p:cNvPr>
          <p:cNvSpPr txBox="1"/>
          <p:nvPr/>
        </p:nvSpPr>
        <p:spPr>
          <a:xfrm>
            <a:off x="303549" y="1727015"/>
            <a:ext cx="5574289" cy="338554"/>
          </a:xfrm>
          <a:prstGeom prst="rect">
            <a:avLst/>
          </a:prstGeom>
          <a:noFill/>
        </p:spPr>
        <p:txBody>
          <a:bodyPr wrap="square">
            <a:spAutoFit/>
          </a:bodyPr>
          <a:lstStyle/>
          <a:p>
            <a:pPr marL="224097" marR="0" lvl="1"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chemeClr val="accent2"/>
                </a:solidFill>
                <a:effectLst/>
                <a:uLnTx/>
                <a:uFillTx/>
                <a:latin typeface="Segoe UI"/>
                <a:ea typeface="+mn-ea"/>
                <a:cs typeface="+mn-cs"/>
              </a:rPr>
              <a:t>Run securely with free Extended Security Updates</a:t>
            </a:r>
          </a:p>
        </p:txBody>
      </p:sp>
      <p:sp>
        <p:nvSpPr>
          <p:cNvPr id="24" name="Rectangle 23">
            <a:extLst>
              <a:ext uri="{FF2B5EF4-FFF2-40B4-BE49-F238E27FC236}">
                <a16:creationId xmlns:a16="http://schemas.microsoft.com/office/drawing/2014/main" id="{40C6D614-3C49-407F-88AB-487525EC27D8}"/>
              </a:ext>
            </a:extLst>
          </p:cNvPr>
          <p:cNvSpPr/>
          <p:nvPr/>
        </p:nvSpPr>
        <p:spPr>
          <a:xfrm>
            <a:off x="617866" y="2142591"/>
            <a:ext cx="5429017" cy="3322641"/>
          </a:xfrm>
          <a:prstGeom prst="rect">
            <a:avLst/>
          </a:prstGeom>
        </p:spPr>
        <p:txBody>
          <a:bodyPr wrap="square" lIns="0" tIns="45720" rIns="91440" bIns="45720" anchor="t">
            <a:spAutoFit/>
          </a:bodyPr>
          <a:lstStyle/>
          <a:p>
            <a:pPr marL="0" marR="0" lvl="0" indent="-233045" algn="l" defTabSz="932742" rtl="0" eaLnBrk="1" fontAlgn="auto" latinLnBrk="0" hangingPunct="1">
              <a:lnSpc>
                <a:spcPct val="90000"/>
              </a:lnSpc>
              <a:spcBef>
                <a:spcPct val="20000"/>
              </a:spcBef>
              <a:spcAft>
                <a:spcPts val="0"/>
              </a:spcAft>
              <a:buClrTx/>
              <a:buSzPct val="90000"/>
              <a:buFontTx/>
              <a:buNone/>
              <a:tabLst/>
              <a:defRPr/>
            </a:pPr>
            <a:r>
              <a:rPr kumimoji="0" lang="en-US" sz="1600" b="1" i="0" u="none" strike="noStrike" kern="1200" cap="none" spc="0" normalizeH="0" baseline="0" noProof="0" dirty="0">
                <a:ln>
                  <a:noFill/>
                </a:ln>
                <a:solidFill>
                  <a:srgbClr val="FFFFFF"/>
                </a:solidFill>
                <a:effectLst/>
                <a:uLnTx/>
                <a:uFillTx/>
                <a:latin typeface="Segoe UI"/>
                <a:ea typeface="+mn-ea"/>
                <a:cs typeface="+mn-cs"/>
              </a:rPr>
              <a:t>Migrate Rehost apps/workloads to Windows Server and SQL Server on Azure virtual machines</a:t>
            </a: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a:p>
            <a:pPr marL="228600" marR="0" lvl="1" indent="-228600" algn="l" defTabSz="932742" rtl="0" eaLnBrk="1" fontAlgn="auto" latinLnBrk="0" hangingPunct="1">
              <a:spcBef>
                <a:spcPct val="20000"/>
              </a:spcBef>
              <a:spcAft>
                <a:spcPts val="0"/>
              </a:spcAft>
              <a:buClrTx/>
              <a:buSzPct val="90000"/>
              <a:buFont typeface="Wingdings" panose="05000000000000000000" pitchFamily="2" charset="2"/>
              <a:buChar char="Ø"/>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Get Windows Server 2012/R2 and SQL Server 2012 security updates for 3 more years, at no additional charge, only in Azure</a:t>
            </a:r>
            <a:endParaRPr kumimoji="0" lang="en-US" sz="1200" b="0" i="0" u="none" strike="noStrike" kern="1200" cap="none" spc="0" normalizeH="0" baseline="0" noProof="0" dirty="0">
              <a:ln>
                <a:noFill/>
              </a:ln>
              <a:solidFill>
                <a:srgbClr val="FFFFFF"/>
              </a:solidFill>
              <a:effectLst/>
              <a:uLnTx/>
              <a:uFillTx/>
              <a:latin typeface="Segoe UI"/>
              <a:ea typeface="+mn-ea"/>
              <a:cs typeface="Segoe UI"/>
            </a:endParaRPr>
          </a:p>
          <a:p>
            <a:pPr marL="228600" marR="0" lvl="1" indent="-228600" algn="l" defTabSz="932742" rtl="0" eaLnBrk="1" fontAlgn="auto" latinLnBrk="0" hangingPunct="1">
              <a:spcBef>
                <a:spcPct val="20000"/>
              </a:spcBef>
              <a:spcAft>
                <a:spcPts val="0"/>
              </a:spcAft>
              <a:buClrTx/>
              <a:buSzPct val="90000"/>
              <a:buFont typeface="Wingdings" panose="05000000000000000000" pitchFamily="2" charset="2"/>
              <a:buChar char="Ø"/>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Take advantage of 2008 extended security updates, only in Azure to get Windows Server 2008/2008 R2 and SQL Server 2008/2008 R2 security updates for one additional year, at no additional charge, until </a:t>
            </a:r>
            <a:r>
              <a:rPr kumimoji="0" lang="en-US" sz="1200" b="0" i="0" u="none" strike="noStrike" kern="1200" cap="none" spc="0" normalizeH="0" baseline="0" noProof="0" dirty="0">
                <a:ln>
                  <a:noFill/>
                </a:ln>
                <a:solidFill>
                  <a:srgbClr val="FFFFFF"/>
                </a:solidFill>
                <a:effectLst/>
                <a:uLnTx/>
                <a:uFillTx/>
                <a:latin typeface="Segoe UI"/>
                <a:ea typeface="+mn-lt"/>
                <a:cs typeface="Segoe UI"/>
              </a:rPr>
              <a:t>January 14, 2024 for Windows Server 2008/2008 R2 and July 12, 2023 for SQL Server 2008/2008 R2.</a:t>
            </a:r>
            <a:endParaRPr kumimoji="0" lang="en-US" sz="1200" b="0" i="0" u="none" strike="noStrike" kern="1200" cap="none" spc="0" normalizeH="0" baseline="0" noProof="0" dirty="0">
              <a:ln>
                <a:noFill/>
              </a:ln>
              <a:solidFill>
                <a:srgbClr val="FFFFFF"/>
              </a:solidFill>
              <a:effectLst/>
              <a:uLnTx/>
              <a:uFillTx/>
              <a:latin typeface="Segoe UI"/>
              <a:ea typeface="+mn-ea"/>
              <a:cs typeface="Segoe UI"/>
            </a:endParaRPr>
          </a:p>
          <a:p>
            <a:pPr marL="228600" marR="0" lvl="1" indent="-228600" algn="l" defTabSz="932742" rtl="0" eaLnBrk="1" fontAlgn="auto" latinLnBrk="0" hangingPunct="1">
              <a:spcBef>
                <a:spcPct val="20000"/>
              </a:spcBef>
              <a:spcAft>
                <a:spcPts val="0"/>
              </a:spcAft>
              <a:buClrTx/>
              <a:buSzPct val="90000"/>
              <a:buFont typeface="Wingdings" panose="05000000000000000000" pitchFamily="2" charset="2"/>
              <a:buChar char="Ø"/>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Use Azure Support Plan to get technical support, only with Extended Security Updates</a:t>
            </a:r>
            <a:endParaRPr kumimoji="0" lang="en-US" sz="1200" b="0" i="0" u="none" strike="noStrike" kern="1200" cap="none" spc="0" normalizeH="0" baseline="0" noProof="0" dirty="0">
              <a:ln>
                <a:noFill/>
              </a:ln>
              <a:solidFill>
                <a:srgbClr val="FFFFFF"/>
              </a:solidFill>
              <a:effectLst/>
              <a:uLnTx/>
              <a:uFillTx/>
              <a:latin typeface="Segoe UI"/>
              <a:ea typeface="+mn-ea"/>
              <a:cs typeface="Segoe UI"/>
            </a:endParaRPr>
          </a:p>
          <a:p>
            <a:pPr marL="228600" marR="0" lvl="1" indent="-228600" algn="l" defTabSz="932742" rtl="0" eaLnBrk="1" fontAlgn="auto" latinLnBrk="0" hangingPunct="1">
              <a:spcBef>
                <a:spcPct val="20000"/>
              </a:spcBef>
              <a:spcAft>
                <a:spcPts val="0"/>
              </a:spcAft>
              <a:buClrTx/>
              <a:buSzPct val="90000"/>
              <a:buFont typeface="Wingdings" panose="05000000000000000000" pitchFamily="2" charset="2"/>
              <a:buChar char="Ø"/>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Save with Azure Hybrid Benefit</a:t>
            </a:r>
            <a:endParaRPr kumimoji="0" lang="en-US" sz="1200" b="0" i="0" u="none" strike="noStrike" kern="1200" cap="none" spc="0" normalizeH="0" baseline="0" noProof="0" dirty="0">
              <a:ln>
                <a:noFill/>
              </a:ln>
              <a:solidFill>
                <a:srgbClr val="FFFFFF"/>
              </a:solidFill>
              <a:effectLst/>
              <a:uLnTx/>
              <a:uFillTx/>
              <a:latin typeface="Segoe UI"/>
              <a:ea typeface="+mn-ea"/>
              <a:cs typeface="Segoe UI"/>
            </a:endParaRPr>
          </a:p>
          <a:p>
            <a:pPr marL="0" marR="0" lvl="0" indent="0" algn="l" defTabSz="914400" rtl="0" eaLnBrk="0" fontAlgn="base" latinLnBrk="0" hangingPunct="0">
              <a:lnSpc>
                <a:spcPct val="105000"/>
              </a:lnSpc>
              <a:spcBef>
                <a:spcPts val="120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a:ea typeface="Segoe UI" panose="020B0502040204020203" pitchFamily="34" charset="0"/>
                <a:cs typeface="Segoe UI"/>
              </a:rPr>
              <a:t>Modernize when ready</a:t>
            </a:r>
          </a:p>
          <a:p>
            <a:pPr marL="285750" marR="0" lvl="0" indent="-285750" algn="l" defTabSz="914400" rtl="0" eaLnBrk="0" fontAlgn="base" latinLnBrk="0" hangingPunct="0">
              <a:lnSpc>
                <a:spcPct val="105000"/>
              </a:lnSpc>
              <a:spcBef>
                <a:spcPts val="300"/>
              </a:spcBef>
              <a:spcAft>
                <a:spcPct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Modernize to PaaS with Azure services such as Azure SQL Managed Instance, and never have to patch or upgrade again</a:t>
            </a:r>
            <a:endParaRPr kumimoji="0" lang="en-US" sz="1200" b="0" i="0" u="none" strike="noStrike" kern="1200" cap="none" spc="0" normalizeH="0" baseline="0" noProof="0" dirty="0">
              <a:ln>
                <a:noFill/>
              </a:ln>
              <a:solidFill>
                <a:srgbClr val="FFFFFF"/>
              </a:solidFill>
              <a:effectLst/>
              <a:uLnTx/>
              <a:uFillTx/>
              <a:latin typeface="Segoe UI"/>
              <a:ea typeface="+mn-ea"/>
              <a:cs typeface="Segoe UI"/>
            </a:endParaRPr>
          </a:p>
        </p:txBody>
      </p:sp>
      <p:grpSp>
        <p:nvGrpSpPr>
          <p:cNvPr id="8" name="Group 7">
            <a:extLst>
              <a:ext uri="{FF2B5EF4-FFF2-40B4-BE49-F238E27FC236}">
                <a16:creationId xmlns:a16="http://schemas.microsoft.com/office/drawing/2014/main" id="{0398D72D-E660-4BC6-B3C4-7692382FD307}"/>
              </a:ext>
              <a:ext uri="{C183D7F6-B498-43B3-948B-1728B52AA6E4}">
                <adec:decorative xmlns:adec="http://schemas.microsoft.com/office/drawing/2017/decorative" val="1"/>
              </a:ext>
            </a:extLst>
          </p:cNvPr>
          <p:cNvGrpSpPr/>
          <p:nvPr/>
        </p:nvGrpSpPr>
        <p:grpSpPr>
          <a:xfrm>
            <a:off x="5942232" y="1697549"/>
            <a:ext cx="474810" cy="3341763"/>
            <a:chOff x="5826718" y="1669119"/>
            <a:chExt cx="474810" cy="2949451"/>
          </a:xfrm>
        </p:grpSpPr>
        <p:cxnSp>
          <p:nvCxnSpPr>
            <p:cNvPr id="28" name="Straight Connector 27">
              <a:extLst>
                <a:ext uri="{FF2B5EF4-FFF2-40B4-BE49-F238E27FC236}">
                  <a16:creationId xmlns:a16="http://schemas.microsoft.com/office/drawing/2014/main" id="{E01FCEC4-013B-41B4-90A1-0E6923689290}"/>
                </a:ext>
              </a:extLst>
            </p:cNvPr>
            <p:cNvCxnSpPr>
              <a:cxnSpLocks/>
            </p:cNvCxnSpPr>
            <p:nvPr/>
          </p:nvCxnSpPr>
          <p:spPr>
            <a:xfrm>
              <a:off x="6096000" y="1669119"/>
              <a:ext cx="0" cy="2949451"/>
            </a:xfrm>
            <a:prstGeom prst="line">
              <a:avLst/>
            </a:prstGeom>
            <a:ln w="9525">
              <a:solidFill>
                <a:srgbClr val="BFBFBF"/>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EA4CA6A0-D45F-40E8-AAF9-27642D66323F}"/>
                </a:ext>
              </a:extLst>
            </p:cNvPr>
            <p:cNvSpPr/>
            <p:nvPr/>
          </p:nvSpPr>
          <p:spPr>
            <a:xfrm>
              <a:off x="5826718" y="2972433"/>
              <a:ext cx="474810" cy="290969"/>
            </a:xfrm>
            <a:prstGeom prst="rect">
              <a:avLst/>
            </a:prstGeom>
            <a:solidFill>
              <a:schemeClr val="bg1"/>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gradFill>
                    <a:gsLst>
                      <a:gs pos="0">
                        <a:srgbClr val="FFFFFF"/>
                      </a:gs>
                      <a:gs pos="100000">
                        <a:srgbClr val="FFFFFF"/>
                      </a:gs>
                    </a:gsLst>
                    <a:lin ang="0" scaled="0"/>
                  </a:gradFill>
                  <a:effectLst/>
                  <a:uLnTx/>
                  <a:uFillTx/>
                  <a:latin typeface="Segoe UI" panose="020B0502040204020203" pitchFamily="34" charset="0"/>
                  <a:ea typeface="Segoe UI" panose="020B0502040204020203" pitchFamily="34" charset="0"/>
                  <a:cs typeface="Segoe UI" panose="020B0502040204020203" pitchFamily="34" charset="0"/>
                </a:rPr>
                <a:t>OR</a:t>
              </a:r>
              <a:endParaRPr kumimoji="0" lang="en-US" sz="1100" b="1" i="0" u="none" strike="noStrike" kern="1200" cap="none" spc="0" normalizeH="0" baseline="0" noProof="0">
                <a:ln>
                  <a:noFill/>
                </a:ln>
                <a:gradFill>
                  <a:gsLst>
                    <a:gs pos="0">
                      <a:srgbClr val="FFFFFF"/>
                    </a:gs>
                    <a:gs pos="100000">
                      <a:srgbClr val="FFFFFF"/>
                    </a:gs>
                  </a:gsLst>
                  <a:lin ang="0" scaled="0"/>
                </a:gradFill>
                <a:effectLst/>
                <a:uLnTx/>
                <a:uFillTx/>
                <a:latin typeface="Segoe UI" panose="020B0502040204020203" pitchFamily="34" charset="0"/>
                <a:ea typeface="MS PGothic" panose="020B0600070205080204" pitchFamily="34" charset="-128"/>
                <a:cs typeface="Segoe UI" panose="020B0502040204020203" pitchFamily="34" charset="0"/>
              </a:endParaRPr>
            </a:p>
          </p:txBody>
        </p:sp>
      </p:grpSp>
      <p:sp>
        <p:nvSpPr>
          <p:cNvPr id="26" name="Rectangle 25">
            <a:extLst>
              <a:ext uri="{FF2B5EF4-FFF2-40B4-BE49-F238E27FC236}">
                <a16:creationId xmlns:a16="http://schemas.microsoft.com/office/drawing/2014/main" id="{4E05711E-41B3-4564-9B5D-21A710762AD2}"/>
              </a:ext>
            </a:extLst>
          </p:cNvPr>
          <p:cNvSpPr/>
          <p:nvPr/>
        </p:nvSpPr>
        <p:spPr>
          <a:xfrm>
            <a:off x="6735691" y="1430776"/>
            <a:ext cx="4249500" cy="369332"/>
          </a:xfrm>
          <a:prstGeom prst="rect">
            <a:avLst/>
          </a:prstGeom>
        </p:spPr>
        <p:txBody>
          <a:bodyPr wrap="square" lIns="0" anchor="t">
            <a:spAutoFit/>
          </a:bodyPr>
          <a:lstStyle/>
          <a:p>
            <a:pPr marL="0" marR="0" lvl="1" indent="0" algn="l" defTabSz="912813" rtl="0" eaLnBrk="1" fontAlgn="base" latinLnBrk="0" hangingPunct="1">
              <a:lnSpc>
                <a:spcPct val="90000"/>
              </a:lnSpc>
              <a:spcBef>
                <a:spcPct val="0"/>
              </a:spcBef>
              <a:spcAft>
                <a:spcPts val="588"/>
              </a:spcAft>
              <a:buClrTx/>
              <a:buSzTx/>
              <a:buFontTx/>
              <a:buNone/>
              <a:tabLst/>
              <a:defRPr/>
            </a:pPr>
            <a:r>
              <a:rPr kumimoji="0" lang="en-US" sz="2000" b="1" i="0" u="none" strike="noStrike" kern="1200" cap="none" spc="-50" normalizeH="0" baseline="0" noProof="0">
                <a:ln w="3175">
                  <a:noFill/>
                </a:ln>
                <a:solidFill>
                  <a:schemeClr val="accent2"/>
                </a:solidFill>
                <a:effectLst/>
                <a:uLnTx/>
                <a:uFillTx/>
                <a:latin typeface="Segoe UI Semibold"/>
                <a:ea typeface="MS PGothic" panose="020B0600070205080204" pitchFamily="34" charset="-128"/>
                <a:cs typeface="Segoe UI" pitchFamily="34" charset="0"/>
              </a:rPr>
              <a:t>Upgrade on-premises</a:t>
            </a:r>
          </a:p>
        </p:txBody>
      </p:sp>
      <p:sp>
        <p:nvSpPr>
          <p:cNvPr id="19" name="TextBox 18">
            <a:extLst>
              <a:ext uri="{FF2B5EF4-FFF2-40B4-BE49-F238E27FC236}">
                <a16:creationId xmlns:a16="http://schemas.microsoft.com/office/drawing/2014/main" id="{CA35CF89-786D-4100-9C85-6E4042F1E253}"/>
              </a:ext>
            </a:extLst>
          </p:cNvPr>
          <p:cNvSpPr txBox="1"/>
          <p:nvPr/>
        </p:nvSpPr>
        <p:spPr>
          <a:xfrm>
            <a:off x="6423771" y="1739326"/>
            <a:ext cx="5063379" cy="313932"/>
          </a:xfrm>
          <a:prstGeom prst="rect">
            <a:avLst/>
          </a:prstGeom>
          <a:noFill/>
        </p:spPr>
        <p:txBody>
          <a:bodyPr wrap="square">
            <a:spAutoFit/>
          </a:bodyPr>
          <a:lstStyle/>
          <a:p>
            <a:pPr marL="224097" marR="0" lvl="1"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600" b="0" i="1" u="none" strike="noStrike" kern="1200" cap="none" spc="0" normalizeH="0" baseline="0" noProof="0">
                <a:ln>
                  <a:noFill/>
                </a:ln>
                <a:solidFill>
                  <a:schemeClr val="accent2"/>
                </a:solidFill>
                <a:effectLst/>
                <a:uLnTx/>
                <a:uFillTx/>
                <a:latin typeface="Segoe UI"/>
                <a:ea typeface="+mn-ea"/>
                <a:cs typeface="+mn-cs"/>
              </a:rPr>
              <a:t>Stay protected with the latest release</a:t>
            </a:r>
          </a:p>
        </p:txBody>
      </p:sp>
      <p:sp>
        <p:nvSpPr>
          <p:cNvPr id="20" name="Rectangle 19">
            <a:extLst>
              <a:ext uri="{FF2B5EF4-FFF2-40B4-BE49-F238E27FC236}">
                <a16:creationId xmlns:a16="http://schemas.microsoft.com/office/drawing/2014/main" id="{05A4FFEB-7F67-4B5F-BCBF-7E3DC3F1D4F6}"/>
              </a:ext>
            </a:extLst>
          </p:cNvPr>
          <p:cNvSpPr/>
          <p:nvPr/>
        </p:nvSpPr>
        <p:spPr>
          <a:xfrm>
            <a:off x="6794335" y="2195242"/>
            <a:ext cx="4736078" cy="2191562"/>
          </a:xfrm>
          <a:prstGeom prst="rect">
            <a:avLst/>
          </a:prstGeom>
        </p:spPr>
        <p:txBody>
          <a:bodyPr wrap="square" lIns="0" tIns="45720" rIns="91440" bIns="45720" anchor="t">
            <a:spAutoFit/>
          </a:bodyPr>
          <a:lstStyle/>
          <a:p>
            <a:pPr marL="0" marR="0" lvl="0" indent="-233103" algn="l" defTabSz="932742" rtl="0" eaLnBrk="1" fontAlgn="base" latinLnBrk="0" hangingPunct="1">
              <a:lnSpc>
                <a:spcPct val="90000"/>
              </a:lnSpc>
              <a:spcBef>
                <a:spcPct val="20000"/>
              </a:spcBef>
              <a:spcAft>
                <a:spcPct val="0"/>
              </a:spcAft>
              <a:buClrTx/>
              <a:buSzPct val="90000"/>
              <a:buFontTx/>
              <a:buNone/>
              <a:tabLst/>
              <a:defRPr/>
            </a:pPr>
            <a:r>
              <a:rPr kumimoji="0" lang="en-US" sz="1600" b="1" i="0" u="none" strike="noStrike" kern="1200" cap="none" spc="0" normalizeH="0" baseline="0" noProof="0" dirty="0">
                <a:ln>
                  <a:noFill/>
                </a:ln>
                <a:solidFill>
                  <a:srgbClr val="FFFFFF"/>
                </a:solidFill>
                <a:effectLst/>
                <a:uLnTx/>
                <a:uFillTx/>
                <a:latin typeface="Segoe UI"/>
                <a:ea typeface="+mn-ea"/>
                <a:cs typeface="+mn-cs"/>
              </a:rPr>
              <a:t>Upgrade to latest version </a:t>
            </a:r>
          </a:p>
          <a:p>
            <a:pPr marL="0" marR="0" lvl="0" indent="-285750" algn="l" defTabSz="914400" rtl="0" eaLnBrk="1" fontAlgn="base" latinLnBrk="0" hangingPunct="1">
              <a:lnSpc>
                <a:spcPct val="105000"/>
              </a:lnSpc>
              <a:spcBef>
                <a:spcPts val="300"/>
              </a:spcBef>
              <a:spcAft>
                <a:spcPct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Upgrade to Windows Server 2019 and SQL Server 2019</a:t>
            </a:r>
            <a:endParaRPr kumimoji="0" lang="en-US" sz="1400" b="1" i="0" u="none" strike="noStrike" kern="1200" cap="none" spc="0" normalizeH="0" baseline="0" noProof="0" dirty="0">
              <a:ln>
                <a:noFill/>
              </a:ln>
              <a:solidFill>
                <a:srgbClr val="FFFFFF"/>
              </a:solidFill>
              <a:effectLst/>
              <a:uLnTx/>
              <a:uFillTx/>
              <a:latin typeface="Segoe UI"/>
              <a:ea typeface="MS PGothic"/>
              <a:cs typeface="Segoe UI"/>
            </a:endParaRPr>
          </a:p>
          <a:p>
            <a:pPr marL="0" marR="0" lvl="0" indent="0" algn="l" defTabSz="914400" rtl="0" eaLnBrk="0" fontAlgn="base" latinLnBrk="0" hangingPunct="0">
              <a:lnSpc>
                <a:spcPct val="105000"/>
              </a:lnSpc>
              <a:spcBef>
                <a:spcPts val="120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a:ea typeface="MS PGothic"/>
                <a:cs typeface="Segoe UI"/>
              </a:rPr>
              <a:t>Can’t meet the deadline? Protect server workloads</a:t>
            </a:r>
          </a:p>
          <a:p>
            <a:pPr marL="228600" marR="0" lvl="0" indent="-228600" algn="l" defTabSz="914400" rtl="0" eaLnBrk="1" fontAlgn="base" latinLnBrk="0" hangingPunct="1">
              <a:lnSpc>
                <a:spcPct val="105000"/>
              </a:lnSpc>
              <a:spcBef>
                <a:spcPts val="300"/>
              </a:spcBef>
              <a:spcAft>
                <a:spcPct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Buy Extended Security Updates to get 3 more years </a:t>
            </a:r>
            <a:br>
              <a:rPr kumimoji="0" lang="en-US" sz="1200" b="0" i="0" u="none" strike="noStrike" kern="1200" cap="none" spc="0" normalizeH="0" baseline="0" noProof="0" dirty="0">
                <a:ln>
                  <a:noFill/>
                </a:ln>
                <a:solidFill>
                  <a:srgbClr val="FFFFFF"/>
                </a:solidFill>
                <a:effectLst/>
                <a:uLnTx/>
                <a:uFillTx/>
                <a:latin typeface="Segoe UI"/>
                <a:ea typeface="+mn-ea"/>
                <a:cs typeface="+mn-cs"/>
              </a:rPr>
            </a:br>
            <a:r>
              <a:rPr kumimoji="0" lang="en-US" sz="1200" b="0" i="0" u="none" strike="noStrike" kern="1200" cap="none" spc="0" normalizeH="0" baseline="0" noProof="0" dirty="0">
                <a:ln>
                  <a:noFill/>
                </a:ln>
                <a:solidFill>
                  <a:srgbClr val="FFFFFF"/>
                </a:solidFill>
                <a:effectLst/>
                <a:uLnTx/>
                <a:uFillTx/>
                <a:latin typeface="Segoe UI"/>
                <a:ea typeface="+mn-ea"/>
                <a:cs typeface="+mn-cs"/>
              </a:rPr>
              <a:t>of security updates for Windows Server 2012/R2 and </a:t>
            </a:r>
            <a:br>
              <a:rPr kumimoji="0" lang="en-US" sz="1200" b="0" i="0" u="none" strike="noStrike" kern="1200" cap="none" spc="0" normalizeH="0" baseline="0" noProof="0" dirty="0">
                <a:ln>
                  <a:noFill/>
                </a:ln>
                <a:solidFill>
                  <a:srgbClr val="FFFFFF"/>
                </a:solidFill>
                <a:effectLst/>
                <a:uLnTx/>
                <a:uFillTx/>
                <a:latin typeface="Segoe UI"/>
                <a:ea typeface="+mn-ea"/>
                <a:cs typeface="+mn-cs"/>
              </a:rPr>
            </a:br>
            <a:r>
              <a:rPr kumimoji="0" lang="en-US" sz="1200" b="0" i="0" u="none" strike="noStrike" kern="1200" cap="none" spc="0" normalizeH="0" baseline="0" noProof="0" dirty="0">
                <a:ln>
                  <a:noFill/>
                </a:ln>
                <a:solidFill>
                  <a:srgbClr val="FFFFFF"/>
                </a:solidFill>
                <a:effectLst/>
                <a:uLnTx/>
                <a:uFillTx/>
                <a:latin typeface="Segoe UI"/>
                <a:ea typeface="+mn-ea"/>
                <a:cs typeface="+mn-cs"/>
              </a:rPr>
              <a:t>SQL Server 2012</a:t>
            </a:r>
          </a:p>
          <a:p>
            <a:pPr marL="228600" marR="0" lvl="0" indent="-228600" algn="l" defTabSz="914400" rtl="0" eaLnBrk="1" fontAlgn="base" latinLnBrk="0" hangingPunct="1">
              <a:lnSpc>
                <a:spcPct val="105000"/>
              </a:lnSpc>
              <a:spcBef>
                <a:spcPts val="300"/>
              </a:spcBef>
              <a:spcAft>
                <a:spcPct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Use an active support contract to get technical support, only with Extended Security Updates</a:t>
            </a:r>
          </a:p>
          <a:p>
            <a:pPr marL="0" marR="0" lvl="0" indent="-285750" algn="l" defTabSz="914400" rtl="0" eaLnBrk="1" fontAlgn="base" latinLnBrk="0" hangingPunct="1">
              <a:lnSpc>
                <a:spcPct val="105000"/>
              </a:lnSpc>
              <a:spcBef>
                <a:spcPts val="300"/>
              </a:spcBef>
              <a:spcAft>
                <a:spcPct val="0"/>
              </a:spcAft>
              <a:buClrTx/>
              <a:buSzTx/>
              <a:buFont typeface="Wingdings" panose="05000000000000000000" pitchFamily="2" charset="2"/>
              <a:buChar char="Ø"/>
              <a:tabLst/>
              <a:defRPr/>
            </a:pPr>
            <a:endParaRPr kumimoji="0" lang="en-US" sz="1200" b="0" i="0" u="none" strike="noStrike" kern="1200" cap="none" spc="0" normalizeH="0" baseline="0" noProof="0" dirty="0">
              <a:ln>
                <a:noFill/>
              </a:ln>
              <a:solidFill>
                <a:srgbClr val="FFFFFF"/>
              </a:solidFill>
              <a:effectLst/>
              <a:uLnTx/>
              <a:uFillTx/>
              <a:latin typeface="Segoe UI"/>
              <a:ea typeface="+mn-ea"/>
              <a:cs typeface="+mn-cs"/>
            </a:endParaRPr>
          </a:p>
        </p:txBody>
      </p:sp>
      <p:graphicFrame>
        <p:nvGraphicFramePr>
          <p:cNvPr id="6" name="Table 6">
            <a:extLst>
              <a:ext uri="{FF2B5EF4-FFF2-40B4-BE49-F238E27FC236}">
                <a16:creationId xmlns:a16="http://schemas.microsoft.com/office/drawing/2014/main" id="{66419084-9D0B-43E3-95FA-4C95E3648941}"/>
              </a:ext>
            </a:extLst>
          </p:cNvPr>
          <p:cNvGraphicFramePr>
            <a:graphicFrameLocks noGrp="1"/>
          </p:cNvGraphicFramePr>
          <p:nvPr>
            <p:extLst>
              <p:ext uri="{D42A27DB-BD31-4B8C-83A1-F6EECF244321}">
                <p14:modId xmlns:p14="http://schemas.microsoft.com/office/powerpoint/2010/main" val="1347413088"/>
              </p:ext>
            </p:extLst>
          </p:nvPr>
        </p:nvGraphicFramePr>
        <p:xfrm>
          <a:off x="2962275" y="5792469"/>
          <a:ext cx="6267449" cy="822960"/>
        </p:xfrm>
        <a:graphic>
          <a:graphicData uri="http://schemas.openxmlformats.org/drawingml/2006/table">
            <a:tbl>
              <a:tblPr firstRow="1" bandRow="1">
                <a:tableStyleId>{9D7B26C5-4107-4FEC-AEDC-1716B250A1EF}</a:tableStyleId>
              </a:tblPr>
              <a:tblGrid>
                <a:gridCol w="3164388">
                  <a:extLst>
                    <a:ext uri="{9D8B030D-6E8A-4147-A177-3AD203B41FA5}">
                      <a16:colId xmlns:a16="http://schemas.microsoft.com/office/drawing/2014/main" val="3544404024"/>
                    </a:ext>
                  </a:extLst>
                </a:gridCol>
                <a:gridCol w="3103061">
                  <a:extLst>
                    <a:ext uri="{9D8B030D-6E8A-4147-A177-3AD203B41FA5}">
                      <a16:colId xmlns:a16="http://schemas.microsoft.com/office/drawing/2014/main" val="2649594253"/>
                    </a:ext>
                  </a:extLst>
                </a:gridCol>
              </a:tblGrid>
              <a:tr h="263084">
                <a:tc>
                  <a:txBody>
                    <a:bodyPr/>
                    <a:lstStyle/>
                    <a:p>
                      <a:r>
                        <a:rPr lang="en-US" sz="1200" b="1"/>
                        <a:t>Product</a:t>
                      </a:r>
                    </a:p>
                  </a:txBody>
                  <a:tcPr/>
                </a:tc>
                <a:tc>
                  <a:txBody>
                    <a:bodyPr/>
                    <a:lstStyle/>
                    <a:p>
                      <a:r>
                        <a:rPr lang="en-US" sz="1200" b="1"/>
                        <a:t>End of Support Date</a:t>
                      </a:r>
                    </a:p>
                  </a:txBody>
                  <a:tcPr/>
                </a:tc>
                <a:extLst>
                  <a:ext uri="{0D108BD9-81ED-4DB2-BD59-A6C34878D82A}">
                    <a16:rowId xmlns:a16="http://schemas.microsoft.com/office/drawing/2014/main" val="3494522410"/>
                  </a:ext>
                </a:extLst>
              </a:tr>
              <a:tr h="263084">
                <a:tc>
                  <a:txBody>
                    <a:bodyPr/>
                    <a:lstStyle/>
                    <a:p>
                      <a:r>
                        <a:rPr lang="en-US" sz="1200" b="0" dirty="0">
                          <a:solidFill>
                            <a:schemeClr val="tx1"/>
                          </a:solidFill>
                        </a:rPr>
                        <a:t>SQL Server 2012</a:t>
                      </a:r>
                    </a:p>
                  </a:txBody>
                  <a:tcPr/>
                </a:tc>
                <a:tc>
                  <a:txBody>
                    <a:bodyPr/>
                    <a:lstStyle/>
                    <a:p>
                      <a:r>
                        <a:rPr lang="en-US" sz="1200" b="0" dirty="0">
                          <a:solidFill>
                            <a:schemeClr val="tx1"/>
                          </a:solidFill>
                        </a:rPr>
                        <a:t>July 12</a:t>
                      </a:r>
                      <a:r>
                        <a:rPr lang="en-US" sz="1200" b="0" baseline="30000" dirty="0">
                          <a:solidFill>
                            <a:schemeClr val="tx1"/>
                          </a:solidFill>
                        </a:rPr>
                        <a:t>th</a:t>
                      </a:r>
                      <a:r>
                        <a:rPr lang="en-US" sz="1200" b="0" dirty="0">
                          <a:solidFill>
                            <a:schemeClr val="tx1"/>
                          </a:solidFill>
                        </a:rPr>
                        <a:t>, 2022</a:t>
                      </a:r>
                    </a:p>
                  </a:txBody>
                  <a:tcPr/>
                </a:tc>
                <a:extLst>
                  <a:ext uri="{0D108BD9-81ED-4DB2-BD59-A6C34878D82A}">
                    <a16:rowId xmlns:a16="http://schemas.microsoft.com/office/drawing/2014/main" val="2610112847"/>
                  </a:ext>
                </a:extLst>
              </a:tr>
              <a:tr h="263084">
                <a:tc>
                  <a:txBody>
                    <a:bodyPr/>
                    <a:lstStyle/>
                    <a:p>
                      <a:r>
                        <a:rPr lang="en-US" sz="1200" b="0" dirty="0">
                          <a:solidFill>
                            <a:schemeClr val="tx1"/>
                          </a:solidFill>
                        </a:rPr>
                        <a:t>SQL Server 2008/R2 </a:t>
                      </a:r>
                    </a:p>
                  </a:txBody>
                  <a:tcPr/>
                </a:tc>
                <a:tc>
                  <a:txBody>
                    <a:bodyPr/>
                    <a:lstStyle/>
                    <a:p>
                      <a:r>
                        <a:rPr lang="en-US" sz="1200" b="0" dirty="0">
                          <a:solidFill>
                            <a:schemeClr val="tx1"/>
                          </a:solidFill>
                        </a:rPr>
                        <a:t>July 12</a:t>
                      </a:r>
                      <a:r>
                        <a:rPr lang="en-US" sz="1200" b="0" baseline="30000" dirty="0">
                          <a:solidFill>
                            <a:schemeClr val="tx1"/>
                          </a:solidFill>
                        </a:rPr>
                        <a:t>th</a:t>
                      </a:r>
                      <a:r>
                        <a:rPr lang="en-US" sz="1200" b="0" dirty="0">
                          <a:solidFill>
                            <a:schemeClr val="tx1"/>
                          </a:solidFill>
                        </a:rPr>
                        <a:t>, 2019</a:t>
                      </a:r>
                    </a:p>
                  </a:txBody>
                  <a:tcPr/>
                </a:tc>
                <a:extLst>
                  <a:ext uri="{0D108BD9-81ED-4DB2-BD59-A6C34878D82A}">
                    <a16:rowId xmlns:a16="http://schemas.microsoft.com/office/drawing/2014/main" val="2271792746"/>
                  </a:ext>
                </a:extLst>
              </a:tr>
            </a:tbl>
          </a:graphicData>
        </a:graphic>
      </p:graphicFrame>
    </p:spTree>
    <p:extLst>
      <p:ext uri="{BB962C8B-B14F-4D97-AF65-F5344CB8AC3E}">
        <p14:creationId xmlns:p14="http://schemas.microsoft.com/office/powerpoint/2010/main" val="286570243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E1095-BCCB-41DF-B867-9B6D162549B2}"/>
              </a:ext>
            </a:extLst>
          </p:cNvPr>
          <p:cNvSpPr>
            <a:spLocks noGrp="1"/>
          </p:cNvSpPr>
          <p:nvPr>
            <p:ph type="ctrTitle"/>
          </p:nvPr>
        </p:nvSpPr>
        <p:spPr/>
        <p:txBody>
          <a:bodyPr/>
          <a:lstStyle/>
          <a:p>
            <a:r>
              <a:rPr lang="en-US" dirty="0"/>
              <a:t>Introducing Azure open-source databases </a:t>
            </a:r>
          </a:p>
        </p:txBody>
      </p:sp>
    </p:spTree>
    <p:extLst>
      <p:ext uri="{BB962C8B-B14F-4D97-AF65-F5344CB8AC3E}">
        <p14:creationId xmlns:p14="http://schemas.microsoft.com/office/powerpoint/2010/main" val="3947334939"/>
      </p:ext>
    </p:extLst>
  </p:cSld>
  <p:clrMapOvr>
    <a:masterClrMapping/>
  </p:clrMapOvr>
  <p:transition advTm="5559">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581D2-9E48-4A7D-911B-B0C00D00CD44}"/>
              </a:ext>
            </a:extLst>
          </p:cNvPr>
          <p:cNvSpPr>
            <a:spLocks noGrp="1"/>
          </p:cNvSpPr>
          <p:nvPr>
            <p:ph type="title"/>
          </p:nvPr>
        </p:nvSpPr>
        <p:spPr/>
        <p:txBody>
          <a:bodyPr/>
          <a:lstStyle/>
          <a:p>
            <a:r>
              <a:rPr lang="en-US" dirty="0"/>
              <a:t>Azure open source momentum </a:t>
            </a:r>
          </a:p>
        </p:txBody>
      </p:sp>
      <p:sp>
        <p:nvSpPr>
          <p:cNvPr id="36" name="TextBox 35">
            <a:extLst>
              <a:ext uri="{FF2B5EF4-FFF2-40B4-BE49-F238E27FC236}">
                <a16:creationId xmlns:a16="http://schemas.microsoft.com/office/drawing/2014/main" id="{AAE04A7D-A9EC-45BD-90B1-045D8F76F255}"/>
              </a:ext>
            </a:extLst>
          </p:cNvPr>
          <p:cNvSpPr txBox="1"/>
          <p:nvPr/>
        </p:nvSpPr>
        <p:spPr>
          <a:xfrm>
            <a:off x="502003" y="2729714"/>
            <a:ext cx="2605762" cy="1107996"/>
          </a:xfrm>
          <a:prstGeom prst="rect">
            <a:avLst/>
          </a:prstGeom>
          <a:noFill/>
        </p:spPr>
        <p:txBody>
          <a:bodyPr wrap="square" lIns="91440" tIns="45720" rIns="137160" bIns="45720" rtlCol="0" anchor="t">
            <a:spAutoFit/>
          </a:bodyPr>
          <a:lstStyle/>
          <a:p>
            <a:pPr lvl="0">
              <a:defRPr/>
            </a:pPr>
            <a:r>
              <a:rPr lang="en-US" sz="6600" b="1" dirty="0">
                <a:solidFill>
                  <a:schemeClr val="accent2"/>
                </a:solidFill>
              </a:rPr>
              <a:t>&gt;</a:t>
            </a:r>
            <a:r>
              <a:rPr kumimoji="0" lang="en-US" sz="6600" b="1" i="0" u="none" strike="noStrike" kern="1200" cap="none" spc="0" normalizeH="0" baseline="0" noProof="0" dirty="0">
                <a:ln>
                  <a:noFill/>
                </a:ln>
                <a:solidFill>
                  <a:schemeClr val="accent2"/>
                </a:solidFill>
                <a:effectLst/>
                <a:uLnTx/>
                <a:uFillTx/>
                <a:ea typeface="+mn-ea"/>
                <a:cs typeface="+mn-cs"/>
              </a:rPr>
              <a:t>50%</a:t>
            </a:r>
            <a:endParaRPr kumimoji="0" lang="en-US" sz="6600" b="1" i="0" u="none" strike="noStrike" kern="1200" cap="none" spc="0" normalizeH="0" baseline="30000" noProof="0" dirty="0">
              <a:ln>
                <a:noFill/>
              </a:ln>
              <a:solidFill>
                <a:schemeClr val="accent2"/>
              </a:solidFill>
              <a:effectLst/>
              <a:uLnTx/>
              <a:uFillTx/>
              <a:latin typeface="Segoe UI"/>
            </a:endParaRPr>
          </a:p>
        </p:txBody>
      </p:sp>
      <p:sp>
        <p:nvSpPr>
          <p:cNvPr id="20" name="Rectangle 19">
            <a:extLst>
              <a:ext uri="{FF2B5EF4-FFF2-40B4-BE49-F238E27FC236}">
                <a16:creationId xmlns:a16="http://schemas.microsoft.com/office/drawing/2014/main" id="{5DAB734D-16B4-4FEA-926A-DED86ECFADCF}"/>
              </a:ext>
            </a:extLst>
          </p:cNvPr>
          <p:cNvSpPr/>
          <p:nvPr/>
        </p:nvSpPr>
        <p:spPr>
          <a:xfrm>
            <a:off x="817279" y="3763691"/>
            <a:ext cx="2283651" cy="646331"/>
          </a:xfrm>
          <a:prstGeom prst="rect">
            <a:avLst/>
          </a:prstGeom>
          <a:noFill/>
        </p:spPr>
        <p:txBody>
          <a:bodyPr wrap="square" lIns="91440" tIns="45720" rIns="137160" bIns="45720" rtlCol="0">
            <a:spAutoFit/>
          </a:bodyPr>
          <a:lstStyle/>
          <a:p>
            <a:r>
              <a:rPr lang="en-US" dirty="0">
                <a:latin typeface="Segoe UI Semibold"/>
              </a:rPr>
              <a:t>of VM cores </a:t>
            </a:r>
            <a:br>
              <a:rPr lang="en-US" dirty="0">
                <a:latin typeface="Segoe UI Semibold"/>
              </a:rPr>
            </a:br>
            <a:r>
              <a:rPr lang="en-US" dirty="0">
                <a:latin typeface="Segoe UI Semibold"/>
              </a:rPr>
              <a:t>are Linux</a:t>
            </a:r>
          </a:p>
        </p:txBody>
      </p:sp>
      <p:sp>
        <p:nvSpPr>
          <p:cNvPr id="50" name="TextBox 49">
            <a:extLst>
              <a:ext uri="{FF2B5EF4-FFF2-40B4-BE49-F238E27FC236}">
                <a16:creationId xmlns:a16="http://schemas.microsoft.com/office/drawing/2014/main" id="{C420ADCB-C184-4964-A4B7-62A66B2A3389}"/>
              </a:ext>
            </a:extLst>
          </p:cNvPr>
          <p:cNvSpPr txBox="1"/>
          <p:nvPr/>
        </p:nvSpPr>
        <p:spPr>
          <a:xfrm>
            <a:off x="3341401" y="2729714"/>
            <a:ext cx="2584306" cy="1107996"/>
          </a:xfrm>
          <a:prstGeom prst="rect">
            <a:avLst/>
          </a:prstGeom>
          <a:noFill/>
        </p:spPr>
        <p:txBody>
          <a:bodyPr wrap="square" lIns="91440" tIns="45720" rIns="137160" bIns="45720" rtlCol="0" anchor="t">
            <a:spAutoFit/>
          </a:bodyPr>
          <a:lstStyle/>
          <a:p>
            <a:pPr lvl="0">
              <a:defRPr/>
            </a:pPr>
            <a:r>
              <a:rPr lang="en-US" sz="6600" b="1">
                <a:solidFill>
                  <a:schemeClr val="accent2"/>
                </a:solidFill>
              </a:rPr>
              <a:t>&gt;</a:t>
            </a:r>
            <a:r>
              <a:rPr kumimoji="0" lang="en-US" sz="6600" b="1" i="0" u="none" strike="noStrike" kern="1200" cap="none" spc="0" normalizeH="0" baseline="0" noProof="0">
                <a:ln>
                  <a:noFill/>
                </a:ln>
                <a:solidFill>
                  <a:schemeClr val="accent2"/>
                </a:solidFill>
                <a:effectLst/>
                <a:uLnTx/>
                <a:uFillTx/>
                <a:ea typeface="+mn-ea"/>
                <a:cs typeface="+mn-cs"/>
              </a:rPr>
              <a:t>60%</a:t>
            </a:r>
            <a:endParaRPr kumimoji="0" lang="en-US" sz="6600" b="1" i="0" u="none" strike="noStrike" kern="1200" cap="none" spc="0" normalizeH="0" baseline="30000" noProof="0">
              <a:ln>
                <a:noFill/>
              </a:ln>
              <a:solidFill>
                <a:schemeClr val="accent2"/>
              </a:solidFill>
              <a:effectLst/>
              <a:uLnTx/>
              <a:uFillTx/>
              <a:latin typeface="Segoe UI"/>
              <a:ea typeface="+mn-ea"/>
              <a:cs typeface="+mn-cs"/>
            </a:endParaRPr>
          </a:p>
        </p:txBody>
      </p:sp>
      <p:sp>
        <p:nvSpPr>
          <p:cNvPr id="53" name="Rectangle 52">
            <a:extLst>
              <a:ext uri="{FF2B5EF4-FFF2-40B4-BE49-F238E27FC236}">
                <a16:creationId xmlns:a16="http://schemas.microsoft.com/office/drawing/2014/main" id="{F0D8AACC-A1C7-4D6B-8A0D-231D13E2DCCD}"/>
              </a:ext>
            </a:extLst>
          </p:cNvPr>
          <p:cNvSpPr/>
          <p:nvPr/>
        </p:nvSpPr>
        <p:spPr>
          <a:xfrm>
            <a:off x="3413720" y="3763691"/>
            <a:ext cx="2421895" cy="1200329"/>
          </a:xfrm>
          <a:prstGeom prst="rect">
            <a:avLst/>
          </a:prstGeom>
          <a:noFill/>
        </p:spPr>
        <p:txBody>
          <a:bodyPr wrap="square" lIns="91440" tIns="45720" rIns="137160" bIns="45720" rtlCol="0">
            <a:spAutoFit/>
          </a:bodyPr>
          <a:lstStyle/>
          <a:p>
            <a:r>
              <a:rPr lang="en-US">
                <a:latin typeface="Segoe UI Semibold"/>
              </a:rPr>
              <a:t>of Azure marketplace images are Linux-based</a:t>
            </a:r>
          </a:p>
          <a:p>
            <a:endParaRPr lang="en-US">
              <a:latin typeface="Segoe UI Semibold"/>
            </a:endParaRPr>
          </a:p>
        </p:txBody>
      </p:sp>
      <p:sp>
        <p:nvSpPr>
          <p:cNvPr id="65" name="TextBox 64">
            <a:extLst>
              <a:ext uri="{FF2B5EF4-FFF2-40B4-BE49-F238E27FC236}">
                <a16:creationId xmlns:a16="http://schemas.microsoft.com/office/drawing/2014/main" id="{28C33269-60CF-47A2-B979-E12A9DB67546}"/>
              </a:ext>
            </a:extLst>
          </p:cNvPr>
          <p:cNvSpPr txBox="1"/>
          <p:nvPr/>
        </p:nvSpPr>
        <p:spPr>
          <a:xfrm>
            <a:off x="6456967" y="2729714"/>
            <a:ext cx="2547010" cy="1107996"/>
          </a:xfrm>
          <a:prstGeom prst="rect">
            <a:avLst/>
          </a:prstGeom>
          <a:noFill/>
        </p:spPr>
        <p:txBody>
          <a:bodyPr wrap="square" lIns="91440" tIns="45720" rIns="137160" bIns="45720" rtlCol="0" anchor="t">
            <a:spAutoFit/>
          </a:bodyPr>
          <a:lstStyle/>
          <a:p>
            <a:pPr lvl="0">
              <a:defRPr/>
            </a:pPr>
            <a:r>
              <a:rPr lang="en-US" sz="6600" b="1">
                <a:solidFill>
                  <a:schemeClr val="accent2"/>
                </a:solidFill>
              </a:rPr>
              <a:t>&gt;</a:t>
            </a:r>
            <a:r>
              <a:rPr kumimoji="0" lang="en-US" sz="6600" b="1" i="0" u="none" strike="noStrike" kern="1200" cap="none" spc="0" normalizeH="0" baseline="0" noProof="0">
                <a:ln>
                  <a:noFill/>
                </a:ln>
                <a:solidFill>
                  <a:schemeClr val="accent2"/>
                </a:solidFill>
                <a:effectLst/>
                <a:uLnTx/>
                <a:uFillTx/>
                <a:ea typeface="+mn-ea"/>
                <a:cs typeface="+mn-cs"/>
              </a:rPr>
              <a:t>47K</a:t>
            </a:r>
            <a:endParaRPr kumimoji="0" lang="en-US" sz="6600" b="1" i="0" u="none" strike="noStrike" kern="1200" cap="none" spc="0" normalizeH="0" baseline="30000" noProof="0">
              <a:ln>
                <a:noFill/>
              </a:ln>
              <a:solidFill>
                <a:schemeClr val="accent2"/>
              </a:solidFill>
              <a:effectLst/>
              <a:uLnTx/>
              <a:uFillTx/>
              <a:latin typeface="Segoe UI"/>
              <a:ea typeface="+mn-ea"/>
              <a:cs typeface="+mn-cs"/>
            </a:endParaRPr>
          </a:p>
        </p:txBody>
      </p:sp>
      <p:sp>
        <p:nvSpPr>
          <p:cNvPr id="68" name="Rectangle 67">
            <a:extLst>
              <a:ext uri="{FF2B5EF4-FFF2-40B4-BE49-F238E27FC236}">
                <a16:creationId xmlns:a16="http://schemas.microsoft.com/office/drawing/2014/main" id="{390AAE93-1DA1-4EB0-BA4F-F51BF575F13D}"/>
              </a:ext>
            </a:extLst>
          </p:cNvPr>
          <p:cNvSpPr/>
          <p:nvPr/>
        </p:nvSpPr>
        <p:spPr>
          <a:xfrm>
            <a:off x="6529288" y="3763691"/>
            <a:ext cx="2046832" cy="923330"/>
          </a:xfrm>
          <a:prstGeom prst="rect">
            <a:avLst/>
          </a:prstGeom>
          <a:noFill/>
        </p:spPr>
        <p:txBody>
          <a:bodyPr wrap="square" lIns="91440" tIns="45720" rIns="137160" bIns="45720" rtlCol="0">
            <a:spAutoFit/>
          </a:bodyPr>
          <a:lstStyle/>
          <a:p>
            <a:r>
              <a:rPr lang="en-US">
                <a:latin typeface="Segoe UI Semibold"/>
              </a:rPr>
              <a:t>customers using Azure open source databases </a:t>
            </a:r>
          </a:p>
        </p:txBody>
      </p:sp>
      <p:sp>
        <p:nvSpPr>
          <p:cNvPr id="75" name="TextBox 74">
            <a:extLst>
              <a:ext uri="{FF2B5EF4-FFF2-40B4-BE49-F238E27FC236}">
                <a16:creationId xmlns:a16="http://schemas.microsoft.com/office/drawing/2014/main" id="{1141CADA-9DDA-4139-855A-82817A2D5FA9}"/>
              </a:ext>
            </a:extLst>
          </p:cNvPr>
          <p:cNvSpPr txBox="1"/>
          <p:nvPr/>
        </p:nvSpPr>
        <p:spPr>
          <a:xfrm>
            <a:off x="9189882" y="2729714"/>
            <a:ext cx="3392190" cy="1107996"/>
          </a:xfrm>
          <a:prstGeom prst="rect">
            <a:avLst/>
          </a:prstGeom>
          <a:noFill/>
        </p:spPr>
        <p:txBody>
          <a:bodyPr wrap="square" lIns="91440" tIns="45720" rIns="137160" bIns="45720" rtlCol="0" anchor="t">
            <a:spAutoFit/>
          </a:bodyPr>
          <a:lstStyle/>
          <a:p>
            <a:pPr lvl="0">
              <a:defRPr/>
            </a:pPr>
            <a:r>
              <a:rPr lang="en-US" sz="6600" b="1">
                <a:solidFill>
                  <a:schemeClr val="accent2"/>
                </a:solidFill>
              </a:rPr>
              <a:t>&gt;</a:t>
            </a:r>
            <a:r>
              <a:rPr kumimoji="0" lang="en-US" sz="6600" b="1" i="0" u="none" strike="noStrike" kern="1200" cap="none" spc="0" normalizeH="0" baseline="0" noProof="0">
                <a:ln>
                  <a:noFill/>
                </a:ln>
                <a:solidFill>
                  <a:schemeClr val="accent2"/>
                </a:solidFill>
                <a:effectLst/>
                <a:uLnTx/>
                <a:uFillTx/>
                <a:ea typeface="+mn-ea"/>
                <a:cs typeface="+mn-cs"/>
              </a:rPr>
              <a:t>100K</a:t>
            </a:r>
            <a:endParaRPr kumimoji="0" lang="en-US" sz="6600" b="1" i="0" u="none" strike="noStrike" kern="1200" cap="none" spc="0" normalizeH="0" baseline="30000" noProof="0">
              <a:ln>
                <a:noFill/>
              </a:ln>
              <a:solidFill>
                <a:schemeClr val="accent2"/>
              </a:solidFill>
              <a:effectLst/>
              <a:uLnTx/>
              <a:uFillTx/>
              <a:latin typeface="Segoe UI"/>
              <a:ea typeface="+mn-ea"/>
              <a:cs typeface="+mn-cs"/>
            </a:endParaRPr>
          </a:p>
        </p:txBody>
      </p:sp>
      <p:sp>
        <p:nvSpPr>
          <p:cNvPr id="78" name="Rectangle 77">
            <a:extLst>
              <a:ext uri="{FF2B5EF4-FFF2-40B4-BE49-F238E27FC236}">
                <a16:creationId xmlns:a16="http://schemas.microsoft.com/office/drawing/2014/main" id="{4D1B4AD0-5F17-4E8F-8E58-81678E3D144F}"/>
              </a:ext>
            </a:extLst>
          </p:cNvPr>
          <p:cNvSpPr/>
          <p:nvPr/>
        </p:nvSpPr>
        <p:spPr>
          <a:xfrm>
            <a:off x="9262202" y="3763691"/>
            <a:ext cx="2473328" cy="1200329"/>
          </a:xfrm>
          <a:prstGeom prst="rect">
            <a:avLst/>
          </a:prstGeom>
          <a:noFill/>
        </p:spPr>
        <p:txBody>
          <a:bodyPr wrap="square" lIns="91440" tIns="45720" rIns="137160" bIns="45720" rtlCol="0">
            <a:spAutoFit/>
          </a:bodyPr>
          <a:lstStyle/>
          <a:p>
            <a:r>
              <a:rPr lang="en-US">
                <a:latin typeface="Segoe UI Semibold"/>
              </a:rPr>
              <a:t>Azure Data Studio instances with Azure open source database extensions</a:t>
            </a:r>
          </a:p>
        </p:txBody>
      </p:sp>
      <p:cxnSp>
        <p:nvCxnSpPr>
          <p:cNvPr id="24" name="Straight Connector 23">
            <a:extLst>
              <a:ext uri="{FF2B5EF4-FFF2-40B4-BE49-F238E27FC236}">
                <a16:creationId xmlns:a16="http://schemas.microsoft.com/office/drawing/2014/main" id="{920E0808-205E-4A30-93ED-01CD64175239}"/>
              </a:ext>
              <a:ext uri="{C183D7F6-B498-43B3-948B-1728B52AA6E4}">
                <adec:decorative xmlns:adec="http://schemas.microsoft.com/office/drawing/2017/decorative" val="1"/>
              </a:ext>
            </a:extLst>
          </p:cNvPr>
          <p:cNvCxnSpPr>
            <a:cxnSpLocks/>
          </p:cNvCxnSpPr>
          <p:nvPr/>
        </p:nvCxnSpPr>
        <p:spPr>
          <a:xfrm>
            <a:off x="3036115" y="2605258"/>
            <a:ext cx="0" cy="2464904"/>
          </a:xfrm>
          <a:prstGeom prst="line">
            <a:avLst/>
          </a:prstGeom>
          <a:ln w="952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B956D3B-2F20-4D4E-A6A1-0EE9F36F66D3}"/>
              </a:ext>
              <a:ext uri="{C183D7F6-B498-43B3-948B-1728B52AA6E4}">
                <adec:decorative xmlns:adec="http://schemas.microsoft.com/office/drawing/2017/decorative" val="1"/>
              </a:ext>
            </a:extLst>
          </p:cNvPr>
          <p:cNvCxnSpPr>
            <a:cxnSpLocks/>
          </p:cNvCxnSpPr>
          <p:nvPr/>
        </p:nvCxnSpPr>
        <p:spPr>
          <a:xfrm>
            <a:off x="6105318" y="2605258"/>
            <a:ext cx="0" cy="2464904"/>
          </a:xfrm>
          <a:prstGeom prst="line">
            <a:avLst/>
          </a:prstGeom>
          <a:ln w="952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B8120CDC-E392-460E-BC8F-567A12598D4A}"/>
              </a:ext>
              <a:ext uri="{C183D7F6-B498-43B3-948B-1728B52AA6E4}">
                <adec:decorative xmlns:adec="http://schemas.microsoft.com/office/drawing/2017/decorative" val="1"/>
              </a:ext>
            </a:extLst>
          </p:cNvPr>
          <p:cNvCxnSpPr>
            <a:cxnSpLocks/>
          </p:cNvCxnSpPr>
          <p:nvPr/>
        </p:nvCxnSpPr>
        <p:spPr>
          <a:xfrm>
            <a:off x="8920424" y="2605258"/>
            <a:ext cx="0" cy="2464904"/>
          </a:xfrm>
          <a:prstGeom prst="line">
            <a:avLst/>
          </a:prstGeom>
          <a:ln w="952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51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1C558-81DE-456C-84EB-6D21791ECC1D}"/>
              </a:ext>
            </a:extLst>
          </p:cNvPr>
          <p:cNvSpPr>
            <a:spLocks noGrp="1"/>
          </p:cNvSpPr>
          <p:nvPr>
            <p:ph type="title"/>
          </p:nvPr>
        </p:nvSpPr>
        <p:spPr/>
        <p:txBody>
          <a:bodyPr/>
          <a:lstStyle/>
          <a:p>
            <a:r>
              <a:rPr lang="en-US" dirty="0">
                <a:solidFill>
                  <a:schemeClr val="tx1"/>
                </a:solidFill>
              </a:rPr>
              <a:t>Azure </a:t>
            </a:r>
            <a:r>
              <a:rPr lang="en-US" altLang="zh-TW" dirty="0">
                <a:solidFill>
                  <a:schemeClr val="tx1"/>
                </a:solidFill>
              </a:rPr>
              <a:t>o</a:t>
            </a:r>
            <a:r>
              <a:rPr lang="en-US" dirty="0">
                <a:solidFill>
                  <a:schemeClr val="tx1"/>
                </a:solidFill>
              </a:rPr>
              <a:t>pen </a:t>
            </a:r>
            <a:r>
              <a:rPr lang="en-US" altLang="zh-TW" dirty="0">
                <a:solidFill>
                  <a:schemeClr val="tx1"/>
                </a:solidFill>
              </a:rPr>
              <a:t>s</a:t>
            </a:r>
            <a:r>
              <a:rPr lang="en-US" dirty="0">
                <a:solidFill>
                  <a:schemeClr val="tx1"/>
                </a:solidFill>
              </a:rPr>
              <a:t>ource </a:t>
            </a:r>
            <a:r>
              <a:rPr lang="en-US" altLang="zh-TW" dirty="0">
                <a:solidFill>
                  <a:schemeClr val="tx1"/>
                </a:solidFill>
              </a:rPr>
              <a:t>d</a:t>
            </a:r>
            <a:r>
              <a:rPr lang="en-US" dirty="0">
                <a:solidFill>
                  <a:schemeClr val="tx1"/>
                </a:solidFill>
              </a:rPr>
              <a:t>atabase services  </a:t>
            </a:r>
          </a:p>
        </p:txBody>
      </p:sp>
      <p:sp>
        <p:nvSpPr>
          <p:cNvPr id="98" name="Right Bracket 97">
            <a:extLst>
              <a:ext uri="{FF2B5EF4-FFF2-40B4-BE49-F238E27FC236}">
                <a16:creationId xmlns:a16="http://schemas.microsoft.com/office/drawing/2014/main" id="{BB99D132-4C22-4A7E-98CC-83A505366DA1}"/>
              </a:ext>
              <a:ext uri="{C183D7F6-B498-43B3-948B-1728B52AA6E4}">
                <adec:decorative xmlns:adec="http://schemas.microsoft.com/office/drawing/2017/decorative" val="1"/>
              </a:ext>
            </a:extLst>
          </p:cNvPr>
          <p:cNvSpPr/>
          <p:nvPr/>
        </p:nvSpPr>
        <p:spPr>
          <a:xfrm rot="5400000" flipV="1">
            <a:off x="6042240" y="-864402"/>
            <a:ext cx="128352" cy="10887802"/>
          </a:xfrm>
          <a:prstGeom prst="rightBracket">
            <a:avLst/>
          </a:prstGeom>
          <a:ln w="9525" cmpd="sng">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505050"/>
              </a:solidFill>
              <a:effectLst/>
              <a:uLnTx/>
              <a:uFillTx/>
              <a:latin typeface="Segoe UI"/>
              <a:ea typeface="+mn-ea"/>
              <a:cs typeface="+mn-cs"/>
            </a:endParaRPr>
          </a:p>
        </p:txBody>
      </p:sp>
      <p:grpSp>
        <p:nvGrpSpPr>
          <p:cNvPr id="3" name="Group 2" descr="Fully managed community databases. Minimal admin of MySQL, PostgreSQL, and MariaDB">
            <a:extLst>
              <a:ext uri="{FF2B5EF4-FFF2-40B4-BE49-F238E27FC236}">
                <a16:creationId xmlns:a16="http://schemas.microsoft.com/office/drawing/2014/main" id="{71270F04-B02C-47AD-B205-6C1FB8F5C9F3}"/>
              </a:ext>
            </a:extLst>
          </p:cNvPr>
          <p:cNvGrpSpPr/>
          <p:nvPr/>
        </p:nvGrpSpPr>
        <p:grpSpPr>
          <a:xfrm>
            <a:off x="702245" y="1739557"/>
            <a:ext cx="2665587" cy="2289501"/>
            <a:chOff x="702245" y="1739557"/>
            <a:chExt cx="2665587" cy="2289501"/>
          </a:xfrm>
        </p:grpSpPr>
        <p:sp>
          <p:nvSpPr>
            <p:cNvPr id="109" name="TextBox 108">
              <a:extLst>
                <a:ext uri="{FF2B5EF4-FFF2-40B4-BE49-F238E27FC236}">
                  <a16:creationId xmlns:a16="http://schemas.microsoft.com/office/drawing/2014/main" id="{63726793-4CC7-49C1-8B85-70B18D6F7D0B}"/>
                </a:ext>
              </a:extLst>
            </p:cNvPr>
            <p:cNvSpPr txBox="1"/>
            <p:nvPr/>
          </p:nvSpPr>
          <p:spPr>
            <a:xfrm>
              <a:off x="702245" y="2901317"/>
              <a:ext cx="2665587" cy="553998"/>
            </a:xfrm>
            <a:prstGeom prst="rect">
              <a:avLst/>
            </a:prstGeom>
            <a:noFill/>
          </p:spPr>
          <p:txBody>
            <a:bodyPr wrap="square" lIns="0" tIns="0" rIns="0" bIns="0" rtlCol="0">
              <a:spAutoFit/>
            </a:bodyPr>
            <a:lstStyle>
              <a:defPPr>
                <a:defRPr lang="en-US"/>
              </a:defPPr>
              <a:lvl1pPr>
                <a:defRPr>
                  <a:solidFill>
                    <a:srgbClr val="0078D4"/>
                  </a:solidFill>
                  <a:latin typeface="+mj-lt"/>
                  <a:cs typeface="Segoe UI"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2"/>
                  </a:solidFill>
                  <a:effectLst/>
                  <a:uLnTx/>
                  <a:uFillTx/>
                  <a:latin typeface="Segoe UI Semibold"/>
                  <a:ea typeface="+mn-ea"/>
                  <a:cs typeface="Segoe UI" pitchFamily="34" charset="0"/>
                </a:rPr>
                <a:t>Fully managed community databases</a:t>
              </a:r>
            </a:p>
          </p:txBody>
        </p:sp>
        <p:pic>
          <p:nvPicPr>
            <p:cNvPr id="113" name="Graphic 112">
              <a:extLst>
                <a:ext uri="{FF2B5EF4-FFF2-40B4-BE49-F238E27FC236}">
                  <a16:creationId xmlns:a16="http://schemas.microsoft.com/office/drawing/2014/main" id="{B0C54EBA-587B-4DD6-87AD-34771948EB5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77565" y="2235282"/>
              <a:ext cx="487547" cy="487547"/>
            </a:xfrm>
            <a:prstGeom prst="rect">
              <a:avLst/>
            </a:prstGeom>
          </p:spPr>
        </p:pic>
        <p:pic>
          <p:nvPicPr>
            <p:cNvPr id="114" name="Graphic 113">
              <a:extLst>
                <a:ext uri="{FF2B5EF4-FFF2-40B4-BE49-F238E27FC236}">
                  <a16:creationId xmlns:a16="http://schemas.microsoft.com/office/drawing/2014/main" id="{A4351D34-B204-4A43-9485-7A2F7C1D0E3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75710" y="2227104"/>
              <a:ext cx="487547" cy="487547"/>
            </a:xfrm>
            <a:prstGeom prst="rect">
              <a:avLst/>
            </a:prstGeom>
          </p:spPr>
        </p:pic>
        <p:pic>
          <p:nvPicPr>
            <p:cNvPr id="115" name="Graphic 114">
              <a:extLst>
                <a:ext uri="{FF2B5EF4-FFF2-40B4-BE49-F238E27FC236}">
                  <a16:creationId xmlns:a16="http://schemas.microsoft.com/office/drawing/2014/main" id="{7E6B8527-8EC2-4563-9C4B-3E5096479E8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84550" y="1739557"/>
              <a:ext cx="487547" cy="487547"/>
            </a:xfrm>
            <a:prstGeom prst="rect">
              <a:avLst/>
            </a:prstGeom>
          </p:spPr>
        </p:pic>
        <p:sp>
          <p:nvSpPr>
            <p:cNvPr id="127" name="TextBox 126">
              <a:extLst>
                <a:ext uri="{FF2B5EF4-FFF2-40B4-BE49-F238E27FC236}">
                  <a16:creationId xmlns:a16="http://schemas.microsoft.com/office/drawing/2014/main" id="{78AF8F03-2EE9-42F1-A40C-5F8F3D6B3157}"/>
                </a:ext>
              </a:extLst>
            </p:cNvPr>
            <p:cNvSpPr txBox="1"/>
            <p:nvPr/>
          </p:nvSpPr>
          <p:spPr>
            <a:xfrm>
              <a:off x="702245" y="3690504"/>
              <a:ext cx="2525117"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
                  <a:srgbClr val="0078D4"/>
                </a:buClr>
                <a:buSzTx/>
                <a:buFontTx/>
                <a:buNone/>
                <a:tabLst/>
                <a:defRPr/>
              </a:pPr>
              <a:r>
                <a:rPr kumimoji="0" lang="en-US" sz="1100" b="0" i="0" u="none" strike="noStrike" kern="0" cap="none" spc="0" normalizeH="0" baseline="0" noProof="0" dirty="0">
                  <a:ln>
                    <a:noFill/>
                  </a:ln>
                  <a:effectLst/>
                  <a:uLnTx/>
                  <a:uFillTx/>
                  <a:latin typeface="Segoe UI"/>
                  <a:ea typeface="+mn-ea"/>
                  <a:cs typeface="+mn-cs"/>
                </a:rPr>
                <a:t>Minimal admin of MySQL, PostgreSQL, and MariaDB</a:t>
              </a:r>
            </a:p>
          </p:txBody>
        </p:sp>
      </p:grpSp>
      <p:grpSp>
        <p:nvGrpSpPr>
          <p:cNvPr id="4" name="Group 3" descr="Best total cost of ownership. Built-in high availability for lower operating costs .">
            <a:extLst>
              <a:ext uri="{FF2B5EF4-FFF2-40B4-BE49-F238E27FC236}">
                <a16:creationId xmlns:a16="http://schemas.microsoft.com/office/drawing/2014/main" id="{351F42FE-4ECE-41E4-AFAB-5F8996ED95D7}"/>
              </a:ext>
            </a:extLst>
          </p:cNvPr>
          <p:cNvGrpSpPr/>
          <p:nvPr/>
        </p:nvGrpSpPr>
        <p:grpSpPr>
          <a:xfrm>
            <a:off x="3607232" y="1821463"/>
            <a:ext cx="2224496" cy="2207595"/>
            <a:chOff x="3607232" y="1821463"/>
            <a:chExt cx="2224496" cy="2207595"/>
          </a:xfrm>
        </p:grpSpPr>
        <p:grpSp>
          <p:nvGrpSpPr>
            <p:cNvPr id="76" name="Group 75">
              <a:extLst>
                <a:ext uri="{FF2B5EF4-FFF2-40B4-BE49-F238E27FC236}">
                  <a16:creationId xmlns:a16="http://schemas.microsoft.com/office/drawing/2014/main" id="{8591BCC4-C825-42DA-9E16-8D1095842D22}"/>
                </a:ext>
                <a:ext uri="{C183D7F6-B498-43B3-948B-1728B52AA6E4}">
                  <adec:decorative xmlns:adec="http://schemas.microsoft.com/office/drawing/2017/decorative" val="1"/>
                </a:ext>
              </a:extLst>
            </p:cNvPr>
            <p:cNvGrpSpPr/>
            <p:nvPr/>
          </p:nvGrpSpPr>
          <p:grpSpPr>
            <a:xfrm rot="2740692">
              <a:off x="4256196" y="1744649"/>
              <a:ext cx="954884" cy="1108511"/>
              <a:chOff x="4972406" y="5350247"/>
              <a:chExt cx="570147" cy="661875"/>
            </a:xfrm>
          </p:grpSpPr>
          <p:sp>
            <p:nvSpPr>
              <p:cNvPr id="77" name="Rectangle 76">
                <a:extLst>
                  <a:ext uri="{FF2B5EF4-FFF2-40B4-BE49-F238E27FC236}">
                    <a16:creationId xmlns:a16="http://schemas.microsoft.com/office/drawing/2014/main" id="{A9D768E8-E435-4ACB-8CB8-4941351B478E}"/>
                  </a:ext>
                </a:extLst>
              </p:cNvPr>
              <p:cNvSpPr/>
              <p:nvPr/>
            </p:nvSpPr>
            <p:spPr>
              <a:xfrm rot="18000000">
                <a:off x="4991265" y="5570425"/>
                <a:ext cx="556178" cy="230415"/>
              </a:xfrm>
              <a:prstGeom prst="rect">
                <a:avLst/>
              </a:prstGeom>
              <a:solidFill>
                <a:schemeClr val="accent2"/>
              </a:solidFill>
              <a:ln w="6747"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Freeform: Shape 86">
                <a:extLst>
                  <a:ext uri="{FF2B5EF4-FFF2-40B4-BE49-F238E27FC236}">
                    <a16:creationId xmlns:a16="http://schemas.microsoft.com/office/drawing/2014/main" id="{9BB14EE2-1F45-4EC1-B9FD-0111C6B1856A}"/>
                  </a:ext>
                </a:extLst>
              </p:cNvPr>
              <p:cNvSpPr/>
              <p:nvPr/>
            </p:nvSpPr>
            <p:spPr>
              <a:xfrm rot="18000000">
                <a:off x="4849296" y="5505564"/>
                <a:ext cx="396690" cy="150469"/>
              </a:xfrm>
              <a:custGeom>
                <a:avLst/>
                <a:gdLst>
                  <a:gd name="connsiteX0" fmla="*/ 349027 w 403529"/>
                  <a:gd name="connsiteY0" fmla="*/ 57665 h 157308"/>
                  <a:gd name="connsiteX1" fmla="*/ 359286 w 403529"/>
                  <a:gd name="connsiteY1" fmla="*/ 83655 h 157308"/>
                  <a:gd name="connsiteX2" fmla="*/ 400323 w 403529"/>
                  <a:gd name="connsiteY2" fmla="*/ 75448 h 157308"/>
                  <a:gd name="connsiteX3" fmla="*/ 371597 w 403529"/>
                  <a:gd name="connsiteY3" fmla="*/ 3633 h 157308"/>
                  <a:gd name="connsiteX4" fmla="*/ 3633 w 403529"/>
                  <a:gd name="connsiteY4" fmla="*/ 154102 h 157308"/>
                  <a:gd name="connsiteX5" fmla="*/ 214289 w 403529"/>
                  <a:gd name="connsiteY5" fmla="*/ 112381 h 157308"/>
                  <a:gd name="connsiteX0" fmla="*/ 210656 w 396690"/>
                  <a:gd name="connsiteY0" fmla="*/ 108748 h 150469"/>
                  <a:gd name="connsiteX1" fmla="*/ 355653 w 396690"/>
                  <a:gd name="connsiteY1" fmla="*/ 80022 h 150469"/>
                  <a:gd name="connsiteX2" fmla="*/ 396690 w 396690"/>
                  <a:gd name="connsiteY2" fmla="*/ 71815 h 150469"/>
                  <a:gd name="connsiteX3" fmla="*/ 367964 w 396690"/>
                  <a:gd name="connsiteY3" fmla="*/ 0 h 150469"/>
                  <a:gd name="connsiteX4" fmla="*/ 0 w 396690"/>
                  <a:gd name="connsiteY4" fmla="*/ 150469 h 150469"/>
                  <a:gd name="connsiteX5" fmla="*/ 210656 w 396690"/>
                  <a:gd name="connsiteY5" fmla="*/ 108748 h 150469"/>
                  <a:gd name="connsiteX0" fmla="*/ 0 w 396690"/>
                  <a:gd name="connsiteY0" fmla="*/ 150469 h 150469"/>
                  <a:gd name="connsiteX1" fmla="*/ 355653 w 396690"/>
                  <a:gd name="connsiteY1" fmla="*/ 80022 h 150469"/>
                  <a:gd name="connsiteX2" fmla="*/ 396690 w 396690"/>
                  <a:gd name="connsiteY2" fmla="*/ 71815 h 150469"/>
                  <a:gd name="connsiteX3" fmla="*/ 367964 w 396690"/>
                  <a:gd name="connsiteY3" fmla="*/ 0 h 150469"/>
                  <a:gd name="connsiteX4" fmla="*/ 0 w 396690"/>
                  <a:gd name="connsiteY4" fmla="*/ 150469 h 150469"/>
                  <a:gd name="connsiteX0" fmla="*/ 0 w 396690"/>
                  <a:gd name="connsiteY0" fmla="*/ 150469 h 150469"/>
                  <a:gd name="connsiteX1" fmla="*/ 396690 w 396690"/>
                  <a:gd name="connsiteY1" fmla="*/ 71815 h 150469"/>
                  <a:gd name="connsiteX2" fmla="*/ 367964 w 396690"/>
                  <a:gd name="connsiteY2" fmla="*/ 0 h 150469"/>
                  <a:gd name="connsiteX3" fmla="*/ 0 w 396690"/>
                  <a:gd name="connsiteY3" fmla="*/ 150469 h 150469"/>
                </a:gdLst>
                <a:ahLst/>
                <a:cxnLst>
                  <a:cxn ang="0">
                    <a:pos x="connsiteX0" y="connsiteY0"/>
                  </a:cxn>
                  <a:cxn ang="0">
                    <a:pos x="connsiteX1" y="connsiteY1"/>
                  </a:cxn>
                  <a:cxn ang="0">
                    <a:pos x="connsiteX2" y="connsiteY2"/>
                  </a:cxn>
                  <a:cxn ang="0">
                    <a:pos x="connsiteX3" y="connsiteY3"/>
                  </a:cxn>
                </a:cxnLst>
                <a:rect l="l" t="t" r="r" b="b"/>
                <a:pathLst>
                  <a:path w="396690" h="150469">
                    <a:moveTo>
                      <a:pt x="0" y="150469"/>
                    </a:moveTo>
                    <a:lnTo>
                      <a:pt x="396690" y="71815"/>
                    </a:lnTo>
                    <a:lnTo>
                      <a:pt x="367964" y="0"/>
                    </a:lnTo>
                    <a:lnTo>
                      <a:pt x="0" y="150469"/>
                    </a:lnTo>
                    <a:close/>
                  </a:path>
                </a:pathLst>
              </a:custGeom>
              <a:solidFill>
                <a:schemeClr val="tx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Freeform: Shape 87">
                <a:extLst>
                  <a:ext uri="{FF2B5EF4-FFF2-40B4-BE49-F238E27FC236}">
                    <a16:creationId xmlns:a16="http://schemas.microsoft.com/office/drawing/2014/main" id="{B3B83C15-2B5E-4190-BFFA-3AC145FBD34E}"/>
                  </a:ext>
                </a:extLst>
              </p:cNvPr>
              <p:cNvSpPr/>
              <p:nvPr/>
            </p:nvSpPr>
            <p:spPr>
              <a:xfrm rot="18000000">
                <a:off x="4949313" y="5497638"/>
                <a:ext cx="364546" cy="69763"/>
              </a:xfrm>
              <a:custGeom>
                <a:avLst/>
                <a:gdLst>
                  <a:gd name="connsiteX0" fmla="*/ 213605 w 369331"/>
                  <a:gd name="connsiteY0" fmla="*/ 73396 h 75234"/>
                  <a:gd name="connsiteX1" fmla="*/ 321669 w 369331"/>
                  <a:gd name="connsiteY1" fmla="*/ 52194 h 75234"/>
                  <a:gd name="connsiteX2" fmla="*/ 326457 w 369331"/>
                  <a:gd name="connsiteY2" fmla="*/ 73396 h 75234"/>
                  <a:gd name="connsiteX3" fmla="*/ 368178 w 369331"/>
                  <a:gd name="connsiteY3" fmla="*/ 73396 h 75234"/>
                  <a:gd name="connsiteX4" fmla="*/ 354499 w 369331"/>
                  <a:gd name="connsiteY4" fmla="*/ 3633 h 75234"/>
                  <a:gd name="connsiteX5" fmla="*/ 3633 w 369331"/>
                  <a:gd name="connsiteY5" fmla="*/ 73396 h 75234"/>
                  <a:gd name="connsiteX0" fmla="*/ 209972 w 364545"/>
                  <a:gd name="connsiteY0" fmla="*/ 69763 h 69763"/>
                  <a:gd name="connsiteX1" fmla="*/ 322824 w 364545"/>
                  <a:gd name="connsiteY1" fmla="*/ 69763 h 69763"/>
                  <a:gd name="connsiteX2" fmla="*/ 364545 w 364545"/>
                  <a:gd name="connsiteY2" fmla="*/ 69763 h 69763"/>
                  <a:gd name="connsiteX3" fmla="*/ 350866 w 364545"/>
                  <a:gd name="connsiteY3" fmla="*/ 0 h 69763"/>
                  <a:gd name="connsiteX4" fmla="*/ 0 w 364545"/>
                  <a:gd name="connsiteY4" fmla="*/ 69763 h 69763"/>
                  <a:gd name="connsiteX5" fmla="*/ 209972 w 364545"/>
                  <a:gd name="connsiteY5" fmla="*/ 69763 h 69763"/>
                  <a:gd name="connsiteX0" fmla="*/ 209972 w 364545"/>
                  <a:gd name="connsiteY0" fmla="*/ 69763 h 69763"/>
                  <a:gd name="connsiteX1" fmla="*/ 364545 w 364545"/>
                  <a:gd name="connsiteY1" fmla="*/ 69763 h 69763"/>
                  <a:gd name="connsiteX2" fmla="*/ 350866 w 364545"/>
                  <a:gd name="connsiteY2" fmla="*/ 0 h 69763"/>
                  <a:gd name="connsiteX3" fmla="*/ 0 w 364545"/>
                  <a:gd name="connsiteY3" fmla="*/ 69763 h 69763"/>
                  <a:gd name="connsiteX4" fmla="*/ 209972 w 364545"/>
                  <a:gd name="connsiteY4" fmla="*/ 69763 h 69763"/>
                  <a:gd name="connsiteX0" fmla="*/ 0 w 364545"/>
                  <a:gd name="connsiteY0" fmla="*/ 69763 h 69763"/>
                  <a:gd name="connsiteX1" fmla="*/ 364545 w 364545"/>
                  <a:gd name="connsiteY1" fmla="*/ 69763 h 69763"/>
                  <a:gd name="connsiteX2" fmla="*/ 350866 w 364545"/>
                  <a:gd name="connsiteY2" fmla="*/ 0 h 69763"/>
                  <a:gd name="connsiteX3" fmla="*/ 0 w 364545"/>
                  <a:gd name="connsiteY3" fmla="*/ 69763 h 69763"/>
                </a:gdLst>
                <a:ahLst/>
                <a:cxnLst>
                  <a:cxn ang="0">
                    <a:pos x="connsiteX0" y="connsiteY0"/>
                  </a:cxn>
                  <a:cxn ang="0">
                    <a:pos x="connsiteX1" y="connsiteY1"/>
                  </a:cxn>
                  <a:cxn ang="0">
                    <a:pos x="connsiteX2" y="connsiteY2"/>
                  </a:cxn>
                  <a:cxn ang="0">
                    <a:pos x="connsiteX3" y="connsiteY3"/>
                  </a:cxn>
                </a:cxnLst>
                <a:rect l="l" t="t" r="r" b="b"/>
                <a:pathLst>
                  <a:path w="364545" h="69763">
                    <a:moveTo>
                      <a:pt x="0" y="69763"/>
                    </a:moveTo>
                    <a:lnTo>
                      <a:pt x="364545" y="69763"/>
                    </a:lnTo>
                    <a:lnTo>
                      <a:pt x="350866" y="0"/>
                    </a:lnTo>
                    <a:lnTo>
                      <a:pt x="0" y="69763"/>
                    </a:lnTo>
                    <a:close/>
                  </a:path>
                </a:pathLst>
              </a:custGeom>
              <a:solidFill>
                <a:schemeClr val="tx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Freeform: Shape 88">
                <a:extLst>
                  <a:ext uri="{FF2B5EF4-FFF2-40B4-BE49-F238E27FC236}">
                    <a16:creationId xmlns:a16="http://schemas.microsoft.com/office/drawing/2014/main" id="{EC0736D7-C8CC-48CE-8FA4-5546F0D61089}"/>
                  </a:ext>
                </a:extLst>
              </p:cNvPr>
              <p:cNvSpPr/>
              <p:nvPr/>
            </p:nvSpPr>
            <p:spPr bwMode="auto">
              <a:xfrm>
                <a:off x="5004687" y="5354091"/>
                <a:ext cx="537866" cy="658031"/>
              </a:xfrm>
              <a:custGeom>
                <a:avLst/>
                <a:gdLst>
                  <a:gd name="connsiteX0" fmla="*/ 300938 w 537866"/>
                  <a:gd name="connsiteY0" fmla="*/ 0 h 658031"/>
                  <a:gd name="connsiteX1" fmla="*/ 537866 w 537866"/>
                  <a:gd name="connsiteY1" fmla="*/ 136791 h 658031"/>
                  <a:gd name="connsiteX2" fmla="*/ 236928 w 537866"/>
                  <a:gd name="connsiteY2" fmla="*/ 658031 h 658031"/>
                  <a:gd name="connsiteX3" fmla="*/ 0 w 537866"/>
                  <a:gd name="connsiteY3" fmla="*/ 521240 h 658031"/>
                  <a:gd name="connsiteX4" fmla="*/ 300938 w 537866"/>
                  <a:gd name="connsiteY4" fmla="*/ 0 h 658031"/>
                  <a:gd name="connsiteX5" fmla="*/ 333728 w 537866"/>
                  <a:gd name="connsiteY5" fmla="*/ 66317 h 658031"/>
                  <a:gd name="connsiteX6" fmla="*/ 305699 w 537866"/>
                  <a:gd name="connsiteY6" fmla="*/ 73828 h 658031"/>
                  <a:gd name="connsiteX7" fmla="*/ 69736 w 537866"/>
                  <a:gd name="connsiteY7" fmla="*/ 482527 h 658031"/>
                  <a:gd name="connsiteX8" fmla="*/ 79750 w 537866"/>
                  <a:gd name="connsiteY8" fmla="*/ 519899 h 658031"/>
                  <a:gd name="connsiteX9" fmla="*/ 198214 w 537866"/>
                  <a:gd name="connsiteY9" fmla="*/ 588294 h 658031"/>
                  <a:gd name="connsiteX10" fmla="*/ 235586 w 537866"/>
                  <a:gd name="connsiteY10" fmla="*/ 578280 h 658031"/>
                  <a:gd name="connsiteX11" fmla="*/ 471548 w 537866"/>
                  <a:gd name="connsiteY11" fmla="*/ 169581 h 658031"/>
                  <a:gd name="connsiteX12" fmla="*/ 464038 w 537866"/>
                  <a:gd name="connsiteY12" fmla="*/ 141552 h 658031"/>
                  <a:gd name="connsiteX13" fmla="*/ 333728 w 537866"/>
                  <a:gd name="connsiteY13" fmla="*/ 66317 h 658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7866" h="658031">
                    <a:moveTo>
                      <a:pt x="300938" y="0"/>
                    </a:moveTo>
                    <a:lnTo>
                      <a:pt x="537866" y="136791"/>
                    </a:lnTo>
                    <a:lnTo>
                      <a:pt x="236928" y="658031"/>
                    </a:lnTo>
                    <a:lnTo>
                      <a:pt x="0" y="521240"/>
                    </a:lnTo>
                    <a:lnTo>
                      <a:pt x="300938" y="0"/>
                    </a:lnTo>
                    <a:close/>
                    <a:moveTo>
                      <a:pt x="333728" y="66317"/>
                    </a:moveTo>
                    <a:lnTo>
                      <a:pt x="305699" y="73828"/>
                    </a:lnTo>
                    <a:lnTo>
                      <a:pt x="69736" y="482527"/>
                    </a:lnTo>
                    <a:lnTo>
                      <a:pt x="79750" y="519899"/>
                    </a:lnTo>
                    <a:lnTo>
                      <a:pt x="198214" y="588294"/>
                    </a:lnTo>
                    <a:lnTo>
                      <a:pt x="235586" y="578280"/>
                    </a:lnTo>
                    <a:lnTo>
                      <a:pt x="471548" y="169581"/>
                    </a:lnTo>
                    <a:lnTo>
                      <a:pt x="464038" y="141552"/>
                    </a:lnTo>
                    <a:lnTo>
                      <a:pt x="333728" y="66317"/>
                    </a:lnTo>
                    <a:close/>
                  </a:path>
                </a:pathLst>
              </a:custGeom>
              <a:solidFill>
                <a:srgbClr val="0078D4"/>
              </a:solidFill>
              <a:ln w="12700" cap="rnd">
                <a:noFill/>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ea typeface="Arial" charset="0"/>
                  <a:cs typeface="Arial" charset="0"/>
                </a:endParaRPr>
              </a:p>
            </p:txBody>
          </p:sp>
          <p:sp>
            <p:nvSpPr>
              <p:cNvPr id="81" name="Freeform: Shape 89">
                <a:extLst>
                  <a:ext uri="{FF2B5EF4-FFF2-40B4-BE49-F238E27FC236}">
                    <a16:creationId xmlns:a16="http://schemas.microsoft.com/office/drawing/2014/main" id="{632406D5-796F-4A85-BD99-C31A2667FDB0}"/>
                  </a:ext>
                </a:extLst>
              </p:cNvPr>
              <p:cNvSpPr/>
              <p:nvPr/>
            </p:nvSpPr>
            <p:spPr bwMode="auto">
              <a:xfrm>
                <a:off x="5069908" y="5368909"/>
                <a:ext cx="182273" cy="338741"/>
              </a:xfrm>
              <a:custGeom>
                <a:avLst/>
                <a:gdLst>
                  <a:gd name="connsiteX0" fmla="*/ 115017 w 182273"/>
                  <a:gd name="connsiteY0" fmla="*/ 0 h 338741"/>
                  <a:gd name="connsiteX1" fmla="*/ 182273 w 182273"/>
                  <a:gd name="connsiteY1" fmla="*/ 23035 h 338741"/>
                  <a:gd name="connsiteX2" fmla="*/ 161413 w 182273"/>
                  <a:gd name="connsiteY2" fmla="*/ 59166 h 338741"/>
                  <a:gd name="connsiteX3" fmla="*/ 140657 w 182273"/>
                  <a:gd name="connsiteY3" fmla="*/ 52712 h 338741"/>
                  <a:gd name="connsiteX4" fmla="*/ 104987 w 182273"/>
                  <a:gd name="connsiteY4" fmla="*/ 156899 h 338741"/>
                  <a:gd name="connsiteX5" fmla="*/ 0 w 182273"/>
                  <a:gd name="connsiteY5" fmla="*/ 338741 h 338741"/>
                  <a:gd name="connsiteX6" fmla="*/ 115017 w 182273"/>
                  <a:gd name="connsiteY6" fmla="*/ 0 h 33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273" h="338741">
                    <a:moveTo>
                      <a:pt x="115017" y="0"/>
                    </a:moveTo>
                    <a:lnTo>
                      <a:pt x="182273" y="23035"/>
                    </a:lnTo>
                    <a:lnTo>
                      <a:pt x="161413" y="59166"/>
                    </a:lnTo>
                    <a:lnTo>
                      <a:pt x="140657" y="52712"/>
                    </a:lnTo>
                    <a:lnTo>
                      <a:pt x="104987" y="156899"/>
                    </a:lnTo>
                    <a:lnTo>
                      <a:pt x="0" y="338741"/>
                    </a:lnTo>
                    <a:lnTo>
                      <a:pt x="115017" y="0"/>
                    </a:lnTo>
                    <a:close/>
                  </a:path>
                </a:pathLst>
              </a:custGeom>
              <a:solidFill>
                <a:srgbClr val="0078D4"/>
              </a:solidFill>
              <a:ln w="12700" cap="rnd">
                <a:noFill/>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ea typeface="Arial" charset="0"/>
                  <a:cs typeface="Arial" charset="0"/>
                </a:endParaRPr>
              </a:p>
            </p:txBody>
          </p:sp>
          <p:sp>
            <p:nvSpPr>
              <p:cNvPr id="82" name="Freeform: Shape 90">
                <a:extLst>
                  <a:ext uri="{FF2B5EF4-FFF2-40B4-BE49-F238E27FC236}">
                    <a16:creationId xmlns:a16="http://schemas.microsoft.com/office/drawing/2014/main" id="{29C57F04-7261-4A60-AFF0-DC5E8D3346B6}"/>
                  </a:ext>
                </a:extLst>
              </p:cNvPr>
              <p:cNvSpPr/>
              <p:nvPr/>
            </p:nvSpPr>
            <p:spPr bwMode="auto">
              <a:xfrm>
                <a:off x="5012873" y="5396123"/>
                <a:ext cx="130229" cy="393901"/>
              </a:xfrm>
              <a:custGeom>
                <a:avLst/>
                <a:gdLst>
                  <a:gd name="connsiteX0" fmla="*/ 53672 w 130229"/>
                  <a:gd name="connsiteY0" fmla="*/ 0 h 393901"/>
                  <a:gd name="connsiteX1" fmla="*/ 130229 w 130229"/>
                  <a:gd name="connsiteY1" fmla="*/ 11031 h 393901"/>
                  <a:gd name="connsiteX2" fmla="*/ 116817 w 130229"/>
                  <a:gd name="connsiteY2" fmla="*/ 50673 h 393901"/>
                  <a:gd name="connsiteX3" fmla="*/ 89180 w 130229"/>
                  <a:gd name="connsiteY3" fmla="*/ 46563 h 393901"/>
                  <a:gd name="connsiteX4" fmla="*/ 69196 w 130229"/>
                  <a:gd name="connsiteY4" fmla="*/ 190607 h 393901"/>
                  <a:gd name="connsiteX5" fmla="*/ 0 w 130229"/>
                  <a:gd name="connsiteY5" fmla="*/ 393901 h 393901"/>
                  <a:gd name="connsiteX6" fmla="*/ 53672 w 130229"/>
                  <a:gd name="connsiteY6" fmla="*/ 0 h 39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229" h="393901">
                    <a:moveTo>
                      <a:pt x="53672" y="0"/>
                    </a:moveTo>
                    <a:lnTo>
                      <a:pt x="130229" y="11031"/>
                    </a:lnTo>
                    <a:lnTo>
                      <a:pt x="116817" y="50673"/>
                    </a:lnTo>
                    <a:lnTo>
                      <a:pt x="89180" y="46563"/>
                    </a:lnTo>
                    <a:lnTo>
                      <a:pt x="69196" y="190607"/>
                    </a:lnTo>
                    <a:lnTo>
                      <a:pt x="0" y="393901"/>
                    </a:lnTo>
                    <a:lnTo>
                      <a:pt x="53672" y="0"/>
                    </a:lnTo>
                    <a:close/>
                  </a:path>
                </a:pathLst>
              </a:custGeom>
              <a:solidFill>
                <a:srgbClr val="0078D4"/>
              </a:solidFill>
              <a:ln w="12700" cap="rnd">
                <a:noFill/>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ea typeface="Arial" charset="0"/>
                  <a:cs typeface="Arial" charset="0"/>
                </a:endParaRPr>
              </a:p>
            </p:txBody>
          </p:sp>
          <p:sp>
            <p:nvSpPr>
              <p:cNvPr id="83" name="Freeform: Shape 91">
                <a:extLst>
                  <a:ext uri="{FF2B5EF4-FFF2-40B4-BE49-F238E27FC236}">
                    <a16:creationId xmlns:a16="http://schemas.microsoft.com/office/drawing/2014/main" id="{0771309D-5FB6-4789-9AC8-7BAE19A60A66}"/>
                  </a:ext>
                </a:extLst>
              </p:cNvPr>
              <p:cNvSpPr/>
              <p:nvPr/>
            </p:nvSpPr>
            <p:spPr bwMode="auto">
              <a:xfrm>
                <a:off x="5338590" y="5514504"/>
                <a:ext cx="41044" cy="41044"/>
              </a:xfrm>
              <a:custGeom>
                <a:avLst/>
                <a:gdLst>
                  <a:gd name="connsiteX0" fmla="*/ 15212 w 41044"/>
                  <a:gd name="connsiteY0" fmla="*/ 703 h 41044"/>
                  <a:gd name="connsiteX1" fmla="*/ 30782 w 41044"/>
                  <a:gd name="connsiteY1" fmla="*/ 2753 h 41044"/>
                  <a:gd name="connsiteX2" fmla="*/ 38292 w 41044"/>
                  <a:gd name="connsiteY2" fmla="*/ 30781 h 41044"/>
                  <a:gd name="connsiteX3" fmla="*/ 10263 w 41044"/>
                  <a:gd name="connsiteY3" fmla="*/ 38292 h 41044"/>
                  <a:gd name="connsiteX4" fmla="*/ 2753 w 41044"/>
                  <a:gd name="connsiteY4" fmla="*/ 10262 h 41044"/>
                  <a:gd name="connsiteX5" fmla="*/ 15212 w 41044"/>
                  <a:gd name="connsiteY5" fmla="*/ 703 h 4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44" h="41044">
                    <a:moveTo>
                      <a:pt x="15212" y="703"/>
                    </a:moveTo>
                    <a:cubicBezTo>
                      <a:pt x="20284" y="-656"/>
                      <a:pt x="25875" y="-80"/>
                      <a:pt x="30782" y="2753"/>
                    </a:cubicBezTo>
                    <a:cubicBezTo>
                      <a:pt x="40595" y="8419"/>
                      <a:pt x="43958" y="20967"/>
                      <a:pt x="38292" y="30781"/>
                    </a:cubicBezTo>
                    <a:cubicBezTo>
                      <a:pt x="32626" y="40595"/>
                      <a:pt x="20077" y="43958"/>
                      <a:pt x="10263" y="38292"/>
                    </a:cubicBezTo>
                    <a:cubicBezTo>
                      <a:pt x="449" y="32626"/>
                      <a:pt x="-2913" y="20076"/>
                      <a:pt x="2753" y="10262"/>
                    </a:cubicBezTo>
                    <a:cubicBezTo>
                      <a:pt x="5586" y="5356"/>
                      <a:pt x="10140" y="2062"/>
                      <a:pt x="15212" y="703"/>
                    </a:cubicBezTo>
                    <a:close/>
                  </a:path>
                </a:pathLst>
              </a:custGeom>
              <a:solidFill>
                <a:schemeClr val="tx2"/>
              </a:solidFill>
              <a:ln w="12700" cap="rnd">
                <a:noFill/>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ea typeface="Arial" charset="0"/>
                  <a:cs typeface="Arial" charset="0"/>
                </a:endParaRPr>
              </a:p>
            </p:txBody>
          </p:sp>
          <p:sp>
            <p:nvSpPr>
              <p:cNvPr id="84" name="Freeform: Shape 92">
                <a:extLst>
                  <a:ext uri="{FF2B5EF4-FFF2-40B4-BE49-F238E27FC236}">
                    <a16:creationId xmlns:a16="http://schemas.microsoft.com/office/drawing/2014/main" id="{D71E4948-E4ED-4636-B185-567A1B8A5C30}"/>
                  </a:ext>
                </a:extLst>
              </p:cNvPr>
              <p:cNvSpPr/>
              <p:nvPr/>
            </p:nvSpPr>
            <p:spPr bwMode="auto">
              <a:xfrm>
                <a:off x="5208358" y="5624665"/>
                <a:ext cx="130520" cy="116881"/>
              </a:xfrm>
              <a:custGeom>
                <a:avLst/>
                <a:gdLst>
                  <a:gd name="connsiteX0" fmla="*/ 42722 w 130520"/>
                  <a:gd name="connsiteY0" fmla="*/ 753 h 116881"/>
                  <a:gd name="connsiteX1" fmla="*/ 92618 w 130520"/>
                  <a:gd name="connsiteY1" fmla="*/ 11055 h 116881"/>
                  <a:gd name="connsiteX2" fmla="*/ 124492 w 130520"/>
                  <a:gd name="connsiteY2" fmla="*/ 92638 h 116881"/>
                  <a:gd name="connsiteX3" fmla="*/ 37902 w 130520"/>
                  <a:gd name="connsiteY3" fmla="*/ 105826 h 116881"/>
                  <a:gd name="connsiteX4" fmla="*/ 6029 w 130520"/>
                  <a:gd name="connsiteY4" fmla="*/ 24243 h 116881"/>
                  <a:gd name="connsiteX5" fmla="*/ 42722 w 130520"/>
                  <a:gd name="connsiteY5" fmla="*/ 753 h 11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20" h="116881">
                    <a:moveTo>
                      <a:pt x="42722" y="753"/>
                    </a:moveTo>
                    <a:cubicBezTo>
                      <a:pt x="58392" y="-1633"/>
                      <a:pt x="76262" y="1612"/>
                      <a:pt x="92618" y="11055"/>
                    </a:cubicBezTo>
                    <a:cubicBezTo>
                      <a:pt x="125332" y="29942"/>
                      <a:pt x="139602" y="66468"/>
                      <a:pt x="124492" y="92638"/>
                    </a:cubicBezTo>
                    <a:cubicBezTo>
                      <a:pt x="109383" y="118808"/>
                      <a:pt x="70616" y="124713"/>
                      <a:pt x="37902" y="105826"/>
                    </a:cubicBezTo>
                    <a:cubicBezTo>
                      <a:pt x="5190" y="86940"/>
                      <a:pt x="-9080" y="50413"/>
                      <a:pt x="6029" y="24243"/>
                    </a:cubicBezTo>
                    <a:cubicBezTo>
                      <a:pt x="13584" y="11158"/>
                      <a:pt x="27053" y="3140"/>
                      <a:pt x="42722" y="753"/>
                    </a:cubicBezTo>
                    <a:close/>
                  </a:path>
                </a:pathLst>
              </a:custGeom>
              <a:solidFill>
                <a:schemeClr val="tx2"/>
              </a:solidFill>
              <a:ln w="12700" cap="rnd">
                <a:noFill/>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ea typeface="Arial" charset="0"/>
                  <a:cs typeface="Arial" charset="0"/>
                </a:endParaRPr>
              </a:p>
            </p:txBody>
          </p:sp>
          <p:sp>
            <p:nvSpPr>
              <p:cNvPr id="85" name="Freeform: Shape 93">
                <a:extLst>
                  <a:ext uri="{FF2B5EF4-FFF2-40B4-BE49-F238E27FC236}">
                    <a16:creationId xmlns:a16="http://schemas.microsoft.com/office/drawing/2014/main" id="{AF5C0DC8-68C1-4C31-B127-FF105113D03A}"/>
                  </a:ext>
                </a:extLst>
              </p:cNvPr>
              <p:cNvSpPr/>
              <p:nvPr/>
            </p:nvSpPr>
            <p:spPr bwMode="auto">
              <a:xfrm>
                <a:off x="5167603" y="5810662"/>
                <a:ext cx="41044" cy="41044"/>
              </a:xfrm>
              <a:custGeom>
                <a:avLst/>
                <a:gdLst>
                  <a:gd name="connsiteX0" fmla="*/ 15212 w 41044"/>
                  <a:gd name="connsiteY0" fmla="*/ 703 h 41044"/>
                  <a:gd name="connsiteX1" fmla="*/ 30782 w 41044"/>
                  <a:gd name="connsiteY1" fmla="*/ 2753 h 41044"/>
                  <a:gd name="connsiteX2" fmla="*/ 38292 w 41044"/>
                  <a:gd name="connsiteY2" fmla="*/ 30781 h 41044"/>
                  <a:gd name="connsiteX3" fmla="*/ 10263 w 41044"/>
                  <a:gd name="connsiteY3" fmla="*/ 38292 h 41044"/>
                  <a:gd name="connsiteX4" fmla="*/ 2753 w 41044"/>
                  <a:gd name="connsiteY4" fmla="*/ 10262 h 41044"/>
                  <a:gd name="connsiteX5" fmla="*/ 15212 w 41044"/>
                  <a:gd name="connsiteY5" fmla="*/ 703 h 4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44" h="41044">
                    <a:moveTo>
                      <a:pt x="15212" y="703"/>
                    </a:moveTo>
                    <a:cubicBezTo>
                      <a:pt x="20284" y="-656"/>
                      <a:pt x="25875" y="-80"/>
                      <a:pt x="30782" y="2753"/>
                    </a:cubicBezTo>
                    <a:cubicBezTo>
                      <a:pt x="40595" y="8419"/>
                      <a:pt x="43958" y="20967"/>
                      <a:pt x="38292" y="30781"/>
                    </a:cubicBezTo>
                    <a:cubicBezTo>
                      <a:pt x="32626" y="40595"/>
                      <a:pt x="20077" y="43958"/>
                      <a:pt x="10263" y="38292"/>
                    </a:cubicBezTo>
                    <a:cubicBezTo>
                      <a:pt x="449" y="32626"/>
                      <a:pt x="-2913" y="20076"/>
                      <a:pt x="2753" y="10262"/>
                    </a:cubicBezTo>
                    <a:cubicBezTo>
                      <a:pt x="5586" y="5356"/>
                      <a:pt x="10140" y="2062"/>
                      <a:pt x="15212" y="703"/>
                    </a:cubicBezTo>
                    <a:close/>
                  </a:path>
                </a:pathLst>
              </a:custGeom>
              <a:solidFill>
                <a:schemeClr val="tx2"/>
              </a:solidFill>
              <a:ln w="12700" cap="rnd">
                <a:noFill/>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ea typeface="Arial" charset="0"/>
                  <a:cs typeface="Arial" charset="0"/>
                </a:endParaRPr>
              </a:p>
            </p:txBody>
          </p:sp>
        </p:grpSp>
        <p:sp>
          <p:nvSpPr>
            <p:cNvPr id="110" name="Rectangle 109">
              <a:extLst>
                <a:ext uri="{FF2B5EF4-FFF2-40B4-BE49-F238E27FC236}">
                  <a16:creationId xmlns:a16="http://schemas.microsoft.com/office/drawing/2014/main" id="{EC172810-762E-48ED-ACF2-80C187DDB588}"/>
                </a:ext>
              </a:extLst>
            </p:cNvPr>
            <p:cNvSpPr/>
            <p:nvPr/>
          </p:nvSpPr>
          <p:spPr>
            <a:xfrm>
              <a:off x="3607232" y="2901317"/>
              <a:ext cx="1987509"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2"/>
                  </a:solidFill>
                  <a:effectLst/>
                  <a:uLnTx/>
                  <a:uFillTx/>
                  <a:latin typeface="Segoe UI Semibold"/>
                  <a:ea typeface="+mn-ea"/>
                  <a:cs typeface="Segoe UI" pitchFamily="34" charset="0"/>
                </a:rPr>
                <a:t>Best total cost of ownership</a:t>
              </a:r>
            </a:p>
          </p:txBody>
        </p:sp>
        <p:sp>
          <p:nvSpPr>
            <p:cNvPr id="125" name="TextBox 124">
              <a:extLst>
                <a:ext uri="{FF2B5EF4-FFF2-40B4-BE49-F238E27FC236}">
                  <a16:creationId xmlns:a16="http://schemas.microsoft.com/office/drawing/2014/main" id="{2BEB866A-06E5-4B67-A933-8F7A56112234}"/>
                </a:ext>
              </a:extLst>
            </p:cNvPr>
            <p:cNvSpPr txBox="1"/>
            <p:nvPr/>
          </p:nvSpPr>
          <p:spPr>
            <a:xfrm>
              <a:off x="3607232" y="3690504"/>
              <a:ext cx="2224496"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
                  <a:srgbClr val="0078D4"/>
                </a:buClr>
                <a:buSzTx/>
                <a:buFontTx/>
                <a:buNone/>
                <a:tabLst/>
                <a:defRPr/>
              </a:pPr>
              <a:r>
                <a:rPr kumimoji="0" lang="en-US" sz="1100" b="0" i="0" u="none" strike="noStrike" kern="0" cap="none" spc="0" normalizeH="0" baseline="0" noProof="0" dirty="0">
                  <a:ln>
                    <a:noFill/>
                  </a:ln>
                  <a:effectLst/>
                  <a:uLnTx/>
                  <a:uFillTx/>
                  <a:latin typeface="Segoe UI"/>
                  <a:ea typeface="+mn-ea"/>
                  <a:cs typeface="+mn-cs"/>
                </a:rPr>
                <a:t>Built-in high availability for lower operating costs </a:t>
              </a:r>
            </a:p>
          </p:txBody>
        </p:sp>
      </p:grpSp>
      <p:grpSp>
        <p:nvGrpSpPr>
          <p:cNvPr id="5" name="Group 4" descr="Built-in intelligence. Intelligence for optimized performance and security.&#10;">
            <a:extLst>
              <a:ext uri="{FF2B5EF4-FFF2-40B4-BE49-F238E27FC236}">
                <a16:creationId xmlns:a16="http://schemas.microsoft.com/office/drawing/2014/main" id="{F44B324C-83BC-47A9-B10F-7C62391D1331}"/>
              </a:ext>
            </a:extLst>
          </p:cNvPr>
          <p:cNvGrpSpPr/>
          <p:nvPr/>
        </p:nvGrpSpPr>
        <p:grpSpPr>
          <a:xfrm>
            <a:off x="6598113" y="1756566"/>
            <a:ext cx="2456248" cy="2289501"/>
            <a:chOff x="6470244" y="1739557"/>
            <a:chExt cx="2456248" cy="2289501"/>
          </a:xfrm>
        </p:grpSpPr>
        <p:grpSp>
          <p:nvGrpSpPr>
            <p:cNvPr id="33" name="Group 32">
              <a:extLst>
                <a:ext uri="{FF2B5EF4-FFF2-40B4-BE49-F238E27FC236}">
                  <a16:creationId xmlns:a16="http://schemas.microsoft.com/office/drawing/2014/main" id="{93399A51-B5B9-43BF-884E-1F465141D2FF}"/>
                </a:ext>
                <a:ext uri="{C183D7F6-B498-43B3-948B-1728B52AA6E4}">
                  <adec:decorative xmlns:adec="http://schemas.microsoft.com/office/drawing/2017/decorative" val="1"/>
                </a:ext>
              </a:extLst>
            </p:cNvPr>
            <p:cNvGrpSpPr/>
            <p:nvPr/>
          </p:nvGrpSpPr>
          <p:grpSpPr>
            <a:xfrm>
              <a:off x="7102989" y="1739557"/>
              <a:ext cx="973731" cy="875315"/>
              <a:chOff x="8955106" y="4328219"/>
              <a:chExt cx="592572" cy="504783"/>
            </a:xfrm>
            <a:solidFill>
              <a:srgbClr val="50E6FF"/>
            </a:solidFill>
          </p:grpSpPr>
          <p:sp>
            <p:nvSpPr>
              <p:cNvPr id="34" name="Freeform: Shape 33">
                <a:extLst>
                  <a:ext uri="{FF2B5EF4-FFF2-40B4-BE49-F238E27FC236}">
                    <a16:creationId xmlns:a16="http://schemas.microsoft.com/office/drawing/2014/main" id="{F49BC7DF-3B77-4986-B99C-6126C1F361DB}"/>
                  </a:ext>
                </a:extLst>
              </p:cNvPr>
              <p:cNvSpPr/>
              <p:nvPr/>
            </p:nvSpPr>
            <p:spPr bwMode="auto">
              <a:xfrm>
                <a:off x="9002167" y="4363970"/>
                <a:ext cx="499558" cy="464729"/>
              </a:xfrm>
              <a:custGeom>
                <a:avLst/>
                <a:gdLst>
                  <a:gd name="connsiteX0" fmla="*/ 397329 w 650422"/>
                  <a:gd name="connsiteY0" fmla="*/ 0 h 605074"/>
                  <a:gd name="connsiteX1" fmla="*/ 541565 w 650422"/>
                  <a:gd name="connsiteY1" fmla="*/ 43543 h 605074"/>
                  <a:gd name="connsiteX2" fmla="*/ 579665 w 650422"/>
                  <a:gd name="connsiteY2" fmla="*/ 100693 h 605074"/>
                  <a:gd name="connsiteX3" fmla="*/ 636815 w 650422"/>
                  <a:gd name="connsiteY3" fmla="*/ 125185 h 605074"/>
                  <a:gd name="connsiteX4" fmla="*/ 650422 w 650422"/>
                  <a:gd name="connsiteY4" fmla="*/ 299357 h 605074"/>
                  <a:gd name="connsiteX5" fmla="*/ 606879 w 650422"/>
                  <a:gd name="connsiteY5" fmla="*/ 424543 h 605074"/>
                  <a:gd name="connsiteX6" fmla="*/ 476250 w 650422"/>
                  <a:gd name="connsiteY6" fmla="*/ 453822 h 605074"/>
                  <a:gd name="connsiteX7" fmla="*/ 476250 w 650422"/>
                  <a:gd name="connsiteY7" fmla="*/ 605074 h 605074"/>
                  <a:gd name="connsiteX8" fmla="*/ 367393 w 650422"/>
                  <a:gd name="connsiteY8" fmla="*/ 605074 h 605074"/>
                  <a:gd name="connsiteX9" fmla="*/ 367393 w 650422"/>
                  <a:gd name="connsiteY9" fmla="*/ 433300 h 605074"/>
                  <a:gd name="connsiteX10" fmla="*/ 234043 w 650422"/>
                  <a:gd name="connsiteY10" fmla="*/ 304800 h 605074"/>
                  <a:gd name="connsiteX11" fmla="*/ 70758 w 650422"/>
                  <a:gd name="connsiteY11" fmla="*/ 342900 h 605074"/>
                  <a:gd name="connsiteX12" fmla="*/ 0 w 650422"/>
                  <a:gd name="connsiteY12" fmla="*/ 310243 h 605074"/>
                  <a:gd name="connsiteX13" fmla="*/ 29936 w 650422"/>
                  <a:gd name="connsiteY13" fmla="*/ 125185 h 605074"/>
                  <a:gd name="connsiteX14" fmla="*/ 228600 w 650422"/>
                  <a:gd name="connsiteY14" fmla="*/ 8164 h 605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0422" h="605074">
                    <a:moveTo>
                      <a:pt x="397329" y="0"/>
                    </a:moveTo>
                    <a:lnTo>
                      <a:pt x="541565" y="43543"/>
                    </a:lnTo>
                    <a:lnTo>
                      <a:pt x="579665" y="100693"/>
                    </a:lnTo>
                    <a:lnTo>
                      <a:pt x="636815" y="125185"/>
                    </a:lnTo>
                    <a:lnTo>
                      <a:pt x="650422" y="299357"/>
                    </a:lnTo>
                    <a:lnTo>
                      <a:pt x="606879" y="424543"/>
                    </a:lnTo>
                    <a:lnTo>
                      <a:pt x="476250" y="453822"/>
                    </a:lnTo>
                    <a:lnTo>
                      <a:pt x="476250" y="605074"/>
                    </a:lnTo>
                    <a:lnTo>
                      <a:pt x="367393" y="605074"/>
                    </a:lnTo>
                    <a:lnTo>
                      <a:pt x="367393" y="433300"/>
                    </a:lnTo>
                    <a:lnTo>
                      <a:pt x="234043" y="304800"/>
                    </a:lnTo>
                    <a:lnTo>
                      <a:pt x="70758" y="342900"/>
                    </a:lnTo>
                    <a:lnTo>
                      <a:pt x="0" y="310243"/>
                    </a:lnTo>
                    <a:lnTo>
                      <a:pt x="29936" y="125185"/>
                    </a:lnTo>
                    <a:lnTo>
                      <a:pt x="228600" y="8164"/>
                    </a:lnTo>
                    <a:close/>
                  </a:path>
                </a:pathLst>
              </a:custGeom>
              <a:solidFill>
                <a:schemeClr val="accent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Graphic 3" descr="Brain">
                <a:extLst>
                  <a:ext uri="{FF2B5EF4-FFF2-40B4-BE49-F238E27FC236}">
                    <a16:creationId xmlns:a16="http://schemas.microsoft.com/office/drawing/2014/main" id="{74F31F8B-8C8F-427D-AD8A-5B1DC72E20CD}"/>
                  </a:ext>
                </a:extLst>
              </p:cNvPr>
              <p:cNvSpPr/>
              <p:nvPr/>
            </p:nvSpPr>
            <p:spPr>
              <a:xfrm>
                <a:off x="8955106" y="4328219"/>
                <a:ext cx="592572" cy="504783"/>
              </a:xfrm>
              <a:custGeom>
                <a:avLst/>
                <a:gdLst>
                  <a:gd name="connsiteX0" fmla="*/ 749390 w 771525"/>
                  <a:gd name="connsiteY0" fmla="*/ 399794 h 657225"/>
                  <a:gd name="connsiteX1" fmla="*/ 744628 w 771525"/>
                  <a:gd name="connsiteY1" fmla="*/ 267397 h 657225"/>
                  <a:gd name="connsiteX2" fmla="*/ 750343 w 771525"/>
                  <a:gd name="connsiteY2" fmla="*/ 233107 h 657225"/>
                  <a:gd name="connsiteX3" fmla="*/ 658903 w 771525"/>
                  <a:gd name="connsiteY3" fmla="*/ 122617 h 657225"/>
                  <a:gd name="connsiteX4" fmla="*/ 550318 w 771525"/>
                  <a:gd name="connsiteY4" fmla="*/ 45464 h 657225"/>
                  <a:gd name="connsiteX5" fmla="*/ 523648 w 771525"/>
                  <a:gd name="connsiteY5" fmla="*/ 48322 h 657225"/>
                  <a:gd name="connsiteX6" fmla="*/ 443638 w 771525"/>
                  <a:gd name="connsiteY6" fmla="*/ 7364 h 657225"/>
                  <a:gd name="connsiteX7" fmla="*/ 358865 w 771525"/>
                  <a:gd name="connsiteY7" fmla="*/ 36892 h 657225"/>
                  <a:gd name="connsiteX8" fmla="*/ 258853 w 771525"/>
                  <a:gd name="connsiteY8" fmla="*/ 21652 h 657225"/>
                  <a:gd name="connsiteX9" fmla="*/ 185510 w 771525"/>
                  <a:gd name="connsiteY9" fmla="*/ 92137 h 657225"/>
                  <a:gd name="connsiteX10" fmla="*/ 178843 w 771525"/>
                  <a:gd name="connsiteY10" fmla="*/ 92137 h 657225"/>
                  <a:gd name="connsiteX11" fmla="*/ 64543 w 771525"/>
                  <a:gd name="connsiteY11" fmla="*/ 204532 h 657225"/>
                  <a:gd name="connsiteX12" fmla="*/ 64543 w 771525"/>
                  <a:gd name="connsiteY12" fmla="*/ 210247 h 657225"/>
                  <a:gd name="connsiteX13" fmla="*/ 7393 w 771525"/>
                  <a:gd name="connsiteY13" fmla="*/ 315974 h 657225"/>
                  <a:gd name="connsiteX14" fmla="*/ 125503 w 771525"/>
                  <a:gd name="connsiteY14" fmla="*/ 420749 h 657225"/>
                  <a:gd name="connsiteX15" fmla="*/ 273140 w 771525"/>
                  <a:gd name="connsiteY15" fmla="*/ 420749 h 657225"/>
                  <a:gd name="connsiteX16" fmla="*/ 388393 w 771525"/>
                  <a:gd name="connsiteY16" fmla="*/ 534097 h 657225"/>
                  <a:gd name="connsiteX17" fmla="*/ 388393 w 771525"/>
                  <a:gd name="connsiteY17" fmla="*/ 656017 h 657225"/>
                  <a:gd name="connsiteX18" fmla="*/ 463640 w 771525"/>
                  <a:gd name="connsiteY18" fmla="*/ 656017 h 657225"/>
                  <a:gd name="connsiteX19" fmla="*/ 463640 w 771525"/>
                  <a:gd name="connsiteY19" fmla="*/ 570292 h 657225"/>
                  <a:gd name="connsiteX20" fmla="*/ 463640 w 771525"/>
                  <a:gd name="connsiteY20" fmla="*/ 557909 h 657225"/>
                  <a:gd name="connsiteX21" fmla="*/ 487453 w 771525"/>
                  <a:gd name="connsiteY21" fmla="*/ 449324 h 657225"/>
                  <a:gd name="connsiteX22" fmla="*/ 537935 w 771525"/>
                  <a:gd name="connsiteY22" fmla="*/ 406462 h 657225"/>
                  <a:gd name="connsiteX23" fmla="*/ 575083 w 771525"/>
                  <a:gd name="connsiteY23" fmla="*/ 375029 h 657225"/>
                  <a:gd name="connsiteX24" fmla="*/ 587465 w 771525"/>
                  <a:gd name="connsiteY24" fmla="*/ 352169 h 657225"/>
                  <a:gd name="connsiteX25" fmla="*/ 525553 w 771525"/>
                  <a:gd name="connsiteY25" fmla="*/ 344549 h 657225"/>
                  <a:gd name="connsiteX26" fmla="*/ 503645 w 771525"/>
                  <a:gd name="connsiteY26" fmla="*/ 328357 h 657225"/>
                  <a:gd name="connsiteX27" fmla="*/ 519838 w 771525"/>
                  <a:gd name="connsiteY27" fmla="*/ 306449 h 657225"/>
                  <a:gd name="connsiteX28" fmla="*/ 596038 w 771525"/>
                  <a:gd name="connsiteY28" fmla="*/ 315022 h 657225"/>
                  <a:gd name="connsiteX29" fmla="*/ 596990 w 771525"/>
                  <a:gd name="connsiteY29" fmla="*/ 307402 h 657225"/>
                  <a:gd name="connsiteX30" fmla="*/ 591275 w 771525"/>
                  <a:gd name="connsiteY30" fmla="*/ 262634 h 657225"/>
                  <a:gd name="connsiteX31" fmla="*/ 513170 w 771525"/>
                  <a:gd name="connsiteY31" fmla="*/ 200722 h 657225"/>
                  <a:gd name="connsiteX32" fmla="*/ 494120 w 771525"/>
                  <a:gd name="connsiteY32" fmla="*/ 195007 h 657225"/>
                  <a:gd name="connsiteX33" fmla="*/ 488405 w 771525"/>
                  <a:gd name="connsiteY33" fmla="*/ 193102 h 657225"/>
                  <a:gd name="connsiteX34" fmla="*/ 487453 w 771525"/>
                  <a:gd name="connsiteY34" fmla="*/ 193102 h 657225"/>
                  <a:gd name="connsiteX35" fmla="*/ 465545 w 771525"/>
                  <a:gd name="connsiteY35" fmla="*/ 198817 h 657225"/>
                  <a:gd name="connsiteX36" fmla="*/ 456973 w 771525"/>
                  <a:gd name="connsiteY36" fmla="*/ 200722 h 657225"/>
                  <a:gd name="connsiteX37" fmla="*/ 447448 w 771525"/>
                  <a:gd name="connsiteY37" fmla="*/ 202627 h 657225"/>
                  <a:gd name="connsiteX38" fmla="*/ 424588 w 771525"/>
                  <a:gd name="connsiteY38" fmla="*/ 272159 h 657225"/>
                  <a:gd name="connsiteX39" fmla="*/ 457925 w 771525"/>
                  <a:gd name="connsiteY39" fmla="*/ 336929 h 657225"/>
                  <a:gd name="connsiteX40" fmla="*/ 459830 w 771525"/>
                  <a:gd name="connsiteY40" fmla="*/ 363599 h 657225"/>
                  <a:gd name="connsiteX41" fmla="*/ 435065 w 771525"/>
                  <a:gd name="connsiteY41" fmla="*/ 365504 h 657225"/>
                  <a:gd name="connsiteX42" fmla="*/ 406490 w 771525"/>
                  <a:gd name="connsiteY42" fmla="*/ 330262 h 657225"/>
                  <a:gd name="connsiteX43" fmla="*/ 404585 w 771525"/>
                  <a:gd name="connsiteY43" fmla="*/ 330262 h 657225"/>
                  <a:gd name="connsiteX44" fmla="*/ 322670 w 771525"/>
                  <a:gd name="connsiteY44" fmla="*/ 304544 h 657225"/>
                  <a:gd name="connsiteX45" fmla="*/ 317908 w 771525"/>
                  <a:gd name="connsiteY45" fmla="*/ 278827 h 657225"/>
                  <a:gd name="connsiteX46" fmla="*/ 343625 w 771525"/>
                  <a:gd name="connsiteY46" fmla="*/ 273112 h 657225"/>
                  <a:gd name="connsiteX47" fmla="*/ 391250 w 771525"/>
                  <a:gd name="connsiteY47" fmla="*/ 289304 h 657225"/>
                  <a:gd name="connsiteX48" fmla="*/ 387440 w 771525"/>
                  <a:gd name="connsiteY48" fmla="*/ 274064 h 657225"/>
                  <a:gd name="connsiteX49" fmla="*/ 397918 w 771525"/>
                  <a:gd name="connsiteY49" fmla="*/ 212152 h 657225"/>
                  <a:gd name="connsiteX50" fmla="*/ 358865 w 771525"/>
                  <a:gd name="connsiteY50" fmla="*/ 215009 h 657225"/>
                  <a:gd name="connsiteX51" fmla="*/ 324575 w 771525"/>
                  <a:gd name="connsiteY51" fmla="*/ 212152 h 657225"/>
                  <a:gd name="connsiteX52" fmla="*/ 241708 w 771525"/>
                  <a:gd name="connsiteY52" fmla="*/ 264539 h 657225"/>
                  <a:gd name="connsiteX53" fmla="*/ 158840 w 771525"/>
                  <a:gd name="connsiteY53" fmla="*/ 360742 h 657225"/>
                  <a:gd name="connsiteX54" fmla="*/ 139790 w 771525"/>
                  <a:gd name="connsiteY54" fmla="*/ 379792 h 657225"/>
                  <a:gd name="connsiteX55" fmla="*/ 120740 w 771525"/>
                  <a:gd name="connsiteY55" fmla="*/ 360742 h 657225"/>
                  <a:gd name="connsiteX56" fmla="*/ 165508 w 771525"/>
                  <a:gd name="connsiteY56" fmla="*/ 268349 h 657225"/>
                  <a:gd name="connsiteX57" fmla="*/ 106453 w 771525"/>
                  <a:gd name="connsiteY57" fmla="*/ 238822 h 657225"/>
                  <a:gd name="connsiteX58" fmla="*/ 109310 w 771525"/>
                  <a:gd name="connsiteY58" fmla="*/ 212152 h 657225"/>
                  <a:gd name="connsiteX59" fmla="*/ 135980 w 771525"/>
                  <a:gd name="connsiteY59" fmla="*/ 214057 h 657225"/>
                  <a:gd name="connsiteX60" fmla="*/ 196940 w 771525"/>
                  <a:gd name="connsiteY60" fmla="*/ 231202 h 657225"/>
                  <a:gd name="connsiteX61" fmla="*/ 283618 w 771525"/>
                  <a:gd name="connsiteY61" fmla="*/ 198817 h 657225"/>
                  <a:gd name="connsiteX62" fmla="*/ 218848 w 771525"/>
                  <a:gd name="connsiteY62" fmla="*/ 139762 h 657225"/>
                  <a:gd name="connsiteX63" fmla="*/ 225515 w 771525"/>
                  <a:gd name="connsiteY63" fmla="*/ 114044 h 657225"/>
                  <a:gd name="connsiteX64" fmla="*/ 251233 w 771525"/>
                  <a:gd name="connsiteY64" fmla="*/ 120712 h 657225"/>
                  <a:gd name="connsiteX65" fmla="*/ 434113 w 771525"/>
                  <a:gd name="connsiteY65" fmla="*/ 164527 h 657225"/>
                  <a:gd name="connsiteX66" fmla="*/ 405538 w 771525"/>
                  <a:gd name="connsiteY66" fmla="*/ 91184 h 657225"/>
                  <a:gd name="connsiteX67" fmla="*/ 425540 w 771525"/>
                  <a:gd name="connsiteY67" fmla="*/ 73087 h 657225"/>
                  <a:gd name="connsiteX68" fmla="*/ 443638 w 771525"/>
                  <a:gd name="connsiteY68" fmla="*/ 93089 h 657225"/>
                  <a:gd name="connsiteX69" fmla="*/ 503645 w 771525"/>
                  <a:gd name="connsiteY69" fmla="*/ 155954 h 657225"/>
                  <a:gd name="connsiteX70" fmla="*/ 520790 w 771525"/>
                  <a:gd name="connsiteY70" fmla="*/ 160717 h 657225"/>
                  <a:gd name="connsiteX71" fmla="*/ 577940 w 771525"/>
                  <a:gd name="connsiteY71" fmla="*/ 112139 h 657225"/>
                  <a:gd name="connsiteX72" fmla="*/ 601753 w 771525"/>
                  <a:gd name="connsiteY72" fmla="*/ 126427 h 657225"/>
                  <a:gd name="connsiteX73" fmla="*/ 587465 w 771525"/>
                  <a:gd name="connsiteY73" fmla="*/ 150239 h 657225"/>
                  <a:gd name="connsiteX74" fmla="*/ 556985 w 771525"/>
                  <a:gd name="connsiteY74" fmla="*/ 175004 h 657225"/>
                  <a:gd name="connsiteX75" fmla="*/ 556985 w 771525"/>
                  <a:gd name="connsiteY75" fmla="*/ 176909 h 657225"/>
                  <a:gd name="connsiteX76" fmla="*/ 625565 w 771525"/>
                  <a:gd name="connsiteY76" fmla="*/ 247394 h 657225"/>
                  <a:gd name="connsiteX77" fmla="*/ 631280 w 771525"/>
                  <a:gd name="connsiteY77" fmla="*/ 270254 h 657225"/>
                  <a:gd name="connsiteX78" fmla="*/ 639853 w 771525"/>
                  <a:gd name="connsiteY78" fmla="*/ 258824 h 657225"/>
                  <a:gd name="connsiteX79" fmla="*/ 653188 w 771525"/>
                  <a:gd name="connsiteY79" fmla="*/ 214057 h 657225"/>
                  <a:gd name="connsiteX80" fmla="*/ 665570 w 771525"/>
                  <a:gd name="connsiteY80" fmla="*/ 198817 h 657225"/>
                  <a:gd name="connsiteX81" fmla="*/ 684620 w 771525"/>
                  <a:gd name="connsiteY81" fmla="*/ 202627 h 657225"/>
                  <a:gd name="connsiteX82" fmla="*/ 690335 w 771525"/>
                  <a:gd name="connsiteY82" fmla="*/ 221677 h 657225"/>
                  <a:gd name="connsiteX83" fmla="*/ 672238 w 771525"/>
                  <a:gd name="connsiteY83" fmla="*/ 276922 h 657225"/>
                  <a:gd name="connsiteX84" fmla="*/ 631280 w 771525"/>
                  <a:gd name="connsiteY84" fmla="*/ 315974 h 657225"/>
                  <a:gd name="connsiteX85" fmla="*/ 610325 w 771525"/>
                  <a:gd name="connsiteY85" fmla="*/ 384554 h 657225"/>
                  <a:gd name="connsiteX86" fmla="*/ 652235 w 771525"/>
                  <a:gd name="connsiteY86" fmla="*/ 420749 h 657225"/>
                  <a:gd name="connsiteX87" fmla="*/ 661760 w 771525"/>
                  <a:gd name="connsiteY87" fmla="*/ 437894 h 657225"/>
                  <a:gd name="connsiteX88" fmla="*/ 651283 w 771525"/>
                  <a:gd name="connsiteY88" fmla="*/ 454087 h 657225"/>
                  <a:gd name="connsiteX89" fmla="*/ 632233 w 771525"/>
                  <a:gd name="connsiteY89" fmla="*/ 453134 h 657225"/>
                  <a:gd name="connsiteX90" fmla="*/ 587465 w 771525"/>
                  <a:gd name="connsiteY90" fmla="*/ 415034 h 657225"/>
                  <a:gd name="connsiteX91" fmla="*/ 557938 w 771525"/>
                  <a:gd name="connsiteY91" fmla="*/ 436942 h 657225"/>
                  <a:gd name="connsiteX92" fmla="*/ 515075 w 771525"/>
                  <a:gd name="connsiteY92" fmla="*/ 473137 h 657225"/>
                  <a:gd name="connsiteX93" fmla="*/ 500788 w 771525"/>
                  <a:gd name="connsiteY93" fmla="*/ 556957 h 657225"/>
                  <a:gd name="connsiteX94" fmla="*/ 500788 w 771525"/>
                  <a:gd name="connsiteY94" fmla="*/ 570292 h 657225"/>
                  <a:gd name="connsiteX95" fmla="*/ 500788 w 771525"/>
                  <a:gd name="connsiteY95" fmla="*/ 656017 h 657225"/>
                  <a:gd name="connsiteX96" fmla="*/ 576988 w 771525"/>
                  <a:gd name="connsiteY96" fmla="*/ 656017 h 657225"/>
                  <a:gd name="connsiteX97" fmla="*/ 643663 w 771525"/>
                  <a:gd name="connsiteY97" fmla="*/ 523619 h 657225"/>
                  <a:gd name="connsiteX98" fmla="*/ 748438 w 771525"/>
                  <a:gd name="connsiteY98" fmla="*/ 412177 h 657225"/>
                  <a:gd name="connsiteX99" fmla="*/ 749390 w 771525"/>
                  <a:gd name="connsiteY99" fmla="*/ 399794 h 657225"/>
                  <a:gd name="connsiteX100" fmla="*/ 749390 w 771525"/>
                  <a:gd name="connsiteY100" fmla="*/ 399794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771525" h="657225">
                    <a:moveTo>
                      <a:pt x="749390" y="399794"/>
                    </a:moveTo>
                    <a:cubicBezTo>
                      <a:pt x="777013" y="359789"/>
                      <a:pt x="775108" y="305497"/>
                      <a:pt x="744628" y="267397"/>
                    </a:cubicBezTo>
                    <a:cubicBezTo>
                      <a:pt x="748438" y="255967"/>
                      <a:pt x="750343" y="244537"/>
                      <a:pt x="750343" y="233107"/>
                    </a:cubicBezTo>
                    <a:cubicBezTo>
                      <a:pt x="750343" y="178814"/>
                      <a:pt x="711290" y="133094"/>
                      <a:pt x="658903" y="122617"/>
                    </a:cubicBezTo>
                    <a:cubicBezTo>
                      <a:pt x="642710" y="75944"/>
                      <a:pt x="599848" y="45464"/>
                      <a:pt x="550318" y="45464"/>
                    </a:cubicBezTo>
                    <a:cubicBezTo>
                      <a:pt x="541745" y="45464"/>
                      <a:pt x="532220" y="46417"/>
                      <a:pt x="523648" y="48322"/>
                    </a:cubicBezTo>
                    <a:cubicBezTo>
                      <a:pt x="503645" y="24509"/>
                      <a:pt x="474118" y="10222"/>
                      <a:pt x="443638" y="7364"/>
                    </a:cubicBezTo>
                    <a:cubicBezTo>
                      <a:pt x="412205" y="5459"/>
                      <a:pt x="381725" y="15937"/>
                      <a:pt x="358865" y="36892"/>
                    </a:cubicBezTo>
                    <a:cubicBezTo>
                      <a:pt x="329338" y="16889"/>
                      <a:pt x="292190" y="11174"/>
                      <a:pt x="258853" y="21652"/>
                    </a:cubicBezTo>
                    <a:cubicBezTo>
                      <a:pt x="224563" y="32129"/>
                      <a:pt x="197893" y="57847"/>
                      <a:pt x="185510" y="92137"/>
                    </a:cubicBezTo>
                    <a:cubicBezTo>
                      <a:pt x="183605" y="92137"/>
                      <a:pt x="180748" y="92137"/>
                      <a:pt x="178843" y="92137"/>
                    </a:cubicBezTo>
                    <a:cubicBezTo>
                      <a:pt x="115978" y="92137"/>
                      <a:pt x="65495" y="141667"/>
                      <a:pt x="64543" y="204532"/>
                    </a:cubicBezTo>
                    <a:cubicBezTo>
                      <a:pt x="64543" y="206437"/>
                      <a:pt x="64543" y="208342"/>
                      <a:pt x="64543" y="210247"/>
                    </a:cubicBezTo>
                    <a:cubicBezTo>
                      <a:pt x="26443" y="231202"/>
                      <a:pt x="4535" y="272159"/>
                      <a:pt x="7393" y="315974"/>
                    </a:cubicBezTo>
                    <a:cubicBezTo>
                      <a:pt x="11203" y="375982"/>
                      <a:pt x="64543" y="420749"/>
                      <a:pt x="125503" y="420749"/>
                    </a:cubicBezTo>
                    <a:lnTo>
                      <a:pt x="273140" y="420749"/>
                    </a:lnTo>
                    <a:cubicBezTo>
                      <a:pt x="336005" y="420749"/>
                      <a:pt x="387440" y="471232"/>
                      <a:pt x="388393" y="534097"/>
                    </a:cubicBezTo>
                    <a:lnTo>
                      <a:pt x="388393" y="656017"/>
                    </a:lnTo>
                    <a:lnTo>
                      <a:pt x="463640" y="656017"/>
                    </a:lnTo>
                    <a:lnTo>
                      <a:pt x="463640" y="570292"/>
                    </a:lnTo>
                    <a:cubicBezTo>
                      <a:pt x="463640" y="566482"/>
                      <a:pt x="463640" y="561719"/>
                      <a:pt x="463640" y="557909"/>
                    </a:cubicBezTo>
                    <a:cubicBezTo>
                      <a:pt x="463640" y="522667"/>
                      <a:pt x="462688" y="477899"/>
                      <a:pt x="487453" y="449324"/>
                    </a:cubicBezTo>
                    <a:cubicBezTo>
                      <a:pt x="502693" y="433132"/>
                      <a:pt x="519838" y="418844"/>
                      <a:pt x="537935" y="406462"/>
                    </a:cubicBezTo>
                    <a:cubicBezTo>
                      <a:pt x="552223" y="397889"/>
                      <a:pt x="564605" y="387412"/>
                      <a:pt x="575083" y="375029"/>
                    </a:cubicBezTo>
                    <a:cubicBezTo>
                      <a:pt x="579845" y="367409"/>
                      <a:pt x="584608" y="359789"/>
                      <a:pt x="587465" y="352169"/>
                    </a:cubicBezTo>
                    <a:cubicBezTo>
                      <a:pt x="567463" y="344549"/>
                      <a:pt x="546508" y="341692"/>
                      <a:pt x="525553" y="344549"/>
                    </a:cubicBezTo>
                    <a:cubicBezTo>
                      <a:pt x="515075" y="345502"/>
                      <a:pt x="505550" y="338834"/>
                      <a:pt x="503645" y="328357"/>
                    </a:cubicBezTo>
                    <a:cubicBezTo>
                      <a:pt x="502693" y="317879"/>
                      <a:pt x="509360" y="308354"/>
                      <a:pt x="519838" y="306449"/>
                    </a:cubicBezTo>
                    <a:cubicBezTo>
                      <a:pt x="545555" y="302639"/>
                      <a:pt x="571273" y="305497"/>
                      <a:pt x="596038" y="315022"/>
                    </a:cubicBezTo>
                    <a:cubicBezTo>
                      <a:pt x="596038" y="312164"/>
                      <a:pt x="596038" y="310259"/>
                      <a:pt x="596990" y="307402"/>
                    </a:cubicBezTo>
                    <a:cubicBezTo>
                      <a:pt x="597943" y="292162"/>
                      <a:pt x="596038" y="276922"/>
                      <a:pt x="591275" y="262634"/>
                    </a:cubicBezTo>
                    <a:cubicBezTo>
                      <a:pt x="577940" y="228344"/>
                      <a:pt x="544603" y="213104"/>
                      <a:pt x="513170" y="200722"/>
                    </a:cubicBezTo>
                    <a:cubicBezTo>
                      <a:pt x="507455" y="198817"/>
                      <a:pt x="501740" y="196912"/>
                      <a:pt x="494120" y="195007"/>
                    </a:cubicBezTo>
                    <a:lnTo>
                      <a:pt x="488405" y="193102"/>
                    </a:lnTo>
                    <a:lnTo>
                      <a:pt x="487453" y="193102"/>
                    </a:lnTo>
                    <a:cubicBezTo>
                      <a:pt x="479833" y="194054"/>
                      <a:pt x="473165" y="195959"/>
                      <a:pt x="465545" y="198817"/>
                    </a:cubicBezTo>
                    <a:lnTo>
                      <a:pt x="456973" y="200722"/>
                    </a:lnTo>
                    <a:lnTo>
                      <a:pt x="447448" y="202627"/>
                    </a:lnTo>
                    <a:cubicBezTo>
                      <a:pt x="431255" y="221677"/>
                      <a:pt x="422683" y="246442"/>
                      <a:pt x="424588" y="272159"/>
                    </a:cubicBezTo>
                    <a:cubicBezTo>
                      <a:pt x="426493" y="297877"/>
                      <a:pt x="438875" y="320737"/>
                      <a:pt x="457925" y="336929"/>
                    </a:cubicBezTo>
                    <a:cubicBezTo>
                      <a:pt x="465545" y="343597"/>
                      <a:pt x="465545" y="355027"/>
                      <a:pt x="459830" y="363599"/>
                    </a:cubicBezTo>
                    <a:cubicBezTo>
                      <a:pt x="454115" y="370267"/>
                      <a:pt x="442685" y="371219"/>
                      <a:pt x="435065" y="365504"/>
                    </a:cubicBezTo>
                    <a:cubicBezTo>
                      <a:pt x="423635" y="355979"/>
                      <a:pt x="414110" y="343597"/>
                      <a:pt x="406490" y="330262"/>
                    </a:cubicBezTo>
                    <a:lnTo>
                      <a:pt x="404585" y="330262"/>
                    </a:lnTo>
                    <a:cubicBezTo>
                      <a:pt x="377915" y="325499"/>
                      <a:pt x="347435" y="320737"/>
                      <a:pt x="322670" y="304544"/>
                    </a:cubicBezTo>
                    <a:cubicBezTo>
                      <a:pt x="314098" y="298829"/>
                      <a:pt x="312193" y="287399"/>
                      <a:pt x="317908" y="278827"/>
                    </a:cubicBezTo>
                    <a:cubicBezTo>
                      <a:pt x="323623" y="270254"/>
                      <a:pt x="335053" y="267397"/>
                      <a:pt x="343625" y="273112"/>
                    </a:cubicBezTo>
                    <a:cubicBezTo>
                      <a:pt x="357913" y="281684"/>
                      <a:pt x="374105" y="287399"/>
                      <a:pt x="391250" y="289304"/>
                    </a:cubicBezTo>
                    <a:cubicBezTo>
                      <a:pt x="389345" y="284542"/>
                      <a:pt x="388393" y="279779"/>
                      <a:pt x="387440" y="274064"/>
                    </a:cubicBezTo>
                    <a:cubicBezTo>
                      <a:pt x="385535" y="253109"/>
                      <a:pt x="389345" y="231202"/>
                      <a:pt x="397918" y="212152"/>
                    </a:cubicBezTo>
                    <a:cubicBezTo>
                      <a:pt x="384583" y="214057"/>
                      <a:pt x="372200" y="215009"/>
                      <a:pt x="358865" y="215009"/>
                    </a:cubicBezTo>
                    <a:cubicBezTo>
                      <a:pt x="347435" y="215009"/>
                      <a:pt x="336005" y="214057"/>
                      <a:pt x="324575" y="212152"/>
                    </a:cubicBezTo>
                    <a:cubicBezTo>
                      <a:pt x="303620" y="237869"/>
                      <a:pt x="274093" y="256919"/>
                      <a:pt x="241708" y="264539"/>
                    </a:cubicBezTo>
                    <a:cubicBezTo>
                      <a:pt x="198845" y="286447"/>
                      <a:pt x="158840" y="314069"/>
                      <a:pt x="158840" y="360742"/>
                    </a:cubicBezTo>
                    <a:cubicBezTo>
                      <a:pt x="158840" y="371219"/>
                      <a:pt x="150268" y="379792"/>
                      <a:pt x="139790" y="379792"/>
                    </a:cubicBezTo>
                    <a:cubicBezTo>
                      <a:pt x="129313" y="379792"/>
                      <a:pt x="120740" y="371219"/>
                      <a:pt x="120740" y="360742"/>
                    </a:cubicBezTo>
                    <a:cubicBezTo>
                      <a:pt x="121693" y="324547"/>
                      <a:pt x="137885" y="291209"/>
                      <a:pt x="165508" y="268349"/>
                    </a:cubicBezTo>
                    <a:cubicBezTo>
                      <a:pt x="142648" y="265492"/>
                      <a:pt x="121693" y="255967"/>
                      <a:pt x="106453" y="238822"/>
                    </a:cubicBezTo>
                    <a:cubicBezTo>
                      <a:pt x="99785" y="230249"/>
                      <a:pt x="101690" y="218819"/>
                      <a:pt x="109310" y="212152"/>
                    </a:cubicBezTo>
                    <a:cubicBezTo>
                      <a:pt x="116930" y="205484"/>
                      <a:pt x="129313" y="206437"/>
                      <a:pt x="135980" y="214057"/>
                    </a:cubicBezTo>
                    <a:cubicBezTo>
                      <a:pt x="143600" y="223582"/>
                      <a:pt x="165508" y="232154"/>
                      <a:pt x="196940" y="231202"/>
                    </a:cubicBezTo>
                    <a:cubicBezTo>
                      <a:pt x="228373" y="231202"/>
                      <a:pt x="259805" y="219772"/>
                      <a:pt x="283618" y="198817"/>
                    </a:cubicBezTo>
                    <a:cubicBezTo>
                      <a:pt x="255995" y="187387"/>
                      <a:pt x="233135" y="166432"/>
                      <a:pt x="218848" y="139762"/>
                    </a:cubicBezTo>
                    <a:cubicBezTo>
                      <a:pt x="213133" y="130237"/>
                      <a:pt x="216943" y="118807"/>
                      <a:pt x="225515" y="114044"/>
                    </a:cubicBezTo>
                    <a:cubicBezTo>
                      <a:pt x="235040" y="108329"/>
                      <a:pt x="246470" y="112139"/>
                      <a:pt x="251233" y="120712"/>
                    </a:cubicBezTo>
                    <a:cubicBezTo>
                      <a:pt x="279808" y="172147"/>
                      <a:pt x="339815" y="186434"/>
                      <a:pt x="434113" y="164527"/>
                    </a:cubicBezTo>
                    <a:cubicBezTo>
                      <a:pt x="416968" y="150239"/>
                      <a:pt x="404585" y="127379"/>
                      <a:pt x="405538" y="91184"/>
                    </a:cubicBezTo>
                    <a:cubicBezTo>
                      <a:pt x="405538" y="80707"/>
                      <a:pt x="415063" y="72134"/>
                      <a:pt x="425540" y="73087"/>
                    </a:cubicBezTo>
                    <a:cubicBezTo>
                      <a:pt x="436018" y="73087"/>
                      <a:pt x="444590" y="82612"/>
                      <a:pt x="443638" y="93089"/>
                    </a:cubicBezTo>
                    <a:cubicBezTo>
                      <a:pt x="441733" y="135952"/>
                      <a:pt x="465545" y="144524"/>
                      <a:pt x="503645" y="155954"/>
                    </a:cubicBezTo>
                    <a:cubicBezTo>
                      <a:pt x="509360" y="157859"/>
                      <a:pt x="515075" y="158812"/>
                      <a:pt x="520790" y="160717"/>
                    </a:cubicBezTo>
                    <a:cubicBezTo>
                      <a:pt x="531268" y="136904"/>
                      <a:pt x="552223" y="118807"/>
                      <a:pt x="577940" y="112139"/>
                    </a:cubicBezTo>
                    <a:cubicBezTo>
                      <a:pt x="588418" y="109282"/>
                      <a:pt x="598895" y="115949"/>
                      <a:pt x="601753" y="126427"/>
                    </a:cubicBezTo>
                    <a:cubicBezTo>
                      <a:pt x="604610" y="136904"/>
                      <a:pt x="597943" y="147382"/>
                      <a:pt x="587465" y="150239"/>
                    </a:cubicBezTo>
                    <a:cubicBezTo>
                      <a:pt x="574130" y="154049"/>
                      <a:pt x="563653" y="162622"/>
                      <a:pt x="556985" y="175004"/>
                    </a:cubicBezTo>
                    <a:cubicBezTo>
                      <a:pt x="556985" y="175957"/>
                      <a:pt x="556985" y="175957"/>
                      <a:pt x="556985" y="176909"/>
                    </a:cubicBezTo>
                    <a:cubicBezTo>
                      <a:pt x="586513" y="191197"/>
                      <a:pt x="612230" y="212152"/>
                      <a:pt x="625565" y="247394"/>
                    </a:cubicBezTo>
                    <a:cubicBezTo>
                      <a:pt x="628423" y="255014"/>
                      <a:pt x="630328" y="262634"/>
                      <a:pt x="631280" y="270254"/>
                    </a:cubicBezTo>
                    <a:cubicBezTo>
                      <a:pt x="635090" y="267397"/>
                      <a:pt x="637948" y="263587"/>
                      <a:pt x="639853" y="258824"/>
                    </a:cubicBezTo>
                    <a:cubicBezTo>
                      <a:pt x="646520" y="244537"/>
                      <a:pt x="651283" y="230249"/>
                      <a:pt x="653188" y="214057"/>
                    </a:cubicBezTo>
                    <a:cubicBezTo>
                      <a:pt x="654140" y="207389"/>
                      <a:pt x="658903" y="201674"/>
                      <a:pt x="665570" y="198817"/>
                    </a:cubicBezTo>
                    <a:cubicBezTo>
                      <a:pt x="672238" y="195959"/>
                      <a:pt x="679858" y="197864"/>
                      <a:pt x="684620" y="202627"/>
                    </a:cubicBezTo>
                    <a:cubicBezTo>
                      <a:pt x="690335" y="207389"/>
                      <a:pt x="692240" y="214057"/>
                      <a:pt x="690335" y="221677"/>
                    </a:cubicBezTo>
                    <a:cubicBezTo>
                      <a:pt x="687478" y="240727"/>
                      <a:pt x="681763" y="259777"/>
                      <a:pt x="672238" y="276922"/>
                    </a:cubicBezTo>
                    <a:cubicBezTo>
                      <a:pt x="662713" y="293114"/>
                      <a:pt x="648425" y="306449"/>
                      <a:pt x="631280" y="315974"/>
                    </a:cubicBezTo>
                    <a:cubicBezTo>
                      <a:pt x="629375" y="339787"/>
                      <a:pt x="621755" y="363599"/>
                      <a:pt x="610325" y="384554"/>
                    </a:cubicBezTo>
                    <a:cubicBezTo>
                      <a:pt x="622708" y="398842"/>
                      <a:pt x="636043" y="411224"/>
                      <a:pt x="652235" y="420749"/>
                    </a:cubicBezTo>
                    <a:cubicBezTo>
                      <a:pt x="657950" y="424559"/>
                      <a:pt x="661760" y="431227"/>
                      <a:pt x="661760" y="437894"/>
                    </a:cubicBezTo>
                    <a:cubicBezTo>
                      <a:pt x="661760" y="444562"/>
                      <a:pt x="657950" y="451229"/>
                      <a:pt x="651283" y="454087"/>
                    </a:cubicBezTo>
                    <a:cubicBezTo>
                      <a:pt x="644615" y="456944"/>
                      <a:pt x="637948" y="456944"/>
                      <a:pt x="632233" y="453134"/>
                    </a:cubicBezTo>
                    <a:cubicBezTo>
                      <a:pt x="616040" y="442657"/>
                      <a:pt x="600800" y="429322"/>
                      <a:pt x="587465" y="415034"/>
                    </a:cubicBezTo>
                    <a:cubicBezTo>
                      <a:pt x="577940" y="422654"/>
                      <a:pt x="567463" y="430274"/>
                      <a:pt x="557938" y="436942"/>
                    </a:cubicBezTo>
                    <a:cubicBezTo>
                      <a:pt x="541745" y="447419"/>
                      <a:pt x="527458" y="458849"/>
                      <a:pt x="515075" y="473137"/>
                    </a:cubicBezTo>
                    <a:cubicBezTo>
                      <a:pt x="499835" y="491234"/>
                      <a:pt x="500788" y="526477"/>
                      <a:pt x="500788" y="556957"/>
                    </a:cubicBezTo>
                    <a:cubicBezTo>
                      <a:pt x="500788" y="561719"/>
                      <a:pt x="500788" y="565529"/>
                      <a:pt x="500788" y="570292"/>
                    </a:cubicBezTo>
                    <a:lnTo>
                      <a:pt x="500788" y="656017"/>
                    </a:lnTo>
                    <a:lnTo>
                      <a:pt x="576988" y="656017"/>
                    </a:lnTo>
                    <a:cubicBezTo>
                      <a:pt x="576988" y="532192"/>
                      <a:pt x="636043" y="525524"/>
                      <a:pt x="643663" y="523619"/>
                    </a:cubicBezTo>
                    <a:cubicBezTo>
                      <a:pt x="668428" y="516952"/>
                      <a:pt x="734150" y="482662"/>
                      <a:pt x="748438" y="412177"/>
                    </a:cubicBezTo>
                    <a:cubicBezTo>
                      <a:pt x="750343" y="408367"/>
                      <a:pt x="749390" y="403604"/>
                      <a:pt x="749390" y="399794"/>
                    </a:cubicBezTo>
                    <a:cubicBezTo>
                      <a:pt x="748438" y="399794"/>
                      <a:pt x="748438" y="399794"/>
                      <a:pt x="749390" y="399794"/>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Segoe UI"/>
                  <a:ea typeface="+mn-ea"/>
                  <a:cs typeface="+mn-cs"/>
                </a:endParaRPr>
              </a:p>
            </p:txBody>
          </p:sp>
        </p:grpSp>
        <p:sp>
          <p:nvSpPr>
            <p:cNvPr id="123" name="TextBox 122">
              <a:extLst>
                <a:ext uri="{FF2B5EF4-FFF2-40B4-BE49-F238E27FC236}">
                  <a16:creationId xmlns:a16="http://schemas.microsoft.com/office/drawing/2014/main" id="{1FCB23B8-7AA6-40FA-B323-965096EBEE16}"/>
                </a:ext>
              </a:extLst>
            </p:cNvPr>
            <p:cNvSpPr txBox="1"/>
            <p:nvPr/>
          </p:nvSpPr>
          <p:spPr>
            <a:xfrm>
              <a:off x="6470244" y="2901317"/>
              <a:ext cx="2284038" cy="553998"/>
            </a:xfrm>
            <a:prstGeom prst="rect">
              <a:avLst/>
            </a:prstGeom>
            <a:noFill/>
          </p:spPr>
          <p:txBody>
            <a:bodyPr wrap="square" lIns="0" tIns="0" rIns="0" bIns="0" rtlCol="0">
              <a:spAutoFit/>
            </a:bodyPr>
            <a:lstStyle>
              <a:defPPr>
                <a:defRPr lang="en-US"/>
              </a:defPPr>
              <a:lvl1pPr>
                <a:defRPr>
                  <a:solidFill>
                    <a:srgbClr val="0078D4"/>
                  </a:solidFill>
                  <a:latin typeface="+mj-lt"/>
                  <a:cs typeface="Segoe UI"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2"/>
                  </a:solidFill>
                  <a:effectLst/>
                  <a:uLnTx/>
                  <a:uFillTx/>
                  <a:latin typeface="Segoe UI Semibold"/>
                  <a:ea typeface="+mn-ea"/>
                  <a:cs typeface="Segoe UI" pitchFamily="34" charset="0"/>
                </a:rPr>
                <a:t>Built-in</a:t>
              </a:r>
              <a:br>
                <a:rPr kumimoji="0" lang="en-US" sz="1800" b="0" i="0" u="none" strike="noStrike" kern="1200" cap="none" spc="0" normalizeH="0" baseline="0" noProof="0" dirty="0">
                  <a:ln>
                    <a:noFill/>
                  </a:ln>
                  <a:solidFill>
                    <a:schemeClr val="accent2"/>
                  </a:solidFill>
                  <a:effectLst/>
                  <a:uLnTx/>
                  <a:uFillTx/>
                  <a:latin typeface="Segoe UI Semibold"/>
                  <a:ea typeface="+mn-ea"/>
                  <a:cs typeface="Segoe UI" pitchFamily="34" charset="0"/>
                </a:rPr>
              </a:br>
              <a:r>
                <a:rPr kumimoji="0" lang="en-US" sz="1800" b="0" i="0" u="none" strike="noStrike" kern="1200" cap="none" spc="0" normalizeH="0" baseline="0" noProof="0" dirty="0">
                  <a:ln>
                    <a:noFill/>
                  </a:ln>
                  <a:solidFill>
                    <a:schemeClr val="accent2"/>
                  </a:solidFill>
                  <a:effectLst/>
                  <a:uLnTx/>
                  <a:uFillTx/>
                  <a:latin typeface="Segoe UI Semibold"/>
                  <a:ea typeface="+mn-ea"/>
                  <a:cs typeface="Segoe UI" pitchFamily="34" charset="0"/>
                </a:rPr>
                <a:t>intelligence</a:t>
              </a:r>
            </a:p>
          </p:txBody>
        </p:sp>
        <p:sp>
          <p:nvSpPr>
            <p:cNvPr id="124" name="TextBox 123">
              <a:extLst>
                <a:ext uri="{FF2B5EF4-FFF2-40B4-BE49-F238E27FC236}">
                  <a16:creationId xmlns:a16="http://schemas.microsoft.com/office/drawing/2014/main" id="{8921867D-3D7C-4105-85F5-E06075C9C31C}"/>
                </a:ext>
              </a:extLst>
            </p:cNvPr>
            <p:cNvSpPr txBox="1"/>
            <p:nvPr/>
          </p:nvSpPr>
          <p:spPr>
            <a:xfrm>
              <a:off x="6470244" y="3690504"/>
              <a:ext cx="2456248"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
                  <a:srgbClr val="0078D4"/>
                </a:buClr>
                <a:buSzTx/>
                <a:buFontTx/>
                <a:buNone/>
                <a:tabLst/>
                <a:defRPr/>
              </a:pPr>
              <a:r>
                <a:rPr kumimoji="0" lang="en-US" sz="1100" b="0" i="0" u="none" strike="noStrike" kern="0" cap="none" spc="0" normalizeH="0" baseline="0" noProof="0" dirty="0">
                  <a:ln>
                    <a:noFill/>
                  </a:ln>
                  <a:effectLst/>
                  <a:uLnTx/>
                  <a:uFillTx/>
                  <a:latin typeface="Segoe UI"/>
                  <a:ea typeface="+mn-ea"/>
                  <a:cs typeface="+mn-cs"/>
                </a:rPr>
                <a:t>Intelligence for optimized performance and security</a:t>
              </a:r>
            </a:p>
          </p:txBody>
        </p:sp>
      </p:grpSp>
      <p:grpSp>
        <p:nvGrpSpPr>
          <p:cNvPr id="7" name="Group 6" descr="Enterprise scalability with Hyperscale. Scaling of PostgreSQL across hundreds of nodes ">
            <a:extLst>
              <a:ext uri="{FF2B5EF4-FFF2-40B4-BE49-F238E27FC236}">
                <a16:creationId xmlns:a16="http://schemas.microsoft.com/office/drawing/2014/main" id="{B7D8BDC5-218A-468F-B491-EA625DCCB159}"/>
              </a:ext>
            </a:extLst>
          </p:cNvPr>
          <p:cNvGrpSpPr/>
          <p:nvPr/>
        </p:nvGrpSpPr>
        <p:grpSpPr>
          <a:xfrm>
            <a:off x="9385967" y="1608774"/>
            <a:ext cx="2455416" cy="2420284"/>
            <a:chOff x="9385967" y="1608774"/>
            <a:chExt cx="2455416" cy="2420284"/>
          </a:xfrm>
        </p:grpSpPr>
        <p:sp>
          <p:nvSpPr>
            <p:cNvPr id="111" name="TextBox 110">
              <a:extLst>
                <a:ext uri="{FF2B5EF4-FFF2-40B4-BE49-F238E27FC236}">
                  <a16:creationId xmlns:a16="http://schemas.microsoft.com/office/drawing/2014/main" id="{1776EBCC-7DA0-4B2E-A8C1-782B64FE15EE}"/>
                </a:ext>
              </a:extLst>
            </p:cNvPr>
            <p:cNvSpPr txBox="1"/>
            <p:nvPr/>
          </p:nvSpPr>
          <p:spPr>
            <a:xfrm>
              <a:off x="9385967" y="2901317"/>
              <a:ext cx="2455416" cy="553998"/>
            </a:xfrm>
            <a:prstGeom prst="rect">
              <a:avLst/>
            </a:prstGeom>
            <a:noFill/>
          </p:spPr>
          <p:txBody>
            <a:bodyPr wrap="square" lIns="0" tIns="0" rIns="0" bIns="0" rtlCol="0">
              <a:spAutoFit/>
            </a:bodyPr>
            <a:lstStyle>
              <a:defPPr>
                <a:defRPr lang="en-US"/>
              </a:defPPr>
              <a:lvl1pPr>
                <a:defRPr>
                  <a:solidFill>
                    <a:srgbClr val="0078D4"/>
                  </a:solidFill>
                  <a:latin typeface="+mj-lt"/>
                  <a:cs typeface="Segoe UI"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2"/>
                  </a:solidFill>
                  <a:effectLst/>
                  <a:uLnTx/>
                  <a:uFillTx/>
                  <a:latin typeface="Segoe UI Semibold"/>
                  <a:ea typeface="+mn-ea"/>
                  <a:cs typeface="Segoe UI" pitchFamily="34" charset="0"/>
                </a:rPr>
                <a:t>Enterprise scalability with Hyperscale</a:t>
              </a:r>
            </a:p>
          </p:txBody>
        </p:sp>
        <p:grpSp>
          <p:nvGrpSpPr>
            <p:cNvPr id="20" name="Group 19">
              <a:extLst>
                <a:ext uri="{FF2B5EF4-FFF2-40B4-BE49-F238E27FC236}">
                  <a16:creationId xmlns:a16="http://schemas.microsoft.com/office/drawing/2014/main" id="{36E6030F-F499-49ED-AB08-1D04B76DF099}"/>
                </a:ext>
                <a:ext uri="{C183D7F6-B498-43B3-948B-1728B52AA6E4}">
                  <adec:decorative xmlns:adec="http://schemas.microsoft.com/office/drawing/2017/decorative" val="1"/>
                </a:ext>
              </a:extLst>
            </p:cNvPr>
            <p:cNvGrpSpPr/>
            <p:nvPr/>
          </p:nvGrpSpPr>
          <p:grpSpPr>
            <a:xfrm>
              <a:off x="9629195" y="1608774"/>
              <a:ext cx="1672865" cy="926356"/>
              <a:chOff x="3943258" y="3429520"/>
              <a:chExt cx="1672865" cy="926356"/>
            </a:xfrm>
          </p:grpSpPr>
          <p:grpSp>
            <p:nvGrpSpPr>
              <p:cNvPr id="37" name="Group 36">
                <a:extLst>
                  <a:ext uri="{FF2B5EF4-FFF2-40B4-BE49-F238E27FC236}">
                    <a16:creationId xmlns:a16="http://schemas.microsoft.com/office/drawing/2014/main" id="{BDDB111D-AD5A-4518-9352-F8B61B7AFCF3}"/>
                  </a:ext>
                </a:extLst>
              </p:cNvPr>
              <p:cNvGrpSpPr/>
              <p:nvPr/>
            </p:nvGrpSpPr>
            <p:grpSpPr>
              <a:xfrm>
                <a:off x="3990302" y="3688883"/>
                <a:ext cx="1625821" cy="614039"/>
                <a:chOff x="994193" y="2027556"/>
                <a:chExt cx="1625821" cy="614039"/>
              </a:xfrm>
            </p:grpSpPr>
            <p:grpSp>
              <p:nvGrpSpPr>
                <p:cNvPr id="38" name="Group 37">
                  <a:extLst>
                    <a:ext uri="{FF2B5EF4-FFF2-40B4-BE49-F238E27FC236}">
                      <a16:creationId xmlns:a16="http://schemas.microsoft.com/office/drawing/2014/main" id="{00DA985E-D77E-4CE8-91C2-2F3F80AE637E}"/>
                    </a:ext>
                  </a:extLst>
                </p:cNvPr>
                <p:cNvGrpSpPr/>
                <p:nvPr/>
              </p:nvGrpSpPr>
              <p:grpSpPr>
                <a:xfrm rot="2700000">
                  <a:off x="2283545" y="2335090"/>
                  <a:ext cx="244119" cy="245808"/>
                  <a:chOff x="2601720" y="3509190"/>
                  <a:chExt cx="551360" cy="557440"/>
                </a:xfrm>
              </p:grpSpPr>
              <p:sp>
                <p:nvSpPr>
                  <p:cNvPr id="47" name="Rectangle 33">
                    <a:extLst>
                      <a:ext uri="{FF2B5EF4-FFF2-40B4-BE49-F238E27FC236}">
                        <a16:creationId xmlns:a16="http://schemas.microsoft.com/office/drawing/2014/main" id="{B672EB63-8696-4373-916D-E52309784F1E}"/>
                      </a:ext>
                    </a:extLst>
                  </p:cNvPr>
                  <p:cNvSpPr>
                    <a:spLocks noChangeArrowheads="1"/>
                  </p:cNvSpPr>
                  <p:nvPr/>
                </p:nvSpPr>
                <p:spPr bwMode="auto">
                  <a:xfrm>
                    <a:off x="3062608" y="3509190"/>
                    <a:ext cx="90472" cy="30261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6" name="Freeform 39">
                    <a:extLst>
                      <a:ext uri="{FF2B5EF4-FFF2-40B4-BE49-F238E27FC236}">
                        <a16:creationId xmlns:a16="http://schemas.microsoft.com/office/drawing/2014/main" id="{C8069000-47F6-4584-A016-4CE7C1F5D6F8}"/>
                      </a:ext>
                    </a:extLst>
                  </p:cNvPr>
                  <p:cNvSpPr>
                    <a:spLocks/>
                  </p:cNvSpPr>
                  <p:nvPr/>
                </p:nvSpPr>
                <p:spPr bwMode="auto">
                  <a:xfrm>
                    <a:off x="2601720" y="3542515"/>
                    <a:ext cx="520995" cy="524115"/>
                  </a:xfrm>
                  <a:custGeom>
                    <a:avLst/>
                    <a:gdLst>
                      <a:gd name="T0" fmla="*/ 147 w 167"/>
                      <a:gd name="T1" fmla="*/ 0 h 168"/>
                      <a:gd name="T2" fmla="*/ 167 w 167"/>
                      <a:gd name="T3" fmla="*/ 21 h 168"/>
                      <a:gd name="T4" fmla="*/ 21 w 167"/>
                      <a:gd name="T5" fmla="*/ 168 h 168"/>
                      <a:gd name="T6" fmla="*/ 0 w 167"/>
                      <a:gd name="T7" fmla="*/ 147 h 168"/>
                      <a:gd name="T8" fmla="*/ 147 w 167"/>
                      <a:gd name="T9" fmla="*/ 0 h 168"/>
                    </a:gdLst>
                    <a:ahLst/>
                    <a:cxnLst>
                      <a:cxn ang="0">
                        <a:pos x="T0" y="T1"/>
                      </a:cxn>
                      <a:cxn ang="0">
                        <a:pos x="T2" y="T3"/>
                      </a:cxn>
                      <a:cxn ang="0">
                        <a:pos x="T4" y="T5"/>
                      </a:cxn>
                      <a:cxn ang="0">
                        <a:pos x="T6" y="T7"/>
                      </a:cxn>
                      <a:cxn ang="0">
                        <a:pos x="T8" y="T9"/>
                      </a:cxn>
                    </a:cxnLst>
                    <a:rect l="0" t="0" r="r" b="b"/>
                    <a:pathLst>
                      <a:path w="167" h="168">
                        <a:moveTo>
                          <a:pt x="147" y="0"/>
                        </a:moveTo>
                        <a:lnTo>
                          <a:pt x="167" y="21"/>
                        </a:lnTo>
                        <a:lnTo>
                          <a:pt x="21" y="168"/>
                        </a:lnTo>
                        <a:lnTo>
                          <a:pt x="0" y="147"/>
                        </a:lnTo>
                        <a:lnTo>
                          <a:pt x="147"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39" name="Oval 38">
                  <a:extLst>
                    <a:ext uri="{FF2B5EF4-FFF2-40B4-BE49-F238E27FC236}">
                      <a16:creationId xmlns:a16="http://schemas.microsoft.com/office/drawing/2014/main" id="{3E9069EF-6CC3-4498-843E-43B3B35FA3C1}"/>
                    </a:ext>
                  </a:extLst>
                </p:cNvPr>
                <p:cNvSpPr/>
                <p:nvPr/>
              </p:nvSpPr>
              <p:spPr bwMode="auto">
                <a:xfrm>
                  <a:off x="2256087" y="2608751"/>
                  <a:ext cx="35810" cy="32831"/>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Oval 39">
                  <a:extLst>
                    <a:ext uri="{FF2B5EF4-FFF2-40B4-BE49-F238E27FC236}">
                      <a16:creationId xmlns:a16="http://schemas.microsoft.com/office/drawing/2014/main" id="{BBF925BA-1E53-4E69-BAB4-156CD4309FFA}"/>
                    </a:ext>
                  </a:extLst>
                </p:cNvPr>
                <p:cNvSpPr/>
                <p:nvPr/>
              </p:nvSpPr>
              <p:spPr bwMode="auto">
                <a:xfrm>
                  <a:off x="2332567" y="2608750"/>
                  <a:ext cx="35810" cy="32831"/>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1" name="Oval 40">
                  <a:extLst>
                    <a:ext uri="{FF2B5EF4-FFF2-40B4-BE49-F238E27FC236}">
                      <a16:creationId xmlns:a16="http://schemas.microsoft.com/office/drawing/2014/main" id="{ACBD77DF-C96A-42E8-8BF5-53941394A00A}"/>
                    </a:ext>
                  </a:extLst>
                </p:cNvPr>
                <p:cNvSpPr/>
                <p:nvPr/>
              </p:nvSpPr>
              <p:spPr bwMode="auto">
                <a:xfrm>
                  <a:off x="2411255" y="2608764"/>
                  <a:ext cx="35810" cy="32831"/>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Oval 41">
                  <a:extLst>
                    <a:ext uri="{FF2B5EF4-FFF2-40B4-BE49-F238E27FC236}">
                      <a16:creationId xmlns:a16="http://schemas.microsoft.com/office/drawing/2014/main" id="{161DC271-A247-4B5F-8DDD-029E199535F4}"/>
                    </a:ext>
                  </a:extLst>
                </p:cNvPr>
                <p:cNvSpPr/>
                <p:nvPr/>
              </p:nvSpPr>
              <p:spPr bwMode="auto">
                <a:xfrm>
                  <a:off x="2477929" y="2608750"/>
                  <a:ext cx="35810" cy="32831"/>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43" name="Straight Connector 42">
                  <a:extLst>
                    <a:ext uri="{FF2B5EF4-FFF2-40B4-BE49-F238E27FC236}">
                      <a16:creationId xmlns:a16="http://schemas.microsoft.com/office/drawing/2014/main" id="{9AA94890-98E0-4336-8C7D-8D0776839701}"/>
                    </a:ext>
                  </a:extLst>
                </p:cNvPr>
                <p:cNvCxnSpPr/>
                <p:nvPr/>
              </p:nvCxnSpPr>
              <p:spPr>
                <a:xfrm>
                  <a:off x="1303399" y="2551754"/>
                  <a:ext cx="717374" cy="0"/>
                </a:xfrm>
                <a:prstGeom prst="line">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Arc 43">
                  <a:extLst>
                    <a:ext uri="{FF2B5EF4-FFF2-40B4-BE49-F238E27FC236}">
                      <a16:creationId xmlns:a16="http://schemas.microsoft.com/office/drawing/2014/main" id="{BCC7DE76-92C8-433C-B113-C0FA46CC4EE2}"/>
                    </a:ext>
                  </a:extLst>
                </p:cNvPr>
                <p:cNvSpPr/>
                <p:nvPr/>
              </p:nvSpPr>
              <p:spPr>
                <a:xfrm>
                  <a:off x="994193" y="2027556"/>
                  <a:ext cx="1351211" cy="561480"/>
                </a:xfrm>
                <a:prstGeom prst="arc">
                  <a:avLst>
                    <a:gd name="adj1" fmla="val 10559377"/>
                    <a:gd name="adj2" fmla="val 16332211"/>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5" name="Arc 44">
                  <a:extLst>
                    <a:ext uri="{FF2B5EF4-FFF2-40B4-BE49-F238E27FC236}">
                      <a16:creationId xmlns:a16="http://schemas.microsoft.com/office/drawing/2014/main" id="{25E59F87-BE7D-4E59-BAE8-A886F8FAD295}"/>
                    </a:ext>
                  </a:extLst>
                </p:cNvPr>
                <p:cNvSpPr/>
                <p:nvPr/>
              </p:nvSpPr>
              <p:spPr>
                <a:xfrm>
                  <a:off x="1268803" y="2027556"/>
                  <a:ext cx="1351211" cy="561480"/>
                </a:xfrm>
                <a:prstGeom prst="arc">
                  <a:avLst>
                    <a:gd name="adj1" fmla="val 14308087"/>
                    <a:gd name="adj2" fmla="val 157228"/>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86" name="Rectangle 33">
                <a:extLst>
                  <a:ext uri="{FF2B5EF4-FFF2-40B4-BE49-F238E27FC236}">
                    <a16:creationId xmlns:a16="http://schemas.microsoft.com/office/drawing/2014/main" id="{CA74EFC8-831D-449D-9201-AA08930799A1}"/>
                  </a:ext>
                </a:extLst>
              </p:cNvPr>
              <p:cNvSpPr>
                <a:spLocks noChangeArrowheads="1"/>
              </p:cNvSpPr>
              <p:nvPr/>
            </p:nvSpPr>
            <p:spPr bwMode="auto">
              <a:xfrm rot="2700000" flipV="1">
                <a:off x="5438381" y="4060587"/>
                <a:ext cx="133513" cy="45719"/>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pic>
            <p:nvPicPr>
              <p:cNvPr id="116" name="Graphic 115">
                <a:extLst>
                  <a:ext uri="{FF2B5EF4-FFF2-40B4-BE49-F238E27FC236}">
                    <a16:creationId xmlns:a16="http://schemas.microsoft.com/office/drawing/2014/main" id="{FBCEA0D4-EDD3-4A63-B8A9-4827E69375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56631" y="3429520"/>
                <a:ext cx="428359" cy="428359"/>
              </a:xfrm>
              <a:prstGeom prst="rect">
                <a:avLst/>
              </a:prstGeom>
            </p:spPr>
          </p:pic>
          <p:pic>
            <p:nvPicPr>
              <p:cNvPr id="119" name="Graphic 118">
                <a:extLst>
                  <a:ext uri="{FF2B5EF4-FFF2-40B4-BE49-F238E27FC236}">
                    <a16:creationId xmlns:a16="http://schemas.microsoft.com/office/drawing/2014/main" id="{0EB952FF-F07C-4CE3-B654-A3D9A06C14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43258" y="3919603"/>
                <a:ext cx="428359" cy="428359"/>
              </a:xfrm>
              <a:prstGeom prst="rect">
                <a:avLst/>
              </a:prstGeom>
            </p:spPr>
          </p:pic>
          <p:pic>
            <p:nvPicPr>
              <p:cNvPr id="120" name="Graphic 119">
                <a:extLst>
                  <a:ext uri="{FF2B5EF4-FFF2-40B4-BE49-F238E27FC236}">
                    <a16:creationId xmlns:a16="http://schemas.microsoft.com/office/drawing/2014/main" id="{B2C738B7-97E8-4CE8-B455-7D9B9B63FF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00659" y="3927517"/>
                <a:ext cx="428359" cy="428359"/>
              </a:xfrm>
              <a:prstGeom prst="rect">
                <a:avLst/>
              </a:prstGeom>
            </p:spPr>
          </p:pic>
          <p:pic>
            <p:nvPicPr>
              <p:cNvPr id="121" name="Graphic 120">
                <a:extLst>
                  <a:ext uri="{FF2B5EF4-FFF2-40B4-BE49-F238E27FC236}">
                    <a16:creationId xmlns:a16="http://schemas.microsoft.com/office/drawing/2014/main" id="{63384A37-58A2-46EE-B3C1-9C994EBD1A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46691" y="3927517"/>
                <a:ext cx="428359" cy="428359"/>
              </a:xfrm>
              <a:prstGeom prst="rect">
                <a:avLst/>
              </a:prstGeom>
            </p:spPr>
          </p:pic>
        </p:grpSp>
        <p:sp>
          <p:nvSpPr>
            <p:cNvPr id="126" name="TextBox 125">
              <a:extLst>
                <a:ext uri="{FF2B5EF4-FFF2-40B4-BE49-F238E27FC236}">
                  <a16:creationId xmlns:a16="http://schemas.microsoft.com/office/drawing/2014/main" id="{783DCA9A-8C32-4C11-9609-C4B8A4CE8C36}"/>
                </a:ext>
              </a:extLst>
            </p:cNvPr>
            <p:cNvSpPr txBox="1"/>
            <p:nvPr/>
          </p:nvSpPr>
          <p:spPr>
            <a:xfrm>
              <a:off x="9385967" y="3690504"/>
              <a:ext cx="2182840" cy="338554"/>
            </a:xfrm>
            <a:prstGeom prst="rect">
              <a:avLst/>
            </a:prstGeom>
            <a:noFill/>
          </p:spPr>
          <p:txBody>
            <a:bodyPr wrap="square" lIns="0" tIns="0" rIns="0" bIns="0" rtlCol="0">
              <a:spAutoFit/>
            </a:bodyPr>
            <a:lstStyle>
              <a:defPPr>
                <a:defRPr lang="en-US"/>
              </a:defPPr>
              <a:lvl1pPr marL="285750" marR="0" lvl="0" indent="-285750" fontAlgn="auto">
                <a:lnSpc>
                  <a:spcPct val="100000"/>
                </a:lnSpc>
                <a:spcBef>
                  <a:spcPts val="0"/>
                </a:spcBef>
                <a:spcAft>
                  <a:spcPts val="600"/>
                </a:spcAft>
                <a:buClrTx/>
                <a:buSzTx/>
                <a:buFont typeface="Arial" panose="020B0604020202020204" pitchFamily="34" charset="0"/>
                <a:buChar char="•"/>
                <a:tabLst/>
                <a:defRPr sz="1200" kern="0">
                  <a:solidFill>
                    <a:prstClr val="black"/>
                  </a:solidFill>
                  <a:latin typeface="Segoe UI"/>
                </a:defRPr>
              </a:lvl1pPr>
            </a:lstStyle>
            <a:p>
              <a:pPr marL="0" marR="0" lvl="0" indent="0" algn="l" defTabSz="914400" rtl="0" eaLnBrk="1" fontAlgn="auto" latinLnBrk="0" hangingPunct="1">
                <a:lnSpc>
                  <a:spcPct val="100000"/>
                </a:lnSpc>
                <a:spcBef>
                  <a:spcPts val="0"/>
                </a:spcBef>
                <a:spcAft>
                  <a:spcPts val="600"/>
                </a:spcAft>
                <a:buClr>
                  <a:srgbClr val="0078D4"/>
                </a:buClr>
                <a:buSzTx/>
                <a:buFont typeface="Arial" panose="020B0604020202020204" pitchFamily="34" charset="0"/>
                <a:buNone/>
                <a:tabLst/>
                <a:defRPr/>
              </a:pPr>
              <a:r>
                <a:rPr kumimoji="0" lang="en-US" sz="1100" b="0" i="0" u="none" strike="noStrike" kern="0" cap="none" spc="0" normalizeH="0" baseline="0" noProof="0" dirty="0">
                  <a:ln>
                    <a:noFill/>
                  </a:ln>
                  <a:solidFill>
                    <a:schemeClr val="tx1"/>
                  </a:solidFill>
                  <a:effectLst/>
                  <a:uLnTx/>
                  <a:uFillTx/>
                  <a:latin typeface="Segoe UI"/>
                  <a:ea typeface="+mn-ea"/>
                  <a:cs typeface="+mn-cs"/>
                </a:rPr>
                <a:t>Scaling of PostgreSQL across hundreds of nodes </a:t>
              </a:r>
            </a:p>
          </p:txBody>
        </p:sp>
      </p:grpSp>
      <p:grpSp>
        <p:nvGrpSpPr>
          <p:cNvPr id="8" name="Group 7" descr="Secure and compliant. Advanced Threat Protection and Azure IP Advantage">
            <a:extLst>
              <a:ext uri="{FF2B5EF4-FFF2-40B4-BE49-F238E27FC236}">
                <a16:creationId xmlns:a16="http://schemas.microsoft.com/office/drawing/2014/main" id="{E06BD9BD-14EE-45F1-A7DD-2D298BB74E55}"/>
              </a:ext>
            </a:extLst>
          </p:cNvPr>
          <p:cNvGrpSpPr/>
          <p:nvPr/>
        </p:nvGrpSpPr>
        <p:grpSpPr>
          <a:xfrm>
            <a:off x="1383586" y="4991690"/>
            <a:ext cx="3488197" cy="1081160"/>
            <a:chOff x="1383586" y="4991690"/>
            <a:chExt cx="3488197" cy="1081160"/>
          </a:xfrm>
        </p:grpSpPr>
        <p:sp>
          <p:nvSpPr>
            <p:cNvPr id="6" name="Rectangle 5">
              <a:extLst>
                <a:ext uri="{FF2B5EF4-FFF2-40B4-BE49-F238E27FC236}">
                  <a16:creationId xmlns:a16="http://schemas.microsoft.com/office/drawing/2014/main" id="{FD049673-E29F-480D-84DB-DFA656EBDD9D}"/>
                </a:ext>
              </a:extLst>
            </p:cNvPr>
            <p:cNvSpPr/>
            <p:nvPr/>
          </p:nvSpPr>
          <p:spPr bwMode="auto">
            <a:xfrm>
              <a:off x="2268285" y="5064153"/>
              <a:ext cx="2603498" cy="398282"/>
            </a:xfrm>
            <a:prstGeom prst="rect">
              <a:avLst/>
            </a:prstGeom>
            <a:noFill/>
            <a:ln w="6350" cap="flat" cmpd="sng" algn="ctr">
              <a:noFill/>
              <a:prstDash val="solid"/>
              <a:headEnd type="none" w="med" len="med"/>
              <a:tailEnd type="none" w="med" len="med"/>
            </a:ln>
            <a:effectLst/>
          </p:spPr>
          <p:txBody>
            <a:bodyPr rot="0" spcFirstLastPara="0" vert="horz" wrap="square" lIns="0" tIns="44815" rIns="0" bIns="44815" numCol="1" spcCol="0" rtlCol="0" fromWordArt="0" anchor="t" anchorCtr="0" forceAA="0" compatLnSpc="1">
              <a:prstTxWarp prst="textNoShape">
                <a:avLst/>
              </a:prstTxWarp>
              <a:spAutoFit/>
            </a:bodyPr>
            <a:lstStyle/>
            <a:p>
              <a:pPr marL="0" marR="0" lvl="0" indent="0" algn="ctr" defTabSz="91363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accent2"/>
                  </a:solidFill>
                  <a:effectLst/>
                  <a:uLnTx/>
                  <a:uFillTx/>
                  <a:latin typeface="Segoe UI Semibold"/>
                  <a:ea typeface="Segoe UI Semibold" charset="0"/>
                  <a:cs typeface="Calibri" panose="020F0502020204030204" pitchFamily="34" charset="0"/>
                </a:rPr>
                <a:t>Secure and compliant </a:t>
              </a:r>
            </a:p>
          </p:txBody>
        </p:sp>
        <p:grpSp>
          <p:nvGrpSpPr>
            <p:cNvPr id="99" name="Group 98">
              <a:extLst>
                <a:ext uri="{FF2B5EF4-FFF2-40B4-BE49-F238E27FC236}">
                  <a16:creationId xmlns:a16="http://schemas.microsoft.com/office/drawing/2014/main" id="{1F6705A1-B697-40DA-98B5-A334B10FD8F8}"/>
                </a:ext>
                <a:ext uri="{C183D7F6-B498-43B3-948B-1728B52AA6E4}">
                  <adec:decorative xmlns:adec="http://schemas.microsoft.com/office/drawing/2017/decorative" val="1"/>
                </a:ext>
              </a:extLst>
            </p:cNvPr>
            <p:cNvGrpSpPr>
              <a:grpSpLocks noChangeAspect="1"/>
            </p:cNvGrpSpPr>
            <p:nvPr/>
          </p:nvGrpSpPr>
          <p:grpSpPr>
            <a:xfrm>
              <a:off x="1383586" y="4991690"/>
              <a:ext cx="705415" cy="870572"/>
              <a:chOff x="1980078" y="253998"/>
              <a:chExt cx="3830386" cy="4727197"/>
            </a:xfrm>
            <a:solidFill>
              <a:srgbClr val="50E6FF"/>
            </a:solidFill>
          </p:grpSpPr>
          <p:sp>
            <p:nvSpPr>
              <p:cNvPr id="100" name="Rectangle 27">
                <a:extLst>
                  <a:ext uri="{FF2B5EF4-FFF2-40B4-BE49-F238E27FC236}">
                    <a16:creationId xmlns:a16="http://schemas.microsoft.com/office/drawing/2014/main" id="{91920D71-7769-47B6-B443-7FB0CDFDF0AC}"/>
                  </a:ext>
                </a:extLst>
              </p:cNvPr>
              <p:cNvSpPr>
                <a:spLocks noChangeArrowheads="1"/>
              </p:cNvSpPr>
              <p:nvPr/>
            </p:nvSpPr>
            <p:spPr bwMode="auto">
              <a:xfrm>
                <a:off x="1980078" y="2169196"/>
                <a:ext cx="3830386" cy="281199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01" name="Freeform 29">
                <a:extLst>
                  <a:ext uri="{FF2B5EF4-FFF2-40B4-BE49-F238E27FC236}">
                    <a16:creationId xmlns:a16="http://schemas.microsoft.com/office/drawing/2014/main" id="{0F9CF16B-C175-45F1-8F4C-3342DCEC9179}"/>
                  </a:ext>
                </a:extLst>
              </p:cNvPr>
              <p:cNvSpPr>
                <a:spLocks/>
              </p:cNvSpPr>
              <p:nvPr/>
            </p:nvSpPr>
            <p:spPr bwMode="auto">
              <a:xfrm>
                <a:off x="3454477" y="2913999"/>
                <a:ext cx="881597" cy="881598"/>
              </a:xfrm>
              <a:custGeom>
                <a:avLst/>
                <a:gdLst>
                  <a:gd name="T0" fmla="*/ 256 w 256"/>
                  <a:gd name="T1" fmla="*/ 127 h 256"/>
                  <a:gd name="T2" fmla="*/ 256 w 256"/>
                  <a:gd name="T3" fmla="*/ 129 h 256"/>
                  <a:gd name="T4" fmla="*/ 129 w 256"/>
                  <a:gd name="T5" fmla="*/ 256 h 256"/>
                  <a:gd name="T6" fmla="*/ 127 w 256"/>
                  <a:gd name="T7" fmla="*/ 256 h 256"/>
                  <a:gd name="T8" fmla="*/ 0 w 256"/>
                  <a:gd name="T9" fmla="*/ 129 h 256"/>
                  <a:gd name="T10" fmla="*/ 0 w 256"/>
                  <a:gd name="T11" fmla="*/ 127 h 256"/>
                  <a:gd name="T12" fmla="*/ 127 w 256"/>
                  <a:gd name="T13" fmla="*/ 0 h 256"/>
                  <a:gd name="T14" fmla="*/ 129 w 256"/>
                  <a:gd name="T15" fmla="*/ 0 h 256"/>
                  <a:gd name="T16" fmla="*/ 256 w 256"/>
                  <a:gd name="T17" fmla="*/ 12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127"/>
                    </a:moveTo>
                    <a:cubicBezTo>
                      <a:pt x="256" y="129"/>
                      <a:pt x="256" y="129"/>
                      <a:pt x="256" y="129"/>
                    </a:cubicBezTo>
                    <a:cubicBezTo>
                      <a:pt x="256" y="199"/>
                      <a:pt x="199" y="256"/>
                      <a:pt x="129" y="256"/>
                    </a:cubicBezTo>
                    <a:cubicBezTo>
                      <a:pt x="127" y="256"/>
                      <a:pt x="127" y="256"/>
                      <a:pt x="127" y="256"/>
                    </a:cubicBezTo>
                    <a:cubicBezTo>
                      <a:pt x="57" y="256"/>
                      <a:pt x="0" y="199"/>
                      <a:pt x="0" y="129"/>
                    </a:cubicBezTo>
                    <a:cubicBezTo>
                      <a:pt x="0" y="127"/>
                      <a:pt x="0" y="127"/>
                      <a:pt x="0" y="127"/>
                    </a:cubicBezTo>
                    <a:cubicBezTo>
                      <a:pt x="0" y="57"/>
                      <a:pt x="57" y="0"/>
                      <a:pt x="127" y="0"/>
                    </a:cubicBezTo>
                    <a:cubicBezTo>
                      <a:pt x="129" y="0"/>
                      <a:pt x="129" y="0"/>
                      <a:pt x="129" y="0"/>
                    </a:cubicBezTo>
                    <a:cubicBezTo>
                      <a:pt x="199" y="0"/>
                      <a:pt x="256" y="57"/>
                      <a:pt x="256"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02" name="Freeform 30">
                <a:extLst>
                  <a:ext uri="{FF2B5EF4-FFF2-40B4-BE49-F238E27FC236}">
                    <a16:creationId xmlns:a16="http://schemas.microsoft.com/office/drawing/2014/main" id="{2F9AAFAD-B616-4D8A-863B-CAB6515FCF36}"/>
                  </a:ext>
                </a:extLst>
              </p:cNvPr>
              <p:cNvSpPr>
                <a:spLocks/>
              </p:cNvSpPr>
              <p:nvPr/>
            </p:nvSpPr>
            <p:spPr bwMode="auto">
              <a:xfrm>
                <a:off x="3667277" y="3354793"/>
                <a:ext cx="455998" cy="1033598"/>
              </a:xfrm>
              <a:custGeom>
                <a:avLst/>
                <a:gdLst>
                  <a:gd name="T0" fmla="*/ 64 w 128"/>
                  <a:gd name="T1" fmla="*/ 299 h 299"/>
                  <a:gd name="T2" fmla="*/ 63 w 128"/>
                  <a:gd name="T3" fmla="*/ 299 h 299"/>
                  <a:gd name="T4" fmla="*/ 0 w 128"/>
                  <a:gd name="T5" fmla="*/ 236 h 299"/>
                  <a:gd name="T6" fmla="*/ 0 w 128"/>
                  <a:gd name="T7" fmla="*/ 64 h 299"/>
                  <a:gd name="T8" fmla="*/ 63 w 128"/>
                  <a:gd name="T9" fmla="*/ 0 h 299"/>
                  <a:gd name="T10" fmla="*/ 64 w 128"/>
                  <a:gd name="T11" fmla="*/ 0 h 299"/>
                  <a:gd name="T12" fmla="*/ 128 w 128"/>
                  <a:gd name="T13" fmla="*/ 64 h 299"/>
                  <a:gd name="T14" fmla="*/ 128 w 128"/>
                  <a:gd name="T15" fmla="*/ 236 h 299"/>
                  <a:gd name="T16" fmla="*/ 64 w 128"/>
                  <a:gd name="T17" fmla="*/ 29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299">
                    <a:moveTo>
                      <a:pt x="64" y="299"/>
                    </a:moveTo>
                    <a:cubicBezTo>
                      <a:pt x="63" y="299"/>
                      <a:pt x="63" y="299"/>
                      <a:pt x="63" y="299"/>
                    </a:cubicBezTo>
                    <a:cubicBezTo>
                      <a:pt x="28" y="299"/>
                      <a:pt x="0" y="271"/>
                      <a:pt x="0" y="236"/>
                    </a:cubicBezTo>
                    <a:cubicBezTo>
                      <a:pt x="0" y="64"/>
                      <a:pt x="0" y="64"/>
                      <a:pt x="0" y="64"/>
                    </a:cubicBezTo>
                    <a:cubicBezTo>
                      <a:pt x="0" y="29"/>
                      <a:pt x="28" y="0"/>
                      <a:pt x="63" y="0"/>
                    </a:cubicBezTo>
                    <a:cubicBezTo>
                      <a:pt x="64" y="0"/>
                      <a:pt x="64" y="0"/>
                      <a:pt x="64" y="0"/>
                    </a:cubicBezTo>
                    <a:cubicBezTo>
                      <a:pt x="100" y="0"/>
                      <a:pt x="128" y="29"/>
                      <a:pt x="128" y="64"/>
                    </a:cubicBezTo>
                    <a:cubicBezTo>
                      <a:pt x="128" y="236"/>
                      <a:pt x="128" y="236"/>
                      <a:pt x="128" y="236"/>
                    </a:cubicBezTo>
                    <a:cubicBezTo>
                      <a:pt x="128" y="271"/>
                      <a:pt x="100" y="299"/>
                      <a:pt x="64" y="2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03" name="Freeform: Shape 141">
                <a:extLst>
                  <a:ext uri="{FF2B5EF4-FFF2-40B4-BE49-F238E27FC236}">
                    <a16:creationId xmlns:a16="http://schemas.microsoft.com/office/drawing/2014/main" id="{B758B40F-5E5F-4612-B4A1-E903162DCB7E}"/>
                  </a:ext>
                </a:extLst>
              </p:cNvPr>
              <p:cNvSpPr/>
              <p:nvPr/>
            </p:nvSpPr>
            <p:spPr bwMode="auto">
              <a:xfrm>
                <a:off x="2420880" y="253998"/>
                <a:ext cx="2948790" cy="2423888"/>
              </a:xfrm>
              <a:custGeom>
                <a:avLst/>
                <a:gdLst>
                  <a:gd name="connsiteX0" fmla="*/ 1474395 w 2948790"/>
                  <a:gd name="connsiteY0" fmla="*/ 0 h 2423888"/>
                  <a:gd name="connsiteX1" fmla="*/ 2948790 w 2948790"/>
                  <a:gd name="connsiteY1" fmla="*/ 1474395 h 2423888"/>
                  <a:gd name="connsiteX2" fmla="*/ 2948790 w 2948790"/>
                  <a:gd name="connsiteY2" fmla="*/ 2423888 h 2423888"/>
                  <a:gd name="connsiteX3" fmla="*/ 2505425 w 2948790"/>
                  <a:gd name="connsiteY3" fmla="*/ 2423888 h 2423888"/>
                  <a:gd name="connsiteX4" fmla="*/ 2506265 w 2948790"/>
                  <a:gd name="connsiteY4" fmla="*/ 1475461 h 2423888"/>
                  <a:gd name="connsiteX5" fmla="*/ 1474395 w 2948790"/>
                  <a:gd name="connsiteY5" fmla="*/ 443591 h 2423888"/>
                  <a:gd name="connsiteX6" fmla="*/ 442525 w 2948790"/>
                  <a:gd name="connsiteY6" fmla="*/ 1475461 h 2423888"/>
                  <a:gd name="connsiteX7" fmla="*/ 442525 w 2948790"/>
                  <a:gd name="connsiteY7" fmla="*/ 2423888 h 2423888"/>
                  <a:gd name="connsiteX8" fmla="*/ 0 w 2948790"/>
                  <a:gd name="connsiteY8" fmla="*/ 2423888 h 2423888"/>
                  <a:gd name="connsiteX9" fmla="*/ 0 w 2948790"/>
                  <a:gd name="connsiteY9" fmla="*/ 1474395 h 2423888"/>
                  <a:gd name="connsiteX10" fmla="*/ 1474395 w 2948790"/>
                  <a:gd name="connsiteY10" fmla="*/ 0 h 242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48790" h="2423888">
                    <a:moveTo>
                      <a:pt x="1474395" y="0"/>
                    </a:moveTo>
                    <a:cubicBezTo>
                      <a:pt x="2288681" y="0"/>
                      <a:pt x="2948790" y="660109"/>
                      <a:pt x="2948790" y="1474395"/>
                    </a:cubicBezTo>
                    <a:lnTo>
                      <a:pt x="2948790" y="2423888"/>
                    </a:lnTo>
                    <a:lnTo>
                      <a:pt x="2505425" y="2423888"/>
                    </a:lnTo>
                    <a:lnTo>
                      <a:pt x="2506265" y="1475461"/>
                    </a:lnTo>
                    <a:cubicBezTo>
                      <a:pt x="2506265" y="905575"/>
                      <a:pt x="2044281" y="443591"/>
                      <a:pt x="1474395" y="443591"/>
                    </a:cubicBezTo>
                    <a:cubicBezTo>
                      <a:pt x="904509" y="443591"/>
                      <a:pt x="442525" y="905575"/>
                      <a:pt x="442525" y="1475461"/>
                    </a:cubicBezTo>
                    <a:lnTo>
                      <a:pt x="442525" y="2423888"/>
                    </a:lnTo>
                    <a:lnTo>
                      <a:pt x="0" y="2423888"/>
                    </a:lnTo>
                    <a:lnTo>
                      <a:pt x="0" y="1474395"/>
                    </a:lnTo>
                    <a:cubicBezTo>
                      <a:pt x="0" y="660109"/>
                      <a:pt x="660109" y="0"/>
                      <a:pt x="1474395" y="0"/>
                    </a:cubicBezTo>
                    <a:close/>
                  </a:path>
                </a:pathLst>
              </a:cu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sp>
          <p:nvSpPr>
            <p:cNvPr id="128" name="TextBox 127">
              <a:extLst>
                <a:ext uri="{FF2B5EF4-FFF2-40B4-BE49-F238E27FC236}">
                  <a16:creationId xmlns:a16="http://schemas.microsoft.com/office/drawing/2014/main" id="{7D83B890-679D-42BC-B4E9-314E7085EB2C}"/>
                </a:ext>
              </a:extLst>
            </p:cNvPr>
            <p:cNvSpPr txBox="1"/>
            <p:nvPr/>
          </p:nvSpPr>
          <p:spPr>
            <a:xfrm>
              <a:off x="2089001" y="5438830"/>
              <a:ext cx="2739878" cy="634020"/>
            </a:xfrm>
            <a:prstGeom prst="rect">
              <a:avLst/>
            </a:prstGeom>
            <a:noFill/>
          </p:spPr>
          <p:txBody>
            <a:bodyPr wrap="square" lIns="182880" tIns="146304" rIns="182880" bIns="146304" rtlCol="0">
              <a:spAutoFit/>
            </a:bodyPr>
            <a:lstStyle/>
            <a:p>
              <a:pPr marR="0" lvl="0" algn="l" defTabSz="914400" rtl="0" eaLnBrk="1" fontAlgn="auto" latinLnBrk="0" hangingPunct="1">
                <a:lnSpc>
                  <a:spcPct val="100000"/>
                </a:lnSpc>
                <a:spcBef>
                  <a:spcPts val="0"/>
                </a:spcBef>
                <a:spcAft>
                  <a:spcPts val="600"/>
                </a:spcAft>
                <a:buClr>
                  <a:srgbClr val="0078D4"/>
                </a:buClr>
                <a:buSzTx/>
                <a:tabLst/>
                <a:defRPr/>
              </a:pPr>
              <a:r>
                <a:rPr kumimoji="0" lang="en-US" sz="1100" b="0" i="0" u="none" strike="noStrike" kern="0" cap="none" spc="0" normalizeH="0" baseline="0" noProof="0" dirty="0">
                  <a:ln>
                    <a:noFill/>
                  </a:ln>
                  <a:effectLst/>
                  <a:uLnTx/>
                  <a:uFillTx/>
                  <a:latin typeface="Segoe UI"/>
                  <a:ea typeface="+mn-ea"/>
                  <a:cs typeface="+mn-cs"/>
                </a:rPr>
                <a:t>Advanced Threat Protection and Azure IP Advantage</a:t>
              </a:r>
            </a:p>
          </p:txBody>
        </p:sp>
      </p:grpSp>
      <p:grpSp>
        <p:nvGrpSpPr>
          <p:cNvPr id="9" name="Group 8" descr="Integrated with Azure services. Streamlined experience for open source frameworks and languages .">
            <a:extLst>
              <a:ext uri="{FF2B5EF4-FFF2-40B4-BE49-F238E27FC236}">
                <a16:creationId xmlns:a16="http://schemas.microsoft.com/office/drawing/2014/main" id="{826A0C98-843D-4D38-8EEB-EBC141757118}"/>
              </a:ext>
            </a:extLst>
          </p:cNvPr>
          <p:cNvGrpSpPr/>
          <p:nvPr/>
        </p:nvGrpSpPr>
        <p:grpSpPr>
          <a:xfrm>
            <a:off x="6372549" y="4972071"/>
            <a:ext cx="4929511" cy="1102092"/>
            <a:chOff x="6372549" y="4972071"/>
            <a:chExt cx="4929511" cy="1102092"/>
          </a:xfrm>
        </p:grpSpPr>
        <p:grpSp>
          <p:nvGrpSpPr>
            <p:cNvPr id="25" name="Group 24">
              <a:extLst>
                <a:ext uri="{FF2B5EF4-FFF2-40B4-BE49-F238E27FC236}">
                  <a16:creationId xmlns:a16="http://schemas.microsoft.com/office/drawing/2014/main" id="{49AB95D4-7633-4C3E-A257-A2FDC22F2596}"/>
                </a:ext>
                <a:ext uri="{C183D7F6-B498-43B3-948B-1728B52AA6E4}">
                  <adec:decorative xmlns:adec="http://schemas.microsoft.com/office/drawing/2017/decorative" val="1"/>
                </a:ext>
              </a:extLst>
            </p:cNvPr>
            <p:cNvGrpSpPr/>
            <p:nvPr/>
          </p:nvGrpSpPr>
          <p:grpSpPr>
            <a:xfrm>
              <a:off x="6372549" y="4972071"/>
              <a:ext cx="999778" cy="933139"/>
              <a:chOff x="10707661" y="3441910"/>
              <a:chExt cx="1044556" cy="955367"/>
            </a:xfrm>
          </p:grpSpPr>
          <p:pic>
            <p:nvPicPr>
              <p:cNvPr id="26" name="Picture 25">
                <a:extLst>
                  <a:ext uri="{FF2B5EF4-FFF2-40B4-BE49-F238E27FC236}">
                    <a16:creationId xmlns:a16="http://schemas.microsoft.com/office/drawing/2014/main" id="{01211C47-A79E-4467-AC3C-21360580F8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86704" y="3441910"/>
                <a:ext cx="465513" cy="465513"/>
              </a:xfrm>
              <a:prstGeom prst="rect">
                <a:avLst/>
              </a:prstGeom>
              <a:ln>
                <a:noFill/>
              </a:ln>
            </p:spPr>
          </p:pic>
          <p:pic>
            <p:nvPicPr>
              <p:cNvPr id="27" name="Picture 26">
                <a:extLst>
                  <a:ext uri="{FF2B5EF4-FFF2-40B4-BE49-F238E27FC236}">
                    <a16:creationId xmlns:a16="http://schemas.microsoft.com/office/drawing/2014/main" id="{44EEF458-B2B1-4794-B845-942E89B4BE2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286705" y="3974109"/>
                <a:ext cx="423168" cy="423168"/>
              </a:xfrm>
              <a:prstGeom prst="rect">
                <a:avLst/>
              </a:prstGeom>
              <a:ln>
                <a:noFill/>
              </a:ln>
            </p:spPr>
          </p:pic>
          <p:pic>
            <p:nvPicPr>
              <p:cNvPr id="30" name="Graphic 29">
                <a:extLst>
                  <a:ext uri="{FF2B5EF4-FFF2-40B4-BE49-F238E27FC236}">
                    <a16:creationId xmlns:a16="http://schemas.microsoft.com/office/drawing/2014/main" id="{564C6DC3-53D0-46BC-8EC9-3EB0961C6CD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707661" y="3488169"/>
                <a:ext cx="465513" cy="349135"/>
              </a:xfrm>
              <a:prstGeom prst="rect">
                <a:avLst/>
              </a:prstGeom>
            </p:spPr>
          </p:pic>
          <p:sp>
            <p:nvSpPr>
              <p:cNvPr id="31" name="Freeform: Shape 30">
                <a:extLst>
                  <a:ext uri="{FF2B5EF4-FFF2-40B4-BE49-F238E27FC236}">
                    <a16:creationId xmlns:a16="http://schemas.microsoft.com/office/drawing/2014/main" id="{7344BF9E-DC77-4ABE-9D51-785B6C53D794}"/>
                  </a:ext>
                </a:extLst>
              </p:cNvPr>
              <p:cNvSpPr/>
              <p:nvPr/>
            </p:nvSpPr>
            <p:spPr bwMode="auto">
              <a:xfrm>
                <a:off x="10758492" y="4038008"/>
                <a:ext cx="363855" cy="319267"/>
              </a:xfrm>
              <a:custGeom>
                <a:avLst/>
                <a:gdLst>
                  <a:gd name="connsiteX0" fmla="*/ 2058796 w 2400405"/>
                  <a:gd name="connsiteY0" fmla="*/ 1256620 h 2395129"/>
                  <a:gd name="connsiteX1" fmla="*/ 2391143 w 2400405"/>
                  <a:gd name="connsiteY1" fmla="*/ 1256620 h 2395129"/>
                  <a:gd name="connsiteX2" fmla="*/ 2391143 w 2400405"/>
                  <a:gd name="connsiteY2" fmla="*/ 2395129 h 2395129"/>
                  <a:gd name="connsiteX3" fmla="*/ 1252634 w 2400405"/>
                  <a:gd name="connsiteY3" fmla="*/ 2395129 h 2395129"/>
                  <a:gd name="connsiteX4" fmla="*/ 1252634 w 2400405"/>
                  <a:gd name="connsiteY4" fmla="*/ 1722169 h 2395129"/>
                  <a:gd name="connsiteX5" fmla="*/ 1421433 w 2400405"/>
                  <a:gd name="connsiteY5" fmla="*/ 1722169 h 2395129"/>
                  <a:gd name="connsiteX6" fmla="*/ 1421433 w 2400405"/>
                  <a:gd name="connsiteY6" fmla="*/ 2226330 h 2395129"/>
                  <a:gd name="connsiteX7" fmla="*/ 2222344 w 2400405"/>
                  <a:gd name="connsiteY7" fmla="*/ 2226330 h 2395129"/>
                  <a:gd name="connsiteX8" fmla="*/ 2222344 w 2400405"/>
                  <a:gd name="connsiteY8" fmla="*/ 1425419 h 2395129"/>
                  <a:gd name="connsiteX9" fmla="*/ 2078471 w 2400405"/>
                  <a:gd name="connsiteY9" fmla="*/ 1425419 h 2395129"/>
                  <a:gd name="connsiteX10" fmla="*/ 2079066 w 2400405"/>
                  <a:gd name="connsiteY10" fmla="*/ 1422837 h 2395129"/>
                  <a:gd name="connsiteX11" fmla="*/ 2082826 w 2400405"/>
                  <a:gd name="connsiteY11" fmla="*/ 1373140 h 2395129"/>
                  <a:gd name="connsiteX12" fmla="*/ 2072553 w 2400405"/>
                  <a:gd name="connsiteY12" fmla="*/ 1291585 h 2395129"/>
                  <a:gd name="connsiteX13" fmla="*/ 0 w 2400405"/>
                  <a:gd name="connsiteY13" fmla="*/ 1256620 h 2395129"/>
                  <a:gd name="connsiteX14" fmla="*/ 315952 w 2400405"/>
                  <a:gd name="connsiteY14" fmla="*/ 1256620 h 2395129"/>
                  <a:gd name="connsiteX15" fmla="*/ 315223 w 2400405"/>
                  <a:gd name="connsiteY15" fmla="*/ 1263854 h 2395129"/>
                  <a:gd name="connsiteX16" fmla="*/ 328997 w 2400405"/>
                  <a:gd name="connsiteY16" fmla="*/ 1373192 h 2395129"/>
                  <a:gd name="connsiteX17" fmla="*/ 349546 w 2400405"/>
                  <a:gd name="connsiteY17" fmla="*/ 1425419 h 2395129"/>
                  <a:gd name="connsiteX18" fmla="*/ 168799 w 2400405"/>
                  <a:gd name="connsiteY18" fmla="*/ 1425419 h 2395129"/>
                  <a:gd name="connsiteX19" fmla="*/ 168799 w 2400405"/>
                  <a:gd name="connsiteY19" fmla="*/ 2226330 h 2395129"/>
                  <a:gd name="connsiteX20" fmla="*/ 969710 w 2400405"/>
                  <a:gd name="connsiteY20" fmla="*/ 2226330 h 2395129"/>
                  <a:gd name="connsiteX21" fmla="*/ 969710 w 2400405"/>
                  <a:gd name="connsiteY21" fmla="*/ 1722169 h 2395129"/>
                  <a:gd name="connsiteX22" fmla="*/ 1138509 w 2400405"/>
                  <a:gd name="connsiteY22" fmla="*/ 1722169 h 2395129"/>
                  <a:gd name="connsiteX23" fmla="*/ 1138509 w 2400405"/>
                  <a:gd name="connsiteY23" fmla="*/ 2395129 h 2395129"/>
                  <a:gd name="connsiteX24" fmla="*/ 0 w 2400405"/>
                  <a:gd name="connsiteY24" fmla="*/ 2395129 h 2395129"/>
                  <a:gd name="connsiteX25" fmla="*/ 1299167 w 2400405"/>
                  <a:gd name="connsiteY25" fmla="*/ 621459 h 2395129"/>
                  <a:gd name="connsiteX26" fmla="*/ 1766863 w 2400405"/>
                  <a:gd name="connsiteY26" fmla="*/ 1098276 h 2395129"/>
                  <a:gd name="connsiteX27" fmla="*/ 1763173 w 2400405"/>
                  <a:gd name="connsiteY27" fmla="*/ 1135592 h 2395129"/>
                  <a:gd name="connsiteX28" fmla="*/ 1843595 w 2400405"/>
                  <a:gd name="connsiteY28" fmla="*/ 1152145 h 2395129"/>
                  <a:gd name="connsiteX29" fmla="*/ 1984643 w 2400405"/>
                  <a:gd name="connsiteY29" fmla="*/ 1369087 h 2395129"/>
                  <a:gd name="connsiteX30" fmla="*/ 1843595 w 2400405"/>
                  <a:gd name="connsiteY30" fmla="*/ 1586029 h 2395129"/>
                  <a:gd name="connsiteX31" fmla="*/ 1775166 w 2400405"/>
                  <a:gd name="connsiteY31" fmla="*/ 1600113 h 2395129"/>
                  <a:gd name="connsiteX32" fmla="*/ 1764705 w 2400405"/>
                  <a:gd name="connsiteY32" fmla="*/ 1604531 h 2395129"/>
                  <a:gd name="connsiteX33" fmla="*/ 1753703 w 2400405"/>
                  <a:gd name="connsiteY33" fmla="*/ 1604531 h 2395129"/>
                  <a:gd name="connsiteX34" fmla="*/ 768881 w 2400405"/>
                  <a:gd name="connsiteY34" fmla="*/ 1604531 h 2395129"/>
                  <a:gd name="connsiteX35" fmla="*/ 726694 w 2400405"/>
                  <a:gd name="connsiteY35" fmla="*/ 1604531 h 2395129"/>
                  <a:gd name="connsiteX36" fmla="*/ 713124 w 2400405"/>
                  <a:gd name="connsiteY36" fmla="*/ 1598801 h 2395129"/>
                  <a:gd name="connsiteX37" fmla="*/ 701035 w 2400405"/>
                  <a:gd name="connsiteY37" fmla="*/ 1597560 h 2395129"/>
                  <a:gd name="connsiteX38" fmla="*/ 432240 w 2400405"/>
                  <a:gd name="connsiteY38" fmla="*/ 1261325 h 2395129"/>
                  <a:gd name="connsiteX39" fmla="*/ 768881 w 2400405"/>
                  <a:gd name="connsiteY39" fmla="*/ 918119 h 2395129"/>
                  <a:gd name="connsiteX40" fmla="*/ 836726 w 2400405"/>
                  <a:gd name="connsiteY40" fmla="*/ 925092 h 2395129"/>
                  <a:gd name="connsiteX41" fmla="*/ 864054 w 2400405"/>
                  <a:gd name="connsiteY41" fmla="*/ 933741 h 2395129"/>
                  <a:gd name="connsiteX42" fmla="*/ 868225 w 2400405"/>
                  <a:gd name="connsiteY42" fmla="*/ 912677 h 2395129"/>
                  <a:gd name="connsiteX43" fmla="*/ 1299167 w 2400405"/>
                  <a:gd name="connsiteY43" fmla="*/ 621459 h 2395129"/>
                  <a:gd name="connsiteX44" fmla="*/ 1261896 w 2400405"/>
                  <a:gd name="connsiteY44" fmla="*/ 0 h 2395129"/>
                  <a:gd name="connsiteX45" fmla="*/ 2400405 w 2400405"/>
                  <a:gd name="connsiteY45" fmla="*/ 0 h 2395129"/>
                  <a:gd name="connsiteX46" fmla="*/ 2400405 w 2400405"/>
                  <a:gd name="connsiteY46" fmla="*/ 1138509 h 2395129"/>
                  <a:gd name="connsiteX47" fmla="*/ 1980483 w 2400405"/>
                  <a:gd name="connsiteY47" fmla="*/ 1138509 h 2395129"/>
                  <a:gd name="connsiteX48" fmla="*/ 1938950 w 2400405"/>
                  <a:gd name="connsiteY48" fmla="*/ 1102542 h 2395129"/>
                  <a:gd name="connsiteX49" fmla="*/ 1899596 w 2400405"/>
                  <a:gd name="connsiteY49" fmla="*/ 1081181 h 2395129"/>
                  <a:gd name="connsiteX50" fmla="*/ 1889409 w 2400405"/>
                  <a:gd name="connsiteY50" fmla="*/ 980134 h 2395129"/>
                  <a:gd name="connsiteX51" fmla="*/ 1886313 w 2400405"/>
                  <a:gd name="connsiteY51" fmla="*/ 969710 h 2395129"/>
                  <a:gd name="connsiteX52" fmla="*/ 2231606 w 2400405"/>
                  <a:gd name="connsiteY52" fmla="*/ 969710 h 2395129"/>
                  <a:gd name="connsiteX53" fmla="*/ 2231606 w 2400405"/>
                  <a:gd name="connsiteY53" fmla="*/ 168799 h 2395129"/>
                  <a:gd name="connsiteX54" fmla="*/ 1430695 w 2400405"/>
                  <a:gd name="connsiteY54" fmla="*/ 168799 h 2395129"/>
                  <a:gd name="connsiteX55" fmla="*/ 1430695 w 2400405"/>
                  <a:gd name="connsiteY55" fmla="*/ 526519 h 2395129"/>
                  <a:gd name="connsiteX56" fmla="*/ 1421863 w 2400405"/>
                  <a:gd name="connsiteY56" fmla="*/ 524133 h 2395129"/>
                  <a:gd name="connsiteX57" fmla="*/ 1318752 w 2400405"/>
                  <a:gd name="connsiteY57" fmla="*/ 515035 h 2395129"/>
                  <a:gd name="connsiteX58" fmla="*/ 1261896 w 2400405"/>
                  <a:gd name="connsiteY58" fmla="*/ 518622 h 2395129"/>
                  <a:gd name="connsiteX59" fmla="*/ 9262 w 2400405"/>
                  <a:gd name="connsiteY59" fmla="*/ 0 h 2395129"/>
                  <a:gd name="connsiteX60" fmla="*/ 1147771 w 2400405"/>
                  <a:gd name="connsiteY60" fmla="*/ 0 h 2395129"/>
                  <a:gd name="connsiteX61" fmla="*/ 1147771 w 2400405"/>
                  <a:gd name="connsiteY61" fmla="*/ 541616 h 2395129"/>
                  <a:gd name="connsiteX62" fmla="*/ 1105167 w 2400405"/>
                  <a:gd name="connsiteY62" fmla="*/ 555439 h 2395129"/>
                  <a:gd name="connsiteX63" fmla="*/ 1041102 w 2400405"/>
                  <a:gd name="connsiteY63" fmla="*/ 585339 h 2395129"/>
                  <a:gd name="connsiteX64" fmla="*/ 978972 w 2400405"/>
                  <a:gd name="connsiteY64" fmla="*/ 629491 h 2395129"/>
                  <a:gd name="connsiteX65" fmla="*/ 978972 w 2400405"/>
                  <a:gd name="connsiteY65" fmla="*/ 168799 h 2395129"/>
                  <a:gd name="connsiteX66" fmla="*/ 178061 w 2400405"/>
                  <a:gd name="connsiteY66" fmla="*/ 168799 h 2395129"/>
                  <a:gd name="connsiteX67" fmla="*/ 178061 w 2400405"/>
                  <a:gd name="connsiteY67" fmla="*/ 969710 h 2395129"/>
                  <a:gd name="connsiteX68" fmla="*/ 430811 w 2400405"/>
                  <a:gd name="connsiteY68" fmla="*/ 969710 h 2395129"/>
                  <a:gd name="connsiteX69" fmla="*/ 389941 w 2400405"/>
                  <a:gd name="connsiteY69" fmla="*/ 1019244 h 2395129"/>
                  <a:gd name="connsiteX70" fmla="*/ 349604 w 2400405"/>
                  <a:gd name="connsiteY70" fmla="*/ 1093560 h 2395129"/>
                  <a:gd name="connsiteX71" fmla="*/ 335651 w 2400405"/>
                  <a:gd name="connsiteY71" fmla="*/ 1138509 h 2395129"/>
                  <a:gd name="connsiteX72" fmla="*/ 9262 w 2400405"/>
                  <a:gd name="connsiteY72" fmla="*/ 1138509 h 239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400405" h="2395129">
                    <a:moveTo>
                      <a:pt x="2058796" y="1256620"/>
                    </a:moveTo>
                    <a:lnTo>
                      <a:pt x="2391143" y="1256620"/>
                    </a:lnTo>
                    <a:lnTo>
                      <a:pt x="2391143" y="2395129"/>
                    </a:lnTo>
                    <a:lnTo>
                      <a:pt x="1252634" y="2395129"/>
                    </a:lnTo>
                    <a:lnTo>
                      <a:pt x="1252634" y="1722169"/>
                    </a:lnTo>
                    <a:lnTo>
                      <a:pt x="1421433" y="1722169"/>
                    </a:lnTo>
                    <a:lnTo>
                      <a:pt x="1421433" y="2226330"/>
                    </a:lnTo>
                    <a:lnTo>
                      <a:pt x="2222344" y="2226330"/>
                    </a:lnTo>
                    <a:lnTo>
                      <a:pt x="2222344" y="1425419"/>
                    </a:lnTo>
                    <a:lnTo>
                      <a:pt x="2078471" y="1425419"/>
                    </a:lnTo>
                    <a:lnTo>
                      <a:pt x="2079066" y="1422837"/>
                    </a:lnTo>
                    <a:cubicBezTo>
                      <a:pt x="2081542" y="1406633"/>
                      <a:pt x="2082826" y="1390036"/>
                      <a:pt x="2082826" y="1373140"/>
                    </a:cubicBezTo>
                    <a:cubicBezTo>
                      <a:pt x="2082826" y="1344980"/>
                      <a:pt x="2079259" y="1317652"/>
                      <a:pt x="2072553" y="1291585"/>
                    </a:cubicBezTo>
                    <a:close/>
                    <a:moveTo>
                      <a:pt x="0" y="1256620"/>
                    </a:moveTo>
                    <a:lnTo>
                      <a:pt x="315952" y="1256620"/>
                    </a:lnTo>
                    <a:lnTo>
                      <a:pt x="315223" y="1263854"/>
                    </a:lnTo>
                    <a:cubicBezTo>
                      <a:pt x="315223" y="1301608"/>
                      <a:pt x="320005" y="1338245"/>
                      <a:pt x="328997" y="1373192"/>
                    </a:cubicBezTo>
                    <a:lnTo>
                      <a:pt x="349546" y="1425419"/>
                    </a:lnTo>
                    <a:lnTo>
                      <a:pt x="168799" y="1425419"/>
                    </a:lnTo>
                    <a:lnTo>
                      <a:pt x="168799" y="2226330"/>
                    </a:lnTo>
                    <a:lnTo>
                      <a:pt x="969710" y="2226330"/>
                    </a:lnTo>
                    <a:lnTo>
                      <a:pt x="969710" y="1722169"/>
                    </a:lnTo>
                    <a:lnTo>
                      <a:pt x="1138509" y="1722169"/>
                    </a:lnTo>
                    <a:lnTo>
                      <a:pt x="1138509" y="2395129"/>
                    </a:lnTo>
                    <a:lnTo>
                      <a:pt x="0" y="2395129"/>
                    </a:lnTo>
                    <a:close/>
                    <a:moveTo>
                      <a:pt x="1299167" y="621459"/>
                    </a:moveTo>
                    <a:cubicBezTo>
                      <a:pt x="1557469" y="621459"/>
                      <a:pt x="1766863" y="834937"/>
                      <a:pt x="1766863" y="1098276"/>
                    </a:cubicBezTo>
                    <a:lnTo>
                      <a:pt x="1763173" y="1135592"/>
                    </a:lnTo>
                    <a:lnTo>
                      <a:pt x="1843595" y="1152145"/>
                    </a:lnTo>
                    <a:cubicBezTo>
                      <a:pt x="1926483" y="1187888"/>
                      <a:pt x="1984643" y="1271563"/>
                      <a:pt x="1984643" y="1369087"/>
                    </a:cubicBezTo>
                    <a:cubicBezTo>
                      <a:pt x="1984643" y="1466612"/>
                      <a:pt x="1926483" y="1550287"/>
                      <a:pt x="1843595" y="1586029"/>
                    </a:cubicBezTo>
                    <a:lnTo>
                      <a:pt x="1775166" y="1600113"/>
                    </a:lnTo>
                    <a:lnTo>
                      <a:pt x="1764705" y="1604531"/>
                    </a:lnTo>
                    <a:lnTo>
                      <a:pt x="1753703" y="1604531"/>
                    </a:lnTo>
                    <a:lnTo>
                      <a:pt x="768881" y="1604531"/>
                    </a:lnTo>
                    <a:lnTo>
                      <a:pt x="726694" y="1604531"/>
                    </a:lnTo>
                    <a:lnTo>
                      <a:pt x="713124" y="1598801"/>
                    </a:lnTo>
                    <a:lnTo>
                      <a:pt x="701035" y="1597560"/>
                    </a:lnTo>
                    <a:cubicBezTo>
                      <a:pt x="547634" y="1565556"/>
                      <a:pt x="432240" y="1427179"/>
                      <a:pt x="432240" y="1261325"/>
                    </a:cubicBezTo>
                    <a:cubicBezTo>
                      <a:pt x="432240" y="1071778"/>
                      <a:pt x="582960" y="918119"/>
                      <a:pt x="768881" y="918119"/>
                    </a:cubicBezTo>
                    <a:cubicBezTo>
                      <a:pt x="792120" y="918119"/>
                      <a:pt x="814810" y="920521"/>
                      <a:pt x="836726" y="925092"/>
                    </a:cubicBezTo>
                    <a:lnTo>
                      <a:pt x="864054" y="933741"/>
                    </a:lnTo>
                    <a:lnTo>
                      <a:pt x="868225" y="912677"/>
                    </a:lnTo>
                    <a:cubicBezTo>
                      <a:pt x="939225" y="741540"/>
                      <a:pt x="1105441" y="621459"/>
                      <a:pt x="1299167" y="621459"/>
                    </a:cubicBezTo>
                    <a:close/>
                    <a:moveTo>
                      <a:pt x="1261896" y="0"/>
                    </a:moveTo>
                    <a:lnTo>
                      <a:pt x="2400405" y="0"/>
                    </a:lnTo>
                    <a:lnTo>
                      <a:pt x="2400405" y="1138509"/>
                    </a:lnTo>
                    <a:lnTo>
                      <a:pt x="1980483" y="1138509"/>
                    </a:lnTo>
                    <a:lnTo>
                      <a:pt x="1938950" y="1102542"/>
                    </a:lnTo>
                    <a:lnTo>
                      <a:pt x="1899596" y="1081181"/>
                    </a:lnTo>
                    <a:lnTo>
                      <a:pt x="1889409" y="980134"/>
                    </a:lnTo>
                    <a:lnTo>
                      <a:pt x="1886313" y="969710"/>
                    </a:lnTo>
                    <a:lnTo>
                      <a:pt x="2231606" y="969710"/>
                    </a:lnTo>
                    <a:lnTo>
                      <a:pt x="2231606" y="168799"/>
                    </a:lnTo>
                    <a:lnTo>
                      <a:pt x="1430695" y="168799"/>
                    </a:lnTo>
                    <a:lnTo>
                      <a:pt x="1430695" y="526519"/>
                    </a:lnTo>
                    <a:lnTo>
                      <a:pt x="1421863" y="524133"/>
                    </a:lnTo>
                    <a:cubicBezTo>
                      <a:pt x="1388396" y="518155"/>
                      <a:pt x="1353938" y="515035"/>
                      <a:pt x="1318752" y="515035"/>
                    </a:cubicBezTo>
                    <a:lnTo>
                      <a:pt x="1261896" y="518622"/>
                    </a:lnTo>
                    <a:close/>
                    <a:moveTo>
                      <a:pt x="9262" y="0"/>
                    </a:moveTo>
                    <a:lnTo>
                      <a:pt x="1147771" y="0"/>
                    </a:lnTo>
                    <a:lnTo>
                      <a:pt x="1147771" y="541616"/>
                    </a:lnTo>
                    <a:lnTo>
                      <a:pt x="1105167" y="555439"/>
                    </a:lnTo>
                    <a:cubicBezTo>
                      <a:pt x="1083123" y="564131"/>
                      <a:pt x="1061736" y="574130"/>
                      <a:pt x="1041102" y="585339"/>
                    </a:cubicBezTo>
                    <a:lnTo>
                      <a:pt x="978972" y="629491"/>
                    </a:lnTo>
                    <a:lnTo>
                      <a:pt x="978972" y="168799"/>
                    </a:lnTo>
                    <a:lnTo>
                      <a:pt x="178061" y="168799"/>
                    </a:lnTo>
                    <a:lnTo>
                      <a:pt x="178061" y="969710"/>
                    </a:lnTo>
                    <a:lnTo>
                      <a:pt x="430811" y="969710"/>
                    </a:lnTo>
                    <a:lnTo>
                      <a:pt x="389941" y="1019244"/>
                    </a:lnTo>
                    <a:cubicBezTo>
                      <a:pt x="374217" y="1042519"/>
                      <a:pt x="360673" y="1067389"/>
                      <a:pt x="349604" y="1093560"/>
                    </a:cubicBezTo>
                    <a:lnTo>
                      <a:pt x="335651" y="1138509"/>
                    </a:lnTo>
                    <a:lnTo>
                      <a:pt x="9262" y="1138509"/>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12" name="Rectangle 111">
              <a:extLst>
                <a:ext uri="{FF2B5EF4-FFF2-40B4-BE49-F238E27FC236}">
                  <a16:creationId xmlns:a16="http://schemas.microsoft.com/office/drawing/2014/main" id="{2A8513AD-8A09-4D33-B772-F2A312D91897}"/>
                </a:ext>
              </a:extLst>
            </p:cNvPr>
            <p:cNvSpPr/>
            <p:nvPr/>
          </p:nvSpPr>
          <p:spPr>
            <a:xfrm>
              <a:off x="7517503" y="5068940"/>
              <a:ext cx="3784557" cy="400110"/>
            </a:xfrm>
            <a:prstGeom prst="rect">
              <a:avLst/>
            </a:prstGeom>
          </p:spPr>
          <p:txBody>
            <a:bodyPr wrap="square">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chemeClr val="accent2"/>
                  </a:solidFill>
                  <a:effectLst/>
                  <a:uLnTx/>
                  <a:uFillTx/>
                  <a:latin typeface="Segoe UI Semibold"/>
                  <a:ea typeface="+mn-ea"/>
                  <a:cs typeface="Segoe UI" pitchFamily="34" charset="0"/>
                </a:rPr>
                <a:t>Integrated with Azure services </a:t>
              </a:r>
            </a:p>
          </p:txBody>
        </p:sp>
        <p:sp>
          <p:nvSpPr>
            <p:cNvPr id="129" name="TextBox 128">
              <a:extLst>
                <a:ext uri="{FF2B5EF4-FFF2-40B4-BE49-F238E27FC236}">
                  <a16:creationId xmlns:a16="http://schemas.microsoft.com/office/drawing/2014/main" id="{73F8B727-EF9D-4A54-80F7-1EADCC6A8C7C}"/>
                </a:ext>
              </a:extLst>
            </p:cNvPr>
            <p:cNvSpPr txBox="1"/>
            <p:nvPr/>
          </p:nvSpPr>
          <p:spPr>
            <a:xfrm>
              <a:off x="7474599" y="5440143"/>
              <a:ext cx="3685376" cy="634020"/>
            </a:xfrm>
            <a:prstGeom prst="rect">
              <a:avLst/>
            </a:prstGeom>
            <a:noFill/>
          </p:spPr>
          <p:txBody>
            <a:bodyPr wrap="square" lIns="182880" tIns="146304" rIns="182880" bIns="146304" rtlCol="0">
              <a:spAutoFit/>
            </a:bodyPr>
            <a:lstStyle/>
            <a:p>
              <a:pPr marR="0" lvl="0" algn="l" defTabSz="914400" rtl="0" eaLnBrk="1" fontAlgn="auto" latinLnBrk="0" hangingPunct="1">
                <a:lnSpc>
                  <a:spcPct val="100000"/>
                </a:lnSpc>
                <a:spcBef>
                  <a:spcPts val="0"/>
                </a:spcBef>
                <a:spcAft>
                  <a:spcPts val="600"/>
                </a:spcAft>
                <a:buClr>
                  <a:srgbClr val="0078D4"/>
                </a:buClr>
                <a:buSzTx/>
                <a:tabLst/>
                <a:defRPr/>
              </a:pPr>
              <a:r>
                <a:rPr kumimoji="0" lang="en-US" sz="1100" b="0" i="0" u="none" strike="noStrike" kern="0" cap="none" spc="0" normalizeH="0" baseline="0" noProof="0" dirty="0">
                  <a:ln>
                    <a:noFill/>
                  </a:ln>
                  <a:effectLst/>
                  <a:uLnTx/>
                  <a:uFillTx/>
                  <a:latin typeface="Segoe UI"/>
                  <a:ea typeface="+mn-ea"/>
                  <a:cs typeface="+mn-cs"/>
                </a:rPr>
                <a:t>Streamlined experience for open source frameworks and languages </a:t>
              </a:r>
            </a:p>
          </p:txBody>
        </p:sp>
      </p:grpSp>
    </p:spTree>
    <p:extLst>
      <p:ext uri="{BB962C8B-B14F-4D97-AF65-F5344CB8AC3E}">
        <p14:creationId xmlns:p14="http://schemas.microsoft.com/office/powerpoint/2010/main" val="1587807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873A3A-CCE2-4C06-BA00-EF408754ED06}"/>
              </a:ext>
            </a:extLst>
          </p:cNvPr>
          <p:cNvSpPr>
            <a:spLocks noGrp="1"/>
          </p:cNvSpPr>
          <p:nvPr>
            <p:ph type="title"/>
          </p:nvPr>
        </p:nvSpPr>
        <p:spPr/>
        <p:txBody>
          <a:bodyPr/>
          <a:lstStyle/>
          <a:p>
            <a:r>
              <a:rPr lang="en-US" sz="3600" dirty="0"/>
              <a:t>Lowest TCO with built-in high availability</a:t>
            </a:r>
          </a:p>
        </p:txBody>
      </p:sp>
      <p:sp>
        <p:nvSpPr>
          <p:cNvPr id="2" name="Text Placeholder 1">
            <a:extLst>
              <a:ext uri="{FF2B5EF4-FFF2-40B4-BE49-F238E27FC236}">
                <a16:creationId xmlns:a16="http://schemas.microsoft.com/office/drawing/2014/main" id="{E91EF369-95A6-4F20-A56D-AB15776B9BE6}"/>
              </a:ext>
            </a:extLst>
          </p:cNvPr>
          <p:cNvSpPr>
            <a:spLocks noGrp="1"/>
          </p:cNvSpPr>
          <p:nvPr>
            <p:ph type="body" sz="quarter" idx="4294967295"/>
          </p:nvPr>
        </p:nvSpPr>
        <p:spPr>
          <a:xfrm>
            <a:off x="588263" y="1642727"/>
            <a:ext cx="5075238" cy="3232150"/>
          </a:xfrm>
        </p:spPr>
        <p:txBody>
          <a:bodyPr/>
          <a:lstStyle/>
          <a:p>
            <a:pPr marL="171450" indent="-171450">
              <a:spcBef>
                <a:spcPts val="0"/>
              </a:spcBef>
              <a:spcAft>
                <a:spcPts val="1200"/>
              </a:spcAft>
              <a:buClr>
                <a:schemeClr val="tx1"/>
              </a:buClr>
              <a:buSzPct val="100000"/>
              <a:buFont typeface="Arial" panose="020B0604020202020204" pitchFamily="34" charset="0"/>
              <a:buChar char="•"/>
            </a:pPr>
            <a:r>
              <a:rPr lang="en-US" sz="1800" dirty="0">
                <a:solidFill>
                  <a:schemeClr val="tx1"/>
                </a:solidFill>
              </a:rPr>
              <a:t>Take advantage of Azure to maintain business continuity at 50% cost savings compared to AWS RDS</a:t>
            </a:r>
          </a:p>
          <a:p>
            <a:pPr marL="171450" indent="-171450">
              <a:spcBef>
                <a:spcPts val="0"/>
              </a:spcBef>
              <a:spcAft>
                <a:spcPts val="1200"/>
              </a:spcAft>
              <a:buClr>
                <a:schemeClr val="tx1"/>
              </a:buClr>
              <a:buSzPct val="100000"/>
              <a:buFont typeface="Arial" panose="020B0604020202020204" pitchFamily="34" charset="0"/>
              <a:buChar char="•"/>
            </a:pPr>
            <a:r>
              <a:rPr lang="en-US" sz="1800" dirty="0">
                <a:solidFill>
                  <a:schemeClr val="tx1"/>
                </a:solidFill>
              </a:rPr>
              <a:t>Get 99.99% SLA guarantees without the need to create a replica, compared to AWS’ 99.95% HA with multi-availability zones</a:t>
            </a:r>
          </a:p>
          <a:p>
            <a:pPr marL="171450" indent="-171450">
              <a:spcBef>
                <a:spcPts val="0"/>
              </a:spcBef>
              <a:spcAft>
                <a:spcPts val="1200"/>
              </a:spcAft>
              <a:buClr>
                <a:schemeClr val="tx1"/>
              </a:buClr>
              <a:buSzPct val="100000"/>
              <a:buFont typeface="Arial" panose="020B0604020202020204" pitchFamily="34" charset="0"/>
              <a:buChar char="•"/>
            </a:pPr>
            <a:r>
              <a:rPr lang="en-US" sz="1800" dirty="0">
                <a:solidFill>
                  <a:schemeClr val="tx1"/>
                </a:solidFill>
              </a:rPr>
              <a:t>Optimize your infrastructure cost by right-sizing your instances based on workload demands</a:t>
            </a:r>
          </a:p>
          <a:p>
            <a:pPr marL="171450" indent="-171450">
              <a:spcBef>
                <a:spcPts val="0"/>
              </a:spcBef>
              <a:spcAft>
                <a:spcPts val="1200"/>
              </a:spcAft>
              <a:buClr>
                <a:schemeClr val="tx1"/>
              </a:buClr>
              <a:buSzPct val="100000"/>
              <a:buFont typeface="Arial" panose="020B0604020202020204" pitchFamily="34" charset="0"/>
              <a:buChar char="•"/>
            </a:pPr>
            <a:r>
              <a:rPr lang="en-US" sz="1800" dirty="0">
                <a:solidFill>
                  <a:schemeClr val="tx1"/>
                </a:solidFill>
              </a:rPr>
              <a:t>Reduce development and DBA costs associated with performance troubleshooting and alerting</a:t>
            </a:r>
          </a:p>
        </p:txBody>
      </p:sp>
      <p:sp>
        <p:nvSpPr>
          <p:cNvPr id="11" name="Rectangle 10">
            <a:extLst>
              <a:ext uri="{FF2B5EF4-FFF2-40B4-BE49-F238E27FC236}">
                <a16:creationId xmlns:a16="http://schemas.microsoft.com/office/drawing/2014/main" id="{69D7F98F-3530-4138-B7B8-8B07A2D67100}"/>
              </a:ext>
            </a:extLst>
          </p:cNvPr>
          <p:cNvSpPr/>
          <p:nvPr/>
        </p:nvSpPr>
        <p:spPr>
          <a:xfrm>
            <a:off x="6895202" y="1642727"/>
            <a:ext cx="456450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r>
              <a:rPr kumimoji="0" lang="en-US" sz="1400" b="0" i="0" u="none" strike="noStrike" kern="1200" cap="none" spc="0" normalizeH="0" baseline="0" noProof="0" dirty="0">
                <a:ln>
                  <a:noFill/>
                </a:ln>
                <a:solidFill>
                  <a:schemeClr val="accent2"/>
                </a:solidFill>
                <a:effectLst/>
                <a:uLnTx/>
                <a:uFillTx/>
                <a:latin typeface="Segoe UI Semibold"/>
                <a:ea typeface="+mn-ea"/>
                <a:cs typeface="+mn-cs"/>
              </a:rPr>
              <a:t>High availability price comparison of Azure Database for MySQL and AWS RDS MySQL</a:t>
            </a:r>
            <a:endParaRPr kumimoji="0" lang="en-US" sz="1400" b="0" i="0" u="none" strike="noStrike" kern="1200" cap="none" spc="0" normalizeH="0" baseline="0" noProof="0" dirty="0">
              <a:ln>
                <a:noFill/>
              </a:ln>
              <a:solidFill>
                <a:schemeClr val="accent2"/>
              </a:solidFill>
              <a:effectLst/>
              <a:uLnTx/>
              <a:uFillTx/>
              <a:latin typeface="Segoe UI Semibold"/>
              <a:ea typeface="+mn-ea"/>
              <a:cs typeface="Segoe UI Semibold" panose="020B0502040204020203" pitchFamily="34" charset="0"/>
            </a:endParaRPr>
          </a:p>
        </p:txBody>
      </p:sp>
      <p:grpSp>
        <p:nvGrpSpPr>
          <p:cNvPr id="6" name="Group 5" descr="chart showing cost benefit of Azure compared to AWS">
            <a:extLst>
              <a:ext uri="{FF2B5EF4-FFF2-40B4-BE49-F238E27FC236}">
                <a16:creationId xmlns:a16="http://schemas.microsoft.com/office/drawing/2014/main" id="{23E58FFC-C821-4DF6-A6B7-6A0CB07F1500}"/>
              </a:ext>
            </a:extLst>
          </p:cNvPr>
          <p:cNvGrpSpPr/>
          <p:nvPr/>
        </p:nvGrpSpPr>
        <p:grpSpPr>
          <a:xfrm>
            <a:off x="6895202" y="2387055"/>
            <a:ext cx="2282252" cy="3125289"/>
            <a:chOff x="6895202" y="2387055"/>
            <a:chExt cx="2282252" cy="3125289"/>
          </a:xfrm>
        </p:grpSpPr>
        <p:sp>
          <p:nvSpPr>
            <p:cNvPr id="20" name="TextBox 19">
              <a:extLst>
                <a:ext uri="{FF2B5EF4-FFF2-40B4-BE49-F238E27FC236}">
                  <a16:creationId xmlns:a16="http://schemas.microsoft.com/office/drawing/2014/main" id="{F7AB1376-040F-40AF-9943-6FAAD0AD356E}"/>
                </a:ext>
              </a:extLst>
            </p:cNvPr>
            <p:cNvSpPr txBox="1"/>
            <p:nvPr/>
          </p:nvSpPr>
          <p:spPr>
            <a:xfrm>
              <a:off x="7442155" y="2892449"/>
              <a:ext cx="742950" cy="307777"/>
            </a:xfrm>
            <a:prstGeom prst="rect">
              <a:avLst/>
            </a:prstGeom>
            <a:solidFill>
              <a:schemeClr val="bg1">
                <a:alpha val="85000"/>
              </a:schemeClr>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Segoe UI"/>
                  <a:ea typeface="+mn-ea"/>
                  <a:cs typeface="+mn-cs"/>
                </a:rPr>
                <a:t>50% savings vs. AWS</a:t>
              </a:r>
            </a:p>
          </p:txBody>
        </p:sp>
        <p:grpSp>
          <p:nvGrpSpPr>
            <p:cNvPr id="3" name="Group 2">
              <a:extLst>
                <a:ext uri="{FF2B5EF4-FFF2-40B4-BE49-F238E27FC236}">
                  <a16:creationId xmlns:a16="http://schemas.microsoft.com/office/drawing/2014/main" id="{C782B0D5-1F9F-497D-A8CF-4E14AB7B9C9C}"/>
                </a:ext>
              </a:extLst>
            </p:cNvPr>
            <p:cNvGrpSpPr/>
            <p:nvPr/>
          </p:nvGrpSpPr>
          <p:grpSpPr>
            <a:xfrm>
              <a:off x="6895202" y="2387055"/>
              <a:ext cx="2282252" cy="3125289"/>
              <a:chOff x="6895202" y="2387055"/>
              <a:chExt cx="2282252" cy="3125289"/>
            </a:xfrm>
          </p:grpSpPr>
          <p:graphicFrame>
            <p:nvGraphicFramePr>
              <p:cNvPr id="12" name="Chart 11">
                <a:extLst>
                  <a:ext uri="{FF2B5EF4-FFF2-40B4-BE49-F238E27FC236}">
                    <a16:creationId xmlns:a16="http://schemas.microsoft.com/office/drawing/2014/main" id="{292C799F-05E7-4849-89D7-005660A2196D}"/>
                  </a:ext>
                </a:extLst>
              </p:cNvPr>
              <p:cNvGraphicFramePr>
                <a:graphicFrameLocks/>
              </p:cNvGraphicFramePr>
              <p:nvPr>
                <p:extLst>
                  <p:ext uri="{D42A27DB-BD31-4B8C-83A1-F6EECF244321}">
                    <p14:modId xmlns:p14="http://schemas.microsoft.com/office/powerpoint/2010/main" val="1530046126"/>
                  </p:ext>
                </p:extLst>
              </p:nvPr>
            </p:nvGraphicFramePr>
            <p:xfrm>
              <a:off x="6895202" y="2387055"/>
              <a:ext cx="2282252" cy="3125289"/>
            </p:xfrm>
            <a:graphic>
              <a:graphicData uri="http://schemas.openxmlformats.org/drawingml/2006/chart">
                <c:chart xmlns:c="http://schemas.openxmlformats.org/drawingml/2006/chart" xmlns:r="http://schemas.openxmlformats.org/officeDocument/2006/relationships" r:id="rId3"/>
              </a:graphicData>
            </a:graphic>
          </p:graphicFrame>
          <p:sp>
            <p:nvSpPr>
              <p:cNvPr id="22" name="Rectangle 4">
                <a:extLst>
                  <a:ext uri="{FF2B5EF4-FFF2-40B4-BE49-F238E27FC236}">
                    <a16:creationId xmlns:a16="http://schemas.microsoft.com/office/drawing/2014/main" id="{A874C7A6-5D13-4829-B7F5-FD4ED834AE75}"/>
                  </a:ext>
                </a:extLst>
              </p:cNvPr>
              <p:cNvSpPr/>
              <p:nvPr/>
            </p:nvSpPr>
            <p:spPr bwMode="auto">
              <a:xfrm>
                <a:off x="7469128" y="3304470"/>
                <a:ext cx="896610" cy="743914"/>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914400 w 1005840"/>
                  <a:gd name="connsiteY0" fmla="*/ 914400 h 1005840"/>
                  <a:gd name="connsiteX1" fmla="*/ 0 w 1005840"/>
                  <a:gd name="connsiteY1" fmla="*/ 914400 h 1005840"/>
                  <a:gd name="connsiteX2" fmla="*/ 0 w 1005840"/>
                  <a:gd name="connsiteY2" fmla="*/ 0 h 1005840"/>
                  <a:gd name="connsiteX3" fmla="*/ 914400 w 1005840"/>
                  <a:gd name="connsiteY3" fmla="*/ 0 h 1005840"/>
                  <a:gd name="connsiteX4" fmla="*/ 1005840 w 1005840"/>
                  <a:gd name="connsiteY4" fmla="*/ 1005840 h 1005840"/>
                  <a:gd name="connsiteX0" fmla="*/ 914400 w 914400"/>
                  <a:gd name="connsiteY0" fmla="*/ 914400 h 914400"/>
                  <a:gd name="connsiteX1" fmla="*/ 0 w 914400"/>
                  <a:gd name="connsiteY1" fmla="*/ 914400 h 914400"/>
                  <a:gd name="connsiteX2" fmla="*/ 0 w 914400"/>
                  <a:gd name="connsiteY2" fmla="*/ 0 h 914400"/>
                  <a:gd name="connsiteX3" fmla="*/ 914400 w 914400"/>
                  <a:gd name="connsiteY3" fmla="*/ 0 h 914400"/>
                  <a:gd name="connsiteX0" fmla="*/ 0 w 914400"/>
                  <a:gd name="connsiteY0" fmla="*/ 914400 h 914400"/>
                  <a:gd name="connsiteX1" fmla="*/ 0 w 914400"/>
                  <a:gd name="connsiteY1" fmla="*/ 0 h 914400"/>
                  <a:gd name="connsiteX2" fmla="*/ 914400 w 914400"/>
                  <a:gd name="connsiteY2" fmla="*/ 0 h 914400"/>
                </a:gdLst>
                <a:ahLst/>
                <a:cxnLst>
                  <a:cxn ang="0">
                    <a:pos x="connsiteX0" y="connsiteY0"/>
                  </a:cxn>
                  <a:cxn ang="0">
                    <a:pos x="connsiteX1" y="connsiteY1"/>
                  </a:cxn>
                  <a:cxn ang="0">
                    <a:pos x="connsiteX2" y="connsiteY2"/>
                  </a:cxn>
                </a:cxnLst>
                <a:rect l="l" t="t" r="r" b="b"/>
                <a:pathLst>
                  <a:path w="914400" h="914400">
                    <a:moveTo>
                      <a:pt x="0" y="914400"/>
                    </a:moveTo>
                    <a:lnTo>
                      <a:pt x="0" y="0"/>
                    </a:lnTo>
                    <a:lnTo>
                      <a:pt x="914400" y="0"/>
                    </a:lnTo>
                  </a:path>
                </a:pathLst>
              </a:custGeom>
              <a:noFill/>
              <a:ln w="12700">
                <a:solidFill>
                  <a:schemeClr val="accent1"/>
                </a:solidFill>
                <a:headEnd type="triangl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7" name="Group 6" descr="chart showing cost benefit of Azure compared to AWS">
            <a:extLst>
              <a:ext uri="{FF2B5EF4-FFF2-40B4-BE49-F238E27FC236}">
                <a16:creationId xmlns:a16="http://schemas.microsoft.com/office/drawing/2014/main" id="{769507D9-6AED-407C-BAC9-2C1BAAA66F09}"/>
              </a:ext>
            </a:extLst>
          </p:cNvPr>
          <p:cNvGrpSpPr/>
          <p:nvPr/>
        </p:nvGrpSpPr>
        <p:grpSpPr>
          <a:xfrm>
            <a:off x="9539957" y="2387055"/>
            <a:ext cx="2280707" cy="3125289"/>
            <a:chOff x="9539957" y="2387055"/>
            <a:chExt cx="2280707" cy="3125289"/>
          </a:xfrm>
        </p:grpSpPr>
        <p:sp>
          <p:nvSpPr>
            <p:cNvPr id="21" name="TextBox 20">
              <a:extLst>
                <a:ext uri="{FF2B5EF4-FFF2-40B4-BE49-F238E27FC236}">
                  <a16:creationId xmlns:a16="http://schemas.microsoft.com/office/drawing/2014/main" id="{065F974A-9C5C-498C-8E87-80474E5ED164}"/>
                </a:ext>
              </a:extLst>
            </p:cNvPr>
            <p:cNvSpPr txBox="1"/>
            <p:nvPr/>
          </p:nvSpPr>
          <p:spPr>
            <a:xfrm>
              <a:off x="10132748" y="2496454"/>
              <a:ext cx="742950" cy="307777"/>
            </a:xfrm>
            <a:prstGeom prst="rect">
              <a:avLst/>
            </a:prstGeom>
            <a:solidFill>
              <a:schemeClr val="bg1">
                <a:alpha val="85000"/>
              </a:schemeClr>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Segoe UI"/>
                  <a:ea typeface="+mn-ea"/>
                  <a:cs typeface="+mn-cs"/>
                </a:rPr>
                <a:t>50% savings vs. AWS</a:t>
              </a:r>
            </a:p>
          </p:txBody>
        </p:sp>
        <p:grpSp>
          <p:nvGrpSpPr>
            <p:cNvPr id="5" name="Group 4">
              <a:extLst>
                <a:ext uri="{FF2B5EF4-FFF2-40B4-BE49-F238E27FC236}">
                  <a16:creationId xmlns:a16="http://schemas.microsoft.com/office/drawing/2014/main" id="{B2DB5467-117F-4E54-8D3A-E1C6CE12ED16}"/>
                </a:ext>
              </a:extLst>
            </p:cNvPr>
            <p:cNvGrpSpPr/>
            <p:nvPr/>
          </p:nvGrpSpPr>
          <p:grpSpPr>
            <a:xfrm>
              <a:off x="9539957" y="2387055"/>
              <a:ext cx="2280707" cy="3125289"/>
              <a:chOff x="9539957" y="2387055"/>
              <a:chExt cx="2280707" cy="3125289"/>
            </a:xfrm>
          </p:grpSpPr>
          <p:graphicFrame>
            <p:nvGraphicFramePr>
              <p:cNvPr id="19" name="Chart 18">
                <a:extLst>
                  <a:ext uri="{FF2B5EF4-FFF2-40B4-BE49-F238E27FC236}">
                    <a16:creationId xmlns:a16="http://schemas.microsoft.com/office/drawing/2014/main" id="{D40B2C0C-3ADC-454F-A6E4-70482EE12A85}"/>
                  </a:ext>
                </a:extLst>
              </p:cNvPr>
              <p:cNvGraphicFramePr>
                <a:graphicFrameLocks/>
              </p:cNvGraphicFramePr>
              <p:nvPr/>
            </p:nvGraphicFramePr>
            <p:xfrm>
              <a:off x="9539957" y="2387055"/>
              <a:ext cx="2280707" cy="3125289"/>
            </p:xfrm>
            <a:graphic>
              <a:graphicData uri="http://schemas.openxmlformats.org/drawingml/2006/chart">
                <c:chart xmlns:c="http://schemas.openxmlformats.org/drawingml/2006/chart" xmlns:r="http://schemas.openxmlformats.org/officeDocument/2006/relationships" r:id="rId4"/>
              </a:graphicData>
            </a:graphic>
          </p:graphicFrame>
          <p:sp>
            <p:nvSpPr>
              <p:cNvPr id="23" name="Rectangle 4">
                <a:extLst>
                  <a:ext uri="{FF2B5EF4-FFF2-40B4-BE49-F238E27FC236}">
                    <a16:creationId xmlns:a16="http://schemas.microsoft.com/office/drawing/2014/main" id="{F9E33C51-C4B0-4E39-84C3-C2650B7AD36E}"/>
                  </a:ext>
                </a:extLst>
              </p:cNvPr>
              <p:cNvSpPr/>
              <p:nvPr/>
            </p:nvSpPr>
            <p:spPr bwMode="auto">
              <a:xfrm>
                <a:off x="10126937" y="2834619"/>
                <a:ext cx="885935" cy="955632"/>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914400 w 1005840"/>
                  <a:gd name="connsiteY0" fmla="*/ 914400 h 1005840"/>
                  <a:gd name="connsiteX1" fmla="*/ 0 w 1005840"/>
                  <a:gd name="connsiteY1" fmla="*/ 914400 h 1005840"/>
                  <a:gd name="connsiteX2" fmla="*/ 0 w 1005840"/>
                  <a:gd name="connsiteY2" fmla="*/ 0 h 1005840"/>
                  <a:gd name="connsiteX3" fmla="*/ 914400 w 1005840"/>
                  <a:gd name="connsiteY3" fmla="*/ 0 h 1005840"/>
                  <a:gd name="connsiteX4" fmla="*/ 1005840 w 1005840"/>
                  <a:gd name="connsiteY4" fmla="*/ 1005840 h 1005840"/>
                  <a:gd name="connsiteX0" fmla="*/ 914400 w 914400"/>
                  <a:gd name="connsiteY0" fmla="*/ 914400 h 914400"/>
                  <a:gd name="connsiteX1" fmla="*/ 0 w 914400"/>
                  <a:gd name="connsiteY1" fmla="*/ 914400 h 914400"/>
                  <a:gd name="connsiteX2" fmla="*/ 0 w 914400"/>
                  <a:gd name="connsiteY2" fmla="*/ 0 h 914400"/>
                  <a:gd name="connsiteX3" fmla="*/ 914400 w 914400"/>
                  <a:gd name="connsiteY3" fmla="*/ 0 h 914400"/>
                  <a:gd name="connsiteX0" fmla="*/ 0 w 914400"/>
                  <a:gd name="connsiteY0" fmla="*/ 914400 h 914400"/>
                  <a:gd name="connsiteX1" fmla="*/ 0 w 914400"/>
                  <a:gd name="connsiteY1" fmla="*/ 0 h 914400"/>
                  <a:gd name="connsiteX2" fmla="*/ 914400 w 914400"/>
                  <a:gd name="connsiteY2" fmla="*/ 0 h 914400"/>
                </a:gdLst>
                <a:ahLst/>
                <a:cxnLst>
                  <a:cxn ang="0">
                    <a:pos x="connsiteX0" y="connsiteY0"/>
                  </a:cxn>
                  <a:cxn ang="0">
                    <a:pos x="connsiteX1" y="connsiteY1"/>
                  </a:cxn>
                  <a:cxn ang="0">
                    <a:pos x="connsiteX2" y="connsiteY2"/>
                  </a:cxn>
                </a:cxnLst>
                <a:rect l="l" t="t" r="r" b="b"/>
                <a:pathLst>
                  <a:path w="914400" h="914400">
                    <a:moveTo>
                      <a:pt x="0" y="914400"/>
                    </a:moveTo>
                    <a:lnTo>
                      <a:pt x="0" y="0"/>
                    </a:lnTo>
                    <a:lnTo>
                      <a:pt x="914400" y="0"/>
                    </a:lnTo>
                  </a:path>
                </a:pathLst>
              </a:custGeom>
              <a:noFill/>
              <a:ln w="12700">
                <a:solidFill>
                  <a:schemeClr val="accent1"/>
                </a:solidFill>
                <a:headEnd type="triangl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spTree>
    <p:extLst>
      <p:ext uri="{BB962C8B-B14F-4D97-AF65-F5344CB8AC3E}">
        <p14:creationId xmlns:p14="http://schemas.microsoft.com/office/powerpoint/2010/main" val="3933370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7BE06-8BAC-4579-B5A1-3FA07C8C162F}"/>
              </a:ext>
            </a:extLst>
          </p:cNvPr>
          <p:cNvSpPr>
            <a:spLocks noGrp="1"/>
          </p:cNvSpPr>
          <p:nvPr>
            <p:ph type="title"/>
          </p:nvPr>
        </p:nvSpPr>
        <p:spPr/>
        <p:txBody>
          <a:bodyPr/>
          <a:lstStyle/>
          <a:p>
            <a:r>
              <a:rPr lang="en-US" dirty="0"/>
              <a:t>Migrating your database to Azure  </a:t>
            </a:r>
          </a:p>
        </p:txBody>
      </p:sp>
      <p:sp>
        <p:nvSpPr>
          <p:cNvPr id="12" name="Text Placeholder 11">
            <a:extLst>
              <a:ext uri="{FF2B5EF4-FFF2-40B4-BE49-F238E27FC236}">
                <a16:creationId xmlns:a16="http://schemas.microsoft.com/office/drawing/2014/main" id="{841C2E85-9140-439E-B7DF-DFD6112587BD}"/>
              </a:ext>
            </a:extLst>
          </p:cNvPr>
          <p:cNvSpPr>
            <a:spLocks noGrp="1"/>
          </p:cNvSpPr>
          <p:nvPr>
            <p:ph type="body" sz="quarter" idx="4294967295"/>
          </p:nvPr>
        </p:nvSpPr>
        <p:spPr>
          <a:xfrm>
            <a:off x="588262" y="1066671"/>
            <a:ext cx="7126288" cy="307777"/>
          </a:xfrm>
        </p:spPr>
        <p:txBody>
          <a:bodyPr/>
          <a:lstStyle/>
          <a:p>
            <a:pPr marL="0" indent="0">
              <a:buNone/>
            </a:pPr>
            <a:r>
              <a:rPr lang="en-US" sz="2000" dirty="0">
                <a:solidFill>
                  <a:schemeClr val="accent2"/>
                </a:solidFill>
                <a:latin typeface="+mj-lt"/>
              </a:rPr>
              <a:t>Azure provides wide database options for your workloads</a:t>
            </a:r>
          </a:p>
        </p:txBody>
      </p:sp>
      <p:graphicFrame>
        <p:nvGraphicFramePr>
          <p:cNvPr id="3" name="Table 2" descr="Table: On-premises vs. IaaS vs. PaaS destination for SQL Server, MySQL, PostgreSQL and Maria DB">
            <a:extLst>
              <a:ext uri="{FF2B5EF4-FFF2-40B4-BE49-F238E27FC236}">
                <a16:creationId xmlns:a16="http://schemas.microsoft.com/office/drawing/2014/main" id="{C609CA3E-07C7-487D-81A8-B4A1A5EDA791}"/>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354430459"/>
              </p:ext>
            </p:extLst>
          </p:nvPr>
        </p:nvGraphicFramePr>
        <p:xfrm>
          <a:off x="1771650" y="1718750"/>
          <a:ext cx="9829043" cy="923944"/>
        </p:xfrm>
        <a:graphic>
          <a:graphicData uri="http://schemas.openxmlformats.org/drawingml/2006/table">
            <a:tbl>
              <a:tblPr firstRow="1" bandRow="1">
                <a:tableStyleId>{2D5ABB26-0587-4C30-8999-92F81FD0307C}</a:tableStyleId>
              </a:tblPr>
              <a:tblGrid>
                <a:gridCol w="3404580">
                  <a:extLst>
                    <a:ext uri="{9D8B030D-6E8A-4147-A177-3AD203B41FA5}">
                      <a16:colId xmlns:a16="http://schemas.microsoft.com/office/drawing/2014/main" val="3767480488"/>
                    </a:ext>
                  </a:extLst>
                </a:gridCol>
                <a:gridCol w="3154527">
                  <a:extLst>
                    <a:ext uri="{9D8B030D-6E8A-4147-A177-3AD203B41FA5}">
                      <a16:colId xmlns:a16="http://schemas.microsoft.com/office/drawing/2014/main" val="2687692164"/>
                    </a:ext>
                  </a:extLst>
                </a:gridCol>
                <a:gridCol w="3269936">
                  <a:extLst>
                    <a:ext uri="{9D8B030D-6E8A-4147-A177-3AD203B41FA5}">
                      <a16:colId xmlns:a16="http://schemas.microsoft.com/office/drawing/2014/main" val="4140010839"/>
                    </a:ext>
                  </a:extLst>
                </a:gridCol>
              </a:tblGrid>
              <a:tr h="923944">
                <a:tc>
                  <a:txBody>
                    <a:bodyPr/>
                    <a:lstStyle/>
                    <a:p>
                      <a:pPr marL="0" marR="0" lvl="1" indent="0" algn="ctr" defTabSz="1240734" rtl="0" eaLnBrk="1" fontAlgn="base" latinLnBrk="0" hangingPunct="1">
                        <a:lnSpc>
                          <a:spcPct val="90000"/>
                        </a:lnSpc>
                        <a:spcBef>
                          <a:spcPts val="0"/>
                        </a:spcBef>
                        <a:spcAft>
                          <a:spcPts val="400"/>
                        </a:spcAft>
                        <a:buClrTx/>
                        <a:buSzTx/>
                        <a:buFontTx/>
                        <a:buNone/>
                        <a:tabLst/>
                        <a:defRPr/>
                      </a:pPr>
                      <a:r>
                        <a:rPr kumimoji="0" lang="en-US" sz="1400" u="none" strike="noStrike" kern="1200" cap="none" spc="0" normalizeH="0" baseline="0" noProof="0" dirty="0">
                          <a:ln>
                            <a:noFill/>
                          </a:ln>
                          <a:solidFill>
                            <a:schemeClr val="accent2"/>
                          </a:solidFill>
                          <a:effectLst/>
                          <a:uLnTx/>
                          <a:uFillTx/>
                          <a:latin typeface="+mj-lt"/>
                        </a:rPr>
                        <a:t>On-premises</a:t>
                      </a:r>
                      <a:endParaRPr kumimoji="0" lang="en-US" sz="1398" u="none" strike="noStrike" kern="1200" cap="none" spc="0" normalizeH="0" baseline="0" noProof="0" dirty="0">
                        <a:ln>
                          <a:noFill/>
                        </a:ln>
                        <a:solidFill>
                          <a:schemeClr val="accent2"/>
                        </a:solidFill>
                        <a:effectLst/>
                        <a:uLnTx/>
                        <a:uFillTx/>
                        <a:latin typeface="+mj-lt"/>
                      </a:endParaRPr>
                    </a:p>
                    <a:p>
                      <a:pPr marL="0" marR="0" lvl="1" indent="0" algn="ctr" defTabSz="1240734" rtl="0" eaLnBrk="1" fontAlgn="base" latinLnBrk="0" hangingPunct="1">
                        <a:lnSpc>
                          <a:spcPct val="90000"/>
                        </a:lnSpc>
                        <a:spcBef>
                          <a:spcPts val="0"/>
                        </a:spcBef>
                        <a:spcAft>
                          <a:spcPts val="400"/>
                        </a:spcAft>
                        <a:buClrTx/>
                        <a:buSzTx/>
                        <a:buFontTx/>
                        <a:buNone/>
                        <a:tabLst/>
                        <a:defRPr/>
                      </a:pPr>
                      <a:r>
                        <a:rPr kumimoji="0" lang="en-US" sz="1200" b="1" u="none" strike="noStrike" kern="1200" cap="none" spc="0" normalizeH="0" baseline="0" noProof="0" dirty="0">
                          <a:ln>
                            <a:noFill/>
                          </a:ln>
                          <a:effectLst/>
                          <a:uLnTx/>
                          <a:uFillTx/>
                          <a:latin typeface="+mj-lt"/>
                        </a:rPr>
                        <a:t>SQL Server, MySQL, PostgreSQL </a:t>
                      </a:r>
                      <a:br>
                        <a:rPr kumimoji="0" lang="en-US" sz="1200" b="1" u="none" strike="noStrike" kern="1200" cap="none" spc="0" normalizeH="0" baseline="0" noProof="0" dirty="0">
                          <a:ln>
                            <a:noFill/>
                          </a:ln>
                          <a:effectLst/>
                          <a:uLnTx/>
                          <a:uFillTx/>
                          <a:latin typeface="+mj-lt"/>
                        </a:rPr>
                      </a:br>
                      <a:r>
                        <a:rPr kumimoji="0" lang="en-US" sz="1200" b="1" u="none" strike="noStrike" kern="1200" cap="none" spc="0" normalizeH="0" baseline="0" noProof="0" dirty="0">
                          <a:ln>
                            <a:noFill/>
                          </a:ln>
                          <a:effectLst/>
                          <a:uLnTx/>
                          <a:uFillTx/>
                          <a:latin typeface="+mj-lt"/>
                        </a:rPr>
                        <a:t>and MariaDB </a:t>
                      </a:r>
                      <a:endParaRPr kumimoji="0" lang="en-US" sz="1200" b="1" i="0" u="none" strike="noStrike" kern="1200" cap="none" spc="0" normalizeH="0" baseline="0" noProof="0" dirty="0">
                        <a:ln>
                          <a:noFill/>
                        </a:ln>
                        <a:solidFill>
                          <a:srgbClr val="2F2F2F"/>
                        </a:solidFill>
                        <a:effectLst/>
                        <a:uLnTx/>
                        <a:uFillTx/>
                        <a:latin typeface="+mj-lt"/>
                        <a:ea typeface="Kozuka Gothic Pro R" pitchFamily="34" charset="-128"/>
                        <a:cs typeface="Segoe UI Semibold" panose="020B0702040204020203" pitchFamily="34" charset="0"/>
                      </a:endParaRPr>
                    </a:p>
                  </a:txBody>
                  <a:tcPr>
                    <a:lnR w="12700" cap="flat" cmpd="sng" algn="ctr">
                      <a:noFill/>
                      <a:prstDash val="solid"/>
                      <a:round/>
                      <a:headEnd type="none" w="med" len="med"/>
                      <a:tailEnd type="none" w="med" len="med"/>
                    </a:lnR>
                  </a:tcPr>
                </a:tc>
                <a:tc>
                  <a:txBody>
                    <a:bodyPr/>
                    <a:lstStyle/>
                    <a:p>
                      <a:pPr marL="0" marR="0" lvl="1" indent="0" algn="ctr" defTabSz="1240734" rtl="0" eaLnBrk="1" fontAlgn="base" latinLnBrk="0" hangingPunct="1">
                        <a:lnSpc>
                          <a:spcPct val="90000"/>
                        </a:lnSpc>
                        <a:spcBef>
                          <a:spcPts val="0"/>
                        </a:spcBef>
                        <a:spcAft>
                          <a:spcPts val="400"/>
                        </a:spcAft>
                        <a:buClrTx/>
                        <a:buSzTx/>
                        <a:buFontTx/>
                        <a:buNone/>
                        <a:tabLst/>
                        <a:defRPr/>
                      </a:pPr>
                      <a:r>
                        <a:rPr kumimoji="0" lang="en-US" sz="1400" u="none" strike="noStrike" kern="1200" cap="none" spc="0" normalizeH="0" baseline="0" noProof="0" dirty="0">
                          <a:ln>
                            <a:noFill/>
                          </a:ln>
                          <a:solidFill>
                            <a:schemeClr val="accent2"/>
                          </a:solidFill>
                          <a:effectLst/>
                          <a:uLnTx/>
                          <a:uFillTx/>
                          <a:latin typeface="+mj-lt"/>
                        </a:rPr>
                        <a:t>IaaS</a:t>
                      </a:r>
                      <a:endParaRPr kumimoji="0" lang="en-US" sz="1398" u="none" strike="noStrike" kern="1200" cap="none" spc="0" normalizeH="0" baseline="0" noProof="0" dirty="0">
                        <a:ln>
                          <a:noFill/>
                        </a:ln>
                        <a:solidFill>
                          <a:schemeClr val="accent2"/>
                        </a:solidFill>
                        <a:effectLst/>
                        <a:uLnTx/>
                        <a:uFillTx/>
                        <a:latin typeface="+mj-lt"/>
                      </a:endParaRPr>
                    </a:p>
                    <a:p>
                      <a:pPr marL="0" marR="0" lvl="1" indent="0" algn="ctr" defTabSz="1240734" rtl="0" eaLnBrk="1" fontAlgn="base" latinLnBrk="0" hangingPunct="1">
                        <a:lnSpc>
                          <a:spcPct val="90000"/>
                        </a:lnSpc>
                        <a:spcBef>
                          <a:spcPts val="0"/>
                        </a:spcBef>
                        <a:spcAft>
                          <a:spcPts val="400"/>
                        </a:spcAft>
                        <a:buClrTx/>
                        <a:buSzTx/>
                        <a:buFontTx/>
                        <a:buNone/>
                        <a:tabLst/>
                        <a:defRPr/>
                      </a:pPr>
                      <a:r>
                        <a:rPr kumimoji="0" lang="en-US" sz="1200" b="1" u="none" strike="noStrike" kern="1200" cap="none" spc="0" normalizeH="0" baseline="0" noProof="0" dirty="0">
                          <a:ln>
                            <a:noFill/>
                          </a:ln>
                          <a:solidFill>
                            <a:schemeClr val="tx1"/>
                          </a:solidFill>
                          <a:effectLst/>
                          <a:uLnTx/>
                          <a:uFillTx/>
                          <a:latin typeface="+mj-lt"/>
                          <a:ea typeface="+mn-ea"/>
                          <a:cs typeface="+mn-cs"/>
                        </a:rPr>
                        <a:t>SQL Server on Azure VMs, MySQL,  PostgreSQL and MariaDB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1" indent="0" algn="ctr" defTabSz="1240734" rtl="0" eaLnBrk="1" fontAlgn="base" latinLnBrk="0" hangingPunct="1">
                        <a:lnSpc>
                          <a:spcPct val="90000"/>
                        </a:lnSpc>
                        <a:spcBef>
                          <a:spcPts val="0"/>
                        </a:spcBef>
                        <a:spcAft>
                          <a:spcPts val="400"/>
                        </a:spcAft>
                        <a:buClrTx/>
                        <a:buSzTx/>
                        <a:buFontTx/>
                        <a:buNone/>
                        <a:tabLst/>
                        <a:defRPr/>
                      </a:pPr>
                      <a:r>
                        <a:rPr kumimoji="0" lang="en-US" sz="1400" u="none" strike="noStrike" kern="1200" cap="none" spc="0" normalizeH="0" baseline="0" noProof="0" dirty="0">
                          <a:ln>
                            <a:noFill/>
                          </a:ln>
                          <a:solidFill>
                            <a:schemeClr val="accent2"/>
                          </a:solidFill>
                          <a:effectLst/>
                          <a:uLnTx/>
                          <a:uFillTx/>
                          <a:latin typeface="+mj-lt"/>
                        </a:rPr>
                        <a:t>PaaS</a:t>
                      </a:r>
                      <a:r>
                        <a:rPr kumimoji="0" lang="en-US" sz="1398" u="none" strike="noStrike" kern="1200" cap="none" spc="0" normalizeH="0" baseline="0" noProof="0" dirty="0">
                          <a:ln>
                            <a:noFill/>
                          </a:ln>
                          <a:solidFill>
                            <a:schemeClr val="accent2"/>
                          </a:solidFill>
                          <a:effectLst/>
                          <a:uLnTx/>
                          <a:uFillTx/>
                          <a:latin typeface="+mj-lt"/>
                        </a:rPr>
                        <a:t> </a:t>
                      </a:r>
                    </a:p>
                    <a:p>
                      <a:pPr marL="0" marR="0" lvl="1" indent="0" algn="ctr" defTabSz="1240734" rtl="0" eaLnBrk="1" fontAlgn="base" latinLnBrk="0" hangingPunct="1">
                        <a:lnSpc>
                          <a:spcPct val="90000"/>
                        </a:lnSpc>
                        <a:spcBef>
                          <a:spcPts val="0"/>
                        </a:spcBef>
                        <a:spcAft>
                          <a:spcPts val="400"/>
                        </a:spcAft>
                        <a:buClrTx/>
                        <a:buSzTx/>
                        <a:buFontTx/>
                        <a:buNone/>
                        <a:tabLst/>
                        <a:defRPr/>
                      </a:pPr>
                      <a:r>
                        <a:rPr kumimoji="0" lang="en-US" sz="1200" b="1" u="none" strike="noStrike" kern="1200" cap="none" spc="0" normalizeH="0" baseline="0" noProof="0" dirty="0">
                          <a:ln>
                            <a:noFill/>
                          </a:ln>
                          <a:solidFill>
                            <a:schemeClr val="tx1"/>
                          </a:solidFill>
                          <a:effectLst/>
                          <a:uLnTx/>
                          <a:uFillTx/>
                          <a:latin typeface="+mj-lt"/>
                          <a:ea typeface="+mn-ea"/>
                          <a:cs typeface="+mn-cs"/>
                        </a:rPr>
                        <a:t>Azure SQL Database, Azure Database for MySQL, PostgreSQL and MariaDB</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1226332154"/>
                  </a:ext>
                </a:extLst>
              </a:tr>
            </a:tbl>
          </a:graphicData>
        </a:graphic>
      </p:graphicFrame>
      <p:graphicFrame>
        <p:nvGraphicFramePr>
          <p:cNvPr id="4" name="Table 5" descr="Table shows increasing Management by Microsoft and decreasing Management by customer as we move from on-premises to IaaS to PaaS.">
            <a:extLst>
              <a:ext uri="{FF2B5EF4-FFF2-40B4-BE49-F238E27FC236}">
                <a16:creationId xmlns:a16="http://schemas.microsoft.com/office/drawing/2014/main" id="{C143217E-6AC9-48A8-BA44-D6EEACDD8B60}"/>
              </a:ext>
            </a:extLst>
          </p:cNvPr>
          <p:cNvGraphicFramePr>
            <a:graphicFrameLocks noGrp="1"/>
          </p:cNvGraphicFramePr>
          <p:nvPr>
            <p:extLst>
              <p:ext uri="{D42A27DB-BD31-4B8C-83A1-F6EECF244321}">
                <p14:modId xmlns:p14="http://schemas.microsoft.com/office/powerpoint/2010/main" val="1212690919"/>
              </p:ext>
            </p:extLst>
          </p:nvPr>
        </p:nvGraphicFramePr>
        <p:xfrm>
          <a:off x="591307" y="2458248"/>
          <a:ext cx="11015476" cy="4040523"/>
        </p:xfrm>
        <a:graphic>
          <a:graphicData uri="http://schemas.openxmlformats.org/drawingml/2006/table">
            <a:tbl>
              <a:tblPr firstRow="1" bandRow="1">
                <a:tableStyleId>{2D5ABB26-0587-4C30-8999-92F81FD0307C}</a:tableStyleId>
              </a:tblPr>
              <a:tblGrid>
                <a:gridCol w="1169291">
                  <a:extLst>
                    <a:ext uri="{9D8B030D-6E8A-4147-A177-3AD203B41FA5}">
                      <a16:colId xmlns:a16="http://schemas.microsoft.com/office/drawing/2014/main" val="2759725639"/>
                    </a:ext>
                  </a:extLst>
                </a:gridCol>
                <a:gridCol w="3383023">
                  <a:extLst>
                    <a:ext uri="{9D8B030D-6E8A-4147-A177-3AD203B41FA5}">
                      <a16:colId xmlns:a16="http://schemas.microsoft.com/office/drawing/2014/main" val="788832998"/>
                    </a:ext>
                  </a:extLst>
                </a:gridCol>
                <a:gridCol w="3140230">
                  <a:extLst>
                    <a:ext uri="{9D8B030D-6E8A-4147-A177-3AD203B41FA5}">
                      <a16:colId xmlns:a16="http://schemas.microsoft.com/office/drawing/2014/main" val="604897334"/>
                    </a:ext>
                  </a:extLst>
                </a:gridCol>
                <a:gridCol w="3322932">
                  <a:extLst>
                    <a:ext uri="{9D8B030D-6E8A-4147-A177-3AD203B41FA5}">
                      <a16:colId xmlns:a16="http://schemas.microsoft.com/office/drawing/2014/main" val="357097111"/>
                    </a:ext>
                  </a:extLst>
                </a:gridCol>
              </a:tblGrid>
              <a:tr h="487156">
                <a:tc>
                  <a:txBody>
                    <a:bodyPr/>
                    <a:lstStyle/>
                    <a:p>
                      <a:pPr marL="0" marR="0" lvl="0" indent="0" algn="r" defTabSz="932742"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mj-lt"/>
                        </a:rPr>
                        <a:t>Intelligent Features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0" i="0" u="none" strike="noStrike" kern="0" cap="none" spc="0" normalizeH="0" baseline="0" noProof="0" dirty="0">
                        <a:ln>
                          <a:noFill/>
                        </a:ln>
                        <a:solidFill>
                          <a:schemeClr val="tx1"/>
                        </a:solidFill>
                        <a:effectLst/>
                        <a:uLnTx/>
                        <a:uFillTx/>
                        <a:latin typeface="Segoe UI Semibold" panose="020B0702040204020203" pitchFamily="34" charset="0"/>
                        <a:ea typeface="Segoe UI" pitchFamily="34" charset="0"/>
                        <a:cs typeface="Segoe UI Semibold" panose="020B07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32742"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a:pPr>
                      <a:endParaRPr kumimoji="0" lang="en-US" sz="1200" b="0" i="0" u="none" strike="noStrike" kern="0" cap="none" spc="0" normalizeH="0" baseline="0" noProof="0" dirty="0">
                        <a:ln>
                          <a:noFill/>
                        </a:ln>
                        <a:solidFill>
                          <a:schemeClr val="accent1"/>
                        </a:solidFill>
                        <a:effectLst/>
                        <a:uLnTx/>
                        <a:uFillTx/>
                        <a:latin typeface="Segoe UI Semibold" panose="020B0702040204020203" pitchFamily="34" charset="0"/>
                        <a:ea typeface="Segoe UI" pitchFamily="34" charset="0"/>
                        <a:cs typeface="Segoe UI Semibold" panose="020B0702040204020203"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200" dirty="0">
                          <a:solidFill>
                            <a:schemeClr val="tx2"/>
                          </a:solidFill>
                          <a:latin typeface="Segoe UI Semibold" panose="020B0702040204020203" pitchFamily="34" charset="0"/>
                          <a:cs typeface="Segoe UI Semibold" panose="020B0702040204020203" pitchFamily="34" charset="0"/>
                        </a:rPr>
                        <a:t>Intelligent security and performance features </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0560539"/>
                  </a:ext>
                </a:extLst>
              </a:tr>
              <a:tr h="1528330">
                <a:tc>
                  <a:txBody>
                    <a:bodyPr/>
                    <a:lstStyle/>
                    <a:p>
                      <a:pPr marL="0" marR="0" lvl="0" indent="0" algn="r" defTabSz="932742"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mj-lt"/>
                        </a:rPr>
                        <a:t>Managed by Microsoft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0" i="0" u="none" strike="noStrike" kern="0" cap="none" spc="0" normalizeH="0" baseline="0" noProof="0" dirty="0">
                        <a:ln>
                          <a:noFill/>
                        </a:ln>
                        <a:solidFill>
                          <a:schemeClr val="tx1"/>
                        </a:solidFill>
                        <a:effectLst/>
                        <a:uLnTx/>
                        <a:uFillTx/>
                        <a:latin typeface="Segoe UI Semibold" panose="020B0702040204020203" pitchFamily="34" charset="0"/>
                        <a:ea typeface="Segoe UI" pitchFamily="34" charset="0"/>
                        <a:cs typeface="Segoe UI Semibold" panose="020B07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Virtualization</a:t>
                      </a:r>
                    </a:p>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Hardware</a:t>
                      </a:r>
                    </a:p>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Datacenter management</a:t>
                      </a:r>
                      <a:endParaRPr kumimoji="0" lang="en-US" sz="1200" b="0" i="0" u="none" strike="noStrike" kern="0" cap="none" spc="0" normalizeH="0" baseline="0" noProof="0" dirty="0">
                        <a:ln>
                          <a:noFill/>
                        </a:ln>
                        <a:solidFill>
                          <a:schemeClr val="accent2"/>
                        </a:solidFill>
                        <a:effectLst/>
                        <a:uLnTx/>
                        <a:uFillTx/>
                        <a:latin typeface="Segoe UI Semibold" panose="020B0702040204020203" pitchFamily="34" charset="0"/>
                        <a:ea typeface="Segoe UI" pitchFamily="34" charset="0"/>
                        <a:cs typeface="Segoe UI Semibold" panose="020B0702040204020203"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High availability/DR/Backups</a:t>
                      </a:r>
                    </a:p>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Database provision/Patch/Scaling</a:t>
                      </a:r>
                    </a:p>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OS provision/patching</a:t>
                      </a:r>
                    </a:p>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Virtualization</a:t>
                      </a:r>
                    </a:p>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Hardware</a:t>
                      </a:r>
                    </a:p>
                    <a:p>
                      <a:pPr marL="171450" marR="0" lvl="0" indent="-171450" algn="l" defTabSz="932742" rtl="0" eaLnBrk="1" fontAlgn="auto" latinLnBrk="0" hangingPunct="1">
                        <a:lnSpc>
                          <a:spcPct val="100000"/>
                        </a:lnSpc>
                        <a:spcBef>
                          <a:spcPts val="0"/>
                        </a:spcBef>
                        <a:spcAft>
                          <a:spcPts val="400"/>
                        </a:spcAft>
                        <a:buClr>
                          <a:schemeClr val="accent2"/>
                        </a:buClr>
                        <a:buSzTx/>
                        <a:buFont typeface="Arial" panose="020B0604020202020204" pitchFamily="34" charset="0"/>
                        <a:buChar char="•"/>
                        <a:tabLst/>
                        <a:defRPr/>
                      </a:pPr>
                      <a:r>
                        <a:rPr kumimoji="0" lang="en-US" sz="1200" u="none" strike="noStrike" kern="0" cap="none" spc="0" normalizeH="0" baseline="0" noProof="0" dirty="0">
                          <a:ln>
                            <a:noFill/>
                          </a:ln>
                          <a:solidFill>
                            <a:schemeClr val="accent2"/>
                          </a:solidFill>
                          <a:effectLst/>
                          <a:uLnTx/>
                          <a:uFillTx/>
                          <a:latin typeface="Segoe UI Semibold" panose="020B0702040204020203" pitchFamily="34" charset="0"/>
                          <a:cs typeface="Segoe UI Semibold" panose="020B0702040204020203" pitchFamily="34" charset="0"/>
                        </a:rPr>
                        <a:t>Datacenter management</a:t>
                      </a:r>
                      <a:endParaRPr kumimoji="0" lang="en-US" sz="1200" b="0" i="0" u="none" strike="noStrike" kern="0" cap="none" spc="0" normalizeH="0" baseline="0" noProof="0" dirty="0">
                        <a:ln>
                          <a:noFill/>
                        </a:ln>
                        <a:solidFill>
                          <a:schemeClr val="accent2"/>
                        </a:solidFill>
                        <a:effectLst/>
                        <a:uLnTx/>
                        <a:uFillTx/>
                        <a:latin typeface="Segoe UI Semibold" panose="020B0702040204020203" pitchFamily="34" charset="0"/>
                        <a:ea typeface="Segoe UI" pitchFamily="34" charset="0"/>
                        <a:cs typeface="Segoe UI Semibold" panose="020B0702040204020203"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8163826"/>
                  </a:ext>
                </a:extLst>
              </a:tr>
              <a:tr h="2025037">
                <a:tc>
                  <a:txBody>
                    <a:bodyPr/>
                    <a:lstStyle/>
                    <a:p>
                      <a:pPr marL="0" marR="0" lvl="0" indent="0" algn="r" defTabSz="932742"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mj-lt"/>
                        </a:rPr>
                        <a:t>Managed by customer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Applications</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Data</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High availability /DR/Backups</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Database provision/ Patch/Scaling</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OS provision/patching</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Virtualization</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Hardware</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Datacenter management</a:t>
                      </a:r>
                      <a:endParaRPr kumimoji="0" lang="en-US" sz="1200" b="0" i="0" u="none" strike="noStrike" kern="0" cap="none" spc="0" normalizeH="0" baseline="0" noProof="0" dirty="0">
                        <a:ln>
                          <a:noFill/>
                        </a:ln>
                        <a:solidFill>
                          <a:schemeClr val="tx1"/>
                        </a:solidFill>
                        <a:effectLst/>
                        <a:uLnTx/>
                        <a:uFillTx/>
                        <a:latin typeface="Segoe UI Semibold" panose="020B0702040204020203" pitchFamily="34" charset="0"/>
                        <a:ea typeface="Segoe UI" pitchFamily="34" charset="0"/>
                        <a:cs typeface="Segoe UI Semibold" panose="020B07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Applications</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Data</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High availability/DR/Backups</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Database provision/Patch/Scaling</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OS provision</a:t>
                      </a:r>
                      <a:endParaRPr kumimoji="0" lang="en-US" sz="1200" b="0" i="0" u="none" strike="noStrike" kern="0" cap="none" spc="0" normalizeH="0" baseline="0" noProof="0" dirty="0">
                        <a:ln>
                          <a:noFill/>
                        </a:ln>
                        <a:solidFill>
                          <a:schemeClr val="tx1"/>
                        </a:solidFill>
                        <a:effectLst/>
                        <a:uLnTx/>
                        <a:uFillTx/>
                        <a:latin typeface="Segoe UI Semibold" panose="020B0702040204020203" pitchFamily="34" charset="0"/>
                        <a:ea typeface="Segoe UI" pitchFamily="34" charset="0"/>
                        <a:cs typeface="Segoe UI Semibold" panose="020B07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Applications</a:t>
                      </a:r>
                    </a:p>
                    <a:p>
                      <a:pPr marL="171450" marR="0" lvl="0" indent="-171450" algn="l" defTabSz="932742"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u="none" strike="noStrike" kern="0" cap="none" spc="0" normalizeH="0" baseline="0" noProof="0" dirty="0">
                          <a:ln>
                            <a:noFill/>
                          </a:ln>
                          <a:effectLst/>
                          <a:uLnTx/>
                          <a:uFillTx/>
                          <a:latin typeface="Segoe UI Semibold" panose="020B0702040204020203" pitchFamily="34" charset="0"/>
                          <a:cs typeface="Segoe UI Semibold" panose="020B0702040204020203" pitchFamily="34" charset="0"/>
                        </a:rPr>
                        <a:t>Data</a:t>
                      </a:r>
                      <a:endParaRPr kumimoji="0" lang="en-US" sz="1200" b="0" i="0" u="none" strike="noStrike" kern="0" cap="none" spc="0" normalizeH="0" baseline="0" noProof="0" dirty="0">
                        <a:ln>
                          <a:noFill/>
                        </a:ln>
                        <a:solidFill>
                          <a:schemeClr val="tx1"/>
                        </a:solidFill>
                        <a:effectLst/>
                        <a:uLnTx/>
                        <a:uFillTx/>
                        <a:latin typeface="Segoe UI Semibold" panose="020B0702040204020203" pitchFamily="34" charset="0"/>
                        <a:ea typeface="Segoe UI" pitchFamily="34" charset="0"/>
                        <a:cs typeface="Segoe UI Semibold" panose="020B07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70296990"/>
                  </a:ext>
                </a:extLst>
              </a:tr>
            </a:tbl>
          </a:graphicData>
        </a:graphic>
      </p:graphicFrame>
    </p:spTree>
    <p:extLst>
      <p:ext uri="{BB962C8B-B14F-4D97-AF65-F5344CB8AC3E}">
        <p14:creationId xmlns:p14="http://schemas.microsoft.com/office/powerpoint/2010/main" val="3105926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8" descr="Geekwire employee accepting award">
            <a:extLst>
              <a:ext uri="{FF2B5EF4-FFF2-40B4-BE49-F238E27FC236}">
                <a16:creationId xmlns:a16="http://schemas.microsoft.com/office/drawing/2014/main" id="{A8D67D99-CC8B-4F1B-802F-1A24A33B0C41}"/>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p:blipFill>
        <p:spPr>
          <a:xfrm>
            <a:off x="5334000" y="0"/>
            <a:ext cx="6858000" cy="6858000"/>
          </a:xfrm>
          <a:prstGeom prst="rect">
            <a:avLst/>
          </a:prstGeom>
        </p:spPr>
      </p:pic>
      <p:sp>
        <p:nvSpPr>
          <p:cNvPr id="19" name="Rectangle 18">
            <a:extLst>
              <a:ext uri="{FF2B5EF4-FFF2-40B4-BE49-F238E27FC236}">
                <a16:creationId xmlns:a16="http://schemas.microsoft.com/office/drawing/2014/main" id="{204ACB67-9531-B644-8EE5-6C8B234E5C05}"/>
              </a:ext>
              <a:ext uri="{C183D7F6-B498-43B3-948B-1728B52AA6E4}">
                <adec:decorative xmlns:adec="http://schemas.microsoft.com/office/drawing/2017/decorative" val="1"/>
              </a:ext>
            </a:extLst>
          </p:cNvPr>
          <p:cNvSpPr/>
          <p:nvPr/>
        </p:nvSpPr>
        <p:spPr bwMode="auto">
          <a:xfrm>
            <a:off x="0" y="0"/>
            <a:ext cx="13245220" cy="6858000"/>
          </a:xfrm>
          <a:prstGeom prst="rect">
            <a:avLst/>
          </a:prstGeom>
          <a:gradFill flip="none" rotWithShape="1">
            <a:gsLst>
              <a:gs pos="69000">
                <a:srgbClr val="000000">
                  <a:alpha val="20000"/>
                </a:srgbClr>
              </a:gs>
              <a:gs pos="38000">
                <a:srgbClr val="000000"/>
              </a:gs>
              <a:gs pos="0">
                <a:schemeClr val="tx1"/>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9922F2B9-C87D-407C-A1EE-615CB232F138}"/>
              </a:ext>
            </a:extLst>
          </p:cNvPr>
          <p:cNvSpPr>
            <a:spLocks noGrp="1"/>
          </p:cNvSpPr>
          <p:nvPr>
            <p:ph type="title"/>
          </p:nvPr>
        </p:nvSpPr>
        <p:spPr>
          <a:xfrm>
            <a:off x="449713" y="457200"/>
            <a:ext cx="11018520" cy="1107996"/>
          </a:xfrm>
        </p:spPr>
        <p:txBody>
          <a:bodyPr/>
          <a:lstStyle/>
          <a:p>
            <a:r>
              <a:rPr lang="en-US" dirty="0" err="1">
                <a:solidFill>
                  <a:schemeClr val="bg1"/>
                </a:solidFill>
              </a:rPr>
              <a:t>GeekWire</a:t>
            </a:r>
            <a:r>
              <a:rPr lang="en-US" dirty="0">
                <a:solidFill>
                  <a:schemeClr val="bg1"/>
                </a:solidFill>
              </a:rPr>
              <a:t> is serves 2 million readers </a:t>
            </a:r>
            <a:br>
              <a:rPr lang="en-US" dirty="0">
                <a:solidFill>
                  <a:schemeClr val="bg1"/>
                </a:solidFill>
              </a:rPr>
            </a:br>
            <a:r>
              <a:rPr lang="en-US" dirty="0">
                <a:solidFill>
                  <a:schemeClr val="bg1"/>
                </a:solidFill>
              </a:rPr>
              <a:t>worldwide with Azure Database for MySQL</a:t>
            </a:r>
          </a:p>
        </p:txBody>
      </p:sp>
      <p:sp>
        <p:nvSpPr>
          <p:cNvPr id="22" name="Text Placeholder 5">
            <a:extLst>
              <a:ext uri="{FF2B5EF4-FFF2-40B4-BE49-F238E27FC236}">
                <a16:creationId xmlns:a16="http://schemas.microsoft.com/office/drawing/2014/main" id="{14880814-5454-9C40-B37F-B4DE1B9EA8CA}"/>
              </a:ext>
            </a:extLst>
          </p:cNvPr>
          <p:cNvSpPr>
            <a:spLocks noGrp="1"/>
          </p:cNvSpPr>
          <p:nvPr>
            <p:ph type="body" sz="quarter" idx="10"/>
          </p:nvPr>
        </p:nvSpPr>
        <p:spPr>
          <a:xfrm>
            <a:off x="449713" y="3608576"/>
            <a:ext cx="4701709" cy="1184940"/>
          </a:xfrm>
        </p:spPr>
        <p:txBody>
          <a:bodyPr/>
          <a:lstStyle/>
          <a:p>
            <a:r>
              <a:rPr lang="en-US" sz="1400" dirty="0">
                <a:solidFill>
                  <a:schemeClr val="bg1"/>
                </a:solidFill>
                <a:latin typeface="Segoe UI Semibold" panose="020B0502040204020203" pitchFamily="34" charset="0"/>
                <a:cs typeface="Segoe UI Semibold" panose="020B0502040204020203" pitchFamily="34" charset="0"/>
              </a:rPr>
              <a:t>“Our page load times are very low, and we're able to do it on a more powerful and scalable infrastructure that costs us 45 percent less.”</a:t>
            </a:r>
          </a:p>
          <a:p>
            <a:pPr lvl="1" algn="r">
              <a:spcBef>
                <a:spcPts val="1800"/>
              </a:spcBef>
            </a:pPr>
            <a:r>
              <a:rPr lang="en-US" sz="1000" dirty="0">
                <a:solidFill>
                  <a:schemeClr val="bg1"/>
                </a:solidFill>
                <a:latin typeface="Segoe UI Semibold" panose="020B0502040204020203" pitchFamily="34" charset="0"/>
                <a:cs typeface="Segoe UI Semibold" panose="020B0502040204020203" pitchFamily="34" charset="0"/>
              </a:rPr>
              <a:t>Kevin </a:t>
            </a:r>
            <a:r>
              <a:rPr lang="en-US" sz="1000" dirty="0" err="1">
                <a:solidFill>
                  <a:schemeClr val="bg1"/>
                </a:solidFill>
                <a:latin typeface="Segoe UI Semibold" panose="020B0502040204020203" pitchFamily="34" charset="0"/>
                <a:cs typeface="Segoe UI Semibold" panose="020B0502040204020203" pitchFamily="34" charset="0"/>
              </a:rPr>
              <a:t>Lisota</a:t>
            </a:r>
            <a:br>
              <a:rPr lang="en-US" sz="1000" dirty="0">
                <a:solidFill>
                  <a:schemeClr val="bg1"/>
                </a:solidFill>
                <a:latin typeface="Segoe UI Semibold" panose="020B0502040204020203" pitchFamily="34" charset="0"/>
                <a:cs typeface="Segoe UI Semibold" panose="020B0502040204020203" pitchFamily="34" charset="0"/>
              </a:rPr>
            </a:br>
            <a:r>
              <a:rPr lang="en-US" sz="1000" dirty="0">
                <a:solidFill>
                  <a:schemeClr val="bg1"/>
                </a:solidFill>
                <a:cs typeface="Segoe UI Semibold" panose="020B0502040204020203" pitchFamily="34" charset="0"/>
              </a:rPr>
              <a:t>Web Developer</a:t>
            </a:r>
          </a:p>
        </p:txBody>
      </p:sp>
      <p:grpSp>
        <p:nvGrpSpPr>
          <p:cNvPr id="4" name="Group 3">
            <a:extLst>
              <a:ext uri="{FF2B5EF4-FFF2-40B4-BE49-F238E27FC236}">
                <a16:creationId xmlns:a16="http://schemas.microsoft.com/office/drawing/2014/main" id="{419B39A7-1B5F-4A65-B557-4BFCC5305F42}"/>
              </a:ext>
              <a:ext uri="{C183D7F6-B498-43B3-948B-1728B52AA6E4}">
                <adec:decorative xmlns:adec="http://schemas.microsoft.com/office/drawing/2017/decorative" val="1"/>
              </a:ext>
            </a:extLst>
          </p:cNvPr>
          <p:cNvGrpSpPr/>
          <p:nvPr/>
        </p:nvGrpSpPr>
        <p:grpSpPr>
          <a:xfrm>
            <a:off x="362659" y="2043583"/>
            <a:ext cx="7160354" cy="982539"/>
            <a:chOff x="501209" y="1810105"/>
            <a:chExt cx="5233915" cy="982539"/>
          </a:xfrm>
        </p:grpSpPr>
        <p:sp>
          <p:nvSpPr>
            <p:cNvPr id="8" name="Rectangle 7">
              <a:extLst>
                <a:ext uri="{FF2B5EF4-FFF2-40B4-BE49-F238E27FC236}">
                  <a16:creationId xmlns:a16="http://schemas.microsoft.com/office/drawing/2014/main" id="{4CEF0043-ABDC-43B4-9384-C4861BE785B6}"/>
                </a:ext>
              </a:extLst>
            </p:cNvPr>
            <p:cNvSpPr/>
            <p:nvPr/>
          </p:nvSpPr>
          <p:spPr>
            <a:xfrm>
              <a:off x="501209" y="2053980"/>
              <a:ext cx="1270833" cy="738664"/>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rPr>
                <a:t>Traffic increases led to performance concerns</a:t>
              </a:r>
            </a:p>
          </p:txBody>
        </p:sp>
        <p:sp>
          <p:nvSpPr>
            <p:cNvPr id="10" name="TextBox 9">
              <a:extLst>
                <a:ext uri="{FF2B5EF4-FFF2-40B4-BE49-F238E27FC236}">
                  <a16:creationId xmlns:a16="http://schemas.microsoft.com/office/drawing/2014/main" id="{D3CA6C54-8A50-46F5-BE59-BB7FBF4A4027}"/>
                </a:ext>
              </a:extLst>
            </p:cNvPr>
            <p:cNvSpPr txBox="1"/>
            <p:nvPr/>
          </p:nvSpPr>
          <p:spPr>
            <a:xfrm>
              <a:off x="501210"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Challenge</a:t>
              </a:r>
            </a:p>
          </p:txBody>
        </p:sp>
        <p:sp>
          <p:nvSpPr>
            <p:cNvPr id="11" name="TextBox 10">
              <a:extLst>
                <a:ext uri="{FF2B5EF4-FFF2-40B4-BE49-F238E27FC236}">
                  <a16:creationId xmlns:a16="http://schemas.microsoft.com/office/drawing/2014/main" id="{5BF6A40D-3733-4C9E-9C86-7A65D9602EFD}"/>
                </a:ext>
              </a:extLst>
            </p:cNvPr>
            <p:cNvSpPr txBox="1"/>
            <p:nvPr/>
          </p:nvSpPr>
          <p:spPr>
            <a:xfrm>
              <a:off x="2048165"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Solution</a:t>
              </a:r>
            </a:p>
          </p:txBody>
        </p:sp>
        <p:sp>
          <p:nvSpPr>
            <p:cNvPr id="12" name="TextBox 11">
              <a:extLst>
                <a:ext uri="{FF2B5EF4-FFF2-40B4-BE49-F238E27FC236}">
                  <a16:creationId xmlns:a16="http://schemas.microsoft.com/office/drawing/2014/main" id="{4C74EA4C-56CF-4CBE-88B8-D068BB59B5BF}"/>
                </a:ext>
              </a:extLst>
            </p:cNvPr>
            <p:cNvSpPr txBox="1"/>
            <p:nvPr/>
          </p:nvSpPr>
          <p:spPr>
            <a:xfrm>
              <a:off x="3946257" y="1810105"/>
              <a:ext cx="11681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0E6FF"/>
                  </a:solidFill>
                  <a:effectLst/>
                  <a:uLnTx/>
                  <a:uFillTx/>
                  <a:latin typeface="Segoe UI Semibold" panose="020B0502040204020203" pitchFamily="34" charset="0"/>
                  <a:ea typeface="+mn-ea"/>
                  <a:cs typeface="Segoe UI Semibold" panose="020B0502040204020203" pitchFamily="34" charset="0"/>
                </a:rPr>
                <a:t>Outcome</a:t>
              </a:r>
            </a:p>
          </p:txBody>
        </p:sp>
        <p:sp>
          <p:nvSpPr>
            <p:cNvPr id="13" name="Rectangle 12">
              <a:extLst>
                <a:ext uri="{FF2B5EF4-FFF2-40B4-BE49-F238E27FC236}">
                  <a16:creationId xmlns:a16="http://schemas.microsoft.com/office/drawing/2014/main" id="{F78B1B57-60A9-4401-8803-44F86157D2E4}"/>
                </a:ext>
              </a:extLst>
            </p:cNvPr>
            <p:cNvSpPr/>
            <p:nvPr/>
          </p:nvSpPr>
          <p:spPr>
            <a:xfrm>
              <a:off x="2048165" y="2053980"/>
              <a:ext cx="1621968" cy="738664"/>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lang="en-US" sz="1400" kern="0" dirty="0">
                  <a:solidFill>
                    <a:srgbClr val="FFFFFF"/>
                  </a:solidFill>
                  <a:latin typeface="Segoe UI" panose="020B0502040204020203" pitchFamily="34" charset="0"/>
                  <a:cs typeface="Segoe UI" panose="020B0502040204020203" pitchFamily="34" charset="0"/>
                </a:rPr>
                <a:t>M</a:t>
              </a:r>
              <a:r>
                <a:rPr kumimoji="0" lang="en-US" sz="1400" b="0" i="0" u="none" strike="noStrike" kern="0" cap="none" spc="0" normalizeH="0" baseline="0" noProof="0" dirty="0" err="1">
                  <a:ln>
                    <a:noFill/>
                  </a:ln>
                  <a:solidFill>
                    <a:srgbClr val="FFFFFF"/>
                  </a:solidFill>
                  <a:effectLst/>
                  <a:uLnTx/>
                  <a:uFillTx/>
                  <a:latin typeface="Segoe UI" panose="020B0502040204020203" pitchFamily="34" charset="0"/>
                  <a:ea typeface="+mn-ea"/>
                  <a:cs typeface="Segoe UI" panose="020B0502040204020203" pitchFamily="34" charset="0"/>
                </a:rPr>
                <a:t>igrate</a:t>
              </a:r>
              <a:r>
                <a:rPr kumimoji="0" lang="en-US" sz="1400" b="0"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rPr>
                <a:t> from WordPress site to Azure Database for MySQL</a:t>
              </a:r>
              <a:endParaRPr kumimoji="0" lang="en-US" sz="1400" b="1"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14" name="Rectangle 13">
              <a:extLst>
                <a:ext uri="{FF2B5EF4-FFF2-40B4-BE49-F238E27FC236}">
                  <a16:creationId xmlns:a16="http://schemas.microsoft.com/office/drawing/2014/main" id="{460A4CEC-C738-4034-85B7-ECCFCC6D17B6}"/>
                </a:ext>
              </a:extLst>
            </p:cNvPr>
            <p:cNvSpPr/>
            <p:nvPr/>
          </p:nvSpPr>
          <p:spPr>
            <a:xfrm>
              <a:off x="3946257" y="2053980"/>
              <a:ext cx="1788867" cy="523220"/>
            </a:xfrm>
            <a:prstGeom prst="rect">
              <a:avLst/>
            </a:prstGeom>
            <a:noFill/>
            <a:ln w="10795" cap="flat" cmpd="sng" algn="ctr">
              <a:noFill/>
              <a:prstDash val="solid"/>
            </a:ln>
            <a:effectLst/>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rPr>
                <a:t>On-demand scaling and 45% reduction in costs</a:t>
              </a:r>
            </a:p>
          </p:txBody>
        </p:sp>
        <p:grpSp>
          <p:nvGrpSpPr>
            <p:cNvPr id="3" name="Group 2">
              <a:extLst>
                <a:ext uri="{FF2B5EF4-FFF2-40B4-BE49-F238E27FC236}">
                  <a16:creationId xmlns:a16="http://schemas.microsoft.com/office/drawing/2014/main" id="{866DCFC7-C322-41A4-B871-344BC3B4DDF0}"/>
                </a:ext>
              </a:extLst>
            </p:cNvPr>
            <p:cNvGrpSpPr/>
            <p:nvPr/>
          </p:nvGrpSpPr>
          <p:grpSpPr>
            <a:xfrm>
              <a:off x="1705347" y="1912074"/>
              <a:ext cx="2121762" cy="827637"/>
              <a:chOff x="1798268" y="1912074"/>
              <a:chExt cx="2121762" cy="827637"/>
            </a:xfrm>
          </p:grpSpPr>
          <p:sp>
            <p:nvSpPr>
              <p:cNvPr id="16" name="Diamond 50">
                <a:extLst>
                  <a:ext uri="{FF2B5EF4-FFF2-40B4-BE49-F238E27FC236}">
                    <a16:creationId xmlns:a16="http://schemas.microsoft.com/office/drawing/2014/main" id="{29868C89-2FDD-430F-8EA8-9DFB1F3B0A56}"/>
                  </a:ext>
                </a:extLst>
              </p:cNvPr>
              <p:cNvSpPr/>
              <p:nvPr/>
            </p:nvSpPr>
            <p:spPr>
              <a:xfrm>
                <a:off x="1798268"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 name="Diamond 50">
                <a:extLst>
                  <a:ext uri="{FF2B5EF4-FFF2-40B4-BE49-F238E27FC236}">
                    <a16:creationId xmlns:a16="http://schemas.microsoft.com/office/drawing/2014/main" id="{36712490-9961-45DF-9F93-53A127ADFD5E}"/>
                  </a:ext>
                </a:extLst>
              </p:cNvPr>
              <p:cNvSpPr/>
              <p:nvPr/>
            </p:nvSpPr>
            <p:spPr>
              <a:xfrm>
                <a:off x="3733017" y="1912074"/>
                <a:ext cx="187013" cy="827637"/>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91440 w 914400"/>
                  <a:gd name="connsiteY4" fmla="*/ 548640 h 914400"/>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0" fmla="*/ 0 w 457200"/>
                  <a:gd name="connsiteY0" fmla="*/ 0 h 914400"/>
                  <a:gd name="connsiteX1" fmla="*/ 457200 w 457200"/>
                  <a:gd name="connsiteY1" fmla="*/ 457200 h 914400"/>
                  <a:gd name="connsiteX2" fmla="*/ 0 w 457200"/>
                  <a:gd name="connsiteY2" fmla="*/ 914400 h 914400"/>
                </a:gdLst>
                <a:ahLst/>
                <a:cxnLst>
                  <a:cxn ang="0">
                    <a:pos x="connsiteX0" y="connsiteY0"/>
                  </a:cxn>
                  <a:cxn ang="0">
                    <a:pos x="connsiteX1" y="connsiteY1"/>
                  </a:cxn>
                  <a:cxn ang="0">
                    <a:pos x="connsiteX2" y="connsiteY2"/>
                  </a:cxn>
                </a:cxnLst>
                <a:rect l="l" t="t" r="r" b="b"/>
                <a:pathLst>
                  <a:path w="457200" h="914400">
                    <a:moveTo>
                      <a:pt x="0" y="0"/>
                    </a:moveTo>
                    <a:lnTo>
                      <a:pt x="457200" y="457200"/>
                    </a:lnTo>
                    <a:lnTo>
                      <a:pt x="0" y="91440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pic>
        <p:nvPicPr>
          <p:cNvPr id="20" name="Picture 19" descr="geekwire logo">
            <a:extLst>
              <a:ext uri="{FF2B5EF4-FFF2-40B4-BE49-F238E27FC236}">
                <a16:creationId xmlns:a16="http://schemas.microsoft.com/office/drawing/2014/main" id="{76F1315E-A6C5-461C-8E89-FE85E290B1D2}"/>
              </a:ext>
            </a:extLst>
          </p:cNvPr>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432073" y="5939010"/>
            <a:ext cx="1868170" cy="409575"/>
          </a:xfrm>
          <a:prstGeom prst="rect">
            <a:avLst/>
          </a:prstGeom>
          <a:noFill/>
          <a:ln>
            <a:noFill/>
          </a:ln>
        </p:spPr>
      </p:pic>
    </p:spTree>
    <p:extLst>
      <p:ext uri="{BB962C8B-B14F-4D97-AF65-F5344CB8AC3E}">
        <p14:creationId xmlns:p14="http://schemas.microsoft.com/office/powerpoint/2010/main" val="1784561650"/>
      </p:ext>
    </p:extLst>
  </p:cSld>
  <p:clrMapOvr>
    <a:masterClrMapping/>
  </p:clrMapOvr>
  <p:transition advTm="80248">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3C9752-0889-4ED0-BF33-CACAC55AE31F}"/>
              </a:ext>
            </a:extLst>
          </p:cNvPr>
          <p:cNvSpPr>
            <a:spLocks noGrp="1"/>
          </p:cNvSpPr>
          <p:nvPr>
            <p:ph type="title"/>
          </p:nvPr>
        </p:nvSpPr>
        <p:spPr/>
        <p:txBody>
          <a:bodyPr/>
          <a:lstStyle/>
          <a:p>
            <a:r>
              <a:rPr lang="en-US" dirty="0"/>
              <a:t>Key Azure benefits for Oracle workloads</a:t>
            </a:r>
          </a:p>
        </p:txBody>
      </p:sp>
      <p:sp>
        <p:nvSpPr>
          <p:cNvPr id="40" name="Text Placeholder 1">
            <a:extLst>
              <a:ext uri="{FF2B5EF4-FFF2-40B4-BE49-F238E27FC236}">
                <a16:creationId xmlns:a16="http://schemas.microsoft.com/office/drawing/2014/main" id="{9B2EE863-02CF-467E-BF34-12212AF1ADFA}"/>
              </a:ext>
            </a:extLst>
          </p:cNvPr>
          <p:cNvSpPr>
            <a:spLocks noGrp="1"/>
          </p:cNvSpPr>
          <p:nvPr>
            <p:ph type="body" sz="quarter" idx="4294967295"/>
          </p:nvPr>
        </p:nvSpPr>
        <p:spPr>
          <a:xfrm>
            <a:off x="563369" y="1724962"/>
            <a:ext cx="11018838" cy="473075"/>
          </a:xfrm>
        </p:spPr>
        <p:txBody>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b="0" i="0" u="none" strike="noStrike" kern="1200" cap="none" spc="-20" normalizeH="0" baseline="0" noProof="0" dirty="0">
                <a:ln w="3175">
                  <a:noFill/>
                </a:ln>
                <a:solidFill>
                  <a:schemeClr val="accent3"/>
                </a:solidFill>
                <a:effectLst/>
                <a:uLnTx/>
                <a:uFillTx/>
                <a:latin typeface="Segoe UI Semibold"/>
                <a:ea typeface="+mn-ea"/>
                <a:cs typeface="Segoe UI" pitchFamily="34" charset="0"/>
              </a:rPr>
              <a:t>Consolidating your workloads onto Azure delivers:</a:t>
            </a:r>
            <a:endParaRPr kumimoji="0" lang="en-US" sz="2400" b="0" i="0" u="none" strike="noStrike" kern="1200" cap="none" spc="-20" normalizeH="0" baseline="0" noProof="0" dirty="0">
              <a:ln w="3175">
                <a:noFill/>
              </a:ln>
              <a:solidFill>
                <a:schemeClr val="accent3"/>
              </a:solidFill>
              <a:effectLst/>
              <a:uLnTx/>
              <a:uFillTx/>
              <a:latin typeface="Segoe UI Semibold"/>
              <a:ea typeface="+mn-ea"/>
              <a:cs typeface="Segoe UI" pitchFamily="34" charset="0"/>
            </a:endParaRPr>
          </a:p>
        </p:txBody>
      </p:sp>
      <p:sp>
        <p:nvSpPr>
          <p:cNvPr id="8" name="TextBox 7">
            <a:extLst>
              <a:ext uri="{FF2B5EF4-FFF2-40B4-BE49-F238E27FC236}">
                <a16:creationId xmlns:a16="http://schemas.microsoft.com/office/drawing/2014/main" id="{B3C21997-78E1-4AC5-98CE-67C87D77114D}"/>
              </a:ext>
            </a:extLst>
          </p:cNvPr>
          <p:cNvSpPr txBox="1"/>
          <p:nvPr/>
        </p:nvSpPr>
        <p:spPr>
          <a:xfrm>
            <a:off x="510645" y="3269801"/>
            <a:ext cx="2046989" cy="584775"/>
          </a:xfrm>
          <a:prstGeom prst="rect">
            <a:avLst/>
          </a:prstGeom>
        </p:spPr>
        <p:txBody>
          <a:bodyPr wrap="square">
            <a:spAutoFit/>
          </a:bodyPr>
          <a:lstStyle>
            <a:defPPr>
              <a:defRPr lang="en-US"/>
            </a:defPPr>
            <a:lvl1pPr indent="0">
              <a:lnSpc>
                <a:spcPct val="90000"/>
              </a:lnSpc>
              <a:spcBef>
                <a:spcPts val="1000"/>
              </a:spcBef>
              <a:buFont typeface="Arial" panose="020B0604020202020204" pitchFamily="34" charset="0"/>
              <a:buNone/>
              <a:defRPr lang="en-US" sz="2800" spc="0" baseline="0" dirty="0">
                <a:gradFill>
                  <a:gsLst>
                    <a:gs pos="1250">
                      <a:schemeClr val="tx1"/>
                    </a:gs>
                    <a:gs pos="100000">
                      <a:schemeClr val="tx1"/>
                    </a:gs>
                  </a:gsLst>
                  <a:lin ang="5400000" scaled="0"/>
                </a:gradFill>
              </a:defRPr>
            </a:lvl1pPr>
            <a:lvl2pPr marL="0" marR="0" lvl="1" indent="0" defTabSz="914225" fontAlgn="auto">
              <a:lnSpc>
                <a:spcPct val="100000"/>
              </a:lnSpc>
              <a:spcBef>
                <a:spcPts val="0"/>
              </a:spcBef>
              <a:spcAft>
                <a:spcPts val="3000"/>
              </a:spcAft>
              <a:buClrTx/>
              <a:buSzTx/>
              <a:buFontTx/>
              <a:buNone/>
              <a:tabLst/>
              <a:defRPr kumimoji="0" b="0" i="0" u="none" strike="noStrike" cap="none" spc="0" normalizeH="0" baseline="0">
                <a:ln>
                  <a:noFill/>
                </a:ln>
                <a:solidFill>
                  <a:srgbClr val="2F2F2F"/>
                </a:solidFill>
                <a:effectLst/>
                <a:uLnTx/>
                <a:uFillTx/>
                <a:latin typeface="+mj-lt"/>
                <a:cs typeface="Segoe UI Semibold" panose="020B0702040204020203" pitchFamily="34" charset="0"/>
              </a:defRPr>
            </a:lvl2pPr>
            <a:lvl3pPr marL="1143000" indent="-228600">
              <a:lnSpc>
                <a:spcPct val="90000"/>
              </a:lnSpc>
              <a:spcBef>
                <a:spcPts val="500"/>
              </a:spcBef>
              <a:buFont typeface="Arial" panose="020B0604020202020204" pitchFamily="34" charset="0"/>
              <a:buChar char="•"/>
              <a:defRPr lang="en-US" sz="2000" spc="0" baseline="0" dirty="0">
                <a:gradFill>
                  <a:gsLst>
                    <a:gs pos="1250">
                      <a:schemeClr val="tx1"/>
                    </a:gs>
                    <a:gs pos="100000">
                      <a:schemeClr val="tx1"/>
                    </a:gs>
                  </a:gsLst>
                  <a:lin ang="5400000" scaled="0"/>
                </a:gradFill>
              </a:defRPr>
            </a:lvl3pPr>
            <a:lvl4pPr marL="1600200" indent="-228600">
              <a:lnSpc>
                <a:spcPct val="90000"/>
              </a:lnSpc>
              <a:spcBef>
                <a:spcPts val="500"/>
              </a:spcBef>
              <a:buFont typeface="Arial" panose="020B0604020202020204" pitchFamily="34" charset="0"/>
              <a:buChar char="•"/>
              <a:defRPr lang="en-US" spc="0" baseline="0" dirty="0">
                <a:gradFill>
                  <a:gsLst>
                    <a:gs pos="1250">
                      <a:schemeClr val="tx1"/>
                    </a:gs>
                    <a:gs pos="100000">
                      <a:schemeClr val="tx1"/>
                    </a:gs>
                  </a:gsLst>
                  <a:lin ang="5400000" scaled="0"/>
                </a:gradFill>
              </a:defRPr>
            </a:lvl4pPr>
            <a:lvl5pPr marL="2057400" indent="-228600">
              <a:lnSpc>
                <a:spcPct val="90000"/>
              </a:lnSpc>
              <a:spcBef>
                <a:spcPts val="500"/>
              </a:spcBef>
              <a:buFont typeface="Arial" panose="020B0604020202020204" pitchFamily="34" charset="0"/>
              <a:buChar char="•"/>
              <a:defRPr lang="en-US" spc="0" baseline="0" dirty="0">
                <a:gradFill>
                  <a:gsLst>
                    <a:gs pos="1250">
                      <a:schemeClr val="tx1"/>
                    </a:gs>
                    <a:gs pos="100000">
                      <a:schemeClr val="tx1"/>
                    </a:gs>
                  </a:gsLst>
                  <a:lin ang="5400000" scaled="0"/>
                </a:gra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1" indent="0" algn="l" defTabSz="914225" rtl="0" eaLnBrk="1" fontAlgn="auto" latinLnBrk="0" hangingPunct="1">
              <a:lnSpc>
                <a:spcPct val="100000"/>
              </a:lnSpc>
              <a:spcBef>
                <a:spcPts val="0"/>
              </a:spcBef>
              <a:spcAft>
                <a:spcPts val="3000"/>
              </a:spcAft>
              <a:buClrTx/>
              <a:buSzTx/>
              <a:buFontTx/>
              <a:buNone/>
              <a:tabLst/>
              <a:defRPr/>
            </a:pPr>
            <a:r>
              <a:rPr kumimoji="0" lang="en-US" sz="1600" b="0" i="0" u="none" strike="noStrike" kern="1200" cap="none" spc="0" normalizeH="0" baseline="0" noProof="0" dirty="0">
                <a:ln>
                  <a:noFill/>
                </a:ln>
                <a:solidFill>
                  <a:schemeClr val="accent3"/>
                </a:solidFill>
                <a:effectLst/>
                <a:uLnTx/>
                <a:uFillTx/>
                <a:latin typeface="Segoe UI Semibold"/>
                <a:ea typeface="+mn-ea"/>
                <a:cs typeface="Segoe UI Semibold" panose="020B0702040204020203" pitchFamily="34" charset="0"/>
              </a:rPr>
              <a:t>Lower </a:t>
            </a:r>
            <a:br>
              <a:rPr kumimoji="0" lang="en-US" sz="1600" b="0" i="0" u="none" strike="noStrike" kern="1200" cap="none" spc="0" normalizeH="0" baseline="0" noProof="0" dirty="0">
                <a:ln>
                  <a:noFill/>
                </a:ln>
                <a:solidFill>
                  <a:schemeClr val="accent3"/>
                </a:solidFill>
                <a:effectLst/>
                <a:uLnTx/>
                <a:uFillTx/>
                <a:latin typeface="Segoe UI Semibold"/>
                <a:ea typeface="+mn-ea"/>
                <a:cs typeface="Segoe UI Semibold" panose="020B0702040204020203" pitchFamily="34" charset="0"/>
              </a:rPr>
            </a:br>
            <a:r>
              <a:rPr kumimoji="0" lang="en-US" sz="1600" b="0" i="0" u="none" strike="noStrike" kern="1200" cap="none" spc="0" normalizeH="0" baseline="0" noProof="0" dirty="0">
                <a:ln>
                  <a:noFill/>
                </a:ln>
                <a:solidFill>
                  <a:schemeClr val="accent3"/>
                </a:solidFill>
                <a:effectLst/>
                <a:uLnTx/>
                <a:uFillTx/>
                <a:latin typeface="Segoe UI Semibold"/>
                <a:ea typeface="+mn-ea"/>
                <a:cs typeface="Segoe UI Semibold" panose="020B0702040204020203" pitchFamily="34" charset="0"/>
              </a:rPr>
              <a:t>your TCO</a:t>
            </a:r>
          </a:p>
        </p:txBody>
      </p:sp>
      <p:sp>
        <p:nvSpPr>
          <p:cNvPr id="29" name="TextBox 28">
            <a:extLst>
              <a:ext uri="{FF2B5EF4-FFF2-40B4-BE49-F238E27FC236}">
                <a16:creationId xmlns:a16="http://schemas.microsoft.com/office/drawing/2014/main" id="{6A7AADF9-67F8-4BD3-B27E-03A10028FDEF}"/>
              </a:ext>
            </a:extLst>
          </p:cNvPr>
          <p:cNvSpPr txBox="1"/>
          <p:nvPr/>
        </p:nvSpPr>
        <p:spPr>
          <a:xfrm>
            <a:off x="510645" y="3993677"/>
            <a:ext cx="2683675" cy="1397306"/>
          </a:xfrm>
          <a:prstGeom prst="rect">
            <a:avLst/>
          </a:prstGeom>
          <a:noFill/>
        </p:spPr>
        <p:txBody>
          <a:bodyPr wrap="square">
            <a:spAutoFit/>
          </a:bodyPr>
          <a:lstStyle/>
          <a:p>
            <a:pPr defTabSz="914139">
              <a:lnSpc>
                <a:spcPct val="90000"/>
              </a:lnSpc>
              <a:spcAft>
                <a:spcPts val="1175"/>
              </a:spcAft>
            </a:pPr>
            <a:r>
              <a:rPr lang="en-US" sz="1200" b="1" dirty="0">
                <a:solidFill>
                  <a:schemeClr val="bg1"/>
                </a:solidFill>
                <a:latin typeface="Segoe UI"/>
              </a:rPr>
              <a:t>Reduce over-provisioning </a:t>
            </a:r>
            <a:r>
              <a:rPr lang="en-US" sz="1200" dirty="0">
                <a:solidFill>
                  <a:schemeClr val="bg1"/>
                </a:solidFill>
                <a:latin typeface="Segoe UI"/>
              </a:rPr>
              <a:t>by paying only for what you use</a:t>
            </a:r>
          </a:p>
          <a:p>
            <a:pPr defTabSz="914139">
              <a:lnSpc>
                <a:spcPct val="90000"/>
              </a:lnSpc>
              <a:spcAft>
                <a:spcPts val="1175"/>
              </a:spcAft>
            </a:pPr>
            <a:r>
              <a:rPr lang="en-US" sz="1200" b="1" dirty="0">
                <a:solidFill>
                  <a:schemeClr val="bg1"/>
                </a:solidFill>
                <a:latin typeface="Segoe UI"/>
              </a:rPr>
              <a:t>Reduce the cost of infrastructure management </a:t>
            </a:r>
            <a:r>
              <a:rPr lang="en-US" sz="1200" dirty="0">
                <a:solidFill>
                  <a:schemeClr val="bg1"/>
                </a:solidFill>
                <a:latin typeface="Segoe UI"/>
              </a:rPr>
              <a:t>while modernizing your current Oracle workload</a:t>
            </a:r>
          </a:p>
          <a:p>
            <a:pPr defTabSz="914139">
              <a:lnSpc>
                <a:spcPct val="90000"/>
              </a:lnSpc>
              <a:spcAft>
                <a:spcPts val="1175"/>
              </a:spcAft>
            </a:pPr>
            <a:r>
              <a:rPr lang="en-US" sz="1200" dirty="0">
                <a:solidFill>
                  <a:schemeClr val="bg1"/>
                </a:solidFill>
                <a:latin typeface="Segoe UI"/>
              </a:rPr>
              <a:t>Enjoy </a:t>
            </a:r>
            <a:r>
              <a:rPr lang="en-US" sz="1200" b="1" dirty="0">
                <a:solidFill>
                  <a:schemeClr val="bg1"/>
                </a:solidFill>
                <a:latin typeface="Segoe UI"/>
              </a:rPr>
              <a:t>significant ROI</a:t>
            </a:r>
            <a:r>
              <a:rPr lang="en-US" sz="1200" dirty="0">
                <a:solidFill>
                  <a:schemeClr val="bg1"/>
                </a:solidFill>
                <a:latin typeface="Segoe UI"/>
              </a:rPr>
              <a:t> on Azure IaaS</a:t>
            </a:r>
          </a:p>
        </p:txBody>
      </p:sp>
      <p:sp>
        <p:nvSpPr>
          <p:cNvPr id="37" name="TextBox 36">
            <a:extLst>
              <a:ext uri="{FF2B5EF4-FFF2-40B4-BE49-F238E27FC236}">
                <a16:creationId xmlns:a16="http://schemas.microsoft.com/office/drawing/2014/main" id="{A9ACCC4A-EA7F-429C-82DA-7F5697B7A892}"/>
              </a:ext>
            </a:extLst>
          </p:cNvPr>
          <p:cNvSpPr txBox="1"/>
          <p:nvPr/>
        </p:nvSpPr>
        <p:spPr>
          <a:xfrm>
            <a:off x="3554261" y="3269801"/>
            <a:ext cx="2286149" cy="584775"/>
          </a:xfrm>
          <a:prstGeom prst="rect">
            <a:avLst/>
          </a:prstGeom>
          <a:noFill/>
        </p:spPr>
        <p:txBody>
          <a:bodyPr wrap="square">
            <a:spAutoFit/>
          </a:bodyPr>
          <a:lstStyle/>
          <a:p>
            <a:pPr marL="0" marR="0" lvl="1" indent="0" algn="l" defTabSz="914225" rtl="0" eaLnBrk="1" fontAlgn="auto" latinLnBrk="0" hangingPunct="1">
              <a:lnSpc>
                <a:spcPct val="100000"/>
              </a:lnSpc>
              <a:spcBef>
                <a:spcPts val="0"/>
              </a:spcBef>
              <a:spcAft>
                <a:spcPts val="3000"/>
              </a:spcAft>
              <a:buClrTx/>
              <a:buSzTx/>
              <a:buFontTx/>
              <a:buNone/>
              <a:tabLst/>
              <a:defRPr/>
            </a:pPr>
            <a:r>
              <a:rPr kumimoji="0" lang="en-US" sz="1600" b="0" i="0" u="none" strike="noStrike" kern="1200" cap="none" spc="0" normalizeH="0" baseline="0" noProof="0" dirty="0">
                <a:ln>
                  <a:noFill/>
                </a:ln>
                <a:solidFill>
                  <a:schemeClr val="accent3"/>
                </a:solidFill>
                <a:effectLst/>
                <a:uLnTx/>
                <a:uFillTx/>
                <a:latin typeface="Segoe UI Semibold"/>
                <a:ea typeface="+mn-ea"/>
                <a:cs typeface="Segoe UI Semibold" panose="020B0702040204020203" pitchFamily="34" charset="0"/>
              </a:rPr>
              <a:t>More </a:t>
            </a:r>
            <a:r>
              <a:rPr lang="en-US" sz="1600" dirty="0">
                <a:solidFill>
                  <a:schemeClr val="accent3"/>
                </a:solidFill>
                <a:latin typeface="Segoe UI Semibold"/>
                <a:cs typeface="Segoe UI Semibold" panose="020B0702040204020203" pitchFamily="34" charset="0"/>
              </a:rPr>
              <a:t>ways to </a:t>
            </a:r>
            <a:br>
              <a:rPr lang="en-US" sz="1600" dirty="0">
                <a:solidFill>
                  <a:schemeClr val="accent3"/>
                </a:solidFill>
                <a:latin typeface="Segoe UI Semibold"/>
                <a:cs typeface="Segoe UI Semibold" panose="020B0702040204020203" pitchFamily="34" charset="0"/>
              </a:rPr>
            </a:br>
            <a:r>
              <a:rPr lang="en-US" sz="1600" dirty="0">
                <a:solidFill>
                  <a:schemeClr val="accent3"/>
                </a:solidFill>
                <a:latin typeface="Segoe UI Semibold"/>
                <a:cs typeface="Segoe UI Semibold" panose="020B0702040204020203" pitchFamily="34" charset="0"/>
              </a:rPr>
              <a:t>build new apps</a:t>
            </a:r>
            <a:endParaRPr kumimoji="0" lang="en-US" sz="1600" b="0" i="0" u="none" strike="noStrike" kern="1200" cap="none" spc="0" normalizeH="0" baseline="0" noProof="0" dirty="0">
              <a:ln>
                <a:noFill/>
              </a:ln>
              <a:solidFill>
                <a:schemeClr val="accent3"/>
              </a:solidFill>
              <a:effectLst/>
              <a:uLnTx/>
              <a:uFillTx/>
              <a:latin typeface="Segoe UI Semibold"/>
              <a:ea typeface="+mn-ea"/>
              <a:cs typeface="Segoe UI Semibold" panose="020B0702040204020203" pitchFamily="34" charset="0"/>
            </a:endParaRPr>
          </a:p>
        </p:txBody>
      </p:sp>
      <p:sp>
        <p:nvSpPr>
          <p:cNvPr id="33" name="TextBox 32">
            <a:extLst>
              <a:ext uri="{FF2B5EF4-FFF2-40B4-BE49-F238E27FC236}">
                <a16:creationId xmlns:a16="http://schemas.microsoft.com/office/drawing/2014/main" id="{9BB59A65-B367-4E91-8154-A03321E74B12}"/>
              </a:ext>
            </a:extLst>
          </p:cNvPr>
          <p:cNvSpPr txBox="1"/>
          <p:nvPr/>
        </p:nvSpPr>
        <p:spPr>
          <a:xfrm>
            <a:off x="3581367" y="3993677"/>
            <a:ext cx="2513212" cy="1883593"/>
          </a:xfrm>
          <a:prstGeom prst="rect">
            <a:avLst/>
          </a:prstGeom>
          <a:noFill/>
        </p:spPr>
        <p:txBody>
          <a:bodyPr wrap="square">
            <a:spAutoFit/>
          </a:bodyPr>
          <a:lstStyle/>
          <a:p>
            <a:pPr lvl="0" defTabSz="914139">
              <a:lnSpc>
                <a:spcPct val="90000"/>
              </a:lnSpc>
              <a:spcAft>
                <a:spcPts val="1175"/>
              </a:spcAft>
              <a:defRPr/>
            </a:pPr>
            <a:r>
              <a:rPr lang="en-US" sz="1200" b="1" dirty="0">
                <a:solidFill>
                  <a:schemeClr val="bg1"/>
                </a:solidFill>
              </a:rPr>
              <a:t>Build modern applications </a:t>
            </a:r>
            <a:r>
              <a:rPr kumimoji="0" lang="en-US" sz="1200" i="0" u="none" strike="noStrike" kern="1200" cap="none" spc="0" normalizeH="0" baseline="0" noProof="0" dirty="0">
                <a:ln>
                  <a:noFill/>
                </a:ln>
                <a:solidFill>
                  <a:schemeClr val="bg1"/>
                </a:solidFill>
                <a:effectLst/>
                <a:uLnTx/>
                <a:uFillTx/>
                <a:latin typeface="Segoe UI"/>
                <a:ea typeface="+mn-ea"/>
                <a:cs typeface="+mn-cs"/>
              </a:rPr>
              <a:t>on fully managed cloud databases</a:t>
            </a:r>
          </a:p>
          <a:p>
            <a:pPr lvl="0" defTabSz="914139">
              <a:lnSpc>
                <a:spcPct val="90000"/>
              </a:lnSpc>
              <a:spcAft>
                <a:spcPts val="1175"/>
              </a:spcAft>
              <a:defRPr/>
            </a:pPr>
            <a:r>
              <a:rPr lang="en-US" sz="1200" dirty="0">
                <a:solidFill>
                  <a:schemeClr val="bg1"/>
                </a:solidFill>
                <a:latin typeface="Segoe UI"/>
              </a:rPr>
              <a:t>Choice of</a:t>
            </a:r>
            <a:r>
              <a:rPr lang="en-US" sz="1200" b="1" dirty="0">
                <a:solidFill>
                  <a:schemeClr val="bg1"/>
                </a:solidFill>
                <a:latin typeface="Segoe UI"/>
              </a:rPr>
              <a:t> relational </a:t>
            </a:r>
            <a:r>
              <a:rPr lang="en-US" sz="1200" dirty="0">
                <a:solidFill>
                  <a:schemeClr val="bg1"/>
                </a:solidFill>
                <a:latin typeface="Segoe UI"/>
              </a:rPr>
              <a:t>and </a:t>
            </a:r>
            <a:r>
              <a:rPr lang="en-US" sz="1200" b="1" dirty="0">
                <a:solidFill>
                  <a:schemeClr val="bg1"/>
                </a:solidFill>
                <a:latin typeface="Segoe UI"/>
              </a:rPr>
              <a:t>non-relational</a:t>
            </a:r>
            <a:r>
              <a:rPr lang="en-US" sz="1200" dirty="0">
                <a:solidFill>
                  <a:schemeClr val="bg1"/>
                </a:solidFill>
                <a:latin typeface="Segoe UI"/>
              </a:rPr>
              <a:t> options</a:t>
            </a:r>
            <a:r>
              <a:rPr kumimoji="0" lang="en-US" sz="1200" i="0" u="none" strike="noStrike" kern="1200" cap="none" spc="0" normalizeH="0" baseline="0" noProof="0" dirty="0">
                <a:ln>
                  <a:noFill/>
                </a:ln>
                <a:solidFill>
                  <a:schemeClr val="bg1"/>
                </a:solidFill>
                <a:effectLst/>
                <a:uLnTx/>
                <a:uFillTx/>
                <a:latin typeface="Segoe UI"/>
                <a:ea typeface="+mn-ea"/>
                <a:cs typeface="+mn-cs"/>
              </a:rPr>
              <a:t> </a:t>
            </a:r>
          </a:p>
          <a:p>
            <a:pPr marL="0" marR="0" lvl="0" indent="0" algn="l" defTabSz="914139" rtl="0" eaLnBrk="1" fontAlgn="auto" latinLnBrk="0" hangingPunct="1">
              <a:lnSpc>
                <a:spcPct val="90000"/>
              </a:lnSpc>
              <a:spcBef>
                <a:spcPts val="0"/>
              </a:spcBef>
              <a:spcAft>
                <a:spcPts val="1175"/>
              </a:spcAft>
              <a:buClrTx/>
              <a:buSzTx/>
              <a:buFontTx/>
              <a:buNone/>
              <a:tabLst/>
              <a:defRPr/>
            </a:pPr>
            <a:r>
              <a:rPr kumimoji="0" lang="en-US" sz="1200" i="0" u="none" strike="noStrike" kern="1200" cap="none" spc="0" normalizeH="0" baseline="0" noProof="0" dirty="0">
                <a:ln>
                  <a:noFill/>
                </a:ln>
                <a:solidFill>
                  <a:schemeClr val="bg1"/>
                </a:solidFill>
                <a:effectLst/>
                <a:uLnTx/>
                <a:uFillTx/>
                <a:latin typeface="Segoe UI"/>
                <a:ea typeface="+mn-ea"/>
                <a:cs typeface="+mn-cs"/>
              </a:rPr>
              <a:t>Gain </a:t>
            </a:r>
            <a:r>
              <a:rPr kumimoji="0" lang="en-US" sz="1200" b="1" i="0" u="none" strike="noStrike" kern="1200" cap="none" spc="0" normalizeH="0" baseline="0" noProof="0" dirty="0">
                <a:ln>
                  <a:noFill/>
                </a:ln>
                <a:solidFill>
                  <a:schemeClr val="bg1"/>
                </a:solidFill>
                <a:effectLst/>
                <a:uLnTx/>
                <a:uFillTx/>
                <a:latin typeface="Segoe UI"/>
                <a:ea typeface="+mn-ea"/>
                <a:cs typeface="+mn-cs"/>
              </a:rPr>
              <a:t>real-time experiences </a:t>
            </a:r>
            <a:br>
              <a:rPr kumimoji="0" lang="en-US" sz="1200" i="0" u="none" strike="noStrike" kern="1200" cap="none" spc="0" normalizeH="0" baseline="0" noProof="0" dirty="0">
                <a:ln>
                  <a:noFill/>
                </a:ln>
                <a:solidFill>
                  <a:schemeClr val="bg1"/>
                </a:solidFill>
                <a:effectLst/>
                <a:uLnTx/>
                <a:uFillTx/>
                <a:latin typeface="Segoe UI"/>
                <a:ea typeface="+mn-ea"/>
                <a:cs typeface="+mn-cs"/>
              </a:rPr>
            </a:br>
            <a:r>
              <a:rPr kumimoji="0" lang="en-US" sz="1200" i="0" u="none" strike="noStrike" kern="1200" cap="none" spc="0" normalizeH="0" baseline="0" noProof="0" dirty="0">
                <a:ln>
                  <a:noFill/>
                </a:ln>
                <a:solidFill>
                  <a:schemeClr val="bg1"/>
                </a:solidFill>
                <a:effectLst/>
                <a:uLnTx/>
                <a:uFillTx/>
                <a:latin typeface="Segoe UI"/>
                <a:ea typeface="+mn-ea"/>
                <a:cs typeface="+mn-cs"/>
              </a:rPr>
              <a:t>and responses</a:t>
            </a:r>
          </a:p>
          <a:p>
            <a:pPr marL="0" marR="0" lvl="0" indent="0" algn="l" defTabSz="914139" rtl="0" eaLnBrk="1" fontAlgn="auto" latinLnBrk="0" hangingPunct="1">
              <a:lnSpc>
                <a:spcPct val="90000"/>
              </a:lnSpc>
              <a:spcBef>
                <a:spcPts val="0"/>
              </a:spcBef>
              <a:spcAft>
                <a:spcPts val="1175"/>
              </a:spcAft>
              <a:buClrTx/>
              <a:buSzTx/>
              <a:buFontTx/>
              <a:buNone/>
              <a:tabLst/>
              <a:defRPr/>
            </a:pPr>
            <a:r>
              <a:rPr lang="en-US" sz="1200" dirty="0">
                <a:solidFill>
                  <a:schemeClr val="bg1"/>
                </a:solidFill>
                <a:latin typeface="Segoe UI"/>
              </a:rPr>
              <a:t>Leverage the </a:t>
            </a:r>
            <a:r>
              <a:rPr lang="en-US" sz="1200" b="1" dirty="0">
                <a:solidFill>
                  <a:schemeClr val="bg1"/>
                </a:solidFill>
                <a:latin typeface="Segoe UI"/>
              </a:rPr>
              <a:t>Azure ecosystem </a:t>
            </a:r>
            <a:r>
              <a:rPr lang="en-US" sz="1200" dirty="0">
                <a:solidFill>
                  <a:schemeClr val="bg1"/>
                </a:solidFill>
                <a:latin typeface="Segoe UI"/>
              </a:rPr>
              <a:t>of products and services </a:t>
            </a:r>
            <a:endParaRPr kumimoji="0" lang="en-US" sz="1200" i="0" u="none" strike="noStrike" kern="1200" cap="none" spc="0" normalizeH="0" baseline="0" noProof="0" dirty="0">
              <a:ln>
                <a:noFill/>
              </a:ln>
              <a:solidFill>
                <a:schemeClr val="bg1"/>
              </a:solidFill>
              <a:effectLst/>
              <a:uLnTx/>
              <a:uFillTx/>
              <a:latin typeface="Segoe UI"/>
              <a:ea typeface="+mn-ea"/>
              <a:cs typeface="+mn-cs"/>
            </a:endParaRPr>
          </a:p>
        </p:txBody>
      </p:sp>
      <p:grpSp>
        <p:nvGrpSpPr>
          <p:cNvPr id="13" name="Group 10">
            <a:extLst>
              <a:ext uri="{FF2B5EF4-FFF2-40B4-BE49-F238E27FC236}">
                <a16:creationId xmlns:a16="http://schemas.microsoft.com/office/drawing/2014/main" id="{21155BEA-E3EB-419E-A07F-170B200037E1}"/>
              </a:ext>
              <a:ext uri="{C183D7F6-B498-43B3-948B-1728B52AA6E4}">
                <adec:decorative xmlns:adec="http://schemas.microsoft.com/office/drawing/2017/decorative" val="1"/>
              </a:ext>
            </a:extLst>
          </p:cNvPr>
          <p:cNvGrpSpPr>
            <a:grpSpLocks noChangeAspect="1"/>
          </p:cNvGrpSpPr>
          <p:nvPr/>
        </p:nvGrpSpPr>
        <p:grpSpPr bwMode="auto">
          <a:xfrm>
            <a:off x="596940" y="2527064"/>
            <a:ext cx="560259" cy="640296"/>
            <a:chOff x="1033" y="999"/>
            <a:chExt cx="273" cy="312"/>
          </a:xfrm>
        </p:grpSpPr>
        <p:sp>
          <p:nvSpPr>
            <p:cNvPr id="14" name="Rectangle 11">
              <a:extLst>
                <a:ext uri="{FF2B5EF4-FFF2-40B4-BE49-F238E27FC236}">
                  <a16:creationId xmlns:a16="http://schemas.microsoft.com/office/drawing/2014/main" id="{80AA3C7E-F80E-4CB4-B0A5-C87200951142}"/>
                </a:ext>
              </a:extLst>
            </p:cNvPr>
            <p:cNvSpPr>
              <a:spLocks noChangeArrowheads="1"/>
            </p:cNvSpPr>
            <p:nvPr/>
          </p:nvSpPr>
          <p:spPr bwMode="auto">
            <a:xfrm>
              <a:off x="1277" y="1243"/>
              <a:ext cx="29" cy="68"/>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p:txBody>
        </p:sp>
        <p:sp>
          <p:nvSpPr>
            <p:cNvPr id="15" name="Rectangle 12">
              <a:extLst>
                <a:ext uri="{FF2B5EF4-FFF2-40B4-BE49-F238E27FC236}">
                  <a16:creationId xmlns:a16="http://schemas.microsoft.com/office/drawing/2014/main" id="{8027D64F-C6CB-4454-896E-F93E500024EC}"/>
                </a:ext>
              </a:extLst>
            </p:cNvPr>
            <p:cNvSpPr>
              <a:spLocks noChangeArrowheads="1"/>
            </p:cNvSpPr>
            <p:nvPr/>
          </p:nvSpPr>
          <p:spPr bwMode="auto">
            <a:xfrm>
              <a:off x="1228" y="1194"/>
              <a:ext cx="29" cy="117"/>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6" name="Rectangle 13">
              <a:extLst>
                <a:ext uri="{FF2B5EF4-FFF2-40B4-BE49-F238E27FC236}">
                  <a16:creationId xmlns:a16="http://schemas.microsoft.com/office/drawing/2014/main" id="{992AD1BE-2424-43BB-BCF0-67581ABF718E}"/>
                </a:ext>
              </a:extLst>
            </p:cNvPr>
            <p:cNvSpPr>
              <a:spLocks noChangeArrowheads="1"/>
            </p:cNvSpPr>
            <p:nvPr/>
          </p:nvSpPr>
          <p:spPr bwMode="auto">
            <a:xfrm>
              <a:off x="1179" y="1145"/>
              <a:ext cx="30" cy="166"/>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7" name="Rectangle 14">
              <a:extLst>
                <a:ext uri="{FF2B5EF4-FFF2-40B4-BE49-F238E27FC236}">
                  <a16:creationId xmlns:a16="http://schemas.microsoft.com/office/drawing/2014/main" id="{20C837D5-2327-4D18-8D5D-9479C8921128}"/>
                </a:ext>
              </a:extLst>
            </p:cNvPr>
            <p:cNvSpPr>
              <a:spLocks noChangeArrowheads="1"/>
            </p:cNvSpPr>
            <p:nvPr/>
          </p:nvSpPr>
          <p:spPr bwMode="auto">
            <a:xfrm>
              <a:off x="1131" y="1097"/>
              <a:ext cx="29" cy="21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8" name="Rectangle 15">
              <a:extLst>
                <a:ext uri="{FF2B5EF4-FFF2-40B4-BE49-F238E27FC236}">
                  <a16:creationId xmlns:a16="http://schemas.microsoft.com/office/drawing/2014/main" id="{385F72EF-494E-4B8E-AF63-6B0B662A6953}"/>
                </a:ext>
              </a:extLst>
            </p:cNvPr>
            <p:cNvSpPr>
              <a:spLocks noChangeArrowheads="1"/>
            </p:cNvSpPr>
            <p:nvPr/>
          </p:nvSpPr>
          <p:spPr bwMode="auto">
            <a:xfrm>
              <a:off x="1082" y="1048"/>
              <a:ext cx="29" cy="2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9" name="Rectangle 16">
              <a:extLst>
                <a:ext uri="{FF2B5EF4-FFF2-40B4-BE49-F238E27FC236}">
                  <a16:creationId xmlns:a16="http://schemas.microsoft.com/office/drawing/2014/main" id="{6A017641-456A-4804-A493-42540EE25DFB}"/>
                </a:ext>
              </a:extLst>
            </p:cNvPr>
            <p:cNvSpPr>
              <a:spLocks noChangeArrowheads="1"/>
            </p:cNvSpPr>
            <p:nvPr/>
          </p:nvSpPr>
          <p:spPr bwMode="auto">
            <a:xfrm>
              <a:off x="1033" y="999"/>
              <a:ext cx="29" cy="3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0" name="Freeform 17">
              <a:extLst>
                <a:ext uri="{FF2B5EF4-FFF2-40B4-BE49-F238E27FC236}">
                  <a16:creationId xmlns:a16="http://schemas.microsoft.com/office/drawing/2014/main" id="{9A2440C6-3000-43CC-AEA4-322026F769C2}"/>
                </a:ext>
              </a:extLst>
            </p:cNvPr>
            <p:cNvSpPr>
              <a:spLocks noEditPoints="1"/>
            </p:cNvSpPr>
            <p:nvPr/>
          </p:nvSpPr>
          <p:spPr bwMode="auto">
            <a:xfrm>
              <a:off x="1228" y="999"/>
              <a:ext cx="78" cy="151"/>
            </a:xfrm>
            <a:custGeom>
              <a:avLst/>
              <a:gdLst>
                <a:gd name="T0" fmla="*/ 339 w 339"/>
                <a:gd name="T1" fmla="*/ 440 h 662"/>
                <a:gd name="T2" fmla="*/ 303 w 339"/>
                <a:gd name="T3" fmla="*/ 534 h 662"/>
                <a:gd name="T4" fmla="*/ 195 w 339"/>
                <a:gd name="T5" fmla="*/ 578 h 662"/>
                <a:gd name="T6" fmla="*/ 195 w 339"/>
                <a:gd name="T7" fmla="*/ 662 h 662"/>
                <a:gd name="T8" fmla="*/ 144 w 339"/>
                <a:gd name="T9" fmla="*/ 662 h 662"/>
                <a:gd name="T10" fmla="*/ 144 w 339"/>
                <a:gd name="T11" fmla="*/ 580 h 662"/>
                <a:gd name="T12" fmla="*/ 10 w 339"/>
                <a:gd name="T13" fmla="*/ 547 h 662"/>
                <a:gd name="T14" fmla="*/ 10 w 339"/>
                <a:gd name="T15" fmla="*/ 450 h 662"/>
                <a:gd name="T16" fmla="*/ 71 w 339"/>
                <a:gd name="T17" fmla="*/ 480 h 662"/>
                <a:gd name="T18" fmla="*/ 144 w 339"/>
                <a:gd name="T19" fmla="*/ 497 h 662"/>
                <a:gd name="T20" fmla="*/ 144 w 339"/>
                <a:gd name="T21" fmla="*/ 368 h 662"/>
                <a:gd name="T22" fmla="*/ 33 w 339"/>
                <a:gd name="T23" fmla="*/ 305 h 662"/>
                <a:gd name="T24" fmla="*/ 0 w 339"/>
                <a:gd name="T25" fmla="*/ 214 h 662"/>
                <a:gd name="T26" fmla="*/ 40 w 339"/>
                <a:gd name="T27" fmla="*/ 119 h 662"/>
                <a:gd name="T28" fmla="*/ 144 w 339"/>
                <a:gd name="T29" fmla="*/ 74 h 662"/>
                <a:gd name="T30" fmla="*/ 144 w 339"/>
                <a:gd name="T31" fmla="*/ 0 h 662"/>
                <a:gd name="T32" fmla="*/ 195 w 339"/>
                <a:gd name="T33" fmla="*/ 0 h 662"/>
                <a:gd name="T34" fmla="*/ 195 w 339"/>
                <a:gd name="T35" fmla="*/ 73 h 662"/>
                <a:gd name="T36" fmla="*/ 306 w 339"/>
                <a:gd name="T37" fmla="*/ 97 h 662"/>
                <a:gd name="T38" fmla="*/ 306 w 339"/>
                <a:gd name="T39" fmla="*/ 192 h 662"/>
                <a:gd name="T40" fmla="*/ 195 w 339"/>
                <a:gd name="T41" fmla="*/ 155 h 662"/>
                <a:gd name="T42" fmla="*/ 195 w 339"/>
                <a:gd name="T43" fmla="*/ 289 h 662"/>
                <a:gd name="T44" fmla="*/ 306 w 339"/>
                <a:gd name="T45" fmla="*/ 353 h 662"/>
                <a:gd name="T46" fmla="*/ 339 w 339"/>
                <a:gd name="T47" fmla="*/ 440 h 662"/>
                <a:gd name="T48" fmla="*/ 144 w 339"/>
                <a:gd name="T49" fmla="*/ 269 h 662"/>
                <a:gd name="T50" fmla="*/ 144 w 339"/>
                <a:gd name="T51" fmla="*/ 157 h 662"/>
                <a:gd name="T52" fmla="*/ 94 w 339"/>
                <a:gd name="T53" fmla="*/ 208 h 662"/>
                <a:gd name="T54" fmla="*/ 144 w 339"/>
                <a:gd name="T55" fmla="*/ 269 h 662"/>
                <a:gd name="T56" fmla="*/ 246 w 339"/>
                <a:gd name="T57" fmla="*/ 445 h 662"/>
                <a:gd name="T58" fmla="*/ 195 w 339"/>
                <a:gd name="T59" fmla="*/ 388 h 662"/>
                <a:gd name="T60" fmla="*/ 195 w 339"/>
                <a:gd name="T61" fmla="*/ 495 h 662"/>
                <a:gd name="T62" fmla="*/ 246 w 339"/>
                <a:gd name="T63" fmla="*/ 445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9" h="662">
                  <a:moveTo>
                    <a:pt x="339" y="440"/>
                  </a:moveTo>
                  <a:cubicBezTo>
                    <a:pt x="339" y="479"/>
                    <a:pt x="327" y="510"/>
                    <a:pt x="303" y="534"/>
                  </a:cubicBezTo>
                  <a:cubicBezTo>
                    <a:pt x="278" y="558"/>
                    <a:pt x="242" y="572"/>
                    <a:pt x="195" y="578"/>
                  </a:cubicBezTo>
                  <a:cubicBezTo>
                    <a:pt x="195" y="662"/>
                    <a:pt x="195" y="662"/>
                    <a:pt x="195" y="662"/>
                  </a:cubicBezTo>
                  <a:cubicBezTo>
                    <a:pt x="144" y="662"/>
                    <a:pt x="144" y="662"/>
                    <a:pt x="144" y="662"/>
                  </a:cubicBezTo>
                  <a:cubicBezTo>
                    <a:pt x="144" y="580"/>
                    <a:pt x="144" y="580"/>
                    <a:pt x="144" y="580"/>
                  </a:cubicBezTo>
                  <a:cubicBezTo>
                    <a:pt x="95" y="579"/>
                    <a:pt x="51" y="569"/>
                    <a:pt x="10" y="547"/>
                  </a:cubicBezTo>
                  <a:cubicBezTo>
                    <a:pt x="10" y="450"/>
                    <a:pt x="10" y="450"/>
                    <a:pt x="10" y="450"/>
                  </a:cubicBezTo>
                  <a:cubicBezTo>
                    <a:pt x="23" y="460"/>
                    <a:pt x="43" y="470"/>
                    <a:pt x="71" y="480"/>
                  </a:cubicBezTo>
                  <a:cubicBezTo>
                    <a:pt x="99" y="490"/>
                    <a:pt x="123" y="495"/>
                    <a:pt x="144" y="497"/>
                  </a:cubicBezTo>
                  <a:cubicBezTo>
                    <a:pt x="144" y="368"/>
                    <a:pt x="144" y="368"/>
                    <a:pt x="144" y="368"/>
                  </a:cubicBezTo>
                  <a:cubicBezTo>
                    <a:pt x="91" y="349"/>
                    <a:pt x="55" y="328"/>
                    <a:pt x="33" y="305"/>
                  </a:cubicBezTo>
                  <a:cubicBezTo>
                    <a:pt x="11" y="282"/>
                    <a:pt x="0" y="252"/>
                    <a:pt x="0" y="214"/>
                  </a:cubicBezTo>
                  <a:cubicBezTo>
                    <a:pt x="0" y="177"/>
                    <a:pt x="14" y="145"/>
                    <a:pt x="40" y="119"/>
                  </a:cubicBezTo>
                  <a:cubicBezTo>
                    <a:pt x="67" y="94"/>
                    <a:pt x="101" y="79"/>
                    <a:pt x="144" y="74"/>
                  </a:cubicBezTo>
                  <a:cubicBezTo>
                    <a:pt x="144" y="0"/>
                    <a:pt x="144" y="0"/>
                    <a:pt x="144" y="0"/>
                  </a:cubicBezTo>
                  <a:cubicBezTo>
                    <a:pt x="195" y="0"/>
                    <a:pt x="195" y="0"/>
                    <a:pt x="195" y="0"/>
                  </a:cubicBezTo>
                  <a:cubicBezTo>
                    <a:pt x="195" y="73"/>
                    <a:pt x="195" y="73"/>
                    <a:pt x="195" y="73"/>
                  </a:cubicBezTo>
                  <a:cubicBezTo>
                    <a:pt x="245" y="75"/>
                    <a:pt x="282" y="83"/>
                    <a:pt x="306" y="97"/>
                  </a:cubicBezTo>
                  <a:cubicBezTo>
                    <a:pt x="306" y="192"/>
                    <a:pt x="306" y="192"/>
                    <a:pt x="306" y="192"/>
                  </a:cubicBezTo>
                  <a:cubicBezTo>
                    <a:pt x="274" y="172"/>
                    <a:pt x="236" y="160"/>
                    <a:pt x="195" y="155"/>
                  </a:cubicBezTo>
                  <a:cubicBezTo>
                    <a:pt x="195" y="289"/>
                    <a:pt x="195" y="289"/>
                    <a:pt x="195" y="289"/>
                  </a:cubicBezTo>
                  <a:cubicBezTo>
                    <a:pt x="247" y="308"/>
                    <a:pt x="284" y="329"/>
                    <a:pt x="306" y="353"/>
                  </a:cubicBezTo>
                  <a:cubicBezTo>
                    <a:pt x="328" y="376"/>
                    <a:pt x="339" y="405"/>
                    <a:pt x="339" y="440"/>
                  </a:cubicBezTo>
                  <a:close/>
                  <a:moveTo>
                    <a:pt x="144" y="269"/>
                  </a:moveTo>
                  <a:cubicBezTo>
                    <a:pt x="144" y="157"/>
                    <a:pt x="144" y="157"/>
                    <a:pt x="144" y="157"/>
                  </a:cubicBezTo>
                  <a:cubicBezTo>
                    <a:pt x="111" y="163"/>
                    <a:pt x="94" y="180"/>
                    <a:pt x="94" y="208"/>
                  </a:cubicBezTo>
                  <a:cubicBezTo>
                    <a:pt x="94" y="233"/>
                    <a:pt x="111" y="253"/>
                    <a:pt x="144" y="269"/>
                  </a:cubicBezTo>
                  <a:close/>
                  <a:moveTo>
                    <a:pt x="246" y="445"/>
                  </a:moveTo>
                  <a:cubicBezTo>
                    <a:pt x="246" y="422"/>
                    <a:pt x="229" y="403"/>
                    <a:pt x="195" y="388"/>
                  </a:cubicBezTo>
                  <a:cubicBezTo>
                    <a:pt x="195" y="495"/>
                    <a:pt x="195" y="495"/>
                    <a:pt x="195" y="495"/>
                  </a:cubicBezTo>
                  <a:cubicBezTo>
                    <a:pt x="229" y="490"/>
                    <a:pt x="246" y="473"/>
                    <a:pt x="246" y="44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p:txBody>
        </p:sp>
      </p:grpSp>
      <p:sp>
        <p:nvSpPr>
          <p:cNvPr id="35" name="TextBox 34">
            <a:extLst>
              <a:ext uri="{FF2B5EF4-FFF2-40B4-BE49-F238E27FC236}">
                <a16:creationId xmlns:a16="http://schemas.microsoft.com/office/drawing/2014/main" id="{011638F2-C3DF-4122-A22C-315F7970B9D5}"/>
              </a:ext>
            </a:extLst>
          </p:cNvPr>
          <p:cNvSpPr txBox="1"/>
          <p:nvPr/>
        </p:nvSpPr>
        <p:spPr>
          <a:xfrm>
            <a:off x="6454520" y="3269801"/>
            <a:ext cx="2045692" cy="584775"/>
          </a:xfrm>
          <a:prstGeom prst="rect">
            <a:avLst/>
          </a:prstGeom>
          <a:noFill/>
        </p:spPr>
        <p:txBody>
          <a:bodyPr wrap="square">
            <a:spAutoFit/>
          </a:bodyPr>
          <a:lstStyle/>
          <a:p>
            <a:pPr marL="0" marR="0" lvl="1" indent="0" algn="l" defTabSz="914225" rtl="0" eaLnBrk="1" fontAlgn="auto" latinLnBrk="0" hangingPunct="1">
              <a:lnSpc>
                <a:spcPct val="100000"/>
              </a:lnSpc>
              <a:spcBef>
                <a:spcPts val="0"/>
              </a:spcBef>
              <a:spcAft>
                <a:spcPts val="300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Segoe UI Semibold"/>
                <a:ea typeface="+mn-ea"/>
                <a:cs typeface="Segoe UI Semibold" panose="020B0702040204020203" pitchFamily="34" charset="0"/>
              </a:rPr>
              <a:t>Fully managed services</a:t>
            </a:r>
          </a:p>
        </p:txBody>
      </p:sp>
      <p:sp>
        <p:nvSpPr>
          <p:cNvPr id="38" name="TextBox 37">
            <a:extLst>
              <a:ext uri="{FF2B5EF4-FFF2-40B4-BE49-F238E27FC236}">
                <a16:creationId xmlns:a16="http://schemas.microsoft.com/office/drawing/2014/main" id="{00775466-12B2-4C50-B29C-B6C4F47958A7}"/>
              </a:ext>
            </a:extLst>
          </p:cNvPr>
          <p:cNvSpPr txBox="1"/>
          <p:nvPr/>
        </p:nvSpPr>
        <p:spPr>
          <a:xfrm>
            <a:off x="6459627" y="3993677"/>
            <a:ext cx="2551830" cy="1563505"/>
          </a:xfrm>
          <a:prstGeom prst="rect">
            <a:avLst/>
          </a:prstGeom>
          <a:noFill/>
        </p:spPr>
        <p:txBody>
          <a:bodyPr wrap="square">
            <a:spAutoFit/>
          </a:bodyPr>
          <a:lstStyle/>
          <a:p>
            <a:pPr defTabSz="914139">
              <a:lnSpc>
                <a:spcPct val="90000"/>
              </a:lnSpc>
              <a:spcAft>
                <a:spcPts val="1175"/>
              </a:spcAft>
            </a:pPr>
            <a:r>
              <a:rPr lang="en-US" sz="1200" b="1">
                <a:solidFill>
                  <a:schemeClr val="bg1"/>
                </a:solidFill>
                <a:latin typeface="Segoe UI"/>
              </a:rPr>
              <a:t>Full set of built-in security </a:t>
            </a:r>
            <a:br>
              <a:rPr lang="en-US" sz="1200" b="1">
                <a:solidFill>
                  <a:schemeClr val="bg1"/>
                </a:solidFill>
                <a:latin typeface="Segoe UI"/>
              </a:rPr>
            </a:br>
            <a:r>
              <a:rPr lang="en-US" sz="1200" b="1">
                <a:solidFill>
                  <a:schemeClr val="bg1"/>
                </a:solidFill>
                <a:latin typeface="Segoe UI"/>
              </a:rPr>
              <a:t>and management services </a:t>
            </a:r>
            <a:br>
              <a:rPr lang="en-US" sz="1200" b="1">
                <a:solidFill>
                  <a:schemeClr val="bg1"/>
                </a:solidFill>
                <a:latin typeface="Segoe UI"/>
              </a:rPr>
            </a:br>
            <a:r>
              <a:rPr lang="en-US" sz="1200">
                <a:solidFill>
                  <a:schemeClr val="bg1"/>
                </a:solidFill>
                <a:latin typeface="Segoe UI"/>
              </a:rPr>
              <a:t>for Oracle solutions</a:t>
            </a:r>
          </a:p>
          <a:p>
            <a:pPr defTabSz="914139">
              <a:lnSpc>
                <a:spcPct val="90000"/>
              </a:lnSpc>
              <a:spcAft>
                <a:spcPts val="1175"/>
              </a:spcAft>
            </a:pPr>
            <a:r>
              <a:rPr lang="en-US" sz="1200" b="1">
                <a:solidFill>
                  <a:schemeClr val="bg1"/>
                </a:solidFill>
                <a:latin typeface="Segoe UI"/>
              </a:rPr>
              <a:t>Free up IT resources </a:t>
            </a:r>
            <a:r>
              <a:rPr lang="en-US" sz="1200">
                <a:solidFill>
                  <a:schemeClr val="bg1"/>
                </a:solidFill>
                <a:latin typeface="Segoe UI"/>
              </a:rPr>
              <a:t>from manual setup and configurations using Azure automation capabilities </a:t>
            </a:r>
          </a:p>
          <a:p>
            <a:pPr defTabSz="914139">
              <a:lnSpc>
                <a:spcPct val="90000"/>
              </a:lnSpc>
              <a:spcAft>
                <a:spcPts val="1175"/>
              </a:spcAft>
            </a:pPr>
            <a:endParaRPr lang="en-US" sz="1200">
              <a:solidFill>
                <a:schemeClr val="bg1"/>
              </a:solidFill>
              <a:latin typeface="Segoe UI"/>
            </a:endParaRPr>
          </a:p>
        </p:txBody>
      </p:sp>
      <p:sp>
        <p:nvSpPr>
          <p:cNvPr id="39" name="TextBox 38">
            <a:extLst>
              <a:ext uri="{FF2B5EF4-FFF2-40B4-BE49-F238E27FC236}">
                <a16:creationId xmlns:a16="http://schemas.microsoft.com/office/drawing/2014/main" id="{F8374EDA-63B5-4FC2-92B8-AE43C4DAA505}"/>
              </a:ext>
            </a:extLst>
          </p:cNvPr>
          <p:cNvSpPr txBox="1"/>
          <p:nvPr/>
        </p:nvSpPr>
        <p:spPr>
          <a:xfrm>
            <a:off x="9371399" y="3269801"/>
            <a:ext cx="2283620" cy="584775"/>
          </a:xfrm>
          <a:prstGeom prst="rect">
            <a:avLst/>
          </a:prstGeom>
          <a:noFill/>
        </p:spPr>
        <p:txBody>
          <a:bodyPr wrap="square">
            <a:spAutoFit/>
          </a:bodyPr>
          <a:lstStyle/>
          <a:p>
            <a:pPr marL="0" marR="0" lvl="1" indent="0" algn="l" defTabSz="914225" rtl="0" eaLnBrk="1" fontAlgn="auto" latinLnBrk="0" hangingPunct="1">
              <a:lnSpc>
                <a:spcPct val="100000"/>
              </a:lnSpc>
              <a:spcBef>
                <a:spcPts val="0"/>
              </a:spcBef>
              <a:spcAft>
                <a:spcPts val="300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Segoe UI Semibold"/>
                <a:ea typeface="+mn-ea"/>
                <a:cs typeface="Segoe UI Semibold" panose="020B0702040204020203" pitchFamily="34" charset="0"/>
              </a:rPr>
              <a:t>Robust </a:t>
            </a:r>
            <a:br>
              <a:rPr kumimoji="0" lang="en-US" sz="1600" b="0" i="0" u="none" strike="noStrike" kern="1200" cap="none" spc="0" normalizeH="0" baseline="0" noProof="0">
                <a:ln>
                  <a:noFill/>
                </a:ln>
                <a:solidFill>
                  <a:schemeClr val="accent3"/>
                </a:solidFill>
                <a:effectLst/>
                <a:uLnTx/>
                <a:uFillTx/>
                <a:latin typeface="Segoe UI Semibold"/>
                <a:ea typeface="+mn-ea"/>
                <a:cs typeface="Segoe UI Semibold" panose="020B0702040204020203" pitchFamily="34" charset="0"/>
              </a:rPr>
            </a:br>
            <a:r>
              <a:rPr kumimoji="0" lang="en-US" sz="1600" b="0" i="0" u="none" strike="noStrike" kern="1200" cap="none" spc="0" normalizeH="0" baseline="0" noProof="0">
                <a:ln>
                  <a:noFill/>
                </a:ln>
                <a:solidFill>
                  <a:schemeClr val="accent3"/>
                </a:solidFill>
                <a:effectLst/>
                <a:uLnTx/>
                <a:uFillTx/>
                <a:latin typeface="Segoe UI Semibold"/>
                <a:ea typeface="+mn-ea"/>
                <a:cs typeface="Segoe UI Semibold" panose="020B0702040204020203" pitchFamily="34" charset="0"/>
              </a:rPr>
              <a:t>compliance</a:t>
            </a:r>
          </a:p>
        </p:txBody>
      </p:sp>
      <p:sp>
        <p:nvSpPr>
          <p:cNvPr id="41" name="TextBox 40">
            <a:extLst>
              <a:ext uri="{FF2B5EF4-FFF2-40B4-BE49-F238E27FC236}">
                <a16:creationId xmlns:a16="http://schemas.microsoft.com/office/drawing/2014/main" id="{EF073DED-92A2-4685-85CD-03539D751512}"/>
              </a:ext>
            </a:extLst>
          </p:cNvPr>
          <p:cNvSpPr txBox="1"/>
          <p:nvPr/>
        </p:nvSpPr>
        <p:spPr>
          <a:xfrm>
            <a:off x="9371398" y="3993677"/>
            <a:ext cx="2348455" cy="1077218"/>
          </a:xfrm>
          <a:prstGeom prst="rect">
            <a:avLst/>
          </a:prstGeom>
          <a:noFill/>
        </p:spPr>
        <p:txBody>
          <a:bodyPr wrap="square">
            <a:spAutoFit/>
          </a:bodyPr>
          <a:lstStyle/>
          <a:p>
            <a:pPr defTabSz="914139">
              <a:lnSpc>
                <a:spcPct val="90000"/>
              </a:lnSpc>
              <a:spcAft>
                <a:spcPts val="1175"/>
              </a:spcAft>
            </a:pPr>
            <a:r>
              <a:rPr lang="en-US" sz="1200" b="1">
                <a:solidFill>
                  <a:schemeClr val="bg1"/>
                </a:solidFill>
                <a:latin typeface="Segoe UI"/>
              </a:rPr>
              <a:t>Largest compliance portfolio –</a:t>
            </a:r>
            <a:r>
              <a:rPr lang="en-US" sz="1200">
                <a:solidFill>
                  <a:schemeClr val="bg1"/>
                </a:solidFill>
                <a:latin typeface="Segoe UI"/>
              </a:rPr>
              <a:t> 60+​ compliance certifications, including AU Protected</a:t>
            </a:r>
            <a:endParaRPr lang="en-US" sz="1200">
              <a:solidFill>
                <a:schemeClr val="bg1"/>
              </a:solidFill>
              <a:latin typeface="Segoe UI"/>
              <a:cs typeface="Segoe UI"/>
            </a:endParaRPr>
          </a:p>
          <a:p>
            <a:pPr defTabSz="914139">
              <a:lnSpc>
                <a:spcPct val="90000"/>
              </a:lnSpc>
              <a:spcAft>
                <a:spcPts val="1175"/>
              </a:spcAft>
            </a:pPr>
            <a:r>
              <a:rPr lang="en-US" sz="1200">
                <a:solidFill>
                  <a:schemeClr val="bg1"/>
                </a:solidFill>
                <a:latin typeface="Segoe UI"/>
              </a:rPr>
              <a:t>Azure offers </a:t>
            </a:r>
            <a:r>
              <a:rPr lang="en-US" sz="1200" b="1">
                <a:solidFill>
                  <a:schemeClr val="bg1"/>
                </a:solidFill>
                <a:latin typeface="Segoe UI"/>
              </a:rPr>
              <a:t>global coverage </a:t>
            </a:r>
            <a:br>
              <a:rPr lang="en-US" sz="1200" b="1">
                <a:solidFill>
                  <a:schemeClr val="bg1"/>
                </a:solidFill>
                <a:latin typeface="Segoe UI"/>
              </a:rPr>
            </a:br>
            <a:r>
              <a:rPr lang="en-US" sz="1200">
                <a:solidFill>
                  <a:schemeClr val="bg1"/>
                </a:solidFill>
                <a:latin typeface="Segoe UI"/>
              </a:rPr>
              <a:t>across high-demand regions</a:t>
            </a:r>
          </a:p>
        </p:txBody>
      </p:sp>
      <p:sp>
        <p:nvSpPr>
          <p:cNvPr id="46" name="AutoShape 65">
            <a:extLst>
              <a:ext uri="{FF2B5EF4-FFF2-40B4-BE49-F238E27FC236}">
                <a16:creationId xmlns:a16="http://schemas.microsoft.com/office/drawing/2014/main" id="{7F99C619-38ED-4082-B760-0DB6F5645048}"/>
              </a:ext>
              <a:ext uri="{C183D7F6-B498-43B3-948B-1728B52AA6E4}">
                <adec:decorative xmlns:adec="http://schemas.microsoft.com/office/drawing/2017/decorative" val="1"/>
              </a:ext>
            </a:extLst>
          </p:cNvPr>
          <p:cNvSpPr>
            <a:spLocks noChangeAspect="1" noChangeArrowheads="1" noTextEdit="1"/>
          </p:cNvSpPr>
          <p:nvPr/>
        </p:nvSpPr>
        <p:spPr bwMode="auto">
          <a:xfrm>
            <a:off x="9482077" y="2476950"/>
            <a:ext cx="740525" cy="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62" name="Group 386">
            <a:extLst>
              <a:ext uri="{FF2B5EF4-FFF2-40B4-BE49-F238E27FC236}">
                <a16:creationId xmlns:a16="http://schemas.microsoft.com/office/drawing/2014/main" id="{6CA63478-41C6-4A34-BD94-2EB46F739972}"/>
              </a:ext>
              <a:ext uri="{C183D7F6-B498-43B3-948B-1728B52AA6E4}">
                <adec:decorative xmlns:adec="http://schemas.microsoft.com/office/drawing/2017/decorative" val="1"/>
              </a:ext>
            </a:extLst>
          </p:cNvPr>
          <p:cNvGrpSpPr>
            <a:grpSpLocks noChangeAspect="1"/>
          </p:cNvGrpSpPr>
          <p:nvPr/>
        </p:nvGrpSpPr>
        <p:grpSpPr bwMode="auto">
          <a:xfrm>
            <a:off x="3678295" y="2569516"/>
            <a:ext cx="740524" cy="555393"/>
            <a:chOff x="7014" y="2816"/>
            <a:chExt cx="312" cy="234"/>
          </a:xfrm>
        </p:grpSpPr>
        <p:sp>
          <p:nvSpPr>
            <p:cNvPr id="63" name="AutoShape 385">
              <a:extLst>
                <a:ext uri="{FF2B5EF4-FFF2-40B4-BE49-F238E27FC236}">
                  <a16:creationId xmlns:a16="http://schemas.microsoft.com/office/drawing/2014/main" id="{BBB09468-1227-41ED-9804-79973A282C67}"/>
                </a:ext>
              </a:extLst>
            </p:cNvPr>
            <p:cNvSpPr>
              <a:spLocks noChangeAspect="1" noChangeArrowheads="1" noTextEdit="1"/>
            </p:cNvSpPr>
            <p:nvPr/>
          </p:nvSpPr>
          <p:spPr bwMode="auto">
            <a:xfrm>
              <a:off x="7014" y="2816"/>
              <a:ext cx="31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387">
              <a:extLst>
                <a:ext uri="{FF2B5EF4-FFF2-40B4-BE49-F238E27FC236}">
                  <a16:creationId xmlns:a16="http://schemas.microsoft.com/office/drawing/2014/main" id="{5D5217EC-E09E-470C-97F8-9D8412465E80}"/>
                </a:ext>
              </a:extLst>
            </p:cNvPr>
            <p:cNvSpPr>
              <a:spLocks noChangeArrowheads="1"/>
            </p:cNvSpPr>
            <p:nvPr/>
          </p:nvSpPr>
          <p:spPr bwMode="auto">
            <a:xfrm>
              <a:off x="7014" y="2816"/>
              <a:ext cx="312" cy="234"/>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Rectangle 388">
              <a:extLst>
                <a:ext uri="{FF2B5EF4-FFF2-40B4-BE49-F238E27FC236}">
                  <a16:creationId xmlns:a16="http://schemas.microsoft.com/office/drawing/2014/main" id="{450D1C95-3A3A-4711-B23B-0E90A5B4CDC4}"/>
                </a:ext>
              </a:extLst>
            </p:cNvPr>
            <p:cNvSpPr>
              <a:spLocks noChangeArrowheads="1"/>
            </p:cNvSpPr>
            <p:nvPr/>
          </p:nvSpPr>
          <p:spPr bwMode="auto">
            <a:xfrm>
              <a:off x="7014" y="2816"/>
              <a:ext cx="312" cy="29"/>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Oval 389">
              <a:extLst>
                <a:ext uri="{FF2B5EF4-FFF2-40B4-BE49-F238E27FC236}">
                  <a16:creationId xmlns:a16="http://schemas.microsoft.com/office/drawing/2014/main" id="{201F9C7E-DE9E-4C77-B293-1702A459C5F6}"/>
                </a:ext>
              </a:extLst>
            </p:cNvPr>
            <p:cNvSpPr>
              <a:spLocks noChangeArrowheads="1"/>
            </p:cNvSpPr>
            <p:nvPr/>
          </p:nvSpPr>
          <p:spPr bwMode="auto">
            <a:xfrm>
              <a:off x="7025" y="2826"/>
              <a:ext cx="9" cy="1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Oval 390">
              <a:extLst>
                <a:ext uri="{FF2B5EF4-FFF2-40B4-BE49-F238E27FC236}">
                  <a16:creationId xmlns:a16="http://schemas.microsoft.com/office/drawing/2014/main" id="{D46D7C11-9739-4FA5-9170-4A5FD7F71326}"/>
                </a:ext>
              </a:extLst>
            </p:cNvPr>
            <p:cNvSpPr>
              <a:spLocks noChangeArrowheads="1"/>
            </p:cNvSpPr>
            <p:nvPr/>
          </p:nvSpPr>
          <p:spPr bwMode="auto">
            <a:xfrm>
              <a:off x="7039" y="2826"/>
              <a:ext cx="10" cy="1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Oval 391">
              <a:extLst>
                <a:ext uri="{FF2B5EF4-FFF2-40B4-BE49-F238E27FC236}">
                  <a16:creationId xmlns:a16="http://schemas.microsoft.com/office/drawing/2014/main" id="{C5A61BC2-31CF-47BF-A5DE-B6DDA4AD7C4B}"/>
                </a:ext>
              </a:extLst>
            </p:cNvPr>
            <p:cNvSpPr>
              <a:spLocks noChangeArrowheads="1"/>
            </p:cNvSpPr>
            <p:nvPr/>
          </p:nvSpPr>
          <p:spPr bwMode="auto">
            <a:xfrm>
              <a:off x="7054" y="2826"/>
              <a:ext cx="10" cy="1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392">
              <a:extLst>
                <a:ext uri="{FF2B5EF4-FFF2-40B4-BE49-F238E27FC236}">
                  <a16:creationId xmlns:a16="http://schemas.microsoft.com/office/drawing/2014/main" id="{8B3A0702-641A-43FE-918F-83940F333FBC}"/>
                </a:ext>
              </a:extLst>
            </p:cNvPr>
            <p:cNvSpPr>
              <a:spLocks noChangeArrowheads="1"/>
            </p:cNvSpPr>
            <p:nvPr/>
          </p:nvSpPr>
          <p:spPr bwMode="auto">
            <a:xfrm>
              <a:off x="7073" y="2884"/>
              <a:ext cx="48" cy="4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393">
              <a:extLst>
                <a:ext uri="{FF2B5EF4-FFF2-40B4-BE49-F238E27FC236}">
                  <a16:creationId xmlns:a16="http://schemas.microsoft.com/office/drawing/2014/main" id="{AFC7C1F8-B823-4CA2-BE09-5C0DFD07F145}"/>
                </a:ext>
              </a:extLst>
            </p:cNvPr>
            <p:cNvSpPr>
              <a:spLocks noChangeArrowheads="1"/>
            </p:cNvSpPr>
            <p:nvPr/>
          </p:nvSpPr>
          <p:spPr bwMode="auto">
            <a:xfrm>
              <a:off x="7146" y="2884"/>
              <a:ext cx="49" cy="4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394">
              <a:extLst>
                <a:ext uri="{FF2B5EF4-FFF2-40B4-BE49-F238E27FC236}">
                  <a16:creationId xmlns:a16="http://schemas.microsoft.com/office/drawing/2014/main" id="{FA5EBB52-B9AD-4CCF-8F9A-4CC85CB37980}"/>
                </a:ext>
              </a:extLst>
            </p:cNvPr>
            <p:cNvSpPr>
              <a:spLocks noChangeArrowheads="1"/>
            </p:cNvSpPr>
            <p:nvPr/>
          </p:nvSpPr>
          <p:spPr bwMode="auto">
            <a:xfrm>
              <a:off x="7219" y="2884"/>
              <a:ext cx="49" cy="4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395">
              <a:extLst>
                <a:ext uri="{FF2B5EF4-FFF2-40B4-BE49-F238E27FC236}">
                  <a16:creationId xmlns:a16="http://schemas.microsoft.com/office/drawing/2014/main" id="{4A673AE8-D378-4C04-8949-E028BAA82C4A}"/>
                </a:ext>
              </a:extLst>
            </p:cNvPr>
            <p:cNvSpPr>
              <a:spLocks noChangeArrowheads="1"/>
            </p:cNvSpPr>
            <p:nvPr/>
          </p:nvSpPr>
          <p:spPr bwMode="auto">
            <a:xfrm>
              <a:off x="7073" y="2962"/>
              <a:ext cx="48" cy="4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396">
              <a:extLst>
                <a:ext uri="{FF2B5EF4-FFF2-40B4-BE49-F238E27FC236}">
                  <a16:creationId xmlns:a16="http://schemas.microsoft.com/office/drawing/2014/main" id="{2F97B631-B49C-4FFA-A295-0DB5A778D9EC}"/>
                </a:ext>
              </a:extLst>
            </p:cNvPr>
            <p:cNvSpPr>
              <a:spLocks noChangeArrowheads="1"/>
            </p:cNvSpPr>
            <p:nvPr/>
          </p:nvSpPr>
          <p:spPr bwMode="auto">
            <a:xfrm>
              <a:off x="7146" y="2962"/>
              <a:ext cx="49" cy="4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Rectangle 397">
              <a:extLst>
                <a:ext uri="{FF2B5EF4-FFF2-40B4-BE49-F238E27FC236}">
                  <a16:creationId xmlns:a16="http://schemas.microsoft.com/office/drawing/2014/main" id="{7D964E86-BA3D-4708-9388-B3AFEA80FBD5}"/>
                </a:ext>
              </a:extLst>
            </p:cNvPr>
            <p:cNvSpPr>
              <a:spLocks noChangeArrowheads="1"/>
            </p:cNvSpPr>
            <p:nvPr/>
          </p:nvSpPr>
          <p:spPr bwMode="auto">
            <a:xfrm>
              <a:off x="7219" y="2962"/>
              <a:ext cx="49" cy="4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10" name="Graphic 9">
            <a:extLst>
              <a:ext uri="{FF2B5EF4-FFF2-40B4-BE49-F238E27FC236}">
                <a16:creationId xmlns:a16="http://schemas.microsoft.com/office/drawing/2014/main" id="{C70C07DF-F65D-42E7-B530-0451E027FE8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93687" y="2530915"/>
            <a:ext cx="740525" cy="661183"/>
          </a:xfrm>
          <a:prstGeom prst="rect">
            <a:avLst/>
          </a:prstGeom>
        </p:spPr>
      </p:pic>
      <p:pic>
        <p:nvPicPr>
          <p:cNvPr id="12" name="Graphic 11">
            <a:extLst>
              <a:ext uri="{FF2B5EF4-FFF2-40B4-BE49-F238E27FC236}">
                <a16:creationId xmlns:a16="http://schemas.microsoft.com/office/drawing/2014/main" id="{4F8D2265-34A8-4E5E-9726-A808B3F08472}"/>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9554" y="2522860"/>
            <a:ext cx="699665" cy="699665"/>
          </a:xfrm>
          <a:prstGeom prst="rect">
            <a:avLst/>
          </a:prstGeom>
        </p:spPr>
      </p:pic>
    </p:spTree>
    <p:extLst>
      <p:ext uri="{BB962C8B-B14F-4D97-AF65-F5344CB8AC3E}">
        <p14:creationId xmlns:p14="http://schemas.microsoft.com/office/powerpoint/2010/main" val="3418849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337380-43CB-45DE-81A6-311BB7CB4EF7}"/>
              </a:ext>
            </a:extLst>
          </p:cNvPr>
          <p:cNvSpPr>
            <a:spLocks noGrp="1"/>
          </p:cNvSpPr>
          <p:nvPr>
            <p:ph type="title"/>
          </p:nvPr>
        </p:nvSpPr>
        <p:spPr/>
        <p:txBody>
          <a:bodyPr/>
          <a:lstStyle/>
          <a:p>
            <a:r>
              <a:rPr lang="en-US" dirty="0"/>
              <a:t>Two paths for your Oracle workloads on Azure</a:t>
            </a:r>
          </a:p>
        </p:txBody>
      </p:sp>
      <p:sp>
        <p:nvSpPr>
          <p:cNvPr id="111" name="TextBox 110">
            <a:extLst>
              <a:ext uri="{FF2B5EF4-FFF2-40B4-BE49-F238E27FC236}">
                <a16:creationId xmlns:a16="http://schemas.microsoft.com/office/drawing/2014/main" id="{7940ED26-208B-4209-91D5-A56889CD242F}"/>
              </a:ext>
            </a:extLst>
          </p:cNvPr>
          <p:cNvSpPr txBox="1"/>
          <p:nvPr/>
        </p:nvSpPr>
        <p:spPr>
          <a:xfrm>
            <a:off x="582613" y="1058773"/>
            <a:ext cx="10638162"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3"/>
                </a:solidFill>
                <a:latin typeface="Segoe UI Semibold"/>
              </a:rPr>
              <a:t>Leverage Azure with IaaS options or migrate to a fully managed database for more benefits</a:t>
            </a:r>
            <a:endParaRPr kumimoji="0" lang="en-US" sz="2000" b="0" i="0" u="none" strike="noStrike" kern="1200" cap="none" spc="0" normalizeH="0" baseline="0" noProof="0" dirty="0">
              <a:ln>
                <a:noFill/>
              </a:ln>
              <a:solidFill>
                <a:schemeClr val="accent3"/>
              </a:solidFill>
              <a:effectLst/>
              <a:uLnTx/>
              <a:uFillTx/>
              <a:latin typeface="Segoe UI Semibold"/>
              <a:ea typeface="+mn-ea"/>
              <a:cs typeface="+mn-cs"/>
            </a:endParaRPr>
          </a:p>
        </p:txBody>
      </p:sp>
      <p:cxnSp>
        <p:nvCxnSpPr>
          <p:cNvPr id="222" name="Straight Arrow Connector 221">
            <a:extLst>
              <a:ext uri="{FF2B5EF4-FFF2-40B4-BE49-F238E27FC236}">
                <a16:creationId xmlns:a16="http://schemas.microsoft.com/office/drawing/2014/main" id="{4A1937DD-B151-7B4D-B959-F9E6581D39EA}"/>
              </a:ext>
              <a:ext uri="{C183D7F6-B498-43B3-948B-1728B52AA6E4}">
                <adec:decorative xmlns:adec="http://schemas.microsoft.com/office/drawing/2017/decorative" val="1"/>
              </a:ext>
            </a:extLst>
          </p:cNvPr>
          <p:cNvCxnSpPr>
            <a:cxnSpLocks/>
          </p:cNvCxnSpPr>
          <p:nvPr/>
        </p:nvCxnSpPr>
        <p:spPr>
          <a:xfrm>
            <a:off x="2355404" y="3335312"/>
            <a:ext cx="0" cy="280652"/>
          </a:xfrm>
          <a:prstGeom prst="straightConnector1">
            <a:avLst/>
          </a:prstGeom>
          <a:ln w="28575">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E8C2465E-DA71-9C44-B353-64033F3E297E}"/>
              </a:ext>
              <a:ext uri="{C183D7F6-B498-43B3-948B-1728B52AA6E4}">
                <adec:decorative xmlns:adec="http://schemas.microsoft.com/office/drawing/2017/decorative" val="1"/>
              </a:ext>
            </a:extLst>
          </p:cNvPr>
          <p:cNvCxnSpPr>
            <a:cxnSpLocks/>
          </p:cNvCxnSpPr>
          <p:nvPr/>
        </p:nvCxnSpPr>
        <p:spPr>
          <a:xfrm>
            <a:off x="6588144" y="3335312"/>
            <a:ext cx="0" cy="280652"/>
          </a:xfrm>
          <a:prstGeom prst="straightConnector1">
            <a:avLst/>
          </a:prstGeom>
          <a:ln w="28575">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0907ACAC-EA1E-A240-A009-3030EF5BAFB7}"/>
              </a:ext>
              <a:ext uri="{C183D7F6-B498-43B3-948B-1728B52AA6E4}">
                <adec:decorative xmlns:adec="http://schemas.microsoft.com/office/drawing/2017/decorative" val="1"/>
              </a:ext>
            </a:extLst>
          </p:cNvPr>
          <p:cNvCxnSpPr>
            <a:cxnSpLocks/>
          </p:cNvCxnSpPr>
          <p:nvPr/>
        </p:nvCxnSpPr>
        <p:spPr>
          <a:xfrm>
            <a:off x="8382951" y="2692767"/>
            <a:ext cx="246699" cy="0"/>
          </a:xfrm>
          <a:prstGeom prst="straightConnector1">
            <a:avLst/>
          </a:prstGeom>
          <a:ln w="28575">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88" name="Rectangle 187">
            <a:extLst>
              <a:ext uri="{FF2B5EF4-FFF2-40B4-BE49-F238E27FC236}">
                <a16:creationId xmlns:a16="http://schemas.microsoft.com/office/drawing/2014/main" id="{74C911C3-BB23-904A-908E-133310E0E5FF}"/>
              </a:ext>
              <a:ext uri="{C183D7F6-B498-43B3-948B-1728B52AA6E4}">
                <adec:decorative xmlns:adec="http://schemas.microsoft.com/office/drawing/2017/decorative" val="1"/>
              </a:ext>
            </a:extLst>
          </p:cNvPr>
          <p:cNvSpPr/>
          <p:nvPr/>
        </p:nvSpPr>
        <p:spPr bwMode="auto">
          <a:xfrm>
            <a:off x="595309" y="2024636"/>
            <a:ext cx="3496832" cy="1294026"/>
          </a:xfrm>
          <a:prstGeom prst="rect">
            <a:avLst/>
          </a:prstGeom>
          <a:solidFill>
            <a:schemeClr val="tx1"/>
          </a:solid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89" name="TextBox 188">
            <a:extLst>
              <a:ext uri="{FF2B5EF4-FFF2-40B4-BE49-F238E27FC236}">
                <a16:creationId xmlns:a16="http://schemas.microsoft.com/office/drawing/2014/main" id="{9FA0CA30-6CD4-A743-B9C2-CA28D5A80877}"/>
              </a:ext>
              <a:ext uri="{C183D7F6-B498-43B3-948B-1728B52AA6E4}">
                <adec:decorative xmlns:adec="http://schemas.microsoft.com/office/drawing/2017/decorative" val="0"/>
              </a:ext>
            </a:extLst>
          </p:cNvPr>
          <p:cNvSpPr txBox="1"/>
          <p:nvPr/>
        </p:nvSpPr>
        <p:spPr>
          <a:xfrm>
            <a:off x="814816" y="2098963"/>
            <a:ext cx="3076312" cy="307777"/>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accent3"/>
                </a:solidFill>
                <a:effectLst/>
                <a:uLnTx/>
                <a:uFillTx/>
                <a:latin typeface="Segoe UI Semibold"/>
                <a:ea typeface="Segoe UI" pitchFamily="34" charset="0"/>
                <a:cs typeface="Segoe UI" pitchFamily="34" charset="0"/>
              </a:rPr>
              <a:t>IaaS</a:t>
            </a:r>
          </a:p>
        </p:txBody>
      </p:sp>
      <p:sp>
        <p:nvSpPr>
          <p:cNvPr id="103" name="TextBox 102">
            <a:extLst>
              <a:ext uri="{FF2B5EF4-FFF2-40B4-BE49-F238E27FC236}">
                <a16:creationId xmlns:a16="http://schemas.microsoft.com/office/drawing/2014/main" id="{0F143157-973A-45CB-99D8-B5AC603C4A60}"/>
              </a:ext>
            </a:extLst>
          </p:cNvPr>
          <p:cNvSpPr txBox="1"/>
          <p:nvPr/>
        </p:nvSpPr>
        <p:spPr>
          <a:xfrm>
            <a:off x="1283057" y="2882623"/>
            <a:ext cx="1225084" cy="369332"/>
          </a:xfrm>
          <a:prstGeom prst="rect">
            <a:avLst/>
          </a:prstGeom>
          <a:noFill/>
        </p:spPr>
        <p:txBody>
          <a:bodyPr wrap="square">
            <a:spAutoFit/>
          </a:bodyPr>
          <a:lstStyle/>
          <a:p>
            <a:pPr defTabSz="932472" fontAlgn="base">
              <a:spcBef>
                <a:spcPct val="0"/>
              </a:spcBef>
              <a:spcAft>
                <a:spcPct val="0"/>
              </a:spcAft>
              <a:defRPr/>
            </a:pPr>
            <a:r>
              <a:rPr kumimoji="0"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a:rPr>
              <a:t>Azure</a:t>
            </a:r>
            <a:r>
              <a:rPr lang="en-US" sz="900" dirty="0">
                <a:solidFill>
                  <a:schemeClr val="bg1"/>
                </a:solidFill>
                <a:latin typeface="Segoe UI Semibold"/>
                <a:ea typeface="Segoe UI" pitchFamily="34" charset="0"/>
                <a:cs typeface="Segoe UI"/>
              </a:rPr>
              <a:t> Virtual Machines </a:t>
            </a:r>
            <a:r>
              <a:rPr kumimoji="0"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a:rPr>
              <a:t>(IaaS)</a:t>
            </a:r>
            <a:endParaRPr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a:endParaRPr>
          </a:p>
        </p:txBody>
      </p:sp>
      <p:sp>
        <p:nvSpPr>
          <p:cNvPr id="199" name="TextBox 198">
            <a:extLst>
              <a:ext uri="{FF2B5EF4-FFF2-40B4-BE49-F238E27FC236}">
                <a16:creationId xmlns:a16="http://schemas.microsoft.com/office/drawing/2014/main" id="{896B1FD7-B62B-244B-BC84-F08677E800FD}"/>
              </a:ext>
            </a:extLst>
          </p:cNvPr>
          <p:cNvSpPr txBox="1"/>
          <p:nvPr/>
        </p:nvSpPr>
        <p:spPr>
          <a:xfrm>
            <a:off x="2385519" y="2888794"/>
            <a:ext cx="1094873"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Azure </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Bare Metal </a:t>
            </a:r>
          </a:p>
        </p:txBody>
      </p:sp>
      <p:pic>
        <p:nvPicPr>
          <p:cNvPr id="198" name="Graphic 197">
            <a:extLst>
              <a:ext uri="{FF2B5EF4-FFF2-40B4-BE49-F238E27FC236}">
                <a16:creationId xmlns:a16="http://schemas.microsoft.com/office/drawing/2014/main" id="{D0A18282-D7AD-EE46-A32B-2ECF2C71D11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78780" y="2373665"/>
            <a:ext cx="515189" cy="515189"/>
          </a:xfrm>
          <a:prstGeom prst="rect">
            <a:avLst/>
          </a:prstGeom>
        </p:spPr>
      </p:pic>
      <p:pic>
        <p:nvPicPr>
          <p:cNvPr id="2" name="Picture 1" descr="Azure Virtual Machines icon">
            <a:extLst>
              <a:ext uri="{FF2B5EF4-FFF2-40B4-BE49-F238E27FC236}">
                <a16:creationId xmlns:a16="http://schemas.microsoft.com/office/drawing/2014/main" id="{F2E2B221-C82C-4BF9-828B-4E5E2BD34C9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877" b="95062" l="9091" r="89773">
                        <a14:foregroundMark x1="28409" y1="25926" x2="29545" y2="60494"/>
                        <a14:foregroundMark x1="76136" y1="17284" x2="61364" y2="67901"/>
                        <a14:foregroundMark x1="47727" y1="82716" x2="51136" y2="95062"/>
                      </a14:backgroundRemoval>
                    </a14:imgEffect>
                  </a14:imgLayer>
                </a14:imgProps>
              </a:ext>
              <a:ext uri="{28A0092B-C50C-407E-A947-70E740481C1C}">
                <a14:useLocalDpi xmlns:a14="http://schemas.microsoft.com/office/drawing/2010/main" val="0"/>
              </a:ext>
            </a:extLst>
          </a:blip>
          <a:stretch>
            <a:fillRect/>
          </a:stretch>
        </p:blipFill>
        <p:spPr>
          <a:xfrm>
            <a:off x="1475806" y="2399365"/>
            <a:ext cx="515189" cy="474209"/>
          </a:xfrm>
          <a:prstGeom prst="rect">
            <a:avLst/>
          </a:prstGeom>
        </p:spPr>
      </p:pic>
      <p:sp>
        <p:nvSpPr>
          <p:cNvPr id="107" name="Rectangle 106" descr="Always on Azure">
            <a:extLst>
              <a:ext uri="{FF2B5EF4-FFF2-40B4-BE49-F238E27FC236}">
                <a16:creationId xmlns:a16="http://schemas.microsoft.com/office/drawing/2014/main" id="{1B261274-1A87-DC45-894B-526806108A25}"/>
              </a:ext>
            </a:extLst>
          </p:cNvPr>
          <p:cNvSpPr>
            <a:spLocks/>
          </p:cNvSpPr>
          <p:nvPr/>
        </p:nvSpPr>
        <p:spPr>
          <a:xfrm>
            <a:off x="590747" y="3685578"/>
            <a:ext cx="7796980" cy="2878735"/>
          </a:xfrm>
          <a:prstGeom prst="rect">
            <a:avLst/>
          </a:prstGeom>
          <a:noFill/>
          <a:ln w="28575" cap="flat" cmpd="sng" algn="ctr">
            <a:solidFill>
              <a:schemeClr val="accent1"/>
            </a:solidFill>
            <a:prstDash val="solid"/>
          </a:ln>
          <a:effectLst/>
        </p:spPr>
        <p:txBody>
          <a:bodyPr lIns="146093" tIns="91308" rIns="146093" bIns="91308" rtlCol="0" anchor="ctr" anchorCtr="0">
            <a:noAutofit/>
          </a:bodyPr>
          <a:lstStyle/>
          <a:p>
            <a:pPr marL="0" marR="0" lvl="0" indent="0" algn="ctr" defTabSz="1240836"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130" name="Rectangle 129" descr="Proven resilience and stability">
            <a:extLst>
              <a:ext uri="{FF2B5EF4-FFF2-40B4-BE49-F238E27FC236}">
                <a16:creationId xmlns:a16="http://schemas.microsoft.com/office/drawing/2014/main" id="{4FF71650-4A83-984B-9722-2B4CB1E19E50}"/>
              </a:ext>
            </a:extLst>
          </p:cNvPr>
          <p:cNvSpPr/>
          <p:nvPr/>
        </p:nvSpPr>
        <p:spPr bwMode="auto">
          <a:xfrm>
            <a:off x="700914" y="4161461"/>
            <a:ext cx="2676311" cy="111995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02" name="Rectangle 201">
            <a:extLst>
              <a:ext uri="{FF2B5EF4-FFF2-40B4-BE49-F238E27FC236}">
                <a16:creationId xmlns:a16="http://schemas.microsoft.com/office/drawing/2014/main" id="{C03B1B25-4CD7-AC48-AA35-195557EF6407}"/>
              </a:ext>
              <a:ext uri="{C183D7F6-B498-43B3-948B-1728B52AA6E4}">
                <adec:decorative xmlns:adec="http://schemas.microsoft.com/office/drawing/2017/decorative" val="1"/>
              </a:ext>
            </a:extLst>
          </p:cNvPr>
          <p:cNvSpPr/>
          <p:nvPr/>
        </p:nvSpPr>
        <p:spPr bwMode="auto">
          <a:xfrm>
            <a:off x="3431433" y="4157926"/>
            <a:ext cx="1726796" cy="112464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03" name="TextBox 202">
            <a:extLst>
              <a:ext uri="{FF2B5EF4-FFF2-40B4-BE49-F238E27FC236}">
                <a16:creationId xmlns:a16="http://schemas.microsoft.com/office/drawing/2014/main" id="{CB6A2192-EB9E-9D46-81E9-A501B3B28AA8}"/>
              </a:ext>
            </a:extLst>
          </p:cNvPr>
          <p:cNvSpPr txBox="1"/>
          <p:nvPr/>
        </p:nvSpPr>
        <p:spPr>
          <a:xfrm>
            <a:off x="3476451" y="4891175"/>
            <a:ext cx="1648170" cy="276999"/>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Enterprise ready</a:t>
            </a:r>
          </a:p>
        </p:txBody>
      </p:sp>
      <p:sp>
        <p:nvSpPr>
          <p:cNvPr id="190" name="Rectangle 189">
            <a:extLst>
              <a:ext uri="{FF2B5EF4-FFF2-40B4-BE49-F238E27FC236}">
                <a16:creationId xmlns:a16="http://schemas.microsoft.com/office/drawing/2014/main" id="{0D8A107E-B6B2-1040-9003-7CC9E7815527}"/>
              </a:ext>
              <a:ext uri="{C183D7F6-B498-43B3-948B-1728B52AA6E4}">
                <adec:decorative xmlns:adec="http://schemas.microsoft.com/office/drawing/2017/decorative" val="1"/>
              </a:ext>
            </a:extLst>
          </p:cNvPr>
          <p:cNvSpPr/>
          <p:nvPr/>
        </p:nvSpPr>
        <p:spPr bwMode="auto">
          <a:xfrm>
            <a:off x="5212437" y="4157926"/>
            <a:ext cx="1524495" cy="112428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91" name="TextBox 190">
            <a:extLst>
              <a:ext uri="{FF2B5EF4-FFF2-40B4-BE49-F238E27FC236}">
                <a16:creationId xmlns:a16="http://schemas.microsoft.com/office/drawing/2014/main" id="{E9AE29A9-7780-5B4C-A7F1-76E4E362550E}"/>
              </a:ext>
            </a:extLst>
          </p:cNvPr>
          <p:cNvSpPr txBox="1"/>
          <p:nvPr/>
        </p:nvSpPr>
        <p:spPr>
          <a:xfrm>
            <a:off x="5404531" y="4891175"/>
            <a:ext cx="1164486" cy="276999"/>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Lower TCO</a:t>
            </a:r>
          </a:p>
        </p:txBody>
      </p:sp>
      <p:sp>
        <p:nvSpPr>
          <p:cNvPr id="200" name="Rectangle 199">
            <a:extLst>
              <a:ext uri="{FF2B5EF4-FFF2-40B4-BE49-F238E27FC236}">
                <a16:creationId xmlns:a16="http://schemas.microsoft.com/office/drawing/2014/main" id="{230F9EF1-8972-7941-BCC1-39635738C4FB}"/>
              </a:ext>
              <a:ext uri="{C183D7F6-B498-43B3-948B-1728B52AA6E4}">
                <adec:decorative xmlns:adec="http://schemas.microsoft.com/office/drawing/2017/decorative" val="1"/>
              </a:ext>
            </a:extLst>
          </p:cNvPr>
          <p:cNvSpPr/>
          <p:nvPr/>
        </p:nvSpPr>
        <p:spPr bwMode="auto">
          <a:xfrm>
            <a:off x="6791139" y="4161461"/>
            <a:ext cx="1524495" cy="111556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01" name="TextBox 200">
            <a:extLst>
              <a:ext uri="{FF2B5EF4-FFF2-40B4-BE49-F238E27FC236}">
                <a16:creationId xmlns:a16="http://schemas.microsoft.com/office/drawing/2014/main" id="{006632E9-8335-1E4A-BDC4-7E7C84468F33}"/>
              </a:ext>
            </a:extLst>
          </p:cNvPr>
          <p:cNvSpPr txBox="1"/>
          <p:nvPr/>
        </p:nvSpPr>
        <p:spPr>
          <a:xfrm>
            <a:off x="6773352" y="4891175"/>
            <a:ext cx="1542282" cy="276999"/>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Semibold"/>
                <a:ea typeface="Segoe UI" pitchFamily="34" charset="0"/>
                <a:cs typeface="Segoe UI" pitchFamily="34" charset="0"/>
              </a:rPr>
              <a:t>Built-in security</a:t>
            </a:r>
          </a:p>
        </p:txBody>
      </p:sp>
      <p:sp>
        <p:nvSpPr>
          <p:cNvPr id="109" name="Rectangle 108">
            <a:extLst>
              <a:ext uri="{FF2B5EF4-FFF2-40B4-BE49-F238E27FC236}">
                <a16:creationId xmlns:a16="http://schemas.microsoft.com/office/drawing/2014/main" id="{0FCD4C0A-61CD-444E-8D83-E79E4D64041C}"/>
              </a:ext>
              <a:ext uri="{C183D7F6-B498-43B3-948B-1728B52AA6E4}">
                <adec:decorative xmlns:adec="http://schemas.microsoft.com/office/drawing/2017/decorative" val="1"/>
              </a:ext>
            </a:extLst>
          </p:cNvPr>
          <p:cNvSpPr/>
          <p:nvPr/>
        </p:nvSpPr>
        <p:spPr bwMode="auto">
          <a:xfrm>
            <a:off x="686119" y="5351034"/>
            <a:ext cx="7614495" cy="1115568"/>
          </a:xfrm>
          <a:prstGeom prst="rect">
            <a:avLst/>
          </a:prstGeom>
          <a:noFill/>
          <a:ln>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41" name="TextBox 140">
            <a:extLst>
              <a:ext uri="{FF2B5EF4-FFF2-40B4-BE49-F238E27FC236}">
                <a16:creationId xmlns:a16="http://schemas.microsoft.com/office/drawing/2014/main" id="{030A1904-FF75-564D-8D39-2D643A4D15F1}"/>
              </a:ext>
            </a:extLst>
          </p:cNvPr>
          <p:cNvSpPr txBox="1"/>
          <p:nvPr/>
        </p:nvSpPr>
        <p:spPr>
          <a:xfrm>
            <a:off x="1121261" y="5849993"/>
            <a:ext cx="3404015" cy="184666"/>
          </a:xfrm>
          <a:prstGeom prst="rect">
            <a:avLst/>
          </a:prstGeom>
          <a:noFill/>
        </p:spPr>
        <p:txBody>
          <a:bodyPr wrap="square" lIns="0" tIns="0" rIns="0" bIns="0">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Integrated with Azure data ecosystem</a:t>
            </a:r>
          </a:p>
        </p:txBody>
      </p:sp>
      <p:pic>
        <p:nvPicPr>
          <p:cNvPr id="176" name="Power BI Dashboard" descr="Power BI Dashboard">
            <a:extLst>
              <a:ext uri="{FF2B5EF4-FFF2-40B4-BE49-F238E27FC236}">
                <a16:creationId xmlns:a16="http://schemas.microsoft.com/office/drawing/2014/main" id="{00EC9296-19E9-B549-900A-82170C66254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05043" y="5678355"/>
            <a:ext cx="429537" cy="457550"/>
          </a:xfrm>
          <a:prstGeom prst="rect">
            <a:avLst/>
          </a:prstGeom>
        </p:spPr>
      </p:pic>
      <p:pic>
        <p:nvPicPr>
          <p:cNvPr id="179" name="Graphic 178" descr="Azure Machine Learning">
            <a:extLst>
              <a:ext uri="{FF2B5EF4-FFF2-40B4-BE49-F238E27FC236}">
                <a16:creationId xmlns:a16="http://schemas.microsoft.com/office/drawing/2014/main" id="{102C0ADB-8BCC-8446-853B-BD5CD47AA6E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00338" y="5593051"/>
            <a:ext cx="587622" cy="587622"/>
          </a:xfrm>
          <a:prstGeom prst="rect">
            <a:avLst/>
          </a:prstGeom>
        </p:spPr>
      </p:pic>
      <p:pic>
        <p:nvPicPr>
          <p:cNvPr id="178" name="Graphic 177" descr="Azure Cognitive Services">
            <a:extLst>
              <a:ext uri="{FF2B5EF4-FFF2-40B4-BE49-F238E27FC236}">
                <a16:creationId xmlns:a16="http://schemas.microsoft.com/office/drawing/2014/main" id="{EEA64A04-6D8B-5345-A689-7F0770DA4E7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053717" y="5618600"/>
            <a:ext cx="587622" cy="587622"/>
          </a:xfrm>
          <a:prstGeom prst="rect">
            <a:avLst/>
          </a:prstGeom>
        </p:spPr>
      </p:pic>
      <p:sp>
        <p:nvSpPr>
          <p:cNvPr id="135" name="TextBox 134">
            <a:extLst>
              <a:ext uri="{FF2B5EF4-FFF2-40B4-BE49-F238E27FC236}">
                <a16:creationId xmlns:a16="http://schemas.microsoft.com/office/drawing/2014/main" id="{18CC2FCB-533D-3B44-A497-53918388A9DF}"/>
              </a:ext>
              <a:ext uri="{C183D7F6-B498-43B3-948B-1728B52AA6E4}">
                <adec:decorative xmlns:adec="http://schemas.microsoft.com/office/drawing/2017/decorative" val="1"/>
              </a:ext>
            </a:extLst>
          </p:cNvPr>
          <p:cNvSpPr txBox="1"/>
          <p:nvPr/>
        </p:nvSpPr>
        <p:spPr>
          <a:xfrm>
            <a:off x="825737" y="4891175"/>
            <a:ext cx="2613873" cy="276999"/>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Proven resilience &amp; stability</a:t>
            </a:r>
          </a:p>
        </p:txBody>
      </p:sp>
      <p:grpSp>
        <p:nvGrpSpPr>
          <p:cNvPr id="172" name="Group 171">
            <a:extLst>
              <a:ext uri="{FF2B5EF4-FFF2-40B4-BE49-F238E27FC236}">
                <a16:creationId xmlns:a16="http://schemas.microsoft.com/office/drawing/2014/main" id="{D78893F5-2ECA-D142-9222-0F04B7799018}"/>
              </a:ext>
              <a:ext uri="{C183D7F6-B498-43B3-948B-1728B52AA6E4}">
                <adec:decorative xmlns:adec="http://schemas.microsoft.com/office/drawing/2017/decorative" val="1"/>
              </a:ext>
            </a:extLst>
          </p:cNvPr>
          <p:cNvGrpSpPr/>
          <p:nvPr/>
        </p:nvGrpSpPr>
        <p:grpSpPr>
          <a:xfrm>
            <a:off x="1879371" y="4309239"/>
            <a:ext cx="502650" cy="540212"/>
            <a:chOff x="12422634" y="-1902890"/>
            <a:chExt cx="459444" cy="493778"/>
          </a:xfrm>
        </p:grpSpPr>
        <p:sp>
          <p:nvSpPr>
            <p:cNvPr id="173" name="Freeform: Shape 335">
              <a:extLst>
                <a:ext uri="{FF2B5EF4-FFF2-40B4-BE49-F238E27FC236}">
                  <a16:creationId xmlns:a16="http://schemas.microsoft.com/office/drawing/2014/main" id="{87CFFFA0-ECE5-7F49-9C46-7B5ADB2A2C40}"/>
                </a:ext>
              </a:extLst>
            </p:cNvPr>
            <p:cNvSpPr/>
            <p:nvPr/>
          </p:nvSpPr>
          <p:spPr>
            <a:xfrm>
              <a:off x="12492457" y="-1798733"/>
              <a:ext cx="286622" cy="389621"/>
            </a:xfrm>
            <a:custGeom>
              <a:avLst/>
              <a:gdLst>
                <a:gd name="connsiteX0" fmla="*/ 229064 w 229682"/>
                <a:gd name="connsiteY0" fmla="*/ 196914 h 312219"/>
                <a:gd name="connsiteX1" fmla="*/ 229064 w 229682"/>
                <a:gd name="connsiteY1" fmla="*/ 0 h 312219"/>
                <a:gd name="connsiteX2" fmla="*/ 0 w 229682"/>
                <a:gd name="connsiteY2" fmla="*/ 0 h 312219"/>
                <a:gd name="connsiteX3" fmla="*/ 0 w 229682"/>
                <a:gd name="connsiteY3" fmla="*/ 196914 h 312219"/>
                <a:gd name="connsiteX4" fmla="*/ 618 w 229682"/>
                <a:gd name="connsiteY4" fmla="*/ 197533 h 312219"/>
                <a:gd name="connsiteX5" fmla="*/ 29985 w 229682"/>
                <a:gd name="connsiteY5" fmla="*/ 227209 h 312219"/>
                <a:gd name="connsiteX6" fmla="*/ 114377 w 229682"/>
                <a:gd name="connsiteY6" fmla="*/ 312219 h 312219"/>
                <a:gd name="connsiteX7" fmla="*/ 229682 w 229682"/>
                <a:gd name="connsiteY7" fmla="*/ 196914 h 312219"/>
                <a:gd name="connsiteX8" fmla="*/ 229064 w 229682"/>
                <a:gd name="connsiteY8" fmla="*/ 196914 h 312219"/>
                <a:gd name="connsiteX9" fmla="*/ 187332 w 229682"/>
                <a:gd name="connsiteY9" fmla="*/ 134161 h 312219"/>
                <a:gd name="connsiteX10" fmla="*/ 135398 w 229682"/>
                <a:gd name="connsiteY10" fmla="*/ 134161 h 312219"/>
                <a:gd name="connsiteX11" fmla="*/ 135398 w 229682"/>
                <a:gd name="connsiteY11" fmla="*/ 186095 h 312219"/>
                <a:gd name="connsiteX12" fmla="*/ 93666 w 229682"/>
                <a:gd name="connsiteY12" fmla="*/ 186095 h 312219"/>
                <a:gd name="connsiteX13" fmla="*/ 93666 w 229682"/>
                <a:gd name="connsiteY13" fmla="*/ 134161 h 312219"/>
                <a:gd name="connsiteX14" fmla="*/ 41732 w 229682"/>
                <a:gd name="connsiteY14" fmla="*/ 134161 h 312219"/>
                <a:gd name="connsiteX15" fmla="*/ 41732 w 229682"/>
                <a:gd name="connsiteY15" fmla="*/ 92429 h 312219"/>
                <a:gd name="connsiteX16" fmla="*/ 93666 w 229682"/>
                <a:gd name="connsiteY16" fmla="*/ 92429 h 312219"/>
                <a:gd name="connsiteX17" fmla="*/ 93666 w 229682"/>
                <a:gd name="connsiteY17" fmla="*/ 40496 h 312219"/>
                <a:gd name="connsiteX18" fmla="*/ 135398 w 229682"/>
                <a:gd name="connsiteY18" fmla="*/ 40496 h 312219"/>
                <a:gd name="connsiteX19" fmla="*/ 135398 w 229682"/>
                <a:gd name="connsiteY19" fmla="*/ 92429 h 312219"/>
                <a:gd name="connsiteX20" fmla="*/ 187332 w 229682"/>
                <a:gd name="connsiteY20" fmla="*/ 92429 h 312219"/>
                <a:gd name="connsiteX21" fmla="*/ 187332 w 229682"/>
                <a:gd name="connsiteY21" fmla="*/ 134161 h 31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9682" h="312219">
                  <a:moveTo>
                    <a:pt x="229064" y="196914"/>
                  </a:moveTo>
                  <a:lnTo>
                    <a:pt x="229064" y="0"/>
                  </a:lnTo>
                  <a:lnTo>
                    <a:pt x="0" y="0"/>
                  </a:lnTo>
                  <a:lnTo>
                    <a:pt x="0" y="196914"/>
                  </a:lnTo>
                  <a:lnTo>
                    <a:pt x="618" y="197533"/>
                  </a:lnTo>
                  <a:lnTo>
                    <a:pt x="29985" y="227209"/>
                  </a:lnTo>
                  <a:lnTo>
                    <a:pt x="114377" y="312219"/>
                  </a:lnTo>
                  <a:lnTo>
                    <a:pt x="229682" y="196914"/>
                  </a:lnTo>
                  <a:lnTo>
                    <a:pt x="229064" y="196914"/>
                  </a:lnTo>
                  <a:close/>
                  <a:moveTo>
                    <a:pt x="187332" y="134161"/>
                  </a:moveTo>
                  <a:lnTo>
                    <a:pt x="135398" y="134161"/>
                  </a:lnTo>
                  <a:lnTo>
                    <a:pt x="135398" y="186095"/>
                  </a:lnTo>
                  <a:lnTo>
                    <a:pt x="93666" y="186095"/>
                  </a:lnTo>
                  <a:lnTo>
                    <a:pt x="93666" y="134161"/>
                  </a:lnTo>
                  <a:lnTo>
                    <a:pt x="41732" y="134161"/>
                  </a:lnTo>
                  <a:lnTo>
                    <a:pt x="41732" y="92429"/>
                  </a:lnTo>
                  <a:lnTo>
                    <a:pt x="93666" y="92429"/>
                  </a:lnTo>
                  <a:lnTo>
                    <a:pt x="93666" y="40496"/>
                  </a:lnTo>
                  <a:lnTo>
                    <a:pt x="135398" y="40496"/>
                  </a:lnTo>
                  <a:lnTo>
                    <a:pt x="135398" y="92429"/>
                  </a:lnTo>
                  <a:lnTo>
                    <a:pt x="187332" y="92429"/>
                  </a:lnTo>
                  <a:lnTo>
                    <a:pt x="187332" y="134161"/>
                  </a:lnTo>
                  <a:close/>
                </a:path>
              </a:pathLst>
            </a:custGeom>
            <a:solidFill>
              <a:schemeClr val="accent1"/>
            </a:solidFill>
            <a:ln w="3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4" name="Freeform: Shape 336">
              <a:extLst>
                <a:ext uri="{FF2B5EF4-FFF2-40B4-BE49-F238E27FC236}">
                  <a16:creationId xmlns:a16="http://schemas.microsoft.com/office/drawing/2014/main" id="{CBEBB251-8307-BA40-B12F-7EDBBA2BFEDF}"/>
                </a:ext>
              </a:extLst>
            </p:cNvPr>
            <p:cNvSpPr/>
            <p:nvPr/>
          </p:nvSpPr>
          <p:spPr>
            <a:xfrm>
              <a:off x="12422634" y="-1631313"/>
              <a:ext cx="186708" cy="186708"/>
            </a:xfrm>
            <a:custGeom>
              <a:avLst/>
              <a:gdLst>
                <a:gd name="connsiteX0" fmla="*/ 119942 w 149617"/>
                <a:gd name="connsiteY0" fmla="*/ 0 h 149617"/>
                <a:gd name="connsiteX1" fmla="*/ 149618 w 149617"/>
                <a:gd name="connsiteY1" fmla="*/ 0 h 149617"/>
                <a:gd name="connsiteX2" fmla="*/ 149618 w 149617"/>
                <a:gd name="connsiteY2" fmla="*/ 29367 h 149617"/>
                <a:gd name="connsiteX3" fmla="*/ 85937 w 149617"/>
                <a:gd name="connsiteY3" fmla="*/ 93047 h 149617"/>
                <a:gd name="connsiteX4" fmla="*/ 29367 w 149617"/>
                <a:gd name="connsiteY4" fmla="*/ 149618 h 149617"/>
                <a:gd name="connsiteX5" fmla="*/ 0 w 149617"/>
                <a:gd name="connsiteY5" fmla="*/ 120251 h 149617"/>
                <a:gd name="connsiteX6" fmla="*/ 119942 w 149617"/>
                <a:gd name="connsiteY6" fmla="*/ 0 h 149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617" h="149617">
                  <a:moveTo>
                    <a:pt x="119942" y="0"/>
                  </a:moveTo>
                  <a:lnTo>
                    <a:pt x="149618" y="0"/>
                  </a:lnTo>
                  <a:lnTo>
                    <a:pt x="149618" y="29367"/>
                  </a:lnTo>
                  <a:lnTo>
                    <a:pt x="85937" y="93047"/>
                  </a:lnTo>
                  <a:lnTo>
                    <a:pt x="29367" y="149618"/>
                  </a:lnTo>
                  <a:lnTo>
                    <a:pt x="0" y="120251"/>
                  </a:lnTo>
                  <a:lnTo>
                    <a:pt x="119942" y="0"/>
                  </a:lnTo>
                  <a:close/>
                </a:path>
              </a:pathLst>
            </a:custGeom>
            <a:solidFill>
              <a:srgbClr val="50E6FF"/>
            </a:solidFill>
            <a:ln w="3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5" name="Freeform: Shape 337">
              <a:extLst>
                <a:ext uri="{FF2B5EF4-FFF2-40B4-BE49-F238E27FC236}">
                  <a16:creationId xmlns:a16="http://schemas.microsoft.com/office/drawing/2014/main" id="{500BDB82-A687-5948-BABC-2400C5D5A610}"/>
                </a:ext>
              </a:extLst>
            </p:cNvPr>
            <p:cNvSpPr/>
            <p:nvPr/>
          </p:nvSpPr>
          <p:spPr>
            <a:xfrm>
              <a:off x="12661036" y="-1902890"/>
              <a:ext cx="221042" cy="219884"/>
            </a:xfrm>
            <a:custGeom>
              <a:avLst/>
              <a:gdLst>
                <a:gd name="connsiteX0" fmla="*/ 177130 w 177130"/>
                <a:gd name="connsiteY0" fmla="*/ 0 h 176202"/>
                <a:gd name="connsiteX1" fmla="*/ 177130 w 177130"/>
                <a:gd name="connsiteY1" fmla="*/ 145908 h 176202"/>
                <a:gd name="connsiteX2" fmla="*/ 135398 w 177130"/>
                <a:gd name="connsiteY2" fmla="*/ 145908 h 176202"/>
                <a:gd name="connsiteX3" fmla="*/ 135398 w 177130"/>
                <a:gd name="connsiteY3" fmla="*/ 70172 h 176202"/>
                <a:gd name="connsiteX4" fmla="*/ 29367 w 177130"/>
                <a:gd name="connsiteY4" fmla="*/ 176203 h 176202"/>
                <a:gd name="connsiteX5" fmla="*/ 0 w 177130"/>
                <a:gd name="connsiteY5" fmla="*/ 176203 h 176202"/>
                <a:gd name="connsiteX6" fmla="*/ 0 w 177130"/>
                <a:gd name="connsiteY6" fmla="*/ 146527 h 176202"/>
                <a:gd name="connsiteX7" fmla="*/ 104794 w 177130"/>
                <a:gd name="connsiteY7" fmla="*/ 41732 h 176202"/>
                <a:gd name="connsiteX8" fmla="*/ 31222 w 177130"/>
                <a:gd name="connsiteY8" fmla="*/ 41732 h 176202"/>
                <a:gd name="connsiteX9" fmla="*/ 31222 w 177130"/>
                <a:gd name="connsiteY9" fmla="*/ 0 h 176202"/>
                <a:gd name="connsiteX10" fmla="*/ 177130 w 177130"/>
                <a:gd name="connsiteY10" fmla="*/ 0 h 17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130" h="176202">
                  <a:moveTo>
                    <a:pt x="177130" y="0"/>
                  </a:moveTo>
                  <a:lnTo>
                    <a:pt x="177130" y="145908"/>
                  </a:lnTo>
                  <a:lnTo>
                    <a:pt x="135398" y="145908"/>
                  </a:lnTo>
                  <a:lnTo>
                    <a:pt x="135398" y="70172"/>
                  </a:lnTo>
                  <a:lnTo>
                    <a:pt x="29367" y="176203"/>
                  </a:lnTo>
                  <a:lnTo>
                    <a:pt x="0" y="176203"/>
                  </a:lnTo>
                  <a:lnTo>
                    <a:pt x="0" y="146527"/>
                  </a:lnTo>
                  <a:lnTo>
                    <a:pt x="104794" y="41732"/>
                  </a:lnTo>
                  <a:lnTo>
                    <a:pt x="31222" y="41732"/>
                  </a:lnTo>
                  <a:lnTo>
                    <a:pt x="31222" y="0"/>
                  </a:lnTo>
                  <a:lnTo>
                    <a:pt x="177130" y="0"/>
                  </a:lnTo>
                  <a:close/>
                </a:path>
              </a:pathLst>
            </a:custGeom>
            <a:solidFill>
              <a:srgbClr val="50E6FF"/>
            </a:solidFill>
            <a:ln w="3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204" name="Group 10">
            <a:extLst>
              <a:ext uri="{FF2B5EF4-FFF2-40B4-BE49-F238E27FC236}">
                <a16:creationId xmlns:a16="http://schemas.microsoft.com/office/drawing/2014/main" id="{B2BB4A10-B600-F847-B32F-A90A7524E9F7}"/>
              </a:ext>
              <a:ext uri="{C183D7F6-B498-43B3-948B-1728B52AA6E4}">
                <adec:decorative xmlns:adec="http://schemas.microsoft.com/office/drawing/2017/decorative" val="1"/>
              </a:ext>
            </a:extLst>
          </p:cNvPr>
          <p:cNvGrpSpPr>
            <a:grpSpLocks noChangeAspect="1"/>
          </p:cNvGrpSpPr>
          <p:nvPr/>
        </p:nvGrpSpPr>
        <p:grpSpPr bwMode="auto">
          <a:xfrm>
            <a:off x="5726587" y="4315317"/>
            <a:ext cx="462049" cy="528056"/>
            <a:chOff x="1033" y="999"/>
            <a:chExt cx="273" cy="312"/>
          </a:xfrm>
        </p:grpSpPr>
        <p:sp>
          <p:nvSpPr>
            <p:cNvPr id="205" name="Rectangle 11">
              <a:extLst>
                <a:ext uri="{FF2B5EF4-FFF2-40B4-BE49-F238E27FC236}">
                  <a16:creationId xmlns:a16="http://schemas.microsoft.com/office/drawing/2014/main" id="{E10DD0CC-F4B5-5941-A697-7DC4FD087018}"/>
                </a:ext>
              </a:extLst>
            </p:cNvPr>
            <p:cNvSpPr>
              <a:spLocks noChangeArrowheads="1"/>
            </p:cNvSpPr>
            <p:nvPr/>
          </p:nvSpPr>
          <p:spPr bwMode="auto">
            <a:xfrm>
              <a:off x="1277" y="1243"/>
              <a:ext cx="29" cy="68"/>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06" name="Rectangle 12">
              <a:extLst>
                <a:ext uri="{FF2B5EF4-FFF2-40B4-BE49-F238E27FC236}">
                  <a16:creationId xmlns:a16="http://schemas.microsoft.com/office/drawing/2014/main" id="{EC6DC1C2-5AE2-1A44-BB9C-274B31DF1653}"/>
                </a:ext>
              </a:extLst>
            </p:cNvPr>
            <p:cNvSpPr>
              <a:spLocks noChangeArrowheads="1"/>
            </p:cNvSpPr>
            <p:nvPr/>
          </p:nvSpPr>
          <p:spPr bwMode="auto">
            <a:xfrm>
              <a:off x="1228" y="1194"/>
              <a:ext cx="29" cy="117"/>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07" name="Rectangle 13">
              <a:extLst>
                <a:ext uri="{FF2B5EF4-FFF2-40B4-BE49-F238E27FC236}">
                  <a16:creationId xmlns:a16="http://schemas.microsoft.com/office/drawing/2014/main" id="{73B76FF2-A456-8E42-A686-2770FEF015D6}"/>
                </a:ext>
              </a:extLst>
            </p:cNvPr>
            <p:cNvSpPr>
              <a:spLocks noChangeArrowheads="1"/>
            </p:cNvSpPr>
            <p:nvPr/>
          </p:nvSpPr>
          <p:spPr bwMode="auto">
            <a:xfrm>
              <a:off x="1179" y="1145"/>
              <a:ext cx="30" cy="166"/>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08" name="Rectangle 14">
              <a:extLst>
                <a:ext uri="{FF2B5EF4-FFF2-40B4-BE49-F238E27FC236}">
                  <a16:creationId xmlns:a16="http://schemas.microsoft.com/office/drawing/2014/main" id="{8EBB9C81-F2B7-6A4C-A206-A5B8D8FEEFFB}"/>
                </a:ext>
              </a:extLst>
            </p:cNvPr>
            <p:cNvSpPr>
              <a:spLocks noChangeArrowheads="1"/>
            </p:cNvSpPr>
            <p:nvPr/>
          </p:nvSpPr>
          <p:spPr bwMode="auto">
            <a:xfrm>
              <a:off x="1131" y="1097"/>
              <a:ext cx="29" cy="21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09" name="Rectangle 15">
              <a:extLst>
                <a:ext uri="{FF2B5EF4-FFF2-40B4-BE49-F238E27FC236}">
                  <a16:creationId xmlns:a16="http://schemas.microsoft.com/office/drawing/2014/main" id="{22B00313-9669-5042-8365-70C026DC537F}"/>
                </a:ext>
              </a:extLst>
            </p:cNvPr>
            <p:cNvSpPr>
              <a:spLocks noChangeArrowheads="1"/>
            </p:cNvSpPr>
            <p:nvPr/>
          </p:nvSpPr>
          <p:spPr bwMode="auto">
            <a:xfrm>
              <a:off x="1082" y="1048"/>
              <a:ext cx="29" cy="2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10" name="Rectangle 16">
              <a:extLst>
                <a:ext uri="{FF2B5EF4-FFF2-40B4-BE49-F238E27FC236}">
                  <a16:creationId xmlns:a16="http://schemas.microsoft.com/office/drawing/2014/main" id="{F2BB5616-F64A-4D4B-9C5A-11621E82B23B}"/>
                </a:ext>
              </a:extLst>
            </p:cNvPr>
            <p:cNvSpPr>
              <a:spLocks noChangeArrowheads="1"/>
            </p:cNvSpPr>
            <p:nvPr/>
          </p:nvSpPr>
          <p:spPr bwMode="auto">
            <a:xfrm>
              <a:off x="1033" y="999"/>
              <a:ext cx="29" cy="3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11" name="Freeform 17">
              <a:extLst>
                <a:ext uri="{FF2B5EF4-FFF2-40B4-BE49-F238E27FC236}">
                  <a16:creationId xmlns:a16="http://schemas.microsoft.com/office/drawing/2014/main" id="{9D0D7AED-268F-D745-AD82-2A59553DE80F}"/>
                </a:ext>
              </a:extLst>
            </p:cNvPr>
            <p:cNvSpPr>
              <a:spLocks noEditPoints="1"/>
            </p:cNvSpPr>
            <p:nvPr/>
          </p:nvSpPr>
          <p:spPr bwMode="auto">
            <a:xfrm>
              <a:off x="1228" y="999"/>
              <a:ext cx="78" cy="151"/>
            </a:xfrm>
            <a:custGeom>
              <a:avLst/>
              <a:gdLst>
                <a:gd name="T0" fmla="*/ 339 w 339"/>
                <a:gd name="T1" fmla="*/ 440 h 662"/>
                <a:gd name="T2" fmla="*/ 303 w 339"/>
                <a:gd name="T3" fmla="*/ 534 h 662"/>
                <a:gd name="T4" fmla="*/ 195 w 339"/>
                <a:gd name="T5" fmla="*/ 578 h 662"/>
                <a:gd name="T6" fmla="*/ 195 w 339"/>
                <a:gd name="T7" fmla="*/ 662 h 662"/>
                <a:gd name="T8" fmla="*/ 144 w 339"/>
                <a:gd name="T9" fmla="*/ 662 h 662"/>
                <a:gd name="T10" fmla="*/ 144 w 339"/>
                <a:gd name="T11" fmla="*/ 580 h 662"/>
                <a:gd name="T12" fmla="*/ 10 w 339"/>
                <a:gd name="T13" fmla="*/ 547 h 662"/>
                <a:gd name="T14" fmla="*/ 10 w 339"/>
                <a:gd name="T15" fmla="*/ 450 h 662"/>
                <a:gd name="T16" fmla="*/ 71 w 339"/>
                <a:gd name="T17" fmla="*/ 480 h 662"/>
                <a:gd name="T18" fmla="*/ 144 w 339"/>
                <a:gd name="T19" fmla="*/ 497 h 662"/>
                <a:gd name="T20" fmla="*/ 144 w 339"/>
                <a:gd name="T21" fmla="*/ 368 h 662"/>
                <a:gd name="T22" fmla="*/ 33 w 339"/>
                <a:gd name="T23" fmla="*/ 305 h 662"/>
                <a:gd name="T24" fmla="*/ 0 w 339"/>
                <a:gd name="T25" fmla="*/ 214 h 662"/>
                <a:gd name="T26" fmla="*/ 40 w 339"/>
                <a:gd name="T27" fmla="*/ 119 h 662"/>
                <a:gd name="T28" fmla="*/ 144 w 339"/>
                <a:gd name="T29" fmla="*/ 74 h 662"/>
                <a:gd name="T30" fmla="*/ 144 w 339"/>
                <a:gd name="T31" fmla="*/ 0 h 662"/>
                <a:gd name="T32" fmla="*/ 195 w 339"/>
                <a:gd name="T33" fmla="*/ 0 h 662"/>
                <a:gd name="T34" fmla="*/ 195 w 339"/>
                <a:gd name="T35" fmla="*/ 73 h 662"/>
                <a:gd name="T36" fmla="*/ 306 w 339"/>
                <a:gd name="T37" fmla="*/ 97 h 662"/>
                <a:gd name="T38" fmla="*/ 306 w 339"/>
                <a:gd name="T39" fmla="*/ 192 h 662"/>
                <a:gd name="T40" fmla="*/ 195 w 339"/>
                <a:gd name="T41" fmla="*/ 155 h 662"/>
                <a:gd name="T42" fmla="*/ 195 w 339"/>
                <a:gd name="T43" fmla="*/ 289 h 662"/>
                <a:gd name="T44" fmla="*/ 306 w 339"/>
                <a:gd name="T45" fmla="*/ 353 h 662"/>
                <a:gd name="T46" fmla="*/ 339 w 339"/>
                <a:gd name="T47" fmla="*/ 440 h 662"/>
                <a:gd name="T48" fmla="*/ 144 w 339"/>
                <a:gd name="T49" fmla="*/ 269 h 662"/>
                <a:gd name="T50" fmla="*/ 144 w 339"/>
                <a:gd name="T51" fmla="*/ 157 h 662"/>
                <a:gd name="T52" fmla="*/ 94 w 339"/>
                <a:gd name="T53" fmla="*/ 208 h 662"/>
                <a:gd name="T54" fmla="*/ 144 w 339"/>
                <a:gd name="T55" fmla="*/ 269 h 662"/>
                <a:gd name="T56" fmla="*/ 246 w 339"/>
                <a:gd name="T57" fmla="*/ 445 h 662"/>
                <a:gd name="T58" fmla="*/ 195 w 339"/>
                <a:gd name="T59" fmla="*/ 388 h 662"/>
                <a:gd name="T60" fmla="*/ 195 w 339"/>
                <a:gd name="T61" fmla="*/ 495 h 662"/>
                <a:gd name="T62" fmla="*/ 246 w 339"/>
                <a:gd name="T63" fmla="*/ 445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9" h="662">
                  <a:moveTo>
                    <a:pt x="339" y="440"/>
                  </a:moveTo>
                  <a:cubicBezTo>
                    <a:pt x="339" y="479"/>
                    <a:pt x="327" y="510"/>
                    <a:pt x="303" y="534"/>
                  </a:cubicBezTo>
                  <a:cubicBezTo>
                    <a:pt x="278" y="558"/>
                    <a:pt x="242" y="572"/>
                    <a:pt x="195" y="578"/>
                  </a:cubicBezTo>
                  <a:cubicBezTo>
                    <a:pt x="195" y="662"/>
                    <a:pt x="195" y="662"/>
                    <a:pt x="195" y="662"/>
                  </a:cubicBezTo>
                  <a:cubicBezTo>
                    <a:pt x="144" y="662"/>
                    <a:pt x="144" y="662"/>
                    <a:pt x="144" y="662"/>
                  </a:cubicBezTo>
                  <a:cubicBezTo>
                    <a:pt x="144" y="580"/>
                    <a:pt x="144" y="580"/>
                    <a:pt x="144" y="580"/>
                  </a:cubicBezTo>
                  <a:cubicBezTo>
                    <a:pt x="95" y="579"/>
                    <a:pt x="51" y="569"/>
                    <a:pt x="10" y="547"/>
                  </a:cubicBezTo>
                  <a:cubicBezTo>
                    <a:pt x="10" y="450"/>
                    <a:pt x="10" y="450"/>
                    <a:pt x="10" y="450"/>
                  </a:cubicBezTo>
                  <a:cubicBezTo>
                    <a:pt x="23" y="460"/>
                    <a:pt x="43" y="470"/>
                    <a:pt x="71" y="480"/>
                  </a:cubicBezTo>
                  <a:cubicBezTo>
                    <a:pt x="99" y="490"/>
                    <a:pt x="123" y="495"/>
                    <a:pt x="144" y="497"/>
                  </a:cubicBezTo>
                  <a:cubicBezTo>
                    <a:pt x="144" y="368"/>
                    <a:pt x="144" y="368"/>
                    <a:pt x="144" y="368"/>
                  </a:cubicBezTo>
                  <a:cubicBezTo>
                    <a:pt x="91" y="349"/>
                    <a:pt x="55" y="328"/>
                    <a:pt x="33" y="305"/>
                  </a:cubicBezTo>
                  <a:cubicBezTo>
                    <a:pt x="11" y="282"/>
                    <a:pt x="0" y="252"/>
                    <a:pt x="0" y="214"/>
                  </a:cubicBezTo>
                  <a:cubicBezTo>
                    <a:pt x="0" y="177"/>
                    <a:pt x="14" y="145"/>
                    <a:pt x="40" y="119"/>
                  </a:cubicBezTo>
                  <a:cubicBezTo>
                    <a:pt x="67" y="94"/>
                    <a:pt x="101" y="79"/>
                    <a:pt x="144" y="74"/>
                  </a:cubicBezTo>
                  <a:cubicBezTo>
                    <a:pt x="144" y="0"/>
                    <a:pt x="144" y="0"/>
                    <a:pt x="144" y="0"/>
                  </a:cubicBezTo>
                  <a:cubicBezTo>
                    <a:pt x="195" y="0"/>
                    <a:pt x="195" y="0"/>
                    <a:pt x="195" y="0"/>
                  </a:cubicBezTo>
                  <a:cubicBezTo>
                    <a:pt x="195" y="73"/>
                    <a:pt x="195" y="73"/>
                    <a:pt x="195" y="73"/>
                  </a:cubicBezTo>
                  <a:cubicBezTo>
                    <a:pt x="245" y="75"/>
                    <a:pt x="282" y="83"/>
                    <a:pt x="306" y="97"/>
                  </a:cubicBezTo>
                  <a:cubicBezTo>
                    <a:pt x="306" y="192"/>
                    <a:pt x="306" y="192"/>
                    <a:pt x="306" y="192"/>
                  </a:cubicBezTo>
                  <a:cubicBezTo>
                    <a:pt x="274" y="172"/>
                    <a:pt x="236" y="160"/>
                    <a:pt x="195" y="155"/>
                  </a:cubicBezTo>
                  <a:cubicBezTo>
                    <a:pt x="195" y="289"/>
                    <a:pt x="195" y="289"/>
                    <a:pt x="195" y="289"/>
                  </a:cubicBezTo>
                  <a:cubicBezTo>
                    <a:pt x="247" y="308"/>
                    <a:pt x="284" y="329"/>
                    <a:pt x="306" y="353"/>
                  </a:cubicBezTo>
                  <a:cubicBezTo>
                    <a:pt x="328" y="376"/>
                    <a:pt x="339" y="405"/>
                    <a:pt x="339" y="440"/>
                  </a:cubicBezTo>
                  <a:close/>
                  <a:moveTo>
                    <a:pt x="144" y="269"/>
                  </a:moveTo>
                  <a:cubicBezTo>
                    <a:pt x="144" y="157"/>
                    <a:pt x="144" y="157"/>
                    <a:pt x="144" y="157"/>
                  </a:cubicBezTo>
                  <a:cubicBezTo>
                    <a:pt x="111" y="163"/>
                    <a:pt x="94" y="180"/>
                    <a:pt x="94" y="208"/>
                  </a:cubicBezTo>
                  <a:cubicBezTo>
                    <a:pt x="94" y="233"/>
                    <a:pt x="111" y="253"/>
                    <a:pt x="144" y="269"/>
                  </a:cubicBezTo>
                  <a:close/>
                  <a:moveTo>
                    <a:pt x="246" y="445"/>
                  </a:moveTo>
                  <a:cubicBezTo>
                    <a:pt x="246" y="422"/>
                    <a:pt x="229" y="403"/>
                    <a:pt x="195" y="388"/>
                  </a:cubicBezTo>
                  <a:cubicBezTo>
                    <a:pt x="195" y="495"/>
                    <a:pt x="195" y="495"/>
                    <a:pt x="195" y="495"/>
                  </a:cubicBezTo>
                  <a:cubicBezTo>
                    <a:pt x="229" y="490"/>
                    <a:pt x="246" y="473"/>
                    <a:pt x="246" y="44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grpSp>
        <p:nvGrpSpPr>
          <p:cNvPr id="212" name="Group 211">
            <a:extLst>
              <a:ext uri="{FF2B5EF4-FFF2-40B4-BE49-F238E27FC236}">
                <a16:creationId xmlns:a16="http://schemas.microsoft.com/office/drawing/2014/main" id="{43442D8B-CA81-B44C-A3B4-E7BFDC387425}"/>
              </a:ext>
              <a:ext uri="{C183D7F6-B498-43B3-948B-1728B52AA6E4}">
                <adec:decorative xmlns:adec="http://schemas.microsoft.com/office/drawing/2017/decorative" val="1"/>
              </a:ext>
            </a:extLst>
          </p:cNvPr>
          <p:cNvGrpSpPr>
            <a:grpSpLocks noChangeAspect="1"/>
          </p:cNvGrpSpPr>
          <p:nvPr/>
        </p:nvGrpSpPr>
        <p:grpSpPr>
          <a:xfrm>
            <a:off x="7316463" y="4297854"/>
            <a:ext cx="456178" cy="562983"/>
            <a:chOff x="1980078" y="253998"/>
            <a:chExt cx="3830386" cy="4727197"/>
          </a:xfrm>
        </p:grpSpPr>
        <p:sp>
          <p:nvSpPr>
            <p:cNvPr id="213" name="Rectangle 27">
              <a:extLst>
                <a:ext uri="{FF2B5EF4-FFF2-40B4-BE49-F238E27FC236}">
                  <a16:creationId xmlns:a16="http://schemas.microsoft.com/office/drawing/2014/main" id="{CF24E378-817A-3A46-A589-7C90164C58E2}"/>
                </a:ext>
              </a:extLst>
            </p:cNvPr>
            <p:cNvSpPr>
              <a:spLocks noChangeArrowheads="1"/>
            </p:cNvSpPr>
            <p:nvPr/>
          </p:nvSpPr>
          <p:spPr bwMode="auto">
            <a:xfrm>
              <a:off x="1980078" y="2169196"/>
              <a:ext cx="3830386" cy="2811999"/>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214" name="Freeform 29">
              <a:extLst>
                <a:ext uri="{FF2B5EF4-FFF2-40B4-BE49-F238E27FC236}">
                  <a16:creationId xmlns:a16="http://schemas.microsoft.com/office/drawing/2014/main" id="{0FDD1001-0178-5347-8B69-AB8B41783317}"/>
                </a:ext>
              </a:extLst>
            </p:cNvPr>
            <p:cNvSpPr>
              <a:spLocks/>
            </p:cNvSpPr>
            <p:nvPr/>
          </p:nvSpPr>
          <p:spPr bwMode="auto">
            <a:xfrm>
              <a:off x="3454477" y="2913999"/>
              <a:ext cx="881597" cy="881598"/>
            </a:xfrm>
            <a:custGeom>
              <a:avLst/>
              <a:gdLst>
                <a:gd name="T0" fmla="*/ 256 w 256"/>
                <a:gd name="T1" fmla="*/ 127 h 256"/>
                <a:gd name="T2" fmla="*/ 256 w 256"/>
                <a:gd name="T3" fmla="*/ 129 h 256"/>
                <a:gd name="T4" fmla="*/ 129 w 256"/>
                <a:gd name="T5" fmla="*/ 256 h 256"/>
                <a:gd name="T6" fmla="*/ 127 w 256"/>
                <a:gd name="T7" fmla="*/ 256 h 256"/>
                <a:gd name="T8" fmla="*/ 0 w 256"/>
                <a:gd name="T9" fmla="*/ 129 h 256"/>
                <a:gd name="T10" fmla="*/ 0 w 256"/>
                <a:gd name="T11" fmla="*/ 127 h 256"/>
                <a:gd name="T12" fmla="*/ 127 w 256"/>
                <a:gd name="T13" fmla="*/ 0 h 256"/>
                <a:gd name="T14" fmla="*/ 129 w 256"/>
                <a:gd name="T15" fmla="*/ 0 h 256"/>
                <a:gd name="T16" fmla="*/ 256 w 256"/>
                <a:gd name="T17" fmla="*/ 12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256">
                  <a:moveTo>
                    <a:pt x="256" y="127"/>
                  </a:moveTo>
                  <a:cubicBezTo>
                    <a:pt x="256" y="129"/>
                    <a:pt x="256" y="129"/>
                    <a:pt x="256" y="129"/>
                  </a:cubicBezTo>
                  <a:cubicBezTo>
                    <a:pt x="256" y="199"/>
                    <a:pt x="199" y="256"/>
                    <a:pt x="129" y="256"/>
                  </a:cubicBezTo>
                  <a:cubicBezTo>
                    <a:pt x="127" y="256"/>
                    <a:pt x="127" y="256"/>
                    <a:pt x="127" y="256"/>
                  </a:cubicBezTo>
                  <a:cubicBezTo>
                    <a:pt x="57" y="256"/>
                    <a:pt x="0" y="199"/>
                    <a:pt x="0" y="129"/>
                  </a:cubicBezTo>
                  <a:cubicBezTo>
                    <a:pt x="0" y="127"/>
                    <a:pt x="0" y="127"/>
                    <a:pt x="0" y="127"/>
                  </a:cubicBezTo>
                  <a:cubicBezTo>
                    <a:pt x="0" y="57"/>
                    <a:pt x="57" y="0"/>
                    <a:pt x="127" y="0"/>
                  </a:cubicBezTo>
                  <a:cubicBezTo>
                    <a:pt x="129" y="0"/>
                    <a:pt x="129" y="0"/>
                    <a:pt x="129" y="0"/>
                  </a:cubicBezTo>
                  <a:cubicBezTo>
                    <a:pt x="199" y="0"/>
                    <a:pt x="256" y="57"/>
                    <a:pt x="256" y="12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215" name="Freeform 30">
              <a:extLst>
                <a:ext uri="{FF2B5EF4-FFF2-40B4-BE49-F238E27FC236}">
                  <a16:creationId xmlns:a16="http://schemas.microsoft.com/office/drawing/2014/main" id="{EBE9CA70-0A14-584F-9F78-A2192DA9054B}"/>
                </a:ext>
              </a:extLst>
            </p:cNvPr>
            <p:cNvSpPr>
              <a:spLocks/>
            </p:cNvSpPr>
            <p:nvPr/>
          </p:nvSpPr>
          <p:spPr bwMode="auto">
            <a:xfrm>
              <a:off x="3667277" y="3354793"/>
              <a:ext cx="455998" cy="1033598"/>
            </a:xfrm>
            <a:custGeom>
              <a:avLst/>
              <a:gdLst>
                <a:gd name="T0" fmla="*/ 64 w 128"/>
                <a:gd name="T1" fmla="*/ 299 h 299"/>
                <a:gd name="T2" fmla="*/ 63 w 128"/>
                <a:gd name="T3" fmla="*/ 299 h 299"/>
                <a:gd name="T4" fmla="*/ 0 w 128"/>
                <a:gd name="T5" fmla="*/ 236 h 299"/>
                <a:gd name="T6" fmla="*/ 0 w 128"/>
                <a:gd name="T7" fmla="*/ 64 h 299"/>
                <a:gd name="T8" fmla="*/ 63 w 128"/>
                <a:gd name="T9" fmla="*/ 0 h 299"/>
                <a:gd name="T10" fmla="*/ 64 w 128"/>
                <a:gd name="T11" fmla="*/ 0 h 299"/>
                <a:gd name="T12" fmla="*/ 128 w 128"/>
                <a:gd name="T13" fmla="*/ 64 h 299"/>
                <a:gd name="T14" fmla="*/ 128 w 128"/>
                <a:gd name="T15" fmla="*/ 236 h 299"/>
                <a:gd name="T16" fmla="*/ 64 w 128"/>
                <a:gd name="T17" fmla="*/ 29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299">
                  <a:moveTo>
                    <a:pt x="64" y="299"/>
                  </a:moveTo>
                  <a:cubicBezTo>
                    <a:pt x="63" y="299"/>
                    <a:pt x="63" y="299"/>
                    <a:pt x="63" y="299"/>
                  </a:cubicBezTo>
                  <a:cubicBezTo>
                    <a:pt x="28" y="299"/>
                    <a:pt x="0" y="271"/>
                    <a:pt x="0" y="236"/>
                  </a:cubicBezTo>
                  <a:cubicBezTo>
                    <a:pt x="0" y="64"/>
                    <a:pt x="0" y="64"/>
                    <a:pt x="0" y="64"/>
                  </a:cubicBezTo>
                  <a:cubicBezTo>
                    <a:pt x="0" y="29"/>
                    <a:pt x="28" y="0"/>
                    <a:pt x="63" y="0"/>
                  </a:cubicBezTo>
                  <a:cubicBezTo>
                    <a:pt x="64" y="0"/>
                    <a:pt x="64" y="0"/>
                    <a:pt x="64" y="0"/>
                  </a:cubicBezTo>
                  <a:cubicBezTo>
                    <a:pt x="100" y="0"/>
                    <a:pt x="128" y="29"/>
                    <a:pt x="128" y="64"/>
                  </a:cubicBezTo>
                  <a:cubicBezTo>
                    <a:pt x="128" y="236"/>
                    <a:pt x="128" y="236"/>
                    <a:pt x="128" y="236"/>
                  </a:cubicBezTo>
                  <a:cubicBezTo>
                    <a:pt x="128" y="271"/>
                    <a:pt x="100" y="299"/>
                    <a:pt x="64" y="299"/>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216" name="Freeform: Shape 122">
              <a:extLst>
                <a:ext uri="{FF2B5EF4-FFF2-40B4-BE49-F238E27FC236}">
                  <a16:creationId xmlns:a16="http://schemas.microsoft.com/office/drawing/2014/main" id="{D9D06931-F4D4-8541-8D28-43D701929B1B}"/>
                </a:ext>
              </a:extLst>
            </p:cNvPr>
            <p:cNvSpPr/>
            <p:nvPr/>
          </p:nvSpPr>
          <p:spPr bwMode="auto">
            <a:xfrm>
              <a:off x="2420880" y="253998"/>
              <a:ext cx="2948790" cy="2423888"/>
            </a:xfrm>
            <a:custGeom>
              <a:avLst/>
              <a:gdLst>
                <a:gd name="connsiteX0" fmla="*/ 1474395 w 2948790"/>
                <a:gd name="connsiteY0" fmla="*/ 0 h 2423888"/>
                <a:gd name="connsiteX1" fmla="*/ 2948790 w 2948790"/>
                <a:gd name="connsiteY1" fmla="*/ 1474395 h 2423888"/>
                <a:gd name="connsiteX2" fmla="*/ 2948790 w 2948790"/>
                <a:gd name="connsiteY2" fmla="*/ 2423888 h 2423888"/>
                <a:gd name="connsiteX3" fmla="*/ 2505425 w 2948790"/>
                <a:gd name="connsiteY3" fmla="*/ 2423888 h 2423888"/>
                <a:gd name="connsiteX4" fmla="*/ 2506265 w 2948790"/>
                <a:gd name="connsiteY4" fmla="*/ 1475461 h 2423888"/>
                <a:gd name="connsiteX5" fmla="*/ 1474395 w 2948790"/>
                <a:gd name="connsiteY5" fmla="*/ 443591 h 2423888"/>
                <a:gd name="connsiteX6" fmla="*/ 442525 w 2948790"/>
                <a:gd name="connsiteY6" fmla="*/ 1475461 h 2423888"/>
                <a:gd name="connsiteX7" fmla="*/ 442525 w 2948790"/>
                <a:gd name="connsiteY7" fmla="*/ 2423888 h 2423888"/>
                <a:gd name="connsiteX8" fmla="*/ 0 w 2948790"/>
                <a:gd name="connsiteY8" fmla="*/ 2423888 h 2423888"/>
                <a:gd name="connsiteX9" fmla="*/ 0 w 2948790"/>
                <a:gd name="connsiteY9" fmla="*/ 1474395 h 2423888"/>
                <a:gd name="connsiteX10" fmla="*/ 1474395 w 2948790"/>
                <a:gd name="connsiteY10" fmla="*/ 0 h 242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48790" h="2423888">
                  <a:moveTo>
                    <a:pt x="1474395" y="0"/>
                  </a:moveTo>
                  <a:cubicBezTo>
                    <a:pt x="2288681" y="0"/>
                    <a:pt x="2948790" y="660109"/>
                    <a:pt x="2948790" y="1474395"/>
                  </a:cubicBezTo>
                  <a:lnTo>
                    <a:pt x="2948790" y="2423888"/>
                  </a:lnTo>
                  <a:lnTo>
                    <a:pt x="2505425" y="2423888"/>
                  </a:lnTo>
                  <a:lnTo>
                    <a:pt x="2506265" y="1475461"/>
                  </a:lnTo>
                  <a:cubicBezTo>
                    <a:pt x="2506265" y="905575"/>
                    <a:pt x="2044281" y="443591"/>
                    <a:pt x="1474395" y="443591"/>
                  </a:cubicBezTo>
                  <a:cubicBezTo>
                    <a:pt x="904509" y="443591"/>
                    <a:pt x="442525" y="905575"/>
                    <a:pt x="442525" y="1475461"/>
                  </a:cubicBezTo>
                  <a:lnTo>
                    <a:pt x="442525" y="2423888"/>
                  </a:lnTo>
                  <a:lnTo>
                    <a:pt x="0" y="2423888"/>
                  </a:lnTo>
                  <a:lnTo>
                    <a:pt x="0" y="1474395"/>
                  </a:lnTo>
                  <a:cubicBezTo>
                    <a:pt x="0" y="660109"/>
                    <a:pt x="660109" y="0"/>
                    <a:pt x="1474395" y="0"/>
                  </a:cubicBez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217" name="Group 46">
            <a:extLst>
              <a:ext uri="{FF2B5EF4-FFF2-40B4-BE49-F238E27FC236}">
                <a16:creationId xmlns:a16="http://schemas.microsoft.com/office/drawing/2014/main" id="{AA5D0E0A-4DF8-E04A-8309-212259C53AEF}"/>
              </a:ext>
              <a:ext uri="{C183D7F6-B498-43B3-948B-1728B52AA6E4}">
                <adec:decorative xmlns:adec="http://schemas.microsoft.com/office/drawing/2017/decorative" val="1"/>
              </a:ext>
            </a:extLst>
          </p:cNvPr>
          <p:cNvGrpSpPr>
            <a:grpSpLocks noChangeAspect="1"/>
          </p:cNvGrpSpPr>
          <p:nvPr/>
        </p:nvGrpSpPr>
        <p:grpSpPr bwMode="auto">
          <a:xfrm>
            <a:off x="4017522" y="4316710"/>
            <a:ext cx="525269" cy="525270"/>
            <a:chOff x="2812" y="999"/>
            <a:chExt cx="312" cy="312"/>
          </a:xfrm>
        </p:grpSpPr>
        <p:sp>
          <p:nvSpPr>
            <p:cNvPr id="218" name="Freeform 47">
              <a:extLst>
                <a:ext uri="{FF2B5EF4-FFF2-40B4-BE49-F238E27FC236}">
                  <a16:creationId xmlns:a16="http://schemas.microsoft.com/office/drawing/2014/main" id="{810441F8-2102-D84A-9F41-DE577F5E6B79}"/>
                </a:ext>
              </a:extLst>
            </p:cNvPr>
            <p:cNvSpPr>
              <a:spLocks/>
            </p:cNvSpPr>
            <p:nvPr/>
          </p:nvSpPr>
          <p:spPr bwMode="auto">
            <a:xfrm>
              <a:off x="2812" y="999"/>
              <a:ext cx="312" cy="312"/>
            </a:xfrm>
            <a:custGeom>
              <a:avLst/>
              <a:gdLst>
                <a:gd name="T0" fmla="*/ 682 w 1365"/>
                <a:gd name="T1" fmla="*/ 1365 h 1365"/>
                <a:gd name="T2" fmla="*/ 0 w 1365"/>
                <a:gd name="T3" fmla="*/ 683 h 1365"/>
                <a:gd name="T4" fmla="*/ 682 w 1365"/>
                <a:gd name="T5" fmla="*/ 0 h 1365"/>
                <a:gd name="T6" fmla="*/ 682 w 1365"/>
                <a:gd name="T7" fmla="*/ 128 h 1365"/>
                <a:gd name="T8" fmla="*/ 128 w 1365"/>
                <a:gd name="T9" fmla="*/ 683 h 1365"/>
                <a:gd name="T10" fmla="*/ 682 w 1365"/>
                <a:gd name="T11" fmla="*/ 1237 h 1365"/>
                <a:gd name="T12" fmla="*/ 1237 w 1365"/>
                <a:gd name="T13" fmla="*/ 683 h 1365"/>
                <a:gd name="T14" fmla="*/ 1365 w 1365"/>
                <a:gd name="T15" fmla="*/ 683 h 1365"/>
                <a:gd name="T16" fmla="*/ 682 w 1365"/>
                <a:gd name="T17" fmla="*/ 1365 h 1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5" h="1365">
                  <a:moveTo>
                    <a:pt x="682" y="1365"/>
                  </a:moveTo>
                  <a:cubicBezTo>
                    <a:pt x="306" y="1365"/>
                    <a:pt x="0" y="1059"/>
                    <a:pt x="0" y="683"/>
                  </a:cubicBezTo>
                  <a:cubicBezTo>
                    <a:pt x="0" y="306"/>
                    <a:pt x="306" y="0"/>
                    <a:pt x="682" y="0"/>
                  </a:cubicBezTo>
                  <a:cubicBezTo>
                    <a:pt x="682" y="128"/>
                    <a:pt x="682" y="128"/>
                    <a:pt x="682" y="128"/>
                  </a:cubicBezTo>
                  <a:cubicBezTo>
                    <a:pt x="377" y="128"/>
                    <a:pt x="128" y="377"/>
                    <a:pt x="128" y="683"/>
                  </a:cubicBezTo>
                  <a:cubicBezTo>
                    <a:pt x="128" y="988"/>
                    <a:pt x="377" y="1237"/>
                    <a:pt x="682" y="1237"/>
                  </a:cubicBezTo>
                  <a:cubicBezTo>
                    <a:pt x="988" y="1237"/>
                    <a:pt x="1237" y="988"/>
                    <a:pt x="1237" y="683"/>
                  </a:cubicBezTo>
                  <a:cubicBezTo>
                    <a:pt x="1365" y="683"/>
                    <a:pt x="1365" y="683"/>
                    <a:pt x="1365" y="683"/>
                  </a:cubicBezTo>
                  <a:cubicBezTo>
                    <a:pt x="1365" y="1059"/>
                    <a:pt x="1058" y="1365"/>
                    <a:pt x="682" y="1365"/>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219" name="Freeform 48">
              <a:extLst>
                <a:ext uri="{FF2B5EF4-FFF2-40B4-BE49-F238E27FC236}">
                  <a16:creationId xmlns:a16="http://schemas.microsoft.com/office/drawing/2014/main" id="{64F6B74D-A523-A54D-A4D5-FDF1A9E2D655}"/>
                </a:ext>
              </a:extLst>
            </p:cNvPr>
            <p:cNvSpPr>
              <a:spLocks/>
            </p:cNvSpPr>
            <p:nvPr/>
          </p:nvSpPr>
          <p:spPr bwMode="auto">
            <a:xfrm>
              <a:off x="2947" y="1068"/>
              <a:ext cx="135" cy="135"/>
            </a:xfrm>
            <a:custGeom>
              <a:avLst/>
              <a:gdLst>
                <a:gd name="T0" fmla="*/ 0 w 135"/>
                <a:gd name="T1" fmla="*/ 115 h 135"/>
                <a:gd name="T2" fmla="*/ 20 w 135"/>
                <a:gd name="T3" fmla="*/ 135 h 135"/>
                <a:gd name="T4" fmla="*/ 135 w 135"/>
                <a:gd name="T5" fmla="*/ 21 h 135"/>
                <a:gd name="T6" fmla="*/ 115 w 135"/>
                <a:gd name="T7" fmla="*/ 0 h 135"/>
                <a:gd name="T8" fmla="*/ 0 w 135"/>
                <a:gd name="T9" fmla="*/ 115 h 135"/>
              </a:gdLst>
              <a:ahLst/>
              <a:cxnLst>
                <a:cxn ang="0">
                  <a:pos x="T0" y="T1"/>
                </a:cxn>
                <a:cxn ang="0">
                  <a:pos x="T2" y="T3"/>
                </a:cxn>
                <a:cxn ang="0">
                  <a:pos x="T4" y="T5"/>
                </a:cxn>
                <a:cxn ang="0">
                  <a:pos x="T6" y="T7"/>
                </a:cxn>
                <a:cxn ang="0">
                  <a:pos x="T8" y="T9"/>
                </a:cxn>
              </a:cxnLst>
              <a:rect l="0" t="0" r="r" b="b"/>
              <a:pathLst>
                <a:path w="135" h="135">
                  <a:moveTo>
                    <a:pt x="0" y="115"/>
                  </a:moveTo>
                  <a:lnTo>
                    <a:pt x="20" y="135"/>
                  </a:lnTo>
                  <a:lnTo>
                    <a:pt x="135" y="21"/>
                  </a:lnTo>
                  <a:lnTo>
                    <a:pt x="115" y="0"/>
                  </a:lnTo>
                  <a:lnTo>
                    <a:pt x="0" y="115"/>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220" name="Freeform 49">
              <a:extLst>
                <a:ext uri="{FF2B5EF4-FFF2-40B4-BE49-F238E27FC236}">
                  <a16:creationId xmlns:a16="http://schemas.microsoft.com/office/drawing/2014/main" id="{BFD5A299-6E81-944E-977B-2652F3BBA190}"/>
                </a:ext>
              </a:extLst>
            </p:cNvPr>
            <p:cNvSpPr>
              <a:spLocks/>
            </p:cNvSpPr>
            <p:nvPr/>
          </p:nvSpPr>
          <p:spPr bwMode="auto">
            <a:xfrm>
              <a:off x="2902" y="1117"/>
              <a:ext cx="86" cy="86"/>
            </a:xfrm>
            <a:custGeom>
              <a:avLst/>
              <a:gdLst>
                <a:gd name="T0" fmla="*/ 65 w 86"/>
                <a:gd name="T1" fmla="*/ 86 h 86"/>
                <a:gd name="T2" fmla="*/ 86 w 86"/>
                <a:gd name="T3" fmla="*/ 65 h 86"/>
                <a:gd name="T4" fmla="*/ 20 w 86"/>
                <a:gd name="T5" fmla="*/ 0 h 86"/>
                <a:gd name="T6" fmla="*/ 0 w 86"/>
                <a:gd name="T7" fmla="*/ 21 h 86"/>
                <a:gd name="T8" fmla="*/ 65 w 86"/>
                <a:gd name="T9" fmla="*/ 86 h 86"/>
              </a:gdLst>
              <a:ahLst/>
              <a:cxnLst>
                <a:cxn ang="0">
                  <a:pos x="T0" y="T1"/>
                </a:cxn>
                <a:cxn ang="0">
                  <a:pos x="T2" y="T3"/>
                </a:cxn>
                <a:cxn ang="0">
                  <a:pos x="T4" y="T5"/>
                </a:cxn>
                <a:cxn ang="0">
                  <a:pos x="T6" y="T7"/>
                </a:cxn>
                <a:cxn ang="0">
                  <a:pos x="T8" y="T9"/>
                </a:cxn>
              </a:cxnLst>
              <a:rect l="0" t="0" r="r" b="b"/>
              <a:pathLst>
                <a:path w="86" h="86">
                  <a:moveTo>
                    <a:pt x="65" y="86"/>
                  </a:moveTo>
                  <a:lnTo>
                    <a:pt x="86" y="65"/>
                  </a:lnTo>
                  <a:lnTo>
                    <a:pt x="20" y="0"/>
                  </a:lnTo>
                  <a:lnTo>
                    <a:pt x="0" y="21"/>
                  </a:lnTo>
                  <a:lnTo>
                    <a:pt x="65" y="8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sp>
        <p:nvSpPr>
          <p:cNvPr id="221" name="TextBox 220">
            <a:extLst>
              <a:ext uri="{FF2B5EF4-FFF2-40B4-BE49-F238E27FC236}">
                <a16:creationId xmlns:a16="http://schemas.microsoft.com/office/drawing/2014/main" id="{7C8A5730-F129-F64A-9C84-69C8E9D6BE03}"/>
              </a:ext>
              <a:ext uri="{C183D7F6-B498-43B3-948B-1728B52AA6E4}">
                <adec:decorative xmlns:adec="http://schemas.microsoft.com/office/drawing/2017/decorative" val="1"/>
              </a:ext>
            </a:extLst>
          </p:cNvPr>
          <p:cNvSpPr txBox="1"/>
          <p:nvPr/>
        </p:nvSpPr>
        <p:spPr>
          <a:xfrm>
            <a:off x="3521222" y="3781682"/>
            <a:ext cx="1936031"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bold"/>
                <a:ea typeface="+mn-ea"/>
                <a:cs typeface="+mn-cs"/>
              </a:rPr>
              <a:t>Always on Azure</a:t>
            </a:r>
            <a:endParaRPr kumimoji="0" lang="en-AU" sz="2000" b="0" i="0" u="none" strike="noStrike" kern="1200" cap="none" spc="0" normalizeH="0" baseline="0" noProof="0" err="1">
              <a:ln>
                <a:noFill/>
              </a:ln>
              <a:solidFill>
                <a:prstClr val="white"/>
              </a:solidFill>
              <a:effectLst/>
              <a:uLnTx/>
              <a:uFillTx/>
              <a:latin typeface="Segoe UI Semibold"/>
              <a:ea typeface="+mn-ea"/>
              <a:cs typeface="+mn-cs"/>
            </a:endParaRPr>
          </a:p>
        </p:txBody>
      </p:sp>
      <p:grpSp>
        <p:nvGrpSpPr>
          <p:cNvPr id="6" name="Group 5" descr="Or you can move to fully managed databases including Azure database for PostgreSQL Azure SQL Database and Azure Cosmos DB">
            <a:extLst>
              <a:ext uri="{FF2B5EF4-FFF2-40B4-BE49-F238E27FC236}">
                <a16:creationId xmlns:a16="http://schemas.microsoft.com/office/drawing/2014/main" id="{1174FCF0-389A-4C41-B978-1A3EED6555AA}"/>
              </a:ext>
            </a:extLst>
          </p:cNvPr>
          <p:cNvGrpSpPr/>
          <p:nvPr/>
        </p:nvGrpSpPr>
        <p:grpSpPr>
          <a:xfrm>
            <a:off x="4730548" y="2001648"/>
            <a:ext cx="3637716" cy="1360884"/>
            <a:chOff x="4730548" y="2001648"/>
            <a:chExt cx="3637716" cy="1360884"/>
          </a:xfrm>
        </p:grpSpPr>
        <p:sp>
          <p:nvSpPr>
            <p:cNvPr id="183" name="Rectangle 182">
              <a:extLst>
                <a:ext uri="{FF2B5EF4-FFF2-40B4-BE49-F238E27FC236}">
                  <a16:creationId xmlns:a16="http://schemas.microsoft.com/office/drawing/2014/main" id="{79007F13-8FAC-BC45-B970-9ED0B42497B9}"/>
                </a:ext>
                <a:ext uri="{C183D7F6-B498-43B3-948B-1728B52AA6E4}">
                  <adec:decorative xmlns:adec="http://schemas.microsoft.com/office/drawing/2017/decorative" val="1"/>
                </a:ext>
              </a:extLst>
            </p:cNvPr>
            <p:cNvSpPr/>
            <p:nvPr/>
          </p:nvSpPr>
          <p:spPr bwMode="auto">
            <a:xfrm>
              <a:off x="4759180" y="2024637"/>
              <a:ext cx="3588054" cy="1310630"/>
            </a:xfrm>
            <a:prstGeom prst="rect">
              <a:avLst/>
            </a:prstGeom>
            <a:solidFill>
              <a:schemeClr val="tx1"/>
            </a:solid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accent3"/>
                </a:solidFill>
                <a:effectLst/>
                <a:uLnTx/>
                <a:uFillTx/>
                <a:latin typeface="Segoe UI"/>
                <a:ea typeface="+mn-ea"/>
                <a:cs typeface="Segoe UI" pitchFamily="34" charset="0"/>
              </a:endParaRPr>
            </a:p>
          </p:txBody>
        </p:sp>
        <p:sp>
          <p:nvSpPr>
            <p:cNvPr id="184" name="TextBox 183">
              <a:extLst>
                <a:ext uri="{FF2B5EF4-FFF2-40B4-BE49-F238E27FC236}">
                  <a16:creationId xmlns:a16="http://schemas.microsoft.com/office/drawing/2014/main" id="{48FB1A8A-CE26-3E42-9D27-E30169955C25}"/>
                </a:ext>
              </a:extLst>
            </p:cNvPr>
            <p:cNvSpPr txBox="1"/>
            <p:nvPr/>
          </p:nvSpPr>
          <p:spPr>
            <a:xfrm>
              <a:off x="5263221" y="2098963"/>
              <a:ext cx="2613873" cy="307777"/>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accent3"/>
                  </a:solidFill>
                  <a:effectLst/>
                  <a:uLnTx/>
                  <a:uFillTx/>
                  <a:latin typeface="Segoe UI Semibold"/>
                  <a:ea typeface="Segoe UI" pitchFamily="34" charset="0"/>
                  <a:cs typeface="Segoe UI" pitchFamily="34" charset="0"/>
                </a:rPr>
                <a:t>Fully managed databases</a:t>
              </a:r>
            </a:p>
          </p:txBody>
        </p:sp>
        <p:pic>
          <p:nvPicPr>
            <p:cNvPr id="185" name="Graphic 184" descr="Azure SQL">
              <a:extLst>
                <a:ext uri="{FF2B5EF4-FFF2-40B4-BE49-F238E27FC236}">
                  <a16:creationId xmlns:a16="http://schemas.microsoft.com/office/drawing/2014/main" id="{16BDD028-F699-4844-AF2F-AFD25D4E8B0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35074" y="2414652"/>
              <a:ext cx="497574" cy="497574"/>
            </a:xfrm>
            <a:prstGeom prst="rect">
              <a:avLst/>
            </a:prstGeom>
          </p:spPr>
        </p:pic>
        <p:pic>
          <p:nvPicPr>
            <p:cNvPr id="186" name="Graphic 185" descr="Azure Cosmos DB">
              <a:extLst>
                <a:ext uri="{FF2B5EF4-FFF2-40B4-BE49-F238E27FC236}">
                  <a16:creationId xmlns:a16="http://schemas.microsoft.com/office/drawing/2014/main" id="{F6D0D157-43FE-A247-8D6B-B620778E2C0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91349" y="2445176"/>
              <a:ext cx="497574" cy="497574"/>
            </a:xfrm>
            <a:prstGeom prst="rect">
              <a:avLst/>
            </a:prstGeom>
          </p:spPr>
        </p:pic>
        <p:pic>
          <p:nvPicPr>
            <p:cNvPr id="187" name="Graphic 186" descr="Azure Database for PostgreSQL">
              <a:extLst>
                <a:ext uri="{FF2B5EF4-FFF2-40B4-BE49-F238E27FC236}">
                  <a16:creationId xmlns:a16="http://schemas.microsoft.com/office/drawing/2014/main" id="{41A29753-1B58-E549-AEB1-4B3CA7A6E0D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36129" y="2406740"/>
              <a:ext cx="497576" cy="497574"/>
            </a:xfrm>
            <a:prstGeom prst="rect">
              <a:avLst/>
            </a:prstGeom>
          </p:spPr>
        </p:pic>
        <p:sp>
          <p:nvSpPr>
            <p:cNvPr id="110" name="Rectangle 109">
              <a:extLst>
                <a:ext uri="{FF2B5EF4-FFF2-40B4-BE49-F238E27FC236}">
                  <a16:creationId xmlns:a16="http://schemas.microsoft.com/office/drawing/2014/main" id="{A361A9CB-980D-4DB0-88F4-233B912AF071}"/>
                </a:ext>
                <a:ext uri="{C183D7F6-B498-43B3-948B-1728B52AA6E4}">
                  <adec:decorative xmlns:adec="http://schemas.microsoft.com/office/drawing/2017/decorative" val="1"/>
                </a:ext>
              </a:extLst>
            </p:cNvPr>
            <p:cNvSpPr/>
            <p:nvPr/>
          </p:nvSpPr>
          <p:spPr bwMode="auto">
            <a:xfrm>
              <a:off x="4730548" y="2001648"/>
              <a:ext cx="3637716" cy="1360884"/>
            </a:xfrm>
            <a:prstGeom prst="rect">
              <a:avLst/>
            </a:prstGeom>
            <a:noFill/>
            <a:ln w="285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accent3"/>
                </a:solidFill>
                <a:effectLst/>
                <a:uLnTx/>
                <a:uFillTx/>
                <a:latin typeface="Segoe UI"/>
                <a:ea typeface="+mn-ea"/>
                <a:cs typeface="Segoe UI" pitchFamily="34" charset="0"/>
              </a:endParaRPr>
            </a:p>
          </p:txBody>
        </p:sp>
      </p:grpSp>
      <p:sp>
        <p:nvSpPr>
          <p:cNvPr id="7" name="TextBox 6">
            <a:extLst>
              <a:ext uri="{FF2B5EF4-FFF2-40B4-BE49-F238E27FC236}">
                <a16:creationId xmlns:a16="http://schemas.microsoft.com/office/drawing/2014/main" id="{BDD46A00-27D6-472F-A525-AE969431FE52}"/>
              </a:ext>
            </a:extLst>
          </p:cNvPr>
          <p:cNvSpPr txBox="1"/>
          <p:nvPr/>
        </p:nvSpPr>
        <p:spPr>
          <a:xfrm>
            <a:off x="4957524" y="2882101"/>
            <a:ext cx="1094873"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Azure Database for PostgreSQL</a:t>
            </a:r>
          </a:p>
        </p:txBody>
      </p:sp>
      <p:sp>
        <p:nvSpPr>
          <p:cNvPr id="113" name="TextBox 112">
            <a:extLst>
              <a:ext uri="{FF2B5EF4-FFF2-40B4-BE49-F238E27FC236}">
                <a16:creationId xmlns:a16="http://schemas.microsoft.com/office/drawing/2014/main" id="{20FE4A13-20FD-4E9D-B1B3-9105BF2DCBFC}"/>
              </a:ext>
            </a:extLst>
          </p:cNvPr>
          <p:cNvSpPr txBox="1"/>
          <p:nvPr/>
        </p:nvSpPr>
        <p:spPr>
          <a:xfrm>
            <a:off x="6033309" y="2891521"/>
            <a:ext cx="1094873" cy="2308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Azure SQL</a:t>
            </a:r>
          </a:p>
        </p:txBody>
      </p:sp>
      <p:sp>
        <p:nvSpPr>
          <p:cNvPr id="114" name="TextBox 113">
            <a:extLst>
              <a:ext uri="{FF2B5EF4-FFF2-40B4-BE49-F238E27FC236}">
                <a16:creationId xmlns:a16="http://schemas.microsoft.com/office/drawing/2014/main" id="{C57EDA8F-368F-4D7E-A476-C59DE161065A}"/>
              </a:ext>
            </a:extLst>
          </p:cNvPr>
          <p:cNvSpPr txBox="1"/>
          <p:nvPr/>
        </p:nvSpPr>
        <p:spPr>
          <a:xfrm>
            <a:off x="7096014" y="2891236"/>
            <a:ext cx="1094873"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Azure </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Cosmos DB</a:t>
            </a:r>
          </a:p>
        </p:txBody>
      </p:sp>
      <p:sp>
        <p:nvSpPr>
          <p:cNvPr id="105" name="Rectangle 104">
            <a:extLst>
              <a:ext uri="{FF2B5EF4-FFF2-40B4-BE49-F238E27FC236}">
                <a16:creationId xmlns:a16="http://schemas.microsoft.com/office/drawing/2014/main" id="{A9AD3454-B711-AF46-BD66-B93C64338CBD}"/>
              </a:ext>
              <a:ext uri="{C183D7F6-B498-43B3-948B-1728B52AA6E4}">
                <adec:decorative xmlns:adec="http://schemas.microsoft.com/office/drawing/2017/decorative" val="1"/>
              </a:ext>
            </a:extLst>
          </p:cNvPr>
          <p:cNvSpPr>
            <a:spLocks/>
          </p:cNvSpPr>
          <p:nvPr/>
        </p:nvSpPr>
        <p:spPr>
          <a:xfrm>
            <a:off x="8698755" y="2010904"/>
            <a:ext cx="3347308" cy="4553410"/>
          </a:xfrm>
          <a:prstGeom prst="rect">
            <a:avLst/>
          </a:prstGeom>
          <a:solidFill>
            <a:schemeClr val="tx1"/>
          </a:solidFill>
          <a:ln w="28575" cap="flat" cmpd="sng" algn="ctr">
            <a:solidFill>
              <a:schemeClr val="accent1"/>
            </a:solidFill>
            <a:prstDash val="solid"/>
          </a:ln>
          <a:effectLst/>
        </p:spPr>
        <p:txBody>
          <a:bodyPr lIns="146093" tIns="91308" rIns="146093" bIns="91308"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err="1">
              <a:ln>
                <a:noFill/>
              </a:ln>
              <a:solidFill>
                <a:prstClr val="black"/>
              </a:solidFill>
              <a:effectLst/>
              <a:uLnTx/>
              <a:uFillTx/>
              <a:latin typeface="Segoe UI Semibold"/>
              <a:ea typeface="+mn-ea"/>
              <a:cs typeface="+mn-cs"/>
            </a:endParaRPr>
          </a:p>
        </p:txBody>
      </p:sp>
      <p:sp>
        <p:nvSpPr>
          <p:cNvPr id="106" name="TextBox 105">
            <a:extLst>
              <a:ext uri="{FF2B5EF4-FFF2-40B4-BE49-F238E27FC236}">
                <a16:creationId xmlns:a16="http://schemas.microsoft.com/office/drawing/2014/main" id="{2F4A6A6F-5483-044E-80CF-069D2AF71B43}"/>
              </a:ext>
            </a:extLst>
          </p:cNvPr>
          <p:cNvSpPr txBox="1"/>
          <p:nvPr/>
        </p:nvSpPr>
        <p:spPr>
          <a:xfrm>
            <a:off x="9070207" y="2098963"/>
            <a:ext cx="2502778"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3"/>
                </a:solidFill>
                <a:effectLst/>
                <a:uLnTx/>
                <a:uFillTx/>
                <a:latin typeface="Segoe UI Semibold"/>
                <a:ea typeface="+mn-ea"/>
                <a:cs typeface="+mn-cs"/>
              </a:rPr>
              <a:t>Get more with </a:t>
            </a:r>
            <a:br>
              <a:rPr kumimoji="0" lang="en-US" sz="1600" b="0" i="0" u="none" strike="noStrike" kern="1200" cap="none" spc="0" normalizeH="0" baseline="0" noProof="0" dirty="0">
                <a:ln>
                  <a:noFill/>
                </a:ln>
                <a:solidFill>
                  <a:schemeClr val="accent3"/>
                </a:solidFill>
                <a:effectLst/>
                <a:uLnTx/>
                <a:uFillTx/>
                <a:latin typeface="Segoe UI Semibold"/>
                <a:ea typeface="+mn-ea"/>
                <a:cs typeface="+mn-cs"/>
              </a:rPr>
            </a:br>
            <a:r>
              <a:rPr kumimoji="0" lang="en-US" sz="1600" b="0" i="0" u="none" strike="noStrike" kern="1200" cap="none" spc="0" normalizeH="0" baseline="0" noProof="0" dirty="0">
                <a:ln>
                  <a:noFill/>
                </a:ln>
                <a:solidFill>
                  <a:schemeClr val="accent3"/>
                </a:solidFill>
                <a:effectLst/>
                <a:uLnTx/>
                <a:uFillTx/>
                <a:latin typeface="Segoe UI Semibold"/>
                <a:ea typeface="+mn-ea"/>
                <a:cs typeface="+mn-cs"/>
              </a:rPr>
              <a:t>fully managed databases</a:t>
            </a:r>
            <a:endParaRPr kumimoji="0" lang="en-AU" sz="1600" b="0" i="0" u="none" strike="noStrike" kern="1200" cap="none" spc="0" normalizeH="0" baseline="0" noProof="0" dirty="0">
              <a:ln>
                <a:noFill/>
              </a:ln>
              <a:solidFill>
                <a:schemeClr val="accent3"/>
              </a:solidFill>
              <a:effectLst/>
              <a:uLnTx/>
              <a:uFillTx/>
              <a:latin typeface="Segoe UI Semibold"/>
              <a:ea typeface="+mn-ea"/>
              <a:cs typeface="+mn-cs"/>
            </a:endParaRPr>
          </a:p>
        </p:txBody>
      </p:sp>
      <p:sp>
        <p:nvSpPr>
          <p:cNvPr id="131" name="Rectangle 130" descr="Intelligent Performance">
            <a:extLst>
              <a:ext uri="{FF2B5EF4-FFF2-40B4-BE49-F238E27FC236}">
                <a16:creationId xmlns:a16="http://schemas.microsoft.com/office/drawing/2014/main" id="{020D2A19-F4E3-5D4F-AC0F-9541B5FC57A1}"/>
              </a:ext>
            </a:extLst>
          </p:cNvPr>
          <p:cNvSpPr/>
          <p:nvPr/>
        </p:nvSpPr>
        <p:spPr bwMode="auto">
          <a:xfrm>
            <a:off x="9848194" y="4112778"/>
            <a:ext cx="1115568" cy="109728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36" name="TextBox 135">
            <a:extLst>
              <a:ext uri="{FF2B5EF4-FFF2-40B4-BE49-F238E27FC236}">
                <a16:creationId xmlns:a16="http://schemas.microsoft.com/office/drawing/2014/main" id="{1B822567-4A45-8B44-82BD-9294688BD5F3}"/>
              </a:ext>
              <a:ext uri="{C183D7F6-B498-43B3-948B-1728B52AA6E4}">
                <adec:decorative xmlns:adec="http://schemas.microsoft.com/office/drawing/2017/decorative" val="1"/>
              </a:ext>
            </a:extLst>
          </p:cNvPr>
          <p:cNvSpPr txBox="1"/>
          <p:nvPr/>
        </p:nvSpPr>
        <p:spPr>
          <a:xfrm>
            <a:off x="10788908" y="3518906"/>
            <a:ext cx="1087568" cy="46166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Fully managed</a:t>
            </a:r>
          </a:p>
        </p:txBody>
      </p:sp>
      <p:sp>
        <p:nvSpPr>
          <p:cNvPr id="137" name="TextBox 136">
            <a:extLst>
              <a:ext uri="{FF2B5EF4-FFF2-40B4-BE49-F238E27FC236}">
                <a16:creationId xmlns:a16="http://schemas.microsoft.com/office/drawing/2014/main" id="{63DF08FC-35AD-894A-A7A5-BDF7E1C4AC3F}"/>
              </a:ext>
              <a:ext uri="{C183D7F6-B498-43B3-948B-1728B52AA6E4}">
                <adec:decorative xmlns:adec="http://schemas.microsoft.com/office/drawing/2017/decorative" val="1"/>
              </a:ext>
            </a:extLst>
          </p:cNvPr>
          <p:cNvSpPr txBox="1"/>
          <p:nvPr/>
        </p:nvSpPr>
        <p:spPr>
          <a:xfrm>
            <a:off x="9837378" y="4626106"/>
            <a:ext cx="1126384" cy="46166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Intelligent Performance</a:t>
            </a:r>
          </a:p>
        </p:txBody>
      </p:sp>
      <p:sp>
        <p:nvSpPr>
          <p:cNvPr id="138" name="TextBox 137">
            <a:extLst>
              <a:ext uri="{FF2B5EF4-FFF2-40B4-BE49-F238E27FC236}">
                <a16:creationId xmlns:a16="http://schemas.microsoft.com/office/drawing/2014/main" id="{C774CC34-8BFE-ED46-B775-DB80118A1A34}"/>
              </a:ext>
              <a:ext uri="{C183D7F6-B498-43B3-948B-1728B52AA6E4}">
                <adec:decorative xmlns:adec="http://schemas.microsoft.com/office/drawing/2017/decorative" val="1"/>
              </a:ext>
            </a:extLst>
          </p:cNvPr>
          <p:cNvSpPr txBox="1"/>
          <p:nvPr/>
        </p:nvSpPr>
        <p:spPr>
          <a:xfrm>
            <a:off x="8982182" y="5898535"/>
            <a:ext cx="1110580" cy="46166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Semibold"/>
                <a:ea typeface="Segoe UI" pitchFamily="34" charset="0"/>
                <a:cs typeface="Segoe UI" pitchFamily="34" charset="0"/>
              </a:rPr>
              <a:t>Highly scalable</a:t>
            </a:r>
          </a:p>
        </p:txBody>
      </p:sp>
      <p:sp>
        <p:nvSpPr>
          <p:cNvPr id="139" name="TextBox 138">
            <a:extLst>
              <a:ext uri="{FF2B5EF4-FFF2-40B4-BE49-F238E27FC236}">
                <a16:creationId xmlns:a16="http://schemas.microsoft.com/office/drawing/2014/main" id="{D70D8F0E-65E7-F046-A852-B278A2363566}"/>
              </a:ext>
              <a:ext uri="{C183D7F6-B498-43B3-948B-1728B52AA6E4}">
                <adec:decorative xmlns:adec="http://schemas.microsoft.com/office/drawing/2017/decorative" val="1"/>
              </a:ext>
            </a:extLst>
          </p:cNvPr>
          <p:cNvSpPr txBox="1"/>
          <p:nvPr/>
        </p:nvSpPr>
        <p:spPr>
          <a:xfrm>
            <a:off x="10774330" y="5891829"/>
            <a:ext cx="1138345" cy="46166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Semibold"/>
                <a:ea typeface="Segoe UI" pitchFamily="34" charset="0"/>
                <a:cs typeface="Segoe UI" pitchFamily="34" charset="0"/>
              </a:rPr>
              <a:t>High </a:t>
            </a:r>
            <a:br>
              <a:rPr kumimoji="0" lang="en-US" sz="1200" b="0" i="0" u="none" strike="noStrike" kern="1200" cap="none" spc="0" normalizeH="0" baseline="0" noProof="0">
                <a:ln>
                  <a:noFill/>
                </a:ln>
                <a:solidFill>
                  <a:schemeClr val="bg1"/>
                </a:solidFill>
                <a:effectLst/>
                <a:uLnTx/>
                <a:uFillTx/>
                <a:latin typeface="Segoe UI Semibold"/>
                <a:ea typeface="Segoe UI" pitchFamily="34" charset="0"/>
                <a:cs typeface="Segoe UI" pitchFamily="34" charset="0"/>
              </a:rPr>
            </a:br>
            <a:r>
              <a:rPr kumimoji="0" lang="en-US" sz="1200" b="0" i="0" u="none" strike="noStrike" kern="1200" cap="none" spc="0" normalizeH="0" baseline="0" noProof="0">
                <a:ln>
                  <a:noFill/>
                </a:ln>
                <a:solidFill>
                  <a:schemeClr val="bg1"/>
                </a:solidFill>
                <a:effectLst/>
                <a:uLnTx/>
                <a:uFillTx/>
                <a:latin typeface="Segoe UI Semibold"/>
                <a:ea typeface="Segoe UI" pitchFamily="34" charset="0"/>
                <a:cs typeface="Segoe UI" pitchFamily="34" charset="0"/>
              </a:rPr>
              <a:t>Availability</a:t>
            </a:r>
          </a:p>
        </p:txBody>
      </p:sp>
      <p:sp>
        <p:nvSpPr>
          <p:cNvPr id="140" name="TextBox 139">
            <a:extLst>
              <a:ext uri="{FF2B5EF4-FFF2-40B4-BE49-F238E27FC236}">
                <a16:creationId xmlns:a16="http://schemas.microsoft.com/office/drawing/2014/main" id="{ECDD2E0D-04A7-574E-AC45-B93111720C13}"/>
              </a:ext>
              <a:ext uri="{C183D7F6-B498-43B3-948B-1728B52AA6E4}">
                <adec:decorative xmlns:adec="http://schemas.microsoft.com/office/drawing/2017/decorative" val="1"/>
              </a:ext>
            </a:extLst>
          </p:cNvPr>
          <p:cNvSpPr txBox="1"/>
          <p:nvPr/>
        </p:nvSpPr>
        <p:spPr>
          <a:xfrm>
            <a:off x="8962597" y="3518906"/>
            <a:ext cx="1149750" cy="46166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Segoe UI Semibold"/>
                <a:ea typeface="Segoe UI" pitchFamily="34" charset="0"/>
                <a:cs typeface="Segoe UI" pitchFamily="34" charset="0"/>
              </a:rPr>
              <a:t>Maximum control</a:t>
            </a:r>
          </a:p>
        </p:txBody>
      </p:sp>
      <p:grpSp>
        <p:nvGrpSpPr>
          <p:cNvPr id="142" name="Group 135">
            <a:extLst>
              <a:ext uri="{FF2B5EF4-FFF2-40B4-BE49-F238E27FC236}">
                <a16:creationId xmlns:a16="http://schemas.microsoft.com/office/drawing/2014/main" id="{5F2A94A9-6041-EE45-AEC5-E1F92AF13145}"/>
              </a:ext>
              <a:ext uri="{C183D7F6-B498-43B3-948B-1728B52AA6E4}">
                <adec:decorative xmlns:adec="http://schemas.microsoft.com/office/drawing/2017/decorative" val="1"/>
              </a:ext>
            </a:extLst>
          </p:cNvPr>
          <p:cNvGrpSpPr>
            <a:grpSpLocks noChangeAspect="1"/>
          </p:cNvGrpSpPr>
          <p:nvPr/>
        </p:nvGrpSpPr>
        <p:grpSpPr bwMode="auto">
          <a:xfrm>
            <a:off x="10226379" y="4253671"/>
            <a:ext cx="404412" cy="335714"/>
            <a:chOff x="2204" y="1026"/>
            <a:chExt cx="312" cy="259"/>
          </a:xfrm>
          <a:solidFill>
            <a:schemeClr val="accent1"/>
          </a:solidFill>
        </p:grpSpPr>
        <p:sp>
          <p:nvSpPr>
            <p:cNvPr id="143" name="Freeform 136">
              <a:extLst>
                <a:ext uri="{FF2B5EF4-FFF2-40B4-BE49-F238E27FC236}">
                  <a16:creationId xmlns:a16="http://schemas.microsoft.com/office/drawing/2014/main" id="{FB6904C3-847B-8D49-B330-69305800D9D3}"/>
                </a:ext>
              </a:extLst>
            </p:cNvPr>
            <p:cNvSpPr>
              <a:spLocks/>
            </p:cNvSpPr>
            <p:nvPr/>
          </p:nvSpPr>
          <p:spPr bwMode="auto">
            <a:xfrm>
              <a:off x="2516" y="118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44" name="Freeform 137">
              <a:extLst>
                <a:ext uri="{FF2B5EF4-FFF2-40B4-BE49-F238E27FC236}">
                  <a16:creationId xmlns:a16="http://schemas.microsoft.com/office/drawing/2014/main" id="{C2A22933-6F0B-EC43-8D2B-82DD6B203D4B}"/>
                </a:ext>
              </a:extLst>
            </p:cNvPr>
            <p:cNvSpPr>
              <a:spLocks/>
            </p:cNvSpPr>
            <p:nvPr/>
          </p:nvSpPr>
          <p:spPr bwMode="auto">
            <a:xfrm>
              <a:off x="2457" y="1192"/>
              <a:ext cx="59" cy="93"/>
            </a:xfrm>
            <a:custGeom>
              <a:avLst/>
              <a:gdLst>
                <a:gd name="T0" fmla="*/ 132 w 260"/>
                <a:gd name="T1" fmla="*/ 0 h 409"/>
                <a:gd name="T2" fmla="*/ 0 w 260"/>
                <a:gd name="T3" fmla="*/ 318 h 409"/>
                <a:gd name="T4" fmla="*/ 91 w 260"/>
                <a:gd name="T5" fmla="*/ 409 h 409"/>
                <a:gd name="T6" fmla="*/ 260 w 260"/>
                <a:gd name="T7" fmla="*/ 0 h 409"/>
                <a:gd name="T8" fmla="*/ 132 w 260"/>
                <a:gd name="T9" fmla="*/ 0 h 409"/>
              </a:gdLst>
              <a:ahLst/>
              <a:cxnLst>
                <a:cxn ang="0">
                  <a:pos x="T0" y="T1"/>
                </a:cxn>
                <a:cxn ang="0">
                  <a:pos x="T2" y="T3"/>
                </a:cxn>
                <a:cxn ang="0">
                  <a:pos x="T4" y="T5"/>
                </a:cxn>
                <a:cxn ang="0">
                  <a:pos x="T6" y="T7"/>
                </a:cxn>
                <a:cxn ang="0">
                  <a:pos x="T8" y="T9"/>
                </a:cxn>
              </a:cxnLst>
              <a:rect l="0" t="0" r="r" b="b"/>
              <a:pathLst>
                <a:path w="260" h="409">
                  <a:moveTo>
                    <a:pt x="132" y="0"/>
                  </a:moveTo>
                  <a:cubicBezTo>
                    <a:pt x="123" y="121"/>
                    <a:pt x="74" y="231"/>
                    <a:pt x="0" y="318"/>
                  </a:cubicBezTo>
                  <a:cubicBezTo>
                    <a:pt x="91" y="409"/>
                    <a:pt x="91" y="409"/>
                    <a:pt x="91" y="409"/>
                  </a:cubicBezTo>
                  <a:cubicBezTo>
                    <a:pt x="188" y="298"/>
                    <a:pt x="250" y="156"/>
                    <a:pt x="260" y="0"/>
                  </a:cubicBezTo>
                  <a:lnTo>
                    <a:pt x="132"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45" name="Freeform 138">
              <a:extLst>
                <a:ext uri="{FF2B5EF4-FFF2-40B4-BE49-F238E27FC236}">
                  <a16:creationId xmlns:a16="http://schemas.microsoft.com/office/drawing/2014/main" id="{BE479D14-5F95-E04A-B836-088E5C8C509F}"/>
                </a:ext>
              </a:extLst>
            </p:cNvPr>
            <p:cNvSpPr>
              <a:spLocks/>
            </p:cNvSpPr>
            <p:nvPr/>
          </p:nvSpPr>
          <p:spPr bwMode="auto">
            <a:xfrm>
              <a:off x="2457" y="1079"/>
              <a:ext cx="59" cy="93"/>
            </a:xfrm>
            <a:custGeom>
              <a:avLst/>
              <a:gdLst>
                <a:gd name="T0" fmla="*/ 0 w 260"/>
                <a:gd name="T1" fmla="*/ 90 h 409"/>
                <a:gd name="T2" fmla="*/ 132 w 260"/>
                <a:gd name="T3" fmla="*/ 409 h 409"/>
                <a:gd name="T4" fmla="*/ 260 w 260"/>
                <a:gd name="T5" fmla="*/ 409 h 409"/>
                <a:gd name="T6" fmla="*/ 91 w 260"/>
                <a:gd name="T7" fmla="*/ 0 h 409"/>
                <a:gd name="T8" fmla="*/ 0 w 260"/>
                <a:gd name="T9" fmla="*/ 90 h 409"/>
              </a:gdLst>
              <a:ahLst/>
              <a:cxnLst>
                <a:cxn ang="0">
                  <a:pos x="T0" y="T1"/>
                </a:cxn>
                <a:cxn ang="0">
                  <a:pos x="T2" y="T3"/>
                </a:cxn>
                <a:cxn ang="0">
                  <a:pos x="T4" y="T5"/>
                </a:cxn>
                <a:cxn ang="0">
                  <a:pos x="T6" y="T7"/>
                </a:cxn>
                <a:cxn ang="0">
                  <a:pos x="T8" y="T9"/>
                </a:cxn>
              </a:cxnLst>
              <a:rect l="0" t="0" r="r" b="b"/>
              <a:pathLst>
                <a:path w="260" h="409">
                  <a:moveTo>
                    <a:pt x="0" y="90"/>
                  </a:moveTo>
                  <a:cubicBezTo>
                    <a:pt x="79" y="182"/>
                    <a:pt x="123" y="294"/>
                    <a:pt x="132" y="409"/>
                  </a:cubicBezTo>
                  <a:cubicBezTo>
                    <a:pt x="260" y="409"/>
                    <a:pt x="260" y="409"/>
                    <a:pt x="260" y="409"/>
                  </a:cubicBezTo>
                  <a:cubicBezTo>
                    <a:pt x="251" y="262"/>
                    <a:pt x="195" y="117"/>
                    <a:pt x="91" y="0"/>
                  </a:cubicBezTo>
                  <a:lnTo>
                    <a:pt x="0" y="9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46" name="Freeform 139">
              <a:extLst>
                <a:ext uri="{FF2B5EF4-FFF2-40B4-BE49-F238E27FC236}">
                  <a16:creationId xmlns:a16="http://schemas.microsoft.com/office/drawing/2014/main" id="{406DA784-4821-F04F-9849-61672B734E5E}"/>
                </a:ext>
              </a:extLst>
            </p:cNvPr>
            <p:cNvSpPr>
              <a:spLocks/>
            </p:cNvSpPr>
            <p:nvPr/>
          </p:nvSpPr>
          <p:spPr bwMode="auto">
            <a:xfrm>
              <a:off x="2370" y="1026"/>
              <a:ext cx="93" cy="60"/>
            </a:xfrm>
            <a:custGeom>
              <a:avLst/>
              <a:gdLst>
                <a:gd name="T0" fmla="*/ 0 w 409"/>
                <a:gd name="T1" fmla="*/ 129 h 261"/>
                <a:gd name="T2" fmla="*/ 318 w 409"/>
                <a:gd name="T3" fmla="*/ 261 h 261"/>
                <a:gd name="T4" fmla="*/ 409 w 409"/>
                <a:gd name="T5" fmla="*/ 170 h 261"/>
                <a:gd name="T6" fmla="*/ 0 w 409"/>
                <a:gd name="T7" fmla="*/ 0 h 261"/>
                <a:gd name="T8" fmla="*/ 0 w 409"/>
                <a:gd name="T9" fmla="*/ 129 h 261"/>
              </a:gdLst>
              <a:ahLst/>
              <a:cxnLst>
                <a:cxn ang="0">
                  <a:pos x="T0" y="T1"/>
                </a:cxn>
                <a:cxn ang="0">
                  <a:pos x="T2" y="T3"/>
                </a:cxn>
                <a:cxn ang="0">
                  <a:pos x="T4" y="T5"/>
                </a:cxn>
                <a:cxn ang="0">
                  <a:pos x="T6" y="T7"/>
                </a:cxn>
                <a:cxn ang="0">
                  <a:pos x="T8" y="T9"/>
                </a:cxn>
              </a:cxnLst>
              <a:rect l="0" t="0" r="r" b="b"/>
              <a:pathLst>
                <a:path w="409" h="261">
                  <a:moveTo>
                    <a:pt x="0" y="129"/>
                  </a:moveTo>
                  <a:cubicBezTo>
                    <a:pt x="121" y="138"/>
                    <a:pt x="231" y="186"/>
                    <a:pt x="318" y="261"/>
                  </a:cubicBezTo>
                  <a:cubicBezTo>
                    <a:pt x="409" y="170"/>
                    <a:pt x="409" y="170"/>
                    <a:pt x="409" y="170"/>
                  </a:cubicBezTo>
                  <a:cubicBezTo>
                    <a:pt x="299" y="72"/>
                    <a:pt x="156" y="10"/>
                    <a:pt x="0" y="0"/>
                  </a:cubicBezTo>
                  <a:lnTo>
                    <a:pt x="0"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47" name="Freeform 140">
              <a:extLst>
                <a:ext uri="{FF2B5EF4-FFF2-40B4-BE49-F238E27FC236}">
                  <a16:creationId xmlns:a16="http://schemas.microsoft.com/office/drawing/2014/main" id="{7DEBB5EB-2A18-0E4B-A9C9-73F3D614092A}"/>
                </a:ext>
              </a:extLst>
            </p:cNvPr>
            <p:cNvSpPr>
              <a:spLocks/>
            </p:cNvSpPr>
            <p:nvPr/>
          </p:nvSpPr>
          <p:spPr bwMode="auto">
            <a:xfrm>
              <a:off x="2257" y="1026"/>
              <a:ext cx="93" cy="60"/>
            </a:xfrm>
            <a:custGeom>
              <a:avLst/>
              <a:gdLst>
                <a:gd name="T0" fmla="*/ 91 w 409"/>
                <a:gd name="T1" fmla="*/ 261 h 261"/>
                <a:gd name="T2" fmla="*/ 409 w 409"/>
                <a:gd name="T3" fmla="*/ 129 h 261"/>
                <a:gd name="T4" fmla="*/ 409 w 409"/>
                <a:gd name="T5" fmla="*/ 0 h 261"/>
                <a:gd name="T6" fmla="*/ 0 w 409"/>
                <a:gd name="T7" fmla="*/ 170 h 261"/>
                <a:gd name="T8" fmla="*/ 91 w 409"/>
                <a:gd name="T9" fmla="*/ 261 h 261"/>
              </a:gdLst>
              <a:ahLst/>
              <a:cxnLst>
                <a:cxn ang="0">
                  <a:pos x="T0" y="T1"/>
                </a:cxn>
                <a:cxn ang="0">
                  <a:pos x="T2" y="T3"/>
                </a:cxn>
                <a:cxn ang="0">
                  <a:pos x="T4" y="T5"/>
                </a:cxn>
                <a:cxn ang="0">
                  <a:pos x="T6" y="T7"/>
                </a:cxn>
                <a:cxn ang="0">
                  <a:pos x="T8" y="T9"/>
                </a:cxn>
              </a:cxnLst>
              <a:rect l="0" t="0" r="r" b="b"/>
              <a:pathLst>
                <a:path w="409" h="261">
                  <a:moveTo>
                    <a:pt x="91" y="261"/>
                  </a:moveTo>
                  <a:cubicBezTo>
                    <a:pt x="183" y="182"/>
                    <a:pt x="295" y="138"/>
                    <a:pt x="409" y="129"/>
                  </a:cubicBezTo>
                  <a:cubicBezTo>
                    <a:pt x="409" y="0"/>
                    <a:pt x="409" y="0"/>
                    <a:pt x="409" y="0"/>
                  </a:cubicBezTo>
                  <a:cubicBezTo>
                    <a:pt x="262" y="10"/>
                    <a:pt x="117" y="66"/>
                    <a:pt x="0" y="170"/>
                  </a:cubicBezTo>
                  <a:lnTo>
                    <a:pt x="91" y="261"/>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48" name="Freeform 141">
              <a:extLst>
                <a:ext uri="{FF2B5EF4-FFF2-40B4-BE49-F238E27FC236}">
                  <a16:creationId xmlns:a16="http://schemas.microsoft.com/office/drawing/2014/main" id="{0D7FDB02-7D41-4F4B-8EFB-2EC8FA48F1CD}"/>
                </a:ext>
              </a:extLst>
            </p:cNvPr>
            <p:cNvSpPr>
              <a:spLocks/>
            </p:cNvSpPr>
            <p:nvPr/>
          </p:nvSpPr>
          <p:spPr bwMode="auto">
            <a:xfrm>
              <a:off x="2204" y="1079"/>
              <a:ext cx="59" cy="93"/>
            </a:xfrm>
            <a:custGeom>
              <a:avLst/>
              <a:gdLst>
                <a:gd name="T0" fmla="*/ 128 w 260"/>
                <a:gd name="T1" fmla="*/ 409 h 409"/>
                <a:gd name="T2" fmla="*/ 260 w 260"/>
                <a:gd name="T3" fmla="*/ 91 h 409"/>
                <a:gd name="T4" fmla="*/ 169 w 260"/>
                <a:gd name="T5" fmla="*/ 0 h 409"/>
                <a:gd name="T6" fmla="*/ 0 w 260"/>
                <a:gd name="T7" fmla="*/ 409 h 409"/>
                <a:gd name="T8" fmla="*/ 128 w 260"/>
                <a:gd name="T9" fmla="*/ 409 h 409"/>
              </a:gdLst>
              <a:ahLst/>
              <a:cxnLst>
                <a:cxn ang="0">
                  <a:pos x="T0" y="T1"/>
                </a:cxn>
                <a:cxn ang="0">
                  <a:pos x="T2" y="T3"/>
                </a:cxn>
                <a:cxn ang="0">
                  <a:pos x="T4" y="T5"/>
                </a:cxn>
                <a:cxn ang="0">
                  <a:pos x="T6" y="T7"/>
                </a:cxn>
                <a:cxn ang="0">
                  <a:pos x="T8" y="T9"/>
                </a:cxn>
              </a:cxnLst>
              <a:rect l="0" t="0" r="r" b="b"/>
              <a:pathLst>
                <a:path w="260" h="409">
                  <a:moveTo>
                    <a:pt x="128" y="409"/>
                  </a:moveTo>
                  <a:cubicBezTo>
                    <a:pt x="137" y="288"/>
                    <a:pt x="185" y="178"/>
                    <a:pt x="260" y="91"/>
                  </a:cubicBezTo>
                  <a:cubicBezTo>
                    <a:pt x="169" y="0"/>
                    <a:pt x="169" y="0"/>
                    <a:pt x="169" y="0"/>
                  </a:cubicBezTo>
                  <a:cubicBezTo>
                    <a:pt x="72" y="110"/>
                    <a:pt x="9" y="252"/>
                    <a:pt x="0" y="409"/>
                  </a:cubicBezTo>
                  <a:lnTo>
                    <a:pt x="128" y="409"/>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49" name="Oval 142">
              <a:extLst>
                <a:ext uri="{FF2B5EF4-FFF2-40B4-BE49-F238E27FC236}">
                  <a16:creationId xmlns:a16="http://schemas.microsoft.com/office/drawing/2014/main" id="{E7FCB88E-441E-0A46-95A3-F92083F22B17}"/>
                </a:ext>
              </a:extLst>
            </p:cNvPr>
            <p:cNvSpPr>
              <a:spLocks noChangeArrowheads="1"/>
            </p:cNvSpPr>
            <p:nvPr/>
          </p:nvSpPr>
          <p:spPr bwMode="auto">
            <a:xfrm>
              <a:off x="2331" y="1153"/>
              <a:ext cx="58" cy="5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150" name="Freeform 143">
              <a:extLst>
                <a:ext uri="{FF2B5EF4-FFF2-40B4-BE49-F238E27FC236}">
                  <a16:creationId xmlns:a16="http://schemas.microsoft.com/office/drawing/2014/main" id="{8619BD48-D465-744D-B902-8BDBB2406CEC}"/>
                </a:ext>
              </a:extLst>
            </p:cNvPr>
            <p:cNvSpPr>
              <a:spLocks/>
            </p:cNvSpPr>
            <p:nvPr/>
          </p:nvSpPr>
          <p:spPr bwMode="auto">
            <a:xfrm>
              <a:off x="2345" y="1108"/>
              <a:ext cx="89" cy="88"/>
            </a:xfrm>
            <a:custGeom>
              <a:avLst/>
              <a:gdLst>
                <a:gd name="T0" fmla="*/ 21 w 89"/>
                <a:gd name="T1" fmla="*/ 88 h 88"/>
                <a:gd name="T2" fmla="*/ 0 w 89"/>
                <a:gd name="T3" fmla="*/ 68 h 88"/>
                <a:gd name="T4" fmla="*/ 68 w 89"/>
                <a:gd name="T5" fmla="*/ 0 h 88"/>
                <a:gd name="T6" fmla="*/ 89 w 89"/>
                <a:gd name="T7" fmla="*/ 21 h 88"/>
                <a:gd name="T8" fmla="*/ 21 w 89"/>
                <a:gd name="T9" fmla="*/ 88 h 88"/>
              </a:gdLst>
              <a:ahLst/>
              <a:cxnLst>
                <a:cxn ang="0">
                  <a:pos x="T0" y="T1"/>
                </a:cxn>
                <a:cxn ang="0">
                  <a:pos x="T2" y="T3"/>
                </a:cxn>
                <a:cxn ang="0">
                  <a:pos x="T4" y="T5"/>
                </a:cxn>
                <a:cxn ang="0">
                  <a:pos x="T6" y="T7"/>
                </a:cxn>
                <a:cxn ang="0">
                  <a:pos x="T8" y="T9"/>
                </a:cxn>
              </a:cxnLst>
              <a:rect l="0" t="0" r="r" b="b"/>
              <a:pathLst>
                <a:path w="89" h="88">
                  <a:moveTo>
                    <a:pt x="21" y="88"/>
                  </a:moveTo>
                  <a:lnTo>
                    <a:pt x="0" y="68"/>
                  </a:lnTo>
                  <a:lnTo>
                    <a:pt x="68" y="0"/>
                  </a:lnTo>
                  <a:lnTo>
                    <a:pt x="89" y="21"/>
                  </a:lnTo>
                  <a:lnTo>
                    <a:pt x="21"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151" name="Group 84">
            <a:extLst>
              <a:ext uri="{FF2B5EF4-FFF2-40B4-BE49-F238E27FC236}">
                <a16:creationId xmlns:a16="http://schemas.microsoft.com/office/drawing/2014/main" id="{EC14C7E5-2D81-1A4D-81A4-277C7C5D26AB}"/>
              </a:ext>
              <a:ext uri="{C183D7F6-B498-43B3-948B-1728B52AA6E4}">
                <adec:decorative xmlns:adec="http://schemas.microsoft.com/office/drawing/2017/decorative" val="1"/>
              </a:ext>
            </a:extLst>
          </p:cNvPr>
          <p:cNvGrpSpPr>
            <a:grpSpLocks noChangeAspect="1"/>
          </p:cNvGrpSpPr>
          <p:nvPr/>
        </p:nvGrpSpPr>
        <p:grpSpPr bwMode="auto">
          <a:xfrm>
            <a:off x="9350161" y="3095002"/>
            <a:ext cx="374623" cy="383810"/>
            <a:chOff x="5822" y="999"/>
            <a:chExt cx="283" cy="312"/>
          </a:xfrm>
          <a:solidFill>
            <a:schemeClr val="accent1"/>
          </a:solidFill>
        </p:grpSpPr>
        <p:sp>
          <p:nvSpPr>
            <p:cNvPr id="153" name="Rectangle 85">
              <a:extLst>
                <a:ext uri="{FF2B5EF4-FFF2-40B4-BE49-F238E27FC236}">
                  <a16:creationId xmlns:a16="http://schemas.microsoft.com/office/drawing/2014/main" id="{2944B2F0-61FD-CC4A-8C40-935DED262C69}"/>
                </a:ext>
              </a:extLst>
            </p:cNvPr>
            <p:cNvSpPr>
              <a:spLocks noChangeArrowheads="1"/>
            </p:cNvSpPr>
            <p:nvPr/>
          </p:nvSpPr>
          <p:spPr bwMode="auto">
            <a:xfrm>
              <a:off x="5849" y="999"/>
              <a:ext cx="5" cy="312"/>
            </a:xfrm>
            <a:prstGeom prst="rect">
              <a:avLst/>
            </a:prstGeom>
            <a:grpFill/>
            <a:ln w="9525">
              <a:solidFill>
                <a:schemeClr val="accent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4" name="Rectangle 86">
              <a:extLst>
                <a:ext uri="{FF2B5EF4-FFF2-40B4-BE49-F238E27FC236}">
                  <a16:creationId xmlns:a16="http://schemas.microsoft.com/office/drawing/2014/main" id="{0E778A14-87AB-E648-86EB-7F98A48BDF91}"/>
                </a:ext>
              </a:extLst>
            </p:cNvPr>
            <p:cNvSpPr>
              <a:spLocks noChangeArrowheads="1"/>
            </p:cNvSpPr>
            <p:nvPr/>
          </p:nvSpPr>
          <p:spPr bwMode="auto">
            <a:xfrm>
              <a:off x="5961" y="999"/>
              <a:ext cx="5" cy="312"/>
            </a:xfrm>
            <a:prstGeom prst="rect">
              <a:avLst/>
            </a:prstGeom>
            <a:grpFill/>
            <a:ln w="9525">
              <a:solidFill>
                <a:schemeClr val="accent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5" name="Rectangle 87">
              <a:extLst>
                <a:ext uri="{FF2B5EF4-FFF2-40B4-BE49-F238E27FC236}">
                  <a16:creationId xmlns:a16="http://schemas.microsoft.com/office/drawing/2014/main" id="{2393277F-65D6-6847-98E3-E27A863AFEA8}"/>
                </a:ext>
              </a:extLst>
            </p:cNvPr>
            <p:cNvSpPr>
              <a:spLocks noChangeArrowheads="1"/>
            </p:cNvSpPr>
            <p:nvPr/>
          </p:nvSpPr>
          <p:spPr bwMode="auto">
            <a:xfrm>
              <a:off x="6073" y="999"/>
              <a:ext cx="5" cy="312"/>
            </a:xfrm>
            <a:prstGeom prst="rect">
              <a:avLst/>
            </a:prstGeom>
            <a:grpFill/>
            <a:ln w="9525">
              <a:solidFill>
                <a:schemeClr val="accent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6" name="Oval 88">
              <a:extLst>
                <a:ext uri="{FF2B5EF4-FFF2-40B4-BE49-F238E27FC236}">
                  <a16:creationId xmlns:a16="http://schemas.microsoft.com/office/drawing/2014/main" id="{D530DB91-380D-5F4B-B201-2070B2CDADA6}"/>
                </a:ext>
              </a:extLst>
            </p:cNvPr>
            <p:cNvSpPr>
              <a:spLocks noChangeArrowheads="1"/>
            </p:cNvSpPr>
            <p:nvPr/>
          </p:nvSpPr>
          <p:spPr bwMode="auto">
            <a:xfrm>
              <a:off x="5822" y="1062"/>
              <a:ext cx="59" cy="59"/>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7" name="Oval 89">
              <a:extLst>
                <a:ext uri="{FF2B5EF4-FFF2-40B4-BE49-F238E27FC236}">
                  <a16:creationId xmlns:a16="http://schemas.microsoft.com/office/drawing/2014/main" id="{1F412008-7169-4047-B3E5-E9E5860F5FAC}"/>
                </a:ext>
              </a:extLst>
            </p:cNvPr>
            <p:cNvSpPr>
              <a:spLocks noChangeArrowheads="1"/>
            </p:cNvSpPr>
            <p:nvPr/>
          </p:nvSpPr>
          <p:spPr bwMode="auto">
            <a:xfrm>
              <a:off x="5934" y="1197"/>
              <a:ext cx="59" cy="59"/>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58" name="Oval 90">
              <a:extLst>
                <a:ext uri="{FF2B5EF4-FFF2-40B4-BE49-F238E27FC236}">
                  <a16:creationId xmlns:a16="http://schemas.microsoft.com/office/drawing/2014/main" id="{51A631AA-CD76-7347-A37E-6857807A4520}"/>
                </a:ext>
              </a:extLst>
            </p:cNvPr>
            <p:cNvSpPr>
              <a:spLocks noChangeArrowheads="1"/>
            </p:cNvSpPr>
            <p:nvPr/>
          </p:nvSpPr>
          <p:spPr bwMode="auto">
            <a:xfrm>
              <a:off x="6046" y="1048"/>
              <a:ext cx="59" cy="58"/>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77" name="Freeform 111">
            <a:extLst>
              <a:ext uri="{FF2B5EF4-FFF2-40B4-BE49-F238E27FC236}">
                <a16:creationId xmlns:a16="http://schemas.microsoft.com/office/drawing/2014/main" id="{8807B726-7977-D844-96A2-595D30ECA17D}"/>
              </a:ext>
              <a:ext uri="{C183D7F6-B498-43B3-948B-1728B52AA6E4}">
                <adec:decorative xmlns:adec="http://schemas.microsoft.com/office/drawing/2017/decorative" val="1"/>
              </a:ext>
            </a:extLst>
          </p:cNvPr>
          <p:cNvSpPr>
            <a:spLocks/>
          </p:cNvSpPr>
          <p:nvPr/>
        </p:nvSpPr>
        <p:spPr bwMode="auto">
          <a:xfrm>
            <a:off x="9237566" y="5488573"/>
            <a:ext cx="514383" cy="310654"/>
          </a:xfrm>
          <a:custGeom>
            <a:avLst/>
            <a:gdLst>
              <a:gd name="T0" fmla="*/ 59 w 234"/>
              <a:gd name="T1" fmla="*/ 58 h 117"/>
              <a:gd name="T2" fmla="*/ 88 w 234"/>
              <a:gd name="T3" fmla="*/ 87 h 117"/>
              <a:gd name="T4" fmla="*/ 136 w 234"/>
              <a:gd name="T5" fmla="*/ 39 h 117"/>
              <a:gd name="T6" fmla="*/ 166 w 234"/>
              <a:gd name="T7" fmla="*/ 68 h 117"/>
              <a:gd name="T8" fmla="*/ 234 w 234"/>
              <a:gd name="T9" fmla="*/ 0 h 117"/>
              <a:gd name="T10" fmla="*/ 234 w 234"/>
              <a:gd name="T11" fmla="*/ 117 h 117"/>
              <a:gd name="T12" fmla="*/ 0 w 234"/>
              <a:gd name="T13" fmla="*/ 117 h 117"/>
              <a:gd name="T14" fmla="*/ 59 w 234"/>
              <a:gd name="T15" fmla="*/ 58 h 1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4" h="117">
                <a:moveTo>
                  <a:pt x="59" y="58"/>
                </a:moveTo>
                <a:lnTo>
                  <a:pt x="88" y="87"/>
                </a:lnTo>
                <a:lnTo>
                  <a:pt x="136" y="39"/>
                </a:lnTo>
                <a:lnTo>
                  <a:pt x="166" y="68"/>
                </a:lnTo>
                <a:lnTo>
                  <a:pt x="234" y="0"/>
                </a:lnTo>
                <a:lnTo>
                  <a:pt x="234" y="117"/>
                </a:lnTo>
                <a:lnTo>
                  <a:pt x="0" y="117"/>
                </a:lnTo>
                <a:lnTo>
                  <a:pt x="59" y="5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180" name="Group 179">
            <a:extLst>
              <a:ext uri="{FF2B5EF4-FFF2-40B4-BE49-F238E27FC236}">
                <a16:creationId xmlns:a16="http://schemas.microsoft.com/office/drawing/2014/main" id="{28FFA581-9365-CC41-9273-83D13940FD26}"/>
              </a:ext>
              <a:ext uri="{C183D7F6-B498-43B3-948B-1728B52AA6E4}">
                <adec:decorative xmlns:adec="http://schemas.microsoft.com/office/drawing/2017/decorative" val="1"/>
              </a:ext>
            </a:extLst>
          </p:cNvPr>
          <p:cNvGrpSpPr>
            <a:grpSpLocks noChangeAspect="1"/>
          </p:cNvGrpSpPr>
          <p:nvPr/>
        </p:nvGrpSpPr>
        <p:grpSpPr>
          <a:xfrm>
            <a:off x="11116119" y="5412268"/>
            <a:ext cx="454766" cy="422614"/>
            <a:chOff x="3500438" y="4418013"/>
            <a:chExt cx="493712" cy="493713"/>
          </a:xfrm>
          <a:solidFill>
            <a:schemeClr val="accent1"/>
          </a:solidFill>
        </p:grpSpPr>
        <p:sp>
          <p:nvSpPr>
            <p:cNvPr id="181" name="Freeform 79">
              <a:extLst>
                <a:ext uri="{FF2B5EF4-FFF2-40B4-BE49-F238E27FC236}">
                  <a16:creationId xmlns:a16="http://schemas.microsoft.com/office/drawing/2014/main" id="{D17DF1DA-B59E-F140-8D81-586232DC2F7E}"/>
                </a:ext>
              </a:extLst>
            </p:cNvPr>
            <p:cNvSpPr>
              <a:spLocks noEditPoints="1"/>
            </p:cNvSpPr>
            <p:nvPr/>
          </p:nvSpPr>
          <p:spPr bwMode="auto">
            <a:xfrm>
              <a:off x="3500438" y="4418013"/>
              <a:ext cx="493712" cy="493713"/>
            </a:xfrm>
            <a:custGeom>
              <a:avLst/>
              <a:gdLst>
                <a:gd name="T0" fmla="*/ 683 w 1365"/>
                <a:gd name="T1" fmla="*/ 128 h 1365"/>
                <a:gd name="T2" fmla="*/ 899 w 1365"/>
                <a:gd name="T3" fmla="*/ 172 h 1365"/>
                <a:gd name="T4" fmla="*/ 1075 w 1365"/>
                <a:gd name="T5" fmla="*/ 291 h 1365"/>
                <a:gd name="T6" fmla="*/ 1194 w 1365"/>
                <a:gd name="T7" fmla="*/ 467 h 1365"/>
                <a:gd name="T8" fmla="*/ 1237 w 1365"/>
                <a:gd name="T9" fmla="*/ 683 h 1365"/>
                <a:gd name="T10" fmla="*/ 1194 w 1365"/>
                <a:gd name="T11" fmla="*/ 899 h 1365"/>
                <a:gd name="T12" fmla="*/ 1075 w 1365"/>
                <a:gd name="T13" fmla="*/ 1075 h 1365"/>
                <a:gd name="T14" fmla="*/ 899 w 1365"/>
                <a:gd name="T15" fmla="*/ 1194 h 1365"/>
                <a:gd name="T16" fmla="*/ 683 w 1365"/>
                <a:gd name="T17" fmla="*/ 1237 h 1365"/>
                <a:gd name="T18" fmla="*/ 467 w 1365"/>
                <a:gd name="T19" fmla="*/ 1194 h 1365"/>
                <a:gd name="T20" fmla="*/ 290 w 1365"/>
                <a:gd name="T21" fmla="*/ 1075 h 1365"/>
                <a:gd name="T22" fmla="*/ 172 w 1365"/>
                <a:gd name="T23" fmla="*/ 899 h 1365"/>
                <a:gd name="T24" fmla="*/ 128 w 1365"/>
                <a:gd name="T25" fmla="*/ 683 h 1365"/>
                <a:gd name="T26" fmla="*/ 172 w 1365"/>
                <a:gd name="T27" fmla="*/ 467 h 1365"/>
                <a:gd name="T28" fmla="*/ 290 w 1365"/>
                <a:gd name="T29" fmla="*/ 291 h 1365"/>
                <a:gd name="T30" fmla="*/ 467 w 1365"/>
                <a:gd name="T31" fmla="*/ 172 h 1365"/>
                <a:gd name="T32" fmla="*/ 683 w 1365"/>
                <a:gd name="T33" fmla="*/ 128 h 1365"/>
                <a:gd name="T34" fmla="*/ 683 w 1365"/>
                <a:gd name="T35" fmla="*/ 0 h 1365"/>
                <a:gd name="T36" fmla="*/ 0 w 1365"/>
                <a:gd name="T37" fmla="*/ 683 h 1365"/>
                <a:gd name="T38" fmla="*/ 683 w 1365"/>
                <a:gd name="T39" fmla="*/ 1365 h 1365"/>
                <a:gd name="T40" fmla="*/ 1365 w 1365"/>
                <a:gd name="T41" fmla="*/ 683 h 1365"/>
                <a:gd name="T42" fmla="*/ 683 w 1365"/>
                <a:gd name="T43" fmla="*/ 0 h 1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5" h="1365">
                  <a:moveTo>
                    <a:pt x="683" y="128"/>
                  </a:moveTo>
                  <a:cubicBezTo>
                    <a:pt x="758" y="128"/>
                    <a:pt x="830" y="143"/>
                    <a:pt x="899" y="172"/>
                  </a:cubicBezTo>
                  <a:cubicBezTo>
                    <a:pt x="965" y="200"/>
                    <a:pt x="1024" y="240"/>
                    <a:pt x="1075" y="291"/>
                  </a:cubicBezTo>
                  <a:cubicBezTo>
                    <a:pt x="1126" y="342"/>
                    <a:pt x="1166" y="401"/>
                    <a:pt x="1194" y="467"/>
                  </a:cubicBezTo>
                  <a:cubicBezTo>
                    <a:pt x="1223" y="535"/>
                    <a:pt x="1237" y="608"/>
                    <a:pt x="1237" y="683"/>
                  </a:cubicBezTo>
                  <a:cubicBezTo>
                    <a:pt x="1237" y="758"/>
                    <a:pt x="1223" y="830"/>
                    <a:pt x="1194" y="899"/>
                  </a:cubicBezTo>
                  <a:cubicBezTo>
                    <a:pt x="1166" y="965"/>
                    <a:pt x="1126" y="1024"/>
                    <a:pt x="1075" y="1075"/>
                  </a:cubicBezTo>
                  <a:cubicBezTo>
                    <a:pt x="1024" y="1126"/>
                    <a:pt x="965" y="1166"/>
                    <a:pt x="899" y="1194"/>
                  </a:cubicBezTo>
                  <a:cubicBezTo>
                    <a:pt x="830" y="1223"/>
                    <a:pt x="758" y="1237"/>
                    <a:pt x="683" y="1237"/>
                  </a:cubicBezTo>
                  <a:cubicBezTo>
                    <a:pt x="608" y="1237"/>
                    <a:pt x="535" y="1223"/>
                    <a:pt x="467" y="1194"/>
                  </a:cubicBezTo>
                  <a:cubicBezTo>
                    <a:pt x="401" y="1166"/>
                    <a:pt x="341" y="1126"/>
                    <a:pt x="290" y="1075"/>
                  </a:cubicBezTo>
                  <a:cubicBezTo>
                    <a:pt x="239" y="1024"/>
                    <a:pt x="199" y="965"/>
                    <a:pt x="172" y="899"/>
                  </a:cubicBezTo>
                  <a:cubicBezTo>
                    <a:pt x="143" y="830"/>
                    <a:pt x="128" y="758"/>
                    <a:pt x="128" y="683"/>
                  </a:cubicBezTo>
                  <a:cubicBezTo>
                    <a:pt x="128" y="608"/>
                    <a:pt x="143" y="535"/>
                    <a:pt x="172" y="467"/>
                  </a:cubicBezTo>
                  <a:cubicBezTo>
                    <a:pt x="199" y="401"/>
                    <a:pt x="239" y="342"/>
                    <a:pt x="290" y="291"/>
                  </a:cubicBezTo>
                  <a:cubicBezTo>
                    <a:pt x="341" y="240"/>
                    <a:pt x="401" y="200"/>
                    <a:pt x="467" y="172"/>
                  </a:cubicBezTo>
                  <a:cubicBezTo>
                    <a:pt x="535" y="143"/>
                    <a:pt x="608" y="128"/>
                    <a:pt x="683" y="128"/>
                  </a:cubicBezTo>
                  <a:moveTo>
                    <a:pt x="683" y="0"/>
                  </a:moveTo>
                  <a:cubicBezTo>
                    <a:pt x="306" y="0"/>
                    <a:pt x="0" y="306"/>
                    <a:pt x="0" y="683"/>
                  </a:cubicBezTo>
                  <a:cubicBezTo>
                    <a:pt x="0" y="1060"/>
                    <a:pt x="306" y="1365"/>
                    <a:pt x="683" y="1365"/>
                  </a:cubicBezTo>
                  <a:cubicBezTo>
                    <a:pt x="1060" y="1365"/>
                    <a:pt x="1365" y="1060"/>
                    <a:pt x="1365" y="683"/>
                  </a:cubicBezTo>
                  <a:cubicBezTo>
                    <a:pt x="1365" y="306"/>
                    <a:pt x="1060" y="0"/>
                    <a:pt x="6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2" name="Freeform 80">
              <a:extLst>
                <a:ext uri="{FF2B5EF4-FFF2-40B4-BE49-F238E27FC236}">
                  <a16:creationId xmlns:a16="http://schemas.microsoft.com/office/drawing/2014/main" id="{F84E6EAA-0B3D-4F47-8BAB-62E3FC95C88C}"/>
                </a:ext>
              </a:extLst>
            </p:cNvPr>
            <p:cNvSpPr>
              <a:spLocks/>
            </p:cNvSpPr>
            <p:nvPr/>
          </p:nvSpPr>
          <p:spPr bwMode="auto">
            <a:xfrm>
              <a:off x="3716338" y="4525963"/>
              <a:ext cx="125412" cy="250825"/>
            </a:xfrm>
            <a:custGeom>
              <a:avLst/>
              <a:gdLst>
                <a:gd name="T0" fmla="*/ 29 w 79"/>
                <a:gd name="T1" fmla="*/ 88 h 158"/>
                <a:gd name="T2" fmla="*/ 29 w 79"/>
                <a:gd name="T3" fmla="*/ 0 h 158"/>
                <a:gd name="T4" fmla="*/ 0 w 79"/>
                <a:gd name="T5" fmla="*/ 0 h 158"/>
                <a:gd name="T6" fmla="*/ 0 w 79"/>
                <a:gd name="T7" fmla="*/ 100 h 158"/>
                <a:gd name="T8" fmla="*/ 0 w 79"/>
                <a:gd name="T9" fmla="*/ 100 h 158"/>
                <a:gd name="T10" fmla="*/ 0 w 79"/>
                <a:gd name="T11" fmla="*/ 100 h 158"/>
                <a:gd name="T12" fmla="*/ 58 w 79"/>
                <a:gd name="T13" fmla="*/ 158 h 158"/>
                <a:gd name="T14" fmla="*/ 79 w 79"/>
                <a:gd name="T15" fmla="*/ 137 h 158"/>
                <a:gd name="T16" fmla="*/ 29 w 79"/>
                <a:gd name="T17" fmla="*/ 8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58">
                  <a:moveTo>
                    <a:pt x="29" y="88"/>
                  </a:moveTo>
                  <a:lnTo>
                    <a:pt x="29" y="0"/>
                  </a:lnTo>
                  <a:lnTo>
                    <a:pt x="0" y="0"/>
                  </a:lnTo>
                  <a:lnTo>
                    <a:pt x="0" y="100"/>
                  </a:lnTo>
                  <a:lnTo>
                    <a:pt x="0" y="100"/>
                  </a:lnTo>
                  <a:lnTo>
                    <a:pt x="0" y="100"/>
                  </a:lnTo>
                  <a:lnTo>
                    <a:pt x="58" y="158"/>
                  </a:lnTo>
                  <a:lnTo>
                    <a:pt x="79" y="137"/>
                  </a:lnTo>
                  <a:lnTo>
                    <a:pt x="29" y="88"/>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12" name="Group 154" descr="one dot leading to three dots to convey &quot;fully managed&quot;">
            <a:extLst>
              <a:ext uri="{FF2B5EF4-FFF2-40B4-BE49-F238E27FC236}">
                <a16:creationId xmlns:a16="http://schemas.microsoft.com/office/drawing/2014/main" id="{8E35AC0F-28A1-44D9-A9C0-9131BA5FB777}"/>
              </a:ext>
            </a:extLst>
          </p:cNvPr>
          <p:cNvGrpSpPr>
            <a:grpSpLocks noChangeAspect="1"/>
          </p:cNvGrpSpPr>
          <p:nvPr/>
        </p:nvGrpSpPr>
        <p:grpSpPr bwMode="auto">
          <a:xfrm>
            <a:off x="11094510" y="3017821"/>
            <a:ext cx="467223" cy="467223"/>
            <a:chOff x="410" y="2781"/>
            <a:chExt cx="312" cy="312"/>
          </a:xfrm>
        </p:grpSpPr>
        <p:sp>
          <p:nvSpPr>
            <p:cNvPr id="115" name="AutoShape 153">
              <a:extLst>
                <a:ext uri="{FF2B5EF4-FFF2-40B4-BE49-F238E27FC236}">
                  <a16:creationId xmlns:a16="http://schemas.microsoft.com/office/drawing/2014/main" id="{4AC681A9-9125-4FD5-AB5F-92F5D6F81489}"/>
                </a:ext>
              </a:extLst>
            </p:cNvPr>
            <p:cNvSpPr>
              <a:spLocks noChangeAspect="1" noChangeArrowheads="1" noTextEdit="1"/>
            </p:cNvSpPr>
            <p:nvPr/>
          </p:nvSpPr>
          <p:spPr bwMode="auto">
            <a:xfrm>
              <a:off x="410" y="2781"/>
              <a:ext cx="31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155">
              <a:extLst>
                <a:ext uri="{FF2B5EF4-FFF2-40B4-BE49-F238E27FC236}">
                  <a16:creationId xmlns:a16="http://schemas.microsoft.com/office/drawing/2014/main" id="{22D42231-5B86-435F-860E-14DB2CFEC171}"/>
                </a:ext>
              </a:extLst>
            </p:cNvPr>
            <p:cNvSpPr>
              <a:spLocks/>
            </p:cNvSpPr>
            <p:nvPr/>
          </p:nvSpPr>
          <p:spPr bwMode="auto">
            <a:xfrm>
              <a:off x="439" y="2937"/>
              <a:ext cx="254" cy="127"/>
            </a:xfrm>
            <a:custGeom>
              <a:avLst/>
              <a:gdLst>
                <a:gd name="T0" fmla="*/ 0 w 254"/>
                <a:gd name="T1" fmla="*/ 127 h 127"/>
                <a:gd name="T2" fmla="*/ 0 w 254"/>
                <a:gd name="T3" fmla="*/ 0 h 127"/>
                <a:gd name="T4" fmla="*/ 254 w 254"/>
                <a:gd name="T5" fmla="*/ 0 h 127"/>
                <a:gd name="T6" fmla="*/ 254 w 254"/>
                <a:gd name="T7" fmla="*/ 127 h 127"/>
              </a:gdLst>
              <a:ahLst/>
              <a:cxnLst>
                <a:cxn ang="0">
                  <a:pos x="T0" y="T1"/>
                </a:cxn>
                <a:cxn ang="0">
                  <a:pos x="T2" y="T3"/>
                </a:cxn>
                <a:cxn ang="0">
                  <a:pos x="T4" y="T5"/>
                </a:cxn>
                <a:cxn ang="0">
                  <a:pos x="T6" y="T7"/>
                </a:cxn>
              </a:cxnLst>
              <a:rect l="0" t="0" r="r" b="b"/>
              <a:pathLst>
                <a:path w="254" h="127">
                  <a:moveTo>
                    <a:pt x="0" y="127"/>
                  </a:moveTo>
                  <a:lnTo>
                    <a:pt x="0" y="0"/>
                  </a:lnTo>
                  <a:lnTo>
                    <a:pt x="254" y="0"/>
                  </a:lnTo>
                  <a:lnTo>
                    <a:pt x="254" y="127"/>
                  </a:lnTo>
                </a:path>
              </a:pathLst>
            </a:custGeom>
            <a:noFill/>
            <a:ln w="6350" cap="flat">
              <a:solidFill>
                <a:srgbClr val="50E6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7" name="Line 156">
              <a:extLst>
                <a:ext uri="{FF2B5EF4-FFF2-40B4-BE49-F238E27FC236}">
                  <a16:creationId xmlns:a16="http://schemas.microsoft.com/office/drawing/2014/main" id="{B522B53A-7EB7-453E-81D0-195CCB7DB664}"/>
                </a:ext>
              </a:extLst>
            </p:cNvPr>
            <p:cNvSpPr>
              <a:spLocks noChangeShapeType="1"/>
            </p:cNvSpPr>
            <p:nvPr/>
          </p:nvSpPr>
          <p:spPr bwMode="auto">
            <a:xfrm>
              <a:off x="566" y="2822"/>
              <a:ext cx="0" cy="245"/>
            </a:xfrm>
            <a:prstGeom prst="line">
              <a:avLst/>
            </a:prstGeom>
            <a:noFill/>
            <a:ln w="6350" cap="flat">
              <a:solidFill>
                <a:srgbClr val="50E6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Oval 157">
              <a:extLst>
                <a:ext uri="{FF2B5EF4-FFF2-40B4-BE49-F238E27FC236}">
                  <a16:creationId xmlns:a16="http://schemas.microsoft.com/office/drawing/2014/main" id="{2519B33C-B78B-4DDA-AD57-159E5D6F04FA}"/>
                </a:ext>
              </a:extLst>
            </p:cNvPr>
            <p:cNvSpPr>
              <a:spLocks noChangeArrowheads="1"/>
            </p:cNvSpPr>
            <p:nvPr/>
          </p:nvSpPr>
          <p:spPr bwMode="auto">
            <a:xfrm>
              <a:off x="537" y="3035"/>
              <a:ext cx="58" cy="58"/>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Oval 158">
              <a:extLst>
                <a:ext uri="{FF2B5EF4-FFF2-40B4-BE49-F238E27FC236}">
                  <a16:creationId xmlns:a16="http://schemas.microsoft.com/office/drawing/2014/main" id="{73FEE52C-662B-4884-B8CE-C1A295F7F683}"/>
                </a:ext>
              </a:extLst>
            </p:cNvPr>
            <p:cNvSpPr>
              <a:spLocks noChangeArrowheads="1"/>
            </p:cNvSpPr>
            <p:nvPr/>
          </p:nvSpPr>
          <p:spPr bwMode="auto">
            <a:xfrm>
              <a:off x="537" y="2781"/>
              <a:ext cx="58" cy="59"/>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Oval 159">
              <a:extLst>
                <a:ext uri="{FF2B5EF4-FFF2-40B4-BE49-F238E27FC236}">
                  <a16:creationId xmlns:a16="http://schemas.microsoft.com/office/drawing/2014/main" id="{354D544A-5B45-4CF1-93C5-D601970E2166}"/>
                </a:ext>
              </a:extLst>
            </p:cNvPr>
            <p:cNvSpPr>
              <a:spLocks noChangeArrowheads="1"/>
            </p:cNvSpPr>
            <p:nvPr/>
          </p:nvSpPr>
          <p:spPr bwMode="auto">
            <a:xfrm>
              <a:off x="664" y="3035"/>
              <a:ext cx="58" cy="5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Oval 160">
              <a:extLst>
                <a:ext uri="{FF2B5EF4-FFF2-40B4-BE49-F238E27FC236}">
                  <a16:creationId xmlns:a16="http://schemas.microsoft.com/office/drawing/2014/main" id="{35743CBD-F35C-4856-A9D2-003948FB735A}"/>
                </a:ext>
              </a:extLst>
            </p:cNvPr>
            <p:cNvSpPr>
              <a:spLocks noChangeArrowheads="1"/>
            </p:cNvSpPr>
            <p:nvPr/>
          </p:nvSpPr>
          <p:spPr bwMode="auto">
            <a:xfrm>
              <a:off x="410" y="3035"/>
              <a:ext cx="59" cy="58"/>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60170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E3CE-BAF1-184D-A764-5254C479F025}"/>
              </a:ext>
            </a:extLst>
          </p:cNvPr>
          <p:cNvSpPr>
            <a:spLocks noGrp="1"/>
          </p:cNvSpPr>
          <p:nvPr>
            <p:ph type="ctrTitle"/>
          </p:nvPr>
        </p:nvSpPr>
        <p:spPr/>
        <p:txBody>
          <a:bodyPr/>
          <a:lstStyle/>
          <a:p>
            <a:r>
              <a:rPr lang="en-US" dirty="0"/>
              <a:t>Getting started with migration</a:t>
            </a:r>
          </a:p>
        </p:txBody>
      </p:sp>
    </p:spTree>
    <p:extLst>
      <p:ext uri="{BB962C8B-B14F-4D97-AF65-F5344CB8AC3E}">
        <p14:creationId xmlns:p14="http://schemas.microsoft.com/office/powerpoint/2010/main" val="1656390609"/>
      </p:ext>
    </p:extLst>
  </p:cSld>
  <p:clrMapOvr>
    <a:masterClrMapping/>
  </p:clrMapOvr>
  <p:transition advTm="9527">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6" name="Title 1" descr="Count on a proven methodology">
            <a:extLst>
              <a:ext uri="{FF2B5EF4-FFF2-40B4-BE49-F238E27FC236}">
                <a16:creationId xmlns:a16="http://schemas.microsoft.com/office/drawing/2014/main" id="{D0CA9859-1853-43FE-A6F4-F701B23E24CD}"/>
              </a:ext>
            </a:extLst>
          </p:cNvPr>
          <p:cNvSpPr txBox="1">
            <a:spLocks/>
          </p:cNvSpPr>
          <p:nvPr/>
        </p:nvSpPr>
        <p:spPr>
          <a:xfrm>
            <a:off x="539567" y="450950"/>
            <a:ext cx="11078034" cy="855801"/>
          </a:xfrm>
          <a:prstGeom prst="rect">
            <a:avLst/>
          </a:prstGeom>
        </p:spPr>
        <p:txBody>
          <a:bodyPr vert="horz" lIns="0" tIns="45713" rIns="91427" bIns="45713" rtlCol="0" anchor="t">
            <a:noAutofit/>
          </a:bodyPr>
          <a:lstStyle>
            <a:lvl1pPr algn="l" defTabSz="911939" rtl="0" eaLnBrk="1" latinLnBrk="0" hangingPunct="1">
              <a:lnSpc>
                <a:spcPct val="90000"/>
              </a:lnSpc>
              <a:spcBef>
                <a:spcPct val="0"/>
              </a:spcBef>
              <a:buNone/>
              <a:defRPr sz="3529" kern="1200">
                <a:solidFill>
                  <a:schemeClr val="bg2"/>
                </a:solidFill>
                <a:latin typeface="+mj-lt"/>
                <a:ea typeface="+mj-ea"/>
                <a:cs typeface="+mj-cs"/>
              </a:defRPr>
            </a:lvl1pPr>
          </a:lstStyle>
          <a:p>
            <a:pPr marL="0" marR="0" lvl="0" indent="0" algn="l" defTabSz="911764" rtl="0" eaLnBrk="1" fontAlgn="auto" latinLnBrk="0" hangingPunct="1">
              <a:lnSpc>
                <a:spcPct val="90000"/>
              </a:lnSpc>
              <a:spcBef>
                <a:spcPct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Segoe UI"/>
              <a:ea typeface="Segoe UI" pitchFamily="34" charset="0"/>
              <a:cs typeface="Segoe UI Light" panose="020B0502040204020203" pitchFamily="34" charset="0"/>
            </a:endParaRPr>
          </a:p>
        </p:txBody>
      </p:sp>
      <p:sp>
        <p:nvSpPr>
          <p:cNvPr id="3" name="Text Placeholder 2">
            <a:extLst>
              <a:ext uri="{FF2B5EF4-FFF2-40B4-BE49-F238E27FC236}">
                <a16:creationId xmlns:a16="http://schemas.microsoft.com/office/drawing/2014/main" id="{5D2157E1-E458-40A5-9F20-6FB4F8388EAB}"/>
              </a:ext>
            </a:extLst>
          </p:cNvPr>
          <p:cNvSpPr>
            <a:spLocks noGrp="1"/>
          </p:cNvSpPr>
          <p:nvPr>
            <p:ph type="body" sz="quarter" idx="13"/>
          </p:nvPr>
        </p:nvSpPr>
        <p:spPr>
          <a:xfrm>
            <a:off x="594886" y="1015678"/>
            <a:ext cx="11079606" cy="457135"/>
          </a:xfrm>
        </p:spPr>
        <p:txBody>
          <a:bodyPr/>
          <a:lstStyle/>
          <a:p>
            <a:r>
              <a:rPr lang="en-US" dirty="0">
                <a:solidFill>
                  <a:schemeClr val="accent3"/>
                </a:solidFill>
              </a:rPr>
              <a:t>Microsoft Cloud Adoption Framework for Azure</a:t>
            </a:r>
          </a:p>
        </p:txBody>
      </p:sp>
      <p:sp>
        <p:nvSpPr>
          <p:cNvPr id="7" name="Title 6">
            <a:extLst>
              <a:ext uri="{FF2B5EF4-FFF2-40B4-BE49-F238E27FC236}">
                <a16:creationId xmlns:a16="http://schemas.microsoft.com/office/drawing/2014/main" id="{3A1E1CFF-0418-4FD9-A81D-CA6CFD185801}"/>
              </a:ext>
              <a:ext uri="{C183D7F6-B498-43B3-948B-1728B52AA6E4}">
                <adec:decorative xmlns:adec="http://schemas.microsoft.com/office/drawing/2017/decorative" val="1"/>
              </a:ext>
            </a:extLst>
          </p:cNvPr>
          <p:cNvSpPr>
            <a:spLocks noGrp="1"/>
          </p:cNvSpPr>
          <p:nvPr>
            <p:ph type="title"/>
          </p:nvPr>
        </p:nvSpPr>
        <p:spPr/>
        <p:txBody>
          <a:bodyPr/>
          <a:lstStyle/>
          <a:p>
            <a:r>
              <a:rPr lang="en-US" spc="-50" dirty="0">
                <a:ln w="3175">
                  <a:noFill/>
                </a:ln>
                <a:solidFill>
                  <a:schemeClr val="bg1"/>
                </a:solidFill>
                <a:ea typeface="+mn-ea"/>
                <a:cs typeface="Segoe UI" pitchFamily="34" charset="0"/>
              </a:rPr>
              <a:t>Count on a proven methodology</a:t>
            </a:r>
          </a:p>
        </p:txBody>
      </p:sp>
      <p:sp>
        <p:nvSpPr>
          <p:cNvPr id="271" name="Rectangle 270">
            <a:extLst>
              <a:ext uri="{FF2B5EF4-FFF2-40B4-BE49-F238E27FC236}">
                <a16:creationId xmlns:a16="http://schemas.microsoft.com/office/drawing/2014/main" id="{FC0DBA64-49E2-485A-B7CE-A171E1DBA238}"/>
              </a:ext>
            </a:extLst>
          </p:cNvPr>
          <p:cNvSpPr/>
          <p:nvPr/>
        </p:nvSpPr>
        <p:spPr bwMode="auto">
          <a:xfrm>
            <a:off x="460796" y="3087051"/>
            <a:ext cx="1995766" cy="69061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377" tIns="146204" rIns="91377" bIns="146204" numCol="1" spcCol="0" rtlCol="0" fromWordArt="0" anchor="t" anchorCtr="0" forceAA="0" compatLnSpc="1">
            <a:prstTxWarp prst="textNoShape">
              <a:avLst/>
            </a:prstTxWarp>
            <a:noAutofit/>
          </a:bodyPr>
          <a:lstStyle/>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50E6FF"/>
                </a:solidFill>
                <a:effectLst/>
                <a:uLnTx/>
                <a:uFillTx/>
                <a:latin typeface="Segoe UI Semibold"/>
                <a:ea typeface="+mn-lt"/>
                <a:cs typeface="Segoe UI Semibold"/>
              </a:rPr>
              <a:t>Define strategy</a:t>
            </a: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mn-ea"/>
                <a:cs typeface="Segoe UI" pitchFamily="34" charset="0"/>
              </a:rPr>
              <a:t>Executive sponsorship</a:t>
            </a: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mn-ea"/>
                <a:cs typeface="Segoe UI" pitchFamily="34" charset="0"/>
              </a:rPr>
              <a:t>Stakeholder alignment</a:t>
            </a: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mn-ea"/>
                <a:cs typeface="Segoe UI" pitchFamily="34" charset="0"/>
              </a:rPr>
              <a:t>Partner engaged</a:t>
            </a:r>
          </a:p>
        </p:txBody>
      </p:sp>
      <p:pic>
        <p:nvPicPr>
          <p:cNvPr id="122" name="Graphic 121">
            <a:extLst>
              <a:ext uri="{FF2B5EF4-FFF2-40B4-BE49-F238E27FC236}">
                <a16:creationId xmlns:a16="http://schemas.microsoft.com/office/drawing/2014/main" id="{F31459C6-E4BD-43F1-B694-034F9275F8C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1210" y="2626283"/>
            <a:ext cx="414938" cy="414938"/>
          </a:xfrm>
          <a:prstGeom prst="rect">
            <a:avLst/>
          </a:prstGeom>
        </p:spPr>
      </p:pic>
      <p:sp>
        <p:nvSpPr>
          <p:cNvPr id="112" name="Oval 29">
            <a:extLst>
              <a:ext uri="{FF2B5EF4-FFF2-40B4-BE49-F238E27FC236}">
                <a16:creationId xmlns:a16="http://schemas.microsoft.com/office/drawing/2014/main" id="{CA52D5CA-4543-49D3-9183-E2672356765C}"/>
              </a:ext>
              <a:ext uri="{C183D7F6-B498-43B3-948B-1728B52AA6E4}">
                <adec:decorative xmlns:adec="http://schemas.microsoft.com/office/drawing/2017/decorative" val="1"/>
              </a:ext>
            </a:extLst>
          </p:cNvPr>
          <p:cNvSpPr/>
          <p:nvPr/>
        </p:nvSpPr>
        <p:spPr>
          <a:xfrm>
            <a:off x="2945074" y="3127145"/>
            <a:ext cx="178738" cy="383383"/>
          </a:xfrm>
          <a:custGeom>
            <a:avLst/>
            <a:gdLst>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6" fmla="*/ 0 w 2068290"/>
              <a:gd name="connsiteY6" fmla="*/ 0 h 2068288"/>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6" fmla="*/ 91440 w 2068290"/>
              <a:gd name="connsiteY6" fmla="*/ 91440 h 2068288"/>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0" fmla="*/ 1659183 w 2068290"/>
              <a:gd name="connsiteY0" fmla="*/ 0 h 2068288"/>
              <a:gd name="connsiteX1" fmla="*/ 2068290 w 2068290"/>
              <a:gd name="connsiteY1" fmla="*/ 1034144 h 2068288"/>
              <a:gd name="connsiteX2" fmla="*/ 1659183 w 2068290"/>
              <a:gd name="connsiteY2" fmla="*/ 2068288 h 2068288"/>
              <a:gd name="connsiteX3" fmla="*/ 0 w 2068290"/>
              <a:gd name="connsiteY3" fmla="*/ 2068288 h 2068288"/>
              <a:gd name="connsiteX4" fmla="*/ 409107 w 2068290"/>
              <a:gd name="connsiteY4" fmla="*/ 1034144 h 2068288"/>
              <a:gd name="connsiteX0" fmla="*/ 1659183 w 2068290"/>
              <a:gd name="connsiteY0" fmla="*/ 0 h 2068288"/>
              <a:gd name="connsiteX1" fmla="*/ 2068290 w 2068290"/>
              <a:gd name="connsiteY1" fmla="*/ 1034144 h 2068288"/>
              <a:gd name="connsiteX2" fmla="*/ 1659183 w 2068290"/>
              <a:gd name="connsiteY2" fmla="*/ 2068288 h 2068288"/>
              <a:gd name="connsiteX3" fmla="*/ 0 w 2068290"/>
              <a:gd name="connsiteY3" fmla="*/ 2068288 h 2068288"/>
              <a:gd name="connsiteX0" fmla="*/ 0 w 409107"/>
              <a:gd name="connsiteY0" fmla="*/ 0 h 2068288"/>
              <a:gd name="connsiteX1" fmla="*/ 409107 w 409107"/>
              <a:gd name="connsiteY1" fmla="*/ 1034144 h 2068288"/>
              <a:gd name="connsiteX2" fmla="*/ 0 w 409107"/>
              <a:gd name="connsiteY2" fmla="*/ 2068288 h 2068288"/>
            </a:gdLst>
            <a:ahLst/>
            <a:cxnLst>
              <a:cxn ang="0">
                <a:pos x="connsiteX0" y="connsiteY0"/>
              </a:cxn>
              <a:cxn ang="0">
                <a:pos x="connsiteX1" y="connsiteY1"/>
              </a:cxn>
              <a:cxn ang="0">
                <a:pos x="connsiteX2" y="connsiteY2"/>
              </a:cxn>
            </a:cxnLst>
            <a:rect l="l" t="t" r="r" b="b"/>
            <a:pathLst>
              <a:path w="409107" h="2068288">
                <a:moveTo>
                  <a:pt x="0" y="0"/>
                </a:moveTo>
                <a:lnTo>
                  <a:pt x="409107" y="1034144"/>
                </a:lnTo>
                <a:lnTo>
                  <a:pt x="0" y="2068288"/>
                </a:lnTo>
              </a:path>
            </a:pathLst>
          </a:custGeom>
          <a:noFill/>
          <a:ln w="69850" cap="rnd">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bold"/>
              <a:ea typeface="+mn-ea"/>
              <a:cs typeface="+mn-cs"/>
            </a:endParaRPr>
          </a:p>
        </p:txBody>
      </p:sp>
      <p:sp>
        <p:nvSpPr>
          <p:cNvPr id="290" name="Rectangle: Rounded Corners 289" descr="Rectangle grouping Plan, Ready and Adopt phases together and indicating that this is a repeatable cycle.">
            <a:extLst>
              <a:ext uri="{FF2B5EF4-FFF2-40B4-BE49-F238E27FC236}">
                <a16:creationId xmlns:a16="http://schemas.microsoft.com/office/drawing/2014/main" id="{252FAB78-F23E-4520-94E8-7139E5EE8F5A}"/>
              </a:ext>
            </a:extLst>
          </p:cNvPr>
          <p:cNvSpPr/>
          <p:nvPr/>
        </p:nvSpPr>
        <p:spPr bwMode="auto">
          <a:xfrm>
            <a:off x="3466198" y="2242010"/>
            <a:ext cx="8151403" cy="2405019"/>
          </a:xfrm>
          <a:prstGeom prst="roundRect">
            <a:avLst>
              <a:gd name="adj" fmla="val 9234"/>
            </a:avLst>
          </a:prstGeom>
          <a:noFill/>
          <a:ln w="28575" cap="rnd">
            <a:solidFill>
              <a:schemeClr val="accent3"/>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prstClr val="black"/>
              </a:solidFill>
              <a:effectLst/>
              <a:uLnTx/>
              <a:uFillTx/>
              <a:latin typeface="Segoe UI"/>
              <a:ea typeface="Segoe UI" pitchFamily="34" charset="0"/>
              <a:cs typeface="Segoe UI" pitchFamily="34" charset="0"/>
            </a:endParaRPr>
          </a:p>
        </p:txBody>
      </p:sp>
      <p:sp>
        <p:nvSpPr>
          <p:cNvPr id="115" name="Oval 29">
            <a:extLst>
              <a:ext uri="{FF2B5EF4-FFF2-40B4-BE49-F238E27FC236}">
                <a16:creationId xmlns:a16="http://schemas.microsoft.com/office/drawing/2014/main" id="{3BDFD0C2-02D9-4127-9F7C-A7A9C8F11D37}"/>
              </a:ext>
              <a:ext uri="{C183D7F6-B498-43B3-948B-1728B52AA6E4}">
                <adec:decorative xmlns:adec="http://schemas.microsoft.com/office/drawing/2017/decorative" val="1"/>
              </a:ext>
            </a:extLst>
          </p:cNvPr>
          <p:cNvSpPr/>
          <p:nvPr/>
        </p:nvSpPr>
        <p:spPr>
          <a:xfrm>
            <a:off x="6192637" y="3127145"/>
            <a:ext cx="178738" cy="383383"/>
          </a:xfrm>
          <a:custGeom>
            <a:avLst/>
            <a:gdLst>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6" fmla="*/ 0 w 2068290"/>
              <a:gd name="connsiteY6" fmla="*/ 0 h 2068288"/>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6" fmla="*/ 91440 w 2068290"/>
              <a:gd name="connsiteY6" fmla="*/ 91440 h 2068288"/>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0" fmla="*/ 1659183 w 2068290"/>
              <a:gd name="connsiteY0" fmla="*/ 0 h 2068288"/>
              <a:gd name="connsiteX1" fmla="*/ 2068290 w 2068290"/>
              <a:gd name="connsiteY1" fmla="*/ 1034144 h 2068288"/>
              <a:gd name="connsiteX2" fmla="*/ 1659183 w 2068290"/>
              <a:gd name="connsiteY2" fmla="*/ 2068288 h 2068288"/>
              <a:gd name="connsiteX3" fmla="*/ 0 w 2068290"/>
              <a:gd name="connsiteY3" fmla="*/ 2068288 h 2068288"/>
              <a:gd name="connsiteX4" fmla="*/ 409107 w 2068290"/>
              <a:gd name="connsiteY4" fmla="*/ 1034144 h 2068288"/>
              <a:gd name="connsiteX0" fmla="*/ 1659183 w 2068290"/>
              <a:gd name="connsiteY0" fmla="*/ 0 h 2068288"/>
              <a:gd name="connsiteX1" fmla="*/ 2068290 w 2068290"/>
              <a:gd name="connsiteY1" fmla="*/ 1034144 h 2068288"/>
              <a:gd name="connsiteX2" fmla="*/ 1659183 w 2068290"/>
              <a:gd name="connsiteY2" fmla="*/ 2068288 h 2068288"/>
              <a:gd name="connsiteX3" fmla="*/ 0 w 2068290"/>
              <a:gd name="connsiteY3" fmla="*/ 2068288 h 2068288"/>
              <a:gd name="connsiteX0" fmla="*/ 0 w 409107"/>
              <a:gd name="connsiteY0" fmla="*/ 0 h 2068288"/>
              <a:gd name="connsiteX1" fmla="*/ 409107 w 409107"/>
              <a:gd name="connsiteY1" fmla="*/ 1034144 h 2068288"/>
              <a:gd name="connsiteX2" fmla="*/ 0 w 409107"/>
              <a:gd name="connsiteY2" fmla="*/ 2068288 h 2068288"/>
            </a:gdLst>
            <a:ahLst/>
            <a:cxnLst>
              <a:cxn ang="0">
                <a:pos x="connsiteX0" y="connsiteY0"/>
              </a:cxn>
              <a:cxn ang="0">
                <a:pos x="connsiteX1" y="connsiteY1"/>
              </a:cxn>
              <a:cxn ang="0">
                <a:pos x="connsiteX2" y="connsiteY2"/>
              </a:cxn>
            </a:cxnLst>
            <a:rect l="l" t="t" r="r" b="b"/>
            <a:pathLst>
              <a:path w="409107" h="2068288">
                <a:moveTo>
                  <a:pt x="0" y="0"/>
                </a:moveTo>
                <a:lnTo>
                  <a:pt x="409107" y="1034144"/>
                </a:lnTo>
                <a:lnTo>
                  <a:pt x="0" y="2068288"/>
                </a:lnTo>
              </a:path>
            </a:pathLst>
          </a:custGeom>
          <a:noFill/>
          <a:ln w="69850" cap="rnd">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bold"/>
              <a:ea typeface="+mn-ea"/>
              <a:cs typeface="+mn-cs"/>
            </a:endParaRPr>
          </a:p>
        </p:txBody>
      </p:sp>
      <p:sp>
        <p:nvSpPr>
          <p:cNvPr id="116" name="Oval 29">
            <a:extLst>
              <a:ext uri="{FF2B5EF4-FFF2-40B4-BE49-F238E27FC236}">
                <a16:creationId xmlns:a16="http://schemas.microsoft.com/office/drawing/2014/main" id="{A4B1C647-69D6-4451-8ED6-746F05004748}"/>
              </a:ext>
              <a:ext uri="{C183D7F6-B498-43B3-948B-1728B52AA6E4}">
                <adec:decorative xmlns:adec="http://schemas.microsoft.com/office/drawing/2017/decorative" val="1"/>
              </a:ext>
            </a:extLst>
          </p:cNvPr>
          <p:cNvSpPr/>
          <p:nvPr/>
        </p:nvSpPr>
        <p:spPr>
          <a:xfrm>
            <a:off x="9021161" y="3127145"/>
            <a:ext cx="178738" cy="383383"/>
          </a:xfrm>
          <a:custGeom>
            <a:avLst/>
            <a:gdLst>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6" fmla="*/ 0 w 2068290"/>
              <a:gd name="connsiteY6" fmla="*/ 0 h 2068288"/>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6" fmla="*/ 91440 w 2068290"/>
              <a:gd name="connsiteY6" fmla="*/ 91440 h 2068288"/>
              <a:gd name="connsiteX0" fmla="*/ 0 w 2068290"/>
              <a:gd name="connsiteY0" fmla="*/ 0 h 2068288"/>
              <a:gd name="connsiteX1" fmla="*/ 1659183 w 2068290"/>
              <a:gd name="connsiteY1" fmla="*/ 0 h 2068288"/>
              <a:gd name="connsiteX2" fmla="*/ 2068290 w 2068290"/>
              <a:gd name="connsiteY2" fmla="*/ 1034144 h 2068288"/>
              <a:gd name="connsiteX3" fmla="*/ 1659183 w 2068290"/>
              <a:gd name="connsiteY3" fmla="*/ 2068288 h 2068288"/>
              <a:gd name="connsiteX4" fmla="*/ 0 w 2068290"/>
              <a:gd name="connsiteY4" fmla="*/ 2068288 h 2068288"/>
              <a:gd name="connsiteX5" fmla="*/ 409107 w 2068290"/>
              <a:gd name="connsiteY5" fmla="*/ 1034144 h 2068288"/>
              <a:gd name="connsiteX0" fmla="*/ 1659183 w 2068290"/>
              <a:gd name="connsiteY0" fmla="*/ 0 h 2068288"/>
              <a:gd name="connsiteX1" fmla="*/ 2068290 w 2068290"/>
              <a:gd name="connsiteY1" fmla="*/ 1034144 h 2068288"/>
              <a:gd name="connsiteX2" fmla="*/ 1659183 w 2068290"/>
              <a:gd name="connsiteY2" fmla="*/ 2068288 h 2068288"/>
              <a:gd name="connsiteX3" fmla="*/ 0 w 2068290"/>
              <a:gd name="connsiteY3" fmla="*/ 2068288 h 2068288"/>
              <a:gd name="connsiteX4" fmla="*/ 409107 w 2068290"/>
              <a:gd name="connsiteY4" fmla="*/ 1034144 h 2068288"/>
              <a:gd name="connsiteX0" fmla="*/ 1659183 w 2068290"/>
              <a:gd name="connsiteY0" fmla="*/ 0 h 2068288"/>
              <a:gd name="connsiteX1" fmla="*/ 2068290 w 2068290"/>
              <a:gd name="connsiteY1" fmla="*/ 1034144 h 2068288"/>
              <a:gd name="connsiteX2" fmla="*/ 1659183 w 2068290"/>
              <a:gd name="connsiteY2" fmla="*/ 2068288 h 2068288"/>
              <a:gd name="connsiteX3" fmla="*/ 0 w 2068290"/>
              <a:gd name="connsiteY3" fmla="*/ 2068288 h 2068288"/>
              <a:gd name="connsiteX0" fmla="*/ 0 w 409107"/>
              <a:gd name="connsiteY0" fmla="*/ 0 h 2068288"/>
              <a:gd name="connsiteX1" fmla="*/ 409107 w 409107"/>
              <a:gd name="connsiteY1" fmla="*/ 1034144 h 2068288"/>
              <a:gd name="connsiteX2" fmla="*/ 0 w 409107"/>
              <a:gd name="connsiteY2" fmla="*/ 2068288 h 2068288"/>
            </a:gdLst>
            <a:ahLst/>
            <a:cxnLst>
              <a:cxn ang="0">
                <a:pos x="connsiteX0" y="connsiteY0"/>
              </a:cxn>
              <a:cxn ang="0">
                <a:pos x="connsiteX1" y="connsiteY1"/>
              </a:cxn>
              <a:cxn ang="0">
                <a:pos x="connsiteX2" y="connsiteY2"/>
              </a:cxn>
            </a:cxnLst>
            <a:rect l="l" t="t" r="r" b="b"/>
            <a:pathLst>
              <a:path w="409107" h="2068288">
                <a:moveTo>
                  <a:pt x="0" y="0"/>
                </a:moveTo>
                <a:lnTo>
                  <a:pt x="409107" y="1034144"/>
                </a:lnTo>
                <a:lnTo>
                  <a:pt x="0" y="2068288"/>
                </a:lnTo>
              </a:path>
            </a:pathLst>
          </a:custGeom>
          <a:noFill/>
          <a:ln w="69850" cap="rnd">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bold"/>
              <a:ea typeface="+mn-ea"/>
              <a:cs typeface="+mn-cs"/>
            </a:endParaRPr>
          </a:p>
        </p:txBody>
      </p:sp>
      <p:grpSp>
        <p:nvGrpSpPr>
          <p:cNvPr id="291" name="Group 290">
            <a:extLst>
              <a:ext uri="{FF2B5EF4-FFF2-40B4-BE49-F238E27FC236}">
                <a16:creationId xmlns:a16="http://schemas.microsoft.com/office/drawing/2014/main" id="{B4171CF6-4A8A-48AE-BC4C-2BCE87AC5A5D}"/>
              </a:ext>
              <a:ext uri="{C183D7F6-B498-43B3-948B-1728B52AA6E4}">
                <adec:decorative xmlns:adec="http://schemas.microsoft.com/office/drawing/2017/decorative" val="1"/>
              </a:ext>
            </a:extLst>
          </p:cNvPr>
          <p:cNvGrpSpPr/>
          <p:nvPr/>
        </p:nvGrpSpPr>
        <p:grpSpPr>
          <a:xfrm>
            <a:off x="9468187" y="2114734"/>
            <a:ext cx="308703" cy="248995"/>
            <a:chOff x="9246408" y="1795462"/>
            <a:chExt cx="293722" cy="214294"/>
          </a:xfrm>
        </p:grpSpPr>
        <p:sp>
          <p:nvSpPr>
            <p:cNvPr id="295" name="Rectangle 294">
              <a:extLst>
                <a:ext uri="{FF2B5EF4-FFF2-40B4-BE49-F238E27FC236}">
                  <a16:creationId xmlns:a16="http://schemas.microsoft.com/office/drawing/2014/main" id="{1690E040-5161-4DE1-A43F-F13E9536B0AA}"/>
                </a:ext>
              </a:extLst>
            </p:cNvPr>
            <p:cNvSpPr/>
            <p:nvPr/>
          </p:nvSpPr>
          <p:spPr bwMode="auto">
            <a:xfrm>
              <a:off x="9407280" y="1795462"/>
              <a:ext cx="132850" cy="214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281" tIns="45706" rIns="91414" bIns="45706" numCol="1" spcCol="0" rtlCol="0" fromWordArt="0" anchor="ctr" anchorCtr="0" forceAA="0" compatLnSpc="1">
              <a:prstTxWarp prst="textNoShape">
                <a:avLst/>
              </a:prstTxWarp>
              <a:noAutofit/>
            </a:bodyPr>
            <a:lstStyle/>
            <a:p>
              <a:pPr marL="0" marR="0" lvl="0" indent="0" algn="l" defTabSz="4570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96" name="Rectangle 34">
              <a:extLst>
                <a:ext uri="{FF2B5EF4-FFF2-40B4-BE49-F238E27FC236}">
                  <a16:creationId xmlns:a16="http://schemas.microsoft.com/office/drawing/2014/main" id="{8A9DDC4A-0679-4D86-B0B0-8A8307FF8860}"/>
                </a:ext>
              </a:extLst>
            </p:cNvPr>
            <p:cNvSpPr/>
            <p:nvPr/>
          </p:nvSpPr>
          <p:spPr bwMode="auto">
            <a:xfrm rot="8100000">
              <a:off x="9246408" y="1831468"/>
              <a:ext cx="149897" cy="151343"/>
            </a:xfrm>
            <a:custGeom>
              <a:avLst/>
              <a:gdLst>
                <a:gd name="connsiteX0" fmla="*/ 0 w 266700"/>
                <a:gd name="connsiteY0" fmla="*/ 0 h 266700"/>
                <a:gd name="connsiteX1" fmla="*/ 266700 w 266700"/>
                <a:gd name="connsiteY1" fmla="*/ 0 h 266700"/>
                <a:gd name="connsiteX2" fmla="*/ 266700 w 266700"/>
                <a:gd name="connsiteY2" fmla="*/ 266700 h 266700"/>
                <a:gd name="connsiteX3" fmla="*/ 0 w 266700"/>
                <a:gd name="connsiteY3" fmla="*/ 266700 h 266700"/>
                <a:gd name="connsiteX4" fmla="*/ 0 w 266700"/>
                <a:gd name="connsiteY4" fmla="*/ 0 h 266700"/>
                <a:gd name="connsiteX0" fmla="*/ 266700 w 358140"/>
                <a:gd name="connsiteY0" fmla="*/ 266700 h 358140"/>
                <a:gd name="connsiteX1" fmla="*/ 0 w 358140"/>
                <a:gd name="connsiteY1" fmla="*/ 266700 h 358140"/>
                <a:gd name="connsiteX2" fmla="*/ 0 w 358140"/>
                <a:gd name="connsiteY2" fmla="*/ 0 h 358140"/>
                <a:gd name="connsiteX3" fmla="*/ 266700 w 358140"/>
                <a:gd name="connsiteY3" fmla="*/ 0 h 358140"/>
                <a:gd name="connsiteX4" fmla="*/ 358140 w 358140"/>
                <a:gd name="connsiteY4" fmla="*/ 358140 h 358140"/>
                <a:gd name="connsiteX0" fmla="*/ 266700 w 266700"/>
                <a:gd name="connsiteY0" fmla="*/ 266700 h 266700"/>
                <a:gd name="connsiteX1" fmla="*/ 0 w 266700"/>
                <a:gd name="connsiteY1" fmla="*/ 266700 h 266700"/>
                <a:gd name="connsiteX2" fmla="*/ 0 w 266700"/>
                <a:gd name="connsiteY2" fmla="*/ 0 h 266700"/>
                <a:gd name="connsiteX3" fmla="*/ 266700 w 266700"/>
                <a:gd name="connsiteY3" fmla="*/ 0 h 266700"/>
                <a:gd name="connsiteX0" fmla="*/ 0 w 266700"/>
                <a:gd name="connsiteY0" fmla="*/ 266700 h 266700"/>
                <a:gd name="connsiteX1" fmla="*/ 0 w 266700"/>
                <a:gd name="connsiteY1" fmla="*/ 0 h 266700"/>
                <a:gd name="connsiteX2" fmla="*/ 266700 w 266700"/>
                <a:gd name="connsiteY2" fmla="*/ 0 h 266700"/>
              </a:gdLst>
              <a:ahLst/>
              <a:cxnLst>
                <a:cxn ang="0">
                  <a:pos x="connsiteX0" y="connsiteY0"/>
                </a:cxn>
                <a:cxn ang="0">
                  <a:pos x="connsiteX1" y="connsiteY1"/>
                </a:cxn>
                <a:cxn ang="0">
                  <a:pos x="connsiteX2" y="connsiteY2"/>
                </a:cxn>
              </a:cxnLst>
              <a:rect l="l" t="t" r="r" b="b"/>
              <a:pathLst>
                <a:path w="266700" h="266700">
                  <a:moveTo>
                    <a:pt x="0" y="266700"/>
                  </a:moveTo>
                  <a:lnTo>
                    <a:pt x="0" y="0"/>
                  </a:lnTo>
                  <a:lnTo>
                    <a:pt x="266700" y="0"/>
                  </a:lnTo>
                </a:path>
              </a:pathLst>
            </a:custGeom>
            <a:ln w="28575">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marL="0" marR="0" lvl="0" indent="0" algn="l" defTabSz="931745" rtl="0" eaLnBrk="1" fontAlgn="base" latinLnBrk="0" hangingPunct="1">
                <a:lnSpc>
                  <a:spcPct val="100000"/>
                </a:lnSpc>
                <a:spcBef>
                  <a:spcPct val="0"/>
                </a:spcBef>
                <a:spcAft>
                  <a:spcPct val="0"/>
                </a:spcAft>
                <a:buClrTx/>
                <a:buSzTx/>
                <a:buFontTx/>
                <a:buNone/>
                <a:tabLst/>
                <a:defRPr/>
              </a:pPr>
              <a:endParaRPr kumimoji="0" lang="en-US" sz="1999" b="0" i="0" u="none" strike="noStrike" kern="1200" cap="none" spc="0" normalizeH="0" baseline="0" noProof="0" err="1">
                <a:ln>
                  <a:noFill/>
                </a:ln>
                <a:solidFill>
                  <a:prstClr val="black"/>
                </a:solidFill>
                <a:effectLst/>
                <a:uLnTx/>
                <a:uFillTx/>
                <a:latin typeface="Segoe UI"/>
                <a:ea typeface="+mn-ea"/>
                <a:cs typeface="Segoe UI" pitchFamily="34" charset="0"/>
              </a:endParaRPr>
            </a:p>
          </p:txBody>
        </p:sp>
      </p:grpSp>
      <p:grpSp>
        <p:nvGrpSpPr>
          <p:cNvPr id="292" name="Group 291">
            <a:extLst>
              <a:ext uri="{FF2B5EF4-FFF2-40B4-BE49-F238E27FC236}">
                <a16:creationId xmlns:a16="http://schemas.microsoft.com/office/drawing/2014/main" id="{C0558BE7-C70D-408A-8317-DB848EF6CFED}"/>
              </a:ext>
              <a:ext uri="{C183D7F6-B498-43B3-948B-1728B52AA6E4}">
                <adec:decorative xmlns:adec="http://schemas.microsoft.com/office/drawing/2017/decorative" val="1"/>
              </a:ext>
            </a:extLst>
          </p:cNvPr>
          <p:cNvGrpSpPr/>
          <p:nvPr/>
        </p:nvGrpSpPr>
        <p:grpSpPr>
          <a:xfrm flipH="1">
            <a:off x="4600787" y="4521560"/>
            <a:ext cx="300799" cy="248995"/>
            <a:chOff x="9289967" y="1795462"/>
            <a:chExt cx="286202" cy="214294"/>
          </a:xfrm>
        </p:grpSpPr>
        <p:sp>
          <p:nvSpPr>
            <p:cNvPr id="293" name="Rectangle 292">
              <a:extLst>
                <a:ext uri="{FF2B5EF4-FFF2-40B4-BE49-F238E27FC236}">
                  <a16:creationId xmlns:a16="http://schemas.microsoft.com/office/drawing/2014/main" id="{0E473976-D4DD-4768-B618-9F5BA7DCB67F}"/>
                </a:ext>
              </a:extLst>
            </p:cNvPr>
            <p:cNvSpPr/>
            <p:nvPr/>
          </p:nvSpPr>
          <p:spPr bwMode="auto">
            <a:xfrm>
              <a:off x="9433411" y="1795462"/>
              <a:ext cx="142758" cy="214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281" tIns="45706" rIns="91414" bIns="45706" numCol="1" spcCol="0" rtlCol="0" fromWordArt="0" anchor="ctr" anchorCtr="0" forceAA="0" compatLnSpc="1">
              <a:prstTxWarp prst="textNoShape">
                <a:avLst/>
              </a:prstTxWarp>
              <a:noAutofit/>
            </a:bodyPr>
            <a:lstStyle/>
            <a:p>
              <a:pPr marL="0" marR="0" lvl="0" indent="0" algn="l" defTabSz="4570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Segoe UI"/>
                <a:ea typeface="+mn-ea"/>
                <a:cs typeface="+mn-cs"/>
              </a:endParaRPr>
            </a:p>
          </p:txBody>
        </p:sp>
        <p:sp>
          <p:nvSpPr>
            <p:cNvPr id="294" name="Rectangle 34">
              <a:extLst>
                <a:ext uri="{FF2B5EF4-FFF2-40B4-BE49-F238E27FC236}">
                  <a16:creationId xmlns:a16="http://schemas.microsoft.com/office/drawing/2014/main" id="{52A327A3-5246-400F-B9E1-ECFC6C967AD3}"/>
                </a:ext>
              </a:extLst>
            </p:cNvPr>
            <p:cNvSpPr/>
            <p:nvPr/>
          </p:nvSpPr>
          <p:spPr bwMode="auto">
            <a:xfrm rot="8100000">
              <a:off x="9289967" y="1835689"/>
              <a:ext cx="133486" cy="134773"/>
            </a:xfrm>
            <a:custGeom>
              <a:avLst/>
              <a:gdLst>
                <a:gd name="connsiteX0" fmla="*/ 0 w 266700"/>
                <a:gd name="connsiteY0" fmla="*/ 0 h 266700"/>
                <a:gd name="connsiteX1" fmla="*/ 266700 w 266700"/>
                <a:gd name="connsiteY1" fmla="*/ 0 h 266700"/>
                <a:gd name="connsiteX2" fmla="*/ 266700 w 266700"/>
                <a:gd name="connsiteY2" fmla="*/ 266700 h 266700"/>
                <a:gd name="connsiteX3" fmla="*/ 0 w 266700"/>
                <a:gd name="connsiteY3" fmla="*/ 266700 h 266700"/>
                <a:gd name="connsiteX4" fmla="*/ 0 w 266700"/>
                <a:gd name="connsiteY4" fmla="*/ 0 h 266700"/>
                <a:gd name="connsiteX0" fmla="*/ 266700 w 358140"/>
                <a:gd name="connsiteY0" fmla="*/ 266700 h 358140"/>
                <a:gd name="connsiteX1" fmla="*/ 0 w 358140"/>
                <a:gd name="connsiteY1" fmla="*/ 266700 h 358140"/>
                <a:gd name="connsiteX2" fmla="*/ 0 w 358140"/>
                <a:gd name="connsiteY2" fmla="*/ 0 h 358140"/>
                <a:gd name="connsiteX3" fmla="*/ 266700 w 358140"/>
                <a:gd name="connsiteY3" fmla="*/ 0 h 358140"/>
                <a:gd name="connsiteX4" fmla="*/ 358140 w 358140"/>
                <a:gd name="connsiteY4" fmla="*/ 358140 h 358140"/>
                <a:gd name="connsiteX0" fmla="*/ 266700 w 266700"/>
                <a:gd name="connsiteY0" fmla="*/ 266700 h 266700"/>
                <a:gd name="connsiteX1" fmla="*/ 0 w 266700"/>
                <a:gd name="connsiteY1" fmla="*/ 266700 h 266700"/>
                <a:gd name="connsiteX2" fmla="*/ 0 w 266700"/>
                <a:gd name="connsiteY2" fmla="*/ 0 h 266700"/>
                <a:gd name="connsiteX3" fmla="*/ 266700 w 266700"/>
                <a:gd name="connsiteY3" fmla="*/ 0 h 266700"/>
                <a:gd name="connsiteX0" fmla="*/ 0 w 266700"/>
                <a:gd name="connsiteY0" fmla="*/ 266700 h 266700"/>
                <a:gd name="connsiteX1" fmla="*/ 0 w 266700"/>
                <a:gd name="connsiteY1" fmla="*/ 0 h 266700"/>
                <a:gd name="connsiteX2" fmla="*/ 266700 w 266700"/>
                <a:gd name="connsiteY2" fmla="*/ 0 h 266700"/>
              </a:gdLst>
              <a:ahLst/>
              <a:cxnLst>
                <a:cxn ang="0">
                  <a:pos x="connsiteX0" y="connsiteY0"/>
                </a:cxn>
                <a:cxn ang="0">
                  <a:pos x="connsiteX1" y="connsiteY1"/>
                </a:cxn>
                <a:cxn ang="0">
                  <a:pos x="connsiteX2" y="connsiteY2"/>
                </a:cxn>
              </a:cxnLst>
              <a:rect l="l" t="t" r="r" b="b"/>
              <a:pathLst>
                <a:path w="266700" h="266700">
                  <a:moveTo>
                    <a:pt x="0" y="266700"/>
                  </a:moveTo>
                  <a:lnTo>
                    <a:pt x="0" y="0"/>
                  </a:lnTo>
                  <a:lnTo>
                    <a:pt x="266700" y="0"/>
                  </a:lnTo>
                </a:path>
              </a:pathLst>
            </a:custGeom>
            <a:ln w="28575">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marL="0" marR="0" lvl="0" indent="0" algn="l" defTabSz="931745" rtl="0" eaLnBrk="1" fontAlgn="base" latinLnBrk="0" hangingPunct="1">
                <a:lnSpc>
                  <a:spcPct val="100000"/>
                </a:lnSpc>
                <a:spcBef>
                  <a:spcPct val="0"/>
                </a:spcBef>
                <a:spcAft>
                  <a:spcPct val="0"/>
                </a:spcAft>
                <a:buClrTx/>
                <a:buSzTx/>
                <a:buFontTx/>
                <a:buNone/>
                <a:tabLst/>
                <a:defRPr/>
              </a:pPr>
              <a:endParaRPr kumimoji="0" lang="en-US" sz="1999" b="0" i="0" u="none" strike="noStrike" kern="1200" cap="none" spc="0" normalizeH="0" baseline="0" noProof="0" err="1">
                <a:ln>
                  <a:noFill/>
                </a:ln>
                <a:solidFill>
                  <a:prstClr val="black"/>
                </a:solidFill>
                <a:effectLst/>
                <a:uLnTx/>
                <a:uFillTx/>
                <a:latin typeface="Segoe UI"/>
                <a:ea typeface="Segoe UI" pitchFamily="34" charset="0"/>
                <a:cs typeface="Segoe UI" pitchFamily="34" charset="0"/>
              </a:endParaRPr>
            </a:p>
          </p:txBody>
        </p:sp>
      </p:grpSp>
      <p:pic>
        <p:nvPicPr>
          <p:cNvPr id="121" name="Graphic 120">
            <a:extLst>
              <a:ext uri="{FF2B5EF4-FFF2-40B4-BE49-F238E27FC236}">
                <a16:creationId xmlns:a16="http://schemas.microsoft.com/office/drawing/2014/main" id="{AA024656-B7FD-4A76-8A4C-164F922E0620}"/>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58858" y="2654899"/>
            <a:ext cx="410312" cy="357707"/>
          </a:xfrm>
          <a:prstGeom prst="rect">
            <a:avLst/>
          </a:prstGeom>
        </p:spPr>
      </p:pic>
      <p:sp>
        <p:nvSpPr>
          <p:cNvPr id="205" name="Rectangle 204">
            <a:extLst>
              <a:ext uri="{FF2B5EF4-FFF2-40B4-BE49-F238E27FC236}">
                <a16:creationId xmlns:a16="http://schemas.microsoft.com/office/drawing/2014/main" id="{9F773C68-140C-4729-AAA3-D75EC44BCE3D}"/>
              </a:ext>
            </a:extLst>
          </p:cNvPr>
          <p:cNvSpPr/>
          <p:nvPr/>
        </p:nvSpPr>
        <p:spPr bwMode="auto">
          <a:xfrm>
            <a:off x="3489844" y="3106105"/>
            <a:ext cx="2348341" cy="6906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377" tIns="146204" rIns="91377" bIns="146204" numCol="1" spcCol="0" rtlCol="0" fromWordArt="0" anchor="t" anchorCtr="0" forceAA="0" compatLnSpc="1">
            <a:prstTxWarp prst="textNoShape">
              <a:avLst/>
            </a:prstTxWarp>
            <a:noAutofit/>
          </a:bodyPr>
          <a:lstStyle/>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50E6FF"/>
                </a:solidFill>
                <a:effectLst/>
                <a:uLnTx/>
                <a:uFillTx/>
                <a:latin typeface="Segoe UI Semibold"/>
                <a:ea typeface="Segoe UI" pitchFamily="34" charset="0"/>
                <a:cs typeface="Segoe UI" pitchFamily="34" charset="0"/>
              </a:rPr>
              <a:t>Plan</a:t>
            </a:r>
            <a:endParaRPr kumimoji="0" lang="en-US" sz="1400" b="0" i="0" u="none" strike="noStrike" kern="1200" cap="none" spc="0" normalizeH="0" baseline="0" noProof="0" dirty="0">
              <a:ln>
                <a:noFill/>
              </a:ln>
              <a:solidFill>
                <a:srgbClr val="50E6FF"/>
              </a:solidFill>
              <a:effectLst/>
              <a:uLnTx/>
              <a:uFillTx/>
              <a:latin typeface="Segoe UI Semibold"/>
              <a:ea typeface="Segoe UI" pitchFamily="34" charset="0"/>
              <a:cs typeface="Segoe UI" pitchFamily="34" charset="0"/>
            </a:endParaRP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Segoe UI" pitchFamily="34" charset="0"/>
                <a:cs typeface="Segoe UI" pitchFamily="34" charset="0"/>
              </a:rPr>
              <a:t>Discovery and assessment</a:t>
            </a: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mn-ea"/>
                <a:cs typeface="Segoe UI" pitchFamily="34" charset="0"/>
              </a:rPr>
              <a:t>TCO/ Business case</a:t>
            </a: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Segoe UI" pitchFamily="34" charset="0"/>
                <a:cs typeface="Segoe UI" pitchFamily="34" charset="0"/>
              </a:rPr>
              <a:t>Migration plan</a:t>
            </a:r>
            <a:endParaRPr kumimoji="0" lang="en-US" sz="1999" b="0" i="0" u="none" strike="noStrike" kern="1200" cap="none" spc="0" normalizeH="0" baseline="0" noProof="0" dirty="0">
              <a:ln>
                <a:noFill/>
              </a:ln>
              <a:solidFill>
                <a:prstClr val="white"/>
              </a:solidFill>
              <a:effectLst/>
              <a:uLnTx/>
              <a:uFillTx/>
              <a:latin typeface="Segoe UI"/>
              <a:ea typeface="Segoe UI" pitchFamily="34" charset="0"/>
              <a:cs typeface="Segoe UI" pitchFamily="34" charset="0"/>
            </a:endParaRPr>
          </a:p>
        </p:txBody>
      </p:sp>
      <p:pic>
        <p:nvPicPr>
          <p:cNvPr id="120" name="Graphic 119">
            <a:extLst>
              <a:ext uri="{FF2B5EF4-FFF2-40B4-BE49-F238E27FC236}">
                <a16:creationId xmlns:a16="http://schemas.microsoft.com/office/drawing/2014/main" id="{9FB6C93A-7735-4C23-867D-BEEC0AC8A67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09623" y="2635250"/>
            <a:ext cx="397004" cy="397004"/>
          </a:xfrm>
          <a:prstGeom prst="rect">
            <a:avLst/>
          </a:prstGeom>
        </p:spPr>
      </p:pic>
      <p:sp>
        <p:nvSpPr>
          <p:cNvPr id="212" name="Rectangle 211">
            <a:extLst>
              <a:ext uri="{FF2B5EF4-FFF2-40B4-BE49-F238E27FC236}">
                <a16:creationId xmlns:a16="http://schemas.microsoft.com/office/drawing/2014/main" id="{EC9C1FC8-50D8-41A1-995D-18F40B80B6E0}"/>
              </a:ext>
            </a:extLst>
          </p:cNvPr>
          <p:cNvSpPr/>
          <p:nvPr/>
        </p:nvSpPr>
        <p:spPr bwMode="auto">
          <a:xfrm>
            <a:off x="6610242" y="3106101"/>
            <a:ext cx="1995766" cy="6906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377" tIns="146204" rIns="91377" bIns="146204" numCol="1" spcCol="0" rtlCol="0" fromWordArt="0" anchor="t" anchorCtr="0" forceAA="0" compatLnSpc="1">
            <a:prstTxWarp prst="textNoShape">
              <a:avLst/>
            </a:prstTxWarp>
            <a:noAutofit/>
          </a:bodyPr>
          <a:lstStyle/>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50E6FF"/>
                </a:solidFill>
                <a:effectLst/>
                <a:uLnTx/>
                <a:uFillTx/>
                <a:latin typeface="Segoe UI Semibold"/>
                <a:ea typeface="Segoe UI" pitchFamily="34" charset="0"/>
                <a:cs typeface="Segoe UI" pitchFamily="34" charset="0"/>
              </a:rPr>
              <a:t>Ready</a:t>
            </a: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mn-ea"/>
                <a:cs typeface="Segoe UI" pitchFamily="34" charset="0"/>
              </a:rPr>
              <a:t>Technical skilling</a:t>
            </a: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mn-ea"/>
                <a:cs typeface="Segoe UI" pitchFamily="34" charset="0"/>
              </a:rPr>
              <a:t>Landing zone</a:t>
            </a:r>
          </a:p>
        </p:txBody>
      </p:sp>
      <p:pic>
        <p:nvPicPr>
          <p:cNvPr id="119" name="Graphic 118">
            <a:extLst>
              <a:ext uri="{FF2B5EF4-FFF2-40B4-BE49-F238E27FC236}">
                <a16:creationId xmlns:a16="http://schemas.microsoft.com/office/drawing/2014/main" id="{DD2079DD-7276-4563-8655-EDFFD71F18FE}"/>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427251" y="2649577"/>
            <a:ext cx="509188" cy="368348"/>
          </a:xfrm>
          <a:prstGeom prst="rect">
            <a:avLst/>
          </a:prstGeom>
        </p:spPr>
      </p:pic>
      <p:sp>
        <p:nvSpPr>
          <p:cNvPr id="226" name="Rectangle 225">
            <a:extLst>
              <a:ext uri="{FF2B5EF4-FFF2-40B4-BE49-F238E27FC236}">
                <a16:creationId xmlns:a16="http://schemas.microsoft.com/office/drawing/2014/main" id="{775662EB-EAC4-4517-B3C4-D32CE9088246}"/>
              </a:ext>
            </a:extLst>
          </p:cNvPr>
          <p:cNvSpPr/>
          <p:nvPr/>
        </p:nvSpPr>
        <p:spPr bwMode="auto">
          <a:xfrm>
            <a:off x="9684965" y="3163244"/>
            <a:ext cx="1993760" cy="8151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1377" tIns="146204" rIns="91377" bIns="146204" numCol="1" spcCol="0" rtlCol="0" fromWordArt="0" anchor="t" anchorCtr="0" forceAA="0" compatLnSpc="1">
            <a:prstTxWarp prst="textNoShape">
              <a:avLst/>
            </a:prstTxWarp>
            <a:noAutofit/>
          </a:bodyPr>
          <a:lstStyle/>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50E6FF"/>
                </a:solidFill>
                <a:effectLst/>
                <a:uLnTx/>
                <a:uFillTx/>
                <a:latin typeface="Segoe UI Semibold"/>
                <a:ea typeface="Segoe UI" pitchFamily="34" charset="0"/>
                <a:cs typeface="Segoe UI" pitchFamily="34" charset="0"/>
              </a:rPr>
              <a:t>Adopt</a:t>
            </a:r>
          </a:p>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egoe UI"/>
                <a:ea typeface="+mn-ea"/>
                <a:cs typeface="Segoe UI" pitchFamily="34" charset="0"/>
              </a:rPr>
              <a:t>Migration execution</a:t>
            </a:r>
          </a:p>
        </p:txBody>
      </p:sp>
      <p:sp>
        <p:nvSpPr>
          <p:cNvPr id="297" name="TextBox 296">
            <a:extLst>
              <a:ext uri="{FF2B5EF4-FFF2-40B4-BE49-F238E27FC236}">
                <a16:creationId xmlns:a16="http://schemas.microsoft.com/office/drawing/2014/main" id="{44F40008-E04D-4F4E-903E-9DAE944615CE}"/>
              </a:ext>
            </a:extLst>
          </p:cNvPr>
          <p:cNvSpPr txBox="1"/>
          <p:nvPr/>
        </p:nvSpPr>
        <p:spPr>
          <a:xfrm>
            <a:off x="6649743" y="4511110"/>
            <a:ext cx="1784313" cy="276959"/>
          </a:xfrm>
          <a:prstGeom prst="rect">
            <a:avLst/>
          </a:prstGeom>
          <a:solidFill>
            <a:schemeClr val="tx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defTabSz="457112">
              <a:defRPr>
                <a:solidFill>
                  <a:prstClr val="white"/>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02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0E6FF"/>
                </a:solidFill>
                <a:effectLst/>
                <a:uLnTx/>
                <a:uFillTx/>
                <a:latin typeface="Segoe UI Semibold"/>
                <a:ea typeface="+mn-ea"/>
                <a:cs typeface="+mn-cs"/>
              </a:rPr>
              <a:t>MIGRATION WAVES</a:t>
            </a:r>
          </a:p>
        </p:txBody>
      </p:sp>
      <p:sp>
        <p:nvSpPr>
          <p:cNvPr id="232" name="Rectangle 231">
            <a:extLst>
              <a:ext uri="{FF2B5EF4-FFF2-40B4-BE49-F238E27FC236}">
                <a16:creationId xmlns:a16="http://schemas.microsoft.com/office/drawing/2014/main" id="{695B4A42-8AC1-4E6B-B344-275BD267164F}"/>
              </a:ext>
            </a:extLst>
          </p:cNvPr>
          <p:cNvSpPr/>
          <p:nvPr/>
        </p:nvSpPr>
        <p:spPr bwMode="auto">
          <a:xfrm>
            <a:off x="5784549" y="5380471"/>
            <a:ext cx="956821" cy="5494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1377" tIns="146204" rIns="91377" bIns="146204" numCol="1" spcCol="0" rtlCol="0" fromWordArt="0" anchor="t" anchorCtr="0" forceAA="0" compatLnSpc="1">
            <a:prstTxWarp prst="textNoShape">
              <a:avLst/>
            </a:prstTxWarp>
            <a:spAutoFit/>
          </a:bodyPr>
          <a:lstStyle/>
          <a:p>
            <a:pPr marL="0" marR="0" lvl="0" indent="0" algn="ctr" defTabSz="931745" rtl="0" eaLnBrk="1" fontAlgn="base" latinLnBrk="0" hangingPunct="1">
              <a:lnSpc>
                <a:spcPct val="9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50E6FF"/>
                </a:solidFill>
                <a:effectLst/>
                <a:uLnTx/>
                <a:uFillTx/>
                <a:latin typeface="Segoe UI Semibold"/>
                <a:ea typeface="Segoe UI" pitchFamily="34" charset="0"/>
                <a:cs typeface="Segoe UI" pitchFamily="34" charset="0"/>
              </a:rPr>
              <a:t>Govern</a:t>
            </a:r>
            <a:endParaRPr kumimoji="0" lang="en-US" sz="1800" b="0" i="0" u="none" strike="noStrike" kern="1200" cap="none" spc="0" normalizeH="0" baseline="0" noProof="0" dirty="0">
              <a:ln>
                <a:noFill/>
              </a:ln>
              <a:solidFill>
                <a:srgbClr val="50E6FF"/>
              </a:solidFill>
              <a:effectLst/>
              <a:uLnTx/>
              <a:uFillTx/>
              <a:latin typeface="Segoe UI Semibold"/>
              <a:ea typeface="+mn-ea"/>
              <a:cs typeface="Segoe UI" pitchFamily="34" charset="0"/>
            </a:endParaRPr>
          </a:p>
        </p:txBody>
      </p:sp>
      <p:pic>
        <p:nvPicPr>
          <p:cNvPr id="117" name="Graphic 116">
            <a:extLst>
              <a:ext uri="{FF2B5EF4-FFF2-40B4-BE49-F238E27FC236}">
                <a16:creationId xmlns:a16="http://schemas.microsoft.com/office/drawing/2014/main" id="{760E43E4-CAF6-47DB-B8B5-B0042BBB198C}"/>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53439" y="4982917"/>
            <a:ext cx="419041" cy="419036"/>
          </a:xfrm>
          <a:prstGeom prst="rect">
            <a:avLst/>
          </a:prstGeom>
        </p:spPr>
      </p:pic>
      <p:sp>
        <p:nvSpPr>
          <p:cNvPr id="237" name="Rectangle 236">
            <a:extLst>
              <a:ext uri="{FF2B5EF4-FFF2-40B4-BE49-F238E27FC236}">
                <a16:creationId xmlns:a16="http://schemas.microsoft.com/office/drawing/2014/main" id="{9F0D7F91-7B98-4F28-96CA-61858E4F57FD}"/>
              </a:ext>
            </a:extLst>
          </p:cNvPr>
          <p:cNvSpPr/>
          <p:nvPr/>
        </p:nvSpPr>
        <p:spPr bwMode="auto">
          <a:xfrm>
            <a:off x="8627679" y="5380473"/>
            <a:ext cx="1054846" cy="5494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1377" tIns="146204" rIns="91377" bIns="146204" numCol="1" spcCol="0" rtlCol="0" fromWordArt="0" anchor="t" anchorCtr="0" forceAA="0" compatLnSpc="1">
            <a:prstTxWarp prst="textNoShape">
              <a:avLst/>
            </a:prstTxWarp>
            <a:spAutoFit/>
          </a:bodyPr>
          <a:lstStyle/>
          <a:p>
            <a:pPr marL="0" marR="0" lvl="0" indent="0" algn="l" defTabSz="931745" rtl="0" eaLnBrk="1" fontAlgn="base" latinLnBrk="0" hangingPunct="1">
              <a:lnSpc>
                <a:spcPct val="90000"/>
              </a:lnSpc>
              <a:spcBef>
                <a:spcPct val="0"/>
              </a:spcBef>
              <a:spcAft>
                <a:spcPts val="600"/>
              </a:spcAft>
              <a:buClrTx/>
              <a:buSzTx/>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Segoe UI" pitchFamily="34" charset="0"/>
                <a:cs typeface="Segoe UI" pitchFamily="34" charset="0"/>
              </a:rPr>
              <a:t>Manage</a:t>
            </a:r>
            <a:endParaRPr kumimoji="0" lang="en-US" sz="1800" b="0" i="0" u="none" strike="noStrike" kern="1200" cap="none" spc="0" normalizeH="0" baseline="0" noProof="0">
              <a:ln>
                <a:noFill/>
              </a:ln>
              <a:solidFill>
                <a:srgbClr val="50E6FF"/>
              </a:solidFill>
              <a:effectLst/>
              <a:uLnTx/>
              <a:uFillTx/>
              <a:latin typeface="Segoe UI Semibold"/>
              <a:ea typeface="+mn-ea"/>
              <a:cs typeface="Segoe UI" pitchFamily="34" charset="0"/>
            </a:endParaRPr>
          </a:p>
        </p:txBody>
      </p:sp>
      <p:pic>
        <p:nvPicPr>
          <p:cNvPr id="118" name="Graphic 117">
            <a:extLst>
              <a:ext uri="{FF2B5EF4-FFF2-40B4-BE49-F238E27FC236}">
                <a16:creationId xmlns:a16="http://schemas.microsoft.com/office/drawing/2014/main" id="{E7D068E6-691B-4FE1-989E-49A716CEE823}"/>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955012" y="5001962"/>
            <a:ext cx="380946" cy="380946"/>
          </a:xfrm>
          <a:prstGeom prst="rect">
            <a:avLst/>
          </a:prstGeom>
        </p:spPr>
      </p:pic>
    </p:spTree>
    <p:extLst>
      <p:ext uri="{BB962C8B-B14F-4D97-AF65-F5344CB8AC3E}">
        <p14:creationId xmlns:p14="http://schemas.microsoft.com/office/powerpoint/2010/main" val="398984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2"/>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1" nodeType="afterEffect">
                                  <p:stCondLst>
                                    <p:cond delay="0"/>
                                  </p:stCondLst>
                                  <p:childTnLst>
                                    <p:animMotion origin="layout" path="M -0.01367 -0.00046 L 1.875E-6 -1.85185E-6 " pathEditMode="relative" rAng="0" ptsTypes="AA">
                                      <p:cBhvr>
                                        <p:cTn id="9" dur="750" fill="hold"/>
                                        <p:tgtEl>
                                          <p:spTgt spid="112"/>
                                        </p:tgtEl>
                                        <p:attrNameLst>
                                          <p:attrName>ppt_x</p:attrName>
                                          <p:attrName>ppt_y</p:attrName>
                                        </p:attrNameLst>
                                      </p:cBhvr>
                                      <p:rCtr x="67700" y="2300"/>
                                    </p:animMotion>
                                  </p:childTnLst>
                                </p:cTn>
                              </p:par>
                            </p:childTnLst>
                          </p:cTn>
                        </p:par>
                        <p:par>
                          <p:cTn id="10" fill="hold">
                            <p:stCondLst>
                              <p:cond delay="750"/>
                            </p:stCondLst>
                            <p:childTnLst>
                              <p:par>
                                <p:cTn id="11" presetID="1" presetClass="entr" presetSubtype="0" fill="hold" grpId="0" nodeType="afterEffect">
                                  <p:stCondLst>
                                    <p:cond delay="0"/>
                                  </p:stCondLst>
                                  <p:childTnLst>
                                    <p:set>
                                      <p:cBhvr>
                                        <p:cTn id="12" dur="1" fill="hold">
                                          <p:stCondLst>
                                            <p:cond delay="0"/>
                                          </p:stCondLst>
                                        </p:cTn>
                                        <p:tgtEl>
                                          <p:spTgt spid="115"/>
                                        </p:tgtEl>
                                        <p:attrNameLst>
                                          <p:attrName>style.visibility</p:attrName>
                                        </p:attrNameLst>
                                      </p:cBhvr>
                                      <p:to>
                                        <p:strVal val="visible"/>
                                      </p:to>
                                    </p:set>
                                  </p:childTnLst>
                                </p:cTn>
                              </p:par>
                            </p:childTnLst>
                          </p:cTn>
                        </p:par>
                        <p:par>
                          <p:cTn id="13" fill="hold">
                            <p:stCondLst>
                              <p:cond delay="750"/>
                            </p:stCondLst>
                            <p:childTnLst>
                              <p:par>
                                <p:cTn id="14" presetID="63" presetClass="path" presetSubtype="0" accel="50000" decel="50000" fill="hold" grpId="1" nodeType="afterEffect">
                                  <p:stCondLst>
                                    <p:cond delay="0"/>
                                  </p:stCondLst>
                                  <p:childTnLst>
                                    <p:animMotion origin="layout" path="M -0.01367 -0.00046 L -4.375E-6 -1.85185E-6 " pathEditMode="relative" rAng="0" ptsTypes="AA">
                                      <p:cBhvr>
                                        <p:cTn id="15" dur="750" fill="hold"/>
                                        <p:tgtEl>
                                          <p:spTgt spid="115"/>
                                        </p:tgtEl>
                                        <p:attrNameLst>
                                          <p:attrName>ppt_x</p:attrName>
                                          <p:attrName>ppt_y</p:attrName>
                                        </p:attrNameLst>
                                      </p:cBhvr>
                                      <p:rCtr x="67700" y="2300"/>
                                    </p:animMotion>
                                  </p:childTnLst>
                                </p:cTn>
                              </p:par>
                            </p:childTnLst>
                          </p:cTn>
                        </p:par>
                        <p:par>
                          <p:cTn id="16" fill="hold">
                            <p:stCondLst>
                              <p:cond delay="1500"/>
                            </p:stCondLst>
                            <p:childTnLst>
                              <p:par>
                                <p:cTn id="17" presetID="1" presetClass="entr" presetSubtype="0" fill="hold" grpId="0" nodeType="afterEffect">
                                  <p:stCondLst>
                                    <p:cond delay="0"/>
                                  </p:stCondLst>
                                  <p:childTnLst>
                                    <p:set>
                                      <p:cBhvr>
                                        <p:cTn id="18" dur="1" fill="hold">
                                          <p:stCondLst>
                                            <p:cond delay="0"/>
                                          </p:stCondLst>
                                        </p:cTn>
                                        <p:tgtEl>
                                          <p:spTgt spid="116"/>
                                        </p:tgtEl>
                                        <p:attrNameLst>
                                          <p:attrName>style.visibility</p:attrName>
                                        </p:attrNameLst>
                                      </p:cBhvr>
                                      <p:to>
                                        <p:strVal val="visible"/>
                                      </p:to>
                                    </p:set>
                                  </p:childTnLst>
                                </p:cTn>
                              </p:par>
                            </p:childTnLst>
                          </p:cTn>
                        </p:par>
                        <p:par>
                          <p:cTn id="19" fill="hold">
                            <p:stCondLst>
                              <p:cond delay="1500"/>
                            </p:stCondLst>
                            <p:childTnLst>
                              <p:par>
                                <p:cTn id="20" presetID="63" presetClass="path" presetSubtype="0" accel="50000" decel="50000" fill="hold" grpId="1" nodeType="afterEffect">
                                  <p:stCondLst>
                                    <p:cond delay="0"/>
                                  </p:stCondLst>
                                  <p:childTnLst>
                                    <p:animMotion origin="layout" path="M -0.01368 -0.00046 L 4.375E-6 -1.85185E-6 " pathEditMode="relative" rAng="0" ptsTypes="AA">
                                      <p:cBhvr>
                                        <p:cTn id="21" dur="750" fill="hold"/>
                                        <p:tgtEl>
                                          <p:spTgt spid="116"/>
                                        </p:tgtEl>
                                        <p:attrNameLst>
                                          <p:attrName>ppt_x</p:attrName>
                                          <p:attrName>ppt_y</p:attrName>
                                        </p:attrNameLst>
                                      </p:cBhvr>
                                      <p:rCtr x="67700" y="2300"/>
                                    </p:animMotion>
                                  </p:childTnLst>
                                </p:cTn>
                              </p:par>
                              <p:par>
                                <p:cTn id="22" presetID="10" presetClass="entr" presetSubtype="0" fill="hold" grpId="0" nodeType="withEffect">
                                  <p:stCondLst>
                                    <p:cond delay="500"/>
                                  </p:stCondLst>
                                  <p:childTnLst>
                                    <p:set>
                                      <p:cBhvr>
                                        <p:cTn id="23" dur="1" fill="hold">
                                          <p:stCondLst>
                                            <p:cond delay="0"/>
                                          </p:stCondLst>
                                        </p:cTn>
                                        <p:tgtEl>
                                          <p:spTgt spid="297"/>
                                        </p:tgtEl>
                                        <p:attrNameLst>
                                          <p:attrName>style.visibility</p:attrName>
                                        </p:attrNameLst>
                                      </p:cBhvr>
                                      <p:to>
                                        <p:strVal val="visible"/>
                                      </p:to>
                                    </p:set>
                                    <p:animEffect transition="in" filter="fade">
                                      <p:cBhvr>
                                        <p:cTn id="24" dur="5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12" grpId="1" animBg="1"/>
      <p:bldP spid="115" grpId="0" animBg="1"/>
      <p:bldP spid="115" grpId="1" animBg="1"/>
      <p:bldP spid="116" grpId="0" animBg="1"/>
      <p:bldP spid="116" grpId="1" animBg="1"/>
      <p:bldP spid="29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553998"/>
          </a:xfrm>
        </p:spPr>
        <p:txBody>
          <a:bodyPr/>
          <a:lstStyle/>
          <a:p>
            <a:r>
              <a:rPr lang="en-US"/>
              <a:t>Start your migration journey today</a:t>
            </a:r>
          </a:p>
        </p:txBody>
      </p:sp>
      <p:grpSp>
        <p:nvGrpSpPr>
          <p:cNvPr id="45" name="Group 308" descr="file and magnifying glass">
            <a:extLst>
              <a:ext uri="{FF2B5EF4-FFF2-40B4-BE49-F238E27FC236}">
                <a16:creationId xmlns:a16="http://schemas.microsoft.com/office/drawing/2014/main" id="{6B4D5051-7174-48CF-B7D1-6DB1213DC812}"/>
              </a:ext>
            </a:extLst>
          </p:cNvPr>
          <p:cNvGrpSpPr>
            <a:grpSpLocks noChangeAspect="1"/>
          </p:cNvGrpSpPr>
          <p:nvPr/>
        </p:nvGrpSpPr>
        <p:grpSpPr bwMode="auto">
          <a:xfrm>
            <a:off x="588263" y="2034574"/>
            <a:ext cx="606356" cy="603912"/>
            <a:chOff x="6763" y="3372"/>
            <a:chExt cx="248" cy="247"/>
          </a:xfrm>
          <a:solidFill>
            <a:schemeClr val="accent1"/>
          </a:solidFill>
        </p:grpSpPr>
        <p:sp>
          <p:nvSpPr>
            <p:cNvPr id="46" name="Freeform 309">
              <a:extLst>
                <a:ext uri="{FF2B5EF4-FFF2-40B4-BE49-F238E27FC236}">
                  <a16:creationId xmlns:a16="http://schemas.microsoft.com/office/drawing/2014/main" id="{2D7519B7-3455-4C36-9126-343ACBE40156}"/>
                </a:ext>
              </a:extLst>
            </p:cNvPr>
            <p:cNvSpPr>
              <a:spLocks/>
            </p:cNvSpPr>
            <p:nvPr/>
          </p:nvSpPr>
          <p:spPr bwMode="auto">
            <a:xfrm>
              <a:off x="6796" y="3404"/>
              <a:ext cx="166" cy="116"/>
            </a:xfrm>
            <a:custGeom>
              <a:avLst/>
              <a:gdLst>
                <a:gd name="T0" fmla="*/ 163 w 267"/>
                <a:gd name="T1" fmla="*/ 187 h 187"/>
                <a:gd name="T2" fmla="*/ 163 w 267"/>
                <a:gd name="T3" fmla="*/ 187 h 187"/>
                <a:gd name="T4" fmla="*/ 267 w 267"/>
                <a:gd name="T5" fmla="*/ 84 h 187"/>
                <a:gd name="T6" fmla="*/ 267 w 267"/>
                <a:gd name="T7" fmla="*/ 84 h 187"/>
                <a:gd name="T8" fmla="*/ 267 w 267"/>
                <a:gd name="T9" fmla="*/ 0 h 187"/>
                <a:gd name="T10" fmla="*/ 0 w 267"/>
                <a:gd name="T11" fmla="*/ 0 h 187"/>
                <a:gd name="T12" fmla="*/ 0 w 267"/>
                <a:gd name="T13" fmla="*/ 187 h 187"/>
                <a:gd name="T14" fmla="*/ 163 w 267"/>
                <a:gd name="T15" fmla="*/ 187 h 187"/>
                <a:gd name="T16" fmla="*/ 163 w 267"/>
                <a:gd name="T17"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187">
                  <a:moveTo>
                    <a:pt x="163" y="187"/>
                  </a:moveTo>
                  <a:lnTo>
                    <a:pt x="163" y="187"/>
                  </a:lnTo>
                  <a:cubicBezTo>
                    <a:pt x="163" y="130"/>
                    <a:pt x="210" y="83"/>
                    <a:pt x="267" y="84"/>
                  </a:cubicBezTo>
                  <a:lnTo>
                    <a:pt x="267" y="84"/>
                  </a:lnTo>
                  <a:lnTo>
                    <a:pt x="267" y="0"/>
                  </a:lnTo>
                  <a:lnTo>
                    <a:pt x="0" y="0"/>
                  </a:lnTo>
                  <a:lnTo>
                    <a:pt x="0" y="187"/>
                  </a:lnTo>
                  <a:lnTo>
                    <a:pt x="163" y="187"/>
                  </a:lnTo>
                  <a:lnTo>
                    <a:pt x="163" y="18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7" name="Freeform 310">
              <a:extLst>
                <a:ext uri="{FF2B5EF4-FFF2-40B4-BE49-F238E27FC236}">
                  <a16:creationId xmlns:a16="http://schemas.microsoft.com/office/drawing/2014/main" id="{F5F2BAA3-C133-4F89-84B1-7381A579C4B5}"/>
                </a:ext>
              </a:extLst>
            </p:cNvPr>
            <p:cNvSpPr>
              <a:spLocks/>
            </p:cNvSpPr>
            <p:nvPr/>
          </p:nvSpPr>
          <p:spPr bwMode="auto">
            <a:xfrm>
              <a:off x="6763" y="3372"/>
              <a:ext cx="166" cy="115"/>
            </a:xfrm>
            <a:custGeom>
              <a:avLst/>
              <a:gdLst>
                <a:gd name="T0" fmla="*/ 267 w 267"/>
                <a:gd name="T1" fmla="*/ 0 h 185"/>
                <a:gd name="T2" fmla="*/ 267 w 267"/>
                <a:gd name="T3" fmla="*/ 0 h 185"/>
                <a:gd name="T4" fmla="*/ 1 w 267"/>
                <a:gd name="T5" fmla="*/ 0 h 185"/>
                <a:gd name="T6" fmla="*/ 0 w 267"/>
                <a:gd name="T7" fmla="*/ 185 h 185"/>
                <a:gd name="T8" fmla="*/ 27 w 267"/>
                <a:gd name="T9" fmla="*/ 185 h 185"/>
                <a:gd name="T10" fmla="*/ 27 w 267"/>
                <a:gd name="T11" fmla="*/ 27 h 185"/>
                <a:gd name="T12" fmla="*/ 267 w 267"/>
                <a:gd name="T13" fmla="*/ 27 h 185"/>
                <a:gd name="T14" fmla="*/ 267 w 267"/>
                <a:gd name="T15" fmla="*/ 0 h 1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85">
                  <a:moveTo>
                    <a:pt x="267" y="0"/>
                  </a:moveTo>
                  <a:lnTo>
                    <a:pt x="267" y="0"/>
                  </a:lnTo>
                  <a:lnTo>
                    <a:pt x="1" y="0"/>
                  </a:lnTo>
                  <a:lnTo>
                    <a:pt x="0" y="185"/>
                  </a:lnTo>
                  <a:lnTo>
                    <a:pt x="27" y="185"/>
                  </a:lnTo>
                  <a:lnTo>
                    <a:pt x="27" y="27"/>
                  </a:lnTo>
                  <a:lnTo>
                    <a:pt x="267" y="27"/>
                  </a:lnTo>
                  <a:lnTo>
                    <a:pt x="267"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48" name="Freeform 311">
              <a:extLst>
                <a:ext uri="{FF2B5EF4-FFF2-40B4-BE49-F238E27FC236}">
                  <a16:creationId xmlns:a16="http://schemas.microsoft.com/office/drawing/2014/main" id="{0E3D5284-5B85-4BC3-908F-8CEC0642AE32}"/>
                </a:ext>
              </a:extLst>
            </p:cNvPr>
            <p:cNvSpPr>
              <a:spLocks noEditPoints="1"/>
            </p:cNvSpPr>
            <p:nvPr/>
          </p:nvSpPr>
          <p:spPr bwMode="auto">
            <a:xfrm>
              <a:off x="6862" y="3471"/>
              <a:ext cx="149" cy="148"/>
            </a:xfrm>
            <a:custGeom>
              <a:avLst/>
              <a:gdLst>
                <a:gd name="T0" fmla="*/ 160 w 239"/>
                <a:gd name="T1" fmla="*/ 132 h 239"/>
                <a:gd name="T2" fmla="*/ 160 w 239"/>
                <a:gd name="T3" fmla="*/ 132 h 239"/>
                <a:gd name="T4" fmla="*/ 129 w 239"/>
                <a:gd name="T5" fmla="*/ 122 h 239"/>
                <a:gd name="T6" fmla="*/ 119 w 239"/>
                <a:gd name="T7" fmla="*/ 112 h 239"/>
                <a:gd name="T8" fmla="*/ 107 w 239"/>
                <a:gd name="T9" fmla="*/ 79 h 239"/>
                <a:gd name="T10" fmla="*/ 107 w 239"/>
                <a:gd name="T11" fmla="*/ 79 h 239"/>
                <a:gd name="T12" fmla="*/ 160 w 239"/>
                <a:gd name="T13" fmla="*/ 26 h 239"/>
                <a:gd name="T14" fmla="*/ 160 w 239"/>
                <a:gd name="T15" fmla="*/ 26 h 239"/>
                <a:gd name="T16" fmla="*/ 213 w 239"/>
                <a:gd name="T17" fmla="*/ 79 h 239"/>
                <a:gd name="T18" fmla="*/ 160 w 239"/>
                <a:gd name="T19" fmla="*/ 132 h 239"/>
                <a:gd name="T20" fmla="*/ 160 w 239"/>
                <a:gd name="T21" fmla="*/ 0 h 239"/>
                <a:gd name="T22" fmla="*/ 160 w 239"/>
                <a:gd name="T23" fmla="*/ 0 h 239"/>
                <a:gd name="T24" fmla="*/ 160 w 239"/>
                <a:gd name="T25" fmla="*/ 0 h 239"/>
                <a:gd name="T26" fmla="*/ 80 w 239"/>
                <a:gd name="T27" fmla="*/ 79 h 239"/>
                <a:gd name="T28" fmla="*/ 94 w 239"/>
                <a:gd name="T29" fmla="*/ 125 h 239"/>
                <a:gd name="T30" fmla="*/ 77 w 239"/>
                <a:gd name="T31" fmla="*/ 142 h 239"/>
                <a:gd name="T32" fmla="*/ 4 w 239"/>
                <a:gd name="T33" fmla="*/ 216 h 239"/>
                <a:gd name="T34" fmla="*/ 0 w 239"/>
                <a:gd name="T35" fmla="*/ 226 h 239"/>
                <a:gd name="T36" fmla="*/ 4 w 239"/>
                <a:gd name="T37" fmla="*/ 235 h 239"/>
                <a:gd name="T38" fmla="*/ 13 w 239"/>
                <a:gd name="T39" fmla="*/ 239 h 239"/>
                <a:gd name="T40" fmla="*/ 23 w 239"/>
                <a:gd name="T41" fmla="*/ 235 h 239"/>
                <a:gd name="T42" fmla="*/ 96 w 239"/>
                <a:gd name="T43" fmla="*/ 161 h 239"/>
                <a:gd name="T44" fmla="*/ 113 w 239"/>
                <a:gd name="T45" fmla="*/ 144 h 239"/>
                <a:gd name="T46" fmla="*/ 160 w 239"/>
                <a:gd name="T47" fmla="*/ 159 h 239"/>
                <a:gd name="T48" fmla="*/ 239 w 239"/>
                <a:gd name="T49" fmla="*/ 79 h 239"/>
                <a:gd name="T50" fmla="*/ 160 w 239"/>
                <a:gd name="T51"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9" h="239">
                  <a:moveTo>
                    <a:pt x="160" y="132"/>
                  </a:moveTo>
                  <a:lnTo>
                    <a:pt x="160" y="132"/>
                  </a:lnTo>
                  <a:cubicBezTo>
                    <a:pt x="148" y="132"/>
                    <a:pt x="137" y="128"/>
                    <a:pt x="129" y="122"/>
                  </a:cubicBezTo>
                  <a:cubicBezTo>
                    <a:pt x="125" y="119"/>
                    <a:pt x="122" y="115"/>
                    <a:pt x="119" y="112"/>
                  </a:cubicBezTo>
                  <a:cubicBezTo>
                    <a:pt x="111" y="103"/>
                    <a:pt x="107" y="91"/>
                    <a:pt x="107" y="79"/>
                  </a:cubicBezTo>
                  <a:lnTo>
                    <a:pt x="107" y="79"/>
                  </a:lnTo>
                  <a:cubicBezTo>
                    <a:pt x="107" y="50"/>
                    <a:pt x="131" y="26"/>
                    <a:pt x="160" y="26"/>
                  </a:cubicBezTo>
                  <a:lnTo>
                    <a:pt x="160" y="26"/>
                  </a:lnTo>
                  <a:cubicBezTo>
                    <a:pt x="189" y="26"/>
                    <a:pt x="213" y="50"/>
                    <a:pt x="213" y="79"/>
                  </a:cubicBezTo>
                  <a:cubicBezTo>
                    <a:pt x="212" y="108"/>
                    <a:pt x="189" y="132"/>
                    <a:pt x="160" y="132"/>
                  </a:cubicBezTo>
                  <a:close/>
                  <a:moveTo>
                    <a:pt x="160" y="0"/>
                  </a:moveTo>
                  <a:lnTo>
                    <a:pt x="160" y="0"/>
                  </a:lnTo>
                  <a:lnTo>
                    <a:pt x="160" y="0"/>
                  </a:lnTo>
                  <a:cubicBezTo>
                    <a:pt x="116" y="0"/>
                    <a:pt x="80" y="35"/>
                    <a:pt x="80" y="79"/>
                  </a:cubicBezTo>
                  <a:cubicBezTo>
                    <a:pt x="80" y="96"/>
                    <a:pt x="85" y="112"/>
                    <a:pt x="94" y="125"/>
                  </a:cubicBezTo>
                  <a:lnTo>
                    <a:pt x="77" y="142"/>
                  </a:lnTo>
                  <a:lnTo>
                    <a:pt x="4" y="216"/>
                  </a:lnTo>
                  <a:cubicBezTo>
                    <a:pt x="1" y="219"/>
                    <a:pt x="0" y="222"/>
                    <a:pt x="0" y="226"/>
                  </a:cubicBezTo>
                  <a:cubicBezTo>
                    <a:pt x="0" y="229"/>
                    <a:pt x="1" y="232"/>
                    <a:pt x="4" y="235"/>
                  </a:cubicBezTo>
                  <a:cubicBezTo>
                    <a:pt x="6" y="238"/>
                    <a:pt x="10" y="239"/>
                    <a:pt x="13" y="239"/>
                  </a:cubicBezTo>
                  <a:cubicBezTo>
                    <a:pt x="17" y="239"/>
                    <a:pt x="20" y="238"/>
                    <a:pt x="23" y="235"/>
                  </a:cubicBezTo>
                  <a:lnTo>
                    <a:pt x="96" y="161"/>
                  </a:lnTo>
                  <a:lnTo>
                    <a:pt x="113" y="144"/>
                  </a:lnTo>
                  <a:cubicBezTo>
                    <a:pt x="126" y="153"/>
                    <a:pt x="142" y="159"/>
                    <a:pt x="160" y="159"/>
                  </a:cubicBezTo>
                  <a:cubicBezTo>
                    <a:pt x="203" y="159"/>
                    <a:pt x="239" y="123"/>
                    <a:pt x="239" y="79"/>
                  </a:cubicBezTo>
                  <a:cubicBezTo>
                    <a:pt x="239" y="35"/>
                    <a:pt x="204" y="0"/>
                    <a:pt x="160" y="0"/>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22" name="TextBox 21">
            <a:extLst>
              <a:ext uri="{FF2B5EF4-FFF2-40B4-BE49-F238E27FC236}">
                <a16:creationId xmlns:a16="http://schemas.microsoft.com/office/drawing/2014/main" id="{F6B8DAF6-B921-42DA-9F82-A81777A8A627}"/>
              </a:ext>
            </a:extLst>
          </p:cNvPr>
          <p:cNvSpPr txBox="1"/>
          <p:nvPr/>
        </p:nvSpPr>
        <p:spPr>
          <a:xfrm>
            <a:off x="588263" y="2884025"/>
            <a:ext cx="811161"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bold"/>
                <a:ea typeface="+mn-ea"/>
                <a:cs typeface="+mn-cs"/>
              </a:rPr>
              <a:t>Assess</a:t>
            </a:r>
          </a:p>
        </p:txBody>
      </p:sp>
      <p:sp>
        <p:nvSpPr>
          <p:cNvPr id="41" name="TextBox 40">
            <a:extLst>
              <a:ext uri="{FF2B5EF4-FFF2-40B4-BE49-F238E27FC236}">
                <a16:creationId xmlns:a16="http://schemas.microsoft.com/office/drawing/2014/main" id="{86B7AC07-1C9E-4F9A-82DB-13B34A9EA679}"/>
              </a:ext>
            </a:extLst>
          </p:cNvPr>
          <p:cNvSpPr txBox="1"/>
          <p:nvPr/>
        </p:nvSpPr>
        <p:spPr>
          <a:xfrm>
            <a:off x="588263" y="3469041"/>
            <a:ext cx="2106272" cy="8617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t>Discover, assess and estimate cost to run SQL Server in Azure with </a:t>
            </a:r>
            <a:r>
              <a:rPr kumimoji="0" lang="en-US" sz="1400" b="0" i="0" u="none" strike="noStrike" kern="1200" cap="none" spc="0" normalizeH="0" baseline="0" noProof="0">
                <a:ln>
                  <a:noFill/>
                </a:ln>
                <a:solidFill>
                  <a:srgbClr val="50E6FF"/>
                </a:solidFill>
                <a:effectLst/>
                <a:uLnTx/>
                <a:uFillTx/>
                <a:latin typeface="Segoe UI"/>
                <a:ea typeface="+mn-ea"/>
                <a:cs typeface="+mn-cs"/>
                <a:hlinkClick r:id="rId3">
                  <a:extLst>
                    <a:ext uri="{A12FA001-AC4F-418D-AE19-62706E023703}">
                      <ahyp:hlinkClr xmlns:ahyp="http://schemas.microsoft.com/office/drawing/2018/hyperlinkcolor" val="tx"/>
                    </a:ext>
                  </a:extLst>
                </a:hlinkClick>
              </a:rPr>
              <a:t>Azure Migrate</a:t>
            </a:r>
            <a:endParaRPr kumimoji="0" lang="en-US" sz="1400" b="0" i="0" u="none" strike="noStrike" kern="1200" cap="none" spc="0" normalizeH="0" baseline="0" noProof="0">
              <a:ln>
                <a:noFill/>
              </a:ln>
              <a:solidFill>
                <a:srgbClr val="50E6FF"/>
              </a:solidFill>
              <a:effectLst/>
              <a:uLnTx/>
              <a:uFillTx/>
              <a:latin typeface="Segoe UI"/>
              <a:ea typeface="+mn-ea"/>
              <a:cs typeface="+mn-cs"/>
            </a:endParaRPr>
          </a:p>
        </p:txBody>
      </p:sp>
      <p:grpSp>
        <p:nvGrpSpPr>
          <p:cNvPr id="30" name="Group 120" descr="compass">
            <a:extLst>
              <a:ext uri="{FF2B5EF4-FFF2-40B4-BE49-F238E27FC236}">
                <a16:creationId xmlns:a16="http://schemas.microsoft.com/office/drawing/2014/main" id="{8DB1B2F8-AADD-4951-AB9A-51F225FE7C1D}"/>
              </a:ext>
            </a:extLst>
          </p:cNvPr>
          <p:cNvGrpSpPr>
            <a:grpSpLocks noChangeAspect="1"/>
          </p:cNvGrpSpPr>
          <p:nvPr/>
        </p:nvGrpSpPr>
        <p:grpSpPr bwMode="auto">
          <a:xfrm>
            <a:off x="3424987" y="2034574"/>
            <a:ext cx="527063" cy="527063"/>
            <a:chOff x="1553" y="2740"/>
            <a:chExt cx="229" cy="229"/>
          </a:xfrm>
        </p:grpSpPr>
        <p:sp>
          <p:nvSpPr>
            <p:cNvPr id="31" name="Freeform 121">
              <a:extLst>
                <a:ext uri="{FF2B5EF4-FFF2-40B4-BE49-F238E27FC236}">
                  <a16:creationId xmlns:a16="http://schemas.microsoft.com/office/drawing/2014/main" id="{F46E21FF-C709-43F0-9FDC-D7B48D8826F6}"/>
                </a:ext>
              </a:extLst>
            </p:cNvPr>
            <p:cNvSpPr>
              <a:spLocks/>
            </p:cNvSpPr>
            <p:nvPr/>
          </p:nvSpPr>
          <p:spPr bwMode="auto">
            <a:xfrm>
              <a:off x="1553" y="2777"/>
              <a:ext cx="193" cy="192"/>
            </a:xfrm>
            <a:custGeom>
              <a:avLst/>
              <a:gdLst>
                <a:gd name="T0" fmla="*/ 144 w 310"/>
                <a:gd name="T1" fmla="*/ 178 h 310"/>
                <a:gd name="T2" fmla="*/ 144 w 310"/>
                <a:gd name="T3" fmla="*/ 178 h 310"/>
                <a:gd name="T4" fmla="*/ 136 w 310"/>
                <a:gd name="T5" fmla="*/ 174 h 310"/>
                <a:gd name="T6" fmla="*/ 132 w 310"/>
                <a:gd name="T7" fmla="*/ 166 h 310"/>
                <a:gd name="T8" fmla="*/ 74 w 310"/>
                <a:gd name="T9" fmla="*/ 50 h 310"/>
                <a:gd name="T10" fmla="*/ 49 w 310"/>
                <a:gd name="T11" fmla="*/ 0 h 310"/>
                <a:gd name="T12" fmla="*/ 28 w 310"/>
                <a:gd name="T13" fmla="*/ 28 h 310"/>
                <a:gd name="T14" fmla="*/ 9 w 310"/>
                <a:gd name="T15" fmla="*/ 67 h 310"/>
                <a:gd name="T16" fmla="*/ 0 w 310"/>
                <a:gd name="T17" fmla="*/ 111 h 310"/>
                <a:gd name="T18" fmla="*/ 28 w 310"/>
                <a:gd name="T19" fmla="*/ 111 h 310"/>
                <a:gd name="T20" fmla="*/ 28 w 310"/>
                <a:gd name="T21" fmla="*/ 139 h 310"/>
                <a:gd name="T22" fmla="*/ 0 w 310"/>
                <a:gd name="T23" fmla="*/ 139 h 310"/>
                <a:gd name="T24" fmla="*/ 9 w 310"/>
                <a:gd name="T25" fmla="*/ 183 h 310"/>
                <a:gd name="T26" fmla="*/ 28 w 310"/>
                <a:gd name="T27" fmla="*/ 222 h 310"/>
                <a:gd name="T28" fmla="*/ 54 w 310"/>
                <a:gd name="T29" fmla="*/ 256 h 310"/>
                <a:gd name="T30" fmla="*/ 88 w 310"/>
                <a:gd name="T31" fmla="*/ 283 h 310"/>
                <a:gd name="T32" fmla="*/ 127 w 310"/>
                <a:gd name="T33" fmla="*/ 301 h 310"/>
                <a:gd name="T34" fmla="*/ 171 w 310"/>
                <a:gd name="T35" fmla="*/ 310 h 310"/>
                <a:gd name="T36" fmla="*/ 171 w 310"/>
                <a:gd name="T37" fmla="*/ 282 h 310"/>
                <a:gd name="T38" fmla="*/ 199 w 310"/>
                <a:gd name="T39" fmla="*/ 282 h 310"/>
                <a:gd name="T40" fmla="*/ 199 w 310"/>
                <a:gd name="T41" fmla="*/ 310 h 310"/>
                <a:gd name="T42" fmla="*/ 243 w 310"/>
                <a:gd name="T43" fmla="*/ 301 h 310"/>
                <a:gd name="T44" fmla="*/ 282 w 310"/>
                <a:gd name="T45" fmla="*/ 283 h 310"/>
                <a:gd name="T46" fmla="*/ 310 w 310"/>
                <a:gd name="T47" fmla="*/ 261 h 310"/>
                <a:gd name="T48" fmla="*/ 260 w 310"/>
                <a:gd name="T49" fmla="*/ 236 h 310"/>
                <a:gd name="T50" fmla="*/ 144 w 310"/>
                <a:gd name="T51" fmla="*/ 178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10" h="310">
                  <a:moveTo>
                    <a:pt x="144" y="178"/>
                  </a:moveTo>
                  <a:lnTo>
                    <a:pt x="144" y="178"/>
                  </a:lnTo>
                  <a:lnTo>
                    <a:pt x="136" y="174"/>
                  </a:lnTo>
                  <a:lnTo>
                    <a:pt x="132" y="166"/>
                  </a:lnTo>
                  <a:lnTo>
                    <a:pt x="74" y="50"/>
                  </a:lnTo>
                  <a:lnTo>
                    <a:pt x="49" y="0"/>
                  </a:lnTo>
                  <a:cubicBezTo>
                    <a:pt x="41" y="9"/>
                    <a:pt x="34" y="18"/>
                    <a:pt x="28" y="28"/>
                  </a:cubicBezTo>
                  <a:cubicBezTo>
                    <a:pt x="20" y="40"/>
                    <a:pt x="14" y="53"/>
                    <a:pt x="9" y="67"/>
                  </a:cubicBezTo>
                  <a:cubicBezTo>
                    <a:pt x="5" y="81"/>
                    <a:pt x="2" y="96"/>
                    <a:pt x="0" y="111"/>
                  </a:cubicBezTo>
                  <a:lnTo>
                    <a:pt x="28" y="111"/>
                  </a:lnTo>
                  <a:lnTo>
                    <a:pt x="28" y="139"/>
                  </a:lnTo>
                  <a:lnTo>
                    <a:pt x="0" y="139"/>
                  </a:lnTo>
                  <a:cubicBezTo>
                    <a:pt x="2" y="154"/>
                    <a:pt x="5" y="169"/>
                    <a:pt x="9" y="183"/>
                  </a:cubicBezTo>
                  <a:cubicBezTo>
                    <a:pt x="14" y="197"/>
                    <a:pt x="20" y="210"/>
                    <a:pt x="28" y="222"/>
                  </a:cubicBezTo>
                  <a:cubicBezTo>
                    <a:pt x="35" y="234"/>
                    <a:pt x="44" y="246"/>
                    <a:pt x="54" y="256"/>
                  </a:cubicBezTo>
                  <a:cubicBezTo>
                    <a:pt x="64" y="266"/>
                    <a:pt x="76" y="275"/>
                    <a:pt x="88" y="283"/>
                  </a:cubicBezTo>
                  <a:cubicBezTo>
                    <a:pt x="100" y="290"/>
                    <a:pt x="113" y="296"/>
                    <a:pt x="127" y="301"/>
                  </a:cubicBezTo>
                  <a:cubicBezTo>
                    <a:pt x="141" y="305"/>
                    <a:pt x="155" y="308"/>
                    <a:pt x="171" y="310"/>
                  </a:cubicBezTo>
                  <a:lnTo>
                    <a:pt x="171" y="282"/>
                  </a:lnTo>
                  <a:lnTo>
                    <a:pt x="199" y="282"/>
                  </a:lnTo>
                  <a:lnTo>
                    <a:pt x="199" y="310"/>
                  </a:lnTo>
                  <a:cubicBezTo>
                    <a:pt x="214" y="308"/>
                    <a:pt x="229" y="305"/>
                    <a:pt x="243" y="301"/>
                  </a:cubicBezTo>
                  <a:cubicBezTo>
                    <a:pt x="257" y="296"/>
                    <a:pt x="270" y="290"/>
                    <a:pt x="282" y="283"/>
                  </a:cubicBezTo>
                  <a:cubicBezTo>
                    <a:pt x="292" y="276"/>
                    <a:pt x="301" y="269"/>
                    <a:pt x="310" y="261"/>
                  </a:cubicBezTo>
                  <a:lnTo>
                    <a:pt x="260" y="236"/>
                  </a:lnTo>
                  <a:lnTo>
                    <a:pt x="144" y="178"/>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32" name="Freeform 122">
              <a:extLst>
                <a:ext uri="{FF2B5EF4-FFF2-40B4-BE49-F238E27FC236}">
                  <a16:creationId xmlns:a16="http://schemas.microsoft.com/office/drawing/2014/main" id="{523D7E66-39E3-427E-A560-9CE65F4D1034}"/>
                </a:ext>
              </a:extLst>
            </p:cNvPr>
            <p:cNvSpPr>
              <a:spLocks/>
            </p:cNvSpPr>
            <p:nvPr/>
          </p:nvSpPr>
          <p:spPr bwMode="auto">
            <a:xfrm>
              <a:off x="1591" y="2740"/>
              <a:ext cx="191" cy="192"/>
            </a:xfrm>
            <a:custGeom>
              <a:avLst/>
              <a:gdLst>
                <a:gd name="T0" fmla="*/ 281 w 309"/>
                <a:gd name="T1" fmla="*/ 170 h 309"/>
                <a:gd name="T2" fmla="*/ 281 w 309"/>
                <a:gd name="T3" fmla="*/ 170 h 309"/>
                <a:gd name="T4" fmla="*/ 309 w 309"/>
                <a:gd name="T5" fmla="*/ 170 h 309"/>
                <a:gd name="T6" fmla="*/ 300 w 309"/>
                <a:gd name="T7" fmla="*/ 126 h 309"/>
                <a:gd name="T8" fmla="*/ 282 w 309"/>
                <a:gd name="T9" fmla="*/ 87 h 309"/>
                <a:gd name="T10" fmla="*/ 255 w 309"/>
                <a:gd name="T11" fmla="*/ 54 h 309"/>
                <a:gd name="T12" fmla="*/ 222 w 309"/>
                <a:gd name="T13" fmla="*/ 27 h 309"/>
                <a:gd name="T14" fmla="*/ 183 w 309"/>
                <a:gd name="T15" fmla="*/ 9 h 309"/>
                <a:gd name="T16" fmla="*/ 139 w 309"/>
                <a:gd name="T17" fmla="*/ 0 h 309"/>
                <a:gd name="T18" fmla="*/ 139 w 309"/>
                <a:gd name="T19" fmla="*/ 28 h 309"/>
                <a:gd name="T20" fmla="*/ 111 w 309"/>
                <a:gd name="T21" fmla="*/ 28 h 309"/>
                <a:gd name="T22" fmla="*/ 111 w 309"/>
                <a:gd name="T23" fmla="*/ 0 h 309"/>
                <a:gd name="T24" fmla="*/ 67 w 309"/>
                <a:gd name="T25" fmla="*/ 9 h 309"/>
                <a:gd name="T26" fmla="*/ 28 w 309"/>
                <a:gd name="T27" fmla="*/ 27 h 309"/>
                <a:gd name="T28" fmla="*/ 0 w 309"/>
                <a:gd name="T29" fmla="*/ 48 h 309"/>
                <a:gd name="T30" fmla="*/ 50 w 309"/>
                <a:gd name="T31" fmla="*/ 73 h 309"/>
                <a:gd name="T32" fmla="*/ 166 w 309"/>
                <a:gd name="T33" fmla="*/ 131 h 309"/>
                <a:gd name="T34" fmla="*/ 174 w 309"/>
                <a:gd name="T35" fmla="*/ 135 h 309"/>
                <a:gd name="T36" fmla="*/ 178 w 309"/>
                <a:gd name="T37" fmla="*/ 143 h 309"/>
                <a:gd name="T38" fmla="*/ 236 w 309"/>
                <a:gd name="T39" fmla="*/ 259 h 309"/>
                <a:gd name="T40" fmla="*/ 261 w 309"/>
                <a:gd name="T41" fmla="*/ 309 h 309"/>
                <a:gd name="T42" fmla="*/ 282 w 309"/>
                <a:gd name="T43" fmla="*/ 281 h 309"/>
                <a:gd name="T44" fmla="*/ 300 w 309"/>
                <a:gd name="T45" fmla="*/ 242 h 309"/>
                <a:gd name="T46" fmla="*/ 309 w 309"/>
                <a:gd name="T47" fmla="*/ 198 h 309"/>
                <a:gd name="T48" fmla="*/ 281 w 309"/>
                <a:gd name="T49" fmla="*/ 198 h 309"/>
                <a:gd name="T50" fmla="*/ 281 w 309"/>
                <a:gd name="T51" fmla="*/ 170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9" h="309">
                  <a:moveTo>
                    <a:pt x="281" y="170"/>
                  </a:moveTo>
                  <a:lnTo>
                    <a:pt x="281" y="170"/>
                  </a:lnTo>
                  <a:lnTo>
                    <a:pt x="309" y="170"/>
                  </a:lnTo>
                  <a:cubicBezTo>
                    <a:pt x="308" y="155"/>
                    <a:pt x="305" y="140"/>
                    <a:pt x="300" y="126"/>
                  </a:cubicBezTo>
                  <a:cubicBezTo>
                    <a:pt x="296" y="112"/>
                    <a:pt x="290" y="99"/>
                    <a:pt x="282" y="87"/>
                  </a:cubicBezTo>
                  <a:cubicBezTo>
                    <a:pt x="275" y="75"/>
                    <a:pt x="266" y="64"/>
                    <a:pt x="255" y="54"/>
                  </a:cubicBezTo>
                  <a:cubicBezTo>
                    <a:pt x="245" y="43"/>
                    <a:pt x="234" y="34"/>
                    <a:pt x="222" y="27"/>
                  </a:cubicBezTo>
                  <a:cubicBezTo>
                    <a:pt x="210" y="19"/>
                    <a:pt x="197" y="13"/>
                    <a:pt x="183" y="9"/>
                  </a:cubicBezTo>
                  <a:cubicBezTo>
                    <a:pt x="169" y="4"/>
                    <a:pt x="154" y="1"/>
                    <a:pt x="139" y="0"/>
                  </a:cubicBezTo>
                  <a:lnTo>
                    <a:pt x="139" y="28"/>
                  </a:lnTo>
                  <a:lnTo>
                    <a:pt x="111" y="28"/>
                  </a:lnTo>
                  <a:lnTo>
                    <a:pt x="111" y="0"/>
                  </a:lnTo>
                  <a:cubicBezTo>
                    <a:pt x="95" y="1"/>
                    <a:pt x="81" y="4"/>
                    <a:pt x="67" y="9"/>
                  </a:cubicBezTo>
                  <a:cubicBezTo>
                    <a:pt x="53" y="13"/>
                    <a:pt x="40" y="19"/>
                    <a:pt x="28" y="27"/>
                  </a:cubicBezTo>
                  <a:cubicBezTo>
                    <a:pt x="18" y="33"/>
                    <a:pt x="9" y="40"/>
                    <a:pt x="0" y="48"/>
                  </a:cubicBezTo>
                  <a:lnTo>
                    <a:pt x="50" y="73"/>
                  </a:lnTo>
                  <a:lnTo>
                    <a:pt x="166" y="131"/>
                  </a:lnTo>
                  <a:lnTo>
                    <a:pt x="174" y="135"/>
                  </a:lnTo>
                  <a:lnTo>
                    <a:pt x="178" y="143"/>
                  </a:lnTo>
                  <a:lnTo>
                    <a:pt x="236" y="259"/>
                  </a:lnTo>
                  <a:lnTo>
                    <a:pt x="261" y="309"/>
                  </a:lnTo>
                  <a:cubicBezTo>
                    <a:pt x="269" y="300"/>
                    <a:pt x="276" y="291"/>
                    <a:pt x="282" y="281"/>
                  </a:cubicBezTo>
                  <a:cubicBezTo>
                    <a:pt x="290" y="269"/>
                    <a:pt x="296" y="256"/>
                    <a:pt x="300" y="242"/>
                  </a:cubicBezTo>
                  <a:cubicBezTo>
                    <a:pt x="305" y="228"/>
                    <a:pt x="308" y="214"/>
                    <a:pt x="309" y="198"/>
                  </a:cubicBezTo>
                  <a:lnTo>
                    <a:pt x="281" y="198"/>
                  </a:lnTo>
                  <a:lnTo>
                    <a:pt x="281" y="170"/>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33" name="Freeform 123">
              <a:extLst>
                <a:ext uri="{FF2B5EF4-FFF2-40B4-BE49-F238E27FC236}">
                  <a16:creationId xmlns:a16="http://schemas.microsoft.com/office/drawing/2014/main" id="{3C315ED1-BB99-46A5-A7F8-341E58E9350E}"/>
                </a:ext>
              </a:extLst>
            </p:cNvPr>
            <p:cNvSpPr>
              <a:spLocks/>
            </p:cNvSpPr>
            <p:nvPr/>
          </p:nvSpPr>
          <p:spPr bwMode="auto">
            <a:xfrm>
              <a:off x="1614" y="2800"/>
              <a:ext cx="108" cy="108"/>
            </a:xfrm>
            <a:custGeom>
              <a:avLst/>
              <a:gdLst>
                <a:gd name="T0" fmla="*/ 0 w 174"/>
                <a:gd name="T1" fmla="*/ 0 h 174"/>
                <a:gd name="T2" fmla="*/ 0 w 174"/>
                <a:gd name="T3" fmla="*/ 0 h 174"/>
                <a:gd name="T4" fmla="*/ 58 w 174"/>
                <a:gd name="T5" fmla="*/ 116 h 174"/>
                <a:gd name="T6" fmla="*/ 174 w 174"/>
                <a:gd name="T7" fmla="*/ 174 h 174"/>
                <a:gd name="T8" fmla="*/ 116 w 174"/>
                <a:gd name="T9" fmla="*/ 58 h 174"/>
                <a:gd name="T10" fmla="*/ 0 w 174"/>
                <a:gd name="T11" fmla="*/ 0 h 174"/>
              </a:gdLst>
              <a:ahLst/>
              <a:cxnLst>
                <a:cxn ang="0">
                  <a:pos x="T0" y="T1"/>
                </a:cxn>
                <a:cxn ang="0">
                  <a:pos x="T2" y="T3"/>
                </a:cxn>
                <a:cxn ang="0">
                  <a:pos x="T4" y="T5"/>
                </a:cxn>
                <a:cxn ang="0">
                  <a:pos x="T6" y="T7"/>
                </a:cxn>
                <a:cxn ang="0">
                  <a:pos x="T8" y="T9"/>
                </a:cxn>
                <a:cxn ang="0">
                  <a:pos x="T10" y="T11"/>
                </a:cxn>
              </a:cxnLst>
              <a:rect l="0" t="0" r="r" b="b"/>
              <a:pathLst>
                <a:path w="174" h="174">
                  <a:moveTo>
                    <a:pt x="0" y="0"/>
                  </a:moveTo>
                  <a:lnTo>
                    <a:pt x="0" y="0"/>
                  </a:lnTo>
                  <a:lnTo>
                    <a:pt x="58" y="116"/>
                  </a:lnTo>
                  <a:lnTo>
                    <a:pt x="174" y="174"/>
                  </a:lnTo>
                  <a:lnTo>
                    <a:pt x="116" y="58"/>
                  </a:lnTo>
                  <a:lnTo>
                    <a:pt x="0" y="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sp>
        <p:nvSpPr>
          <p:cNvPr id="23" name="TextBox 22">
            <a:extLst>
              <a:ext uri="{FF2B5EF4-FFF2-40B4-BE49-F238E27FC236}">
                <a16:creationId xmlns:a16="http://schemas.microsoft.com/office/drawing/2014/main" id="{B2BAD053-D8B6-48CD-9F2D-5DF03757E83C}"/>
              </a:ext>
            </a:extLst>
          </p:cNvPr>
          <p:cNvSpPr txBox="1"/>
          <p:nvPr/>
        </p:nvSpPr>
        <p:spPr>
          <a:xfrm>
            <a:off x="3424987" y="2884025"/>
            <a:ext cx="972385"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bold"/>
                <a:ea typeface="+mn-ea"/>
                <a:cs typeface="+mn-cs"/>
              </a:rPr>
              <a:t>Migrate</a:t>
            </a:r>
          </a:p>
        </p:txBody>
      </p:sp>
      <p:sp>
        <p:nvSpPr>
          <p:cNvPr id="42" name="TextBox 41">
            <a:extLst>
              <a:ext uri="{FF2B5EF4-FFF2-40B4-BE49-F238E27FC236}">
                <a16:creationId xmlns:a16="http://schemas.microsoft.com/office/drawing/2014/main" id="{30DB2D9C-0D8B-43A8-A832-42F55A1539AC}"/>
              </a:ext>
            </a:extLst>
          </p:cNvPr>
          <p:cNvSpPr txBox="1"/>
          <p:nvPr/>
        </p:nvSpPr>
        <p:spPr>
          <a:xfrm>
            <a:off x="3422903" y="3469041"/>
            <a:ext cx="2266698" cy="8617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t>Use the </a:t>
            </a:r>
            <a:r>
              <a:rPr kumimoji="0" lang="en-US" sz="1400" b="0" i="0" u="none" strike="noStrike" kern="1200" cap="none" spc="0" normalizeH="0" baseline="0" noProof="0">
                <a:ln>
                  <a:noFill/>
                </a:ln>
                <a:solidFill>
                  <a:srgbClr val="50E6FF"/>
                </a:solidFill>
                <a:effectLst/>
                <a:uLnTx/>
                <a:uFillTx/>
                <a:latin typeface="Segoe UI"/>
                <a:ea typeface="+mn-ea"/>
                <a:cs typeface="+mn-cs"/>
                <a:hlinkClick r:id="rId4">
                  <a:extLst>
                    <a:ext uri="{A12FA001-AC4F-418D-AE19-62706E023703}">
                      <ahyp:hlinkClr xmlns:ahyp="http://schemas.microsoft.com/office/drawing/2018/hyperlinkcolor" val="tx"/>
                    </a:ext>
                  </a:extLst>
                </a:hlinkClick>
              </a:rPr>
              <a:t>Azure Database Migration Service</a:t>
            </a:r>
            <a:r>
              <a:rPr kumimoji="0" lang="en-US" sz="1400" b="0" i="0" u="none" strike="noStrike" kern="1200" cap="none" spc="0" normalizeH="0" baseline="0" noProof="0">
                <a:ln>
                  <a:noFill/>
                </a:ln>
                <a:solidFill>
                  <a:srgbClr val="50E6FF"/>
                </a:solidFill>
                <a:effectLst/>
                <a:uLnTx/>
                <a:uFillTx/>
                <a:latin typeface="Segoe UI"/>
                <a:ea typeface="+mn-ea"/>
                <a:cs typeface="+mn-cs"/>
              </a:rPr>
              <a:t> </a:t>
            </a:r>
            <a: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t>to migrate your on-premises database to Azure</a:t>
            </a:r>
          </a:p>
        </p:txBody>
      </p:sp>
      <p:grpSp>
        <p:nvGrpSpPr>
          <p:cNvPr id="34" name="Group 66" descr="gauge">
            <a:extLst>
              <a:ext uri="{FF2B5EF4-FFF2-40B4-BE49-F238E27FC236}">
                <a16:creationId xmlns:a16="http://schemas.microsoft.com/office/drawing/2014/main" id="{3FDF8E69-C063-43DA-B046-083E46682F57}"/>
              </a:ext>
            </a:extLst>
          </p:cNvPr>
          <p:cNvGrpSpPr>
            <a:grpSpLocks noChangeAspect="1"/>
          </p:cNvGrpSpPr>
          <p:nvPr/>
        </p:nvGrpSpPr>
        <p:grpSpPr bwMode="auto">
          <a:xfrm>
            <a:off x="6654048" y="2034574"/>
            <a:ext cx="527063" cy="527063"/>
            <a:chOff x="6755" y="1452"/>
            <a:chExt cx="248" cy="248"/>
          </a:xfrm>
        </p:grpSpPr>
        <p:sp>
          <p:nvSpPr>
            <p:cNvPr id="35" name="Freeform 67">
              <a:extLst>
                <a:ext uri="{FF2B5EF4-FFF2-40B4-BE49-F238E27FC236}">
                  <a16:creationId xmlns:a16="http://schemas.microsoft.com/office/drawing/2014/main" id="{2D8D67A9-96CD-4A01-8B14-8AFE868E20BC}"/>
                </a:ext>
              </a:extLst>
            </p:cNvPr>
            <p:cNvSpPr>
              <a:spLocks/>
            </p:cNvSpPr>
            <p:nvPr/>
          </p:nvSpPr>
          <p:spPr bwMode="auto">
            <a:xfrm>
              <a:off x="6755" y="1452"/>
              <a:ext cx="248" cy="248"/>
            </a:xfrm>
            <a:custGeom>
              <a:avLst/>
              <a:gdLst>
                <a:gd name="T0" fmla="*/ 200 w 400"/>
                <a:gd name="T1" fmla="*/ 0 h 400"/>
                <a:gd name="T2" fmla="*/ 200 w 400"/>
                <a:gd name="T3" fmla="*/ 0 h 400"/>
                <a:gd name="T4" fmla="*/ 253 w 400"/>
                <a:gd name="T5" fmla="*/ 7 h 400"/>
                <a:gd name="T6" fmla="*/ 301 w 400"/>
                <a:gd name="T7" fmla="*/ 28 h 400"/>
                <a:gd name="T8" fmla="*/ 341 w 400"/>
                <a:gd name="T9" fmla="*/ 59 h 400"/>
                <a:gd name="T10" fmla="*/ 372 w 400"/>
                <a:gd name="T11" fmla="*/ 99 h 400"/>
                <a:gd name="T12" fmla="*/ 393 w 400"/>
                <a:gd name="T13" fmla="*/ 147 h 400"/>
                <a:gd name="T14" fmla="*/ 400 w 400"/>
                <a:gd name="T15" fmla="*/ 200 h 400"/>
                <a:gd name="T16" fmla="*/ 393 w 400"/>
                <a:gd name="T17" fmla="*/ 253 h 400"/>
                <a:gd name="T18" fmla="*/ 372 w 400"/>
                <a:gd name="T19" fmla="*/ 301 h 400"/>
                <a:gd name="T20" fmla="*/ 341 w 400"/>
                <a:gd name="T21" fmla="*/ 342 h 400"/>
                <a:gd name="T22" fmla="*/ 301 w 400"/>
                <a:gd name="T23" fmla="*/ 373 h 400"/>
                <a:gd name="T24" fmla="*/ 253 w 400"/>
                <a:gd name="T25" fmla="*/ 393 h 400"/>
                <a:gd name="T26" fmla="*/ 200 w 400"/>
                <a:gd name="T27" fmla="*/ 400 h 400"/>
                <a:gd name="T28" fmla="*/ 147 w 400"/>
                <a:gd name="T29" fmla="*/ 393 h 400"/>
                <a:gd name="T30" fmla="*/ 99 w 400"/>
                <a:gd name="T31" fmla="*/ 373 h 400"/>
                <a:gd name="T32" fmla="*/ 58 w 400"/>
                <a:gd name="T33" fmla="*/ 342 h 400"/>
                <a:gd name="T34" fmla="*/ 27 w 400"/>
                <a:gd name="T35" fmla="*/ 301 h 400"/>
                <a:gd name="T36" fmla="*/ 7 w 400"/>
                <a:gd name="T37" fmla="*/ 253 h 400"/>
                <a:gd name="T38" fmla="*/ 0 w 400"/>
                <a:gd name="T39" fmla="*/ 200 h 400"/>
                <a:gd name="T40" fmla="*/ 7 w 400"/>
                <a:gd name="T41" fmla="*/ 147 h 400"/>
                <a:gd name="T42" fmla="*/ 27 w 400"/>
                <a:gd name="T43" fmla="*/ 99 h 400"/>
                <a:gd name="T44" fmla="*/ 58 w 400"/>
                <a:gd name="T45" fmla="*/ 59 h 400"/>
                <a:gd name="T46" fmla="*/ 99 w 400"/>
                <a:gd name="T47" fmla="*/ 28 h 400"/>
                <a:gd name="T48" fmla="*/ 147 w 400"/>
                <a:gd name="T49" fmla="*/ 7 h 400"/>
                <a:gd name="T50" fmla="*/ 200 w 400"/>
                <a:gd name="T5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0" h="400">
                  <a:moveTo>
                    <a:pt x="200" y="0"/>
                  </a:moveTo>
                  <a:lnTo>
                    <a:pt x="200" y="0"/>
                  </a:lnTo>
                  <a:cubicBezTo>
                    <a:pt x="218" y="0"/>
                    <a:pt x="236" y="3"/>
                    <a:pt x="253" y="7"/>
                  </a:cubicBezTo>
                  <a:cubicBezTo>
                    <a:pt x="270" y="12"/>
                    <a:pt x="286" y="19"/>
                    <a:pt x="301" y="28"/>
                  </a:cubicBezTo>
                  <a:cubicBezTo>
                    <a:pt x="316" y="36"/>
                    <a:pt x="329" y="47"/>
                    <a:pt x="341" y="59"/>
                  </a:cubicBezTo>
                  <a:cubicBezTo>
                    <a:pt x="353" y="71"/>
                    <a:pt x="364" y="84"/>
                    <a:pt x="372" y="99"/>
                  </a:cubicBezTo>
                  <a:cubicBezTo>
                    <a:pt x="381" y="114"/>
                    <a:pt x="388" y="130"/>
                    <a:pt x="393" y="147"/>
                  </a:cubicBezTo>
                  <a:cubicBezTo>
                    <a:pt x="397" y="164"/>
                    <a:pt x="400" y="182"/>
                    <a:pt x="400" y="200"/>
                  </a:cubicBezTo>
                  <a:cubicBezTo>
                    <a:pt x="400" y="219"/>
                    <a:pt x="397" y="236"/>
                    <a:pt x="393" y="253"/>
                  </a:cubicBezTo>
                  <a:cubicBezTo>
                    <a:pt x="388" y="270"/>
                    <a:pt x="381" y="286"/>
                    <a:pt x="372" y="301"/>
                  </a:cubicBezTo>
                  <a:cubicBezTo>
                    <a:pt x="364" y="316"/>
                    <a:pt x="353" y="329"/>
                    <a:pt x="341" y="342"/>
                  </a:cubicBezTo>
                  <a:cubicBezTo>
                    <a:pt x="329" y="354"/>
                    <a:pt x="316" y="364"/>
                    <a:pt x="301" y="373"/>
                  </a:cubicBezTo>
                  <a:cubicBezTo>
                    <a:pt x="286" y="381"/>
                    <a:pt x="270" y="388"/>
                    <a:pt x="253" y="393"/>
                  </a:cubicBezTo>
                  <a:cubicBezTo>
                    <a:pt x="236" y="398"/>
                    <a:pt x="218" y="400"/>
                    <a:pt x="200" y="400"/>
                  </a:cubicBezTo>
                  <a:cubicBezTo>
                    <a:pt x="181" y="400"/>
                    <a:pt x="164" y="398"/>
                    <a:pt x="147" y="393"/>
                  </a:cubicBezTo>
                  <a:cubicBezTo>
                    <a:pt x="130" y="388"/>
                    <a:pt x="114" y="381"/>
                    <a:pt x="99" y="373"/>
                  </a:cubicBezTo>
                  <a:cubicBezTo>
                    <a:pt x="84" y="364"/>
                    <a:pt x="71" y="354"/>
                    <a:pt x="58" y="342"/>
                  </a:cubicBezTo>
                  <a:cubicBezTo>
                    <a:pt x="46" y="329"/>
                    <a:pt x="36" y="316"/>
                    <a:pt x="27" y="301"/>
                  </a:cubicBezTo>
                  <a:cubicBezTo>
                    <a:pt x="19" y="286"/>
                    <a:pt x="12" y="270"/>
                    <a:pt x="7" y="253"/>
                  </a:cubicBezTo>
                  <a:cubicBezTo>
                    <a:pt x="2" y="236"/>
                    <a:pt x="0" y="219"/>
                    <a:pt x="0" y="200"/>
                  </a:cubicBezTo>
                  <a:cubicBezTo>
                    <a:pt x="0" y="182"/>
                    <a:pt x="2" y="164"/>
                    <a:pt x="7" y="147"/>
                  </a:cubicBezTo>
                  <a:cubicBezTo>
                    <a:pt x="12" y="130"/>
                    <a:pt x="19" y="114"/>
                    <a:pt x="27" y="99"/>
                  </a:cubicBezTo>
                  <a:cubicBezTo>
                    <a:pt x="36" y="84"/>
                    <a:pt x="46" y="71"/>
                    <a:pt x="58" y="59"/>
                  </a:cubicBezTo>
                  <a:cubicBezTo>
                    <a:pt x="71" y="47"/>
                    <a:pt x="84" y="36"/>
                    <a:pt x="99" y="28"/>
                  </a:cubicBezTo>
                  <a:cubicBezTo>
                    <a:pt x="114" y="19"/>
                    <a:pt x="130" y="12"/>
                    <a:pt x="147" y="7"/>
                  </a:cubicBezTo>
                  <a:cubicBezTo>
                    <a:pt x="164" y="3"/>
                    <a:pt x="181" y="0"/>
                    <a:pt x="200" y="0"/>
                  </a:cubicBez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36" name="Freeform 68">
              <a:extLst>
                <a:ext uri="{FF2B5EF4-FFF2-40B4-BE49-F238E27FC236}">
                  <a16:creationId xmlns:a16="http://schemas.microsoft.com/office/drawing/2014/main" id="{053C0FDE-E159-4F67-A1AA-E8A2BD515D61}"/>
                </a:ext>
              </a:extLst>
            </p:cNvPr>
            <p:cNvSpPr>
              <a:spLocks/>
            </p:cNvSpPr>
            <p:nvPr/>
          </p:nvSpPr>
          <p:spPr bwMode="auto">
            <a:xfrm>
              <a:off x="6854" y="1506"/>
              <a:ext cx="95" cy="95"/>
            </a:xfrm>
            <a:custGeom>
              <a:avLst/>
              <a:gdLst>
                <a:gd name="T0" fmla="*/ 76 w 153"/>
                <a:gd name="T1" fmla="*/ 96 h 153"/>
                <a:gd name="T2" fmla="*/ 76 w 153"/>
                <a:gd name="T3" fmla="*/ 96 h 153"/>
                <a:gd name="T4" fmla="*/ 80 w 153"/>
                <a:gd name="T5" fmla="*/ 113 h 153"/>
                <a:gd name="T6" fmla="*/ 77 w 153"/>
                <a:gd name="T7" fmla="*/ 129 h 153"/>
                <a:gd name="T8" fmla="*/ 68 w 153"/>
                <a:gd name="T9" fmla="*/ 142 h 153"/>
                <a:gd name="T10" fmla="*/ 55 w 153"/>
                <a:gd name="T11" fmla="*/ 150 h 153"/>
                <a:gd name="T12" fmla="*/ 40 w 153"/>
                <a:gd name="T13" fmla="*/ 153 h 153"/>
                <a:gd name="T14" fmla="*/ 24 w 153"/>
                <a:gd name="T15" fmla="*/ 150 h 153"/>
                <a:gd name="T16" fmla="*/ 12 w 153"/>
                <a:gd name="T17" fmla="*/ 142 h 153"/>
                <a:gd name="T18" fmla="*/ 3 w 153"/>
                <a:gd name="T19" fmla="*/ 129 h 153"/>
                <a:gd name="T20" fmla="*/ 0 w 153"/>
                <a:gd name="T21" fmla="*/ 113 h 153"/>
                <a:gd name="T22" fmla="*/ 3 w 153"/>
                <a:gd name="T23" fmla="*/ 98 h 153"/>
                <a:gd name="T24" fmla="*/ 12 w 153"/>
                <a:gd name="T25" fmla="*/ 85 h 153"/>
                <a:gd name="T26" fmla="*/ 24 w 153"/>
                <a:gd name="T27" fmla="*/ 76 h 153"/>
                <a:gd name="T28" fmla="*/ 40 w 153"/>
                <a:gd name="T29" fmla="*/ 73 h 153"/>
                <a:gd name="T30" fmla="*/ 57 w 153"/>
                <a:gd name="T31" fmla="*/ 77 h 153"/>
                <a:gd name="T32" fmla="*/ 57 w 153"/>
                <a:gd name="T33" fmla="*/ 77 h 153"/>
                <a:gd name="T34" fmla="*/ 134 w 153"/>
                <a:gd name="T35" fmla="*/ 0 h 153"/>
                <a:gd name="T36" fmla="*/ 153 w 153"/>
                <a:gd name="T37" fmla="*/ 19 h 153"/>
                <a:gd name="T38" fmla="*/ 76 w 153"/>
                <a:gd name="T39" fmla="*/ 96 h 153"/>
                <a:gd name="T40" fmla="*/ 76 w 153"/>
                <a:gd name="T41" fmla="*/ 96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 h="153">
                  <a:moveTo>
                    <a:pt x="76" y="96"/>
                  </a:moveTo>
                  <a:lnTo>
                    <a:pt x="76" y="96"/>
                  </a:lnTo>
                  <a:cubicBezTo>
                    <a:pt x="78" y="101"/>
                    <a:pt x="80" y="107"/>
                    <a:pt x="80" y="113"/>
                  </a:cubicBezTo>
                  <a:cubicBezTo>
                    <a:pt x="80" y="119"/>
                    <a:pt x="79" y="124"/>
                    <a:pt x="77" y="129"/>
                  </a:cubicBezTo>
                  <a:cubicBezTo>
                    <a:pt x="75" y="134"/>
                    <a:pt x="72" y="138"/>
                    <a:pt x="68" y="142"/>
                  </a:cubicBezTo>
                  <a:cubicBezTo>
                    <a:pt x="65" y="145"/>
                    <a:pt x="60" y="148"/>
                    <a:pt x="55" y="150"/>
                  </a:cubicBezTo>
                  <a:cubicBezTo>
                    <a:pt x="51" y="152"/>
                    <a:pt x="45" y="153"/>
                    <a:pt x="40" y="153"/>
                  </a:cubicBezTo>
                  <a:cubicBezTo>
                    <a:pt x="34" y="153"/>
                    <a:pt x="29" y="152"/>
                    <a:pt x="24" y="150"/>
                  </a:cubicBezTo>
                  <a:cubicBezTo>
                    <a:pt x="19" y="148"/>
                    <a:pt x="15" y="145"/>
                    <a:pt x="12" y="142"/>
                  </a:cubicBezTo>
                  <a:cubicBezTo>
                    <a:pt x="8" y="138"/>
                    <a:pt x="5" y="134"/>
                    <a:pt x="3" y="129"/>
                  </a:cubicBezTo>
                  <a:cubicBezTo>
                    <a:pt x="1" y="124"/>
                    <a:pt x="0" y="119"/>
                    <a:pt x="0" y="113"/>
                  </a:cubicBezTo>
                  <a:cubicBezTo>
                    <a:pt x="0" y="108"/>
                    <a:pt x="1" y="102"/>
                    <a:pt x="3" y="98"/>
                  </a:cubicBezTo>
                  <a:cubicBezTo>
                    <a:pt x="5" y="93"/>
                    <a:pt x="8" y="88"/>
                    <a:pt x="12" y="85"/>
                  </a:cubicBezTo>
                  <a:cubicBezTo>
                    <a:pt x="15" y="81"/>
                    <a:pt x="19" y="78"/>
                    <a:pt x="24" y="76"/>
                  </a:cubicBezTo>
                  <a:cubicBezTo>
                    <a:pt x="29" y="74"/>
                    <a:pt x="34" y="73"/>
                    <a:pt x="40" y="73"/>
                  </a:cubicBezTo>
                  <a:cubicBezTo>
                    <a:pt x="46" y="73"/>
                    <a:pt x="52" y="75"/>
                    <a:pt x="57" y="77"/>
                  </a:cubicBezTo>
                  <a:lnTo>
                    <a:pt x="57" y="77"/>
                  </a:lnTo>
                  <a:lnTo>
                    <a:pt x="134" y="0"/>
                  </a:lnTo>
                  <a:lnTo>
                    <a:pt x="153" y="19"/>
                  </a:lnTo>
                  <a:lnTo>
                    <a:pt x="76" y="96"/>
                  </a:lnTo>
                  <a:lnTo>
                    <a:pt x="76" y="96"/>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useBgFill="1">
          <p:nvSpPr>
            <p:cNvPr id="37" name="Freeform 69">
              <a:extLst>
                <a:ext uri="{FF2B5EF4-FFF2-40B4-BE49-F238E27FC236}">
                  <a16:creationId xmlns:a16="http://schemas.microsoft.com/office/drawing/2014/main" id="{D82BA03D-68C9-4C47-8FEC-6CC3D4AA022B}"/>
                </a:ext>
              </a:extLst>
            </p:cNvPr>
            <p:cNvSpPr>
              <a:spLocks/>
            </p:cNvSpPr>
            <p:nvPr/>
          </p:nvSpPr>
          <p:spPr bwMode="auto">
            <a:xfrm>
              <a:off x="6788" y="1486"/>
              <a:ext cx="129" cy="155"/>
            </a:xfrm>
            <a:custGeom>
              <a:avLst/>
              <a:gdLst>
                <a:gd name="T0" fmla="*/ 196 w 207"/>
                <a:gd name="T1" fmla="*/ 37 h 250"/>
                <a:gd name="T2" fmla="*/ 196 w 207"/>
                <a:gd name="T3" fmla="*/ 37 h 250"/>
                <a:gd name="T4" fmla="*/ 146 w 207"/>
                <a:gd name="T5" fmla="*/ 26 h 250"/>
                <a:gd name="T6" fmla="*/ 115 w 207"/>
                <a:gd name="T7" fmla="*/ 30 h 250"/>
                <a:gd name="T8" fmla="*/ 86 w 207"/>
                <a:gd name="T9" fmla="*/ 43 h 250"/>
                <a:gd name="T10" fmla="*/ 62 w 207"/>
                <a:gd name="T11" fmla="*/ 61 h 250"/>
                <a:gd name="T12" fmla="*/ 43 w 207"/>
                <a:gd name="T13" fmla="*/ 86 h 250"/>
                <a:gd name="T14" fmla="*/ 31 w 207"/>
                <a:gd name="T15" fmla="*/ 114 h 250"/>
                <a:gd name="T16" fmla="*/ 27 w 207"/>
                <a:gd name="T17" fmla="*/ 146 h 250"/>
                <a:gd name="T18" fmla="*/ 36 w 207"/>
                <a:gd name="T19" fmla="*/ 192 h 250"/>
                <a:gd name="T20" fmla="*/ 62 w 207"/>
                <a:gd name="T21" fmla="*/ 231 h 250"/>
                <a:gd name="T22" fmla="*/ 43 w 207"/>
                <a:gd name="T23" fmla="*/ 250 h 250"/>
                <a:gd name="T24" fmla="*/ 11 w 207"/>
                <a:gd name="T25" fmla="*/ 202 h 250"/>
                <a:gd name="T26" fmla="*/ 0 w 207"/>
                <a:gd name="T27" fmla="*/ 146 h 250"/>
                <a:gd name="T28" fmla="*/ 5 w 207"/>
                <a:gd name="T29" fmla="*/ 107 h 250"/>
                <a:gd name="T30" fmla="*/ 20 w 207"/>
                <a:gd name="T31" fmla="*/ 72 h 250"/>
                <a:gd name="T32" fmla="*/ 43 w 207"/>
                <a:gd name="T33" fmla="*/ 43 h 250"/>
                <a:gd name="T34" fmla="*/ 73 w 207"/>
                <a:gd name="T35" fmla="*/ 20 h 250"/>
                <a:gd name="T36" fmla="*/ 108 w 207"/>
                <a:gd name="T37" fmla="*/ 5 h 250"/>
                <a:gd name="T38" fmla="*/ 147 w 207"/>
                <a:gd name="T39" fmla="*/ 0 h 250"/>
                <a:gd name="T40" fmla="*/ 178 w 207"/>
                <a:gd name="T41" fmla="*/ 3 h 250"/>
                <a:gd name="T42" fmla="*/ 207 w 207"/>
                <a:gd name="T43" fmla="*/ 13 h 250"/>
                <a:gd name="T44" fmla="*/ 196 w 207"/>
                <a:gd name="T45" fmla="*/ 3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7" h="250">
                  <a:moveTo>
                    <a:pt x="196" y="37"/>
                  </a:moveTo>
                  <a:lnTo>
                    <a:pt x="196" y="37"/>
                  </a:lnTo>
                  <a:cubicBezTo>
                    <a:pt x="180" y="30"/>
                    <a:pt x="163" y="26"/>
                    <a:pt x="146" y="26"/>
                  </a:cubicBezTo>
                  <a:cubicBezTo>
                    <a:pt x="135" y="26"/>
                    <a:pt x="125" y="28"/>
                    <a:pt x="115" y="30"/>
                  </a:cubicBezTo>
                  <a:cubicBezTo>
                    <a:pt x="104" y="33"/>
                    <a:pt x="95" y="37"/>
                    <a:pt x="86" y="43"/>
                  </a:cubicBezTo>
                  <a:cubicBezTo>
                    <a:pt x="77" y="48"/>
                    <a:pt x="69" y="54"/>
                    <a:pt x="62" y="61"/>
                  </a:cubicBezTo>
                  <a:cubicBezTo>
                    <a:pt x="55" y="69"/>
                    <a:pt x="48" y="77"/>
                    <a:pt x="43" y="86"/>
                  </a:cubicBezTo>
                  <a:cubicBezTo>
                    <a:pt x="38" y="95"/>
                    <a:pt x="34" y="104"/>
                    <a:pt x="31" y="114"/>
                  </a:cubicBezTo>
                  <a:cubicBezTo>
                    <a:pt x="28" y="125"/>
                    <a:pt x="27" y="135"/>
                    <a:pt x="27" y="146"/>
                  </a:cubicBezTo>
                  <a:cubicBezTo>
                    <a:pt x="27" y="162"/>
                    <a:pt x="30" y="177"/>
                    <a:pt x="36" y="192"/>
                  </a:cubicBezTo>
                  <a:cubicBezTo>
                    <a:pt x="42" y="207"/>
                    <a:pt x="51" y="220"/>
                    <a:pt x="62" y="231"/>
                  </a:cubicBezTo>
                  <a:lnTo>
                    <a:pt x="43" y="250"/>
                  </a:lnTo>
                  <a:cubicBezTo>
                    <a:pt x="29" y="236"/>
                    <a:pt x="19" y="220"/>
                    <a:pt x="11" y="202"/>
                  </a:cubicBezTo>
                  <a:cubicBezTo>
                    <a:pt x="4" y="184"/>
                    <a:pt x="0" y="166"/>
                    <a:pt x="0" y="146"/>
                  </a:cubicBezTo>
                  <a:cubicBezTo>
                    <a:pt x="0" y="133"/>
                    <a:pt x="2" y="120"/>
                    <a:pt x="5" y="107"/>
                  </a:cubicBezTo>
                  <a:cubicBezTo>
                    <a:pt x="9" y="95"/>
                    <a:pt x="14" y="83"/>
                    <a:pt x="20" y="72"/>
                  </a:cubicBezTo>
                  <a:cubicBezTo>
                    <a:pt x="27" y="61"/>
                    <a:pt x="34" y="52"/>
                    <a:pt x="43" y="43"/>
                  </a:cubicBezTo>
                  <a:cubicBezTo>
                    <a:pt x="52" y="34"/>
                    <a:pt x="62" y="26"/>
                    <a:pt x="73" y="20"/>
                  </a:cubicBezTo>
                  <a:cubicBezTo>
                    <a:pt x="83" y="13"/>
                    <a:pt x="95" y="9"/>
                    <a:pt x="108" y="5"/>
                  </a:cubicBezTo>
                  <a:cubicBezTo>
                    <a:pt x="120" y="2"/>
                    <a:pt x="133" y="0"/>
                    <a:pt x="147" y="0"/>
                  </a:cubicBezTo>
                  <a:cubicBezTo>
                    <a:pt x="157" y="0"/>
                    <a:pt x="167" y="1"/>
                    <a:pt x="178" y="3"/>
                  </a:cubicBezTo>
                  <a:cubicBezTo>
                    <a:pt x="188" y="5"/>
                    <a:pt x="197" y="9"/>
                    <a:pt x="207" y="13"/>
                  </a:cubicBezTo>
                  <a:lnTo>
                    <a:pt x="196" y="37"/>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38" name="Freeform 70">
              <a:extLst>
                <a:ext uri="{FF2B5EF4-FFF2-40B4-BE49-F238E27FC236}">
                  <a16:creationId xmlns:a16="http://schemas.microsoft.com/office/drawing/2014/main" id="{B76922D4-8B98-4AF0-8C52-531DBB9B95C0}"/>
                </a:ext>
              </a:extLst>
            </p:cNvPr>
            <p:cNvSpPr>
              <a:spLocks/>
            </p:cNvSpPr>
            <p:nvPr/>
          </p:nvSpPr>
          <p:spPr bwMode="auto">
            <a:xfrm>
              <a:off x="6932" y="1539"/>
              <a:ext cx="38" cy="102"/>
            </a:xfrm>
            <a:custGeom>
              <a:avLst/>
              <a:gdLst>
                <a:gd name="T0" fmla="*/ 48 w 61"/>
                <a:gd name="T1" fmla="*/ 0 h 164"/>
                <a:gd name="T2" fmla="*/ 48 w 61"/>
                <a:gd name="T3" fmla="*/ 0 h 164"/>
                <a:gd name="T4" fmla="*/ 58 w 61"/>
                <a:gd name="T5" fmla="*/ 29 h 164"/>
                <a:gd name="T6" fmla="*/ 61 w 61"/>
                <a:gd name="T7" fmla="*/ 60 h 164"/>
                <a:gd name="T8" fmla="*/ 50 w 61"/>
                <a:gd name="T9" fmla="*/ 116 h 164"/>
                <a:gd name="T10" fmla="*/ 19 w 61"/>
                <a:gd name="T11" fmla="*/ 164 h 164"/>
                <a:gd name="T12" fmla="*/ 0 w 61"/>
                <a:gd name="T13" fmla="*/ 145 h 164"/>
                <a:gd name="T14" fmla="*/ 26 w 61"/>
                <a:gd name="T15" fmla="*/ 106 h 164"/>
                <a:gd name="T16" fmla="*/ 35 w 61"/>
                <a:gd name="T17" fmla="*/ 61 h 164"/>
                <a:gd name="T18" fmla="*/ 24 w 61"/>
                <a:gd name="T19" fmla="*/ 11 h 164"/>
                <a:gd name="T20" fmla="*/ 48 w 61"/>
                <a:gd name="T2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64">
                  <a:moveTo>
                    <a:pt x="48" y="0"/>
                  </a:moveTo>
                  <a:lnTo>
                    <a:pt x="48" y="0"/>
                  </a:lnTo>
                  <a:cubicBezTo>
                    <a:pt x="52" y="10"/>
                    <a:pt x="56" y="19"/>
                    <a:pt x="58" y="29"/>
                  </a:cubicBezTo>
                  <a:cubicBezTo>
                    <a:pt x="60" y="40"/>
                    <a:pt x="61" y="50"/>
                    <a:pt x="61" y="60"/>
                  </a:cubicBezTo>
                  <a:cubicBezTo>
                    <a:pt x="61" y="80"/>
                    <a:pt x="57" y="98"/>
                    <a:pt x="50" y="116"/>
                  </a:cubicBezTo>
                  <a:cubicBezTo>
                    <a:pt x="43" y="134"/>
                    <a:pt x="32" y="150"/>
                    <a:pt x="19" y="164"/>
                  </a:cubicBezTo>
                  <a:lnTo>
                    <a:pt x="0" y="145"/>
                  </a:lnTo>
                  <a:cubicBezTo>
                    <a:pt x="11" y="134"/>
                    <a:pt x="20" y="121"/>
                    <a:pt x="26" y="106"/>
                  </a:cubicBezTo>
                  <a:cubicBezTo>
                    <a:pt x="32" y="92"/>
                    <a:pt x="35" y="77"/>
                    <a:pt x="35" y="61"/>
                  </a:cubicBezTo>
                  <a:cubicBezTo>
                    <a:pt x="35" y="44"/>
                    <a:pt x="31" y="27"/>
                    <a:pt x="24" y="11"/>
                  </a:cubicBezTo>
                  <a:lnTo>
                    <a:pt x="48" y="0"/>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39" name="Freeform 71">
              <a:extLst>
                <a:ext uri="{FF2B5EF4-FFF2-40B4-BE49-F238E27FC236}">
                  <a16:creationId xmlns:a16="http://schemas.microsoft.com/office/drawing/2014/main" id="{6950C0AD-38F9-4DC8-A28E-1B0381E4B53E}"/>
                </a:ext>
              </a:extLst>
            </p:cNvPr>
            <p:cNvSpPr>
              <a:spLocks/>
            </p:cNvSpPr>
            <p:nvPr/>
          </p:nvSpPr>
          <p:spPr bwMode="auto">
            <a:xfrm>
              <a:off x="6854" y="1551"/>
              <a:ext cx="50" cy="51"/>
            </a:xfrm>
            <a:custGeom>
              <a:avLst/>
              <a:gdLst>
                <a:gd name="T0" fmla="*/ 41 w 81"/>
                <a:gd name="T1" fmla="*/ 81 h 81"/>
                <a:gd name="T2" fmla="*/ 41 w 81"/>
                <a:gd name="T3" fmla="*/ 81 h 81"/>
                <a:gd name="T4" fmla="*/ 69 w 81"/>
                <a:gd name="T5" fmla="*/ 69 h 81"/>
                <a:gd name="T6" fmla="*/ 81 w 81"/>
                <a:gd name="T7" fmla="*/ 40 h 81"/>
                <a:gd name="T8" fmla="*/ 69 w 81"/>
                <a:gd name="T9" fmla="*/ 12 h 81"/>
                <a:gd name="T10" fmla="*/ 41 w 81"/>
                <a:gd name="T11" fmla="*/ 0 h 81"/>
                <a:gd name="T12" fmla="*/ 12 w 81"/>
                <a:gd name="T13" fmla="*/ 12 h 81"/>
                <a:gd name="T14" fmla="*/ 0 w 81"/>
                <a:gd name="T15" fmla="*/ 40 h 81"/>
                <a:gd name="T16" fmla="*/ 12 w 81"/>
                <a:gd name="T17" fmla="*/ 69 h 81"/>
                <a:gd name="T18" fmla="*/ 41 w 8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81"/>
                  </a:moveTo>
                  <a:lnTo>
                    <a:pt x="41" y="81"/>
                  </a:lnTo>
                  <a:cubicBezTo>
                    <a:pt x="52" y="81"/>
                    <a:pt x="61" y="77"/>
                    <a:pt x="69" y="69"/>
                  </a:cubicBezTo>
                  <a:cubicBezTo>
                    <a:pt x="77" y="61"/>
                    <a:pt x="81" y="51"/>
                    <a:pt x="81" y="40"/>
                  </a:cubicBezTo>
                  <a:cubicBezTo>
                    <a:pt x="81" y="29"/>
                    <a:pt x="77" y="20"/>
                    <a:pt x="69" y="12"/>
                  </a:cubicBezTo>
                  <a:cubicBezTo>
                    <a:pt x="61" y="4"/>
                    <a:pt x="52" y="0"/>
                    <a:pt x="41" y="0"/>
                  </a:cubicBezTo>
                  <a:cubicBezTo>
                    <a:pt x="30" y="0"/>
                    <a:pt x="20" y="4"/>
                    <a:pt x="12" y="12"/>
                  </a:cubicBezTo>
                  <a:cubicBezTo>
                    <a:pt x="4" y="20"/>
                    <a:pt x="0" y="29"/>
                    <a:pt x="0" y="40"/>
                  </a:cubicBezTo>
                  <a:cubicBezTo>
                    <a:pt x="0" y="51"/>
                    <a:pt x="4" y="61"/>
                    <a:pt x="12" y="69"/>
                  </a:cubicBezTo>
                  <a:cubicBezTo>
                    <a:pt x="20" y="77"/>
                    <a:pt x="30" y="81"/>
                    <a:pt x="41" y="81"/>
                  </a:cubicBez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sp>
        <p:nvSpPr>
          <p:cNvPr id="24" name="TextBox 23">
            <a:extLst>
              <a:ext uri="{FF2B5EF4-FFF2-40B4-BE49-F238E27FC236}">
                <a16:creationId xmlns:a16="http://schemas.microsoft.com/office/drawing/2014/main" id="{38CBA809-B440-44C9-8A05-D5A7EAB69A8D}"/>
              </a:ext>
            </a:extLst>
          </p:cNvPr>
          <p:cNvSpPr txBox="1"/>
          <p:nvPr/>
        </p:nvSpPr>
        <p:spPr>
          <a:xfrm>
            <a:off x="6654048" y="2884025"/>
            <a:ext cx="1214769"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bold"/>
                <a:ea typeface="+mn-ea"/>
                <a:cs typeface="+mn-cs"/>
              </a:rPr>
              <a:t>Optimize</a:t>
            </a:r>
          </a:p>
        </p:txBody>
      </p:sp>
      <p:sp>
        <p:nvSpPr>
          <p:cNvPr id="43" name="TextBox 42">
            <a:extLst>
              <a:ext uri="{FF2B5EF4-FFF2-40B4-BE49-F238E27FC236}">
                <a16:creationId xmlns:a16="http://schemas.microsoft.com/office/drawing/2014/main" id="{15695102-D479-46E0-9049-75CCD703C024}"/>
              </a:ext>
            </a:extLst>
          </p:cNvPr>
          <p:cNvSpPr txBox="1"/>
          <p:nvPr/>
        </p:nvSpPr>
        <p:spPr>
          <a:xfrm>
            <a:off x="6649880" y="3469041"/>
            <a:ext cx="1997298" cy="107721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t>Take advantage of offers such as </a:t>
            </a:r>
            <a:b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br>
            <a:r>
              <a:rPr kumimoji="0" lang="en-US" sz="1400" b="0" i="0" u="none" strike="noStrike" kern="1200" cap="none" spc="0" normalizeH="0" baseline="0" noProof="0">
                <a:ln>
                  <a:noFill/>
                </a:ln>
                <a:solidFill>
                  <a:srgbClr val="50E6FF"/>
                </a:solidFill>
                <a:effectLst/>
                <a:uLnTx/>
                <a:uFillTx/>
                <a:latin typeface="Segoe UI"/>
                <a:ea typeface="+mn-ea"/>
                <a:cs typeface="+mn-cs"/>
                <a:hlinkClick r:id="rId5">
                  <a:extLst>
                    <a:ext uri="{A12FA001-AC4F-418D-AE19-62706E023703}">
                      <ahyp:hlinkClr xmlns:ahyp="http://schemas.microsoft.com/office/drawing/2018/hyperlinkcolor" val="tx"/>
                    </a:ext>
                  </a:extLst>
                </a:hlinkClick>
              </a:rPr>
              <a:t>Azure Hybrid Benefit</a:t>
            </a:r>
            <a:r>
              <a:rPr kumimoji="0" lang="en-US" sz="1400" b="0" i="0" u="none" strike="noStrike" kern="1200" cap="none" spc="0" normalizeH="0" baseline="0" noProof="0">
                <a:ln>
                  <a:noFill/>
                </a:ln>
                <a:solidFill>
                  <a:srgbClr val="50E6FF"/>
                </a:solidFill>
                <a:effectLst/>
                <a:uLnTx/>
                <a:uFillTx/>
                <a:latin typeface="Segoe UI"/>
                <a:ea typeface="+mn-ea"/>
                <a:cs typeface="+mn-cs"/>
              </a:rPr>
              <a:t> </a:t>
            </a:r>
            <a: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t>and</a:t>
            </a:r>
            <a:b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br>
            <a:r>
              <a:rPr kumimoji="0" lang="en-US" sz="1400" b="0" i="0" u="none" strike="noStrike" kern="1200" cap="none" spc="0" normalizeH="0" baseline="0" noProof="0">
                <a:ln>
                  <a:noFill/>
                </a:ln>
                <a:solidFill>
                  <a:srgbClr val="50E6FF"/>
                </a:solidFill>
                <a:effectLst/>
                <a:uLnTx/>
                <a:uFillTx/>
                <a:latin typeface="Segoe UI"/>
                <a:ea typeface="+mn-ea"/>
                <a:cs typeface="+mn-cs"/>
                <a:hlinkClick r:id="rId6">
                  <a:extLst>
                    <a:ext uri="{A12FA001-AC4F-418D-AE19-62706E023703}">
                      <ahyp:hlinkClr xmlns:ahyp="http://schemas.microsoft.com/office/drawing/2018/hyperlinkcolor" val="tx"/>
                    </a:ext>
                  </a:extLst>
                </a:hlinkClick>
              </a:rPr>
              <a:t>Azure Reserved Virtual Machine Instances</a:t>
            </a:r>
            <a:endParaRPr kumimoji="0" lang="en-US" sz="1400" b="0" i="0" u="none" strike="noStrike" kern="1200" cap="none" spc="0" normalizeH="0" baseline="0" noProof="0">
              <a:ln>
                <a:noFill/>
              </a:ln>
              <a:solidFill>
                <a:srgbClr val="50E6FF"/>
              </a:solidFill>
              <a:effectLst/>
              <a:uLnTx/>
              <a:uFillTx/>
              <a:latin typeface="Segoe UI"/>
              <a:ea typeface="+mn-ea"/>
              <a:cs typeface="+mn-cs"/>
            </a:endParaRPr>
          </a:p>
        </p:txBody>
      </p:sp>
      <p:sp>
        <p:nvSpPr>
          <p:cNvPr id="40" name="Graphic 8" descr="Key">
            <a:extLst>
              <a:ext uri="{FF2B5EF4-FFF2-40B4-BE49-F238E27FC236}">
                <a16:creationId xmlns:a16="http://schemas.microsoft.com/office/drawing/2014/main" id="{9D4535C3-F08B-41D2-907F-9AE03BB2F73D}"/>
              </a:ext>
            </a:extLst>
          </p:cNvPr>
          <p:cNvSpPr/>
          <p:nvPr/>
        </p:nvSpPr>
        <p:spPr>
          <a:xfrm rot="1800000">
            <a:off x="9517465" y="2210634"/>
            <a:ext cx="621581" cy="296664"/>
          </a:xfrm>
          <a:custGeom>
            <a:avLst/>
            <a:gdLst>
              <a:gd name="connsiteX0" fmla="*/ 334519 w 483141"/>
              <a:gd name="connsiteY0" fmla="*/ 136870 h 230590"/>
              <a:gd name="connsiteX1" fmla="*/ 370205 w 483141"/>
              <a:gd name="connsiteY1" fmla="*/ 172557 h 230590"/>
              <a:gd name="connsiteX2" fmla="*/ 405892 w 483141"/>
              <a:gd name="connsiteY2" fmla="*/ 136870 h 230590"/>
              <a:gd name="connsiteX3" fmla="*/ 441578 w 483141"/>
              <a:gd name="connsiteY3" fmla="*/ 172557 h 230590"/>
              <a:gd name="connsiteX4" fmla="*/ 485500 w 483141"/>
              <a:gd name="connsiteY4" fmla="*/ 117654 h 230590"/>
              <a:gd name="connsiteX5" fmla="*/ 441578 w 483141"/>
              <a:gd name="connsiteY5" fmla="*/ 62752 h 230590"/>
              <a:gd name="connsiteX6" fmla="*/ 219224 w 483141"/>
              <a:gd name="connsiteY6" fmla="*/ 62752 h 230590"/>
              <a:gd name="connsiteX7" fmla="*/ 117654 w 483141"/>
              <a:gd name="connsiteY7" fmla="*/ 2359 h 230590"/>
              <a:gd name="connsiteX8" fmla="*/ 2359 w 483141"/>
              <a:gd name="connsiteY8" fmla="*/ 117654 h 230590"/>
              <a:gd name="connsiteX9" fmla="*/ 117654 w 483141"/>
              <a:gd name="connsiteY9" fmla="*/ 232949 h 230590"/>
              <a:gd name="connsiteX10" fmla="*/ 219224 w 483141"/>
              <a:gd name="connsiteY10" fmla="*/ 172557 h 230590"/>
              <a:gd name="connsiteX11" fmla="*/ 254910 w 483141"/>
              <a:gd name="connsiteY11" fmla="*/ 172557 h 230590"/>
              <a:gd name="connsiteX12" fmla="*/ 276871 w 483141"/>
              <a:gd name="connsiteY12" fmla="*/ 150596 h 230590"/>
              <a:gd name="connsiteX13" fmla="*/ 298832 w 483141"/>
              <a:gd name="connsiteY13" fmla="*/ 172557 h 230590"/>
              <a:gd name="connsiteX14" fmla="*/ 334519 w 483141"/>
              <a:gd name="connsiteY14" fmla="*/ 136870 h 230590"/>
              <a:gd name="connsiteX15" fmla="*/ 68242 w 483141"/>
              <a:gd name="connsiteY15" fmla="*/ 150596 h 230590"/>
              <a:gd name="connsiteX16" fmla="*/ 35301 w 483141"/>
              <a:gd name="connsiteY16" fmla="*/ 117654 h 230590"/>
              <a:gd name="connsiteX17" fmla="*/ 68242 w 483141"/>
              <a:gd name="connsiteY17" fmla="*/ 84713 h 230590"/>
              <a:gd name="connsiteX18" fmla="*/ 101183 w 483141"/>
              <a:gd name="connsiteY18" fmla="*/ 117654 h 230590"/>
              <a:gd name="connsiteX19" fmla="*/ 68242 w 483141"/>
              <a:gd name="connsiteY19" fmla="*/ 150596 h 23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83141" h="230590">
                <a:moveTo>
                  <a:pt x="334519" y="136870"/>
                </a:moveTo>
                <a:lnTo>
                  <a:pt x="370205" y="172557"/>
                </a:lnTo>
                <a:lnTo>
                  <a:pt x="405892" y="136870"/>
                </a:lnTo>
                <a:lnTo>
                  <a:pt x="441578" y="172557"/>
                </a:lnTo>
                <a:lnTo>
                  <a:pt x="485500" y="117654"/>
                </a:lnTo>
                <a:lnTo>
                  <a:pt x="441578" y="62752"/>
                </a:lnTo>
                <a:lnTo>
                  <a:pt x="219224" y="62752"/>
                </a:lnTo>
                <a:cubicBezTo>
                  <a:pt x="199459" y="26516"/>
                  <a:pt x="161576" y="2359"/>
                  <a:pt x="117654" y="2359"/>
                </a:cubicBezTo>
                <a:cubicBezTo>
                  <a:pt x="53967" y="2359"/>
                  <a:pt x="2359" y="53967"/>
                  <a:pt x="2359" y="117654"/>
                </a:cubicBezTo>
                <a:cubicBezTo>
                  <a:pt x="2359" y="181341"/>
                  <a:pt x="53967" y="232949"/>
                  <a:pt x="117654" y="232949"/>
                </a:cubicBezTo>
                <a:cubicBezTo>
                  <a:pt x="161576" y="232949"/>
                  <a:pt x="199459" y="208792"/>
                  <a:pt x="219224" y="172557"/>
                </a:cubicBezTo>
                <a:lnTo>
                  <a:pt x="254910" y="172557"/>
                </a:lnTo>
                <a:lnTo>
                  <a:pt x="276871" y="150596"/>
                </a:lnTo>
                <a:lnTo>
                  <a:pt x="298832" y="172557"/>
                </a:lnTo>
                <a:lnTo>
                  <a:pt x="334519" y="136870"/>
                </a:lnTo>
                <a:close/>
                <a:moveTo>
                  <a:pt x="68242" y="150596"/>
                </a:moveTo>
                <a:cubicBezTo>
                  <a:pt x="50124" y="150596"/>
                  <a:pt x="35301" y="135772"/>
                  <a:pt x="35301" y="117654"/>
                </a:cubicBezTo>
                <a:cubicBezTo>
                  <a:pt x="35301" y="99536"/>
                  <a:pt x="50124" y="84713"/>
                  <a:pt x="68242" y="84713"/>
                </a:cubicBezTo>
                <a:cubicBezTo>
                  <a:pt x="86360" y="84713"/>
                  <a:pt x="101183" y="99536"/>
                  <a:pt x="101183" y="117654"/>
                </a:cubicBezTo>
                <a:cubicBezTo>
                  <a:pt x="101183" y="135772"/>
                  <a:pt x="86360" y="150596"/>
                  <a:pt x="68242" y="150596"/>
                </a:cubicBezTo>
                <a:close/>
              </a:path>
            </a:pathLst>
          </a:custGeom>
          <a:solidFill>
            <a:srgbClr val="0078D4"/>
          </a:solidFill>
          <a:ln w="54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25" name="TextBox 24">
            <a:extLst>
              <a:ext uri="{FF2B5EF4-FFF2-40B4-BE49-F238E27FC236}">
                <a16:creationId xmlns:a16="http://schemas.microsoft.com/office/drawing/2014/main" id="{4109592A-B7F2-4FEE-A5F1-97753252BBAD}"/>
              </a:ext>
            </a:extLst>
          </p:cNvPr>
          <p:cNvSpPr txBox="1"/>
          <p:nvPr/>
        </p:nvSpPr>
        <p:spPr>
          <a:xfrm>
            <a:off x="9523655" y="2730137"/>
            <a:ext cx="1387998"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bold"/>
                <a:ea typeface="+mn-ea"/>
                <a:cs typeface="+mn-cs"/>
              </a:rPr>
              <a:t>Secure and manage</a:t>
            </a:r>
          </a:p>
        </p:txBody>
      </p:sp>
      <p:sp>
        <p:nvSpPr>
          <p:cNvPr id="44" name="TextBox 43">
            <a:extLst>
              <a:ext uri="{FF2B5EF4-FFF2-40B4-BE49-F238E27FC236}">
                <a16:creationId xmlns:a16="http://schemas.microsoft.com/office/drawing/2014/main" id="{BED65CD0-DECF-4CE0-9A3E-D8895F3A17A0}"/>
              </a:ext>
            </a:extLst>
          </p:cNvPr>
          <p:cNvSpPr txBox="1"/>
          <p:nvPr/>
        </p:nvSpPr>
        <p:spPr>
          <a:xfrm>
            <a:off x="9520692" y="3469041"/>
            <a:ext cx="1793631" cy="12926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t>Get industry-leading security with</a:t>
            </a:r>
            <a:b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br>
            <a:r>
              <a:rPr kumimoji="0" lang="en-US" sz="1400" b="0" i="0" u="none" strike="noStrike" kern="1200" cap="none" spc="0" normalizeH="0" baseline="0" noProof="0">
                <a:ln>
                  <a:noFill/>
                </a:ln>
                <a:solidFill>
                  <a:srgbClr val="50E6FF"/>
                </a:solidFill>
                <a:effectLst/>
                <a:uLnTx/>
                <a:uFillTx/>
                <a:latin typeface="Segoe UI"/>
                <a:ea typeface="+mn-ea"/>
                <a:cs typeface="+mn-cs"/>
                <a:hlinkClick r:id="rId7">
                  <a:extLst>
                    <a:ext uri="{A12FA001-AC4F-418D-AE19-62706E023703}">
                      <ahyp:hlinkClr xmlns:ahyp="http://schemas.microsoft.com/office/drawing/2018/hyperlinkcolor" val="tx"/>
                    </a:ext>
                  </a:extLst>
                </a:hlinkClick>
              </a:rPr>
              <a:t>Azure Security Center</a:t>
            </a:r>
            <a:r>
              <a:rPr kumimoji="0" lang="en-US" sz="1400" b="0" i="0" u="none" strike="noStrike" kern="1200" cap="none" spc="0" normalizeH="0" baseline="0" noProof="0">
                <a:ln>
                  <a:noFill/>
                </a:ln>
                <a:gradFill>
                  <a:gsLst>
                    <a:gs pos="2917">
                      <a:prstClr val="white"/>
                    </a:gs>
                    <a:gs pos="30000">
                      <a:prstClr val="white"/>
                    </a:gs>
                  </a:gsLst>
                  <a:lin ang="5400000" scaled="0"/>
                </a:gradFill>
                <a:effectLst/>
                <a:uLnTx/>
                <a:uFillTx/>
                <a:latin typeface="Segoe UI"/>
                <a:ea typeface="+mn-ea"/>
                <a:cs typeface="+mn-cs"/>
              </a:rPr>
              <a:t>, and protect your data in the cloud with </a:t>
            </a:r>
            <a:r>
              <a:rPr kumimoji="0" lang="en-US" sz="1400" b="0" i="0" u="none" strike="noStrike" kern="1200" cap="none" spc="0" normalizeH="0" baseline="0" noProof="0">
                <a:ln>
                  <a:noFill/>
                </a:ln>
                <a:solidFill>
                  <a:srgbClr val="50E6FF"/>
                </a:solidFill>
                <a:effectLst/>
                <a:uLnTx/>
                <a:uFillTx/>
                <a:latin typeface="Segoe UI"/>
                <a:ea typeface="+mn-ea"/>
                <a:cs typeface="+mn-cs"/>
                <a:hlinkClick r:id="rId8">
                  <a:extLst>
                    <a:ext uri="{A12FA001-AC4F-418D-AE19-62706E023703}">
                      <ahyp:hlinkClr xmlns:ahyp="http://schemas.microsoft.com/office/drawing/2018/hyperlinkcolor" val="tx"/>
                    </a:ext>
                  </a:extLst>
                </a:hlinkClick>
              </a:rPr>
              <a:t>Azure Backup</a:t>
            </a:r>
            <a:endParaRPr kumimoji="0" lang="en-US" sz="1400" b="0" i="0" u="none" strike="noStrike" kern="1200" cap="none" spc="0" normalizeH="0" baseline="0" noProof="0">
              <a:ln>
                <a:noFill/>
              </a:ln>
              <a:solidFill>
                <a:srgbClr val="50E6FF"/>
              </a:solidFill>
              <a:effectLst/>
              <a:uLnTx/>
              <a:uFillTx/>
              <a:latin typeface="Segoe UI"/>
              <a:ea typeface="+mn-ea"/>
              <a:cs typeface="+mn-cs"/>
            </a:endParaRPr>
          </a:p>
        </p:txBody>
      </p:sp>
    </p:spTree>
    <p:extLst>
      <p:ext uri="{BB962C8B-B14F-4D97-AF65-F5344CB8AC3E}">
        <p14:creationId xmlns:p14="http://schemas.microsoft.com/office/powerpoint/2010/main" val="3426901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D673A490-180D-4ADF-BE30-6E8EEF298383}"/>
              </a:ext>
            </a:extLst>
          </p:cNvPr>
          <p:cNvSpPr>
            <a:spLocks noGrp="1"/>
          </p:cNvSpPr>
          <p:nvPr>
            <p:ph type="title"/>
          </p:nvPr>
        </p:nvSpPr>
        <p:spPr/>
        <p:txBody>
          <a:bodyPr/>
          <a:lstStyle/>
          <a:p>
            <a:r>
              <a:rPr lang="en-US" dirty="0">
                <a:solidFill>
                  <a:schemeClr val="accent3"/>
                </a:solidFill>
              </a:rPr>
              <a:t>Get free Azure migration tools </a:t>
            </a:r>
            <a:br>
              <a:rPr lang="en-US" dirty="0"/>
            </a:br>
            <a:r>
              <a:rPr lang="en-US" sz="2200" dirty="0">
                <a:solidFill>
                  <a:schemeClr val="bg1"/>
                </a:solidFill>
              </a:rPr>
              <a:t>Azure Migrate: A central hub for datacenter migration</a:t>
            </a:r>
            <a:endParaRPr lang="en-US" sz="2200" dirty="0">
              <a:solidFill>
                <a:schemeClr val="bg1"/>
              </a:solidFill>
              <a:cs typeface="Segoe UI Semibold"/>
            </a:endParaRPr>
          </a:p>
        </p:txBody>
      </p:sp>
      <p:grpSp>
        <p:nvGrpSpPr>
          <p:cNvPr id="6" name="Picture 52" descr="clouds">
            <a:extLst>
              <a:ext uri="{FF2B5EF4-FFF2-40B4-BE49-F238E27FC236}">
                <a16:creationId xmlns:a16="http://schemas.microsoft.com/office/drawing/2014/main" id="{BC2D6908-E74F-4B38-9189-15A85FF943A1}"/>
              </a:ext>
            </a:extLst>
          </p:cNvPr>
          <p:cNvGrpSpPr/>
          <p:nvPr/>
        </p:nvGrpSpPr>
        <p:grpSpPr>
          <a:xfrm>
            <a:off x="540703" y="2225724"/>
            <a:ext cx="2785751" cy="1801604"/>
            <a:chOff x="2653753" y="2591824"/>
            <a:chExt cx="1624919" cy="1033449"/>
          </a:xfrm>
        </p:grpSpPr>
        <p:sp>
          <p:nvSpPr>
            <p:cNvPr id="7" name="Freeform: Shape 6">
              <a:extLst>
                <a:ext uri="{FF2B5EF4-FFF2-40B4-BE49-F238E27FC236}">
                  <a16:creationId xmlns:a16="http://schemas.microsoft.com/office/drawing/2014/main" id="{6B4F1E27-55E8-4767-AEA2-4ED36A9ECED7}"/>
                </a:ext>
              </a:extLst>
            </p:cNvPr>
            <p:cNvSpPr/>
            <p:nvPr/>
          </p:nvSpPr>
          <p:spPr>
            <a:xfrm>
              <a:off x="2871492" y="2591824"/>
              <a:ext cx="1407180" cy="812460"/>
            </a:xfrm>
            <a:custGeom>
              <a:avLst/>
              <a:gdLst>
                <a:gd name="connsiteX0" fmla="*/ 0 w 1407180"/>
                <a:gd name="connsiteY0" fmla="*/ 656468 h 812460"/>
                <a:gd name="connsiteX1" fmla="*/ 149493 w 1407180"/>
                <a:gd name="connsiteY1" fmla="*/ 812460 h 812460"/>
                <a:gd name="connsiteX2" fmla="*/ 1111445 w 1407180"/>
                <a:gd name="connsiteY2" fmla="*/ 812460 h 812460"/>
                <a:gd name="connsiteX3" fmla="*/ 1407181 w 1407180"/>
                <a:gd name="connsiteY3" fmla="*/ 536224 h 812460"/>
                <a:gd name="connsiteX4" fmla="*/ 1111445 w 1407180"/>
                <a:gd name="connsiteY4" fmla="*/ 259987 h 812460"/>
                <a:gd name="connsiteX5" fmla="*/ 1013950 w 1407180"/>
                <a:gd name="connsiteY5" fmla="*/ 276236 h 812460"/>
                <a:gd name="connsiteX6" fmla="*/ 604470 w 1407180"/>
                <a:gd name="connsiteY6" fmla="*/ 0 h 812460"/>
                <a:gd name="connsiteX7" fmla="*/ 601220 w 1407180"/>
                <a:gd name="connsiteY7" fmla="*/ 0 h 812460"/>
                <a:gd name="connsiteX8" fmla="*/ 168992 w 1407180"/>
                <a:gd name="connsiteY8" fmla="*/ 402980 h 812460"/>
                <a:gd name="connsiteX9" fmla="*/ 185241 w 1407180"/>
                <a:gd name="connsiteY9" fmla="*/ 510225 h 812460"/>
                <a:gd name="connsiteX10" fmla="*/ 162492 w 1407180"/>
                <a:gd name="connsiteY10" fmla="*/ 510225 h 812460"/>
                <a:gd name="connsiteX11" fmla="*/ 0 w 1407180"/>
                <a:gd name="connsiteY11" fmla="*/ 656468 h 81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07180" h="812460">
                  <a:moveTo>
                    <a:pt x="0" y="656468"/>
                  </a:moveTo>
                  <a:cubicBezTo>
                    <a:pt x="0" y="734464"/>
                    <a:pt x="64997" y="802710"/>
                    <a:pt x="149493" y="812460"/>
                  </a:cubicBezTo>
                  <a:lnTo>
                    <a:pt x="1111445" y="812460"/>
                  </a:lnTo>
                  <a:cubicBezTo>
                    <a:pt x="1273937" y="812460"/>
                    <a:pt x="1407181" y="688966"/>
                    <a:pt x="1407181" y="536224"/>
                  </a:cubicBezTo>
                  <a:cubicBezTo>
                    <a:pt x="1407181" y="380231"/>
                    <a:pt x="1273937" y="259987"/>
                    <a:pt x="1111445" y="259987"/>
                  </a:cubicBezTo>
                  <a:cubicBezTo>
                    <a:pt x="1075697" y="259987"/>
                    <a:pt x="1046449" y="269737"/>
                    <a:pt x="1013950" y="276236"/>
                  </a:cubicBezTo>
                  <a:cubicBezTo>
                    <a:pt x="955453" y="113744"/>
                    <a:pt x="792961" y="0"/>
                    <a:pt x="604470" y="0"/>
                  </a:cubicBezTo>
                  <a:cubicBezTo>
                    <a:pt x="604470" y="0"/>
                    <a:pt x="601220" y="0"/>
                    <a:pt x="601220" y="0"/>
                  </a:cubicBezTo>
                  <a:cubicBezTo>
                    <a:pt x="360732" y="0"/>
                    <a:pt x="168992" y="181991"/>
                    <a:pt x="168992" y="402980"/>
                  </a:cubicBezTo>
                  <a:cubicBezTo>
                    <a:pt x="168992" y="438728"/>
                    <a:pt x="178741" y="477727"/>
                    <a:pt x="185241" y="510225"/>
                  </a:cubicBezTo>
                  <a:lnTo>
                    <a:pt x="162492" y="510225"/>
                  </a:lnTo>
                  <a:cubicBezTo>
                    <a:pt x="74746" y="503725"/>
                    <a:pt x="0" y="568722"/>
                    <a:pt x="0" y="656468"/>
                  </a:cubicBezTo>
                </a:path>
              </a:pathLst>
            </a:custGeom>
            <a:solidFill>
              <a:srgbClr val="0072C6"/>
            </a:solidFill>
            <a:ln w="32385" cap="flat">
              <a:noFill/>
              <a:prstDash val="solid"/>
              <a:miter/>
            </a:ln>
          </p:spPr>
          <p:txBody>
            <a:bodyPr rtlCol="0" anchor="ctr"/>
            <a:lstStyle/>
            <a:p>
              <a:pPr marL="0" marR="0" lvl="0" indent="0" algn="l"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6C34CD08-9CD1-4719-82E1-6AF09487A628}"/>
                </a:ext>
              </a:extLst>
            </p:cNvPr>
            <p:cNvSpPr/>
            <p:nvPr/>
          </p:nvSpPr>
          <p:spPr>
            <a:xfrm>
              <a:off x="2653753" y="2718567"/>
              <a:ext cx="1563172" cy="906705"/>
            </a:xfrm>
            <a:custGeom>
              <a:avLst/>
              <a:gdLst>
                <a:gd name="connsiteX0" fmla="*/ 0 w 1563172"/>
                <a:gd name="connsiteY0" fmla="*/ 734464 h 906705"/>
                <a:gd name="connsiteX1" fmla="*/ 165742 w 1563172"/>
                <a:gd name="connsiteY1" fmla="*/ 906705 h 906705"/>
                <a:gd name="connsiteX2" fmla="*/ 1234939 w 1563172"/>
                <a:gd name="connsiteY2" fmla="*/ 906705 h 906705"/>
                <a:gd name="connsiteX3" fmla="*/ 1563173 w 1563172"/>
                <a:gd name="connsiteY3" fmla="*/ 597971 h 906705"/>
                <a:gd name="connsiteX4" fmla="*/ 1234939 w 1563172"/>
                <a:gd name="connsiteY4" fmla="*/ 289236 h 906705"/>
                <a:gd name="connsiteX5" fmla="*/ 1127695 w 1563172"/>
                <a:gd name="connsiteY5" fmla="*/ 308735 h 906705"/>
                <a:gd name="connsiteX6" fmla="*/ 672717 w 1563172"/>
                <a:gd name="connsiteY6" fmla="*/ 0 h 906705"/>
                <a:gd name="connsiteX7" fmla="*/ 669467 w 1563172"/>
                <a:gd name="connsiteY7" fmla="*/ 0 h 906705"/>
                <a:gd name="connsiteX8" fmla="*/ 188491 w 1563172"/>
                <a:gd name="connsiteY8" fmla="*/ 448478 h 906705"/>
                <a:gd name="connsiteX9" fmla="*/ 207990 w 1563172"/>
                <a:gd name="connsiteY9" fmla="*/ 565472 h 906705"/>
                <a:gd name="connsiteX10" fmla="*/ 181991 w 1563172"/>
                <a:gd name="connsiteY10" fmla="*/ 565472 h 906705"/>
                <a:gd name="connsiteX11" fmla="*/ 0 w 1563172"/>
                <a:gd name="connsiteY11" fmla="*/ 734464 h 90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63172" h="906705">
                  <a:moveTo>
                    <a:pt x="0" y="734464"/>
                  </a:moveTo>
                  <a:cubicBezTo>
                    <a:pt x="0" y="822209"/>
                    <a:pt x="71496" y="896956"/>
                    <a:pt x="165742" y="906705"/>
                  </a:cubicBezTo>
                  <a:lnTo>
                    <a:pt x="1234939" y="906705"/>
                  </a:lnTo>
                  <a:cubicBezTo>
                    <a:pt x="1416930" y="906705"/>
                    <a:pt x="1563173" y="770212"/>
                    <a:pt x="1563173" y="597971"/>
                  </a:cubicBezTo>
                  <a:cubicBezTo>
                    <a:pt x="1563173" y="425729"/>
                    <a:pt x="1416930" y="289236"/>
                    <a:pt x="1234939" y="289236"/>
                  </a:cubicBezTo>
                  <a:cubicBezTo>
                    <a:pt x="1195941" y="289236"/>
                    <a:pt x="1160193" y="298985"/>
                    <a:pt x="1127695" y="308735"/>
                  </a:cubicBezTo>
                  <a:cubicBezTo>
                    <a:pt x="1062698" y="126744"/>
                    <a:pt x="883957" y="0"/>
                    <a:pt x="672717" y="0"/>
                  </a:cubicBezTo>
                  <a:cubicBezTo>
                    <a:pt x="672717" y="0"/>
                    <a:pt x="669467" y="0"/>
                    <a:pt x="669467" y="0"/>
                  </a:cubicBezTo>
                  <a:cubicBezTo>
                    <a:pt x="402980" y="0"/>
                    <a:pt x="188491" y="201490"/>
                    <a:pt x="188491" y="448478"/>
                  </a:cubicBezTo>
                  <a:cubicBezTo>
                    <a:pt x="188491" y="490726"/>
                    <a:pt x="198240" y="529724"/>
                    <a:pt x="207990" y="565472"/>
                  </a:cubicBezTo>
                  <a:lnTo>
                    <a:pt x="181991" y="565472"/>
                  </a:lnTo>
                  <a:cubicBezTo>
                    <a:pt x="84496" y="565472"/>
                    <a:pt x="0" y="636969"/>
                    <a:pt x="0" y="734464"/>
                  </a:cubicBezTo>
                </a:path>
              </a:pathLst>
            </a:custGeom>
            <a:solidFill>
              <a:srgbClr val="59B4D9"/>
            </a:solidFill>
            <a:ln w="32385" cap="flat">
              <a:noFill/>
              <a:prstDash val="solid"/>
              <a:miter/>
            </a:ln>
          </p:spPr>
          <p:txBody>
            <a:bodyPr rtlCol="0" anchor="ctr"/>
            <a:lstStyle/>
            <a:p>
              <a:pPr marL="0" marR="0" lvl="0" indent="0" algn="l"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E1501B19-A885-47B0-9548-46AA1AEF1E2F}"/>
                </a:ext>
              </a:extLst>
            </p:cNvPr>
            <p:cNvSpPr/>
            <p:nvPr/>
          </p:nvSpPr>
          <p:spPr>
            <a:xfrm>
              <a:off x="2653753" y="2718568"/>
              <a:ext cx="835208" cy="906705"/>
            </a:xfrm>
            <a:custGeom>
              <a:avLst/>
              <a:gdLst>
                <a:gd name="connsiteX0" fmla="*/ 672717 w 835208"/>
                <a:gd name="connsiteY0" fmla="*/ 0 h 906705"/>
                <a:gd name="connsiteX1" fmla="*/ 669467 w 835208"/>
                <a:gd name="connsiteY1" fmla="*/ 0 h 906705"/>
                <a:gd name="connsiteX2" fmla="*/ 188491 w 835208"/>
                <a:gd name="connsiteY2" fmla="*/ 448478 h 906705"/>
                <a:gd name="connsiteX3" fmla="*/ 207990 w 835208"/>
                <a:gd name="connsiteY3" fmla="*/ 565472 h 906705"/>
                <a:gd name="connsiteX4" fmla="*/ 181991 w 835208"/>
                <a:gd name="connsiteY4" fmla="*/ 565472 h 906705"/>
                <a:gd name="connsiteX5" fmla="*/ 0 w 835208"/>
                <a:gd name="connsiteY5" fmla="*/ 734464 h 906705"/>
                <a:gd name="connsiteX6" fmla="*/ 165742 w 835208"/>
                <a:gd name="connsiteY6" fmla="*/ 906705 h 906705"/>
                <a:gd name="connsiteX7" fmla="*/ 191741 w 835208"/>
                <a:gd name="connsiteY7" fmla="*/ 906705 h 906705"/>
                <a:gd name="connsiteX8" fmla="*/ 334734 w 835208"/>
                <a:gd name="connsiteY8" fmla="*/ 640219 h 906705"/>
                <a:gd name="connsiteX9" fmla="*/ 835209 w 835208"/>
                <a:gd name="connsiteY9" fmla="*/ 29249 h 906705"/>
                <a:gd name="connsiteX10" fmla="*/ 672717 w 835208"/>
                <a:gd name="connsiteY10" fmla="*/ 0 h 90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5208" h="906705">
                  <a:moveTo>
                    <a:pt x="672717" y="0"/>
                  </a:moveTo>
                  <a:cubicBezTo>
                    <a:pt x="672717" y="0"/>
                    <a:pt x="669467" y="0"/>
                    <a:pt x="669467" y="0"/>
                  </a:cubicBezTo>
                  <a:cubicBezTo>
                    <a:pt x="402980" y="0"/>
                    <a:pt x="188491" y="201490"/>
                    <a:pt x="188491" y="448478"/>
                  </a:cubicBezTo>
                  <a:cubicBezTo>
                    <a:pt x="188491" y="490726"/>
                    <a:pt x="198240" y="529724"/>
                    <a:pt x="207990" y="565472"/>
                  </a:cubicBezTo>
                  <a:lnTo>
                    <a:pt x="181991" y="565472"/>
                  </a:lnTo>
                  <a:cubicBezTo>
                    <a:pt x="84496" y="565472"/>
                    <a:pt x="0" y="636969"/>
                    <a:pt x="0" y="734464"/>
                  </a:cubicBezTo>
                  <a:cubicBezTo>
                    <a:pt x="0" y="822209"/>
                    <a:pt x="71496" y="896956"/>
                    <a:pt x="165742" y="906705"/>
                  </a:cubicBezTo>
                  <a:lnTo>
                    <a:pt x="191741" y="906705"/>
                  </a:lnTo>
                  <a:cubicBezTo>
                    <a:pt x="94245" y="685716"/>
                    <a:pt x="334734" y="640219"/>
                    <a:pt x="334734" y="640219"/>
                  </a:cubicBezTo>
                  <a:cubicBezTo>
                    <a:pt x="311985" y="97495"/>
                    <a:pt x="822210" y="35748"/>
                    <a:pt x="835209" y="29249"/>
                  </a:cubicBezTo>
                  <a:cubicBezTo>
                    <a:pt x="786461" y="9750"/>
                    <a:pt x="731214" y="0"/>
                    <a:pt x="672717" y="0"/>
                  </a:cubicBezTo>
                  <a:close/>
                </a:path>
              </a:pathLst>
            </a:custGeom>
            <a:solidFill>
              <a:srgbClr val="FFFFFF">
                <a:alpha val="20000"/>
              </a:srgbClr>
            </a:solidFill>
            <a:ln w="32385" cap="flat">
              <a:noFill/>
              <a:prstDash val="solid"/>
              <a:miter/>
            </a:ln>
          </p:spPr>
          <p:txBody>
            <a:bodyPr rtlCol="0" anchor="ctr"/>
            <a:lstStyle/>
            <a:p>
              <a:pPr marL="0" marR="0" lvl="0" indent="0" algn="l"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ED0C2D10-2E9C-40CF-B4E5-996BECA922CE}"/>
                </a:ext>
              </a:extLst>
            </p:cNvPr>
            <p:cNvSpPr/>
            <p:nvPr/>
          </p:nvSpPr>
          <p:spPr>
            <a:xfrm>
              <a:off x="3111980" y="3085800"/>
              <a:ext cx="464727" cy="539473"/>
            </a:xfrm>
            <a:custGeom>
              <a:avLst/>
              <a:gdLst>
                <a:gd name="connsiteX0" fmla="*/ 71496 w 464727"/>
                <a:gd name="connsiteY0" fmla="*/ 0 h 539473"/>
                <a:gd name="connsiteX1" fmla="*/ 230739 w 464727"/>
                <a:gd name="connsiteY1" fmla="*/ 0 h 539473"/>
                <a:gd name="connsiteX2" fmla="*/ 464727 w 464727"/>
                <a:gd name="connsiteY2" fmla="*/ 233988 h 539473"/>
                <a:gd name="connsiteX3" fmla="*/ 155992 w 464727"/>
                <a:gd name="connsiteY3" fmla="*/ 539473 h 539473"/>
                <a:gd name="connsiteX4" fmla="*/ 0 w 464727"/>
                <a:gd name="connsiteY4" fmla="*/ 539473 h 539473"/>
                <a:gd name="connsiteX5" fmla="*/ 302235 w 464727"/>
                <a:gd name="connsiteY5" fmla="*/ 233988 h 539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727" h="539473">
                  <a:moveTo>
                    <a:pt x="71496" y="0"/>
                  </a:moveTo>
                  <a:lnTo>
                    <a:pt x="230739" y="0"/>
                  </a:lnTo>
                  <a:lnTo>
                    <a:pt x="464727" y="233988"/>
                  </a:lnTo>
                  <a:lnTo>
                    <a:pt x="155992" y="539473"/>
                  </a:lnTo>
                  <a:lnTo>
                    <a:pt x="0" y="539473"/>
                  </a:lnTo>
                  <a:lnTo>
                    <a:pt x="302235" y="233988"/>
                  </a:lnTo>
                  <a:close/>
                </a:path>
              </a:pathLst>
            </a:custGeom>
            <a:solidFill>
              <a:srgbClr val="FFFFFF"/>
            </a:solidFill>
            <a:ln w="32385" cap="flat">
              <a:noFill/>
              <a:prstDash val="solid"/>
              <a:miter/>
            </a:ln>
          </p:spPr>
          <p:txBody>
            <a:bodyPr rtlCol="0" anchor="ctr"/>
            <a:lstStyle/>
            <a:p>
              <a:pPr marL="0" marR="0" lvl="0" indent="0" algn="l"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1" name="Freeform: Shape 10">
              <a:extLst>
                <a:ext uri="{FF2B5EF4-FFF2-40B4-BE49-F238E27FC236}">
                  <a16:creationId xmlns:a16="http://schemas.microsoft.com/office/drawing/2014/main" id="{D0DB9D7C-E0D0-42AD-989B-258787D676D2}"/>
                </a:ext>
              </a:extLst>
            </p:cNvPr>
            <p:cNvSpPr/>
            <p:nvPr/>
          </p:nvSpPr>
          <p:spPr>
            <a:xfrm>
              <a:off x="3508460" y="2738067"/>
              <a:ext cx="380231" cy="412729"/>
            </a:xfrm>
            <a:custGeom>
              <a:avLst/>
              <a:gdLst>
                <a:gd name="connsiteX0" fmla="*/ 32498 w 380231"/>
                <a:gd name="connsiteY0" fmla="*/ 0 h 412729"/>
                <a:gd name="connsiteX1" fmla="*/ 194990 w 380231"/>
                <a:gd name="connsiteY1" fmla="*/ 0 h 412729"/>
                <a:gd name="connsiteX2" fmla="*/ 380231 w 380231"/>
                <a:gd name="connsiteY2" fmla="*/ 188491 h 412729"/>
                <a:gd name="connsiteX3" fmla="*/ 149493 w 380231"/>
                <a:gd name="connsiteY3" fmla="*/ 412730 h 412729"/>
                <a:gd name="connsiteX4" fmla="*/ 0 w 380231"/>
                <a:gd name="connsiteY4" fmla="*/ 412730 h 412729"/>
                <a:gd name="connsiteX5" fmla="*/ 217739 w 380231"/>
                <a:gd name="connsiteY5" fmla="*/ 185241 h 41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231" h="412729">
                  <a:moveTo>
                    <a:pt x="32498" y="0"/>
                  </a:moveTo>
                  <a:lnTo>
                    <a:pt x="194990" y="0"/>
                  </a:lnTo>
                  <a:lnTo>
                    <a:pt x="380231" y="188491"/>
                  </a:lnTo>
                  <a:lnTo>
                    <a:pt x="149493" y="412730"/>
                  </a:lnTo>
                  <a:lnTo>
                    <a:pt x="0" y="412730"/>
                  </a:lnTo>
                  <a:lnTo>
                    <a:pt x="217739" y="185241"/>
                  </a:lnTo>
                  <a:close/>
                </a:path>
              </a:pathLst>
            </a:custGeom>
            <a:solidFill>
              <a:srgbClr val="FFFFFF"/>
            </a:solidFill>
            <a:ln w="32385" cap="flat">
              <a:noFill/>
              <a:prstDash val="solid"/>
              <a:miter/>
            </a:ln>
          </p:spPr>
          <p:txBody>
            <a:bodyPr rtlCol="0" anchor="ctr"/>
            <a:lstStyle/>
            <a:p>
              <a:pPr marL="0" marR="0" lvl="0" indent="0" algn="l"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F9BF7D3C-0ABD-4850-BFE4-AACF3F1DBBAF}"/>
                </a:ext>
              </a:extLst>
            </p:cNvPr>
            <p:cNvSpPr/>
            <p:nvPr/>
          </p:nvSpPr>
          <p:spPr>
            <a:xfrm>
              <a:off x="3674202" y="3157296"/>
              <a:ext cx="370481" cy="367231"/>
            </a:xfrm>
            <a:custGeom>
              <a:avLst/>
              <a:gdLst>
                <a:gd name="connsiteX0" fmla="*/ 55247 w 370481"/>
                <a:gd name="connsiteY0" fmla="*/ 0 h 367231"/>
                <a:gd name="connsiteX1" fmla="*/ 214489 w 370481"/>
                <a:gd name="connsiteY1" fmla="*/ 0 h 367231"/>
                <a:gd name="connsiteX2" fmla="*/ 370482 w 370481"/>
                <a:gd name="connsiteY2" fmla="*/ 155992 h 367231"/>
                <a:gd name="connsiteX3" fmla="*/ 155992 w 370481"/>
                <a:gd name="connsiteY3" fmla="*/ 367232 h 367231"/>
                <a:gd name="connsiteX4" fmla="*/ 0 w 370481"/>
                <a:gd name="connsiteY4" fmla="*/ 367232 h 367231"/>
                <a:gd name="connsiteX5" fmla="*/ 207990 w 370481"/>
                <a:gd name="connsiteY5" fmla="*/ 155992 h 36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81" h="367231">
                  <a:moveTo>
                    <a:pt x="55247" y="0"/>
                  </a:moveTo>
                  <a:lnTo>
                    <a:pt x="214489" y="0"/>
                  </a:lnTo>
                  <a:lnTo>
                    <a:pt x="370482" y="155992"/>
                  </a:lnTo>
                  <a:lnTo>
                    <a:pt x="155992" y="367232"/>
                  </a:lnTo>
                  <a:lnTo>
                    <a:pt x="0" y="367232"/>
                  </a:lnTo>
                  <a:lnTo>
                    <a:pt x="207990" y="155992"/>
                  </a:lnTo>
                  <a:close/>
                </a:path>
              </a:pathLst>
            </a:custGeom>
            <a:solidFill>
              <a:srgbClr val="FFFFFF"/>
            </a:solidFill>
            <a:ln w="32385" cap="flat">
              <a:noFill/>
              <a:prstDash val="solid"/>
              <a:miter/>
            </a:ln>
          </p:spPr>
          <p:txBody>
            <a:bodyPr rtlCol="0" anchor="ctr"/>
            <a:lstStyle/>
            <a:p>
              <a:pPr marL="0" marR="0" lvl="0" indent="0" algn="l" defTabSz="91369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2" name="TextBox 1">
            <a:extLst>
              <a:ext uri="{FF2B5EF4-FFF2-40B4-BE49-F238E27FC236}">
                <a16:creationId xmlns:a16="http://schemas.microsoft.com/office/drawing/2014/main" id="{F2BA0A52-1647-4A7D-BCC7-E2CD914CC9A8}"/>
              </a:ext>
            </a:extLst>
          </p:cNvPr>
          <p:cNvSpPr txBox="1"/>
          <p:nvPr/>
        </p:nvSpPr>
        <p:spPr>
          <a:xfrm>
            <a:off x="874143" y="4151848"/>
            <a:ext cx="2207536" cy="468972"/>
          </a:xfrm>
          <a:prstGeom prst="rect">
            <a:avLst/>
          </a:prstGeom>
          <a:noFill/>
        </p:spPr>
        <p:txBody>
          <a:bodyPr wrap="none" rtlCol="0">
            <a:spAutoFit/>
          </a:body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50E6FF"/>
                </a:solidFill>
                <a:effectLst/>
                <a:uLnTx/>
                <a:uFillTx/>
                <a:latin typeface="Segoe UI Semibold"/>
                <a:ea typeface="+mn-ea"/>
                <a:cs typeface="+mn-cs"/>
              </a:rPr>
              <a:t>Azure Migrate</a:t>
            </a:r>
          </a:p>
        </p:txBody>
      </p:sp>
      <p:grpSp>
        <p:nvGrpSpPr>
          <p:cNvPr id="4" name="Group 3">
            <a:extLst>
              <a:ext uri="{FF2B5EF4-FFF2-40B4-BE49-F238E27FC236}">
                <a16:creationId xmlns:a16="http://schemas.microsoft.com/office/drawing/2014/main" id="{BFF0D70D-5A85-4DA1-AFB8-EEFF7A852D34}"/>
              </a:ext>
              <a:ext uri="{C183D7F6-B498-43B3-948B-1728B52AA6E4}">
                <adec:decorative xmlns:adec="http://schemas.microsoft.com/office/drawing/2017/decorative" val="1"/>
              </a:ext>
            </a:extLst>
          </p:cNvPr>
          <p:cNvGrpSpPr/>
          <p:nvPr/>
        </p:nvGrpSpPr>
        <p:grpSpPr>
          <a:xfrm>
            <a:off x="3652234" y="2286061"/>
            <a:ext cx="307294" cy="307292"/>
            <a:chOff x="3504672" y="2212396"/>
            <a:chExt cx="601768" cy="601764"/>
          </a:xfrm>
        </p:grpSpPr>
        <p:sp>
          <p:nvSpPr>
            <p:cNvPr id="60" name="Oval 59">
              <a:extLst>
                <a:ext uri="{FF2B5EF4-FFF2-40B4-BE49-F238E27FC236}">
                  <a16:creationId xmlns:a16="http://schemas.microsoft.com/office/drawing/2014/main" id="{85094B12-E95E-2149-9B8A-74EC4E24023F}"/>
                </a:ext>
              </a:extLst>
            </p:cNvPr>
            <p:cNvSpPr/>
            <p:nvPr/>
          </p:nvSpPr>
          <p:spPr bwMode="auto">
            <a:xfrm>
              <a:off x="3504672" y="2212396"/>
              <a:ext cx="601768" cy="601764"/>
            </a:xfrm>
            <a:prstGeom prst="ellipse">
              <a:avLst/>
            </a:prstGeom>
            <a:solidFill>
              <a:schemeClr val="accent3"/>
            </a:solidFill>
            <a:ln w="19050" cap="flat" cmpd="sng" algn="ctr">
              <a:noFill/>
              <a:prstDash val="solid"/>
            </a:ln>
            <a:effectLst/>
          </p:spPr>
          <p:txBody>
            <a:bodyPr rot="0" spcFirstLastPara="0" vertOverflow="overflow" horzOverflow="overflow" vert="horz" wrap="square" lIns="0" tIns="45700" rIns="0" bIns="45700" numCol="1" spcCol="0" rtlCol="0" fromWordArt="0" anchor="ctr" anchorCtr="0" forceAA="0" compatLnSpc="1">
              <a:prstTxWarp prst="textNoShape">
                <a:avLst/>
              </a:prstTxWarp>
              <a:noAutofit/>
            </a:bodyPr>
            <a:lstStyle/>
            <a:p>
              <a:pPr marL="0" marR="0" lvl="0" indent="0" algn="ctr" defTabSz="913576"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Segoe UI"/>
                <a:ea typeface="+mn-ea"/>
                <a:cs typeface="+mn-cs"/>
              </a:endParaRPr>
            </a:p>
          </p:txBody>
        </p:sp>
        <p:sp>
          <p:nvSpPr>
            <p:cNvPr id="3" name="Isosceles Triangle 2">
              <a:extLst>
                <a:ext uri="{FF2B5EF4-FFF2-40B4-BE49-F238E27FC236}">
                  <a16:creationId xmlns:a16="http://schemas.microsoft.com/office/drawing/2014/main" id="{03944565-1576-40B5-A7D2-F1C84E79750B}"/>
                </a:ext>
              </a:extLst>
            </p:cNvPr>
            <p:cNvSpPr/>
            <p:nvPr/>
          </p:nvSpPr>
          <p:spPr>
            <a:xfrm rot="5400000">
              <a:off x="3678934" y="2399237"/>
              <a:ext cx="325400" cy="22808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59" name="Rectangle 58">
            <a:extLst>
              <a:ext uri="{FF2B5EF4-FFF2-40B4-BE49-F238E27FC236}">
                <a16:creationId xmlns:a16="http://schemas.microsoft.com/office/drawing/2014/main" id="{53261FE1-0C0A-4903-A5A0-DE56D98FB1FB}"/>
              </a:ext>
            </a:extLst>
          </p:cNvPr>
          <p:cNvSpPr/>
          <p:nvPr/>
        </p:nvSpPr>
        <p:spPr>
          <a:xfrm>
            <a:off x="4050687" y="2111076"/>
            <a:ext cx="1678168" cy="657265"/>
          </a:xfrm>
          <a:prstGeom prst="rect">
            <a:avLst/>
          </a:prstGeom>
        </p:spPr>
        <p:txBody>
          <a:bodyPr wrap="square" anchor="ctr">
            <a:spAutoFit/>
          </a:bodyPr>
          <a:lstStyle/>
          <a:p>
            <a:pPr marL="0" marR="0" lvl="0" indent="0" algn="l" defTabSz="913698" rtl="0" eaLnBrk="1" fontAlgn="auto" latinLnBrk="0" hangingPunct="1">
              <a:lnSpc>
                <a:spcPct val="100000"/>
              </a:lnSpc>
              <a:spcBef>
                <a:spcPts val="0"/>
              </a:spcBef>
              <a:spcAft>
                <a:spcPts val="588"/>
              </a:spcAft>
              <a:buClrTx/>
              <a:buSzPct val="90000"/>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Segoe UI Semibold" panose="020B0702040204020203" pitchFamily="34" charset="0"/>
              </a:rPr>
              <a:t>Multiple scenarios </a:t>
            </a:r>
          </a:p>
        </p:txBody>
      </p:sp>
      <p:cxnSp>
        <p:nvCxnSpPr>
          <p:cNvPr id="15" name="Straight Connector 14">
            <a:extLst>
              <a:ext uri="{FF2B5EF4-FFF2-40B4-BE49-F238E27FC236}">
                <a16:creationId xmlns:a16="http://schemas.microsoft.com/office/drawing/2014/main" id="{4B0540ED-15C2-49B2-B69E-7B9F3CA74EC3}"/>
              </a:ext>
              <a:ext uri="{C183D7F6-B498-43B3-948B-1728B52AA6E4}">
                <adec:decorative xmlns:adec="http://schemas.microsoft.com/office/drawing/2017/decorative" val="1"/>
              </a:ext>
            </a:extLst>
          </p:cNvPr>
          <p:cNvCxnSpPr>
            <a:cxnSpLocks/>
          </p:cNvCxnSpPr>
          <p:nvPr/>
        </p:nvCxnSpPr>
        <p:spPr>
          <a:xfrm>
            <a:off x="5595169" y="2257869"/>
            <a:ext cx="0" cy="363679"/>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37D4635-2E18-9948-B149-B0B5542AFC4C}"/>
              </a:ext>
            </a:extLst>
          </p:cNvPr>
          <p:cNvSpPr/>
          <p:nvPr/>
        </p:nvSpPr>
        <p:spPr>
          <a:xfrm>
            <a:off x="5728855" y="2142510"/>
            <a:ext cx="5886099" cy="594397"/>
          </a:xfrm>
          <a:prstGeom prst="rect">
            <a:avLst/>
          </a:prstGeom>
        </p:spPr>
        <p:txBody>
          <a:bodyPr wrap="square" anchor="ctr">
            <a:spAutoFit/>
          </a:body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solidFill>
                    <a:prstClr val="white"/>
                  </a:solidFill>
                </a:ln>
                <a:solidFill>
                  <a:prstClr val="white"/>
                </a:solidFill>
                <a:effectLst/>
                <a:uLnTx/>
                <a:uFillTx/>
                <a:latin typeface="Segoe UI"/>
                <a:ea typeface="+mn-ea"/>
                <a:cs typeface="Segoe UI" panose="020B0502040204020203" pitchFamily="34" charset="0"/>
              </a:rPr>
              <a:t>Migrate Windows and Linux Servers, Databases, Data, Web Applications and Virtual Desktops </a:t>
            </a:r>
          </a:p>
        </p:txBody>
      </p:sp>
      <p:cxnSp>
        <p:nvCxnSpPr>
          <p:cNvPr id="25" name="Straight Connector 24">
            <a:extLst>
              <a:ext uri="{FF2B5EF4-FFF2-40B4-BE49-F238E27FC236}">
                <a16:creationId xmlns:a16="http://schemas.microsoft.com/office/drawing/2014/main" id="{AF1DA787-03F9-F942-9758-D93A6D98976B}"/>
              </a:ext>
              <a:ext uri="{C183D7F6-B498-43B3-948B-1728B52AA6E4}">
                <adec:decorative xmlns:adec="http://schemas.microsoft.com/office/drawing/2017/decorative" val="1"/>
              </a:ext>
            </a:extLst>
          </p:cNvPr>
          <p:cNvCxnSpPr>
            <a:cxnSpLocks/>
          </p:cNvCxnSpPr>
          <p:nvPr/>
        </p:nvCxnSpPr>
        <p:spPr>
          <a:xfrm>
            <a:off x="4156546" y="3012819"/>
            <a:ext cx="7458410" cy="0"/>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3FA8EC70-29BE-4A40-AD87-AE3973ABCBD8}"/>
              </a:ext>
              <a:ext uri="{C183D7F6-B498-43B3-948B-1728B52AA6E4}">
                <adec:decorative xmlns:adec="http://schemas.microsoft.com/office/drawing/2017/decorative" val="1"/>
              </a:ext>
            </a:extLst>
          </p:cNvPr>
          <p:cNvGrpSpPr/>
          <p:nvPr/>
        </p:nvGrpSpPr>
        <p:grpSpPr>
          <a:xfrm>
            <a:off x="3652234" y="3432284"/>
            <a:ext cx="307294" cy="307292"/>
            <a:chOff x="3504672" y="2212396"/>
            <a:chExt cx="601768" cy="601764"/>
          </a:xfrm>
        </p:grpSpPr>
        <p:sp>
          <p:nvSpPr>
            <p:cNvPr id="51" name="Oval 50">
              <a:extLst>
                <a:ext uri="{FF2B5EF4-FFF2-40B4-BE49-F238E27FC236}">
                  <a16:creationId xmlns:a16="http://schemas.microsoft.com/office/drawing/2014/main" id="{A5F83DBF-F067-4639-9160-77938DA46492}"/>
                </a:ext>
              </a:extLst>
            </p:cNvPr>
            <p:cNvSpPr/>
            <p:nvPr/>
          </p:nvSpPr>
          <p:spPr bwMode="auto">
            <a:xfrm>
              <a:off x="3504672" y="2212396"/>
              <a:ext cx="601768" cy="601764"/>
            </a:xfrm>
            <a:prstGeom prst="ellipse">
              <a:avLst/>
            </a:prstGeom>
            <a:solidFill>
              <a:schemeClr val="accent3"/>
            </a:solidFill>
            <a:ln w="19050" cap="flat" cmpd="sng" algn="ctr">
              <a:noFill/>
              <a:prstDash val="solid"/>
            </a:ln>
            <a:effectLst/>
          </p:spPr>
          <p:txBody>
            <a:bodyPr rot="0" spcFirstLastPara="0" vertOverflow="overflow" horzOverflow="overflow" vert="horz" wrap="square" lIns="0" tIns="45700" rIns="0" bIns="45700" numCol="1" spcCol="0" rtlCol="0" fromWordArt="0" anchor="ctr" anchorCtr="0" forceAA="0" compatLnSpc="1">
              <a:prstTxWarp prst="textNoShape">
                <a:avLst/>
              </a:prstTxWarp>
              <a:noAutofit/>
            </a:bodyPr>
            <a:lstStyle/>
            <a:p>
              <a:pPr marL="0" marR="0" lvl="0" indent="0" algn="ctr" defTabSz="913576"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Segoe UI"/>
                <a:ea typeface="+mn-ea"/>
                <a:cs typeface="+mn-cs"/>
              </a:endParaRPr>
            </a:p>
          </p:txBody>
        </p:sp>
        <p:sp>
          <p:nvSpPr>
            <p:cNvPr id="52" name="Isosceles Triangle 51">
              <a:extLst>
                <a:ext uri="{FF2B5EF4-FFF2-40B4-BE49-F238E27FC236}">
                  <a16:creationId xmlns:a16="http://schemas.microsoft.com/office/drawing/2014/main" id="{E9DF368C-6398-40E8-B3D2-78658D2BC2B4}"/>
                </a:ext>
              </a:extLst>
            </p:cNvPr>
            <p:cNvSpPr/>
            <p:nvPr/>
          </p:nvSpPr>
          <p:spPr>
            <a:xfrm rot="5400000">
              <a:off x="3678934" y="2399237"/>
              <a:ext cx="325400" cy="22808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36" name="Rectangle 35">
            <a:extLst>
              <a:ext uri="{FF2B5EF4-FFF2-40B4-BE49-F238E27FC236}">
                <a16:creationId xmlns:a16="http://schemas.microsoft.com/office/drawing/2014/main" id="{D7F65D6D-39AA-F04F-9868-B5A6FE6A2FD3}"/>
              </a:ext>
            </a:extLst>
          </p:cNvPr>
          <p:cNvSpPr/>
          <p:nvPr/>
        </p:nvSpPr>
        <p:spPr>
          <a:xfrm>
            <a:off x="4050687" y="3257299"/>
            <a:ext cx="1678168" cy="657265"/>
          </a:xfrm>
          <a:prstGeom prst="rect">
            <a:avLst/>
          </a:prstGeom>
        </p:spPr>
        <p:txBody>
          <a:bodyPr wrap="square" anchor="ctr">
            <a:spAutoFit/>
          </a:bodyPr>
          <a:lstStyle/>
          <a:p>
            <a:pPr marL="0" marR="0" lvl="0" indent="0" algn="l" defTabSz="913698" rtl="0" eaLnBrk="1" fontAlgn="auto" latinLnBrk="0" hangingPunct="1">
              <a:lnSpc>
                <a:spcPct val="100000"/>
              </a:lnSpc>
              <a:spcBef>
                <a:spcPts val="0"/>
              </a:spcBef>
              <a:spcAft>
                <a:spcPts val="588"/>
              </a:spcAft>
              <a:buClrTx/>
              <a:buSzPct val="90000"/>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Segoe UI Semibold" panose="020B0702040204020203" pitchFamily="34" charset="0"/>
              </a:rPr>
              <a:t>Diverse capabilities </a:t>
            </a:r>
          </a:p>
        </p:txBody>
      </p:sp>
      <p:sp>
        <p:nvSpPr>
          <p:cNvPr id="37" name="Rectangle 36">
            <a:extLst>
              <a:ext uri="{FF2B5EF4-FFF2-40B4-BE49-F238E27FC236}">
                <a16:creationId xmlns:a16="http://schemas.microsoft.com/office/drawing/2014/main" id="{0FF88499-5646-A146-AFA6-A90B3973334F}"/>
              </a:ext>
            </a:extLst>
          </p:cNvPr>
          <p:cNvSpPr/>
          <p:nvPr/>
        </p:nvSpPr>
        <p:spPr>
          <a:xfrm>
            <a:off x="5728855" y="3288648"/>
            <a:ext cx="5886099" cy="594566"/>
          </a:xfrm>
          <a:prstGeom prst="rect">
            <a:avLst/>
          </a:prstGeom>
        </p:spPr>
        <p:txBody>
          <a:bodyPr wrap="square" anchor="ctr">
            <a:spAutoFit/>
          </a:bodyPr>
          <a:lstStyle/>
          <a:p>
            <a:pPr marL="0" marR="0" lvl="0" indent="0" algn="l" defTabSz="913698" rtl="0" eaLnBrk="1" fontAlgn="auto" latinLnBrk="0" hangingPunct="1">
              <a:lnSpc>
                <a:spcPct val="100000"/>
              </a:lnSpc>
              <a:spcBef>
                <a:spcPts val="0"/>
              </a:spcBef>
              <a:spcAft>
                <a:spcPts val="588"/>
              </a:spcAft>
              <a:buClrTx/>
              <a:buSzPct val="90000"/>
              <a:buFontTx/>
              <a:buNone/>
              <a:tabLst/>
              <a:defRPr/>
            </a:pPr>
            <a:r>
              <a:rPr kumimoji="0" lang="en-US" sz="1600" b="0" i="0" u="none" strike="noStrike" kern="1200" cap="none" spc="0" normalizeH="0" baseline="0" noProof="0">
                <a:ln>
                  <a:solidFill>
                    <a:prstClr val="white"/>
                  </a:solidFill>
                </a:ln>
                <a:solidFill>
                  <a:prstClr val="white"/>
                </a:solidFill>
                <a:effectLst/>
                <a:uLnTx/>
                <a:uFillTx/>
                <a:latin typeface="Segoe UI"/>
                <a:ea typeface="+mn-ea"/>
                <a:cs typeface="Segoe UI" panose="020B0502040204020203" pitchFamily="34" charset="0"/>
              </a:rPr>
              <a:t>Comprehensive discovery, assessment, and migration capabilities powered by Azure and third-party tools</a:t>
            </a:r>
          </a:p>
        </p:txBody>
      </p:sp>
      <p:cxnSp>
        <p:nvCxnSpPr>
          <p:cNvPr id="28" name="Straight Connector 27">
            <a:extLst>
              <a:ext uri="{FF2B5EF4-FFF2-40B4-BE49-F238E27FC236}">
                <a16:creationId xmlns:a16="http://schemas.microsoft.com/office/drawing/2014/main" id="{27ADADB5-C732-1D44-89BF-243C31B5B9F0}"/>
              </a:ext>
              <a:ext uri="{C183D7F6-B498-43B3-948B-1728B52AA6E4}">
                <adec:decorative xmlns:adec="http://schemas.microsoft.com/office/drawing/2017/decorative" val="1"/>
              </a:ext>
            </a:extLst>
          </p:cNvPr>
          <p:cNvCxnSpPr>
            <a:cxnSpLocks/>
          </p:cNvCxnSpPr>
          <p:nvPr/>
        </p:nvCxnSpPr>
        <p:spPr>
          <a:xfrm>
            <a:off x="4156546" y="4159041"/>
            <a:ext cx="7458410" cy="0"/>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37CF193-D86F-4564-BC4D-109E95F846F3}"/>
              </a:ext>
              <a:ext uri="{C183D7F6-B498-43B3-948B-1728B52AA6E4}">
                <adec:decorative xmlns:adec="http://schemas.microsoft.com/office/drawing/2017/decorative" val="1"/>
              </a:ext>
            </a:extLst>
          </p:cNvPr>
          <p:cNvCxnSpPr>
            <a:cxnSpLocks/>
          </p:cNvCxnSpPr>
          <p:nvPr/>
        </p:nvCxnSpPr>
        <p:spPr>
          <a:xfrm>
            <a:off x="5595169" y="3404092"/>
            <a:ext cx="0" cy="363679"/>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E1F57022-6324-411B-84E8-C01F80D463EF}"/>
              </a:ext>
              <a:ext uri="{C183D7F6-B498-43B3-948B-1728B52AA6E4}">
                <adec:decorative xmlns:adec="http://schemas.microsoft.com/office/drawing/2017/decorative" val="1"/>
              </a:ext>
            </a:extLst>
          </p:cNvPr>
          <p:cNvGrpSpPr/>
          <p:nvPr/>
        </p:nvGrpSpPr>
        <p:grpSpPr>
          <a:xfrm>
            <a:off x="3652234" y="4578506"/>
            <a:ext cx="307294" cy="307292"/>
            <a:chOff x="3504672" y="2212396"/>
            <a:chExt cx="601768" cy="601764"/>
          </a:xfrm>
        </p:grpSpPr>
        <p:sp>
          <p:nvSpPr>
            <p:cNvPr id="54" name="Oval 53">
              <a:extLst>
                <a:ext uri="{FF2B5EF4-FFF2-40B4-BE49-F238E27FC236}">
                  <a16:creationId xmlns:a16="http://schemas.microsoft.com/office/drawing/2014/main" id="{3F996E7C-E894-4788-9665-CD2A1C6C611F}"/>
                </a:ext>
              </a:extLst>
            </p:cNvPr>
            <p:cNvSpPr/>
            <p:nvPr/>
          </p:nvSpPr>
          <p:spPr bwMode="auto">
            <a:xfrm>
              <a:off x="3504672" y="2212396"/>
              <a:ext cx="601768" cy="601764"/>
            </a:xfrm>
            <a:prstGeom prst="ellipse">
              <a:avLst/>
            </a:prstGeom>
            <a:solidFill>
              <a:schemeClr val="accent3"/>
            </a:solidFill>
            <a:ln w="19050" cap="flat" cmpd="sng" algn="ctr">
              <a:noFill/>
              <a:prstDash val="solid"/>
            </a:ln>
            <a:effectLst/>
          </p:spPr>
          <p:txBody>
            <a:bodyPr rot="0" spcFirstLastPara="0" vertOverflow="overflow" horzOverflow="overflow" vert="horz" wrap="square" lIns="0" tIns="45700" rIns="0" bIns="45700" numCol="1" spcCol="0" rtlCol="0" fromWordArt="0" anchor="ctr" anchorCtr="0" forceAA="0" compatLnSpc="1">
              <a:prstTxWarp prst="textNoShape">
                <a:avLst/>
              </a:prstTxWarp>
              <a:noAutofit/>
            </a:bodyPr>
            <a:lstStyle/>
            <a:p>
              <a:pPr marL="0" marR="0" lvl="0" indent="0" algn="ctr" defTabSz="913576"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Segoe UI"/>
                <a:ea typeface="+mn-ea"/>
                <a:cs typeface="+mn-cs"/>
              </a:endParaRPr>
            </a:p>
          </p:txBody>
        </p:sp>
        <p:sp>
          <p:nvSpPr>
            <p:cNvPr id="55" name="Isosceles Triangle 54">
              <a:extLst>
                <a:ext uri="{FF2B5EF4-FFF2-40B4-BE49-F238E27FC236}">
                  <a16:creationId xmlns:a16="http://schemas.microsoft.com/office/drawing/2014/main" id="{60459D20-AE7B-40AC-9615-8822C48321E9}"/>
                </a:ext>
              </a:extLst>
            </p:cNvPr>
            <p:cNvSpPr/>
            <p:nvPr/>
          </p:nvSpPr>
          <p:spPr>
            <a:xfrm rot="5400000">
              <a:off x="3678934" y="2399237"/>
              <a:ext cx="325400" cy="22808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Segoe UI"/>
                <a:ea typeface="+mn-ea"/>
                <a:cs typeface="+mn-cs"/>
              </a:endParaRPr>
            </a:p>
          </p:txBody>
        </p:sp>
      </p:grpSp>
      <p:sp>
        <p:nvSpPr>
          <p:cNvPr id="32" name="Rectangle 31">
            <a:extLst>
              <a:ext uri="{FF2B5EF4-FFF2-40B4-BE49-F238E27FC236}">
                <a16:creationId xmlns:a16="http://schemas.microsoft.com/office/drawing/2014/main" id="{DB461F21-3193-7146-A814-933E8F48FE8B}"/>
              </a:ext>
            </a:extLst>
          </p:cNvPr>
          <p:cNvSpPr/>
          <p:nvPr/>
        </p:nvSpPr>
        <p:spPr>
          <a:xfrm>
            <a:off x="4050687" y="4403522"/>
            <a:ext cx="1678168" cy="657265"/>
          </a:xfrm>
          <a:prstGeom prst="rect">
            <a:avLst/>
          </a:prstGeom>
        </p:spPr>
        <p:txBody>
          <a:bodyPr wrap="square" anchor="ctr">
            <a:spAutoFit/>
          </a:bodyPr>
          <a:lstStyle/>
          <a:p>
            <a:pPr marL="0" marR="0" lvl="0" indent="0" algn="l" defTabSz="913698" rtl="0" eaLnBrk="1" fontAlgn="auto" latinLnBrk="0" hangingPunct="1">
              <a:lnSpc>
                <a:spcPct val="100000"/>
              </a:lnSpc>
              <a:spcBef>
                <a:spcPts val="0"/>
              </a:spcBef>
              <a:spcAft>
                <a:spcPts val="588"/>
              </a:spcAft>
              <a:buClrTx/>
              <a:buSzPct val="90000"/>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Segoe UI Semibold" panose="020B0702040204020203" pitchFamily="34" charset="0"/>
              </a:rPr>
              <a:t>Centralized visibility </a:t>
            </a:r>
          </a:p>
        </p:txBody>
      </p:sp>
      <p:cxnSp>
        <p:nvCxnSpPr>
          <p:cNvPr id="49" name="Straight Connector 48">
            <a:extLst>
              <a:ext uri="{FF2B5EF4-FFF2-40B4-BE49-F238E27FC236}">
                <a16:creationId xmlns:a16="http://schemas.microsoft.com/office/drawing/2014/main" id="{69EF778A-F7D5-4735-9AD0-7EE30A98A78B}"/>
              </a:ext>
              <a:ext uri="{C183D7F6-B498-43B3-948B-1728B52AA6E4}">
                <adec:decorative xmlns:adec="http://schemas.microsoft.com/office/drawing/2017/decorative" val="1"/>
              </a:ext>
            </a:extLst>
          </p:cNvPr>
          <p:cNvCxnSpPr>
            <a:cxnSpLocks/>
          </p:cNvCxnSpPr>
          <p:nvPr/>
        </p:nvCxnSpPr>
        <p:spPr>
          <a:xfrm>
            <a:off x="5595169" y="4550314"/>
            <a:ext cx="0" cy="363679"/>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49097BD-91BF-F444-860A-3AC21FD5BE44}"/>
              </a:ext>
            </a:extLst>
          </p:cNvPr>
          <p:cNvSpPr/>
          <p:nvPr/>
        </p:nvSpPr>
        <p:spPr>
          <a:xfrm>
            <a:off x="5728855" y="4434870"/>
            <a:ext cx="5886099" cy="594566"/>
          </a:xfrm>
          <a:prstGeom prst="rect">
            <a:avLst/>
          </a:prstGeom>
        </p:spPr>
        <p:txBody>
          <a:bodyPr wrap="square" anchor="ctr">
            <a:spAutoFit/>
          </a:bodyPr>
          <a:lstStyle/>
          <a:p>
            <a:pPr marL="0" marR="0" lvl="0" indent="0" algn="l" defTabSz="913698" rtl="0" eaLnBrk="1" fontAlgn="auto" latinLnBrk="0" hangingPunct="1">
              <a:lnSpc>
                <a:spcPct val="100000"/>
              </a:lnSpc>
              <a:spcBef>
                <a:spcPts val="0"/>
              </a:spcBef>
              <a:spcAft>
                <a:spcPts val="588"/>
              </a:spcAft>
              <a:buClrTx/>
              <a:buSzPct val="90000"/>
              <a:buFontTx/>
              <a:buNone/>
              <a:tabLst/>
              <a:defRPr/>
            </a:pPr>
            <a:r>
              <a:rPr kumimoji="0" lang="en-US" sz="1600" b="0" i="0" u="none" strike="noStrike" kern="1200" cap="none" spc="0" normalizeH="0" baseline="0" noProof="0">
                <a:ln>
                  <a:solidFill>
                    <a:prstClr val="white"/>
                  </a:solidFill>
                </a:ln>
                <a:solidFill>
                  <a:prstClr val="white"/>
                </a:solidFill>
                <a:effectLst/>
                <a:uLnTx/>
                <a:uFillTx/>
                <a:latin typeface="Segoe UI" panose="020B0502040204020203" pitchFamily="34" charset="0"/>
                <a:ea typeface="+mn-ea"/>
                <a:cs typeface="Segoe UI" panose="020B0502040204020203" pitchFamily="34" charset="0"/>
              </a:rPr>
              <a:t>Centralized migration repository delivering end-to-end tracking and insights</a:t>
            </a:r>
          </a:p>
        </p:txBody>
      </p:sp>
    </p:spTree>
    <p:extLst>
      <p:ext uri="{BB962C8B-B14F-4D97-AF65-F5344CB8AC3E}">
        <p14:creationId xmlns:p14="http://schemas.microsoft.com/office/powerpoint/2010/main" val="2939049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D5196-C3F2-4DF1-B37A-3B192F786B2E}"/>
              </a:ext>
            </a:extLst>
          </p:cNvPr>
          <p:cNvSpPr>
            <a:spLocks noGrp="1"/>
          </p:cNvSpPr>
          <p:nvPr>
            <p:ph type="title"/>
          </p:nvPr>
        </p:nvSpPr>
        <p:spPr/>
        <p:txBody>
          <a:bodyPr/>
          <a:lstStyle/>
          <a:p>
            <a:r>
              <a:rPr lang="en-US"/>
              <a:t>Tools and services for your migration journey</a:t>
            </a:r>
          </a:p>
        </p:txBody>
      </p:sp>
      <p:sp>
        <p:nvSpPr>
          <p:cNvPr id="4" name="TextBox 3">
            <a:extLst>
              <a:ext uri="{FF2B5EF4-FFF2-40B4-BE49-F238E27FC236}">
                <a16:creationId xmlns:a16="http://schemas.microsoft.com/office/drawing/2014/main" id="{E9BC63B9-4D1C-4039-A14E-BAE4773F610A}"/>
              </a:ext>
            </a:extLst>
          </p:cNvPr>
          <p:cNvSpPr txBox="1"/>
          <p:nvPr/>
        </p:nvSpPr>
        <p:spPr>
          <a:xfrm>
            <a:off x="604304" y="1500070"/>
            <a:ext cx="1342697" cy="516350"/>
          </a:xfrm>
          <a:prstGeom prst="rect">
            <a:avLst/>
          </a:prstGeom>
        </p:spPr>
        <p:txBody>
          <a:bodyPr wrap="square" lIns="0" tIns="0" rIns="0" bIns="0" rtlCol="0">
            <a:spAutoFit/>
          </a:bodyPr>
          <a:lstStyle>
            <a:defPPr>
              <a:defRPr lang="en-US"/>
            </a:defPPr>
            <a:lvl1pPr marR="0" lvl="0" indent="0" defTabSz="914377" fontAlgn="auto">
              <a:lnSpc>
                <a:spcPct val="100000"/>
              </a:lnSpc>
              <a:spcBef>
                <a:spcPts val="0"/>
              </a:spcBef>
              <a:spcAft>
                <a:spcPts val="588"/>
              </a:spcAft>
              <a:buClrTx/>
              <a:buSzTx/>
              <a:buFontTx/>
              <a:buNone/>
              <a:tabLst/>
              <a:defRPr kumimoji="0" sz="1400" b="0" i="0" u="none" strike="noStrike" cap="none" spc="0" normalizeH="0" baseline="0">
                <a:ln>
                  <a:noFill/>
                </a:ln>
                <a:solidFill>
                  <a:srgbClr val="0078D4"/>
                </a:solidFill>
                <a:effectLst/>
                <a:uLnTx/>
                <a:uFillTx/>
                <a:latin typeface="Segoe UI Semibold"/>
              </a:defRPr>
            </a:lvl1pPr>
          </a:lstStyle>
          <a:p>
            <a:pPr defTabSz="914201">
              <a:defRPr/>
            </a:pPr>
            <a:r>
              <a:rPr lang="en-US">
                <a:solidFill>
                  <a:prstClr val="white"/>
                </a:solidFill>
              </a:rPr>
              <a:t>On-premises</a:t>
            </a:r>
          </a:p>
          <a:p>
            <a:pPr defTabSz="914201">
              <a:defRPr/>
            </a:pPr>
            <a:r>
              <a:rPr lang="en-US">
                <a:solidFill>
                  <a:prstClr val="white"/>
                </a:solidFill>
              </a:rPr>
              <a:t>Other clouds</a:t>
            </a:r>
          </a:p>
        </p:txBody>
      </p:sp>
      <p:pic>
        <p:nvPicPr>
          <p:cNvPr id="38" name="Picture 37" descr="sql server logo">
            <a:extLst>
              <a:ext uri="{FF2B5EF4-FFF2-40B4-BE49-F238E27FC236}">
                <a16:creationId xmlns:a16="http://schemas.microsoft.com/office/drawing/2014/main" id="{5D14A2CE-7B47-418F-B602-06A114B2511D}"/>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04303" y="2262117"/>
            <a:ext cx="806161" cy="223336"/>
          </a:xfrm>
          <a:prstGeom prst="rect">
            <a:avLst/>
          </a:prstGeom>
        </p:spPr>
      </p:pic>
      <p:pic>
        <p:nvPicPr>
          <p:cNvPr id="37" name="Picture 14" descr="Image result for Oracle">
            <a:extLst>
              <a:ext uri="{FF2B5EF4-FFF2-40B4-BE49-F238E27FC236}">
                <a16:creationId xmlns:a16="http://schemas.microsoft.com/office/drawing/2014/main" id="{11D76ED2-0E04-4E6D-BEC3-20AA4767B7AC}"/>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16139" y="2714783"/>
            <a:ext cx="782490" cy="11115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Image result for mysql logo transparent">
            <a:extLst>
              <a:ext uri="{FF2B5EF4-FFF2-40B4-BE49-F238E27FC236}">
                <a16:creationId xmlns:a16="http://schemas.microsoft.com/office/drawing/2014/main" id="{87D928EC-7967-45CB-8C02-59336DDFBA91}"/>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41530" y="3055270"/>
            <a:ext cx="731704" cy="379123"/>
          </a:xfrm>
          <a:prstGeom prst="rect">
            <a:avLst/>
          </a:prstGeom>
          <a:noFill/>
          <a:extLst>
            <a:ext uri="{909E8E84-426E-40DD-AFC4-6F175D3DCCD1}">
              <a14:hiddenFill xmlns:a14="http://schemas.microsoft.com/office/drawing/2010/main">
                <a:solidFill>
                  <a:srgbClr val="FFFFFF"/>
                </a:solidFill>
              </a14:hiddenFill>
            </a:ext>
          </a:extLst>
        </p:spPr>
      </p:pic>
      <p:grpSp>
        <p:nvGrpSpPr>
          <p:cNvPr id="43" name="Group 42" descr="Postgresql logo">
            <a:extLst>
              <a:ext uri="{FF2B5EF4-FFF2-40B4-BE49-F238E27FC236}">
                <a16:creationId xmlns:a16="http://schemas.microsoft.com/office/drawing/2014/main" id="{DE73446F-E08C-4BD2-A9FB-17739400EBDD}"/>
              </a:ext>
            </a:extLst>
          </p:cNvPr>
          <p:cNvGrpSpPr/>
          <p:nvPr/>
        </p:nvGrpSpPr>
        <p:grpSpPr>
          <a:xfrm>
            <a:off x="632319" y="3705339"/>
            <a:ext cx="750128" cy="668107"/>
            <a:chOff x="631544" y="3705378"/>
            <a:chExt cx="750235" cy="668202"/>
          </a:xfrm>
        </p:grpSpPr>
        <p:pic>
          <p:nvPicPr>
            <p:cNvPr id="35" name="Picture 34">
              <a:extLst>
                <a:ext uri="{FF2B5EF4-FFF2-40B4-BE49-F238E27FC236}">
                  <a16:creationId xmlns:a16="http://schemas.microsoft.com/office/drawing/2014/main" id="{87AF862D-0974-408E-964F-2AF2F2027125}"/>
                </a:ext>
              </a:extLst>
            </p:cNvPr>
            <p:cNvPicPr>
              <a:picLocks noChangeAspect="1"/>
            </p:cNvPicPr>
            <p:nvPr/>
          </p:nvPicPr>
          <p:blipFill rotWithShape="1">
            <a:blip r:embed="rId9">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rcRect/>
            <a:stretch/>
          </p:blipFill>
          <p:spPr>
            <a:xfrm>
              <a:off x="631544" y="4202906"/>
              <a:ext cx="750235" cy="170674"/>
            </a:xfrm>
            <a:prstGeom prst="rect">
              <a:avLst/>
            </a:prstGeom>
          </p:spPr>
        </p:pic>
        <p:grpSp>
          <p:nvGrpSpPr>
            <p:cNvPr id="44" name="Group 43">
              <a:extLst>
                <a:ext uri="{FF2B5EF4-FFF2-40B4-BE49-F238E27FC236}">
                  <a16:creationId xmlns:a16="http://schemas.microsoft.com/office/drawing/2014/main" id="{7AE0DFA2-E425-434B-BCFC-FC8A30F67DD1}"/>
                </a:ext>
              </a:extLst>
            </p:cNvPr>
            <p:cNvGrpSpPr/>
            <p:nvPr/>
          </p:nvGrpSpPr>
          <p:grpSpPr>
            <a:xfrm>
              <a:off x="768559" y="3705378"/>
              <a:ext cx="453884" cy="470209"/>
              <a:chOff x="10970759" y="2371811"/>
              <a:chExt cx="661987" cy="685800"/>
            </a:xfrm>
            <a:solidFill>
              <a:schemeClr val="tx1"/>
            </a:solidFill>
          </p:grpSpPr>
          <p:sp>
            <p:nvSpPr>
              <p:cNvPr id="45" name="Freeform 235">
                <a:extLst>
                  <a:ext uri="{FF2B5EF4-FFF2-40B4-BE49-F238E27FC236}">
                    <a16:creationId xmlns:a16="http://schemas.microsoft.com/office/drawing/2014/main" id="{30BA8947-8FBF-4E11-9098-B16687474A6E}"/>
                  </a:ext>
                </a:extLst>
              </p:cNvPr>
              <p:cNvSpPr>
                <a:spLocks noEditPoints="1"/>
              </p:cNvSpPr>
              <p:nvPr/>
            </p:nvSpPr>
            <p:spPr bwMode="auto">
              <a:xfrm>
                <a:off x="10970759" y="2371811"/>
                <a:ext cx="661987" cy="685800"/>
              </a:xfrm>
              <a:custGeom>
                <a:avLst/>
                <a:gdLst>
                  <a:gd name="T0" fmla="*/ 1458 w 1668"/>
                  <a:gd name="T1" fmla="*/ 1046 h 1728"/>
                  <a:gd name="T2" fmla="*/ 1588 w 1668"/>
                  <a:gd name="T3" fmla="*/ 665 h 1728"/>
                  <a:gd name="T4" fmla="*/ 1656 w 1668"/>
                  <a:gd name="T5" fmla="*/ 261 h 1728"/>
                  <a:gd name="T6" fmla="*/ 1378 w 1668"/>
                  <a:gd name="T7" fmla="*/ 19 h 1728"/>
                  <a:gd name="T8" fmla="*/ 974 w 1668"/>
                  <a:gd name="T9" fmla="*/ 30 h 1728"/>
                  <a:gd name="T10" fmla="*/ 537 w 1668"/>
                  <a:gd name="T11" fmla="*/ 45 h 1728"/>
                  <a:gd name="T12" fmla="*/ 168 w 1668"/>
                  <a:gd name="T13" fmla="*/ 66 h 1728"/>
                  <a:gd name="T14" fmla="*/ 1 w 1668"/>
                  <a:gd name="T15" fmla="*/ 390 h 1728"/>
                  <a:gd name="T16" fmla="*/ 158 w 1668"/>
                  <a:gd name="T17" fmla="*/ 1052 h 1728"/>
                  <a:gd name="T18" fmla="*/ 360 w 1668"/>
                  <a:gd name="T19" fmla="*/ 1256 h 1728"/>
                  <a:gd name="T20" fmla="*/ 639 w 1668"/>
                  <a:gd name="T21" fmla="*/ 1060 h 1728"/>
                  <a:gd name="T22" fmla="*/ 566 w 1668"/>
                  <a:gd name="T23" fmla="*/ 1146 h 1728"/>
                  <a:gd name="T24" fmla="*/ 494 w 1668"/>
                  <a:gd name="T25" fmla="*/ 1234 h 1728"/>
                  <a:gd name="T26" fmla="*/ 732 w 1668"/>
                  <a:gd name="T27" fmla="*/ 1265 h 1728"/>
                  <a:gd name="T28" fmla="*/ 838 w 1668"/>
                  <a:gd name="T29" fmla="*/ 1608 h 1728"/>
                  <a:gd name="T30" fmla="*/ 1052 w 1668"/>
                  <a:gd name="T31" fmla="*/ 1724 h 1728"/>
                  <a:gd name="T32" fmla="*/ 1269 w 1668"/>
                  <a:gd name="T33" fmla="*/ 1535 h 1728"/>
                  <a:gd name="T34" fmla="*/ 1497 w 1668"/>
                  <a:gd name="T35" fmla="*/ 1196 h 1728"/>
                  <a:gd name="T36" fmla="*/ 1667 w 1668"/>
                  <a:gd name="T37" fmla="*/ 1057 h 1728"/>
                  <a:gd name="T38" fmla="*/ 1358 w 1668"/>
                  <a:gd name="T39" fmla="*/ 804 h 1728"/>
                  <a:gd name="T40" fmla="*/ 1258 w 1668"/>
                  <a:gd name="T41" fmla="*/ 778 h 1728"/>
                  <a:gd name="T42" fmla="*/ 1204 w 1668"/>
                  <a:gd name="T43" fmla="*/ 512 h 1728"/>
                  <a:gd name="T44" fmla="*/ 1239 w 1668"/>
                  <a:gd name="T45" fmla="*/ 51 h 1728"/>
                  <a:gd name="T46" fmla="*/ 1586 w 1668"/>
                  <a:gd name="T47" fmla="*/ 215 h 1728"/>
                  <a:gd name="T48" fmla="*/ 1549 w 1668"/>
                  <a:gd name="T49" fmla="*/ 622 h 1728"/>
                  <a:gd name="T50" fmla="*/ 1378 w 1668"/>
                  <a:gd name="T51" fmla="*/ 957 h 1728"/>
                  <a:gd name="T52" fmla="*/ 1395 w 1668"/>
                  <a:gd name="T53" fmla="*/ 638 h 1728"/>
                  <a:gd name="T54" fmla="*/ 1363 w 1668"/>
                  <a:gd name="T55" fmla="*/ 320 h 1728"/>
                  <a:gd name="T56" fmla="*/ 1090 w 1668"/>
                  <a:gd name="T57" fmla="*/ 64 h 1728"/>
                  <a:gd name="T58" fmla="*/ 350 w 1668"/>
                  <a:gd name="T59" fmla="*/ 1206 h 1728"/>
                  <a:gd name="T60" fmla="*/ 175 w 1668"/>
                  <a:gd name="T61" fmla="*/ 958 h 1728"/>
                  <a:gd name="T62" fmla="*/ 55 w 1668"/>
                  <a:gd name="T63" fmla="*/ 343 h 1728"/>
                  <a:gd name="T64" fmla="*/ 219 w 1668"/>
                  <a:gd name="T65" fmla="*/ 98 h 1728"/>
                  <a:gd name="T66" fmla="*/ 610 w 1668"/>
                  <a:gd name="T67" fmla="*/ 118 h 1728"/>
                  <a:gd name="T68" fmla="*/ 467 w 1668"/>
                  <a:gd name="T69" fmla="*/ 463 h 1728"/>
                  <a:gd name="T70" fmla="*/ 458 w 1668"/>
                  <a:gd name="T71" fmla="*/ 833 h 1728"/>
                  <a:gd name="T72" fmla="*/ 492 w 1668"/>
                  <a:gd name="T73" fmla="*/ 1073 h 1728"/>
                  <a:gd name="T74" fmla="*/ 509 w 1668"/>
                  <a:gd name="T75" fmla="*/ 828 h 1728"/>
                  <a:gd name="T76" fmla="*/ 544 w 1668"/>
                  <a:gd name="T77" fmla="*/ 523 h 1728"/>
                  <a:gd name="T78" fmla="*/ 757 w 1668"/>
                  <a:gd name="T79" fmla="*/ 528 h 1728"/>
                  <a:gd name="T80" fmla="*/ 742 w 1668"/>
                  <a:gd name="T81" fmla="*/ 895 h 1728"/>
                  <a:gd name="T82" fmla="*/ 567 w 1668"/>
                  <a:gd name="T83" fmla="*/ 958 h 1728"/>
                  <a:gd name="T84" fmla="*/ 681 w 1668"/>
                  <a:gd name="T85" fmla="*/ 1159 h 1728"/>
                  <a:gd name="T86" fmla="*/ 779 w 1668"/>
                  <a:gd name="T87" fmla="*/ 1082 h 1728"/>
                  <a:gd name="T88" fmla="*/ 735 w 1668"/>
                  <a:gd name="T89" fmla="*/ 1209 h 1728"/>
                  <a:gd name="T90" fmla="*/ 1002 w 1668"/>
                  <a:gd name="T91" fmla="*/ 1677 h 1728"/>
                  <a:gd name="T92" fmla="*/ 868 w 1668"/>
                  <a:gd name="T93" fmla="*/ 1514 h 1728"/>
                  <a:gd name="T94" fmla="*/ 826 w 1668"/>
                  <a:gd name="T95" fmla="*/ 1052 h 1728"/>
                  <a:gd name="T96" fmla="*/ 780 w 1668"/>
                  <a:gd name="T97" fmla="*/ 934 h 1728"/>
                  <a:gd name="T98" fmla="*/ 816 w 1668"/>
                  <a:gd name="T99" fmla="*/ 543 h 1728"/>
                  <a:gd name="T100" fmla="*/ 655 w 1668"/>
                  <a:gd name="T101" fmla="*/ 434 h 1728"/>
                  <a:gd name="T102" fmla="*/ 555 w 1668"/>
                  <a:gd name="T103" fmla="*/ 302 h 1728"/>
                  <a:gd name="T104" fmla="*/ 760 w 1668"/>
                  <a:gd name="T105" fmla="*/ 86 h 1728"/>
                  <a:gd name="T106" fmla="*/ 1131 w 1668"/>
                  <a:gd name="T107" fmla="*/ 144 h 1728"/>
                  <a:gd name="T108" fmla="*/ 1356 w 1668"/>
                  <a:gd name="T109" fmla="*/ 427 h 1728"/>
                  <a:gd name="T110" fmla="*/ 1162 w 1668"/>
                  <a:gd name="T111" fmla="*/ 483 h 1728"/>
                  <a:gd name="T112" fmla="*/ 1207 w 1668"/>
                  <a:gd name="T113" fmla="*/ 791 h 1728"/>
                  <a:gd name="T114" fmla="*/ 1320 w 1668"/>
                  <a:gd name="T115" fmla="*/ 1035 h 1728"/>
                  <a:gd name="T116" fmla="*/ 1229 w 1668"/>
                  <a:gd name="T117" fmla="*/ 1467 h 1728"/>
                  <a:gd name="T118" fmla="*/ 1078 w 1668"/>
                  <a:gd name="T119" fmla="*/ 1667 h 1728"/>
                  <a:gd name="T120" fmla="*/ 1345 w 1668"/>
                  <a:gd name="T121" fmla="*/ 1155 h 1728"/>
                  <a:gd name="T122" fmla="*/ 1363 w 1668"/>
                  <a:gd name="T123" fmla="*/ 1074 h 1728"/>
                  <a:gd name="T124" fmla="*/ 1601 w 1668"/>
                  <a:gd name="T125" fmla="*/ 1084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68" h="1728">
                    <a:moveTo>
                      <a:pt x="1667" y="1057"/>
                    </a:moveTo>
                    <a:lnTo>
                      <a:pt x="1667" y="1057"/>
                    </a:lnTo>
                    <a:lnTo>
                      <a:pt x="1663" y="1049"/>
                    </a:lnTo>
                    <a:lnTo>
                      <a:pt x="1658" y="1042"/>
                    </a:lnTo>
                    <a:lnTo>
                      <a:pt x="1651" y="1037"/>
                    </a:lnTo>
                    <a:lnTo>
                      <a:pt x="1641" y="1034"/>
                    </a:lnTo>
                    <a:lnTo>
                      <a:pt x="1631" y="1032"/>
                    </a:lnTo>
                    <a:lnTo>
                      <a:pt x="1620" y="1031"/>
                    </a:lnTo>
                    <a:lnTo>
                      <a:pt x="1607" y="1032"/>
                    </a:lnTo>
                    <a:lnTo>
                      <a:pt x="1591" y="1034"/>
                    </a:lnTo>
                    <a:lnTo>
                      <a:pt x="1591" y="1034"/>
                    </a:lnTo>
                    <a:lnTo>
                      <a:pt x="1569" y="1039"/>
                    </a:lnTo>
                    <a:lnTo>
                      <a:pt x="1548" y="1042"/>
                    </a:lnTo>
                    <a:lnTo>
                      <a:pt x="1530" y="1044"/>
                    </a:lnTo>
                    <a:lnTo>
                      <a:pt x="1512" y="1046"/>
                    </a:lnTo>
                    <a:lnTo>
                      <a:pt x="1483" y="1047"/>
                    </a:lnTo>
                    <a:lnTo>
                      <a:pt x="1458" y="1046"/>
                    </a:lnTo>
                    <a:lnTo>
                      <a:pt x="1438" y="1044"/>
                    </a:lnTo>
                    <a:lnTo>
                      <a:pt x="1424" y="1040"/>
                    </a:lnTo>
                    <a:lnTo>
                      <a:pt x="1414" y="1036"/>
                    </a:lnTo>
                    <a:lnTo>
                      <a:pt x="1407" y="1032"/>
                    </a:lnTo>
                    <a:lnTo>
                      <a:pt x="1407" y="1032"/>
                    </a:lnTo>
                    <a:lnTo>
                      <a:pt x="1425" y="1003"/>
                    </a:lnTo>
                    <a:lnTo>
                      <a:pt x="1443" y="975"/>
                    </a:lnTo>
                    <a:lnTo>
                      <a:pt x="1460" y="946"/>
                    </a:lnTo>
                    <a:lnTo>
                      <a:pt x="1476" y="915"/>
                    </a:lnTo>
                    <a:lnTo>
                      <a:pt x="1493" y="885"/>
                    </a:lnTo>
                    <a:lnTo>
                      <a:pt x="1508" y="855"/>
                    </a:lnTo>
                    <a:lnTo>
                      <a:pt x="1523" y="824"/>
                    </a:lnTo>
                    <a:lnTo>
                      <a:pt x="1537" y="792"/>
                    </a:lnTo>
                    <a:lnTo>
                      <a:pt x="1551" y="761"/>
                    </a:lnTo>
                    <a:lnTo>
                      <a:pt x="1565" y="729"/>
                    </a:lnTo>
                    <a:lnTo>
                      <a:pt x="1577" y="697"/>
                    </a:lnTo>
                    <a:lnTo>
                      <a:pt x="1588" y="665"/>
                    </a:lnTo>
                    <a:lnTo>
                      <a:pt x="1599" y="634"/>
                    </a:lnTo>
                    <a:lnTo>
                      <a:pt x="1610" y="602"/>
                    </a:lnTo>
                    <a:lnTo>
                      <a:pt x="1619" y="570"/>
                    </a:lnTo>
                    <a:lnTo>
                      <a:pt x="1627" y="538"/>
                    </a:lnTo>
                    <a:lnTo>
                      <a:pt x="1627" y="538"/>
                    </a:lnTo>
                    <a:lnTo>
                      <a:pt x="1634" y="510"/>
                    </a:lnTo>
                    <a:lnTo>
                      <a:pt x="1640" y="481"/>
                    </a:lnTo>
                    <a:lnTo>
                      <a:pt x="1646" y="452"/>
                    </a:lnTo>
                    <a:lnTo>
                      <a:pt x="1651" y="426"/>
                    </a:lnTo>
                    <a:lnTo>
                      <a:pt x="1655" y="399"/>
                    </a:lnTo>
                    <a:lnTo>
                      <a:pt x="1657" y="375"/>
                    </a:lnTo>
                    <a:lnTo>
                      <a:pt x="1659" y="350"/>
                    </a:lnTo>
                    <a:lnTo>
                      <a:pt x="1660" y="327"/>
                    </a:lnTo>
                    <a:lnTo>
                      <a:pt x="1660" y="327"/>
                    </a:lnTo>
                    <a:lnTo>
                      <a:pt x="1660" y="303"/>
                    </a:lnTo>
                    <a:lnTo>
                      <a:pt x="1658" y="282"/>
                    </a:lnTo>
                    <a:lnTo>
                      <a:pt x="1656" y="261"/>
                    </a:lnTo>
                    <a:lnTo>
                      <a:pt x="1652" y="242"/>
                    </a:lnTo>
                    <a:lnTo>
                      <a:pt x="1648" y="225"/>
                    </a:lnTo>
                    <a:lnTo>
                      <a:pt x="1641" y="210"/>
                    </a:lnTo>
                    <a:lnTo>
                      <a:pt x="1634" y="196"/>
                    </a:lnTo>
                    <a:lnTo>
                      <a:pt x="1626" y="184"/>
                    </a:lnTo>
                    <a:lnTo>
                      <a:pt x="1626" y="184"/>
                    </a:lnTo>
                    <a:lnTo>
                      <a:pt x="1609" y="163"/>
                    </a:lnTo>
                    <a:lnTo>
                      <a:pt x="1589" y="142"/>
                    </a:lnTo>
                    <a:lnTo>
                      <a:pt x="1570" y="123"/>
                    </a:lnTo>
                    <a:lnTo>
                      <a:pt x="1549" y="105"/>
                    </a:lnTo>
                    <a:lnTo>
                      <a:pt x="1527" y="89"/>
                    </a:lnTo>
                    <a:lnTo>
                      <a:pt x="1504" y="74"/>
                    </a:lnTo>
                    <a:lnTo>
                      <a:pt x="1481" y="60"/>
                    </a:lnTo>
                    <a:lnTo>
                      <a:pt x="1456" y="48"/>
                    </a:lnTo>
                    <a:lnTo>
                      <a:pt x="1431" y="37"/>
                    </a:lnTo>
                    <a:lnTo>
                      <a:pt x="1405" y="28"/>
                    </a:lnTo>
                    <a:lnTo>
                      <a:pt x="1378" y="19"/>
                    </a:lnTo>
                    <a:lnTo>
                      <a:pt x="1350" y="12"/>
                    </a:lnTo>
                    <a:lnTo>
                      <a:pt x="1322" y="7"/>
                    </a:lnTo>
                    <a:lnTo>
                      <a:pt x="1293" y="3"/>
                    </a:lnTo>
                    <a:lnTo>
                      <a:pt x="1262" y="1"/>
                    </a:lnTo>
                    <a:lnTo>
                      <a:pt x="1233" y="0"/>
                    </a:lnTo>
                    <a:lnTo>
                      <a:pt x="1233" y="0"/>
                    </a:lnTo>
                    <a:lnTo>
                      <a:pt x="1211" y="0"/>
                    </a:lnTo>
                    <a:lnTo>
                      <a:pt x="1191" y="1"/>
                    </a:lnTo>
                    <a:lnTo>
                      <a:pt x="1152" y="4"/>
                    </a:lnTo>
                    <a:lnTo>
                      <a:pt x="1115" y="8"/>
                    </a:lnTo>
                    <a:lnTo>
                      <a:pt x="1083" y="14"/>
                    </a:lnTo>
                    <a:lnTo>
                      <a:pt x="1054" y="20"/>
                    </a:lnTo>
                    <a:lnTo>
                      <a:pt x="1032" y="27"/>
                    </a:lnTo>
                    <a:lnTo>
                      <a:pt x="1014" y="32"/>
                    </a:lnTo>
                    <a:lnTo>
                      <a:pt x="1004" y="36"/>
                    </a:lnTo>
                    <a:lnTo>
                      <a:pt x="1004" y="36"/>
                    </a:lnTo>
                    <a:lnTo>
                      <a:pt x="974" y="30"/>
                    </a:lnTo>
                    <a:lnTo>
                      <a:pt x="943" y="25"/>
                    </a:lnTo>
                    <a:lnTo>
                      <a:pt x="910" y="20"/>
                    </a:lnTo>
                    <a:lnTo>
                      <a:pt x="876" y="19"/>
                    </a:lnTo>
                    <a:lnTo>
                      <a:pt x="876" y="19"/>
                    </a:lnTo>
                    <a:lnTo>
                      <a:pt x="844" y="19"/>
                    </a:lnTo>
                    <a:lnTo>
                      <a:pt x="815" y="23"/>
                    </a:lnTo>
                    <a:lnTo>
                      <a:pt x="785" y="27"/>
                    </a:lnTo>
                    <a:lnTo>
                      <a:pt x="757" y="34"/>
                    </a:lnTo>
                    <a:lnTo>
                      <a:pt x="729" y="42"/>
                    </a:lnTo>
                    <a:lnTo>
                      <a:pt x="704" y="52"/>
                    </a:lnTo>
                    <a:lnTo>
                      <a:pt x="679" y="66"/>
                    </a:lnTo>
                    <a:lnTo>
                      <a:pt x="656" y="80"/>
                    </a:lnTo>
                    <a:lnTo>
                      <a:pt x="656" y="80"/>
                    </a:lnTo>
                    <a:lnTo>
                      <a:pt x="629" y="71"/>
                    </a:lnTo>
                    <a:lnTo>
                      <a:pt x="588" y="57"/>
                    </a:lnTo>
                    <a:lnTo>
                      <a:pt x="564" y="51"/>
                    </a:lnTo>
                    <a:lnTo>
                      <a:pt x="537" y="45"/>
                    </a:lnTo>
                    <a:lnTo>
                      <a:pt x="508" y="39"/>
                    </a:lnTo>
                    <a:lnTo>
                      <a:pt x="477" y="33"/>
                    </a:lnTo>
                    <a:lnTo>
                      <a:pt x="477" y="33"/>
                    </a:lnTo>
                    <a:lnTo>
                      <a:pt x="451" y="30"/>
                    </a:lnTo>
                    <a:lnTo>
                      <a:pt x="425" y="27"/>
                    </a:lnTo>
                    <a:lnTo>
                      <a:pt x="400" y="25"/>
                    </a:lnTo>
                    <a:lnTo>
                      <a:pt x="375" y="24"/>
                    </a:lnTo>
                    <a:lnTo>
                      <a:pt x="350" y="24"/>
                    </a:lnTo>
                    <a:lnTo>
                      <a:pt x="328" y="25"/>
                    </a:lnTo>
                    <a:lnTo>
                      <a:pt x="305" y="26"/>
                    </a:lnTo>
                    <a:lnTo>
                      <a:pt x="283" y="29"/>
                    </a:lnTo>
                    <a:lnTo>
                      <a:pt x="262" y="33"/>
                    </a:lnTo>
                    <a:lnTo>
                      <a:pt x="242" y="37"/>
                    </a:lnTo>
                    <a:lnTo>
                      <a:pt x="222" y="43"/>
                    </a:lnTo>
                    <a:lnTo>
                      <a:pt x="204" y="49"/>
                    </a:lnTo>
                    <a:lnTo>
                      <a:pt x="185" y="57"/>
                    </a:lnTo>
                    <a:lnTo>
                      <a:pt x="168" y="66"/>
                    </a:lnTo>
                    <a:lnTo>
                      <a:pt x="152" y="75"/>
                    </a:lnTo>
                    <a:lnTo>
                      <a:pt x="136" y="86"/>
                    </a:lnTo>
                    <a:lnTo>
                      <a:pt x="136" y="86"/>
                    </a:lnTo>
                    <a:lnTo>
                      <a:pt x="118" y="99"/>
                    </a:lnTo>
                    <a:lnTo>
                      <a:pt x="101" y="114"/>
                    </a:lnTo>
                    <a:lnTo>
                      <a:pt x="86" y="130"/>
                    </a:lnTo>
                    <a:lnTo>
                      <a:pt x="73" y="147"/>
                    </a:lnTo>
                    <a:lnTo>
                      <a:pt x="59" y="167"/>
                    </a:lnTo>
                    <a:lnTo>
                      <a:pt x="48" y="186"/>
                    </a:lnTo>
                    <a:lnTo>
                      <a:pt x="38" y="208"/>
                    </a:lnTo>
                    <a:lnTo>
                      <a:pt x="29" y="230"/>
                    </a:lnTo>
                    <a:lnTo>
                      <a:pt x="20" y="254"/>
                    </a:lnTo>
                    <a:lnTo>
                      <a:pt x="14" y="278"/>
                    </a:lnTo>
                    <a:lnTo>
                      <a:pt x="9" y="305"/>
                    </a:lnTo>
                    <a:lnTo>
                      <a:pt x="5" y="332"/>
                    </a:lnTo>
                    <a:lnTo>
                      <a:pt x="2" y="360"/>
                    </a:lnTo>
                    <a:lnTo>
                      <a:pt x="1" y="390"/>
                    </a:lnTo>
                    <a:lnTo>
                      <a:pt x="0" y="422"/>
                    </a:lnTo>
                    <a:lnTo>
                      <a:pt x="1" y="453"/>
                    </a:lnTo>
                    <a:lnTo>
                      <a:pt x="1" y="453"/>
                    </a:lnTo>
                    <a:lnTo>
                      <a:pt x="4" y="481"/>
                    </a:lnTo>
                    <a:lnTo>
                      <a:pt x="9" y="519"/>
                    </a:lnTo>
                    <a:lnTo>
                      <a:pt x="17" y="565"/>
                    </a:lnTo>
                    <a:lnTo>
                      <a:pt x="28" y="617"/>
                    </a:lnTo>
                    <a:lnTo>
                      <a:pt x="40" y="676"/>
                    </a:lnTo>
                    <a:lnTo>
                      <a:pt x="55" y="738"/>
                    </a:lnTo>
                    <a:lnTo>
                      <a:pt x="72" y="802"/>
                    </a:lnTo>
                    <a:lnTo>
                      <a:pt x="91" y="867"/>
                    </a:lnTo>
                    <a:lnTo>
                      <a:pt x="91" y="867"/>
                    </a:lnTo>
                    <a:lnTo>
                      <a:pt x="105" y="909"/>
                    </a:lnTo>
                    <a:lnTo>
                      <a:pt x="118" y="948"/>
                    </a:lnTo>
                    <a:lnTo>
                      <a:pt x="131" y="985"/>
                    </a:lnTo>
                    <a:lnTo>
                      <a:pt x="144" y="1020"/>
                    </a:lnTo>
                    <a:lnTo>
                      <a:pt x="158" y="1052"/>
                    </a:lnTo>
                    <a:lnTo>
                      <a:pt x="172" y="1082"/>
                    </a:lnTo>
                    <a:lnTo>
                      <a:pt x="185" y="1110"/>
                    </a:lnTo>
                    <a:lnTo>
                      <a:pt x="200" y="1135"/>
                    </a:lnTo>
                    <a:lnTo>
                      <a:pt x="214" y="1158"/>
                    </a:lnTo>
                    <a:lnTo>
                      <a:pt x="228" y="1178"/>
                    </a:lnTo>
                    <a:lnTo>
                      <a:pt x="243" y="1197"/>
                    </a:lnTo>
                    <a:lnTo>
                      <a:pt x="257" y="1212"/>
                    </a:lnTo>
                    <a:lnTo>
                      <a:pt x="272" y="1225"/>
                    </a:lnTo>
                    <a:lnTo>
                      <a:pt x="287" y="1237"/>
                    </a:lnTo>
                    <a:lnTo>
                      <a:pt x="301" y="1245"/>
                    </a:lnTo>
                    <a:lnTo>
                      <a:pt x="317" y="1251"/>
                    </a:lnTo>
                    <a:lnTo>
                      <a:pt x="317" y="1251"/>
                    </a:lnTo>
                    <a:lnTo>
                      <a:pt x="331" y="1255"/>
                    </a:lnTo>
                    <a:lnTo>
                      <a:pt x="339" y="1256"/>
                    </a:lnTo>
                    <a:lnTo>
                      <a:pt x="348" y="1256"/>
                    </a:lnTo>
                    <a:lnTo>
                      <a:pt x="348" y="1256"/>
                    </a:lnTo>
                    <a:lnTo>
                      <a:pt x="360" y="1256"/>
                    </a:lnTo>
                    <a:lnTo>
                      <a:pt x="371" y="1254"/>
                    </a:lnTo>
                    <a:lnTo>
                      <a:pt x="383" y="1250"/>
                    </a:lnTo>
                    <a:lnTo>
                      <a:pt x="397" y="1245"/>
                    </a:lnTo>
                    <a:lnTo>
                      <a:pt x="410" y="1237"/>
                    </a:lnTo>
                    <a:lnTo>
                      <a:pt x="423" y="1226"/>
                    </a:lnTo>
                    <a:lnTo>
                      <a:pt x="436" y="1214"/>
                    </a:lnTo>
                    <a:lnTo>
                      <a:pt x="450" y="1199"/>
                    </a:lnTo>
                    <a:lnTo>
                      <a:pt x="450" y="1199"/>
                    </a:lnTo>
                    <a:lnTo>
                      <a:pt x="495" y="1146"/>
                    </a:lnTo>
                    <a:lnTo>
                      <a:pt x="536" y="1100"/>
                    </a:lnTo>
                    <a:lnTo>
                      <a:pt x="569" y="1064"/>
                    </a:lnTo>
                    <a:lnTo>
                      <a:pt x="591" y="1040"/>
                    </a:lnTo>
                    <a:lnTo>
                      <a:pt x="591" y="1040"/>
                    </a:lnTo>
                    <a:lnTo>
                      <a:pt x="602" y="1046"/>
                    </a:lnTo>
                    <a:lnTo>
                      <a:pt x="615" y="1051"/>
                    </a:lnTo>
                    <a:lnTo>
                      <a:pt x="627" y="1055"/>
                    </a:lnTo>
                    <a:lnTo>
                      <a:pt x="639" y="1060"/>
                    </a:lnTo>
                    <a:lnTo>
                      <a:pt x="653" y="1063"/>
                    </a:lnTo>
                    <a:lnTo>
                      <a:pt x="666" y="1065"/>
                    </a:lnTo>
                    <a:lnTo>
                      <a:pt x="678" y="1067"/>
                    </a:lnTo>
                    <a:lnTo>
                      <a:pt x="692" y="1068"/>
                    </a:lnTo>
                    <a:lnTo>
                      <a:pt x="692" y="1068"/>
                    </a:lnTo>
                    <a:lnTo>
                      <a:pt x="692" y="1070"/>
                    </a:lnTo>
                    <a:lnTo>
                      <a:pt x="692" y="1070"/>
                    </a:lnTo>
                    <a:lnTo>
                      <a:pt x="674" y="1092"/>
                    </a:lnTo>
                    <a:lnTo>
                      <a:pt x="674" y="1092"/>
                    </a:lnTo>
                    <a:lnTo>
                      <a:pt x="666" y="1103"/>
                    </a:lnTo>
                    <a:lnTo>
                      <a:pt x="658" y="1111"/>
                    </a:lnTo>
                    <a:lnTo>
                      <a:pt x="650" y="1118"/>
                    </a:lnTo>
                    <a:lnTo>
                      <a:pt x="640" y="1124"/>
                    </a:lnTo>
                    <a:lnTo>
                      <a:pt x="628" y="1130"/>
                    </a:lnTo>
                    <a:lnTo>
                      <a:pt x="613" y="1134"/>
                    </a:lnTo>
                    <a:lnTo>
                      <a:pt x="592" y="1140"/>
                    </a:lnTo>
                    <a:lnTo>
                      <a:pt x="566" y="1146"/>
                    </a:lnTo>
                    <a:lnTo>
                      <a:pt x="566" y="1146"/>
                    </a:lnTo>
                    <a:lnTo>
                      <a:pt x="544" y="1151"/>
                    </a:lnTo>
                    <a:lnTo>
                      <a:pt x="531" y="1155"/>
                    </a:lnTo>
                    <a:lnTo>
                      <a:pt x="516" y="1161"/>
                    </a:lnTo>
                    <a:lnTo>
                      <a:pt x="510" y="1164"/>
                    </a:lnTo>
                    <a:lnTo>
                      <a:pt x="504" y="1168"/>
                    </a:lnTo>
                    <a:lnTo>
                      <a:pt x="499" y="1173"/>
                    </a:lnTo>
                    <a:lnTo>
                      <a:pt x="494" y="1178"/>
                    </a:lnTo>
                    <a:lnTo>
                      <a:pt x="490" y="1183"/>
                    </a:lnTo>
                    <a:lnTo>
                      <a:pt x="487" y="1190"/>
                    </a:lnTo>
                    <a:lnTo>
                      <a:pt x="485" y="1197"/>
                    </a:lnTo>
                    <a:lnTo>
                      <a:pt x="484" y="1204"/>
                    </a:lnTo>
                    <a:lnTo>
                      <a:pt x="484" y="1204"/>
                    </a:lnTo>
                    <a:lnTo>
                      <a:pt x="484" y="1212"/>
                    </a:lnTo>
                    <a:lnTo>
                      <a:pt x="487" y="1220"/>
                    </a:lnTo>
                    <a:lnTo>
                      <a:pt x="490" y="1226"/>
                    </a:lnTo>
                    <a:lnTo>
                      <a:pt x="494" y="1234"/>
                    </a:lnTo>
                    <a:lnTo>
                      <a:pt x="500" y="1239"/>
                    </a:lnTo>
                    <a:lnTo>
                      <a:pt x="506" y="1245"/>
                    </a:lnTo>
                    <a:lnTo>
                      <a:pt x="512" y="1249"/>
                    </a:lnTo>
                    <a:lnTo>
                      <a:pt x="519" y="1254"/>
                    </a:lnTo>
                    <a:lnTo>
                      <a:pt x="533" y="1260"/>
                    </a:lnTo>
                    <a:lnTo>
                      <a:pt x="546" y="1265"/>
                    </a:lnTo>
                    <a:lnTo>
                      <a:pt x="561" y="1270"/>
                    </a:lnTo>
                    <a:lnTo>
                      <a:pt x="561" y="1270"/>
                    </a:lnTo>
                    <a:lnTo>
                      <a:pt x="583" y="1276"/>
                    </a:lnTo>
                    <a:lnTo>
                      <a:pt x="603" y="1279"/>
                    </a:lnTo>
                    <a:lnTo>
                      <a:pt x="624" y="1281"/>
                    </a:lnTo>
                    <a:lnTo>
                      <a:pt x="643" y="1281"/>
                    </a:lnTo>
                    <a:lnTo>
                      <a:pt x="643" y="1281"/>
                    </a:lnTo>
                    <a:lnTo>
                      <a:pt x="666" y="1280"/>
                    </a:lnTo>
                    <a:lnTo>
                      <a:pt x="689" y="1278"/>
                    </a:lnTo>
                    <a:lnTo>
                      <a:pt x="711" y="1272"/>
                    </a:lnTo>
                    <a:lnTo>
                      <a:pt x="732" y="1265"/>
                    </a:lnTo>
                    <a:lnTo>
                      <a:pt x="752" y="1257"/>
                    </a:lnTo>
                    <a:lnTo>
                      <a:pt x="770" y="1247"/>
                    </a:lnTo>
                    <a:lnTo>
                      <a:pt x="789" y="1235"/>
                    </a:lnTo>
                    <a:lnTo>
                      <a:pt x="806" y="1220"/>
                    </a:lnTo>
                    <a:lnTo>
                      <a:pt x="806" y="1220"/>
                    </a:lnTo>
                    <a:lnTo>
                      <a:pt x="806" y="1281"/>
                    </a:lnTo>
                    <a:lnTo>
                      <a:pt x="806" y="1340"/>
                    </a:lnTo>
                    <a:lnTo>
                      <a:pt x="808" y="1395"/>
                    </a:lnTo>
                    <a:lnTo>
                      <a:pt x="810" y="1448"/>
                    </a:lnTo>
                    <a:lnTo>
                      <a:pt x="815" y="1495"/>
                    </a:lnTo>
                    <a:lnTo>
                      <a:pt x="819" y="1535"/>
                    </a:lnTo>
                    <a:lnTo>
                      <a:pt x="822" y="1552"/>
                    </a:lnTo>
                    <a:lnTo>
                      <a:pt x="825" y="1567"/>
                    </a:lnTo>
                    <a:lnTo>
                      <a:pt x="828" y="1580"/>
                    </a:lnTo>
                    <a:lnTo>
                      <a:pt x="831" y="1591"/>
                    </a:lnTo>
                    <a:lnTo>
                      <a:pt x="831" y="1591"/>
                    </a:lnTo>
                    <a:lnTo>
                      <a:pt x="838" y="1608"/>
                    </a:lnTo>
                    <a:lnTo>
                      <a:pt x="848" y="1629"/>
                    </a:lnTo>
                    <a:lnTo>
                      <a:pt x="854" y="1640"/>
                    </a:lnTo>
                    <a:lnTo>
                      <a:pt x="862" y="1651"/>
                    </a:lnTo>
                    <a:lnTo>
                      <a:pt x="870" y="1662"/>
                    </a:lnTo>
                    <a:lnTo>
                      <a:pt x="880" y="1674"/>
                    </a:lnTo>
                    <a:lnTo>
                      <a:pt x="890" y="1685"/>
                    </a:lnTo>
                    <a:lnTo>
                      <a:pt x="903" y="1694"/>
                    </a:lnTo>
                    <a:lnTo>
                      <a:pt x="916" y="1703"/>
                    </a:lnTo>
                    <a:lnTo>
                      <a:pt x="931" y="1712"/>
                    </a:lnTo>
                    <a:lnTo>
                      <a:pt x="948" y="1719"/>
                    </a:lnTo>
                    <a:lnTo>
                      <a:pt x="966" y="1723"/>
                    </a:lnTo>
                    <a:lnTo>
                      <a:pt x="987" y="1726"/>
                    </a:lnTo>
                    <a:lnTo>
                      <a:pt x="1009" y="1728"/>
                    </a:lnTo>
                    <a:lnTo>
                      <a:pt x="1009" y="1728"/>
                    </a:lnTo>
                    <a:lnTo>
                      <a:pt x="1023" y="1727"/>
                    </a:lnTo>
                    <a:lnTo>
                      <a:pt x="1037" y="1726"/>
                    </a:lnTo>
                    <a:lnTo>
                      <a:pt x="1052" y="1724"/>
                    </a:lnTo>
                    <a:lnTo>
                      <a:pt x="1069" y="1721"/>
                    </a:lnTo>
                    <a:lnTo>
                      <a:pt x="1069" y="1721"/>
                    </a:lnTo>
                    <a:lnTo>
                      <a:pt x="1092" y="1716"/>
                    </a:lnTo>
                    <a:lnTo>
                      <a:pt x="1114" y="1709"/>
                    </a:lnTo>
                    <a:lnTo>
                      <a:pt x="1133" y="1702"/>
                    </a:lnTo>
                    <a:lnTo>
                      <a:pt x="1152" y="1694"/>
                    </a:lnTo>
                    <a:lnTo>
                      <a:pt x="1169" y="1685"/>
                    </a:lnTo>
                    <a:lnTo>
                      <a:pt x="1184" y="1676"/>
                    </a:lnTo>
                    <a:lnTo>
                      <a:pt x="1199" y="1665"/>
                    </a:lnTo>
                    <a:lnTo>
                      <a:pt x="1212" y="1652"/>
                    </a:lnTo>
                    <a:lnTo>
                      <a:pt x="1223" y="1640"/>
                    </a:lnTo>
                    <a:lnTo>
                      <a:pt x="1234" y="1626"/>
                    </a:lnTo>
                    <a:lnTo>
                      <a:pt x="1243" y="1610"/>
                    </a:lnTo>
                    <a:lnTo>
                      <a:pt x="1251" y="1593"/>
                    </a:lnTo>
                    <a:lnTo>
                      <a:pt x="1258" y="1574"/>
                    </a:lnTo>
                    <a:lnTo>
                      <a:pt x="1264" y="1555"/>
                    </a:lnTo>
                    <a:lnTo>
                      <a:pt x="1269" y="1535"/>
                    </a:lnTo>
                    <a:lnTo>
                      <a:pt x="1275" y="1512"/>
                    </a:lnTo>
                    <a:lnTo>
                      <a:pt x="1275" y="1512"/>
                    </a:lnTo>
                    <a:lnTo>
                      <a:pt x="1285" y="1446"/>
                    </a:lnTo>
                    <a:lnTo>
                      <a:pt x="1295" y="1363"/>
                    </a:lnTo>
                    <a:lnTo>
                      <a:pt x="1306" y="1276"/>
                    </a:lnTo>
                    <a:lnTo>
                      <a:pt x="1316" y="1200"/>
                    </a:lnTo>
                    <a:lnTo>
                      <a:pt x="1316" y="1200"/>
                    </a:lnTo>
                    <a:lnTo>
                      <a:pt x="1331" y="1204"/>
                    </a:lnTo>
                    <a:lnTo>
                      <a:pt x="1348" y="1207"/>
                    </a:lnTo>
                    <a:lnTo>
                      <a:pt x="1368" y="1208"/>
                    </a:lnTo>
                    <a:lnTo>
                      <a:pt x="1387" y="1209"/>
                    </a:lnTo>
                    <a:lnTo>
                      <a:pt x="1387" y="1209"/>
                    </a:lnTo>
                    <a:lnTo>
                      <a:pt x="1409" y="1208"/>
                    </a:lnTo>
                    <a:lnTo>
                      <a:pt x="1431" y="1207"/>
                    </a:lnTo>
                    <a:lnTo>
                      <a:pt x="1454" y="1204"/>
                    </a:lnTo>
                    <a:lnTo>
                      <a:pt x="1475" y="1200"/>
                    </a:lnTo>
                    <a:lnTo>
                      <a:pt x="1497" y="1196"/>
                    </a:lnTo>
                    <a:lnTo>
                      <a:pt x="1516" y="1191"/>
                    </a:lnTo>
                    <a:lnTo>
                      <a:pt x="1535" y="1184"/>
                    </a:lnTo>
                    <a:lnTo>
                      <a:pt x="1551" y="1177"/>
                    </a:lnTo>
                    <a:lnTo>
                      <a:pt x="1551" y="1177"/>
                    </a:lnTo>
                    <a:lnTo>
                      <a:pt x="1571" y="1168"/>
                    </a:lnTo>
                    <a:lnTo>
                      <a:pt x="1591" y="1156"/>
                    </a:lnTo>
                    <a:lnTo>
                      <a:pt x="1613" y="1142"/>
                    </a:lnTo>
                    <a:lnTo>
                      <a:pt x="1623" y="1134"/>
                    </a:lnTo>
                    <a:lnTo>
                      <a:pt x="1632" y="1126"/>
                    </a:lnTo>
                    <a:lnTo>
                      <a:pt x="1641" y="1118"/>
                    </a:lnTo>
                    <a:lnTo>
                      <a:pt x="1649" y="1110"/>
                    </a:lnTo>
                    <a:lnTo>
                      <a:pt x="1656" y="1101"/>
                    </a:lnTo>
                    <a:lnTo>
                      <a:pt x="1662" y="1092"/>
                    </a:lnTo>
                    <a:lnTo>
                      <a:pt x="1666" y="1083"/>
                    </a:lnTo>
                    <a:lnTo>
                      <a:pt x="1668" y="1075"/>
                    </a:lnTo>
                    <a:lnTo>
                      <a:pt x="1668" y="1066"/>
                    </a:lnTo>
                    <a:lnTo>
                      <a:pt x="1667" y="1057"/>
                    </a:lnTo>
                    <a:lnTo>
                      <a:pt x="1667" y="1057"/>
                    </a:lnTo>
                    <a:close/>
                    <a:moveTo>
                      <a:pt x="1361" y="479"/>
                    </a:moveTo>
                    <a:lnTo>
                      <a:pt x="1361" y="479"/>
                    </a:lnTo>
                    <a:lnTo>
                      <a:pt x="1360" y="498"/>
                    </a:lnTo>
                    <a:lnTo>
                      <a:pt x="1359" y="516"/>
                    </a:lnTo>
                    <a:lnTo>
                      <a:pt x="1353" y="551"/>
                    </a:lnTo>
                    <a:lnTo>
                      <a:pt x="1353" y="551"/>
                    </a:lnTo>
                    <a:lnTo>
                      <a:pt x="1347" y="591"/>
                    </a:lnTo>
                    <a:lnTo>
                      <a:pt x="1345" y="612"/>
                    </a:lnTo>
                    <a:lnTo>
                      <a:pt x="1344" y="636"/>
                    </a:lnTo>
                    <a:lnTo>
                      <a:pt x="1344" y="636"/>
                    </a:lnTo>
                    <a:lnTo>
                      <a:pt x="1344" y="659"/>
                    </a:lnTo>
                    <a:lnTo>
                      <a:pt x="1345" y="684"/>
                    </a:lnTo>
                    <a:lnTo>
                      <a:pt x="1350" y="732"/>
                    </a:lnTo>
                    <a:lnTo>
                      <a:pt x="1350" y="732"/>
                    </a:lnTo>
                    <a:lnTo>
                      <a:pt x="1356" y="780"/>
                    </a:lnTo>
                    <a:lnTo>
                      <a:pt x="1358" y="804"/>
                    </a:lnTo>
                    <a:lnTo>
                      <a:pt x="1358" y="828"/>
                    </a:lnTo>
                    <a:lnTo>
                      <a:pt x="1356" y="853"/>
                    </a:lnTo>
                    <a:lnTo>
                      <a:pt x="1354" y="865"/>
                    </a:lnTo>
                    <a:lnTo>
                      <a:pt x="1352" y="877"/>
                    </a:lnTo>
                    <a:lnTo>
                      <a:pt x="1349" y="890"/>
                    </a:lnTo>
                    <a:lnTo>
                      <a:pt x="1345" y="902"/>
                    </a:lnTo>
                    <a:lnTo>
                      <a:pt x="1341" y="914"/>
                    </a:lnTo>
                    <a:lnTo>
                      <a:pt x="1336" y="926"/>
                    </a:lnTo>
                    <a:lnTo>
                      <a:pt x="1336" y="926"/>
                    </a:lnTo>
                    <a:lnTo>
                      <a:pt x="1329" y="913"/>
                    </a:lnTo>
                    <a:lnTo>
                      <a:pt x="1323" y="898"/>
                    </a:lnTo>
                    <a:lnTo>
                      <a:pt x="1323" y="898"/>
                    </a:lnTo>
                    <a:lnTo>
                      <a:pt x="1313" y="880"/>
                    </a:lnTo>
                    <a:lnTo>
                      <a:pt x="1299" y="854"/>
                    </a:lnTo>
                    <a:lnTo>
                      <a:pt x="1299" y="854"/>
                    </a:lnTo>
                    <a:lnTo>
                      <a:pt x="1280" y="820"/>
                    </a:lnTo>
                    <a:lnTo>
                      <a:pt x="1258" y="778"/>
                    </a:lnTo>
                    <a:lnTo>
                      <a:pt x="1247" y="754"/>
                    </a:lnTo>
                    <a:lnTo>
                      <a:pt x="1236" y="731"/>
                    </a:lnTo>
                    <a:lnTo>
                      <a:pt x="1224" y="706"/>
                    </a:lnTo>
                    <a:lnTo>
                      <a:pt x="1215" y="682"/>
                    </a:lnTo>
                    <a:lnTo>
                      <a:pt x="1206" y="657"/>
                    </a:lnTo>
                    <a:lnTo>
                      <a:pt x="1199" y="633"/>
                    </a:lnTo>
                    <a:lnTo>
                      <a:pt x="1194" y="609"/>
                    </a:lnTo>
                    <a:lnTo>
                      <a:pt x="1190" y="587"/>
                    </a:lnTo>
                    <a:lnTo>
                      <a:pt x="1190" y="575"/>
                    </a:lnTo>
                    <a:lnTo>
                      <a:pt x="1190" y="565"/>
                    </a:lnTo>
                    <a:lnTo>
                      <a:pt x="1190" y="555"/>
                    </a:lnTo>
                    <a:lnTo>
                      <a:pt x="1191" y="546"/>
                    </a:lnTo>
                    <a:lnTo>
                      <a:pt x="1193" y="536"/>
                    </a:lnTo>
                    <a:lnTo>
                      <a:pt x="1196" y="528"/>
                    </a:lnTo>
                    <a:lnTo>
                      <a:pt x="1200" y="520"/>
                    </a:lnTo>
                    <a:lnTo>
                      <a:pt x="1204" y="512"/>
                    </a:lnTo>
                    <a:lnTo>
                      <a:pt x="1204" y="512"/>
                    </a:lnTo>
                    <a:lnTo>
                      <a:pt x="1211" y="504"/>
                    </a:lnTo>
                    <a:lnTo>
                      <a:pt x="1221" y="495"/>
                    </a:lnTo>
                    <a:lnTo>
                      <a:pt x="1226" y="492"/>
                    </a:lnTo>
                    <a:lnTo>
                      <a:pt x="1234" y="488"/>
                    </a:lnTo>
                    <a:lnTo>
                      <a:pt x="1242" y="485"/>
                    </a:lnTo>
                    <a:lnTo>
                      <a:pt x="1250" y="482"/>
                    </a:lnTo>
                    <a:lnTo>
                      <a:pt x="1260" y="480"/>
                    </a:lnTo>
                    <a:lnTo>
                      <a:pt x="1270" y="478"/>
                    </a:lnTo>
                    <a:lnTo>
                      <a:pt x="1283" y="477"/>
                    </a:lnTo>
                    <a:lnTo>
                      <a:pt x="1296" y="476"/>
                    </a:lnTo>
                    <a:lnTo>
                      <a:pt x="1310" y="475"/>
                    </a:lnTo>
                    <a:lnTo>
                      <a:pt x="1326" y="476"/>
                    </a:lnTo>
                    <a:lnTo>
                      <a:pt x="1342" y="477"/>
                    </a:lnTo>
                    <a:lnTo>
                      <a:pt x="1361" y="479"/>
                    </a:lnTo>
                    <a:lnTo>
                      <a:pt x="1361" y="479"/>
                    </a:lnTo>
                    <a:close/>
                    <a:moveTo>
                      <a:pt x="1239" y="51"/>
                    </a:moveTo>
                    <a:lnTo>
                      <a:pt x="1239" y="51"/>
                    </a:lnTo>
                    <a:lnTo>
                      <a:pt x="1265" y="52"/>
                    </a:lnTo>
                    <a:lnTo>
                      <a:pt x="1292" y="54"/>
                    </a:lnTo>
                    <a:lnTo>
                      <a:pt x="1319" y="58"/>
                    </a:lnTo>
                    <a:lnTo>
                      <a:pt x="1343" y="63"/>
                    </a:lnTo>
                    <a:lnTo>
                      <a:pt x="1368" y="70"/>
                    </a:lnTo>
                    <a:lnTo>
                      <a:pt x="1391" y="77"/>
                    </a:lnTo>
                    <a:lnTo>
                      <a:pt x="1415" y="85"/>
                    </a:lnTo>
                    <a:lnTo>
                      <a:pt x="1436" y="95"/>
                    </a:lnTo>
                    <a:lnTo>
                      <a:pt x="1458" y="105"/>
                    </a:lnTo>
                    <a:lnTo>
                      <a:pt x="1478" y="118"/>
                    </a:lnTo>
                    <a:lnTo>
                      <a:pt x="1499" y="131"/>
                    </a:lnTo>
                    <a:lnTo>
                      <a:pt x="1517" y="145"/>
                    </a:lnTo>
                    <a:lnTo>
                      <a:pt x="1536" y="161"/>
                    </a:lnTo>
                    <a:lnTo>
                      <a:pt x="1553" y="178"/>
                    </a:lnTo>
                    <a:lnTo>
                      <a:pt x="1571" y="197"/>
                    </a:lnTo>
                    <a:lnTo>
                      <a:pt x="1586" y="215"/>
                    </a:lnTo>
                    <a:lnTo>
                      <a:pt x="1586" y="215"/>
                    </a:lnTo>
                    <a:lnTo>
                      <a:pt x="1592" y="224"/>
                    </a:lnTo>
                    <a:lnTo>
                      <a:pt x="1596" y="233"/>
                    </a:lnTo>
                    <a:lnTo>
                      <a:pt x="1600" y="246"/>
                    </a:lnTo>
                    <a:lnTo>
                      <a:pt x="1603" y="259"/>
                    </a:lnTo>
                    <a:lnTo>
                      <a:pt x="1607" y="273"/>
                    </a:lnTo>
                    <a:lnTo>
                      <a:pt x="1608" y="289"/>
                    </a:lnTo>
                    <a:lnTo>
                      <a:pt x="1609" y="306"/>
                    </a:lnTo>
                    <a:lnTo>
                      <a:pt x="1609" y="325"/>
                    </a:lnTo>
                    <a:lnTo>
                      <a:pt x="1609" y="345"/>
                    </a:lnTo>
                    <a:lnTo>
                      <a:pt x="1607" y="365"/>
                    </a:lnTo>
                    <a:lnTo>
                      <a:pt x="1604" y="387"/>
                    </a:lnTo>
                    <a:lnTo>
                      <a:pt x="1601" y="411"/>
                    </a:lnTo>
                    <a:lnTo>
                      <a:pt x="1597" y="434"/>
                    </a:lnTo>
                    <a:lnTo>
                      <a:pt x="1593" y="459"/>
                    </a:lnTo>
                    <a:lnTo>
                      <a:pt x="1582" y="511"/>
                    </a:lnTo>
                    <a:lnTo>
                      <a:pt x="1567" y="565"/>
                    </a:lnTo>
                    <a:lnTo>
                      <a:pt x="1549" y="622"/>
                    </a:lnTo>
                    <a:lnTo>
                      <a:pt x="1529" y="681"/>
                    </a:lnTo>
                    <a:lnTo>
                      <a:pt x="1516" y="710"/>
                    </a:lnTo>
                    <a:lnTo>
                      <a:pt x="1504" y="741"/>
                    </a:lnTo>
                    <a:lnTo>
                      <a:pt x="1491" y="771"/>
                    </a:lnTo>
                    <a:lnTo>
                      <a:pt x="1477" y="802"/>
                    </a:lnTo>
                    <a:lnTo>
                      <a:pt x="1462" y="832"/>
                    </a:lnTo>
                    <a:lnTo>
                      <a:pt x="1447" y="863"/>
                    </a:lnTo>
                    <a:lnTo>
                      <a:pt x="1430" y="894"/>
                    </a:lnTo>
                    <a:lnTo>
                      <a:pt x="1414" y="923"/>
                    </a:lnTo>
                    <a:lnTo>
                      <a:pt x="1395" y="954"/>
                    </a:lnTo>
                    <a:lnTo>
                      <a:pt x="1377" y="984"/>
                    </a:lnTo>
                    <a:lnTo>
                      <a:pt x="1377" y="984"/>
                    </a:lnTo>
                    <a:lnTo>
                      <a:pt x="1371" y="977"/>
                    </a:lnTo>
                    <a:lnTo>
                      <a:pt x="1371" y="977"/>
                    </a:lnTo>
                    <a:lnTo>
                      <a:pt x="1369" y="973"/>
                    </a:lnTo>
                    <a:lnTo>
                      <a:pt x="1369" y="973"/>
                    </a:lnTo>
                    <a:lnTo>
                      <a:pt x="1378" y="957"/>
                    </a:lnTo>
                    <a:lnTo>
                      <a:pt x="1385" y="941"/>
                    </a:lnTo>
                    <a:lnTo>
                      <a:pt x="1391" y="924"/>
                    </a:lnTo>
                    <a:lnTo>
                      <a:pt x="1398" y="908"/>
                    </a:lnTo>
                    <a:lnTo>
                      <a:pt x="1402" y="893"/>
                    </a:lnTo>
                    <a:lnTo>
                      <a:pt x="1405" y="876"/>
                    </a:lnTo>
                    <a:lnTo>
                      <a:pt x="1407" y="861"/>
                    </a:lnTo>
                    <a:lnTo>
                      <a:pt x="1408" y="846"/>
                    </a:lnTo>
                    <a:lnTo>
                      <a:pt x="1409" y="829"/>
                    </a:lnTo>
                    <a:lnTo>
                      <a:pt x="1409" y="814"/>
                    </a:lnTo>
                    <a:lnTo>
                      <a:pt x="1408" y="784"/>
                    </a:lnTo>
                    <a:lnTo>
                      <a:pt x="1405" y="754"/>
                    </a:lnTo>
                    <a:lnTo>
                      <a:pt x="1402" y="726"/>
                    </a:lnTo>
                    <a:lnTo>
                      <a:pt x="1402" y="726"/>
                    </a:lnTo>
                    <a:lnTo>
                      <a:pt x="1396" y="680"/>
                    </a:lnTo>
                    <a:lnTo>
                      <a:pt x="1395" y="658"/>
                    </a:lnTo>
                    <a:lnTo>
                      <a:pt x="1395" y="638"/>
                    </a:lnTo>
                    <a:lnTo>
                      <a:pt x="1395" y="638"/>
                    </a:lnTo>
                    <a:lnTo>
                      <a:pt x="1396" y="616"/>
                    </a:lnTo>
                    <a:lnTo>
                      <a:pt x="1399" y="596"/>
                    </a:lnTo>
                    <a:lnTo>
                      <a:pt x="1404" y="559"/>
                    </a:lnTo>
                    <a:lnTo>
                      <a:pt x="1404" y="559"/>
                    </a:lnTo>
                    <a:lnTo>
                      <a:pt x="1407" y="536"/>
                    </a:lnTo>
                    <a:lnTo>
                      <a:pt x="1410" y="513"/>
                    </a:lnTo>
                    <a:lnTo>
                      <a:pt x="1412" y="488"/>
                    </a:lnTo>
                    <a:lnTo>
                      <a:pt x="1412" y="462"/>
                    </a:lnTo>
                    <a:lnTo>
                      <a:pt x="1412" y="462"/>
                    </a:lnTo>
                    <a:lnTo>
                      <a:pt x="1413" y="456"/>
                    </a:lnTo>
                    <a:lnTo>
                      <a:pt x="1413" y="448"/>
                    </a:lnTo>
                    <a:lnTo>
                      <a:pt x="1413" y="448"/>
                    </a:lnTo>
                    <a:lnTo>
                      <a:pt x="1410" y="432"/>
                    </a:lnTo>
                    <a:lnTo>
                      <a:pt x="1403" y="409"/>
                    </a:lnTo>
                    <a:lnTo>
                      <a:pt x="1393" y="384"/>
                    </a:lnTo>
                    <a:lnTo>
                      <a:pt x="1379" y="353"/>
                    </a:lnTo>
                    <a:lnTo>
                      <a:pt x="1363" y="320"/>
                    </a:lnTo>
                    <a:lnTo>
                      <a:pt x="1352" y="303"/>
                    </a:lnTo>
                    <a:lnTo>
                      <a:pt x="1341" y="286"/>
                    </a:lnTo>
                    <a:lnTo>
                      <a:pt x="1329" y="267"/>
                    </a:lnTo>
                    <a:lnTo>
                      <a:pt x="1317" y="250"/>
                    </a:lnTo>
                    <a:lnTo>
                      <a:pt x="1302" y="231"/>
                    </a:lnTo>
                    <a:lnTo>
                      <a:pt x="1288" y="214"/>
                    </a:lnTo>
                    <a:lnTo>
                      <a:pt x="1288" y="214"/>
                    </a:lnTo>
                    <a:lnTo>
                      <a:pt x="1270" y="195"/>
                    </a:lnTo>
                    <a:lnTo>
                      <a:pt x="1251" y="174"/>
                    </a:lnTo>
                    <a:lnTo>
                      <a:pt x="1229" y="155"/>
                    </a:lnTo>
                    <a:lnTo>
                      <a:pt x="1205" y="135"/>
                    </a:lnTo>
                    <a:lnTo>
                      <a:pt x="1179" y="116"/>
                    </a:lnTo>
                    <a:lnTo>
                      <a:pt x="1152" y="97"/>
                    </a:lnTo>
                    <a:lnTo>
                      <a:pt x="1122" y="81"/>
                    </a:lnTo>
                    <a:lnTo>
                      <a:pt x="1107" y="73"/>
                    </a:lnTo>
                    <a:lnTo>
                      <a:pt x="1090" y="64"/>
                    </a:lnTo>
                    <a:lnTo>
                      <a:pt x="1090" y="64"/>
                    </a:lnTo>
                    <a:lnTo>
                      <a:pt x="1121" y="59"/>
                    </a:lnTo>
                    <a:lnTo>
                      <a:pt x="1157" y="54"/>
                    </a:lnTo>
                    <a:lnTo>
                      <a:pt x="1176" y="53"/>
                    </a:lnTo>
                    <a:lnTo>
                      <a:pt x="1196" y="51"/>
                    </a:lnTo>
                    <a:lnTo>
                      <a:pt x="1217" y="51"/>
                    </a:lnTo>
                    <a:lnTo>
                      <a:pt x="1239" y="51"/>
                    </a:lnTo>
                    <a:lnTo>
                      <a:pt x="1239" y="51"/>
                    </a:lnTo>
                    <a:close/>
                    <a:moveTo>
                      <a:pt x="411" y="1166"/>
                    </a:moveTo>
                    <a:lnTo>
                      <a:pt x="411" y="1166"/>
                    </a:lnTo>
                    <a:lnTo>
                      <a:pt x="404" y="1175"/>
                    </a:lnTo>
                    <a:lnTo>
                      <a:pt x="397" y="1182"/>
                    </a:lnTo>
                    <a:lnTo>
                      <a:pt x="389" y="1189"/>
                    </a:lnTo>
                    <a:lnTo>
                      <a:pt x="383" y="1194"/>
                    </a:lnTo>
                    <a:lnTo>
                      <a:pt x="376" y="1197"/>
                    </a:lnTo>
                    <a:lnTo>
                      <a:pt x="371" y="1200"/>
                    </a:lnTo>
                    <a:lnTo>
                      <a:pt x="360" y="1204"/>
                    </a:lnTo>
                    <a:lnTo>
                      <a:pt x="350" y="1206"/>
                    </a:lnTo>
                    <a:lnTo>
                      <a:pt x="343" y="1205"/>
                    </a:lnTo>
                    <a:lnTo>
                      <a:pt x="337" y="1204"/>
                    </a:lnTo>
                    <a:lnTo>
                      <a:pt x="333" y="1203"/>
                    </a:lnTo>
                    <a:lnTo>
                      <a:pt x="333" y="1203"/>
                    </a:lnTo>
                    <a:lnTo>
                      <a:pt x="321" y="1198"/>
                    </a:lnTo>
                    <a:lnTo>
                      <a:pt x="309" y="1191"/>
                    </a:lnTo>
                    <a:lnTo>
                      <a:pt x="297" y="1180"/>
                    </a:lnTo>
                    <a:lnTo>
                      <a:pt x="286" y="1168"/>
                    </a:lnTo>
                    <a:lnTo>
                      <a:pt x="274" y="1154"/>
                    </a:lnTo>
                    <a:lnTo>
                      <a:pt x="261" y="1136"/>
                    </a:lnTo>
                    <a:lnTo>
                      <a:pt x="249" y="1117"/>
                    </a:lnTo>
                    <a:lnTo>
                      <a:pt x="237" y="1096"/>
                    </a:lnTo>
                    <a:lnTo>
                      <a:pt x="224" y="1073"/>
                    </a:lnTo>
                    <a:lnTo>
                      <a:pt x="212" y="1047"/>
                    </a:lnTo>
                    <a:lnTo>
                      <a:pt x="200" y="1020"/>
                    </a:lnTo>
                    <a:lnTo>
                      <a:pt x="187" y="990"/>
                    </a:lnTo>
                    <a:lnTo>
                      <a:pt x="175" y="958"/>
                    </a:lnTo>
                    <a:lnTo>
                      <a:pt x="164" y="924"/>
                    </a:lnTo>
                    <a:lnTo>
                      <a:pt x="152" y="890"/>
                    </a:lnTo>
                    <a:lnTo>
                      <a:pt x="140" y="853"/>
                    </a:lnTo>
                    <a:lnTo>
                      <a:pt x="140" y="853"/>
                    </a:lnTo>
                    <a:lnTo>
                      <a:pt x="121" y="786"/>
                    </a:lnTo>
                    <a:lnTo>
                      <a:pt x="103" y="723"/>
                    </a:lnTo>
                    <a:lnTo>
                      <a:pt x="89" y="661"/>
                    </a:lnTo>
                    <a:lnTo>
                      <a:pt x="77" y="604"/>
                    </a:lnTo>
                    <a:lnTo>
                      <a:pt x="68" y="554"/>
                    </a:lnTo>
                    <a:lnTo>
                      <a:pt x="59" y="510"/>
                    </a:lnTo>
                    <a:lnTo>
                      <a:pt x="54" y="475"/>
                    </a:lnTo>
                    <a:lnTo>
                      <a:pt x="52" y="451"/>
                    </a:lnTo>
                    <a:lnTo>
                      <a:pt x="52" y="451"/>
                    </a:lnTo>
                    <a:lnTo>
                      <a:pt x="51" y="423"/>
                    </a:lnTo>
                    <a:lnTo>
                      <a:pt x="51" y="395"/>
                    </a:lnTo>
                    <a:lnTo>
                      <a:pt x="53" y="369"/>
                    </a:lnTo>
                    <a:lnTo>
                      <a:pt x="55" y="343"/>
                    </a:lnTo>
                    <a:lnTo>
                      <a:pt x="58" y="318"/>
                    </a:lnTo>
                    <a:lnTo>
                      <a:pt x="62" y="296"/>
                    </a:lnTo>
                    <a:lnTo>
                      <a:pt x="69" y="273"/>
                    </a:lnTo>
                    <a:lnTo>
                      <a:pt x="75" y="253"/>
                    </a:lnTo>
                    <a:lnTo>
                      <a:pt x="83" y="232"/>
                    </a:lnTo>
                    <a:lnTo>
                      <a:pt x="91" y="214"/>
                    </a:lnTo>
                    <a:lnTo>
                      <a:pt x="101" y="197"/>
                    </a:lnTo>
                    <a:lnTo>
                      <a:pt x="112" y="180"/>
                    </a:lnTo>
                    <a:lnTo>
                      <a:pt x="124" y="166"/>
                    </a:lnTo>
                    <a:lnTo>
                      <a:pt x="136" y="152"/>
                    </a:lnTo>
                    <a:lnTo>
                      <a:pt x="151" y="139"/>
                    </a:lnTo>
                    <a:lnTo>
                      <a:pt x="165" y="127"/>
                    </a:lnTo>
                    <a:lnTo>
                      <a:pt x="165" y="127"/>
                    </a:lnTo>
                    <a:lnTo>
                      <a:pt x="178" y="119"/>
                    </a:lnTo>
                    <a:lnTo>
                      <a:pt x="192" y="112"/>
                    </a:lnTo>
                    <a:lnTo>
                      <a:pt x="205" y="104"/>
                    </a:lnTo>
                    <a:lnTo>
                      <a:pt x="219" y="98"/>
                    </a:lnTo>
                    <a:lnTo>
                      <a:pt x="234" y="93"/>
                    </a:lnTo>
                    <a:lnTo>
                      <a:pt x="249" y="88"/>
                    </a:lnTo>
                    <a:lnTo>
                      <a:pt x="263" y="85"/>
                    </a:lnTo>
                    <a:lnTo>
                      <a:pt x="279" y="82"/>
                    </a:lnTo>
                    <a:lnTo>
                      <a:pt x="294" y="79"/>
                    </a:lnTo>
                    <a:lnTo>
                      <a:pt x="310" y="77"/>
                    </a:lnTo>
                    <a:lnTo>
                      <a:pt x="341" y="75"/>
                    </a:lnTo>
                    <a:lnTo>
                      <a:pt x="373" y="75"/>
                    </a:lnTo>
                    <a:lnTo>
                      <a:pt x="405" y="76"/>
                    </a:lnTo>
                    <a:lnTo>
                      <a:pt x="435" y="79"/>
                    </a:lnTo>
                    <a:lnTo>
                      <a:pt x="465" y="83"/>
                    </a:lnTo>
                    <a:lnTo>
                      <a:pt x="495" y="88"/>
                    </a:lnTo>
                    <a:lnTo>
                      <a:pt x="522" y="94"/>
                    </a:lnTo>
                    <a:lnTo>
                      <a:pt x="547" y="100"/>
                    </a:lnTo>
                    <a:lnTo>
                      <a:pt x="571" y="106"/>
                    </a:lnTo>
                    <a:lnTo>
                      <a:pt x="610" y="118"/>
                    </a:lnTo>
                    <a:lnTo>
                      <a:pt x="610" y="118"/>
                    </a:lnTo>
                    <a:lnTo>
                      <a:pt x="606" y="122"/>
                    </a:lnTo>
                    <a:lnTo>
                      <a:pt x="606" y="122"/>
                    </a:lnTo>
                    <a:lnTo>
                      <a:pt x="592" y="136"/>
                    </a:lnTo>
                    <a:lnTo>
                      <a:pt x="580" y="150"/>
                    </a:lnTo>
                    <a:lnTo>
                      <a:pt x="569" y="166"/>
                    </a:lnTo>
                    <a:lnTo>
                      <a:pt x="558" y="181"/>
                    </a:lnTo>
                    <a:lnTo>
                      <a:pt x="548" y="197"/>
                    </a:lnTo>
                    <a:lnTo>
                      <a:pt x="539" y="213"/>
                    </a:lnTo>
                    <a:lnTo>
                      <a:pt x="530" y="229"/>
                    </a:lnTo>
                    <a:lnTo>
                      <a:pt x="523" y="246"/>
                    </a:lnTo>
                    <a:lnTo>
                      <a:pt x="508" y="279"/>
                    </a:lnTo>
                    <a:lnTo>
                      <a:pt x="497" y="313"/>
                    </a:lnTo>
                    <a:lnTo>
                      <a:pt x="488" y="346"/>
                    </a:lnTo>
                    <a:lnTo>
                      <a:pt x="481" y="378"/>
                    </a:lnTo>
                    <a:lnTo>
                      <a:pt x="474" y="408"/>
                    </a:lnTo>
                    <a:lnTo>
                      <a:pt x="470" y="436"/>
                    </a:lnTo>
                    <a:lnTo>
                      <a:pt x="467" y="463"/>
                    </a:lnTo>
                    <a:lnTo>
                      <a:pt x="465" y="485"/>
                    </a:lnTo>
                    <a:lnTo>
                      <a:pt x="464" y="519"/>
                    </a:lnTo>
                    <a:lnTo>
                      <a:pt x="464" y="535"/>
                    </a:lnTo>
                    <a:lnTo>
                      <a:pt x="464" y="535"/>
                    </a:lnTo>
                    <a:lnTo>
                      <a:pt x="465" y="561"/>
                    </a:lnTo>
                    <a:lnTo>
                      <a:pt x="465" y="561"/>
                    </a:lnTo>
                    <a:lnTo>
                      <a:pt x="467" y="600"/>
                    </a:lnTo>
                    <a:lnTo>
                      <a:pt x="468" y="649"/>
                    </a:lnTo>
                    <a:lnTo>
                      <a:pt x="467" y="677"/>
                    </a:lnTo>
                    <a:lnTo>
                      <a:pt x="466" y="707"/>
                    </a:lnTo>
                    <a:lnTo>
                      <a:pt x="464" y="738"/>
                    </a:lnTo>
                    <a:lnTo>
                      <a:pt x="460" y="772"/>
                    </a:lnTo>
                    <a:lnTo>
                      <a:pt x="460" y="772"/>
                    </a:lnTo>
                    <a:lnTo>
                      <a:pt x="458" y="787"/>
                    </a:lnTo>
                    <a:lnTo>
                      <a:pt x="457" y="803"/>
                    </a:lnTo>
                    <a:lnTo>
                      <a:pt x="457" y="818"/>
                    </a:lnTo>
                    <a:lnTo>
                      <a:pt x="458" y="833"/>
                    </a:lnTo>
                    <a:lnTo>
                      <a:pt x="460" y="848"/>
                    </a:lnTo>
                    <a:lnTo>
                      <a:pt x="462" y="863"/>
                    </a:lnTo>
                    <a:lnTo>
                      <a:pt x="465" y="877"/>
                    </a:lnTo>
                    <a:lnTo>
                      <a:pt x="469" y="892"/>
                    </a:lnTo>
                    <a:lnTo>
                      <a:pt x="474" y="906"/>
                    </a:lnTo>
                    <a:lnTo>
                      <a:pt x="479" y="919"/>
                    </a:lnTo>
                    <a:lnTo>
                      <a:pt x="487" y="933"/>
                    </a:lnTo>
                    <a:lnTo>
                      <a:pt x="494" y="946"/>
                    </a:lnTo>
                    <a:lnTo>
                      <a:pt x="502" y="958"/>
                    </a:lnTo>
                    <a:lnTo>
                      <a:pt x="510" y="970"/>
                    </a:lnTo>
                    <a:lnTo>
                      <a:pt x="519" y="983"/>
                    </a:lnTo>
                    <a:lnTo>
                      <a:pt x="530" y="994"/>
                    </a:lnTo>
                    <a:lnTo>
                      <a:pt x="530" y="994"/>
                    </a:lnTo>
                    <a:lnTo>
                      <a:pt x="539" y="1002"/>
                    </a:lnTo>
                    <a:lnTo>
                      <a:pt x="548" y="1011"/>
                    </a:lnTo>
                    <a:lnTo>
                      <a:pt x="548" y="1011"/>
                    </a:lnTo>
                    <a:lnTo>
                      <a:pt x="492" y="1073"/>
                    </a:lnTo>
                    <a:lnTo>
                      <a:pt x="453" y="1117"/>
                    </a:lnTo>
                    <a:lnTo>
                      <a:pt x="411" y="1166"/>
                    </a:lnTo>
                    <a:lnTo>
                      <a:pt x="411" y="1166"/>
                    </a:lnTo>
                    <a:close/>
                    <a:moveTo>
                      <a:pt x="567" y="958"/>
                    </a:moveTo>
                    <a:lnTo>
                      <a:pt x="567" y="958"/>
                    </a:lnTo>
                    <a:lnTo>
                      <a:pt x="558" y="949"/>
                    </a:lnTo>
                    <a:lnTo>
                      <a:pt x="551" y="940"/>
                    </a:lnTo>
                    <a:lnTo>
                      <a:pt x="544" y="931"/>
                    </a:lnTo>
                    <a:lnTo>
                      <a:pt x="538" y="920"/>
                    </a:lnTo>
                    <a:lnTo>
                      <a:pt x="532" y="909"/>
                    </a:lnTo>
                    <a:lnTo>
                      <a:pt x="527" y="899"/>
                    </a:lnTo>
                    <a:lnTo>
                      <a:pt x="522" y="888"/>
                    </a:lnTo>
                    <a:lnTo>
                      <a:pt x="518" y="876"/>
                    </a:lnTo>
                    <a:lnTo>
                      <a:pt x="514" y="864"/>
                    </a:lnTo>
                    <a:lnTo>
                      <a:pt x="512" y="853"/>
                    </a:lnTo>
                    <a:lnTo>
                      <a:pt x="510" y="840"/>
                    </a:lnTo>
                    <a:lnTo>
                      <a:pt x="509" y="828"/>
                    </a:lnTo>
                    <a:lnTo>
                      <a:pt x="508" y="816"/>
                    </a:lnTo>
                    <a:lnTo>
                      <a:pt x="508" y="804"/>
                    </a:lnTo>
                    <a:lnTo>
                      <a:pt x="509" y="791"/>
                    </a:lnTo>
                    <a:lnTo>
                      <a:pt x="510" y="778"/>
                    </a:lnTo>
                    <a:lnTo>
                      <a:pt x="510" y="778"/>
                    </a:lnTo>
                    <a:lnTo>
                      <a:pt x="514" y="744"/>
                    </a:lnTo>
                    <a:lnTo>
                      <a:pt x="517" y="710"/>
                    </a:lnTo>
                    <a:lnTo>
                      <a:pt x="518" y="679"/>
                    </a:lnTo>
                    <a:lnTo>
                      <a:pt x="519" y="650"/>
                    </a:lnTo>
                    <a:lnTo>
                      <a:pt x="518" y="622"/>
                    </a:lnTo>
                    <a:lnTo>
                      <a:pt x="518" y="598"/>
                    </a:lnTo>
                    <a:lnTo>
                      <a:pt x="516" y="558"/>
                    </a:lnTo>
                    <a:lnTo>
                      <a:pt x="516" y="558"/>
                    </a:lnTo>
                    <a:lnTo>
                      <a:pt x="515" y="543"/>
                    </a:lnTo>
                    <a:lnTo>
                      <a:pt x="515" y="543"/>
                    </a:lnTo>
                    <a:lnTo>
                      <a:pt x="527" y="534"/>
                    </a:lnTo>
                    <a:lnTo>
                      <a:pt x="544" y="523"/>
                    </a:lnTo>
                    <a:lnTo>
                      <a:pt x="567" y="513"/>
                    </a:lnTo>
                    <a:lnTo>
                      <a:pt x="592" y="502"/>
                    </a:lnTo>
                    <a:lnTo>
                      <a:pt x="606" y="496"/>
                    </a:lnTo>
                    <a:lnTo>
                      <a:pt x="620" y="492"/>
                    </a:lnTo>
                    <a:lnTo>
                      <a:pt x="634" y="489"/>
                    </a:lnTo>
                    <a:lnTo>
                      <a:pt x="650" y="486"/>
                    </a:lnTo>
                    <a:lnTo>
                      <a:pt x="664" y="484"/>
                    </a:lnTo>
                    <a:lnTo>
                      <a:pt x="678" y="484"/>
                    </a:lnTo>
                    <a:lnTo>
                      <a:pt x="693" y="484"/>
                    </a:lnTo>
                    <a:lnTo>
                      <a:pt x="706" y="487"/>
                    </a:lnTo>
                    <a:lnTo>
                      <a:pt x="706" y="487"/>
                    </a:lnTo>
                    <a:lnTo>
                      <a:pt x="717" y="490"/>
                    </a:lnTo>
                    <a:lnTo>
                      <a:pt x="727" y="495"/>
                    </a:lnTo>
                    <a:lnTo>
                      <a:pt x="737" y="502"/>
                    </a:lnTo>
                    <a:lnTo>
                      <a:pt x="745" y="509"/>
                    </a:lnTo>
                    <a:lnTo>
                      <a:pt x="751" y="518"/>
                    </a:lnTo>
                    <a:lnTo>
                      <a:pt x="757" y="528"/>
                    </a:lnTo>
                    <a:lnTo>
                      <a:pt x="762" y="541"/>
                    </a:lnTo>
                    <a:lnTo>
                      <a:pt x="765" y="554"/>
                    </a:lnTo>
                    <a:lnTo>
                      <a:pt x="765" y="554"/>
                    </a:lnTo>
                    <a:lnTo>
                      <a:pt x="773" y="589"/>
                    </a:lnTo>
                    <a:lnTo>
                      <a:pt x="778" y="621"/>
                    </a:lnTo>
                    <a:lnTo>
                      <a:pt x="782" y="652"/>
                    </a:lnTo>
                    <a:lnTo>
                      <a:pt x="784" y="680"/>
                    </a:lnTo>
                    <a:lnTo>
                      <a:pt x="785" y="706"/>
                    </a:lnTo>
                    <a:lnTo>
                      <a:pt x="784" y="730"/>
                    </a:lnTo>
                    <a:lnTo>
                      <a:pt x="783" y="752"/>
                    </a:lnTo>
                    <a:lnTo>
                      <a:pt x="781" y="773"/>
                    </a:lnTo>
                    <a:lnTo>
                      <a:pt x="778" y="791"/>
                    </a:lnTo>
                    <a:lnTo>
                      <a:pt x="774" y="810"/>
                    </a:lnTo>
                    <a:lnTo>
                      <a:pt x="768" y="826"/>
                    </a:lnTo>
                    <a:lnTo>
                      <a:pt x="763" y="841"/>
                    </a:lnTo>
                    <a:lnTo>
                      <a:pt x="753" y="869"/>
                    </a:lnTo>
                    <a:lnTo>
                      <a:pt x="742" y="895"/>
                    </a:lnTo>
                    <a:lnTo>
                      <a:pt x="742" y="895"/>
                    </a:lnTo>
                    <a:lnTo>
                      <a:pt x="733" y="914"/>
                    </a:lnTo>
                    <a:lnTo>
                      <a:pt x="725" y="934"/>
                    </a:lnTo>
                    <a:lnTo>
                      <a:pt x="721" y="944"/>
                    </a:lnTo>
                    <a:lnTo>
                      <a:pt x="721" y="944"/>
                    </a:lnTo>
                    <a:lnTo>
                      <a:pt x="708" y="982"/>
                    </a:lnTo>
                    <a:lnTo>
                      <a:pt x="702" y="999"/>
                    </a:lnTo>
                    <a:lnTo>
                      <a:pt x="697" y="1017"/>
                    </a:lnTo>
                    <a:lnTo>
                      <a:pt x="697" y="1017"/>
                    </a:lnTo>
                    <a:lnTo>
                      <a:pt x="679" y="1016"/>
                    </a:lnTo>
                    <a:lnTo>
                      <a:pt x="662" y="1012"/>
                    </a:lnTo>
                    <a:lnTo>
                      <a:pt x="644" y="1007"/>
                    </a:lnTo>
                    <a:lnTo>
                      <a:pt x="627" y="1001"/>
                    </a:lnTo>
                    <a:lnTo>
                      <a:pt x="611" y="993"/>
                    </a:lnTo>
                    <a:lnTo>
                      <a:pt x="595" y="983"/>
                    </a:lnTo>
                    <a:lnTo>
                      <a:pt x="581" y="971"/>
                    </a:lnTo>
                    <a:lnTo>
                      <a:pt x="567" y="958"/>
                    </a:lnTo>
                    <a:lnTo>
                      <a:pt x="567" y="958"/>
                    </a:lnTo>
                    <a:close/>
                    <a:moveTo>
                      <a:pt x="574" y="1221"/>
                    </a:moveTo>
                    <a:lnTo>
                      <a:pt x="574" y="1221"/>
                    </a:lnTo>
                    <a:lnTo>
                      <a:pt x="564" y="1218"/>
                    </a:lnTo>
                    <a:lnTo>
                      <a:pt x="554" y="1214"/>
                    </a:lnTo>
                    <a:lnTo>
                      <a:pt x="546" y="1210"/>
                    </a:lnTo>
                    <a:lnTo>
                      <a:pt x="540" y="1206"/>
                    </a:lnTo>
                    <a:lnTo>
                      <a:pt x="540" y="1206"/>
                    </a:lnTo>
                    <a:lnTo>
                      <a:pt x="553" y="1202"/>
                    </a:lnTo>
                    <a:lnTo>
                      <a:pt x="564" y="1199"/>
                    </a:lnTo>
                    <a:lnTo>
                      <a:pt x="577" y="1196"/>
                    </a:lnTo>
                    <a:lnTo>
                      <a:pt x="577" y="1196"/>
                    </a:lnTo>
                    <a:lnTo>
                      <a:pt x="608" y="1189"/>
                    </a:lnTo>
                    <a:lnTo>
                      <a:pt x="632" y="1181"/>
                    </a:lnTo>
                    <a:lnTo>
                      <a:pt x="653" y="1175"/>
                    </a:lnTo>
                    <a:lnTo>
                      <a:pt x="668" y="1167"/>
                    </a:lnTo>
                    <a:lnTo>
                      <a:pt x="681" y="1159"/>
                    </a:lnTo>
                    <a:lnTo>
                      <a:pt x="693" y="1149"/>
                    </a:lnTo>
                    <a:lnTo>
                      <a:pt x="703" y="1137"/>
                    </a:lnTo>
                    <a:lnTo>
                      <a:pt x="714" y="1124"/>
                    </a:lnTo>
                    <a:lnTo>
                      <a:pt x="714" y="1124"/>
                    </a:lnTo>
                    <a:lnTo>
                      <a:pt x="726" y="1109"/>
                    </a:lnTo>
                    <a:lnTo>
                      <a:pt x="741" y="1091"/>
                    </a:lnTo>
                    <a:lnTo>
                      <a:pt x="741" y="1091"/>
                    </a:lnTo>
                    <a:lnTo>
                      <a:pt x="741" y="1091"/>
                    </a:lnTo>
                    <a:lnTo>
                      <a:pt x="741" y="1091"/>
                    </a:lnTo>
                    <a:lnTo>
                      <a:pt x="747" y="1086"/>
                    </a:lnTo>
                    <a:lnTo>
                      <a:pt x="752" y="1081"/>
                    </a:lnTo>
                    <a:lnTo>
                      <a:pt x="756" y="1079"/>
                    </a:lnTo>
                    <a:lnTo>
                      <a:pt x="761" y="1078"/>
                    </a:lnTo>
                    <a:lnTo>
                      <a:pt x="765" y="1078"/>
                    </a:lnTo>
                    <a:lnTo>
                      <a:pt x="769" y="1078"/>
                    </a:lnTo>
                    <a:lnTo>
                      <a:pt x="779" y="1082"/>
                    </a:lnTo>
                    <a:lnTo>
                      <a:pt x="779" y="1082"/>
                    </a:lnTo>
                    <a:lnTo>
                      <a:pt x="783" y="1084"/>
                    </a:lnTo>
                    <a:lnTo>
                      <a:pt x="787" y="1087"/>
                    </a:lnTo>
                    <a:lnTo>
                      <a:pt x="795" y="1095"/>
                    </a:lnTo>
                    <a:lnTo>
                      <a:pt x="801" y="1105"/>
                    </a:lnTo>
                    <a:lnTo>
                      <a:pt x="805" y="1116"/>
                    </a:lnTo>
                    <a:lnTo>
                      <a:pt x="805" y="1116"/>
                    </a:lnTo>
                    <a:lnTo>
                      <a:pt x="807" y="1123"/>
                    </a:lnTo>
                    <a:lnTo>
                      <a:pt x="807" y="1131"/>
                    </a:lnTo>
                    <a:lnTo>
                      <a:pt x="806" y="1139"/>
                    </a:lnTo>
                    <a:lnTo>
                      <a:pt x="804" y="1143"/>
                    </a:lnTo>
                    <a:lnTo>
                      <a:pt x="802" y="1149"/>
                    </a:lnTo>
                    <a:lnTo>
                      <a:pt x="802" y="1149"/>
                    </a:lnTo>
                    <a:lnTo>
                      <a:pt x="790" y="1164"/>
                    </a:lnTo>
                    <a:lnTo>
                      <a:pt x="777" y="1178"/>
                    </a:lnTo>
                    <a:lnTo>
                      <a:pt x="763" y="1191"/>
                    </a:lnTo>
                    <a:lnTo>
                      <a:pt x="749" y="1201"/>
                    </a:lnTo>
                    <a:lnTo>
                      <a:pt x="735" y="1209"/>
                    </a:lnTo>
                    <a:lnTo>
                      <a:pt x="719" y="1216"/>
                    </a:lnTo>
                    <a:lnTo>
                      <a:pt x="705" y="1221"/>
                    </a:lnTo>
                    <a:lnTo>
                      <a:pt x="690" y="1225"/>
                    </a:lnTo>
                    <a:lnTo>
                      <a:pt x="674" y="1227"/>
                    </a:lnTo>
                    <a:lnTo>
                      <a:pt x="659" y="1229"/>
                    </a:lnTo>
                    <a:lnTo>
                      <a:pt x="644" y="1230"/>
                    </a:lnTo>
                    <a:lnTo>
                      <a:pt x="629" y="1229"/>
                    </a:lnTo>
                    <a:lnTo>
                      <a:pt x="615" y="1228"/>
                    </a:lnTo>
                    <a:lnTo>
                      <a:pt x="600" y="1226"/>
                    </a:lnTo>
                    <a:lnTo>
                      <a:pt x="587" y="1224"/>
                    </a:lnTo>
                    <a:lnTo>
                      <a:pt x="574" y="1221"/>
                    </a:lnTo>
                    <a:lnTo>
                      <a:pt x="574" y="1221"/>
                    </a:lnTo>
                    <a:close/>
                    <a:moveTo>
                      <a:pt x="1058" y="1671"/>
                    </a:moveTo>
                    <a:lnTo>
                      <a:pt x="1058" y="1671"/>
                    </a:lnTo>
                    <a:lnTo>
                      <a:pt x="1038" y="1675"/>
                    </a:lnTo>
                    <a:lnTo>
                      <a:pt x="1018" y="1676"/>
                    </a:lnTo>
                    <a:lnTo>
                      <a:pt x="1002" y="1677"/>
                    </a:lnTo>
                    <a:lnTo>
                      <a:pt x="986" y="1675"/>
                    </a:lnTo>
                    <a:lnTo>
                      <a:pt x="971" y="1672"/>
                    </a:lnTo>
                    <a:lnTo>
                      <a:pt x="958" y="1668"/>
                    </a:lnTo>
                    <a:lnTo>
                      <a:pt x="947" y="1661"/>
                    </a:lnTo>
                    <a:lnTo>
                      <a:pt x="935" y="1655"/>
                    </a:lnTo>
                    <a:lnTo>
                      <a:pt x="926" y="1647"/>
                    </a:lnTo>
                    <a:lnTo>
                      <a:pt x="917" y="1638"/>
                    </a:lnTo>
                    <a:lnTo>
                      <a:pt x="909" y="1629"/>
                    </a:lnTo>
                    <a:lnTo>
                      <a:pt x="902" y="1618"/>
                    </a:lnTo>
                    <a:lnTo>
                      <a:pt x="895" y="1607"/>
                    </a:lnTo>
                    <a:lnTo>
                      <a:pt x="889" y="1596"/>
                    </a:lnTo>
                    <a:lnTo>
                      <a:pt x="878" y="1571"/>
                    </a:lnTo>
                    <a:lnTo>
                      <a:pt x="878" y="1571"/>
                    </a:lnTo>
                    <a:lnTo>
                      <a:pt x="875" y="1562"/>
                    </a:lnTo>
                    <a:lnTo>
                      <a:pt x="873" y="1549"/>
                    </a:lnTo>
                    <a:lnTo>
                      <a:pt x="870" y="1532"/>
                    </a:lnTo>
                    <a:lnTo>
                      <a:pt x="868" y="1514"/>
                    </a:lnTo>
                    <a:lnTo>
                      <a:pt x="864" y="1467"/>
                    </a:lnTo>
                    <a:lnTo>
                      <a:pt x="860" y="1412"/>
                    </a:lnTo>
                    <a:lnTo>
                      <a:pt x="858" y="1348"/>
                    </a:lnTo>
                    <a:lnTo>
                      <a:pt x="858" y="1279"/>
                    </a:lnTo>
                    <a:lnTo>
                      <a:pt x="858" y="1204"/>
                    </a:lnTo>
                    <a:lnTo>
                      <a:pt x="859" y="1125"/>
                    </a:lnTo>
                    <a:lnTo>
                      <a:pt x="859" y="1125"/>
                    </a:lnTo>
                    <a:lnTo>
                      <a:pt x="859" y="1121"/>
                    </a:lnTo>
                    <a:lnTo>
                      <a:pt x="858" y="1117"/>
                    </a:lnTo>
                    <a:lnTo>
                      <a:pt x="858" y="1117"/>
                    </a:lnTo>
                    <a:lnTo>
                      <a:pt x="854" y="1103"/>
                    </a:lnTo>
                    <a:lnTo>
                      <a:pt x="854" y="1103"/>
                    </a:lnTo>
                    <a:lnTo>
                      <a:pt x="850" y="1091"/>
                    </a:lnTo>
                    <a:lnTo>
                      <a:pt x="846" y="1080"/>
                    </a:lnTo>
                    <a:lnTo>
                      <a:pt x="840" y="1070"/>
                    </a:lnTo>
                    <a:lnTo>
                      <a:pt x="833" y="1061"/>
                    </a:lnTo>
                    <a:lnTo>
                      <a:pt x="826" y="1052"/>
                    </a:lnTo>
                    <a:lnTo>
                      <a:pt x="817" y="1045"/>
                    </a:lnTo>
                    <a:lnTo>
                      <a:pt x="808" y="1039"/>
                    </a:lnTo>
                    <a:lnTo>
                      <a:pt x="798" y="1035"/>
                    </a:lnTo>
                    <a:lnTo>
                      <a:pt x="798" y="1035"/>
                    </a:lnTo>
                    <a:lnTo>
                      <a:pt x="789" y="1031"/>
                    </a:lnTo>
                    <a:lnTo>
                      <a:pt x="778" y="1028"/>
                    </a:lnTo>
                    <a:lnTo>
                      <a:pt x="770" y="1027"/>
                    </a:lnTo>
                    <a:lnTo>
                      <a:pt x="763" y="1027"/>
                    </a:lnTo>
                    <a:lnTo>
                      <a:pt x="755" y="1027"/>
                    </a:lnTo>
                    <a:lnTo>
                      <a:pt x="747" y="1029"/>
                    </a:lnTo>
                    <a:lnTo>
                      <a:pt x="747" y="1029"/>
                    </a:lnTo>
                    <a:lnTo>
                      <a:pt x="751" y="1013"/>
                    </a:lnTo>
                    <a:lnTo>
                      <a:pt x="756" y="997"/>
                    </a:lnTo>
                    <a:lnTo>
                      <a:pt x="769" y="962"/>
                    </a:lnTo>
                    <a:lnTo>
                      <a:pt x="773" y="952"/>
                    </a:lnTo>
                    <a:lnTo>
                      <a:pt x="773" y="952"/>
                    </a:lnTo>
                    <a:lnTo>
                      <a:pt x="780" y="934"/>
                    </a:lnTo>
                    <a:lnTo>
                      <a:pt x="788" y="915"/>
                    </a:lnTo>
                    <a:lnTo>
                      <a:pt x="788" y="915"/>
                    </a:lnTo>
                    <a:lnTo>
                      <a:pt x="800" y="889"/>
                    </a:lnTo>
                    <a:lnTo>
                      <a:pt x="811" y="858"/>
                    </a:lnTo>
                    <a:lnTo>
                      <a:pt x="818" y="841"/>
                    </a:lnTo>
                    <a:lnTo>
                      <a:pt x="823" y="823"/>
                    </a:lnTo>
                    <a:lnTo>
                      <a:pt x="827" y="804"/>
                    </a:lnTo>
                    <a:lnTo>
                      <a:pt x="831" y="783"/>
                    </a:lnTo>
                    <a:lnTo>
                      <a:pt x="833" y="761"/>
                    </a:lnTo>
                    <a:lnTo>
                      <a:pt x="835" y="736"/>
                    </a:lnTo>
                    <a:lnTo>
                      <a:pt x="835" y="709"/>
                    </a:lnTo>
                    <a:lnTo>
                      <a:pt x="835" y="681"/>
                    </a:lnTo>
                    <a:lnTo>
                      <a:pt x="833" y="650"/>
                    </a:lnTo>
                    <a:lnTo>
                      <a:pt x="829" y="616"/>
                    </a:lnTo>
                    <a:lnTo>
                      <a:pt x="823" y="581"/>
                    </a:lnTo>
                    <a:lnTo>
                      <a:pt x="816" y="543"/>
                    </a:lnTo>
                    <a:lnTo>
                      <a:pt x="816" y="543"/>
                    </a:lnTo>
                    <a:lnTo>
                      <a:pt x="811" y="528"/>
                    </a:lnTo>
                    <a:lnTo>
                      <a:pt x="807" y="515"/>
                    </a:lnTo>
                    <a:lnTo>
                      <a:pt x="801" y="503"/>
                    </a:lnTo>
                    <a:lnTo>
                      <a:pt x="795" y="491"/>
                    </a:lnTo>
                    <a:lnTo>
                      <a:pt x="788" y="481"/>
                    </a:lnTo>
                    <a:lnTo>
                      <a:pt x="780" y="472"/>
                    </a:lnTo>
                    <a:lnTo>
                      <a:pt x="770" y="463"/>
                    </a:lnTo>
                    <a:lnTo>
                      <a:pt x="761" y="456"/>
                    </a:lnTo>
                    <a:lnTo>
                      <a:pt x="750" y="449"/>
                    </a:lnTo>
                    <a:lnTo>
                      <a:pt x="739" y="444"/>
                    </a:lnTo>
                    <a:lnTo>
                      <a:pt x="726" y="439"/>
                    </a:lnTo>
                    <a:lnTo>
                      <a:pt x="714" y="436"/>
                    </a:lnTo>
                    <a:lnTo>
                      <a:pt x="700" y="434"/>
                    </a:lnTo>
                    <a:lnTo>
                      <a:pt x="685" y="433"/>
                    </a:lnTo>
                    <a:lnTo>
                      <a:pt x="670" y="433"/>
                    </a:lnTo>
                    <a:lnTo>
                      <a:pt x="655" y="434"/>
                    </a:lnTo>
                    <a:lnTo>
                      <a:pt x="655" y="434"/>
                    </a:lnTo>
                    <a:lnTo>
                      <a:pt x="635" y="437"/>
                    </a:lnTo>
                    <a:lnTo>
                      <a:pt x="617" y="441"/>
                    </a:lnTo>
                    <a:lnTo>
                      <a:pt x="599" y="445"/>
                    </a:lnTo>
                    <a:lnTo>
                      <a:pt x="582" y="450"/>
                    </a:lnTo>
                    <a:lnTo>
                      <a:pt x="568" y="457"/>
                    </a:lnTo>
                    <a:lnTo>
                      <a:pt x="553" y="463"/>
                    </a:lnTo>
                    <a:lnTo>
                      <a:pt x="532" y="473"/>
                    </a:lnTo>
                    <a:lnTo>
                      <a:pt x="532" y="473"/>
                    </a:lnTo>
                    <a:lnTo>
                      <a:pt x="517" y="480"/>
                    </a:lnTo>
                    <a:lnTo>
                      <a:pt x="517" y="480"/>
                    </a:lnTo>
                    <a:lnTo>
                      <a:pt x="520" y="447"/>
                    </a:lnTo>
                    <a:lnTo>
                      <a:pt x="527" y="409"/>
                    </a:lnTo>
                    <a:lnTo>
                      <a:pt x="531" y="389"/>
                    </a:lnTo>
                    <a:lnTo>
                      <a:pt x="535" y="368"/>
                    </a:lnTo>
                    <a:lnTo>
                      <a:pt x="541" y="346"/>
                    </a:lnTo>
                    <a:lnTo>
                      <a:pt x="547" y="325"/>
                    </a:lnTo>
                    <a:lnTo>
                      <a:pt x="555" y="302"/>
                    </a:lnTo>
                    <a:lnTo>
                      <a:pt x="564" y="279"/>
                    </a:lnTo>
                    <a:lnTo>
                      <a:pt x="574" y="258"/>
                    </a:lnTo>
                    <a:lnTo>
                      <a:pt x="584" y="236"/>
                    </a:lnTo>
                    <a:lnTo>
                      <a:pt x="596" y="215"/>
                    </a:lnTo>
                    <a:lnTo>
                      <a:pt x="611" y="195"/>
                    </a:lnTo>
                    <a:lnTo>
                      <a:pt x="626" y="176"/>
                    </a:lnTo>
                    <a:lnTo>
                      <a:pt x="642" y="158"/>
                    </a:lnTo>
                    <a:lnTo>
                      <a:pt x="642" y="158"/>
                    </a:lnTo>
                    <a:lnTo>
                      <a:pt x="654" y="146"/>
                    </a:lnTo>
                    <a:lnTo>
                      <a:pt x="665" y="136"/>
                    </a:lnTo>
                    <a:lnTo>
                      <a:pt x="677" y="127"/>
                    </a:lnTo>
                    <a:lnTo>
                      <a:pt x="691" y="119"/>
                    </a:lnTo>
                    <a:lnTo>
                      <a:pt x="703" y="111"/>
                    </a:lnTo>
                    <a:lnTo>
                      <a:pt x="716" y="103"/>
                    </a:lnTo>
                    <a:lnTo>
                      <a:pt x="731" y="97"/>
                    </a:lnTo>
                    <a:lnTo>
                      <a:pt x="745" y="91"/>
                    </a:lnTo>
                    <a:lnTo>
                      <a:pt x="760" y="86"/>
                    </a:lnTo>
                    <a:lnTo>
                      <a:pt x="775" y="82"/>
                    </a:lnTo>
                    <a:lnTo>
                      <a:pt x="791" y="78"/>
                    </a:lnTo>
                    <a:lnTo>
                      <a:pt x="806" y="75"/>
                    </a:lnTo>
                    <a:lnTo>
                      <a:pt x="823" y="73"/>
                    </a:lnTo>
                    <a:lnTo>
                      <a:pt x="840" y="72"/>
                    </a:lnTo>
                    <a:lnTo>
                      <a:pt x="858" y="71"/>
                    </a:lnTo>
                    <a:lnTo>
                      <a:pt x="875" y="71"/>
                    </a:lnTo>
                    <a:lnTo>
                      <a:pt x="875" y="71"/>
                    </a:lnTo>
                    <a:lnTo>
                      <a:pt x="910" y="72"/>
                    </a:lnTo>
                    <a:lnTo>
                      <a:pt x="943" y="76"/>
                    </a:lnTo>
                    <a:lnTo>
                      <a:pt x="974" y="81"/>
                    </a:lnTo>
                    <a:lnTo>
                      <a:pt x="1004" y="88"/>
                    </a:lnTo>
                    <a:lnTo>
                      <a:pt x="1032" y="97"/>
                    </a:lnTo>
                    <a:lnTo>
                      <a:pt x="1059" y="107"/>
                    </a:lnTo>
                    <a:lnTo>
                      <a:pt x="1084" y="119"/>
                    </a:lnTo>
                    <a:lnTo>
                      <a:pt x="1109" y="131"/>
                    </a:lnTo>
                    <a:lnTo>
                      <a:pt x="1131" y="144"/>
                    </a:lnTo>
                    <a:lnTo>
                      <a:pt x="1153" y="159"/>
                    </a:lnTo>
                    <a:lnTo>
                      <a:pt x="1172" y="174"/>
                    </a:lnTo>
                    <a:lnTo>
                      <a:pt x="1191" y="188"/>
                    </a:lnTo>
                    <a:lnTo>
                      <a:pt x="1208" y="204"/>
                    </a:lnTo>
                    <a:lnTo>
                      <a:pt x="1224" y="220"/>
                    </a:lnTo>
                    <a:lnTo>
                      <a:pt x="1239" y="235"/>
                    </a:lnTo>
                    <a:lnTo>
                      <a:pt x="1252" y="250"/>
                    </a:lnTo>
                    <a:lnTo>
                      <a:pt x="1252" y="250"/>
                    </a:lnTo>
                    <a:lnTo>
                      <a:pt x="1273" y="276"/>
                    </a:lnTo>
                    <a:lnTo>
                      <a:pt x="1291" y="302"/>
                    </a:lnTo>
                    <a:lnTo>
                      <a:pt x="1307" y="327"/>
                    </a:lnTo>
                    <a:lnTo>
                      <a:pt x="1321" y="350"/>
                    </a:lnTo>
                    <a:lnTo>
                      <a:pt x="1332" y="373"/>
                    </a:lnTo>
                    <a:lnTo>
                      <a:pt x="1342" y="393"/>
                    </a:lnTo>
                    <a:lnTo>
                      <a:pt x="1349" y="412"/>
                    </a:lnTo>
                    <a:lnTo>
                      <a:pt x="1356" y="427"/>
                    </a:lnTo>
                    <a:lnTo>
                      <a:pt x="1356" y="427"/>
                    </a:lnTo>
                    <a:lnTo>
                      <a:pt x="1337" y="426"/>
                    </a:lnTo>
                    <a:lnTo>
                      <a:pt x="1321" y="425"/>
                    </a:lnTo>
                    <a:lnTo>
                      <a:pt x="1304" y="425"/>
                    </a:lnTo>
                    <a:lnTo>
                      <a:pt x="1289" y="425"/>
                    </a:lnTo>
                    <a:lnTo>
                      <a:pt x="1275" y="426"/>
                    </a:lnTo>
                    <a:lnTo>
                      <a:pt x="1260" y="428"/>
                    </a:lnTo>
                    <a:lnTo>
                      <a:pt x="1248" y="431"/>
                    </a:lnTo>
                    <a:lnTo>
                      <a:pt x="1235" y="434"/>
                    </a:lnTo>
                    <a:lnTo>
                      <a:pt x="1223" y="437"/>
                    </a:lnTo>
                    <a:lnTo>
                      <a:pt x="1212" y="442"/>
                    </a:lnTo>
                    <a:lnTo>
                      <a:pt x="1202" y="447"/>
                    </a:lnTo>
                    <a:lnTo>
                      <a:pt x="1193" y="453"/>
                    </a:lnTo>
                    <a:lnTo>
                      <a:pt x="1183" y="460"/>
                    </a:lnTo>
                    <a:lnTo>
                      <a:pt x="1176" y="467"/>
                    </a:lnTo>
                    <a:lnTo>
                      <a:pt x="1168" y="475"/>
                    </a:lnTo>
                    <a:lnTo>
                      <a:pt x="1162" y="483"/>
                    </a:lnTo>
                    <a:lnTo>
                      <a:pt x="1162" y="483"/>
                    </a:lnTo>
                    <a:lnTo>
                      <a:pt x="1156" y="492"/>
                    </a:lnTo>
                    <a:lnTo>
                      <a:pt x="1151" y="504"/>
                    </a:lnTo>
                    <a:lnTo>
                      <a:pt x="1146" y="514"/>
                    </a:lnTo>
                    <a:lnTo>
                      <a:pt x="1143" y="525"/>
                    </a:lnTo>
                    <a:lnTo>
                      <a:pt x="1141" y="537"/>
                    </a:lnTo>
                    <a:lnTo>
                      <a:pt x="1139" y="550"/>
                    </a:lnTo>
                    <a:lnTo>
                      <a:pt x="1138" y="562"/>
                    </a:lnTo>
                    <a:lnTo>
                      <a:pt x="1138" y="574"/>
                    </a:lnTo>
                    <a:lnTo>
                      <a:pt x="1139" y="588"/>
                    </a:lnTo>
                    <a:lnTo>
                      <a:pt x="1141" y="601"/>
                    </a:lnTo>
                    <a:lnTo>
                      <a:pt x="1145" y="628"/>
                    </a:lnTo>
                    <a:lnTo>
                      <a:pt x="1153" y="655"/>
                    </a:lnTo>
                    <a:lnTo>
                      <a:pt x="1162" y="684"/>
                    </a:lnTo>
                    <a:lnTo>
                      <a:pt x="1171" y="711"/>
                    </a:lnTo>
                    <a:lnTo>
                      <a:pt x="1182" y="738"/>
                    </a:lnTo>
                    <a:lnTo>
                      <a:pt x="1195" y="766"/>
                    </a:lnTo>
                    <a:lnTo>
                      <a:pt x="1207" y="791"/>
                    </a:lnTo>
                    <a:lnTo>
                      <a:pt x="1233" y="838"/>
                    </a:lnTo>
                    <a:lnTo>
                      <a:pt x="1254" y="878"/>
                    </a:lnTo>
                    <a:lnTo>
                      <a:pt x="1254" y="878"/>
                    </a:lnTo>
                    <a:lnTo>
                      <a:pt x="1267" y="902"/>
                    </a:lnTo>
                    <a:lnTo>
                      <a:pt x="1276" y="917"/>
                    </a:lnTo>
                    <a:lnTo>
                      <a:pt x="1276" y="917"/>
                    </a:lnTo>
                    <a:lnTo>
                      <a:pt x="1282" y="933"/>
                    </a:lnTo>
                    <a:lnTo>
                      <a:pt x="1289" y="947"/>
                    </a:lnTo>
                    <a:lnTo>
                      <a:pt x="1296" y="959"/>
                    </a:lnTo>
                    <a:lnTo>
                      <a:pt x="1303" y="970"/>
                    </a:lnTo>
                    <a:lnTo>
                      <a:pt x="1318" y="991"/>
                    </a:lnTo>
                    <a:lnTo>
                      <a:pt x="1331" y="1008"/>
                    </a:lnTo>
                    <a:lnTo>
                      <a:pt x="1331" y="1008"/>
                    </a:lnTo>
                    <a:lnTo>
                      <a:pt x="1345" y="1026"/>
                    </a:lnTo>
                    <a:lnTo>
                      <a:pt x="1345" y="1026"/>
                    </a:lnTo>
                    <a:lnTo>
                      <a:pt x="1333" y="1030"/>
                    </a:lnTo>
                    <a:lnTo>
                      <a:pt x="1320" y="1035"/>
                    </a:lnTo>
                    <a:lnTo>
                      <a:pt x="1313" y="1039"/>
                    </a:lnTo>
                    <a:lnTo>
                      <a:pt x="1306" y="1043"/>
                    </a:lnTo>
                    <a:lnTo>
                      <a:pt x="1300" y="1048"/>
                    </a:lnTo>
                    <a:lnTo>
                      <a:pt x="1294" y="1054"/>
                    </a:lnTo>
                    <a:lnTo>
                      <a:pt x="1288" y="1062"/>
                    </a:lnTo>
                    <a:lnTo>
                      <a:pt x="1283" y="1070"/>
                    </a:lnTo>
                    <a:lnTo>
                      <a:pt x="1279" y="1080"/>
                    </a:lnTo>
                    <a:lnTo>
                      <a:pt x="1275" y="1090"/>
                    </a:lnTo>
                    <a:lnTo>
                      <a:pt x="1271" y="1103"/>
                    </a:lnTo>
                    <a:lnTo>
                      <a:pt x="1269" y="1117"/>
                    </a:lnTo>
                    <a:lnTo>
                      <a:pt x="1268" y="1132"/>
                    </a:lnTo>
                    <a:lnTo>
                      <a:pt x="1268" y="1150"/>
                    </a:lnTo>
                    <a:lnTo>
                      <a:pt x="1268" y="1150"/>
                    </a:lnTo>
                    <a:lnTo>
                      <a:pt x="1262" y="1214"/>
                    </a:lnTo>
                    <a:lnTo>
                      <a:pt x="1250" y="1314"/>
                    </a:lnTo>
                    <a:lnTo>
                      <a:pt x="1237" y="1421"/>
                    </a:lnTo>
                    <a:lnTo>
                      <a:pt x="1229" y="1467"/>
                    </a:lnTo>
                    <a:lnTo>
                      <a:pt x="1224" y="1503"/>
                    </a:lnTo>
                    <a:lnTo>
                      <a:pt x="1224" y="1503"/>
                    </a:lnTo>
                    <a:lnTo>
                      <a:pt x="1220" y="1522"/>
                    </a:lnTo>
                    <a:lnTo>
                      <a:pt x="1216" y="1540"/>
                    </a:lnTo>
                    <a:lnTo>
                      <a:pt x="1211" y="1556"/>
                    </a:lnTo>
                    <a:lnTo>
                      <a:pt x="1206" y="1570"/>
                    </a:lnTo>
                    <a:lnTo>
                      <a:pt x="1200" y="1584"/>
                    </a:lnTo>
                    <a:lnTo>
                      <a:pt x="1193" y="1596"/>
                    </a:lnTo>
                    <a:lnTo>
                      <a:pt x="1184" y="1607"/>
                    </a:lnTo>
                    <a:lnTo>
                      <a:pt x="1175" y="1617"/>
                    </a:lnTo>
                    <a:lnTo>
                      <a:pt x="1165" y="1627"/>
                    </a:lnTo>
                    <a:lnTo>
                      <a:pt x="1154" y="1635"/>
                    </a:lnTo>
                    <a:lnTo>
                      <a:pt x="1141" y="1643"/>
                    </a:lnTo>
                    <a:lnTo>
                      <a:pt x="1127" y="1649"/>
                    </a:lnTo>
                    <a:lnTo>
                      <a:pt x="1113" y="1655"/>
                    </a:lnTo>
                    <a:lnTo>
                      <a:pt x="1095" y="1661"/>
                    </a:lnTo>
                    <a:lnTo>
                      <a:pt x="1078" y="1667"/>
                    </a:lnTo>
                    <a:lnTo>
                      <a:pt x="1058" y="1671"/>
                    </a:lnTo>
                    <a:lnTo>
                      <a:pt x="1058" y="1671"/>
                    </a:lnTo>
                    <a:close/>
                    <a:moveTo>
                      <a:pt x="1530" y="1131"/>
                    </a:moveTo>
                    <a:lnTo>
                      <a:pt x="1530" y="1131"/>
                    </a:lnTo>
                    <a:lnTo>
                      <a:pt x="1518" y="1136"/>
                    </a:lnTo>
                    <a:lnTo>
                      <a:pt x="1504" y="1140"/>
                    </a:lnTo>
                    <a:lnTo>
                      <a:pt x="1490" y="1144"/>
                    </a:lnTo>
                    <a:lnTo>
                      <a:pt x="1473" y="1149"/>
                    </a:lnTo>
                    <a:lnTo>
                      <a:pt x="1457" y="1152"/>
                    </a:lnTo>
                    <a:lnTo>
                      <a:pt x="1440" y="1154"/>
                    </a:lnTo>
                    <a:lnTo>
                      <a:pt x="1422" y="1156"/>
                    </a:lnTo>
                    <a:lnTo>
                      <a:pt x="1405" y="1157"/>
                    </a:lnTo>
                    <a:lnTo>
                      <a:pt x="1405" y="1157"/>
                    </a:lnTo>
                    <a:lnTo>
                      <a:pt x="1386" y="1158"/>
                    </a:lnTo>
                    <a:lnTo>
                      <a:pt x="1370" y="1158"/>
                    </a:lnTo>
                    <a:lnTo>
                      <a:pt x="1357" y="1156"/>
                    </a:lnTo>
                    <a:lnTo>
                      <a:pt x="1345" y="1155"/>
                    </a:lnTo>
                    <a:lnTo>
                      <a:pt x="1335" y="1153"/>
                    </a:lnTo>
                    <a:lnTo>
                      <a:pt x="1328" y="1151"/>
                    </a:lnTo>
                    <a:lnTo>
                      <a:pt x="1323" y="1149"/>
                    </a:lnTo>
                    <a:lnTo>
                      <a:pt x="1320" y="1147"/>
                    </a:lnTo>
                    <a:lnTo>
                      <a:pt x="1320" y="1147"/>
                    </a:lnTo>
                    <a:lnTo>
                      <a:pt x="1320" y="1126"/>
                    </a:lnTo>
                    <a:lnTo>
                      <a:pt x="1321" y="1118"/>
                    </a:lnTo>
                    <a:lnTo>
                      <a:pt x="1322" y="1111"/>
                    </a:lnTo>
                    <a:lnTo>
                      <a:pt x="1324" y="1105"/>
                    </a:lnTo>
                    <a:lnTo>
                      <a:pt x="1326" y="1098"/>
                    </a:lnTo>
                    <a:lnTo>
                      <a:pt x="1329" y="1094"/>
                    </a:lnTo>
                    <a:lnTo>
                      <a:pt x="1331" y="1090"/>
                    </a:lnTo>
                    <a:lnTo>
                      <a:pt x="1338" y="1084"/>
                    </a:lnTo>
                    <a:lnTo>
                      <a:pt x="1345" y="1079"/>
                    </a:lnTo>
                    <a:lnTo>
                      <a:pt x="1354" y="1076"/>
                    </a:lnTo>
                    <a:lnTo>
                      <a:pt x="1363" y="1074"/>
                    </a:lnTo>
                    <a:lnTo>
                      <a:pt x="1363" y="1074"/>
                    </a:lnTo>
                    <a:lnTo>
                      <a:pt x="1374" y="1071"/>
                    </a:lnTo>
                    <a:lnTo>
                      <a:pt x="1374" y="1071"/>
                    </a:lnTo>
                    <a:lnTo>
                      <a:pt x="1381" y="1076"/>
                    </a:lnTo>
                    <a:lnTo>
                      <a:pt x="1381" y="1076"/>
                    </a:lnTo>
                    <a:lnTo>
                      <a:pt x="1389" y="1080"/>
                    </a:lnTo>
                    <a:lnTo>
                      <a:pt x="1398" y="1085"/>
                    </a:lnTo>
                    <a:lnTo>
                      <a:pt x="1408" y="1088"/>
                    </a:lnTo>
                    <a:lnTo>
                      <a:pt x="1418" y="1091"/>
                    </a:lnTo>
                    <a:lnTo>
                      <a:pt x="1429" y="1094"/>
                    </a:lnTo>
                    <a:lnTo>
                      <a:pt x="1442" y="1096"/>
                    </a:lnTo>
                    <a:lnTo>
                      <a:pt x="1454" y="1097"/>
                    </a:lnTo>
                    <a:lnTo>
                      <a:pt x="1467" y="1098"/>
                    </a:lnTo>
                    <a:lnTo>
                      <a:pt x="1497" y="1098"/>
                    </a:lnTo>
                    <a:lnTo>
                      <a:pt x="1529" y="1096"/>
                    </a:lnTo>
                    <a:lnTo>
                      <a:pt x="1563" y="1091"/>
                    </a:lnTo>
                    <a:lnTo>
                      <a:pt x="1601" y="1084"/>
                    </a:lnTo>
                    <a:lnTo>
                      <a:pt x="1601" y="1084"/>
                    </a:lnTo>
                    <a:lnTo>
                      <a:pt x="1602" y="1084"/>
                    </a:lnTo>
                    <a:lnTo>
                      <a:pt x="1602" y="1084"/>
                    </a:lnTo>
                    <a:lnTo>
                      <a:pt x="1590" y="1094"/>
                    </a:lnTo>
                    <a:lnTo>
                      <a:pt x="1574" y="1107"/>
                    </a:lnTo>
                    <a:lnTo>
                      <a:pt x="1554" y="1119"/>
                    </a:lnTo>
                    <a:lnTo>
                      <a:pt x="1530" y="1131"/>
                    </a:lnTo>
                    <a:lnTo>
                      <a:pt x="1530" y="1131"/>
                    </a:lnTo>
                    <a:close/>
                  </a:path>
                </a:pathLst>
              </a:custGeom>
              <a:grpFill/>
              <a:ln>
                <a:noFill/>
              </a:ln>
            </p:spPr>
            <p:txBody>
              <a:bodyPr vert="horz" wrap="square" lIns="91427" tIns="45713" rIns="91427" bIns="45713" numCol="1" anchor="t" anchorCtr="0" compatLnSpc="1">
                <a:prstTxWarp prst="textNoShape">
                  <a:avLst/>
                </a:prstTxWarp>
              </a:bodyPr>
              <a:lstStyle/>
              <a:p>
                <a:pPr defTabSz="914225">
                  <a:defRPr/>
                </a:pPr>
                <a:endParaRPr lang="en-US">
                  <a:solidFill>
                    <a:prstClr val="black"/>
                  </a:solidFill>
                  <a:latin typeface="Segoe UI"/>
                </a:endParaRPr>
              </a:p>
            </p:txBody>
          </p:sp>
          <p:sp>
            <p:nvSpPr>
              <p:cNvPr id="46" name="Freeform 236">
                <a:extLst>
                  <a:ext uri="{FF2B5EF4-FFF2-40B4-BE49-F238E27FC236}">
                    <a16:creationId xmlns:a16="http://schemas.microsoft.com/office/drawing/2014/main" id="{E2FAFCE4-C242-41A2-BEA9-95E594C9BDA5}"/>
                  </a:ext>
                </a:extLst>
              </p:cNvPr>
              <p:cNvSpPr>
                <a:spLocks/>
              </p:cNvSpPr>
              <p:nvPr/>
            </p:nvSpPr>
            <p:spPr bwMode="auto">
              <a:xfrm>
                <a:off x="11231109" y="2571836"/>
                <a:ext cx="258762" cy="23813"/>
              </a:xfrm>
              <a:custGeom>
                <a:avLst/>
                <a:gdLst>
                  <a:gd name="connsiteX0" fmla="*/ 6960 w 258762"/>
                  <a:gd name="connsiteY0" fmla="*/ 6350 h 23813"/>
                  <a:gd name="connsiteX1" fmla="*/ 9667 w 258762"/>
                  <a:gd name="connsiteY1" fmla="*/ 6350 h 23813"/>
                  <a:gd name="connsiteX2" fmla="*/ 12761 w 258762"/>
                  <a:gd name="connsiteY2" fmla="*/ 6350 h 23813"/>
                  <a:gd name="connsiteX3" fmla="*/ 15854 w 258762"/>
                  <a:gd name="connsiteY3" fmla="*/ 6747 h 23813"/>
                  <a:gd name="connsiteX4" fmla="*/ 18948 w 258762"/>
                  <a:gd name="connsiteY4" fmla="*/ 7144 h 23813"/>
                  <a:gd name="connsiteX5" fmla="*/ 21655 w 258762"/>
                  <a:gd name="connsiteY5" fmla="*/ 7938 h 23813"/>
                  <a:gd name="connsiteX6" fmla="*/ 23975 w 258762"/>
                  <a:gd name="connsiteY6" fmla="*/ 8731 h 23813"/>
                  <a:gd name="connsiteX7" fmla="*/ 25908 w 258762"/>
                  <a:gd name="connsiteY7" fmla="*/ 9922 h 23813"/>
                  <a:gd name="connsiteX8" fmla="*/ 27842 w 258762"/>
                  <a:gd name="connsiteY8" fmla="*/ 11113 h 23813"/>
                  <a:gd name="connsiteX9" fmla="*/ 29389 w 258762"/>
                  <a:gd name="connsiteY9" fmla="*/ 12303 h 23813"/>
                  <a:gd name="connsiteX10" fmla="*/ 30162 w 258762"/>
                  <a:gd name="connsiteY10" fmla="*/ 13494 h 23813"/>
                  <a:gd name="connsiteX11" fmla="*/ 30162 w 258762"/>
                  <a:gd name="connsiteY11" fmla="*/ 15082 h 23813"/>
                  <a:gd name="connsiteX12" fmla="*/ 29775 w 258762"/>
                  <a:gd name="connsiteY12" fmla="*/ 16272 h 23813"/>
                  <a:gd name="connsiteX13" fmla="*/ 28229 w 258762"/>
                  <a:gd name="connsiteY13" fmla="*/ 17860 h 23813"/>
                  <a:gd name="connsiteX14" fmla="*/ 26682 w 258762"/>
                  <a:gd name="connsiteY14" fmla="*/ 19447 h 23813"/>
                  <a:gd name="connsiteX15" fmla="*/ 24748 w 258762"/>
                  <a:gd name="connsiteY15" fmla="*/ 21035 h 23813"/>
                  <a:gd name="connsiteX16" fmla="*/ 22815 w 258762"/>
                  <a:gd name="connsiteY16" fmla="*/ 22226 h 23813"/>
                  <a:gd name="connsiteX17" fmla="*/ 20108 w 258762"/>
                  <a:gd name="connsiteY17" fmla="*/ 23416 h 23813"/>
                  <a:gd name="connsiteX18" fmla="*/ 17401 w 258762"/>
                  <a:gd name="connsiteY18" fmla="*/ 23813 h 23813"/>
                  <a:gd name="connsiteX19" fmla="*/ 14308 w 258762"/>
                  <a:gd name="connsiteY19" fmla="*/ 23813 h 23813"/>
                  <a:gd name="connsiteX20" fmla="*/ 10827 w 258762"/>
                  <a:gd name="connsiteY20" fmla="*/ 23019 h 23813"/>
                  <a:gd name="connsiteX21" fmla="*/ 8121 w 258762"/>
                  <a:gd name="connsiteY21" fmla="*/ 21829 h 23813"/>
                  <a:gd name="connsiteX22" fmla="*/ 5800 w 258762"/>
                  <a:gd name="connsiteY22" fmla="*/ 20241 h 23813"/>
                  <a:gd name="connsiteX23" fmla="*/ 3867 w 258762"/>
                  <a:gd name="connsiteY23" fmla="*/ 18257 h 23813"/>
                  <a:gd name="connsiteX24" fmla="*/ 1933 w 258762"/>
                  <a:gd name="connsiteY24" fmla="*/ 15875 h 23813"/>
                  <a:gd name="connsiteX25" fmla="*/ 773 w 258762"/>
                  <a:gd name="connsiteY25" fmla="*/ 13494 h 23813"/>
                  <a:gd name="connsiteX26" fmla="*/ 0 w 258762"/>
                  <a:gd name="connsiteY26" fmla="*/ 11907 h 23813"/>
                  <a:gd name="connsiteX27" fmla="*/ 0 w 258762"/>
                  <a:gd name="connsiteY27" fmla="*/ 10319 h 23813"/>
                  <a:gd name="connsiteX28" fmla="*/ 387 w 258762"/>
                  <a:gd name="connsiteY28" fmla="*/ 9128 h 23813"/>
                  <a:gd name="connsiteX29" fmla="*/ 1547 w 258762"/>
                  <a:gd name="connsiteY29" fmla="*/ 8335 h 23813"/>
                  <a:gd name="connsiteX30" fmla="*/ 3094 w 258762"/>
                  <a:gd name="connsiteY30" fmla="*/ 7541 h 23813"/>
                  <a:gd name="connsiteX31" fmla="*/ 5027 w 258762"/>
                  <a:gd name="connsiteY31" fmla="*/ 6747 h 23813"/>
                  <a:gd name="connsiteX32" fmla="*/ 245835 w 258762"/>
                  <a:gd name="connsiteY32" fmla="*/ 0 h 23813"/>
                  <a:gd name="connsiteX33" fmla="*/ 248969 w 258762"/>
                  <a:gd name="connsiteY33" fmla="*/ 0 h 23813"/>
                  <a:gd name="connsiteX34" fmla="*/ 251319 w 258762"/>
                  <a:gd name="connsiteY34" fmla="*/ 388 h 23813"/>
                  <a:gd name="connsiteX35" fmla="*/ 253670 w 258762"/>
                  <a:gd name="connsiteY35" fmla="*/ 776 h 23813"/>
                  <a:gd name="connsiteX36" fmla="*/ 255628 w 258762"/>
                  <a:gd name="connsiteY36" fmla="*/ 1164 h 23813"/>
                  <a:gd name="connsiteX37" fmla="*/ 257195 w 258762"/>
                  <a:gd name="connsiteY37" fmla="*/ 1940 h 23813"/>
                  <a:gd name="connsiteX38" fmla="*/ 258370 w 258762"/>
                  <a:gd name="connsiteY38" fmla="*/ 3104 h 23813"/>
                  <a:gd name="connsiteX39" fmla="*/ 258762 w 258762"/>
                  <a:gd name="connsiteY39" fmla="*/ 4269 h 23813"/>
                  <a:gd name="connsiteX40" fmla="*/ 258370 w 258762"/>
                  <a:gd name="connsiteY40" fmla="*/ 5433 h 23813"/>
                  <a:gd name="connsiteX41" fmla="*/ 257979 w 258762"/>
                  <a:gd name="connsiteY41" fmla="*/ 7373 h 23813"/>
                  <a:gd name="connsiteX42" fmla="*/ 256412 w 258762"/>
                  <a:gd name="connsiteY42" fmla="*/ 9314 h 23813"/>
                  <a:gd name="connsiteX43" fmla="*/ 254845 w 258762"/>
                  <a:gd name="connsiteY43" fmla="*/ 11254 h 23813"/>
                  <a:gd name="connsiteX44" fmla="*/ 252886 w 258762"/>
                  <a:gd name="connsiteY44" fmla="*/ 13194 h 23813"/>
                  <a:gd name="connsiteX45" fmla="*/ 250144 w 258762"/>
                  <a:gd name="connsiteY45" fmla="*/ 15135 h 23813"/>
                  <a:gd name="connsiteX46" fmla="*/ 247402 w 258762"/>
                  <a:gd name="connsiteY46" fmla="*/ 16687 h 23813"/>
                  <a:gd name="connsiteX47" fmla="*/ 244660 w 258762"/>
                  <a:gd name="connsiteY47" fmla="*/ 17075 h 23813"/>
                  <a:gd name="connsiteX48" fmla="*/ 241135 w 258762"/>
                  <a:gd name="connsiteY48" fmla="*/ 17463 h 23813"/>
                  <a:gd name="connsiteX49" fmla="*/ 238393 w 258762"/>
                  <a:gd name="connsiteY49" fmla="*/ 16687 h 23813"/>
                  <a:gd name="connsiteX50" fmla="*/ 235651 w 258762"/>
                  <a:gd name="connsiteY50" fmla="*/ 15911 h 23813"/>
                  <a:gd name="connsiteX51" fmla="*/ 233301 w 258762"/>
                  <a:gd name="connsiteY51" fmla="*/ 14747 h 23813"/>
                  <a:gd name="connsiteX52" fmla="*/ 231342 w 258762"/>
                  <a:gd name="connsiteY52" fmla="*/ 12806 h 23813"/>
                  <a:gd name="connsiteX53" fmla="*/ 230167 w 258762"/>
                  <a:gd name="connsiteY53" fmla="*/ 11254 h 23813"/>
                  <a:gd name="connsiteX54" fmla="*/ 228992 w 258762"/>
                  <a:gd name="connsiteY54" fmla="*/ 9702 h 23813"/>
                  <a:gd name="connsiteX55" fmla="*/ 228600 w 258762"/>
                  <a:gd name="connsiteY55" fmla="*/ 8150 h 23813"/>
                  <a:gd name="connsiteX56" fmla="*/ 228600 w 258762"/>
                  <a:gd name="connsiteY56" fmla="*/ 6985 h 23813"/>
                  <a:gd name="connsiteX57" fmla="*/ 229383 w 258762"/>
                  <a:gd name="connsiteY57" fmla="*/ 5821 h 23813"/>
                  <a:gd name="connsiteX58" fmla="*/ 230559 w 258762"/>
                  <a:gd name="connsiteY58" fmla="*/ 4657 h 23813"/>
                  <a:gd name="connsiteX59" fmla="*/ 232517 w 258762"/>
                  <a:gd name="connsiteY59" fmla="*/ 3492 h 23813"/>
                  <a:gd name="connsiteX60" fmla="*/ 234476 w 258762"/>
                  <a:gd name="connsiteY60" fmla="*/ 2716 h 23813"/>
                  <a:gd name="connsiteX61" fmla="*/ 236826 w 258762"/>
                  <a:gd name="connsiteY61" fmla="*/ 1552 h 23813"/>
                  <a:gd name="connsiteX62" fmla="*/ 239568 w 258762"/>
                  <a:gd name="connsiteY62" fmla="*/ 1164 h 23813"/>
                  <a:gd name="connsiteX63" fmla="*/ 242702 w 258762"/>
                  <a:gd name="connsiteY63" fmla="*/ 388 h 2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58762" h="23813">
                    <a:moveTo>
                      <a:pt x="6960" y="6350"/>
                    </a:moveTo>
                    <a:lnTo>
                      <a:pt x="9667" y="6350"/>
                    </a:lnTo>
                    <a:lnTo>
                      <a:pt x="12761" y="6350"/>
                    </a:lnTo>
                    <a:lnTo>
                      <a:pt x="15854" y="6747"/>
                    </a:lnTo>
                    <a:lnTo>
                      <a:pt x="18948" y="7144"/>
                    </a:lnTo>
                    <a:lnTo>
                      <a:pt x="21655" y="7938"/>
                    </a:lnTo>
                    <a:lnTo>
                      <a:pt x="23975" y="8731"/>
                    </a:lnTo>
                    <a:lnTo>
                      <a:pt x="25908" y="9922"/>
                    </a:lnTo>
                    <a:lnTo>
                      <a:pt x="27842" y="11113"/>
                    </a:lnTo>
                    <a:lnTo>
                      <a:pt x="29389" y="12303"/>
                    </a:lnTo>
                    <a:lnTo>
                      <a:pt x="30162" y="13494"/>
                    </a:lnTo>
                    <a:lnTo>
                      <a:pt x="30162" y="15082"/>
                    </a:lnTo>
                    <a:lnTo>
                      <a:pt x="29775" y="16272"/>
                    </a:lnTo>
                    <a:lnTo>
                      <a:pt x="28229" y="17860"/>
                    </a:lnTo>
                    <a:lnTo>
                      <a:pt x="26682" y="19447"/>
                    </a:lnTo>
                    <a:lnTo>
                      <a:pt x="24748" y="21035"/>
                    </a:lnTo>
                    <a:lnTo>
                      <a:pt x="22815" y="22226"/>
                    </a:lnTo>
                    <a:lnTo>
                      <a:pt x="20108" y="23416"/>
                    </a:lnTo>
                    <a:lnTo>
                      <a:pt x="17401" y="23813"/>
                    </a:lnTo>
                    <a:lnTo>
                      <a:pt x="14308" y="23813"/>
                    </a:lnTo>
                    <a:lnTo>
                      <a:pt x="10827" y="23019"/>
                    </a:lnTo>
                    <a:lnTo>
                      <a:pt x="8121" y="21829"/>
                    </a:lnTo>
                    <a:lnTo>
                      <a:pt x="5800" y="20241"/>
                    </a:lnTo>
                    <a:lnTo>
                      <a:pt x="3867" y="18257"/>
                    </a:lnTo>
                    <a:lnTo>
                      <a:pt x="1933" y="15875"/>
                    </a:lnTo>
                    <a:lnTo>
                      <a:pt x="773" y="13494"/>
                    </a:lnTo>
                    <a:lnTo>
                      <a:pt x="0" y="11907"/>
                    </a:lnTo>
                    <a:lnTo>
                      <a:pt x="0" y="10319"/>
                    </a:lnTo>
                    <a:lnTo>
                      <a:pt x="387" y="9128"/>
                    </a:lnTo>
                    <a:lnTo>
                      <a:pt x="1547" y="8335"/>
                    </a:lnTo>
                    <a:lnTo>
                      <a:pt x="3094" y="7541"/>
                    </a:lnTo>
                    <a:lnTo>
                      <a:pt x="5027" y="6747"/>
                    </a:lnTo>
                    <a:close/>
                    <a:moveTo>
                      <a:pt x="245835" y="0"/>
                    </a:moveTo>
                    <a:lnTo>
                      <a:pt x="248969" y="0"/>
                    </a:lnTo>
                    <a:lnTo>
                      <a:pt x="251319" y="388"/>
                    </a:lnTo>
                    <a:lnTo>
                      <a:pt x="253670" y="776"/>
                    </a:lnTo>
                    <a:lnTo>
                      <a:pt x="255628" y="1164"/>
                    </a:lnTo>
                    <a:lnTo>
                      <a:pt x="257195" y="1940"/>
                    </a:lnTo>
                    <a:lnTo>
                      <a:pt x="258370" y="3104"/>
                    </a:lnTo>
                    <a:lnTo>
                      <a:pt x="258762" y="4269"/>
                    </a:lnTo>
                    <a:lnTo>
                      <a:pt x="258370" y="5433"/>
                    </a:lnTo>
                    <a:lnTo>
                      <a:pt x="257979" y="7373"/>
                    </a:lnTo>
                    <a:lnTo>
                      <a:pt x="256412" y="9314"/>
                    </a:lnTo>
                    <a:lnTo>
                      <a:pt x="254845" y="11254"/>
                    </a:lnTo>
                    <a:lnTo>
                      <a:pt x="252886" y="13194"/>
                    </a:lnTo>
                    <a:lnTo>
                      <a:pt x="250144" y="15135"/>
                    </a:lnTo>
                    <a:lnTo>
                      <a:pt x="247402" y="16687"/>
                    </a:lnTo>
                    <a:lnTo>
                      <a:pt x="244660" y="17075"/>
                    </a:lnTo>
                    <a:lnTo>
                      <a:pt x="241135" y="17463"/>
                    </a:lnTo>
                    <a:lnTo>
                      <a:pt x="238393" y="16687"/>
                    </a:lnTo>
                    <a:lnTo>
                      <a:pt x="235651" y="15911"/>
                    </a:lnTo>
                    <a:lnTo>
                      <a:pt x="233301" y="14747"/>
                    </a:lnTo>
                    <a:lnTo>
                      <a:pt x="231342" y="12806"/>
                    </a:lnTo>
                    <a:lnTo>
                      <a:pt x="230167" y="11254"/>
                    </a:lnTo>
                    <a:lnTo>
                      <a:pt x="228992" y="9702"/>
                    </a:lnTo>
                    <a:lnTo>
                      <a:pt x="228600" y="8150"/>
                    </a:lnTo>
                    <a:lnTo>
                      <a:pt x="228600" y="6985"/>
                    </a:lnTo>
                    <a:lnTo>
                      <a:pt x="229383" y="5821"/>
                    </a:lnTo>
                    <a:lnTo>
                      <a:pt x="230559" y="4657"/>
                    </a:lnTo>
                    <a:lnTo>
                      <a:pt x="232517" y="3492"/>
                    </a:lnTo>
                    <a:lnTo>
                      <a:pt x="234476" y="2716"/>
                    </a:lnTo>
                    <a:lnTo>
                      <a:pt x="236826" y="1552"/>
                    </a:lnTo>
                    <a:lnTo>
                      <a:pt x="239568" y="1164"/>
                    </a:lnTo>
                    <a:lnTo>
                      <a:pt x="242702" y="388"/>
                    </a:lnTo>
                    <a:close/>
                  </a:path>
                </a:pathLst>
              </a:custGeom>
              <a:grpFill/>
              <a:ln>
                <a:noFill/>
              </a:ln>
            </p:spPr>
            <p:txBody>
              <a:bodyPr vert="horz" wrap="square" lIns="91427" tIns="45713" rIns="91427" bIns="45713" numCol="1" anchor="t" anchorCtr="0" compatLnSpc="1">
                <a:prstTxWarp prst="textNoShape">
                  <a:avLst/>
                </a:prstTxWarp>
                <a:noAutofit/>
              </a:bodyPr>
              <a:lstStyle/>
              <a:p>
                <a:pPr defTabSz="914225">
                  <a:defRPr/>
                </a:pPr>
                <a:endParaRPr lang="en-US">
                  <a:solidFill>
                    <a:prstClr val="black"/>
                  </a:solidFill>
                  <a:latin typeface="Segoe UI"/>
                </a:endParaRPr>
              </a:p>
            </p:txBody>
          </p:sp>
        </p:grpSp>
      </p:grpSp>
      <p:pic>
        <p:nvPicPr>
          <p:cNvPr id="34" name="Picture 2" descr="mongo db logo">
            <a:extLst>
              <a:ext uri="{FF2B5EF4-FFF2-40B4-BE49-F238E27FC236}">
                <a16:creationId xmlns:a16="http://schemas.microsoft.com/office/drawing/2014/main" id="{A88018C6-F6DE-4DD6-ACCC-A1B5D971FFBF}"/>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bwMode="auto">
          <a:xfrm>
            <a:off x="616138" y="4600484"/>
            <a:ext cx="793907" cy="21554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White Prompt | We create software solutions">
            <a:extLst>
              <a:ext uri="{FF2B5EF4-FFF2-40B4-BE49-F238E27FC236}">
                <a16:creationId xmlns:a16="http://schemas.microsoft.com/office/drawing/2014/main" id="{F151844E-05B2-441A-A258-935BEB7D6C3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6090" y="4846367"/>
            <a:ext cx="895085" cy="67131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aws logo">
            <a:extLst>
              <a:ext uri="{FF2B5EF4-FFF2-40B4-BE49-F238E27FC236}">
                <a16:creationId xmlns:a16="http://schemas.microsoft.com/office/drawing/2014/main" id="{29344315-F1CE-4E21-882D-D66B2C37F46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p:blipFill>
        <p:spPr bwMode="auto">
          <a:xfrm>
            <a:off x="769314" y="5594770"/>
            <a:ext cx="476136" cy="311067"/>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descr="google cloud logo">
            <a:extLst>
              <a:ext uri="{FF2B5EF4-FFF2-40B4-BE49-F238E27FC236}">
                <a16:creationId xmlns:a16="http://schemas.microsoft.com/office/drawing/2014/main" id="{DFD51603-5179-4383-8BF1-171C91209EA9}"/>
              </a:ext>
            </a:extLst>
          </p:cNvPr>
          <p:cNvPicPr>
            <a:picLocks noChangeAspect="1" noChangeArrowheads="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589044" y="6060014"/>
            <a:ext cx="1047403" cy="163656"/>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descr="Assessment">
            <a:extLst>
              <a:ext uri="{FF2B5EF4-FFF2-40B4-BE49-F238E27FC236}">
                <a16:creationId xmlns:a16="http://schemas.microsoft.com/office/drawing/2014/main" id="{65E63039-9DD2-432B-A3B5-D3252558F767}"/>
              </a:ext>
            </a:extLst>
          </p:cNvPr>
          <p:cNvGrpSpPr/>
          <p:nvPr/>
        </p:nvGrpSpPr>
        <p:grpSpPr>
          <a:xfrm>
            <a:off x="2742841" y="3510195"/>
            <a:ext cx="2478653" cy="2074689"/>
            <a:chOff x="2797840" y="3580085"/>
            <a:chExt cx="2528355" cy="2116291"/>
          </a:xfrm>
        </p:grpSpPr>
        <p:sp>
          <p:nvSpPr>
            <p:cNvPr id="5" name="TextBox 4">
              <a:extLst>
                <a:ext uri="{FF2B5EF4-FFF2-40B4-BE49-F238E27FC236}">
                  <a16:creationId xmlns:a16="http://schemas.microsoft.com/office/drawing/2014/main" id="{659E0C99-5327-4B7D-AE6C-7F243777702D}"/>
                </a:ext>
              </a:extLst>
            </p:cNvPr>
            <p:cNvSpPr txBox="1"/>
            <p:nvPr/>
          </p:nvSpPr>
          <p:spPr>
            <a:xfrm>
              <a:off x="2797840" y="4802171"/>
              <a:ext cx="2528355" cy="894205"/>
            </a:xfrm>
            <a:prstGeom prst="rect">
              <a:avLst/>
            </a:prstGeom>
          </p:spPr>
          <p:txBody>
            <a:bodyPr wrap="square" lIns="89631" tIns="44814" rIns="89631" bIns="44814" rtlCol="0">
              <a:spAutoFit/>
            </a:bodyPr>
            <a:lstStyle>
              <a:defPPr>
                <a:defRPr lang="en-US"/>
              </a:defPPr>
              <a:lvl1pPr marR="0" lvl="0" indent="0" algn="ctr" fontAlgn="auto">
                <a:lnSpc>
                  <a:spcPct val="90000"/>
                </a:lnSpc>
                <a:spcBef>
                  <a:spcPts val="0"/>
                </a:spcBef>
                <a:spcAft>
                  <a:spcPts val="588"/>
                </a:spcAft>
                <a:buClrTx/>
                <a:buSzTx/>
                <a:buFontTx/>
                <a:buNone/>
                <a:tabLst/>
                <a:defRPr kumimoji="0" sz="1100" b="0" i="0" u="none" strike="noStrike" cap="none" spc="0" normalizeH="0" baseline="0">
                  <a:ln>
                    <a:noFill/>
                  </a:ln>
                  <a:solidFill>
                    <a:srgbClr val="1A1A1A"/>
                  </a:solidFill>
                  <a:effectLst/>
                  <a:uLnTx/>
                  <a:uFillTx/>
                  <a:latin typeface="Segoe UI"/>
                </a:defRPr>
              </a:lvl1pPr>
            </a:lstStyle>
            <a:p>
              <a:pPr defTabSz="914201">
                <a:lnSpc>
                  <a:spcPct val="100000"/>
                </a:lnSpc>
                <a:spcAft>
                  <a:spcPts val="533"/>
                </a:spcAft>
                <a:defRPr/>
              </a:pPr>
              <a:r>
                <a:rPr lang="en-US" sz="1400" dirty="0">
                  <a:solidFill>
                    <a:prstClr val="white"/>
                  </a:solidFill>
                  <a:latin typeface="Segoe UI Semibold"/>
                </a:rPr>
                <a:t>Assessment</a:t>
              </a:r>
            </a:p>
            <a:p>
              <a:pPr defTabSz="914201">
                <a:lnSpc>
                  <a:spcPct val="100000"/>
                </a:lnSpc>
                <a:spcAft>
                  <a:spcPts val="533"/>
                </a:spcAft>
                <a:defRPr/>
              </a:pPr>
              <a:r>
                <a:rPr lang="en-US" dirty="0">
                  <a:solidFill>
                    <a:prstClr val="white"/>
                  </a:solidFill>
                </a:rPr>
                <a:t>Azure Migrate, SQL Server Migration Assistant, Data Migration Assistant, Database Experimentation Assistant </a:t>
              </a:r>
            </a:p>
          </p:txBody>
        </p:sp>
        <p:grpSp>
          <p:nvGrpSpPr>
            <p:cNvPr id="23" name="Group 22" descr="database with tools ">
              <a:extLst>
                <a:ext uri="{FF2B5EF4-FFF2-40B4-BE49-F238E27FC236}">
                  <a16:creationId xmlns:a16="http://schemas.microsoft.com/office/drawing/2014/main" id="{DF765A4B-6F1F-40B2-9D32-B5E80651E7B4}"/>
                </a:ext>
              </a:extLst>
            </p:cNvPr>
            <p:cNvGrpSpPr/>
            <p:nvPr/>
          </p:nvGrpSpPr>
          <p:grpSpPr>
            <a:xfrm>
              <a:off x="3562466" y="3580085"/>
              <a:ext cx="999104" cy="999104"/>
              <a:chOff x="4088333" y="2853036"/>
              <a:chExt cx="979603" cy="979603"/>
            </a:xfrm>
          </p:grpSpPr>
          <p:sp>
            <p:nvSpPr>
              <p:cNvPr id="24" name="Freeform 182">
                <a:extLst>
                  <a:ext uri="{FF2B5EF4-FFF2-40B4-BE49-F238E27FC236}">
                    <a16:creationId xmlns:a16="http://schemas.microsoft.com/office/drawing/2014/main" id="{8914845B-44C0-474E-8B15-90331DEEA8DC}"/>
                  </a:ext>
                </a:extLst>
              </p:cNvPr>
              <p:cNvSpPr/>
              <p:nvPr/>
            </p:nvSpPr>
            <p:spPr bwMode="auto">
              <a:xfrm>
                <a:off x="4214029" y="2933817"/>
                <a:ext cx="526786" cy="675631"/>
              </a:xfrm>
              <a:custGeom>
                <a:avLst/>
                <a:gdLst>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15633 w 1455401"/>
                  <a:gd name="connsiteY28" fmla="*/ 1140834 h 1866625"/>
                  <a:gd name="connsiteX29" fmla="*/ 21049 w 1455401"/>
                  <a:gd name="connsiteY29" fmla="*/ 1143359 h 1866625"/>
                  <a:gd name="connsiteX30" fmla="*/ 21049 w 1455401"/>
                  <a:gd name="connsiteY30" fmla="*/ 1033051 h 1866625"/>
                  <a:gd name="connsiteX31" fmla="*/ 15633 w 1455401"/>
                  <a:gd name="connsiteY31" fmla="*/ 1030526 h 1866625"/>
                  <a:gd name="connsiteX32" fmla="*/ 0 w 1455401"/>
                  <a:gd name="connsiteY32" fmla="*/ 1017423 h 1866625"/>
                  <a:gd name="connsiteX33" fmla="*/ 1 w 1455401"/>
                  <a:gd name="connsiteY33" fmla="*/ 296841 h 1866625"/>
                  <a:gd name="connsiteX34" fmla="*/ 0 w 1455401"/>
                  <a:gd name="connsiteY34" fmla="*/ 296838 h 1866625"/>
                  <a:gd name="connsiteX35" fmla="*/ 1 w 1455401"/>
                  <a:gd name="connsiteY35" fmla="*/ 296835 h 1866625"/>
                  <a:gd name="connsiteX36" fmla="*/ 3758 w 1455401"/>
                  <a:gd name="connsiteY36" fmla="*/ 266488 h 1866625"/>
                  <a:gd name="connsiteX37" fmla="*/ 727700 w 1455401"/>
                  <a:gd name="connsiteY37"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15633 w 1455401"/>
                  <a:gd name="connsiteY28" fmla="*/ 1140834 h 1866625"/>
                  <a:gd name="connsiteX29" fmla="*/ 21049 w 1455401"/>
                  <a:gd name="connsiteY29" fmla="*/ 1033051 h 1866625"/>
                  <a:gd name="connsiteX30" fmla="*/ 15633 w 1455401"/>
                  <a:gd name="connsiteY30" fmla="*/ 1030526 h 1866625"/>
                  <a:gd name="connsiteX31" fmla="*/ 0 w 1455401"/>
                  <a:gd name="connsiteY31" fmla="*/ 1017423 h 1866625"/>
                  <a:gd name="connsiteX32" fmla="*/ 1 w 1455401"/>
                  <a:gd name="connsiteY32" fmla="*/ 296841 h 1866625"/>
                  <a:gd name="connsiteX33" fmla="*/ 0 w 1455401"/>
                  <a:gd name="connsiteY33" fmla="*/ 296838 h 1866625"/>
                  <a:gd name="connsiteX34" fmla="*/ 1 w 1455401"/>
                  <a:gd name="connsiteY34" fmla="*/ 296835 h 1866625"/>
                  <a:gd name="connsiteX35" fmla="*/ 3758 w 1455401"/>
                  <a:gd name="connsiteY35" fmla="*/ 266488 h 1866625"/>
                  <a:gd name="connsiteX36" fmla="*/ 727700 w 1455401"/>
                  <a:gd name="connsiteY36"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21049 w 1455401"/>
                  <a:gd name="connsiteY28" fmla="*/ 1033051 h 1866625"/>
                  <a:gd name="connsiteX29" fmla="*/ 15633 w 1455401"/>
                  <a:gd name="connsiteY29" fmla="*/ 1030526 h 1866625"/>
                  <a:gd name="connsiteX30" fmla="*/ 0 w 1455401"/>
                  <a:gd name="connsiteY30" fmla="*/ 1017423 h 1866625"/>
                  <a:gd name="connsiteX31" fmla="*/ 1 w 1455401"/>
                  <a:gd name="connsiteY31" fmla="*/ 296841 h 1866625"/>
                  <a:gd name="connsiteX32" fmla="*/ 0 w 1455401"/>
                  <a:gd name="connsiteY32" fmla="*/ 296838 h 1866625"/>
                  <a:gd name="connsiteX33" fmla="*/ 1 w 1455401"/>
                  <a:gd name="connsiteY33" fmla="*/ 296835 h 1866625"/>
                  <a:gd name="connsiteX34" fmla="*/ 3758 w 1455401"/>
                  <a:gd name="connsiteY34" fmla="*/ 266488 h 1866625"/>
                  <a:gd name="connsiteX35" fmla="*/ 727700 w 1455401"/>
                  <a:gd name="connsiteY35"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21049 w 1455401"/>
                  <a:gd name="connsiteY28" fmla="*/ 1033051 h 1866625"/>
                  <a:gd name="connsiteX29" fmla="*/ 0 w 1455401"/>
                  <a:gd name="connsiteY29" fmla="*/ 1017423 h 1866625"/>
                  <a:gd name="connsiteX30" fmla="*/ 1 w 1455401"/>
                  <a:gd name="connsiteY30" fmla="*/ 296841 h 1866625"/>
                  <a:gd name="connsiteX31" fmla="*/ 0 w 1455401"/>
                  <a:gd name="connsiteY31" fmla="*/ 296838 h 1866625"/>
                  <a:gd name="connsiteX32" fmla="*/ 1 w 1455401"/>
                  <a:gd name="connsiteY32" fmla="*/ 296835 h 1866625"/>
                  <a:gd name="connsiteX33" fmla="*/ 3758 w 1455401"/>
                  <a:gd name="connsiteY33" fmla="*/ 266488 h 1866625"/>
                  <a:gd name="connsiteX34" fmla="*/ 727700 w 1455401"/>
                  <a:gd name="connsiteY34"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0 w 1455401"/>
                  <a:gd name="connsiteY28" fmla="*/ 1017423 h 1866625"/>
                  <a:gd name="connsiteX29" fmla="*/ 1 w 1455401"/>
                  <a:gd name="connsiteY29" fmla="*/ 296841 h 1866625"/>
                  <a:gd name="connsiteX30" fmla="*/ 0 w 1455401"/>
                  <a:gd name="connsiteY30" fmla="*/ 296838 h 1866625"/>
                  <a:gd name="connsiteX31" fmla="*/ 1 w 1455401"/>
                  <a:gd name="connsiteY31" fmla="*/ 296835 h 1866625"/>
                  <a:gd name="connsiteX32" fmla="*/ 3758 w 1455401"/>
                  <a:gd name="connsiteY32" fmla="*/ 266488 h 1866625"/>
                  <a:gd name="connsiteX33" fmla="*/ 727700 w 1455401"/>
                  <a:gd name="connsiteY33"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1 w 1455401"/>
                  <a:gd name="connsiteY28" fmla="*/ 296841 h 1866625"/>
                  <a:gd name="connsiteX29" fmla="*/ 0 w 1455401"/>
                  <a:gd name="connsiteY29" fmla="*/ 296838 h 1866625"/>
                  <a:gd name="connsiteX30" fmla="*/ 1 w 1455401"/>
                  <a:gd name="connsiteY30" fmla="*/ 296835 h 1866625"/>
                  <a:gd name="connsiteX31" fmla="*/ 3758 w 1455401"/>
                  <a:gd name="connsiteY31" fmla="*/ 266488 h 1866625"/>
                  <a:gd name="connsiteX32" fmla="*/ 727700 w 1455401"/>
                  <a:gd name="connsiteY32"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296841 h 1866625"/>
                  <a:gd name="connsiteX28" fmla="*/ 0 w 1455401"/>
                  <a:gd name="connsiteY28" fmla="*/ 296838 h 1866625"/>
                  <a:gd name="connsiteX29" fmla="*/ 1 w 1455401"/>
                  <a:gd name="connsiteY29" fmla="*/ 296835 h 1866625"/>
                  <a:gd name="connsiteX30" fmla="*/ 3758 w 1455401"/>
                  <a:gd name="connsiteY30" fmla="*/ 266488 h 1866625"/>
                  <a:gd name="connsiteX31" fmla="*/ 727700 w 1455401"/>
                  <a:gd name="connsiteY31"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143359 h 1866625"/>
                  <a:gd name="connsiteX13" fmla="*/ 1439768 w 1455401"/>
                  <a:gd name="connsiteY13" fmla="*/ 1140834 h 1866625"/>
                  <a:gd name="connsiteX14" fmla="*/ 1455401 w 1455401"/>
                  <a:gd name="connsiteY14" fmla="*/ 1127732 h 1866625"/>
                  <a:gd name="connsiteX15" fmla="*/ 1455401 w 1455401"/>
                  <a:gd name="connsiteY15" fmla="*/ 1569784 h 1866625"/>
                  <a:gd name="connsiteX16" fmla="*/ 1455401 w 1455401"/>
                  <a:gd name="connsiteY16" fmla="*/ 1569787 h 1866625"/>
                  <a:gd name="connsiteX17" fmla="*/ 1455401 w 1455401"/>
                  <a:gd name="connsiteY17" fmla="*/ 1569790 h 1866625"/>
                  <a:gd name="connsiteX18" fmla="*/ 1455401 w 1455401"/>
                  <a:gd name="connsiteY18" fmla="*/ 1578767 h 1866625"/>
                  <a:gd name="connsiteX19" fmla="*/ 1454289 w 1455401"/>
                  <a:gd name="connsiteY19" fmla="*/ 1578767 h 1866625"/>
                  <a:gd name="connsiteX20" fmla="*/ 1451644 w 1455401"/>
                  <a:gd name="connsiteY20" fmla="*/ 1600137 h 1866625"/>
                  <a:gd name="connsiteX21" fmla="*/ 727701 w 1455401"/>
                  <a:gd name="connsiteY21" fmla="*/ 1866625 h 1866625"/>
                  <a:gd name="connsiteX22" fmla="*/ 3758 w 1455401"/>
                  <a:gd name="connsiteY22" fmla="*/ 1600137 h 1866625"/>
                  <a:gd name="connsiteX23" fmla="*/ 1113 w 1455401"/>
                  <a:gd name="connsiteY23" fmla="*/ 1578767 h 1866625"/>
                  <a:gd name="connsiteX24" fmla="*/ 1 w 1455401"/>
                  <a:gd name="connsiteY24" fmla="*/ 1578767 h 1866625"/>
                  <a:gd name="connsiteX25" fmla="*/ 1 w 1455401"/>
                  <a:gd name="connsiteY25" fmla="*/ 1569787 h 1866625"/>
                  <a:gd name="connsiteX26" fmla="*/ 1 w 1455401"/>
                  <a:gd name="connsiteY26" fmla="*/ 296841 h 1866625"/>
                  <a:gd name="connsiteX27" fmla="*/ 0 w 1455401"/>
                  <a:gd name="connsiteY27" fmla="*/ 296838 h 1866625"/>
                  <a:gd name="connsiteX28" fmla="*/ 1 w 1455401"/>
                  <a:gd name="connsiteY28" fmla="*/ 296835 h 1866625"/>
                  <a:gd name="connsiteX29" fmla="*/ 3758 w 1455401"/>
                  <a:gd name="connsiteY29" fmla="*/ 266488 h 1866625"/>
                  <a:gd name="connsiteX30" fmla="*/ 727700 w 1455401"/>
                  <a:gd name="connsiteY30"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4352 w 1455401"/>
                  <a:gd name="connsiteY11" fmla="*/ 1143359 h 1866625"/>
                  <a:gd name="connsiteX12" fmla="*/ 1439768 w 1455401"/>
                  <a:gd name="connsiteY12" fmla="*/ 1140834 h 1866625"/>
                  <a:gd name="connsiteX13" fmla="*/ 1455401 w 1455401"/>
                  <a:gd name="connsiteY13" fmla="*/ 1127732 h 1866625"/>
                  <a:gd name="connsiteX14" fmla="*/ 1455401 w 1455401"/>
                  <a:gd name="connsiteY14" fmla="*/ 1569784 h 1866625"/>
                  <a:gd name="connsiteX15" fmla="*/ 1455401 w 1455401"/>
                  <a:gd name="connsiteY15" fmla="*/ 1569787 h 1866625"/>
                  <a:gd name="connsiteX16" fmla="*/ 1455401 w 1455401"/>
                  <a:gd name="connsiteY16" fmla="*/ 1569790 h 1866625"/>
                  <a:gd name="connsiteX17" fmla="*/ 1455401 w 1455401"/>
                  <a:gd name="connsiteY17" fmla="*/ 1578767 h 1866625"/>
                  <a:gd name="connsiteX18" fmla="*/ 1454289 w 1455401"/>
                  <a:gd name="connsiteY18" fmla="*/ 1578767 h 1866625"/>
                  <a:gd name="connsiteX19" fmla="*/ 1451644 w 1455401"/>
                  <a:gd name="connsiteY19" fmla="*/ 1600137 h 1866625"/>
                  <a:gd name="connsiteX20" fmla="*/ 727701 w 1455401"/>
                  <a:gd name="connsiteY20" fmla="*/ 1866625 h 1866625"/>
                  <a:gd name="connsiteX21" fmla="*/ 3758 w 1455401"/>
                  <a:gd name="connsiteY21" fmla="*/ 1600137 h 1866625"/>
                  <a:gd name="connsiteX22" fmla="*/ 1113 w 1455401"/>
                  <a:gd name="connsiteY22" fmla="*/ 1578767 h 1866625"/>
                  <a:gd name="connsiteX23" fmla="*/ 1 w 1455401"/>
                  <a:gd name="connsiteY23" fmla="*/ 1578767 h 1866625"/>
                  <a:gd name="connsiteX24" fmla="*/ 1 w 1455401"/>
                  <a:gd name="connsiteY24" fmla="*/ 1569787 h 1866625"/>
                  <a:gd name="connsiteX25" fmla="*/ 1 w 1455401"/>
                  <a:gd name="connsiteY25" fmla="*/ 296841 h 1866625"/>
                  <a:gd name="connsiteX26" fmla="*/ 0 w 1455401"/>
                  <a:gd name="connsiteY26" fmla="*/ 296838 h 1866625"/>
                  <a:gd name="connsiteX27" fmla="*/ 1 w 1455401"/>
                  <a:gd name="connsiteY27" fmla="*/ 296835 h 1866625"/>
                  <a:gd name="connsiteX28" fmla="*/ 3758 w 1455401"/>
                  <a:gd name="connsiteY28" fmla="*/ 266488 h 1866625"/>
                  <a:gd name="connsiteX29" fmla="*/ 727700 w 1455401"/>
                  <a:gd name="connsiteY29"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34352 w 1455401"/>
                  <a:gd name="connsiteY10" fmla="*/ 1143359 h 1866625"/>
                  <a:gd name="connsiteX11" fmla="*/ 1439768 w 1455401"/>
                  <a:gd name="connsiteY11" fmla="*/ 1140834 h 1866625"/>
                  <a:gd name="connsiteX12" fmla="*/ 1455401 w 1455401"/>
                  <a:gd name="connsiteY12" fmla="*/ 1127732 h 1866625"/>
                  <a:gd name="connsiteX13" fmla="*/ 1455401 w 1455401"/>
                  <a:gd name="connsiteY13" fmla="*/ 1569784 h 1866625"/>
                  <a:gd name="connsiteX14" fmla="*/ 1455401 w 1455401"/>
                  <a:gd name="connsiteY14" fmla="*/ 1569787 h 1866625"/>
                  <a:gd name="connsiteX15" fmla="*/ 1455401 w 1455401"/>
                  <a:gd name="connsiteY15" fmla="*/ 1569790 h 1866625"/>
                  <a:gd name="connsiteX16" fmla="*/ 1455401 w 1455401"/>
                  <a:gd name="connsiteY16" fmla="*/ 1578767 h 1866625"/>
                  <a:gd name="connsiteX17" fmla="*/ 1454289 w 1455401"/>
                  <a:gd name="connsiteY17" fmla="*/ 1578767 h 1866625"/>
                  <a:gd name="connsiteX18" fmla="*/ 1451644 w 1455401"/>
                  <a:gd name="connsiteY18" fmla="*/ 1600137 h 1866625"/>
                  <a:gd name="connsiteX19" fmla="*/ 727701 w 1455401"/>
                  <a:gd name="connsiteY19" fmla="*/ 1866625 h 1866625"/>
                  <a:gd name="connsiteX20" fmla="*/ 3758 w 1455401"/>
                  <a:gd name="connsiteY20" fmla="*/ 1600137 h 1866625"/>
                  <a:gd name="connsiteX21" fmla="*/ 1113 w 1455401"/>
                  <a:gd name="connsiteY21" fmla="*/ 1578767 h 1866625"/>
                  <a:gd name="connsiteX22" fmla="*/ 1 w 1455401"/>
                  <a:gd name="connsiteY22" fmla="*/ 1578767 h 1866625"/>
                  <a:gd name="connsiteX23" fmla="*/ 1 w 1455401"/>
                  <a:gd name="connsiteY23" fmla="*/ 1569787 h 1866625"/>
                  <a:gd name="connsiteX24" fmla="*/ 1 w 1455401"/>
                  <a:gd name="connsiteY24" fmla="*/ 296841 h 1866625"/>
                  <a:gd name="connsiteX25" fmla="*/ 0 w 1455401"/>
                  <a:gd name="connsiteY25" fmla="*/ 296838 h 1866625"/>
                  <a:gd name="connsiteX26" fmla="*/ 1 w 1455401"/>
                  <a:gd name="connsiteY26" fmla="*/ 296835 h 1866625"/>
                  <a:gd name="connsiteX27" fmla="*/ 3758 w 1455401"/>
                  <a:gd name="connsiteY27" fmla="*/ 266488 h 1866625"/>
                  <a:gd name="connsiteX28" fmla="*/ 727700 w 1455401"/>
                  <a:gd name="connsiteY28"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34352 w 1455401"/>
                  <a:gd name="connsiteY10" fmla="*/ 1143359 h 1866625"/>
                  <a:gd name="connsiteX11" fmla="*/ 1439768 w 1455401"/>
                  <a:gd name="connsiteY11" fmla="*/ 1140834 h 1866625"/>
                  <a:gd name="connsiteX12" fmla="*/ 1455401 w 1455401"/>
                  <a:gd name="connsiteY12" fmla="*/ 1569784 h 1866625"/>
                  <a:gd name="connsiteX13" fmla="*/ 1455401 w 1455401"/>
                  <a:gd name="connsiteY13" fmla="*/ 1569787 h 1866625"/>
                  <a:gd name="connsiteX14" fmla="*/ 1455401 w 1455401"/>
                  <a:gd name="connsiteY14" fmla="*/ 1569790 h 1866625"/>
                  <a:gd name="connsiteX15" fmla="*/ 1455401 w 1455401"/>
                  <a:gd name="connsiteY15" fmla="*/ 1578767 h 1866625"/>
                  <a:gd name="connsiteX16" fmla="*/ 1454289 w 1455401"/>
                  <a:gd name="connsiteY16" fmla="*/ 1578767 h 1866625"/>
                  <a:gd name="connsiteX17" fmla="*/ 1451644 w 1455401"/>
                  <a:gd name="connsiteY17" fmla="*/ 1600137 h 1866625"/>
                  <a:gd name="connsiteX18" fmla="*/ 727701 w 1455401"/>
                  <a:gd name="connsiteY18" fmla="*/ 1866625 h 1866625"/>
                  <a:gd name="connsiteX19" fmla="*/ 3758 w 1455401"/>
                  <a:gd name="connsiteY19" fmla="*/ 1600137 h 1866625"/>
                  <a:gd name="connsiteX20" fmla="*/ 1113 w 1455401"/>
                  <a:gd name="connsiteY20" fmla="*/ 1578767 h 1866625"/>
                  <a:gd name="connsiteX21" fmla="*/ 1 w 1455401"/>
                  <a:gd name="connsiteY21" fmla="*/ 1578767 h 1866625"/>
                  <a:gd name="connsiteX22" fmla="*/ 1 w 1455401"/>
                  <a:gd name="connsiteY22" fmla="*/ 1569787 h 1866625"/>
                  <a:gd name="connsiteX23" fmla="*/ 1 w 1455401"/>
                  <a:gd name="connsiteY23" fmla="*/ 296841 h 1866625"/>
                  <a:gd name="connsiteX24" fmla="*/ 0 w 1455401"/>
                  <a:gd name="connsiteY24" fmla="*/ 296838 h 1866625"/>
                  <a:gd name="connsiteX25" fmla="*/ 1 w 1455401"/>
                  <a:gd name="connsiteY25" fmla="*/ 296835 h 1866625"/>
                  <a:gd name="connsiteX26" fmla="*/ 3758 w 1455401"/>
                  <a:gd name="connsiteY26" fmla="*/ 266488 h 1866625"/>
                  <a:gd name="connsiteX27" fmla="*/ 727700 w 1455401"/>
                  <a:gd name="connsiteY27"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34352 w 1455401"/>
                  <a:gd name="connsiteY10" fmla="*/ 1143359 h 1866625"/>
                  <a:gd name="connsiteX11" fmla="*/ 1455401 w 1455401"/>
                  <a:gd name="connsiteY11" fmla="*/ 1569784 h 1866625"/>
                  <a:gd name="connsiteX12" fmla="*/ 1455401 w 1455401"/>
                  <a:gd name="connsiteY12" fmla="*/ 1569787 h 1866625"/>
                  <a:gd name="connsiteX13" fmla="*/ 1455401 w 1455401"/>
                  <a:gd name="connsiteY13" fmla="*/ 1569790 h 1866625"/>
                  <a:gd name="connsiteX14" fmla="*/ 1455401 w 1455401"/>
                  <a:gd name="connsiteY14" fmla="*/ 1578767 h 1866625"/>
                  <a:gd name="connsiteX15" fmla="*/ 1454289 w 1455401"/>
                  <a:gd name="connsiteY15" fmla="*/ 1578767 h 1866625"/>
                  <a:gd name="connsiteX16" fmla="*/ 1451644 w 1455401"/>
                  <a:gd name="connsiteY16" fmla="*/ 1600137 h 1866625"/>
                  <a:gd name="connsiteX17" fmla="*/ 727701 w 1455401"/>
                  <a:gd name="connsiteY17" fmla="*/ 1866625 h 1866625"/>
                  <a:gd name="connsiteX18" fmla="*/ 3758 w 1455401"/>
                  <a:gd name="connsiteY18" fmla="*/ 1600137 h 1866625"/>
                  <a:gd name="connsiteX19" fmla="*/ 1113 w 1455401"/>
                  <a:gd name="connsiteY19" fmla="*/ 1578767 h 1866625"/>
                  <a:gd name="connsiteX20" fmla="*/ 1 w 1455401"/>
                  <a:gd name="connsiteY20" fmla="*/ 1578767 h 1866625"/>
                  <a:gd name="connsiteX21" fmla="*/ 1 w 1455401"/>
                  <a:gd name="connsiteY21" fmla="*/ 1569787 h 1866625"/>
                  <a:gd name="connsiteX22" fmla="*/ 1 w 1455401"/>
                  <a:gd name="connsiteY22" fmla="*/ 296841 h 1866625"/>
                  <a:gd name="connsiteX23" fmla="*/ 0 w 1455401"/>
                  <a:gd name="connsiteY23" fmla="*/ 296838 h 1866625"/>
                  <a:gd name="connsiteX24" fmla="*/ 1 w 1455401"/>
                  <a:gd name="connsiteY24" fmla="*/ 296835 h 1866625"/>
                  <a:gd name="connsiteX25" fmla="*/ 3758 w 1455401"/>
                  <a:gd name="connsiteY25" fmla="*/ 266488 h 1866625"/>
                  <a:gd name="connsiteX26" fmla="*/ 727700 w 1455401"/>
                  <a:gd name="connsiteY26"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569784 h 1866625"/>
                  <a:gd name="connsiteX11" fmla="*/ 1455401 w 1455401"/>
                  <a:gd name="connsiteY11" fmla="*/ 1569787 h 1866625"/>
                  <a:gd name="connsiteX12" fmla="*/ 1455401 w 1455401"/>
                  <a:gd name="connsiteY12" fmla="*/ 1569790 h 1866625"/>
                  <a:gd name="connsiteX13" fmla="*/ 1455401 w 1455401"/>
                  <a:gd name="connsiteY13" fmla="*/ 1578767 h 1866625"/>
                  <a:gd name="connsiteX14" fmla="*/ 1454289 w 1455401"/>
                  <a:gd name="connsiteY14" fmla="*/ 1578767 h 1866625"/>
                  <a:gd name="connsiteX15" fmla="*/ 1451644 w 1455401"/>
                  <a:gd name="connsiteY15" fmla="*/ 1600137 h 1866625"/>
                  <a:gd name="connsiteX16" fmla="*/ 727701 w 1455401"/>
                  <a:gd name="connsiteY16" fmla="*/ 1866625 h 1866625"/>
                  <a:gd name="connsiteX17" fmla="*/ 3758 w 1455401"/>
                  <a:gd name="connsiteY17" fmla="*/ 1600137 h 1866625"/>
                  <a:gd name="connsiteX18" fmla="*/ 1113 w 1455401"/>
                  <a:gd name="connsiteY18" fmla="*/ 1578767 h 1866625"/>
                  <a:gd name="connsiteX19" fmla="*/ 1 w 1455401"/>
                  <a:gd name="connsiteY19" fmla="*/ 1578767 h 1866625"/>
                  <a:gd name="connsiteX20" fmla="*/ 1 w 1455401"/>
                  <a:gd name="connsiteY20" fmla="*/ 1569787 h 1866625"/>
                  <a:gd name="connsiteX21" fmla="*/ 1 w 1455401"/>
                  <a:gd name="connsiteY21" fmla="*/ 296841 h 1866625"/>
                  <a:gd name="connsiteX22" fmla="*/ 0 w 1455401"/>
                  <a:gd name="connsiteY22" fmla="*/ 296838 h 1866625"/>
                  <a:gd name="connsiteX23" fmla="*/ 1 w 1455401"/>
                  <a:gd name="connsiteY23" fmla="*/ 296835 h 1866625"/>
                  <a:gd name="connsiteX24" fmla="*/ 3758 w 1455401"/>
                  <a:gd name="connsiteY24" fmla="*/ 266488 h 1866625"/>
                  <a:gd name="connsiteX25" fmla="*/ 727700 w 1455401"/>
                  <a:gd name="connsiteY25" fmla="*/ 0 h 186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55401" h="1866625">
                    <a:moveTo>
                      <a:pt x="727701" y="107085"/>
                    </a:moveTo>
                    <a:cubicBezTo>
                      <a:pt x="450294" y="107085"/>
                      <a:pt x="225411" y="173087"/>
                      <a:pt x="225411" y="254506"/>
                    </a:cubicBezTo>
                    <a:cubicBezTo>
                      <a:pt x="225411" y="335924"/>
                      <a:pt x="450294" y="401926"/>
                      <a:pt x="727701" y="401926"/>
                    </a:cubicBezTo>
                    <a:cubicBezTo>
                      <a:pt x="1005108" y="401926"/>
                      <a:pt x="1229991" y="335924"/>
                      <a:pt x="1229991" y="254506"/>
                    </a:cubicBezTo>
                    <a:cubicBezTo>
                      <a:pt x="1229991" y="173087"/>
                      <a:pt x="1005108" y="107085"/>
                      <a:pt x="727701" y="107085"/>
                    </a:cubicBezTo>
                    <a:close/>
                    <a:moveTo>
                      <a:pt x="727700" y="0"/>
                    </a:moveTo>
                    <a:cubicBezTo>
                      <a:pt x="1104479" y="0"/>
                      <a:pt x="1414378" y="116806"/>
                      <a:pt x="1451644" y="266488"/>
                    </a:cubicBezTo>
                    <a:lnTo>
                      <a:pt x="1454289" y="287858"/>
                    </a:lnTo>
                    <a:lnTo>
                      <a:pt x="1455400" y="287858"/>
                    </a:lnTo>
                    <a:lnTo>
                      <a:pt x="1455400" y="296838"/>
                    </a:lnTo>
                    <a:cubicBezTo>
                      <a:pt x="1455400" y="510492"/>
                      <a:pt x="1455401" y="1357626"/>
                      <a:pt x="1455401" y="1569784"/>
                    </a:cubicBezTo>
                    <a:lnTo>
                      <a:pt x="1455401" y="1569787"/>
                    </a:lnTo>
                    <a:lnTo>
                      <a:pt x="1455401" y="1569790"/>
                    </a:lnTo>
                    <a:lnTo>
                      <a:pt x="1455401" y="1578767"/>
                    </a:lnTo>
                    <a:lnTo>
                      <a:pt x="1454289" y="1578767"/>
                    </a:lnTo>
                    <a:lnTo>
                      <a:pt x="1451644" y="1600137"/>
                    </a:lnTo>
                    <a:cubicBezTo>
                      <a:pt x="1414379" y="1749819"/>
                      <a:pt x="1104480" y="1866625"/>
                      <a:pt x="727701" y="1866625"/>
                    </a:cubicBezTo>
                    <a:cubicBezTo>
                      <a:pt x="350922" y="1866625"/>
                      <a:pt x="41024" y="1749819"/>
                      <a:pt x="3758" y="1600137"/>
                    </a:cubicBezTo>
                    <a:lnTo>
                      <a:pt x="1113" y="1578767"/>
                    </a:lnTo>
                    <a:lnTo>
                      <a:pt x="1" y="1578767"/>
                    </a:lnTo>
                    <a:lnTo>
                      <a:pt x="1" y="1569787"/>
                    </a:lnTo>
                    <a:lnTo>
                      <a:pt x="1" y="296841"/>
                    </a:lnTo>
                    <a:cubicBezTo>
                      <a:pt x="1" y="158359"/>
                      <a:pt x="0" y="296839"/>
                      <a:pt x="0" y="296838"/>
                    </a:cubicBezTo>
                    <a:cubicBezTo>
                      <a:pt x="0" y="296837"/>
                      <a:pt x="1" y="296836"/>
                      <a:pt x="1" y="296835"/>
                    </a:cubicBezTo>
                    <a:lnTo>
                      <a:pt x="3758" y="266488"/>
                    </a:lnTo>
                    <a:cubicBezTo>
                      <a:pt x="41023" y="116806"/>
                      <a:pt x="350921" y="0"/>
                      <a:pt x="727700" y="0"/>
                    </a:cubicBez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5" name="Freeform: Shape 24">
                <a:extLst>
                  <a:ext uri="{FF2B5EF4-FFF2-40B4-BE49-F238E27FC236}">
                    <a16:creationId xmlns:a16="http://schemas.microsoft.com/office/drawing/2014/main" id="{B931741F-9923-4268-BE18-D0B4DE0D9ED7}"/>
                  </a:ext>
                </a:extLst>
              </p:cNvPr>
              <p:cNvSpPr/>
              <p:nvPr/>
            </p:nvSpPr>
            <p:spPr>
              <a:xfrm>
                <a:off x="4872764" y="2853036"/>
                <a:ext cx="195172" cy="195172"/>
              </a:xfrm>
              <a:custGeom>
                <a:avLst/>
                <a:gdLst>
                  <a:gd name="connsiteX0" fmla="*/ 0 w 195172"/>
                  <a:gd name="connsiteY0" fmla="*/ 0 h 195172"/>
                  <a:gd name="connsiteX1" fmla="*/ 195172 w 195172"/>
                  <a:gd name="connsiteY1" fmla="*/ 0 h 195172"/>
                  <a:gd name="connsiteX2" fmla="*/ 195172 w 195172"/>
                  <a:gd name="connsiteY2" fmla="*/ 195172 h 195172"/>
                  <a:gd name="connsiteX3" fmla="*/ 111528 w 195172"/>
                  <a:gd name="connsiteY3" fmla="*/ 195172 h 195172"/>
                  <a:gd name="connsiteX4" fmla="*/ 111528 w 195172"/>
                  <a:gd name="connsiteY4" fmla="*/ 83646 h 195172"/>
                  <a:gd name="connsiteX5" fmla="*/ 0 w 195172"/>
                  <a:gd name="connsiteY5" fmla="*/ 83646 h 195172"/>
                  <a:gd name="connsiteX6" fmla="*/ 0 w 195172"/>
                  <a:gd name="connsiteY6" fmla="*/ 0 h 19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172" h="195172">
                    <a:moveTo>
                      <a:pt x="0" y="0"/>
                    </a:moveTo>
                    <a:lnTo>
                      <a:pt x="195172" y="0"/>
                    </a:lnTo>
                    <a:lnTo>
                      <a:pt x="195172" y="195172"/>
                    </a:lnTo>
                    <a:lnTo>
                      <a:pt x="111528" y="195172"/>
                    </a:lnTo>
                    <a:lnTo>
                      <a:pt x="111528" y="83646"/>
                    </a:lnTo>
                    <a:lnTo>
                      <a:pt x="0" y="83646"/>
                    </a:lnTo>
                    <a:lnTo>
                      <a:pt x="0" y="0"/>
                    </a:lnTo>
                    <a:close/>
                  </a:path>
                </a:pathLst>
              </a:custGeom>
              <a:solidFill>
                <a:schemeClr val="accent2"/>
              </a:solidFill>
              <a:ln w="42466" cap="flat">
                <a:noFill/>
                <a:prstDash val="solid"/>
                <a:miter/>
              </a:ln>
            </p:spPr>
            <p:txBody>
              <a:bodyPr rtlCol="0" anchor="ctr"/>
              <a:lstStyle/>
              <a:p>
                <a:pPr defTabSz="914225">
                  <a:defRPr/>
                </a:pPr>
                <a:endParaRPr lang="en-US">
                  <a:solidFill>
                    <a:prstClr val="black"/>
                  </a:solidFill>
                  <a:latin typeface="Segoe UI"/>
                </a:endParaRPr>
              </a:p>
            </p:txBody>
          </p:sp>
          <p:sp>
            <p:nvSpPr>
              <p:cNvPr id="26" name="Freeform: Shape 25">
                <a:extLst>
                  <a:ext uri="{FF2B5EF4-FFF2-40B4-BE49-F238E27FC236}">
                    <a16:creationId xmlns:a16="http://schemas.microsoft.com/office/drawing/2014/main" id="{71B32CCA-FB35-4DF6-8E5B-FD19ECE443F6}"/>
                  </a:ext>
                </a:extLst>
              </p:cNvPr>
              <p:cNvSpPr/>
              <p:nvPr/>
            </p:nvSpPr>
            <p:spPr>
              <a:xfrm>
                <a:off x="4442106" y="3274383"/>
                <a:ext cx="549365" cy="468933"/>
              </a:xfrm>
              <a:custGeom>
                <a:avLst/>
                <a:gdLst>
                  <a:gd name="connsiteX0" fmla="*/ 168663 w 549365"/>
                  <a:gd name="connsiteY0" fmla="*/ 0 h 468933"/>
                  <a:gd name="connsiteX1" fmla="*/ 201885 w 549365"/>
                  <a:gd name="connsiteY1" fmla="*/ 33222 h 468933"/>
                  <a:gd name="connsiteX2" fmla="*/ 168663 w 549365"/>
                  <a:gd name="connsiteY2" fmla="*/ 66443 h 468933"/>
                  <a:gd name="connsiteX3" fmla="*/ 168655 w 549365"/>
                  <a:gd name="connsiteY3" fmla="*/ 66451 h 468933"/>
                  <a:gd name="connsiteX4" fmla="*/ 168663 w 549365"/>
                  <a:gd name="connsiteY4" fmla="*/ 133312 h 468933"/>
                  <a:gd name="connsiteX5" fmla="*/ 285364 w 549365"/>
                  <a:gd name="connsiteY5" fmla="*/ 250013 h 468933"/>
                  <a:gd name="connsiteX6" fmla="*/ 370547 w 549365"/>
                  <a:gd name="connsiteY6" fmla="*/ 164830 h 468933"/>
                  <a:gd name="connsiteX7" fmla="*/ 360619 w 549365"/>
                  <a:gd name="connsiteY7" fmla="*/ 92019 h 468933"/>
                  <a:gd name="connsiteX8" fmla="*/ 475748 w 549365"/>
                  <a:gd name="connsiteY8" fmla="*/ 26407 h 468933"/>
                  <a:gd name="connsiteX9" fmla="*/ 418249 w 549365"/>
                  <a:gd name="connsiteY9" fmla="*/ 83905 h 468933"/>
                  <a:gd name="connsiteX10" fmla="*/ 487248 w 549365"/>
                  <a:gd name="connsiteY10" fmla="*/ 150349 h 468933"/>
                  <a:gd name="connsiteX11" fmla="*/ 546024 w 549365"/>
                  <a:gd name="connsiteY11" fmla="*/ 94979 h 468933"/>
                  <a:gd name="connsiteX12" fmla="*/ 534788 w 549365"/>
                  <a:gd name="connsiteY12" fmla="*/ 169971 h 468933"/>
                  <a:gd name="connsiteX13" fmla="*/ 405472 w 549365"/>
                  <a:gd name="connsiteY13" fmla="*/ 198903 h 468933"/>
                  <a:gd name="connsiteX14" fmla="*/ 320289 w 549365"/>
                  <a:gd name="connsiteY14" fmla="*/ 284086 h 468933"/>
                  <a:gd name="connsiteX15" fmla="*/ 470211 w 549365"/>
                  <a:gd name="connsiteY15" fmla="*/ 435712 h 468933"/>
                  <a:gd name="connsiteX16" fmla="*/ 436990 w 549365"/>
                  <a:gd name="connsiteY16" fmla="*/ 468933 h 468933"/>
                  <a:gd name="connsiteX17" fmla="*/ 286642 w 549365"/>
                  <a:gd name="connsiteY17" fmla="*/ 318585 h 468933"/>
                  <a:gd name="connsiteX18" fmla="*/ 136294 w 549365"/>
                  <a:gd name="connsiteY18" fmla="*/ 468933 h 468933"/>
                  <a:gd name="connsiteX19" fmla="*/ 103073 w 549365"/>
                  <a:gd name="connsiteY19" fmla="*/ 435712 h 468933"/>
                  <a:gd name="connsiteX20" fmla="*/ 250013 w 549365"/>
                  <a:gd name="connsiteY20" fmla="*/ 285364 h 468933"/>
                  <a:gd name="connsiteX21" fmla="*/ 133312 w 549365"/>
                  <a:gd name="connsiteY21" fmla="*/ 168663 h 468933"/>
                  <a:gd name="connsiteX22" fmla="*/ 99878 w 549365"/>
                  <a:gd name="connsiteY22" fmla="*/ 168876 h 468933"/>
                  <a:gd name="connsiteX23" fmla="*/ 100091 w 549365"/>
                  <a:gd name="connsiteY23" fmla="*/ 202311 h 468933"/>
                  <a:gd name="connsiteX24" fmla="*/ 66870 w 549365"/>
                  <a:gd name="connsiteY24" fmla="*/ 235532 h 468933"/>
                  <a:gd name="connsiteX25" fmla="*/ 0 w 549365"/>
                  <a:gd name="connsiteY25" fmla="*/ 168663 h 468933"/>
                  <a:gd name="connsiteX26" fmla="*/ 33222 w 549365"/>
                  <a:gd name="connsiteY26" fmla="*/ 135442 h 468933"/>
                  <a:gd name="connsiteX27" fmla="*/ 66444 w 549365"/>
                  <a:gd name="connsiteY27" fmla="*/ 135442 h 468933"/>
                  <a:gd name="connsiteX28" fmla="*/ 66444 w 549365"/>
                  <a:gd name="connsiteY28" fmla="*/ 102220 h 468933"/>
                  <a:gd name="connsiteX29" fmla="*/ 126072 w 549365"/>
                  <a:gd name="connsiteY29" fmla="*/ 42592 h 468933"/>
                  <a:gd name="connsiteX30" fmla="*/ 168663 w 549365"/>
                  <a:gd name="connsiteY30" fmla="*/ 0 h 46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49365" h="468933">
                    <a:moveTo>
                      <a:pt x="168663" y="0"/>
                    </a:moveTo>
                    <a:lnTo>
                      <a:pt x="201885" y="33222"/>
                    </a:lnTo>
                    <a:lnTo>
                      <a:pt x="168663" y="66443"/>
                    </a:lnTo>
                    <a:cubicBezTo>
                      <a:pt x="168659" y="66447"/>
                      <a:pt x="168659" y="66447"/>
                      <a:pt x="168655" y="66451"/>
                    </a:cubicBezTo>
                    <a:cubicBezTo>
                      <a:pt x="150196" y="84919"/>
                      <a:pt x="150200" y="114852"/>
                      <a:pt x="168663" y="133312"/>
                    </a:cubicBezTo>
                    <a:lnTo>
                      <a:pt x="285364" y="250013"/>
                    </a:lnTo>
                    <a:lnTo>
                      <a:pt x="370547" y="164830"/>
                    </a:lnTo>
                    <a:cubicBezTo>
                      <a:pt x="357463" y="142925"/>
                      <a:pt x="353877" y="116628"/>
                      <a:pt x="360619" y="92019"/>
                    </a:cubicBezTo>
                    <a:cubicBezTo>
                      <a:pt x="374291" y="42110"/>
                      <a:pt x="425839" y="12735"/>
                      <a:pt x="475748" y="26407"/>
                    </a:cubicBezTo>
                    <a:lnTo>
                      <a:pt x="418249" y="83905"/>
                    </a:lnTo>
                    <a:lnTo>
                      <a:pt x="487248" y="150349"/>
                    </a:lnTo>
                    <a:lnTo>
                      <a:pt x="546024" y="94979"/>
                    </a:lnTo>
                    <a:cubicBezTo>
                      <a:pt x="553013" y="120441"/>
                      <a:pt x="548933" y="147674"/>
                      <a:pt x="534788" y="169971"/>
                    </a:cubicBezTo>
                    <a:cubicBezTo>
                      <a:pt x="507070" y="213670"/>
                      <a:pt x="449171" y="226622"/>
                      <a:pt x="405472" y="198903"/>
                    </a:cubicBezTo>
                    <a:lnTo>
                      <a:pt x="320289" y="284086"/>
                    </a:lnTo>
                    <a:lnTo>
                      <a:pt x="470211" y="435712"/>
                    </a:lnTo>
                    <a:lnTo>
                      <a:pt x="436990" y="468933"/>
                    </a:lnTo>
                    <a:lnTo>
                      <a:pt x="286642" y="318585"/>
                    </a:lnTo>
                    <a:lnTo>
                      <a:pt x="136294" y="468933"/>
                    </a:lnTo>
                    <a:lnTo>
                      <a:pt x="103073" y="435712"/>
                    </a:lnTo>
                    <a:lnTo>
                      <a:pt x="250013" y="285364"/>
                    </a:lnTo>
                    <a:lnTo>
                      <a:pt x="133312" y="168663"/>
                    </a:lnTo>
                    <a:cubicBezTo>
                      <a:pt x="124019" y="159489"/>
                      <a:pt x="109052" y="159583"/>
                      <a:pt x="99878" y="168876"/>
                    </a:cubicBezTo>
                    <a:cubicBezTo>
                      <a:pt x="90704" y="178170"/>
                      <a:pt x="90798" y="193136"/>
                      <a:pt x="100091" y="202311"/>
                    </a:cubicBezTo>
                    <a:lnTo>
                      <a:pt x="66870" y="235532"/>
                    </a:lnTo>
                    <a:lnTo>
                      <a:pt x="0" y="168663"/>
                    </a:lnTo>
                    <a:lnTo>
                      <a:pt x="33222" y="135442"/>
                    </a:lnTo>
                    <a:cubicBezTo>
                      <a:pt x="42396" y="144616"/>
                      <a:pt x="57269" y="144616"/>
                      <a:pt x="66444" y="135442"/>
                    </a:cubicBezTo>
                    <a:cubicBezTo>
                      <a:pt x="75618" y="126268"/>
                      <a:pt x="75618" y="111394"/>
                      <a:pt x="66444" y="102220"/>
                    </a:cubicBezTo>
                    <a:lnTo>
                      <a:pt x="126072" y="42592"/>
                    </a:lnTo>
                    <a:lnTo>
                      <a:pt x="168663" y="0"/>
                    </a:lnTo>
                    <a:close/>
                  </a:path>
                </a:pathLst>
              </a:custGeom>
              <a:solidFill>
                <a:schemeClr val="accent2"/>
              </a:solidFill>
              <a:ln w="42466" cap="flat">
                <a:noFill/>
                <a:prstDash val="solid"/>
                <a:miter/>
              </a:ln>
            </p:spPr>
            <p:txBody>
              <a:bodyPr rtlCol="0" anchor="ctr"/>
              <a:lstStyle/>
              <a:p>
                <a:pPr defTabSz="914225">
                  <a:defRPr/>
                </a:pPr>
                <a:endParaRPr lang="en-US">
                  <a:solidFill>
                    <a:prstClr val="black"/>
                  </a:solidFill>
                  <a:latin typeface="Segoe UI"/>
                </a:endParaRPr>
              </a:p>
            </p:txBody>
          </p:sp>
          <p:sp>
            <p:nvSpPr>
              <p:cNvPr id="27" name="Freeform: Shape 26">
                <a:extLst>
                  <a:ext uri="{FF2B5EF4-FFF2-40B4-BE49-F238E27FC236}">
                    <a16:creationId xmlns:a16="http://schemas.microsoft.com/office/drawing/2014/main" id="{B700DCFA-9EEF-4ECF-9245-C9330A5A67CD}"/>
                  </a:ext>
                </a:extLst>
              </p:cNvPr>
              <p:cNvSpPr/>
              <p:nvPr/>
            </p:nvSpPr>
            <p:spPr>
              <a:xfrm>
                <a:off x="4088333" y="3645393"/>
                <a:ext cx="187246" cy="187246"/>
              </a:xfrm>
              <a:custGeom>
                <a:avLst/>
                <a:gdLst>
                  <a:gd name="connsiteX0" fmla="*/ 0 w 187246"/>
                  <a:gd name="connsiteY0" fmla="*/ 0 h 187246"/>
                  <a:gd name="connsiteX1" fmla="*/ 80249 w 187246"/>
                  <a:gd name="connsiteY1" fmla="*/ 0 h 187246"/>
                  <a:gd name="connsiteX2" fmla="*/ 80249 w 187246"/>
                  <a:gd name="connsiteY2" fmla="*/ 106998 h 187246"/>
                  <a:gd name="connsiteX3" fmla="*/ 187246 w 187246"/>
                  <a:gd name="connsiteY3" fmla="*/ 106998 h 187246"/>
                  <a:gd name="connsiteX4" fmla="*/ 187246 w 187246"/>
                  <a:gd name="connsiteY4" fmla="*/ 187246 h 187246"/>
                  <a:gd name="connsiteX5" fmla="*/ 0 w 187246"/>
                  <a:gd name="connsiteY5" fmla="*/ 187246 h 187246"/>
                  <a:gd name="connsiteX6" fmla="*/ 0 w 187246"/>
                  <a:gd name="connsiteY6" fmla="*/ 0 h 187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246" h="187246">
                    <a:moveTo>
                      <a:pt x="0" y="0"/>
                    </a:moveTo>
                    <a:lnTo>
                      <a:pt x="80249" y="0"/>
                    </a:lnTo>
                    <a:lnTo>
                      <a:pt x="80249" y="106998"/>
                    </a:lnTo>
                    <a:lnTo>
                      <a:pt x="187246" y="106998"/>
                    </a:lnTo>
                    <a:lnTo>
                      <a:pt x="187246" y="187246"/>
                    </a:lnTo>
                    <a:lnTo>
                      <a:pt x="0" y="187246"/>
                    </a:lnTo>
                    <a:lnTo>
                      <a:pt x="0" y="0"/>
                    </a:lnTo>
                    <a:close/>
                  </a:path>
                </a:pathLst>
              </a:custGeom>
              <a:solidFill>
                <a:schemeClr val="accent2"/>
              </a:solidFill>
              <a:ln w="42466" cap="flat">
                <a:noFill/>
                <a:prstDash val="solid"/>
                <a:miter/>
              </a:ln>
            </p:spPr>
            <p:txBody>
              <a:bodyPr rtlCol="0" anchor="ctr"/>
              <a:lstStyle/>
              <a:p>
                <a:pPr defTabSz="914225">
                  <a:defRPr/>
                </a:pPr>
                <a:endParaRPr lang="en-US">
                  <a:solidFill>
                    <a:prstClr val="black"/>
                  </a:solidFill>
                  <a:latin typeface="Segoe UI"/>
                </a:endParaRPr>
              </a:p>
            </p:txBody>
          </p:sp>
        </p:grpSp>
      </p:grpSp>
      <p:grpSp>
        <p:nvGrpSpPr>
          <p:cNvPr id="9" name="Group 8" descr="Migration">
            <a:extLst>
              <a:ext uri="{FF2B5EF4-FFF2-40B4-BE49-F238E27FC236}">
                <a16:creationId xmlns:a16="http://schemas.microsoft.com/office/drawing/2014/main" id="{C197F05D-5FBF-4F6D-B18C-C84A2F39302D}"/>
              </a:ext>
            </a:extLst>
          </p:cNvPr>
          <p:cNvGrpSpPr/>
          <p:nvPr/>
        </p:nvGrpSpPr>
        <p:grpSpPr>
          <a:xfrm>
            <a:off x="5998157" y="3258176"/>
            <a:ext cx="3079327" cy="2572877"/>
            <a:chOff x="6118432" y="3323012"/>
            <a:chExt cx="3141074" cy="2624469"/>
          </a:xfrm>
        </p:grpSpPr>
        <p:grpSp>
          <p:nvGrpSpPr>
            <p:cNvPr id="8" name="Group 7" descr="Migration">
              <a:extLst>
                <a:ext uri="{FF2B5EF4-FFF2-40B4-BE49-F238E27FC236}">
                  <a16:creationId xmlns:a16="http://schemas.microsoft.com/office/drawing/2014/main" id="{AD4BFF65-D5D4-4A99-82D4-256B89455D3E}"/>
                </a:ext>
              </a:extLst>
            </p:cNvPr>
            <p:cNvGrpSpPr/>
            <p:nvPr/>
          </p:nvGrpSpPr>
          <p:grpSpPr>
            <a:xfrm>
              <a:off x="6118432" y="4824340"/>
              <a:ext cx="3141074" cy="1123141"/>
              <a:chOff x="6118432" y="4824340"/>
              <a:chExt cx="3141074" cy="1123141"/>
            </a:xfrm>
          </p:grpSpPr>
          <p:sp>
            <p:nvSpPr>
              <p:cNvPr id="6" name="TextBox 5">
                <a:extLst>
                  <a:ext uri="{FF2B5EF4-FFF2-40B4-BE49-F238E27FC236}">
                    <a16:creationId xmlns:a16="http://schemas.microsoft.com/office/drawing/2014/main" id="{BE1676BF-A53F-42B8-B63B-4683EF04CA6C}"/>
                  </a:ext>
                </a:extLst>
              </p:cNvPr>
              <p:cNvSpPr txBox="1"/>
              <p:nvPr/>
            </p:nvSpPr>
            <p:spPr>
              <a:xfrm>
                <a:off x="6118432" y="4824340"/>
                <a:ext cx="3141074" cy="316434"/>
              </a:xfrm>
              <a:prstGeom prst="rect">
                <a:avLst/>
              </a:prstGeom>
            </p:spPr>
            <p:txBody>
              <a:bodyPr wrap="square" lIns="89631" tIns="44814" rIns="89631" bIns="44814" rtlCol="0">
                <a:spAutoFit/>
              </a:bodyPr>
              <a:lstStyle>
                <a:defPPr>
                  <a:defRPr lang="en-US"/>
                </a:defPPr>
                <a:lvl1pPr marR="0" lvl="0" indent="0" algn="ctr" defTabSz="914400" fontAlgn="auto">
                  <a:lnSpc>
                    <a:spcPct val="90000"/>
                  </a:lnSpc>
                  <a:spcBef>
                    <a:spcPts val="0"/>
                  </a:spcBef>
                  <a:spcAft>
                    <a:spcPts val="588"/>
                  </a:spcAft>
                  <a:buClrTx/>
                  <a:buSzTx/>
                  <a:buFontTx/>
                  <a:buNone/>
                  <a:tabLst/>
                  <a:defRPr sz="1100">
                    <a:latin typeface="Segoe UI"/>
                  </a:defRPr>
                </a:lvl1pPr>
              </a:lstStyle>
              <a:p>
                <a:pPr defTabSz="914201">
                  <a:lnSpc>
                    <a:spcPct val="100000"/>
                  </a:lnSpc>
                  <a:spcAft>
                    <a:spcPts val="533"/>
                  </a:spcAft>
                  <a:defRPr/>
                </a:pPr>
                <a:r>
                  <a:rPr lang="en-US" sz="1400">
                    <a:solidFill>
                      <a:prstClr val="white"/>
                    </a:solidFill>
                    <a:latin typeface="Segoe UI Semibold"/>
                  </a:rPr>
                  <a:t>Migration</a:t>
                </a:r>
              </a:p>
            </p:txBody>
          </p:sp>
          <p:sp>
            <p:nvSpPr>
              <p:cNvPr id="3" name="TextBox 2">
                <a:extLst>
                  <a:ext uri="{FF2B5EF4-FFF2-40B4-BE49-F238E27FC236}">
                    <a16:creationId xmlns:a16="http://schemas.microsoft.com/office/drawing/2014/main" id="{9F777E5A-0974-4692-AE35-30FB7A26EFD7}"/>
                  </a:ext>
                </a:extLst>
              </p:cNvPr>
              <p:cNvSpPr txBox="1"/>
              <p:nvPr/>
            </p:nvSpPr>
            <p:spPr>
              <a:xfrm>
                <a:off x="6512442" y="5099497"/>
                <a:ext cx="2405150" cy="847984"/>
              </a:xfrm>
              <a:prstGeom prst="rect">
                <a:avLst/>
              </a:prstGeom>
            </p:spPr>
            <p:txBody>
              <a:bodyPr wrap="square" lIns="91415" tIns="45706" rIns="91415" bIns="45706" rtlCol="0" anchor="t">
                <a:spAutoFit/>
              </a:bodyPr>
              <a:lstStyle>
                <a:defPPr>
                  <a:defRPr lang="en-US"/>
                </a:defPPr>
                <a:lvl1pPr marR="0" lvl="0" indent="0" algn="ctr" defTabSz="914400" fontAlgn="auto">
                  <a:lnSpc>
                    <a:spcPct val="90000"/>
                  </a:lnSpc>
                  <a:spcBef>
                    <a:spcPts val="0"/>
                  </a:spcBef>
                  <a:spcAft>
                    <a:spcPts val="588"/>
                  </a:spcAft>
                  <a:buClrTx/>
                  <a:buSzTx/>
                  <a:buFontTx/>
                  <a:buNone/>
                  <a:tabLst/>
                  <a:defRPr sz="1100">
                    <a:latin typeface="Segoe UI"/>
                  </a:defRPr>
                </a:lvl1pPr>
              </a:lstStyle>
              <a:p>
                <a:pPr defTabSz="914201">
                  <a:lnSpc>
                    <a:spcPct val="100000"/>
                  </a:lnSpc>
                  <a:spcAft>
                    <a:spcPts val="533"/>
                  </a:spcAft>
                  <a:defRPr/>
                </a:pPr>
                <a:r>
                  <a:rPr lang="en-US">
                    <a:solidFill>
                      <a:prstClr val="white"/>
                    </a:solidFill>
                  </a:rPr>
                  <a:t>Azure Database Migration Service, Azure SQL Migration extension in Azure Data Studio (preview)</a:t>
                </a:r>
              </a:p>
              <a:p>
                <a:pPr algn="l" defTabSz="932394">
                  <a:lnSpc>
                    <a:spcPct val="100000"/>
                  </a:lnSpc>
                  <a:spcAft>
                    <a:spcPts val="544"/>
                  </a:spcAft>
                  <a:defRPr/>
                </a:pPr>
                <a:endParaRPr lang="en-US" sz="1000">
                  <a:solidFill>
                    <a:prstClr val="white"/>
                  </a:solidFill>
                  <a:latin typeface="Segoe UI Semibold"/>
                </a:endParaRPr>
              </a:p>
            </p:txBody>
          </p:sp>
        </p:grpSp>
        <p:grpSp>
          <p:nvGrpSpPr>
            <p:cNvPr id="18" name="Group 17" descr="database going to the cloud">
              <a:extLst>
                <a:ext uri="{FF2B5EF4-FFF2-40B4-BE49-F238E27FC236}">
                  <a16:creationId xmlns:a16="http://schemas.microsoft.com/office/drawing/2014/main" id="{73F4B7DF-ED27-47A6-87F0-0310446686E6}"/>
                </a:ext>
              </a:extLst>
            </p:cNvPr>
            <p:cNvGrpSpPr/>
            <p:nvPr/>
          </p:nvGrpSpPr>
          <p:grpSpPr>
            <a:xfrm>
              <a:off x="7244334" y="3323012"/>
              <a:ext cx="889270" cy="1324501"/>
              <a:chOff x="6690034" y="1281804"/>
              <a:chExt cx="871912" cy="1298648"/>
            </a:xfrm>
          </p:grpSpPr>
          <p:sp>
            <p:nvSpPr>
              <p:cNvPr id="19" name="Arrow: Up 45">
                <a:extLst>
                  <a:ext uri="{FF2B5EF4-FFF2-40B4-BE49-F238E27FC236}">
                    <a16:creationId xmlns:a16="http://schemas.microsoft.com/office/drawing/2014/main" id="{4E07F458-AC56-4769-9B01-FE772AA937C1}"/>
                  </a:ext>
                </a:extLst>
              </p:cNvPr>
              <p:cNvSpPr/>
              <p:nvPr/>
            </p:nvSpPr>
            <p:spPr bwMode="auto">
              <a:xfrm>
                <a:off x="7066614" y="1847158"/>
                <a:ext cx="136188" cy="290264"/>
              </a:xfrm>
              <a:custGeom>
                <a:avLst/>
                <a:gdLst>
                  <a:gd name="connsiteX0" fmla="*/ 0 w 272376"/>
                  <a:gd name="connsiteY0" fmla="*/ 148434 h 438698"/>
                  <a:gd name="connsiteX1" fmla="*/ 136188 w 272376"/>
                  <a:gd name="connsiteY1" fmla="*/ 0 h 438698"/>
                  <a:gd name="connsiteX2" fmla="*/ 272376 w 272376"/>
                  <a:gd name="connsiteY2" fmla="*/ 148434 h 438698"/>
                  <a:gd name="connsiteX3" fmla="*/ 204282 w 272376"/>
                  <a:gd name="connsiteY3" fmla="*/ 148434 h 438698"/>
                  <a:gd name="connsiteX4" fmla="*/ 204282 w 272376"/>
                  <a:gd name="connsiteY4" fmla="*/ 438698 h 438698"/>
                  <a:gd name="connsiteX5" fmla="*/ 68094 w 272376"/>
                  <a:gd name="connsiteY5" fmla="*/ 438698 h 438698"/>
                  <a:gd name="connsiteX6" fmla="*/ 68094 w 272376"/>
                  <a:gd name="connsiteY6" fmla="*/ 148434 h 438698"/>
                  <a:gd name="connsiteX7" fmla="*/ 0 w 272376"/>
                  <a:gd name="connsiteY7" fmla="*/ 148434 h 438698"/>
                  <a:gd name="connsiteX0" fmla="*/ 0 w 204282"/>
                  <a:gd name="connsiteY0" fmla="*/ 148434 h 438698"/>
                  <a:gd name="connsiteX1" fmla="*/ 68094 w 204282"/>
                  <a:gd name="connsiteY1" fmla="*/ 0 h 438698"/>
                  <a:gd name="connsiteX2" fmla="*/ 204282 w 204282"/>
                  <a:gd name="connsiteY2" fmla="*/ 148434 h 438698"/>
                  <a:gd name="connsiteX3" fmla="*/ 136188 w 204282"/>
                  <a:gd name="connsiteY3" fmla="*/ 148434 h 438698"/>
                  <a:gd name="connsiteX4" fmla="*/ 136188 w 204282"/>
                  <a:gd name="connsiteY4" fmla="*/ 438698 h 438698"/>
                  <a:gd name="connsiteX5" fmla="*/ 0 w 204282"/>
                  <a:gd name="connsiteY5" fmla="*/ 438698 h 438698"/>
                  <a:gd name="connsiteX6" fmla="*/ 0 w 204282"/>
                  <a:gd name="connsiteY6" fmla="*/ 148434 h 438698"/>
                  <a:gd name="connsiteX0" fmla="*/ 0 w 136188"/>
                  <a:gd name="connsiteY0" fmla="*/ 148434 h 438698"/>
                  <a:gd name="connsiteX1" fmla="*/ 68094 w 136188"/>
                  <a:gd name="connsiteY1" fmla="*/ 0 h 438698"/>
                  <a:gd name="connsiteX2" fmla="*/ 136188 w 136188"/>
                  <a:gd name="connsiteY2" fmla="*/ 148434 h 438698"/>
                  <a:gd name="connsiteX3" fmla="*/ 136188 w 136188"/>
                  <a:gd name="connsiteY3" fmla="*/ 438698 h 438698"/>
                  <a:gd name="connsiteX4" fmla="*/ 0 w 136188"/>
                  <a:gd name="connsiteY4" fmla="*/ 438698 h 438698"/>
                  <a:gd name="connsiteX5" fmla="*/ 0 w 136188"/>
                  <a:gd name="connsiteY5" fmla="*/ 148434 h 438698"/>
                  <a:gd name="connsiteX0" fmla="*/ 0 w 136188"/>
                  <a:gd name="connsiteY0" fmla="*/ 0 h 290264"/>
                  <a:gd name="connsiteX1" fmla="*/ 136188 w 136188"/>
                  <a:gd name="connsiteY1" fmla="*/ 0 h 290264"/>
                  <a:gd name="connsiteX2" fmla="*/ 136188 w 136188"/>
                  <a:gd name="connsiteY2" fmla="*/ 290264 h 290264"/>
                  <a:gd name="connsiteX3" fmla="*/ 0 w 136188"/>
                  <a:gd name="connsiteY3" fmla="*/ 290264 h 290264"/>
                  <a:gd name="connsiteX4" fmla="*/ 0 w 136188"/>
                  <a:gd name="connsiteY4" fmla="*/ 0 h 290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88" h="290264">
                    <a:moveTo>
                      <a:pt x="0" y="0"/>
                    </a:moveTo>
                    <a:lnTo>
                      <a:pt x="136188" y="0"/>
                    </a:lnTo>
                    <a:lnTo>
                      <a:pt x="136188" y="290264"/>
                    </a:lnTo>
                    <a:lnTo>
                      <a:pt x="0" y="290264"/>
                    </a:lnTo>
                    <a:lnTo>
                      <a:pt x="0" y="0"/>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defRPr/>
                </a:pPr>
                <a:endParaRPr lang="en-US" sz="200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Freeform 182">
                <a:extLst>
                  <a:ext uri="{FF2B5EF4-FFF2-40B4-BE49-F238E27FC236}">
                    <a16:creationId xmlns:a16="http://schemas.microsoft.com/office/drawing/2014/main" id="{15A28F3D-5776-41C2-A36F-DD6AAF40B0F7}"/>
                  </a:ext>
                </a:extLst>
              </p:cNvPr>
              <p:cNvSpPr/>
              <p:nvPr/>
            </p:nvSpPr>
            <p:spPr bwMode="auto">
              <a:xfrm>
                <a:off x="6868414" y="1904821"/>
                <a:ext cx="526786" cy="675631"/>
              </a:xfrm>
              <a:custGeom>
                <a:avLst/>
                <a:gdLst>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15633 w 1455401"/>
                  <a:gd name="connsiteY28" fmla="*/ 1140834 h 1866625"/>
                  <a:gd name="connsiteX29" fmla="*/ 21049 w 1455401"/>
                  <a:gd name="connsiteY29" fmla="*/ 1143359 h 1866625"/>
                  <a:gd name="connsiteX30" fmla="*/ 21049 w 1455401"/>
                  <a:gd name="connsiteY30" fmla="*/ 1033051 h 1866625"/>
                  <a:gd name="connsiteX31" fmla="*/ 15633 w 1455401"/>
                  <a:gd name="connsiteY31" fmla="*/ 1030526 h 1866625"/>
                  <a:gd name="connsiteX32" fmla="*/ 0 w 1455401"/>
                  <a:gd name="connsiteY32" fmla="*/ 1017423 h 1866625"/>
                  <a:gd name="connsiteX33" fmla="*/ 1 w 1455401"/>
                  <a:gd name="connsiteY33" fmla="*/ 296841 h 1866625"/>
                  <a:gd name="connsiteX34" fmla="*/ 0 w 1455401"/>
                  <a:gd name="connsiteY34" fmla="*/ 296838 h 1866625"/>
                  <a:gd name="connsiteX35" fmla="*/ 1 w 1455401"/>
                  <a:gd name="connsiteY35" fmla="*/ 296835 h 1866625"/>
                  <a:gd name="connsiteX36" fmla="*/ 3758 w 1455401"/>
                  <a:gd name="connsiteY36" fmla="*/ 266488 h 1866625"/>
                  <a:gd name="connsiteX37" fmla="*/ 727700 w 1455401"/>
                  <a:gd name="connsiteY37"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15633 w 1455401"/>
                  <a:gd name="connsiteY28" fmla="*/ 1140834 h 1866625"/>
                  <a:gd name="connsiteX29" fmla="*/ 21049 w 1455401"/>
                  <a:gd name="connsiteY29" fmla="*/ 1033051 h 1866625"/>
                  <a:gd name="connsiteX30" fmla="*/ 15633 w 1455401"/>
                  <a:gd name="connsiteY30" fmla="*/ 1030526 h 1866625"/>
                  <a:gd name="connsiteX31" fmla="*/ 0 w 1455401"/>
                  <a:gd name="connsiteY31" fmla="*/ 1017423 h 1866625"/>
                  <a:gd name="connsiteX32" fmla="*/ 1 w 1455401"/>
                  <a:gd name="connsiteY32" fmla="*/ 296841 h 1866625"/>
                  <a:gd name="connsiteX33" fmla="*/ 0 w 1455401"/>
                  <a:gd name="connsiteY33" fmla="*/ 296838 h 1866625"/>
                  <a:gd name="connsiteX34" fmla="*/ 1 w 1455401"/>
                  <a:gd name="connsiteY34" fmla="*/ 296835 h 1866625"/>
                  <a:gd name="connsiteX35" fmla="*/ 3758 w 1455401"/>
                  <a:gd name="connsiteY35" fmla="*/ 266488 h 1866625"/>
                  <a:gd name="connsiteX36" fmla="*/ 727700 w 1455401"/>
                  <a:gd name="connsiteY36"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21049 w 1455401"/>
                  <a:gd name="connsiteY28" fmla="*/ 1033051 h 1866625"/>
                  <a:gd name="connsiteX29" fmla="*/ 15633 w 1455401"/>
                  <a:gd name="connsiteY29" fmla="*/ 1030526 h 1866625"/>
                  <a:gd name="connsiteX30" fmla="*/ 0 w 1455401"/>
                  <a:gd name="connsiteY30" fmla="*/ 1017423 h 1866625"/>
                  <a:gd name="connsiteX31" fmla="*/ 1 w 1455401"/>
                  <a:gd name="connsiteY31" fmla="*/ 296841 h 1866625"/>
                  <a:gd name="connsiteX32" fmla="*/ 0 w 1455401"/>
                  <a:gd name="connsiteY32" fmla="*/ 296838 h 1866625"/>
                  <a:gd name="connsiteX33" fmla="*/ 1 w 1455401"/>
                  <a:gd name="connsiteY33" fmla="*/ 296835 h 1866625"/>
                  <a:gd name="connsiteX34" fmla="*/ 3758 w 1455401"/>
                  <a:gd name="connsiteY34" fmla="*/ 266488 h 1866625"/>
                  <a:gd name="connsiteX35" fmla="*/ 727700 w 1455401"/>
                  <a:gd name="connsiteY35"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21049 w 1455401"/>
                  <a:gd name="connsiteY28" fmla="*/ 1033051 h 1866625"/>
                  <a:gd name="connsiteX29" fmla="*/ 0 w 1455401"/>
                  <a:gd name="connsiteY29" fmla="*/ 1017423 h 1866625"/>
                  <a:gd name="connsiteX30" fmla="*/ 1 w 1455401"/>
                  <a:gd name="connsiteY30" fmla="*/ 296841 h 1866625"/>
                  <a:gd name="connsiteX31" fmla="*/ 0 w 1455401"/>
                  <a:gd name="connsiteY31" fmla="*/ 296838 h 1866625"/>
                  <a:gd name="connsiteX32" fmla="*/ 1 w 1455401"/>
                  <a:gd name="connsiteY32" fmla="*/ 296835 h 1866625"/>
                  <a:gd name="connsiteX33" fmla="*/ 3758 w 1455401"/>
                  <a:gd name="connsiteY33" fmla="*/ 266488 h 1866625"/>
                  <a:gd name="connsiteX34" fmla="*/ 727700 w 1455401"/>
                  <a:gd name="connsiteY34"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0 w 1455401"/>
                  <a:gd name="connsiteY28" fmla="*/ 1017423 h 1866625"/>
                  <a:gd name="connsiteX29" fmla="*/ 1 w 1455401"/>
                  <a:gd name="connsiteY29" fmla="*/ 296841 h 1866625"/>
                  <a:gd name="connsiteX30" fmla="*/ 0 w 1455401"/>
                  <a:gd name="connsiteY30" fmla="*/ 296838 h 1866625"/>
                  <a:gd name="connsiteX31" fmla="*/ 1 w 1455401"/>
                  <a:gd name="connsiteY31" fmla="*/ 296835 h 1866625"/>
                  <a:gd name="connsiteX32" fmla="*/ 3758 w 1455401"/>
                  <a:gd name="connsiteY32" fmla="*/ 266488 h 1866625"/>
                  <a:gd name="connsiteX33" fmla="*/ 727700 w 1455401"/>
                  <a:gd name="connsiteY33"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1127733 h 1866625"/>
                  <a:gd name="connsiteX28" fmla="*/ 1 w 1455401"/>
                  <a:gd name="connsiteY28" fmla="*/ 296841 h 1866625"/>
                  <a:gd name="connsiteX29" fmla="*/ 0 w 1455401"/>
                  <a:gd name="connsiteY29" fmla="*/ 296838 h 1866625"/>
                  <a:gd name="connsiteX30" fmla="*/ 1 w 1455401"/>
                  <a:gd name="connsiteY30" fmla="*/ 296835 h 1866625"/>
                  <a:gd name="connsiteX31" fmla="*/ 3758 w 1455401"/>
                  <a:gd name="connsiteY31" fmla="*/ 266488 h 1866625"/>
                  <a:gd name="connsiteX32" fmla="*/ 727700 w 1455401"/>
                  <a:gd name="connsiteY32"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033050 h 1866625"/>
                  <a:gd name="connsiteX13" fmla="*/ 1434352 w 1455401"/>
                  <a:gd name="connsiteY13" fmla="*/ 1143359 h 1866625"/>
                  <a:gd name="connsiteX14" fmla="*/ 1439768 w 1455401"/>
                  <a:gd name="connsiteY14" fmla="*/ 1140834 h 1866625"/>
                  <a:gd name="connsiteX15" fmla="*/ 1455401 w 1455401"/>
                  <a:gd name="connsiteY15" fmla="*/ 1127732 h 1866625"/>
                  <a:gd name="connsiteX16" fmla="*/ 1455401 w 1455401"/>
                  <a:gd name="connsiteY16" fmla="*/ 1569784 h 1866625"/>
                  <a:gd name="connsiteX17" fmla="*/ 1455401 w 1455401"/>
                  <a:gd name="connsiteY17" fmla="*/ 1569787 h 1866625"/>
                  <a:gd name="connsiteX18" fmla="*/ 1455401 w 1455401"/>
                  <a:gd name="connsiteY18" fmla="*/ 1569790 h 1866625"/>
                  <a:gd name="connsiteX19" fmla="*/ 1455401 w 1455401"/>
                  <a:gd name="connsiteY19" fmla="*/ 1578767 h 1866625"/>
                  <a:gd name="connsiteX20" fmla="*/ 1454289 w 1455401"/>
                  <a:gd name="connsiteY20" fmla="*/ 1578767 h 1866625"/>
                  <a:gd name="connsiteX21" fmla="*/ 1451644 w 1455401"/>
                  <a:gd name="connsiteY21" fmla="*/ 1600137 h 1866625"/>
                  <a:gd name="connsiteX22" fmla="*/ 727701 w 1455401"/>
                  <a:gd name="connsiteY22" fmla="*/ 1866625 h 1866625"/>
                  <a:gd name="connsiteX23" fmla="*/ 3758 w 1455401"/>
                  <a:gd name="connsiteY23" fmla="*/ 1600137 h 1866625"/>
                  <a:gd name="connsiteX24" fmla="*/ 1113 w 1455401"/>
                  <a:gd name="connsiteY24" fmla="*/ 1578767 h 1866625"/>
                  <a:gd name="connsiteX25" fmla="*/ 1 w 1455401"/>
                  <a:gd name="connsiteY25" fmla="*/ 1578767 h 1866625"/>
                  <a:gd name="connsiteX26" fmla="*/ 1 w 1455401"/>
                  <a:gd name="connsiteY26" fmla="*/ 1569787 h 1866625"/>
                  <a:gd name="connsiteX27" fmla="*/ 1 w 1455401"/>
                  <a:gd name="connsiteY27" fmla="*/ 296841 h 1866625"/>
                  <a:gd name="connsiteX28" fmla="*/ 0 w 1455401"/>
                  <a:gd name="connsiteY28" fmla="*/ 296838 h 1866625"/>
                  <a:gd name="connsiteX29" fmla="*/ 1 w 1455401"/>
                  <a:gd name="connsiteY29" fmla="*/ 296835 h 1866625"/>
                  <a:gd name="connsiteX30" fmla="*/ 3758 w 1455401"/>
                  <a:gd name="connsiteY30" fmla="*/ 266488 h 1866625"/>
                  <a:gd name="connsiteX31" fmla="*/ 727700 w 1455401"/>
                  <a:gd name="connsiteY31"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9767 w 1455401"/>
                  <a:gd name="connsiteY11" fmla="*/ 1030526 h 1866625"/>
                  <a:gd name="connsiteX12" fmla="*/ 1434352 w 1455401"/>
                  <a:gd name="connsiteY12" fmla="*/ 1143359 h 1866625"/>
                  <a:gd name="connsiteX13" fmla="*/ 1439768 w 1455401"/>
                  <a:gd name="connsiteY13" fmla="*/ 1140834 h 1866625"/>
                  <a:gd name="connsiteX14" fmla="*/ 1455401 w 1455401"/>
                  <a:gd name="connsiteY14" fmla="*/ 1127732 h 1866625"/>
                  <a:gd name="connsiteX15" fmla="*/ 1455401 w 1455401"/>
                  <a:gd name="connsiteY15" fmla="*/ 1569784 h 1866625"/>
                  <a:gd name="connsiteX16" fmla="*/ 1455401 w 1455401"/>
                  <a:gd name="connsiteY16" fmla="*/ 1569787 h 1866625"/>
                  <a:gd name="connsiteX17" fmla="*/ 1455401 w 1455401"/>
                  <a:gd name="connsiteY17" fmla="*/ 1569790 h 1866625"/>
                  <a:gd name="connsiteX18" fmla="*/ 1455401 w 1455401"/>
                  <a:gd name="connsiteY18" fmla="*/ 1578767 h 1866625"/>
                  <a:gd name="connsiteX19" fmla="*/ 1454289 w 1455401"/>
                  <a:gd name="connsiteY19" fmla="*/ 1578767 h 1866625"/>
                  <a:gd name="connsiteX20" fmla="*/ 1451644 w 1455401"/>
                  <a:gd name="connsiteY20" fmla="*/ 1600137 h 1866625"/>
                  <a:gd name="connsiteX21" fmla="*/ 727701 w 1455401"/>
                  <a:gd name="connsiteY21" fmla="*/ 1866625 h 1866625"/>
                  <a:gd name="connsiteX22" fmla="*/ 3758 w 1455401"/>
                  <a:gd name="connsiteY22" fmla="*/ 1600137 h 1866625"/>
                  <a:gd name="connsiteX23" fmla="*/ 1113 w 1455401"/>
                  <a:gd name="connsiteY23" fmla="*/ 1578767 h 1866625"/>
                  <a:gd name="connsiteX24" fmla="*/ 1 w 1455401"/>
                  <a:gd name="connsiteY24" fmla="*/ 1578767 h 1866625"/>
                  <a:gd name="connsiteX25" fmla="*/ 1 w 1455401"/>
                  <a:gd name="connsiteY25" fmla="*/ 1569787 h 1866625"/>
                  <a:gd name="connsiteX26" fmla="*/ 1 w 1455401"/>
                  <a:gd name="connsiteY26" fmla="*/ 296841 h 1866625"/>
                  <a:gd name="connsiteX27" fmla="*/ 0 w 1455401"/>
                  <a:gd name="connsiteY27" fmla="*/ 296838 h 1866625"/>
                  <a:gd name="connsiteX28" fmla="*/ 1 w 1455401"/>
                  <a:gd name="connsiteY28" fmla="*/ 296835 h 1866625"/>
                  <a:gd name="connsiteX29" fmla="*/ 3758 w 1455401"/>
                  <a:gd name="connsiteY29" fmla="*/ 266488 h 1866625"/>
                  <a:gd name="connsiteX30" fmla="*/ 727700 w 1455401"/>
                  <a:gd name="connsiteY30"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017423 h 1866625"/>
                  <a:gd name="connsiteX11" fmla="*/ 1434352 w 1455401"/>
                  <a:gd name="connsiteY11" fmla="*/ 1143359 h 1866625"/>
                  <a:gd name="connsiteX12" fmla="*/ 1439768 w 1455401"/>
                  <a:gd name="connsiteY12" fmla="*/ 1140834 h 1866625"/>
                  <a:gd name="connsiteX13" fmla="*/ 1455401 w 1455401"/>
                  <a:gd name="connsiteY13" fmla="*/ 1127732 h 1866625"/>
                  <a:gd name="connsiteX14" fmla="*/ 1455401 w 1455401"/>
                  <a:gd name="connsiteY14" fmla="*/ 1569784 h 1866625"/>
                  <a:gd name="connsiteX15" fmla="*/ 1455401 w 1455401"/>
                  <a:gd name="connsiteY15" fmla="*/ 1569787 h 1866625"/>
                  <a:gd name="connsiteX16" fmla="*/ 1455401 w 1455401"/>
                  <a:gd name="connsiteY16" fmla="*/ 1569790 h 1866625"/>
                  <a:gd name="connsiteX17" fmla="*/ 1455401 w 1455401"/>
                  <a:gd name="connsiteY17" fmla="*/ 1578767 h 1866625"/>
                  <a:gd name="connsiteX18" fmla="*/ 1454289 w 1455401"/>
                  <a:gd name="connsiteY18" fmla="*/ 1578767 h 1866625"/>
                  <a:gd name="connsiteX19" fmla="*/ 1451644 w 1455401"/>
                  <a:gd name="connsiteY19" fmla="*/ 1600137 h 1866625"/>
                  <a:gd name="connsiteX20" fmla="*/ 727701 w 1455401"/>
                  <a:gd name="connsiteY20" fmla="*/ 1866625 h 1866625"/>
                  <a:gd name="connsiteX21" fmla="*/ 3758 w 1455401"/>
                  <a:gd name="connsiteY21" fmla="*/ 1600137 h 1866625"/>
                  <a:gd name="connsiteX22" fmla="*/ 1113 w 1455401"/>
                  <a:gd name="connsiteY22" fmla="*/ 1578767 h 1866625"/>
                  <a:gd name="connsiteX23" fmla="*/ 1 w 1455401"/>
                  <a:gd name="connsiteY23" fmla="*/ 1578767 h 1866625"/>
                  <a:gd name="connsiteX24" fmla="*/ 1 w 1455401"/>
                  <a:gd name="connsiteY24" fmla="*/ 1569787 h 1866625"/>
                  <a:gd name="connsiteX25" fmla="*/ 1 w 1455401"/>
                  <a:gd name="connsiteY25" fmla="*/ 296841 h 1866625"/>
                  <a:gd name="connsiteX26" fmla="*/ 0 w 1455401"/>
                  <a:gd name="connsiteY26" fmla="*/ 296838 h 1866625"/>
                  <a:gd name="connsiteX27" fmla="*/ 1 w 1455401"/>
                  <a:gd name="connsiteY27" fmla="*/ 296835 h 1866625"/>
                  <a:gd name="connsiteX28" fmla="*/ 3758 w 1455401"/>
                  <a:gd name="connsiteY28" fmla="*/ 266488 h 1866625"/>
                  <a:gd name="connsiteX29" fmla="*/ 727700 w 1455401"/>
                  <a:gd name="connsiteY29"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34352 w 1455401"/>
                  <a:gd name="connsiteY10" fmla="*/ 1143359 h 1866625"/>
                  <a:gd name="connsiteX11" fmla="*/ 1439768 w 1455401"/>
                  <a:gd name="connsiteY11" fmla="*/ 1140834 h 1866625"/>
                  <a:gd name="connsiteX12" fmla="*/ 1455401 w 1455401"/>
                  <a:gd name="connsiteY12" fmla="*/ 1127732 h 1866625"/>
                  <a:gd name="connsiteX13" fmla="*/ 1455401 w 1455401"/>
                  <a:gd name="connsiteY13" fmla="*/ 1569784 h 1866625"/>
                  <a:gd name="connsiteX14" fmla="*/ 1455401 w 1455401"/>
                  <a:gd name="connsiteY14" fmla="*/ 1569787 h 1866625"/>
                  <a:gd name="connsiteX15" fmla="*/ 1455401 w 1455401"/>
                  <a:gd name="connsiteY15" fmla="*/ 1569790 h 1866625"/>
                  <a:gd name="connsiteX16" fmla="*/ 1455401 w 1455401"/>
                  <a:gd name="connsiteY16" fmla="*/ 1578767 h 1866625"/>
                  <a:gd name="connsiteX17" fmla="*/ 1454289 w 1455401"/>
                  <a:gd name="connsiteY17" fmla="*/ 1578767 h 1866625"/>
                  <a:gd name="connsiteX18" fmla="*/ 1451644 w 1455401"/>
                  <a:gd name="connsiteY18" fmla="*/ 1600137 h 1866625"/>
                  <a:gd name="connsiteX19" fmla="*/ 727701 w 1455401"/>
                  <a:gd name="connsiteY19" fmla="*/ 1866625 h 1866625"/>
                  <a:gd name="connsiteX20" fmla="*/ 3758 w 1455401"/>
                  <a:gd name="connsiteY20" fmla="*/ 1600137 h 1866625"/>
                  <a:gd name="connsiteX21" fmla="*/ 1113 w 1455401"/>
                  <a:gd name="connsiteY21" fmla="*/ 1578767 h 1866625"/>
                  <a:gd name="connsiteX22" fmla="*/ 1 w 1455401"/>
                  <a:gd name="connsiteY22" fmla="*/ 1578767 h 1866625"/>
                  <a:gd name="connsiteX23" fmla="*/ 1 w 1455401"/>
                  <a:gd name="connsiteY23" fmla="*/ 1569787 h 1866625"/>
                  <a:gd name="connsiteX24" fmla="*/ 1 w 1455401"/>
                  <a:gd name="connsiteY24" fmla="*/ 296841 h 1866625"/>
                  <a:gd name="connsiteX25" fmla="*/ 0 w 1455401"/>
                  <a:gd name="connsiteY25" fmla="*/ 296838 h 1866625"/>
                  <a:gd name="connsiteX26" fmla="*/ 1 w 1455401"/>
                  <a:gd name="connsiteY26" fmla="*/ 296835 h 1866625"/>
                  <a:gd name="connsiteX27" fmla="*/ 3758 w 1455401"/>
                  <a:gd name="connsiteY27" fmla="*/ 266488 h 1866625"/>
                  <a:gd name="connsiteX28" fmla="*/ 727700 w 1455401"/>
                  <a:gd name="connsiteY28"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34352 w 1455401"/>
                  <a:gd name="connsiteY10" fmla="*/ 1143359 h 1866625"/>
                  <a:gd name="connsiteX11" fmla="*/ 1439768 w 1455401"/>
                  <a:gd name="connsiteY11" fmla="*/ 1140834 h 1866625"/>
                  <a:gd name="connsiteX12" fmla="*/ 1455401 w 1455401"/>
                  <a:gd name="connsiteY12" fmla="*/ 1569784 h 1866625"/>
                  <a:gd name="connsiteX13" fmla="*/ 1455401 w 1455401"/>
                  <a:gd name="connsiteY13" fmla="*/ 1569787 h 1866625"/>
                  <a:gd name="connsiteX14" fmla="*/ 1455401 w 1455401"/>
                  <a:gd name="connsiteY14" fmla="*/ 1569790 h 1866625"/>
                  <a:gd name="connsiteX15" fmla="*/ 1455401 w 1455401"/>
                  <a:gd name="connsiteY15" fmla="*/ 1578767 h 1866625"/>
                  <a:gd name="connsiteX16" fmla="*/ 1454289 w 1455401"/>
                  <a:gd name="connsiteY16" fmla="*/ 1578767 h 1866625"/>
                  <a:gd name="connsiteX17" fmla="*/ 1451644 w 1455401"/>
                  <a:gd name="connsiteY17" fmla="*/ 1600137 h 1866625"/>
                  <a:gd name="connsiteX18" fmla="*/ 727701 w 1455401"/>
                  <a:gd name="connsiteY18" fmla="*/ 1866625 h 1866625"/>
                  <a:gd name="connsiteX19" fmla="*/ 3758 w 1455401"/>
                  <a:gd name="connsiteY19" fmla="*/ 1600137 h 1866625"/>
                  <a:gd name="connsiteX20" fmla="*/ 1113 w 1455401"/>
                  <a:gd name="connsiteY20" fmla="*/ 1578767 h 1866625"/>
                  <a:gd name="connsiteX21" fmla="*/ 1 w 1455401"/>
                  <a:gd name="connsiteY21" fmla="*/ 1578767 h 1866625"/>
                  <a:gd name="connsiteX22" fmla="*/ 1 w 1455401"/>
                  <a:gd name="connsiteY22" fmla="*/ 1569787 h 1866625"/>
                  <a:gd name="connsiteX23" fmla="*/ 1 w 1455401"/>
                  <a:gd name="connsiteY23" fmla="*/ 296841 h 1866625"/>
                  <a:gd name="connsiteX24" fmla="*/ 0 w 1455401"/>
                  <a:gd name="connsiteY24" fmla="*/ 296838 h 1866625"/>
                  <a:gd name="connsiteX25" fmla="*/ 1 w 1455401"/>
                  <a:gd name="connsiteY25" fmla="*/ 296835 h 1866625"/>
                  <a:gd name="connsiteX26" fmla="*/ 3758 w 1455401"/>
                  <a:gd name="connsiteY26" fmla="*/ 266488 h 1866625"/>
                  <a:gd name="connsiteX27" fmla="*/ 727700 w 1455401"/>
                  <a:gd name="connsiteY27"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34352 w 1455401"/>
                  <a:gd name="connsiteY10" fmla="*/ 1143359 h 1866625"/>
                  <a:gd name="connsiteX11" fmla="*/ 1455401 w 1455401"/>
                  <a:gd name="connsiteY11" fmla="*/ 1569784 h 1866625"/>
                  <a:gd name="connsiteX12" fmla="*/ 1455401 w 1455401"/>
                  <a:gd name="connsiteY12" fmla="*/ 1569787 h 1866625"/>
                  <a:gd name="connsiteX13" fmla="*/ 1455401 w 1455401"/>
                  <a:gd name="connsiteY13" fmla="*/ 1569790 h 1866625"/>
                  <a:gd name="connsiteX14" fmla="*/ 1455401 w 1455401"/>
                  <a:gd name="connsiteY14" fmla="*/ 1578767 h 1866625"/>
                  <a:gd name="connsiteX15" fmla="*/ 1454289 w 1455401"/>
                  <a:gd name="connsiteY15" fmla="*/ 1578767 h 1866625"/>
                  <a:gd name="connsiteX16" fmla="*/ 1451644 w 1455401"/>
                  <a:gd name="connsiteY16" fmla="*/ 1600137 h 1866625"/>
                  <a:gd name="connsiteX17" fmla="*/ 727701 w 1455401"/>
                  <a:gd name="connsiteY17" fmla="*/ 1866625 h 1866625"/>
                  <a:gd name="connsiteX18" fmla="*/ 3758 w 1455401"/>
                  <a:gd name="connsiteY18" fmla="*/ 1600137 h 1866625"/>
                  <a:gd name="connsiteX19" fmla="*/ 1113 w 1455401"/>
                  <a:gd name="connsiteY19" fmla="*/ 1578767 h 1866625"/>
                  <a:gd name="connsiteX20" fmla="*/ 1 w 1455401"/>
                  <a:gd name="connsiteY20" fmla="*/ 1578767 h 1866625"/>
                  <a:gd name="connsiteX21" fmla="*/ 1 w 1455401"/>
                  <a:gd name="connsiteY21" fmla="*/ 1569787 h 1866625"/>
                  <a:gd name="connsiteX22" fmla="*/ 1 w 1455401"/>
                  <a:gd name="connsiteY22" fmla="*/ 296841 h 1866625"/>
                  <a:gd name="connsiteX23" fmla="*/ 0 w 1455401"/>
                  <a:gd name="connsiteY23" fmla="*/ 296838 h 1866625"/>
                  <a:gd name="connsiteX24" fmla="*/ 1 w 1455401"/>
                  <a:gd name="connsiteY24" fmla="*/ 296835 h 1866625"/>
                  <a:gd name="connsiteX25" fmla="*/ 3758 w 1455401"/>
                  <a:gd name="connsiteY25" fmla="*/ 266488 h 1866625"/>
                  <a:gd name="connsiteX26" fmla="*/ 727700 w 1455401"/>
                  <a:gd name="connsiteY26" fmla="*/ 0 h 1866625"/>
                  <a:gd name="connsiteX0" fmla="*/ 727701 w 1455401"/>
                  <a:gd name="connsiteY0" fmla="*/ 107085 h 1866625"/>
                  <a:gd name="connsiteX1" fmla="*/ 225411 w 1455401"/>
                  <a:gd name="connsiteY1" fmla="*/ 254506 h 1866625"/>
                  <a:gd name="connsiteX2" fmla="*/ 727701 w 1455401"/>
                  <a:gd name="connsiteY2" fmla="*/ 401926 h 1866625"/>
                  <a:gd name="connsiteX3" fmla="*/ 1229991 w 1455401"/>
                  <a:gd name="connsiteY3" fmla="*/ 254506 h 1866625"/>
                  <a:gd name="connsiteX4" fmla="*/ 727701 w 1455401"/>
                  <a:gd name="connsiteY4" fmla="*/ 107085 h 1866625"/>
                  <a:gd name="connsiteX5" fmla="*/ 727700 w 1455401"/>
                  <a:gd name="connsiteY5" fmla="*/ 0 h 1866625"/>
                  <a:gd name="connsiteX6" fmla="*/ 1451644 w 1455401"/>
                  <a:gd name="connsiteY6" fmla="*/ 266488 h 1866625"/>
                  <a:gd name="connsiteX7" fmla="*/ 1454289 w 1455401"/>
                  <a:gd name="connsiteY7" fmla="*/ 287858 h 1866625"/>
                  <a:gd name="connsiteX8" fmla="*/ 1455400 w 1455401"/>
                  <a:gd name="connsiteY8" fmla="*/ 287858 h 1866625"/>
                  <a:gd name="connsiteX9" fmla="*/ 1455400 w 1455401"/>
                  <a:gd name="connsiteY9" fmla="*/ 296838 h 1866625"/>
                  <a:gd name="connsiteX10" fmla="*/ 1455401 w 1455401"/>
                  <a:gd name="connsiteY10" fmla="*/ 1569784 h 1866625"/>
                  <a:gd name="connsiteX11" fmla="*/ 1455401 w 1455401"/>
                  <a:gd name="connsiteY11" fmla="*/ 1569787 h 1866625"/>
                  <a:gd name="connsiteX12" fmla="*/ 1455401 w 1455401"/>
                  <a:gd name="connsiteY12" fmla="*/ 1569790 h 1866625"/>
                  <a:gd name="connsiteX13" fmla="*/ 1455401 w 1455401"/>
                  <a:gd name="connsiteY13" fmla="*/ 1578767 h 1866625"/>
                  <a:gd name="connsiteX14" fmla="*/ 1454289 w 1455401"/>
                  <a:gd name="connsiteY14" fmla="*/ 1578767 h 1866625"/>
                  <a:gd name="connsiteX15" fmla="*/ 1451644 w 1455401"/>
                  <a:gd name="connsiteY15" fmla="*/ 1600137 h 1866625"/>
                  <a:gd name="connsiteX16" fmla="*/ 727701 w 1455401"/>
                  <a:gd name="connsiteY16" fmla="*/ 1866625 h 1866625"/>
                  <a:gd name="connsiteX17" fmla="*/ 3758 w 1455401"/>
                  <a:gd name="connsiteY17" fmla="*/ 1600137 h 1866625"/>
                  <a:gd name="connsiteX18" fmla="*/ 1113 w 1455401"/>
                  <a:gd name="connsiteY18" fmla="*/ 1578767 h 1866625"/>
                  <a:gd name="connsiteX19" fmla="*/ 1 w 1455401"/>
                  <a:gd name="connsiteY19" fmla="*/ 1578767 h 1866625"/>
                  <a:gd name="connsiteX20" fmla="*/ 1 w 1455401"/>
                  <a:gd name="connsiteY20" fmla="*/ 1569787 h 1866625"/>
                  <a:gd name="connsiteX21" fmla="*/ 1 w 1455401"/>
                  <a:gd name="connsiteY21" fmla="*/ 296841 h 1866625"/>
                  <a:gd name="connsiteX22" fmla="*/ 0 w 1455401"/>
                  <a:gd name="connsiteY22" fmla="*/ 296838 h 1866625"/>
                  <a:gd name="connsiteX23" fmla="*/ 1 w 1455401"/>
                  <a:gd name="connsiteY23" fmla="*/ 296835 h 1866625"/>
                  <a:gd name="connsiteX24" fmla="*/ 3758 w 1455401"/>
                  <a:gd name="connsiteY24" fmla="*/ 266488 h 1866625"/>
                  <a:gd name="connsiteX25" fmla="*/ 727700 w 1455401"/>
                  <a:gd name="connsiteY25" fmla="*/ 0 h 186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55401" h="1866625">
                    <a:moveTo>
                      <a:pt x="727701" y="107085"/>
                    </a:moveTo>
                    <a:cubicBezTo>
                      <a:pt x="450294" y="107085"/>
                      <a:pt x="225411" y="173087"/>
                      <a:pt x="225411" y="254506"/>
                    </a:cubicBezTo>
                    <a:cubicBezTo>
                      <a:pt x="225411" y="335924"/>
                      <a:pt x="450294" y="401926"/>
                      <a:pt x="727701" y="401926"/>
                    </a:cubicBezTo>
                    <a:cubicBezTo>
                      <a:pt x="1005108" y="401926"/>
                      <a:pt x="1229991" y="335924"/>
                      <a:pt x="1229991" y="254506"/>
                    </a:cubicBezTo>
                    <a:cubicBezTo>
                      <a:pt x="1229991" y="173087"/>
                      <a:pt x="1005108" y="107085"/>
                      <a:pt x="727701" y="107085"/>
                    </a:cubicBezTo>
                    <a:close/>
                    <a:moveTo>
                      <a:pt x="727700" y="0"/>
                    </a:moveTo>
                    <a:cubicBezTo>
                      <a:pt x="1104479" y="0"/>
                      <a:pt x="1414378" y="116806"/>
                      <a:pt x="1451644" y="266488"/>
                    </a:cubicBezTo>
                    <a:lnTo>
                      <a:pt x="1454289" y="287858"/>
                    </a:lnTo>
                    <a:lnTo>
                      <a:pt x="1455400" y="287858"/>
                    </a:lnTo>
                    <a:lnTo>
                      <a:pt x="1455400" y="296838"/>
                    </a:lnTo>
                    <a:cubicBezTo>
                      <a:pt x="1455400" y="510492"/>
                      <a:pt x="1455401" y="1357626"/>
                      <a:pt x="1455401" y="1569784"/>
                    </a:cubicBezTo>
                    <a:lnTo>
                      <a:pt x="1455401" y="1569787"/>
                    </a:lnTo>
                    <a:lnTo>
                      <a:pt x="1455401" y="1569790"/>
                    </a:lnTo>
                    <a:lnTo>
                      <a:pt x="1455401" y="1578767"/>
                    </a:lnTo>
                    <a:lnTo>
                      <a:pt x="1454289" y="1578767"/>
                    </a:lnTo>
                    <a:lnTo>
                      <a:pt x="1451644" y="1600137"/>
                    </a:lnTo>
                    <a:cubicBezTo>
                      <a:pt x="1414379" y="1749819"/>
                      <a:pt x="1104480" y="1866625"/>
                      <a:pt x="727701" y="1866625"/>
                    </a:cubicBezTo>
                    <a:cubicBezTo>
                      <a:pt x="350922" y="1866625"/>
                      <a:pt x="41024" y="1749819"/>
                      <a:pt x="3758" y="1600137"/>
                    </a:cubicBezTo>
                    <a:lnTo>
                      <a:pt x="1113" y="1578767"/>
                    </a:lnTo>
                    <a:lnTo>
                      <a:pt x="1" y="1578767"/>
                    </a:lnTo>
                    <a:lnTo>
                      <a:pt x="1" y="1569787"/>
                    </a:lnTo>
                    <a:lnTo>
                      <a:pt x="1" y="296841"/>
                    </a:lnTo>
                    <a:cubicBezTo>
                      <a:pt x="1" y="158359"/>
                      <a:pt x="0" y="296839"/>
                      <a:pt x="0" y="296838"/>
                    </a:cubicBezTo>
                    <a:cubicBezTo>
                      <a:pt x="0" y="296837"/>
                      <a:pt x="1" y="296836"/>
                      <a:pt x="1" y="296835"/>
                    </a:cubicBezTo>
                    <a:lnTo>
                      <a:pt x="3758" y="266488"/>
                    </a:lnTo>
                    <a:cubicBezTo>
                      <a:pt x="41023" y="116806"/>
                      <a:pt x="350921" y="0"/>
                      <a:pt x="727700" y="0"/>
                    </a:cubicBez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1" name="Freeform 146">
                <a:extLst>
                  <a:ext uri="{FF2B5EF4-FFF2-40B4-BE49-F238E27FC236}">
                    <a16:creationId xmlns:a16="http://schemas.microsoft.com/office/drawing/2014/main" id="{69E9193E-BC28-49E9-8A1E-C9CE24DE4BF5}"/>
                  </a:ext>
                </a:extLst>
              </p:cNvPr>
              <p:cNvSpPr>
                <a:spLocks noChangeAspect="1"/>
              </p:cNvSpPr>
              <p:nvPr/>
            </p:nvSpPr>
            <p:spPr bwMode="auto">
              <a:xfrm>
                <a:off x="6690034" y="1281804"/>
                <a:ext cx="871912" cy="552190"/>
              </a:xfrm>
              <a:custGeom>
                <a:avLst/>
                <a:gdLst>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246680 w 878349"/>
                  <a:gd name="connsiteY17" fmla="*/ 161619 h 545581"/>
                  <a:gd name="connsiteX18" fmla="*/ 490507 w 878349"/>
                  <a:gd name="connsiteY18"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12 h 545593"/>
                  <a:gd name="connsiteX1" fmla="*/ 755129 w 878349"/>
                  <a:gd name="connsiteY1" fmla="*/ 264634 h 545593"/>
                  <a:gd name="connsiteX2" fmla="*/ 753041 w 878349"/>
                  <a:gd name="connsiteY2" fmla="*/ 285343 h 545593"/>
                  <a:gd name="connsiteX3" fmla="*/ 798544 w 878349"/>
                  <a:gd name="connsiteY3" fmla="*/ 294530 h 545593"/>
                  <a:gd name="connsiteX4" fmla="*/ 878349 w 878349"/>
                  <a:gd name="connsiteY4" fmla="*/ 414927 h 545593"/>
                  <a:gd name="connsiteX5" fmla="*/ 798544 w 878349"/>
                  <a:gd name="connsiteY5" fmla="*/ 535325 h 545593"/>
                  <a:gd name="connsiteX6" fmla="*/ 759827 w 878349"/>
                  <a:gd name="connsiteY6" fmla="*/ 543141 h 545593"/>
                  <a:gd name="connsiteX7" fmla="*/ 753908 w 878349"/>
                  <a:gd name="connsiteY7" fmla="*/ 545593 h 545593"/>
                  <a:gd name="connsiteX8" fmla="*/ 747683 w 878349"/>
                  <a:gd name="connsiteY8" fmla="*/ 545593 h 545593"/>
                  <a:gd name="connsiteX9" fmla="*/ 190471 w 878349"/>
                  <a:gd name="connsiteY9" fmla="*/ 545593 h 545593"/>
                  <a:gd name="connsiteX10" fmla="*/ 166602 w 878349"/>
                  <a:gd name="connsiteY10" fmla="*/ 545593 h 545593"/>
                  <a:gd name="connsiteX11" fmla="*/ 158924 w 878349"/>
                  <a:gd name="connsiteY11" fmla="*/ 542413 h 545593"/>
                  <a:gd name="connsiteX12" fmla="*/ 152084 w 878349"/>
                  <a:gd name="connsiteY12" fmla="*/ 541724 h 545593"/>
                  <a:gd name="connsiteX13" fmla="*/ 0 w 878349"/>
                  <a:gd name="connsiteY13" fmla="*/ 355122 h 545593"/>
                  <a:gd name="connsiteX14" fmla="*/ 190471 w 878349"/>
                  <a:gd name="connsiteY14" fmla="*/ 164651 h 545593"/>
                  <a:gd name="connsiteX15" fmla="*/ 228858 w 878349"/>
                  <a:gd name="connsiteY15" fmla="*/ 168521 h 545593"/>
                  <a:gd name="connsiteX16" fmla="*/ 244320 w 878349"/>
                  <a:gd name="connsiteY16" fmla="*/ 173321 h 545593"/>
                  <a:gd name="connsiteX17" fmla="*/ 490507 w 878349"/>
                  <a:gd name="connsiteY17" fmla="*/ 12 h 545593"/>
                  <a:gd name="connsiteX0" fmla="*/ 490507 w 878349"/>
                  <a:gd name="connsiteY0" fmla="*/ 13 h 545594"/>
                  <a:gd name="connsiteX1" fmla="*/ 755129 w 878349"/>
                  <a:gd name="connsiteY1" fmla="*/ 264635 h 545594"/>
                  <a:gd name="connsiteX2" fmla="*/ 753041 w 878349"/>
                  <a:gd name="connsiteY2" fmla="*/ 285344 h 545594"/>
                  <a:gd name="connsiteX3" fmla="*/ 798544 w 878349"/>
                  <a:gd name="connsiteY3" fmla="*/ 294531 h 545594"/>
                  <a:gd name="connsiteX4" fmla="*/ 878349 w 878349"/>
                  <a:gd name="connsiteY4" fmla="*/ 414928 h 545594"/>
                  <a:gd name="connsiteX5" fmla="*/ 798544 w 878349"/>
                  <a:gd name="connsiteY5" fmla="*/ 535326 h 545594"/>
                  <a:gd name="connsiteX6" fmla="*/ 759827 w 878349"/>
                  <a:gd name="connsiteY6" fmla="*/ 543142 h 545594"/>
                  <a:gd name="connsiteX7" fmla="*/ 753908 w 878349"/>
                  <a:gd name="connsiteY7" fmla="*/ 545594 h 545594"/>
                  <a:gd name="connsiteX8" fmla="*/ 747683 w 878349"/>
                  <a:gd name="connsiteY8" fmla="*/ 545594 h 545594"/>
                  <a:gd name="connsiteX9" fmla="*/ 190471 w 878349"/>
                  <a:gd name="connsiteY9" fmla="*/ 545594 h 545594"/>
                  <a:gd name="connsiteX10" fmla="*/ 166602 w 878349"/>
                  <a:gd name="connsiteY10" fmla="*/ 545594 h 545594"/>
                  <a:gd name="connsiteX11" fmla="*/ 158924 w 878349"/>
                  <a:gd name="connsiteY11" fmla="*/ 542414 h 545594"/>
                  <a:gd name="connsiteX12" fmla="*/ 152084 w 878349"/>
                  <a:gd name="connsiteY12" fmla="*/ 541725 h 545594"/>
                  <a:gd name="connsiteX13" fmla="*/ 0 w 878349"/>
                  <a:gd name="connsiteY13" fmla="*/ 355123 h 545594"/>
                  <a:gd name="connsiteX14" fmla="*/ 190471 w 878349"/>
                  <a:gd name="connsiteY14" fmla="*/ 164652 h 545594"/>
                  <a:gd name="connsiteX15" fmla="*/ 228858 w 878349"/>
                  <a:gd name="connsiteY15" fmla="*/ 168522 h 545594"/>
                  <a:gd name="connsiteX16" fmla="*/ 244320 w 878349"/>
                  <a:gd name="connsiteY16" fmla="*/ 173322 h 545594"/>
                  <a:gd name="connsiteX17" fmla="*/ 490507 w 878349"/>
                  <a:gd name="connsiteY17" fmla="*/ 13 h 545594"/>
                  <a:gd name="connsiteX0" fmla="*/ 490507 w 878349"/>
                  <a:gd name="connsiteY0" fmla="*/ 471 h 546052"/>
                  <a:gd name="connsiteX1" fmla="*/ 755129 w 878349"/>
                  <a:gd name="connsiteY1" fmla="*/ 265093 h 546052"/>
                  <a:gd name="connsiteX2" fmla="*/ 753041 w 878349"/>
                  <a:gd name="connsiteY2" fmla="*/ 285802 h 546052"/>
                  <a:gd name="connsiteX3" fmla="*/ 798544 w 878349"/>
                  <a:gd name="connsiteY3" fmla="*/ 294989 h 546052"/>
                  <a:gd name="connsiteX4" fmla="*/ 878349 w 878349"/>
                  <a:gd name="connsiteY4" fmla="*/ 415386 h 546052"/>
                  <a:gd name="connsiteX5" fmla="*/ 798544 w 878349"/>
                  <a:gd name="connsiteY5" fmla="*/ 535784 h 546052"/>
                  <a:gd name="connsiteX6" fmla="*/ 759827 w 878349"/>
                  <a:gd name="connsiteY6" fmla="*/ 543600 h 546052"/>
                  <a:gd name="connsiteX7" fmla="*/ 753908 w 878349"/>
                  <a:gd name="connsiteY7" fmla="*/ 546052 h 546052"/>
                  <a:gd name="connsiteX8" fmla="*/ 747683 w 878349"/>
                  <a:gd name="connsiteY8" fmla="*/ 546052 h 546052"/>
                  <a:gd name="connsiteX9" fmla="*/ 190471 w 878349"/>
                  <a:gd name="connsiteY9" fmla="*/ 546052 h 546052"/>
                  <a:gd name="connsiteX10" fmla="*/ 166602 w 878349"/>
                  <a:gd name="connsiteY10" fmla="*/ 546052 h 546052"/>
                  <a:gd name="connsiteX11" fmla="*/ 158924 w 878349"/>
                  <a:gd name="connsiteY11" fmla="*/ 542872 h 546052"/>
                  <a:gd name="connsiteX12" fmla="*/ 152084 w 878349"/>
                  <a:gd name="connsiteY12" fmla="*/ 542183 h 546052"/>
                  <a:gd name="connsiteX13" fmla="*/ 0 w 878349"/>
                  <a:gd name="connsiteY13" fmla="*/ 355581 h 546052"/>
                  <a:gd name="connsiteX14" fmla="*/ 190471 w 878349"/>
                  <a:gd name="connsiteY14" fmla="*/ 165110 h 546052"/>
                  <a:gd name="connsiteX15" fmla="*/ 228858 w 878349"/>
                  <a:gd name="connsiteY15" fmla="*/ 168980 h 546052"/>
                  <a:gd name="connsiteX16" fmla="*/ 244320 w 878349"/>
                  <a:gd name="connsiteY16" fmla="*/ 173780 h 546052"/>
                  <a:gd name="connsiteX17" fmla="*/ 490507 w 878349"/>
                  <a:gd name="connsiteY17" fmla="*/ 471 h 546052"/>
                  <a:gd name="connsiteX0" fmla="*/ 490507 w 878349"/>
                  <a:gd name="connsiteY0" fmla="*/ 2380 h 547961"/>
                  <a:gd name="connsiteX1" fmla="*/ 753041 w 878349"/>
                  <a:gd name="connsiteY1" fmla="*/ 287711 h 547961"/>
                  <a:gd name="connsiteX2" fmla="*/ 798544 w 878349"/>
                  <a:gd name="connsiteY2" fmla="*/ 296898 h 547961"/>
                  <a:gd name="connsiteX3" fmla="*/ 878349 w 878349"/>
                  <a:gd name="connsiteY3" fmla="*/ 417295 h 547961"/>
                  <a:gd name="connsiteX4" fmla="*/ 798544 w 878349"/>
                  <a:gd name="connsiteY4" fmla="*/ 537693 h 547961"/>
                  <a:gd name="connsiteX5" fmla="*/ 759827 w 878349"/>
                  <a:gd name="connsiteY5" fmla="*/ 545509 h 547961"/>
                  <a:gd name="connsiteX6" fmla="*/ 753908 w 878349"/>
                  <a:gd name="connsiteY6" fmla="*/ 547961 h 547961"/>
                  <a:gd name="connsiteX7" fmla="*/ 747683 w 878349"/>
                  <a:gd name="connsiteY7" fmla="*/ 547961 h 547961"/>
                  <a:gd name="connsiteX8" fmla="*/ 190471 w 878349"/>
                  <a:gd name="connsiteY8" fmla="*/ 547961 h 547961"/>
                  <a:gd name="connsiteX9" fmla="*/ 166602 w 878349"/>
                  <a:gd name="connsiteY9" fmla="*/ 547961 h 547961"/>
                  <a:gd name="connsiteX10" fmla="*/ 158924 w 878349"/>
                  <a:gd name="connsiteY10" fmla="*/ 544781 h 547961"/>
                  <a:gd name="connsiteX11" fmla="*/ 152084 w 878349"/>
                  <a:gd name="connsiteY11" fmla="*/ 544092 h 547961"/>
                  <a:gd name="connsiteX12" fmla="*/ 0 w 878349"/>
                  <a:gd name="connsiteY12" fmla="*/ 357490 h 547961"/>
                  <a:gd name="connsiteX13" fmla="*/ 190471 w 878349"/>
                  <a:gd name="connsiteY13" fmla="*/ 167019 h 547961"/>
                  <a:gd name="connsiteX14" fmla="*/ 228858 w 878349"/>
                  <a:gd name="connsiteY14" fmla="*/ 170889 h 547961"/>
                  <a:gd name="connsiteX15" fmla="*/ 244320 w 878349"/>
                  <a:gd name="connsiteY15" fmla="*/ 175689 h 547961"/>
                  <a:gd name="connsiteX16" fmla="*/ 490507 w 878349"/>
                  <a:gd name="connsiteY16" fmla="*/ 2380 h 547961"/>
                  <a:gd name="connsiteX0" fmla="*/ 490507 w 878349"/>
                  <a:gd name="connsiteY0" fmla="*/ 30 h 545611"/>
                  <a:gd name="connsiteX1" fmla="*/ 753041 w 878349"/>
                  <a:gd name="connsiteY1" fmla="*/ 285361 h 545611"/>
                  <a:gd name="connsiteX2" fmla="*/ 798544 w 878349"/>
                  <a:gd name="connsiteY2" fmla="*/ 294548 h 545611"/>
                  <a:gd name="connsiteX3" fmla="*/ 878349 w 878349"/>
                  <a:gd name="connsiteY3" fmla="*/ 414945 h 545611"/>
                  <a:gd name="connsiteX4" fmla="*/ 798544 w 878349"/>
                  <a:gd name="connsiteY4" fmla="*/ 535343 h 545611"/>
                  <a:gd name="connsiteX5" fmla="*/ 759827 w 878349"/>
                  <a:gd name="connsiteY5" fmla="*/ 543159 h 545611"/>
                  <a:gd name="connsiteX6" fmla="*/ 753908 w 878349"/>
                  <a:gd name="connsiteY6" fmla="*/ 545611 h 545611"/>
                  <a:gd name="connsiteX7" fmla="*/ 747683 w 878349"/>
                  <a:gd name="connsiteY7" fmla="*/ 545611 h 545611"/>
                  <a:gd name="connsiteX8" fmla="*/ 190471 w 878349"/>
                  <a:gd name="connsiteY8" fmla="*/ 545611 h 545611"/>
                  <a:gd name="connsiteX9" fmla="*/ 166602 w 878349"/>
                  <a:gd name="connsiteY9" fmla="*/ 545611 h 545611"/>
                  <a:gd name="connsiteX10" fmla="*/ 158924 w 878349"/>
                  <a:gd name="connsiteY10" fmla="*/ 542431 h 545611"/>
                  <a:gd name="connsiteX11" fmla="*/ 152084 w 878349"/>
                  <a:gd name="connsiteY11" fmla="*/ 541742 h 545611"/>
                  <a:gd name="connsiteX12" fmla="*/ 0 w 878349"/>
                  <a:gd name="connsiteY12" fmla="*/ 355140 h 545611"/>
                  <a:gd name="connsiteX13" fmla="*/ 190471 w 878349"/>
                  <a:gd name="connsiteY13" fmla="*/ 164669 h 545611"/>
                  <a:gd name="connsiteX14" fmla="*/ 228858 w 878349"/>
                  <a:gd name="connsiteY14" fmla="*/ 168539 h 545611"/>
                  <a:gd name="connsiteX15" fmla="*/ 244320 w 878349"/>
                  <a:gd name="connsiteY15" fmla="*/ 173339 h 545611"/>
                  <a:gd name="connsiteX16" fmla="*/ 490507 w 878349"/>
                  <a:gd name="connsiteY16" fmla="*/ 30 h 545611"/>
                  <a:gd name="connsiteX0" fmla="*/ 490507 w 878349"/>
                  <a:gd name="connsiteY0" fmla="*/ 30 h 545611"/>
                  <a:gd name="connsiteX1" fmla="*/ 753041 w 878349"/>
                  <a:gd name="connsiteY1" fmla="*/ 285361 h 545611"/>
                  <a:gd name="connsiteX2" fmla="*/ 798544 w 878349"/>
                  <a:gd name="connsiteY2" fmla="*/ 294548 h 545611"/>
                  <a:gd name="connsiteX3" fmla="*/ 878349 w 878349"/>
                  <a:gd name="connsiteY3" fmla="*/ 414945 h 545611"/>
                  <a:gd name="connsiteX4" fmla="*/ 798544 w 878349"/>
                  <a:gd name="connsiteY4" fmla="*/ 535343 h 545611"/>
                  <a:gd name="connsiteX5" fmla="*/ 759827 w 878349"/>
                  <a:gd name="connsiteY5" fmla="*/ 543159 h 545611"/>
                  <a:gd name="connsiteX6" fmla="*/ 753908 w 878349"/>
                  <a:gd name="connsiteY6" fmla="*/ 545611 h 545611"/>
                  <a:gd name="connsiteX7" fmla="*/ 747683 w 878349"/>
                  <a:gd name="connsiteY7" fmla="*/ 545611 h 545611"/>
                  <a:gd name="connsiteX8" fmla="*/ 190471 w 878349"/>
                  <a:gd name="connsiteY8" fmla="*/ 545611 h 545611"/>
                  <a:gd name="connsiteX9" fmla="*/ 166602 w 878349"/>
                  <a:gd name="connsiteY9" fmla="*/ 545611 h 545611"/>
                  <a:gd name="connsiteX10" fmla="*/ 158924 w 878349"/>
                  <a:gd name="connsiteY10" fmla="*/ 542431 h 545611"/>
                  <a:gd name="connsiteX11" fmla="*/ 152084 w 878349"/>
                  <a:gd name="connsiteY11" fmla="*/ 541742 h 545611"/>
                  <a:gd name="connsiteX12" fmla="*/ 0 w 878349"/>
                  <a:gd name="connsiteY12" fmla="*/ 355140 h 545611"/>
                  <a:gd name="connsiteX13" fmla="*/ 190471 w 878349"/>
                  <a:gd name="connsiteY13" fmla="*/ 164669 h 545611"/>
                  <a:gd name="connsiteX14" fmla="*/ 228858 w 878349"/>
                  <a:gd name="connsiteY14" fmla="*/ 168539 h 545611"/>
                  <a:gd name="connsiteX15" fmla="*/ 244320 w 878349"/>
                  <a:gd name="connsiteY15" fmla="*/ 173339 h 545611"/>
                  <a:gd name="connsiteX16" fmla="*/ 490507 w 878349"/>
                  <a:gd name="connsiteY16" fmla="*/ 30 h 545611"/>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526204 w 878349"/>
                  <a:gd name="connsiteY0" fmla="*/ 25 h 542852"/>
                  <a:gd name="connsiteX1" fmla="*/ 753041 w 878349"/>
                  <a:gd name="connsiteY1" fmla="*/ 282602 h 542852"/>
                  <a:gd name="connsiteX2" fmla="*/ 798544 w 878349"/>
                  <a:gd name="connsiteY2" fmla="*/ 291789 h 542852"/>
                  <a:gd name="connsiteX3" fmla="*/ 878349 w 878349"/>
                  <a:gd name="connsiteY3" fmla="*/ 412186 h 542852"/>
                  <a:gd name="connsiteX4" fmla="*/ 798544 w 878349"/>
                  <a:gd name="connsiteY4" fmla="*/ 532584 h 542852"/>
                  <a:gd name="connsiteX5" fmla="*/ 759827 w 878349"/>
                  <a:gd name="connsiteY5" fmla="*/ 540400 h 542852"/>
                  <a:gd name="connsiteX6" fmla="*/ 753908 w 878349"/>
                  <a:gd name="connsiteY6" fmla="*/ 542852 h 542852"/>
                  <a:gd name="connsiteX7" fmla="*/ 747683 w 878349"/>
                  <a:gd name="connsiteY7" fmla="*/ 542852 h 542852"/>
                  <a:gd name="connsiteX8" fmla="*/ 190471 w 878349"/>
                  <a:gd name="connsiteY8" fmla="*/ 542852 h 542852"/>
                  <a:gd name="connsiteX9" fmla="*/ 166602 w 878349"/>
                  <a:gd name="connsiteY9" fmla="*/ 542852 h 542852"/>
                  <a:gd name="connsiteX10" fmla="*/ 158924 w 878349"/>
                  <a:gd name="connsiteY10" fmla="*/ 539672 h 542852"/>
                  <a:gd name="connsiteX11" fmla="*/ 152084 w 878349"/>
                  <a:gd name="connsiteY11" fmla="*/ 538983 h 542852"/>
                  <a:gd name="connsiteX12" fmla="*/ 0 w 878349"/>
                  <a:gd name="connsiteY12" fmla="*/ 352381 h 542852"/>
                  <a:gd name="connsiteX13" fmla="*/ 190471 w 878349"/>
                  <a:gd name="connsiteY13" fmla="*/ 161910 h 542852"/>
                  <a:gd name="connsiteX14" fmla="*/ 228858 w 878349"/>
                  <a:gd name="connsiteY14" fmla="*/ 165780 h 542852"/>
                  <a:gd name="connsiteX15" fmla="*/ 244320 w 878349"/>
                  <a:gd name="connsiteY15" fmla="*/ 170580 h 542852"/>
                  <a:gd name="connsiteX16" fmla="*/ 526204 w 878349"/>
                  <a:gd name="connsiteY16" fmla="*/ 25 h 542852"/>
                  <a:gd name="connsiteX0" fmla="*/ 526204 w 878349"/>
                  <a:gd name="connsiteY0" fmla="*/ 3284 h 546111"/>
                  <a:gd name="connsiteX1" fmla="*/ 753041 w 878349"/>
                  <a:gd name="connsiteY1" fmla="*/ 285861 h 546111"/>
                  <a:gd name="connsiteX2" fmla="*/ 798544 w 878349"/>
                  <a:gd name="connsiteY2" fmla="*/ 295048 h 546111"/>
                  <a:gd name="connsiteX3" fmla="*/ 878349 w 878349"/>
                  <a:gd name="connsiteY3" fmla="*/ 415445 h 546111"/>
                  <a:gd name="connsiteX4" fmla="*/ 798544 w 878349"/>
                  <a:gd name="connsiteY4" fmla="*/ 535843 h 546111"/>
                  <a:gd name="connsiteX5" fmla="*/ 759827 w 878349"/>
                  <a:gd name="connsiteY5" fmla="*/ 543659 h 546111"/>
                  <a:gd name="connsiteX6" fmla="*/ 753908 w 878349"/>
                  <a:gd name="connsiteY6" fmla="*/ 546111 h 546111"/>
                  <a:gd name="connsiteX7" fmla="*/ 747683 w 878349"/>
                  <a:gd name="connsiteY7" fmla="*/ 546111 h 546111"/>
                  <a:gd name="connsiteX8" fmla="*/ 190471 w 878349"/>
                  <a:gd name="connsiteY8" fmla="*/ 546111 h 546111"/>
                  <a:gd name="connsiteX9" fmla="*/ 166602 w 878349"/>
                  <a:gd name="connsiteY9" fmla="*/ 546111 h 546111"/>
                  <a:gd name="connsiteX10" fmla="*/ 158924 w 878349"/>
                  <a:gd name="connsiteY10" fmla="*/ 542931 h 546111"/>
                  <a:gd name="connsiteX11" fmla="*/ 152084 w 878349"/>
                  <a:gd name="connsiteY11" fmla="*/ 542242 h 546111"/>
                  <a:gd name="connsiteX12" fmla="*/ 0 w 878349"/>
                  <a:gd name="connsiteY12" fmla="*/ 355640 h 546111"/>
                  <a:gd name="connsiteX13" fmla="*/ 190471 w 878349"/>
                  <a:gd name="connsiteY13" fmla="*/ 165169 h 546111"/>
                  <a:gd name="connsiteX14" fmla="*/ 228858 w 878349"/>
                  <a:gd name="connsiteY14" fmla="*/ 169039 h 546111"/>
                  <a:gd name="connsiteX15" fmla="*/ 244320 w 878349"/>
                  <a:gd name="connsiteY15" fmla="*/ 173839 h 546111"/>
                  <a:gd name="connsiteX16" fmla="*/ 526204 w 878349"/>
                  <a:gd name="connsiteY16" fmla="*/ 3284 h 546111"/>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912 h 543739"/>
                  <a:gd name="connsiteX1" fmla="*/ 753041 w 878349"/>
                  <a:gd name="connsiteY1" fmla="*/ 283489 h 543739"/>
                  <a:gd name="connsiteX2" fmla="*/ 798544 w 878349"/>
                  <a:gd name="connsiteY2" fmla="*/ 292676 h 543739"/>
                  <a:gd name="connsiteX3" fmla="*/ 878349 w 878349"/>
                  <a:gd name="connsiteY3" fmla="*/ 413073 h 543739"/>
                  <a:gd name="connsiteX4" fmla="*/ 798544 w 878349"/>
                  <a:gd name="connsiteY4" fmla="*/ 533471 h 543739"/>
                  <a:gd name="connsiteX5" fmla="*/ 759827 w 878349"/>
                  <a:gd name="connsiteY5" fmla="*/ 541287 h 543739"/>
                  <a:gd name="connsiteX6" fmla="*/ 753908 w 878349"/>
                  <a:gd name="connsiteY6" fmla="*/ 543739 h 543739"/>
                  <a:gd name="connsiteX7" fmla="*/ 747683 w 878349"/>
                  <a:gd name="connsiteY7" fmla="*/ 543739 h 543739"/>
                  <a:gd name="connsiteX8" fmla="*/ 190471 w 878349"/>
                  <a:gd name="connsiteY8" fmla="*/ 543739 h 543739"/>
                  <a:gd name="connsiteX9" fmla="*/ 166602 w 878349"/>
                  <a:gd name="connsiteY9" fmla="*/ 543739 h 543739"/>
                  <a:gd name="connsiteX10" fmla="*/ 158924 w 878349"/>
                  <a:gd name="connsiteY10" fmla="*/ 540559 h 543739"/>
                  <a:gd name="connsiteX11" fmla="*/ 152084 w 878349"/>
                  <a:gd name="connsiteY11" fmla="*/ 539870 h 543739"/>
                  <a:gd name="connsiteX12" fmla="*/ 0 w 878349"/>
                  <a:gd name="connsiteY12" fmla="*/ 353268 h 543739"/>
                  <a:gd name="connsiteX13" fmla="*/ 190471 w 878349"/>
                  <a:gd name="connsiteY13" fmla="*/ 162797 h 543739"/>
                  <a:gd name="connsiteX14" fmla="*/ 228858 w 878349"/>
                  <a:gd name="connsiteY14" fmla="*/ 166667 h 543739"/>
                  <a:gd name="connsiteX15" fmla="*/ 244320 w 878349"/>
                  <a:gd name="connsiteY15" fmla="*/ 171467 h 543739"/>
                  <a:gd name="connsiteX16" fmla="*/ 526204 w 878349"/>
                  <a:gd name="connsiteY16" fmla="*/ 912 h 543739"/>
                  <a:gd name="connsiteX0" fmla="*/ 526204 w 878349"/>
                  <a:gd name="connsiteY0" fmla="*/ 2110 h 544937"/>
                  <a:gd name="connsiteX1" fmla="*/ 753041 w 878349"/>
                  <a:gd name="connsiteY1" fmla="*/ 284687 h 544937"/>
                  <a:gd name="connsiteX2" fmla="*/ 798544 w 878349"/>
                  <a:gd name="connsiteY2" fmla="*/ 293874 h 544937"/>
                  <a:gd name="connsiteX3" fmla="*/ 878349 w 878349"/>
                  <a:gd name="connsiteY3" fmla="*/ 414271 h 544937"/>
                  <a:gd name="connsiteX4" fmla="*/ 798544 w 878349"/>
                  <a:gd name="connsiteY4" fmla="*/ 534669 h 544937"/>
                  <a:gd name="connsiteX5" fmla="*/ 759827 w 878349"/>
                  <a:gd name="connsiteY5" fmla="*/ 542485 h 544937"/>
                  <a:gd name="connsiteX6" fmla="*/ 753908 w 878349"/>
                  <a:gd name="connsiteY6" fmla="*/ 544937 h 544937"/>
                  <a:gd name="connsiteX7" fmla="*/ 747683 w 878349"/>
                  <a:gd name="connsiteY7" fmla="*/ 544937 h 544937"/>
                  <a:gd name="connsiteX8" fmla="*/ 190471 w 878349"/>
                  <a:gd name="connsiteY8" fmla="*/ 544937 h 544937"/>
                  <a:gd name="connsiteX9" fmla="*/ 166602 w 878349"/>
                  <a:gd name="connsiteY9" fmla="*/ 544937 h 544937"/>
                  <a:gd name="connsiteX10" fmla="*/ 158924 w 878349"/>
                  <a:gd name="connsiteY10" fmla="*/ 541757 h 544937"/>
                  <a:gd name="connsiteX11" fmla="*/ 152084 w 878349"/>
                  <a:gd name="connsiteY11" fmla="*/ 541068 h 544937"/>
                  <a:gd name="connsiteX12" fmla="*/ 0 w 878349"/>
                  <a:gd name="connsiteY12" fmla="*/ 354466 h 544937"/>
                  <a:gd name="connsiteX13" fmla="*/ 190471 w 878349"/>
                  <a:gd name="connsiteY13" fmla="*/ 163995 h 544937"/>
                  <a:gd name="connsiteX14" fmla="*/ 228858 w 878349"/>
                  <a:gd name="connsiteY14" fmla="*/ 167865 h 544937"/>
                  <a:gd name="connsiteX15" fmla="*/ 244320 w 878349"/>
                  <a:gd name="connsiteY15" fmla="*/ 172665 h 544937"/>
                  <a:gd name="connsiteX16" fmla="*/ 526204 w 878349"/>
                  <a:gd name="connsiteY16" fmla="*/ 2110 h 544937"/>
                  <a:gd name="connsiteX0" fmla="*/ 526204 w 878349"/>
                  <a:gd name="connsiteY0" fmla="*/ 2045 h 544872"/>
                  <a:gd name="connsiteX1" fmla="*/ 753041 w 878349"/>
                  <a:gd name="connsiteY1" fmla="*/ 284622 h 544872"/>
                  <a:gd name="connsiteX2" fmla="*/ 798544 w 878349"/>
                  <a:gd name="connsiteY2" fmla="*/ 293809 h 544872"/>
                  <a:gd name="connsiteX3" fmla="*/ 878349 w 878349"/>
                  <a:gd name="connsiteY3" fmla="*/ 414206 h 544872"/>
                  <a:gd name="connsiteX4" fmla="*/ 798544 w 878349"/>
                  <a:gd name="connsiteY4" fmla="*/ 534604 h 544872"/>
                  <a:gd name="connsiteX5" fmla="*/ 759827 w 878349"/>
                  <a:gd name="connsiteY5" fmla="*/ 542420 h 544872"/>
                  <a:gd name="connsiteX6" fmla="*/ 753908 w 878349"/>
                  <a:gd name="connsiteY6" fmla="*/ 544872 h 544872"/>
                  <a:gd name="connsiteX7" fmla="*/ 747683 w 878349"/>
                  <a:gd name="connsiteY7" fmla="*/ 544872 h 544872"/>
                  <a:gd name="connsiteX8" fmla="*/ 190471 w 878349"/>
                  <a:gd name="connsiteY8" fmla="*/ 544872 h 544872"/>
                  <a:gd name="connsiteX9" fmla="*/ 166602 w 878349"/>
                  <a:gd name="connsiteY9" fmla="*/ 544872 h 544872"/>
                  <a:gd name="connsiteX10" fmla="*/ 158924 w 878349"/>
                  <a:gd name="connsiteY10" fmla="*/ 541692 h 544872"/>
                  <a:gd name="connsiteX11" fmla="*/ 152084 w 878349"/>
                  <a:gd name="connsiteY11" fmla="*/ 541003 h 544872"/>
                  <a:gd name="connsiteX12" fmla="*/ 0 w 878349"/>
                  <a:gd name="connsiteY12" fmla="*/ 354401 h 544872"/>
                  <a:gd name="connsiteX13" fmla="*/ 190471 w 878349"/>
                  <a:gd name="connsiteY13" fmla="*/ 163930 h 544872"/>
                  <a:gd name="connsiteX14" fmla="*/ 228858 w 878349"/>
                  <a:gd name="connsiteY14" fmla="*/ 167800 h 544872"/>
                  <a:gd name="connsiteX15" fmla="*/ 244320 w 878349"/>
                  <a:gd name="connsiteY15" fmla="*/ 172600 h 544872"/>
                  <a:gd name="connsiteX16" fmla="*/ 526204 w 878349"/>
                  <a:gd name="connsiteY16" fmla="*/ 2045 h 544872"/>
                  <a:gd name="connsiteX0" fmla="*/ 526204 w 878349"/>
                  <a:gd name="connsiteY0" fmla="*/ 3099 h 545926"/>
                  <a:gd name="connsiteX1" fmla="*/ 753041 w 878349"/>
                  <a:gd name="connsiteY1" fmla="*/ 285676 h 545926"/>
                  <a:gd name="connsiteX2" fmla="*/ 798544 w 878349"/>
                  <a:gd name="connsiteY2" fmla="*/ 294863 h 545926"/>
                  <a:gd name="connsiteX3" fmla="*/ 878349 w 878349"/>
                  <a:gd name="connsiteY3" fmla="*/ 415260 h 545926"/>
                  <a:gd name="connsiteX4" fmla="*/ 798544 w 878349"/>
                  <a:gd name="connsiteY4" fmla="*/ 535658 h 545926"/>
                  <a:gd name="connsiteX5" fmla="*/ 759827 w 878349"/>
                  <a:gd name="connsiteY5" fmla="*/ 543474 h 545926"/>
                  <a:gd name="connsiteX6" fmla="*/ 753908 w 878349"/>
                  <a:gd name="connsiteY6" fmla="*/ 545926 h 545926"/>
                  <a:gd name="connsiteX7" fmla="*/ 747683 w 878349"/>
                  <a:gd name="connsiteY7" fmla="*/ 545926 h 545926"/>
                  <a:gd name="connsiteX8" fmla="*/ 190471 w 878349"/>
                  <a:gd name="connsiteY8" fmla="*/ 545926 h 545926"/>
                  <a:gd name="connsiteX9" fmla="*/ 166602 w 878349"/>
                  <a:gd name="connsiteY9" fmla="*/ 545926 h 545926"/>
                  <a:gd name="connsiteX10" fmla="*/ 158924 w 878349"/>
                  <a:gd name="connsiteY10" fmla="*/ 542746 h 545926"/>
                  <a:gd name="connsiteX11" fmla="*/ 152084 w 878349"/>
                  <a:gd name="connsiteY11" fmla="*/ 542057 h 545926"/>
                  <a:gd name="connsiteX12" fmla="*/ 0 w 878349"/>
                  <a:gd name="connsiteY12" fmla="*/ 355455 h 545926"/>
                  <a:gd name="connsiteX13" fmla="*/ 190471 w 878349"/>
                  <a:gd name="connsiteY13" fmla="*/ 164984 h 545926"/>
                  <a:gd name="connsiteX14" fmla="*/ 228858 w 878349"/>
                  <a:gd name="connsiteY14" fmla="*/ 168854 h 545926"/>
                  <a:gd name="connsiteX15" fmla="*/ 244320 w 878349"/>
                  <a:gd name="connsiteY15" fmla="*/ 173654 h 545926"/>
                  <a:gd name="connsiteX16" fmla="*/ 526204 w 878349"/>
                  <a:gd name="connsiteY16" fmla="*/ 3099 h 545926"/>
                  <a:gd name="connsiteX0" fmla="*/ 526204 w 878349"/>
                  <a:gd name="connsiteY0" fmla="*/ 2823 h 545650"/>
                  <a:gd name="connsiteX1" fmla="*/ 753041 w 878349"/>
                  <a:gd name="connsiteY1" fmla="*/ 285400 h 545650"/>
                  <a:gd name="connsiteX2" fmla="*/ 798544 w 878349"/>
                  <a:gd name="connsiteY2" fmla="*/ 294587 h 545650"/>
                  <a:gd name="connsiteX3" fmla="*/ 878349 w 878349"/>
                  <a:gd name="connsiteY3" fmla="*/ 414984 h 545650"/>
                  <a:gd name="connsiteX4" fmla="*/ 798544 w 878349"/>
                  <a:gd name="connsiteY4" fmla="*/ 535382 h 545650"/>
                  <a:gd name="connsiteX5" fmla="*/ 759827 w 878349"/>
                  <a:gd name="connsiteY5" fmla="*/ 543198 h 545650"/>
                  <a:gd name="connsiteX6" fmla="*/ 753908 w 878349"/>
                  <a:gd name="connsiteY6" fmla="*/ 545650 h 545650"/>
                  <a:gd name="connsiteX7" fmla="*/ 747683 w 878349"/>
                  <a:gd name="connsiteY7" fmla="*/ 545650 h 545650"/>
                  <a:gd name="connsiteX8" fmla="*/ 190471 w 878349"/>
                  <a:gd name="connsiteY8" fmla="*/ 545650 h 545650"/>
                  <a:gd name="connsiteX9" fmla="*/ 166602 w 878349"/>
                  <a:gd name="connsiteY9" fmla="*/ 545650 h 545650"/>
                  <a:gd name="connsiteX10" fmla="*/ 158924 w 878349"/>
                  <a:gd name="connsiteY10" fmla="*/ 542470 h 545650"/>
                  <a:gd name="connsiteX11" fmla="*/ 152084 w 878349"/>
                  <a:gd name="connsiteY11" fmla="*/ 541781 h 545650"/>
                  <a:gd name="connsiteX12" fmla="*/ 0 w 878349"/>
                  <a:gd name="connsiteY12" fmla="*/ 355179 h 545650"/>
                  <a:gd name="connsiteX13" fmla="*/ 190471 w 878349"/>
                  <a:gd name="connsiteY13" fmla="*/ 164708 h 545650"/>
                  <a:gd name="connsiteX14" fmla="*/ 228858 w 878349"/>
                  <a:gd name="connsiteY14" fmla="*/ 168578 h 545650"/>
                  <a:gd name="connsiteX15" fmla="*/ 244320 w 878349"/>
                  <a:gd name="connsiteY15" fmla="*/ 173378 h 545650"/>
                  <a:gd name="connsiteX16" fmla="*/ 526204 w 878349"/>
                  <a:gd name="connsiteY16"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59827 w 878349"/>
                  <a:gd name="connsiteY4" fmla="*/ 543198 h 545650"/>
                  <a:gd name="connsiteX5" fmla="*/ 753908 w 878349"/>
                  <a:gd name="connsiteY5" fmla="*/ 545650 h 545650"/>
                  <a:gd name="connsiteX6" fmla="*/ 747683 w 878349"/>
                  <a:gd name="connsiteY6" fmla="*/ 545650 h 545650"/>
                  <a:gd name="connsiteX7" fmla="*/ 190471 w 878349"/>
                  <a:gd name="connsiteY7" fmla="*/ 545650 h 545650"/>
                  <a:gd name="connsiteX8" fmla="*/ 166602 w 878349"/>
                  <a:gd name="connsiteY8" fmla="*/ 545650 h 545650"/>
                  <a:gd name="connsiteX9" fmla="*/ 158924 w 878349"/>
                  <a:gd name="connsiteY9" fmla="*/ 542470 h 545650"/>
                  <a:gd name="connsiteX10" fmla="*/ 152084 w 878349"/>
                  <a:gd name="connsiteY10" fmla="*/ 541781 h 545650"/>
                  <a:gd name="connsiteX11" fmla="*/ 0 w 878349"/>
                  <a:gd name="connsiteY11" fmla="*/ 355179 h 545650"/>
                  <a:gd name="connsiteX12" fmla="*/ 190471 w 878349"/>
                  <a:gd name="connsiteY12" fmla="*/ 164708 h 545650"/>
                  <a:gd name="connsiteX13" fmla="*/ 228858 w 878349"/>
                  <a:gd name="connsiteY13" fmla="*/ 168578 h 545650"/>
                  <a:gd name="connsiteX14" fmla="*/ 244320 w 878349"/>
                  <a:gd name="connsiteY14" fmla="*/ 173378 h 545650"/>
                  <a:gd name="connsiteX15" fmla="*/ 526204 w 878349"/>
                  <a:gd name="connsiteY15"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59827 w 878349"/>
                  <a:gd name="connsiteY4" fmla="*/ 543198 h 545650"/>
                  <a:gd name="connsiteX5" fmla="*/ 747683 w 878349"/>
                  <a:gd name="connsiteY5" fmla="*/ 545650 h 545650"/>
                  <a:gd name="connsiteX6" fmla="*/ 190471 w 878349"/>
                  <a:gd name="connsiteY6" fmla="*/ 545650 h 545650"/>
                  <a:gd name="connsiteX7" fmla="*/ 166602 w 878349"/>
                  <a:gd name="connsiteY7" fmla="*/ 545650 h 545650"/>
                  <a:gd name="connsiteX8" fmla="*/ 158924 w 878349"/>
                  <a:gd name="connsiteY8" fmla="*/ 542470 h 545650"/>
                  <a:gd name="connsiteX9" fmla="*/ 152084 w 878349"/>
                  <a:gd name="connsiteY9" fmla="*/ 541781 h 545650"/>
                  <a:gd name="connsiteX10" fmla="*/ 0 w 878349"/>
                  <a:gd name="connsiteY10" fmla="*/ 355179 h 545650"/>
                  <a:gd name="connsiteX11" fmla="*/ 190471 w 878349"/>
                  <a:gd name="connsiteY11" fmla="*/ 164708 h 545650"/>
                  <a:gd name="connsiteX12" fmla="*/ 228858 w 878349"/>
                  <a:gd name="connsiteY12" fmla="*/ 168578 h 545650"/>
                  <a:gd name="connsiteX13" fmla="*/ 244320 w 878349"/>
                  <a:gd name="connsiteY13" fmla="*/ 173378 h 545650"/>
                  <a:gd name="connsiteX14" fmla="*/ 526204 w 878349"/>
                  <a:gd name="connsiteY14"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47683 w 878349"/>
                  <a:gd name="connsiteY4" fmla="*/ 545650 h 545650"/>
                  <a:gd name="connsiteX5" fmla="*/ 190471 w 878349"/>
                  <a:gd name="connsiteY5" fmla="*/ 545650 h 545650"/>
                  <a:gd name="connsiteX6" fmla="*/ 166602 w 878349"/>
                  <a:gd name="connsiteY6" fmla="*/ 545650 h 545650"/>
                  <a:gd name="connsiteX7" fmla="*/ 158924 w 878349"/>
                  <a:gd name="connsiteY7" fmla="*/ 542470 h 545650"/>
                  <a:gd name="connsiteX8" fmla="*/ 152084 w 878349"/>
                  <a:gd name="connsiteY8" fmla="*/ 541781 h 545650"/>
                  <a:gd name="connsiteX9" fmla="*/ 0 w 878349"/>
                  <a:gd name="connsiteY9" fmla="*/ 355179 h 545650"/>
                  <a:gd name="connsiteX10" fmla="*/ 190471 w 878349"/>
                  <a:gd name="connsiteY10" fmla="*/ 164708 h 545650"/>
                  <a:gd name="connsiteX11" fmla="*/ 228858 w 878349"/>
                  <a:gd name="connsiteY11" fmla="*/ 168578 h 545650"/>
                  <a:gd name="connsiteX12" fmla="*/ 244320 w 878349"/>
                  <a:gd name="connsiteY12" fmla="*/ 173378 h 545650"/>
                  <a:gd name="connsiteX13" fmla="*/ 526204 w 878349"/>
                  <a:gd name="connsiteY13"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47683 w 878349"/>
                  <a:gd name="connsiteY3" fmla="*/ 545650 h 545650"/>
                  <a:gd name="connsiteX4" fmla="*/ 190471 w 878349"/>
                  <a:gd name="connsiteY4" fmla="*/ 545650 h 545650"/>
                  <a:gd name="connsiteX5" fmla="*/ 166602 w 878349"/>
                  <a:gd name="connsiteY5" fmla="*/ 545650 h 545650"/>
                  <a:gd name="connsiteX6" fmla="*/ 158924 w 878349"/>
                  <a:gd name="connsiteY6" fmla="*/ 542470 h 545650"/>
                  <a:gd name="connsiteX7" fmla="*/ 152084 w 878349"/>
                  <a:gd name="connsiteY7" fmla="*/ 541781 h 545650"/>
                  <a:gd name="connsiteX8" fmla="*/ 0 w 878349"/>
                  <a:gd name="connsiteY8" fmla="*/ 355179 h 545650"/>
                  <a:gd name="connsiteX9" fmla="*/ 190471 w 878349"/>
                  <a:gd name="connsiteY9" fmla="*/ 164708 h 545650"/>
                  <a:gd name="connsiteX10" fmla="*/ 228858 w 878349"/>
                  <a:gd name="connsiteY10" fmla="*/ 168578 h 545650"/>
                  <a:gd name="connsiteX11" fmla="*/ 244320 w 878349"/>
                  <a:gd name="connsiteY11" fmla="*/ 173378 h 545650"/>
                  <a:gd name="connsiteX12" fmla="*/ 526204 w 878349"/>
                  <a:gd name="connsiteY12"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47683 w 878349"/>
                  <a:gd name="connsiteY3" fmla="*/ 545650 h 545650"/>
                  <a:gd name="connsiteX4" fmla="*/ 190471 w 878349"/>
                  <a:gd name="connsiteY4" fmla="*/ 545650 h 545650"/>
                  <a:gd name="connsiteX5" fmla="*/ 166602 w 878349"/>
                  <a:gd name="connsiteY5" fmla="*/ 545650 h 545650"/>
                  <a:gd name="connsiteX6" fmla="*/ 158924 w 878349"/>
                  <a:gd name="connsiteY6" fmla="*/ 542470 h 545650"/>
                  <a:gd name="connsiteX7" fmla="*/ 152084 w 878349"/>
                  <a:gd name="connsiteY7" fmla="*/ 541781 h 545650"/>
                  <a:gd name="connsiteX8" fmla="*/ 0 w 878349"/>
                  <a:gd name="connsiteY8" fmla="*/ 355179 h 545650"/>
                  <a:gd name="connsiteX9" fmla="*/ 190471 w 878349"/>
                  <a:gd name="connsiteY9" fmla="*/ 164708 h 545650"/>
                  <a:gd name="connsiteX10" fmla="*/ 228858 w 878349"/>
                  <a:gd name="connsiteY10" fmla="*/ 168578 h 545650"/>
                  <a:gd name="connsiteX11" fmla="*/ 244320 w 878349"/>
                  <a:gd name="connsiteY11" fmla="*/ 173378 h 545650"/>
                  <a:gd name="connsiteX12" fmla="*/ 526204 w 878349"/>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60"/>
                  <a:gd name="connsiteY0" fmla="*/ 2823 h 545650"/>
                  <a:gd name="connsiteX1" fmla="*/ 753041 w 878360"/>
                  <a:gd name="connsiteY1" fmla="*/ 285400 h 545650"/>
                  <a:gd name="connsiteX2" fmla="*/ 878349 w 878360"/>
                  <a:gd name="connsiteY2" fmla="*/ 414984 h 545650"/>
                  <a:gd name="connsiteX3" fmla="*/ 747683 w 878360"/>
                  <a:gd name="connsiteY3" fmla="*/ 545650 h 545650"/>
                  <a:gd name="connsiteX4" fmla="*/ 190471 w 878360"/>
                  <a:gd name="connsiteY4" fmla="*/ 545650 h 545650"/>
                  <a:gd name="connsiteX5" fmla="*/ 166602 w 878360"/>
                  <a:gd name="connsiteY5" fmla="*/ 545650 h 545650"/>
                  <a:gd name="connsiteX6" fmla="*/ 158924 w 878360"/>
                  <a:gd name="connsiteY6" fmla="*/ 542470 h 545650"/>
                  <a:gd name="connsiteX7" fmla="*/ 152084 w 878360"/>
                  <a:gd name="connsiteY7" fmla="*/ 541781 h 545650"/>
                  <a:gd name="connsiteX8" fmla="*/ 0 w 878360"/>
                  <a:gd name="connsiteY8" fmla="*/ 355179 h 545650"/>
                  <a:gd name="connsiteX9" fmla="*/ 190471 w 878360"/>
                  <a:gd name="connsiteY9" fmla="*/ 164708 h 545650"/>
                  <a:gd name="connsiteX10" fmla="*/ 228858 w 878360"/>
                  <a:gd name="connsiteY10" fmla="*/ 168578 h 545650"/>
                  <a:gd name="connsiteX11" fmla="*/ 244320 w 878360"/>
                  <a:gd name="connsiteY11" fmla="*/ 173378 h 545650"/>
                  <a:gd name="connsiteX12" fmla="*/ 526204 w 878360"/>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51"/>
                  <a:gd name="connsiteY0" fmla="*/ 2823 h 545650"/>
                  <a:gd name="connsiteX1" fmla="*/ 753041 w 878351"/>
                  <a:gd name="connsiteY1" fmla="*/ 285400 h 545650"/>
                  <a:gd name="connsiteX2" fmla="*/ 878349 w 878351"/>
                  <a:gd name="connsiteY2" fmla="*/ 414984 h 545650"/>
                  <a:gd name="connsiteX3" fmla="*/ 747683 w 878351"/>
                  <a:gd name="connsiteY3" fmla="*/ 545650 h 545650"/>
                  <a:gd name="connsiteX4" fmla="*/ 190471 w 878351"/>
                  <a:gd name="connsiteY4" fmla="*/ 545650 h 545650"/>
                  <a:gd name="connsiteX5" fmla="*/ 166602 w 878351"/>
                  <a:gd name="connsiteY5" fmla="*/ 545650 h 545650"/>
                  <a:gd name="connsiteX6" fmla="*/ 158924 w 878351"/>
                  <a:gd name="connsiteY6" fmla="*/ 542470 h 545650"/>
                  <a:gd name="connsiteX7" fmla="*/ 152084 w 878351"/>
                  <a:gd name="connsiteY7" fmla="*/ 541781 h 545650"/>
                  <a:gd name="connsiteX8" fmla="*/ 0 w 878351"/>
                  <a:gd name="connsiteY8" fmla="*/ 355179 h 545650"/>
                  <a:gd name="connsiteX9" fmla="*/ 190471 w 878351"/>
                  <a:gd name="connsiteY9" fmla="*/ 164708 h 545650"/>
                  <a:gd name="connsiteX10" fmla="*/ 228858 w 878351"/>
                  <a:gd name="connsiteY10" fmla="*/ 168578 h 545650"/>
                  <a:gd name="connsiteX11" fmla="*/ 244320 w 878351"/>
                  <a:gd name="connsiteY11" fmla="*/ 173378 h 545650"/>
                  <a:gd name="connsiteX12" fmla="*/ 526204 w 878351"/>
                  <a:gd name="connsiteY12" fmla="*/ 2823 h 545650"/>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7585 w 879730"/>
                  <a:gd name="connsiteY0" fmla="*/ 2823 h 545651"/>
                  <a:gd name="connsiteX1" fmla="*/ 754422 w 879730"/>
                  <a:gd name="connsiteY1" fmla="*/ 285400 h 545651"/>
                  <a:gd name="connsiteX2" fmla="*/ 879730 w 879730"/>
                  <a:gd name="connsiteY2" fmla="*/ 414984 h 545651"/>
                  <a:gd name="connsiteX3" fmla="*/ 749064 w 879730"/>
                  <a:gd name="connsiteY3" fmla="*/ 545650 h 545651"/>
                  <a:gd name="connsiteX4" fmla="*/ 191852 w 879730"/>
                  <a:gd name="connsiteY4" fmla="*/ 545650 h 545651"/>
                  <a:gd name="connsiteX5" fmla="*/ 167983 w 879730"/>
                  <a:gd name="connsiteY5" fmla="*/ 545650 h 545651"/>
                  <a:gd name="connsiteX6" fmla="*/ 160305 w 879730"/>
                  <a:gd name="connsiteY6" fmla="*/ 542470 h 545651"/>
                  <a:gd name="connsiteX7" fmla="*/ 153465 w 879730"/>
                  <a:gd name="connsiteY7" fmla="*/ 541781 h 545651"/>
                  <a:gd name="connsiteX8" fmla="*/ 1381 w 879730"/>
                  <a:gd name="connsiteY8" fmla="*/ 355179 h 545651"/>
                  <a:gd name="connsiteX9" fmla="*/ 230239 w 879730"/>
                  <a:gd name="connsiteY9" fmla="*/ 168578 h 545651"/>
                  <a:gd name="connsiteX10" fmla="*/ 245701 w 879730"/>
                  <a:gd name="connsiteY10" fmla="*/ 173378 h 545651"/>
                  <a:gd name="connsiteX11" fmla="*/ 527585 w 879730"/>
                  <a:gd name="connsiteY11" fmla="*/ 2823 h 545651"/>
                  <a:gd name="connsiteX0" fmla="*/ 528098 w 880243"/>
                  <a:gd name="connsiteY0" fmla="*/ 2823 h 545651"/>
                  <a:gd name="connsiteX1" fmla="*/ 754935 w 880243"/>
                  <a:gd name="connsiteY1" fmla="*/ 285400 h 545651"/>
                  <a:gd name="connsiteX2" fmla="*/ 880243 w 880243"/>
                  <a:gd name="connsiteY2" fmla="*/ 414984 h 545651"/>
                  <a:gd name="connsiteX3" fmla="*/ 749577 w 880243"/>
                  <a:gd name="connsiteY3" fmla="*/ 545650 h 545651"/>
                  <a:gd name="connsiteX4" fmla="*/ 192365 w 880243"/>
                  <a:gd name="connsiteY4" fmla="*/ 545650 h 545651"/>
                  <a:gd name="connsiteX5" fmla="*/ 168496 w 880243"/>
                  <a:gd name="connsiteY5" fmla="*/ 545650 h 545651"/>
                  <a:gd name="connsiteX6" fmla="*/ 160818 w 880243"/>
                  <a:gd name="connsiteY6" fmla="*/ 542470 h 545651"/>
                  <a:gd name="connsiteX7" fmla="*/ 153978 w 880243"/>
                  <a:gd name="connsiteY7" fmla="*/ 541781 h 545651"/>
                  <a:gd name="connsiteX8" fmla="*/ 1894 w 880243"/>
                  <a:gd name="connsiteY8" fmla="*/ 355179 h 545651"/>
                  <a:gd name="connsiteX9" fmla="*/ 246214 w 880243"/>
                  <a:gd name="connsiteY9" fmla="*/ 173378 h 545651"/>
                  <a:gd name="connsiteX10" fmla="*/ 528098 w 880243"/>
                  <a:gd name="connsiteY10" fmla="*/ 2823 h 545651"/>
                  <a:gd name="connsiteX0" fmla="*/ 528098 w 880243"/>
                  <a:gd name="connsiteY0" fmla="*/ 2823 h 545651"/>
                  <a:gd name="connsiteX1" fmla="*/ 754935 w 880243"/>
                  <a:gd name="connsiteY1" fmla="*/ 285400 h 545651"/>
                  <a:gd name="connsiteX2" fmla="*/ 880243 w 880243"/>
                  <a:gd name="connsiteY2" fmla="*/ 414984 h 545651"/>
                  <a:gd name="connsiteX3" fmla="*/ 749577 w 880243"/>
                  <a:gd name="connsiteY3" fmla="*/ 545650 h 545651"/>
                  <a:gd name="connsiteX4" fmla="*/ 192365 w 880243"/>
                  <a:gd name="connsiteY4" fmla="*/ 545650 h 545651"/>
                  <a:gd name="connsiteX5" fmla="*/ 168496 w 880243"/>
                  <a:gd name="connsiteY5" fmla="*/ 545650 h 545651"/>
                  <a:gd name="connsiteX6" fmla="*/ 160818 w 880243"/>
                  <a:gd name="connsiteY6" fmla="*/ 542470 h 545651"/>
                  <a:gd name="connsiteX7" fmla="*/ 153978 w 880243"/>
                  <a:gd name="connsiteY7" fmla="*/ 541781 h 545651"/>
                  <a:gd name="connsiteX8" fmla="*/ 1894 w 880243"/>
                  <a:gd name="connsiteY8" fmla="*/ 355179 h 545651"/>
                  <a:gd name="connsiteX9" fmla="*/ 246214 w 880243"/>
                  <a:gd name="connsiteY9" fmla="*/ 173378 h 545651"/>
                  <a:gd name="connsiteX10" fmla="*/ 528098 w 880243"/>
                  <a:gd name="connsiteY10" fmla="*/ 2823 h 545651"/>
                  <a:gd name="connsiteX0" fmla="*/ 526208 w 878353"/>
                  <a:gd name="connsiteY0" fmla="*/ 2823 h 545651"/>
                  <a:gd name="connsiteX1" fmla="*/ 753045 w 878353"/>
                  <a:gd name="connsiteY1" fmla="*/ 285400 h 545651"/>
                  <a:gd name="connsiteX2" fmla="*/ 878353 w 878353"/>
                  <a:gd name="connsiteY2" fmla="*/ 414984 h 545651"/>
                  <a:gd name="connsiteX3" fmla="*/ 747687 w 878353"/>
                  <a:gd name="connsiteY3" fmla="*/ 545650 h 545651"/>
                  <a:gd name="connsiteX4" fmla="*/ 190475 w 878353"/>
                  <a:gd name="connsiteY4" fmla="*/ 545650 h 545651"/>
                  <a:gd name="connsiteX5" fmla="*/ 166606 w 878353"/>
                  <a:gd name="connsiteY5" fmla="*/ 545650 h 545651"/>
                  <a:gd name="connsiteX6" fmla="*/ 158928 w 878353"/>
                  <a:gd name="connsiteY6" fmla="*/ 542470 h 545651"/>
                  <a:gd name="connsiteX7" fmla="*/ 152088 w 878353"/>
                  <a:gd name="connsiteY7" fmla="*/ 541781 h 545651"/>
                  <a:gd name="connsiteX8" fmla="*/ 4 w 878353"/>
                  <a:gd name="connsiteY8" fmla="*/ 355179 h 545651"/>
                  <a:gd name="connsiteX9" fmla="*/ 244324 w 878353"/>
                  <a:gd name="connsiteY9" fmla="*/ 173378 h 545651"/>
                  <a:gd name="connsiteX10" fmla="*/ 526208 w 878353"/>
                  <a:gd name="connsiteY10"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66614 w 878361"/>
                  <a:gd name="connsiteY5" fmla="*/ 545650 h 545651"/>
                  <a:gd name="connsiteX6" fmla="*/ 158936 w 878361"/>
                  <a:gd name="connsiteY6" fmla="*/ 542470 h 545651"/>
                  <a:gd name="connsiteX7" fmla="*/ 152096 w 878361"/>
                  <a:gd name="connsiteY7" fmla="*/ 541781 h 545651"/>
                  <a:gd name="connsiteX8" fmla="*/ 12 w 878361"/>
                  <a:gd name="connsiteY8" fmla="*/ 355179 h 545651"/>
                  <a:gd name="connsiteX9" fmla="*/ 244332 w 878361"/>
                  <a:gd name="connsiteY9" fmla="*/ 173378 h 545651"/>
                  <a:gd name="connsiteX10" fmla="*/ 526216 w 878361"/>
                  <a:gd name="connsiteY10"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58936 w 878361"/>
                  <a:gd name="connsiteY5" fmla="*/ 542470 h 545651"/>
                  <a:gd name="connsiteX6" fmla="*/ 152096 w 878361"/>
                  <a:gd name="connsiteY6" fmla="*/ 541781 h 545651"/>
                  <a:gd name="connsiteX7" fmla="*/ 12 w 878361"/>
                  <a:gd name="connsiteY7" fmla="*/ 355179 h 545651"/>
                  <a:gd name="connsiteX8" fmla="*/ 244332 w 878361"/>
                  <a:gd name="connsiteY8" fmla="*/ 173378 h 545651"/>
                  <a:gd name="connsiteX9" fmla="*/ 526216 w 878361"/>
                  <a:gd name="connsiteY9"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52096 w 878361"/>
                  <a:gd name="connsiteY5" fmla="*/ 541781 h 545651"/>
                  <a:gd name="connsiteX6" fmla="*/ 12 w 878361"/>
                  <a:gd name="connsiteY6" fmla="*/ 355179 h 545651"/>
                  <a:gd name="connsiteX7" fmla="*/ 244332 w 878361"/>
                  <a:gd name="connsiteY7" fmla="*/ 173378 h 545651"/>
                  <a:gd name="connsiteX8" fmla="*/ 526216 w 878361"/>
                  <a:gd name="connsiteY8"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2 w 878361"/>
                  <a:gd name="connsiteY5" fmla="*/ 355179 h 545651"/>
                  <a:gd name="connsiteX6" fmla="*/ 244332 w 878361"/>
                  <a:gd name="connsiteY6" fmla="*/ 173378 h 545651"/>
                  <a:gd name="connsiteX7" fmla="*/ 526216 w 878361"/>
                  <a:gd name="connsiteY7" fmla="*/ 2823 h 545651"/>
                  <a:gd name="connsiteX0" fmla="*/ 528231 w 880376"/>
                  <a:gd name="connsiteY0" fmla="*/ 2823 h 545651"/>
                  <a:gd name="connsiteX1" fmla="*/ 755068 w 880376"/>
                  <a:gd name="connsiteY1" fmla="*/ 285400 h 545651"/>
                  <a:gd name="connsiteX2" fmla="*/ 880376 w 880376"/>
                  <a:gd name="connsiteY2" fmla="*/ 414984 h 545651"/>
                  <a:gd name="connsiteX3" fmla="*/ 749710 w 880376"/>
                  <a:gd name="connsiteY3" fmla="*/ 545650 h 545651"/>
                  <a:gd name="connsiteX4" fmla="*/ 192498 w 880376"/>
                  <a:gd name="connsiteY4" fmla="*/ 545650 h 545651"/>
                  <a:gd name="connsiteX5" fmla="*/ 2027 w 880376"/>
                  <a:gd name="connsiteY5" fmla="*/ 355179 h 545651"/>
                  <a:gd name="connsiteX6" fmla="*/ 246347 w 880376"/>
                  <a:gd name="connsiteY6" fmla="*/ 173378 h 545651"/>
                  <a:gd name="connsiteX7" fmla="*/ 528231 w 880376"/>
                  <a:gd name="connsiteY7" fmla="*/ 2823 h 545651"/>
                  <a:gd name="connsiteX0" fmla="*/ 526217 w 878362"/>
                  <a:gd name="connsiteY0" fmla="*/ 2823 h 545651"/>
                  <a:gd name="connsiteX1" fmla="*/ 753054 w 878362"/>
                  <a:gd name="connsiteY1" fmla="*/ 285400 h 545651"/>
                  <a:gd name="connsiteX2" fmla="*/ 878362 w 878362"/>
                  <a:gd name="connsiteY2" fmla="*/ 414984 h 545651"/>
                  <a:gd name="connsiteX3" fmla="*/ 747696 w 878362"/>
                  <a:gd name="connsiteY3" fmla="*/ 545650 h 545651"/>
                  <a:gd name="connsiteX4" fmla="*/ 190484 w 878362"/>
                  <a:gd name="connsiteY4" fmla="*/ 545650 h 545651"/>
                  <a:gd name="connsiteX5" fmla="*/ 13 w 878362"/>
                  <a:gd name="connsiteY5" fmla="*/ 355179 h 545651"/>
                  <a:gd name="connsiteX6" fmla="*/ 244333 w 878362"/>
                  <a:gd name="connsiteY6" fmla="*/ 173378 h 545651"/>
                  <a:gd name="connsiteX7" fmla="*/ 526217 w 878362"/>
                  <a:gd name="connsiteY7" fmla="*/ 2823 h 545651"/>
                  <a:gd name="connsiteX0" fmla="*/ 526964 w 879109"/>
                  <a:gd name="connsiteY0" fmla="*/ 2823 h 545651"/>
                  <a:gd name="connsiteX1" fmla="*/ 753801 w 879109"/>
                  <a:gd name="connsiteY1" fmla="*/ 285400 h 545651"/>
                  <a:gd name="connsiteX2" fmla="*/ 879109 w 879109"/>
                  <a:gd name="connsiteY2" fmla="*/ 414984 h 545651"/>
                  <a:gd name="connsiteX3" fmla="*/ 748443 w 879109"/>
                  <a:gd name="connsiteY3" fmla="*/ 545650 h 545651"/>
                  <a:gd name="connsiteX4" fmla="*/ 191231 w 879109"/>
                  <a:gd name="connsiteY4" fmla="*/ 545650 h 545651"/>
                  <a:gd name="connsiteX5" fmla="*/ 760 w 879109"/>
                  <a:gd name="connsiteY5" fmla="*/ 355179 h 545651"/>
                  <a:gd name="connsiteX6" fmla="*/ 245080 w 879109"/>
                  <a:gd name="connsiteY6" fmla="*/ 173378 h 545651"/>
                  <a:gd name="connsiteX7" fmla="*/ 526964 w 879109"/>
                  <a:gd name="connsiteY7" fmla="*/ 2823 h 545651"/>
                  <a:gd name="connsiteX0" fmla="*/ 526217 w 878362"/>
                  <a:gd name="connsiteY0" fmla="*/ 2823 h 545651"/>
                  <a:gd name="connsiteX1" fmla="*/ 753054 w 878362"/>
                  <a:gd name="connsiteY1" fmla="*/ 285400 h 545651"/>
                  <a:gd name="connsiteX2" fmla="*/ 878362 w 878362"/>
                  <a:gd name="connsiteY2" fmla="*/ 414984 h 545651"/>
                  <a:gd name="connsiteX3" fmla="*/ 747696 w 878362"/>
                  <a:gd name="connsiteY3" fmla="*/ 545650 h 545651"/>
                  <a:gd name="connsiteX4" fmla="*/ 190484 w 878362"/>
                  <a:gd name="connsiteY4" fmla="*/ 545650 h 545651"/>
                  <a:gd name="connsiteX5" fmla="*/ 13 w 878362"/>
                  <a:gd name="connsiteY5" fmla="*/ 355179 h 545651"/>
                  <a:gd name="connsiteX6" fmla="*/ 244333 w 878362"/>
                  <a:gd name="connsiteY6" fmla="*/ 173378 h 545651"/>
                  <a:gd name="connsiteX7" fmla="*/ 526217 w 878362"/>
                  <a:gd name="connsiteY7" fmla="*/ 2823 h 545651"/>
                  <a:gd name="connsiteX0" fmla="*/ 526245 w 878390"/>
                  <a:gd name="connsiteY0" fmla="*/ 2823 h 545651"/>
                  <a:gd name="connsiteX1" fmla="*/ 753082 w 878390"/>
                  <a:gd name="connsiteY1" fmla="*/ 285400 h 545651"/>
                  <a:gd name="connsiteX2" fmla="*/ 878390 w 878390"/>
                  <a:gd name="connsiteY2" fmla="*/ 414984 h 545651"/>
                  <a:gd name="connsiteX3" fmla="*/ 747724 w 878390"/>
                  <a:gd name="connsiteY3" fmla="*/ 545650 h 545651"/>
                  <a:gd name="connsiteX4" fmla="*/ 190512 w 878390"/>
                  <a:gd name="connsiteY4" fmla="*/ 545650 h 545651"/>
                  <a:gd name="connsiteX5" fmla="*/ 41 w 878390"/>
                  <a:gd name="connsiteY5" fmla="*/ 355179 h 545651"/>
                  <a:gd name="connsiteX6" fmla="*/ 244361 w 878390"/>
                  <a:gd name="connsiteY6" fmla="*/ 173378 h 545651"/>
                  <a:gd name="connsiteX7" fmla="*/ 526245 w 878390"/>
                  <a:gd name="connsiteY7" fmla="*/ 2823 h 545651"/>
                  <a:gd name="connsiteX0" fmla="*/ 526964 w 879109"/>
                  <a:gd name="connsiteY0" fmla="*/ 2823 h 545651"/>
                  <a:gd name="connsiteX1" fmla="*/ 753801 w 879109"/>
                  <a:gd name="connsiteY1" fmla="*/ 285400 h 545651"/>
                  <a:gd name="connsiteX2" fmla="*/ 879109 w 879109"/>
                  <a:gd name="connsiteY2" fmla="*/ 414984 h 545651"/>
                  <a:gd name="connsiteX3" fmla="*/ 748443 w 879109"/>
                  <a:gd name="connsiteY3" fmla="*/ 545650 h 545651"/>
                  <a:gd name="connsiteX4" fmla="*/ 191231 w 879109"/>
                  <a:gd name="connsiteY4" fmla="*/ 545650 h 545651"/>
                  <a:gd name="connsiteX5" fmla="*/ 760 w 879109"/>
                  <a:gd name="connsiteY5" fmla="*/ 355179 h 545651"/>
                  <a:gd name="connsiteX6" fmla="*/ 245080 w 879109"/>
                  <a:gd name="connsiteY6" fmla="*/ 173378 h 545651"/>
                  <a:gd name="connsiteX7" fmla="*/ 526964 w 879109"/>
                  <a:gd name="connsiteY7" fmla="*/ 2823 h 545651"/>
                  <a:gd name="connsiteX0" fmla="*/ 526721 w 878866"/>
                  <a:gd name="connsiteY0" fmla="*/ 2823 h 545651"/>
                  <a:gd name="connsiteX1" fmla="*/ 753558 w 878866"/>
                  <a:gd name="connsiteY1" fmla="*/ 285400 h 545651"/>
                  <a:gd name="connsiteX2" fmla="*/ 878866 w 878866"/>
                  <a:gd name="connsiteY2" fmla="*/ 414984 h 545651"/>
                  <a:gd name="connsiteX3" fmla="*/ 748200 w 878866"/>
                  <a:gd name="connsiteY3" fmla="*/ 545650 h 545651"/>
                  <a:gd name="connsiteX4" fmla="*/ 190988 w 878866"/>
                  <a:gd name="connsiteY4" fmla="*/ 545650 h 545651"/>
                  <a:gd name="connsiteX5" fmla="*/ 517 w 878866"/>
                  <a:gd name="connsiteY5" fmla="*/ 355179 h 545651"/>
                  <a:gd name="connsiteX6" fmla="*/ 244837 w 878866"/>
                  <a:gd name="connsiteY6" fmla="*/ 173378 h 545651"/>
                  <a:gd name="connsiteX7" fmla="*/ 526721 w 878866"/>
                  <a:gd name="connsiteY7" fmla="*/ 2823 h 545651"/>
                  <a:gd name="connsiteX0" fmla="*/ 526246 w 878391"/>
                  <a:gd name="connsiteY0" fmla="*/ 2823 h 545651"/>
                  <a:gd name="connsiteX1" fmla="*/ 753083 w 878391"/>
                  <a:gd name="connsiteY1" fmla="*/ 285400 h 545651"/>
                  <a:gd name="connsiteX2" fmla="*/ 878391 w 878391"/>
                  <a:gd name="connsiteY2" fmla="*/ 414984 h 545651"/>
                  <a:gd name="connsiteX3" fmla="*/ 747725 w 878391"/>
                  <a:gd name="connsiteY3" fmla="*/ 545650 h 545651"/>
                  <a:gd name="connsiteX4" fmla="*/ 190513 w 878391"/>
                  <a:gd name="connsiteY4" fmla="*/ 545650 h 545651"/>
                  <a:gd name="connsiteX5" fmla="*/ 42 w 878391"/>
                  <a:gd name="connsiteY5" fmla="*/ 355179 h 545651"/>
                  <a:gd name="connsiteX6" fmla="*/ 244362 w 878391"/>
                  <a:gd name="connsiteY6" fmla="*/ 173378 h 545651"/>
                  <a:gd name="connsiteX7" fmla="*/ 526246 w 878391"/>
                  <a:gd name="connsiteY7" fmla="*/ 2823 h 545651"/>
                  <a:gd name="connsiteX0" fmla="*/ 526246 w 878391"/>
                  <a:gd name="connsiteY0" fmla="*/ 2823 h 545651"/>
                  <a:gd name="connsiteX1" fmla="*/ 753083 w 878391"/>
                  <a:gd name="connsiteY1" fmla="*/ 285400 h 545651"/>
                  <a:gd name="connsiteX2" fmla="*/ 878391 w 878391"/>
                  <a:gd name="connsiteY2" fmla="*/ 414984 h 545651"/>
                  <a:gd name="connsiteX3" fmla="*/ 747725 w 878391"/>
                  <a:gd name="connsiteY3" fmla="*/ 545650 h 545651"/>
                  <a:gd name="connsiteX4" fmla="*/ 190513 w 878391"/>
                  <a:gd name="connsiteY4" fmla="*/ 545650 h 545651"/>
                  <a:gd name="connsiteX5" fmla="*/ 42 w 878391"/>
                  <a:gd name="connsiteY5" fmla="*/ 355179 h 545651"/>
                  <a:gd name="connsiteX6" fmla="*/ 244362 w 878391"/>
                  <a:gd name="connsiteY6" fmla="*/ 173378 h 545651"/>
                  <a:gd name="connsiteX7" fmla="*/ 526246 w 878391"/>
                  <a:gd name="connsiteY7" fmla="*/ 2823 h 545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391" h="545651">
                    <a:moveTo>
                      <a:pt x="526246" y="2823"/>
                    </a:moveTo>
                    <a:cubicBezTo>
                      <a:pt x="663881" y="24023"/>
                      <a:pt x="772336" y="152517"/>
                      <a:pt x="753083" y="285400"/>
                    </a:cubicBezTo>
                    <a:cubicBezTo>
                      <a:pt x="852208" y="299089"/>
                      <a:pt x="878212" y="375742"/>
                      <a:pt x="878391" y="414984"/>
                    </a:cubicBezTo>
                    <a:cubicBezTo>
                      <a:pt x="878627" y="466609"/>
                      <a:pt x="833938" y="546043"/>
                      <a:pt x="747725" y="545650"/>
                    </a:cubicBezTo>
                    <a:lnTo>
                      <a:pt x="190513" y="545650"/>
                    </a:lnTo>
                    <a:cubicBezTo>
                      <a:pt x="77130" y="544985"/>
                      <a:pt x="2268" y="445667"/>
                      <a:pt x="42" y="355179"/>
                    </a:cubicBezTo>
                    <a:cubicBezTo>
                      <a:pt x="-2184" y="264691"/>
                      <a:pt x="84465" y="123521"/>
                      <a:pt x="244362" y="173378"/>
                    </a:cubicBezTo>
                    <a:cubicBezTo>
                      <a:pt x="271526" y="75658"/>
                      <a:pt x="394045" y="-17540"/>
                      <a:pt x="526246" y="2823"/>
                    </a:cubicBez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34" tIns="143387" rIns="179234" bIns="143387" numCol="1" spcCol="0" rtlCol="0" fromWordArt="0" anchor="t" anchorCtr="0" forceAA="0" compatLnSpc="1">
                <a:prstTxWarp prst="textNoShape">
                  <a:avLst/>
                </a:prstTxWarp>
                <a:noAutofit/>
              </a:bodyPr>
              <a:lstStyle/>
              <a:p>
                <a:pPr algn="ctr" defTabSz="913751" fontAlgn="base">
                  <a:lnSpc>
                    <a:spcPct val="90000"/>
                  </a:lnSpc>
                  <a:spcBef>
                    <a:spcPct val="0"/>
                  </a:spcBef>
                  <a:spcAft>
                    <a:spcPct val="0"/>
                  </a:spcAft>
                  <a:defRPr/>
                </a:pPr>
                <a:endParaRPr lang="en-IN" sz="1961" b="1">
                  <a:solidFill>
                    <a:srgbClr val="FFFFFF"/>
                  </a:solidFill>
                  <a:latin typeface="Segoe UI Light"/>
                  <a:ea typeface="Segoe UI" pitchFamily="34" charset="0"/>
                  <a:cs typeface="Segoe UI" pitchFamily="34" charset="0"/>
                </a:endParaRPr>
              </a:p>
            </p:txBody>
          </p:sp>
          <p:sp>
            <p:nvSpPr>
              <p:cNvPr id="22" name="Arrow: Up 21">
                <a:extLst>
                  <a:ext uri="{FF2B5EF4-FFF2-40B4-BE49-F238E27FC236}">
                    <a16:creationId xmlns:a16="http://schemas.microsoft.com/office/drawing/2014/main" id="{991416C9-14B3-4228-A975-86D26BB04092}"/>
                  </a:ext>
                </a:extLst>
              </p:cNvPr>
              <p:cNvSpPr/>
              <p:nvPr/>
            </p:nvSpPr>
            <p:spPr bwMode="auto">
              <a:xfrm>
                <a:off x="6998520" y="1585232"/>
                <a:ext cx="272376" cy="438698"/>
              </a:xfrm>
              <a:prstGeom prst="upArrow">
                <a:avLst>
                  <a:gd name="adj1" fmla="val 50000"/>
                  <a:gd name="adj2" fmla="val 54496"/>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defRPr/>
                </a:pPr>
                <a:endParaRPr lang="en-US" sz="200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sp>
        <p:nvSpPr>
          <p:cNvPr id="7" name="TextBox 6">
            <a:extLst>
              <a:ext uri="{FF2B5EF4-FFF2-40B4-BE49-F238E27FC236}">
                <a16:creationId xmlns:a16="http://schemas.microsoft.com/office/drawing/2014/main" id="{50E6D8CE-0AE4-4D46-933B-B09E6FFBB2AD}"/>
              </a:ext>
            </a:extLst>
          </p:cNvPr>
          <p:cNvSpPr txBox="1"/>
          <p:nvPr/>
        </p:nvSpPr>
        <p:spPr>
          <a:xfrm>
            <a:off x="10169009" y="1755875"/>
            <a:ext cx="1579630" cy="310214"/>
          </a:xfrm>
          <a:prstGeom prst="rect">
            <a:avLst/>
          </a:prstGeom>
        </p:spPr>
        <p:txBody>
          <a:bodyPr wrap="square" lIns="89631" tIns="44814" rIns="89631" bIns="44814" rtlCol="0">
            <a:spAutoFit/>
          </a:bodyPr>
          <a:lstStyle>
            <a:defPPr>
              <a:defRPr lang="en-US"/>
            </a:defPPr>
            <a:lvl1pPr algn="ctr">
              <a:lnSpc>
                <a:spcPct val="90000"/>
              </a:lnSpc>
              <a:spcAft>
                <a:spcPts val="600"/>
              </a:spcAft>
              <a:defRPr sz="1200">
                <a:solidFill>
                  <a:schemeClr val="tx2"/>
                </a:solidFill>
              </a:defRPr>
            </a:lvl1pPr>
          </a:lstStyle>
          <a:p>
            <a:pPr defTabSz="914201">
              <a:lnSpc>
                <a:spcPct val="100000"/>
              </a:lnSpc>
              <a:spcAft>
                <a:spcPts val="588"/>
              </a:spcAft>
              <a:defRPr/>
            </a:pPr>
            <a:r>
              <a:rPr lang="en-US" sz="1400">
                <a:solidFill>
                  <a:prstClr val="white"/>
                </a:solidFill>
                <a:latin typeface="Segoe UI Semibold"/>
              </a:rPr>
              <a:t>Microsoft Azure</a:t>
            </a:r>
          </a:p>
        </p:txBody>
      </p:sp>
      <p:cxnSp>
        <p:nvCxnSpPr>
          <p:cNvPr id="28" name="Straight Arrow Connector 27">
            <a:extLst>
              <a:ext uri="{FF2B5EF4-FFF2-40B4-BE49-F238E27FC236}">
                <a16:creationId xmlns:a16="http://schemas.microsoft.com/office/drawing/2014/main" id="{FAE45592-AFE2-44D9-8723-A2C24A0A5E76}"/>
              </a:ext>
              <a:ext uri="{C183D7F6-B498-43B3-948B-1728B52AA6E4}">
                <adec:decorative xmlns:adec="http://schemas.microsoft.com/office/drawing/2017/decorative" val="1"/>
              </a:ext>
            </a:extLst>
          </p:cNvPr>
          <p:cNvCxnSpPr>
            <a:cxnSpLocks/>
          </p:cNvCxnSpPr>
          <p:nvPr/>
        </p:nvCxnSpPr>
        <p:spPr>
          <a:xfrm>
            <a:off x="4768917" y="4029929"/>
            <a:ext cx="1935169" cy="0"/>
          </a:xfrm>
          <a:prstGeom prst="straightConnector1">
            <a:avLst/>
          </a:prstGeom>
          <a:ln w="12700">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9" name="Right Bracket 28">
            <a:extLst>
              <a:ext uri="{FF2B5EF4-FFF2-40B4-BE49-F238E27FC236}">
                <a16:creationId xmlns:a16="http://schemas.microsoft.com/office/drawing/2014/main" id="{9964FFE2-3869-49B3-A8B1-BFED4D1EFBA5}"/>
              </a:ext>
              <a:ext uri="{C183D7F6-B498-43B3-948B-1728B52AA6E4}">
                <adec:decorative xmlns:adec="http://schemas.microsoft.com/office/drawing/2017/decorative" val="1"/>
              </a:ext>
            </a:extLst>
          </p:cNvPr>
          <p:cNvSpPr/>
          <p:nvPr/>
        </p:nvSpPr>
        <p:spPr>
          <a:xfrm>
            <a:off x="1807349" y="2187088"/>
            <a:ext cx="47982" cy="4272549"/>
          </a:xfrm>
          <a:prstGeom prst="rightBracket">
            <a:avLst>
              <a:gd name="adj" fmla="val 0"/>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4225">
              <a:defRPr/>
            </a:pPr>
            <a:endParaRPr lang="en-US">
              <a:solidFill>
                <a:prstClr val="black"/>
              </a:solidFill>
              <a:latin typeface="Segoe UI"/>
            </a:endParaRPr>
          </a:p>
        </p:txBody>
      </p:sp>
      <p:sp>
        <p:nvSpPr>
          <p:cNvPr id="30" name="Right Bracket 29">
            <a:extLst>
              <a:ext uri="{FF2B5EF4-FFF2-40B4-BE49-F238E27FC236}">
                <a16:creationId xmlns:a16="http://schemas.microsoft.com/office/drawing/2014/main" id="{8ED1CE15-CB6E-43C4-BCF6-095A5B97FD38}"/>
              </a:ext>
              <a:ext uri="{C183D7F6-B498-43B3-948B-1728B52AA6E4}">
                <adec:decorative xmlns:adec="http://schemas.microsoft.com/office/drawing/2017/decorative" val="1"/>
              </a:ext>
            </a:extLst>
          </p:cNvPr>
          <p:cNvSpPr/>
          <p:nvPr/>
        </p:nvSpPr>
        <p:spPr>
          <a:xfrm flipH="1">
            <a:off x="10189480" y="2563305"/>
            <a:ext cx="153182" cy="2933248"/>
          </a:xfrm>
          <a:prstGeom prst="rightBracket">
            <a:avLst>
              <a:gd name="adj" fmla="val 0"/>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4225">
              <a:defRPr/>
            </a:pPr>
            <a:endParaRPr lang="en-US">
              <a:solidFill>
                <a:prstClr val="black"/>
              </a:solidFill>
              <a:latin typeface="Segoe UI"/>
            </a:endParaRPr>
          </a:p>
        </p:txBody>
      </p:sp>
      <p:cxnSp>
        <p:nvCxnSpPr>
          <p:cNvPr id="31" name="Straight Arrow Connector 30">
            <a:extLst>
              <a:ext uri="{FF2B5EF4-FFF2-40B4-BE49-F238E27FC236}">
                <a16:creationId xmlns:a16="http://schemas.microsoft.com/office/drawing/2014/main" id="{1ED658CC-36FF-4CD4-8DC5-1AD1732A2D45}"/>
              </a:ext>
              <a:ext uri="{C183D7F6-B498-43B3-948B-1728B52AA6E4}">
                <adec:decorative xmlns:adec="http://schemas.microsoft.com/office/drawing/2017/decorative" val="1"/>
              </a:ext>
            </a:extLst>
          </p:cNvPr>
          <p:cNvCxnSpPr>
            <a:cxnSpLocks/>
          </p:cNvCxnSpPr>
          <p:nvPr/>
        </p:nvCxnSpPr>
        <p:spPr>
          <a:xfrm>
            <a:off x="1936606" y="4029929"/>
            <a:ext cx="1353093" cy="0"/>
          </a:xfrm>
          <a:prstGeom prst="straightConnector1">
            <a:avLst/>
          </a:prstGeom>
          <a:ln w="12700">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D683387-6BA9-4E73-BCFF-07B9208972C2}"/>
              </a:ext>
              <a:ext uri="{C183D7F6-B498-43B3-948B-1728B52AA6E4}">
                <adec:decorative xmlns:adec="http://schemas.microsoft.com/office/drawing/2017/decorative" val="1"/>
              </a:ext>
            </a:extLst>
          </p:cNvPr>
          <p:cNvCxnSpPr>
            <a:cxnSpLocks/>
          </p:cNvCxnSpPr>
          <p:nvPr/>
        </p:nvCxnSpPr>
        <p:spPr>
          <a:xfrm>
            <a:off x="8749925" y="4029929"/>
            <a:ext cx="1439557" cy="0"/>
          </a:xfrm>
          <a:prstGeom prst="straightConnector1">
            <a:avLst/>
          </a:prstGeom>
          <a:ln w="1270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0" name="Graphic 49" descr="Azure SQL logo">
            <a:extLst>
              <a:ext uri="{FF2B5EF4-FFF2-40B4-BE49-F238E27FC236}">
                <a16:creationId xmlns:a16="http://schemas.microsoft.com/office/drawing/2014/main" id="{D65CADE4-1E02-4671-9B54-9EB96101047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626572" y="2614403"/>
            <a:ext cx="539279" cy="539279"/>
          </a:xfrm>
          <a:prstGeom prst="rect">
            <a:avLst/>
          </a:prstGeom>
        </p:spPr>
      </p:pic>
      <p:pic>
        <p:nvPicPr>
          <p:cNvPr id="47" name="Graphic 46" descr="MySQL logo">
            <a:extLst>
              <a:ext uri="{FF2B5EF4-FFF2-40B4-BE49-F238E27FC236}">
                <a16:creationId xmlns:a16="http://schemas.microsoft.com/office/drawing/2014/main" id="{E90C2963-C0AF-48F4-8F8D-39D6F3EA5D7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668919" y="3453320"/>
            <a:ext cx="497089" cy="497089"/>
          </a:xfrm>
          <a:prstGeom prst="rect">
            <a:avLst/>
          </a:prstGeom>
        </p:spPr>
      </p:pic>
      <p:pic>
        <p:nvPicPr>
          <p:cNvPr id="49" name="Graphic 48" descr="Azure PostgreSQL logo">
            <a:extLst>
              <a:ext uri="{FF2B5EF4-FFF2-40B4-BE49-F238E27FC236}">
                <a16:creationId xmlns:a16="http://schemas.microsoft.com/office/drawing/2014/main" id="{EF9BA6AA-5CA6-437E-9494-F2D74FF3866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674765" y="4250047"/>
            <a:ext cx="497090" cy="497090"/>
          </a:xfrm>
          <a:prstGeom prst="rect">
            <a:avLst/>
          </a:prstGeom>
        </p:spPr>
      </p:pic>
      <p:pic>
        <p:nvPicPr>
          <p:cNvPr id="48" name="Graphic 47" descr="Azure Cosmos DB logo">
            <a:extLst>
              <a:ext uri="{FF2B5EF4-FFF2-40B4-BE49-F238E27FC236}">
                <a16:creationId xmlns:a16="http://schemas.microsoft.com/office/drawing/2014/main" id="{1B2A8602-5152-4DA4-BD84-7CB470A8A1A6}"/>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740645" y="5016579"/>
            <a:ext cx="461920" cy="461920"/>
          </a:xfrm>
          <a:prstGeom prst="rect">
            <a:avLst/>
          </a:prstGeom>
        </p:spPr>
      </p:pic>
    </p:spTree>
    <p:extLst>
      <p:ext uri="{BB962C8B-B14F-4D97-AF65-F5344CB8AC3E}">
        <p14:creationId xmlns:p14="http://schemas.microsoft.com/office/powerpoint/2010/main" val="267196262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B5FBF-7A11-624E-AA00-C53BF09BA7EB}"/>
              </a:ext>
            </a:extLst>
          </p:cNvPr>
          <p:cNvSpPr>
            <a:spLocks noGrp="1"/>
          </p:cNvSpPr>
          <p:nvPr>
            <p:ph type="title"/>
          </p:nvPr>
        </p:nvSpPr>
        <p:spPr>
          <a:xfrm>
            <a:off x="536332" y="2439960"/>
            <a:ext cx="9401560" cy="1846659"/>
          </a:xfrm>
        </p:spPr>
        <p:txBody>
          <a:bodyPr/>
          <a:lstStyle/>
          <a:p>
            <a:r>
              <a:rPr lang="en-US" sz="3600" dirty="0"/>
              <a:t>Thank you for joining us today!</a:t>
            </a:r>
            <a:br>
              <a:rPr lang="en-US" sz="3600" dirty="0"/>
            </a:br>
            <a:br>
              <a:rPr lang="en-US" sz="3600" dirty="0"/>
            </a:br>
            <a:endParaRPr lang="en-US" sz="3600" dirty="0">
              <a:solidFill>
                <a:schemeClr val="bg1"/>
              </a:solidFill>
            </a:endParaRPr>
          </a:p>
        </p:txBody>
      </p:sp>
    </p:spTree>
    <p:extLst>
      <p:ext uri="{BB962C8B-B14F-4D97-AF65-F5344CB8AC3E}">
        <p14:creationId xmlns:p14="http://schemas.microsoft.com/office/powerpoint/2010/main" val="1258187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WHITE TEMPLATE">
  <a:themeElements>
    <a:clrScheme name="Azure">
      <a:dk1>
        <a:sysClr val="windowText" lastClr="000000"/>
      </a:dk1>
      <a:lt1>
        <a:sysClr val="window" lastClr="FFFFFF"/>
      </a:lt1>
      <a:dk2>
        <a:srgbClr val="000000"/>
      </a:dk2>
      <a:lt2>
        <a:srgbClr val="FFFFFF"/>
      </a:lt2>
      <a:accent1>
        <a:srgbClr val="0078D4"/>
      </a:accent1>
      <a:accent2>
        <a:srgbClr val="50E6FF"/>
      </a:accent2>
      <a:accent3>
        <a:srgbClr val="3C3C41"/>
      </a:accent3>
      <a:accent4>
        <a:srgbClr val="75757A"/>
      </a:accent4>
      <a:accent5>
        <a:srgbClr val="EBEBEB"/>
      </a:accent5>
      <a:accent6>
        <a:srgbClr val="FFFFFF"/>
      </a:accent6>
      <a:hlink>
        <a:srgbClr val="0078D4"/>
      </a:hlink>
      <a:folHlink>
        <a:srgbClr val="954F72"/>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12700">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dirty="0" smtClean="0">
            <a:solidFill>
              <a:schemeClr val="bg1"/>
            </a:solidFill>
          </a:defRPr>
        </a:defPPr>
      </a:lstStyle>
    </a:txDef>
  </a:objectDefaults>
  <a:extraClrSchemeLst/>
  <a:extLst>
    <a:ext uri="{05A4C25C-085E-4340-85A3-A5531E510DB2}">
      <thm15:themeFamily xmlns:thm15="http://schemas.microsoft.com/office/thememl/2012/main" name="020518_Baseline File [square photo].potx" id="{C5D1F236-4B1B-4E57-A29C-AD92A4683BEF}" vid="{04698D39-7FD2-42AF-81C6-B18BB52E45EF}"/>
    </a:ext>
  </a:extLst>
</a:theme>
</file>

<file path=ppt/theme/theme2.xml><?xml version="1.0" encoding="utf-8"?>
<a:theme xmlns:a="http://schemas.openxmlformats.org/drawingml/2006/main" name="Black Template">
  <a:themeElements>
    <a:clrScheme name="2019 Brand BLUE Dark Bak">
      <a:dk1>
        <a:srgbClr val="000000"/>
      </a:dk1>
      <a:lt1>
        <a:srgbClr val="FFFFFF"/>
      </a:lt1>
      <a:dk2>
        <a:srgbClr val="243A5E"/>
      </a:dk2>
      <a:lt2>
        <a:srgbClr val="E6E6E6"/>
      </a:lt2>
      <a:accent1>
        <a:srgbClr val="0078D4"/>
      </a:accent1>
      <a:accent2>
        <a:srgbClr val="50E6FF"/>
      </a:accent2>
      <a:accent3>
        <a:srgbClr val="D83B01"/>
      </a:accent3>
      <a:accent4>
        <a:srgbClr val="9BF00B"/>
      </a:accent4>
      <a:accent5>
        <a:srgbClr val="FFB900"/>
      </a:accent5>
      <a:accent6>
        <a:srgbClr val="E6E6E6"/>
      </a:accent6>
      <a:hlink>
        <a:srgbClr val="50E6FF"/>
      </a:hlink>
      <a:folHlink>
        <a:srgbClr val="50E6FF"/>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lue_Business_2019_01.potx" id="{B8F53374-45FC-4FE2-A734-987B38B4F728}" vid="{275E48DB-F7F1-47EF-AD59-BC93EEF78B96}"/>
    </a:ext>
  </a:extLst>
</a:theme>
</file>

<file path=ppt/theme/theme3.xml><?xml version="1.0" encoding="utf-8"?>
<a:theme xmlns:a="http://schemas.openxmlformats.org/drawingml/2006/main" name="1_Microsoft 365 PPT Template - 2018">
  <a:themeElements>
    <a:clrScheme name="Custom 4">
      <a:dk1>
        <a:srgbClr val="282828"/>
      </a:dk1>
      <a:lt1>
        <a:srgbClr val="FFFFFF"/>
      </a:lt1>
      <a:dk2>
        <a:srgbClr val="282828"/>
      </a:dk2>
      <a:lt2>
        <a:srgbClr val="FFFFFF"/>
      </a:lt2>
      <a:accent1>
        <a:srgbClr val="0078D4"/>
      </a:accent1>
      <a:accent2>
        <a:srgbClr val="002050"/>
      </a:accent2>
      <a:accent3>
        <a:srgbClr val="939393"/>
      </a:accent3>
      <a:accent4>
        <a:srgbClr val="00BCF2"/>
      </a:accent4>
      <a:accent5>
        <a:srgbClr val="6C6E6C"/>
      </a:accent5>
      <a:accent6>
        <a:srgbClr val="2E2F2E"/>
      </a:accent6>
      <a:hlink>
        <a:srgbClr val="0078D4"/>
      </a:hlink>
      <a:folHlink>
        <a:srgbClr val="0078D4"/>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365 PPT Template 2018_2" id="{01A7FB2A-7862-441E-89D5-C3EE05893CAC}" vid="{DEC62A46-47F5-4825-899D-4E8B117FF749}"/>
    </a:ext>
  </a:extLst>
</a:theme>
</file>

<file path=ppt/theme/theme4.xml><?xml version="1.0" encoding="utf-8"?>
<a:theme xmlns:a="http://schemas.openxmlformats.org/drawingml/2006/main" name="5_Azure Design Template">
  <a:themeElements>
    <a:clrScheme name="Azure Design Template">
      <a:dk1>
        <a:sysClr val="windowText" lastClr="000000"/>
      </a:dk1>
      <a:lt1>
        <a:sysClr val="window" lastClr="FFFFFF"/>
      </a:lt1>
      <a:dk2>
        <a:srgbClr val="FFFFFF"/>
      </a:dk2>
      <a:lt2>
        <a:srgbClr val="282828"/>
      </a:lt2>
      <a:accent1>
        <a:srgbClr val="0078D4"/>
      </a:accent1>
      <a:accent2>
        <a:srgbClr val="000000"/>
      </a:accent2>
      <a:accent3>
        <a:srgbClr val="50E6FF"/>
      </a:accent3>
      <a:accent4>
        <a:srgbClr val="3C3C41"/>
      </a:accent4>
      <a:accent5>
        <a:srgbClr val="75757A"/>
      </a:accent5>
      <a:accent6>
        <a:srgbClr val="EBEBEB"/>
      </a:accent6>
      <a:hlink>
        <a:srgbClr val="0563C1"/>
      </a:hlink>
      <a:folHlink>
        <a:srgbClr val="954F72"/>
      </a:folHlink>
    </a:clrScheme>
    <a:fontScheme name="Custom 1">
      <a:majorFont>
        <a:latin typeface="Segoe UI Semibold"/>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EP_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smtClean="0"/>
        </a:defPPr>
      </a:lstStyle>
    </a:txDef>
  </a:objectDefaults>
  <a:extraClrSchemeLst/>
  <a:extLst>
    <a:ext uri="{05A4C25C-085E-4340-85A3-A5531E510DB2}">
      <thm15:themeFamily xmlns:thm15="http://schemas.microsoft.com/office/thememl/2012/main" name="Microsoft brand template_WHITE_Blue_Accent.potx" id="{D66F7511-47FD-43CB-A804-3BD691A97EAD}" vid="{5E227C23-4ECD-456A-8393-399A513A27CA}"/>
    </a:ext>
  </a:extLst>
</a:theme>
</file>

<file path=ppt/theme/theme6.xml><?xml version="1.0" encoding="utf-8"?>
<a:theme xmlns:a="http://schemas.openxmlformats.org/drawingml/2006/main" name="Azure Design Template">
  <a:themeElements>
    <a:clrScheme name="Azure">
      <a:dk1>
        <a:sysClr val="windowText" lastClr="000000"/>
      </a:dk1>
      <a:lt1>
        <a:sysClr val="window" lastClr="FFFFFF"/>
      </a:lt1>
      <a:dk2>
        <a:srgbClr val="FFFFFF"/>
      </a:dk2>
      <a:lt2>
        <a:srgbClr val="282828"/>
      </a:lt2>
      <a:accent1>
        <a:srgbClr val="0078D4"/>
      </a:accent1>
      <a:accent2>
        <a:srgbClr val="000000"/>
      </a:accent2>
      <a:accent3>
        <a:srgbClr val="50E6FF"/>
      </a:accent3>
      <a:accent4>
        <a:srgbClr val="3C3C41"/>
      </a:accent4>
      <a:accent5>
        <a:srgbClr val="75757A"/>
      </a:accent5>
      <a:accent6>
        <a:srgbClr val="EBEBEB"/>
      </a:accent6>
      <a:hlink>
        <a:srgbClr val="0563C1"/>
      </a:hlink>
      <a:folHlink>
        <a:srgbClr val="954F72"/>
      </a:folHlink>
    </a:clrScheme>
    <a:fontScheme name="Custom 1">
      <a:majorFont>
        <a:latin typeface="Segoe UI Semibold"/>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Azure Design Template">
  <a:themeElements>
    <a:clrScheme name="Azure Design Template">
      <a:dk1>
        <a:sysClr val="windowText" lastClr="000000"/>
      </a:dk1>
      <a:lt1>
        <a:sysClr val="window" lastClr="FFFFFF"/>
      </a:lt1>
      <a:dk2>
        <a:srgbClr val="FFFFFF"/>
      </a:dk2>
      <a:lt2>
        <a:srgbClr val="282828"/>
      </a:lt2>
      <a:accent1>
        <a:srgbClr val="0078D4"/>
      </a:accent1>
      <a:accent2>
        <a:srgbClr val="000000"/>
      </a:accent2>
      <a:accent3>
        <a:srgbClr val="50E6FF"/>
      </a:accent3>
      <a:accent4>
        <a:srgbClr val="3C3C41"/>
      </a:accent4>
      <a:accent5>
        <a:srgbClr val="75757A"/>
      </a:accent5>
      <a:accent6>
        <a:srgbClr val="EBEBEB"/>
      </a:accent6>
      <a:hlink>
        <a:srgbClr val="0563C1"/>
      </a:hlink>
      <a:folHlink>
        <a:srgbClr val="954F72"/>
      </a:folHlink>
    </a:clrScheme>
    <a:fontScheme name="Custom 1">
      <a:majorFont>
        <a:latin typeface="Segoe UI Semibold"/>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Black Template">
  <a:themeElements>
    <a:clrScheme name="2019 Brand BLUE Dark Bak">
      <a:dk1>
        <a:srgbClr val="000000"/>
      </a:dk1>
      <a:lt1>
        <a:srgbClr val="FFFFFF"/>
      </a:lt1>
      <a:dk2>
        <a:srgbClr val="243A5E"/>
      </a:dk2>
      <a:lt2>
        <a:srgbClr val="E6E6E6"/>
      </a:lt2>
      <a:accent1>
        <a:srgbClr val="0078D4"/>
      </a:accent1>
      <a:accent2>
        <a:srgbClr val="50E6FF"/>
      </a:accent2>
      <a:accent3>
        <a:srgbClr val="D83B01"/>
      </a:accent3>
      <a:accent4>
        <a:srgbClr val="9BF00B"/>
      </a:accent4>
      <a:accent5>
        <a:srgbClr val="FFB900"/>
      </a:accent5>
      <a:accent6>
        <a:srgbClr val="E6E6E6"/>
      </a:accent6>
      <a:hlink>
        <a:srgbClr val="50E6FF"/>
      </a:hlink>
      <a:folHlink>
        <a:srgbClr val="50E6FF"/>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lue_February_2019" id="{0D93EA38-B0C4-4B20-BF67-413A307B6C0B}" vid="{C7413A89-757E-4CA6-A51B-57D9E2B4132F}"/>
    </a:ext>
  </a:extLst>
</a:theme>
</file>

<file path=ppt/theme/theme9.xml><?xml version="1.0" encoding="utf-8"?>
<a:theme xmlns:a="http://schemas.openxmlformats.org/drawingml/2006/main" name="1_WHITE TEMPLATE">
  <a:themeElements>
    <a:clrScheme name="Azure">
      <a:dk1>
        <a:sysClr val="windowText" lastClr="000000"/>
      </a:dk1>
      <a:lt1>
        <a:sysClr val="window" lastClr="FFFFFF"/>
      </a:lt1>
      <a:dk2>
        <a:srgbClr val="000000"/>
      </a:dk2>
      <a:lt2>
        <a:srgbClr val="FFFFFF"/>
      </a:lt2>
      <a:accent1>
        <a:srgbClr val="0078D4"/>
      </a:accent1>
      <a:accent2>
        <a:srgbClr val="50E6FF"/>
      </a:accent2>
      <a:accent3>
        <a:srgbClr val="3C3C41"/>
      </a:accent3>
      <a:accent4>
        <a:srgbClr val="75757A"/>
      </a:accent4>
      <a:accent5>
        <a:srgbClr val="EBEBEB"/>
      </a:accent5>
      <a:accent6>
        <a:srgbClr val="FFFFFF"/>
      </a:accent6>
      <a:hlink>
        <a:srgbClr val="0078D4"/>
      </a:hlink>
      <a:folHlink>
        <a:srgbClr val="954F72"/>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12700">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dirty="0" smtClean="0">
            <a:solidFill>
              <a:schemeClr val="bg1"/>
            </a:solidFill>
          </a:defRPr>
        </a:defPPr>
      </a:lstStyle>
    </a:txDef>
  </a:objectDefaults>
  <a:extraClrSchemeLst/>
  <a:extLst>
    <a:ext uri="{05A4C25C-085E-4340-85A3-A5531E510DB2}">
      <thm15:themeFamily xmlns:thm15="http://schemas.microsoft.com/office/thememl/2012/main" name="020518_Baseline File [square photo].potx" id="{C5D1F236-4B1B-4E57-A29C-AD92A4683BEF}" vid="{04698D39-7FD2-42AF-81C6-B18BB52E45EF}"/>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5858525f-8556-4a49-8c5b-46c9ac02e9a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92946DCD6EF84A8AD3B83D0B57F8EB" ma:contentTypeVersion="13" ma:contentTypeDescription="Create a new document." ma:contentTypeScope="" ma:versionID="56424064162c1754fc826b4fa2651462">
  <xsd:schema xmlns:xsd="http://www.w3.org/2001/XMLSchema" xmlns:xs="http://www.w3.org/2001/XMLSchema" xmlns:p="http://schemas.microsoft.com/office/2006/metadata/properties" xmlns:ns2="5858525f-8556-4a49-8c5b-46c9ac02e9a8" xmlns:ns3="c15da466-223d-4a9a-9a5d-eb2bee72a60a" targetNamespace="http://schemas.microsoft.com/office/2006/metadata/properties" ma:root="true" ma:fieldsID="fe7278107e8fc8859be3e2a53303b364" ns2:_="" ns3:_="">
    <xsd:import namespace="5858525f-8556-4a49-8c5b-46c9ac02e9a8"/>
    <xsd:import namespace="c15da466-223d-4a9a-9a5d-eb2bee72a60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58525f-8556-4a49-8c5b-46c9ac02e9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15da466-223d-4a9a-9a5d-eb2bee72a60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9BA036-F4CA-4408-B636-9FA19CCDDC21}">
  <ds:schemaRefs>
    <ds:schemaRef ds:uri="http://schemas.microsoft.com/office/2006/metadata/properties"/>
    <ds:schemaRef ds:uri="http://schemas.openxmlformats.org/package/2006/metadata/core-properties"/>
    <ds:schemaRef ds:uri="http://purl.org/dc/terms/"/>
    <ds:schemaRef ds:uri="5858525f-8556-4a49-8c5b-46c9ac02e9a8"/>
    <ds:schemaRef ds:uri="http://purl.org/dc/dcmitype/"/>
    <ds:schemaRef ds:uri="c15da466-223d-4a9a-9a5d-eb2bee72a60a"/>
    <ds:schemaRef ds:uri="http://purl.org/dc/elements/1.1/"/>
    <ds:schemaRef ds:uri="http://schemas.microsoft.com/office/2006/documentManagement/typ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34C87846-2675-40EE-93F9-CB9F8FBC26AF}">
  <ds:schemaRefs>
    <ds:schemaRef ds:uri="http://schemas.microsoft.com/sharepoint/v3/contenttype/forms"/>
  </ds:schemaRefs>
</ds:datastoreItem>
</file>

<file path=customXml/itemProps3.xml><?xml version="1.0" encoding="utf-8"?>
<ds:datastoreItem xmlns:ds="http://schemas.openxmlformats.org/officeDocument/2006/customXml" ds:itemID="{039FC309-0A2A-486E-AED4-5EFEB012D0AA}">
  <ds:schemaRefs>
    <ds:schemaRef ds:uri="5858525f-8556-4a49-8c5b-46c9ac02e9a8"/>
    <ds:schemaRef ds:uri="c15da466-223d-4a9a-9a5d-eb2bee72a6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79918f6-a69b-4b33-8166-e897131f7346}" enabled="0" method="" siteId="{e79918f6-a69b-4b33-8166-e897131f7346}" removed="1"/>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10881</TotalTime>
  <Words>8150</Words>
  <Application>Microsoft Office PowerPoint</Application>
  <PresentationFormat>Widescreen</PresentationFormat>
  <Paragraphs>690</Paragraphs>
  <Slides>37</Slides>
  <Notes>35</Notes>
  <HiddenSlides>0</HiddenSlides>
  <MMClips>0</MMClips>
  <ScaleCrop>false</ScaleCrop>
  <HeadingPairs>
    <vt:vector size="8" baseType="variant">
      <vt:variant>
        <vt:lpstr>Fonts Used</vt:lpstr>
      </vt:variant>
      <vt:variant>
        <vt:i4>10</vt:i4>
      </vt:variant>
      <vt:variant>
        <vt:lpstr>Theme</vt:lpstr>
      </vt:variant>
      <vt:variant>
        <vt:i4>9</vt:i4>
      </vt:variant>
      <vt:variant>
        <vt:lpstr>Embedded OLE Servers</vt:lpstr>
      </vt:variant>
      <vt:variant>
        <vt:i4>1</vt:i4>
      </vt:variant>
      <vt:variant>
        <vt:lpstr>Slide Titles</vt:lpstr>
      </vt:variant>
      <vt:variant>
        <vt:i4>37</vt:i4>
      </vt:variant>
    </vt:vector>
  </HeadingPairs>
  <TitlesOfParts>
    <vt:vector size="57" baseType="lpstr">
      <vt:lpstr>Arial</vt:lpstr>
      <vt:lpstr>Calibri</vt:lpstr>
      <vt:lpstr>Consolas</vt:lpstr>
      <vt:lpstr>Segoe UI</vt:lpstr>
      <vt:lpstr>Segoe UI Light</vt:lpstr>
      <vt:lpstr>Segoe UI Semibold</vt:lpstr>
      <vt:lpstr>Segoe UI Semilight</vt:lpstr>
      <vt:lpstr>Times New Roman</vt:lpstr>
      <vt:lpstr>Verdana</vt:lpstr>
      <vt:lpstr>Wingdings</vt:lpstr>
      <vt:lpstr>2_WHITE TEMPLATE</vt:lpstr>
      <vt:lpstr>Black Template</vt:lpstr>
      <vt:lpstr>1_Microsoft 365 PPT Template - 2018</vt:lpstr>
      <vt:lpstr>5_Azure Design Template</vt:lpstr>
      <vt:lpstr>KEEP_Black Template</vt:lpstr>
      <vt:lpstr>Azure Design Template</vt:lpstr>
      <vt:lpstr>6_Azure Design Template</vt:lpstr>
      <vt:lpstr>1_Black Template</vt:lpstr>
      <vt:lpstr>1_WHITE TEMPLATE</vt:lpstr>
      <vt:lpstr>think-cell Slide</vt:lpstr>
      <vt:lpstr>Azure Modernization into PaaS</vt:lpstr>
      <vt:lpstr>  Why Migrate your databases to Azure</vt:lpstr>
      <vt:lpstr>Two Years of Unprecedented Change</vt:lpstr>
      <vt:lpstr>Winning strategy IT leaders are adopting</vt:lpstr>
      <vt:lpstr>Industry findings predict continued migration and modernization momentum</vt:lpstr>
      <vt:lpstr>What’s driving migrations to Azure?</vt:lpstr>
      <vt:lpstr>Why customers choose to migrate </vt:lpstr>
      <vt:lpstr>Allscripts leveraged existing licensing to seamlessly migrate to the cloud with Azure Virtual Machines </vt:lpstr>
      <vt:lpstr>Komatsu achieves breakthrough performance  for less with Azure SQL Managed Instance </vt:lpstr>
      <vt:lpstr>The Allscripts prescription for agility:  lift and shift to the cloud</vt:lpstr>
      <vt:lpstr>H&amp;R Block delivers scalable tax preparation services with Azure SQL Managed Instance and SQL Server on Azure Virtual Machines</vt:lpstr>
      <vt:lpstr>Migrate to Azure: Save now, be future ready</vt:lpstr>
      <vt:lpstr>Why trust us for your data estate modernization?</vt:lpstr>
      <vt:lpstr>Cloud migration strategies</vt:lpstr>
      <vt:lpstr>Azure SQL</vt:lpstr>
      <vt:lpstr>Azure SQL is the best choice for SQL Server workloads</vt:lpstr>
      <vt:lpstr>Which Azure SQL offering is right for you?</vt:lpstr>
      <vt:lpstr>Key offers lower your total cost of ownership </vt:lpstr>
      <vt:lpstr>Azure Hybrid Benefit for SQL Server</vt:lpstr>
      <vt:lpstr>Mission critical SQL Server performance in Azure costs up to 84% less than alternatives</vt:lpstr>
      <vt:lpstr>Migrate to IaaS, continue to PaaS and boost your ROI</vt:lpstr>
      <vt:lpstr>Layers of security</vt:lpstr>
      <vt:lpstr>Windows Server and SQL Server 2012/2012 R2 End of Support</vt:lpstr>
      <vt:lpstr>Introducing Azure open-source databases </vt:lpstr>
      <vt:lpstr>Azure open source momentum </vt:lpstr>
      <vt:lpstr>Azure open source database services  </vt:lpstr>
      <vt:lpstr>Lowest TCO with built-in high availability</vt:lpstr>
      <vt:lpstr>Migrating your database to Azure  </vt:lpstr>
      <vt:lpstr>GeekWire is serves 2 million readers  worldwide with Azure Database for MySQL</vt:lpstr>
      <vt:lpstr>Key Azure benefits for Oracle workloads</vt:lpstr>
      <vt:lpstr>Two paths for your Oracle workloads on Azure</vt:lpstr>
      <vt:lpstr>Getting started with migration</vt:lpstr>
      <vt:lpstr>Count on a proven methodology</vt:lpstr>
      <vt:lpstr>Start your migration journey today</vt:lpstr>
      <vt:lpstr>Get free Azure migration tools  Azure Migrate: A central hub for datacenter migration</vt:lpstr>
      <vt:lpstr>Tools and services for your migration journey</vt:lpstr>
      <vt:lpstr>Thank you for joining us today!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Debbi Lyons</dc:creator>
  <cp:lastModifiedBy>Salin Kumar</cp:lastModifiedBy>
  <cp:revision>16</cp:revision>
  <cp:lastPrinted>2019-12-06T22:12:31Z</cp:lastPrinted>
  <dcterms:created xsi:type="dcterms:W3CDTF">2019-12-02T01:02:53Z</dcterms:created>
  <dcterms:modified xsi:type="dcterms:W3CDTF">2023-08-16T18:23:29Z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SetDate">
    <vt:lpwstr>2019-12-02T01:04:31.4413476Z</vt:lpwstr>
  </property>
  <property fmtid="{D5CDD505-2E9C-101B-9397-08002B2CF9AE}" pid="5" name="MSIP_Label_f42aa342-8706-4288-bd11-ebb85995028c_Name">
    <vt:lpwstr>General</vt:lpwstr>
  </property>
  <property fmtid="{D5CDD505-2E9C-101B-9397-08002B2CF9AE}" pid="6" name="MSIP_Label_f42aa342-8706-4288-bd11-ebb85995028c_ActionId">
    <vt:lpwstr>9b4427cd-e315-4709-8b45-047db797d62d</vt:lpwstr>
  </property>
  <property fmtid="{D5CDD505-2E9C-101B-9397-08002B2CF9AE}" pid="7" name="MSIP_Label_f42aa342-8706-4288-bd11-ebb85995028c_Extended_MSFT_Method">
    <vt:lpwstr>Automatic</vt:lpwstr>
  </property>
  <property fmtid="{D5CDD505-2E9C-101B-9397-08002B2CF9AE}" pid="8" name="Sensitivity">
    <vt:lpwstr>General</vt:lpwstr>
  </property>
  <property fmtid="{D5CDD505-2E9C-101B-9397-08002B2CF9AE}" pid="9" name="ContentTypeId">
    <vt:lpwstr>0x0101002892946DCD6EF84A8AD3B83D0B57F8EB</vt:lpwstr>
  </property>
</Properties>
</file>