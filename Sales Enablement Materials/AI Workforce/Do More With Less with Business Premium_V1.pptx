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slideLayouts/slideLayout150.xml" ContentType="application/vnd.openxmlformats-officedocument.presentationml.slideLayout+xml"/>
  <Override PartName="/ppt/theme/theme3.xml" ContentType="application/vnd.openxmlformats-officedocument.theme+xml"/>
  <Override PartName="/ppt/slideLayouts/slideLayout1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7" r:id="rId5"/>
    <p:sldMasterId id="2147489434" r:id="rId6"/>
    <p:sldMasterId id="2147489436" r:id="rId7"/>
  </p:sldMasterIdLst>
  <p:notesMasterIdLst>
    <p:notesMasterId r:id="rId24"/>
  </p:notesMasterIdLst>
  <p:sldIdLst>
    <p:sldId id="2147478728" r:id="rId8"/>
    <p:sldId id="2147478729" r:id="rId9"/>
    <p:sldId id="2147478730" r:id="rId10"/>
    <p:sldId id="2147478693" r:id="rId11"/>
    <p:sldId id="2147478696" r:id="rId12"/>
    <p:sldId id="2147478231" r:id="rId13"/>
    <p:sldId id="2147478710" r:id="rId14"/>
    <p:sldId id="2147478738" r:id="rId15"/>
    <p:sldId id="2147478702" r:id="rId16"/>
    <p:sldId id="2147478739" r:id="rId17"/>
    <p:sldId id="2147478216" r:id="rId18"/>
    <p:sldId id="2147478740" r:id="rId19"/>
    <p:sldId id="2147478741" r:id="rId20"/>
    <p:sldId id="2147478726" r:id="rId21"/>
    <p:sldId id="2147478742" r:id="rId22"/>
    <p:sldId id="214747874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4A5656-D74F-4821-BAE8-72A81A4A58B9}">
          <p14:sldIdLst>
            <p14:sldId id="2147478728"/>
          </p14:sldIdLst>
        </p14:section>
        <p14:section name="Do More with Less for SMBs" id="{952A8212-B6D3-48BA-ADA3-49DCF4703B1F}">
          <p14:sldIdLst>
            <p14:sldId id="2147478729"/>
            <p14:sldId id="2147478730"/>
          </p14:sldIdLst>
        </p14:section>
        <p14:section name="Partner Opportunity" id="{747FC926-3BC9-49C0-9F5A-E154615558C5}">
          <p14:sldIdLst>
            <p14:sldId id="2147478693"/>
            <p14:sldId id="2147478696"/>
            <p14:sldId id="2147478231"/>
            <p14:sldId id="2147478710"/>
            <p14:sldId id="2147478738"/>
            <p14:sldId id="2147478702"/>
            <p14:sldId id="2147478739"/>
            <p14:sldId id="2147478216"/>
          </p14:sldIdLst>
        </p14:section>
        <p14:section name="Next Steps" id="{A80E2B9B-8483-4270-BA73-B73E38485E4C}">
          <p14:sldIdLst>
            <p14:sldId id="2147478740"/>
            <p14:sldId id="2147478741"/>
            <p14:sldId id="2147478726"/>
            <p14:sldId id="2147478742"/>
            <p14:sldId id="21474787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078AB01-83B6-17E3-EC7D-4A0918D66639}" name="Paul Wilcox" initials="PW" userId="Paul Wilcox" providerId="None"/>
  <p188:author id="{90EBFD27-99D7-D09D-759F-3AA283AE19D3}" name="Wendy Ditmore (SHE/HER)" initials="W(" userId="S::wendyj@microsoft.com::6bf63df9-bf2c-40e6-8c30-b72e39235b9e" providerId="AD"/>
  <p188:author id="{5BB24A5C-B0F9-7F03-2866-2A0D4C8E632D}" name="Chanda Wong" initials="CW" userId="S::chawong@microsoft.com::6e43c97f-1cf7-41ca-a97d-55dc076b80c8" providerId="AD"/>
  <p188:author id="{2E86695C-942C-7B5D-1F85-E294D9B171D4}" name="Thomas Abel" initials="TA" userId="S::thabel@microsoft.com::a868c4be-caef-4407-b6eb-cc0c1a7acd3d" providerId="AD"/>
  <p188:author id="{EF343C5E-8BCC-747A-2402-7771A6B47ADF}" name="Jimmy Lin" initials="JL" userId="S::jiml@microsoft.com::b7137878-f244-491a-a48f-7d60847233d8" providerId="AD"/>
  <p188:author id="{64391E84-C18C-E40C-C612-DEEE6C3BCA97}" name="chawong@microsoft.com" initials="ch" userId="S::urn:spo:guest#chawong@microsoft.com::" providerId="AD"/>
  <p188:author id="{E08D20D6-FB98-6121-10B0-0EED1D7DF1A8}" name="Julie Marie Scalf" initials="JMS" userId="66fa2a63e187dac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CD8FF5-2A52-4403-9CB3-86AA4EE31B80}" v="7934" dt="2022-08-30T18:37:10.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DE0DA-B9F0-41A1-B2AD-31C667DD1A67}" type="datetimeFigureOut">
              <a:rPr lang="en-US" smtClean="0"/>
              <a:t>11/28/2022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87C30A-F58B-4C8A-81AE-FBBB7EDABCCC}" type="slidenum">
              <a:rPr lang="en-US" smtClean="0"/>
              <a:t>‹#›</a:t>
            </a:fld>
            <a:endParaRPr lang="en-US"/>
          </a:p>
        </p:txBody>
      </p:sp>
    </p:spTree>
    <p:extLst>
      <p:ext uri="{BB962C8B-B14F-4D97-AF65-F5344CB8AC3E}">
        <p14:creationId xmlns:p14="http://schemas.microsoft.com/office/powerpoint/2010/main" val="91493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nam06.safelinks.protection.outlook.com/?url=https%3A%2F%2Fwww.linkedin.com%2Fpulse%2Fdigital-imperative-every-organization-satya-nadella%2F%3FtrackingId%3DUQokj%252FVIQWGMo2J7S91sQQ%253D%253D&amp;data=05%7C01%7Cchawong%40microsoft.com%7C7acafd1b2a764d502e8608da7f08d57c%7C72f988bf86f141af91ab2d7cd011db47%7C1%7C0%7C637961973179143735%7CUnknown%7CTWFpbGZsb3d8eyJWIjoiMC4wLjAwMDAiLCJQIjoiV2luMzIiLCJBTiI6Ik1haWwiLCJXVCI6Mn0%3D%7C3000%7C%7C%7C&amp;sdata=%2BnopQj4bkffV2wd5KduUHw9leWOK3kYDdm9qnZJ5F1o%3D&amp;reserved=0"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deck will:</a:t>
            </a:r>
          </a:p>
          <a:p>
            <a:pPr marL="171450" indent="-171450">
              <a:buFontTx/>
              <a:buChar char="-"/>
            </a:pPr>
            <a:r>
              <a:rPr lang="en-US"/>
              <a:t>Provide an understanding of what the Do More with Less in SMB campaign is about</a:t>
            </a:r>
          </a:p>
          <a:p>
            <a:pPr marL="171450" indent="-171450">
              <a:buFontTx/>
              <a:buChar char="-"/>
            </a:pPr>
            <a:r>
              <a:rPr lang="en-US"/>
              <a:t>Show the partner opportunity in helping SMBs to do more with less with Microsoft 365</a:t>
            </a:r>
          </a:p>
          <a:p>
            <a:pPr marL="171450" indent="-171450">
              <a:buFontTx/>
              <a:buChar char="-"/>
            </a:pPr>
            <a:r>
              <a:rPr lang="en-US"/>
              <a:t>Land the new messaging, assets, and SMB New Customer and Upsell Promo to partners to help them acquire new customers and upsell existing customers.</a:t>
            </a:r>
          </a:p>
          <a:p>
            <a:pPr marL="171450" indent="-171450">
              <a:buFontTx/>
              <a:buChar cha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D0CF4C-1694-43FE-AEE4-B073AF85E7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0932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1">
                <a:solidFill>
                  <a:srgbClr val="201F1E"/>
                </a:solidFill>
                <a:effectLst/>
                <a:latin typeface="Calibri" panose="020F0502020204030204" pitchFamily="34" charset="0"/>
                <a:ea typeface="Times New Roman" panose="02020603050405020304" pitchFamily="18" charset="0"/>
                <a:cs typeface="Arial" panose="020B0604020202020204" pitchFamily="34" charset="0"/>
              </a:rPr>
              <a:t>Talk Track</a:t>
            </a:r>
            <a:r>
              <a:rPr lang="en-US" sz="1800">
                <a:solidFill>
                  <a:srgbClr val="201F1E"/>
                </a:solidFill>
                <a:effectLst/>
                <a:latin typeface="Calibri" panose="020F0502020204030204" pitchFamily="34" charset="0"/>
                <a:ea typeface="Times New Roman" panose="02020603050405020304" pitchFamily="18" charset="0"/>
                <a:cs typeface="Arial" panose="020B0604020202020204" pitchFamily="34" charset="0"/>
              </a:rPr>
              <a:t>: </a:t>
            </a:r>
            <a:r>
              <a:rPr lang="en-US" sz="1800" i="0" u="none">
                <a:solidFill>
                  <a:srgbClr val="0563C1"/>
                </a:solidFill>
                <a:effectLst/>
                <a:latin typeface="Segoe UI" panose="020B0502040204020203" pitchFamily="34" charset="0"/>
                <a:ea typeface="Segoe UI" panose="020B0502040204020203" pitchFamily="34" charset="0"/>
                <a:cs typeface="Arial" panose="020B0604020202020204" pitchFamily="34" charset="0"/>
              </a:rPr>
              <a:t>Today, every business, in every industry, is looking to do more with less. Organizations of all sizes require a digital fabric that connects people, places, and processes--creating a massive opportunity to help customers make hybrid work, work. Additionally, p</a:t>
            </a:r>
            <a:r>
              <a:rPr lang="en-US" sz="1800" i="0">
                <a:solidFill>
                  <a:srgbClr val="201F1E"/>
                </a:solidFill>
                <a:effectLst/>
                <a:latin typeface="Segoe UI" panose="020B0502040204020203" pitchFamily="34" charset="0"/>
                <a:ea typeface="Segoe UI" panose="020B0502040204020203" pitchFamily="34" charset="0"/>
                <a:cs typeface="Arial" panose="020B0604020202020204" pitchFamily="34" charset="0"/>
              </a:rPr>
              <a:t>ressures from the evolving global economy are requiring businesses to reduce costs and optimize operations as they continue to shift to a world of hybrid work. Satya shared </a:t>
            </a:r>
            <a:r>
              <a:rPr lang="en-US" sz="1800" i="0" u="sng">
                <a:solidFill>
                  <a:srgbClr val="0563C1"/>
                </a:solidFill>
                <a:effectLst/>
                <a:latin typeface="Segoe UI" panose="020B0502040204020203" pitchFamily="34" charset="0"/>
                <a:ea typeface="Segoe UI" panose="020B0502040204020203" pitchFamily="34" charset="0"/>
                <a:cs typeface="Arial" panose="020B0604020202020204" pitchFamily="34" charset="0"/>
                <a:hlinkClick r:id="rId3"/>
              </a:rPr>
              <a:t>his views</a:t>
            </a:r>
            <a:r>
              <a:rPr lang="en-US" sz="1800" i="0">
                <a:solidFill>
                  <a:srgbClr val="201F1E"/>
                </a:solidFill>
                <a:effectLst/>
                <a:latin typeface="Segoe UI" panose="020B0502040204020203" pitchFamily="34" charset="0"/>
                <a:ea typeface="Segoe UI" panose="020B0502040204020203" pitchFamily="34" charset="0"/>
                <a:cs typeface="Arial" panose="020B0604020202020204" pitchFamily="34" charset="0"/>
              </a:rPr>
              <a:t> on how Microsoft can help organizations to deliver on their digital imperative</a:t>
            </a:r>
            <a:r>
              <a:rPr lang="en-US" sz="1800" b="1" i="0">
                <a:solidFill>
                  <a:srgbClr val="201F1E"/>
                </a:solidFill>
                <a:effectLst/>
                <a:latin typeface="Segoe UI" panose="020B0502040204020203" pitchFamily="34" charset="0"/>
                <a:ea typeface="Segoe UI" panose="020B0502040204020203" pitchFamily="34" charset="0"/>
                <a:cs typeface="Arial" panose="020B0604020202020204" pitchFamily="34" charset="0"/>
              </a:rPr>
              <a:t> </a:t>
            </a:r>
            <a:r>
              <a:rPr lang="en-US" sz="1800" i="0">
                <a:solidFill>
                  <a:srgbClr val="201F1E"/>
                </a:solidFill>
                <a:effectLst/>
                <a:latin typeface="Segoe UI" panose="020B0502040204020203" pitchFamily="34" charset="0"/>
                <a:ea typeface="Segoe UI" panose="020B0502040204020203" pitchFamily="34" charset="0"/>
                <a:cs typeface="Arial" panose="020B0604020202020204" pitchFamily="34" charset="0"/>
              </a:rPr>
              <a:t>so that they can </a:t>
            </a:r>
            <a:r>
              <a:rPr lang="en-US" sz="1800" b="1" i="0">
                <a:solidFill>
                  <a:srgbClr val="201F1E"/>
                </a:solidFill>
                <a:effectLst/>
                <a:latin typeface="Segoe UI" panose="020B0502040204020203" pitchFamily="34" charset="0"/>
                <a:ea typeface="Segoe UI" panose="020B0502040204020203" pitchFamily="34" charset="0"/>
                <a:cs typeface="Arial" panose="020B0604020202020204" pitchFamily="34" charset="0"/>
              </a:rPr>
              <a:t>do more with less </a:t>
            </a:r>
            <a:r>
              <a:rPr lang="en-US" sz="1800" i="0">
                <a:solidFill>
                  <a:srgbClr val="201F1E"/>
                </a:solidFill>
                <a:effectLst/>
                <a:latin typeface="Segoe UI" panose="020B0502040204020203" pitchFamily="34" charset="0"/>
                <a:ea typeface="Segoe UI" panose="020B0502040204020203" pitchFamily="34" charset="0"/>
                <a:cs typeface="Arial" panose="020B0604020202020204" pitchFamily="34" charset="0"/>
              </a:rPr>
              <a:t>in this current economic environment and provide differentiated value to our customers. </a:t>
            </a:r>
            <a:endParaRPr lang="en-US" sz="1800" i="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endParaRPr lang="en-US" sz="1800" b="1"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60471" marR="0" lvl="0" indent="0" algn="l" defTabSz="89645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A45C5EE-CC90-C840-AAF8-84F98101312C}"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2022-11-28 11:44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95953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a:effectLst/>
                <a:latin typeface="Calibri" panose="020F0502020204030204" pitchFamily="34" charset="0"/>
                <a:ea typeface="Calibri" panose="020F0502020204030204" pitchFamily="34" charset="0"/>
                <a:cs typeface="Times New Roman" panose="02020603050405020304" pitchFamily="18" charset="0"/>
              </a:rPr>
              <a:t>The multiple capabilities needed to enable Hybrid Work— meetings, chat, phone, scheduling, project management, cloud storage, analytics and automation, security — can easily increase an organization’s total cost of ownership and the administrative complexity that accompanies adding, deploying, and managing each solution separately.</a:t>
            </a:r>
          </a:p>
          <a:p>
            <a:pPr marL="0" marR="0">
              <a:lnSpc>
                <a:spcPct val="107000"/>
              </a:lnSpc>
              <a:spcBef>
                <a:spcPts val="0"/>
              </a:spcBef>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a:effectLst/>
                <a:latin typeface="Calibri" panose="020F0502020204030204" pitchFamily="34" charset="0"/>
                <a:ea typeface="Calibri" panose="020F0502020204030204" pitchFamily="34" charset="0"/>
                <a:cs typeface="Times New Roman" panose="02020603050405020304" pitchFamily="18" charset="0"/>
              </a:rPr>
              <a:t>Microsoft 365 brings these solutions together into one integrated experience that delivers on the power of the cloud and makes Hybrid Work easier and smarter for employees. </a:t>
            </a:r>
            <a:r>
              <a:rPr lang="en-US" sz="1800">
                <a:solidFill>
                  <a:srgbClr val="201F1E"/>
                </a:solidFill>
                <a:effectLst/>
                <a:latin typeface="Calibri" panose="020F0502020204030204" pitchFamily="34" charset="0"/>
                <a:ea typeface="Calibri" panose="020F0502020204030204" pitchFamily="34" charset="0"/>
                <a:cs typeface="Calibri" panose="020F0502020204030204" pitchFamily="34" charset="0"/>
              </a:rPr>
              <a:t>Microsoft 365 provides a complete solution for SMBs, providing the most powerful and modern tools to do more with less. Customers can </a:t>
            </a:r>
            <a:r>
              <a:rPr lang="en-US" sz="1800" i="1">
                <a:solidFill>
                  <a:srgbClr val="201F1E"/>
                </a:solidFill>
                <a:effectLst/>
                <a:latin typeface="Calibri" panose="020F0502020204030204" pitchFamily="34" charset="0"/>
                <a:ea typeface="Calibri" panose="020F0502020204030204" pitchFamily="34" charset="0"/>
                <a:cs typeface="Calibri" panose="020F0502020204030204" pitchFamily="34" charset="0"/>
              </a:rPr>
              <a:t>save money</a:t>
            </a:r>
            <a:r>
              <a:rPr lang="en-US" sz="1800">
                <a:solidFill>
                  <a:srgbClr val="201F1E"/>
                </a:solidFill>
                <a:effectLst/>
                <a:latin typeface="Calibri" panose="020F0502020204030204" pitchFamily="34" charset="0"/>
                <a:ea typeface="Calibri" panose="020F0502020204030204" pitchFamily="34" charset="0"/>
                <a:cs typeface="Calibri" panose="020F0502020204030204" pitchFamily="34" charset="0"/>
              </a:rPr>
              <a:t> through vendor consolidation and decreased travel, increase security, and improve productivity and collaboration all with one premium product.</a:t>
            </a:r>
            <a:r>
              <a:rPr lang="en-US" sz="1800">
                <a:effectLst/>
                <a:latin typeface="Segoe UI" panose="020B0502040204020203" pitchFamily="34"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11/28/2022 11:44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09764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gradFill>
                  <a:gsLst>
                    <a:gs pos="2917">
                      <a:schemeClr val="tx1"/>
                    </a:gs>
                    <a:gs pos="30000">
                      <a:schemeClr val="tx1"/>
                    </a:gs>
                  </a:gsLst>
                  <a:lin ang="5400000" scaled="0"/>
                </a:gradFill>
              </a:rPr>
              <a:t>And we see this message resonating with SMBs. In a Forrester survey of 470 SMBs tech buyers, 64% prefer to purchase a suite of solutions to meet all their business needs. This “one-stop shopping,” to have one vendor provide all their tech needs, aligns with Microsoft 365 set of offerings and is an opportunity for our partners to help SMBs do more with less.. </a:t>
            </a:r>
          </a:p>
          <a:p>
            <a:pPr marL="0" lvl="0" indent="0" algn="l">
              <a:buFontTx/>
              <a:buNone/>
            </a:pPr>
            <a:endParaRPr lang="en-US" sz="1200" b="0">
              <a:gradFill>
                <a:gsLst>
                  <a:gs pos="2917">
                    <a:schemeClr val="tx1"/>
                  </a:gs>
                  <a:gs pos="30000">
                    <a:schemeClr val="tx1"/>
                  </a:gs>
                </a:gsLst>
                <a:lin ang="5400000" scaled="0"/>
              </a:gra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D0CF4C-1694-43FE-AEE4-B073AF85E7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7135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Now is the time to work with your customers, to understand their needs, and implement the right solution for hybrid work and security.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cs typeface="Segoe UI"/>
              </a:rPr>
              <a:t>1 in 4 SMBs state they experienced a cyberattack in the last year and 54% of the SMB respondents in the Forrester survey ranked </a:t>
            </a:r>
            <a:r>
              <a:rPr lang="en-US" sz="1200">
                <a:gradFill>
                  <a:gsLst>
                    <a:gs pos="2917">
                      <a:schemeClr val="tx1"/>
                    </a:gs>
                    <a:gs pos="30000">
                      <a:schemeClr val="tx1"/>
                    </a:gs>
                  </a:gsLst>
                  <a:lin ang="5400000" scaled="0"/>
                </a:gradFill>
              </a:rPr>
              <a:t>“</a:t>
            </a:r>
            <a:r>
              <a:rPr lang="en-US" sz="1200" b="0">
                <a:solidFill>
                  <a:schemeClr val="accent1"/>
                </a:solidFill>
                <a:latin typeface="+mj-lt"/>
              </a:rPr>
              <a:t>security and compliance risks </a:t>
            </a:r>
            <a:r>
              <a:rPr lang="en-US" sz="1200" b="0">
                <a:solidFill>
                  <a:schemeClr val="tx1"/>
                </a:solidFill>
                <a:cs typeface="Segoe UI"/>
              </a:rPr>
              <a:t>in working </a:t>
            </a:r>
            <a:r>
              <a:rPr lang="en-US" sz="1200">
                <a:solidFill>
                  <a:schemeClr val="tx1"/>
                </a:solidFill>
                <a:cs typeface="Segoe UI"/>
              </a:rPr>
              <a:t>with 3rd parties” as a top challenge when considering purchasing solutions for employees. On top of that, worker</a:t>
            </a:r>
            <a:r>
              <a:rPr lang="en-US" sz="1200">
                <a:solidFill>
                  <a:schemeClr val="accent1"/>
                </a:solidFill>
                <a:latin typeface="+mj-lt"/>
                <a:cs typeface="Segoe UI"/>
              </a:rPr>
              <a:t>s </a:t>
            </a:r>
            <a:r>
              <a:rPr lang="en-US" sz="1200">
                <a:solidFill>
                  <a:schemeClr val="tx1"/>
                </a:solidFill>
                <a:latin typeface="+mj-lt"/>
                <a:cs typeface="Segoe UI"/>
              </a:rPr>
              <a:t>continue to</a:t>
            </a:r>
            <a:r>
              <a:rPr lang="en-US" sz="1200">
                <a:solidFill>
                  <a:schemeClr val="tx1"/>
                </a:solidFill>
                <a:cs typeface="Segoe UI"/>
              </a:rPr>
              <a:t> want flexible remote work options. </a:t>
            </a:r>
            <a:r>
              <a:rPr lang="en-US" sz="1200"/>
              <a:t>These are still critically important for small businesses to run their business and do more with less. Partners should think of this opportunity as not just a license rightsizing conversation but a needs conversation.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O</a:t>
            </a:r>
            <a:r>
              <a:rPr lang="en-US"/>
              <a:t>n top of that, partners who aren’t yet doing so, should offer value-added managed services.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The overall </a:t>
            </a:r>
            <a:r>
              <a:rPr lang="en-US" sz="1200">
                <a:gradFill>
                  <a:gsLst>
                    <a:gs pos="2917">
                      <a:schemeClr val="tx1"/>
                    </a:gs>
                    <a:gs pos="30000">
                      <a:schemeClr val="tx1"/>
                    </a:gs>
                  </a:gsLst>
                  <a:lin ang="5400000" scaled="0"/>
                </a:gradFill>
              </a:rPr>
              <a:t>managed services opportunity in the SMB space grew 18% in FY22 and for partners who offer managed services, </a:t>
            </a:r>
            <a:r>
              <a:rPr lang="en-US" sz="1200">
                <a:solidFill>
                  <a:srgbClr val="000000"/>
                </a:solidFill>
                <a:cs typeface="Segoe UI"/>
              </a:rPr>
              <a:t>margins can range anywhere from </a:t>
            </a:r>
            <a:r>
              <a:rPr lang="en-US" sz="1200">
                <a:solidFill>
                  <a:srgbClr val="0078D4"/>
                </a:solidFill>
                <a:latin typeface="Segoe UI Semibold"/>
                <a:cs typeface="Segoe UI"/>
              </a:rPr>
              <a:t>30% up to 65%, for a given workload, </a:t>
            </a:r>
            <a:r>
              <a:rPr lang="en-US" sz="1200">
                <a:solidFill>
                  <a:srgbClr val="000000"/>
                </a:solidFill>
                <a:cs typeface="Segoe UI"/>
              </a:rPr>
              <a:t>depending on the maturity of the offering. So for partners, there’s an opportunity for</a:t>
            </a:r>
            <a:r>
              <a:rPr lang="en-US" sz="1200"/>
              <a:t> greater profitability, to smooth out cash flows, and to create longer-term sustainable relationships with your SMB customers.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D0CF4C-1694-43FE-AEE4-B073AF85E7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8122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6000"/>
              </a:lnSpc>
              <a:spcBef>
                <a:spcPts val="0"/>
              </a:spcBef>
              <a:spcAft>
                <a:spcPts val="800"/>
              </a:spcAft>
            </a:pPr>
            <a:r>
              <a:rPr lang="en-US" sz="900">
                <a:effectLst/>
                <a:latin typeface="Segoe UI" panose="020B0502040204020203" pitchFamily="34" charset="0"/>
                <a:ea typeface="Calibri" panose="020F0502020204030204" pitchFamily="34" charset="0"/>
                <a:cs typeface="Segoe UI" panose="020B0502040204020203" pitchFamily="34" charset="0"/>
              </a:rPr>
              <a:t>With a complete line up of plans, you are able to pick a solution that meets the needs of your customer. Microsoft 365 offers best-in-class and best-in-suite solutions for SMBs.</a:t>
            </a:r>
          </a:p>
          <a:p>
            <a:pPr marL="0" marR="0">
              <a:lnSpc>
                <a:spcPct val="106000"/>
              </a:lnSpc>
              <a:spcBef>
                <a:spcPts val="0"/>
              </a:spcBef>
              <a:spcAft>
                <a:spcPts val="800"/>
              </a:spcAft>
            </a:pPr>
            <a:endParaRPr lang="en-US" sz="900">
              <a:effectLst/>
              <a:latin typeface="Segoe UI" panose="020B0502040204020203" pitchFamily="34" charset="0"/>
              <a:ea typeface="Calibri" panose="020F0502020204030204" pitchFamily="34" charset="0"/>
              <a:cs typeface="Segoe UI" panose="020B0502040204020203" pitchFamily="34" charset="0"/>
            </a:endParaRPr>
          </a:p>
          <a:p>
            <a:pPr marL="0" marR="0" lvl="0" indent="0">
              <a:lnSpc>
                <a:spcPct val="106000"/>
              </a:lnSpc>
              <a:spcBef>
                <a:spcPts val="0"/>
              </a:spcBef>
              <a:spcAft>
                <a:spcPts val="0"/>
              </a:spcAft>
              <a:buSzPts val="1000"/>
              <a:buFont typeface="+mj-lt"/>
              <a:buNone/>
              <a:tabLst>
                <a:tab pos="457200" algn="l"/>
              </a:tabLst>
            </a:pPr>
            <a:r>
              <a:rPr lang="en-US" sz="900">
                <a:effectLst/>
                <a:latin typeface="Segoe UI" panose="020B0502040204020203" pitchFamily="34" charset="0"/>
                <a:ea typeface="Calibri" panose="020F0502020204030204" pitchFamily="34" charset="0"/>
                <a:cs typeface="Segoe UI" panose="020B0502040204020203" pitchFamily="34" charset="0"/>
              </a:rPr>
              <a:t>Microsoft 365 offers a set of suites for small &amp; medium businesses:</a:t>
            </a:r>
          </a:p>
          <a:p>
            <a:pPr marL="342900" marR="0" lvl="0" indent="-342900">
              <a:lnSpc>
                <a:spcPct val="106000"/>
              </a:lnSpc>
              <a:spcBef>
                <a:spcPts val="0"/>
              </a:spcBef>
              <a:spcAft>
                <a:spcPts val="0"/>
              </a:spcAft>
              <a:buSzPts val="1000"/>
              <a:buFont typeface="+mj-lt"/>
              <a:buAutoNum type="arabicPeriod"/>
              <a:tabLst>
                <a:tab pos="457200" algn="l"/>
              </a:tabLst>
            </a:pPr>
            <a:r>
              <a:rPr lang="en-US" sz="900">
                <a:effectLst/>
                <a:latin typeface="Segoe UI" panose="020B0502040204020203" pitchFamily="34" charset="0"/>
                <a:ea typeface="Calibri" panose="020F0502020204030204" pitchFamily="34" charset="0"/>
                <a:cs typeface="Segoe UI" panose="020B0502040204020203" pitchFamily="34" charset="0"/>
              </a:rPr>
              <a:t>Microsoft 365 Business Basic is Best for businesses that need easy remote solutions, with Microsoft Teams, secure cloud storage, and Office Online (desktop versions not included).</a:t>
            </a:r>
          </a:p>
          <a:p>
            <a:pPr marL="342900" marR="0" lvl="0" indent="-342900">
              <a:lnSpc>
                <a:spcPct val="106000"/>
              </a:lnSpc>
              <a:spcBef>
                <a:spcPts val="0"/>
              </a:spcBef>
              <a:spcAft>
                <a:spcPts val="0"/>
              </a:spcAft>
              <a:buSzPts val="1000"/>
              <a:buFont typeface="+mj-lt"/>
              <a:buAutoNum type="arabicPeriod"/>
              <a:tabLst>
                <a:tab pos="457200" algn="l"/>
              </a:tabLst>
            </a:pPr>
            <a:r>
              <a:rPr lang="en-US" sz="900">
                <a:effectLst/>
                <a:latin typeface="Segoe UI" panose="020B0502040204020203" pitchFamily="34" charset="0"/>
                <a:ea typeface="Calibri" panose="020F0502020204030204" pitchFamily="34" charset="0"/>
                <a:cs typeface="Segoe UI" panose="020B0502040204020203" pitchFamily="34" charset="0"/>
              </a:rPr>
              <a:t>Microsoft 365 Business Standard is best for businesses that need full remote work and collaboration tools including Microsoft Teams, secure cloud storage, business email, and premium Office applications across devices.</a:t>
            </a:r>
          </a:p>
          <a:p>
            <a:pPr marL="342900" marR="0" lvl="0" indent="-342900">
              <a:lnSpc>
                <a:spcPct val="106000"/>
              </a:lnSpc>
              <a:spcBef>
                <a:spcPts val="0"/>
              </a:spcBef>
              <a:spcAft>
                <a:spcPts val="800"/>
              </a:spcAft>
              <a:buSzPts val="1000"/>
              <a:buFont typeface="+mj-lt"/>
              <a:buAutoNum type="arabicPeriod"/>
              <a:tabLst>
                <a:tab pos="457200" algn="l"/>
              </a:tabLst>
            </a:pPr>
            <a:r>
              <a:rPr lang="en-US" sz="900">
                <a:effectLst/>
                <a:latin typeface="Segoe UI" panose="020B0502040204020203" pitchFamily="34" charset="0"/>
                <a:ea typeface="Calibri" panose="020F0502020204030204" pitchFamily="34" charset="0"/>
                <a:cs typeface="Segoe UI" panose="020B0502040204020203" pitchFamily="34" charset="0"/>
              </a:rPr>
              <a:t>And Microsoft 365 Business Premium is best for businesses that require secure, remote work solutions with everything included in Business Standard, plus advanced cyberthreat protection and device management. Business Premium includes Microsoft Defender for Business and it </a:t>
            </a:r>
            <a:r>
              <a:rPr lang="en-US" sz="900">
                <a:effectLst/>
                <a:latin typeface="Calibri" panose="020F0502020204030204" pitchFamily="34" charset="0"/>
                <a:ea typeface="Calibri" panose="020F0502020204030204" pitchFamily="34" charset="0"/>
                <a:cs typeface="Times New Roman" panose="02020603050405020304" pitchFamily="18" charset="0"/>
              </a:rPr>
              <a:t>is our most comprehensive offering for small and mid sized businesses in a cost effective package to address the challenges we spoke about earlier.</a:t>
            </a:r>
            <a:r>
              <a:rPr lang="en-US" sz="900">
                <a:effectLst/>
                <a:latin typeface="Segoe UI" panose="020B0502040204020203" pitchFamily="34" charset="0"/>
                <a:ea typeface="Calibri" panose="020F0502020204030204" pitchFamily="34" charset="0"/>
                <a:cs typeface="Segoe UI" panose="020B0502040204020203" pitchFamily="34" charset="0"/>
              </a:rPr>
              <a:t> It truly is an all-in-one solution that will help SMBs reimagine productivity in a hybrid work environment.</a:t>
            </a:r>
            <a:endParaRPr lang="en-US" sz="800">
              <a:latin typeface="Segoe UI" panose="020B0502040204020203" pitchFamily="34" charset="0"/>
              <a:cs typeface="Segoe UI" panose="020B0502040204020203" pitchFamily="34" charset="0"/>
            </a:endParaRPr>
          </a:p>
          <a:p>
            <a:pPr marL="0" marR="0">
              <a:lnSpc>
                <a:spcPct val="106000"/>
              </a:lnSpc>
              <a:spcBef>
                <a:spcPts val="0"/>
              </a:spcBef>
              <a:spcAft>
                <a:spcPts val="800"/>
              </a:spcAft>
            </a:pPr>
            <a:endParaRPr lang="en-US" sz="900">
              <a:effectLst/>
              <a:latin typeface="Segoe UI" panose="020B0502040204020203" pitchFamily="34" charset="0"/>
              <a:ea typeface="Calibri" panose="020F0502020204030204" pitchFamily="34" charset="0"/>
              <a:cs typeface="Segoe UI" panose="020B0502040204020203" pitchFamily="34" charset="0"/>
            </a:endParaRPr>
          </a:p>
          <a:p>
            <a:pPr marL="0" marR="0">
              <a:lnSpc>
                <a:spcPct val="106000"/>
              </a:lnSpc>
              <a:spcBef>
                <a:spcPts val="0"/>
              </a:spcBef>
              <a:spcAft>
                <a:spcPts val="800"/>
              </a:spcAft>
            </a:pPr>
            <a:r>
              <a:rPr lang="en-US" sz="900">
                <a:effectLst/>
                <a:latin typeface="Segoe UI" panose="020B0502040204020203" pitchFamily="34" charset="0"/>
                <a:ea typeface="Calibri" panose="020F0502020204030204" pitchFamily="34" charset="0"/>
                <a:cs typeface="Segoe UI" panose="020B0502040204020203" pitchFamily="34" charset="0"/>
              </a:rPr>
              <a:t>For customers who want point solutions, such as for collaboration and meetings or endpoint security, Microsoft offers new standalone solutions to help partners acquire new customers to Microsoft 365. These solutions are on ramps for customers to get introduced to Microsoft 365 and eventually upsell to Microsoft 365 suites. </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11/28/2022 11:44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8148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6000"/>
              </a:lnSpc>
              <a:spcBef>
                <a:spcPts val="0"/>
              </a:spcBef>
              <a:spcAft>
                <a:spcPts val="0"/>
              </a:spcAft>
              <a:buSzPts val="1000"/>
              <a:buFont typeface="+mj-lt"/>
              <a:buNone/>
              <a:tabLst>
                <a:tab pos="457200" algn="l"/>
              </a:tabLst>
            </a:pPr>
            <a:r>
              <a:rPr lang="en-US" sz="1800">
                <a:effectLst/>
                <a:latin typeface="Segoe UI" panose="020B0502040204020203" pitchFamily="34" charset="0"/>
                <a:ea typeface="Calibri" panose="020F0502020204030204" pitchFamily="34" charset="0"/>
                <a:cs typeface="Segoe UI" panose="020B0502040204020203" pitchFamily="34" charset="0"/>
              </a:rPr>
              <a:t>Microsoft 365 suites offerings for small &amp; medium businesses:</a:t>
            </a:r>
          </a:p>
          <a:p>
            <a:pPr marL="342900" marR="0" lvl="0" indent="-342900">
              <a:lnSpc>
                <a:spcPct val="106000"/>
              </a:lnSpc>
              <a:spcBef>
                <a:spcPts val="0"/>
              </a:spcBef>
              <a:spcAft>
                <a:spcPts val="0"/>
              </a:spcAft>
              <a:buSzPts val="1000"/>
              <a:buFont typeface="+mj-lt"/>
              <a:buAutoNum type="arabicPeriod"/>
              <a:tabLst>
                <a:tab pos="457200" algn="l"/>
              </a:tabLst>
            </a:pPr>
            <a:r>
              <a:rPr lang="en-US" sz="1800">
                <a:effectLst/>
                <a:latin typeface="Segoe UI" panose="020B0502040204020203" pitchFamily="34" charset="0"/>
                <a:ea typeface="Calibri" panose="020F0502020204030204" pitchFamily="34" charset="0"/>
                <a:cs typeface="Segoe UI" panose="020B0502040204020203" pitchFamily="34" charset="0"/>
              </a:rPr>
              <a:t>Microsoft 365 Business Basic is Best for businesses that need easy remote solutions, with Microsoft Teams, secure cloud storage, and Office Online (desktop versions not included).</a:t>
            </a:r>
          </a:p>
          <a:p>
            <a:pPr marL="342900" marR="0" lvl="0" indent="-342900">
              <a:lnSpc>
                <a:spcPct val="106000"/>
              </a:lnSpc>
              <a:spcBef>
                <a:spcPts val="0"/>
              </a:spcBef>
              <a:spcAft>
                <a:spcPts val="0"/>
              </a:spcAft>
              <a:buSzPts val="1000"/>
              <a:buFont typeface="+mj-lt"/>
              <a:buAutoNum type="arabicPeriod"/>
              <a:tabLst>
                <a:tab pos="457200" algn="l"/>
              </a:tabLst>
            </a:pPr>
            <a:r>
              <a:rPr lang="en-US" sz="1800">
                <a:effectLst/>
                <a:latin typeface="Segoe UI" panose="020B0502040204020203" pitchFamily="34" charset="0"/>
                <a:ea typeface="Calibri" panose="020F0502020204030204" pitchFamily="34" charset="0"/>
                <a:cs typeface="Segoe UI" panose="020B0502040204020203" pitchFamily="34" charset="0"/>
              </a:rPr>
              <a:t>Microsoft 365 Business Standard is best for businesses that need full remote work and collaboration tools including Microsoft Teams, secure cloud storage, business email, and premium Office applications across devices.</a:t>
            </a:r>
          </a:p>
          <a:p>
            <a:pPr marL="342900" marR="0" lvl="0" indent="-342900">
              <a:lnSpc>
                <a:spcPct val="106000"/>
              </a:lnSpc>
              <a:spcBef>
                <a:spcPts val="0"/>
              </a:spcBef>
              <a:spcAft>
                <a:spcPts val="800"/>
              </a:spcAft>
              <a:buSzPts val="1000"/>
              <a:buFont typeface="+mj-lt"/>
              <a:buAutoNum type="arabicPeriod"/>
              <a:tabLst>
                <a:tab pos="457200" algn="l"/>
              </a:tabLst>
            </a:pPr>
            <a:r>
              <a:rPr lang="en-US" sz="1800">
                <a:effectLst/>
                <a:latin typeface="Segoe UI" panose="020B0502040204020203" pitchFamily="34" charset="0"/>
                <a:ea typeface="Calibri" panose="020F0502020204030204" pitchFamily="34" charset="0"/>
                <a:cs typeface="Segoe UI" panose="020B0502040204020203" pitchFamily="34" charset="0"/>
              </a:rPr>
              <a:t>And Microsoft 365 Business Premium is best for businesses that require secure, remote work solutions with everything included in Business Standard, plus advanced cyberthreat protection and device management. Business Premium includes Microsoft Defender for Business and it </a:t>
            </a:r>
            <a:r>
              <a:rPr lang="en-US" sz="1800">
                <a:effectLst/>
                <a:latin typeface="Calibri" panose="020F0502020204030204" pitchFamily="34" charset="0"/>
                <a:ea typeface="Calibri" panose="020F0502020204030204" pitchFamily="34" charset="0"/>
                <a:cs typeface="Times New Roman" panose="02020603050405020304" pitchFamily="18" charset="0"/>
              </a:rPr>
              <a:t>is our most comprehensive offering for small and mid sized businesses in a cost effective package to address the challenges we spoke about earlier.</a:t>
            </a:r>
            <a:r>
              <a:rPr lang="en-US" sz="1800">
                <a:effectLst/>
                <a:latin typeface="Segoe UI" panose="020B0502040204020203" pitchFamily="34" charset="0"/>
                <a:ea typeface="Calibri" panose="020F0502020204030204" pitchFamily="34" charset="0"/>
                <a:cs typeface="Segoe UI" panose="020B0502040204020203" pitchFamily="34" charset="0"/>
              </a:rPr>
              <a:t> It truly is an all-in-one solution that will help SMBs reimagine productivity in a hybrid work environment.</a:t>
            </a:r>
            <a:endParaRPr lang="en-US" sz="1600">
              <a:latin typeface="Segoe UI" panose="020B0502040204020203" pitchFamily="34" charset="0"/>
              <a:cs typeface="Segoe UI" panose="020B0502040204020203" pitchFamily="34" charset="0"/>
            </a:endParaRPr>
          </a:p>
          <a:p>
            <a:pPr marL="0" marR="0">
              <a:lnSpc>
                <a:spcPct val="107000"/>
              </a:lnSpc>
              <a:spcBef>
                <a:spcPts val="0"/>
              </a:spcBef>
              <a:spcAft>
                <a:spcPts val="800"/>
              </a:spcAft>
            </a:pP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8CB762A-E9EF-4DBF-9B43-C8690EEDC2F9}"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21058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you can see what upsell pathways with standalones can look like. </a:t>
            </a:r>
          </a:p>
          <a:p>
            <a:pPr marL="171450" indent="-171450">
              <a:buFontTx/>
              <a:buChar char="-"/>
            </a:pPr>
            <a:r>
              <a:rPr lang="en-US"/>
              <a:t>Teams Essentials as an add-on for customers who have meetings and collaboration needs.</a:t>
            </a:r>
          </a:p>
          <a:p>
            <a:pPr marL="171450" indent="-171450">
              <a:buFontTx/>
              <a:buChar char="-"/>
            </a:pPr>
            <a:r>
              <a:rPr lang="en-US"/>
              <a:t>Microsoft Defender for Business as an add-on for customers looking for endpoint protection. Defender for Business is included, along with additional security value, in Business Premium.</a:t>
            </a:r>
          </a:p>
          <a:p>
            <a:pPr marL="171450" indent="-171450">
              <a:buFontTx/>
              <a:buChar char="-"/>
            </a:pPr>
            <a:r>
              <a:rPr lang="en-US"/>
              <a:t>For customers on Business Premium, Windows 365 is an upsell opportunity to unlock hybrid work with cloud PC.</a:t>
            </a:r>
          </a:p>
          <a:p>
            <a:pPr marL="171450" indent="-171450">
              <a:buFontTx/>
              <a:buChar cha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D0CF4C-1694-43FE-AEE4-B073AF85E7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5944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2</a:t>
            </a:r>
            <a:r>
              <a:rPr lang="en-US" baseline="30000"/>
              <a:t>nd</a:t>
            </a:r>
            <a:r>
              <a:rPr lang="en-US"/>
              <a:t> partner opportunity is to offer value-added, managed services for greater profitability.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One clear manifestation of this is by helping customers save with vendor consolidation. Customer needs can be met through a number of different apps from different vendors. And the monthly costs can really add up. With M365 Business Premium, they are able to collaborate with productivity apps, communicate with colleagues and clients, manage devices from one place, and do this all securely. Partners can help customers realize cost savings by consolidating on to Business Premium. By going the way of the suite, they can be more efficient with their tech solution investments, which opens the door for you as the partner, to help them do more. Offer managed services to help them more quickly realize the value of their solution and be more effective.</a:t>
            </a:r>
          </a:p>
          <a:p>
            <a:endParaRPr lang="en-US"/>
          </a:p>
        </p:txBody>
      </p:sp>
      <p:sp>
        <p:nvSpPr>
          <p:cNvPr id="4" name="Slide Number Placeholder 3"/>
          <p:cNvSpPr>
            <a:spLocks noGrp="1"/>
          </p:cNvSpPr>
          <p:nvPr>
            <p:ph type="sldNum" sz="quarter" idx="5"/>
          </p:nvPr>
        </p:nvSpPr>
        <p:spPr/>
        <p:txBody>
          <a:bodyPr/>
          <a:lstStyle/>
          <a:p>
            <a:fld id="{DF87C30A-F58B-4C8A-81AE-FBBB7EDABCCC}" type="slidenum">
              <a:rPr lang="en-US" smtClean="0"/>
              <a:t>9</a:t>
            </a:fld>
            <a:endParaRPr lang="en-US"/>
          </a:p>
        </p:txBody>
      </p:sp>
    </p:spTree>
    <p:extLst>
      <p:ext uri="{BB962C8B-B14F-4D97-AF65-F5344CB8AC3E}">
        <p14:creationId xmlns:p14="http://schemas.microsoft.com/office/powerpoint/2010/main" val="3101227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fact, nearly half of SMB survey respondents ranked the ability to show a return on investment as significantly impacting their decisions for purchasing software solutions. </a:t>
            </a:r>
          </a:p>
        </p:txBody>
      </p:sp>
      <p:sp>
        <p:nvSpPr>
          <p:cNvPr id="4" name="Slide Number Placeholder 3"/>
          <p:cNvSpPr>
            <a:spLocks noGrp="1"/>
          </p:cNvSpPr>
          <p:nvPr>
            <p:ph type="sldNum" sz="quarter" idx="5"/>
          </p:nvPr>
        </p:nvSpPr>
        <p:spPr/>
        <p:txBody>
          <a:bodyPr/>
          <a:lstStyle/>
          <a:p>
            <a:fld id="{DF87C30A-F58B-4C8A-81AE-FBBB7EDABCCC}" type="slidenum">
              <a:rPr lang="en-US" smtClean="0"/>
              <a:t>10</a:t>
            </a:fld>
            <a:endParaRPr lang="en-US"/>
          </a:p>
        </p:txBody>
      </p:sp>
    </p:spTree>
    <p:extLst>
      <p:ext uri="{BB962C8B-B14F-4D97-AF65-F5344CB8AC3E}">
        <p14:creationId xmlns:p14="http://schemas.microsoft.com/office/powerpoint/2010/main" val="3554675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6000"/>
              </a:lnSpc>
              <a:spcBef>
                <a:spcPts val="0"/>
              </a:spcBef>
              <a:spcAft>
                <a:spcPts val="800"/>
              </a:spcAft>
            </a:pPr>
            <a:r>
              <a:rPr lang="en-US" sz="800">
                <a:latin typeface="Segoe UI" panose="020B0502040204020203" pitchFamily="34" charset="0"/>
                <a:cs typeface="Segoe UI" panose="020B0502040204020203" pitchFamily="34" charset="0"/>
              </a:rPr>
              <a:t>To summarize, Business Premium offers a complete solution to meet SMB customer needs across productivity and security. By standardizing on BP, customers can realize cost savings on their tech solution while also enabling partners to help them do more with managed services. </a:t>
            </a:r>
          </a:p>
          <a:p>
            <a:pPr marL="0" marR="0">
              <a:lnSpc>
                <a:spcPct val="106000"/>
              </a:lnSpc>
              <a:spcBef>
                <a:spcPts val="0"/>
              </a:spcBef>
              <a:spcAft>
                <a:spcPts val="800"/>
              </a:spcAft>
            </a:pPr>
            <a:endParaRPr lang="en-US" sz="800">
              <a:latin typeface="Segoe UI" panose="020B0502040204020203" pitchFamily="34" charset="0"/>
              <a:cs typeface="Segoe UI" panose="020B0502040204020203" pitchFamily="34" charset="0"/>
            </a:endParaRPr>
          </a:p>
          <a:p>
            <a:pPr marL="0" marR="0">
              <a:lnSpc>
                <a:spcPct val="106000"/>
              </a:lnSpc>
              <a:spcBef>
                <a:spcPts val="0"/>
              </a:spcBef>
              <a:spcAft>
                <a:spcPts val="800"/>
              </a:spcAft>
            </a:pPr>
            <a:r>
              <a:rPr lang="en-US" sz="800">
                <a:latin typeface="Segoe UI" panose="020B0502040204020203" pitchFamily="34" charset="0"/>
                <a:cs typeface="Segoe UI" panose="020B0502040204020203" pitchFamily="34" charset="0"/>
              </a:rPr>
              <a:t>For the partner, you can gain operational efficiencies and easily create an ongoing flywheel of ongoing revenue with additional managed services.  Partners can easily manage this stack using M365 Lighthouse or RMM solutions. For one partner, by standardizing their offerings on Microsoft 365 Business Premium, they have seen profitability per employee shoot up by 250 percent.  </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11/28/2022 11:44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90963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help partners in this endeavor, we are introducing Do More With Less messaging, content, and 2 new offers. </a:t>
            </a:r>
          </a:p>
          <a:p>
            <a:r>
              <a:rPr lang="en-US"/>
              <a:t>On the content BOM side, there are updated solution plays and SMB workshops for partners to leverage with the Do More With Less messaging included.  </a:t>
            </a: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CDF2885-C677-6341-835A-E92F0BF51509}"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560924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the offers side, we are introducing the SMB New Customer and Upsell Promo, effective beginning 9/1/22 through 6/30/23. </a:t>
            </a: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endParaRP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lang="en-US" sz="1800">
                <a:effectLst/>
                <a:latin typeface="Segoe UI" panose="020B0502040204020203" pitchFamily="34" charset="0"/>
                <a:ea typeface="Calibri" panose="020F0502020204030204" pitchFamily="34" charset="0"/>
                <a:cs typeface="Arial" panose="020B0604020202020204" pitchFamily="34" charset="0"/>
              </a:rPr>
              <a:t>Eligible customers receive 16.7% off the NCE Monthly Commitment price throughout the duration of the promotion period for the following products, which effectively equalizes monthly commitment pricing to annual commitment pricing during the promotional term.</a:t>
            </a: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endParaRPr>
          </a:p>
          <a:p>
            <a:pPr marL="0" marR="0">
              <a:lnSpc>
                <a:spcPct val="107000"/>
              </a:lnSpc>
              <a:spcBef>
                <a:spcPts val="0"/>
              </a:spcBef>
              <a:spcAft>
                <a:spcPts val="800"/>
              </a:spcAft>
            </a:pPr>
            <a:r>
              <a:rPr lang="en-US" sz="1800">
                <a:effectLst/>
                <a:latin typeface="Segoe UI" panose="020B0502040204020203" pitchFamily="34" charset="0"/>
                <a:ea typeface="Calibri" panose="020F0502020204030204" pitchFamily="34" charset="0"/>
                <a:cs typeface="Arial" panose="020B0604020202020204" pitchFamily="34" charset="0"/>
              </a:rPr>
              <a:t>There are two types of customers eligible for this promotion:</a:t>
            </a:r>
          </a:p>
          <a:p>
            <a:pPr marL="342900" marR="0" lvl="0" indent="-342900">
              <a:lnSpc>
                <a:spcPct val="107000"/>
              </a:lnSpc>
              <a:spcBef>
                <a:spcPts val="0"/>
              </a:spcBef>
              <a:spcAft>
                <a:spcPts val="0"/>
              </a:spcAft>
              <a:buFont typeface="+mj-lt"/>
              <a:buAutoNum type="arabicPeriod"/>
            </a:pPr>
            <a:r>
              <a:rPr lang="en-US" sz="1800">
                <a:effectLst/>
                <a:latin typeface="Segoe UI Semibold" panose="020B0702040204020203" pitchFamily="34" charset="0"/>
                <a:ea typeface="Calibri" panose="020F0502020204030204" pitchFamily="34" charset="0"/>
                <a:cs typeface="Arial" panose="020B0604020202020204" pitchFamily="34" charset="0"/>
              </a:rPr>
              <a:t>New Customers purchasing Microsoft 365 for the first time</a:t>
            </a:r>
            <a:r>
              <a:rPr lang="en-US" sz="1800">
                <a:effectLst/>
                <a:latin typeface="Segoe UI" panose="020B0502040204020203" pitchFamily="34" charset="0"/>
                <a:ea typeface="Calibri" panose="020F0502020204030204" pitchFamily="34" charset="0"/>
                <a:cs typeface="Arial" panose="020B0604020202020204" pitchFamily="34" charset="0"/>
              </a:rPr>
              <a:t> – This promotion creates immediate cost savings both in product value and price point for new customers while allowing customers and partners to retain the flexibility of a monthly commitment.</a:t>
            </a:r>
          </a:p>
          <a:p>
            <a:pPr marL="342900" marR="0" lvl="0" indent="-342900">
              <a:lnSpc>
                <a:spcPct val="107000"/>
              </a:lnSpc>
              <a:spcBef>
                <a:spcPts val="0"/>
              </a:spcBef>
              <a:spcAft>
                <a:spcPts val="800"/>
              </a:spcAft>
              <a:buFont typeface="+mj-lt"/>
              <a:buAutoNum type="arabicPeriod"/>
            </a:pPr>
            <a:r>
              <a:rPr lang="en-US" sz="1800">
                <a:effectLst/>
                <a:latin typeface="Segoe UI Semibold" panose="020B0702040204020203" pitchFamily="34" charset="0"/>
                <a:ea typeface="Calibri" panose="020F0502020204030204" pitchFamily="34" charset="0"/>
                <a:cs typeface="Arial" panose="020B0604020202020204" pitchFamily="34" charset="0"/>
              </a:rPr>
              <a:t>Existing Customers upgrading to a more premium product and/or expanding their product portfolio </a:t>
            </a:r>
            <a:r>
              <a:rPr lang="en-US" sz="1800">
                <a:effectLst/>
                <a:latin typeface="Segoe UI" panose="020B0502040204020203" pitchFamily="34" charset="0"/>
                <a:ea typeface="Calibri" panose="020F0502020204030204" pitchFamily="34" charset="0"/>
                <a:cs typeface="Arial" panose="020B0604020202020204" pitchFamily="34" charset="0"/>
              </a:rPr>
              <a:t>– This promotion is a fantastic opportunity for partners to explore with their existing customers how upgrading to products like Microsoft 365 Business Premium – or expanding their Microsoft 365 investment with standalone products like Microsoft Defender for Business – can save existing customers money through vendor consolidation while providing necessary productivity and security value. Partners can leverage this promotion during their legacy to NCE transition customer conversations to pitch the opportunity to upgrade and/or expand their Microsoft investment at the discounted promotion price and monthly term flexibility.</a:t>
            </a:r>
          </a:p>
          <a:p>
            <a:pPr marL="342900" marR="0" lvl="0" indent="-342900">
              <a:lnSpc>
                <a:spcPct val="107000"/>
              </a:lnSpc>
              <a:spcBef>
                <a:spcPts val="0"/>
              </a:spcBef>
              <a:spcAft>
                <a:spcPts val="800"/>
              </a:spcAft>
              <a:buFont typeface="+mj-lt"/>
              <a:buAutoNum type="arabicPeriod"/>
            </a:pPr>
            <a:endParaRPr lang="en-US" sz="1800">
              <a:effectLst/>
              <a:latin typeface="Segoe UI" panose="020B0502040204020203"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a:effectLst/>
                <a:latin typeface="Segoe UI" panose="020B0502040204020203" pitchFamily="34" charset="0"/>
                <a:ea typeface="Calibri" panose="020F0502020204030204" pitchFamily="34" charset="0"/>
                <a:cs typeface="Arial" panose="020B0604020202020204" pitchFamily="34" charset="0"/>
              </a:rPr>
              <a:t>We encourage partners to think about both audiences as they build plans for communicating this promotion with new and existing customers.</a:t>
            </a: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7C302-DE89-4DE2-A14D-13D7FE3E680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3673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a:effectLst/>
                <a:latin typeface="Segoe UI" panose="020B0502040204020203" pitchFamily="34" charset="0"/>
                <a:ea typeface="Calibri" panose="020F0502020204030204" pitchFamily="34" charset="0"/>
                <a:cs typeface="Arial" panose="020B0604020202020204" pitchFamily="34" charset="0"/>
              </a:rPr>
              <a:t>Partners should use this promotion to generate new revenue through new customer acquisition and existing customer upsell. SMBs are looking for ways to “Do More with Less”, and Microsoft 365 provides the best way to do that. Partners can use these offers as door openers to start a conversation around “Do More with Less” for both new and existing customers. Four things that every partner should consider:</a:t>
            </a: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Acquire new customers and avoid cancellation risk by offering monthly commitment at annual commitment pricing.</a:t>
            </a: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Expand your pipeline by acquiring new, more speculative customers and adjust licensing as you learn their needs.</a:t>
            </a:r>
            <a:endParaRPr kumimoji="0" lang="en-US" sz="12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endParaRP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lang="en-US" sz="1200">
                <a:solidFill>
                  <a:srgbClr val="000000"/>
                </a:solidFill>
                <a:latin typeface="Segoe UI"/>
              </a:rPr>
              <a:t>Turn</a:t>
            </a: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every NCE transition discussion into an upsell conversation, leading with Security</a:t>
            </a: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Focus on Business Basic and Business Standard legacy IB for upsell to Business Premium or attach with Defender for Business.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87C30A-F58B-4C8A-81AE-FBBB7EDABCC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855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wrap up, c</a:t>
            </a:r>
            <a:r>
              <a:rPr lang="en-US" sz="1800">
                <a:effectLst/>
                <a:latin typeface="Segoe UI" panose="020B0502040204020203" pitchFamily="34" charset="0"/>
                <a:ea typeface="Calibri" panose="020F0502020204030204" pitchFamily="34" charset="0"/>
                <a:cs typeface="Arial" panose="020B0604020202020204" pitchFamily="34" charset="0"/>
              </a:rPr>
              <a:t>ost-savings is top of mind globally for small and medium businesses, and Microsoft 365 provides best value suites and best-in-class products to help every small business achieve more. Partners should leverage the Do More With Less campaign and the offer to meet with customers now, understand their needs, provide them the right solution, and  offer them managed services to do more, now.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D0CF4C-1694-43FE-AEE4-B073AF85E7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2008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Additional resources for partners</a:t>
            </a:r>
          </a:p>
        </p:txBody>
      </p:sp>
      <p:sp>
        <p:nvSpPr>
          <p:cNvPr id="4" name="Slide Number Placeholder 3"/>
          <p:cNvSpPr>
            <a:spLocks noGrp="1"/>
          </p:cNvSpPr>
          <p:nvPr>
            <p:ph type="sldNum" sz="quarter" idx="5"/>
          </p:nvPr>
        </p:nvSpPr>
        <p:spPr/>
        <p:txBody>
          <a:bodyPr/>
          <a:lstStyle/>
          <a:p>
            <a:fld id="{DF87C30A-F58B-4C8A-81AE-FBBB7EDABCCC}" type="slidenum">
              <a:rPr lang="en-US" smtClean="0"/>
              <a:t>16</a:t>
            </a:fld>
            <a:endParaRPr lang="en-US"/>
          </a:p>
        </p:txBody>
      </p:sp>
    </p:spTree>
    <p:extLst>
      <p:ext uri="{BB962C8B-B14F-4D97-AF65-F5344CB8AC3E}">
        <p14:creationId xmlns:p14="http://schemas.microsoft.com/office/powerpoint/2010/main" val="20192407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15.jpe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6.jpeg"/><Relationship Id="rId4" Type="http://schemas.openxmlformats.org/officeDocument/2006/relationships/image" Target="../media/image15.jpe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21.jpe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2.xml"/><Relationship Id="rId5" Type="http://schemas.openxmlformats.org/officeDocument/2006/relationships/image" Target="../media/image25.jpeg"/><Relationship Id="rId4" Type="http://schemas.openxmlformats.org/officeDocument/2006/relationships/image" Target="../media/image24.jpe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26.jpeg"/><Relationship Id="rId5" Type="http://schemas.openxmlformats.org/officeDocument/2006/relationships/image" Target="../media/image16.jpeg"/><Relationship Id="rId4" Type="http://schemas.openxmlformats.org/officeDocument/2006/relationships/image" Target="../media/image15.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15.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6.jpeg"/><Relationship Id="rId4" Type="http://schemas.openxmlformats.org/officeDocument/2006/relationships/image" Target="../media/image15.jpe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26.jpeg"/><Relationship Id="rId5" Type="http://schemas.openxmlformats.org/officeDocument/2006/relationships/image" Target="../media/image16.jpeg"/><Relationship Id="rId4" Type="http://schemas.openxmlformats.org/officeDocument/2006/relationships/image" Target="../media/image15.jpe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9423983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0513086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8" name="Picture 7">
            <a:extLst>
              <a:ext uri="{FF2B5EF4-FFF2-40B4-BE49-F238E27FC236}">
                <a16:creationId xmlns:a16="http://schemas.microsoft.com/office/drawing/2014/main" id="{D9EBD347-2E5F-4FEE-B83B-C065E98D71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5326062" y="0"/>
            <a:ext cx="6865937" cy="6858000"/>
          </a:xfrm>
          <a:prstGeom prst="rect">
            <a:avLst/>
          </a:prstGeom>
        </p:spPr>
      </p:pic>
    </p:spTree>
    <p:extLst>
      <p:ext uri="{BB962C8B-B14F-4D97-AF65-F5344CB8AC3E}">
        <p14:creationId xmlns:p14="http://schemas.microsoft.com/office/powerpoint/2010/main" val="2896808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6" name="Picture 5">
            <a:extLst>
              <a:ext uri="{FF2B5EF4-FFF2-40B4-BE49-F238E27FC236}">
                <a16:creationId xmlns:a16="http://schemas.microsoft.com/office/drawing/2014/main" id="{9B7AF5B3-7115-402D-84D9-6E80CE9D4AD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flipH="1">
            <a:off x="5326062" y="0"/>
            <a:ext cx="6865937" cy="6858000"/>
          </a:xfrm>
          <a:prstGeom prst="rect">
            <a:avLst/>
          </a:prstGeom>
        </p:spPr>
      </p:pic>
    </p:spTree>
    <p:extLst>
      <p:ext uri="{BB962C8B-B14F-4D97-AF65-F5344CB8AC3E}">
        <p14:creationId xmlns:p14="http://schemas.microsoft.com/office/powerpoint/2010/main" val="15466789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Illustrated Option Dark 1">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grpSp>
        <p:nvGrpSpPr>
          <p:cNvPr id="8" name="Group 7">
            <a:extLst>
              <a:ext uri="{FF2B5EF4-FFF2-40B4-BE49-F238E27FC236}">
                <a16:creationId xmlns:a16="http://schemas.microsoft.com/office/drawing/2014/main" id="{0E8820B7-A3F2-4054-9A2A-BE7E43C0B49F}"/>
              </a:ext>
            </a:extLst>
          </p:cNvPr>
          <p:cNvGrpSpPr/>
          <p:nvPr userDrawn="1"/>
        </p:nvGrpSpPr>
        <p:grpSpPr>
          <a:xfrm>
            <a:off x="6974396" y="1959269"/>
            <a:ext cx="5354864" cy="5429842"/>
            <a:chOff x="7086863" y="1652062"/>
            <a:chExt cx="5354864" cy="5429842"/>
          </a:xfrm>
        </p:grpSpPr>
        <p:cxnSp>
          <p:nvCxnSpPr>
            <p:cNvPr id="9" name="Straight Arrow Connector 8">
              <a:extLst>
                <a:ext uri="{FF2B5EF4-FFF2-40B4-BE49-F238E27FC236}">
                  <a16:creationId xmlns:a16="http://schemas.microsoft.com/office/drawing/2014/main" id="{F8AACFFC-4EF4-437F-8DB3-AAE5E02BAC03}"/>
                </a:ext>
              </a:extLst>
            </p:cNvPr>
            <p:cNvCxnSpPr>
              <a:cxnSpLocks/>
              <a:stCxn id="60" idx="6"/>
            </p:cNvCxnSpPr>
            <p:nvPr/>
          </p:nvCxnSpPr>
          <p:spPr>
            <a:xfrm flipH="1">
              <a:off x="8531164" y="2435583"/>
              <a:ext cx="1643181" cy="66847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4B39B3-4D45-41AA-82C1-E95F05D62E80}"/>
                </a:ext>
              </a:extLst>
            </p:cNvPr>
            <p:cNvCxnSpPr>
              <a:cxnSpLocks/>
              <a:stCxn id="53" idx="7"/>
            </p:cNvCxnSpPr>
            <p:nvPr/>
          </p:nvCxnSpPr>
          <p:spPr>
            <a:xfrm flipH="1">
              <a:off x="10045664" y="1915369"/>
              <a:ext cx="491353" cy="51400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17DDD0F-677E-45B9-AF56-F7C5981BFB19}"/>
                </a:ext>
              </a:extLst>
            </p:cNvPr>
            <p:cNvCxnSpPr>
              <a:cxnSpLocks/>
              <a:stCxn id="62" idx="1"/>
            </p:cNvCxnSpPr>
            <p:nvPr/>
          </p:nvCxnSpPr>
          <p:spPr>
            <a:xfrm>
              <a:off x="10838628" y="1689752"/>
              <a:ext cx="240223" cy="713505"/>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C785A34-608D-471A-BA6B-151D181A6C69}"/>
                </a:ext>
              </a:extLst>
            </p:cNvPr>
            <p:cNvCxnSpPr>
              <a:cxnSpLocks/>
            </p:cNvCxnSpPr>
            <p:nvPr/>
          </p:nvCxnSpPr>
          <p:spPr>
            <a:xfrm flipH="1">
              <a:off x="10993527" y="1946427"/>
              <a:ext cx="1264275" cy="498226"/>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57F2554-8A5B-48F8-AB83-F521EF092D67}"/>
                </a:ext>
              </a:extLst>
            </p:cNvPr>
            <p:cNvCxnSpPr>
              <a:cxnSpLocks/>
              <a:stCxn id="68" idx="0"/>
              <a:endCxn id="49" idx="4"/>
            </p:cNvCxnSpPr>
            <p:nvPr/>
          </p:nvCxnSpPr>
          <p:spPr>
            <a:xfrm>
              <a:off x="7646016" y="4906146"/>
              <a:ext cx="199461" cy="1010237"/>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4A18237-20C2-48EA-A9F0-885658863F17}"/>
                </a:ext>
              </a:extLst>
            </p:cNvPr>
            <p:cNvCxnSpPr>
              <a:cxnSpLocks/>
              <a:stCxn id="60" idx="2"/>
              <a:endCxn id="45" idx="6"/>
            </p:cNvCxnSpPr>
            <p:nvPr/>
          </p:nvCxnSpPr>
          <p:spPr>
            <a:xfrm flipV="1">
              <a:off x="9916982" y="2399688"/>
              <a:ext cx="1288944" cy="35896"/>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668033D-1454-484C-B415-EF00A0594C22}"/>
                </a:ext>
              </a:extLst>
            </p:cNvPr>
            <p:cNvCxnSpPr>
              <a:cxnSpLocks/>
              <a:stCxn id="62" idx="6"/>
              <a:endCxn id="55" idx="2"/>
            </p:cNvCxnSpPr>
            <p:nvPr/>
          </p:nvCxnSpPr>
          <p:spPr>
            <a:xfrm flipH="1">
              <a:off x="9346334" y="1780744"/>
              <a:ext cx="1711968" cy="416717"/>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7F11AE6-7144-4782-9CF5-9C28E104FE01}"/>
                </a:ext>
              </a:extLst>
            </p:cNvPr>
            <p:cNvCxnSpPr>
              <a:cxnSpLocks/>
              <a:stCxn id="46" idx="0"/>
            </p:cNvCxnSpPr>
            <p:nvPr/>
          </p:nvCxnSpPr>
          <p:spPr>
            <a:xfrm flipH="1">
              <a:off x="8515003" y="2289564"/>
              <a:ext cx="254781" cy="901354"/>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30BDD74-5DF0-4E0C-A41D-94BE921980C6}"/>
                </a:ext>
              </a:extLst>
            </p:cNvPr>
            <p:cNvCxnSpPr>
              <a:cxnSpLocks/>
              <a:stCxn id="51" idx="1"/>
              <a:endCxn id="68" idx="5"/>
            </p:cNvCxnSpPr>
            <p:nvPr/>
          </p:nvCxnSpPr>
          <p:spPr>
            <a:xfrm>
              <a:off x="7129355" y="4671147"/>
              <a:ext cx="607652" cy="454673"/>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8A52A5B-A4CA-49A8-A9ED-A89D1DC13504}"/>
                </a:ext>
              </a:extLst>
            </p:cNvPr>
            <p:cNvCxnSpPr>
              <a:cxnSpLocks/>
              <a:stCxn id="51" idx="0"/>
            </p:cNvCxnSpPr>
            <p:nvPr/>
          </p:nvCxnSpPr>
          <p:spPr>
            <a:xfrm flipH="1">
              <a:off x="7194644" y="4633457"/>
              <a:ext cx="25702" cy="1832783"/>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B85749D-9AAC-4E03-807A-6D31B3DC777B}"/>
                </a:ext>
              </a:extLst>
            </p:cNvPr>
            <p:cNvCxnSpPr>
              <a:cxnSpLocks/>
              <a:stCxn id="54" idx="5"/>
            </p:cNvCxnSpPr>
            <p:nvPr/>
          </p:nvCxnSpPr>
          <p:spPr>
            <a:xfrm flipH="1" flipV="1">
              <a:off x="7287028" y="5506319"/>
              <a:ext cx="465244" cy="945673"/>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E0FB368-10D4-4D64-AE87-C97530C14A26}"/>
                </a:ext>
              </a:extLst>
            </p:cNvPr>
            <p:cNvCxnSpPr>
              <a:cxnSpLocks/>
            </p:cNvCxnSpPr>
            <p:nvPr/>
          </p:nvCxnSpPr>
          <p:spPr>
            <a:xfrm>
              <a:off x="7114899" y="6445339"/>
              <a:ext cx="962307" cy="293065"/>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2CE1818-66AD-4231-BD89-523AF851C221}"/>
                </a:ext>
              </a:extLst>
            </p:cNvPr>
            <p:cNvCxnSpPr>
              <a:cxnSpLocks/>
              <a:stCxn id="47" idx="7"/>
            </p:cNvCxnSpPr>
            <p:nvPr/>
          </p:nvCxnSpPr>
          <p:spPr>
            <a:xfrm flipH="1">
              <a:off x="7165229" y="3966763"/>
              <a:ext cx="910862" cy="816453"/>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A435589-5CBC-4A29-B489-D710CBF4D955}"/>
                </a:ext>
              </a:extLst>
            </p:cNvPr>
            <p:cNvCxnSpPr>
              <a:cxnSpLocks/>
              <a:stCxn id="61" idx="3"/>
            </p:cNvCxnSpPr>
            <p:nvPr/>
          </p:nvCxnSpPr>
          <p:spPr>
            <a:xfrm flipH="1">
              <a:off x="7549713" y="3189474"/>
              <a:ext cx="421568" cy="567391"/>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F9509B9-74A2-4F16-ABDB-6D54EB54365B}"/>
                </a:ext>
              </a:extLst>
            </p:cNvPr>
            <p:cNvCxnSpPr>
              <a:cxnSpLocks/>
            </p:cNvCxnSpPr>
            <p:nvPr/>
          </p:nvCxnSpPr>
          <p:spPr>
            <a:xfrm flipH="1">
              <a:off x="8063072" y="2383073"/>
              <a:ext cx="727866" cy="710425"/>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8054BE4-1F6D-4DA9-89AB-0C4818691F29}"/>
                </a:ext>
              </a:extLst>
            </p:cNvPr>
            <p:cNvCxnSpPr>
              <a:cxnSpLocks/>
              <a:endCxn id="47" idx="4"/>
            </p:cNvCxnSpPr>
            <p:nvPr/>
          </p:nvCxnSpPr>
          <p:spPr>
            <a:xfrm flipH="1">
              <a:off x="7985099" y="3079734"/>
              <a:ext cx="93751" cy="1106702"/>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A771F7B-67F1-4475-A965-E15367EC456A}"/>
                </a:ext>
              </a:extLst>
            </p:cNvPr>
            <p:cNvCxnSpPr>
              <a:cxnSpLocks/>
              <a:stCxn id="65" idx="7"/>
            </p:cNvCxnSpPr>
            <p:nvPr/>
          </p:nvCxnSpPr>
          <p:spPr>
            <a:xfrm flipH="1">
              <a:off x="7190371" y="3631035"/>
              <a:ext cx="473750" cy="1124889"/>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CC86634-55D8-4EA6-B44D-A1E9A17637B9}"/>
                </a:ext>
              </a:extLst>
            </p:cNvPr>
            <p:cNvCxnSpPr>
              <a:cxnSpLocks/>
              <a:stCxn id="55" idx="7"/>
            </p:cNvCxnSpPr>
            <p:nvPr/>
          </p:nvCxnSpPr>
          <p:spPr>
            <a:xfrm flipH="1">
              <a:off x="8557520" y="2106470"/>
              <a:ext cx="1008488" cy="1078936"/>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7304B2B-2BB5-43B9-A61E-C5B14F045E46}"/>
                </a:ext>
              </a:extLst>
            </p:cNvPr>
            <p:cNvCxnSpPr>
              <a:cxnSpLocks/>
              <a:endCxn id="56" idx="4"/>
            </p:cNvCxnSpPr>
            <p:nvPr/>
          </p:nvCxnSpPr>
          <p:spPr>
            <a:xfrm flipH="1">
              <a:off x="8368252" y="3068322"/>
              <a:ext cx="252453" cy="782387"/>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4EEA6CF-BE98-4F3D-8A09-0D46EF2F9B8F}"/>
                </a:ext>
              </a:extLst>
            </p:cNvPr>
            <p:cNvCxnSpPr>
              <a:cxnSpLocks/>
              <a:endCxn id="47" idx="5"/>
            </p:cNvCxnSpPr>
            <p:nvPr/>
          </p:nvCxnSpPr>
          <p:spPr>
            <a:xfrm>
              <a:off x="7577130" y="3667257"/>
              <a:ext cx="498961" cy="481489"/>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0508278-47A5-488A-90BD-70095808CB9C}"/>
                </a:ext>
              </a:extLst>
            </p:cNvPr>
            <p:cNvCxnSpPr>
              <a:cxnSpLocks/>
            </p:cNvCxnSpPr>
            <p:nvPr/>
          </p:nvCxnSpPr>
          <p:spPr>
            <a:xfrm>
              <a:off x="9435660" y="2136582"/>
              <a:ext cx="656030" cy="345027"/>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58490BE-394B-4A86-846F-026C3FC8CE56}"/>
                </a:ext>
              </a:extLst>
            </p:cNvPr>
            <p:cNvCxnSpPr>
              <a:cxnSpLocks/>
            </p:cNvCxnSpPr>
            <p:nvPr/>
          </p:nvCxnSpPr>
          <p:spPr>
            <a:xfrm flipH="1" flipV="1">
              <a:off x="11052052" y="2399276"/>
              <a:ext cx="1284286" cy="694222"/>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A522F4-1C7B-4326-B618-E8AE00BAB21D}"/>
                </a:ext>
              </a:extLst>
            </p:cNvPr>
            <p:cNvCxnSpPr>
              <a:cxnSpLocks/>
              <a:stCxn id="44" idx="7"/>
            </p:cNvCxnSpPr>
            <p:nvPr/>
          </p:nvCxnSpPr>
          <p:spPr>
            <a:xfrm flipH="1">
              <a:off x="8732077" y="1803133"/>
              <a:ext cx="1227891" cy="625368"/>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1845380-1258-46A3-A22B-D4A409374C8B}"/>
                </a:ext>
              </a:extLst>
            </p:cNvPr>
            <p:cNvCxnSpPr>
              <a:cxnSpLocks/>
              <a:endCxn id="48" idx="5"/>
            </p:cNvCxnSpPr>
            <p:nvPr/>
          </p:nvCxnSpPr>
          <p:spPr>
            <a:xfrm>
              <a:off x="7783273" y="5751423"/>
              <a:ext cx="345398" cy="1091992"/>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F43F943-E25E-46BC-A449-07738D83316C}"/>
                </a:ext>
              </a:extLst>
            </p:cNvPr>
            <p:cNvCxnSpPr>
              <a:cxnSpLocks/>
              <a:stCxn id="58" idx="3"/>
              <a:endCxn id="49" idx="7"/>
            </p:cNvCxnSpPr>
            <p:nvPr/>
          </p:nvCxnSpPr>
          <p:spPr>
            <a:xfrm flipV="1">
              <a:off x="7124553" y="5696711"/>
              <a:ext cx="811915" cy="867657"/>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2B2D055-07F4-4C71-B6A3-C1AAEEE3DC50}"/>
                </a:ext>
              </a:extLst>
            </p:cNvPr>
            <p:cNvCxnSpPr>
              <a:cxnSpLocks/>
              <a:stCxn id="68" idx="3"/>
              <a:endCxn id="56" idx="7"/>
            </p:cNvCxnSpPr>
            <p:nvPr/>
          </p:nvCxnSpPr>
          <p:spPr>
            <a:xfrm flipV="1">
              <a:off x="7555024" y="3631035"/>
              <a:ext cx="904220" cy="1494784"/>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648697F-0EE9-4CA1-A4CE-75DACA0A97F5}"/>
                </a:ext>
              </a:extLst>
            </p:cNvPr>
            <p:cNvCxnSpPr>
              <a:cxnSpLocks/>
              <a:stCxn id="62" idx="2"/>
              <a:endCxn id="50" idx="6"/>
            </p:cNvCxnSpPr>
            <p:nvPr/>
          </p:nvCxnSpPr>
          <p:spPr>
            <a:xfrm>
              <a:off x="10800938" y="1780744"/>
              <a:ext cx="1535400" cy="165198"/>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03D60CA-C4E4-44DE-A83D-3D64769BA375}"/>
                </a:ext>
              </a:extLst>
            </p:cNvPr>
            <p:cNvCxnSpPr>
              <a:cxnSpLocks/>
              <a:endCxn id="62" idx="6"/>
            </p:cNvCxnSpPr>
            <p:nvPr/>
          </p:nvCxnSpPr>
          <p:spPr>
            <a:xfrm flipV="1">
              <a:off x="9824187" y="1780744"/>
              <a:ext cx="1234114" cy="110188"/>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E3E0D48-5085-4529-A84F-0F5598D220FD}"/>
                </a:ext>
              </a:extLst>
            </p:cNvPr>
            <p:cNvCxnSpPr>
              <a:cxnSpLocks/>
            </p:cNvCxnSpPr>
            <p:nvPr/>
          </p:nvCxnSpPr>
          <p:spPr>
            <a:xfrm>
              <a:off x="11994031" y="2295343"/>
              <a:ext cx="367261" cy="1164172"/>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5197188-9807-4AC0-B650-310BA20F4390}"/>
                </a:ext>
              </a:extLst>
            </p:cNvPr>
            <p:cNvCxnSpPr>
              <a:cxnSpLocks/>
              <a:stCxn id="43" idx="5"/>
            </p:cNvCxnSpPr>
            <p:nvPr/>
          </p:nvCxnSpPr>
          <p:spPr>
            <a:xfrm>
              <a:off x="11657068" y="2083682"/>
              <a:ext cx="784659" cy="318974"/>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A744564-816A-4972-B06F-11D16729CBAF}"/>
                </a:ext>
              </a:extLst>
            </p:cNvPr>
            <p:cNvCxnSpPr>
              <a:cxnSpLocks/>
              <a:endCxn id="56" idx="3"/>
            </p:cNvCxnSpPr>
            <p:nvPr/>
          </p:nvCxnSpPr>
          <p:spPr>
            <a:xfrm flipH="1">
              <a:off x="8277261" y="2762309"/>
              <a:ext cx="1048898" cy="1050709"/>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D9C1321-35CF-4B1C-94F0-1B8EB5EDCE7C}"/>
                </a:ext>
              </a:extLst>
            </p:cNvPr>
            <p:cNvCxnSpPr>
              <a:cxnSpLocks/>
              <a:stCxn id="49" idx="4"/>
              <a:endCxn id="47" idx="0"/>
            </p:cNvCxnSpPr>
            <p:nvPr/>
          </p:nvCxnSpPr>
          <p:spPr>
            <a:xfrm flipV="1">
              <a:off x="7845477" y="3929073"/>
              <a:ext cx="139622" cy="1987311"/>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6F67281-F272-4E55-B333-97244CFB3978}"/>
                </a:ext>
              </a:extLst>
            </p:cNvPr>
            <p:cNvCxnSpPr>
              <a:cxnSpLocks/>
              <a:endCxn id="48" idx="7"/>
            </p:cNvCxnSpPr>
            <p:nvPr/>
          </p:nvCxnSpPr>
          <p:spPr>
            <a:xfrm flipV="1">
              <a:off x="7453786" y="6661432"/>
              <a:ext cx="674884" cy="420472"/>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A284281-795D-45B6-B730-917692DDCB5D}"/>
                </a:ext>
              </a:extLst>
            </p:cNvPr>
            <p:cNvCxnSpPr>
              <a:cxnSpLocks/>
              <a:stCxn id="67" idx="2"/>
              <a:endCxn id="49" idx="6"/>
            </p:cNvCxnSpPr>
            <p:nvPr/>
          </p:nvCxnSpPr>
          <p:spPr>
            <a:xfrm>
              <a:off x="7165227" y="5513454"/>
              <a:ext cx="808932" cy="274248"/>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2A30F491-84C4-441F-AEBE-25D92090156E}"/>
                </a:ext>
              </a:extLst>
            </p:cNvPr>
            <p:cNvSpPr/>
            <p:nvPr/>
          </p:nvSpPr>
          <p:spPr bwMode="auto">
            <a:xfrm>
              <a:off x="11437394" y="1864008"/>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4" name="Oval 43">
              <a:extLst>
                <a:ext uri="{FF2B5EF4-FFF2-40B4-BE49-F238E27FC236}">
                  <a16:creationId xmlns:a16="http://schemas.microsoft.com/office/drawing/2014/main" id="{695B134F-9007-4B46-AF94-1324D36C266F}"/>
                </a:ext>
              </a:extLst>
            </p:cNvPr>
            <p:cNvSpPr/>
            <p:nvPr/>
          </p:nvSpPr>
          <p:spPr bwMode="auto">
            <a:xfrm>
              <a:off x="9740295" y="1765443"/>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5" name="Oval 44">
              <a:extLst>
                <a:ext uri="{FF2B5EF4-FFF2-40B4-BE49-F238E27FC236}">
                  <a16:creationId xmlns:a16="http://schemas.microsoft.com/office/drawing/2014/main" id="{D207E9D3-606B-4DDF-B185-65086C2C6392}"/>
                </a:ext>
              </a:extLst>
            </p:cNvPr>
            <p:cNvSpPr/>
            <p:nvPr/>
          </p:nvSpPr>
          <p:spPr bwMode="auto">
            <a:xfrm>
              <a:off x="10948562" y="2271006"/>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6" name="Oval 45">
              <a:extLst>
                <a:ext uri="{FF2B5EF4-FFF2-40B4-BE49-F238E27FC236}">
                  <a16:creationId xmlns:a16="http://schemas.microsoft.com/office/drawing/2014/main" id="{FDB1E5CB-6C2D-40DE-BAC1-63B3689AE709}"/>
                </a:ext>
              </a:extLst>
            </p:cNvPr>
            <p:cNvSpPr/>
            <p:nvPr/>
          </p:nvSpPr>
          <p:spPr bwMode="auto">
            <a:xfrm>
              <a:off x="8641103" y="2289564"/>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7" name="Oval 46">
              <a:extLst>
                <a:ext uri="{FF2B5EF4-FFF2-40B4-BE49-F238E27FC236}">
                  <a16:creationId xmlns:a16="http://schemas.microsoft.com/office/drawing/2014/main" id="{2C4E9A0D-1F68-4876-B4EF-5ACD98497E85}"/>
                </a:ext>
              </a:extLst>
            </p:cNvPr>
            <p:cNvSpPr/>
            <p:nvPr/>
          </p:nvSpPr>
          <p:spPr bwMode="auto">
            <a:xfrm>
              <a:off x="7856417" y="3929073"/>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8" name="Oval 47">
              <a:extLst>
                <a:ext uri="{FF2B5EF4-FFF2-40B4-BE49-F238E27FC236}">
                  <a16:creationId xmlns:a16="http://schemas.microsoft.com/office/drawing/2014/main" id="{5D4E545C-D900-49B3-9287-B67DF46AD3FE}"/>
                </a:ext>
              </a:extLst>
            </p:cNvPr>
            <p:cNvSpPr/>
            <p:nvPr/>
          </p:nvSpPr>
          <p:spPr bwMode="auto">
            <a:xfrm>
              <a:off x="7908997" y="6623741"/>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9" name="Oval 48">
              <a:extLst>
                <a:ext uri="{FF2B5EF4-FFF2-40B4-BE49-F238E27FC236}">
                  <a16:creationId xmlns:a16="http://schemas.microsoft.com/office/drawing/2014/main" id="{5FFB560C-5330-456E-9417-B52D70E5E88B}"/>
                </a:ext>
              </a:extLst>
            </p:cNvPr>
            <p:cNvSpPr/>
            <p:nvPr/>
          </p:nvSpPr>
          <p:spPr bwMode="auto">
            <a:xfrm>
              <a:off x="7716795" y="5659020"/>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0" name="Oval 49">
              <a:extLst>
                <a:ext uri="{FF2B5EF4-FFF2-40B4-BE49-F238E27FC236}">
                  <a16:creationId xmlns:a16="http://schemas.microsoft.com/office/drawing/2014/main" id="{00CDE74E-E232-4EC8-B060-1F1B2AB14630}"/>
                </a:ext>
              </a:extLst>
            </p:cNvPr>
            <p:cNvSpPr/>
            <p:nvPr/>
          </p:nvSpPr>
          <p:spPr bwMode="auto">
            <a:xfrm>
              <a:off x="12078975" y="1817260"/>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1" name="Oval 50">
              <a:extLst>
                <a:ext uri="{FF2B5EF4-FFF2-40B4-BE49-F238E27FC236}">
                  <a16:creationId xmlns:a16="http://schemas.microsoft.com/office/drawing/2014/main" id="{39436641-D520-4E95-B730-77B6B0C7B599}"/>
                </a:ext>
              </a:extLst>
            </p:cNvPr>
            <p:cNvSpPr/>
            <p:nvPr/>
          </p:nvSpPr>
          <p:spPr bwMode="auto">
            <a:xfrm>
              <a:off x="7091664" y="4633457"/>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2" name="Oval 51">
              <a:extLst>
                <a:ext uri="{FF2B5EF4-FFF2-40B4-BE49-F238E27FC236}">
                  <a16:creationId xmlns:a16="http://schemas.microsoft.com/office/drawing/2014/main" id="{596BF9BB-CAE5-482C-A67A-DEBC062AEC2C}"/>
                </a:ext>
              </a:extLst>
            </p:cNvPr>
            <p:cNvSpPr/>
            <p:nvPr/>
          </p:nvSpPr>
          <p:spPr bwMode="auto">
            <a:xfrm>
              <a:off x="7664325" y="4411869"/>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3" name="Oval 52">
              <a:extLst>
                <a:ext uri="{FF2B5EF4-FFF2-40B4-BE49-F238E27FC236}">
                  <a16:creationId xmlns:a16="http://schemas.microsoft.com/office/drawing/2014/main" id="{4EAAD901-F7C7-4E30-B2F6-25DAC9F6858A}"/>
                </a:ext>
              </a:extLst>
            </p:cNvPr>
            <p:cNvSpPr/>
            <p:nvPr/>
          </p:nvSpPr>
          <p:spPr bwMode="auto">
            <a:xfrm>
              <a:off x="10317343" y="1877679"/>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4" name="Oval 53">
              <a:extLst>
                <a:ext uri="{FF2B5EF4-FFF2-40B4-BE49-F238E27FC236}">
                  <a16:creationId xmlns:a16="http://schemas.microsoft.com/office/drawing/2014/main" id="{C77D1AA8-4A22-40D1-897A-719F6E6A5D84}"/>
                </a:ext>
              </a:extLst>
            </p:cNvPr>
            <p:cNvSpPr/>
            <p:nvPr/>
          </p:nvSpPr>
          <p:spPr bwMode="auto">
            <a:xfrm>
              <a:off x="7532599" y="6232318"/>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5" name="Oval 54">
              <a:extLst>
                <a:ext uri="{FF2B5EF4-FFF2-40B4-BE49-F238E27FC236}">
                  <a16:creationId xmlns:a16="http://schemas.microsoft.com/office/drawing/2014/main" id="{6E066359-938F-4492-B663-86AA97559380}"/>
                </a:ext>
              </a:extLst>
            </p:cNvPr>
            <p:cNvSpPr/>
            <p:nvPr/>
          </p:nvSpPr>
          <p:spPr bwMode="auto">
            <a:xfrm>
              <a:off x="9346334" y="2068779"/>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6" name="Oval 55">
              <a:extLst>
                <a:ext uri="{FF2B5EF4-FFF2-40B4-BE49-F238E27FC236}">
                  <a16:creationId xmlns:a16="http://schemas.microsoft.com/office/drawing/2014/main" id="{6C5E9208-4816-409F-B6EE-2E3B0D65D2EE}"/>
                </a:ext>
              </a:extLst>
            </p:cNvPr>
            <p:cNvSpPr/>
            <p:nvPr/>
          </p:nvSpPr>
          <p:spPr bwMode="auto">
            <a:xfrm>
              <a:off x="8239570" y="3593345"/>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7" name="Oval 56">
              <a:extLst>
                <a:ext uri="{FF2B5EF4-FFF2-40B4-BE49-F238E27FC236}">
                  <a16:creationId xmlns:a16="http://schemas.microsoft.com/office/drawing/2014/main" id="{22E74643-8293-4D11-AE7F-4685191C02C4}"/>
                </a:ext>
              </a:extLst>
            </p:cNvPr>
            <p:cNvSpPr/>
            <p:nvPr/>
          </p:nvSpPr>
          <p:spPr bwMode="auto">
            <a:xfrm>
              <a:off x="11892657" y="2177877"/>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8" name="Oval 57">
              <a:extLst>
                <a:ext uri="{FF2B5EF4-FFF2-40B4-BE49-F238E27FC236}">
                  <a16:creationId xmlns:a16="http://schemas.microsoft.com/office/drawing/2014/main" id="{C2641AFB-6173-487A-9216-DE922274BBF2}"/>
                </a:ext>
              </a:extLst>
            </p:cNvPr>
            <p:cNvSpPr/>
            <p:nvPr/>
          </p:nvSpPr>
          <p:spPr bwMode="auto">
            <a:xfrm>
              <a:off x="7086863" y="6344694"/>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59" name="Oval 58">
              <a:extLst>
                <a:ext uri="{FF2B5EF4-FFF2-40B4-BE49-F238E27FC236}">
                  <a16:creationId xmlns:a16="http://schemas.microsoft.com/office/drawing/2014/main" id="{D0DDB10F-50F5-4FD9-A879-63CD1E0ACD10}"/>
                </a:ext>
              </a:extLst>
            </p:cNvPr>
            <p:cNvSpPr/>
            <p:nvPr/>
          </p:nvSpPr>
          <p:spPr bwMode="auto">
            <a:xfrm>
              <a:off x="9162831" y="2636415"/>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60" name="Oval 59">
              <a:extLst>
                <a:ext uri="{FF2B5EF4-FFF2-40B4-BE49-F238E27FC236}">
                  <a16:creationId xmlns:a16="http://schemas.microsoft.com/office/drawing/2014/main" id="{287F29B4-D934-4BB5-91C5-C18E2E21F5C2}"/>
                </a:ext>
              </a:extLst>
            </p:cNvPr>
            <p:cNvSpPr/>
            <p:nvPr/>
          </p:nvSpPr>
          <p:spPr bwMode="auto">
            <a:xfrm>
              <a:off x="9916982" y="2306901"/>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61" name="Oval 60">
              <a:extLst>
                <a:ext uri="{FF2B5EF4-FFF2-40B4-BE49-F238E27FC236}">
                  <a16:creationId xmlns:a16="http://schemas.microsoft.com/office/drawing/2014/main" id="{4B7EE754-C6B5-44E6-8BF5-F815D260684D}"/>
                </a:ext>
              </a:extLst>
            </p:cNvPr>
            <p:cNvSpPr/>
            <p:nvPr/>
          </p:nvSpPr>
          <p:spPr bwMode="auto">
            <a:xfrm>
              <a:off x="7933591" y="2969800"/>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62" name="Oval 61">
              <a:extLst>
                <a:ext uri="{FF2B5EF4-FFF2-40B4-BE49-F238E27FC236}">
                  <a16:creationId xmlns:a16="http://schemas.microsoft.com/office/drawing/2014/main" id="{5884448C-6E66-4A3A-934A-6BAD5CB515CE}"/>
                </a:ext>
              </a:extLst>
            </p:cNvPr>
            <p:cNvSpPr/>
            <p:nvPr/>
          </p:nvSpPr>
          <p:spPr bwMode="auto">
            <a:xfrm>
              <a:off x="10800938" y="1652062"/>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63" name="Straight Arrow Connector 62">
              <a:extLst>
                <a:ext uri="{FF2B5EF4-FFF2-40B4-BE49-F238E27FC236}">
                  <a16:creationId xmlns:a16="http://schemas.microsoft.com/office/drawing/2014/main" id="{36E8AE76-FCA5-45AB-83DC-5D328A0A70B4}"/>
                </a:ext>
              </a:extLst>
            </p:cNvPr>
            <p:cNvCxnSpPr>
              <a:cxnSpLocks/>
              <a:stCxn id="64" idx="7"/>
            </p:cNvCxnSpPr>
            <p:nvPr/>
          </p:nvCxnSpPr>
          <p:spPr>
            <a:xfrm flipH="1">
              <a:off x="7568681" y="3033962"/>
              <a:ext cx="1102656" cy="685910"/>
            </a:xfrm>
            <a:prstGeom prst="straightConnector1">
              <a:avLst/>
            </a:prstGeom>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FA906EBB-0E74-4712-AC94-273083D8C1CC}"/>
                </a:ext>
              </a:extLst>
            </p:cNvPr>
            <p:cNvSpPr/>
            <p:nvPr/>
          </p:nvSpPr>
          <p:spPr bwMode="auto">
            <a:xfrm>
              <a:off x="8451664" y="2996272"/>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65" name="Oval 64">
              <a:extLst>
                <a:ext uri="{FF2B5EF4-FFF2-40B4-BE49-F238E27FC236}">
                  <a16:creationId xmlns:a16="http://schemas.microsoft.com/office/drawing/2014/main" id="{0D3E3362-9BBB-4A4F-B6A0-DD9A0A7FB328}"/>
                </a:ext>
              </a:extLst>
            </p:cNvPr>
            <p:cNvSpPr/>
            <p:nvPr/>
          </p:nvSpPr>
          <p:spPr bwMode="auto">
            <a:xfrm>
              <a:off x="7444448" y="3593345"/>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66" name="Straight Arrow Connector 65">
              <a:extLst>
                <a:ext uri="{FF2B5EF4-FFF2-40B4-BE49-F238E27FC236}">
                  <a16:creationId xmlns:a16="http://schemas.microsoft.com/office/drawing/2014/main" id="{77B2AFB7-EF44-4B0F-BD3F-4B4EAF83370A}"/>
                </a:ext>
              </a:extLst>
            </p:cNvPr>
            <p:cNvCxnSpPr>
              <a:cxnSpLocks/>
              <a:endCxn id="68" idx="7"/>
            </p:cNvCxnSpPr>
            <p:nvPr/>
          </p:nvCxnSpPr>
          <p:spPr>
            <a:xfrm flipV="1">
              <a:off x="7291987" y="4943837"/>
              <a:ext cx="445020" cy="645270"/>
            </a:xfrm>
            <a:prstGeom prst="straightConnector1">
              <a:avLst/>
            </a:prstGeom>
            <a:solidFill>
              <a:schemeClr val="bg1"/>
            </a:solidFill>
            <a:ln w="19050">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0E85278D-DF07-4A33-9565-2436746E1E22}"/>
                </a:ext>
              </a:extLst>
            </p:cNvPr>
            <p:cNvSpPr/>
            <p:nvPr/>
          </p:nvSpPr>
          <p:spPr bwMode="auto">
            <a:xfrm>
              <a:off x="7165227" y="5384773"/>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68" name="Oval 67">
              <a:extLst>
                <a:ext uri="{FF2B5EF4-FFF2-40B4-BE49-F238E27FC236}">
                  <a16:creationId xmlns:a16="http://schemas.microsoft.com/office/drawing/2014/main" id="{7A5EE5DA-409B-4E65-AAEE-AA011F5C6899}"/>
                </a:ext>
              </a:extLst>
            </p:cNvPr>
            <p:cNvSpPr/>
            <p:nvPr/>
          </p:nvSpPr>
          <p:spPr bwMode="auto">
            <a:xfrm>
              <a:off x="7517334" y="4906146"/>
              <a:ext cx="257364" cy="257364"/>
            </a:xfrm>
            <a:prstGeom prst="ellipse">
              <a:avLst/>
            </a:prstGeom>
            <a:solidFill>
              <a:schemeClr val="accent2"/>
            </a:solidFill>
            <a:ln w="19050" cap="flat" cmpd="sng" algn="ctr">
              <a:solidFill>
                <a:schemeClr val="accent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grpSp>
      <p:grpSp>
        <p:nvGrpSpPr>
          <p:cNvPr id="69" name="Group 68">
            <a:extLst>
              <a:ext uri="{FF2B5EF4-FFF2-40B4-BE49-F238E27FC236}">
                <a16:creationId xmlns:a16="http://schemas.microsoft.com/office/drawing/2014/main" id="{725156DB-51C1-4F44-A638-0FEEE49C5C18}"/>
              </a:ext>
            </a:extLst>
          </p:cNvPr>
          <p:cNvGrpSpPr/>
          <p:nvPr userDrawn="1"/>
        </p:nvGrpSpPr>
        <p:grpSpPr>
          <a:xfrm>
            <a:off x="6914326" y="-666914"/>
            <a:ext cx="4706451" cy="4694564"/>
            <a:chOff x="7367037" y="-174638"/>
            <a:chExt cx="4706451" cy="4694564"/>
          </a:xfrm>
        </p:grpSpPr>
        <p:cxnSp>
          <p:nvCxnSpPr>
            <p:cNvPr id="70" name="Straight Arrow Connector 69">
              <a:extLst>
                <a:ext uri="{FF2B5EF4-FFF2-40B4-BE49-F238E27FC236}">
                  <a16:creationId xmlns:a16="http://schemas.microsoft.com/office/drawing/2014/main" id="{D2115CE7-5EF0-4252-AAAA-A690331F632F}"/>
                </a:ext>
              </a:extLst>
            </p:cNvPr>
            <p:cNvCxnSpPr>
              <a:cxnSpLocks/>
            </p:cNvCxnSpPr>
            <p:nvPr/>
          </p:nvCxnSpPr>
          <p:spPr>
            <a:xfrm flipH="1">
              <a:off x="11526041" y="979062"/>
              <a:ext cx="118908" cy="77692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46AC483E-29DA-4405-9535-EA267861164F}"/>
                </a:ext>
              </a:extLst>
            </p:cNvPr>
            <p:cNvCxnSpPr>
              <a:cxnSpLocks/>
              <a:stCxn id="183" idx="0"/>
              <a:endCxn id="199" idx="4"/>
            </p:cNvCxnSpPr>
            <p:nvPr/>
          </p:nvCxnSpPr>
          <p:spPr>
            <a:xfrm>
              <a:off x="11526041" y="1638640"/>
              <a:ext cx="59288" cy="58196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B407313-A3EB-402B-B31B-98ECE555C884}"/>
                </a:ext>
              </a:extLst>
            </p:cNvPr>
            <p:cNvCxnSpPr>
              <a:cxnSpLocks/>
              <a:stCxn id="203" idx="6"/>
            </p:cNvCxnSpPr>
            <p:nvPr/>
          </p:nvCxnSpPr>
          <p:spPr>
            <a:xfrm flipH="1">
              <a:off x="8239397" y="298610"/>
              <a:ext cx="992484" cy="403757"/>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6CF5741-7FB2-499C-B158-8EA15A2C5F00}"/>
                </a:ext>
              </a:extLst>
            </p:cNvPr>
            <p:cNvCxnSpPr>
              <a:cxnSpLocks/>
              <a:stCxn id="188" idx="7"/>
            </p:cNvCxnSpPr>
            <p:nvPr/>
          </p:nvCxnSpPr>
          <p:spPr>
            <a:xfrm flipH="1">
              <a:off x="9154157" y="-15600"/>
              <a:ext cx="296778" cy="310457"/>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3117E50-C8C2-4695-8B84-5E203D65C90E}"/>
                </a:ext>
              </a:extLst>
            </p:cNvPr>
            <p:cNvCxnSpPr>
              <a:cxnSpLocks/>
              <a:stCxn id="207" idx="1"/>
            </p:cNvCxnSpPr>
            <p:nvPr/>
          </p:nvCxnSpPr>
          <p:spPr>
            <a:xfrm>
              <a:off x="9633109" y="-151873"/>
              <a:ext cx="145095" cy="43095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908E928-C614-4242-A429-F1B272271FE6}"/>
                </a:ext>
              </a:extLst>
            </p:cNvPr>
            <p:cNvCxnSpPr>
              <a:cxnSpLocks/>
            </p:cNvCxnSpPr>
            <p:nvPr/>
          </p:nvCxnSpPr>
          <p:spPr>
            <a:xfrm flipH="1">
              <a:off x="9726668" y="3159"/>
              <a:ext cx="763624" cy="30092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AD26BE9B-F1E1-4811-BA92-407CAF3E78F5}"/>
                </a:ext>
              </a:extLst>
            </p:cNvPr>
            <p:cNvCxnSpPr>
              <a:cxnSpLocks/>
              <a:endCxn id="173" idx="4"/>
            </p:cNvCxnSpPr>
            <p:nvPr/>
          </p:nvCxnSpPr>
          <p:spPr>
            <a:xfrm flipH="1">
              <a:off x="7777994" y="2876689"/>
              <a:ext cx="207580" cy="69218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106746A2-EFD1-418B-BF32-A346DD4C4F86}"/>
                </a:ext>
              </a:extLst>
            </p:cNvPr>
            <p:cNvCxnSpPr>
              <a:cxnSpLocks/>
              <a:stCxn id="231" idx="0"/>
              <a:endCxn id="178" idx="4"/>
            </p:cNvCxnSpPr>
            <p:nvPr/>
          </p:nvCxnSpPr>
          <p:spPr>
            <a:xfrm>
              <a:off x="7704766" y="1790834"/>
              <a:ext cx="120475" cy="610185"/>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C2D4D9B9-A6FE-427C-8809-DB358B4D7A9D}"/>
                </a:ext>
              </a:extLst>
            </p:cNvPr>
            <p:cNvCxnSpPr>
              <a:cxnSpLocks/>
              <a:stCxn id="181" idx="6"/>
              <a:endCxn id="196" idx="2"/>
            </p:cNvCxnSpPr>
            <p:nvPr/>
          </p:nvCxnSpPr>
          <p:spPr>
            <a:xfrm flipH="1">
              <a:off x="7991623" y="3590708"/>
              <a:ext cx="499849" cy="1522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E234B1F-F1C5-419B-9809-C65558463338}"/>
                </a:ext>
              </a:extLst>
            </p:cNvPr>
            <p:cNvCxnSpPr>
              <a:cxnSpLocks/>
              <a:endCxn id="173" idx="4"/>
            </p:cNvCxnSpPr>
            <p:nvPr/>
          </p:nvCxnSpPr>
          <p:spPr>
            <a:xfrm>
              <a:off x="7409477" y="2709545"/>
              <a:ext cx="368517" cy="859325"/>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078D4A6-B00B-4A4C-BD41-D065ECE59B30}"/>
                </a:ext>
              </a:extLst>
            </p:cNvPr>
            <p:cNvCxnSpPr>
              <a:cxnSpLocks/>
              <a:stCxn id="208" idx="1"/>
            </p:cNvCxnSpPr>
            <p:nvPr/>
          </p:nvCxnSpPr>
          <p:spPr>
            <a:xfrm>
              <a:off x="10788894" y="413857"/>
              <a:ext cx="621511" cy="94688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3DD88C5-08FB-47A7-B343-4B9A44F4527A}"/>
                </a:ext>
              </a:extLst>
            </p:cNvPr>
            <p:cNvCxnSpPr>
              <a:cxnSpLocks/>
              <a:stCxn id="203" idx="2"/>
              <a:endCxn id="169" idx="6"/>
            </p:cNvCxnSpPr>
            <p:nvPr/>
          </p:nvCxnSpPr>
          <p:spPr>
            <a:xfrm flipV="1">
              <a:off x="9076433" y="276929"/>
              <a:ext cx="778524" cy="2168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2C92FABB-1ABE-41F8-BDD8-B527663589E3}"/>
                </a:ext>
              </a:extLst>
            </p:cNvPr>
            <p:cNvCxnSpPr>
              <a:cxnSpLocks/>
              <a:stCxn id="237" idx="4"/>
              <a:endCxn id="224" idx="4"/>
            </p:cNvCxnSpPr>
            <p:nvPr/>
          </p:nvCxnSpPr>
          <p:spPr>
            <a:xfrm flipH="1">
              <a:off x="11311910" y="3281715"/>
              <a:ext cx="343879" cy="49691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1A522EC-759B-43D4-880B-18DAB033E77B}"/>
                </a:ext>
              </a:extLst>
            </p:cNvPr>
            <p:cNvCxnSpPr>
              <a:cxnSpLocks/>
            </p:cNvCxnSpPr>
            <p:nvPr/>
          </p:nvCxnSpPr>
          <p:spPr>
            <a:xfrm>
              <a:off x="11324939" y="721351"/>
              <a:ext cx="91291" cy="659807"/>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3A272C06-625F-4DB4-98BD-1C75B05C7EC5}"/>
                </a:ext>
              </a:extLst>
            </p:cNvPr>
            <p:cNvCxnSpPr>
              <a:cxnSpLocks/>
              <a:stCxn id="180" idx="6"/>
              <a:endCxn id="204" idx="2"/>
            </p:cNvCxnSpPr>
            <p:nvPr/>
          </p:nvCxnSpPr>
          <p:spPr>
            <a:xfrm flipH="1" flipV="1">
              <a:off x="8252044" y="3845689"/>
              <a:ext cx="706542" cy="1259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FD065B20-BAC5-45BC-A1D1-1E9EE72CA05B}"/>
                </a:ext>
              </a:extLst>
            </p:cNvPr>
            <p:cNvCxnSpPr>
              <a:cxnSpLocks/>
              <a:stCxn id="207" idx="6"/>
              <a:endCxn id="192" idx="2"/>
            </p:cNvCxnSpPr>
            <p:nvPr/>
          </p:nvCxnSpPr>
          <p:spPr>
            <a:xfrm flipH="1">
              <a:off x="8731761" y="-96914"/>
              <a:ext cx="1034031" cy="25169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C97259A4-0D3C-4232-8601-ED22F16E78BB}"/>
                </a:ext>
              </a:extLst>
            </p:cNvPr>
            <p:cNvCxnSpPr>
              <a:cxnSpLocks/>
              <a:stCxn id="171" idx="0"/>
            </p:cNvCxnSpPr>
            <p:nvPr/>
          </p:nvCxnSpPr>
          <p:spPr>
            <a:xfrm flipH="1">
              <a:off x="8229636" y="210414"/>
              <a:ext cx="153888" cy="54441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37E29CC2-20A0-4B83-8BE8-A320EAEA98ED}"/>
                </a:ext>
              </a:extLst>
            </p:cNvPr>
            <p:cNvCxnSpPr>
              <a:cxnSpLocks/>
              <a:stCxn id="182" idx="1"/>
              <a:endCxn id="231" idx="5"/>
            </p:cNvCxnSpPr>
            <p:nvPr/>
          </p:nvCxnSpPr>
          <p:spPr>
            <a:xfrm>
              <a:off x="7392702" y="1648894"/>
              <a:ext cx="367023" cy="27462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71582525-2E11-49AA-9073-90F4E0668B1E}"/>
                </a:ext>
              </a:extLst>
            </p:cNvPr>
            <p:cNvCxnSpPr>
              <a:cxnSpLocks/>
              <a:stCxn id="186" idx="7"/>
            </p:cNvCxnSpPr>
            <p:nvPr/>
          </p:nvCxnSpPr>
          <p:spPr>
            <a:xfrm flipH="1">
              <a:off x="10959092" y="473143"/>
              <a:ext cx="351436" cy="276467"/>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D747C762-2A5B-4E17-835E-E8925F8332B7}"/>
                </a:ext>
              </a:extLst>
            </p:cNvPr>
            <p:cNvCxnSpPr>
              <a:cxnSpLocks/>
              <a:stCxn id="182" idx="0"/>
            </p:cNvCxnSpPr>
            <p:nvPr/>
          </p:nvCxnSpPr>
          <p:spPr>
            <a:xfrm flipH="1">
              <a:off x="7432137" y="1626129"/>
              <a:ext cx="15524" cy="110700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497EC92C-3008-4A3B-8470-A9F102E1E4F3}"/>
                </a:ext>
              </a:extLst>
            </p:cNvPr>
            <p:cNvCxnSpPr>
              <a:cxnSpLocks/>
              <a:stCxn id="191" idx="5"/>
            </p:cNvCxnSpPr>
            <p:nvPr/>
          </p:nvCxnSpPr>
          <p:spPr>
            <a:xfrm flipH="1" flipV="1">
              <a:off x="7487937" y="2153339"/>
              <a:ext cx="281008" cy="57118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1DE3A061-CB68-4726-9360-3FBAD252278F}"/>
                </a:ext>
              </a:extLst>
            </p:cNvPr>
            <p:cNvCxnSpPr>
              <a:cxnSpLocks/>
            </p:cNvCxnSpPr>
            <p:nvPr/>
          </p:nvCxnSpPr>
          <p:spPr>
            <a:xfrm>
              <a:off x="7383971" y="2720509"/>
              <a:ext cx="581235" cy="17701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A5127F9F-380E-4BFD-B27D-C60928CFA40B}"/>
                </a:ext>
              </a:extLst>
            </p:cNvPr>
            <p:cNvCxnSpPr>
              <a:cxnSpLocks/>
            </p:cNvCxnSpPr>
            <p:nvPr/>
          </p:nvCxnSpPr>
          <p:spPr>
            <a:xfrm>
              <a:off x="11764063" y="1716156"/>
              <a:ext cx="260082" cy="39923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5FAB042-BCDE-422A-9A51-8DEAAFCF3B9F}"/>
                </a:ext>
              </a:extLst>
            </p:cNvPr>
            <p:cNvCxnSpPr>
              <a:cxnSpLocks/>
              <a:stCxn id="174" idx="7"/>
            </p:cNvCxnSpPr>
            <p:nvPr/>
          </p:nvCxnSpPr>
          <p:spPr>
            <a:xfrm flipH="1">
              <a:off x="7414370" y="1223445"/>
              <a:ext cx="550162" cy="49313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462FABA1-6D16-4C32-B775-28F84D1107C7}"/>
                </a:ext>
              </a:extLst>
            </p:cNvPr>
            <p:cNvCxnSpPr>
              <a:cxnSpLocks/>
              <a:stCxn id="206" idx="3"/>
            </p:cNvCxnSpPr>
            <p:nvPr/>
          </p:nvCxnSpPr>
          <p:spPr>
            <a:xfrm flipH="1">
              <a:off x="7646599" y="753961"/>
              <a:ext cx="254628" cy="342705"/>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DF579302-254D-4260-B15C-E882602B4500}"/>
                </a:ext>
              </a:extLst>
            </p:cNvPr>
            <p:cNvCxnSpPr>
              <a:cxnSpLocks/>
            </p:cNvCxnSpPr>
            <p:nvPr/>
          </p:nvCxnSpPr>
          <p:spPr>
            <a:xfrm flipH="1">
              <a:off x="10445880" y="4011986"/>
              <a:ext cx="620530" cy="33588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CE7AF41E-3D85-4B89-830A-7F5D8D09D7B1}"/>
                </a:ext>
              </a:extLst>
            </p:cNvPr>
            <p:cNvCxnSpPr>
              <a:cxnSpLocks/>
            </p:cNvCxnSpPr>
            <p:nvPr/>
          </p:nvCxnSpPr>
          <p:spPr>
            <a:xfrm flipH="1">
              <a:off x="7956669" y="266894"/>
              <a:ext cx="439632" cy="42909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60C2EEBF-164F-4373-8703-78C7E1EF56BC}"/>
                </a:ext>
              </a:extLst>
            </p:cNvPr>
            <p:cNvCxnSpPr>
              <a:cxnSpLocks/>
              <a:endCxn id="174" idx="4"/>
            </p:cNvCxnSpPr>
            <p:nvPr/>
          </p:nvCxnSpPr>
          <p:spPr>
            <a:xfrm flipH="1">
              <a:off x="7909573" y="687678"/>
              <a:ext cx="56626" cy="66845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9C2336AC-7292-420B-B90A-8F7E556B85DB}"/>
                </a:ext>
              </a:extLst>
            </p:cNvPr>
            <p:cNvCxnSpPr>
              <a:cxnSpLocks/>
              <a:endCxn id="195" idx="5"/>
            </p:cNvCxnSpPr>
            <p:nvPr/>
          </p:nvCxnSpPr>
          <p:spPr>
            <a:xfrm>
              <a:off x="7785416" y="3488938"/>
              <a:ext cx="767543" cy="69458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EF6FB629-079E-48AE-BA0A-1FE6F7963A89}"/>
                </a:ext>
              </a:extLst>
            </p:cNvPr>
            <p:cNvCxnSpPr>
              <a:cxnSpLocks/>
              <a:stCxn id="216" idx="7"/>
            </p:cNvCxnSpPr>
            <p:nvPr/>
          </p:nvCxnSpPr>
          <p:spPr>
            <a:xfrm flipH="1">
              <a:off x="7429556" y="1020665"/>
              <a:ext cx="286146" cy="679435"/>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A9E68DC-E862-48DB-82EA-E349E9CBB101}"/>
                </a:ext>
              </a:extLst>
            </p:cNvPr>
            <p:cNvCxnSpPr>
              <a:cxnSpLocks/>
              <a:endCxn id="195" idx="4"/>
            </p:cNvCxnSpPr>
            <p:nvPr/>
          </p:nvCxnSpPr>
          <p:spPr>
            <a:xfrm>
              <a:off x="8394409" y="3543330"/>
              <a:ext cx="103591" cy="66295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BE2CFE1-D06A-461F-8D84-8CF44F3CC724}"/>
                </a:ext>
              </a:extLst>
            </p:cNvPr>
            <p:cNvCxnSpPr>
              <a:cxnSpLocks/>
              <a:endCxn id="198" idx="4"/>
            </p:cNvCxnSpPr>
            <p:nvPr/>
          </p:nvCxnSpPr>
          <p:spPr>
            <a:xfrm>
              <a:off x="11551922" y="2185579"/>
              <a:ext cx="3377" cy="62958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7E482BE1-B596-40B7-B438-1B4C902F0425}"/>
                </a:ext>
              </a:extLst>
            </p:cNvPr>
            <p:cNvCxnSpPr>
              <a:cxnSpLocks/>
            </p:cNvCxnSpPr>
            <p:nvPr/>
          </p:nvCxnSpPr>
          <p:spPr>
            <a:xfrm>
              <a:off x="11592152" y="2139637"/>
              <a:ext cx="197075" cy="25225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F82086B-82BA-481C-90A3-1B672BB8DA1C}"/>
                </a:ext>
              </a:extLst>
            </p:cNvPr>
            <p:cNvCxnSpPr>
              <a:cxnSpLocks/>
              <a:stCxn id="192" idx="7"/>
            </p:cNvCxnSpPr>
            <p:nvPr/>
          </p:nvCxnSpPr>
          <p:spPr>
            <a:xfrm flipH="1">
              <a:off x="8255316" y="99825"/>
              <a:ext cx="609128" cy="65167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5AC3F92E-5225-4C6E-BE2D-505A3081931F}"/>
                </a:ext>
              </a:extLst>
            </p:cNvPr>
            <p:cNvCxnSpPr>
              <a:cxnSpLocks/>
              <a:endCxn id="180" idx="5"/>
            </p:cNvCxnSpPr>
            <p:nvPr/>
          </p:nvCxnSpPr>
          <p:spPr>
            <a:xfrm>
              <a:off x="8431202" y="3567494"/>
              <a:ext cx="504619" cy="345745"/>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4FEA2C1A-DFA2-4450-98F4-3E3A727254BE}"/>
                </a:ext>
              </a:extLst>
            </p:cNvPr>
            <p:cNvCxnSpPr>
              <a:cxnSpLocks/>
              <a:stCxn id="189" idx="2"/>
            </p:cNvCxnSpPr>
            <p:nvPr/>
          </p:nvCxnSpPr>
          <p:spPr>
            <a:xfrm>
              <a:off x="9031269" y="4180619"/>
              <a:ext cx="927612" cy="133407"/>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E386031-BF8F-4D1D-A828-89ACD7D4320F}"/>
                </a:ext>
              </a:extLst>
            </p:cNvPr>
            <p:cNvCxnSpPr>
              <a:cxnSpLocks/>
              <a:stCxn id="189" idx="7"/>
              <a:endCxn id="209" idx="3"/>
            </p:cNvCxnSpPr>
            <p:nvPr/>
          </p:nvCxnSpPr>
          <p:spPr>
            <a:xfrm flipH="1">
              <a:off x="8818534" y="4125660"/>
              <a:ext cx="345418" cy="27051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4709173B-6319-40EA-9E61-48AB7F5793A2}"/>
                </a:ext>
              </a:extLst>
            </p:cNvPr>
            <p:cNvCxnSpPr>
              <a:cxnSpLocks/>
              <a:endCxn id="193" idx="4"/>
            </p:cNvCxnSpPr>
            <p:nvPr/>
          </p:nvCxnSpPr>
          <p:spPr>
            <a:xfrm flipH="1">
              <a:off x="8140998" y="680785"/>
              <a:ext cx="152482" cy="47256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D8E70C07-0020-412A-B417-CF17AE4D6373}"/>
                </a:ext>
              </a:extLst>
            </p:cNvPr>
            <p:cNvCxnSpPr>
              <a:cxnSpLocks/>
              <a:stCxn id="227" idx="1"/>
            </p:cNvCxnSpPr>
            <p:nvPr/>
          </p:nvCxnSpPr>
          <p:spPr>
            <a:xfrm>
              <a:off x="10159476" y="3964472"/>
              <a:ext cx="382875" cy="39168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076A3EDC-29C6-4988-AC53-59D27A8361CC}"/>
                </a:ext>
              </a:extLst>
            </p:cNvPr>
            <p:cNvCxnSpPr>
              <a:cxnSpLocks/>
              <a:endCxn id="227" idx="6"/>
            </p:cNvCxnSpPr>
            <p:nvPr/>
          </p:nvCxnSpPr>
          <p:spPr>
            <a:xfrm flipV="1">
              <a:off x="9489304" y="4019431"/>
              <a:ext cx="802855" cy="11820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A5676AB1-EC4B-4CE9-91A0-213599A464FA}"/>
                </a:ext>
              </a:extLst>
            </p:cNvPr>
            <p:cNvCxnSpPr>
              <a:cxnSpLocks/>
            </p:cNvCxnSpPr>
            <p:nvPr/>
          </p:nvCxnSpPr>
          <p:spPr>
            <a:xfrm flipH="1">
              <a:off x="10498996" y="3878676"/>
              <a:ext cx="120474" cy="49018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7910FBC4-2477-4BD7-AF6C-2091332F642A}"/>
                </a:ext>
              </a:extLst>
            </p:cNvPr>
            <p:cNvCxnSpPr>
              <a:cxnSpLocks/>
            </p:cNvCxnSpPr>
            <p:nvPr/>
          </p:nvCxnSpPr>
          <p:spPr>
            <a:xfrm>
              <a:off x="8084973" y="3202564"/>
              <a:ext cx="332955" cy="39664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E503FD91-6385-4E6B-8B05-ACA05C86C92D}"/>
                </a:ext>
              </a:extLst>
            </p:cNvPr>
            <p:cNvCxnSpPr>
              <a:cxnSpLocks/>
              <a:endCxn id="174" idx="5"/>
            </p:cNvCxnSpPr>
            <p:nvPr/>
          </p:nvCxnSpPr>
          <p:spPr>
            <a:xfrm>
              <a:off x="7663159" y="1042543"/>
              <a:ext cx="301373" cy="29082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B9B4AAD7-AB99-4A97-8FC0-3A469B7EB8BB}"/>
                </a:ext>
              </a:extLst>
            </p:cNvPr>
            <p:cNvCxnSpPr>
              <a:cxnSpLocks/>
            </p:cNvCxnSpPr>
            <p:nvPr/>
          </p:nvCxnSpPr>
          <p:spPr>
            <a:xfrm>
              <a:off x="8785714" y="118013"/>
              <a:ext cx="396243" cy="208397"/>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FF263575-4BCC-494C-9B4A-27F5521BEFC6}"/>
                </a:ext>
              </a:extLst>
            </p:cNvPr>
            <p:cNvCxnSpPr>
              <a:cxnSpLocks/>
            </p:cNvCxnSpPr>
            <p:nvPr/>
          </p:nvCxnSpPr>
          <p:spPr>
            <a:xfrm>
              <a:off x="8835393" y="4342735"/>
              <a:ext cx="766811" cy="7822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B48C7C4B-D592-4045-BA22-5F6B4317C3C1}"/>
                </a:ext>
              </a:extLst>
            </p:cNvPr>
            <p:cNvCxnSpPr>
              <a:cxnSpLocks/>
              <a:stCxn id="198" idx="7"/>
              <a:endCxn id="225" idx="3"/>
            </p:cNvCxnSpPr>
            <p:nvPr/>
          </p:nvCxnSpPr>
          <p:spPr>
            <a:xfrm flipH="1">
              <a:off x="10568821" y="2682484"/>
              <a:ext cx="1041437" cy="128917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9377EBCA-B210-43FA-A71F-94F6CB75D266}"/>
                </a:ext>
              </a:extLst>
            </p:cNvPr>
            <p:cNvCxnSpPr>
              <a:cxnSpLocks/>
              <a:stCxn id="234" idx="3"/>
            </p:cNvCxnSpPr>
            <p:nvPr/>
          </p:nvCxnSpPr>
          <p:spPr>
            <a:xfrm flipH="1">
              <a:off x="11348758" y="2575103"/>
              <a:ext cx="578124" cy="76671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8D38EAC0-4F9E-4436-8054-B94963198315}"/>
                </a:ext>
              </a:extLst>
            </p:cNvPr>
            <p:cNvCxnSpPr>
              <a:cxnSpLocks/>
              <a:stCxn id="219" idx="1"/>
              <a:endCxn id="186" idx="5"/>
            </p:cNvCxnSpPr>
            <p:nvPr/>
          </p:nvCxnSpPr>
          <p:spPr>
            <a:xfrm>
              <a:off x="10828476" y="107469"/>
              <a:ext cx="482052" cy="47559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7AF00294-89A9-401E-93CD-639742BA221D}"/>
                </a:ext>
              </a:extLst>
            </p:cNvPr>
            <p:cNvCxnSpPr>
              <a:cxnSpLocks/>
              <a:endCxn id="221" idx="5"/>
            </p:cNvCxnSpPr>
            <p:nvPr/>
          </p:nvCxnSpPr>
          <p:spPr>
            <a:xfrm>
              <a:off x="11244775" y="481443"/>
              <a:ext cx="463444" cy="58524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DC2EED64-BEFF-465B-8E36-8798DDCCF743}"/>
                </a:ext>
              </a:extLst>
            </p:cNvPr>
            <p:cNvCxnSpPr>
              <a:cxnSpLocks/>
            </p:cNvCxnSpPr>
            <p:nvPr/>
          </p:nvCxnSpPr>
          <p:spPr>
            <a:xfrm>
              <a:off x="11486042" y="2712042"/>
              <a:ext cx="471488" cy="164647"/>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93F72647-07A5-4C8C-96BF-4F2CCDA1CCD2}"/>
                </a:ext>
              </a:extLst>
            </p:cNvPr>
            <p:cNvCxnSpPr>
              <a:cxnSpLocks/>
            </p:cNvCxnSpPr>
            <p:nvPr/>
          </p:nvCxnSpPr>
          <p:spPr>
            <a:xfrm flipH="1">
              <a:off x="9948637" y="3920858"/>
              <a:ext cx="670986" cy="38610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7DE088EC-D1F8-40E5-843F-89E110889DDF}"/>
                </a:ext>
              </a:extLst>
            </p:cNvPr>
            <p:cNvCxnSpPr>
              <a:cxnSpLocks/>
              <a:stCxn id="177" idx="7"/>
            </p:cNvCxnSpPr>
            <p:nvPr/>
          </p:nvCxnSpPr>
          <p:spPr>
            <a:xfrm flipH="1">
              <a:off x="11507936" y="1251966"/>
              <a:ext cx="398374" cy="47875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93CB1BF2-6A02-4B80-B2B3-DED6D2DD97E5}"/>
                </a:ext>
              </a:extLst>
            </p:cNvPr>
            <p:cNvCxnSpPr>
              <a:cxnSpLocks/>
              <a:stCxn id="221" idx="7"/>
            </p:cNvCxnSpPr>
            <p:nvPr/>
          </p:nvCxnSpPr>
          <p:spPr>
            <a:xfrm flipH="1">
              <a:off x="11361101" y="956766"/>
              <a:ext cx="347118" cy="46712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6DCB90B3-4AF7-45DF-B291-100984CE0F11}"/>
                </a:ext>
              </a:extLst>
            </p:cNvPr>
            <p:cNvCxnSpPr>
              <a:cxnSpLocks/>
              <a:stCxn id="210" idx="1"/>
              <a:endCxn id="184" idx="5"/>
            </p:cNvCxnSpPr>
            <p:nvPr/>
          </p:nvCxnSpPr>
          <p:spPr>
            <a:xfrm>
              <a:off x="10788894" y="3664487"/>
              <a:ext cx="277516" cy="42884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095AA938-6D6B-4C70-99E0-A38317CB5151}"/>
                </a:ext>
              </a:extLst>
            </p:cNvPr>
            <p:cNvCxnSpPr>
              <a:cxnSpLocks/>
              <a:endCxn id="208" idx="5"/>
            </p:cNvCxnSpPr>
            <p:nvPr/>
          </p:nvCxnSpPr>
          <p:spPr>
            <a:xfrm>
              <a:off x="10418693" y="-25089"/>
              <a:ext cx="480119" cy="54886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7EAD11BF-5588-4C41-9F53-96BC74D11C0D}"/>
                </a:ext>
              </a:extLst>
            </p:cNvPr>
            <p:cNvCxnSpPr>
              <a:cxnSpLocks/>
              <a:stCxn id="238" idx="7"/>
              <a:endCxn id="184" idx="4"/>
            </p:cNvCxnSpPr>
            <p:nvPr/>
          </p:nvCxnSpPr>
          <p:spPr>
            <a:xfrm flipH="1">
              <a:off x="11011451" y="3386040"/>
              <a:ext cx="152765" cy="73005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5C1CE64A-ABD0-4302-B9B0-3B4F00DC7A35}"/>
                </a:ext>
              </a:extLst>
            </p:cNvPr>
            <p:cNvCxnSpPr>
              <a:cxnSpLocks/>
              <a:endCxn id="237" idx="4"/>
            </p:cNvCxnSpPr>
            <p:nvPr/>
          </p:nvCxnSpPr>
          <p:spPr>
            <a:xfrm>
              <a:off x="11565387" y="2699654"/>
              <a:ext cx="90402" cy="58206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F7107664-852D-4C78-A2E5-AD069EDFC22A}"/>
                </a:ext>
              </a:extLst>
            </p:cNvPr>
            <p:cNvCxnSpPr>
              <a:cxnSpLocks/>
              <a:stCxn id="219" idx="7"/>
              <a:endCxn id="170" idx="3"/>
            </p:cNvCxnSpPr>
            <p:nvPr/>
          </p:nvCxnSpPr>
          <p:spPr>
            <a:xfrm flipH="1">
              <a:off x="10526704" y="107469"/>
              <a:ext cx="411690" cy="41158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30601809-61C2-467F-9212-DC6A8FF9431F}"/>
                </a:ext>
              </a:extLst>
            </p:cNvPr>
            <p:cNvCxnSpPr>
              <a:cxnSpLocks/>
              <a:endCxn id="189" idx="5"/>
            </p:cNvCxnSpPr>
            <p:nvPr/>
          </p:nvCxnSpPr>
          <p:spPr>
            <a:xfrm>
              <a:off x="8887918" y="3803905"/>
              <a:ext cx="276034" cy="43167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999AEFDF-7507-4646-B298-E9E779956F4A}"/>
                </a:ext>
              </a:extLst>
            </p:cNvPr>
            <p:cNvCxnSpPr>
              <a:cxnSpLocks/>
              <a:stCxn id="170" idx="6"/>
            </p:cNvCxnSpPr>
            <p:nvPr/>
          </p:nvCxnSpPr>
          <p:spPr>
            <a:xfrm flipH="1" flipV="1">
              <a:off x="9762017" y="276680"/>
              <a:ext cx="897370" cy="18741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9F781B44-C387-45C2-999D-4C936E23ACF7}"/>
                </a:ext>
              </a:extLst>
            </p:cNvPr>
            <p:cNvCxnSpPr>
              <a:cxnSpLocks/>
              <a:endCxn id="209" idx="4"/>
            </p:cNvCxnSpPr>
            <p:nvPr/>
          </p:nvCxnSpPr>
          <p:spPr>
            <a:xfrm>
              <a:off x="8866137" y="3813159"/>
              <a:ext cx="7356" cy="60577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5C8079B3-1EBB-47E2-A967-41CA892AD724}"/>
                </a:ext>
              </a:extLst>
            </p:cNvPr>
            <p:cNvCxnSpPr>
              <a:cxnSpLocks/>
            </p:cNvCxnSpPr>
            <p:nvPr/>
          </p:nvCxnSpPr>
          <p:spPr>
            <a:xfrm flipH="1">
              <a:off x="8059862" y="3205484"/>
              <a:ext cx="51338" cy="39923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76816C38-7080-4765-9613-7938DA5B5237}"/>
                </a:ext>
              </a:extLst>
            </p:cNvPr>
            <p:cNvCxnSpPr>
              <a:cxnSpLocks/>
            </p:cNvCxnSpPr>
            <p:nvPr/>
          </p:nvCxnSpPr>
          <p:spPr>
            <a:xfrm>
              <a:off x="11838659" y="1309535"/>
              <a:ext cx="0" cy="493464"/>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10998608-1DCB-4BF8-9051-5E3F5AD1D1C3}"/>
                </a:ext>
              </a:extLst>
            </p:cNvPr>
            <p:cNvCxnSpPr>
              <a:cxnSpLocks/>
              <a:stCxn id="168" idx="7"/>
            </p:cNvCxnSpPr>
            <p:nvPr/>
          </p:nvCxnSpPr>
          <p:spPr>
            <a:xfrm flipH="1">
              <a:off x="8360749" y="-83391"/>
              <a:ext cx="741648" cy="37772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4402C94B-076C-4A6E-A6F2-04D5A48C7DBB}"/>
                </a:ext>
              </a:extLst>
            </p:cNvPr>
            <p:cNvCxnSpPr>
              <a:cxnSpLocks/>
              <a:stCxn id="178" idx="1"/>
              <a:endCxn id="214" idx="5"/>
            </p:cNvCxnSpPr>
            <p:nvPr/>
          </p:nvCxnSpPr>
          <p:spPr>
            <a:xfrm>
              <a:off x="7770282" y="2268336"/>
              <a:ext cx="375942" cy="101777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F04AC1CD-6968-4AF9-9F72-A727F6DB5E88}"/>
                </a:ext>
              </a:extLst>
            </p:cNvPr>
            <p:cNvCxnSpPr>
              <a:cxnSpLocks/>
              <a:stCxn id="201" idx="3"/>
              <a:endCxn id="178" idx="7"/>
            </p:cNvCxnSpPr>
            <p:nvPr/>
          </p:nvCxnSpPr>
          <p:spPr>
            <a:xfrm flipV="1">
              <a:off x="7389802" y="2268336"/>
              <a:ext cx="490398" cy="52406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766816D6-2657-4812-9FB1-3F7283B67D15}"/>
                </a:ext>
              </a:extLst>
            </p:cNvPr>
            <p:cNvCxnSpPr>
              <a:cxnSpLocks/>
              <a:stCxn id="231" idx="3"/>
              <a:endCxn id="193" idx="7"/>
            </p:cNvCxnSpPr>
            <p:nvPr/>
          </p:nvCxnSpPr>
          <p:spPr>
            <a:xfrm flipV="1">
              <a:off x="7649807" y="1020665"/>
              <a:ext cx="546150" cy="90285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18D2DEE8-69C0-48C3-BC5B-75C33C64A6FD}"/>
                </a:ext>
              </a:extLst>
            </p:cNvPr>
            <p:cNvCxnSpPr>
              <a:cxnSpLocks/>
              <a:endCxn id="200" idx="6"/>
            </p:cNvCxnSpPr>
            <p:nvPr/>
          </p:nvCxnSpPr>
          <p:spPr>
            <a:xfrm flipV="1">
              <a:off x="9591698" y="4319300"/>
              <a:ext cx="1009630" cy="13787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A07812FA-1C54-4645-A511-990C5D91E237}"/>
                </a:ext>
              </a:extLst>
            </p:cNvPr>
            <p:cNvCxnSpPr>
              <a:cxnSpLocks/>
              <a:stCxn id="209" idx="5"/>
              <a:endCxn id="195" idx="2"/>
            </p:cNvCxnSpPr>
            <p:nvPr/>
          </p:nvCxnSpPr>
          <p:spPr>
            <a:xfrm flipH="1" flipV="1">
              <a:off x="8420276" y="4128562"/>
              <a:ext cx="508176" cy="26760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D0A50955-C1F5-435D-B9BA-447760A59BB4}"/>
                </a:ext>
              </a:extLst>
            </p:cNvPr>
            <p:cNvCxnSpPr>
              <a:cxnSpLocks/>
            </p:cNvCxnSpPr>
            <p:nvPr/>
          </p:nvCxnSpPr>
          <p:spPr>
            <a:xfrm>
              <a:off x="11101000" y="3456639"/>
              <a:ext cx="246205" cy="28948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0FB08317-EB1E-4E6A-8B07-307273399134}"/>
                </a:ext>
              </a:extLst>
            </p:cNvPr>
            <p:cNvCxnSpPr>
              <a:cxnSpLocks/>
              <a:endCxn id="218" idx="5"/>
            </p:cNvCxnSpPr>
            <p:nvPr/>
          </p:nvCxnSpPr>
          <p:spPr>
            <a:xfrm>
              <a:off x="10539716" y="455177"/>
              <a:ext cx="487112" cy="35354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5B459CA2-9952-4CED-A172-BA1332EF4418}"/>
                </a:ext>
              </a:extLst>
            </p:cNvPr>
            <p:cNvCxnSpPr>
              <a:cxnSpLocks/>
              <a:stCxn id="207" idx="2"/>
              <a:endCxn id="179" idx="6"/>
            </p:cNvCxnSpPr>
            <p:nvPr/>
          </p:nvCxnSpPr>
          <p:spPr>
            <a:xfrm>
              <a:off x="9610344" y="-96914"/>
              <a:ext cx="927384" cy="9978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28D52F61-4C00-446E-8831-967D1F3D751B}"/>
                </a:ext>
              </a:extLst>
            </p:cNvPr>
            <p:cNvCxnSpPr>
              <a:cxnSpLocks/>
              <a:endCxn id="207" idx="6"/>
            </p:cNvCxnSpPr>
            <p:nvPr/>
          </p:nvCxnSpPr>
          <p:spPr>
            <a:xfrm flipV="1">
              <a:off x="9020385" y="-96914"/>
              <a:ext cx="745407" cy="6655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BD3E8DA4-BCE0-41F1-8C85-28849892128F}"/>
                </a:ext>
              </a:extLst>
            </p:cNvPr>
            <p:cNvCxnSpPr>
              <a:cxnSpLocks/>
              <a:endCxn id="219" idx="6"/>
            </p:cNvCxnSpPr>
            <p:nvPr/>
          </p:nvCxnSpPr>
          <p:spPr>
            <a:xfrm flipV="1">
              <a:off x="10330974" y="162428"/>
              <a:ext cx="630185" cy="5147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E779B99A-3090-45C0-B292-EFC50E2D3417}"/>
                </a:ext>
              </a:extLst>
            </p:cNvPr>
            <p:cNvCxnSpPr>
              <a:cxnSpLocks/>
              <a:endCxn id="170" idx="5"/>
            </p:cNvCxnSpPr>
            <p:nvPr/>
          </p:nvCxnSpPr>
          <p:spPr>
            <a:xfrm>
              <a:off x="10071517" y="41143"/>
              <a:ext cx="565105" cy="47791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73BA5C61-402E-4E00-9953-3184C6EF1AE1}"/>
                </a:ext>
              </a:extLst>
            </p:cNvPr>
            <p:cNvCxnSpPr>
              <a:cxnSpLocks/>
              <a:endCxn id="193" idx="3"/>
            </p:cNvCxnSpPr>
            <p:nvPr/>
          </p:nvCxnSpPr>
          <p:spPr>
            <a:xfrm flipH="1">
              <a:off x="8086039" y="495953"/>
              <a:ext cx="633536" cy="63463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70D972FD-6499-4C99-969D-412A1FDAA301}"/>
                </a:ext>
              </a:extLst>
            </p:cNvPr>
            <p:cNvCxnSpPr>
              <a:cxnSpLocks/>
              <a:stCxn id="178" idx="4"/>
              <a:endCxn id="174" idx="0"/>
            </p:cNvCxnSpPr>
            <p:nvPr/>
          </p:nvCxnSpPr>
          <p:spPr>
            <a:xfrm flipV="1">
              <a:off x="7825241" y="1200680"/>
              <a:ext cx="84332" cy="120033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108750DC-1067-439D-B8B8-B758FB8E8471}"/>
                </a:ext>
              </a:extLst>
            </p:cNvPr>
            <p:cNvCxnSpPr>
              <a:cxnSpLocks/>
              <a:endCxn id="219" idx="6"/>
            </p:cNvCxnSpPr>
            <p:nvPr/>
          </p:nvCxnSpPr>
          <p:spPr>
            <a:xfrm>
              <a:off x="10476418" y="-12107"/>
              <a:ext cx="484741" cy="174535"/>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B6D72800-45E1-492D-8E09-03E3C563E142}"/>
                </a:ext>
              </a:extLst>
            </p:cNvPr>
            <p:cNvCxnSpPr>
              <a:cxnSpLocks/>
              <a:endCxn id="190" idx="5"/>
            </p:cNvCxnSpPr>
            <p:nvPr/>
          </p:nvCxnSpPr>
          <p:spPr>
            <a:xfrm>
              <a:off x="11406959" y="1388012"/>
              <a:ext cx="478096" cy="43010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34292062-A0A4-47E0-BD94-3DF60394705C}"/>
                </a:ext>
              </a:extLst>
            </p:cNvPr>
            <p:cNvCxnSpPr>
              <a:cxnSpLocks/>
              <a:stCxn id="177" idx="0"/>
              <a:endCxn id="172" idx="4"/>
            </p:cNvCxnSpPr>
            <p:nvPr/>
          </p:nvCxnSpPr>
          <p:spPr>
            <a:xfrm>
              <a:off x="11851351" y="1229201"/>
              <a:ext cx="144413" cy="946591"/>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AB1EC5E0-EAD7-4250-B732-D9A0112AC7DA}"/>
                </a:ext>
              </a:extLst>
            </p:cNvPr>
            <p:cNvCxnSpPr>
              <a:cxnSpLocks/>
              <a:stCxn id="197" idx="0"/>
              <a:endCxn id="183" idx="4"/>
            </p:cNvCxnSpPr>
            <p:nvPr/>
          </p:nvCxnSpPr>
          <p:spPr>
            <a:xfrm>
              <a:off x="11406959" y="1293209"/>
              <a:ext cx="119082" cy="500879"/>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D1D90F90-DB06-40D0-A890-C62F3E808867}"/>
                </a:ext>
              </a:extLst>
            </p:cNvPr>
            <p:cNvCxnSpPr>
              <a:cxnSpLocks/>
              <a:endCxn id="177" idx="5"/>
            </p:cNvCxnSpPr>
            <p:nvPr/>
          </p:nvCxnSpPr>
          <p:spPr>
            <a:xfrm>
              <a:off x="11641666" y="997900"/>
              <a:ext cx="264644" cy="36398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966E93F5-E9F7-4766-96D3-D7E54FD3BAB4}"/>
                </a:ext>
              </a:extLst>
            </p:cNvPr>
            <p:cNvCxnSpPr>
              <a:cxnSpLocks/>
              <a:endCxn id="234" idx="4"/>
            </p:cNvCxnSpPr>
            <p:nvPr/>
          </p:nvCxnSpPr>
          <p:spPr>
            <a:xfrm flipH="1">
              <a:off x="11981841" y="2095926"/>
              <a:ext cx="10706" cy="50194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AA786FC6-B5C3-4D33-AED2-1DE937A3052F}"/>
                </a:ext>
              </a:extLst>
            </p:cNvPr>
            <p:cNvCxnSpPr>
              <a:cxnSpLocks/>
              <a:endCxn id="205" idx="6"/>
            </p:cNvCxnSpPr>
            <p:nvPr/>
          </p:nvCxnSpPr>
          <p:spPr>
            <a:xfrm>
              <a:off x="8811919" y="3837671"/>
              <a:ext cx="745102" cy="32367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ABD7CF3D-2C9C-4767-9D9C-675FBB708FB6}"/>
                </a:ext>
              </a:extLst>
            </p:cNvPr>
            <p:cNvCxnSpPr>
              <a:cxnSpLocks/>
              <a:stCxn id="205" idx="0"/>
              <a:endCxn id="176" idx="4"/>
            </p:cNvCxnSpPr>
            <p:nvPr/>
          </p:nvCxnSpPr>
          <p:spPr>
            <a:xfrm>
              <a:off x="9479297" y="4083623"/>
              <a:ext cx="106048" cy="436303"/>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76553B73-F26F-4AA3-A465-2CCF1AE299D8}"/>
                </a:ext>
              </a:extLst>
            </p:cNvPr>
            <p:cNvCxnSpPr>
              <a:cxnSpLocks/>
              <a:stCxn id="227" idx="2"/>
              <a:endCxn id="210" idx="7"/>
            </p:cNvCxnSpPr>
            <p:nvPr/>
          </p:nvCxnSpPr>
          <p:spPr>
            <a:xfrm flipV="1">
              <a:off x="10136711" y="3664487"/>
              <a:ext cx="762101" cy="35494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08DEE09D-B7F3-4DA4-8841-67B655174283}"/>
                </a:ext>
              </a:extLst>
            </p:cNvPr>
            <p:cNvCxnSpPr>
              <a:cxnSpLocks/>
              <a:endCxn id="224" idx="7"/>
            </p:cNvCxnSpPr>
            <p:nvPr/>
          </p:nvCxnSpPr>
          <p:spPr>
            <a:xfrm flipV="1">
              <a:off x="10991370" y="3645943"/>
              <a:ext cx="375499" cy="40101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33273747-1019-41B2-BBFC-BEC35B4F8F0C}"/>
                </a:ext>
              </a:extLst>
            </p:cNvPr>
            <p:cNvCxnSpPr>
              <a:cxnSpLocks/>
              <a:stCxn id="224" idx="4"/>
              <a:endCxn id="236" idx="0"/>
            </p:cNvCxnSpPr>
            <p:nvPr/>
          </p:nvCxnSpPr>
          <p:spPr>
            <a:xfrm flipV="1">
              <a:off x="11311910" y="3236260"/>
              <a:ext cx="43840" cy="54236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9D39D7FB-31D8-4D1D-9DA9-93194FDF8EED}"/>
                </a:ext>
              </a:extLst>
            </p:cNvPr>
            <p:cNvCxnSpPr>
              <a:cxnSpLocks/>
              <a:endCxn id="198" idx="7"/>
            </p:cNvCxnSpPr>
            <p:nvPr/>
          </p:nvCxnSpPr>
          <p:spPr>
            <a:xfrm flipV="1">
              <a:off x="11350625" y="2682484"/>
              <a:ext cx="259633" cy="62929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466FA7AD-D3F8-45AE-B1D4-BB0090AE8739}"/>
                </a:ext>
              </a:extLst>
            </p:cNvPr>
            <p:cNvCxnSpPr>
              <a:cxnSpLocks/>
              <a:endCxn id="185" idx="7"/>
            </p:cNvCxnSpPr>
            <p:nvPr/>
          </p:nvCxnSpPr>
          <p:spPr>
            <a:xfrm flipV="1">
              <a:off x="11636139" y="2792172"/>
              <a:ext cx="312924" cy="48283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D9BC1A22-6700-4EF9-B478-5CF65E930E6F}"/>
                </a:ext>
              </a:extLst>
            </p:cNvPr>
            <p:cNvCxnSpPr>
              <a:cxnSpLocks/>
              <a:endCxn id="234" idx="7"/>
            </p:cNvCxnSpPr>
            <p:nvPr/>
          </p:nvCxnSpPr>
          <p:spPr>
            <a:xfrm flipV="1">
              <a:off x="11873593" y="2465185"/>
              <a:ext cx="163207" cy="43797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B97B2DAB-817A-4590-BB97-5C2904C60BF1}"/>
                </a:ext>
              </a:extLst>
            </p:cNvPr>
            <p:cNvCxnSpPr>
              <a:cxnSpLocks/>
              <a:stCxn id="190" idx="0"/>
            </p:cNvCxnSpPr>
            <p:nvPr/>
          </p:nvCxnSpPr>
          <p:spPr>
            <a:xfrm flipH="1">
              <a:off x="11773628" y="1685438"/>
              <a:ext cx="56468" cy="746873"/>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7BADBDA4-A077-4A79-AE52-B73E80946EF1}"/>
                </a:ext>
              </a:extLst>
            </p:cNvPr>
            <p:cNvCxnSpPr>
              <a:cxnSpLocks/>
              <a:stCxn id="199" idx="2"/>
              <a:endCxn id="172" idx="6"/>
            </p:cNvCxnSpPr>
            <p:nvPr/>
          </p:nvCxnSpPr>
          <p:spPr>
            <a:xfrm flipV="1">
              <a:off x="11507605" y="2098068"/>
              <a:ext cx="565883" cy="44811"/>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A5DA932B-DF4A-4D4E-8DA6-7DB75DFE9484}"/>
                </a:ext>
              </a:extLst>
            </p:cNvPr>
            <p:cNvCxnSpPr>
              <a:cxnSpLocks/>
            </p:cNvCxnSpPr>
            <p:nvPr/>
          </p:nvCxnSpPr>
          <p:spPr>
            <a:xfrm flipV="1">
              <a:off x="11517130" y="2353910"/>
              <a:ext cx="313098" cy="389638"/>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F26DEB50-BEDD-49AD-95FC-D4A4A668AFEE}"/>
                </a:ext>
              </a:extLst>
            </p:cNvPr>
            <p:cNvCxnSpPr>
              <a:cxnSpLocks/>
              <a:endCxn id="175" idx="7"/>
            </p:cNvCxnSpPr>
            <p:nvPr/>
          </p:nvCxnSpPr>
          <p:spPr>
            <a:xfrm flipV="1">
              <a:off x="7588659" y="2851029"/>
              <a:ext cx="407631" cy="253966"/>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F3AA37E6-3E26-46DF-A271-E790479116CE}"/>
                </a:ext>
              </a:extLst>
            </p:cNvPr>
            <p:cNvCxnSpPr>
              <a:cxnSpLocks/>
              <a:stCxn id="230" idx="2"/>
              <a:endCxn id="178" idx="6"/>
            </p:cNvCxnSpPr>
            <p:nvPr/>
          </p:nvCxnSpPr>
          <p:spPr>
            <a:xfrm>
              <a:off x="7414369" y="2157649"/>
              <a:ext cx="488596" cy="16564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0EEA0559-3D30-402D-B6BF-C85416897FC2}"/>
                </a:ext>
              </a:extLst>
            </p:cNvPr>
            <p:cNvCxnSpPr>
              <a:cxnSpLocks/>
              <a:endCxn id="222" idx="6"/>
            </p:cNvCxnSpPr>
            <p:nvPr/>
          </p:nvCxnSpPr>
          <p:spPr>
            <a:xfrm>
              <a:off x="10965692" y="747599"/>
              <a:ext cx="446024" cy="24317"/>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7" name="Oval 166">
              <a:extLst>
                <a:ext uri="{FF2B5EF4-FFF2-40B4-BE49-F238E27FC236}">
                  <a16:creationId xmlns:a16="http://schemas.microsoft.com/office/drawing/2014/main" id="{F83FF843-C064-4C36-87F9-79C87BED8630}"/>
                </a:ext>
              </a:extLst>
            </p:cNvPr>
            <p:cNvSpPr/>
            <p:nvPr/>
          </p:nvSpPr>
          <p:spPr bwMode="auto">
            <a:xfrm>
              <a:off x="9994764" y="-46622"/>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68" name="Oval 167">
              <a:extLst>
                <a:ext uri="{FF2B5EF4-FFF2-40B4-BE49-F238E27FC236}">
                  <a16:creationId xmlns:a16="http://schemas.microsoft.com/office/drawing/2014/main" id="{DBD404BC-6162-47EA-8E57-A5C8E8D1CFEC}"/>
                </a:ext>
              </a:extLst>
            </p:cNvPr>
            <p:cNvSpPr/>
            <p:nvPr/>
          </p:nvSpPr>
          <p:spPr bwMode="auto">
            <a:xfrm>
              <a:off x="8969714" y="-106156"/>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69" name="Oval 168">
              <a:extLst>
                <a:ext uri="{FF2B5EF4-FFF2-40B4-BE49-F238E27FC236}">
                  <a16:creationId xmlns:a16="http://schemas.microsoft.com/office/drawing/2014/main" id="{5B0EC657-4E1A-406E-9F75-95A0CABB05CC}"/>
                </a:ext>
              </a:extLst>
            </p:cNvPr>
            <p:cNvSpPr/>
            <p:nvPr/>
          </p:nvSpPr>
          <p:spPr bwMode="auto">
            <a:xfrm>
              <a:off x="9699509" y="19920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0" name="Oval 169">
              <a:extLst>
                <a:ext uri="{FF2B5EF4-FFF2-40B4-BE49-F238E27FC236}">
                  <a16:creationId xmlns:a16="http://schemas.microsoft.com/office/drawing/2014/main" id="{7AA38A4A-BF9A-49EC-AF82-351311DEAA80}"/>
                </a:ext>
              </a:extLst>
            </p:cNvPr>
            <p:cNvSpPr/>
            <p:nvPr/>
          </p:nvSpPr>
          <p:spPr bwMode="auto">
            <a:xfrm>
              <a:off x="10503939" y="38637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1" name="Oval 170">
              <a:extLst>
                <a:ext uri="{FF2B5EF4-FFF2-40B4-BE49-F238E27FC236}">
                  <a16:creationId xmlns:a16="http://schemas.microsoft.com/office/drawing/2014/main" id="{27ED83A6-0545-4DB0-806B-1E192A2941C1}"/>
                </a:ext>
              </a:extLst>
            </p:cNvPr>
            <p:cNvSpPr/>
            <p:nvPr/>
          </p:nvSpPr>
          <p:spPr bwMode="auto">
            <a:xfrm>
              <a:off x="8305800" y="21041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2" name="Oval 171">
              <a:extLst>
                <a:ext uri="{FF2B5EF4-FFF2-40B4-BE49-F238E27FC236}">
                  <a16:creationId xmlns:a16="http://schemas.microsoft.com/office/drawing/2014/main" id="{BDE02816-02C1-4B51-91C5-51F42AA32F60}"/>
                </a:ext>
              </a:extLst>
            </p:cNvPr>
            <p:cNvSpPr/>
            <p:nvPr/>
          </p:nvSpPr>
          <p:spPr bwMode="auto">
            <a:xfrm>
              <a:off x="11918040" y="202034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3" name="Oval 172">
              <a:extLst>
                <a:ext uri="{FF2B5EF4-FFF2-40B4-BE49-F238E27FC236}">
                  <a16:creationId xmlns:a16="http://schemas.microsoft.com/office/drawing/2014/main" id="{7B58D148-E845-47AC-8D52-BFE07E767D17}"/>
                </a:ext>
              </a:extLst>
            </p:cNvPr>
            <p:cNvSpPr/>
            <p:nvPr/>
          </p:nvSpPr>
          <p:spPr bwMode="auto">
            <a:xfrm>
              <a:off x="7700270" y="3413422"/>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4" name="Oval 173">
              <a:extLst>
                <a:ext uri="{FF2B5EF4-FFF2-40B4-BE49-F238E27FC236}">
                  <a16:creationId xmlns:a16="http://schemas.microsoft.com/office/drawing/2014/main" id="{6FD9636D-19D1-41AE-B8B4-82C3A4A03BAF}"/>
                </a:ext>
              </a:extLst>
            </p:cNvPr>
            <p:cNvSpPr/>
            <p:nvPr/>
          </p:nvSpPr>
          <p:spPr bwMode="auto">
            <a:xfrm>
              <a:off x="7831849" y="120068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5" name="Oval 174">
              <a:extLst>
                <a:ext uri="{FF2B5EF4-FFF2-40B4-BE49-F238E27FC236}">
                  <a16:creationId xmlns:a16="http://schemas.microsoft.com/office/drawing/2014/main" id="{85F6A69A-3CAC-4CBD-8C89-6C05E12F34E1}"/>
                </a:ext>
              </a:extLst>
            </p:cNvPr>
            <p:cNvSpPr/>
            <p:nvPr/>
          </p:nvSpPr>
          <p:spPr bwMode="auto">
            <a:xfrm>
              <a:off x="7863607" y="282826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6" name="Oval 175">
              <a:extLst>
                <a:ext uri="{FF2B5EF4-FFF2-40B4-BE49-F238E27FC236}">
                  <a16:creationId xmlns:a16="http://schemas.microsoft.com/office/drawing/2014/main" id="{711547B7-58B8-42F4-BFEB-FBD839A66F21}"/>
                </a:ext>
              </a:extLst>
            </p:cNvPr>
            <p:cNvSpPr/>
            <p:nvPr/>
          </p:nvSpPr>
          <p:spPr bwMode="auto">
            <a:xfrm>
              <a:off x="9507621" y="436447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7" name="Oval 176">
              <a:extLst>
                <a:ext uri="{FF2B5EF4-FFF2-40B4-BE49-F238E27FC236}">
                  <a16:creationId xmlns:a16="http://schemas.microsoft.com/office/drawing/2014/main" id="{91CF48B2-ABCE-4822-B256-E7F1DE95BF76}"/>
                </a:ext>
              </a:extLst>
            </p:cNvPr>
            <p:cNvSpPr/>
            <p:nvPr/>
          </p:nvSpPr>
          <p:spPr bwMode="auto">
            <a:xfrm>
              <a:off x="11773627" y="1229201"/>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8" name="Oval 177">
              <a:extLst>
                <a:ext uri="{FF2B5EF4-FFF2-40B4-BE49-F238E27FC236}">
                  <a16:creationId xmlns:a16="http://schemas.microsoft.com/office/drawing/2014/main" id="{85DA43AA-B3CC-4211-B756-07A29D50DCFF}"/>
                </a:ext>
              </a:extLst>
            </p:cNvPr>
            <p:cNvSpPr/>
            <p:nvPr/>
          </p:nvSpPr>
          <p:spPr bwMode="auto">
            <a:xfrm>
              <a:off x="7747517" y="2245571"/>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79" name="Oval 178">
              <a:extLst>
                <a:ext uri="{FF2B5EF4-FFF2-40B4-BE49-F238E27FC236}">
                  <a16:creationId xmlns:a16="http://schemas.microsoft.com/office/drawing/2014/main" id="{770925CD-7295-4B52-AE60-519C8229B8DD}"/>
                </a:ext>
              </a:extLst>
            </p:cNvPr>
            <p:cNvSpPr/>
            <p:nvPr/>
          </p:nvSpPr>
          <p:spPr bwMode="auto">
            <a:xfrm>
              <a:off x="10382280" y="-7485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0" name="Oval 179">
              <a:extLst>
                <a:ext uri="{FF2B5EF4-FFF2-40B4-BE49-F238E27FC236}">
                  <a16:creationId xmlns:a16="http://schemas.microsoft.com/office/drawing/2014/main" id="{E14029F1-F901-4517-B963-DA9A77DB689B}"/>
                </a:ext>
              </a:extLst>
            </p:cNvPr>
            <p:cNvSpPr/>
            <p:nvPr/>
          </p:nvSpPr>
          <p:spPr bwMode="auto">
            <a:xfrm>
              <a:off x="8803138" y="3780556"/>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1" name="Oval 180">
              <a:extLst>
                <a:ext uri="{FF2B5EF4-FFF2-40B4-BE49-F238E27FC236}">
                  <a16:creationId xmlns:a16="http://schemas.microsoft.com/office/drawing/2014/main" id="{0C5E92B9-B4B4-4006-BA69-F8FE277A51F1}"/>
                </a:ext>
              </a:extLst>
            </p:cNvPr>
            <p:cNvSpPr/>
            <p:nvPr/>
          </p:nvSpPr>
          <p:spPr bwMode="auto">
            <a:xfrm>
              <a:off x="8336024" y="351298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2" name="Oval 181">
              <a:extLst>
                <a:ext uri="{FF2B5EF4-FFF2-40B4-BE49-F238E27FC236}">
                  <a16:creationId xmlns:a16="http://schemas.microsoft.com/office/drawing/2014/main" id="{904CA55C-849B-4FCA-BA44-08321C86918B}"/>
                </a:ext>
              </a:extLst>
            </p:cNvPr>
            <p:cNvSpPr/>
            <p:nvPr/>
          </p:nvSpPr>
          <p:spPr bwMode="auto">
            <a:xfrm>
              <a:off x="7369937" y="1626129"/>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3" name="Oval 182">
              <a:extLst>
                <a:ext uri="{FF2B5EF4-FFF2-40B4-BE49-F238E27FC236}">
                  <a16:creationId xmlns:a16="http://schemas.microsoft.com/office/drawing/2014/main" id="{1D92B791-C6CF-4D7F-8C3D-2C40020B6B4F}"/>
                </a:ext>
              </a:extLst>
            </p:cNvPr>
            <p:cNvSpPr/>
            <p:nvPr/>
          </p:nvSpPr>
          <p:spPr bwMode="auto">
            <a:xfrm>
              <a:off x="11448317" y="163864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4" name="Oval 183">
              <a:extLst>
                <a:ext uri="{FF2B5EF4-FFF2-40B4-BE49-F238E27FC236}">
                  <a16:creationId xmlns:a16="http://schemas.microsoft.com/office/drawing/2014/main" id="{28B638F3-E06B-4579-B1DD-EBBC8E698ACA}"/>
                </a:ext>
              </a:extLst>
            </p:cNvPr>
            <p:cNvSpPr/>
            <p:nvPr/>
          </p:nvSpPr>
          <p:spPr bwMode="auto">
            <a:xfrm>
              <a:off x="10933727" y="3960646"/>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5" name="Oval 184">
              <a:extLst>
                <a:ext uri="{FF2B5EF4-FFF2-40B4-BE49-F238E27FC236}">
                  <a16:creationId xmlns:a16="http://schemas.microsoft.com/office/drawing/2014/main" id="{AF227DC6-A6B7-40F7-AD77-17D9049FDC77}"/>
                </a:ext>
              </a:extLst>
            </p:cNvPr>
            <p:cNvSpPr/>
            <p:nvPr/>
          </p:nvSpPr>
          <p:spPr bwMode="auto">
            <a:xfrm>
              <a:off x="11816380" y="276940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6" name="Oval 185">
              <a:extLst>
                <a:ext uri="{FF2B5EF4-FFF2-40B4-BE49-F238E27FC236}">
                  <a16:creationId xmlns:a16="http://schemas.microsoft.com/office/drawing/2014/main" id="{3D79BF5A-B39A-458B-8C9D-04C81D1AFD19}"/>
                </a:ext>
              </a:extLst>
            </p:cNvPr>
            <p:cNvSpPr/>
            <p:nvPr/>
          </p:nvSpPr>
          <p:spPr bwMode="auto">
            <a:xfrm>
              <a:off x="11177845" y="45037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7" name="Oval 186">
              <a:extLst>
                <a:ext uri="{FF2B5EF4-FFF2-40B4-BE49-F238E27FC236}">
                  <a16:creationId xmlns:a16="http://schemas.microsoft.com/office/drawing/2014/main" id="{7C18D2BD-57E7-4475-8FF4-8148ECF4A9E5}"/>
                </a:ext>
              </a:extLst>
            </p:cNvPr>
            <p:cNvSpPr/>
            <p:nvPr/>
          </p:nvSpPr>
          <p:spPr bwMode="auto">
            <a:xfrm>
              <a:off x="7715825" y="149229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8" name="Oval 187">
              <a:extLst>
                <a:ext uri="{FF2B5EF4-FFF2-40B4-BE49-F238E27FC236}">
                  <a16:creationId xmlns:a16="http://schemas.microsoft.com/office/drawing/2014/main" id="{9C410D94-5633-4026-94E7-233A78BF2776}"/>
                </a:ext>
              </a:extLst>
            </p:cNvPr>
            <p:cNvSpPr/>
            <p:nvPr/>
          </p:nvSpPr>
          <p:spPr bwMode="auto">
            <a:xfrm>
              <a:off x="9318252" y="-3836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89" name="Oval 188">
              <a:extLst>
                <a:ext uri="{FF2B5EF4-FFF2-40B4-BE49-F238E27FC236}">
                  <a16:creationId xmlns:a16="http://schemas.microsoft.com/office/drawing/2014/main" id="{FF4A6DEE-2951-4DB6-B4EB-E4F5D4CAD86A}"/>
                </a:ext>
              </a:extLst>
            </p:cNvPr>
            <p:cNvSpPr/>
            <p:nvPr/>
          </p:nvSpPr>
          <p:spPr bwMode="auto">
            <a:xfrm>
              <a:off x="9031269" y="410289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0" name="Oval 189">
              <a:extLst>
                <a:ext uri="{FF2B5EF4-FFF2-40B4-BE49-F238E27FC236}">
                  <a16:creationId xmlns:a16="http://schemas.microsoft.com/office/drawing/2014/main" id="{6EBC4396-F3BD-4EED-BEA4-A2827E0822A5}"/>
                </a:ext>
              </a:extLst>
            </p:cNvPr>
            <p:cNvSpPr/>
            <p:nvPr/>
          </p:nvSpPr>
          <p:spPr bwMode="auto">
            <a:xfrm>
              <a:off x="11752372" y="168543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1" name="Oval 190">
              <a:extLst>
                <a:ext uri="{FF2B5EF4-FFF2-40B4-BE49-F238E27FC236}">
                  <a16:creationId xmlns:a16="http://schemas.microsoft.com/office/drawing/2014/main" id="{F55CA2E8-5B8E-4AA5-872E-93781601785A}"/>
                </a:ext>
              </a:extLst>
            </p:cNvPr>
            <p:cNvSpPr/>
            <p:nvPr/>
          </p:nvSpPr>
          <p:spPr bwMode="auto">
            <a:xfrm>
              <a:off x="7636262" y="259184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2" name="Oval 191">
              <a:extLst>
                <a:ext uri="{FF2B5EF4-FFF2-40B4-BE49-F238E27FC236}">
                  <a16:creationId xmlns:a16="http://schemas.microsoft.com/office/drawing/2014/main" id="{B99DE85F-8064-44E1-8A35-33A9C3D795A9}"/>
                </a:ext>
              </a:extLst>
            </p:cNvPr>
            <p:cNvSpPr/>
            <p:nvPr/>
          </p:nvSpPr>
          <p:spPr bwMode="auto">
            <a:xfrm>
              <a:off x="8731761" y="7706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3" name="Oval 192">
              <a:extLst>
                <a:ext uri="{FF2B5EF4-FFF2-40B4-BE49-F238E27FC236}">
                  <a16:creationId xmlns:a16="http://schemas.microsoft.com/office/drawing/2014/main" id="{9EC4FA98-7636-43C3-987A-27496AD01689}"/>
                </a:ext>
              </a:extLst>
            </p:cNvPr>
            <p:cNvSpPr/>
            <p:nvPr/>
          </p:nvSpPr>
          <p:spPr bwMode="auto">
            <a:xfrm>
              <a:off x="8063274" y="99790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4" name="Oval 193">
              <a:extLst>
                <a:ext uri="{FF2B5EF4-FFF2-40B4-BE49-F238E27FC236}">
                  <a16:creationId xmlns:a16="http://schemas.microsoft.com/office/drawing/2014/main" id="{8879DECF-249D-49E3-AE44-098801EE6C86}"/>
                </a:ext>
              </a:extLst>
            </p:cNvPr>
            <p:cNvSpPr/>
            <p:nvPr/>
          </p:nvSpPr>
          <p:spPr bwMode="auto">
            <a:xfrm>
              <a:off x="10269744" y="14295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5" name="Oval 194">
              <a:extLst>
                <a:ext uri="{FF2B5EF4-FFF2-40B4-BE49-F238E27FC236}">
                  <a16:creationId xmlns:a16="http://schemas.microsoft.com/office/drawing/2014/main" id="{CCED732B-AB0B-4306-B63B-5F5DEAD5E225}"/>
                </a:ext>
              </a:extLst>
            </p:cNvPr>
            <p:cNvSpPr/>
            <p:nvPr/>
          </p:nvSpPr>
          <p:spPr bwMode="auto">
            <a:xfrm>
              <a:off x="8420276" y="405083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6" name="Oval 195">
              <a:extLst>
                <a:ext uri="{FF2B5EF4-FFF2-40B4-BE49-F238E27FC236}">
                  <a16:creationId xmlns:a16="http://schemas.microsoft.com/office/drawing/2014/main" id="{B22AB330-8950-4E64-8189-8E6F6254590F}"/>
                </a:ext>
              </a:extLst>
            </p:cNvPr>
            <p:cNvSpPr/>
            <p:nvPr/>
          </p:nvSpPr>
          <p:spPr bwMode="auto">
            <a:xfrm>
              <a:off x="7991623" y="3528206"/>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7" name="Oval 196">
              <a:extLst>
                <a:ext uri="{FF2B5EF4-FFF2-40B4-BE49-F238E27FC236}">
                  <a16:creationId xmlns:a16="http://schemas.microsoft.com/office/drawing/2014/main" id="{7779DC43-8FC3-4C3A-A445-D793D88464F6}"/>
                </a:ext>
              </a:extLst>
            </p:cNvPr>
            <p:cNvSpPr/>
            <p:nvPr/>
          </p:nvSpPr>
          <p:spPr bwMode="auto">
            <a:xfrm>
              <a:off x="11329235" y="1293209"/>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8" name="Oval 197">
              <a:extLst>
                <a:ext uri="{FF2B5EF4-FFF2-40B4-BE49-F238E27FC236}">
                  <a16:creationId xmlns:a16="http://schemas.microsoft.com/office/drawing/2014/main" id="{8D9603EF-AF4D-48ED-8C8F-16E857C04078}"/>
                </a:ext>
              </a:extLst>
            </p:cNvPr>
            <p:cNvSpPr/>
            <p:nvPr/>
          </p:nvSpPr>
          <p:spPr bwMode="auto">
            <a:xfrm>
              <a:off x="11477575" y="2659719"/>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199" name="Oval 198">
              <a:extLst>
                <a:ext uri="{FF2B5EF4-FFF2-40B4-BE49-F238E27FC236}">
                  <a16:creationId xmlns:a16="http://schemas.microsoft.com/office/drawing/2014/main" id="{423C01F5-1388-4283-9338-7D7F537FC770}"/>
                </a:ext>
              </a:extLst>
            </p:cNvPr>
            <p:cNvSpPr/>
            <p:nvPr/>
          </p:nvSpPr>
          <p:spPr bwMode="auto">
            <a:xfrm>
              <a:off x="11507605" y="206515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0" name="Oval 199">
              <a:extLst>
                <a:ext uri="{FF2B5EF4-FFF2-40B4-BE49-F238E27FC236}">
                  <a16:creationId xmlns:a16="http://schemas.microsoft.com/office/drawing/2014/main" id="{7DF581A9-AE27-46AA-A51D-67024FB945B2}"/>
                </a:ext>
              </a:extLst>
            </p:cNvPr>
            <p:cNvSpPr/>
            <p:nvPr/>
          </p:nvSpPr>
          <p:spPr bwMode="auto">
            <a:xfrm>
              <a:off x="10445880" y="4241576"/>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1" name="Oval 200">
              <a:extLst>
                <a:ext uri="{FF2B5EF4-FFF2-40B4-BE49-F238E27FC236}">
                  <a16:creationId xmlns:a16="http://schemas.microsoft.com/office/drawing/2014/main" id="{310B8A4C-7DB7-4E63-B868-DAEAF47DC124}"/>
                </a:ext>
              </a:extLst>
            </p:cNvPr>
            <p:cNvSpPr/>
            <p:nvPr/>
          </p:nvSpPr>
          <p:spPr bwMode="auto">
            <a:xfrm>
              <a:off x="7367037" y="2659719"/>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2" name="Oval 201">
              <a:extLst>
                <a:ext uri="{FF2B5EF4-FFF2-40B4-BE49-F238E27FC236}">
                  <a16:creationId xmlns:a16="http://schemas.microsoft.com/office/drawing/2014/main" id="{70DA8AB1-1023-4023-AF71-1C9B7004453A}"/>
                </a:ext>
              </a:extLst>
            </p:cNvPr>
            <p:cNvSpPr/>
            <p:nvPr/>
          </p:nvSpPr>
          <p:spPr bwMode="auto">
            <a:xfrm>
              <a:off x="8620925" y="419913"/>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3" name="Oval 202">
              <a:extLst>
                <a:ext uri="{FF2B5EF4-FFF2-40B4-BE49-F238E27FC236}">
                  <a16:creationId xmlns:a16="http://schemas.microsoft.com/office/drawing/2014/main" id="{064386FD-3114-464C-A346-64FC0C8A1775}"/>
                </a:ext>
              </a:extLst>
            </p:cNvPr>
            <p:cNvSpPr/>
            <p:nvPr/>
          </p:nvSpPr>
          <p:spPr bwMode="auto">
            <a:xfrm>
              <a:off x="9076433" y="220886"/>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4" name="Oval 203">
              <a:extLst>
                <a:ext uri="{FF2B5EF4-FFF2-40B4-BE49-F238E27FC236}">
                  <a16:creationId xmlns:a16="http://schemas.microsoft.com/office/drawing/2014/main" id="{5E21BCAB-5745-41B3-8F38-52621E40C977}"/>
                </a:ext>
              </a:extLst>
            </p:cNvPr>
            <p:cNvSpPr/>
            <p:nvPr/>
          </p:nvSpPr>
          <p:spPr bwMode="auto">
            <a:xfrm>
              <a:off x="8252044" y="376796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5" name="Oval 204">
              <a:extLst>
                <a:ext uri="{FF2B5EF4-FFF2-40B4-BE49-F238E27FC236}">
                  <a16:creationId xmlns:a16="http://schemas.microsoft.com/office/drawing/2014/main" id="{4F8CB454-0FC4-40AF-9E85-61BBDFF8979E}"/>
                </a:ext>
              </a:extLst>
            </p:cNvPr>
            <p:cNvSpPr/>
            <p:nvPr/>
          </p:nvSpPr>
          <p:spPr bwMode="auto">
            <a:xfrm>
              <a:off x="9401573" y="4083623"/>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6" name="Oval 205">
              <a:extLst>
                <a:ext uri="{FF2B5EF4-FFF2-40B4-BE49-F238E27FC236}">
                  <a16:creationId xmlns:a16="http://schemas.microsoft.com/office/drawing/2014/main" id="{EB0638F1-DF7B-4F33-9231-C81AC524CDE1}"/>
                </a:ext>
              </a:extLst>
            </p:cNvPr>
            <p:cNvSpPr/>
            <p:nvPr/>
          </p:nvSpPr>
          <p:spPr bwMode="auto">
            <a:xfrm>
              <a:off x="7878462" y="62127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7" name="Oval 206">
              <a:extLst>
                <a:ext uri="{FF2B5EF4-FFF2-40B4-BE49-F238E27FC236}">
                  <a16:creationId xmlns:a16="http://schemas.microsoft.com/office/drawing/2014/main" id="{0E704477-5393-4497-9BC0-ED3064F102FB}"/>
                </a:ext>
              </a:extLst>
            </p:cNvPr>
            <p:cNvSpPr/>
            <p:nvPr/>
          </p:nvSpPr>
          <p:spPr bwMode="auto">
            <a:xfrm>
              <a:off x="9610344" y="-17463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8" name="Oval 207">
              <a:extLst>
                <a:ext uri="{FF2B5EF4-FFF2-40B4-BE49-F238E27FC236}">
                  <a16:creationId xmlns:a16="http://schemas.microsoft.com/office/drawing/2014/main" id="{8FA61D85-2305-4578-A1BA-F548EB8933A0}"/>
                </a:ext>
              </a:extLst>
            </p:cNvPr>
            <p:cNvSpPr/>
            <p:nvPr/>
          </p:nvSpPr>
          <p:spPr bwMode="auto">
            <a:xfrm>
              <a:off x="10766129" y="391092"/>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09" name="Oval 208">
              <a:extLst>
                <a:ext uri="{FF2B5EF4-FFF2-40B4-BE49-F238E27FC236}">
                  <a16:creationId xmlns:a16="http://schemas.microsoft.com/office/drawing/2014/main" id="{460CC404-BF23-462E-A4D8-DF184057E217}"/>
                </a:ext>
              </a:extLst>
            </p:cNvPr>
            <p:cNvSpPr/>
            <p:nvPr/>
          </p:nvSpPr>
          <p:spPr bwMode="auto">
            <a:xfrm>
              <a:off x="8795769" y="426348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10" name="Oval 209">
              <a:extLst>
                <a:ext uri="{FF2B5EF4-FFF2-40B4-BE49-F238E27FC236}">
                  <a16:creationId xmlns:a16="http://schemas.microsoft.com/office/drawing/2014/main" id="{4801941A-F2F1-49A6-90D6-4244DEEC00BA}"/>
                </a:ext>
              </a:extLst>
            </p:cNvPr>
            <p:cNvSpPr/>
            <p:nvPr/>
          </p:nvSpPr>
          <p:spPr bwMode="auto">
            <a:xfrm>
              <a:off x="10766129" y="3641722"/>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11" name="Straight Arrow Connector 210">
              <a:extLst>
                <a:ext uri="{FF2B5EF4-FFF2-40B4-BE49-F238E27FC236}">
                  <a16:creationId xmlns:a16="http://schemas.microsoft.com/office/drawing/2014/main" id="{BF3C92CE-A6D9-4D9F-AE1E-B429D617A2AB}"/>
                </a:ext>
              </a:extLst>
            </p:cNvPr>
            <p:cNvCxnSpPr>
              <a:cxnSpLocks/>
              <a:stCxn id="215" idx="7"/>
            </p:cNvCxnSpPr>
            <p:nvPr/>
          </p:nvCxnSpPr>
          <p:spPr>
            <a:xfrm flipH="1">
              <a:off x="7658056" y="660032"/>
              <a:ext cx="666006" cy="414291"/>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a:extLst>
                <a:ext uri="{FF2B5EF4-FFF2-40B4-BE49-F238E27FC236}">
                  <a16:creationId xmlns:a16="http://schemas.microsoft.com/office/drawing/2014/main" id="{B5A660D9-B149-4789-A728-F0F505047D58}"/>
                </a:ext>
              </a:extLst>
            </p:cNvPr>
            <p:cNvCxnSpPr>
              <a:cxnSpLocks/>
            </p:cNvCxnSpPr>
            <p:nvPr/>
          </p:nvCxnSpPr>
          <p:spPr>
            <a:xfrm>
              <a:off x="7645027" y="3096633"/>
              <a:ext cx="488596" cy="165646"/>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13" name="Oval 212">
              <a:extLst>
                <a:ext uri="{FF2B5EF4-FFF2-40B4-BE49-F238E27FC236}">
                  <a16:creationId xmlns:a16="http://schemas.microsoft.com/office/drawing/2014/main" id="{A48B0593-145D-4F7E-9B64-4930A11CD9B2}"/>
                </a:ext>
              </a:extLst>
            </p:cNvPr>
            <p:cNvSpPr/>
            <p:nvPr/>
          </p:nvSpPr>
          <p:spPr bwMode="auto">
            <a:xfrm>
              <a:off x="7558538" y="302088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14" name="Oval 213">
              <a:extLst>
                <a:ext uri="{FF2B5EF4-FFF2-40B4-BE49-F238E27FC236}">
                  <a16:creationId xmlns:a16="http://schemas.microsoft.com/office/drawing/2014/main" id="{6E514894-B62B-40AB-85FF-55074D5D0870}"/>
                </a:ext>
              </a:extLst>
            </p:cNvPr>
            <p:cNvSpPr/>
            <p:nvPr/>
          </p:nvSpPr>
          <p:spPr bwMode="auto">
            <a:xfrm>
              <a:off x="8013541" y="315342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15" name="Oval 214">
              <a:extLst>
                <a:ext uri="{FF2B5EF4-FFF2-40B4-BE49-F238E27FC236}">
                  <a16:creationId xmlns:a16="http://schemas.microsoft.com/office/drawing/2014/main" id="{C9AFAB6D-577F-4525-B9EF-B5B7E85582F3}"/>
                </a:ext>
              </a:extLst>
            </p:cNvPr>
            <p:cNvSpPr/>
            <p:nvPr/>
          </p:nvSpPr>
          <p:spPr bwMode="auto">
            <a:xfrm>
              <a:off x="8191379" y="63726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16" name="Oval 215">
              <a:extLst>
                <a:ext uri="{FF2B5EF4-FFF2-40B4-BE49-F238E27FC236}">
                  <a16:creationId xmlns:a16="http://schemas.microsoft.com/office/drawing/2014/main" id="{C4CD2039-289F-4179-8593-5B9FA3DC61E6}"/>
                </a:ext>
              </a:extLst>
            </p:cNvPr>
            <p:cNvSpPr/>
            <p:nvPr/>
          </p:nvSpPr>
          <p:spPr bwMode="auto">
            <a:xfrm>
              <a:off x="7583019" y="99790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17" name="Straight Arrow Connector 216">
              <a:extLst>
                <a:ext uri="{FF2B5EF4-FFF2-40B4-BE49-F238E27FC236}">
                  <a16:creationId xmlns:a16="http://schemas.microsoft.com/office/drawing/2014/main" id="{FB9D0A83-CF96-44E0-ADE0-77F8072CD9A4}"/>
                </a:ext>
              </a:extLst>
            </p:cNvPr>
            <p:cNvCxnSpPr>
              <a:cxnSpLocks/>
            </p:cNvCxnSpPr>
            <p:nvPr/>
          </p:nvCxnSpPr>
          <p:spPr>
            <a:xfrm>
              <a:off x="10886204" y="126431"/>
              <a:ext cx="104715" cy="660610"/>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18" name="Oval 217">
              <a:extLst>
                <a:ext uri="{FF2B5EF4-FFF2-40B4-BE49-F238E27FC236}">
                  <a16:creationId xmlns:a16="http://schemas.microsoft.com/office/drawing/2014/main" id="{1B84C578-BC5E-448A-A725-2EBC74C73E2F}"/>
                </a:ext>
              </a:extLst>
            </p:cNvPr>
            <p:cNvSpPr/>
            <p:nvPr/>
          </p:nvSpPr>
          <p:spPr bwMode="auto">
            <a:xfrm>
              <a:off x="10894145" y="676043"/>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19" name="Oval 218">
              <a:extLst>
                <a:ext uri="{FF2B5EF4-FFF2-40B4-BE49-F238E27FC236}">
                  <a16:creationId xmlns:a16="http://schemas.microsoft.com/office/drawing/2014/main" id="{159DE928-0E2F-4650-AA85-192AA50481A0}"/>
                </a:ext>
              </a:extLst>
            </p:cNvPr>
            <p:cNvSpPr/>
            <p:nvPr/>
          </p:nvSpPr>
          <p:spPr bwMode="auto">
            <a:xfrm>
              <a:off x="10805711" y="8470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20" name="Straight Arrow Connector 219">
              <a:extLst>
                <a:ext uri="{FF2B5EF4-FFF2-40B4-BE49-F238E27FC236}">
                  <a16:creationId xmlns:a16="http://schemas.microsoft.com/office/drawing/2014/main" id="{40C653C0-F1F7-4C18-851F-3E275BEF8C33}"/>
                </a:ext>
              </a:extLst>
            </p:cNvPr>
            <p:cNvCxnSpPr>
              <a:cxnSpLocks/>
            </p:cNvCxnSpPr>
            <p:nvPr/>
          </p:nvCxnSpPr>
          <p:spPr>
            <a:xfrm>
              <a:off x="11318973" y="742846"/>
              <a:ext cx="376546" cy="32383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21" name="Oval 220">
              <a:extLst>
                <a:ext uri="{FF2B5EF4-FFF2-40B4-BE49-F238E27FC236}">
                  <a16:creationId xmlns:a16="http://schemas.microsoft.com/office/drawing/2014/main" id="{1AC3DEFA-E518-49A1-8E79-0355709B0BB1}"/>
                </a:ext>
              </a:extLst>
            </p:cNvPr>
            <p:cNvSpPr/>
            <p:nvPr/>
          </p:nvSpPr>
          <p:spPr bwMode="auto">
            <a:xfrm>
              <a:off x="11575536" y="934001"/>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22" name="Oval 221">
              <a:extLst>
                <a:ext uri="{FF2B5EF4-FFF2-40B4-BE49-F238E27FC236}">
                  <a16:creationId xmlns:a16="http://schemas.microsoft.com/office/drawing/2014/main" id="{EFAB7E70-4514-4590-8F13-78450BDDFF9A}"/>
                </a:ext>
              </a:extLst>
            </p:cNvPr>
            <p:cNvSpPr/>
            <p:nvPr/>
          </p:nvSpPr>
          <p:spPr bwMode="auto">
            <a:xfrm>
              <a:off x="11256268" y="694192"/>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23" name="Straight Arrow Connector 222">
              <a:extLst>
                <a:ext uri="{FF2B5EF4-FFF2-40B4-BE49-F238E27FC236}">
                  <a16:creationId xmlns:a16="http://schemas.microsoft.com/office/drawing/2014/main" id="{CA1F9CED-7961-40BD-BDBB-99E0B18E36D8}"/>
                </a:ext>
              </a:extLst>
            </p:cNvPr>
            <p:cNvCxnSpPr>
              <a:cxnSpLocks/>
            </p:cNvCxnSpPr>
            <p:nvPr/>
          </p:nvCxnSpPr>
          <p:spPr>
            <a:xfrm flipV="1">
              <a:off x="10599503" y="3688202"/>
              <a:ext cx="783781" cy="246508"/>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24" name="Oval 223">
              <a:extLst>
                <a:ext uri="{FF2B5EF4-FFF2-40B4-BE49-F238E27FC236}">
                  <a16:creationId xmlns:a16="http://schemas.microsoft.com/office/drawing/2014/main" id="{25354751-9D9B-4CAB-9A5B-4CA9D7AC8121}"/>
                </a:ext>
              </a:extLst>
            </p:cNvPr>
            <p:cNvSpPr/>
            <p:nvPr/>
          </p:nvSpPr>
          <p:spPr bwMode="auto">
            <a:xfrm>
              <a:off x="11234186" y="3623178"/>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25" name="Oval 224">
              <a:extLst>
                <a:ext uri="{FF2B5EF4-FFF2-40B4-BE49-F238E27FC236}">
                  <a16:creationId xmlns:a16="http://schemas.microsoft.com/office/drawing/2014/main" id="{A6489CC0-7E04-4CE6-BEAB-C1F2B9E92DE1}"/>
                </a:ext>
              </a:extLst>
            </p:cNvPr>
            <p:cNvSpPr/>
            <p:nvPr/>
          </p:nvSpPr>
          <p:spPr bwMode="auto">
            <a:xfrm>
              <a:off x="10546056" y="383897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26" name="Straight Arrow Connector 225">
              <a:extLst>
                <a:ext uri="{FF2B5EF4-FFF2-40B4-BE49-F238E27FC236}">
                  <a16:creationId xmlns:a16="http://schemas.microsoft.com/office/drawing/2014/main" id="{C812B677-2FB1-4946-A5D2-EDBFDEB14CBF}"/>
                </a:ext>
              </a:extLst>
            </p:cNvPr>
            <p:cNvCxnSpPr>
              <a:cxnSpLocks/>
              <a:stCxn id="227" idx="7"/>
              <a:endCxn id="228" idx="3"/>
            </p:cNvCxnSpPr>
            <p:nvPr/>
          </p:nvCxnSpPr>
          <p:spPr>
            <a:xfrm flipH="1">
              <a:off x="9897835" y="3964472"/>
              <a:ext cx="371559" cy="393288"/>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27" name="Oval 226">
              <a:extLst>
                <a:ext uri="{FF2B5EF4-FFF2-40B4-BE49-F238E27FC236}">
                  <a16:creationId xmlns:a16="http://schemas.microsoft.com/office/drawing/2014/main" id="{6CF4CE3A-79A9-44E4-B7CE-4E06B529C5EF}"/>
                </a:ext>
              </a:extLst>
            </p:cNvPr>
            <p:cNvSpPr/>
            <p:nvPr/>
          </p:nvSpPr>
          <p:spPr bwMode="auto">
            <a:xfrm>
              <a:off x="10136711" y="394170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28" name="Oval 227">
              <a:extLst>
                <a:ext uri="{FF2B5EF4-FFF2-40B4-BE49-F238E27FC236}">
                  <a16:creationId xmlns:a16="http://schemas.microsoft.com/office/drawing/2014/main" id="{E01F8CE8-B0E5-45E6-9AA5-37B4DA31F618}"/>
                </a:ext>
              </a:extLst>
            </p:cNvPr>
            <p:cNvSpPr/>
            <p:nvPr/>
          </p:nvSpPr>
          <p:spPr bwMode="auto">
            <a:xfrm>
              <a:off x="9875070" y="422507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29" name="Straight Arrow Connector 228">
              <a:extLst>
                <a:ext uri="{FF2B5EF4-FFF2-40B4-BE49-F238E27FC236}">
                  <a16:creationId xmlns:a16="http://schemas.microsoft.com/office/drawing/2014/main" id="{ADC731E0-470A-440A-B55A-A75646457867}"/>
                </a:ext>
              </a:extLst>
            </p:cNvPr>
            <p:cNvCxnSpPr>
              <a:cxnSpLocks/>
              <a:endCxn id="231" idx="7"/>
            </p:cNvCxnSpPr>
            <p:nvPr/>
          </p:nvCxnSpPr>
          <p:spPr>
            <a:xfrm flipV="1">
              <a:off x="7490932" y="1813599"/>
              <a:ext cx="268793" cy="389744"/>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30" name="Oval 229">
              <a:extLst>
                <a:ext uri="{FF2B5EF4-FFF2-40B4-BE49-F238E27FC236}">
                  <a16:creationId xmlns:a16="http://schemas.microsoft.com/office/drawing/2014/main" id="{B5B6DF12-9383-4366-A48C-269875357758}"/>
                </a:ext>
              </a:extLst>
            </p:cNvPr>
            <p:cNvSpPr/>
            <p:nvPr/>
          </p:nvSpPr>
          <p:spPr bwMode="auto">
            <a:xfrm>
              <a:off x="7414369" y="207992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31" name="Oval 230">
              <a:extLst>
                <a:ext uri="{FF2B5EF4-FFF2-40B4-BE49-F238E27FC236}">
                  <a16:creationId xmlns:a16="http://schemas.microsoft.com/office/drawing/2014/main" id="{B52BE3A5-4410-46C6-98DD-9F6E93075C52}"/>
                </a:ext>
              </a:extLst>
            </p:cNvPr>
            <p:cNvSpPr/>
            <p:nvPr/>
          </p:nvSpPr>
          <p:spPr bwMode="auto">
            <a:xfrm>
              <a:off x="7627042" y="1790834"/>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32" name="Straight Arrow Connector 231">
              <a:extLst>
                <a:ext uri="{FF2B5EF4-FFF2-40B4-BE49-F238E27FC236}">
                  <a16:creationId xmlns:a16="http://schemas.microsoft.com/office/drawing/2014/main" id="{F9F6AB26-C12D-4AF0-9DFD-D9E295C382DD}"/>
                </a:ext>
              </a:extLst>
            </p:cNvPr>
            <p:cNvCxnSpPr>
              <a:cxnSpLocks/>
              <a:endCxn id="234" idx="5"/>
            </p:cNvCxnSpPr>
            <p:nvPr/>
          </p:nvCxnSpPr>
          <p:spPr>
            <a:xfrm>
              <a:off x="11764056" y="2410749"/>
              <a:ext cx="272744" cy="164354"/>
            </a:xfrm>
            <a:prstGeom prst="straightConnector1">
              <a:avLst/>
            </a:prstGeom>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33" name="Oval 232">
              <a:extLst>
                <a:ext uri="{FF2B5EF4-FFF2-40B4-BE49-F238E27FC236}">
                  <a16:creationId xmlns:a16="http://schemas.microsoft.com/office/drawing/2014/main" id="{B4685E41-5477-437F-ACD4-94B5D9913F81}"/>
                </a:ext>
              </a:extLst>
            </p:cNvPr>
            <p:cNvSpPr/>
            <p:nvPr/>
          </p:nvSpPr>
          <p:spPr bwMode="auto">
            <a:xfrm>
              <a:off x="11688020" y="232162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34" name="Oval 233">
              <a:extLst>
                <a:ext uri="{FF2B5EF4-FFF2-40B4-BE49-F238E27FC236}">
                  <a16:creationId xmlns:a16="http://schemas.microsoft.com/office/drawing/2014/main" id="{FEE8C75D-D7E6-4318-900C-BE9D7224FCF9}"/>
                </a:ext>
              </a:extLst>
            </p:cNvPr>
            <p:cNvSpPr/>
            <p:nvPr/>
          </p:nvSpPr>
          <p:spPr bwMode="auto">
            <a:xfrm>
              <a:off x="11904117" y="244242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235" name="Straight Arrow Connector 234">
              <a:extLst>
                <a:ext uri="{FF2B5EF4-FFF2-40B4-BE49-F238E27FC236}">
                  <a16:creationId xmlns:a16="http://schemas.microsoft.com/office/drawing/2014/main" id="{C6F81EA7-A1A8-4CE9-9577-7BD55D68CB76}"/>
                </a:ext>
              </a:extLst>
            </p:cNvPr>
            <p:cNvCxnSpPr>
              <a:cxnSpLocks/>
              <a:endCxn id="237" idx="6"/>
            </p:cNvCxnSpPr>
            <p:nvPr/>
          </p:nvCxnSpPr>
          <p:spPr>
            <a:xfrm flipV="1">
              <a:off x="11083229" y="3203991"/>
              <a:ext cx="650284" cy="230332"/>
            </a:xfrm>
            <a:prstGeom prst="straightConnector1">
              <a:avLst/>
            </a:prstGeom>
            <a:solidFill>
              <a:schemeClr val="bg1"/>
            </a:solidFill>
            <a:ln w="19050">
              <a:solidFill>
                <a:schemeClr val="accent3"/>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36" name="Oval 235">
              <a:extLst>
                <a:ext uri="{FF2B5EF4-FFF2-40B4-BE49-F238E27FC236}">
                  <a16:creationId xmlns:a16="http://schemas.microsoft.com/office/drawing/2014/main" id="{8EBC25F8-DE0A-47BE-868C-5F27AE0526D9}"/>
                </a:ext>
              </a:extLst>
            </p:cNvPr>
            <p:cNvSpPr/>
            <p:nvPr/>
          </p:nvSpPr>
          <p:spPr bwMode="auto">
            <a:xfrm>
              <a:off x="11278026" y="3236260"/>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37" name="Oval 236">
              <a:extLst>
                <a:ext uri="{FF2B5EF4-FFF2-40B4-BE49-F238E27FC236}">
                  <a16:creationId xmlns:a16="http://schemas.microsoft.com/office/drawing/2014/main" id="{09D8B4BF-A6D2-4C2E-93B0-83D45EAC03A9}"/>
                </a:ext>
              </a:extLst>
            </p:cNvPr>
            <p:cNvSpPr/>
            <p:nvPr/>
          </p:nvSpPr>
          <p:spPr bwMode="auto">
            <a:xfrm>
              <a:off x="11578065" y="3126267"/>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238" name="Oval 237">
              <a:extLst>
                <a:ext uri="{FF2B5EF4-FFF2-40B4-BE49-F238E27FC236}">
                  <a16:creationId xmlns:a16="http://schemas.microsoft.com/office/drawing/2014/main" id="{E2199481-2762-483D-890B-832CE77D7B75}"/>
                </a:ext>
              </a:extLst>
            </p:cNvPr>
            <p:cNvSpPr/>
            <p:nvPr/>
          </p:nvSpPr>
          <p:spPr bwMode="auto">
            <a:xfrm>
              <a:off x="11031533" y="3363275"/>
              <a:ext cx="155448" cy="155448"/>
            </a:xfrm>
            <a:prstGeom prst="ellipse">
              <a:avLst/>
            </a:prstGeom>
            <a:solidFill>
              <a:srgbClr val="243A5E"/>
            </a:solidFill>
            <a:ln w="19050" cap="flat" cmpd="sng" algn="ctr">
              <a:solidFill>
                <a:schemeClr val="accent3"/>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grpSp>
      <p:grpSp>
        <p:nvGrpSpPr>
          <p:cNvPr id="239" name="Group 238">
            <a:extLst>
              <a:ext uri="{FF2B5EF4-FFF2-40B4-BE49-F238E27FC236}">
                <a16:creationId xmlns:a16="http://schemas.microsoft.com/office/drawing/2014/main" id="{7AB2FE9B-8A1B-4389-8419-EA9425A6069C}"/>
              </a:ext>
            </a:extLst>
          </p:cNvPr>
          <p:cNvGrpSpPr/>
          <p:nvPr userDrawn="1"/>
        </p:nvGrpSpPr>
        <p:grpSpPr>
          <a:xfrm>
            <a:off x="7375345" y="4915618"/>
            <a:ext cx="4706451" cy="4694564"/>
            <a:chOff x="-3564909" y="6910113"/>
            <a:chExt cx="4706451" cy="4694564"/>
          </a:xfrm>
        </p:grpSpPr>
        <p:cxnSp>
          <p:nvCxnSpPr>
            <p:cNvPr id="240" name="Straight Arrow Connector 239">
              <a:extLst>
                <a:ext uri="{FF2B5EF4-FFF2-40B4-BE49-F238E27FC236}">
                  <a16:creationId xmlns:a16="http://schemas.microsoft.com/office/drawing/2014/main" id="{350C2E5E-93EB-4A2A-B26B-6974ED30E8CD}"/>
                </a:ext>
              </a:extLst>
            </p:cNvPr>
            <p:cNvCxnSpPr>
              <a:cxnSpLocks/>
            </p:cNvCxnSpPr>
            <p:nvPr/>
          </p:nvCxnSpPr>
          <p:spPr>
            <a:xfrm flipH="1">
              <a:off x="594095" y="8063813"/>
              <a:ext cx="118908" cy="77692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id="{F1CD9CF6-D4B5-44BE-A2DD-A3C13B1DD2DE}"/>
                </a:ext>
              </a:extLst>
            </p:cNvPr>
            <p:cNvCxnSpPr>
              <a:cxnSpLocks/>
              <a:stCxn id="353" idx="0"/>
              <a:endCxn id="369" idx="4"/>
            </p:cNvCxnSpPr>
            <p:nvPr/>
          </p:nvCxnSpPr>
          <p:spPr>
            <a:xfrm>
              <a:off x="594095" y="8723391"/>
              <a:ext cx="59288" cy="58196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2" name="Straight Arrow Connector 241">
              <a:extLst>
                <a:ext uri="{FF2B5EF4-FFF2-40B4-BE49-F238E27FC236}">
                  <a16:creationId xmlns:a16="http://schemas.microsoft.com/office/drawing/2014/main" id="{45052CB6-7208-4017-BEA4-64704549F926}"/>
                </a:ext>
              </a:extLst>
            </p:cNvPr>
            <p:cNvCxnSpPr>
              <a:cxnSpLocks/>
              <a:stCxn id="373" idx="6"/>
            </p:cNvCxnSpPr>
            <p:nvPr/>
          </p:nvCxnSpPr>
          <p:spPr>
            <a:xfrm flipH="1">
              <a:off x="-2692549" y="7383361"/>
              <a:ext cx="992484" cy="403757"/>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3" name="Straight Arrow Connector 242">
              <a:extLst>
                <a:ext uri="{FF2B5EF4-FFF2-40B4-BE49-F238E27FC236}">
                  <a16:creationId xmlns:a16="http://schemas.microsoft.com/office/drawing/2014/main" id="{98B1ADB2-FFD8-4AA4-B9EB-BA0E38371DA6}"/>
                </a:ext>
              </a:extLst>
            </p:cNvPr>
            <p:cNvCxnSpPr>
              <a:cxnSpLocks/>
              <a:stCxn id="358" idx="7"/>
            </p:cNvCxnSpPr>
            <p:nvPr/>
          </p:nvCxnSpPr>
          <p:spPr>
            <a:xfrm flipH="1">
              <a:off x="-1777789" y="7069151"/>
              <a:ext cx="296778" cy="310457"/>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4" name="Straight Arrow Connector 243">
              <a:extLst>
                <a:ext uri="{FF2B5EF4-FFF2-40B4-BE49-F238E27FC236}">
                  <a16:creationId xmlns:a16="http://schemas.microsoft.com/office/drawing/2014/main" id="{C9C84902-FEE6-4595-9A7B-9CF1F93FA409}"/>
                </a:ext>
              </a:extLst>
            </p:cNvPr>
            <p:cNvCxnSpPr>
              <a:cxnSpLocks/>
              <a:stCxn id="377" idx="1"/>
            </p:cNvCxnSpPr>
            <p:nvPr/>
          </p:nvCxnSpPr>
          <p:spPr>
            <a:xfrm>
              <a:off x="-1298837" y="6932878"/>
              <a:ext cx="145095" cy="43095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A2A049FA-2DBA-4078-8D0F-169FF186D483}"/>
                </a:ext>
              </a:extLst>
            </p:cNvPr>
            <p:cNvCxnSpPr>
              <a:cxnSpLocks/>
            </p:cNvCxnSpPr>
            <p:nvPr/>
          </p:nvCxnSpPr>
          <p:spPr>
            <a:xfrm flipH="1">
              <a:off x="-1205278" y="7087910"/>
              <a:ext cx="763624" cy="30092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595711B4-C8A3-4A34-9808-7A273AD64A39}"/>
                </a:ext>
              </a:extLst>
            </p:cNvPr>
            <p:cNvCxnSpPr>
              <a:cxnSpLocks/>
              <a:endCxn id="343" idx="4"/>
            </p:cNvCxnSpPr>
            <p:nvPr/>
          </p:nvCxnSpPr>
          <p:spPr>
            <a:xfrm flipH="1">
              <a:off x="-3153952" y="9961440"/>
              <a:ext cx="207580" cy="69218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3ABF1CD5-93F4-43FC-B470-CA19CFFA3A5D}"/>
                </a:ext>
              </a:extLst>
            </p:cNvPr>
            <p:cNvCxnSpPr>
              <a:cxnSpLocks/>
              <a:stCxn id="401" idx="0"/>
              <a:endCxn id="348" idx="4"/>
            </p:cNvCxnSpPr>
            <p:nvPr/>
          </p:nvCxnSpPr>
          <p:spPr>
            <a:xfrm>
              <a:off x="-3227180" y="8875585"/>
              <a:ext cx="120475" cy="610185"/>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94957B66-724B-4684-92B3-5EB539D82C31}"/>
                </a:ext>
              </a:extLst>
            </p:cNvPr>
            <p:cNvCxnSpPr>
              <a:cxnSpLocks/>
              <a:stCxn id="351" idx="6"/>
              <a:endCxn id="366" idx="2"/>
            </p:cNvCxnSpPr>
            <p:nvPr/>
          </p:nvCxnSpPr>
          <p:spPr>
            <a:xfrm flipH="1">
              <a:off x="-2940323" y="10675459"/>
              <a:ext cx="499849" cy="1522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483B2B52-B067-454A-A001-AF23BB7EFB25}"/>
                </a:ext>
              </a:extLst>
            </p:cNvPr>
            <p:cNvCxnSpPr>
              <a:cxnSpLocks/>
              <a:endCxn id="343" idx="4"/>
            </p:cNvCxnSpPr>
            <p:nvPr/>
          </p:nvCxnSpPr>
          <p:spPr>
            <a:xfrm>
              <a:off x="-3522469" y="9794296"/>
              <a:ext cx="368517" cy="859325"/>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24E9FEBF-9A80-40EF-A0AB-F48688C83E05}"/>
                </a:ext>
              </a:extLst>
            </p:cNvPr>
            <p:cNvCxnSpPr>
              <a:cxnSpLocks/>
              <a:stCxn id="378" idx="1"/>
            </p:cNvCxnSpPr>
            <p:nvPr/>
          </p:nvCxnSpPr>
          <p:spPr>
            <a:xfrm>
              <a:off x="-143052" y="7498608"/>
              <a:ext cx="621511" cy="94688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52E591A5-589E-400D-9A34-528C176232D7}"/>
                </a:ext>
              </a:extLst>
            </p:cNvPr>
            <p:cNvCxnSpPr>
              <a:cxnSpLocks/>
              <a:stCxn id="373" idx="2"/>
              <a:endCxn id="339" idx="6"/>
            </p:cNvCxnSpPr>
            <p:nvPr/>
          </p:nvCxnSpPr>
          <p:spPr>
            <a:xfrm flipV="1">
              <a:off x="-1855513" y="7361680"/>
              <a:ext cx="778524" cy="2168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F6874DC5-CAE7-4D43-9D93-5FF2987B78C6}"/>
                </a:ext>
              </a:extLst>
            </p:cNvPr>
            <p:cNvCxnSpPr>
              <a:cxnSpLocks/>
              <a:stCxn id="407" idx="4"/>
              <a:endCxn id="394" idx="4"/>
            </p:cNvCxnSpPr>
            <p:nvPr/>
          </p:nvCxnSpPr>
          <p:spPr>
            <a:xfrm flipH="1">
              <a:off x="379964" y="10366466"/>
              <a:ext cx="343879" cy="49691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4FB0BD0C-3B72-4032-8C02-2CBA931712F7}"/>
                </a:ext>
              </a:extLst>
            </p:cNvPr>
            <p:cNvCxnSpPr>
              <a:cxnSpLocks/>
            </p:cNvCxnSpPr>
            <p:nvPr/>
          </p:nvCxnSpPr>
          <p:spPr>
            <a:xfrm>
              <a:off x="392993" y="7806102"/>
              <a:ext cx="91291" cy="659807"/>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37D77038-6E15-47AA-A639-359A05B60B45}"/>
                </a:ext>
              </a:extLst>
            </p:cNvPr>
            <p:cNvCxnSpPr>
              <a:cxnSpLocks/>
              <a:stCxn id="350" idx="6"/>
              <a:endCxn id="374" idx="2"/>
            </p:cNvCxnSpPr>
            <p:nvPr/>
          </p:nvCxnSpPr>
          <p:spPr>
            <a:xfrm flipH="1" flipV="1">
              <a:off x="-2679902" y="10930440"/>
              <a:ext cx="706542" cy="1259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BF2571A2-DF9D-40AF-BD09-D409DB0540F4}"/>
                </a:ext>
              </a:extLst>
            </p:cNvPr>
            <p:cNvCxnSpPr>
              <a:cxnSpLocks/>
              <a:stCxn id="377" idx="6"/>
              <a:endCxn id="362" idx="2"/>
            </p:cNvCxnSpPr>
            <p:nvPr/>
          </p:nvCxnSpPr>
          <p:spPr>
            <a:xfrm flipH="1">
              <a:off x="-2200185" y="6987837"/>
              <a:ext cx="1034031" cy="25169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FF8944FC-8F20-465B-BD0A-A4D24AE44CA6}"/>
                </a:ext>
              </a:extLst>
            </p:cNvPr>
            <p:cNvCxnSpPr>
              <a:cxnSpLocks/>
              <a:stCxn id="341" idx="0"/>
            </p:cNvCxnSpPr>
            <p:nvPr/>
          </p:nvCxnSpPr>
          <p:spPr>
            <a:xfrm flipH="1">
              <a:off x="-2702310" y="7295165"/>
              <a:ext cx="153888" cy="54441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E4326EC7-5ADA-41B5-B07B-3E0E22C21B70}"/>
                </a:ext>
              </a:extLst>
            </p:cNvPr>
            <p:cNvCxnSpPr>
              <a:cxnSpLocks/>
              <a:stCxn id="352" idx="1"/>
              <a:endCxn id="401" idx="5"/>
            </p:cNvCxnSpPr>
            <p:nvPr/>
          </p:nvCxnSpPr>
          <p:spPr>
            <a:xfrm>
              <a:off x="-3539244" y="8733645"/>
              <a:ext cx="367023" cy="27462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CCB2FC38-9A96-4484-9BB2-41D29A9C7CA5}"/>
                </a:ext>
              </a:extLst>
            </p:cNvPr>
            <p:cNvCxnSpPr>
              <a:cxnSpLocks/>
              <a:stCxn id="356" idx="7"/>
            </p:cNvCxnSpPr>
            <p:nvPr/>
          </p:nvCxnSpPr>
          <p:spPr>
            <a:xfrm flipH="1">
              <a:off x="27146" y="7557894"/>
              <a:ext cx="351436" cy="276467"/>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A4932583-51F9-4CA4-A3E3-FDA5F290F44D}"/>
                </a:ext>
              </a:extLst>
            </p:cNvPr>
            <p:cNvCxnSpPr>
              <a:cxnSpLocks/>
              <a:stCxn id="352" idx="0"/>
            </p:cNvCxnSpPr>
            <p:nvPr/>
          </p:nvCxnSpPr>
          <p:spPr>
            <a:xfrm flipH="1">
              <a:off x="-3499809" y="8710880"/>
              <a:ext cx="15524" cy="110700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97651F68-9AB3-41BA-9DB8-25C5BE3BFBA6}"/>
                </a:ext>
              </a:extLst>
            </p:cNvPr>
            <p:cNvCxnSpPr>
              <a:cxnSpLocks/>
              <a:stCxn id="361" idx="5"/>
            </p:cNvCxnSpPr>
            <p:nvPr/>
          </p:nvCxnSpPr>
          <p:spPr>
            <a:xfrm flipH="1" flipV="1">
              <a:off x="-3444009" y="9238090"/>
              <a:ext cx="281008" cy="57118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5BF65375-98DC-4B05-AC17-7294A7DBBE13}"/>
                </a:ext>
              </a:extLst>
            </p:cNvPr>
            <p:cNvCxnSpPr>
              <a:cxnSpLocks/>
            </p:cNvCxnSpPr>
            <p:nvPr/>
          </p:nvCxnSpPr>
          <p:spPr>
            <a:xfrm>
              <a:off x="-3547975" y="9805260"/>
              <a:ext cx="581235" cy="17701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id="{E1FC298B-8E27-4482-946C-F2A8B7241815}"/>
                </a:ext>
              </a:extLst>
            </p:cNvPr>
            <p:cNvCxnSpPr>
              <a:cxnSpLocks/>
            </p:cNvCxnSpPr>
            <p:nvPr/>
          </p:nvCxnSpPr>
          <p:spPr>
            <a:xfrm>
              <a:off x="832117" y="8800907"/>
              <a:ext cx="260082" cy="39923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id="{43D23109-5CCB-46E3-BDDA-01BC0FEA6257}"/>
                </a:ext>
              </a:extLst>
            </p:cNvPr>
            <p:cNvCxnSpPr>
              <a:cxnSpLocks/>
              <a:stCxn id="344" idx="7"/>
            </p:cNvCxnSpPr>
            <p:nvPr/>
          </p:nvCxnSpPr>
          <p:spPr>
            <a:xfrm flipH="1">
              <a:off x="-3517576" y="8308196"/>
              <a:ext cx="550162" cy="49313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879AFD36-A8B0-4D44-A90C-6DF095AFFF40}"/>
                </a:ext>
              </a:extLst>
            </p:cNvPr>
            <p:cNvCxnSpPr>
              <a:cxnSpLocks/>
              <a:stCxn id="376" idx="3"/>
            </p:cNvCxnSpPr>
            <p:nvPr/>
          </p:nvCxnSpPr>
          <p:spPr>
            <a:xfrm flipH="1">
              <a:off x="-3285347" y="7838712"/>
              <a:ext cx="254628" cy="342705"/>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5" name="Straight Arrow Connector 264">
              <a:extLst>
                <a:ext uri="{FF2B5EF4-FFF2-40B4-BE49-F238E27FC236}">
                  <a16:creationId xmlns:a16="http://schemas.microsoft.com/office/drawing/2014/main" id="{0D9A1FC6-F7E6-4572-A29B-74CB63605694}"/>
                </a:ext>
              </a:extLst>
            </p:cNvPr>
            <p:cNvCxnSpPr>
              <a:cxnSpLocks/>
            </p:cNvCxnSpPr>
            <p:nvPr/>
          </p:nvCxnSpPr>
          <p:spPr>
            <a:xfrm flipH="1">
              <a:off x="-486066" y="11096737"/>
              <a:ext cx="620530" cy="33588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6" name="Straight Arrow Connector 265">
              <a:extLst>
                <a:ext uri="{FF2B5EF4-FFF2-40B4-BE49-F238E27FC236}">
                  <a16:creationId xmlns:a16="http://schemas.microsoft.com/office/drawing/2014/main" id="{B13078FA-F18C-430B-B71E-78B81E853A10}"/>
                </a:ext>
              </a:extLst>
            </p:cNvPr>
            <p:cNvCxnSpPr>
              <a:cxnSpLocks/>
            </p:cNvCxnSpPr>
            <p:nvPr/>
          </p:nvCxnSpPr>
          <p:spPr>
            <a:xfrm flipH="1">
              <a:off x="-2975277" y="7351645"/>
              <a:ext cx="439632" cy="42909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BDB8D52-A49B-40E7-BF7C-48FDAC053580}"/>
                </a:ext>
              </a:extLst>
            </p:cNvPr>
            <p:cNvCxnSpPr>
              <a:cxnSpLocks/>
              <a:endCxn id="344" idx="4"/>
            </p:cNvCxnSpPr>
            <p:nvPr/>
          </p:nvCxnSpPr>
          <p:spPr>
            <a:xfrm flipH="1">
              <a:off x="-3022373" y="7772429"/>
              <a:ext cx="56626" cy="66845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a:extLst>
                <a:ext uri="{FF2B5EF4-FFF2-40B4-BE49-F238E27FC236}">
                  <a16:creationId xmlns:a16="http://schemas.microsoft.com/office/drawing/2014/main" id="{C2765FA0-41D8-406C-B924-CAC7D3AF85C9}"/>
                </a:ext>
              </a:extLst>
            </p:cNvPr>
            <p:cNvCxnSpPr>
              <a:cxnSpLocks/>
              <a:endCxn id="365" idx="5"/>
            </p:cNvCxnSpPr>
            <p:nvPr/>
          </p:nvCxnSpPr>
          <p:spPr>
            <a:xfrm>
              <a:off x="-3146530" y="10573689"/>
              <a:ext cx="767543" cy="69458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69" name="Straight Arrow Connector 268">
              <a:extLst>
                <a:ext uri="{FF2B5EF4-FFF2-40B4-BE49-F238E27FC236}">
                  <a16:creationId xmlns:a16="http://schemas.microsoft.com/office/drawing/2014/main" id="{8C230F83-1CCC-41B1-BE4F-78587E7EE2F9}"/>
                </a:ext>
              </a:extLst>
            </p:cNvPr>
            <p:cNvCxnSpPr>
              <a:cxnSpLocks/>
              <a:stCxn id="386" idx="7"/>
            </p:cNvCxnSpPr>
            <p:nvPr/>
          </p:nvCxnSpPr>
          <p:spPr>
            <a:xfrm flipH="1">
              <a:off x="-3502390" y="8105416"/>
              <a:ext cx="286146" cy="679435"/>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FCBF570E-8C33-44F6-9CAB-9D471BA34FD4}"/>
                </a:ext>
              </a:extLst>
            </p:cNvPr>
            <p:cNvCxnSpPr>
              <a:cxnSpLocks/>
              <a:endCxn id="365" idx="4"/>
            </p:cNvCxnSpPr>
            <p:nvPr/>
          </p:nvCxnSpPr>
          <p:spPr>
            <a:xfrm>
              <a:off x="-2537537" y="10628081"/>
              <a:ext cx="103591" cy="66295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30D402A5-47C8-44DE-B85A-7C301AED3791}"/>
                </a:ext>
              </a:extLst>
            </p:cNvPr>
            <p:cNvCxnSpPr>
              <a:cxnSpLocks/>
              <a:endCxn id="368" idx="4"/>
            </p:cNvCxnSpPr>
            <p:nvPr/>
          </p:nvCxnSpPr>
          <p:spPr>
            <a:xfrm>
              <a:off x="619976" y="9270330"/>
              <a:ext cx="3377" cy="62958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9968D734-4F14-4EB1-95D6-F154C75197C4}"/>
                </a:ext>
              </a:extLst>
            </p:cNvPr>
            <p:cNvCxnSpPr>
              <a:cxnSpLocks/>
            </p:cNvCxnSpPr>
            <p:nvPr/>
          </p:nvCxnSpPr>
          <p:spPr>
            <a:xfrm>
              <a:off x="660206" y="9224388"/>
              <a:ext cx="197075" cy="25225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167DD1E4-C798-48EC-940C-4B55BB8DE3B5}"/>
                </a:ext>
              </a:extLst>
            </p:cNvPr>
            <p:cNvCxnSpPr>
              <a:cxnSpLocks/>
              <a:stCxn id="362" idx="7"/>
            </p:cNvCxnSpPr>
            <p:nvPr/>
          </p:nvCxnSpPr>
          <p:spPr>
            <a:xfrm flipH="1">
              <a:off x="-2676630" y="7184576"/>
              <a:ext cx="609128" cy="65167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4" name="Straight Arrow Connector 273">
              <a:extLst>
                <a:ext uri="{FF2B5EF4-FFF2-40B4-BE49-F238E27FC236}">
                  <a16:creationId xmlns:a16="http://schemas.microsoft.com/office/drawing/2014/main" id="{A9A9EA65-BCD6-4196-8108-EE71C7AEFA6D}"/>
                </a:ext>
              </a:extLst>
            </p:cNvPr>
            <p:cNvCxnSpPr>
              <a:cxnSpLocks/>
              <a:endCxn id="350" idx="5"/>
            </p:cNvCxnSpPr>
            <p:nvPr/>
          </p:nvCxnSpPr>
          <p:spPr>
            <a:xfrm>
              <a:off x="-2500744" y="10652245"/>
              <a:ext cx="504619" cy="345745"/>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A154B310-0A3F-4072-A38B-B92795CD4832}"/>
                </a:ext>
              </a:extLst>
            </p:cNvPr>
            <p:cNvCxnSpPr>
              <a:cxnSpLocks/>
              <a:stCxn id="359" idx="2"/>
            </p:cNvCxnSpPr>
            <p:nvPr/>
          </p:nvCxnSpPr>
          <p:spPr>
            <a:xfrm>
              <a:off x="-1900677" y="11265370"/>
              <a:ext cx="927612" cy="133407"/>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D318F802-11EA-4FF2-988C-34CEF6B9F355}"/>
                </a:ext>
              </a:extLst>
            </p:cNvPr>
            <p:cNvCxnSpPr>
              <a:cxnSpLocks/>
              <a:stCxn id="359" idx="7"/>
              <a:endCxn id="379" idx="3"/>
            </p:cNvCxnSpPr>
            <p:nvPr/>
          </p:nvCxnSpPr>
          <p:spPr>
            <a:xfrm flipH="1">
              <a:off x="-2113412" y="11210411"/>
              <a:ext cx="345418" cy="27051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06A54EFA-49FD-4D98-850E-E28CC78F0735}"/>
                </a:ext>
              </a:extLst>
            </p:cNvPr>
            <p:cNvCxnSpPr>
              <a:cxnSpLocks/>
              <a:endCxn id="363" idx="4"/>
            </p:cNvCxnSpPr>
            <p:nvPr/>
          </p:nvCxnSpPr>
          <p:spPr>
            <a:xfrm flipH="1">
              <a:off x="-2790948" y="7765536"/>
              <a:ext cx="152482" cy="47256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FDBB3F9C-B3EE-4085-B195-2744DF69A9CF}"/>
                </a:ext>
              </a:extLst>
            </p:cNvPr>
            <p:cNvCxnSpPr>
              <a:cxnSpLocks/>
              <a:stCxn id="397" idx="1"/>
            </p:cNvCxnSpPr>
            <p:nvPr/>
          </p:nvCxnSpPr>
          <p:spPr>
            <a:xfrm>
              <a:off x="-772470" y="11049223"/>
              <a:ext cx="382875" cy="39168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39467A0F-EDA8-4404-B790-E3B9BA518ECF}"/>
                </a:ext>
              </a:extLst>
            </p:cNvPr>
            <p:cNvCxnSpPr>
              <a:cxnSpLocks/>
              <a:endCxn id="397" idx="6"/>
            </p:cNvCxnSpPr>
            <p:nvPr/>
          </p:nvCxnSpPr>
          <p:spPr>
            <a:xfrm flipV="1">
              <a:off x="-1442642" y="11104182"/>
              <a:ext cx="802855" cy="11820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F3C11EE4-DC9B-4BB6-BDDD-42CF3D9D97B4}"/>
                </a:ext>
              </a:extLst>
            </p:cNvPr>
            <p:cNvCxnSpPr>
              <a:cxnSpLocks/>
            </p:cNvCxnSpPr>
            <p:nvPr/>
          </p:nvCxnSpPr>
          <p:spPr>
            <a:xfrm flipH="1">
              <a:off x="-432950" y="10963427"/>
              <a:ext cx="120474" cy="49018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7F5E4BD1-3195-429F-9393-149D2532A97D}"/>
                </a:ext>
              </a:extLst>
            </p:cNvPr>
            <p:cNvCxnSpPr>
              <a:cxnSpLocks/>
            </p:cNvCxnSpPr>
            <p:nvPr/>
          </p:nvCxnSpPr>
          <p:spPr>
            <a:xfrm>
              <a:off x="-2846973" y="10287315"/>
              <a:ext cx="332955" cy="39664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E9ABF934-D7E1-4801-932B-0742387D6362}"/>
                </a:ext>
              </a:extLst>
            </p:cNvPr>
            <p:cNvCxnSpPr>
              <a:cxnSpLocks/>
              <a:endCxn id="344" idx="5"/>
            </p:cNvCxnSpPr>
            <p:nvPr/>
          </p:nvCxnSpPr>
          <p:spPr>
            <a:xfrm>
              <a:off x="-3268787" y="8127294"/>
              <a:ext cx="301373" cy="29082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3" name="Straight Arrow Connector 282">
              <a:extLst>
                <a:ext uri="{FF2B5EF4-FFF2-40B4-BE49-F238E27FC236}">
                  <a16:creationId xmlns:a16="http://schemas.microsoft.com/office/drawing/2014/main" id="{8EE400C5-422B-448C-9A93-763B0DD5D070}"/>
                </a:ext>
              </a:extLst>
            </p:cNvPr>
            <p:cNvCxnSpPr>
              <a:cxnSpLocks/>
            </p:cNvCxnSpPr>
            <p:nvPr/>
          </p:nvCxnSpPr>
          <p:spPr>
            <a:xfrm>
              <a:off x="-2146232" y="7202764"/>
              <a:ext cx="396243" cy="208397"/>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4" name="Straight Arrow Connector 283">
              <a:extLst>
                <a:ext uri="{FF2B5EF4-FFF2-40B4-BE49-F238E27FC236}">
                  <a16:creationId xmlns:a16="http://schemas.microsoft.com/office/drawing/2014/main" id="{3AFC9FD5-AF21-40DB-A6B9-A8F222AAAC26}"/>
                </a:ext>
              </a:extLst>
            </p:cNvPr>
            <p:cNvCxnSpPr>
              <a:cxnSpLocks/>
            </p:cNvCxnSpPr>
            <p:nvPr/>
          </p:nvCxnSpPr>
          <p:spPr>
            <a:xfrm>
              <a:off x="-2096553" y="11427486"/>
              <a:ext cx="766811" cy="7822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F0B2BE37-3A40-4626-B180-2A80337B0B29}"/>
                </a:ext>
              </a:extLst>
            </p:cNvPr>
            <p:cNvCxnSpPr>
              <a:cxnSpLocks/>
              <a:stCxn id="368" idx="7"/>
              <a:endCxn id="395" idx="3"/>
            </p:cNvCxnSpPr>
            <p:nvPr/>
          </p:nvCxnSpPr>
          <p:spPr>
            <a:xfrm flipH="1">
              <a:off x="-363125" y="9767235"/>
              <a:ext cx="1041437" cy="128917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1D7A5442-3090-4504-A7A3-FC7F0F7FB547}"/>
                </a:ext>
              </a:extLst>
            </p:cNvPr>
            <p:cNvCxnSpPr>
              <a:cxnSpLocks/>
              <a:stCxn id="404" idx="3"/>
            </p:cNvCxnSpPr>
            <p:nvPr/>
          </p:nvCxnSpPr>
          <p:spPr>
            <a:xfrm flipH="1">
              <a:off x="416812" y="9659854"/>
              <a:ext cx="578124" cy="76671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E442B455-E864-4E07-ADEC-696BADE82307}"/>
                </a:ext>
              </a:extLst>
            </p:cNvPr>
            <p:cNvCxnSpPr>
              <a:cxnSpLocks/>
              <a:stCxn id="389" idx="1"/>
              <a:endCxn id="356" idx="5"/>
            </p:cNvCxnSpPr>
            <p:nvPr/>
          </p:nvCxnSpPr>
          <p:spPr>
            <a:xfrm>
              <a:off x="-103470" y="7192220"/>
              <a:ext cx="482052" cy="47559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86C2C48-6A9F-43CD-B54A-AB025EA98837}"/>
                </a:ext>
              </a:extLst>
            </p:cNvPr>
            <p:cNvCxnSpPr>
              <a:cxnSpLocks/>
              <a:endCxn id="391" idx="5"/>
            </p:cNvCxnSpPr>
            <p:nvPr/>
          </p:nvCxnSpPr>
          <p:spPr>
            <a:xfrm>
              <a:off x="312829" y="7566194"/>
              <a:ext cx="463444" cy="58524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F7D5B46A-5736-4679-84AF-17D33180CF5A}"/>
                </a:ext>
              </a:extLst>
            </p:cNvPr>
            <p:cNvCxnSpPr>
              <a:cxnSpLocks/>
            </p:cNvCxnSpPr>
            <p:nvPr/>
          </p:nvCxnSpPr>
          <p:spPr>
            <a:xfrm>
              <a:off x="554096" y="9796793"/>
              <a:ext cx="471488" cy="164647"/>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04CA1C17-C353-42EA-9AA6-6755D844AA3A}"/>
                </a:ext>
              </a:extLst>
            </p:cNvPr>
            <p:cNvCxnSpPr>
              <a:cxnSpLocks/>
            </p:cNvCxnSpPr>
            <p:nvPr/>
          </p:nvCxnSpPr>
          <p:spPr>
            <a:xfrm flipH="1">
              <a:off x="-983309" y="11005609"/>
              <a:ext cx="670986" cy="38610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80683458-F402-431F-8CEC-358181F2EA81}"/>
                </a:ext>
              </a:extLst>
            </p:cNvPr>
            <p:cNvCxnSpPr>
              <a:cxnSpLocks/>
              <a:stCxn id="347" idx="7"/>
            </p:cNvCxnSpPr>
            <p:nvPr/>
          </p:nvCxnSpPr>
          <p:spPr>
            <a:xfrm flipH="1">
              <a:off x="575990" y="8336717"/>
              <a:ext cx="398374" cy="47875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806512CD-4F88-41EB-B29F-D97BE0721706}"/>
                </a:ext>
              </a:extLst>
            </p:cNvPr>
            <p:cNvCxnSpPr>
              <a:cxnSpLocks/>
              <a:stCxn id="391" idx="7"/>
            </p:cNvCxnSpPr>
            <p:nvPr/>
          </p:nvCxnSpPr>
          <p:spPr>
            <a:xfrm flipH="1">
              <a:off x="429155" y="8041517"/>
              <a:ext cx="347118" cy="46712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1C5C0A24-CE9C-43C2-ADA4-A047126C5AF2}"/>
                </a:ext>
              </a:extLst>
            </p:cNvPr>
            <p:cNvCxnSpPr>
              <a:cxnSpLocks/>
              <a:stCxn id="380" idx="1"/>
              <a:endCxn id="354" idx="5"/>
            </p:cNvCxnSpPr>
            <p:nvPr/>
          </p:nvCxnSpPr>
          <p:spPr>
            <a:xfrm>
              <a:off x="-143052" y="10749238"/>
              <a:ext cx="277516" cy="42884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4" name="Straight Arrow Connector 293">
              <a:extLst>
                <a:ext uri="{FF2B5EF4-FFF2-40B4-BE49-F238E27FC236}">
                  <a16:creationId xmlns:a16="http://schemas.microsoft.com/office/drawing/2014/main" id="{F2518018-B5AC-4EF2-BDAE-0A63B96E9051}"/>
                </a:ext>
              </a:extLst>
            </p:cNvPr>
            <p:cNvCxnSpPr>
              <a:cxnSpLocks/>
              <a:endCxn id="378" idx="5"/>
            </p:cNvCxnSpPr>
            <p:nvPr/>
          </p:nvCxnSpPr>
          <p:spPr>
            <a:xfrm>
              <a:off x="-513253" y="7059662"/>
              <a:ext cx="480119" cy="54886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EEC169FF-8360-420A-9120-385909606854}"/>
                </a:ext>
              </a:extLst>
            </p:cNvPr>
            <p:cNvCxnSpPr>
              <a:cxnSpLocks/>
              <a:stCxn id="408" idx="7"/>
              <a:endCxn id="354" idx="4"/>
            </p:cNvCxnSpPr>
            <p:nvPr/>
          </p:nvCxnSpPr>
          <p:spPr>
            <a:xfrm flipH="1">
              <a:off x="79505" y="10470791"/>
              <a:ext cx="152765" cy="73005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6" name="Straight Arrow Connector 295">
              <a:extLst>
                <a:ext uri="{FF2B5EF4-FFF2-40B4-BE49-F238E27FC236}">
                  <a16:creationId xmlns:a16="http://schemas.microsoft.com/office/drawing/2014/main" id="{B8BB91E9-3EAA-45B1-9E9A-971531B25704}"/>
                </a:ext>
              </a:extLst>
            </p:cNvPr>
            <p:cNvCxnSpPr>
              <a:cxnSpLocks/>
              <a:endCxn id="407" idx="4"/>
            </p:cNvCxnSpPr>
            <p:nvPr/>
          </p:nvCxnSpPr>
          <p:spPr>
            <a:xfrm>
              <a:off x="633441" y="9784405"/>
              <a:ext cx="90402" cy="58206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7" name="Straight Arrow Connector 296">
              <a:extLst>
                <a:ext uri="{FF2B5EF4-FFF2-40B4-BE49-F238E27FC236}">
                  <a16:creationId xmlns:a16="http://schemas.microsoft.com/office/drawing/2014/main" id="{E1007F89-667D-4EE5-971D-E786B2D24F92}"/>
                </a:ext>
              </a:extLst>
            </p:cNvPr>
            <p:cNvCxnSpPr>
              <a:cxnSpLocks/>
              <a:stCxn id="389" idx="7"/>
              <a:endCxn id="340" idx="3"/>
            </p:cNvCxnSpPr>
            <p:nvPr/>
          </p:nvCxnSpPr>
          <p:spPr>
            <a:xfrm flipH="1">
              <a:off x="-405242" y="7192220"/>
              <a:ext cx="411690" cy="41158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8" name="Straight Arrow Connector 297">
              <a:extLst>
                <a:ext uri="{FF2B5EF4-FFF2-40B4-BE49-F238E27FC236}">
                  <a16:creationId xmlns:a16="http://schemas.microsoft.com/office/drawing/2014/main" id="{E3AF32A4-EDCB-45E8-8E10-7FA21F9B0D74}"/>
                </a:ext>
              </a:extLst>
            </p:cNvPr>
            <p:cNvCxnSpPr>
              <a:cxnSpLocks/>
              <a:endCxn id="359" idx="5"/>
            </p:cNvCxnSpPr>
            <p:nvPr/>
          </p:nvCxnSpPr>
          <p:spPr>
            <a:xfrm>
              <a:off x="-2044028" y="10888656"/>
              <a:ext cx="276034" cy="43167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99" name="Straight Arrow Connector 298">
              <a:extLst>
                <a:ext uri="{FF2B5EF4-FFF2-40B4-BE49-F238E27FC236}">
                  <a16:creationId xmlns:a16="http://schemas.microsoft.com/office/drawing/2014/main" id="{AC8F572B-DC9C-4A86-A21F-23130DCAEB84}"/>
                </a:ext>
              </a:extLst>
            </p:cNvPr>
            <p:cNvCxnSpPr>
              <a:cxnSpLocks/>
              <a:stCxn id="340" idx="6"/>
            </p:cNvCxnSpPr>
            <p:nvPr/>
          </p:nvCxnSpPr>
          <p:spPr>
            <a:xfrm flipH="1" flipV="1">
              <a:off x="-1169929" y="7361431"/>
              <a:ext cx="897370" cy="18741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0" name="Straight Arrow Connector 299">
              <a:extLst>
                <a:ext uri="{FF2B5EF4-FFF2-40B4-BE49-F238E27FC236}">
                  <a16:creationId xmlns:a16="http://schemas.microsoft.com/office/drawing/2014/main" id="{2BA23373-5CB3-4316-AB8D-A4C467C2840A}"/>
                </a:ext>
              </a:extLst>
            </p:cNvPr>
            <p:cNvCxnSpPr>
              <a:cxnSpLocks/>
              <a:endCxn id="379" idx="4"/>
            </p:cNvCxnSpPr>
            <p:nvPr/>
          </p:nvCxnSpPr>
          <p:spPr>
            <a:xfrm>
              <a:off x="-2065809" y="10897910"/>
              <a:ext cx="7356" cy="60577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1" name="Straight Arrow Connector 300">
              <a:extLst>
                <a:ext uri="{FF2B5EF4-FFF2-40B4-BE49-F238E27FC236}">
                  <a16:creationId xmlns:a16="http://schemas.microsoft.com/office/drawing/2014/main" id="{79C251D2-D626-4436-A410-CDD7F1E72394}"/>
                </a:ext>
              </a:extLst>
            </p:cNvPr>
            <p:cNvCxnSpPr>
              <a:cxnSpLocks/>
            </p:cNvCxnSpPr>
            <p:nvPr/>
          </p:nvCxnSpPr>
          <p:spPr>
            <a:xfrm flipH="1">
              <a:off x="-2872084" y="10290235"/>
              <a:ext cx="51338" cy="39923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2" name="Straight Arrow Connector 301">
              <a:extLst>
                <a:ext uri="{FF2B5EF4-FFF2-40B4-BE49-F238E27FC236}">
                  <a16:creationId xmlns:a16="http://schemas.microsoft.com/office/drawing/2014/main" id="{2DFC8270-4F11-4F63-8BA7-1B85E58F925B}"/>
                </a:ext>
              </a:extLst>
            </p:cNvPr>
            <p:cNvCxnSpPr>
              <a:cxnSpLocks/>
            </p:cNvCxnSpPr>
            <p:nvPr/>
          </p:nvCxnSpPr>
          <p:spPr>
            <a:xfrm>
              <a:off x="906713" y="8394286"/>
              <a:ext cx="0" cy="493464"/>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2A5D6473-79E3-49E3-94F0-78C6C442B71B}"/>
                </a:ext>
              </a:extLst>
            </p:cNvPr>
            <p:cNvCxnSpPr>
              <a:cxnSpLocks/>
              <a:stCxn id="338" idx="7"/>
            </p:cNvCxnSpPr>
            <p:nvPr/>
          </p:nvCxnSpPr>
          <p:spPr>
            <a:xfrm flipH="1">
              <a:off x="-2571197" y="7001360"/>
              <a:ext cx="741648" cy="37772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86E04A9C-B79C-4058-8A83-C8E9417D73AB}"/>
                </a:ext>
              </a:extLst>
            </p:cNvPr>
            <p:cNvCxnSpPr>
              <a:cxnSpLocks/>
              <a:stCxn id="348" idx="1"/>
              <a:endCxn id="384" idx="5"/>
            </p:cNvCxnSpPr>
            <p:nvPr/>
          </p:nvCxnSpPr>
          <p:spPr>
            <a:xfrm>
              <a:off x="-3161664" y="9353087"/>
              <a:ext cx="375942" cy="101777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5" name="Straight Arrow Connector 304">
              <a:extLst>
                <a:ext uri="{FF2B5EF4-FFF2-40B4-BE49-F238E27FC236}">
                  <a16:creationId xmlns:a16="http://schemas.microsoft.com/office/drawing/2014/main" id="{B6B73CDE-C782-4D11-90B2-8C6513E5188F}"/>
                </a:ext>
              </a:extLst>
            </p:cNvPr>
            <p:cNvCxnSpPr>
              <a:cxnSpLocks/>
              <a:stCxn id="371" idx="3"/>
              <a:endCxn id="348" idx="7"/>
            </p:cNvCxnSpPr>
            <p:nvPr/>
          </p:nvCxnSpPr>
          <p:spPr>
            <a:xfrm flipV="1">
              <a:off x="-3542144" y="9353087"/>
              <a:ext cx="490398" cy="52406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id="{F8ECC1C3-476D-4560-98DB-14023830B38B}"/>
                </a:ext>
              </a:extLst>
            </p:cNvPr>
            <p:cNvCxnSpPr>
              <a:cxnSpLocks/>
              <a:stCxn id="401" idx="3"/>
              <a:endCxn id="363" idx="7"/>
            </p:cNvCxnSpPr>
            <p:nvPr/>
          </p:nvCxnSpPr>
          <p:spPr>
            <a:xfrm flipV="1">
              <a:off x="-3282139" y="8105416"/>
              <a:ext cx="546150" cy="90285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id="{AE8A00DA-4F72-48C4-8CDB-FBA8CD2039B9}"/>
                </a:ext>
              </a:extLst>
            </p:cNvPr>
            <p:cNvCxnSpPr>
              <a:cxnSpLocks/>
              <a:endCxn id="370" idx="6"/>
            </p:cNvCxnSpPr>
            <p:nvPr/>
          </p:nvCxnSpPr>
          <p:spPr>
            <a:xfrm flipV="1">
              <a:off x="-1340248" y="11404051"/>
              <a:ext cx="1009630" cy="13787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8" name="Straight Arrow Connector 307">
              <a:extLst>
                <a:ext uri="{FF2B5EF4-FFF2-40B4-BE49-F238E27FC236}">
                  <a16:creationId xmlns:a16="http://schemas.microsoft.com/office/drawing/2014/main" id="{9C012B85-DD5C-474F-A4BF-AAAC0FDFB7D8}"/>
                </a:ext>
              </a:extLst>
            </p:cNvPr>
            <p:cNvCxnSpPr>
              <a:cxnSpLocks/>
              <a:stCxn id="379" idx="5"/>
              <a:endCxn id="365" idx="2"/>
            </p:cNvCxnSpPr>
            <p:nvPr/>
          </p:nvCxnSpPr>
          <p:spPr>
            <a:xfrm flipH="1" flipV="1">
              <a:off x="-2511670" y="11213313"/>
              <a:ext cx="508176" cy="26760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09" name="Straight Arrow Connector 308">
              <a:extLst>
                <a:ext uri="{FF2B5EF4-FFF2-40B4-BE49-F238E27FC236}">
                  <a16:creationId xmlns:a16="http://schemas.microsoft.com/office/drawing/2014/main" id="{76824898-8EF3-4525-B7DC-817DF7F3AAF8}"/>
                </a:ext>
              </a:extLst>
            </p:cNvPr>
            <p:cNvCxnSpPr>
              <a:cxnSpLocks/>
            </p:cNvCxnSpPr>
            <p:nvPr/>
          </p:nvCxnSpPr>
          <p:spPr>
            <a:xfrm>
              <a:off x="169054" y="10541390"/>
              <a:ext cx="246205" cy="28948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0" name="Straight Arrow Connector 309">
              <a:extLst>
                <a:ext uri="{FF2B5EF4-FFF2-40B4-BE49-F238E27FC236}">
                  <a16:creationId xmlns:a16="http://schemas.microsoft.com/office/drawing/2014/main" id="{9D7DC756-21DD-4BEA-B4A5-688A039FF713}"/>
                </a:ext>
              </a:extLst>
            </p:cNvPr>
            <p:cNvCxnSpPr>
              <a:cxnSpLocks/>
              <a:endCxn id="388" idx="5"/>
            </p:cNvCxnSpPr>
            <p:nvPr/>
          </p:nvCxnSpPr>
          <p:spPr>
            <a:xfrm>
              <a:off x="-392230" y="7539928"/>
              <a:ext cx="487112" cy="35354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EDE9D5F8-2007-45F3-8507-E1F016E56B63}"/>
                </a:ext>
              </a:extLst>
            </p:cNvPr>
            <p:cNvCxnSpPr>
              <a:cxnSpLocks/>
              <a:stCxn id="377" idx="2"/>
              <a:endCxn id="349" idx="6"/>
            </p:cNvCxnSpPr>
            <p:nvPr/>
          </p:nvCxnSpPr>
          <p:spPr>
            <a:xfrm>
              <a:off x="-1321602" y="6987837"/>
              <a:ext cx="927384" cy="9978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2" name="Straight Arrow Connector 311">
              <a:extLst>
                <a:ext uri="{FF2B5EF4-FFF2-40B4-BE49-F238E27FC236}">
                  <a16:creationId xmlns:a16="http://schemas.microsoft.com/office/drawing/2014/main" id="{F860501F-C6C3-4692-B9CB-3FA1ABC75BAD}"/>
                </a:ext>
              </a:extLst>
            </p:cNvPr>
            <p:cNvCxnSpPr>
              <a:cxnSpLocks/>
              <a:endCxn id="377" idx="6"/>
            </p:cNvCxnSpPr>
            <p:nvPr/>
          </p:nvCxnSpPr>
          <p:spPr>
            <a:xfrm flipV="1">
              <a:off x="-1911561" y="6987837"/>
              <a:ext cx="745407" cy="6655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3" name="Straight Arrow Connector 312">
              <a:extLst>
                <a:ext uri="{FF2B5EF4-FFF2-40B4-BE49-F238E27FC236}">
                  <a16:creationId xmlns:a16="http://schemas.microsoft.com/office/drawing/2014/main" id="{523FC909-717E-4A9E-8A4D-BAD624B94039}"/>
                </a:ext>
              </a:extLst>
            </p:cNvPr>
            <p:cNvCxnSpPr>
              <a:cxnSpLocks/>
              <a:endCxn id="389" idx="6"/>
            </p:cNvCxnSpPr>
            <p:nvPr/>
          </p:nvCxnSpPr>
          <p:spPr>
            <a:xfrm flipV="1">
              <a:off x="-600972" y="7247179"/>
              <a:ext cx="630185" cy="5147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732EDBF6-5CAB-4CEA-A448-F0458F41D4D6}"/>
                </a:ext>
              </a:extLst>
            </p:cNvPr>
            <p:cNvCxnSpPr>
              <a:cxnSpLocks/>
              <a:endCxn id="340" idx="5"/>
            </p:cNvCxnSpPr>
            <p:nvPr/>
          </p:nvCxnSpPr>
          <p:spPr>
            <a:xfrm>
              <a:off x="-860429" y="7125894"/>
              <a:ext cx="565105" cy="47791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5" name="Straight Arrow Connector 314">
              <a:extLst>
                <a:ext uri="{FF2B5EF4-FFF2-40B4-BE49-F238E27FC236}">
                  <a16:creationId xmlns:a16="http://schemas.microsoft.com/office/drawing/2014/main" id="{4E6CCA4A-3027-4DCD-BD4E-DE2FADA3746F}"/>
                </a:ext>
              </a:extLst>
            </p:cNvPr>
            <p:cNvCxnSpPr>
              <a:cxnSpLocks/>
              <a:endCxn id="363" idx="3"/>
            </p:cNvCxnSpPr>
            <p:nvPr/>
          </p:nvCxnSpPr>
          <p:spPr>
            <a:xfrm flipH="1">
              <a:off x="-2845907" y="7580704"/>
              <a:ext cx="633536" cy="63463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6" name="Straight Arrow Connector 315">
              <a:extLst>
                <a:ext uri="{FF2B5EF4-FFF2-40B4-BE49-F238E27FC236}">
                  <a16:creationId xmlns:a16="http://schemas.microsoft.com/office/drawing/2014/main" id="{11465B56-08DB-4FBD-B1B1-40C701DDF7DE}"/>
                </a:ext>
              </a:extLst>
            </p:cNvPr>
            <p:cNvCxnSpPr>
              <a:cxnSpLocks/>
              <a:stCxn id="348" idx="4"/>
              <a:endCxn id="344" idx="0"/>
            </p:cNvCxnSpPr>
            <p:nvPr/>
          </p:nvCxnSpPr>
          <p:spPr>
            <a:xfrm flipV="1">
              <a:off x="-3106705" y="8285431"/>
              <a:ext cx="84332" cy="120033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6BD98B6F-A212-48EF-9705-ACA68B620966}"/>
                </a:ext>
              </a:extLst>
            </p:cNvPr>
            <p:cNvCxnSpPr>
              <a:cxnSpLocks/>
              <a:endCxn id="389" idx="6"/>
            </p:cNvCxnSpPr>
            <p:nvPr/>
          </p:nvCxnSpPr>
          <p:spPr>
            <a:xfrm>
              <a:off x="-455528" y="7072644"/>
              <a:ext cx="484741" cy="174535"/>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8" name="Straight Arrow Connector 317">
              <a:extLst>
                <a:ext uri="{FF2B5EF4-FFF2-40B4-BE49-F238E27FC236}">
                  <a16:creationId xmlns:a16="http://schemas.microsoft.com/office/drawing/2014/main" id="{F680724F-49B1-4926-9ED7-432C19ED83D3}"/>
                </a:ext>
              </a:extLst>
            </p:cNvPr>
            <p:cNvCxnSpPr>
              <a:cxnSpLocks/>
              <a:endCxn id="360" idx="5"/>
            </p:cNvCxnSpPr>
            <p:nvPr/>
          </p:nvCxnSpPr>
          <p:spPr>
            <a:xfrm>
              <a:off x="475013" y="8472763"/>
              <a:ext cx="478096" cy="43010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19" name="Straight Arrow Connector 318">
              <a:extLst>
                <a:ext uri="{FF2B5EF4-FFF2-40B4-BE49-F238E27FC236}">
                  <a16:creationId xmlns:a16="http://schemas.microsoft.com/office/drawing/2014/main" id="{2896F378-9DFA-4535-B192-1CF4FCD1114E}"/>
                </a:ext>
              </a:extLst>
            </p:cNvPr>
            <p:cNvCxnSpPr>
              <a:cxnSpLocks/>
              <a:stCxn id="347" idx="0"/>
              <a:endCxn id="342" idx="4"/>
            </p:cNvCxnSpPr>
            <p:nvPr/>
          </p:nvCxnSpPr>
          <p:spPr>
            <a:xfrm>
              <a:off x="919405" y="8313952"/>
              <a:ext cx="144413" cy="946591"/>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20D240F4-72AD-487E-88FD-85196FA6D237}"/>
                </a:ext>
              </a:extLst>
            </p:cNvPr>
            <p:cNvCxnSpPr>
              <a:cxnSpLocks/>
              <a:stCxn id="367" idx="0"/>
              <a:endCxn id="353" idx="4"/>
            </p:cNvCxnSpPr>
            <p:nvPr/>
          </p:nvCxnSpPr>
          <p:spPr>
            <a:xfrm>
              <a:off x="475013" y="8377960"/>
              <a:ext cx="119082" cy="500879"/>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1" name="Straight Arrow Connector 320">
              <a:extLst>
                <a:ext uri="{FF2B5EF4-FFF2-40B4-BE49-F238E27FC236}">
                  <a16:creationId xmlns:a16="http://schemas.microsoft.com/office/drawing/2014/main" id="{EEA62E4C-D78D-4262-9DA2-648FC1B7098D}"/>
                </a:ext>
              </a:extLst>
            </p:cNvPr>
            <p:cNvCxnSpPr>
              <a:cxnSpLocks/>
              <a:endCxn id="347" idx="5"/>
            </p:cNvCxnSpPr>
            <p:nvPr/>
          </p:nvCxnSpPr>
          <p:spPr>
            <a:xfrm>
              <a:off x="709720" y="8082651"/>
              <a:ext cx="264644" cy="36398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B2812889-5E38-4879-9368-74575B30950D}"/>
                </a:ext>
              </a:extLst>
            </p:cNvPr>
            <p:cNvCxnSpPr>
              <a:cxnSpLocks/>
              <a:endCxn id="404" idx="4"/>
            </p:cNvCxnSpPr>
            <p:nvPr/>
          </p:nvCxnSpPr>
          <p:spPr>
            <a:xfrm flipH="1">
              <a:off x="1049895" y="9180677"/>
              <a:ext cx="10706" cy="50194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991DD59F-96B8-494F-9231-2926A3D7978F}"/>
                </a:ext>
              </a:extLst>
            </p:cNvPr>
            <p:cNvCxnSpPr>
              <a:cxnSpLocks/>
              <a:endCxn id="375" idx="6"/>
            </p:cNvCxnSpPr>
            <p:nvPr/>
          </p:nvCxnSpPr>
          <p:spPr>
            <a:xfrm>
              <a:off x="-2120027" y="10922422"/>
              <a:ext cx="745102" cy="32367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a:extLst>
                <a:ext uri="{FF2B5EF4-FFF2-40B4-BE49-F238E27FC236}">
                  <a16:creationId xmlns:a16="http://schemas.microsoft.com/office/drawing/2014/main" id="{5A72ACC1-FCC2-4184-884B-861C9CC946BF}"/>
                </a:ext>
              </a:extLst>
            </p:cNvPr>
            <p:cNvCxnSpPr>
              <a:cxnSpLocks/>
              <a:stCxn id="375" idx="0"/>
              <a:endCxn id="346" idx="4"/>
            </p:cNvCxnSpPr>
            <p:nvPr/>
          </p:nvCxnSpPr>
          <p:spPr>
            <a:xfrm>
              <a:off x="-1452649" y="11168374"/>
              <a:ext cx="106048" cy="436303"/>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5F21D086-0613-479C-A976-6857A6668B0C}"/>
                </a:ext>
              </a:extLst>
            </p:cNvPr>
            <p:cNvCxnSpPr>
              <a:cxnSpLocks/>
              <a:stCxn id="397" idx="2"/>
              <a:endCxn id="380" idx="7"/>
            </p:cNvCxnSpPr>
            <p:nvPr/>
          </p:nvCxnSpPr>
          <p:spPr>
            <a:xfrm flipV="1">
              <a:off x="-795235" y="10749238"/>
              <a:ext cx="762101" cy="35494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2F6877E6-BA0D-4BA4-836C-BC7DAF81BC4A}"/>
                </a:ext>
              </a:extLst>
            </p:cNvPr>
            <p:cNvCxnSpPr>
              <a:cxnSpLocks/>
              <a:endCxn id="394" idx="7"/>
            </p:cNvCxnSpPr>
            <p:nvPr/>
          </p:nvCxnSpPr>
          <p:spPr>
            <a:xfrm flipV="1">
              <a:off x="59424" y="10730694"/>
              <a:ext cx="375499" cy="40101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2BD9DA92-A86B-4AE1-AC6F-2F8FD1F32C0F}"/>
                </a:ext>
              </a:extLst>
            </p:cNvPr>
            <p:cNvCxnSpPr>
              <a:cxnSpLocks/>
              <a:stCxn id="394" idx="4"/>
              <a:endCxn id="406" idx="0"/>
            </p:cNvCxnSpPr>
            <p:nvPr/>
          </p:nvCxnSpPr>
          <p:spPr>
            <a:xfrm flipV="1">
              <a:off x="379964" y="10321011"/>
              <a:ext cx="43840" cy="54236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4021FA2D-2BB9-4867-B559-783CA046CEE3}"/>
                </a:ext>
              </a:extLst>
            </p:cNvPr>
            <p:cNvCxnSpPr>
              <a:cxnSpLocks/>
              <a:endCxn id="368" idx="7"/>
            </p:cNvCxnSpPr>
            <p:nvPr/>
          </p:nvCxnSpPr>
          <p:spPr>
            <a:xfrm flipV="1">
              <a:off x="418679" y="9767235"/>
              <a:ext cx="259633" cy="62929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5F30C63F-992C-45B1-8A05-FE330520DB7C}"/>
                </a:ext>
              </a:extLst>
            </p:cNvPr>
            <p:cNvCxnSpPr>
              <a:cxnSpLocks/>
              <a:endCxn id="355" idx="7"/>
            </p:cNvCxnSpPr>
            <p:nvPr/>
          </p:nvCxnSpPr>
          <p:spPr>
            <a:xfrm flipV="1">
              <a:off x="704193" y="9876923"/>
              <a:ext cx="312924" cy="48283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BE54D157-98CF-4308-8B7E-C6B57049A1F2}"/>
                </a:ext>
              </a:extLst>
            </p:cNvPr>
            <p:cNvCxnSpPr>
              <a:cxnSpLocks/>
              <a:endCxn id="404" idx="7"/>
            </p:cNvCxnSpPr>
            <p:nvPr/>
          </p:nvCxnSpPr>
          <p:spPr>
            <a:xfrm flipV="1">
              <a:off x="941647" y="9549936"/>
              <a:ext cx="163207" cy="43797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576F6ED-CAAD-44A2-B595-794441EC87EC}"/>
                </a:ext>
              </a:extLst>
            </p:cNvPr>
            <p:cNvCxnSpPr>
              <a:cxnSpLocks/>
              <a:stCxn id="360" idx="0"/>
            </p:cNvCxnSpPr>
            <p:nvPr/>
          </p:nvCxnSpPr>
          <p:spPr>
            <a:xfrm flipH="1">
              <a:off x="841682" y="8770189"/>
              <a:ext cx="56468" cy="746873"/>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37BE982D-29C7-4F23-9E29-576149C2D906}"/>
                </a:ext>
              </a:extLst>
            </p:cNvPr>
            <p:cNvCxnSpPr>
              <a:cxnSpLocks/>
              <a:stCxn id="369" idx="2"/>
              <a:endCxn id="342" idx="6"/>
            </p:cNvCxnSpPr>
            <p:nvPr/>
          </p:nvCxnSpPr>
          <p:spPr>
            <a:xfrm flipV="1">
              <a:off x="575659" y="9182819"/>
              <a:ext cx="565883" cy="44811"/>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87963B2A-980B-4CC1-BCCA-B9BDF67A5634}"/>
                </a:ext>
              </a:extLst>
            </p:cNvPr>
            <p:cNvCxnSpPr>
              <a:cxnSpLocks/>
            </p:cNvCxnSpPr>
            <p:nvPr/>
          </p:nvCxnSpPr>
          <p:spPr>
            <a:xfrm flipV="1">
              <a:off x="585184" y="9438661"/>
              <a:ext cx="313098" cy="389638"/>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D32D8CDB-931F-439A-8520-FBAFFD75BB08}"/>
                </a:ext>
              </a:extLst>
            </p:cNvPr>
            <p:cNvCxnSpPr>
              <a:cxnSpLocks/>
              <a:endCxn id="345" idx="7"/>
            </p:cNvCxnSpPr>
            <p:nvPr/>
          </p:nvCxnSpPr>
          <p:spPr>
            <a:xfrm flipV="1">
              <a:off x="-3343287" y="9935780"/>
              <a:ext cx="407631" cy="253966"/>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1C24AFFD-6C30-453A-81F4-8BB92F1C76FD}"/>
                </a:ext>
              </a:extLst>
            </p:cNvPr>
            <p:cNvCxnSpPr>
              <a:cxnSpLocks/>
              <a:stCxn id="400" idx="2"/>
              <a:endCxn id="348" idx="6"/>
            </p:cNvCxnSpPr>
            <p:nvPr/>
          </p:nvCxnSpPr>
          <p:spPr>
            <a:xfrm>
              <a:off x="-3517577" y="9242400"/>
              <a:ext cx="488596" cy="16564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7DF119C4-CE72-4CFF-8B37-8427CA4F29CD}"/>
                </a:ext>
              </a:extLst>
            </p:cNvPr>
            <p:cNvCxnSpPr>
              <a:cxnSpLocks/>
              <a:endCxn id="392" idx="6"/>
            </p:cNvCxnSpPr>
            <p:nvPr/>
          </p:nvCxnSpPr>
          <p:spPr>
            <a:xfrm>
              <a:off x="33746" y="7832350"/>
              <a:ext cx="446024" cy="24317"/>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37" name="Oval 336">
              <a:extLst>
                <a:ext uri="{FF2B5EF4-FFF2-40B4-BE49-F238E27FC236}">
                  <a16:creationId xmlns:a16="http://schemas.microsoft.com/office/drawing/2014/main" id="{E05C79FA-E025-49DB-8E99-4E06770ED69C}"/>
                </a:ext>
              </a:extLst>
            </p:cNvPr>
            <p:cNvSpPr/>
            <p:nvPr/>
          </p:nvSpPr>
          <p:spPr bwMode="auto">
            <a:xfrm>
              <a:off x="-937182" y="7038129"/>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38" name="Oval 337">
              <a:extLst>
                <a:ext uri="{FF2B5EF4-FFF2-40B4-BE49-F238E27FC236}">
                  <a16:creationId xmlns:a16="http://schemas.microsoft.com/office/drawing/2014/main" id="{DC001EB7-6F8D-43D7-A495-7281A7FBDF5E}"/>
                </a:ext>
              </a:extLst>
            </p:cNvPr>
            <p:cNvSpPr/>
            <p:nvPr/>
          </p:nvSpPr>
          <p:spPr bwMode="auto">
            <a:xfrm>
              <a:off x="-1962232" y="6978595"/>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39" name="Oval 338">
              <a:extLst>
                <a:ext uri="{FF2B5EF4-FFF2-40B4-BE49-F238E27FC236}">
                  <a16:creationId xmlns:a16="http://schemas.microsoft.com/office/drawing/2014/main" id="{E2217959-3BE4-4336-9590-B2805541173A}"/>
                </a:ext>
              </a:extLst>
            </p:cNvPr>
            <p:cNvSpPr/>
            <p:nvPr/>
          </p:nvSpPr>
          <p:spPr bwMode="auto">
            <a:xfrm>
              <a:off x="-1232437" y="7283956"/>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0" name="Oval 339">
              <a:extLst>
                <a:ext uri="{FF2B5EF4-FFF2-40B4-BE49-F238E27FC236}">
                  <a16:creationId xmlns:a16="http://schemas.microsoft.com/office/drawing/2014/main" id="{C72CC079-8936-4F4C-BEA2-7C6C6CF6F05F}"/>
                </a:ext>
              </a:extLst>
            </p:cNvPr>
            <p:cNvSpPr/>
            <p:nvPr/>
          </p:nvSpPr>
          <p:spPr bwMode="auto">
            <a:xfrm>
              <a:off x="-428007" y="747112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1" name="Oval 340">
              <a:extLst>
                <a:ext uri="{FF2B5EF4-FFF2-40B4-BE49-F238E27FC236}">
                  <a16:creationId xmlns:a16="http://schemas.microsoft.com/office/drawing/2014/main" id="{98BD838A-E55E-4589-B759-6ED4327DCFBA}"/>
                </a:ext>
              </a:extLst>
            </p:cNvPr>
            <p:cNvSpPr/>
            <p:nvPr/>
          </p:nvSpPr>
          <p:spPr bwMode="auto">
            <a:xfrm>
              <a:off x="-2626146" y="7295165"/>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2" name="Oval 341">
              <a:extLst>
                <a:ext uri="{FF2B5EF4-FFF2-40B4-BE49-F238E27FC236}">
                  <a16:creationId xmlns:a16="http://schemas.microsoft.com/office/drawing/2014/main" id="{AA3F5161-7005-433B-BE45-F929CB688418}"/>
                </a:ext>
              </a:extLst>
            </p:cNvPr>
            <p:cNvSpPr/>
            <p:nvPr/>
          </p:nvSpPr>
          <p:spPr bwMode="auto">
            <a:xfrm>
              <a:off x="986094" y="9105095"/>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3" name="Oval 342">
              <a:extLst>
                <a:ext uri="{FF2B5EF4-FFF2-40B4-BE49-F238E27FC236}">
                  <a16:creationId xmlns:a16="http://schemas.microsoft.com/office/drawing/2014/main" id="{415A9C5B-3E4E-43F7-AB7F-FA32546DC702}"/>
                </a:ext>
              </a:extLst>
            </p:cNvPr>
            <p:cNvSpPr/>
            <p:nvPr/>
          </p:nvSpPr>
          <p:spPr bwMode="auto">
            <a:xfrm>
              <a:off x="-3231676" y="10498173"/>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4" name="Oval 343">
              <a:extLst>
                <a:ext uri="{FF2B5EF4-FFF2-40B4-BE49-F238E27FC236}">
                  <a16:creationId xmlns:a16="http://schemas.microsoft.com/office/drawing/2014/main" id="{134EFFCA-04EA-4AA7-A2AB-28FE0D16FA66}"/>
                </a:ext>
              </a:extLst>
            </p:cNvPr>
            <p:cNvSpPr/>
            <p:nvPr/>
          </p:nvSpPr>
          <p:spPr bwMode="auto">
            <a:xfrm>
              <a:off x="-3100097" y="828543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5" name="Oval 344">
              <a:extLst>
                <a:ext uri="{FF2B5EF4-FFF2-40B4-BE49-F238E27FC236}">
                  <a16:creationId xmlns:a16="http://schemas.microsoft.com/office/drawing/2014/main" id="{13E110E0-A695-4FBA-8B82-5B8A6B03F428}"/>
                </a:ext>
              </a:extLst>
            </p:cNvPr>
            <p:cNvSpPr/>
            <p:nvPr/>
          </p:nvSpPr>
          <p:spPr bwMode="auto">
            <a:xfrm>
              <a:off x="-3068339" y="9913015"/>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6" name="Oval 345">
              <a:extLst>
                <a:ext uri="{FF2B5EF4-FFF2-40B4-BE49-F238E27FC236}">
                  <a16:creationId xmlns:a16="http://schemas.microsoft.com/office/drawing/2014/main" id="{7567421C-868C-46DA-BDD9-4F0D2B011BE6}"/>
                </a:ext>
              </a:extLst>
            </p:cNvPr>
            <p:cNvSpPr/>
            <p:nvPr/>
          </p:nvSpPr>
          <p:spPr bwMode="auto">
            <a:xfrm>
              <a:off x="-1424325" y="11449229"/>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7" name="Oval 346">
              <a:extLst>
                <a:ext uri="{FF2B5EF4-FFF2-40B4-BE49-F238E27FC236}">
                  <a16:creationId xmlns:a16="http://schemas.microsoft.com/office/drawing/2014/main" id="{7EB4FB73-CCBF-4C53-9DC1-D69E68E159A1}"/>
                </a:ext>
              </a:extLst>
            </p:cNvPr>
            <p:cNvSpPr/>
            <p:nvPr/>
          </p:nvSpPr>
          <p:spPr bwMode="auto">
            <a:xfrm>
              <a:off x="841681" y="8313952"/>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8" name="Oval 347">
              <a:extLst>
                <a:ext uri="{FF2B5EF4-FFF2-40B4-BE49-F238E27FC236}">
                  <a16:creationId xmlns:a16="http://schemas.microsoft.com/office/drawing/2014/main" id="{D2C5EA41-D765-4050-AACF-30B01C45FCB6}"/>
                </a:ext>
              </a:extLst>
            </p:cNvPr>
            <p:cNvSpPr/>
            <p:nvPr/>
          </p:nvSpPr>
          <p:spPr bwMode="auto">
            <a:xfrm>
              <a:off x="-3184429" y="9330322"/>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49" name="Oval 348">
              <a:extLst>
                <a:ext uri="{FF2B5EF4-FFF2-40B4-BE49-F238E27FC236}">
                  <a16:creationId xmlns:a16="http://schemas.microsoft.com/office/drawing/2014/main" id="{84D0BD30-184B-4641-909B-78DEDDE063CD}"/>
                </a:ext>
              </a:extLst>
            </p:cNvPr>
            <p:cNvSpPr/>
            <p:nvPr/>
          </p:nvSpPr>
          <p:spPr bwMode="auto">
            <a:xfrm>
              <a:off x="-549666" y="7009893"/>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0" name="Oval 349">
              <a:extLst>
                <a:ext uri="{FF2B5EF4-FFF2-40B4-BE49-F238E27FC236}">
                  <a16:creationId xmlns:a16="http://schemas.microsoft.com/office/drawing/2014/main" id="{1E94F9B4-7230-431F-9D55-F54E1B224F03}"/>
                </a:ext>
              </a:extLst>
            </p:cNvPr>
            <p:cNvSpPr/>
            <p:nvPr/>
          </p:nvSpPr>
          <p:spPr bwMode="auto">
            <a:xfrm>
              <a:off x="-2128808" y="10865307"/>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1" name="Oval 350">
              <a:extLst>
                <a:ext uri="{FF2B5EF4-FFF2-40B4-BE49-F238E27FC236}">
                  <a16:creationId xmlns:a16="http://schemas.microsoft.com/office/drawing/2014/main" id="{837D56E5-5033-4A03-942A-6CAD0620360A}"/>
                </a:ext>
              </a:extLst>
            </p:cNvPr>
            <p:cNvSpPr/>
            <p:nvPr/>
          </p:nvSpPr>
          <p:spPr bwMode="auto">
            <a:xfrm>
              <a:off x="-2595922" y="10597735"/>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2" name="Oval 351">
              <a:extLst>
                <a:ext uri="{FF2B5EF4-FFF2-40B4-BE49-F238E27FC236}">
                  <a16:creationId xmlns:a16="http://schemas.microsoft.com/office/drawing/2014/main" id="{6C4460AF-4BB8-4E39-9A5D-10C6F3EBE33C}"/>
                </a:ext>
              </a:extLst>
            </p:cNvPr>
            <p:cNvSpPr/>
            <p:nvPr/>
          </p:nvSpPr>
          <p:spPr bwMode="auto">
            <a:xfrm>
              <a:off x="-3562009" y="8710880"/>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3" name="Oval 352">
              <a:extLst>
                <a:ext uri="{FF2B5EF4-FFF2-40B4-BE49-F238E27FC236}">
                  <a16:creationId xmlns:a16="http://schemas.microsoft.com/office/drawing/2014/main" id="{5FE9681B-E9AC-4A55-8A74-F940D5BCA594}"/>
                </a:ext>
              </a:extLst>
            </p:cNvPr>
            <p:cNvSpPr/>
            <p:nvPr/>
          </p:nvSpPr>
          <p:spPr bwMode="auto">
            <a:xfrm>
              <a:off x="516371" y="872339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4" name="Oval 353">
              <a:extLst>
                <a:ext uri="{FF2B5EF4-FFF2-40B4-BE49-F238E27FC236}">
                  <a16:creationId xmlns:a16="http://schemas.microsoft.com/office/drawing/2014/main" id="{09920080-4F8A-43A7-AE64-9A2EA121B3D9}"/>
                </a:ext>
              </a:extLst>
            </p:cNvPr>
            <p:cNvSpPr/>
            <p:nvPr/>
          </p:nvSpPr>
          <p:spPr bwMode="auto">
            <a:xfrm>
              <a:off x="1781" y="11045397"/>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5" name="Oval 354">
              <a:extLst>
                <a:ext uri="{FF2B5EF4-FFF2-40B4-BE49-F238E27FC236}">
                  <a16:creationId xmlns:a16="http://schemas.microsoft.com/office/drawing/2014/main" id="{8F048D8A-BA61-46A7-B70E-28DA87120533}"/>
                </a:ext>
              </a:extLst>
            </p:cNvPr>
            <p:cNvSpPr/>
            <p:nvPr/>
          </p:nvSpPr>
          <p:spPr bwMode="auto">
            <a:xfrm>
              <a:off x="884434" y="985415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6" name="Oval 355">
              <a:extLst>
                <a:ext uri="{FF2B5EF4-FFF2-40B4-BE49-F238E27FC236}">
                  <a16:creationId xmlns:a16="http://schemas.microsoft.com/office/drawing/2014/main" id="{E1F7A421-67DF-499D-A509-4110A5F1BAE2}"/>
                </a:ext>
              </a:extLst>
            </p:cNvPr>
            <p:cNvSpPr/>
            <p:nvPr/>
          </p:nvSpPr>
          <p:spPr bwMode="auto">
            <a:xfrm>
              <a:off x="245899" y="7535129"/>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7" name="Oval 356">
              <a:extLst>
                <a:ext uri="{FF2B5EF4-FFF2-40B4-BE49-F238E27FC236}">
                  <a16:creationId xmlns:a16="http://schemas.microsoft.com/office/drawing/2014/main" id="{94E64AF1-4C13-4402-92EE-4520013393F4}"/>
                </a:ext>
              </a:extLst>
            </p:cNvPr>
            <p:cNvSpPr/>
            <p:nvPr/>
          </p:nvSpPr>
          <p:spPr bwMode="auto">
            <a:xfrm>
              <a:off x="-3216121" y="857704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8" name="Oval 357">
              <a:extLst>
                <a:ext uri="{FF2B5EF4-FFF2-40B4-BE49-F238E27FC236}">
                  <a16:creationId xmlns:a16="http://schemas.microsoft.com/office/drawing/2014/main" id="{25377D7F-2221-4490-8ADB-ADD34D272F78}"/>
                </a:ext>
              </a:extLst>
            </p:cNvPr>
            <p:cNvSpPr/>
            <p:nvPr/>
          </p:nvSpPr>
          <p:spPr bwMode="auto">
            <a:xfrm>
              <a:off x="-1613694" y="7046386"/>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59" name="Oval 358">
              <a:extLst>
                <a:ext uri="{FF2B5EF4-FFF2-40B4-BE49-F238E27FC236}">
                  <a16:creationId xmlns:a16="http://schemas.microsoft.com/office/drawing/2014/main" id="{928A318C-DCE5-4A6A-A6D5-606C3D1E5442}"/>
                </a:ext>
              </a:extLst>
            </p:cNvPr>
            <p:cNvSpPr/>
            <p:nvPr/>
          </p:nvSpPr>
          <p:spPr bwMode="auto">
            <a:xfrm>
              <a:off x="-1900677" y="11187646"/>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0" name="Oval 359">
              <a:extLst>
                <a:ext uri="{FF2B5EF4-FFF2-40B4-BE49-F238E27FC236}">
                  <a16:creationId xmlns:a16="http://schemas.microsoft.com/office/drawing/2014/main" id="{FF88EBA7-B1C9-4FD2-9933-35A385868F41}"/>
                </a:ext>
              </a:extLst>
            </p:cNvPr>
            <p:cNvSpPr/>
            <p:nvPr/>
          </p:nvSpPr>
          <p:spPr bwMode="auto">
            <a:xfrm>
              <a:off x="820426" y="8770189"/>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1" name="Oval 360">
              <a:extLst>
                <a:ext uri="{FF2B5EF4-FFF2-40B4-BE49-F238E27FC236}">
                  <a16:creationId xmlns:a16="http://schemas.microsoft.com/office/drawing/2014/main" id="{652E0407-30E4-410C-AE45-E9AC184F0D55}"/>
                </a:ext>
              </a:extLst>
            </p:cNvPr>
            <p:cNvSpPr/>
            <p:nvPr/>
          </p:nvSpPr>
          <p:spPr bwMode="auto">
            <a:xfrm>
              <a:off x="-3295684" y="9676595"/>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2" name="Oval 361">
              <a:extLst>
                <a:ext uri="{FF2B5EF4-FFF2-40B4-BE49-F238E27FC236}">
                  <a16:creationId xmlns:a16="http://schemas.microsoft.com/office/drawing/2014/main" id="{1B3895CE-8B4D-4BEA-A7D8-A0D5A0AD516A}"/>
                </a:ext>
              </a:extLst>
            </p:cNvPr>
            <p:cNvSpPr/>
            <p:nvPr/>
          </p:nvSpPr>
          <p:spPr bwMode="auto">
            <a:xfrm>
              <a:off x="-2200185" y="716181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3" name="Oval 362">
              <a:extLst>
                <a:ext uri="{FF2B5EF4-FFF2-40B4-BE49-F238E27FC236}">
                  <a16:creationId xmlns:a16="http://schemas.microsoft.com/office/drawing/2014/main" id="{5E3C7C33-6E20-4C1E-81A0-5CD11CC4691D}"/>
                </a:ext>
              </a:extLst>
            </p:cNvPr>
            <p:cNvSpPr/>
            <p:nvPr/>
          </p:nvSpPr>
          <p:spPr bwMode="auto">
            <a:xfrm>
              <a:off x="-2868672" y="808265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4" name="Oval 363">
              <a:extLst>
                <a:ext uri="{FF2B5EF4-FFF2-40B4-BE49-F238E27FC236}">
                  <a16:creationId xmlns:a16="http://schemas.microsoft.com/office/drawing/2014/main" id="{3919125D-0F3A-430B-8C5B-47A5859B5DFF}"/>
                </a:ext>
              </a:extLst>
            </p:cNvPr>
            <p:cNvSpPr/>
            <p:nvPr/>
          </p:nvSpPr>
          <p:spPr bwMode="auto">
            <a:xfrm>
              <a:off x="-662202" y="7227706"/>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5" name="Oval 364">
              <a:extLst>
                <a:ext uri="{FF2B5EF4-FFF2-40B4-BE49-F238E27FC236}">
                  <a16:creationId xmlns:a16="http://schemas.microsoft.com/office/drawing/2014/main" id="{DD6FCE04-BF6C-4D64-A683-1127AD818573}"/>
                </a:ext>
              </a:extLst>
            </p:cNvPr>
            <p:cNvSpPr/>
            <p:nvPr/>
          </p:nvSpPr>
          <p:spPr bwMode="auto">
            <a:xfrm>
              <a:off x="-2511670" y="11135589"/>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6" name="Oval 365">
              <a:extLst>
                <a:ext uri="{FF2B5EF4-FFF2-40B4-BE49-F238E27FC236}">
                  <a16:creationId xmlns:a16="http://schemas.microsoft.com/office/drawing/2014/main" id="{90AD0E04-DE32-42D7-B8A9-F9746977F33B}"/>
                </a:ext>
              </a:extLst>
            </p:cNvPr>
            <p:cNvSpPr/>
            <p:nvPr/>
          </p:nvSpPr>
          <p:spPr bwMode="auto">
            <a:xfrm>
              <a:off x="-2940323" y="10612957"/>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7" name="Oval 366">
              <a:extLst>
                <a:ext uri="{FF2B5EF4-FFF2-40B4-BE49-F238E27FC236}">
                  <a16:creationId xmlns:a16="http://schemas.microsoft.com/office/drawing/2014/main" id="{78043EB2-2E0F-4F02-932C-C3CC14D61885}"/>
                </a:ext>
              </a:extLst>
            </p:cNvPr>
            <p:cNvSpPr/>
            <p:nvPr/>
          </p:nvSpPr>
          <p:spPr bwMode="auto">
            <a:xfrm>
              <a:off x="397289" y="8377960"/>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8" name="Oval 367">
              <a:extLst>
                <a:ext uri="{FF2B5EF4-FFF2-40B4-BE49-F238E27FC236}">
                  <a16:creationId xmlns:a16="http://schemas.microsoft.com/office/drawing/2014/main" id="{1C64FE77-4990-4BCF-9E77-FD415FFB237D}"/>
                </a:ext>
              </a:extLst>
            </p:cNvPr>
            <p:cNvSpPr/>
            <p:nvPr/>
          </p:nvSpPr>
          <p:spPr bwMode="auto">
            <a:xfrm>
              <a:off x="545629" y="9744470"/>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69" name="Oval 368">
              <a:extLst>
                <a:ext uri="{FF2B5EF4-FFF2-40B4-BE49-F238E27FC236}">
                  <a16:creationId xmlns:a16="http://schemas.microsoft.com/office/drawing/2014/main" id="{F9B6BC07-A673-4913-AA2C-351A32E4EB7E}"/>
                </a:ext>
              </a:extLst>
            </p:cNvPr>
            <p:cNvSpPr/>
            <p:nvPr/>
          </p:nvSpPr>
          <p:spPr bwMode="auto">
            <a:xfrm>
              <a:off x="575659" y="9149906"/>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0" name="Oval 369">
              <a:extLst>
                <a:ext uri="{FF2B5EF4-FFF2-40B4-BE49-F238E27FC236}">
                  <a16:creationId xmlns:a16="http://schemas.microsoft.com/office/drawing/2014/main" id="{FAF3337E-676B-4E66-9E37-31F3CABB13E4}"/>
                </a:ext>
              </a:extLst>
            </p:cNvPr>
            <p:cNvSpPr/>
            <p:nvPr/>
          </p:nvSpPr>
          <p:spPr bwMode="auto">
            <a:xfrm>
              <a:off x="-486066" y="11326327"/>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1" name="Oval 370">
              <a:extLst>
                <a:ext uri="{FF2B5EF4-FFF2-40B4-BE49-F238E27FC236}">
                  <a16:creationId xmlns:a16="http://schemas.microsoft.com/office/drawing/2014/main" id="{8294ED98-EBDE-4CB4-A491-37E15DB0DC00}"/>
                </a:ext>
              </a:extLst>
            </p:cNvPr>
            <p:cNvSpPr/>
            <p:nvPr/>
          </p:nvSpPr>
          <p:spPr bwMode="auto">
            <a:xfrm>
              <a:off x="-3564909" y="9744470"/>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2" name="Oval 371">
              <a:extLst>
                <a:ext uri="{FF2B5EF4-FFF2-40B4-BE49-F238E27FC236}">
                  <a16:creationId xmlns:a16="http://schemas.microsoft.com/office/drawing/2014/main" id="{2544DB0C-FA7D-4243-82FB-D39D64FEA781}"/>
                </a:ext>
              </a:extLst>
            </p:cNvPr>
            <p:cNvSpPr/>
            <p:nvPr/>
          </p:nvSpPr>
          <p:spPr bwMode="auto">
            <a:xfrm>
              <a:off x="-2311021" y="7504664"/>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3" name="Oval 372">
              <a:extLst>
                <a:ext uri="{FF2B5EF4-FFF2-40B4-BE49-F238E27FC236}">
                  <a16:creationId xmlns:a16="http://schemas.microsoft.com/office/drawing/2014/main" id="{AF36C7DC-5E48-4715-B489-6AB07A9B778B}"/>
                </a:ext>
              </a:extLst>
            </p:cNvPr>
            <p:cNvSpPr/>
            <p:nvPr/>
          </p:nvSpPr>
          <p:spPr bwMode="auto">
            <a:xfrm>
              <a:off x="-1855513" y="7305637"/>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4" name="Oval 373">
              <a:extLst>
                <a:ext uri="{FF2B5EF4-FFF2-40B4-BE49-F238E27FC236}">
                  <a16:creationId xmlns:a16="http://schemas.microsoft.com/office/drawing/2014/main" id="{F155162B-5121-4446-9CE0-3B44456B0107}"/>
                </a:ext>
              </a:extLst>
            </p:cNvPr>
            <p:cNvSpPr/>
            <p:nvPr/>
          </p:nvSpPr>
          <p:spPr bwMode="auto">
            <a:xfrm>
              <a:off x="-2679902" y="10852716"/>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5" name="Oval 374">
              <a:extLst>
                <a:ext uri="{FF2B5EF4-FFF2-40B4-BE49-F238E27FC236}">
                  <a16:creationId xmlns:a16="http://schemas.microsoft.com/office/drawing/2014/main" id="{4CCB7823-0F98-4908-912E-A763F40EC411}"/>
                </a:ext>
              </a:extLst>
            </p:cNvPr>
            <p:cNvSpPr/>
            <p:nvPr/>
          </p:nvSpPr>
          <p:spPr bwMode="auto">
            <a:xfrm>
              <a:off x="-1530373" y="11168374"/>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6" name="Oval 375">
              <a:extLst>
                <a:ext uri="{FF2B5EF4-FFF2-40B4-BE49-F238E27FC236}">
                  <a16:creationId xmlns:a16="http://schemas.microsoft.com/office/drawing/2014/main" id="{18020F90-2661-422A-87DF-2904EAB1FA05}"/>
                </a:ext>
              </a:extLst>
            </p:cNvPr>
            <p:cNvSpPr/>
            <p:nvPr/>
          </p:nvSpPr>
          <p:spPr bwMode="auto">
            <a:xfrm>
              <a:off x="-3053484" y="7706029"/>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7" name="Oval 376">
              <a:extLst>
                <a:ext uri="{FF2B5EF4-FFF2-40B4-BE49-F238E27FC236}">
                  <a16:creationId xmlns:a16="http://schemas.microsoft.com/office/drawing/2014/main" id="{86262FD1-5AE2-43F2-9175-A9120F49024C}"/>
                </a:ext>
              </a:extLst>
            </p:cNvPr>
            <p:cNvSpPr/>
            <p:nvPr/>
          </p:nvSpPr>
          <p:spPr bwMode="auto">
            <a:xfrm>
              <a:off x="-1321602" y="6910113"/>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8" name="Oval 377">
              <a:extLst>
                <a:ext uri="{FF2B5EF4-FFF2-40B4-BE49-F238E27FC236}">
                  <a16:creationId xmlns:a16="http://schemas.microsoft.com/office/drawing/2014/main" id="{3ADFD491-A9A4-43E6-85B5-98883417A77B}"/>
                </a:ext>
              </a:extLst>
            </p:cNvPr>
            <p:cNvSpPr/>
            <p:nvPr/>
          </p:nvSpPr>
          <p:spPr bwMode="auto">
            <a:xfrm>
              <a:off x="-165817" y="7475843"/>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79" name="Oval 378">
              <a:extLst>
                <a:ext uri="{FF2B5EF4-FFF2-40B4-BE49-F238E27FC236}">
                  <a16:creationId xmlns:a16="http://schemas.microsoft.com/office/drawing/2014/main" id="{1483ED91-573D-4A35-9BCF-61E89D698EE1}"/>
                </a:ext>
              </a:extLst>
            </p:cNvPr>
            <p:cNvSpPr/>
            <p:nvPr/>
          </p:nvSpPr>
          <p:spPr bwMode="auto">
            <a:xfrm>
              <a:off x="-2136177" y="1134823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80" name="Oval 379">
              <a:extLst>
                <a:ext uri="{FF2B5EF4-FFF2-40B4-BE49-F238E27FC236}">
                  <a16:creationId xmlns:a16="http://schemas.microsoft.com/office/drawing/2014/main" id="{89BA68CA-E439-4E6D-BEB3-BBE6DB379814}"/>
                </a:ext>
              </a:extLst>
            </p:cNvPr>
            <p:cNvSpPr/>
            <p:nvPr/>
          </p:nvSpPr>
          <p:spPr bwMode="auto">
            <a:xfrm>
              <a:off x="-165817" y="10726473"/>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381" name="Straight Arrow Connector 380">
              <a:extLst>
                <a:ext uri="{FF2B5EF4-FFF2-40B4-BE49-F238E27FC236}">
                  <a16:creationId xmlns:a16="http://schemas.microsoft.com/office/drawing/2014/main" id="{BA024EA1-3161-4382-B084-1E808BEE6F14}"/>
                </a:ext>
              </a:extLst>
            </p:cNvPr>
            <p:cNvCxnSpPr>
              <a:cxnSpLocks/>
              <a:stCxn id="385" idx="7"/>
            </p:cNvCxnSpPr>
            <p:nvPr/>
          </p:nvCxnSpPr>
          <p:spPr>
            <a:xfrm flipH="1">
              <a:off x="-3273890" y="7744783"/>
              <a:ext cx="666006" cy="414291"/>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2" name="Straight Arrow Connector 381">
              <a:extLst>
                <a:ext uri="{FF2B5EF4-FFF2-40B4-BE49-F238E27FC236}">
                  <a16:creationId xmlns:a16="http://schemas.microsoft.com/office/drawing/2014/main" id="{F884BC2A-19B8-4773-9DBC-0FC4AC383250}"/>
                </a:ext>
              </a:extLst>
            </p:cNvPr>
            <p:cNvCxnSpPr>
              <a:cxnSpLocks/>
            </p:cNvCxnSpPr>
            <p:nvPr/>
          </p:nvCxnSpPr>
          <p:spPr>
            <a:xfrm>
              <a:off x="-3286919" y="10181384"/>
              <a:ext cx="488596" cy="165646"/>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83" name="Oval 382">
              <a:extLst>
                <a:ext uri="{FF2B5EF4-FFF2-40B4-BE49-F238E27FC236}">
                  <a16:creationId xmlns:a16="http://schemas.microsoft.com/office/drawing/2014/main" id="{A3735F37-65CD-448A-82AB-ACE39B1953E5}"/>
                </a:ext>
              </a:extLst>
            </p:cNvPr>
            <p:cNvSpPr/>
            <p:nvPr/>
          </p:nvSpPr>
          <p:spPr bwMode="auto">
            <a:xfrm>
              <a:off x="-3373408" y="10105639"/>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84" name="Oval 383">
              <a:extLst>
                <a:ext uri="{FF2B5EF4-FFF2-40B4-BE49-F238E27FC236}">
                  <a16:creationId xmlns:a16="http://schemas.microsoft.com/office/drawing/2014/main" id="{2F65C81E-CE75-4756-ABEE-119E7E4CC5FB}"/>
                </a:ext>
              </a:extLst>
            </p:cNvPr>
            <p:cNvSpPr/>
            <p:nvPr/>
          </p:nvSpPr>
          <p:spPr bwMode="auto">
            <a:xfrm>
              <a:off x="-2918405" y="1023817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85" name="Oval 384">
              <a:extLst>
                <a:ext uri="{FF2B5EF4-FFF2-40B4-BE49-F238E27FC236}">
                  <a16:creationId xmlns:a16="http://schemas.microsoft.com/office/drawing/2014/main" id="{BB2F65F4-6831-40D2-AF95-F76919FBDB91}"/>
                </a:ext>
              </a:extLst>
            </p:cNvPr>
            <p:cNvSpPr/>
            <p:nvPr/>
          </p:nvSpPr>
          <p:spPr bwMode="auto">
            <a:xfrm>
              <a:off x="-2740567" y="7722018"/>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86" name="Oval 385">
              <a:extLst>
                <a:ext uri="{FF2B5EF4-FFF2-40B4-BE49-F238E27FC236}">
                  <a16:creationId xmlns:a16="http://schemas.microsoft.com/office/drawing/2014/main" id="{9709694C-18DD-4DFD-9709-97E00D795C00}"/>
                </a:ext>
              </a:extLst>
            </p:cNvPr>
            <p:cNvSpPr/>
            <p:nvPr/>
          </p:nvSpPr>
          <p:spPr bwMode="auto">
            <a:xfrm>
              <a:off x="-3348927" y="8082651"/>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387" name="Straight Arrow Connector 386">
              <a:extLst>
                <a:ext uri="{FF2B5EF4-FFF2-40B4-BE49-F238E27FC236}">
                  <a16:creationId xmlns:a16="http://schemas.microsoft.com/office/drawing/2014/main" id="{DA8602AB-5548-4C9B-8AC5-843374C02034}"/>
                </a:ext>
              </a:extLst>
            </p:cNvPr>
            <p:cNvCxnSpPr>
              <a:cxnSpLocks/>
            </p:cNvCxnSpPr>
            <p:nvPr/>
          </p:nvCxnSpPr>
          <p:spPr>
            <a:xfrm>
              <a:off x="-45742" y="7211182"/>
              <a:ext cx="104715" cy="660610"/>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88" name="Oval 387">
              <a:extLst>
                <a:ext uri="{FF2B5EF4-FFF2-40B4-BE49-F238E27FC236}">
                  <a16:creationId xmlns:a16="http://schemas.microsoft.com/office/drawing/2014/main" id="{F88F8519-CF7F-4930-B350-3AA40461A7BD}"/>
                </a:ext>
              </a:extLst>
            </p:cNvPr>
            <p:cNvSpPr/>
            <p:nvPr/>
          </p:nvSpPr>
          <p:spPr bwMode="auto">
            <a:xfrm>
              <a:off x="-37801" y="7760794"/>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89" name="Oval 388">
              <a:extLst>
                <a:ext uri="{FF2B5EF4-FFF2-40B4-BE49-F238E27FC236}">
                  <a16:creationId xmlns:a16="http://schemas.microsoft.com/office/drawing/2014/main" id="{1CF3EE25-82A1-4ECC-9B55-0A3AEC5336AF}"/>
                </a:ext>
              </a:extLst>
            </p:cNvPr>
            <p:cNvSpPr/>
            <p:nvPr/>
          </p:nvSpPr>
          <p:spPr bwMode="auto">
            <a:xfrm>
              <a:off x="-126235" y="7169455"/>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390" name="Straight Arrow Connector 389">
              <a:extLst>
                <a:ext uri="{FF2B5EF4-FFF2-40B4-BE49-F238E27FC236}">
                  <a16:creationId xmlns:a16="http://schemas.microsoft.com/office/drawing/2014/main" id="{FA507CCB-0590-4E40-A328-26888E57F09B}"/>
                </a:ext>
              </a:extLst>
            </p:cNvPr>
            <p:cNvCxnSpPr>
              <a:cxnSpLocks/>
            </p:cNvCxnSpPr>
            <p:nvPr/>
          </p:nvCxnSpPr>
          <p:spPr>
            <a:xfrm>
              <a:off x="387027" y="7827597"/>
              <a:ext cx="376546" cy="32383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91" name="Oval 390">
              <a:extLst>
                <a:ext uri="{FF2B5EF4-FFF2-40B4-BE49-F238E27FC236}">
                  <a16:creationId xmlns:a16="http://schemas.microsoft.com/office/drawing/2014/main" id="{79B8C7AB-C40F-41FB-8E5D-FD9538C7E8A9}"/>
                </a:ext>
              </a:extLst>
            </p:cNvPr>
            <p:cNvSpPr/>
            <p:nvPr/>
          </p:nvSpPr>
          <p:spPr bwMode="auto">
            <a:xfrm>
              <a:off x="643590" y="8018752"/>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92" name="Oval 391">
              <a:extLst>
                <a:ext uri="{FF2B5EF4-FFF2-40B4-BE49-F238E27FC236}">
                  <a16:creationId xmlns:a16="http://schemas.microsoft.com/office/drawing/2014/main" id="{1FE4B898-B84F-4816-8AC0-91B54EA76600}"/>
                </a:ext>
              </a:extLst>
            </p:cNvPr>
            <p:cNvSpPr/>
            <p:nvPr/>
          </p:nvSpPr>
          <p:spPr bwMode="auto">
            <a:xfrm>
              <a:off x="324322" y="7778943"/>
              <a:ext cx="155448" cy="155448"/>
            </a:xfrm>
            <a:prstGeom prst="ellipse">
              <a:avLst/>
            </a:prstGeom>
            <a:solidFill>
              <a:schemeClr val="tx1"/>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393" name="Straight Arrow Connector 392">
              <a:extLst>
                <a:ext uri="{FF2B5EF4-FFF2-40B4-BE49-F238E27FC236}">
                  <a16:creationId xmlns:a16="http://schemas.microsoft.com/office/drawing/2014/main" id="{6B3734C2-BA28-432A-B7A7-AC61A2B42D85}"/>
                </a:ext>
              </a:extLst>
            </p:cNvPr>
            <p:cNvCxnSpPr>
              <a:cxnSpLocks/>
            </p:cNvCxnSpPr>
            <p:nvPr/>
          </p:nvCxnSpPr>
          <p:spPr>
            <a:xfrm flipV="1">
              <a:off x="-332443" y="10772953"/>
              <a:ext cx="783781" cy="246508"/>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94" name="Oval 393">
              <a:extLst>
                <a:ext uri="{FF2B5EF4-FFF2-40B4-BE49-F238E27FC236}">
                  <a16:creationId xmlns:a16="http://schemas.microsoft.com/office/drawing/2014/main" id="{580008B1-B9B6-4703-9811-E4340367F2CD}"/>
                </a:ext>
              </a:extLst>
            </p:cNvPr>
            <p:cNvSpPr/>
            <p:nvPr/>
          </p:nvSpPr>
          <p:spPr bwMode="auto">
            <a:xfrm>
              <a:off x="302240" y="10707929"/>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95" name="Oval 394">
              <a:extLst>
                <a:ext uri="{FF2B5EF4-FFF2-40B4-BE49-F238E27FC236}">
                  <a16:creationId xmlns:a16="http://schemas.microsoft.com/office/drawing/2014/main" id="{F59889F3-FF04-475A-8C44-66AEF4CB1B25}"/>
                </a:ext>
              </a:extLst>
            </p:cNvPr>
            <p:cNvSpPr/>
            <p:nvPr/>
          </p:nvSpPr>
          <p:spPr bwMode="auto">
            <a:xfrm>
              <a:off x="-385890" y="1092372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396" name="Straight Arrow Connector 395">
              <a:extLst>
                <a:ext uri="{FF2B5EF4-FFF2-40B4-BE49-F238E27FC236}">
                  <a16:creationId xmlns:a16="http://schemas.microsoft.com/office/drawing/2014/main" id="{0DECCB5C-6AEB-43E3-BF1F-ADFE1BC33E7B}"/>
                </a:ext>
              </a:extLst>
            </p:cNvPr>
            <p:cNvCxnSpPr>
              <a:cxnSpLocks/>
              <a:stCxn id="397" idx="7"/>
              <a:endCxn id="398" idx="3"/>
            </p:cNvCxnSpPr>
            <p:nvPr/>
          </p:nvCxnSpPr>
          <p:spPr>
            <a:xfrm flipH="1">
              <a:off x="-1034111" y="11049223"/>
              <a:ext cx="371559" cy="393288"/>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97" name="Oval 396">
              <a:extLst>
                <a:ext uri="{FF2B5EF4-FFF2-40B4-BE49-F238E27FC236}">
                  <a16:creationId xmlns:a16="http://schemas.microsoft.com/office/drawing/2014/main" id="{38FB3DC1-E161-4A6E-BFC1-0929D75E6626}"/>
                </a:ext>
              </a:extLst>
            </p:cNvPr>
            <p:cNvSpPr/>
            <p:nvPr/>
          </p:nvSpPr>
          <p:spPr bwMode="auto">
            <a:xfrm>
              <a:off x="-795235" y="1102645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398" name="Oval 397">
              <a:extLst>
                <a:ext uri="{FF2B5EF4-FFF2-40B4-BE49-F238E27FC236}">
                  <a16:creationId xmlns:a16="http://schemas.microsoft.com/office/drawing/2014/main" id="{12D95A5C-E9C4-4958-BA5D-2AAB47B61EB5}"/>
                </a:ext>
              </a:extLst>
            </p:cNvPr>
            <p:cNvSpPr/>
            <p:nvPr/>
          </p:nvSpPr>
          <p:spPr bwMode="auto">
            <a:xfrm>
              <a:off x="-1056876" y="1130982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399" name="Straight Arrow Connector 398">
              <a:extLst>
                <a:ext uri="{FF2B5EF4-FFF2-40B4-BE49-F238E27FC236}">
                  <a16:creationId xmlns:a16="http://schemas.microsoft.com/office/drawing/2014/main" id="{9A3623B5-DBB7-41A4-A33F-74621123AE00}"/>
                </a:ext>
              </a:extLst>
            </p:cNvPr>
            <p:cNvCxnSpPr>
              <a:cxnSpLocks/>
              <a:endCxn id="401" idx="7"/>
            </p:cNvCxnSpPr>
            <p:nvPr/>
          </p:nvCxnSpPr>
          <p:spPr>
            <a:xfrm flipV="1">
              <a:off x="-3441014" y="8898350"/>
              <a:ext cx="268793" cy="389744"/>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00" name="Oval 399">
              <a:extLst>
                <a:ext uri="{FF2B5EF4-FFF2-40B4-BE49-F238E27FC236}">
                  <a16:creationId xmlns:a16="http://schemas.microsoft.com/office/drawing/2014/main" id="{A3E17C90-1953-4128-A1A4-B1EDC4B170B1}"/>
                </a:ext>
              </a:extLst>
            </p:cNvPr>
            <p:cNvSpPr/>
            <p:nvPr/>
          </p:nvSpPr>
          <p:spPr bwMode="auto">
            <a:xfrm>
              <a:off x="-3517577" y="9164676"/>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01" name="Oval 400">
              <a:extLst>
                <a:ext uri="{FF2B5EF4-FFF2-40B4-BE49-F238E27FC236}">
                  <a16:creationId xmlns:a16="http://schemas.microsoft.com/office/drawing/2014/main" id="{2D0DC2B0-83D8-428B-9B45-D9EA61406AE8}"/>
                </a:ext>
              </a:extLst>
            </p:cNvPr>
            <p:cNvSpPr/>
            <p:nvPr/>
          </p:nvSpPr>
          <p:spPr bwMode="auto">
            <a:xfrm>
              <a:off x="-3304904" y="8875585"/>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402" name="Straight Arrow Connector 401">
              <a:extLst>
                <a:ext uri="{FF2B5EF4-FFF2-40B4-BE49-F238E27FC236}">
                  <a16:creationId xmlns:a16="http://schemas.microsoft.com/office/drawing/2014/main" id="{C2F3D59B-3C12-4D40-B5B4-6D1BF0BB6C2C}"/>
                </a:ext>
              </a:extLst>
            </p:cNvPr>
            <p:cNvCxnSpPr>
              <a:cxnSpLocks/>
              <a:endCxn id="404" idx="5"/>
            </p:cNvCxnSpPr>
            <p:nvPr/>
          </p:nvCxnSpPr>
          <p:spPr>
            <a:xfrm>
              <a:off x="832110" y="9495500"/>
              <a:ext cx="272744" cy="164354"/>
            </a:xfrm>
            <a:prstGeom prst="straightConnector1">
              <a:avLst/>
            </a:prstGeom>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03" name="Oval 402">
              <a:extLst>
                <a:ext uri="{FF2B5EF4-FFF2-40B4-BE49-F238E27FC236}">
                  <a16:creationId xmlns:a16="http://schemas.microsoft.com/office/drawing/2014/main" id="{CFB558DF-BC5A-4F15-A53A-FC1802B310A4}"/>
                </a:ext>
              </a:extLst>
            </p:cNvPr>
            <p:cNvSpPr/>
            <p:nvPr/>
          </p:nvSpPr>
          <p:spPr bwMode="auto">
            <a:xfrm>
              <a:off x="756074" y="9406371"/>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04" name="Oval 403">
              <a:extLst>
                <a:ext uri="{FF2B5EF4-FFF2-40B4-BE49-F238E27FC236}">
                  <a16:creationId xmlns:a16="http://schemas.microsoft.com/office/drawing/2014/main" id="{9173EEE7-4124-4933-901F-12FBEDF1807F}"/>
                </a:ext>
              </a:extLst>
            </p:cNvPr>
            <p:cNvSpPr/>
            <p:nvPr/>
          </p:nvSpPr>
          <p:spPr bwMode="auto">
            <a:xfrm>
              <a:off x="972171" y="9527171"/>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cxnSp>
          <p:nvCxnSpPr>
            <p:cNvPr id="405" name="Straight Arrow Connector 404">
              <a:extLst>
                <a:ext uri="{FF2B5EF4-FFF2-40B4-BE49-F238E27FC236}">
                  <a16:creationId xmlns:a16="http://schemas.microsoft.com/office/drawing/2014/main" id="{E413B8DB-ADAA-4CB1-BAC0-953E3360BFB3}"/>
                </a:ext>
              </a:extLst>
            </p:cNvPr>
            <p:cNvCxnSpPr>
              <a:cxnSpLocks/>
              <a:endCxn id="407" idx="6"/>
            </p:cNvCxnSpPr>
            <p:nvPr/>
          </p:nvCxnSpPr>
          <p:spPr>
            <a:xfrm flipV="1">
              <a:off x="151283" y="10288742"/>
              <a:ext cx="650284" cy="230332"/>
            </a:xfrm>
            <a:prstGeom prst="straightConnector1">
              <a:avLst/>
            </a:prstGeom>
            <a:solidFill>
              <a:schemeClr val="bg1"/>
            </a:solidFill>
            <a:ln w="1905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06" name="Oval 405">
              <a:extLst>
                <a:ext uri="{FF2B5EF4-FFF2-40B4-BE49-F238E27FC236}">
                  <a16:creationId xmlns:a16="http://schemas.microsoft.com/office/drawing/2014/main" id="{6A334027-5A30-43EE-A87F-778EF2A6EAE2}"/>
                </a:ext>
              </a:extLst>
            </p:cNvPr>
            <p:cNvSpPr/>
            <p:nvPr/>
          </p:nvSpPr>
          <p:spPr bwMode="auto">
            <a:xfrm>
              <a:off x="346080" y="10321011"/>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07" name="Oval 406">
              <a:extLst>
                <a:ext uri="{FF2B5EF4-FFF2-40B4-BE49-F238E27FC236}">
                  <a16:creationId xmlns:a16="http://schemas.microsoft.com/office/drawing/2014/main" id="{B35EC6F4-2D6C-412C-8ADA-777B4AE9C5A0}"/>
                </a:ext>
              </a:extLst>
            </p:cNvPr>
            <p:cNvSpPr/>
            <p:nvPr/>
          </p:nvSpPr>
          <p:spPr bwMode="auto">
            <a:xfrm>
              <a:off x="646119" y="10211018"/>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sp>
          <p:nvSpPr>
            <p:cNvPr id="408" name="Oval 407">
              <a:extLst>
                <a:ext uri="{FF2B5EF4-FFF2-40B4-BE49-F238E27FC236}">
                  <a16:creationId xmlns:a16="http://schemas.microsoft.com/office/drawing/2014/main" id="{FEC5EF67-A4F1-44ED-A12D-5882F7F7595A}"/>
                </a:ext>
              </a:extLst>
            </p:cNvPr>
            <p:cNvSpPr/>
            <p:nvPr/>
          </p:nvSpPr>
          <p:spPr bwMode="auto">
            <a:xfrm>
              <a:off x="99587" y="10448026"/>
              <a:ext cx="155448" cy="155448"/>
            </a:xfrm>
            <a:prstGeom prst="ellipse">
              <a:avLst/>
            </a:prstGeom>
            <a:solidFill>
              <a:srgbClr val="243A5E"/>
            </a:solidFill>
            <a:ln w="19050" cap="flat" cmpd="sng" algn="ctr">
              <a:solidFill>
                <a:schemeClr val="tx1"/>
              </a:solidFill>
              <a:prstDash val="solid"/>
              <a:round/>
              <a:headEnd type="none" w="med" len="med"/>
              <a:tailEnd type="none" w="med" len="med"/>
            </a:ln>
            <a:effectLst/>
          </p:spPr>
          <p:txBody>
            <a:bodyPr vert="horz" wrap="square" lIns="91440" tIns="91440" rIns="91440" bIns="91440" numCol="1" rtlCol="0" anchor="ctr" anchorCtr="0" compatLnSpc="1">
              <a:prstTxWarp prst="textNoShape">
                <a:avLst/>
              </a:prstTxWarp>
              <a:noAutofit/>
            </a:bodyPr>
            <a:lstStyle/>
            <a:p>
              <a:pPr marL="0" marR="0" lvl="0" indent="0" algn="ctr" defTabSz="8890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1A1A1A"/>
                </a:solidFill>
                <a:effectLst/>
                <a:uLnTx/>
                <a:uFillTx/>
                <a:latin typeface="Segoe UI"/>
                <a:ea typeface="+mn-ea"/>
                <a:cs typeface="+mn-cs"/>
              </a:endParaRPr>
            </a:p>
          </p:txBody>
        </p:sp>
      </p:grpSp>
      <p:sp>
        <p:nvSpPr>
          <p:cNvPr id="409" name="Rectangle 408">
            <a:extLst>
              <a:ext uri="{FF2B5EF4-FFF2-40B4-BE49-F238E27FC236}">
                <a16:creationId xmlns:a16="http://schemas.microsoft.com/office/drawing/2014/main" id="{37139A00-63BC-4772-BD82-2DCCB1D3653B}"/>
              </a:ext>
            </a:extLst>
          </p:cNvPr>
          <p:cNvSpPr/>
          <p:nvPr userDrawn="1"/>
        </p:nvSpPr>
        <p:spPr bwMode="auto">
          <a:xfrm>
            <a:off x="5105400" y="-1427019"/>
            <a:ext cx="6948975" cy="1418948"/>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0" name="Rectangle 409">
            <a:extLst>
              <a:ext uri="{FF2B5EF4-FFF2-40B4-BE49-F238E27FC236}">
                <a16:creationId xmlns:a16="http://schemas.microsoft.com/office/drawing/2014/main" id="{3D794697-DD39-48BB-974C-AA0687CEE67D}"/>
              </a:ext>
            </a:extLst>
          </p:cNvPr>
          <p:cNvSpPr/>
          <p:nvPr userDrawn="1"/>
        </p:nvSpPr>
        <p:spPr bwMode="auto">
          <a:xfrm>
            <a:off x="6315086" y="6862950"/>
            <a:ext cx="6948975" cy="2992524"/>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1" name="Rectangle 410">
            <a:extLst>
              <a:ext uri="{FF2B5EF4-FFF2-40B4-BE49-F238E27FC236}">
                <a16:creationId xmlns:a16="http://schemas.microsoft.com/office/drawing/2014/main" id="{1DC27180-5C5A-4EEC-B64D-60A1887BA30A}"/>
              </a:ext>
            </a:extLst>
          </p:cNvPr>
          <p:cNvSpPr/>
          <p:nvPr userDrawn="1"/>
        </p:nvSpPr>
        <p:spPr bwMode="auto">
          <a:xfrm flipH="1">
            <a:off x="12195873" y="-105906"/>
            <a:ext cx="147042" cy="9689979"/>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2" name="Text Placeholder 4">
            <a:extLst>
              <a:ext uri="{FF2B5EF4-FFF2-40B4-BE49-F238E27FC236}">
                <a16:creationId xmlns:a16="http://schemas.microsoft.com/office/drawing/2014/main" id="{449C40E8-42BD-454C-9274-0F0B7F2D8EA7}"/>
              </a:ext>
            </a:extLst>
          </p:cNvPr>
          <p:cNvSpPr>
            <a:spLocks noGrp="1"/>
          </p:cNvSpPr>
          <p:nvPr>
            <p:ph type="body" sz="quarter" idx="12" hasCustomPrompt="1"/>
          </p:nvPr>
        </p:nvSpPr>
        <p:spPr>
          <a:xfrm>
            <a:off x="582042" y="3962400"/>
            <a:ext cx="4164583" cy="1015663"/>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a:t>
            </a:r>
            <a:br>
              <a:rPr lang="en-US"/>
            </a:br>
            <a:br>
              <a:rPr lang="en-US"/>
            </a:br>
            <a:r>
              <a:rPr lang="en-US"/>
              <a:t>Date 2019</a:t>
            </a:r>
          </a:p>
        </p:txBody>
      </p:sp>
    </p:spTree>
    <p:extLst>
      <p:ext uri="{BB962C8B-B14F-4D97-AF65-F5344CB8AC3E}">
        <p14:creationId xmlns:p14="http://schemas.microsoft.com/office/powerpoint/2010/main" val="34806387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Illustrated Option Light 1">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411" name="Rectangle 410">
            <a:extLst>
              <a:ext uri="{FF2B5EF4-FFF2-40B4-BE49-F238E27FC236}">
                <a16:creationId xmlns:a16="http://schemas.microsoft.com/office/drawing/2014/main" id="{5FC0A4E0-F25C-48BC-B7E3-659ADF6F36B5}"/>
              </a:ext>
            </a:extLst>
          </p:cNvPr>
          <p:cNvSpPr/>
          <p:nvPr userDrawn="1"/>
        </p:nvSpPr>
        <p:spPr bwMode="auto">
          <a:xfrm flipH="1">
            <a:off x="12195873" y="-105906"/>
            <a:ext cx="147042" cy="9689979"/>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2" name="Text Placeholder 4">
            <a:extLst>
              <a:ext uri="{FF2B5EF4-FFF2-40B4-BE49-F238E27FC236}">
                <a16:creationId xmlns:a16="http://schemas.microsoft.com/office/drawing/2014/main" id="{873AC961-9DEC-469B-ADD7-180355E64E7A}"/>
              </a:ext>
            </a:extLst>
          </p:cNvPr>
          <p:cNvSpPr>
            <a:spLocks noGrp="1"/>
          </p:cNvSpPr>
          <p:nvPr>
            <p:ph type="body" sz="quarter" idx="12" hasCustomPrompt="1"/>
          </p:nvPr>
        </p:nvSpPr>
        <p:spPr>
          <a:xfrm>
            <a:off x="582042" y="3962400"/>
            <a:ext cx="4164583" cy="1015663"/>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a:t>
            </a:r>
            <a:br>
              <a:rPr lang="en-US"/>
            </a:br>
            <a:br>
              <a:rPr lang="en-US"/>
            </a:br>
            <a:r>
              <a:rPr lang="en-US"/>
              <a:t>Date 2019</a:t>
            </a:r>
          </a:p>
        </p:txBody>
      </p:sp>
      <p:pic>
        <p:nvPicPr>
          <p:cNvPr id="3" name="Picture 2">
            <a:extLst>
              <a:ext uri="{FF2B5EF4-FFF2-40B4-BE49-F238E27FC236}">
                <a16:creationId xmlns:a16="http://schemas.microsoft.com/office/drawing/2014/main" id="{4CDCD298-1A71-47AF-9E6A-8BB617FB4F70}"/>
              </a:ext>
            </a:extLst>
          </p:cNvPr>
          <p:cNvPicPr>
            <a:picLocks noChangeAspect="1"/>
          </p:cNvPicPr>
          <p:nvPr userDrawn="1"/>
        </p:nvPicPr>
        <p:blipFill rotWithShape="1">
          <a:blip r:embed="rId3"/>
          <a:srcRect t="9264" b="24027"/>
          <a:stretch/>
        </p:blipFill>
        <p:spPr>
          <a:xfrm>
            <a:off x="6858000" y="-1"/>
            <a:ext cx="5484915" cy="6858001"/>
          </a:xfrm>
          <a:prstGeom prst="rect">
            <a:avLst/>
          </a:prstGeom>
        </p:spPr>
      </p:pic>
    </p:spTree>
    <p:extLst>
      <p:ext uri="{BB962C8B-B14F-4D97-AF65-F5344CB8AC3E}">
        <p14:creationId xmlns:p14="http://schemas.microsoft.com/office/powerpoint/2010/main" val="27694426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413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17E9E767-6C20-47E4-BFD4-0427552F5F03}"/>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lumMod val="65000"/>
                  </a:schemeClr>
                </a:solidFill>
                <a:effectLst/>
                <a:latin typeface="+mn-lt"/>
                <a:ea typeface="Calibri" panose="020F0502020204030204" pitchFamily="34" charset="0"/>
              </a:rPr>
              <a:t>MICROSOFT CONFIDENTIAL</a:t>
            </a:r>
            <a:endParaRPr lang="en-US" sz="1000" b="0">
              <a:solidFill>
                <a:schemeClr val="bg1">
                  <a:lumMod val="65000"/>
                </a:schemeClr>
              </a:solidFill>
              <a:latin typeface="+mn-lt"/>
            </a:endParaRPr>
          </a:p>
        </p:txBody>
      </p:sp>
    </p:spTree>
    <p:extLst>
      <p:ext uri="{BB962C8B-B14F-4D97-AF65-F5344CB8AC3E}">
        <p14:creationId xmlns:p14="http://schemas.microsoft.com/office/powerpoint/2010/main" val="169838808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4B1D8955-9031-47D9-8C48-422622D38560}"/>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lumMod val="65000"/>
                  </a:schemeClr>
                </a:solidFill>
                <a:effectLst/>
                <a:latin typeface="+mn-lt"/>
                <a:ea typeface="Calibri" panose="020F0502020204030204" pitchFamily="34" charset="0"/>
              </a:rPr>
              <a:t>MICROSOFT CONFIDENTIAL</a:t>
            </a:r>
            <a:endParaRPr lang="en-US" sz="1000" b="0">
              <a:solidFill>
                <a:schemeClr val="bg1">
                  <a:lumMod val="65000"/>
                </a:schemeClr>
              </a:solidFill>
              <a:latin typeface="+mn-lt"/>
            </a:endParaRPr>
          </a:p>
        </p:txBody>
      </p:sp>
    </p:spTree>
    <p:extLst>
      <p:ext uri="{BB962C8B-B14F-4D97-AF65-F5344CB8AC3E}">
        <p14:creationId xmlns:p14="http://schemas.microsoft.com/office/powerpoint/2010/main" val="297048068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mp; Numeric Alpha lis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6" name="Text Placeholder 2">
            <a:extLst>
              <a:ext uri="{FF2B5EF4-FFF2-40B4-BE49-F238E27FC236}">
                <a16:creationId xmlns:a16="http://schemas.microsoft.com/office/drawing/2014/main" id="{0620C723-3024-441E-AB83-80ECFB1B6A78}"/>
              </a:ext>
            </a:extLst>
          </p:cNvPr>
          <p:cNvSpPr>
            <a:spLocks noGrp="1"/>
          </p:cNvSpPr>
          <p:nvPr>
            <p:ph type="body" sz="quarter" idx="12"/>
          </p:nvPr>
        </p:nvSpPr>
        <p:spPr>
          <a:xfrm>
            <a:off x="584200" y="1435497"/>
            <a:ext cx="11018520" cy="1095685"/>
          </a:xfrm>
        </p:spPr>
        <p:txBody>
          <a:bodyPr/>
          <a:lstStyle>
            <a:lvl1pPr marL="514350" indent="-514350">
              <a:buFont typeface="+mj-lt"/>
              <a:buAutoNum type="arabicPeriod"/>
              <a:defRPr/>
            </a:lvl1pPr>
            <a:lvl2pPr marL="685800" indent="-457200">
              <a:buFont typeface="+mj-lt"/>
              <a:buAutoNum type="alphaLcPeriod"/>
              <a:defRPr/>
            </a:lvl2pPr>
            <a:lvl3pPr marL="857250" indent="-400050">
              <a:buFont typeface="+mj-lt"/>
              <a:buAutoNum type="romanLcPeriod"/>
              <a:defRPr/>
            </a:lvl3pPr>
            <a:lvl4pPr marL="661988" indent="0">
              <a:buFont typeface="+mj-lt"/>
              <a:buNone/>
              <a:defRPr/>
            </a:lvl4pPr>
            <a:lvl5pPr marL="855663" indent="0">
              <a:buNone/>
              <a:defRPr/>
            </a:lvl5pPr>
          </a:lstStyle>
          <a:p>
            <a:pPr lvl="0"/>
            <a:r>
              <a:rPr lang="en-US"/>
              <a:t>Click to edit Master text styles</a:t>
            </a:r>
          </a:p>
          <a:p>
            <a:pPr lvl="1"/>
            <a:r>
              <a:rPr lang="en-US"/>
              <a:t>Second level</a:t>
            </a:r>
          </a:p>
          <a:p>
            <a:pPr lvl="2"/>
            <a:r>
              <a:rPr lang="en-US"/>
              <a:t>Third level</a:t>
            </a:r>
          </a:p>
        </p:txBody>
      </p:sp>
      <p:sp>
        <p:nvSpPr>
          <p:cNvPr id="2" name="Rectangle 1">
            <a:extLst>
              <a:ext uri="{FF2B5EF4-FFF2-40B4-BE49-F238E27FC236}">
                <a16:creationId xmlns:a16="http://schemas.microsoft.com/office/drawing/2014/main" id="{535B821D-1902-403B-B071-CAEDD609DA1C}"/>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lumMod val="65000"/>
                  </a:schemeClr>
                </a:solidFill>
                <a:effectLst/>
                <a:latin typeface="+mn-lt"/>
                <a:ea typeface="Calibri" panose="020F0502020204030204" pitchFamily="34" charset="0"/>
              </a:rPr>
              <a:t>MICROSOFT CONFIDENTIAL</a:t>
            </a:r>
            <a:endParaRPr lang="en-US" sz="1000" b="0">
              <a:solidFill>
                <a:schemeClr val="bg1">
                  <a:lumMod val="65000"/>
                </a:schemeClr>
              </a:solidFill>
              <a:latin typeface="+mn-lt"/>
            </a:endParaRPr>
          </a:p>
        </p:txBody>
      </p:sp>
    </p:spTree>
    <p:extLst>
      <p:ext uri="{BB962C8B-B14F-4D97-AF65-F5344CB8AC3E}">
        <p14:creationId xmlns:p14="http://schemas.microsoft.com/office/powerpoint/2010/main" val="19935612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52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52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5D0073F1-3D03-47C3-9285-B36239E0E570}"/>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lumMod val="65000"/>
                  </a:schemeClr>
                </a:solidFill>
                <a:effectLst/>
                <a:latin typeface="+mn-lt"/>
                <a:ea typeface="Calibri" panose="020F0502020204030204" pitchFamily="34" charset="0"/>
              </a:rPr>
              <a:t>MICROSOFT CONFIDENTIAL</a:t>
            </a:r>
            <a:endParaRPr lang="en-US" sz="1000" b="0">
              <a:solidFill>
                <a:schemeClr val="bg1">
                  <a:lumMod val="65000"/>
                </a:schemeClr>
              </a:solidFill>
              <a:latin typeface="+mn-lt"/>
            </a:endParaRPr>
          </a:p>
        </p:txBody>
      </p:sp>
    </p:spTree>
    <p:extLst>
      <p:ext uri="{BB962C8B-B14F-4D97-AF65-F5344CB8AC3E}">
        <p14:creationId xmlns:p14="http://schemas.microsoft.com/office/powerpoint/2010/main" val="10775239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A0C0C77-9FD3-4F8C-BD2D-0BFB8A706B1B}"/>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lumMod val="65000"/>
                  </a:schemeClr>
                </a:solidFill>
                <a:effectLst/>
                <a:latin typeface="+mn-lt"/>
                <a:ea typeface="Calibri" panose="020F0502020204030204" pitchFamily="34" charset="0"/>
              </a:rPr>
              <a:t>MICROSOFT CONFIDENTIAL</a:t>
            </a:r>
            <a:endParaRPr lang="en-US" sz="1000" b="0">
              <a:solidFill>
                <a:schemeClr val="bg1">
                  <a:lumMod val="65000"/>
                </a:schemeClr>
              </a:solidFill>
              <a:latin typeface="+mn-lt"/>
            </a:endParaRPr>
          </a:p>
        </p:txBody>
      </p:sp>
    </p:spTree>
    <p:extLst>
      <p:ext uri="{BB962C8B-B14F-4D97-AF65-F5344CB8AC3E}">
        <p14:creationId xmlns:p14="http://schemas.microsoft.com/office/powerpoint/2010/main" val="4703828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368635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accent3"/>
                </a:solidFill>
              </a:defRPr>
            </a:lvl1pPr>
          </a:lstStyle>
          <a:p>
            <a:r>
              <a:rPr lang="en-US"/>
              <a:t>Click to edit Master title style</a:t>
            </a:r>
          </a:p>
        </p:txBody>
      </p:sp>
      <p:sp>
        <p:nvSpPr>
          <p:cNvPr id="5" name="Rectangle 4">
            <a:extLst>
              <a:ext uri="{FF2B5EF4-FFF2-40B4-BE49-F238E27FC236}">
                <a16:creationId xmlns:a16="http://schemas.microsoft.com/office/drawing/2014/main" id="{F8EFC629-D2A5-48DD-9B68-4C421966D631}"/>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solidFill>
                <a:effectLst/>
                <a:latin typeface="+mn-lt"/>
                <a:ea typeface="Calibri" panose="020F0502020204030204" pitchFamily="34" charset="0"/>
              </a:rPr>
              <a:t>MICROSOFT CONFIDENTIAL</a:t>
            </a:r>
            <a:endParaRPr lang="en-US" sz="1000" b="0">
              <a:solidFill>
                <a:schemeClr val="bg1"/>
              </a:solidFill>
              <a:latin typeface="+mn-lt"/>
            </a:endParaRPr>
          </a:p>
        </p:txBody>
      </p:sp>
    </p:spTree>
    <p:extLst>
      <p:ext uri="{BB962C8B-B14F-4D97-AF65-F5344CB8AC3E}">
        <p14:creationId xmlns:p14="http://schemas.microsoft.com/office/powerpoint/2010/main" val="40905832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5330951E-61DD-493C-8985-C00BC3AC590D}"/>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bg1">
                    <a:lumMod val="65000"/>
                  </a:schemeClr>
                </a:solidFill>
                <a:effectLst/>
                <a:latin typeface="+mn-lt"/>
                <a:ea typeface="Calibri" panose="020F0502020204030204" pitchFamily="34" charset="0"/>
              </a:rPr>
              <a:t>MICROSOFT CONFIDENTIAL</a:t>
            </a:r>
            <a:endParaRPr lang="en-US" sz="1000" b="0">
              <a:solidFill>
                <a:schemeClr val="bg1">
                  <a:lumMod val="65000"/>
                </a:schemeClr>
              </a:solidFill>
              <a:latin typeface="+mn-lt"/>
            </a:endParaRPr>
          </a:p>
        </p:txBody>
      </p:sp>
    </p:spTree>
    <p:extLst>
      <p:ext uri="{BB962C8B-B14F-4D97-AF65-F5344CB8AC3E}">
        <p14:creationId xmlns:p14="http://schemas.microsoft.com/office/powerpoint/2010/main" val="7200633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00104644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0962366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0082159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a:t>Drag &amp; drop a screenshot </a:t>
            </a:r>
            <a:br>
              <a:rPr lang="en-US"/>
            </a:br>
            <a:r>
              <a:rPr lang="en-US"/>
              <a:t>here or click or tap icon </a:t>
            </a:r>
            <a:br>
              <a:rPr lang="en-US"/>
            </a:br>
            <a:r>
              <a:rPr lang="en-US"/>
              <a:t>below to insert </a:t>
            </a:r>
          </a:p>
        </p:txBody>
      </p:sp>
      <p:sp>
        <p:nvSpPr>
          <p:cNvPr id="5" name="Rectangle 4">
            <a:extLst>
              <a:ext uri="{FF2B5EF4-FFF2-40B4-BE49-F238E27FC236}">
                <a16:creationId xmlns:a16="http://schemas.microsoft.com/office/drawing/2014/main" id="{A944479F-10B3-457B-B9DF-1BE3D12607B9}"/>
              </a:ext>
            </a:extLst>
          </p:cNvPr>
          <p:cNvSpPr/>
          <p:nvPr userDrawn="1"/>
        </p:nvSpPr>
        <p:spPr>
          <a:xfrm>
            <a:off x="11415025" y="6447187"/>
            <a:ext cx="309701" cy="215444"/>
          </a:xfrm>
          <a:prstGeom prst="rect">
            <a:avLst/>
          </a:prstGeom>
        </p:spPr>
        <p:txBody>
          <a:bodyPr wrap="none">
            <a:spAutoFit/>
          </a:bodyPr>
          <a:lstStyle/>
          <a:p>
            <a:pPr algn="ctr"/>
            <a:fld id="{A723345A-6139-4D79-89C7-035E55A2B6B6}" type="slidenum">
              <a:rPr lang="en-US" sz="800" i="0" baseline="0" smtClean="0">
                <a:solidFill>
                  <a:schemeClr val="accent6"/>
                </a:solidFill>
                <a:effectLst/>
                <a:latin typeface="+mn-lt"/>
                <a:ea typeface="Times New Roman" panose="02020603050405020304" pitchFamily="18" charset="0"/>
              </a:rPr>
              <a:t>‹#›</a:t>
            </a:fld>
            <a:endParaRPr lang="en-US" sz="800" i="0" baseline="0">
              <a:solidFill>
                <a:schemeClr val="accent6"/>
              </a:solidFill>
              <a:latin typeface="+mn-lt"/>
            </a:endParaRPr>
          </a:p>
        </p:txBody>
      </p:sp>
    </p:spTree>
    <p:extLst>
      <p:ext uri="{BB962C8B-B14F-4D97-AF65-F5344CB8AC3E}">
        <p14:creationId xmlns:p14="http://schemas.microsoft.com/office/powerpoint/2010/main" val="1464413020"/>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
        <p:nvSpPr>
          <p:cNvPr id="3" name="Rectangle 2">
            <a:extLst>
              <a:ext uri="{FF2B5EF4-FFF2-40B4-BE49-F238E27FC236}">
                <a16:creationId xmlns:a16="http://schemas.microsoft.com/office/drawing/2014/main" id="{D0911822-0FAA-4016-B339-62AB68E1063E}"/>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tx1"/>
                </a:solidFill>
                <a:effectLst/>
                <a:latin typeface="+mn-lt"/>
                <a:ea typeface="Calibri" panose="020F0502020204030204" pitchFamily="34" charset="0"/>
              </a:rPr>
              <a:t>MICROSOFT CONFIDENTIAL</a:t>
            </a:r>
            <a:endParaRPr lang="en-US" sz="1000" b="0">
              <a:solidFill>
                <a:schemeClr val="tx1"/>
              </a:solidFill>
              <a:latin typeface="+mn-lt"/>
            </a:endParaRPr>
          </a:p>
        </p:txBody>
      </p:sp>
    </p:spTree>
    <p:extLst>
      <p:ext uri="{BB962C8B-B14F-4D97-AF65-F5344CB8AC3E}">
        <p14:creationId xmlns:p14="http://schemas.microsoft.com/office/powerpoint/2010/main" val="3363880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392680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
        <p:nvSpPr>
          <p:cNvPr id="8" name="Rectangle 7">
            <a:extLst>
              <a:ext uri="{FF2B5EF4-FFF2-40B4-BE49-F238E27FC236}">
                <a16:creationId xmlns:a16="http://schemas.microsoft.com/office/drawing/2014/main" id="{1E438A02-2FFA-4CA2-B04E-8874B4B04807}"/>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tx1"/>
                </a:solidFill>
                <a:effectLst/>
                <a:latin typeface="+mn-lt"/>
                <a:ea typeface="Calibri" panose="020F0502020204030204" pitchFamily="34" charset="0"/>
                <a:cs typeface="Segoe UI Light" panose="020B0502040204020203" pitchFamily="34" charset="0"/>
              </a:rPr>
              <a:t>MICROSOFT CONFIDENTIAL</a:t>
            </a:r>
            <a:endParaRPr lang="en-US" sz="1000" b="0">
              <a:solidFill>
                <a:schemeClr val="tx1"/>
              </a:solidFill>
              <a:latin typeface="+mn-lt"/>
              <a:cs typeface="Segoe UI Light" panose="020B0502040204020203" pitchFamily="34" charset="0"/>
            </a:endParaRPr>
          </a:p>
        </p:txBody>
      </p:sp>
    </p:spTree>
    <p:extLst>
      <p:ext uri="{BB962C8B-B14F-4D97-AF65-F5344CB8AC3E}">
        <p14:creationId xmlns:p14="http://schemas.microsoft.com/office/powerpoint/2010/main" val="2025174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0090041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70101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 2">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E3BF21-8503-4A18-B316-D6CD039A0B13}"/>
              </a:ext>
            </a:extLst>
          </p:cNvPr>
          <p:cNvSpPr/>
          <p:nvPr userDrawn="1"/>
        </p:nvSpPr>
        <p:spPr>
          <a:xfrm>
            <a:off x="9192023" y="6400800"/>
            <a:ext cx="2414760" cy="246221"/>
          </a:xfrm>
          <a:prstGeom prst="rect">
            <a:avLst/>
          </a:prstGeom>
        </p:spPr>
        <p:txBody>
          <a:bodyPr wrap="square" lIns="0" rIns="0">
            <a:spAutoFit/>
          </a:bodyPr>
          <a:lstStyle/>
          <a:p>
            <a:pPr algn="r"/>
            <a:r>
              <a:rPr lang="en-US" sz="1000" b="0">
                <a:solidFill>
                  <a:schemeClr val="tx1"/>
                </a:solidFill>
                <a:effectLst/>
                <a:latin typeface="+mn-lt"/>
                <a:ea typeface="Calibri" panose="020F0502020204030204" pitchFamily="34" charset="0"/>
                <a:cs typeface="Segoe UI Light" panose="020B0502040204020203" pitchFamily="34" charset="0"/>
              </a:rPr>
              <a:t>MICROSOFT CONFIDENTIAL</a:t>
            </a:r>
            <a:endParaRPr lang="en-US" sz="1000" b="0">
              <a:solidFill>
                <a:schemeClr val="tx1"/>
              </a:solidFill>
              <a:latin typeface="+mn-lt"/>
              <a:cs typeface="Segoe UI Light" panose="020B0502040204020203" pitchFamily="34" charset="0"/>
            </a:endParaRPr>
          </a:p>
        </p:txBody>
      </p:sp>
    </p:spTree>
    <p:extLst>
      <p:ext uri="{BB962C8B-B14F-4D97-AF65-F5344CB8AC3E}">
        <p14:creationId xmlns:p14="http://schemas.microsoft.com/office/powerpoint/2010/main" val="297894954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10807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9086876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8563169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30FD4075-AA3A-4554-835E-234D2749ECE6}"/>
              </a:ext>
            </a:extLst>
          </p:cNvPr>
          <p:cNvSpPr>
            <a:spLocks noGrp="1"/>
          </p:cNvSpPr>
          <p:nvPr>
            <p:ph type="body" sz="quarter" idx="11" hasCustomPrompt="1"/>
          </p:nvPr>
        </p:nvSpPr>
        <p:spPr>
          <a:xfrm>
            <a:off x="586390" y="6145928"/>
            <a:ext cx="11018520" cy="123111"/>
          </a:xfrm>
        </p:spPr>
        <p:txBody>
          <a:bodyPr anchor="b" anchorCtr="0">
            <a:noAutofit/>
          </a:bodyPr>
          <a:lstStyle>
            <a:lvl1pPr marL="0" indent="0">
              <a:buFontTx/>
              <a:buNone/>
              <a:defRPr sz="800">
                <a:latin typeface="Segoe UI" panose="020B0502040204020203" pitchFamily="34" charset="0"/>
                <a:cs typeface="Segoe UI" panose="020B0502040204020203" pitchFamily="34" charset="0"/>
              </a:defRPr>
            </a:lvl1pPr>
          </a:lstStyle>
          <a:p>
            <a:pPr lvl="0"/>
            <a:r>
              <a:rPr lang="en-US"/>
              <a:t>Click to edit footnote or source text, delete this box if not needed</a:t>
            </a:r>
          </a:p>
        </p:txBody>
      </p:sp>
      <p:sp>
        <p:nvSpPr>
          <p:cNvPr id="6" name="Rectangle 5">
            <a:extLst>
              <a:ext uri="{FF2B5EF4-FFF2-40B4-BE49-F238E27FC236}">
                <a16:creationId xmlns:a16="http://schemas.microsoft.com/office/drawing/2014/main" id="{6EC31DD1-9847-40F3-BFDD-D25B03FE6BBC}"/>
              </a:ext>
            </a:extLst>
          </p:cNvPr>
          <p:cNvSpPr/>
          <p:nvPr userDrawn="1"/>
        </p:nvSpPr>
        <p:spPr>
          <a:xfrm>
            <a:off x="11415026" y="6447187"/>
            <a:ext cx="309701" cy="215444"/>
          </a:xfrm>
          <a:prstGeom prst="rect">
            <a:avLst/>
          </a:prstGeom>
        </p:spPr>
        <p:txBody>
          <a:bodyPr wrap="none">
            <a:spAutoFit/>
          </a:bodyPr>
          <a:lstStyle/>
          <a:p>
            <a:pPr algn="ctr"/>
            <a:fld id="{A723345A-6139-4D79-89C7-035E55A2B6B6}" type="slidenum">
              <a:rPr lang="en-US" sz="800" i="0" baseline="0" smtClean="0">
                <a:solidFill>
                  <a:schemeClr val="accent6"/>
                </a:solidFill>
                <a:effectLst/>
                <a:latin typeface="+mn-lt"/>
                <a:ea typeface="Times New Roman" panose="02020603050405020304" pitchFamily="18" charset="0"/>
              </a:rPr>
              <a:t>‹#›</a:t>
            </a:fld>
            <a:endParaRPr lang="en-US" sz="800" i="0" baseline="0">
              <a:solidFill>
                <a:schemeClr val="accent6"/>
              </a:solidFill>
              <a:latin typeface="+mn-lt"/>
            </a:endParaRPr>
          </a:p>
        </p:txBody>
      </p:sp>
    </p:spTree>
    <p:extLst>
      <p:ext uri="{BB962C8B-B14F-4D97-AF65-F5344CB8AC3E}">
        <p14:creationId xmlns:p14="http://schemas.microsoft.com/office/powerpoint/2010/main" val="24105663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Rectangle 3">
            <a:extLst>
              <a:ext uri="{FF2B5EF4-FFF2-40B4-BE49-F238E27FC236}">
                <a16:creationId xmlns:a16="http://schemas.microsoft.com/office/drawing/2014/main" id="{4D4DBBA8-1E4D-4C13-8A2E-EDE4626F3584}"/>
              </a:ext>
            </a:extLst>
          </p:cNvPr>
          <p:cNvSpPr/>
          <p:nvPr userDrawn="1"/>
        </p:nvSpPr>
        <p:spPr>
          <a:xfrm>
            <a:off x="11415025" y="6447187"/>
            <a:ext cx="309701" cy="215444"/>
          </a:xfrm>
          <a:prstGeom prst="rect">
            <a:avLst/>
          </a:prstGeom>
        </p:spPr>
        <p:txBody>
          <a:bodyPr wrap="none">
            <a:spAutoFit/>
          </a:bodyPr>
          <a:lstStyle/>
          <a:p>
            <a:pPr algn="ctr"/>
            <a:fld id="{A723345A-6139-4D79-89C7-035E55A2B6B6}" type="slidenum">
              <a:rPr lang="en-US" sz="800" i="0" baseline="0" smtClean="0">
                <a:solidFill>
                  <a:schemeClr val="accent6"/>
                </a:solidFill>
                <a:effectLst/>
                <a:latin typeface="+mn-lt"/>
                <a:ea typeface="Times New Roman" panose="02020603050405020304" pitchFamily="18" charset="0"/>
              </a:rPr>
              <a:t>‹#›</a:t>
            </a:fld>
            <a:endParaRPr lang="en-US" sz="800" i="0" baseline="0">
              <a:solidFill>
                <a:schemeClr val="accent6"/>
              </a:solidFill>
              <a:latin typeface="+mn-lt"/>
            </a:endParaRPr>
          </a:p>
        </p:txBody>
      </p:sp>
    </p:spTree>
    <p:extLst>
      <p:ext uri="{BB962C8B-B14F-4D97-AF65-F5344CB8AC3E}">
        <p14:creationId xmlns:p14="http://schemas.microsoft.com/office/powerpoint/2010/main" val="3790855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gradFill>
                  <a:gsLst>
                    <a:gs pos="1250">
                      <a:schemeClr val="tx1"/>
                    </a:gs>
                    <a:gs pos="100000">
                      <a:schemeClr val="tx1"/>
                    </a:gs>
                  </a:gsLst>
                  <a:lin ang="5400000" scaled="0"/>
                </a:gradFill>
              </a:defRPr>
            </a:lvl1pPr>
          </a:lstStyle>
          <a:p>
            <a:r>
              <a:rPr lang="en-US"/>
              <a:t>Title</a:t>
            </a:r>
          </a:p>
        </p:txBody>
      </p:sp>
      <p:cxnSp>
        <p:nvCxnSpPr>
          <p:cNvPr id="4" name="Straight Connector 3">
            <a:extLst>
              <a:ext uri="{FF2B5EF4-FFF2-40B4-BE49-F238E27FC236}">
                <a16:creationId xmlns:a16="http://schemas.microsoft.com/office/drawing/2014/main" id="{46A33205-8906-4922-8891-9E726B5EEFA8}"/>
              </a:ext>
            </a:extLst>
          </p:cNvPr>
          <p:cNvCxnSpPr>
            <a:cxnSpLocks/>
          </p:cNvCxnSpPr>
          <p:nvPr userDrawn="1"/>
        </p:nvCxnSpPr>
        <p:spPr>
          <a:xfrm>
            <a:off x="4355160" y="0"/>
            <a:ext cx="0" cy="685800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Straight Connector 4">
            <a:extLst>
              <a:ext uri="{FF2B5EF4-FFF2-40B4-BE49-F238E27FC236}">
                <a16:creationId xmlns:a16="http://schemas.microsoft.com/office/drawing/2014/main" id="{0EB34C75-D8A4-49E1-AA0A-489652FF467A}"/>
              </a:ext>
            </a:extLst>
          </p:cNvPr>
          <p:cNvCxnSpPr>
            <a:cxnSpLocks/>
          </p:cNvCxnSpPr>
          <p:nvPr userDrawn="1"/>
        </p:nvCxnSpPr>
        <p:spPr>
          <a:xfrm flipH="1">
            <a:off x="4064267" y="0"/>
            <a:ext cx="0" cy="685800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51C6277E-0003-4B4F-BBDF-7243DEDD2459}"/>
              </a:ext>
            </a:extLst>
          </p:cNvPr>
          <p:cNvCxnSpPr>
            <a:cxnSpLocks/>
          </p:cNvCxnSpPr>
          <p:nvPr userDrawn="1"/>
        </p:nvCxnSpPr>
        <p:spPr>
          <a:xfrm>
            <a:off x="585216" y="0"/>
            <a:ext cx="0" cy="685800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D6FB33C9-50F2-4CAE-BD8E-9AC7CB80048A}"/>
              </a:ext>
            </a:extLst>
          </p:cNvPr>
          <p:cNvCxnSpPr>
            <a:cxnSpLocks/>
          </p:cNvCxnSpPr>
          <p:nvPr userDrawn="1"/>
        </p:nvCxnSpPr>
        <p:spPr>
          <a:xfrm>
            <a:off x="11606784" y="0"/>
            <a:ext cx="0" cy="685800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D0202371-D802-4DC5-9A18-561BEC9D8AE4}"/>
              </a:ext>
            </a:extLst>
          </p:cNvPr>
          <p:cNvCxnSpPr>
            <a:cxnSpLocks/>
          </p:cNvCxnSpPr>
          <p:nvPr userDrawn="1"/>
        </p:nvCxnSpPr>
        <p:spPr>
          <a:xfrm flipH="1">
            <a:off x="0" y="582042"/>
            <a:ext cx="12192000" cy="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21098F4A-73AD-4BE7-B148-D9A6136C1474}"/>
              </a:ext>
            </a:extLst>
          </p:cNvPr>
          <p:cNvCxnSpPr>
            <a:cxnSpLocks/>
          </p:cNvCxnSpPr>
          <p:nvPr userDrawn="1"/>
        </p:nvCxnSpPr>
        <p:spPr>
          <a:xfrm flipH="1">
            <a:off x="0" y="6272784"/>
            <a:ext cx="12192000" cy="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88C2457E-11DA-417E-A479-5F99D523B151}"/>
              </a:ext>
            </a:extLst>
          </p:cNvPr>
          <p:cNvCxnSpPr>
            <a:cxnSpLocks/>
          </p:cNvCxnSpPr>
          <p:nvPr userDrawn="1"/>
        </p:nvCxnSpPr>
        <p:spPr>
          <a:xfrm>
            <a:off x="4259072" y="0"/>
            <a:ext cx="0" cy="685800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51F7D4BA-4311-42DA-983E-FA7CC6FF5D74}"/>
              </a:ext>
            </a:extLst>
          </p:cNvPr>
          <p:cNvCxnSpPr>
            <a:cxnSpLocks/>
          </p:cNvCxnSpPr>
          <p:nvPr userDrawn="1"/>
        </p:nvCxnSpPr>
        <p:spPr>
          <a:xfrm>
            <a:off x="404261" y="3429000"/>
            <a:ext cx="11787739" cy="0"/>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DB27996F-F0AC-42CC-A588-E636E9039B13}"/>
              </a:ext>
            </a:extLst>
          </p:cNvPr>
          <p:cNvCxnSpPr>
            <a:cxnSpLocks/>
          </p:cNvCxnSpPr>
          <p:nvPr userDrawn="1"/>
        </p:nvCxnSpPr>
        <p:spPr>
          <a:xfrm flipV="1">
            <a:off x="7980972" y="582042"/>
            <a:ext cx="0" cy="5690742"/>
          </a:xfrm>
          <a:prstGeom prst="line">
            <a:avLst/>
          </a:prstGeom>
          <a:noFill/>
          <a:ln w="0">
            <a:no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95884935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436034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A686-3EB4-419D-91BF-1696B702FBB3}"/>
              </a:ext>
            </a:extLst>
          </p:cNvPr>
          <p:cNvSpPr>
            <a:spLocks noGrp="1"/>
          </p:cNvSpPr>
          <p:nvPr>
            <p:ph type="title"/>
          </p:nvPr>
        </p:nvSpPr>
        <p:spPr>
          <a:xfrm>
            <a:off x="535882" y="450166"/>
            <a:ext cx="10515600" cy="1146870"/>
          </a:xfrm>
        </p:spPr>
        <p:txBody>
          <a:bodyPr>
            <a:normAutofit/>
          </a:bodyPr>
          <a:lstStyle>
            <a:lvl1pPr>
              <a:defRPr sz="3600">
                <a:latin typeface="Segoe UI" panose="020B0502040204020203" pitchFamily="34" charset="0"/>
                <a:cs typeface="Segoe UI" panose="020B0502040204020203"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461531D4-5D15-4D37-A0C1-8E4D14BEA485}"/>
              </a:ext>
            </a:extLst>
          </p:cNvPr>
          <p:cNvSpPr>
            <a:spLocks noGrp="1"/>
          </p:cNvSpPr>
          <p:nvPr>
            <p:ph idx="1"/>
          </p:nvPr>
        </p:nvSpPr>
        <p:spPr>
          <a:xfrm>
            <a:off x="535882" y="1597036"/>
            <a:ext cx="10972800" cy="4617794"/>
          </a:xfrm>
        </p:spPr>
        <p:txBody>
          <a:bodyPr/>
          <a:lstStyle>
            <a:lvl1pPr>
              <a:lnSpc>
                <a:spcPct val="100000"/>
              </a:lnSpc>
              <a:spcAft>
                <a:spcPts val="1200"/>
              </a:spcAft>
              <a:defRPr sz="2000"/>
            </a:lvl1pPr>
            <a:lvl2pPr>
              <a:lnSpc>
                <a:spcPct val="100000"/>
              </a:lnSpc>
              <a:spcAft>
                <a:spcPts val="1200"/>
              </a:spcAft>
              <a:defRPr sz="1600"/>
            </a:lvl2pPr>
            <a:lvl3pPr>
              <a:lnSpc>
                <a:spcPct val="100000"/>
              </a:lnSpc>
              <a:spcAft>
                <a:spcPts val="1200"/>
              </a:spcAft>
              <a:defRPr sz="1600"/>
            </a:lvl3pPr>
            <a:lvl4pPr>
              <a:lnSpc>
                <a:spcPct val="100000"/>
              </a:lnSpc>
              <a:spcAft>
                <a:spcPts val="1200"/>
              </a:spcAft>
              <a:defRPr sz="1600"/>
            </a:lvl4pPr>
            <a:lvl5pPr>
              <a:lnSpc>
                <a:spcPct val="100000"/>
              </a:lnSpc>
              <a:spcAft>
                <a:spcPts val="12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E0675-D847-4AAE-B171-E7EA3CE3D9A1}"/>
              </a:ext>
            </a:extLst>
          </p:cNvPr>
          <p:cNvSpPr>
            <a:spLocks noGrp="1"/>
          </p:cNvSpPr>
          <p:nvPr>
            <p:ph type="dt" sz="half" idx="10"/>
          </p:nvPr>
        </p:nvSpPr>
        <p:spPr/>
        <p:txBody>
          <a:bodyPr/>
          <a:lstStyle/>
          <a:p>
            <a:fld id="{4B61FBD2-6E47-414D-B8C5-4784544C674E}" type="datetimeFigureOut">
              <a:rPr lang="en-US" smtClean="0"/>
              <a:pPr/>
              <a:t>11/28/2022</a:t>
            </a:fld>
            <a:endParaRPr lang="en-US"/>
          </a:p>
        </p:txBody>
      </p:sp>
      <p:sp>
        <p:nvSpPr>
          <p:cNvPr id="5" name="Footer Placeholder 4">
            <a:extLst>
              <a:ext uri="{FF2B5EF4-FFF2-40B4-BE49-F238E27FC236}">
                <a16:creationId xmlns:a16="http://schemas.microsoft.com/office/drawing/2014/main" id="{9E4D414A-2BBD-4151-9BEC-6DAFC72E3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58530-F5CC-46BA-9C78-B05D8C6F1C1C}"/>
              </a:ext>
            </a:extLst>
          </p:cNvPr>
          <p:cNvSpPr>
            <a:spLocks noGrp="1"/>
          </p:cNvSpPr>
          <p:nvPr>
            <p:ph type="sldNum" sz="quarter" idx="12"/>
          </p:nvPr>
        </p:nvSpPr>
        <p:spPr/>
        <p:txBody>
          <a:bodyPr/>
          <a:lstStyle/>
          <a:p>
            <a:fld id="{8B6FEA41-8BCD-41C7-A8B0-66259046E088}" type="slidenum">
              <a:rPr lang="en-US" smtClean="0"/>
              <a:pPr/>
              <a:t>‹#›</a:t>
            </a:fld>
            <a:endParaRPr lang="en-US"/>
          </a:p>
        </p:txBody>
      </p:sp>
    </p:spTree>
    <p:extLst>
      <p:ext uri="{BB962C8B-B14F-4D97-AF65-F5344CB8AC3E}">
        <p14:creationId xmlns:p14="http://schemas.microsoft.com/office/powerpoint/2010/main" val="19315462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5" y="440495"/>
            <a:ext cx="11336038" cy="758022"/>
          </a:xfrm>
          <a:prstGeom prst="rect">
            <a:avLst/>
          </a:prstGeom>
        </p:spPr>
        <p:txBody>
          <a:bodyPr vert="horz" wrap="square" lIns="0" tIns="164592" rIns="0" bIns="0" rtlCol="0" anchor="t">
            <a:noAutofit/>
          </a:bodyPr>
          <a:lstStyle>
            <a:lvl1pPr algn="l" defTabSz="914554" rtl="0" eaLnBrk="1" latinLnBrk="0" hangingPunct="1">
              <a:lnSpc>
                <a:spcPct val="90000"/>
              </a:lnSpc>
              <a:spcBef>
                <a:spcPct val="0"/>
              </a:spcBef>
              <a:buNone/>
              <a:defRPr lang="en-US" sz="3138" b="0" kern="1200" cap="none" spc="-147" baseline="0" dirty="0">
                <a:ln w="3175">
                  <a:noFill/>
                </a:ln>
                <a:gradFill>
                  <a:gsLst>
                    <a:gs pos="83000">
                      <a:schemeClr val="tx2"/>
                    </a:gs>
                    <a:gs pos="100000">
                      <a:schemeClr val="tx1"/>
                    </a:gs>
                  </a:gsLst>
                  <a:lin ang="5400000" scaled="1"/>
                </a:gradFill>
                <a:effectLst/>
                <a:latin typeface="+mj-lt"/>
                <a:ea typeface="+mn-ea"/>
                <a:cs typeface="Segoe UI" pitchFamily="34" charset="0"/>
              </a:defRPr>
            </a:lvl1pPr>
          </a:lstStyle>
          <a:p>
            <a:r>
              <a:rPr lang="en-US"/>
              <a:t>Title</a:t>
            </a:r>
          </a:p>
        </p:txBody>
      </p:sp>
    </p:spTree>
    <p:extLst>
      <p:ext uri="{BB962C8B-B14F-4D97-AF65-F5344CB8AC3E}">
        <p14:creationId xmlns:p14="http://schemas.microsoft.com/office/powerpoint/2010/main" val="134475991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509155"/>
            <a:ext cx="11018520"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84200" y="1435497"/>
            <a:ext cx="11018520" cy="1268039"/>
          </a:xfrm>
        </p:spPr>
        <p:txBody>
          <a:bodyPr/>
          <a:lstStyle>
            <a:lvl1pPr>
              <a:defRPr sz="2000">
                <a:solidFill>
                  <a:srgbClr val="000000"/>
                </a:solidFill>
                <a:latin typeface="+mn-lt"/>
              </a:defRPr>
            </a:lvl1pPr>
            <a:lvl2pPr>
              <a:defRPr sz="1600">
                <a:solidFill>
                  <a:srgbClr val="000000"/>
                </a:solidFill>
              </a:defRPr>
            </a:lvl2pPr>
            <a:lvl3pPr>
              <a:defRPr sz="1400">
                <a:solidFill>
                  <a:srgbClr val="000000"/>
                </a:solidFill>
              </a:defRPr>
            </a:lvl3pPr>
            <a:lvl4pPr>
              <a:defRPr sz="1200">
                <a:solidFill>
                  <a:srgbClr val="000000"/>
                </a:solidFill>
              </a:defRPr>
            </a:lvl4pPr>
            <a:lvl5pPr>
              <a:defRPr sz="10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r>
              <a:rPr lang="en-US"/>
              <a:t>© Microsoft Corporation                                                                                  					   	    	                                     Microsoft 365 </a:t>
            </a:r>
          </a:p>
        </p:txBody>
      </p:sp>
    </p:spTree>
    <p:extLst>
      <p:ext uri="{BB962C8B-B14F-4D97-AF65-F5344CB8AC3E}">
        <p14:creationId xmlns:p14="http://schemas.microsoft.com/office/powerpoint/2010/main" val="87439120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86096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19126241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25663885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231405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4779844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149096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6901768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42026632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p15:clr>
            <a:srgbClr val="FBAE40"/>
          </p15:clr>
        </p15:guide>
        <p15:guide id="6" pos="33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8298551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1523184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7823529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19639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845107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76577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07847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27036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7856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71977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57025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86722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394670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196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87061118"/>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3646509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4976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958581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6972548"/>
      </p:ext>
    </p:extLst>
  </p:cSld>
  <p:clrMapOvr>
    <a:masterClrMapping/>
  </p:clrMapOvr>
  <p:transition>
    <p:fade/>
  </p:transition>
  <p:extLst>
    <p:ext uri="{DCECCB84-F9BA-43D5-87BE-67443E8EF086}">
      <p15:sldGuideLst xmlns:p15="http://schemas.microsoft.com/office/powerpoint/2012/main">
        <p15:guide id="3" orient="horz" pos="1162">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876906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13766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70516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50658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06541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39798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22089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933446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2673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6847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1898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35991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2707625949"/>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228155625"/>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63366652"/>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6172757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938086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4691707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9448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85355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p15:clr>
            <a:srgbClr val="A4A3A4"/>
          </p15:clr>
        </p15:guide>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48574416"/>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3135963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92229277"/>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29317056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7924330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269726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8153148"/>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8185123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402478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8274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2505900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835220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249390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77856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12138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64850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8004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607403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128364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4271783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47751637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p15:clr>
            <a:srgbClr val="5ACBF0"/>
          </p15:clr>
        </p15:guide>
        <p15:guide id="7" pos="4747">
          <p15:clr>
            <a:srgbClr val="5ACBF0"/>
          </p15:clr>
        </p15:guide>
        <p15:guide id="8" pos="4936">
          <p15:clr>
            <a:srgbClr val="5ACBF0"/>
          </p15:clr>
        </p15:guide>
        <p15:guide id="9" pos="5123">
          <p15:clr>
            <a:srgbClr val="5ACBF0"/>
          </p15:clr>
        </p15:guide>
        <p15:guide id="10" orient="horz" pos="3465">
          <p15:clr>
            <a:srgbClr val="5ACBF0"/>
          </p15:clr>
        </p15:guide>
        <p15:guide id="11" orient="horz" pos="1956">
          <p15:clr>
            <a:srgbClr val="FBAE40"/>
          </p15:clr>
        </p15:guide>
        <p15:guide id="12" pos="1096">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71422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6763613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6901837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11416844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61190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373398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154747536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356519914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1003238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956819700"/>
      </p:ext>
    </p:extLst>
  </p:cSld>
  <p:clrMapOvr>
    <a:masterClrMapping/>
  </p:clrMapOvr>
  <p:transition>
    <p:fade/>
  </p:transition>
  <p:extLst>
    <p:ext uri="{DCECCB84-F9BA-43D5-87BE-67443E8EF086}">
      <p15:sldGuideLst xmlns:p15="http://schemas.microsoft.com/office/powerpoint/2012/main">
        <p15:guide id="13" pos="4929">
          <p15:clr>
            <a:srgbClr val="5ACBF0"/>
          </p15:clr>
        </p15:guide>
        <p15:guide id="29" orient="horz" pos="2160">
          <p15:clr>
            <a:srgbClr val="5ACBF0"/>
          </p15:clr>
        </p15:guide>
        <p15:guide id="30" pos="4566">
          <p15:clr>
            <a:srgbClr val="5ACBF0"/>
          </p15:clr>
        </p15:guide>
        <p15:guide id="31" pos="4203">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8109221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9318908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p15:clr>
            <a:srgbClr val="A4A3A4"/>
          </p15:clr>
        </p15:guide>
        <p15:guide id="28" pos="3840">
          <p15:clr>
            <a:srgbClr val="F26B43"/>
          </p15:clr>
        </p15:guide>
        <p15:guide id="29" pos="3454">
          <p15:clr>
            <a:srgbClr val="FBAE40"/>
          </p15:clr>
        </p15:guide>
        <p15:guide id="30" pos="4203">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238745038"/>
      </p:ext>
    </p:extLst>
  </p:cSld>
  <p:clrMapOvr>
    <a:masterClrMapping/>
  </p:clrMapOvr>
  <p:transition>
    <p:fade/>
  </p:transition>
  <p:extLst>
    <p:ext uri="{DCECCB84-F9BA-43D5-87BE-67443E8EF086}">
      <p15:sldGuideLst xmlns:p15="http://schemas.microsoft.com/office/powerpoint/2012/main">
        <p15:guide id="16" pos="3754">
          <p15:clr>
            <a:srgbClr val="A4A3A4"/>
          </p15:clr>
        </p15:guide>
        <p15:guide id="17" pos="3931">
          <p15:clr>
            <a:srgbClr val="A4A3A4"/>
          </p15:clr>
        </p15:guide>
        <p15:guide id="20" pos="4937">
          <p15:clr>
            <a:srgbClr val="A4A3A4"/>
          </p15:clr>
        </p15:guide>
        <p15:guide id="21" pos="5133">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p15:clr>
            <a:srgbClr val="FBAE40"/>
          </p15:clr>
        </p15:guide>
        <p15:guide id="32" orient="horz" pos="116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811458149"/>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8" pos="4342">
          <p15:clr>
            <a:srgbClr val="A4A3A4"/>
          </p15:clr>
        </p15:guide>
        <p15:guide id="19" pos="4531">
          <p15:clr>
            <a:srgbClr val="A4A3A4"/>
          </p15:clr>
        </p15:guide>
        <p15:guide id="28" orient="horz" pos="905">
          <p15:clr>
            <a:srgbClr val="5ACBF0"/>
          </p15:clr>
        </p15:guide>
        <p15:guide id="30" orient="horz" pos="288">
          <p15:clr>
            <a:srgbClr val="5ACBF0"/>
          </p15:clr>
        </p15:guide>
        <p15:guide id="31" orient="horz" pos="2704">
          <p15:clr>
            <a:srgbClr val="5ACBF0"/>
          </p15:clr>
        </p15:guide>
        <p15:guide id="32" pos="6947">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2480892356"/>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269689161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30065039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p15:clr>
            <a:srgbClr val="FBAE40"/>
          </p15:clr>
        </p15:guide>
        <p15:guide id="25" orient="horz" pos="709">
          <p15:clr>
            <a:srgbClr val="FBAE40"/>
          </p15:clr>
        </p15:guide>
        <p15:guide id="26" pos="683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299053222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1652229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0818913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6554162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3457533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5248101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453808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57454688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175200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07124278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8730235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9883520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794935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5175539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5713901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699375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8145307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701188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41045881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41578576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888633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461598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34693208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7590941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1832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78477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30468546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70322689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8505939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3938347833"/>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52AF-338D-5A72-D289-B767360941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D2DD2D-F566-5877-5DA9-6C131B76E7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169777251"/>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87381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oleObject" Target="../embeddings/oleObject1.bin"/><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1.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61.xml"/><Relationship Id="rId21" Type="http://schemas.openxmlformats.org/officeDocument/2006/relationships/slideLayout" Target="../slideLayouts/slideLayout56.xml"/><Relationship Id="rId42" Type="http://schemas.openxmlformats.org/officeDocument/2006/relationships/slideLayout" Target="../slideLayouts/slideLayout77.xml"/><Relationship Id="rId47" Type="http://schemas.openxmlformats.org/officeDocument/2006/relationships/slideLayout" Target="../slideLayouts/slideLayout82.xml"/><Relationship Id="rId63" Type="http://schemas.openxmlformats.org/officeDocument/2006/relationships/slideLayout" Target="../slideLayouts/slideLayout98.xml"/><Relationship Id="rId68" Type="http://schemas.openxmlformats.org/officeDocument/2006/relationships/slideLayout" Target="../slideLayouts/slideLayout103.xml"/><Relationship Id="rId84" Type="http://schemas.openxmlformats.org/officeDocument/2006/relationships/slideLayout" Target="../slideLayouts/slideLayout119.xml"/><Relationship Id="rId89" Type="http://schemas.openxmlformats.org/officeDocument/2006/relationships/slideLayout" Target="../slideLayouts/slideLayout124.xml"/><Relationship Id="rId112" Type="http://schemas.openxmlformats.org/officeDocument/2006/relationships/slideLayout" Target="../slideLayouts/slideLayout147.xml"/><Relationship Id="rId16" Type="http://schemas.openxmlformats.org/officeDocument/2006/relationships/slideLayout" Target="../slideLayouts/slideLayout51.xml"/><Relationship Id="rId107" Type="http://schemas.openxmlformats.org/officeDocument/2006/relationships/slideLayout" Target="../slideLayouts/slideLayout142.xml"/><Relationship Id="rId11" Type="http://schemas.openxmlformats.org/officeDocument/2006/relationships/slideLayout" Target="../slideLayouts/slideLayout46.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53" Type="http://schemas.openxmlformats.org/officeDocument/2006/relationships/slideLayout" Target="../slideLayouts/slideLayout88.xml"/><Relationship Id="rId58" Type="http://schemas.openxmlformats.org/officeDocument/2006/relationships/slideLayout" Target="../slideLayouts/slideLayout93.xml"/><Relationship Id="rId74" Type="http://schemas.openxmlformats.org/officeDocument/2006/relationships/slideLayout" Target="../slideLayouts/slideLayout109.xml"/><Relationship Id="rId79" Type="http://schemas.openxmlformats.org/officeDocument/2006/relationships/slideLayout" Target="../slideLayouts/slideLayout114.xml"/><Relationship Id="rId102" Type="http://schemas.openxmlformats.org/officeDocument/2006/relationships/slideLayout" Target="../slideLayouts/slideLayout137.xml"/><Relationship Id="rId5" Type="http://schemas.openxmlformats.org/officeDocument/2006/relationships/slideLayout" Target="../slideLayouts/slideLayout40.xml"/><Relationship Id="rId90" Type="http://schemas.openxmlformats.org/officeDocument/2006/relationships/slideLayout" Target="../slideLayouts/slideLayout125.xml"/><Relationship Id="rId95" Type="http://schemas.openxmlformats.org/officeDocument/2006/relationships/slideLayout" Target="../slideLayouts/slideLayout130.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43" Type="http://schemas.openxmlformats.org/officeDocument/2006/relationships/slideLayout" Target="../slideLayouts/slideLayout78.xml"/><Relationship Id="rId48" Type="http://schemas.openxmlformats.org/officeDocument/2006/relationships/slideLayout" Target="../slideLayouts/slideLayout83.xml"/><Relationship Id="rId64" Type="http://schemas.openxmlformats.org/officeDocument/2006/relationships/slideLayout" Target="../slideLayouts/slideLayout99.xml"/><Relationship Id="rId69" Type="http://schemas.openxmlformats.org/officeDocument/2006/relationships/slideLayout" Target="../slideLayouts/slideLayout104.xml"/><Relationship Id="rId113" Type="http://schemas.openxmlformats.org/officeDocument/2006/relationships/slideLayout" Target="../slideLayouts/slideLayout148.xml"/><Relationship Id="rId80" Type="http://schemas.openxmlformats.org/officeDocument/2006/relationships/slideLayout" Target="../slideLayouts/slideLayout115.xml"/><Relationship Id="rId85" Type="http://schemas.openxmlformats.org/officeDocument/2006/relationships/slideLayout" Target="../slideLayouts/slideLayout120.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33" Type="http://schemas.openxmlformats.org/officeDocument/2006/relationships/slideLayout" Target="../slideLayouts/slideLayout68.xml"/><Relationship Id="rId38" Type="http://schemas.openxmlformats.org/officeDocument/2006/relationships/slideLayout" Target="../slideLayouts/slideLayout73.xml"/><Relationship Id="rId59" Type="http://schemas.openxmlformats.org/officeDocument/2006/relationships/slideLayout" Target="../slideLayouts/slideLayout94.xml"/><Relationship Id="rId103" Type="http://schemas.openxmlformats.org/officeDocument/2006/relationships/slideLayout" Target="../slideLayouts/slideLayout138.xml"/><Relationship Id="rId108" Type="http://schemas.openxmlformats.org/officeDocument/2006/relationships/slideLayout" Target="../slideLayouts/slideLayout143.xml"/><Relationship Id="rId54" Type="http://schemas.openxmlformats.org/officeDocument/2006/relationships/slideLayout" Target="../slideLayouts/slideLayout89.xml"/><Relationship Id="rId70" Type="http://schemas.openxmlformats.org/officeDocument/2006/relationships/slideLayout" Target="../slideLayouts/slideLayout105.xml"/><Relationship Id="rId75" Type="http://schemas.openxmlformats.org/officeDocument/2006/relationships/slideLayout" Target="../slideLayouts/slideLayout110.xml"/><Relationship Id="rId91" Type="http://schemas.openxmlformats.org/officeDocument/2006/relationships/slideLayout" Target="../slideLayouts/slideLayout126.xml"/><Relationship Id="rId96" Type="http://schemas.openxmlformats.org/officeDocument/2006/relationships/slideLayout" Target="../slideLayouts/slideLayout13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49" Type="http://schemas.openxmlformats.org/officeDocument/2006/relationships/slideLayout" Target="../slideLayouts/slideLayout84.xml"/><Relationship Id="rId57" Type="http://schemas.openxmlformats.org/officeDocument/2006/relationships/slideLayout" Target="../slideLayouts/slideLayout92.xml"/><Relationship Id="rId106" Type="http://schemas.openxmlformats.org/officeDocument/2006/relationships/slideLayout" Target="../slideLayouts/slideLayout141.xml"/><Relationship Id="rId114" Type="http://schemas.openxmlformats.org/officeDocument/2006/relationships/slideLayout" Target="../slideLayouts/slideLayout149.xml"/><Relationship Id="rId10" Type="http://schemas.openxmlformats.org/officeDocument/2006/relationships/slideLayout" Target="../slideLayouts/slideLayout45.xml"/><Relationship Id="rId31" Type="http://schemas.openxmlformats.org/officeDocument/2006/relationships/slideLayout" Target="../slideLayouts/slideLayout66.xml"/><Relationship Id="rId44" Type="http://schemas.openxmlformats.org/officeDocument/2006/relationships/slideLayout" Target="../slideLayouts/slideLayout79.xml"/><Relationship Id="rId52" Type="http://schemas.openxmlformats.org/officeDocument/2006/relationships/slideLayout" Target="../slideLayouts/slideLayout87.xml"/><Relationship Id="rId60" Type="http://schemas.openxmlformats.org/officeDocument/2006/relationships/slideLayout" Target="../slideLayouts/slideLayout95.xml"/><Relationship Id="rId65" Type="http://schemas.openxmlformats.org/officeDocument/2006/relationships/slideLayout" Target="../slideLayouts/slideLayout100.xml"/><Relationship Id="rId73" Type="http://schemas.openxmlformats.org/officeDocument/2006/relationships/slideLayout" Target="../slideLayouts/slideLayout108.xml"/><Relationship Id="rId78" Type="http://schemas.openxmlformats.org/officeDocument/2006/relationships/slideLayout" Target="../slideLayouts/slideLayout113.xml"/><Relationship Id="rId81" Type="http://schemas.openxmlformats.org/officeDocument/2006/relationships/slideLayout" Target="../slideLayouts/slideLayout116.xml"/><Relationship Id="rId86" Type="http://schemas.openxmlformats.org/officeDocument/2006/relationships/slideLayout" Target="../slideLayouts/slideLayout121.xml"/><Relationship Id="rId94" Type="http://schemas.openxmlformats.org/officeDocument/2006/relationships/slideLayout" Target="../slideLayouts/slideLayout129.xml"/><Relationship Id="rId99" Type="http://schemas.openxmlformats.org/officeDocument/2006/relationships/slideLayout" Target="../slideLayouts/slideLayout134.xml"/><Relationship Id="rId101" Type="http://schemas.openxmlformats.org/officeDocument/2006/relationships/slideLayout" Target="../slideLayouts/slideLayout13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9" Type="http://schemas.openxmlformats.org/officeDocument/2006/relationships/slideLayout" Target="../slideLayouts/slideLayout74.xml"/><Relationship Id="rId109" Type="http://schemas.openxmlformats.org/officeDocument/2006/relationships/slideLayout" Target="../slideLayouts/slideLayout144.xml"/><Relationship Id="rId34" Type="http://schemas.openxmlformats.org/officeDocument/2006/relationships/slideLayout" Target="../slideLayouts/slideLayout69.xml"/><Relationship Id="rId50" Type="http://schemas.openxmlformats.org/officeDocument/2006/relationships/slideLayout" Target="../slideLayouts/slideLayout85.xml"/><Relationship Id="rId55" Type="http://schemas.openxmlformats.org/officeDocument/2006/relationships/slideLayout" Target="../slideLayouts/slideLayout90.xml"/><Relationship Id="rId76" Type="http://schemas.openxmlformats.org/officeDocument/2006/relationships/slideLayout" Target="../slideLayouts/slideLayout111.xml"/><Relationship Id="rId97" Type="http://schemas.openxmlformats.org/officeDocument/2006/relationships/slideLayout" Target="../slideLayouts/slideLayout132.xml"/><Relationship Id="rId104" Type="http://schemas.openxmlformats.org/officeDocument/2006/relationships/slideLayout" Target="../slideLayouts/slideLayout139.xml"/><Relationship Id="rId7" Type="http://schemas.openxmlformats.org/officeDocument/2006/relationships/slideLayout" Target="../slideLayouts/slideLayout42.xml"/><Relationship Id="rId71" Type="http://schemas.openxmlformats.org/officeDocument/2006/relationships/slideLayout" Target="../slideLayouts/slideLayout106.xml"/><Relationship Id="rId92" Type="http://schemas.openxmlformats.org/officeDocument/2006/relationships/slideLayout" Target="../slideLayouts/slideLayout127.xml"/><Relationship Id="rId2" Type="http://schemas.openxmlformats.org/officeDocument/2006/relationships/slideLayout" Target="../slideLayouts/slideLayout37.xml"/><Relationship Id="rId29" Type="http://schemas.openxmlformats.org/officeDocument/2006/relationships/slideLayout" Target="../slideLayouts/slideLayout64.xml"/><Relationship Id="rId24" Type="http://schemas.openxmlformats.org/officeDocument/2006/relationships/slideLayout" Target="../slideLayouts/slideLayout59.xml"/><Relationship Id="rId40" Type="http://schemas.openxmlformats.org/officeDocument/2006/relationships/slideLayout" Target="../slideLayouts/slideLayout75.xml"/><Relationship Id="rId45" Type="http://schemas.openxmlformats.org/officeDocument/2006/relationships/slideLayout" Target="../slideLayouts/slideLayout80.xml"/><Relationship Id="rId66" Type="http://schemas.openxmlformats.org/officeDocument/2006/relationships/slideLayout" Target="../slideLayouts/slideLayout101.xml"/><Relationship Id="rId87" Type="http://schemas.openxmlformats.org/officeDocument/2006/relationships/slideLayout" Target="../slideLayouts/slideLayout122.xml"/><Relationship Id="rId110" Type="http://schemas.openxmlformats.org/officeDocument/2006/relationships/slideLayout" Target="../slideLayouts/slideLayout145.xml"/><Relationship Id="rId115" Type="http://schemas.openxmlformats.org/officeDocument/2006/relationships/theme" Target="../theme/theme2.xml"/><Relationship Id="rId61" Type="http://schemas.openxmlformats.org/officeDocument/2006/relationships/slideLayout" Target="../slideLayouts/slideLayout96.xml"/><Relationship Id="rId82" Type="http://schemas.openxmlformats.org/officeDocument/2006/relationships/slideLayout" Target="../slideLayouts/slideLayout117.xml"/><Relationship Id="rId19" Type="http://schemas.openxmlformats.org/officeDocument/2006/relationships/slideLayout" Target="../slideLayouts/slideLayout54.xml"/><Relationship Id="rId14" Type="http://schemas.openxmlformats.org/officeDocument/2006/relationships/slideLayout" Target="../slideLayouts/slideLayout49.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56" Type="http://schemas.openxmlformats.org/officeDocument/2006/relationships/slideLayout" Target="../slideLayouts/slideLayout91.xml"/><Relationship Id="rId77" Type="http://schemas.openxmlformats.org/officeDocument/2006/relationships/slideLayout" Target="../slideLayouts/slideLayout112.xml"/><Relationship Id="rId100" Type="http://schemas.openxmlformats.org/officeDocument/2006/relationships/slideLayout" Target="../slideLayouts/slideLayout135.xml"/><Relationship Id="rId105" Type="http://schemas.openxmlformats.org/officeDocument/2006/relationships/slideLayout" Target="../slideLayouts/slideLayout140.xml"/><Relationship Id="rId8" Type="http://schemas.openxmlformats.org/officeDocument/2006/relationships/slideLayout" Target="../slideLayouts/slideLayout43.xml"/><Relationship Id="rId51" Type="http://schemas.openxmlformats.org/officeDocument/2006/relationships/slideLayout" Target="../slideLayouts/slideLayout86.xml"/><Relationship Id="rId72" Type="http://schemas.openxmlformats.org/officeDocument/2006/relationships/slideLayout" Target="../slideLayouts/slideLayout107.xml"/><Relationship Id="rId93" Type="http://schemas.openxmlformats.org/officeDocument/2006/relationships/slideLayout" Target="../slideLayouts/slideLayout128.xml"/><Relationship Id="rId98" Type="http://schemas.openxmlformats.org/officeDocument/2006/relationships/slideLayout" Target="../slideLayouts/slideLayout133.xml"/><Relationship Id="rId3" Type="http://schemas.openxmlformats.org/officeDocument/2006/relationships/slideLayout" Target="../slideLayouts/slideLayout38.xml"/><Relationship Id="rId25" Type="http://schemas.openxmlformats.org/officeDocument/2006/relationships/slideLayout" Target="../slideLayouts/slideLayout60.xml"/><Relationship Id="rId46" Type="http://schemas.openxmlformats.org/officeDocument/2006/relationships/slideLayout" Target="../slideLayouts/slideLayout81.xml"/><Relationship Id="rId67" Type="http://schemas.openxmlformats.org/officeDocument/2006/relationships/slideLayout" Target="../slideLayouts/slideLayout102.xml"/><Relationship Id="rId116" Type="http://schemas.openxmlformats.org/officeDocument/2006/relationships/image" Target="../media/image2.emf"/><Relationship Id="rId20" Type="http://schemas.openxmlformats.org/officeDocument/2006/relationships/slideLayout" Target="../slideLayouts/slideLayout55.xml"/><Relationship Id="rId41" Type="http://schemas.openxmlformats.org/officeDocument/2006/relationships/slideLayout" Target="../slideLayouts/slideLayout76.xml"/><Relationship Id="rId62" Type="http://schemas.openxmlformats.org/officeDocument/2006/relationships/slideLayout" Target="../slideLayouts/slideLayout97.xml"/><Relationship Id="rId83" Type="http://schemas.openxmlformats.org/officeDocument/2006/relationships/slideLayout" Target="../slideLayouts/slideLayout118.xml"/><Relationship Id="rId88" Type="http://schemas.openxmlformats.org/officeDocument/2006/relationships/slideLayout" Target="../slideLayouts/slideLayout123.xml"/><Relationship Id="rId111" Type="http://schemas.openxmlformats.org/officeDocument/2006/relationships/slideLayout" Target="../slideLayouts/slideLayout14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4C5CD68-4C20-46C5-8562-2EB82F830C86}"/>
              </a:ext>
            </a:extLst>
          </p:cNvPr>
          <p:cNvGraphicFramePr>
            <a:graphicFrameLocks noChangeAspect="1"/>
          </p:cNvGraphicFramePr>
          <p:nvPr userDrawn="1">
            <p:custDataLst>
              <p:tags r:id="rId3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353" imgH="354" progId="TCLayout.ActiveDocument.1">
                  <p:embed/>
                </p:oleObj>
              </mc:Choice>
              <mc:Fallback>
                <p:oleObj name="think-cell Slide" r:id="rId39" imgW="353" imgH="354" progId="TCLayout.ActiveDocument.1">
                  <p:embed/>
                  <p:pic>
                    <p:nvPicPr>
                      <p:cNvPr id="6" name="Object 5" hidden="1">
                        <a:extLst>
                          <a:ext uri="{FF2B5EF4-FFF2-40B4-BE49-F238E27FC236}">
                            <a16:creationId xmlns:a16="http://schemas.microsoft.com/office/drawing/2014/main" id="{04C5CD68-4C20-46C5-8562-2EB82F830C86}"/>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20F0CB4C-E207-43E3-A28F-4CD277DCDD1E}"/>
              </a:ext>
            </a:extLst>
          </p:cNvPr>
          <p:cNvSpPr/>
          <p:nvPr userDrawn="1">
            <p:custDataLst>
              <p:tags r:id="rId38"/>
            </p:custDataLst>
          </p:nvPr>
        </p:nvSpPr>
        <p:spPr bwMode="auto">
          <a:xfrm>
            <a:off x="0" y="0"/>
            <a:ext cx="158750" cy="1587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defTabSz="932472" rtl="0" fontAlgn="base">
              <a:spcBef>
                <a:spcPct val="0"/>
              </a:spcBef>
              <a:spcAft>
                <a:spcPct val="0"/>
              </a:spcAft>
            </a:pPr>
            <a:endParaRPr kumimoji="0" lang="en-US" sz="3600" b="0" i="0" u="none" cap="none" baseline="0">
              <a:gradFill>
                <a:gsLst>
                  <a:gs pos="0">
                    <a:srgbClr val="FFFFFF"/>
                  </a:gs>
                  <a:gs pos="100000">
                    <a:srgbClr val="FFFFFF"/>
                  </a:gs>
                </a:gsLst>
                <a:lin ang="5400000" scaled="0"/>
              </a:gradFill>
              <a:latin typeface="Segoe UI Semibold" panose="020B0702040204020203" pitchFamily="34" charset="0"/>
              <a:ea typeface="+mn-ea"/>
              <a:cs typeface="Segoe UI" pitchFamily="34" charset="0"/>
            </a:endParaRPr>
          </a:p>
        </p:txBody>
      </p:sp>
      <p:sp>
        <p:nvSpPr>
          <p:cNvPr id="2" name="Title Placeholder 1"/>
          <p:cNvSpPr>
            <a:spLocks noGrp="1"/>
          </p:cNvSpPr>
          <p:nvPr userDrawn="1">
            <p:ph type="title"/>
          </p:nvPr>
        </p:nvSpPr>
        <p:spPr>
          <a:xfrm>
            <a:off x="588263" y="457200"/>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1" cstate="print">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4173521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6"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724335127"/>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 id="2147483734" r:id="rId37"/>
    <p:sldLayoutId id="2147483735" r:id="rId38"/>
    <p:sldLayoutId id="2147483736" r:id="rId39"/>
    <p:sldLayoutId id="2147483737" r:id="rId40"/>
    <p:sldLayoutId id="2147483738" r:id="rId41"/>
    <p:sldLayoutId id="2147483739" r:id="rId42"/>
    <p:sldLayoutId id="2147483740" r:id="rId43"/>
    <p:sldLayoutId id="2147483741" r:id="rId44"/>
    <p:sldLayoutId id="2147483742" r:id="rId45"/>
    <p:sldLayoutId id="2147483743" r:id="rId46"/>
    <p:sldLayoutId id="2147483744" r:id="rId47"/>
    <p:sldLayoutId id="2147483745" r:id="rId48"/>
    <p:sldLayoutId id="2147483746" r:id="rId49"/>
    <p:sldLayoutId id="2147483747" r:id="rId50"/>
    <p:sldLayoutId id="2147483748" r:id="rId51"/>
    <p:sldLayoutId id="2147483749" r:id="rId52"/>
    <p:sldLayoutId id="2147483750" r:id="rId53"/>
    <p:sldLayoutId id="2147483751" r:id="rId54"/>
    <p:sldLayoutId id="2147483752" r:id="rId55"/>
    <p:sldLayoutId id="2147483753" r:id="rId56"/>
    <p:sldLayoutId id="2147483754" r:id="rId57"/>
    <p:sldLayoutId id="2147483755" r:id="rId58"/>
    <p:sldLayoutId id="2147483756" r:id="rId59"/>
    <p:sldLayoutId id="2147483757" r:id="rId60"/>
    <p:sldLayoutId id="2147483758" r:id="rId61"/>
    <p:sldLayoutId id="2147483759" r:id="rId62"/>
    <p:sldLayoutId id="2147483760" r:id="rId63"/>
    <p:sldLayoutId id="2147483761" r:id="rId64"/>
    <p:sldLayoutId id="2147483762" r:id="rId65"/>
    <p:sldLayoutId id="2147483763" r:id="rId66"/>
    <p:sldLayoutId id="2147483764" r:id="rId67"/>
    <p:sldLayoutId id="2147483765" r:id="rId68"/>
    <p:sldLayoutId id="2147483766" r:id="rId69"/>
    <p:sldLayoutId id="2147483767" r:id="rId70"/>
    <p:sldLayoutId id="2147483768" r:id="rId71"/>
    <p:sldLayoutId id="2147483769" r:id="rId72"/>
    <p:sldLayoutId id="2147483770" r:id="rId73"/>
    <p:sldLayoutId id="2147483771" r:id="rId74"/>
    <p:sldLayoutId id="2147483772" r:id="rId75"/>
    <p:sldLayoutId id="2147483773" r:id="rId76"/>
    <p:sldLayoutId id="2147483774" r:id="rId77"/>
    <p:sldLayoutId id="2147483775" r:id="rId78"/>
    <p:sldLayoutId id="2147483776" r:id="rId79"/>
    <p:sldLayoutId id="2147483777" r:id="rId80"/>
    <p:sldLayoutId id="2147483778" r:id="rId81"/>
    <p:sldLayoutId id="2147483779" r:id="rId82"/>
    <p:sldLayoutId id="2147483780" r:id="rId83"/>
    <p:sldLayoutId id="2147483781" r:id="rId84"/>
    <p:sldLayoutId id="2147483782" r:id="rId85"/>
    <p:sldLayoutId id="2147483783" r:id="rId86"/>
    <p:sldLayoutId id="2147483784" r:id="rId87"/>
    <p:sldLayoutId id="2147483785" r:id="rId88"/>
    <p:sldLayoutId id="2147483786" r:id="rId89"/>
    <p:sldLayoutId id="2147483787" r:id="rId90"/>
    <p:sldLayoutId id="2147483788" r:id="rId91"/>
    <p:sldLayoutId id="2147483789" r:id="rId92"/>
    <p:sldLayoutId id="2147483790" r:id="rId93"/>
    <p:sldLayoutId id="2147483791" r:id="rId94"/>
    <p:sldLayoutId id="2147483792" r:id="rId95"/>
    <p:sldLayoutId id="2147483793" r:id="rId96"/>
    <p:sldLayoutId id="2147483794" r:id="rId97"/>
    <p:sldLayoutId id="2147483795" r:id="rId98"/>
    <p:sldLayoutId id="2147483796" r:id="rId99"/>
    <p:sldLayoutId id="2147483797" r:id="rId100"/>
    <p:sldLayoutId id="2147483798" r:id="rId101"/>
    <p:sldLayoutId id="2147483799" r:id="rId102"/>
    <p:sldLayoutId id="2147483800" r:id="rId103"/>
    <p:sldLayoutId id="2147483801" r:id="rId104"/>
    <p:sldLayoutId id="2147483802" r:id="rId105"/>
    <p:sldLayoutId id="2147483803" r:id="rId106"/>
    <p:sldLayoutId id="2147483804" r:id="rId107"/>
    <p:sldLayoutId id="2147483805" r:id="rId108"/>
    <p:sldLayoutId id="2147483806" r:id="rId109"/>
    <p:sldLayoutId id="2147483807" r:id="rId110"/>
    <p:sldLayoutId id="2147483808" r:id="rId111"/>
    <p:sldLayoutId id="2147483809" r:id="rId112"/>
    <p:sldLayoutId id="2147483810" r:id="rId113"/>
    <p:sldLayoutId id="2147483811" r:id="rId11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468682"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468682"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16895728"/>
      </p:ext>
    </p:extLst>
  </p:cSld>
  <p:clrMap bg1="lt1" tx1="dk1" bg2="lt2" tx2="dk2" accent1="accent1" accent2="accent2" accent3="accent3" accent4="accent4" accent5="accent5" accent6="accent6" hlink="hlink" folHlink="folHlink"/>
  <p:sldLayoutIdLst>
    <p:sldLayoutId id="2147489435" r:id="rId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88">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7392">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468682"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468682"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011111084"/>
      </p:ext>
    </p:extLst>
  </p:cSld>
  <p:clrMap bg1="lt1" tx1="dk1" bg2="lt2" tx2="dk2" accent1="accent1" accent2="accent2" accent3="accent3" accent4="accent4" accent5="accent5" accent6="accent6" hlink="hlink" folHlink="folHlink"/>
  <p:sldLayoutIdLst>
    <p:sldLayoutId id="2147489437" r:id="rId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88">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7392">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54.xml"/><Relationship Id="rId4" Type="http://schemas.openxmlformats.org/officeDocument/2006/relationships/hyperlink" Target="https://aka.ms/FY23SMBTLP"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microsoft-my.sharepoint.com/:b:/p/chawong/ETXHo5jSIatLtfxICcBQkLsBUmvCG5OUZkj9HqL8hDKTqg?e=Woq6b0" TargetMode="External"/><Relationship Id="rId7"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1.jpeg"/><Relationship Id="rId5" Type="http://schemas.openxmlformats.org/officeDocument/2006/relationships/hyperlink" Target="https://microsoft-my.sharepoint.com/:w:/p/chawong/ESE-8fxJmGhFgDiWYvQ31_ABsPFfRiuIiUmctYnyAWWJYg?e=drppML" TargetMode="External"/><Relationship Id="rId4" Type="http://schemas.openxmlformats.org/officeDocument/2006/relationships/hyperlink" Target="https://aka.ms/FY23SMBTL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hyperlink" Target="https://aka.ms/FY23SMBTLP" TargetMode="External"/><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aka.ms/FY23SMBTL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hyperlink" Target="https://customers.microsoft.com/en-us/story/1384597004131285972-wesafe-professional-services-microsoft-365" TargetMode="Externa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hyperlink" Target="https://cloudpartners.transform.microsoft.com/practices/smb"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cloudpartners.transform.microsoft.com/practices/smb" TargetMode="External"/><Relationship Id="rId2" Type="http://schemas.openxmlformats.org/officeDocument/2006/relationships/notesSlide" Target="../notesSlides/notesSlide15.xml"/><Relationship Id="rId1" Type="http://schemas.openxmlformats.org/officeDocument/2006/relationships/slideLayout" Target="../slideLayouts/slideLayout151.xml"/><Relationship Id="rId6" Type="http://schemas.openxmlformats.org/officeDocument/2006/relationships/image" Target="../media/image480.png"/><Relationship Id="rId5" Type="http://schemas.openxmlformats.org/officeDocument/2006/relationships/slide" Target="slide13.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8" Type="http://schemas.openxmlformats.org/officeDocument/2006/relationships/hyperlink" Target="https://nam06.safelinks.protection.outlook.com/?url=http%3A%2F%2Faka.ms%2FMWForresterTEI2022&amp;data=05%7C01%7Cthabel%40microsoft.com%7C39fefdbd87b24534a2a608da68f803d4%7C72f988bf86f141af91ab2d7cd011db47%7C1%7C0%7C637937711705802361%7CUnknown%7CTWFpbGZsb3d8eyJWIjoiMC4wLjAwMDAiLCJQIjoiV2luMzIiLCJBTiI6Ik1haWwiLCJXVCI6Mn0%3D%7C3000%7C%7C%7C&amp;sdata=JDk0LN5xjNFPWfRknC8vjNEDQstJSInHPPhN9ZGFALg%3D&amp;reserved=0" TargetMode="External"/><Relationship Id="rId3" Type="http://schemas.openxmlformats.org/officeDocument/2006/relationships/hyperlink" Target="https://aka.ms/SMBPartnerPortal" TargetMode="External"/><Relationship Id="rId7" Type="http://schemas.openxmlformats.org/officeDocument/2006/relationships/hyperlink" Target="https://cloudpartners.transform.microsoft.com/download?assetname=assets/Teams-Essentials-Profitability-Calculator.xlsx&amp;download=1"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hyperlink" Target="https://aka.ms/W365Partnerportal" TargetMode="External"/><Relationship Id="rId5" Type="http://schemas.openxmlformats.org/officeDocument/2006/relationships/hyperlink" Target="https://aka.ms/M365MDBSeries" TargetMode="External"/><Relationship Id="rId4" Type="http://schemas.openxmlformats.org/officeDocument/2006/relationships/hyperlink" Target="https://aka.ms/M365BPPartnerPlaybook" TargetMode="External"/><Relationship Id="rId9" Type="http://schemas.openxmlformats.org/officeDocument/2006/relationships/hyperlink" Target="https://aka.ms/FY23SMBTL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DFFA8-0E67-EF19-824A-6A20DC1AF568}"/>
              </a:ext>
            </a:extLst>
          </p:cNvPr>
          <p:cNvSpPr>
            <a:spLocks noGrp="1"/>
          </p:cNvSpPr>
          <p:nvPr>
            <p:ph type="title"/>
          </p:nvPr>
        </p:nvSpPr>
        <p:spPr/>
        <p:txBody>
          <a:bodyPr/>
          <a:lstStyle/>
          <a:p>
            <a:r>
              <a:rPr lang="en-US"/>
              <a:t>Do More with Less in SMB</a:t>
            </a:r>
          </a:p>
        </p:txBody>
      </p:sp>
      <p:sp>
        <p:nvSpPr>
          <p:cNvPr id="3" name="Text Placeholder 2">
            <a:extLst>
              <a:ext uri="{FF2B5EF4-FFF2-40B4-BE49-F238E27FC236}">
                <a16:creationId xmlns:a16="http://schemas.microsoft.com/office/drawing/2014/main" id="{700ED935-6A28-45BB-D2FA-0C8C4AEBBF9F}"/>
              </a:ext>
            </a:extLst>
          </p:cNvPr>
          <p:cNvSpPr>
            <a:spLocks noGrp="1"/>
          </p:cNvSpPr>
          <p:nvPr>
            <p:ph type="body" sz="quarter" idx="12"/>
          </p:nvPr>
        </p:nvSpPr>
        <p:spPr/>
        <p:txBody>
          <a:bodyPr/>
          <a:lstStyle/>
          <a:p>
            <a:r>
              <a:rPr lang="en-US"/>
              <a:t>Partner Deck</a:t>
            </a:r>
          </a:p>
        </p:txBody>
      </p:sp>
    </p:spTree>
    <p:extLst>
      <p:ext uri="{BB962C8B-B14F-4D97-AF65-F5344CB8AC3E}">
        <p14:creationId xmlns:p14="http://schemas.microsoft.com/office/powerpoint/2010/main" val="2536066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9">
            <a:extLst>
              <a:ext uri="{FF2B5EF4-FFF2-40B4-BE49-F238E27FC236}">
                <a16:creationId xmlns:a16="http://schemas.microsoft.com/office/drawing/2014/main" id="{20F4859E-8B2B-1BBD-8DD5-CCCAF46325A2}"/>
              </a:ext>
              <a:ext uri="{C183D7F6-B498-43B3-948B-1728B52AA6E4}">
                <adec:decorative xmlns:adec="http://schemas.microsoft.com/office/drawing/2017/decorative" val="1"/>
              </a:ext>
            </a:extLst>
          </p:cNvPr>
          <p:cNvSpPr/>
          <p:nvPr/>
        </p:nvSpPr>
        <p:spPr>
          <a:xfrm>
            <a:off x="588263" y="2037144"/>
            <a:ext cx="11878057" cy="4066625"/>
          </a:xfrm>
          <a:prstGeom prst="roundRect">
            <a:avLst>
              <a:gd name="adj" fmla="val 3054"/>
            </a:avLst>
          </a:prstGeom>
          <a:solidFill>
            <a:schemeClr val="bg2">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1756" rtl="0" eaLnBrk="1" fontAlgn="auto" latinLnBrk="0" hangingPunct="1">
              <a:lnSpc>
                <a:spcPct val="100000"/>
              </a:lnSpc>
              <a:spcBef>
                <a:spcPts val="0"/>
              </a:spcBef>
              <a:spcAft>
                <a:spcPts val="0"/>
              </a:spcAft>
              <a:buClrTx/>
              <a:buSzTx/>
              <a:buFontTx/>
              <a:buNone/>
              <a:tabLst/>
              <a:defRPr/>
            </a:pPr>
            <a:endParaRPr kumimoji="0" lang="en-US" sz="870" b="0" i="0" u="none" strike="noStrike" kern="1200" cap="none" spc="0" normalizeH="0" baseline="0" noProof="0">
              <a:ln>
                <a:noFill/>
              </a:ln>
              <a:solidFill>
                <a:prstClr val="white"/>
              </a:solidFill>
              <a:effectLst/>
              <a:uLnTx/>
              <a:uFillTx/>
              <a:latin typeface="Calibri"/>
              <a:ea typeface="+mn-ea"/>
              <a:cs typeface="+mn-cs"/>
            </a:endParaRPr>
          </a:p>
        </p:txBody>
      </p:sp>
      <p:sp>
        <p:nvSpPr>
          <p:cNvPr id="5" name="Title 4">
            <a:extLst>
              <a:ext uri="{FF2B5EF4-FFF2-40B4-BE49-F238E27FC236}">
                <a16:creationId xmlns:a16="http://schemas.microsoft.com/office/drawing/2014/main" id="{B63C6B7D-350F-AEE9-40FC-DB32079CFA04}"/>
              </a:ext>
            </a:extLst>
          </p:cNvPr>
          <p:cNvSpPr>
            <a:spLocks noGrp="1"/>
          </p:cNvSpPr>
          <p:nvPr>
            <p:ph type="title"/>
          </p:nvPr>
        </p:nvSpPr>
        <p:spPr>
          <a:xfrm>
            <a:off x="588263" y="1033464"/>
            <a:ext cx="8102247" cy="430887"/>
          </a:xfrm>
        </p:spPr>
        <p:txBody>
          <a:bodyPr/>
          <a:lstStyle/>
          <a:p>
            <a:r>
              <a:rPr lang="en-US" sz="2800">
                <a:cs typeface="Segoe UI"/>
              </a:rPr>
              <a:t>Microsoft 365 empowers you to </a:t>
            </a:r>
            <a:r>
              <a:rPr lang="en-US" sz="2800">
                <a:solidFill>
                  <a:schemeClr val="accent1"/>
                </a:solidFill>
                <a:cs typeface="Segoe UI"/>
              </a:rPr>
              <a:t>Do More with Less</a:t>
            </a:r>
          </a:p>
        </p:txBody>
      </p:sp>
      <p:pic>
        <p:nvPicPr>
          <p:cNvPr id="7" name="Picture 2">
            <a:extLst>
              <a:ext uri="{FF2B5EF4-FFF2-40B4-BE49-F238E27FC236}">
                <a16:creationId xmlns:a16="http://schemas.microsoft.com/office/drawing/2014/main" id="{8E8EA335-10C0-3103-D229-096961C9B6B1}"/>
              </a:ext>
              <a:ext uri="{C183D7F6-B498-43B3-948B-1728B52AA6E4}">
                <adec:decorative xmlns:adec="http://schemas.microsoft.com/office/drawing/2017/decorative" val="1"/>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70981" y="-776991"/>
            <a:ext cx="5432102" cy="8148154"/>
          </a:xfrm>
          <a:prstGeom prst="rect">
            <a:avLst/>
          </a:prstGeom>
          <a:noFill/>
          <a:extLst>
            <a:ext uri="{909E8E84-426E-40DD-AFC4-6F175D3DCCD1}">
              <a14:hiddenFill xmlns:a14="http://schemas.microsoft.com/office/drawing/2010/main">
                <a:solidFill>
                  <a:srgbClr val="FFFFFF"/>
                </a:solidFill>
              </a14:hiddenFill>
            </a:ext>
          </a:extLst>
        </p:spPr>
      </p:pic>
      <p:sp>
        <p:nvSpPr>
          <p:cNvPr id="8" name="Title 2">
            <a:extLst>
              <a:ext uri="{FF2B5EF4-FFF2-40B4-BE49-F238E27FC236}">
                <a16:creationId xmlns:a16="http://schemas.microsoft.com/office/drawing/2014/main" id="{E7BCD9C5-142D-707D-20FE-F372597E7280}"/>
              </a:ext>
            </a:extLst>
          </p:cNvPr>
          <p:cNvSpPr txBox="1">
            <a:spLocks/>
          </p:cNvSpPr>
          <p:nvPr/>
        </p:nvSpPr>
        <p:spPr>
          <a:xfrm>
            <a:off x="972306" y="2351782"/>
            <a:ext cx="5914632" cy="215443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l" defTabSz="932667" rtl="0" eaLnBrk="1" latinLnBrk="0" hangingPunct="1">
              <a:lnSpc>
                <a:spcPct val="100000"/>
              </a:lnSpc>
              <a:spcBef>
                <a:spcPct val="0"/>
              </a:spcBef>
              <a:spcAft>
                <a:spcPts val="667"/>
              </a:spcAft>
              <a:buNone/>
              <a:defRPr lang="en-US" sz="3600" b="0" kern="1200" cap="none" spc="0" baseline="0" noProof="0" dirty="0">
                <a:ln w="3175">
                  <a:noFill/>
                </a:ln>
                <a:solidFill>
                  <a:schemeClr val="accent3"/>
                </a:solidFill>
                <a:effectLst/>
                <a:latin typeface="Segoe UI Variable Text Semibold" pitchFamily="2" charset="0"/>
                <a:ea typeface="+mn-ea"/>
                <a:cs typeface="Segoe UI Variable Text Semibold" pitchFamily="2" charset="0"/>
              </a:defRPr>
            </a:lvl1pPr>
          </a:lstStyle>
          <a:p>
            <a:pPr defTabSz="914400">
              <a:lnSpc>
                <a:spcPct val="110000"/>
              </a:lnSpc>
              <a:spcBef>
                <a:spcPts val="0"/>
              </a:spcBef>
              <a:spcAft>
                <a:spcPts val="0"/>
              </a:spcAft>
              <a:defRPr/>
            </a:pPr>
            <a:r>
              <a:rPr kumimoji="0" lang="en-US" sz="2400" b="0" i="0" u="none" strike="noStrike" kern="1200" cap="none" spc="0" normalizeH="0" baseline="0" noProof="0">
                <a:ln>
                  <a:noFill/>
                </a:ln>
                <a:solidFill>
                  <a:srgbClr val="000000"/>
                </a:solidFill>
                <a:effectLst/>
                <a:uLnTx/>
                <a:uFillTx/>
                <a:latin typeface="Segoe UI"/>
                <a:ea typeface="+mn-ea"/>
              </a:rPr>
              <a:t>“No company is better positioned than Microsoft to help organizations deliver on their </a:t>
            </a:r>
            <a:r>
              <a:rPr kumimoji="0" lang="en-US" sz="2400" i="0" u="none" strike="noStrike" kern="1200" cap="none" spc="0" normalizeH="0" baseline="0" noProof="0">
                <a:ln>
                  <a:noFill/>
                </a:ln>
                <a:solidFill>
                  <a:srgbClr val="000000"/>
                </a:solidFill>
                <a:effectLst/>
                <a:uLnTx/>
                <a:uFillTx/>
                <a:latin typeface="Segoe UI"/>
                <a:ea typeface="+mn-ea"/>
              </a:rPr>
              <a:t>digital imperative</a:t>
            </a:r>
            <a:r>
              <a:rPr kumimoji="0" lang="en-US" sz="2400" b="1" i="0" u="none" strike="noStrike" kern="1200" cap="none" spc="0" normalizeH="0" baseline="0" noProof="0">
                <a:ln>
                  <a:noFill/>
                </a:ln>
                <a:solidFill>
                  <a:srgbClr val="000000"/>
                </a:solidFill>
                <a:effectLst/>
                <a:uLnTx/>
                <a:uFillTx/>
                <a:latin typeface="Segoe UI"/>
                <a:ea typeface="+mn-ea"/>
              </a:rPr>
              <a:t> </a:t>
            </a:r>
            <a:r>
              <a:rPr kumimoji="0" lang="en-US" sz="2400" b="0" i="0" u="none" strike="noStrike" kern="1200" cap="none" spc="0" normalizeH="0" baseline="0" noProof="0">
                <a:ln>
                  <a:noFill/>
                </a:ln>
                <a:solidFill>
                  <a:srgbClr val="000000"/>
                </a:solidFill>
                <a:effectLst/>
                <a:uLnTx/>
                <a:uFillTx/>
                <a:latin typeface="Segoe UI"/>
                <a:ea typeface="+mn-ea"/>
              </a:rPr>
              <a:t>so that they can </a:t>
            </a:r>
            <a:r>
              <a:rPr kumimoji="0" lang="en-US" sz="2400" b="1" i="0" u="none" strike="noStrike" kern="1200" cap="none" spc="0" normalizeH="0" baseline="0" noProof="0">
                <a:ln>
                  <a:noFill/>
                </a:ln>
                <a:solidFill>
                  <a:srgbClr val="000000"/>
                </a:solidFill>
                <a:effectLst/>
                <a:uLnTx/>
                <a:uFillTx/>
                <a:latin typeface="Segoe UI"/>
                <a:ea typeface="+mn-ea"/>
              </a:rPr>
              <a:t>do more with less</a:t>
            </a:r>
            <a:r>
              <a:rPr kumimoji="0" lang="en-US" sz="2400" b="0" i="0" u="none" strike="noStrike" kern="1200" cap="none" spc="0" normalizeH="0" baseline="0" noProof="0">
                <a:ln>
                  <a:noFill/>
                </a:ln>
                <a:solidFill>
                  <a:srgbClr val="000000"/>
                </a:solidFill>
                <a:effectLst/>
                <a:uLnTx/>
                <a:uFillTx/>
                <a:latin typeface="Segoe UI"/>
                <a:ea typeface="+mn-ea"/>
              </a:rPr>
              <a:t>. From infrastructure and data to business applications and hybrid work, we provide unique differentiated value to our customers.”</a:t>
            </a:r>
            <a:r>
              <a:rPr lang="en-US" sz="2400">
                <a:ln>
                  <a:noFill/>
                </a:ln>
                <a:solidFill>
                  <a:srgbClr val="000000"/>
                </a:solidFill>
                <a:latin typeface="Segoe UI"/>
              </a:rPr>
              <a:t> </a:t>
            </a:r>
            <a:endParaRPr kumimoji="0" lang="en-US" sz="2800" b="0" i="1" u="none" strike="noStrike" kern="1200" cap="none" spc="0" normalizeH="0" baseline="0" noProof="0">
              <a:ln>
                <a:noFill/>
              </a:ln>
              <a:solidFill>
                <a:srgbClr val="0078D4"/>
              </a:solidFill>
              <a:effectLst/>
              <a:uLnTx/>
              <a:uFillTx/>
              <a:latin typeface="Segoe UI"/>
              <a:ea typeface="+mn-ea"/>
            </a:endParaRPr>
          </a:p>
          <a:p>
            <a:pPr marL="0" marR="0" lvl="0" indent="0" algn="r" defTabSz="914400" rtl="0" eaLnBrk="1" fontAlgn="auto" latinLnBrk="0" hangingPunct="1">
              <a:lnSpc>
                <a:spcPct val="11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78D4"/>
                </a:solidFill>
                <a:effectLst/>
                <a:uLnTx/>
                <a:uFillTx/>
                <a:latin typeface="Segoe UI Semibold"/>
                <a:ea typeface="+mn-ea"/>
              </a:rPr>
              <a:t>– Satya Nadella, CEO</a:t>
            </a:r>
            <a:endParaRPr lang="en-US" sz="2400" b="0" i="0" u="none" strike="noStrike" kern="1200" cap="none" spc="0" normalizeH="0" baseline="0" noProof="0">
              <a:ln>
                <a:noFill/>
              </a:ln>
              <a:solidFill>
                <a:srgbClr val="0078D4"/>
              </a:solidFill>
              <a:effectLst/>
              <a:uLnTx/>
              <a:uFillTx/>
              <a:latin typeface="Segoe UI Semibold"/>
            </a:endParaRPr>
          </a:p>
        </p:txBody>
      </p:sp>
    </p:spTree>
    <p:extLst>
      <p:ext uri="{BB962C8B-B14F-4D97-AF65-F5344CB8AC3E}">
        <p14:creationId xmlns:p14="http://schemas.microsoft.com/office/powerpoint/2010/main" val="228180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path" presetSubtype="0" decel="100000" fill="hold" grpId="1" nodeType="withEffect">
                                  <p:stCondLst>
                                    <p:cond delay="200"/>
                                  </p:stCondLst>
                                  <p:childTnLst>
                                    <p:animMotion origin="layout" path="M -2.95139E-6 3.45679E-6 L -2.95139E-6 0.04166 " pathEditMode="relative" rAng="0" ptsTypes="AA">
                                      <p:cBhvr>
                                        <p:cTn id="9" dur="750" spd="-100000" fill="hold"/>
                                        <p:tgtEl>
                                          <p:spTgt spid="8"/>
                                        </p:tgtEl>
                                        <p:attrNameLst>
                                          <p:attrName>ppt_x</p:attrName>
                                          <p:attrName>ppt_y</p:attrName>
                                        </p:attrNameLst>
                                      </p:cBhvr>
                                      <p:rCtr x="0" y="2083"/>
                                    </p:animMotion>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42" presetClass="path" presetSubtype="0" decel="100000" fill="hold" grpId="1" nodeType="withEffect">
                                  <p:stCondLst>
                                    <p:cond delay="0"/>
                                  </p:stCondLst>
                                  <p:childTnLst>
                                    <p:animMotion origin="layout" path="M -4.79167E-6 8.02469E-7 L -4.79167E-6 0.04167 " pathEditMode="relative" rAng="0" ptsTypes="AA">
                                      <p:cBhvr>
                                        <p:cTn id="14" dur="750" spd="-100000" fill="hold"/>
                                        <p:tgtEl>
                                          <p:spTgt spid="6"/>
                                        </p:tgtEl>
                                        <p:attrNameLst>
                                          <p:attrName>ppt_x</p:attrName>
                                          <p:attrName>ppt_y</p:attrName>
                                        </p:attrNameLst>
                                      </p:cBhvr>
                                      <p:rCtr x="0" y="20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41C5BE1-E6C3-6EF0-789D-5C1DE10616F3}"/>
              </a:ext>
              <a:ext uri="{C183D7F6-B498-43B3-948B-1728B52AA6E4}">
                <adec:decorative xmlns:adec="http://schemas.microsoft.com/office/drawing/2017/decorative" val="1"/>
              </a:ext>
            </a:extLst>
          </p:cNvPr>
          <p:cNvSpPr/>
          <p:nvPr/>
        </p:nvSpPr>
        <p:spPr bwMode="auto">
          <a:xfrm>
            <a:off x="0" y="2705100"/>
            <a:ext cx="12192000" cy="41529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341B444-CA1E-F6D4-8515-A805933BBB71}"/>
              </a:ext>
              <a:ext uri="{C183D7F6-B498-43B3-948B-1728B52AA6E4}">
                <adec:decorative xmlns:adec="http://schemas.microsoft.com/office/drawing/2017/decorative" val="1"/>
              </a:ext>
            </a:extLst>
          </p:cNvPr>
          <p:cNvSpPr/>
          <p:nvPr/>
        </p:nvSpPr>
        <p:spPr bwMode="auto">
          <a:xfrm>
            <a:off x="1030431" y="1859280"/>
            <a:ext cx="10198928" cy="2256366"/>
          </a:xfrm>
          <a:prstGeom prst="roundRect">
            <a:avLst>
              <a:gd name="adj" fmla="val 8443"/>
            </a:avLst>
          </a:prstGeom>
          <a:solidFill>
            <a:schemeClr val="bg1">
              <a:lumMod val="85000"/>
              <a:alpha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9" name="Title 68">
            <a:extLst>
              <a:ext uri="{FF2B5EF4-FFF2-40B4-BE49-F238E27FC236}">
                <a16:creationId xmlns:a16="http://schemas.microsoft.com/office/drawing/2014/main" id="{43EC1431-7C43-4015-226C-186DEBD6A91A}"/>
              </a:ext>
            </a:extLst>
          </p:cNvPr>
          <p:cNvSpPr>
            <a:spLocks noGrp="1"/>
          </p:cNvSpPr>
          <p:nvPr>
            <p:ph type="title"/>
          </p:nvPr>
        </p:nvSpPr>
        <p:spPr>
          <a:xfrm>
            <a:off x="588263" y="457200"/>
            <a:ext cx="11018520" cy="430887"/>
          </a:xfrm>
        </p:spPr>
        <p:txBody>
          <a:bodyPr/>
          <a:lstStyle/>
          <a:p>
            <a:pPr algn="ctr"/>
            <a:r>
              <a:rPr lang="en-US" sz="2800">
                <a:solidFill>
                  <a:schemeClr val="accent1"/>
                </a:solidFill>
                <a:latin typeface="+mj-lt"/>
                <a:cs typeface="Segoe UI"/>
              </a:rPr>
              <a:t>Microsoft 365 </a:t>
            </a:r>
            <a:r>
              <a:rPr lang="en-US" sz="2800">
                <a:cs typeface="Segoe UI"/>
              </a:rPr>
              <a:t>delivers</a:t>
            </a:r>
            <a:r>
              <a:rPr lang="en-US" sz="2800">
                <a:latin typeface="+mj-lt"/>
                <a:cs typeface="Segoe UI"/>
              </a:rPr>
              <a:t> on the </a:t>
            </a:r>
            <a:r>
              <a:rPr lang="en-US" sz="2800">
                <a:cs typeface="Segoe UI"/>
              </a:rPr>
              <a:t>power of the cloud</a:t>
            </a:r>
            <a:endParaRPr lang="en-US" sz="2800"/>
          </a:p>
        </p:txBody>
      </p:sp>
      <p:cxnSp>
        <p:nvCxnSpPr>
          <p:cNvPr id="9" name="Straight Connector 8">
            <a:extLst>
              <a:ext uri="{FF2B5EF4-FFF2-40B4-BE49-F238E27FC236}">
                <a16:creationId xmlns:a16="http://schemas.microsoft.com/office/drawing/2014/main" id="{785C6FE4-3698-4996-A7B4-372323355F99}"/>
              </a:ext>
              <a:ext uri="{C183D7F6-B498-43B3-948B-1728B52AA6E4}">
                <adec:decorative xmlns:adec="http://schemas.microsoft.com/office/drawing/2017/decorative" val="1"/>
              </a:ext>
            </a:extLst>
          </p:cNvPr>
          <p:cNvCxnSpPr>
            <a:cxnSpLocks/>
          </p:cNvCxnSpPr>
          <p:nvPr/>
        </p:nvCxnSpPr>
        <p:spPr>
          <a:xfrm>
            <a:off x="4484302" y="4854489"/>
            <a:ext cx="0" cy="1309607"/>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1FEC3A-C694-09A8-4647-FAB22284C048}"/>
              </a:ext>
              <a:ext uri="{C183D7F6-B498-43B3-948B-1728B52AA6E4}">
                <adec:decorative xmlns:adec="http://schemas.microsoft.com/office/drawing/2017/decorative" val="1"/>
              </a:ext>
            </a:extLst>
          </p:cNvPr>
          <p:cNvCxnSpPr>
            <a:cxnSpLocks/>
          </p:cNvCxnSpPr>
          <p:nvPr/>
        </p:nvCxnSpPr>
        <p:spPr>
          <a:xfrm>
            <a:off x="7856831" y="4854489"/>
            <a:ext cx="0" cy="1309607"/>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D97C20B-FBFC-0773-D100-602A04D638A9}"/>
              </a:ext>
              <a:ext uri="{C183D7F6-B498-43B3-948B-1728B52AA6E4}">
                <adec:decorative xmlns:adec="http://schemas.microsoft.com/office/drawing/2017/decorative" val="1"/>
              </a:ext>
            </a:extLst>
          </p:cNvPr>
          <p:cNvCxnSpPr>
            <a:cxnSpLocks/>
          </p:cNvCxnSpPr>
          <p:nvPr/>
        </p:nvCxnSpPr>
        <p:spPr>
          <a:xfrm>
            <a:off x="11229359" y="4854489"/>
            <a:ext cx="0" cy="1309607"/>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F4BB9CA-48B8-E42D-886A-B2AFC23C8CDC}"/>
              </a:ext>
              <a:ext uri="{C183D7F6-B498-43B3-948B-1728B52AA6E4}">
                <adec:decorative xmlns:adec="http://schemas.microsoft.com/office/drawing/2017/decorative" val="1"/>
              </a:ext>
            </a:extLst>
          </p:cNvPr>
          <p:cNvCxnSpPr>
            <a:cxnSpLocks/>
          </p:cNvCxnSpPr>
          <p:nvPr/>
        </p:nvCxnSpPr>
        <p:spPr>
          <a:xfrm>
            <a:off x="1111773" y="4854489"/>
            <a:ext cx="0" cy="1309607"/>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1" name="Right Bracket 50">
            <a:extLst>
              <a:ext uri="{FF2B5EF4-FFF2-40B4-BE49-F238E27FC236}">
                <a16:creationId xmlns:a16="http://schemas.microsoft.com/office/drawing/2014/main" id="{5E1159E0-11C6-BE7D-F2E7-893C35FABFBE}"/>
              </a:ext>
              <a:ext uri="{C183D7F6-B498-43B3-948B-1728B52AA6E4}">
                <adec:decorative xmlns:adec="http://schemas.microsoft.com/office/drawing/2017/decorative" val="1"/>
              </a:ext>
            </a:extLst>
          </p:cNvPr>
          <p:cNvSpPr/>
          <p:nvPr/>
        </p:nvSpPr>
        <p:spPr>
          <a:xfrm rot="16200000">
            <a:off x="5993973" y="-3338592"/>
            <a:ext cx="241506" cy="10005906"/>
          </a:xfrm>
          <a:prstGeom prst="rightBracket">
            <a:avLst>
              <a:gd name="adj" fmla="val 93966"/>
            </a:avLst>
          </a:prstGeom>
          <a:ln w="28575">
            <a:solidFill>
              <a:schemeClr val="bg1">
                <a:lumMod val="8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Rounded Corners 4">
            <a:extLst>
              <a:ext uri="{FF2B5EF4-FFF2-40B4-BE49-F238E27FC236}">
                <a16:creationId xmlns:a16="http://schemas.microsoft.com/office/drawing/2014/main" id="{434D3721-78F4-7158-9101-62BE750C2615}"/>
              </a:ext>
            </a:extLst>
          </p:cNvPr>
          <p:cNvSpPr/>
          <p:nvPr/>
        </p:nvSpPr>
        <p:spPr bwMode="auto">
          <a:xfrm>
            <a:off x="1139843" y="1966257"/>
            <a:ext cx="3239204" cy="2043661"/>
          </a:xfrm>
          <a:prstGeom prst="roundRect">
            <a:avLst>
              <a:gd name="adj" fmla="val 621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Segoe UI" pitchFamily="34" charset="0"/>
                <a:cs typeface="Segoe UI"/>
              </a:rPr>
              <a:t>Save Costs</a:t>
            </a:r>
          </a:p>
        </p:txBody>
      </p:sp>
      <p:sp>
        <p:nvSpPr>
          <p:cNvPr id="63" name="TextBox 62">
            <a:extLst>
              <a:ext uri="{FF2B5EF4-FFF2-40B4-BE49-F238E27FC236}">
                <a16:creationId xmlns:a16="http://schemas.microsoft.com/office/drawing/2014/main" id="{3ADA82D3-DE2C-7380-A3A3-274132CFE464}"/>
              </a:ext>
            </a:extLst>
          </p:cNvPr>
          <p:cNvSpPr txBox="1"/>
          <p:nvPr/>
        </p:nvSpPr>
        <p:spPr>
          <a:xfrm>
            <a:off x="1136156" y="2514940"/>
            <a:ext cx="3201414" cy="1015663"/>
          </a:xfrm>
          <a:prstGeom prst="rect">
            <a:avLst/>
          </a:prstGeom>
          <a:noFill/>
        </p:spPr>
        <p:txBody>
          <a:bodyPr wrap="square">
            <a:spAutoFit/>
          </a:bodyPr>
          <a:lstStyle/>
          <a:p>
            <a:pPr marL="171450" marR="0" lvl="0" indent="-171450" algn="l" defTabSz="914367"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Consolidate your apps into one Microsoft 365 suite</a:t>
            </a:r>
          </a:p>
          <a:p>
            <a:pPr marL="171450" marR="0" lvl="0" indent="-171450" algn="l" defTabSz="914367"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Simplify deployment with single sign on experience for easier access</a:t>
            </a:r>
          </a:p>
          <a:p>
            <a:pPr marL="171450" marR="0" lvl="0" indent="-171450" algn="l" defTabSz="932742" rtl="0" eaLnBrk="1" fontAlgn="auto" latinLnBrk="0" hangingPunct="1">
              <a:lnSpc>
                <a:spcPct val="100000"/>
              </a:lnSpc>
              <a:spcBef>
                <a:spcPts val="0"/>
              </a:spcBef>
              <a:spcAft>
                <a:spcPts val="600"/>
              </a:spcAft>
              <a:buClrTx/>
              <a:buSzPct val="9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Reduce application licensing and management complexity</a:t>
            </a:r>
          </a:p>
        </p:txBody>
      </p:sp>
      <p:sp>
        <p:nvSpPr>
          <p:cNvPr id="24" name="Rectangle: Rounded Corners 23">
            <a:extLst>
              <a:ext uri="{FF2B5EF4-FFF2-40B4-BE49-F238E27FC236}">
                <a16:creationId xmlns:a16="http://schemas.microsoft.com/office/drawing/2014/main" id="{961ECF85-6A9F-8A11-9936-CE8C431DFA53}"/>
              </a:ext>
            </a:extLst>
          </p:cNvPr>
          <p:cNvSpPr/>
          <p:nvPr/>
        </p:nvSpPr>
        <p:spPr bwMode="auto">
          <a:xfrm>
            <a:off x="4504244" y="1966257"/>
            <a:ext cx="3239204" cy="2043661"/>
          </a:xfrm>
          <a:prstGeom prst="roundRect">
            <a:avLst>
              <a:gd name="adj" fmla="val 621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Segoe UI" pitchFamily="34" charset="0"/>
                <a:cs typeface="Segoe UI"/>
              </a:rPr>
              <a:t>Increase Security Confidence</a:t>
            </a:r>
          </a:p>
        </p:txBody>
      </p:sp>
      <p:sp>
        <p:nvSpPr>
          <p:cNvPr id="65" name="TextBox 64">
            <a:extLst>
              <a:ext uri="{FF2B5EF4-FFF2-40B4-BE49-F238E27FC236}">
                <a16:creationId xmlns:a16="http://schemas.microsoft.com/office/drawing/2014/main" id="{4C5719A2-A17F-B6D9-BA0F-DA8889CF3E72}"/>
              </a:ext>
            </a:extLst>
          </p:cNvPr>
          <p:cNvSpPr txBox="1"/>
          <p:nvPr/>
        </p:nvSpPr>
        <p:spPr>
          <a:xfrm>
            <a:off x="4510592" y="2514939"/>
            <a:ext cx="3232853" cy="861774"/>
          </a:xfrm>
          <a:prstGeom prst="rect">
            <a:avLst/>
          </a:prstGeom>
          <a:noFill/>
        </p:spPr>
        <p:txBody>
          <a:bodyPr wrap="square" rIns="0">
            <a:spAutoFit/>
          </a:bodyPr>
          <a:lstStyle/>
          <a:p>
            <a:pPr marL="171450" marR="0" lvl="0" indent="-171450" algn="l" defTabSz="914367"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Securely access your data from anywhere</a:t>
            </a:r>
          </a:p>
          <a:p>
            <a:pPr marL="171450" marR="0" lvl="0" indent="-171450" algn="l" defTabSz="914367"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Reduce risk of expensive data breach incidents</a:t>
            </a:r>
          </a:p>
          <a:p>
            <a:pPr marL="171450" marR="0" lvl="0" indent="-171450" algn="l" defTabSz="914367"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Keep your devices safe wherever they are, across platforms</a:t>
            </a:r>
          </a:p>
        </p:txBody>
      </p:sp>
      <p:sp>
        <p:nvSpPr>
          <p:cNvPr id="25" name="Rectangle: Rounded Corners 24">
            <a:extLst>
              <a:ext uri="{FF2B5EF4-FFF2-40B4-BE49-F238E27FC236}">
                <a16:creationId xmlns:a16="http://schemas.microsoft.com/office/drawing/2014/main" id="{B966DEF1-8BC3-7F35-4154-6DC7F631F168}"/>
              </a:ext>
            </a:extLst>
          </p:cNvPr>
          <p:cNvSpPr/>
          <p:nvPr/>
        </p:nvSpPr>
        <p:spPr bwMode="auto">
          <a:xfrm>
            <a:off x="7868646" y="1966257"/>
            <a:ext cx="3239204" cy="2043661"/>
          </a:xfrm>
          <a:prstGeom prst="roundRect">
            <a:avLst>
              <a:gd name="adj" fmla="val 6214"/>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panose="020B0702040204020203" pitchFamily="34" charset="0"/>
                <a:ea typeface="Segoe UI" panose="020B0502040204020203" pitchFamily="34" charset="0"/>
                <a:cs typeface="Segoe UI" panose="020B0502040204020203" pitchFamily="34" charset="0"/>
              </a:rPr>
              <a:t>Improve Productivity</a:t>
            </a: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61" name="TextBox 60">
            <a:extLst>
              <a:ext uri="{FF2B5EF4-FFF2-40B4-BE49-F238E27FC236}">
                <a16:creationId xmlns:a16="http://schemas.microsoft.com/office/drawing/2014/main" id="{4EF7054A-3E93-BF4F-846E-70C72A950516}"/>
              </a:ext>
            </a:extLst>
          </p:cNvPr>
          <p:cNvSpPr txBox="1"/>
          <p:nvPr/>
        </p:nvSpPr>
        <p:spPr>
          <a:xfrm>
            <a:off x="7868644" y="2514939"/>
            <a:ext cx="3239204" cy="1015663"/>
          </a:xfrm>
          <a:prstGeom prst="rect">
            <a:avLst/>
          </a:prstGeom>
          <a:noFill/>
        </p:spPr>
        <p:txBody>
          <a:bodyPr wrap="square" lIns="91440" tIns="45720" rIns="91440" bIns="45720" anchor="t">
            <a:spAutoFit/>
          </a:bodyPr>
          <a:lstStyle/>
          <a:p>
            <a:pPr marL="171450" marR="0" lvl="0" indent="-171450" algn="l" defTabSz="914367"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Segoe UI Semilight"/>
                <a:cs typeface="Segoe UI Semilight"/>
              </a:rPr>
              <a:t>Connect professionally with customers from </a:t>
            </a:r>
            <a:r>
              <a:rPr lang="en-US" sz="1000">
                <a:solidFill>
                  <a:srgbClr val="000000"/>
                </a:solidFill>
                <a:latin typeface="Segoe UI Semilight"/>
                <a:cs typeface="Segoe UI Semilight"/>
              </a:rPr>
              <a:t>anywhere</a:t>
            </a:r>
            <a:endParaRPr kumimoji="0" lang="en-US" sz="10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endParaRPr>
          </a:p>
          <a:p>
            <a:pPr marL="171450" indent="-171450" defTabSz="914367">
              <a:spcAft>
                <a:spcPts val="600"/>
              </a:spcAft>
              <a:buFont typeface="Wingdings" panose="05000000000000000000" pitchFamily="2" charset="2"/>
              <a:buChar char="§"/>
              <a:defRPr/>
            </a:pPr>
            <a:r>
              <a:rPr lang="en-US" sz="1000">
                <a:solidFill>
                  <a:srgbClr val="000000"/>
                </a:solidFill>
                <a:latin typeface="Segoe UI Semilight"/>
                <a:cs typeface="Segoe UI Semilight"/>
              </a:rPr>
              <a:t>Adopt hybrid business practice to ease travel expense</a:t>
            </a:r>
            <a:endParaRPr lang="en-US">
              <a:latin typeface="Segoe UI Semilight"/>
              <a:cs typeface="Segoe UI Semilight"/>
            </a:endParaRPr>
          </a:p>
          <a:p>
            <a:pPr marL="171450" indent="-171450" defTabSz="914367">
              <a:spcAft>
                <a:spcPts val="600"/>
              </a:spcAft>
              <a:buFont typeface="Wingdings" panose="05000000000000000000" pitchFamily="2" charset="2"/>
              <a:buChar char="§"/>
              <a:defRPr/>
            </a:pPr>
            <a:r>
              <a:rPr lang="en-US" sz="1000">
                <a:solidFill>
                  <a:srgbClr val="000000"/>
                </a:solidFill>
                <a:latin typeface="Segoe UI Semilight"/>
                <a:cs typeface="Segoe UI Semilight"/>
              </a:rPr>
              <a:t>Reduce office space leasing and utilities costs </a:t>
            </a:r>
            <a:endParaRPr lang="en-US">
              <a:latin typeface="Segoe UI Semilight"/>
              <a:cs typeface="Segoe UI Semilight"/>
            </a:endParaRPr>
          </a:p>
        </p:txBody>
      </p:sp>
      <p:sp>
        <p:nvSpPr>
          <p:cNvPr id="4" name="TextBox 3">
            <a:extLst>
              <a:ext uri="{FF2B5EF4-FFF2-40B4-BE49-F238E27FC236}">
                <a16:creationId xmlns:a16="http://schemas.microsoft.com/office/drawing/2014/main" id="{4CF63D01-B90C-AE13-1056-B8940BC9449F}"/>
              </a:ext>
            </a:extLst>
          </p:cNvPr>
          <p:cNvSpPr txBox="1"/>
          <p:nvPr/>
        </p:nvSpPr>
        <p:spPr>
          <a:xfrm>
            <a:off x="5514414" y="4384566"/>
            <a:ext cx="1230962" cy="21544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mn-cs"/>
              </a:rPr>
              <a:t>Realize Value</a:t>
            </a:r>
          </a:p>
        </p:txBody>
      </p:sp>
      <p:pic>
        <p:nvPicPr>
          <p:cNvPr id="70" name="Picture 2">
            <a:extLst>
              <a:ext uri="{FF2B5EF4-FFF2-40B4-BE49-F238E27FC236}">
                <a16:creationId xmlns:a16="http://schemas.microsoft.com/office/drawing/2014/main" id="{BC26D770-D15F-46AD-67CB-7C6D2179EF55}"/>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3368"/>
          <a:stretch/>
        </p:blipFill>
        <p:spPr bwMode="auto">
          <a:xfrm>
            <a:off x="2620837" y="4983363"/>
            <a:ext cx="277217" cy="274320"/>
          </a:xfrm>
          <a:prstGeom prst="rect">
            <a:avLst/>
          </a:prstGeom>
          <a:noFill/>
          <a:effectLst/>
          <a:extLst>
            <a:ext uri="{909E8E84-426E-40DD-AFC4-6F175D3DCCD1}">
              <a14:hiddenFill xmlns:a14="http://schemas.microsoft.com/office/drawing/2010/main">
                <a:solidFill>
                  <a:srgbClr val="FFFFFF"/>
                </a:solidFill>
              </a14:hiddenFill>
            </a:ext>
          </a:extLst>
        </p:spPr>
      </p:pic>
      <p:sp>
        <p:nvSpPr>
          <p:cNvPr id="98" name="TextBox 97">
            <a:extLst>
              <a:ext uri="{FF2B5EF4-FFF2-40B4-BE49-F238E27FC236}">
                <a16:creationId xmlns:a16="http://schemas.microsoft.com/office/drawing/2014/main" id="{CD15EEA0-FC5B-3496-7D6A-ECEB5E4142F2}"/>
              </a:ext>
            </a:extLst>
          </p:cNvPr>
          <p:cNvSpPr txBox="1"/>
          <p:nvPr/>
        </p:nvSpPr>
        <p:spPr>
          <a:xfrm>
            <a:off x="1616445" y="5632184"/>
            <a:ext cx="2286000"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mn-ea"/>
                <a:cs typeface="+mn-cs"/>
              </a:rPr>
              <a:t>Save over </a:t>
            </a:r>
            <a:r>
              <a:rPr kumimoji="0" lang="en-US" sz="1100" b="1" i="0" u="none" strike="noStrike" kern="1200" cap="none" spc="0" normalizeH="0" baseline="0" noProof="0">
                <a:ln>
                  <a:noFill/>
                </a:ln>
                <a:solidFill>
                  <a:srgbClr val="FFFFFF"/>
                </a:solidFill>
                <a:effectLst/>
                <a:uLnTx/>
                <a:uFillTx/>
                <a:latin typeface="Segoe UI"/>
                <a:ea typeface="+mn-ea"/>
                <a:cs typeface="+mn-cs"/>
              </a:rPr>
              <a:t>50%</a:t>
            </a:r>
            <a:r>
              <a:rPr kumimoji="0" lang="en-US" sz="1100" b="0" i="0" u="none" strike="noStrike" kern="1200" cap="none" spc="0" normalizeH="0" baseline="0" noProof="0">
                <a:ln>
                  <a:noFill/>
                </a:ln>
                <a:solidFill>
                  <a:srgbClr val="FFFFFF"/>
                </a:solidFill>
                <a:effectLst/>
                <a:uLnTx/>
                <a:uFillTx/>
                <a:latin typeface="Segoe UI"/>
                <a:ea typeface="+mn-ea"/>
                <a:cs typeface="+mn-cs"/>
              </a:rPr>
              <a:t> through license consolidation to Microsoft 365</a:t>
            </a:r>
          </a:p>
        </p:txBody>
      </p:sp>
      <p:sp>
        <p:nvSpPr>
          <p:cNvPr id="3" name="TextBox 2">
            <a:extLst>
              <a:ext uri="{FF2B5EF4-FFF2-40B4-BE49-F238E27FC236}">
                <a16:creationId xmlns:a16="http://schemas.microsoft.com/office/drawing/2014/main" id="{493D5421-E6B1-FF73-F408-F3BC69100B2F}"/>
              </a:ext>
            </a:extLst>
          </p:cNvPr>
          <p:cNvSpPr txBox="1"/>
          <p:nvPr/>
        </p:nvSpPr>
        <p:spPr>
          <a:xfrm>
            <a:off x="4986895" y="5632184"/>
            <a:ext cx="2286000" cy="33855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mn-ea"/>
                <a:cs typeface="+mn-cs"/>
              </a:rPr>
              <a:t>Reduce data breach risk by </a:t>
            </a:r>
            <a:r>
              <a:rPr kumimoji="0" lang="en-US" sz="1100" b="1" i="0" u="none" strike="noStrike" kern="1200" cap="none" spc="0" normalizeH="0" baseline="0" noProof="0">
                <a:ln>
                  <a:noFill/>
                </a:ln>
                <a:solidFill>
                  <a:srgbClr val="FFFFFF"/>
                </a:solidFill>
                <a:effectLst/>
                <a:uLnTx/>
                <a:uFillTx/>
                <a:latin typeface="Segoe UI"/>
                <a:ea typeface="+mn-ea"/>
                <a:cs typeface="+mn-cs"/>
              </a:rPr>
              <a:t>45% </a:t>
            </a:r>
            <a:r>
              <a:rPr kumimoji="0" lang="en-US" sz="1100" b="0" i="0" u="none" strike="noStrike" kern="1200" cap="none" spc="0" normalizeH="0" baseline="0" noProof="0">
                <a:ln>
                  <a:noFill/>
                </a:ln>
                <a:solidFill>
                  <a:srgbClr val="FFFFFF"/>
                </a:solidFill>
                <a:effectLst/>
                <a:uLnTx/>
                <a:uFillTx/>
                <a:latin typeface="Segoe UI"/>
                <a:ea typeface="+mn-ea"/>
                <a:cs typeface="+mn-cs"/>
              </a:rPr>
              <a:t>and security management costs by </a:t>
            </a:r>
            <a:r>
              <a:rPr kumimoji="0" lang="en-US" sz="1100" b="1" i="0" u="none" strike="noStrike" kern="1200" cap="none" spc="0" normalizeH="0" baseline="0" noProof="0">
                <a:ln>
                  <a:noFill/>
                </a:ln>
                <a:solidFill>
                  <a:srgbClr val="FFFFFF"/>
                </a:solidFill>
                <a:effectLst/>
                <a:uLnTx/>
                <a:uFillTx/>
                <a:latin typeface="Segoe UI"/>
                <a:ea typeface="+mn-ea"/>
                <a:cs typeface="+mn-cs"/>
              </a:rPr>
              <a:t>50%</a:t>
            </a:r>
            <a:endParaRPr kumimoji="0" lang="en-US" sz="1100" b="0" i="0" u="none" strike="noStrike" kern="1200" cap="none" spc="0" normalizeH="0" baseline="0" noProof="0">
              <a:ln>
                <a:noFill/>
              </a:ln>
              <a:solidFill>
                <a:srgbClr val="FFFFFF"/>
              </a:solidFill>
              <a:effectLst/>
              <a:uLnTx/>
              <a:uFillTx/>
              <a:latin typeface="Segoe UI"/>
              <a:ea typeface="+mn-ea"/>
              <a:cs typeface="+mn-cs"/>
            </a:endParaRPr>
          </a:p>
        </p:txBody>
      </p:sp>
      <p:sp>
        <p:nvSpPr>
          <p:cNvPr id="15" name="TextBox 14">
            <a:extLst>
              <a:ext uri="{FF2B5EF4-FFF2-40B4-BE49-F238E27FC236}">
                <a16:creationId xmlns:a16="http://schemas.microsoft.com/office/drawing/2014/main" id="{5DE856D3-AF8F-8817-D36D-1FC2883066BD}"/>
              </a:ext>
            </a:extLst>
          </p:cNvPr>
          <p:cNvSpPr txBox="1"/>
          <p:nvPr/>
        </p:nvSpPr>
        <p:spPr>
          <a:xfrm>
            <a:off x="8345248" y="5632184"/>
            <a:ext cx="2286000" cy="33855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UI"/>
                <a:ea typeface="+mn-ea"/>
                <a:cs typeface="+mn-cs"/>
              </a:rPr>
              <a:t>Enable 51% more collaboration and reduce travel expenses by </a:t>
            </a:r>
            <a:r>
              <a:rPr kumimoji="0" lang="en-US" sz="1100" b="1" i="0" u="none" strike="noStrike" kern="1200" cap="none" spc="0" normalizeH="0" baseline="0" noProof="0">
                <a:ln>
                  <a:noFill/>
                </a:ln>
                <a:solidFill>
                  <a:srgbClr val="FFFFFF"/>
                </a:solidFill>
                <a:effectLst/>
                <a:uLnTx/>
                <a:uFillTx/>
                <a:latin typeface="Segoe UI"/>
                <a:ea typeface="+mn-ea"/>
                <a:cs typeface="+mn-cs"/>
              </a:rPr>
              <a:t>32%</a:t>
            </a:r>
            <a:endParaRPr kumimoji="0" lang="en-US" sz="1100" b="0" i="0" u="none" strike="noStrike" kern="1200" cap="none" spc="0" normalizeH="0" baseline="0" noProof="0">
              <a:ln>
                <a:noFill/>
              </a:ln>
              <a:solidFill>
                <a:srgbClr val="FFFFFF"/>
              </a:solidFill>
              <a:effectLst/>
              <a:uLnTx/>
              <a:uFillTx/>
              <a:latin typeface="Segoe UI"/>
              <a:ea typeface="+mn-ea"/>
              <a:cs typeface="+mn-cs"/>
            </a:endParaRPr>
          </a:p>
        </p:txBody>
      </p:sp>
      <p:pic>
        <p:nvPicPr>
          <p:cNvPr id="2054" name="Picture 6">
            <a:extLst>
              <a:ext uri="{FF2B5EF4-FFF2-40B4-BE49-F238E27FC236}">
                <a16:creationId xmlns:a16="http://schemas.microsoft.com/office/drawing/2014/main" id="{D20DCF2D-70DE-EF0F-9438-C48D0FB8DD0B}"/>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7975" y="4937643"/>
            <a:ext cx="650240" cy="36576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7B8F9E91-4E38-39DF-A8E0-2FD6C4330C80}"/>
              </a:ext>
              <a:ext uri="{C183D7F6-B498-43B3-948B-1728B52AA6E4}">
                <adec:decorative xmlns:adec="http://schemas.microsoft.com/office/drawing/2017/decorative" val="1"/>
              </a:ext>
            </a:extLst>
          </p:cNvPr>
          <p:cNvCxnSpPr>
            <a:cxnSpLocks/>
            <a:stCxn id="51" idx="2"/>
          </p:cNvCxnSpPr>
          <p:nvPr/>
        </p:nvCxnSpPr>
        <p:spPr>
          <a:xfrm>
            <a:off x="6114726" y="1543608"/>
            <a:ext cx="0" cy="241506"/>
          </a:xfrm>
          <a:prstGeom prst="straightConnector1">
            <a:avLst/>
          </a:prstGeom>
          <a:ln w="28575">
            <a:solidFill>
              <a:srgbClr val="DEDEDE"/>
            </a:solidFill>
            <a:headEnd type="none" w="lg" len="med"/>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103AD15E-07D5-98DF-56AE-E4541A628549}"/>
              </a:ext>
              <a:ext uri="{C183D7F6-B498-43B3-948B-1728B52AA6E4}">
                <adec:decorative xmlns:adec="http://schemas.microsoft.com/office/drawing/2017/decorative" val="1"/>
              </a:ext>
            </a:extLst>
          </p:cNvPr>
          <p:cNvGrpSpPr/>
          <p:nvPr/>
        </p:nvGrpSpPr>
        <p:grpSpPr>
          <a:xfrm>
            <a:off x="5980307" y="4960077"/>
            <a:ext cx="308273" cy="320892"/>
            <a:chOff x="11726543" y="373487"/>
            <a:chExt cx="496476" cy="516800"/>
          </a:xfrm>
        </p:grpSpPr>
        <p:sp>
          <p:nvSpPr>
            <p:cNvPr id="40" name="Freeform 5">
              <a:extLst>
                <a:ext uri="{FF2B5EF4-FFF2-40B4-BE49-F238E27FC236}">
                  <a16:creationId xmlns:a16="http://schemas.microsoft.com/office/drawing/2014/main" id="{48A9F1A7-DDF5-EF26-B03E-363EEB5C2D33}"/>
                </a:ext>
              </a:extLst>
            </p:cNvPr>
            <p:cNvSpPr>
              <a:spLocks/>
            </p:cNvSpPr>
            <p:nvPr/>
          </p:nvSpPr>
          <p:spPr bwMode="auto">
            <a:xfrm>
              <a:off x="11726543" y="373487"/>
              <a:ext cx="496476" cy="516800"/>
            </a:xfrm>
            <a:custGeom>
              <a:avLst/>
              <a:gdLst>
                <a:gd name="T0" fmla="*/ 169 w 261"/>
                <a:gd name="T1" fmla="*/ 11 h 274"/>
                <a:gd name="T2" fmla="*/ 169 w 261"/>
                <a:gd name="T3" fmla="*/ 11 h 274"/>
                <a:gd name="T4" fmla="*/ 130 w 261"/>
                <a:gd name="T5" fmla="*/ 0 h 274"/>
                <a:gd name="T6" fmla="*/ 91 w 261"/>
                <a:gd name="T7" fmla="*/ 11 h 274"/>
                <a:gd name="T8" fmla="*/ 47 w 261"/>
                <a:gd name="T9" fmla="*/ 33 h 274"/>
                <a:gd name="T10" fmla="*/ 0 w 261"/>
                <a:gd name="T11" fmla="*/ 45 h 274"/>
                <a:gd name="T12" fmla="*/ 0 w 261"/>
                <a:gd name="T13" fmla="*/ 90 h 274"/>
                <a:gd name="T14" fmla="*/ 11 w 261"/>
                <a:gd name="T15" fmla="*/ 147 h 274"/>
                <a:gd name="T16" fmla="*/ 41 w 261"/>
                <a:gd name="T17" fmla="*/ 197 h 274"/>
                <a:gd name="T18" fmla="*/ 83 w 261"/>
                <a:gd name="T19" fmla="*/ 240 h 274"/>
                <a:gd name="T20" fmla="*/ 130 w 261"/>
                <a:gd name="T21" fmla="*/ 274 h 274"/>
                <a:gd name="T22" fmla="*/ 178 w 261"/>
                <a:gd name="T23" fmla="*/ 240 h 274"/>
                <a:gd name="T24" fmla="*/ 220 w 261"/>
                <a:gd name="T25" fmla="*/ 197 h 274"/>
                <a:gd name="T26" fmla="*/ 250 w 261"/>
                <a:gd name="T27" fmla="*/ 147 h 274"/>
                <a:gd name="T28" fmla="*/ 261 w 261"/>
                <a:gd name="T29" fmla="*/ 90 h 274"/>
                <a:gd name="T30" fmla="*/ 261 w 261"/>
                <a:gd name="T31" fmla="*/ 45 h 274"/>
                <a:gd name="T32" fmla="*/ 213 w 261"/>
                <a:gd name="T33" fmla="*/ 33 h 274"/>
                <a:gd name="T34" fmla="*/ 169 w 261"/>
                <a:gd name="T35" fmla="*/ 11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1" h="274">
                  <a:moveTo>
                    <a:pt x="169" y="11"/>
                  </a:moveTo>
                  <a:lnTo>
                    <a:pt x="169" y="11"/>
                  </a:lnTo>
                  <a:cubicBezTo>
                    <a:pt x="158" y="4"/>
                    <a:pt x="145" y="0"/>
                    <a:pt x="130" y="0"/>
                  </a:cubicBezTo>
                  <a:cubicBezTo>
                    <a:pt x="116" y="0"/>
                    <a:pt x="103" y="4"/>
                    <a:pt x="91" y="11"/>
                  </a:cubicBezTo>
                  <a:cubicBezTo>
                    <a:pt x="78" y="21"/>
                    <a:pt x="63" y="28"/>
                    <a:pt x="47" y="33"/>
                  </a:cubicBezTo>
                  <a:cubicBezTo>
                    <a:pt x="32" y="39"/>
                    <a:pt x="16" y="43"/>
                    <a:pt x="0" y="45"/>
                  </a:cubicBezTo>
                  <a:lnTo>
                    <a:pt x="0" y="90"/>
                  </a:lnTo>
                  <a:cubicBezTo>
                    <a:pt x="0" y="110"/>
                    <a:pt x="4" y="129"/>
                    <a:pt x="11" y="147"/>
                  </a:cubicBezTo>
                  <a:cubicBezTo>
                    <a:pt x="19" y="165"/>
                    <a:pt x="29" y="182"/>
                    <a:pt x="41" y="197"/>
                  </a:cubicBezTo>
                  <a:cubicBezTo>
                    <a:pt x="53" y="213"/>
                    <a:pt x="67" y="227"/>
                    <a:pt x="83" y="240"/>
                  </a:cubicBezTo>
                  <a:cubicBezTo>
                    <a:pt x="99" y="253"/>
                    <a:pt x="114" y="264"/>
                    <a:pt x="130" y="274"/>
                  </a:cubicBezTo>
                  <a:cubicBezTo>
                    <a:pt x="146" y="264"/>
                    <a:pt x="162" y="253"/>
                    <a:pt x="178" y="240"/>
                  </a:cubicBezTo>
                  <a:cubicBezTo>
                    <a:pt x="193" y="227"/>
                    <a:pt x="207" y="213"/>
                    <a:pt x="220" y="197"/>
                  </a:cubicBezTo>
                  <a:cubicBezTo>
                    <a:pt x="232" y="182"/>
                    <a:pt x="242" y="165"/>
                    <a:pt x="250" y="147"/>
                  </a:cubicBezTo>
                  <a:cubicBezTo>
                    <a:pt x="257" y="129"/>
                    <a:pt x="261" y="110"/>
                    <a:pt x="261" y="90"/>
                  </a:cubicBezTo>
                  <a:lnTo>
                    <a:pt x="261" y="45"/>
                  </a:lnTo>
                  <a:cubicBezTo>
                    <a:pt x="245" y="43"/>
                    <a:pt x="229" y="39"/>
                    <a:pt x="213" y="33"/>
                  </a:cubicBezTo>
                  <a:cubicBezTo>
                    <a:pt x="198" y="28"/>
                    <a:pt x="183" y="21"/>
                    <a:pt x="169" y="11"/>
                  </a:cubicBezTo>
                  <a:close/>
                </a:path>
              </a:pathLst>
            </a:custGeom>
            <a:solidFill>
              <a:srgbClr val="0078D4"/>
            </a:solidFill>
            <a:ln w="0">
              <a:noFill/>
              <a:prstDash val="solid"/>
              <a:round/>
              <a:headEnd/>
              <a:tailEnd/>
            </a:ln>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1200" cap="none" spc="0" normalizeH="0" baseline="0" noProof="0">
                <a:ln>
                  <a:noFill/>
                </a:ln>
                <a:solidFill>
                  <a:srgbClr val="1A1A1A"/>
                </a:solidFill>
                <a:effectLst/>
                <a:uLnTx/>
                <a:uFillTx/>
                <a:latin typeface="Segoe UI"/>
                <a:ea typeface="+mn-ea"/>
                <a:cs typeface="+mn-cs"/>
              </a:endParaRPr>
            </a:p>
          </p:txBody>
        </p:sp>
        <p:sp>
          <p:nvSpPr>
            <p:cNvPr id="43" name="Freeform 8">
              <a:extLst>
                <a:ext uri="{FF2B5EF4-FFF2-40B4-BE49-F238E27FC236}">
                  <a16:creationId xmlns:a16="http://schemas.microsoft.com/office/drawing/2014/main" id="{BD7C6CCC-1980-CC9D-718C-C07A6665EE2D}"/>
                </a:ext>
              </a:extLst>
            </p:cNvPr>
            <p:cNvSpPr>
              <a:spLocks/>
            </p:cNvSpPr>
            <p:nvPr/>
          </p:nvSpPr>
          <p:spPr bwMode="auto">
            <a:xfrm>
              <a:off x="11870800" y="520037"/>
              <a:ext cx="207963" cy="161925"/>
            </a:xfrm>
            <a:custGeom>
              <a:avLst/>
              <a:gdLst>
                <a:gd name="T0" fmla="*/ 281 w 288"/>
                <a:gd name="T1" fmla="*/ 13 h 225"/>
                <a:gd name="T2" fmla="*/ 281 w 288"/>
                <a:gd name="T3" fmla="*/ 13 h 225"/>
                <a:gd name="T4" fmla="*/ 278 w 288"/>
                <a:gd name="T5" fmla="*/ 9 h 225"/>
                <a:gd name="T6" fmla="*/ 273 w 288"/>
                <a:gd name="T7" fmla="*/ 5 h 225"/>
                <a:gd name="T8" fmla="*/ 243 w 288"/>
                <a:gd name="T9" fmla="*/ 9 h 225"/>
                <a:gd name="T10" fmla="*/ 239 w 288"/>
                <a:gd name="T11" fmla="*/ 13 h 225"/>
                <a:gd name="T12" fmla="*/ 235 w 288"/>
                <a:gd name="T13" fmla="*/ 17 h 225"/>
                <a:gd name="T14" fmla="*/ 189 w 288"/>
                <a:gd name="T15" fmla="*/ 63 h 225"/>
                <a:gd name="T16" fmla="*/ 98 w 288"/>
                <a:gd name="T17" fmla="*/ 155 h 225"/>
                <a:gd name="T18" fmla="*/ 45 w 288"/>
                <a:gd name="T19" fmla="*/ 102 h 225"/>
                <a:gd name="T20" fmla="*/ 10 w 288"/>
                <a:gd name="T21" fmla="*/ 102 h 225"/>
                <a:gd name="T22" fmla="*/ 10 w 288"/>
                <a:gd name="T23" fmla="*/ 137 h 225"/>
                <a:gd name="T24" fmla="*/ 98 w 288"/>
                <a:gd name="T25" fmla="*/ 225 h 225"/>
                <a:gd name="T26" fmla="*/ 260 w 288"/>
                <a:gd name="T27" fmla="*/ 63 h 225"/>
                <a:gd name="T28" fmla="*/ 273 w 288"/>
                <a:gd name="T29" fmla="*/ 50 h 225"/>
                <a:gd name="T30" fmla="*/ 278 w 288"/>
                <a:gd name="T31" fmla="*/ 45 h 225"/>
                <a:gd name="T32" fmla="*/ 281 w 288"/>
                <a:gd name="T33" fmla="*/ 1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225">
                  <a:moveTo>
                    <a:pt x="281" y="13"/>
                  </a:moveTo>
                  <a:lnTo>
                    <a:pt x="281" y="13"/>
                  </a:lnTo>
                  <a:cubicBezTo>
                    <a:pt x="281" y="12"/>
                    <a:pt x="280" y="10"/>
                    <a:pt x="278" y="9"/>
                  </a:cubicBezTo>
                  <a:cubicBezTo>
                    <a:pt x="277" y="7"/>
                    <a:pt x="275" y="6"/>
                    <a:pt x="273" y="5"/>
                  </a:cubicBezTo>
                  <a:cubicBezTo>
                    <a:pt x="263" y="0"/>
                    <a:pt x="251" y="1"/>
                    <a:pt x="243" y="9"/>
                  </a:cubicBezTo>
                  <a:lnTo>
                    <a:pt x="239" y="13"/>
                  </a:lnTo>
                  <a:lnTo>
                    <a:pt x="235" y="17"/>
                  </a:lnTo>
                  <a:lnTo>
                    <a:pt x="189" y="63"/>
                  </a:lnTo>
                  <a:lnTo>
                    <a:pt x="98" y="155"/>
                  </a:lnTo>
                  <a:lnTo>
                    <a:pt x="45" y="102"/>
                  </a:lnTo>
                  <a:cubicBezTo>
                    <a:pt x="35" y="92"/>
                    <a:pt x="19" y="92"/>
                    <a:pt x="10" y="102"/>
                  </a:cubicBezTo>
                  <a:cubicBezTo>
                    <a:pt x="0" y="112"/>
                    <a:pt x="0" y="128"/>
                    <a:pt x="10" y="137"/>
                  </a:cubicBezTo>
                  <a:lnTo>
                    <a:pt x="98" y="225"/>
                  </a:lnTo>
                  <a:lnTo>
                    <a:pt x="260" y="63"/>
                  </a:lnTo>
                  <a:lnTo>
                    <a:pt x="273" y="50"/>
                  </a:lnTo>
                  <a:lnTo>
                    <a:pt x="278" y="45"/>
                  </a:lnTo>
                  <a:cubicBezTo>
                    <a:pt x="287" y="36"/>
                    <a:pt x="288" y="23"/>
                    <a:pt x="281" y="1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9508913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42" presetClass="path" presetSubtype="0" decel="100000" fill="hold" grpId="1" nodeType="withEffect">
                                  <p:stCondLst>
                                    <p:cond delay="0"/>
                                  </p:stCondLst>
                                  <p:childTnLst>
                                    <p:animMotion origin="layout" path="M 2.70833E-6 3.33333E-6 L 2.70833E-6 0.04166 " pathEditMode="relative" rAng="0" ptsTypes="AA">
                                      <p:cBhvr>
                                        <p:cTn id="9" dur="500" spd="-100000" fill="hold"/>
                                        <p:tgtEl>
                                          <p:spTgt spid="38"/>
                                        </p:tgtEl>
                                        <p:attrNameLst>
                                          <p:attrName>ppt_x</p:attrName>
                                          <p:attrName>ppt_y</p:attrName>
                                        </p:attrNameLst>
                                      </p:cBhvr>
                                      <p:rCtr x="0" y="2083"/>
                                    </p:animMotion>
                                  </p:childTnLst>
                                </p:cTn>
                              </p:par>
                              <p:par>
                                <p:cTn id="10" presetID="10" presetClass="entr" presetSubtype="0" fill="hold" nodeType="withEffect">
                                  <p:stCondLst>
                                    <p:cond delay="20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42" presetClass="path" presetSubtype="0" decel="100000" fill="hold" nodeType="withEffect">
                                  <p:stCondLst>
                                    <p:cond delay="200"/>
                                  </p:stCondLst>
                                  <p:childTnLst>
                                    <p:animMotion origin="layout" path="M 2.70833E-6 3.33333E-6 L 2.70833E-6 0.04166 " pathEditMode="relative" rAng="0" ptsTypes="AA">
                                      <p:cBhvr>
                                        <p:cTn id="14" dur="500" spd="-100000" fill="hold"/>
                                        <p:tgtEl>
                                          <p:spTgt spid="36"/>
                                        </p:tgtEl>
                                        <p:attrNameLst>
                                          <p:attrName>ppt_x</p:attrName>
                                          <p:attrName>ppt_y</p:attrName>
                                        </p:attrNameLst>
                                      </p:cBhvr>
                                      <p:rCtr x="0" y="2083"/>
                                    </p:animMotion>
                                  </p:childTnLst>
                                </p:cTn>
                              </p:par>
                              <p:par>
                                <p:cTn id="15" presetID="10" presetClass="entr" presetSubtype="0" fill="hold" nodeType="withEffect">
                                  <p:stCondLst>
                                    <p:cond delay="300"/>
                                  </p:stCondLst>
                                  <p:childTnLst>
                                    <p:set>
                                      <p:cBhvr>
                                        <p:cTn id="16" dur="1" fill="hold">
                                          <p:stCondLst>
                                            <p:cond delay="0"/>
                                          </p:stCondLst>
                                        </p:cTn>
                                        <p:tgtEl>
                                          <p:spTgt spid="70"/>
                                        </p:tgtEl>
                                        <p:attrNameLst>
                                          <p:attrName>style.visibility</p:attrName>
                                        </p:attrNameLst>
                                      </p:cBhvr>
                                      <p:to>
                                        <p:strVal val="visible"/>
                                      </p:to>
                                    </p:set>
                                    <p:animEffect transition="in" filter="fade">
                                      <p:cBhvr>
                                        <p:cTn id="17" dur="500"/>
                                        <p:tgtEl>
                                          <p:spTgt spid="70"/>
                                        </p:tgtEl>
                                      </p:cBhvr>
                                    </p:animEffect>
                                  </p:childTnLst>
                                </p:cTn>
                              </p:par>
                              <p:par>
                                <p:cTn id="18" presetID="42" presetClass="path" presetSubtype="0" decel="100000" fill="hold" nodeType="withEffect">
                                  <p:stCondLst>
                                    <p:cond delay="300"/>
                                  </p:stCondLst>
                                  <p:childTnLst>
                                    <p:animMotion origin="layout" path="M 2.70833E-6 3.33333E-6 L 2.70833E-6 0.04166 " pathEditMode="relative" rAng="0" ptsTypes="AA">
                                      <p:cBhvr>
                                        <p:cTn id="19" dur="500" spd="-100000" fill="hold"/>
                                        <p:tgtEl>
                                          <p:spTgt spid="70"/>
                                        </p:tgtEl>
                                        <p:attrNameLst>
                                          <p:attrName>ppt_x</p:attrName>
                                          <p:attrName>ppt_y</p:attrName>
                                        </p:attrNameLst>
                                      </p:cBhvr>
                                      <p:rCtr x="0" y="2083"/>
                                    </p:animMotion>
                                  </p:childTnLst>
                                </p:cTn>
                              </p:par>
                              <p:par>
                                <p:cTn id="20" presetID="10" presetClass="entr" presetSubtype="0" fill="hold" grpId="0" nodeType="withEffect">
                                  <p:stCondLst>
                                    <p:cond delay="400"/>
                                  </p:stCondLst>
                                  <p:childTnLst>
                                    <p:set>
                                      <p:cBhvr>
                                        <p:cTn id="21" dur="1" fill="hold">
                                          <p:stCondLst>
                                            <p:cond delay="0"/>
                                          </p:stCondLst>
                                        </p:cTn>
                                        <p:tgtEl>
                                          <p:spTgt spid="98"/>
                                        </p:tgtEl>
                                        <p:attrNameLst>
                                          <p:attrName>style.visibility</p:attrName>
                                        </p:attrNameLst>
                                      </p:cBhvr>
                                      <p:to>
                                        <p:strVal val="visible"/>
                                      </p:to>
                                    </p:set>
                                    <p:animEffect transition="in" filter="fade">
                                      <p:cBhvr>
                                        <p:cTn id="22" dur="500"/>
                                        <p:tgtEl>
                                          <p:spTgt spid="98"/>
                                        </p:tgtEl>
                                      </p:cBhvr>
                                    </p:animEffect>
                                  </p:childTnLst>
                                </p:cTn>
                              </p:par>
                              <p:par>
                                <p:cTn id="23" presetID="42" presetClass="path" presetSubtype="0" decel="100000" fill="hold" grpId="1" nodeType="withEffect">
                                  <p:stCondLst>
                                    <p:cond delay="400"/>
                                  </p:stCondLst>
                                  <p:childTnLst>
                                    <p:animMotion origin="layout" path="M 2.70833E-6 3.33333E-6 L 2.70833E-6 0.04166 " pathEditMode="relative" rAng="0" ptsTypes="AA">
                                      <p:cBhvr>
                                        <p:cTn id="24" dur="500" spd="-100000" fill="hold"/>
                                        <p:tgtEl>
                                          <p:spTgt spid="98"/>
                                        </p:tgtEl>
                                        <p:attrNameLst>
                                          <p:attrName>ppt_x</p:attrName>
                                          <p:attrName>ppt_y</p:attrName>
                                        </p:attrNameLst>
                                      </p:cBhvr>
                                      <p:rCtr x="0" y="2083"/>
                                    </p:animMotion>
                                  </p:childTnLst>
                                </p:cTn>
                              </p:par>
                              <p:par>
                                <p:cTn id="25" presetID="10" presetClass="entr" presetSubtype="0" fill="hold" nodeType="withEffect">
                                  <p:stCondLst>
                                    <p:cond delay="5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42" presetClass="path" presetSubtype="0" decel="100000" fill="hold" nodeType="withEffect">
                                  <p:stCondLst>
                                    <p:cond delay="500"/>
                                  </p:stCondLst>
                                  <p:childTnLst>
                                    <p:animMotion origin="layout" path="M 2.70833E-6 3.33333E-6 L 2.70833E-6 0.04166 " pathEditMode="relative" rAng="0" ptsTypes="AA">
                                      <p:cBhvr>
                                        <p:cTn id="29" dur="500" spd="-100000" fill="hold"/>
                                        <p:tgtEl>
                                          <p:spTgt spid="9"/>
                                        </p:tgtEl>
                                        <p:attrNameLst>
                                          <p:attrName>ppt_x</p:attrName>
                                          <p:attrName>ppt_y</p:attrName>
                                        </p:attrNameLst>
                                      </p:cBhvr>
                                      <p:rCtr x="0" y="2083"/>
                                    </p:animMotion>
                                  </p:childTnLst>
                                </p:cTn>
                              </p:par>
                              <p:par>
                                <p:cTn id="30" presetID="10" presetClass="entr" presetSubtype="0" fill="hold" grpId="0" nodeType="withEffect">
                                  <p:stCondLst>
                                    <p:cond delay="70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par>
                                <p:cTn id="33" presetID="42" presetClass="path" presetSubtype="0" decel="100000" fill="hold" grpId="1" nodeType="withEffect">
                                  <p:stCondLst>
                                    <p:cond delay="700"/>
                                  </p:stCondLst>
                                  <p:childTnLst>
                                    <p:animMotion origin="layout" path="M 2.70833E-6 3.33333E-6 L 2.70833E-6 0.04166 " pathEditMode="relative" rAng="0" ptsTypes="AA">
                                      <p:cBhvr>
                                        <p:cTn id="34" dur="500" spd="-100000" fill="hold"/>
                                        <p:tgtEl>
                                          <p:spTgt spid="3"/>
                                        </p:tgtEl>
                                        <p:attrNameLst>
                                          <p:attrName>ppt_x</p:attrName>
                                          <p:attrName>ppt_y</p:attrName>
                                        </p:attrNameLst>
                                      </p:cBhvr>
                                      <p:rCtr x="0" y="2083"/>
                                    </p:animMotion>
                                  </p:childTnLst>
                                </p:cTn>
                              </p:par>
                              <p:par>
                                <p:cTn id="35" presetID="10" presetClass="entr" presetSubtype="0" fill="hold" grpId="0" nodeType="withEffect">
                                  <p:stCondLst>
                                    <p:cond delay="10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par>
                                <p:cTn id="38" presetID="42" presetClass="path" presetSubtype="0" decel="100000" fill="hold" grpId="1" nodeType="withEffect">
                                  <p:stCondLst>
                                    <p:cond delay="100"/>
                                  </p:stCondLst>
                                  <p:childTnLst>
                                    <p:animMotion origin="layout" path="M 2.70833E-6 3.33333E-6 L 2.70833E-6 0.04166 " pathEditMode="relative" rAng="0" ptsTypes="AA">
                                      <p:cBhvr>
                                        <p:cTn id="39" dur="500" spd="-100000" fill="hold"/>
                                        <p:tgtEl>
                                          <p:spTgt spid="4"/>
                                        </p:tgtEl>
                                        <p:attrNameLst>
                                          <p:attrName>ppt_x</p:attrName>
                                          <p:attrName>ppt_y</p:attrName>
                                        </p:attrNameLst>
                                      </p:cBhvr>
                                      <p:rCtr x="0" y="2083"/>
                                    </p:animMotion>
                                  </p:childTnLst>
                                </p:cTn>
                              </p:par>
                              <p:par>
                                <p:cTn id="40" presetID="10" presetClass="entr" presetSubtype="0" fill="hold" nodeType="withEffect">
                                  <p:stCondLst>
                                    <p:cond delay="80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par>
                                <p:cTn id="43" presetID="42" presetClass="path" presetSubtype="0" decel="100000" fill="hold" nodeType="withEffect">
                                  <p:stCondLst>
                                    <p:cond delay="800"/>
                                  </p:stCondLst>
                                  <p:childTnLst>
                                    <p:animMotion origin="layout" path="M 2.70833E-6 3.33333E-6 L 2.70833E-6 0.04166 " pathEditMode="relative" rAng="0" ptsTypes="AA">
                                      <p:cBhvr>
                                        <p:cTn id="44" dur="500" spd="-100000" fill="hold"/>
                                        <p:tgtEl>
                                          <p:spTgt spid="33"/>
                                        </p:tgtEl>
                                        <p:attrNameLst>
                                          <p:attrName>ppt_x</p:attrName>
                                          <p:attrName>ppt_y</p:attrName>
                                        </p:attrNameLst>
                                      </p:cBhvr>
                                      <p:rCtr x="0" y="2083"/>
                                    </p:animMotion>
                                  </p:childTnLst>
                                </p:cTn>
                              </p:par>
                              <p:par>
                                <p:cTn id="45" presetID="10" presetClass="entr" presetSubtype="0" fill="hold" grpId="0" nodeType="withEffect">
                                  <p:stCondLst>
                                    <p:cond delay="10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42" presetClass="path" presetSubtype="0" decel="100000" fill="hold" grpId="1" nodeType="withEffect">
                                  <p:stCondLst>
                                    <p:cond delay="1000"/>
                                  </p:stCondLst>
                                  <p:childTnLst>
                                    <p:animMotion origin="layout" path="M 2.70833E-6 3.33333E-6 L 2.70833E-6 0.04166 " pathEditMode="relative" rAng="0" ptsTypes="AA">
                                      <p:cBhvr>
                                        <p:cTn id="49" dur="500" spd="-100000" fill="hold"/>
                                        <p:tgtEl>
                                          <p:spTgt spid="15"/>
                                        </p:tgtEl>
                                        <p:attrNameLst>
                                          <p:attrName>ppt_x</p:attrName>
                                          <p:attrName>ppt_y</p:attrName>
                                        </p:attrNameLst>
                                      </p:cBhvr>
                                      <p:rCtr x="0" y="2083"/>
                                    </p:animMotion>
                                  </p:childTnLst>
                                </p:cTn>
                              </p:par>
                              <p:par>
                                <p:cTn id="50" presetID="10" presetClass="entr" presetSubtype="0" fill="hold" nodeType="withEffect">
                                  <p:stCondLst>
                                    <p:cond delay="110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par>
                                <p:cTn id="53" presetID="42" presetClass="path" presetSubtype="0" decel="100000" fill="hold" nodeType="withEffect">
                                  <p:stCondLst>
                                    <p:cond delay="1100"/>
                                  </p:stCondLst>
                                  <p:childTnLst>
                                    <p:animMotion origin="layout" path="M 2.70833E-6 3.33333E-6 L 2.70833E-6 0.04166 " pathEditMode="relative" rAng="0" ptsTypes="AA">
                                      <p:cBhvr>
                                        <p:cTn id="54" dur="500" spd="-100000" fill="hold"/>
                                        <p:tgtEl>
                                          <p:spTgt spid="34"/>
                                        </p:tgtEl>
                                        <p:attrNameLst>
                                          <p:attrName>ppt_x</p:attrName>
                                          <p:attrName>ppt_y</p:attrName>
                                        </p:attrNameLst>
                                      </p:cBhvr>
                                      <p:rCtr x="0" y="2083"/>
                                    </p:animMotion>
                                  </p:childTnLst>
                                </p:cTn>
                              </p:par>
                              <p:par>
                                <p:cTn id="55" presetID="10" presetClass="entr" presetSubtype="0" fill="hold" nodeType="withEffect">
                                  <p:stCondLst>
                                    <p:cond delay="60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500"/>
                                        <p:tgtEl>
                                          <p:spTgt spid="39"/>
                                        </p:tgtEl>
                                      </p:cBhvr>
                                    </p:animEffect>
                                  </p:childTnLst>
                                </p:cTn>
                              </p:par>
                              <p:par>
                                <p:cTn id="58" presetID="42" presetClass="path" presetSubtype="0" decel="100000" fill="hold" nodeType="withEffect">
                                  <p:stCondLst>
                                    <p:cond delay="600"/>
                                  </p:stCondLst>
                                  <p:childTnLst>
                                    <p:animMotion origin="layout" path="M 2.70833E-6 3.33333E-6 L 2.70833E-6 0.04166 " pathEditMode="relative" rAng="0" ptsTypes="AA">
                                      <p:cBhvr>
                                        <p:cTn id="59" dur="500" spd="-100000" fill="hold"/>
                                        <p:tgtEl>
                                          <p:spTgt spid="39"/>
                                        </p:tgtEl>
                                        <p:attrNameLst>
                                          <p:attrName>ppt_x</p:attrName>
                                          <p:attrName>ppt_y</p:attrName>
                                        </p:attrNameLst>
                                      </p:cBhvr>
                                      <p:rCtr x="0" y="2083"/>
                                    </p:animMotion>
                                  </p:childTnLst>
                                </p:cTn>
                              </p:par>
                              <p:par>
                                <p:cTn id="60" presetID="10" presetClass="entr" presetSubtype="0" fill="hold" nodeType="withEffect">
                                  <p:stCondLst>
                                    <p:cond delay="900"/>
                                  </p:stCondLst>
                                  <p:childTnLst>
                                    <p:set>
                                      <p:cBhvr>
                                        <p:cTn id="61" dur="1" fill="hold">
                                          <p:stCondLst>
                                            <p:cond delay="0"/>
                                          </p:stCondLst>
                                        </p:cTn>
                                        <p:tgtEl>
                                          <p:spTgt spid="2054"/>
                                        </p:tgtEl>
                                        <p:attrNameLst>
                                          <p:attrName>style.visibility</p:attrName>
                                        </p:attrNameLst>
                                      </p:cBhvr>
                                      <p:to>
                                        <p:strVal val="visible"/>
                                      </p:to>
                                    </p:set>
                                    <p:animEffect transition="in" filter="fade">
                                      <p:cBhvr>
                                        <p:cTn id="62" dur="500"/>
                                        <p:tgtEl>
                                          <p:spTgt spid="2054"/>
                                        </p:tgtEl>
                                      </p:cBhvr>
                                    </p:animEffect>
                                  </p:childTnLst>
                                </p:cTn>
                              </p:par>
                              <p:par>
                                <p:cTn id="63" presetID="42" presetClass="path" presetSubtype="0" decel="100000" fill="hold" nodeType="withEffect">
                                  <p:stCondLst>
                                    <p:cond delay="900"/>
                                  </p:stCondLst>
                                  <p:childTnLst>
                                    <p:animMotion origin="layout" path="M 2.70833E-6 3.33333E-6 L 2.70833E-6 0.04166 " pathEditMode="relative" rAng="0" ptsTypes="AA">
                                      <p:cBhvr>
                                        <p:cTn id="64" dur="500" spd="-100000" fill="hold"/>
                                        <p:tgtEl>
                                          <p:spTgt spid="2054"/>
                                        </p:tgtEl>
                                        <p:attrNameLst>
                                          <p:attrName>ppt_x</p:attrName>
                                          <p:attrName>ppt_y</p:attrName>
                                        </p:attrNameLst>
                                      </p:cBhvr>
                                      <p:rCtr x="0" y="20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4" grpId="0"/>
      <p:bldP spid="4" grpId="1"/>
      <p:bldP spid="98" grpId="0"/>
      <p:bldP spid="98" grpId="1"/>
      <p:bldP spid="3" grpId="0"/>
      <p:bldP spid="3" grpId="1"/>
      <p:bldP spid="15" grpId="0"/>
      <p:bldP spid="15"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0E3C62-1C37-5FDC-4737-5D03DDF6D761}"/>
              </a:ext>
            </a:extLst>
          </p:cNvPr>
          <p:cNvPicPr>
            <a:picLocks noChangeAspect="1"/>
          </p:cNvPicPr>
          <p:nvPr/>
        </p:nvPicPr>
        <p:blipFill>
          <a:blip r:embed="rId3"/>
          <a:stretch>
            <a:fillRect/>
          </a:stretch>
        </p:blipFill>
        <p:spPr>
          <a:xfrm>
            <a:off x="0" y="0"/>
            <a:ext cx="12192000" cy="6857999"/>
          </a:xfrm>
          <a:prstGeom prst="rect">
            <a:avLst/>
          </a:prstGeom>
        </p:spPr>
      </p:pic>
      <p:sp>
        <p:nvSpPr>
          <p:cNvPr id="9" name="Rectangle 8">
            <a:extLst>
              <a:ext uri="{FF2B5EF4-FFF2-40B4-BE49-F238E27FC236}">
                <a16:creationId xmlns:a16="http://schemas.microsoft.com/office/drawing/2014/main" id="{39DFDDE0-6A8B-1E98-1C45-3DC9A209B924}"/>
              </a:ext>
              <a:ext uri="{C183D7F6-B498-43B3-948B-1728B52AA6E4}">
                <adec:decorative xmlns:adec="http://schemas.microsoft.com/office/drawing/2017/decorative" val="1"/>
              </a:ext>
            </a:extLst>
          </p:cNvPr>
          <p:cNvSpPr/>
          <p:nvPr/>
        </p:nvSpPr>
        <p:spPr bwMode="auto">
          <a:xfrm>
            <a:off x="0" y="0"/>
            <a:ext cx="12192000" cy="6858000"/>
          </a:xfrm>
          <a:prstGeom prst="rect">
            <a:avLst/>
          </a:prstGeom>
          <a:gradFill flip="none" rotWithShape="1">
            <a:gsLst>
              <a:gs pos="100000">
                <a:schemeClr val="tx1">
                  <a:alpha val="56000"/>
                </a:schemeClr>
              </a:gs>
              <a:gs pos="10000">
                <a:schemeClr val="tx1">
                  <a:alpha val="60000"/>
                </a:schemeClr>
              </a:gs>
              <a:gs pos="68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AA3D8187-231D-7810-15BF-D750349ECF97}"/>
              </a:ext>
            </a:extLst>
          </p:cNvPr>
          <p:cNvSpPr>
            <a:spLocks noGrp="1"/>
          </p:cNvSpPr>
          <p:nvPr>
            <p:ph type="title"/>
          </p:nvPr>
        </p:nvSpPr>
        <p:spPr>
          <a:xfrm>
            <a:off x="588263" y="931780"/>
            <a:ext cx="11018520" cy="677108"/>
          </a:xfrm>
        </p:spPr>
        <p:txBody>
          <a:bodyPr/>
          <a:lstStyle/>
          <a:p>
            <a:r>
              <a:rPr lang="en-US" sz="4400">
                <a:solidFill>
                  <a:schemeClr val="bg1"/>
                </a:solidFill>
              </a:rPr>
              <a:t>What do SMBs want?</a:t>
            </a:r>
          </a:p>
        </p:txBody>
      </p:sp>
      <p:sp>
        <p:nvSpPr>
          <p:cNvPr id="19" name="Oval 18">
            <a:extLst>
              <a:ext uri="{FF2B5EF4-FFF2-40B4-BE49-F238E27FC236}">
                <a16:creationId xmlns:a16="http://schemas.microsoft.com/office/drawing/2014/main" id="{27093D1B-BA3E-4C6D-1EB9-2D8274A0F934}"/>
              </a:ext>
            </a:extLst>
          </p:cNvPr>
          <p:cNvSpPr/>
          <p:nvPr/>
        </p:nvSpPr>
        <p:spPr>
          <a:xfrm>
            <a:off x="889745" y="2940435"/>
            <a:ext cx="1811051" cy="1811051"/>
          </a:xfrm>
          <a:prstGeom prst="ellipse">
            <a:avLst/>
          </a:prstGeom>
          <a:noFill/>
          <a:ln w="19050">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50E6FF"/>
                </a:solidFill>
                <a:effectLst/>
                <a:uLnTx/>
                <a:uFillTx/>
                <a:latin typeface="Segoe UI"/>
                <a:ea typeface="+mn-ea"/>
                <a:cs typeface="+mn-cs"/>
              </a:rPr>
              <a:t>64%</a:t>
            </a:r>
          </a:p>
        </p:txBody>
      </p:sp>
      <p:sp>
        <p:nvSpPr>
          <p:cNvPr id="6" name="Rectangle: Rounded Corners 5">
            <a:extLst>
              <a:ext uri="{FF2B5EF4-FFF2-40B4-BE49-F238E27FC236}">
                <a16:creationId xmlns:a16="http://schemas.microsoft.com/office/drawing/2014/main" id="{E82F4D3D-E483-3B25-4596-8D4C7809927F}"/>
              </a:ext>
            </a:extLst>
          </p:cNvPr>
          <p:cNvSpPr/>
          <p:nvPr/>
        </p:nvSpPr>
        <p:spPr bwMode="auto">
          <a:xfrm>
            <a:off x="3363747" y="2837759"/>
            <a:ext cx="5464503" cy="2016402"/>
          </a:xfrm>
          <a:prstGeom prst="roundRect">
            <a:avLst>
              <a:gd name="adj" fmla="val 6298"/>
            </a:avLst>
          </a:prstGeom>
          <a:solidFill>
            <a:schemeClr val="bg1">
              <a:lumMod val="95000"/>
              <a:alpha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10000"/>
              </a:lnSpc>
              <a:spcBef>
                <a:spcPts val="0"/>
              </a:spcBef>
              <a:spcAft>
                <a:spcPts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Segoe UI"/>
                <a:ea typeface="+mn-ea"/>
                <a:cs typeface="Segoe UI"/>
              </a:rPr>
              <a:t>of SMB buyers prefer to purchase software solutions as a package or “suite of solutions” that meets all their business needs.</a:t>
            </a:r>
            <a:r>
              <a:rPr kumimoji="0" lang="en-US" sz="2400" b="0" i="0" u="none" strike="noStrike" kern="1200" cap="none" spc="0" normalizeH="0" baseline="30000" noProof="0">
                <a:ln>
                  <a:noFill/>
                </a:ln>
                <a:solidFill>
                  <a:srgbClr val="000000"/>
                </a:solidFill>
                <a:effectLst/>
                <a:uLnTx/>
                <a:uFillTx/>
                <a:latin typeface="Segoe UI"/>
                <a:ea typeface="+mn-ea"/>
                <a:cs typeface="Segoe UI"/>
              </a:rPr>
              <a:t>1</a:t>
            </a:r>
            <a:r>
              <a:rPr kumimoji="0" lang="en-US" sz="2400" b="0" i="0" u="none" strike="noStrike" kern="1200" cap="none" spc="0" normalizeH="0" baseline="0" noProof="0">
                <a:ln>
                  <a:noFill/>
                </a:ln>
                <a:solidFill>
                  <a:srgbClr val="000000"/>
                </a:solidFill>
                <a:effectLst/>
                <a:uLnTx/>
                <a:uFillTx/>
                <a:latin typeface="Segoe UI"/>
                <a:ea typeface="+mn-ea"/>
                <a:cs typeface="Segoe UI"/>
              </a:rPr>
              <a:t> </a:t>
            </a:r>
            <a:endParaRPr kumimoji="0" lang="en-US" sz="2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endParaRPr>
          </a:p>
        </p:txBody>
      </p:sp>
      <p:sp>
        <p:nvSpPr>
          <p:cNvPr id="18" name="Arc 17">
            <a:extLst>
              <a:ext uri="{FF2B5EF4-FFF2-40B4-BE49-F238E27FC236}">
                <a16:creationId xmlns:a16="http://schemas.microsoft.com/office/drawing/2014/main" id="{9F23B981-DAA5-69F8-EA56-4C9AECD1E708}"/>
              </a:ext>
              <a:ext uri="{C183D7F6-B498-43B3-948B-1728B52AA6E4}">
                <adec:decorative xmlns:adec="http://schemas.microsoft.com/office/drawing/2017/decorative" val="1"/>
              </a:ext>
            </a:extLst>
          </p:cNvPr>
          <p:cNvSpPr/>
          <p:nvPr/>
        </p:nvSpPr>
        <p:spPr>
          <a:xfrm>
            <a:off x="588263" y="2638953"/>
            <a:ext cx="2414018" cy="2414018"/>
          </a:xfrm>
          <a:prstGeom prst="arc">
            <a:avLst>
              <a:gd name="adj1" fmla="val 16409889"/>
              <a:gd name="adj2" fmla="val 9154196"/>
            </a:avLst>
          </a:prstGeom>
          <a:ln w="76200">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E3E6045E-0899-2E42-4317-6EE4E268D677}"/>
              </a:ext>
            </a:extLst>
          </p:cNvPr>
          <p:cNvSpPr txBox="1"/>
          <p:nvPr/>
        </p:nvSpPr>
        <p:spPr>
          <a:xfrm>
            <a:off x="587247" y="6115343"/>
            <a:ext cx="6599938" cy="253916"/>
          </a:xfrm>
          <a:prstGeom prst="rect">
            <a:avLst/>
          </a:prstGeom>
          <a:noFill/>
        </p:spPr>
        <p:txBody>
          <a:bodyPr wrap="square">
            <a:spAutoFit/>
          </a:bodyPr>
          <a:lstStyle>
            <a:defPPr>
              <a:defRPr lang="en-US"/>
            </a:defPPr>
            <a:lvl3pPr marL="0" lvl="2" algn="r">
              <a:defRPr sz="1050">
                <a:solidFill>
                  <a:schemeClr val="bg1"/>
                </a:solidFill>
                <a:latin typeface="Segoe UI"/>
                <a:cs typeface="Segoe UI Semibold"/>
              </a:defRPr>
            </a:lvl3p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50" b="0" i="0" u="none" strike="noStrike" kern="1200" cap="none" spc="0" normalizeH="0" baseline="0" noProof="0">
                <a:ln>
                  <a:noFill/>
                </a:ln>
                <a:solidFill>
                  <a:srgbClr val="FFFFFF">
                    <a:lumMod val="75000"/>
                  </a:srgbClr>
                </a:solidFill>
                <a:effectLst/>
                <a:uLnTx/>
                <a:uFillTx/>
                <a:latin typeface="Segoe UI"/>
                <a:ea typeface="+mn-ea"/>
                <a:cs typeface="Segoe UI Semibold"/>
              </a:rPr>
              <a:t> </a:t>
            </a:r>
            <a:r>
              <a:rPr kumimoji="0" lang="en-US" sz="1050" b="0" i="0" u="none" strike="noStrike" kern="1200" cap="none" spc="0" normalizeH="0" baseline="0" noProof="0">
                <a:ln>
                  <a:noFill/>
                </a:ln>
                <a:solidFill>
                  <a:srgbClr val="50E6FF"/>
                </a:solidFill>
                <a:effectLst/>
                <a:uLnTx/>
                <a:uFillTx/>
                <a:latin typeface="Segoe UI"/>
                <a:ea typeface="+mn-ea"/>
                <a:cs typeface="Segoe UI Semibold"/>
                <a:hlinkClick r:id="rId4"/>
              </a:rPr>
              <a:t>Meeting the Changing Software Technology Needs of SMBs, Forrester Consulting, September 2022</a:t>
            </a:r>
            <a:endParaRPr kumimoji="0" lang="en-US" sz="1050" b="0" i="0" u="none" strike="noStrike" kern="1200" cap="none" spc="0" normalizeH="0" baseline="0" noProof="0">
              <a:ln>
                <a:noFill/>
              </a:ln>
              <a:solidFill>
                <a:srgbClr val="50E6FF"/>
              </a:solidFill>
              <a:effectLst/>
              <a:uLnTx/>
              <a:uFillTx/>
              <a:latin typeface="Segoe UI"/>
              <a:ea typeface="+mn-ea"/>
              <a:cs typeface="Segoe UI Semibold"/>
            </a:endParaRPr>
          </a:p>
        </p:txBody>
      </p:sp>
    </p:spTree>
    <p:extLst>
      <p:ext uri="{BB962C8B-B14F-4D97-AF65-F5344CB8AC3E}">
        <p14:creationId xmlns:p14="http://schemas.microsoft.com/office/powerpoint/2010/main" val="8667887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1250"/>
                                        <p:tgtEl>
                                          <p:spTgt spid="18"/>
                                        </p:tgtEl>
                                      </p:cBhvr>
                                    </p:animEffect>
                                  </p:childTnLst>
                                </p:cTn>
                              </p:par>
                              <p:par>
                                <p:cTn id="8" presetID="1" presetClass="entr" presetSubtype="0" fill="hold" grpId="0" nodeType="withEffect">
                                  <p:stCondLst>
                                    <p:cond delay="0"/>
                                  </p:stCondLst>
                                  <p:childTnLst>
                                    <p:set>
                                      <p:cBhvr>
                                        <p:cTn id="9" dur="1" fill="hold">
                                          <p:stCondLst>
                                            <p:cond delay="499"/>
                                          </p:stCondLst>
                                        </p:cTn>
                                        <p:tgtEl>
                                          <p:spTgt spid="19"/>
                                        </p:tgtEl>
                                        <p:attrNameLst>
                                          <p:attrName>style.visibility</p:attrName>
                                        </p:attrNameLst>
                                      </p:cBhvr>
                                      <p:to>
                                        <p:strVal val="visible"/>
                                      </p:to>
                                    </p:set>
                                  </p:childTnLst>
                                </p:cTn>
                              </p:par>
                              <p:par>
                                <p:cTn id="10" presetID="6" presetClass="emph" presetSubtype="0" accel="100000" autoRev="1" fill="hold" grpId="1" nodeType="withEffect">
                                  <p:stCondLst>
                                    <p:cond delay="0"/>
                                  </p:stCondLst>
                                  <p:childTnLst>
                                    <p:animScale>
                                      <p:cBhvr>
                                        <p:cTn id="11" dur="500" fill="hold"/>
                                        <p:tgtEl>
                                          <p:spTgt spid="19"/>
                                        </p:tgtEl>
                                      </p:cBhvr>
                                      <p:by x="0" y="0"/>
                                    </p:animScale>
                                  </p:childTnLst>
                                </p:cTn>
                              </p:par>
                              <p:par>
                                <p:cTn id="12" presetID="10" presetClass="entr" presetSubtype="0" fill="hold" grpId="0" nodeType="withEffect">
                                  <p:stCondLst>
                                    <p:cond delay="10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42" presetClass="path" presetSubtype="0" decel="100000" fill="hold" grpId="1" nodeType="withEffect">
                                  <p:stCondLst>
                                    <p:cond delay="1000"/>
                                  </p:stCondLst>
                                  <p:childTnLst>
                                    <p:animMotion origin="layout" path="M -3.75E-6 -4.81481E-6 L -0.02591 -4.81481E-6 " pathEditMode="relative" rAng="0" ptsTypes="AA">
                                      <p:cBhvr>
                                        <p:cTn id="16" dur="750" spd="-100000" fill="hold"/>
                                        <p:tgtEl>
                                          <p:spTgt spid="6"/>
                                        </p:tgtEl>
                                        <p:attrNameLst>
                                          <p:attrName>ppt_x</p:attrName>
                                          <p:attrName>ppt_y</p:attrName>
                                        </p:attrNameLst>
                                      </p:cBhvr>
                                      <p:rCtr x="-130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6" grpId="0" animBg="1"/>
      <p:bldP spid="6" grpId="1"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6FA00962-D1D1-7F70-8EB8-0799D5CE235A}"/>
              </a:ext>
            </a:extLst>
          </p:cNvPr>
          <p:cNvSpPr/>
          <p:nvPr/>
        </p:nvSpPr>
        <p:spPr bwMode="auto">
          <a:xfrm>
            <a:off x="6385841" y="1216160"/>
            <a:ext cx="5094338" cy="1287183"/>
          </a:xfrm>
          <a:prstGeom prst="round2Same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Rectangle: Top Corners Rounded 8">
            <a:extLst>
              <a:ext uri="{FF2B5EF4-FFF2-40B4-BE49-F238E27FC236}">
                <a16:creationId xmlns:a16="http://schemas.microsoft.com/office/drawing/2014/main" id="{61728B22-40B2-CDBD-11C6-71B4C7992D45}"/>
              </a:ext>
            </a:extLst>
          </p:cNvPr>
          <p:cNvSpPr/>
          <p:nvPr/>
        </p:nvSpPr>
        <p:spPr bwMode="auto">
          <a:xfrm>
            <a:off x="588262" y="1216160"/>
            <a:ext cx="5094338" cy="1287183"/>
          </a:xfrm>
          <a:prstGeom prst="round2Same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A97461E3-D187-60CF-4B86-C5661873300F}"/>
              </a:ext>
            </a:extLst>
          </p:cNvPr>
          <p:cNvSpPr>
            <a:spLocks noGrp="1"/>
          </p:cNvSpPr>
          <p:nvPr>
            <p:ph type="title"/>
          </p:nvPr>
        </p:nvSpPr>
        <p:spPr>
          <a:xfrm>
            <a:off x="588263" y="457200"/>
            <a:ext cx="11018520" cy="430887"/>
          </a:xfrm>
        </p:spPr>
        <p:txBody>
          <a:bodyPr/>
          <a:lstStyle/>
          <a:p>
            <a:r>
              <a:rPr lang="en-US" sz="2800"/>
              <a:t>Opportunity to help SMBs do more with less</a:t>
            </a:r>
          </a:p>
        </p:txBody>
      </p:sp>
      <p:sp>
        <p:nvSpPr>
          <p:cNvPr id="3" name="Rectangle: Rounded Corners 2">
            <a:extLst>
              <a:ext uri="{FF2B5EF4-FFF2-40B4-BE49-F238E27FC236}">
                <a16:creationId xmlns:a16="http://schemas.microsoft.com/office/drawing/2014/main" id="{862F841E-E41F-39B1-5988-47B58A81F5ED}"/>
              </a:ext>
            </a:extLst>
          </p:cNvPr>
          <p:cNvSpPr/>
          <p:nvPr/>
        </p:nvSpPr>
        <p:spPr bwMode="auto">
          <a:xfrm>
            <a:off x="588262" y="1523280"/>
            <a:ext cx="5094338" cy="970331"/>
          </a:xfrm>
          <a:prstGeom prst="roundRect">
            <a:avLst>
              <a:gd name="adj" fmla="val 6214"/>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1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Segoe UI" pitchFamily="34" charset="0"/>
                <a:cs typeface="Segoe UI"/>
              </a:rPr>
              <a:t>Work with customers to find and implement the right solutions for their needs</a:t>
            </a:r>
          </a:p>
        </p:txBody>
      </p:sp>
      <p:sp>
        <p:nvSpPr>
          <p:cNvPr id="7" name="TextBox 6">
            <a:extLst>
              <a:ext uri="{FF2B5EF4-FFF2-40B4-BE49-F238E27FC236}">
                <a16:creationId xmlns:a16="http://schemas.microsoft.com/office/drawing/2014/main" id="{15038C1F-D1F4-4BAC-3F65-91380538157A}"/>
              </a:ext>
            </a:extLst>
          </p:cNvPr>
          <p:cNvSpPr txBox="1"/>
          <p:nvPr/>
        </p:nvSpPr>
        <p:spPr>
          <a:xfrm>
            <a:off x="6385841" y="1523280"/>
            <a:ext cx="5094338" cy="98251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marR="0" lvl="0" indent="0" defTabSz="914367" fontAlgn="auto">
              <a:lnSpc>
                <a:spcPct val="110000"/>
              </a:lnSpc>
              <a:spcBef>
                <a:spcPts val="0"/>
              </a:spcBef>
              <a:spcAft>
                <a:spcPts val="600"/>
              </a:spcAft>
              <a:buClrTx/>
              <a:buSzTx/>
              <a:buFontTx/>
              <a:buNone/>
              <a:tabLst/>
              <a:defRPr>
                <a:solidFill>
                  <a:schemeClr val="tx1"/>
                </a:solidFill>
                <a:latin typeface="+mj-lt"/>
                <a:ea typeface="Segoe UI" pitchFamily="34" charset="0"/>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1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cs typeface="Segoe UI"/>
              </a:rPr>
              <a:t>Offer value-added, managed services for greater profitability </a:t>
            </a:r>
          </a:p>
        </p:txBody>
      </p:sp>
      <p:sp>
        <p:nvSpPr>
          <p:cNvPr id="8" name="Rectangle: Top Corners Rounded 7">
            <a:extLst>
              <a:ext uri="{FF2B5EF4-FFF2-40B4-BE49-F238E27FC236}">
                <a16:creationId xmlns:a16="http://schemas.microsoft.com/office/drawing/2014/main" id="{578CAE04-0C4B-316B-E078-6AB9E5299FD5}"/>
              </a:ext>
            </a:extLst>
          </p:cNvPr>
          <p:cNvSpPr/>
          <p:nvPr/>
        </p:nvSpPr>
        <p:spPr bwMode="auto">
          <a:xfrm>
            <a:off x="588264" y="3714136"/>
            <a:ext cx="5094338" cy="2070050"/>
          </a:xfrm>
          <a:prstGeom prst="round2SameRect">
            <a:avLst>
              <a:gd name="adj1" fmla="val 0"/>
              <a:gd name="adj2" fmla="val 7419"/>
            </a:avLst>
          </a:prstGeom>
          <a:solidFill>
            <a:schemeClr val="bg1">
              <a:lumMod val="95000"/>
              <a:alpha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00000"/>
              </a:lnSpc>
              <a:spcBef>
                <a:spcPts val="600"/>
              </a:spcBef>
              <a:spcAft>
                <a:spcPts val="1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a:rPr>
              <a:t>Hybrid work and security are all still important to SMBs</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367" rtl="0" eaLnBrk="1" fontAlgn="auto" latinLnBrk="0" hangingPunct="1">
              <a:lnSpc>
                <a:spcPct val="100000"/>
              </a:lnSpc>
              <a:spcBef>
                <a:spcPts val="600"/>
              </a:spcBef>
              <a:spcAft>
                <a:spcPts val="600"/>
              </a:spcAft>
              <a:buClrTx/>
              <a:buSzTx/>
              <a:buFontTx/>
              <a:buNone/>
              <a:tabLst/>
              <a:defRPr/>
            </a:pPr>
            <a:br>
              <a:rPr kumimoji="0" lang="en-US" sz="1400" b="0" i="0" u="none" strike="noStrike" kern="1200" cap="none" spc="0" normalizeH="0" baseline="0" noProof="0">
                <a:ln>
                  <a:noFill/>
                </a:ln>
                <a:solidFill>
                  <a:srgbClr val="000000"/>
                </a:solidFill>
                <a:effectLst/>
                <a:uLnTx/>
                <a:uFillTx/>
                <a:latin typeface="Segoe UI"/>
                <a:ea typeface="+mn-ea"/>
                <a:cs typeface="Segoe UI"/>
              </a:rPr>
            </a:br>
            <a:r>
              <a:rPr kumimoji="0" lang="en-US" sz="1400" b="0" i="0" u="none" strike="noStrike" kern="1200" cap="none" spc="0" normalizeH="0" baseline="0" noProof="0">
                <a:ln>
                  <a:noFill/>
                </a:ln>
                <a:solidFill>
                  <a:srgbClr val="000000"/>
                </a:solidFill>
                <a:effectLst/>
                <a:uLnTx/>
                <a:uFillTx/>
                <a:latin typeface="Segoe UI"/>
                <a:ea typeface="+mn-ea"/>
                <a:cs typeface="Segoe UI"/>
              </a:rPr>
              <a:t>1 in 4 SMBs state they experienced a cyberattack in the last year.</a:t>
            </a:r>
            <a:r>
              <a:rPr kumimoji="0" lang="en-US" sz="1400" b="0" i="0" u="none" strike="noStrike" kern="1200" cap="none" spc="0" normalizeH="0" baseline="30000" noProof="0">
                <a:ln>
                  <a:noFill/>
                </a:ln>
                <a:solidFill>
                  <a:srgbClr val="000000"/>
                </a:solidFill>
                <a:effectLst/>
                <a:uLnTx/>
                <a:uFillTx/>
                <a:latin typeface="Segoe UI"/>
                <a:ea typeface="+mn-ea"/>
                <a:cs typeface="Segoe UI"/>
              </a:rPr>
              <a:t>1</a:t>
            </a: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a:p>
            <a:pPr marL="0" marR="0" lvl="0" indent="0" algn="l" defTabSz="914367" rtl="0" eaLnBrk="1" fontAlgn="auto"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Segoe UI Semibold"/>
                <a:ea typeface="+mn-ea"/>
                <a:cs typeface="Segoe UI"/>
              </a:rPr>
              <a:t>73% of workers </a:t>
            </a:r>
            <a:r>
              <a:rPr kumimoji="0" lang="en-US" sz="1400" b="0" i="0" u="none" strike="noStrike" kern="1200" cap="none" spc="0" normalizeH="0" baseline="0" noProof="0">
                <a:ln>
                  <a:noFill/>
                </a:ln>
                <a:solidFill>
                  <a:srgbClr val="000000"/>
                </a:solidFill>
                <a:effectLst/>
                <a:uLnTx/>
                <a:uFillTx/>
                <a:latin typeface="Segoe UI"/>
                <a:ea typeface="+mn-ea"/>
                <a:cs typeface="Segoe UI"/>
              </a:rPr>
              <a:t>say they want flexible remote work options.</a:t>
            </a:r>
            <a:r>
              <a:rPr kumimoji="0" lang="en-US" sz="1400" b="0" i="0" u="none" strike="noStrike" kern="1200" cap="none" spc="0" normalizeH="0" baseline="30000" noProof="0">
                <a:ln>
                  <a:noFill/>
                </a:ln>
                <a:solidFill>
                  <a:srgbClr val="000000"/>
                </a:solidFill>
                <a:effectLst/>
                <a:uLnTx/>
                <a:uFillTx/>
                <a:latin typeface="Segoe UI"/>
                <a:ea typeface="+mn-ea"/>
                <a:cs typeface="Segoe UI"/>
              </a:rPr>
              <a:t>2</a:t>
            </a:r>
            <a:r>
              <a:rPr kumimoji="0" lang="en-US" sz="1400" b="0" i="0" u="none" strike="noStrike" kern="1200" cap="none" spc="0" normalizeH="0" baseline="0" noProof="0">
                <a:ln>
                  <a:noFill/>
                </a:ln>
                <a:solidFill>
                  <a:srgbClr val="000000"/>
                </a:solidFill>
                <a:effectLst/>
                <a:uLnTx/>
                <a:uFillTx/>
                <a:latin typeface="Segoe UI"/>
                <a:ea typeface="+mn-ea"/>
                <a:cs typeface="Segoe UI"/>
              </a:rPr>
              <a:t> </a:t>
            </a:r>
          </a:p>
          <a:p>
            <a:pPr marL="0" marR="0" lvl="0" indent="0" algn="l" defTabSz="914367" rtl="0" eaLnBrk="1" fontAlgn="auto" latinLnBrk="0" hangingPunct="1">
              <a:lnSpc>
                <a:spcPct val="110000"/>
              </a:lnSpc>
              <a:spcBef>
                <a:spcPts val="0"/>
              </a:spcBef>
              <a:spcAft>
                <a:spcPts val="60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a:endParaRPr>
          </a:p>
        </p:txBody>
      </p:sp>
      <p:sp>
        <p:nvSpPr>
          <p:cNvPr id="12" name="Rectangle: Top Corners Rounded 11">
            <a:extLst>
              <a:ext uri="{FF2B5EF4-FFF2-40B4-BE49-F238E27FC236}">
                <a16:creationId xmlns:a16="http://schemas.microsoft.com/office/drawing/2014/main" id="{74E864EF-D778-D7F3-156A-C2C8B49B6DAF}"/>
              </a:ext>
            </a:extLst>
          </p:cNvPr>
          <p:cNvSpPr/>
          <p:nvPr/>
        </p:nvSpPr>
        <p:spPr bwMode="auto">
          <a:xfrm>
            <a:off x="6385841" y="3714136"/>
            <a:ext cx="5094338" cy="2070050"/>
          </a:xfrm>
          <a:prstGeom prst="round2SameRect">
            <a:avLst>
              <a:gd name="adj1" fmla="val 0"/>
              <a:gd name="adj2" fmla="val 7577"/>
            </a:avLst>
          </a:prstGeom>
          <a:solidFill>
            <a:schemeClr val="bg1">
              <a:lumMod val="95000"/>
              <a:alpha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1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Segoe UI"/>
              </a:rPr>
              <a:t>Smooth out cash flows and create longer-term opportunities to add additional revenue streams</a:t>
            </a:r>
          </a:p>
          <a:p>
            <a:pPr marL="0" marR="0" lvl="0" indent="0" algn="l" defTabSz="914367" rtl="0" eaLnBrk="1" fontAlgn="auto"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Managed services opportunities </a:t>
            </a:r>
            <a:r>
              <a:rPr kumimoji="0" lang="en-US" sz="1400" b="0" i="0" u="none" strike="noStrike" kern="1200" cap="none" spc="0" normalizeH="0" baseline="0" noProof="0">
                <a:ln>
                  <a:noFill/>
                </a:ln>
                <a:solidFill>
                  <a:srgbClr val="0078D4"/>
                </a:solidFill>
                <a:effectLst/>
                <a:uLnTx/>
                <a:uFillTx/>
                <a:latin typeface="Segoe UI Semibold"/>
                <a:ea typeface="Segoe UI" pitchFamily="34" charset="0"/>
                <a:cs typeface="Segoe UI"/>
              </a:rPr>
              <a:t>grew 18%</a:t>
            </a:r>
            <a:r>
              <a:rPr kumimoji="0" lang="en-US" sz="1400" b="0" i="0" u="none" strike="noStrike" kern="1200" cap="none" spc="0" normalizeH="0" baseline="30000" noProof="0">
                <a:ln>
                  <a:noFill/>
                </a:ln>
                <a:solidFill>
                  <a:srgbClr val="000000"/>
                </a:solidFill>
                <a:effectLst/>
                <a:uLnTx/>
                <a:uFillTx/>
                <a:latin typeface="Segoe UI"/>
                <a:ea typeface="Segoe UI" pitchFamily="34" charset="0"/>
                <a:cs typeface="Segoe UI"/>
              </a:rPr>
              <a:t>3</a:t>
            </a:r>
          </a:p>
          <a:p>
            <a:pPr marL="0" marR="0" lvl="0" indent="0" algn="l" defTabSz="914367" rtl="0" eaLnBrk="1" fontAlgn="auto" latinLnBrk="0" hangingPunct="1">
              <a:lnSpc>
                <a:spcPct val="100000"/>
              </a:lnSpc>
              <a:spcBef>
                <a:spcPts val="60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a:rPr>
              <a:t>For any given workload, margins ranged from </a:t>
            </a:r>
            <a:r>
              <a:rPr kumimoji="0" lang="en-US" sz="1400" b="0" i="0" u="none" strike="noStrike" kern="1200" cap="none" spc="0" normalizeH="0" baseline="0" noProof="0">
                <a:ln>
                  <a:noFill/>
                </a:ln>
                <a:solidFill>
                  <a:srgbClr val="0078D4"/>
                </a:solidFill>
                <a:effectLst/>
                <a:uLnTx/>
                <a:uFillTx/>
                <a:latin typeface="Segoe UI Semibold"/>
                <a:ea typeface="+mn-ea"/>
                <a:cs typeface="Segoe UI"/>
              </a:rPr>
              <a:t>30% </a:t>
            </a:r>
            <a:br>
              <a:rPr kumimoji="0" lang="en-US" sz="1400" b="0" i="0" u="none" strike="noStrike" kern="1200" cap="none" spc="0" normalizeH="0" baseline="0" noProof="0">
                <a:ln>
                  <a:noFill/>
                </a:ln>
                <a:solidFill>
                  <a:srgbClr val="0078D4"/>
                </a:solidFill>
                <a:effectLst/>
                <a:uLnTx/>
                <a:uFillTx/>
                <a:latin typeface="Segoe UI Semibold"/>
                <a:ea typeface="+mn-ea"/>
                <a:cs typeface="Segoe UI"/>
              </a:rPr>
            </a:br>
            <a:r>
              <a:rPr kumimoji="0" lang="en-US" sz="1400" b="0" i="0" u="none" strike="noStrike" kern="1200" cap="none" spc="0" normalizeH="0" baseline="0" noProof="0">
                <a:ln>
                  <a:noFill/>
                </a:ln>
                <a:solidFill>
                  <a:srgbClr val="0078D4"/>
                </a:solidFill>
                <a:effectLst/>
                <a:uLnTx/>
                <a:uFillTx/>
                <a:latin typeface="Segoe UI Semibold"/>
                <a:ea typeface="+mn-ea"/>
                <a:cs typeface="Segoe UI"/>
              </a:rPr>
              <a:t>up to 65%, </a:t>
            </a:r>
            <a:r>
              <a:rPr kumimoji="0" lang="en-US" sz="1400" b="0" i="0" u="none" strike="noStrike" kern="1200" cap="none" spc="0" normalizeH="0" baseline="0" noProof="0">
                <a:ln>
                  <a:noFill/>
                </a:ln>
                <a:solidFill>
                  <a:srgbClr val="000000"/>
                </a:solidFill>
                <a:effectLst/>
                <a:uLnTx/>
                <a:uFillTx/>
                <a:latin typeface="Segoe UI"/>
                <a:ea typeface="+mn-ea"/>
                <a:cs typeface="Segoe UI"/>
              </a:rPr>
              <a:t>depending on the maturity of the offering.</a:t>
            </a:r>
            <a:r>
              <a:rPr kumimoji="0" lang="en-US" sz="1400" b="0" i="0" u="none" strike="noStrike" kern="1200" cap="none" spc="0" normalizeH="0" baseline="30000" noProof="0">
                <a:ln>
                  <a:noFill/>
                </a:ln>
                <a:solidFill>
                  <a:srgbClr val="000000"/>
                </a:solidFill>
                <a:effectLst/>
                <a:uLnTx/>
                <a:uFillTx/>
                <a:latin typeface="Segoe UI"/>
                <a:ea typeface="+mn-ea"/>
                <a:cs typeface="Segoe UI"/>
              </a:rPr>
              <a:t>3</a:t>
            </a:r>
          </a:p>
        </p:txBody>
      </p:sp>
      <p:sp>
        <p:nvSpPr>
          <p:cNvPr id="5" name="TextBox 4">
            <a:extLst>
              <a:ext uri="{FF2B5EF4-FFF2-40B4-BE49-F238E27FC236}">
                <a16:creationId xmlns:a16="http://schemas.microsoft.com/office/drawing/2014/main" id="{ED2FDFFD-5450-C6D1-08C3-C0A71E5E0544}"/>
              </a:ext>
            </a:extLst>
          </p:cNvPr>
          <p:cNvSpPr txBox="1"/>
          <p:nvPr/>
        </p:nvSpPr>
        <p:spPr>
          <a:xfrm>
            <a:off x="588264" y="6112259"/>
            <a:ext cx="6264302" cy="577081"/>
          </a:xfrm>
          <a:prstGeom prst="rect">
            <a:avLst/>
          </a:prstGeom>
          <a:noFill/>
        </p:spPr>
        <p:txBody>
          <a:bodyPr wrap="square" lIns="91440" tIns="45720" rIns="91440" bIns="45720" anchor="t">
            <a:spAutoFit/>
          </a:bodyPr>
          <a:lstStyle/>
          <a:p>
            <a:pPr marL="228600" marR="0" lvl="2" indent="-228600" algn="l" defTabSz="914400" rtl="0" eaLnBrk="1" fontAlgn="auto" latinLnBrk="0" hangingPunct="1">
              <a:lnSpc>
                <a:spcPct val="100000"/>
              </a:lnSpc>
              <a:spcBef>
                <a:spcPts val="0"/>
              </a:spcBef>
              <a:spcAft>
                <a:spcPts val="0"/>
              </a:spcAft>
              <a:buClr>
                <a:srgbClr val="FFFFFF">
                  <a:lumMod val="50000"/>
                </a:srgbClr>
              </a:buClr>
              <a:buSzPct val="90000"/>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Segoe UI"/>
                <a:ea typeface="+mn-ea"/>
                <a:cs typeface="Segoe UI Semibold"/>
                <a:hlinkClick r:id="rId3"/>
              </a:rPr>
              <a:t>Microsoft SMB Research, April 2022, Security in the new work environment</a:t>
            </a:r>
            <a:endParaRPr kumimoji="0" lang="en-US" sz="1050" b="0" i="0" u="none" strike="noStrike" kern="1200" cap="none" spc="0" normalizeH="0" baseline="0" noProof="0">
              <a:ln>
                <a:noFill/>
              </a:ln>
              <a:solidFill>
                <a:srgbClr val="000000"/>
              </a:solidFill>
              <a:effectLst/>
              <a:uLnTx/>
              <a:uFillTx/>
              <a:latin typeface="Segoe UI"/>
              <a:ea typeface="+mn-ea"/>
              <a:cs typeface="Segoe UI Semibold"/>
            </a:endParaRPr>
          </a:p>
          <a:p>
            <a:pPr marL="228600" marR="0" lvl="2" indent="-228600" algn="l" defTabSz="914400" rtl="0" eaLnBrk="1" fontAlgn="auto" latinLnBrk="0" hangingPunct="1">
              <a:lnSpc>
                <a:spcPct val="100000"/>
              </a:lnSpc>
              <a:spcBef>
                <a:spcPts val="0"/>
              </a:spcBef>
              <a:spcAft>
                <a:spcPts val="0"/>
              </a:spcAft>
              <a:buClr>
                <a:srgbClr val="FFFFFF">
                  <a:lumMod val="50000"/>
                </a:srgbClr>
              </a:buClr>
              <a:buSzPct val="90000"/>
              <a:buFontTx/>
              <a:buAutoNum type="arabicPeriod"/>
              <a:tabLst/>
              <a:defRPr/>
            </a:pPr>
            <a:r>
              <a:rPr kumimoji="0" lang="en-US" sz="1050" b="0" i="0" u="none" strike="noStrike" kern="1200" cap="none" spc="0" normalizeH="0" baseline="0" noProof="0">
                <a:ln>
                  <a:noFill/>
                </a:ln>
                <a:solidFill>
                  <a:srgbClr val="FFFFFF">
                    <a:lumMod val="75000"/>
                  </a:srgbClr>
                </a:solidFill>
                <a:effectLst/>
                <a:uLnTx/>
                <a:uFillTx/>
                <a:latin typeface="Segoe UI"/>
                <a:ea typeface="+mn-ea"/>
                <a:cs typeface="+mn-cs"/>
                <a:hlinkClick r:id="rId4"/>
              </a:rPr>
              <a:t>Meeting the Changing Software Technology Needs of SMBs, Forrester Consulting, September 2022</a:t>
            </a:r>
            <a:endParaRPr kumimoji="0" lang="en-US" sz="1050" b="0" i="0" u="none" strike="noStrike" kern="1200" cap="none" spc="0" normalizeH="0" baseline="0" noProof="0">
              <a:ln>
                <a:noFill/>
              </a:ln>
              <a:solidFill>
                <a:srgbClr val="FFFFFF">
                  <a:lumMod val="75000"/>
                </a:srgbClr>
              </a:solidFill>
              <a:effectLst/>
              <a:uLnTx/>
              <a:uFillTx/>
              <a:latin typeface="Segoe UI"/>
              <a:ea typeface="+mn-ea"/>
              <a:cs typeface="Segoe UI"/>
              <a:hlinkClick r:id="rId5"/>
            </a:endParaRPr>
          </a:p>
          <a:p>
            <a:pPr marL="228600" marR="0" lvl="2" indent="-228600" algn="l" defTabSz="914400" rtl="0" eaLnBrk="1" fontAlgn="auto" latinLnBrk="0" hangingPunct="1">
              <a:lnSpc>
                <a:spcPct val="100000"/>
              </a:lnSpc>
              <a:spcBef>
                <a:spcPts val="0"/>
              </a:spcBef>
              <a:spcAft>
                <a:spcPts val="0"/>
              </a:spcAft>
              <a:buClr>
                <a:srgbClr val="FFFFFF">
                  <a:lumMod val="50000"/>
                </a:srgbClr>
              </a:buClr>
              <a:buSzPct val="90000"/>
              <a:buFont typeface="+mj-lt"/>
              <a:buAutoNum type="arabicPeriod"/>
              <a:tabLst/>
              <a:defRPr/>
            </a:pPr>
            <a:r>
              <a:rPr kumimoji="0" lang="en-US" sz="1050" b="0" i="0" u="sng" strike="noStrike" kern="1200" cap="none" spc="0" normalizeH="0" baseline="0" noProof="0">
                <a:ln>
                  <a:noFill/>
                </a:ln>
                <a:solidFill>
                  <a:srgbClr val="0078D4"/>
                </a:solidFill>
                <a:effectLst/>
                <a:uLnTx/>
                <a:uFillTx/>
                <a:latin typeface="Segoe UI"/>
                <a:ea typeface="+mn-ea"/>
                <a:cs typeface="+mn-cs"/>
              </a:rPr>
              <a:t>The Partner Opportunity For Microsoft Modern Workplace, Forrester Consulting, July 2022</a:t>
            </a:r>
          </a:p>
        </p:txBody>
      </p:sp>
      <p:sp>
        <p:nvSpPr>
          <p:cNvPr id="4" name="TextBox 3">
            <a:extLst>
              <a:ext uri="{FF2B5EF4-FFF2-40B4-BE49-F238E27FC236}">
                <a16:creationId xmlns:a16="http://schemas.microsoft.com/office/drawing/2014/main" id="{2CBA38F9-9437-887F-350B-23613535C783}"/>
              </a:ext>
            </a:extLst>
          </p:cNvPr>
          <p:cNvSpPr txBox="1"/>
          <p:nvPr/>
        </p:nvSpPr>
        <p:spPr>
          <a:xfrm>
            <a:off x="588263" y="1327177"/>
            <a:ext cx="670266" cy="307777"/>
          </a:xfrm>
          <a:prstGeom prst="rect">
            <a:avLst/>
          </a:prstGeom>
          <a:noFill/>
        </p:spPr>
        <p:txBody>
          <a:bodyPr wrap="square" lIns="18288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UI Semibold"/>
                <a:ea typeface="+mn-ea"/>
                <a:cs typeface="+mn-cs"/>
              </a:rPr>
              <a:t>01</a:t>
            </a:r>
          </a:p>
        </p:txBody>
      </p:sp>
      <p:sp>
        <p:nvSpPr>
          <p:cNvPr id="6" name="TextBox 5">
            <a:extLst>
              <a:ext uri="{FF2B5EF4-FFF2-40B4-BE49-F238E27FC236}">
                <a16:creationId xmlns:a16="http://schemas.microsoft.com/office/drawing/2014/main" id="{2A931B05-5547-093B-5E2C-AD0A2230597C}"/>
              </a:ext>
            </a:extLst>
          </p:cNvPr>
          <p:cNvSpPr txBox="1"/>
          <p:nvPr/>
        </p:nvSpPr>
        <p:spPr>
          <a:xfrm>
            <a:off x="6385841" y="1327177"/>
            <a:ext cx="670266" cy="307777"/>
          </a:xfrm>
          <a:prstGeom prst="rect">
            <a:avLst/>
          </a:prstGeom>
          <a:noFill/>
        </p:spPr>
        <p:txBody>
          <a:bodyPr wrap="square" lIns="18288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UI Semibold"/>
                <a:ea typeface="+mn-ea"/>
                <a:cs typeface="+mn-cs"/>
              </a:rPr>
              <a:t>02</a:t>
            </a:r>
          </a:p>
        </p:txBody>
      </p:sp>
      <p:pic>
        <p:nvPicPr>
          <p:cNvPr id="13" name="Picture 12">
            <a:extLst>
              <a:ext uri="{FF2B5EF4-FFF2-40B4-BE49-F238E27FC236}">
                <a16:creationId xmlns:a16="http://schemas.microsoft.com/office/drawing/2014/main" id="{04E3F519-774F-5EDD-12BB-FB06CDC19B37}"/>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23545" t="31955" r="5088" b="42933"/>
          <a:stretch/>
        </p:blipFill>
        <p:spPr>
          <a:xfrm>
            <a:off x="6385841" y="2503344"/>
            <a:ext cx="5094338" cy="1210791"/>
          </a:xfrm>
          <a:prstGeom prst="round2SameRect">
            <a:avLst>
              <a:gd name="adj1" fmla="val 0"/>
              <a:gd name="adj2" fmla="val 0"/>
            </a:avLst>
          </a:prstGeom>
        </p:spPr>
      </p:pic>
      <p:pic>
        <p:nvPicPr>
          <p:cNvPr id="11" name="Picture 10">
            <a:extLst>
              <a:ext uri="{FF2B5EF4-FFF2-40B4-BE49-F238E27FC236}">
                <a16:creationId xmlns:a16="http://schemas.microsoft.com/office/drawing/2014/main" id="{5B07A9B0-60EA-FF8A-B756-32475C4206B2}"/>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l="478" t="40234" r="1650" b="25287"/>
          <a:stretch/>
        </p:blipFill>
        <p:spPr>
          <a:xfrm>
            <a:off x="588263" y="2503344"/>
            <a:ext cx="5094338" cy="1210791"/>
          </a:xfrm>
          <a:prstGeom prst="round2SameRect">
            <a:avLst>
              <a:gd name="adj1" fmla="val 0"/>
              <a:gd name="adj2" fmla="val 0"/>
            </a:avLst>
          </a:prstGeom>
        </p:spPr>
      </p:pic>
    </p:spTree>
    <p:extLst>
      <p:ext uri="{BB962C8B-B14F-4D97-AF65-F5344CB8AC3E}">
        <p14:creationId xmlns:p14="http://schemas.microsoft.com/office/powerpoint/2010/main" val="441281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100"/>
                                  </p:stCondLst>
                                  <p:childTnLst>
                                    <p:animMotion origin="layout" path="M -1.45833E-6 -4.07407E-6 L -1.45833E-6 0.04167 " pathEditMode="relative" rAng="0" ptsTypes="AA">
                                      <p:cBhvr>
                                        <p:cTn id="9" dur="500" spd="-100000" fill="hold"/>
                                        <p:tgtEl>
                                          <p:spTgt spid="3"/>
                                        </p:tgtEl>
                                        <p:attrNameLst>
                                          <p:attrName>ppt_x</p:attrName>
                                          <p:attrName>ppt_y</p:attrName>
                                        </p:attrNameLst>
                                      </p:cBhvr>
                                      <p:rCtr x="0" y="2083"/>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42" presetClass="path" presetSubtype="0" decel="100000" fill="hold" grpId="1" nodeType="withEffect">
                                  <p:stCondLst>
                                    <p:cond delay="0"/>
                                  </p:stCondLst>
                                  <p:childTnLst>
                                    <p:animMotion origin="layout" path="M -1.25E-6 -2.22222E-6 L -1.25E-6 0.04167 " pathEditMode="relative" rAng="0" ptsTypes="AA">
                                      <p:cBhvr>
                                        <p:cTn id="14" dur="500" spd="-100000" fill="hold"/>
                                        <p:tgtEl>
                                          <p:spTgt spid="9"/>
                                        </p:tgtEl>
                                        <p:attrNameLst>
                                          <p:attrName>ppt_x</p:attrName>
                                          <p:attrName>ppt_y</p:attrName>
                                        </p:attrNameLst>
                                      </p:cBhvr>
                                      <p:rCtr x="0" y="2083"/>
                                    </p:animMotion>
                                  </p:childTnLst>
                                </p:cTn>
                              </p:par>
                              <p:par>
                                <p:cTn id="15" presetID="10"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42" presetClass="path" presetSubtype="0" decel="100000" fill="hold" grpId="1" nodeType="withEffect">
                                  <p:stCondLst>
                                    <p:cond delay="0"/>
                                  </p:stCondLst>
                                  <p:childTnLst>
                                    <p:animMotion origin="layout" path="M -1.25E-6 -2.22222E-6 L -1.25E-6 0.04167 " pathEditMode="relative" rAng="0" ptsTypes="AA">
                                      <p:cBhvr>
                                        <p:cTn id="19" dur="500" spd="-100000" fill="hold"/>
                                        <p:tgtEl>
                                          <p:spTgt spid="4"/>
                                        </p:tgtEl>
                                        <p:attrNameLst>
                                          <p:attrName>ppt_x</p:attrName>
                                          <p:attrName>ppt_y</p:attrName>
                                        </p:attrNameLst>
                                      </p:cBhvr>
                                      <p:rCtr x="0" y="2083"/>
                                    </p:animMotion>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42" presetClass="path" presetSubtype="0" decel="100000" fill="hold" nodeType="withEffect">
                                  <p:stCondLst>
                                    <p:cond delay="0"/>
                                  </p:stCondLst>
                                  <p:childTnLst>
                                    <p:animMotion origin="layout" path="M -1.45833E-6 -7.40741E-7 L -1.45833E-6 0.04167 " pathEditMode="relative" rAng="0" ptsTypes="AA">
                                      <p:cBhvr>
                                        <p:cTn id="24" dur="500" spd="-100000" fill="hold"/>
                                        <p:tgtEl>
                                          <p:spTgt spid="11"/>
                                        </p:tgtEl>
                                        <p:attrNameLst>
                                          <p:attrName>ppt_x</p:attrName>
                                          <p:attrName>ppt_y</p:attrName>
                                        </p:attrNameLst>
                                      </p:cBhvr>
                                      <p:rCtr x="0" y="2083"/>
                                    </p:animMotion>
                                  </p:childTnLst>
                                </p:cTn>
                              </p:par>
                              <p:par>
                                <p:cTn id="25" presetID="10" presetClass="entr" presetSubtype="0" fill="hold" grpId="0" nodeType="withEffect">
                                  <p:stCondLst>
                                    <p:cond delay="5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500"/>
                                  </p:stCondLst>
                                  <p:childTnLst>
                                    <p:animMotion origin="layout" path="M -1.45833E-6 -2.59259E-6 L -1.45833E-6 -0.03703 " pathEditMode="relative" rAng="0" ptsTypes="AA">
                                      <p:cBhvr>
                                        <p:cTn id="29" dur="750" spd="-100000" fill="hold"/>
                                        <p:tgtEl>
                                          <p:spTgt spid="8"/>
                                        </p:tgtEl>
                                        <p:attrNameLst>
                                          <p:attrName>ppt_x</p:attrName>
                                          <p:attrName>ppt_y</p:attrName>
                                        </p:attrNameLst>
                                      </p:cBhvr>
                                      <p:rCtr x="0" y="-1852"/>
                                    </p:animMotion>
                                  </p:childTnLst>
                                </p:cTn>
                              </p:par>
                            </p:childTnLst>
                          </p:cTn>
                        </p:par>
                        <p:par>
                          <p:cTn id="30" fill="hold">
                            <p:stCondLst>
                              <p:cond delay="1250"/>
                            </p:stCondLst>
                            <p:childTnLst>
                              <p:par>
                                <p:cTn id="31" presetID="10" presetClass="entr" presetSubtype="0" fill="hold" grpId="0" nodeType="afterEffect">
                                  <p:stCondLst>
                                    <p:cond delay="1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42" presetClass="path" presetSubtype="0" decel="100000" fill="hold" grpId="1" nodeType="withEffect">
                                  <p:stCondLst>
                                    <p:cond delay="100"/>
                                  </p:stCondLst>
                                  <p:childTnLst>
                                    <p:animMotion origin="layout" path="M -2.29167E-6 0 L -2.29167E-6 0.04167 " pathEditMode="relative" rAng="0" ptsTypes="AA">
                                      <p:cBhvr>
                                        <p:cTn id="35" dur="500" spd="-100000" fill="hold"/>
                                        <p:tgtEl>
                                          <p:spTgt spid="7"/>
                                        </p:tgtEl>
                                        <p:attrNameLst>
                                          <p:attrName>ppt_x</p:attrName>
                                          <p:attrName>ppt_y</p:attrName>
                                        </p:attrNameLst>
                                      </p:cBhvr>
                                      <p:rCtr x="0" y="2083"/>
                                    </p:animMotion>
                                  </p:childTnLst>
                                </p:cTn>
                              </p:par>
                              <p:par>
                                <p:cTn id="36" presetID="10"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par>
                                <p:cTn id="39" presetID="42" presetClass="path" presetSubtype="0" decel="100000" fill="hold" grpId="1" nodeType="withEffect">
                                  <p:stCondLst>
                                    <p:cond delay="0"/>
                                  </p:stCondLst>
                                  <p:childTnLst>
                                    <p:animMotion origin="layout" path="M -2.08333E-6 -2.22222E-6 L -2.08333E-6 0.04167 " pathEditMode="relative" rAng="0" ptsTypes="AA">
                                      <p:cBhvr>
                                        <p:cTn id="40" dur="500" spd="-100000" fill="hold"/>
                                        <p:tgtEl>
                                          <p:spTgt spid="6"/>
                                        </p:tgtEl>
                                        <p:attrNameLst>
                                          <p:attrName>ppt_x</p:attrName>
                                          <p:attrName>ppt_y</p:attrName>
                                        </p:attrNameLst>
                                      </p:cBhvr>
                                      <p:rCtr x="0" y="2083"/>
                                    </p:animMotion>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42" presetClass="path" presetSubtype="0" decel="100000" fill="hold" nodeType="withEffect">
                                  <p:stCondLst>
                                    <p:cond delay="0"/>
                                  </p:stCondLst>
                                  <p:childTnLst>
                                    <p:animMotion origin="layout" path="M -2.29167E-6 -7.40741E-7 L -2.29167E-6 0.04167 " pathEditMode="relative" rAng="0" ptsTypes="AA">
                                      <p:cBhvr>
                                        <p:cTn id="45" dur="500" spd="-100000" fill="hold"/>
                                        <p:tgtEl>
                                          <p:spTgt spid="13"/>
                                        </p:tgtEl>
                                        <p:attrNameLst>
                                          <p:attrName>ppt_x</p:attrName>
                                          <p:attrName>ppt_y</p:attrName>
                                        </p:attrNameLst>
                                      </p:cBhvr>
                                      <p:rCtr x="0" y="2083"/>
                                    </p:animMotion>
                                  </p:childTnLst>
                                </p:cTn>
                              </p:par>
                              <p:par>
                                <p:cTn id="46" presetID="10" presetClass="entr" presetSubtype="0" fill="hold" grpId="0" nodeType="withEffect">
                                  <p:stCondLst>
                                    <p:cond delay="5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42" presetClass="path" presetSubtype="0" decel="100000" fill="hold" grpId="1" nodeType="withEffect">
                                  <p:stCondLst>
                                    <p:cond delay="500"/>
                                  </p:stCondLst>
                                  <p:childTnLst>
                                    <p:animMotion origin="layout" path="M -2.29167E-6 -2.59259E-6 L -2.29167E-6 -0.03703 " pathEditMode="relative" rAng="0" ptsTypes="AA">
                                      <p:cBhvr>
                                        <p:cTn id="50" dur="750" spd="-100000" fill="hold"/>
                                        <p:tgtEl>
                                          <p:spTgt spid="12"/>
                                        </p:tgtEl>
                                        <p:attrNameLst>
                                          <p:attrName>ppt_x</p:attrName>
                                          <p:attrName>ppt_y</p:attrName>
                                        </p:attrNameLst>
                                      </p:cBhvr>
                                      <p:rCtr x="0" y="-1852"/>
                                    </p:animMotion>
                                  </p:childTnLst>
                                </p:cTn>
                              </p:par>
                              <p:par>
                                <p:cTn id="51" presetID="10"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42" presetClass="path" presetSubtype="0" decel="100000" fill="hold" grpId="1" nodeType="withEffect">
                                  <p:stCondLst>
                                    <p:cond delay="0"/>
                                  </p:stCondLst>
                                  <p:childTnLst>
                                    <p:animMotion origin="layout" path="M -2.08333E-6 -2.22222E-6 L -2.08333E-6 0.04167 " pathEditMode="relative" rAng="0" ptsTypes="AA">
                                      <p:cBhvr>
                                        <p:cTn id="55" dur="500" spd="-100000" fill="hold"/>
                                        <p:tgtEl>
                                          <p:spTgt spid="10"/>
                                        </p:tgtEl>
                                        <p:attrNameLst>
                                          <p:attrName>ppt_x</p:attrName>
                                          <p:attrName>ppt_y</p:attrName>
                                        </p:attrNameLst>
                                      </p:cBhvr>
                                      <p:rCtr x="0" y="20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9" grpId="0" animBg="1"/>
      <p:bldP spid="9" grpId="1" animBg="1"/>
      <p:bldP spid="3" grpId="0" animBg="1"/>
      <p:bldP spid="3" grpId="1" animBg="1"/>
      <p:bldP spid="7" grpId="0" animBg="1"/>
      <p:bldP spid="7" grpId="1" animBg="1"/>
      <p:bldP spid="8" grpId="0" animBg="1"/>
      <p:bldP spid="8" grpId="1" animBg="1"/>
      <p:bldP spid="12" grpId="0" animBg="1"/>
      <p:bldP spid="12" grpId="1" animBg="1"/>
      <p:bldP spid="4" grpId="0"/>
      <p:bldP spid="4" grpId="1"/>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44F321AA-C06F-25F3-7851-99BF53464E51}"/>
              </a:ext>
            </a:extLst>
          </p:cNvPr>
          <p:cNvSpPr txBox="1">
            <a:spLocks/>
          </p:cNvSpPr>
          <p:nvPr/>
        </p:nvSpPr>
        <p:spPr>
          <a:xfrm>
            <a:off x="588264" y="1225384"/>
            <a:ext cx="9784236" cy="276999"/>
          </a:xfrm>
          <a:prstGeom prst="rect">
            <a:avLst/>
          </a:prstGeom>
        </p:spPr>
        <p:txBody>
          <a:bodyPr vert="horz" wrap="square" lIns="0" tIns="0" rIns="0" bIns="0" rtlCol="0">
            <a:noAutofit/>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2400"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110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sz="1600" b="0" i="0" u="none" strike="noStrike" kern="1200" cap="none" spc="0" normalizeH="0" baseline="0" noProof="0">
              <a:ln w="3175">
                <a:noFill/>
              </a:ln>
              <a:solidFill>
                <a:srgbClr val="000000"/>
              </a:solidFill>
              <a:effectLst/>
              <a:uLnTx/>
              <a:uFillTx/>
              <a:latin typeface="Segoe UI"/>
              <a:ea typeface="+mn-ea"/>
              <a:cs typeface="Segoe UI" pitchFamily="34" charset="0"/>
            </a:endParaRPr>
          </a:p>
        </p:txBody>
      </p:sp>
      <p:grpSp>
        <p:nvGrpSpPr>
          <p:cNvPr id="11" name="Group 10">
            <a:extLst>
              <a:ext uri="{FF2B5EF4-FFF2-40B4-BE49-F238E27FC236}">
                <a16:creationId xmlns:a16="http://schemas.microsoft.com/office/drawing/2014/main" id="{20AEE91E-0AE1-9B44-30F1-FE4964A7D8D0}"/>
              </a:ext>
            </a:extLst>
          </p:cNvPr>
          <p:cNvGrpSpPr/>
          <p:nvPr/>
        </p:nvGrpSpPr>
        <p:grpSpPr>
          <a:xfrm>
            <a:off x="605641" y="1598533"/>
            <a:ext cx="5023013" cy="3793635"/>
            <a:chOff x="605641" y="1598533"/>
            <a:chExt cx="5023013" cy="3793635"/>
          </a:xfrm>
        </p:grpSpPr>
        <p:sp>
          <p:nvSpPr>
            <p:cNvPr id="103" name="Rectangle: Rounded Corners 102">
              <a:extLst>
                <a:ext uri="{FF2B5EF4-FFF2-40B4-BE49-F238E27FC236}">
                  <a16:creationId xmlns:a16="http://schemas.microsoft.com/office/drawing/2014/main" id="{F6198025-AB42-9971-5544-26BC6EA08519}"/>
                </a:ext>
                <a:ext uri="{C183D7F6-B498-43B3-948B-1728B52AA6E4}">
                  <adec:decorative xmlns:adec="http://schemas.microsoft.com/office/drawing/2017/decorative" val="1"/>
                </a:ext>
              </a:extLst>
            </p:cNvPr>
            <p:cNvSpPr/>
            <p:nvPr/>
          </p:nvSpPr>
          <p:spPr bwMode="auto">
            <a:xfrm>
              <a:off x="605641" y="1598533"/>
              <a:ext cx="5023013" cy="3793635"/>
            </a:xfrm>
            <a:prstGeom prst="roundRect">
              <a:avLst>
                <a:gd name="adj" fmla="val 5000"/>
              </a:avLst>
            </a:prstGeom>
            <a:solidFill>
              <a:schemeClr val="bg1">
                <a:lumMod val="95000"/>
              </a:schemeClr>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0" rIns="13716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200"/>
                </a:spcBef>
                <a:spcAft>
                  <a:spcPts val="300"/>
                </a:spcAft>
                <a:buClrTx/>
                <a:buSzTx/>
                <a:buFontTx/>
                <a:buNone/>
                <a:tabLst/>
                <a:defRPr/>
              </a:pPr>
              <a:endParaRPr kumimoji="0" lang="en-US" sz="1400" b="0" i="0" u="none" strike="noStrike" kern="0" cap="none" spc="0" normalizeH="0" baseline="0" noProof="0" err="1">
                <a:ln>
                  <a:noFill/>
                </a:ln>
                <a:solidFill>
                  <a:srgbClr val="3A3A3A"/>
                </a:solidFill>
                <a:effectLst/>
                <a:uLnTx/>
                <a:uFillTx/>
                <a:latin typeface="Segoe UI"/>
                <a:ea typeface="+mn-ea"/>
                <a:cs typeface="+mn-cs"/>
              </a:endParaRPr>
            </a:p>
          </p:txBody>
        </p:sp>
        <p:sp>
          <p:nvSpPr>
            <p:cNvPr id="2" name="Rectangle: Rounded Corners 1">
              <a:extLst>
                <a:ext uri="{FF2B5EF4-FFF2-40B4-BE49-F238E27FC236}">
                  <a16:creationId xmlns:a16="http://schemas.microsoft.com/office/drawing/2014/main" id="{9F31B6DF-8572-B4D4-72C4-C6957FE87C68}"/>
                </a:ext>
                <a:ext uri="{C183D7F6-B498-43B3-948B-1728B52AA6E4}">
                  <adec:decorative xmlns:adec="http://schemas.microsoft.com/office/drawing/2017/decorative" val="1"/>
                </a:ext>
              </a:extLst>
            </p:cNvPr>
            <p:cNvSpPr/>
            <p:nvPr/>
          </p:nvSpPr>
          <p:spPr bwMode="auto">
            <a:xfrm>
              <a:off x="914398" y="2517611"/>
              <a:ext cx="1174651" cy="450545"/>
            </a:xfrm>
            <a:prstGeom prst="round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878BDB2F-8FF2-3F77-A06D-FEB4B306F2D9}"/>
                </a:ext>
                <a:ext uri="{C183D7F6-B498-43B3-948B-1728B52AA6E4}">
                  <adec:decorative xmlns:adec="http://schemas.microsoft.com/office/drawing/2017/decorative" val="1"/>
                </a:ext>
              </a:extLst>
            </p:cNvPr>
            <p:cNvSpPr/>
            <p:nvPr/>
          </p:nvSpPr>
          <p:spPr bwMode="auto">
            <a:xfrm>
              <a:off x="914398" y="3560769"/>
              <a:ext cx="1174651" cy="450545"/>
            </a:xfrm>
            <a:prstGeom prst="round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Rectangle: Rounded Corners 28">
              <a:extLst>
                <a:ext uri="{FF2B5EF4-FFF2-40B4-BE49-F238E27FC236}">
                  <a16:creationId xmlns:a16="http://schemas.microsoft.com/office/drawing/2014/main" id="{3C8127DD-E6FF-A918-9CD1-127AE4AF0095}"/>
                </a:ext>
                <a:ext uri="{C183D7F6-B498-43B3-948B-1728B52AA6E4}">
                  <adec:decorative xmlns:adec="http://schemas.microsoft.com/office/drawing/2017/decorative" val="1"/>
                </a:ext>
              </a:extLst>
            </p:cNvPr>
            <p:cNvSpPr/>
            <p:nvPr/>
          </p:nvSpPr>
          <p:spPr bwMode="auto">
            <a:xfrm>
              <a:off x="914398" y="3037646"/>
              <a:ext cx="1174651" cy="450545"/>
            </a:xfrm>
            <a:prstGeom prst="round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Rectangle: Rounded Corners 29">
              <a:extLst>
                <a:ext uri="{FF2B5EF4-FFF2-40B4-BE49-F238E27FC236}">
                  <a16:creationId xmlns:a16="http://schemas.microsoft.com/office/drawing/2014/main" id="{E8142641-EDF9-F53F-B31F-60AE68C9B686}"/>
                </a:ext>
                <a:ext uri="{C183D7F6-B498-43B3-948B-1728B52AA6E4}">
                  <adec:decorative xmlns:adec="http://schemas.microsoft.com/office/drawing/2017/decorative" val="1"/>
                </a:ext>
              </a:extLst>
            </p:cNvPr>
            <p:cNvSpPr/>
            <p:nvPr/>
          </p:nvSpPr>
          <p:spPr bwMode="auto">
            <a:xfrm>
              <a:off x="914398" y="4079816"/>
              <a:ext cx="1174651" cy="450545"/>
            </a:xfrm>
            <a:prstGeom prst="round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1" name="Rectangle: Rounded Corners 30">
              <a:extLst>
                <a:ext uri="{FF2B5EF4-FFF2-40B4-BE49-F238E27FC236}">
                  <a16:creationId xmlns:a16="http://schemas.microsoft.com/office/drawing/2014/main" id="{828A8862-AE49-3524-2C30-E9C858231764}"/>
                </a:ext>
                <a:ext uri="{C183D7F6-B498-43B3-948B-1728B52AA6E4}">
                  <adec:decorative xmlns:adec="http://schemas.microsoft.com/office/drawing/2017/decorative" val="1"/>
                </a:ext>
              </a:extLst>
            </p:cNvPr>
            <p:cNvSpPr/>
            <p:nvPr/>
          </p:nvSpPr>
          <p:spPr bwMode="auto">
            <a:xfrm>
              <a:off x="914398" y="4600552"/>
              <a:ext cx="1174651" cy="450545"/>
            </a:xfrm>
            <a:prstGeom prst="roundRect">
              <a:avLst/>
            </a:prstGeom>
            <a:solidFill>
              <a:schemeClr val="bg1"/>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48" name="TextBox 247">
              <a:extLst>
                <a:ext uri="{FF2B5EF4-FFF2-40B4-BE49-F238E27FC236}">
                  <a16:creationId xmlns:a16="http://schemas.microsoft.com/office/drawing/2014/main" id="{A96331ED-D233-2E2B-FFAA-30D20C91FFB2}"/>
                </a:ext>
              </a:extLst>
            </p:cNvPr>
            <p:cNvSpPr txBox="1"/>
            <p:nvPr/>
          </p:nvSpPr>
          <p:spPr>
            <a:xfrm>
              <a:off x="1557586" y="1716257"/>
              <a:ext cx="2966389" cy="51809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Standalones</a:t>
              </a:r>
              <a:r>
                <a:rPr kumimoji="0" lang="en-US" sz="1800" b="0" i="0" u="none" strike="noStrike" kern="1200" cap="none" spc="0" normalizeH="0" baseline="0" noProof="0">
                  <a:ln>
                    <a:noFill/>
                  </a:ln>
                  <a:solidFill>
                    <a:srgbClr val="4C008C"/>
                  </a:solidFill>
                  <a:effectLst/>
                  <a:uLnTx/>
                  <a:uFillTx/>
                  <a:latin typeface="Segoe UI Semibold"/>
                  <a:ea typeface="+mn-ea"/>
                  <a:cs typeface="+mn-cs"/>
                </a:rPr>
                <a:t> </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a:ln>
                    <a:noFill/>
                  </a:ln>
                  <a:solidFill>
                    <a:srgbClr val="E6E6E6">
                      <a:lumMod val="25000"/>
                    </a:srgbClr>
                  </a:solidFill>
                  <a:effectLst/>
                  <a:uLnTx/>
                  <a:uFillTx/>
                  <a:latin typeface="Segoe UI"/>
                  <a:ea typeface="+mn-ea"/>
                  <a:cs typeface="+mn-cs"/>
                </a:rPr>
                <a:t>New On-ramps to acquire customers </a:t>
              </a:r>
              <a:endParaRPr kumimoji="0" lang="en-US" sz="1800" b="0" i="0" u="none" strike="noStrike" kern="1200" cap="none" spc="0" normalizeH="0" baseline="0" noProof="0">
                <a:ln>
                  <a:noFill/>
                </a:ln>
                <a:solidFill>
                  <a:srgbClr val="E6E6E6">
                    <a:lumMod val="25000"/>
                  </a:srgbClr>
                </a:solidFill>
                <a:effectLst/>
                <a:uLnTx/>
                <a:uFillTx/>
                <a:latin typeface="Segoe UI"/>
                <a:ea typeface="+mn-ea"/>
                <a:cs typeface="+mn-cs"/>
              </a:endParaRPr>
            </a:p>
          </p:txBody>
        </p:sp>
        <p:cxnSp>
          <p:nvCxnSpPr>
            <p:cNvPr id="262" name="Straight Connector 261">
              <a:extLst>
                <a:ext uri="{FF2B5EF4-FFF2-40B4-BE49-F238E27FC236}">
                  <a16:creationId xmlns:a16="http://schemas.microsoft.com/office/drawing/2014/main" id="{00497D50-E1DD-370C-6F28-BCBC7F82C335}"/>
                </a:ext>
                <a:ext uri="{C183D7F6-B498-43B3-948B-1728B52AA6E4}">
                  <adec:decorative xmlns:adec="http://schemas.microsoft.com/office/drawing/2017/decorative" val="1"/>
                </a:ext>
              </a:extLst>
            </p:cNvPr>
            <p:cNvCxnSpPr>
              <a:cxnSpLocks/>
            </p:cNvCxnSpPr>
            <p:nvPr/>
          </p:nvCxnSpPr>
          <p:spPr>
            <a:xfrm>
              <a:off x="1273010" y="2362996"/>
              <a:ext cx="3722739" cy="0"/>
            </a:xfrm>
            <a:prstGeom prst="line">
              <a:avLst/>
            </a:prstGeom>
            <a:ln w="15875" cap="rnd">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90EE33B4-7ECE-ED99-3DC4-AD7870B415B1}"/>
                </a:ext>
              </a:extLst>
            </p:cNvPr>
            <p:cNvSpPr txBox="1"/>
            <p:nvPr/>
          </p:nvSpPr>
          <p:spPr>
            <a:xfrm>
              <a:off x="2253415" y="2661229"/>
              <a:ext cx="2635914"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mn-cs"/>
                </a:rPr>
                <a:t>Microsoft Teams Essentials </a:t>
              </a:r>
              <a:r>
                <a:rPr kumimoji="0" lang="en-US" sz="1400" b="1" i="0" u="none" strike="noStrike" kern="1200" cap="none" spc="0" normalizeH="0" baseline="0" noProof="0">
                  <a:ln>
                    <a:noFill/>
                  </a:ln>
                  <a:solidFill>
                    <a:srgbClr val="0078D4"/>
                  </a:solidFill>
                  <a:effectLst/>
                  <a:uLnTx/>
                  <a:uFillTx/>
                  <a:latin typeface="Segoe UI Semibold"/>
                  <a:ea typeface="+mn-ea"/>
                  <a:cs typeface="+mn-cs"/>
                </a:rPr>
                <a:t>New!</a:t>
              </a:r>
            </a:p>
          </p:txBody>
        </p:sp>
        <p:sp>
          <p:nvSpPr>
            <p:cNvPr id="303" name="TextBox 302">
              <a:extLst>
                <a:ext uri="{FF2B5EF4-FFF2-40B4-BE49-F238E27FC236}">
                  <a16:creationId xmlns:a16="http://schemas.microsoft.com/office/drawing/2014/main" id="{10A61439-0642-80FE-F60D-C9F97F2784A7}"/>
                </a:ext>
              </a:extLst>
            </p:cNvPr>
            <p:cNvSpPr txBox="1"/>
            <p:nvPr/>
          </p:nvSpPr>
          <p:spPr>
            <a:xfrm>
              <a:off x="2253415" y="3692960"/>
              <a:ext cx="2316340"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mn-cs"/>
                </a:rPr>
                <a:t>Windows 365 Business </a:t>
              </a:r>
              <a:r>
                <a:rPr kumimoji="0" lang="en-US" sz="1400" b="1" i="0" u="none" strike="noStrike" kern="1200" cap="none" spc="0" normalizeH="0" baseline="0" noProof="0">
                  <a:ln>
                    <a:noFill/>
                  </a:ln>
                  <a:solidFill>
                    <a:srgbClr val="0078D4"/>
                  </a:solidFill>
                  <a:effectLst/>
                  <a:uLnTx/>
                  <a:uFillTx/>
                  <a:latin typeface="Segoe UI Semibold"/>
                  <a:ea typeface="+mn-ea"/>
                  <a:cs typeface="+mn-cs"/>
                </a:rPr>
                <a:t>New!</a:t>
              </a:r>
              <a:endParaRPr kumimoji="0" lang="en-US" sz="1400" b="0" i="0" u="none" strike="noStrike" kern="1200" cap="none" spc="0" normalizeH="0" baseline="0" noProof="0">
                <a:ln>
                  <a:noFill/>
                </a:ln>
                <a:solidFill>
                  <a:srgbClr val="0078D4"/>
                </a:solidFill>
                <a:effectLst/>
                <a:uLnTx/>
                <a:uFillTx/>
                <a:latin typeface="Segoe UI Semibold"/>
                <a:ea typeface="+mn-ea"/>
                <a:cs typeface="+mn-cs"/>
              </a:endParaRPr>
            </a:p>
          </p:txBody>
        </p:sp>
        <p:pic>
          <p:nvPicPr>
            <p:cNvPr id="315" name="Picture 2">
              <a:extLst>
                <a:ext uri="{FF2B5EF4-FFF2-40B4-BE49-F238E27FC236}">
                  <a16:creationId xmlns:a16="http://schemas.microsoft.com/office/drawing/2014/main" id="{45F2B044-3FF2-F46E-D85A-247D0EADAE6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50158" y="3109094"/>
              <a:ext cx="321682" cy="337766"/>
            </a:xfrm>
            <a:prstGeom prst="rect">
              <a:avLst/>
            </a:prstGeom>
            <a:extLst>
              <a:ext uri="{909E8E84-426E-40DD-AFC4-6F175D3DCCD1}">
                <a14:hiddenFill xmlns:a14="http://schemas.microsoft.com/office/drawing/2010/main">
                  <a:solidFill>
                    <a:srgbClr val="FFFFFF"/>
                  </a:solidFill>
                </a14:hiddenFill>
              </a:ext>
            </a:extLst>
          </p:spPr>
        </p:pic>
        <p:sp>
          <p:nvSpPr>
            <p:cNvPr id="320" name="TextBox 319">
              <a:extLst>
                <a:ext uri="{FF2B5EF4-FFF2-40B4-BE49-F238E27FC236}">
                  <a16:creationId xmlns:a16="http://schemas.microsoft.com/office/drawing/2014/main" id="{928511B4-4D27-F2A4-4A8C-2B3FE3E4050E}"/>
                </a:ext>
              </a:extLst>
            </p:cNvPr>
            <p:cNvSpPr txBox="1"/>
            <p:nvPr/>
          </p:nvSpPr>
          <p:spPr>
            <a:xfrm>
              <a:off x="2253415" y="3155195"/>
              <a:ext cx="3087768"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n-ea"/>
                  <a:cs typeface="+mn-cs"/>
                </a:rPr>
                <a:t>Microsoft Defender for Business </a:t>
              </a:r>
              <a:r>
                <a:rPr kumimoji="0" lang="en-US" sz="1400" b="1" i="0" u="none" strike="noStrike" kern="1200" cap="none" spc="0" normalizeH="0" baseline="0" noProof="0">
                  <a:ln>
                    <a:noFill/>
                  </a:ln>
                  <a:solidFill>
                    <a:srgbClr val="0078D4"/>
                  </a:solidFill>
                  <a:effectLst/>
                  <a:uLnTx/>
                  <a:uFillTx/>
                  <a:latin typeface="Segoe UI Semibold"/>
                  <a:ea typeface="+mn-ea"/>
                  <a:cs typeface="+mn-cs"/>
                </a:rPr>
                <a:t>New!</a:t>
              </a:r>
              <a:endParaRPr kumimoji="0" lang="en-US" sz="1400" b="0" i="0" u="none" strike="noStrike" kern="1200" cap="none" spc="0" normalizeH="0" baseline="0" noProof="0">
                <a:ln>
                  <a:noFill/>
                </a:ln>
                <a:solidFill>
                  <a:srgbClr val="0078D4"/>
                </a:solidFill>
                <a:effectLst/>
                <a:uLnTx/>
                <a:uFillTx/>
                <a:latin typeface="Segoe UI Semibold"/>
                <a:ea typeface="+mn-ea"/>
                <a:cs typeface="+mn-cs"/>
              </a:endParaRPr>
            </a:p>
          </p:txBody>
        </p:sp>
        <p:pic>
          <p:nvPicPr>
            <p:cNvPr id="331" name="Picture 6">
              <a:extLst>
                <a:ext uri="{FF2B5EF4-FFF2-40B4-BE49-F238E27FC236}">
                  <a16:creationId xmlns:a16="http://schemas.microsoft.com/office/drawing/2014/main" id="{48621B82-B07B-AC61-5C39-D85958FA9EBF}"/>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58" t="29163" r="11158" b="29163"/>
            <a:stretch/>
          </p:blipFill>
          <p:spPr bwMode="auto">
            <a:xfrm>
              <a:off x="982458" y="4206737"/>
              <a:ext cx="1072621" cy="211202"/>
            </a:xfrm>
            <a:prstGeom prst="rect">
              <a:avLst/>
            </a:prstGeom>
            <a:extLst>
              <a:ext uri="{909E8E84-426E-40DD-AFC4-6F175D3DCCD1}">
                <a14:hiddenFill xmlns:a14="http://schemas.microsoft.com/office/drawing/2010/main">
                  <a:solidFill>
                    <a:srgbClr val="FFFFFF"/>
                  </a:solidFill>
                </a14:hiddenFill>
              </a:ext>
            </a:extLst>
          </p:spPr>
        </p:pic>
        <p:sp>
          <p:nvSpPr>
            <p:cNvPr id="333" name="TextBox 332">
              <a:extLst>
                <a:ext uri="{FF2B5EF4-FFF2-40B4-BE49-F238E27FC236}">
                  <a16:creationId xmlns:a16="http://schemas.microsoft.com/office/drawing/2014/main" id="{4B185F00-8E93-7640-20E1-007641A93FC6}"/>
                </a:ext>
              </a:extLst>
            </p:cNvPr>
            <p:cNvSpPr txBox="1"/>
            <p:nvPr/>
          </p:nvSpPr>
          <p:spPr>
            <a:xfrm>
              <a:off x="2253415" y="4197366"/>
              <a:ext cx="2619307"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Microsoft 365 Apps for Business</a:t>
              </a:r>
            </a:p>
          </p:txBody>
        </p:sp>
        <p:pic>
          <p:nvPicPr>
            <p:cNvPr id="339" name="Picture 338">
              <a:extLst>
                <a:ext uri="{FF2B5EF4-FFF2-40B4-BE49-F238E27FC236}">
                  <a16:creationId xmlns:a16="http://schemas.microsoft.com/office/drawing/2014/main" id="{808E24A1-57F5-8B2E-1AE5-F723AC9035C2}"/>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2656" t="24966" r="22656" b="24966"/>
            <a:stretch/>
          </p:blipFill>
          <p:spPr>
            <a:xfrm>
              <a:off x="1352181" y="4670578"/>
              <a:ext cx="333174" cy="305031"/>
            </a:xfrm>
            <a:prstGeom prst="rect">
              <a:avLst/>
            </a:prstGeom>
          </p:spPr>
        </p:pic>
        <p:sp>
          <p:nvSpPr>
            <p:cNvPr id="342" name="TextBox 341">
              <a:extLst>
                <a:ext uri="{FF2B5EF4-FFF2-40B4-BE49-F238E27FC236}">
                  <a16:creationId xmlns:a16="http://schemas.microsoft.com/office/drawing/2014/main" id="{C17D3D02-DE68-C539-A9F4-53AA37D49BE7}"/>
                </a:ext>
              </a:extLst>
            </p:cNvPr>
            <p:cNvSpPr txBox="1"/>
            <p:nvPr/>
          </p:nvSpPr>
          <p:spPr>
            <a:xfrm>
              <a:off x="2253415" y="4718102"/>
              <a:ext cx="1356140" cy="215444"/>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Exchange Online</a:t>
              </a:r>
            </a:p>
          </p:txBody>
        </p:sp>
        <p:pic>
          <p:nvPicPr>
            <p:cNvPr id="275" name="Picture 274">
              <a:extLst>
                <a:ext uri="{FF2B5EF4-FFF2-40B4-BE49-F238E27FC236}">
                  <a16:creationId xmlns:a16="http://schemas.microsoft.com/office/drawing/2014/main" id="{2F2DDB8D-56AD-5C50-27D2-733C1CEB98B6}"/>
                </a:ext>
                <a:ext uri="{C183D7F6-B498-43B3-948B-1728B52AA6E4}">
                  <adec:decorative xmlns:adec="http://schemas.microsoft.com/office/drawing/2017/decorative" val="1"/>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21992" t="24589" r="21992" b="24589"/>
            <a:stretch/>
          </p:blipFill>
          <p:spPr>
            <a:xfrm>
              <a:off x="1333739" y="2578675"/>
              <a:ext cx="379921" cy="344693"/>
            </a:xfrm>
            <a:prstGeom prst="rect">
              <a:avLst/>
            </a:prstGeom>
          </p:spPr>
        </p:pic>
        <p:pic>
          <p:nvPicPr>
            <p:cNvPr id="297" name="Picture 4">
              <a:extLst>
                <a:ext uri="{FF2B5EF4-FFF2-40B4-BE49-F238E27FC236}">
                  <a16:creationId xmlns:a16="http://schemas.microsoft.com/office/drawing/2014/main" id="{2FE19966-F170-777E-00BA-2D8E12C74CE9}"/>
                </a:ext>
                <a:ext uri="{C183D7F6-B498-43B3-948B-1728B52AA6E4}">
                  <adec:decorative xmlns:adec="http://schemas.microsoft.com/office/drawing/2017/decorative" val="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545" t="28034" r="10545" b="28034"/>
            <a:stretch/>
          </p:blipFill>
          <p:spPr bwMode="auto">
            <a:xfrm>
              <a:off x="1002123" y="3688675"/>
              <a:ext cx="1057081" cy="215444"/>
            </a:xfrm>
            <a:prstGeom prst="rect">
              <a:avLst/>
            </a:prstGeom>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FC5D2FD4-3B99-E185-CCB6-25160DB437BF}"/>
              </a:ext>
            </a:extLst>
          </p:cNvPr>
          <p:cNvGrpSpPr/>
          <p:nvPr/>
        </p:nvGrpSpPr>
        <p:grpSpPr>
          <a:xfrm>
            <a:off x="6580600" y="1598533"/>
            <a:ext cx="5026184" cy="3793635"/>
            <a:chOff x="6580600" y="1598533"/>
            <a:chExt cx="5026184" cy="3793635"/>
          </a:xfrm>
        </p:grpSpPr>
        <p:sp>
          <p:nvSpPr>
            <p:cNvPr id="79" name="Rectangle: Rounded Corners 78">
              <a:extLst>
                <a:ext uri="{FF2B5EF4-FFF2-40B4-BE49-F238E27FC236}">
                  <a16:creationId xmlns:a16="http://schemas.microsoft.com/office/drawing/2014/main" id="{DDB169C4-D301-25C7-671E-ACD9ADD6B217}"/>
                </a:ext>
                <a:ext uri="{C183D7F6-B498-43B3-948B-1728B52AA6E4}">
                  <adec:decorative xmlns:adec="http://schemas.microsoft.com/office/drawing/2017/decorative" val="1"/>
                </a:ext>
              </a:extLst>
            </p:cNvPr>
            <p:cNvSpPr/>
            <p:nvPr/>
          </p:nvSpPr>
          <p:spPr bwMode="auto">
            <a:xfrm>
              <a:off x="6580600" y="1598533"/>
              <a:ext cx="5026184" cy="3793635"/>
            </a:xfrm>
            <a:prstGeom prst="roundRect">
              <a:avLst>
                <a:gd name="adj" fmla="val 5000"/>
              </a:avLst>
            </a:prstGeom>
            <a:solidFill>
              <a:srgbClr val="F2F2F2"/>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0" rIns="13716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200"/>
                </a:spcBef>
                <a:spcAft>
                  <a:spcPts val="300"/>
                </a:spcAft>
                <a:buClrTx/>
                <a:buSzTx/>
                <a:buFontTx/>
                <a:buNone/>
                <a:tabLst/>
                <a:defRPr/>
              </a:pPr>
              <a:endParaRPr kumimoji="0" lang="en-US" sz="1400" b="0" i="0" u="none" strike="noStrike" kern="0" cap="none" spc="0" normalizeH="0" baseline="0" noProof="0" err="1">
                <a:ln>
                  <a:noFill/>
                </a:ln>
                <a:solidFill>
                  <a:srgbClr val="3A3A3A"/>
                </a:solidFill>
                <a:effectLst/>
                <a:uLnTx/>
                <a:uFillTx/>
                <a:latin typeface="Segoe UI"/>
                <a:ea typeface="+mn-ea"/>
                <a:cs typeface="+mn-cs"/>
              </a:endParaRPr>
            </a:p>
          </p:txBody>
        </p:sp>
        <p:sp>
          <p:nvSpPr>
            <p:cNvPr id="126" name="TextBox 125">
              <a:extLst>
                <a:ext uri="{FF2B5EF4-FFF2-40B4-BE49-F238E27FC236}">
                  <a16:creationId xmlns:a16="http://schemas.microsoft.com/office/drawing/2014/main" id="{185E6CF2-A1A1-FEEC-45EC-263AD4E7C13B}"/>
                </a:ext>
              </a:extLst>
            </p:cNvPr>
            <p:cNvSpPr txBox="1"/>
            <p:nvPr/>
          </p:nvSpPr>
          <p:spPr>
            <a:xfrm>
              <a:off x="7863259" y="1716257"/>
              <a:ext cx="2460866" cy="51809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Microsoft 365 Suite-led</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a:ln>
                    <a:noFill/>
                  </a:ln>
                  <a:solidFill>
                    <a:srgbClr val="E6E6E6">
                      <a:lumMod val="25000"/>
                    </a:srgbClr>
                  </a:solidFill>
                  <a:effectLst/>
                  <a:uLnTx/>
                  <a:uFillTx/>
                  <a:latin typeface="Segoe UI"/>
                  <a:ea typeface="+mn-ea"/>
                  <a:cs typeface="+mn-cs"/>
                </a:rPr>
                <a:t>Drive NPSA and revenue </a:t>
              </a:r>
              <a:endParaRPr kumimoji="0" lang="en-US" sz="1800" b="0" i="0" u="none" strike="noStrike" kern="1200" cap="none" spc="0" normalizeH="0" baseline="0" noProof="0">
                <a:ln>
                  <a:noFill/>
                </a:ln>
                <a:solidFill>
                  <a:srgbClr val="E6E6E6">
                    <a:lumMod val="25000"/>
                  </a:srgbClr>
                </a:solidFill>
                <a:effectLst/>
                <a:uLnTx/>
                <a:uFillTx/>
                <a:latin typeface="Segoe UI"/>
                <a:ea typeface="+mn-ea"/>
                <a:cs typeface="+mn-cs"/>
              </a:endParaRPr>
            </a:p>
          </p:txBody>
        </p:sp>
        <p:grpSp>
          <p:nvGrpSpPr>
            <p:cNvPr id="18" name="Group 17">
              <a:extLst>
                <a:ext uri="{FF2B5EF4-FFF2-40B4-BE49-F238E27FC236}">
                  <a16:creationId xmlns:a16="http://schemas.microsoft.com/office/drawing/2014/main" id="{5A700B38-A5D0-505F-04F4-F0748A157895}"/>
                </a:ext>
              </a:extLst>
            </p:cNvPr>
            <p:cNvGrpSpPr/>
            <p:nvPr/>
          </p:nvGrpSpPr>
          <p:grpSpPr>
            <a:xfrm>
              <a:off x="8445106" y="2365575"/>
              <a:ext cx="1297172" cy="450545"/>
              <a:chOff x="8445106" y="2365575"/>
              <a:chExt cx="1297172" cy="450545"/>
            </a:xfrm>
          </p:grpSpPr>
          <p:sp>
            <p:nvSpPr>
              <p:cNvPr id="28" name="Rectangle: Top Corners Rounded 27">
                <a:extLst>
                  <a:ext uri="{FF2B5EF4-FFF2-40B4-BE49-F238E27FC236}">
                    <a16:creationId xmlns:a16="http://schemas.microsoft.com/office/drawing/2014/main" id="{443C20F0-568D-B182-76E1-C14CBED97960}"/>
                  </a:ext>
                  <a:ext uri="{C183D7F6-B498-43B3-948B-1728B52AA6E4}">
                    <adec:decorative xmlns:adec="http://schemas.microsoft.com/office/drawing/2017/decorative" val="1"/>
                  </a:ext>
                </a:extLst>
              </p:cNvPr>
              <p:cNvSpPr/>
              <p:nvPr/>
            </p:nvSpPr>
            <p:spPr bwMode="auto">
              <a:xfrm rot="10800000">
                <a:off x="8445106" y="2365575"/>
                <a:ext cx="1297172" cy="450545"/>
              </a:xfrm>
              <a:prstGeom prst="round2Same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6">
                <a:extLst>
                  <a:ext uri="{FF2B5EF4-FFF2-40B4-BE49-F238E27FC236}">
                    <a16:creationId xmlns:a16="http://schemas.microsoft.com/office/drawing/2014/main" id="{03697B2C-E139-3D13-E8CC-0943A86513B9}"/>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58" t="29163" r="11158" b="29163"/>
              <a:stretch/>
            </p:blipFill>
            <p:spPr bwMode="auto">
              <a:xfrm>
                <a:off x="8557382" y="2480089"/>
                <a:ext cx="1072621" cy="211202"/>
              </a:xfrm>
              <a:prstGeom prst="rect">
                <a:avLst/>
              </a:prstGeom>
              <a:extLst>
                <a:ext uri="{909E8E84-426E-40DD-AFC4-6F175D3DCCD1}">
                  <a14:hiddenFill xmlns:a14="http://schemas.microsoft.com/office/drawing/2010/main">
                    <a:solidFill>
                      <a:srgbClr val="FFFFFF"/>
                    </a:solidFill>
                  </a14:hiddenFill>
                </a:ext>
              </a:extLst>
            </p:spPr>
          </p:pic>
        </p:grpSp>
        <p:sp>
          <p:nvSpPr>
            <p:cNvPr id="169" name="Rectangle 168">
              <a:extLst>
                <a:ext uri="{FF2B5EF4-FFF2-40B4-BE49-F238E27FC236}">
                  <a16:creationId xmlns:a16="http://schemas.microsoft.com/office/drawing/2014/main" id="{DABFBAB7-6D60-D1DA-DADC-14E705859FFB}"/>
                </a:ext>
              </a:extLst>
            </p:cNvPr>
            <p:cNvSpPr/>
            <p:nvPr/>
          </p:nvSpPr>
          <p:spPr bwMode="auto">
            <a:xfrm>
              <a:off x="7927507" y="3028996"/>
              <a:ext cx="2332370" cy="4370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Microsoft 365 Business Basic</a:t>
              </a:r>
            </a:p>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200" b="0" i="0" u="none" strike="noStrike" kern="0" cap="none" spc="0" normalizeH="0" baseline="0" noProof="0">
                  <a:ln>
                    <a:noFill/>
                  </a:ln>
                  <a:solidFill>
                    <a:srgbClr val="E6E6E6">
                      <a:lumMod val="25000"/>
                    </a:srgbClr>
                  </a:solidFill>
                  <a:effectLst/>
                  <a:uLnTx/>
                  <a:uFillTx/>
                  <a:latin typeface="Segoe UI"/>
                  <a:ea typeface="+mn-ea"/>
                  <a:cs typeface="+mn-cs"/>
                </a:rPr>
                <a:t>Cloud services</a:t>
              </a:r>
            </a:p>
          </p:txBody>
        </p:sp>
        <p:sp>
          <p:nvSpPr>
            <p:cNvPr id="189" name="Rectangle 188">
              <a:extLst>
                <a:ext uri="{FF2B5EF4-FFF2-40B4-BE49-F238E27FC236}">
                  <a16:creationId xmlns:a16="http://schemas.microsoft.com/office/drawing/2014/main" id="{3A3961EB-49D0-81AE-6421-755BCD8701AF}"/>
                </a:ext>
              </a:extLst>
            </p:cNvPr>
            <p:cNvSpPr/>
            <p:nvPr/>
          </p:nvSpPr>
          <p:spPr bwMode="auto">
            <a:xfrm>
              <a:off x="7766406" y="3688917"/>
              <a:ext cx="2654573" cy="4370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UI Semibold"/>
                  <a:ea typeface="+mn-ea"/>
                  <a:cs typeface="+mn-cs"/>
                </a:rPr>
                <a:t>Microsoft 365 Business Standard</a:t>
              </a:r>
            </a:p>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200" b="0" i="0" u="none" strike="noStrike" kern="0" cap="none" spc="0" normalizeH="0" baseline="0" noProof="0">
                  <a:ln>
                    <a:noFill/>
                  </a:ln>
                  <a:solidFill>
                    <a:srgbClr val="E6E6E6">
                      <a:lumMod val="25000"/>
                    </a:srgbClr>
                  </a:solidFill>
                  <a:effectLst/>
                  <a:uLnTx/>
                  <a:uFillTx/>
                  <a:latin typeface="Segoe UI"/>
                  <a:ea typeface="+mn-ea"/>
                  <a:cs typeface="+mn-cs"/>
                </a:rPr>
                <a:t>Cloud services and desktop apps</a:t>
              </a:r>
            </a:p>
          </p:txBody>
        </p:sp>
        <p:sp>
          <p:nvSpPr>
            <p:cNvPr id="208" name="Rectangle 207">
              <a:extLst>
                <a:ext uri="{FF2B5EF4-FFF2-40B4-BE49-F238E27FC236}">
                  <a16:creationId xmlns:a16="http://schemas.microsoft.com/office/drawing/2014/main" id="{B39FAC65-2F74-32F2-6894-27D31226062D}"/>
                </a:ext>
              </a:extLst>
            </p:cNvPr>
            <p:cNvSpPr/>
            <p:nvPr/>
          </p:nvSpPr>
          <p:spPr bwMode="auto">
            <a:xfrm>
              <a:off x="7136425" y="4382030"/>
              <a:ext cx="3914534" cy="437043"/>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400" b="0" i="0" u="none" strike="noStrike" kern="0" cap="none" spc="0" normalizeH="0" baseline="0" noProof="0">
                  <a:ln>
                    <a:noFill/>
                  </a:ln>
                  <a:solidFill>
                    <a:srgbClr val="1A1A1A"/>
                  </a:solidFill>
                  <a:effectLst/>
                  <a:uLnTx/>
                  <a:uFillTx/>
                  <a:latin typeface="Segoe UI Semibold"/>
                  <a:ea typeface="+mn-ea"/>
                  <a:cs typeface="+mn-cs"/>
                </a:rPr>
                <a:t>Microsoft 365 Business Premium</a:t>
              </a:r>
            </a:p>
            <a:p>
              <a:pPr marL="0" marR="0" lvl="0" indent="0" algn="ctr" defTabSz="914225" rtl="0" eaLnBrk="1" fontAlgn="auto" latinLnBrk="0" hangingPunct="1">
                <a:lnSpc>
                  <a:spcPct val="90000"/>
                </a:lnSpc>
                <a:spcBef>
                  <a:spcPts val="0"/>
                </a:spcBef>
                <a:spcAft>
                  <a:spcPts val="600"/>
                </a:spcAft>
                <a:buClrTx/>
                <a:buSzTx/>
                <a:buFontTx/>
                <a:buNone/>
                <a:tabLst/>
                <a:defRPr/>
              </a:pPr>
              <a:r>
                <a:rPr kumimoji="0" lang="en-US" sz="1200" b="0" i="0" u="none" strike="noStrike" kern="0" cap="none" spc="0" normalizeH="0" baseline="0" noProof="0">
                  <a:ln>
                    <a:noFill/>
                  </a:ln>
                  <a:solidFill>
                    <a:srgbClr val="E6E6E6">
                      <a:lumMod val="25000"/>
                    </a:srgbClr>
                  </a:solidFill>
                  <a:effectLst/>
                  <a:uLnTx/>
                  <a:uFillTx/>
                  <a:latin typeface="Segoe UI"/>
                  <a:ea typeface="+mn-ea"/>
                  <a:cs typeface="+mn-cs"/>
                </a:rPr>
                <a:t>Cloud services, desktop apps, and comprehensive security</a:t>
              </a:r>
              <a:endParaRPr kumimoji="0" lang="en-US" sz="1200" b="0" i="0" u="none" strike="noStrike" kern="0" cap="none" spc="0" normalizeH="0" baseline="0" noProof="0">
                <a:ln>
                  <a:noFill/>
                </a:ln>
                <a:solidFill>
                  <a:srgbClr val="E6E6E6">
                    <a:lumMod val="25000"/>
                  </a:srgbClr>
                </a:solidFill>
                <a:effectLst/>
                <a:uLnTx/>
                <a:uFillTx/>
                <a:latin typeface="Segoe UI"/>
                <a:ea typeface="+mn-ea"/>
                <a:cs typeface="Segoe UI"/>
              </a:endParaRPr>
            </a:p>
          </p:txBody>
        </p:sp>
        <p:cxnSp>
          <p:nvCxnSpPr>
            <p:cNvPr id="157" name="Straight Connector 156">
              <a:extLst>
                <a:ext uri="{FF2B5EF4-FFF2-40B4-BE49-F238E27FC236}">
                  <a16:creationId xmlns:a16="http://schemas.microsoft.com/office/drawing/2014/main" id="{5E5F506B-9D8A-08F9-CF62-D482CAE3E88F}"/>
                </a:ext>
                <a:ext uri="{C183D7F6-B498-43B3-948B-1728B52AA6E4}">
                  <adec:decorative xmlns:adec="http://schemas.microsoft.com/office/drawing/2017/decorative" val="1"/>
                </a:ext>
              </a:extLst>
            </p:cNvPr>
            <p:cNvCxnSpPr>
              <a:cxnSpLocks/>
            </p:cNvCxnSpPr>
            <p:nvPr/>
          </p:nvCxnSpPr>
          <p:spPr>
            <a:xfrm>
              <a:off x="7232323" y="2362996"/>
              <a:ext cx="3722739" cy="0"/>
            </a:xfrm>
            <a:prstGeom prst="line">
              <a:avLst/>
            </a:prstGeom>
            <a:ln w="15875" cap="rnd">
              <a:solidFill>
                <a:schemeClr val="bg1">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D32C4772-B445-3911-CC81-8973CD9A57FC}"/>
              </a:ext>
            </a:extLst>
          </p:cNvPr>
          <p:cNvGrpSpPr/>
          <p:nvPr/>
        </p:nvGrpSpPr>
        <p:grpSpPr>
          <a:xfrm>
            <a:off x="5966694" y="2534496"/>
            <a:ext cx="309562" cy="2302695"/>
            <a:chOff x="5966694" y="2534496"/>
            <a:chExt cx="309562" cy="2302695"/>
          </a:xfrm>
        </p:grpSpPr>
        <p:sp>
          <p:nvSpPr>
            <p:cNvPr id="5" name="Freeform 5">
              <a:extLst>
                <a:ext uri="{FF2B5EF4-FFF2-40B4-BE49-F238E27FC236}">
                  <a16:creationId xmlns:a16="http://schemas.microsoft.com/office/drawing/2014/main" id="{AAB4D17B-E282-6EFB-33CC-AC032509D93B}"/>
                </a:ext>
                <a:ext uri="{C183D7F6-B498-43B3-948B-1728B52AA6E4}">
                  <adec:decorative xmlns:adec="http://schemas.microsoft.com/office/drawing/2017/decorative" val="1"/>
                </a:ext>
              </a:extLst>
            </p:cNvPr>
            <p:cNvSpPr>
              <a:spLocks/>
            </p:cNvSpPr>
            <p:nvPr/>
          </p:nvSpPr>
          <p:spPr bwMode="auto">
            <a:xfrm rot="18900000">
              <a:off x="5966694" y="2534496"/>
              <a:ext cx="309562" cy="277812"/>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Freeform 5">
              <a:extLst>
                <a:ext uri="{FF2B5EF4-FFF2-40B4-BE49-F238E27FC236}">
                  <a16:creationId xmlns:a16="http://schemas.microsoft.com/office/drawing/2014/main" id="{D6EB1280-C04C-3C93-71A9-A3296988B404}"/>
                </a:ext>
                <a:ext uri="{C183D7F6-B498-43B3-948B-1728B52AA6E4}">
                  <adec:decorative xmlns:adec="http://schemas.microsoft.com/office/drawing/2017/decorative" val="1"/>
                </a:ext>
              </a:extLst>
            </p:cNvPr>
            <p:cNvSpPr>
              <a:spLocks/>
            </p:cNvSpPr>
            <p:nvPr/>
          </p:nvSpPr>
          <p:spPr bwMode="auto">
            <a:xfrm rot="18900000">
              <a:off x="5966694" y="3529746"/>
              <a:ext cx="309562" cy="277812"/>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Freeform 5">
              <a:extLst>
                <a:ext uri="{FF2B5EF4-FFF2-40B4-BE49-F238E27FC236}">
                  <a16:creationId xmlns:a16="http://schemas.microsoft.com/office/drawing/2014/main" id="{B5BA04B3-D60C-AFE6-FDA7-98BA6AA952FC}"/>
                </a:ext>
                <a:ext uri="{C183D7F6-B498-43B3-948B-1728B52AA6E4}">
                  <adec:decorative xmlns:adec="http://schemas.microsoft.com/office/drawing/2017/decorative" val="1"/>
                </a:ext>
              </a:extLst>
            </p:cNvPr>
            <p:cNvSpPr>
              <a:spLocks/>
            </p:cNvSpPr>
            <p:nvPr/>
          </p:nvSpPr>
          <p:spPr bwMode="auto">
            <a:xfrm rot="18900000">
              <a:off x="5966694" y="4559379"/>
              <a:ext cx="309562" cy="277812"/>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8" name="TextBox 7">
            <a:extLst>
              <a:ext uri="{FF2B5EF4-FFF2-40B4-BE49-F238E27FC236}">
                <a16:creationId xmlns:a16="http://schemas.microsoft.com/office/drawing/2014/main" id="{82F0D720-D95F-394E-F7E7-1D65D310EEE8}"/>
              </a:ext>
            </a:extLst>
          </p:cNvPr>
          <p:cNvSpPr txBox="1"/>
          <p:nvPr/>
        </p:nvSpPr>
        <p:spPr>
          <a:xfrm>
            <a:off x="587247" y="6115343"/>
            <a:ext cx="6599938" cy="253916"/>
          </a:xfrm>
          <a:prstGeom prst="rect">
            <a:avLst/>
          </a:prstGeom>
          <a:noFill/>
        </p:spPr>
        <p:txBody>
          <a:bodyPr wrap="square">
            <a:spAutoFit/>
          </a:bodyPr>
          <a:lstStyle>
            <a:defPPr>
              <a:defRPr lang="en-US"/>
            </a:defPPr>
            <a:lvl3pPr marL="0" lvl="2" algn="r">
              <a:defRPr sz="1050">
                <a:solidFill>
                  <a:schemeClr val="bg1"/>
                </a:solidFill>
                <a:latin typeface="Segoe UI"/>
                <a:cs typeface="Segoe UI Semibold"/>
              </a:defRPr>
            </a:lvl3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E6E6E6">
                    <a:lumMod val="25000"/>
                  </a:srgbClr>
                </a:solidFill>
                <a:effectLst/>
                <a:uLnTx/>
                <a:uFillTx/>
                <a:latin typeface="Segoe UI"/>
                <a:ea typeface="+mn-ea"/>
                <a:cs typeface="+mn-cs"/>
              </a:rPr>
              <a:t>Note: Not all features/product logos shown.</a:t>
            </a:r>
          </a:p>
        </p:txBody>
      </p:sp>
      <p:sp>
        <p:nvSpPr>
          <p:cNvPr id="9" name="Rectangle: Rounded Corners 8">
            <a:extLst>
              <a:ext uri="{FF2B5EF4-FFF2-40B4-BE49-F238E27FC236}">
                <a16:creationId xmlns:a16="http://schemas.microsoft.com/office/drawing/2014/main" id="{F7A1CF5B-CB27-FE89-12FB-D7D5DFAB02ED}"/>
              </a:ext>
            </a:extLst>
          </p:cNvPr>
          <p:cNvSpPr/>
          <p:nvPr/>
        </p:nvSpPr>
        <p:spPr bwMode="auto">
          <a:xfrm>
            <a:off x="894044" y="0"/>
            <a:ext cx="11328436" cy="595799"/>
          </a:xfrm>
          <a:prstGeom prst="roundRect">
            <a:avLst>
              <a:gd name="adj" fmla="val 6214"/>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1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Segoe UI" pitchFamily="34" charset="0"/>
                <a:cs typeface="Segoe UI"/>
              </a:rPr>
              <a:t>Work with customers to find and implement the right solutions for their needs</a:t>
            </a:r>
          </a:p>
        </p:txBody>
      </p:sp>
      <p:sp>
        <p:nvSpPr>
          <p:cNvPr id="10" name="TextBox 9">
            <a:extLst>
              <a:ext uri="{FF2B5EF4-FFF2-40B4-BE49-F238E27FC236}">
                <a16:creationId xmlns:a16="http://schemas.microsoft.com/office/drawing/2014/main" id="{D2BADED4-0125-8142-545F-BCACB997D92D}"/>
              </a:ext>
            </a:extLst>
          </p:cNvPr>
          <p:cNvSpPr txBox="1"/>
          <p:nvPr/>
        </p:nvSpPr>
        <p:spPr>
          <a:xfrm>
            <a:off x="588263" y="165734"/>
            <a:ext cx="6702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01</a:t>
            </a:r>
          </a:p>
        </p:txBody>
      </p:sp>
      <p:sp>
        <p:nvSpPr>
          <p:cNvPr id="17" name="Title 16">
            <a:extLst>
              <a:ext uri="{FF2B5EF4-FFF2-40B4-BE49-F238E27FC236}">
                <a16:creationId xmlns:a16="http://schemas.microsoft.com/office/drawing/2014/main" id="{742F05F9-0027-A642-BAEE-18C825A71341}"/>
              </a:ext>
            </a:extLst>
          </p:cNvPr>
          <p:cNvSpPr>
            <a:spLocks noGrp="1"/>
          </p:cNvSpPr>
          <p:nvPr>
            <p:ph type="title"/>
          </p:nvPr>
        </p:nvSpPr>
        <p:spPr>
          <a:xfrm>
            <a:off x="587247" y="664301"/>
            <a:ext cx="11018520" cy="430887"/>
          </a:xfrm>
        </p:spPr>
        <p:txBody>
          <a:bodyPr/>
          <a:lstStyle/>
          <a:p>
            <a:r>
              <a:rPr lang="en-US"/>
              <a:t>From Best-in-Class to Best-in-Suite solutions for SMBs</a:t>
            </a:r>
          </a:p>
        </p:txBody>
      </p:sp>
    </p:spTree>
    <p:extLst>
      <p:ext uri="{BB962C8B-B14F-4D97-AF65-F5344CB8AC3E}">
        <p14:creationId xmlns:p14="http://schemas.microsoft.com/office/powerpoint/2010/main" val="17112871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15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15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15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DE557D86-C80B-45F7-9BC6-2D15951A6128}"/>
              </a:ext>
              <a:ext uri="{C183D7F6-B498-43B3-948B-1728B52AA6E4}">
                <adec:decorative xmlns:adec="http://schemas.microsoft.com/office/drawing/2017/decorative" val="1"/>
              </a:ext>
            </a:extLst>
          </p:cNvPr>
          <p:cNvGrpSpPr/>
          <p:nvPr/>
        </p:nvGrpSpPr>
        <p:grpSpPr>
          <a:xfrm>
            <a:off x="7782324" y="1424373"/>
            <a:ext cx="3697108" cy="4449786"/>
            <a:chOff x="7903311" y="1424088"/>
            <a:chExt cx="3743645" cy="4494944"/>
          </a:xfrm>
        </p:grpSpPr>
        <p:grpSp>
          <p:nvGrpSpPr>
            <p:cNvPr id="34" name="Group 33">
              <a:extLst>
                <a:ext uri="{FF2B5EF4-FFF2-40B4-BE49-F238E27FC236}">
                  <a16:creationId xmlns:a16="http://schemas.microsoft.com/office/drawing/2014/main" id="{F7638EA8-DD70-4FB5-B2F8-E273CCBAD7A4}"/>
                </a:ext>
              </a:extLst>
            </p:cNvPr>
            <p:cNvGrpSpPr/>
            <p:nvPr/>
          </p:nvGrpSpPr>
          <p:grpSpPr>
            <a:xfrm>
              <a:off x="7903311" y="1424088"/>
              <a:ext cx="3743645" cy="4494944"/>
              <a:chOff x="7903311" y="1424088"/>
              <a:chExt cx="3743645" cy="4494944"/>
            </a:xfrm>
          </p:grpSpPr>
          <p:sp>
            <p:nvSpPr>
              <p:cNvPr id="61" name="Rectangle: Rounded Corners 60">
                <a:extLst>
                  <a:ext uri="{FF2B5EF4-FFF2-40B4-BE49-F238E27FC236}">
                    <a16:creationId xmlns:a16="http://schemas.microsoft.com/office/drawing/2014/main" id="{55AAF13C-B1C2-4E20-B4CE-7168A1F3DAC4}"/>
                  </a:ext>
                </a:extLst>
              </p:cNvPr>
              <p:cNvSpPr/>
              <p:nvPr/>
            </p:nvSpPr>
            <p:spPr bwMode="auto">
              <a:xfrm>
                <a:off x="7903311" y="1424088"/>
                <a:ext cx="3743645" cy="4023360"/>
              </a:xfrm>
              <a:prstGeom prst="roundRect">
                <a:avLst>
                  <a:gd name="adj" fmla="val 3104"/>
                </a:avLst>
              </a:prstGeom>
              <a:solidFill>
                <a:srgbClr val="F5F5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41" tIns="146263" rIns="91427" bIns="146263" numCol="1" spcCol="0" rtlCol="0" fromWordArt="0" anchor="t" anchorCtr="0" forceAA="0" compatLnSpc="1">
                <a:prstTxWarp prst="textNoShape">
                  <a:avLst/>
                </a:prstTxWarp>
                <a:noAutofit/>
              </a:bodyPr>
              <a:lstStyle/>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mn-cs"/>
                  </a:rPr>
                  <a:t>Microsoft 365 Business Premium</a:t>
                </a:r>
              </a:p>
              <a:p>
                <a:pPr marL="0" marR="0" lvl="0" indent="0" algn="l" defTabSz="914049" rtl="0" eaLnBrk="1" fontAlgn="auto" latinLnBrk="0" hangingPunct="1">
                  <a:lnSpc>
                    <a:spcPct val="90000"/>
                  </a:lnSpc>
                  <a:spcBef>
                    <a:spcPts val="0"/>
                  </a:spcBef>
                  <a:spcAft>
                    <a:spcPts val="600"/>
                  </a:spcAft>
                  <a:buClrTx/>
                  <a:buSzTx/>
                  <a:buFontTx/>
                  <a:buNone/>
                  <a:tabLst/>
                  <a:defRPr/>
                </a:pPr>
                <a:endParaRPr kumimoji="0" lang="en-US" sz="1400" b="0" i="1"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rPr>
                  <a:t>Cloud Services</a:t>
                </a:r>
              </a:p>
            </p:txBody>
          </p:sp>
          <p:grpSp>
            <p:nvGrpSpPr>
              <p:cNvPr id="23" name="Group 22">
                <a:extLst>
                  <a:ext uri="{FF2B5EF4-FFF2-40B4-BE49-F238E27FC236}">
                    <a16:creationId xmlns:a16="http://schemas.microsoft.com/office/drawing/2014/main" id="{011FC6B6-C17F-41EE-9F87-C923B5B68082}"/>
                  </a:ext>
                </a:extLst>
              </p:cNvPr>
              <p:cNvGrpSpPr/>
              <p:nvPr/>
            </p:nvGrpSpPr>
            <p:grpSpPr>
              <a:xfrm>
                <a:off x="7972054" y="2439595"/>
                <a:ext cx="1803079" cy="584318"/>
                <a:chOff x="8092437" y="2386537"/>
                <a:chExt cx="2339740" cy="758232"/>
              </a:xfrm>
            </p:grpSpPr>
            <p:pic>
              <p:nvPicPr>
                <p:cNvPr id="29" name="Picture 28">
                  <a:extLst>
                    <a:ext uri="{FF2B5EF4-FFF2-40B4-BE49-F238E27FC236}">
                      <a16:creationId xmlns:a16="http://schemas.microsoft.com/office/drawing/2014/main" id="{97AB8917-C658-4B19-B458-613F5849603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092437" y="2386537"/>
                  <a:ext cx="587505" cy="738745"/>
                </a:xfrm>
                <a:prstGeom prst="rect">
                  <a:avLst/>
                </a:prstGeom>
              </p:spPr>
            </p:pic>
            <p:pic>
              <p:nvPicPr>
                <p:cNvPr id="14" name="Picture 13">
                  <a:extLst>
                    <a:ext uri="{FF2B5EF4-FFF2-40B4-BE49-F238E27FC236}">
                      <a16:creationId xmlns:a16="http://schemas.microsoft.com/office/drawing/2014/main" id="{E1748778-51D6-4D08-BB6C-3242FA08749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613561" y="2386537"/>
                  <a:ext cx="1818616" cy="758232"/>
                </a:xfrm>
                <a:prstGeom prst="rect">
                  <a:avLst/>
                </a:prstGeom>
              </p:spPr>
            </p:pic>
          </p:grpSp>
          <p:sp>
            <p:nvSpPr>
              <p:cNvPr id="21" name="TextBox 20">
                <a:extLst>
                  <a:ext uri="{FF2B5EF4-FFF2-40B4-BE49-F238E27FC236}">
                    <a16:creationId xmlns:a16="http://schemas.microsoft.com/office/drawing/2014/main" id="{22A5A67D-5A85-4CC1-A84A-88766BDD889D}"/>
                  </a:ext>
                </a:extLst>
              </p:cNvPr>
              <p:cNvSpPr txBox="1"/>
              <p:nvPr/>
            </p:nvSpPr>
            <p:spPr>
              <a:xfrm>
                <a:off x="7903311" y="5430611"/>
                <a:ext cx="1966170" cy="488421"/>
              </a:xfrm>
              <a:prstGeom prst="rect">
                <a:avLst/>
              </a:prstGeom>
              <a:noFill/>
            </p:spPr>
            <p:txBody>
              <a:bodyPr wrap="none" lIns="137141" tIns="143407" rIns="179259" bIns="143407" rtlCol="0">
                <a:spAutoFit/>
              </a:bodyPr>
              <a:lstStyle/>
              <a:p>
                <a:pPr marL="0" marR="0" lvl="0" indent="0" algn="l" defTabSz="914139" rtl="0" eaLnBrk="1" fontAlgn="auto" latinLnBrk="0" hangingPunct="1">
                  <a:lnSpc>
                    <a:spcPct val="90000"/>
                  </a:lnSpc>
                  <a:spcBef>
                    <a:spcPts val="0"/>
                  </a:spcBef>
                  <a:spcAft>
                    <a:spcPts val="588"/>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$22 </a:t>
                </a:r>
                <a:r>
                  <a:rPr kumimoji="0" lang="en-US" sz="1400" b="0" i="0" u="none" strike="noStrike" kern="1200" cap="none" spc="0" normalizeH="0" baseline="0" noProof="0">
                    <a:ln>
                      <a:noFill/>
                    </a:ln>
                    <a:solidFill>
                      <a:srgbClr val="000000"/>
                    </a:solidFill>
                    <a:effectLst/>
                    <a:uLnTx/>
                    <a:uFillTx/>
                    <a:latin typeface="Segoe UI Semibold"/>
                    <a:ea typeface="+mn-ea"/>
                    <a:cs typeface="+mn-cs"/>
                  </a:rPr>
                  <a:t>per user/month</a:t>
                </a:r>
              </a:p>
            </p:txBody>
          </p:sp>
          <p:grpSp>
            <p:nvGrpSpPr>
              <p:cNvPr id="13" name="Group 12">
                <a:extLst>
                  <a:ext uri="{FF2B5EF4-FFF2-40B4-BE49-F238E27FC236}">
                    <a16:creationId xmlns:a16="http://schemas.microsoft.com/office/drawing/2014/main" id="{5A621A12-534B-4125-B38C-FF887FA18972}"/>
                  </a:ext>
                  <a:ext uri="{C183D7F6-B498-43B3-948B-1728B52AA6E4}">
                    <adec:decorative xmlns:adec="http://schemas.microsoft.com/office/drawing/2017/decorative" val="1"/>
                  </a:ext>
                </a:extLst>
              </p:cNvPr>
              <p:cNvGrpSpPr/>
              <p:nvPr/>
            </p:nvGrpSpPr>
            <p:grpSpPr>
              <a:xfrm>
                <a:off x="7972059" y="4692425"/>
                <a:ext cx="1837219" cy="605400"/>
                <a:chOff x="8222107" y="5002145"/>
                <a:chExt cx="2384041" cy="785587"/>
              </a:xfrm>
            </p:grpSpPr>
            <p:pic>
              <p:nvPicPr>
                <p:cNvPr id="19" name="Picture 18">
                  <a:extLst>
                    <a:ext uri="{FF2B5EF4-FFF2-40B4-BE49-F238E27FC236}">
                      <a16:creationId xmlns:a16="http://schemas.microsoft.com/office/drawing/2014/main" id="{0902E076-4A85-40F7-B827-1F82A647EA9C}"/>
                    </a:ext>
                  </a:extLst>
                </p:cNvPr>
                <p:cNvPicPr>
                  <a:picLocks noChangeAspect="1"/>
                </p:cNvPicPr>
                <p:nvPr/>
              </p:nvPicPr>
              <p:blipFill>
                <a:blip r:embed="rId5"/>
                <a:stretch>
                  <a:fillRect/>
                </a:stretch>
              </p:blipFill>
              <p:spPr>
                <a:xfrm>
                  <a:off x="8222107" y="5007208"/>
                  <a:ext cx="983376" cy="780524"/>
                </a:xfrm>
                <a:prstGeom prst="rect">
                  <a:avLst/>
                </a:prstGeom>
              </p:spPr>
            </p:pic>
            <p:sp>
              <p:nvSpPr>
                <p:cNvPr id="4" name="TextBox 3">
                  <a:extLst>
                    <a:ext uri="{FF2B5EF4-FFF2-40B4-BE49-F238E27FC236}">
                      <a16:creationId xmlns:a16="http://schemas.microsoft.com/office/drawing/2014/main" id="{5EB89A15-4381-4580-9DFE-F3C003DF3945}"/>
                    </a:ext>
                  </a:extLst>
                </p:cNvPr>
                <p:cNvSpPr txBox="1"/>
                <p:nvPr/>
              </p:nvSpPr>
              <p:spPr>
                <a:xfrm>
                  <a:off x="9014517" y="5217527"/>
                  <a:ext cx="939313" cy="555593"/>
                </a:xfrm>
                <a:prstGeom prst="rect">
                  <a:avLst/>
                </a:prstGeom>
                <a:noFill/>
              </p:spPr>
              <p:txBody>
                <a:bodyPr wrap="square" lIns="179259" tIns="143407" rIns="179259" bIns="143407" rtlCol="0">
                  <a:spAutoFit/>
                </a:bodyPr>
                <a:lstStyle/>
                <a:p>
                  <a:pPr marL="0" marR="0" lvl="0" indent="0" algn="ctr" defTabSz="914139" rtl="0" eaLnBrk="1" fontAlgn="auto" latinLnBrk="0" hangingPunct="1">
                    <a:lnSpc>
                      <a:spcPct val="90000"/>
                    </a:lnSpc>
                    <a:spcBef>
                      <a:spcPts val="0"/>
                    </a:spcBef>
                    <a:spcAft>
                      <a:spcPts val="588"/>
                    </a:spcAft>
                    <a:buClrTx/>
                    <a:buSzTx/>
                    <a:buFontTx/>
                    <a:buNone/>
                    <a:tabLst/>
                    <a:defRPr/>
                  </a:pPr>
                  <a:r>
                    <a:rPr kumimoji="0" lang="en-US" sz="500" b="0" i="0" u="none" strike="noStrike" kern="1200" cap="none" spc="0" normalizeH="0" baseline="0" noProof="0">
                      <a:ln>
                        <a:noFill/>
                      </a:ln>
                      <a:gradFill>
                        <a:gsLst>
                          <a:gs pos="2917">
                            <a:srgbClr val="282828"/>
                          </a:gs>
                          <a:gs pos="30000">
                            <a:srgbClr val="282828"/>
                          </a:gs>
                        </a:gsLst>
                        <a:lin ang="5400000" scaled="0"/>
                      </a:gradFill>
                      <a:effectLst/>
                      <a:uLnTx/>
                      <a:uFillTx/>
                      <a:latin typeface="Segoe UI"/>
                      <a:ea typeface="+mn-ea"/>
                      <a:cs typeface="+mn-cs"/>
                    </a:rPr>
                    <a:t>Azure AD Premium</a:t>
                  </a:r>
                </a:p>
              </p:txBody>
            </p:sp>
            <p:sp>
              <p:nvSpPr>
                <p:cNvPr id="24" name="TextBox 23">
                  <a:extLst>
                    <a:ext uri="{FF2B5EF4-FFF2-40B4-BE49-F238E27FC236}">
                      <a16:creationId xmlns:a16="http://schemas.microsoft.com/office/drawing/2014/main" id="{BC715CCB-418E-4A43-A3DE-F6CD3DDE9A5F}"/>
                    </a:ext>
                  </a:extLst>
                </p:cNvPr>
                <p:cNvSpPr txBox="1"/>
                <p:nvPr/>
              </p:nvSpPr>
              <p:spPr>
                <a:xfrm>
                  <a:off x="9572903" y="5222902"/>
                  <a:ext cx="1033245" cy="555672"/>
                </a:xfrm>
                <a:prstGeom prst="rect">
                  <a:avLst/>
                </a:prstGeom>
                <a:noFill/>
              </p:spPr>
              <p:txBody>
                <a:bodyPr wrap="square" lIns="179259" tIns="143407" rIns="179259" bIns="143407" rtlCol="0">
                  <a:spAutoFit/>
                </a:bodyPr>
                <a:lstStyle/>
                <a:p>
                  <a:pPr marL="0" marR="0" lvl="0" indent="0" algn="ctr" defTabSz="914139" rtl="0" eaLnBrk="1" fontAlgn="auto" latinLnBrk="0" hangingPunct="1">
                    <a:lnSpc>
                      <a:spcPct val="90000"/>
                    </a:lnSpc>
                    <a:spcBef>
                      <a:spcPts val="0"/>
                    </a:spcBef>
                    <a:spcAft>
                      <a:spcPts val="588"/>
                    </a:spcAft>
                    <a:buClrTx/>
                    <a:buSzTx/>
                    <a:buFontTx/>
                    <a:buNone/>
                    <a:tabLst/>
                    <a:defRPr/>
                  </a:pPr>
                  <a:r>
                    <a:rPr kumimoji="0" lang="en-US" sz="500" b="0" i="0" u="none" strike="noStrike" kern="1200" cap="none" spc="0" normalizeH="0" baseline="0" noProof="0">
                      <a:ln>
                        <a:noFill/>
                      </a:ln>
                      <a:gradFill>
                        <a:gsLst>
                          <a:gs pos="2917">
                            <a:srgbClr val="282828"/>
                          </a:gs>
                          <a:gs pos="30000">
                            <a:srgbClr val="282828"/>
                          </a:gs>
                        </a:gsLst>
                        <a:lin ang="5400000" scaled="0"/>
                      </a:gradFill>
                      <a:effectLst/>
                      <a:uLnTx/>
                      <a:uFillTx/>
                      <a:latin typeface="Segoe UI"/>
                      <a:ea typeface="+mn-ea"/>
                      <a:cs typeface="+mn-cs"/>
                    </a:rPr>
                    <a:t>Windows Virtual Desktop </a:t>
                  </a:r>
                </a:p>
              </p:txBody>
            </p:sp>
            <p:pic>
              <p:nvPicPr>
                <p:cNvPr id="1026" name="Picture 7">
                  <a:extLst>
                    <a:ext uri="{FF2B5EF4-FFF2-40B4-BE49-F238E27FC236}">
                      <a16:creationId xmlns:a16="http://schemas.microsoft.com/office/drawing/2014/main" id="{4FFF2CBA-49D5-4B49-BC0D-6E490A1AB5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4062" y="5002145"/>
                  <a:ext cx="332120" cy="332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See the source image">
                  <a:extLst>
                    <a:ext uri="{FF2B5EF4-FFF2-40B4-BE49-F238E27FC236}">
                      <a16:creationId xmlns:a16="http://schemas.microsoft.com/office/drawing/2014/main" id="{6ECC0D6E-75B8-4F34-9698-D1986969764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155" r="60904"/>
                <a:stretch/>
              </p:blipFill>
              <p:spPr bwMode="auto">
                <a:xfrm>
                  <a:off x="9265141" y="5015670"/>
                  <a:ext cx="419610" cy="363130"/>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Rectangle 30">
                <a:extLst>
                  <a:ext uri="{FF2B5EF4-FFF2-40B4-BE49-F238E27FC236}">
                    <a16:creationId xmlns:a16="http://schemas.microsoft.com/office/drawing/2014/main" id="{EFC62A97-7D68-4759-B692-7A1EE5EF4C1C}"/>
                  </a:ext>
                </a:extLst>
              </p:cNvPr>
              <p:cNvSpPr/>
              <p:nvPr/>
            </p:nvSpPr>
            <p:spPr>
              <a:xfrm>
                <a:off x="7933178" y="3255664"/>
                <a:ext cx="1218664" cy="261156"/>
              </a:xfrm>
              <a:prstGeom prst="rect">
                <a:avLst/>
              </a:prstGeom>
            </p:spPr>
            <p:txBody>
              <a:bodyPr wrap="none" lIns="137141">
                <a:spAutoFit/>
              </a:bodyPr>
              <a:lstStyle/>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rPr>
                  <a:t>Desktop Apps</a:t>
                </a:r>
              </a:p>
            </p:txBody>
          </p:sp>
          <p:sp>
            <p:nvSpPr>
              <p:cNvPr id="32" name="Rectangle 31">
                <a:extLst>
                  <a:ext uri="{FF2B5EF4-FFF2-40B4-BE49-F238E27FC236}">
                    <a16:creationId xmlns:a16="http://schemas.microsoft.com/office/drawing/2014/main" id="{7F88C515-A529-4ADD-A71A-FE4D35594B33}"/>
                  </a:ext>
                </a:extLst>
              </p:cNvPr>
              <p:cNvSpPr/>
              <p:nvPr/>
            </p:nvSpPr>
            <p:spPr>
              <a:xfrm>
                <a:off x="7903311" y="4300646"/>
                <a:ext cx="2884401" cy="261156"/>
              </a:xfrm>
              <a:prstGeom prst="rect">
                <a:avLst/>
              </a:prstGeom>
            </p:spPr>
            <p:txBody>
              <a:bodyPr wrap="square" lIns="137141">
                <a:spAutoFit/>
              </a:bodyPr>
              <a:lstStyle/>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rPr>
                  <a:t>Comprehensive Security</a:t>
                </a:r>
              </a:p>
            </p:txBody>
          </p:sp>
        </p:grpSp>
        <p:grpSp>
          <p:nvGrpSpPr>
            <p:cNvPr id="27" name="Group 26">
              <a:extLst>
                <a:ext uri="{FF2B5EF4-FFF2-40B4-BE49-F238E27FC236}">
                  <a16:creationId xmlns:a16="http://schemas.microsoft.com/office/drawing/2014/main" id="{C1B07E45-7BDB-4884-9E8F-033B6B1EA063}"/>
                </a:ext>
              </a:extLst>
            </p:cNvPr>
            <p:cNvGrpSpPr/>
            <p:nvPr/>
          </p:nvGrpSpPr>
          <p:grpSpPr>
            <a:xfrm>
              <a:off x="7908503" y="3510481"/>
              <a:ext cx="2509886" cy="577891"/>
              <a:chOff x="8031873" y="3329173"/>
              <a:chExt cx="3256919" cy="749892"/>
            </a:xfrm>
          </p:grpSpPr>
          <p:pic>
            <p:nvPicPr>
              <p:cNvPr id="15" name="Picture 14">
                <a:extLst>
                  <a:ext uri="{FF2B5EF4-FFF2-40B4-BE49-F238E27FC236}">
                    <a16:creationId xmlns:a16="http://schemas.microsoft.com/office/drawing/2014/main" id="{164D6BDA-473F-4302-AB3D-DF7655370228}"/>
                  </a:ext>
                  <a:ext uri="{C183D7F6-B498-43B3-948B-1728B52AA6E4}">
                    <adec:decorative xmlns:adec="http://schemas.microsoft.com/office/drawing/2017/decorative" val="1"/>
                  </a:ext>
                </a:extLst>
              </p:cNvPr>
              <p:cNvPicPr>
                <a:picLocks noChangeAspect="1"/>
              </p:cNvPicPr>
              <p:nvPr/>
            </p:nvPicPr>
            <p:blipFill rotWithShape="1">
              <a:blip r:embed="rId8"/>
              <a:srcRect l="3698"/>
              <a:stretch/>
            </p:blipFill>
            <p:spPr>
              <a:xfrm>
                <a:off x="8031873" y="3329173"/>
                <a:ext cx="1865134" cy="749892"/>
              </a:xfrm>
              <a:prstGeom prst="rect">
                <a:avLst/>
              </a:prstGeom>
              <a:noFill/>
            </p:spPr>
          </p:pic>
          <p:pic>
            <p:nvPicPr>
              <p:cNvPr id="17" name="Picture 16">
                <a:extLst>
                  <a:ext uri="{FF2B5EF4-FFF2-40B4-BE49-F238E27FC236}">
                    <a16:creationId xmlns:a16="http://schemas.microsoft.com/office/drawing/2014/main" id="{5B321460-8D88-40B3-9469-3E0A6A33ED75}"/>
                  </a:ext>
                  <a:ext uri="{C183D7F6-B498-43B3-948B-1728B52AA6E4}">
                    <adec:decorative xmlns:adec="http://schemas.microsoft.com/office/drawing/2017/decorative" val="1"/>
                  </a:ext>
                </a:extLst>
              </p:cNvPr>
              <p:cNvPicPr>
                <a:picLocks noChangeAspect="1"/>
              </p:cNvPicPr>
              <p:nvPr/>
            </p:nvPicPr>
            <p:blipFill rotWithShape="1">
              <a:blip r:embed="rId9"/>
              <a:srcRect l="5239" r="4382"/>
              <a:stretch/>
            </p:blipFill>
            <p:spPr>
              <a:xfrm>
                <a:off x="9780505" y="3374673"/>
                <a:ext cx="1508287" cy="669667"/>
              </a:xfrm>
              <a:prstGeom prst="rect">
                <a:avLst/>
              </a:prstGeom>
            </p:spPr>
          </p:pic>
        </p:grpSp>
      </p:grpSp>
      <p:grpSp>
        <p:nvGrpSpPr>
          <p:cNvPr id="37" name="Group 36">
            <a:extLst>
              <a:ext uri="{FF2B5EF4-FFF2-40B4-BE49-F238E27FC236}">
                <a16:creationId xmlns:a16="http://schemas.microsoft.com/office/drawing/2014/main" id="{B7098740-D581-40D8-9C22-0C9B886BB5A1}"/>
              </a:ext>
              <a:ext uri="{C183D7F6-B498-43B3-948B-1728B52AA6E4}">
                <adec:decorative xmlns:adec="http://schemas.microsoft.com/office/drawing/2017/decorative" val="1"/>
              </a:ext>
            </a:extLst>
          </p:cNvPr>
          <p:cNvGrpSpPr/>
          <p:nvPr/>
        </p:nvGrpSpPr>
        <p:grpSpPr>
          <a:xfrm>
            <a:off x="468313" y="1424374"/>
            <a:ext cx="3262587" cy="2521121"/>
            <a:chOff x="588263" y="1424088"/>
            <a:chExt cx="3303655" cy="2546707"/>
          </a:xfrm>
        </p:grpSpPr>
        <p:sp>
          <p:nvSpPr>
            <p:cNvPr id="64" name="Rectangle: Rounded Corners 63">
              <a:extLst>
                <a:ext uri="{FF2B5EF4-FFF2-40B4-BE49-F238E27FC236}">
                  <a16:creationId xmlns:a16="http://schemas.microsoft.com/office/drawing/2014/main" id="{1D60095A-7AE9-4C9F-9010-9D8AF158EDFE}"/>
                </a:ext>
              </a:extLst>
            </p:cNvPr>
            <p:cNvSpPr/>
            <p:nvPr/>
          </p:nvSpPr>
          <p:spPr bwMode="auto">
            <a:xfrm>
              <a:off x="588263" y="1424088"/>
              <a:ext cx="3303655" cy="2064090"/>
            </a:xfrm>
            <a:prstGeom prst="roundRect">
              <a:avLst>
                <a:gd name="adj" fmla="val 5600"/>
              </a:avLst>
            </a:prstGeom>
            <a:solidFill>
              <a:srgbClr val="F5F5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41" tIns="146263" rIns="91427" bIns="146263" numCol="1" spcCol="0" rtlCol="0" fromWordArt="0" anchor="t" anchorCtr="0" forceAA="0" compatLnSpc="1">
              <a:prstTxWarp prst="textNoShape">
                <a:avLst/>
              </a:prstTxWarp>
              <a:noAutofit/>
            </a:bodyPr>
            <a:lstStyle/>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765" b="0" i="0" u="none" strike="noStrike" kern="1200" cap="none" spc="0" normalizeH="0" baseline="0" noProof="0">
                  <a:ln>
                    <a:noFill/>
                  </a:ln>
                  <a:solidFill>
                    <a:srgbClr val="000000"/>
                  </a:solidFill>
                  <a:effectLst/>
                  <a:uLnTx/>
                  <a:uFillTx/>
                  <a:latin typeface="Segoe UI Semibold"/>
                  <a:ea typeface="+mn-ea"/>
                  <a:cs typeface="+mn-cs"/>
                </a:rPr>
                <a:t>Microsoft 365 Business Basic</a:t>
              </a:r>
            </a:p>
            <a:p>
              <a:pPr marL="0" marR="0" lvl="0" indent="0" algn="l" defTabSz="914049" rtl="0" eaLnBrk="1" fontAlgn="auto" latinLnBrk="0" hangingPunct="1">
                <a:lnSpc>
                  <a:spcPct val="90000"/>
                </a:lnSpc>
                <a:spcBef>
                  <a:spcPts val="0"/>
                </a:spcBef>
                <a:spcAft>
                  <a:spcPts val="600"/>
                </a:spcAft>
                <a:buClrTx/>
                <a:buSzTx/>
                <a:buFontTx/>
                <a:buNone/>
                <a:tabLst/>
                <a:defRPr/>
              </a:pPr>
              <a:endParaRPr kumimoji="0" lang="en-US" sz="1400" b="0" i="1"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rPr>
                <a:t>Cloud Services</a:t>
              </a:r>
            </a:p>
          </p:txBody>
        </p:sp>
        <p:sp>
          <p:nvSpPr>
            <p:cNvPr id="3" name="TextBox 2">
              <a:extLst>
                <a:ext uri="{FF2B5EF4-FFF2-40B4-BE49-F238E27FC236}">
                  <a16:creationId xmlns:a16="http://schemas.microsoft.com/office/drawing/2014/main" id="{AA7536B2-AD59-4DB3-A2CD-ADAE8FE3324F}"/>
                </a:ext>
              </a:extLst>
            </p:cNvPr>
            <p:cNvSpPr txBox="1"/>
            <p:nvPr/>
          </p:nvSpPr>
          <p:spPr>
            <a:xfrm>
              <a:off x="588263" y="3482374"/>
              <a:ext cx="1867157" cy="488421"/>
            </a:xfrm>
            <a:prstGeom prst="rect">
              <a:avLst/>
            </a:prstGeom>
            <a:noFill/>
          </p:spPr>
          <p:txBody>
            <a:bodyPr wrap="none" lIns="137141" tIns="143407" rIns="179259" bIns="143407" rtlCol="0">
              <a:spAutoFit/>
            </a:bodyPr>
            <a:lstStyle/>
            <a:p>
              <a:pPr marL="0" marR="0" lvl="0" indent="0" algn="l" defTabSz="914139" rtl="0" eaLnBrk="1" fontAlgn="auto" latinLnBrk="0" hangingPunct="1">
                <a:lnSpc>
                  <a:spcPct val="90000"/>
                </a:lnSpc>
                <a:spcBef>
                  <a:spcPts val="0"/>
                </a:spcBef>
                <a:spcAft>
                  <a:spcPts val="588"/>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$6</a:t>
              </a:r>
              <a:r>
                <a:rPr kumimoji="0" lang="en-US" sz="1400" b="1" i="0" u="none" strike="noStrike" kern="1200" cap="none" spc="0" normalizeH="0" baseline="0" noProof="0">
                  <a:ln>
                    <a:noFill/>
                  </a:ln>
                  <a:solidFill>
                    <a:srgbClr val="000000"/>
                  </a:solidFill>
                  <a:effectLst/>
                  <a:uLnTx/>
                  <a:uFillTx/>
                  <a:latin typeface="Segoe UI Semibold"/>
                  <a:ea typeface="+mn-ea"/>
                  <a:cs typeface="+mn-cs"/>
                </a:rPr>
                <a:t> </a:t>
              </a:r>
              <a:r>
                <a:rPr kumimoji="0" lang="en-US" sz="1400" b="0" i="0" u="none" strike="noStrike" kern="1200" cap="none" spc="0" normalizeH="0" baseline="0" noProof="0">
                  <a:ln>
                    <a:noFill/>
                  </a:ln>
                  <a:solidFill>
                    <a:srgbClr val="000000"/>
                  </a:solidFill>
                  <a:effectLst/>
                  <a:uLnTx/>
                  <a:uFillTx/>
                  <a:latin typeface="Segoe UI Semibold"/>
                  <a:ea typeface="+mn-ea"/>
                  <a:cs typeface="+mn-cs"/>
                </a:rPr>
                <a:t>per user/month</a:t>
              </a:r>
            </a:p>
          </p:txBody>
        </p:sp>
        <p:grpSp>
          <p:nvGrpSpPr>
            <p:cNvPr id="2" name="Group 1">
              <a:extLst>
                <a:ext uri="{FF2B5EF4-FFF2-40B4-BE49-F238E27FC236}">
                  <a16:creationId xmlns:a16="http://schemas.microsoft.com/office/drawing/2014/main" id="{BF2FCA8E-E871-416F-BFBE-3891FCC46F52}"/>
                </a:ext>
              </a:extLst>
            </p:cNvPr>
            <p:cNvGrpSpPr/>
            <p:nvPr/>
          </p:nvGrpSpPr>
          <p:grpSpPr>
            <a:xfrm>
              <a:off x="663306" y="2461696"/>
              <a:ext cx="1854235" cy="584318"/>
              <a:chOff x="711946" y="2386537"/>
              <a:chExt cx="2406122" cy="758232"/>
            </a:xfrm>
          </p:grpSpPr>
          <p:pic>
            <p:nvPicPr>
              <p:cNvPr id="26" name="Picture 25">
                <a:extLst>
                  <a:ext uri="{FF2B5EF4-FFF2-40B4-BE49-F238E27FC236}">
                    <a16:creationId xmlns:a16="http://schemas.microsoft.com/office/drawing/2014/main" id="{391EC8E8-6EE7-4617-9C26-036565ED2B5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11946" y="2386537"/>
                <a:ext cx="587505" cy="738745"/>
              </a:xfrm>
              <a:prstGeom prst="rect">
                <a:avLst/>
              </a:prstGeom>
            </p:spPr>
          </p:pic>
          <p:pic>
            <p:nvPicPr>
              <p:cNvPr id="8" name="Picture 7">
                <a:extLst>
                  <a:ext uri="{FF2B5EF4-FFF2-40B4-BE49-F238E27FC236}">
                    <a16:creationId xmlns:a16="http://schemas.microsoft.com/office/drawing/2014/main" id="{DF20B959-EBA3-4D1D-9671-35FD2BE3AF5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99452" y="2386537"/>
                <a:ext cx="1818616" cy="758232"/>
              </a:xfrm>
              <a:prstGeom prst="rect">
                <a:avLst/>
              </a:prstGeom>
            </p:spPr>
          </p:pic>
        </p:grpSp>
      </p:grpSp>
      <p:grpSp>
        <p:nvGrpSpPr>
          <p:cNvPr id="39" name="Group 38">
            <a:extLst>
              <a:ext uri="{FF2B5EF4-FFF2-40B4-BE49-F238E27FC236}">
                <a16:creationId xmlns:a16="http://schemas.microsoft.com/office/drawing/2014/main" id="{FA63A415-8237-4CA2-9B47-1F66BA0572F2}"/>
              </a:ext>
              <a:ext uri="{C183D7F6-B498-43B3-948B-1728B52AA6E4}">
                <adec:decorative xmlns:adec="http://schemas.microsoft.com/office/drawing/2017/decorative" val="1"/>
              </a:ext>
            </a:extLst>
          </p:cNvPr>
          <p:cNvGrpSpPr/>
          <p:nvPr/>
        </p:nvGrpSpPr>
        <p:grpSpPr>
          <a:xfrm>
            <a:off x="3895164" y="1424373"/>
            <a:ext cx="3697107" cy="3331559"/>
            <a:chOff x="4015601" y="1424088"/>
            <a:chExt cx="3743644" cy="3365369"/>
          </a:xfrm>
        </p:grpSpPr>
        <p:sp>
          <p:nvSpPr>
            <p:cNvPr id="63" name="Rectangle: Rounded Corners 62">
              <a:extLst>
                <a:ext uri="{FF2B5EF4-FFF2-40B4-BE49-F238E27FC236}">
                  <a16:creationId xmlns:a16="http://schemas.microsoft.com/office/drawing/2014/main" id="{96C85F5D-9256-4D6F-AE61-D09D4563ACA1}"/>
                </a:ext>
              </a:extLst>
            </p:cNvPr>
            <p:cNvSpPr/>
            <p:nvPr/>
          </p:nvSpPr>
          <p:spPr bwMode="auto">
            <a:xfrm>
              <a:off x="4015601" y="1424088"/>
              <a:ext cx="3743644" cy="2876558"/>
            </a:xfrm>
            <a:prstGeom prst="roundRect">
              <a:avLst>
                <a:gd name="adj" fmla="val 4237"/>
              </a:avLst>
            </a:prstGeom>
            <a:solidFill>
              <a:srgbClr val="F5F5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41" tIns="146263" rIns="91427" bIns="146263" numCol="1" spcCol="0" rtlCol="0" fromWordArt="0" anchor="t" anchorCtr="0" forceAA="0" compatLnSpc="1">
              <a:prstTxWarp prst="textNoShape">
                <a:avLst/>
              </a:prstTxWarp>
              <a:noAutofit/>
            </a:bodyPr>
            <a:lstStyle/>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765" b="0" i="0" u="none" strike="noStrike" kern="1200" cap="none" spc="0" normalizeH="0" baseline="0" noProof="0">
                  <a:ln>
                    <a:noFill/>
                  </a:ln>
                  <a:solidFill>
                    <a:srgbClr val="000000"/>
                  </a:solidFill>
                  <a:effectLst/>
                  <a:uLnTx/>
                  <a:uFillTx/>
                  <a:latin typeface="Segoe UI Semibold"/>
                  <a:ea typeface="+mn-ea"/>
                  <a:cs typeface="+mn-cs"/>
                </a:rPr>
                <a:t>Microsoft 365 Business Standard</a:t>
              </a:r>
            </a:p>
            <a:p>
              <a:pPr marL="0" marR="0" lvl="0" indent="0" algn="l" defTabSz="914049" rtl="0" eaLnBrk="1" fontAlgn="auto" latinLnBrk="0" hangingPunct="1">
                <a:lnSpc>
                  <a:spcPct val="90000"/>
                </a:lnSpc>
                <a:spcBef>
                  <a:spcPts val="0"/>
                </a:spcBef>
                <a:spcAft>
                  <a:spcPts val="600"/>
                </a:spcAft>
                <a:buClrTx/>
                <a:buSzTx/>
                <a:buFontTx/>
                <a:buNone/>
                <a:tabLst/>
                <a:defRPr/>
              </a:pPr>
              <a:endParaRPr kumimoji="0" lang="en-US" sz="1400" b="0" i="1"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rPr>
                <a:t>Cloud Services</a:t>
              </a:r>
            </a:p>
          </p:txBody>
        </p:sp>
        <p:sp>
          <p:nvSpPr>
            <p:cNvPr id="20" name="TextBox 19">
              <a:extLst>
                <a:ext uri="{FF2B5EF4-FFF2-40B4-BE49-F238E27FC236}">
                  <a16:creationId xmlns:a16="http://schemas.microsoft.com/office/drawing/2014/main" id="{D631B261-2FE0-4E00-AA0D-63C0CDB5E863}"/>
                </a:ext>
              </a:extLst>
            </p:cNvPr>
            <p:cNvSpPr txBox="1"/>
            <p:nvPr/>
          </p:nvSpPr>
          <p:spPr>
            <a:xfrm>
              <a:off x="4015601" y="4301036"/>
              <a:ext cx="2198286" cy="488421"/>
            </a:xfrm>
            <a:prstGeom prst="rect">
              <a:avLst/>
            </a:prstGeom>
            <a:noFill/>
          </p:spPr>
          <p:txBody>
            <a:bodyPr wrap="none" lIns="137141" tIns="143407" rIns="179259" bIns="143407" rtlCol="0">
              <a:spAutoFit/>
            </a:bodyPr>
            <a:lstStyle/>
            <a:p>
              <a:pPr marL="0" marR="0" lvl="0" indent="0" algn="l" defTabSz="914139" rtl="0" eaLnBrk="1" fontAlgn="auto" latinLnBrk="0" hangingPunct="1">
                <a:lnSpc>
                  <a:spcPct val="90000"/>
                </a:lnSpc>
                <a:spcBef>
                  <a:spcPts val="0"/>
                </a:spcBef>
                <a:spcAft>
                  <a:spcPts val="588"/>
                </a:spcAft>
                <a:buClrTx/>
                <a:buSzTx/>
                <a:buFontTx/>
                <a:buNone/>
                <a:tabLst/>
                <a:defRPr/>
              </a:pPr>
              <a:r>
                <a:rPr kumimoji="0" lang="en-US" sz="1400" b="1" i="0" u="none" strike="noStrike" kern="1200" cap="none" spc="0" normalizeH="0" baseline="0" noProof="0">
                  <a:ln>
                    <a:noFill/>
                  </a:ln>
                  <a:solidFill>
                    <a:srgbClr val="0078D4"/>
                  </a:solidFill>
                  <a:effectLst/>
                  <a:uLnTx/>
                  <a:uFillTx/>
                  <a:latin typeface="Segoe UI Semibold"/>
                  <a:ea typeface="+mn-ea"/>
                  <a:cs typeface="+mn-cs"/>
                </a:rPr>
                <a:t>$12.50 </a:t>
              </a:r>
              <a:r>
                <a:rPr kumimoji="0" lang="en-US" sz="1400" b="0" i="0" u="none" strike="noStrike" kern="1200" cap="none" spc="0" normalizeH="0" baseline="0" noProof="0">
                  <a:ln>
                    <a:noFill/>
                  </a:ln>
                  <a:solidFill>
                    <a:srgbClr val="000000"/>
                  </a:solidFill>
                  <a:effectLst/>
                  <a:uLnTx/>
                  <a:uFillTx/>
                  <a:latin typeface="Segoe UI Semibold"/>
                  <a:ea typeface="+mn-ea"/>
                  <a:cs typeface="+mn-cs"/>
                </a:rPr>
                <a:t>per user/month</a:t>
              </a:r>
            </a:p>
          </p:txBody>
        </p:sp>
        <p:grpSp>
          <p:nvGrpSpPr>
            <p:cNvPr id="25" name="Group 24">
              <a:extLst>
                <a:ext uri="{FF2B5EF4-FFF2-40B4-BE49-F238E27FC236}">
                  <a16:creationId xmlns:a16="http://schemas.microsoft.com/office/drawing/2014/main" id="{DA638673-496F-41DF-94FE-1008E1CF98FC}"/>
                </a:ext>
              </a:extLst>
            </p:cNvPr>
            <p:cNvGrpSpPr/>
            <p:nvPr/>
          </p:nvGrpSpPr>
          <p:grpSpPr>
            <a:xfrm>
              <a:off x="4015841" y="3510481"/>
              <a:ext cx="2565092" cy="577891"/>
              <a:chOff x="4085406" y="3329173"/>
              <a:chExt cx="3328556" cy="749892"/>
            </a:xfrm>
          </p:grpSpPr>
          <p:pic>
            <p:nvPicPr>
              <p:cNvPr id="11" name="Picture 10">
                <a:extLst>
                  <a:ext uri="{FF2B5EF4-FFF2-40B4-BE49-F238E27FC236}">
                    <a16:creationId xmlns:a16="http://schemas.microsoft.com/office/drawing/2014/main" id="{35CE1F73-F1F3-4940-BBF9-024F308DE82D}"/>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085406" y="3329173"/>
                <a:ext cx="1936771" cy="749892"/>
              </a:xfrm>
              <a:prstGeom prst="rect">
                <a:avLst/>
              </a:prstGeom>
            </p:spPr>
          </p:pic>
          <p:pic>
            <p:nvPicPr>
              <p:cNvPr id="12" name="Picture 11">
                <a:extLst>
                  <a:ext uri="{FF2B5EF4-FFF2-40B4-BE49-F238E27FC236}">
                    <a16:creationId xmlns:a16="http://schemas.microsoft.com/office/drawing/2014/main" id="{7DAFE3D9-F4D6-4B62-9C9F-4C7C5A55C64C}"/>
                  </a:ext>
                  <a:ext uri="{C183D7F6-B498-43B3-948B-1728B52AA6E4}">
                    <adec:decorative xmlns:adec="http://schemas.microsoft.com/office/drawing/2017/decorative" val="1"/>
                  </a:ext>
                </a:extLst>
              </p:cNvPr>
              <p:cNvPicPr>
                <a:picLocks noChangeAspect="1"/>
              </p:cNvPicPr>
              <p:nvPr/>
            </p:nvPicPr>
            <p:blipFill rotWithShape="1">
              <a:blip r:embed="rId9"/>
              <a:srcRect l="5239" r="4382"/>
              <a:stretch/>
            </p:blipFill>
            <p:spPr>
              <a:xfrm>
                <a:off x="5905675" y="3374673"/>
                <a:ext cx="1508287" cy="669667"/>
              </a:xfrm>
              <a:prstGeom prst="rect">
                <a:avLst/>
              </a:prstGeom>
            </p:spPr>
          </p:pic>
        </p:grpSp>
        <p:grpSp>
          <p:nvGrpSpPr>
            <p:cNvPr id="18" name="Group 17">
              <a:extLst>
                <a:ext uri="{FF2B5EF4-FFF2-40B4-BE49-F238E27FC236}">
                  <a16:creationId xmlns:a16="http://schemas.microsoft.com/office/drawing/2014/main" id="{B5C6E41E-A230-4173-8FDA-30B5508BF9F7}"/>
                </a:ext>
              </a:extLst>
            </p:cNvPr>
            <p:cNvGrpSpPr/>
            <p:nvPr/>
          </p:nvGrpSpPr>
          <p:grpSpPr>
            <a:xfrm>
              <a:off x="4092630" y="2461696"/>
              <a:ext cx="1854234" cy="584318"/>
              <a:chOff x="4199567" y="2386537"/>
              <a:chExt cx="2406121" cy="758232"/>
            </a:xfrm>
          </p:grpSpPr>
          <p:pic>
            <p:nvPicPr>
              <p:cNvPr id="28" name="Picture 27">
                <a:extLst>
                  <a:ext uri="{FF2B5EF4-FFF2-40B4-BE49-F238E27FC236}">
                    <a16:creationId xmlns:a16="http://schemas.microsoft.com/office/drawing/2014/main" id="{E02A37F2-0B88-4F68-9809-0E933A313D4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199567" y="2386537"/>
                <a:ext cx="587505" cy="738745"/>
              </a:xfrm>
              <a:prstGeom prst="rect">
                <a:avLst/>
              </a:prstGeom>
            </p:spPr>
          </p:pic>
          <p:pic>
            <p:nvPicPr>
              <p:cNvPr id="10" name="Picture 9">
                <a:extLst>
                  <a:ext uri="{FF2B5EF4-FFF2-40B4-BE49-F238E27FC236}">
                    <a16:creationId xmlns:a16="http://schemas.microsoft.com/office/drawing/2014/main" id="{91BA0414-4346-4BD8-8A44-603FE9F7535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787072" y="2386537"/>
                <a:ext cx="1818616" cy="758232"/>
              </a:xfrm>
              <a:prstGeom prst="rect">
                <a:avLst/>
              </a:prstGeom>
            </p:spPr>
          </p:pic>
        </p:grpSp>
        <p:sp>
          <p:nvSpPr>
            <p:cNvPr id="30" name="Rectangle 29">
              <a:extLst>
                <a:ext uri="{FF2B5EF4-FFF2-40B4-BE49-F238E27FC236}">
                  <a16:creationId xmlns:a16="http://schemas.microsoft.com/office/drawing/2014/main" id="{43BF4BDE-DCFA-48C0-AFFD-E6CD65855FFF}"/>
                </a:ext>
              </a:extLst>
            </p:cNvPr>
            <p:cNvSpPr/>
            <p:nvPr/>
          </p:nvSpPr>
          <p:spPr>
            <a:xfrm>
              <a:off x="4035513" y="3207994"/>
              <a:ext cx="1218664" cy="261156"/>
            </a:xfrm>
            <a:prstGeom prst="rect">
              <a:avLst/>
            </a:prstGeom>
          </p:spPr>
          <p:txBody>
            <a:bodyPr wrap="none" lIns="137141">
              <a:spAutoFit/>
            </a:bodyPr>
            <a:lstStyle/>
            <a:p>
              <a:pPr marL="0" marR="0" lvl="0" indent="0" algn="l" defTabSz="914049"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Semibold" panose="020B0702040204020203" pitchFamily="34" charset="0"/>
                </a:rPr>
                <a:t>Desktop Apps</a:t>
              </a:r>
            </a:p>
          </p:txBody>
        </p:sp>
      </p:grpSp>
      <p:sp>
        <p:nvSpPr>
          <p:cNvPr id="35" name="Rectangle 34">
            <a:extLst>
              <a:ext uri="{FF2B5EF4-FFF2-40B4-BE49-F238E27FC236}">
                <a16:creationId xmlns:a16="http://schemas.microsoft.com/office/drawing/2014/main" id="{228336A7-8026-464E-A3AC-7773B71A113B}"/>
              </a:ext>
              <a:ext uri="{C183D7F6-B498-43B3-948B-1728B52AA6E4}">
                <adec:decorative xmlns:adec="http://schemas.microsoft.com/office/drawing/2017/decorative" val="1"/>
              </a:ext>
            </a:extLst>
          </p:cNvPr>
          <p:cNvSpPr/>
          <p:nvPr/>
        </p:nvSpPr>
        <p:spPr bwMode="auto">
          <a:xfrm>
            <a:off x="865" y="487"/>
            <a:ext cx="12190271" cy="141957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7" name="Title 6">
            <a:extLst>
              <a:ext uri="{FF2B5EF4-FFF2-40B4-BE49-F238E27FC236}">
                <a16:creationId xmlns:a16="http://schemas.microsoft.com/office/drawing/2014/main" id="{90D2953E-BA33-4E4C-A6FE-E180251F7B3D}"/>
              </a:ext>
            </a:extLst>
          </p:cNvPr>
          <p:cNvSpPr>
            <a:spLocks noGrp="1"/>
          </p:cNvSpPr>
          <p:nvPr>
            <p:ph type="title"/>
          </p:nvPr>
        </p:nvSpPr>
        <p:spPr/>
        <p:txBody>
          <a:bodyPr/>
          <a:lstStyle/>
          <a:p>
            <a:r>
              <a:rPr lang="en-US"/>
              <a:t>Microsoft 365 suites offerings for small &amp; medium businesses</a:t>
            </a:r>
          </a:p>
        </p:txBody>
      </p:sp>
      <p:sp>
        <p:nvSpPr>
          <p:cNvPr id="6" name="Rectangle: Rounded Corners 5">
            <a:extLst>
              <a:ext uri="{FF2B5EF4-FFF2-40B4-BE49-F238E27FC236}">
                <a16:creationId xmlns:a16="http://schemas.microsoft.com/office/drawing/2014/main" id="{9552CDC5-41F2-4D4F-9CD2-5A778DBD7C97}"/>
              </a:ext>
              <a:ext uri="{C183D7F6-B498-43B3-948B-1728B52AA6E4}">
                <adec:decorative xmlns:adec="http://schemas.microsoft.com/office/drawing/2017/decorative" val="1"/>
              </a:ext>
            </a:extLst>
          </p:cNvPr>
          <p:cNvSpPr/>
          <p:nvPr/>
        </p:nvSpPr>
        <p:spPr bwMode="auto">
          <a:xfrm>
            <a:off x="7790095" y="1420063"/>
            <a:ext cx="3697107" cy="4460006"/>
          </a:xfrm>
          <a:prstGeom prst="roundRect">
            <a:avLst>
              <a:gd name="adj" fmla="val 3682"/>
            </a:avLst>
          </a:prstGeom>
          <a:no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36" name="Group 35">
            <a:extLst>
              <a:ext uri="{FF2B5EF4-FFF2-40B4-BE49-F238E27FC236}">
                <a16:creationId xmlns:a16="http://schemas.microsoft.com/office/drawing/2014/main" id="{2B5962A2-8B0B-47E5-BF8A-5DE426EF14C4}"/>
              </a:ext>
            </a:extLst>
          </p:cNvPr>
          <p:cNvGrpSpPr/>
          <p:nvPr/>
        </p:nvGrpSpPr>
        <p:grpSpPr>
          <a:xfrm>
            <a:off x="9391041" y="4689379"/>
            <a:ext cx="714867" cy="578440"/>
            <a:chOff x="9391041" y="4689379"/>
            <a:chExt cx="714867" cy="578440"/>
          </a:xfrm>
        </p:grpSpPr>
        <p:pic>
          <p:nvPicPr>
            <p:cNvPr id="16" name="Picture 2">
              <a:extLst>
                <a:ext uri="{FF2B5EF4-FFF2-40B4-BE49-F238E27FC236}">
                  <a16:creationId xmlns:a16="http://schemas.microsoft.com/office/drawing/2014/main" id="{3A77FE0F-08CB-43F8-8B95-86104637A84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21367" y="4689379"/>
              <a:ext cx="242307" cy="242307"/>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F5F323E1-2CE8-453F-B5A4-CE2E5870F3F8}"/>
                </a:ext>
              </a:extLst>
            </p:cNvPr>
            <p:cNvSpPr txBox="1"/>
            <p:nvPr/>
          </p:nvSpPr>
          <p:spPr>
            <a:xfrm>
              <a:off x="9391041" y="4839705"/>
              <a:ext cx="714867" cy="428114"/>
            </a:xfrm>
            <a:prstGeom prst="rect">
              <a:avLst/>
            </a:prstGeom>
            <a:noFill/>
          </p:spPr>
          <p:txBody>
            <a:bodyPr wrap="square" lIns="179259" tIns="143407" rIns="179259" bIns="143407" rtlCol="0">
              <a:spAutoFit/>
            </a:bodyPr>
            <a:lstStyle/>
            <a:p>
              <a:pPr marL="0" marR="0" lvl="0" indent="0" algn="ctr" defTabSz="914139" rtl="0" eaLnBrk="1" fontAlgn="auto" latinLnBrk="0" hangingPunct="1">
                <a:lnSpc>
                  <a:spcPct val="90000"/>
                </a:lnSpc>
                <a:spcBef>
                  <a:spcPts val="0"/>
                </a:spcBef>
                <a:spcAft>
                  <a:spcPts val="588"/>
                </a:spcAft>
                <a:buClrTx/>
                <a:buSzTx/>
                <a:buFontTx/>
                <a:buNone/>
                <a:tabLst/>
                <a:defRPr/>
              </a:pPr>
              <a:r>
                <a:rPr kumimoji="0" lang="en-US" sz="500" b="0" i="0" u="none" strike="noStrike" kern="1200" cap="none" spc="0" normalizeH="0" baseline="0" noProof="0">
                  <a:ln>
                    <a:noFill/>
                  </a:ln>
                  <a:gradFill>
                    <a:gsLst>
                      <a:gs pos="2917">
                        <a:srgbClr val="282828"/>
                      </a:gs>
                      <a:gs pos="30000">
                        <a:srgbClr val="282828"/>
                      </a:gs>
                    </a:gsLst>
                    <a:lin ang="5400000" scaled="0"/>
                  </a:gradFill>
                  <a:effectLst/>
                  <a:uLnTx/>
                  <a:uFillTx/>
                  <a:latin typeface="Segoe UI"/>
                  <a:ea typeface="+mn-ea"/>
                  <a:cs typeface="+mn-cs"/>
                </a:rPr>
                <a:t>Microsoft Defender</a:t>
              </a:r>
            </a:p>
          </p:txBody>
        </p:sp>
      </p:grpSp>
      <p:sp>
        <p:nvSpPr>
          <p:cNvPr id="5" name="TextBox 4">
            <a:extLst>
              <a:ext uri="{FF2B5EF4-FFF2-40B4-BE49-F238E27FC236}">
                <a16:creationId xmlns:a16="http://schemas.microsoft.com/office/drawing/2014/main" id="{8E12DE8A-7E5F-4B3C-D29B-39E40DABCB94}"/>
              </a:ext>
            </a:extLst>
          </p:cNvPr>
          <p:cNvSpPr txBox="1"/>
          <p:nvPr/>
        </p:nvSpPr>
        <p:spPr>
          <a:xfrm>
            <a:off x="588264" y="6112259"/>
            <a:ext cx="6264302" cy="577081"/>
          </a:xfrm>
          <a:prstGeom prst="rect">
            <a:avLst/>
          </a:prstGeom>
          <a:noFill/>
        </p:spPr>
        <p:txBody>
          <a:bodyPr wrap="square" lIns="91440" tIns="45720" rIns="91440" bIns="45720" anchor="t">
            <a:spAutoFit/>
          </a:bodyPr>
          <a:lstStyle/>
          <a:p>
            <a:pPr marL="0" marR="0" lvl="0" indent="0" algn="l" defTabSz="913963"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Segoe UI"/>
                <a:ea typeface="+mn-ea"/>
                <a:cs typeface="+mn-cs"/>
              </a:rPr>
              <a:t>Note: Not all features/product logos shown.</a:t>
            </a:r>
            <a:br>
              <a:rPr kumimoji="0" lang="en-US" sz="1050" b="0" i="0" u="none" strike="noStrike" kern="1200" cap="none" spc="0" normalizeH="0" baseline="0" noProof="0">
                <a:ln>
                  <a:noFill/>
                </a:ln>
                <a:solidFill>
                  <a:srgbClr val="000000"/>
                </a:solidFill>
                <a:effectLst/>
                <a:uLnTx/>
                <a:uFillTx/>
                <a:latin typeface="Segoe UI"/>
                <a:ea typeface="+mn-ea"/>
                <a:cs typeface="+mn-cs"/>
              </a:rPr>
            </a:br>
            <a:endParaRPr kumimoji="0" lang="en-US" sz="1050" b="0" i="0" u="none" strike="noStrike" kern="1200" cap="none" spc="0" normalizeH="0" baseline="0" noProof="0">
              <a:ln>
                <a:noFill/>
              </a:ln>
              <a:solidFill>
                <a:srgbClr val="000000"/>
              </a:solidFill>
              <a:effectLst/>
              <a:uLnTx/>
              <a:uFillTx/>
              <a:latin typeface="Segoe UI"/>
              <a:ea typeface="+mn-ea"/>
              <a:cs typeface="+mn-cs"/>
            </a:endParaRPr>
          </a:p>
          <a:p>
            <a:pPr marL="228600" marR="0" lvl="2" indent="-228600" algn="l" defTabSz="914400" rtl="0" eaLnBrk="1" fontAlgn="auto" latinLnBrk="0" hangingPunct="1">
              <a:lnSpc>
                <a:spcPct val="100000"/>
              </a:lnSpc>
              <a:spcBef>
                <a:spcPts val="0"/>
              </a:spcBef>
              <a:spcAft>
                <a:spcPts val="0"/>
              </a:spcAft>
              <a:buClr>
                <a:srgbClr val="FFFFFF">
                  <a:lumMod val="50000"/>
                </a:srgbClr>
              </a:buClr>
              <a:buSzPct val="90000"/>
              <a:buFont typeface="+mj-lt"/>
              <a:buAutoNum type="arabicPeriod"/>
              <a:tabLst/>
              <a:defRPr/>
            </a:pPr>
            <a:r>
              <a:rPr kumimoji="0" lang="en-US" sz="1050" b="0" i="0" u="none" strike="noStrike" kern="1200" cap="none" spc="0" normalizeH="0" baseline="0" noProof="0">
                <a:ln>
                  <a:noFill/>
                </a:ln>
                <a:solidFill>
                  <a:srgbClr val="000000"/>
                </a:solidFill>
                <a:effectLst/>
                <a:uLnTx/>
                <a:uFillTx/>
                <a:latin typeface="Segoe UI"/>
                <a:ea typeface="+mn-ea"/>
                <a:cs typeface="Segoe UI Semibold"/>
              </a:rPr>
              <a:t>Price is subject to change based on subscription term, currency and region</a:t>
            </a:r>
          </a:p>
        </p:txBody>
      </p:sp>
      <p:sp>
        <p:nvSpPr>
          <p:cNvPr id="38" name="TextBox 37">
            <a:extLst>
              <a:ext uri="{FF2B5EF4-FFF2-40B4-BE49-F238E27FC236}">
                <a16:creationId xmlns:a16="http://schemas.microsoft.com/office/drawing/2014/main" id="{67742641-0E29-2E2C-AE90-44F7EEFDC386}"/>
              </a:ext>
            </a:extLst>
          </p:cNvPr>
          <p:cNvSpPr txBox="1"/>
          <p:nvPr/>
        </p:nvSpPr>
        <p:spPr>
          <a:xfrm>
            <a:off x="588263" y="165734"/>
            <a:ext cx="6702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01</a:t>
            </a:r>
          </a:p>
        </p:txBody>
      </p:sp>
    </p:spTree>
    <p:extLst>
      <p:ext uri="{BB962C8B-B14F-4D97-AF65-F5344CB8AC3E}">
        <p14:creationId xmlns:p14="http://schemas.microsoft.com/office/powerpoint/2010/main" val="291276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25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0-#ppt_h/2"/>
                                          </p:val>
                                        </p:tav>
                                        <p:tav tm="100000">
                                          <p:val>
                                            <p:strVal val="#ppt_y"/>
                                          </p:val>
                                        </p:tav>
                                      </p:tavLst>
                                    </p:anim>
                                  </p:childTnLst>
                                </p:cTn>
                              </p:par>
                              <p:par>
                                <p:cTn id="9" presetID="2" presetClass="entr" presetSubtype="1" decel="100000" fill="hold" nodeType="withEffect">
                                  <p:stCondLst>
                                    <p:cond delay="50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ppt_x"/>
                                          </p:val>
                                        </p:tav>
                                        <p:tav tm="100000">
                                          <p:val>
                                            <p:strVal val="#ppt_x"/>
                                          </p:val>
                                        </p:tav>
                                      </p:tavLst>
                                    </p:anim>
                                    <p:anim calcmode="lin" valueType="num">
                                      <p:cBhvr additive="base">
                                        <p:cTn id="12" dur="500" fill="hold"/>
                                        <p:tgtEl>
                                          <p:spTgt spid="39"/>
                                        </p:tgtEl>
                                        <p:attrNameLst>
                                          <p:attrName>ppt_y</p:attrName>
                                        </p:attrNameLst>
                                      </p:cBhvr>
                                      <p:tavLst>
                                        <p:tav tm="0">
                                          <p:val>
                                            <p:strVal val="0-#ppt_h/2"/>
                                          </p:val>
                                        </p:tav>
                                        <p:tav tm="100000">
                                          <p:val>
                                            <p:strVal val="#ppt_y"/>
                                          </p:val>
                                        </p:tav>
                                      </p:tavLst>
                                    </p:anim>
                                  </p:childTnLst>
                                </p:cTn>
                              </p:par>
                              <p:par>
                                <p:cTn id="13" presetID="2" presetClass="entr" presetSubtype="1" decel="100000" fill="hold" nodeType="withEffect">
                                  <p:stCondLst>
                                    <p:cond delay="75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ppt_x"/>
                                          </p:val>
                                        </p:tav>
                                        <p:tav tm="100000">
                                          <p:val>
                                            <p:strVal val="#ppt_x"/>
                                          </p:val>
                                        </p:tav>
                                      </p:tavLst>
                                    </p:anim>
                                    <p:anim calcmode="lin" valueType="num">
                                      <p:cBhvr additive="base">
                                        <p:cTn id="16" dur="500" fill="hold"/>
                                        <p:tgtEl>
                                          <p:spTgt spid="40"/>
                                        </p:tgtEl>
                                        <p:attrNameLst>
                                          <p:attrName>ppt_y</p:attrName>
                                        </p:attrNameLst>
                                      </p:cBhvr>
                                      <p:tavLst>
                                        <p:tav tm="0">
                                          <p:val>
                                            <p:strVal val="0-#ppt_h/2"/>
                                          </p:val>
                                        </p:tav>
                                        <p:tav tm="100000">
                                          <p:val>
                                            <p:strVal val="#ppt_y"/>
                                          </p:val>
                                        </p:tav>
                                      </p:tavLst>
                                    </p:anim>
                                  </p:childTnLst>
                                </p:cTn>
                              </p:par>
                              <p:par>
                                <p:cTn id="17" presetID="2" presetClass="entr" presetSubtype="1" decel="100000" fill="hold" nodeType="withEffect">
                                  <p:stCondLst>
                                    <p:cond delay="75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fill="hold"/>
                                        <p:tgtEl>
                                          <p:spTgt spid="36"/>
                                        </p:tgtEl>
                                        <p:attrNameLst>
                                          <p:attrName>ppt_x</p:attrName>
                                        </p:attrNameLst>
                                      </p:cBhvr>
                                      <p:tavLst>
                                        <p:tav tm="0">
                                          <p:val>
                                            <p:strVal val="#ppt_x"/>
                                          </p:val>
                                        </p:tav>
                                        <p:tav tm="100000">
                                          <p:val>
                                            <p:strVal val="#ppt_x"/>
                                          </p:val>
                                        </p:tav>
                                      </p:tavLst>
                                    </p:anim>
                                    <p:anim calcmode="lin" valueType="num">
                                      <p:cBhvr additive="base">
                                        <p:cTn id="20" dur="500" fill="hold"/>
                                        <p:tgtEl>
                                          <p:spTgt spid="36"/>
                                        </p:tgtEl>
                                        <p:attrNameLst>
                                          <p:attrName>ppt_y</p:attrName>
                                        </p:attrNameLst>
                                      </p:cBhvr>
                                      <p:tavLst>
                                        <p:tav tm="0">
                                          <p:val>
                                            <p:strVal val="0-#ppt_h/2"/>
                                          </p:val>
                                        </p:tav>
                                        <p:tav tm="100000">
                                          <p:val>
                                            <p:strVal val="#ppt_y"/>
                                          </p:val>
                                        </p:tav>
                                      </p:tavLst>
                                    </p:anim>
                                  </p:childTnLst>
                                </p:cTn>
                              </p:par>
                              <p:par>
                                <p:cTn id="21" presetID="10" presetClass="entr" presetSubtype="0"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228B622-55FA-8E9A-C8AE-9486D88A878E}"/>
              </a:ext>
            </a:extLst>
          </p:cNvPr>
          <p:cNvSpPr/>
          <p:nvPr/>
        </p:nvSpPr>
        <p:spPr bwMode="auto">
          <a:xfrm>
            <a:off x="0" y="5284043"/>
            <a:ext cx="12192000" cy="157395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1" name="Title 1">
            <a:extLst>
              <a:ext uri="{FF2B5EF4-FFF2-40B4-BE49-F238E27FC236}">
                <a16:creationId xmlns:a16="http://schemas.microsoft.com/office/drawing/2014/main" id="{FFCD2FE7-0198-922E-C972-4CB0814223BA}"/>
              </a:ext>
            </a:extLst>
          </p:cNvPr>
          <p:cNvSpPr txBox="1">
            <a:spLocks noGrp="1"/>
          </p:cNvSpPr>
          <p:nvPr>
            <p:ph type="title" idx="4294967295"/>
          </p:nvPr>
        </p:nvSpPr>
        <p:spPr>
          <a:xfrm>
            <a:off x="588262" y="457200"/>
            <a:ext cx="11116058" cy="430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chemeClr val="tx1"/>
                </a:solidFill>
                <a:effectLst/>
                <a:uLnTx/>
                <a:uFillTx/>
                <a:ea typeface="+mn-ea"/>
                <a:cs typeface="Segoe UI" pitchFamily="34" charset="0"/>
              </a:rPr>
              <a:t>Standalones as </a:t>
            </a:r>
            <a:r>
              <a:rPr lang="en-US" sz="2800" spc="0">
                <a:ln w="3175">
                  <a:noFill/>
                </a:ln>
                <a:solidFill>
                  <a:schemeClr val="tx1"/>
                </a:solidFill>
                <a:cs typeface="Segoe UI" pitchFamily="34" charset="0"/>
              </a:rPr>
              <a:t>pathways to upsell customers to Microsoft 365 suite</a:t>
            </a:r>
            <a:endParaRPr kumimoji="0" lang="en-US" sz="2800" b="0" i="0" u="none" strike="noStrike" kern="1200" cap="none" spc="-50" normalizeH="0" baseline="0" noProof="0">
              <a:ln w="3175">
                <a:noFill/>
              </a:ln>
              <a:solidFill>
                <a:schemeClr val="tx1"/>
              </a:solidFill>
              <a:effectLst/>
              <a:uLnTx/>
              <a:uFillTx/>
              <a:latin typeface="+mj-lt"/>
              <a:ea typeface="+mn-ea"/>
              <a:cs typeface="Segoe UI" pitchFamily="34" charset="0"/>
            </a:endParaRPr>
          </a:p>
        </p:txBody>
      </p:sp>
      <p:sp>
        <p:nvSpPr>
          <p:cNvPr id="45" name="TextBox 44">
            <a:extLst>
              <a:ext uri="{FF2B5EF4-FFF2-40B4-BE49-F238E27FC236}">
                <a16:creationId xmlns:a16="http://schemas.microsoft.com/office/drawing/2014/main" id="{43FB576B-6F95-734B-7A38-39AE26E2656B}"/>
              </a:ext>
            </a:extLst>
          </p:cNvPr>
          <p:cNvSpPr txBox="1"/>
          <p:nvPr/>
        </p:nvSpPr>
        <p:spPr>
          <a:xfrm rot="16200000">
            <a:off x="-507975" y="4166458"/>
            <a:ext cx="195817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Defender for Business</a:t>
            </a:r>
          </a:p>
        </p:txBody>
      </p:sp>
      <p:sp>
        <p:nvSpPr>
          <p:cNvPr id="47" name="TextBox 46">
            <a:extLst>
              <a:ext uri="{FF2B5EF4-FFF2-40B4-BE49-F238E27FC236}">
                <a16:creationId xmlns:a16="http://schemas.microsoft.com/office/drawing/2014/main" id="{6CDE22F8-D1E7-5553-123A-D2EA18EBAC99}"/>
              </a:ext>
            </a:extLst>
          </p:cNvPr>
          <p:cNvSpPr txBox="1"/>
          <p:nvPr/>
        </p:nvSpPr>
        <p:spPr>
          <a:xfrm rot="16200000">
            <a:off x="-562417" y="2384598"/>
            <a:ext cx="2067052" cy="276999"/>
          </a:xfrm>
          <a:prstGeom prst="rect">
            <a:avLst/>
          </a:prstGeom>
          <a:noFill/>
        </p:spPr>
        <p:txBody>
          <a:bodyPr wrap="square" l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Teams Essentials</a:t>
            </a:r>
          </a:p>
        </p:txBody>
      </p:sp>
      <p:grpSp>
        <p:nvGrpSpPr>
          <p:cNvPr id="6" name="Group 5">
            <a:extLst>
              <a:ext uri="{FF2B5EF4-FFF2-40B4-BE49-F238E27FC236}">
                <a16:creationId xmlns:a16="http://schemas.microsoft.com/office/drawing/2014/main" id="{A40D2FCB-70DD-5418-797A-79CE16865F6F}"/>
              </a:ext>
            </a:extLst>
          </p:cNvPr>
          <p:cNvGrpSpPr/>
          <p:nvPr/>
        </p:nvGrpSpPr>
        <p:grpSpPr>
          <a:xfrm>
            <a:off x="807884" y="1826218"/>
            <a:ext cx="9352116" cy="3205563"/>
            <a:chOff x="807884" y="1803316"/>
            <a:chExt cx="10437922" cy="3718170"/>
          </a:xfrm>
        </p:grpSpPr>
        <p:cxnSp>
          <p:nvCxnSpPr>
            <p:cNvPr id="85" name="Straight Connector 84">
              <a:extLst>
                <a:ext uri="{FF2B5EF4-FFF2-40B4-BE49-F238E27FC236}">
                  <a16:creationId xmlns:a16="http://schemas.microsoft.com/office/drawing/2014/main" id="{C4446240-7275-8734-5BC5-A9D32872FB26}"/>
                </a:ext>
                <a:ext uri="{C183D7F6-B498-43B3-948B-1728B52AA6E4}">
                  <adec:decorative xmlns:adec="http://schemas.microsoft.com/office/drawing/2017/decorative" val="1"/>
                </a:ext>
              </a:extLst>
            </p:cNvPr>
            <p:cNvCxnSpPr>
              <a:cxnSpLocks/>
            </p:cNvCxnSpPr>
            <p:nvPr/>
          </p:nvCxnSpPr>
          <p:spPr>
            <a:xfrm>
              <a:off x="3452344" y="4265776"/>
              <a:ext cx="1103759" cy="920"/>
            </a:xfrm>
            <a:prstGeom prst="line">
              <a:avLst/>
            </a:prstGeom>
            <a:ln w="19050">
              <a:solidFill>
                <a:schemeClr val="bg1">
                  <a:lumMod val="6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FFFB9EB-95EC-8392-8A5F-0DADBD02F059}"/>
                </a:ext>
                <a:ext uri="{C183D7F6-B498-43B3-948B-1728B52AA6E4}">
                  <adec:decorative xmlns:adec="http://schemas.microsoft.com/office/drawing/2017/decorative" val="1"/>
                </a:ext>
              </a:extLst>
            </p:cNvPr>
            <p:cNvCxnSpPr>
              <a:cxnSpLocks/>
            </p:cNvCxnSpPr>
            <p:nvPr/>
          </p:nvCxnSpPr>
          <p:spPr>
            <a:xfrm flipV="1">
              <a:off x="7258470" y="4271139"/>
              <a:ext cx="1243657" cy="920"/>
            </a:xfrm>
            <a:prstGeom prst="line">
              <a:avLst/>
            </a:prstGeom>
            <a:ln w="19050">
              <a:solidFill>
                <a:schemeClr val="bg1">
                  <a:lumMod val="65000"/>
                </a:schemeClr>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1A81A986-A0F7-B1C1-755B-22EB1831E4A5}"/>
                </a:ext>
              </a:extLst>
            </p:cNvPr>
            <p:cNvSpPr/>
            <p:nvPr/>
          </p:nvSpPr>
          <p:spPr bwMode="auto">
            <a:xfrm>
              <a:off x="828587" y="3926807"/>
              <a:ext cx="2623758" cy="689584"/>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t>Business Basic or </a:t>
              </a:r>
              <a:b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br>
              <a: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t>Business Standard</a:t>
              </a:r>
            </a:p>
          </p:txBody>
        </p:sp>
        <p:sp>
          <p:nvSpPr>
            <p:cNvPr id="7" name="Rectangle: Rounded Corners 6">
              <a:extLst>
                <a:ext uri="{FF2B5EF4-FFF2-40B4-BE49-F238E27FC236}">
                  <a16:creationId xmlns:a16="http://schemas.microsoft.com/office/drawing/2014/main" id="{451FD442-42DF-7650-5B9A-4CF08747ACFE}"/>
                </a:ext>
              </a:extLst>
            </p:cNvPr>
            <p:cNvSpPr/>
            <p:nvPr/>
          </p:nvSpPr>
          <p:spPr bwMode="auto">
            <a:xfrm>
              <a:off x="4556103" y="3926807"/>
              <a:ext cx="2702367" cy="689584"/>
            </a:xfrm>
            <a:prstGeom prst="round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Segoe UI" pitchFamily="34" charset="0"/>
                  <a:cs typeface="Segoe UI"/>
                </a:rPr>
                <a:t>Microsoft Defender </a:t>
              </a:r>
              <a:br>
                <a:rPr kumimoji="0" lang="en-US" sz="1200" b="0" i="0" u="none" strike="noStrike" kern="1200" cap="none" spc="0" normalizeH="0" baseline="0" noProof="0">
                  <a:ln>
                    <a:noFill/>
                  </a:ln>
                  <a:solidFill>
                    <a:srgbClr val="000000"/>
                  </a:solidFill>
                  <a:effectLst/>
                  <a:uLnTx/>
                  <a:uFillTx/>
                  <a:latin typeface="Segoe UI Semibold"/>
                  <a:ea typeface="Segoe UI" pitchFamily="34" charset="0"/>
                  <a:cs typeface="Segoe UI"/>
                </a:rPr>
              </a:br>
              <a:r>
                <a:rPr kumimoji="0" lang="en-US" sz="1200" b="0" i="0" u="none" strike="noStrike" kern="1200" cap="none" spc="0" normalizeH="0" baseline="0" noProof="0">
                  <a:ln>
                    <a:noFill/>
                  </a:ln>
                  <a:solidFill>
                    <a:srgbClr val="000000"/>
                  </a:solidFill>
                  <a:effectLst/>
                  <a:uLnTx/>
                  <a:uFillTx/>
                  <a:latin typeface="Segoe UI Semibold"/>
                  <a:ea typeface="Segoe UI" pitchFamily="34" charset="0"/>
                  <a:cs typeface="Segoe UI"/>
                </a:rPr>
                <a:t>for Business</a:t>
              </a:r>
              <a:endParaRPr kumimoji="0" lang="en-US" sz="12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F0F43066-269D-EB88-5462-E21FC3914EB6}"/>
                </a:ext>
              </a:extLst>
            </p:cNvPr>
            <p:cNvSpPr/>
            <p:nvPr/>
          </p:nvSpPr>
          <p:spPr bwMode="auto">
            <a:xfrm>
              <a:off x="8569927" y="3926807"/>
              <a:ext cx="2623758" cy="689584"/>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t>Business Premium</a:t>
              </a:r>
            </a:p>
          </p:txBody>
        </p:sp>
        <p:cxnSp>
          <p:nvCxnSpPr>
            <p:cNvPr id="16" name="Straight Connector 15">
              <a:extLst>
                <a:ext uri="{FF2B5EF4-FFF2-40B4-BE49-F238E27FC236}">
                  <a16:creationId xmlns:a16="http://schemas.microsoft.com/office/drawing/2014/main" id="{5F6CAF58-A92A-3D83-932D-18F48F5C1ACB}"/>
                </a:ext>
                <a:ext uri="{C183D7F6-B498-43B3-948B-1728B52AA6E4}">
                  <adec:decorative xmlns:adec="http://schemas.microsoft.com/office/drawing/2017/decorative" val="1"/>
                </a:ext>
              </a:extLst>
            </p:cNvPr>
            <p:cNvCxnSpPr>
              <a:cxnSpLocks/>
            </p:cNvCxnSpPr>
            <p:nvPr/>
          </p:nvCxnSpPr>
          <p:spPr>
            <a:xfrm>
              <a:off x="3514733" y="5119712"/>
              <a:ext cx="1036887" cy="894"/>
            </a:xfrm>
            <a:prstGeom prst="line">
              <a:avLst/>
            </a:prstGeom>
            <a:ln w="19050">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98E4230D-094F-6BED-AEBF-6369C0F9F8BA}"/>
                </a:ext>
              </a:extLst>
            </p:cNvPr>
            <p:cNvSpPr/>
            <p:nvPr/>
          </p:nvSpPr>
          <p:spPr bwMode="auto">
            <a:xfrm>
              <a:off x="807884" y="4781643"/>
              <a:ext cx="2706849" cy="689584"/>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t>Apps for Business or OnPrem Office</a:t>
              </a:r>
            </a:p>
          </p:txBody>
        </p:sp>
        <p:sp>
          <p:nvSpPr>
            <p:cNvPr id="11" name="Rectangle: Rounded Corners 10">
              <a:extLst>
                <a:ext uri="{FF2B5EF4-FFF2-40B4-BE49-F238E27FC236}">
                  <a16:creationId xmlns:a16="http://schemas.microsoft.com/office/drawing/2014/main" id="{F168B109-FDD3-579E-F7A6-290FFDF636A4}"/>
                </a:ext>
              </a:extLst>
            </p:cNvPr>
            <p:cNvSpPr/>
            <p:nvPr/>
          </p:nvSpPr>
          <p:spPr bwMode="auto">
            <a:xfrm>
              <a:off x="4551621" y="4781643"/>
              <a:ext cx="2706849" cy="689584"/>
            </a:xfrm>
            <a:prstGeom prst="round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a:rPr>
                <a:t>Microsoft Defender </a:t>
              </a:r>
              <a:br>
                <a:rPr kumimoji="0" lang="en-US" sz="1200" b="0" i="0" u="none" strike="noStrike" kern="1200" cap="none" spc="0" normalizeH="0" baseline="0" noProof="0">
                  <a:ln>
                    <a:noFill/>
                  </a:ln>
                  <a:solidFill>
                    <a:srgbClr val="000000"/>
                  </a:solidFill>
                  <a:effectLst/>
                  <a:uLnTx/>
                  <a:uFillTx/>
                  <a:latin typeface="Segoe UI Semibold"/>
                  <a:ea typeface="+mn-ea"/>
                  <a:cs typeface="Segoe UI"/>
                </a:rPr>
              </a:br>
              <a:r>
                <a:rPr kumimoji="0" lang="en-US" sz="1200" b="0" i="0" u="none" strike="noStrike" kern="1200" cap="none" spc="0" normalizeH="0" baseline="0" noProof="0">
                  <a:ln>
                    <a:noFill/>
                  </a:ln>
                  <a:solidFill>
                    <a:srgbClr val="000000"/>
                  </a:solidFill>
                  <a:effectLst/>
                  <a:uLnTx/>
                  <a:uFillTx/>
                  <a:latin typeface="Segoe UI Semibold"/>
                  <a:ea typeface="+mn-ea"/>
                  <a:cs typeface="Segoe UI"/>
                </a:rPr>
                <a:t>for Business</a:t>
              </a:r>
            </a:p>
          </p:txBody>
        </p:sp>
        <p:sp>
          <p:nvSpPr>
            <p:cNvPr id="5" name="Rectangle: Rounded Corners 4">
              <a:extLst>
                <a:ext uri="{FF2B5EF4-FFF2-40B4-BE49-F238E27FC236}">
                  <a16:creationId xmlns:a16="http://schemas.microsoft.com/office/drawing/2014/main" id="{5A7EFB06-8F04-7A24-9D86-0092E6AC5462}"/>
                </a:ext>
              </a:extLst>
            </p:cNvPr>
            <p:cNvSpPr/>
            <p:nvPr/>
          </p:nvSpPr>
          <p:spPr bwMode="auto">
            <a:xfrm>
              <a:off x="8569927" y="4781643"/>
              <a:ext cx="2623758" cy="689584"/>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t>Business Premium</a:t>
              </a:r>
            </a:p>
          </p:txBody>
        </p:sp>
        <p:sp>
          <p:nvSpPr>
            <p:cNvPr id="50" name="Rectangle: Rounded Corners 49">
              <a:extLst>
                <a:ext uri="{FF2B5EF4-FFF2-40B4-BE49-F238E27FC236}">
                  <a16:creationId xmlns:a16="http://schemas.microsoft.com/office/drawing/2014/main" id="{4B7CEAAD-7C2B-F0D1-63AB-8C0751E6B0D2}"/>
                </a:ext>
              </a:extLst>
            </p:cNvPr>
            <p:cNvSpPr/>
            <p:nvPr/>
          </p:nvSpPr>
          <p:spPr bwMode="auto">
            <a:xfrm>
              <a:off x="807884" y="1853575"/>
              <a:ext cx="2706849" cy="689584"/>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t>Apps for Business or OnPrem Office</a:t>
              </a:r>
            </a:p>
          </p:txBody>
        </p:sp>
        <p:cxnSp>
          <p:nvCxnSpPr>
            <p:cNvPr id="56" name="Straight Connector 55">
              <a:extLst>
                <a:ext uri="{FF2B5EF4-FFF2-40B4-BE49-F238E27FC236}">
                  <a16:creationId xmlns:a16="http://schemas.microsoft.com/office/drawing/2014/main" id="{CBA30133-44A5-8221-FF9E-009E3D3AFB1E}"/>
                </a:ext>
                <a:ext uri="{C183D7F6-B498-43B3-948B-1728B52AA6E4}">
                  <adec:decorative xmlns:adec="http://schemas.microsoft.com/office/drawing/2017/decorative" val="1"/>
                </a:ext>
              </a:extLst>
            </p:cNvPr>
            <p:cNvCxnSpPr>
              <a:cxnSpLocks/>
            </p:cNvCxnSpPr>
            <p:nvPr/>
          </p:nvCxnSpPr>
          <p:spPr>
            <a:xfrm>
              <a:off x="3514733" y="2198367"/>
              <a:ext cx="4987394" cy="0"/>
            </a:xfrm>
            <a:prstGeom prst="line">
              <a:avLst/>
            </a:prstGeom>
            <a:ln w="19050">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091CB9BD-E1C7-EA64-A2DA-00CB31B1751D}"/>
                </a:ext>
              </a:extLst>
            </p:cNvPr>
            <p:cNvSpPr/>
            <p:nvPr/>
          </p:nvSpPr>
          <p:spPr bwMode="auto">
            <a:xfrm>
              <a:off x="4551621" y="1853575"/>
              <a:ext cx="2706849" cy="689584"/>
            </a:xfrm>
            <a:prstGeom prst="round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a:rPr>
                <a:t>Teams Essentials</a:t>
              </a:r>
              <a:endPar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endParaRPr>
            </a:p>
          </p:txBody>
        </p:sp>
        <p:sp>
          <p:nvSpPr>
            <p:cNvPr id="48" name="Rectangle: Rounded Corners 47">
              <a:extLst>
                <a:ext uri="{FF2B5EF4-FFF2-40B4-BE49-F238E27FC236}">
                  <a16:creationId xmlns:a16="http://schemas.microsoft.com/office/drawing/2014/main" id="{9899CEB9-04B3-4E01-2512-1571B0BA14AB}"/>
                </a:ext>
              </a:extLst>
            </p:cNvPr>
            <p:cNvSpPr/>
            <p:nvPr/>
          </p:nvSpPr>
          <p:spPr bwMode="auto">
            <a:xfrm>
              <a:off x="8569927" y="1853575"/>
              <a:ext cx="2623758" cy="689584"/>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t>Business Premium or Business Standard </a:t>
              </a:r>
            </a:p>
          </p:txBody>
        </p:sp>
        <p:sp>
          <p:nvSpPr>
            <p:cNvPr id="60" name="Rectangle: Rounded Corners 59">
              <a:extLst>
                <a:ext uri="{FF2B5EF4-FFF2-40B4-BE49-F238E27FC236}">
                  <a16:creationId xmlns:a16="http://schemas.microsoft.com/office/drawing/2014/main" id="{8D6F05C2-D1E8-8965-01B7-2AAC998FAC27}"/>
                </a:ext>
              </a:extLst>
            </p:cNvPr>
            <p:cNvSpPr/>
            <p:nvPr/>
          </p:nvSpPr>
          <p:spPr bwMode="auto">
            <a:xfrm>
              <a:off x="807884" y="2712013"/>
              <a:ext cx="2706849" cy="689584"/>
            </a:xfrm>
            <a:prstGeom prst="round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t>Exchange Online or </a:t>
              </a:r>
              <a:b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br>
              <a:r>
                <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rPr>
                <a:t>Office Perpetual</a:t>
              </a:r>
            </a:p>
          </p:txBody>
        </p:sp>
        <p:cxnSp>
          <p:nvCxnSpPr>
            <p:cNvPr id="61" name="Straight Connector 60">
              <a:extLst>
                <a:ext uri="{FF2B5EF4-FFF2-40B4-BE49-F238E27FC236}">
                  <a16:creationId xmlns:a16="http://schemas.microsoft.com/office/drawing/2014/main" id="{85EB49D6-A2D0-B0A5-A024-2B0C16E40712}"/>
                </a:ext>
                <a:ext uri="{C183D7F6-B498-43B3-948B-1728B52AA6E4}">
                  <adec:decorative xmlns:adec="http://schemas.microsoft.com/office/drawing/2017/decorative" val="1"/>
                </a:ext>
              </a:extLst>
            </p:cNvPr>
            <p:cNvCxnSpPr>
              <a:cxnSpLocks/>
            </p:cNvCxnSpPr>
            <p:nvPr/>
          </p:nvCxnSpPr>
          <p:spPr>
            <a:xfrm>
              <a:off x="3514733" y="3056805"/>
              <a:ext cx="4984725" cy="0"/>
            </a:xfrm>
            <a:prstGeom prst="line">
              <a:avLst/>
            </a:prstGeom>
            <a:ln w="19050">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2" name="Rectangle: Rounded Corners 61">
              <a:extLst>
                <a:ext uri="{FF2B5EF4-FFF2-40B4-BE49-F238E27FC236}">
                  <a16:creationId xmlns:a16="http://schemas.microsoft.com/office/drawing/2014/main" id="{EB76DCD1-2ADC-4BF3-1459-30D13441D762}"/>
                </a:ext>
              </a:extLst>
            </p:cNvPr>
            <p:cNvSpPr/>
            <p:nvPr/>
          </p:nvSpPr>
          <p:spPr bwMode="auto">
            <a:xfrm>
              <a:off x="4551621" y="2712013"/>
              <a:ext cx="2706849" cy="689584"/>
            </a:xfrm>
            <a:prstGeom prst="round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Semibold"/>
                  <a:ea typeface="+mn-ea"/>
                  <a:cs typeface="Segoe UI"/>
                </a:rPr>
                <a:t>Teams Essentials </a:t>
              </a:r>
              <a:endParaRPr kumimoji="0" lang="en-US" sz="1200" b="0" i="0" u="none" strike="noStrike" kern="1200" cap="none" spc="0" normalizeH="0" baseline="0" noProof="0">
                <a:ln>
                  <a:noFill/>
                </a:ln>
                <a:solidFill>
                  <a:srgbClr val="000000"/>
                </a:solidFill>
                <a:effectLst/>
                <a:uLnTx/>
                <a:uFillTx/>
                <a:latin typeface="Segoe UI Semibold"/>
                <a:ea typeface="+mn-ea"/>
                <a:cs typeface="Segoe UI" pitchFamily="34" charset="0"/>
              </a:endParaRPr>
            </a:p>
          </p:txBody>
        </p:sp>
        <p:sp>
          <p:nvSpPr>
            <p:cNvPr id="59" name="Rectangle: Rounded Corners 58">
              <a:extLst>
                <a:ext uri="{FF2B5EF4-FFF2-40B4-BE49-F238E27FC236}">
                  <a16:creationId xmlns:a16="http://schemas.microsoft.com/office/drawing/2014/main" id="{96B6426F-D2BA-4419-CF5E-C2E36F3E1DBC}"/>
                </a:ext>
              </a:extLst>
            </p:cNvPr>
            <p:cNvSpPr/>
            <p:nvPr/>
          </p:nvSpPr>
          <p:spPr bwMode="auto">
            <a:xfrm>
              <a:off x="8569927" y="2712013"/>
              <a:ext cx="2623758" cy="689584"/>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pitchFamily="34" charset="0"/>
                </a:rPr>
                <a:t>Business Premium or Business Standard </a:t>
              </a:r>
            </a:p>
          </p:txBody>
        </p:sp>
        <p:cxnSp>
          <p:nvCxnSpPr>
            <p:cNvPr id="86" name="Straight Connector 85">
              <a:extLst>
                <a:ext uri="{FF2B5EF4-FFF2-40B4-BE49-F238E27FC236}">
                  <a16:creationId xmlns:a16="http://schemas.microsoft.com/office/drawing/2014/main" id="{7F7A45B3-F4E0-A692-9460-18346994C0B1}"/>
                </a:ext>
                <a:ext uri="{C183D7F6-B498-43B3-948B-1728B52AA6E4}">
                  <adec:decorative xmlns:adec="http://schemas.microsoft.com/office/drawing/2017/decorative" val="1"/>
                </a:ext>
              </a:extLst>
            </p:cNvPr>
            <p:cNvCxnSpPr>
              <a:cxnSpLocks/>
            </p:cNvCxnSpPr>
            <p:nvPr/>
          </p:nvCxnSpPr>
          <p:spPr>
            <a:xfrm>
              <a:off x="7258470" y="5125987"/>
              <a:ext cx="1243658" cy="0"/>
            </a:xfrm>
            <a:prstGeom prst="line">
              <a:avLst/>
            </a:prstGeom>
            <a:ln w="19050">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5" name="Rectangle: Rounded Corners 104">
              <a:extLst>
                <a:ext uri="{FF2B5EF4-FFF2-40B4-BE49-F238E27FC236}">
                  <a16:creationId xmlns:a16="http://schemas.microsoft.com/office/drawing/2014/main" id="{A08A2849-2FF4-CA71-DAA3-853B0FA2E2B7}"/>
                </a:ext>
                <a:ext uri="{C183D7F6-B498-43B3-948B-1728B52AA6E4}">
                  <adec:decorative xmlns:adec="http://schemas.microsoft.com/office/drawing/2017/decorative" val="1"/>
                </a:ext>
              </a:extLst>
            </p:cNvPr>
            <p:cNvSpPr/>
            <p:nvPr/>
          </p:nvSpPr>
          <p:spPr bwMode="auto">
            <a:xfrm>
              <a:off x="8510069" y="3876548"/>
              <a:ext cx="2733067" cy="790102"/>
            </a:xfrm>
            <a:prstGeom prst="roundRect">
              <a:avLst>
                <a:gd name="adj" fmla="val 15386"/>
              </a:avLst>
            </a:prstGeom>
            <a:noFill/>
            <a:ln>
              <a:solidFill>
                <a:srgbClr val="7F7F7F"/>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12" name="Rectangle: Rounded Corners 111">
              <a:extLst>
                <a:ext uri="{FF2B5EF4-FFF2-40B4-BE49-F238E27FC236}">
                  <a16:creationId xmlns:a16="http://schemas.microsoft.com/office/drawing/2014/main" id="{6ADA0279-5A72-200E-8DBD-17A9C590322D}"/>
                </a:ext>
                <a:ext uri="{C183D7F6-B498-43B3-948B-1728B52AA6E4}">
                  <adec:decorative xmlns:adec="http://schemas.microsoft.com/office/drawing/2017/decorative" val="1"/>
                </a:ext>
              </a:extLst>
            </p:cNvPr>
            <p:cNvSpPr/>
            <p:nvPr/>
          </p:nvSpPr>
          <p:spPr bwMode="auto">
            <a:xfrm>
              <a:off x="8502128" y="4731384"/>
              <a:ext cx="2743678" cy="790102"/>
            </a:xfrm>
            <a:prstGeom prst="roundRect">
              <a:avLst>
                <a:gd name="adj" fmla="val 15386"/>
              </a:avLst>
            </a:prstGeom>
            <a:noFill/>
            <a:ln>
              <a:solidFill>
                <a:srgbClr val="7F7F7F"/>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14" name="Rectangle: Rounded Corners 113">
              <a:extLst>
                <a:ext uri="{FF2B5EF4-FFF2-40B4-BE49-F238E27FC236}">
                  <a16:creationId xmlns:a16="http://schemas.microsoft.com/office/drawing/2014/main" id="{B76AAC2F-7C94-A186-84C7-562D726A2128}"/>
                </a:ext>
                <a:ext uri="{C183D7F6-B498-43B3-948B-1728B52AA6E4}">
                  <adec:decorative xmlns:adec="http://schemas.microsoft.com/office/drawing/2017/decorative" val="1"/>
                </a:ext>
              </a:extLst>
            </p:cNvPr>
            <p:cNvSpPr/>
            <p:nvPr/>
          </p:nvSpPr>
          <p:spPr bwMode="auto">
            <a:xfrm>
              <a:off x="8502128" y="1803316"/>
              <a:ext cx="2743678" cy="790102"/>
            </a:xfrm>
            <a:prstGeom prst="roundRect">
              <a:avLst>
                <a:gd name="adj" fmla="val 15386"/>
              </a:avLst>
            </a:prstGeom>
            <a:noFill/>
            <a:ln>
              <a:solidFill>
                <a:srgbClr val="7F7F7F"/>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17" name="Rectangle: Rounded Corners 116">
              <a:extLst>
                <a:ext uri="{FF2B5EF4-FFF2-40B4-BE49-F238E27FC236}">
                  <a16:creationId xmlns:a16="http://schemas.microsoft.com/office/drawing/2014/main" id="{D307BC18-E613-0974-4D44-45B98E5E855D}"/>
                </a:ext>
                <a:ext uri="{C183D7F6-B498-43B3-948B-1728B52AA6E4}">
                  <adec:decorative xmlns:adec="http://schemas.microsoft.com/office/drawing/2017/decorative" val="1"/>
                </a:ext>
              </a:extLst>
            </p:cNvPr>
            <p:cNvSpPr/>
            <p:nvPr/>
          </p:nvSpPr>
          <p:spPr bwMode="auto">
            <a:xfrm>
              <a:off x="8499457" y="2661754"/>
              <a:ext cx="2743678" cy="790102"/>
            </a:xfrm>
            <a:prstGeom prst="roundRect">
              <a:avLst>
                <a:gd name="adj" fmla="val 15386"/>
              </a:avLst>
            </a:prstGeom>
            <a:noFill/>
            <a:ln>
              <a:solidFill>
                <a:srgbClr val="7F7F7F"/>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18" name="Group 17">
              <a:extLst>
                <a:ext uri="{FF2B5EF4-FFF2-40B4-BE49-F238E27FC236}">
                  <a16:creationId xmlns:a16="http://schemas.microsoft.com/office/drawing/2014/main" id="{5E9BC24B-7034-AE0E-E423-E146A4C549DA}"/>
                </a:ext>
                <a:ext uri="{C183D7F6-B498-43B3-948B-1728B52AA6E4}">
                  <adec:decorative xmlns:adec="http://schemas.microsoft.com/office/drawing/2017/decorative" val="1"/>
                </a:ext>
              </a:extLst>
            </p:cNvPr>
            <p:cNvGrpSpPr/>
            <p:nvPr/>
          </p:nvGrpSpPr>
          <p:grpSpPr>
            <a:xfrm>
              <a:off x="3840052" y="4102132"/>
              <a:ext cx="350278" cy="350278"/>
              <a:chOff x="3854220" y="2143056"/>
              <a:chExt cx="350278" cy="350278"/>
            </a:xfrm>
          </p:grpSpPr>
          <p:sp>
            <p:nvSpPr>
              <p:cNvPr id="87" name="Oval 86">
                <a:extLst>
                  <a:ext uri="{FF2B5EF4-FFF2-40B4-BE49-F238E27FC236}">
                    <a16:creationId xmlns:a16="http://schemas.microsoft.com/office/drawing/2014/main" id="{102CC2EA-7C51-01C8-B1FC-B6DDAF7C2F84}"/>
                  </a:ext>
                </a:extLst>
              </p:cNvPr>
              <p:cNvSpPr/>
              <p:nvPr/>
            </p:nvSpPr>
            <p:spPr bwMode="auto">
              <a:xfrm>
                <a:off x="3854220" y="2143056"/>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 name="Plus Sign 7">
                <a:extLst>
                  <a:ext uri="{FF2B5EF4-FFF2-40B4-BE49-F238E27FC236}">
                    <a16:creationId xmlns:a16="http://schemas.microsoft.com/office/drawing/2014/main" id="{6394BF63-23BD-94A1-9C51-231C830BEE3F}"/>
                  </a:ext>
                </a:extLst>
              </p:cNvPr>
              <p:cNvSpPr/>
              <p:nvPr/>
            </p:nvSpPr>
            <p:spPr bwMode="auto">
              <a:xfrm>
                <a:off x="3899567" y="2178912"/>
                <a:ext cx="267221" cy="267221"/>
              </a:xfrm>
              <a:prstGeom prst="mathPlu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 name="Group 1">
              <a:extLst>
                <a:ext uri="{FF2B5EF4-FFF2-40B4-BE49-F238E27FC236}">
                  <a16:creationId xmlns:a16="http://schemas.microsoft.com/office/drawing/2014/main" id="{82566CB3-A8DC-F0F8-0F21-56BB8F55B37B}"/>
                </a:ext>
                <a:ext uri="{C183D7F6-B498-43B3-948B-1728B52AA6E4}">
                  <adec:decorative xmlns:adec="http://schemas.microsoft.com/office/drawing/2017/decorative" val="1"/>
                </a:ext>
              </a:extLst>
            </p:cNvPr>
            <p:cNvGrpSpPr/>
            <p:nvPr/>
          </p:nvGrpSpPr>
          <p:grpSpPr>
            <a:xfrm>
              <a:off x="7698496" y="4105514"/>
              <a:ext cx="350278" cy="350278"/>
              <a:chOff x="7747066" y="2146438"/>
              <a:chExt cx="350278" cy="350278"/>
            </a:xfrm>
          </p:grpSpPr>
          <p:sp>
            <p:nvSpPr>
              <p:cNvPr id="14" name="Oval 13">
                <a:extLst>
                  <a:ext uri="{FF2B5EF4-FFF2-40B4-BE49-F238E27FC236}">
                    <a16:creationId xmlns:a16="http://schemas.microsoft.com/office/drawing/2014/main" id="{3075F5EE-80A6-C1C9-C1FF-ECC7508BBADE}"/>
                  </a:ext>
                </a:extLst>
              </p:cNvPr>
              <p:cNvSpPr/>
              <p:nvPr/>
            </p:nvSpPr>
            <p:spPr bwMode="auto">
              <a:xfrm>
                <a:off x="7747066" y="2146438"/>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Freeform 5">
                <a:extLst>
                  <a:ext uri="{FF2B5EF4-FFF2-40B4-BE49-F238E27FC236}">
                    <a16:creationId xmlns:a16="http://schemas.microsoft.com/office/drawing/2014/main" id="{DF5A9099-72F5-C1BC-1EE0-4EB2F7CFCD14}"/>
                  </a:ext>
                </a:extLst>
              </p:cNvPr>
              <p:cNvSpPr>
                <a:spLocks/>
              </p:cNvSpPr>
              <p:nvPr/>
            </p:nvSpPr>
            <p:spPr bwMode="auto">
              <a:xfrm rot="18900000">
                <a:off x="7774627" y="2186245"/>
                <a:ext cx="281419" cy="252556"/>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66" name="Group 65">
              <a:extLst>
                <a:ext uri="{FF2B5EF4-FFF2-40B4-BE49-F238E27FC236}">
                  <a16:creationId xmlns:a16="http://schemas.microsoft.com/office/drawing/2014/main" id="{EBEF95A1-D42A-9CC7-1C16-7879AD81E2CA}"/>
                </a:ext>
                <a:ext uri="{C183D7F6-B498-43B3-948B-1728B52AA6E4}">
                  <adec:decorative xmlns:adec="http://schemas.microsoft.com/office/drawing/2017/decorative" val="1"/>
                </a:ext>
              </a:extLst>
            </p:cNvPr>
            <p:cNvGrpSpPr/>
            <p:nvPr/>
          </p:nvGrpSpPr>
          <p:grpSpPr>
            <a:xfrm>
              <a:off x="7698496" y="4942411"/>
              <a:ext cx="350278" cy="350278"/>
              <a:chOff x="7747066" y="2146438"/>
              <a:chExt cx="350278" cy="350278"/>
            </a:xfrm>
          </p:grpSpPr>
          <p:sp>
            <p:nvSpPr>
              <p:cNvPr id="74" name="Oval 73">
                <a:extLst>
                  <a:ext uri="{FF2B5EF4-FFF2-40B4-BE49-F238E27FC236}">
                    <a16:creationId xmlns:a16="http://schemas.microsoft.com/office/drawing/2014/main" id="{9B450E52-0371-DBF1-B881-D9788BF14F0F}"/>
                  </a:ext>
                </a:extLst>
              </p:cNvPr>
              <p:cNvSpPr/>
              <p:nvPr/>
            </p:nvSpPr>
            <p:spPr bwMode="auto">
              <a:xfrm>
                <a:off x="7747066" y="2146438"/>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5" name="Freeform 5">
                <a:extLst>
                  <a:ext uri="{FF2B5EF4-FFF2-40B4-BE49-F238E27FC236}">
                    <a16:creationId xmlns:a16="http://schemas.microsoft.com/office/drawing/2014/main" id="{33F5BA30-7BA8-A9E3-4AED-F37ACB04F5CB}"/>
                  </a:ext>
                </a:extLst>
              </p:cNvPr>
              <p:cNvSpPr>
                <a:spLocks/>
              </p:cNvSpPr>
              <p:nvPr/>
            </p:nvSpPr>
            <p:spPr bwMode="auto">
              <a:xfrm rot="18900000">
                <a:off x="7774627" y="2204185"/>
                <a:ext cx="281419" cy="252556"/>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76" name="Group 75">
              <a:extLst>
                <a:ext uri="{FF2B5EF4-FFF2-40B4-BE49-F238E27FC236}">
                  <a16:creationId xmlns:a16="http://schemas.microsoft.com/office/drawing/2014/main" id="{E0F18523-2868-1AD0-D1CB-80E925AECD94}"/>
                </a:ext>
                <a:ext uri="{C183D7F6-B498-43B3-948B-1728B52AA6E4}">
                  <adec:decorative xmlns:adec="http://schemas.microsoft.com/office/drawing/2017/decorative" val="1"/>
                </a:ext>
              </a:extLst>
            </p:cNvPr>
            <p:cNvGrpSpPr/>
            <p:nvPr/>
          </p:nvGrpSpPr>
          <p:grpSpPr>
            <a:xfrm>
              <a:off x="7698496" y="2040990"/>
              <a:ext cx="350278" cy="350278"/>
              <a:chOff x="7747066" y="2146438"/>
              <a:chExt cx="350278" cy="350278"/>
            </a:xfrm>
          </p:grpSpPr>
          <p:sp>
            <p:nvSpPr>
              <p:cNvPr id="77" name="Oval 76">
                <a:extLst>
                  <a:ext uri="{FF2B5EF4-FFF2-40B4-BE49-F238E27FC236}">
                    <a16:creationId xmlns:a16="http://schemas.microsoft.com/office/drawing/2014/main" id="{B9B346AB-965F-6AE7-2477-95F1C471A03E}"/>
                  </a:ext>
                </a:extLst>
              </p:cNvPr>
              <p:cNvSpPr/>
              <p:nvPr/>
            </p:nvSpPr>
            <p:spPr bwMode="auto">
              <a:xfrm>
                <a:off x="7747066" y="2146438"/>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8" name="Freeform 5">
                <a:extLst>
                  <a:ext uri="{FF2B5EF4-FFF2-40B4-BE49-F238E27FC236}">
                    <a16:creationId xmlns:a16="http://schemas.microsoft.com/office/drawing/2014/main" id="{5775505D-5947-6C2F-2BA0-D0C485CAE3B5}"/>
                  </a:ext>
                </a:extLst>
              </p:cNvPr>
              <p:cNvSpPr>
                <a:spLocks/>
              </p:cNvSpPr>
              <p:nvPr/>
            </p:nvSpPr>
            <p:spPr bwMode="auto">
              <a:xfrm rot="18900000">
                <a:off x="7774627" y="2177538"/>
                <a:ext cx="281419" cy="252556"/>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79" name="Group 78">
              <a:extLst>
                <a:ext uri="{FF2B5EF4-FFF2-40B4-BE49-F238E27FC236}">
                  <a16:creationId xmlns:a16="http://schemas.microsoft.com/office/drawing/2014/main" id="{7C1C3ED3-B1F8-BD87-D5B1-0D6E11253CD8}"/>
                </a:ext>
                <a:ext uri="{C183D7F6-B498-43B3-948B-1728B52AA6E4}">
                  <adec:decorative xmlns:adec="http://schemas.microsoft.com/office/drawing/2017/decorative" val="1"/>
                </a:ext>
              </a:extLst>
            </p:cNvPr>
            <p:cNvGrpSpPr/>
            <p:nvPr/>
          </p:nvGrpSpPr>
          <p:grpSpPr>
            <a:xfrm>
              <a:off x="7698496" y="2851701"/>
              <a:ext cx="350278" cy="350278"/>
              <a:chOff x="7747066" y="2146438"/>
              <a:chExt cx="350278" cy="350278"/>
            </a:xfrm>
          </p:grpSpPr>
          <p:sp>
            <p:nvSpPr>
              <p:cNvPr id="80" name="Oval 79">
                <a:extLst>
                  <a:ext uri="{FF2B5EF4-FFF2-40B4-BE49-F238E27FC236}">
                    <a16:creationId xmlns:a16="http://schemas.microsoft.com/office/drawing/2014/main" id="{214B00AD-9656-A37C-5336-F1BF57CDC383}"/>
                  </a:ext>
                </a:extLst>
              </p:cNvPr>
              <p:cNvSpPr/>
              <p:nvPr/>
            </p:nvSpPr>
            <p:spPr bwMode="auto">
              <a:xfrm>
                <a:off x="7747066" y="2146438"/>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Freeform 5">
                <a:extLst>
                  <a:ext uri="{FF2B5EF4-FFF2-40B4-BE49-F238E27FC236}">
                    <a16:creationId xmlns:a16="http://schemas.microsoft.com/office/drawing/2014/main" id="{CFD86E3F-8A15-0FB8-95A4-7565E4DEA45D}"/>
                  </a:ext>
                </a:extLst>
              </p:cNvPr>
              <p:cNvSpPr>
                <a:spLocks/>
              </p:cNvSpPr>
              <p:nvPr/>
            </p:nvSpPr>
            <p:spPr bwMode="auto">
              <a:xfrm rot="18900000">
                <a:off x="7774627" y="2225264"/>
                <a:ext cx="281419" cy="252556"/>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grpSp>
          <p:nvGrpSpPr>
            <p:cNvPr id="88" name="Group 87">
              <a:extLst>
                <a:ext uri="{FF2B5EF4-FFF2-40B4-BE49-F238E27FC236}">
                  <a16:creationId xmlns:a16="http://schemas.microsoft.com/office/drawing/2014/main" id="{98F34600-D864-FF81-0102-5185A342947A}"/>
                </a:ext>
                <a:ext uri="{C183D7F6-B498-43B3-948B-1728B52AA6E4}">
                  <adec:decorative xmlns:adec="http://schemas.microsoft.com/office/drawing/2017/decorative" val="1"/>
                </a:ext>
              </a:extLst>
            </p:cNvPr>
            <p:cNvGrpSpPr/>
            <p:nvPr/>
          </p:nvGrpSpPr>
          <p:grpSpPr>
            <a:xfrm>
              <a:off x="3840052" y="4955474"/>
              <a:ext cx="350278" cy="350278"/>
              <a:chOff x="3854220" y="2143056"/>
              <a:chExt cx="350278" cy="350278"/>
            </a:xfrm>
          </p:grpSpPr>
          <p:sp>
            <p:nvSpPr>
              <p:cNvPr id="106" name="Oval 105">
                <a:extLst>
                  <a:ext uri="{FF2B5EF4-FFF2-40B4-BE49-F238E27FC236}">
                    <a16:creationId xmlns:a16="http://schemas.microsoft.com/office/drawing/2014/main" id="{15453377-B0CA-32D4-0E83-DDAAE0D32D95}"/>
                  </a:ext>
                </a:extLst>
              </p:cNvPr>
              <p:cNvSpPr/>
              <p:nvPr/>
            </p:nvSpPr>
            <p:spPr bwMode="auto">
              <a:xfrm>
                <a:off x="3854220" y="2143056"/>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7" name="Plus Sign 106">
                <a:extLst>
                  <a:ext uri="{FF2B5EF4-FFF2-40B4-BE49-F238E27FC236}">
                    <a16:creationId xmlns:a16="http://schemas.microsoft.com/office/drawing/2014/main" id="{F85221CE-9181-AACC-74DE-4CC205C490E0}"/>
                  </a:ext>
                </a:extLst>
              </p:cNvPr>
              <p:cNvSpPr/>
              <p:nvPr/>
            </p:nvSpPr>
            <p:spPr bwMode="auto">
              <a:xfrm>
                <a:off x="3899567" y="2180407"/>
                <a:ext cx="267221" cy="267221"/>
              </a:xfrm>
              <a:prstGeom prst="mathPlu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108" name="Group 107">
              <a:extLst>
                <a:ext uri="{FF2B5EF4-FFF2-40B4-BE49-F238E27FC236}">
                  <a16:creationId xmlns:a16="http://schemas.microsoft.com/office/drawing/2014/main" id="{D5860184-D341-4917-18A7-79945F53BB89}"/>
                </a:ext>
                <a:ext uri="{C183D7F6-B498-43B3-948B-1728B52AA6E4}">
                  <adec:decorative xmlns:adec="http://schemas.microsoft.com/office/drawing/2017/decorative" val="1"/>
                </a:ext>
              </a:extLst>
            </p:cNvPr>
            <p:cNvGrpSpPr/>
            <p:nvPr/>
          </p:nvGrpSpPr>
          <p:grpSpPr>
            <a:xfrm>
              <a:off x="3840052" y="2044136"/>
              <a:ext cx="350278" cy="350278"/>
              <a:chOff x="3854220" y="2143056"/>
              <a:chExt cx="350278" cy="350278"/>
            </a:xfrm>
          </p:grpSpPr>
          <p:sp>
            <p:nvSpPr>
              <p:cNvPr id="109" name="Oval 108">
                <a:extLst>
                  <a:ext uri="{FF2B5EF4-FFF2-40B4-BE49-F238E27FC236}">
                    <a16:creationId xmlns:a16="http://schemas.microsoft.com/office/drawing/2014/main" id="{167069B3-BB24-9C97-5B01-514D49D980A9}"/>
                  </a:ext>
                </a:extLst>
              </p:cNvPr>
              <p:cNvSpPr/>
              <p:nvPr/>
            </p:nvSpPr>
            <p:spPr bwMode="auto">
              <a:xfrm>
                <a:off x="3854220" y="2143056"/>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0" name="Plus Sign 109">
                <a:extLst>
                  <a:ext uri="{FF2B5EF4-FFF2-40B4-BE49-F238E27FC236}">
                    <a16:creationId xmlns:a16="http://schemas.microsoft.com/office/drawing/2014/main" id="{A19ED9CA-D851-FD31-8BF1-52BA84126E26}"/>
                  </a:ext>
                </a:extLst>
              </p:cNvPr>
              <p:cNvSpPr/>
              <p:nvPr/>
            </p:nvSpPr>
            <p:spPr bwMode="auto">
              <a:xfrm>
                <a:off x="3899567" y="2163677"/>
                <a:ext cx="267221" cy="267221"/>
              </a:xfrm>
              <a:prstGeom prst="mathPlu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111" name="Group 110">
              <a:extLst>
                <a:ext uri="{FF2B5EF4-FFF2-40B4-BE49-F238E27FC236}">
                  <a16:creationId xmlns:a16="http://schemas.microsoft.com/office/drawing/2014/main" id="{DB0698AD-3EDD-65F7-C058-5CA1BC727171}"/>
                </a:ext>
                <a:ext uri="{C183D7F6-B498-43B3-948B-1728B52AA6E4}">
                  <adec:decorative xmlns:adec="http://schemas.microsoft.com/office/drawing/2017/decorative" val="1"/>
                </a:ext>
              </a:extLst>
            </p:cNvPr>
            <p:cNvGrpSpPr/>
            <p:nvPr/>
          </p:nvGrpSpPr>
          <p:grpSpPr>
            <a:xfrm>
              <a:off x="3840052" y="2813851"/>
              <a:ext cx="350278" cy="376565"/>
              <a:chOff x="3854220" y="2143056"/>
              <a:chExt cx="350278" cy="376565"/>
            </a:xfrm>
          </p:grpSpPr>
          <p:sp>
            <p:nvSpPr>
              <p:cNvPr id="113" name="Oval 112">
                <a:extLst>
                  <a:ext uri="{FF2B5EF4-FFF2-40B4-BE49-F238E27FC236}">
                    <a16:creationId xmlns:a16="http://schemas.microsoft.com/office/drawing/2014/main" id="{FA7BD0ED-1F70-8125-06CC-E5CB09A4774C}"/>
                  </a:ext>
                </a:extLst>
              </p:cNvPr>
              <p:cNvSpPr/>
              <p:nvPr/>
            </p:nvSpPr>
            <p:spPr bwMode="auto">
              <a:xfrm>
                <a:off x="3854220" y="2143056"/>
                <a:ext cx="350278" cy="350278"/>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5" name="Plus Sign 114">
                <a:extLst>
                  <a:ext uri="{FF2B5EF4-FFF2-40B4-BE49-F238E27FC236}">
                    <a16:creationId xmlns:a16="http://schemas.microsoft.com/office/drawing/2014/main" id="{B345E289-0E91-0031-84A6-27D57D88CAF7}"/>
                  </a:ext>
                </a:extLst>
              </p:cNvPr>
              <p:cNvSpPr/>
              <p:nvPr/>
            </p:nvSpPr>
            <p:spPr bwMode="auto">
              <a:xfrm>
                <a:off x="3899567" y="2252400"/>
                <a:ext cx="267221" cy="267221"/>
              </a:xfrm>
              <a:prstGeom prst="mathPlus">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sp>
        <p:nvSpPr>
          <p:cNvPr id="19" name="TextBox 18">
            <a:extLst>
              <a:ext uri="{FF2B5EF4-FFF2-40B4-BE49-F238E27FC236}">
                <a16:creationId xmlns:a16="http://schemas.microsoft.com/office/drawing/2014/main" id="{7915EA3E-DD0D-A637-A607-EE9AA34C8719}"/>
              </a:ext>
            </a:extLst>
          </p:cNvPr>
          <p:cNvSpPr txBox="1"/>
          <p:nvPr/>
        </p:nvSpPr>
        <p:spPr>
          <a:xfrm>
            <a:off x="883653" y="1366461"/>
            <a:ext cx="23495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Already owned</a:t>
            </a:r>
          </a:p>
        </p:txBody>
      </p:sp>
      <p:sp>
        <p:nvSpPr>
          <p:cNvPr id="22" name="TextBox 21">
            <a:extLst>
              <a:ext uri="{FF2B5EF4-FFF2-40B4-BE49-F238E27FC236}">
                <a16:creationId xmlns:a16="http://schemas.microsoft.com/office/drawing/2014/main" id="{82C63095-8D6A-1467-76CE-3C7FBBD7B277}"/>
              </a:ext>
            </a:extLst>
          </p:cNvPr>
          <p:cNvSpPr txBox="1"/>
          <p:nvPr/>
        </p:nvSpPr>
        <p:spPr>
          <a:xfrm>
            <a:off x="4200062" y="1366461"/>
            <a:ext cx="23495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Add standalone</a:t>
            </a:r>
          </a:p>
        </p:txBody>
      </p:sp>
      <p:sp>
        <p:nvSpPr>
          <p:cNvPr id="23" name="TextBox 22">
            <a:extLst>
              <a:ext uri="{FF2B5EF4-FFF2-40B4-BE49-F238E27FC236}">
                <a16:creationId xmlns:a16="http://schemas.microsoft.com/office/drawing/2014/main" id="{3FFA342B-2BE9-70B9-7922-19621F9E60A3}"/>
              </a:ext>
            </a:extLst>
          </p:cNvPr>
          <p:cNvSpPr txBox="1"/>
          <p:nvPr/>
        </p:nvSpPr>
        <p:spPr>
          <a:xfrm>
            <a:off x="7808107" y="1366461"/>
            <a:ext cx="234950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Upsell to</a:t>
            </a:r>
          </a:p>
        </p:txBody>
      </p:sp>
      <p:cxnSp>
        <p:nvCxnSpPr>
          <p:cNvPr id="15" name="Straight Connector 14">
            <a:extLst>
              <a:ext uri="{FF2B5EF4-FFF2-40B4-BE49-F238E27FC236}">
                <a16:creationId xmlns:a16="http://schemas.microsoft.com/office/drawing/2014/main" id="{39A87ADA-7836-2379-0951-22FFFC1EC4FD}"/>
              </a:ext>
            </a:extLst>
          </p:cNvPr>
          <p:cNvCxnSpPr>
            <a:cxnSpLocks/>
          </p:cNvCxnSpPr>
          <p:nvPr/>
        </p:nvCxnSpPr>
        <p:spPr>
          <a:xfrm>
            <a:off x="317219" y="3435544"/>
            <a:ext cx="9840388"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5ADA0C94-9582-FF3B-D4CE-DAA39BE4A8BA}"/>
              </a:ext>
            </a:extLst>
          </p:cNvPr>
          <p:cNvSpPr/>
          <p:nvPr/>
        </p:nvSpPr>
        <p:spPr bwMode="auto">
          <a:xfrm>
            <a:off x="10314141" y="1823095"/>
            <a:ext cx="1654340" cy="3208684"/>
          </a:xfrm>
          <a:prstGeom prst="roundRect">
            <a:avLst>
              <a:gd name="adj" fmla="val 6227"/>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Upsell Microsoft 365 Business Premium customers to </a:t>
            </a:r>
            <a:r>
              <a:rPr kumimoji="0" lang="en-US" sz="1400" b="0" i="0" u="none" strike="noStrike" kern="1200" cap="none" spc="0" normalizeH="0" baseline="0" noProof="0">
                <a:ln>
                  <a:noFill/>
                </a:ln>
                <a:solidFill>
                  <a:srgbClr val="0078D4"/>
                </a:solidFill>
                <a:effectLst/>
                <a:uLnTx/>
                <a:uFillTx/>
                <a:latin typeface="Segoe UI Semibold"/>
                <a:ea typeface="+mn-ea"/>
                <a:cs typeface="+mn-cs"/>
              </a:rPr>
              <a:t>Windows 365</a:t>
            </a:r>
          </a:p>
        </p:txBody>
      </p:sp>
      <p:sp>
        <p:nvSpPr>
          <p:cNvPr id="21" name="Freeform 5">
            <a:extLst>
              <a:ext uri="{FF2B5EF4-FFF2-40B4-BE49-F238E27FC236}">
                <a16:creationId xmlns:a16="http://schemas.microsoft.com/office/drawing/2014/main" id="{D7627E68-67B1-654D-A12A-FFED9C6A6E5E}"/>
              </a:ext>
            </a:extLst>
          </p:cNvPr>
          <p:cNvSpPr>
            <a:spLocks/>
          </p:cNvSpPr>
          <p:nvPr/>
        </p:nvSpPr>
        <p:spPr bwMode="auto">
          <a:xfrm rot="18900000">
            <a:off x="10950867" y="2223956"/>
            <a:ext cx="380888" cy="328913"/>
          </a:xfrm>
          <a:custGeom>
            <a:avLst/>
            <a:gdLst>
              <a:gd name="T0" fmla="*/ 211 w 262"/>
              <a:gd name="T1" fmla="*/ 130 h 235"/>
              <a:gd name="T2" fmla="*/ 211 w 262"/>
              <a:gd name="T3" fmla="*/ 130 h 235"/>
              <a:gd name="T4" fmla="*/ 125 w 262"/>
              <a:gd name="T5" fmla="*/ 216 h 235"/>
              <a:gd name="T6" fmla="*/ 144 w 262"/>
              <a:gd name="T7" fmla="*/ 235 h 235"/>
              <a:gd name="T8" fmla="*/ 262 w 262"/>
              <a:gd name="T9" fmla="*/ 117 h 235"/>
              <a:gd name="T10" fmla="*/ 145 w 262"/>
              <a:gd name="T11" fmla="*/ 0 h 235"/>
              <a:gd name="T12" fmla="*/ 126 w 262"/>
              <a:gd name="T13" fmla="*/ 18 h 235"/>
              <a:gd name="T14" fmla="*/ 211 w 262"/>
              <a:gd name="T15" fmla="*/ 104 h 235"/>
              <a:gd name="T16" fmla="*/ 0 w 262"/>
              <a:gd name="T17" fmla="*/ 104 h 235"/>
              <a:gd name="T18" fmla="*/ 0 w 262"/>
              <a:gd name="T19" fmla="*/ 130 h 235"/>
              <a:gd name="T20" fmla="*/ 211 w 262"/>
              <a:gd name="T21" fmla="*/ 13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35">
                <a:moveTo>
                  <a:pt x="211" y="130"/>
                </a:moveTo>
                <a:lnTo>
                  <a:pt x="211" y="130"/>
                </a:lnTo>
                <a:lnTo>
                  <a:pt x="125" y="216"/>
                </a:lnTo>
                <a:lnTo>
                  <a:pt x="144" y="235"/>
                </a:lnTo>
                <a:lnTo>
                  <a:pt x="262" y="117"/>
                </a:lnTo>
                <a:lnTo>
                  <a:pt x="145" y="0"/>
                </a:lnTo>
                <a:lnTo>
                  <a:pt x="126" y="18"/>
                </a:lnTo>
                <a:lnTo>
                  <a:pt x="211" y="104"/>
                </a:lnTo>
                <a:lnTo>
                  <a:pt x="0" y="104"/>
                </a:lnTo>
                <a:lnTo>
                  <a:pt x="0" y="130"/>
                </a:lnTo>
                <a:lnTo>
                  <a:pt x="211" y="130"/>
                </a:lnTo>
                <a:close/>
              </a:path>
            </a:pathLst>
          </a:custGeom>
          <a:solidFill>
            <a:srgbClr val="0078D4"/>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D06CA52D-5B59-0F69-D540-DA147E8B0530}"/>
              </a:ext>
            </a:extLst>
          </p:cNvPr>
          <p:cNvSpPr txBox="1"/>
          <p:nvPr/>
        </p:nvSpPr>
        <p:spPr>
          <a:xfrm>
            <a:off x="1681318" y="5470628"/>
            <a:ext cx="8219768"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60%</a:t>
            </a:r>
            <a:r>
              <a:rPr kumimoji="0" lang="en-US" sz="2000" b="0" i="0" u="none" strike="noStrike" kern="1200" cap="none" spc="0" normalizeH="0" baseline="0" noProof="0">
                <a:ln>
                  <a:noFill/>
                </a:ln>
                <a:solidFill>
                  <a:srgbClr val="FFFFFF"/>
                </a:solidFill>
                <a:effectLst/>
                <a:uLnTx/>
                <a:uFillTx/>
                <a:latin typeface="Segoe UI" panose="020B0502040204020203" pitchFamily="34" charset="0"/>
                <a:ea typeface="+mn-ea"/>
                <a:cs typeface="+mn-cs"/>
              </a:rPr>
              <a:t> </a:t>
            </a:r>
            <a:br>
              <a:rPr kumimoji="0" lang="en-US" sz="1800" b="0" i="0" u="none" strike="noStrike" kern="1200" cap="none" spc="0" normalizeH="0" baseline="0" noProof="0">
                <a:ln>
                  <a:noFill/>
                </a:ln>
                <a:solidFill>
                  <a:srgbClr val="FFFFFF"/>
                </a:solidFill>
                <a:effectLst/>
                <a:uLnTx/>
                <a:uFillTx/>
                <a:latin typeface="Segoe UI" panose="020B0502040204020203" pitchFamily="34" charset="0"/>
                <a:ea typeface="+mn-ea"/>
                <a:cs typeface="+mn-cs"/>
              </a:rPr>
            </a:br>
            <a:r>
              <a:rPr kumimoji="0" lang="en-US" sz="1600" b="0" i="0" u="none" strike="noStrike" kern="1200" cap="none" spc="0" normalizeH="0" baseline="0" noProof="0">
                <a:ln>
                  <a:noFill/>
                </a:ln>
                <a:solidFill>
                  <a:srgbClr val="FFFFFF"/>
                </a:solidFill>
                <a:effectLst/>
                <a:uLnTx/>
                <a:uFillTx/>
                <a:latin typeface="Segoe UI" panose="020B0502040204020203" pitchFamily="34" charset="0"/>
                <a:ea typeface="+mn-ea"/>
                <a:cs typeface="+mn-cs"/>
              </a:rPr>
              <a:t>of partners surveyed shared that most SMB customers start with a small standalone software deployment and then incrementally add more solutions and services over time.</a:t>
            </a:r>
            <a:r>
              <a:rPr kumimoji="0" lang="en-US" sz="1600" b="0" i="0" u="none" strike="noStrike" kern="1200" cap="none" spc="0" normalizeH="0" baseline="30000" noProof="0">
                <a:ln>
                  <a:noFill/>
                </a:ln>
                <a:solidFill>
                  <a:srgbClr val="FFFFFF"/>
                </a:solidFill>
                <a:effectLst/>
                <a:uLnTx/>
                <a:uFillTx/>
                <a:latin typeface="Segoe UI" panose="020B0502040204020203" pitchFamily="34" charset="0"/>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29" name="Block Arc 28">
            <a:extLst>
              <a:ext uri="{FF2B5EF4-FFF2-40B4-BE49-F238E27FC236}">
                <a16:creationId xmlns:a16="http://schemas.microsoft.com/office/drawing/2014/main" id="{576476F8-1698-AA32-CFDF-0616C879BFF4}"/>
              </a:ext>
            </a:extLst>
          </p:cNvPr>
          <p:cNvSpPr/>
          <p:nvPr/>
        </p:nvSpPr>
        <p:spPr bwMode="auto">
          <a:xfrm rot="16200000">
            <a:off x="804995" y="5557972"/>
            <a:ext cx="738670" cy="738670"/>
          </a:xfrm>
          <a:prstGeom prst="blockArc">
            <a:avLst>
              <a:gd name="adj1" fmla="val 9980819"/>
              <a:gd name="adj2" fmla="val 16155"/>
              <a:gd name="adj3" fmla="val 14484"/>
            </a:avLst>
          </a:prstGeom>
          <a:solidFill>
            <a:schemeClr val="bg1">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Block Arc 29">
            <a:extLst>
              <a:ext uri="{FF2B5EF4-FFF2-40B4-BE49-F238E27FC236}">
                <a16:creationId xmlns:a16="http://schemas.microsoft.com/office/drawing/2014/main" id="{06FC1EC1-5C8E-A439-0F8A-2D51232BC264}"/>
              </a:ext>
            </a:extLst>
          </p:cNvPr>
          <p:cNvSpPr/>
          <p:nvPr/>
        </p:nvSpPr>
        <p:spPr bwMode="auto">
          <a:xfrm rot="5400000">
            <a:off x="804995" y="5557971"/>
            <a:ext cx="738670" cy="738670"/>
          </a:xfrm>
          <a:prstGeom prst="blockArc">
            <a:avLst>
              <a:gd name="adj1" fmla="val 10800000"/>
              <a:gd name="adj2" fmla="val 2038769"/>
              <a:gd name="adj3" fmla="val 14365"/>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1" name="TextBox 30">
            <a:extLst>
              <a:ext uri="{FF2B5EF4-FFF2-40B4-BE49-F238E27FC236}">
                <a16:creationId xmlns:a16="http://schemas.microsoft.com/office/drawing/2014/main" id="{75F38701-3681-FEA4-FA7E-0985A319BA53}"/>
              </a:ext>
            </a:extLst>
          </p:cNvPr>
          <p:cNvSpPr txBox="1"/>
          <p:nvPr/>
        </p:nvSpPr>
        <p:spPr>
          <a:xfrm>
            <a:off x="588263" y="165734"/>
            <a:ext cx="6702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01</a:t>
            </a:r>
          </a:p>
        </p:txBody>
      </p:sp>
      <p:sp>
        <p:nvSpPr>
          <p:cNvPr id="10" name="TextBox 9">
            <a:extLst>
              <a:ext uri="{FF2B5EF4-FFF2-40B4-BE49-F238E27FC236}">
                <a16:creationId xmlns:a16="http://schemas.microsoft.com/office/drawing/2014/main" id="{B1D5A3FC-0D35-3738-BDA7-1C181FD7C734}"/>
              </a:ext>
            </a:extLst>
          </p:cNvPr>
          <p:cNvSpPr txBox="1"/>
          <p:nvPr/>
        </p:nvSpPr>
        <p:spPr>
          <a:xfrm>
            <a:off x="720212" y="6488155"/>
            <a:ext cx="7215474" cy="53860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0E6FF"/>
                </a:solidFill>
                <a:effectLst/>
                <a:uLnTx/>
                <a:uFillTx/>
                <a:latin typeface="Segoe UI" panose="020B0502040204020203" pitchFamily="34" charset="0"/>
                <a:ea typeface="+mn-ea"/>
                <a:cs typeface="+mn-cs"/>
              </a:rPr>
              <a:t>1. </a:t>
            </a:r>
            <a:r>
              <a:rPr kumimoji="0" lang="en-US" sz="1100" b="0" i="0" u="none" strike="noStrike" kern="1200" cap="none" spc="0" normalizeH="0" baseline="0" noProof="0">
                <a:ln>
                  <a:noFill/>
                </a:ln>
                <a:solidFill>
                  <a:srgbClr val="50E6FF"/>
                </a:solidFill>
                <a:effectLst/>
                <a:uLnTx/>
                <a:uFillTx/>
                <a:latin typeface="Segoe UI"/>
                <a:ea typeface="+mn-ea"/>
                <a:cs typeface="Segoe UI Semibold"/>
                <a:hlinkClick r:id="rId3">
                  <a:extLst>
                    <a:ext uri="{A12FA001-AC4F-418D-AE19-62706E023703}">
                      <ahyp:hlinkClr xmlns:ahyp="http://schemas.microsoft.com/office/drawing/2018/hyperlinkcolor" val="tx"/>
                    </a:ext>
                  </a:extLst>
                </a:hlinkClick>
              </a:rPr>
              <a:t>Meeting the Changing Software Technology Needs of SMBs, Forrester Consulting, September 2022</a:t>
            </a:r>
            <a:endParaRPr kumimoji="0" lang="en-US" sz="1100" b="0" i="0" u="none" strike="noStrike" kern="1200" cap="none" spc="0" normalizeH="0" baseline="0" noProof="0">
              <a:ln>
                <a:noFill/>
              </a:ln>
              <a:solidFill>
                <a:srgbClr val="50E6FF"/>
              </a:solidFill>
              <a:effectLst/>
              <a:uLnTx/>
              <a:uFillTx/>
              <a:latin typeface="Segoe UI"/>
              <a:ea typeface="+mn-ea"/>
              <a:cs typeface="Segoe UI Semi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a:ln>
                <a:noFill/>
              </a:ln>
              <a:solidFill>
                <a:srgbClr val="50E6FF"/>
              </a:solidFill>
              <a:effectLst/>
              <a:uLnTx/>
              <a:uFillTx/>
              <a:latin typeface="Segoe UI"/>
              <a:ea typeface="+mn-ea"/>
              <a:cs typeface="+mn-cs"/>
            </a:endParaRPr>
          </a:p>
        </p:txBody>
      </p:sp>
    </p:spTree>
    <p:extLst>
      <p:ext uri="{BB962C8B-B14F-4D97-AF65-F5344CB8AC3E}">
        <p14:creationId xmlns:p14="http://schemas.microsoft.com/office/powerpoint/2010/main" val="240034912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AA84D33A-E088-5FB8-E2CD-3DEACD0A0C72}"/>
              </a:ext>
            </a:extLst>
          </p:cNvPr>
          <p:cNvSpPr/>
          <p:nvPr/>
        </p:nvSpPr>
        <p:spPr bwMode="auto">
          <a:xfrm>
            <a:off x="1011966" y="4795924"/>
            <a:ext cx="2009782" cy="575886"/>
          </a:xfrm>
          <a:prstGeom prst="roundRect">
            <a:avLst>
              <a:gd name="adj" fmla="val 11026"/>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132B084B-3B5C-4FF5-3599-2E3916D165B6}"/>
              </a:ext>
            </a:extLst>
          </p:cNvPr>
          <p:cNvSpPr/>
          <p:nvPr/>
        </p:nvSpPr>
        <p:spPr bwMode="auto">
          <a:xfrm>
            <a:off x="1011966" y="4569844"/>
            <a:ext cx="2009782" cy="193776"/>
          </a:xfrm>
          <a:prstGeom prst="roundRect">
            <a:avLst>
              <a:gd name="adj" fmla="val 3277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5" name="Rectangle: Rounded Corners 24">
            <a:extLst>
              <a:ext uri="{FF2B5EF4-FFF2-40B4-BE49-F238E27FC236}">
                <a16:creationId xmlns:a16="http://schemas.microsoft.com/office/drawing/2014/main" id="{C51BE974-FD48-502E-1374-C20BF043679A}"/>
              </a:ext>
            </a:extLst>
          </p:cNvPr>
          <p:cNvSpPr/>
          <p:nvPr/>
        </p:nvSpPr>
        <p:spPr bwMode="auto">
          <a:xfrm>
            <a:off x="1011966" y="4169237"/>
            <a:ext cx="2009782" cy="368303"/>
          </a:xfrm>
          <a:prstGeom prst="roundRect">
            <a:avLst>
              <a:gd name="adj" fmla="val 17241"/>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Rectangle: Rounded Corners 33">
            <a:extLst>
              <a:ext uri="{FF2B5EF4-FFF2-40B4-BE49-F238E27FC236}">
                <a16:creationId xmlns:a16="http://schemas.microsoft.com/office/drawing/2014/main" id="{1B04AF5F-3E85-9908-6BA4-21B57ABA6B46}"/>
              </a:ext>
            </a:extLst>
          </p:cNvPr>
          <p:cNvSpPr/>
          <p:nvPr/>
        </p:nvSpPr>
        <p:spPr bwMode="auto">
          <a:xfrm>
            <a:off x="1011966" y="2976038"/>
            <a:ext cx="2009782" cy="221616"/>
          </a:xfrm>
          <a:prstGeom prst="roundRect">
            <a:avLst>
              <a:gd name="adj" fmla="val 28653"/>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Rectangle: Rounded Corners 34">
            <a:extLst>
              <a:ext uri="{FF2B5EF4-FFF2-40B4-BE49-F238E27FC236}">
                <a16:creationId xmlns:a16="http://schemas.microsoft.com/office/drawing/2014/main" id="{AE764B3E-4B60-0D75-8EAF-315F9F5EE4A8}"/>
              </a:ext>
            </a:extLst>
          </p:cNvPr>
          <p:cNvSpPr/>
          <p:nvPr/>
        </p:nvSpPr>
        <p:spPr bwMode="auto">
          <a:xfrm>
            <a:off x="1011966" y="3229958"/>
            <a:ext cx="2009782" cy="368303"/>
          </a:xfrm>
          <a:prstGeom prst="roundRect">
            <a:avLst>
              <a:gd name="adj" fmla="val 17241"/>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6" name="Rectangle: Rounded Corners 35">
            <a:extLst>
              <a:ext uri="{FF2B5EF4-FFF2-40B4-BE49-F238E27FC236}">
                <a16:creationId xmlns:a16="http://schemas.microsoft.com/office/drawing/2014/main" id="{9AF82866-F997-1ADD-8A7C-2DE07BAB4AC4}"/>
              </a:ext>
            </a:extLst>
          </p:cNvPr>
          <p:cNvSpPr/>
          <p:nvPr/>
        </p:nvSpPr>
        <p:spPr bwMode="auto">
          <a:xfrm>
            <a:off x="1011966" y="3630565"/>
            <a:ext cx="2009782" cy="506368"/>
          </a:xfrm>
          <a:prstGeom prst="roundRect">
            <a:avLst>
              <a:gd name="adj" fmla="val 1254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Rectangle: Top Corners Rounded 4">
            <a:extLst>
              <a:ext uri="{FF2B5EF4-FFF2-40B4-BE49-F238E27FC236}">
                <a16:creationId xmlns:a16="http://schemas.microsoft.com/office/drawing/2014/main" id="{31875E81-8825-79F0-F77B-3ADF3F95E928}"/>
              </a:ext>
            </a:extLst>
          </p:cNvPr>
          <p:cNvSpPr/>
          <p:nvPr/>
        </p:nvSpPr>
        <p:spPr bwMode="auto">
          <a:xfrm>
            <a:off x="8989765" y="1931758"/>
            <a:ext cx="2009782" cy="2334314"/>
          </a:xfrm>
          <a:prstGeom prst="round2SameRect">
            <a:avLst>
              <a:gd name="adj1" fmla="val 5293"/>
              <a:gd name="adj2" fmla="val 0"/>
            </a:avLst>
          </a:prstGeom>
          <a:noFill/>
          <a:ln>
            <a:gradFill flip="none" rotWithShape="1">
              <a:gsLst>
                <a:gs pos="48000">
                  <a:schemeClr val="accent1"/>
                </a:gs>
                <a:gs pos="100000">
                  <a:schemeClr val="accent1">
                    <a:alpha val="2000"/>
                  </a:schemeClr>
                </a:gs>
              </a:gsLst>
              <a:lin ang="16200000" scaled="1"/>
              <a:tileRect/>
            </a:gra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C0EF3E16-2FE3-84F4-80C7-9359653814CF}"/>
              </a:ext>
            </a:extLst>
          </p:cNvPr>
          <p:cNvSpPr>
            <a:spLocks noGrp="1"/>
          </p:cNvSpPr>
          <p:nvPr>
            <p:ph type="title"/>
          </p:nvPr>
        </p:nvSpPr>
        <p:spPr>
          <a:xfrm>
            <a:off x="588263" y="457200"/>
            <a:ext cx="11018520" cy="430887"/>
          </a:xfrm>
        </p:spPr>
        <p:txBody>
          <a:bodyPr/>
          <a:lstStyle/>
          <a:p>
            <a:r>
              <a:rPr lang="en-US" spc="0">
                <a:ln>
                  <a:noFill/>
                </a:ln>
                <a:solidFill>
                  <a:srgbClr val="000000"/>
                </a:solidFill>
              </a:rPr>
              <a:t>Help SMBs get more out of their tech investments</a:t>
            </a:r>
            <a:endParaRPr lang="en-US"/>
          </a:p>
        </p:txBody>
      </p:sp>
      <p:sp>
        <p:nvSpPr>
          <p:cNvPr id="13" name="TextBox 12">
            <a:extLst>
              <a:ext uri="{FF2B5EF4-FFF2-40B4-BE49-F238E27FC236}">
                <a16:creationId xmlns:a16="http://schemas.microsoft.com/office/drawing/2014/main" id="{BDA721C3-9592-C66C-003D-73323701890C}"/>
              </a:ext>
            </a:extLst>
          </p:cNvPr>
          <p:cNvSpPr txBox="1"/>
          <p:nvPr/>
        </p:nvSpPr>
        <p:spPr>
          <a:xfrm>
            <a:off x="546825" y="1606557"/>
            <a:ext cx="302873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Ad-hoc 3</a:t>
            </a:r>
            <a:r>
              <a:rPr kumimoji="0" lang="en-US" sz="1800" b="0" i="0" u="none" strike="noStrike" kern="1200" cap="none" spc="0" normalizeH="0" baseline="30000" noProof="0">
                <a:ln>
                  <a:noFill/>
                </a:ln>
                <a:solidFill>
                  <a:srgbClr val="0078D4"/>
                </a:solidFill>
                <a:effectLst/>
                <a:uLnTx/>
                <a:uFillTx/>
                <a:latin typeface="Segoe UI Semibold"/>
                <a:ea typeface="+mn-ea"/>
                <a:cs typeface="+mn-cs"/>
              </a:rPr>
              <a:t>rd</a:t>
            </a:r>
            <a:r>
              <a:rPr kumimoji="0" lang="en-US" sz="1800" b="0" i="0" u="none" strike="noStrike" kern="1200" cap="none" spc="0" normalizeH="0" baseline="0" noProof="0">
                <a:ln>
                  <a:noFill/>
                </a:ln>
                <a:solidFill>
                  <a:srgbClr val="0078D4"/>
                </a:solidFill>
                <a:effectLst/>
                <a:uLnTx/>
                <a:uFillTx/>
                <a:latin typeface="Segoe UI Semibold"/>
                <a:ea typeface="+mn-ea"/>
                <a:cs typeface="+mn-cs"/>
              </a:rPr>
              <a:t> party solutions</a:t>
            </a:r>
          </a:p>
        </p:txBody>
      </p:sp>
      <p:sp>
        <p:nvSpPr>
          <p:cNvPr id="12" name="TextBox 11">
            <a:extLst>
              <a:ext uri="{FF2B5EF4-FFF2-40B4-BE49-F238E27FC236}">
                <a16:creationId xmlns:a16="http://schemas.microsoft.com/office/drawing/2014/main" id="{B9E49EE1-601A-0E9A-5735-7012249D2288}"/>
              </a:ext>
            </a:extLst>
          </p:cNvPr>
          <p:cNvSpPr txBox="1"/>
          <p:nvPr/>
        </p:nvSpPr>
        <p:spPr>
          <a:xfrm>
            <a:off x="4996740" y="1606557"/>
            <a:ext cx="172189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Customer needs</a:t>
            </a:r>
          </a:p>
        </p:txBody>
      </p:sp>
      <p:sp>
        <p:nvSpPr>
          <p:cNvPr id="8" name="Rectangle: Rounded Corners 7">
            <a:extLst>
              <a:ext uri="{FF2B5EF4-FFF2-40B4-BE49-F238E27FC236}">
                <a16:creationId xmlns:a16="http://schemas.microsoft.com/office/drawing/2014/main" id="{B37F3D7E-DFF5-95EB-EEED-D60274D2116E}"/>
              </a:ext>
            </a:extLst>
          </p:cNvPr>
          <p:cNvSpPr/>
          <p:nvPr/>
        </p:nvSpPr>
        <p:spPr bwMode="auto">
          <a:xfrm>
            <a:off x="4652825" y="2569818"/>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Single sign on</a:t>
            </a:r>
            <a:endParaRPr kumimoji="0" lang="en-US" sz="1800" b="0" i="0" u="none" strike="noStrike" kern="1200" cap="none" spc="0" normalizeH="0" baseline="0" noProof="0">
              <a:ln>
                <a:noFill/>
              </a:ln>
              <a:solidFill>
                <a:sysClr val="windowText" lastClr="000000"/>
              </a:solidFill>
              <a:effectLst/>
              <a:uLnTx/>
              <a:uFillTx/>
              <a:latin typeface="Segoe UI Semibold"/>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F78FC34-1912-CCEA-04AD-4C50D81B51E6}"/>
              </a:ext>
            </a:extLst>
          </p:cNvPr>
          <p:cNvSpPr/>
          <p:nvPr/>
        </p:nvSpPr>
        <p:spPr bwMode="auto">
          <a:xfrm>
            <a:off x="4652825" y="3030932"/>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Conditional Access</a:t>
            </a:r>
            <a:r>
              <a:rPr kumimoji="0" lang="en-US" sz="1800" b="0" i="0" u="none" strike="noStrike" kern="1200" cap="none" spc="0" normalizeH="0" baseline="0" noProof="0">
                <a:ln>
                  <a:noFill/>
                </a:ln>
                <a:solidFill>
                  <a:sysClr val="windowText" lastClr="000000"/>
                </a:solidFill>
                <a:effectLst/>
                <a:uLnTx/>
                <a:uFillTx/>
                <a:latin typeface="Segoe UI Semibold"/>
                <a:ea typeface="+mn-ea"/>
                <a:cs typeface="+mn-cs"/>
              </a:rPr>
              <a:t> </a:t>
            </a: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 MFA</a:t>
            </a:r>
          </a:p>
        </p:txBody>
      </p:sp>
      <p:sp>
        <p:nvSpPr>
          <p:cNvPr id="6" name="Rectangle: Rounded Corners 5">
            <a:extLst>
              <a:ext uri="{FF2B5EF4-FFF2-40B4-BE49-F238E27FC236}">
                <a16:creationId xmlns:a16="http://schemas.microsoft.com/office/drawing/2014/main" id="{6061156C-52A2-3913-36BD-9B6993A830CC}"/>
              </a:ext>
            </a:extLst>
          </p:cNvPr>
          <p:cNvSpPr/>
          <p:nvPr/>
        </p:nvSpPr>
        <p:spPr bwMode="auto">
          <a:xfrm>
            <a:off x="4652825" y="3492046"/>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Endpoint anti-virus</a:t>
            </a:r>
            <a:r>
              <a:rPr kumimoji="0" lang="en-US" sz="1800" b="0" i="0" u="none" strike="noStrike" kern="1200" cap="none" spc="0" normalizeH="0" baseline="0" noProof="0">
                <a:ln>
                  <a:noFill/>
                </a:ln>
                <a:solidFill>
                  <a:sysClr val="windowText" lastClr="000000"/>
                </a:solidFill>
                <a:effectLst/>
                <a:uLnTx/>
                <a:uFillTx/>
                <a:latin typeface="Segoe UI Semibold"/>
                <a:ea typeface="+mn-ea"/>
                <a:cs typeface="+mn-cs"/>
              </a:rPr>
              <a:t> </a:t>
            </a: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protection</a:t>
            </a:r>
            <a:endParaRPr kumimoji="0" lang="en-US" sz="1800" b="0" i="0" u="none" strike="noStrike" kern="1200" cap="none" spc="0" normalizeH="0" baseline="0" noProof="0">
              <a:ln>
                <a:noFill/>
              </a:ln>
              <a:solidFill>
                <a:sysClr val="windowText" lastClr="000000"/>
              </a:solidFill>
              <a:effectLst/>
              <a:uLnTx/>
              <a:uFillTx/>
              <a:latin typeface="Segoe UI Semibold"/>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85E91EDD-6CB7-996D-FAF9-9FAAEF4868B0}"/>
              </a:ext>
            </a:extLst>
          </p:cNvPr>
          <p:cNvSpPr/>
          <p:nvPr/>
        </p:nvSpPr>
        <p:spPr bwMode="auto">
          <a:xfrm>
            <a:off x="4652825" y="3953160"/>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EDR</a:t>
            </a:r>
          </a:p>
        </p:txBody>
      </p:sp>
      <p:sp>
        <p:nvSpPr>
          <p:cNvPr id="10" name="Rectangle: Rounded Corners 9">
            <a:extLst>
              <a:ext uri="{FF2B5EF4-FFF2-40B4-BE49-F238E27FC236}">
                <a16:creationId xmlns:a16="http://schemas.microsoft.com/office/drawing/2014/main" id="{815BB9BE-7C3E-28E7-D1A6-388BEA531676}"/>
              </a:ext>
            </a:extLst>
          </p:cNvPr>
          <p:cNvSpPr/>
          <p:nvPr/>
        </p:nvSpPr>
        <p:spPr bwMode="auto">
          <a:xfrm>
            <a:off x="4652825" y="4414274"/>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Device management</a:t>
            </a:r>
          </a:p>
        </p:txBody>
      </p:sp>
      <p:sp>
        <p:nvSpPr>
          <p:cNvPr id="4" name="Rectangle: Rounded Corners 3">
            <a:extLst>
              <a:ext uri="{FF2B5EF4-FFF2-40B4-BE49-F238E27FC236}">
                <a16:creationId xmlns:a16="http://schemas.microsoft.com/office/drawing/2014/main" id="{C014FBEF-BAD9-6968-DED5-D4E9B97A8DD1}"/>
              </a:ext>
            </a:extLst>
          </p:cNvPr>
          <p:cNvSpPr/>
          <p:nvPr/>
        </p:nvSpPr>
        <p:spPr bwMode="auto">
          <a:xfrm>
            <a:off x="4652825" y="4875388"/>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30000" noProof="0">
                <a:ln>
                  <a:noFill/>
                </a:ln>
                <a:solidFill>
                  <a:sysClr val="windowText" lastClr="000000"/>
                </a:solidFill>
                <a:effectLst/>
                <a:uLnTx/>
                <a:uFillTx/>
                <a:latin typeface="Segoe UI Semibold"/>
                <a:ea typeface="+mn-ea"/>
                <a:cs typeface="+mn-cs"/>
              </a:rPr>
              <a:t>Productivity apps and file storage</a:t>
            </a:r>
          </a:p>
        </p:txBody>
      </p:sp>
      <p:sp>
        <p:nvSpPr>
          <p:cNvPr id="3" name="Rectangle: Rounded Corners 2">
            <a:extLst>
              <a:ext uri="{FF2B5EF4-FFF2-40B4-BE49-F238E27FC236}">
                <a16:creationId xmlns:a16="http://schemas.microsoft.com/office/drawing/2014/main" id="{AF9D2502-102C-93C3-D6E4-E49F4BB79890}"/>
              </a:ext>
            </a:extLst>
          </p:cNvPr>
          <p:cNvSpPr/>
          <p:nvPr/>
        </p:nvSpPr>
        <p:spPr bwMode="auto">
          <a:xfrm>
            <a:off x="4645653" y="5336504"/>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30000" noProof="0">
                <a:ln>
                  <a:noFill/>
                </a:ln>
                <a:solidFill>
                  <a:sysClr val="windowText" lastClr="000000"/>
                </a:solidFill>
                <a:effectLst/>
                <a:uLnTx/>
                <a:uFillTx/>
                <a:latin typeface="Segoe UI Semibold"/>
                <a:ea typeface="+mn-ea"/>
                <a:cs typeface="+mn-cs"/>
              </a:rPr>
              <a:t>Chat based collaboration</a:t>
            </a:r>
            <a:endPar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endParaRPr>
          </a:p>
        </p:txBody>
      </p:sp>
      <p:sp>
        <p:nvSpPr>
          <p:cNvPr id="14" name="TextBox 13">
            <a:extLst>
              <a:ext uri="{FF2B5EF4-FFF2-40B4-BE49-F238E27FC236}">
                <a16:creationId xmlns:a16="http://schemas.microsoft.com/office/drawing/2014/main" id="{5D5C2A3F-6B60-D82F-DDAF-8C857F756E91}"/>
              </a:ext>
            </a:extLst>
          </p:cNvPr>
          <p:cNvSpPr txBox="1"/>
          <p:nvPr/>
        </p:nvSpPr>
        <p:spPr>
          <a:xfrm>
            <a:off x="8951665" y="1606557"/>
            <a:ext cx="2110035"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Partner + Microsoft</a:t>
            </a:r>
          </a:p>
        </p:txBody>
      </p:sp>
      <p:cxnSp>
        <p:nvCxnSpPr>
          <p:cNvPr id="20" name="Straight Connector 19">
            <a:extLst>
              <a:ext uri="{FF2B5EF4-FFF2-40B4-BE49-F238E27FC236}">
                <a16:creationId xmlns:a16="http://schemas.microsoft.com/office/drawing/2014/main" id="{B50D9815-6A94-202A-C59C-400E3A4D6E82}"/>
              </a:ext>
              <a:ext uri="{C183D7F6-B498-43B3-948B-1728B52AA6E4}">
                <adec:decorative xmlns:adec="http://schemas.microsoft.com/office/drawing/2017/decorative" val="1"/>
              </a:ext>
            </a:extLst>
          </p:cNvPr>
          <p:cNvCxnSpPr>
            <a:cxnSpLocks/>
          </p:cNvCxnSpPr>
          <p:nvPr/>
        </p:nvCxnSpPr>
        <p:spPr>
          <a:xfrm>
            <a:off x="8541681" y="5772417"/>
            <a:ext cx="2935713"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53231AC-FA96-4BE5-6A92-49A84F971B86}"/>
              </a:ext>
            </a:extLst>
          </p:cNvPr>
          <p:cNvSpPr txBox="1"/>
          <p:nvPr/>
        </p:nvSpPr>
        <p:spPr>
          <a:xfrm>
            <a:off x="9116936" y="2437112"/>
            <a:ext cx="1886802" cy="1203711"/>
          </a:xfrm>
          <a:prstGeom prst="rect">
            <a:avLst/>
          </a:prstGeom>
          <a:noFill/>
        </p:spPr>
        <p:txBody>
          <a:bodyPr wrap="square" lIns="0" tIns="143407" rIns="179259" bIns="143407" rtlCol="0" anchor="t">
            <a:spAutoFit/>
          </a:bodyPr>
          <a:lstStyle/>
          <a:p>
            <a:pPr marL="0" marR="0" lvl="0" indent="0" algn="l" defTabSz="914139" rtl="0" eaLnBrk="1" fontAlgn="auto" latinLnBrk="0" hangingPunct="1">
              <a:lnSpc>
                <a:spcPct val="80000"/>
              </a:lnSpc>
              <a:spcBef>
                <a:spcPts val="0"/>
              </a:spcBef>
              <a:spcAft>
                <a:spcPts val="588"/>
              </a:spcAft>
              <a:buClrTx/>
              <a:buSzTx/>
              <a:buFontTx/>
              <a:buNone/>
              <a:tabLst/>
              <a:defRPr/>
            </a:pPr>
            <a:r>
              <a:rPr kumimoji="0" lang="en-AU" sz="2000" b="0" i="0" u="none" strike="noStrike" kern="1200" cap="none" spc="0" normalizeH="0" baseline="0" noProof="0">
                <a:ln>
                  <a:noFill/>
                </a:ln>
                <a:solidFill>
                  <a:srgbClr val="0078D4"/>
                </a:solidFill>
                <a:effectLst/>
                <a:uLnTx/>
                <a:uFillTx/>
                <a:latin typeface="Segoe UI Semibold"/>
                <a:ea typeface="+mn-ea"/>
                <a:cs typeface="+mn-cs"/>
              </a:rPr>
              <a:t>Do More</a:t>
            </a:r>
            <a:endParaRPr kumimoji="0" lang="en-AU" sz="2000" b="0" i="0" u="none" strike="noStrike" kern="1200" cap="none" spc="0" normalizeH="0" baseline="0" noProof="0">
              <a:ln>
                <a:noFill/>
              </a:ln>
              <a:solidFill>
                <a:srgbClr val="000000"/>
              </a:solidFill>
              <a:effectLst/>
              <a:uLnTx/>
              <a:uFillTx/>
              <a:latin typeface="Segoe UI Semibold"/>
              <a:ea typeface="+mn-ea"/>
              <a:cs typeface="+mn-cs"/>
            </a:endParaRPr>
          </a:p>
          <a:p>
            <a:pPr marL="0" marR="0" lvl="0" indent="0" algn="l" defTabSz="914139" rtl="0" eaLnBrk="1" fontAlgn="auto" latinLnBrk="0" hangingPunct="1">
              <a:lnSpc>
                <a:spcPct val="80000"/>
              </a:lnSpc>
              <a:spcBef>
                <a:spcPts val="0"/>
              </a:spcBef>
              <a:spcAft>
                <a:spcPts val="588"/>
              </a:spcAft>
              <a:buClrTx/>
              <a:buSzTx/>
              <a:buFontTx/>
              <a:buNone/>
              <a:tabLst/>
              <a:defRPr/>
            </a:pPr>
            <a:r>
              <a:rPr kumimoji="0" lang="en-AU" sz="1200" b="0" i="0" u="none" strike="noStrike" kern="1200" cap="none" spc="0" normalizeH="0" baseline="0" noProof="0">
                <a:ln>
                  <a:noFill/>
                </a:ln>
                <a:solidFill>
                  <a:srgbClr val="000000"/>
                </a:solidFill>
                <a:effectLst/>
                <a:uLnTx/>
                <a:uFillTx/>
                <a:latin typeface="Segoe UI"/>
                <a:ea typeface="+mn-ea"/>
                <a:cs typeface="+mn-cs"/>
              </a:rPr>
              <a:t>Offer managed services to customers to realize value of the solution and be more effective</a:t>
            </a:r>
            <a:endParaRPr kumimoji="0" lang="en-US" sz="20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27" name="Picture 26">
            <a:extLst>
              <a:ext uri="{FF2B5EF4-FFF2-40B4-BE49-F238E27FC236}">
                <a16:creationId xmlns:a16="http://schemas.microsoft.com/office/drawing/2014/main" id="{291C4648-274D-5734-00DA-18AFA186674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75433" y="3820445"/>
            <a:ext cx="487680" cy="487680"/>
          </a:xfrm>
          <a:prstGeom prst="rect">
            <a:avLst/>
          </a:prstGeom>
        </p:spPr>
      </p:pic>
      <p:pic>
        <p:nvPicPr>
          <p:cNvPr id="30" name="Picture 29">
            <a:extLst>
              <a:ext uri="{FF2B5EF4-FFF2-40B4-BE49-F238E27FC236}">
                <a16:creationId xmlns:a16="http://schemas.microsoft.com/office/drawing/2014/main" id="{2591BF6D-07B1-09E6-FBA9-A0C1CC66FAE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rot="10800000">
            <a:off x="7893980" y="4896766"/>
            <a:ext cx="487680" cy="487680"/>
          </a:xfrm>
          <a:prstGeom prst="rect">
            <a:avLst/>
          </a:prstGeom>
        </p:spPr>
      </p:pic>
      <p:sp>
        <p:nvSpPr>
          <p:cNvPr id="32" name="TextBox 31">
            <a:extLst>
              <a:ext uri="{FF2B5EF4-FFF2-40B4-BE49-F238E27FC236}">
                <a16:creationId xmlns:a16="http://schemas.microsoft.com/office/drawing/2014/main" id="{A47AA974-53C1-64AB-BD60-CD2352E077C0}"/>
              </a:ext>
            </a:extLst>
          </p:cNvPr>
          <p:cNvSpPr txBox="1"/>
          <p:nvPr/>
        </p:nvSpPr>
        <p:spPr>
          <a:xfrm>
            <a:off x="7498234" y="3947328"/>
            <a:ext cx="1516330" cy="954412"/>
          </a:xfrm>
          <a:prstGeom prst="rect">
            <a:avLst/>
          </a:prstGeom>
          <a:noFill/>
        </p:spPr>
        <p:txBody>
          <a:bodyPr wrap="square" lIns="0" tIns="143407" rIns="179259" bIns="143407" rtlCol="0" anchor="t">
            <a:spAutoFit/>
          </a:bodyPr>
          <a:lstStyle/>
          <a:p>
            <a:pPr marL="0" marR="0" lvl="0" indent="0" algn="l" defTabSz="932508" rtl="0" eaLnBrk="1" fontAlgn="auto" latinLnBrk="0" hangingPunct="1">
              <a:lnSpc>
                <a:spcPct val="9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000000"/>
                </a:solidFill>
                <a:effectLst/>
                <a:uLnTx/>
                <a:uFillTx/>
                <a:latin typeface="Segoe UI"/>
                <a:ea typeface="+mn-ea"/>
                <a:cs typeface="+mn-cs"/>
              </a:rPr>
              <a:t>Realize cost savings for SMBs by consolidating onto Business Premium</a:t>
            </a:r>
            <a:endParaRPr kumimoji="0" lang="en-US" sz="2000" b="0" i="0" u="none" strike="noStrike" kern="1200" cap="none" spc="0" normalizeH="0" baseline="0" noProof="0">
              <a:ln>
                <a:noFill/>
              </a:ln>
              <a:solidFill>
                <a:srgbClr val="0078D4"/>
              </a:solidFill>
              <a:effectLst/>
              <a:uLnTx/>
              <a:uFillTx/>
              <a:latin typeface="Segoe UI Semibold"/>
              <a:ea typeface="+mn-ea"/>
              <a:cs typeface="+mn-cs"/>
            </a:endParaRPr>
          </a:p>
        </p:txBody>
      </p:sp>
      <p:grpSp>
        <p:nvGrpSpPr>
          <p:cNvPr id="23" name="Group 22" descr="Microsoft 365 Business Premium&#10;$22 per mo.">
            <a:extLst>
              <a:ext uri="{FF2B5EF4-FFF2-40B4-BE49-F238E27FC236}">
                <a16:creationId xmlns:a16="http://schemas.microsoft.com/office/drawing/2014/main" id="{5C811B32-B87C-920D-73A9-73D3C1EFCCAE}"/>
              </a:ext>
              <a:ext uri="{C183D7F6-B498-43B3-948B-1728B52AA6E4}">
                <adec:decorative xmlns:adec="http://schemas.microsoft.com/office/drawing/2017/decorative" val="0"/>
              </a:ext>
            </a:extLst>
          </p:cNvPr>
          <p:cNvGrpSpPr/>
          <p:nvPr/>
        </p:nvGrpSpPr>
        <p:grpSpPr>
          <a:xfrm>
            <a:off x="8989765" y="4136933"/>
            <a:ext cx="2009782" cy="1635484"/>
            <a:chOff x="8300806" y="4210599"/>
            <a:chExt cx="1858209" cy="1635484"/>
          </a:xfrm>
        </p:grpSpPr>
        <p:sp>
          <p:nvSpPr>
            <p:cNvPr id="21" name="Rectangle: Top Corners Rounded 20">
              <a:extLst>
                <a:ext uri="{FF2B5EF4-FFF2-40B4-BE49-F238E27FC236}">
                  <a16:creationId xmlns:a16="http://schemas.microsoft.com/office/drawing/2014/main" id="{71F3F3F7-4942-9801-5B54-ABF0E06B58BB}"/>
                </a:ext>
              </a:extLst>
            </p:cNvPr>
            <p:cNvSpPr/>
            <p:nvPr/>
          </p:nvSpPr>
          <p:spPr bwMode="auto">
            <a:xfrm>
              <a:off x="8300806" y="4210599"/>
              <a:ext cx="1858209" cy="1635484"/>
            </a:xfrm>
            <a:prstGeom prst="round2SameRect">
              <a:avLst>
                <a:gd name="adj1" fmla="val 0"/>
                <a:gd name="adj2" fmla="val 8788"/>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3508455E-4301-2B2F-AF8A-357F9747C1CC}"/>
                </a:ext>
              </a:extLst>
            </p:cNvPr>
            <p:cNvSpPr txBox="1"/>
            <p:nvPr/>
          </p:nvSpPr>
          <p:spPr>
            <a:xfrm>
              <a:off x="8557300" y="4852549"/>
              <a:ext cx="1311172" cy="979034"/>
            </a:xfrm>
            <a:prstGeom prst="rect">
              <a:avLst/>
            </a:prstGeom>
            <a:noFill/>
          </p:spPr>
          <p:txBody>
            <a:bodyPr wrap="square" lIns="179259" tIns="143407" rIns="179259" bIns="143407" rtlCol="0">
              <a:spAutoFit/>
            </a:bodyPr>
            <a:lstStyle/>
            <a:p>
              <a:pPr marL="0" marR="0" lvl="0" indent="0" algn="ctr" defTabSz="914139" rtl="0" eaLnBrk="1" fontAlgn="auto" latinLnBrk="0" hangingPunct="1">
                <a:lnSpc>
                  <a:spcPct val="80000"/>
                </a:lnSpc>
                <a:spcBef>
                  <a:spcPts val="0"/>
                </a:spcBef>
                <a:spcAft>
                  <a:spcPts val="588"/>
                </a:spcAft>
                <a:buClrTx/>
                <a:buSzTx/>
                <a:buFontTx/>
                <a:buNone/>
                <a:tabLst/>
                <a:defRPr/>
              </a:pPr>
              <a:r>
                <a:rPr kumimoji="0" lang="en-AU" sz="4000" b="0" i="0" u="none" strike="noStrike" kern="1200" cap="none" spc="-147" normalizeH="0" baseline="0" noProof="0">
                  <a:ln>
                    <a:noFill/>
                  </a:ln>
                  <a:solidFill>
                    <a:srgbClr val="FFFFFF"/>
                  </a:solidFill>
                  <a:effectLst/>
                  <a:uLnTx/>
                  <a:uFillTx/>
                  <a:latin typeface="Segoe UI Semibold"/>
                  <a:ea typeface="+mn-ea"/>
                  <a:cs typeface="+mn-cs"/>
                </a:rPr>
                <a:t>$22</a:t>
              </a:r>
              <a:br>
                <a:rPr kumimoji="0" lang="en-AU" sz="4000" b="0" i="0" u="none" strike="noStrike" kern="1200" cap="none" spc="-147" normalizeH="0" baseline="0" noProof="0">
                  <a:ln>
                    <a:noFill/>
                  </a:ln>
                  <a:solidFill>
                    <a:srgbClr val="FFFFFF"/>
                  </a:solidFill>
                  <a:effectLst/>
                  <a:uLnTx/>
                  <a:uFillTx/>
                  <a:latin typeface="Segoe UI Semibold"/>
                  <a:ea typeface="+mn-ea"/>
                  <a:cs typeface="+mn-cs"/>
                </a:rPr>
              </a:br>
              <a:r>
                <a:rPr kumimoji="0" lang="en-AU" sz="1600" b="0" i="0" u="none" strike="noStrike" kern="1200" cap="none" spc="0" normalizeH="0" baseline="0" noProof="0">
                  <a:ln>
                    <a:noFill/>
                  </a:ln>
                  <a:solidFill>
                    <a:srgbClr val="FFFFFF"/>
                  </a:solidFill>
                  <a:effectLst/>
                  <a:uLnTx/>
                  <a:uFillTx/>
                  <a:latin typeface="Segoe UI Semibold"/>
                  <a:ea typeface="+mn-ea"/>
                  <a:cs typeface="+mn-cs"/>
                </a:rPr>
                <a:t>per mo.</a:t>
              </a:r>
              <a:endParaRPr kumimoji="0" lang="en-US" sz="3600" b="0" i="0" u="none" strike="noStrike" kern="1200" cap="none" spc="0" normalizeH="0" baseline="30000" noProof="0">
                <a:ln>
                  <a:noFill/>
                </a:ln>
                <a:solidFill>
                  <a:srgbClr val="FFFFFF"/>
                </a:solidFill>
                <a:effectLst/>
                <a:uLnTx/>
                <a:uFillTx/>
                <a:latin typeface="Segoe UI Semibold"/>
                <a:ea typeface="+mn-ea"/>
                <a:cs typeface="+mn-cs"/>
              </a:endParaRPr>
            </a:p>
          </p:txBody>
        </p:sp>
        <p:sp>
          <p:nvSpPr>
            <p:cNvPr id="24" name="TextBox 23">
              <a:extLst>
                <a:ext uri="{FF2B5EF4-FFF2-40B4-BE49-F238E27FC236}">
                  <a16:creationId xmlns:a16="http://schemas.microsoft.com/office/drawing/2014/main" id="{805A313F-CBD8-58C1-2FA7-AAE8BE8B8B42}"/>
                </a:ext>
              </a:extLst>
            </p:cNvPr>
            <p:cNvSpPr txBox="1"/>
            <p:nvPr/>
          </p:nvSpPr>
          <p:spPr>
            <a:xfrm>
              <a:off x="8300806" y="4354238"/>
              <a:ext cx="185820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FFFFFF"/>
                  </a:solidFill>
                  <a:effectLst/>
                  <a:uLnTx/>
                  <a:uFillTx/>
                  <a:latin typeface="Segoe UI Semibold"/>
                  <a:ea typeface="+mn-ea"/>
                  <a:cs typeface="+mn-cs"/>
                </a:rPr>
                <a:t>Microsoft 365 Business Premium </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31" name="Right Brace 30">
            <a:extLst>
              <a:ext uri="{FF2B5EF4-FFF2-40B4-BE49-F238E27FC236}">
                <a16:creationId xmlns:a16="http://schemas.microsoft.com/office/drawing/2014/main" id="{A687530A-9904-9B45-DE19-ABA3CE8358BD}"/>
              </a:ext>
              <a:ext uri="{C183D7F6-B498-43B3-948B-1728B52AA6E4}">
                <adec:decorative xmlns:adec="http://schemas.microsoft.com/office/drawing/2017/decorative" val="1"/>
              </a:ext>
            </a:extLst>
          </p:cNvPr>
          <p:cNvSpPr/>
          <p:nvPr/>
        </p:nvSpPr>
        <p:spPr>
          <a:xfrm>
            <a:off x="7172023" y="2569818"/>
            <a:ext cx="458825" cy="3202598"/>
          </a:xfrm>
          <a:prstGeom prst="rightBrace">
            <a:avLst>
              <a:gd name="adj1" fmla="val 27490"/>
              <a:gd name="adj2" fmla="val 80334"/>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1A1A1A"/>
              </a:solidFill>
              <a:effectLst/>
              <a:uLnTx/>
              <a:uFillTx/>
              <a:latin typeface="Segoe UI"/>
              <a:ea typeface="+mn-ea"/>
              <a:cs typeface="+mn-cs"/>
            </a:endParaRPr>
          </a:p>
        </p:txBody>
      </p:sp>
      <p:sp>
        <p:nvSpPr>
          <p:cNvPr id="33" name="Right Brace 32">
            <a:extLst>
              <a:ext uri="{FF2B5EF4-FFF2-40B4-BE49-F238E27FC236}">
                <a16:creationId xmlns:a16="http://schemas.microsoft.com/office/drawing/2014/main" id="{6B983750-DE30-C58C-89C4-062B7E72F1F6}"/>
              </a:ext>
              <a:ext uri="{C183D7F6-B498-43B3-948B-1728B52AA6E4}">
                <adec:decorative xmlns:adec="http://schemas.microsoft.com/office/drawing/2017/decorative" val="1"/>
              </a:ext>
            </a:extLst>
          </p:cNvPr>
          <p:cNvSpPr/>
          <p:nvPr/>
        </p:nvSpPr>
        <p:spPr>
          <a:xfrm rot="10800000">
            <a:off x="4068965" y="2569817"/>
            <a:ext cx="459423" cy="3202598"/>
          </a:xfrm>
          <a:prstGeom prst="rightBrace">
            <a:avLst>
              <a:gd name="adj1" fmla="val 20591"/>
              <a:gd name="adj2" fmla="val 53609"/>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1A1A1A"/>
              </a:solidFill>
              <a:effectLst/>
              <a:uLnTx/>
              <a:uFillTx/>
              <a:latin typeface="Segoe UI"/>
              <a:ea typeface="+mn-ea"/>
              <a:cs typeface="+mn-cs"/>
            </a:endParaRPr>
          </a:p>
        </p:txBody>
      </p:sp>
      <p:sp>
        <p:nvSpPr>
          <p:cNvPr id="16" name="Rectangle: Rounded Corners 15">
            <a:extLst>
              <a:ext uri="{FF2B5EF4-FFF2-40B4-BE49-F238E27FC236}">
                <a16:creationId xmlns:a16="http://schemas.microsoft.com/office/drawing/2014/main" id="{D6E4907E-C181-C44C-7A55-8AB952352A73}"/>
              </a:ext>
            </a:extLst>
          </p:cNvPr>
          <p:cNvSpPr/>
          <p:nvPr/>
        </p:nvSpPr>
        <p:spPr bwMode="auto">
          <a:xfrm>
            <a:off x="1022283" y="5404114"/>
            <a:ext cx="2009782" cy="368303"/>
          </a:xfrm>
          <a:prstGeom prst="roundRect">
            <a:avLst>
              <a:gd name="adj" fmla="val 17241"/>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18" name="Straight Connector 17">
            <a:extLst>
              <a:ext uri="{FF2B5EF4-FFF2-40B4-BE49-F238E27FC236}">
                <a16:creationId xmlns:a16="http://schemas.microsoft.com/office/drawing/2014/main" id="{528E5E92-FDAF-85FC-39EC-723B25EFEBE0}"/>
              </a:ext>
              <a:ext uri="{C183D7F6-B498-43B3-948B-1728B52AA6E4}">
                <adec:decorative xmlns:adec="http://schemas.microsoft.com/office/drawing/2017/decorative" val="1"/>
              </a:ext>
            </a:extLst>
          </p:cNvPr>
          <p:cNvCxnSpPr>
            <a:cxnSpLocks/>
          </p:cNvCxnSpPr>
          <p:nvPr/>
        </p:nvCxnSpPr>
        <p:spPr>
          <a:xfrm>
            <a:off x="726263" y="5772417"/>
            <a:ext cx="2652777"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982421EA-02DB-888E-01E1-79714789E34F}"/>
              </a:ext>
            </a:extLst>
          </p:cNvPr>
          <p:cNvSpPr/>
          <p:nvPr/>
        </p:nvSpPr>
        <p:spPr bwMode="auto">
          <a:xfrm>
            <a:off x="1022283" y="2650599"/>
            <a:ext cx="2009782" cy="293135"/>
          </a:xfrm>
          <a:prstGeom prst="roundRect">
            <a:avLst>
              <a:gd name="adj" fmla="val 21662"/>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TextBox 14">
            <a:extLst>
              <a:ext uri="{FF2B5EF4-FFF2-40B4-BE49-F238E27FC236}">
                <a16:creationId xmlns:a16="http://schemas.microsoft.com/office/drawing/2014/main" id="{2AF97C30-F0C0-E7B0-AFB3-6F22E239BE47}"/>
              </a:ext>
            </a:extLst>
          </p:cNvPr>
          <p:cNvSpPr txBox="1"/>
          <p:nvPr/>
        </p:nvSpPr>
        <p:spPr>
          <a:xfrm>
            <a:off x="1051477" y="3587544"/>
            <a:ext cx="1944871" cy="979034"/>
          </a:xfrm>
          <a:prstGeom prst="rect">
            <a:avLst/>
          </a:prstGeom>
          <a:noFill/>
        </p:spPr>
        <p:txBody>
          <a:bodyPr wrap="square" lIns="0" tIns="143407" rIns="91440" bIns="143407" rtlCol="0">
            <a:spAutoFit/>
          </a:bodyPr>
          <a:lstStyle/>
          <a:p>
            <a:pPr marL="0" marR="0" lvl="0" indent="0" algn="ctr" defTabSz="914139" rtl="0" eaLnBrk="1" fontAlgn="auto" latinLnBrk="0" hangingPunct="1">
              <a:lnSpc>
                <a:spcPct val="80000"/>
              </a:lnSpc>
              <a:spcBef>
                <a:spcPts val="0"/>
              </a:spcBef>
              <a:spcAft>
                <a:spcPts val="588"/>
              </a:spcAft>
              <a:buClrTx/>
              <a:buSzTx/>
              <a:buFontTx/>
              <a:buNone/>
              <a:tabLst/>
              <a:defRPr/>
            </a:pPr>
            <a:r>
              <a:rPr kumimoji="0" lang="en-AU" sz="4000" b="0" i="0" u="none" strike="noStrike" kern="1200" cap="none" spc="-147" normalizeH="0" baseline="0" noProof="0">
                <a:ln>
                  <a:noFill/>
                </a:ln>
                <a:solidFill>
                  <a:srgbClr val="000000"/>
                </a:solidFill>
                <a:effectLst/>
                <a:uLnTx/>
                <a:uFillTx/>
                <a:latin typeface="Segoe UI Semibold"/>
                <a:ea typeface="+mn-ea"/>
                <a:cs typeface="+mn-cs"/>
              </a:rPr>
              <a:t>&gt;$45</a:t>
            </a:r>
            <a:br>
              <a:rPr kumimoji="0" lang="en-AU" sz="4000" b="0" i="0" u="none" strike="noStrike" kern="1200" cap="none" spc="-147" normalizeH="0" baseline="0" noProof="0">
                <a:ln>
                  <a:noFill/>
                </a:ln>
                <a:solidFill>
                  <a:srgbClr val="000000"/>
                </a:solidFill>
                <a:effectLst/>
                <a:uLnTx/>
                <a:uFillTx/>
                <a:latin typeface="Segoe UI Semibold"/>
                <a:ea typeface="+mn-ea"/>
                <a:cs typeface="+mn-cs"/>
              </a:rPr>
            </a:br>
            <a:r>
              <a:rPr kumimoji="0" lang="en-AU" sz="1600" b="0" i="0" u="none" strike="noStrike" kern="1200" cap="none" spc="0" normalizeH="0" baseline="0" noProof="0">
                <a:ln>
                  <a:noFill/>
                </a:ln>
                <a:solidFill>
                  <a:srgbClr val="000000"/>
                </a:solidFill>
                <a:effectLst/>
                <a:uLnTx/>
                <a:uFillTx/>
                <a:latin typeface="Segoe UI Semibold"/>
                <a:ea typeface="+mn-ea"/>
                <a:cs typeface="+mn-cs"/>
              </a:rPr>
              <a:t>     per mo.</a:t>
            </a:r>
            <a:endParaRPr kumimoji="0" lang="en-US" sz="3600" b="0" i="0" u="none" strike="noStrike" kern="1200" cap="none" spc="0" normalizeH="0" baseline="30000" noProof="0">
              <a:ln>
                <a:noFill/>
              </a:ln>
              <a:solidFill>
                <a:srgbClr val="000000"/>
              </a:solidFill>
              <a:effectLst/>
              <a:uLnTx/>
              <a:uFillTx/>
              <a:latin typeface="Segoe UI Semibold"/>
              <a:ea typeface="+mn-ea"/>
              <a:cs typeface="+mn-cs"/>
            </a:endParaRPr>
          </a:p>
        </p:txBody>
      </p:sp>
      <p:sp>
        <p:nvSpPr>
          <p:cNvPr id="46" name="Rectangle: Rounded Corners 45">
            <a:extLst>
              <a:ext uri="{FF2B5EF4-FFF2-40B4-BE49-F238E27FC236}">
                <a16:creationId xmlns:a16="http://schemas.microsoft.com/office/drawing/2014/main" id="{084A6D6C-6EA7-B1ED-2D24-AB8037928741}"/>
              </a:ext>
            </a:extLst>
          </p:cNvPr>
          <p:cNvSpPr/>
          <p:nvPr/>
        </p:nvSpPr>
        <p:spPr bwMode="auto">
          <a:xfrm>
            <a:off x="894044" y="0"/>
            <a:ext cx="11328436" cy="595799"/>
          </a:xfrm>
          <a:prstGeom prst="roundRect">
            <a:avLst>
              <a:gd name="adj" fmla="val 6214"/>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t" anchorCtr="0" forceAA="0" compatLnSpc="1">
            <a:prstTxWarp prst="textNoShape">
              <a:avLst/>
            </a:prstTxWarp>
            <a:noAutofit/>
          </a:bodyPr>
          <a:lstStyle/>
          <a:p>
            <a:pPr marL="0" marR="0" lvl="0" indent="0" algn="l" defTabSz="914367" rtl="0" eaLnBrk="1" fontAlgn="auto" latinLnBrk="0" hangingPunct="1">
              <a:lnSpc>
                <a:spcPct val="11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Segoe UI" pitchFamily="34" charset="0"/>
                <a:cs typeface="Segoe UI"/>
              </a:rPr>
              <a:t>Offer value-added, managed services for greater profitability </a:t>
            </a:r>
          </a:p>
        </p:txBody>
      </p:sp>
      <p:sp>
        <p:nvSpPr>
          <p:cNvPr id="48" name="TextBox 47">
            <a:extLst>
              <a:ext uri="{FF2B5EF4-FFF2-40B4-BE49-F238E27FC236}">
                <a16:creationId xmlns:a16="http://schemas.microsoft.com/office/drawing/2014/main" id="{B0FFE83E-E98E-7346-A0C2-6B633B0A4BEE}"/>
              </a:ext>
            </a:extLst>
          </p:cNvPr>
          <p:cNvSpPr txBox="1"/>
          <p:nvPr/>
        </p:nvSpPr>
        <p:spPr>
          <a:xfrm>
            <a:off x="588263" y="165734"/>
            <a:ext cx="6702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02</a:t>
            </a:r>
          </a:p>
        </p:txBody>
      </p:sp>
    </p:spTree>
    <p:extLst>
      <p:ext uri="{BB962C8B-B14F-4D97-AF65-F5344CB8AC3E}">
        <p14:creationId xmlns:p14="http://schemas.microsoft.com/office/powerpoint/2010/main" val="25538267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42" presetClass="path" presetSubtype="0" decel="100000" fill="hold" grpId="1" nodeType="withEffect">
                                  <p:stCondLst>
                                    <p:cond delay="0"/>
                                  </p:stCondLst>
                                  <p:childTnLst>
                                    <p:animMotion origin="layout" path="M 1.25E-6 1.85185E-6 L 1.25E-6 0.04166 " pathEditMode="relative" rAng="0" ptsTypes="AA">
                                      <p:cBhvr>
                                        <p:cTn id="9" dur="750" spd="-100000" fill="hold"/>
                                        <p:tgtEl>
                                          <p:spTgt spid="12"/>
                                        </p:tgtEl>
                                        <p:attrNameLst>
                                          <p:attrName>ppt_x</p:attrName>
                                          <p:attrName>ppt_y</p:attrName>
                                        </p:attrNameLst>
                                      </p:cBhvr>
                                      <p:rCtr x="0" y="2083"/>
                                    </p:animMotion>
                                  </p:childTnLst>
                                </p:cTn>
                              </p:par>
                            </p:childTnLst>
                          </p:cTn>
                        </p:par>
                        <p:par>
                          <p:cTn id="10" fill="hold">
                            <p:stCondLst>
                              <p:cond delay="75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42" presetClass="path" presetSubtype="0" decel="100000" fill="hold" grpId="1" nodeType="withEffect">
                                  <p:stCondLst>
                                    <p:cond delay="0"/>
                                  </p:stCondLst>
                                  <p:childTnLst>
                                    <p:animMotion origin="layout" path="M 1.25E-6 1.85185E-6 L 1.25E-6 0.04166 " pathEditMode="relative" rAng="0" ptsTypes="AA">
                                      <p:cBhvr>
                                        <p:cTn id="15" dur="750" spd="-100000" fill="hold"/>
                                        <p:tgtEl>
                                          <p:spTgt spid="8"/>
                                        </p:tgtEl>
                                        <p:attrNameLst>
                                          <p:attrName>ppt_x</p:attrName>
                                          <p:attrName>ppt_y</p:attrName>
                                        </p:attrNameLst>
                                      </p:cBhvr>
                                      <p:rCtr x="0" y="2083"/>
                                    </p:animMotion>
                                  </p:childTnLst>
                                </p:cTn>
                              </p:par>
                              <p:par>
                                <p:cTn id="16" presetID="10" presetClass="entr" presetSubtype="0" fill="hold" grpId="0" nodeType="withEffect">
                                  <p:stCondLst>
                                    <p:cond delay="1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42" presetClass="path" presetSubtype="0" decel="100000" fill="hold" grpId="1" nodeType="withEffect">
                                  <p:stCondLst>
                                    <p:cond delay="100"/>
                                  </p:stCondLst>
                                  <p:childTnLst>
                                    <p:animMotion origin="layout" path="M 1.25E-6 2.22222E-6 L 1.25E-6 0.04166 " pathEditMode="relative" rAng="0" ptsTypes="AA">
                                      <p:cBhvr>
                                        <p:cTn id="20" dur="750" spd="-100000" fill="hold"/>
                                        <p:tgtEl>
                                          <p:spTgt spid="7"/>
                                        </p:tgtEl>
                                        <p:attrNameLst>
                                          <p:attrName>ppt_x</p:attrName>
                                          <p:attrName>ppt_y</p:attrName>
                                        </p:attrNameLst>
                                      </p:cBhvr>
                                      <p:rCtr x="0" y="2083"/>
                                    </p:animMotion>
                                  </p:childTnLst>
                                </p:cTn>
                              </p:par>
                              <p:par>
                                <p:cTn id="21" presetID="10"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42" presetClass="path" presetSubtype="0" decel="100000" fill="hold" grpId="1" nodeType="withEffect">
                                  <p:stCondLst>
                                    <p:cond delay="200"/>
                                  </p:stCondLst>
                                  <p:childTnLst>
                                    <p:animMotion origin="layout" path="M 1.25E-6 2.59259E-6 L 1.25E-6 0.04166 " pathEditMode="relative" rAng="0" ptsTypes="AA">
                                      <p:cBhvr>
                                        <p:cTn id="25" dur="750" spd="-100000" fill="hold"/>
                                        <p:tgtEl>
                                          <p:spTgt spid="6"/>
                                        </p:tgtEl>
                                        <p:attrNameLst>
                                          <p:attrName>ppt_x</p:attrName>
                                          <p:attrName>ppt_y</p:attrName>
                                        </p:attrNameLst>
                                      </p:cBhvr>
                                      <p:rCtr x="0" y="2083"/>
                                    </p:animMotion>
                                  </p:childTnLst>
                                </p:cTn>
                              </p:par>
                              <p:par>
                                <p:cTn id="26" presetID="10"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42" presetClass="path" presetSubtype="0" decel="100000" fill="hold" grpId="1" nodeType="withEffect">
                                  <p:stCondLst>
                                    <p:cond delay="300"/>
                                  </p:stCondLst>
                                  <p:childTnLst>
                                    <p:animMotion origin="layout" path="M 1.25E-6 1.48148E-6 L 1.25E-6 0.04167 " pathEditMode="relative" rAng="0" ptsTypes="AA">
                                      <p:cBhvr>
                                        <p:cTn id="30" dur="750" spd="-100000" fill="hold"/>
                                        <p:tgtEl>
                                          <p:spTgt spid="11"/>
                                        </p:tgtEl>
                                        <p:attrNameLst>
                                          <p:attrName>ppt_x</p:attrName>
                                          <p:attrName>ppt_y</p:attrName>
                                        </p:attrNameLst>
                                      </p:cBhvr>
                                      <p:rCtr x="0" y="2083"/>
                                    </p:animMotion>
                                  </p:childTnLst>
                                </p:cTn>
                              </p:par>
                              <p:par>
                                <p:cTn id="31" presetID="10" presetClass="entr" presetSubtype="0" fill="hold" grpId="0" nodeType="withEffect">
                                  <p:stCondLst>
                                    <p:cond delay="4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42" presetClass="path" presetSubtype="0" decel="100000" fill="hold" grpId="1" nodeType="withEffect">
                                  <p:stCondLst>
                                    <p:cond delay="400"/>
                                  </p:stCondLst>
                                  <p:childTnLst>
                                    <p:animMotion origin="layout" path="M 1.25E-6 1.85185E-6 L 1.25E-6 0.04166 " pathEditMode="relative" rAng="0" ptsTypes="AA">
                                      <p:cBhvr>
                                        <p:cTn id="35" dur="750" spd="-100000" fill="hold"/>
                                        <p:tgtEl>
                                          <p:spTgt spid="10"/>
                                        </p:tgtEl>
                                        <p:attrNameLst>
                                          <p:attrName>ppt_x</p:attrName>
                                          <p:attrName>ppt_y</p:attrName>
                                        </p:attrNameLst>
                                      </p:cBhvr>
                                      <p:rCtr x="0" y="2083"/>
                                    </p:animMotion>
                                  </p:childTnLst>
                                </p:cTn>
                              </p:par>
                              <p:par>
                                <p:cTn id="36" presetID="10" presetClass="entr" presetSubtype="0" fill="hold" grpId="0" nodeType="withEffect">
                                  <p:stCondLst>
                                    <p:cond delay="50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par>
                                <p:cTn id="39" presetID="42" presetClass="path" presetSubtype="0" decel="100000" fill="hold" grpId="1" nodeType="withEffect">
                                  <p:stCondLst>
                                    <p:cond delay="500"/>
                                  </p:stCondLst>
                                  <p:childTnLst>
                                    <p:animMotion origin="layout" path="M 1.25E-6 7.40741E-7 L 1.25E-6 0.04167 " pathEditMode="relative" rAng="0" ptsTypes="AA">
                                      <p:cBhvr>
                                        <p:cTn id="40" dur="750" spd="-100000" fill="hold"/>
                                        <p:tgtEl>
                                          <p:spTgt spid="4"/>
                                        </p:tgtEl>
                                        <p:attrNameLst>
                                          <p:attrName>ppt_x</p:attrName>
                                          <p:attrName>ppt_y</p:attrName>
                                        </p:attrNameLst>
                                      </p:cBhvr>
                                      <p:rCtr x="0" y="2083"/>
                                    </p:animMotion>
                                  </p:childTnLst>
                                </p:cTn>
                              </p:par>
                              <p:par>
                                <p:cTn id="41" presetID="10" presetClass="entr" presetSubtype="0" fill="hold" grpId="0" nodeType="withEffect">
                                  <p:stCondLst>
                                    <p:cond delay="60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childTnLst>
                                </p:cTn>
                              </p:par>
                              <p:par>
                                <p:cTn id="44" presetID="42" presetClass="path" presetSubtype="0" decel="100000" fill="hold" grpId="1" nodeType="withEffect">
                                  <p:stCondLst>
                                    <p:cond delay="600"/>
                                  </p:stCondLst>
                                  <p:childTnLst>
                                    <p:animMotion origin="layout" path="M 2.29167E-6 1.11111E-6 L 2.29167E-6 0.04167 " pathEditMode="relative" rAng="0" ptsTypes="AA">
                                      <p:cBhvr>
                                        <p:cTn id="45" dur="750" spd="-100000" fill="hold"/>
                                        <p:tgtEl>
                                          <p:spTgt spid="3"/>
                                        </p:tgtEl>
                                        <p:attrNameLst>
                                          <p:attrName>ppt_x</p:attrName>
                                          <p:attrName>ppt_y</p:attrName>
                                        </p:attrNameLst>
                                      </p:cBhvr>
                                      <p:rCtr x="0" y="2083"/>
                                    </p:animMotion>
                                  </p:childTnLst>
                                </p:cTn>
                              </p:par>
                            </p:childTnLst>
                          </p:cTn>
                        </p:par>
                        <p:par>
                          <p:cTn id="46" fill="hold">
                            <p:stCondLst>
                              <p:cond delay="2100"/>
                            </p:stCondLst>
                            <p:childTnLst>
                              <p:par>
                                <p:cTn id="47" presetID="16" presetClass="entr" presetSubtype="42"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barn(outHorizontal)">
                                      <p:cBhvr>
                                        <p:cTn id="49" dur="500"/>
                                        <p:tgtEl>
                                          <p:spTgt spid="33"/>
                                        </p:tgtEl>
                                      </p:cBhvr>
                                    </p:animEffect>
                                  </p:childTnLst>
                                </p:cTn>
                              </p:par>
                              <p:par>
                                <p:cTn id="50" presetID="10" presetClass="entr" presetSubtype="0" fill="hold" nodeType="withEffect">
                                  <p:stCondLst>
                                    <p:cond delay="25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42" presetClass="path" presetSubtype="0" decel="100000" fill="hold" nodeType="withEffect">
                                  <p:stCondLst>
                                    <p:cond delay="250"/>
                                  </p:stCondLst>
                                  <p:childTnLst>
                                    <p:animMotion origin="layout" path="M -4.79167E-6 -2.59259E-6 L 0.02344 -2.59259E-6 " pathEditMode="relative" rAng="0" ptsTypes="AA">
                                      <p:cBhvr>
                                        <p:cTn id="54" dur="750" spd="-100000" fill="hold"/>
                                        <p:tgtEl>
                                          <p:spTgt spid="27"/>
                                        </p:tgtEl>
                                        <p:attrNameLst>
                                          <p:attrName>ppt_x</p:attrName>
                                          <p:attrName>ppt_y</p:attrName>
                                        </p:attrNameLst>
                                      </p:cBhvr>
                                      <p:rCtr x="1172" y="0"/>
                                    </p:animMotion>
                                  </p:childTnLst>
                                </p:cTn>
                              </p:par>
                            </p:childTnLst>
                          </p:cTn>
                        </p:par>
                        <p:par>
                          <p:cTn id="55" fill="hold">
                            <p:stCondLst>
                              <p:cond delay="3100"/>
                            </p:stCondLst>
                            <p:childTnLst>
                              <p:par>
                                <p:cTn id="56" presetID="10" presetClass="entr" presetSubtype="0" fill="hold" grpId="0" nodeType="after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par>
                                <p:cTn id="59" presetID="42" presetClass="path" presetSubtype="0" decel="100000" fill="hold" grpId="1" nodeType="withEffect">
                                  <p:stCondLst>
                                    <p:cond delay="0"/>
                                  </p:stCondLst>
                                  <p:childTnLst>
                                    <p:animMotion origin="layout" path="M -4.16667E-7 1.85185E-6 L -4.16667E-7 0.04166 " pathEditMode="relative" rAng="0" ptsTypes="AA">
                                      <p:cBhvr>
                                        <p:cTn id="60" dur="750" spd="-100000" fill="hold"/>
                                        <p:tgtEl>
                                          <p:spTgt spid="13"/>
                                        </p:tgtEl>
                                        <p:attrNameLst>
                                          <p:attrName>ppt_x</p:attrName>
                                          <p:attrName>ppt_y</p:attrName>
                                        </p:attrNameLst>
                                      </p:cBhvr>
                                      <p:rCtr x="0" y="2083"/>
                                    </p:animMotion>
                                  </p:childTnLst>
                                </p:cTn>
                              </p:par>
                              <p:par>
                                <p:cTn id="61" presetID="16" presetClass="entr" presetSubtype="37"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barn(outVertical)">
                                      <p:cBhvr>
                                        <p:cTn id="63" dur="500"/>
                                        <p:tgtEl>
                                          <p:spTgt spid="18"/>
                                        </p:tgtEl>
                                      </p:cBhvr>
                                    </p:animEffect>
                                  </p:childTnLst>
                                </p:cTn>
                              </p:par>
                            </p:childTnLst>
                          </p:cTn>
                        </p:par>
                        <p:par>
                          <p:cTn id="64" fill="hold">
                            <p:stCondLst>
                              <p:cond delay="3850"/>
                            </p:stCondLst>
                            <p:childTnLst>
                              <p:par>
                                <p:cTn id="65" presetID="10" presetClass="entr" presetSubtype="0"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par>
                                <p:cTn id="68" presetID="42" presetClass="path" presetSubtype="0" decel="100000" fill="hold" grpId="1" nodeType="withEffect">
                                  <p:stCondLst>
                                    <p:cond delay="0"/>
                                  </p:stCondLst>
                                  <p:childTnLst>
                                    <p:animMotion origin="layout" path="M 3.95833E-6 -4.81481E-6 L 3.95833E-6 -0.03703 " pathEditMode="relative" rAng="0" ptsTypes="AA">
                                      <p:cBhvr>
                                        <p:cTn id="69" dur="750" spd="-100000" fill="hold"/>
                                        <p:tgtEl>
                                          <p:spTgt spid="16"/>
                                        </p:tgtEl>
                                        <p:attrNameLst>
                                          <p:attrName>ppt_x</p:attrName>
                                          <p:attrName>ppt_y</p:attrName>
                                        </p:attrNameLst>
                                      </p:cBhvr>
                                      <p:rCtr x="0" y="-1852"/>
                                    </p:animMotion>
                                  </p:childTnLst>
                                </p:cTn>
                              </p:par>
                              <p:par>
                                <p:cTn id="70" presetID="10" presetClass="entr" presetSubtype="0" fill="hold" grpId="0" nodeType="withEffect">
                                  <p:stCondLst>
                                    <p:cond delay="10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500"/>
                                        <p:tgtEl>
                                          <p:spTgt spid="9"/>
                                        </p:tgtEl>
                                      </p:cBhvr>
                                    </p:animEffect>
                                  </p:childTnLst>
                                </p:cTn>
                              </p:par>
                              <p:par>
                                <p:cTn id="73" presetID="42" presetClass="path" presetSubtype="0" decel="100000" fill="hold" grpId="1" nodeType="withEffect">
                                  <p:stCondLst>
                                    <p:cond delay="100"/>
                                  </p:stCondLst>
                                  <p:childTnLst>
                                    <p:animMotion origin="layout" path="M -4.58333E-6 -3.7037E-6 L -4.58333E-6 -0.03703 " pathEditMode="relative" rAng="0" ptsTypes="AA">
                                      <p:cBhvr>
                                        <p:cTn id="74" dur="750" spd="-100000" fill="hold"/>
                                        <p:tgtEl>
                                          <p:spTgt spid="9"/>
                                        </p:tgtEl>
                                        <p:attrNameLst>
                                          <p:attrName>ppt_x</p:attrName>
                                          <p:attrName>ppt_y</p:attrName>
                                        </p:attrNameLst>
                                      </p:cBhvr>
                                      <p:rCtr x="0" y="-1852"/>
                                    </p:animMotion>
                                  </p:childTnLst>
                                </p:cTn>
                              </p:par>
                              <p:par>
                                <p:cTn id="75" presetID="10" presetClass="entr" presetSubtype="0" fill="hold" grpId="0" nodeType="withEffect">
                                  <p:stCondLst>
                                    <p:cond delay="20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78" presetID="42" presetClass="path" presetSubtype="0" decel="100000" fill="hold" grpId="1" nodeType="withEffect">
                                  <p:stCondLst>
                                    <p:cond delay="200"/>
                                  </p:stCondLst>
                                  <p:childTnLst>
                                    <p:animMotion origin="layout" path="M -4.58333E-6 4.44444E-6 L -4.58333E-6 -0.03704 " pathEditMode="relative" rAng="0" ptsTypes="AA">
                                      <p:cBhvr>
                                        <p:cTn id="79" dur="750" spd="-100000" fill="hold"/>
                                        <p:tgtEl>
                                          <p:spTgt spid="19"/>
                                        </p:tgtEl>
                                        <p:attrNameLst>
                                          <p:attrName>ppt_x</p:attrName>
                                          <p:attrName>ppt_y</p:attrName>
                                        </p:attrNameLst>
                                      </p:cBhvr>
                                      <p:rCtr x="0" y="-1852"/>
                                    </p:animMotion>
                                  </p:childTnLst>
                                </p:cTn>
                              </p:par>
                              <p:par>
                                <p:cTn id="80" presetID="10" presetClass="entr" presetSubtype="0" fill="hold" grpId="0" nodeType="withEffect">
                                  <p:stCondLst>
                                    <p:cond delay="30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500"/>
                                        <p:tgtEl>
                                          <p:spTgt spid="25"/>
                                        </p:tgtEl>
                                      </p:cBhvr>
                                    </p:animEffect>
                                  </p:childTnLst>
                                </p:cTn>
                              </p:par>
                              <p:par>
                                <p:cTn id="83" presetID="42" presetClass="path" presetSubtype="0" decel="100000" fill="hold" grpId="1" nodeType="withEffect">
                                  <p:stCondLst>
                                    <p:cond delay="300"/>
                                  </p:stCondLst>
                                  <p:childTnLst>
                                    <p:animMotion origin="layout" path="M -4.58333E-6 -2.22222E-6 L -4.58333E-6 -0.03703 " pathEditMode="relative" rAng="0" ptsTypes="AA">
                                      <p:cBhvr>
                                        <p:cTn id="84" dur="750" spd="-100000" fill="hold"/>
                                        <p:tgtEl>
                                          <p:spTgt spid="25"/>
                                        </p:tgtEl>
                                        <p:attrNameLst>
                                          <p:attrName>ppt_x</p:attrName>
                                          <p:attrName>ppt_y</p:attrName>
                                        </p:attrNameLst>
                                      </p:cBhvr>
                                      <p:rCtr x="0" y="-1852"/>
                                    </p:animMotion>
                                  </p:childTnLst>
                                </p:cTn>
                              </p:par>
                              <p:par>
                                <p:cTn id="85" presetID="10" presetClass="entr" presetSubtype="0" fill="hold" grpId="0" nodeType="withEffect">
                                  <p:stCondLst>
                                    <p:cond delay="40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500"/>
                                        <p:tgtEl>
                                          <p:spTgt spid="36"/>
                                        </p:tgtEl>
                                      </p:cBhvr>
                                    </p:animEffect>
                                  </p:childTnLst>
                                </p:cTn>
                              </p:par>
                              <p:par>
                                <p:cTn id="88" presetID="42" presetClass="path" presetSubtype="0" decel="100000" fill="hold" grpId="1" nodeType="withEffect">
                                  <p:stCondLst>
                                    <p:cond delay="400"/>
                                  </p:stCondLst>
                                  <p:childTnLst>
                                    <p:animMotion origin="layout" path="M -4.58333E-6 -3.7037E-6 L -4.58333E-6 -0.03703 " pathEditMode="relative" rAng="0" ptsTypes="AA">
                                      <p:cBhvr>
                                        <p:cTn id="89" dur="750" spd="-100000" fill="hold"/>
                                        <p:tgtEl>
                                          <p:spTgt spid="36"/>
                                        </p:tgtEl>
                                        <p:attrNameLst>
                                          <p:attrName>ppt_x</p:attrName>
                                          <p:attrName>ppt_y</p:attrName>
                                        </p:attrNameLst>
                                      </p:cBhvr>
                                      <p:rCtr x="0" y="-1852"/>
                                    </p:animMotion>
                                  </p:childTnLst>
                                </p:cTn>
                              </p:par>
                              <p:par>
                                <p:cTn id="90" presetID="10" presetClass="entr" presetSubtype="0" fill="hold" grpId="0" nodeType="withEffect">
                                  <p:stCondLst>
                                    <p:cond delay="50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42" presetClass="path" presetSubtype="0" decel="100000" fill="hold" grpId="1" nodeType="withEffect">
                                  <p:stCondLst>
                                    <p:cond delay="500"/>
                                  </p:stCondLst>
                                  <p:childTnLst>
                                    <p:animMotion origin="layout" path="M -4.58333E-6 3.33333E-6 L -4.58333E-6 -0.03704 " pathEditMode="relative" rAng="0" ptsTypes="AA">
                                      <p:cBhvr>
                                        <p:cTn id="94" dur="750" spd="-100000" fill="hold"/>
                                        <p:tgtEl>
                                          <p:spTgt spid="35"/>
                                        </p:tgtEl>
                                        <p:attrNameLst>
                                          <p:attrName>ppt_x</p:attrName>
                                          <p:attrName>ppt_y</p:attrName>
                                        </p:attrNameLst>
                                      </p:cBhvr>
                                      <p:rCtr x="0" y="-1852"/>
                                    </p:animMotion>
                                  </p:childTnLst>
                                </p:cTn>
                              </p:par>
                              <p:par>
                                <p:cTn id="95" presetID="10" presetClass="entr" presetSubtype="0" fill="hold" grpId="0" nodeType="withEffect">
                                  <p:stCondLst>
                                    <p:cond delay="6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par>
                                <p:cTn id="98" presetID="42" presetClass="path" presetSubtype="0" decel="100000" fill="hold" grpId="1" nodeType="withEffect">
                                  <p:stCondLst>
                                    <p:cond delay="600"/>
                                  </p:stCondLst>
                                  <p:childTnLst>
                                    <p:animMotion origin="layout" path="M -4.58333E-6 0 L -4.58333E-6 -0.03704 " pathEditMode="relative" rAng="0" ptsTypes="AA">
                                      <p:cBhvr>
                                        <p:cTn id="99" dur="750" spd="-100000" fill="hold"/>
                                        <p:tgtEl>
                                          <p:spTgt spid="34"/>
                                        </p:tgtEl>
                                        <p:attrNameLst>
                                          <p:attrName>ppt_x</p:attrName>
                                          <p:attrName>ppt_y</p:attrName>
                                        </p:attrNameLst>
                                      </p:cBhvr>
                                      <p:rCtr x="0" y="-1852"/>
                                    </p:animMotion>
                                  </p:childTnLst>
                                </p:cTn>
                              </p:par>
                              <p:par>
                                <p:cTn id="100" presetID="10" presetClass="entr" presetSubtype="0" fill="hold" grpId="0" nodeType="withEffect">
                                  <p:stCondLst>
                                    <p:cond delay="70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3" presetID="42" presetClass="path" presetSubtype="0" decel="100000" fill="hold" grpId="1" nodeType="withEffect">
                                  <p:stCondLst>
                                    <p:cond delay="700"/>
                                  </p:stCondLst>
                                  <p:childTnLst>
                                    <p:animMotion origin="layout" path="M 3.95833E-6 -3.7037E-7 L 3.95833E-6 -0.03704 " pathEditMode="relative" rAng="0" ptsTypes="AA">
                                      <p:cBhvr>
                                        <p:cTn id="104" dur="750" spd="-100000" fill="hold"/>
                                        <p:tgtEl>
                                          <p:spTgt spid="38"/>
                                        </p:tgtEl>
                                        <p:attrNameLst>
                                          <p:attrName>ppt_x</p:attrName>
                                          <p:attrName>ppt_y</p:attrName>
                                        </p:attrNameLst>
                                      </p:cBhvr>
                                      <p:rCtr x="0" y="-1852"/>
                                    </p:animMotion>
                                  </p:childTnLst>
                                </p:cTn>
                              </p:par>
                            </p:childTnLst>
                          </p:cTn>
                        </p:par>
                        <p:par>
                          <p:cTn id="105" fill="hold">
                            <p:stCondLst>
                              <p:cond delay="5300"/>
                            </p:stCondLst>
                            <p:childTnLst>
                              <p:par>
                                <p:cTn id="106" presetID="10" presetClass="entr" presetSubtype="0" fill="hold" grpId="0" nodeType="afterEffect">
                                  <p:stCondLst>
                                    <p:cond delay="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500"/>
                                        <p:tgtEl>
                                          <p:spTgt spid="15"/>
                                        </p:tgtEl>
                                      </p:cBhvr>
                                    </p:animEffect>
                                  </p:childTnLst>
                                </p:cTn>
                              </p:par>
                              <p:par>
                                <p:cTn id="109" presetID="42" presetClass="path" presetSubtype="0" decel="100000" fill="hold" grpId="1" nodeType="withEffect">
                                  <p:stCondLst>
                                    <p:cond delay="0"/>
                                  </p:stCondLst>
                                  <p:childTnLst>
                                    <p:animMotion origin="layout" path="M 4.58333E-6 -4.44444E-6 L 4.58333E-6 0.04167 " pathEditMode="relative" rAng="0" ptsTypes="AA">
                                      <p:cBhvr>
                                        <p:cTn id="110" dur="750" spd="-100000" fill="hold"/>
                                        <p:tgtEl>
                                          <p:spTgt spid="15"/>
                                        </p:tgtEl>
                                        <p:attrNameLst>
                                          <p:attrName>ppt_x</p:attrName>
                                          <p:attrName>ppt_y</p:attrName>
                                        </p:attrNameLst>
                                      </p:cBhvr>
                                      <p:rCtr x="0" y="2083"/>
                                    </p:animMotion>
                                  </p:childTnLst>
                                </p:cTn>
                              </p:par>
                            </p:childTnLst>
                          </p:cTn>
                        </p:par>
                      </p:childTnLst>
                    </p:cTn>
                  </p:par>
                  <p:par>
                    <p:cTn id="111" fill="hold">
                      <p:stCondLst>
                        <p:cond delay="indefinite"/>
                      </p:stCondLst>
                      <p:childTnLst>
                        <p:par>
                          <p:cTn id="112" fill="hold">
                            <p:stCondLst>
                              <p:cond delay="0"/>
                            </p:stCondLst>
                            <p:childTnLst>
                              <p:par>
                                <p:cTn id="113" presetID="16" presetClass="entr" presetSubtype="42"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barn(outHorizontal)">
                                      <p:cBhvr>
                                        <p:cTn id="115" dur="500"/>
                                        <p:tgtEl>
                                          <p:spTgt spid="31"/>
                                        </p:tgtEl>
                                      </p:cBhvr>
                                    </p:animEffect>
                                  </p:childTnLst>
                                </p:cTn>
                              </p:par>
                              <p:par>
                                <p:cTn id="116" presetID="10" presetClass="entr" presetSubtype="0" fill="hold" nodeType="withEffect">
                                  <p:stCondLst>
                                    <p:cond delay="25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500"/>
                                        <p:tgtEl>
                                          <p:spTgt spid="30"/>
                                        </p:tgtEl>
                                      </p:cBhvr>
                                    </p:animEffect>
                                  </p:childTnLst>
                                </p:cTn>
                              </p:par>
                              <p:par>
                                <p:cTn id="119" presetID="42" presetClass="path" presetSubtype="0" decel="100000" fill="hold" nodeType="withEffect">
                                  <p:stCondLst>
                                    <p:cond delay="250"/>
                                  </p:stCondLst>
                                  <p:childTnLst>
                                    <p:animMotion origin="layout" path="M 2.08333E-6 2.96296E-6 L -0.02591 2.96296E-6 " pathEditMode="relative" rAng="0" ptsTypes="AA">
                                      <p:cBhvr>
                                        <p:cTn id="120" dur="750" spd="-100000" fill="hold"/>
                                        <p:tgtEl>
                                          <p:spTgt spid="30"/>
                                        </p:tgtEl>
                                        <p:attrNameLst>
                                          <p:attrName>ppt_x</p:attrName>
                                          <p:attrName>ppt_y</p:attrName>
                                        </p:attrNameLst>
                                      </p:cBhvr>
                                      <p:rCtr x="-1302" y="0"/>
                                    </p:animMotion>
                                  </p:childTnLst>
                                </p:cTn>
                              </p:par>
                            </p:childTnLst>
                          </p:cTn>
                        </p:par>
                        <p:par>
                          <p:cTn id="121" fill="hold">
                            <p:stCondLst>
                              <p:cond delay="1000"/>
                            </p:stCondLst>
                            <p:childTnLst>
                              <p:par>
                                <p:cTn id="122" presetID="10" presetClass="entr" presetSubtype="0" fill="hold" grpId="0" nodeType="afterEffect">
                                  <p:stCondLst>
                                    <p:cond delay="0"/>
                                  </p:stCondLst>
                                  <p:childTnLst>
                                    <p:set>
                                      <p:cBhvr>
                                        <p:cTn id="123" dur="1" fill="hold">
                                          <p:stCondLst>
                                            <p:cond delay="0"/>
                                          </p:stCondLst>
                                        </p:cTn>
                                        <p:tgtEl>
                                          <p:spTgt spid="14"/>
                                        </p:tgtEl>
                                        <p:attrNameLst>
                                          <p:attrName>style.visibility</p:attrName>
                                        </p:attrNameLst>
                                      </p:cBhvr>
                                      <p:to>
                                        <p:strVal val="visible"/>
                                      </p:to>
                                    </p:set>
                                    <p:animEffect transition="in" filter="fade">
                                      <p:cBhvr>
                                        <p:cTn id="124" dur="500"/>
                                        <p:tgtEl>
                                          <p:spTgt spid="14"/>
                                        </p:tgtEl>
                                      </p:cBhvr>
                                    </p:animEffect>
                                  </p:childTnLst>
                                </p:cTn>
                              </p:par>
                              <p:par>
                                <p:cTn id="125" presetID="42" presetClass="path" presetSubtype="0" decel="100000" fill="hold" grpId="1" nodeType="withEffect">
                                  <p:stCondLst>
                                    <p:cond delay="0"/>
                                  </p:stCondLst>
                                  <p:childTnLst>
                                    <p:animMotion origin="layout" path="M -3.125E-6 1.85185E-6 L -3.125E-6 0.04166 " pathEditMode="relative" rAng="0" ptsTypes="AA">
                                      <p:cBhvr>
                                        <p:cTn id="126" dur="750" spd="-100000" fill="hold"/>
                                        <p:tgtEl>
                                          <p:spTgt spid="14"/>
                                        </p:tgtEl>
                                        <p:attrNameLst>
                                          <p:attrName>ppt_x</p:attrName>
                                          <p:attrName>ppt_y</p:attrName>
                                        </p:attrNameLst>
                                      </p:cBhvr>
                                      <p:rCtr x="0" y="2083"/>
                                    </p:animMotion>
                                  </p:childTnLst>
                                </p:cTn>
                              </p:par>
                              <p:par>
                                <p:cTn id="127" presetID="16" presetClass="entr" presetSubtype="37" fill="hold" nodeType="withEffect">
                                  <p:stCondLst>
                                    <p:cond delay="0"/>
                                  </p:stCondLst>
                                  <p:childTnLst>
                                    <p:set>
                                      <p:cBhvr>
                                        <p:cTn id="128" dur="1" fill="hold">
                                          <p:stCondLst>
                                            <p:cond delay="0"/>
                                          </p:stCondLst>
                                        </p:cTn>
                                        <p:tgtEl>
                                          <p:spTgt spid="20"/>
                                        </p:tgtEl>
                                        <p:attrNameLst>
                                          <p:attrName>style.visibility</p:attrName>
                                        </p:attrNameLst>
                                      </p:cBhvr>
                                      <p:to>
                                        <p:strVal val="visible"/>
                                      </p:to>
                                    </p:set>
                                    <p:animEffect transition="in" filter="barn(outVertical)">
                                      <p:cBhvr>
                                        <p:cTn id="129" dur="500"/>
                                        <p:tgtEl>
                                          <p:spTgt spid="20"/>
                                        </p:tgtEl>
                                      </p:cBhvr>
                                    </p:animEffect>
                                  </p:childTnLst>
                                </p:cTn>
                              </p:par>
                            </p:childTnLst>
                          </p:cTn>
                        </p:par>
                        <p:par>
                          <p:cTn id="130" fill="hold">
                            <p:stCondLst>
                              <p:cond delay="1750"/>
                            </p:stCondLst>
                            <p:childTnLst>
                              <p:par>
                                <p:cTn id="131" presetID="10" presetClass="entr" presetSubtype="0" fill="hold" grpId="0" nodeType="after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500"/>
                                        <p:tgtEl>
                                          <p:spTgt spid="32"/>
                                        </p:tgtEl>
                                      </p:cBhvr>
                                    </p:animEffect>
                                  </p:childTnLst>
                                </p:cTn>
                              </p:par>
                              <p:par>
                                <p:cTn id="134" presetID="42" presetClass="path" presetSubtype="0" decel="100000" fill="hold" grpId="1" nodeType="withEffect">
                                  <p:stCondLst>
                                    <p:cond delay="0"/>
                                  </p:stCondLst>
                                  <p:childTnLst>
                                    <p:animMotion origin="layout" path="M -3.33333E-6 1.11111E-6 L -0.02591 1.11111E-6 " pathEditMode="relative" rAng="0" ptsTypes="AA">
                                      <p:cBhvr>
                                        <p:cTn id="135" dur="750" spd="-100000" fill="hold"/>
                                        <p:tgtEl>
                                          <p:spTgt spid="32"/>
                                        </p:tgtEl>
                                        <p:attrNameLst>
                                          <p:attrName>ppt_x</p:attrName>
                                          <p:attrName>ppt_y</p:attrName>
                                        </p:attrNameLst>
                                      </p:cBhvr>
                                      <p:rCtr x="-1302" y="0"/>
                                    </p:animMotion>
                                  </p:childTnLst>
                                </p:cTn>
                              </p:par>
                              <p:par>
                                <p:cTn id="136" presetID="22" presetClass="entr" presetSubtype="4" fill="hold" nodeType="withEffect">
                                  <p:stCondLst>
                                    <p:cond delay="0"/>
                                  </p:stCondLst>
                                  <p:childTnLst>
                                    <p:set>
                                      <p:cBhvr>
                                        <p:cTn id="137" dur="1" fill="hold">
                                          <p:stCondLst>
                                            <p:cond delay="0"/>
                                          </p:stCondLst>
                                        </p:cTn>
                                        <p:tgtEl>
                                          <p:spTgt spid="23"/>
                                        </p:tgtEl>
                                        <p:attrNameLst>
                                          <p:attrName>style.visibility</p:attrName>
                                        </p:attrNameLst>
                                      </p:cBhvr>
                                      <p:to>
                                        <p:strVal val="visible"/>
                                      </p:to>
                                    </p:set>
                                    <p:animEffect transition="in" filter="wipe(down)">
                                      <p:cBhvr>
                                        <p:cTn id="138" dur="500"/>
                                        <p:tgtEl>
                                          <p:spTgt spid="23"/>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5"/>
                                        </p:tgtEl>
                                        <p:attrNameLst>
                                          <p:attrName>style.visibility</p:attrName>
                                        </p:attrNameLst>
                                      </p:cBhvr>
                                      <p:to>
                                        <p:strVal val="visible"/>
                                      </p:to>
                                    </p:set>
                                    <p:animEffect transition="in" filter="fade">
                                      <p:cBhvr>
                                        <p:cTn id="143" dur="500"/>
                                        <p:tgtEl>
                                          <p:spTgt spid="5"/>
                                        </p:tgtEl>
                                      </p:cBhvr>
                                    </p:animEffect>
                                  </p:childTnLst>
                                </p:cTn>
                              </p:par>
                              <p:par>
                                <p:cTn id="144" presetID="42" presetClass="path" presetSubtype="0" decel="100000" fill="hold" grpId="1" nodeType="withEffect">
                                  <p:stCondLst>
                                    <p:cond delay="0"/>
                                  </p:stCondLst>
                                  <p:childTnLst>
                                    <p:animMotion origin="layout" path="M -1.66667E-6 -1.85185E-6 L -1.66667E-6 0.04167 " pathEditMode="relative" rAng="0" ptsTypes="AA">
                                      <p:cBhvr>
                                        <p:cTn id="145" dur="750" spd="-100000" fill="hold"/>
                                        <p:tgtEl>
                                          <p:spTgt spid="5"/>
                                        </p:tgtEl>
                                        <p:attrNameLst>
                                          <p:attrName>ppt_x</p:attrName>
                                          <p:attrName>ppt_y</p:attrName>
                                        </p:attrNameLst>
                                      </p:cBhvr>
                                      <p:rCtr x="0" y="2083"/>
                                    </p:animMotion>
                                  </p:childTnLst>
                                </p:cTn>
                              </p:par>
                              <p:par>
                                <p:cTn id="146" presetID="10" presetClass="entr" presetSubtype="0" fill="hold" grpId="0" nodeType="withEffect">
                                  <p:stCondLst>
                                    <p:cond delay="0"/>
                                  </p:stCondLst>
                                  <p:childTnLst>
                                    <p:set>
                                      <p:cBhvr>
                                        <p:cTn id="147" dur="1" fill="hold">
                                          <p:stCondLst>
                                            <p:cond delay="0"/>
                                          </p:stCondLst>
                                        </p:cTn>
                                        <p:tgtEl>
                                          <p:spTgt spid="26"/>
                                        </p:tgtEl>
                                        <p:attrNameLst>
                                          <p:attrName>style.visibility</p:attrName>
                                        </p:attrNameLst>
                                      </p:cBhvr>
                                      <p:to>
                                        <p:strVal val="visible"/>
                                      </p:to>
                                    </p:set>
                                    <p:animEffect transition="in" filter="fade">
                                      <p:cBhvr>
                                        <p:cTn id="148" dur="500"/>
                                        <p:tgtEl>
                                          <p:spTgt spid="26"/>
                                        </p:tgtEl>
                                      </p:cBhvr>
                                    </p:animEffect>
                                  </p:childTnLst>
                                </p:cTn>
                              </p:par>
                              <p:par>
                                <p:cTn id="149" presetID="42" presetClass="path" presetSubtype="0" decel="100000" fill="hold" grpId="1" nodeType="withEffect">
                                  <p:stCondLst>
                                    <p:cond delay="0"/>
                                  </p:stCondLst>
                                  <p:childTnLst>
                                    <p:animMotion origin="layout" path="M -2.08333E-7 4.44444E-6 L -2.08333E-7 0.04166 " pathEditMode="relative" rAng="0" ptsTypes="AA">
                                      <p:cBhvr>
                                        <p:cTn id="150" dur="750" spd="-100000" fill="hold"/>
                                        <p:tgtEl>
                                          <p:spTgt spid="26"/>
                                        </p:tgtEl>
                                        <p:attrNameLst>
                                          <p:attrName>ppt_x</p:attrName>
                                          <p:attrName>ppt_y</p:attrName>
                                        </p:attrNameLst>
                                      </p:cBhvr>
                                      <p:rCtr x="0" y="20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9" grpId="0" animBg="1"/>
      <p:bldP spid="19" grpId="1" animBg="1"/>
      <p:bldP spid="25" grpId="0" animBg="1"/>
      <p:bldP spid="25" grpId="1" animBg="1"/>
      <p:bldP spid="34" grpId="0" animBg="1"/>
      <p:bldP spid="34" grpId="1" animBg="1"/>
      <p:bldP spid="35" grpId="0" animBg="1"/>
      <p:bldP spid="35" grpId="1" animBg="1"/>
      <p:bldP spid="36" grpId="0" animBg="1"/>
      <p:bldP spid="36" grpId="1" animBg="1"/>
      <p:bldP spid="5" grpId="0" animBg="1"/>
      <p:bldP spid="5" grpId="1" animBg="1"/>
      <p:bldP spid="13" grpId="0"/>
      <p:bldP spid="13" grpId="1"/>
      <p:bldP spid="12" grpId="0"/>
      <p:bldP spid="12" grpId="1"/>
      <p:bldP spid="8" grpId="0" animBg="1"/>
      <p:bldP spid="8" grpId="1" animBg="1"/>
      <p:bldP spid="7" grpId="0" animBg="1"/>
      <p:bldP spid="7" grpId="1" animBg="1"/>
      <p:bldP spid="6" grpId="0" animBg="1"/>
      <p:bldP spid="6" grpId="1" animBg="1"/>
      <p:bldP spid="11" grpId="0" animBg="1"/>
      <p:bldP spid="11" grpId="1" animBg="1"/>
      <p:bldP spid="10" grpId="0" animBg="1"/>
      <p:bldP spid="10" grpId="1" animBg="1"/>
      <p:bldP spid="4" grpId="0" animBg="1"/>
      <p:bldP spid="4" grpId="1" animBg="1"/>
      <p:bldP spid="3" grpId="0" animBg="1"/>
      <p:bldP spid="3" grpId="1" animBg="1"/>
      <p:bldP spid="14" grpId="0"/>
      <p:bldP spid="14" grpId="1"/>
      <p:bldP spid="26" grpId="0"/>
      <p:bldP spid="26" grpId="1"/>
      <p:bldP spid="32" grpId="0"/>
      <p:bldP spid="32" grpId="1"/>
      <p:bldP spid="31" grpId="0" animBg="1"/>
      <p:bldP spid="33" grpId="0" animBg="1"/>
      <p:bldP spid="16" grpId="0" animBg="1"/>
      <p:bldP spid="16" grpId="1" animBg="1"/>
      <p:bldP spid="38" grpId="0" animBg="1"/>
      <p:bldP spid="38" grpId="1" animBg="1"/>
      <p:bldP spid="15" grpId="0"/>
      <p:bldP spid="1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AA84D33A-E088-5FB8-E2CD-3DEACD0A0C72}"/>
              </a:ext>
            </a:extLst>
          </p:cNvPr>
          <p:cNvSpPr/>
          <p:nvPr/>
        </p:nvSpPr>
        <p:spPr bwMode="auto">
          <a:xfrm>
            <a:off x="1011966" y="4794647"/>
            <a:ext cx="2009782" cy="575886"/>
          </a:xfrm>
          <a:prstGeom prst="roundRect">
            <a:avLst>
              <a:gd name="adj" fmla="val 11026"/>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9" name="Rectangle: Rounded Corners 18">
            <a:extLst>
              <a:ext uri="{FF2B5EF4-FFF2-40B4-BE49-F238E27FC236}">
                <a16:creationId xmlns:a16="http://schemas.microsoft.com/office/drawing/2014/main" id="{132B084B-3B5C-4FF5-3599-2E3916D165B6}"/>
              </a:ext>
            </a:extLst>
          </p:cNvPr>
          <p:cNvSpPr/>
          <p:nvPr/>
        </p:nvSpPr>
        <p:spPr bwMode="auto">
          <a:xfrm>
            <a:off x="1011966" y="4568567"/>
            <a:ext cx="2009782" cy="193776"/>
          </a:xfrm>
          <a:prstGeom prst="roundRect">
            <a:avLst>
              <a:gd name="adj" fmla="val 3277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5" name="Rectangle: Rounded Corners 24">
            <a:extLst>
              <a:ext uri="{FF2B5EF4-FFF2-40B4-BE49-F238E27FC236}">
                <a16:creationId xmlns:a16="http://schemas.microsoft.com/office/drawing/2014/main" id="{C51BE974-FD48-502E-1374-C20BF043679A}"/>
              </a:ext>
            </a:extLst>
          </p:cNvPr>
          <p:cNvSpPr/>
          <p:nvPr/>
        </p:nvSpPr>
        <p:spPr bwMode="auto">
          <a:xfrm>
            <a:off x="1011966" y="4167960"/>
            <a:ext cx="2009782" cy="368303"/>
          </a:xfrm>
          <a:prstGeom prst="roundRect">
            <a:avLst>
              <a:gd name="adj" fmla="val 17241"/>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Rectangle: Rounded Corners 33">
            <a:extLst>
              <a:ext uri="{FF2B5EF4-FFF2-40B4-BE49-F238E27FC236}">
                <a16:creationId xmlns:a16="http://schemas.microsoft.com/office/drawing/2014/main" id="{1B04AF5F-3E85-9908-6BA4-21B57ABA6B46}"/>
              </a:ext>
            </a:extLst>
          </p:cNvPr>
          <p:cNvSpPr/>
          <p:nvPr/>
        </p:nvSpPr>
        <p:spPr bwMode="auto">
          <a:xfrm>
            <a:off x="1011966" y="2974761"/>
            <a:ext cx="2009782" cy="221616"/>
          </a:xfrm>
          <a:prstGeom prst="roundRect">
            <a:avLst>
              <a:gd name="adj" fmla="val 28653"/>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Rectangle: Rounded Corners 34">
            <a:extLst>
              <a:ext uri="{FF2B5EF4-FFF2-40B4-BE49-F238E27FC236}">
                <a16:creationId xmlns:a16="http://schemas.microsoft.com/office/drawing/2014/main" id="{AE764B3E-4B60-0D75-8EAF-315F9F5EE4A8}"/>
              </a:ext>
            </a:extLst>
          </p:cNvPr>
          <p:cNvSpPr/>
          <p:nvPr/>
        </p:nvSpPr>
        <p:spPr bwMode="auto">
          <a:xfrm>
            <a:off x="1011966" y="3228681"/>
            <a:ext cx="2009782" cy="368303"/>
          </a:xfrm>
          <a:prstGeom prst="roundRect">
            <a:avLst>
              <a:gd name="adj" fmla="val 17241"/>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6" name="Rectangle: Rounded Corners 35">
            <a:extLst>
              <a:ext uri="{FF2B5EF4-FFF2-40B4-BE49-F238E27FC236}">
                <a16:creationId xmlns:a16="http://schemas.microsoft.com/office/drawing/2014/main" id="{9AF82866-F997-1ADD-8A7C-2DE07BAB4AC4}"/>
              </a:ext>
            </a:extLst>
          </p:cNvPr>
          <p:cNvSpPr/>
          <p:nvPr/>
        </p:nvSpPr>
        <p:spPr bwMode="auto">
          <a:xfrm>
            <a:off x="1011966" y="3629288"/>
            <a:ext cx="2009782" cy="506368"/>
          </a:xfrm>
          <a:prstGeom prst="roundRect">
            <a:avLst>
              <a:gd name="adj" fmla="val 1254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C0EF3E16-2FE3-84F4-80C7-9359653814CF}"/>
              </a:ext>
            </a:extLst>
          </p:cNvPr>
          <p:cNvSpPr>
            <a:spLocks noGrp="1"/>
          </p:cNvSpPr>
          <p:nvPr>
            <p:ph type="title"/>
          </p:nvPr>
        </p:nvSpPr>
        <p:spPr>
          <a:xfrm>
            <a:off x="588263" y="457200"/>
            <a:ext cx="11018520" cy="430887"/>
          </a:xfrm>
        </p:spPr>
        <p:txBody>
          <a:bodyPr/>
          <a:lstStyle/>
          <a:p>
            <a:r>
              <a:rPr lang="en-US"/>
              <a:t>Managed services opportunity with vendor consolidation </a:t>
            </a:r>
          </a:p>
        </p:txBody>
      </p:sp>
      <p:sp>
        <p:nvSpPr>
          <p:cNvPr id="13" name="TextBox 12">
            <a:extLst>
              <a:ext uri="{FF2B5EF4-FFF2-40B4-BE49-F238E27FC236}">
                <a16:creationId xmlns:a16="http://schemas.microsoft.com/office/drawing/2014/main" id="{BDA721C3-9592-C66C-003D-73323701890C}"/>
              </a:ext>
            </a:extLst>
          </p:cNvPr>
          <p:cNvSpPr txBox="1"/>
          <p:nvPr/>
        </p:nvSpPr>
        <p:spPr>
          <a:xfrm>
            <a:off x="546825" y="1605280"/>
            <a:ext cx="302873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Ad-hoc 3</a:t>
            </a:r>
            <a:r>
              <a:rPr kumimoji="0" lang="en-US" sz="1800" b="0" i="0" u="none" strike="noStrike" kern="1200" cap="none" spc="0" normalizeH="0" baseline="30000" noProof="0">
                <a:ln>
                  <a:noFill/>
                </a:ln>
                <a:solidFill>
                  <a:srgbClr val="0078D4"/>
                </a:solidFill>
                <a:effectLst/>
                <a:uLnTx/>
                <a:uFillTx/>
                <a:latin typeface="Segoe UI Semibold"/>
                <a:ea typeface="+mn-ea"/>
                <a:cs typeface="+mn-cs"/>
              </a:rPr>
              <a:t>rd</a:t>
            </a:r>
            <a:r>
              <a:rPr kumimoji="0" lang="en-US" sz="1800" b="0" i="0" u="none" strike="noStrike" kern="1200" cap="none" spc="0" normalizeH="0" baseline="0" noProof="0">
                <a:ln>
                  <a:noFill/>
                </a:ln>
                <a:solidFill>
                  <a:srgbClr val="0078D4"/>
                </a:solidFill>
                <a:effectLst/>
                <a:uLnTx/>
                <a:uFillTx/>
                <a:latin typeface="Segoe UI Semibold"/>
                <a:ea typeface="+mn-ea"/>
                <a:cs typeface="+mn-cs"/>
              </a:rPr>
              <a:t> party solutions</a:t>
            </a:r>
          </a:p>
        </p:txBody>
      </p:sp>
      <p:sp>
        <p:nvSpPr>
          <p:cNvPr id="12" name="TextBox 11">
            <a:extLst>
              <a:ext uri="{FF2B5EF4-FFF2-40B4-BE49-F238E27FC236}">
                <a16:creationId xmlns:a16="http://schemas.microsoft.com/office/drawing/2014/main" id="{B9E49EE1-601A-0E9A-5735-7012249D2288}"/>
              </a:ext>
            </a:extLst>
          </p:cNvPr>
          <p:cNvSpPr txBox="1"/>
          <p:nvPr/>
        </p:nvSpPr>
        <p:spPr>
          <a:xfrm>
            <a:off x="4996740" y="1605280"/>
            <a:ext cx="172189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Customer needs</a:t>
            </a:r>
          </a:p>
        </p:txBody>
      </p:sp>
      <p:sp>
        <p:nvSpPr>
          <p:cNvPr id="8" name="Rectangle: Rounded Corners 7">
            <a:extLst>
              <a:ext uri="{FF2B5EF4-FFF2-40B4-BE49-F238E27FC236}">
                <a16:creationId xmlns:a16="http://schemas.microsoft.com/office/drawing/2014/main" id="{B37F3D7E-DFF5-95EB-EEED-D60274D2116E}"/>
              </a:ext>
            </a:extLst>
          </p:cNvPr>
          <p:cNvSpPr/>
          <p:nvPr/>
        </p:nvSpPr>
        <p:spPr bwMode="auto">
          <a:xfrm>
            <a:off x="4652825" y="2568541"/>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Single sign on</a:t>
            </a:r>
            <a:endParaRPr kumimoji="0" lang="en-US" sz="1800" b="0" i="0" u="none" strike="noStrike" kern="1200" cap="none" spc="0" normalizeH="0" baseline="0" noProof="0">
              <a:ln>
                <a:noFill/>
              </a:ln>
              <a:solidFill>
                <a:sysClr val="windowText" lastClr="000000"/>
              </a:solidFill>
              <a:effectLst/>
              <a:uLnTx/>
              <a:uFillTx/>
              <a:latin typeface="Segoe UI Semibold"/>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F78FC34-1912-CCEA-04AD-4C50D81B51E6}"/>
              </a:ext>
            </a:extLst>
          </p:cNvPr>
          <p:cNvSpPr/>
          <p:nvPr/>
        </p:nvSpPr>
        <p:spPr bwMode="auto">
          <a:xfrm>
            <a:off x="4652825" y="3029655"/>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Conditional Access</a:t>
            </a:r>
            <a:r>
              <a:rPr kumimoji="0" lang="en-US" sz="1800" b="0" i="0" u="none" strike="noStrike" kern="1200" cap="none" spc="0" normalizeH="0" baseline="0" noProof="0">
                <a:ln>
                  <a:noFill/>
                </a:ln>
                <a:solidFill>
                  <a:sysClr val="windowText" lastClr="000000"/>
                </a:solidFill>
                <a:effectLst/>
                <a:uLnTx/>
                <a:uFillTx/>
                <a:latin typeface="Segoe UI Semibold"/>
                <a:ea typeface="+mn-ea"/>
                <a:cs typeface="+mn-cs"/>
              </a:rPr>
              <a:t> </a:t>
            </a: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 MFA</a:t>
            </a:r>
          </a:p>
        </p:txBody>
      </p:sp>
      <p:sp>
        <p:nvSpPr>
          <p:cNvPr id="6" name="Rectangle: Rounded Corners 5">
            <a:extLst>
              <a:ext uri="{FF2B5EF4-FFF2-40B4-BE49-F238E27FC236}">
                <a16:creationId xmlns:a16="http://schemas.microsoft.com/office/drawing/2014/main" id="{6061156C-52A2-3913-36BD-9B6993A830CC}"/>
              </a:ext>
            </a:extLst>
          </p:cNvPr>
          <p:cNvSpPr/>
          <p:nvPr/>
        </p:nvSpPr>
        <p:spPr bwMode="auto">
          <a:xfrm>
            <a:off x="4652825" y="3490769"/>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Endpoint anti-virus</a:t>
            </a:r>
            <a:r>
              <a:rPr kumimoji="0" lang="en-US" sz="1800" b="0" i="0" u="none" strike="noStrike" kern="1200" cap="none" spc="0" normalizeH="0" baseline="0" noProof="0">
                <a:ln>
                  <a:noFill/>
                </a:ln>
                <a:solidFill>
                  <a:sysClr val="windowText" lastClr="000000"/>
                </a:solidFill>
                <a:effectLst/>
                <a:uLnTx/>
                <a:uFillTx/>
                <a:latin typeface="Segoe UI Semibold"/>
                <a:ea typeface="+mn-ea"/>
                <a:cs typeface="+mn-cs"/>
              </a:rPr>
              <a:t> </a:t>
            </a: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protection</a:t>
            </a:r>
            <a:endParaRPr kumimoji="0" lang="en-US" sz="1800" b="0" i="0" u="none" strike="noStrike" kern="1200" cap="none" spc="0" normalizeH="0" baseline="0" noProof="0">
              <a:ln>
                <a:noFill/>
              </a:ln>
              <a:solidFill>
                <a:sysClr val="windowText" lastClr="000000"/>
              </a:solidFill>
              <a:effectLst/>
              <a:uLnTx/>
              <a:uFillTx/>
              <a:latin typeface="Segoe UI Semibold"/>
              <a:ea typeface="Segoe UI" pitchFamily="34" charset="0"/>
              <a:cs typeface="Segoe UI" pitchFamily="34" charset="0"/>
            </a:endParaRPr>
          </a:p>
        </p:txBody>
      </p:sp>
      <p:sp>
        <p:nvSpPr>
          <p:cNvPr id="11" name="Rectangle: Rounded Corners 10">
            <a:extLst>
              <a:ext uri="{FF2B5EF4-FFF2-40B4-BE49-F238E27FC236}">
                <a16:creationId xmlns:a16="http://schemas.microsoft.com/office/drawing/2014/main" id="{85E91EDD-6CB7-996D-FAF9-9FAAEF4868B0}"/>
              </a:ext>
            </a:extLst>
          </p:cNvPr>
          <p:cNvSpPr/>
          <p:nvPr/>
        </p:nvSpPr>
        <p:spPr bwMode="auto">
          <a:xfrm>
            <a:off x="4652825" y="3951883"/>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EDR</a:t>
            </a:r>
          </a:p>
        </p:txBody>
      </p:sp>
      <p:sp>
        <p:nvSpPr>
          <p:cNvPr id="10" name="Rectangle: Rounded Corners 9">
            <a:extLst>
              <a:ext uri="{FF2B5EF4-FFF2-40B4-BE49-F238E27FC236}">
                <a16:creationId xmlns:a16="http://schemas.microsoft.com/office/drawing/2014/main" id="{815BB9BE-7C3E-28E7-D1A6-388BEA531676}"/>
              </a:ext>
            </a:extLst>
          </p:cNvPr>
          <p:cNvSpPr/>
          <p:nvPr/>
        </p:nvSpPr>
        <p:spPr bwMode="auto">
          <a:xfrm>
            <a:off x="4652825" y="4412997"/>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rPr>
              <a:t>Device management</a:t>
            </a:r>
          </a:p>
        </p:txBody>
      </p:sp>
      <p:sp>
        <p:nvSpPr>
          <p:cNvPr id="4" name="Rectangle: Rounded Corners 3">
            <a:extLst>
              <a:ext uri="{FF2B5EF4-FFF2-40B4-BE49-F238E27FC236}">
                <a16:creationId xmlns:a16="http://schemas.microsoft.com/office/drawing/2014/main" id="{C014FBEF-BAD9-6968-DED5-D4E9B97A8DD1}"/>
              </a:ext>
            </a:extLst>
          </p:cNvPr>
          <p:cNvSpPr/>
          <p:nvPr/>
        </p:nvSpPr>
        <p:spPr bwMode="auto">
          <a:xfrm>
            <a:off x="4652825" y="4874111"/>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30000" noProof="0">
                <a:ln>
                  <a:noFill/>
                </a:ln>
                <a:solidFill>
                  <a:sysClr val="windowText" lastClr="000000"/>
                </a:solidFill>
                <a:effectLst/>
                <a:uLnTx/>
                <a:uFillTx/>
                <a:latin typeface="Segoe UI Semibold"/>
                <a:ea typeface="+mn-ea"/>
                <a:cs typeface="+mn-cs"/>
              </a:rPr>
              <a:t>Productivity apps and file storage</a:t>
            </a:r>
          </a:p>
        </p:txBody>
      </p:sp>
      <p:sp>
        <p:nvSpPr>
          <p:cNvPr id="3" name="Rectangle: Rounded Corners 2">
            <a:extLst>
              <a:ext uri="{FF2B5EF4-FFF2-40B4-BE49-F238E27FC236}">
                <a16:creationId xmlns:a16="http://schemas.microsoft.com/office/drawing/2014/main" id="{AF9D2502-102C-93C3-D6E4-E49F4BB79890}"/>
              </a:ext>
            </a:extLst>
          </p:cNvPr>
          <p:cNvSpPr/>
          <p:nvPr/>
        </p:nvSpPr>
        <p:spPr bwMode="auto">
          <a:xfrm>
            <a:off x="4645653" y="5335227"/>
            <a:ext cx="2409725" cy="406052"/>
          </a:xfrm>
          <a:prstGeom prst="roundRect">
            <a:avLst/>
          </a:prstGeom>
          <a:solidFill>
            <a:schemeClr val="bg1">
              <a:lumMod val="95000"/>
            </a:schemeClr>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ctr" anchorCtr="0" forceAA="0" compatLnSpc="1">
            <a:prstTxWarp prst="textNoShape">
              <a:avLst/>
            </a:prstTxWarp>
            <a:noAutofit/>
          </a:bodyPr>
          <a:lstStyle/>
          <a:p>
            <a:pPr marL="0" marR="0" lvl="0" indent="0" algn="ctr" defTabSz="914139"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30000" noProof="0">
                <a:ln>
                  <a:noFill/>
                </a:ln>
                <a:solidFill>
                  <a:sysClr val="windowText" lastClr="000000"/>
                </a:solidFill>
                <a:effectLst/>
                <a:uLnTx/>
                <a:uFillTx/>
                <a:latin typeface="Segoe UI Semibold"/>
                <a:ea typeface="+mn-ea"/>
                <a:cs typeface="+mn-cs"/>
              </a:rPr>
              <a:t>Chat based collaboration</a:t>
            </a:r>
            <a:endParaRPr kumimoji="0" lang="en-US" sz="1800" b="0" i="0" u="none" strike="noStrike" kern="1200" cap="none" spc="0" normalizeH="0" baseline="30000" noProof="0">
              <a:ln>
                <a:noFill/>
              </a:ln>
              <a:solidFill>
                <a:sysClr val="windowText" lastClr="000000"/>
              </a:solidFill>
              <a:effectLst/>
              <a:uLnTx/>
              <a:uFillTx/>
              <a:latin typeface="Segoe UI Semibold"/>
              <a:ea typeface="+mn-ea"/>
              <a:cs typeface="+mn-cs"/>
            </a:endParaRPr>
          </a:p>
        </p:txBody>
      </p:sp>
      <p:sp>
        <p:nvSpPr>
          <p:cNvPr id="14" name="TextBox 13">
            <a:extLst>
              <a:ext uri="{FF2B5EF4-FFF2-40B4-BE49-F238E27FC236}">
                <a16:creationId xmlns:a16="http://schemas.microsoft.com/office/drawing/2014/main" id="{5D5C2A3F-6B60-D82F-DDAF-8C857F756E91}"/>
              </a:ext>
            </a:extLst>
          </p:cNvPr>
          <p:cNvSpPr txBox="1"/>
          <p:nvPr/>
        </p:nvSpPr>
        <p:spPr>
          <a:xfrm>
            <a:off x="8951665" y="1605280"/>
            <a:ext cx="2110035"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Partner + Microsoft</a:t>
            </a:r>
          </a:p>
        </p:txBody>
      </p:sp>
      <p:cxnSp>
        <p:nvCxnSpPr>
          <p:cNvPr id="20" name="Straight Connector 19">
            <a:extLst>
              <a:ext uri="{FF2B5EF4-FFF2-40B4-BE49-F238E27FC236}">
                <a16:creationId xmlns:a16="http://schemas.microsoft.com/office/drawing/2014/main" id="{B50D9815-6A94-202A-C59C-400E3A4D6E82}"/>
              </a:ext>
              <a:ext uri="{C183D7F6-B498-43B3-948B-1728B52AA6E4}">
                <adec:decorative xmlns:adec="http://schemas.microsoft.com/office/drawing/2017/decorative" val="1"/>
              </a:ext>
            </a:extLst>
          </p:cNvPr>
          <p:cNvCxnSpPr>
            <a:cxnSpLocks/>
          </p:cNvCxnSpPr>
          <p:nvPr/>
        </p:nvCxnSpPr>
        <p:spPr>
          <a:xfrm>
            <a:off x="8541681" y="5771140"/>
            <a:ext cx="2935713"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291C4648-274D-5734-00DA-18AFA186674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75433" y="3819168"/>
            <a:ext cx="487680" cy="487680"/>
          </a:xfrm>
          <a:prstGeom prst="rect">
            <a:avLst/>
          </a:prstGeom>
        </p:spPr>
      </p:pic>
      <p:pic>
        <p:nvPicPr>
          <p:cNvPr id="30" name="Picture 29">
            <a:extLst>
              <a:ext uri="{FF2B5EF4-FFF2-40B4-BE49-F238E27FC236}">
                <a16:creationId xmlns:a16="http://schemas.microsoft.com/office/drawing/2014/main" id="{2591BF6D-07B1-09E6-FBA9-A0C1CC66FAE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rot="10800000">
            <a:off x="7893980" y="4895489"/>
            <a:ext cx="487680" cy="487680"/>
          </a:xfrm>
          <a:prstGeom prst="rect">
            <a:avLst/>
          </a:prstGeom>
        </p:spPr>
      </p:pic>
      <p:sp>
        <p:nvSpPr>
          <p:cNvPr id="32" name="TextBox 31">
            <a:extLst>
              <a:ext uri="{FF2B5EF4-FFF2-40B4-BE49-F238E27FC236}">
                <a16:creationId xmlns:a16="http://schemas.microsoft.com/office/drawing/2014/main" id="{A47AA974-53C1-64AB-BD60-CD2352E077C0}"/>
              </a:ext>
            </a:extLst>
          </p:cNvPr>
          <p:cNvSpPr txBox="1"/>
          <p:nvPr/>
        </p:nvSpPr>
        <p:spPr>
          <a:xfrm>
            <a:off x="7498234" y="3946051"/>
            <a:ext cx="1516330" cy="954412"/>
          </a:xfrm>
          <a:prstGeom prst="rect">
            <a:avLst/>
          </a:prstGeom>
          <a:noFill/>
        </p:spPr>
        <p:txBody>
          <a:bodyPr wrap="square" lIns="0" tIns="143407" rIns="179259" bIns="143407" rtlCol="0" anchor="t">
            <a:spAutoFit/>
          </a:bodyPr>
          <a:lstStyle/>
          <a:p>
            <a:pPr marL="0" marR="0" lvl="0" indent="0" algn="l" defTabSz="932508" rtl="0" eaLnBrk="1" fontAlgn="auto" latinLnBrk="0" hangingPunct="1">
              <a:lnSpc>
                <a:spcPct val="9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000000"/>
                </a:solidFill>
                <a:effectLst/>
                <a:uLnTx/>
                <a:uFillTx/>
                <a:latin typeface="Segoe UI"/>
                <a:ea typeface="+mn-ea"/>
                <a:cs typeface="+mn-cs"/>
              </a:rPr>
              <a:t>Realize cost savings for SMBs by consolidating onto Business Premium</a:t>
            </a:r>
            <a:endParaRPr kumimoji="0" lang="en-US" sz="2000" b="0" i="0" u="none" strike="noStrike" kern="1200" cap="none" spc="0" normalizeH="0" baseline="0" noProof="0">
              <a:ln>
                <a:noFill/>
              </a:ln>
              <a:solidFill>
                <a:srgbClr val="0078D4"/>
              </a:solidFill>
              <a:effectLst/>
              <a:uLnTx/>
              <a:uFillTx/>
              <a:latin typeface="Segoe UI Semibold"/>
              <a:ea typeface="+mn-ea"/>
              <a:cs typeface="+mn-cs"/>
            </a:endParaRPr>
          </a:p>
        </p:txBody>
      </p:sp>
      <p:grpSp>
        <p:nvGrpSpPr>
          <p:cNvPr id="23" name="Group 22" descr="Microsoft 365 Business Premium&#10;$22 per mo.">
            <a:extLst>
              <a:ext uri="{FF2B5EF4-FFF2-40B4-BE49-F238E27FC236}">
                <a16:creationId xmlns:a16="http://schemas.microsoft.com/office/drawing/2014/main" id="{5C811B32-B87C-920D-73A9-73D3C1EFCCAE}"/>
              </a:ext>
              <a:ext uri="{C183D7F6-B498-43B3-948B-1728B52AA6E4}">
                <adec:decorative xmlns:adec="http://schemas.microsoft.com/office/drawing/2017/decorative" val="0"/>
              </a:ext>
            </a:extLst>
          </p:cNvPr>
          <p:cNvGrpSpPr/>
          <p:nvPr/>
        </p:nvGrpSpPr>
        <p:grpSpPr>
          <a:xfrm>
            <a:off x="8989765" y="4135656"/>
            <a:ext cx="2009782" cy="1635484"/>
            <a:chOff x="8300806" y="4210599"/>
            <a:chExt cx="1858209" cy="1635484"/>
          </a:xfrm>
        </p:grpSpPr>
        <p:sp>
          <p:nvSpPr>
            <p:cNvPr id="21" name="Rectangle: Top Corners Rounded 20">
              <a:extLst>
                <a:ext uri="{FF2B5EF4-FFF2-40B4-BE49-F238E27FC236}">
                  <a16:creationId xmlns:a16="http://schemas.microsoft.com/office/drawing/2014/main" id="{71F3F3F7-4942-9801-5B54-ABF0E06B58BB}"/>
                </a:ext>
              </a:extLst>
            </p:cNvPr>
            <p:cNvSpPr/>
            <p:nvPr/>
          </p:nvSpPr>
          <p:spPr bwMode="auto">
            <a:xfrm>
              <a:off x="8300806" y="4210599"/>
              <a:ext cx="1858209" cy="1635484"/>
            </a:xfrm>
            <a:prstGeom prst="round2SameRect">
              <a:avLst>
                <a:gd name="adj1" fmla="val 0"/>
                <a:gd name="adj2" fmla="val 8788"/>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3508455E-4301-2B2F-AF8A-357F9747C1CC}"/>
                </a:ext>
              </a:extLst>
            </p:cNvPr>
            <p:cNvSpPr txBox="1"/>
            <p:nvPr/>
          </p:nvSpPr>
          <p:spPr>
            <a:xfrm>
              <a:off x="8557300" y="4852549"/>
              <a:ext cx="1311172" cy="979034"/>
            </a:xfrm>
            <a:prstGeom prst="rect">
              <a:avLst/>
            </a:prstGeom>
            <a:noFill/>
          </p:spPr>
          <p:txBody>
            <a:bodyPr wrap="square" lIns="179259" tIns="143407" rIns="179259" bIns="143407" rtlCol="0">
              <a:spAutoFit/>
            </a:bodyPr>
            <a:lstStyle/>
            <a:p>
              <a:pPr marL="0" marR="0" lvl="0" indent="0" algn="ctr" defTabSz="914139" rtl="0" eaLnBrk="1" fontAlgn="auto" latinLnBrk="0" hangingPunct="1">
                <a:lnSpc>
                  <a:spcPct val="80000"/>
                </a:lnSpc>
                <a:spcBef>
                  <a:spcPts val="0"/>
                </a:spcBef>
                <a:spcAft>
                  <a:spcPts val="588"/>
                </a:spcAft>
                <a:buClrTx/>
                <a:buSzTx/>
                <a:buFontTx/>
                <a:buNone/>
                <a:tabLst/>
                <a:defRPr/>
              </a:pPr>
              <a:r>
                <a:rPr kumimoji="0" lang="en-AU" sz="4000" b="0" i="0" u="none" strike="noStrike" kern="1200" cap="none" spc="-147" normalizeH="0" baseline="0" noProof="0">
                  <a:ln>
                    <a:noFill/>
                  </a:ln>
                  <a:solidFill>
                    <a:srgbClr val="FFFFFF"/>
                  </a:solidFill>
                  <a:effectLst/>
                  <a:uLnTx/>
                  <a:uFillTx/>
                  <a:latin typeface="Segoe UI Semibold"/>
                  <a:ea typeface="+mn-ea"/>
                  <a:cs typeface="+mn-cs"/>
                </a:rPr>
                <a:t>$22</a:t>
              </a:r>
              <a:br>
                <a:rPr kumimoji="0" lang="en-AU" sz="4000" b="0" i="0" u="none" strike="noStrike" kern="1200" cap="none" spc="-147" normalizeH="0" baseline="0" noProof="0">
                  <a:ln>
                    <a:noFill/>
                  </a:ln>
                  <a:solidFill>
                    <a:srgbClr val="FFFFFF"/>
                  </a:solidFill>
                  <a:effectLst/>
                  <a:uLnTx/>
                  <a:uFillTx/>
                  <a:latin typeface="Segoe UI Semibold"/>
                  <a:ea typeface="+mn-ea"/>
                  <a:cs typeface="+mn-cs"/>
                </a:rPr>
              </a:br>
              <a:r>
                <a:rPr kumimoji="0" lang="en-AU" sz="1600" b="0" i="0" u="none" strike="noStrike" kern="1200" cap="none" spc="0" normalizeH="0" baseline="0" noProof="0">
                  <a:ln>
                    <a:noFill/>
                  </a:ln>
                  <a:solidFill>
                    <a:srgbClr val="FFFFFF"/>
                  </a:solidFill>
                  <a:effectLst/>
                  <a:uLnTx/>
                  <a:uFillTx/>
                  <a:latin typeface="Segoe UI Semibold"/>
                  <a:ea typeface="+mn-ea"/>
                  <a:cs typeface="+mn-cs"/>
                </a:rPr>
                <a:t>per mo.</a:t>
              </a:r>
              <a:endParaRPr kumimoji="0" lang="en-US" sz="3600" b="0" i="0" u="none" strike="noStrike" kern="1200" cap="none" spc="0" normalizeH="0" baseline="30000" noProof="0">
                <a:ln>
                  <a:noFill/>
                </a:ln>
                <a:solidFill>
                  <a:srgbClr val="FFFFFF"/>
                </a:solidFill>
                <a:effectLst/>
                <a:uLnTx/>
                <a:uFillTx/>
                <a:latin typeface="Segoe UI Semibold"/>
                <a:ea typeface="+mn-ea"/>
                <a:cs typeface="+mn-cs"/>
              </a:endParaRPr>
            </a:p>
          </p:txBody>
        </p:sp>
        <p:sp>
          <p:nvSpPr>
            <p:cNvPr id="24" name="TextBox 23">
              <a:extLst>
                <a:ext uri="{FF2B5EF4-FFF2-40B4-BE49-F238E27FC236}">
                  <a16:creationId xmlns:a16="http://schemas.microsoft.com/office/drawing/2014/main" id="{805A313F-CBD8-58C1-2FA7-AAE8BE8B8B42}"/>
                </a:ext>
              </a:extLst>
            </p:cNvPr>
            <p:cNvSpPr txBox="1"/>
            <p:nvPr/>
          </p:nvSpPr>
          <p:spPr>
            <a:xfrm>
              <a:off x="8300806" y="4354238"/>
              <a:ext cx="185820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FFFFFF"/>
                  </a:solidFill>
                  <a:effectLst/>
                  <a:uLnTx/>
                  <a:uFillTx/>
                  <a:latin typeface="Segoe UI Semibold"/>
                  <a:ea typeface="+mn-ea"/>
                  <a:cs typeface="+mn-cs"/>
                </a:rPr>
                <a:t>Microsoft 365 Business Premium </a:t>
              </a:r>
              <a:endParaRPr kumimoji="0" lang="en-US" sz="1400" b="0" i="0" u="none" strike="noStrike" kern="1200" cap="none" spc="0" normalizeH="0" baseline="0" noProof="0">
                <a:ln>
                  <a:noFill/>
                </a:ln>
                <a:solidFill>
                  <a:srgbClr val="FFFFFF"/>
                </a:solidFill>
                <a:effectLst/>
                <a:uLnTx/>
                <a:uFillTx/>
                <a:latin typeface="Segoe UI"/>
                <a:ea typeface="+mn-ea"/>
                <a:cs typeface="+mn-cs"/>
              </a:endParaRPr>
            </a:p>
          </p:txBody>
        </p:sp>
      </p:grpSp>
      <p:sp>
        <p:nvSpPr>
          <p:cNvPr id="16" name="Rectangle: Rounded Corners 15">
            <a:extLst>
              <a:ext uri="{FF2B5EF4-FFF2-40B4-BE49-F238E27FC236}">
                <a16:creationId xmlns:a16="http://schemas.microsoft.com/office/drawing/2014/main" id="{D6E4907E-C181-C44C-7A55-8AB952352A73}"/>
              </a:ext>
            </a:extLst>
          </p:cNvPr>
          <p:cNvSpPr/>
          <p:nvPr/>
        </p:nvSpPr>
        <p:spPr bwMode="auto">
          <a:xfrm>
            <a:off x="1022283" y="5402837"/>
            <a:ext cx="2009782" cy="368303"/>
          </a:xfrm>
          <a:prstGeom prst="roundRect">
            <a:avLst>
              <a:gd name="adj" fmla="val 17241"/>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18" name="Straight Connector 17">
            <a:extLst>
              <a:ext uri="{FF2B5EF4-FFF2-40B4-BE49-F238E27FC236}">
                <a16:creationId xmlns:a16="http://schemas.microsoft.com/office/drawing/2014/main" id="{528E5E92-FDAF-85FC-39EC-723B25EFEBE0}"/>
              </a:ext>
              <a:ext uri="{C183D7F6-B498-43B3-948B-1728B52AA6E4}">
                <adec:decorative xmlns:adec="http://schemas.microsoft.com/office/drawing/2017/decorative" val="1"/>
              </a:ext>
            </a:extLst>
          </p:cNvPr>
          <p:cNvCxnSpPr>
            <a:cxnSpLocks/>
          </p:cNvCxnSpPr>
          <p:nvPr/>
        </p:nvCxnSpPr>
        <p:spPr>
          <a:xfrm>
            <a:off x="726263" y="5771140"/>
            <a:ext cx="2652777" cy="0"/>
          </a:xfrm>
          <a:prstGeom prst="line">
            <a:avLst/>
          </a:prstGeom>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982421EA-02DB-888E-01E1-79714789E34F}"/>
              </a:ext>
            </a:extLst>
          </p:cNvPr>
          <p:cNvSpPr/>
          <p:nvPr/>
        </p:nvSpPr>
        <p:spPr bwMode="auto">
          <a:xfrm>
            <a:off x="1022283" y="2649322"/>
            <a:ext cx="2009782" cy="293135"/>
          </a:xfrm>
          <a:prstGeom prst="roundRect">
            <a:avLst>
              <a:gd name="adj" fmla="val 21662"/>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TextBox 14">
            <a:extLst>
              <a:ext uri="{FF2B5EF4-FFF2-40B4-BE49-F238E27FC236}">
                <a16:creationId xmlns:a16="http://schemas.microsoft.com/office/drawing/2014/main" id="{2AF97C30-F0C0-E7B0-AFB3-6F22E239BE47}"/>
              </a:ext>
            </a:extLst>
          </p:cNvPr>
          <p:cNvSpPr txBox="1"/>
          <p:nvPr/>
        </p:nvSpPr>
        <p:spPr>
          <a:xfrm>
            <a:off x="1051477" y="3586267"/>
            <a:ext cx="1944871" cy="979034"/>
          </a:xfrm>
          <a:prstGeom prst="rect">
            <a:avLst/>
          </a:prstGeom>
          <a:noFill/>
        </p:spPr>
        <p:txBody>
          <a:bodyPr wrap="square" lIns="0" tIns="143407" rIns="91440" bIns="143407" rtlCol="0">
            <a:spAutoFit/>
          </a:bodyPr>
          <a:lstStyle/>
          <a:p>
            <a:pPr marL="0" marR="0" lvl="0" indent="0" algn="ctr" defTabSz="914139" rtl="0" eaLnBrk="1" fontAlgn="auto" latinLnBrk="0" hangingPunct="1">
              <a:lnSpc>
                <a:spcPct val="80000"/>
              </a:lnSpc>
              <a:spcBef>
                <a:spcPts val="0"/>
              </a:spcBef>
              <a:spcAft>
                <a:spcPts val="588"/>
              </a:spcAft>
              <a:buClrTx/>
              <a:buSzTx/>
              <a:buFontTx/>
              <a:buNone/>
              <a:tabLst/>
              <a:defRPr/>
            </a:pPr>
            <a:r>
              <a:rPr kumimoji="0" lang="en-AU" sz="4000" b="0" i="0" u="none" strike="noStrike" kern="1200" cap="none" spc="-147" normalizeH="0" baseline="0" noProof="0">
                <a:ln>
                  <a:noFill/>
                </a:ln>
                <a:solidFill>
                  <a:srgbClr val="000000"/>
                </a:solidFill>
                <a:effectLst/>
                <a:uLnTx/>
                <a:uFillTx/>
                <a:latin typeface="Segoe UI Semibold"/>
                <a:ea typeface="+mn-ea"/>
                <a:cs typeface="+mn-cs"/>
              </a:rPr>
              <a:t>&gt;$45</a:t>
            </a:r>
            <a:br>
              <a:rPr kumimoji="0" lang="en-AU" sz="4000" b="0" i="0" u="none" strike="noStrike" kern="1200" cap="none" spc="-147" normalizeH="0" baseline="0" noProof="0">
                <a:ln>
                  <a:noFill/>
                </a:ln>
                <a:solidFill>
                  <a:srgbClr val="000000"/>
                </a:solidFill>
                <a:effectLst/>
                <a:uLnTx/>
                <a:uFillTx/>
                <a:latin typeface="Segoe UI Semibold"/>
                <a:ea typeface="+mn-ea"/>
                <a:cs typeface="+mn-cs"/>
              </a:rPr>
            </a:br>
            <a:r>
              <a:rPr kumimoji="0" lang="en-AU" sz="1600" b="0" i="0" u="none" strike="noStrike" kern="1200" cap="none" spc="0" normalizeH="0" baseline="0" noProof="0">
                <a:ln>
                  <a:noFill/>
                </a:ln>
                <a:solidFill>
                  <a:srgbClr val="000000"/>
                </a:solidFill>
                <a:effectLst/>
                <a:uLnTx/>
                <a:uFillTx/>
                <a:latin typeface="Segoe UI Semibold"/>
                <a:ea typeface="+mn-ea"/>
                <a:cs typeface="+mn-cs"/>
              </a:rPr>
              <a:t>     per mo.</a:t>
            </a:r>
            <a:endParaRPr kumimoji="0" lang="en-US" sz="3600" b="0" i="0" u="none" strike="noStrike" kern="1200" cap="none" spc="0" normalizeH="0" baseline="30000" noProof="0">
              <a:ln>
                <a:noFill/>
              </a:ln>
              <a:solidFill>
                <a:srgbClr val="000000"/>
              </a:solidFill>
              <a:effectLst/>
              <a:uLnTx/>
              <a:uFillTx/>
              <a:latin typeface="Segoe UI Semibold"/>
              <a:ea typeface="+mn-ea"/>
              <a:cs typeface="+mn-cs"/>
            </a:endParaRPr>
          </a:p>
        </p:txBody>
      </p:sp>
      <p:grpSp>
        <p:nvGrpSpPr>
          <p:cNvPr id="47" name="Group 46">
            <a:extLst>
              <a:ext uri="{FF2B5EF4-FFF2-40B4-BE49-F238E27FC236}">
                <a16:creationId xmlns:a16="http://schemas.microsoft.com/office/drawing/2014/main" id="{BBBB8F9C-DB88-4949-70B6-E50B69210AA8}"/>
              </a:ext>
            </a:extLst>
          </p:cNvPr>
          <p:cNvGrpSpPr/>
          <p:nvPr/>
        </p:nvGrpSpPr>
        <p:grpSpPr>
          <a:xfrm>
            <a:off x="4298731" y="2568540"/>
            <a:ext cx="3089364" cy="3202598"/>
            <a:chOff x="4298731" y="3026978"/>
            <a:chExt cx="3089364" cy="3202598"/>
          </a:xfrm>
        </p:grpSpPr>
        <p:sp>
          <p:nvSpPr>
            <p:cNvPr id="17" name="Rectangle: Rounded Corners 16">
              <a:extLst>
                <a:ext uri="{FF2B5EF4-FFF2-40B4-BE49-F238E27FC236}">
                  <a16:creationId xmlns:a16="http://schemas.microsoft.com/office/drawing/2014/main" id="{79E4437A-26B1-A979-433F-956B27EF5E48}"/>
                </a:ext>
              </a:extLst>
            </p:cNvPr>
            <p:cNvSpPr/>
            <p:nvPr/>
          </p:nvSpPr>
          <p:spPr bwMode="auto">
            <a:xfrm>
              <a:off x="4298731" y="3026978"/>
              <a:ext cx="3089364" cy="3202598"/>
            </a:xfrm>
            <a:prstGeom prst="roundRect">
              <a:avLst>
                <a:gd name="adj" fmla="val 4111"/>
              </a:avLst>
            </a:prstGeom>
            <a:solidFill>
              <a:schemeClr val="tx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40" name="Group 39">
              <a:extLst>
                <a:ext uri="{FF2B5EF4-FFF2-40B4-BE49-F238E27FC236}">
                  <a16:creationId xmlns:a16="http://schemas.microsoft.com/office/drawing/2014/main" id="{6D58CC16-3ED4-6E03-7A7F-8A9057AB85D4}"/>
                </a:ext>
              </a:extLst>
            </p:cNvPr>
            <p:cNvGrpSpPr/>
            <p:nvPr/>
          </p:nvGrpSpPr>
          <p:grpSpPr>
            <a:xfrm>
              <a:off x="5301729" y="3209479"/>
              <a:ext cx="1083988" cy="1083989"/>
              <a:chOff x="5001138" y="3894144"/>
              <a:chExt cx="1426656" cy="1426657"/>
            </a:xfrm>
          </p:grpSpPr>
          <p:sp>
            <p:nvSpPr>
              <p:cNvPr id="28" name="Block Arc 27">
                <a:extLst>
                  <a:ext uri="{FF2B5EF4-FFF2-40B4-BE49-F238E27FC236}">
                    <a16:creationId xmlns:a16="http://schemas.microsoft.com/office/drawing/2014/main" id="{3E1D6EA6-21CE-2590-2C6E-73B4BC7E46A3}"/>
                  </a:ext>
                </a:extLst>
              </p:cNvPr>
              <p:cNvSpPr/>
              <p:nvPr/>
            </p:nvSpPr>
            <p:spPr bwMode="auto">
              <a:xfrm rot="16200000">
                <a:off x="5001138" y="3894145"/>
                <a:ext cx="1426656" cy="1426656"/>
              </a:xfrm>
              <a:prstGeom prst="blockArc">
                <a:avLst>
                  <a:gd name="adj1" fmla="val 9980819"/>
                  <a:gd name="adj2" fmla="val 16155"/>
                  <a:gd name="adj3" fmla="val 14484"/>
                </a:avLst>
              </a:prstGeom>
              <a:solidFill>
                <a:schemeClr val="bg1">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Block Arc 38">
                <a:extLst>
                  <a:ext uri="{FF2B5EF4-FFF2-40B4-BE49-F238E27FC236}">
                    <a16:creationId xmlns:a16="http://schemas.microsoft.com/office/drawing/2014/main" id="{DFDC24A1-AE7C-2D5A-02DE-F3EAF4025DFF}"/>
                  </a:ext>
                </a:extLst>
              </p:cNvPr>
              <p:cNvSpPr/>
              <p:nvPr/>
            </p:nvSpPr>
            <p:spPr bwMode="auto">
              <a:xfrm rot="5400000">
                <a:off x="5001138" y="3894144"/>
                <a:ext cx="1426656" cy="1426656"/>
              </a:xfrm>
              <a:prstGeom prst="blockArc">
                <a:avLst>
                  <a:gd name="adj1" fmla="val 10800000"/>
                  <a:gd name="adj2" fmla="val 20797932"/>
                  <a:gd name="adj3" fmla="val 14524"/>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sp>
        <p:nvSpPr>
          <p:cNvPr id="43" name="TextBox 42">
            <a:extLst>
              <a:ext uri="{FF2B5EF4-FFF2-40B4-BE49-F238E27FC236}">
                <a16:creationId xmlns:a16="http://schemas.microsoft.com/office/drawing/2014/main" id="{B64FA40F-966E-8ACB-455D-DB35C0131857}"/>
              </a:ext>
            </a:extLst>
          </p:cNvPr>
          <p:cNvSpPr txBox="1"/>
          <p:nvPr/>
        </p:nvSpPr>
        <p:spPr>
          <a:xfrm>
            <a:off x="4437050" y="4003002"/>
            <a:ext cx="2826929"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Semibold"/>
                <a:ea typeface="+mn-ea"/>
                <a:cs typeface="+mn-cs"/>
              </a:rPr>
              <a:t>Nearly half</a:t>
            </a:r>
            <a:br>
              <a:rPr kumimoji="0" lang="en-US" sz="1400" b="0" i="0" u="none" strike="noStrike" kern="1200" cap="none" spc="0" normalizeH="0" baseline="0" noProof="0">
                <a:ln>
                  <a:noFill/>
                </a:ln>
                <a:solidFill>
                  <a:srgbClr val="FFFFFF"/>
                </a:solidFill>
                <a:effectLst/>
                <a:uLnTx/>
                <a:uFillTx/>
                <a:latin typeface="Segoe UI"/>
                <a:ea typeface="Calibri" panose="020F0502020204030204" pitchFamily="34" charset="0"/>
                <a:cs typeface="+mn-cs"/>
              </a:rPr>
            </a:br>
            <a:r>
              <a:rPr kumimoji="0" lang="en-US" sz="1400" b="0" i="0" u="none" strike="noStrike" kern="1200" cap="none" spc="0" normalizeH="0" baseline="0" noProof="0">
                <a:ln>
                  <a:noFill/>
                </a:ln>
                <a:solidFill>
                  <a:srgbClr val="FFFFFF"/>
                </a:solidFill>
                <a:effectLst/>
                <a:uLnTx/>
                <a:uFillTx/>
                <a:latin typeface="Segoe UI"/>
                <a:ea typeface="Calibri" panose="020F0502020204030204" pitchFamily="34" charset="0"/>
                <a:cs typeface="+mn-cs"/>
              </a:rPr>
              <a:t>of SMB</a:t>
            </a:r>
            <a:r>
              <a:rPr kumimoji="0" lang="en-US" sz="1400" b="1" i="0" u="none" strike="noStrike" kern="1200" cap="none" spc="0" normalizeH="0" baseline="0" noProof="0">
                <a:ln>
                  <a:noFill/>
                </a:ln>
                <a:solidFill>
                  <a:srgbClr val="FFFFFF"/>
                </a:solidFill>
                <a:effectLst/>
                <a:uLnTx/>
                <a:uFillTx/>
                <a:latin typeface="Segoe UI"/>
                <a:ea typeface="Calibri" panose="020F0502020204030204" pitchFamily="34" charset="0"/>
                <a:cs typeface="+mn-cs"/>
              </a:rPr>
              <a:t> </a:t>
            </a:r>
            <a:r>
              <a:rPr kumimoji="0" lang="en-US" sz="1400" b="0" i="0" u="none" strike="noStrike" kern="1200" cap="none" spc="0" normalizeH="0" baseline="0" noProof="0">
                <a:ln>
                  <a:noFill/>
                </a:ln>
                <a:solidFill>
                  <a:srgbClr val="FFFFFF"/>
                </a:solidFill>
                <a:effectLst/>
                <a:uLnTx/>
                <a:uFillTx/>
                <a:latin typeface="Segoe UI"/>
                <a:ea typeface="Calibri" panose="020F0502020204030204" pitchFamily="34" charset="0"/>
                <a:cs typeface="+mn-cs"/>
              </a:rPr>
              <a:t>survey respondents ranked the ability to show ROI or potential productivity gains as significantly impacting software solution purchase decisions.</a:t>
            </a:r>
            <a:r>
              <a:rPr kumimoji="0" lang="en-US" sz="1400" b="0" i="0" u="none" strike="noStrike" kern="1200" cap="none" spc="0" normalizeH="0" baseline="30000" noProof="0">
                <a:ln>
                  <a:noFill/>
                </a:ln>
                <a:solidFill>
                  <a:srgbClr val="FFFFFF"/>
                </a:solidFill>
                <a:effectLst/>
                <a:uLnTx/>
                <a:uFillTx/>
                <a:latin typeface="Segoe UI"/>
                <a:ea typeface="Calibri" panose="020F0502020204030204" pitchFamily="34" charset="0"/>
                <a:cs typeface="+mn-cs"/>
              </a:rPr>
              <a:t>1</a:t>
            </a:r>
            <a:endParaRPr kumimoji="0" lang="en-US" sz="1400" b="0" i="0" u="none" strike="noStrike" kern="1200" cap="none" spc="0" normalizeH="0" baseline="30000" noProof="0">
              <a:ln>
                <a:noFill/>
              </a:ln>
              <a:solidFill>
                <a:srgbClr val="FFFFFF"/>
              </a:solidFill>
              <a:effectLst/>
              <a:uLnTx/>
              <a:uFillTx/>
              <a:latin typeface="Segoe UI"/>
              <a:ea typeface="+mn-ea"/>
              <a:cs typeface="+mn-cs"/>
            </a:endParaRPr>
          </a:p>
        </p:txBody>
      </p:sp>
      <p:sp>
        <p:nvSpPr>
          <p:cNvPr id="29" name="Rectangle: Top Corners Rounded 28">
            <a:extLst>
              <a:ext uri="{FF2B5EF4-FFF2-40B4-BE49-F238E27FC236}">
                <a16:creationId xmlns:a16="http://schemas.microsoft.com/office/drawing/2014/main" id="{52EAB7E4-1A4C-362B-ABB0-0618F9AA5CDD}"/>
              </a:ext>
            </a:extLst>
          </p:cNvPr>
          <p:cNvSpPr/>
          <p:nvPr/>
        </p:nvSpPr>
        <p:spPr bwMode="auto">
          <a:xfrm>
            <a:off x="8989765" y="1930481"/>
            <a:ext cx="2009782" cy="2334314"/>
          </a:xfrm>
          <a:prstGeom prst="round2SameRect">
            <a:avLst>
              <a:gd name="adj1" fmla="val 5293"/>
              <a:gd name="adj2" fmla="val 0"/>
            </a:avLst>
          </a:prstGeom>
          <a:noFill/>
          <a:ln>
            <a:gradFill flip="none" rotWithShape="1">
              <a:gsLst>
                <a:gs pos="48000">
                  <a:schemeClr val="accent1"/>
                </a:gs>
                <a:gs pos="100000">
                  <a:schemeClr val="accent1">
                    <a:alpha val="2000"/>
                  </a:schemeClr>
                </a:gs>
              </a:gsLst>
              <a:lin ang="16200000" scaled="1"/>
              <a:tileRect/>
            </a:gra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7" name="TextBox 36">
            <a:extLst>
              <a:ext uri="{FF2B5EF4-FFF2-40B4-BE49-F238E27FC236}">
                <a16:creationId xmlns:a16="http://schemas.microsoft.com/office/drawing/2014/main" id="{B8D9A09D-A32E-7E62-ADC9-FAE76FB341AF}"/>
              </a:ext>
            </a:extLst>
          </p:cNvPr>
          <p:cNvSpPr txBox="1"/>
          <p:nvPr/>
        </p:nvSpPr>
        <p:spPr>
          <a:xfrm>
            <a:off x="9116936" y="2435835"/>
            <a:ext cx="1886802" cy="1203711"/>
          </a:xfrm>
          <a:prstGeom prst="rect">
            <a:avLst/>
          </a:prstGeom>
          <a:noFill/>
        </p:spPr>
        <p:txBody>
          <a:bodyPr wrap="square" lIns="0" tIns="143407" rIns="179259" bIns="143407" rtlCol="0" anchor="t">
            <a:spAutoFit/>
          </a:bodyPr>
          <a:lstStyle/>
          <a:p>
            <a:pPr marL="0" marR="0" lvl="0" indent="0" algn="l" defTabSz="914139" rtl="0" eaLnBrk="1" fontAlgn="auto" latinLnBrk="0" hangingPunct="1">
              <a:lnSpc>
                <a:spcPct val="80000"/>
              </a:lnSpc>
              <a:spcBef>
                <a:spcPts val="0"/>
              </a:spcBef>
              <a:spcAft>
                <a:spcPts val="588"/>
              </a:spcAft>
              <a:buClrTx/>
              <a:buSzTx/>
              <a:buFontTx/>
              <a:buNone/>
              <a:tabLst/>
              <a:defRPr/>
            </a:pPr>
            <a:r>
              <a:rPr kumimoji="0" lang="en-AU" sz="2000" b="0" i="0" u="none" strike="noStrike" kern="1200" cap="none" spc="0" normalizeH="0" baseline="0" noProof="0">
                <a:ln>
                  <a:noFill/>
                </a:ln>
                <a:solidFill>
                  <a:srgbClr val="0078D4"/>
                </a:solidFill>
                <a:effectLst/>
                <a:uLnTx/>
                <a:uFillTx/>
                <a:latin typeface="Segoe UI Semibold"/>
                <a:ea typeface="+mn-ea"/>
                <a:cs typeface="+mn-cs"/>
              </a:rPr>
              <a:t>Do More</a:t>
            </a:r>
            <a:endParaRPr kumimoji="0" lang="en-AU" sz="2000" b="0" i="0" u="none" strike="noStrike" kern="1200" cap="none" spc="0" normalizeH="0" baseline="0" noProof="0">
              <a:ln>
                <a:noFill/>
              </a:ln>
              <a:solidFill>
                <a:srgbClr val="000000"/>
              </a:solidFill>
              <a:effectLst/>
              <a:uLnTx/>
              <a:uFillTx/>
              <a:latin typeface="Segoe UI Semibold"/>
              <a:ea typeface="+mn-ea"/>
              <a:cs typeface="+mn-cs"/>
            </a:endParaRPr>
          </a:p>
          <a:p>
            <a:pPr marL="0" marR="0" lvl="0" indent="0" algn="l" defTabSz="914139" rtl="0" eaLnBrk="1" fontAlgn="auto" latinLnBrk="0" hangingPunct="1">
              <a:lnSpc>
                <a:spcPct val="80000"/>
              </a:lnSpc>
              <a:spcBef>
                <a:spcPts val="0"/>
              </a:spcBef>
              <a:spcAft>
                <a:spcPts val="588"/>
              </a:spcAft>
              <a:buClrTx/>
              <a:buSzTx/>
              <a:buFontTx/>
              <a:buNone/>
              <a:tabLst/>
              <a:defRPr/>
            </a:pPr>
            <a:r>
              <a:rPr kumimoji="0" lang="en-AU" sz="1200" b="0" i="0" u="none" strike="noStrike" kern="1200" cap="none" spc="0" normalizeH="0" baseline="0" noProof="0">
                <a:ln>
                  <a:noFill/>
                </a:ln>
                <a:solidFill>
                  <a:srgbClr val="000000"/>
                </a:solidFill>
                <a:effectLst/>
                <a:uLnTx/>
                <a:uFillTx/>
                <a:latin typeface="Segoe UI"/>
                <a:ea typeface="+mn-ea"/>
                <a:cs typeface="+mn-cs"/>
              </a:rPr>
              <a:t>Offer managed services to customers to realize value of the solution and be more effective</a:t>
            </a:r>
            <a:endParaRPr kumimoji="0" lang="en-US" sz="20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42" name="TextBox 41">
            <a:extLst>
              <a:ext uri="{FF2B5EF4-FFF2-40B4-BE49-F238E27FC236}">
                <a16:creationId xmlns:a16="http://schemas.microsoft.com/office/drawing/2014/main" id="{24686748-3987-E47D-F8B3-63B624B94FAF}"/>
              </a:ext>
            </a:extLst>
          </p:cNvPr>
          <p:cNvSpPr txBox="1"/>
          <p:nvPr/>
        </p:nvSpPr>
        <p:spPr>
          <a:xfrm>
            <a:off x="588263" y="165734"/>
            <a:ext cx="6702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02</a:t>
            </a:r>
          </a:p>
        </p:txBody>
      </p:sp>
      <p:sp>
        <p:nvSpPr>
          <p:cNvPr id="26" name="TextBox 25">
            <a:extLst>
              <a:ext uri="{FF2B5EF4-FFF2-40B4-BE49-F238E27FC236}">
                <a16:creationId xmlns:a16="http://schemas.microsoft.com/office/drawing/2014/main" id="{ED8C9243-9BA5-6C1C-83B3-E832F4DF1F26}"/>
              </a:ext>
            </a:extLst>
          </p:cNvPr>
          <p:cNvSpPr txBox="1"/>
          <p:nvPr/>
        </p:nvSpPr>
        <p:spPr>
          <a:xfrm>
            <a:off x="720212" y="6488155"/>
            <a:ext cx="7215474" cy="53860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Segoe UI" panose="020B0502040204020203" pitchFamily="34" charset="0"/>
                <a:ea typeface="+mn-ea"/>
                <a:cs typeface="+mn-cs"/>
              </a:rPr>
              <a:t>1. </a:t>
            </a:r>
            <a:r>
              <a:rPr kumimoji="0" lang="en-US" sz="1100" b="0" i="0" u="none" strike="noStrike" kern="1200" cap="none" spc="0" normalizeH="0" baseline="0" noProof="0">
                <a:ln>
                  <a:noFill/>
                </a:ln>
                <a:effectLst/>
                <a:uLnTx/>
                <a:uFillTx/>
                <a:latin typeface="Segoe UI"/>
                <a:ea typeface="+mn-ea"/>
                <a:cs typeface="Segoe UI Semibold"/>
                <a:hlinkClick r:id="rId4">
                  <a:extLst>
                    <a:ext uri="{A12FA001-AC4F-418D-AE19-62706E023703}">
                      <ahyp:hlinkClr xmlns:ahyp="http://schemas.microsoft.com/office/drawing/2018/hyperlinkcolor" val="tx"/>
                    </a:ext>
                  </a:extLst>
                </a:hlinkClick>
              </a:rPr>
              <a:t>Meeting the Changing Software Technology Needs of SMBs, Forrester Consulting, September 2022</a:t>
            </a:r>
            <a:endParaRPr kumimoji="0" lang="en-US" sz="1100" b="0" i="0" u="none" strike="noStrike" kern="1200" cap="none" spc="0" normalizeH="0" baseline="0" noProof="0">
              <a:ln>
                <a:noFill/>
              </a:ln>
              <a:effectLst/>
              <a:uLnTx/>
              <a:uFillTx/>
              <a:latin typeface="Segoe UI"/>
              <a:ea typeface="+mn-ea"/>
              <a:cs typeface="Segoe UI Semibol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1200" cap="none" spc="0" normalizeH="0" baseline="0" noProof="0">
              <a:ln>
                <a:noFill/>
              </a:ln>
              <a:solidFill>
                <a:srgbClr val="50E6FF"/>
              </a:solidFill>
              <a:effectLst/>
              <a:uLnTx/>
              <a:uFillTx/>
              <a:latin typeface="Segoe UI"/>
              <a:ea typeface="+mn-ea"/>
              <a:cs typeface="+mn-cs"/>
            </a:endParaRPr>
          </a:p>
        </p:txBody>
      </p:sp>
    </p:spTree>
    <p:extLst>
      <p:ext uri="{BB962C8B-B14F-4D97-AF65-F5344CB8AC3E}">
        <p14:creationId xmlns:p14="http://schemas.microsoft.com/office/powerpoint/2010/main" val="16785725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ory Image 3">
            <a:extLst>
              <a:ext uri="{FF2B5EF4-FFF2-40B4-BE49-F238E27FC236}">
                <a16:creationId xmlns:a16="http://schemas.microsoft.com/office/drawing/2014/main" id="{19CA432E-0994-9193-37C3-A67704B980B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5653" r="48918"/>
          <a:stretch/>
        </p:blipFill>
        <p:spPr bwMode="auto">
          <a:xfrm>
            <a:off x="6210141" y="0"/>
            <a:ext cx="5981859"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Top Corners Rounded 10">
            <a:extLst>
              <a:ext uri="{FF2B5EF4-FFF2-40B4-BE49-F238E27FC236}">
                <a16:creationId xmlns:a16="http://schemas.microsoft.com/office/drawing/2014/main" id="{150AF5F2-D01B-4232-4C20-0990B93A5C8A}"/>
              </a:ext>
              <a:ext uri="{C183D7F6-B498-43B3-948B-1728B52AA6E4}">
                <adec:decorative xmlns:adec="http://schemas.microsoft.com/office/drawing/2017/decorative" val="1"/>
              </a:ext>
            </a:extLst>
          </p:cNvPr>
          <p:cNvSpPr/>
          <p:nvPr/>
        </p:nvSpPr>
        <p:spPr bwMode="auto">
          <a:xfrm rot="5400000">
            <a:off x="2125885" y="2680291"/>
            <a:ext cx="1594624" cy="5846393"/>
          </a:xfrm>
          <a:prstGeom prst="round2Same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15" name="Title 2">
            <a:extLst>
              <a:ext uri="{FF2B5EF4-FFF2-40B4-BE49-F238E27FC236}">
                <a16:creationId xmlns:a16="http://schemas.microsoft.com/office/drawing/2014/main" id="{073D8A59-215C-0010-C692-8598B71F6432}"/>
              </a:ext>
            </a:extLst>
          </p:cNvPr>
          <p:cNvSpPr>
            <a:spLocks noGrp="1"/>
          </p:cNvSpPr>
          <p:nvPr>
            <p:ph type="title"/>
          </p:nvPr>
        </p:nvSpPr>
        <p:spPr/>
        <p:txBody>
          <a:bodyPr/>
          <a:lstStyle/>
          <a:p>
            <a:r>
              <a:rPr lang="en-US"/>
              <a:t>Microsoft 365 Business Premium</a:t>
            </a:r>
            <a:br>
              <a:rPr lang="en-US"/>
            </a:br>
            <a:r>
              <a:rPr lang="en-US" sz="2000" spc="0">
                <a:solidFill>
                  <a:schemeClr val="accent1"/>
                </a:solidFill>
              </a:rPr>
              <a:t>Your path to increasing profitability</a:t>
            </a:r>
            <a:endParaRPr lang="en-IN" spc="0">
              <a:solidFill>
                <a:schemeClr val="accent1"/>
              </a:solidFill>
            </a:endParaRPr>
          </a:p>
        </p:txBody>
      </p:sp>
      <p:grpSp>
        <p:nvGrpSpPr>
          <p:cNvPr id="2" name="Graphic 6">
            <a:extLst>
              <a:ext uri="{FF2B5EF4-FFF2-40B4-BE49-F238E27FC236}">
                <a16:creationId xmlns:a16="http://schemas.microsoft.com/office/drawing/2014/main" id="{3475AA3B-3B69-9704-6273-A52F99EFF00E}"/>
              </a:ext>
              <a:ext uri="{C183D7F6-B498-43B3-948B-1728B52AA6E4}">
                <adec:decorative xmlns:adec="http://schemas.microsoft.com/office/drawing/2017/decorative" val="1"/>
              </a:ext>
            </a:extLst>
          </p:cNvPr>
          <p:cNvGrpSpPr/>
          <p:nvPr/>
        </p:nvGrpSpPr>
        <p:grpSpPr>
          <a:xfrm>
            <a:off x="610776" y="1829130"/>
            <a:ext cx="246062" cy="322223"/>
            <a:chOff x="1920502" y="2261347"/>
            <a:chExt cx="246062" cy="322223"/>
          </a:xfrm>
          <a:solidFill>
            <a:schemeClr val="accent1"/>
          </a:solidFill>
        </p:grpSpPr>
        <p:sp>
          <p:nvSpPr>
            <p:cNvPr id="3" name="Freeform: Shape 2">
              <a:extLst>
                <a:ext uri="{FF2B5EF4-FFF2-40B4-BE49-F238E27FC236}">
                  <a16:creationId xmlns:a16="http://schemas.microsoft.com/office/drawing/2014/main" id="{89442185-74B7-6667-A313-5413E271950D}"/>
                </a:ext>
              </a:extLst>
            </p:cNvPr>
            <p:cNvSpPr/>
            <p:nvPr/>
          </p:nvSpPr>
          <p:spPr>
            <a:xfrm>
              <a:off x="1920502" y="2261347"/>
              <a:ext cx="246062" cy="140606"/>
            </a:xfrm>
            <a:custGeom>
              <a:avLst/>
              <a:gdLst>
                <a:gd name="connsiteX0" fmla="*/ 61215 w 246062"/>
                <a:gd name="connsiteY0" fmla="*/ 140379 h 140606"/>
                <a:gd name="connsiteX1" fmla="*/ 61215 w 246062"/>
                <a:gd name="connsiteY1" fmla="*/ 140379 h 140606"/>
                <a:gd name="connsiteX2" fmla="*/ 184246 w 246062"/>
                <a:gd name="connsiteY2" fmla="*/ 140379 h 140606"/>
                <a:gd name="connsiteX3" fmla="*/ 184246 w 246062"/>
                <a:gd name="connsiteY3" fmla="*/ 81412 h 140606"/>
                <a:gd name="connsiteX4" fmla="*/ 179629 w 246062"/>
                <a:gd name="connsiteY4" fmla="*/ 57222 h 140606"/>
                <a:gd name="connsiteX5" fmla="*/ 166558 w 246062"/>
                <a:gd name="connsiteY5" fmla="*/ 37572 h 140606"/>
                <a:gd name="connsiteX6" fmla="*/ 147336 w 246062"/>
                <a:gd name="connsiteY6" fmla="*/ 23962 h 140606"/>
                <a:gd name="connsiteX7" fmla="*/ 122730 w 246062"/>
                <a:gd name="connsiteY7" fmla="*/ 19428 h 140606"/>
                <a:gd name="connsiteX8" fmla="*/ 98124 w 246062"/>
                <a:gd name="connsiteY8" fmla="*/ 23962 h 140606"/>
                <a:gd name="connsiteX9" fmla="*/ 78902 w 246062"/>
                <a:gd name="connsiteY9" fmla="*/ 37572 h 140606"/>
                <a:gd name="connsiteX10" fmla="*/ 65831 w 246062"/>
                <a:gd name="connsiteY10" fmla="*/ 57222 h 140606"/>
                <a:gd name="connsiteX11" fmla="*/ 61215 w 246062"/>
                <a:gd name="connsiteY11" fmla="*/ 81412 h 140606"/>
                <a:gd name="connsiteX12" fmla="*/ 61215 w 246062"/>
                <a:gd name="connsiteY12" fmla="*/ 140379 h 140606"/>
                <a:gd name="connsiteX13" fmla="*/ -301 w 246062"/>
                <a:gd name="connsiteY13" fmla="*/ 140379 h 140606"/>
                <a:gd name="connsiteX14" fmla="*/ -301 w 246062"/>
                <a:gd name="connsiteY14" fmla="*/ 140379 h 140606"/>
                <a:gd name="connsiteX15" fmla="*/ 40452 w 246062"/>
                <a:gd name="connsiteY15" fmla="*/ 140379 h 140606"/>
                <a:gd name="connsiteX16" fmla="*/ 40452 w 246062"/>
                <a:gd name="connsiteY16" fmla="*/ 81412 h 140606"/>
                <a:gd name="connsiteX17" fmla="*/ 46603 w 246062"/>
                <a:gd name="connsiteY17" fmla="*/ 48908 h 140606"/>
                <a:gd name="connsiteX18" fmla="*/ 64290 w 246062"/>
                <a:gd name="connsiteY18" fmla="*/ 23206 h 140606"/>
                <a:gd name="connsiteX19" fmla="*/ 90431 w 246062"/>
                <a:gd name="connsiteY19" fmla="*/ 5062 h 140606"/>
                <a:gd name="connsiteX20" fmla="*/ 122730 w 246062"/>
                <a:gd name="connsiteY20" fmla="*/ -228 h 140606"/>
                <a:gd name="connsiteX21" fmla="*/ 155029 w 246062"/>
                <a:gd name="connsiteY21" fmla="*/ 5062 h 140606"/>
                <a:gd name="connsiteX22" fmla="*/ 181170 w 246062"/>
                <a:gd name="connsiteY22" fmla="*/ 23206 h 140606"/>
                <a:gd name="connsiteX23" fmla="*/ 198084 w 246062"/>
                <a:gd name="connsiteY23" fmla="*/ 48908 h 140606"/>
                <a:gd name="connsiteX24" fmla="*/ 204241 w 246062"/>
                <a:gd name="connsiteY24" fmla="*/ 81412 h 140606"/>
                <a:gd name="connsiteX25" fmla="*/ 204241 w 246062"/>
                <a:gd name="connsiteY25" fmla="*/ 140379 h 140606"/>
                <a:gd name="connsiteX26" fmla="*/ 245761 w 246062"/>
                <a:gd name="connsiteY26" fmla="*/ 140379 h 140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6062" h="140606">
                  <a:moveTo>
                    <a:pt x="61215" y="140379"/>
                  </a:moveTo>
                  <a:lnTo>
                    <a:pt x="61215" y="140379"/>
                  </a:lnTo>
                  <a:lnTo>
                    <a:pt x="184246" y="140379"/>
                  </a:lnTo>
                  <a:lnTo>
                    <a:pt x="184246" y="81412"/>
                  </a:lnTo>
                  <a:cubicBezTo>
                    <a:pt x="184246" y="72343"/>
                    <a:pt x="182705" y="64785"/>
                    <a:pt x="179629" y="57222"/>
                  </a:cubicBezTo>
                  <a:cubicBezTo>
                    <a:pt x="176559" y="49664"/>
                    <a:pt x="171942" y="42862"/>
                    <a:pt x="166558" y="37572"/>
                  </a:cubicBezTo>
                  <a:cubicBezTo>
                    <a:pt x="161174" y="31520"/>
                    <a:pt x="154255" y="26985"/>
                    <a:pt x="147336" y="23962"/>
                  </a:cubicBezTo>
                  <a:cubicBezTo>
                    <a:pt x="139650" y="20939"/>
                    <a:pt x="131190" y="19428"/>
                    <a:pt x="122730" y="19428"/>
                  </a:cubicBezTo>
                  <a:cubicBezTo>
                    <a:pt x="113503" y="19428"/>
                    <a:pt x="105810" y="20939"/>
                    <a:pt x="98124" y="23962"/>
                  </a:cubicBezTo>
                  <a:cubicBezTo>
                    <a:pt x="90431" y="26985"/>
                    <a:pt x="84286" y="31520"/>
                    <a:pt x="78902" y="37572"/>
                  </a:cubicBezTo>
                  <a:cubicBezTo>
                    <a:pt x="72750" y="42862"/>
                    <a:pt x="68901" y="49664"/>
                    <a:pt x="65831" y="57222"/>
                  </a:cubicBezTo>
                  <a:cubicBezTo>
                    <a:pt x="62755" y="64785"/>
                    <a:pt x="61215" y="72343"/>
                    <a:pt x="61215" y="81412"/>
                  </a:cubicBezTo>
                  <a:lnTo>
                    <a:pt x="61215" y="140379"/>
                  </a:lnTo>
                  <a:close/>
                  <a:moveTo>
                    <a:pt x="-301" y="140379"/>
                  </a:moveTo>
                  <a:lnTo>
                    <a:pt x="-301" y="140379"/>
                  </a:lnTo>
                  <a:lnTo>
                    <a:pt x="40452" y="140379"/>
                  </a:lnTo>
                  <a:lnTo>
                    <a:pt x="40452" y="81412"/>
                  </a:lnTo>
                  <a:cubicBezTo>
                    <a:pt x="40452" y="70075"/>
                    <a:pt x="42760" y="59495"/>
                    <a:pt x="46603" y="48908"/>
                  </a:cubicBezTo>
                  <a:cubicBezTo>
                    <a:pt x="51220" y="39083"/>
                    <a:pt x="56598" y="30764"/>
                    <a:pt x="64290" y="23206"/>
                  </a:cubicBezTo>
                  <a:cubicBezTo>
                    <a:pt x="71209" y="15649"/>
                    <a:pt x="80437" y="9597"/>
                    <a:pt x="90431" y="5062"/>
                  </a:cubicBezTo>
                  <a:cubicBezTo>
                    <a:pt x="100432" y="2039"/>
                    <a:pt x="111194" y="-228"/>
                    <a:pt x="122730" y="-228"/>
                  </a:cubicBezTo>
                  <a:cubicBezTo>
                    <a:pt x="134266" y="-228"/>
                    <a:pt x="145028" y="2039"/>
                    <a:pt x="155029" y="5062"/>
                  </a:cubicBezTo>
                  <a:cubicBezTo>
                    <a:pt x="165023" y="9597"/>
                    <a:pt x="173483" y="15649"/>
                    <a:pt x="181170" y="23206"/>
                  </a:cubicBezTo>
                  <a:cubicBezTo>
                    <a:pt x="188089" y="30764"/>
                    <a:pt x="194240" y="39083"/>
                    <a:pt x="198084" y="48908"/>
                  </a:cubicBezTo>
                  <a:cubicBezTo>
                    <a:pt x="202700" y="59495"/>
                    <a:pt x="204241" y="70075"/>
                    <a:pt x="204241" y="81412"/>
                  </a:cubicBezTo>
                  <a:lnTo>
                    <a:pt x="204241" y="140379"/>
                  </a:lnTo>
                  <a:lnTo>
                    <a:pt x="245761" y="140379"/>
                  </a:lnTo>
                </a:path>
              </a:pathLst>
            </a:custGeom>
            <a:solidFill>
              <a:schemeClr val="accent1"/>
            </a:solidFill>
            <a:ln w="567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4" name="Freeform: Shape 3">
              <a:extLst>
                <a:ext uri="{FF2B5EF4-FFF2-40B4-BE49-F238E27FC236}">
                  <a16:creationId xmlns:a16="http://schemas.microsoft.com/office/drawing/2014/main" id="{32D10D6A-405B-1401-B590-1DD95D77276B}"/>
                </a:ext>
              </a:extLst>
            </p:cNvPr>
            <p:cNvSpPr/>
            <p:nvPr/>
          </p:nvSpPr>
          <p:spPr>
            <a:xfrm>
              <a:off x="1920502" y="2401953"/>
              <a:ext cx="246062" cy="181617"/>
            </a:xfrm>
            <a:custGeom>
              <a:avLst/>
              <a:gdLst>
                <a:gd name="connsiteX0" fmla="*/ 122730 w 246062"/>
                <a:gd name="connsiteY0" fmla="*/ 136946 h 181617"/>
                <a:gd name="connsiteX1" fmla="*/ 122730 w 246062"/>
                <a:gd name="connsiteY1" fmla="*/ 136946 h 181617"/>
                <a:gd name="connsiteX2" fmla="*/ 81210 w 246062"/>
                <a:gd name="connsiteY2" fmla="*/ 95560 h 181617"/>
                <a:gd name="connsiteX3" fmla="*/ 122730 w 246062"/>
                <a:gd name="connsiteY3" fmla="*/ 54948 h 181617"/>
                <a:gd name="connsiteX4" fmla="*/ 163483 w 246062"/>
                <a:gd name="connsiteY4" fmla="*/ 95560 h 181617"/>
                <a:gd name="connsiteX5" fmla="*/ 122730 w 246062"/>
                <a:gd name="connsiteY5" fmla="*/ 136946 h 181617"/>
                <a:gd name="connsiteX6" fmla="*/ -301 w 246062"/>
                <a:gd name="connsiteY6" fmla="*/ 181389 h 181617"/>
                <a:gd name="connsiteX7" fmla="*/ -301 w 246062"/>
                <a:gd name="connsiteY7" fmla="*/ 181389 h 181617"/>
                <a:gd name="connsiteX8" fmla="*/ 245761 w 246062"/>
                <a:gd name="connsiteY8" fmla="*/ 181389 h 181617"/>
                <a:gd name="connsiteX9" fmla="*/ 245761 w 246062"/>
                <a:gd name="connsiteY9" fmla="*/ -228 h 181617"/>
                <a:gd name="connsiteX10" fmla="*/ -301 w 246062"/>
                <a:gd name="connsiteY10" fmla="*/ -228 h 181617"/>
                <a:gd name="connsiteX11" fmla="*/ -301 w 246062"/>
                <a:gd name="connsiteY11" fmla="*/ 181389 h 181617"/>
                <a:gd name="connsiteX12" fmla="*/ -301 w 246062"/>
                <a:gd name="connsiteY12" fmla="*/ -228 h 181617"/>
                <a:gd name="connsiteX13" fmla="*/ -301 w 246062"/>
                <a:gd name="connsiteY13" fmla="*/ -228 h 181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6062" h="181617">
                  <a:moveTo>
                    <a:pt x="122730" y="136946"/>
                  </a:moveTo>
                  <a:lnTo>
                    <a:pt x="122730" y="136946"/>
                  </a:lnTo>
                  <a:cubicBezTo>
                    <a:pt x="99659" y="136946"/>
                    <a:pt x="81210" y="118550"/>
                    <a:pt x="81210" y="95560"/>
                  </a:cubicBezTo>
                  <a:cubicBezTo>
                    <a:pt x="81210" y="73339"/>
                    <a:pt x="99659" y="54948"/>
                    <a:pt x="122730" y="54948"/>
                  </a:cubicBezTo>
                  <a:cubicBezTo>
                    <a:pt x="145028" y="54948"/>
                    <a:pt x="163483" y="73339"/>
                    <a:pt x="163483" y="95560"/>
                  </a:cubicBezTo>
                  <a:cubicBezTo>
                    <a:pt x="163483" y="118550"/>
                    <a:pt x="145028" y="136946"/>
                    <a:pt x="122730" y="136946"/>
                  </a:cubicBezTo>
                  <a:close/>
                  <a:moveTo>
                    <a:pt x="-301" y="181389"/>
                  </a:moveTo>
                  <a:lnTo>
                    <a:pt x="-301" y="181389"/>
                  </a:lnTo>
                  <a:lnTo>
                    <a:pt x="245761" y="181389"/>
                  </a:lnTo>
                  <a:lnTo>
                    <a:pt x="245761" y="-228"/>
                  </a:lnTo>
                  <a:lnTo>
                    <a:pt x="-301" y="-228"/>
                  </a:lnTo>
                  <a:lnTo>
                    <a:pt x="-301" y="181389"/>
                  </a:lnTo>
                  <a:close/>
                  <a:moveTo>
                    <a:pt x="-301" y="-228"/>
                  </a:moveTo>
                  <a:lnTo>
                    <a:pt x="-301" y="-228"/>
                  </a:lnTo>
                  <a:close/>
                </a:path>
              </a:pathLst>
            </a:custGeom>
            <a:solidFill>
              <a:schemeClr val="accent1"/>
            </a:solidFill>
            <a:ln w="567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Freeform: Shape 4">
              <a:extLst>
                <a:ext uri="{FF2B5EF4-FFF2-40B4-BE49-F238E27FC236}">
                  <a16:creationId xmlns:a16="http://schemas.microsoft.com/office/drawing/2014/main" id="{B23C19A5-B6F2-C9E3-9DC0-C86D25D6FAAA}"/>
                </a:ext>
              </a:extLst>
            </p:cNvPr>
            <p:cNvSpPr/>
            <p:nvPr/>
          </p:nvSpPr>
          <p:spPr>
            <a:xfrm>
              <a:off x="2025293" y="2483310"/>
              <a:ext cx="41010" cy="35151"/>
            </a:xfrm>
            <a:custGeom>
              <a:avLst/>
              <a:gdLst>
                <a:gd name="connsiteX0" fmla="*/ 20591 w 41010"/>
                <a:gd name="connsiteY0" fmla="*/ -228 h 35151"/>
                <a:gd name="connsiteX1" fmla="*/ 20591 w 41010"/>
                <a:gd name="connsiteY1" fmla="*/ -228 h 35151"/>
                <a:gd name="connsiteX2" fmla="*/ -301 w 41010"/>
                <a:gd name="connsiteY2" fmla="*/ 17014 h 35151"/>
                <a:gd name="connsiteX3" fmla="*/ 20591 w 41010"/>
                <a:gd name="connsiteY3" fmla="*/ 34924 h 35151"/>
                <a:gd name="connsiteX4" fmla="*/ 40709 w 41010"/>
                <a:gd name="connsiteY4" fmla="*/ 17014 h 35151"/>
                <a:gd name="connsiteX5" fmla="*/ 20591 w 41010"/>
                <a:gd name="connsiteY5" fmla="*/ -228 h 3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10" h="35151">
                  <a:moveTo>
                    <a:pt x="20591" y="-228"/>
                  </a:moveTo>
                  <a:lnTo>
                    <a:pt x="20591" y="-228"/>
                  </a:lnTo>
                  <a:cubicBezTo>
                    <a:pt x="8985" y="-228"/>
                    <a:pt x="-301" y="7066"/>
                    <a:pt x="-301" y="17014"/>
                  </a:cubicBezTo>
                  <a:cubicBezTo>
                    <a:pt x="-301" y="26968"/>
                    <a:pt x="8985" y="34924"/>
                    <a:pt x="20591" y="34924"/>
                  </a:cubicBezTo>
                  <a:cubicBezTo>
                    <a:pt x="32197" y="34924"/>
                    <a:pt x="40709" y="26968"/>
                    <a:pt x="40709" y="17014"/>
                  </a:cubicBezTo>
                  <a:cubicBezTo>
                    <a:pt x="40709" y="7066"/>
                    <a:pt x="32197" y="-228"/>
                    <a:pt x="20591" y="-228"/>
                  </a:cubicBezTo>
                  <a:close/>
                </a:path>
              </a:pathLst>
            </a:custGeom>
            <a:solidFill>
              <a:srgbClr val="243A5E"/>
            </a:solidFill>
            <a:ln w="567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50" name="Rounded Rectangle 45_1">
            <a:extLst>
              <a:ext uri="{FF2B5EF4-FFF2-40B4-BE49-F238E27FC236}">
                <a16:creationId xmlns:a16="http://schemas.microsoft.com/office/drawing/2014/main" id="{5DE65866-43D7-44B9-5054-D76481212705}"/>
              </a:ext>
            </a:extLst>
          </p:cNvPr>
          <p:cNvSpPr>
            <a:spLocks/>
          </p:cNvSpPr>
          <p:nvPr/>
        </p:nvSpPr>
        <p:spPr bwMode="auto">
          <a:xfrm>
            <a:off x="1240837" y="1867132"/>
            <a:ext cx="4042966"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Meet customer needs for increased security</a:t>
            </a:r>
          </a:p>
        </p:txBody>
      </p:sp>
      <p:grpSp>
        <p:nvGrpSpPr>
          <p:cNvPr id="6" name="Graphic 16">
            <a:extLst>
              <a:ext uri="{FF2B5EF4-FFF2-40B4-BE49-F238E27FC236}">
                <a16:creationId xmlns:a16="http://schemas.microsoft.com/office/drawing/2014/main" id="{1F7D256B-C6A8-DF4D-9029-144A877E8D28}"/>
              </a:ext>
              <a:ext uri="{C183D7F6-B498-43B3-948B-1728B52AA6E4}">
                <adec:decorative xmlns:adec="http://schemas.microsoft.com/office/drawing/2017/decorative" val="1"/>
              </a:ext>
            </a:extLst>
          </p:cNvPr>
          <p:cNvGrpSpPr/>
          <p:nvPr/>
        </p:nvGrpSpPr>
        <p:grpSpPr>
          <a:xfrm>
            <a:off x="585217" y="2634571"/>
            <a:ext cx="291873" cy="291873"/>
            <a:chOff x="1894943" y="3169046"/>
            <a:chExt cx="291873" cy="291873"/>
          </a:xfrm>
          <a:solidFill>
            <a:schemeClr val="accent1"/>
          </a:solidFill>
        </p:grpSpPr>
        <p:sp>
          <p:nvSpPr>
            <p:cNvPr id="9" name="Freeform: Shape 8">
              <a:extLst>
                <a:ext uri="{FF2B5EF4-FFF2-40B4-BE49-F238E27FC236}">
                  <a16:creationId xmlns:a16="http://schemas.microsoft.com/office/drawing/2014/main" id="{29A07FF3-9EF9-E44B-950F-F772F0696743}"/>
                </a:ext>
              </a:extLst>
            </p:cNvPr>
            <p:cNvSpPr/>
            <p:nvPr/>
          </p:nvSpPr>
          <p:spPr>
            <a:xfrm>
              <a:off x="1894943" y="3169046"/>
              <a:ext cx="291873" cy="217578"/>
            </a:xfrm>
            <a:custGeom>
              <a:avLst/>
              <a:gdLst>
                <a:gd name="connsiteX0" fmla="*/ 284680 w 291873"/>
                <a:gd name="connsiteY0" fmla="*/ 5087 h 217578"/>
                <a:gd name="connsiteX1" fmla="*/ 284680 w 291873"/>
                <a:gd name="connsiteY1" fmla="*/ 5087 h 217578"/>
                <a:gd name="connsiteX2" fmla="*/ 277829 w 291873"/>
                <a:gd name="connsiteY2" fmla="*/ 996 h 217578"/>
                <a:gd name="connsiteX3" fmla="*/ 268919 w 291873"/>
                <a:gd name="connsiteY3" fmla="*/ -368 h 217578"/>
                <a:gd name="connsiteX4" fmla="*/ 22270 w 291873"/>
                <a:gd name="connsiteY4" fmla="*/ -368 h 217578"/>
                <a:gd name="connsiteX5" fmla="*/ 13360 w 291873"/>
                <a:gd name="connsiteY5" fmla="*/ 996 h 217578"/>
                <a:gd name="connsiteX6" fmla="*/ 5824 w 291873"/>
                <a:gd name="connsiteY6" fmla="*/ 5087 h 217578"/>
                <a:gd name="connsiteX7" fmla="*/ 1027 w 291873"/>
                <a:gd name="connsiteY7" fmla="*/ 12591 h 217578"/>
                <a:gd name="connsiteX8" fmla="*/ -342 w 291873"/>
                <a:gd name="connsiteY8" fmla="*/ 21459 h 217578"/>
                <a:gd name="connsiteX9" fmla="*/ -342 w 291873"/>
                <a:gd name="connsiteY9" fmla="*/ 194020 h 217578"/>
                <a:gd name="connsiteX10" fmla="*/ 1027 w 291873"/>
                <a:gd name="connsiteY10" fmla="*/ 202888 h 217578"/>
                <a:gd name="connsiteX11" fmla="*/ 5824 w 291873"/>
                <a:gd name="connsiteY11" fmla="*/ 210392 h 217578"/>
                <a:gd name="connsiteX12" fmla="*/ 13360 w 291873"/>
                <a:gd name="connsiteY12" fmla="*/ 215162 h 217578"/>
                <a:gd name="connsiteX13" fmla="*/ 22270 w 291873"/>
                <a:gd name="connsiteY13" fmla="*/ 217211 h 217578"/>
                <a:gd name="connsiteX14" fmla="*/ 131892 w 291873"/>
                <a:gd name="connsiteY14" fmla="*/ 217211 h 217578"/>
                <a:gd name="connsiteX15" fmla="*/ 133946 w 291873"/>
                <a:gd name="connsiteY15" fmla="*/ 215847 h 217578"/>
                <a:gd name="connsiteX16" fmla="*/ 122982 w 291873"/>
                <a:gd name="connsiteY16" fmla="*/ 209028 h 217578"/>
                <a:gd name="connsiteX17" fmla="*/ 127095 w 291873"/>
                <a:gd name="connsiteY17" fmla="*/ 198796 h 217578"/>
                <a:gd name="connsiteX18" fmla="*/ 22270 w 291873"/>
                <a:gd name="connsiteY18" fmla="*/ 198796 h 217578"/>
                <a:gd name="connsiteX19" fmla="*/ 18842 w 291873"/>
                <a:gd name="connsiteY19" fmla="*/ 197432 h 217578"/>
                <a:gd name="connsiteX20" fmla="*/ 17473 w 291873"/>
                <a:gd name="connsiteY20" fmla="*/ 194020 h 217578"/>
                <a:gd name="connsiteX21" fmla="*/ 17473 w 291873"/>
                <a:gd name="connsiteY21" fmla="*/ 21459 h 217578"/>
                <a:gd name="connsiteX22" fmla="*/ 18842 w 291873"/>
                <a:gd name="connsiteY22" fmla="*/ 18047 h 217578"/>
                <a:gd name="connsiteX23" fmla="*/ 22270 w 291873"/>
                <a:gd name="connsiteY23" fmla="*/ 16683 h 217578"/>
                <a:gd name="connsiteX24" fmla="*/ 268919 w 291873"/>
                <a:gd name="connsiteY24" fmla="*/ 16683 h 217578"/>
                <a:gd name="connsiteX25" fmla="*/ 272347 w 291873"/>
                <a:gd name="connsiteY25" fmla="*/ 18047 h 217578"/>
                <a:gd name="connsiteX26" fmla="*/ 273032 w 291873"/>
                <a:gd name="connsiteY26" fmla="*/ 21459 h 217578"/>
                <a:gd name="connsiteX27" fmla="*/ 273032 w 291873"/>
                <a:gd name="connsiteY27" fmla="*/ 140140 h 217578"/>
                <a:gd name="connsiteX28" fmla="*/ 281252 w 291873"/>
                <a:gd name="connsiteY28" fmla="*/ 143547 h 217578"/>
                <a:gd name="connsiteX29" fmla="*/ 278514 w 291873"/>
                <a:gd name="connsiteY29" fmla="*/ 156506 h 217578"/>
                <a:gd name="connsiteX30" fmla="*/ 290847 w 291873"/>
                <a:gd name="connsiteY30" fmla="*/ 153094 h 217578"/>
                <a:gd name="connsiteX31" fmla="*/ 291531 w 291873"/>
                <a:gd name="connsiteY31" fmla="*/ 154463 h 217578"/>
                <a:gd name="connsiteX32" fmla="*/ 291531 w 291873"/>
                <a:gd name="connsiteY32" fmla="*/ 21459 h 217578"/>
                <a:gd name="connsiteX33" fmla="*/ 290162 w 291873"/>
                <a:gd name="connsiteY33" fmla="*/ 12591 h 217578"/>
                <a:gd name="connsiteX34" fmla="*/ 284680 w 291873"/>
                <a:gd name="connsiteY34" fmla="*/ 5087 h 21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1873" h="217578">
                  <a:moveTo>
                    <a:pt x="284680" y="5087"/>
                  </a:moveTo>
                  <a:lnTo>
                    <a:pt x="284680" y="5087"/>
                  </a:lnTo>
                  <a:cubicBezTo>
                    <a:pt x="282626" y="3044"/>
                    <a:pt x="280567" y="1680"/>
                    <a:pt x="277829" y="996"/>
                  </a:cubicBezTo>
                  <a:cubicBezTo>
                    <a:pt x="275086" y="-368"/>
                    <a:pt x="271663" y="-368"/>
                    <a:pt x="268919" y="-368"/>
                  </a:cubicBezTo>
                  <a:lnTo>
                    <a:pt x="22270" y="-368"/>
                  </a:lnTo>
                  <a:cubicBezTo>
                    <a:pt x="18842" y="-368"/>
                    <a:pt x="16104" y="-368"/>
                    <a:pt x="13360" y="996"/>
                  </a:cubicBezTo>
                  <a:cubicBezTo>
                    <a:pt x="10622" y="1680"/>
                    <a:pt x="7878" y="3044"/>
                    <a:pt x="5824" y="5087"/>
                  </a:cubicBezTo>
                  <a:cubicBezTo>
                    <a:pt x="3771" y="7136"/>
                    <a:pt x="2396" y="9864"/>
                    <a:pt x="1027" y="12591"/>
                  </a:cubicBezTo>
                  <a:cubicBezTo>
                    <a:pt x="-342" y="15319"/>
                    <a:pt x="-342" y="18047"/>
                    <a:pt x="-342" y="21459"/>
                  </a:cubicBezTo>
                  <a:lnTo>
                    <a:pt x="-342" y="194020"/>
                  </a:lnTo>
                  <a:cubicBezTo>
                    <a:pt x="-342" y="197432"/>
                    <a:pt x="-342" y="200160"/>
                    <a:pt x="1027" y="202888"/>
                  </a:cubicBezTo>
                  <a:cubicBezTo>
                    <a:pt x="2396" y="205615"/>
                    <a:pt x="3771" y="208343"/>
                    <a:pt x="5824" y="210392"/>
                  </a:cubicBezTo>
                  <a:cubicBezTo>
                    <a:pt x="7878" y="212435"/>
                    <a:pt x="10622" y="213799"/>
                    <a:pt x="13360" y="215162"/>
                  </a:cubicBezTo>
                  <a:cubicBezTo>
                    <a:pt x="16104" y="216526"/>
                    <a:pt x="18842" y="217211"/>
                    <a:pt x="22270" y="217211"/>
                  </a:cubicBezTo>
                  <a:lnTo>
                    <a:pt x="131892" y="217211"/>
                  </a:lnTo>
                  <a:lnTo>
                    <a:pt x="133946" y="215847"/>
                  </a:lnTo>
                  <a:lnTo>
                    <a:pt x="122982" y="209028"/>
                  </a:lnTo>
                  <a:lnTo>
                    <a:pt x="127095" y="198796"/>
                  </a:lnTo>
                  <a:lnTo>
                    <a:pt x="22270" y="198796"/>
                  </a:lnTo>
                  <a:cubicBezTo>
                    <a:pt x="20896" y="198796"/>
                    <a:pt x="19527" y="198112"/>
                    <a:pt x="18842" y="197432"/>
                  </a:cubicBezTo>
                  <a:cubicBezTo>
                    <a:pt x="18157" y="196748"/>
                    <a:pt x="17473" y="195384"/>
                    <a:pt x="17473" y="194020"/>
                  </a:cubicBezTo>
                  <a:lnTo>
                    <a:pt x="17473" y="21459"/>
                  </a:lnTo>
                  <a:cubicBezTo>
                    <a:pt x="17473" y="20095"/>
                    <a:pt x="18157" y="18731"/>
                    <a:pt x="18842" y="18047"/>
                  </a:cubicBezTo>
                  <a:cubicBezTo>
                    <a:pt x="19527" y="17367"/>
                    <a:pt x="20896" y="16683"/>
                    <a:pt x="22270" y="16683"/>
                  </a:cubicBezTo>
                  <a:lnTo>
                    <a:pt x="268919" y="16683"/>
                  </a:lnTo>
                  <a:cubicBezTo>
                    <a:pt x="270293" y="16683"/>
                    <a:pt x="270978" y="17367"/>
                    <a:pt x="272347" y="18047"/>
                  </a:cubicBezTo>
                  <a:cubicBezTo>
                    <a:pt x="273032" y="18731"/>
                    <a:pt x="273032" y="20095"/>
                    <a:pt x="273032" y="21459"/>
                  </a:cubicBezTo>
                  <a:lnTo>
                    <a:pt x="273032" y="140140"/>
                  </a:lnTo>
                  <a:lnTo>
                    <a:pt x="281252" y="143547"/>
                  </a:lnTo>
                  <a:lnTo>
                    <a:pt x="278514" y="156506"/>
                  </a:lnTo>
                  <a:lnTo>
                    <a:pt x="290847" y="153094"/>
                  </a:lnTo>
                  <a:lnTo>
                    <a:pt x="291531" y="154463"/>
                  </a:lnTo>
                  <a:lnTo>
                    <a:pt x="291531" y="21459"/>
                  </a:lnTo>
                  <a:cubicBezTo>
                    <a:pt x="291531" y="18047"/>
                    <a:pt x="290847" y="15319"/>
                    <a:pt x="290162" y="12591"/>
                  </a:cubicBezTo>
                  <a:cubicBezTo>
                    <a:pt x="288793" y="9864"/>
                    <a:pt x="286734" y="7136"/>
                    <a:pt x="284680" y="5087"/>
                  </a:cubicBezTo>
                  <a:close/>
                </a:path>
              </a:pathLst>
            </a:custGeom>
            <a:solidFill>
              <a:schemeClr val="accent1"/>
            </a:solidFill>
            <a:ln w="5273"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3546A09C-1F29-3F6B-AD47-EE073E6F5765}"/>
                </a:ext>
              </a:extLst>
            </p:cNvPr>
            <p:cNvSpPr/>
            <p:nvPr/>
          </p:nvSpPr>
          <p:spPr>
            <a:xfrm>
              <a:off x="2043533" y="3312329"/>
              <a:ext cx="143283" cy="148590"/>
            </a:xfrm>
            <a:custGeom>
              <a:avLst/>
              <a:gdLst>
                <a:gd name="connsiteX0" fmla="*/ 97871 w 143283"/>
                <a:gd name="connsiteY0" fmla="*/ 74973 h 148590"/>
                <a:gd name="connsiteX1" fmla="*/ 97871 w 143283"/>
                <a:gd name="connsiteY1" fmla="*/ 74973 h 148590"/>
                <a:gd name="connsiteX2" fmla="*/ 95854 w 143283"/>
                <a:gd name="connsiteY2" fmla="*/ 84742 h 148590"/>
                <a:gd name="connsiteX3" fmla="*/ 89799 w 143283"/>
                <a:gd name="connsiteY3" fmla="*/ 93111 h 148590"/>
                <a:gd name="connsiteX4" fmla="*/ 81727 w 143283"/>
                <a:gd name="connsiteY4" fmla="*/ 98694 h 148590"/>
                <a:gd name="connsiteX5" fmla="*/ 70965 w 143283"/>
                <a:gd name="connsiteY5" fmla="*/ 101485 h 148590"/>
                <a:gd name="connsiteX6" fmla="*/ 60872 w 143283"/>
                <a:gd name="connsiteY6" fmla="*/ 98694 h 148590"/>
                <a:gd name="connsiteX7" fmla="*/ 52800 w 143283"/>
                <a:gd name="connsiteY7" fmla="*/ 93111 h 148590"/>
                <a:gd name="connsiteX8" fmla="*/ 46745 w 143283"/>
                <a:gd name="connsiteY8" fmla="*/ 84742 h 148590"/>
                <a:gd name="connsiteX9" fmla="*/ 44729 w 143283"/>
                <a:gd name="connsiteY9" fmla="*/ 74973 h 148590"/>
                <a:gd name="connsiteX10" fmla="*/ 44729 w 143283"/>
                <a:gd name="connsiteY10" fmla="*/ 73577 h 148590"/>
                <a:gd name="connsiteX11" fmla="*/ 46745 w 143283"/>
                <a:gd name="connsiteY11" fmla="*/ 63112 h 148590"/>
                <a:gd name="connsiteX12" fmla="*/ 50784 w 143283"/>
                <a:gd name="connsiteY12" fmla="*/ 56139 h 148590"/>
                <a:gd name="connsiteX13" fmla="*/ 52800 w 143283"/>
                <a:gd name="connsiteY13" fmla="*/ 54048 h 148590"/>
                <a:gd name="connsiteX14" fmla="*/ 60872 w 143283"/>
                <a:gd name="connsiteY14" fmla="*/ 48465 h 148590"/>
                <a:gd name="connsiteX15" fmla="*/ 70965 w 143283"/>
                <a:gd name="connsiteY15" fmla="*/ 46374 h 148590"/>
                <a:gd name="connsiteX16" fmla="*/ 81727 w 143283"/>
                <a:gd name="connsiteY16" fmla="*/ 48465 h 148590"/>
                <a:gd name="connsiteX17" fmla="*/ 89799 w 143283"/>
                <a:gd name="connsiteY17" fmla="*/ 54048 h 148590"/>
                <a:gd name="connsiteX18" fmla="*/ 91142 w 143283"/>
                <a:gd name="connsiteY18" fmla="*/ 56139 h 148590"/>
                <a:gd name="connsiteX19" fmla="*/ 95854 w 143283"/>
                <a:gd name="connsiteY19" fmla="*/ 63112 h 148590"/>
                <a:gd name="connsiteX20" fmla="*/ 97871 w 143283"/>
                <a:gd name="connsiteY20" fmla="*/ 73577 h 148590"/>
                <a:gd name="connsiteX21" fmla="*/ 97871 w 143283"/>
                <a:gd name="connsiteY21" fmla="*/ 74973 h 148590"/>
                <a:gd name="connsiteX22" fmla="*/ 142267 w 143283"/>
                <a:gd name="connsiteY22" fmla="*/ 57535 h 148590"/>
                <a:gd name="connsiteX23" fmla="*/ 142267 w 143283"/>
                <a:gd name="connsiteY23" fmla="*/ 57535 h 148590"/>
                <a:gd name="connsiteX24" fmla="*/ 131505 w 143283"/>
                <a:gd name="connsiteY24" fmla="*/ 31022 h 148590"/>
                <a:gd name="connsiteX25" fmla="*/ 125450 w 143283"/>
                <a:gd name="connsiteY25" fmla="*/ 33118 h 148590"/>
                <a:gd name="connsiteX26" fmla="*/ 110649 w 143283"/>
                <a:gd name="connsiteY26" fmla="*/ 36605 h 148590"/>
                <a:gd name="connsiteX27" fmla="*/ 107290 w 143283"/>
                <a:gd name="connsiteY27" fmla="*/ 32417 h 148590"/>
                <a:gd name="connsiteX28" fmla="*/ 111997 w 143283"/>
                <a:gd name="connsiteY28" fmla="*/ 10792 h 148590"/>
                <a:gd name="connsiteX29" fmla="*/ 85092 w 143283"/>
                <a:gd name="connsiteY29" fmla="*/ -368 h 148590"/>
                <a:gd name="connsiteX30" fmla="*/ 73656 w 143283"/>
                <a:gd name="connsiteY30" fmla="*/ 18466 h 148590"/>
                <a:gd name="connsiteX31" fmla="*/ 72308 w 143283"/>
                <a:gd name="connsiteY31" fmla="*/ 18466 h 148590"/>
                <a:gd name="connsiteX32" fmla="*/ 70965 w 143283"/>
                <a:gd name="connsiteY32" fmla="*/ 18466 h 148590"/>
                <a:gd name="connsiteX33" fmla="*/ 70291 w 143283"/>
                <a:gd name="connsiteY33" fmla="*/ 18466 h 148590"/>
                <a:gd name="connsiteX34" fmla="*/ 68943 w 143283"/>
                <a:gd name="connsiteY34" fmla="*/ 18466 h 148590"/>
                <a:gd name="connsiteX35" fmla="*/ 57507 w 143283"/>
                <a:gd name="connsiteY35" fmla="*/ -368 h 148590"/>
                <a:gd name="connsiteX36" fmla="*/ 30602 w 143283"/>
                <a:gd name="connsiteY36" fmla="*/ 10792 h 148590"/>
                <a:gd name="connsiteX37" fmla="*/ 31950 w 143283"/>
                <a:gd name="connsiteY37" fmla="*/ 19166 h 148590"/>
                <a:gd name="connsiteX38" fmla="*/ 35309 w 143283"/>
                <a:gd name="connsiteY38" fmla="*/ 32417 h 148590"/>
                <a:gd name="connsiteX39" fmla="*/ 31950 w 143283"/>
                <a:gd name="connsiteY39" fmla="*/ 36605 h 148590"/>
                <a:gd name="connsiteX40" fmla="*/ 17823 w 143283"/>
                <a:gd name="connsiteY40" fmla="*/ 33118 h 148590"/>
                <a:gd name="connsiteX41" fmla="*/ 10420 w 143283"/>
                <a:gd name="connsiteY41" fmla="*/ 31022 h 148590"/>
                <a:gd name="connsiteX42" fmla="*/ 8404 w 143283"/>
                <a:gd name="connsiteY42" fmla="*/ 37305 h 148590"/>
                <a:gd name="connsiteX43" fmla="*/ 1006 w 143283"/>
                <a:gd name="connsiteY43" fmla="*/ 56139 h 148590"/>
                <a:gd name="connsiteX44" fmla="*/ -342 w 143283"/>
                <a:gd name="connsiteY44" fmla="*/ 59625 h 148590"/>
                <a:gd name="connsiteX45" fmla="*/ 17823 w 143283"/>
                <a:gd name="connsiteY45" fmla="*/ 70786 h 148590"/>
                <a:gd name="connsiteX46" fmla="*/ 17823 w 143283"/>
                <a:gd name="connsiteY46" fmla="*/ 72181 h 148590"/>
                <a:gd name="connsiteX47" fmla="*/ 17823 w 143283"/>
                <a:gd name="connsiteY47" fmla="*/ 73577 h 148590"/>
                <a:gd name="connsiteX48" fmla="*/ 17823 w 143283"/>
                <a:gd name="connsiteY48" fmla="*/ 74973 h 148590"/>
                <a:gd name="connsiteX49" fmla="*/ 17823 w 143283"/>
                <a:gd name="connsiteY49" fmla="*/ 74973 h 148590"/>
                <a:gd name="connsiteX50" fmla="*/ 17823 w 143283"/>
                <a:gd name="connsiteY50" fmla="*/ 76368 h 148590"/>
                <a:gd name="connsiteX51" fmla="*/ -342 w 143283"/>
                <a:gd name="connsiteY51" fmla="*/ 88229 h 148590"/>
                <a:gd name="connsiteX52" fmla="*/ 10420 w 143283"/>
                <a:gd name="connsiteY52" fmla="*/ 116132 h 148590"/>
                <a:gd name="connsiteX53" fmla="*/ 31950 w 143283"/>
                <a:gd name="connsiteY53" fmla="*/ 111250 h 148590"/>
                <a:gd name="connsiteX54" fmla="*/ 35309 w 143283"/>
                <a:gd name="connsiteY54" fmla="*/ 114737 h 148590"/>
                <a:gd name="connsiteX55" fmla="*/ 30602 w 143283"/>
                <a:gd name="connsiteY55" fmla="*/ 136362 h 148590"/>
                <a:gd name="connsiteX56" fmla="*/ 57507 w 143283"/>
                <a:gd name="connsiteY56" fmla="*/ 148222 h 148590"/>
                <a:gd name="connsiteX57" fmla="*/ 68943 w 143283"/>
                <a:gd name="connsiteY57" fmla="*/ 129389 h 148590"/>
                <a:gd name="connsiteX58" fmla="*/ 70291 w 143283"/>
                <a:gd name="connsiteY58" fmla="*/ 129389 h 148590"/>
                <a:gd name="connsiteX59" fmla="*/ 70965 w 143283"/>
                <a:gd name="connsiteY59" fmla="*/ 129389 h 148590"/>
                <a:gd name="connsiteX60" fmla="*/ 72308 w 143283"/>
                <a:gd name="connsiteY60" fmla="*/ 129389 h 148590"/>
                <a:gd name="connsiteX61" fmla="*/ 73656 w 143283"/>
                <a:gd name="connsiteY61" fmla="*/ 129389 h 148590"/>
                <a:gd name="connsiteX62" fmla="*/ 85092 w 143283"/>
                <a:gd name="connsiteY62" fmla="*/ 148222 h 148590"/>
                <a:gd name="connsiteX63" fmla="*/ 111997 w 143283"/>
                <a:gd name="connsiteY63" fmla="*/ 136362 h 148590"/>
                <a:gd name="connsiteX64" fmla="*/ 107290 w 143283"/>
                <a:gd name="connsiteY64" fmla="*/ 114737 h 148590"/>
                <a:gd name="connsiteX65" fmla="*/ 110649 w 143283"/>
                <a:gd name="connsiteY65" fmla="*/ 111250 h 148590"/>
                <a:gd name="connsiteX66" fmla="*/ 131505 w 143283"/>
                <a:gd name="connsiteY66" fmla="*/ 116132 h 148590"/>
                <a:gd name="connsiteX67" fmla="*/ 142941 w 143283"/>
                <a:gd name="connsiteY67" fmla="*/ 88229 h 148590"/>
                <a:gd name="connsiteX68" fmla="*/ 124776 w 143283"/>
                <a:gd name="connsiteY68" fmla="*/ 76368 h 148590"/>
                <a:gd name="connsiteX69" fmla="*/ 124776 w 143283"/>
                <a:gd name="connsiteY69" fmla="*/ 74973 h 148590"/>
                <a:gd name="connsiteX70" fmla="*/ 124776 w 143283"/>
                <a:gd name="connsiteY70" fmla="*/ 74278 h 148590"/>
                <a:gd name="connsiteX71" fmla="*/ 124776 w 143283"/>
                <a:gd name="connsiteY71" fmla="*/ 73577 h 148590"/>
                <a:gd name="connsiteX72" fmla="*/ 124776 w 143283"/>
                <a:gd name="connsiteY72" fmla="*/ 72181 h 148590"/>
                <a:gd name="connsiteX73" fmla="*/ 124776 w 143283"/>
                <a:gd name="connsiteY73" fmla="*/ 70786 h 148590"/>
                <a:gd name="connsiteX74" fmla="*/ 141593 w 143283"/>
                <a:gd name="connsiteY74" fmla="*/ 60326 h 148590"/>
                <a:gd name="connsiteX75" fmla="*/ 142267 w 143283"/>
                <a:gd name="connsiteY75" fmla="*/ 57535 h 14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43283" h="148590">
                  <a:moveTo>
                    <a:pt x="97871" y="74973"/>
                  </a:moveTo>
                  <a:lnTo>
                    <a:pt x="97871" y="74973"/>
                  </a:lnTo>
                  <a:cubicBezTo>
                    <a:pt x="97871" y="77764"/>
                    <a:pt x="97197" y="81251"/>
                    <a:pt x="95854" y="84742"/>
                  </a:cubicBezTo>
                  <a:cubicBezTo>
                    <a:pt x="94506" y="87528"/>
                    <a:pt x="92490" y="90320"/>
                    <a:pt x="89799" y="93111"/>
                  </a:cubicBezTo>
                  <a:cubicBezTo>
                    <a:pt x="87782" y="95903"/>
                    <a:pt x="85092" y="97298"/>
                    <a:pt x="81727" y="98694"/>
                  </a:cubicBezTo>
                  <a:cubicBezTo>
                    <a:pt x="78363" y="100785"/>
                    <a:pt x="74998" y="101485"/>
                    <a:pt x="70965" y="101485"/>
                  </a:cubicBezTo>
                  <a:cubicBezTo>
                    <a:pt x="67601" y="101485"/>
                    <a:pt x="64236" y="100785"/>
                    <a:pt x="60872" y="98694"/>
                  </a:cubicBezTo>
                  <a:cubicBezTo>
                    <a:pt x="57507" y="97298"/>
                    <a:pt x="54817" y="95903"/>
                    <a:pt x="52800" y="93111"/>
                  </a:cubicBezTo>
                  <a:cubicBezTo>
                    <a:pt x="50110" y="90320"/>
                    <a:pt x="48093" y="87528"/>
                    <a:pt x="46745" y="84742"/>
                  </a:cubicBezTo>
                  <a:cubicBezTo>
                    <a:pt x="45402" y="81251"/>
                    <a:pt x="44729" y="77764"/>
                    <a:pt x="44729" y="74973"/>
                  </a:cubicBezTo>
                  <a:cubicBezTo>
                    <a:pt x="44729" y="74278"/>
                    <a:pt x="44729" y="74278"/>
                    <a:pt x="44729" y="73577"/>
                  </a:cubicBezTo>
                  <a:cubicBezTo>
                    <a:pt x="44729" y="70090"/>
                    <a:pt x="45402" y="66604"/>
                    <a:pt x="46745" y="63112"/>
                  </a:cubicBezTo>
                  <a:cubicBezTo>
                    <a:pt x="48093" y="60326"/>
                    <a:pt x="49436" y="58230"/>
                    <a:pt x="50784" y="56139"/>
                  </a:cubicBezTo>
                  <a:cubicBezTo>
                    <a:pt x="51457" y="55438"/>
                    <a:pt x="52126" y="54743"/>
                    <a:pt x="52800" y="54048"/>
                  </a:cubicBezTo>
                  <a:cubicBezTo>
                    <a:pt x="54817" y="51952"/>
                    <a:pt x="57507" y="49861"/>
                    <a:pt x="60872" y="48465"/>
                  </a:cubicBezTo>
                  <a:cubicBezTo>
                    <a:pt x="64236" y="47069"/>
                    <a:pt x="67601" y="46374"/>
                    <a:pt x="70965" y="46374"/>
                  </a:cubicBezTo>
                  <a:cubicBezTo>
                    <a:pt x="74998" y="46374"/>
                    <a:pt x="78363" y="47069"/>
                    <a:pt x="81727" y="48465"/>
                  </a:cubicBezTo>
                  <a:cubicBezTo>
                    <a:pt x="85092" y="49861"/>
                    <a:pt x="87782" y="51952"/>
                    <a:pt x="89799" y="54048"/>
                  </a:cubicBezTo>
                  <a:cubicBezTo>
                    <a:pt x="90473" y="54743"/>
                    <a:pt x="91142" y="55438"/>
                    <a:pt x="91142" y="56139"/>
                  </a:cubicBezTo>
                  <a:cubicBezTo>
                    <a:pt x="93164" y="58230"/>
                    <a:pt x="94506" y="60326"/>
                    <a:pt x="95854" y="63112"/>
                  </a:cubicBezTo>
                  <a:cubicBezTo>
                    <a:pt x="97197" y="66604"/>
                    <a:pt x="97871" y="70090"/>
                    <a:pt x="97871" y="73577"/>
                  </a:cubicBezTo>
                  <a:cubicBezTo>
                    <a:pt x="97871" y="74278"/>
                    <a:pt x="97871" y="74278"/>
                    <a:pt x="97871" y="74973"/>
                  </a:cubicBezTo>
                  <a:close/>
                  <a:moveTo>
                    <a:pt x="142267" y="57535"/>
                  </a:moveTo>
                  <a:lnTo>
                    <a:pt x="142267" y="57535"/>
                  </a:lnTo>
                  <a:lnTo>
                    <a:pt x="131505" y="31022"/>
                  </a:lnTo>
                  <a:lnTo>
                    <a:pt x="125450" y="33118"/>
                  </a:lnTo>
                  <a:lnTo>
                    <a:pt x="110649" y="36605"/>
                  </a:lnTo>
                  <a:cubicBezTo>
                    <a:pt x="109981" y="35209"/>
                    <a:pt x="108633" y="33813"/>
                    <a:pt x="107290" y="32417"/>
                  </a:cubicBezTo>
                  <a:lnTo>
                    <a:pt x="111997" y="10792"/>
                  </a:lnTo>
                  <a:lnTo>
                    <a:pt x="85092" y="-368"/>
                  </a:lnTo>
                  <a:lnTo>
                    <a:pt x="73656" y="18466"/>
                  </a:lnTo>
                  <a:cubicBezTo>
                    <a:pt x="73656" y="18466"/>
                    <a:pt x="72982" y="18466"/>
                    <a:pt x="72308" y="18466"/>
                  </a:cubicBezTo>
                  <a:cubicBezTo>
                    <a:pt x="72308" y="18466"/>
                    <a:pt x="71634" y="18466"/>
                    <a:pt x="70965" y="18466"/>
                  </a:cubicBezTo>
                  <a:cubicBezTo>
                    <a:pt x="70965" y="18466"/>
                    <a:pt x="70291" y="18466"/>
                    <a:pt x="70291" y="18466"/>
                  </a:cubicBezTo>
                  <a:cubicBezTo>
                    <a:pt x="69617" y="18466"/>
                    <a:pt x="68943" y="18466"/>
                    <a:pt x="68943" y="18466"/>
                  </a:cubicBezTo>
                  <a:lnTo>
                    <a:pt x="57507" y="-368"/>
                  </a:lnTo>
                  <a:lnTo>
                    <a:pt x="30602" y="10792"/>
                  </a:lnTo>
                  <a:lnTo>
                    <a:pt x="31950" y="19166"/>
                  </a:lnTo>
                  <a:lnTo>
                    <a:pt x="35309" y="32417"/>
                  </a:lnTo>
                  <a:cubicBezTo>
                    <a:pt x="33966" y="33813"/>
                    <a:pt x="32618" y="35209"/>
                    <a:pt x="31950" y="36605"/>
                  </a:cubicBezTo>
                  <a:lnTo>
                    <a:pt x="17823" y="33118"/>
                  </a:lnTo>
                  <a:lnTo>
                    <a:pt x="10420" y="31022"/>
                  </a:lnTo>
                  <a:lnTo>
                    <a:pt x="8404" y="37305"/>
                  </a:lnTo>
                  <a:lnTo>
                    <a:pt x="1006" y="56139"/>
                  </a:lnTo>
                  <a:lnTo>
                    <a:pt x="-342" y="59625"/>
                  </a:lnTo>
                  <a:lnTo>
                    <a:pt x="17823" y="70786"/>
                  </a:lnTo>
                  <a:cubicBezTo>
                    <a:pt x="17823" y="71486"/>
                    <a:pt x="17823" y="72181"/>
                    <a:pt x="17823" y="72181"/>
                  </a:cubicBezTo>
                  <a:cubicBezTo>
                    <a:pt x="17823" y="72882"/>
                    <a:pt x="17823" y="73577"/>
                    <a:pt x="17823" y="73577"/>
                  </a:cubicBezTo>
                  <a:cubicBezTo>
                    <a:pt x="17823" y="74278"/>
                    <a:pt x="17823" y="74278"/>
                    <a:pt x="17823" y="74973"/>
                  </a:cubicBezTo>
                  <a:cubicBezTo>
                    <a:pt x="17823" y="74973"/>
                    <a:pt x="17823" y="74973"/>
                    <a:pt x="17823" y="74973"/>
                  </a:cubicBezTo>
                  <a:cubicBezTo>
                    <a:pt x="17823" y="75673"/>
                    <a:pt x="17823" y="75673"/>
                    <a:pt x="17823" y="76368"/>
                  </a:cubicBezTo>
                  <a:lnTo>
                    <a:pt x="-342" y="88229"/>
                  </a:lnTo>
                  <a:lnTo>
                    <a:pt x="10420" y="116132"/>
                  </a:lnTo>
                  <a:lnTo>
                    <a:pt x="31950" y="111250"/>
                  </a:lnTo>
                  <a:cubicBezTo>
                    <a:pt x="32618" y="112646"/>
                    <a:pt x="33966" y="113341"/>
                    <a:pt x="35309" y="114737"/>
                  </a:cubicBezTo>
                  <a:lnTo>
                    <a:pt x="30602" y="136362"/>
                  </a:lnTo>
                  <a:lnTo>
                    <a:pt x="57507" y="148222"/>
                  </a:lnTo>
                  <a:lnTo>
                    <a:pt x="68943" y="129389"/>
                  </a:lnTo>
                  <a:cubicBezTo>
                    <a:pt x="68943" y="129389"/>
                    <a:pt x="69617" y="129389"/>
                    <a:pt x="70291" y="129389"/>
                  </a:cubicBezTo>
                  <a:cubicBezTo>
                    <a:pt x="70291" y="129389"/>
                    <a:pt x="70965" y="129389"/>
                    <a:pt x="70965" y="129389"/>
                  </a:cubicBezTo>
                  <a:cubicBezTo>
                    <a:pt x="71634" y="129389"/>
                    <a:pt x="72308" y="129389"/>
                    <a:pt x="72308" y="129389"/>
                  </a:cubicBezTo>
                  <a:cubicBezTo>
                    <a:pt x="72982" y="129389"/>
                    <a:pt x="73656" y="129389"/>
                    <a:pt x="73656" y="129389"/>
                  </a:cubicBezTo>
                  <a:lnTo>
                    <a:pt x="85092" y="148222"/>
                  </a:lnTo>
                  <a:lnTo>
                    <a:pt x="111997" y="136362"/>
                  </a:lnTo>
                  <a:lnTo>
                    <a:pt x="107290" y="114737"/>
                  </a:lnTo>
                  <a:cubicBezTo>
                    <a:pt x="108633" y="113341"/>
                    <a:pt x="109981" y="112646"/>
                    <a:pt x="110649" y="111250"/>
                  </a:cubicBezTo>
                  <a:lnTo>
                    <a:pt x="131505" y="116132"/>
                  </a:lnTo>
                  <a:lnTo>
                    <a:pt x="142941" y="88229"/>
                  </a:lnTo>
                  <a:lnTo>
                    <a:pt x="124776" y="76368"/>
                  </a:lnTo>
                  <a:cubicBezTo>
                    <a:pt x="124776" y="75673"/>
                    <a:pt x="124776" y="75673"/>
                    <a:pt x="124776" y="74973"/>
                  </a:cubicBezTo>
                  <a:cubicBezTo>
                    <a:pt x="124776" y="74973"/>
                    <a:pt x="124776" y="74278"/>
                    <a:pt x="124776" y="74278"/>
                  </a:cubicBezTo>
                  <a:cubicBezTo>
                    <a:pt x="124776" y="74278"/>
                    <a:pt x="124776" y="73577"/>
                    <a:pt x="124776" y="73577"/>
                  </a:cubicBezTo>
                  <a:cubicBezTo>
                    <a:pt x="124776" y="73577"/>
                    <a:pt x="124776" y="72882"/>
                    <a:pt x="124776" y="72181"/>
                  </a:cubicBezTo>
                  <a:cubicBezTo>
                    <a:pt x="124776" y="72181"/>
                    <a:pt x="124776" y="71486"/>
                    <a:pt x="124776" y="70786"/>
                  </a:cubicBezTo>
                  <a:lnTo>
                    <a:pt x="141593" y="60326"/>
                  </a:lnTo>
                  <a:cubicBezTo>
                    <a:pt x="141593" y="59625"/>
                    <a:pt x="142267" y="58230"/>
                    <a:pt x="142267" y="57535"/>
                  </a:cubicBezTo>
                  <a:close/>
                </a:path>
              </a:pathLst>
            </a:custGeom>
            <a:solidFill>
              <a:srgbClr val="243A5E"/>
            </a:solidFill>
            <a:ln w="527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77" name="Rounded Rectangle 45_1">
            <a:extLst>
              <a:ext uri="{FF2B5EF4-FFF2-40B4-BE49-F238E27FC236}">
                <a16:creationId xmlns:a16="http://schemas.microsoft.com/office/drawing/2014/main" id="{2140C8A7-8F6A-03C6-5663-6862E7816BB2}"/>
              </a:ext>
            </a:extLst>
          </p:cNvPr>
          <p:cNvSpPr>
            <a:spLocks/>
          </p:cNvSpPr>
          <p:nvPr/>
        </p:nvSpPr>
        <p:spPr bwMode="auto">
          <a:xfrm>
            <a:off x="1240837" y="2640151"/>
            <a:ext cx="3821559"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Manage with ease with Lighthouse/RMM</a:t>
            </a:r>
          </a:p>
        </p:txBody>
      </p:sp>
      <p:grpSp>
        <p:nvGrpSpPr>
          <p:cNvPr id="14" name="Graphic 23">
            <a:extLst>
              <a:ext uri="{FF2B5EF4-FFF2-40B4-BE49-F238E27FC236}">
                <a16:creationId xmlns:a16="http://schemas.microsoft.com/office/drawing/2014/main" id="{9ADC95C5-F35A-D1B0-5A6C-D4190315DCE1}"/>
              </a:ext>
              <a:ext uri="{C183D7F6-B498-43B3-948B-1728B52AA6E4}">
                <adec:decorative xmlns:adec="http://schemas.microsoft.com/office/drawing/2017/decorative" val="1"/>
              </a:ext>
            </a:extLst>
          </p:cNvPr>
          <p:cNvGrpSpPr/>
          <p:nvPr/>
        </p:nvGrpSpPr>
        <p:grpSpPr>
          <a:xfrm>
            <a:off x="585217" y="4291793"/>
            <a:ext cx="271460" cy="271460"/>
            <a:chOff x="1907803" y="4071777"/>
            <a:chExt cx="271460" cy="271460"/>
          </a:xfrm>
          <a:solidFill>
            <a:schemeClr val="accent1"/>
          </a:solidFill>
        </p:grpSpPr>
        <p:sp>
          <p:nvSpPr>
            <p:cNvPr id="16" name="Freeform: Shape 15">
              <a:extLst>
                <a:ext uri="{FF2B5EF4-FFF2-40B4-BE49-F238E27FC236}">
                  <a16:creationId xmlns:a16="http://schemas.microsoft.com/office/drawing/2014/main" id="{83DFA02F-3559-0267-869D-05E33DFAA332}"/>
                </a:ext>
              </a:extLst>
            </p:cNvPr>
            <p:cNvSpPr/>
            <p:nvPr/>
          </p:nvSpPr>
          <p:spPr>
            <a:xfrm>
              <a:off x="1907803" y="4071777"/>
              <a:ext cx="271460" cy="221600"/>
            </a:xfrm>
            <a:custGeom>
              <a:avLst/>
              <a:gdLst>
                <a:gd name="connsiteX0" fmla="*/ -1046 w 271460"/>
                <a:gd name="connsiteY0" fmla="*/ 124367 h 221600"/>
                <a:gd name="connsiteX1" fmla="*/ -1046 w 271460"/>
                <a:gd name="connsiteY1" fmla="*/ 124367 h 221600"/>
                <a:gd name="connsiteX2" fmla="*/ 76071 w 271460"/>
                <a:gd name="connsiteY2" fmla="*/ 85609 h 221600"/>
                <a:gd name="connsiteX3" fmla="*/ 132136 w 271460"/>
                <a:gd name="connsiteY3" fmla="*/ 104622 h 221600"/>
                <a:gd name="connsiteX4" fmla="*/ 199114 w 271460"/>
                <a:gd name="connsiteY4" fmla="*/ 38070 h 221600"/>
                <a:gd name="connsiteX5" fmla="*/ 153963 w 271460"/>
                <a:gd name="connsiteY5" fmla="*/ 38070 h 221600"/>
                <a:gd name="connsiteX6" fmla="*/ 153963 w 271460"/>
                <a:gd name="connsiteY6" fmla="*/ 18320 h 221600"/>
                <a:gd name="connsiteX7" fmla="*/ 231856 w 271460"/>
                <a:gd name="connsiteY7" fmla="*/ 18320 h 221600"/>
                <a:gd name="connsiteX8" fmla="*/ 231856 w 271460"/>
                <a:gd name="connsiteY8" fmla="*/ 96578 h 221600"/>
                <a:gd name="connsiteX9" fmla="*/ 212189 w 271460"/>
                <a:gd name="connsiteY9" fmla="*/ 96578 h 221600"/>
                <a:gd name="connsiteX10" fmla="*/ 212189 w 271460"/>
                <a:gd name="connsiteY10" fmla="*/ 51965 h 221600"/>
                <a:gd name="connsiteX11" fmla="*/ 137232 w 271460"/>
                <a:gd name="connsiteY11" fmla="*/ 127292 h 221600"/>
                <a:gd name="connsiteX12" fmla="*/ 77566 w 271460"/>
                <a:gd name="connsiteY12" fmla="*/ 106816 h 221600"/>
                <a:gd name="connsiteX13" fmla="*/ -1046 w 271460"/>
                <a:gd name="connsiteY13" fmla="*/ 146311 h 221600"/>
                <a:gd name="connsiteX14" fmla="*/ -1046 w 271460"/>
                <a:gd name="connsiteY14" fmla="*/ 183606 h 221600"/>
                <a:gd name="connsiteX15" fmla="*/ 57179 w 271460"/>
                <a:gd name="connsiteY15" fmla="*/ 220907 h 221600"/>
                <a:gd name="connsiteX16" fmla="*/ 132856 w 271460"/>
                <a:gd name="connsiteY16" fmla="*/ 163862 h 221600"/>
                <a:gd name="connsiteX17" fmla="*/ 191802 w 271460"/>
                <a:gd name="connsiteY17" fmla="*/ 183606 h 221600"/>
                <a:gd name="connsiteX18" fmla="*/ 270414 w 271460"/>
                <a:gd name="connsiteY18" fmla="*/ 139729 h 221600"/>
                <a:gd name="connsiteX19" fmla="*/ 270414 w 271460"/>
                <a:gd name="connsiteY19" fmla="*/ -693 h 221600"/>
                <a:gd name="connsiteX20" fmla="*/ -1046 w 271460"/>
                <a:gd name="connsiteY20" fmla="*/ -693 h 221600"/>
                <a:gd name="connsiteX21" fmla="*/ -1046 w 271460"/>
                <a:gd name="connsiteY21" fmla="*/ 124367 h 2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1460" h="221600">
                  <a:moveTo>
                    <a:pt x="-1046" y="124367"/>
                  </a:moveTo>
                  <a:lnTo>
                    <a:pt x="-1046" y="124367"/>
                  </a:lnTo>
                  <a:lnTo>
                    <a:pt x="76071" y="85609"/>
                  </a:lnTo>
                  <a:lnTo>
                    <a:pt x="132136" y="104622"/>
                  </a:lnTo>
                  <a:lnTo>
                    <a:pt x="199114" y="38070"/>
                  </a:lnTo>
                  <a:lnTo>
                    <a:pt x="153963" y="38070"/>
                  </a:lnTo>
                  <a:lnTo>
                    <a:pt x="153963" y="18320"/>
                  </a:lnTo>
                  <a:lnTo>
                    <a:pt x="231856" y="18320"/>
                  </a:lnTo>
                  <a:lnTo>
                    <a:pt x="231856" y="96578"/>
                  </a:lnTo>
                  <a:lnTo>
                    <a:pt x="212189" y="96578"/>
                  </a:lnTo>
                  <a:lnTo>
                    <a:pt x="212189" y="51965"/>
                  </a:lnTo>
                  <a:lnTo>
                    <a:pt x="137232" y="127292"/>
                  </a:lnTo>
                  <a:lnTo>
                    <a:pt x="77566" y="106816"/>
                  </a:lnTo>
                  <a:lnTo>
                    <a:pt x="-1046" y="146311"/>
                  </a:lnTo>
                  <a:lnTo>
                    <a:pt x="-1046" y="183606"/>
                  </a:lnTo>
                  <a:lnTo>
                    <a:pt x="57179" y="220907"/>
                  </a:lnTo>
                  <a:lnTo>
                    <a:pt x="132856" y="163862"/>
                  </a:lnTo>
                  <a:lnTo>
                    <a:pt x="191802" y="183606"/>
                  </a:lnTo>
                  <a:lnTo>
                    <a:pt x="270414" y="139729"/>
                  </a:lnTo>
                  <a:lnTo>
                    <a:pt x="270414" y="-693"/>
                  </a:lnTo>
                  <a:lnTo>
                    <a:pt x="-1046" y="-693"/>
                  </a:lnTo>
                  <a:lnTo>
                    <a:pt x="-1046" y="124367"/>
                  </a:lnTo>
                  <a:close/>
                </a:path>
              </a:pathLst>
            </a:custGeom>
            <a:solidFill>
              <a:schemeClr val="accent1"/>
            </a:solidFill>
            <a:ln w="5443"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C236A4CB-14FD-315C-DBD9-CFD869EA6262}"/>
                </a:ext>
              </a:extLst>
            </p:cNvPr>
            <p:cNvSpPr/>
            <p:nvPr/>
          </p:nvSpPr>
          <p:spPr>
            <a:xfrm>
              <a:off x="1907803" y="4232437"/>
              <a:ext cx="271460" cy="110800"/>
            </a:xfrm>
            <a:custGeom>
              <a:avLst/>
              <a:gdLst>
                <a:gd name="connsiteX0" fmla="*/ 136124 w 271460"/>
                <a:gd name="connsiteY0" fmla="*/ 22785 h 110800"/>
                <a:gd name="connsiteX1" fmla="*/ 136124 w 271460"/>
                <a:gd name="connsiteY1" fmla="*/ 22785 h 110800"/>
                <a:gd name="connsiteX2" fmla="*/ 57733 w 271460"/>
                <a:gd name="connsiteY2" fmla="*/ 82955 h 110800"/>
                <a:gd name="connsiteX3" fmla="*/ -1046 w 271460"/>
                <a:gd name="connsiteY3" fmla="*/ 44801 h 110800"/>
                <a:gd name="connsiteX4" fmla="*/ -1046 w 271460"/>
                <a:gd name="connsiteY4" fmla="*/ 110107 h 110800"/>
                <a:gd name="connsiteX5" fmla="*/ 270414 w 271460"/>
                <a:gd name="connsiteY5" fmla="*/ 110107 h 110800"/>
                <a:gd name="connsiteX6" fmla="*/ 270414 w 271460"/>
                <a:gd name="connsiteY6" fmla="*/ -693 h 110800"/>
                <a:gd name="connsiteX7" fmla="*/ 193463 w 271460"/>
                <a:gd name="connsiteY7" fmla="*/ 42602 h 110800"/>
                <a:gd name="connsiteX8" fmla="*/ 136124 w 271460"/>
                <a:gd name="connsiteY8" fmla="*/ 22785 h 1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1460" h="110800">
                  <a:moveTo>
                    <a:pt x="136124" y="22785"/>
                  </a:moveTo>
                  <a:lnTo>
                    <a:pt x="136124" y="22785"/>
                  </a:lnTo>
                  <a:lnTo>
                    <a:pt x="57733" y="82955"/>
                  </a:lnTo>
                  <a:lnTo>
                    <a:pt x="-1046" y="44801"/>
                  </a:lnTo>
                  <a:lnTo>
                    <a:pt x="-1046" y="110107"/>
                  </a:lnTo>
                  <a:lnTo>
                    <a:pt x="270414" y="110107"/>
                  </a:lnTo>
                  <a:lnTo>
                    <a:pt x="270414" y="-693"/>
                  </a:lnTo>
                  <a:lnTo>
                    <a:pt x="193463" y="42602"/>
                  </a:lnTo>
                  <a:lnTo>
                    <a:pt x="136124" y="22785"/>
                  </a:lnTo>
                  <a:close/>
                </a:path>
              </a:pathLst>
            </a:custGeom>
            <a:solidFill>
              <a:srgbClr val="243A5E"/>
            </a:solidFill>
            <a:ln w="5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96" name="Rounded Rectangle 45_1">
            <a:extLst>
              <a:ext uri="{FF2B5EF4-FFF2-40B4-BE49-F238E27FC236}">
                <a16:creationId xmlns:a16="http://schemas.microsoft.com/office/drawing/2014/main" id="{C14DEB5D-FDB3-0007-14EB-8EBC2DA584DA}"/>
              </a:ext>
            </a:extLst>
          </p:cNvPr>
          <p:cNvSpPr>
            <a:spLocks/>
          </p:cNvSpPr>
          <p:nvPr/>
        </p:nvSpPr>
        <p:spPr bwMode="auto">
          <a:xfrm>
            <a:off x="1227977" y="4279918"/>
            <a:ext cx="4469365"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Create ongoing revenue with managed services </a:t>
            </a:r>
          </a:p>
        </p:txBody>
      </p:sp>
      <p:grpSp>
        <p:nvGrpSpPr>
          <p:cNvPr id="20" name="Graphic 39">
            <a:extLst>
              <a:ext uri="{FF2B5EF4-FFF2-40B4-BE49-F238E27FC236}">
                <a16:creationId xmlns:a16="http://schemas.microsoft.com/office/drawing/2014/main" id="{44732F2A-27B4-E894-82BD-B5D7B887E89D}"/>
              </a:ext>
              <a:ext uri="{C183D7F6-B498-43B3-948B-1728B52AA6E4}">
                <adec:decorative xmlns:adec="http://schemas.microsoft.com/office/drawing/2017/decorative" val="1"/>
              </a:ext>
            </a:extLst>
          </p:cNvPr>
          <p:cNvGrpSpPr/>
          <p:nvPr/>
        </p:nvGrpSpPr>
        <p:grpSpPr>
          <a:xfrm>
            <a:off x="590931" y="3439620"/>
            <a:ext cx="285751" cy="257735"/>
            <a:chOff x="1900657" y="4971163"/>
            <a:chExt cx="285751" cy="257735"/>
          </a:xfrm>
          <a:solidFill>
            <a:schemeClr val="accent1"/>
          </a:solidFill>
        </p:grpSpPr>
        <p:sp>
          <p:nvSpPr>
            <p:cNvPr id="21" name="Freeform: Shape 20">
              <a:extLst>
                <a:ext uri="{FF2B5EF4-FFF2-40B4-BE49-F238E27FC236}">
                  <a16:creationId xmlns:a16="http://schemas.microsoft.com/office/drawing/2014/main" id="{43C5C1B6-E86F-B872-AF29-9F08F205034E}"/>
                </a:ext>
              </a:extLst>
            </p:cNvPr>
            <p:cNvSpPr/>
            <p:nvPr/>
          </p:nvSpPr>
          <p:spPr>
            <a:xfrm>
              <a:off x="1900657" y="5072016"/>
              <a:ext cx="246531" cy="156882"/>
            </a:xfrm>
            <a:custGeom>
              <a:avLst/>
              <a:gdLst>
                <a:gd name="connsiteX0" fmla="*/ -1225 w 246531"/>
                <a:gd name="connsiteY0" fmla="*/ -715 h 156882"/>
                <a:gd name="connsiteX1" fmla="*/ -1225 w 246531"/>
                <a:gd name="connsiteY1" fmla="*/ -715 h 156882"/>
                <a:gd name="connsiteX2" fmla="*/ -1225 w 246531"/>
                <a:gd name="connsiteY2" fmla="*/ 156168 h 156882"/>
                <a:gd name="connsiteX3" fmla="*/ 245306 w 246531"/>
                <a:gd name="connsiteY3" fmla="*/ 156168 h 156882"/>
                <a:gd name="connsiteX4" fmla="*/ 245306 w 246531"/>
                <a:gd name="connsiteY4" fmla="*/ 114958 h 156882"/>
                <a:gd name="connsiteX5" fmla="*/ 36595 w 246531"/>
                <a:gd name="connsiteY5" fmla="*/ 114958 h 156882"/>
                <a:gd name="connsiteX6" fmla="*/ 36595 w 246531"/>
                <a:gd name="connsiteY6" fmla="*/ -715 h 156882"/>
                <a:gd name="connsiteX7" fmla="*/ -1225 w 246531"/>
                <a:gd name="connsiteY7" fmla="*/ -715 h 15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6531" h="156882">
                  <a:moveTo>
                    <a:pt x="-1225" y="-715"/>
                  </a:moveTo>
                  <a:lnTo>
                    <a:pt x="-1225" y="-715"/>
                  </a:lnTo>
                  <a:lnTo>
                    <a:pt x="-1225" y="156168"/>
                  </a:lnTo>
                  <a:lnTo>
                    <a:pt x="245306" y="156168"/>
                  </a:lnTo>
                  <a:lnTo>
                    <a:pt x="245306" y="114958"/>
                  </a:lnTo>
                  <a:lnTo>
                    <a:pt x="36595" y="114958"/>
                  </a:lnTo>
                  <a:lnTo>
                    <a:pt x="36595" y="-715"/>
                  </a:lnTo>
                  <a:lnTo>
                    <a:pt x="-1225" y="-715"/>
                  </a:lnTo>
                  <a:close/>
                </a:path>
              </a:pathLst>
            </a:custGeom>
            <a:solidFill>
              <a:schemeClr val="accent1"/>
            </a:solidFill>
            <a:ln w="5603"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2" name="Freeform: Shape 21">
              <a:extLst>
                <a:ext uri="{FF2B5EF4-FFF2-40B4-BE49-F238E27FC236}">
                  <a16:creationId xmlns:a16="http://schemas.microsoft.com/office/drawing/2014/main" id="{95011FA2-B79F-47F5-0FD9-E298FC7B14D2}"/>
                </a:ext>
              </a:extLst>
            </p:cNvPr>
            <p:cNvSpPr/>
            <p:nvPr/>
          </p:nvSpPr>
          <p:spPr>
            <a:xfrm>
              <a:off x="1900657" y="5021589"/>
              <a:ext cx="39220" cy="28014"/>
            </a:xfrm>
            <a:custGeom>
              <a:avLst/>
              <a:gdLst>
                <a:gd name="connsiteX0" fmla="*/ -1225 w 39220"/>
                <a:gd name="connsiteY0" fmla="*/ 27300 h 28014"/>
                <a:gd name="connsiteX1" fmla="*/ -1225 w 39220"/>
                <a:gd name="connsiteY1" fmla="*/ 27300 h 28014"/>
                <a:gd name="connsiteX2" fmla="*/ 37996 w 39220"/>
                <a:gd name="connsiteY2" fmla="*/ 27300 h 28014"/>
                <a:gd name="connsiteX3" fmla="*/ 37996 w 39220"/>
                <a:gd name="connsiteY3" fmla="*/ -715 h 28014"/>
                <a:gd name="connsiteX4" fmla="*/ -1225 w 39220"/>
                <a:gd name="connsiteY4" fmla="*/ -715 h 28014"/>
                <a:gd name="connsiteX5" fmla="*/ -1225 w 39220"/>
                <a:gd name="connsiteY5" fmla="*/ 27300 h 28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220" h="28014">
                  <a:moveTo>
                    <a:pt x="-1225" y="27300"/>
                  </a:moveTo>
                  <a:lnTo>
                    <a:pt x="-1225" y="27300"/>
                  </a:lnTo>
                  <a:lnTo>
                    <a:pt x="37996" y="27300"/>
                  </a:lnTo>
                  <a:lnTo>
                    <a:pt x="37996" y="-715"/>
                  </a:lnTo>
                  <a:lnTo>
                    <a:pt x="-1225" y="-715"/>
                  </a:lnTo>
                  <a:lnTo>
                    <a:pt x="-1225" y="27300"/>
                  </a:lnTo>
                  <a:close/>
                </a:path>
              </a:pathLst>
            </a:custGeom>
            <a:solidFill>
              <a:srgbClr val="243A5E"/>
            </a:solidFill>
            <a:ln w="5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3" name="Freeform: Shape 22">
              <a:extLst>
                <a:ext uri="{FF2B5EF4-FFF2-40B4-BE49-F238E27FC236}">
                  <a16:creationId xmlns:a16="http://schemas.microsoft.com/office/drawing/2014/main" id="{D01FB050-C9C5-DA14-5B47-BA1A447C903A}"/>
                </a:ext>
              </a:extLst>
            </p:cNvPr>
            <p:cNvSpPr/>
            <p:nvPr/>
          </p:nvSpPr>
          <p:spPr>
            <a:xfrm>
              <a:off x="1962289" y="5021589"/>
              <a:ext cx="224119" cy="145676"/>
            </a:xfrm>
            <a:custGeom>
              <a:avLst/>
              <a:gdLst>
                <a:gd name="connsiteX0" fmla="*/ 97331 w 224119"/>
                <a:gd name="connsiteY0" fmla="*/ 132579 h 145676"/>
                <a:gd name="connsiteX1" fmla="*/ 97331 w 224119"/>
                <a:gd name="connsiteY1" fmla="*/ 132579 h 145676"/>
                <a:gd name="connsiteX2" fmla="*/ 54245 w 224119"/>
                <a:gd name="connsiteY2" fmla="*/ 88876 h 145676"/>
                <a:gd name="connsiteX3" fmla="*/ 54245 w 224119"/>
                <a:gd name="connsiteY3" fmla="*/ 71395 h 145676"/>
                <a:gd name="connsiteX4" fmla="*/ 71782 w 224119"/>
                <a:gd name="connsiteY4" fmla="*/ 71395 h 145676"/>
                <a:gd name="connsiteX5" fmla="*/ 97331 w 224119"/>
                <a:gd name="connsiteY5" fmla="*/ 97617 h 145676"/>
                <a:gd name="connsiteX6" fmla="*/ 143332 w 224119"/>
                <a:gd name="connsiteY6" fmla="*/ 51729 h 145676"/>
                <a:gd name="connsiteX7" fmla="*/ 165968 w 224119"/>
                <a:gd name="connsiteY7" fmla="*/ 29149 h 145676"/>
                <a:gd name="connsiteX8" fmla="*/ 168153 w 224119"/>
                <a:gd name="connsiteY8" fmla="*/ 26964 h 145676"/>
                <a:gd name="connsiteX9" fmla="*/ 170338 w 224119"/>
                <a:gd name="connsiteY9" fmla="*/ 25507 h 145676"/>
                <a:gd name="connsiteX10" fmla="*/ 184906 w 224119"/>
                <a:gd name="connsiteY10" fmla="*/ 23322 h 145676"/>
                <a:gd name="connsiteX11" fmla="*/ 187876 w 224119"/>
                <a:gd name="connsiteY11" fmla="*/ 25507 h 145676"/>
                <a:gd name="connsiteX12" fmla="*/ 189332 w 224119"/>
                <a:gd name="connsiteY12" fmla="*/ 26964 h 145676"/>
                <a:gd name="connsiteX13" fmla="*/ 187876 w 224119"/>
                <a:gd name="connsiteY13" fmla="*/ 42988 h 145676"/>
                <a:gd name="connsiteX14" fmla="*/ 184906 w 224119"/>
                <a:gd name="connsiteY14" fmla="*/ 45902 h 145676"/>
                <a:gd name="connsiteX15" fmla="*/ 178351 w 224119"/>
                <a:gd name="connsiteY15" fmla="*/ 51729 h 145676"/>
                <a:gd name="connsiteX16" fmla="*/ 97331 w 224119"/>
                <a:gd name="connsiteY16" fmla="*/ 132579 h 145676"/>
                <a:gd name="connsiteX17" fmla="*/ 209727 w 224119"/>
                <a:gd name="connsiteY17" fmla="*/ -715 h 145676"/>
                <a:gd name="connsiteX18" fmla="*/ 209727 w 224119"/>
                <a:gd name="connsiteY18" fmla="*/ -715 h 145676"/>
                <a:gd name="connsiteX19" fmla="*/ 197344 w 224119"/>
                <a:gd name="connsiteY19" fmla="*/ -715 h 145676"/>
                <a:gd name="connsiteX20" fmla="*/ -1225 w 224119"/>
                <a:gd name="connsiteY20" fmla="*/ -715 h 145676"/>
                <a:gd name="connsiteX21" fmla="*/ -1225 w 224119"/>
                <a:gd name="connsiteY21" fmla="*/ -715 h 145676"/>
                <a:gd name="connsiteX22" fmla="*/ -1225 w 224119"/>
                <a:gd name="connsiteY22" fmla="*/ 26964 h 145676"/>
                <a:gd name="connsiteX23" fmla="*/ -1225 w 224119"/>
                <a:gd name="connsiteY23" fmla="*/ 29149 h 145676"/>
                <a:gd name="connsiteX24" fmla="*/ -1225 w 224119"/>
                <a:gd name="connsiteY24" fmla="*/ 51729 h 145676"/>
                <a:gd name="connsiteX25" fmla="*/ -1225 w 224119"/>
                <a:gd name="connsiteY25" fmla="*/ 144962 h 145676"/>
                <a:gd name="connsiteX26" fmla="*/ 184906 w 224119"/>
                <a:gd name="connsiteY26" fmla="*/ 144962 h 145676"/>
                <a:gd name="connsiteX27" fmla="*/ 197344 w 224119"/>
                <a:gd name="connsiteY27" fmla="*/ 144962 h 145676"/>
                <a:gd name="connsiteX28" fmla="*/ 209727 w 224119"/>
                <a:gd name="connsiteY28" fmla="*/ 144962 h 145676"/>
                <a:gd name="connsiteX29" fmla="*/ 222894 w 224119"/>
                <a:gd name="connsiteY29" fmla="*/ 144962 h 145676"/>
                <a:gd name="connsiteX30" fmla="*/ 222894 w 224119"/>
                <a:gd name="connsiteY30" fmla="*/ -715 h 145676"/>
                <a:gd name="connsiteX31" fmla="*/ 209727 w 224119"/>
                <a:gd name="connsiteY31" fmla="*/ -715 h 14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24119" h="145676">
                  <a:moveTo>
                    <a:pt x="97331" y="132579"/>
                  </a:moveTo>
                  <a:lnTo>
                    <a:pt x="97331" y="132579"/>
                  </a:lnTo>
                  <a:lnTo>
                    <a:pt x="54245" y="88876"/>
                  </a:lnTo>
                  <a:cubicBezTo>
                    <a:pt x="49146" y="83778"/>
                    <a:pt x="49146" y="75765"/>
                    <a:pt x="54245" y="71395"/>
                  </a:cubicBezTo>
                  <a:cubicBezTo>
                    <a:pt x="58615" y="66296"/>
                    <a:pt x="66683" y="66296"/>
                    <a:pt x="71782" y="71395"/>
                  </a:cubicBezTo>
                  <a:lnTo>
                    <a:pt x="97331" y="97617"/>
                  </a:lnTo>
                  <a:lnTo>
                    <a:pt x="143332" y="51729"/>
                  </a:lnTo>
                  <a:lnTo>
                    <a:pt x="165968" y="29149"/>
                  </a:lnTo>
                  <a:lnTo>
                    <a:pt x="168153" y="26964"/>
                  </a:lnTo>
                  <a:lnTo>
                    <a:pt x="170338" y="25507"/>
                  </a:lnTo>
                  <a:cubicBezTo>
                    <a:pt x="173980" y="21137"/>
                    <a:pt x="179808" y="20408"/>
                    <a:pt x="184906" y="23322"/>
                  </a:cubicBezTo>
                  <a:cubicBezTo>
                    <a:pt x="185690" y="23322"/>
                    <a:pt x="186419" y="24050"/>
                    <a:pt x="187876" y="25507"/>
                  </a:cubicBezTo>
                  <a:cubicBezTo>
                    <a:pt x="187876" y="25507"/>
                    <a:pt x="188604" y="26235"/>
                    <a:pt x="189332" y="26964"/>
                  </a:cubicBezTo>
                  <a:cubicBezTo>
                    <a:pt x="192246" y="32062"/>
                    <a:pt x="192246" y="38618"/>
                    <a:pt x="187876" y="42988"/>
                  </a:cubicBezTo>
                  <a:lnTo>
                    <a:pt x="184906" y="45902"/>
                  </a:lnTo>
                  <a:lnTo>
                    <a:pt x="178351" y="51729"/>
                  </a:lnTo>
                  <a:lnTo>
                    <a:pt x="97331" y="132579"/>
                  </a:lnTo>
                  <a:close/>
                  <a:moveTo>
                    <a:pt x="209727" y="-715"/>
                  </a:moveTo>
                  <a:lnTo>
                    <a:pt x="209727" y="-715"/>
                  </a:lnTo>
                  <a:lnTo>
                    <a:pt x="197344" y="-715"/>
                  </a:lnTo>
                  <a:lnTo>
                    <a:pt x="-1225" y="-715"/>
                  </a:lnTo>
                  <a:lnTo>
                    <a:pt x="-1225" y="-715"/>
                  </a:lnTo>
                  <a:lnTo>
                    <a:pt x="-1225" y="26964"/>
                  </a:lnTo>
                  <a:lnTo>
                    <a:pt x="-1225" y="29149"/>
                  </a:lnTo>
                  <a:lnTo>
                    <a:pt x="-1225" y="51729"/>
                  </a:lnTo>
                  <a:lnTo>
                    <a:pt x="-1225" y="144962"/>
                  </a:lnTo>
                  <a:lnTo>
                    <a:pt x="184906" y="144962"/>
                  </a:lnTo>
                  <a:lnTo>
                    <a:pt x="197344" y="144962"/>
                  </a:lnTo>
                  <a:lnTo>
                    <a:pt x="209727" y="144962"/>
                  </a:lnTo>
                  <a:lnTo>
                    <a:pt x="222894" y="144962"/>
                  </a:lnTo>
                  <a:lnTo>
                    <a:pt x="222894" y="-715"/>
                  </a:lnTo>
                  <a:lnTo>
                    <a:pt x="209727" y="-715"/>
                  </a:lnTo>
                  <a:close/>
                </a:path>
              </a:pathLst>
            </a:custGeom>
            <a:solidFill>
              <a:schemeClr val="accent1"/>
            </a:solidFill>
            <a:ln w="5603"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86738DE5-629E-A304-3038-2483FF2DB0E0}"/>
                </a:ext>
              </a:extLst>
            </p:cNvPr>
            <p:cNvSpPr/>
            <p:nvPr/>
          </p:nvSpPr>
          <p:spPr>
            <a:xfrm>
              <a:off x="1962289" y="4971163"/>
              <a:ext cx="218516" cy="28014"/>
            </a:xfrm>
            <a:custGeom>
              <a:avLst/>
              <a:gdLst>
                <a:gd name="connsiteX0" fmla="*/ -1225 w 218516"/>
                <a:gd name="connsiteY0" fmla="*/ -715 h 28014"/>
                <a:gd name="connsiteX1" fmla="*/ -1225 w 218516"/>
                <a:gd name="connsiteY1" fmla="*/ -715 h 28014"/>
                <a:gd name="connsiteX2" fmla="*/ -1225 w 218516"/>
                <a:gd name="connsiteY2" fmla="*/ 27300 h 28014"/>
                <a:gd name="connsiteX3" fmla="*/ 8748 w 218516"/>
                <a:gd name="connsiteY3" fmla="*/ 27300 h 28014"/>
                <a:gd name="connsiteX4" fmla="*/ 207318 w 218516"/>
                <a:gd name="connsiteY4" fmla="*/ 27300 h 28014"/>
                <a:gd name="connsiteX5" fmla="*/ 217291 w 218516"/>
                <a:gd name="connsiteY5" fmla="*/ 27300 h 28014"/>
                <a:gd name="connsiteX6" fmla="*/ 217291 w 218516"/>
                <a:gd name="connsiteY6" fmla="*/ -715 h 28014"/>
                <a:gd name="connsiteX7" fmla="*/ -1225 w 218516"/>
                <a:gd name="connsiteY7" fmla="*/ -715 h 28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516" h="28014">
                  <a:moveTo>
                    <a:pt x="-1225" y="-715"/>
                  </a:moveTo>
                  <a:lnTo>
                    <a:pt x="-1225" y="-715"/>
                  </a:lnTo>
                  <a:lnTo>
                    <a:pt x="-1225" y="27300"/>
                  </a:lnTo>
                  <a:lnTo>
                    <a:pt x="8748" y="27300"/>
                  </a:lnTo>
                  <a:lnTo>
                    <a:pt x="207318" y="27300"/>
                  </a:lnTo>
                  <a:lnTo>
                    <a:pt x="217291" y="27300"/>
                  </a:lnTo>
                  <a:lnTo>
                    <a:pt x="217291" y="-715"/>
                  </a:lnTo>
                  <a:lnTo>
                    <a:pt x="-1225" y="-715"/>
                  </a:lnTo>
                  <a:close/>
                </a:path>
              </a:pathLst>
            </a:custGeom>
            <a:solidFill>
              <a:srgbClr val="243A5E"/>
            </a:solidFill>
            <a:ln w="5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1273667A-9ACD-1692-99AC-98A61574A289}"/>
                </a:ext>
              </a:extLst>
            </p:cNvPr>
            <p:cNvSpPr/>
            <p:nvPr/>
          </p:nvSpPr>
          <p:spPr>
            <a:xfrm>
              <a:off x="2013963" y="5045165"/>
              <a:ext cx="137959" cy="110895"/>
            </a:xfrm>
            <a:custGeom>
              <a:avLst/>
              <a:gdLst>
                <a:gd name="connsiteX0" fmla="*/ 134745 w 137959"/>
                <a:gd name="connsiteY0" fmla="*/ 4671 h 110895"/>
                <a:gd name="connsiteX1" fmla="*/ 134745 w 137959"/>
                <a:gd name="connsiteY1" fmla="*/ 4671 h 110895"/>
                <a:gd name="connsiteX2" fmla="*/ 133288 w 137959"/>
                <a:gd name="connsiteY2" fmla="*/ 3214 h 110895"/>
                <a:gd name="connsiteX3" fmla="*/ 130431 w 137959"/>
                <a:gd name="connsiteY3" fmla="*/ 1029 h 110895"/>
                <a:gd name="connsiteX4" fmla="*/ 116144 w 137959"/>
                <a:gd name="connsiteY4" fmla="*/ 3214 h 110895"/>
                <a:gd name="connsiteX5" fmla="*/ 114015 w 137959"/>
                <a:gd name="connsiteY5" fmla="*/ 4671 h 110895"/>
                <a:gd name="connsiteX6" fmla="*/ 111885 w 137959"/>
                <a:gd name="connsiteY6" fmla="*/ 6850 h 110895"/>
                <a:gd name="connsiteX7" fmla="*/ 89697 w 137959"/>
                <a:gd name="connsiteY7" fmla="*/ 29408 h 110895"/>
                <a:gd name="connsiteX8" fmla="*/ 44706 w 137959"/>
                <a:gd name="connsiteY8" fmla="*/ 75251 h 110895"/>
                <a:gd name="connsiteX9" fmla="*/ 19660 w 137959"/>
                <a:gd name="connsiteY9" fmla="*/ 49058 h 110895"/>
                <a:gd name="connsiteX10" fmla="*/ 2515 w 137959"/>
                <a:gd name="connsiteY10" fmla="*/ 49058 h 110895"/>
                <a:gd name="connsiteX11" fmla="*/ 2515 w 137959"/>
                <a:gd name="connsiteY11" fmla="*/ 66522 h 110895"/>
                <a:gd name="connsiteX12" fmla="*/ 44706 w 137959"/>
                <a:gd name="connsiteY12" fmla="*/ 110180 h 110895"/>
                <a:gd name="connsiteX13" fmla="*/ 124043 w 137959"/>
                <a:gd name="connsiteY13" fmla="*/ 29408 h 110895"/>
                <a:gd name="connsiteX14" fmla="*/ 130431 w 137959"/>
                <a:gd name="connsiteY14" fmla="*/ 23587 h 110895"/>
                <a:gd name="connsiteX15" fmla="*/ 133288 w 137959"/>
                <a:gd name="connsiteY15" fmla="*/ 20679 h 110895"/>
                <a:gd name="connsiteX16" fmla="*/ 134745 w 137959"/>
                <a:gd name="connsiteY16" fmla="*/ 4671 h 110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959" h="110895">
                  <a:moveTo>
                    <a:pt x="134745" y="4671"/>
                  </a:moveTo>
                  <a:lnTo>
                    <a:pt x="134745" y="4671"/>
                  </a:lnTo>
                  <a:cubicBezTo>
                    <a:pt x="134017" y="3943"/>
                    <a:pt x="133288" y="3214"/>
                    <a:pt x="133288" y="3214"/>
                  </a:cubicBezTo>
                  <a:cubicBezTo>
                    <a:pt x="131888" y="1757"/>
                    <a:pt x="131159" y="1029"/>
                    <a:pt x="130431" y="1029"/>
                  </a:cubicBezTo>
                  <a:cubicBezTo>
                    <a:pt x="125444" y="-1879"/>
                    <a:pt x="119730" y="-1150"/>
                    <a:pt x="116144" y="3214"/>
                  </a:cubicBezTo>
                  <a:lnTo>
                    <a:pt x="114015" y="4671"/>
                  </a:lnTo>
                  <a:lnTo>
                    <a:pt x="111885" y="6850"/>
                  </a:lnTo>
                  <a:lnTo>
                    <a:pt x="89697" y="29408"/>
                  </a:lnTo>
                  <a:lnTo>
                    <a:pt x="44706" y="75251"/>
                  </a:lnTo>
                  <a:lnTo>
                    <a:pt x="19660" y="49058"/>
                  </a:lnTo>
                  <a:cubicBezTo>
                    <a:pt x="14674" y="43965"/>
                    <a:pt x="6829" y="43965"/>
                    <a:pt x="2515" y="49058"/>
                  </a:cubicBezTo>
                  <a:cubicBezTo>
                    <a:pt x="-2472" y="54151"/>
                    <a:pt x="-2472" y="61429"/>
                    <a:pt x="2515" y="66522"/>
                  </a:cubicBezTo>
                  <a:lnTo>
                    <a:pt x="44706" y="110180"/>
                  </a:lnTo>
                  <a:lnTo>
                    <a:pt x="124043" y="29408"/>
                  </a:lnTo>
                  <a:lnTo>
                    <a:pt x="130431" y="23587"/>
                  </a:lnTo>
                  <a:lnTo>
                    <a:pt x="133288" y="20679"/>
                  </a:lnTo>
                  <a:cubicBezTo>
                    <a:pt x="137603" y="16314"/>
                    <a:pt x="137603" y="9764"/>
                    <a:pt x="134745" y="4671"/>
                  </a:cubicBezTo>
                  <a:close/>
                </a:path>
              </a:pathLst>
            </a:custGeom>
            <a:solidFill>
              <a:schemeClr val="accent1"/>
            </a:solidFill>
            <a:ln w="5603"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07" name="Rounded Rectangle 45_1">
            <a:extLst>
              <a:ext uri="{FF2B5EF4-FFF2-40B4-BE49-F238E27FC236}">
                <a16:creationId xmlns:a16="http://schemas.microsoft.com/office/drawing/2014/main" id="{7652C7CE-24EE-A7E3-798D-CD73695E443F}"/>
              </a:ext>
            </a:extLst>
          </p:cNvPr>
          <p:cNvSpPr>
            <a:spLocks/>
          </p:cNvSpPr>
          <p:nvPr/>
        </p:nvSpPr>
        <p:spPr bwMode="auto">
          <a:xfrm>
            <a:off x="1240837" y="3415776"/>
            <a:ext cx="4605556" cy="246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Semibold"/>
                <a:ea typeface="Segoe UI" pitchFamily="34" charset="0"/>
                <a:cs typeface="Segoe UI" pitchFamily="34" charset="0"/>
              </a:rPr>
              <a:t>Standardize on one solution across the SMB stack</a:t>
            </a:r>
          </a:p>
        </p:txBody>
      </p:sp>
      <p:sp>
        <p:nvSpPr>
          <p:cNvPr id="115" name="TextBox 114">
            <a:extLst>
              <a:ext uri="{FF2B5EF4-FFF2-40B4-BE49-F238E27FC236}">
                <a16:creationId xmlns:a16="http://schemas.microsoft.com/office/drawing/2014/main" id="{47D1D2EC-C01C-6172-A48A-9E194E40B646}"/>
              </a:ext>
            </a:extLst>
          </p:cNvPr>
          <p:cNvSpPr txBox="1"/>
          <p:nvPr/>
        </p:nvSpPr>
        <p:spPr>
          <a:xfrm>
            <a:off x="449026" y="4993407"/>
            <a:ext cx="5261176" cy="121571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mn-cs"/>
              </a:rPr>
              <a:t>“Since basing a managed service offering on Microsoft 365 Business Premium,</a:t>
            </a:r>
            <a:r>
              <a:rPr kumimoji="0" lang="en-US" sz="2000" b="0" i="0" u="none" strike="noStrike" kern="1200" cap="none" spc="0" normalizeH="0" baseline="0" noProof="0">
                <a:ln>
                  <a:noFill/>
                </a:ln>
                <a:solidFill>
                  <a:srgbClr val="000000"/>
                </a:solidFill>
                <a:effectLst/>
                <a:uLnTx/>
                <a:uFillTx/>
                <a:latin typeface="Segoe UI Semibold"/>
                <a:ea typeface="+mn-ea"/>
                <a:cs typeface="+mn-cs"/>
              </a:rPr>
              <a:t> profitability per employee has shot up by </a:t>
            </a:r>
            <a:r>
              <a:rPr kumimoji="0" lang="en-US" sz="2000" b="0" i="0" u="none" strike="noStrike" kern="1200" cap="none" spc="0" normalizeH="0" baseline="0" noProof="0">
                <a:ln>
                  <a:noFill/>
                </a:ln>
                <a:solidFill>
                  <a:srgbClr val="0078D4"/>
                </a:solidFill>
                <a:effectLst/>
                <a:uLnTx/>
                <a:uFillTx/>
                <a:latin typeface="Segoe UI Semibold"/>
                <a:ea typeface="+mn-ea"/>
                <a:cs typeface="+mn-cs"/>
              </a:rPr>
              <a:t>250 percent</a:t>
            </a:r>
            <a:r>
              <a:rPr kumimoji="0" lang="en-US" sz="2000" b="0" i="0" u="none" strike="noStrike" kern="1200" cap="none" spc="0" normalizeH="0" baseline="0" noProof="0">
                <a:ln>
                  <a:noFill/>
                </a:ln>
                <a:solidFill>
                  <a:srgbClr val="000000"/>
                </a:solidFill>
                <a:effectLst/>
                <a:uLnTx/>
                <a:uFillTx/>
                <a:latin typeface="Segoe UI Semibold"/>
                <a:ea typeface="+mn-ea"/>
                <a:cs typeface="+mn-cs"/>
              </a:rPr>
              <a:t>.” </a:t>
            </a:r>
          </a:p>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400" b="0" i="1" u="none" strike="noStrike" kern="1200" cap="none" spc="0" normalizeH="0" baseline="0" noProof="0">
                <a:ln>
                  <a:noFill/>
                </a:ln>
                <a:solidFill>
                  <a:srgbClr val="000000"/>
                </a:solidFill>
                <a:effectLst/>
                <a:uLnTx/>
                <a:uFillTx/>
                <a:latin typeface="Segoe UI Semibold"/>
                <a:ea typeface="+mn-ea"/>
                <a:cs typeface="+mn-cs"/>
              </a:rPr>
              <a:t>-- </a:t>
            </a:r>
            <a:r>
              <a:rPr kumimoji="0" lang="en-US" sz="1400" b="0" i="1" u="none" strike="noStrike" kern="1200" cap="none" spc="0" normalizeH="0" baseline="0" noProof="0">
                <a:ln>
                  <a:noFill/>
                </a:ln>
                <a:solidFill>
                  <a:srgbClr val="000000"/>
                </a:solidFill>
                <a:effectLst/>
                <a:uLnTx/>
                <a:uFillTx/>
                <a:latin typeface="Segoe UI"/>
                <a:ea typeface="+mn-ea"/>
                <a:cs typeface="+mn-cs"/>
              </a:rPr>
              <a:t>Martin </a:t>
            </a:r>
            <a:r>
              <a:rPr kumimoji="0" lang="en-US" sz="1400" b="0" i="1" u="none" strike="noStrike" kern="1200" cap="none" spc="0" normalizeH="0" baseline="0" noProof="0" err="1">
                <a:ln>
                  <a:noFill/>
                </a:ln>
                <a:solidFill>
                  <a:srgbClr val="000000"/>
                </a:solidFill>
                <a:effectLst/>
                <a:uLnTx/>
                <a:uFillTx/>
                <a:latin typeface="Segoe UI"/>
                <a:ea typeface="+mn-ea"/>
                <a:cs typeface="+mn-cs"/>
              </a:rPr>
              <a:t>Liljenberg</a:t>
            </a:r>
            <a:r>
              <a:rPr kumimoji="0" lang="en-US" sz="1400" b="0" i="1" u="none" strike="noStrike" kern="1200" cap="none" spc="0" normalizeH="0" baseline="0" noProof="0">
                <a:ln>
                  <a:noFill/>
                </a:ln>
                <a:solidFill>
                  <a:srgbClr val="000000"/>
                </a:solidFill>
                <a:effectLst/>
                <a:uLnTx/>
                <a:uFillTx/>
                <a:latin typeface="Segoe UI"/>
                <a:ea typeface="+mn-ea"/>
                <a:cs typeface="+mn-cs"/>
              </a:rPr>
              <a:t>: CTO and Cofounder, </a:t>
            </a:r>
            <a:r>
              <a:rPr kumimoji="0" lang="en-US" sz="1400" b="0" i="1" u="none" strike="noStrike" kern="1200" cap="none" spc="0" normalizeH="0" baseline="0" noProof="0" err="1">
                <a:ln>
                  <a:noFill/>
                </a:ln>
                <a:solidFill>
                  <a:srgbClr val="0078D4"/>
                </a:solidFill>
                <a:effectLst/>
                <a:uLnTx/>
                <a:uFillTx/>
                <a:latin typeface="Segoe UI"/>
                <a:ea typeface="+mn-ea"/>
                <a:cs typeface="+mn-cs"/>
                <a:hlinkClick r:id="rId5">
                  <a:extLst>
                    <a:ext uri="{A12FA001-AC4F-418D-AE19-62706E023703}">
                      <ahyp:hlinkClr xmlns:ahyp="http://schemas.microsoft.com/office/drawing/2018/hyperlinkcolor" val="tx"/>
                    </a:ext>
                  </a:extLst>
                </a:hlinkClick>
              </a:rPr>
              <a:t>WeSafe</a:t>
            </a:r>
            <a:endParaRPr kumimoji="0" lang="en-US" sz="1400" b="0" i="1" u="none" strike="noStrike" kern="1200" cap="none" spc="0" normalizeH="0" baseline="0" noProof="0">
              <a:ln>
                <a:noFill/>
              </a:ln>
              <a:solidFill>
                <a:srgbClr val="0078D4"/>
              </a:solidFill>
              <a:effectLst/>
              <a:uLnTx/>
              <a:uFillTx/>
              <a:latin typeface="Segoe UI"/>
              <a:ea typeface="+mn-ea"/>
              <a:cs typeface="+mn-cs"/>
            </a:endParaRPr>
          </a:p>
        </p:txBody>
      </p:sp>
      <p:sp>
        <p:nvSpPr>
          <p:cNvPr id="8" name="TextBox 7">
            <a:extLst>
              <a:ext uri="{FF2B5EF4-FFF2-40B4-BE49-F238E27FC236}">
                <a16:creationId xmlns:a16="http://schemas.microsoft.com/office/drawing/2014/main" id="{A8DCD51D-8788-C514-FB77-29DB1A29887D}"/>
              </a:ext>
            </a:extLst>
          </p:cNvPr>
          <p:cNvSpPr txBox="1"/>
          <p:nvPr/>
        </p:nvSpPr>
        <p:spPr>
          <a:xfrm>
            <a:off x="588263" y="165734"/>
            <a:ext cx="67026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UI Semibold"/>
                <a:ea typeface="+mn-ea"/>
                <a:cs typeface="+mn-cs"/>
              </a:rPr>
              <a:t>02</a:t>
            </a:r>
          </a:p>
        </p:txBody>
      </p:sp>
    </p:spTree>
    <p:extLst>
      <p:ext uri="{BB962C8B-B14F-4D97-AF65-F5344CB8AC3E}">
        <p14:creationId xmlns:p14="http://schemas.microsoft.com/office/powerpoint/2010/main" val="6066110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E1AFD9AA-9170-B45E-54D2-489D7A6E24FE}"/>
              </a:ext>
              <a:ext uri="{C183D7F6-B498-43B3-948B-1728B52AA6E4}">
                <adec:decorative xmlns:adec="http://schemas.microsoft.com/office/drawing/2017/decorative" val="1"/>
              </a:ext>
            </a:extLst>
          </p:cNvPr>
          <p:cNvSpPr/>
          <p:nvPr/>
        </p:nvSpPr>
        <p:spPr bwMode="auto">
          <a:xfrm>
            <a:off x="588263" y="1745692"/>
            <a:ext cx="3502873" cy="1097228"/>
          </a:xfrm>
          <a:prstGeom prst="roundRect">
            <a:avLst>
              <a:gd name="adj" fmla="val 9911"/>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2BF2D347-66F2-6CFE-D952-3E324B283F04}"/>
              </a:ext>
              <a:ext uri="{C183D7F6-B498-43B3-948B-1728B52AA6E4}">
                <adec:decorative xmlns:adec="http://schemas.microsoft.com/office/drawing/2017/decorative" val="1"/>
              </a:ext>
            </a:extLst>
          </p:cNvPr>
          <p:cNvSpPr/>
          <p:nvPr/>
        </p:nvSpPr>
        <p:spPr bwMode="auto">
          <a:xfrm>
            <a:off x="4344565" y="1745692"/>
            <a:ext cx="3502873" cy="1097228"/>
          </a:xfrm>
          <a:prstGeom prst="roundRect">
            <a:avLst>
              <a:gd name="adj" fmla="val 9911"/>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EEA7D9D7-A129-3775-D500-1A11DACE967A}"/>
              </a:ext>
              <a:ext uri="{C183D7F6-B498-43B3-948B-1728B52AA6E4}">
                <adec:decorative xmlns:adec="http://schemas.microsoft.com/office/drawing/2017/decorative" val="1"/>
              </a:ext>
            </a:extLst>
          </p:cNvPr>
          <p:cNvSpPr/>
          <p:nvPr/>
        </p:nvSpPr>
        <p:spPr bwMode="auto">
          <a:xfrm>
            <a:off x="8100866" y="1745692"/>
            <a:ext cx="3502873" cy="1097228"/>
          </a:xfrm>
          <a:prstGeom prst="roundRect">
            <a:avLst>
              <a:gd name="adj" fmla="val 9911"/>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1025" name="Straight Connector 1024">
            <a:extLst>
              <a:ext uri="{FF2B5EF4-FFF2-40B4-BE49-F238E27FC236}">
                <a16:creationId xmlns:a16="http://schemas.microsoft.com/office/drawing/2014/main" id="{683C6286-DC36-C47A-E25E-2BB5B0F88AD3}"/>
              </a:ext>
              <a:ext uri="{C183D7F6-B498-43B3-948B-1728B52AA6E4}">
                <adec:decorative xmlns:adec="http://schemas.microsoft.com/office/drawing/2017/decorative" val="1"/>
              </a:ext>
            </a:extLst>
          </p:cNvPr>
          <p:cNvCxnSpPr>
            <a:cxnSpLocks/>
          </p:cNvCxnSpPr>
          <p:nvPr/>
        </p:nvCxnSpPr>
        <p:spPr>
          <a:xfrm>
            <a:off x="841458" y="4440374"/>
            <a:ext cx="3193233" cy="0"/>
          </a:xfrm>
          <a:prstGeom prst="line">
            <a:avLst/>
          </a:prstGeom>
          <a:solidFill>
            <a:schemeClr val="bg1">
              <a:lumMod val="95000"/>
            </a:schemeClr>
          </a:solidFill>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24" name="Straight Connector 1223">
            <a:extLst>
              <a:ext uri="{FF2B5EF4-FFF2-40B4-BE49-F238E27FC236}">
                <a16:creationId xmlns:a16="http://schemas.microsoft.com/office/drawing/2014/main" id="{FD20CE81-B4FC-B0A5-8696-34B6AE21FFD2}"/>
              </a:ext>
              <a:ext uri="{C183D7F6-B498-43B3-948B-1728B52AA6E4}">
                <adec:decorative xmlns:adec="http://schemas.microsoft.com/office/drawing/2017/decorative" val="1"/>
              </a:ext>
            </a:extLst>
          </p:cNvPr>
          <p:cNvCxnSpPr>
            <a:cxnSpLocks/>
          </p:cNvCxnSpPr>
          <p:nvPr/>
        </p:nvCxnSpPr>
        <p:spPr>
          <a:xfrm>
            <a:off x="4533057" y="4440374"/>
            <a:ext cx="3193233" cy="0"/>
          </a:xfrm>
          <a:prstGeom prst="line">
            <a:avLst/>
          </a:prstGeom>
          <a:solidFill>
            <a:schemeClr val="bg1">
              <a:lumMod val="95000"/>
            </a:schemeClr>
          </a:solidFill>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F4F2BE94-7150-909D-C7D1-AAB8D5B363B4}"/>
              </a:ext>
              <a:ext uri="{C183D7F6-B498-43B3-948B-1728B52AA6E4}">
                <adec:decorative xmlns:adec="http://schemas.microsoft.com/office/drawing/2017/decorative" val="1"/>
              </a:ext>
            </a:extLst>
          </p:cNvPr>
          <p:cNvCxnSpPr>
            <a:cxnSpLocks/>
          </p:cNvCxnSpPr>
          <p:nvPr/>
        </p:nvCxnSpPr>
        <p:spPr>
          <a:xfrm>
            <a:off x="8211552" y="4440374"/>
            <a:ext cx="3193233" cy="0"/>
          </a:xfrm>
          <a:prstGeom prst="line">
            <a:avLst/>
          </a:prstGeom>
          <a:solidFill>
            <a:schemeClr val="bg1">
              <a:lumMod val="95000"/>
            </a:schemeClr>
          </a:solidFill>
          <a:ln w="190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9BDA65A2-5889-DADD-8186-EF345C190872}"/>
              </a:ext>
            </a:extLst>
          </p:cNvPr>
          <p:cNvSpPr>
            <a:spLocks noGrp="1"/>
          </p:cNvSpPr>
          <p:nvPr>
            <p:ph type="title"/>
          </p:nvPr>
        </p:nvSpPr>
        <p:spPr/>
        <p:txBody>
          <a:bodyPr/>
          <a:lstStyle/>
          <a:p>
            <a:r>
              <a:rPr lang="en-US"/>
              <a:t>How to pitch </a:t>
            </a:r>
            <a:r>
              <a:rPr lang="en-US">
                <a:solidFill>
                  <a:schemeClr val="accent1"/>
                </a:solidFill>
              </a:rPr>
              <a:t>Do More with Less </a:t>
            </a:r>
            <a:r>
              <a:rPr lang="en-US"/>
              <a:t>to SMBs</a:t>
            </a:r>
            <a:endParaRPr lang="en-IN"/>
          </a:p>
        </p:txBody>
      </p:sp>
      <p:grpSp>
        <p:nvGrpSpPr>
          <p:cNvPr id="2" name="Graphic 90">
            <a:extLst>
              <a:ext uri="{FF2B5EF4-FFF2-40B4-BE49-F238E27FC236}">
                <a16:creationId xmlns:a16="http://schemas.microsoft.com/office/drawing/2014/main" id="{0DA9DC12-EBF2-11DB-D72E-FA7488FDCFDF}"/>
              </a:ext>
              <a:ext uri="{C183D7F6-B498-43B3-948B-1728B52AA6E4}">
                <adec:decorative xmlns:adec="http://schemas.microsoft.com/office/drawing/2017/decorative" val="1"/>
              </a:ext>
            </a:extLst>
          </p:cNvPr>
          <p:cNvGrpSpPr/>
          <p:nvPr/>
        </p:nvGrpSpPr>
        <p:grpSpPr>
          <a:xfrm>
            <a:off x="2121394" y="1966476"/>
            <a:ext cx="365220" cy="308940"/>
            <a:chOff x="2580899" y="1738973"/>
            <a:chExt cx="365220" cy="308940"/>
          </a:xfrm>
          <a:solidFill>
            <a:schemeClr val="accent1"/>
          </a:solidFill>
        </p:grpSpPr>
        <p:sp>
          <p:nvSpPr>
            <p:cNvPr id="6" name="Freeform: Shape 5">
              <a:extLst>
                <a:ext uri="{FF2B5EF4-FFF2-40B4-BE49-F238E27FC236}">
                  <a16:creationId xmlns:a16="http://schemas.microsoft.com/office/drawing/2014/main" id="{54EF20AB-8C1D-6DA9-C0FD-A50DAFBF94BF}"/>
                </a:ext>
              </a:extLst>
            </p:cNvPr>
            <p:cNvSpPr/>
            <p:nvPr/>
          </p:nvSpPr>
          <p:spPr>
            <a:xfrm>
              <a:off x="2580899" y="1776649"/>
              <a:ext cx="365220" cy="241124"/>
            </a:xfrm>
            <a:custGeom>
              <a:avLst/>
              <a:gdLst>
                <a:gd name="connsiteX0" fmla="*/ 140196 w 365220"/>
                <a:gd name="connsiteY0" fmla="*/ 94238 h 241124"/>
                <a:gd name="connsiteX1" fmla="*/ 140196 w 365220"/>
                <a:gd name="connsiteY1" fmla="*/ 94238 h 241124"/>
                <a:gd name="connsiteX2" fmla="*/ 149623 w 365220"/>
                <a:gd name="connsiteY2" fmla="*/ 79906 h 241124"/>
                <a:gd name="connsiteX3" fmla="*/ 164202 w 365220"/>
                <a:gd name="connsiteY3" fmla="*/ 69794 h 241124"/>
                <a:gd name="connsiteX4" fmla="*/ 182204 w 365220"/>
                <a:gd name="connsiteY4" fmla="*/ 66418 h 241124"/>
                <a:gd name="connsiteX5" fmla="*/ 199354 w 365220"/>
                <a:gd name="connsiteY5" fmla="*/ 69794 h 241124"/>
                <a:gd name="connsiteX6" fmla="*/ 213925 w 365220"/>
                <a:gd name="connsiteY6" fmla="*/ 79906 h 241124"/>
                <a:gd name="connsiteX7" fmla="*/ 224212 w 365220"/>
                <a:gd name="connsiteY7" fmla="*/ 94238 h 241124"/>
                <a:gd name="connsiteX8" fmla="*/ 227643 w 365220"/>
                <a:gd name="connsiteY8" fmla="*/ 111946 h 241124"/>
                <a:gd name="connsiteX9" fmla="*/ 224212 w 365220"/>
                <a:gd name="connsiteY9" fmla="*/ 128809 h 241124"/>
                <a:gd name="connsiteX10" fmla="*/ 213925 w 365220"/>
                <a:gd name="connsiteY10" fmla="*/ 143141 h 241124"/>
                <a:gd name="connsiteX11" fmla="*/ 199354 w 365220"/>
                <a:gd name="connsiteY11" fmla="*/ 153261 h 241124"/>
                <a:gd name="connsiteX12" fmla="*/ 182204 w 365220"/>
                <a:gd name="connsiteY12" fmla="*/ 156629 h 241124"/>
                <a:gd name="connsiteX13" fmla="*/ 164202 w 365220"/>
                <a:gd name="connsiteY13" fmla="*/ 153261 h 241124"/>
                <a:gd name="connsiteX14" fmla="*/ 149623 w 365220"/>
                <a:gd name="connsiteY14" fmla="*/ 143141 h 241124"/>
                <a:gd name="connsiteX15" fmla="*/ 140196 w 365220"/>
                <a:gd name="connsiteY15" fmla="*/ 128809 h 241124"/>
                <a:gd name="connsiteX16" fmla="*/ 136765 w 365220"/>
                <a:gd name="connsiteY16" fmla="*/ 111946 h 241124"/>
                <a:gd name="connsiteX17" fmla="*/ 140196 w 365220"/>
                <a:gd name="connsiteY17" fmla="*/ 94238 h 241124"/>
                <a:gd name="connsiteX18" fmla="*/ 255073 w 365220"/>
                <a:gd name="connsiteY18" fmla="*/ 26791 h 241124"/>
                <a:gd name="connsiteX19" fmla="*/ 255073 w 365220"/>
                <a:gd name="connsiteY19" fmla="*/ 26791 h 241124"/>
                <a:gd name="connsiteX20" fmla="*/ 337377 w 365220"/>
                <a:gd name="connsiteY20" fmla="*/ 26791 h 241124"/>
                <a:gd name="connsiteX21" fmla="*/ 337377 w 365220"/>
                <a:gd name="connsiteY21" fmla="*/ 107733 h 241124"/>
                <a:gd name="connsiteX22" fmla="*/ 255073 w 365220"/>
                <a:gd name="connsiteY22" fmla="*/ 107733 h 241124"/>
                <a:gd name="connsiteX23" fmla="*/ 255073 w 365220"/>
                <a:gd name="connsiteY23" fmla="*/ 26791 h 241124"/>
                <a:gd name="connsiteX24" fmla="*/ -406 w 365220"/>
                <a:gd name="connsiteY24" fmla="*/ 240940 h 241124"/>
                <a:gd name="connsiteX25" fmla="*/ -406 w 365220"/>
                <a:gd name="connsiteY25" fmla="*/ 240940 h 241124"/>
                <a:gd name="connsiteX26" fmla="*/ 113619 w 365220"/>
                <a:gd name="connsiteY26" fmla="*/ 240940 h 241124"/>
                <a:gd name="connsiteX27" fmla="*/ 117050 w 365220"/>
                <a:gd name="connsiteY27" fmla="*/ 224076 h 241124"/>
                <a:gd name="connsiteX28" fmla="*/ 101612 w 365220"/>
                <a:gd name="connsiteY28" fmla="*/ 230820 h 241124"/>
                <a:gd name="connsiteX29" fmla="*/ 78466 w 365220"/>
                <a:gd name="connsiteY29" fmla="*/ 208056 h 241124"/>
                <a:gd name="connsiteX30" fmla="*/ 101612 w 365220"/>
                <a:gd name="connsiteY30" fmla="*/ 185293 h 241124"/>
                <a:gd name="connsiteX31" fmla="*/ 124765 w 365220"/>
                <a:gd name="connsiteY31" fmla="*/ 208056 h 241124"/>
                <a:gd name="connsiteX32" fmla="*/ 123906 w 365220"/>
                <a:gd name="connsiteY32" fmla="*/ 209744 h 241124"/>
                <a:gd name="connsiteX33" fmla="*/ 133333 w 365220"/>
                <a:gd name="connsiteY33" fmla="*/ 198788 h 241124"/>
                <a:gd name="connsiteX34" fmla="*/ 154767 w 365220"/>
                <a:gd name="connsiteY34" fmla="*/ 184449 h 241124"/>
                <a:gd name="connsiteX35" fmla="*/ 182204 w 365220"/>
                <a:gd name="connsiteY35" fmla="*/ 179393 h 241124"/>
                <a:gd name="connsiteX36" fmla="*/ 209641 w 365220"/>
                <a:gd name="connsiteY36" fmla="*/ 184449 h 241124"/>
                <a:gd name="connsiteX37" fmla="*/ 231075 w 365220"/>
                <a:gd name="connsiteY37" fmla="*/ 198788 h 241124"/>
                <a:gd name="connsiteX38" fmla="*/ 238790 w 365220"/>
                <a:gd name="connsiteY38" fmla="*/ 208056 h 241124"/>
                <a:gd name="connsiteX39" fmla="*/ 261936 w 365220"/>
                <a:gd name="connsiteY39" fmla="*/ 185293 h 241124"/>
                <a:gd name="connsiteX40" fmla="*/ 284222 w 365220"/>
                <a:gd name="connsiteY40" fmla="*/ 208056 h 241124"/>
                <a:gd name="connsiteX41" fmla="*/ 261936 w 365220"/>
                <a:gd name="connsiteY41" fmla="*/ 230820 h 241124"/>
                <a:gd name="connsiteX42" fmla="*/ 247358 w 365220"/>
                <a:gd name="connsiteY42" fmla="*/ 224920 h 241124"/>
                <a:gd name="connsiteX43" fmla="*/ 249929 w 365220"/>
                <a:gd name="connsiteY43" fmla="*/ 240940 h 241124"/>
                <a:gd name="connsiteX44" fmla="*/ 364814 w 365220"/>
                <a:gd name="connsiteY44" fmla="*/ 240940 h 241124"/>
                <a:gd name="connsiteX45" fmla="*/ 364814 w 365220"/>
                <a:gd name="connsiteY45" fmla="*/ -185 h 241124"/>
                <a:gd name="connsiteX46" fmla="*/ -406 w 365220"/>
                <a:gd name="connsiteY46" fmla="*/ -185 h 241124"/>
                <a:gd name="connsiteX47" fmla="*/ -406 w 365220"/>
                <a:gd name="connsiteY47" fmla="*/ 240940 h 24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65220" h="241124">
                  <a:moveTo>
                    <a:pt x="140196" y="94238"/>
                  </a:moveTo>
                  <a:lnTo>
                    <a:pt x="140196" y="94238"/>
                  </a:lnTo>
                  <a:cubicBezTo>
                    <a:pt x="142768" y="88338"/>
                    <a:pt x="145340" y="84126"/>
                    <a:pt x="149623" y="79906"/>
                  </a:cubicBezTo>
                  <a:cubicBezTo>
                    <a:pt x="153915" y="75694"/>
                    <a:pt x="159058" y="72318"/>
                    <a:pt x="164202" y="69794"/>
                  </a:cubicBezTo>
                  <a:cubicBezTo>
                    <a:pt x="170205" y="68106"/>
                    <a:pt x="175349" y="66418"/>
                    <a:pt x="182204" y="66418"/>
                  </a:cubicBezTo>
                  <a:cubicBezTo>
                    <a:pt x="188207" y="66418"/>
                    <a:pt x="194203" y="68106"/>
                    <a:pt x="199354" y="69794"/>
                  </a:cubicBezTo>
                  <a:cubicBezTo>
                    <a:pt x="205350" y="72318"/>
                    <a:pt x="210493" y="75694"/>
                    <a:pt x="213925" y="79906"/>
                  </a:cubicBezTo>
                  <a:cubicBezTo>
                    <a:pt x="218209" y="84126"/>
                    <a:pt x="221640" y="88338"/>
                    <a:pt x="224212" y="94238"/>
                  </a:cubicBezTo>
                  <a:cubicBezTo>
                    <a:pt x="226784" y="99302"/>
                    <a:pt x="227643" y="105202"/>
                    <a:pt x="227643" y="111946"/>
                  </a:cubicBezTo>
                  <a:cubicBezTo>
                    <a:pt x="227643" y="117846"/>
                    <a:pt x="226784" y="123753"/>
                    <a:pt x="224212" y="128809"/>
                  </a:cubicBezTo>
                  <a:cubicBezTo>
                    <a:pt x="221640" y="134709"/>
                    <a:pt x="218209" y="138929"/>
                    <a:pt x="213925" y="143141"/>
                  </a:cubicBezTo>
                  <a:cubicBezTo>
                    <a:pt x="210493" y="147353"/>
                    <a:pt x="205350" y="150729"/>
                    <a:pt x="199354" y="153261"/>
                  </a:cubicBezTo>
                  <a:cubicBezTo>
                    <a:pt x="194203" y="154941"/>
                    <a:pt x="188207" y="156629"/>
                    <a:pt x="182204" y="156629"/>
                  </a:cubicBezTo>
                  <a:cubicBezTo>
                    <a:pt x="175349" y="156629"/>
                    <a:pt x="170205" y="154941"/>
                    <a:pt x="164202" y="153261"/>
                  </a:cubicBezTo>
                  <a:cubicBezTo>
                    <a:pt x="159058" y="150729"/>
                    <a:pt x="153915" y="147353"/>
                    <a:pt x="149623" y="143141"/>
                  </a:cubicBezTo>
                  <a:cubicBezTo>
                    <a:pt x="145340" y="138929"/>
                    <a:pt x="142768" y="134709"/>
                    <a:pt x="140196" y="128809"/>
                  </a:cubicBezTo>
                  <a:cubicBezTo>
                    <a:pt x="137624" y="123753"/>
                    <a:pt x="136765" y="117846"/>
                    <a:pt x="136765" y="111946"/>
                  </a:cubicBezTo>
                  <a:cubicBezTo>
                    <a:pt x="136765" y="105202"/>
                    <a:pt x="137624" y="99302"/>
                    <a:pt x="140196" y="94238"/>
                  </a:cubicBezTo>
                  <a:close/>
                  <a:moveTo>
                    <a:pt x="255073" y="26791"/>
                  </a:moveTo>
                  <a:lnTo>
                    <a:pt x="255073" y="26791"/>
                  </a:lnTo>
                  <a:lnTo>
                    <a:pt x="337377" y="26791"/>
                  </a:lnTo>
                  <a:lnTo>
                    <a:pt x="337377" y="107733"/>
                  </a:lnTo>
                  <a:lnTo>
                    <a:pt x="255073" y="107733"/>
                  </a:lnTo>
                  <a:lnTo>
                    <a:pt x="255073" y="26791"/>
                  </a:lnTo>
                  <a:close/>
                  <a:moveTo>
                    <a:pt x="-406" y="240940"/>
                  </a:moveTo>
                  <a:lnTo>
                    <a:pt x="-406" y="240940"/>
                  </a:lnTo>
                  <a:lnTo>
                    <a:pt x="113619" y="240940"/>
                  </a:lnTo>
                  <a:cubicBezTo>
                    <a:pt x="114479" y="235040"/>
                    <a:pt x="115331" y="229140"/>
                    <a:pt x="117050" y="224076"/>
                  </a:cubicBezTo>
                  <a:cubicBezTo>
                    <a:pt x="113619" y="228296"/>
                    <a:pt x="107615" y="230820"/>
                    <a:pt x="101612" y="230820"/>
                  </a:cubicBezTo>
                  <a:cubicBezTo>
                    <a:pt x="88753" y="230820"/>
                    <a:pt x="78466" y="220708"/>
                    <a:pt x="78466" y="208056"/>
                  </a:cubicBezTo>
                  <a:cubicBezTo>
                    <a:pt x="78466" y="195412"/>
                    <a:pt x="88753" y="185293"/>
                    <a:pt x="101612" y="185293"/>
                  </a:cubicBezTo>
                  <a:cubicBezTo>
                    <a:pt x="114479" y="185293"/>
                    <a:pt x="124765" y="195412"/>
                    <a:pt x="124765" y="208056"/>
                  </a:cubicBezTo>
                  <a:cubicBezTo>
                    <a:pt x="124765" y="208900"/>
                    <a:pt x="123906" y="209744"/>
                    <a:pt x="123906" y="209744"/>
                  </a:cubicBezTo>
                  <a:cubicBezTo>
                    <a:pt x="126477" y="206376"/>
                    <a:pt x="129909" y="202156"/>
                    <a:pt x="133333" y="198788"/>
                  </a:cubicBezTo>
                  <a:cubicBezTo>
                    <a:pt x="139336" y="192881"/>
                    <a:pt x="147052" y="187825"/>
                    <a:pt x="154767" y="184449"/>
                  </a:cubicBezTo>
                  <a:cubicBezTo>
                    <a:pt x="163342" y="181081"/>
                    <a:pt x="172777" y="179393"/>
                    <a:pt x="182204" y="179393"/>
                  </a:cubicBezTo>
                  <a:cubicBezTo>
                    <a:pt x="191631" y="179393"/>
                    <a:pt x="201066" y="181081"/>
                    <a:pt x="209641" y="184449"/>
                  </a:cubicBezTo>
                  <a:cubicBezTo>
                    <a:pt x="217356" y="187825"/>
                    <a:pt x="225072" y="192037"/>
                    <a:pt x="231075" y="198788"/>
                  </a:cubicBezTo>
                  <a:cubicBezTo>
                    <a:pt x="233647" y="201312"/>
                    <a:pt x="236219" y="204688"/>
                    <a:pt x="238790" y="208056"/>
                  </a:cubicBezTo>
                  <a:cubicBezTo>
                    <a:pt x="238790" y="195412"/>
                    <a:pt x="249077" y="185293"/>
                    <a:pt x="261936" y="185293"/>
                  </a:cubicBezTo>
                  <a:cubicBezTo>
                    <a:pt x="274795" y="185293"/>
                    <a:pt x="284222" y="195412"/>
                    <a:pt x="284222" y="208056"/>
                  </a:cubicBezTo>
                  <a:cubicBezTo>
                    <a:pt x="284222" y="220708"/>
                    <a:pt x="274795" y="230820"/>
                    <a:pt x="261936" y="230820"/>
                  </a:cubicBezTo>
                  <a:cubicBezTo>
                    <a:pt x="255933" y="230820"/>
                    <a:pt x="250789" y="228296"/>
                    <a:pt x="247358" y="224920"/>
                  </a:cubicBezTo>
                  <a:cubicBezTo>
                    <a:pt x="249077" y="229976"/>
                    <a:pt x="249929" y="235040"/>
                    <a:pt x="249929" y="240940"/>
                  </a:cubicBezTo>
                  <a:lnTo>
                    <a:pt x="364814" y="240940"/>
                  </a:lnTo>
                  <a:lnTo>
                    <a:pt x="364814" y="-185"/>
                  </a:lnTo>
                  <a:lnTo>
                    <a:pt x="-406" y="-185"/>
                  </a:lnTo>
                  <a:lnTo>
                    <a:pt x="-406" y="240940"/>
                  </a:lnTo>
                  <a:close/>
                </a:path>
              </a:pathLst>
            </a:custGeom>
            <a:solidFill>
              <a:srgbClr val="002060"/>
            </a:solidFill>
            <a:ln w="7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3D1F051C-9006-0766-9630-F478D9156AAC}"/>
                </a:ext>
              </a:extLst>
            </p:cNvPr>
            <p:cNvSpPr/>
            <p:nvPr/>
          </p:nvSpPr>
          <p:spPr>
            <a:xfrm>
              <a:off x="2580899" y="2017773"/>
              <a:ext cx="365220" cy="30140"/>
            </a:xfrm>
            <a:custGeom>
              <a:avLst/>
              <a:gdLst>
                <a:gd name="connsiteX0" fmla="*/ 113619 w 365220"/>
                <a:gd name="connsiteY0" fmla="*/ -185 h 30140"/>
                <a:gd name="connsiteX1" fmla="*/ 113619 w 365220"/>
                <a:gd name="connsiteY1" fmla="*/ -185 h 30140"/>
                <a:gd name="connsiteX2" fmla="*/ -406 w 365220"/>
                <a:gd name="connsiteY2" fmla="*/ -185 h 30140"/>
                <a:gd name="connsiteX3" fmla="*/ -406 w 365220"/>
                <a:gd name="connsiteY3" fmla="*/ 29956 h 30140"/>
                <a:gd name="connsiteX4" fmla="*/ 364814 w 365220"/>
                <a:gd name="connsiteY4" fmla="*/ 29956 h 30140"/>
                <a:gd name="connsiteX5" fmla="*/ 364814 w 365220"/>
                <a:gd name="connsiteY5" fmla="*/ -185 h 30140"/>
                <a:gd name="connsiteX6" fmla="*/ 249929 w 365220"/>
                <a:gd name="connsiteY6" fmla="*/ -185 h 30140"/>
                <a:gd name="connsiteX7" fmla="*/ 113619 w 365220"/>
                <a:gd name="connsiteY7" fmla="*/ -185 h 3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220" h="30140">
                  <a:moveTo>
                    <a:pt x="113619" y="-185"/>
                  </a:moveTo>
                  <a:lnTo>
                    <a:pt x="113619" y="-185"/>
                  </a:lnTo>
                  <a:lnTo>
                    <a:pt x="-406" y="-185"/>
                  </a:lnTo>
                  <a:lnTo>
                    <a:pt x="-406" y="29956"/>
                  </a:lnTo>
                  <a:lnTo>
                    <a:pt x="364814" y="29956"/>
                  </a:lnTo>
                  <a:lnTo>
                    <a:pt x="364814" y="-185"/>
                  </a:lnTo>
                  <a:lnTo>
                    <a:pt x="249929" y="-185"/>
                  </a:lnTo>
                  <a:lnTo>
                    <a:pt x="113619" y="-185"/>
                  </a:lnTo>
                  <a:close/>
                </a:path>
              </a:pathLst>
            </a:custGeom>
            <a:solidFill>
              <a:schemeClr val="accent1"/>
            </a:solidFill>
            <a:ln w="7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9064B13E-5968-3BC6-1F7C-2EFBBB1313E6}"/>
                </a:ext>
              </a:extLst>
            </p:cNvPr>
            <p:cNvSpPr/>
            <p:nvPr/>
          </p:nvSpPr>
          <p:spPr>
            <a:xfrm>
              <a:off x="2580899" y="1738973"/>
              <a:ext cx="365220" cy="37675"/>
            </a:xfrm>
            <a:custGeom>
              <a:avLst/>
              <a:gdLst>
                <a:gd name="connsiteX0" fmla="*/ -406 w 365220"/>
                <a:gd name="connsiteY0" fmla="*/ 37491 h 37675"/>
                <a:gd name="connsiteX1" fmla="*/ -406 w 365220"/>
                <a:gd name="connsiteY1" fmla="*/ 37491 h 37675"/>
                <a:gd name="connsiteX2" fmla="*/ 364814 w 365220"/>
                <a:gd name="connsiteY2" fmla="*/ 37491 h 37675"/>
                <a:gd name="connsiteX3" fmla="*/ 364814 w 365220"/>
                <a:gd name="connsiteY3" fmla="*/ -185 h 37675"/>
                <a:gd name="connsiteX4" fmla="*/ -406 w 365220"/>
                <a:gd name="connsiteY4" fmla="*/ -185 h 37675"/>
                <a:gd name="connsiteX5" fmla="*/ -406 w 365220"/>
                <a:gd name="connsiteY5" fmla="*/ 37491 h 3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220" h="37675">
                  <a:moveTo>
                    <a:pt x="-406" y="37491"/>
                  </a:moveTo>
                  <a:lnTo>
                    <a:pt x="-406" y="37491"/>
                  </a:lnTo>
                  <a:lnTo>
                    <a:pt x="364814" y="37491"/>
                  </a:lnTo>
                  <a:lnTo>
                    <a:pt x="364814" y="-185"/>
                  </a:lnTo>
                  <a:lnTo>
                    <a:pt x="-406" y="-185"/>
                  </a:lnTo>
                  <a:lnTo>
                    <a:pt x="-406" y="37491"/>
                  </a:lnTo>
                  <a:close/>
                </a:path>
              </a:pathLst>
            </a:custGeom>
            <a:solidFill>
              <a:schemeClr val="accent1"/>
            </a:solidFill>
            <a:ln w="7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DE45ACBA-0665-3A63-775F-574F37930656}"/>
                </a:ext>
              </a:extLst>
            </p:cNvPr>
            <p:cNvSpPr/>
            <p:nvPr/>
          </p:nvSpPr>
          <p:spPr>
            <a:xfrm>
              <a:off x="2656986" y="1957492"/>
              <a:ext cx="53261" cy="45210"/>
            </a:xfrm>
            <a:custGeom>
              <a:avLst/>
              <a:gdLst>
                <a:gd name="connsiteX0" fmla="*/ 52855 w 53261"/>
                <a:gd name="connsiteY0" fmla="*/ 22420 h 45210"/>
                <a:gd name="connsiteX1" fmla="*/ 52855 w 53261"/>
                <a:gd name="connsiteY1" fmla="*/ 22420 h 45210"/>
                <a:gd name="connsiteX2" fmla="*/ 26225 w 53261"/>
                <a:gd name="connsiteY2" fmla="*/ -185 h 45210"/>
                <a:gd name="connsiteX3" fmla="*/ -406 w 53261"/>
                <a:gd name="connsiteY3" fmla="*/ 22420 h 45210"/>
                <a:gd name="connsiteX4" fmla="*/ 26225 w 53261"/>
                <a:gd name="connsiteY4" fmla="*/ 45026 h 45210"/>
                <a:gd name="connsiteX5" fmla="*/ 43976 w 53261"/>
                <a:gd name="connsiteY5" fmla="*/ 38327 h 45210"/>
                <a:gd name="connsiteX6" fmla="*/ 51866 w 53261"/>
                <a:gd name="connsiteY6" fmla="*/ 24093 h 45210"/>
                <a:gd name="connsiteX7" fmla="*/ 52855 w 53261"/>
                <a:gd name="connsiteY7" fmla="*/ 22420 h 4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61" h="45210">
                  <a:moveTo>
                    <a:pt x="52855" y="22420"/>
                  </a:moveTo>
                  <a:lnTo>
                    <a:pt x="52855" y="22420"/>
                  </a:lnTo>
                  <a:cubicBezTo>
                    <a:pt x="52855" y="9859"/>
                    <a:pt x="41016" y="-185"/>
                    <a:pt x="26225" y="-185"/>
                  </a:cubicBezTo>
                  <a:cubicBezTo>
                    <a:pt x="11433" y="-185"/>
                    <a:pt x="-406" y="9859"/>
                    <a:pt x="-406" y="22420"/>
                  </a:cubicBezTo>
                  <a:cubicBezTo>
                    <a:pt x="-406" y="34982"/>
                    <a:pt x="11433" y="45026"/>
                    <a:pt x="26225" y="45026"/>
                  </a:cubicBezTo>
                  <a:cubicBezTo>
                    <a:pt x="33126" y="45026"/>
                    <a:pt x="40035" y="42517"/>
                    <a:pt x="43976" y="38327"/>
                  </a:cubicBezTo>
                  <a:cubicBezTo>
                    <a:pt x="48906" y="34982"/>
                    <a:pt x="51866" y="29956"/>
                    <a:pt x="51866" y="24093"/>
                  </a:cubicBezTo>
                  <a:cubicBezTo>
                    <a:pt x="51866" y="24093"/>
                    <a:pt x="52855" y="23257"/>
                    <a:pt x="52855" y="22420"/>
                  </a:cubicBezTo>
                  <a:close/>
                </a:path>
              </a:pathLst>
            </a:custGeom>
            <a:solidFill>
              <a:schemeClr val="accent1"/>
            </a:solidFill>
            <a:ln w="7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C6B2990C-F661-89C2-2C9B-E85F9EDABE90}"/>
                </a:ext>
              </a:extLst>
            </p:cNvPr>
            <p:cNvSpPr/>
            <p:nvPr/>
          </p:nvSpPr>
          <p:spPr>
            <a:xfrm>
              <a:off x="2740682" y="1957492"/>
              <a:ext cx="45652" cy="45210"/>
            </a:xfrm>
            <a:custGeom>
              <a:avLst/>
              <a:gdLst>
                <a:gd name="connsiteX0" fmla="*/ 22854 w 45652"/>
                <a:gd name="connsiteY0" fmla="*/ -185 h 45210"/>
                <a:gd name="connsiteX1" fmla="*/ 22854 w 45652"/>
                <a:gd name="connsiteY1" fmla="*/ -185 h 45210"/>
                <a:gd name="connsiteX2" fmla="*/ -406 w 45652"/>
                <a:gd name="connsiteY2" fmla="*/ 22420 h 45210"/>
                <a:gd name="connsiteX3" fmla="*/ 22854 w 45652"/>
                <a:gd name="connsiteY3" fmla="*/ 45026 h 45210"/>
                <a:gd name="connsiteX4" fmla="*/ 45247 w 45652"/>
                <a:gd name="connsiteY4" fmla="*/ 22420 h 45210"/>
                <a:gd name="connsiteX5" fmla="*/ 22854 w 45652"/>
                <a:gd name="connsiteY5" fmla="*/ -185 h 4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52" h="45210">
                  <a:moveTo>
                    <a:pt x="22854" y="-185"/>
                  </a:moveTo>
                  <a:lnTo>
                    <a:pt x="22854" y="-185"/>
                  </a:lnTo>
                  <a:cubicBezTo>
                    <a:pt x="9927" y="-185"/>
                    <a:pt x="-406" y="9859"/>
                    <a:pt x="-406" y="22420"/>
                  </a:cubicBezTo>
                  <a:cubicBezTo>
                    <a:pt x="-406" y="34982"/>
                    <a:pt x="9927" y="45026"/>
                    <a:pt x="22854" y="45026"/>
                  </a:cubicBezTo>
                  <a:cubicBezTo>
                    <a:pt x="35774" y="45026"/>
                    <a:pt x="45247" y="34982"/>
                    <a:pt x="45247" y="22420"/>
                  </a:cubicBezTo>
                  <a:cubicBezTo>
                    <a:pt x="45247" y="9859"/>
                    <a:pt x="35774" y="-185"/>
                    <a:pt x="22854" y="-185"/>
                  </a:cubicBezTo>
                  <a:close/>
                </a:path>
              </a:pathLst>
            </a:custGeom>
            <a:solidFill>
              <a:schemeClr val="accent1"/>
            </a:solidFill>
            <a:ln w="7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7" name="Freeform: Shape 16">
              <a:extLst>
                <a:ext uri="{FF2B5EF4-FFF2-40B4-BE49-F238E27FC236}">
                  <a16:creationId xmlns:a16="http://schemas.microsoft.com/office/drawing/2014/main" id="{BA695055-D7D2-F642-EC77-FA324B3FEDC4}"/>
                </a:ext>
              </a:extLst>
            </p:cNvPr>
            <p:cNvSpPr/>
            <p:nvPr/>
          </p:nvSpPr>
          <p:spPr>
            <a:xfrm>
              <a:off x="2816770" y="1957492"/>
              <a:ext cx="45652" cy="45210"/>
            </a:xfrm>
            <a:custGeom>
              <a:avLst/>
              <a:gdLst>
                <a:gd name="connsiteX0" fmla="*/ 22854 w 45652"/>
                <a:gd name="connsiteY0" fmla="*/ 45026 h 45210"/>
                <a:gd name="connsiteX1" fmla="*/ 22854 w 45652"/>
                <a:gd name="connsiteY1" fmla="*/ 45026 h 45210"/>
                <a:gd name="connsiteX2" fmla="*/ 45247 w 45652"/>
                <a:gd name="connsiteY2" fmla="*/ 22420 h 45210"/>
                <a:gd name="connsiteX3" fmla="*/ 22854 w 45652"/>
                <a:gd name="connsiteY3" fmla="*/ -185 h 45210"/>
                <a:gd name="connsiteX4" fmla="*/ -406 w 45652"/>
                <a:gd name="connsiteY4" fmla="*/ 22420 h 45210"/>
                <a:gd name="connsiteX5" fmla="*/ 8207 w 45652"/>
                <a:gd name="connsiteY5" fmla="*/ 39164 h 45210"/>
                <a:gd name="connsiteX6" fmla="*/ 22854 w 45652"/>
                <a:gd name="connsiteY6" fmla="*/ 45026 h 4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52" h="45210">
                  <a:moveTo>
                    <a:pt x="22854" y="45026"/>
                  </a:moveTo>
                  <a:lnTo>
                    <a:pt x="22854" y="45026"/>
                  </a:lnTo>
                  <a:cubicBezTo>
                    <a:pt x="35774" y="45026"/>
                    <a:pt x="45247" y="34982"/>
                    <a:pt x="45247" y="22420"/>
                  </a:cubicBezTo>
                  <a:cubicBezTo>
                    <a:pt x="45247" y="9859"/>
                    <a:pt x="35774" y="-185"/>
                    <a:pt x="22854" y="-185"/>
                  </a:cubicBezTo>
                  <a:cubicBezTo>
                    <a:pt x="9927" y="-185"/>
                    <a:pt x="-406" y="9859"/>
                    <a:pt x="-406" y="22420"/>
                  </a:cubicBezTo>
                  <a:cubicBezTo>
                    <a:pt x="-406" y="29119"/>
                    <a:pt x="3041" y="34982"/>
                    <a:pt x="8207" y="39164"/>
                  </a:cubicBezTo>
                  <a:cubicBezTo>
                    <a:pt x="11654" y="42517"/>
                    <a:pt x="16820" y="45026"/>
                    <a:pt x="22854" y="45026"/>
                  </a:cubicBezTo>
                  <a:close/>
                </a:path>
              </a:pathLst>
            </a:custGeom>
            <a:solidFill>
              <a:schemeClr val="accent1"/>
            </a:solidFill>
            <a:ln w="754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10" name="Text Placeholder 32">
            <a:extLst>
              <a:ext uri="{FF2B5EF4-FFF2-40B4-BE49-F238E27FC236}">
                <a16:creationId xmlns:a16="http://schemas.microsoft.com/office/drawing/2014/main" id="{6F13970B-DB09-18BF-34FE-5F72542A4E9D}"/>
              </a:ext>
            </a:extLst>
          </p:cNvPr>
          <p:cNvSpPr txBox="1">
            <a:spLocks/>
          </p:cNvSpPr>
          <p:nvPr/>
        </p:nvSpPr>
        <p:spPr>
          <a:xfrm>
            <a:off x="730851" y="2395047"/>
            <a:ext cx="3193233" cy="274222"/>
          </a:xfrm>
          <a:prstGeom prst="rect">
            <a:avLst/>
          </a:prstGeom>
          <a:noFill/>
          <a:ln>
            <a:noFill/>
          </a:ln>
        </p:spPr>
        <p:txBody>
          <a:bodyPr lIns="228600" tIns="91440" rIns="228600" bIns="91440" anchor="ct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3A3A3A"/>
                </a:solidFill>
                <a:latin typeface="+mj-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3A3A3A"/>
                </a:solidFill>
                <a:latin typeface="+mj-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3A3A3A"/>
                </a:solidFill>
                <a:latin typeface="+mj-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3A3A3A"/>
                </a:solidFill>
                <a:latin typeface="+mj-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kern="1200" spc="0" baseline="0">
                <a:solidFill>
                  <a:srgbClr val="3A3A3A"/>
                </a:solidFill>
                <a:latin typeface="+mj-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Digital Workforce</a:t>
            </a:r>
          </a:p>
        </p:txBody>
      </p:sp>
      <p:sp>
        <p:nvSpPr>
          <p:cNvPr id="133" name="Freeform: Shape 132">
            <a:extLst>
              <a:ext uri="{FF2B5EF4-FFF2-40B4-BE49-F238E27FC236}">
                <a16:creationId xmlns:a16="http://schemas.microsoft.com/office/drawing/2014/main" id="{9DD0E98E-022E-4D57-59A3-E4A0DA7C156D}"/>
              </a:ext>
            </a:extLst>
          </p:cNvPr>
          <p:cNvSpPr/>
          <p:nvPr/>
        </p:nvSpPr>
        <p:spPr>
          <a:xfrm>
            <a:off x="841458" y="3103560"/>
            <a:ext cx="345013" cy="344881"/>
          </a:xfrm>
          <a:custGeom>
            <a:avLst/>
            <a:gdLst>
              <a:gd name="connsiteX0" fmla="*/ 0 w 620286"/>
              <a:gd name="connsiteY0" fmla="*/ 312508 h 625016"/>
              <a:gd name="connsiteX1" fmla="*/ 310143 w 620286"/>
              <a:gd name="connsiteY1" fmla="*/ -1 h 625016"/>
              <a:gd name="connsiteX2" fmla="*/ 620287 w 620286"/>
              <a:gd name="connsiteY2" fmla="*/ 312508 h 625016"/>
              <a:gd name="connsiteX3" fmla="*/ 310143 w 620286"/>
              <a:gd name="connsiteY3" fmla="*/ 625016 h 625016"/>
              <a:gd name="connsiteX4" fmla="*/ 0 w 620286"/>
              <a:gd name="connsiteY4" fmla="*/ 312508 h 625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286" h="625016">
                <a:moveTo>
                  <a:pt x="0" y="312508"/>
                </a:moveTo>
                <a:cubicBezTo>
                  <a:pt x="0" y="139914"/>
                  <a:pt x="138856" y="-1"/>
                  <a:pt x="310143" y="-1"/>
                </a:cubicBezTo>
                <a:cubicBezTo>
                  <a:pt x="481430" y="-1"/>
                  <a:pt x="620287" y="139914"/>
                  <a:pt x="620287" y="312508"/>
                </a:cubicBezTo>
                <a:cubicBezTo>
                  <a:pt x="620287" y="485103"/>
                  <a:pt x="481430" y="625016"/>
                  <a:pt x="310143" y="625016"/>
                </a:cubicBezTo>
                <a:cubicBezTo>
                  <a:pt x="138856" y="625016"/>
                  <a:pt x="0" y="485103"/>
                  <a:pt x="0" y="312508"/>
                </a:cubicBezTo>
                <a:close/>
              </a:path>
            </a:pathLst>
          </a:cu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IN" sz="1800" b="0" i="0" u="none" strike="noStrike" kern="1200" cap="none" spc="0" normalizeH="0" baseline="0" noProof="0">
                <a:ln>
                  <a:noFill/>
                </a:ln>
                <a:solidFill>
                  <a:srgbClr val="000000"/>
                </a:solidFill>
                <a:effectLst/>
                <a:uLnTx/>
                <a:uFillTx/>
                <a:latin typeface="Segoe UI Semibold"/>
                <a:ea typeface="+mn-ea"/>
                <a:cs typeface="Segoe UI" pitchFamily="34" charset="0"/>
              </a:rPr>
              <a:t>1</a:t>
            </a:r>
          </a:p>
        </p:txBody>
      </p:sp>
      <p:sp>
        <p:nvSpPr>
          <p:cNvPr id="148" name="Text Placeholder 3">
            <a:extLst>
              <a:ext uri="{FF2B5EF4-FFF2-40B4-BE49-F238E27FC236}">
                <a16:creationId xmlns:a16="http://schemas.microsoft.com/office/drawing/2014/main" id="{60183D49-6398-27A4-CC56-08068A2F4745}"/>
              </a:ext>
            </a:extLst>
          </p:cNvPr>
          <p:cNvSpPr txBox="1">
            <a:spLocks/>
          </p:cNvSpPr>
          <p:nvPr/>
        </p:nvSpPr>
        <p:spPr>
          <a:xfrm>
            <a:off x="841458" y="3495060"/>
            <a:ext cx="2334547" cy="754053"/>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rgbClr val="3A3A3A"/>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b"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t>Digital Workforce</a:t>
            </a:r>
          </a:p>
          <a:p>
            <a:pPr marL="0" marR="0" lvl="0" indent="0" algn="l" defTabSz="932742" rtl="0" eaLnBrk="1" fontAlgn="b"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Teams Essentials</a:t>
            </a:r>
          </a:p>
          <a:p>
            <a:pPr marL="0" marR="0" lvl="0" indent="0" algn="l" defTabSz="914400" rtl="0" eaLnBrk="1" fontAlgn="b"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Microsoft 365 Suites</a:t>
            </a:r>
          </a:p>
        </p:txBody>
      </p:sp>
      <p:sp>
        <p:nvSpPr>
          <p:cNvPr id="160" name="Text Placeholder 3">
            <a:extLst>
              <a:ext uri="{FF2B5EF4-FFF2-40B4-BE49-F238E27FC236}">
                <a16:creationId xmlns:a16="http://schemas.microsoft.com/office/drawing/2014/main" id="{CBA679A3-B656-C004-CF61-BEFC6A235C4C}"/>
              </a:ext>
            </a:extLst>
          </p:cNvPr>
          <p:cNvSpPr txBox="1">
            <a:spLocks/>
          </p:cNvSpPr>
          <p:nvPr/>
        </p:nvSpPr>
        <p:spPr>
          <a:xfrm>
            <a:off x="841458" y="4579941"/>
            <a:ext cx="2868892" cy="677108"/>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rgbClr val="3A3A3A"/>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b" latinLnBrk="0" hangingPunct="1">
              <a:lnSpc>
                <a:spcPct val="100000"/>
              </a:lnSpc>
              <a:spcBef>
                <a:spcPts val="300"/>
              </a:spcBef>
              <a:spcAft>
                <a:spcPts val="0"/>
              </a:spcAft>
              <a:buClrTx/>
              <a:buSzTx/>
              <a:buFont typeface="Wingdings" panose="05000000000000000000" pitchFamily="2" charset="2"/>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t>Customer solution: </a:t>
            </a:r>
            <a:br>
              <a:rPr kumimoji="0" lang="en-US" sz="1600" b="0" i="0" u="none" strike="noStrike" kern="1200" cap="none" spc="0" normalizeH="0" baseline="0" noProof="0">
                <a:ln w="3175">
                  <a:noFill/>
                </a:ln>
                <a:solidFill>
                  <a:srgbClr val="4C008C"/>
                </a:solidFill>
                <a:effectLst/>
                <a:uLnTx/>
                <a:uFillTx/>
                <a:latin typeface="Segoe UI Semibold"/>
                <a:ea typeface="+mn-ea"/>
                <a:cs typeface="Segoe UI"/>
              </a:rPr>
            </a:b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Support a hybrid work culture with seamless digital transformation. </a:t>
            </a:r>
          </a:p>
        </p:txBody>
      </p:sp>
      <p:grpSp>
        <p:nvGrpSpPr>
          <p:cNvPr id="18" name="Graphic 170" descr="closed lock icon">
            <a:extLst>
              <a:ext uri="{FF2B5EF4-FFF2-40B4-BE49-F238E27FC236}">
                <a16:creationId xmlns:a16="http://schemas.microsoft.com/office/drawing/2014/main" id="{D1ED6E36-B79B-57FA-B17E-9E77C9E29256}"/>
              </a:ext>
            </a:extLst>
          </p:cNvPr>
          <p:cNvGrpSpPr/>
          <p:nvPr/>
        </p:nvGrpSpPr>
        <p:grpSpPr>
          <a:xfrm>
            <a:off x="5938236" y="1885001"/>
            <a:ext cx="286437" cy="387195"/>
            <a:chOff x="5993991" y="1680757"/>
            <a:chExt cx="286437" cy="387195"/>
          </a:xfrm>
          <a:solidFill>
            <a:schemeClr val="accent1"/>
          </a:solidFill>
        </p:grpSpPr>
        <p:sp>
          <p:nvSpPr>
            <p:cNvPr id="19" name="Freeform: Shape 18">
              <a:extLst>
                <a:ext uri="{FF2B5EF4-FFF2-40B4-BE49-F238E27FC236}">
                  <a16:creationId xmlns:a16="http://schemas.microsoft.com/office/drawing/2014/main" id="{AC778844-CBD4-7FE5-900E-95C0C48DCA3C}"/>
                </a:ext>
              </a:extLst>
            </p:cNvPr>
            <p:cNvSpPr/>
            <p:nvPr/>
          </p:nvSpPr>
          <p:spPr>
            <a:xfrm>
              <a:off x="5993991" y="1680757"/>
              <a:ext cx="286437" cy="174617"/>
            </a:xfrm>
            <a:custGeom>
              <a:avLst/>
              <a:gdLst>
                <a:gd name="connsiteX0" fmla="*/ 70762 w 286437"/>
                <a:gd name="connsiteY0" fmla="*/ 174435 h 174617"/>
                <a:gd name="connsiteX1" fmla="*/ 70762 w 286437"/>
                <a:gd name="connsiteY1" fmla="*/ 174435 h 174617"/>
                <a:gd name="connsiteX2" fmla="*/ 213981 w 286437"/>
                <a:gd name="connsiteY2" fmla="*/ 174435 h 174617"/>
                <a:gd name="connsiteX3" fmla="*/ 213981 w 286437"/>
                <a:gd name="connsiteY3" fmla="*/ 101209 h 174617"/>
                <a:gd name="connsiteX4" fmla="*/ 208607 w 286437"/>
                <a:gd name="connsiteY4" fmla="*/ 71167 h 174617"/>
                <a:gd name="connsiteX5" fmla="*/ 193395 w 286437"/>
                <a:gd name="connsiteY5" fmla="*/ 46759 h 174617"/>
                <a:gd name="connsiteX6" fmla="*/ 171016 w 286437"/>
                <a:gd name="connsiteY6" fmla="*/ 29859 h 174617"/>
                <a:gd name="connsiteX7" fmla="*/ 142372 w 286437"/>
                <a:gd name="connsiteY7" fmla="*/ 24226 h 174617"/>
                <a:gd name="connsiteX8" fmla="*/ 113728 w 286437"/>
                <a:gd name="connsiteY8" fmla="*/ 29859 h 174617"/>
                <a:gd name="connsiteX9" fmla="*/ 91348 w 286437"/>
                <a:gd name="connsiteY9" fmla="*/ 46759 h 174617"/>
                <a:gd name="connsiteX10" fmla="*/ 76137 w 286437"/>
                <a:gd name="connsiteY10" fmla="*/ 71167 h 174617"/>
                <a:gd name="connsiteX11" fmla="*/ 70762 w 286437"/>
                <a:gd name="connsiteY11" fmla="*/ 101209 h 174617"/>
                <a:gd name="connsiteX12" fmla="*/ 70762 w 286437"/>
                <a:gd name="connsiteY12" fmla="*/ 174435 h 174617"/>
                <a:gd name="connsiteX13" fmla="*/ -847 w 286437"/>
                <a:gd name="connsiteY13" fmla="*/ 174435 h 174617"/>
                <a:gd name="connsiteX14" fmla="*/ -847 w 286437"/>
                <a:gd name="connsiteY14" fmla="*/ 174435 h 174617"/>
                <a:gd name="connsiteX15" fmla="*/ 46596 w 286437"/>
                <a:gd name="connsiteY15" fmla="*/ 174435 h 174617"/>
                <a:gd name="connsiteX16" fmla="*/ 46596 w 286437"/>
                <a:gd name="connsiteY16" fmla="*/ 101209 h 174617"/>
                <a:gd name="connsiteX17" fmla="*/ 53757 w 286437"/>
                <a:gd name="connsiteY17" fmla="*/ 60842 h 174617"/>
                <a:gd name="connsiteX18" fmla="*/ 74343 w 286437"/>
                <a:gd name="connsiteY18" fmla="*/ 28917 h 174617"/>
                <a:gd name="connsiteX19" fmla="*/ 104781 w 286437"/>
                <a:gd name="connsiteY19" fmla="*/ 6392 h 174617"/>
                <a:gd name="connsiteX20" fmla="*/ 142372 w 286437"/>
                <a:gd name="connsiteY20" fmla="*/ -183 h 174617"/>
                <a:gd name="connsiteX21" fmla="*/ 179963 w 286437"/>
                <a:gd name="connsiteY21" fmla="*/ 6392 h 174617"/>
                <a:gd name="connsiteX22" fmla="*/ 210401 w 286437"/>
                <a:gd name="connsiteY22" fmla="*/ 28917 h 174617"/>
                <a:gd name="connsiteX23" fmla="*/ 230097 w 286437"/>
                <a:gd name="connsiteY23" fmla="*/ 60842 h 174617"/>
                <a:gd name="connsiteX24" fmla="*/ 237258 w 286437"/>
                <a:gd name="connsiteY24" fmla="*/ 101209 h 174617"/>
                <a:gd name="connsiteX25" fmla="*/ 237258 w 286437"/>
                <a:gd name="connsiteY25" fmla="*/ 174435 h 174617"/>
                <a:gd name="connsiteX26" fmla="*/ 285591 w 286437"/>
                <a:gd name="connsiteY26" fmla="*/ 174435 h 17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6437" h="174617">
                  <a:moveTo>
                    <a:pt x="70762" y="174435"/>
                  </a:moveTo>
                  <a:lnTo>
                    <a:pt x="70762" y="174435"/>
                  </a:lnTo>
                  <a:lnTo>
                    <a:pt x="213981" y="174435"/>
                  </a:lnTo>
                  <a:lnTo>
                    <a:pt x="213981" y="101209"/>
                  </a:lnTo>
                  <a:cubicBezTo>
                    <a:pt x="213981" y="89943"/>
                    <a:pt x="212195" y="80551"/>
                    <a:pt x="208607" y="71167"/>
                  </a:cubicBezTo>
                  <a:cubicBezTo>
                    <a:pt x="205027" y="61776"/>
                    <a:pt x="199659" y="53326"/>
                    <a:pt x="193395" y="46759"/>
                  </a:cubicBezTo>
                  <a:cubicBezTo>
                    <a:pt x="187132" y="39250"/>
                    <a:pt x="179074" y="33617"/>
                    <a:pt x="171016" y="29859"/>
                  </a:cubicBezTo>
                  <a:cubicBezTo>
                    <a:pt x="162061" y="26101"/>
                    <a:pt x="152217" y="24226"/>
                    <a:pt x="142372" y="24226"/>
                  </a:cubicBezTo>
                  <a:cubicBezTo>
                    <a:pt x="131631" y="24226"/>
                    <a:pt x="122683" y="26101"/>
                    <a:pt x="113728" y="29859"/>
                  </a:cubicBezTo>
                  <a:cubicBezTo>
                    <a:pt x="104781" y="33617"/>
                    <a:pt x="97612" y="39250"/>
                    <a:pt x="91348" y="46759"/>
                  </a:cubicBezTo>
                  <a:cubicBezTo>
                    <a:pt x="84187" y="53326"/>
                    <a:pt x="79717" y="61776"/>
                    <a:pt x="76137" y="71167"/>
                  </a:cubicBezTo>
                  <a:cubicBezTo>
                    <a:pt x="72549" y="80551"/>
                    <a:pt x="70762" y="89943"/>
                    <a:pt x="70762" y="101209"/>
                  </a:cubicBezTo>
                  <a:lnTo>
                    <a:pt x="70762" y="174435"/>
                  </a:lnTo>
                  <a:close/>
                  <a:moveTo>
                    <a:pt x="-847" y="174435"/>
                  </a:moveTo>
                  <a:lnTo>
                    <a:pt x="-847" y="174435"/>
                  </a:lnTo>
                  <a:lnTo>
                    <a:pt x="46596" y="174435"/>
                  </a:lnTo>
                  <a:lnTo>
                    <a:pt x="46596" y="101209"/>
                  </a:lnTo>
                  <a:cubicBezTo>
                    <a:pt x="46596" y="87126"/>
                    <a:pt x="49280" y="73984"/>
                    <a:pt x="53757" y="60842"/>
                  </a:cubicBezTo>
                  <a:cubicBezTo>
                    <a:pt x="59124" y="48634"/>
                    <a:pt x="65388" y="38309"/>
                    <a:pt x="74343" y="28917"/>
                  </a:cubicBezTo>
                  <a:cubicBezTo>
                    <a:pt x="82401" y="19534"/>
                    <a:pt x="93142" y="12025"/>
                    <a:pt x="104781" y="6392"/>
                  </a:cubicBezTo>
                  <a:cubicBezTo>
                    <a:pt x="116412" y="2634"/>
                    <a:pt x="128947" y="-183"/>
                    <a:pt x="142372" y="-183"/>
                  </a:cubicBezTo>
                  <a:cubicBezTo>
                    <a:pt x="155797" y="-183"/>
                    <a:pt x="168332" y="2634"/>
                    <a:pt x="179963" y="6392"/>
                  </a:cubicBezTo>
                  <a:cubicBezTo>
                    <a:pt x="191602" y="12025"/>
                    <a:pt x="201454" y="19534"/>
                    <a:pt x="210401" y="28917"/>
                  </a:cubicBezTo>
                  <a:cubicBezTo>
                    <a:pt x="218459" y="38309"/>
                    <a:pt x="225620" y="48634"/>
                    <a:pt x="230097" y="60842"/>
                  </a:cubicBezTo>
                  <a:cubicBezTo>
                    <a:pt x="235464" y="73984"/>
                    <a:pt x="237258" y="87126"/>
                    <a:pt x="237258" y="101209"/>
                  </a:cubicBezTo>
                  <a:lnTo>
                    <a:pt x="237258" y="174435"/>
                  </a:lnTo>
                  <a:lnTo>
                    <a:pt x="285591" y="174435"/>
                  </a:lnTo>
                </a:path>
              </a:pathLst>
            </a:custGeom>
            <a:solidFill>
              <a:schemeClr val="accent1"/>
            </a:solidFill>
            <a:ln w="7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Shape 19">
              <a:extLst>
                <a:ext uri="{FF2B5EF4-FFF2-40B4-BE49-F238E27FC236}">
                  <a16:creationId xmlns:a16="http://schemas.microsoft.com/office/drawing/2014/main" id="{025198BF-EBAA-9873-6617-3ED60AEE800B}"/>
                </a:ext>
              </a:extLst>
            </p:cNvPr>
            <p:cNvSpPr/>
            <p:nvPr/>
          </p:nvSpPr>
          <p:spPr>
            <a:xfrm>
              <a:off x="5993991" y="1855374"/>
              <a:ext cx="286437" cy="212578"/>
            </a:xfrm>
            <a:custGeom>
              <a:avLst/>
              <a:gdLst>
                <a:gd name="connsiteX0" fmla="*/ 142372 w 286437"/>
                <a:gd name="connsiteY0" fmla="*/ 160374 h 212578"/>
                <a:gd name="connsiteX1" fmla="*/ 142372 w 286437"/>
                <a:gd name="connsiteY1" fmla="*/ 160374 h 212578"/>
                <a:gd name="connsiteX2" fmla="*/ 94039 w 286437"/>
                <a:gd name="connsiteY2" fmla="*/ 111937 h 212578"/>
                <a:gd name="connsiteX3" fmla="*/ 142372 w 286437"/>
                <a:gd name="connsiteY3" fmla="*/ 64395 h 212578"/>
                <a:gd name="connsiteX4" fmla="*/ 189815 w 286437"/>
                <a:gd name="connsiteY4" fmla="*/ 111937 h 212578"/>
                <a:gd name="connsiteX5" fmla="*/ 142372 w 286437"/>
                <a:gd name="connsiteY5" fmla="*/ 160374 h 212578"/>
                <a:gd name="connsiteX6" fmla="*/ -847 w 286437"/>
                <a:gd name="connsiteY6" fmla="*/ 212395 h 212578"/>
                <a:gd name="connsiteX7" fmla="*/ -847 w 286437"/>
                <a:gd name="connsiteY7" fmla="*/ 212395 h 212578"/>
                <a:gd name="connsiteX8" fmla="*/ 285591 w 286437"/>
                <a:gd name="connsiteY8" fmla="*/ 212395 h 212578"/>
                <a:gd name="connsiteX9" fmla="*/ 285591 w 286437"/>
                <a:gd name="connsiteY9" fmla="*/ -183 h 212578"/>
                <a:gd name="connsiteX10" fmla="*/ -847 w 286437"/>
                <a:gd name="connsiteY10" fmla="*/ -183 h 212578"/>
                <a:gd name="connsiteX11" fmla="*/ -847 w 286437"/>
                <a:gd name="connsiteY11" fmla="*/ 212395 h 212578"/>
                <a:gd name="connsiteX12" fmla="*/ -847 w 286437"/>
                <a:gd name="connsiteY12" fmla="*/ -183 h 212578"/>
                <a:gd name="connsiteX13" fmla="*/ -847 w 286437"/>
                <a:gd name="connsiteY13" fmla="*/ -183 h 21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6437" h="212578">
                  <a:moveTo>
                    <a:pt x="142372" y="160374"/>
                  </a:moveTo>
                  <a:lnTo>
                    <a:pt x="142372" y="160374"/>
                  </a:lnTo>
                  <a:cubicBezTo>
                    <a:pt x="115522" y="160374"/>
                    <a:pt x="94039" y="138843"/>
                    <a:pt x="94039" y="111937"/>
                  </a:cubicBezTo>
                  <a:cubicBezTo>
                    <a:pt x="94039" y="85926"/>
                    <a:pt x="115522" y="64395"/>
                    <a:pt x="142372" y="64395"/>
                  </a:cubicBezTo>
                  <a:cubicBezTo>
                    <a:pt x="168332" y="64395"/>
                    <a:pt x="189815" y="85926"/>
                    <a:pt x="189815" y="111937"/>
                  </a:cubicBezTo>
                  <a:cubicBezTo>
                    <a:pt x="189815" y="138843"/>
                    <a:pt x="168332" y="160374"/>
                    <a:pt x="142372" y="160374"/>
                  </a:cubicBezTo>
                  <a:close/>
                  <a:moveTo>
                    <a:pt x="-847" y="212395"/>
                  </a:moveTo>
                  <a:lnTo>
                    <a:pt x="-847" y="212395"/>
                  </a:lnTo>
                  <a:lnTo>
                    <a:pt x="285591" y="212395"/>
                  </a:lnTo>
                  <a:lnTo>
                    <a:pt x="285591" y="-183"/>
                  </a:lnTo>
                  <a:lnTo>
                    <a:pt x="-847" y="-183"/>
                  </a:lnTo>
                  <a:lnTo>
                    <a:pt x="-847" y="212395"/>
                  </a:lnTo>
                  <a:close/>
                  <a:moveTo>
                    <a:pt x="-847" y="-183"/>
                  </a:moveTo>
                  <a:lnTo>
                    <a:pt x="-847" y="-183"/>
                  </a:lnTo>
                  <a:close/>
                </a:path>
              </a:pathLst>
            </a:custGeom>
            <a:solidFill>
              <a:schemeClr val="accent1"/>
            </a:solidFill>
            <a:ln w="7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1" name="Freeform: Shape 20">
              <a:extLst>
                <a:ext uri="{FF2B5EF4-FFF2-40B4-BE49-F238E27FC236}">
                  <a16:creationId xmlns:a16="http://schemas.microsoft.com/office/drawing/2014/main" id="{47EF5DE8-441A-CB24-1B61-EE52B86C76D4}"/>
                </a:ext>
              </a:extLst>
            </p:cNvPr>
            <p:cNvSpPr/>
            <p:nvPr/>
          </p:nvSpPr>
          <p:spPr>
            <a:xfrm>
              <a:off x="6114597" y="1938887"/>
              <a:ext cx="45227" cy="53144"/>
            </a:xfrm>
            <a:custGeom>
              <a:avLst/>
              <a:gdLst>
                <a:gd name="connsiteX0" fmla="*/ 22196 w 45227"/>
                <a:gd name="connsiteY0" fmla="*/ -183 h 53144"/>
                <a:gd name="connsiteX1" fmla="*/ 22196 w 45227"/>
                <a:gd name="connsiteY1" fmla="*/ -183 h 53144"/>
                <a:gd name="connsiteX2" fmla="*/ -847 w 45227"/>
                <a:gd name="connsiteY2" fmla="*/ 25888 h 53144"/>
                <a:gd name="connsiteX3" fmla="*/ 22196 w 45227"/>
                <a:gd name="connsiteY3" fmla="*/ 52962 h 53144"/>
                <a:gd name="connsiteX4" fmla="*/ 44380 w 45227"/>
                <a:gd name="connsiteY4" fmla="*/ 25888 h 53144"/>
                <a:gd name="connsiteX5" fmla="*/ 22196 w 45227"/>
                <a:gd name="connsiteY5" fmla="*/ -183 h 5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27" h="53144">
                  <a:moveTo>
                    <a:pt x="22196" y="-183"/>
                  </a:moveTo>
                  <a:lnTo>
                    <a:pt x="22196" y="-183"/>
                  </a:lnTo>
                  <a:cubicBezTo>
                    <a:pt x="9397" y="-183"/>
                    <a:pt x="-847" y="10848"/>
                    <a:pt x="-847" y="25888"/>
                  </a:cubicBezTo>
                  <a:cubicBezTo>
                    <a:pt x="-847" y="40928"/>
                    <a:pt x="9397" y="52962"/>
                    <a:pt x="22196" y="52962"/>
                  </a:cubicBezTo>
                  <a:cubicBezTo>
                    <a:pt x="34995" y="52962"/>
                    <a:pt x="44380" y="40928"/>
                    <a:pt x="44380" y="25888"/>
                  </a:cubicBezTo>
                  <a:cubicBezTo>
                    <a:pt x="44380" y="10848"/>
                    <a:pt x="34995" y="-183"/>
                    <a:pt x="22196" y="-183"/>
                  </a:cubicBezTo>
                  <a:close/>
                </a:path>
              </a:pathLst>
            </a:custGeom>
            <a:solidFill>
              <a:srgbClr val="002060"/>
            </a:solidFill>
            <a:ln w="742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181" name="Text Placeholder 32">
            <a:extLst>
              <a:ext uri="{FF2B5EF4-FFF2-40B4-BE49-F238E27FC236}">
                <a16:creationId xmlns:a16="http://schemas.microsoft.com/office/drawing/2014/main" id="{20301012-C226-DD74-596F-6AAD45CE9004}"/>
              </a:ext>
            </a:extLst>
          </p:cNvPr>
          <p:cNvSpPr txBox="1">
            <a:spLocks/>
          </p:cNvSpPr>
          <p:nvPr/>
        </p:nvSpPr>
        <p:spPr>
          <a:xfrm>
            <a:off x="4533057" y="2395047"/>
            <a:ext cx="3193233" cy="274222"/>
          </a:xfrm>
          <a:prstGeom prst="rect">
            <a:avLst/>
          </a:prstGeom>
          <a:noFill/>
          <a:ln>
            <a:noFill/>
          </a:ln>
        </p:spPr>
        <p:txBody>
          <a:bodyPr vert="horz" wrap="square" lIns="228600" tIns="91440" rIns="228600" bIns="91440" rtlCol="0" anchor="ct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dirty="0">
                <a:solidFill>
                  <a:srgbClr val="3A3A3A"/>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Security</a:t>
            </a:r>
          </a:p>
        </p:txBody>
      </p:sp>
      <p:sp>
        <p:nvSpPr>
          <p:cNvPr id="190" name="Freeform: Shape 189">
            <a:extLst>
              <a:ext uri="{FF2B5EF4-FFF2-40B4-BE49-F238E27FC236}">
                <a16:creationId xmlns:a16="http://schemas.microsoft.com/office/drawing/2014/main" id="{6F4824B6-F783-19CC-D3E6-C6DC560F7B4B}"/>
              </a:ext>
            </a:extLst>
          </p:cNvPr>
          <p:cNvSpPr/>
          <p:nvPr/>
        </p:nvSpPr>
        <p:spPr>
          <a:xfrm>
            <a:off x="4417134" y="3103559"/>
            <a:ext cx="345013" cy="344881"/>
          </a:xfrm>
          <a:custGeom>
            <a:avLst/>
            <a:gdLst>
              <a:gd name="connsiteX0" fmla="*/ 0 w 620286"/>
              <a:gd name="connsiteY0" fmla="*/ 312508 h 625016"/>
              <a:gd name="connsiteX1" fmla="*/ 310143 w 620286"/>
              <a:gd name="connsiteY1" fmla="*/ -1 h 625016"/>
              <a:gd name="connsiteX2" fmla="*/ 620287 w 620286"/>
              <a:gd name="connsiteY2" fmla="*/ 312508 h 625016"/>
              <a:gd name="connsiteX3" fmla="*/ 310143 w 620286"/>
              <a:gd name="connsiteY3" fmla="*/ 625016 h 625016"/>
              <a:gd name="connsiteX4" fmla="*/ 0 w 620286"/>
              <a:gd name="connsiteY4" fmla="*/ 312508 h 625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286" h="625016">
                <a:moveTo>
                  <a:pt x="0" y="312508"/>
                </a:moveTo>
                <a:cubicBezTo>
                  <a:pt x="0" y="139914"/>
                  <a:pt x="138856" y="-1"/>
                  <a:pt x="310143" y="-1"/>
                </a:cubicBezTo>
                <a:cubicBezTo>
                  <a:pt x="481430" y="-1"/>
                  <a:pt x="620287" y="139914"/>
                  <a:pt x="620287" y="312508"/>
                </a:cubicBezTo>
                <a:cubicBezTo>
                  <a:pt x="620287" y="485103"/>
                  <a:pt x="481430" y="625016"/>
                  <a:pt x="310143" y="625016"/>
                </a:cubicBezTo>
                <a:cubicBezTo>
                  <a:pt x="138856" y="625016"/>
                  <a:pt x="0" y="485103"/>
                  <a:pt x="0" y="312508"/>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800" b="0" i="0" u="none" strike="noStrike" kern="1200" cap="none" spc="0" normalizeH="0" baseline="0" noProof="0">
                <a:ln>
                  <a:noFill/>
                </a:ln>
                <a:solidFill>
                  <a:srgbClr val="000000"/>
                </a:solidFill>
                <a:effectLst/>
                <a:uLnTx/>
                <a:uFillTx/>
                <a:latin typeface="Segoe UI Semibold"/>
                <a:ea typeface="+mn-ea"/>
                <a:cs typeface="Segoe UI" pitchFamily="34" charset="0"/>
              </a:rPr>
              <a:t>2</a:t>
            </a:r>
          </a:p>
        </p:txBody>
      </p:sp>
      <p:sp>
        <p:nvSpPr>
          <p:cNvPr id="198" name="Text Placeholder 3">
            <a:extLst>
              <a:ext uri="{FF2B5EF4-FFF2-40B4-BE49-F238E27FC236}">
                <a16:creationId xmlns:a16="http://schemas.microsoft.com/office/drawing/2014/main" id="{A117F4B1-DA0F-30A9-EE10-C5665C031FDB}"/>
              </a:ext>
            </a:extLst>
          </p:cNvPr>
          <p:cNvSpPr txBox="1">
            <a:spLocks/>
          </p:cNvSpPr>
          <p:nvPr/>
        </p:nvSpPr>
        <p:spPr>
          <a:xfrm>
            <a:off x="4517980" y="3495060"/>
            <a:ext cx="3193233" cy="715581"/>
          </a:xfrm>
          <a:prstGeom prst="rect">
            <a:avLst/>
          </a:prstGeom>
          <a:noFill/>
          <a:ln>
            <a:noFill/>
          </a:ln>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b"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t>Seamless Security</a:t>
            </a:r>
          </a:p>
          <a:p>
            <a:pPr marL="0" marR="0" lvl="0" indent="0" algn="l" defTabSz="932742" rtl="0" eaLnBrk="1" fontAlgn="b"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Microsoft 365 Business Premium </a:t>
            </a:r>
            <a:b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b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Microsoft Defender for Business</a:t>
            </a:r>
          </a:p>
        </p:txBody>
      </p:sp>
      <p:sp>
        <p:nvSpPr>
          <p:cNvPr id="205" name="Text Placeholder 3">
            <a:extLst>
              <a:ext uri="{FF2B5EF4-FFF2-40B4-BE49-F238E27FC236}">
                <a16:creationId xmlns:a16="http://schemas.microsoft.com/office/drawing/2014/main" id="{3FD900B1-4653-E87D-EA5F-D3256FE0B9A3}"/>
              </a:ext>
            </a:extLst>
          </p:cNvPr>
          <p:cNvSpPr txBox="1">
            <a:spLocks/>
          </p:cNvSpPr>
          <p:nvPr/>
        </p:nvSpPr>
        <p:spPr>
          <a:xfrm>
            <a:off x="4543815" y="4579941"/>
            <a:ext cx="3019741" cy="892552"/>
          </a:xfrm>
          <a:prstGeom prst="rect">
            <a:avLst/>
          </a:prstGeom>
          <a:noFill/>
          <a:ln>
            <a:noFill/>
          </a:ln>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b" latinLnBrk="0" hangingPunct="1">
              <a:lnSpc>
                <a:spcPct val="100000"/>
              </a:lnSpc>
              <a:spcBef>
                <a:spcPts val="300"/>
              </a:spcBef>
              <a:spcAft>
                <a:spcPts val="0"/>
              </a:spcAft>
              <a:buClrTx/>
              <a:buSzTx/>
              <a:buFont typeface="Wingdings" panose="05000000000000000000" pitchFamily="2" charset="2"/>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t>Customer solution: </a:t>
            </a:r>
            <a:b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b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Use a single, comprehensive solution to run your business securely from anywhere.</a:t>
            </a:r>
          </a:p>
        </p:txBody>
      </p:sp>
      <p:grpSp>
        <p:nvGrpSpPr>
          <p:cNvPr id="22" name="Graphic 210" descr="Cloud Connectivity icon">
            <a:extLst>
              <a:ext uri="{FF2B5EF4-FFF2-40B4-BE49-F238E27FC236}">
                <a16:creationId xmlns:a16="http://schemas.microsoft.com/office/drawing/2014/main" id="{6BF7C20A-57FB-DF2F-9695-C9B9830BCAEE}"/>
              </a:ext>
            </a:extLst>
          </p:cNvPr>
          <p:cNvGrpSpPr/>
          <p:nvPr/>
        </p:nvGrpSpPr>
        <p:grpSpPr>
          <a:xfrm>
            <a:off x="9607381" y="1990588"/>
            <a:ext cx="419100" cy="276044"/>
            <a:chOff x="9286286" y="1730564"/>
            <a:chExt cx="419100" cy="276044"/>
          </a:xfrm>
          <a:solidFill>
            <a:schemeClr val="accent1"/>
          </a:solidFill>
        </p:grpSpPr>
        <p:sp>
          <p:nvSpPr>
            <p:cNvPr id="23" name="Freeform: Shape 22">
              <a:extLst>
                <a:ext uri="{FF2B5EF4-FFF2-40B4-BE49-F238E27FC236}">
                  <a16:creationId xmlns:a16="http://schemas.microsoft.com/office/drawing/2014/main" id="{51623D17-D08D-2DDA-04D0-A184C59A5AEB}"/>
                </a:ext>
              </a:extLst>
            </p:cNvPr>
            <p:cNvSpPr/>
            <p:nvPr/>
          </p:nvSpPr>
          <p:spPr>
            <a:xfrm>
              <a:off x="9286286" y="1730564"/>
              <a:ext cx="281940" cy="207033"/>
            </a:xfrm>
            <a:custGeom>
              <a:avLst/>
              <a:gdLst>
                <a:gd name="connsiteX0" fmla="*/ 18831 w 281940"/>
                <a:gd name="connsiteY0" fmla="*/ 170376 h 207033"/>
                <a:gd name="connsiteX1" fmla="*/ 18831 w 281940"/>
                <a:gd name="connsiteY1" fmla="*/ 170376 h 207033"/>
                <a:gd name="connsiteX2" fmla="*/ 41005 w 281940"/>
                <a:gd name="connsiteY2" fmla="*/ 185159 h 207033"/>
                <a:gd name="connsiteX3" fmla="*/ 69199 w 281940"/>
                <a:gd name="connsiteY3" fmla="*/ 191079 h 207033"/>
                <a:gd name="connsiteX4" fmla="*/ 229295 w 281940"/>
                <a:gd name="connsiteY4" fmla="*/ 191079 h 207033"/>
                <a:gd name="connsiteX5" fmla="*/ 239353 w 281940"/>
                <a:gd name="connsiteY5" fmla="*/ 202911 h 207033"/>
                <a:gd name="connsiteX6" fmla="*/ 253451 w 281940"/>
                <a:gd name="connsiteY6" fmla="*/ 206852 h 207033"/>
                <a:gd name="connsiteX7" fmla="*/ 264576 w 281940"/>
                <a:gd name="connsiteY7" fmla="*/ 204881 h 207033"/>
                <a:gd name="connsiteX8" fmla="*/ 272576 w 281940"/>
                <a:gd name="connsiteY8" fmla="*/ 198962 h 207033"/>
                <a:gd name="connsiteX9" fmla="*/ 278673 w 281940"/>
                <a:gd name="connsiteY9" fmla="*/ 190090 h 207033"/>
                <a:gd name="connsiteX10" fmla="*/ 280654 w 281940"/>
                <a:gd name="connsiteY10" fmla="*/ 180237 h 207033"/>
                <a:gd name="connsiteX11" fmla="*/ 278673 w 281940"/>
                <a:gd name="connsiteY11" fmla="*/ 169386 h 207033"/>
                <a:gd name="connsiteX12" fmla="*/ 272576 w 281940"/>
                <a:gd name="connsiteY12" fmla="*/ 161504 h 207033"/>
                <a:gd name="connsiteX13" fmla="*/ 264576 w 281940"/>
                <a:gd name="connsiteY13" fmla="*/ 155584 h 207033"/>
                <a:gd name="connsiteX14" fmla="*/ 253451 w 281940"/>
                <a:gd name="connsiteY14" fmla="*/ 153614 h 207033"/>
                <a:gd name="connsiteX15" fmla="*/ 239353 w 281940"/>
                <a:gd name="connsiteY15" fmla="*/ 157555 h 207033"/>
                <a:gd name="connsiteX16" fmla="*/ 229295 w 281940"/>
                <a:gd name="connsiteY16" fmla="*/ 169386 h 207033"/>
                <a:gd name="connsiteX17" fmla="*/ 69199 w 281940"/>
                <a:gd name="connsiteY17" fmla="*/ 169386 h 207033"/>
                <a:gd name="connsiteX18" fmla="*/ 50073 w 281940"/>
                <a:gd name="connsiteY18" fmla="*/ 165445 h 207033"/>
                <a:gd name="connsiteX19" fmla="*/ 33918 w 281940"/>
                <a:gd name="connsiteY19" fmla="*/ 155584 h 207033"/>
                <a:gd name="connsiteX20" fmla="*/ 23860 w 281940"/>
                <a:gd name="connsiteY20" fmla="*/ 139811 h 207033"/>
                <a:gd name="connsiteX21" fmla="*/ 19898 w 281940"/>
                <a:gd name="connsiteY21" fmla="*/ 122068 h 207033"/>
                <a:gd name="connsiteX22" fmla="*/ 23860 w 281940"/>
                <a:gd name="connsiteY22" fmla="*/ 103335 h 207033"/>
                <a:gd name="connsiteX23" fmla="*/ 33918 w 281940"/>
                <a:gd name="connsiteY23" fmla="*/ 87562 h 207033"/>
                <a:gd name="connsiteX24" fmla="*/ 50073 w 281940"/>
                <a:gd name="connsiteY24" fmla="*/ 77701 h 207033"/>
                <a:gd name="connsiteX25" fmla="*/ 69199 w 281940"/>
                <a:gd name="connsiteY25" fmla="*/ 73760 h 207033"/>
                <a:gd name="connsiteX26" fmla="*/ 91373 w 281940"/>
                <a:gd name="connsiteY26" fmla="*/ 73760 h 207033"/>
                <a:gd name="connsiteX27" fmla="*/ 99374 w 281940"/>
                <a:gd name="connsiteY27" fmla="*/ 53056 h 207033"/>
                <a:gd name="connsiteX28" fmla="*/ 113472 w 281940"/>
                <a:gd name="connsiteY28" fmla="*/ 36294 h 207033"/>
                <a:gd name="connsiteX29" fmla="*/ 133664 w 281940"/>
                <a:gd name="connsiteY29" fmla="*/ 24463 h 207033"/>
                <a:gd name="connsiteX30" fmla="*/ 155762 w 281940"/>
                <a:gd name="connsiteY30" fmla="*/ 20521 h 207033"/>
                <a:gd name="connsiteX31" fmla="*/ 185023 w 281940"/>
                <a:gd name="connsiteY31" fmla="*/ 27423 h 207033"/>
                <a:gd name="connsiteX32" fmla="*/ 208188 w 281940"/>
                <a:gd name="connsiteY32" fmla="*/ 46155 h 207033"/>
                <a:gd name="connsiteX33" fmla="*/ 219236 w 281940"/>
                <a:gd name="connsiteY33" fmla="*/ 42214 h 207033"/>
                <a:gd name="connsiteX34" fmla="*/ 230286 w 281940"/>
                <a:gd name="connsiteY34" fmla="*/ 39254 h 207033"/>
                <a:gd name="connsiteX35" fmla="*/ 216189 w 281940"/>
                <a:gd name="connsiteY35" fmla="*/ 22492 h 207033"/>
                <a:gd name="connsiteX36" fmla="*/ 198053 w 281940"/>
                <a:gd name="connsiteY36" fmla="*/ 9679 h 207033"/>
                <a:gd name="connsiteX37" fmla="*/ 177937 w 281940"/>
                <a:gd name="connsiteY37" fmla="*/ 1789 h 207033"/>
                <a:gd name="connsiteX38" fmla="*/ 155762 w 281940"/>
                <a:gd name="connsiteY38" fmla="*/ -182 h 207033"/>
                <a:gd name="connsiteX39" fmla="*/ 130617 w 281940"/>
                <a:gd name="connsiteY39" fmla="*/ 2778 h 207033"/>
                <a:gd name="connsiteX40" fmla="*/ 107452 w 281940"/>
                <a:gd name="connsiteY40" fmla="*/ 13620 h 207033"/>
                <a:gd name="connsiteX41" fmla="*/ 88325 w 281940"/>
                <a:gd name="connsiteY41" fmla="*/ 30382 h 207033"/>
                <a:gd name="connsiteX42" fmla="*/ 75219 w 281940"/>
                <a:gd name="connsiteY42" fmla="*/ 53056 h 207033"/>
                <a:gd name="connsiteX43" fmla="*/ 69199 w 281940"/>
                <a:gd name="connsiteY43" fmla="*/ 53056 h 207033"/>
                <a:gd name="connsiteX44" fmla="*/ 41005 w 281940"/>
                <a:gd name="connsiteY44" fmla="*/ 57987 h 207033"/>
                <a:gd name="connsiteX45" fmla="*/ 18831 w 281940"/>
                <a:gd name="connsiteY45" fmla="*/ 72771 h 207033"/>
                <a:gd name="connsiteX46" fmla="*/ 3743 w 281940"/>
                <a:gd name="connsiteY46" fmla="*/ 94463 h 207033"/>
                <a:gd name="connsiteX47" fmla="*/ -1286 w 281940"/>
                <a:gd name="connsiteY47" fmla="*/ 122068 h 207033"/>
                <a:gd name="connsiteX48" fmla="*/ 3743 w 281940"/>
                <a:gd name="connsiteY48" fmla="*/ 148683 h 207033"/>
                <a:gd name="connsiteX49" fmla="*/ 18831 w 281940"/>
                <a:gd name="connsiteY49" fmla="*/ 170376 h 20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81940" h="207033">
                  <a:moveTo>
                    <a:pt x="18831" y="170376"/>
                  </a:moveTo>
                  <a:lnTo>
                    <a:pt x="18831" y="170376"/>
                  </a:lnTo>
                  <a:cubicBezTo>
                    <a:pt x="24926" y="177277"/>
                    <a:pt x="32928" y="182207"/>
                    <a:pt x="41005" y="185159"/>
                  </a:cubicBezTo>
                  <a:cubicBezTo>
                    <a:pt x="50073" y="189108"/>
                    <a:pt x="59141" y="191079"/>
                    <a:pt x="69199" y="191079"/>
                  </a:cubicBezTo>
                  <a:lnTo>
                    <a:pt x="229295" y="191079"/>
                  </a:lnTo>
                  <a:cubicBezTo>
                    <a:pt x="231353" y="196010"/>
                    <a:pt x="234325" y="199951"/>
                    <a:pt x="239353" y="202911"/>
                  </a:cubicBezTo>
                  <a:cubicBezTo>
                    <a:pt x="243392" y="204881"/>
                    <a:pt x="248422" y="206852"/>
                    <a:pt x="253451" y="206852"/>
                  </a:cubicBezTo>
                  <a:cubicBezTo>
                    <a:pt x="257489" y="206852"/>
                    <a:pt x="261528" y="205863"/>
                    <a:pt x="264576" y="204881"/>
                  </a:cubicBezTo>
                  <a:cubicBezTo>
                    <a:pt x="267548" y="203892"/>
                    <a:pt x="270596" y="201921"/>
                    <a:pt x="272576" y="198962"/>
                  </a:cubicBezTo>
                  <a:cubicBezTo>
                    <a:pt x="275625" y="196991"/>
                    <a:pt x="277606" y="194039"/>
                    <a:pt x="278673" y="190090"/>
                  </a:cubicBezTo>
                  <a:cubicBezTo>
                    <a:pt x="280654" y="187138"/>
                    <a:pt x="280654" y="184178"/>
                    <a:pt x="280654" y="180237"/>
                  </a:cubicBezTo>
                  <a:cubicBezTo>
                    <a:pt x="280654" y="176288"/>
                    <a:pt x="280654" y="173335"/>
                    <a:pt x="278673" y="169386"/>
                  </a:cubicBezTo>
                  <a:cubicBezTo>
                    <a:pt x="277606" y="166434"/>
                    <a:pt x="275625" y="163475"/>
                    <a:pt x="272576" y="161504"/>
                  </a:cubicBezTo>
                  <a:cubicBezTo>
                    <a:pt x="270596" y="158544"/>
                    <a:pt x="267548" y="157555"/>
                    <a:pt x="264576" y="155584"/>
                  </a:cubicBezTo>
                  <a:cubicBezTo>
                    <a:pt x="261528" y="154603"/>
                    <a:pt x="257489" y="153614"/>
                    <a:pt x="253451" y="153614"/>
                  </a:cubicBezTo>
                  <a:cubicBezTo>
                    <a:pt x="248422" y="153614"/>
                    <a:pt x="243392" y="154603"/>
                    <a:pt x="239353" y="157555"/>
                  </a:cubicBezTo>
                  <a:cubicBezTo>
                    <a:pt x="234325" y="160515"/>
                    <a:pt x="231353" y="164456"/>
                    <a:pt x="229295" y="169386"/>
                  </a:cubicBezTo>
                  <a:lnTo>
                    <a:pt x="69199" y="169386"/>
                  </a:lnTo>
                  <a:cubicBezTo>
                    <a:pt x="62112" y="169386"/>
                    <a:pt x="56093" y="168405"/>
                    <a:pt x="50073" y="165445"/>
                  </a:cubicBezTo>
                  <a:cubicBezTo>
                    <a:pt x="44053" y="163475"/>
                    <a:pt x="39024" y="159533"/>
                    <a:pt x="33918" y="155584"/>
                  </a:cubicBezTo>
                  <a:cubicBezTo>
                    <a:pt x="29956" y="150654"/>
                    <a:pt x="26908" y="145731"/>
                    <a:pt x="23860" y="139811"/>
                  </a:cubicBezTo>
                  <a:cubicBezTo>
                    <a:pt x="20888" y="133899"/>
                    <a:pt x="19898" y="127980"/>
                    <a:pt x="19898" y="122068"/>
                  </a:cubicBezTo>
                  <a:cubicBezTo>
                    <a:pt x="19898" y="115167"/>
                    <a:pt x="20888" y="109247"/>
                    <a:pt x="23860" y="103335"/>
                  </a:cubicBezTo>
                  <a:cubicBezTo>
                    <a:pt x="26908" y="97423"/>
                    <a:pt x="29956" y="92493"/>
                    <a:pt x="33918" y="87562"/>
                  </a:cubicBezTo>
                  <a:cubicBezTo>
                    <a:pt x="39024" y="83621"/>
                    <a:pt x="44053" y="79672"/>
                    <a:pt x="50073" y="77701"/>
                  </a:cubicBezTo>
                  <a:cubicBezTo>
                    <a:pt x="56093" y="74741"/>
                    <a:pt x="62112" y="73760"/>
                    <a:pt x="69199" y="73760"/>
                  </a:cubicBezTo>
                  <a:lnTo>
                    <a:pt x="91373" y="73760"/>
                  </a:lnTo>
                  <a:cubicBezTo>
                    <a:pt x="93355" y="65869"/>
                    <a:pt x="95411" y="58968"/>
                    <a:pt x="99374" y="53056"/>
                  </a:cubicBezTo>
                  <a:cubicBezTo>
                    <a:pt x="103413" y="46155"/>
                    <a:pt x="108442" y="40236"/>
                    <a:pt x="113472" y="36294"/>
                  </a:cubicBezTo>
                  <a:cubicBezTo>
                    <a:pt x="119567" y="31364"/>
                    <a:pt x="125587" y="27423"/>
                    <a:pt x="133664" y="24463"/>
                  </a:cubicBezTo>
                  <a:cubicBezTo>
                    <a:pt x="140675" y="22492"/>
                    <a:pt x="147762" y="20521"/>
                    <a:pt x="155762" y="20521"/>
                  </a:cubicBezTo>
                  <a:cubicBezTo>
                    <a:pt x="165896" y="20521"/>
                    <a:pt x="175955" y="23481"/>
                    <a:pt x="185023" y="27423"/>
                  </a:cubicBezTo>
                  <a:cubicBezTo>
                    <a:pt x="194091" y="32353"/>
                    <a:pt x="202091" y="38265"/>
                    <a:pt x="208188" y="46155"/>
                  </a:cubicBezTo>
                  <a:cubicBezTo>
                    <a:pt x="212150" y="45166"/>
                    <a:pt x="215198" y="43195"/>
                    <a:pt x="219236" y="42214"/>
                  </a:cubicBezTo>
                  <a:cubicBezTo>
                    <a:pt x="222285" y="41225"/>
                    <a:pt x="226247" y="40236"/>
                    <a:pt x="230286" y="39254"/>
                  </a:cubicBezTo>
                  <a:cubicBezTo>
                    <a:pt x="225256" y="33335"/>
                    <a:pt x="221218" y="27423"/>
                    <a:pt x="216189" y="22492"/>
                  </a:cubicBezTo>
                  <a:cubicBezTo>
                    <a:pt x="210169" y="17562"/>
                    <a:pt x="204149" y="13620"/>
                    <a:pt x="198053" y="9679"/>
                  </a:cubicBezTo>
                  <a:cubicBezTo>
                    <a:pt x="192033" y="6719"/>
                    <a:pt x="185023" y="3759"/>
                    <a:pt x="177937" y="1789"/>
                  </a:cubicBezTo>
                  <a:cubicBezTo>
                    <a:pt x="170926" y="807"/>
                    <a:pt x="163840" y="-182"/>
                    <a:pt x="155762" y="-182"/>
                  </a:cubicBezTo>
                  <a:cubicBezTo>
                    <a:pt x="146771" y="-182"/>
                    <a:pt x="138693" y="807"/>
                    <a:pt x="130617" y="2778"/>
                  </a:cubicBezTo>
                  <a:cubicBezTo>
                    <a:pt x="121548" y="5730"/>
                    <a:pt x="114538" y="9679"/>
                    <a:pt x="107452" y="13620"/>
                  </a:cubicBezTo>
                  <a:cubicBezTo>
                    <a:pt x="100441" y="18551"/>
                    <a:pt x="94345" y="24463"/>
                    <a:pt x="88325" y="30382"/>
                  </a:cubicBezTo>
                  <a:cubicBezTo>
                    <a:pt x="83296" y="37283"/>
                    <a:pt x="78266" y="44185"/>
                    <a:pt x="75219" y="53056"/>
                  </a:cubicBezTo>
                  <a:lnTo>
                    <a:pt x="69199" y="53056"/>
                  </a:lnTo>
                  <a:cubicBezTo>
                    <a:pt x="59141" y="53056"/>
                    <a:pt x="50073" y="54038"/>
                    <a:pt x="41005" y="57987"/>
                  </a:cubicBezTo>
                  <a:cubicBezTo>
                    <a:pt x="32928" y="61928"/>
                    <a:pt x="24926" y="66859"/>
                    <a:pt x="18831" y="72771"/>
                  </a:cubicBezTo>
                  <a:cubicBezTo>
                    <a:pt x="12811" y="78690"/>
                    <a:pt x="7781" y="86573"/>
                    <a:pt x="3743" y="94463"/>
                  </a:cubicBezTo>
                  <a:cubicBezTo>
                    <a:pt x="-295" y="103335"/>
                    <a:pt x="-1286" y="112207"/>
                    <a:pt x="-1286" y="122068"/>
                  </a:cubicBezTo>
                  <a:cubicBezTo>
                    <a:pt x="-1286" y="130940"/>
                    <a:pt x="-295" y="139811"/>
                    <a:pt x="3743" y="148683"/>
                  </a:cubicBezTo>
                  <a:cubicBezTo>
                    <a:pt x="7781" y="156573"/>
                    <a:pt x="12811" y="164456"/>
                    <a:pt x="18831" y="170376"/>
                  </a:cubicBezTo>
                  <a:close/>
                </a:path>
              </a:pathLst>
            </a:custGeom>
            <a:solidFill>
              <a:srgbClr val="002060"/>
            </a:solidFill>
            <a:ln w="76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6818DD49-A843-8166-4AC4-53A3FF685651}"/>
                </a:ext>
              </a:extLst>
            </p:cNvPr>
            <p:cNvSpPr/>
            <p:nvPr/>
          </p:nvSpPr>
          <p:spPr>
            <a:xfrm>
              <a:off x="9377726" y="1776571"/>
              <a:ext cx="327660" cy="230037"/>
            </a:xfrm>
            <a:custGeom>
              <a:avLst/>
              <a:gdLst>
                <a:gd name="connsiteX0" fmla="*/ 301914 w 327660"/>
                <a:gd name="connsiteY0" fmla="*/ 80891 h 230037"/>
                <a:gd name="connsiteX1" fmla="*/ 301914 w 327660"/>
                <a:gd name="connsiteY1" fmla="*/ 80891 h 230037"/>
                <a:gd name="connsiteX2" fmla="*/ 275548 w 327660"/>
                <a:gd name="connsiteY2" fmla="*/ 61637 h 230037"/>
                <a:gd name="connsiteX3" fmla="*/ 243240 w 327660"/>
                <a:gd name="connsiteY3" fmla="*/ 54544 h 230037"/>
                <a:gd name="connsiteX4" fmla="*/ 227619 w 327660"/>
                <a:gd name="connsiteY4" fmla="*/ 32246 h 230037"/>
                <a:gd name="connsiteX5" fmla="*/ 208035 w 327660"/>
                <a:gd name="connsiteY5" fmla="*/ 15016 h 230037"/>
                <a:gd name="connsiteX6" fmla="*/ 183575 w 327660"/>
                <a:gd name="connsiteY6" fmla="*/ 3874 h 230037"/>
                <a:gd name="connsiteX7" fmla="*/ 157134 w 327660"/>
                <a:gd name="connsiteY7" fmla="*/ -182 h 230037"/>
                <a:gd name="connsiteX8" fmla="*/ 125891 w 327660"/>
                <a:gd name="connsiteY8" fmla="*/ 5899 h 230037"/>
                <a:gd name="connsiteX9" fmla="*/ 98460 w 327660"/>
                <a:gd name="connsiteY9" fmla="*/ 22109 h 230037"/>
                <a:gd name="connsiteX10" fmla="*/ 76972 w 327660"/>
                <a:gd name="connsiteY10" fmla="*/ 46431 h 230037"/>
                <a:gd name="connsiteX11" fmla="*/ 64246 w 327660"/>
                <a:gd name="connsiteY11" fmla="*/ 76835 h 230037"/>
                <a:gd name="connsiteX12" fmla="*/ 34909 w 327660"/>
                <a:gd name="connsiteY12" fmla="*/ 86972 h 230037"/>
                <a:gd name="connsiteX13" fmla="*/ 11440 w 327660"/>
                <a:gd name="connsiteY13" fmla="*/ 109262 h 230037"/>
                <a:gd name="connsiteX14" fmla="*/ 124902 w 327660"/>
                <a:gd name="connsiteY14" fmla="*/ 109262 h 230037"/>
                <a:gd name="connsiteX15" fmla="*/ 138617 w 327660"/>
                <a:gd name="connsiteY15" fmla="*/ 97101 h 230037"/>
                <a:gd name="connsiteX16" fmla="*/ 157134 w 327660"/>
                <a:gd name="connsiteY16" fmla="*/ 93052 h 230037"/>
                <a:gd name="connsiteX17" fmla="*/ 173821 w 327660"/>
                <a:gd name="connsiteY17" fmla="*/ 96089 h 230037"/>
                <a:gd name="connsiteX18" fmla="*/ 187462 w 327660"/>
                <a:gd name="connsiteY18" fmla="*/ 105206 h 230037"/>
                <a:gd name="connsiteX19" fmla="*/ 196301 w 327660"/>
                <a:gd name="connsiteY19" fmla="*/ 119399 h 230037"/>
                <a:gd name="connsiteX20" fmla="*/ 200186 w 327660"/>
                <a:gd name="connsiteY20" fmla="*/ 136621 h 230037"/>
                <a:gd name="connsiteX21" fmla="*/ 196301 w 327660"/>
                <a:gd name="connsiteY21" fmla="*/ 153851 h 230037"/>
                <a:gd name="connsiteX22" fmla="*/ 187462 w 327660"/>
                <a:gd name="connsiteY22" fmla="*/ 167025 h 230037"/>
                <a:gd name="connsiteX23" fmla="*/ 173821 w 327660"/>
                <a:gd name="connsiteY23" fmla="*/ 177162 h 230037"/>
                <a:gd name="connsiteX24" fmla="*/ 157134 w 327660"/>
                <a:gd name="connsiteY24" fmla="*/ 180198 h 230037"/>
                <a:gd name="connsiteX25" fmla="*/ 139531 w 327660"/>
                <a:gd name="connsiteY25" fmla="*/ 176150 h 230037"/>
                <a:gd name="connsiteX26" fmla="*/ 124902 w 327660"/>
                <a:gd name="connsiteY26" fmla="*/ 163988 h 230037"/>
                <a:gd name="connsiteX27" fmla="*/ -1286 w 327660"/>
                <a:gd name="connsiteY27" fmla="*/ 163988 h 230037"/>
                <a:gd name="connsiteX28" fmla="*/ 6563 w 327660"/>
                <a:gd name="connsiteY28" fmla="*/ 190335 h 230037"/>
                <a:gd name="connsiteX29" fmla="*/ 23174 w 327660"/>
                <a:gd name="connsiteY29" fmla="*/ 210602 h 230037"/>
                <a:gd name="connsiteX30" fmla="*/ 45653 w 327660"/>
                <a:gd name="connsiteY30" fmla="*/ 224787 h 230037"/>
                <a:gd name="connsiteX31" fmla="*/ 72095 w 327660"/>
                <a:gd name="connsiteY31" fmla="*/ 229856 h 230037"/>
                <a:gd name="connsiteX32" fmla="*/ 242249 w 327660"/>
                <a:gd name="connsiteY32" fmla="*/ 229856 h 230037"/>
                <a:gd name="connsiteX33" fmla="*/ 274558 w 327660"/>
                <a:gd name="connsiteY33" fmla="*/ 222763 h 230037"/>
                <a:gd name="connsiteX34" fmla="*/ 301914 w 327660"/>
                <a:gd name="connsiteY34" fmla="*/ 204521 h 230037"/>
                <a:gd name="connsiteX35" fmla="*/ 319516 w 327660"/>
                <a:gd name="connsiteY35" fmla="*/ 176150 h 230037"/>
                <a:gd name="connsiteX36" fmla="*/ 326374 w 327660"/>
                <a:gd name="connsiteY36" fmla="*/ 142702 h 230037"/>
                <a:gd name="connsiteX37" fmla="*/ 319516 w 327660"/>
                <a:gd name="connsiteY37" fmla="*/ 108250 h 230037"/>
                <a:gd name="connsiteX38" fmla="*/ 301914 w 327660"/>
                <a:gd name="connsiteY38" fmla="*/ 80891 h 23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7660" h="230037">
                  <a:moveTo>
                    <a:pt x="301914" y="80891"/>
                  </a:moveTo>
                  <a:lnTo>
                    <a:pt x="301914" y="80891"/>
                  </a:lnTo>
                  <a:cubicBezTo>
                    <a:pt x="294065" y="72778"/>
                    <a:pt x="285302" y="66698"/>
                    <a:pt x="275548" y="61637"/>
                  </a:cubicBezTo>
                  <a:cubicBezTo>
                    <a:pt x="264728" y="57581"/>
                    <a:pt x="253984" y="54544"/>
                    <a:pt x="243240" y="54544"/>
                  </a:cubicBezTo>
                  <a:cubicBezTo>
                    <a:pt x="238363" y="46431"/>
                    <a:pt x="233487" y="38326"/>
                    <a:pt x="227619" y="32246"/>
                  </a:cubicBezTo>
                  <a:cubicBezTo>
                    <a:pt x="221752" y="25153"/>
                    <a:pt x="214893" y="20084"/>
                    <a:pt x="208035" y="15016"/>
                  </a:cubicBezTo>
                  <a:cubicBezTo>
                    <a:pt x="200186" y="9955"/>
                    <a:pt x="192338" y="6911"/>
                    <a:pt x="183575" y="3874"/>
                  </a:cubicBezTo>
                  <a:cubicBezTo>
                    <a:pt x="175726" y="1842"/>
                    <a:pt x="166963" y="-182"/>
                    <a:pt x="157134" y="-182"/>
                  </a:cubicBezTo>
                  <a:cubicBezTo>
                    <a:pt x="146390" y="-182"/>
                    <a:pt x="135645" y="1842"/>
                    <a:pt x="125891" y="5899"/>
                  </a:cubicBezTo>
                  <a:cubicBezTo>
                    <a:pt x="115072" y="9955"/>
                    <a:pt x="106308" y="15016"/>
                    <a:pt x="98460" y="22109"/>
                  </a:cubicBezTo>
                  <a:cubicBezTo>
                    <a:pt x="89696" y="28189"/>
                    <a:pt x="82839" y="36302"/>
                    <a:pt x="76972" y="46431"/>
                  </a:cubicBezTo>
                  <a:cubicBezTo>
                    <a:pt x="71104" y="55556"/>
                    <a:pt x="67218" y="65685"/>
                    <a:pt x="64246" y="76835"/>
                  </a:cubicBezTo>
                  <a:cubicBezTo>
                    <a:pt x="53501" y="77847"/>
                    <a:pt x="43672" y="81903"/>
                    <a:pt x="34909" y="86972"/>
                  </a:cubicBezTo>
                  <a:cubicBezTo>
                    <a:pt x="25155" y="93052"/>
                    <a:pt x="17306" y="100145"/>
                    <a:pt x="11440" y="109262"/>
                  </a:cubicBezTo>
                  <a:lnTo>
                    <a:pt x="124902" y="109262"/>
                  </a:lnTo>
                  <a:cubicBezTo>
                    <a:pt x="128787" y="104194"/>
                    <a:pt x="133664" y="100145"/>
                    <a:pt x="138617" y="97101"/>
                  </a:cubicBezTo>
                  <a:cubicBezTo>
                    <a:pt x="144485" y="94064"/>
                    <a:pt x="151267" y="93052"/>
                    <a:pt x="157134" y="93052"/>
                  </a:cubicBezTo>
                  <a:cubicBezTo>
                    <a:pt x="163002" y="93052"/>
                    <a:pt x="168868" y="94064"/>
                    <a:pt x="173821" y="96089"/>
                  </a:cubicBezTo>
                  <a:cubicBezTo>
                    <a:pt x="178698" y="98113"/>
                    <a:pt x="183575" y="102170"/>
                    <a:pt x="187462" y="105206"/>
                  </a:cubicBezTo>
                  <a:cubicBezTo>
                    <a:pt x="191424" y="109262"/>
                    <a:pt x="194320" y="114331"/>
                    <a:pt x="196301" y="119399"/>
                  </a:cubicBezTo>
                  <a:cubicBezTo>
                    <a:pt x="198281" y="124468"/>
                    <a:pt x="200186" y="130541"/>
                    <a:pt x="200186" y="136621"/>
                  </a:cubicBezTo>
                  <a:cubicBezTo>
                    <a:pt x="200186" y="142702"/>
                    <a:pt x="198281" y="147771"/>
                    <a:pt x="196301" y="153851"/>
                  </a:cubicBezTo>
                  <a:cubicBezTo>
                    <a:pt x="194320" y="158920"/>
                    <a:pt x="191424" y="162976"/>
                    <a:pt x="187462" y="167025"/>
                  </a:cubicBezTo>
                  <a:cubicBezTo>
                    <a:pt x="183575" y="171081"/>
                    <a:pt x="178698" y="174118"/>
                    <a:pt x="173821" y="177162"/>
                  </a:cubicBezTo>
                  <a:cubicBezTo>
                    <a:pt x="168868" y="179186"/>
                    <a:pt x="163002" y="180198"/>
                    <a:pt x="157134" y="180198"/>
                  </a:cubicBezTo>
                  <a:cubicBezTo>
                    <a:pt x="151267" y="180198"/>
                    <a:pt x="144485" y="179186"/>
                    <a:pt x="139531" y="176150"/>
                  </a:cubicBezTo>
                  <a:cubicBezTo>
                    <a:pt x="133664" y="173105"/>
                    <a:pt x="128787" y="169049"/>
                    <a:pt x="124902" y="163988"/>
                  </a:cubicBezTo>
                  <a:lnTo>
                    <a:pt x="-1286" y="163988"/>
                  </a:lnTo>
                  <a:cubicBezTo>
                    <a:pt x="-295" y="173105"/>
                    <a:pt x="2600" y="182230"/>
                    <a:pt x="6563" y="190335"/>
                  </a:cubicBezTo>
                  <a:cubicBezTo>
                    <a:pt x="11440" y="198440"/>
                    <a:pt x="16317" y="205533"/>
                    <a:pt x="23174" y="210602"/>
                  </a:cubicBezTo>
                  <a:cubicBezTo>
                    <a:pt x="30032" y="216682"/>
                    <a:pt x="36890" y="221751"/>
                    <a:pt x="45653" y="224787"/>
                  </a:cubicBezTo>
                  <a:cubicBezTo>
                    <a:pt x="53501" y="227831"/>
                    <a:pt x="62265" y="229856"/>
                    <a:pt x="72095" y="229856"/>
                  </a:cubicBezTo>
                  <a:lnTo>
                    <a:pt x="242249" y="229856"/>
                  </a:lnTo>
                  <a:cubicBezTo>
                    <a:pt x="253984" y="229856"/>
                    <a:pt x="264728" y="227831"/>
                    <a:pt x="274558" y="222763"/>
                  </a:cubicBezTo>
                  <a:cubicBezTo>
                    <a:pt x="285302" y="217694"/>
                    <a:pt x="294065" y="211614"/>
                    <a:pt x="301914" y="204521"/>
                  </a:cubicBezTo>
                  <a:cubicBezTo>
                    <a:pt x="309762" y="196416"/>
                    <a:pt x="315630" y="187291"/>
                    <a:pt x="319516" y="176150"/>
                  </a:cubicBezTo>
                  <a:cubicBezTo>
                    <a:pt x="324393" y="166013"/>
                    <a:pt x="326374" y="153851"/>
                    <a:pt x="326374" y="142702"/>
                  </a:cubicBezTo>
                  <a:cubicBezTo>
                    <a:pt x="326374" y="130541"/>
                    <a:pt x="324393" y="119399"/>
                    <a:pt x="319516" y="108250"/>
                  </a:cubicBezTo>
                  <a:cubicBezTo>
                    <a:pt x="315630" y="98113"/>
                    <a:pt x="309762" y="88996"/>
                    <a:pt x="301914" y="80891"/>
                  </a:cubicBezTo>
                  <a:close/>
                </a:path>
              </a:pathLst>
            </a:custGeom>
            <a:solidFill>
              <a:schemeClr val="accent1"/>
            </a:solidFill>
            <a:ln w="76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216" name="Text Placeholder 32">
            <a:extLst>
              <a:ext uri="{FF2B5EF4-FFF2-40B4-BE49-F238E27FC236}">
                <a16:creationId xmlns:a16="http://schemas.microsoft.com/office/drawing/2014/main" id="{A81A94E8-6402-180F-F518-5C27C37B2B87}"/>
              </a:ext>
            </a:extLst>
          </p:cNvPr>
          <p:cNvSpPr txBox="1">
            <a:spLocks/>
          </p:cNvSpPr>
          <p:nvPr/>
        </p:nvSpPr>
        <p:spPr>
          <a:xfrm>
            <a:off x="8273372" y="2395047"/>
            <a:ext cx="3193233" cy="274222"/>
          </a:xfrm>
          <a:prstGeom prst="rect">
            <a:avLst/>
          </a:prstGeom>
          <a:noFill/>
          <a:ln>
            <a:noFill/>
          </a:ln>
        </p:spPr>
        <p:txBody>
          <a:bodyPr vert="horz" wrap="square" lIns="228600" tIns="91440" rIns="228600" bIns="91440" rtlCol="0" anchor="ct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800" kern="1200" spc="0" baseline="0">
                <a:solidFill>
                  <a:srgbClr val="3A3A3A"/>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Cloud PC</a:t>
            </a:r>
          </a:p>
        </p:txBody>
      </p:sp>
      <p:sp>
        <p:nvSpPr>
          <p:cNvPr id="220" name="Freeform: Shape 219">
            <a:extLst>
              <a:ext uri="{FF2B5EF4-FFF2-40B4-BE49-F238E27FC236}">
                <a16:creationId xmlns:a16="http://schemas.microsoft.com/office/drawing/2014/main" id="{DA842CAE-E8F0-D764-B6EA-CC2E01D22B4A}"/>
              </a:ext>
            </a:extLst>
          </p:cNvPr>
          <p:cNvSpPr/>
          <p:nvPr/>
        </p:nvSpPr>
        <p:spPr>
          <a:xfrm>
            <a:off x="8189529" y="3068678"/>
            <a:ext cx="345013" cy="344881"/>
          </a:xfrm>
          <a:custGeom>
            <a:avLst/>
            <a:gdLst>
              <a:gd name="connsiteX0" fmla="*/ 0 w 620286"/>
              <a:gd name="connsiteY0" fmla="*/ 312508 h 625016"/>
              <a:gd name="connsiteX1" fmla="*/ 310143 w 620286"/>
              <a:gd name="connsiteY1" fmla="*/ -1 h 625016"/>
              <a:gd name="connsiteX2" fmla="*/ 620287 w 620286"/>
              <a:gd name="connsiteY2" fmla="*/ 312508 h 625016"/>
              <a:gd name="connsiteX3" fmla="*/ 310143 w 620286"/>
              <a:gd name="connsiteY3" fmla="*/ 625016 h 625016"/>
              <a:gd name="connsiteX4" fmla="*/ 0 w 620286"/>
              <a:gd name="connsiteY4" fmla="*/ 312508 h 625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286" h="625016">
                <a:moveTo>
                  <a:pt x="0" y="312508"/>
                </a:moveTo>
                <a:cubicBezTo>
                  <a:pt x="0" y="139914"/>
                  <a:pt x="138856" y="-1"/>
                  <a:pt x="310143" y="-1"/>
                </a:cubicBezTo>
                <a:cubicBezTo>
                  <a:pt x="481430" y="-1"/>
                  <a:pt x="620287" y="139914"/>
                  <a:pt x="620287" y="312508"/>
                </a:cubicBezTo>
                <a:cubicBezTo>
                  <a:pt x="620287" y="485103"/>
                  <a:pt x="481430" y="625016"/>
                  <a:pt x="310143" y="625016"/>
                </a:cubicBezTo>
                <a:cubicBezTo>
                  <a:pt x="138856" y="625016"/>
                  <a:pt x="0" y="485103"/>
                  <a:pt x="0" y="312508"/>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IN" sz="1800" b="0" i="0" u="none" strike="noStrike" kern="1200" cap="none" spc="0" normalizeH="0" baseline="0" noProof="0">
                <a:ln>
                  <a:noFill/>
                </a:ln>
                <a:solidFill>
                  <a:srgbClr val="000000"/>
                </a:solidFill>
                <a:effectLst/>
                <a:uLnTx/>
                <a:uFillTx/>
                <a:latin typeface="Segoe UI Semibold"/>
                <a:ea typeface="+mn-ea"/>
                <a:cs typeface="Segoe UI" pitchFamily="34" charset="0"/>
              </a:rPr>
              <a:t>3</a:t>
            </a:r>
          </a:p>
        </p:txBody>
      </p:sp>
      <p:sp>
        <p:nvSpPr>
          <p:cNvPr id="223" name="Text Placeholder 3">
            <a:extLst>
              <a:ext uri="{FF2B5EF4-FFF2-40B4-BE49-F238E27FC236}">
                <a16:creationId xmlns:a16="http://schemas.microsoft.com/office/drawing/2014/main" id="{01395BE0-B12B-752B-B38A-85901C02B2AF}"/>
              </a:ext>
            </a:extLst>
          </p:cNvPr>
          <p:cNvSpPr txBox="1">
            <a:spLocks/>
          </p:cNvSpPr>
          <p:nvPr/>
        </p:nvSpPr>
        <p:spPr>
          <a:xfrm>
            <a:off x="8311131" y="3495060"/>
            <a:ext cx="3159780" cy="500137"/>
          </a:xfrm>
          <a:prstGeom prst="rect">
            <a:avLst/>
          </a:prstGeom>
          <a:noFill/>
          <a:ln>
            <a:noFill/>
          </a:ln>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b" latinLnBrk="0" hangingPunct="1">
              <a:lnSpc>
                <a:spcPct val="100000"/>
              </a:lnSpc>
              <a:spcBef>
                <a:spcPts val="300"/>
              </a:spcBef>
              <a:spcAft>
                <a:spcPts val="0"/>
              </a:spcAft>
              <a:buClrTx/>
              <a:buSzTx/>
              <a:buFontTx/>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t>NextGen Windows Experiences</a:t>
            </a:r>
          </a:p>
          <a:p>
            <a:pPr marL="0" marR="0" lvl="0" indent="0" algn="l" defTabSz="932742" rtl="0" eaLnBrk="1" fontAlgn="b"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Windows 365</a:t>
            </a:r>
          </a:p>
        </p:txBody>
      </p:sp>
      <p:sp>
        <p:nvSpPr>
          <p:cNvPr id="225" name="Text Placeholder 3">
            <a:extLst>
              <a:ext uri="{FF2B5EF4-FFF2-40B4-BE49-F238E27FC236}">
                <a16:creationId xmlns:a16="http://schemas.microsoft.com/office/drawing/2014/main" id="{5F2FE0A4-7434-4115-6B32-DD4D7363CFD1}"/>
              </a:ext>
            </a:extLst>
          </p:cNvPr>
          <p:cNvSpPr txBox="1">
            <a:spLocks/>
          </p:cNvSpPr>
          <p:nvPr/>
        </p:nvSpPr>
        <p:spPr>
          <a:xfrm>
            <a:off x="8311131" y="4579941"/>
            <a:ext cx="2868892" cy="892552"/>
          </a:xfrm>
          <a:prstGeom prst="rect">
            <a:avLst/>
          </a:prstGeom>
          <a:noFill/>
          <a:ln>
            <a:noFill/>
          </a:ln>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800" kern="1200" spc="0" baseline="0">
                <a:solidFill>
                  <a:srgbClr val="3A3A3A"/>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b" latinLnBrk="0" hangingPunct="1">
              <a:lnSpc>
                <a:spcPct val="100000"/>
              </a:lnSpc>
              <a:spcBef>
                <a:spcPts val="300"/>
              </a:spcBef>
              <a:spcAft>
                <a:spcPts val="0"/>
              </a:spcAft>
              <a:buClrTx/>
              <a:buSzTx/>
              <a:buFont typeface="Wingdings" panose="05000000000000000000" pitchFamily="2" charset="2"/>
              <a:buNone/>
              <a:tabLst/>
              <a:defRPr/>
            </a:pPr>
            <a: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t>Customer solution: </a:t>
            </a:r>
            <a:br>
              <a:rPr kumimoji="0" lang="en-US" sz="1600" b="0" i="0" u="none" strike="noStrike" kern="1200" cap="none" spc="0" normalizeH="0" baseline="0" noProof="0">
                <a:ln w="3175">
                  <a:noFill/>
                </a:ln>
                <a:solidFill>
                  <a:srgbClr val="0078D4"/>
                </a:solidFill>
                <a:effectLst/>
                <a:uLnTx/>
                <a:uFillTx/>
                <a:latin typeface="Segoe UI Semibold"/>
                <a:ea typeface="+mn-ea"/>
                <a:cs typeface="Segoe UI"/>
              </a:rPr>
            </a:br>
            <a:r>
              <a:rPr kumimoji="0" lang="en-US" sz="1400" b="0" i="0" u="none" strike="noStrike" kern="1200" cap="none" spc="0" normalizeH="0" baseline="0" noProof="0">
                <a:ln>
                  <a:noFill/>
                </a:ln>
                <a:solidFill>
                  <a:srgbClr val="E6E6E6">
                    <a:lumMod val="25000"/>
                  </a:srgbClr>
                </a:solidFill>
                <a:effectLst/>
                <a:uLnTx/>
                <a:uFillTx/>
                <a:latin typeface="Segoe UI"/>
                <a:ea typeface="Segoe UI Black"/>
                <a:cs typeface="Segoe UI Semibold"/>
              </a:rPr>
              <a:t>Run your business securely, using the most modern operating system, from anywhere on any device. </a:t>
            </a:r>
          </a:p>
        </p:txBody>
      </p:sp>
      <p:sp>
        <p:nvSpPr>
          <p:cNvPr id="10" name="Right Brace 9">
            <a:extLst>
              <a:ext uri="{FF2B5EF4-FFF2-40B4-BE49-F238E27FC236}">
                <a16:creationId xmlns:a16="http://schemas.microsoft.com/office/drawing/2014/main" id="{A974D5A8-E3A8-4092-3A14-0FD3DCF4393B}"/>
              </a:ext>
              <a:ext uri="{C183D7F6-B498-43B3-948B-1728B52AA6E4}">
                <adec:decorative xmlns:adec="http://schemas.microsoft.com/office/drawing/2017/decorative" val="1"/>
              </a:ext>
            </a:extLst>
          </p:cNvPr>
          <p:cNvSpPr/>
          <p:nvPr/>
        </p:nvSpPr>
        <p:spPr>
          <a:xfrm rot="5400000">
            <a:off x="5926441" y="2114462"/>
            <a:ext cx="405568" cy="8015663"/>
          </a:xfrm>
          <a:prstGeom prst="rightBrace">
            <a:avLst>
              <a:gd name="adj1" fmla="val 70343"/>
              <a:gd name="adj2" fmla="val 49990"/>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1A1A1A"/>
              </a:solidFill>
              <a:effectLst/>
              <a:uLnTx/>
              <a:uFillTx/>
              <a:latin typeface="Segoe UI"/>
              <a:ea typeface="+mn-ea"/>
              <a:cs typeface="+mn-cs"/>
            </a:endParaRPr>
          </a:p>
        </p:txBody>
      </p:sp>
      <p:cxnSp>
        <p:nvCxnSpPr>
          <p:cNvPr id="14" name="Straight Connector 13">
            <a:extLst>
              <a:ext uri="{FF2B5EF4-FFF2-40B4-BE49-F238E27FC236}">
                <a16:creationId xmlns:a16="http://schemas.microsoft.com/office/drawing/2014/main" id="{5633BE16-A32A-EE26-CB0F-5058FE05C862}"/>
              </a:ext>
            </a:extLst>
          </p:cNvPr>
          <p:cNvCxnSpPr>
            <a:cxnSpLocks/>
          </p:cNvCxnSpPr>
          <p:nvPr/>
        </p:nvCxnSpPr>
        <p:spPr>
          <a:xfrm>
            <a:off x="6137500" y="5889524"/>
            <a:ext cx="0" cy="272069"/>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46CD51E-4346-7D8E-6FB2-20C41E3E6E92}"/>
              </a:ext>
            </a:extLst>
          </p:cNvPr>
          <p:cNvSpPr txBox="1"/>
          <p:nvPr/>
        </p:nvSpPr>
        <p:spPr>
          <a:xfrm>
            <a:off x="4532674" y="1203791"/>
            <a:ext cx="3105128" cy="389513"/>
          </a:xfrm>
          <a:prstGeom prst="roundRect">
            <a:avLst>
              <a:gd name="adj" fmla="val 50000"/>
            </a:avLst>
          </a:prstGeom>
          <a:solidFill>
            <a:schemeClr val="bg1"/>
          </a:solidFill>
          <a:ln w="19050">
            <a:noFill/>
          </a:ln>
        </p:spPr>
        <p:txBody>
          <a:bodyPr wrap="square" lIns="9144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mn-cs"/>
              </a:rPr>
              <a:t>FY23 SMB solution plays </a:t>
            </a:r>
          </a:p>
        </p:txBody>
      </p:sp>
      <p:sp>
        <p:nvSpPr>
          <p:cNvPr id="11" name="TextBox 10">
            <a:extLst>
              <a:ext uri="{FF2B5EF4-FFF2-40B4-BE49-F238E27FC236}">
                <a16:creationId xmlns:a16="http://schemas.microsoft.com/office/drawing/2014/main" id="{E64E98B3-F5E6-10D4-E7F6-1F236FB8BCCE}"/>
              </a:ext>
            </a:extLst>
          </p:cNvPr>
          <p:cNvSpPr txBox="1"/>
          <p:nvPr/>
        </p:nvSpPr>
        <p:spPr>
          <a:xfrm>
            <a:off x="4985433" y="5978501"/>
            <a:ext cx="2307247" cy="340519"/>
          </a:xfrm>
          <a:prstGeom prst="roundRect">
            <a:avLst/>
          </a:prstGeom>
          <a:solidFill>
            <a:schemeClr val="bg1">
              <a:lumMod val="95000"/>
            </a:schemeClr>
          </a:solidFill>
          <a:ln w="19050">
            <a:solidFill>
              <a:schemeClr val="accent1"/>
            </a:solid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Semibold"/>
                <a:ea typeface="+mn-ea"/>
                <a:cs typeface="+mn-cs"/>
              </a:rPr>
              <a:t>SMB Workshops</a:t>
            </a:r>
          </a:p>
        </p:txBody>
      </p:sp>
    </p:spTree>
    <p:extLst>
      <p:ext uri="{BB962C8B-B14F-4D97-AF65-F5344CB8AC3E}">
        <p14:creationId xmlns:p14="http://schemas.microsoft.com/office/powerpoint/2010/main" val="26744005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BBEF4-DB9C-1BF4-F94C-887BD2EA08EE}"/>
              </a:ext>
            </a:extLst>
          </p:cNvPr>
          <p:cNvSpPr>
            <a:spLocks noGrp="1"/>
          </p:cNvSpPr>
          <p:nvPr>
            <p:ph type="title"/>
          </p:nvPr>
        </p:nvSpPr>
        <p:spPr>
          <a:xfrm>
            <a:off x="588263" y="457200"/>
            <a:ext cx="11018520" cy="492443"/>
          </a:xfrm>
        </p:spPr>
        <p:txBody>
          <a:bodyPr/>
          <a:lstStyle/>
          <a:p>
            <a:r>
              <a:rPr lang="en-US"/>
              <a:t>Get More with Microsoft 365 Today</a:t>
            </a:r>
          </a:p>
        </p:txBody>
      </p:sp>
      <p:sp>
        <p:nvSpPr>
          <p:cNvPr id="3" name="Text Placeholder 11">
            <a:extLst>
              <a:ext uri="{FF2B5EF4-FFF2-40B4-BE49-F238E27FC236}">
                <a16:creationId xmlns:a16="http://schemas.microsoft.com/office/drawing/2014/main" id="{071794FB-36BC-F5F1-BB9A-D700B356C38C}"/>
              </a:ext>
            </a:extLst>
          </p:cNvPr>
          <p:cNvSpPr txBox="1">
            <a:spLocks/>
          </p:cNvSpPr>
          <p:nvPr/>
        </p:nvSpPr>
        <p:spPr>
          <a:xfrm>
            <a:off x="588263" y="1122282"/>
            <a:ext cx="11018520" cy="461664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8738"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t>What is the SMB New Customer and Upsell Promo?</a:t>
            </a:r>
            <a:br>
              <a:rPr kumimoji="0" lang="en-US" sz="14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br>
            <a:endParaRPr kumimoji="0" lang="en-US" sz="14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endParaRPr>
          </a:p>
          <a:p>
            <a:pPr marL="233363" marR="0" lvl="0"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Offer</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r>
              <a:rPr kumimoji="0" lang="en-US" sz="1400" b="0" i="0" u="none" strike="noStrike" kern="1200" cap="none" spc="0" normalizeH="0" baseline="0" noProof="0">
                <a:ln>
                  <a:noFill/>
                </a:ln>
                <a:solidFill>
                  <a:srgbClr val="000000"/>
                </a:solidFill>
                <a:effectLst/>
                <a:uLnTx/>
                <a:uFillTx/>
                <a:latin typeface="Segoe UI" panose="020B0502040204020203" pitchFamily="34" charset="0"/>
                <a:ea typeface="Calibri" panose="020F0502020204030204" pitchFamily="34" charset="0"/>
                <a:cs typeface="Arial" panose="020B0604020202020204" pitchFamily="34" charset="0"/>
              </a:rPr>
              <a:t>Eligible customers receive 16% off the NCE Monthly Commitment price throughout the duration of the promotion period for the following products, which effectively sets monthly commitment pricing to annual commitment pricing.</a:t>
            </a:r>
            <a:endPar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p>
            <a:pPr marL="233363" marR="0" lvl="0"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Audience</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(1) New to Microsoft Customers, as defined by new tenant creation (2) Existing Microsoft customers upgrading to a more premium product</a:t>
            </a:r>
          </a:p>
          <a:p>
            <a:pPr marL="233363" marR="0" lvl="0"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Channels</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CSP and Direct</a:t>
            </a:r>
          </a:p>
          <a:p>
            <a:pPr marL="233363" marR="0" lvl="0"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Geographies</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All geographies where Microsoft 365 is sold</a:t>
            </a:r>
          </a:p>
          <a:p>
            <a:pPr marL="233363" marR="0" lvl="0"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Period: </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September 1, 2022 through June 30, 2023. Promotional pricing will stop applying at the first monthly anniversary after June 30, 2023.</a:t>
            </a:r>
          </a:p>
          <a:p>
            <a:pPr marL="233363" marR="0" lvl="0"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Products</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t>
            </a:r>
          </a:p>
          <a:p>
            <a:pPr marL="461963" marR="0" lvl="1"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Microsoft 365 Business Basic			Microsoft 365 Apps for Business</a:t>
            </a:r>
          </a:p>
          <a:p>
            <a:pPr marL="461963" marR="0" lvl="1"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Microsoft 365 Business Standard		Microsoft Teams Essentials</a:t>
            </a:r>
          </a:p>
          <a:p>
            <a:pPr marL="461963" marR="0" lvl="1" indent="-174625" algn="l" defTabSz="932742" rtl="0" eaLnBrk="1" fontAlgn="auto" latinLnBrk="0" hangingPunct="1">
              <a:lnSpc>
                <a:spcPct val="100000"/>
              </a:lnSpc>
              <a:spcBef>
                <a:spcPts val="0"/>
              </a:spcBef>
              <a:spcAft>
                <a:spcPts val="600"/>
              </a:spcAft>
              <a:buClrTx/>
              <a:buSzPct val="90000"/>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Microsoft 365 Business Premium		Microsoft Defender for Business</a:t>
            </a:r>
          </a:p>
          <a:p>
            <a:pPr marL="58738"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rgbClr val="000000"/>
              </a:solidFill>
              <a:effectLst/>
              <a:uLnTx/>
              <a:uFillTx/>
              <a:latin typeface="Segoe UI"/>
              <a:ea typeface="Calibri" panose="020F0502020204030204" pitchFamily="34" charset="0"/>
              <a:cs typeface="Segoe UI" panose="020B0502040204020203" pitchFamily="34" charset="0"/>
            </a:endParaRPr>
          </a:p>
          <a:p>
            <a:pPr marL="58738"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a:ea typeface="Calibri" panose="020F0502020204030204" pitchFamily="34" charset="0"/>
                <a:cs typeface="Segoe UI" panose="020B0502040204020203" pitchFamily="34" charset="0"/>
              </a:rPr>
              <a:t>At the end of the promotional </a:t>
            </a:r>
            <a:r>
              <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period, customers will automatically renew into Monthly Commitment at standard prices. Customers may be able to keep their subscription at promotional pricing by transitioning to an NCE Annual commitment at list price. Partners should decide with their customers whether an Annual or Monthly commitment makes most sense based on customer need and credit risk.</a:t>
            </a:r>
            <a:endParaRPr kumimoji="0" lang="en-US" sz="1400" b="0" i="0" u="none" strike="noStrike" kern="1200" cap="none" spc="0" normalizeH="0" baseline="0" noProof="0">
              <a:ln>
                <a:noFill/>
              </a:ln>
              <a:solidFill>
                <a:srgbClr val="000000"/>
              </a:solidFill>
              <a:effectLst/>
              <a:uLnTx/>
              <a:uFillTx/>
              <a:latin typeface="Segoe UI"/>
              <a:ea typeface="Calibri" panose="020F0502020204030204" pitchFamily="34" charset="0"/>
              <a:cs typeface="Segoe UI" panose="020B0502040204020203" pitchFamily="34" charset="0"/>
            </a:endParaRPr>
          </a:p>
          <a:p>
            <a:pPr marL="58738"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br>
              <a:rPr kumimoji="0" lang="en-US" sz="1400" b="0" i="0" u="none" strike="noStrike" kern="1200" cap="none" spc="0" normalizeH="0" baseline="0" noProof="0">
                <a:ln>
                  <a:noFill/>
                </a:ln>
                <a:solidFill>
                  <a:srgbClr val="000000"/>
                </a:solidFill>
                <a:effectLst/>
                <a:uLnTx/>
                <a:uFillTx/>
                <a:latin typeface="Segoe UI"/>
                <a:ea typeface="Calibri" panose="020F0502020204030204" pitchFamily="34" charset="0"/>
                <a:cs typeface="Segoe UI" panose="020B0502040204020203" pitchFamily="34" charset="0"/>
              </a:rPr>
            </a:br>
            <a:r>
              <a:rPr kumimoji="0" lang="en-US" sz="1400" b="0" i="0" u="none" strike="noStrike" kern="1200" cap="none" spc="0" normalizeH="0" baseline="0" noProof="0">
                <a:ln>
                  <a:noFill/>
                </a:ln>
                <a:solidFill>
                  <a:srgbClr val="000000"/>
                </a:solidFill>
                <a:effectLst/>
                <a:uLnTx/>
                <a:uFillTx/>
                <a:latin typeface="Segoe UI"/>
                <a:ea typeface="Calibri" panose="020F0502020204030204" pitchFamily="34" charset="0"/>
                <a:cs typeface="Segoe UI" panose="020B0502040204020203" pitchFamily="34" charset="0"/>
              </a:rPr>
              <a:t>For more details about the SMB New Customer and Upsell Promo, visit </a:t>
            </a:r>
            <a:r>
              <a:rPr kumimoji="0" lang="en-US" sz="1400" b="0" i="0" u="none" strike="noStrike" kern="1200" cap="none" spc="0" normalizeH="0" baseline="0" noProof="0">
                <a:ln>
                  <a:noFill/>
                </a:ln>
                <a:solidFill>
                  <a:srgbClr val="201F1E"/>
                </a:solidFill>
                <a:effectLst/>
                <a:uLnTx/>
                <a:uFillTx/>
                <a:latin typeface="Segoe UI"/>
                <a:ea typeface="Times New Roman" panose="02020603050405020304" pitchFamily="18" charset="0"/>
                <a:cs typeface="Arial" panose="020B0604020202020204" pitchFamily="34" charset="0"/>
              </a:rPr>
              <a:t>the </a:t>
            </a:r>
            <a:r>
              <a:rPr kumimoji="0" lang="en-US" sz="1400" b="0" i="0" u="sng" strike="noStrike" kern="1200" cap="none" spc="0" normalizeH="0" baseline="0" noProof="0">
                <a:ln>
                  <a:noFill/>
                </a:ln>
                <a:solidFill>
                  <a:srgbClr val="000000"/>
                </a:solidFill>
                <a:effectLst/>
                <a:uLnTx/>
                <a:uFillTx/>
                <a:latin typeface="Segoe UI"/>
                <a:ea typeface="Times New Roman" panose="02020603050405020304" pitchFamily="18" charset="0"/>
                <a:cs typeface="Arial" panose="020B0604020202020204" pitchFamily="34" charset="0"/>
                <a:hlinkClick r:id="rId3"/>
              </a:rPr>
              <a:t>SMB Partner Portal page</a:t>
            </a:r>
            <a:r>
              <a:rPr kumimoji="0" lang="en-US" sz="1400" b="0" i="0" u="none" strike="noStrike" kern="1200" cap="none" spc="0" normalizeH="0" baseline="0" noProof="0">
                <a:ln>
                  <a:noFill/>
                </a:ln>
                <a:solidFill>
                  <a:srgbClr val="201F1E"/>
                </a:solidFill>
                <a:effectLst/>
                <a:uLnTx/>
                <a:uFillTx/>
                <a:latin typeface="Segoe UI"/>
                <a:ea typeface="Times New Roman" panose="02020603050405020304" pitchFamily="18" charset="0"/>
                <a:cs typeface="Arial" panose="020B0604020202020204" pitchFamily="34" charset="0"/>
              </a:rPr>
              <a:t>.</a:t>
            </a:r>
            <a:endParaRPr kumimoji="0" lang="en-US" sz="1400" b="0" i="0" u="none" strike="noStrike" kern="1200" cap="none" spc="0" normalizeH="0" baseline="0" noProof="0">
              <a:ln>
                <a:noFill/>
              </a:ln>
              <a:solidFill>
                <a:srgbClr val="000000"/>
              </a:solidFill>
              <a:effectLst/>
              <a:uLnTx/>
              <a:uFillTx/>
              <a:latin typeface="Segoe UI"/>
              <a:ea typeface="Calibri" panose="020F0502020204030204" pitchFamily="34" charset="0"/>
              <a:cs typeface="Arial" panose="020B0604020202020204" pitchFamily="34" charset="0"/>
            </a:endParaRPr>
          </a:p>
          <a:p>
            <a:pPr marL="58738"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rgbClr val="000000"/>
              </a:solidFill>
              <a:effectLst/>
              <a:highlight>
                <a:srgbClr val="FFFF00"/>
              </a:highlight>
              <a:uLnTx/>
              <a:uFillTx/>
              <a:latin typeface="Segoe UI"/>
              <a:ea typeface="Calibri" panose="020F0502020204030204" pitchFamily="34" charset="0"/>
              <a:cs typeface="Segoe UI" panose="020B0502040204020203" pitchFamily="34" charset="0"/>
            </a:endParaRPr>
          </a:p>
          <a:p>
            <a:pPr marL="228600" marR="0" lvl="0" indent="-228600" algn="l" defTabSz="932742" rtl="0" eaLnBrk="1" fontAlgn="auto" latinLnBrk="0" hangingPunct="1">
              <a:lnSpc>
                <a:spcPct val="100000"/>
              </a:lnSpc>
              <a:spcBef>
                <a:spcPts val="0"/>
              </a:spcBef>
              <a:spcAft>
                <a:spcPts val="0"/>
              </a:spcAft>
              <a:buClrTx/>
              <a:buSzPct val="90000"/>
              <a:buFont typeface="Wingdings" panose="05000000000000000000" pitchFamily="2" charset="2"/>
              <a:buChar char=""/>
              <a:tabLst/>
              <a:defRPr/>
            </a:pPr>
            <a:endParaRPr kumimoji="0" lang="en-US" sz="2000" b="0" i="0" u="none" strike="noStrike" kern="1200" cap="none" spc="0" normalizeH="0" baseline="0" noProof="0">
              <a:ln>
                <a:noFill/>
              </a:ln>
              <a:solidFill>
                <a:srgbClr val="000000"/>
              </a:solidFill>
              <a:effectLst/>
              <a:uLnTx/>
              <a:uFillTx/>
              <a:latin typeface="Segoe UI"/>
              <a:ea typeface="Calibri" panose="020F0502020204030204" pitchFamily="34" charset="0"/>
              <a:cs typeface="Segoe UI" panose="020B0502040204020203" pitchFamily="34" charset="0"/>
            </a:endParaRPr>
          </a:p>
          <a:p>
            <a:pPr marL="58738"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4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02132621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906718-335D-EC11-56F1-2A765FBBEA89}"/>
              </a:ext>
            </a:extLst>
          </p:cNvPr>
          <p:cNvSpPr/>
          <p:nvPr/>
        </p:nvSpPr>
        <p:spPr bwMode="auto">
          <a:xfrm>
            <a:off x="0" y="3248141"/>
            <a:ext cx="12192000" cy="364068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Top Corners Rounded 7">
            <a:extLst>
              <a:ext uri="{FF2B5EF4-FFF2-40B4-BE49-F238E27FC236}">
                <a16:creationId xmlns:a16="http://schemas.microsoft.com/office/drawing/2014/main" id="{8C5BEF98-448D-0774-816A-D980E1D26C93}"/>
              </a:ext>
            </a:extLst>
          </p:cNvPr>
          <p:cNvSpPr/>
          <p:nvPr/>
        </p:nvSpPr>
        <p:spPr bwMode="auto">
          <a:xfrm rot="10800000">
            <a:off x="588262" y="3863340"/>
            <a:ext cx="11070336" cy="2754630"/>
          </a:xfrm>
          <a:prstGeom prst="round2SameRect">
            <a:avLst>
              <a:gd name="adj1" fmla="val 6693"/>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Rectangle: Single Corner Rounded 8">
            <a:extLst>
              <a:ext uri="{FF2B5EF4-FFF2-40B4-BE49-F238E27FC236}">
                <a16:creationId xmlns:a16="http://schemas.microsoft.com/office/drawing/2014/main" id="{0809BFF1-871C-5653-3642-BCCC17FFD0E6}"/>
              </a:ext>
            </a:extLst>
          </p:cNvPr>
          <p:cNvSpPr/>
          <p:nvPr/>
        </p:nvSpPr>
        <p:spPr bwMode="auto">
          <a:xfrm rot="10800000">
            <a:off x="579124" y="3863340"/>
            <a:ext cx="2369816" cy="2754630"/>
          </a:xfrm>
          <a:prstGeom prst="round1Rect">
            <a:avLst>
              <a:gd name="adj" fmla="val 5380"/>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Top Corners Rounded 6">
            <a:extLst>
              <a:ext uri="{FF2B5EF4-FFF2-40B4-BE49-F238E27FC236}">
                <a16:creationId xmlns:a16="http://schemas.microsoft.com/office/drawing/2014/main" id="{22A0D994-08B3-CD72-04E0-AC9720655BD6}"/>
              </a:ext>
            </a:extLst>
          </p:cNvPr>
          <p:cNvSpPr/>
          <p:nvPr/>
        </p:nvSpPr>
        <p:spPr bwMode="auto">
          <a:xfrm>
            <a:off x="579124" y="3451860"/>
            <a:ext cx="11079474" cy="411480"/>
          </a:xfrm>
          <a:prstGeom prst="round2Same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963D0DFB-3A45-5606-9BAA-B7C3E72B1BBF}"/>
              </a:ext>
            </a:extLst>
          </p:cNvPr>
          <p:cNvSpPr/>
          <p:nvPr/>
        </p:nvSpPr>
        <p:spPr bwMode="auto">
          <a:xfrm>
            <a:off x="294967" y="-388012"/>
            <a:ext cx="11174164" cy="3377020"/>
          </a:xfrm>
          <a:prstGeom prst="roundRect">
            <a:avLst>
              <a:gd name="adj" fmla="val 3731"/>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3" name="Table 4">
            <a:extLst>
              <a:ext uri="{FF2B5EF4-FFF2-40B4-BE49-F238E27FC236}">
                <a16:creationId xmlns:a16="http://schemas.microsoft.com/office/drawing/2014/main" id="{46A53E9E-071B-93CF-3D48-2AEB3B954023}"/>
              </a:ext>
            </a:extLst>
          </p:cNvPr>
          <p:cNvGraphicFramePr>
            <a:graphicFrameLocks noGrp="1"/>
          </p:cNvGraphicFramePr>
          <p:nvPr/>
        </p:nvGraphicFramePr>
        <p:xfrm>
          <a:off x="588262" y="3392024"/>
          <a:ext cx="11024614" cy="3294038"/>
        </p:xfrm>
        <a:graphic>
          <a:graphicData uri="http://schemas.openxmlformats.org/drawingml/2006/table">
            <a:tbl>
              <a:tblPr firstRow="1" bandRow="1">
                <a:tableStyleId>{5940675A-B579-460E-94D1-54222C63F5DA}</a:tableStyleId>
              </a:tblPr>
              <a:tblGrid>
                <a:gridCol w="2429258">
                  <a:extLst>
                    <a:ext uri="{9D8B030D-6E8A-4147-A177-3AD203B41FA5}">
                      <a16:colId xmlns:a16="http://schemas.microsoft.com/office/drawing/2014/main" val="1252210120"/>
                    </a:ext>
                  </a:extLst>
                </a:gridCol>
                <a:gridCol w="2743263">
                  <a:extLst>
                    <a:ext uri="{9D8B030D-6E8A-4147-A177-3AD203B41FA5}">
                      <a16:colId xmlns:a16="http://schemas.microsoft.com/office/drawing/2014/main" val="3818534054"/>
                    </a:ext>
                  </a:extLst>
                </a:gridCol>
                <a:gridCol w="2840240">
                  <a:extLst>
                    <a:ext uri="{9D8B030D-6E8A-4147-A177-3AD203B41FA5}">
                      <a16:colId xmlns:a16="http://schemas.microsoft.com/office/drawing/2014/main" val="2660909398"/>
                    </a:ext>
                  </a:extLst>
                </a:gridCol>
                <a:gridCol w="3011853">
                  <a:extLst>
                    <a:ext uri="{9D8B030D-6E8A-4147-A177-3AD203B41FA5}">
                      <a16:colId xmlns:a16="http://schemas.microsoft.com/office/drawing/2014/main" val="4196836086"/>
                    </a:ext>
                  </a:extLst>
                </a:gridCol>
              </a:tblGrid>
              <a:tr h="475750">
                <a:tc>
                  <a:txBody>
                    <a:bodyPr/>
                    <a:lstStyle/>
                    <a:p>
                      <a:r>
                        <a:rPr lang="en-US" sz="1200" b="0">
                          <a:solidFill>
                            <a:schemeClr val="bg1"/>
                          </a:solidFill>
                          <a:latin typeface="+mj-lt"/>
                        </a:rPr>
                        <a:t>Example Customer Scenarios</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a:solidFill>
                            <a:schemeClr val="bg1"/>
                          </a:solidFill>
                          <a:latin typeface="+mj-lt"/>
                        </a:rPr>
                        <a:t>Lead With</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a:solidFill>
                            <a:schemeClr val="bg1"/>
                          </a:solidFill>
                          <a:latin typeface="+mj-lt"/>
                        </a:rPr>
                        <a:t>Fallback to</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0">
                          <a:solidFill>
                            <a:schemeClr val="bg1"/>
                          </a:solidFill>
                          <a:latin typeface="+mj-lt"/>
                        </a:rPr>
                        <a:t>Benefits</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8640749"/>
                  </a:ext>
                </a:extLst>
              </a:tr>
              <a:tr h="948416">
                <a:tc>
                  <a:txBody>
                    <a:bodyPr/>
                    <a:lstStyle/>
                    <a:p>
                      <a:r>
                        <a:rPr lang="en-US" sz="1200">
                          <a:solidFill>
                            <a:schemeClr val="tx1"/>
                          </a:solidFill>
                          <a:latin typeface="+mj-lt"/>
                        </a:rPr>
                        <a:t>New-to-Microsoft Customers</a:t>
                      </a: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spcBef>
                          <a:spcPts val="1200"/>
                        </a:spcBef>
                      </a:pPr>
                      <a:r>
                        <a:rPr lang="en-US" sz="1200" kern="1200">
                          <a:solidFill>
                            <a:schemeClr val="tx1"/>
                          </a:solidFill>
                          <a:effectLst/>
                          <a:latin typeface="+mn-lt"/>
                          <a:ea typeface="+mn-ea"/>
                          <a:cs typeface="+mn-cs"/>
                        </a:rPr>
                        <a:t>Microsoft 365 Business Premium as the best value suite for customers</a:t>
                      </a:r>
                      <a:endParaRPr lang="en-US" sz="1200">
                        <a:solidFill>
                          <a:schemeClr val="tx1"/>
                        </a:solidFill>
                      </a:endParaRP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nSpc>
                          <a:spcPct val="90000"/>
                        </a:lnSpc>
                        <a:spcBef>
                          <a:spcPts val="1200"/>
                        </a:spcBef>
                      </a:pPr>
                      <a:r>
                        <a:rPr lang="en-US" sz="1200" kern="1200">
                          <a:solidFill>
                            <a:schemeClr val="tx1"/>
                          </a:solidFill>
                          <a:effectLst/>
                          <a:latin typeface="+mn-lt"/>
                          <a:ea typeface="+mn-ea"/>
                          <a:cs typeface="+mn-cs"/>
                        </a:rPr>
                        <a:t>Microsoft Teams Essentials for meetings, calling, and collaboration</a:t>
                      </a:r>
                    </a:p>
                    <a:p>
                      <a:pPr>
                        <a:lnSpc>
                          <a:spcPct val="90000"/>
                        </a:lnSpc>
                        <a:spcBef>
                          <a:spcPts val="1200"/>
                        </a:spcBef>
                      </a:pPr>
                      <a:r>
                        <a:rPr lang="en-US" sz="1200" kern="1200">
                          <a:solidFill>
                            <a:schemeClr val="tx1"/>
                          </a:solidFill>
                          <a:effectLst/>
                          <a:latin typeface="+mn-lt"/>
                          <a:ea typeface="+mn-ea"/>
                          <a:cs typeface="+mn-cs"/>
                        </a:rPr>
                        <a:t>Microsoft Defender for Business for endpoint protection</a:t>
                      </a:r>
                      <a:endParaRPr lang="en-US" sz="1200">
                        <a:solidFill>
                          <a:schemeClr val="tx1"/>
                        </a:solidFill>
                      </a:endParaRP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nSpc>
                          <a:spcPct val="90000"/>
                        </a:lnSpc>
                        <a:spcBef>
                          <a:spcPts val="1200"/>
                        </a:spcBef>
                        <a:buFont typeface="Arial" panose="020B0604020202020204" pitchFamily="34" charset="0"/>
                        <a:buNone/>
                      </a:pPr>
                      <a:r>
                        <a:rPr lang="en-US" sz="1200">
                          <a:solidFill>
                            <a:schemeClr val="tx1"/>
                          </a:solidFill>
                        </a:rPr>
                        <a:t>Immediate cost savings </a:t>
                      </a:r>
                    </a:p>
                    <a:p>
                      <a:pPr marL="0" indent="0">
                        <a:lnSpc>
                          <a:spcPct val="90000"/>
                        </a:lnSpc>
                        <a:spcBef>
                          <a:spcPts val="1200"/>
                        </a:spcBef>
                        <a:buFont typeface="Arial" panose="020B0604020202020204" pitchFamily="34" charset="0"/>
                        <a:buNone/>
                      </a:pPr>
                      <a:r>
                        <a:rPr lang="en-US" sz="1200">
                          <a:solidFill>
                            <a:schemeClr val="tx1"/>
                          </a:solidFill>
                        </a:rPr>
                        <a:t>Flexibility of monthly commitment</a:t>
                      </a:r>
                    </a:p>
                  </a:txBody>
                  <a:tcPr marT="91440" marB="91440">
                    <a:lnL w="12700" cmpd="sng">
                      <a:noFill/>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694253"/>
                  </a:ext>
                </a:extLst>
              </a:tr>
              <a:tr h="912320">
                <a:tc>
                  <a:txBody>
                    <a:bodyPr/>
                    <a:lstStyle/>
                    <a:p>
                      <a:r>
                        <a:rPr lang="en-US" sz="1200">
                          <a:solidFill>
                            <a:schemeClr val="tx1"/>
                          </a:solidFill>
                          <a:latin typeface="+mj-lt"/>
                        </a:rPr>
                        <a:t>Existing Business Basic Customers</a:t>
                      </a: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spcBef>
                          <a:spcPts val="1200"/>
                        </a:spcBef>
                      </a:pPr>
                      <a:r>
                        <a:rPr lang="en-US" sz="1200" kern="1200">
                          <a:solidFill>
                            <a:schemeClr val="tx1"/>
                          </a:solidFill>
                          <a:effectLst/>
                          <a:latin typeface="+mn-lt"/>
                          <a:ea typeface="+mn-ea"/>
                          <a:cs typeface="+mn-cs"/>
                        </a:rPr>
                        <a:t>Upsell to Microsoft 365 Business Premium as the best value suite for customers</a:t>
                      </a:r>
                      <a:endParaRPr lang="en-US" sz="1200">
                        <a:solidFill>
                          <a:schemeClr val="tx1"/>
                        </a:solidFill>
                      </a:endParaRP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90000"/>
                        </a:lnSpc>
                        <a:spcBef>
                          <a:spcPts val="1200"/>
                        </a:spcBef>
                      </a:pPr>
                      <a:r>
                        <a:rPr lang="en-US" sz="1200" kern="1200">
                          <a:solidFill>
                            <a:schemeClr val="tx1"/>
                          </a:solidFill>
                          <a:effectLst/>
                          <a:latin typeface="+mn-lt"/>
                          <a:ea typeface="+mn-ea"/>
                          <a:cs typeface="+mn-cs"/>
                        </a:rPr>
                        <a:t>Attach Microsoft Defender for Business for endpoint protection</a:t>
                      </a:r>
                      <a:endParaRPr lang="en-US" sz="1200">
                        <a:solidFill>
                          <a:schemeClr val="tx1"/>
                        </a:solidFill>
                      </a:endParaRP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nSpc>
                          <a:spcPct val="90000"/>
                        </a:lnSpc>
                        <a:spcBef>
                          <a:spcPts val="1200"/>
                        </a:spcBef>
                        <a:buFont typeface="Arial" panose="020B0604020202020204" pitchFamily="34" charset="0"/>
                        <a:buNone/>
                      </a:pPr>
                      <a:r>
                        <a:rPr lang="en-US" sz="1200">
                          <a:solidFill>
                            <a:schemeClr val="tx1"/>
                          </a:solidFill>
                        </a:rPr>
                        <a:t>Immediate cost savings through vendor consolidation</a:t>
                      </a:r>
                    </a:p>
                    <a:p>
                      <a:pPr marL="0" indent="0">
                        <a:lnSpc>
                          <a:spcPct val="90000"/>
                        </a:lnSpc>
                        <a:spcBef>
                          <a:spcPts val="1200"/>
                        </a:spcBef>
                        <a:buFont typeface="Arial" panose="020B0604020202020204" pitchFamily="34" charset="0"/>
                        <a:buNone/>
                      </a:pPr>
                      <a:r>
                        <a:rPr lang="en-US" sz="1200">
                          <a:solidFill>
                            <a:schemeClr val="tx1"/>
                          </a:solidFill>
                        </a:rPr>
                        <a:t>Additional security and productivity value</a:t>
                      </a: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1984842"/>
                  </a:ext>
                </a:extLst>
              </a:tr>
              <a:tr h="912320">
                <a:tc>
                  <a:txBody>
                    <a:bodyPr/>
                    <a:lstStyle/>
                    <a:p>
                      <a:r>
                        <a:rPr lang="en-US" sz="1200">
                          <a:solidFill>
                            <a:schemeClr val="tx1"/>
                          </a:solidFill>
                          <a:latin typeface="+mj-lt"/>
                        </a:rPr>
                        <a:t>Existing Business Standard Customers</a:t>
                      </a: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nSpc>
                          <a:spcPct val="90000"/>
                        </a:lnSpc>
                        <a:spcBef>
                          <a:spcPts val="1200"/>
                        </a:spcBef>
                      </a:pPr>
                      <a:r>
                        <a:rPr lang="en-US" sz="1200" kern="1200">
                          <a:solidFill>
                            <a:schemeClr val="tx1"/>
                          </a:solidFill>
                          <a:effectLst/>
                          <a:latin typeface="+mn-lt"/>
                          <a:ea typeface="+mn-ea"/>
                          <a:cs typeface="+mn-cs"/>
                        </a:rPr>
                        <a:t>Upsell to Microsoft 365 Business Premium as the best value suite for customers</a:t>
                      </a:r>
                      <a:endParaRPr lang="en-US" sz="1200">
                        <a:solidFill>
                          <a:schemeClr val="tx1"/>
                        </a:solidFill>
                      </a:endParaRP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nSpc>
                          <a:spcPct val="90000"/>
                        </a:lnSpc>
                        <a:spcBef>
                          <a:spcPts val="1200"/>
                        </a:spcBef>
                      </a:pPr>
                      <a:r>
                        <a:rPr lang="en-US" sz="1200" kern="1200">
                          <a:solidFill>
                            <a:schemeClr val="tx1"/>
                          </a:solidFill>
                          <a:effectLst/>
                          <a:latin typeface="+mn-lt"/>
                          <a:ea typeface="+mn-ea"/>
                          <a:cs typeface="+mn-cs"/>
                        </a:rPr>
                        <a:t>Attach Microsoft Defender for Business for endpoint protection</a:t>
                      </a:r>
                      <a:endParaRPr lang="en-US" sz="1200">
                        <a:solidFill>
                          <a:schemeClr val="tx1"/>
                        </a:solidFill>
                      </a:endParaRP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indent="0">
                        <a:lnSpc>
                          <a:spcPct val="90000"/>
                        </a:lnSpc>
                        <a:spcBef>
                          <a:spcPts val="1200"/>
                        </a:spcBef>
                        <a:buFont typeface="Arial" panose="020B0604020202020204" pitchFamily="34" charset="0"/>
                        <a:buNone/>
                      </a:pPr>
                      <a:r>
                        <a:rPr lang="en-US" sz="1200">
                          <a:solidFill>
                            <a:schemeClr val="tx1"/>
                          </a:solidFill>
                        </a:rPr>
                        <a:t>Immediate cost savings through vendor consolidation</a:t>
                      </a:r>
                    </a:p>
                    <a:p>
                      <a:pPr marL="0" indent="0">
                        <a:lnSpc>
                          <a:spcPct val="90000"/>
                        </a:lnSpc>
                        <a:spcBef>
                          <a:spcPts val="1200"/>
                        </a:spcBef>
                        <a:buFont typeface="Arial" panose="020B0604020202020204" pitchFamily="34" charset="0"/>
                        <a:buNone/>
                      </a:pPr>
                      <a:r>
                        <a:rPr lang="en-US" sz="1200">
                          <a:solidFill>
                            <a:schemeClr val="tx1"/>
                          </a:solidFill>
                        </a:rPr>
                        <a:t>Additional security value</a:t>
                      </a:r>
                    </a:p>
                  </a:txBody>
                  <a:tcPr marT="91440" marB="91440">
                    <a:lnL w="12700" cmpd="sng">
                      <a:noFill/>
                    </a:lnL>
                    <a:lnR w="12700" cmpd="sng">
                      <a:noFill/>
                    </a:lnR>
                    <a:lnT w="12700" cap="flat" cmpd="sng" algn="ctr">
                      <a:solidFill>
                        <a:schemeClr val="bg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19426358"/>
                  </a:ext>
                </a:extLst>
              </a:tr>
            </a:tbl>
          </a:graphicData>
        </a:graphic>
      </p:graphicFrame>
      <p:sp>
        <p:nvSpPr>
          <p:cNvPr id="2" name="Title 1">
            <a:extLst>
              <a:ext uri="{FF2B5EF4-FFF2-40B4-BE49-F238E27FC236}">
                <a16:creationId xmlns:a16="http://schemas.microsoft.com/office/drawing/2014/main" id="{610447D2-DA20-E0EA-A4C8-7B7CCD98E6C2}"/>
              </a:ext>
            </a:extLst>
          </p:cNvPr>
          <p:cNvSpPr>
            <a:spLocks noGrp="1"/>
          </p:cNvSpPr>
          <p:nvPr>
            <p:ph type="title"/>
          </p:nvPr>
        </p:nvSpPr>
        <p:spPr/>
        <p:txBody>
          <a:bodyPr/>
          <a:lstStyle/>
          <a:p>
            <a:r>
              <a:rPr lang="en-US"/>
              <a:t>Partner Guidance on the Promotion</a:t>
            </a:r>
          </a:p>
        </p:txBody>
      </p:sp>
      <p:sp>
        <p:nvSpPr>
          <p:cNvPr id="4" name="TextBox 3">
            <a:extLst>
              <a:ext uri="{FF2B5EF4-FFF2-40B4-BE49-F238E27FC236}">
                <a16:creationId xmlns:a16="http://schemas.microsoft.com/office/drawing/2014/main" id="{7FB365CB-57AA-599B-B6C8-4A513354D4B8}"/>
              </a:ext>
            </a:extLst>
          </p:cNvPr>
          <p:cNvSpPr txBox="1"/>
          <p:nvPr/>
        </p:nvSpPr>
        <p:spPr>
          <a:xfrm>
            <a:off x="588263" y="1168975"/>
            <a:ext cx="11189918" cy="1908215"/>
          </a:xfrm>
          <a:prstGeom prst="rect">
            <a:avLst/>
          </a:prstGeom>
          <a:noFill/>
        </p:spPr>
        <p:txBody>
          <a:bodyPr wrap="square" lIns="0">
            <a:spAutoFit/>
          </a:body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t>Partners should use the promo to:</a:t>
            </a: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Expand your pipeline by acquiring new, more speculative customers and adjust licensing as you learn their needs.</a:t>
            </a: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Acquire new customers with promotional pricing. Avoid cancellation risk by offering monthly commitment at annual commitment pricing.</a:t>
            </a:r>
            <a:endParaRPr kumimoji="0" lang="en-US" sz="16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endParaRP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600" b="0" i="0" u="none" strike="noStrike" kern="1200" cap="none" spc="0" normalizeH="0" baseline="0" noProof="0">
                <a:ln>
                  <a:noFill/>
                </a:ln>
                <a:solidFill>
                  <a:srgbClr val="000000"/>
                </a:solidFill>
                <a:effectLst/>
                <a:uLnTx/>
                <a:uFillTx/>
                <a:latin typeface="Segoe UI"/>
                <a:ea typeface="+mn-ea"/>
                <a:cs typeface="+mn-cs"/>
              </a:rPr>
              <a:t>Turn</a:t>
            </a:r>
            <a:r>
              <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every Legacy to NCE transition discussion into an upsell conversation, leading with Security.</a:t>
            </a:r>
          </a:p>
          <a:p>
            <a:pPr marL="401638" marR="0" lvl="0" indent="-342900" algn="l" defTabSz="932742" rtl="0" eaLnBrk="1" fontAlgn="auto" latinLnBrk="0" hangingPunct="1">
              <a:lnSpc>
                <a:spcPct val="100000"/>
              </a:lnSpc>
              <a:spcBef>
                <a:spcPts val="0"/>
              </a:spcBef>
              <a:spcAft>
                <a:spcPts val="600"/>
              </a:spcAft>
              <a:buClrTx/>
              <a:buSzPct val="90000"/>
              <a:buFont typeface="+mj-lt"/>
              <a:buAutoNum type="arabicPeriod"/>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Focus on Business Basic and Business Standard customers on legacy commerce for attach or upsell.</a:t>
            </a:r>
          </a:p>
        </p:txBody>
      </p:sp>
    </p:spTree>
    <p:extLst>
      <p:ext uri="{BB962C8B-B14F-4D97-AF65-F5344CB8AC3E}">
        <p14:creationId xmlns:p14="http://schemas.microsoft.com/office/powerpoint/2010/main" val="127474643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46AA7E4-EF7A-E227-D33B-699DE35E0A3F}"/>
              </a:ext>
            </a:extLst>
          </p:cNvPr>
          <p:cNvSpPr/>
          <p:nvPr/>
        </p:nvSpPr>
        <p:spPr bwMode="auto">
          <a:xfrm>
            <a:off x="0" y="2979173"/>
            <a:ext cx="12192000" cy="390965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3AAEDA13-274E-106B-8618-B7772AB816D6}"/>
              </a:ext>
            </a:extLst>
          </p:cNvPr>
          <p:cNvSpPr>
            <a:spLocks noGrp="1"/>
          </p:cNvSpPr>
          <p:nvPr>
            <p:ph type="title"/>
          </p:nvPr>
        </p:nvSpPr>
        <p:spPr>
          <a:xfrm>
            <a:off x="588263" y="457200"/>
            <a:ext cx="11018520" cy="430887"/>
          </a:xfrm>
        </p:spPr>
        <p:txBody>
          <a:bodyPr/>
          <a:lstStyle/>
          <a:p>
            <a:r>
              <a:rPr lang="en-US" sz="2800"/>
              <a:t>How Microsoft 365 helps Partners to leverage this opportunity</a:t>
            </a:r>
          </a:p>
        </p:txBody>
      </p:sp>
      <p:sp>
        <p:nvSpPr>
          <p:cNvPr id="9" name="TextBox 8">
            <a:extLst>
              <a:ext uri="{FF2B5EF4-FFF2-40B4-BE49-F238E27FC236}">
                <a16:creationId xmlns:a16="http://schemas.microsoft.com/office/drawing/2014/main" id="{010DBA9D-3B27-B9E7-6A84-1509FC2E655E}"/>
              </a:ext>
            </a:extLst>
          </p:cNvPr>
          <p:cNvSpPr txBox="1"/>
          <p:nvPr/>
        </p:nvSpPr>
        <p:spPr>
          <a:xfrm>
            <a:off x="483274" y="4573500"/>
            <a:ext cx="5376149" cy="861774"/>
          </a:xfrm>
          <a:prstGeom prst="rect">
            <a:avLst/>
          </a:prstGeom>
          <a:noFill/>
        </p:spPr>
        <p:txBody>
          <a:bodyPr wrap="square">
            <a:spAutoFit/>
          </a:bodyPr>
          <a:lstStyle>
            <a:defPPr>
              <a:defRPr lang="en-US"/>
            </a:defPPr>
            <a:lvl1pPr>
              <a:defRPr sz="1600">
                <a:gradFill>
                  <a:gsLst>
                    <a:gs pos="2917">
                      <a:schemeClr val="tx1"/>
                    </a:gs>
                    <a:gs pos="30000">
                      <a:schemeClr val="tx1"/>
                    </a:gs>
                  </a:gsLst>
                  <a:lin ang="5400000" scaled="0"/>
                </a:gra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mn-cs"/>
              </a:rPr>
              <a:t>Add Security to Do More with Less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Turn every NCE transition interaction into an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upsell conversation</a:t>
            </a:r>
          </a:p>
        </p:txBody>
      </p:sp>
      <p:sp>
        <p:nvSpPr>
          <p:cNvPr id="13" name="TextBox 12">
            <a:extLst>
              <a:ext uri="{FF2B5EF4-FFF2-40B4-BE49-F238E27FC236}">
                <a16:creationId xmlns:a16="http://schemas.microsoft.com/office/drawing/2014/main" id="{3BE7B91E-ED4E-57A6-08EF-CF09013B6B13}"/>
              </a:ext>
            </a:extLst>
          </p:cNvPr>
          <p:cNvSpPr txBox="1"/>
          <p:nvPr/>
        </p:nvSpPr>
        <p:spPr>
          <a:xfrm>
            <a:off x="588263" y="3429000"/>
            <a:ext cx="4025088" cy="861774"/>
          </a:xfrm>
          <a:prstGeom prst="rect">
            <a:avLst/>
          </a:prstGeom>
          <a:noFill/>
        </p:spPr>
        <p:txBody>
          <a:bodyPr wrap="square" lIns="0">
            <a:spAutoFit/>
          </a:bodyPr>
          <a:lstStyle>
            <a:defPPr>
              <a:defRPr lang="en-US"/>
            </a:defPPr>
            <a:lvl1pPr>
              <a:defRPr sz="1600">
                <a:gradFill>
                  <a:gsLst>
                    <a:gs pos="2917">
                      <a:schemeClr val="tx1"/>
                    </a:gs>
                    <a:gs pos="30000">
                      <a:schemeClr val="tx1"/>
                    </a:gs>
                  </a:gsLst>
                  <a:lin ang="5400000" scaled="0"/>
                </a:gra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0E6FF"/>
                </a:solidFill>
                <a:effectLst/>
                <a:uLnTx/>
                <a:uFillTx/>
                <a:latin typeface="Segoe UI Semibold"/>
                <a:ea typeface="+mn-ea"/>
                <a:cs typeface="+mn-cs"/>
              </a:rPr>
              <a:t>Get Started with Microsoft 365 Today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Acquire new customers to Microsoft with promotional pricing</a:t>
            </a:r>
          </a:p>
        </p:txBody>
      </p:sp>
      <p:sp>
        <p:nvSpPr>
          <p:cNvPr id="4" name="TextBox 3">
            <a:extLst>
              <a:ext uri="{FF2B5EF4-FFF2-40B4-BE49-F238E27FC236}">
                <a16:creationId xmlns:a16="http://schemas.microsoft.com/office/drawing/2014/main" id="{8C1C4087-4986-A6F9-94BF-B830603D6122}"/>
              </a:ext>
            </a:extLst>
          </p:cNvPr>
          <p:cNvSpPr txBox="1"/>
          <p:nvPr/>
        </p:nvSpPr>
        <p:spPr>
          <a:xfrm>
            <a:off x="588263" y="1168975"/>
            <a:ext cx="11189918" cy="1585049"/>
          </a:xfrm>
          <a:prstGeom prst="rect">
            <a:avLst/>
          </a:prstGeom>
          <a:noFill/>
        </p:spPr>
        <p:txBody>
          <a:bodyPr wrap="square" lIns="0">
            <a:spAutoFit/>
          </a:body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Segoe UI" panose="020B0502040204020203" pitchFamily="34" charset="0"/>
              </a:rPr>
              <a:t>Next steps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Use the updated Solution Plays and SMB Workshops to pitch how Microsoft 365 can help SMBs do more with less.</a:t>
            </a:r>
          </a:p>
          <a:p>
            <a:pPr marL="285750" marR="0" lvl="0"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Leverage the new Microsoft 365 offer for SMBs in your customer conversations with new and existing customers! </a:t>
            </a:r>
          </a:p>
          <a:p>
            <a:pPr marL="0" marR="0" lvl="0" indent="0" algn="l" defTabSz="914400" rtl="0" eaLnBrk="1" fontAlgn="auto" latinLnBrk="0" hangingPunct="1">
              <a:lnSpc>
                <a:spcPct val="100000"/>
              </a:lnSpc>
              <a:spcBef>
                <a:spcPts val="0"/>
              </a:spcBef>
              <a:spcAft>
                <a:spcPts val="600"/>
              </a:spcAft>
              <a:buClrTx/>
              <a:buSzTx/>
              <a:buFontTx/>
              <a:buNone/>
              <a:tabLst/>
              <a:defRPr/>
            </a:pPr>
            <a:b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b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For Do More With Less for SMBs assets and the Offer FAQ, check out the </a:t>
            </a: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hlinkClick r:id="rId3"/>
              </a:rPr>
              <a:t>Modern Work SMB Partner Portal</a:t>
            </a: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a:t>
            </a:r>
            <a:r>
              <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 </a:t>
            </a: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6B3C964F-EF49-3F9D-E93B-A353BD05070A}"/>
                  </a:ext>
                </a:extLst>
              </p:cNvPr>
              <p:cNvGraphicFramePr>
                <a:graphicFrameLocks noChangeAspect="1"/>
              </p:cNvGraphicFramePr>
              <p:nvPr>
                <p:extLst>
                  <p:ext uri="{D42A27DB-BD31-4B8C-83A1-F6EECF244321}">
                    <p14:modId xmlns:p14="http://schemas.microsoft.com/office/powerpoint/2010/main" val="2577067893"/>
                  </p:ext>
                </p:extLst>
              </p:nvPr>
            </p:nvGraphicFramePr>
            <p:xfrm>
              <a:off x="5755342" y="3347836"/>
              <a:ext cx="5554236" cy="3124258"/>
            </p:xfrm>
            <a:graphic>
              <a:graphicData uri="http://schemas.microsoft.com/office/powerpoint/2016/slidezoom">
                <pslz:sldZm>
                  <pslz:sldZmObj sldId="2147478741" cId="4021326212">
                    <pslz:zmPr id="{C27C69CC-8B85-456B-8B28-FA092D343A77}" returnToParent="0" transitionDur="1000">
                      <p166:blipFill xmlns:p166="http://schemas.microsoft.com/office/powerpoint/2016/6/main">
                        <a:blip r:embed="rId4"/>
                        <a:stretch>
                          <a:fillRect/>
                        </a:stretch>
                      </p166:blipFill>
                      <p166:spPr xmlns:p166="http://schemas.microsoft.com/office/powerpoint/2016/6/main">
                        <a:xfrm>
                          <a:off x="0" y="0"/>
                          <a:ext cx="5554236" cy="3124258"/>
                        </a:xfrm>
                        <a:prstGeom prst="rect">
                          <a:avLst/>
                        </a:prstGeom>
                        <a:ln w="3175">
                          <a:solidFill>
                            <a:prstClr val="ltGray"/>
                          </a:solidFill>
                        </a:ln>
                      </p166:spPr>
                    </pslz:zmPr>
                  </pslz:sldZmObj>
                </pslz:sldZm>
              </a:graphicData>
            </a:graphic>
          </p:graphicFrame>
        </mc:Choice>
        <mc:Fallback xmlns="">
          <p:pic>
            <p:nvPicPr>
              <p:cNvPr id="6" name="Slide Zoom 5">
                <a:hlinkClick r:id="rId5" action="ppaction://hlinksldjump"/>
                <a:extLst>
                  <a:ext uri="{FF2B5EF4-FFF2-40B4-BE49-F238E27FC236}">
                    <a16:creationId xmlns:a16="http://schemas.microsoft.com/office/drawing/2014/main" id="{6B3C964F-EF49-3F9D-E93B-A353BD05070A}"/>
                  </a:ext>
                </a:extLst>
              </p:cNvPr>
              <p:cNvPicPr>
                <a:picLocks noGrp="1" noRot="1" noChangeAspect="1" noMove="1" noResize="1" noEditPoints="1" noAdjustHandles="1" noChangeArrowheads="1" noChangeShapeType="1"/>
              </p:cNvPicPr>
              <p:nvPr/>
            </p:nvPicPr>
            <p:blipFill>
              <a:blip r:embed="rId6"/>
              <a:stretch>
                <a:fillRect/>
              </a:stretch>
            </p:blipFill>
            <p:spPr>
              <a:xfrm>
                <a:off x="5755342" y="3347836"/>
                <a:ext cx="5554236" cy="3124258"/>
              </a:xfrm>
              <a:prstGeom prst="rect">
                <a:avLst/>
              </a:prstGeom>
              <a:ln w="3175">
                <a:solidFill>
                  <a:prstClr val="ltGray"/>
                </a:solidFill>
              </a:ln>
            </p:spPr>
          </p:pic>
        </mc:Fallback>
      </mc:AlternateContent>
    </p:spTree>
    <p:extLst>
      <p:ext uri="{BB962C8B-B14F-4D97-AF65-F5344CB8AC3E}">
        <p14:creationId xmlns:p14="http://schemas.microsoft.com/office/powerpoint/2010/main" val="3072703414"/>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E3F43-2914-B752-9F6D-DC858DA74FED}"/>
              </a:ext>
            </a:extLst>
          </p:cNvPr>
          <p:cNvSpPr>
            <a:spLocks noGrp="1"/>
          </p:cNvSpPr>
          <p:nvPr>
            <p:ph type="title"/>
          </p:nvPr>
        </p:nvSpPr>
        <p:spPr/>
        <p:txBody>
          <a:bodyPr/>
          <a:lstStyle/>
          <a:p>
            <a:r>
              <a:rPr lang="en-US"/>
              <a:t>Resources for Partners </a:t>
            </a:r>
          </a:p>
        </p:txBody>
      </p:sp>
      <p:sp>
        <p:nvSpPr>
          <p:cNvPr id="5" name="TextBox 4">
            <a:extLst>
              <a:ext uri="{FF2B5EF4-FFF2-40B4-BE49-F238E27FC236}">
                <a16:creationId xmlns:a16="http://schemas.microsoft.com/office/drawing/2014/main" id="{C23FF4E6-4CCF-EE0C-F55A-3223AEC24FFA}"/>
              </a:ext>
            </a:extLst>
          </p:cNvPr>
          <p:cNvSpPr txBox="1"/>
          <p:nvPr/>
        </p:nvSpPr>
        <p:spPr>
          <a:xfrm>
            <a:off x="588262" y="2005533"/>
            <a:ext cx="3831337" cy="1692771"/>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Do More with Less in SMB</a:t>
            </a:r>
            <a:b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br>
            <a:endPar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3A3A3A"/>
                </a:solidFill>
                <a:latin typeface="Segoe UI" panose="020B0502040204020203" pitchFamily="34" charset="0"/>
              </a:rPr>
              <a:t>at SMB Partner Portal </a:t>
            </a:r>
            <a:r>
              <a:rPr lang="en-US" sz="1200">
                <a:solidFill>
                  <a:srgbClr val="3A3A3A"/>
                </a:solidFill>
                <a:latin typeface="Segoe UI" panose="020B0502040204020203" pitchFamily="34" charset="0"/>
                <a:hlinkClick r:id="rId3"/>
              </a:rPr>
              <a:t>https://aka.ms/SMBPartnerPortal</a:t>
            </a:r>
            <a:r>
              <a:rPr lang="en-US" sz="1200">
                <a:solidFill>
                  <a:srgbClr val="3A3A3A"/>
                </a:solidFill>
                <a:latin typeface="Segoe UI" panose="020B0502040204020203"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Modern Work SMB Workshops</a:t>
            </a:r>
            <a:b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br>
            <a:endPar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SMB Workshops at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aka.ms/</a:t>
            </a:r>
            <a:r>
              <a:rPr kumimoji="0" lang="en-US" sz="1200" b="0" i="0" u="sng" strike="noStrike" kern="1200" cap="none" spc="0" normalizeH="0" baseline="0" noProof="0" err="1">
                <a:ln>
                  <a:noFill/>
                </a:ln>
                <a:solidFill>
                  <a:srgbClr val="0078D4"/>
                </a:solidFill>
                <a:effectLst/>
                <a:uLnTx/>
                <a:uFillTx/>
                <a:latin typeface="Segoe UI" panose="020B0502040204020203" pitchFamily="34" charset="0"/>
                <a:ea typeface="+mn-ea"/>
                <a:cs typeface="+mn-cs"/>
              </a:rPr>
              <a:t>SMBWorkshopPartnerPortal</a:t>
            </a:r>
            <a:endPar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endParaRPr>
          </a:p>
        </p:txBody>
      </p:sp>
      <p:sp>
        <p:nvSpPr>
          <p:cNvPr id="7" name="TextBox 6">
            <a:extLst>
              <a:ext uri="{FF2B5EF4-FFF2-40B4-BE49-F238E27FC236}">
                <a16:creationId xmlns:a16="http://schemas.microsoft.com/office/drawing/2014/main" id="{B43F27BD-3BAD-ACF2-C86A-24F73B75CBE9}"/>
              </a:ext>
            </a:extLst>
          </p:cNvPr>
          <p:cNvSpPr txBox="1"/>
          <p:nvPr/>
        </p:nvSpPr>
        <p:spPr>
          <a:xfrm>
            <a:off x="588263" y="3909710"/>
            <a:ext cx="3542302" cy="2046714"/>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Microsoft 365 Business Premium</a:t>
            </a:r>
            <a:endParaRPr kumimoji="0" lang="en-US" sz="1600" b="0" i="0" u="none" strike="noStrike" kern="1200" cap="none" spc="0" normalizeH="0" baseline="0" noProof="0">
              <a:ln>
                <a:noFill/>
              </a:ln>
              <a:solidFill>
                <a:srgbClr val="3A3A3A"/>
              </a:solidFill>
              <a:effectLst/>
              <a:uLnTx/>
              <a:uFillTx/>
              <a:latin typeface="Segoe UI Semibold"/>
              <a:ea typeface="+mn-ea"/>
              <a:cs typeface="+mn-cs"/>
            </a:endParaRPr>
          </a:p>
          <a:p>
            <a:pPr marL="0" marR="0" lvl="0" indent="0" algn="l" defTabSz="914400" rtl="0" eaLnBrk="1" fontAlgn="auto" latinLnBrk="0" hangingPunct="1">
              <a:lnSpc>
                <a:spcPct val="100000"/>
              </a:lnSpc>
              <a:spcBef>
                <a:spcPts val="600"/>
              </a:spcBef>
              <a:spcAft>
                <a:spcPts val="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Partner Playbook at </a:t>
            </a: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hlinkClick r:id="rId4"/>
              </a:rPr>
              <a:t>aka.ms/M365BPPartnerPlaybook</a:t>
            </a: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 </a:t>
            </a:r>
            <a:b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br>
            <a:endPar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endParaRPr>
          </a:p>
          <a:p>
            <a:pPr marL="0" marR="0" lvl="0" indent="0" algn="l" defTabSz="914400" rtl="0" eaLnBrk="1" fontAlgn="base" latinLnBrk="0" hangingPunct="1">
              <a:lnSpc>
                <a:spcPct val="100000"/>
              </a:lnSpc>
              <a:spcBef>
                <a:spcPts val="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Semibold"/>
                <a:ea typeface="+mn-ea"/>
                <a:cs typeface="+mn-cs"/>
              </a:rPr>
              <a:t>Upsell Guides: </a:t>
            </a:r>
          </a:p>
          <a:p>
            <a:pPr marL="342900" marR="0" lvl="0" indent="-290513" algn="l" defTabSz="914400" rtl="0" eaLnBrk="1" fontAlgn="base"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1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Exchange Online to Business Premium</a:t>
            </a:r>
            <a:r>
              <a:rPr kumimoji="0" lang="en-US" sz="1100" b="0" i="0" u="none" strike="noStrike" kern="1200" cap="none" spc="0" normalizeH="0" baseline="0" noProof="0">
                <a:ln>
                  <a:noFill/>
                </a:ln>
                <a:solidFill>
                  <a:srgbClr val="0078D4"/>
                </a:solidFill>
                <a:effectLst/>
                <a:uLnTx/>
                <a:uFillTx/>
                <a:latin typeface="Segoe UI" panose="020B0502040204020203" pitchFamily="34" charset="0"/>
                <a:ea typeface="+mn-ea"/>
                <a:cs typeface="+mn-cs"/>
              </a:rPr>
              <a:t>​</a:t>
            </a:r>
          </a:p>
          <a:p>
            <a:pPr marL="342900" marR="0" lvl="0" indent="-290513" algn="l" defTabSz="914400" rtl="0" eaLnBrk="1" fontAlgn="base"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1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Business Standard to Business Premium </a:t>
            </a:r>
            <a:r>
              <a:rPr kumimoji="0" lang="en-US" sz="1100" b="0" i="0" u="none" strike="noStrike" kern="1200" cap="none" spc="0" normalizeH="0" baseline="0" noProof="0">
                <a:ln>
                  <a:noFill/>
                </a:ln>
                <a:solidFill>
                  <a:srgbClr val="0078D4"/>
                </a:solidFill>
                <a:effectLst/>
                <a:uLnTx/>
                <a:uFillTx/>
                <a:latin typeface="Segoe UI" panose="020B0502040204020203" pitchFamily="34" charset="0"/>
                <a:ea typeface="+mn-ea"/>
                <a:cs typeface="+mn-cs"/>
              </a:rPr>
              <a:t>​</a:t>
            </a:r>
          </a:p>
          <a:p>
            <a:pPr marL="342900" marR="0" lvl="0" indent="-290513" algn="l" defTabSz="914400" rtl="0" eaLnBrk="1" fontAlgn="base" latinLnBrk="0" hangingPunct="1">
              <a:lnSpc>
                <a:spcPct val="100000"/>
              </a:lnSpc>
              <a:spcBef>
                <a:spcPts val="600"/>
              </a:spcBef>
              <a:spcAft>
                <a:spcPts val="600"/>
              </a:spcAft>
              <a:buClrTx/>
              <a:buSzPct val="90000"/>
              <a:buFont typeface="Arial" panose="020B0604020202020204" pitchFamily="34" charset="0"/>
              <a:buChar char="•"/>
              <a:tabLst/>
              <a:defRPr/>
            </a:pPr>
            <a:r>
              <a:rPr kumimoji="0" lang="en-US" sz="11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Business Basic to Business Premium</a:t>
            </a:r>
            <a:endParaRPr kumimoji="0" lang="en-US" sz="1100" b="0" i="0" u="none" strike="noStrike" kern="1200" cap="none" spc="0" normalizeH="0" baseline="0" noProof="0">
              <a:ln>
                <a:noFill/>
              </a:ln>
              <a:solidFill>
                <a:srgbClr val="0078D4"/>
              </a:solidFill>
              <a:effectLst/>
              <a:uLnTx/>
              <a:uFillTx/>
              <a:latin typeface="Segoe UI"/>
              <a:ea typeface="+mn-ea"/>
              <a:cs typeface="+mn-cs"/>
            </a:endParaRPr>
          </a:p>
        </p:txBody>
      </p:sp>
      <p:sp>
        <p:nvSpPr>
          <p:cNvPr id="9" name="TextBox 8">
            <a:extLst>
              <a:ext uri="{FF2B5EF4-FFF2-40B4-BE49-F238E27FC236}">
                <a16:creationId xmlns:a16="http://schemas.microsoft.com/office/drawing/2014/main" id="{CFDD7780-82E8-C945-9650-6F124A610C23}"/>
              </a:ext>
            </a:extLst>
          </p:cNvPr>
          <p:cNvSpPr txBox="1"/>
          <p:nvPr/>
        </p:nvSpPr>
        <p:spPr>
          <a:xfrm>
            <a:off x="4550978" y="2005532"/>
            <a:ext cx="3578774" cy="27546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Microsoft Defender for Business</a:t>
            </a:r>
          </a:p>
          <a:p>
            <a:pPr marL="0" marR="0" lvl="0" indent="0" algn="l" defTabSz="914400" rtl="0" eaLnBrk="1" fontAlgn="base"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Partner BOM at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aka.ms/</a:t>
            </a:r>
            <a:r>
              <a:rPr kumimoji="0" lang="en-US" sz="1200" b="0" i="0" u="sng" strike="noStrike" kern="1200" cap="none" spc="0" normalizeH="0" baseline="0" noProof="0" err="1">
                <a:ln>
                  <a:noFill/>
                </a:ln>
                <a:solidFill>
                  <a:srgbClr val="0078D4"/>
                </a:solidFill>
                <a:effectLst/>
                <a:uLnTx/>
                <a:uFillTx/>
                <a:latin typeface="Segoe UI" panose="020B0502040204020203" pitchFamily="34" charset="0"/>
                <a:ea typeface="+mn-ea"/>
                <a:cs typeface="+mn-cs"/>
              </a:rPr>
              <a:t>MDBPartnerKit</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 </a:t>
            </a:r>
          </a:p>
          <a:p>
            <a:pPr marL="0" marR="0" lvl="0" indent="0" algn="l" defTabSz="914400" rtl="0" eaLnBrk="1" fontAlgn="base"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Live and on-demand partner webinars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hlinkClick r:id="rId5"/>
              </a:rPr>
              <a:t>https://aka.ms/M365MDBSeries</a:t>
            </a:r>
            <a:b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br>
            <a:b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br>
            <a:endPar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Windows 365</a:t>
            </a:r>
          </a:p>
          <a:p>
            <a:pPr marL="0" marR="0" lvl="0" indent="0" algn="l" defTabSz="914400" rtl="0" eaLnBrk="1" fontAlgn="auto"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Partner BOM at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hlinkClick r:id="rId6"/>
              </a:rPr>
              <a:t>aka.ms/W365Partnerportal</a:t>
            </a:r>
            <a:endPar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Windows 365 CSP Trial program FAQ at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aka.ms/w365partnerfaq</a:t>
            </a:r>
          </a:p>
        </p:txBody>
      </p:sp>
      <p:sp>
        <p:nvSpPr>
          <p:cNvPr id="11" name="TextBox 10">
            <a:extLst>
              <a:ext uri="{FF2B5EF4-FFF2-40B4-BE49-F238E27FC236}">
                <a16:creationId xmlns:a16="http://schemas.microsoft.com/office/drawing/2014/main" id="{BFF1F246-49F7-F008-9AE3-F81FC824305F}"/>
              </a:ext>
            </a:extLst>
          </p:cNvPr>
          <p:cNvSpPr txBox="1"/>
          <p:nvPr/>
        </p:nvSpPr>
        <p:spPr>
          <a:xfrm>
            <a:off x="8550166" y="2005532"/>
            <a:ext cx="3053570" cy="27546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Teams Essentials</a:t>
            </a:r>
          </a:p>
          <a:p>
            <a:pPr marL="0" marR="0" lvl="0" indent="0" algn="l" defTabSz="914400" rtl="0" eaLnBrk="1" fontAlgn="auto"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Partner BOM at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t>aka.ms/</a:t>
            </a:r>
            <a:r>
              <a:rPr kumimoji="0" lang="en-US" sz="1200" b="0" i="0" u="sng" strike="noStrike" kern="1200" cap="none" spc="0" normalizeH="0" baseline="0" noProof="0" err="1">
                <a:ln>
                  <a:noFill/>
                </a:ln>
                <a:solidFill>
                  <a:srgbClr val="0078D4"/>
                </a:solidFill>
                <a:effectLst/>
                <a:uLnTx/>
                <a:uFillTx/>
                <a:latin typeface="Segoe UI" panose="020B0502040204020203" pitchFamily="34" charset="0"/>
                <a:ea typeface="+mn-ea"/>
                <a:cs typeface="+mn-cs"/>
              </a:rPr>
              <a:t>TEPartner</a:t>
            </a:r>
            <a:endPar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Teams Essentials </a:t>
            </a:r>
            <a: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hlinkClick r:id="rId7"/>
              </a:rPr>
              <a:t>Profitability Calculator</a:t>
            </a:r>
            <a:b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br>
            <a:br>
              <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rPr>
            </a:br>
            <a:endParaRPr kumimoji="0" lang="en-US" sz="1200" b="0" i="0" u="sng" strike="noStrike" kern="1200" cap="none" spc="0" normalizeH="0" baseline="0" noProof="0">
              <a:ln>
                <a:noFill/>
              </a:ln>
              <a:solidFill>
                <a:srgbClr val="0078D4"/>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Forrester </a:t>
            </a:r>
          </a:p>
          <a:p>
            <a:pPr marL="0" marR="0" lvl="0" indent="0" algn="l" defTabSz="914400" rtl="0" eaLnBrk="1" fontAlgn="auto"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Modern Work Total Economic Impact Study: </a:t>
            </a:r>
            <a:r>
              <a:rPr kumimoji="0" lang="en-US" sz="1200" b="0" i="0" u="none" strike="noStrike" kern="1200" cap="none" spc="0" normalizeH="0" baseline="0" noProof="0">
                <a:ln>
                  <a:noFill/>
                </a:ln>
                <a:solidFill>
                  <a:srgbClr val="7F85F5"/>
                </a:solidFill>
                <a:effectLst/>
                <a:uLnTx/>
                <a:uFillTx/>
                <a:latin typeface="-apple-system"/>
                <a:ea typeface="+mn-ea"/>
                <a:cs typeface="+mn-cs"/>
                <a:hlinkClick r:id="rId8" tooltip="https://nam06.safelinks.protection.outlook.com/?url=http%3A%2F%2Faka.ms%2FMWForresterTEI2022&amp;data=05%7C01%7Cthabel%40microsoft.com%7C39fefdbd87b24534a2a608da68f803d4%7C72f988bf86f141af91ab2d7cd011db47%7C1%7C0%7C637937711705802361%7CUnknown%7CTWFpbGZsb3d8eyJWIjoiMC4wLjAwMDAiLCJQIjoiV2luMzIiLCJBTiI6Ik1haWwiLCJXVCI6Mn0%3D%7C3000%7C%7C%7C&amp;sdata=JDk0LN5xjNFPWfRknC8vjNEDQstJSInHPPhN9ZGFALg%3D&amp;reserved=0"/>
              </a:rPr>
              <a:t>aka.ms/MWForresterTEI2022</a:t>
            </a:r>
            <a:endParaRPr kumimoji="0" lang="en-US" sz="1200" b="0" i="0" u="none" strike="noStrike" kern="1200" cap="none" spc="0" normalizeH="0" baseline="0" noProof="0">
              <a:ln>
                <a:noFill/>
              </a:ln>
              <a:solidFill>
                <a:srgbClr val="7F85F5"/>
              </a:solidFill>
              <a:effectLst/>
              <a:uLnTx/>
              <a:uFillTx/>
              <a:latin typeface="-apple-system"/>
              <a:ea typeface="+mn-ea"/>
              <a:cs typeface="+mn-cs"/>
            </a:endParaRPr>
          </a:p>
          <a:p>
            <a:pPr marL="0" marR="0" lvl="0" indent="0" algn="l" defTabSz="914400" rtl="0" eaLnBrk="1" fontAlgn="auto" latinLnBrk="0" hangingPunct="1">
              <a:lnSpc>
                <a:spcPct val="100000"/>
              </a:lnSpc>
              <a:spcBef>
                <a:spcPts val="600"/>
              </a:spcBef>
              <a:spcAft>
                <a:spcPts val="600"/>
              </a:spcAft>
              <a:buClr>
                <a:srgbClr val="0078D4"/>
              </a:buClr>
              <a:buSzPct val="90000"/>
              <a:buFontTx/>
              <a:buNone/>
              <a:tabLst/>
              <a:defRPr/>
            </a:pP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Modern Work SMB Thought Leadership Paper: </a:t>
            </a: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hlinkClick r:id="rId9"/>
              </a:rPr>
              <a:t>https://aka.ms/FY23SMBTLP</a:t>
            </a:r>
            <a:r>
              <a:rPr kumimoji="0" lang="en-US" sz="1200" b="0" i="0" u="none" strike="noStrike" kern="1200" cap="none" spc="0" normalizeH="0" baseline="0" noProof="0">
                <a:ln>
                  <a:noFill/>
                </a:ln>
                <a:solidFill>
                  <a:srgbClr val="3A3A3A"/>
                </a:solidFill>
                <a:effectLst/>
                <a:uLnTx/>
                <a:uFillTx/>
                <a:latin typeface="Segoe UI" panose="020B0502040204020203" pitchFamily="34" charset="0"/>
                <a:ea typeface="+mn-ea"/>
                <a:cs typeface="+mn-cs"/>
              </a:rPr>
              <a:t> </a:t>
            </a: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cxnSp>
        <p:nvCxnSpPr>
          <p:cNvPr id="4" name="Straight Connector 3">
            <a:extLst>
              <a:ext uri="{FF2B5EF4-FFF2-40B4-BE49-F238E27FC236}">
                <a16:creationId xmlns:a16="http://schemas.microsoft.com/office/drawing/2014/main" id="{EF7790D0-A679-39F3-66DA-C148732133BC}"/>
              </a:ext>
              <a:ext uri="{C183D7F6-B498-43B3-948B-1728B52AA6E4}">
                <adec:decorative xmlns:adec="http://schemas.microsoft.com/office/drawing/2017/decorative" val="1"/>
              </a:ext>
            </a:extLst>
          </p:cNvPr>
          <p:cNvCxnSpPr/>
          <p:nvPr/>
        </p:nvCxnSpPr>
        <p:spPr>
          <a:xfrm>
            <a:off x="588263" y="1411111"/>
            <a:ext cx="11015473" cy="0"/>
          </a:xfrm>
          <a:prstGeom prst="line">
            <a:avLst/>
          </a:prstGeom>
          <a:ln w="19050">
            <a:solidFill>
              <a:schemeClr val="bg1">
                <a:lumMod val="6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85752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BICLP4mJ40FeCDLx25jfMQ"/>
</p:tagLst>
</file>

<file path=ppt/theme/theme1.xml><?xml version="1.0" encoding="utf-8"?>
<a:theme xmlns:a="http://schemas.openxmlformats.org/drawingml/2006/main" name="1_White Template">
  <a:themeElements>
    <a:clrScheme name="Custom 33">
      <a:dk1>
        <a:srgbClr val="000000"/>
      </a:dk1>
      <a:lt1>
        <a:srgbClr val="FFFFFF"/>
      </a:lt1>
      <a:dk2>
        <a:srgbClr val="243A5E"/>
      </a:dk2>
      <a:lt2>
        <a:srgbClr val="E6E6E6"/>
      </a:lt2>
      <a:accent1>
        <a:srgbClr val="0078D4"/>
      </a:accent1>
      <a:accent2>
        <a:srgbClr val="243A5E"/>
      </a:accent2>
      <a:accent3>
        <a:srgbClr val="50E6FF"/>
      </a:accent3>
      <a:accent4>
        <a:srgbClr val="274B47"/>
      </a:accent4>
      <a:accent5>
        <a:srgbClr val="3B2E58"/>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3291_June2019_CorporateStrategy_Template_2019_Cool_ReadyToUse_Final" id="{724A0421-D3A6-4986-BBF4-21E52F9F9828}" vid="{3B241741-D921-46D0-A42F-E55E8D816862}"/>
    </a:ext>
  </a:extLst>
</a:theme>
</file>

<file path=ppt/theme/theme2.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_accessible.pptx" id="{F774D412-23CA-4DC2-A47D-10DB1AEE7EFE}" vid="{952AAC9D-4DB4-450B-87D3-2D1B406135CB}"/>
    </a:ext>
  </a:extLst>
</a:theme>
</file>

<file path=ppt/theme/theme3.xml><?xml version="1.0" encoding="utf-8"?>
<a:theme xmlns:a="http://schemas.openxmlformats.org/drawingml/2006/main" name="3_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4.xml><?xml version="1.0" encoding="utf-8"?>
<a:theme xmlns:a="http://schemas.openxmlformats.org/drawingml/2006/main" name="4_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544727EA5848548A5FBE28FAF885DFD" ma:contentTypeVersion="8" ma:contentTypeDescription="Create a new document." ma:contentTypeScope="" ma:versionID="99befe49ad97cf8dc34a58860a4071b9">
  <xsd:schema xmlns:xsd="http://www.w3.org/2001/XMLSchema" xmlns:xs="http://www.w3.org/2001/XMLSchema" xmlns:p="http://schemas.microsoft.com/office/2006/metadata/properties" xmlns:ns1="http://schemas.microsoft.com/sharepoint/v3" xmlns:ns2="d920aead-ea4e-4f95-9b69-985a753a4094" xmlns:ns3="02f84e0c-6f76-43b3-97af-a75d2b66ed0e" targetNamespace="http://schemas.microsoft.com/office/2006/metadata/properties" ma:root="true" ma:fieldsID="d86034dd75ac2213cf685597cbd02857" ns1:_="" ns2:_="" ns3:_="">
    <xsd:import namespace="http://schemas.microsoft.com/sharepoint/v3"/>
    <xsd:import namespace="d920aead-ea4e-4f95-9b69-985a753a4094"/>
    <xsd:import namespace="02f84e0c-6f76-43b3-97af-a75d2b66ed0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920aead-ea4e-4f95-9b69-985a753a40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2f84e0c-6f76-43b3-97af-a75d2b66ed0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38528-9D24-49A7-A1A2-D9B088F53031}">
  <ds:schemaRefs>
    <ds:schemaRef ds:uri="http://schemas.microsoft.com/sharepoint/v3/contenttype/forms"/>
  </ds:schemaRefs>
</ds:datastoreItem>
</file>

<file path=customXml/itemProps2.xml><?xml version="1.0" encoding="utf-8"?>
<ds:datastoreItem xmlns:ds="http://schemas.openxmlformats.org/officeDocument/2006/customXml" ds:itemID="{9C9680F4-BB1F-422E-A80A-39027839BBBD}">
  <ds:schemaRefs>
    <ds:schemaRef ds:uri="http://schemas.microsoft.com/office/2006/metadata/properties"/>
    <ds:schemaRef ds:uri="http://schemas.microsoft.com/office/infopath/2007/PartnerControls"/>
    <ds:schemaRef ds:uri="d6c6fe15-d90d-49f3-937e-f318cae44aa6"/>
    <ds:schemaRef ds:uri="230e9df3-be65-4c73-a93b-d1236ebd677e"/>
    <ds:schemaRef ds:uri="http://schemas.microsoft.com/sharepoint/v3"/>
  </ds:schemaRefs>
</ds:datastoreItem>
</file>

<file path=customXml/itemProps3.xml><?xml version="1.0" encoding="utf-8"?>
<ds:datastoreItem xmlns:ds="http://schemas.openxmlformats.org/officeDocument/2006/customXml" ds:itemID="{0DEAD290-DCD3-4871-BE34-5B517EC374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920aead-ea4e-4f95-9b69-985a753a4094"/>
    <ds:schemaRef ds:uri="02f84e0c-6f76-43b3-97af-a75d2b66ed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9918f6-a69b-4b33-8166-e897131f7346}" enabled="0" method="" siteId="{e79918f6-a69b-4b33-8166-e897131f7346}" removed="1"/>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3783</Words>
  <Application>Microsoft Office PowerPoint</Application>
  <PresentationFormat>Widescreen</PresentationFormat>
  <Paragraphs>325</Paragraphs>
  <Slides>16</Slides>
  <Notes>16</Notes>
  <HiddenSlides>0</HiddenSlides>
  <MMClips>0</MMClips>
  <ScaleCrop>false</ScaleCrop>
  <HeadingPairs>
    <vt:vector size="4" baseType="variant">
      <vt:variant>
        <vt:lpstr>Theme</vt:lpstr>
      </vt:variant>
      <vt:variant>
        <vt:i4>4</vt:i4>
      </vt:variant>
      <vt:variant>
        <vt:lpstr>Slide Titles</vt:lpstr>
      </vt:variant>
      <vt:variant>
        <vt:i4>16</vt:i4>
      </vt:variant>
    </vt:vector>
  </HeadingPairs>
  <TitlesOfParts>
    <vt:vector size="20" baseType="lpstr">
      <vt:lpstr>1_White Template</vt:lpstr>
      <vt:lpstr>White Template</vt:lpstr>
      <vt:lpstr>3_White Template</vt:lpstr>
      <vt:lpstr>4_White Template</vt:lpstr>
      <vt:lpstr>Do More with Less in SMB</vt:lpstr>
      <vt:lpstr>Microsoft 365 empowers you to Do More with Less</vt:lpstr>
      <vt:lpstr>Microsoft 365 delivers on the power of the cloud</vt:lpstr>
      <vt:lpstr>What do SMBs want?</vt:lpstr>
      <vt:lpstr>Opportunity to help SMBs do more with less</vt:lpstr>
      <vt:lpstr>From Best-in-Class to Best-in-Suite solutions for SMBs</vt:lpstr>
      <vt:lpstr>Microsoft 365 suites offerings for small &amp; medium businesses</vt:lpstr>
      <vt:lpstr>Standalones as pathways to upsell customers to Microsoft 365 suite</vt:lpstr>
      <vt:lpstr>Help SMBs get more out of their tech investments</vt:lpstr>
      <vt:lpstr>Managed services opportunity with vendor consolidation </vt:lpstr>
      <vt:lpstr>Microsoft 365 Business Premium Your path to increasing profitability</vt:lpstr>
      <vt:lpstr>How to pitch Do More with Less to SMBs</vt:lpstr>
      <vt:lpstr>Get More with Microsoft 365 Today</vt:lpstr>
      <vt:lpstr>Partner Guidance on the Promotion</vt:lpstr>
      <vt:lpstr>How Microsoft 365 helps Partners to leverage this opportunity</vt:lpstr>
      <vt:lpstr>Resources for Partners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More with Less in SMB</dc:title>
  <dc:creator>Chanda Wong</dc:creator>
  <cp:lastModifiedBy>Levent Can</cp:lastModifiedBy>
  <cp:revision>3</cp:revision>
  <dcterms:created xsi:type="dcterms:W3CDTF">2022-08-23T16:13:28Z</dcterms:created>
  <dcterms:modified xsi:type="dcterms:W3CDTF">2022-11-28T19:45:38Z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0x0101005544727EA5848548A5FBE28FAF885DFD</vt:lpwstr>
  </property>
  <property fmtid="{D5CDD505-2E9C-101B-9397-08002B2CF9AE}" pid="3" name="MediaServiceImageTags">
    <vt:lpwstr/>
  </property>
</Properties>
</file>