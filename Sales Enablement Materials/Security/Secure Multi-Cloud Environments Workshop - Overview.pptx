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xml" ContentType="application/inkml+xml"/>
  <Override PartName="/ppt/notesSlides/notesSlide18.xml" ContentType="application/vnd.openxmlformats-officedocument.presentationml.notesSlide+xml"/>
  <Override PartName="/ppt/ink/ink2.xml" ContentType="application/inkml+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5256" r:id="rId4"/>
  </p:sldMasterIdLst>
  <p:notesMasterIdLst>
    <p:notesMasterId r:id="rId34"/>
  </p:notesMasterIdLst>
  <p:handoutMasterIdLst>
    <p:handoutMasterId r:id="rId35"/>
  </p:handoutMasterIdLst>
  <p:sldIdLst>
    <p:sldId id="2076138105" r:id="rId5"/>
    <p:sldId id="2147470451" r:id="rId6"/>
    <p:sldId id="2147470474" r:id="rId7"/>
    <p:sldId id="258" r:id="rId8"/>
    <p:sldId id="2147470556" r:id="rId9"/>
    <p:sldId id="2147470621" r:id="rId10"/>
    <p:sldId id="2147470615" r:id="rId11"/>
    <p:sldId id="2147470562" r:id="rId12"/>
    <p:sldId id="2147470563" r:id="rId13"/>
    <p:sldId id="2147470614" r:id="rId14"/>
    <p:sldId id="2147470566" r:id="rId15"/>
    <p:sldId id="2147470567" r:id="rId16"/>
    <p:sldId id="2147470568" r:id="rId17"/>
    <p:sldId id="2147470601" r:id="rId18"/>
    <p:sldId id="2147470602" r:id="rId19"/>
    <p:sldId id="2147470569" r:id="rId20"/>
    <p:sldId id="2147470605" r:id="rId21"/>
    <p:sldId id="2147470571" r:id="rId22"/>
    <p:sldId id="2147470572" r:id="rId23"/>
    <p:sldId id="2147470622" r:id="rId24"/>
    <p:sldId id="2147470608" r:id="rId25"/>
    <p:sldId id="2147470616" r:id="rId26"/>
    <p:sldId id="2147470617" r:id="rId27"/>
    <p:sldId id="2147470618" r:id="rId28"/>
    <p:sldId id="2147470619" r:id="rId29"/>
    <p:sldId id="2147470620" r:id="rId30"/>
    <p:sldId id="2147470609" r:id="rId31"/>
    <p:sldId id="2147470613" r:id="rId32"/>
    <p:sldId id="2076137542" r:id="rId33"/>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A060433-43C3-47EA-8245-0B67355ECC91}">
          <p14:sldIdLst>
            <p14:sldId id="2076138105"/>
          </p14:sldIdLst>
        </p14:section>
        <p14:section name="Microsoft Defender for Cloud - Protect your multi-cloud and hybrid environments" id="{4CCBDC35-1652-4C33-A72E-D97FB52B6D55}">
          <p14:sldIdLst>
            <p14:sldId id="2147470451"/>
            <p14:sldId id="2147470474"/>
            <p14:sldId id="258"/>
            <p14:sldId id="2147470556"/>
            <p14:sldId id="2147470621"/>
            <p14:sldId id="2147470615"/>
            <p14:sldId id="2147470562"/>
            <p14:sldId id="2147470563"/>
            <p14:sldId id="2147470614"/>
            <p14:sldId id="2147470566"/>
            <p14:sldId id="2147470567"/>
            <p14:sldId id="2147470568"/>
            <p14:sldId id="2147470601"/>
            <p14:sldId id="2147470602"/>
            <p14:sldId id="2147470569"/>
            <p14:sldId id="2147470605"/>
            <p14:sldId id="2147470571"/>
            <p14:sldId id="2147470572"/>
            <p14:sldId id="2147470622"/>
            <p14:sldId id="2147470608"/>
            <p14:sldId id="2147470616"/>
            <p14:sldId id="2147470617"/>
            <p14:sldId id="2147470618"/>
            <p14:sldId id="2147470619"/>
            <p14:sldId id="2147470620"/>
            <p14:sldId id="2147470609"/>
            <p14:sldId id="2147470613"/>
            <p14:sldId id="2076137542"/>
          </p14:sldIdLst>
        </p14:section>
      </p14:sectionLst>
    </p:ext>
    <p:ext uri="{EFAFB233-063F-42B5-8137-9DF3F51BA10A}">
      <p15:sldGuideLst xmlns:p15="http://schemas.microsoft.com/office/powerpoint/2012/main">
        <p15:guide id="1" orient="horz" pos="3211" userDrawn="1">
          <p15:clr>
            <a:srgbClr val="A4A3A4"/>
          </p15:clr>
        </p15:guide>
        <p15:guide id="4" pos="3389" userDrawn="1">
          <p15:clr>
            <a:srgbClr val="A4A3A4"/>
          </p15:clr>
        </p15:guide>
        <p15:guide id="5" orient="horz" pos="3907" userDrawn="1">
          <p15:clr>
            <a:srgbClr val="A4A3A4"/>
          </p15:clr>
        </p15:guide>
        <p15:guide id="6" orient="horz" pos="1795" userDrawn="1">
          <p15:clr>
            <a:srgbClr val="A4A3A4"/>
          </p15:clr>
        </p15:guide>
        <p15:guide id="7" orient="horz" pos="205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5" name="Author" initials="A" lastIdx="0" clrIdx="1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7C10"/>
    <a:srgbClr val="FFB900"/>
    <a:srgbClr val="243A5E"/>
    <a:srgbClr val="525252"/>
    <a:srgbClr val="0078D4"/>
    <a:srgbClr val="515251"/>
    <a:srgbClr val="505050"/>
    <a:srgbClr val="000000"/>
    <a:srgbClr val="737373"/>
    <a:srgbClr val="747479"/>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36" autoAdjust="0"/>
    <p:restoredTop sz="84763" autoAdjust="0"/>
  </p:normalViewPr>
  <p:slideViewPr>
    <p:cSldViewPr snapToGrid="0">
      <p:cViewPr varScale="1">
        <p:scale>
          <a:sx n="53" d="100"/>
          <a:sy n="53" d="100"/>
        </p:scale>
        <p:origin x="1188" y="268"/>
      </p:cViewPr>
      <p:guideLst>
        <p:guide orient="horz" pos="3211"/>
        <p:guide pos="3389"/>
        <p:guide orient="horz" pos="3907"/>
        <p:guide orient="horz" pos="1795"/>
        <p:guide orient="horz" pos="2059"/>
      </p:guideLst>
    </p:cSldViewPr>
  </p:slideViewPr>
  <p:outlineViewPr>
    <p:cViewPr>
      <p:scale>
        <a:sx n="33" d="100"/>
        <a:sy n="33" d="100"/>
      </p:scale>
      <p:origin x="0" y="-3372"/>
    </p:cViewPr>
  </p:outlineViewPr>
  <p:notesTextViewPr>
    <p:cViewPr>
      <p:scale>
        <a:sx n="1" d="1"/>
        <a:sy n="1" d="1"/>
      </p:scale>
      <p:origin x="0" y="0"/>
    </p:cViewPr>
  </p:notesTextViewPr>
  <p:sorterViewPr>
    <p:cViewPr varScale="1">
      <p:scale>
        <a:sx n="1" d="1"/>
        <a:sy n="1" d="1"/>
      </p:scale>
      <p:origin x="0" y="0"/>
    </p:cViewPr>
  </p:sorter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5FDB7B-8DB8-4A3A-95C8-7102BBC9A9E1}" type="datetime8">
              <a:rPr lang="en-US" smtClean="0">
                <a:latin typeface="Segoe UI" pitchFamily="34" charset="0"/>
              </a:rPr>
              <a:t>6/22/2025 6:11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3T01:33:09.702"/>
    </inkml:context>
    <inkml:brush xml:id="br0">
      <inkml:brushProperty name="width" value="0.1" units="cm"/>
      <inkml:brushProperty name="height" value="0.1" units="cm"/>
      <inkml:brushProperty name="color" value="#E71224"/>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23T01:33:09.702"/>
    </inkml:context>
    <inkml:brush xml:id="br0">
      <inkml:brushProperty name="width" value="0.1" units="cm"/>
      <inkml:brushProperty name="height" value="0.1" units="cm"/>
      <inkml:brushProperty name="color" value="#E71224"/>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CE60099-03E7-4FA1-8A7F-E6E6CFB0F855}" type="datetime8">
              <a:rPr lang="en-US" smtClean="0"/>
              <a:t>6/22/2025 6:01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dt="0"/>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azure.microsoft.com/services/purview/"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defTabSz="968523">
              <a:spcAft>
                <a:spcPts val="353"/>
              </a:spcAft>
              <a:defRPr/>
            </a:pPr>
            <a:endParaRPr lang="en-US" dirty="0"/>
          </a:p>
          <a:p>
            <a:pPr defTabSz="968523">
              <a:spcAft>
                <a:spcPts val="353"/>
              </a:spcAft>
              <a:defRPr/>
            </a:pPr>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82359" marR="0" lvl="0" indent="0" algn="l" defTabSz="931467"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8EEC551-8CDA-4EB6-89BB-2A86C9F091C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6/22/2025 6:01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87680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a:t>While the shift to the cloud has become a strategic direction for most organizations, it comes with a unique set of security challenges.</a:t>
            </a:r>
          </a:p>
        </p:txBody>
      </p:sp>
      <p:sp>
        <p:nvSpPr>
          <p:cNvPr id="4" name="Header Placeholder 3"/>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910542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800" b="0" i="0">
                <a:solidFill>
                  <a:srgbClr val="4C4C51"/>
                </a:solidFill>
                <a:effectLst/>
                <a:latin typeface="Segoe UI" panose="020B0502040204020203" pitchFamily="34" charset="0"/>
              </a:rPr>
              <a:t>Microsoft Defender for Cloud is a solution for cloud security posture management (CSPM) and cloud workload protection (CWP) that </a:t>
            </a:r>
          </a:p>
          <a:p>
            <a:pPr marL="457200" indent="-457200">
              <a:buFont typeface="Arial" panose="020B0604020202020204" pitchFamily="34" charset="0"/>
              <a:buChar char="•"/>
            </a:pPr>
            <a:r>
              <a:rPr lang="en-US" sz="2800" b="0" i="0" dirty="0">
                <a:solidFill>
                  <a:srgbClr val="4C4C51"/>
                </a:solidFill>
                <a:effectLst/>
                <a:latin typeface="Segoe UI" panose="020B0502040204020203" pitchFamily="34" charset="0"/>
              </a:rPr>
              <a:t>finds weak spots across your cloud configuration, </a:t>
            </a:r>
          </a:p>
          <a:p>
            <a:pPr marL="457200" indent="-457200">
              <a:buFont typeface="Arial" panose="020B0604020202020204" pitchFamily="34" charset="0"/>
              <a:buChar char="•"/>
            </a:pPr>
            <a:r>
              <a:rPr lang="en-US" sz="2800" b="0" i="0" dirty="0">
                <a:solidFill>
                  <a:srgbClr val="4C4C51"/>
                </a:solidFill>
                <a:effectLst/>
                <a:latin typeface="Segoe UI" panose="020B0502040204020203" pitchFamily="34" charset="0"/>
              </a:rPr>
              <a:t>helps strengthen the overall security posture of your environment, </a:t>
            </a:r>
          </a:p>
          <a:p>
            <a:pPr marL="457200" indent="-457200">
              <a:buFont typeface="Arial" panose="020B0604020202020204" pitchFamily="34" charset="0"/>
              <a:buChar char="•"/>
            </a:pPr>
            <a:r>
              <a:rPr lang="en-US" sz="2800" b="0" i="0" dirty="0">
                <a:solidFill>
                  <a:srgbClr val="4C4C51"/>
                </a:solidFill>
                <a:effectLst/>
                <a:latin typeface="Segoe UI" panose="020B0502040204020203" pitchFamily="34" charset="0"/>
              </a:rPr>
              <a:t>and can protect workloads across </a:t>
            </a:r>
            <a:r>
              <a:rPr lang="en-US" sz="2800" b="0" i="0" dirty="0" err="1">
                <a:solidFill>
                  <a:srgbClr val="4C4C51"/>
                </a:solidFill>
                <a:effectLst/>
                <a:latin typeface="Segoe UI" panose="020B0502040204020203" pitchFamily="34" charset="0"/>
              </a:rPr>
              <a:t>multicloud</a:t>
            </a:r>
            <a:r>
              <a:rPr lang="en-US" sz="2800" b="0" i="0" dirty="0">
                <a:solidFill>
                  <a:srgbClr val="4C4C51"/>
                </a:solidFill>
                <a:effectLst/>
                <a:latin typeface="Segoe UI" panose="020B0502040204020203" pitchFamily="34" charset="0"/>
              </a:rPr>
              <a:t> and hybrid environments from evolving threats.</a:t>
            </a:r>
          </a:p>
          <a:p>
            <a:pPr marL="457200" indent="-457200">
              <a:buFont typeface="Arial" panose="020B0604020202020204" pitchFamily="34" charset="0"/>
              <a:buChar char="•"/>
            </a:pPr>
            <a:endParaRPr lang="en-US" sz="2800" b="0" i="0" dirty="0">
              <a:solidFill>
                <a:srgbClr val="4C4C51"/>
              </a:solidFill>
              <a:effectLst/>
              <a:latin typeface="Segoe UI" panose="020B0502040204020203" pitchFamily="34" charset="0"/>
            </a:endParaRPr>
          </a:p>
          <a:p>
            <a:pPr marL="0" indent="0">
              <a:buFont typeface="Arial" panose="020B0604020202020204" pitchFamily="34" charset="0"/>
              <a:buNone/>
            </a:pPr>
            <a:r>
              <a:rPr lang="en-US" sz="2800" b="0" i="0" dirty="0">
                <a:solidFill>
                  <a:srgbClr val="4C4C51"/>
                </a:solidFill>
                <a:effectLst/>
                <a:latin typeface="Segoe UI" panose="020B0502040204020203" pitchFamily="34" charset="0"/>
              </a:rPr>
              <a:t>It supports </a:t>
            </a:r>
            <a:r>
              <a:rPr lang="en-US" sz="2800" b="0" i="0" dirty="0" err="1">
                <a:solidFill>
                  <a:srgbClr val="4C4C51"/>
                </a:solidFill>
                <a:effectLst/>
                <a:latin typeface="Segoe UI" panose="020B0502040204020203" pitchFamily="34" charset="0"/>
              </a:rPr>
              <a:t>multicloud</a:t>
            </a:r>
            <a:r>
              <a:rPr lang="en-US" sz="2800" b="0" i="0" dirty="0">
                <a:solidFill>
                  <a:srgbClr val="4C4C51"/>
                </a:solidFill>
                <a:effectLst/>
                <a:latin typeface="Segoe UI" panose="020B0502040204020203" pitchFamily="34" charset="0"/>
              </a:rPr>
              <a:t> and hybrid environments and integrates with a range of products to enable seamless response and automation for your SecOps teams.</a:t>
            </a:r>
            <a:endParaRPr lang="en-US" sz="1800" dirty="0">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002BCF-AD76-480D-8EB6-0A3FA64A3AD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57170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5FD1E3-6A8F-4842-B644-034A19E0A87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5981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Guidance: Tailor talk track depending on your audience/role of your customer contact</a:t>
            </a:r>
          </a:p>
        </p:txBody>
      </p:sp>
      <p:sp>
        <p:nvSpPr>
          <p:cNvPr id="4" name="Header Placeholder 3"/>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825118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Managing your security posture in the cloud is critical to prevent breaches and shield your corporate assets from attacks. </a:t>
            </a:r>
          </a:p>
          <a:p>
            <a:r>
              <a:rPr lang="en-US"/>
              <a:t>Microsoft Defender for Cloud uses 4 key concepts to provide Cloud Security Posture Management (CSPM)</a:t>
            </a:r>
          </a:p>
        </p:txBody>
      </p:sp>
      <p:sp>
        <p:nvSpPr>
          <p:cNvPr id="4" name="Header Placeholder 3"/>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57609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Security dashboard is your entry point in Microsoft Defender for Cloud with a high level status overview into all relevant functionalities of the product</a:t>
            </a: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6/22/2025 6:01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2558774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6/22/2025 6:01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3" name="Notes Placeholder 2">
            <a:extLst>
              <a:ext uri="{FF2B5EF4-FFF2-40B4-BE49-F238E27FC236}">
                <a16:creationId xmlns:a16="http://schemas.microsoft.com/office/drawing/2014/main" id="{0406223F-8C92-4852-AFCE-44DC33785A33}"/>
              </a:ext>
            </a:extLst>
          </p:cNvPr>
          <p:cNvSpPr>
            <a:spLocks noGrp="1"/>
          </p:cNvSpPr>
          <p:nvPr>
            <p:ph type="body" idx="1"/>
          </p:nvPr>
        </p:nvSpPr>
        <p:spPr/>
        <p:txBody>
          <a:bodyPr/>
          <a:lstStyle/>
          <a:p>
            <a:r>
              <a:rPr lang="en-US"/>
              <a:t>You may be familiar with the concept of Secure Score from other Microsoft products. It’s a centralized view and tracking mechanisms that shows the current security state of your cloud environments. </a:t>
            </a:r>
          </a:p>
        </p:txBody>
      </p:sp>
    </p:spTree>
    <p:extLst>
      <p:ext uri="{BB962C8B-B14F-4D97-AF65-F5344CB8AC3E}">
        <p14:creationId xmlns:p14="http://schemas.microsoft.com/office/powerpoint/2010/main" val="20822921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6/22/2025 6:01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3" name="Notes Placeholder 2">
            <a:extLst>
              <a:ext uri="{FF2B5EF4-FFF2-40B4-BE49-F238E27FC236}">
                <a16:creationId xmlns:a16="http://schemas.microsoft.com/office/drawing/2014/main" id="{0406223F-8C92-4852-AFCE-44DC33785A33}"/>
              </a:ext>
            </a:extLst>
          </p:cNvPr>
          <p:cNvSpPr>
            <a:spLocks noGrp="1"/>
          </p:cNvSpPr>
          <p:nvPr>
            <p:ph type="body" idx="1"/>
          </p:nvPr>
        </p:nvSpPr>
        <p:spPr/>
        <p:txBody>
          <a:bodyPr/>
          <a:lstStyle/>
          <a:p>
            <a:r>
              <a:rPr lang="en-US" sz="900" b="1" i="0" u="none" strike="noStrike" kern="1200">
                <a:solidFill>
                  <a:schemeClr val="tx1"/>
                </a:solidFill>
                <a:effectLst/>
                <a:latin typeface="Segoe UI" panose="020B0502040204020203" pitchFamily="34" charset="0"/>
                <a:ea typeface="+mn-ea"/>
                <a:cs typeface="+mn-cs"/>
              </a:rPr>
              <a:t>Monitor compliance</a:t>
            </a:r>
          </a:p>
          <a:p>
            <a:r>
              <a:rPr lang="en-US" sz="900" b="0" i="0" u="none" strike="noStrike" kern="1200">
                <a:solidFill>
                  <a:schemeClr val="tx1"/>
                </a:solidFill>
                <a:effectLst/>
                <a:latin typeface="Segoe UI" panose="020B0502040204020203" pitchFamily="34" charset="0"/>
                <a:ea typeface="+mn-ea"/>
                <a:cs typeface="+mn-cs"/>
              </a:rPr>
              <a:t>Security assessments mapped to compliance controls and requirements, enabling aggregated view of compliance status.</a:t>
            </a:r>
          </a:p>
          <a:p>
            <a:r>
              <a:rPr lang="en-US" sz="900" b="0" i="0" u="none" strike="noStrike" kern="1200">
                <a:solidFill>
                  <a:schemeClr val="tx1"/>
                </a:solidFill>
                <a:effectLst/>
                <a:latin typeface="Segoe UI" panose="020B0502040204020203" pitchFamily="34" charset="0"/>
                <a:ea typeface="+mn-ea"/>
                <a:cs typeface="+mn-cs"/>
              </a:rPr>
              <a:t>The </a:t>
            </a:r>
            <a:r>
              <a:rPr lang="en-US" sz="900" b="1" i="0" u="none" strike="noStrike" kern="1200">
                <a:solidFill>
                  <a:schemeClr val="tx1"/>
                </a:solidFill>
                <a:effectLst/>
                <a:latin typeface="Segoe UI" panose="020B0502040204020203" pitchFamily="34" charset="0"/>
                <a:ea typeface="+mn-ea"/>
                <a:cs typeface="+mn-cs"/>
              </a:rPr>
              <a:t>Azure Security Benchmark </a:t>
            </a:r>
            <a:r>
              <a:rPr lang="en-US" sz="900" b="0" i="0" u="none" strike="noStrike" kern="1200">
                <a:solidFill>
                  <a:schemeClr val="tx1"/>
                </a:solidFill>
                <a:effectLst/>
                <a:latin typeface="Segoe UI" panose="020B0502040204020203" pitchFamily="34" charset="0"/>
                <a:ea typeface="+mn-ea"/>
                <a:cs typeface="+mn-cs"/>
              </a:rPr>
              <a:t>is always monitored in the dashboard by default, and is fully aligned with Secure Score (contains the same set of recommendations). Therefore, resolving those recommendations helps to meet the control requirements </a:t>
            </a:r>
            <a:r>
              <a:rPr lang="en-US" sz="900" b="0" i="1" u="none" strike="noStrike" kern="1200">
                <a:solidFill>
                  <a:schemeClr val="tx1"/>
                </a:solidFill>
                <a:effectLst/>
                <a:latin typeface="Segoe UI" panose="020B0502040204020203" pitchFamily="34" charset="0"/>
                <a:ea typeface="+mn-ea"/>
                <a:cs typeface="+mn-cs"/>
              </a:rPr>
              <a:t>and </a:t>
            </a:r>
            <a:r>
              <a:rPr lang="en-US" sz="900" b="0" i="0" u="none" strike="noStrike" kern="1200">
                <a:solidFill>
                  <a:schemeClr val="tx1"/>
                </a:solidFill>
                <a:effectLst/>
                <a:latin typeface="Segoe UI" panose="020B0502040204020203" pitchFamily="34" charset="0"/>
                <a:ea typeface="+mn-ea"/>
                <a:cs typeface="+mn-cs"/>
              </a:rPr>
              <a:t>helps raise your Secure Score at the same time.</a:t>
            </a:r>
          </a:p>
          <a:p>
            <a:r>
              <a:rPr lang="en-US" sz="900" b="0" i="0" u="none" strike="noStrike" kern="1200">
                <a:solidFill>
                  <a:schemeClr val="tx1"/>
                </a:solidFill>
                <a:effectLst/>
                <a:latin typeface="Segoe UI" panose="020B0502040204020203" pitchFamily="34" charset="0"/>
                <a:ea typeface="+mn-ea"/>
                <a:cs typeface="+mn-cs"/>
              </a:rPr>
              <a:t>The dashboard is dynamic, so you monitor exactly the set of standards that are important to your organization. You can also onboard custom standards to the dashboard, and define your own custom control set.</a:t>
            </a:r>
          </a:p>
          <a:p>
            <a:r>
              <a:rPr lang="en-US" sz="900" b="0" i="0" u="none" strike="noStrike" kern="1200">
                <a:solidFill>
                  <a:schemeClr val="tx1"/>
                </a:solidFill>
                <a:effectLst/>
                <a:latin typeface="Segoe UI" panose="020B0502040204020203" pitchFamily="34" charset="0"/>
                <a:ea typeface="+mn-ea"/>
                <a:cs typeface="+mn-cs"/>
              </a:rPr>
              <a:t>Reports can be downloaded for each standard, and you can choose from an executive level PDF report and a detailed CSV report.</a:t>
            </a:r>
          </a:p>
          <a:p>
            <a:endParaRPr lang="en-US" sz="900" b="0" i="0" u="none" strike="noStrike" kern="1200">
              <a:solidFill>
                <a:schemeClr val="tx1"/>
              </a:solidFill>
              <a:effectLst/>
              <a:latin typeface="Segoe UI" panose="020B0502040204020203" pitchFamily="34" charset="0"/>
              <a:ea typeface="+mn-ea"/>
              <a:cs typeface="+mn-cs"/>
            </a:endParaRPr>
          </a:p>
          <a:p>
            <a:endParaRPr lang="en-US" sz="900" b="0" i="0" u="none" strike="noStrike" kern="1200">
              <a:solidFill>
                <a:schemeClr val="tx1"/>
              </a:solidFill>
              <a:effectLst/>
              <a:latin typeface="Segoe UI" panose="020B0502040204020203" pitchFamily="34" charset="0"/>
              <a:ea typeface="+mn-ea"/>
              <a:cs typeface="+mn-cs"/>
            </a:endParaRPr>
          </a:p>
          <a:p>
            <a:r>
              <a:rPr lang="en-US" sz="900" b="1" i="0" u="none" strike="noStrike" kern="1200">
                <a:solidFill>
                  <a:schemeClr val="tx1"/>
                </a:solidFill>
                <a:effectLst/>
                <a:latin typeface="Segoe UI" panose="020B0502040204020203" pitchFamily="34" charset="0"/>
                <a:ea typeface="+mn-ea"/>
                <a:cs typeface="+mn-cs"/>
              </a:rPr>
              <a:t>Manage organization security policy and compliance</a:t>
            </a:r>
          </a:p>
          <a:p>
            <a:r>
              <a:rPr lang="en-US" sz="900" b="0" i="0" u="none" strike="noStrike" kern="1200">
                <a:solidFill>
                  <a:schemeClr val="tx1"/>
                </a:solidFill>
                <a:effectLst/>
                <a:latin typeface="Segoe UI" panose="020B0502040204020203" pitchFamily="34" charset="0"/>
                <a:ea typeface="+mn-ea"/>
                <a:cs typeface="+mn-cs"/>
              </a:rPr>
              <a:t>It's a security basic to know and make sure your workloads are secure, and it starts with having tailored security policies in place. For Azure, all recommendations are built on top of Azure policy controls, so you're getting the full range and flexibility of a </a:t>
            </a:r>
            <a:r>
              <a:rPr lang="en-US" sz="900" b="1" i="0" u="none" strike="noStrike" kern="1200">
                <a:solidFill>
                  <a:schemeClr val="tx1"/>
                </a:solidFill>
                <a:effectLst/>
                <a:latin typeface="Segoe UI" panose="020B0502040204020203" pitchFamily="34" charset="0"/>
                <a:ea typeface="+mn-ea"/>
                <a:cs typeface="+mn-cs"/>
              </a:rPr>
              <a:t>world-class policy solution</a:t>
            </a:r>
            <a:r>
              <a:rPr lang="en-US" sz="900" b="0" i="0" u="none" strike="noStrike" kern="1200">
                <a:solidFill>
                  <a:schemeClr val="tx1"/>
                </a:solidFill>
                <a:effectLst/>
                <a:latin typeface="Segoe UI" panose="020B0502040204020203" pitchFamily="34" charset="0"/>
                <a:ea typeface="+mn-ea"/>
                <a:cs typeface="+mn-cs"/>
              </a:rPr>
              <a:t>. In Microsoft Defender for Cloud, you can set your policies to run on management groups, across subscriptions, and even for a whole tenant.</a:t>
            </a:r>
          </a:p>
          <a:p>
            <a:endParaRPr lang="en-US"/>
          </a:p>
        </p:txBody>
      </p:sp>
    </p:spTree>
    <p:extLst>
      <p:ext uri="{BB962C8B-B14F-4D97-AF65-F5344CB8AC3E}">
        <p14:creationId xmlns:p14="http://schemas.microsoft.com/office/powerpoint/2010/main" val="31315982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0"/>
              </a:spcAft>
            </a:pPr>
            <a:r>
              <a:rPr lang="en-US" sz="1000">
                <a:effectLst/>
                <a:latin typeface="Segoe UI" panose="020B0502040204020203" pitchFamily="34" charset="0"/>
                <a:ea typeface="Calibri" panose="020F0502020204030204" pitchFamily="34" charset="0"/>
                <a:cs typeface="Arial" panose="020B0604020202020204" pitchFamily="34" charset="0"/>
              </a:rPr>
              <a:t>Data resources remain a popular target for malicious actors, making it crucial for security teams to identify, prioritize, and secure sensitive data resources across their cloud environments.</a:t>
            </a:r>
            <a:endParaRPr lang="en-US" sz="10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000">
                <a:effectLst/>
                <a:latin typeface="Segoe UI" panose="020B0502040204020203" pitchFamily="34" charset="0"/>
                <a:ea typeface="Calibri" panose="020F0502020204030204" pitchFamily="34" charset="0"/>
                <a:cs typeface="Arial" panose="020B0604020202020204" pitchFamily="34" charset="0"/>
              </a:rPr>
              <a:t> </a:t>
            </a:r>
            <a:endParaRPr lang="en-US" sz="10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000">
                <a:effectLst/>
                <a:latin typeface="Segoe UI" panose="020B0502040204020203" pitchFamily="34" charset="0"/>
                <a:ea typeface="Calibri" panose="020F0502020204030204" pitchFamily="34" charset="0"/>
                <a:cs typeface="Arial" panose="020B0604020202020204" pitchFamily="34" charset="0"/>
              </a:rPr>
              <a:t>To address this challenge, we’re excited to announce the integration between Microsoft Defender for Cloud and </a:t>
            </a:r>
            <a:r>
              <a:rPr lang="en-US" sz="1000" u="sng">
                <a:solidFill>
                  <a:srgbClr val="0000FF"/>
                </a:solidFill>
                <a:effectLst/>
                <a:latin typeface="Segoe UI" panose="020B0502040204020203" pitchFamily="34" charset="0"/>
                <a:ea typeface="Calibri" panose="020F0502020204030204" pitchFamily="34" charset="0"/>
                <a:cs typeface="Arial" panose="020B0604020202020204" pitchFamily="34" charset="0"/>
                <a:hlinkClick r:id="rId3"/>
              </a:rPr>
              <a:t>Azure Purview</a:t>
            </a:r>
            <a:r>
              <a:rPr lang="en-US" sz="1000">
                <a:effectLst/>
                <a:latin typeface="Segoe UI" panose="020B0502040204020203" pitchFamily="34" charset="0"/>
                <a:ea typeface="Calibri" panose="020F0502020204030204" pitchFamily="34" charset="0"/>
                <a:cs typeface="Arial" panose="020B0604020202020204" pitchFamily="34" charset="0"/>
              </a:rPr>
              <a:t> in public preview. Azure Purview is a unified data governance service that provides rich insights into the sensitivity of your data within multi-cloud, and on-premises workloads.</a:t>
            </a:r>
            <a:endParaRPr lang="en-US" sz="10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000">
                <a:effectLst/>
                <a:latin typeface="Segoe UI" panose="020B0502040204020203" pitchFamily="34" charset="0"/>
                <a:ea typeface="Calibri" panose="020F0502020204030204" pitchFamily="34" charset="0"/>
                <a:cs typeface="Arial" panose="020B0604020202020204" pitchFamily="34" charset="0"/>
              </a:rPr>
              <a:t> </a:t>
            </a:r>
            <a:endParaRPr lang="en-US" sz="10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000">
                <a:effectLst/>
                <a:latin typeface="Segoe UI" panose="020B0502040204020203" pitchFamily="34" charset="0"/>
                <a:ea typeface="Calibri" panose="020F0502020204030204" pitchFamily="34" charset="0"/>
                <a:cs typeface="Arial" panose="020B0604020202020204" pitchFamily="34" charset="0"/>
              </a:rPr>
              <a:t>The integration with Azure Purview extends your security visibility in Defender for Cloud from infrastructure resources down into your data, enabling an entirely new way to prioritize resources for security teams. </a:t>
            </a:r>
          </a:p>
          <a:p>
            <a:pPr marL="0" marR="0">
              <a:lnSpc>
                <a:spcPct val="107000"/>
              </a:lnSpc>
              <a:spcBef>
                <a:spcPts val="0"/>
              </a:spcBef>
              <a:spcAft>
                <a:spcPts val="0"/>
              </a:spcAft>
            </a:pPr>
            <a:endParaRPr lang="en-US" sz="1000">
              <a:effectLst/>
              <a:latin typeface="Segoe UI" panose="020B0502040204020203"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a:effectLst/>
                <a:latin typeface="Segoe UI" panose="020B0502040204020203" pitchFamily="34" charset="0"/>
                <a:ea typeface="Calibri" panose="020F0502020204030204" pitchFamily="34"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a:effectLst/>
                <a:latin typeface="Segoe UI" panose="020B0502040204020203" pitchFamily="34" charset="0"/>
                <a:ea typeface="Calibri" panose="020F0502020204030204" pitchFamily="34" charset="0"/>
                <a:cs typeface="Arial" panose="020B0604020202020204" pitchFamily="34" charset="0"/>
              </a:rPr>
              <a:t>For an enriched CSPM experience, we included an Information protection tile in Defender for Cloud that shows your current scan coverage and a graph with the number of recommendations and alerts by classified resource types. </a:t>
            </a:r>
            <a:r>
              <a:rPr lang="en-US" sz="1800">
                <a:effectLst/>
                <a:latin typeface="Calibri" panose="020F0502020204030204" pitchFamily="34" charset="0"/>
                <a:ea typeface="Calibri" panose="020F0502020204030204" pitchFamily="34" charset="0"/>
                <a:cs typeface="Arial" panose="020B0604020202020204" pitchFamily="34" charset="0"/>
              </a:rPr>
              <a:t> </a:t>
            </a:r>
            <a:r>
              <a:rPr lang="en-US" sz="1800">
                <a:effectLst/>
                <a:latin typeface="Calibri" panose="020F0502020204030204" pitchFamily="34" charset="0"/>
                <a:ea typeface="Yu Mincho" panose="02020400000000000000" pitchFamily="18" charset="-128"/>
                <a:cs typeface="Arial" panose="020B0604020202020204" pitchFamily="34" charset="0"/>
              </a:rPr>
              <a:t> </a:t>
            </a:r>
            <a:r>
              <a:rPr lang="en-US" sz="1800">
                <a:effectLst/>
                <a:latin typeface="Segoe UI" panose="020B0502040204020203" pitchFamily="34" charset="0"/>
                <a:ea typeface="Calibri" panose="020F0502020204030204" pitchFamily="34" charset="0"/>
                <a:cs typeface="Arial" panose="020B0604020202020204" pitchFamily="34" charset="0"/>
              </a:rPr>
              <a:t>In addition, we created two new filters in the Defender for Cloud </a:t>
            </a:r>
            <a:r>
              <a:rPr lang="en-US" sz="1800" i="1">
                <a:effectLst/>
                <a:latin typeface="Segoe UI" panose="020B0502040204020203" pitchFamily="34" charset="0"/>
                <a:ea typeface="Calibri" panose="020F0502020204030204" pitchFamily="34" charset="0"/>
                <a:cs typeface="Arial" panose="020B0604020202020204" pitchFamily="34" charset="0"/>
              </a:rPr>
              <a:t>Inventory experience</a:t>
            </a:r>
            <a:r>
              <a:rPr lang="en-US" sz="1800">
                <a:effectLst/>
                <a:latin typeface="Segoe UI" panose="020B0502040204020203" pitchFamily="34" charset="0"/>
                <a:ea typeface="Calibri" panose="020F0502020204030204" pitchFamily="34" charset="0"/>
                <a:cs typeface="Arial" panose="020B0604020202020204" pitchFamily="34" charset="0"/>
              </a:rPr>
              <a:t> and within </a:t>
            </a:r>
            <a:r>
              <a:rPr lang="en-US" sz="1800" i="1">
                <a:effectLst/>
                <a:latin typeface="Segoe UI" panose="020B0502040204020203" pitchFamily="34" charset="0"/>
                <a:ea typeface="Calibri" panose="020F0502020204030204" pitchFamily="34" charset="0"/>
                <a:cs typeface="Arial" panose="020B0604020202020204" pitchFamily="34" charset="0"/>
              </a:rPr>
              <a:t>Security alerts</a:t>
            </a:r>
            <a:r>
              <a:rPr lang="en-US" sz="1800">
                <a:effectLst/>
                <a:latin typeface="Segoe UI" panose="020B0502040204020203" pitchFamily="34" charset="0"/>
                <a:ea typeface="Calibri" panose="020F0502020204030204" pitchFamily="34" charset="0"/>
                <a:cs typeface="Arial" panose="020B0604020202020204" pitchFamily="34" charset="0"/>
              </a:rPr>
              <a:t> called </a:t>
            </a:r>
            <a:r>
              <a:rPr lang="en-US" sz="1800" b="1">
                <a:effectLst/>
                <a:latin typeface="Segoe UI" panose="020B0502040204020203" pitchFamily="34" charset="0"/>
                <a:ea typeface="Calibri" panose="020F0502020204030204" pitchFamily="34" charset="0"/>
                <a:cs typeface="Arial" panose="020B0604020202020204" pitchFamily="34" charset="0"/>
              </a:rPr>
              <a:t>Data sensitivity classifications</a:t>
            </a:r>
            <a:r>
              <a:rPr lang="en-US" sz="1800">
                <a:effectLst/>
                <a:latin typeface="Segoe UI" panose="020B0502040204020203" pitchFamily="34" charset="0"/>
                <a:ea typeface="Calibri" panose="020F0502020204030204" pitchFamily="34" charset="0"/>
                <a:cs typeface="Arial" panose="020B0604020202020204" pitchFamily="34" charset="0"/>
              </a:rPr>
              <a:t> and </a:t>
            </a:r>
            <a:r>
              <a:rPr lang="en-US" sz="1800" b="1">
                <a:effectLst/>
                <a:latin typeface="Segoe UI" panose="020B0502040204020203" pitchFamily="34" charset="0"/>
                <a:ea typeface="Calibri" panose="020F0502020204030204" pitchFamily="34" charset="0"/>
                <a:cs typeface="Arial" panose="020B0604020202020204" pitchFamily="34" charset="0"/>
              </a:rPr>
              <a:t>Data sensitivity labels</a:t>
            </a:r>
            <a:r>
              <a:rPr lang="en-US" sz="1800">
                <a:effectLst/>
                <a:latin typeface="Segoe UI" panose="020B0502040204020203" pitchFamily="34" charset="0"/>
                <a:ea typeface="Calibri" panose="020F0502020204030204" pitchFamily="34" charset="0"/>
                <a:cs typeface="Arial" panose="020B0604020202020204" pitchFamily="34" charset="0"/>
              </a:rPr>
              <a:t>. These new options allow security teams to filter specifically for sensitive data and more effectively prioritize the enforcement of security policies and the investigation of alerts across the most sensitive resources.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a:effectLst/>
                <a:latin typeface="Segoe UI" panose="020B0502040204020203" pitchFamily="34" charset="0"/>
                <a:ea typeface="Calibri" panose="020F0502020204030204" pitchFamily="34" charset="0"/>
                <a:cs typeface="Arial" panose="020B0604020202020204" pitchFamily="34" charset="0"/>
              </a:rPr>
              <a:t>Lastly, the Resource Health blade now provides additional metadata classification details at the resource level, giving you with an easy way to view the number of assets that contain sensitive information across your environment.</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spcBef>
                <a:spcPts val="0"/>
              </a:spcBef>
              <a:spcAft>
                <a:spcPts val="1200"/>
              </a:spcAft>
            </a:pPr>
            <a:r>
              <a:rPr lang="en-US" sz="1800">
                <a:effectLst/>
                <a:latin typeface="Calibri" panose="020F0502020204030204" pitchFamily="34" charset="0"/>
                <a:ea typeface="Yu Mincho" panose="02020400000000000000" pitchFamily="18" charset="-128"/>
                <a:cs typeface="Arial" panose="020B0604020202020204" pitchFamily="34" charset="0"/>
              </a:rPr>
              <a:t>value prop: the integration with Azure Purview extends your security visibility from your resources/infrastructure down into your data. </a:t>
            </a:r>
          </a:p>
          <a:p>
            <a:pPr marL="0" marR="0">
              <a:spcBef>
                <a:spcPts val="0"/>
              </a:spcBef>
              <a:spcAft>
                <a:spcPts val="1200"/>
              </a:spcAft>
            </a:pPr>
            <a:r>
              <a:rPr lang="en-US" sz="1800">
                <a:effectLst/>
                <a:latin typeface="Calibri" panose="020F0502020204030204" pitchFamily="34" charset="0"/>
                <a:ea typeface="Yu Mincho" panose="02020400000000000000" pitchFamily="18" charset="-128"/>
                <a:cs typeface="Arial" panose="020B0604020202020204" pitchFamily="34" charset="0"/>
              </a:rPr>
              <a:t>how: data sensitivity classifications and data sensitivity labels enable security teams to prioritize security and remediation of unhealthy resources which contain sensitive data.  </a:t>
            </a:r>
          </a:p>
          <a:p>
            <a:pPr marL="0" marR="0">
              <a:spcBef>
                <a:spcPts val="0"/>
              </a:spcBef>
              <a:spcAft>
                <a:spcPts val="1200"/>
              </a:spcAft>
            </a:pPr>
            <a:r>
              <a:rPr lang="en-US" sz="1800">
                <a:effectLst/>
                <a:latin typeface="Calibri" panose="020F0502020204030204" pitchFamily="34" charset="0"/>
                <a:ea typeface="Yu Mincho" panose="02020400000000000000" pitchFamily="18" charset="-128"/>
                <a:cs typeface="Arial" panose="020B0604020202020204" pitchFamily="34" charset="0"/>
              </a:rPr>
              <a:t> Perfect, adapted the section thanks!</a:t>
            </a:r>
          </a:p>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000">
                <a:effectLst/>
                <a:latin typeface="Segoe UI" panose="020B0502040204020203" pitchFamily="34" charset="0"/>
                <a:ea typeface="Calibri" panose="020F0502020204030204" pitchFamily="34" charset="0"/>
                <a:cs typeface="Arial" panose="020B0604020202020204" pitchFamily="34" charset="0"/>
              </a:rPr>
              <a:t> </a:t>
            </a:r>
            <a:endParaRPr lang="en-US" sz="1000">
              <a:effectLst/>
              <a:latin typeface="Calibri" panose="020F0502020204030204" pitchFamily="34" charset="0"/>
              <a:ea typeface="Calibri" panose="020F0502020204030204" pitchFamily="34" charset="0"/>
              <a:cs typeface="Arial" panose="020B0604020202020204" pitchFamily="34" charset="0"/>
            </a:endParaRP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6/22/2025 6:01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7715248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6/22/2025 6:01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3300221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6/22/2025 6:01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2357480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Defender for Cloud uniquely protects a very wide range of workload types in Azure and those native to AWS and GCP. </a:t>
            </a:r>
          </a:p>
          <a:p>
            <a:r>
              <a:rPr lang="en-US" dirty="0"/>
              <a:t>In additional to traditional and highly critical workloads like servers, and containers, for Azure Microsoft Defender for Cloud also offers Service Layer protection. Azur Resource Manager is a great example of highly critical service that is traditionally difficult to protect due the amount of logs it produces. With Defender for Cloud we analyze these logs and alert on any malicious activity to protect at the top level of your cloud service.</a:t>
            </a:r>
          </a:p>
        </p:txBody>
      </p:sp>
      <p:sp>
        <p:nvSpPr>
          <p:cNvPr id="4" name="Header Placeholder 3"/>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6/22/2025 6:01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1594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07153" lvl="1" indent="0">
              <a:buFont typeface="Arial" pitchFamily="34" charset="0"/>
              <a:buNone/>
            </a:pPr>
            <a:r>
              <a:rPr lang="en-US" sz="900" kern="1200" dirty="0">
                <a:solidFill>
                  <a:schemeClr val="tx1"/>
                </a:solidFill>
                <a:latin typeface="Segoe UI" pitchFamily="34" charset="0"/>
                <a:ea typeface="+mn-ea"/>
                <a:cs typeface="+mn-cs"/>
              </a:rPr>
              <a:t>While Azure resources are automatically assessed the moment you enable Microsoft Defender for Cloud and workloads protected, as soon as you enable the additional protection plans, onboarding Aws, GCP and even on-prem resources is easy, too. </a:t>
            </a:r>
          </a:p>
          <a:p>
            <a:pPr marL="107153" lvl="1" indent="0">
              <a:buFont typeface="Arial" pitchFamily="34" charset="0"/>
              <a:buNone/>
            </a:pPr>
            <a:endParaRPr lang="en-US" sz="900" kern="1200" dirty="0">
              <a:solidFill>
                <a:schemeClr val="tx1"/>
              </a:solidFill>
              <a:latin typeface="Segoe UI" pitchFamily="34" charset="0"/>
              <a:ea typeface="+mn-ea"/>
              <a:cs typeface="+mn-cs"/>
            </a:endParaRPr>
          </a:p>
          <a:p>
            <a:pPr marL="107153" lvl="1" indent="0">
              <a:buFont typeface="Arial" pitchFamily="34" charset="0"/>
              <a:buNone/>
            </a:pPr>
            <a:r>
              <a:rPr lang="en-US" sz="900" kern="1200" dirty="0">
                <a:solidFill>
                  <a:schemeClr val="tx1"/>
                </a:solidFill>
                <a:latin typeface="Segoe UI" pitchFamily="34" charset="0"/>
                <a:ea typeface="+mn-ea"/>
                <a:cs typeface="+mn-cs"/>
              </a:rPr>
              <a:t>To assess AWS and GCP resources and receive security recommendations, simply onboard AWS accounts/GCP projects with our API connectors. No agents required. </a:t>
            </a:r>
          </a:p>
          <a:p>
            <a:pPr marL="107153" lvl="1" indent="0">
              <a:buFont typeface="Arial" pitchFamily="34" charset="0"/>
              <a:buNone/>
            </a:pPr>
            <a:endParaRPr lang="en-US" sz="900" kern="1200" dirty="0">
              <a:solidFill>
                <a:schemeClr val="tx1"/>
              </a:solidFill>
              <a:latin typeface="Segoe UI" pitchFamily="34" charset="0"/>
              <a:ea typeface="+mn-ea"/>
              <a:cs typeface="+mn-cs"/>
            </a:endParaRPr>
          </a:p>
          <a:p>
            <a:pPr marL="107153" lvl="1" indent="0">
              <a:buFont typeface="Arial" pitchFamily="34" charset="0"/>
              <a:buNone/>
            </a:pPr>
            <a:r>
              <a:rPr lang="en-US" sz="900" kern="1200" dirty="0">
                <a:solidFill>
                  <a:schemeClr val="tx1"/>
                </a:solidFill>
                <a:latin typeface="Segoe UI" pitchFamily="34" charset="0"/>
                <a:ea typeface="+mn-ea"/>
                <a:cs typeface="+mn-cs"/>
              </a:rPr>
              <a:t>To onboard all workloads, including those that you may have on-prem deploy the Azure Arc agent to onboard them to Microsoft Defender for Cloud. </a:t>
            </a:r>
          </a:p>
        </p:txBody>
      </p:sp>
      <p:sp>
        <p:nvSpPr>
          <p:cNvPr id="5" name="Date Placeholder 4"/>
          <p:cNvSpPr>
            <a:spLocks noGrp="1"/>
          </p:cNvSpPr>
          <p:nvPr>
            <p:ph type="dt" idx="10"/>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F22B3E36-5CE0-4CB7-82DE-38A88C71BFA8}"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6/22/2025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8B263312-38AA-4E1E-B2B5-0F8F122B24FE}"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0614559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Header Placeholder 3"/>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6/22/2025 6:01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0682075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427A7F7-BB1E-479D-AFAA-B52F4D0C99F2}"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6/22/2025 6:01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3" name="Notes Placeholder 2">
            <a:extLst>
              <a:ext uri="{FF2B5EF4-FFF2-40B4-BE49-F238E27FC236}">
                <a16:creationId xmlns:a16="http://schemas.microsoft.com/office/drawing/2014/main" id="{8F68515B-F55D-4CAC-B913-294007116E25}"/>
              </a:ext>
            </a:extLst>
          </p:cNvPr>
          <p:cNvSpPr>
            <a:spLocks noGrp="1"/>
          </p:cNvSpPr>
          <p:nvPr>
            <p:ph type="body" idx="1"/>
          </p:nvPr>
        </p:nvSpPr>
        <p:spPr/>
        <p:txBody>
          <a:bodyPr/>
          <a:lstStyle/>
          <a:p>
            <a:r>
              <a:rPr lang="en-US" sz="900" b="1" i="0" u="none" strike="noStrike" kern="1200">
                <a:solidFill>
                  <a:schemeClr val="tx1"/>
                </a:solidFill>
                <a:effectLst/>
                <a:latin typeface="Segoe UI" panose="020B0502040204020203" pitchFamily="34" charset="0"/>
                <a:ea typeface="+mn-ea"/>
                <a:cs typeface="+mn-cs"/>
              </a:rPr>
              <a:t>Quick Fix for bulk resources </a:t>
            </a:r>
            <a:r>
              <a:rPr lang="en-US" sz="900" b="0" i="0" u="none" strike="noStrike" kern="1200">
                <a:solidFill>
                  <a:schemeClr val="tx1"/>
                </a:solidFill>
                <a:effectLst/>
                <a:latin typeface="Segoe UI" panose="020B0502040204020203" pitchFamily="34" charset="0"/>
                <a:ea typeface="+mn-ea"/>
                <a:cs typeface="+mn-cs"/>
              </a:rPr>
              <a:t>With the many tasks that a user is given as part of Secure Score, the ability to effectively remediate issues across a large fleet can become challenging.</a:t>
            </a:r>
          </a:p>
          <a:p>
            <a:r>
              <a:rPr lang="en-US" sz="900" b="0" i="0" u="none" strike="noStrike" kern="1200">
                <a:solidFill>
                  <a:schemeClr val="tx1"/>
                </a:solidFill>
                <a:effectLst/>
                <a:latin typeface="Segoe UI" panose="020B0502040204020203" pitchFamily="34" charset="0"/>
                <a:ea typeface="+mn-ea"/>
                <a:cs typeface="+mn-cs"/>
              </a:rPr>
              <a:t>In order to simplify remediation of security misconfigurations and to be able to quickly remediate recommendations on a bulk of resources and improve your secure score use Quick Fix remediation.</a:t>
            </a:r>
          </a:p>
          <a:p>
            <a:r>
              <a:rPr lang="en-US" sz="900" b="0" i="0" u="none" strike="noStrike" kern="1200">
                <a:solidFill>
                  <a:schemeClr val="tx1"/>
                </a:solidFill>
                <a:effectLst/>
                <a:latin typeface="Segoe UI" panose="020B0502040204020203" pitchFamily="34" charset="0"/>
                <a:ea typeface="+mn-ea"/>
                <a:cs typeface="+mn-cs"/>
              </a:rPr>
              <a:t>This operation will allow you to select the resources you want to apply the remediation to and launch a remediation action that will configure the setting on your behalf.</a:t>
            </a:r>
          </a:p>
          <a:p>
            <a:r>
              <a:rPr lang="en-US" sz="900" b="0" i="0" u="none" strike="noStrike" kern="1200">
                <a:solidFill>
                  <a:schemeClr val="tx1"/>
                </a:solidFill>
                <a:effectLst/>
                <a:latin typeface="Segoe UI" panose="020B0502040204020203" pitchFamily="34" charset="0"/>
                <a:ea typeface="+mn-ea"/>
                <a:cs typeface="+mn-cs"/>
              </a:rPr>
              <a:t>Quick fix is generally available today customers as part of the recommendations blade.</a:t>
            </a:r>
          </a:p>
          <a:p>
            <a:endParaRPr lang="en-US"/>
          </a:p>
          <a:p>
            <a:r>
              <a:rPr lang="en-US" sz="900" b="1" i="0" u="none" strike="noStrike" kern="1200">
                <a:solidFill>
                  <a:schemeClr val="tx1"/>
                </a:solidFill>
                <a:effectLst/>
                <a:latin typeface="Segoe UI" panose="020B0502040204020203" pitchFamily="34" charset="0"/>
                <a:ea typeface="+mn-ea"/>
                <a:cs typeface="+mn-cs"/>
              </a:rPr>
              <a:t>Workflow automation with Logic Apps</a:t>
            </a:r>
            <a:endParaRPr lang="en-US" sz="900" b="0" i="0" u="none" strike="noStrike" kern="1200">
              <a:solidFill>
                <a:schemeClr val="tx1"/>
              </a:solidFill>
              <a:effectLst/>
              <a:latin typeface="Segoe UI" panose="020B0502040204020203" pitchFamily="34" charset="0"/>
              <a:ea typeface="+mn-ea"/>
              <a:cs typeface="+mn-cs"/>
            </a:endParaRPr>
          </a:p>
          <a:p>
            <a:r>
              <a:rPr lang="en-US" sz="900" b="0" i="0" u="none" strike="noStrike" kern="1200">
                <a:solidFill>
                  <a:schemeClr val="tx1"/>
                </a:solidFill>
                <a:effectLst/>
                <a:latin typeface="Segoe UI" panose="020B0502040204020203" pitchFamily="34" charset="0"/>
                <a:ea typeface="+mn-ea"/>
                <a:cs typeface="+mn-cs"/>
              </a:rPr>
              <a:t>Organizations with centrally managed security and IT/operations implement internal workflow processes to drive required action within the organization when discrepancies are discovered in their environments. In many cases these workflows are repeatable processes and automation can greatly reduce overhead streamline processes within the organization.</a:t>
            </a:r>
          </a:p>
          <a:p>
            <a:r>
              <a:rPr lang="en-US" sz="900" b="0" i="0" u="none" strike="noStrike" kern="1200">
                <a:solidFill>
                  <a:schemeClr val="tx1"/>
                </a:solidFill>
                <a:effectLst/>
                <a:latin typeface="Segoe UI" panose="020B0502040204020203" pitchFamily="34" charset="0"/>
                <a:ea typeface="+mn-ea"/>
                <a:cs typeface="+mn-cs"/>
              </a:rPr>
              <a:t>Create automation configurations leveraging Azure Logic Apps and to create policies that will automatically trigger them based on specific findings such as Recommendations or Alerts. Azure Logic App can be configured to do any custom action supported by the vast community of Logic App connectors or use one of the provided templates.</a:t>
            </a:r>
          </a:p>
          <a:p>
            <a:r>
              <a:rPr lang="en-US" sz="900" b="0" i="0" u="none" strike="noStrike" kern="1200">
                <a:solidFill>
                  <a:schemeClr val="tx1"/>
                </a:solidFill>
                <a:effectLst/>
                <a:latin typeface="Segoe UI" panose="020B0502040204020203" pitchFamily="34" charset="0"/>
                <a:ea typeface="+mn-ea"/>
                <a:cs typeface="+mn-cs"/>
              </a:rPr>
              <a:t> </a:t>
            </a:r>
          </a:p>
          <a:p>
            <a:r>
              <a:rPr lang="en-US" sz="900" b="1" i="0" u="none" strike="noStrike" kern="1200">
                <a:solidFill>
                  <a:schemeClr val="tx1"/>
                </a:solidFill>
                <a:effectLst/>
                <a:latin typeface="Segoe UI" panose="020B0502040204020203" pitchFamily="34" charset="0"/>
                <a:ea typeface="+mn-ea"/>
                <a:cs typeface="+mn-cs"/>
              </a:rPr>
              <a:t>Advanced integrations with export of Defender for Cloud recommendations and alerts </a:t>
            </a:r>
            <a:r>
              <a:rPr lang="en-US" sz="900" b="0" i="0" u="none" strike="noStrike" kern="1200">
                <a:solidFill>
                  <a:schemeClr val="tx1"/>
                </a:solidFill>
                <a:effectLst/>
                <a:latin typeface="Segoe UI" panose="020B0502040204020203" pitchFamily="34" charset="0"/>
                <a:ea typeface="+mn-ea"/>
                <a:cs typeface="+mn-cs"/>
              </a:rPr>
              <a:t>In order to enable enterprise level scenarios, we enable you to consume alerts and recommendations in additional places except the Azure Portal or API. These can be directly exported to an Event Hub and to Log Analytics workspaces. Here are a few examples of workflows you can create around these new capabilities:</a:t>
            </a:r>
          </a:p>
          <a:p>
            <a:pPr marL="171450" indent="-171450">
              <a:buFontTx/>
              <a:buChar char="-"/>
            </a:pPr>
            <a:r>
              <a:rPr lang="en-US" sz="900" b="0" i="0" u="none" strike="noStrike" kern="1200">
                <a:solidFill>
                  <a:schemeClr val="tx1"/>
                </a:solidFill>
                <a:effectLst/>
                <a:latin typeface="Segoe UI" panose="020B0502040204020203" pitchFamily="34" charset="0"/>
                <a:ea typeface="+mn-ea"/>
                <a:cs typeface="+mn-cs"/>
              </a:rPr>
              <a:t>With Export to Log Analytics workspace, you can create custom dashboards with </a:t>
            </a:r>
            <a:r>
              <a:rPr lang="en-US" sz="900" b="0" i="0" u="none" strike="noStrike" kern="1200" err="1">
                <a:solidFill>
                  <a:schemeClr val="tx1"/>
                </a:solidFill>
                <a:effectLst/>
                <a:latin typeface="Segoe UI" panose="020B0502040204020203" pitchFamily="34" charset="0"/>
                <a:ea typeface="+mn-ea"/>
                <a:cs typeface="+mn-cs"/>
              </a:rPr>
              <a:t>PowerBI</a:t>
            </a:r>
            <a:r>
              <a:rPr lang="en-US" sz="900" b="0" i="0" u="none" strike="noStrike" kern="1200">
                <a:solidFill>
                  <a:schemeClr val="tx1"/>
                </a:solidFill>
                <a:effectLst/>
                <a:latin typeface="Segoe UI" panose="020B0502040204020203" pitchFamily="34" charset="0"/>
                <a:ea typeface="+mn-ea"/>
                <a:cs typeface="+mn-cs"/>
              </a:rPr>
              <a:t>.</a:t>
            </a:r>
          </a:p>
          <a:p>
            <a:pPr marL="171450" indent="-171450">
              <a:buFontTx/>
              <a:buChar char="-"/>
            </a:pPr>
            <a:r>
              <a:rPr lang="en-US" sz="900" b="0" i="0" u="none" strike="noStrike" kern="1200">
                <a:solidFill>
                  <a:schemeClr val="tx1"/>
                </a:solidFill>
                <a:effectLst/>
                <a:latin typeface="Segoe UI" panose="020B0502040204020203" pitchFamily="34" charset="0"/>
                <a:ea typeface="+mn-ea"/>
                <a:cs typeface="+mn-cs"/>
              </a:rPr>
              <a:t>Use the native integration to Microsoft Sentinel</a:t>
            </a:r>
          </a:p>
          <a:p>
            <a:r>
              <a:rPr lang="en-US" sz="900" b="0" i="0" u="none" strike="noStrike" kern="1200">
                <a:solidFill>
                  <a:schemeClr val="tx1"/>
                </a:solidFill>
                <a:effectLst/>
                <a:latin typeface="Segoe UI" panose="020B0502040204020203" pitchFamily="34" charset="0"/>
                <a:ea typeface="+mn-ea"/>
                <a:cs typeface="+mn-cs"/>
              </a:rPr>
              <a:t>- With Export to Event Hub, you will be able to export alerts and recommendations to your 3rd party SIEMs, to a 3</a:t>
            </a:r>
            <a:r>
              <a:rPr lang="en-US" sz="900" b="0" i="0" u="none" strike="noStrike" kern="1200" baseline="30000">
                <a:solidFill>
                  <a:schemeClr val="tx1"/>
                </a:solidFill>
                <a:effectLst/>
                <a:latin typeface="Segoe UI" panose="020B0502040204020203" pitchFamily="34" charset="0"/>
                <a:ea typeface="+mn-ea"/>
                <a:cs typeface="+mn-cs"/>
              </a:rPr>
              <a:t>rd</a:t>
            </a:r>
            <a:r>
              <a:rPr lang="en-US" sz="900" b="0" i="0" u="none" strike="noStrike" kern="1200">
                <a:solidFill>
                  <a:schemeClr val="tx1"/>
                </a:solidFill>
                <a:effectLst/>
                <a:latin typeface="Segoe UI" panose="020B0502040204020203" pitchFamily="34" charset="0"/>
                <a:ea typeface="+mn-ea"/>
                <a:cs typeface="+mn-cs"/>
              </a:rPr>
              <a:t> party solution in real-time, or Azure Data Explorer.</a:t>
            </a:r>
          </a:p>
          <a:p>
            <a:r>
              <a:rPr lang="en-US" sz="900" b="0" i="0" u="none" strike="noStrike" kern="1200">
                <a:solidFill>
                  <a:schemeClr val="tx1"/>
                </a:solidFill>
                <a:effectLst/>
                <a:latin typeface="Segoe UI" panose="020B0502040204020203" pitchFamily="34" charset="0"/>
                <a:ea typeface="+mn-ea"/>
                <a:cs typeface="+mn-cs"/>
              </a:rPr>
              <a:t> </a:t>
            </a:r>
          </a:p>
        </p:txBody>
      </p:sp>
    </p:spTree>
    <p:extLst>
      <p:ext uri="{BB962C8B-B14F-4D97-AF65-F5344CB8AC3E}">
        <p14:creationId xmlns:p14="http://schemas.microsoft.com/office/powerpoint/2010/main" val="14391740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UI will launch at the end of March</a:t>
            </a:r>
          </a:p>
        </p:txBody>
      </p:sp>
      <p:sp>
        <p:nvSpPr>
          <p:cNvPr id="4" name="Header Placeholder 3"/>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795423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UI will launch at the end of March</a:t>
            </a:r>
          </a:p>
        </p:txBody>
      </p:sp>
      <p:sp>
        <p:nvSpPr>
          <p:cNvPr id="4" name="Header Placeholder 3"/>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0971095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C6AF81-4263-4289-8155-76A7450DB9F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89619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1_Section Title">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60957C6-A218-4D11-974F-A39771E48E38}"/>
              </a:ext>
            </a:extLst>
          </p:cNvPr>
          <p:cNvSpPr/>
          <p:nvPr userDrawn="1"/>
        </p:nvSpPr>
        <p:spPr>
          <a:xfrm>
            <a:off x="6221443" y="0"/>
            <a:ext cx="6215032" cy="6994525"/>
          </a:xfrm>
          <a:prstGeom prst="rect">
            <a:avLst/>
          </a:prstGeom>
          <a:solidFill>
            <a:srgbClr val="107C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dirty="0"/>
          </a:p>
        </p:txBody>
      </p:sp>
      <p:sp>
        <p:nvSpPr>
          <p:cNvPr id="2" name="Title 1"/>
          <p:cNvSpPr>
            <a:spLocks noGrp="1"/>
          </p:cNvSpPr>
          <p:nvPr>
            <p:ph type="title" hasCustomPrompt="1"/>
          </p:nvPr>
        </p:nvSpPr>
        <p:spPr>
          <a:xfrm>
            <a:off x="594296" y="3241962"/>
            <a:ext cx="9327356" cy="508524"/>
          </a:xfrm>
          <a:noFill/>
        </p:spPr>
        <p:txBody>
          <a:bodyPr lIns="0" tIns="0" rIns="0" bIns="0" anchor="b" anchorCtr="0">
            <a:spAutoFit/>
          </a:bodyPr>
          <a:lstStyle>
            <a:lvl1pPr algn="l" defTabSz="951304" rtl="0" eaLnBrk="1" latinLnBrk="0" hangingPunct="1">
              <a:lnSpc>
                <a:spcPct val="90000"/>
              </a:lnSpc>
              <a:spcBef>
                <a:spcPct val="0"/>
              </a:spcBef>
              <a:buNone/>
              <a:defRPr lang="en-US" sz="3672" b="0" kern="1200" cap="none" spc="-51" baseline="0" dirty="0">
                <a:ln w="3175">
                  <a:noFill/>
                </a:ln>
                <a:gradFill>
                  <a:gsLst>
                    <a:gs pos="62564">
                      <a:schemeClr val="tx1"/>
                    </a:gs>
                    <a:gs pos="55000">
                      <a:schemeClr val="tx1"/>
                    </a:gs>
                  </a:gsLst>
                  <a:lin ang="5400000" scaled="0"/>
                </a:gradFill>
                <a:effectLst/>
                <a:latin typeface="Segoe UI Semibold" panose="020B0702040204020203" pitchFamily="34" charset="0"/>
                <a:ea typeface="+mn-ea"/>
                <a:cs typeface="Segoe UI Semibold" panose="020B0702040204020203" pitchFamily="34" charset="0"/>
              </a:defRPr>
            </a:lvl1pPr>
          </a:lstStyle>
          <a:p>
            <a:r>
              <a:rPr lang="en-US"/>
              <a:t>Section title</a:t>
            </a:r>
          </a:p>
        </p:txBody>
      </p:sp>
      <p:pic>
        <p:nvPicPr>
          <p:cNvPr id="4" name="Picture 3" descr="Icon&#10;&#10;Description automatically generated">
            <a:extLst>
              <a:ext uri="{FF2B5EF4-FFF2-40B4-BE49-F238E27FC236}">
                <a16:creationId xmlns:a16="http://schemas.microsoft.com/office/drawing/2014/main" id="{0E976B9C-6074-41F1-AA5A-85F56B2CDB3C}"/>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6334829" y="0"/>
            <a:ext cx="6101646" cy="6994525"/>
          </a:xfrm>
          <a:prstGeom prst="rect">
            <a:avLst/>
          </a:prstGeom>
        </p:spPr>
      </p:pic>
    </p:spTree>
    <p:extLst>
      <p:ext uri="{BB962C8B-B14F-4D97-AF65-F5344CB8AC3E}">
        <p14:creationId xmlns:p14="http://schemas.microsoft.com/office/powerpoint/2010/main" val="11918065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5_Title Slide 2">
    <p:bg>
      <p:bgPr>
        <a:solidFill>
          <a:schemeClr val="bg1">
            <a:lumMod val="95000"/>
          </a:schemeClr>
        </a:solidFill>
        <a:effectLst/>
      </p:bgPr>
    </p:bg>
    <p:spTree>
      <p:nvGrpSpPr>
        <p:cNvPr id="1" name=""/>
        <p:cNvGrpSpPr/>
        <p:nvPr/>
      </p:nvGrpSpPr>
      <p:grpSpPr>
        <a:xfrm>
          <a:off x="0" y="0"/>
          <a:ext cx="0" cy="0"/>
          <a:chOff x="0" y="0"/>
          <a:chExt cx="0" cy="0"/>
        </a:xfrm>
      </p:grpSpPr>
      <p:pic>
        <p:nvPicPr>
          <p:cNvPr id="7" name="Picture 6" descr="Graphical user interface&#10;&#10;Description automatically generated">
            <a:extLst>
              <a:ext uri="{FF2B5EF4-FFF2-40B4-BE49-F238E27FC236}">
                <a16:creationId xmlns:a16="http://schemas.microsoft.com/office/drawing/2014/main" id="{06613DB3-398E-40DC-AE1C-87CB30FB1BA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60681" y="274146"/>
            <a:ext cx="3190696" cy="960648"/>
          </a:xfrm>
          <a:prstGeom prst="rect">
            <a:avLst/>
          </a:prstGeom>
        </p:spPr>
      </p:pic>
      <p:sp>
        <p:nvSpPr>
          <p:cNvPr id="9" name="Title 1"/>
          <p:cNvSpPr>
            <a:spLocks noGrp="1"/>
          </p:cNvSpPr>
          <p:nvPr>
            <p:ph type="title" hasCustomPrompt="1"/>
          </p:nvPr>
        </p:nvSpPr>
        <p:spPr>
          <a:xfrm>
            <a:off x="554264" y="3039228"/>
            <a:ext cx="9327357" cy="564896"/>
          </a:xfrm>
          <a:noFill/>
        </p:spPr>
        <p:txBody>
          <a:bodyPr lIns="0" tIns="0" rIns="0" bIns="0" anchor="b" anchorCtr="0">
            <a:spAutoFit/>
          </a:bodyPr>
          <a:lstStyle>
            <a:lvl1pPr>
              <a:defRPr sz="3670" spc="-51" baseline="0">
                <a:solidFill>
                  <a:srgbClr val="000000"/>
                </a:solidFill>
                <a:latin typeface="Segoe UI Semibold" panose="020B0702040204020203" pitchFamily="34" charset="0"/>
                <a:cs typeface="Segoe UI Semibold" panose="020B07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79287" y="4041283"/>
            <a:ext cx="9327357" cy="251123"/>
          </a:xfrm>
          <a:noFill/>
        </p:spPr>
        <p:txBody>
          <a:bodyPr wrap="square" lIns="0" tIns="0" rIns="0" bIns="0">
            <a:spAutoFit/>
          </a:bodyPr>
          <a:lstStyle>
            <a:lvl1pPr marL="0" indent="0">
              <a:spcBef>
                <a:spcPts val="0"/>
              </a:spcBef>
              <a:buNone/>
              <a:defRPr sz="1632" spc="0" baseline="0">
                <a:solidFill>
                  <a:srgbClr val="000000"/>
                </a:solidFill>
                <a:latin typeface="Segoe UI" panose="020B0502040204020203" pitchFamily="34" charset="0"/>
                <a:cs typeface="Segoe UI" panose="020B0502040204020203" pitchFamily="34" charset="0"/>
              </a:defRPr>
            </a:lvl1pPr>
          </a:lstStyle>
          <a:p>
            <a:pPr lvl="0"/>
            <a:r>
              <a:rPr lang="en-US"/>
              <a:t>Speaker name or subtitle text</a:t>
            </a:r>
          </a:p>
        </p:txBody>
      </p:sp>
      <p:pic>
        <p:nvPicPr>
          <p:cNvPr id="13" name="Picture 12" descr="Icon&#10;&#10;Description automatically generated">
            <a:extLst>
              <a:ext uri="{FF2B5EF4-FFF2-40B4-BE49-F238E27FC236}">
                <a16:creationId xmlns:a16="http://schemas.microsoft.com/office/drawing/2014/main" id="{E780565B-86F3-4A3F-AB50-C7F8A2D1D5A3}"/>
              </a:ext>
            </a:extLst>
          </p:cNvPr>
          <p:cNvPicPr>
            <a:picLocks noChangeAspect="1"/>
          </p:cNvPicPr>
          <p:nvPr userDrawn="1"/>
        </p:nvPicPr>
        <p:blipFill rotWithShape="1">
          <a:blip r:embed="rId3">
            <a:extLst>
              <a:ext uri="{28A0092B-C50C-407E-A947-70E740481C1C}">
                <a14:useLocalDpi xmlns:a14="http://schemas.microsoft.com/office/drawing/2010/main"/>
              </a:ext>
            </a:extLst>
          </a:blip>
          <a:srcRect l="56061"/>
          <a:stretch/>
        </p:blipFill>
        <p:spPr>
          <a:xfrm>
            <a:off x="6971964" y="0"/>
            <a:ext cx="5464512" cy="6994525"/>
          </a:xfrm>
          <a:prstGeom prst="rect">
            <a:avLst/>
          </a:prstGeom>
        </p:spPr>
      </p:pic>
    </p:spTree>
    <p:extLst>
      <p:ext uri="{BB962C8B-B14F-4D97-AF65-F5344CB8AC3E}">
        <p14:creationId xmlns:p14="http://schemas.microsoft.com/office/powerpoint/2010/main" val="179896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p15:clr>
            <a:srgbClr val="5ACBF0"/>
          </p15:clr>
        </p15:guide>
        <p15:guide id="2" orient="horz" pos="2496">
          <p15:clr>
            <a:srgbClr val="5ACBF0"/>
          </p15:clr>
        </p15:guide>
        <p15:guide id="3" pos="6134">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_Title Slide 2">
    <p:bg>
      <p:bgPr>
        <a:solidFill>
          <a:schemeClr val="bg1">
            <a:lumMod val="95000"/>
          </a:schemeClr>
        </a:solidFill>
        <a:effectLst/>
      </p:bgPr>
    </p:bg>
    <p:spTree>
      <p:nvGrpSpPr>
        <p:cNvPr id="1" name=""/>
        <p:cNvGrpSpPr/>
        <p:nvPr/>
      </p:nvGrpSpPr>
      <p:grpSpPr>
        <a:xfrm>
          <a:off x="0" y="0"/>
          <a:ext cx="0" cy="0"/>
          <a:chOff x="0" y="0"/>
          <a:chExt cx="0" cy="0"/>
        </a:xfrm>
      </p:grpSpPr>
      <p:pic>
        <p:nvPicPr>
          <p:cNvPr id="7" name="Picture 6" descr="Graphical user interface&#10;&#10;Description automatically generated">
            <a:extLst>
              <a:ext uri="{FF2B5EF4-FFF2-40B4-BE49-F238E27FC236}">
                <a16:creationId xmlns:a16="http://schemas.microsoft.com/office/drawing/2014/main" id="{06613DB3-398E-40DC-AE1C-87CB30FB1BA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58666" y="271925"/>
            <a:ext cx="3190696" cy="960648"/>
          </a:xfrm>
          <a:prstGeom prst="rect">
            <a:avLst/>
          </a:prstGeom>
        </p:spPr>
      </p:pic>
      <p:sp>
        <p:nvSpPr>
          <p:cNvPr id="9" name="Title 1"/>
          <p:cNvSpPr>
            <a:spLocks noGrp="1"/>
          </p:cNvSpPr>
          <p:nvPr>
            <p:ph type="title" hasCustomPrompt="1"/>
          </p:nvPr>
        </p:nvSpPr>
        <p:spPr>
          <a:xfrm>
            <a:off x="595915" y="3039033"/>
            <a:ext cx="9327356" cy="565091"/>
          </a:xfrm>
          <a:noFill/>
        </p:spPr>
        <p:txBody>
          <a:bodyPr lIns="0" tIns="0" rIns="0" bIns="0" anchor="b" anchorCtr="0">
            <a:spAutoFit/>
          </a:bodyPr>
          <a:lstStyle>
            <a:lvl1pPr>
              <a:defRPr sz="3672" spc="-51" baseline="0">
                <a:solidFill>
                  <a:srgbClr val="000000"/>
                </a:solidFill>
                <a:latin typeface="Segoe UI Semibold" panose="020B0702040204020203" pitchFamily="34" charset="0"/>
                <a:cs typeface="Segoe UI Semibold" panose="020B07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95915" y="4041282"/>
            <a:ext cx="9327356" cy="251159"/>
          </a:xfrm>
          <a:noFill/>
        </p:spPr>
        <p:txBody>
          <a:bodyPr wrap="square" lIns="0" tIns="0" rIns="0" bIns="0">
            <a:spAutoFit/>
          </a:bodyPr>
          <a:lstStyle>
            <a:lvl1pPr marL="0" indent="0">
              <a:spcBef>
                <a:spcPts val="0"/>
              </a:spcBef>
              <a:buNone/>
              <a:defRPr sz="1632" spc="0" baseline="0">
                <a:solidFill>
                  <a:srgbClr val="000000"/>
                </a:solidFill>
                <a:latin typeface="Segoe UI" panose="020B0502040204020203" pitchFamily="34" charset="0"/>
                <a:cs typeface="Segoe UI" panose="020B0502040204020203" pitchFamily="34" charset="0"/>
              </a:defRPr>
            </a:lvl1pPr>
          </a:lstStyle>
          <a:p>
            <a:pPr lvl="0"/>
            <a:r>
              <a:rPr lang="en-US"/>
              <a:t>Speaker name or subtitle text</a:t>
            </a:r>
          </a:p>
        </p:txBody>
      </p:sp>
      <p:pic>
        <p:nvPicPr>
          <p:cNvPr id="13" name="Picture 12" descr="Icon&#10;&#10;Description automatically generated">
            <a:extLst>
              <a:ext uri="{FF2B5EF4-FFF2-40B4-BE49-F238E27FC236}">
                <a16:creationId xmlns:a16="http://schemas.microsoft.com/office/drawing/2014/main" id="{E780565B-86F3-4A3F-AB50-C7F8A2D1D5A3}"/>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12436475" cy="6994525"/>
          </a:xfrm>
          <a:prstGeom prst="rect">
            <a:avLst/>
          </a:prstGeom>
        </p:spPr>
      </p:pic>
    </p:spTree>
    <p:extLst>
      <p:ext uri="{BB962C8B-B14F-4D97-AF65-F5344CB8AC3E}">
        <p14:creationId xmlns:p14="http://schemas.microsoft.com/office/powerpoint/2010/main" val="2685580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600059" y="466302"/>
            <a:ext cx="11239464" cy="502246"/>
          </a:xfrm>
        </p:spPr>
        <p:txBody>
          <a:bodyPr/>
          <a:lstStyle>
            <a:lvl1pPr>
              <a:defRPr sz="3264"/>
            </a:lvl1pPr>
          </a:lstStyle>
          <a:p>
            <a:r>
              <a:rPr lang="en-US"/>
              <a:t>Click to edit Master title style</a:t>
            </a:r>
          </a:p>
        </p:txBody>
      </p:sp>
    </p:spTree>
    <p:extLst>
      <p:ext uri="{BB962C8B-B14F-4D97-AF65-F5344CB8AC3E}">
        <p14:creationId xmlns:p14="http://schemas.microsoft.com/office/powerpoint/2010/main" val="345536304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600061" y="2932236"/>
            <a:ext cx="4210461" cy="1130053"/>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87671288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95915" y="466302"/>
            <a:ext cx="5618874" cy="379824"/>
          </a:xfrm>
        </p:spPr>
        <p:txBody>
          <a:bodyPr tIns="64008"/>
          <a:lstStyle>
            <a:lvl1pPr>
              <a:defRPr sz="204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9492400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Section title - Risk mitigatio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96952" y="3096243"/>
            <a:ext cx="4027863" cy="508524"/>
          </a:xfrm>
          <a:noFill/>
        </p:spPr>
        <p:txBody>
          <a:bodyPr wrap="square" lIns="0" tIns="0" rIns="0" bIns="0" anchor="b" anchorCtr="0">
            <a:spAutoFit/>
          </a:bodyPr>
          <a:lstStyle>
            <a:lvl1pPr algn="l" defTabSz="951121" rtl="0" eaLnBrk="1" latinLnBrk="0" hangingPunct="1">
              <a:lnSpc>
                <a:spcPct val="90000"/>
              </a:lnSpc>
              <a:spcBef>
                <a:spcPct val="0"/>
              </a:spcBef>
              <a:buNone/>
              <a:defRPr lang="en-US" sz="3672" b="0" kern="1200" cap="none" spc="-51" baseline="0" dirty="0">
                <a:ln w="3175">
                  <a:noFill/>
                </a:ln>
                <a:solidFill>
                  <a:schemeClr val="tx1"/>
                </a:solidFill>
                <a:effectLst/>
                <a:latin typeface="+mj-lt"/>
                <a:ea typeface="+mn-ea"/>
                <a:cs typeface="Segoe UI" pitchFamily="34" charset="0"/>
              </a:defRPr>
            </a:lvl1pPr>
          </a:lstStyle>
          <a:p>
            <a:r>
              <a:rPr lang="en-US"/>
              <a:t>Section title</a:t>
            </a:r>
          </a:p>
        </p:txBody>
      </p:sp>
      <p:pic>
        <p:nvPicPr>
          <p:cNvPr id="19" name="Graphic 18">
            <a:extLst>
              <a:ext uri="{FF2B5EF4-FFF2-40B4-BE49-F238E27FC236}">
                <a16:creationId xmlns:a16="http://schemas.microsoft.com/office/drawing/2014/main" id="{9407B427-F5D0-4772-8503-A298C225977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552569" y="0"/>
            <a:ext cx="4883907" cy="6994525"/>
          </a:xfrm>
          <a:prstGeom prst="rect">
            <a:avLst/>
          </a:prstGeom>
        </p:spPr>
      </p:pic>
    </p:spTree>
    <p:extLst>
      <p:ext uri="{BB962C8B-B14F-4D97-AF65-F5344CB8AC3E}">
        <p14:creationId xmlns:p14="http://schemas.microsoft.com/office/powerpoint/2010/main" val="33895194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825513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600059" y="466301"/>
            <a:ext cx="11239464" cy="56502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95915" y="1464081"/>
            <a:ext cx="11239464" cy="164485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436475" cy="6994525"/>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1" y="0"/>
            <a:ext cx="596951" cy="59686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algn="ctr" defTabSz="950846" fontAlgn="base">
              <a:lnSpc>
                <a:spcPct val="90000"/>
              </a:lnSpc>
              <a:spcBef>
                <a:spcPct val="0"/>
              </a:spcBef>
              <a:spcAft>
                <a:spcPct val="0"/>
              </a:spcAft>
            </a:pPr>
            <a:endParaRPr lang="en-US" sz="2448">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8475" cy="298433"/>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algn="ctr" defTabSz="950846" fontAlgn="base">
              <a:lnSpc>
                <a:spcPct val="90000"/>
              </a:lnSpc>
              <a:spcBef>
                <a:spcPct val="0"/>
              </a:spcBef>
              <a:spcAft>
                <a:spcPct val="0"/>
              </a:spcAft>
            </a:pPr>
            <a:endParaRPr lang="en-US" sz="2448">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0"/>
          <a:srcRect l="762"/>
          <a:stretch/>
        </p:blipFill>
        <p:spPr>
          <a:xfrm rot="5400000">
            <a:off x="9700948" y="2900302"/>
            <a:ext cx="6994525" cy="1193925"/>
          </a:xfrm>
          <a:prstGeom prst="rect">
            <a:avLst/>
          </a:prstGeom>
        </p:spPr>
      </p:pic>
      <p:sp>
        <p:nvSpPr>
          <p:cNvPr id="6" name="TextBox 5">
            <a:extLst>
              <a:ext uri="{FF2B5EF4-FFF2-40B4-BE49-F238E27FC236}">
                <a16:creationId xmlns:a16="http://schemas.microsoft.com/office/drawing/2014/main" id="{688F807B-B7D5-9A5D-BB6E-B496D4602201}"/>
              </a:ext>
            </a:extLst>
          </p:cNvPr>
          <p:cNvSpPr txBox="1"/>
          <p:nvPr userDrawn="1">
            <p:extLst>
              <p:ext uri="{1162E1C5-73C7-4A58-AE30-91384D911F3F}">
                <p184:classification xmlns:p184="http://schemas.microsoft.com/office/powerpoint/2018/4/main" val="ftr"/>
              </p:ext>
            </p:extLst>
          </p:nvPr>
        </p:nvSpPr>
        <p:spPr>
          <a:xfrm>
            <a:off x="63500" y="6778625"/>
            <a:ext cx="1741488"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Information Classification: Public </a:t>
            </a:r>
          </a:p>
        </p:txBody>
      </p:sp>
    </p:spTree>
    <p:extLst>
      <p:ext uri="{BB962C8B-B14F-4D97-AF65-F5344CB8AC3E}">
        <p14:creationId xmlns:p14="http://schemas.microsoft.com/office/powerpoint/2010/main" val="3842455976"/>
      </p:ext>
    </p:extLst>
  </p:cSld>
  <p:clrMap bg1="lt1" tx1="dk1" bg2="lt2" tx2="dk2" accent1="accent1" accent2="accent2" accent3="accent3" accent4="accent4" accent5="accent5" accent6="accent6" hlink="hlink" folHlink="folHlink"/>
  <p:sldLayoutIdLst>
    <p:sldLayoutId id="2147484935" r:id="rId1"/>
    <p:sldLayoutId id="2147484983" r:id="rId2"/>
    <p:sldLayoutId id="2147484812" r:id="rId3"/>
    <p:sldLayoutId id="2147485285" r:id="rId4"/>
    <p:sldLayoutId id="2147485286" r:id="rId5"/>
    <p:sldLayoutId id="2147485287" r:id="rId6"/>
    <p:sldLayoutId id="2147485339" r:id="rId7"/>
    <p:sldLayoutId id="2147485343" r:id="rId8"/>
  </p:sldLayoutIdLst>
  <p:transition>
    <p:fade/>
  </p:transition>
  <p:hf sldNum="0" hdr="0" ftr="0" dt="0"/>
  <p:txStyles>
    <p:titleStyle>
      <a:lvl1pPr algn="l" defTabSz="951121" rtl="0" eaLnBrk="1" latinLnBrk="0" hangingPunct="1">
        <a:lnSpc>
          <a:spcPct val="100000"/>
        </a:lnSpc>
        <a:spcBef>
          <a:spcPct val="0"/>
        </a:spcBef>
        <a:buNone/>
        <a:defRPr lang="en-US" sz="3672" b="0" kern="1200" cap="none" spc="-51" baseline="0" dirty="0" smtClean="0">
          <a:ln w="3175">
            <a:noFill/>
          </a:ln>
          <a:solidFill>
            <a:schemeClr val="tx1"/>
          </a:solidFill>
          <a:effectLst/>
          <a:latin typeface="+mj-lt"/>
          <a:ea typeface="+mn-ea"/>
          <a:cs typeface="Segoe UI" pitchFamily="34" charset="0"/>
        </a:defRPr>
      </a:lvl1pPr>
    </p:titleStyle>
    <p:bodyStyle>
      <a:lvl1pPr marL="233104" marR="0" indent="-233104" algn="l" defTabSz="951121"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56" kern="1200" spc="0" baseline="0">
          <a:solidFill>
            <a:schemeClr val="tx1"/>
          </a:solidFill>
          <a:latin typeface="+mn-lt"/>
          <a:ea typeface="+mn-ea"/>
          <a:cs typeface="Segoe UI" panose="020B0502040204020203" pitchFamily="34" charset="0"/>
        </a:defRPr>
      </a:lvl1pPr>
      <a:lvl2pPr marL="466209" marR="0" indent="-233104" algn="l" defTabSz="951121"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40" kern="1200" spc="0" baseline="0">
          <a:solidFill>
            <a:schemeClr val="tx1"/>
          </a:solidFill>
          <a:latin typeface="+mn-lt"/>
          <a:ea typeface="+mn-ea"/>
          <a:cs typeface="+mn-cs"/>
        </a:defRPr>
      </a:lvl2pPr>
      <a:lvl3pPr marL="670175" marR="0" indent="-203966" algn="l" defTabSz="951121"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32" kern="1200" spc="0" baseline="0">
          <a:solidFill>
            <a:schemeClr val="tx1"/>
          </a:solidFill>
          <a:latin typeface="+mn-lt"/>
          <a:ea typeface="+mn-ea"/>
          <a:cs typeface="+mn-cs"/>
        </a:defRPr>
      </a:lvl3pPr>
      <a:lvl4pPr marL="859573" marR="0" indent="-184541" algn="l" defTabSz="951121"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28" kern="1200" spc="0" baseline="0">
          <a:solidFill>
            <a:schemeClr val="tx1"/>
          </a:solidFill>
          <a:latin typeface="+mn-lt"/>
          <a:ea typeface="+mn-ea"/>
          <a:cs typeface="+mn-cs"/>
        </a:defRPr>
      </a:lvl4pPr>
      <a:lvl5pPr marL="1044113" marR="0" indent="-171591" algn="l" defTabSz="951121"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28" kern="1200" spc="0" baseline="0">
          <a:solidFill>
            <a:schemeClr val="tx1"/>
          </a:solidFill>
          <a:latin typeface="+mn-lt"/>
          <a:ea typeface="+mn-ea"/>
          <a:cs typeface="+mn-cs"/>
        </a:defRPr>
      </a:lvl5pPr>
      <a:lvl6pPr marL="2615581" indent="-237781" algn="l" defTabSz="951121" rtl="0" eaLnBrk="1" latinLnBrk="0" hangingPunct="1">
        <a:spcBef>
          <a:spcPct val="20000"/>
        </a:spcBef>
        <a:buFont typeface="Arial" pitchFamily="34" charset="0"/>
        <a:buChar char="•"/>
        <a:defRPr sz="2040" kern="1200">
          <a:solidFill>
            <a:schemeClr val="tx1"/>
          </a:solidFill>
          <a:latin typeface="+mn-lt"/>
          <a:ea typeface="+mn-ea"/>
          <a:cs typeface="+mn-cs"/>
        </a:defRPr>
      </a:lvl6pPr>
      <a:lvl7pPr marL="3091144" indent="-237781" algn="l" defTabSz="951121" rtl="0" eaLnBrk="1" latinLnBrk="0" hangingPunct="1">
        <a:spcBef>
          <a:spcPct val="20000"/>
        </a:spcBef>
        <a:buFont typeface="Arial" pitchFamily="34" charset="0"/>
        <a:buChar char="•"/>
        <a:defRPr sz="2040" kern="1200">
          <a:solidFill>
            <a:schemeClr val="tx1"/>
          </a:solidFill>
          <a:latin typeface="+mn-lt"/>
          <a:ea typeface="+mn-ea"/>
          <a:cs typeface="+mn-cs"/>
        </a:defRPr>
      </a:lvl7pPr>
      <a:lvl8pPr marL="3566704" indent="-237781" algn="l" defTabSz="951121" rtl="0" eaLnBrk="1" latinLnBrk="0" hangingPunct="1">
        <a:spcBef>
          <a:spcPct val="20000"/>
        </a:spcBef>
        <a:buFont typeface="Arial" pitchFamily="34" charset="0"/>
        <a:buChar char="•"/>
        <a:defRPr sz="2040" kern="1200">
          <a:solidFill>
            <a:schemeClr val="tx1"/>
          </a:solidFill>
          <a:latin typeface="+mn-lt"/>
          <a:ea typeface="+mn-ea"/>
          <a:cs typeface="+mn-cs"/>
        </a:defRPr>
      </a:lvl8pPr>
      <a:lvl9pPr marL="4042266" indent="-237781" algn="l" defTabSz="951121" rtl="0" eaLnBrk="1" latinLnBrk="0" hangingPunct="1">
        <a:spcBef>
          <a:spcPct val="20000"/>
        </a:spcBef>
        <a:buFont typeface="Arial" pitchFamily="34" charset="0"/>
        <a:buChar char="•"/>
        <a:defRPr sz="2040" kern="1200">
          <a:solidFill>
            <a:schemeClr val="tx1"/>
          </a:solidFill>
          <a:latin typeface="+mn-lt"/>
          <a:ea typeface="+mn-ea"/>
          <a:cs typeface="+mn-cs"/>
        </a:defRPr>
      </a:lvl9pPr>
    </p:bodyStyle>
    <p:otherStyle>
      <a:defPPr>
        <a:defRPr lang="en-US"/>
      </a:defPPr>
      <a:lvl1pPr marL="0" algn="l" defTabSz="951121" rtl="0" eaLnBrk="1" latinLnBrk="0" hangingPunct="1">
        <a:defRPr sz="1836" kern="1200">
          <a:solidFill>
            <a:schemeClr val="tx1"/>
          </a:solidFill>
          <a:latin typeface="+mn-lt"/>
          <a:ea typeface="+mn-ea"/>
          <a:cs typeface="+mn-cs"/>
        </a:defRPr>
      </a:lvl1pPr>
      <a:lvl2pPr marL="475561" algn="l" defTabSz="951121" rtl="0" eaLnBrk="1" latinLnBrk="0" hangingPunct="1">
        <a:defRPr sz="1836" kern="1200">
          <a:solidFill>
            <a:schemeClr val="tx1"/>
          </a:solidFill>
          <a:latin typeface="+mn-lt"/>
          <a:ea typeface="+mn-ea"/>
          <a:cs typeface="+mn-cs"/>
        </a:defRPr>
      </a:lvl2pPr>
      <a:lvl3pPr marL="951121" algn="l" defTabSz="951121" rtl="0" eaLnBrk="1" latinLnBrk="0" hangingPunct="1">
        <a:defRPr sz="1836" kern="1200">
          <a:solidFill>
            <a:schemeClr val="tx1"/>
          </a:solidFill>
          <a:latin typeface="+mn-lt"/>
          <a:ea typeface="+mn-ea"/>
          <a:cs typeface="+mn-cs"/>
        </a:defRPr>
      </a:lvl3pPr>
      <a:lvl4pPr marL="1426681" algn="l" defTabSz="951121" rtl="0" eaLnBrk="1" latinLnBrk="0" hangingPunct="1">
        <a:defRPr sz="1836" kern="1200">
          <a:solidFill>
            <a:schemeClr val="tx1"/>
          </a:solidFill>
          <a:latin typeface="+mn-lt"/>
          <a:ea typeface="+mn-ea"/>
          <a:cs typeface="+mn-cs"/>
        </a:defRPr>
      </a:lvl4pPr>
      <a:lvl5pPr marL="1902242" algn="l" defTabSz="951121" rtl="0" eaLnBrk="1" latinLnBrk="0" hangingPunct="1">
        <a:defRPr sz="1836" kern="1200">
          <a:solidFill>
            <a:schemeClr val="tx1"/>
          </a:solidFill>
          <a:latin typeface="+mn-lt"/>
          <a:ea typeface="+mn-ea"/>
          <a:cs typeface="+mn-cs"/>
        </a:defRPr>
      </a:lvl5pPr>
      <a:lvl6pPr marL="2377803" algn="l" defTabSz="951121" rtl="0" eaLnBrk="1" latinLnBrk="0" hangingPunct="1">
        <a:defRPr sz="1836" kern="1200">
          <a:solidFill>
            <a:schemeClr val="tx1"/>
          </a:solidFill>
          <a:latin typeface="+mn-lt"/>
          <a:ea typeface="+mn-ea"/>
          <a:cs typeface="+mn-cs"/>
        </a:defRPr>
      </a:lvl6pPr>
      <a:lvl7pPr marL="2853363" algn="l" defTabSz="951121" rtl="0" eaLnBrk="1" latinLnBrk="0" hangingPunct="1">
        <a:defRPr sz="1836" kern="1200">
          <a:solidFill>
            <a:schemeClr val="tx1"/>
          </a:solidFill>
          <a:latin typeface="+mn-lt"/>
          <a:ea typeface="+mn-ea"/>
          <a:cs typeface="+mn-cs"/>
        </a:defRPr>
      </a:lvl7pPr>
      <a:lvl8pPr marL="3328923" algn="l" defTabSz="951121" rtl="0" eaLnBrk="1" latinLnBrk="0" hangingPunct="1">
        <a:defRPr sz="1836" kern="1200">
          <a:solidFill>
            <a:schemeClr val="tx1"/>
          </a:solidFill>
          <a:latin typeface="+mn-lt"/>
          <a:ea typeface="+mn-ea"/>
          <a:cs typeface="+mn-cs"/>
        </a:defRPr>
      </a:lvl8pPr>
      <a:lvl9pPr marL="3804484" algn="l" defTabSz="951121" rtl="0" eaLnBrk="1" latinLnBrk="0" hangingPunct="1">
        <a:defRPr sz="1836"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ibm.com/downloads/cas/ZBZLY7KL?_ga=2.141858545.2314564.1571071914-1491146267.1571071914&amp;_gac=1.67614947.1571071936.CNvFhYObnOUCFRKDgQodGXAH_g"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18" Type="http://schemas.openxmlformats.org/officeDocument/2006/relationships/image" Target="../media/image24.svg"/><Relationship Id="rId3" Type="http://schemas.openxmlformats.org/officeDocument/2006/relationships/image" Target="../media/image9.png"/><Relationship Id="rId7" Type="http://schemas.openxmlformats.org/officeDocument/2006/relationships/image" Target="../media/image13.sv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notesSlide" Target="../notesSlides/notesSlide3.xml"/><Relationship Id="rId16" Type="http://schemas.openxmlformats.org/officeDocument/2006/relationships/image" Target="../media/image22.svg"/><Relationship Id="rId20" Type="http://schemas.openxmlformats.org/officeDocument/2006/relationships/image" Target="../media/image26.svg"/><Relationship Id="rId1" Type="http://schemas.openxmlformats.org/officeDocument/2006/relationships/slideLayout" Target="../slideLayouts/slideLayout4.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svg"/><Relationship Id="rId9" Type="http://schemas.openxmlformats.org/officeDocument/2006/relationships/image" Target="../media/image15.svg"/><Relationship Id="rId14" Type="http://schemas.openxmlformats.org/officeDocument/2006/relationships/image" Target="../media/image2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8.sv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slides/_rels/slide9.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3.emf"/><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svg"/><Relationship Id="rId17" Type="http://schemas.openxmlformats.org/officeDocument/2006/relationships/image" Target="../media/image46.svg"/><Relationship Id="rId2" Type="http://schemas.openxmlformats.org/officeDocument/2006/relationships/notesSlide" Target="../notesSlides/notesSlide8.xml"/><Relationship Id="rId16" Type="http://schemas.openxmlformats.org/officeDocument/2006/relationships/image" Target="../media/image31.png"/><Relationship Id="rId1" Type="http://schemas.openxmlformats.org/officeDocument/2006/relationships/slideLayout" Target="../slideLayouts/slideLayout4.xml"/><Relationship Id="rId6" Type="http://schemas.openxmlformats.org/officeDocument/2006/relationships/image" Target="../media/image36.sv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45.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 Id="rId14" Type="http://schemas.openxmlformats.org/officeDocument/2006/relationships/image" Target="../media/image44.emf"/></Relationships>
</file>

<file path=ppt/slides/_rels/slide1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46.sv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4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32.sv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46.sv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13" Type="http://schemas.openxmlformats.org/officeDocument/2006/relationships/image" Target="../media/image60.png"/><Relationship Id="rId18" Type="http://schemas.openxmlformats.org/officeDocument/2006/relationships/image" Target="../media/image65.svg"/><Relationship Id="rId26" Type="http://schemas.openxmlformats.org/officeDocument/2006/relationships/image" Target="../media/image73.svg"/><Relationship Id="rId21" Type="http://schemas.openxmlformats.org/officeDocument/2006/relationships/image" Target="../media/image68.png"/><Relationship Id="rId34" Type="http://schemas.openxmlformats.org/officeDocument/2006/relationships/image" Target="../media/image79.png"/><Relationship Id="rId7" Type="http://schemas.openxmlformats.org/officeDocument/2006/relationships/image" Target="../media/image54.png"/><Relationship Id="rId12" Type="http://schemas.openxmlformats.org/officeDocument/2006/relationships/image" Target="../media/image59.svg"/><Relationship Id="rId17" Type="http://schemas.openxmlformats.org/officeDocument/2006/relationships/image" Target="../media/image64.png"/><Relationship Id="rId25" Type="http://schemas.openxmlformats.org/officeDocument/2006/relationships/image" Target="../media/image72.png"/><Relationship Id="rId33" Type="http://schemas.openxmlformats.org/officeDocument/2006/relationships/image" Target="../media/image78.png"/><Relationship Id="rId2" Type="http://schemas.openxmlformats.org/officeDocument/2006/relationships/notesSlide" Target="../notesSlides/notesSlide13.xml"/><Relationship Id="rId16" Type="http://schemas.openxmlformats.org/officeDocument/2006/relationships/image" Target="../media/image63.svg"/><Relationship Id="rId20" Type="http://schemas.openxmlformats.org/officeDocument/2006/relationships/image" Target="../media/image67.svg"/><Relationship Id="rId29" Type="http://schemas.openxmlformats.org/officeDocument/2006/relationships/image" Target="../media/image76.png"/><Relationship Id="rId1" Type="http://schemas.openxmlformats.org/officeDocument/2006/relationships/slideLayout" Target="../slideLayouts/slideLayout4.xml"/><Relationship Id="rId6" Type="http://schemas.openxmlformats.org/officeDocument/2006/relationships/image" Target="../media/image38.svg"/><Relationship Id="rId11" Type="http://schemas.openxmlformats.org/officeDocument/2006/relationships/image" Target="../media/image58.png"/><Relationship Id="rId24" Type="http://schemas.openxmlformats.org/officeDocument/2006/relationships/image" Target="../media/image71.png"/><Relationship Id="rId32" Type="http://schemas.openxmlformats.org/officeDocument/2006/relationships/image" Target="../media/image24.svg"/><Relationship Id="rId37" Type="http://schemas.openxmlformats.org/officeDocument/2006/relationships/image" Target="../media/image82.png"/><Relationship Id="rId5" Type="http://schemas.openxmlformats.org/officeDocument/2006/relationships/image" Target="../media/image37.png"/><Relationship Id="rId15" Type="http://schemas.openxmlformats.org/officeDocument/2006/relationships/image" Target="../media/image62.png"/><Relationship Id="rId23" Type="http://schemas.openxmlformats.org/officeDocument/2006/relationships/image" Target="../media/image70.svg"/><Relationship Id="rId28" Type="http://schemas.openxmlformats.org/officeDocument/2006/relationships/image" Target="../media/image75.svg"/><Relationship Id="rId36" Type="http://schemas.openxmlformats.org/officeDocument/2006/relationships/image" Target="../media/image81.png"/><Relationship Id="rId10" Type="http://schemas.openxmlformats.org/officeDocument/2006/relationships/image" Target="../media/image57.svg"/><Relationship Id="rId19" Type="http://schemas.openxmlformats.org/officeDocument/2006/relationships/image" Target="../media/image66.png"/><Relationship Id="rId31" Type="http://schemas.openxmlformats.org/officeDocument/2006/relationships/image" Target="../media/image23.png"/><Relationship Id="rId4" Type="http://schemas.openxmlformats.org/officeDocument/2006/relationships/image" Target="../media/image53.svg"/><Relationship Id="rId9" Type="http://schemas.openxmlformats.org/officeDocument/2006/relationships/image" Target="../media/image56.png"/><Relationship Id="rId14" Type="http://schemas.openxmlformats.org/officeDocument/2006/relationships/image" Target="../media/image61.svg"/><Relationship Id="rId22" Type="http://schemas.openxmlformats.org/officeDocument/2006/relationships/image" Target="../media/image69.png"/><Relationship Id="rId27" Type="http://schemas.openxmlformats.org/officeDocument/2006/relationships/image" Target="../media/image74.png"/><Relationship Id="rId30" Type="http://schemas.openxmlformats.org/officeDocument/2006/relationships/image" Target="../media/image77.png"/><Relationship Id="rId35" Type="http://schemas.openxmlformats.org/officeDocument/2006/relationships/image" Target="../media/image80.png"/><Relationship Id="rId8" Type="http://schemas.openxmlformats.org/officeDocument/2006/relationships/image" Target="../media/image55.svg"/><Relationship Id="rId3" Type="http://schemas.openxmlformats.org/officeDocument/2006/relationships/image" Target="../media/image5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83.png"/><Relationship Id="rId7"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86.png"/><Relationship Id="rId5" Type="http://schemas.openxmlformats.org/officeDocument/2006/relationships/image" Target="../media/image85.svg"/><Relationship Id="rId4" Type="http://schemas.openxmlformats.org/officeDocument/2006/relationships/image" Target="../media/image84.png"/></Relationships>
</file>

<file path=ppt/slides/_rels/slide18.xml.rels><?xml version="1.0" encoding="UTF-8" standalone="yes"?>
<Relationships xmlns="http://schemas.openxmlformats.org/package/2006/relationships"><Relationship Id="rId8" Type="http://schemas.openxmlformats.org/officeDocument/2006/relationships/image" Target="../media/image92.emf"/><Relationship Id="rId13" Type="http://schemas.openxmlformats.org/officeDocument/2006/relationships/image" Target="../media/image31.png"/><Relationship Id="rId3" Type="http://schemas.openxmlformats.org/officeDocument/2006/relationships/image" Target="../media/image87.png"/><Relationship Id="rId7" Type="http://schemas.openxmlformats.org/officeDocument/2006/relationships/image" Target="../media/image91.svg"/><Relationship Id="rId12" Type="http://schemas.openxmlformats.org/officeDocument/2006/relationships/image" Target="../media/image55.sv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90.png"/><Relationship Id="rId11" Type="http://schemas.openxmlformats.org/officeDocument/2006/relationships/image" Target="../media/image54.png"/><Relationship Id="rId5" Type="http://schemas.openxmlformats.org/officeDocument/2006/relationships/image" Target="../media/image89.png"/><Relationship Id="rId10" Type="http://schemas.openxmlformats.org/officeDocument/2006/relationships/image" Target="../media/image94.svg"/><Relationship Id="rId4" Type="http://schemas.openxmlformats.org/officeDocument/2006/relationships/image" Target="../media/image88.svg"/><Relationship Id="rId9" Type="http://schemas.openxmlformats.org/officeDocument/2006/relationships/image" Target="../media/image93.png"/><Relationship Id="rId14" Type="http://schemas.openxmlformats.org/officeDocument/2006/relationships/image" Target="../media/image32.svg"/></Relationships>
</file>

<file path=ppt/slides/_rels/slide19.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95.png"/><Relationship Id="rId7" Type="http://schemas.openxmlformats.org/officeDocument/2006/relationships/image" Target="../media/image99.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98.png"/><Relationship Id="rId11" Type="http://schemas.openxmlformats.org/officeDocument/2006/relationships/image" Target="../media/image32.svg"/><Relationship Id="rId5" Type="http://schemas.openxmlformats.org/officeDocument/2006/relationships/image" Target="../media/image97.png"/><Relationship Id="rId10" Type="http://schemas.openxmlformats.org/officeDocument/2006/relationships/image" Target="../media/image31.png"/><Relationship Id="rId4" Type="http://schemas.openxmlformats.org/officeDocument/2006/relationships/image" Target="../media/image96.png"/><Relationship Id="rId9"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104.png"/><Relationship Id="rId5" Type="http://schemas.openxmlformats.org/officeDocument/2006/relationships/customXml" Target="../ink/ink1.xml"/><Relationship Id="rId4" Type="http://schemas.openxmlformats.org/officeDocument/2006/relationships/image" Target="../media/image30.svg"/></Relationships>
</file>

<file path=ppt/slides/_rels/slide22.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104.png"/><Relationship Id="rId5" Type="http://schemas.openxmlformats.org/officeDocument/2006/relationships/customXml" Target="../ink/ink2.xml"/><Relationship Id="rId4" Type="http://schemas.openxmlformats.org/officeDocument/2006/relationships/image" Target="../media/image103.svg"/></Relationships>
</file>

<file path=ppt/slides/_rels/slide24.xml.rels><?xml version="1.0" encoding="UTF-8" standalone="yes"?>
<Relationships xmlns="http://schemas.openxmlformats.org/package/2006/relationships"><Relationship Id="rId3" Type="http://schemas.openxmlformats.org/officeDocument/2006/relationships/image" Target="../media/image106.svg"/><Relationship Id="rId2" Type="http://schemas.openxmlformats.org/officeDocument/2006/relationships/image" Target="../media/image105.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10.svg"/><Relationship Id="rId2" Type="http://schemas.openxmlformats.org/officeDocument/2006/relationships/image" Target="../media/image109.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35">
            <a:extLst>
              <a:ext uri="{FF2B5EF4-FFF2-40B4-BE49-F238E27FC236}">
                <a16:creationId xmlns:a16="http://schemas.microsoft.com/office/drawing/2014/main" id="{A1C3EC0C-8748-4746-8237-F614806CE491}"/>
              </a:ext>
            </a:extLst>
          </p:cNvPr>
          <p:cNvSpPr>
            <a:spLocks noGrp="1"/>
          </p:cNvSpPr>
          <p:nvPr>
            <p:ph type="title"/>
          </p:nvPr>
        </p:nvSpPr>
        <p:spPr>
          <a:xfrm>
            <a:off x="476775" y="2721184"/>
            <a:ext cx="6750680" cy="1107996"/>
          </a:xfrm>
        </p:spPr>
        <p:txBody>
          <a:bodyPr vert="horz" wrap="square" lIns="91745" tIns="0" rIns="0" bIns="0" rtlCol="0" anchor="ctr" anchorCtr="0">
            <a:spAutoFit/>
          </a:bodyPr>
          <a:lstStyle/>
          <a:p>
            <a:pPr>
              <a:spcBef>
                <a:spcPts val="0"/>
              </a:spcBef>
            </a:pPr>
            <a:r>
              <a:rPr lang="en-US" sz="3600" spc="0" dirty="0">
                <a:solidFill>
                  <a:schemeClr val="tx1"/>
                </a:solidFill>
              </a:rPr>
              <a:t>Secure Hybrid &amp; Multi-Cloud Environments</a:t>
            </a:r>
          </a:p>
        </p:txBody>
      </p:sp>
      <p:sp>
        <p:nvSpPr>
          <p:cNvPr id="5" name="Text Placeholder 7">
            <a:extLst>
              <a:ext uri="{FF2B5EF4-FFF2-40B4-BE49-F238E27FC236}">
                <a16:creationId xmlns:a16="http://schemas.microsoft.com/office/drawing/2014/main" id="{41275F6A-CB43-852B-7C4C-833F1657F880}"/>
              </a:ext>
            </a:extLst>
          </p:cNvPr>
          <p:cNvSpPr>
            <a:spLocks noGrp="1"/>
          </p:cNvSpPr>
          <p:nvPr>
            <p:ph type="body" sz="quarter" idx="12"/>
          </p:nvPr>
        </p:nvSpPr>
        <p:spPr>
          <a:xfrm>
            <a:off x="560237" y="4041283"/>
            <a:ext cx="9327357" cy="823424"/>
          </a:xfrm>
        </p:spPr>
        <p:txBody>
          <a:bodyPr/>
          <a:lstStyle/>
          <a:p>
            <a:pPr defTabSz="913861">
              <a:defRPr/>
            </a:pPr>
            <a:r>
              <a:rPr lang="en-US" sz="2400" dirty="0">
                <a:solidFill>
                  <a:srgbClr val="000000"/>
                </a:solidFill>
                <a:latin typeface="Segoe UI Semibold" panose="020B0702040204020203" pitchFamily="34" charset="0"/>
                <a:cs typeface="Segoe UI Semibold" panose="020B0702040204020203" pitchFamily="34" charset="0"/>
              </a:rPr>
              <a:t>Microsoft Defender for Cloud</a:t>
            </a:r>
          </a:p>
          <a:p>
            <a:pPr defTabSz="913861">
              <a:defRPr/>
            </a:pPr>
            <a:r>
              <a:rPr lang="en-US" sz="1600" dirty="0">
                <a:solidFill>
                  <a:srgbClr val="000000"/>
                </a:solidFill>
                <a:latin typeface="Segoe UI Semibold" panose="020B0702040204020203" pitchFamily="34" charset="0"/>
                <a:cs typeface="Segoe UI Semibold" panose="020B0702040204020203" pitchFamily="34" charset="0"/>
              </a:rPr>
              <a:t>Protect your multi-cloud and hybrid environments</a:t>
            </a:r>
            <a:endParaRPr lang="en-US" sz="1600" dirty="0"/>
          </a:p>
        </p:txBody>
      </p:sp>
      <p:sp>
        <p:nvSpPr>
          <p:cNvPr id="12" name="Rectangle 11">
            <a:extLst>
              <a:ext uri="{FF2B5EF4-FFF2-40B4-BE49-F238E27FC236}">
                <a16:creationId xmlns:a16="http://schemas.microsoft.com/office/drawing/2014/main" id="{6AF93783-0E64-4F4A-864B-59C390912D7C}"/>
              </a:ext>
            </a:extLst>
          </p:cNvPr>
          <p:cNvSpPr/>
          <p:nvPr/>
        </p:nvSpPr>
        <p:spPr>
          <a:xfrm>
            <a:off x="476775" y="5474307"/>
            <a:ext cx="4614533" cy="1015663"/>
          </a:xfrm>
          <a:prstGeom prst="rect">
            <a:avLst/>
          </a:prstGeom>
        </p:spPr>
        <p:txBody>
          <a:bodyPr wrap="none">
            <a:spAutoFit/>
          </a:bodyPr>
          <a:lstStyle/>
          <a:p>
            <a:pPr defTabSz="913763">
              <a:defRPr/>
            </a:pPr>
            <a:r>
              <a:rPr lang="nl-NL" sz="2000" b="1" spc="-50" dirty="0">
                <a:ln w="3175">
                  <a:noFill/>
                </a:ln>
                <a:solidFill>
                  <a:srgbClr val="0078D4"/>
                </a:solidFill>
                <a:latin typeface="Segoe UI Semibold"/>
                <a:cs typeface="Segoe UI" panose="020B0502040204020203" pitchFamily="34" charset="0"/>
              </a:rPr>
              <a:t>SALIN KUMAR C S</a:t>
            </a:r>
          </a:p>
          <a:p>
            <a:pPr defTabSz="913763">
              <a:defRPr/>
            </a:pPr>
            <a:r>
              <a:rPr lang="nl-NL" sz="2000" b="1" spc="-50" dirty="0">
                <a:ln w="3175">
                  <a:noFill/>
                </a:ln>
                <a:solidFill>
                  <a:srgbClr val="0078D4"/>
                </a:solidFill>
                <a:latin typeface="Segoe UI Semibold"/>
                <a:cs typeface="Segoe UI" panose="020B0502040204020203" pitchFamily="34" charset="0"/>
              </a:rPr>
              <a:t>Sr. Pre-Sales Consultant Microsoft Cloud</a:t>
            </a:r>
          </a:p>
          <a:p>
            <a:pPr defTabSz="913763">
              <a:defRPr/>
            </a:pPr>
            <a:r>
              <a:rPr lang="nl-NL" sz="2000" b="1" spc="-50" dirty="0">
                <a:ln w="3175">
                  <a:noFill/>
                </a:ln>
                <a:solidFill>
                  <a:srgbClr val="0078D4"/>
                </a:solidFill>
                <a:latin typeface="Segoe UI Semibold"/>
                <a:cs typeface="Segoe UI" panose="020B0502040204020203" pitchFamily="34" charset="0"/>
              </a:rPr>
              <a:t>Redington MEA</a:t>
            </a:r>
            <a:endParaRPr lang="en-US" sz="2000" b="1" dirty="0">
              <a:solidFill>
                <a:srgbClr val="0078D4"/>
              </a:solidFill>
              <a:latin typeface="Segoe UI" panose="020B0502040204020203" pitchFamily="34" charset="0"/>
            </a:endParaRPr>
          </a:p>
        </p:txBody>
      </p:sp>
    </p:spTree>
    <p:extLst>
      <p:ext uri="{BB962C8B-B14F-4D97-AF65-F5344CB8AC3E}">
        <p14:creationId xmlns:p14="http://schemas.microsoft.com/office/powerpoint/2010/main" val="1590975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7BD4FA1-364F-4432-A49D-3A360A9D6D58}"/>
              </a:ext>
            </a:extLst>
          </p:cNvPr>
          <p:cNvSpPr>
            <a:spLocks noGrp="1"/>
          </p:cNvSpPr>
          <p:nvPr>
            <p:ph type="title"/>
          </p:nvPr>
        </p:nvSpPr>
        <p:spPr>
          <a:xfrm>
            <a:off x="561147" y="475355"/>
            <a:ext cx="11239464" cy="502246"/>
          </a:xfrm>
        </p:spPr>
        <p:txBody>
          <a:bodyPr/>
          <a:lstStyle/>
          <a:p>
            <a:r>
              <a:rPr lang="en-US" sz="3600" dirty="0"/>
              <a:t>Cloud security challenges</a:t>
            </a:r>
          </a:p>
        </p:txBody>
      </p:sp>
      <p:sp>
        <p:nvSpPr>
          <p:cNvPr id="44" name="Rectangle 43">
            <a:extLst>
              <a:ext uri="{FF2B5EF4-FFF2-40B4-BE49-F238E27FC236}">
                <a16:creationId xmlns:a16="http://schemas.microsoft.com/office/drawing/2014/main" id="{3D44FD47-F07A-4D5F-98CC-9A7BC42045AD}"/>
              </a:ext>
            </a:extLst>
          </p:cNvPr>
          <p:cNvSpPr/>
          <p:nvPr/>
        </p:nvSpPr>
        <p:spPr>
          <a:xfrm>
            <a:off x="582911" y="6237292"/>
            <a:ext cx="4737337" cy="256093"/>
          </a:xfrm>
          <a:prstGeom prst="rect">
            <a:avLst/>
          </a:prstGeom>
        </p:spPr>
        <p:txBody>
          <a:bodyPr wrap="square" lIns="0" tIns="0" rIns="0" bIns="0" anchor="t">
            <a:spAutoFit/>
          </a:bodyPr>
          <a:lstStyle/>
          <a:p>
            <a:pPr defTabSz="932205">
              <a:defRPr/>
            </a:pPr>
            <a:r>
              <a:rPr lang="en-US" sz="816" baseline="30000">
                <a:solidFill>
                  <a:srgbClr val="000000"/>
                </a:solidFill>
                <a:latin typeface="Segoe UI"/>
              </a:rPr>
              <a:t>1</a:t>
            </a:r>
            <a:r>
              <a:rPr lang="en-US" sz="816">
                <a:solidFill>
                  <a:srgbClr val="000000"/>
                </a:solidFill>
                <a:latin typeface="Segoe UI"/>
              </a:rPr>
              <a:t>Source: </a:t>
            </a:r>
            <a:r>
              <a:rPr lang="en-US" sz="816">
                <a:solidFill>
                  <a:srgbClr val="3C3C41"/>
                </a:solidFill>
                <a:latin typeface="Segoe UI"/>
              </a:rPr>
              <a:t>451 Research</a:t>
            </a:r>
            <a:endParaRPr lang="en-US" sz="816">
              <a:solidFill>
                <a:srgbClr val="000000"/>
              </a:solidFill>
              <a:latin typeface="Segoe UI"/>
            </a:endParaRPr>
          </a:p>
          <a:p>
            <a:pPr defTabSz="932205">
              <a:defRPr/>
            </a:pPr>
            <a:r>
              <a:rPr lang="en-US" sz="816" baseline="30000">
                <a:solidFill>
                  <a:srgbClr val="000000"/>
                </a:solidFill>
                <a:latin typeface="Segoe UI"/>
              </a:rPr>
              <a:t>2</a:t>
            </a:r>
            <a:r>
              <a:rPr lang="en-US" sz="816">
                <a:solidFill>
                  <a:srgbClr val="000000"/>
                </a:solidFill>
                <a:latin typeface="Segoe UI"/>
              </a:rPr>
              <a:t>Source: </a:t>
            </a:r>
            <a:r>
              <a:rPr lang="en-US" sz="816" err="1">
                <a:solidFill>
                  <a:srgbClr val="000000"/>
                </a:solidFill>
                <a:latin typeface="Segoe UI"/>
                <a:hlinkClick r:id="rId3">
                  <a:extLst>
                    <a:ext uri="{A12FA001-AC4F-418D-AE19-62706E023703}">
                      <ahyp:hlinkClr xmlns:ahyp="http://schemas.microsoft.com/office/drawing/2018/hyperlinkcolor" val="tx"/>
                    </a:ext>
                  </a:extLst>
                </a:hlinkClick>
              </a:rPr>
              <a:t>Ponemon</a:t>
            </a:r>
            <a:r>
              <a:rPr lang="en-US" sz="816">
                <a:solidFill>
                  <a:srgbClr val="000000"/>
                </a:solidFill>
                <a:latin typeface="Segoe UI"/>
                <a:hlinkClick r:id="rId3">
                  <a:extLst>
                    <a:ext uri="{A12FA001-AC4F-418D-AE19-62706E023703}">
                      <ahyp:hlinkClr xmlns:ahyp="http://schemas.microsoft.com/office/drawing/2018/hyperlinkcolor" val="tx"/>
                    </a:ext>
                  </a:extLst>
                </a:hlinkClick>
              </a:rPr>
              <a:t> Institute, Cost of a Breach Report</a:t>
            </a:r>
            <a:r>
              <a:rPr lang="en-US" sz="816">
                <a:solidFill>
                  <a:srgbClr val="000000"/>
                </a:solidFill>
                <a:latin typeface="Segoe UI"/>
              </a:rPr>
              <a:t> </a:t>
            </a:r>
            <a:endParaRPr lang="en-US" sz="816">
              <a:solidFill>
                <a:srgbClr val="000000"/>
              </a:solidFill>
              <a:latin typeface="Segoe UI"/>
              <a:cs typeface="Segoe UI"/>
            </a:endParaRPr>
          </a:p>
        </p:txBody>
      </p:sp>
      <p:grpSp>
        <p:nvGrpSpPr>
          <p:cNvPr id="94" name="Group 93">
            <a:extLst>
              <a:ext uri="{FF2B5EF4-FFF2-40B4-BE49-F238E27FC236}">
                <a16:creationId xmlns:a16="http://schemas.microsoft.com/office/drawing/2014/main" id="{20880532-E3F0-4DA8-9E62-1FD48B782AC2}"/>
              </a:ext>
              <a:ext uri="{C183D7F6-B498-43B3-948B-1728B52AA6E4}">
                <adec:decorative xmlns:adec="http://schemas.microsoft.com/office/drawing/2017/decorative" val="1"/>
              </a:ext>
            </a:extLst>
          </p:cNvPr>
          <p:cNvGrpSpPr/>
          <p:nvPr/>
        </p:nvGrpSpPr>
        <p:grpSpPr>
          <a:xfrm>
            <a:off x="8220851" y="1683480"/>
            <a:ext cx="3593802" cy="3902050"/>
            <a:chOff x="8078882" y="1650368"/>
            <a:chExt cx="3524155" cy="3826430"/>
          </a:xfrm>
        </p:grpSpPr>
        <p:sp>
          <p:nvSpPr>
            <p:cNvPr id="77" name="Rectangle: Rounded Corners 76">
              <a:extLst>
                <a:ext uri="{FF2B5EF4-FFF2-40B4-BE49-F238E27FC236}">
                  <a16:creationId xmlns:a16="http://schemas.microsoft.com/office/drawing/2014/main" id="{A7487AB3-F1C1-46AB-A5C6-9364FB533602}"/>
                </a:ext>
              </a:extLst>
            </p:cNvPr>
            <p:cNvSpPr/>
            <p:nvPr/>
          </p:nvSpPr>
          <p:spPr bwMode="auto">
            <a:xfrm>
              <a:off x="8078882" y="2010743"/>
              <a:ext cx="3524155" cy="3466055"/>
            </a:xfrm>
            <a:prstGeom prst="roundRect">
              <a:avLst>
                <a:gd name="adj" fmla="val 5862"/>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pPr>
              <a:endParaRPr lang="en-US" sz="2040" err="1">
                <a:solidFill>
                  <a:srgbClr val="FFFFFF"/>
                </a:solidFill>
                <a:latin typeface="Segoe UI"/>
                <a:ea typeface="Segoe UI" pitchFamily="34" charset="0"/>
                <a:cs typeface="Segoe UI" pitchFamily="34" charset="0"/>
              </a:endParaRPr>
            </a:p>
          </p:txBody>
        </p:sp>
        <p:sp>
          <p:nvSpPr>
            <p:cNvPr id="4" name="TextBox 3">
              <a:extLst>
                <a:ext uri="{FF2B5EF4-FFF2-40B4-BE49-F238E27FC236}">
                  <a16:creationId xmlns:a16="http://schemas.microsoft.com/office/drawing/2014/main" id="{4D1E6E34-312E-4F3F-9393-DF62291DC065}"/>
                </a:ext>
              </a:extLst>
            </p:cNvPr>
            <p:cNvSpPr txBox="1"/>
            <p:nvPr/>
          </p:nvSpPr>
          <p:spPr>
            <a:xfrm>
              <a:off x="8442584" y="3651657"/>
              <a:ext cx="2844923" cy="673575"/>
            </a:xfrm>
            <a:prstGeom prst="rect">
              <a:avLst/>
            </a:prstGeom>
            <a:noFill/>
          </p:spPr>
          <p:txBody>
            <a:bodyPr wrap="square" lIns="0" tIns="93234" rIns="93234" bIns="93234" rtlCol="0">
              <a:spAutoFit/>
            </a:bodyPr>
            <a:lstStyle>
              <a:defPPr>
                <a:defRPr lang="en-US"/>
              </a:defPPr>
              <a:lvl1pPr defTabSz="932597">
                <a:lnSpc>
                  <a:spcPct val="90000"/>
                </a:lnSpc>
                <a:spcAft>
                  <a:spcPts val="816"/>
                </a:spcAft>
                <a:defRPr sz="1400">
                  <a:ln w="3175">
                    <a:noFill/>
                  </a:ln>
                  <a:solidFill>
                    <a:srgbClr val="000000"/>
                  </a:solidFill>
                  <a:latin typeface="+mj-lt"/>
                  <a:cs typeface="Segoe UI Semilight" panose="020B0402040204020203" pitchFamily="34" charset="0"/>
                </a:defRPr>
              </a:lvl1pPr>
            </a:lstStyle>
            <a:p>
              <a:pPr defTabSz="932060">
                <a:defRPr/>
              </a:pPr>
              <a:r>
                <a:rPr lang="en-US" sz="1800" dirty="0">
                  <a:solidFill>
                    <a:schemeClr val="accent3"/>
                  </a:solidFill>
                  <a:latin typeface="Segoe UI Semibold"/>
                </a:rPr>
                <a:t>Complexity managing multi-cloud environments</a:t>
              </a:r>
            </a:p>
          </p:txBody>
        </p:sp>
        <p:sp>
          <p:nvSpPr>
            <p:cNvPr id="39" name="TextBox 38">
              <a:extLst>
                <a:ext uri="{FF2B5EF4-FFF2-40B4-BE49-F238E27FC236}">
                  <a16:creationId xmlns:a16="http://schemas.microsoft.com/office/drawing/2014/main" id="{8E059A9A-7313-4F31-AA89-42522EA4AA3B}"/>
                </a:ext>
              </a:extLst>
            </p:cNvPr>
            <p:cNvSpPr txBox="1"/>
            <p:nvPr/>
          </p:nvSpPr>
          <p:spPr>
            <a:xfrm>
              <a:off x="8834597" y="4270672"/>
              <a:ext cx="2539091" cy="830101"/>
            </a:xfrm>
            <a:prstGeom prst="rect">
              <a:avLst/>
            </a:prstGeom>
            <a:noFill/>
            <a:ln>
              <a:noFill/>
            </a:ln>
            <a:effectLst/>
          </p:spPr>
          <p:txBody>
            <a:bodyPr wrap="square" lIns="0" tIns="93234" rIns="93234" bIns="93234" rtlCol="0">
              <a:spAutoFit/>
            </a:bodyPr>
            <a:lstStyle/>
            <a:p>
              <a:pPr defTabSz="932205">
                <a:defRPr/>
              </a:pPr>
              <a:r>
                <a:rPr lang="en-US" sz="1398" b="1" dirty="0">
                  <a:ln w="3175">
                    <a:noFill/>
                  </a:ln>
                  <a:gradFill>
                    <a:gsLst>
                      <a:gs pos="83000">
                        <a:srgbClr val="000000"/>
                      </a:gs>
                      <a:gs pos="100000">
                        <a:srgbClr val="000000"/>
                      </a:gs>
                    </a:gsLst>
                    <a:lin ang="5400000" scaled="1"/>
                  </a:gradFill>
                  <a:latin typeface="+mj-lt"/>
                  <a:cs typeface="Segoe UI Semilight" panose="020B0402040204020203" pitchFamily="34" charset="0"/>
                </a:rPr>
                <a:t>92% </a:t>
              </a:r>
              <a:r>
                <a:rPr lang="en-US" sz="1398" dirty="0">
                  <a:gradFill>
                    <a:gsLst>
                      <a:gs pos="83000">
                        <a:srgbClr val="000000"/>
                      </a:gs>
                      <a:gs pos="100000">
                        <a:srgbClr val="000000"/>
                      </a:gs>
                    </a:gsLst>
                    <a:lin ang="5400000" scaled="1"/>
                  </a:gradFill>
                  <a:latin typeface="Segoe UI"/>
                </a:rPr>
                <a:t>of organizations are embracing a multi-cloud strategy</a:t>
              </a:r>
            </a:p>
          </p:txBody>
        </p:sp>
        <p:grpSp>
          <p:nvGrpSpPr>
            <p:cNvPr id="21" name="Group 20">
              <a:extLst>
                <a:ext uri="{FF2B5EF4-FFF2-40B4-BE49-F238E27FC236}">
                  <a16:creationId xmlns:a16="http://schemas.microsoft.com/office/drawing/2014/main" id="{AB98E84C-5FE1-4870-BBCB-D04DEF8D2EE9}"/>
                </a:ext>
              </a:extLst>
            </p:cNvPr>
            <p:cNvGrpSpPr/>
            <p:nvPr/>
          </p:nvGrpSpPr>
          <p:grpSpPr>
            <a:xfrm>
              <a:off x="8442585" y="4395996"/>
              <a:ext cx="217363" cy="162063"/>
              <a:chOff x="8865677" y="4099560"/>
              <a:chExt cx="235892" cy="175878"/>
            </a:xfrm>
            <a:solidFill>
              <a:schemeClr val="tx2"/>
            </a:solidFill>
          </p:grpSpPr>
          <p:sp>
            <p:nvSpPr>
              <p:cNvPr id="59" name="Graphic 4">
                <a:extLst>
                  <a:ext uri="{FF2B5EF4-FFF2-40B4-BE49-F238E27FC236}">
                    <a16:creationId xmlns:a16="http://schemas.microsoft.com/office/drawing/2014/main" id="{A16E06E1-0602-44FB-AC42-90F9F1871532}"/>
                  </a:ext>
                  <a:ext uri="{C183D7F6-B498-43B3-948B-1728B52AA6E4}">
                    <adec:decorative xmlns:adec="http://schemas.microsoft.com/office/drawing/2017/decorative" val="1"/>
                  </a:ext>
                </a:extLst>
              </p:cNvPr>
              <p:cNvSpPr/>
              <p:nvPr/>
            </p:nvSpPr>
            <p:spPr>
              <a:xfrm>
                <a:off x="8865677" y="4099560"/>
                <a:ext cx="107905" cy="175878"/>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accent3"/>
              </a:solidFill>
              <a:ln w="9525" cap="flat">
                <a:noFill/>
                <a:prstDash val="solid"/>
                <a:miter/>
              </a:ln>
            </p:spPr>
            <p:txBody>
              <a:bodyPr rtlCol="0" anchor="ctr"/>
              <a:lstStyle/>
              <a:p>
                <a:pPr defTabSz="932418"/>
                <a:endParaRPr lang="en-US" sz="1836">
                  <a:solidFill>
                    <a:srgbClr val="000000"/>
                  </a:solidFill>
                  <a:latin typeface="Segoe UI"/>
                </a:endParaRPr>
              </a:p>
            </p:txBody>
          </p:sp>
          <p:sp>
            <p:nvSpPr>
              <p:cNvPr id="60" name="Graphic 4">
                <a:extLst>
                  <a:ext uri="{FF2B5EF4-FFF2-40B4-BE49-F238E27FC236}">
                    <a16:creationId xmlns:a16="http://schemas.microsoft.com/office/drawing/2014/main" id="{3DE40B2D-FE34-4381-A86C-7975C62EFD3E}"/>
                  </a:ext>
                  <a:ext uri="{C183D7F6-B498-43B3-948B-1728B52AA6E4}">
                    <adec:decorative xmlns:adec="http://schemas.microsoft.com/office/drawing/2017/decorative" val="1"/>
                  </a:ext>
                </a:extLst>
              </p:cNvPr>
              <p:cNvSpPr/>
              <p:nvPr/>
            </p:nvSpPr>
            <p:spPr>
              <a:xfrm>
                <a:off x="8993664" y="4099560"/>
                <a:ext cx="107905" cy="175878"/>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accent3"/>
              </a:solidFill>
              <a:ln w="9525" cap="flat">
                <a:noFill/>
                <a:prstDash val="solid"/>
                <a:miter/>
              </a:ln>
            </p:spPr>
            <p:txBody>
              <a:bodyPr rtlCol="0" anchor="ctr"/>
              <a:lstStyle/>
              <a:p>
                <a:pPr defTabSz="932418"/>
                <a:endParaRPr lang="en-US" sz="1836">
                  <a:solidFill>
                    <a:srgbClr val="000000"/>
                  </a:solidFill>
                  <a:latin typeface="Segoe UI"/>
                </a:endParaRPr>
              </a:p>
            </p:txBody>
          </p:sp>
        </p:grpSp>
        <p:sp>
          <p:nvSpPr>
            <p:cNvPr id="70" name="clock_10">
              <a:extLst>
                <a:ext uri="{FF2B5EF4-FFF2-40B4-BE49-F238E27FC236}">
                  <a16:creationId xmlns:a16="http://schemas.microsoft.com/office/drawing/2014/main" id="{23349FA2-7951-49C7-A924-D673F263203A}"/>
                </a:ext>
              </a:extLst>
            </p:cNvPr>
            <p:cNvSpPr>
              <a:spLocks noChangeAspect="1" noEditPoints="1"/>
            </p:cNvSpPr>
            <p:nvPr/>
          </p:nvSpPr>
          <p:spPr bwMode="auto">
            <a:xfrm>
              <a:off x="8442584" y="2663262"/>
              <a:ext cx="708613" cy="711091"/>
            </a:xfrm>
            <a:custGeom>
              <a:avLst/>
              <a:gdLst>
                <a:gd name="T0" fmla="*/ 286 w 323"/>
                <a:gd name="T1" fmla="*/ 324 h 324"/>
                <a:gd name="T2" fmla="*/ 287 w 323"/>
                <a:gd name="T3" fmla="*/ 311 h 324"/>
                <a:gd name="T4" fmla="*/ 217 w 323"/>
                <a:gd name="T5" fmla="*/ 199 h 324"/>
                <a:gd name="T6" fmla="*/ 204 w 323"/>
                <a:gd name="T7" fmla="*/ 193 h 324"/>
                <a:gd name="T8" fmla="*/ 185 w 323"/>
                <a:gd name="T9" fmla="*/ 164 h 324"/>
                <a:gd name="T10" fmla="*/ 207 w 323"/>
                <a:gd name="T11" fmla="*/ 131 h 324"/>
                <a:gd name="T12" fmla="*/ 218 w 323"/>
                <a:gd name="T13" fmla="*/ 126 h 324"/>
                <a:gd name="T14" fmla="*/ 287 w 323"/>
                <a:gd name="T15" fmla="*/ 14 h 324"/>
                <a:gd name="T16" fmla="*/ 286 w 323"/>
                <a:gd name="T17" fmla="*/ 0 h 324"/>
                <a:gd name="T18" fmla="*/ 37 w 323"/>
                <a:gd name="T19" fmla="*/ 324 h 324"/>
                <a:gd name="T20" fmla="*/ 37 w 323"/>
                <a:gd name="T21" fmla="*/ 311 h 324"/>
                <a:gd name="T22" fmla="*/ 105 w 323"/>
                <a:gd name="T23" fmla="*/ 200 h 324"/>
                <a:gd name="T24" fmla="*/ 117 w 323"/>
                <a:gd name="T25" fmla="*/ 194 h 324"/>
                <a:gd name="T26" fmla="*/ 137 w 323"/>
                <a:gd name="T27" fmla="*/ 164 h 324"/>
                <a:gd name="T28" fmla="*/ 117 w 323"/>
                <a:gd name="T29" fmla="*/ 133 h 324"/>
                <a:gd name="T30" fmla="*/ 104 w 323"/>
                <a:gd name="T31" fmla="*/ 126 h 324"/>
                <a:gd name="T32" fmla="*/ 37 w 323"/>
                <a:gd name="T33" fmla="*/ 14 h 324"/>
                <a:gd name="T34" fmla="*/ 37 w 323"/>
                <a:gd name="T35" fmla="*/ 0 h 324"/>
                <a:gd name="T36" fmla="*/ 0 w 323"/>
                <a:gd name="T37" fmla="*/ 0 h 324"/>
                <a:gd name="T38" fmla="*/ 323 w 323"/>
                <a:gd name="T39" fmla="*/ 0 h 324"/>
                <a:gd name="T40" fmla="*/ 0 w 323"/>
                <a:gd name="T41" fmla="*/ 324 h 324"/>
                <a:gd name="T42" fmla="*/ 323 w 323"/>
                <a:gd name="T43" fmla="*/ 32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3" h="324">
                  <a:moveTo>
                    <a:pt x="286" y="324"/>
                  </a:moveTo>
                  <a:cubicBezTo>
                    <a:pt x="287" y="320"/>
                    <a:pt x="287" y="316"/>
                    <a:pt x="287" y="311"/>
                  </a:cubicBezTo>
                  <a:cubicBezTo>
                    <a:pt x="287" y="262"/>
                    <a:pt x="258" y="219"/>
                    <a:pt x="217" y="199"/>
                  </a:cubicBezTo>
                  <a:cubicBezTo>
                    <a:pt x="204" y="193"/>
                    <a:pt x="204" y="193"/>
                    <a:pt x="204" y="193"/>
                  </a:cubicBezTo>
                  <a:cubicBezTo>
                    <a:pt x="193" y="188"/>
                    <a:pt x="185" y="176"/>
                    <a:pt x="185" y="164"/>
                  </a:cubicBezTo>
                  <a:cubicBezTo>
                    <a:pt x="185" y="149"/>
                    <a:pt x="195" y="136"/>
                    <a:pt x="207" y="131"/>
                  </a:cubicBezTo>
                  <a:cubicBezTo>
                    <a:pt x="218" y="126"/>
                    <a:pt x="218" y="126"/>
                    <a:pt x="218" y="126"/>
                  </a:cubicBezTo>
                  <a:cubicBezTo>
                    <a:pt x="259" y="105"/>
                    <a:pt x="287" y="63"/>
                    <a:pt x="287" y="14"/>
                  </a:cubicBezTo>
                  <a:cubicBezTo>
                    <a:pt x="287" y="10"/>
                    <a:pt x="286" y="4"/>
                    <a:pt x="286" y="0"/>
                  </a:cubicBezTo>
                  <a:moveTo>
                    <a:pt x="37" y="324"/>
                  </a:moveTo>
                  <a:cubicBezTo>
                    <a:pt x="37" y="320"/>
                    <a:pt x="37" y="316"/>
                    <a:pt x="37" y="311"/>
                  </a:cubicBezTo>
                  <a:cubicBezTo>
                    <a:pt x="37" y="263"/>
                    <a:pt x="64" y="220"/>
                    <a:pt x="105" y="200"/>
                  </a:cubicBezTo>
                  <a:cubicBezTo>
                    <a:pt x="117" y="194"/>
                    <a:pt x="117" y="194"/>
                    <a:pt x="117" y="194"/>
                  </a:cubicBezTo>
                  <a:cubicBezTo>
                    <a:pt x="129" y="189"/>
                    <a:pt x="137" y="177"/>
                    <a:pt x="137" y="164"/>
                  </a:cubicBezTo>
                  <a:cubicBezTo>
                    <a:pt x="137" y="149"/>
                    <a:pt x="129" y="139"/>
                    <a:pt x="117" y="133"/>
                  </a:cubicBezTo>
                  <a:cubicBezTo>
                    <a:pt x="104" y="126"/>
                    <a:pt x="104" y="126"/>
                    <a:pt x="104" y="126"/>
                  </a:cubicBezTo>
                  <a:cubicBezTo>
                    <a:pt x="63" y="105"/>
                    <a:pt x="37" y="64"/>
                    <a:pt x="37" y="14"/>
                  </a:cubicBezTo>
                  <a:cubicBezTo>
                    <a:pt x="37" y="10"/>
                    <a:pt x="37" y="5"/>
                    <a:pt x="37" y="0"/>
                  </a:cubicBezTo>
                  <a:moveTo>
                    <a:pt x="0" y="0"/>
                  </a:moveTo>
                  <a:cubicBezTo>
                    <a:pt x="323" y="0"/>
                    <a:pt x="323" y="0"/>
                    <a:pt x="323" y="0"/>
                  </a:cubicBezTo>
                  <a:moveTo>
                    <a:pt x="0" y="324"/>
                  </a:moveTo>
                  <a:cubicBezTo>
                    <a:pt x="323" y="324"/>
                    <a:pt x="323" y="324"/>
                    <a:pt x="323" y="324"/>
                  </a:cubicBezTo>
                </a:path>
              </a:pathLst>
            </a:custGeom>
            <a:solidFill>
              <a:srgbClr val="F2F2F2"/>
            </a:solidFill>
            <a:ln w="38100" cap="sq">
              <a:solidFill>
                <a:srgbClr val="D2D2D2"/>
              </a:solidFill>
              <a:prstDash val="solid"/>
              <a:miter lim="800000"/>
              <a:headEnd/>
              <a:tailEnd/>
            </a:ln>
          </p:spPr>
          <p:txBody>
            <a:bodyPr vert="horz" wrap="square" lIns="91414" tIns="45706" rIns="91414" bIns="45706" numCol="1" anchor="t" anchorCtr="0" compatLnSpc="1">
              <a:prstTxWarp prst="textNoShape">
                <a:avLst/>
              </a:prstTxWarp>
            </a:bodyPr>
            <a:lstStyle/>
            <a:p>
              <a:pPr defTabSz="932418"/>
              <a:endParaRPr lang="en-US" sz="1763">
                <a:solidFill>
                  <a:srgbClr val="000000"/>
                </a:solidFill>
                <a:latin typeface="Segoe UI"/>
              </a:endParaRPr>
            </a:p>
          </p:txBody>
        </p:sp>
        <p:sp>
          <p:nvSpPr>
            <p:cNvPr id="83" name="Oval 82">
              <a:extLst>
                <a:ext uri="{FF2B5EF4-FFF2-40B4-BE49-F238E27FC236}">
                  <a16:creationId xmlns:a16="http://schemas.microsoft.com/office/drawing/2014/main" id="{622D31DD-F23C-41DF-8090-8270690061F4}"/>
                </a:ext>
              </a:extLst>
            </p:cNvPr>
            <p:cNvSpPr/>
            <p:nvPr/>
          </p:nvSpPr>
          <p:spPr bwMode="auto">
            <a:xfrm>
              <a:off x="10454132" y="1650368"/>
              <a:ext cx="833377" cy="833377"/>
            </a:xfrm>
            <a:prstGeom prst="ellipse">
              <a:avLst/>
            </a:prstGeom>
            <a:solidFill>
              <a:schemeClr val="accent3"/>
            </a:solidFill>
            <a:ln w="571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pPr>
              <a:endParaRPr lang="en-US" sz="2040" dirty="0">
                <a:solidFill>
                  <a:srgbClr val="FFFFFF"/>
                </a:solidFill>
                <a:latin typeface="Segoe UI"/>
                <a:ea typeface="Segoe UI" pitchFamily="34" charset="0"/>
                <a:cs typeface="Segoe UI" pitchFamily="34" charset="0"/>
              </a:endParaRPr>
            </a:p>
          </p:txBody>
        </p:sp>
        <p:pic>
          <p:nvPicPr>
            <p:cNvPr id="84" name="Graphic 83">
              <a:extLst>
                <a:ext uri="{FF2B5EF4-FFF2-40B4-BE49-F238E27FC236}">
                  <a16:creationId xmlns:a16="http://schemas.microsoft.com/office/drawing/2014/main" id="{3145791E-4595-4FA1-AB65-540560170A9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706756" y="1861431"/>
              <a:ext cx="328129" cy="341800"/>
            </a:xfrm>
            <a:prstGeom prst="rect">
              <a:avLst/>
            </a:prstGeom>
          </p:spPr>
        </p:pic>
      </p:grpSp>
      <p:grpSp>
        <p:nvGrpSpPr>
          <p:cNvPr id="93" name="Group 92">
            <a:extLst>
              <a:ext uri="{FF2B5EF4-FFF2-40B4-BE49-F238E27FC236}">
                <a16:creationId xmlns:a16="http://schemas.microsoft.com/office/drawing/2014/main" id="{812CFFA6-4801-4B56-AC9A-A7E1EB39EF6E}"/>
              </a:ext>
              <a:ext uri="{C183D7F6-B498-43B3-948B-1728B52AA6E4}">
                <adec:decorative xmlns:adec="http://schemas.microsoft.com/office/drawing/2017/decorative" val="1"/>
              </a:ext>
            </a:extLst>
          </p:cNvPr>
          <p:cNvGrpSpPr/>
          <p:nvPr/>
        </p:nvGrpSpPr>
        <p:grpSpPr>
          <a:xfrm>
            <a:off x="4401881" y="1683480"/>
            <a:ext cx="3593802" cy="3902050"/>
            <a:chOff x="4333923" y="1650368"/>
            <a:chExt cx="3524155" cy="3826430"/>
          </a:xfrm>
        </p:grpSpPr>
        <p:sp>
          <p:nvSpPr>
            <p:cNvPr id="76" name="Rectangle: Rounded Corners 75">
              <a:extLst>
                <a:ext uri="{FF2B5EF4-FFF2-40B4-BE49-F238E27FC236}">
                  <a16:creationId xmlns:a16="http://schemas.microsoft.com/office/drawing/2014/main" id="{9CA1026B-2934-4574-8169-A58DD73BEFD6}"/>
                </a:ext>
              </a:extLst>
            </p:cNvPr>
            <p:cNvSpPr/>
            <p:nvPr/>
          </p:nvSpPr>
          <p:spPr bwMode="auto">
            <a:xfrm>
              <a:off x="4333923" y="2010743"/>
              <a:ext cx="3524155" cy="3466055"/>
            </a:xfrm>
            <a:prstGeom prst="roundRect">
              <a:avLst>
                <a:gd name="adj" fmla="val 4548"/>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pPr>
              <a:endParaRPr lang="en-US" sz="2040" err="1">
                <a:solidFill>
                  <a:srgbClr val="FFFFFF"/>
                </a:solidFill>
                <a:latin typeface="Segoe UI"/>
                <a:ea typeface="Segoe UI" pitchFamily="34" charset="0"/>
                <a:cs typeface="Segoe UI" pitchFamily="34" charset="0"/>
              </a:endParaRPr>
            </a:p>
          </p:txBody>
        </p:sp>
        <p:sp>
          <p:nvSpPr>
            <p:cNvPr id="8" name="TextBox 7">
              <a:extLst>
                <a:ext uri="{FF2B5EF4-FFF2-40B4-BE49-F238E27FC236}">
                  <a16:creationId xmlns:a16="http://schemas.microsoft.com/office/drawing/2014/main" id="{CDBAB4C4-E6CE-44E6-83F6-9B3CF3001F04}"/>
                </a:ext>
              </a:extLst>
            </p:cNvPr>
            <p:cNvSpPr txBox="1"/>
            <p:nvPr/>
          </p:nvSpPr>
          <p:spPr>
            <a:xfrm>
              <a:off x="4747926" y="3642873"/>
              <a:ext cx="2666627" cy="673575"/>
            </a:xfrm>
            <a:prstGeom prst="rect">
              <a:avLst/>
            </a:prstGeom>
            <a:noFill/>
          </p:spPr>
          <p:txBody>
            <a:bodyPr wrap="square" lIns="0" tIns="93234" rIns="93234" bIns="93234" rtlCol="0">
              <a:spAutoFit/>
            </a:bodyPr>
            <a:lstStyle>
              <a:defPPr>
                <a:defRPr lang="en-US"/>
              </a:defPPr>
              <a:lvl1pPr defTabSz="932597">
                <a:lnSpc>
                  <a:spcPct val="90000"/>
                </a:lnSpc>
                <a:spcAft>
                  <a:spcPts val="816"/>
                </a:spcAft>
                <a:defRPr sz="1400">
                  <a:ln w="3175">
                    <a:noFill/>
                  </a:ln>
                  <a:solidFill>
                    <a:srgbClr val="000000"/>
                  </a:solidFill>
                  <a:latin typeface="+mj-lt"/>
                  <a:cs typeface="Segoe UI Semilight" panose="020B0402040204020203" pitchFamily="34" charset="0"/>
                </a:defRPr>
              </a:lvl1pPr>
            </a:lstStyle>
            <a:p>
              <a:pPr defTabSz="932060">
                <a:defRPr/>
              </a:pPr>
              <a:r>
                <a:rPr lang="en-US" sz="1800" dirty="0">
                  <a:solidFill>
                    <a:schemeClr val="accent3"/>
                  </a:solidFill>
                  <a:latin typeface="Segoe UI Semibold"/>
                </a:rPr>
                <a:t>Increase in number and sophistication of attacks</a:t>
              </a:r>
            </a:p>
          </p:txBody>
        </p:sp>
        <p:sp>
          <p:nvSpPr>
            <p:cNvPr id="48" name="TextBox 47">
              <a:extLst>
                <a:ext uri="{FF2B5EF4-FFF2-40B4-BE49-F238E27FC236}">
                  <a16:creationId xmlns:a16="http://schemas.microsoft.com/office/drawing/2014/main" id="{9A50C212-13F3-4B1C-94A7-2399BE26F7FB}"/>
                </a:ext>
              </a:extLst>
            </p:cNvPr>
            <p:cNvSpPr txBox="1"/>
            <p:nvPr/>
          </p:nvSpPr>
          <p:spPr>
            <a:xfrm>
              <a:off x="5133285" y="4270672"/>
              <a:ext cx="2191869" cy="615479"/>
            </a:xfrm>
            <a:prstGeom prst="rect">
              <a:avLst/>
            </a:prstGeom>
            <a:noFill/>
            <a:ln>
              <a:noFill/>
            </a:ln>
            <a:effectLst/>
          </p:spPr>
          <p:txBody>
            <a:bodyPr wrap="square" lIns="0" tIns="93234" rIns="93234" bIns="93234" rtlCol="0" anchor="t">
              <a:spAutoFit/>
            </a:bodyPr>
            <a:lstStyle/>
            <a:p>
              <a:pPr defTabSz="932205">
                <a:defRPr/>
              </a:pPr>
              <a:r>
                <a:rPr lang="en-US" sz="1398" dirty="0">
                  <a:gradFill>
                    <a:gsLst>
                      <a:gs pos="83000">
                        <a:srgbClr val="000000"/>
                      </a:gs>
                      <a:gs pos="100000">
                        <a:srgbClr val="000000"/>
                      </a:gs>
                    </a:gsLst>
                    <a:lin ang="5400000" scaled="1"/>
                  </a:gradFill>
                  <a:latin typeface="Segoe UI"/>
                </a:rPr>
                <a:t>​In 2024, the average cost of a breach was </a:t>
              </a:r>
              <a:r>
                <a:rPr lang="en-US" sz="1398" b="1" dirty="0">
                  <a:ln w="3175">
                    <a:noFill/>
                  </a:ln>
                  <a:gradFill>
                    <a:gsLst>
                      <a:gs pos="83000">
                        <a:srgbClr val="000000"/>
                      </a:gs>
                      <a:gs pos="100000">
                        <a:srgbClr val="000000"/>
                      </a:gs>
                    </a:gsLst>
                    <a:lin ang="5400000" scaled="1"/>
                  </a:gradFill>
                  <a:latin typeface="+mj-lt"/>
                  <a:cs typeface="Segoe UI Semilight" panose="020B0402040204020203" pitchFamily="34" charset="0"/>
                </a:rPr>
                <a:t>$4.24M.</a:t>
              </a:r>
              <a:r>
                <a:rPr lang="en-US" sz="1398" baseline="30000" dirty="0">
                  <a:gradFill>
                    <a:gsLst>
                      <a:gs pos="83000">
                        <a:srgbClr val="000000"/>
                      </a:gs>
                      <a:gs pos="100000">
                        <a:srgbClr val="000000"/>
                      </a:gs>
                    </a:gsLst>
                    <a:lin ang="5400000" scaled="1"/>
                  </a:gradFill>
                  <a:latin typeface="Segoe UI"/>
                </a:rPr>
                <a:t>2 </a:t>
              </a:r>
            </a:p>
          </p:txBody>
        </p:sp>
        <p:grpSp>
          <p:nvGrpSpPr>
            <p:cNvPr id="61" name="Group 60">
              <a:extLst>
                <a:ext uri="{FF2B5EF4-FFF2-40B4-BE49-F238E27FC236}">
                  <a16:creationId xmlns:a16="http://schemas.microsoft.com/office/drawing/2014/main" id="{AC8C4A1D-EE3F-4BC0-ADE8-E55132C193F9}"/>
                </a:ext>
              </a:extLst>
            </p:cNvPr>
            <p:cNvGrpSpPr/>
            <p:nvPr/>
          </p:nvGrpSpPr>
          <p:grpSpPr>
            <a:xfrm>
              <a:off x="4747927" y="4395996"/>
              <a:ext cx="217363" cy="162063"/>
              <a:chOff x="8865677" y="4099560"/>
              <a:chExt cx="235892" cy="175878"/>
            </a:xfrm>
            <a:solidFill>
              <a:schemeClr val="tx2"/>
            </a:solidFill>
          </p:grpSpPr>
          <p:sp>
            <p:nvSpPr>
              <p:cNvPr id="62" name="Graphic 4">
                <a:extLst>
                  <a:ext uri="{FF2B5EF4-FFF2-40B4-BE49-F238E27FC236}">
                    <a16:creationId xmlns:a16="http://schemas.microsoft.com/office/drawing/2014/main" id="{971AC2D6-3A4F-402E-9AC4-CD3861D46C4E}"/>
                  </a:ext>
                  <a:ext uri="{C183D7F6-B498-43B3-948B-1728B52AA6E4}">
                    <adec:decorative xmlns:adec="http://schemas.microsoft.com/office/drawing/2017/decorative" val="1"/>
                  </a:ext>
                </a:extLst>
              </p:cNvPr>
              <p:cNvSpPr/>
              <p:nvPr/>
            </p:nvSpPr>
            <p:spPr>
              <a:xfrm>
                <a:off x="8865677" y="4099560"/>
                <a:ext cx="107905" cy="175878"/>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accent3"/>
              </a:solidFill>
              <a:ln w="9525" cap="flat">
                <a:noFill/>
                <a:prstDash val="solid"/>
                <a:miter/>
              </a:ln>
            </p:spPr>
            <p:txBody>
              <a:bodyPr rtlCol="0" anchor="ctr"/>
              <a:lstStyle/>
              <a:p>
                <a:pPr defTabSz="932418"/>
                <a:endParaRPr lang="en-US" sz="1836">
                  <a:solidFill>
                    <a:srgbClr val="000000"/>
                  </a:solidFill>
                  <a:latin typeface="Segoe UI"/>
                </a:endParaRPr>
              </a:p>
            </p:txBody>
          </p:sp>
          <p:sp>
            <p:nvSpPr>
              <p:cNvPr id="63" name="Graphic 4">
                <a:extLst>
                  <a:ext uri="{FF2B5EF4-FFF2-40B4-BE49-F238E27FC236}">
                    <a16:creationId xmlns:a16="http://schemas.microsoft.com/office/drawing/2014/main" id="{4DC5D588-0AD7-400A-9649-F6D9B1A50513}"/>
                  </a:ext>
                  <a:ext uri="{C183D7F6-B498-43B3-948B-1728B52AA6E4}">
                    <adec:decorative xmlns:adec="http://schemas.microsoft.com/office/drawing/2017/decorative" val="1"/>
                  </a:ext>
                </a:extLst>
              </p:cNvPr>
              <p:cNvSpPr/>
              <p:nvPr/>
            </p:nvSpPr>
            <p:spPr>
              <a:xfrm>
                <a:off x="8993664" y="4099560"/>
                <a:ext cx="107905" cy="175878"/>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accent3"/>
              </a:solidFill>
              <a:ln w="9525" cap="flat">
                <a:noFill/>
                <a:prstDash val="solid"/>
                <a:miter/>
              </a:ln>
            </p:spPr>
            <p:txBody>
              <a:bodyPr rtlCol="0" anchor="ctr"/>
              <a:lstStyle/>
              <a:p>
                <a:pPr defTabSz="932418"/>
                <a:endParaRPr lang="en-US" sz="1836">
                  <a:solidFill>
                    <a:srgbClr val="000000"/>
                  </a:solidFill>
                  <a:latin typeface="Segoe UI"/>
                </a:endParaRPr>
              </a:p>
            </p:txBody>
          </p:sp>
        </p:grpSp>
        <p:sp>
          <p:nvSpPr>
            <p:cNvPr id="69" name="strategy">
              <a:extLst>
                <a:ext uri="{FF2B5EF4-FFF2-40B4-BE49-F238E27FC236}">
                  <a16:creationId xmlns:a16="http://schemas.microsoft.com/office/drawing/2014/main" id="{F0AC805D-FE68-43D4-A0B2-8DD86D7F4AA3}"/>
                </a:ext>
              </a:extLst>
            </p:cNvPr>
            <p:cNvSpPr>
              <a:spLocks noChangeAspect="1" noEditPoints="1"/>
            </p:cNvSpPr>
            <p:nvPr/>
          </p:nvSpPr>
          <p:spPr bwMode="auto">
            <a:xfrm>
              <a:off x="4747927" y="2483745"/>
              <a:ext cx="725018" cy="965957"/>
            </a:xfrm>
            <a:custGeom>
              <a:avLst/>
              <a:gdLst>
                <a:gd name="T0" fmla="*/ 208 w 240"/>
                <a:gd name="T1" fmla="*/ 83 h 322"/>
                <a:gd name="T2" fmla="*/ 207 w 240"/>
                <a:gd name="T3" fmla="*/ 128 h 322"/>
                <a:gd name="T4" fmla="*/ 166 w 240"/>
                <a:gd name="T5" fmla="*/ 178 h 322"/>
                <a:gd name="T6" fmla="*/ 83 w 240"/>
                <a:gd name="T7" fmla="*/ 178 h 322"/>
                <a:gd name="T8" fmla="*/ 43 w 240"/>
                <a:gd name="T9" fmla="*/ 191 h 322"/>
                <a:gd name="T10" fmla="*/ 25 w 240"/>
                <a:gd name="T11" fmla="*/ 230 h 322"/>
                <a:gd name="T12" fmla="*/ 25 w 240"/>
                <a:gd name="T13" fmla="*/ 239 h 322"/>
                <a:gd name="T14" fmla="*/ 239 w 240"/>
                <a:gd name="T15" fmla="*/ 114 h 322"/>
                <a:gd name="T16" fmla="*/ 208 w 240"/>
                <a:gd name="T17" fmla="*/ 83 h 322"/>
                <a:gd name="T18" fmla="*/ 177 w 240"/>
                <a:gd name="T19" fmla="*/ 114 h 322"/>
                <a:gd name="T20" fmla="*/ 0 w 240"/>
                <a:gd name="T21" fmla="*/ 296 h 322"/>
                <a:gd name="T22" fmla="*/ 26 w 240"/>
                <a:gd name="T23" fmla="*/ 322 h 322"/>
                <a:gd name="T24" fmla="*/ 52 w 240"/>
                <a:gd name="T25" fmla="*/ 296 h 322"/>
                <a:gd name="T26" fmla="*/ 26 w 240"/>
                <a:gd name="T27" fmla="*/ 270 h 322"/>
                <a:gd name="T28" fmla="*/ 0 w 240"/>
                <a:gd name="T29" fmla="*/ 296 h 322"/>
                <a:gd name="T30" fmla="*/ 187 w 240"/>
                <a:gd name="T31" fmla="*/ 26 h 322"/>
                <a:gd name="T32" fmla="*/ 213 w 240"/>
                <a:gd name="T33" fmla="*/ 52 h 322"/>
                <a:gd name="T34" fmla="*/ 239 w 240"/>
                <a:gd name="T35" fmla="*/ 26 h 322"/>
                <a:gd name="T36" fmla="*/ 213 w 240"/>
                <a:gd name="T37" fmla="*/ 0 h 322"/>
                <a:gd name="T38" fmla="*/ 187 w 240"/>
                <a:gd name="T39" fmla="*/ 26 h 322"/>
                <a:gd name="T40" fmla="*/ 67 w 240"/>
                <a:gd name="T41" fmla="*/ 96 h 322"/>
                <a:gd name="T42" fmla="*/ 119 w 240"/>
                <a:gd name="T43" fmla="*/ 148 h 322"/>
                <a:gd name="T44" fmla="*/ 119 w 240"/>
                <a:gd name="T45" fmla="*/ 96 h 322"/>
                <a:gd name="T46" fmla="*/ 67 w 240"/>
                <a:gd name="T47" fmla="*/ 148 h 322"/>
                <a:gd name="T48" fmla="*/ 189 w 240"/>
                <a:gd name="T49" fmla="*/ 203 h 322"/>
                <a:gd name="T50" fmla="*/ 240 w 240"/>
                <a:gd name="T51" fmla="*/ 255 h 322"/>
                <a:gd name="T52" fmla="*/ 240 w 240"/>
                <a:gd name="T53" fmla="*/ 203 h 322"/>
                <a:gd name="T54" fmla="*/ 189 w 240"/>
                <a:gd name="T55" fmla="*/ 255 h 322"/>
                <a:gd name="T56" fmla="*/ 93 w 240"/>
                <a:gd name="T57" fmla="*/ 227 h 322"/>
                <a:gd name="T58" fmla="*/ 145 w 240"/>
                <a:gd name="T59" fmla="*/ 279 h 322"/>
                <a:gd name="T60" fmla="*/ 145 w 240"/>
                <a:gd name="T61" fmla="*/ 227 h 322"/>
                <a:gd name="T62" fmla="*/ 93 w 240"/>
                <a:gd name="T63" fmla="*/ 279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0" h="322">
                  <a:moveTo>
                    <a:pt x="208" y="83"/>
                  </a:moveTo>
                  <a:cubicBezTo>
                    <a:pt x="208" y="83"/>
                    <a:pt x="208" y="103"/>
                    <a:pt x="207" y="128"/>
                  </a:cubicBezTo>
                  <a:cubicBezTo>
                    <a:pt x="206" y="177"/>
                    <a:pt x="166" y="178"/>
                    <a:pt x="166" y="178"/>
                  </a:cubicBezTo>
                  <a:cubicBezTo>
                    <a:pt x="83" y="178"/>
                    <a:pt x="83" y="178"/>
                    <a:pt x="83" y="178"/>
                  </a:cubicBezTo>
                  <a:cubicBezTo>
                    <a:pt x="83" y="178"/>
                    <a:pt x="58" y="178"/>
                    <a:pt x="43" y="191"/>
                  </a:cubicBezTo>
                  <a:cubicBezTo>
                    <a:pt x="28" y="203"/>
                    <a:pt x="25" y="220"/>
                    <a:pt x="25" y="230"/>
                  </a:cubicBezTo>
                  <a:cubicBezTo>
                    <a:pt x="25" y="239"/>
                    <a:pt x="25" y="239"/>
                    <a:pt x="25" y="239"/>
                  </a:cubicBezTo>
                  <a:moveTo>
                    <a:pt x="239" y="114"/>
                  </a:moveTo>
                  <a:cubicBezTo>
                    <a:pt x="208" y="83"/>
                    <a:pt x="208" y="83"/>
                    <a:pt x="208" y="83"/>
                  </a:cubicBezTo>
                  <a:cubicBezTo>
                    <a:pt x="177" y="114"/>
                    <a:pt x="177" y="114"/>
                    <a:pt x="177" y="114"/>
                  </a:cubicBezTo>
                  <a:moveTo>
                    <a:pt x="0" y="296"/>
                  </a:moveTo>
                  <a:cubicBezTo>
                    <a:pt x="0" y="310"/>
                    <a:pt x="12" y="322"/>
                    <a:pt x="26" y="322"/>
                  </a:cubicBezTo>
                  <a:cubicBezTo>
                    <a:pt x="40" y="322"/>
                    <a:pt x="52" y="310"/>
                    <a:pt x="52" y="296"/>
                  </a:cubicBezTo>
                  <a:cubicBezTo>
                    <a:pt x="52" y="282"/>
                    <a:pt x="40" y="270"/>
                    <a:pt x="26" y="270"/>
                  </a:cubicBezTo>
                  <a:cubicBezTo>
                    <a:pt x="12" y="270"/>
                    <a:pt x="0" y="282"/>
                    <a:pt x="0" y="296"/>
                  </a:cubicBezTo>
                  <a:close/>
                  <a:moveTo>
                    <a:pt x="187" y="26"/>
                  </a:moveTo>
                  <a:cubicBezTo>
                    <a:pt x="187" y="40"/>
                    <a:pt x="199" y="52"/>
                    <a:pt x="213" y="52"/>
                  </a:cubicBezTo>
                  <a:cubicBezTo>
                    <a:pt x="227" y="52"/>
                    <a:pt x="239" y="40"/>
                    <a:pt x="239" y="26"/>
                  </a:cubicBezTo>
                  <a:cubicBezTo>
                    <a:pt x="239" y="12"/>
                    <a:pt x="227" y="0"/>
                    <a:pt x="213" y="0"/>
                  </a:cubicBezTo>
                  <a:cubicBezTo>
                    <a:pt x="199" y="0"/>
                    <a:pt x="187" y="12"/>
                    <a:pt x="187" y="26"/>
                  </a:cubicBezTo>
                  <a:close/>
                  <a:moveTo>
                    <a:pt x="67" y="96"/>
                  </a:moveTo>
                  <a:cubicBezTo>
                    <a:pt x="119" y="148"/>
                    <a:pt x="119" y="148"/>
                    <a:pt x="119" y="148"/>
                  </a:cubicBezTo>
                  <a:moveTo>
                    <a:pt x="119" y="96"/>
                  </a:moveTo>
                  <a:cubicBezTo>
                    <a:pt x="67" y="148"/>
                    <a:pt x="67" y="148"/>
                    <a:pt x="67" y="148"/>
                  </a:cubicBezTo>
                  <a:moveTo>
                    <a:pt x="189" y="203"/>
                  </a:moveTo>
                  <a:cubicBezTo>
                    <a:pt x="240" y="255"/>
                    <a:pt x="240" y="255"/>
                    <a:pt x="240" y="255"/>
                  </a:cubicBezTo>
                  <a:moveTo>
                    <a:pt x="240" y="203"/>
                  </a:moveTo>
                  <a:cubicBezTo>
                    <a:pt x="189" y="255"/>
                    <a:pt x="189" y="255"/>
                    <a:pt x="189" y="255"/>
                  </a:cubicBezTo>
                  <a:moveTo>
                    <a:pt x="93" y="227"/>
                  </a:moveTo>
                  <a:cubicBezTo>
                    <a:pt x="145" y="279"/>
                    <a:pt x="145" y="279"/>
                    <a:pt x="145" y="279"/>
                  </a:cubicBezTo>
                  <a:moveTo>
                    <a:pt x="145" y="227"/>
                  </a:moveTo>
                  <a:cubicBezTo>
                    <a:pt x="93" y="279"/>
                    <a:pt x="93" y="279"/>
                    <a:pt x="93" y="279"/>
                  </a:cubicBezTo>
                </a:path>
              </a:pathLst>
            </a:custGeom>
            <a:solidFill>
              <a:srgbClr val="F2F2F2"/>
            </a:solidFill>
            <a:ln w="38100" cap="flat">
              <a:solidFill>
                <a:srgbClr val="D2D2D2"/>
              </a:solidFill>
              <a:prstDash val="solid"/>
              <a:miter lim="800000"/>
              <a:headEnd/>
              <a:tailEnd/>
            </a:ln>
          </p:spPr>
          <p:txBody>
            <a:bodyPr vert="horz" wrap="square" lIns="91414" tIns="45706" rIns="91414" bIns="45706" numCol="1" anchor="t" anchorCtr="0" compatLnSpc="1">
              <a:prstTxWarp prst="textNoShape">
                <a:avLst/>
              </a:prstTxWarp>
            </a:bodyPr>
            <a:lstStyle/>
            <a:p>
              <a:pPr defTabSz="932418"/>
              <a:endParaRPr lang="en-US" sz="1763">
                <a:solidFill>
                  <a:srgbClr val="000000"/>
                </a:solidFill>
                <a:latin typeface="Segoe UI"/>
              </a:endParaRPr>
            </a:p>
          </p:txBody>
        </p:sp>
        <p:sp>
          <p:nvSpPr>
            <p:cNvPr id="82" name="Oval 81">
              <a:extLst>
                <a:ext uri="{FF2B5EF4-FFF2-40B4-BE49-F238E27FC236}">
                  <a16:creationId xmlns:a16="http://schemas.microsoft.com/office/drawing/2014/main" id="{B4041598-159C-404D-A384-DCCC4E89FCCC}"/>
                </a:ext>
              </a:extLst>
            </p:cNvPr>
            <p:cNvSpPr/>
            <p:nvPr/>
          </p:nvSpPr>
          <p:spPr bwMode="auto">
            <a:xfrm>
              <a:off x="6718415" y="1650368"/>
              <a:ext cx="833377" cy="833377"/>
            </a:xfrm>
            <a:prstGeom prst="ellipse">
              <a:avLst/>
            </a:prstGeom>
            <a:solidFill>
              <a:schemeClr val="accent3"/>
            </a:solidFill>
            <a:ln w="571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pPr>
              <a:endParaRPr lang="en-US" sz="2040" err="1">
                <a:solidFill>
                  <a:srgbClr val="FFFFFF"/>
                </a:solidFill>
                <a:latin typeface="Segoe UI"/>
                <a:ea typeface="Segoe UI" pitchFamily="34" charset="0"/>
                <a:cs typeface="Segoe UI" pitchFamily="34" charset="0"/>
              </a:endParaRPr>
            </a:p>
          </p:txBody>
        </p:sp>
        <p:pic>
          <p:nvPicPr>
            <p:cNvPr id="85" name="Graphic 84">
              <a:extLst>
                <a:ext uri="{FF2B5EF4-FFF2-40B4-BE49-F238E27FC236}">
                  <a16:creationId xmlns:a16="http://schemas.microsoft.com/office/drawing/2014/main" id="{FAF7D1A2-34A0-44EF-81D9-C43B6EFEE44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71039" y="1861431"/>
              <a:ext cx="328129" cy="341800"/>
            </a:xfrm>
            <a:prstGeom prst="rect">
              <a:avLst/>
            </a:prstGeom>
            <a:effectLst/>
          </p:spPr>
        </p:pic>
      </p:grpSp>
      <p:grpSp>
        <p:nvGrpSpPr>
          <p:cNvPr id="92" name="Group 91">
            <a:extLst>
              <a:ext uri="{FF2B5EF4-FFF2-40B4-BE49-F238E27FC236}">
                <a16:creationId xmlns:a16="http://schemas.microsoft.com/office/drawing/2014/main" id="{387B697B-F8C4-45B4-BCB8-770FF2FA2D57}"/>
              </a:ext>
              <a:ext uri="{C183D7F6-B498-43B3-948B-1728B52AA6E4}">
                <adec:decorative xmlns:adec="http://schemas.microsoft.com/office/drawing/2017/decorative" val="1"/>
              </a:ext>
            </a:extLst>
          </p:cNvPr>
          <p:cNvGrpSpPr/>
          <p:nvPr/>
        </p:nvGrpSpPr>
        <p:grpSpPr>
          <a:xfrm>
            <a:off x="582911" y="1683480"/>
            <a:ext cx="3593802" cy="3902050"/>
            <a:chOff x="588963" y="1650368"/>
            <a:chExt cx="3524155" cy="3826430"/>
          </a:xfrm>
        </p:grpSpPr>
        <p:sp>
          <p:nvSpPr>
            <p:cNvPr id="49" name="Rectangle: Rounded Corners 48">
              <a:extLst>
                <a:ext uri="{FF2B5EF4-FFF2-40B4-BE49-F238E27FC236}">
                  <a16:creationId xmlns:a16="http://schemas.microsoft.com/office/drawing/2014/main" id="{E919DFD5-F1C3-4BE2-8B88-09D6AD553871}"/>
                </a:ext>
              </a:extLst>
            </p:cNvPr>
            <p:cNvSpPr/>
            <p:nvPr/>
          </p:nvSpPr>
          <p:spPr bwMode="auto">
            <a:xfrm>
              <a:off x="588963" y="2010743"/>
              <a:ext cx="3524155" cy="3466055"/>
            </a:xfrm>
            <a:prstGeom prst="roundRect">
              <a:avLst>
                <a:gd name="adj" fmla="val 5204"/>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pPr>
              <a:endParaRPr lang="en-US" sz="2040" err="1">
                <a:solidFill>
                  <a:srgbClr val="FFFFFF"/>
                </a:solidFill>
                <a:latin typeface="Segoe UI"/>
                <a:ea typeface="Segoe UI" pitchFamily="34" charset="0"/>
                <a:cs typeface="Segoe UI" pitchFamily="34" charset="0"/>
              </a:endParaRPr>
            </a:p>
          </p:txBody>
        </p:sp>
        <p:sp>
          <p:nvSpPr>
            <p:cNvPr id="51" name="TextBox 50">
              <a:extLst>
                <a:ext uri="{FF2B5EF4-FFF2-40B4-BE49-F238E27FC236}">
                  <a16:creationId xmlns:a16="http://schemas.microsoft.com/office/drawing/2014/main" id="{62C1B2B9-8034-42D1-8464-04E325C9C435}"/>
                </a:ext>
              </a:extLst>
            </p:cNvPr>
            <p:cNvSpPr txBox="1"/>
            <p:nvPr/>
          </p:nvSpPr>
          <p:spPr>
            <a:xfrm>
              <a:off x="1477224" y="4270672"/>
              <a:ext cx="2415482" cy="830586"/>
            </a:xfrm>
            <a:prstGeom prst="rect">
              <a:avLst/>
            </a:prstGeom>
            <a:noFill/>
            <a:ln>
              <a:noFill/>
            </a:ln>
            <a:effectLst/>
          </p:spPr>
          <p:txBody>
            <a:bodyPr wrap="square" lIns="0" tIns="93234" rIns="93234" bIns="93234" rtlCol="0" anchor="t">
              <a:spAutoFit/>
            </a:bodyPr>
            <a:lstStyle/>
            <a:p>
              <a:pPr defTabSz="913698">
                <a:spcAft>
                  <a:spcPts val="2939"/>
                </a:spcAft>
                <a:defRPr/>
              </a:pPr>
              <a:r>
                <a:rPr lang="en-US" sz="1398" b="1" dirty="0">
                  <a:ln w="3175">
                    <a:noFill/>
                  </a:ln>
                  <a:gradFill>
                    <a:gsLst>
                      <a:gs pos="83000">
                        <a:srgbClr val="000000"/>
                      </a:gs>
                      <a:gs pos="100000">
                        <a:srgbClr val="000000"/>
                      </a:gs>
                    </a:gsLst>
                    <a:lin ang="5400000" scaled="1"/>
                  </a:gradFill>
                  <a:latin typeface="+mj-lt"/>
                  <a:cs typeface="Segoe UI Semilight" panose="020B0402040204020203" pitchFamily="34" charset="0"/>
                </a:rPr>
                <a:t>52% </a:t>
              </a:r>
              <a:r>
                <a:rPr lang="en-US" sz="1398" dirty="0">
                  <a:ln w="3175">
                    <a:noFill/>
                  </a:ln>
                  <a:gradFill>
                    <a:gsLst>
                      <a:gs pos="83000">
                        <a:srgbClr val="000000"/>
                      </a:gs>
                      <a:gs pos="100000">
                        <a:srgbClr val="000000"/>
                      </a:gs>
                    </a:gsLst>
                    <a:lin ang="5400000" scaled="1"/>
                  </a:gradFill>
                  <a:latin typeface="Segoe UI"/>
                  <a:cs typeface="Segoe UI Semilight" panose="020B0402040204020203" pitchFamily="34" charset="0"/>
                </a:rPr>
                <a:t>of organizations cite secure configuration of cloud resources as a top priority.</a:t>
              </a:r>
              <a:r>
                <a:rPr lang="en-US" sz="1398" baseline="30000" dirty="0">
                  <a:ln w="3175">
                    <a:noFill/>
                  </a:ln>
                  <a:gradFill>
                    <a:gsLst>
                      <a:gs pos="83000">
                        <a:srgbClr val="000000"/>
                      </a:gs>
                      <a:gs pos="100000">
                        <a:srgbClr val="000000"/>
                      </a:gs>
                    </a:gsLst>
                    <a:lin ang="5400000" scaled="1"/>
                  </a:gradFill>
                  <a:latin typeface="Segoe UI"/>
                  <a:cs typeface="Segoe UI Semilight" panose="020B0402040204020203" pitchFamily="34" charset="0"/>
                </a:rPr>
                <a:t>1</a:t>
              </a:r>
            </a:p>
          </p:txBody>
        </p:sp>
        <p:sp>
          <p:nvSpPr>
            <p:cNvPr id="5" name="TextBox 4">
              <a:extLst>
                <a:ext uri="{FF2B5EF4-FFF2-40B4-BE49-F238E27FC236}">
                  <a16:creationId xmlns:a16="http://schemas.microsoft.com/office/drawing/2014/main" id="{A37EBBE1-16AA-4648-88BB-2A0D471FEF33}"/>
                </a:ext>
              </a:extLst>
            </p:cNvPr>
            <p:cNvSpPr txBox="1"/>
            <p:nvPr/>
          </p:nvSpPr>
          <p:spPr>
            <a:xfrm>
              <a:off x="1094575" y="3651696"/>
              <a:ext cx="2278013" cy="673575"/>
            </a:xfrm>
            <a:prstGeom prst="rect">
              <a:avLst/>
            </a:prstGeom>
            <a:noFill/>
          </p:spPr>
          <p:txBody>
            <a:bodyPr wrap="square" lIns="0" tIns="93234" rIns="93234" bIns="93234" rtlCol="0">
              <a:spAutoFit/>
            </a:bodyPr>
            <a:lstStyle>
              <a:defPPr>
                <a:defRPr lang="en-US"/>
              </a:defPPr>
              <a:lvl1pPr>
                <a:lnSpc>
                  <a:spcPct val="90000"/>
                </a:lnSpc>
                <a:spcAft>
                  <a:spcPts val="800"/>
                </a:spcAft>
                <a:defRPr sz="2000">
                  <a:ln w="3175">
                    <a:noFill/>
                  </a:ln>
                  <a:solidFill>
                    <a:schemeClr val="accent1"/>
                  </a:solidFill>
                  <a:latin typeface="Segoe UI Semilight" panose="020B0402040204020203" pitchFamily="34" charset="0"/>
                  <a:cs typeface="Segoe UI Semilight" panose="020B0402040204020203" pitchFamily="34" charset="0"/>
                </a:defRPr>
              </a:lvl1pPr>
            </a:lstStyle>
            <a:p>
              <a:pPr defTabSz="932060">
                <a:defRPr/>
              </a:pPr>
              <a:r>
                <a:rPr lang="en-US" sz="1800" dirty="0">
                  <a:solidFill>
                    <a:schemeClr val="accent3"/>
                  </a:solidFill>
                  <a:latin typeface="Segoe UI Semibold"/>
                </a:rPr>
                <a:t>Visibility into security and compliance</a:t>
              </a:r>
            </a:p>
          </p:txBody>
        </p:sp>
        <p:grpSp>
          <p:nvGrpSpPr>
            <p:cNvPr id="64" name="Group 63">
              <a:extLst>
                <a:ext uri="{FF2B5EF4-FFF2-40B4-BE49-F238E27FC236}">
                  <a16:creationId xmlns:a16="http://schemas.microsoft.com/office/drawing/2014/main" id="{B026BACD-53C7-4036-94AE-9665D6B08A8D}"/>
                </a:ext>
              </a:extLst>
            </p:cNvPr>
            <p:cNvGrpSpPr/>
            <p:nvPr/>
          </p:nvGrpSpPr>
          <p:grpSpPr>
            <a:xfrm>
              <a:off x="1094573" y="4395996"/>
              <a:ext cx="217363" cy="162063"/>
              <a:chOff x="8865677" y="4099560"/>
              <a:chExt cx="235892" cy="175878"/>
            </a:xfrm>
            <a:solidFill>
              <a:schemeClr val="tx2"/>
            </a:solidFill>
          </p:grpSpPr>
          <p:sp>
            <p:nvSpPr>
              <p:cNvPr id="65" name="Graphic 4">
                <a:extLst>
                  <a:ext uri="{FF2B5EF4-FFF2-40B4-BE49-F238E27FC236}">
                    <a16:creationId xmlns:a16="http://schemas.microsoft.com/office/drawing/2014/main" id="{18794C15-D355-42A9-B40F-39A6077FFACB}"/>
                  </a:ext>
                  <a:ext uri="{C183D7F6-B498-43B3-948B-1728B52AA6E4}">
                    <adec:decorative xmlns:adec="http://schemas.microsoft.com/office/drawing/2017/decorative" val="1"/>
                  </a:ext>
                </a:extLst>
              </p:cNvPr>
              <p:cNvSpPr/>
              <p:nvPr/>
            </p:nvSpPr>
            <p:spPr>
              <a:xfrm>
                <a:off x="8865677" y="4099560"/>
                <a:ext cx="107905" cy="175878"/>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accent3"/>
              </a:solidFill>
              <a:ln w="9525" cap="flat">
                <a:noFill/>
                <a:prstDash val="solid"/>
                <a:miter/>
              </a:ln>
            </p:spPr>
            <p:txBody>
              <a:bodyPr rtlCol="0" anchor="ctr"/>
              <a:lstStyle/>
              <a:p>
                <a:pPr defTabSz="932418"/>
                <a:endParaRPr lang="en-US" sz="1836">
                  <a:solidFill>
                    <a:srgbClr val="000000"/>
                  </a:solidFill>
                  <a:latin typeface="Segoe UI"/>
                </a:endParaRPr>
              </a:p>
            </p:txBody>
          </p:sp>
          <p:sp>
            <p:nvSpPr>
              <p:cNvPr id="66" name="Graphic 4">
                <a:extLst>
                  <a:ext uri="{FF2B5EF4-FFF2-40B4-BE49-F238E27FC236}">
                    <a16:creationId xmlns:a16="http://schemas.microsoft.com/office/drawing/2014/main" id="{F0017907-5D75-4E09-8BFC-6443C5F3E2B2}"/>
                  </a:ext>
                  <a:ext uri="{C183D7F6-B498-43B3-948B-1728B52AA6E4}">
                    <adec:decorative xmlns:adec="http://schemas.microsoft.com/office/drawing/2017/decorative" val="1"/>
                  </a:ext>
                </a:extLst>
              </p:cNvPr>
              <p:cNvSpPr/>
              <p:nvPr/>
            </p:nvSpPr>
            <p:spPr>
              <a:xfrm>
                <a:off x="8993664" y="4099560"/>
                <a:ext cx="107905" cy="175878"/>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accent3"/>
              </a:solidFill>
              <a:ln w="9525" cap="flat">
                <a:noFill/>
                <a:prstDash val="solid"/>
                <a:miter/>
              </a:ln>
            </p:spPr>
            <p:txBody>
              <a:bodyPr rtlCol="0" anchor="ctr"/>
              <a:lstStyle/>
              <a:p>
                <a:pPr defTabSz="932418"/>
                <a:endParaRPr lang="en-US" sz="1836">
                  <a:solidFill>
                    <a:srgbClr val="000000"/>
                  </a:solidFill>
                  <a:latin typeface="Segoe UI"/>
                </a:endParaRPr>
              </a:p>
            </p:txBody>
          </p:sp>
        </p:grpSp>
        <p:grpSp>
          <p:nvGrpSpPr>
            <p:cNvPr id="22" name="Group 21">
              <a:extLst>
                <a:ext uri="{FF2B5EF4-FFF2-40B4-BE49-F238E27FC236}">
                  <a16:creationId xmlns:a16="http://schemas.microsoft.com/office/drawing/2014/main" id="{B4C51836-68D1-4529-ADB0-319CA71CE224}"/>
                </a:ext>
              </a:extLst>
            </p:cNvPr>
            <p:cNvGrpSpPr/>
            <p:nvPr/>
          </p:nvGrpSpPr>
          <p:grpSpPr>
            <a:xfrm>
              <a:off x="1144288" y="2444911"/>
              <a:ext cx="973879" cy="1021090"/>
              <a:chOff x="1202162" y="2327633"/>
              <a:chExt cx="667854" cy="700230"/>
            </a:xfrm>
            <a:solidFill>
              <a:srgbClr val="F2F2F2"/>
            </a:solidFill>
          </p:grpSpPr>
          <p:sp>
            <p:nvSpPr>
              <p:cNvPr id="67" name="Shield_EA18">
                <a:extLst>
                  <a:ext uri="{FF2B5EF4-FFF2-40B4-BE49-F238E27FC236}">
                    <a16:creationId xmlns:a16="http://schemas.microsoft.com/office/drawing/2014/main" id="{D089E6DA-384F-41CC-B14F-A046CFA3EA72}"/>
                  </a:ext>
                </a:extLst>
              </p:cNvPr>
              <p:cNvSpPr>
                <a:spLocks noChangeAspect="1"/>
              </p:cNvSpPr>
              <p:nvPr/>
            </p:nvSpPr>
            <p:spPr bwMode="auto">
              <a:xfrm>
                <a:off x="1202162" y="2473826"/>
                <a:ext cx="520386" cy="554037"/>
              </a:xfrm>
              <a:custGeom>
                <a:avLst/>
                <a:gdLst>
                  <a:gd name="T0" fmla="*/ 3500 w 3500"/>
                  <a:gd name="T1" fmla="*/ 1375 h 3725"/>
                  <a:gd name="T2" fmla="*/ 1750 w 3500"/>
                  <a:gd name="T3" fmla="*/ 3725 h 3725"/>
                  <a:gd name="T4" fmla="*/ 0 w 3500"/>
                  <a:gd name="T5" fmla="*/ 1375 h 3725"/>
                  <a:gd name="T6" fmla="*/ 0 w 3500"/>
                  <a:gd name="T7" fmla="*/ 500 h 3725"/>
                  <a:gd name="T8" fmla="*/ 1125 w 3500"/>
                  <a:gd name="T9" fmla="*/ 187 h 3725"/>
                  <a:gd name="T10" fmla="*/ 1750 w 3500"/>
                  <a:gd name="T11" fmla="*/ 0 h 3725"/>
                  <a:gd name="T12" fmla="*/ 2375 w 3500"/>
                  <a:gd name="T13" fmla="*/ 187 h 3725"/>
                  <a:gd name="T14" fmla="*/ 3500 w 3500"/>
                  <a:gd name="T15" fmla="*/ 500 h 3725"/>
                  <a:gd name="T16" fmla="*/ 3500 w 3500"/>
                  <a:gd name="T17" fmla="*/ 1375 h 3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0" h="3725">
                    <a:moveTo>
                      <a:pt x="3500" y="1375"/>
                    </a:moveTo>
                    <a:cubicBezTo>
                      <a:pt x="3500" y="2302"/>
                      <a:pt x="2831" y="3117"/>
                      <a:pt x="1750" y="3725"/>
                    </a:cubicBezTo>
                    <a:cubicBezTo>
                      <a:pt x="669" y="3117"/>
                      <a:pt x="0" y="2302"/>
                      <a:pt x="0" y="1375"/>
                    </a:cubicBezTo>
                    <a:cubicBezTo>
                      <a:pt x="0" y="500"/>
                      <a:pt x="0" y="500"/>
                      <a:pt x="0" y="500"/>
                    </a:cubicBezTo>
                    <a:cubicBezTo>
                      <a:pt x="440" y="500"/>
                      <a:pt x="837" y="380"/>
                      <a:pt x="1125" y="187"/>
                    </a:cubicBezTo>
                    <a:cubicBezTo>
                      <a:pt x="1285" y="71"/>
                      <a:pt x="1506" y="0"/>
                      <a:pt x="1750" y="0"/>
                    </a:cubicBezTo>
                    <a:cubicBezTo>
                      <a:pt x="1994" y="0"/>
                      <a:pt x="2215" y="71"/>
                      <a:pt x="2375" y="187"/>
                    </a:cubicBezTo>
                    <a:cubicBezTo>
                      <a:pt x="2663" y="380"/>
                      <a:pt x="3060" y="500"/>
                      <a:pt x="3500" y="500"/>
                    </a:cubicBezTo>
                    <a:lnTo>
                      <a:pt x="3500" y="1375"/>
                    </a:lnTo>
                    <a:close/>
                  </a:path>
                </a:pathLst>
              </a:custGeom>
              <a:grpFill/>
              <a:ln w="38100" cap="sq">
                <a:solidFill>
                  <a:srgbClr val="D2D2D2"/>
                </a:solidFill>
                <a:prstDash val="solid"/>
                <a:miter lim="800000"/>
                <a:headEnd/>
                <a:tailEnd/>
              </a:ln>
            </p:spPr>
            <p:txBody>
              <a:bodyPr vert="horz" wrap="square" lIns="91414" tIns="45706" rIns="91414" bIns="45706" numCol="1" anchor="t" anchorCtr="0" compatLnSpc="1">
                <a:prstTxWarp prst="textNoShape">
                  <a:avLst/>
                </a:prstTxWarp>
              </a:bodyPr>
              <a:lstStyle/>
              <a:p>
                <a:pPr defTabSz="932418"/>
                <a:endParaRPr lang="en-US" sz="1763">
                  <a:gradFill>
                    <a:gsLst>
                      <a:gs pos="0">
                        <a:srgbClr val="505050"/>
                      </a:gs>
                      <a:gs pos="100000">
                        <a:srgbClr val="505050"/>
                      </a:gs>
                    </a:gsLst>
                  </a:gradFill>
                  <a:latin typeface="Segoe UI"/>
                </a:endParaRPr>
              </a:p>
            </p:txBody>
          </p:sp>
          <p:sp>
            <p:nvSpPr>
              <p:cNvPr id="68" name="Graphic 11">
                <a:extLst>
                  <a:ext uri="{FF2B5EF4-FFF2-40B4-BE49-F238E27FC236}">
                    <a16:creationId xmlns:a16="http://schemas.microsoft.com/office/drawing/2014/main" id="{09D8ACE6-3DCE-48C4-9CD8-482395615405}"/>
                  </a:ext>
                </a:extLst>
              </p:cNvPr>
              <p:cNvSpPr/>
              <p:nvPr/>
            </p:nvSpPr>
            <p:spPr>
              <a:xfrm>
                <a:off x="1575081" y="2327633"/>
                <a:ext cx="294935" cy="412937"/>
              </a:xfrm>
              <a:custGeom>
                <a:avLst/>
                <a:gdLst>
                  <a:gd name="connsiteX0" fmla="*/ 294935 w 294934"/>
                  <a:gd name="connsiteY0" fmla="*/ 412937 h 412937"/>
                  <a:gd name="connsiteX1" fmla="*/ 0 w 294934"/>
                  <a:gd name="connsiteY1" fmla="*/ 412937 h 412937"/>
                  <a:gd name="connsiteX2" fmla="*/ 0 w 294934"/>
                  <a:gd name="connsiteY2" fmla="*/ 193421 h 412937"/>
                  <a:gd name="connsiteX3" fmla="*/ 294935 w 294934"/>
                  <a:gd name="connsiteY3" fmla="*/ 193421 h 412937"/>
                  <a:gd name="connsiteX4" fmla="*/ 294935 w 294934"/>
                  <a:gd name="connsiteY4" fmla="*/ 412937 h 412937"/>
                  <a:gd name="connsiteX5" fmla="*/ 294935 w 294934"/>
                  <a:gd name="connsiteY5" fmla="*/ 412937 h 412937"/>
                  <a:gd name="connsiteX6" fmla="*/ 294935 w 294934"/>
                  <a:gd name="connsiteY6" fmla="*/ 412937 h 412937"/>
                  <a:gd name="connsiteX7" fmla="*/ 294935 w 294934"/>
                  <a:gd name="connsiteY7" fmla="*/ 412937 h 412937"/>
                  <a:gd name="connsiteX8" fmla="*/ 294935 w 294934"/>
                  <a:gd name="connsiteY8" fmla="*/ 412937 h 412937"/>
                  <a:gd name="connsiteX9" fmla="*/ 241884 w 294934"/>
                  <a:gd name="connsiteY9" fmla="*/ 193564 h 412937"/>
                  <a:gd name="connsiteX10" fmla="*/ 241884 w 294934"/>
                  <a:gd name="connsiteY10" fmla="*/ 92481 h 412937"/>
                  <a:gd name="connsiteX11" fmla="*/ 149260 w 294934"/>
                  <a:gd name="connsiteY11" fmla="*/ 0 h 412937"/>
                  <a:gd name="connsiteX12" fmla="*/ 56779 w 294934"/>
                  <a:gd name="connsiteY12" fmla="*/ 92481 h 412937"/>
                  <a:gd name="connsiteX13" fmla="*/ 56779 w 294934"/>
                  <a:gd name="connsiteY13" fmla="*/ 193564 h 412937"/>
                  <a:gd name="connsiteX0" fmla="*/ 294935 w 294935"/>
                  <a:gd name="connsiteY0" fmla="*/ 412937 h 412937"/>
                  <a:gd name="connsiteX1" fmla="*/ 0 w 294935"/>
                  <a:gd name="connsiteY1" fmla="*/ 412937 h 412937"/>
                  <a:gd name="connsiteX2" fmla="*/ 0 w 294935"/>
                  <a:gd name="connsiteY2" fmla="*/ 193421 h 412937"/>
                  <a:gd name="connsiteX3" fmla="*/ 294935 w 294935"/>
                  <a:gd name="connsiteY3" fmla="*/ 193421 h 412937"/>
                  <a:gd name="connsiteX4" fmla="*/ 294935 w 294935"/>
                  <a:gd name="connsiteY4" fmla="*/ 412937 h 412937"/>
                  <a:gd name="connsiteX5" fmla="*/ 294935 w 294935"/>
                  <a:gd name="connsiteY5" fmla="*/ 412937 h 412937"/>
                  <a:gd name="connsiteX6" fmla="*/ 294935 w 294935"/>
                  <a:gd name="connsiteY6" fmla="*/ 412937 h 412937"/>
                  <a:gd name="connsiteX7" fmla="*/ 294935 w 294935"/>
                  <a:gd name="connsiteY7" fmla="*/ 412937 h 412937"/>
                  <a:gd name="connsiteX8" fmla="*/ 294935 w 294935"/>
                  <a:gd name="connsiteY8" fmla="*/ 412937 h 412937"/>
                  <a:gd name="connsiteX9" fmla="*/ 241884 w 294935"/>
                  <a:gd name="connsiteY9" fmla="*/ 193564 h 412937"/>
                  <a:gd name="connsiteX10" fmla="*/ 241884 w 294935"/>
                  <a:gd name="connsiteY10" fmla="*/ 92481 h 412937"/>
                  <a:gd name="connsiteX11" fmla="*/ 149260 w 294935"/>
                  <a:gd name="connsiteY11" fmla="*/ 0 h 412937"/>
                  <a:gd name="connsiteX12" fmla="*/ 56779 w 294935"/>
                  <a:gd name="connsiteY12" fmla="*/ 92481 h 412937"/>
                  <a:gd name="connsiteX13" fmla="*/ 56779 w 294935"/>
                  <a:gd name="connsiteY13" fmla="*/ 193564 h 412937"/>
                  <a:gd name="connsiteX0" fmla="*/ 294935 w 294935"/>
                  <a:gd name="connsiteY0" fmla="*/ 412937 h 412937"/>
                  <a:gd name="connsiteX1" fmla="*/ 0 w 294935"/>
                  <a:gd name="connsiteY1" fmla="*/ 412937 h 412937"/>
                  <a:gd name="connsiteX2" fmla="*/ 0 w 294935"/>
                  <a:gd name="connsiteY2" fmla="*/ 193421 h 412937"/>
                  <a:gd name="connsiteX3" fmla="*/ 294935 w 294935"/>
                  <a:gd name="connsiteY3" fmla="*/ 193421 h 412937"/>
                  <a:gd name="connsiteX4" fmla="*/ 294935 w 294935"/>
                  <a:gd name="connsiteY4" fmla="*/ 412937 h 412937"/>
                  <a:gd name="connsiteX5" fmla="*/ 294935 w 294935"/>
                  <a:gd name="connsiteY5" fmla="*/ 412937 h 412937"/>
                  <a:gd name="connsiteX6" fmla="*/ 294935 w 294935"/>
                  <a:gd name="connsiteY6" fmla="*/ 412937 h 412937"/>
                  <a:gd name="connsiteX7" fmla="*/ 294935 w 294935"/>
                  <a:gd name="connsiteY7" fmla="*/ 412937 h 412937"/>
                  <a:gd name="connsiteX8" fmla="*/ 294935 w 294935"/>
                  <a:gd name="connsiteY8" fmla="*/ 412937 h 412937"/>
                  <a:gd name="connsiteX9" fmla="*/ 241884 w 294935"/>
                  <a:gd name="connsiteY9" fmla="*/ 193564 h 412937"/>
                  <a:gd name="connsiteX10" fmla="*/ 241884 w 294935"/>
                  <a:gd name="connsiteY10" fmla="*/ 92481 h 412937"/>
                  <a:gd name="connsiteX11" fmla="*/ 149260 w 294935"/>
                  <a:gd name="connsiteY11" fmla="*/ 0 h 412937"/>
                  <a:gd name="connsiteX12" fmla="*/ 56779 w 294935"/>
                  <a:gd name="connsiteY12" fmla="*/ 92481 h 412937"/>
                  <a:gd name="connsiteX13" fmla="*/ 56779 w 294935"/>
                  <a:gd name="connsiteY13" fmla="*/ 193564 h 412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4935" h="412937">
                    <a:moveTo>
                      <a:pt x="294935" y="412937"/>
                    </a:moveTo>
                    <a:lnTo>
                      <a:pt x="0" y="412937"/>
                    </a:lnTo>
                    <a:lnTo>
                      <a:pt x="0" y="193421"/>
                    </a:lnTo>
                    <a:lnTo>
                      <a:pt x="294935" y="193421"/>
                    </a:lnTo>
                    <a:lnTo>
                      <a:pt x="294935" y="412937"/>
                    </a:lnTo>
                    <a:lnTo>
                      <a:pt x="294935" y="412937"/>
                    </a:lnTo>
                    <a:lnTo>
                      <a:pt x="294935" y="412937"/>
                    </a:lnTo>
                    <a:lnTo>
                      <a:pt x="294935" y="412937"/>
                    </a:lnTo>
                    <a:lnTo>
                      <a:pt x="294935" y="412937"/>
                    </a:lnTo>
                    <a:close/>
                    <a:moveTo>
                      <a:pt x="241884" y="193564"/>
                    </a:moveTo>
                    <a:lnTo>
                      <a:pt x="241884" y="92481"/>
                    </a:lnTo>
                    <a:cubicBezTo>
                      <a:pt x="241884" y="41867"/>
                      <a:pt x="201163" y="0"/>
                      <a:pt x="149260" y="0"/>
                    </a:cubicBezTo>
                    <a:cubicBezTo>
                      <a:pt x="97356" y="0"/>
                      <a:pt x="56779" y="42011"/>
                      <a:pt x="56779" y="92481"/>
                    </a:cubicBezTo>
                    <a:lnTo>
                      <a:pt x="56779" y="193564"/>
                    </a:lnTo>
                  </a:path>
                </a:pathLst>
              </a:custGeom>
              <a:grpFill/>
              <a:ln w="38100" cap="sq">
                <a:solidFill>
                  <a:srgbClr val="D2D2D2"/>
                </a:solidFill>
                <a:prstDash val="solid"/>
                <a:miter lim="800000"/>
                <a:headEnd/>
                <a:tailEnd/>
              </a:ln>
            </p:spPr>
            <p:txBody>
              <a:bodyPr rtlCol="0" anchor="ctr"/>
              <a:lstStyle/>
              <a:p>
                <a:pPr defTabSz="932418"/>
                <a:endParaRPr lang="en-US" sz="1836">
                  <a:solidFill>
                    <a:srgbClr val="000000"/>
                  </a:solidFill>
                  <a:latin typeface="Segoe UI"/>
                </a:endParaRPr>
              </a:p>
            </p:txBody>
          </p:sp>
        </p:grpSp>
        <p:sp>
          <p:nvSpPr>
            <p:cNvPr id="81" name="Oval 80">
              <a:extLst>
                <a:ext uri="{FF2B5EF4-FFF2-40B4-BE49-F238E27FC236}">
                  <a16:creationId xmlns:a16="http://schemas.microsoft.com/office/drawing/2014/main" id="{7407EA5F-39E7-431F-BE34-A173484848DD}"/>
                </a:ext>
              </a:extLst>
            </p:cNvPr>
            <p:cNvSpPr/>
            <p:nvPr/>
          </p:nvSpPr>
          <p:spPr bwMode="auto">
            <a:xfrm>
              <a:off x="2973455" y="1650368"/>
              <a:ext cx="833377" cy="833377"/>
            </a:xfrm>
            <a:prstGeom prst="ellipse">
              <a:avLst/>
            </a:prstGeom>
            <a:solidFill>
              <a:schemeClr val="accent3"/>
            </a:solidFill>
            <a:ln w="571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pPr>
              <a:endParaRPr lang="en-US" sz="2040" err="1">
                <a:solidFill>
                  <a:srgbClr val="FFFFFF"/>
                </a:solidFill>
                <a:latin typeface="Segoe UI"/>
                <a:ea typeface="Segoe UI" pitchFamily="34" charset="0"/>
                <a:cs typeface="Segoe UI" pitchFamily="34" charset="0"/>
              </a:endParaRPr>
            </a:p>
          </p:txBody>
        </p:sp>
        <p:pic>
          <p:nvPicPr>
            <p:cNvPr id="86" name="Graphic 85">
              <a:extLst>
                <a:ext uri="{FF2B5EF4-FFF2-40B4-BE49-F238E27FC236}">
                  <a16:creationId xmlns:a16="http://schemas.microsoft.com/office/drawing/2014/main" id="{EBCCCEB0-D630-4620-9363-53C7F50D36B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26079" y="1861431"/>
              <a:ext cx="328129" cy="341800"/>
            </a:xfrm>
            <a:prstGeom prst="rect">
              <a:avLst/>
            </a:prstGeom>
          </p:spPr>
        </p:pic>
      </p:grpSp>
    </p:spTree>
    <p:extLst>
      <p:ext uri="{BB962C8B-B14F-4D97-AF65-F5344CB8AC3E}">
        <p14:creationId xmlns:p14="http://schemas.microsoft.com/office/powerpoint/2010/main" val="402367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fade">
                                      <p:cBhvr>
                                        <p:cTn id="7" dur="500"/>
                                        <p:tgtEl>
                                          <p:spTgt spid="92"/>
                                        </p:tgtEl>
                                      </p:cBhvr>
                                    </p:animEffect>
                                  </p:childTnLst>
                                </p:cTn>
                              </p:par>
                              <p:par>
                                <p:cTn id="8" presetID="42" presetClass="path" presetSubtype="0" decel="100000" fill="hold" nodeType="withEffect">
                                  <p:stCondLst>
                                    <p:cond delay="0"/>
                                  </p:stCondLst>
                                  <p:childTnLst>
                                    <p:animMotion origin="layout" path="M 4.58259E-6 1.16205E-6 L 4.58259E-6 0.07944 " pathEditMode="relative" rAng="0" ptsTypes="AA">
                                      <p:cBhvr>
                                        <p:cTn id="9" dur="500" spd="-100000" fill="hold"/>
                                        <p:tgtEl>
                                          <p:spTgt spid="92"/>
                                        </p:tgtEl>
                                        <p:attrNameLst>
                                          <p:attrName>ppt_x</p:attrName>
                                          <p:attrName>ppt_y</p:attrName>
                                        </p:attrNameLst>
                                      </p:cBhvr>
                                      <p:rCtr x="0" y="3972"/>
                                    </p:animMotion>
                                  </p:childTnLst>
                                </p:cTn>
                              </p:par>
                              <p:par>
                                <p:cTn id="10" presetID="10" presetClass="entr" presetSubtype="0" fill="hold" nodeType="withEffect">
                                  <p:stCondLst>
                                    <p:cond delay="250"/>
                                  </p:stCondLst>
                                  <p:childTnLst>
                                    <p:set>
                                      <p:cBhvr>
                                        <p:cTn id="11" dur="1" fill="hold">
                                          <p:stCondLst>
                                            <p:cond delay="0"/>
                                          </p:stCondLst>
                                        </p:cTn>
                                        <p:tgtEl>
                                          <p:spTgt spid="93"/>
                                        </p:tgtEl>
                                        <p:attrNameLst>
                                          <p:attrName>style.visibility</p:attrName>
                                        </p:attrNameLst>
                                      </p:cBhvr>
                                      <p:to>
                                        <p:strVal val="visible"/>
                                      </p:to>
                                    </p:set>
                                    <p:animEffect transition="in" filter="fade">
                                      <p:cBhvr>
                                        <p:cTn id="12" dur="500"/>
                                        <p:tgtEl>
                                          <p:spTgt spid="93"/>
                                        </p:tgtEl>
                                      </p:cBhvr>
                                    </p:animEffect>
                                  </p:childTnLst>
                                </p:cTn>
                              </p:par>
                              <p:par>
                                <p:cTn id="13" presetID="42" presetClass="path" presetSubtype="0" decel="100000" fill="hold" nodeType="withEffect">
                                  <p:stCondLst>
                                    <p:cond delay="250"/>
                                  </p:stCondLst>
                                  <p:childTnLst>
                                    <p:animMotion origin="layout" path="M 1.78453E-6 1.16205E-6 L 1.78453E-6 0.07944 " pathEditMode="relative" rAng="0" ptsTypes="AA">
                                      <p:cBhvr>
                                        <p:cTn id="14" dur="500" spd="-100000" fill="hold"/>
                                        <p:tgtEl>
                                          <p:spTgt spid="93"/>
                                        </p:tgtEl>
                                        <p:attrNameLst>
                                          <p:attrName>ppt_x</p:attrName>
                                          <p:attrName>ppt_y</p:attrName>
                                        </p:attrNameLst>
                                      </p:cBhvr>
                                      <p:rCtr x="0" y="3972"/>
                                    </p:animMotion>
                                  </p:childTnLst>
                                </p:cTn>
                              </p:par>
                              <p:par>
                                <p:cTn id="15" presetID="10" presetClass="entr" presetSubtype="0" fill="hold" nodeType="withEffect">
                                  <p:stCondLst>
                                    <p:cond delay="500"/>
                                  </p:stCondLst>
                                  <p:childTnLst>
                                    <p:set>
                                      <p:cBhvr>
                                        <p:cTn id="16" dur="1" fill="hold">
                                          <p:stCondLst>
                                            <p:cond delay="0"/>
                                          </p:stCondLst>
                                        </p:cTn>
                                        <p:tgtEl>
                                          <p:spTgt spid="94"/>
                                        </p:tgtEl>
                                        <p:attrNameLst>
                                          <p:attrName>style.visibility</p:attrName>
                                        </p:attrNameLst>
                                      </p:cBhvr>
                                      <p:to>
                                        <p:strVal val="visible"/>
                                      </p:to>
                                    </p:set>
                                    <p:animEffect transition="in" filter="fade">
                                      <p:cBhvr>
                                        <p:cTn id="17" dur="500"/>
                                        <p:tgtEl>
                                          <p:spTgt spid="94"/>
                                        </p:tgtEl>
                                      </p:cBhvr>
                                    </p:animEffect>
                                  </p:childTnLst>
                                </p:cTn>
                              </p:par>
                              <p:par>
                                <p:cTn id="18" presetID="42" presetClass="path" presetSubtype="0" decel="100000" fill="hold" nodeType="withEffect">
                                  <p:stCondLst>
                                    <p:cond delay="500"/>
                                  </p:stCondLst>
                                  <p:childTnLst>
                                    <p:animMotion origin="layout" path="M -3.36482E-6 1.16205E-6 L -3.36482E-6 0.07944 " pathEditMode="relative" rAng="0" ptsTypes="AA">
                                      <p:cBhvr>
                                        <p:cTn id="19" dur="500" spd="-100000" fill="hold"/>
                                        <p:tgtEl>
                                          <p:spTgt spid="94"/>
                                        </p:tgtEl>
                                        <p:attrNameLst>
                                          <p:attrName>ppt_x</p:attrName>
                                          <p:attrName>ppt_y</p:attrName>
                                        </p:attrNameLst>
                                      </p:cBhvr>
                                      <p:rCtr x="0" y="397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6">
            <a:extLst>
              <a:ext uri="{FF2B5EF4-FFF2-40B4-BE49-F238E27FC236}">
                <a16:creationId xmlns:a16="http://schemas.microsoft.com/office/drawing/2014/main" id="{2E4E8921-8BC1-4652-86CC-5245E8E8FF57}"/>
              </a:ext>
            </a:extLst>
          </p:cNvPr>
          <p:cNvSpPr txBox="1">
            <a:spLocks noGrp="1"/>
          </p:cNvSpPr>
          <p:nvPr>
            <p:ph type="title"/>
          </p:nvPr>
        </p:nvSpPr>
        <p:spPr>
          <a:xfrm>
            <a:off x="551419" y="466302"/>
            <a:ext cx="11239464" cy="861326"/>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360" rtl="0" eaLnBrk="1" latinLnBrk="0" hangingPunct="1">
              <a:lnSpc>
                <a:spcPct val="100000"/>
              </a:lnSpc>
              <a:spcBef>
                <a:spcPct val="0"/>
              </a:spcBef>
              <a:buNone/>
              <a:defRPr lang="en-US" sz="3598" b="0" kern="1200" cap="none" spc="-51" baseline="0" dirty="0" smtClean="0">
                <a:ln w="3175">
                  <a:noFill/>
                </a:ln>
                <a:gradFill>
                  <a:gsLst>
                    <a:gs pos="0">
                      <a:schemeClr val="tx1"/>
                    </a:gs>
                    <a:gs pos="100000">
                      <a:schemeClr val="tx1"/>
                    </a:gs>
                  </a:gsLst>
                  <a:lin ang="5400000" scaled="1"/>
                </a:gradFill>
                <a:effectLst/>
                <a:latin typeface="+mj-lt"/>
                <a:ea typeface="+mn-ea"/>
                <a:cs typeface="Segoe UI" pitchFamily="34" charset="0"/>
              </a:defRPr>
            </a:lvl1pPr>
          </a:lstStyle>
          <a:p>
            <a:pPr defTabSz="932181">
              <a:defRPr/>
            </a:pPr>
            <a:r>
              <a:rPr lang="en-US" sz="3597" dirty="0">
                <a:gradFill>
                  <a:gsLst>
                    <a:gs pos="0">
                      <a:srgbClr val="000000"/>
                    </a:gs>
                    <a:gs pos="100000">
                      <a:srgbClr val="000000"/>
                    </a:gs>
                  </a:gsLst>
                  <a:lin ang="5400000" scaled="1"/>
                </a:gradFill>
                <a:latin typeface="Segoe UI Semibold"/>
              </a:rPr>
              <a:t>Microsoft Defender For Cloud</a:t>
            </a:r>
            <a:br>
              <a:rPr lang="en-US" sz="3597" dirty="0">
                <a:gradFill>
                  <a:gsLst>
                    <a:gs pos="0">
                      <a:srgbClr val="000000"/>
                    </a:gs>
                    <a:gs pos="100000">
                      <a:srgbClr val="000000"/>
                    </a:gs>
                  </a:gsLst>
                  <a:lin ang="5400000" scaled="1"/>
                </a:gradFill>
                <a:latin typeface="Segoe UI Semibold"/>
              </a:rPr>
            </a:br>
            <a:r>
              <a:rPr lang="en-US" sz="2000" spc="0" dirty="0">
                <a:solidFill>
                  <a:schemeClr val="accent3"/>
                </a:solidFill>
                <a:latin typeface="Segoe UI Semibold"/>
              </a:rPr>
              <a:t>Cloud native application protection across clouds and on-prem environments</a:t>
            </a:r>
          </a:p>
        </p:txBody>
      </p:sp>
      <p:sp>
        <p:nvSpPr>
          <p:cNvPr id="77" name="Rectangle: Rounded Corners 41">
            <a:extLst>
              <a:ext uri="{FF2B5EF4-FFF2-40B4-BE49-F238E27FC236}">
                <a16:creationId xmlns:a16="http://schemas.microsoft.com/office/drawing/2014/main" id="{07A2C38F-F62F-4E34-B926-61F7F545BA30}"/>
              </a:ext>
            </a:extLst>
          </p:cNvPr>
          <p:cNvSpPr/>
          <p:nvPr/>
        </p:nvSpPr>
        <p:spPr bwMode="auto">
          <a:xfrm>
            <a:off x="588191" y="1701285"/>
            <a:ext cx="2890250" cy="753972"/>
          </a:xfrm>
          <a:prstGeom prst="round2DiagRect">
            <a:avLst>
              <a:gd name="adj1" fmla="val 16667"/>
              <a:gd name="adj2" fmla="val 20213"/>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34" tIns="186468" rIns="93234" bIns="186468" numCol="1" spcCol="0" rtlCol="0" fromWordArt="0" anchor="ctr" anchorCtr="0" forceAA="0" compatLnSpc="1">
            <a:prstTxWarp prst="textNoShape">
              <a:avLst/>
            </a:prstTxWarp>
            <a:noAutofit/>
          </a:bodyPr>
          <a:lstStyle/>
          <a:p>
            <a:pPr algn="ctr" defTabSz="931881">
              <a:lnSpc>
                <a:spcPct val="90000"/>
              </a:lnSpc>
              <a:spcAft>
                <a:spcPts val="800"/>
              </a:spcAft>
            </a:pPr>
            <a:r>
              <a:rPr lang="en-US" sz="1600" dirty="0">
                <a:ln w="3175">
                  <a:noFill/>
                </a:ln>
                <a:gradFill>
                  <a:gsLst>
                    <a:gs pos="0">
                      <a:srgbClr val="FFFFFF"/>
                    </a:gs>
                    <a:gs pos="100000">
                      <a:srgbClr val="FFFFFF"/>
                    </a:gs>
                  </a:gsLst>
                  <a:lin ang="5400000" scaled="1"/>
                </a:gradFill>
                <a:latin typeface="Segoe UI Semibold"/>
                <a:cs typeface="Segoe UI Semilight" panose="020B0402040204020203" pitchFamily="34" charset="0"/>
              </a:rPr>
              <a:t>Harden and manage </a:t>
            </a:r>
            <a:br>
              <a:rPr lang="en-US" sz="1600" dirty="0">
                <a:ln w="3175">
                  <a:noFill/>
                </a:ln>
                <a:gradFill>
                  <a:gsLst>
                    <a:gs pos="0">
                      <a:srgbClr val="FFFFFF"/>
                    </a:gs>
                    <a:gs pos="100000">
                      <a:srgbClr val="FFFFFF"/>
                    </a:gs>
                  </a:gsLst>
                  <a:lin ang="5400000" scaled="1"/>
                </a:gradFill>
                <a:latin typeface="Segoe UI Semibold"/>
                <a:cs typeface="Segoe UI Semilight" panose="020B0402040204020203" pitchFamily="34" charset="0"/>
              </a:rPr>
            </a:br>
            <a:r>
              <a:rPr lang="en-US" sz="1600" dirty="0">
                <a:ln w="3175">
                  <a:noFill/>
                </a:ln>
                <a:gradFill>
                  <a:gsLst>
                    <a:gs pos="0">
                      <a:srgbClr val="FFFFFF"/>
                    </a:gs>
                    <a:gs pos="100000">
                      <a:srgbClr val="FFFFFF"/>
                    </a:gs>
                  </a:gsLst>
                  <a:lin ang="5400000" scaled="1"/>
                </a:gradFill>
                <a:latin typeface="Segoe UI Semibold"/>
                <a:cs typeface="Segoe UI Semilight" panose="020B0402040204020203" pitchFamily="34" charset="0"/>
              </a:rPr>
              <a:t>your Security Posture</a:t>
            </a:r>
          </a:p>
        </p:txBody>
      </p:sp>
      <p:sp>
        <p:nvSpPr>
          <p:cNvPr id="101" name="Rectangle: Rounded Corners 100">
            <a:extLst>
              <a:ext uri="{FF2B5EF4-FFF2-40B4-BE49-F238E27FC236}">
                <a16:creationId xmlns:a16="http://schemas.microsoft.com/office/drawing/2014/main" id="{049A5844-4081-4EBA-9A4D-EDA5933D770B}"/>
              </a:ext>
              <a:ext uri="{C183D7F6-B498-43B3-948B-1728B52AA6E4}">
                <adec:decorative xmlns:adec="http://schemas.microsoft.com/office/drawing/2017/decorative" val="1"/>
              </a:ext>
            </a:extLst>
          </p:cNvPr>
          <p:cNvSpPr/>
          <p:nvPr/>
        </p:nvSpPr>
        <p:spPr bwMode="auto">
          <a:xfrm>
            <a:off x="590945" y="2540050"/>
            <a:ext cx="2869825" cy="2654764"/>
          </a:xfrm>
          <a:prstGeom prst="roundRect">
            <a:avLst>
              <a:gd name="adj" fmla="val 5861"/>
            </a:avLst>
          </a:prstGeom>
          <a:noFill/>
          <a:ln w="19050">
            <a:solidFill>
              <a:srgbClr val="D2D2D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34" tIns="93234" rIns="93234" bIns="93234" numCol="1" spcCol="0" rtlCol="0" fromWordArt="0" anchor="t" anchorCtr="0" forceAA="0" compatLnSpc="1">
            <a:prstTxWarp prst="textNoShape">
              <a:avLst/>
            </a:prstTxWarp>
            <a:noAutofit/>
          </a:bodyPr>
          <a:lstStyle/>
          <a:p>
            <a:pPr algn="ctr" defTabSz="931881">
              <a:lnSpc>
                <a:spcPct val="90000"/>
              </a:lnSpc>
              <a:spcAft>
                <a:spcPts val="800"/>
              </a:spcAft>
            </a:pPr>
            <a:endParaRPr lang="en-US" sz="1224">
              <a:ln w="3175">
                <a:noFill/>
              </a:ln>
              <a:gradFill>
                <a:gsLst>
                  <a:gs pos="83000">
                    <a:srgbClr val="000000"/>
                  </a:gs>
                  <a:gs pos="100000">
                    <a:srgbClr val="000000"/>
                  </a:gs>
                </a:gsLst>
                <a:lin ang="5400000" scaled="1"/>
              </a:gradFill>
              <a:latin typeface="Segoe UI Semibold"/>
              <a:cs typeface="Segoe UI Semilight" panose="020B0402040204020203" pitchFamily="34" charset="0"/>
            </a:endParaRPr>
          </a:p>
        </p:txBody>
      </p:sp>
      <p:sp>
        <p:nvSpPr>
          <p:cNvPr id="99" name="Processing_E9F5">
            <a:extLst>
              <a:ext uri="{FF2B5EF4-FFF2-40B4-BE49-F238E27FC236}">
                <a16:creationId xmlns:a16="http://schemas.microsoft.com/office/drawing/2014/main" id="{193B3FC6-ED99-4A65-8C7E-BC4C3EAB038C}"/>
              </a:ext>
              <a:ext uri="{C183D7F6-B498-43B3-948B-1728B52AA6E4}">
                <adec:decorative xmlns:adec="http://schemas.microsoft.com/office/drawing/2017/decorative" val="1"/>
              </a:ext>
            </a:extLst>
          </p:cNvPr>
          <p:cNvSpPr>
            <a:spLocks noChangeAspect="1" noEditPoints="1"/>
          </p:cNvSpPr>
          <p:nvPr/>
        </p:nvSpPr>
        <p:spPr bwMode="auto">
          <a:xfrm>
            <a:off x="1841495" y="2883609"/>
            <a:ext cx="368724" cy="321134"/>
          </a:xfrm>
          <a:custGeom>
            <a:avLst/>
            <a:gdLst>
              <a:gd name="T0" fmla="*/ 924 w 3867"/>
              <a:gd name="T1" fmla="*/ 299 h 3367"/>
              <a:gd name="T2" fmla="*/ 1549 w 3867"/>
              <a:gd name="T3" fmla="*/ 924 h 3367"/>
              <a:gd name="T4" fmla="*/ 924 w 3867"/>
              <a:gd name="T5" fmla="*/ 1549 h 3367"/>
              <a:gd name="T6" fmla="*/ 299 w 3867"/>
              <a:gd name="T7" fmla="*/ 924 h 3367"/>
              <a:gd name="T8" fmla="*/ 924 w 3867"/>
              <a:gd name="T9" fmla="*/ 299 h 3367"/>
              <a:gd name="T10" fmla="*/ 1163 w 3867"/>
              <a:gd name="T11" fmla="*/ 347 h 3367"/>
              <a:gd name="T12" fmla="*/ 1307 w 3867"/>
              <a:gd name="T13" fmla="*/ 0 h 3367"/>
              <a:gd name="T14" fmla="*/ 1501 w 3867"/>
              <a:gd name="T15" fmla="*/ 685 h 3367"/>
              <a:gd name="T16" fmla="*/ 1848 w 3867"/>
              <a:gd name="T17" fmla="*/ 541 h 3367"/>
              <a:gd name="T18" fmla="*/ 1501 w 3867"/>
              <a:gd name="T19" fmla="*/ 1163 h 3367"/>
              <a:gd name="T20" fmla="*/ 1848 w 3867"/>
              <a:gd name="T21" fmla="*/ 1307 h 3367"/>
              <a:gd name="T22" fmla="*/ 1163 w 3867"/>
              <a:gd name="T23" fmla="*/ 1501 h 3367"/>
              <a:gd name="T24" fmla="*/ 1307 w 3867"/>
              <a:gd name="T25" fmla="*/ 1848 h 3367"/>
              <a:gd name="T26" fmla="*/ 685 w 3867"/>
              <a:gd name="T27" fmla="*/ 1501 h 3367"/>
              <a:gd name="T28" fmla="*/ 541 w 3867"/>
              <a:gd name="T29" fmla="*/ 1848 h 3367"/>
              <a:gd name="T30" fmla="*/ 347 w 3867"/>
              <a:gd name="T31" fmla="*/ 1163 h 3367"/>
              <a:gd name="T32" fmla="*/ 0 w 3867"/>
              <a:gd name="T33" fmla="*/ 1307 h 3367"/>
              <a:gd name="T34" fmla="*/ 0 w 3867"/>
              <a:gd name="T35" fmla="*/ 541 h 3367"/>
              <a:gd name="T36" fmla="*/ 347 w 3867"/>
              <a:gd name="T37" fmla="*/ 685 h 3367"/>
              <a:gd name="T38" fmla="*/ 685 w 3867"/>
              <a:gd name="T39" fmla="*/ 347 h 3367"/>
              <a:gd name="T40" fmla="*/ 541 w 3867"/>
              <a:gd name="T41" fmla="*/ 0 h 3367"/>
              <a:gd name="T42" fmla="*/ 2049 w 3867"/>
              <a:gd name="T43" fmla="*/ 2299 h 3367"/>
              <a:gd name="T44" fmla="*/ 2799 w 3867"/>
              <a:gd name="T45" fmla="*/ 3049 h 3367"/>
              <a:gd name="T46" fmla="*/ 3549 w 3867"/>
              <a:gd name="T47" fmla="*/ 2299 h 3367"/>
              <a:gd name="T48" fmla="*/ 2799 w 3867"/>
              <a:gd name="T49" fmla="*/ 1549 h 3367"/>
              <a:gd name="T50" fmla="*/ 2049 w 3867"/>
              <a:gd name="T51" fmla="*/ 2299 h 3367"/>
              <a:gd name="T52" fmla="*/ 2357 w 3867"/>
              <a:gd name="T53" fmla="*/ 1231 h 3367"/>
              <a:gd name="T54" fmla="*/ 2512 w 3867"/>
              <a:gd name="T55" fmla="*/ 1606 h 3367"/>
              <a:gd name="T56" fmla="*/ 2106 w 3867"/>
              <a:gd name="T57" fmla="*/ 2012 h 3367"/>
              <a:gd name="T58" fmla="*/ 1731 w 3867"/>
              <a:gd name="T59" fmla="*/ 1856 h 3367"/>
              <a:gd name="T60" fmla="*/ 2106 w 3867"/>
              <a:gd name="T61" fmla="*/ 2586 h 3367"/>
              <a:gd name="T62" fmla="*/ 1731 w 3867"/>
              <a:gd name="T63" fmla="*/ 2741 h 3367"/>
              <a:gd name="T64" fmla="*/ 2512 w 3867"/>
              <a:gd name="T65" fmla="*/ 2992 h 3367"/>
              <a:gd name="T66" fmla="*/ 2357 w 3867"/>
              <a:gd name="T67" fmla="*/ 3367 h 3367"/>
              <a:gd name="T68" fmla="*/ 3086 w 3867"/>
              <a:gd name="T69" fmla="*/ 2992 h 3367"/>
              <a:gd name="T70" fmla="*/ 3241 w 3867"/>
              <a:gd name="T71" fmla="*/ 3367 h 3367"/>
              <a:gd name="T72" fmla="*/ 3492 w 3867"/>
              <a:gd name="T73" fmla="*/ 2586 h 3367"/>
              <a:gd name="T74" fmla="*/ 3867 w 3867"/>
              <a:gd name="T75" fmla="*/ 2741 h 3367"/>
              <a:gd name="T76" fmla="*/ 3492 w 3867"/>
              <a:gd name="T77" fmla="*/ 2012 h 3367"/>
              <a:gd name="T78" fmla="*/ 3867 w 3867"/>
              <a:gd name="T79" fmla="*/ 1856 h 3367"/>
              <a:gd name="T80" fmla="*/ 3086 w 3867"/>
              <a:gd name="T81" fmla="*/ 1606 h 3367"/>
              <a:gd name="T82" fmla="*/ 3241 w 3867"/>
              <a:gd name="T83" fmla="*/ 1231 h 3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867" h="3367">
                <a:moveTo>
                  <a:pt x="924" y="299"/>
                </a:moveTo>
                <a:cubicBezTo>
                  <a:pt x="1269" y="299"/>
                  <a:pt x="1549" y="579"/>
                  <a:pt x="1549" y="924"/>
                </a:cubicBezTo>
                <a:cubicBezTo>
                  <a:pt x="1549" y="1269"/>
                  <a:pt x="1269" y="1549"/>
                  <a:pt x="924" y="1549"/>
                </a:cubicBezTo>
                <a:cubicBezTo>
                  <a:pt x="579" y="1549"/>
                  <a:pt x="299" y="1269"/>
                  <a:pt x="299" y="924"/>
                </a:cubicBezTo>
                <a:cubicBezTo>
                  <a:pt x="299" y="579"/>
                  <a:pt x="579" y="299"/>
                  <a:pt x="924" y="299"/>
                </a:cubicBezTo>
                <a:close/>
                <a:moveTo>
                  <a:pt x="1163" y="347"/>
                </a:moveTo>
                <a:cubicBezTo>
                  <a:pt x="1307" y="0"/>
                  <a:pt x="1307" y="0"/>
                  <a:pt x="1307" y="0"/>
                </a:cubicBezTo>
                <a:moveTo>
                  <a:pt x="1501" y="685"/>
                </a:moveTo>
                <a:cubicBezTo>
                  <a:pt x="1848" y="541"/>
                  <a:pt x="1848" y="541"/>
                  <a:pt x="1848" y="541"/>
                </a:cubicBezTo>
                <a:moveTo>
                  <a:pt x="1501" y="1163"/>
                </a:moveTo>
                <a:cubicBezTo>
                  <a:pt x="1848" y="1307"/>
                  <a:pt x="1848" y="1307"/>
                  <a:pt x="1848" y="1307"/>
                </a:cubicBezTo>
                <a:moveTo>
                  <a:pt x="1163" y="1501"/>
                </a:moveTo>
                <a:cubicBezTo>
                  <a:pt x="1307" y="1848"/>
                  <a:pt x="1307" y="1848"/>
                  <a:pt x="1307" y="1848"/>
                </a:cubicBezTo>
                <a:moveTo>
                  <a:pt x="685" y="1501"/>
                </a:moveTo>
                <a:cubicBezTo>
                  <a:pt x="541" y="1848"/>
                  <a:pt x="541" y="1848"/>
                  <a:pt x="541" y="1848"/>
                </a:cubicBezTo>
                <a:moveTo>
                  <a:pt x="347" y="1163"/>
                </a:moveTo>
                <a:cubicBezTo>
                  <a:pt x="0" y="1307"/>
                  <a:pt x="0" y="1307"/>
                  <a:pt x="0" y="1307"/>
                </a:cubicBezTo>
                <a:moveTo>
                  <a:pt x="0" y="541"/>
                </a:moveTo>
                <a:cubicBezTo>
                  <a:pt x="347" y="685"/>
                  <a:pt x="347" y="685"/>
                  <a:pt x="347" y="685"/>
                </a:cubicBezTo>
                <a:moveTo>
                  <a:pt x="685" y="347"/>
                </a:moveTo>
                <a:cubicBezTo>
                  <a:pt x="541" y="0"/>
                  <a:pt x="541" y="0"/>
                  <a:pt x="541" y="0"/>
                </a:cubicBezTo>
                <a:moveTo>
                  <a:pt x="2049" y="2299"/>
                </a:moveTo>
                <a:cubicBezTo>
                  <a:pt x="2049" y="2713"/>
                  <a:pt x="2385" y="3049"/>
                  <a:pt x="2799" y="3049"/>
                </a:cubicBezTo>
                <a:cubicBezTo>
                  <a:pt x="3213" y="3049"/>
                  <a:pt x="3549" y="2713"/>
                  <a:pt x="3549" y="2299"/>
                </a:cubicBezTo>
                <a:cubicBezTo>
                  <a:pt x="3549" y="1885"/>
                  <a:pt x="3213" y="1549"/>
                  <a:pt x="2799" y="1549"/>
                </a:cubicBezTo>
                <a:cubicBezTo>
                  <a:pt x="2385" y="1549"/>
                  <a:pt x="2049" y="1885"/>
                  <a:pt x="2049" y="2299"/>
                </a:cubicBezTo>
                <a:close/>
                <a:moveTo>
                  <a:pt x="2357" y="1231"/>
                </a:moveTo>
                <a:cubicBezTo>
                  <a:pt x="2512" y="1606"/>
                  <a:pt x="2512" y="1606"/>
                  <a:pt x="2512" y="1606"/>
                </a:cubicBezTo>
                <a:moveTo>
                  <a:pt x="2106" y="2012"/>
                </a:moveTo>
                <a:cubicBezTo>
                  <a:pt x="1731" y="1856"/>
                  <a:pt x="1731" y="1856"/>
                  <a:pt x="1731" y="1856"/>
                </a:cubicBezTo>
                <a:moveTo>
                  <a:pt x="2106" y="2586"/>
                </a:moveTo>
                <a:cubicBezTo>
                  <a:pt x="1731" y="2741"/>
                  <a:pt x="1731" y="2741"/>
                  <a:pt x="1731" y="2741"/>
                </a:cubicBezTo>
                <a:moveTo>
                  <a:pt x="2512" y="2992"/>
                </a:moveTo>
                <a:cubicBezTo>
                  <a:pt x="2357" y="3367"/>
                  <a:pt x="2357" y="3367"/>
                  <a:pt x="2357" y="3367"/>
                </a:cubicBezTo>
                <a:moveTo>
                  <a:pt x="3086" y="2992"/>
                </a:moveTo>
                <a:cubicBezTo>
                  <a:pt x="3241" y="3367"/>
                  <a:pt x="3241" y="3367"/>
                  <a:pt x="3241" y="3367"/>
                </a:cubicBezTo>
                <a:moveTo>
                  <a:pt x="3492" y="2586"/>
                </a:moveTo>
                <a:cubicBezTo>
                  <a:pt x="3867" y="2741"/>
                  <a:pt x="3867" y="2741"/>
                  <a:pt x="3867" y="2741"/>
                </a:cubicBezTo>
                <a:moveTo>
                  <a:pt x="3492" y="2012"/>
                </a:moveTo>
                <a:cubicBezTo>
                  <a:pt x="3867" y="1856"/>
                  <a:pt x="3867" y="1856"/>
                  <a:pt x="3867" y="1856"/>
                </a:cubicBezTo>
                <a:moveTo>
                  <a:pt x="3086" y="1606"/>
                </a:moveTo>
                <a:cubicBezTo>
                  <a:pt x="3241" y="1231"/>
                  <a:pt x="3241" y="1231"/>
                  <a:pt x="3241" y="1231"/>
                </a:cubicBezTo>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1" tIns="45700" rIns="91401" bIns="45700" numCol="1" anchor="t" anchorCtr="0" compatLnSpc="1">
            <a:prstTxWarp prst="textNoShape">
              <a:avLst/>
            </a:prstTxWarp>
          </a:bodyPr>
          <a:lstStyle/>
          <a:p>
            <a:pPr defTabSz="932239"/>
            <a:endParaRPr lang="en-US" sz="1428">
              <a:solidFill>
                <a:srgbClr val="000000"/>
              </a:solidFill>
              <a:latin typeface="Segoe UI"/>
            </a:endParaRPr>
          </a:p>
        </p:txBody>
      </p:sp>
      <p:sp>
        <p:nvSpPr>
          <p:cNvPr id="87" name="TextBox 86">
            <a:extLst>
              <a:ext uri="{FF2B5EF4-FFF2-40B4-BE49-F238E27FC236}">
                <a16:creationId xmlns:a16="http://schemas.microsoft.com/office/drawing/2014/main" id="{A233602A-7A5E-4D97-AB79-82D1098A0169}"/>
              </a:ext>
            </a:extLst>
          </p:cNvPr>
          <p:cNvSpPr txBox="1"/>
          <p:nvPr/>
        </p:nvSpPr>
        <p:spPr>
          <a:xfrm>
            <a:off x="1002537" y="3374632"/>
            <a:ext cx="2046641" cy="332399"/>
          </a:xfrm>
          <a:prstGeom prst="rect">
            <a:avLst/>
          </a:prstGeom>
          <a:solidFill>
            <a:schemeClr val="bg1"/>
          </a:solidFill>
        </p:spPr>
        <p:txBody>
          <a:bodyPr wrap="square" lIns="93234" tIns="0" rIns="93234" bIns="0" rtlCol="0" anchor="ctr" anchorCtr="0">
            <a:spAutoFit/>
          </a:bodyPr>
          <a:lstStyle/>
          <a:p>
            <a:pPr algn="ctr" defTabSz="931881">
              <a:lnSpc>
                <a:spcPct val="90000"/>
              </a:lnSpc>
              <a:spcAft>
                <a:spcPts val="800"/>
              </a:spcAft>
              <a:defRPr/>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Secure configuration </a:t>
            </a:r>
            <a:b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b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of resources</a:t>
            </a:r>
          </a:p>
        </p:txBody>
      </p:sp>
      <p:sp>
        <p:nvSpPr>
          <p:cNvPr id="98" name="list_4_bidi">
            <a:extLst>
              <a:ext uri="{FF2B5EF4-FFF2-40B4-BE49-F238E27FC236}">
                <a16:creationId xmlns:a16="http://schemas.microsoft.com/office/drawing/2014/main" id="{E8737A71-0401-4175-B97E-A6CF48BA30B8}"/>
              </a:ext>
              <a:ext uri="{C183D7F6-B498-43B3-948B-1728B52AA6E4}">
                <adec:decorative xmlns:adec="http://schemas.microsoft.com/office/drawing/2017/decorative" val="1"/>
              </a:ext>
            </a:extLst>
          </p:cNvPr>
          <p:cNvSpPr>
            <a:spLocks noChangeAspect="1" noEditPoints="1"/>
          </p:cNvSpPr>
          <p:nvPr/>
        </p:nvSpPr>
        <p:spPr bwMode="auto">
          <a:xfrm>
            <a:off x="1787165" y="4007126"/>
            <a:ext cx="477385" cy="317280"/>
          </a:xfrm>
          <a:custGeom>
            <a:avLst/>
            <a:gdLst>
              <a:gd name="T0" fmla="*/ 0 w 489"/>
              <a:gd name="T1" fmla="*/ 47 h 325"/>
              <a:gd name="T2" fmla="*/ 309 w 489"/>
              <a:gd name="T3" fmla="*/ 47 h 325"/>
              <a:gd name="T4" fmla="*/ 0 w 489"/>
              <a:gd name="T5" fmla="*/ 139 h 325"/>
              <a:gd name="T6" fmla="*/ 309 w 489"/>
              <a:gd name="T7" fmla="*/ 139 h 325"/>
              <a:gd name="T8" fmla="*/ 0 w 489"/>
              <a:gd name="T9" fmla="*/ 231 h 325"/>
              <a:gd name="T10" fmla="*/ 309 w 489"/>
              <a:gd name="T11" fmla="*/ 231 h 325"/>
              <a:gd name="T12" fmla="*/ 0 w 489"/>
              <a:gd name="T13" fmla="*/ 325 h 325"/>
              <a:gd name="T14" fmla="*/ 309 w 489"/>
              <a:gd name="T15" fmla="*/ 325 h 325"/>
              <a:gd name="T16" fmla="*/ 377 w 489"/>
              <a:gd name="T17" fmla="*/ 44 h 325"/>
              <a:gd name="T18" fmla="*/ 412 w 489"/>
              <a:gd name="T19" fmla="*/ 77 h 325"/>
              <a:gd name="T20" fmla="*/ 489 w 489"/>
              <a:gd name="T21" fmla="*/ 0 h 325"/>
              <a:gd name="T22" fmla="*/ 377 w 489"/>
              <a:gd name="T23" fmla="*/ 230 h 325"/>
              <a:gd name="T24" fmla="*/ 412 w 489"/>
              <a:gd name="T25" fmla="*/ 263 h 325"/>
              <a:gd name="T26" fmla="*/ 489 w 489"/>
              <a:gd name="T27" fmla="*/ 186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9" h="325">
                <a:moveTo>
                  <a:pt x="0" y="47"/>
                </a:moveTo>
                <a:lnTo>
                  <a:pt x="309" y="47"/>
                </a:lnTo>
                <a:moveTo>
                  <a:pt x="0" y="139"/>
                </a:moveTo>
                <a:lnTo>
                  <a:pt x="309" y="139"/>
                </a:lnTo>
                <a:moveTo>
                  <a:pt x="0" y="231"/>
                </a:moveTo>
                <a:lnTo>
                  <a:pt x="309" y="231"/>
                </a:lnTo>
                <a:moveTo>
                  <a:pt x="0" y="325"/>
                </a:moveTo>
                <a:lnTo>
                  <a:pt x="309" y="325"/>
                </a:lnTo>
                <a:moveTo>
                  <a:pt x="377" y="44"/>
                </a:moveTo>
                <a:lnTo>
                  <a:pt x="412" y="77"/>
                </a:lnTo>
                <a:lnTo>
                  <a:pt x="489" y="0"/>
                </a:lnTo>
                <a:moveTo>
                  <a:pt x="377" y="230"/>
                </a:moveTo>
                <a:lnTo>
                  <a:pt x="412" y="263"/>
                </a:lnTo>
                <a:lnTo>
                  <a:pt x="489" y="186"/>
                </a:lnTo>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1" tIns="45700" rIns="91401" bIns="45700" numCol="1" anchor="t" anchorCtr="0" compatLnSpc="1">
            <a:prstTxWarp prst="textNoShape">
              <a:avLst/>
            </a:prstTxWarp>
          </a:bodyPr>
          <a:lstStyle/>
          <a:p>
            <a:pPr defTabSz="932239"/>
            <a:endParaRPr lang="en-US" sz="1428">
              <a:solidFill>
                <a:srgbClr val="000000"/>
              </a:solidFill>
              <a:latin typeface="Segoe UI"/>
            </a:endParaRPr>
          </a:p>
        </p:txBody>
      </p:sp>
      <p:sp>
        <p:nvSpPr>
          <p:cNvPr id="88" name="TextBox 87">
            <a:extLst>
              <a:ext uri="{FF2B5EF4-FFF2-40B4-BE49-F238E27FC236}">
                <a16:creationId xmlns:a16="http://schemas.microsoft.com/office/drawing/2014/main" id="{38951A80-0537-4FFB-9D71-2E50661AB79E}"/>
              </a:ext>
            </a:extLst>
          </p:cNvPr>
          <p:cNvSpPr txBox="1"/>
          <p:nvPr/>
        </p:nvSpPr>
        <p:spPr>
          <a:xfrm>
            <a:off x="803425" y="4485186"/>
            <a:ext cx="2444861" cy="332399"/>
          </a:xfrm>
          <a:prstGeom prst="rect">
            <a:avLst/>
          </a:prstGeom>
          <a:solidFill>
            <a:schemeClr val="bg1"/>
          </a:solidFill>
        </p:spPr>
        <p:txBody>
          <a:bodyPr wrap="square" lIns="93234" tIns="0" rIns="93234" bIns="0" rtlCol="0" anchor="ctr" anchorCtr="0">
            <a:spAutoFit/>
          </a:bodyPr>
          <a:lstStyle/>
          <a:p>
            <a:pPr algn="ctr" defTabSz="931881">
              <a:lnSpc>
                <a:spcPct val="90000"/>
              </a:lnSpc>
              <a:spcAft>
                <a:spcPts val="800"/>
              </a:spcAft>
              <a:defRPr/>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Management of </a:t>
            </a:r>
            <a:b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b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compliance requirements</a:t>
            </a:r>
          </a:p>
        </p:txBody>
      </p:sp>
      <p:sp>
        <p:nvSpPr>
          <p:cNvPr id="78" name="Rectangle: Rounded Corners 42">
            <a:extLst>
              <a:ext uri="{FF2B5EF4-FFF2-40B4-BE49-F238E27FC236}">
                <a16:creationId xmlns:a16="http://schemas.microsoft.com/office/drawing/2014/main" id="{AC68C3F0-4D25-4A73-96F5-3666B7C63009}"/>
              </a:ext>
            </a:extLst>
          </p:cNvPr>
          <p:cNvSpPr/>
          <p:nvPr/>
        </p:nvSpPr>
        <p:spPr bwMode="auto">
          <a:xfrm>
            <a:off x="3588125" y="1701285"/>
            <a:ext cx="2890250" cy="753972"/>
          </a:xfrm>
          <a:prstGeom prst="round2DiagRect">
            <a:avLst>
              <a:gd name="adj1" fmla="val 16667"/>
              <a:gd name="adj2" fmla="val 17686"/>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34" tIns="186468" rIns="93234" bIns="186468" numCol="1" spcCol="0" rtlCol="0" fromWordArt="0" anchor="ctr" anchorCtr="0" forceAA="0" compatLnSpc="1">
            <a:prstTxWarp prst="textNoShape">
              <a:avLst/>
            </a:prstTxWarp>
            <a:noAutofit/>
          </a:bodyPr>
          <a:lstStyle/>
          <a:p>
            <a:pPr algn="ctr" defTabSz="931881">
              <a:lnSpc>
                <a:spcPct val="90000"/>
              </a:lnSpc>
              <a:spcAft>
                <a:spcPts val="800"/>
              </a:spcAft>
            </a:pPr>
            <a:r>
              <a:rPr lang="en-US" sz="1600" dirty="0">
                <a:ln w="3175">
                  <a:noFill/>
                </a:ln>
                <a:gradFill>
                  <a:gsLst>
                    <a:gs pos="0">
                      <a:srgbClr val="FFFFFF"/>
                    </a:gs>
                    <a:gs pos="100000">
                      <a:srgbClr val="FFFFFF"/>
                    </a:gs>
                  </a:gsLst>
                  <a:lin ang="5400000" scaled="1"/>
                </a:gradFill>
                <a:latin typeface="Segoe UI Semibold"/>
                <a:cs typeface="Segoe UI Semilight" panose="020B0402040204020203" pitchFamily="34" charset="0"/>
              </a:rPr>
              <a:t>Detect threats and protect your workloads</a:t>
            </a:r>
          </a:p>
        </p:txBody>
      </p:sp>
      <p:sp>
        <p:nvSpPr>
          <p:cNvPr id="66" name="Rectangle: Rounded Corners 65">
            <a:extLst>
              <a:ext uri="{FF2B5EF4-FFF2-40B4-BE49-F238E27FC236}">
                <a16:creationId xmlns:a16="http://schemas.microsoft.com/office/drawing/2014/main" id="{7ADAEF87-5A2B-420D-9684-84FA5510A98E}"/>
              </a:ext>
              <a:ext uri="{C183D7F6-B498-43B3-948B-1728B52AA6E4}">
                <adec:decorative xmlns:adec="http://schemas.microsoft.com/office/drawing/2017/decorative" val="1"/>
              </a:ext>
            </a:extLst>
          </p:cNvPr>
          <p:cNvSpPr/>
          <p:nvPr/>
        </p:nvSpPr>
        <p:spPr bwMode="auto">
          <a:xfrm>
            <a:off x="3600897" y="2540050"/>
            <a:ext cx="2876465" cy="2654764"/>
          </a:xfrm>
          <a:prstGeom prst="roundRect">
            <a:avLst>
              <a:gd name="adj" fmla="val 5861"/>
            </a:avLst>
          </a:prstGeom>
          <a:solidFill>
            <a:schemeClr val="bg1"/>
          </a:solidFill>
          <a:ln w="19050">
            <a:solidFill>
              <a:srgbClr val="D2D2D2"/>
            </a:solidFill>
            <a:headEnd type="none" w="lg" len="med"/>
            <a:tailEnd type="oval"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839105" tIns="93234" rIns="93234" bIns="93234" numCol="1" spcCol="0" rtlCol="0" fromWordArt="0" anchor="ctr" anchorCtr="0" forceAA="0" compatLnSpc="1">
            <a:prstTxWarp prst="textNoShape">
              <a:avLst/>
            </a:prstTxWarp>
            <a:noAutofit/>
          </a:bodyPr>
          <a:lstStyle/>
          <a:p>
            <a:pPr defTabSz="931881">
              <a:lnSpc>
                <a:spcPct val="90000"/>
              </a:lnSpc>
              <a:spcAft>
                <a:spcPts val="800"/>
              </a:spcAft>
            </a:pPr>
            <a:endParaRPr lang="en-US" sz="1428">
              <a:ln w="3175">
                <a:noFill/>
              </a:ln>
              <a:solidFill>
                <a:srgbClr val="000000"/>
              </a:solidFill>
              <a:latin typeface="Segoe UI Semibold"/>
              <a:cs typeface="Segoe UI Semilight" panose="020B0402040204020203" pitchFamily="34" charset="0"/>
            </a:endParaRPr>
          </a:p>
        </p:txBody>
      </p:sp>
      <p:grpSp>
        <p:nvGrpSpPr>
          <p:cNvPr id="91" name="Group 71">
            <a:extLst>
              <a:ext uri="{FF2B5EF4-FFF2-40B4-BE49-F238E27FC236}">
                <a16:creationId xmlns:a16="http://schemas.microsoft.com/office/drawing/2014/main" id="{CD11FA12-73CB-4463-8080-AAFA3C1A0A94}"/>
              </a:ext>
              <a:ext uri="{C183D7F6-B498-43B3-948B-1728B52AA6E4}">
                <adec:decorative xmlns:adec="http://schemas.microsoft.com/office/drawing/2017/decorative" val="1"/>
              </a:ext>
            </a:extLst>
          </p:cNvPr>
          <p:cNvGrpSpPr>
            <a:grpSpLocks noChangeAspect="1"/>
          </p:cNvGrpSpPr>
          <p:nvPr/>
        </p:nvGrpSpPr>
        <p:grpSpPr bwMode="auto">
          <a:xfrm>
            <a:off x="4892656" y="2863701"/>
            <a:ext cx="292947" cy="360951"/>
            <a:chOff x="3154" y="775"/>
            <a:chExt cx="112" cy="138"/>
          </a:xfrm>
        </p:grpSpPr>
        <p:sp>
          <p:nvSpPr>
            <p:cNvPr id="92" name="Rectangle 72">
              <a:extLst>
                <a:ext uri="{FF2B5EF4-FFF2-40B4-BE49-F238E27FC236}">
                  <a16:creationId xmlns:a16="http://schemas.microsoft.com/office/drawing/2014/main" id="{E61C341F-15F8-4272-BF3C-349445DB678E}"/>
                </a:ext>
              </a:extLst>
            </p:cNvPr>
            <p:cNvSpPr>
              <a:spLocks noChangeArrowheads="1"/>
            </p:cNvSpPr>
            <p:nvPr/>
          </p:nvSpPr>
          <p:spPr bwMode="auto">
            <a:xfrm>
              <a:off x="3219" y="876"/>
              <a:ext cx="47" cy="37"/>
            </a:xfrm>
            <a:prstGeom prst="rect">
              <a:avLst/>
            </a:prstGeom>
            <a:noFill/>
            <a:ln w="15875" cap="sq">
              <a:solidFill>
                <a:schemeClr val="tx1"/>
              </a:solidFill>
              <a:prstDash val="solid"/>
              <a:miter/>
            </a:ln>
          </p:spPr>
          <p:txBody>
            <a:bodyPr vert="horz" wrap="square" lIns="91401" tIns="45700" rIns="91401" bIns="45700" numCol="1" anchor="t" anchorCtr="0" compatLnSpc="1">
              <a:prstTxWarp prst="textNoShape">
                <a:avLst/>
              </a:prstTxWarp>
            </a:bodyPr>
            <a:lstStyle/>
            <a:p>
              <a:pPr defTabSz="932239"/>
              <a:endParaRPr lang="en-US" sz="1428">
                <a:solidFill>
                  <a:srgbClr val="000000"/>
                </a:solidFill>
                <a:latin typeface="Segoe UI"/>
              </a:endParaRPr>
            </a:p>
          </p:txBody>
        </p:sp>
        <p:sp>
          <p:nvSpPr>
            <p:cNvPr id="93" name="Freeform 73">
              <a:extLst>
                <a:ext uri="{FF2B5EF4-FFF2-40B4-BE49-F238E27FC236}">
                  <a16:creationId xmlns:a16="http://schemas.microsoft.com/office/drawing/2014/main" id="{AAD4AAC8-3BB4-4153-8DCA-F1713FF5BC13}"/>
                </a:ext>
              </a:extLst>
            </p:cNvPr>
            <p:cNvSpPr>
              <a:spLocks/>
            </p:cNvSpPr>
            <p:nvPr/>
          </p:nvSpPr>
          <p:spPr bwMode="auto">
            <a:xfrm>
              <a:off x="3154" y="775"/>
              <a:ext cx="83" cy="138"/>
            </a:xfrm>
            <a:custGeom>
              <a:avLst/>
              <a:gdLst>
                <a:gd name="T0" fmla="*/ 51 w 83"/>
                <a:gd name="T1" fmla="*/ 138 h 138"/>
                <a:gd name="T2" fmla="*/ 0 w 83"/>
                <a:gd name="T3" fmla="*/ 138 h 138"/>
                <a:gd name="T4" fmla="*/ 0 w 83"/>
                <a:gd name="T5" fmla="*/ 0 h 138"/>
                <a:gd name="T6" fmla="*/ 83 w 83"/>
                <a:gd name="T7" fmla="*/ 0 h 138"/>
                <a:gd name="T8" fmla="*/ 83 w 83"/>
                <a:gd name="T9" fmla="*/ 56 h 138"/>
              </a:gdLst>
              <a:ahLst/>
              <a:cxnLst>
                <a:cxn ang="0">
                  <a:pos x="T0" y="T1"/>
                </a:cxn>
                <a:cxn ang="0">
                  <a:pos x="T2" y="T3"/>
                </a:cxn>
                <a:cxn ang="0">
                  <a:pos x="T4" y="T5"/>
                </a:cxn>
                <a:cxn ang="0">
                  <a:pos x="T6" y="T7"/>
                </a:cxn>
                <a:cxn ang="0">
                  <a:pos x="T8" y="T9"/>
                </a:cxn>
              </a:cxnLst>
              <a:rect l="0" t="0" r="r" b="b"/>
              <a:pathLst>
                <a:path w="83" h="138">
                  <a:moveTo>
                    <a:pt x="51" y="138"/>
                  </a:moveTo>
                  <a:lnTo>
                    <a:pt x="0" y="138"/>
                  </a:lnTo>
                  <a:lnTo>
                    <a:pt x="0" y="0"/>
                  </a:lnTo>
                  <a:lnTo>
                    <a:pt x="83" y="0"/>
                  </a:lnTo>
                  <a:lnTo>
                    <a:pt x="83" y="56"/>
                  </a:lnTo>
                </a:path>
              </a:pathLst>
            </a:custGeom>
            <a:noFill/>
            <a:ln w="15875" cap="sq">
              <a:solidFill>
                <a:schemeClr val="tx1"/>
              </a:solidFill>
              <a:prstDash val="solid"/>
              <a:miter/>
            </a:ln>
          </p:spPr>
          <p:txBody>
            <a:bodyPr vert="horz" wrap="square" lIns="91401" tIns="45700" rIns="91401" bIns="45700" numCol="1" anchor="t" anchorCtr="0" compatLnSpc="1">
              <a:prstTxWarp prst="textNoShape">
                <a:avLst/>
              </a:prstTxWarp>
            </a:bodyPr>
            <a:lstStyle/>
            <a:p>
              <a:pPr defTabSz="932239"/>
              <a:endParaRPr lang="en-US" sz="1428">
                <a:solidFill>
                  <a:srgbClr val="000000"/>
                </a:solidFill>
                <a:latin typeface="Segoe UI"/>
              </a:endParaRPr>
            </a:p>
          </p:txBody>
        </p:sp>
        <p:sp>
          <p:nvSpPr>
            <p:cNvPr id="94" name="Freeform 74">
              <a:extLst>
                <a:ext uri="{FF2B5EF4-FFF2-40B4-BE49-F238E27FC236}">
                  <a16:creationId xmlns:a16="http://schemas.microsoft.com/office/drawing/2014/main" id="{759E0D93-366B-4D5A-8706-EE492D7B4D40}"/>
                </a:ext>
              </a:extLst>
            </p:cNvPr>
            <p:cNvSpPr>
              <a:spLocks/>
            </p:cNvSpPr>
            <p:nvPr/>
          </p:nvSpPr>
          <p:spPr bwMode="auto">
            <a:xfrm>
              <a:off x="3229" y="848"/>
              <a:ext cx="25" cy="28"/>
            </a:xfrm>
            <a:custGeom>
              <a:avLst/>
              <a:gdLst>
                <a:gd name="T0" fmla="*/ 18 w 18"/>
                <a:gd name="T1" fmla="*/ 20 h 20"/>
                <a:gd name="T2" fmla="*/ 18 w 18"/>
                <a:gd name="T3" fmla="*/ 10 h 20"/>
                <a:gd name="T4" fmla="*/ 9 w 18"/>
                <a:gd name="T5" fmla="*/ 0 h 20"/>
                <a:gd name="T6" fmla="*/ 0 w 18"/>
                <a:gd name="T7" fmla="*/ 10 h 20"/>
                <a:gd name="T8" fmla="*/ 0 w 18"/>
                <a:gd name="T9" fmla="*/ 20 h 20"/>
              </a:gdLst>
              <a:ahLst/>
              <a:cxnLst>
                <a:cxn ang="0">
                  <a:pos x="T0" y="T1"/>
                </a:cxn>
                <a:cxn ang="0">
                  <a:pos x="T2" y="T3"/>
                </a:cxn>
                <a:cxn ang="0">
                  <a:pos x="T4" y="T5"/>
                </a:cxn>
                <a:cxn ang="0">
                  <a:pos x="T6" y="T7"/>
                </a:cxn>
                <a:cxn ang="0">
                  <a:pos x="T8" y="T9"/>
                </a:cxn>
              </a:cxnLst>
              <a:rect l="0" t="0" r="r" b="b"/>
              <a:pathLst>
                <a:path w="18" h="20">
                  <a:moveTo>
                    <a:pt x="18" y="20"/>
                  </a:moveTo>
                  <a:cubicBezTo>
                    <a:pt x="18" y="10"/>
                    <a:pt x="18" y="10"/>
                    <a:pt x="18" y="10"/>
                  </a:cubicBezTo>
                  <a:cubicBezTo>
                    <a:pt x="18" y="4"/>
                    <a:pt x="14" y="0"/>
                    <a:pt x="9" y="0"/>
                  </a:cubicBezTo>
                  <a:cubicBezTo>
                    <a:pt x="4" y="0"/>
                    <a:pt x="0" y="4"/>
                    <a:pt x="0" y="10"/>
                  </a:cubicBezTo>
                  <a:cubicBezTo>
                    <a:pt x="0" y="20"/>
                    <a:pt x="0" y="20"/>
                    <a:pt x="0" y="20"/>
                  </a:cubicBezTo>
                </a:path>
              </a:pathLst>
            </a:custGeom>
            <a:noFill/>
            <a:ln w="15875" cap="sq">
              <a:solidFill>
                <a:schemeClr val="tx1"/>
              </a:solidFill>
              <a:prstDash val="solid"/>
              <a:miter/>
            </a:ln>
          </p:spPr>
          <p:txBody>
            <a:bodyPr vert="horz" wrap="square" lIns="91401" tIns="45700" rIns="91401" bIns="45700" numCol="1" anchor="t" anchorCtr="0" compatLnSpc="1">
              <a:prstTxWarp prst="textNoShape">
                <a:avLst/>
              </a:prstTxWarp>
            </a:bodyPr>
            <a:lstStyle/>
            <a:p>
              <a:pPr defTabSz="932239"/>
              <a:endParaRPr lang="en-US" sz="1428">
                <a:solidFill>
                  <a:srgbClr val="000000"/>
                </a:solidFill>
                <a:latin typeface="Segoe UI"/>
              </a:endParaRPr>
            </a:p>
          </p:txBody>
        </p:sp>
        <p:sp>
          <p:nvSpPr>
            <p:cNvPr id="95" name="Freeform 75">
              <a:extLst>
                <a:ext uri="{FF2B5EF4-FFF2-40B4-BE49-F238E27FC236}">
                  <a16:creationId xmlns:a16="http://schemas.microsoft.com/office/drawing/2014/main" id="{DA56D99D-EC88-46A0-AFB2-8E8F519B8EE5}"/>
                </a:ext>
              </a:extLst>
            </p:cNvPr>
            <p:cNvSpPr>
              <a:spLocks/>
            </p:cNvSpPr>
            <p:nvPr/>
          </p:nvSpPr>
          <p:spPr bwMode="auto">
            <a:xfrm>
              <a:off x="3186" y="894"/>
              <a:ext cx="19" cy="0"/>
            </a:xfrm>
            <a:custGeom>
              <a:avLst/>
              <a:gdLst>
                <a:gd name="T0" fmla="*/ 0 w 13"/>
                <a:gd name="T1" fmla="*/ 13 w 13"/>
              </a:gdLst>
              <a:ahLst/>
              <a:cxnLst>
                <a:cxn ang="0">
                  <a:pos x="T0" y="0"/>
                </a:cxn>
                <a:cxn ang="0">
                  <a:pos x="T1" y="0"/>
                </a:cxn>
              </a:cxnLst>
              <a:rect l="0" t="0" r="r" b="b"/>
              <a:pathLst>
                <a:path w="13">
                  <a:moveTo>
                    <a:pt x="0" y="0"/>
                  </a:moveTo>
                  <a:cubicBezTo>
                    <a:pt x="13" y="0"/>
                    <a:pt x="13" y="0"/>
                    <a:pt x="13" y="0"/>
                  </a:cubicBezTo>
                </a:path>
              </a:pathLst>
            </a:custGeom>
            <a:noFill/>
            <a:ln w="15875" cap="sq">
              <a:solidFill>
                <a:schemeClr val="tx1"/>
              </a:solidFill>
              <a:prstDash val="solid"/>
              <a:miter/>
            </a:ln>
          </p:spPr>
          <p:txBody>
            <a:bodyPr vert="horz" wrap="square" lIns="91401" tIns="45700" rIns="91401" bIns="45700" numCol="1" anchor="t" anchorCtr="0" compatLnSpc="1">
              <a:prstTxWarp prst="textNoShape">
                <a:avLst/>
              </a:prstTxWarp>
            </a:bodyPr>
            <a:lstStyle/>
            <a:p>
              <a:pPr defTabSz="932239"/>
              <a:endParaRPr lang="en-US" sz="1428">
                <a:solidFill>
                  <a:srgbClr val="000000"/>
                </a:solidFill>
                <a:latin typeface="Segoe UI"/>
              </a:endParaRPr>
            </a:p>
          </p:txBody>
        </p:sp>
      </p:grpSp>
      <p:sp>
        <p:nvSpPr>
          <p:cNvPr id="80" name="TextBox 79">
            <a:extLst>
              <a:ext uri="{FF2B5EF4-FFF2-40B4-BE49-F238E27FC236}">
                <a16:creationId xmlns:a16="http://schemas.microsoft.com/office/drawing/2014/main" id="{BC7C3437-0CF5-415D-B821-68E3D2E697B8}"/>
              </a:ext>
            </a:extLst>
          </p:cNvPr>
          <p:cNvSpPr txBox="1"/>
          <p:nvPr/>
        </p:nvSpPr>
        <p:spPr>
          <a:xfrm>
            <a:off x="4024988" y="3374632"/>
            <a:ext cx="2028285" cy="332399"/>
          </a:xfrm>
          <a:prstGeom prst="rect">
            <a:avLst/>
          </a:prstGeom>
          <a:solidFill>
            <a:schemeClr val="bg1"/>
          </a:solidFill>
        </p:spPr>
        <p:txBody>
          <a:bodyPr wrap="square" lIns="93234" tIns="0" rIns="93234" bIns="0" rtlCol="0" anchor="ctr" anchorCtr="0">
            <a:spAutoFit/>
          </a:bodyPr>
          <a:lstStyle/>
          <a:p>
            <a:pPr algn="ctr" defTabSz="931881">
              <a:lnSpc>
                <a:spcPct val="90000"/>
              </a:lnSpc>
              <a:spcAft>
                <a:spcPts val="800"/>
              </a:spcAft>
              <a:defRPr/>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Full-stack </a:t>
            </a:r>
            <a:b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b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threat protection</a:t>
            </a:r>
          </a:p>
        </p:txBody>
      </p:sp>
      <p:pic>
        <p:nvPicPr>
          <p:cNvPr id="100" name="Graphic 99">
            <a:extLst>
              <a:ext uri="{FF2B5EF4-FFF2-40B4-BE49-F238E27FC236}">
                <a16:creationId xmlns:a16="http://schemas.microsoft.com/office/drawing/2014/main" id="{1BE36CFE-0ADA-4218-9E45-DB3E6BE818AE}"/>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48617" y="3967316"/>
            <a:ext cx="381026" cy="396901"/>
          </a:xfrm>
          <a:prstGeom prst="rect">
            <a:avLst/>
          </a:prstGeom>
        </p:spPr>
      </p:pic>
      <p:sp>
        <p:nvSpPr>
          <p:cNvPr id="86" name="TextBox 85">
            <a:extLst>
              <a:ext uri="{FF2B5EF4-FFF2-40B4-BE49-F238E27FC236}">
                <a16:creationId xmlns:a16="http://schemas.microsoft.com/office/drawing/2014/main" id="{5C0B73A3-2BBB-41D1-98F1-773DAFAC9D20}"/>
              </a:ext>
            </a:extLst>
          </p:cNvPr>
          <p:cNvSpPr txBox="1"/>
          <p:nvPr/>
        </p:nvSpPr>
        <p:spPr>
          <a:xfrm>
            <a:off x="4024987" y="4485186"/>
            <a:ext cx="2028286" cy="332399"/>
          </a:xfrm>
          <a:prstGeom prst="rect">
            <a:avLst/>
          </a:prstGeom>
          <a:solidFill>
            <a:schemeClr val="bg1"/>
          </a:solidFill>
        </p:spPr>
        <p:txBody>
          <a:bodyPr wrap="square" lIns="93234" tIns="0" rIns="93234" bIns="0" rtlCol="0" anchor="ctr" anchorCtr="0">
            <a:spAutoFit/>
          </a:bodyPr>
          <a:lstStyle/>
          <a:p>
            <a:pPr algn="ctr" defTabSz="931881">
              <a:lnSpc>
                <a:spcPct val="90000"/>
              </a:lnSpc>
              <a:spcAft>
                <a:spcPts val="800"/>
              </a:spcAft>
              <a:defRPr/>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Vulnerability assessment </a:t>
            </a:r>
            <a:b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b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&amp; management</a:t>
            </a:r>
          </a:p>
        </p:txBody>
      </p:sp>
      <p:sp>
        <p:nvSpPr>
          <p:cNvPr id="79" name="Rectangle: Rounded Corners 43">
            <a:extLst>
              <a:ext uri="{FF2B5EF4-FFF2-40B4-BE49-F238E27FC236}">
                <a16:creationId xmlns:a16="http://schemas.microsoft.com/office/drawing/2014/main" id="{BE1D3A61-3514-441A-8F36-27F910025A33}"/>
              </a:ext>
            </a:extLst>
          </p:cNvPr>
          <p:cNvSpPr/>
          <p:nvPr/>
        </p:nvSpPr>
        <p:spPr bwMode="auto">
          <a:xfrm>
            <a:off x="6617893" y="1701285"/>
            <a:ext cx="5178004" cy="753972"/>
          </a:xfrm>
          <a:prstGeom prst="round2DiagRect">
            <a:avLst>
              <a:gd name="adj1" fmla="val 16667"/>
              <a:gd name="adj2" fmla="val 16423"/>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34" tIns="186468" rIns="93234" bIns="186468" numCol="1" spcCol="0" rtlCol="0" fromWordArt="0" anchor="ctr" anchorCtr="0" forceAA="0" compatLnSpc="1">
            <a:prstTxWarp prst="textNoShape">
              <a:avLst/>
            </a:prstTxWarp>
            <a:noAutofit/>
          </a:bodyPr>
          <a:lstStyle/>
          <a:p>
            <a:pPr algn="ctr" defTabSz="931881">
              <a:lnSpc>
                <a:spcPct val="90000"/>
              </a:lnSpc>
              <a:spcAft>
                <a:spcPts val="800"/>
              </a:spcAft>
            </a:pPr>
            <a:r>
              <a:rPr lang="en-US" sz="1600">
                <a:ln w="3175">
                  <a:noFill/>
                </a:ln>
                <a:gradFill>
                  <a:gsLst>
                    <a:gs pos="0">
                      <a:srgbClr val="FFFFFF"/>
                    </a:gs>
                    <a:gs pos="100000">
                      <a:srgbClr val="FFFFFF"/>
                    </a:gs>
                  </a:gsLst>
                  <a:lin ang="5400000" scaled="1"/>
                </a:gradFill>
                <a:latin typeface="Segoe UI Semibold"/>
                <a:cs typeface="Segoe UI Semilight" panose="020B0402040204020203" pitchFamily="34" charset="0"/>
              </a:rPr>
              <a:t>Respond &amp; Automate</a:t>
            </a:r>
          </a:p>
        </p:txBody>
      </p:sp>
      <p:sp>
        <p:nvSpPr>
          <p:cNvPr id="112" name="Rectangle: Rounded Corners 111">
            <a:extLst>
              <a:ext uri="{FF2B5EF4-FFF2-40B4-BE49-F238E27FC236}">
                <a16:creationId xmlns:a16="http://schemas.microsoft.com/office/drawing/2014/main" id="{09D9B603-7E42-45FE-8035-F050DDEEA70B}"/>
              </a:ext>
              <a:ext uri="{C183D7F6-B498-43B3-948B-1728B52AA6E4}">
                <adec:decorative xmlns:adec="http://schemas.microsoft.com/office/drawing/2017/decorative" val="1"/>
              </a:ext>
            </a:extLst>
          </p:cNvPr>
          <p:cNvSpPr/>
          <p:nvPr/>
        </p:nvSpPr>
        <p:spPr bwMode="auto">
          <a:xfrm>
            <a:off x="6617893" y="2540050"/>
            <a:ext cx="2929014" cy="2654764"/>
          </a:xfrm>
          <a:prstGeom prst="roundRect">
            <a:avLst>
              <a:gd name="adj" fmla="val 5861"/>
            </a:avLst>
          </a:prstGeom>
          <a:noFill/>
          <a:ln w="19050">
            <a:solidFill>
              <a:srgbClr val="D2D2D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34" tIns="93234" rIns="93234" bIns="93234" numCol="1" spcCol="0" rtlCol="0" fromWordArt="0" anchor="t" anchorCtr="0" forceAA="0" compatLnSpc="1">
            <a:prstTxWarp prst="textNoShape">
              <a:avLst/>
            </a:prstTxWarp>
            <a:noAutofit/>
          </a:bodyPr>
          <a:lstStyle/>
          <a:p>
            <a:pPr algn="ctr" defTabSz="931881">
              <a:lnSpc>
                <a:spcPct val="90000"/>
              </a:lnSpc>
              <a:spcAft>
                <a:spcPts val="800"/>
              </a:spcAft>
            </a:pPr>
            <a:endParaRPr lang="en-US" sz="1224">
              <a:ln w="3175">
                <a:noFill/>
              </a:ln>
              <a:gradFill>
                <a:gsLst>
                  <a:gs pos="83000">
                    <a:srgbClr val="000000"/>
                  </a:gs>
                  <a:gs pos="100000">
                    <a:srgbClr val="000000"/>
                  </a:gs>
                </a:gsLst>
                <a:lin ang="5400000" scaled="1"/>
              </a:gradFill>
              <a:latin typeface="Segoe UI Semibold"/>
              <a:cs typeface="Segoe UI Semilight" panose="020B0402040204020203" pitchFamily="34" charset="0"/>
            </a:endParaRPr>
          </a:p>
        </p:txBody>
      </p:sp>
      <p:sp>
        <p:nvSpPr>
          <p:cNvPr id="96" name="magnify">
            <a:extLst>
              <a:ext uri="{FF2B5EF4-FFF2-40B4-BE49-F238E27FC236}">
                <a16:creationId xmlns:a16="http://schemas.microsoft.com/office/drawing/2014/main" id="{C62293B2-8DC4-4455-BDC0-F746A120DB06}"/>
              </a:ext>
              <a:ext uri="{C183D7F6-B498-43B3-948B-1728B52AA6E4}">
                <adec:decorative xmlns:adec="http://schemas.microsoft.com/office/drawing/2017/decorative" val="1"/>
              </a:ext>
            </a:extLst>
          </p:cNvPr>
          <p:cNvSpPr>
            <a:spLocks noChangeAspect="1" noEditPoints="1"/>
          </p:cNvSpPr>
          <p:nvPr/>
        </p:nvSpPr>
        <p:spPr bwMode="auto">
          <a:xfrm flipH="1">
            <a:off x="7892335" y="2882756"/>
            <a:ext cx="329131" cy="322840"/>
          </a:xfrm>
          <a:custGeom>
            <a:avLst/>
            <a:gdLst>
              <a:gd name="T0" fmla="*/ 112 w 343"/>
              <a:gd name="T1" fmla="*/ 223 h 338"/>
              <a:gd name="T2" fmla="*/ 0 w 343"/>
              <a:gd name="T3" fmla="*/ 111 h 338"/>
              <a:gd name="T4" fmla="*/ 112 w 343"/>
              <a:gd name="T5" fmla="*/ 0 h 338"/>
              <a:gd name="T6" fmla="*/ 223 w 343"/>
              <a:gd name="T7" fmla="*/ 111 h 338"/>
              <a:gd name="T8" fmla="*/ 112 w 343"/>
              <a:gd name="T9" fmla="*/ 223 h 338"/>
              <a:gd name="T10" fmla="*/ 343 w 343"/>
              <a:gd name="T11" fmla="*/ 338 h 338"/>
              <a:gd name="T12" fmla="*/ 191 w 343"/>
              <a:gd name="T13" fmla="*/ 189 h 338"/>
            </a:gdLst>
            <a:ahLst/>
            <a:cxnLst>
              <a:cxn ang="0">
                <a:pos x="T0" y="T1"/>
              </a:cxn>
              <a:cxn ang="0">
                <a:pos x="T2" y="T3"/>
              </a:cxn>
              <a:cxn ang="0">
                <a:pos x="T4" y="T5"/>
              </a:cxn>
              <a:cxn ang="0">
                <a:pos x="T6" y="T7"/>
              </a:cxn>
              <a:cxn ang="0">
                <a:pos x="T8" y="T9"/>
              </a:cxn>
              <a:cxn ang="0">
                <a:pos x="T10" y="T11"/>
              </a:cxn>
              <a:cxn ang="0">
                <a:pos x="T12" y="T13"/>
              </a:cxn>
            </a:cxnLst>
            <a:rect l="0" t="0" r="r" b="b"/>
            <a:pathLst>
              <a:path w="343" h="338">
                <a:moveTo>
                  <a:pt x="112" y="223"/>
                </a:moveTo>
                <a:cubicBezTo>
                  <a:pt x="50" y="223"/>
                  <a:pt x="0" y="173"/>
                  <a:pt x="0" y="111"/>
                </a:cubicBezTo>
                <a:cubicBezTo>
                  <a:pt x="0" y="50"/>
                  <a:pt x="50" y="0"/>
                  <a:pt x="112" y="0"/>
                </a:cubicBezTo>
                <a:cubicBezTo>
                  <a:pt x="173" y="0"/>
                  <a:pt x="223" y="50"/>
                  <a:pt x="223" y="111"/>
                </a:cubicBezTo>
                <a:cubicBezTo>
                  <a:pt x="223" y="173"/>
                  <a:pt x="173" y="223"/>
                  <a:pt x="112" y="223"/>
                </a:cubicBezTo>
                <a:close/>
                <a:moveTo>
                  <a:pt x="343" y="338"/>
                </a:moveTo>
                <a:cubicBezTo>
                  <a:pt x="191" y="189"/>
                  <a:pt x="191" y="189"/>
                  <a:pt x="191" y="189"/>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1" tIns="45700" rIns="91401" bIns="45700" numCol="1" anchor="t" anchorCtr="0" compatLnSpc="1">
            <a:prstTxWarp prst="textNoShape">
              <a:avLst/>
            </a:prstTxWarp>
          </a:bodyPr>
          <a:lstStyle/>
          <a:p>
            <a:pPr defTabSz="932239"/>
            <a:endParaRPr lang="en-US" sz="1428">
              <a:solidFill>
                <a:srgbClr val="000000"/>
              </a:solidFill>
              <a:latin typeface="Segoe UI"/>
            </a:endParaRPr>
          </a:p>
        </p:txBody>
      </p:sp>
      <p:sp>
        <p:nvSpPr>
          <p:cNvPr id="89" name="TextBox 88">
            <a:extLst>
              <a:ext uri="{FF2B5EF4-FFF2-40B4-BE49-F238E27FC236}">
                <a16:creationId xmlns:a16="http://schemas.microsoft.com/office/drawing/2014/main" id="{AB7F2890-6F60-4C11-B926-747C463282C8}"/>
              </a:ext>
            </a:extLst>
          </p:cNvPr>
          <p:cNvSpPr txBox="1"/>
          <p:nvPr/>
        </p:nvSpPr>
        <p:spPr>
          <a:xfrm>
            <a:off x="7027135" y="3374632"/>
            <a:ext cx="2301104" cy="332399"/>
          </a:xfrm>
          <a:prstGeom prst="rect">
            <a:avLst/>
          </a:prstGeom>
          <a:solidFill>
            <a:schemeClr val="bg1"/>
          </a:solidFill>
        </p:spPr>
        <p:txBody>
          <a:bodyPr wrap="square" lIns="93234" tIns="0" rIns="93234" bIns="0" rtlCol="0" anchor="ctr" anchorCtr="0">
            <a:spAutoFit/>
          </a:bodyPr>
          <a:lstStyle/>
          <a:p>
            <a:pPr algn="ctr" defTabSz="931881">
              <a:lnSpc>
                <a:spcPct val="90000"/>
              </a:lnSpc>
              <a:spcAft>
                <a:spcPts val="800"/>
              </a:spcAft>
              <a:defRPr/>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Assess and resolve security alerts and incidents</a:t>
            </a:r>
          </a:p>
        </p:txBody>
      </p:sp>
      <p:sp>
        <p:nvSpPr>
          <p:cNvPr id="97" name="brain_2">
            <a:extLst>
              <a:ext uri="{FF2B5EF4-FFF2-40B4-BE49-F238E27FC236}">
                <a16:creationId xmlns:a16="http://schemas.microsoft.com/office/drawing/2014/main" id="{BFDE98BC-4F64-42F1-B274-A57C63A52ADC}"/>
              </a:ext>
              <a:ext uri="{C183D7F6-B498-43B3-948B-1728B52AA6E4}">
                <adec:decorative xmlns:adec="http://schemas.microsoft.com/office/drawing/2017/decorative" val="1"/>
              </a:ext>
            </a:extLst>
          </p:cNvPr>
          <p:cNvSpPr>
            <a:spLocks noChangeAspect="1" noEditPoints="1"/>
          </p:cNvSpPr>
          <p:nvPr/>
        </p:nvSpPr>
        <p:spPr bwMode="auto">
          <a:xfrm>
            <a:off x="7780748" y="3980598"/>
            <a:ext cx="552301" cy="370337"/>
          </a:xfrm>
          <a:custGeom>
            <a:avLst/>
            <a:gdLst>
              <a:gd name="T0" fmla="*/ 379 w 440"/>
              <a:gd name="T1" fmla="*/ 133 h 295"/>
              <a:gd name="T2" fmla="*/ 379 w 440"/>
              <a:gd name="T3" fmla="*/ 169 h 295"/>
              <a:gd name="T4" fmla="*/ 259 w 440"/>
              <a:gd name="T5" fmla="*/ 181 h 295"/>
              <a:gd name="T6" fmla="*/ 295 w 440"/>
              <a:gd name="T7" fmla="*/ 181 h 295"/>
              <a:gd name="T8" fmla="*/ 259 w 440"/>
              <a:gd name="T9" fmla="*/ 181 h 295"/>
              <a:gd name="T10" fmla="*/ 114 w 440"/>
              <a:gd name="T11" fmla="*/ 179 h 295"/>
              <a:gd name="T12" fmla="*/ 78 w 440"/>
              <a:gd name="T13" fmla="*/ 169 h 295"/>
              <a:gd name="T14" fmla="*/ 235 w 440"/>
              <a:gd name="T15" fmla="*/ 88 h 295"/>
              <a:gd name="T16" fmla="*/ 192 w 440"/>
              <a:gd name="T17" fmla="*/ 79 h 295"/>
              <a:gd name="T18" fmla="*/ 174 w 440"/>
              <a:gd name="T19" fmla="*/ 97 h 295"/>
              <a:gd name="T20" fmla="*/ 174 w 440"/>
              <a:gd name="T21" fmla="*/ 61 h 295"/>
              <a:gd name="T22" fmla="*/ 277 w 440"/>
              <a:gd name="T23" fmla="*/ 85 h 295"/>
              <a:gd name="T24" fmla="*/ 313 w 440"/>
              <a:gd name="T25" fmla="*/ 85 h 295"/>
              <a:gd name="T26" fmla="*/ 277 w 440"/>
              <a:gd name="T27" fmla="*/ 85 h 295"/>
              <a:gd name="T28" fmla="*/ 168 w 440"/>
              <a:gd name="T29" fmla="*/ 205 h 295"/>
              <a:gd name="T30" fmla="*/ 168 w 440"/>
              <a:gd name="T31" fmla="*/ 169 h 295"/>
              <a:gd name="T32" fmla="*/ 42 w 440"/>
              <a:gd name="T33" fmla="*/ 169 h 295"/>
              <a:gd name="T34" fmla="*/ 78 w 440"/>
              <a:gd name="T35" fmla="*/ 169 h 295"/>
              <a:gd name="T36" fmla="*/ 42 w 440"/>
              <a:gd name="T37" fmla="*/ 169 h 295"/>
              <a:gd name="T38" fmla="*/ 284 w 440"/>
              <a:gd name="T39" fmla="*/ 121 h 295"/>
              <a:gd name="T40" fmla="*/ 295 w 440"/>
              <a:gd name="T41" fmla="*/ 103 h 295"/>
              <a:gd name="T42" fmla="*/ 114 w 440"/>
              <a:gd name="T43" fmla="*/ 125 h 295"/>
              <a:gd name="T44" fmla="*/ 143 w 440"/>
              <a:gd name="T45" fmla="*/ 133 h 295"/>
              <a:gd name="T46" fmla="*/ 168 w 440"/>
              <a:gd name="T47" fmla="*/ 144 h 295"/>
              <a:gd name="T48" fmla="*/ 361 w 440"/>
              <a:gd name="T49" fmla="*/ 151 h 295"/>
              <a:gd name="T50" fmla="*/ 331 w 440"/>
              <a:gd name="T51" fmla="*/ 160 h 295"/>
              <a:gd name="T52" fmla="*/ 331 w 440"/>
              <a:gd name="T53" fmla="*/ 243 h 295"/>
              <a:gd name="T54" fmla="*/ 321 w 440"/>
              <a:gd name="T55" fmla="*/ 181 h 295"/>
              <a:gd name="T56" fmla="*/ 358 w 440"/>
              <a:gd name="T57" fmla="*/ 206 h 295"/>
              <a:gd name="T58" fmla="*/ 440 w 440"/>
              <a:gd name="T59" fmla="*/ 163 h 295"/>
              <a:gd name="T60" fmla="*/ 388 w 440"/>
              <a:gd name="T61" fmla="*/ 110 h 295"/>
              <a:gd name="T62" fmla="*/ 227 w 440"/>
              <a:gd name="T63" fmla="*/ 30 h 295"/>
              <a:gd name="T64" fmla="*/ 68 w 440"/>
              <a:gd name="T65" fmla="*/ 103 h 295"/>
              <a:gd name="T66" fmla="*/ 4 w 440"/>
              <a:gd name="T67" fmla="*/ 165 h 295"/>
              <a:gd name="T68" fmla="*/ 164 w 440"/>
              <a:gd name="T69" fmla="*/ 237 h 295"/>
              <a:gd name="T70" fmla="*/ 358 w 440"/>
              <a:gd name="T71" fmla="*/ 206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40" h="295">
                <a:moveTo>
                  <a:pt x="361" y="151"/>
                </a:moveTo>
                <a:cubicBezTo>
                  <a:pt x="361" y="141"/>
                  <a:pt x="369" y="133"/>
                  <a:pt x="379" y="133"/>
                </a:cubicBezTo>
                <a:cubicBezTo>
                  <a:pt x="389" y="133"/>
                  <a:pt x="397" y="141"/>
                  <a:pt x="397" y="151"/>
                </a:cubicBezTo>
                <a:cubicBezTo>
                  <a:pt x="397" y="161"/>
                  <a:pt x="389" y="169"/>
                  <a:pt x="379" y="169"/>
                </a:cubicBezTo>
                <a:cubicBezTo>
                  <a:pt x="369" y="169"/>
                  <a:pt x="361" y="161"/>
                  <a:pt x="361" y="151"/>
                </a:cubicBezTo>
                <a:close/>
                <a:moveTo>
                  <a:pt x="259" y="181"/>
                </a:moveTo>
                <a:cubicBezTo>
                  <a:pt x="259" y="191"/>
                  <a:pt x="267" y="199"/>
                  <a:pt x="277" y="199"/>
                </a:cubicBezTo>
                <a:cubicBezTo>
                  <a:pt x="287" y="199"/>
                  <a:pt x="295" y="191"/>
                  <a:pt x="295" y="181"/>
                </a:cubicBezTo>
                <a:cubicBezTo>
                  <a:pt x="295" y="171"/>
                  <a:pt x="287" y="163"/>
                  <a:pt x="277" y="163"/>
                </a:cubicBezTo>
                <a:cubicBezTo>
                  <a:pt x="267" y="163"/>
                  <a:pt x="259" y="171"/>
                  <a:pt x="259" y="181"/>
                </a:cubicBezTo>
                <a:close/>
                <a:moveTo>
                  <a:pt x="114" y="239"/>
                </a:moveTo>
                <a:cubicBezTo>
                  <a:pt x="114" y="179"/>
                  <a:pt x="114" y="179"/>
                  <a:pt x="114" y="179"/>
                </a:cubicBezTo>
                <a:cubicBezTo>
                  <a:pt x="114" y="179"/>
                  <a:pt x="109" y="169"/>
                  <a:pt x="104" y="169"/>
                </a:cubicBezTo>
                <a:cubicBezTo>
                  <a:pt x="104" y="169"/>
                  <a:pt x="104" y="169"/>
                  <a:pt x="78" y="169"/>
                </a:cubicBezTo>
                <a:moveTo>
                  <a:pt x="235" y="260"/>
                </a:moveTo>
                <a:cubicBezTo>
                  <a:pt x="235" y="260"/>
                  <a:pt x="235" y="260"/>
                  <a:pt x="235" y="88"/>
                </a:cubicBezTo>
                <a:cubicBezTo>
                  <a:pt x="235" y="82"/>
                  <a:pt x="231" y="79"/>
                  <a:pt x="225" y="79"/>
                </a:cubicBezTo>
                <a:cubicBezTo>
                  <a:pt x="225" y="79"/>
                  <a:pt x="225" y="79"/>
                  <a:pt x="192" y="79"/>
                </a:cubicBezTo>
                <a:moveTo>
                  <a:pt x="156" y="79"/>
                </a:moveTo>
                <a:cubicBezTo>
                  <a:pt x="156" y="89"/>
                  <a:pt x="164" y="97"/>
                  <a:pt x="174" y="97"/>
                </a:cubicBezTo>
                <a:cubicBezTo>
                  <a:pt x="184" y="97"/>
                  <a:pt x="192" y="89"/>
                  <a:pt x="192" y="79"/>
                </a:cubicBezTo>
                <a:cubicBezTo>
                  <a:pt x="192" y="69"/>
                  <a:pt x="184" y="61"/>
                  <a:pt x="174" y="61"/>
                </a:cubicBezTo>
                <a:cubicBezTo>
                  <a:pt x="164" y="61"/>
                  <a:pt x="156" y="69"/>
                  <a:pt x="156" y="79"/>
                </a:cubicBezTo>
                <a:close/>
                <a:moveTo>
                  <a:pt x="277" y="85"/>
                </a:moveTo>
                <a:cubicBezTo>
                  <a:pt x="277" y="95"/>
                  <a:pt x="285" y="103"/>
                  <a:pt x="295" y="103"/>
                </a:cubicBezTo>
                <a:cubicBezTo>
                  <a:pt x="305" y="103"/>
                  <a:pt x="313" y="95"/>
                  <a:pt x="313" y="85"/>
                </a:cubicBezTo>
                <a:cubicBezTo>
                  <a:pt x="313" y="75"/>
                  <a:pt x="305" y="67"/>
                  <a:pt x="295" y="67"/>
                </a:cubicBezTo>
                <a:cubicBezTo>
                  <a:pt x="285" y="67"/>
                  <a:pt x="277" y="75"/>
                  <a:pt x="277" y="85"/>
                </a:cubicBezTo>
                <a:close/>
                <a:moveTo>
                  <a:pt x="150" y="187"/>
                </a:moveTo>
                <a:cubicBezTo>
                  <a:pt x="150" y="197"/>
                  <a:pt x="158" y="205"/>
                  <a:pt x="168" y="205"/>
                </a:cubicBezTo>
                <a:cubicBezTo>
                  <a:pt x="178" y="205"/>
                  <a:pt x="186" y="197"/>
                  <a:pt x="186" y="187"/>
                </a:cubicBezTo>
                <a:cubicBezTo>
                  <a:pt x="186" y="177"/>
                  <a:pt x="178" y="169"/>
                  <a:pt x="168" y="169"/>
                </a:cubicBezTo>
                <a:cubicBezTo>
                  <a:pt x="158" y="169"/>
                  <a:pt x="150" y="177"/>
                  <a:pt x="150" y="187"/>
                </a:cubicBezTo>
                <a:close/>
                <a:moveTo>
                  <a:pt x="42" y="169"/>
                </a:moveTo>
                <a:cubicBezTo>
                  <a:pt x="42" y="179"/>
                  <a:pt x="50" y="187"/>
                  <a:pt x="60" y="187"/>
                </a:cubicBezTo>
                <a:cubicBezTo>
                  <a:pt x="70" y="187"/>
                  <a:pt x="78" y="179"/>
                  <a:pt x="78" y="169"/>
                </a:cubicBezTo>
                <a:cubicBezTo>
                  <a:pt x="78" y="159"/>
                  <a:pt x="70" y="151"/>
                  <a:pt x="60" y="151"/>
                </a:cubicBezTo>
                <a:cubicBezTo>
                  <a:pt x="50" y="151"/>
                  <a:pt x="42" y="159"/>
                  <a:pt x="42" y="169"/>
                </a:cubicBezTo>
                <a:close/>
                <a:moveTo>
                  <a:pt x="235" y="121"/>
                </a:moveTo>
                <a:cubicBezTo>
                  <a:pt x="235" y="121"/>
                  <a:pt x="235" y="121"/>
                  <a:pt x="284" y="121"/>
                </a:cubicBezTo>
                <a:cubicBezTo>
                  <a:pt x="290" y="121"/>
                  <a:pt x="295" y="117"/>
                  <a:pt x="295" y="112"/>
                </a:cubicBezTo>
                <a:cubicBezTo>
                  <a:pt x="295" y="112"/>
                  <a:pt x="295" y="112"/>
                  <a:pt x="295" y="103"/>
                </a:cubicBezTo>
                <a:moveTo>
                  <a:pt x="114" y="49"/>
                </a:moveTo>
                <a:cubicBezTo>
                  <a:pt x="114" y="49"/>
                  <a:pt x="114" y="51"/>
                  <a:pt x="114" y="125"/>
                </a:cubicBezTo>
                <a:cubicBezTo>
                  <a:pt x="114" y="130"/>
                  <a:pt x="118" y="133"/>
                  <a:pt x="123" y="133"/>
                </a:cubicBezTo>
                <a:cubicBezTo>
                  <a:pt x="123" y="133"/>
                  <a:pt x="123" y="133"/>
                  <a:pt x="143" y="133"/>
                </a:cubicBezTo>
                <a:cubicBezTo>
                  <a:pt x="143" y="133"/>
                  <a:pt x="143" y="133"/>
                  <a:pt x="158" y="133"/>
                </a:cubicBezTo>
                <a:cubicBezTo>
                  <a:pt x="163" y="133"/>
                  <a:pt x="168" y="139"/>
                  <a:pt x="168" y="144"/>
                </a:cubicBezTo>
                <a:cubicBezTo>
                  <a:pt x="168" y="144"/>
                  <a:pt x="168" y="144"/>
                  <a:pt x="168" y="169"/>
                </a:cubicBezTo>
                <a:moveTo>
                  <a:pt x="361" y="151"/>
                </a:moveTo>
                <a:cubicBezTo>
                  <a:pt x="361" y="151"/>
                  <a:pt x="361" y="151"/>
                  <a:pt x="340" y="151"/>
                </a:cubicBezTo>
                <a:cubicBezTo>
                  <a:pt x="335" y="151"/>
                  <a:pt x="331" y="155"/>
                  <a:pt x="331" y="160"/>
                </a:cubicBezTo>
                <a:cubicBezTo>
                  <a:pt x="331" y="160"/>
                  <a:pt x="331" y="160"/>
                  <a:pt x="331" y="205"/>
                </a:cubicBezTo>
                <a:moveTo>
                  <a:pt x="331" y="243"/>
                </a:moveTo>
                <a:cubicBezTo>
                  <a:pt x="331" y="243"/>
                  <a:pt x="331" y="243"/>
                  <a:pt x="331" y="190"/>
                </a:cubicBezTo>
                <a:cubicBezTo>
                  <a:pt x="331" y="185"/>
                  <a:pt x="327" y="181"/>
                  <a:pt x="321" y="181"/>
                </a:cubicBezTo>
                <a:cubicBezTo>
                  <a:pt x="321" y="181"/>
                  <a:pt x="321" y="181"/>
                  <a:pt x="295" y="181"/>
                </a:cubicBezTo>
                <a:moveTo>
                  <a:pt x="358" y="206"/>
                </a:moveTo>
                <a:cubicBezTo>
                  <a:pt x="367" y="212"/>
                  <a:pt x="377" y="215"/>
                  <a:pt x="388" y="215"/>
                </a:cubicBezTo>
                <a:cubicBezTo>
                  <a:pt x="417" y="215"/>
                  <a:pt x="440" y="192"/>
                  <a:pt x="440" y="163"/>
                </a:cubicBezTo>
                <a:cubicBezTo>
                  <a:pt x="440" y="134"/>
                  <a:pt x="417" y="111"/>
                  <a:pt x="388" y="111"/>
                </a:cubicBezTo>
                <a:cubicBezTo>
                  <a:pt x="388" y="110"/>
                  <a:pt x="388" y="110"/>
                  <a:pt x="388" y="110"/>
                </a:cubicBezTo>
                <a:cubicBezTo>
                  <a:pt x="388" y="110"/>
                  <a:pt x="379" y="38"/>
                  <a:pt x="310" y="41"/>
                </a:cubicBezTo>
                <a:cubicBezTo>
                  <a:pt x="310" y="41"/>
                  <a:pt x="275" y="4"/>
                  <a:pt x="227" y="30"/>
                </a:cubicBezTo>
                <a:cubicBezTo>
                  <a:pt x="227" y="30"/>
                  <a:pt x="183" y="0"/>
                  <a:pt x="146" y="53"/>
                </a:cubicBezTo>
                <a:cubicBezTo>
                  <a:pt x="146" y="53"/>
                  <a:pt x="79" y="26"/>
                  <a:pt x="68" y="103"/>
                </a:cubicBezTo>
                <a:cubicBezTo>
                  <a:pt x="68" y="103"/>
                  <a:pt x="68" y="103"/>
                  <a:pt x="68" y="103"/>
                </a:cubicBezTo>
                <a:cubicBezTo>
                  <a:pt x="68" y="103"/>
                  <a:pt x="7" y="116"/>
                  <a:pt x="4" y="165"/>
                </a:cubicBezTo>
                <a:cubicBezTo>
                  <a:pt x="0" y="213"/>
                  <a:pt x="42" y="247"/>
                  <a:pt x="87" y="215"/>
                </a:cubicBezTo>
                <a:cubicBezTo>
                  <a:pt x="87" y="215"/>
                  <a:pt x="120" y="263"/>
                  <a:pt x="164" y="237"/>
                </a:cubicBezTo>
                <a:cubicBezTo>
                  <a:pt x="164" y="237"/>
                  <a:pt x="222" y="295"/>
                  <a:pt x="270" y="235"/>
                </a:cubicBezTo>
                <a:cubicBezTo>
                  <a:pt x="270" y="235"/>
                  <a:pt x="329" y="282"/>
                  <a:pt x="358" y="206"/>
                </a:cubicBez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01" tIns="45700" rIns="91401" bIns="45700" numCol="1" anchor="t" anchorCtr="0" compatLnSpc="1">
            <a:prstTxWarp prst="textNoShape">
              <a:avLst/>
            </a:prstTxWarp>
          </a:bodyPr>
          <a:lstStyle/>
          <a:p>
            <a:pPr defTabSz="932239"/>
            <a:endParaRPr lang="en-US" sz="1428">
              <a:gradFill>
                <a:gsLst>
                  <a:gs pos="0">
                    <a:srgbClr val="505050"/>
                  </a:gs>
                  <a:gs pos="100000">
                    <a:srgbClr val="505050"/>
                  </a:gs>
                </a:gsLst>
              </a:gradFill>
              <a:latin typeface="Segoe UI"/>
            </a:endParaRPr>
          </a:p>
        </p:txBody>
      </p:sp>
      <p:sp>
        <p:nvSpPr>
          <p:cNvPr id="90" name="TextBox 89">
            <a:extLst>
              <a:ext uri="{FF2B5EF4-FFF2-40B4-BE49-F238E27FC236}">
                <a16:creationId xmlns:a16="http://schemas.microsoft.com/office/drawing/2014/main" id="{D1DB8869-56E9-4954-B947-7A97778CCE33}"/>
              </a:ext>
            </a:extLst>
          </p:cNvPr>
          <p:cNvSpPr txBox="1"/>
          <p:nvPr/>
        </p:nvSpPr>
        <p:spPr>
          <a:xfrm>
            <a:off x="7252391" y="4485186"/>
            <a:ext cx="1609016" cy="332399"/>
          </a:xfrm>
          <a:prstGeom prst="rect">
            <a:avLst/>
          </a:prstGeom>
          <a:solidFill>
            <a:schemeClr val="bg1"/>
          </a:solidFill>
        </p:spPr>
        <p:txBody>
          <a:bodyPr wrap="square" lIns="93234" tIns="0" rIns="93234" bIns="0" rtlCol="0" anchor="ctr" anchorCtr="0">
            <a:spAutoFit/>
          </a:bodyPr>
          <a:lstStyle/>
          <a:p>
            <a:pPr algn="ctr" defTabSz="931881">
              <a:lnSpc>
                <a:spcPct val="90000"/>
              </a:lnSpc>
              <a:spcAft>
                <a:spcPts val="800"/>
              </a:spcAft>
              <a:defRPr/>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Automate </a:t>
            </a:r>
            <a:b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b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response</a:t>
            </a:r>
          </a:p>
        </p:txBody>
      </p:sp>
      <p:sp>
        <p:nvSpPr>
          <p:cNvPr id="56" name="Rectangle: Rounded Corners 55">
            <a:extLst>
              <a:ext uri="{FF2B5EF4-FFF2-40B4-BE49-F238E27FC236}">
                <a16:creationId xmlns:a16="http://schemas.microsoft.com/office/drawing/2014/main" id="{0F7913C2-4D4B-4B28-987F-56A2C2B35526}"/>
              </a:ext>
              <a:ext uri="{C183D7F6-B498-43B3-948B-1728B52AA6E4}">
                <adec:decorative xmlns:adec="http://schemas.microsoft.com/office/drawing/2017/decorative" val="0"/>
              </a:ext>
            </a:extLst>
          </p:cNvPr>
          <p:cNvSpPr/>
          <p:nvPr/>
        </p:nvSpPr>
        <p:spPr bwMode="auto">
          <a:xfrm>
            <a:off x="9632871" y="2540050"/>
            <a:ext cx="2163026" cy="2654764"/>
          </a:xfrm>
          <a:prstGeom prst="roundRect">
            <a:avLst>
              <a:gd name="adj" fmla="val 5861"/>
            </a:avLst>
          </a:prstGeom>
          <a:solidFill>
            <a:srgbClr val="F2F2F2"/>
          </a:solidFill>
          <a:ln w="19050">
            <a:solidFill>
              <a:srgbClr val="D2D2D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34" tIns="93234" rIns="93234" bIns="93234" numCol="1" spcCol="0" rtlCol="0" fromWordArt="0" anchor="t" anchorCtr="0" forceAA="0" compatLnSpc="1">
            <a:prstTxWarp prst="textNoShape">
              <a:avLst/>
            </a:prstTxWarp>
            <a:noAutofit/>
          </a:bodyPr>
          <a:lstStyle/>
          <a:p>
            <a:pPr algn="ctr" defTabSz="931881">
              <a:lnSpc>
                <a:spcPct val="90000"/>
              </a:lnSpc>
              <a:spcAft>
                <a:spcPts val="800"/>
              </a:spcAft>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Automate with the </a:t>
            </a:r>
            <a:b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b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tools of your choice</a:t>
            </a:r>
          </a:p>
        </p:txBody>
      </p:sp>
      <p:pic>
        <p:nvPicPr>
          <p:cNvPr id="3" name="Picture 2">
            <a:extLst>
              <a:ext uri="{FF2B5EF4-FFF2-40B4-BE49-F238E27FC236}">
                <a16:creationId xmlns:a16="http://schemas.microsoft.com/office/drawing/2014/main" id="{09849F00-36CC-417A-A0B5-44C2FD819E1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0179553" y="3360441"/>
            <a:ext cx="325330" cy="372988"/>
          </a:xfrm>
          <a:prstGeom prst="rect">
            <a:avLst/>
          </a:prstGeom>
        </p:spPr>
      </p:pic>
      <p:pic>
        <p:nvPicPr>
          <p:cNvPr id="70" name="Graphic 69">
            <a:extLst>
              <a:ext uri="{FF2B5EF4-FFF2-40B4-BE49-F238E27FC236}">
                <a16:creationId xmlns:a16="http://schemas.microsoft.com/office/drawing/2014/main" id="{C8EBEE9D-3E03-467F-97D1-73F4BE25591D}"/>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56465" y="3332136"/>
            <a:ext cx="414653" cy="414653"/>
          </a:xfrm>
          <a:prstGeom prst="rect">
            <a:avLst/>
          </a:prstGeom>
        </p:spPr>
      </p:pic>
      <p:pic>
        <p:nvPicPr>
          <p:cNvPr id="72" name="Graphic 71">
            <a:extLst>
              <a:ext uri="{FF2B5EF4-FFF2-40B4-BE49-F238E27FC236}">
                <a16:creationId xmlns:a16="http://schemas.microsoft.com/office/drawing/2014/main" id="{8D60F7A2-3B7B-4B4C-B39E-61BED171D4D3}"/>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83232" y="3886767"/>
            <a:ext cx="411592" cy="411592"/>
          </a:xfrm>
          <a:prstGeom prst="rect">
            <a:avLst/>
          </a:prstGeom>
        </p:spPr>
      </p:pic>
      <p:pic>
        <p:nvPicPr>
          <p:cNvPr id="69" name="Graphic 68">
            <a:extLst>
              <a:ext uri="{FF2B5EF4-FFF2-40B4-BE49-F238E27FC236}">
                <a16:creationId xmlns:a16="http://schemas.microsoft.com/office/drawing/2014/main" id="{3E6AFBA1-7AD8-485D-99FD-0649F15B623B}"/>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709588" y="3775826"/>
            <a:ext cx="708409" cy="708409"/>
          </a:xfrm>
          <a:prstGeom prst="rect">
            <a:avLst/>
          </a:prstGeom>
        </p:spPr>
      </p:pic>
      <p:pic>
        <p:nvPicPr>
          <p:cNvPr id="75" name="Graphic 74">
            <a:extLst>
              <a:ext uri="{FF2B5EF4-FFF2-40B4-BE49-F238E27FC236}">
                <a16:creationId xmlns:a16="http://schemas.microsoft.com/office/drawing/2014/main" id="{EBD16D75-4A8F-4588-8C9C-9AC1621BEFEF}"/>
              </a:ext>
              <a:ext uri="{C183D7F6-B498-43B3-948B-1728B52AA6E4}">
                <adec:decorative xmlns:adec="http://schemas.microsoft.com/office/drawing/2017/decorative" val="1"/>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98234" y="4459955"/>
            <a:ext cx="349768" cy="349768"/>
          </a:xfrm>
          <a:prstGeom prst="rect">
            <a:avLst/>
          </a:prstGeom>
        </p:spPr>
      </p:pic>
      <p:pic>
        <p:nvPicPr>
          <p:cNvPr id="76" name="Picture 3">
            <a:extLst>
              <a:ext uri="{FF2B5EF4-FFF2-40B4-BE49-F238E27FC236}">
                <a16:creationId xmlns:a16="http://schemas.microsoft.com/office/drawing/2014/main" id="{898742C9-3741-438A-9B9A-D6944BAE66A2}"/>
              </a:ext>
              <a:ext uri="{C183D7F6-B498-43B3-948B-1728B52AA6E4}">
                <adec:decorative xmlns:adec="http://schemas.microsoft.com/office/drawing/2017/decorative" val="1"/>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0773710" y="4541743"/>
            <a:ext cx="580165" cy="186192"/>
          </a:xfrm>
          <a:prstGeom prst="rect">
            <a:avLst/>
          </a:prstGeom>
          <a:noFill/>
          <a:extLst>
            <a:ext uri="{909E8E84-426E-40DD-AFC4-6F175D3DCCD1}">
              <a14:hiddenFill xmlns:a14="http://schemas.microsoft.com/office/drawing/2010/main">
                <a:solidFill>
                  <a:srgbClr val="FFFFFF"/>
                </a:solidFill>
              </a14:hiddenFill>
            </a:ext>
          </a:extLst>
        </p:spPr>
      </p:pic>
      <p:cxnSp>
        <p:nvCxnSpPr>
          <p:cNvPr id="67" name="Straight Arrow Connector 66">
            <a:extLst>
              <a:ext uri="{FF2B5EF4-FFF2-40B4-BE49-F238E27FC236}">
                <a16:creationId xmlns:a16="http://schemas.microsoft.com/office/drawing/2014/main" id="{5295099A-7433-403A-9DAB-C651B62936E4}"/>
              </a:ext>
              <a:ext uri="{C183D7F6-B498-43B3-948B-1728B52AA6E4}">
                <adec:decorative xmlns:adec="http://schemas.microsoft.com/office/drawing/2017/decorative" val="1"/>
              </a:ext>
            </a:extLst>
          </p:cNvPr>
          <p:cNvCxnSpPr>
            <a:cxnSpLocks/>
          </p:cNvCxnSpPr>
          <p:nvPr/>
        </p:nvCxnSpPr>
        <p:spPr>
          <a:xfrm>
            <a:off x="587701" y="6067644"/>
            <a:ext cx="11207704" cy="0"/>
          </a:xfrm>
          <a:prstGeom prst="straightConnector1">
            <a:avLst/>
          </a:prstGeom>
          <a:solidFill>
            <a:schemeClr val="bg1"/>
          </a:solidFill>
          <a:ln w="38100">
            <a:solidFill>
              <a:srgbClr val="D2D2D2"/>
            </a:solidFill>
            <a:headEnd type="arrow" w="lg" len="med"/>
            <a:tailEnd type="arrow" w="lg" len="med"/>
          </a:ln>
        </p:spPr>
        <p:style>
          <a:lnRef idx="1">
            <a:schemeClr val="accent1"/>
          </a:lnRef>
          <a:fillRef idx="0">
            <a:schemeClr val="accent1"/>
          </a:fillRef>
          <a:effectRef idx="0">
            <a:schemeClr val="accent1"/>
          </a:effectRef>
          <a:fontRef idx="minor">
            <a:schemeClr val="tx1"/>
          </a:fontRef>
        </p:style>
      </p:cxnSp>
      <p:sp>
        <p:nvSpPr>
          <p:cNvPr id="104" name="Rectangle: Rounded Corners 103">
            <a:extLst>
              <a:ext uri="{FF2B5EF4-FFF2-40B4-BE49-F238E27FC236}">
                <a16:creationId xmlns:a16="http://schemas.microsoft.com/office/drawing/2014/main" id="{F1B1FF33-5C58-4573-A41F-C93AF6010931}"/>
              </a:ext>
            </a:extLst>
          </p:cNvPr>
          <p:cNvSpPr/>
          <p:nvPr/>
        </p:nvSpPr>
        <p:spPr bwMode="auto">
          <a:xfrm>
            <a:off x="1067293" y="5657239"/>
            <a:ext cx="2324399" cy="820818"/>
          </a:xfrm>
          <a:prstGeom prst="roundRect">
            <a:avLst>
              <a:gd name="adj" fmla="val 50000"/>
            </a:avLst>
          </a:prstGeom>
          <a:solidFill>
            <a:schemeClr val="bg1"/>
          </a:solidFill>
          <a:ln w="38100">
            <a:solidFill>
              <a:srgbClr val="D2D2D2"/>
            </a:solidFill>
            <a:headEnd type="arrow" w="lg" len="med"/>
            <a:tailEnd type="arrow"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3234" tIns="466169" rIns="93234" bIns="93234" numCol="1" spcCol="0" rtlCol="0" fromWordArt="0" anchor="ctr" anchorCtr="0" forceAA="0" compatLnSpc="1">
            <a:prstTxWarp prst="textNoShape">
              <a:avLst/>
            </a:prstTxWarp>
            <a:noAutofit/>
          </a:bodyPr>
          <a:lstStyle/>
          <a:p>
            <a:pPr algn="ctr" defTabSz="931881">
              <a:lnSpc>
                <a:spcPct val="90000"/>
              </a:lnSpc>
              <a:spcAft>
                <a:spcPts val="800"/>
              </a:spcAft>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Microsoft Azure</a:t>
            </a:r>
          </a:p>
        </p:txBody>
      </p:sp>
      <p:pic>
        <p:nvPicPr>
          <p:cNvPr id="105" name="Graphic 104">
            <a:extLst>
              <a:ext uri="{FF2B5EF4-FFF2-40B4-BE49-F238E27FC236}">
                <a16:creationId xmlns:a16="http://schemas.microsoft.com/office/drawing/2014/main" id="{5F1EE085-5341-4274-B53A-66E51BE1DAEE}"/>
              </a:ext>
              <a:ext uri="{C183D7F6-B498-43B3-948B-1728B52AA6E4}">
                <adec:decorative xmlns:adec="http://schemas.microsoft.com/office/drawing/2017/decorative" val="1"/>
              </a:ext>
            </a:extLst>
          </p:cNvPr>
          <p:cNvPicPr>
            <a:picLocks noChangeAspect="1"/>
          </p:cNvPicPr>
          <p:nvPr/>
        </p:nvPicPr>
        <p:blipFill>
          <a:blip r:embed="rId15" cstate="print">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087429" y="5783360"/>
            <a:ext cx="284126" cy="284126"/>
          </a:xfrm>
          <a:prstGeom prst="rect">
            <a:avLst/>
          </a:prstGeom>
        </p:spPr>
      </p:pic>
      <p:sp>
        <p:nvSpPr>
          <p:cNvPr id="102" name="Rectangle: Rounded Corners 101">
            <a:extLst>
              <a:ext uri="{FF2B5EF4-FFF2-40B4-BE49-F238E27FC236}">
                <a16:creationId xmlns:a16="http://schemas.microsoft.com/office/drawing/2014/main" id="{A75103B2-25E0-45A2-93DF-AF8A8B6D4814}"/>
              </a:ext>
            </a:extLst>
          </p:cNvPr>
          <p:cNvSpPr/>
          <p:nvPr/>
        </p:nvSpPr>
        <p:spPr bwMode="auto">
          <a:xfrm>
            <a:off x="3707894" y="5657239"/>
            <a:ext cx="2324399" cy="820818"/>
          </a:xfrm>
          <a:prstGeom prst="roundRect">
            <a:avLst>
              <a:gd name="adj" fmla="val 50000"/>
            </a:avLst>
          </a:prstGeom>
          <a:solidFill>
            <a:schemeClr val="bg1"/>
          </a:solidFill>
          <a:ln w="38100">
            <a:solidFill>
              <a:srgbClr val="D2D2D2"/>
            </a:solidFill>
            <a:headEnd type="arrow" w="lg" len="med"/>
            <a:tailEnd type="arrow"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3234" tIns="466169" rIns="93234" bIns="93234" numCol="1" spcCol="0" rtlCol="0" fromWordArt="0" anchor="ctr" anchorCtr="0" forceAA="0" compatLnSpc="1">
            <a:prstTxWarp prst="textNoShape">
              <a:avLst/>
            </a:prstTxWarp>
            <a:noAutofit/>
          </a:bodyPr>
          <a:lstStyle/>
          <a:p>
            <a:pPr algn="ctr" defTabSz="931881">
              <a:lnSpc>
                <a:spcPct val="90000"/>
              </a:lnSpc>
              <a:spcAft>
                <a:spcPts val="800"/>
              </a:spcAft>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Amazon Web Services</a:t>
            </a:r>
          </a:p>
        </p:txBody>
      </p:sp>
      <p:pic>
        <p:nvPicPr>
          <p:cNvPr id="103" name="Graphic 102">
            <a:extLst>
              <a:ext uri="{FF2B5EF4-FFF2-40B4-BE49-F238E27FC236}">
                <a16:creationId xmlns:a16="http://schemas.microsoft.com/office/drawing/2014/main" id="{2EA46532-71D2-4290-AD77-74699D3C4F4D}"/>
              </a:ext>
              <a:ext uri="{C183D7F6-B498-43B3-948B-1728B52AA6E4}">
                <adec:decorative xmlns:adec="http://schemas.microsoft.com/office/drawing/2017/decorative" val="1"/>
              </a:ext>
            </a:extLst>
          </p:cNvPr>
          <p:cNvPicPr>
            <a:picLocks noChangeAspect="1"/>
          </p:cNvPicPr>
          <p:nvPr/>
        </p:nvPicPr>
        <p:blipFill>
          <a:blip r:embed="rId17" cstate="print">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666993" y="5824292"/>
            <a:ext cx="406206" cy="243188"/>
          </a:xfrm>
          <a:prstGeom prst="rect">
            <a:avLst/>
          </a:prstGeom>
        </p:spPr>
      </p:pic>
      <p:sp>
        <p:nvSpPr>
          <p:cNvPr id="106" name="Rectangle: Rounded Corners 105">
            <a:extLst>
              <a:ext uri="{FF2B5EF4-FFF2-40B4-BE49-F238E27FC236}">
                <a16:creationId xmlns:a16="http://schemas.microsoft.com/office/drawing/2014/main" id="{479F7D0D-7FD2-415B-BA64-4A754331245E}"/>
              </a:ext>
            </a:extLst>
          </p:cNvPr>
          <p:cNvSpPr/>
          <p:nvPr/>
        </p:nvSpPr>
        <p:spPr bwMode="auto">
          <a:xfrm>
            <a:off x="6348495" y="5657239"/>
            <a:ext cx="2324399" cy="820818"/>
          </a:xfrm>
          <a:prstGeom prst="roundRect">
            <a:avLst>
              <a:gd name="adj" fmla="val 50000"/>
            </a:avLst>
          </a:prstGeom>
          <a:solidFill>
            <a:schemeClr val="bg1"/>
          </a:solidFill>
          <a:ln w="38100">
            <a:solidFill>
              <a:srgbClr val="D2D2D2"/>
            </a:solidFill>
            <a:headEnd type="arrow" w="lg" len="med"/>
            <a:tailEnd type="arrow"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3234" tIns="466169" rIns="93234" bIns="93234" numCol="1" spcCol="0" rtlCol="0" fromWordArt="0" anchor="ctr" anchorCtr="0" forceAA="0" compatLnSpc="1">
            <a:prstTxWarp prst="textNoShape">
              <a:avLst/>
            </a:prstTxWarp>
            <a:noAutofit/>
          </a:bodyPr>
          <a:lstStyle/>
          <a:p>
            <a:pPr algn="ctr" defTabSz="931881">
              <a:lnSpc>
                <a:spcPct val="90000"/>
              </a:lnSpc>
              <a:spcAft>
                <a:spcPts val="800"/>
              </a:spcAft>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Google Cloud Platform</a:t>
            </a:r>
          </a:p>
        </p:txBody>
      </p:sp>
      <p:pic>
        <p:nvPicPr>
          <p:cNvPr id="107" name="Graphic 106">
            <a:extLst>
              <a:ext uri="{FF2B5EF4-FFF2-40B4-BE49-F238E27FC236}">
                <a16:creationId xmlns:a16="http://schemas.microsoft.com/office/drawing/2014/main" id="{C8F33127-091C-4F82-8065-BD11EF521AEB}"/>
              </a:ext>
              <a:ext uri="{C183D7F6-B498-43B3-948B-1728B52AA6E4}">
                <adec:decorative xmlns:adec="http://schemas.microsoft.com/office/drawing/2017/decorative" val="1"/>
              </a:ext>
            </a:extLst>
          </p:cNvPr>
          <p:cNvPicPr>
            <a:picLocks noChangeAspect="1"/>
          </p:cNvPicPr>
          <p:nvPr/>
        </p:nvPicPr>
        <p:blipFill>
          <a:blip r:embed="rId19"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300268" y="5714995"/>
            <a:ext cx="420856" cy="420856"/>
          </a:xfrm>
          <a:prstGeom prst="rect">
            <a:avLst/>
          </a:prstGeom>
        </p:spPr>
      </p:pic>
      <p:sp>
        <p:nvSpPr>
          <p:cNvPr id="108" name="Rectangle: Rounded Corners 107">
            <a:extLst>
              <a:ext uri="{FF2B5EF4-FFF2-40B4-BE49-F238E27FC236}">
                <a16:creationId xmlns:a16="http://schemas.microsoft.com/office/drawing/2014/main" id="{5117D9A2-FF64-4E7B-8E5C-5C8F62082DFE}"/>
              </a:ext>
            </a:extLst>
          </p:cNvPr>
          <p:cNvSpPr/>
          <p:nvPr/>
        </p:nvSpPr>
        <p:spPr bwMode="auto">
          <a:xfrm>
            <a:off x="8989098" y="5657239"/>
            <a:ext cx="2324399" cy="820818"/>
          </a:xfrm>
          <a:prstGeom prst="roundRect">
            <a:avLst>
              <a:gd name="adj" fmla="val 50000"/>
            </a:avLst>
          </a:prstGeom>
          <a:solidFill>
            <a:schemeClr val="bg1"/>
          </a:solidFill>
          <a:ln w="38100">
            <a:solidFill>
              <a:srgbClr val="D2D2D2"/>
            </a:solidFill>
            <a:headEnd type="arrow" w="lg" len="med"/>
            <a:tailEnd type="arrow"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3234" tIns="466169" rIns="93234" bIns="93234" numCol="1" spcCol="0" rtlCol="0" fromWordArt="0" anchor="ctr" anchorCtr="0" forceAA="0" compatLnSpc="1">
            <a:prstTxWarp prst="textNoShape">
              <a:avLst/>
            </a:prstTxWarp>
            <a:noAutofit/>
          </a:bodyPr>
          <a:lstStyle/>
          <a:p>
            <a:pPr algn="ctr" defTabSz="931881">
              <a:lnSpc>
                <a:spcPct val="90000"/>
              </a:lnSpc>
              <a:spcAft>
                <a:spcPts val="800"/>
              </a:spcAft>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On-prem</a:t>
            </a:r>
          </a:p>
        </p:txBody>
      </p:sp>
      <p:grpSp>
        <p:nvGrpSpPr>
          <p:cNvPr id="109" name="Group 108">
            <a:extLst>
              <a:ext uri="{FF2B5EF4-FFF2-40B4-BE49-F238E27FC236}">
                <a16:creationId xmlns:a16="http://schemas.microsoft.com/office/drawing/2014/main" id="{D11F5633-E86A-4B4D-8CB4-FA94A73BA80C}"/>
              </a:ext>
              <a:ext uri="{C183D7F6-B498-43B3-948B-1728B52AA6E4}">
                <adec:decorative xmlns:adec="http://schemas.microsoft.com/office/drawing/2017/decorative" val="1"/>
              </a:ext>
            </a:extLst>
          </p:cNvPr>
          <p:cNvGrpSpPr/>
          <p:nvPr/>
        </p:nvGrpSpPr>
        <p:grpSpPr>
          <a:xfrm>
            <a:off x="9942771" y="5760242"/>
            <a:ext cx="417055" cy="330358"/>
            <a:chOff x="9137122" y="5816187"/>
            <a:chExt cx="599093" cy="474556"/>
          </a:xfrm>
          <a:solidFill>
            <a:schemeClr val="bg1"/>
          </a:solidFill>
        </p:grpSpPr>
        <p:sp>
          <p:nvSpPr>
            <p:cNvPr id="110" name="building_8">
              <a:extLst>
                <a:ext uri="{FF2B5EF4-FFF2-40B4-BE49-F238E27FC236}">
                  <a16:creationId xmlns:a16="http://schemas.microsoft.com/office/drawing/2014/main" id="{BB6E0B7C-3DD7-4565-8FED-D68EC38DD59B}"/>
                </a:ext>
              </a:extLst>
            </p:cNvPr>
            <p:cNvSpPr>
              <a:spLocks noChangeAspect="1" noEditPoints="1"/>
            </p:cNvSpPr>
            <p:nvPr/>
          </p:nvSpPr>
          <p:spPr bwMode="auto">
            <a:xfrm>
              <a:off x="9137122" y="5816187"/>
              <a:ext cx="330152" cy="358570"/>
            </a:xfrm>
            <a:custGeom>
              <a:avLst/>
              <a:gdLst>
                <a:gd name="T0" fmla="*/ 299 w 395"/>
                <a:gd name="T1" fmla="*/ 151 h 429"/>
                <a:gd name="T2" fmla="*/ 299 w 395"/>
                <a:gd name="T3" fmla="*/ 429 h 429"/>
                <a:gd name="T4" fmla="*/ 242 w 395"/>
                <a:gd name="T5" fmla="*/ 429 h 429"/>
                <a:gd name="T6" fmla="*/ 242 w 395"/>
                <a:gd name="T7" fmla="*/ 333 h 429"/>
                <a:gd name="T8" fmla="*/ 181 w 395"/>
                <a:gd name="T9" fmla="*/ 333 h 429"/>
                <a:gd name="T10" fmla="*/ 181 w 395"/>
                <a:gd name="T11" fmla="*/ 429 h 429"/>
                <a:gd name="T12" fmla="*/ 121 w 395"/>
                <a:gd name="T13" fmla="*/ 429 h 429"/>
                <a:gd name="T14" fmla="*/ 121 w 395"/>
                <a:gd name="T15" fmla="*/ 151 h 429"/>
                <a:gd name="T16" fmla="*/ 211 w 395"/>
                <a:gd name="T17" fmla="*/ 151 h 429"/>
                <a:gd name="T18" fmla="*/ 299 w 395"/>
                <a:gd name="T19" fmla="*/ 151 h 429"/>
                <a:gd name="T20" fmla="*/ 211 w 395"/>
                <a:gd name="T21" fmla="*/ 151 h 429"/>
                <a:gd name="T22" fmla="*/ 211 w 395"/>
                <a:gd name="T23" fmla="*/ 92 h 429"/>
                <a:gd name="T24" fmla="*/ 0 w 395"/>
                <a:gd name="T25" fmla="*/ 92 h 429"/>
                <a:gd name="T26" fmla="*/ 0 w 395"/>
                <a:gd name="T27" fmla="*/ 429 h 429"/>
                <a:gd name="T28" fmla="*/ 395 w 395"/>
                <a:gd name="T29" fmla="*/ 429 h 429"/>
                <a:gd name="T30" fmla="*/ 395 w 395"/>
                <a:gd name="T31" fmla="*/ 123 h 429"/>
                <a:gd name="T32" fmla="*/ 268 w 395"/>
                <a:gd name="T33" fmla="*/ 0 h 429"/>
                <a:gd name="T34" fmla="*/ 268 w 395"/>
                <a:gd name="T35" fmla="*/ 151 h 429"/>
                <a:gd name="T36" fmla="*/ 62 w 395"/>
                <a:gd name="T37" fmla="*/ 151 h 429"/>
                <a:gd name="T38" fmla="*/ 56 w 395"/>
                <a:gd name="T39" fmla="*/ 151 h 429"/>
                <a:gd name="T40" fmla="*/ 56 w 395"/>
                <a:gd name="T41" fmla="*/ 155 h 429"/>
                <a:gd name="T42" fmla="*/ 62 w 395"/>
                <a:gd name="T43" fmla="*/ 155 h 429"/>
                <a:gd name="T44" fmla="*/ 62 w 395"/>
                <a:gd name="T45" fmla="*/ 151 h 429"/>
                <a:gd name="T46" fmla="*/ 62 w 395"/>
                <a:gd name="T47" fmla="*/ 211 h 429"/>
                <a:gd name="T48" fmla="*/ 56 w 395"/>
                <a:gd name="T49" fmla="*/ 211 h 429"/>
                <a:gd name="T50" fmla="*/ 56 w 395"/>
                <a:gd name="T51" fmla="*/ 217 h 429"/>
                <a:gd name="T52" fmla="*/ 62 w 395"/>
                <a:gd name="T53" fmla="*/ 217 h 429"/>
                <a:gd name="T54" fmla="*/ 62 w 395"/>
                <a:gd name="T55" fmla="*/ 211 h 429"/>
                <a:gd name="T56" fmla="*/ 62 w 395"/>
                <a:gd name="T57" fmla="*/ 271 h 429"/>
                <a:gd name="T58" fmla="*/ 56 w 395"/>
                <a:gd name="T59" fmla="*/ 271 h 429"/>
                <a:gd name="T60" fmla="*/ 56 w 395"/>
                <a:gd name="T61" fmla="*/ 277 h 429"/>
                <a:gd name="T62" fmla="*/ 62 w 395"/>
                <a:gd name="T63" fmla="*/ 277 h 429"/>
                <a:gd name="T64" fmla="*/ 62 w 395"/>
                <a:gd name="T65" fmla="*/ 271 h 429"/>
                <a:gd name="T66" fmla="*/ 62 w 395"/>
                <a:gd name="T67" fmla="*/ 332 h 429"/>
                <a:gd name="T68" fmla="*/ 56 w 395"/>
                <a:gd name="T69" fmla="*/ 332 h 429"/>
                <a:gd name="T70" fmla="*/ 56 w 395"/>
                <a:gd name="T71" fmla="*/ 337 h 429"/>
                <a:gd name="T72" fmla="*/ 62 w 395"/>
                <a:gd name="T73" fmla="*/ 337 h 429"/>
                <a:gd name="T74" fmla="*/ 62 w 395"/>
                <a:gd name="T75" fmla="*/ 332 h 429"/>
                <a:gd name="T76" fmla="*/ 62 w 395"/>
                <a:gd name="T77" fmla="*/ 392 h 429"/>
                <a:gd name="T78" fmla="*/ 56 w 395"/>
                <a:gd name="T79" fmla="*/ 392 h 429"/>
                <a:gd name="T80" fmla="*/ 56 w 395"/>
                <a:gd name="T81" fmla="*/ 397 h 429"/>
                <a:gd name="T82" fmla="*/ 62 w 395"/>
                <a:gd name="T83" fmla="*/ 397 h 429"/>
                <a:gd name="T84" fmla="*/ 62 w 395"/>
                <a:gd name="T85" fmla="*/ 392 h 429"/>
                <a:gd name="T86" fmla="*/ 182 w 395"/>
                <a:gd name="T87" fmla="*/ 211 h 429"/>
                <a:gd name="T88" fmla="*/ 177 w 395"/>
                <a:gd name="T89" fmla="*/ 211 h 429"/>
                <a:gd name="T90" fmla="*/ 177 w 395"/>
                <a:gd name="T91" fmla="*/ 217 h 429"/>
                <a:gd name="T92" fmla="*/ 182 w 395"/>
                <a:gd name="T93" fmla="*/ 217 h 429"/>
                <a:gd name="T94" fmla="*/ 182 w 395"/>
                <a:gd name="T95" fmla="*/ 211 h 429"/>
                <a:gd name="T96" fmla="*/ 182 w 395"/>
                <a:gd name="T97" fmla="*/ 273 h 429"/>
                <a:gd name="T98" fmla="*/ 177 w 395"/>
                <a:gd name="T99" fmla="*/ 273 h 429"/>
                <a:gd name="T100" fmla="*/ 177 w 395"/>
                <a:gd name="T101" fmla="*/ 277 h 429"/>
                <a:gd name="T102" fmla="*/ 182 w 395"/>
                <a:gd name="T103" fmla="*/ 277 h 429"/>
                <a:gd name="T104" fmla="*/ 182 w 395"/>
                <a:gd name="T105" fmla="*/ 273 h 429"/>
                <a:gd name="T106" fmla="*/ 243 w 395"/>
                <a:gd name="T107" fmla="*/ 211 h 429"/>
                <a:gd name="T108" fmla="*/ 237 w 395"/>
                <a:gd name="T109" fmla="*/ 211 h 429"/>
                <a:gd name="T110" fmla="*/ 237 w 395"/>
                <a:gd name="T111" fmla="*/ 217 h 429"/>
                <a:gd name="T112" fmla="*/ 243 w 395"/>
                <a:gd name="T113" fmla="*/ 217 h 429"/>
                <a:gd name="T114" fmla="*/ 243 w 395"/>
                <a:gd name="T115" fmla="*/ 211 h 429"/>
                <a:gd name="T116" fmla="*/ 243 w 395"/>
                <a:gd name="T117" fmla="*/ 273 h 429"/>
                <a:gd name="T118" fmla="*/ 237 w 395"/>
                <a:gd name="T119" fmla="*/ 273 h 429"/>
                <a:gd name="T120" fmla="*/ 237 w 395"/>
                <a:gd name="T121" fmla="*/ 277 h 429"/>
                <a:gd name="T122" fmla="*/ 243 w 395"/>
                <a:gd name="T123" fmla="*/ 277 h 429"/>
                <a:gd name="T124" fmla="*/ 243 w 395"/>
                <a:gd name="T125" fmla="*/ 273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95" h="429">
                  <a:moveTo>
                    <a:pt x="299" y="151"/>
                  </a:moveTo>
                  <a:lnTo>
                    <a:pt x="299" y="429"/>
                  </a:lnTo>
                  <a:lnTo>
                    <a:pt x="242" y="429"/>
                  </a:lnTo>
                  <a:lnTo>
                    <a:pt x="242" y="333"/>
                  </a:lnTo>
                  <a:lnTo>
                    <a:pt x="181" y="333"/>
                  </a:lnTo>
                  <a:lnTo>
                    <a:pt x="181" y="429"/>
                  </a:lnTo>
                  <a:lnTo>
                    <a:pt x="121" y="429"/>
                  </a:lnTo>
                  <a:lnTo>
                    <a:pt x="121" y="151"/>
                  </a:lnTo>
                  <a:lnTo>
                    <a:pt x="211" y="151"/>
                  </a:lnTo>
                  <a:lnTo>
                    <a:pt x="299" y="151"/>
                  </a:lnTo>
                  <a:moveTo>
                    <a:pt x="211" y="151"/>
                  </a:moveTo>
                  <a:lnTo>
                    <a:pt x="211" y="92"/>
                  </a:lnTo>
                  <a:lnTo>
                    <a:pt x="0" y="92"/>
                  </a:lnTo>
                  <a:lnTo>
                    <a:pt x="0" y="429"/>
                  </a:lnTo>
                  <a:moveTo>
                    <a:pt x="395" y="429"/>
                  </a:moveTo>
                  <a:lnTo>
                    <a:pt x="395" y="123"/>
                  </a:lnTo>
                  <a:lnTo>
                    <a:pt x="268" y="0"/>
                  </a:lnTo>
                  <a:lnTo>
                    <a:pt x="268" y="151"/>
                  </a:lnTo>
                  <a:moveTo>
                    <a:pt x="62" y="151"/>
                  </a:moveTo>
                  <a:lnTo>
                    <a:pt x="56" y="151"/>
                  </a:lnTo>
                  <a:lnTo>
                    <a:pt x="56" y="155"/>
                  </a:lnTo>
                  <a:lnTo>
                    <a:pt x="62" y="155"/>
                  </a:lnTo>
                  <a:lnTo>
                    <a:pt x="62" y="151"/>
                  </a:lnTo>
                  <a:moveTo>
                    <a:pt x="62" y="211"/>
                  </a:moveTo>
                  <a:lnTo>
                    <a:pt x="56" y="211"/>
                  </a:lnTo>
                  <a:lnTo>
                    <a:pt x="56" y="217"/>
                  </a:lnTo>
                  <a:lnTo>
                    <a:pt x="62" y="217"/>
                  </a:lnTo>
                  <a:lnTo>
                    <a:pt x="62" y="211"/>
                  </a:lnTo>
                  <a:moveTo>
                    <a:pt x="62" y="271"/>
                  </a:moveTo>
                  <a:lnTo>
                    <a:pt x="56" y="271"/>
                  </a:lnTo>
                  <a:lnTo>
                    <a:pt x="56" y="277"/>
                  </a:lnTo>
                  <a:lnTo>
                    <a:pt x="62" y="277"/>
                  </a:lnTo>
                  <a:lnTo>
                    <a:pt x="62" y="271"/>
                  </a:lnTo>
                  <a:moveTo>
                    <a:pt x="62" y="332"/>
                  </a:moveTo>
                  <a:lnTo>
                    <a:pt x="56" y="332"/>
                  </a:lnTo>
                  <a:lnTo>
                    <a:pt x="56" y="337"/>
                  </a:lnTo>
                  <a:lnTo>
                    <a:pt x="62" y="337"/>
                  </a:lnTo>
                  <a:lnTo>
                    <a:pt x="62" y="332"/>
                  </a:lnTo>
                  <a:moveTo>
                    <a:pt x="62" y="392"/>
                  </a:moveTo>
                  <a:lnTo>
                    <a:pt x="56" y="392"/>
                  </a:lnTo>
                  <a:lnTo>
                    <a:pt x="56" y="397"/>
                  </a:lnTo>
                  <a:lnTo>
                    <a:pt x="62" y="397"/>
                  </a:lnTo>
                  <a:lnTo>
                    <a:pt x="62" y="392"/>
                  </a:lnTo>
                  <a:moveTo>
                    <a:pt x="182" y="211"/>
                  </a:moveTo>
                  <a:lnTo>
                    <a:pt x="177" y="211"/>
                  </a:lnTo>
                  <a:lnTo>
                    <a:pt x="177" y="217"/>
                  </a:lnTo>
                  <a:lnTo>
                    <a:pt x="182" y="217"/>
                  </a:lnTo>
                  <a:lnTo>
                    <a:pt x="182" y="211"/>
                  </a:lnTo>
                  <a:moveTo>
                    <a:pt x="182" y="273"/>
                  </a:moveTo>
                  <a:lnTo>
                    <a:pt x="177" y="273"/>
                  </a:lnTo>
                  <a:lnTo>
                    <a:pt x="177" y="277"/>
                  </a:lnTo>
                  <a:lnTo>
                    <a:pt x="182" y="277"/>
                  </a:lnTo>
                  <a:lnTo>
                    <a:pt x="182" y="273"/>
                  </a:lnTo>
                  <a:moveTo>
                    <a:pt x="243" y="211"/>
                  </a:moveTo>
                  <a:lnTo>
                    <a:pt x="237" y="211"/>
                  </a:lnTo>
                  <a:lnTo>
                    <a:pt x="237" y="217"/>
                  </a:lnTo>
                  <a:lnTo>
                    <a:pt x="243" y="217"/>
                  </a:lnTo>
                  <a:lnTo>
                    <a:pt x="243" y="211"/>
                  </a:lnTo>
                  <a:moveTo>
                    <a:pt x="243" y="273"/>
                  </a:moveTo>
                  <a:lnTo>
                    <a:pt x="237" y="273"/>
                  </a:lnTo>
                  <a:lnTo>
                    <a:pt x="237" y="277"/>
                  </a:lnTo>
                  <a:lnTo>
                    <a:pt x="243" y="277"/>
                  </a:lnTo>
                  <a:lnTo>
                    <a:pt x="243" y="273"/>
                  </a:lnTo>
                </a:path>
              </a:pathLst>
            </a:custGeom>
            <a:grpFill/>
            <a:ln w="12700" cap="sq">
              <a:solidFill>
                <a:schemeClr val="tx1"/>
              </a:solidFill>
              <a:prstDash val="solid"/>
              <a:miter lim="800000"/>
              <a:headEnd/>
              <a:tailEnd/>
            </a:ln>
          </p:spPr>
          <p:txBody>
            <a:bodyPr vert="horz" wrap="square" lIns="91401" tIns="45700" rIns="91401" bIns="45700" numCol="1" anchor="t" anchorCtr="0" compatLnSpc="1">
              <a:prstTxWarp prst="textNoShape">
                <a:avLst/>
              </a:prstTxWarp>
            </a:bodyPr>
            <a:lstStyle/>
            <a:p>
              <a:pPr defTabSz="932239"/>
              <a:endParaRPr lang="en-US" sz="1762">
                <a:solidFill>
                  <a:srgbClr val="000000"/>
                </a:solidFill>
                <a:latin typeface="Segoe UI"/>
              </a:endParaRPr>
            </a:p>
          </p:txBody>
        </p:sp>
        <p:sp>
          <p:nvSpPr>
            <p:cNvPr id="111" name="Freeform: Shape 110">
              <a:extLst>
                <a:ext uri="{FF2B5EF4-FFF2-40B4-BE49-F238E27FC236}">
                  <a16:creationId xmlns:a16="http://schemas.microsoft.com/office/drawing/2014/main" id="{FDF48CE5-F316-459F-B838-3CA44C75D93D}"/>
                </a:ext>
              </a:extLst>
            </p:cNvPr>
            <p:cNvSpPr/>
            <p:nvPr/>
          </p:nvSpPr>
          <p:spPr>
            <a:xfrm>
              <a:off x="9376295" y="6059180"/>
              <a:ext cx="359920" cy="231563"/>
            </a:xfrm>
            <a:custGeom>
              <a:avLst/>
              <a:gdLst>
                <a:gd name="connsiteX0" fmla="*/ 300351 w 365566"/>
                <a:gd name="connsiteY0" fmla="*/ 233606 h 235195"/>
                <a:gd name="connsiteX1" fmla="*/ 300351 w 365566"/>
                <a:gd name="connsiteY1" fmla="*/ 233606 h 235195"/>
                <a:gd name="connsiteX2" fmla="*/ 93760 w 365566"/>
                <a:gd name="connsiteY2" fmla="*/ 235195 h 235195"/>
                <a:gd name="connsiteX3" fmla="*/ 93760 w 365566"/>
                <a:gd name="connsiteY3" fmla="*/ 235195 h 235195"/>
                <a:gd name="connsiteX4" fmla="*/ 92171 w 365566"/>
                <a:gd name="connsiteY4" fmla="*/ 235195 h 235195"/>
                <a:gd name="connsiteX5" fmla="*/ 0 w 365566"/>
                <a:gd name="connsiteY5" fmla="*/ 141435 h 235195"/>
                <a:gd name="connsiteX6" fmla="*/ 90582 w 365566"/>
                <a:gd name="connsiteY6" fmla="*/ 47675 h 235195"/>
                <a:gd name="connsiteX7" fmla="*/ 109652 w 365566"/>
                <a:gd name="connsiteY7" fmla="*/ 49264 h 235195"/>
                <a:gd name="connsiteX8" fmla="*/ 195467 w 365566"/>
                <a:gd name="connsiteY8" fmla="*/ 0 h 235195"/>
                <a:gd name="connsiteX9" fmla="*/ 295584 w 365566"/>
                <a:gd name="connsiteY9" fmla="*/ 92171 h 235195"/>
                <a:gd name="connsiteX10" fmla="*/ 295584 w 365566"/>
                <a:gd name="connsiteY10" fmla="*/ 92171 h 235195"/>
                <a:gd name="connsiteX11" fmla="*/ 365507 w 365566"/>
                <a:gd name="connsiteY11" fmla="*/ 163683 h 235195"/>
                <a:gd name="connsiteX12" fmla="*/ 300351 w 365566"/>
                <a:gd name="connsiteY12" fmla="*/ 233606 h 235195"/>
                <a:gd name="connsiteX13" fmla="*/ 300351 w 365566"/>
                <a:gd name="connsiteY13" fmla="*/ 233606 h 23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5566" h="235195">
                  <a:moveTo>
                    <a:pt x="300351" y="233606"/>
                  </a:moveTo>
                  <a:cubicBezTo>
                    <a:pt x="300351" y="235195"/>
                    <a:pt x="300351" y="235195"/>
                    <a:pt x="300351" y="233606"/>
                  </a:cubicBezTo>
                  <a:cubicBezTo>
                    <a:pt x="93760" y="235195"/>
                    <a:pt x="93760" y="235195"/>
                    <a:pt x="93760" y="235195"/>
                  </a:cubicBezTo>
                  <a:lnTo>
                    <a:pt x="93760" y="235195"/>
                  </a:lnTo>
                  <a:cubicBezTo>
                    <a:pt x="92171" y="235195"/>
                    <a:pt x="92171" y="235195"/>
                    <a:pt x="92171" y="235195"/>
                  </a:cubicBezTo>
                  <a:cubicBezTo>
                    <a:pt x="41318" y="235195"/>
                    <a:pt x="0" y="193877"/>
                    <a:pt x="0" y="141435"/>
                  </a:cubicBezTo>
                  <a:cubicBezTo>
                    <a:pt x="0" y="88993"/>
                    <a:pt x="41318" y="47675"/>
                    <a:pt x="90582" y="47675"/>
                  </a:cubicBezTo>
                  <a:cubicBezTo>
                    <a:pt x="96939" y="47675"/>
                    <a:pt x="103295" y="47675"/>
                    <a:pt x="109652" y="49264"/>
                  </a:cubicBezTo>
                  <a:cubicBezTo>
                    <a:pt x="128722" y="19070"/>
                    <a:pt x="158916" y="0"/>
                    <a:pt x="195467" y="0"/>
                  </a:cubicBezTo>
                  <a:cubicBezTo>
                    <a:pt x="247909" y="0"/>
                    <a:pt x="290816" y="39729"/>
                    <a:pt x="295584" y="92171"/>
                  </a:cubicBezTo>
                  <a:lnTo>
                    <a:pt x="295584" y="92171"/>
                  </a:lnTo>
                  <a:cubicBezTo>
                    <a:pt x="335313" y="92171"/>
                    <a:pt x="365507" y="123954"/>
                    <a:pt x="365507" y="163683"/>
                  </a:cubicBezTo>
                  <a:cubicBezTo>
                    <a:pt x="367096" y="200234"/>
                    <a:pt x="336902" y="232017"/>
                    <a:pt x="300351" y="233606"/>
                  </a:cubicBezTo>
                  <a:lnTo>
                    <a:pt x="300351" y="233606"/>
                  </a:lnTo>
                  <a:close/>
                </a:path>
              </a:pathLst>
            </a:custGeom>
            <a:grpFill/>
            <a:ln w="12700" cap="flat">
              <a:solidFill>
                <a:schemeClr val="tx1"/>
              </a:solidFill>
              <a:prstDash val="solid"/>
              <a:miter/>
            </a:ln>
          </p:spPr>
          <p:txBody>
            <a:bodyPr rtlCol="0" anchor="ctr"/>
            <a:lstStyle/>
            <a:p>
              <a:pPr defTabSz="932239"/>
              <a:endParaRPr lang="en-US" sz="1836">
                <a:solidFill>
                  <a:srgbClr val="000000"/>
                </a:solidFill>
                <a:latin typeface="Segoe UI"/>
              </a:endParaRPr>
            </a:p>
          </p:txBody>
        </p:sp>
      </p:grpSp>
    </p:spTree>
    <p:extLst>
      <p:ext uri="{BB962C8B-B14F-4D97-AF65-F5344CB8AC3E}">
        <p14:creationId xmlns:p14="http://schemas.microsoft.com/office/powerpoint/2010/main" val="251563539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899F-4440-4346-9453-3A146D23AC8F}"/>
              </a:ext>
            </a:extLst>
          </p:cNvPr>
          <p:cNvSpPr>
            <a:spLocks noGrp="1"/>
          </p:cNvSpPr>
          <p:nvPr>
            <p:ph type="title"/>
          </p:nvPr>
        </p:nvSpPr>
        <p:spPr>
          <a:xfrm>
            <a:off x="551419" y="466302"/>
            <a:ext cx="11239464" cy="502246"/>
          </a:xfrm>
        </p:spPr>
        <p:txBody>
          <a:bodyPr/>
          <a:lstStyle/>
          <a:p>
            <a:r>
              <a:rPr lang="en-US" sz="3600" dirty="0"/>
              <a:t>How we’re different</a:t>
            </a:r>
          </a:p>
        </p:txBody>
      </p:sp>
      <p:sp>
        <p:nvSpPr>
          <p:cNvPr id="3" name="Rectangle: Rounded Corners 2">
            <a:extLst>
              <a:ext uri="{FF2B5EF4-FFF2-40B4-BE49-F238E27FC236}">
                <a16:creationId xmlns:a16="http://schemas.microsoft.com/office/drawing/2014/main" id="{AC7498AE-2EDB-436B-A40F-E43B13A27627}"/>
              </a:ext>
            </a:extLst>
          </p:cNvPr>
          <p:cNvSpPr/>
          <p:nvPr/>
        </p:nvSpPr>
        <p:spPr bwMode="auto">
          <a:xfrm>
            <a:off x="592128" y="2218142"/>
            <a:ext cx="2704166" cy="4052468"/>
          </a:xfrm>
          <a:prstGeom prst="roundRect">
            <a:avLst>
              <a:gd name="adj" fmla="val 3720"/>
            </a:avLst>
          </a:prstGeom>
          <a:solidFill>
            <a:srgbClr val="F2F2F2"/>
          </a:solidFill>
          <a:ln w="571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839224" rIns="186494" bIns="149196" numCol="1" spcCol="0" rtlCol="0" fromWordArt="0" anchor="t" anchorCtr="0" forceAA="0" compatLnSpc="1">
            <a:prstTxWarp prst="textNoShape">
              <a:avLst/>
            </a:prstTxWarp>
            <a:noAutofit/>
          </a:bodyPr>
          <a:lstStyle/>
          <a:p>
            <a:pPr defTabSz="932418"/>
            <a:r>
              <a:rPr lang="en-US" dirty="0">
                <a:gradFill>
                  <a:gsLst>
                    <a:gs pos="2917">
                      <a:srgbClr val="000000"/>
                    </a:gs>
                    <a:gs pos="100000">
                      <a:srgbClr val="000000"/>
                    </a:gs>
                  </a:gsLst>
                  <a:lin ang="5400000" scaled="0"/>
                </a:gradFill>
                <a:latin typeface="Segoe UI Semibold"/>
              </a:rPr>
              <a:t>Built-in</a:t>
            </a:r>
          </a:p>
          <a:p>
            <a:pPr defTabSz="932418">
              <a:spcAft>
                <a:spcPts val="1224"/>
              </a:spcAft>
            </a:pPr>
            <a:r>
              <a:rPr lang="en-US" dirty="0">
                <a:gradFill>
                  <a:gsLst>
                    <a:gs pos="2917">
                      <a:srgbClr val="000000"/>
                    </a:gs>
                    <a:gs pos="100000">
                      <a:srgbClr val="000000"/>
                    </a:gs>
                  </a:gsLst>
                  <a:lin ang="5400000" scaled="0"/>
                </a:gradFill>
                <a:latin typeface="Segoe UI Semibold"/>
              </a:rPr>
              <a:t>with Azure</a:t>
            </a:r>
          </a:p>
          <a:p>
            <a:pPr marL="293000" lvl="1" indent="-293000" defTabSz="932418">
              <a:spcAft>
                <a:spcPts val="1224"/>
              </a:spcAft>
              <a:buFont typeface="Arial" panose="020B0604020202020204" pitchFamily="34" charset="0"/>
              <a:buChar char="•"/>
            </a:pPr>
            <a:r>
              <a:rPr lang="en-US" sz="1400" dirty="0">
                <a:gradFill>
                  <a:gsLst>
                    <a:gs pos="2917">
                      <a:srgbClr val="000000"/>
                    </a:gs>
                    <a:gs pos="100000">
                      <a:srgbClr val="000000"/>
                    </a:gs>
                  </a:gsLst>
                  <a:lin ang="5400000" scaled="0"/>
                </a:gradFill>
                <a:latin typeface="Segoe UI"/>
              </a:rPr>
              <a:t>No deployment, just enable</a:t>
            </a:r>
          </a:p>
          <a:p>
            <a:pPr marL="293000" lvl="1" indent="-293000" defTabSz="932418">
              <a:spcAft>
                <a:spcPts val="1224"/>
              </a:spcAft>
              <a:buFont typeface="Arial" panose="020B0604020202020204" pitchFamily="34" charset="0"/>
              <a:buChar char="•"/>
            </a:pPr>
            <a:r>
              <a:rPr lang="en-US" sz="1400" dirty="0">
                <a:gradFill>
                  <a:gsLst>
                    <a:gs pos="2917">
                      <a:srgbClr val="000000"/>
                    </a:gs>
                    <a:gs pos="100000">
                      <a:srgbClr val="000000"/>
                    </a:gs>
                  </a:gsLst>
                  <a:lin ang="5400000" scaled="0"/>
                </a:gradFill>
                <a:latin typeface="Segoe UI"/>
              </a:rPr>
              <a:t>Built into the resource provisioning process</a:t>
            </a:r>
          </a:p>
          <a:p>
            <a:pPr marL="293000" lvl="1" indent="-293000" defTabSz="932418">
              <a:spcAft>
                <a:spcPts val="1224"/>
              </a:spcAft>
              <a:buFont typeface="Arial" panose="020B0604020202020204" pitchFamily="34" charset="0"/>
              <a:buChar char="•"/>
            </a:pPr>
            <a:r>
              <a:rPr lang="en-US" sz="1400" dirty="0">
                <a:gradFill>
                  <a:gsLst>
                    <a:gs pos="2917">
                      <a:srgbClr val="000000"/>
                    </a:gs>
                    <a:gs pos="100000">
                      <a:srgbClr val="000000"/>
                    </a:gs>
                  </a:gsLst>
                  <a:lin ang="5400000" scaled="0"/>
                </a:gradFill>
                <a:latin typeface="Segoe UI"/>
              </a:rPr>
              <a:t>Broadest protection coverage </a:t>
            </a:r>
          </a:p>
          <a:p>
            <a:pPr marL="293000" lvl="1" indent="-293000" defTabSz="932418">
              <a:spcAft>
                <a:spcPts val="1224"/>
              </a:spcAft>
              <a:buFont typeface="Arial" panose="020B0604020202020204" pitchFamily="34" charset="0"/>
              <a:buChar char="•"/>
            </a:pPr>
            <a:r>
              <a:rPr lang="en-US" sz="1400" dirty="0">
                <a:gradFill>
                  <a:gsLst>
                    <a:gs pos="2917">
                      <a:srgbClr val="000000"/>
                    </a:gs>
                    <a:gs pos="100000">
                      <a:srgbClr val="000000"/>
                    </a:gs>
                  </a:gsLst>
                  <a:lin ang="5400000" scaled="0"/>
                </a:gradFill>
                <a:latin typeface="Segoe UI"/>
              </a:rPr>
              <a:t>Remediate with a click</a:t>
            </a:r>
          </a:p>
        </p:txBody>
      </p:sp>
      <p:sp>
        <p:nvSpPr>
          <p:cNvPr id="4" name="Oval 3">
            <a:extLst>
              <a:ext uri="{FF2B5EF4-FFF2-40B4-BE49-F238E27FC236}">
                <a16:creationId xmlns:a16="http://schemas.microsoft.com/office/drawing/2014/main" id="{AFEC8200-28F2-47C0-8673-FDA0CC158879}"/>
              </a:ext>
              <a:ext uri="{C183D7F6-B498-43B3-948B-1728B52AA6E4}">
                <adec:decorative xmlns:adec="http://schemas.microsoft.com/office/drawing/2017/decorative" val="1"/>
              </a:ext>
            </a:extLst>
          </p:cNvPr>
          <p:cNvSpPr/>
          <p:nvPr/>
        </p:nvSpPr>
        <p:spPr bwMode="auto">
          <a:xfrm>
            <a:off x="1341051" y="1614981"/>
            <a:ext cx="1206320" cy="1206320"/>
          </a:xfrm>
          <a:prstGeom prst="ellipse">
            <a:avLst/>
          </a:prstGeom>
          <a:solidFill>
            <a:schemeClr val="accent2"/>
          </a:solidFill>
          <a:ln w="76200">
            <a:solidFill>
              <a:schemeClr val="bg1"/>
            </a:solid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pPr>
            <a:endParaRPr lang="en-US" sz="2040" err="1">
              <a:solidFill>
                <a:srgbClr val="FFFFFF"/>
              </a:solidFill>
              <a:latin typeface="Segoe UI"/>
              <a:ea typeface="Segoe UI" pitchFamily="34" charset="0"/>
              <a:cs typeface="Segoe UI" pitchFamily="34" charset="0"/>
            </a:endParaRPr>
          </a:p>
        </p:txBody>
      </p:sp>
      <p:sp>
        <p:nvSpPr>
          <p:cNvPr id="8" name="Rectangle: Rounded Corners 7">
            <a:extLst>
              <a:ext uri="{FF2B5EF4-FFF2-40B4-BE49-F238E27FC236}">
                <a16:creationId xmlns:a16="http://schemas.microsoft.com/office/drawing/2014/main" id="{74544DDD-F555-415F-B0F0-5A74D4DA940F}"/>
              </a:ext>
            </a:extLst>
          </p:cNvPr>
          <p:cNvSpPr/>
          <p:nvPr/>
        </p:nvSpPr>
        <p:spPr bwMode="auto">
          <a:xfrm>
            <a:off x="3487754" y="2218142"/>
            <a:ext cx="2704166" cy="4052468"/>
          </a:xfrm>
          <a:prstGeom prst="roundRect">
            <a:avLst>
              <a:gd name="adj" fmla="val 3720"/>
            </a:avLst>
          </a:prstGeom>
          <a:solidFill>
            <a:srgbClr val="F2F2F2"/>
          </a:solidFill>
          <a:ln w="571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839224" rIns="186494" bIns="149196" numCol="1" spcCol="0" rtlCol="0" fromWordArt="0" anchor="t" anchorCtr="0" forceAA="0" compatLnSpc="1">
            <a:prstTxWarp prst="textNoShape">
              <a:avLst/>
            </a:prstTxWarp>
            <a:noAutofit/>
          </a:bodyPr>
          <a:lstStyle/>
          <a:p>
            <a:pPr defTabSz="932418">
              <a:spcAft>
                <a:spcPts val="1224"/>
              </a:spcAft>
            </a:pPr>
            <a:r>
              <a:rPr lang="en-US" dirty="0">
                <a:gradFill>
                  <a:gsLst>
                    <a:gs pos="2917">
                      <a:srgbClr val="000000"/>
                    </a:gs>
                    <a:gs pos="100000">
                      <a:srgbClr val="000000"/>
                    </a:gs>
                  </a:gsLst>
                  <a:lin ang="5400000" scaled="0"/>
                </a:gradFill>
                <a:latin typeface="Segoe UI Semibold"/>
              </a:rPr>
              <a:t>Multi-cloud and hybrid support</a:t>
            </a:r>
          </a:p>
          <a:p>
            <a:pPr marL="293000" lvl="1" indent="-293000" defTabSz="932418">
              <a:spcAft>
                <a:spcPts val="1224"/>
              </a:spcAft>
              <a:buFont typeface="Arial" panose="020B0604020202020204" pitchFamily="34" charset="0"/>
              <a:buChar char="•"/>
            </a:pPr>
            <a:r>
              <a:rPr lang="en-US" sz="1400" dirty="0">
                <a:gradFill>
                  <a:gsLst>
                    <a:gs pos="2917">
                      <a:srgbClr val="000000"/>
                    </a:gs>
                    <a:gs pos="100000">
                      <a:srgbClr val="000000"/>
                    </a:gs>
                  </a:gsLst>
                  <a:lin ang="5400000" scaled="0"/>
                </a:gradFill>
                <a:latin typeface="Segoe UI"/>
              </a:rPr>
              <a:t>Agentless onboarding for AWS and GCP posture management</a:t>
            </a:r>
          </a:p>
          <a:p>
            <a:pPr marL="293000" lvl="1" indent="-293000" defTabSz="932418">
              <a:spcAft>
                <a:spcPts val="1224"/>
              </a:spcAft>
              <a:buFont typeface="Arial" panose="020B0604020202020204" pitchFamily="34" charset="0"/>
              <a:buChar char="•"/>
            </a:pPr>
            <a:r>
              <a:rPr lang="en-US" sz="1400" dirty="0">
                <a:gradFill>
                  <a:gsLst>
                    <a:gs pos="2917">
                      <a:srgbClr val="000000"/>
                    </a:gs>
                    <a:gs pos="100000">
                      <a:srgbClr val="000000"/>
                    </a:gs>
                  </a:gsLst>
                  <a:lin ang="5400000" scaled="0"/>
                </a:gradFill>
                <a:latin typeface="Segoe UI"/>
              </a:rPr>
              <a:t>Auto provisioning for new resources</a:t>
            </a:r>
          </a:p>
          <a:p>
            <a:pPr marL="293000" lvl="1" indent="-293000" defTabSz="932418">
              <a:spcAft>
                <a:spcPts val="1224"/>
              </a:spcAft>
              <a:buFont typeface="Arial" panose="020B0604020202020204" pitchFamily="34" charset="0"/>
              <a:buChar char="•"/>
            </a:pPr>
            <a:r>
              <a:rPr lang="en-US" sz="1400" dirty="0">
                <a:gradFill>
                  <a:gsLst>
                    <a:gs pos="2917">
                      <a:srgbClr val="000000"/>
                    </a:gs>
                    <a:gs pos="100000">
                      <a:srgbClr val="000000"/>
                    </a:gs>
                  </a:gsLst>
                  <a:lin ang="5400000" scaled="0"/>
                </a:gradFill>
                <a:latin typeface="Segoe UI"/>
              </a:rPr>
              <a:t>Onboard on-prem resources with Azure Arc</a:t>
            </a:r>
          </a:p>
        </p:txBody>
      </p:sp>
      <p:grpSp>
        <p:nvGrpSpPr>
          <p:cNvPr id="32" name="Group 31">
            <a:extLst>
              <a:ext uri="{FF2B5EF4-FFF2-40B4-BE49-F238E27FC236}">
                <a16:creationId xmlns:a16="http://schemas.microsoft.com/office/drawing/2014/main" id="{53173AD8-B88B-461A-8FC7-B92E94AF489E}"/>
              </a:ext>
              <a:ext uri="{C183D7F6-B498-43B3-948B-1728B52AA6E4}">
                <adec:decorative xmlns:adec="http://schemas.microsoft.com/office/drawing/2017/decorative" val="1"/>
              </a:ext>
            </a:extLst>
          </p:cNvPr>
          <p:cNvGrpSpPr/>
          <p:nvPr/>
        </p:nvGrpSpPr>
        <p:grpSpPr>
          <a:xfrm>
            <a:off x="4236677" y="1614981"/>
            <a:ext cx="1206320" cy="1206320"/>
            <a:chOff x="4110577" y="1714470"/>
            <a:chExt cx="1182942" cy="1182942"/>
          </a:xfrm>
          <a:solidFill>
            <a:schemeClr val="accent3"/>
          </a:solidFill>
        </p:grpSpPr>
        <p:sp>
          <p:nvSpPr>
            <p:cNvPr id="28" name="Oval 27">
              <a:extLst>
                <a:ext uri="{FF2B5EF4-FFF2-40B4-BE49-F238E27FC236}">
                  <a16:creationId xmlns:a16="http://schemas.microsoft.com/office/drawing/2014/main" id="{4694402E-9D6D-4DB4-8B91-25F02C213AEA}"/>
                </a:ext>
              </a:extLst>
            </p:cNvPr>
            <p:cNvSpPr/>
            <p:nvPr/>
          </p:nvSpPr>
          <p:spPr bwMode="auto">
            <a:xfrm>
              <a:off x="4110577" y="1714470"/>
              <a:ext cx="1182942" cy="1182942"/>
            </a:xfrm>
            <a:prstGeom prst="ellipse">
              <a:avLst/>
            </a:prstGeom>
            <a:grpFill/>
            <a:ln w="76200">
              <a:solidFill>
                <a:schemeClr val="bg1"/>
              </a:solid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pPr>
              <a:endParaRPr lang="en-US" sz="2040" err="1">
                <a:solidFill>
                  <a:srgbClr val="FFFFFF"/>
                </a:solidFill>
                <a:latin typeface="Segoe UI"/>
                <a:ea typeface="Segoe UI" pitchFamily="34" charset="0"/>
                <a:cs typeface="Segoe UI" pitchFamily="34" charset="0"/>
              </a:endParaRPr>
            </a:p>
          </p:txBody>
        </p:sp>
        <p:sp>
          <p:nvSpPr>
            <p:cNvPr id="7" name="Freeform: Shape 6">
              <a:extLst>
                <a:ext uri="{FF2B5EF4-FFF2-40B4-BE49-F238E27FC236}">
                  <a16:creationId xmlns:a16="http://schemas.microsoft.com/office/drawing/2014/main" id="{417B6DCF-D175-4539-9140-FB31DF9CEF2E}"/>
                </a:ext>
              </a:extLst>
            </p:cNvPr>
            <p:cNvSpPr/>
            <p:nvPr/>
          </p:nvSpPr>
          <p:spPr>
            <a:xfrm>
              <a:off x="4495946" y="2101407"/>
              <a:ext cx="416007" cy="405984"/>
            </a:xfrm>
            <a:custGeom>
              <a:avLst/>
              <a:gdLst>
                <a:gd name="connsiteX0" fmla="*/ 230208 w 308780"/>
                <a:gd name="connsiteY0" fmla="*/ 207658 h 301341"/>
                <a:gd name="connsiteX1" fmla="*/ 202385 w 308780"/>
                <a:gd name="connsiteY1" fmla="*/ 235867 h 301341"/>
                <a:gd name="connsiteX2" fmla="*/ 184128 w 308780"/>
                <a:gd name="connsiteY2" fmla="*/ 191952 h 301341"/>
                <a:gd name="connsiteX3" fmla="*/ 188189 w 308780"/>
                <a:gd name="connsiteY3" fmla="*/ 182934 h 301341"/>
                <a:gd name="connsiteX4" fmla="*/ 192250 w 308780"/>
                <a:gd name="connsiteY4" fmla="*/ 182057 h 301341"/>
                <a:gd name="connsiteX5" fmla="*/ 238616 w 308780"/>
                <a:gd name="connsiteY5" fmla="*/ 189915 h 301341"/>
                <a:gd name="connsiteX6" fmla="*/ 230208 w 308780"/>
                <a:gd name="connsiteY6" fmla="*/ 207658 h 301341"/>
                <a:gd name="connsiteX7" fmla="*/ 173680 w 308780"/>
                <a:gd name="connsiteY7" fmla="*/ 248085 h 301341"/>
                <a:gd name="connsiteX8" fmla="*/ 153391 w 308780"/>
                <a:gd name="connsiteY8" fmla="*/ 250419 h 301341"/>
                <a:gd name="connsiteX9" fmla="*/ 124126 w 308780"/>
                <a:gd name="connsiteY9" fmla="*/ 245743 h 301341"/>
                <a:gd name="connsiteX10" fmla="*/ 147005 w 308780"/>
                <a:gd name="connsiteY10" fmla="*/ 204162 h 301341"/>
                <a:gd name="connsiteX11" fmla="*/ 156286 w 308780"/>
                <a:gd name="connsiteY11" fmla="*/ 202115 h 301341"/>
                <a:gd name="connsiteX12" fmla="*/ 159768 w 308780"/>
                <a:gd name="connsiteY12" fmla="*/ 205324 h 301341"/>
                <a:gd name="connsiteX13" fmla="*/ 182087 w 308780"/>
                <a:gd name="connsiteY13" fmla="*/ 245743 h 301341"/>
                <a:gd name="connsiteX14" fmla="*/ 173689 w 308780"/>
                <a:gd name="connsiteY14" fmla="*/ 248085 h 301341"/>
                <a:gd name="connsiteX15" fmla="*/ 173680 w 308780"/>
                <a:gd name="connsiteY15" fmla="*/ 248085 h 301341"/>
                <a:gd name="connsiteX16" fmla="*/ 67918 w 308780"/>
                <a:gd name="connsiteY16" fmla="*/ 190201 h 301341"/>
                <a:gd name="connsiteX17" fmla="*/ 114000 w 308780"/>
                <a:gd name="connsiteY17" fmla="*/ 182352 h 301341"/>
                <a:gd name="connsiteX18" fmla="*/ 122114 w 308780"/>
                <a:gd name="connsiteY18" fmla="*/ 188457 h 301341"/>
                <a:gd name="connsiteX19" fmla="*/ 121819 w 308780"/>
                <a:gd name="connsiteY19" fmla="*/ 193133 h 301341"/>
                <a:gd name="connsiteX20" fmla="*/ 104140 w 308780"/>
                <a:gd name="connsiteY20" fmla="*/ 235867 h 301341"/>
                <a:gd name="connsiteX21" fmla="*/ 67918 w 308780"/>
                <a:gd name="connsiteY21" fmla="*/ 190201 h 301341"/>
                <a:gd name="connsiteX22" fmla="*/ 75739 w 308780"/>
                <a:gd name="connsiteY22" fmla="*/ 111391 h 301341"/>
                <a:gd name="connsiteX23" fmla="*/ 110223 w 308780"/>
                <a:gd name="connsiteY23" fmla="*/ 142210 h 301341"/>
                <a:gd name="connsiteX24" fmla="*/ 111096 w 308780"/>
                <a:gd name="connsiteY24" fmla="*/ 152972 h 301341"/>
                <a:gd name="connsiteX25" fmla="*/ 107605 w 308780"/>
                <a:gd name="connsiteY25" fmla="*/ 155315 h 301341"/>
                <a:gd name="connsiteX26" fmla="*/ 62709 w 308780"/>
                <a:gd name="connsiteY26" fmla="*/ 168390 h 301341"/>
                <a:gd name="connsiteX27" fmla="*/ 75739 w 308780"/>
                <a:gd name="connsiteY27" fmla="*/ 111391 h 301341"/>
                <a:gd name="connsiteX28" fmla="*/ 132836 w 308780"/>
                <a:gd name="connsiteY28" fmla="*/ 70086 h 301341"/>
                <a:gd name="connsiteX29" fmla="*/ 142108 w 308780"/>
                <a:gd name="connsiteY29" fmla="*/ 68344 h 301341"/>
                <a:gd name="connsiteX30" fmla="*/ 139498 w 308780"/>
                <a:gd name="connsiteY30" fmla="*/ 114877 h 301341"/>
                <a:gd name="connsiteX31" fmla="*/ 131669 w 308780"/>
                <a:gd name="connsiteY31" fmla="*/ 122421 h 301341"/>
                <a:gd name="connsiteX32" fmla="*/ 128178 w 308780"/>
                <a:gd name="connsiteY32" fmla="*/ 121553 h 301341"/>
                <a:gd name="connsiteX33" fmla="*/ 89641 w 308780"/>
                <a:gd name="connsiteY33" fmla="*/ 93907 h 301341"/>
                <a:gd name="connsiteX34" fmla="*/ 132817 w 308780"/>
                <a:gd name="connsiteY34" fmla="*/ 70059 h 301341"/>
                <a:gd name="connsiteX35" fmla="*/ 132836 w 308780"/>
                <a:gd name="connsiteY35" fmla="*/ 70086 h 301341"/>
                <a:gd name="connsiteX36" fmla="*/ 216876 w 308780"/>
                <a:gd name="connsiteY36" fmla="*/ 93934 h 301341"/>
                <a:gd name="connsiteX37" fmla="*/ 178908 w 308780"/>
                <a:gd name="connsiteY37" fmla="*/ 120982 h 301341"/>
                <a:gd name="connsiteX38" fmla="*/ 168764 w 308780"/>
                <a:gd name="connsiteY38" fmla="*/ 119238 h 301341"/>
                <a:gd name="connsiteX39" fmla="*/ 167321 w 308780"/>
                <a:gd name="connsiteY39" fmla="*/ 116039 h 301341"/>
                <a:gd name="connsiteX40" fmla="*/ 164721 w 308780"/>
                <a:gd name="connsiteY40" fmla="*/ 68630 h 301341"/>
                <a:gd name="connsiteX41" fmla="*/ 216876 w 308780"/>
                <a:gd name="connsiteY41" fmla="*/ 93934 h 301341"/>
                <a:gd name="connsiteX42" fmla="*/ 241813 w 308780"/>
                <a:gd name="connsiteY42" fmla="*/ 139019 h 301341"/>
                <a:gd name="connsiteX43" fmla="*/ 243835 w 308780"/>
                <a:gd name="connsiteY43" fmla="*/ 168390 h 301341"/>
                <a:gd name="connsiteX44" fmla="*/ 199491 w 308780"/>
                <a:gd name="connsiteY44" fmla="*/ 155591 h 301341"/>
                <a:gd name="connsiteX45" fmla="*/ 193986 w 308780"/>
                <a:gd name="connsiteY45" fmla="*/ 146295 h 301341"/>
                <a:gd name="connsiteX46" fmla="*/ 195723 w 308780"/>
                <a:gd name="connsiteY46" fmla="*/ 143095 h 301341"/>
                <a:gd name="connsiteX47" fmla="*/ 230787 w 308780"/>
                <a:gd name="connsiteY47" fmla="*/ 111391 h 301341"/>
                <a:gd name="connsiteX48" fmla="*/ 241804 w 308780"/>
                <a:gd name="connsiteY48" fmla="*/ 139038 h 301341"/>
                <a:gd name="connsiteX49" fmla="*/ 241813 w 308780"/>
                <a:gd name="connsiteY49" fmla="*/ 139019 h 301341"/>
                <a:gd name="connsiteX50" fmla="*/ 166154 w 308780"/>
                <a:gd name="connsiteY50" fmla="*/ 169267 h 301341"/>
                <a:gd name="connsiteX51" fmla="*/ 153410 w 308780"/>
                <a:gd name="connsiteY51" fmla="*/ 175381 h 301341"/>
                <a:gd name="connsiteX52" fmla="*/ 140656 w 308780"/>
                <a:gd name="connsiteY52" fmla="*/ 169267 h 301341"/>
                <a:gd name="connsiteX53" fmla="*/ 137468 w 308780"/>
                <a:gd name="connsiteY53" fmla="*/ 155591 h 301341"/>
                <a:gd name="connsiteX54" fmla="*/ 146169 w 308780"/>
                <a:gd name="connsiteY54" fmla="*/ 144544 h 301341"/>
                <a:gd name="connsiteX55" fmla="*/ 160366 w 308780"/>
                <a:gd name="connsiteY55" fmla="*/ 144544 h 301341"/>
                <a:gd name="connsiteX56" fmla="*/ 169058 w 308780"/>
                <a:gd name="connsiteY56" fmla="*/ 155591 h 301341"/>
                <a:gd name="connsiteX57" fmla="*/ 166154 w 308780"/>
                <a:gd name="connsiteY57" fmla="*/ 169267 h 301341"/>
                <a:gd name="connsiteX58" fmla="*/ 300336 w 308780"/>
                <a:gd name="connsiteY58" fmla="*/ 183515 h 301341"/>
                <a:gd name="connsiteX59" fmla="*/ 300051 w 308780"/>
                <a:gd name="connsiteY59" fmla="*/ 183515 h 301341"/>
                <a:gd name="connsiteX60" fmla="*/ 299472 w 308780"/>
                <a:gd name="connsiteY60" fmla="*/ 183229 h 301341"/>
                <a:gd name="connsiteX61" fmla="*/ 297726 w 308780"/>
                <a:gd name="connsiteY61" fmla="*/ 182934 h 301341"/>
                <a:gd name="connsiteX62" fmla="*/ 292222 w 308780"/>
                <a:gd name="connsiteY62" fmla="*/ 182352 h 301341"/>
                <a:gd name="connsiteX63" fmla="*/ 289328 w 308780"/>
                <a:gd name="connsiteY63" fmla="*/ 182057 h 301341"/>
                <a:gd name="connsiteX64" fmla="*/ 289033 w 308780"/>
                <a:gd name="connsiteY64" fmla="*/ 182057 h 301341"/>
                <a:gd name="connsiteX65" fmla="*/ 273385 w 308780"/>
                <a:gd name="connsiteY65" fmla="*/ 179439 h 301341"/>
                <a:gd name="connsiteX66" fmla="*/ 270197 w 308780"/>
                <a:gd name="connsiteY66" fmla="*/ 176248 h 301341"/>
                <a:gd name="connsiteX67" fmla="*/ 269903 w 308780"/>
                <a:gd name="connsiteY67" fmla="*/ 175666 h 301341"/>
                <a:gd name="connsiteX68" fmla="*/ 266135 w 308780"/>
                <a:gd name="connsiteY68" fmla="*/ 174495 h 301341"/>
                <a:gd name="connsiteX69" fmla="*/ 264105 w 308780"/>
                <a:gd name="connsiteY69" fmla="*/ 133487 h 301341"/>
                <a:gd name="connsiteX70" fmla="*/ 247878 w 308780"/>
                <a:gd name="connsiteY70" fmla="*/ 95382 h 301341"/>
                <a:gd name="connsiteX71" fmla="*/ 250781 w 308780"/>
                <a:gd name="connsiteY71" fmla="*/ 92772 h 301341"/>
                <a:gd name="connsiteX72" fmla="*/ 250781 w 308780"/>
                <a:gd name="connsiteY72" fmla="*/ 92192 h 301341"/>
                <a:gd name="connsiteX73" fmla="*/ 252224 w 308780"/>
                <a:gd name="connsiteY73" fmla="*/ 87821 h 301341"/>
                <a:gd name="connsiteX74" fmla="*/ 265272 w 308780"/>
                <a:gd name="connsiteY74" fmla="*/ 78820 h 301341"/>
                <a:gd name="connsiteX75" fmla="*/ 267882 w 308780"/>
                <a:gd name="connsiteY75" fmla="*/ 77362 h 301341"/>
                <a:gd name="connsiteX76" fmla="*/ 272806 w 308780"/>
                <a:gd name="connsiteY76" fmla="*/ 74458 h 301341"/>
                <a:gd name="connsiteX77" fmla="*/ 274249 w 308780"/>
                <a:gd name="connsiteY77" fmla="*/ 73286 h 301341"/>
                <a:gd name="connsiteX78" fmla="*/ 274828 w 308780"/>
                <a:gd name="connsiteY78" fmla="*/ 72705 h 301341"/>
                <a:gd name="connsiteX79" fmla="*/ 276859 w 308780"/>
                <a:gd name="connsiteY79" fmla="*/ 59620 h 301341"/>
                <a:gd name="connsiteX80" fmla="*/ 270197 w 308780"/>
                <a:gd name="connsiteY80" fmla="*/ 56420 h 301341"/>
                <a:gd name="connsiteX81" fmla="*/ 263821 w 308780"/>
                <a:gd name="connsiteY81" fmla="*/ 58762 h 301341"/>
                <a:gd name="connsiteX82" fmla="*/ 263242 w 308780"/>
                <a:gd name="connsiteY82" fmla="*/ 59343 h 301341"/>
                <a:gd name="connsiteX83" fmla="*/ 261799 w 308780"/>
                <a:gd name="connsiteY83" fmla="*/ 60506 h 301341"/>
                <a:gd name="connsiteX84" fmla="*/ 258031 w 308780"/>
                <a:gd name="connsiteY84" fmla="*/ 64572 h 301341"/>
                <a:gd name="connsiteX85" fmla="*/ 256001 w 308780"/>
                <a:gd name="connsiteY85" fmla="*/ 66619 h 301341"/>
                <a:gd name="connsiteX86" fmla="*/ 244405 w 308780"/>
                <a:gd name="connsiteY86" fmla="*/ 77086 h 301341"/>
                <a:gd name="connsiteX87" fmla="*/ 241804 w 308780"/>
                <a:gd name="connsiteY87" fmla="*/ 77953 h 301341"/>
                <a:gd name="connsiteX88" fmla="*/ 240067 w 308780"/>
                <a:gd name="connsiteY88" fmla="*/ 77667 h 301341"/>
                <a:gd name="connsiteX89" fmla="*/ 239488 w 308780"/>
                <a:gd name="connsiteY89" fmla="*/ 77667 h 301341"/>
                <a:gd name="connsiteX90" fmla="*/ 235997 w 308780"/>
                <a:gd name="connsiteY90" fmla="*/ 80000 h 301341"/>
                <a:gd name="connsiteX91" fmla="*/ 224107 w 308780"/>
                <a:gd name="connsiteY91" fmla="*/ 68925 h 301341"/>
                <a:gd name="connsiteX92" fmla="*/ 163544 w 308780"/>
                <a:gd name="connsiteY92" fmla="*/ 44782 h 301341"/>
                <a:gd name="connsiteX93" fmla="*/ 163251 w 308780"/>
                <a:gd name="connsiteY93" fmla="*/ 41001 h 301341"/>
                <a:gd name="connsiteX94" fmla="*/ 162672 w 308780"/>
                <a:gd name="connsiteY94" fmla="*/ 40420 h 301341"/>
                <a:gd name="connsiteX95" fmla="*/ 160347 w 308780"/>
                <a:gd name="connsiteY95" fmla="*/ 36639 h 301341"/>
                <a:gd name="connsiteX96" fmla="*/ 161220 w 308780"/>
                <a:gd name="connsiteY96" fmla="*/ 20934 h 301341"/>
                <a:gd name="connsiteX97" fmla="*/ 161220 w 308780"/>
                <a:gd name="connsiteY97" fmla="*/ 20639 h 301341"/>
                <a:gd name="connsiteX98" fmla="*/ 161799 w 308780"/>
                <a:gd name="connsiteY98" fmla="*/ 17735 h 301341"/>
                <a:gd name="connsiteX99" fmla="*/ 162663 w 308780"/>
                <a:gd name="connsiteY99" fmla="*/ 12211 h 301341"/>
                <a:gd name="connsiteX100" fmla="*/ 162663 w 308780"/>
                <a:gd name="connsiteY100" fmla="*/ 9592 h 301341"/>
                <a:gd name="connsiteX101" fmla="*/ 154567 w 308780"/>
                <a:gd name="connsiteY101" fmla="*/ 29 h 301341"/>
                <a:gd name="connsiteX102" fmla="*/ 147317 w 308780"/>
                <a:gd name="connsiteY102" fmla="*/ 2888 h 301341"/>
                <a:gd name="connsiteX103" fmla="*/ 144718 w 308780"/>
                <a:gd name="connsiteY103" fmla="*/ 9583 h 301341"/>
                <a:gd name="connsiteX104" fmla="*/ 144718 w 308780"/>
                <a:gd name="connsiteY104" fmla="*/ 11916 h 301341"/>
                <a:gd name="connsiteX105" fmla="*/ 145590 w 308780"/>
                <a:gd name="connsiteY105" fmla="*/ 17448 h 301341"/>
                <a:gd name="connsiteX106" fmla="*/ 146169 w 308780"/>
                <a:gd name="connsiteY106" fmla="*/ 20344 h 301341"/>
                <a:gd name="connsiteX107" fmla="*/ 146169 w 308780"/>
                <a:gd name="connsiteY107" fmla="*/ 20639 h 301341"/>
                <a:gd name="connsiteX108" fmla="*/ 147032 w 308780"/>
                <a:gd name="connsiteY108" fmla="*/ 36344 h 301341"/>
                <a:gd name="connsiteX109" fmla="*/ 144708 w 308780"/>
                <a:gd name="connsiteY109" fmla="*/ 40125 h 301341"/>
                <a:gd name="connsiteX110" fmla="*/ 144129 w 308780"/>
                <a:gd name="connsiteY110" fmla="*/ 40706 h 301341"/>
                <a:gd name="connsiteX111" fmla="*/ 143835 w 308780"/>
                <a:gd name="connsiteY111" fmla="*/ 44496 h 301341"/>
                <a:gd name="connsiteX112" fmla="*/ 128187 w 308780"/>
                <a:gd name="connsiteY112" fmla="*/ 46830 h 301341"/>
                <a:gd name="connsiteX113" fmla="*/ 70804 w 308780"/>
                <a:gd name="connsiteY113" fmla="*/ 79401 h 301341"/>
                <a:gd name="connsiteX114" fmla="*/ 67910 w 308780"/>
                <a:gd name="connsiteY114" fmla="*/ 77362 h 301341"/>
                <a:gd name="connsiteX115" fmla="*/ 67340 w 308780"/>
                <a:gd name="connsiteY115" fmla="*/ 77362 h 301341"/>
                <a:gd name="connsiteX116" fmla="*/ 65603 w 308780"/>
                <a:gd name="connsiteY116" fmla="*/ 77658 h 301341"/>
                <a:gd name="connsiteX117" fmla="*/ 62993 w 308780"/>
                <a:gd name="connsiteY117" fmla="*/ 76781 h 301341"/>
                <a:gd name="connsiteX118" fmla="*/ 51406 w 308780"/>
                <a:gd name="connsiteY118" fmla="*/ 66020 h 301341"/>
                <a:gd name="connsiteX119" fmla="*/ 49376 w 308780"/>
                <a:gd name="connsiteY119" fmla="*/ 63982 h 301341"/>
                <a:gd name="connsiteX120" fmla="*/ 45608 w 308780"/>
                <a:gd name="connsiteY120" fmla="*/ 59915 h 301341"/>
                <a:gd name="connsiteX121" fmla="*/ 44156 w 308780"/>
                <a:gd name="connsiteY121" fmla="*/ 58744 h 301341"/>
                <a:gd name="connsiteX122" fmla="*/ 43578 w 308780"/>
                <a:gd name="connsiteY122" fmla="*/ 58163 h 301341"/>
                <a:gd name="connsiteX123" fmla="*/ 37210 w 308780"/>
                <a:gd name="connsiteY123" fmla="*/ 55830 h 301341"/>
                <a:gd name="connsiteX124" fmla="*/ 30549 w 308780"/>
                <a:gd name="connsiteY124" fmla="*/ 59029 h 301341"/>
                <a:gd name="connsiteX125" fmla="*/ 32570 w 308780"/>
                <a:gd name="connsiteY125" fmla="*/ 72115 h 301341"/>
                <a:gd name="connsiteX126" fmla="*/ 33149 w 308780"/>
                <a:gd name="connsiteY126" fmla="*/ 72401 h 301341"/>
                <a:gd name="connsiteX127" fmla="*/ 34592 w 308780"/>
                <a:gd name="connsiteY127" fmla="*/ 73573 h 301341"/>
                <a:gd name="connsiteX128" fmla="*/ 39526 w 308780"/>
                <a:gd name="connsiteY128" fmla="*/ 76486 h 301341"/>
                <a:gd name="connsiteX129" fmla="*/ 42126 w 308780"/>
                <a:gd name="connsiteY129" fmla="*/ 77935 h 301341"/>
                <a:gd name="connsiteX130" fmla="*/ 55174 w 308780"/>
                <a:gd name="connsiteY130" fmla="*/ 86953 h 301341"/>
                <a:gd name="connsiteX131" fmla="*/ 56617 w 308780"/>
                <a:gd name="connsiteY131" fmla="*/ 91316 h 301341"/>
                <a:gd name="connsiteX132" fmla="*/ 56617 w 308780"/>
                <a:gd name="connsiteY132" fmla="*/ 91896 h 301341"/>
                <a:gd name="connsiteX133" fmla="*/ 59511 w 308780"/>
                <a:gd name="connsiteY133" fmla="*/ 94506 h 301341"/>
                <a:gd name="connsiteX134" fmla="*/ 58069 w 308780"/>
                <a:gd name="connsiteY134" fmla="*/ 96848 h 301341"/>
                <a:gd name="connsiteX135" fmla="*/ 41842 w 308780"/>
                <a:gd name="connsiteY135" fmla="*/ 173629 h 301341"/>
                <a:gd name="connsiteX136" fmla="*/ 38074 w 308780"/>
                <a:gd name="connsiteY136" fmla="*/ 174800 h 301341"/>
                <a:gd name="connsiteX137" fmla="*/ 37780 w 308780"/>
                <a:gd name="connsiteY137" fmla="*/ 175381 h 301341"/>
                <a:gd name="connsiteX138" fmla="*/ 34592 w 308780"/>
                <a:gd name="connsiteY138" fmla="*/ 178581 h 301341"/>
                <a:gd name="connsiteX139" fmla="*/ 18943 w 308780"/>
                <a:gd name="connsiteY139" fmla="*/ 181200 h 301341"/>
                <a:gd name="connsiteX140" fmla="*/ 18649 w 308780"/>
                <a:gd name="connsiteY140" fmla="*/ 181200 h 301341"/>
                <a:gd name="connsiteX141" fmla="*/ 15755 w 308780"/>
                <a:gd name="connsiteY141" fmla="*/ 181486 h 301341"/>
                <a:gd name="connsiteX142" fmla="*/ 10251 w 308780"/>
                <a:gd name="connsiteY142" fmla="*/ 182066 h 301341"/>
                <a:gd name="connsiteX143" fmla="*/ 8514 w 308780"/>
                <a:gd name="connsiteY143" fmla="*/ 182362 h 301341"/>
                <a:gd name="connsiteX144" fmla="*/ 7641 w 308780"/>
                <a:gd name="connsiteY144" fmla="*/ 182657 h 301341"/>
                <a:gd name="connsiteX145" fmla="*/ 107 w 308780"/>
                <a:gd name="connsiteY145" fmla="*/ 193418 h 301341"/>
                <a:gd name="connsiteX146" fmla="*/ 9378 w 308780"/>
                <a:gd name="connsiteY146" fmla="*/ 200104 h 301341"/>
                <a:gd name="connsiteX147" fmla="*/ 11712 w 308780"/>
                <a:gd name="connsiteY147" fmla="*/ 199809 h 301341"/>
                <a:gd name="connsiteX148" fmla="*/ 12282 w 308780"/>
                <a:gd name="connsiteY148" fmla="*/ 199523 h 301341"/>
                <a:gd name="connsiteX149" fmla="*/ 14027 w 308780"/>
                <a:gd name="connsiteY149" fmla="*/ 199228 h 301341"/>
                <a:gd name="connsiteX150" fmla="*/ 19237 w 308780"/>
                <a:gd name="connsiteY150" fmla="*/ 197182 h 301341"/>
                <a:gd name="connsiteX151" fmla="*/ 21837 w 308780"/>
                <a:gd name="connsiteY151" fmla="*/ 196010 h 301341"/>
                <a:gd name="connsiteX152" fmla="*/ 22131 w 308780"/>
                <a:gd name="connsiteY152" fmla="*/ 196010 h 301341"/>
                <a:gd name="connsiteX153" fmla="*/ 37201 w 308780"/>
                <a:gd name="connsiteY153" fmla="*/ 191648 h 301341"/>
                <a:gd name="connsiteX154" fmla="*/ 37780 w 308780"/>
                <a:gd name="connsiteY154" fmla="*/ 191648 h 301341"/>
                <a:gd name="connsiteX155" fmla="*/ 41547 w 308780"/>
                <a:gd name="connsiteY155" fmla="*/ 193106 h 301341"/>
                <a:gd name="connsiteX156" fmla="*/ 42126 w 308780"/>
                <a:gd name="connsiteY156" fmla="*/ 193401 h 301341"/>
                <a:gd name="connsiteX157" fmla="*/ 46178 w 308780"/>
                <a:gd name="connsiteY157" fmla="*/ 192819 h 301341"/>
                <a:gd name="connsiteX158" fmla="*/ 84145 w 308780"/>
                <a:gd name="connsiteY158" fmla="*/ 247495 h 301341"/>
                <a:gd name="connsiteX159" fmla="*/ 96606 w 308780"/>
                <a:gd name="connsiteY159" fmla="*/ 255924 h 301341"/>
                <a:gd name="connsiteX160" fmla="*/ 94869 w 308780"/>
                <a:gd name="connsiteY160" fmla="*/ 259705 h 301341"/>
                <a:gd name="connsiteX161" fmla="*/ 95163 w 308780"/>
                <a:gd name="connsiteY161" fmla="*/ 260286 h 301341"/>
                <a:gd name="connsiteX162" fmla="*/ 95742 w 308780"/>
                <a:gd name="connsiteY162" fmla="*/ 264961 h 301341"/>
                <a:gd name="connsiteX163" fmla="*/ 88198 w 308780"/>
                <a:gd name="connsiteY163" fmla="*/ 278628 h 301341"/>
                <a:gd name="connsiteX164" fmla="*/ 88198 w 308780"/>
                <a:gd name="connsiteY164" fmla="*/ 278923 h 301341"/>
                <a:gd name="connsiteX165" fmla="*/ 86461 w 308780"/>
                <a:gd name="connsiteY165" fmla="*/ 281256 h 301341"/>
                <a:gd name="connsiteX166" fmla="*/ 83273 w 308780"/>
                <a:gd name="connsiteY166" fmla="*/ 285931 h 301341"/>
                <a:gd name="connsiteX167" fmla="*/ 82409 w 308780"/>
                <a:gd name="connsiteY167" fmla="*/ 287380 h 301341"/>
                <a:gd name="connsiteX168" fmla="*/ 82115 w 308780"/>
                <a:gd name="connsiteY168" fmla="*/ 287960 h 301341"/>
                <a:gd name="connsiteX169" fmla="*/ 85818 w 308780"/>
                <a:gd name="connsiteY169" fmla="*/ 300437 h 301341"/>
                <a:gd name="connsiteX170" fmla="*/ 85882 w 308780"/>
                <a:gd name="connsiteY170" fmla="*/ 300465 h 301341"/>
                <a:gd name="connsiteX171" fmla="*/ 89375 w 308780"/>
                <a:gd name="connsiteY171" fmla="*/ 301341 h 301341"/>
                <a:gd name="connsiteX172" fmla="*/ 98066 w 308780"/>
                <a:gd name="connsiteY172" fmla="*/ 295817 h 301341"/>
                <a:gd name="connsiteX173" fmla="*/ 98360 w 308780"/>
                <a:gd name="connsiteY173" fmla="*/ 295236 h 301341"/>
                <a:gd name="connsiteX174" fmla="*/ 99233 w 308780"/>
                <a:gd name="connsiteY174" fmla="*/ 293780 h 301341"/>
                <a:gd name="connsiteX175" fmla="*/ 100970 w 308780"/>
                <a:gd name="connsiteY175" fmla="*/ 288541 h 301341"/>
                <a:gd name="connsiteX176" fmla="*/ 101834 w 308780"/>
                <a:gd name="connsiteY176" fmla="*/ 285931 h 301341"/>
                <a:gd name="connsiteX177" fmla="*/ 107926 w 308780"/>
                <a:gd name="connsiteY177" fmla="*/ 271389 h 301341"/>
                <a:gd name="connsiteX178" fmla="*/ 111694 w 308780"/>
                <a:gd name="connsiteY178" fmla="*/ 268770 h 301341"/>
                <a:gd name="connsiteX179" fmla="*/ 112273 w 308780"/>
                <a:gd name="connsiteY179" fmla="*/ 268474 h 301341"/>
                <a:gd name="connsiteX180" fmla="*/ 114293 w 308780"/>
                <a:gd name="connsiteY180" fmla="*/ 264703 h 301341"/>
                <a:gd name="connsiteX181" fmla="*/ 154870 w 308780"/>
                <a:gd name="connsiteY181" fmla="*/ 272256 h 301341"/>
                <a:gd name="connsiteX182" fmla="*/ 180084 w 308780"/>
                <a:gd name="connsiteY182" fmla="*/ 269351 h 301341"/>
                <a:gd name="connsiteX183" fmla="*/ 195154 w 308780"/>
                <a:gd name="connsiteY183" fmla="*/ 264989 h 301341"/>
                <a:gd name="connsiteX184" fmla="*/ 196890 w 308780"/>
                <a:gd name="connsiteY184" fmla="*/ 268189 h 301341"/>
                <a:gd name="connsiteX185" fmla="*/ 197469 w 308780"/>
                <a:gd name="connsiteY185" fmla="*/ 268484 h 301341"/>
                <a:gd name="connsiteX186" fmla="*/ 201236 w 308780"/>
                <a:gd name="connsiteY186" fmla="*/ 271094 h 301341"/>
                <a:gd name="connsiteX187" fmla="*/ 207310 w 308780"/>
                <a:gd name="connsiteY187" fmla="*/ 285600 h 301341"/>
                <a:gd name="connsiteX188" fmla="*/ 207310 w 308780"/>
                <a:gd name="connsiteY188" fmla="*/ 285895 h 301341"/>
                <a:gd name="connsiteX189" fmla="*/ 208183 w 308780"/>
                <a:gd name="connsiteY189" fmla="*/ 288514 h 301341"/>
                <a:gd name="connsiteX190" fmla="*/ 209919 w 308780"/>
                <a:gd name="connsiteY190" fmla="*/ 293742 h 301341"/>
                <a:gd name="connsiteX191" fmla="*/ 210792 w 308780"/>
                <a:gd name="connsiteY191" fmla="*/ 295200 h 301341"/>
                <a:gd name="connsiteX192" fmla="*/ 211077 w 308780"/>
                <a:gd name="connsiteY192" fmla="*/ 295781 h 301341"/>
                <a:gd name="connsiteX193" fmla="*/ 219770 w 308780"/>
                <a:gd name="connsiteY193" fmla="*/ 301304 h 301341"/>
                <a:gd name="connsiteX194" fmla="*/ 223270 w 308780"/>
                <a:gd name="connsiteY194" fmla="*/ 300437 h 301341"/>
                <a:gd name="connsiteX195" fmla="*/ 227598 w 308780"/>
                <a:gd name="connsiteY195" fmla="*/ 295200 h 301341"/>
                <a:gd name="connsiteX196" fmla="*/ 227029 w 308780"/>
                <a:gd name="connsiteY196" fmla="*/ 287932 h 301341"/>
                <a:gd name="connsiteX197" fmla="*/ 226735 w 308780"/>
                <a:gd name="connsiteY197" fmla="*/ 287352 h 301341"/>
                <a:gd name="connsiteX198" fmla="*/ 225862 w 308780"/>
                <a:gd name="connsiteY198" fmla="*/ 285895 h 301341"/>
                <a:gd name="connsiteX199" fmla="*/ 222674 w 308780"/>
                <a:gd name="connsiteY199" fmla="*/ 281229 h 301341"/>
                <a:gd name="connsiteX200" fmla="*/ 220937 w 308780"/>
                <a:gd name="connsiteY200" fmla="*/ 278886 h 301341"/>
                <a:gd name="connsiteX201" fmla="*/ 220937 w 308780"/>
                <a:gd name="connsiteY201" fmla="*/ 278600 h 301341"/>
                <a:gd name="connsiteX202" fmla="*/ 213402 w 308780"/>
                <a:gd name="connsiteY202" fmla="*/ 264924 h 301341"/>
                <a:gd name="connsiteX203" fmla="*/ 213696 w 308780"/>
                <a:gd name="connsiteY203" fmla="*/ 260258 h 301341"/>
                <a:gd name="connsiteX204" fmla="*/ 213981 w 308780"/>
                <a:gd name="connsiteY204" fmla="*/ 259677 h 301341"/>
                <a:gd name="connsiteX205" fmla="*/ 212539 w 308780"/>
                <a:gd name="connsiteY205" fmla="*/ 256173 h 301341"/>
                <a:gd name="connsiteX206" fmla="*/ 262975 w 308780"/>
                <a:gd name="connsiteY206" fmla="*/ 192478 h 301341"/>
                <a:gd name="connsiteX207" fmla="*/ 266467 w 308780"/>
                <a:gd name="connsiteY207" fmla="*/ 193059 h 301341"/>
                <a:gd name="connsiteX208" fmla="*/ 267046 w 308780"/>
                <a:gd name="connsiteY208" fmla="*/ 192764 h 301341"/>
                <a:gd name="connsiteX209" fmla="*/ 270803 w 308780"/>
                <a:gd name="connsiteY209" fmla="*/ 191316 h 301341"/>
                <a:gd name="connsiteX210" fmla="*/ 271382 w 308780"/>
                <a:gd name="connsiteY210" fmla="*/ 191316 h 301341"/>
                <a:gd name="connsiteX211" fmla="*/ 286461 w 308780"/>
                <a:gd name="connsiteY211" fmla="*/ 195669 h 301341"/>
                <a:gd name="connsiteX212" fmla="*/ 286746 w 308780"/>
                <a:gd name="connsiteY212" fmla="*/ 195669 h 301341"/>
                <a:gd name="connsiteX213" fmla="*/ 289356 w 308780"/>
                <a:gd name="connsiteY213" fmla="*/ 196840 h 301341"/>
                <a:gd name="connsiteX214" fmla="*/ 294575 w 308780"/>
                <a:gd name="connsiteY214" fmla="*/ 198878 h 301341"/>
                <a:gd name="connsiteX215" fmla="*/ 296311 w 308780"/>
                <a:gd name="connsiteY215" fmla="*/ 199173 h 301341"/>
                <a:gd name="connsiteX216" fmla="*/ 297184 w 308780"/>
                <a:gd name="connsiteY216" fmla="*/ 199459 h 301341"/>
                <a:gd name="connsiteX217" fmla="*/ 299509 w 308780"/>
                <a:gd name="connsiteY217" fmla="*/ 199754 h 301341"/>
                <a:gd name="connsiteX218" fmla="*/ 308780 w 308780"/>
                <a:gd name="connsiteY218" fmla="*/ 193059 h 301341"/>
                <a:gd name="connsiteX219" fmla="*/ 300372 w 308780"/>
                <a:gd name="connsiteY219" fmla="*/ 183468 h 301341"/>
                <a:gd name="connsiteX220" fmla="*/ 300336 w 308780"/>
                <a:gd name="connsiteY220" fmla="*/ 183515 h 301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Lst>
              <a:rect l="l" t="t" r="r" b="b"/>
              <a:pathLst>
                <a:path w="308780" h="301341">
                  <a:moveTo>
                    <a:pt x="230208" y="207658"/>
                  </a:moveTo>
                  <a:cubicBezTo>
                    <a:pt x="223078" y="218972"/>
                    <a:pt x="213586" y="228600"/>
                    <a:pt x="202385" y="235867"/>
                  </a:cubicBezTo>
                  <a:lnTo>
                    <a:pt x="184128" y="191952"/>
                  </a:lnTo>
                  <a:cubicBezTo>
                    <a:pt x="183181" y="188356"/>
                    <a:pt x="184872" y="184593"/>
                    <a:pt x="188189" y="182934"/>
                  </a:cubicBezTo>
                  <a:cubicBezTo>
                    <a:pt x="189457" y="182334"/>
                    <a:pt x="190844" y="182039"/>
                    <a:pt x="192250" y="182057"/>
                  </a:cubicBezTo>
                  <a:lnTo>
                    <a:pt x="238616" y="189915"/>
                  </a:lnTo>
                  <a:cubicBezTo>
                    <a:pt x="236824" y="196259"/>
                    <a:pt x="233985" y="202262"/>
                    <a:pt x="230208" y="207658"/>
                  </a:cubicBezTo>
                  <a:close/>
                  <a:moveTo>
                    <a:pt x="173680" y="248085"/>
                  </a:moveTo>
                  <a:cubicBezTo>
                    <a:pt x="167018" y="249589"/>
                    <a:pt x="160218" y="250372"/>
                    <a:pt x="153391" y="250419"/>
                  </a:cubicBezTo>
                  <a:cubicBezTo>
                    <a:pt x="143459" y="250354"/>
                    <a:pt x="133580" y="248777"/>
                    <a:pt x="124126" y="245743"/>
                  </a:cubicBezTo>
                  <a:lnTo>
                    <a:pt x="147005" y="204162"/>
                  </a:lnTo>
                  <a:cubicBezTo>
                    <a:pt x="149247" y="201386"/>
                    <a:pt x="153097" y="200547"/>
                    <a:pt x="156286" y="202115"/>
                  </a:cubicBezTo>
                  <a:cubicBezTo>
                    <a:pt x="157646" y="202954"/>
                    <a:pt x="158822" y="204033"/>
                    <a:pt x="159768" y="205324"/>
                  </a:cubicBezTo>
                  <a:lnTo>
                    <a:pt x="182087" y="245743"/>
                  </a:lnTo>
                  <a:cubicBezTo>
                    <a:pt x="179478" y="246619"/>
                    <a:pt x="176584" y="247200"/>
                    <a:pt x="173689" y="248085"/>
                  </a:cubicBezTo>
                  <a:lnTo>
                    <a:pt x="173680" y="248085"/>
                  </a:lnTo>
                  <a:close/>
                  <a:moveTo>
                    <a:pt x="67918" y="190201"/>
                  </a:moveTo>
                  <a:lnTo>
                    <a:pt x="114000" y="182352"/>
                  </a:lnTo>
                  <a:cubicBezTo>
                    <a:pt x="117831" y="182104"/>
                    <a:pt x="121268" y="184704"/>
                    <a:pt x="122114" y="188457"/>
                  </a:cubicBezTo>
                  <a:cubicBezTo>
                    <a:pt x="122462" y="190016"/>
                    <a:pt x="122361" y="191639"/>
                    <a:pt x="121819" y="193133"/>
                  </a:cubicBezTo>
                  <a:lnTo>
                    <a:pt x="104140" y="235867"/>
                  </a:lnTo>
                  <a:cubicBezTo>
                    <a:pt x="87435" y="225013"/>
                    <a:pt x="74718" y="208985"/>
                    <a:pt x="67918" y="190201"/>
                  </a:cubicBezTo>
                  <a:close/>
                  <a:moveTo>
                    <a:pt x="75739" y="111391"/>
                  </a:moveTo>
                  <a:lnTo>
                    <a:pt x="110223" y="142210"/>
                  </a:lnTo>
                  <a:cubicBezTo>
                    <a:pt x="113374" y="144977"/>
                    <a:pt x="113761" y="149745"/>
                    <a:pt x="111096" y="152972"/>
                  </a:cubicBezTo>
                  <a:cubicBezTo>
                    <a:pt x="110269" y="154171"/>
                    <a:pt x="109019" y="155001"/>
                    <a:pt x="107605" y="155315"/>
                  </a:cubicBezTo>
                  <a:lnTo>
                    <a:pt x="62709" y="168390"/>
                  </a:lnTo>
                  <a:cubicBezTo>
                    <a:pt x="60871" y="148481"/>
                    <a:pt x="65438" y="128507"/>
                    <a:pt x="75739" y="111391"/>
                  </a:cubicBezTo>
                  <a:close/>
                  <a:moveTo>
                    <a:pt x="132836" y="70086"/>
                  </a:moveTo>
                  <a:cubicBezTo>
                    <a:pt x="136025" y="69505"/>
                    <a:pt x="138919" y="68925"/>
                    <a:pt x="142108" y="68344"/>
                  </a:cubicBezTo>
                  <a:lnTo>
                    <a:pt x="139498" y="114877"/>
                  </a:lnTo>
                  <a:cubicBezTo>
                    <a:pt x="139277" y="119073"/>
                    <a:pt x="135860" y="122374"/>
                    <a:pt x="131669" y="122421"/>
                  </a:cubicBezTo>
                  <a:cubicBezTo>
                    <a:pt x="130457" y="122448"/>
                    <a:pt x="129252" y="122153"/>
                    <a:pt x="128178" y="121553"/>
                  </a:cubicBezTo>
                  <a:lnTo>
                    <a:pt x="89641" y="93907"/>
                  </a:lnTo>
                  <a:cubicBezTo>
                    <a:pt x="101485" y="82011"/>
                    <a:pt x="116462" y="73738"/>
                    <a:pt x="132817" y="70059"/>
                  </a:cubicBezTo>
                  <a:lnTo>
                    <a:pt x="132836" y="70086"/>
                  </a:lnTo>
                  <a:close/>
                  <a:moveTo>
                    <a:pt x="216876" y="93934"/>
                  </a:moveTo>
                  <a:lnTo>
                    <a:pt x="178908" y="120982"/>
                  </a:lnTo>
                  <a:cubicBezTo>
                    <a:pt x="175582" y="123075"/>
                    <a:pt x="171217" y="122328"/>
                    <a:pt x="168764" y="119238"/>
                  </a:cubicBezTo>
                  <a:cubicBezTo>
                    <a:pt x="168001" y="118326"/>
                    <a:pt x="167505" y="117219"/>
                    <a:pt x="167321" y="116039"/>
                  </a:cubicBezTo>
                  <a:lnTo>
                    <a:pt x="164721" y="68630"/>
                  </a:lnTo>
                  <a:cubicBezTo>
                    <a:pt x="184458" y="70907"/>
                    <a:pt x="202836" y="79834"/>
                    <a:pt x="216876" y="93934"/>
                  </a:cubicBezTo>
                  <a:close/>
                  <a:moveTo>
                    <a:pt x="241813" y="139019"/>
                  </a:moveTo>
                  <a:cubicBezTo>
                    <a:pt x="244055" y="148638"/>
                    <a:pt x="244744" y="158561"/>
                    <a:pt x="243835" y="168390"/>
                  </a:cubicBezTo>
                  <a:lnTo>
                    <a:pt x="199491" y="155591"/>
                  </a:lnTo>
                  <a:cubicBezTo>
                    <a:pt x="195484" y="154447"/>
                    <a:pt x="193067" y="150371"/>
                    <a:pt x="193986" y="146295"/>
                  </a:cubicBezTo>
                  <a:cubicBezTo>
                    <a:pt x="194263" y="145087"/>
                    <a:pt x="194869" y="143981"/>
                    <a:pt x="195723" y="143095"/>
                  </a:cubicBezTo>
                  <a:lnTo>
                    <a:pt x="230787" y="111391"/>
                  </a:lnTo>
                  <a:cubicBezTo>
                    <a:pt x="235915" y="119949"/>
                    <a:pt x="239626" y="129281"/>
                    <a:pt x="241804" y="139038"/>
                  </a:cubicBezTo>
                  <a:lnTo>
                    <a:pt x="241813" y="139019"/>
                  </a:lnTo>
                  <a:close/>
                  <a:moveTo>
                    <a:pt x="166154" y="169267"/>
                  </a:moveTo>
                  <a:lnTo>
                    <a:pt x="153410" y="175381"/>
                  </a:lnTo>
                  <a:lnTo>
                    <a:pt x="140656" y="169267"/>
                  </a:lnTo>
                  <a:lnTo>
                    <a:pt x="137468" y="155591"/>
                  </a:lnTo>
                  <a:lnTo>
                    <a:pt x="146169" y="144544"/>
                  </a:lnTo>
                  <a:lnTo>
                    <a:pt x="160366" y="144544"/>
                  </a:lnTo>
                  <a:lnTo>
                    <a:pt x="169058" y="155591"/>
                  </a:lnTo>
                  <a:lnTo>
                    <a:pt x="166154" y="169267"/>
                  </a:lnTo>
                  <a:close/>
                  <a:moveTo>
                    <a:pt x="300336" y="183515"/>
                  </a:moveTo>
                  <a:lnTo>
                    <a:pt x="300051" y="183515"/>
                  </a:lnTo>
                  <a:cubicBezTo>
                    <a:pt x="299757" y="183515"/>
                    <a:pt x="299472" y="183515"/>
                    <a:pt x="299472" y="183229"/>
                  </a:cubicBezTo>
                  <a:cubicBezTo>
                    <a:pt x="298893" y="183229"/>
                    <a:pt x="298305" y="182934"/>
                    <a:pt x="297726" y="182934"/>
                  </a:cubicBezTo>
                  <a:cubicBezTo>
                    <a:pt x="295907" y="182611"/>
                    <a:pt x="294069" y="182418"/>
                    <a:pt x="292222" y="182352"/>
                  </a:cubicBezTo>
                  <a:cubicBezTo>
                    <a:pt x="291248" y="182390"/>
                    <a:pt x="290274" y="182288"/>
                    <a:pt x="289328" y="182057"/>
                  </a:cubicBezTo>
                  <a:lnTo>
                    <a:pt x="289033" y="182057"/>
                  </a:lnTo>
                  <a:cubicBezTo>
                    <a:pt x="283741" y="181735"/>
                    <a:pt x="278495" y="180859"/>
                    <a:pt x="273385" y="179439"/>
                  </a:cubicBezTo>
                  <a:cubicBezTo>
                    <a:pt x="271925" y="178866"/>
                    <a:pt x="270776" y="177705"/>
                    <a:pt x="270197" y="176248"/>
                  </a:cubicBezTo>
                  <a:cubicBezTo>
                    <a:pt x="270197" y="175953"/>
                    <a:pt x="269903" y="175953"/>
                    <a:pt x="269903" y="175666"/>
                  </a:cubicBezTo>
                  <a:lnTo>
                    <a:pt x="266135" y="174495"/>
                  </a:lnTo>
                  <a:cubicBezTo>
                    <a:pt x="267918" y="160811"/>
                    <a:pt x="267229" y="146923"/>
                    <a:pt x="264105" y="133487"/>
                  </a:cubicBezTo>
                  <a:cubicBezTo>
                    <a:pt x="260945" y="119930"/>
                    <a:pt x="255459" y="107039"/>
                    <a:pt x="247878" y="95382"/>
                  </a:cubicBezTo>
                  <a:lnTo>
                    <a:pt x="250781" y="92772"/>
                  </a:lnTo>
                  <a:lnTo>
                    <a:pt x="250781" y="92192"/>
                  </a:lnTo>
                  <a:cubicBezTo>
                    <a:pt x="250726" y="90605"/>
                    <a:pt x="251241" y="89056"/>
                    <a:pt x="252224" y="87821"/>
                  </a:cubicBezTo>
                  <a:cubicBezTo>
                    <a:pt x="256286" y="84417"/>
                    <a:pt x="260650" y="81402"/>
                    <a:pt x="265272" y="78820"/>
                  </a:cubicBezTo>
                  <a:cubicBezTo>
                    <a:pt x="266145" y="78239"/>
                    <a:pt x="267009" y="77944"/>
                    <a:pt x="267882" y="77362"/>
                  </a:cubicBezTo>
                  <a:cubicBezTo>
                    <a:pt x="269581" y="76505"/>
                    <a:pt x="271226" y="75527"/>
                    <a:pt x="272806" y="74458"/>
                  </a:cubicBezTo>
                  <a:cubicBezTo>
                    <a:pt x="273100" y="74163"/>
                    <a:pt x="273670" y="73876"/>
                    <a:pt x="274249" y="73286"/>
                  </a:cubicBezTo>
                  <a:cubicBezTo>
                    <a:pt x="274543" y="72991"/>
                    <a:pt x="274828" y="72991"/>
                    <a:pt x="274828" y="72705"/>
                  </a:cubicBezTo>
                  <a:cubicBezTo>
                    <a:pt x="278816" y="69552"/>
                    <a:pt x="279699" y="63844"/>
                    <a:pt x="276859" y="59620"/>
                  </a:cubicBezTo>
                  <a:cubicBezTo>
                    <a:pt x="275270" y="57563"/>
                    <a:pt x="272798" y="56374"/>
                    <a:pt x="270197" y="56420"/>
                  </a:cubicBezTo>
                  <a:cubicBezTo>
                    <a:pt x="267882" y="56485"/>
                    <a:pt x="265640" y="57306"/>
                    <a:pt x="263821" y="58762"/>
                  </a:cubicBezTo>
                  <a:lnTo>
                    <a:pt x="263242" y="59343"/>
                  </a:lnTo>
                  <a:cubicBezTo>
                    <a:pt x="262663" y="59629"/>
                    <a:pt x="262378" y="60211"/>
                    <a:pt x="261799" y="60506"/>
                  </a:cubicBezTo>
                  <a:cubicBezTo>
                    <a:pt x="260466" y="61787"/>
                    <a:pt x="259208" y="63152"/>
                    <a:pt x="258031" y="64572"/>
                  </a:cubicBezTo>
                  <a:cubicBezTo>
                    <a:pt x="257425" y="65329"/>
                    <a:pt x="256745" y="66010"/>
                    <a:pt x="256001" y="66619"/>
                  </a:cubicBezTo>
                  <a:cubicBezTo>
                    <a:pt x="252518" y="70502"/>
                    <a:pt x="248632" y="74016"/>
                    <a:pt x="244405" y="77086"/>
                  </a:cubicBezTo>
                  <a:cubicBezTo>
                    <a:pt x="243642" y="77630"/>
                    <a:pt x="242742" y="77935"/>
                    <a:pt x="241804" y="77953"/>
                  </a:cubicBezTo>
                  <a:cubicBezTo>
                    <a:pt x="241207" y="77999"/>
                    <a:pt x="240610" y="77897"/>
                    <a:pt x="240067" y="77667"/>
                  </a:cubicBezTo>
                  <a:lnTo>
                    <a:pt x="239488" y="77667"/>
                  </a:lnTo>
                  <a:lnTo>
                    <a:pt x="235997" y="80000"/>
                  </a:lnTo>
                  <a:cubicBezTo>
                    <a:pt x="232248" y="76081"/>
                    <a:pt x="228288" y="72383"/>
                    <a:pt x="224107" y="68925"/>
                  </a:cubicBezTo>
                  <a:cubicBezTo>
                    <a:pt x="206648" y="55221"/>
                    <a:pt x="185616" y="46839"/>
                    <a:pt x="163544" y="44782"/>
                  </a:cubicBezTo>
                  <a:lnTo>
                    <a:pt x="163251" y="41001"/>
                  </a:lnTo>
                  <a:lnTo>
                    <a:pt x="162672" y="40420"/>
                  </a:lnTo>
                  <a:cubicBezTo>
                    <a:pt x="161450" y="39507"/>
                    <a:pt x="160623" y="38152"/>
                    <a:pt x="160347" y="36639"/>
                  </a:cubicBezTo>
                  <a:cubicBezTo>
                    <a:pt x="160237" y="31392"/>
                    <a:pt x="160531" y="26135"/>
                    <a:pt x="161220" y="20934"/>
                  </a:cubicBezTo>
                  <a:lnTo>
                    <a:pt x="161220" y="20639"/>
                  </a:lnTo>
                  <a:cubicBezTo>
                    <a:pt x="161266" y="19653"/>
                    <a:pt x="161469" y="18666"/>
                    <a:pt x="161799" y="17735"/>
                  </a:cubicBezTo>
                  <a:cubicBezTo>
                    <a:pt x="162084" y="15992"/>
                    <a:pt x="162369" y="14230"/>
                    <a:pt x="162663" y="12211"/>
                  </a:cubicBezTo>
                  <a:lnTo>
                    <a:pt x="162663" y="9592"/>
                  </a:lnTo>
                  <a:cubicBezTo>
                    <a:pt x="163058" y="4714"/>
                    <a:pt x="159428" y="425"/>
                    <a:pt x="154567" y="29"/>
                  </a:cubicBezTo>
                  <a:cubicBezTo>
                    <a:pt x="151838" y="-193"/>
                    <a:pt x="149164" y="868"/>
                    <a:pt x="147317" y="2888"/>
                  </a:cubicBezTo>
                  <a:cubicBezTo>
                    <a:pt x="145591" y="4677"/>
                    <a:pt x="144644" y="7083"/>
                    <a:pt x="144718" y="9583"/>
                  </a:cubicBezTo>
                  <a:lnTo>
                    <a:pt x="144718" y="11916"/>
                  </a:lnTo>
                  <a:cubicBezTo>
                    <a:pt x="144699" y="13797"/>
                    <a:pt x="144993" y="15660"/>
                    <a:pt x="145590" y="17448"/>
                  </a:cubicBezTo>
                  <a:cubicBezTo>
                    <a:pt x="145875" y="18316"/>
                    <a:pt x="145875" y="19192"/>
                    <a:pt x="146169" y="20344"/>
                  </a:cubicBezTo>
                  <a:lnTo>
                    <a:pt x="146169" y="20639"/>
                  </a:lnTo>
                  <a:cubicBezTo>
                    <a:pt x="146996" y="25832"/>
                    <a:pt x="147290" y="31097"/>
                    <a:pt x="147032" y="36344"/>
                  </a:cubicBezTo>
                  <a:cubicBezTo>
                    <a:pt x="146757" y="37857"/>
                    <a:pt x="145930" y="39212"/>
                    <a:pt x="144708" y="40125"/>
                  </a:cubicBezTo>
                  <a:lnTo>
                    <a:pt x="144129" y="40706"/>
                  </a:lnTo>
                  <a:lnTo>
                    <a:pt x="143835" y="44496"/>
                  </a:lnTo>
                  <a:cubicBezTo>
                    <a:pt x="138579" y="44985"/>
                    <a:pt x="133351" y="45760"/>
                    <a:pt x="128187" y="46830"/>
                  </a:cubicBezTo>
                  <a:cubicBezTo>
                    <a:pt x="106226" y="51653"/>
                    <a:pt x="86241" y="62995"/>
                    <a:pt x="70804" y="79401"/>
                  </a:cubicBezTo>
                  <a:lnTo>
                    <a:pt x="67910" y="77362"/>
                  </a:lnTo>
                  <a:lnTo>
                    <a:pt x="67340" y="77362"/>
                  </a:lnTo>
                  <a:cubicBezTo>
                    <a:pt x="66761" y="77362"/>
                    <a:pt x="66173" y="77658"/>
                    <a:pt x="65603" y="77658"/>
                  </a:cubicBezTo>
                  <a:cubicBezTo>
                    <a:pt x="64666" y="77630"/>
                    <a:pt x="63756" y="77335"/>
                    <a:pt x="62993" y="76781"/>
                  </a:cubicBezTo>
                  <a:cubicBezTo>
                    <a:pt x="58776" y="73600"/>
                    <a:pt x="54889" y="70004"/>
                    <a:pt x="51406" y="66020"/>
                  </a:cubicBezTo>
                  <a:cubicBezTo>
                    <a:pt x="50800" y="65273"/>
                    <a:pt x="50120" y="64591"/>
                    <a:pt x="49376" y="63982"/>
                  </a:cubicBezTo>
                  <a:cubicBezTo>
                    <a:pt x="48190" y="62562"/>
                    <a:pt x="46941" y="61197"/>
                    <a:pt x="45608" y="59915"/>
                  </a:cubicBezTo>
                  <a:cubicBezTo>
                    <a:pt x="45314" y="59620"/>
                    <a:pt x="44735" y="59334"/>
                    <a:pt x="44156" y="58744"/>
                  </a:cubicBezTo>
                  <a:cubicBezTo>
                    <a:pt x="43872" y="58449"/>
                    <a:pt x="43578" y="58449"/>
                    <a:pt x="43578" y="58163"/>
                  </a:cubicBezTo>
                  <a:cubicBezTo>
                    <a:pt x="41787" y="56669"/>
                    <a:pt x="39535" y="55848"/>
                    <a:pt x="37210" y="55830"/>
                  </a:cubicBezTo>
                  <a:cubicBezTo>
                    <a:pt x="34610" y="55784"/>
                    <a:pt x="32138" y="56964"/>
                    <a:pt x="30549" y="59029"/>
                  </a:cubicBezTo>
                  <a:cubicBezTo>
                    <a:pt x="27701" y="63254"/>
                    <a:pt x="28591" y="68953"/>
                    <a:pt x="32570" y="72115"/>
                  </a:cubicBezTo>
                  <a:cubicBezTo>
                    <a:pt x="32864" y="72115"/>
                    <a:pt x="32864" y="72401"/>
                    <a:pt x="33149" y="72401"/>
                  </a:cubicBezTo>
                  <a:cubicBezTo>
                    <a:pt x="33728" y="72696"/>
                    <a:pt x="34013" y="73278"/>
                    <a:pt x="34592" y="73573"/>
                  </a:cubicBezTo>
                  <a:cubicBezTo>
                    <a:pt x="36172" y="74651"/>
                    <a:pt x="37826" y="75629"/>
                    <a:pt x="39526" y="76486"/>
                  </a:cubicBezTo>
                  <a:cubicBezTo>
                    <a:pt x="40454" y="76855"/>
                    <a:pt x="41327" y="77344"/>
                    <a:pt x="42126" y="77935"/>
                  </a:cubicBezTo>
                  <a:cubicBezTo>
                    <a:pt x="46748" y="80526"/>
                    <a:pt x="51113" y="83550"/>
                    <a:pt x="55174" y="86953"/>
                  </a:cubicBezTo>
                  <a:cubicBezTo>
                    <a:pt x="56286" y="88116"/>
                    <a:pt x="56810" y="89710"/>
                    <a:pt x="56617" y="91316"/>
                  </a:cubicBezTo>
                  <a:lnTo>
                    <a:pt x="56617" y="91896"/>
                  </a:lnTo>
                  <a:lnTo>
                    <a:pt x="59511" y="94506"/>
                  </a:lnTo>
                  <a:cubicBezTo>
                    <a:pt x="58932" y="95225"/>
                    <a:pt x="58445" y="96009"/>
                    <a:pt x="58069" y="96848"/>
                  </a:cubicBezTo>
                  <a:cubicBezTo>
                    <a:pt x="43716" y="119682"/>
                    <a:pt x="37954" y="146914"/>
                    <a:pt x="41842" y="173629"/>
                  </a:cubicBezTo>
                  <a:lnTo>
                    <a:pt x="38074" y="174800"/>
                  </a:lnTo>
                  <a:cubicBezTo>
                    <a:pt x="38074" y="175095"/>
                    <a:pt x="37780" y="175095"/>
                    <a:pt x="37780" y="175381"/>
                  </a:cubicBezTo>
                  <a:cubicBezTo>
                    <a:pt x="37119" y="176782"/>
                    <a:pt x="35988" y="177907"/>
                    <a:pt x="34592" y="178581"/>
                  </a:cubicBezTo>
                  <a:cubicBezTo>
                    <a:pt x="29483" y="180020"/>
                    <a:pt x="24236" y="180896"/>
                    <a:pt x="18943" y="181200"/>
                  </a:cubicBezTo>
                  <a:lnTo>
                    <a:pt x="18649" y="181200"/>
                  </a:lnTo>
                  <a:cubicBezTo>
                    <a:pt x="17675" y="181145"/>
                    <a:pt x="16701" y="181246"/>
                    <a:pt x="15755" y="181486"/>
                  </a:cubicBezTo>
                  <a:cubicBezTo>
                    <a:pt x="13908" y="181550"/>
                    <a:pt x="12070" y="181744"/>
                    <a:pt x="10251" y="182066"/>
                  </a:cubicBezTo>
                  <a:cubicBezTo>
                    <a:pt x="9672" y="182066"/>
                    <a:pt x="9084" y="182362"/>
                    <a:pt x="8514" y="182362"/>
                  </a:cubicBezTo>
                  <a:cubicBezTo>
                    <a:pt x="8193" y="182316"/>
                    <a:pt x="7871" y="182426"/>
                    <a:pt x="7641" y="182657"/>
                  </a:cubicBezTo>
                  <a:cubicBezTo>
                    <a:pt x="2670" y="183653"/>
                    <a:pt x="-647" y="188383"/>
                    <a:pt x="107" y="193418"/>
                  </a:cubicBezTo>
                  <a:cubicBezTo>
                    <a:pt x="1182" y="197596"/>
                    <a:pt x="5087" y="200409"/>
                    <a:pt x="9378" y="200104"/>
                  </a:cubicBezTo>
                  <a:cubicBezTo>
                    <a:pt x="10168" y="200151"/>
                    <a:pt x="10958" y="200049"/>
                    <a:pt x="11712" y="199809"/>
                  </a:cubicBezTo>
                  <a:cubicBezTo>
                    <a:pt x="11997" y="199809"/>
                    <a:pt x="12282" y="199809"/>
                    <a:pt x="12282" y="199523"/>
                  </a:cubicBezTo>
                  <a:cubicBezTo>
                    <a:pt x="12860" y="199523"/>
                    <a:pt x="13448" y="199228"/>
                    <a:pt x="14027" y="199228"/>
                  </a:cubicBezTo>
                  <a:cubicBezTo>
                    <a:pt x="15819" y="198721"/>
                    <a:pt x="17565" y="198039"/>
                    <a:pt x="19237" y="197182"/>
                  </a:cubicBezTo>
                  <a:cubicBezTo>
                    <a:pt x="20101" y="196886"/>
                    <a:pt x="20974" y="196306"/>
                    <a:pt x="21837" y="196010"/>
                  </a:cubicBezTo>
                  <a:lnTo>
                    <a:pt x="22131" y="196010"/>
                  </a:lnTo>
                  <a:cubicBezTo>
                    <a:pt x="26974" y="194009"/>
                    <a:pt x="32037" y="192542"/>
                    <a:pt x="37201" y="191648"/>
                  </a:cubicBezTo>
                  <a:lnTo>
                    <a:pt x="37780" y="191648"/>
                  </a:lnTo>
                  <a:cubicBezTo>
                    <a:pt x="39158" y="191712"/>
                    <a:pt x="40481" y="192229"/>
                    <a:pt x="41547" y="193106"/>
                  </a:cubicBezTo>
                  <a:cubicBezTo>
                    <a:pt x="41842" y="193106"/>
                    <a:pt x="41842" y="193401"/>
                    <a:pt x="42126" y="193401"/>
                  </a:cubicBezTo>
                  <a:lnTo>
                    <a:pt x="46178" y="192819"/>
                  </a:lnTo>
                  <a:cubicBezTo>
                    <a:pt x="53180" y="214398"/>
                    <a:pt x="66393" y="233423"/>
                    <a:pt x="84145" y="247495"/>
                  </a:cubicBezTo>
                  <a:cubicBezTo>
                    <a:pt x="88115" y="250566"/>
                    <a:pt x="92278" y="253379"/>
                    <a:pt x="96606" y="255924"/>
                  </a:cubicBezTo>
                  <a:lnTo>
                    <a:pt x="94869" y="259705"/>
                  </a:lnTo>
                  <a:cubicBezTo>
                    <a:pt x="94869" y="260000"/>
                    <a:pt x="95163" y="260000"/>
                    <a:pt x="95163" y="260286"/>
                  </a:cubicBezTo>
                  <a:cubicBezTo>
                    <a:pt x="95981" y="261697"/>
                    <a:pt x="96192" y="263384"/>
                    <a:pt x="95742" y="264961"/>
                  </a:cubicBezTo>
                  <a:cubicBezTo>
                    <a:pt x="93665" y="269747"/>
                    <a:pt x="91138" y="274322"/>
                    <a:pt x="88198" y="278628"/>
                  </a:cubicBezTo>
                  <a:lnTo>
                    <a:pt x="88198" y="278923"/>
                  </a:lnTo>
                  <a:cubicBezTo>
                    <a:pt x="87628" y="279790"/>
                    <a:pt x="87040" y="280371"/>
                    <a:pt x="86461" y="281256"/>
                  </a:cubicBezTo>
                  <a:cubicBezTo>
                    <a:pt x="85303" y="282713"/>
                    <a:pt x="84440" y="284161"/>
                    <a:pt x="83273" y="285931"/>
                  </a:cubicBezTo>
                  <a:cubicBezTo>
                    <a:pt x="82924" y="286374"/>
                    <a:pt x="82630" y="286863"/>
                    <a:pt x="82409" y="287380"/>
                  </a:cubicBezTo>
                  <a:cubicBezTo>
                    <a:pt x="82381" y="287601"/>
                    <a:pt x="82271" y="287803"/>
                    <a:pt x="82115" y="287960"/>
                  </a:cubicBezTo>
                  <a:cubicBezTo>
                    <a:pt x="79708" y="292433"/>
                    <a:pt x="81362" y="298012"/>
                    <a:pt x="85818" y="300437"/>
                  </a:cubicBezTo>
                  <a:cubicBezTo>
                    <a:pt x="85836" y="300447"/>
                    <a:pt x="85864" y="300456"/>
                    <a:pt x="85882" y="300465"/>
                  </a:cubicBezTo>
                  <a:cubicBezTo>
                    <a:pt x="86966" y="301028"/>
                    <a:pt x="88162" y="301332"/>
                    <a:pt x="89375" y="301341"/>
                  </a:cubicBezTo>
                  <a:cubicBezTo>
                    <a:pt x="93041" y="301166"/>
                    <a:pt x="96340" y="299064"/>
                    <a:pt x="98066" y="295817"/>
                  </a:cubicBezTo>
                  <a:cubicBezTo>
                    <a:pt x="98103" y="295596"/>
                    <a:pt x="98204" y="295393"/>
                    <a:pt x="98360" y="295236"/>
                  </a:cubicBezTo>
                  <a:cubicBezTo>
                    <a:pt x="98582" y="294711"/>
                    <a:pt x="98875" y="294222"/>
                    <a:pt x="99233" y="293780"/>
                  </a:cubicBezTo>
                  <a:cubicBezTo>
                    <a:pt x="99895" y="292064"/>
                    <a:pt x="100474" y="290321"/>
                    <a:pt x="100970" y="288541"/>
                  </a:cubicBezTo>
                  <a:lnTo>
                    <a:pt x="101834" y="285931"/>
                  </a:lnTo>
                  <a:cubicBezTo>
                    <a:pt x="103295" y="280860"/>
                    <a:pt x="105344" y="275981"/>
                    <a:pt x="107926" y="271389"/>
                  </a:cubicBezTo>
                  <a:cubicBezTo>
                    <a:pt x="108873" y="270135"/>
                    <a:pt x="110187" y="269221"/>
                    <a:pt x="111694" y="268770"/>
                  </a:cubicBezTo>
                  <a:cubicBezTo>
                    <a:pt x="111978" y="268770"/>
                    <a:pt x="111978" y="268770"/>
                    <a:pt x="112273" y="268474"/>
                  </a:cubicBezTo>
                  <a:lnTo>
                    <a:pt x="114293" y="264703"/>
                  </a:lnTo>
                  <a:cubicBezTo>
                    <a:pt x="127240" y="269692"/>
                    <a:pt x="140995" y="272256"/>
                    <a:pt x="154870" y="272256"/>
                  </a:cubicBezTo>
                  <a:cubicBezTo>
                    <a:pt x="163361" y="272311"/>
                    <a:pt x="171824" y="271334"/>
                    <a:pt x="180084" y="269351"/>
                  </a:cubicBezTo>
                  <a:cubicBezTo>
                    <a:pt x="185193" y="268207"/>
                    <a:pt x="190219" y="266751"/>
                    <a:pt x="195154" y="264989"/>
                  </a:cubicBezTo>
                  <a:lnTo>
                    <a:pt x="196890" y="268189"/>
                  </a:lnTo>
                  <a:cubicBezTo>
                    <a:pt x="197185" y="268189"/>
                    <a:pt x="197185" y="268189"/>
                    <a:pt x="197469" y="268484"/>
                  </a:cubicBezTo>
                  <a:cubicBezTo>
                    <a:pt x="199049" y="268752"/>
                    <a:pt x="200437" y="269711"/>
                    <a:pt x="201236" y="271094"/>
                  </a:cubicBezTo>
                  <a:cubicBezTo>
                    <a:pt x="203643" y="275760"/>
                    <a:pt x="205674" y="280611"/>
                    <a:pt x="207310" y="285600"/>
                  </a:cubicBezTo>
                  <a:lnTo>
                    <a:pt x="207310" y="285895"/>
                  </a:lnTo>
                  <a:lnTo>
                    <a:pt x="208183" y="288514"/>
                  </a:lnTo>
                  <a:cubicBezTo>
                    <a:pt x="208634" y="290294"/>
                    <a:pt x="209212" y="292046"/>
                    <a:pt x="209919" y="293742"/>
                  </a:cubicBezTo>
                  <a:cubicBezTo>
                    <a:pt x="210213" y="294323"/>
                    <a:pt x="210498" y="294618"/>
                    <a:pt x="210792" y="295200"/>
                  </a:cubicBezTo>
                  <a:cubicBezTo>
                    <a:pt x="210820" y="295421"/>
                    <a:pt x="210921" y="295624"/>
                    <a:pt x="211077" y="295781"/>
                  </a:cubicBezTo>
                  <a:cubicBezTo>
                    <a:pt x="212713" y="299110"/>
                    <a:pt x="216067" y="301249"/>
                    <a:pt x="219770" y="301304"/>
                  </a:cubicBezTo>
                  <a:cubicBezTo>
                    <a:pt x="220992" y="301295"/>
                    <a:pt x="222186" y="301000"/>
                    <a:pt x="223270" y="300437"/>
                  </a:cubicBezTo>
                  <a:cubicBezTo>
                    <a:pt x="225366" y="299350"/>
                    <a:pt x="226928" y="297468"/>
                    <a:pt x="227598" y="295200"/>
                  </a:cubicBezTo>
                  <a:cubicBezTo>
                    <a:pt x="228278" y="292783"/>
                    <a:pt x="228077" y="290211"/>
                    <a:pt x="227029" y="287932"/>
                  </a:cubicBezTo>
                  <a:cubicBezTo>
                    <a:pt x="227029" y="287637"/>
                    <a:pt x="226735" y="287637"/>
                    <a:pt x="226735" y="287352"/>
                  </a:cubicBezTo>
                  <a:cubicBezTo>
                    <a:pt x="226514" y="286826"/>
                    <a:pt x="226220" y="286337"/>
                    <a:pt x="225862" y="285895"/>
                  </a:cubicBezTo>
                  <a:cubicBezTo>
                    <a:pt x="224971" y="284225"/>
                    <a:pt x="223904" y="282667"/>
                    <a:pt x="222674" y="281229"/>
                  </a:cubicBezTo>
                  <a:cubicBezTo>
                    <a:pt x="222095" y="280353"/>
                    <a:pt x="221516" y="279771"/>
                    <a:pt x="220937" y="278886"/>
                  </a:cubicBezTo>
                  <a:lnTo>
                    <a:pt x="220937" y="278600"/>
                  </a:lnTo>
                  <a:cubicBezTo>
                    <a:pt x="217896" y="274358"/>
                    <a:pt x="215360" y="269766"/>
                    <a:pt x="213402" y="264924"/>
                  </a:cubicBezTo>
                  <a:cubicBezTo>
                    <a:pt x="213044" y="263375"/>
                    <a:pt x="213145" y="261752"/>
                    <a:pt x="213696" y="260258"/>
                  </a:cubicBezTo>
                  <a:cubicBezTo>
                    <a:pt x="213696" y="259963"/>
                    <a:pt x="213981" y="259963"/>
                    <a:pt x="213981" y="259677"/>
                  </a:cubicBezTo>
                  <a:lnTo>
                    <a:pt x="212539" y="256173"/>
                  </a:lnTo>
                  <a:cubicBezTo>
                    <a:pt x="236502" y="241787"/>
                    <a:pt x="254420" y="219148"/>
                    <a:pt x="262975" y="192478"/>
                  </a:cubicBezTo>
                  <a:lnTo>
                    <a:pt x="266467" y="193059"/>
                  </a:lnTo>
                  <a:cubicBezTo>
                    <a:pt x="266760" y="193059"/>
                    <a:pt x="266760" y="192764"/>
                    <a:pt x="267046" y="192764"/>
                  </a:cubicBezTo>
                  <a:cubicBezTo>
                    <a:pt x="268139" y="191934"/>
                    <a:pt x="269444" y="191436"/>
                    <a:pt x="270803" y="191316"/>
                  </a:cubicBezTo>
                  <a:lnTo>
                    <a:pt x="271382" y="191316"/>
                  </a:lnTo>
                  <a:cubicBezTo>
                    <a:pt x="276555" y="192202"/>
                    <a:pt x="281609" y="193668"/>
                    <a:pt x="286461" y="195669"/>
                  </a:cubicBezTo>
                  <a:lnTo>
                    <a:pt x="286746" y="195669"/>
                  </a:lnTo>
                  <a:cubicBezTo>
                    <a:pt x="287619" y="195964"/>
                    <a:pt x="288483" y="196545"/>
                    <a:pt x="289356" y="196840"/>
                  </a:cubicBezTo>
                  <a:cubicBezTo>
                    <a:pt x="291019" y="197689"/>
                    <a:pt x="292773" y="198380"/>
                    <a:pt x="294575" y="198878"/>
                  </a:cubicBezTo>
                  <a:cubicBezTo>
                    <a:pt x="295144" y="198878"/>
                    <a:pt x="295732" y="199173"/>
                    <a:pt x="296311" y="199173"/>
                  </a:cubicBezTo>
                  <a:cubicBezTo>
                    <a:pt x="296633" y="199127"/>
                    <a:pt x="296945" y="199238"/>
                    <a:pt x="297184" y="199459"/>
                  </a:cubicBezTo>
                  <a:cubicBezTo>
                    <a:pt x="297929" y="199699"/>
                    <a:pt x="298719" y="199800"/>
                    <a:pt x="299509" y="199754"/>
                  </a:cubicBezTo>
                  <a:cubicBezTo>
                    <a:pt x="303708" y="199763"/>
                    <a:pt x="307448" y="197070"/>
                    <a:pt x="308780" y="193059"/>
                  </a:cubicBezTo>
                  <a:cubicBezTo>
                    <a:pt x="308247" y="188421"/>
                    <a:pt x="304894" y="184593"/>
                    <a:pt x="300372" y="183468"/>
                  </a:cubicBezTo>
                  <a:lnTo>
                    <a:pt x="300336" y="183515"/>
                  </a:lnTo>
                  <a:close/>
                </a:path>
              </a:pathLst>
            </a:custGeom>
            <a:grpFill/>
            <a:ln w="9331" cap="flat">
              <a:noFill/>
              <a:prstDash val="solid"/>
              <a:miter/>
            </a:ln>
          </p:spPr>
          <p:txBody>
            <a:bodyPr rtlCol="0" anchor="ctr"/>
            <a:lstStyle/>
            <a:p>
              <a:pPr defTabSz="932418"/>
              <a:endParaRPr lang="en-US" sz="1836">
                <a:solidFill>
                  <a:srgbClr val="000000"/>
                </a:solidFill>
                <a:latin typeface="Segoe UI"/>
              </a:endParaRPr>
            </a:p>
          </p:txBody>
        </p:sp>
      </p:grpSp>
      <p:sp>
        <p:nvSpPr>
          <p:cNvPr id="10" name="Rectangle: Rounded Corners 9">
            <a:extLst>
              <a:ext uri="{FF2B5EF4-FFF2-40B4-BE49-F238E27FC236}">
                <a16:creationId xmlns:a16="http://schemas.microsoft.com/office/drawing/2014/main" id="{8DEB14F3-9D1A-42FB-A0D0-E51B79B15111}"/>
              </a:ext>
            </a:extLst>
          </p:cNvPr>
          <p:cNvSpPr/>
          <p:nvPr/>
        </p:nvSpPr>
        <p:spPr bwMode="auto">
          <a:xfrm>
            <a:off x="6383380" y="2218140"/>
            <a:ext cx="2704166" cy="4050835"/>
          </a:xfrm>
          <a:prstGeom prst="roundRect">
            <a:avLst>
              <a:gd name="adj" fmla="val 3720"/>
            </a:avLst>
          </a:prstGeom>
          <a:solidFill>
            <a:srgbClr val="F2F2F2"/>
          </a:solidFill>
          <a:ln w="571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839224" rIns="186494" bIns="149196" numCol="1" spcCol="0" rtlCol="0" fromWordArt="0" anchor="t" anchorCtr="0" forceAA="0" compatLnSpc="1">
            <a:prstTxWarp prst="textNoShape">
              <a:avLst/>
            </a:prstTxWarp>
            <a:noAutofit/>
          </a:bodyPr>
          <a:lstStyle/>
          <a:p>
            <a:pPr defTabSz="932418">
              <a:spcAft>
                <a:spcPts val="3060"/>
              </a:spcAft>
            </a:pPr>
            <a:r>
              <a:rPr lang="en-US" dirty="0">
                <a:gradFill>
                  <a:gsLst>
                    <a:gs pos="2917">
                      <a:srgbClr val="000000"/>
                    </a:gs>
                    <a:gs pos="100000">
                      <a:srgbClr val="000000"/>
                    </a:gs>
                  </a:gsLst>
                  <a:lin ang="5400000" scaled="0"/>
                </a:gradFill>
                <a:latin typeface="Segoe UI Semibold"/>
              </a:rPr>
              <a:t>Secure Score</a:t>
            </a:r>
          </a:p>
          <a:p>
            <a:pPr marL="293000" lvl="1" indent="-293000" defTabSz="932418">
              <a:spcAft>
                <a:spcPts val="1224"/>
              </a:spcAft>
              <a:buFont typeface="Arial" panose="020B0604020202020204" pitchFamily="34" charset="0"/>
              <a:buChar char="•"/>
            </a:pPr>
            <a:r>
              <a:rPr lang="en-US" sz="1400" dirty="0">
                <a:gradFill>
                  <a:gsLst>
                    <a:gs pos="2917">
                      <a:srgbClr val="000000"/>
                    </a:gs>
                    <a:gs pos="100000">
                      <a:srgbClr val="000000"/>
                    </a:gs>
                  </a:gsLst>
                  <a:lin ang="5400000" scaled="0"/>
                </a:gradFill>
                <a:latin typeface="Segoe UI"/>
              </a:rPr>
              <a:t>Birds-eye view of the security posture of all your clouds</a:t>
            </a:r>
          </a:p>
          <a:p>
            <a:pPr marL="293000" lvl="1" indent="-293000" defTabSz="932418">
              <a:spcAft>
                <a:spcPts val="1224"/>
              </a:spcAft>
              <a:buFont typeface="Arial" panose="020B0604020202020204" pitchFamily="34" charset="0"/>
              <a:buChar char="•"/>
            </a:pPr>
            <a:r>
              <a:rPr lang="en-US" sz="1400" dirty="0">
                <a:gradFill>
                  <a:gsLst>
                    <a:gs pos="2917">
                      <a:srgbClr val="000000"/>
                    </a:gs>
                    <a:gs pos="100000">
                      <a:srgbClr val="000000"/>
                    </a:gs>
                  </a:gsLst>
                  <a:lin ang="5400000" scaled="0"/>
                </a:gradFill>
                <a:latin typeface="Segoe UI"/>
              </a:rPr>
              <a:t>Prioritized security recommendations </a:t>
            </a:r>
          </a:p>
          <a:p>
            <a:pPr marL="293000" lvl="1" indent="-293000" defTabSz="932418">
              <a:spcAft>
                <a:spcPts val="1224"/>
              </a:spcAft>
              <a:buFont typeface="Arial" panose="020B0604020202020204" pitchFamily="34" charset="0"/>
              <a:buChar char="•"/>
            </a:pPr>
            <a:r>
              <a:rPr lang="en-US" sz="1400" dirty="0">
                <a:gradFill>
                  <a:gsLst>
                    <a:gs pos="2917">
                      <a:srgbClr val="000000"/>
                    </a:gs>
                    <a:gs pos="100000">
                      <a:srgbClr val="000000"/>
                    </a:gs>
                  </a:gsLst>
                  <a:lin ang="5400000" scaled="0"/>
                </a:gradFill>
                <a:latin typeface="Segoe UI"/>
              </a:rPr>
              <a:t>Track and manage your security posture state over time </a:t>
            </a:r>
          </a:p>
        </p:txBody>
      </p:sp>
      <p:sp>
        <p:nvSpPr>
          <p:cNvPr id="9" name="Rectangle: Rounded Corners 8">
            <a:extLst>
              <a:ext uri="{FF2B5EF4-FFF2-40B4-BE49-F238E27FC236}">
                <a16:creationId xmlns:a16="http://schemas.microsoft.com/office/drawing/2014/main" id="{778BF1AB-D451-48CB-873A-3E4902D3F92C}"/>
              </a:ext>
            </a:extLst>
          </p:cNvPr>
          <p:cNvSpPr/>
          <p:nvPr/>
        </p:nvSpPr>
        <p:spPr bwMode="auto">
          <a:xfrm>
            <a:off x="9279007" y="2216570"/>
            <a:ext cx="2704166" cy="4052468"/>
          </a:xfrm>
          <a:prstGeom prst="roundRect">
            <a:avLst>
              <a:gd name="adj" fmla="val 3720"/>
            </a:avLst>
          </a:prstGeom>
          <a:solidFill>
            <a:srgbClr val="F2F2F2"/>
          </a:solidFill>
          <a:ln w="571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839224" rIns="186494" bIns="149196" numCol="1" spcCol="0" rtlCol="0" fromWordArt="0" anchor="t" anchorCtr="0" forceAA="0" compatLnSpc="1">
            <a:prstTxWarp prst="textNoShape">
              <a:avLst/>
            </a:prstTxWarp>
            <a:noAutofit/>
          </a:bodyPr>
          <a:lstStyle/>
          <a:p>
            <a:pPr defTabSz="932418">
              <a:spcAft>
                <a:spcPts val="1224"/>
              </a:spcAft>
            </a:pPr>
            <a:r>
              <a:rPr lang="en-US" dirty="0">
                <a:gradFill>
                  <a:gsLst>
                    <a:gs pos="2917">
                      <a:srgbClr val="000000"/>
                    </a:gs>
                    <a:gs pos="100000">
                      <a:srgbClr val="000000"/>
                    </a:gs>
                  </a:gsLst>
                  <a:lin ang="5400000" scaled="0"/>
                </a:gradFill>
                <a:latin typeface="Segoe UI Semibold"/>
              </a:rPr>
              <a:t>Advanced </a:t>
            </a:r>
            <a:br>
              <a:rPr lang="en-US" dirty="0">
                <a:gradFill>
                  <a:gsLst>
                    <a:gs pos="2917">
                      <a:srgbClr val="000000"/>
                    </a:gs>
                    <a:gs pos="100000">
                      <a:srgbClr val="000000"/>
                    </a:gs>
                  </a:gsLst>
                  <a:lin ang="5400000" scaled="0"/>
                </a:gradFill>
                <a:latin typeface="Segoe UI Semibold"/>
              </a:rPr>
            </a:br>
            <a:r>
              <a:rPr lang="en-US" dirty="0">
                <a:gradFill>
                  <a:gsLst>
                    <a:gs pos="2917">
                      <a:srgbClr val="000000"/>
                    </a:gs>
                    <a:gs pos="100000">
                      <a:srgbClr val="000000"/>
                    </a:gs>
                  </a:gsLst>
                  <a:lin ang="5400000" scaled="0"/>
                </a:gradFill>
                <a:latin typeface="Segoe UI Semibold"/>
              </a:rPr>
              <a:t>Threat Protection</a:t>
            </a:r>
          </a:p>
          <a:p>
            <a:pPr marL="293000" lvl="1" indent="-293000" defTabSz="932418">
              <a:spcAft>
                <a:spcPts val="1224"/>
              </a:spcAft>
              <a:buFont typeface="Arial" panose="020B0604020202020204" pitchFamily="34" charset="0"/>
              <a:buChar char="•"/>
            </a:pPr>
            <a:r>
              <a:rPr lang="en-US" sz="1400" dirty="0">
                <a:gradFill>
                  <a:gsLst>
                    <a:gs pos="2917">
                      <a:srgbClr val="000000"/>
                    </a:gs>
                    <a:gs pos="100000">
                      <a:srgbClr val="000000"/>
                    </a:gs>
                  </a:gsLst>
                  <a:lin ang="5400000" scaled="0"/>
                </a:gradFill>
                <a:latin typeface="Segoe UI"/>
              </a:rPr>
              <a:t>Workload-specific signals and threat alerts </a:t>
            </a:r>
          </a:p>
          <a:p>
            <a:pPr marL="293000" lvl="1" indent="-293000" defTabSz="932418">
              <a:spcAft>
                <a:spcPts val="1224"/>
              </a:spcAft>
              <a:buFont typeface="Arial" panose="020B0604020202020204" pitchFamily="34" charset="0"/>
              <a:buChar char="•"/>
            </a:pPr>
            <a:r>
              <a:rPr lang="en-US" sz="1400" dirty="0">
                <a:gradFill>
                  <a:gsLst>
                    <a:gs pos="2917">
                      <a:srgbClr val="000000"/>
                    </a:gs>
                    <a:gs pos="100000">
                      <a:srgbClr val="000000"/>
                    </a:gs>
                  </a:gsLst>
                  <a:lin ang="5400000" scaled="0"/>
                </a:gradFill>
                <a:latin typeface="Segoe UI"/>
              </a:rPr>
              <a:t>Deterministic, AI, </a:t>
            </a:r>
            <a:br>
              <a:rPr lang="en-US" sz="1400" dirty="0">
                <a:gradFill>
                  <a:gsLst>
                    <a:gs pos="2917">
                      <a:srgbClr val="000000"/>
                    </a:gs>
                    <a:gs pos="100000">
                      <a:srgbClr val="000000"/>
                    </a:gs>
                  </a:gsLst>
                  <a:lin ang="5400000" scaled="0"/>
                </a:gradFill>
                <a:latin typeface="Segoe UI"/>
              </a:rPr>
            </a:br>
            <a:r>
              <a:rPr lang="en-US" sz="1400" dirty="0">
                <a:gradFill>
                  <a:gsLst>
                    <a:gs pos="2917">
                      <a:srgbClr val="000000"/>
                    </a:gs>
                    <a:gs pos="100000">
                      <a:srgbClr val="000000"/>
                    </a:gs>
                  </a:gsLst>
                  <a:lin ang="5400000" scaled="0"/>
                </a:gradFill>
                <a:latin typeface="Segoe UI"/>
              </a:rPr>
              <a:t>and anomaly-based detection mechanisms</a:t>
            </a:r>
          </a:p>
          <a:p>
            <a:pPr marL="293000" lvl="1" indent="-293000" defTabSz="932418">
              <a:spcAft>
                <a:spcPts val="1224"/>
              </a:spcAft>
              <a:buFont typeface="Arial" panose="020B0604020202020204" pitchFamily="34" charset="0"/>
              <a:buChar char="•"/>
            </a:pPr>
            <a:r>
              <a:rPr lang="en-US" sz="1400" dirty="0">
                <a:gradFill>
                  <a:gsLst>
                    <a:gs pos="2917">
                      <a:srgbClr val="000000"/>
                    </a:gs>
                    <a:gs pos="100000">
                      <a:srgbClr val="000000"/>
                    </a:gs>
                  </a:gsLst>
                  <a:lin ang="5400000" scaled="0"/>
                </a:gradFill>
                <a:latin typeface="Segoe UI"/>
              </a:rPr>
              <a:t>Leverages the power of Microsoft Threat Intelligence with 24 trillion signals daily</a:t>
            </a:r>
          </a:p>
        </p:txBody>
      </p:sp>
      <p:sp>
        <p:nvSpPr>
          <p:cNvPr id="29" name="Oval 28">
            <a:extLst>
              <a:ext uri="{FF2B5EF4-FFF2-40B4-BE49-F238E27FC236}">
                <a16:creationId xmlns:a16="http://schemas.microsoft.com/office/drawing/2014/main" id="{658CA0A8-2CC3-46F8-A26F-11BCA0C2D6AC}"/>
              </a:ext>
              <a:ext uri="{C183D7F6-B498-43B3-948B-1728B52AA6E4}">
                <adec:decorative xmlns:adec="http://schemas.microsoft.com/office/drawing/2017/decorative" val="1"/>
              </a:ext>
            </a:extLst>
          </p:cNvPr>
          <p:cNvSpPr/>
          <p:nvPr/>
        </p:nvSpPr>
        <p:spPr bwMode="auto">
          <a:xfrm>
            <a:off x="10027930" y="1523184"/>
            <a:ext cx="1206320" cy="1206320"/>
          </a:xfrm>
          <a:prstGeom prst="ellipse">
            <a:avLst/>
          </a:prstGeom>
          <a:solidFill>
            <a:srgbClr val="525252"/>
          </a:solidFill>
          <a:ln w="76200">
            <a:solidFill>
              <a:schemeClr val="bg1"/>
            </a:solid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pPr>
            <a:endParaRPr lang="en-US" sz="2040" dirty="0">
              <a:solidFill>
                <a:srgbClr val="FFFFFF"/>
              </a:solidFill>
              <a:latin typeface="Segoe UI"/>
              <a:ea typeface="Segoe UI" pitchFamily="34" charset="0"/>
              <a:cs typeface="Segoe UI" pitchFamily="34" charset="0"/>
            </a:endParaRPr>
          </a:p>
        </p:txBody>
      </p:sp>
      <p:grpSp>
        <p:nvGrpSpPr>
          <p:cNvPr id="34" name="Group 33">
            <a:extLst>
              <a:ext uri="{FF2B5EF4-FFF2-40B4-BE49-F238E27FC236}">
                <a16:creationId xmlns:a16="http://schemas.microsoft.com/office/drawing/2014/main" id="{430E1073-17A6-40F3-AAD8-B941772DE96F}"/>
              </a:ext>
              <a:ext uri="{C183D7F6-B498-43B3-948B-1728B52AA6E4}">
                <adec:decorative xmlns:adec="http://schemas.microsoft.com/office/drawing/2017/decorative" val="1"/>
              </a:ext>
            </a:extLst>
          </p:cNvPr>
          <p:cNvGrpSpPr/>
          <p:nvPr/>
        </p:nvGrpSpPr>
        <p:grpSpPr>
          <a:xfrm>
            <a:off x="7132303" y="1614981"/>
            <a:ext cx="1206320" cy="1206320"/>
            <a:chOff x="9686385" y="1714470"/>
            <a:chExt cx="1182942" cy="1182942"/>
          </a:xfrm>
          <a:solidFill>
            <a:schemeClr val="accent1"/>
          </a:solidFill>
        </p:grpSpPr>
        <p:sp>
          <p:nvSpPr>
            <p:cNvPr id="30" name="Oval 29">
              <a:extLst>
                <a:ext uri="{FF2B5EF4-FFF2-40B4-BE49-F238E27FC236}">
                  <a16:creationId xmlns:a16="http://schemas.microsoft.com/office/drawing/2014/main" id="{BFA3902B-04D5-445C-BEDD-32248DD59EA0}"/>
                </a:ext>
              </a:extLst>
            </p:cNvPr>
            <p:cNvSpPr/>
            <p:nvPr/>
          </p:nvSpPr>
          <p:spPr bwMode="auto">
            <a:xfrm>
              <a:off x="9686385" y="1714470"/>
              <a:ext cx="1182942" cy="1182942"/>
            </a:xfrm>
            <a:prstGeom prst="ellipse">
              <a:avLst/>
            </a:prstGeom>
            <a:grpFill/>
            <a:ln w="76200">
              <a:solidFill>
                <a:schemeClr val="bg1"/>
              </a:solid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pPr>
              <a:endParaRPr lang="en-US" sz="2040" err="1">
                <a:solidFill>
                  <a:srgbClr val="FFFFFF"/>
                </a:solidFill>
                <a:latin typeface="Segoe UI"/>
                <a:ea typeface="Segoe UI" pitchFamily="34" charset="0"/>
                <a:cs typeface="Segoe UI" pitchFamily="34" charset="0"/>
              </a:endParaRPr>
            </a:p>
          </p:txBody>
        </p:sp>
        <p:sp>
          <p:nvSpPr>
            <p:cNvPr id="27" name="Graphic 107">
              <a:extLst>
                <a:ext uri="{FF2B5EF4-FFF2-40B4-BE49-F238E27FC236}">
                  <a16:creationId xmlns:a16="http://schemas.microsoft.com/office/drawing/2014/main" id="{F77CE3EF-2C89-4265-A452-6A37846DF16D}"/>
                </a:ext>
              </a:extLst>
            </p:cNvPr>
            <p:cNvSpPr/>
            <p:nvPr/>
          </p:nvSpPr>
          <p:spPr>
            <a:xfrm>
              <a:off x="10076604" y="1970250"/>
              <a:ext cx="418254" cy="573706"/>
            </a:xfrm>
            <a:custGeom>
              <a:avLst/>
              <a:gdLst>
                <a:gd name="connsiteX0" fmla="*/ 96646 w 265997"/>
                <a:gd name="connsiteY0" fmla="*/ 36501 h 364859"/>
                <a:gd name="connsiteX1" fmla="*/ 132851 w 265997"/>
                <a:gd name="connsiteY1" fmla="*/ 0 h 364859"/>
                <a:gd name="connsiteX2" fmla="*/ 169056 w 265997"/>
                <a:gd name="connsiteY2" fmla="*/ 36501 h 364859"/>
                <a:gd name="connsiteX3" fmla="*/ 169056 w 265997"/>
                <a:gd name="connsiteY3" fmla="*/ 48618 h 364859"/>
                <a:gd name="connsiteX4" fmla="*/ 217379 w 265997"/>
                <a:gd name="connsiteY4" fmla="*/ 48618 h 364859"/>
                <a:gd name="connsiteX5" fmla="*/ 217379 w 265997"/>
                <a:gd name="connsiteY5" fmla="*/ 97237 h 364859"/>
                <a:gd name="connsiteX6" fmla="*/ 48175 w 265997"/>
                <a:gd name="connsiteY6" fmla="*/ 97237 h 364859"/>
                <a:gd name="connsiteX7" fmla="*/ 48175 w 265997"/>
                <a:gd name="connsiteY7" fmla="*/ 48618 h 364859"/>
                <a:gd name="connsiteX8" fmla="*/ 96498 w 265997"/>
                <a:gd name="connsiteY8" fmla="*/ 48618 h 364859"/>
                <a:gd name="connsiteX9" fmla="*/ 96498 w 265997"/>
                <a:gd name="connsiteY9" fmla="*/ 36501 h 364859"/>
                <a:gd name="connsiteX10" fmla="*/ 96646 w 265997"/>
                <a:gd name="connsiteY10" fmla="*/ 36501 h 364859"/>
                <a:gd name="connsiteX11" fmla="*/ 96646 w 265997"/>
                <a:gd name="connsiteY11" fmla="*/ 36501 h 364859"/>
                <a:gd name="connsiteX12" fmla="*/ 48323 w 265997"/>
                <a:gd name="connsiteY12" fmla="*/ 48766 h 364859"/>
                <a:gd name="connsiteX13" fmla="*/ 0 w 265997"/>
                <a:gd name="connsiteY13" fmla="*/ 48766 h 364859"/>
                <a:gd name="connsiteX14" fmla="*/ 0 w 265997"/>
                <a:gd name="connsiteY14" fmla="*/ 364859 h 364859"/>
                <a:gd name="connsiteX15" fmla="*/ 265997 w 265997"/>
                <a:gd name="connsiteY15" fmla="*/ 364859 h 364859"/>
                <a:gd name="connsiteX16" fmla="*/ 265997 w 265997"/>
                <a:gd name="connsiteY16" fmla="*/ 48766 h 364859"/>
                <a:gd name="connsiteX17" fmla="*/ 217675 w 265997"/>
                <a:gd name="connsiteY17" fmla="*/ 48766 h 364859"/>
                <a:gd name="connsiteX18" fmla="*/ 48323 w 265997"/>
                <a:gd name="connsiteY18" fmla="*/ 170238 h 364859"/>
                <a:gd name="connsiteX19" fmla="*/ 145116 w 265997"/>
                <a:gd name="connsiteY19" fmla="*/ 170238 h 364859"/>
                <a:gd name="connsiteX20" fmla="*/ 144969 w 265997"/>
                <a:gd name="connsiteY20" fmla="*/ 243240 h 364859"/>
                <a:gd name="connsiteX21" fmla="*/ 48175 w 265997"/>
                <a:gd name="connsiteY21" fmla="*/ 243240 h 364859"/>
                <a:gd name="connsiteX22" fmla="*/ 144969 w 265997"/>
                <a:gd name="connsiteY22" fmla="*/ 316241 h 364859"/>
                <a:gd name="connsiteX23" fmla="*/ 48175 w 265997"/>
                <a:gd name="connsiteY23" fmla="*/ 316241 h 364859"/>
                <a:gd name="connsiteX24" fmla="*/ 169204 w 265997"/>
                <a:gd name="connsiteY24" fmla="*/ 146003 h 364859"/>
                <a:gd name="connsiteX25" fmla="*/ 193439 w 265997"/>
                <a:gd name="connsiteY25" fmla="*/ 170386 h 364859"/>
                <a:gd name="connsiteX26" fmla="*/ 229644 w 265997"/>
                <a:gd name="connsiteY26" fmla="*/ 133885 h 364859"/>
                <a:gd name="connsiteX27" fmla="*/ 169204 w 265997"/>
                <a:gd name="connsiteY27" fmla="*/ 219004 h 364859"/>
                <a:gd name="connsiteX28" fmla="*/ 193439 w 265997"/>
                <a:gd name="connsiteY28" fmla="*/ 243387 h 364859"/>
                <a:gd name="connsiteX29" fmla="*/ 229644 w 265997"/>
                <a:gd name="connsiteY29" fmla="*/ 206887 h 364859"/>
                <a:gd name="connsiteX30" fmla="*/ 169204 w 265997"/>
                <a:gd name="connsiteY30" fmla="*/ 291858 h 364859"/>
                <a:gd name="connsiteX31" fmla="*/ 193439 w 265997"/>
                <a:gd name="connsiteY31" fmla="*/ 316241 h 364859"/>
                <a:gd name="connsiteX32" fmla="*/ 229644 w 265997"/>
                <a:gd name="connsiteY32" fmla="*/ 279740 h 364859"/>
                <a:gd name="connsiteX0" fmla="*/ 96646 w 265997"/>
                <a:gd name="connsiteY0" fmla="*/ 36501 h 364859"/>
                <a:gd name="connsiteX1" fmla="*/ 132851 w 265997"/>
                <a:gd name="connsiteY1" fmla="*/ 0 h 364859"/>
                <a:gd name="connsiteX2" fmla="*/ 169056 w 265997"/>
                <a:gd name="connsiteY2" fmla="*/ 36501 h 364859"/>
                <a:gd name="connsiteX3" fmla="*/ 169056 w 265997"/>
                <a:gd name="connsiteY3" fmla="*/ 48618 h 364859"/>
                <a:gd name="connsiteX4" fmla="*/ 217379 w 265997"/>
                <a:gd name="connsiteY4" fmla="*/ 48618 h 364859"/>
                <a:gd name="connsiteX5" fmla="*/ 217379 w 265997"/>
                <a:gd name="connsiteY5" fmla="*/ 97237 h 364859"/>
                <a:gd name="connsiteX6" fmla="*/ 48175 w 265997"/>
                <a:gd name="connsiteY6" fmla="*/ 97237 h 364859"/>
                <a:gd name="connsiteX7" fmla="*/ 48175 w 265997"/>
                <a:gd name="connsiteY7" fmla="*/ 48618 h 364859"/>
                <a:gd name="connsiteX8" fmla="*/ 96498 w 265997"/>
                <a:gd name="connsiteY8" fmla="*/ 48618 h 364859"/>
                <a:gd name="connsiteX9" fmla="*/ 96498 w 265997"/>
                <a:gd name="connsiteY9" fmla="*/ 36501 h 364859"/>
                <a:gd name="connsiteX10" fmla="*/ 96646 w 265997"/>
                <a:gd name="connsiteY10" fmla="*/ 36501 h 364859"/>
                <a:gd name="connsiteX11" fmla="*/ 96646 w 265997"/>
                <a:gd name="connsiteY11" fmla="*/ 36501 h 364859"/>
                <a:gd name="connsiteX12" fmla="*/ 48323 w 265997"/>
                <a:gd name="connsiteY12" fmla="*/ 48766 h 364859"/>
                <a:gd name="connsiteX13" fmla="*/ 0 w 265997"/>
                <a:gd name="connsiteY13" fmla="*/ 48766 h 364859"/>
                <a:gd name="connsiteX14" fmla="*/ 0 w 265997"/>
                <a:gd name="connsiteY14" fmla="*/ 364859 h 364859"/>
                <a:gd name="connsiteX15" fmla="*/ 265997 w 265997"/>
                <a:gd name="connsiteY15" fmla="*/ 364859 h 364859"/>
                <a:gd name="connsiteX16" fmla="*/ 265997 w 265997"/>
                <a:gd name="connsiteY16" fmla="*/ 48766 h 364859"/>
                <a:gd name="connsiteX17" fmla="*/ 217675 w 265997"/>
                <a:gd name="connsiteY17" fmla="*/ 48766 h 364859"/>
                <a:gd name="connsiteX18" fmla="*/ 48323 w 265997"/>
                <a:gd name="connsiteY18" fmla="*/ 170238 h 364859"/>
                <a:gd name="connsiteX19" fmla="*/ 145116 w 265997"/>
                <a:gd name="connsiteY19" fmla="*/ 170238 h 364859"/>
                <a:gd name="connsiteX20" fmla="*/ 144969 w 265997"/>
                <a:gd name="connsiteY20" fmla="*/ 243240 h 364859"/>
                <a:gd name="connsiteX21" fmla="*/ 48175 w 265997"/>
                <a:gd name="connsiteY21" fmla="*/ 243240 h 364859"/>
                <a:gd name="connsiteX22" fmla="*/ 144969 w 265997"/>
                <a:gd name="connsiteY22" fmla="*/ 316241 h 364859"/>
                <a:gd name="connsiteX23" fmla="*/ 48175 w 265997"/>
                <a:gd name="connsiteY23" fmla="*/ 316241 h 364859"/>
                <a:gd name="connsiteX24" fmla="*/ 169204 w 265997"/>
                <a:gd name="connsiteY24" fmla="*/ 146003 h 364859"/>
                <a:gd name="connsiteX25" fmla="*/ 193439 w 265997"/>
                <a:gd name="connsiteY25" fmla="*/ 170386 h 364859"/>
                <a:gd name="connsiteX26" fmla="*/ 229644 w 265997"/>
                <a:gd name="connsiteY26" fmla="*/ 133885 h 364859"/>
                <a:gd name="connsiteX27" fmla="*/ 169204 w 265997"/>
                <a:gd name="connsiteY27" fmla="*/ 219004 h 364859"/>
                <a:gd name="connsiteX28" fmla="*/ 193439 w 265997"/>
                <a:gd name="connsiteY28" fmla="*/ 243387 h 364859"/>
                <a:gd name="connsiteX29" fmla="*/ 229644 w 265997"/>
                <a:gd name="connsiteY29" fmla="*/ 206887 h 364859"/>
                <a:gd name="connsiteX30" fmla="*/ 169204 w 265997"/>
                <a:gd name="connsiteY30" fmla="*/ 291858 h 364859"/>
                <a:gd name="connsiteX31" fmla="*/ 193439 w 265997"/>
                <a:gd name="connsiteY31" fmla="*/ 316241 h 364859"/>
                <a:gd name="connsiteX32" fmla="*/ 229644 w 265997"/>
                <a:gd name="connsiteY32" fmla="*/ 279740 h 364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65997" h="364859">
                  <a:moveTo>
                    <a:pt x="96646" y="36501"/>
                  </a:moveTo>
                  <a:cubicBezTo>
                    <a:pt x="96646" y="16403"/>
                    <a:pt x="112901" y="0"/>
                    <a:pt x="132851" y="0"/>
                  </a:cubicBezTo>
                  <a:cubicBezTo>
                    <a:pt x="152801" y="0"/>
                    <a:pt x="169056" y="16403"/>
                    <a:pt x="169056" y="36501"/>
                  </a:cubicBezTo>
                  <a:lnTo>
                    <a:pt x="169056" y="48618"/>
                  </a:lnTo>
                  <a:lnTo>
                    <a:pt x="217379" y="48618"/>
                  </a:lnTo>
                  <a:lnTo>
                    <a:pt x="217379" y="97237"/>
                  </a:lnTo>
                  <a:lnTo>
                    <a:pt x="48175" y="97237"/>
                  </a:lnTo>
                  <a:lnTo>
                    <a:pt x="48175" y="48618"/>
                  </a:lnTo>
                  <a:lnTo>
                    <a:pt x="96498" y="48618"/>
                  </a:lnTo>
                  <a:lnTo>
                    <a:pt x="96498" y="36501"/>
                  </a:lnTo>
                  <a:lnTo>
                    <a:pt x="96646" y="36501"/>
                  </a:lnTo>
                  <a:lnTo>
                    <a:pt x="96646" y="36501"/>
                  </a:lnTo>
                  <a:close/>
                  <a:moveTo>
                    <a:pt x="48323" y="48766"/>
                  </a:moveTo>
                  <a:lnTo>
                    <a:pt x="0" y="48766"/>
                  </a:lnTo>
                  <a:lnTo>
                    <a:pt x="0" y="364859"/>
                  </a:lnTo>
                  <a:lnTo>
                    <a:pt x="265997" y="364859"/>
                  </a:lnTo>
                  <a:lnTo>
                    <a:pt x="265997" y="48766"/>
                  </a:lnTo>
                  <a:lnTo>
                    <a:pt x="217675" y="48766"/>
                  </a:lnTo>
                  <a:moveTo>
                    <a:pt x="48323" y="170238"/>
                  </a:moveTo>
                  <a:lnTo>
                    <a:pt x="145116" y="170238"/>
                  </a:lnTo>
                  <a:moveTo>
                    <a:pt x="144969" y="243240"/>
                  </a:moveTo>
                  <a:lnTo>
                    <a:pt x="48175" y="243240"/>
                  </a:lnTo>
                  <a:moveTo>
                    <a:pt x="144969" y="316241"/>
                  </a:moveTo>
                  <a:lnTo>
                    <a:pt x="48175" y="316241"/>
                  </a:lnTo>
                  <a:moveTo>
                    <a:pt x="169204" y="146003"/>
                  </a:moveTo>
                  <a:lnTo>
                    <a:pt x="193439" y="170386"/>
                  </a:lnTo>
                  <a:lnTo>
                    <a:pt x="229644" y="133885"/>
                  </a:lnTo>
                  <a:moveTo>
                    <a:pt x="169204" y="219004"/>
                  </a:moveTo>
                  <a:lnTo>
                    <a:pt x="193439" y="243387"/>
                  </a:lnTo>
                  <a:lnTo>
                    <a:pt x="229644" y="206887"/>
                  </a:lnTo>
                  <a:moveTo>
                    <a:pt x="169204" y="291858"/>
                  </a:moveTo>
                  <a:lnTo>
                    <a:pt x="193439" y="316241"/>
                  </a:lnTo>
                  <a:lnTo>
                    <a:pt x="229644" y="279740"/>
                  </a:lnTo>
                </a:path>
              </a:pathLst>
            </a:custGeom>
            <a:noFill/>
            <a:ln w="19050" cap="sq">
              <a:solidFill>
                <a:schemeClr val="bg1"/>
              </a:solidFill>
              <a:prstDash val="solid"/>
              <a:miter lim="800000"/>
              <a:headEnd/>
              <a:tailEnd/>
            </a:ln>
          </p:spPr>
          <p:txBody>
            <a:bodyPr vert="horz" wrap="square" lIns="91414" tIns="45706" rIns="91414" bIns="45706" numCol="1" anchor="t" anchorCtr="0" compatLnSpc="1">
              <a:prstTxWarp prst="textNoShape">
                <a:avLst/>
              </a:prstTxWarp>
            </a:bodyPr>
            <a:lstStyle/>
            <a:p>
              <a:pPr defTabSz="932418"/>
              <a:endParaRPr lang="en-US" sz="900" dirty="0">
                <a:gradFill>
                  <a:gsLst>
                    <a:gs pos="0">
                      <a:srgbClr val="505050"/>
                    </a:gs>
                    <a:gs pos="100000">
                      <a:srgbClr val="505050"/>
                    </a:gs>
                  </a:gsLst>
                </a:gradFill>
                <a:latin typeface="Segoe UI"/>
              </a:endParaRPr>
            </a:p>
          </p:txBody>
        </p:sp>
      </p:grpSp>
      <p:sp>
        <p:nvSpPr>
          <p:cNvPr id="13" name="Shield_EA18">
            <a:extLst>
              <a:ext uri="{FF2B5EF4-FFF2-40B4-BE49-F238E27FC236}">
                <a16:creationId xmlns:a16="http://schemas.microsoft.com/office/drawing/2014/main" id="{C835EE74-EBA7-4F4F-A58D-DBD40B4AB07F}"/>
              </a:ext>
              <a:ext uri="{C183D7F6-B498-43B3-948B-1728B52AA6E4}">
                <adec:decorative xmlns:adec="http://schemas.microsoft.com/office/drawing/2017/decorative" val="1"/>
              </a:ext>
            </a:extLst>
          </p:cNvPr>
          <p:cNvSpPr>
            <a:spLocks noChangeAspect="1"/>
          </p:cNvSpPr>
          <p:nvPr/>
        </p:nvSpPr>
        <p:spPr bwMode="auto">
          <a:xfrm flipH="1">
            <a:off x="10381573" y="1866329"/>
            <a:ext cx="499035" cy="531305"/>
          </a:xfrm>
          <a:custGeom>
            <a:avLst/>
            <a:gdLst>
              <a:gd name="T0" fmla="*/ 3500 w 3500"/>
              <a:gd name="T1" fmla="*/ 1375 h 3725"/>
              <a:gd name="T2" fmla="*/ 1750 w 3500"/>
              <a:gd name="T3" fmla="*/ 3725 h 3725"/>
              <a:gd name="T4" fmla="*/ 0 w 3500"/>
              <a:gd name="T5" fmla="*/ 1375 h 3725"/>
              <a:gd name="T6" fmla="*/ 0 w 3500"/>
              <a:gd name="T7" fmla="*/ 500 h 3725"/>
              <a:gd name="T8" fmla="*/ 1125 w 3500"/>
              <a:gd name="T9" fmla="*/ 187 h 3725"/>
              <a:gd name="T10" fmla="*/ 1750 w 3500"/>
              <a:gd name="T11" fmla="*/ 0 h 3725"/>
              <a:gd name="T12" fmla="*/ 2375 w 3500"/>
              <a:gd name="T13" fmla="*/ 187 h 3725"/>
              <a:gd name="T14" fmla="*/ 3500 w 3500"/>
              <a:gd name="T15" fmla="*/ 500 h 3725"/>
              <a:gd name="T16" fmla="*/ 3500 w 3500"/>
              <a:gd name="T17" fmla="*/ 1375 h 3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0" h="3725">
                <a:moveTo>
                  <a:pt x="3500" y="1375"/>
                </a:moveTo>
                <a:cubicBezTo>
                  <a:pt x="3500" y="2302"/>
                  <a:pt x="2831" y="3117"/>
                  <a:pt x="1750" y="3725"/>
                </a:cubicBezTo>
                <a:cubicBezTo>
                  <a:pt x="669" y="3117"/>
                  <a:pt x="0" y="2302"/>
                  <a:pt x="0" y="1375"/>
                </a:cubicBezTo>
                <a:cubicBezTo>
                  <a:pt x="0" y="500"/>
                  <a:pt x="0" y="500"/>
                  <a:pt x="0" y="500"/>
                </a:cubicBezTo>
                <a:cubicBezTo>
                  <a:pt x="440" y="500"/>
                  <a:pt x="837" y="380"/>
                  <a:pt x="1125" y="187"/>
                </a:cubicBezTo>
                <a:cubicBezTo>
                  <a:pt x="1285" y="71"/>
                  <a:pt x="1506" y="0"/>
                  <a:pt x="1750" y="0"/>
                </a:cubicBezTo>
                <a:cubicBezTo>
                  <a:pt x="1994" y="0"/>
                  <a:pt x="2215" y="71"/>
                  <a:pt x="2375" y="187"/>
                </a:cubicBezTo>
                <a:cubicBezTo>
                  <a:pt x="2663" y="380"/>
                  <a:pt x="3060" y="500"/>
                  <a:pt x="3500" y="500"/>
                </a:cubicBezTo>
                <a:lnTo>
                  <a:pt x="3500" y="1375"/>
                </a:lnTo>
                <a:close/>
              </a:path>
            </a:pathLst>
          </a:custGeom>
          <a:noFill/>
          <a:ln w="22225" cap="sq">
            <a:solidFill>
              <a:schemeClr val="bg1"/>
            </a:solidFill>
            <a:prstDash val="solid"/>
            <a:miter lim="800000"/>
            <a:headEnd/>
            <a:tailEnd/>
          </a:ln>
        </p:spPr>
        <p:txBody>
          <a:bodyPr vert="horz" wrap="square" lIns="91401" tIns="45700" rIns="91401" bIns="45700" numCol="1" anchor="t" anchorCtr="0" compatLnSpc="1">
            <a:prstTxWarp prst="textNoShape">
              <a:avLst/>
            </a:prstTxWarp>
          </a:bodyPr>
          <a:lstStyle/>
          <a:p>
            <a:pPr defTabSz="932239">
              <a:defRPr/>
            </a:pPr>
            <a:endParaRPr lang="en-US" sz="1762">
              <a:gradFill>
                <a:gsLst>
                  <a:gs pos="0">
                    <a:srgbClr val="505050"/>
                  </a:gs>
                  <a:gs pos="100000">
                    <a:srgbClr val="505050"/>
                  </a:gs>
                </a:gsLst>
              </a:gradFill>
              <a:latin typeface="Segoe UI"/>
            </a:endParaRPr>
          </a:p>
        </p:txBody>
      </p:sp>
      <p:sp>
        <p:nvSpPr>
          <p:cNvPr id="15" name="arrow_16">
            <a:extLst>
              <a:ext uri="{FF2B5EF4-FFF2-40B4-BE49-F238E27FC236}">
                <a16:creationId xmlns:a16="http://schemas.microsoft.com/office/drawing/2014/main" id="{D892B3E6-15B3-40A1-9AF3-7CF9BDDE365E}"/>
              </a:ext>
              <a:ext uri="{C183D7F6-B498-43B3-948B-1728B52AA6E4}">
                <adec:decorative xmlns:adec="http://schemas.microsoft.com/office/drawing/2017/decorative" val="1"/>
              </a:ext>
            </a:extLst>
          </p:cNvPr>
          <p:cNvSpPr>
            <a:spLocks noChangeAspect="1" noEditPoints="1"/>
          </p:cNvSpPr>
          <p:nvPr/>
        </p:nvSpPr>
        <p:spPr bwMode="auto">
          <a:xfrm>
            <a:off x="1696193" y="2057968"/>
            <a:ext cx="496036" cy="365604"/>
          </a:xfrm>
          <a:custGeom>
            <a:avLst/>
            <a:gdLst>
              <a:gd name="T0" fmla="*/ 347 w 347"/>
              <a:gd name="T1" fmla="*/ 206 h 254"/>
              <a:gd name="T2" fmla="*/ 182 w 347"/>
              <a:gd name="T3" fmla="*/ 151 h 254"/>
              <a:gd name="T4" fmla="*/ 135 w 347"/>
              <a:gd name="T5" fmla="*/ 101 h 254"/>
              <a:gd name="T6" fmla="*/ 0 w 347"/>
              <a:gd name="T7" fmla="*/ 47 h 254"/>
              <a:gd name="T8" fmla="*/ 347 w 347"/>
              <a:gd name="T9" fmla="*/ 48 h 254"/>
              <a:gd name="T10" fmla="*/ 158 w 347"/>
              <a:gd name="T11" fmla="*/ 130 h 254"/>
              <a:gd name="T12" fmla="*/ 0 w 347"/>
              <a:gd name="T13" fmla="*/ 207 h 254"/>
              <a:gd name="T14" fmla="*/ 299 w 347"/>
              <a:gd name="T15" fmla="*/ 95 h 254"/>
              <a:gd name="T16" fmla="*/ 347 w 347"/>
              <a:gd name="T17" fmla="*/ 48 h 254"/>
              <a:gd name="T18" fmla="*/ 299 w 347"/>
              <a:gd name="T19" fmla="*/ 0 h 254"/>
              <a:gd name="T20" fmla="*/ 299 w 347"/>
              <a:gd name="T21" fmla="*/ 254 h 254"/>
              <a:gd name="T22" fmla="*/ 347 w 347"/>
              <a:gd name="T23" fmla="*/ 206 h 254"/>
              <a:gd name="T24" fmla="*/ 299 w 347"/>
              <a:gd name="T25" fmla="*/ 158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7" h="254">
                <a:moveTo>
                  <a:pt x="347" y="206"/>
                </a:moveTo>
                <a:cubicBezTo>
                  <a:pt x="258" y="212"/>
                  <a:pt x="213" y="183"/>
                  <a:pt x="182" y="151"/>
                </a:cubicBezTo>
                <a:moveTo>
                  <a:pt x="135" y="101"/>
                </a:moveTo>
                <a:cubicBezTo>
                  <a:pt x="74" y="47"/>
                  <a:pt x="0" y="47"/>
                  <a:pt x="0" y="47"/>
                </a:cubicBezTo>
                <a:moveTo>
                  <a:pt x="347" y="48"/>
                </a:moveTo>
                <a:cubicBezTo>
                  <a:pt x="232" y="41"/>
                  <a:pt x="190" y="91"/>
                  <a:pt x="158" y="130"/>
                </a:cubicBezTo>
                <a:cubicBezTo>
                  <a:pt x="94" y="207"/>
                  <a:pt x="0" y="207"/>
                  <a:pt x="0" y="207"/>
                </a:cubicBezTo>
                <a:moveTo>
                  <a:pt x="299" y="95"/>
                </a:moveTo>
                <a:cubicBezTo>
                  <a:pt x="347" y="48"/>
                  <a:pt x="347" y="48"/>
                  <a:pt x="347" y="48"/>
                </a:cubicBezTo>
                <a:cubicBezTo>
                  <a:pt x="299" y="0"/>
                  <a:pt x="299" y="0"/>
                  <a:pt x="299" y="0"/>
                </a:cubicBezTo>
                <a:moveTo>
                  <a:pt x="299" y="254"/>
                </a:moveTo>
                <a:cubicBezTo>
                  <a:pt x="347" y="206"/>
                  <a:pt x="347" y="206"/>
                  <a:pt x="347" y="206"/>
                </a:cubicBezTo>
                <a:cubicBezTo>
                  <a:pt x="299" y="158"/>
                  <a:pt x="299" y="158"/>
                  <a:pt x="299" y="158"/>
                </a:cubicBezTo>
              </a:path>
            </a:pathLst>
          </a:custGeom>
          <a:noFill/>
          <a:ln w="19050" cap="sq">
            <a:solidFill>
              <a:schemeClr val="tx1"/>
            </a:solidFill>
            <a:prstDash val="solid"/>
            <a:miter lim="800000"/>
            <a:headEnd/>
            <a:tailEnd/>
          </a:ln>
        </p:spPr>
        <p:txBody>
          <a:bodyPr vert="horz" wrap="square" lIns="91401" tIns="45700" rIns="91401" bIns="45700" numCol="1" anchor="t" anchorCtr="0" compatLnSpc="1">
            <a:prstTxWarp prst="textNoShape">
              <a:avLst/>
            </a:prstTxWarp>
          </a:bodyPr>
          <a:lstStyle/>
          <a:p>
            <a:pPr defTabSz="932205">
              <a:defRPr/>
            </a:pPr>
            <a:endParaRPr lang="en-US" sz="900" kern="0">
              <a:gradFill>
                <a:gsLst>
                  <a:gs pos="0">
                    <a:srgbClr val="505050"/>
                  </a:gs>
                  <a:gs pos="100000">
                    <a:srgbClr val="505050"/>
                  </a:gs>
                </a:gsLst>
                <a:lin ang="5400000" scaled="1"/>
              </a:gradFill>
              <a:latin typeface="Segoe UI"/>
            </a:endParaRPr>
          </a:p>
        </p:txBody>
      </p:sp>
      <p:grpSp>
        <p:nvGrpSpPr>
          <p:cNvPr id="21" name="Group 20">
            <a:extLst>
              <a:ext uri="{FF2B5EF4-FFF2-40B4-BE49-F238E27FC236}">
                <a16:creationId xmlns:a16="http://schemas.microsoft.com/office/drawing/2014/main" id="{2B49B0C0-1B4A-415F-B15E-3B81AEF73E14}"/>
              </a:ext>
              <a:ext uri="{C183D7F6-B498-43B3-948B-1728B52AA6E4}">
                <adec:decorative xmlns:adec="http://schemas.microsoft.com/office/drawing/2017/decorative" val="1"/>
              </a:ext>
            </a:extLst>
          </p:cNvPr>
          <p:cNvGrpSpPr/>
          <p:nvPr/>
        </p:nvGrpSpPr>
        <p:grpSpPr>
          <a:xfrm>
            <a:off x="4485100" y="1993098"/>
            <a:ext cx="709475" cy="388301"/>
            <a:chOff x="7129569" y="651209"/>
            <a:chExt cx="713145" cy="390309"/>
          </a:xfrm>
          <a:solidFill>
            <a:schemeClr val="accent1"/>
          </a:solidFill>
        </p:grpSpPr>
        <p:sp>
          <p:nvSpPr>
            <p:cNvPr id="19" name="cloud">
              <a:extLst>
                <a:ext uri="{FF2B5EF4-FFF2-40B4-BE49-F238E27FC236}">
                  <a16:creationId xmlns:a16="http://schemas.microsoft.com/office/drawing/2014/main" id="{6647CF7C-F795-4C32-B87E-795517929CBF}"/>
                </a:ext>
              </a:extLst>
            </p:cNvPr>
            <p:cNvSpPr>
              <a:spLocks noChangeAspect="1"/>
            </p:cNvSpPr>
            <p:nvPr/>
          </p:nvSpPr>
          <p:spPr bwMode="auto">
            <a:xfrm>
              <a:off x="7129569" y="651209"/>
              <a:ext cx="493034" cy="314110"/>
            </a:xfrm>
            <a:custGeom>
              <a:avLst/>
              <a:gdLst>
                <a:gd name="T0" fmla="*/ 281 w 344"/>
                <a:gd name="T1" fmla="*/ 216 h 217"/>
                <a:gd name="T2" fmla="*/ 281 w 344"/>
                <a:gd name="T3" fmla="*/ 217 h 217"/>
                <a:gd name="T4" fmla="*/ 88 w 344"/>
                <a:gd name="T5" fmla="*/ 217 h 217"/>
                <a:gd name="T6" fmla="*/ 88 w 344"/>
                <a:gd name="T7" fmla="*/ 217 h 217"/>
                <a:gd name="T8" fmla="*/ 86 w 344"/>
                <a:gd name="T9" fmla="*/ 217 h 217"/>
                <a:gd name="T10" fmla="*/ 0 w 344"/>
                <a:gd name="T11" fmla="*/ 130 h 217"/>
                <a:gd name="T12" fmla="*/ 86 w 344"/>
                <a:gd name="T13" fmla="*/ 44 h 217"/>
                <a:gd name="T14" fmla="*/ 104 w 344"/>
                <a:gd name="T15" fmla="*/ 45 h 217"/>
                <a:gd name="T16" fmla="*/ 184 w 344"/>
                <a:gd name="T17" fmla="*/ 0 h 217"/>
                <a:gd name="T18" fmla="*/ 278 w 344"/>
                <a:gd name="T19" fmla="*/ 85 h 217"/>
                <a:gd name="T20" fmla="*/ 278 w 344"/>
                <a:gd name="T21" fmla="*/ 85 h 217"/>
                <a:gd name="T22" fmla="*/ 344 w 344"/>
                <a:gd name="T23" fmla="*/ 151 h 217"/>
                <a:gd name="T24" fmla="*/ 281 w 344"/>
                <a:gd name="T25" fmla="*/ 21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4" h="217">
                  <a:moveTo>
                    <a:pt x="281" y="216"/>
                  </a:moveTo>
                  <a:cubicBezTo>
                    <a:pt x="281" y="217"/>
                    <a:pt x="281" y="217"/>
                    <a:pt x="281" y="217"/>
                  </a:cubicBezTo>
                  <a:cubicBezTo>
                    <a:pt x="88" y="217"/>
                    <a:pt x="88" y="217"/>
                    <a:pt x="88" y="217"/>
                  </a:cubicBezTo>
                  <a:cubicBezTo>
                    <a:pt x="88" y="217"/>
                    <a:pt x="88" y="217"/>
                    <a:pt x="88" y="217"/>
                  </a:cubicBezTo>
                  <a:cubicBezTo>
                    <a:pt x="87" y="217"/>
                    <a:pt x="87" y="217"/>
                    <a:pt x="86" y="217"/>
                  </a:cubicBezTo>
                  <a:cubicBezTo>
                    <a:pt x="39" y="217"/>
                    <a:pt x="0" y="178"/>
                    <a:pt x="0" y="130"/>
                  </a:cubicBezTo>
                  <a:cubicBezTo>
                    <a:pt x="0" y="82"/>
                    <a:pt x="39" y="44"/>
                    <a:pt x="86" y="44"/>
                  </a:cubicBezTo>
                  <a:cubicBezTo>
                    <a:pt x="92" y="44"/>
                    <a:pt x="98" y="44"/>
                    <a:pt x="104" y="45"/>
                  </a:cubicBezTo>
                  <a:cubicBezTo>
                    <a:pt x="121" y="18"/>
                    <a:pt x="150" y="0"/>
                    <a:pt x="184" y="0"/>
                  </a:cubicBezTo>
                  <a:cubicBezTo>
                    <a:pt x="233" y="0"/>
                    <a:pt x="273" y="37"/>
                    <a:pt x="278" y="85"/>
                  </a:cubicBezTo>
                  <a:cubicBezTo>
                    <a:pt x="278" y="85"/>
                    <a:pt x="278" y="85"/>
                    <a:pt x="278" y="85"/>
                  </a:cubicBezTo>
                  <a:cubicBezTo>
                    <a:pt x="315" y="85"/>
                    <a:pt x="344" y="114"/>
                    <a:pt x="344" y="151"/>
                  </a:cubicBezTo>
                  <a:cubicBezTo>
                    <a:pt x="344" y="186"/>
                    <a:pt x="316" y="215"/>
                    <a:pt x="281" y="216"/>
                  </a:cubicBezTo>
                  <a:close/>
                </a:path>
              </a:pathLst>
            </a:custGeom>
            <a:solidFill>
              <a:schemeClr val="accent3"/>
            </a:solidFill>
            <a:ln w="19050" cap="sq">
              <a:solidFill>
                <a:schemeClr val="bg1"/>
              </a:solidFill>
              <a:prstDash val="solid"/>
              <a:miter lim="800000"/>
              <a:headEnd/>
              <a:tailEnd/>
            </a:ln>
          </p:spPr>
          <p:txBody>
            <a:bodyPr vert="horz" wrap="square" lIns="91414" tIns="45706" rIns="91414" bIns="45706" numCol="1" anchor="t" anchorCtr="0" compatLnSpc="1">
              <a:prstTxWarp prst="textNoShape">
                <a:avLst/>
              </a:prstTxWarp>
            </a:bodyPr>
            <a:lstStyle/>
            <a:p>
              <a:pPr defTabSz="932418"/>
              <a:endParaRPr lang="en-US" sz="900">
                <a:gradFill>
                  <a:gsLst>
                    <a:gs pos="0">
                      <a:srgbClr val="505050"/>
                    </a:gs>
                    <a:gs pos="100000">
                      <a:srgbClr val="505050"/>
                    </a:gs>
                  </a:gsLst>
                </a:gradFill>
                <a:latin typeface="Segoe UI"/>
              </a:endParaRPr>
            </a:p>
          </p:txBody>
        </p:sp>
        <p:sp>
          <p:nvSpPr>
            <p:cNvPr id="20" name="cloud">
              <a:extLst>
                <a:ext uri="{FF2B5EF4-FFF2-40B4-BE49-F238E27FC236}">
                  <a16:creationId xmlns:a16="http://schemas.microsoft.com/office/drawing/2014/main" id="{FCC1C8EB-9B97-4D3C-A4BE-7B74AAB566C4}"/>
                </a:ext>
              </a:extLst>
            </p:cNvPr>
            <p:cNvSpPr>
              <a:spLocks noChangeAspect="1"/>
            </p:cNvSpPr>
            <p:nvPr/>
          </p:nvSpPr>
          <p:spPr bwMode="auto">
            <a:xfrm>
              <a:off x="7349680" y="727407"/>
              <a:ext cx="493034" cy="314111"/>
            </a:xfrm>
            <a:custGeom>
              <a:avLst/>
              <a:gdLst>
                <a:gd name="T0" fmla="*/ 281 w 344"/>
                <a:gd name="T1" fmla="*/ 216 h 217"/>
                <a:gd name="T2" fmla="*/ 281 w 344"/>
                <a:gd name="T3" fmla="*/ 217 h 217"/>
                <a:gd name="T4" fmla="*/ 88 w 344"/>
                <a:gd name="T5" fmla="*/ 217 h 217"/>
                <a:gd name="T6" fmla="*/ 88 w 344"/>
                <a:gd name="T7" fmla="*/ 217 h 217"/>
                <a:gd name="T8" fmla="*/ 86 w 344"/>
                <a:gd name="T9" fmla="*/ 217 h 217"/>
                <a:gd name="T10" fmla="*/ 0 w 344"/>
                <a:gd name="T11" fmla="*/ 130 h 217"/>
                <a:gd name="T12" fmla="*/ 86 w 344"/>
                <a:gd name="T13" fmla="*/ 44 h 217"/>
                <a:gd name="T14" fmla="*/ 104 w 344"/>
                <a:gd name="T15" fmla="*/ 45 h 217"/>
                <a:gd name="T16" fmla="*/ 184 w 344"/>
                <a:gd name="T17" fmla="*/ 0 h 217"/>
                <a:gd name="T18" fmla="*/ 278 w 344"/>
                <a:gd name="T19" fmla="*/ 85 h 217"/>
                <a:gd name="T20" fmla="*/ 278 w 344"/>
                <a:gd name="T21" fmla="*/ 85 h 217"/>
                <a:gd name="T22" fmla="*/ 344 w 344"/>
                <a:gd name="T23" fmla="*/ 151 h 217"/>
                <a:gd name="T24" fmla="*/ 281 w 344"/>
                <a:gd name="T25" fmla="*/ 21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4" h="217">
                  <a:moveTo>
                    <a:pt x="281" y="216"/>
                  </a:moveTo>
                  <a:cubicBezTo>
                    <a:pt x="281" y="217"/>
                    <a:pt x="281" y="217"/>
                    <a:pt x="281" y="217"/>
                  </a:cubicBezTo>
                  <a:cubicBezTo>
                    <a:pt x="88" y="217"/>
                    <a:pt x="88" y="217"/>
                    <a:pt x="88" y="217"/>
                  </a:cubicBezTo>
                  <a:cubicBezTo>
                    <a:pt x="88" y="217"/>
                    <a:pt x="88" y="217"/>
                    <a:pt x="88" y="217"/>
                  </a:cubicBezTo>
                  <a:cubicBezTo>
                    <a:pt x="87" y="217"/>
                    <a:pt x="87" y="217"/>
                    <a:pt x="86" y="217"/>
                  </a:cubicBezTo>
                  <a:cubicBezTo>
                    <a:pt x="39" y="217"/>
                    <a:pt x="0" y="178"/>
                    <a:pt x="0" y="130"/>
                  </a:cubicBezTo>
                  <a:cubicBezTo>
                    <a:pt x="0" y="82"/>
                    <a:pt x="39" y="44"/>
                    <a:pt x="86" y="44"/>
                  </a:cubicBezTo>
                  <a:cubicBezTo>
                    <a:pt x="92" y="44"/>
                    <a:pt x="98" y="44"/>
                    <a:pt x="104" y="45"/>
                  </a:cubicBezTo>
                  <a:cubicBezTo>
                    <a:pt x="121" y="18"/>
                    <a:pt x="150" y="0"/>
                    <a:pt x="184" y="0"/>
                  </a:cubicBezTo>
                  <a:cubicBezTo>
                    <a:pt x="233" y="0"/>
                    <a:pt x="273" y="37"/>
                    <a:pt x="278" y="85"/>
                  </a:cubicBezTo>
                  <a:cubicBezTo>
                    <a:pt x="278" y="85"/>
                    <a:pt x="278" y="85"/>
                    <a:pt x="278" y="85"/>
                  </a:cubicBezTo>
                  <a:cubicBezTo>
                    <a:pt x="315" y="85"/>
                    <a:pt x="344" y="114"/>
                    <a:pt x="344" y="151"/>
                  </a:cubicBezTo>
                  <a:cubicBezTo>
                    <a:pt x="344" y="186"/>
                    <a:pt x="316" y="215"/>
                    <a:pt x="281" y="216"/>
                  </a:cubicBezTo>
                  <a:close/>
                </a:path>
              </a:pathLst>
            </a:custGeom>
            <a:solidFill>
              <a:schemeClr val="accent3"/>
            </a:solidFill>
            <a:ln w="19050" cap="sq">
              <a:solidFill>
                <a:schemeClr val="bg1"/>
              </a:solidFill>
              <a:prstDash val="solid"/>
              <a:miter lim="800000"/>
              <a:headEnd/>
              <a:tailEnd/>
            </a:ln>
          </p:spPr>
          <p:txBody>
            <a:bodyPr vert="horz" wrap="square" lIns="91414" tIns="45706" rIns="91414" bIns="45706" numCol="1" anchor="t" anchorCtr="0" compatLnSpc="1">
              <a:prstTxWarp prst="textNoShape">
                <a:avLst/>
              </a:prstTxWarp>
            </a:bodyPr>
            <a:lstStyle/>
            <a:p>
              <a:pPr defTabSz="932418"/>
              <a:endParaRPr lang="en-US" sz="900">
                <a:gradFill>
                  <a:gsLst>
                    <a:gs pos="0">
                      <a:srgbClr val="505050"/>
                    </a:gs>
                    <a:gs pos="100000">
                      <a:srgbClr val="505050"/>
                    </a:gs>
                  </a:gsLst>
                </a:gradFill>
                <a:latin typeface="Segoe UI"/>
              </a:endParaRPr>
            </a:p>
          </p:txBody>
        </p:sp>
      </p:grpSp>
    </p:spTree>
    <p:extLst>
      <p:ext uri="{BB962C8B-B14F-4D97-AF65-F5344CB8AC3E}">
        <p14:creationId xmlns:p14="http://schemas.microsoft.com/office/powerpoint/2010/main" val="338485316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E59FA-F231-4201-90A3-07DE2BBFF63C}"/>
              </a:ext>
            </a:extLst>
          </p:cNvPr>
          <p:cNvSpPr>
            <a:spLocks noGrp="1"/>
          </p:cNvSpPr>
          <p:nvPr>
            <p:ph type="title"/>
          </p:nvPr>
        </p:nvSpPr>
        <p:spPr>
          <a:xfrm>
            <a:off x="551419" y="474680"/>
            <a:ext cx="11239464" cy="502246"/>
          </a:xfrm>
        </p:spPr>
        <p:txBody>
          <a:bodyPr/>
          <a:lstStyle/>
          <a:p>
            <a:r>
              <a:rPr lang="en-US" sz="3600" dirty="0"/>
              <a:t>Make Microsoft Defender for Cloud work for you</a:t>
            </a:r>
          </a:p>
        </p:txBody>
      </p:sp>
      <p:grpSp>
        <p:nvGrpSpPr>
          <p:cNvPr id="52" name="Group 51" descr="Chief Information Security Officer icon">
            <a:extLst>
              <a:ext uri="{FF2B5EF4-FFF2-40B4-BE49-F238E27FC236}">
                <a16:creationId xmlns:a16="http://schemas.microsoft.com/office/drawing/2014/main" id="{BB0DBF23-449A-4CAE-9880-AE02C7AC3967}"/>
              </a:ext>
            </a:extLst>
          </p:cNvPr>
          <p:cNvGrpSpPr/>
          <p:nvPr/>
        </p:nvGrpSpPr>
        <p:grpSpPr>
          <a:xfrm>
            <a:off x="590173" y="1678814"/>
            <a:ext cx="745960" cy="745960"/>
            <a:chOff x="760849" y="1754767"/>
            <a:chExt cx="746066" cy="746066"/>
          </a:xfrm>
          <a:solidFill>
            <a:schemeClr val="accent2"/>
          </a:solidFill>
        </p:grpSpPr>
        <p:sp>
          <p:nvSpPr>
            <p:cNvPr id="34" name="Oval 33">
              <a:extLst>
                <a:ext uri="{FF2B5EF4-FFF2-40B4-BE49-F238E27FC236}">
                  <a16:creationId xmlns:a16="http://schemas.microsoft.com/office/drawing/2014/main" id="{09245FED-17B4-44F0-BED3-D05EA7037CF5}"/>
                </a:ext>
              </a:extLst>
            </p:cNvPr>
            <p:cNvSpPr/>
            <p:nvPr/>
          </p:nvSpPr>
          <p:spPr bwMode="auto">
            <a:xfrm>
              <a:off x="760849" y="1754767"/>
              <a:ext cx="746066" cy="746066"/>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defTabSz="932293" fontAlgn="base">
                <a:spcBef>
                  <a:spcPct val="0"/>
                </a:spcBef>
                <a:spcAft>
                  <a:spcPct val="0"/>
                </a:spcAft>
              </a:pPr>
              <a:endParaRPr lang="en-US" sz="2000" err="1">
                <a:solidFill>
                  <a:srgbClr val="FFFFFF"/>
                </a:solidFill>
                <a:latin typeface="Segoe UI"/>
                <a:ea typeface="Segoe UI" pitchFamily="34" charset="0"/>
                <a:cs typeface="Segoe UI" pitchFamily="34" charset="0"/>
              </a:endParaRPr>
            </a:p>
          </p:txBody>
        </p:sp>
        <p:sp>
          <p:nvSpPr>
            <p:cNvPr id="26" name="Financial_E7BB">
              <a:extLst>
                <a:ext uri="{FF2B5EF4-FFF2-40B4-BE49-F238E27FC236}">
                  <a16:creationId xmlns:a16="http://schemas.microsoft.com/office/drawing/2014/main" id="{ABFE5AF6-54FC-4479-A767-DEC55144F539}"/>
                </a:ext>
              </a:extLst>
            </p:cNvPr>
            <p:cNvSpPr>
              <a:spLocks noChangeAspect="1" noEditPoints="1"/>
            </p:cNvSpPr>
            <p:nvPr/>
          </p:nvSpPr>
          <p:spPr bwMode="auto">
            <a:xfrm>
              <a:off x="940233" y="1955059"/>
              <a:ext cx="387298" cy="345483"/>
            </a:xfrm>
            <a:custGeom>
              <a:avLst/>
              <a:gdLst>
                <a:gd name="T0" fmla="*/ 47 w 4770"/>
                <a:gd name="T1" fmla="*/ 4255 h 4255"/>
                <a:gd name="T2" fmla="*/ 47 w 4770"/>
                <a:gd name="T3" fmla="*/ 3626 h 4255"/>
                <a:gd name="T4" fmla="*/ 676 w 4770"/>
                <a:gd name="T5" fmla="*/ 4255 h 4255"/>
                <a:gd name="T6" fmla="*/ 676 w 4770"/>
                <a:gd name="T7" fmla="*/ 2996 h 4255"/>
                <a:gd name="T8" fmla="*/ 1306 w 4770"/>
                <a:gd name="T9" fmla="*/ 4255 h 4255"/>
                <a:gd name="T10" fmla="*/ 1306 w 4770"/>
                <a:gd name="T11" fmla="*/ 2366 h 4255"/>
                <a:gd name="T12" fmla="*/ 1935 w 4770"/>
                <a:gd name="T13" fmla="*/ 4255 h 4255"/>
                <a:gd name="T14" fmla="*/ 1935 w 4770"/>
                <a:gd name="T15" fmla="*/ 1736 h 4255"/>
                <a:gd name="T16" fmla="*/ 2564 w 4770"/>
                <a:gd name="T17" fmla="*/ 4255 h 4255"/>
                <a:gd name="T18" fmla="*/ 2564 w 4770"/>
                <a:gd name="T19" fmla="*/ 1736 h 4255"/>
                <a:gd name="T20" fmla="*/ 3194 w 4770"/>
                <a:gd name="T21" fmla="*/ 4255 h 4255"/>
                <a:gd name="T22" fmla="*/ 3194 w 4770"/>
                <a:gd name="T23" fmla="*/ 2361 h 4255"/>
                <a:gd name="T24" fmla="*/ 3823 w 4770"/>
                <a:gd name="T25" fmla="*/ 4255 h 4255"/>
                <a:gd name="T26" fmla="*/ 3823 w 4770"/>
                <a:gd name="T27" fmla="*/ 1736 h 4255"/>
                <a:gd name="T28" fmla="*/ 4453 w 4770"/>
                <a:gd name="T29" fmla="*/ 4255 h 4255"/>
                <a:gd name="T30" fmla="*/ 4453 w 4770"/>
                <a:gd name="T31" fmla="*/ 1424 h 4255"/>
                <a:gd name="T32" fmla="*/ 4760 w 4770"/>
                <a:gd name="T33" fmla="*/ 5 h 4255"/>
                <a:gd name="T34" fmla="*/ 3191 w 4770"/>
                <a:gd name="T35" fmla="*/ 1575 h 4255"/>
                <a:gd name="T36" fmla="*/ 2247 w 4770"/>
                <a:gd name="T37" fmla="*/ 630 h 4255"/>
                <a:gd name="T38" fmla="*/ 0 w 4770"/>
                <a:gd name="T39" fmla="*/ 2879 h 4255"/>
                <a:gd name="T40" fmla="*/ 4770 w 4770"/>
                <a:gd name="T41" fmla="*/ 948 h 4255"/>
                <a:gd name="T42" fmla="*/ 4770 w 4770"/>
                <a:gd name="T43" fmla="*/ 0 h 4255"/>
                <a:gd name="T44" fmla="*/ 3818 w 4770"/>
                <a:gd name="T45" fmla="*/ 0 h 4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770" h="4255">
                  <a:moveTo>
                    <a:pt x="47" y="4255"/>
                  </a:moveTo>
                  <a:lnTo>
                    <a:pt x="47" y="3626"/>
                  </a:lnTo>
                  <a:moveTo>
                    <a:pt x="676" y="4255"/>
                  </a:moveTo>
                  <a:lnTo>
                    <a:pt x="676" y="2996"/>
                  </a:lnTo>
                  <a:moveTo>
                    <a:pt x="1306" y="4255"/>
                  </a:moveTo>
                  <a:lnTo>
                    <a:pt x="1306" y="2366"/>
                  </a:lnTo>
                  <a:moveTo>
                    <a:pt x="1935" y="4255"/>
                  </a:moveTo>
                  <a:lnTo>
                    <a:pt x="1935" y="1736"/>
                  </a:lnTo>
                  <a:moveTo>
                    <a:pt x="2564" y="4255"/>
                  </a:moveTo>
                  <a:lnTo>
                    <a:pt x="2564" y="1736"/>
                  </a:lnTo>
                  <a:moveTo>
                    <a:pt x="3194" y="4255"/>
                  </a:moveTo>
                  <a:lnTo>
                    <a:pt x="3194" y="2361"/>
                  </a:lnTo>
                  <a:moveTo>
                    <a:pt x="3823" y="4255"/>
                  </a:moveTo>
                  <a:lnTo>
                    <a:pt x="3823" y="1736"/>
                  </a:lnTo>
                  <a:moveTo>
                    <a:pt x="4453" y="4255"/>
                  </a:moveTo>
                  <a:lnTo>
                    <a:pt x="4453" y="1424"/>
                  </a:lnTo>
                  <a:moveTo>
                    <a:pt x="4760" y="5"/>
                  </a:moveTo>
                  <a:lnTo>
                    <a:pt x="3191" y="1575"/>
                  </a:lnTo>
                  <a:lnTo>
                    <a:pt x="2247" y="630"/>
                  </a:lnTo>
                  <a:lnTo>
                    <a:pt x="0" y="2879"/>
                  </a:lnTo>
                  <a:moveTo>
                    <a:pt x="4770" y="948"/>
                  </a:moveTo>
                  <a:lnTo>
                    <a:pt x="4770" y="0"/>
                  </a:lnTo>
                  <a:lnTo>
                    <a:pt x="3818" y="0"/>
                  </a:lnTo>
                </a:path>
              </a:pathLst>
            </a:custGeom>
            <a:grpFill/>
            <a:ln w="15875" cap="flat">
              <a:solidFill>
                <a:schemeClr val="tx1"/>
              </a:solidFill>
              <a:prstDash val="solid"/>
              <a:miter lim="800000"/>
              <a:headEnd/>
              <a:tailEnd/>
            </a:ln>
          </p:spPr>
          <p:txBody>
            <a:bodyPr vert="horz" wrap="square" lIns="89629" tIns="44815" rIns="89629" bIns="44815" numCol="1" anchor="t" anchorCtr="0" compatLnSpc="1">
              <a:prstTxWarp prst="textNoShape">
                <a:avLst/>
              </a:prstTxWarp>
            </a:bodyPr>
            <a:lstStyle/>
            <a:p>
              <a:pPr defTabSz="932563"/>
              <a:endParaRPr lang="en-US" sz="882" dirty="0">
                <a:gradFill>
                  <a:gsLst>
                    <a:gs pos="0">
                      <a:srgbClr val="505050"/>
                    </a:gs>
                    <a:gs pos="100000">
                      <a:srgbClr val="505050"/>
                    </a:gs>
                  </a:gsLst>
                  <a:lin ang="5400000" scaled="1"/>
                </a:gradFill>
                <a:latin typeface="Segoe UI"/>
              </a:endParaRPr>
            </a:p>
          </p:txBody>
        </p:sp>
      </p:grpSp>
      <p:grpSp>
        <p:nvGrpSpPr>
          <p:cNvPr id="35" name="Group 34" descr="Security Admin icon">
            <a:extLst>
              <a:ext uri="{FF2B5EF4-FFF2-40B4-BE49-F238E27FC236}">
                <a16:creationId xmlns:a16="http://schemas.microsoft.com/office/drawing/2014/main" id="{1E52CFE9-7BB1-4EE1-A28E-35603C706241}"/>
              </a:ext>
            </a:extLst>
          </p:cNvPr>
          <p:cNvGrpSpPr/>
          <p:nvPr/>
        </p:nvGrpSpPr>
        <p:grpSpPr>
          <a:xfrm>
            <a:off x="4441825" y="1678814"/>
            <a:ext cx="749701" cy="749701"/>
            <a:chOff x="3897549" y="1912421"/>
            <a:chExt cx="749808" cy="749808"/>
          </a:xfrm>
          <a:solidFill>
            <a:schemeClr val="accent3"/>
          </a:solidFill>
        </p:grpSpPr>
        <p:sp>
          <p:nvSpPr>
            <p:cNvPr id="8" name="Oval 7">
              <a:extLst>
                <a:ext uri="{FF2B5EF4-FFF2-40B4-BE49-F238E27FC236}">
                  <a16:creationId xmlns:a16="http://schemas.microsoft.com/office/drawing/2014/main" id="{31D98CEF-51FE-4881-8D21-42D9EEE100E4}"/>
                </a:ext>
              </a:extLst>
            </p:cNvPr>
            <p:cNvSpPr/>
            <p:nvPr/>
          </p:nvSpPr>
          <p:spPr>
            <a:xfrm>
              <a:off x="3897549" y="1912421"/>
              <a:ext cx="749808" cy="7498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63"/>
              <a:endParaRPr lang="en-US">
                <a:solidFill>
                  <a:srgbClr val="FFFFFF"/>
                </a:solidFill>
                <a:latin typeface="Segoe UI"/>
              </a:endParaRPr>
            </a:p>
          </p:txBody>
        </p:sp>
        <p:grpSp>
          <p:nvGrpSpPr>
            <p:cNvPr id="9" name="Group 8">
              <a:extLst>
                <a:ext uri="{FF2B5EF4-FFF2-40B4-BE49-F238E27FC236}">
                  <a16:creationId xmlns:a16="http://schemas.microsoft.com/office/drawing/2014/main" id="{65FFC155-B521-426B-BBB6-2470A28D1CD2}"/>
                </a:ext>
              </a:extLst>
            </p:cNvPr>
            <p:cNvGrpSpPr/>
            <p:nvPr/>
          </p:nvGrpSpPr>
          <p:grpSpPr>
            <a:xfrm>
              <a:off x="4069580" y="2077439"/>
              <a:ext cx="405747" cy="419772"/>
              <a:chOff x="1957387" y="3184263"/>
              <a:chExt cx="356248" cy="368562"/>
            </a:xfrm>
            <a:grpFill/>
          </p:grpSpPr>
          <p:sp>
            <p:nvSpPr>
              <p:cNvPr id="10" name="Freeform: Shape 9">
                <a:extLst>
                  <a:ext uri="{FF2B5EF4-FFF2-40B4-BE49-F238E27FC236}">
                    <a16:creationId xmlns:a16="http://schemas.microsoft.com/office/drawing/2014/main" id="{337D0705-A681-4C7D-96A6-A4B62C6892D9}"/>
                  </a:ext>
                </a:extLst>
              </p:cNvPr>
              <p:cNvSpPr/>
              <p:nvPr/>
            </p:nvSpPr>
            <p:spPr>
              <a:xfrm>
                <a:off x="1985608" y="3218144"/>
                <a:ext cx="297425" cy="297426"/>
              </a:xfrm>
              <a:custGeom>
                <a:avLst/>
                <a:gdLst>
                  <a:gd name="connsiteX0" fmla="*/ 181927 w 240029"/>
                  <a:gd name="connsiteY0" fmla="*/ 72390 h 240030"/>
                  <a:gd name="connsiteX1" fmla="*/ 168592 w 240029"/>
                  <a:gd name="connsiteY1" fmla="*/ 72390 h 240030"/>
                  <a:gd name="connsiteX2" fmla="*/ 168592 w 240029"/>
                  <a:gd name="connsiteY2" fmla="*/ 58103 h 240030"/>
                  <a:gd name="connsiteX3" fmla="*/ 167640 w 240029"/>
                  <a:gd name="connsiteY3" fmla="*/ 0 h 240030"/>
                  <a:gd name="connsiteX4" fmla="*/ 0 w 240029"/>
                  <a:gd name="connsiteY4" fmla="*/ 0 h 240030"/>
                  <a:gd name="connsiteX5" fmla="*/ 0 w 240029"/>
                  <a:gd name="connsiteY5" fmla="*/ 168593 h 240030"/>
                  <a:gd name="connsiteX6" fmla="*/ 59055 w 240029"/>
                  <a:gd name="connsiteY6" fmla="*/ 169545 h 240030"/>
                  <a:gd name="connsiteX7" fmla="*/ 73342 w 240029"/>
                  <a:gd name="connsiteY7" fmla="*/ 169545 h 240030"/>
                  <a:gd name="connsiteX8" fmla="*/ 73342 w 240029"/>
                  <a:gd name="connsiteY8" fmla="*/ 183833 h 240030"/>
                  <a:gd name="connsiteX9" fmla="*/ 73342 w 240029"/>
                  <a:gd name="connsiteY9" fmla="*/ 240030 h 240030"/>
                  <a:gd name="connsiteX10" fmla="*/ 240030 w 240029"/>
                  <a:gd name="connsiteY10" fmla="*/ 240030 h 240030"/>
                  <a:gd name="connsiteX11" fmla="*/ 240030 w 240029"/>
                  <a:gd name="connsiteY11" fmla="*/ 72390 h 24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0029" h="240030">
                    <a:moveTo>
                      <a:pt x="181927" y="72390"/>
                    </a:moveTo>
                    <a:lnTo>
                      <a:pt x="168592" y="72390"/>
                    </a:lnTo>
                    <a:lnTo>
                      <a:pt x="168592" y="58103"/>
                    </a:lnTo>
                    <a:lnTo>
                      <a:pt x="167640" y="0"/>
                    </a:lnTo>
                    <a:lnTo>
                      <a:pt x="0" y="0"/>
                    </a:lnTo>
                    <a:lnTo>
                      <a:pt x="0" y="168593"/>
                    </a:lnTo>
                    <a:lnTo>
                      <a:pt x="59055" y="169545"/>
                    </a:lnTo>
                    <a:lnTo>
                      <a:pt x="73342" y="169545"/>
                    </a:lnTo>
                    <a:lnTo>
                      <a:pt x="73342" y="183833"/>
                    </a:lnTo>
                    <a:lnTo>
                      <a:pt x="73342" y="240030"/>
                    </a:lnTo>
                    <a:lnTo>
                      <a:pt x="240030" y="240030"/>
                    </a:lnTo>
                    <a:lnTo>
                      <a:pt x="240030" y="72390"/>
                    </a:lnTo>
                    <a:close/>
                  </a:path>
                </a:pathLst>
              </a:custGeom>
              <a:grpFill/>
              <a:ln w="15875" cap="flat">
                <a:solidFill>
                  <a:schemeClr val="bg1"/>
                </a:solidFill>
                <a:prstDash val="solid"/>
                <a:miter/>
              </a:ln>
            </p:spPr>
            <p:txBody>
              <a:bodyPr rtlCol="0" anchor="ctr"/>
              <a:lstStyle/>
              <a:p>
                <a:pPr defTabSz="932563"/>
                <a:endParaRPr lang="en-US">
                  <a:solidFill>
                    <a:srgbClr val="000000"/>
                  </a:solidFill>
                  <a:latin typeface="Segoe UI"/>
                </a:endParaRPr>
              </a:p>
            </p:txBody>
          </p:sp>
          <p:grpSp>
            <p:nvGrpSpPr>
              <p:cNvPr id="11" name="Group 10">
                <a:extLst>
                  <a:ext uri="{FF2B5EF4-FFF2-40B4-BE49-F238E27FC236}">
                    <a16:creationId xmlns:a16="http://schemas.microsoft.com/office/drawing/2014/main" id="{49ADA817-6884-4055-B20A-3BCCE3831472}"/>
                  </a:ext>
                </a:extLst>
              </p:cNvPr>
              <p:cNvGrpSpPr/>
              <p:nvPr/>
            </p:nvGrpSpPr>
            <p:grpSpPr>
              <a:xfrm>
                <a:off x="1957387" y="3463035"/>
                <a:ext cx="97277" cy="89790"/>
                <a:chOff x="1957387" y="3463035"/>
                <a:chExt cx="97277" cy="89790"/>
              </a:xfrm>
              <a:grpFill/>
            </p:grpSpPr>
            <p:cxnSp>
              <p:nvCxnSpPr>
                <p:cNvPr id="16" name="Straight Arrow Connector 15">
                  <a:extLst>
                    <a:ext uri="{FF2B5EF4-FFF2-40B4-BE49-F238E27FC236}">
                      <a16:creationId xmlns:a16="http://schemas.microsoft.com/office/drawing/2014/main" id="{C265E68D-C51D-4711-9551-294D9B05A5A2}"/>
                    </a:ext>
                  </a:extLst>
                </p:cNvPr>
                <p:cNvCxnSpPr>
                  <a:cxnSpLocks/>
                </p:cNvCxnSpPr>
                <p:nvPr/>
              </p:nvCxnSpPr>
              <p:spPr>
                <a:xfrm flipV="1">
                  <a:off x="1957387" y="3469465"/>
                  <a:ext cx="81049" cy="83360"/>
                </a:xfrm>
                <a:prstGeom prst="straightConnector1">
                  <a:avLst/>
                </a:prstGeom>
                <a:grpFill/>
                <a:ln w="15875" cap="flat">
                  <a:solidFill>
                    <a:schemeClr val="bg1"/>
                  </a:solidFill>
                  <a:prstDash val="solid"/>
                  <a:miter/>
                  <a:tailEnd type="none" w="lg" len="sm"/>
                </a:ln>
              </p:spPr>
            </p:cxnSp>
            <p:cxnSp>
              <p:nvCxnSpPr>
                <p:cNvPr id="17" name="Straight Connector 16">
                  <a:extLst>
                    <a:ext uri="{FF2B5EF4-FFF2-40B4-BE49-F238E27FC236}">
                      <a16:creationId xmlns:a16="http://schemas.microsoft.com/office/drawing/2014/main" id="{C57EE4BA-8A32-4F88-9066-C298CAA89376}"/>
                    </a:ext>
                  </a:extLst>
                </p:cNvPr>
                <p:cNvCxnSpPr>
                  <a:cxnSpLocks/>
                </p:cNvCxnSpPr>
                <p:nvPr/>
              </p:nvCxnSpPr>
              <p:spPr>
                <a:xfrm>
                  <a:off x="1976438" y="3463035"/>
                  <a:ext cx="78226" cy="0"/>
                </a:xfrm>
                <a:prstGeom prst="line">
                  <a:avLst/>
                </a:prstGeom>
                <a:grpFill/>
                <a:ln w="15875" cap="flat">
                  <a:solidFill>
                    <a:schemeClr val="bg1"/>
                  </a:solidFill>
                  <a:prstDash val="solid"/>
                  <a:miter/>
                  <a:tailEnd type="none" w="lg" len="sm"/>
                </a:ln>
              </p:spPr>
            </p:cxnSp>
            <p:cxnSp>
              <p:nvCxnSpPr>
                <p:cNvPr id="18" name="Straight Connector 17">
                  <a:extLst>
                    <a:ext uri="{FF2B5EF4-FFF2-40B4-BE49-F238E27FC236}">
                      <a16:creationId xmlns:a16="http://schemas.microsoft.com/office/drawing/2014/main" id="{2EE9619C-274E-449F-B68E-F70D357EE320}"/>
                    </a:ext>
                  </a:extLst>
                </p:cNvPr>
                <p:cNvCxnSpPr>
                  <a:cxnSpLocks/>
                </p:cNvCxnSpPr>
                <p:nvPr/>
              </p:nvCxnSpPr>
              <p:spPr>
                <a:xfrm>
                  <a:off x="2045942" y="3465416"/>
                  <a:ext cx="0" cy="64424"/>
                </a:xfrm>
                <a:prstGeom prst="line">
                  <a:avLst/>
                </a:prstGeom>
                <a:grpFill/>
                <a:ln w="15875" cap="flat">
                  <a:solidFill>
                    <a:schemeClr val="bg1"/>
                  </a:solidFill>
                  <a:prstDash val="solid"/>
                  <a:miter/>
                  <a:tailEnd type="none" w="lg" len="sm"/>
                </a:ln>
              </p:spPr>
            </p:cxnSp>
          </p:grpSp>
          <p:grpSp>
            <p:nvGrpSpPr>
              <p:cNvPr id="12" name="Group 11">
                <a:extLst>
                  <a:ext uri="{FF2B5EF4-FFF2-40B4-BE49-F238E27FC236}">
                    <a16:creationId xmlns:a16="http://schemas.microsoft.com/office/drawing/2014/main" id="{C8AB995C-A98A-4C20-8E1E-D669BC2218BB}"/>
                  </a:ext>
                </a:extLst>
              </p:cNvPr>
              <p:cNvGrpSpPr/>
              <p:nvPr/>
            </p:nvGrpSpPr>
            <p:grpSpPr>
              <a:xfrm flipH="1" flipV="1">
                <a:off x="2216358" y="3184263"/>
                <a:ext cx="97277" cy="89790"/>
                <a:chOff x="1957387" y="3463035"/>
                <a:chExt cx="97277" cy="89790"/>
              </a:xfrm>
              <a:grpFill/>
            </p:grpSpPr>
            <p:cxnSp>
              <p:nvCxnSpPr>
                <p:cNvPr id="13" name="Straight Arrow Connector 12">
                  <a:extLst>
                    <a:ext uri="{FF2B5EF4-FFF2-40B4-BE49-F238E27FC236}">
                      <a16:creationId xmlns:a16="http://schemas.microsoft.com/office/drawing/2014/main" id="{3FFD3CEE-3F1B-4F80-8E09-247DB7F4E373}"/>
                    </a:ext>
                  </a:extLst>
                </p:cNvPr>
                <p:cNvCxnSpPr>
                  <a:cxnSpLocks/>
                </p:cNvCxnSpPr>
                <p:nvPr/>
              </p:nvCxnSpPr>
              <p:spPr>
                <a:xfrm flipV="1">
                  <a:off x="1957387" y="3469465"/>
                  <a:ext cx="81049" cy="83360"/>
                </a:xfrm>
                <a:prstGeom prst="straightConnector1">
                  <a:avLst/>
                </a:prstGeom>
                <a:grpFill/>
                <a:ln w="15875" cap="flat">
                  <a:solidFill>
                    <a:schemeClr val="bg1"/>
                  </a:solidFill>
                  <a:prstDash val="solid"/>
                  <a:miter/>
                  <a:tailEnd type="none" w="lg" len="sm"/>
                </a:ln>
              </p:spPr>
            </p:cxnSp>
            <p:cxnSp>
              <p:nvCxnSpPr>
                <p:cNvPr id="14" name="Straight Connector 13">
                  <a:extLst>
                    <a:ext uri="{FF2B5EF4-FFF2-40B4-BE49-F238E27FC236}">
                      <a16:creationId xmlns:a16="http://schemas.microsoft.com/office/drawing/2014/main" id="{7F6F3D36-D1D8-473A-A6FE-4268AA56D0CD}"/>
                    </a:ext>
                  </a:extLst>
                </p:cNvPr>
                <p:cNvCxnSpPr>
                  <a:cxnSpLocks/>
                </p:cNvCxnSpPr>
                <p:nvPr/>
              </p:nvCxnSpPr>
              <p:spPr>
                <a:xfrm>
                  <a:off x="1976438" y="3463035"/>
                  <a:ext cx="78226" cy="0"/>
                </a:xfrm>
                <a:prstGeom prst="line">
                  <a:avLst/>
                </a:prstGeom>
                <a:grpFill/>
                <a:ln w="15875" cap="flat">
                  <a:solidFill>
                    <a:schemeClr val="bg1"/>
                  </a:solidFill>
                  <a:prstDash val="solid"/>
                  <a:miter/>
                  <a:tailEnd type="none" w="lg" len="sm"/>
                </a:ln>
              </p:spPr>
            </p:cxnSp>
            <p:cxnSp>
              <p:nvCxnSpPr>
                <p:cNvPr id="15" name="Straight Connector 14">
                  <a:extLst>
                    <a:ext uri="{FF2B5EF4-FFF2-40B4-BE49-F238E27FC236}">
                      <a16:creationId xmlns:a16="http://schemas.microsoft.com/office/drawing/2014/main" id="{B9681608-A438-4E8B-80FE-F7882BC2B000}"/>
                    </a:ext>
                  </a:extLst>
                </p:cNvPr>
                <p:cNvCxnSpPr>
                  <a:cxnSpLocks/>
                </p:cNvCxnSpPr>
                <p:nvPr/>
              </p:nvCxnSpPr>
              <p:spPr>
                <a:xfrm>
                  <a:off x="2045942" y="3465416"/>
                  <a:ext cx="0" cy="64424"/>
                </a:xfrm>
                <a:prstGeom prst="line">
                  <a:avLst/>
                </a:prstGeom>
                <a:grpFill/>
                <a:ln w="15875" cap="flat">
                  <a:solidFill>
                    <a:schemeClr val="bg1"/>
                  </a:solidFill>
                  <a:prstDash val="solid"/>
                  <a:miter/>
                  <a:tailEnd type="none" w="lg" len="sm"/>
                </a:ln>
              </p:spPr>
            </p:cxnSp>
          </p:grpSp>
        </p:grpSp>
      </p:grpSp>
      <p:grpSp>
        <p:nvGrpSpPr>
          <p:cNvPr id="19" name="Group 18">
            <a:extLst>
              <a:ext uri="{FF2B5EF4-FFF2-40B4-BE49-F238E27FC236}">
                <a16:creationId xmlns:a16="http://schemas.microsoft.com/office/drawing/2014/main" id="{94489A70-FA77-4F7A-A617-878FB9F26C94}"/>
              </a:ext>
              <a:ext uri="{C183D7F6-B498-43B3-948B-1728B52AA6E4}">
                <adec:decorative xmlns:adec="http://schemas.microsoft.com/office/drawing/2017/decorative" val="1"/>
              </a:ext>
            </a:extLst>
          </p:cNvPr>
          <p:cNvGrpSpPr/>
          <p:nvPr/>
        </p:nvGrpSpPr>
        <p:grpSpPr>
          <a:xfrm>
            <a:off x="8494121" y="1678814"/>
            <a:ext cx="749701" cy="749701"/>
            <a:chOff x="318086" y="10301606"/>
            <a:chExt cx="405814" cy="405814"/>
          </a:xfrm>
          <a:solidFill>
            <a:schemeClr val="accent1"/>
          </a:solidFill>
        </p:grpSpPr>
        <p:sp>
          <p:nvSpPr>
            <p:cNvPr id="20" name="Oval 19">
              <a:extLst>
                <a:ext uri="{FF2B5EF4-FFF2-40B4-BE49-F238E27FC236}">
                  <a16:creationId xmlns:a16="http://schemas.microsoft.com/office/drawing/2014/main" id="{BA6E7CF7-9916-4DC4-B194-F199236228BD}"/>
                </a:ext>
              </a:extLst>
            </p:cNvPr>
            <p:cNvSpPr/>
            <p:nvPr/>
          </p:nvSpPr>
          <p:spPr>
            <a:xfrm>
              <a:off x="318086" y="10301606"/>
              <a:ext cx="405814" cy="40581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563"/>
              <a:endParaRPr lang="en-US">
                <a:solidFill>
                  <a:srgbClr val="FFFFFF"/>
                </a:solidFill>
                <a:latin typeface="Segoe UI"/>
              </a:endParaRPr>
            </a:p>
          </p:txBody>
        </p:sp>
        <p:grpSp>
          <p:nvGrpSpPr>
            <p:cNvPr id="21" name="Group 20">
              <a:extLst>
                <a:ext uri="{FF2B5EF4-FFF2-40B4-BE49-F238E27FC236}">
                  <a16:creationId xmlns:a16="http://schemas.microsoft.com/office/drawing/2014/main" id="{F3C89AF8-7E67-495F-B558-6621D9337DD9}"/>
                </a:ext>
              </a:extLst>
            </p:cNvPr>
            <p:cNvGrpSpPr/>
            <p:nvPr/>
          </p:nvGrpSpPr>
          <p:grpSpPr>
            <a:xfrm>
              <a:off x="386272" y="10371295"/>
              <a:ext cx="263809" cy="276095"/>
              <a:chOff x="3319176" y="5805487"/>
              <a:chExt cx="1136551" cy="1189483"/>
            </a:xfrm>
            <a:grpFill/>
          </p:grpSpPr>
          <p:sp>
            <p:nvSpPr>
              <p:cNvPr id="22" name="Freeform: Shape 21">
                <a:extLst>
                  <a:ext uri="{FF2B5EF4-FFF2-40B4-BE49-F238E27FC236}">
                    <a16:creationId xmlns:a16="http://schemas.microsoft.com/office/drawing/2014/main" id="{CAA45B41-91CF-4D42-BBF0-A21830E74998}"/>
                  </a:ext>
                </a:extLst>
              </p:cNvPr>
              <p:cNvSpPr/>
              <p:nvPr/>
            </p:nvSpPr>
            <p:spPr>
              <a:xfrm>
                <a:off x="3319176" y="5805487"/>
                <a:ext cx="1051845" cy="1189483"/>
              </a:xfrm>
              <a:custGeom>
                <a:avLst/>
                <a:gdLst>
                  <a:gd name="connsiteX0" fmla="*/ 1052288 w 1051845"/>
                  <a:gd name="connsiteY0" fmla="*/ 975225 h 1189483"/>
                  <a:gd name="connsiteX1" fmla="*/ 595088 w 1051845"/>
                  <a:gd name="connsiteY1" fmla="*/ 1189157 h 1189483"/>
                  <a:gd name="connsiteX2" fmla="*/ 442 w 1051845"/>
                  <a:gd name="connsiteY2" fmla="*/ 594416 h 1189483"/>
                  <a:gd name="connsiteX3" fmla="*/ 595184 w 1051845"/>
                  <a:gd name="connsiteY3" fmla="*/ -325 h 1189483"/>
                  <a:gd name="connsiteX4" fmla="*/ 1023332 w 1051845"/>
                  <a:gd name="connsiteY4" fmla="*/ 181697 h 1189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845" h="1189483">
                    <a:moveTo>
                      <a:pt x="1052288" y="975225"/>
                    </a:moveTo>
                    <a:cubicBezTo>
                      <a:pt x="939322" y="1111023"/>
                      <a:pt x="771729" y="1189433"/>
                      <a:pt x="595088" y="1189157"/>
                    </a:cubicBezTo>
                    <a:cubicBezTo>
                      <a:pt x="266657" y="1189099"/>
                      <a:pt x="442" y="922847"/>
                      <a:pt x="442" y="594416"/>
                    </a:cubicBezTo>
                    <a:cubicBezTo>
                      <a:pt x="500" y="265975"/>
                      <a:pt x="266743" y="-268"/>
                      <a:pt x="595184" y="-325"/>
                    </a:cubicBezTo>
                    <a:cubicBezTo>
                      <a:pt x="756737" y="-506"/>
                      <a:pt x="911366" y="65235"/>
                      <a:pt x="1023332" y="181697"/>
                    </a:cubicBezTo>
                  </a:path>
                </a:pathLst>
              </a:custGeom>
              <a:grpFill/>
              <a:ln w="15875" cap="sq">
                <a:solidFill>
                  <a:schemeClr val="bg2"/>
                </a:solidFill>
                <a:prstDash val="solid"/>
                <a:miter lim="800000"/>
                <a:headEnd/>
                <a:tailEnd/>
              </a:ln>
            </p:spPr>
            <p:txBody>
              <a:bodyPr vert="horz" wrap="square" lIns="89629" tIns="44815" rIns="89629" bIns="44815" numCol="1" anchor="t" anchorCtr="0" compatLnSpc="1">
                <a:prstTxWarp prst="textNoShape">
                  <a:avLst/>
                </a:prstTxWarp>
              </a:bodyPr>
              <a:lstStyle/>
              <a:p>
                <a:pPr defTabSz="932563"/>
                <a:endParaRPr lang="en-US" sz="882">
                  <a:gradFill>
                    <a:gsLst>
                      <a:gs pos="0">
                        <a:srgbClr val="505050"/>
                      </a:gs>
                      <a:gs pos="100000">
                        <a:srgbClr val="505050"/>
                      </a:gs>
                    </a:gsLst>
                  </a:gradFill>
                  <a:latin typeface="Segoe UI"/>
                </a:endParaRPr>
              </a:p>
            </p:txBody>
          </p:sp>
          <p:sp>
            <p:nvSpPr>
              <p:cNvPr id="23" name="Freeform: Shape 22">
                <a:extLst>
                  <a:ext uri="{FF2B5EF4-FFF2-40B4-BE49-F238E27FC236}">
                    <a16:creationId xmlns:a16="http://schemas.microsoft.com/office/drawing/2014/main" id="{5BE441AE-29B1-4613-9520-2BB1380FD214}"/>
                  </a:ext>
                </a:extLst>
              </p:cNvPr>
              <p:cNvSpPr/>
              <p:nvPr/>
            </p:nvSpPr>
            <p:spPr>
              <a:xfrm>
                <a:off x="3484721" y="5970745"/>
                <a:ext cx="759333" cy="858965"/>
              </a:xfrm>
              <a:custGeom>
                <a:avLst/>
                <a:gdLst>
                  <a:gd name="connsiteX0" fmla="*/ 759776 w 759333"/>
                  <a:gd name="connsiteY0" fmla="*/ 704239 h 858965"/>
                  <a:gd name="connsiteX1" fmla="*/ 429925 w 759333"/>
                  <a:gd name="connsiteY1" fmla="*/ 858639 h 858965"/>
                  <a:gd name="connsiteX2" fmla="*/ 442 w 759333"/>
                  <a:gd name="connsiteY2" fmla="*/ 429157 h 858965"/>
                  <a:gd name="connsiteX3" fmla="*/ 429925 w 759333"/>
                  <a:gd name="connsiteY3" fmla="*/ -325 h 858965"/>
                  <a:gd name="connsiteX4" fmla="*/ 739106 w 759333"/>
                  <a:gd name="connsiteY4" fmla="*/ 131119 h 85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333" h="858965">
                    <a:moveTo>
                      <a:pt x="759776" y="704239"/>
                    </a:moveTo>
                    <a:cubicBezTo>
                      <a:pt x="678242" y="802184"/>
                      <a:pt x="557360" y="858763"/>
                      <a:pt x="429925" y="858639"/>
                    </a:cubicBezTo>
                    <a:cubicBezTo>
                      <a:pt x="192723" y="858639"/>
                      <a:pt x="442" y="666358"/>
                      <a:pt x="442" y="429157"/>
                    </a:cubicBezTo>
                    <a:cubicBezTo>
                      <a:pt x="442" y="191956"/>
                      <a:pt x="192723" y="-325"/>
                      <a:pt x="429925" y="-325"/>
                    </a:cubicBezTo>
                    <a:cubicBezTo>
                      <a:pt x="546596" y="-487"/>
                      <a:pt x="658267" y="46995"/>
                      <a:pt x="739106" y="131119"/>
                    </a:cubicBezTo>
                  </a:path>
                </a:pathLst>
              </a:custGeom>
              <a:grpFill/>
              <a:ln w="15875" cap="sq">
                <a:solidFill>
                  <a:schemeClr val="bg2"/>
                </a:solidFill>
                <a:prstDash val="solid"/>
                <a:miter lim="800000"/>
                <a:headEnd/>
                <a:tailEnd/>
              </a:ln>
            </p:spPr>
            <p:txBody>
              <a:bodyPr vert="horz" wrap="square" lIns="89629" tIns="44815" rIns="89629" bIns="44815" numCol="1" anchor="t" anchorCtr="0" compatLnSpc="1">
                <a:prstTxWarp prst="textNoShape">
                  <a:avLst/>
                </a:prstTxWarp>
              </a:bodyPr>
              <a:lstStyle/>
              <a:p>
                <a:pPr defTabSz="932563"/>
                <a:endParaRPr lang="en-US" sz="882">
                  <a:gradFill>
                    <a:gsLst>
                      <a:gs pos="0">
                        <a:srgbClr val="505050"/>
                      </a:gs>
                      <a:gs pos="100000">
                        <a:srgbClr val="505050"/>
                      </a:gs>
                    </a:gsLst>
                  </a:gradFill>
                  <a:latin typeface="Segoe UI"/>
                </a:endParaRPr>
              </a:p>
            </p:txBody>
          </p:sp>
          <p:sp>
            <p:nvSpPr>
              <p:cNvPr id="24" name="Freeform: Shape 23">
                <a:extLst>
                  <a:ext uri="{FF2B5EF4-FFF2-40B4-BE49-F238E27FC236}">
                    <a16:creationId xmlns:a16="http://schemas.microsoft.com/office/drawing/2014/main" id="{2B3D88AD-2C28-4F69-9DF4-FC593CB845E9}"/>
                  </a:ext>
                </a:extLst>
              </p:cNvPr>
              <p:cNvSpPr/>
              <p:nvPr/>
            </p:nvSpPr>
            <p:spPr>
              <a:xfrm>
                <a:off x="3646455" y="6132480"/>
                <a:ext cx="474345" cy="535495"/>
              </a:xfrm>
              <a:custGeom>
                <a:avLst/>
                <a:gdLst>
                  <a:gd name="connsiteX0" fmla="*/ 474788 w 474345"/>
                  <a:gd name="connsiteY0" fmla="*/ 437729 h 535495"/>
                  <a:gd name="connsiteX1" fmla="*/ 268190 w 474345"/>
                  <a:gd name="connsiteY1" fmla="*/ 535170 h 535495"/>
                  <a:gd name="connsiteX2" fmla="*/ 442 w 474345"/>
                  <a:gd name="connsiteY2" fmla="*/ 267612 h 535495"/>
                  <a:gd name="connsiteX3" fmla="*/ 442 w 474345"/>
                  <a:gd name="connsiteY3" fmla="*/ 267422 h 535495"/>
                  <a:gd name="connsiteX4" fmla="*/ 268190 w 474345"/>
                  <a:gd name="connsiteY4" fmla="*/ -326 h 535495"/>
                  <a:gd name="connsiteX5" fmla="*/ 457452 w 474345"/>
                  <a:gd name="connsiteY5" fmla="*/ 78160 h 535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4345" h="535495">
                    <a:moveTo>
                      <a:pt x="474788" y="437729"/>
                    </a:moveTo>
                    <a:cubicBezTo>
                      <a:pt x="423981" y="499498"/>
                      <a:pt x="348172" y="535246"/>
                      <a:pt x="268190" y="535170"/>
                    </a:cubicBezTo>
                    <a:cubicBezTo>
                      <a:pt x="120372" y="535227"/>
                      <a:pt x="500" y="415431"/>
                      <a:pt x="442" y="267612"/>
                    </a:cubicBezTo>
                    <a:cubicBezTo>
                      <a:pt x="442" y="267546"/>
                      <a:pt x="442" y="267489"/>
                      <a:pt x="442" y="267422"/>
                    </a:cubicBezTo>
                    <a:cubicBezTo>
                      <a:pt x="442" y="119546"/>
                      <a:pt x="120315" y="-326"/>
                      <a:pt x="268190" y="-326"/>
                    </a:cubicBezTo>
                    <a:cubicBezTo>
                      <a:pt x="339209" y="-411"/>
                      <a:pt x="407332" y="27840"/>
                      <a:pt x="457452" y="78160"/>
                    </a:cubicBezTo>
                  </a:path>
                </a:pathLst>
              </a:custGeom>
              <a:grpFill/>
              <a:ln w="15875" cap="sq">
                <a:solidFill>
                  <a:schemeClr val="bg2"/>
                </a:solidFill>
                <a:prstDash val="solid"/>
                <a:miter lim="800000"/>
                <a:headEnd/>
                <a:tailEnd/>
              </a:ln>
            </p:spPr>
            <p:txBody>
              <a:bodyPr vert="horz" wrap="square" lIns="89629" tIns="44815" rIns="89629" bIns="44815" numCol="1" anchor="t" anchorCtr="0" compatLnSpc="1">
                <a:prstTxWarp prst="textNoShape">
                  <a:avLst/>
                </a:prstTxWarp>
              </a:bodyPr>
              <a:lstStyle/>
              <a:p>
                <a:pPr defTabSz="932563"/>
                <a:endParaRPr lang="en-US" sz="882">
                  <a:gradFill>
                    <a:gsLst>
                      <a:gs pos="0">
                        <a:srgbClr val="505050"/>
                      </a:gs>
                      <a:gs pos="100000">
                        <a:srgbClr val="505050"/>
                      </a:gs>
                    </a:gsLst>
                  </a:gradFill>
                  <a:latin typeface="Segoe UI"/>
                </a:endParaRPr>
              </a:p>
            </p:txBody>
          </p:sp>
          <p:sp>
            <p:nvSpPr>
              <p:cNvPr id="25" name="Freeform: Shape 24">
                <a:extLst>
                  <a:ext uri="{FF2B5EF4-FFF2-40B4-BE49-F238E27FC236}">
                    <a16:creationId xmlns:a16="http://schemas.microsoft.com/office/drawing/2014/main" id="{8A23D5B0-BF4A-413C-B0B7-F0C0B65AEBF2}"/>
                  </a:ext>
                </a:extLst>
              </p:cNvPr>
              <p:cNvSpPr/>
              <p:nvPr/>
            </p:nvSpPr>
            <p:spPr>
              <a:xfrm>
                <a:off x="3904964" y="5967222"/>
                <a:ext cx="550763" cy="433008"/>
              </a:xfrm>
              <a:custGeom>
                <a:avLst/>
                <a:gdLst>
                  <a:gd name="connsiteX0" fmla="*/ 0 w 553593"/>
                  <a:gd name="connsiteY0" fmla="*/ 387572 h 387572"/>
                  <a:gd name="connsiteX1" fmla="*/ 553593 w 553593"/>
                  <a:gd name="connsiteY1" fmla="*/ 0 h 387572"/>
                </a:gdLst>
                <a:ahLst/>
                <a:cxnLst>
                  <a:cxn ang="0">
                    <a:pos x="connsiteX0" y="connsiteY0"/>
                  </a:cxn>
                  <a:cxn ang="0">
                    <a:pos x="connsiteX1" y="connsiteY1"/>
                  </a:cxn>
                </a:cxnLst>
                <a:rect l="l" t="t" r="r" b="b"/>
                <a:pathLst>
                  <a:path w="553593" h="387572">
                    <a:moveTo>
                      <a:pt x="0" y="387572"/>
                    </a:moveTo>
                    <a:lnTo>
                      <a:pt x="553593" y="0"/>
                    </a:lnTo>
                  </a:path>
                </a:pathLst>
              </a:custGeom>
              <a:grpFill/>
              <a:ln w="15875" cap="sq">
                <a:solidFill>
                  <a:schemeClr val="bg2"/>
                </a:solidFill>
                <a:prstDash val="solid"/>
                <a:miter lim="800000"/>
                <a:headEnd/>
                <a:tailEnd/>
              </a:ln>
            </p:spPr>
            <p:txBody>
              <a:bodyPr vert="horz" wrap="square" lIns="89629" tIns="44815" rIns="89629" bIns="44815" numCol="1" anchor="t" anchorCtr="0" compatLnSpc="1">
                <a:prstTxWarp prst="textNoShape">
                  <a:avLst/>
                </a:prstTxWarp>
              </a:bodyPr>
              <a:lstStyle/>
              <a:p>
                <a:pPr defTabSz="932563"/>
                <a:endParaRPr lang="en-US" sz="882">
                  <a:gradFill>
                    <a:gsLst>
                      <a:gs pos="0">
                        <a:srgbClr val="505050"/>
                      </a:gs>
                      <a:gs pos="100000">
                        <a:srgbClr val="505050"/>
                      </a:gs>
                    </a:gsLst>
                  </a:gradFill>
                  <a:latin typeface="Segoe UI"/>
                </a:endParaRPr>
              </a:p>
            </p:txBody>
          </p:sp>
        </p:grpSp>
      </p:grpSp>
      <p:sp>
        <p:nvSpPr>
          <p:cNvPr id="3" name="TextBox 2">
            <a:extLst>
              <a:ext uri="{FF2B5EF4-FFF2-40B4-BE49-F238E27FC236}">
                <a16:creationId xmlns:a16="http://schemas.microsoft.com/office/drawing/2014/main" id="{35EE8D57-C56D-4C5C-99CC-99B7DADFABB7}"/>
              </a:ext>
            </a:extLst>
          </p:cNvPr>
          <p:cNvSpPr txBox="1"/>
          <p:nvPr/>
        </p:nvSpPr>
        <p:spPr>
          <a:xfrm>
            <a:off x="590174" y="2547579"/>
            <a:ext cx="2229655" cy="565027"/>
          </a:xfrm>
          <a:prstGeom prst="rect">
            <a:avLst/>
          </a:prstGeom>
          <a:noFill/>
        </p:spPr>
        <p:txBody>
          <a:bodyPr wrap="square" lIns="0" tIns="0" rIns="0" bIns="0" rtlCol="0">
            <a:spAutoFit/>
          </a:bodyPr>
          <a:lstStyle/>
          <a:p>
            <a:pPr defTabSz="932563"/>
            <a:r>
              <a:rPr lang="en-US" dirty="0">
                <a:solidFill>
                  <a:srgbClr val="000000"/>
                </a:solidFill>
                <a:latin typeface="Segoe UI Semibold"/>
              </a:rPr>
              <a:t>Chief Information Security Officer</a:t>
            </a:r>
          </a:p>
        </p:txBody>
      </p:sp>
      <p:sp>
        <p:nvSpPr>
          <p:cNvPr id="27" name="TextBox 26">
            <a:extLst>
              <a:ext uri="{FF2B5EF4-FFF2-40B4-BE49-F238E27FC236}">
                <a16:creationId xmlns:a16="http://schemas.microsoft.com/office/drawing/2014/main" id="{477EF2B4-F5D2-4101-8361-C528B109F1F0}"/>
              </a:ext>
            </a:extLst>
          </p:cNvPr>
          <p:cNvSpPr txBox="1"/>
          <p:nvPr/>
        </p:nvSpPr>
        <p:spPr>
          <a:xfrm>
            <a:off x="590173" y="3663629"/>
            <a:ext cx="2578426" cy="2896807"/>
          </a:xfrm>
          <a:prstGeom prst="rect">
            <a:avLst/>
          </a:prstGeom>
          <a:noFill/>
        </p:spPr>
        <p:txBody>
          <a:bodyPr wrap="square" lIns="0" tIns="0" rIns="0" bIns="0" rtlCol="0">
            <a:spAutoFit/>
          </a:bodyPr>
          <a:lstStyle/>
          <a:p>
            <a:pPr defTabSz="932563"/>
            <a:r>
              <a:rPr lang="en-US" sz="1399" dirty="0">
                <a:solidFill>
                  <a:schemeClr val="accent3"/>
                </a:solidFill>
                <a:latin typeface="Segoe UI Semibold"/>
              </a:rPr>
              <a:t>Responsibilities</a:t>
            </a:r>
          </a:p>
          <a:p>
            <a:pPr defTabSz="932563"/>
            <a:r>
              <a:rPr lang="en-US" sz="1399" dirty="0">
                <a:solidFill>
                  <a:srgbClr val="000000"/>
                </a:solidFill>
                <a:latin typeface="Segoe UI"/>
              </a:rPr>
              <a:t>Create an overall security strategy that creates resilience against cyber attacks and track performance over time</a:t>
            </a:r>
          </a:p>
          <a:p>
            <a:pPr defTabSz="932563"/>
            <a:endParaRPr lang="en-US" sz="1399" dirty="0">
              <a:solidFill>
                <a:srgbClr val="000000"/>
              </a:solidFill>
              <a:latin typeface="Segoe UI"/>
            </a:endParaRPr>
          </a:p>
          <a:p>
            <a:pPr defTabSz="932563"/>
            <a:r>
              <a:rPr lang="en-US" sz="1399" dirty="0">
                <a:solidFill>
                  <a:schemeClr val="accent3"/>
                </a:solidFill>
                <a:latin typeface="Segoe UI Semibold"/>
              </a:rPr>
              <a:t>Product use cases</a:t>
            </a:r>
          </a:p>
          <a:p>
            <a:pPr marL="231730" indent="-231730" defTabSz="932563">
              <a:spcAft>
                <a:spcPts val="1000"/>
              </a:spcAft>
              <a:buFont typeface="Arial" panose="020B0604020202020204" pitchFamily="34" charset="0"/>
              <a:buChar char="•"/>
            </a:pPr>
            <a:r>
              <a:rPr lang="en-US" sz="1399" dirty="0">
                <a:solidFill>
                  <a:srgbClr val="000000"/>
                </a:solidFill>
                <a:latin typeface="Segoe UI"/>
              </a:rPr>
              <a:t>Top level view of the </a:t>
            </a:r>
            <a:r>
              <a:rPr lang="en-US" sz="1399" dirty="0" err="1">
                <a:solidFill>
                  <a:srgbClr val="000000"/>
                </a:solidFill>
                <a:latin typeface="Segoe UI"/>
              </a:rPr>
              <a:t>multicloud</a:t>
            </a:r>
            <a:r>
              <a:rPr lang="en-US" sz="1399" dirty="0">
                <a:solidFill>
                  <a:srgbClr val="000000"/>
                </a:solidFill>
                <a:latin typeface="Segoe UI"/>
              </a:rPr>
              <a:t> security state</a:t>
            </a:r>
          </a:p>
          <a:p>
            <a:pPr marL="231730" indent="-231730" defTabSz="932563">
              <a:spcAft>
                <a:spcPts val="1000"/>
              </a:spcAft>
              <a:buFont typeface="Arial" panose="020B0604020202020204" pitchFamily="34" charset="0"/>
              <a:buChar char="•"/>
            </a:pPr>
            <a:r>
              <a:rPr lang="en-US" sz="1399" dirty="0">
                <a:solidFill>
                  <a:srgbClr val="000000"/>
                </a:solidFill>
                <a:latin typeface="Segoe UI"/>
              </a:rPr>
              <a:t>Create dashboards to visualize progress over time </a:t>
            </a:r>
          </a:p>
          <a:p>
            <a:pPr defTabSz="932563"/>
            <a:endParaRPr lang="en-US" sz="1399" dirty="0">
              <a:solidFill>
                <a:srgbClr val="000000"/>
              </a:solidFill>
              <a:latin typeface="Segoe UI"/>
            </a:endParaRPr>
          </a:p>
        </p:txBody>
      </p:sp>
      <p:cxnSp>
        <p:nvCxnSpPr>
          <p:cNvPr id="29" name="Straight Connector 28">
            <a:extLst>
              <a:ext uri="{FF2B5EF4-FFF2-40B4-BE49-F238E27FC236}">
                <a16:creationId xmlns:a16="http://schemas.microsoft.com/office/drawing/2014/main" id="{48F82F21-A2A4-4AB7-8817-C0D6B9F85EA2}"/>
              </a:ext>
              <a:ext uri="{C183D7F6-B498-43B3-948B-1728B52AA6E4}">
                <adec:decorative xmlns:adec="http://schemas.microsoft.com/office/drawing/2017/decorative" val="1"/>
              </a:ext>
            </a:extLst>
          </p:cNvPr>
          <p:cNvCxnSpPr/>
          <p:nvPr/>
        </p:nvCxnSpPr>
        <p:spPr>
          <a:xfrm>
            <a:off x="590174" y="3405869"/>
            <a:ext cx="2060218" cy="0"/>
          </a:xfrm>
          <a:prstGeom prst="line">
            <a:avLst/>
          </a:prstGeom>
          <a:ln w="28575">
            <a:solidFill>
              <a:schemeClr val="accent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02FBD93-F845-441B-99B3-BC6FF28FF2EC}"/>
              </a:ext>
            </a:extLst>
          </p:cNvPr>
          <p:cNvSpPr txBox="1"/>
          <p:nvPr/>
        </p:nvSpPr>
        <p:spPr>
          <a:xfrm>
            <a:off x="4441826" y="2547579"/>
            <a:ext cx="2229655" cy="565027"/>
          </a:xfrm>
          <a:prstGeom prst="rect">
            <a:avLst/>
          </a:prstGeom>
          <a:noFill/>
        </p:spPr>
        <p:txBody>
          <a:bodyPr wrap="square" lIns="0" tIns="0" rIns="0" bIns="0" rtlCol="0">
            <a:spAutoFit/>
          </a:bodyPr>
          <a:lstStyle/>
          <a:p>
            <a:pPr defTabSz="932563"/>
            <a:r>
              <a:rPr lang="en-US" dirty="0">
                <a:solidFill>
                  <a:srgbClr val="000000"/>
                </a:solidFill>
                <a:latin typeface="Segoe UI Semibold"/>
              </a:rPr>
              <a:t>Security </a:t>
            </a:r>
            <a:br>
              <a:rPr lang="en-US" dirty="0">
                <a:solidFill>
                  <a:srgbClr val="000000"/>
                </a:solidFill>
                <a:latin typeface="Segoe UI Semibold"/>
              </a:rPr>
            </a:br>
            <a:r>
              <a:rPr lang="en-US" dirty="0">
                <a:solidFill>
                  <a:srgbClr val="000000"/>
                </a:solidFill>
                <a:latin typeface="Segoe UI Semibold"/>
              </a:rPr>
              <a:t>Admin</a:t>
            </a:r>
          </a:p>
        </p:txBody>
      </p:sp>
      <p:sp>
        <p:nvSpPr>
          <p:cNvPr id="32" name="TextBox 31">
            <a:extLst>
              <a:ext uri="{FF2B5EF4-FFF2-40B4-BE49-F238E27FC236}">
                <a16:creationId xmlns:a16="http://schemas.microsoft.com/office/drawing/2014/main" id="{B319297B-D122-4413-8B0E-B08EB9E60319}"/>
              </a:ext>
            </a:extLst>
          </p:cNvPr>
          <p:cNvSpPr txBox="1"/>
          <p:nvPr/>
        </p:nvSpPr>
        <p:spPr>
          <a:xfrm>
            <a:off x="4441824" y="3663628"/>
            <a:ext cx="2749551" cy="3399136"/>
          </a:xfrm>
          <a:prstGeom prst="rect">
            <a:avLst/>
          </a:prstGeom>
          <a:noFill/>
        </p:spPr>
        <p:txBody>
          <a:bodyPr wrap="square" lIns="0" tIns="0" rIns="0" bIns="0" rtlCol="0">
            <a:spAutoFit/>
          </a:bodyPr>
          <a:lstStyle/>
          <a:p>
            <a:pPr defTabSz="932563"/>
            <a:r>
              <a:rPr lang="en-US" sz="1399" dirty="0">
                <a:solidFill>
                  <a:schemeClr val="accent3"/>
                </a:solidFill>
                <a:latin typeface="Segoe UI Semibold"/>
              </a:rPr>
              <a:t>Responsibilities</a:t>
            </a:r>
          </a:p>
          <a:p>
            <a:pPr defTabSz="932563"/>
            <a:r>
              <a:rPr lang="en-US" sz="1399" dirty="0">
                <a:solidFill>
                  <a:srgbClr val="000000"/>
                </a:solidFill>
                <a:latin typeface="Segoe UI"/>
              </a:rPr>
              <a:t>Reduce the attack surface of the organization’s cloud environments</a:t>
            </a:r>
          </a:p>
          <a:p>
            <a:pPr defTabSz="932563"/>
            <a:endParaRPr lang="en-US" sz="1399" dirty="0">
              <a:solidFill>
                <a:srgbClr val="000000"/>
              </a:solidFill>
              <a:latin typeface="Segoe UI"/>
            </a:endParaRPr>
          </a:p>
          <a:p>
            <a:pPr defTabSz="932563"/>
            <a:r>
              <a:rPr lang="en-US" sz="1399" dirty="0">
                <a:solidFill>
                  <a:schemeClr val="accent3"/>
                </a:solidFill>
                <a:latin typeface="Segoe UI Semibold"/>
              </a:rPr>
              <a:t>Product use cases</a:t>
            </a:r>
          </a:p>
          <a:p>
            <a:pPr marL="231730" indent="-231730" defTabSz="932563">
              <a:spcAft>
                <a:spcPts val="1000"/>
              </a:spcAft>
              <a:buFont typeface="Arial" panose="020B0604020202020204" pitchFamily="34" charset="0"/>
              <a:buChar char="•"/>
            </a:pPr>
            <a:r>
              <a:rPr lang="en-US" sz="1399" dirty="0">
                <a:solidFill>
                  <a:srgbClr val="000000"/>
                </a:solidFill>
                <a:latin typeface="Segoe UI"/>
              </a:rPr>
              <a:t>Harden the cloud environment </a:t>
            </a:r>
            <a:br>
              <a:rPr lang="en-US" sz="1399" dirty="0">
                <a:solidFill>
                  <a:srgbClr val="000000"/>
                </a:solidFill>
                <a:latin typeface="Segoe UI"/>
              </a:rPr>
            </a:br>
            <a:r>
              <a:rPr lang="en-US" sz="1399" dirty="0">
                <a:solidFill>
                  <a:srgbClr val="000000"/>
                </a:solidFill>
                <a:latin typeface="Segoe UI"/>
              </a:rPr>
              <a:t>with recommendations</a:t>
            </a:r>
          </a:p>
          <a:p>
            <a:pPr marL="231730" indent="-231730" defTabSz="932563">
              <a:spcAft>
                <a:spcPts val="1000"/>
              </a:spcAft>
              <a:buFont typeface="Arial" panose="020B0604020202020204" pitchFamily="34" charset="0"/>
              <a:buChar char="•"/>
            </a:pPr>
            <a:r>
              <a:rPr lang="en-US" sz="1399" dirty="0">
                <a:solidFill>
                  <a:srgbClr val="000000"/>
                </a:solidFill>
                <a:latin typeface="Segoe UI"/>
              </a:rPr>
              <a:t>Set security policies for the environment, monitor implementation, track down vulnerabilities</a:t>
            </a:r>
          </a:p>
          <a:p>
            <a:pPr marL="231730" indent="-231730" defTabSz="932563">
              <a:spcAft>
                <a:spcPts val="1000"/>
              </a:spcAft>
              <a:buFont typeface="Arial" panose="020B0604020202020204" pitchFamily="34" charset="0"/>
              <a:buChar char="•"/>
            </a:pPr>
            <a:r>
              <a:rPr lang="en-US" sz="1399" dirty="0">
                <a:solidFill>
                  <a:srgbClr val="000000"/>
                </a:solidFill>
                <a:latin typeface="Segoe UI"/>
              </a:rPr>
              <a:t>Manage the </a:t>
            </a:r>
            <a:r>
              <a:rPr lang="en-US" sz="1399" dirty="0" err="1">
                <a:solidFill>
                  <a:srgbClr val="000000"/>
                </a:solidFill>
                <a:latin typeface="Segoe UI"/>
              </a:rPr>
              <a:t>multicloud</a:t>
            </a:r>
            <a:r>
              <a:rPr lang="en-US" sz="1399" dirty="0">
                <a:solidFill>
                  <a:srgbClr val="000000"/>
                </a:solidFill>
                <a:latin typeface="Segoe UI"/>
              </a:rPr>
              <a:t> </a:t>
            </a:r>
            <a:br>
              <a:rPr lang="en-US" sz="1399" dirty="0">
                <a:solidFill>
                  <a:srgbClr val="000000"/>
                </a:solidFill>
                <a:latin typeface="Segoe UI"/>
              </a:rPr>
            </a:br>
            <a:r>
              <a:rPr lang="en-US" sz="1399" dirty="0">
                <a:solidFill>
                  <a:srgbClr val="000000"/>
                </a:solidFill>
                <a:latin typeface="Segoe UI"/>
              </a:rPr>
              <a:t>asset inventory</a:t>
            </a:r>
          </a:p>
          <a:p>
            <a:pPr defTabSz="932563"/>
            <a:endParaRPr lang="en-US" sz="1399" dirty="0">
              <a:solidFill>
                <a:srgbClr val="000000"/>
              </a:solidFill>
              <a:latin typeface="Segoe UI"/>
            </a:endParaRPr>
          </a:p>
        </p:txBody>
      </p:sp>
      <p:cxnSp>
        <p:nvCxnSpPr>
          <p:cNvPr id="33" name="Straight Connector 32">
            <a:extLst>
              <a:ext uri="{FF2B5EF4-FFF2-40B4-BE49-F238E27FC236}">
                <a16:creationId xmlns:a16="http://schemas.microsoft.com/office/drawing/2014/main" id="{C09530E1-B073-44A4-AC0D-4969C7B36F2C}"/>
              </a:ext>
              <a:ext uri="{C183D7F6-B498-43B3-948B-1728B52AA6E4}">
                <adec:decorative xmlns:adec="http://schemas.microsoft.com/office/drawing/2017/decorative" val="1"/>
              </a:ext>
            </a:extLst>
          </p:cNvPr>
          <p:cNvCxnSpPr/>
          <p:nvPr/>
        </p:nvCxnSpPr>
        <p:spPr>
          <a:xfrm>
            <a:off x="4441826" y="3405869"/>
            <a:ext cx="2060218" cy="0"/>
          </a:xfrm>
          <a:prstGeom prst="line">
            <a:avLst/>
          </a:prstGeom>
          <a:ln w="28575">
            <a:solidFill>
              <a:schemeClr val="accent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1D49064-C353-4683-A901-985DCEE55DBB}"/>
              </a:ext>
            </a:extLst>
          </p:cNvPr>
          <p:cNvSpPr txBox="1"/>
          <p:nvPr/>
        </p:nvSpPr>
        <p:spPr>
          <a:xfrm>
            <a:off x="8494121" y="2547579"/>
            <a:ext cx="2229655" cy="565027"/>
          </a:xfrm>
          <a:prstGeom prst="rect">
            <a:avLst/>
          </a:prstGeom>
          <a:noFill/>
        </p:spPr>
        <p:txBody>
          <a:bodyPr wrap="square" lIns="0" tIns="0" rIns="0" bIns="0" rtlCol="0">
            <a:spAutoFit/>
          </a:bodyPr>
          <a:lstStyle/>
          <a:p>
            <a:pPr defTabSz="932563"/>
            <a:r>
              <a:rPr lang="en-US" dirty="0">
                <a:solidFill>
                  <a:srgbClr val="000000"/>
                </a:solidFill>
                <a:latin typeface="Segoe UI Semibold"/>
              </a:rPr>
              <a:t>Security </a:t>
            </a:r>
            <a:br>
              <a:rPr lang="en-US" dirty="0">
                <a:solidFill>
                  <a:srgbClr val="000000"/>
                </a:solidFill>
                <a:latin typeface="Segoe UI Semibold"/>
              </a:rPr>
            </a:br>
            <a:r>
              <a:rPr lang="en-US" dirty="0">
                <a:solidFill>
                  <a:srgbClr val="000000"/>
                </a:solidFill>
                <a:latin typeface="Segoe UI Semibold"/>
              </a:rPr>
              <a:t>Operations</a:t>
            </a:r>
          </a:p>
        </p:txBody>
      </p:sp>
      <p:sp>
        <p:nvSpPr>
          <p:cNvPr id="49" name="TextBox 48">
            <a:extLst>
              <a:ext uri="{FF2B5EF4-FFF2-40B4-BE49-F238E27FC236}">
                <a16:creationId xmlns:a16="http://schemas.microsoft.com/office/drawing/2014/main" id="{1E5C7154-7F61-41FB-B59F-AF816FAC0546}"/>
              </a:ext>
            </a:extLst>
          </p:cNvPr>
          <p:cNvSpPr txBox="1"/>
          <p:nvPr/>
        </p:nvSpPr>
        <p:spPr>
          <a:xfrm>
            <a:off x="8494120" y="3663629"/>
            <a:ext cx="2973980" cy="2766013"/>
          </a:xfrm>
          <a:prstGeom prst="rect">
            <a:avLst/>
          </a:prstGeom>
          <a:noFill/>
        </p:spPr>
        <p:txBody>
          <a:bodyPr wrap="square" lIns="0" tIns="0" rIns="0" bIns="0" rtlCol="0">
            <a:spAutoFit/>
          </a:bodyPr>
          <a:lstStyle/>
          <a:p>
            <a:pPr defTabSz="932563"/>
            <a:r>
              <a:rPr lang="en-US" sz="1399" dirty="0">
                <a:solidFill>
                  <a:schemeClr val="accent3"/>
                </a:solidFill>
                <a:latin typeface="Segoe UI Semibold"/>
              </a:rPr>
              <a:t>Responsibilities</a:t>
            </a:r>
          </a:p>
          <a:p>
            <a:pPr defTabSz="932563"/>
            <a:r>
              <a:rPr lang="en-US" sz="1399" dirty="0">
                <a:solidFill>
                  <a:srgbClr val="000000"/>
                </a:solidFill>
                <a:latin typeface="Segoe UI"/>
              </a:rPr>
              <a:t>Around the clock threat hunting, investigation of breaches, and </a:t>
            </a:r>
            <a:br>
              <a:rPr lang="en-US" sz="1399" dirty="0">
                <a:solidFill>
                  <a:srgbClr val="000000"/>
                </a:solidFill>
                <a:latin typeface="Segoe UI"/>
              </a:rPr>
            </a:br>
            <a:r>
              <a:rPr lang="en-US" sz="1399" dirty="0">
                <a:solidFill>
                  <a:srgbClr val="000000"/>
                </a:solidFill>
                <a:latin typeface="Segoe UI"/>
              </a:rPr>
              <a:t>mitigation of incidents</a:t>
            </a:r>
          </a:p>
          <a:p>
            <a:pPr defTabSz="932563"/>
            <a:endParaRPr lang="en-US" sz="1399" dirty="0">
              <a:solidFill>
                <a:srgbClr val="000000"/>
              </a:solidFill>
              <a:latin typeface="Segoe UI"/>
            </a:endParaRPr>
          </a:p>
          <a:p>
            <a:pPr defTabSz="932563"/>
            <a:r>
              <a:rPr lang="en-US" sz="1399" dirty="0">
                <a:solidFill>
                  <a:schemeClr val="accent3"/>
                </a:solidFill>
                <a:latin typeface="Segoe UI Semibold"/>
              </a:rPr>
              <a:t>Product use cases</a:t>
            </a:r>
          </a:p>
          <a:p>
            <a:pPr marL="231730" indent="-231730" defTabSz="932563">
              <a:spcAft>
                <a:spcPts val="1000"/>
              </a:spcAft>
              <a:buFont typeface="Arial" panose="020B0604020202020204" pitchFamily="34" charset="0"/>
              <a:buChar char="•"/>
            </a:pPr>
            <a:r>
              <a:rPr lang="en-US" sz="1399" dirty="0">
                <a:solidFill>
                  <a:srgbClr val="000000"/>
                </a:solidFill>
                <a:latin typeface="Segoe UI"/>
              </a:rPr>
              <a:t>Leverage workload-specific threat detections and response mechanisms to identify attacks, investigate alerts and incidents, and quickly mitigate threats</a:t>
            </a:r>
          </a:p>
          <a:p>
            <a:pPr defTabSz="932563"/>
            <a:endParaRPr lang="en-US" sz="1399" dirty="0">
              <a:solidFill>
                <a:srgbClr val="000000"/>
              </a:solidFill>
              <a:latin typeface="Segoe UI"/>
            </a:endParaRPr>
          </a:p>
        </p:txBody>
      </p:sp>
      <p:cxnSp>
        <p:nvCxnSpPr>
          <p:cNvPr id="50" name="Straight Connector 49">
            <a:extLst>
              <a:ext uri="{FF2B5EF4-FFF2-40B4-BE49-F238E27FC236}">
                <a16:creationId xmlns:a16="http://schemas.microsoft.com/office/drawing/2014/main" id="{8105A864-2431-4440-AEDD-85B8EBAE1699}"/>
              </a:ext>
              <a:ext uri="{C183D7F6-B498-43B3-948B-1728B52AA6E4}">
                <adec:decorative xmlns:adec="http://schemas.microsoft.com/office/drawing/2017/decorative" val="1"/>
              </a:ext>
            </a:extLst>
          </p:cNvPr>
          <p:cNvCxnSpPr/>
          <p:nvPr/>
        </p:nvCxnSpPr>
        <p:spPr>
          <a:xfrm>
            <a:off x="8494120" y="3405869"/>
            <a:ext cx="2060218" cy="0"/>
          </a:xfrm>
          <a:prstGeom prst="line">
            <a:avLst/>
          </a:prstGeom>
          <a:ln w="28575">
            <a:solidFill>
              <a:schemeClr val="accent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38700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par>
                                <p:cTn id="8" presetID="42" presetClass="path" presetSubtype="0" decel="100000" fill="hold" nodeType="withEffect">
                                  <p:stCondLst>
                                    <p:cond delay="0"/>
                                  </p:stCondLst>
                                  <p:childTnLst>
                                    <p:animMotion origin="layout" path="M -2.76742E-6 3.50431E-6 L 0.00217 -0.03632 " pathEditMode="relative" rAng="0" ptsTypes="AA">
                                      <p:cBhvr>
                                        <p:cTn id="9" dur="500" spd="-100000" fill="hold"/>
                                        <p:tgtEl>
                                          <p:spTgt spid="52"/>
                                        </p:tgtEl>
                                        <p:attrNameLst>
                                          <p:attrName>ppt_x</p:attrName>
                                          <p:attrName>ppt_y</p:attrName>
                                        </p:attrNameLst>
                                      </p:cBhvr>
                                      <p:rCtr x="102" y="-1816"/>
                                    </p:animMotion>
                                  </p:childTnLst>
                                </p:cTn>
                              </p:par>
                              <p:par>
                                <p:cTn id="10" presetID="10" presetClass="entr" presetSubtype="0" fill="hold" nodeType="with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par>
                                <p:cTn id="13" presetID="42" presetClass="path" presetSubtype="0" decel="100000" fill="hold" nodeType="withEffect">
                                  <p:stCondLst>
                                    <p:cond delay="0"/>
                                  </p:stCondLst>
                                  <p:childTnLst>
                                    <p:animMotion origin="layout" path="M 3.81159E-6 -4.22152E-7 L 0.00217 -0.03631 " pathEditMode="relative" rAng="0" ptsTypes="AA">
                                      <p:cBhvr>
                                        <p:cTn id="14" dur="500" spd="-100000" fill="hold"/>
                                        <p:tgtEl>
                                          <p:spTgt spid="35"/>
                                        </p:tgtEl>
                                        <p:attrNameLst>
                                          <p:attrName>ppt_x</p:attrName>
                                          <p:attrName>ppt_y</p:attrName>
                                        </p:attrNameLst>
                                      </p:cBhvr>
                                      <p:rCtr x="102" y="-1816"/>
                                    </p:animMotion>
                                  </p:childTnLst>
                                </p:cTn>
                              </p:par>
                              <p:par>
                                <p:cTn id="15" presetID="10"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42" presetClass="path" presetSubtype="0" decel="100000" fill="hold" nodeType="withEffect">
                                  <p:stCondLst>
                                    <p:cond delay="0"/>
                                  </p:stCondLst>
                                  <p:childTnLst>
                                    <p:animMotion origin="layout" path="M -3.34695E-6 -4.22152E-7 L 0.00217 -0.03631 " pathEditMode="relative" rAng="0" ptsTypes="AA">
                                      <p:cBhvr>
                                        <p:cTn id="19" dur="500" spd="-100000" fill="hold"/>
                                        <p:tgtEl>
                                          <p:spTgt spid="19"/>
                                        </p:tgtEl>
                                        <p:attrNameLst>
                                          <p:attrName>ppt_x</p:attrName>
                                          <p:attrName>ppt_y</p:attrName>
                                        </p:attrNameLst>
                                      </p:cBhvr>
                                      <p:rCtr x="102" y="-1816"/>
                                    </p:animMotion>
                                  </p:childTnLst>
                                </p:cTn>
                              </p:par>
                              <p:par>
                                <p:cTn id="20" presetID="10" presetClass="entr" presetSubtype="0"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par>
                                <p:cTn id="23" presetID="42" presetClass="path" presetSubtype="0" decel="100000" fill="hold" grpId="1" nodeType="withEffect">
                                  <p:stCondLst>
                                    <p:cond delay="0"/>
                                  </p:stCondLst>
                                  <p:childTnLst>
                                    <p:animMotion origin="layout" path="M -4.71534E-6 4.55742E-6 L -0.00012 0.027 " pathEditMode="relative" rAng="0" ptsTypes="AA">
                                      <p:cBhvr>
                                        <p:cTn id="24" dur="500" spd="-100000" fill="hold"/>
                                        <p:tgtEl>
                                          <p:spTgt spid="3"/>
                                        </p:tgtEl>
                                        <p:attrNameLst>
                                          <p:attrName>ppt_x</p:attrName>
                                          <p:attrName>ppt_y</p:attrName>
                                        </p:attrNameLst>
                                      </p:cBhvr>
                                      <p:rCtr x="-13" y="1339"/>
                                    </p:animMotion>
                                  </p:childTnLst>
                                </p:cTn>
                              </p:par>
                              <p:par>
                                <p:cTn id="25" presetID="10"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par>
                                <p:cTn id="28" presetID="42" presetClass="path" presetSubtype="0" decel="100000" fill="hold" grpId="1" nodeType="withEffect">
                                  <p:stCondLst>
                                    <p:cond delay="0"/>
                                  </p:stCondLst>
                                  <p:childTnLst>
                                    <p:animMotion origin="layout" path="M -4.87618E-7 4.55742E-6 L -0.00013 0.027 " pathEditMode="relative" rAng="0" ptsTypes="AA">
                                      <p:cBhvr>
                                        <p:cTn id="29" dur="500" spd="-100000" fill="hold"/>
                                        <p:tgtEl>
                                          <p:spTgt spid="31"/>
                                        </p:tgtEl>
                                        <p:attrNameLst>
                                          <p:attrName>ppt_x</p:attrName>
                                          <p:attrName>ppt_y</p:attrName>
                                        </p:attrNameLst>
                                      </p:cBhvr>
                                      <p:rCtr x="-13" y="1339"/>
                                    </p:animMotion>
                                  </p:childTnLst>
                                </p:cTn>
                              </p:par>
                              <p:par>
                                <p:cTn id="30" presetID="10" presetClass="entr" presetSubtype="0" fill="hold" grpId="0" nodeType="with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fade">
                                      <p:cBhvr>
                                        <p:cTn id="32" dur="500"/>
                                        <p:tgtEl>
                                          <p:spTgt spid="48"/>
                                        </p:tgtEl>
                                      </p:cBhvr>
                                    </p:animEffect>
                                  </p:childTnLst>
                                </p:cTn>
                              </p:par>
                              <p:par>
                                <p:cTn id="33" presetID="42" presetClass="path" presetSubtype="0" decel="100000" fill="hold" grpId="1" nodeType="withEffect">
                                  <p:stCondLst>
                                    <p:cond delay="0"/>
                                  </p:stCondLst>
                                  <p:childTnLst>
                                    <p:animMotion origin="layout" path="M 2.35384E-6 4.55742E-6 L -0.00013 0.027 " pathEditMode="relative" rAng="0" ptsTypes="AA">
                                      <p:cBhvr>
                                        <p:cTn id="34" dur="500" spd="-100000" fill="hold"/>
                                        <p:tgtEl>
                                          <p:spTgt spid="48"/>
                                        </p:tgtEl>
                                        <p:attrNameLst>
                                          <p:attrName>ppt_x</p:attrName>
                                          <p:attrName>ppt_y</p:attrName>
                                        </p:attrNameLst>
                                      </p:cBhvr>
                                      <p:rCtr x="-13" y="1339"/>
                                    </p:animMotion>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par>
                                <p:cTn id="38" presetID="42" presetClass="path" presetSubtype="0" decel="100000" fill="hold" grpId="1" nodeType="withEffect">
                                  <p:stCondLst>
                                    <p:cond delay="0"/>
                                  </p:stCondLst>
                                  <p:childTnLst>
                                    <p:animMotion origin="layout" path="M 3.92647E-6 -1.6069E-6 L -0.00013 0.02701 " pathEditMode="relative" rAng="0" ptsTypes="AA">
                                      <p:cBhvr>
                                        <p:cTn id="39" dur="500" spd="-100000" fill="hold"/>
                                        <p:tgtEl>
                                          <p:spTgt spid="27"/>
                                        </p:tgtEl>
                                        <p:attrNameLst>
                                          <p:attrName>ppt_x</p:attrName>
                                          <p:attrName>ppt_y</p:attrName>
                                        </p:attrNameLst>
                                      </p:cBhvr>
                                      <p:rCtr x="-13" y="1339"/>
                                    </p:animMotion>
                                  </p:childTnLst>
                                </p:cTn>
                              </p:par>
                              <p:par>
                                <p:cTn id="40" presetID="10" presetClass="entr" presetSubtype="0" fill="hold" grpId="0" nodeType="with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par>
                                <p:cTn id="43" presetID="42" presetClass="path" presetSubtype="0" decel="100000" fill="hold" grpId="1" nodeType="withEffect">
                                  <p:stCondLst>
                                    <p:cond delay="0"/>
                                  </p:stCondLst>
                                  <p:childTnLst>
                                    <p:animMotion origin="layout" path="M -4.87618E-6 -1.79755E-6 L -0.00012 0.02701 " pathEditMode="relative" rAng="0" ptsTypes="AA">
                                      <p:cBhvr>
                                        <p:cTn id="44" dur="500" spd="-100000" fill="hold"/>
                                        <p:tgtEl>
                                          <p:spTgt spid="32"/>
                                        </p:tgtEl>
                                        <p:attrNameLst>
                                          <p:attrName>ppt_x</p:attrName>
                                          <p:attrName>ppt_y</p:attrName>
                                        </p:attrNameLst>
                                      </p:cBhvr>
                                      <p:rCtr x="-13" y="1339"/>
                                    </p:animMotion>
                                  </p:childTnLst>
                                </p:cTn>
                              </p:par>
                              <p:par>
                                <p:cTn id="45" presetID="10" presetClass="entr" presetSubtype="0"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fade">
                                      <p:cBhvr>
                                        <p:cTn id="47" dur="500"/>
                                        <p:tgtEl>
                                          <p:spTgt spid="49"/>
                                        </p:tgtEl>
                                      </p:cBhvr>
                                    </p:animEffect>
                                  </p:childTnLst>
                                </p:cTn>
                              </p:par>
                              <p:par>
                                <p:cTn id="48" presetID="42" presetClass="path" presetSubtype="0" decel="100000" fill="hold" grpId="1" nodeType="withEffect">
                                  <p:stCondLst>
                                    <p:cond delay="0"/>
                                  </p:stCondLst>
                                  <p:childTnLst>
                                    <p:animMotion origin="layout" path="M 2.55553E-6 3.88561E-6 L -0.00013 0.027 " pathEditMode="relative" rAng="0" ptsTypes="AA">
                                      <p:cBhvr>
                                        <p:cTn id="49" dur="500" spd="-100000" fill="hold"/>
                                        <p:tgtEl>
                                          <p:spTgt spid="49"/>
                                        </p:tgtEl>
                                        <p:attrNameLst>
                                          <p:attrName>ppt_x</p:attrName>
                                          <p:attrName>ppt_y</p:attrName>
                                        </p:attrNameLst>
                                      </p:cBhvr>
                                      <p:rCtr x="-13" y="1339"/>
                                    </p:animMotion>
                                  </p:childTnLst>
                                </p:cTn>
                              </p:par>
                              <p:par>
                                <p:cTn id="50" presetID="22" presetClass="entr" presetSubtype="8" fill="hold"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wipe(left)">
                                      <p:cBhvr>
                                        <p:cTn id="52" dur="500"/>
                                        <p:tgtEl>
                                          <p:spTgt spid="29"/>
                                        </p:tgtEl>
                                      </p:cBhvr>
                                    </p:animEffect>
                                  </p:childTnLst>
                                </p:cTn>
                              </p:par>
                              <p:par>
                                <p:cTn id="53" presetID="22" presetClass="entr" presetSubtype="8" fill="hold" nodeType="with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wipe(left)">
                                      <p:cBhvr>
                                        <p:cTn id="55" dur="500"/>
                                        <p:tgtEl>
                                          <p:spTgt spid="33"/>
                                        </p:tgtEl>
                                      </p:cBhvr>
                                    </p:animEffect>
                                  </p:childTnLst>
                                </p:cTn>
                              </p:par>
                              <p:par>
                                <p:cTn id="56" presetID="22" presetClass="entr" presetSubtype="8" fill="hold" nodeType="withEffect">
                                  <p:stCondLst>
                                    <p:cond delay="0"/>
                                  </p:stCondLst>
                                  <p:childTnLst>
                                    <p:set>
                                      <p:cBhvr>
                                        <p:cTn id="57" dur="1" fill="hold">
                                          <p:stCondLst>
                                            <p:cond delay="0"/>
                                          </p:stCondLst>
                                        </p:cTn>
                                        <p:tgtEl>
                                          <p:spTgt spid="50"/>
                                        </p:tgtEl>
                                        <p:attrNameLst>
                                          <p:attrName>style.visibility</p:attrName>
                                        </p:attrNameLst>
                                      </p:cBhvr>
                                      <p:to>
                                        <p:strVal val="visible"/>
                                      </p:to>
                                    </p:set>
                                    <p:animEffect transition="in" filter="wipe(left)">
                                      <p:cBhvr>
                                        <p:cTn id="58"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27" grpId="0"/>
      <p:bldP spid="27" grpId="1"/>
      <p:bldP spid="31" grpId="0"/>
      <p:bldP spid="31" grpId="1"/>
      <p:bldP spid="32" grpId="0"/>
      <p:bldP spid="32" grpId="1"/>
      <p:bldP spid="48" grpId="0"/>
      <p:bldP spid="48" grpId="1"/>
      <p:bldP spid="49" grpId="0"/>
      <p:bldP spid="49"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6F46F5C-567F-7733-AE5D-E16E07583E3E}"/>
              </a:ext>
            </a:extLst>
          </p:cNvPr>
          <p:cNvSpPr txBox="1">
            <a:spLocks noGrp="1"/>
          </p:cNvSpPr>
          <p:nvPr>
            <p:ph type="title" idx="4294967295"/>
          </p:nvPr>
        </p:nvSpPr>
        <p:spPr>
          <a:xfrm>
            <a:off x="541338" y="2951163"/>
            <a:ext cx="5013325" cy="1016000"/>
          </a:xfrm>
          <a:prstGeom prst="rect">
            <a:avLst/>
          </a:prstGeo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lvl1pPr algn="l" defTabSz="951121" rtl="0" eaLnBrk="1" latinLnBrk="0" hangingPunct="1">
              <a:lnSpc>
                <a:spcPct val="90000"/>
              </a:lnSpc>
              <a:spcBef>
                <a:spcPct val="0"/>
              </a:spcBef>
              <a:buNone/>
              <a:defRPr lang="en-US" sz="3672" b="0" kern="1200" cap="none" spc="-51" baseline="0" dirty="0">
                <a:ln w="3175">
                  <a:noFill/>
                </a:ln>
                <a:solidFill>
                  <a:schemeClr val="tx1"/>
                </a:solidFill>
                <a:effectLst/>
                <a:latin typeface="+mj-lt"/>
                <a:ea typeface="+mn-ea"/>
                <a:cs typeface="Segoe UI" pitchFamily="34" charset="0"/>
              </a:defRPr>
            </a:lvl1pPr>
          </a:lstStyle>
          <a:p>
            <a:pPr marL="0" marR="0" lvl="0" indent="0" algn="l" defTabSz="951121"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51" normalizeH="0" baseline="0" noProof="0" dirty="0">
                <a:ln w="3175">
                  <a:noFill/>
                </a:ln>
                <a:solidFill>
                  <a:schemeClr val="tx1"/>
                </a:solidFill>
                <a:effectLst/>
                <a:uLnTx/>
                <a:uFillTx/>
                <a:latin typeface="+mj-lt"/>
                <a:ea typeface="+mn-ea"/>
                <a:cs typeface="Segoe UI" pitchFamily="34" charset="0"/>
              </a:rPr>
              <a:t>Harden and manage your Security Posture</a:t>
            </a:r>
          </a:p>
        </p:txBody>
      </p:sp>
    </p:spTree>
    <p:extLst>
      <p:ext uri="{BB962C8B-B14F-4D97-AF65-F5344CB8AC3E}">
        <p14:creationId xmlns:p14="http://schemas.microsoft.com/office/powerpoint/2010/main" val="1331519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42" presetClass="path" presetSubtype="0" decel="100000" fill="hold" grpId="1" nodeType="withEffect">
                                  <p:stCondLst>
                                    <p:cond delay="150"/>
                                  </p:stCondLst>
                                  <p:childTnLst>
                                    <p:animMotion origin="layout" path="M 4.47536E-6 -2.88243E-6 L -0.01341 -2.88243E-6 " pathEditMode="relative" rAng="0" ptsTypes="AA">
                                      <p:cBhvr>
                                        <p:cTn id="9" dur="500" spd="-100000" fill="hold"/>
                                        <p:tgtEl>
                                          <p:spTgt spid="6"/>
                                        </p:tgtEl>
                                        <p:attrNameLst>
                                          <p:attrName>ppt_x</p:attrName>
                                          <p:attrName>ppt_y</p:attrName>
                                        </p:attrNameLst>
                                      </p:cBhvr>
                                      <p:rCtr x="-67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78A7377-7256-491A-B519-D45C5E491707}"/>
              </a:ext>
            </a:extLst>
          </p:cNvPr>
          <p:cNvSpPr>
            <a:spLocks noGrp="1"/>
          </p:cNvSpPr>
          <p:nvPr>
            <p:ph type="title"/>
          </p:nvPr>
        </p:nvSpPr>
        <p:spPr>
          <a:xfrm>
            <a:off x="562351" y="485156"/>
            <a:ext cx="11239464" cy="502246"/>
          </a:xfrm>
        </p:spPr>
        <p:txBody>
          <a:bodyPr/>
          <a:lstStyle/>
          <a:p>
            <a:r>
              <a:rPr lang="en-US" sz="3200" dirty="0"/>
              <a:t>Holistic management of your security posture in the cloud </a:t>
            </a:r>
          </a:p>
        </p:txBody>
      </p:sp>
      <p:grpSp>
        <p:nvGrpSpPr>
          <p:cNvPr id="99" name="Group 98" descr="Secure Score&#10;">
            <a:extLst>
              <a:ext uri="{FF2B5EF4-FFF2-40B4-BE49-F238E27FC236}">
                <a16:creationId xmlns:a16="http://schemas.microsoft.com/office/drawing/2014/main" id="{1E9631FE-B885-432A-870E-A6A45DE25FB8}"/>
              </a:ext>
              <a:ext uri="{C183D7F6-B498-43B3-948B-1728B52AA6E4}">
                <adec:decorative xmlns:adec="http://schemas.microsoft.com/office/drawing/2017/decorative" val="0"/>
              </a:ext>
            </a:extLst>
          </p:cNvPr>
          <p:cNvGrpSpPr/>
          <p:nvPr/>
        </p:nvGrpSpPr>
        <p:grpSpPr>
          <a:xfrm>
            <a:off x="589865" y="2469823"/>
            <a:ext cx="2709402" cy="3799214"/>
            <a:chOff x="487451" y="2305017"/>
            <a:chExt cx="2709787" cy="3943383"/>
          </a:xfrm>
          <a:solidFill>
            <a:srgbClr val="F2F2F2"/>
          </a:solidFill>
        </p:grpSpPr>
        <p:sp>
          <p:nvSpPr>
            <p:cNvPr id="100" name="Rectangle: Rounded Corners 99">
              <a:extLst>
                <a:ext uri="{FF2B5EF4-FFF2-40B4-BE49-F238E27FC236}">
                  <a16:creationId xmlns:a16="http://schemas.microsoft.com/office/drawing/2014/main" id="{B36392CA-3A5E-46AD-AD0E-34904CABFDF9}"/>
                </a:ext>
                <a:ext uri="{C183D7F6-B498-43B3-948B-1728B52AA6E4}">
                  <adec:decorative xmlns:adec="http://schemas.microsoft.com/office/drawing/2017/decorative" val="1"/>
                </a:ext>
              </a:extLst>
            </p:cNvPr>
            <p:cNvSpPr/>
            <p:nvPr/>
          </p:nvSpPr>
          <p:spPr bwMode="auto">
            <a:xfrm>
              <a:off x="487451" y="2305017"/>
              <a:ext cx="2709787" cy="3943383"/>
            </a:xfrm>
            <a:prstGeom prst="roundRect">
              <a:avLst>
                <a:gd name="adj" fmla="val 5204"/>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9701" tIns="2051145" rIns="279701" bIns="279701" numCol="1" spcCol="0" rtlCol="0" fromWordArt="0" anchor="t" anchorCtr="0" forceAA="0" compatLnSpc="1">
              <a:prstTxWarp prst="textNoShape">
                <a:avLst/>
              </a:prstTxWarp>
              <a:noAutofit/>
            </a:bodyPr>
            <a:lstStyle/>
            <a:p>
              <a:pPr algn="ctr" defTabSz="931881">
                <a:lnSpc>
                  <a:spcPct val="90000"/>
                </a:lnSpc>
                <a:spcAft>
                  <a:spcPts val="800"/>
                </a:spcAft>
                <a:defRPr/>
              </a:pPr>
              <a:endParaRPr lang="en-US" sz="1632" dirty="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sp>
          <p:nvSpPr>
            <p:cNvPr id="101" name="TextBox 100" descr="Secure Score&#10;">
              <a:extLst>
                <a:ext uri="{FF2B5EF4-FFF2-40B4-BE49-F238E27FC236}">
                  <a16:creationId xmlns:a16="http://schemas.microsoft.com/office/drawing/2014/main" id="{4B060C5F-860F-4D2E-BCFD-08CDD6923F5C}"/>
                </a:ext>
              </a:extLst>
            </p:cNvPr>
            <p:cNvSpPr txBox="1"/>
            <p:nvPr/>
          </p:nvSpPr>
          <p:spPr>
            <a:xfrm>
              <a:off x="873255" y="3565842"/>
              <a:ext cx="1938178" cy="277038"/>
            </a:xfrm>
            <a:prstGeom prst="rect">
              <a:avLst/>
            </a:prstGeom>
            <a:grpFill/>
          </p:spPr>
          <p:txBody>
            <a:bodyPr wrap="none" lIns="0" tIns="0" rIns="0" bIns="0" rtlCol="0">
              <a:spAutoFit/>
            </a:bodyPr>
            <a:lstStyle/>
            <a:p>
              <a:pPr algn="ctr" defTabSz="932563"/>
              <a:r>
                <a:rPr lang="en-US" dirty="0">
                  <a:latin typeface="Segoe UI Semibold"/>
                </a:rPr>
                <a:t>Resource visibility </a:t>
              </a:r>
            </a:p>
          </p:txBody>
        </p:sp>
        <p:sp>
          <p:nvSpPr>
            <p:cNvPr id="102" name="TextBox 101">
              <a:extLst>
                <a:ext uri="{FF2B5EF4-FFF2-40B4-BE49-F238E27FC236}">
                  <a16:creationId xmlns:a16="http://schemas.microsoft.com/office/drawing/2014/main" id="{FAD46CA0-FBAE-43B2-AAB4-5B11186D530D}"/>
                </a:ext>
              </a:extLst>
            </p:cNvPr>
            <p:cNvSpPr txBox="1"/>
            <p:nvPr/>
          </p:nvSpPr>
          <p:spPr>
            <a:xfrm>
              <a:off x="799427" y="4087632"/>
              <a:ext cx="2085834" cy="753083"/>
            </a:xfrm>
            <a:prstGeom prst="rect">
              <a:avLst/>
            </a:prstGeom>
            <a:grpFill/>
          </p:spPr>
          <p:txBody>
            <a:bodyPr wrap="square" lIns="0" tIns="0" rIns="0" bIns="0" rtlCol="0">
              <a:spAutoFit/>
            </a:bodyPr>
            <a:lstStyle/>
            <a:p>
              <a:pPr algn="ctr" defTabSz="932563"/>
              <a:r>
                <a:rPr lang="en-US" sz="1599" dirty="0">
                  <a:solidFill>
                    <a:srgbClr val="000000"/>
                  </a:solidFill>
                  <a:latin typeface="Segoe UI"/>
                </a:rPr>
                <a:t>View and manage your cloud resource inventory</a:t>
              </a:r>
              <a:endParaRPr lang="en-US" sz="1049" dirty="0">
                <a:solidFill>
                  <a:srgbClr val="000000"/>
                </a:solidFill>
                <a:latin typeface="Segoe UI"/>
              </a:endParaRPr>
            </a:p>
          </p:txBody>
        </p:sp>
      </p:grpSp>
      <p:grpSp>
        <p:nvGrpSpPr>
          <p:cNvPr id="6" name="Group 5">
            <a:extLst>
              <a:ext uri="{FF2B5EF4-FFF2-40B4-BE49-F238E27FC236}">
                <a16:creationId xmlns:a16="http://schemas.microsoft.com/office/drawing/2014/main" id="{E05EF6A5-2167-4DAD-89BC-31D620D0F13C}"/>
              </a:ext>
              <a:ext uri="{C183D7F6-B498-43B3-948B-1728B52AA6E4}">
                <adec:decorative xmlns:adec="http://schemas.microsoft.com/office/drawing/2017/decorative" val="1"/>
              </a:ext>
            </a:extLst>
          </p:cNvPr>
          <p:cNvGrpSpPr/>
          <p:nvPr/>
        </p:nvGrpSpPr>
        <p:grpSpPr>
          <a:xfrm>
            <a:off x="1341406" y="1988710"/>
            <a:ext cx="1206321" cy="1206321"/>
            <a:chOff x="3979251" y="1445219"/>
            <a:chExt cx="1554480" cy="1554480"/>
          </a:xfrm>
          <a:solidFill>
            <a:schemeClr val="accent3"/>
          </a:solidFill>
        </p:grpSpPr>
        <p:sp>
          <p:nvSpPr>
            <p:cNvPr id="116" name="Oval 115">
              <a:extLst>
                <a:ext uri="{FF2B5EF4-FFF2-40B4-BE49-F238E27FC236}">
                  <a16:creationId xmlns:a16="http://schemas.microsoft.com/office/drawing/2014/main" id="{EE6A6AA4-4AAF-40E3-B43C-646E79CACE8B}"/>
                </a:ext>
                <a:ext uri="{C183D7F6-B498-43B3-948B-1728B52AA6E4}">
                  <adec:decorative xmlns:adec="http://schemas.microsoft.com/office/drawing/2017/decorative" val="1"/>
                </a:ext>
              </a:extLst>
            </p:cNvPr>
            <p:cNvSpPr/>
            <p:nvPr/>
          </p:nvSpPr>
          <p:spPr bwMode="auto">
            <a:xfrm>
              <a:off x="3979251" y="1445219"/>
              <a:ext cx="1554480" cy="1554480"/>
            </a:xfrm>
            <a:prstGeom prst="ellipse">
              <a:avLst/>
            </a:prstGeom>
            <a:solidFill>
              <a:srgbClr val="FFB900"/>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defTabSz="932293" fontAlgn="base">
                <a:spcBef>
                  <a:spcPct val="0"/>
                </a:spcBef>
                <a:spcAft>
                  <a:spcPct val="0"/>
                </a:spcAft>
              </a:pPr>
              <a:endParaRPr lang="en-US" sz="2000" dirty="0">
                <a:solidFill>
                  <a:srgbClr val="FFFFFF"/>
                </a:solidFill>
                <a:latin typeface="Segoe UI"/>
                <a:ea typeface="Segoe UI" pitchFamily="34" charset="0"/>
                <a:cs typeface="Segoe UI" pitchFamily="34" charset="0"/>
              </a:endParaRPr>
            </a:p>
          </p:txBody>
        </p:sp>
        <p:pic>
          <p:nvPicPr>
            <p:cNvPr id="122" name="Graphic 121">
              <a:extLst>
                <a:ext uri="{FF2B5EF4-FFF2-40B4-BE49-F238E27FC236}">
                  <a16:creationId xmlns:a16="http://schemas.microsoft.com/office/drawing/2014/main" id="{A694E5A7-1D99-4F86-8850-98CD31C12F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69007" y="1931570"/>
              <a:ext cx="588751" cy="570909"/>
            </a:xfrm>
            <a:prstGeom prst="rect">
              <a:avLst/>
            </a:prstGeom>
          </p:spPr>
        </p:pic>
      </p:grpSp>
      <p:grpSp>
        <p:nvGrpSpPr>
          <p:cNvPr id="103" name="Group 102" descr="Resource visibility &#10;">
            <a:extLst>
              <a:ext uri="{FF2B5EF4-FFF2-40B4-BE49-F238E27FC236}">
                <a16:creationId xmlns:a16="http://schemas.microsoft.com/office/drawing/2014/main" id="{F9D3C930-026A-4AF1-A755-F8A1D61F6510}"/>
              </a:ext>
              <a:ext uri="{C183D7F6-B498-43B3-948B-1728B52AA6E4}">
                <adec:decorative xmlns:adec="http://schemas.microsoft.com/office/drawing/2017/decorative" val="0"/>
              </a:ext>
            </a:extLst>
          </p:cNvPr>
          <p:cNvGrpSpPr/>
          <p:nvPr/>
        </p:nvGrpSpPr>
        <p:grpSpPr>
          <a:xfrm>
            <a:off x="3503598" y="2469822"/>
            <a:ext cx="2709402" cy="3799215"/>
            <a:chOff x="3401598" y="2307251"/>
            <a:chExt cx="2709787" cy="3962177"/>
          </a:xfrm>
          <a:solidFill>
            <a:srgbClr val="F2F2F2"/>
          </a:solidFill>
        </p:grpSpPr>
        <p:sp>
          <p:nvSpPr>
            <p:cNvPr id="104" name="Rectangle: Rounded Corners 103">
              <a:extLst>
                <a:ext uri="{FF2B5EF4-FFF2-40B4-BE49-F238E27FC236}">
                  <a16:creationId xmlns:a16="http://schemas.microsoft.com/office/drawing/2014/main" id="{180480D1-3E71-4B45-894B-C9A751037BBE}"/>
                </a:ext>
                <a:ext uri="{C183D7F6-B498-43B3-948B-1728B52AA6E4}">
                  <adec:decorative xmlns:adec="http://schemas.microsoft.com/office/drawing/2017/decorative" val="1"/>
                </a:ext>
              </a:extLst>
            </p:cNvPr>
            <p:cNvSpPr/>
            <p:nvPr/>
          </p:nvSpPr>
          <p:spPr bwMode="auto">
            <a:xfrm>
              <a:off x="3401598" y="2307251"/>
              <a:ext cx="2709787" cy="3962177"/>
            </a:xfrm>
            <a:prstGeom prst="roundRect">
              <a:avLst>
                <a:gd name="adj" fmla="val 5204"/>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9701" tIns="2051145" rIns="279701" bIns="279701" numCol="1" spcCol="0" rtlCol="0" fromWordArt="0" anchor="t" anchorCtr="0" forceAA="0" compatLnSpc="1">
              <a:prstTxWarp prst="textNoShape">
                <a:avLst/>
              </a:prstTxWarp>
              <a:noAutofit/>
            </a:bodyPr>
            <a:lstStyle/>
            <a:p>
              <a:pPr algn="ctr" defTabSz="931881">
                <a:lnSpc>
                  <a:spcPct val="90000"/>
                </a:lnSpc>
                <a:spcAft>
                  <a:spcPts val="800"/>
                </a:spcAft>
                <a:defRPr/>
              </a:pPr>
              <a:endParaRPr lang="en-US" sz="1632" dirty="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sp>
          <p:nvSpPr>
            <p:cNvPr id="105" name="TextBox 104">
              <a:extLst>
                <a:ext uri="{FF2B5EF4-FFF2-40B4-BE49-F238E27FC236}">
                  <a16:creationId xmlns:a16="http://schemas.microsoft.com/office/drawing/2014/main" id="{BDBB5D5B-42BF-4C6E-B78C-3B6B22CE2B11}"/>
                </a:ext>
              </a:extLst>
            </p:cNvPr>
            <p:cNvSpPr txBox="1"/>
            <p:nvPr/>
          </p:nvSpPr>
          <p:spPr>
            <a:xfrm>
              <a:off x="3458332" y="3565842"/>
              <a:ext cx="2596318" cy="277038"/>
            </a:xfrm>
            <a:prstGeom prst="rect">
              <a:avLst/>
            </a:prstGeom>
            <a:grpFill/>
          </p:spPr>
          <p:txBody>
            <a:bodyPr wrap="square" lIns="0" tIns="0" rIns="0" bIns="0" rtlCol="0">
              <a:spAutoFit/>
            </a:bodyPr>
            <a:lstStyle/>
            <a:p>
              <a:pPr algn="ctr" defTabSz="932563"/>
              <a:r>
                <a:rPr lang="en-US" dirty="0">
                  <a:latin typeface="Segoe UI Semibold"/>
                </a:rPr>
                <a:t>Secure Score</a:t>
              </a:r>
            </a:p>
          </p:txBody>
        </p:sp>
        <p:sp>
          <p:nvSpPr>
            <p:cNvPr id="106" name="TextBox 105">
              <a:extLst>
                <a:ext uri="{FF2B5EF4-FFF2-40B4-BE49-F238E27FC236}">
                  <a16:creationId xmlns:a16="http://schemas.microsoft.com/office/drawing/2014/main" id="{9A967C73-0DF2-4785-B384-5F44A4D68372}"/>
                </a:ext>
              </a:extLst>
            </p:cNvPr>
            <p:cNvSpPr txBox="1"/>
            <p:nvPr/>
          </p:nvSpPr>
          <p:spPr>
            <a:xfrm>
              <a:off x="3800670" y="4087632"/>
              <a:ext cx="1911642" cy="1757194"/>
            </a:xfrm>
            <a:prstGeom prst="rect">
              <a:avLst/>
            </a:prstGeom>
            <a:grpFill/>
          </p:spPr>
          <p:txBody>
            <a:bodyPr wrap="square" lIns="0" tIns="0" rIns="0" bIns="0" rtlCol="0">
              <a:spAutoFit/>
            </a:bodyPr>
            <a:lstStyle/>
            <a:p>
              <a:pPr algn="ctr" defTabSz="932563"/>
              <a:r>
                <a:rPr lang="en-US" sz="1599" dirty="0">
                  <a:solidFill>
                    <a:srgbClr val="000000"/>
                  </a:solidFill>
                  <a:latin typeface="Segoe UI"/>
                </a:rPr>
                <a:t>Understand the bottom line of </a:t>
              </a:r>
              <a:br>
                <a:rPr lang="en-US" sz="1599" dirty="0">
                  <a:solidFill>
                    <a:srgbClr val="000000"/>
                  </a:solidFill>
                  <a:latin typeface="Segoe UI"/>
                </a:rPr>
              </a:br>
              <a:r>
                <a:rPr lang="en-US" sz="1599" dirty="0">
                  <a:solidFill>
                    <a:srgbClr val="000000"/>
                  </a:solidFill>
                  <a:latin typeface="Segoe UI"/>
                </a:rPr>
                <a:t>your security </a:t>
              </a:r>
              <a:br>
                <a:rPr lang="en-US" sz="1599" dirty="0">
                  <a:solidFill>
                    <a:srgbClr val="000000"/>
                  </a:solidFill>
                  <a:latin typeface="Segoe UI"/>
                </a:rPr>
              </a:br>
              <a:r>
                <a:rPr lang="en-US" sz="1599" dirty="0">
                  <a:solidFill>
                    <a:srgbClr val="000000"/>
                  </a:solidFill>
                  <a:latin typeface="Segoe UI"/>
                </a:rPr>
                <a:t>posture, implement recommendations, </a:t>
              </a:r>
              <a:br>
                <a:rPr lang="en-US" sz="1599" dirty="0">
                  <a:solidFill>
                    <a:srgbClr val="000000"/>
                  </a:solidFill>
                  <a:latin typeface="Segoe UI"/>
                </a:rPr>
              </a:br>
              <a:r>
                <a:rPr lang="en-US" sz="1599" dirty="0">
                  <a:solidFill>
                    <a:srgbClr val="000000"/>
                  </a:solidFill>
                  <a:latin typeface="Segoe UI"/>
                </a:rPr>
                <a:t>and monitor </a:t>
              </a:r>
              <a:br>
                <a:rPr lang="en-US" sz="1599" dirty="0">
                  <a:solidFill>
                    <a:srgbClr val="000000"/>
                  </a:solidFill>
                  <a:latin typeface="Segoe UI"/>
                </a:rPr>
              </a:br>
              <a:r>
                <a:rPr lang="en-US" sz="1599" dirty="0">
                  <a:solidFill>
                    <a:srgbClr val="000000"/>
                  </a:solidFill>
                  <a:latin typeface="Segoe UI"/>
                </a:rPr>
                <a:t>over time</a:t>
              </a:r>
            </a:p>
          </p:txBody>
        </p:sp>
      </p:grpSp>
      <p:grpSp>
        <p:nvGrpSpPr>
          <p:cNvPr id="5" name="Group 4" descr="speedometer">
            <a:extLst>
              <a:ext uri="{FF2B5EF4-FFF2-40B4-BE49-F238E27FC236}">
                <a16:creationId xmlns:a16="http://schemas.microsoft.com/office/drawing/2014/main" id="{FBE37C65-B54A-441B-BB21-31D4C7796FE0}"/>
              </a:ext>
            </a:extLst>
          </p:cNvPr>
          <p:cNvGrpSpPr/>
          <p:nvPr/>
        </p:nvGrpSpPr>
        <p:grpSpPr>
          <a:xfrm>
            <a:off x="4255139" y="1988710"/>
            <a:ext cx="1206320" cy="1206320"/>
            <a:chOff x="1065104" y="1445219"/>
            <a:chExt cx="1554480" cy="1554480"/>
          </a:xfrm>
          <a:solidFill>
            <a:schemeClr val="accent3"/>
          </a:solidFill>
        </p:grpSpPr>
        <p:sp>
          <p:nvSpPr>
            <p:cNvPr id="115" name="Oval 114">
              <a:extLst>
                <a:ext uri="{FF2B5EF4-FFF2-40B4-BE49-F238E27FC236}">
                  <a16:creationId xmlns:a16="http://schemas.microsoft.com/office/drawing/2014/main" id="{5D806E1F-287A-4057-9E34-18BDD91354D5}"/>
                </a:ext>
                <a:ext uri="{C183D7F6-B498-43B3-948B-1728B52AA6E4}">
                  <adec:decorative xmlns:adec="http://schemas.microsoft.com/office/drawing/2017/decorative" val="1"/>
                </a:ext>
              </a:extLst>
            </p:cNvPr>
            <p:cNvSpPr/>
            <p:nvPr/>
          </p:nvSpPr>
          <p:spPr bwMode="auto">
            <a:xfrm>
              <a:off x="1065104" y="1445219"/>
              <a:ext cx="1554480" cy="1554480"/>
            </a:xfrm>
            <a:prstGeom prst="ellipse">
              <a:avLst/>
            </a:prstGeom>
            <a:grp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defTabSz="932293" fontAlgn="base">
                <a:spcBef>
                  <a:spcPct val="0"/>
                </a:spcBef>
                <a:spcAft>
                  <a:spcPct val="0"/>
                </a:spcAft>
              </a:pPr>
              <a:endParaRPr lang="en-US" sz="2000" dirty="0">
                <a:solidFill>
                  <a:srgbClr val="FFFFFF"/>
                </a:solidFill>
                <a:latin typeface="Segoe UI"/>
                <a:ea typeface="Segoe UI" pitchFamily="34" charset="0"/>
                <a:cs typeface="Segoe UI" pitchFamily="34" charset="0"/>
              </a:endParaRPr>
            </a:p>
          </p:txBody>
        </p:sp>
        <p:sp>
          <p:nvSpPr>
            <p:cNvPr id="121" name="speedometer_2">
              <a:extLst>
                <a:ext uri="{FF2B5EF4-FFF2-40B4-BE49-F238E27FC236}">
                  <a16:creationId xmlns:a16="http://schemas.microsoft.com/office/drawing/2014/main" id="{6A34219E-BE8D-4949-BB06-1AF91AE8ED7C}"/>
                </a:ext>
              </a:extLst>
            </p:cNvPr>
            <p:cNvSpPr>
              <a:spLocks noChangeAspect="1" noEditPoints="1"/>
            </p:cNvSpPr>
            <p:nvPr/>
          </p:nvSpPr>
          <p:spPr bwMode="auto">
            <a:xfrm>
              <a:off x="1500330" y="1861587"/>
              <a:ext cx="692721" cy="692721"/>
            </a:xfrm>
            <a:custGeom>
              <a:avLst/>
              <a:gdLst>
                <a:gd name="T0" fmla="*/ 155 w 281"/>
                <a:gd name="T1" fmla="*/ 155 h 281"/>
                <a:gd name="T2" fmla="*/ 126 w 281"/>
                <a:gd name="T3" fmla="*/ 155 h 281"/>
                <a:gd name="T4" fmla="*/ 126 w 281"/>
                <a:gd name="T5" fmla="*/ 126 h 281"/>
                <a:gd name="T6" fmla="*/ 155 w 281"/>
                <a:gd name="T7" fmla="*/ 126 h 281"/>
                <a:gd name="T8" fmla="*/ 155 w 281"/>
                <a:gd name="T9" fmla="*/ 155 h 281"/>
                <a:gd name="T10" fmla="*/ 140 w 281"/>
                <a:gd name="T11" fmla="*/ 0 h 281"/>
                <a:gd name="T12" fmla="*/ 0 w 281"/>
                <a:gd name="T13" fmla="*/ 141 h 281"/>
                <a:gd name="T14" fmla="*/ 140 w 281"/>
                <a:gd name="T15" fmla="*/ 281 h 281"/>
                <a:gd name="T16" fmla="*/ 281 w 281"/>
                <a:gd name="T17" fmla="*/ 141 h 281"/>
                <a:gd name="T18" fmla="*/ 140 w 281"/>
                <a:gd name="T19" fmla="*/ 0 h 281"/>
                <a:gd name="T20" fmla="*/ 214 w 281"/>
                <a:gd name="T21" fmla="*/ 210 h 281"/>
                <a:gd name="T22" fmla="*/ 241 w 281"/>
                <a:gd name="T23" fmla="*/ 141 h 281"/>
                <a:gd name="T24" fmla="*/ 235 w 281"/>
                <a:gd name="T25" fmla="*/ 105 h 281"/>
                <a:gd name="T26" fmla="*/ 174 w 281"/>
                <a:gd name="T27" fmla="*/ 45 h 281"/>
                <a:gd name="T28" fmla="*/ 140 w 281"/>
                <a:gd name="T29" fmla="*/ 40 h 281"/>
                <a:gd name="T30" fmla="*/ 40 w 281"/>
                <a:gd name="T31" fmla="*/ 141 h 281"/>
                <a:gd name="T32" fmla="*/ 67 w 281"/>
                <a:gd name="T33" fmla="*/ 210 h 281"/>
                <a:gd name="T34" fmla="*/ 212 w 281"/>
                <a:gd name="T35" fmla="*/ 69 h 281"/>
                <a:gd name="T36" fmla="*/ 157 w 281"/>
                <a:gd name="T37" fmla="*/ 124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1" h="281">
                  <a:moveTo>
                    <a:pt x="155" y="155"/>
                  </a:moveTo>
                  <a:cubicBezTo>
                    <a:pt x="147" y="164"/>
                    <a:pt x="134" y="164"/>
                    <a:pt x="126" y="155"/>
                  </a:cubicBezTo>
                  <a:cubicBezTo>
                    <a:pt x="117" y="147"/>
                    <a:pt x="117" y="134"/>
                    <a:pt x="126" y="126"/>
                  </a:cubicBezTo>
                  <a:cubicBezTo>
                    <a:pt x="134" y="118"/>
                    <a:pt x="147" y="117"/>
                    <a:pt x="155" y="126"/>
                  </a:cubicBezTo>
                  <a:cubicBezTo>
                    <a:pt x="164" y="134"/>
                    <a:pt x="164" y="147"/>
                    <a:pt x="155" y="155"/>
                  </a:cubicBezTo>
                  <a:close/>
                  <a:moveTo>
                    <a:pt x="140" y="0"/>
                  </a:moveTo>
                  <a:cubicBezTo>
                    <a:pt x="63" y="0"/>
                    <a:pt x="0" y="63"/>
                    <a:pt x="0" y="141"/>
                  </a:cubicBezTo>
                  <a:cubicBezTo>
                    <a:pt x="0" y="218"/>
                    <a:pt x="63" y="281"/>
                    <a:pt x="140" y="281"/>
                  </a:cubicBezTo>
                  <a:cubicBezTo>
                    <a:pt x="218" y="281"/>
                    <a:pt x="281" y="218"/>
                    <a:pt x="281" y="141"/>
                  </a:cubicBezTo>
                  <a:cubicBezTo>
                    <a:pt x="281" y="63"/>
                    <a:pt x="218" y="0"/>
                    <a:pt x="140" y="0"/>
                  </a:cubicBezTo>
                  <a:close/>
                  <a:moveTo>
                    <a:pt x="214" y="210"/>
                  </a:moveTo>
                  <a:cubicBezTo>
                    <a:pt x="231" y="192"/>
                    <a:pt x="241" y="168"/>
                    <a:pt x="241" y="141"/>
                  </a:cubicBezTo>
                  <a:cubicBezTo>
                    <a:pt x="241" y="128"/>
                    <a:pt x="239" y="116"/>
                    <a:pt x="235" y="105"/>
                  </a:cubicBezTo>
                  <a:moveTo>
                    <a:pt x="174" y="45"/>
                  </a:moveTo>
                  <a:cubicBezTo>
                    <a:pt x="163" y="42"/>
                    <a:pt x="152" y="40"/>
                    <a:pt x="140" y="40"/>
                  </a:cubicBezTo>
                  <a:cubicBezTo>
                    <a:pt x="85" y="40"/>
                    <a:pt x="40" y="85"/>
                    <a:pt x="40" y="141"/>
                  </a:cubicBezTo>
                  <a:cubicBezTo>
                    <a:pt x="40" y="168"/>
                    <a:pt x="50" y="192"/>
                    <a:pt x="67" y="210"/>
                  </a:cubicBezTo>
                  <a:moveTo>
                    <a:pt x="212" y="69"/>
                  </a:moveTo>
                  <a:cubicBezTo>
                    <a:pt x="157" y="124"/>
                    <a:pt x="157" y="124"/>
                    <a:pt x="157" y="124"/>
                  </a:cubicBezTo>
                </a:path>
              </a:pathLst>
            </a:custGeom>
            <a:noFill/>
            <a:ln w="19050" cap="sq">
              <a:solidFill>
                <a:schemeClr val="bg1"/>
              </a:solidFill>
              <a:prstDash val="solid"/>
              <a:miter lim="800000"/>
              <a:headEnd/>
              <a:tailEnd/>
            </a:ln>
          </p:spPr>
          <p:txBody>
            <a:bodyPr vert="horz" wrap="square" lIns="91401" tIns="45700" rIns="91401" bIns="45700" numCol="1" anchor="t" anchorCtr="0" compatLnSpc="1">
              <a:prstTxWarp prst="textNoShape">
                <a:avLst/>
              </a:prstTxWarp>
            </a:bodyPr>
            <a:lstStyle/>
            <a:p>
              <a:pPr defTabSz="932239"/>
              <a:endParaRPr lang="en-US" sz="1762" dirty="0">
                <a:gradFill>
                  <a:gsLst>
                    <a:gs pos="0">
                      <a:srgbClr val="505050"/>
                    </a:gs>
                    <a:gs pos="100000">
                      <a:srgbClr val="505050"/>
                    </a:gs>
                  </a:gsLst>
                </a:gradFill>
                <a:latin typeface="Segoe UI"/>
              </a:endParaRPr>
            </a:p>
          </p:txBody>
        </p:sp>
      </p:grpSp>
      <p:grpSp>
        <p:nvGrpSpPr>
          <p:cNvPr id="107" name="Group 106" descr="Compliance&#10;">
            <a:extLst>
              <a:ext uri="{FF2B5EF4-FFF2-40B4-BE49-F238E27FC236}">
                <a16:creationId xmlns:a16="http://schemas.microsoft.com/office/drawing/2014/main" id="{ADFBC3A1-1602-4D2E-A784-3D0EB5E6861B}"/>
              </a:ext>
              <a:ext uri="{C183D7F6-B498-43B3-948B-1728B52AA6E4}">
                <adec:decorative xmlns:adec="http://schemas.microsoft.com/office/drawing/2017/decorative" val="0"/>
              </a:ext>
            </a:extLst>
          </p:cNvPr>
          <p:cNvGrpSpPr/>
          <p:nvPr/>
        </p:nvGrpSpPr>
        <p:grpSpPr>
          <a:xfrm>
            <a:off x="6417332" y="2469822"/>
            <a:ext cx="2709402" cy="3799215"/>
            <a:chOff x="6315745" y="2307251"/>
            <a:chExt cx="2709787" cy="3962177"/>
          </a:xfrm>
          <a:solidFill>
            <a:srgbClr val="F2F2F2"/>
          </a:solidFill>
        </p:grpSpPr>
        <p:sp>
          <p:nvSpPr>
            <p:cNvPr id="108" name="Rectangle: Rounded Corners 107">
              <a:extLst>
                <a:ext uri="{FF2B5EF4-FFF2-40B4-BE49-F238E27FC236}">
                  <a16:creationId xmlns:a16="http://schemas.microsoft.com/office/drawing/2014/main" id="{2710C0F5-BE0B-45BB-95AA-1DA4AF8C02B6}"/>
                </a:ext>
                <a:ext uri="{C183D7F6-B498-43B3-948B-1728B52AA6E4}">
                  <adec:decorative xmlns:adec="http://schemas.microsoft.com/office/drawing/2017/decorative" val="1"/>
                </a:ext>
              </a:extLst>
            </p:cNvPr>
            <p:cNvSpPr/>
            <p:nvPr/>
          </p:nvSpPr>
          <p:spPr bwMode="auto">
            <a:xfrm>
              <a:off x="6315745" y="2307251"/>
              <a:ext cx="2709787" cy="3962177"/>
            </a:xfrm>
            <a:prstGeom prst="roundRect">
              <a:avLst>
                <a:gd name="adj" fmla="val 5204"/>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9701" tIns="2051145" rIns="279701" bIns="279701" numCol="1" spcCol="0" rtlCol="0" fromWordArt="0" anchor="t" anchorCtr="0" forceAA="0" compatLnSpc="1">
              <a:prstTxWarp prst="textNoShape">
                <a:avLst/>
              </a:prstTxWarp>
              <a:noAutofit/>
            </a:bodyPr>
            <a:lstStyle/>
            <a:p>
              <a:pPr algn="ctr" defTabSz="931881">
                <a:lnSpc>
                  <a:spcPct val="90000"/>
                </a:lnSpc>
                <a:spcAft>
                  <a:spcPts val="800"/>
                </a:spcAft>
                <a:defRPr/>
              </a:pPr>
              <a:endParaRPr lang="en-US" sz="1632" dirty="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sp>
          <p:nvSpPr>
            <p:cNvPr id="109" name="TextBox 108">
              <a:extLst>
                <a:ext uri="{FF2B5EF4-FFF2-40B4-BE49-F238E27FC236}">
                  <a16:creationId xmlns:a16="http://schemas.microsoft.com/office/drawing/2014/main" id="{C378CCE3-E204-43DE-A704-46C3186CCAD6}"/>
                </a:ext>
              </a:extLst>
            </p:cNvPr>
            <p:cNvSpPr txBox="1"/>
            <p:nvPr/>
          </p:nvSpPr>
          <p:spPr>
            <a:xfrm>
              <a:off x="7053395" y="3565842"/>
              <a:ext cx="1234487" cy="277038"/>
            </a:xfrm>
            <a:prstGeom prst="rect">
              <a:avLst/>
            </a:prstGeom>
            <a:grpFill/>
          </p:spPr>
          <p:txBody>
            <a:bodyPr wrap="none" lIns="0" tIns="0" rIns="0" bIns="0" rtlCol="0">
              <a:spAutoFit/>
            </a:bodyPr>
            <a:lstStyle/>
            <a:p>
              <a:pPr algn="ctr" defTabSz="932563"/>
              <a:r>
                <a:rPr lang="en-US" dirty="0">
                  <a:latin typeface="Segoe UI Semibold"/>
                </a:rPr>
                <a:t>Compliance</a:t>
              </a:r>
            </a:p>
          </p:txBody>
        </p:sp>
        <p:sp>
          <p:nvSpPr>
            <p:cNvPr id="110" name="TextBox 109">
              <a:extLst>
                <a:ext uri="{FF2B5EF4-FFF2-40B4-BE49-F238E27FC236}">
                  <a16:creationId xmlns:a16="http://schemas.microsoft.com/office/drawing/2014/main" id="{69F18C2F-C950-43F7-AF97-6D91FE5D5A5C}"/>
                </a:ext>
              </a:extLst>
            </p:cNvPr>
            <p:cNvSpPr txBox="1"/>
            <p:nvPr/>
          </p:nvSpPr>
          <p:spPr>
            <a:xfrm>
              <a:off x="6372903" y="4087632"/>
              <a:ext cx="2547342" cy="1231280"/>
            </a:xfrm>
            <a:prstGeom prst="rect">
              <a:avLst/>
            </a:prstGeom>
            <a:grpFill/>
          </p:spPr>
          <p:txBody>
            <a:bodyPr wrap="square" lIns="0" tIns="0" rIns="0" bIns="0" rtlCol="0" anchor="t">
              <a:spAutoFit/>
            </a:bodyPr>
            <a:lstStyle/>
            <a:p>
              <a:pPr algn="ctr" defTabSz="932563"/>
              <a:r>
                <a:rPr lang="en-US" sz="1600" dirty="0">
                  <a:solidFill>
                    <a:srgbClr val="000000"/>
                  </a:solidFill>
                  <a:latin typeface="Segoe UI"/>
                </a:rPr>
                <a:t>Ensure your configurations</a:t>
              </a:r>
              <a:br>
                <a:rPr lang="en-US" sz="1600" dirty="0">
                  <a:solidFill>
                    <a:srgbClr val="000000"/>
                  </a:solidFill>
                  <a:latin typeface="Segoe UI"/>
                </a:rPr>
              </a:br>
              <a:r>
                <a:rPr lang="en-US" sz="1600" dirty="0">
                  <a:solidFill>
                    <a:srgbClr val="000000"/>
                  </a:solidFill>
                  <a:latin typeface="Segoe UI"/>
                </a:rPr>
                <a:t>align with key </a:t>
              </a:r>
              <a:br>
                <a:rPr lang="en-US" sz="1600" dirty="0">
                  <a:solidFill>
                    <a:srgbClr val="000000"/>
                  </a:solidFill>
                  <a:latin typeface="Segoe UI"/>
                </a:rPr>
              </a:br>
              <a:r>
                <a:rPr lang="en-US" sz="1600" dirty="0">
                  <a:solidFill>
                    <a:srgbClr val="000000"/>
                  </a:solidFill>
                  <a:latin typeface="Segoe UI"/>
                </a:rPr>
                <a:t>compliance standards </a:t>
              </a:r>
            </a:p>
            <a:p>
              <a:pPr algn="ctr" defTabSz="932563"/>
              <a:r>
                <a:rPr lang="en-US" sz="1600" dirty="0">
                  <a:solidFill>
                    <a:srgbClr val="000000"/>
                  </a:solidFill>
                  <a:latin typeface="Segoe UI"/>
                </a:rPr>
                <a:t>and enforce </a:t>
              </a:r>
              <a:br>
                <a:rPr lang="en-US" sz="1600" dirty="0">
                  <a:solidFill>
                    <a:srgbClr val="000000"/>
                  </a:solidFill>
                  <a:latin typeface="Segoe UI"/>
                </a:rPr>
              </a:br>
              <a:r>
                <a:rPr lang="en-US" sz="1600" dirty="0">
                  <a:solidFill>
                    <a:srgbClr val="000000"/>
                  </a:solidFill>
                  <a:latin typeface="Segoe UI"/>
                </a:rPr>
                <a:t>organizational policies</a:t>
              </a:r>
            </a:p>
          </p:txBody>
        </p:sp>
      </p:grpSp>
      <p:grpSp>
        <p:nvGrpSpPr>
          <p:cNvPr id="7" name="Group 6">
            <a:extLst>
              <a:ext uri="{FF2B5EF4-FFF2-40B4-BE49-F238E27FC236}">
                <a16:creationId xmlns:a16="http://schemas.microsoft.com/office/drawing/2014/main" id="{02B8C907-010D-4AB5-859B-CB274D8CAF7E}"/>
              </a:ext>
              <a:ext uri="{C183D7F6-B498-43B3-948B-1728B52AA6E4}">
                <adec:decorative xmlns:adec="http://schemas.microsoft.com/office/drawing/2017/decorative" val="1"/>
              </a:ext>
            </a:extLst>
          </p:cNvPr>
          <p:cNvGrpSpPr/>
          <p:nvPr/>
        </p:nvGrpSpPr>
        <p:grpSpPr>
          <a:xfrm>
            <a:off x="7169951" y="1988710"/>
            <a:ext cx="1204165" cy="1204165"/>
            <a:chOff x="6893398" y="1445219"/>
            <a:chExt cx="1554480" cy="1554480"/>
          </a:xfrm>
          <a:solidFill>
            <a:schemeClr val="accent3"/>
          </a:solidFill>
        </p:grpSpPr>
        <p:sp>
          <p:nvSpPr>
            <p:cNvPr id="117" name="Oval 116">
              <a:extLst>
                <a:ext uri="{FF2B5EF4-FFF2-40B4-BE49-F238E27FC236}">
                  <a16:creationId xmlns:a16="http://schemas.microsoft.com/office/drawing/2014/main" id="{E699D7AE-C146-4960-BF89-5DB804C41800}"/>
                </a:ext>
                <a:ext uri="{C183D7F6-B498-43B3-948B-1728B52AA6E4}">
                  <adec:decorative xmlns:adec="http://schemas.microsoft.com/office/drawing/2017/decorative" val="1"/>
                </a:ext>
              </a:extLst>
            </p:cNvPr>
            <p:cNvSpPr/>
            <p:nvPr/>
          </p:nvSpPr>
          <p:spPr bwMode="auto">
            <a:xfrm>
              <a:off x="6893398" y="1445219"/>
              <a:ext cx="1554480" cy="1554480"/>
            </a:xfrm>
            <a:prstGeom prst="ellipse">
              <a:avLst/>
            </a:prstGeom>
            <a:solidFill>
              <a:srgbClr val="0078D4"/>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defTabSz="932293" fontAlgn="base">
                <a:spcBef>
                  <a:spcPct val="0"/>
                </a:spcBef>
                <a:spcAft>
                  <a:spcPct val="0"/>
                </a:spcAft>
              </a:pPr>
              <a:endParaRPr lang="en-US" sz="2000" dirty="0">
                <a:solidFill>
                  <a:srgbClr val="FFFFFF"/>
                </a:solidFill>
                <a:latin typeface="Segoe UI"/>
                <a:ea typeface="Segoe UI" pitchFamily="34" charset="0"/>
                <a:cs typeface="Segoe UI" pitchFamily="34" charset="0"/>
              </a:endParaRPr>
            </a:p>
          </p:txBody>
        </p:sp>
        <p:sp>
          <p:nvSpPr>
            <p:cNvPr id="123" name="Graphic 106">
              <a:extLst>
                <a:ext uri="{FF2B5EF4-FFF2-40B4-BE49-F238E27FC236}">
                  <a16:creationId xmlns:a16="http://schemas.microsoft.com/office/drawing/2014/main" id="{926CE5BF-54EA-4B9B-B3B5-BC495AD4F112}"/>
                </a:ext>
              </a:extLst>
            </p:cNvPr>
            <p:cNvSpPr/>
            <p:nvPr/>
          </p:nvSpPr>
          <p:spPr>
            <a:xfrm>
              <a:off x="7420097" y="1834801"/>
              <a:ext cx="521762" cy="695963"/>
            </a:xfrm>
            <a:custGeom>
              <a:avLst/>
              <a:gdLst>
                <a:gd name="connsiteX0" fmla="*/ 97883 w 268816"/>
                <a:gd name="connsiteY0" fmla="*/ 35871 h 358566"/>
                <a:gd name="connsiteX1" fmla="*/ 134481 w 268816"/>
                <a:gd name="connsiteY1" fmla="*/ 0 h 358566"/>
                <a:gd name="connsiteX2" fmla="*/ 171078 w 268816"/>
                <a:gd name="connsiteY2" fmla="*/ 35871 h 358566"/>
                <a:gd name="connsiteX3" fmla="*/ 171078 w 268816"/>
                <a:gd name="connsiteY3" fmla="*/ 47780 h 358566"/>
                <a:gd name="connsiteX4" fmla="*/ 220020 w 268816"/>
                <a:gd name="connsiteY4" fmla="*/ 47780 h 358566"/>
                <a:gd name="connsiteX5" fmla="*/ 220020 w 268816"/>
                <a:gd name="connsiteY5" fmla="*/ 95560 h 358566"/>
                <a:gd name="connsiteX6" fmla="*/ 48942 w 268816"/>
                <a:gd name="connsiteY6" fmla="*/ 95560 h 358566"/>
                <a:gd name="connsiteX7" fmla="*/ 48942 w 268816"/>
                <a:gd name="connsiteY7" fmla="*/ 47780 h 358566"/>
                <a:gd name="connsiteX8" fmla="*/ 97883 w 268816"/>
                <a:gd name="connsiteY8" fmla="*/ 47780 h 358566"/>
                <a:gd name="connsiteX9" fmla="*/ 97883 w 268816"/>
                <a:gd name="connsiteY9" fmla="*/ 35871 h 358566"/>
                <a:gd name="connsiteX10" fmla="*/ 97883 w 268816"/>
                <a:gd name="connsiteY10" fmla="*/ 35871 h 358566"/>
                <a:gd name="connsiteX11" fmla="*/ 97883 w 268816"/>
                <a:gd name="connsiteY11" fmla="*/ 35871 h 358566"/>
                <a:gd name="connsiteX12" fmla="*/ 48942 w 268816"/>
                <a:gd name="connsiteY12" fmla="*/ 47925 h 358566"/>
                <a:gd name="connsiteX13" fmla="*/ 0 w 268816"/>
                <a:gd name="connsiteY13" fmla="*/ 47925 h 358566"/>
                <a:gd name="connsiteX14" fmla="*/ 0 w 268816"/>
                <a:gd name="connsiteY14" fmla="*/ 358566 h 358566"/>
                <a:gd name="connsiteX15" fmla="*/ 268816 w 268816"/>
                <a:gd name="connsiteY15" fmla="*/ 358566 h 358566"/>
                <a:gd name="connsiteX16" fmla="*/ 268816 w 268816"/>
                <a:gd name="connsiteY16" fmla="*/ 47925 h 358566"/>
                <a:gd name="connsiteX17" fmla="*/ 219874 w 268816"/>
                <a:gd name="connsiteY17" fmla="*/ 47925 h 358566"/>
                <a:gd name="connsiteX18" fmla="*/ 232219 w 268816"/>
                <a:gd name="connsiteY18" fmla="*/ 167302 h 358566"/>
                <a:gd name="connsiteX19" fmla="*/ 134481 w 268816"/>
                <a:gd name="connsiteY19" fmla="*/ 167302 h 358566"/>
                <a:gd name="connsiteX20" fmla="*/ 232219 w 268816"/>
                <a:gd name="connsiteY20" fmla="*/ 239044 h 358566"/>
                <a:gd name="connsiteX21" fmla="*/ 134481 w 268816"/>
                <a:gd name="connsiteY21" fmla="*/ 239044 h 358566"/>
                <a:gd name="connsiteX22" fmla="*/ 232219 w 268816"/>
                <a:gd name="connsiteY22" fmla="*/ 310786 h 358566"/>
                <a:gd name="connsiteX23" fmla="*/ 134481 w 268816"/>
                <a:gd name="connsiteY23" fmla="*/ 310786 h 358566"/>
                <a:gd name="connsiteX24" fmla="*/ 48942 w 268816"/>
                <a:gd name="connsiteY24" fmla="*/ 143485 h 358566"/>
                <a:gd name="connsiteX25" fmla="*/ 73340 w 268816"/>
                <a:gd name="connsiteY25" fmla="*/ 167447 h 358566"/>
                <a:gd name="connsiteX26" fmla="*/ 109937 w 268816"/>
                <a:gd name="connsiteY26" fmla="*/ 131576 h 358566"/>
                <a:gd name="connsiteX27" fmla="*/ 48942 w 268816"/>
                <a:gd name="connsiteY27" fmla="*/ 215227 h 358566"/>
                <a:gd name="connsiteX28" fmla="*/ 73340 w 268816"/>
                <a:gd name="connsiteY28" fmla="*/ 239189 h 358566"/>
                <a:gd name="connsiteX29" fmla="*/ 109937 w 268816"/>
                <a:gd name="connsiteY29" fmla="*/ 203318 h 358566"/>
                <a:gd name="connsiteX30" fmla="*/ 48942 w 268816"/>
                <a:gd name="connsiteY30" fmla="*/ 286824 h 358566"/>
                <a:gd name="connsiteX31" fmla="*/ 73340 w 268816"/>
                <a:gd name="connsiteY31" fmla="*/ 310786 h 358566"/>
                <a:gd name="connsiteX32" fmla="*/ 109937 w 268816"/>
                <a:gd name="connsiteY32" fmla="*/ 274915 h 358566"/>
                <a:gd name="connsiteX0" fmla="*/ 97883 w 268816"/>
                <a:gd name="connsiteY0" fmla="*/ 35871 h 358566"/>
                <a:gd name="connsiteX1" fmla="*/ 134481 w 268816"/>
                <a:gd name="connsiteY1" fmla="*/ 0 h 358566"/>
                <a:gd name="connsiteX2" fmla="*/ 171078 w 268816"/>
                <a:gd name="connsiteY2" fmla="*/ 35871 h 358566"/>
                <a:gd name="connsiteX3" fmla="*/ 171078 w 268816"/>
                <a:gd name="connsiteY3" fmla="*/ 47780 h 358566"/>
                <a:gd name="connsiteX4" fmla="*/ 220020 w 268816"/>
                <a:gd name="connsiteY4" fmla="*/ 47780 h 358566"/>
                <a:gd name="connsiteX5" fmla="*/ 220020 w 268816"/>
                <a:gd name="connsiteY5" fmla="*/ 95560 h 358566"/>
                <a:gd name="connsiteX6" fmla="*/ 48942 w 268816"/>
                <a:gd name="connsiteY6" fmla="*/ 95560 h 358566"/>
                <a:gd name="connsiteX7" fmla="*/ 48942 w 268816"/>
                <a:gd name="connsiteY7" fmla="*/ 47780 h 358566"/>
                <a:gd name="connsiteX8" fmla="*/ 97883 w 268816"/>
                <a:gd name="connsiteY8" fmla="*/ 47780 h 358566"/>
                <a:gd name="connsiteX9" fmla="*/ 97883 w 268816"/>
                <a:gd name="connsiteY9" fmla="*/ 35871 h 358566"/>
                <a:gd name="connsiteX10" fmla="*/ 97883 w 268816"/>
                <a:gd name="connsiteY10" fmla="*/ 35871 h 358566"/>
                <a:gd name="connsiteX11" fmla="*/ 97883 w 268816"/>
                <a:gd name="connsiteY11" fmla="*/ 35871 h 358566"/>
                <a:gd name="connsiteX12" fmla="*/ 48942 w 268816"/>
                <a:gd name="connsiteY12" fmla="*/ 47925 h 358566"/>
                <a:gd name="connsiteX13" fmla="*/ 0 w 268816"/>
                <a:gd name="connsiteY13" fmla="*/ 47925 h 358566"/>
                <a:gd name="connsiteX14" fmla="*/ 0 w 268816"/>
                <a:gd name="connsiteY14" fmla="*/ 358566 h 358566"/>
                <a:gd name="connsiteX15" fmla="*/ 268816 w 268816"/>
                <a:gd name="connsiteY15" fmla="*/ 358566 h 358566"/>
                <a:gd name="connsiteX16" fmla="*/ 268816 w 268816"/>
                <a:gd name="connsiteY16" fmla="*/ 47925 h 358566"/>
                <a:gd name="connsiteX17" fmla="*/ 219874 w 268816"/>
                <a:gd name="connsiteY17" fmla="*/ 47925 h 358566"/>
                <a:gd name="connsiteX18" fmla="*/ 232219 w 268816"/>
                <a:gd name="connsiteY18" fmla="*/ 167302 h 358566"/>
                <a:gd name="connsiteX19" fmla="*/ 134481 w 268816"/>
                <a:gd name="connsiteY19" fmla="*/ 167302 h 358566"/>
                <a:gd name="connsiteX20" fmla="*/ 232219 w 268816"/>
                <a:gd name="connsiteY20" fmla="*/ 239044 h 358566"/>
                <a:gd name="connsiteX21" fmla="*/ 134481 w 268816"/>
                <a:gd name="connsiteY21" fmla="*/ 239044 h 358566"/>
                <a:gd name="connsiteX22" fmla="*/ 232219 w 268816"/>
                <a:gd name="connsiteY22" fmla="*/ 310786 h 358566"/>
                <a:gd name="connsiteX23" fmla="*/ 134481 w 268816"/>
                <a:gd name="connsiteY23" fmla="*/ 310786 h 358566"/>
                <a:gd name="connsiteX24" fmla="*/ 48942 w 268816"/>
                <a:gd name="connsiteY24" fmla="*/ 143485 h 358566"/>
                <a:gd name="connsiteX25" fmla="*/ 73340 w 268816"/>
                <a:gd name="connsiteY25" fmla="*/ 167447 h 358566"/>
                <a:gd name="connsiteX26" fmla="*/ 109937 w 268816"/>
                <a:gd name="connsiteY26" fmla="*/ 131576 h 358566"/>
                <a:gd name="connsiteX27" fmla="*/ 48942 w 268816"/>
                <a:gd name="connsiteY27" fmla="*/ 215227 h 358566"/>
                <a:gd name="connsiteX28" fmla="*/ 73340 w 268816"/>
                <a:gd name="connsiteY28" fmla="*/ 239189 h 358566"/>
                <a:gd name="connsiteX29" fmla="*/ 109937 w 268816"/>
                <a:gd name="connsiteY29" fmla="*/ 203318 h 358566"/>
                <a:gd name="connsiteX30" fmla="*/ 48942 w 268816"/>
                <a:gd name="connsiteY30" fmla="*/ 286824 h 358566"/>
                <a:gd name="connsiteX31" fmla="*/ 73340 w 268816"/>
                <a:gd name="connsiteY31" fmla="*/ 310786 h 358566"/>
                <a:gd name="connsiteX32" fmla="*/ 109937 w 268816"/>
                <a:gd name="connsiteY32" fmla="*/ 274915 h 358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68816" h="358566">
                  <a:moveTo>
                    <a:pt x="97883" y="35871"/>
                  </a:moveTo>
                  <a:cubicBezTo>
                    <a:pt x="97883" y="16120"/>
                    <a:pt x="114294" y="0"/>
                    <a:pt x="134481" y="0"/>
                  </a:cubicBezTo>
                  <a:cubicBezTo>
                    <a:pt x="154667" y="0"/>
                    <a:pt x="171078" y="16120"/>
                    <a:pt x="171078" y="35871"/>
                  </a:cubicBezTo>
                  <a:lnTo>
                    <a:pt x="171078" y="47780"/>
                  </a:lnTo>
                  <a:lnTo>
                    <a:pt x="220020" y="47780"/>
                  </a:lnTo>
                  <a:lnTo>
                    <a:pt x="220020" y="95560"/>
                  </a:lnTo>
                  <a:lnTo>
                    <a:pt x="48942" y="95560"/>
                  </a:lnTo>
                  <a:lnTo>
                    <a:pt x="48942" y="47780"/>
                  </a:lnTo>
                  <a:lnTo>
                    <a:pt x="97883" y="47780"/>
                  </a:lnTo>
                  <a:lnTo>
                    <a:pt x="97883" y="35871"/>
                  </a:lnTo>
                  <a:lnTo>
                    <a:pt x="97883" y="35871"/>
                  </a:lnTo>
                  <a:lnTo>
                    <a:pt x="97883" y="35871"/>
                  </a:lnTo>
                  <a:close/>
                  <a:moveTo>
                    <a:pt x="48942" y="47925"/>
                  </a:moveTo>
                  <a:lnTo>
                    <a:pt x="0" y="47925"/>
                  </a:lnTo>
                  <a:lnTo>
                    <a:pt x="0" y="358566"/>
                  </a:lnTo>
                  <a:lnTo>
                    <a:pt x="268816" y="358566"/>
                  </a:lnTo>
                  <a:lnTo>
                    <a:pt x="268816" y="47925"/>
                  </a:lnTo>
                  <a:lnTo>
                    <a:pt x="219874" y="47925"/>
                  </a:lnTo>
                  <a:moveTo>
                    <a:pt x="232219" y="167302"/>
                  </a:moveTo>
                  <a:lnTo>
                    <a:pt x="134481" y="167302"/>
                  </a:lnTo>
                  <a:moveTo>
                    <a:pt x="232219" y="239044"/>
                  </a:moveTo>
                  <a:lnTo>
                    <a:pt x="134481" y="239044"/>
                  </a:lnTo>
                  <a:moveTo>
                    <a:pt x="232219" y="310786"/>
                  </a:moveTo>
                  <a:lnTo>
                    <a:pt x="134481" y="310786"/>
                  </a:lnTo>
                  <a:moveTo>
                    <a:pt x="48942" y="143485"/>
                  </a:moveTo>
                  <a:lnTo>
                    <a:pt x="73340" y="167447"/>
                  </a:lnTo>
                  <a:lnTo>
                    <a:pt x="109937" y="131576"/>
                  </a:lnTo>
                  <a:moveTo>
                    <a:pt x="48942" y="215227"/>
                  </a:moveTo>
                  <a:lnTo>
                    <a:pt x="73340" y="239189"/>
                  </a:lnTo>
                  <a:lnTo>
                    <a:pt x="109937" y="203318"/>
                  </a:lnTo>
                  <a:moveTo>
                    <a:pt x="48942" y="286824"/>
                  </a:moveTo>
                  <a:lnTo>
                    <a:pt x="73340" y="310786"/>
                  </a:lnTo>
                  <a:lnTo>
                    <a:pt x="109937" y="274915"/>
                  </a:lnTo>
                </a:path>
              </a:pathLst>
            </a:custGeom>
            <a:noFill/>
            <a:ln w="19050" cap="sq">
              <a:solidFill>
                <a:schemeClr val="bg1"/>
              </a:solidFill>
              <a:prstDash val="solid"/>
              <a:miter/>
            </a:ln>
          </p:spPr>
          <p:txBody>
            <a:bodyPr rtlCol="0" anchor="ctr"/>
            <a:lstStyle/>
            <a:p>
              <a:pPr defTabSz="932563"/>
              <a:endParaRPr lang="en-US" sz="1730">
                <a:solidFill>
                  <a:srgbClr val="000000"/>
                </a:solidFill>
                <a:latin typeface="Segoe UI"/>
              </a:endParaRPr>
            </a:p>
          </p:txBody>
        </p:sp>
      </p:grpSp>
      <p:grpSp>
        <p:nvGrpSpPr>
          <p:cNvPr id="111" name="Group 110" descr="Data security">
            <a:extLst>
              <a:ext uri="{FF2B5EF4-FFF2-40B4-BE49-F238E27FC236}">
                <a16:creationId xmlns:a16="http://schemas.microsoft.com/office/drawing/2014/main" id="{D7188509-E088-4A06-8801-055CD947B082}"/>
              </a:ext>
              <a:ext uri="{C183D7F6-B498-43B3-948B-1728B52AA6E4}">
                <adec:decorative xmlns:adec="http://schemas.microsoft.com/office/drawing/2017/decorative" val="0"/>
              </a:ext>
            </a:extLst>
          </p:cNvPr>
          <p:cNvGrpSpPr/>
          <p:nvPr/>
        </p:nvGrpSpPr>
        <p:grpSpPr>
          <a:xfrm>
            <a:off x="9331066" y="2469822"/>
            <a:ext cx="2709402" cy="3799216"/>
            <a:chOff x="9229892" y="2307251"/>
            <a:chExt cx="2709787" cy="3962178"/>
          </a:xfrm>
          <a:solidFill>
            <a:srgbClr val="F2F2F2"/>
          </a:solidFill>
        </p:grpSpPr>
        <p:sp>
          <p:nvSpPr>
            <p:cNvPr id="112" name="Rectangle: Rounded Corners 111">
              <a:extLst>
                <a:ext uri="{FF2B5EF4-FFF2-40B4-BE49-F238E27FC236}">
                  <a16:creationId xmlns:a16="http://schemas.microsoft.com/office/drawing/2014/main" id="{15AE3E25-3E39-4102-9CE2-28F503A9A7F7}"/>
                </a:ext>
                <a:ext uri="{C183D7F6-B498-43B3-948B-1728B52AA6E4}">
                  <adec:decorative xmlns:adec="http://schemas.microsoft.com/office/drawing/2017/decorative" val="1"/>
                </a:ext>
              </a:extLst>
            </p:cNvPr>
            <p:cNvSpPr/>
            <p:nvPr/>
          </p:nvSpPr>
          <p:spPr bwMode="auto">
            <a:xfrm>
              <a:off x="9229892" y="2307251"/>
              <a:ext cx="2709787" cy="3962178"/>
            </a:xfrm>
            <a:prstGeom prst="roundRect">
              <a:avLst>
                <a:gd name="adj" fmla="val 5204"/>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279701" tIns="2051145" rIns="279701" bIns="279701" numCol="1" spcCol="0" rtlCol="0" fromWordArt="0" anchor="t" anchorCtr="0" forceAA="0" compatLnSpc="1">
              <a:prstTxWarp prst="textNoShape">
                <a:avLst/>
              </a:prstTxWarp>
              <a:noAutofit/>
            </a:bodyPr>
            <a:lstStyle/>
            <a:p>
              <a:pPr algn="ctr" defTabSz="931881">
                <a:lnSpc>
                  <a:spcPct val="90000"/>
                </a:lnSpc>
                <a:spcAft>
                  <a:spcPts val="800"/>
                </a:spcAft>
                <a:defRPr/>
              </a:pPr>
              <a:endParaRPr lang="en-US" sz="1632" dirty="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sp>
          <p:nvSpPr>
            <p:cNvPr id="113" name="TextBox 112">
              <a:extLst>
                <a:ext uri="{FF2B5EF4-FFF2-40B4-BE49-F238E27FC236}">
                  <a16:creationId xmlns:a16="http://schemas.microsoft.com/office/drawing/2014/main" id="{07695F1C-D97D-4963-A008-04BFD4B05240}"/>
                </a:ext>
              </a:extLst>
            </p:cNvPr>
            <p:cNvSpPr txBox="1"/>
            <p:nvPr/>
          </p:nvSpPr>
          <p:spPr>
            <a:xfrm>
              <a:off x="9869743" y="3565842"/>
              <a:ext cx="1430082" cy="277038"/>
            </a:xfrm>
            <a:prstGeom prst="rect">
              <a:avLst/>
            </a:prstGeom>
            <a:grpFill/>
          </p:spPr>
          <p:txBody>
            <a:bodyPr wrap="none" lIns="0" tIns="0" rIns="0" bIns="0" rtlCol="0">
              <a:spAutoFit/>
            </a:bodyPr>
            <a:lstStyle/>
            <a:p>
              <a:pPr algn="ctr" defTabSz="932563"/>
              <a:r>
                <a:rPr lang="en-US" dirty="0">
                  <a:latin typeface="Segoe UI Semibold"/>
                </a:rPr>
                <a:t>Data security </a:t>
              </a:r>
            </a:p>
          </p:txBody>
        </p:sp>
        <p:sp>
          <p:nvSpPr>
            <p:cNvPr id="114" name="TextBox 113">
              <a:extLst>
                <a:ext uri="{FF2B5EF4-FFF2-40B4-BE49-F238E27FC236}">
                  <a16:creationId xmlns:a16="http://schemas.microsoft.com/office/drawing/2014/main" id="{A1C552A6-AB42-43FF-8DA9-18A9EB23EE7B}"/>
                </a:ext>
              </a:extLst>
            </p:cNvPr>
            <p:cNvSpPr txBox="1"/>
            <p:nvPr/>
          </p:nvSpPr>
          <p:spPr>
            <a:xfrm>
              <a:off x="9392337" y="4087632"/>
              <a:ext cx="2384896" cy="753083"/>
            </a:xfrm>
            <a:prstGeom prst="rect">
              <a:avLst/>
            </a:prstGeom>
            <a:grpFill/>
          </p:spPr>
          <p:txBody>
            <a:bodyPr wrap="square" lIns="0" tIns="0" rIns="0" bIns="0" rtlCol="0">
              <a:spAutoFit/>
            </a:bodyPr>
            <a:lstStyle/>
            <a:p>
              <a:pPr algn="ctr" defTabSz="932563"/>
              <a:r>
                <a:rPr lang="en-US" sz="1599" dirty="0">
                  <a:solidFill>
                    <a:srgbClr val="000000"/>
                  </a:solidFill>
                  <a:latin typeface="Segoe UI"/>
                </a:rPr>
                <a:t>Identify sensitive </a:t>
              </a:r>
              <a:br>
                <a:rPr lang="en-US" sz="1599" dirty="0">
                  <a:solidFill>
                    <a:srgbClr val="000000"/>
                  </a:solidFill>
                  <a:latin typeface="Segoe UI"/>
                </a:rPr>
              </a:br>
              <a:r>
                <a:rPr lang="en-US" sz="1599" dirty="0">
                  <a:solidFill>
                    <a:srgbClr val="000000"/>
                  </a:solidFill>
                  <a:latin typeface="Segoe UI"/>
                </a:rPr>
                <a:t>data and prioritize </a:t>
              </a:r>
              <a:br>
                <a:rPr lang="en-US" sz="1599" dirty="0">
                  <a:solidFill>
                    <a:srgbClr val="000000"/>
                  </a:solidFill>
                  <a:latin typeface="Segoe UI"/>
                </a:rPr>
              </a:br>
              <a:r>
                <a:rPr lang="en-US" sz="1599" dirty="0">
                  <a:solidFill>
                    <a:srgbClr val="000000"/>
                  </a:solidFill>
                  <a:latin typeface="Segoe UI"/>
                </a:rPr>
                <a:t>critical resources</a:t>
              </a:r>
            </a:p>
          </p:txBody>
        </p:sp>
      </p:grpSp>
      <p:grpSp>
        <p:nvGrpSpPr>
          <p:cNvPr id="8" name="Group 7" descr="lock">
            <a:extLst>
              <a:ext uri="{FF2B5EF4-FFF2-40B4-BE49-F238E27FC236}">
                <a16:creationId xmlns:a16="http://schemas.microsoft.com/office/drawing/2014/main" id="{CDFDA718-94BF-47CA-A37C-1EABC58FA5BA}"/>
              </a:ext>
            </a:extLst>
          </p:cNvPr>
          <p:cNvGrpSpPr/>
          <p:nvPr/>
        </p:nvGrpSpPr>
        <p:grpSpPr>
          <a:xfrm>
            <a:off x="10082607" y="1988710"/>
            <a:ext cx="1206320" cy="1206320"/>
            <a:chOff x="9807545" y="1445219"/>
            <a:chExt cx="1554480" cy="1554480"/>
          </a:xfrm>
          <a:solidFill>
            <a:schemeClr val="accent3"/>
          </a:solidFill>
        </p:grpSpPr>
        <p:sp>
          <p:nvSpPr>
            <p:cNvPr id="118" name="Oval 117">
              <a:extLst>
                <a:ext uri="{FF2B5EF4-FFF2-40B4-BE49-F238E27FC236}">
                  <a16:creationId xmlns:a16="http://schemas.microsoft.com/office/drawing/2014/main" id="{54E57B4D-9638-4835-BECE-9F9473815894}"/>
                </a:ext>
                <a:ext uri="{C183D7F6-B498-43B3-948B-1728B52AA6E4}">
                  <adec:decorative xmlns:adec="http://schemas.microsoft.com/office/drawing/2017/decorative" val="1"/>
                </a:ext>
              </a:extLst>
            </p:cNvPr>
            <p:cNvSpPr/>
            <p:nvPr/>
          </p:nvSpPr>
          <p:spPr bwMode="auto">
            <a:xfrm>
              <a:off x="9807545" y="1445219"/>
              <a:ext cx="1554480" cy="1554480"/>
            </a:xfrm>
            <a:prstGeom prst="ellipse">
              <a:avLst/>
            </a:prstGeom>
            <a:solidFill>
              <a:srgbClr val="525252"/>
            </a:solidFill>
            <a:ln w="762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defTabSz="932293" fontAlgn="base">
                <a:spcBef>
                  <a:spcPct val="0"/>
                </a:spcBef>
                <a:spcAft>
                  <a:spcPct val="0"/>
                </a:spcAft>
              </a:pPr>
              <a:endParaRPr lang="en-US" sz="2000" dirty="0">
                <a:solidFill>
                  <a:srgbClr val="FFFFFF"/>
                </a:solidFill>
                <a:latin typeface="Segoe UI"/>
                <a:ea typeface="Segoe UI" pitchFamily="34" charset="0"/>
                <a:cs typeface="Segoe UI" pitchFamily="34" charset="0"/>
              </a:endParaRPr>
            </a:p>
          </p:txBody>
        </p:sp>
        <p:sp>
          <p:nvSpPr>
            <p:cNvPr id="124" name="Graphic 11">
              <a:extLst>
                <a:ext uri="{FF2B5EF4-FFF2-40B4-BE49-F238E27FC236}">
                  <a16:creationId xmlns:a16="http://schemas.microsoft.com/office/drawing/2014/main" id="{944603BC-419E-4EE7-89F0-65450A65EDAB}"/>
                </a:ext>
              </a:extLst>
            </p:cNvPr>
            <p:cNvSpPr/>
            <p:nvPr/>
          </p:nvSpPr>
          <p:spPr>
            <a:xfrm>
              <a:off x="10347487" y="1801785"/>
              <a:ext cx="513931" cy="719551"/>
            </a:xfrm>
            <a:custGeom>
              <a:avLst/>
              <a:gdLst>
                <a:gd name="connsiteX0" fmla="*/ 294935 w 294934"/>
                <a:gd name="connsiteY0" fmla="*/ 412937 h 412937"/>
                <a:gd name="connsiteX1" fmla="*/ 0 w 294934"/>
                <a:gd name="connsiteY1" fmla="*/ 412937 h 412937"/>
                <a:gd name="connsiteX2" fmla="*/ 0 w 294934"/>
                <a:gd name="connsiteY2" fmla="*/ 193421 h 412937"/>
                <a:gd name="connsiteX3" fmla="*/ 294935 w 294934"/>
                <a:gd name="connsiteY3" fmla="*/ 193421 h 412937"/>
                <a:gd name="connsiteX4" fmla="*/ 294935 w 294934"/>
                <a:gd name="connsiteY4" fmla="*/ 412937 h 412937"/>
                <a:gd name="connsiteX5" fmla="*/ 294935 w 294934"/>
                <a:gd name="connsiteY5" fmla="*/ 412937 h 412937"/>
                <a:gd name="connsiteX6" fmla="*/ 294935 w 294934"/>
                <a:gd name="connsiteY6" fmla="*/ 412937 h 412937"/>
                <a:gd name="connsiteX7" fmla="*/ 294935 w 294934"/>
                <a:gd name="connsiteY7" fmla="*/ 412937 h 412937"/>
                <a:gd name="connsiteX8" fmla="*/ 294935 w 294934"/>
                <a:gd name="connsiteY8" fmla="*/ 412937 h 412937"/>
                <a:gd name="connsiteX9" fmla="*/ 241884 w 294934"/>
                <a:gd name="connsiteY9" fmla="*/ 193564 h 412937"/>
                <a:gd name="connsiteX10" fmla="*/ 241884 w 294934"/>
                <a:gd name="connsiteY10" fmla="*/ 92481 h 412937"/>
                <a:gd name="connsiteX11" fmla="*/ 149260 w 294934"/>
                <a:gd name="connsiteY11" fmla="*/ 0 h 412937"/>
                <a:gd name="connsiteX12" fmla="*/ 56779 w 294934"/>
                <a:gd name="connsiteY12" fmla="*/ 92481 h 412937"/>
                <a:gd name="connsiteX13" fmla="*/ 56779 w 294934"/>
                <a:gd name="connsiteY13" fmla="*/ 193564 h 412937"/>
                <a:gd name="connsiteX0" fmla="*/ 294935 w 294935"/>
                <a:gd name="connsiteY0" fmla="*/ 412937 h 412937"/>
                <a:gd name="connsiteX1" fmla="*/ 0 w 294935"/>
                <a:gd name="connsiteY1" fmla="*/ 412937 h 412937"/>
                <a:gd name="connsiteX2" fmla="*/ 0 w 294935"/>
                <a:gd name="connsiteY2" fmla="*/ 193421 h 412937"/>
                <a:gd name="connsiteX3" fmla="*/ 294935 w 294935"/>
                <a:gd name="connsiteY3" fmla="*/ 193421 h 412937"/>
                <a:gd name="connsiteX4" fmla="*/ 294935 w 294935"/>
                <a:gd name="connsiteY4" fmla="*/ 412937 h 412937"/>
                <a:gd name="connsiteX5" fmla="*/ 294935 w 294935"/>
                <a:gd name="connsiteY5" fmla="*/ 412937 h 412937"/>
                <a:gd name="connsiteX6" fmla="*/ 294935 w 294935"/>
                <a:gd name="connsiteY6" fmla="*/ 412937 h 412937"/>
                <a:gd name="connsiteX7" fmla="*/ 294935 w 294935"/>
                <a:gd name="connsiteY7" fmla="*/ 412937 h 412937"/>
                <a:gd name="connsiteX8" fmla="*/ 294935 w 294935"/>
                <a:gd name="connsiteY8" fmla="*/ 412937 h 412937"/>
                <a:gd name="connsiteX9" fmla="*/ 241884 w 294935"/>
                <a:gd name="connsiteY9" fmla="*/ 193564 h 412937"/>
                <a:gd name="connsiteX10" fmla="*/ 241884 w 294935"/>
                <a:gd name="connsiteY10" fmla="*/ 92481 h 412937"/>
                <a:gd name="connsiteX11" fmla="*/ 149260 w 294935"/>
                <a:gd name="connsiteY11" fmla="*/ 0 h 412937"/>
                <a:gd name="connsiteX12" fmla="*/ 56779 w 294935"/>
                <a:gd name="connsiteY12" fmla="*/ 92481 h 412937"/>
                <a:gd name="connsiteX13" fmla="*/ 56779 w 294935"/>
                <a:gd name="connsiteY13" fmla="*/ 193564 h 412937"/>
                <a:gd name="connsiteX0" fmla="*/ 294935 w 294935"/>
                <a:gd name="connsiteY0" fmla="*/ 412937 h 412937"/>
                <a:gd name="connsiteX1" fmla="*/ 0 w 294935"/>
                <a:gd name="connsiteY1" fmla="*/ 412937 h 412937"/>
                <a:gd name="connsiteX2" fmla="*/ 0 w 294935"/>
                <a:gd name="connsiteY2" fmla="*/ 193421 h 412937"/>
                <a:gd name="connsiteX3" fmla="*/ 294935 w 294935"/>
                <a:gd name="connsiteY3" fmla="*/ 193421 h 412937"/>
                <a:gd name="connsiteX4" fmla="*/ 294935 w 294935"/>
                <a:gd name="connsiteY4" fmla="*/ 412937 h 412937"/>
                <a:gd name="connsiteX5" fmla="*/ 294935 w 294935"/>
                <a:gd name="connsiteY5" fmla="*/ 412937 h 412937"/>
                <a:gd name="connsiteX6" fmla="*/ 294935 w 294935"/>
                <a:gd name="connsiteY6" fmla="*/ 412937 h 412937"/>
                <a:gd name="connsiteX7" fmla="*/ 294935 w 294935"/>
                <a:gd name="connsiteY7" fmla="*/ 412937 h 412937"/>
                <a:gd name="connsiteX8" fmla="*/ 294935 w 294935"/>
                <a:gd name="connsiteY8" fmla="*/ 412937 h 412937"/>
                <a:gd name="connsiteX9" fmla="*/ 241884 w 294935"/>
                <a:gd name="connsiteY9" fmla="*/ 193564 h 412937"/>
                <a:gd name="connsiteX10" fmla="*/ 241884 w 294935"/>
                <a:gd name="connsiteY10" fmla="*/ 92481 h 412937"/>
                <a:gd name="connsiteX11" fmla="*/ 149260 w 294935"/>
                <a:gd name="connsiteY11" fmla="*/ 0 h 412937"/>
                <a:gd name="connsiteX12" fmla="*/ 56779 w 294935"/>
                <a:gd name="connsiteY12" fmla="*/ 92481 h 412937"/>
                <a:gd name="connsiteX13" fmla="*/ 56779 w 294935"/>
                <a:gd name="connsiteY13" fmla="*/ 193564 h 412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4935" h="412937">
                  <a:moveTo>
                    <a:pt x="294935" y="412937"/>
                  </a:moveTo>
                  <a:lnTo>
                    <a:pt x="0" y="412937"/>
                  </a:lnTo>
                  <a:lnTo>
                    <a:pt x="0" y="193421"/>
                  </a:lnTo>
                  <a:lnTo>
                    <a:pt x="294935" y="193421"/>
                  </a:lnTo>
                  <a:lnTo>
                    <a:pt x="294935" y="412937"/>
                  </a:lnTo>
                  <a:lnTo>
                    <a:pt x="294935" y="412937"/>
                  </a:lnTo>
                  <a:lnTo>
                    <a:pt x="294935" y="412937"/>
                  </a:lnTo>
                  <a:lnTo>
                    <a:pt x="294935" y="412937"/>
                  </a:lnTo>
                  <a:lnTo>
                    <a:pt x="294935" y="412937"/>
                  </a:lnTo>
                  <a:close/>
                  <a:moveTo>
                    <a:pt x="241884" y="193564"/>
                  </a:moveTo>
                  <a:lnTo>
                    <a:pt x="241884" y="92481"/>
                  </a:lnTo>
                  <a:cubicBezTo>
                    <a:pt x="241884" y="41867"/>
                    <a:pt x="201163" y="0"/>
                    <a:pt x="149260" y="0"/>
                  </a:cubicBezTo>
                  <a:cubicBezTo>
                    <a:pt x="97356" y="0"/>
                    <a:pt x="56779" y="42011"/>
                    <a:pt x="56779" y="92481"/>
                  </a:cubicBezTo>
                  <a:lnTo>
                    <a:pt x="56779" y="193564"/>
                  </a:lnTo>
                </a:path>
              </a:pathLst>
            </a:custGeom>
            <a:noFill/>
            <a:ln w="19050" cap="sq">
              <a:solidFill>
                <a:schemeClr val="bg1"/>
              </a:solidFill>
              <a:prstDash val="solid"/>
              <a:miter/>
            </a:ln>
          </p:spPr>
          <p:txBody>
            <a:bodyPr rtlCol="0" anchor="ctr"/>
            <a:lstStyle/>
            <a:p>
              <a:pPr defTabSz="932563"/>
              <a:endParaRPr lang="en-US" sz="1730">
                <a:solidFill>
                  <a:srgbClr val="000000"/>
                </a:solidFill>
                <a:latin typeface="Segoe UI"/>
              </a:endParaRPr>
            </a:p>
          </p:txBody>
        </p:sp>
      </p:grpSp>
    </p:spTree>
    <p:extLst>
      <p:ext uri="{BB962C8B-B14F-4D97-AF65-F5344CB8AC3E}">
        <p14:creationId xmlns:p14="http://schemas.microsoft.com/office/powerpoint/2010/main" val="30652015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500"/>
                                        <p:tgtEl>
                                          <p:spTgt spid="99"/>
                                        </p:tgtEl>
                                      </p:cBhvr>
                                    </p:animEffect>
                                  </p:childTnLst>
                                </p:cTn>
                              </p:par>
                              <p:par>
                                <p:cTn id="8" presetID="42" presetClass="path" presetSubtype="0" decel="100000" fill="hold" nodeType="withEffect">
                                  <p:stCondLst>
                                    <p:cond delay="0"/>
                                  </p:stCondLst>
                                  <p:childTnLst>
                                    <p:animMotion origin="layout" path="M 3.29334E-7 -2.81434E-6 L 3.29334E-7 0.07581 " pathEditMode="relative" rAng="0" ptsTypes="AA">
                                      <p:cBhvr>
                                        <p:cTn id="9" dur="500" spd="-100000" fill="hold"/>
                                        <p:tgtEl>
                                          <p:spTgt spid="99"/>
                                        </p:tgtEl>
                                        <p:attrNameLst>
                                          <p:attrName>ppt_x</p:attrName>
                                          <p:attrName>ppt_y</p:attrName>
                                        </p:attrNameLst>
                                      </p:cBhvr>
                                      <p:rCtr x="0" y="3790"/>
                                    </p:animMotion>
                                  </p:childTnLst>
                                </p:cTn>
                              </p:par>
                              <p:par>
                                <p:cTn id="10" presetID="10" presetClass="entr" presetSubtype="0" fill="hold" nodeType="withEffect">
                                  <p:stCondLst>
                                    <p:cond delay="0"/>
                                  </p:stCondLst>
                                  <p:childTnLst>
                                    <p:set>
                                      <p:cBhvr>
                                        <p:cTn id="11" dur="1" fill="hold">
                                          <p:stCondLst>
                                            <p:cond delay="0"/>
                                          </p:stCondLst>
                                        </p:cTn>
                                        <p:tgtEl>
                                          <p:spTgt spid="103"/>
                                        </p:tgtEl>
                                        <p:attrNameLst>
                                          <p:attrName>style.visibility</p:attrName>
                                        </p:attrNameLst>
                                      </p:cBhvr>
                                      <p:to>
                                        <p:strVal val="visible"/>
                                      </p:to>
                                    </p:set>
                                    <p:animEffect transition="in" filter="fade">
                                      <p:cBhvr>
                                        <p:cTn id="12" dur="500"/>
                                        <p:tgtEl>
                                          <p:spTgt spid="103"/>
                                        </p:tgtEl>
                                      </p:cBhvr>
                                    </p:animEffect>
                                  </p:childTnLst>
                                </p:cTn>
                              </p:par>
                              <p:par>
                                <p:cTn id="13" presetID="42" presetClass="path" presetSubtype="0" decel="100000" fill="hold" nodeType="withEffect">
                                  <p:stCondLst>
                                    <p:cond delay="0"/>
                                  </p:stCondLst>
                                  <p:childTnLst>
                                    <p:animMotion origin="layout" path="M 4.94511E-6 -2.81434E-6 L 4.94511E-6 0.07558 " pathEditMode="relative" rAng="0" ptsTypes="AA">
                                      <p:cBhvr>
                                        <p:cTn id="14" dur="500" spd="-100000" fill="hold"/>
                                        <p:tgtEl>
                                          <p:spTgt spid="103"/>
                                        </p:tgtEl>
                                        <p:attrNameLst>
                                          <p:attrName>ppt_x</p:attrName>
                                          <p:attrName>ppt_y</p:attrName>
                                        </p:attrNameLst>
                                      </p:cBhvr>
                                      <p:rCtr x="0" y="3768"/>
                                    </p:animMotion>
                                  </p:childTnLst>
                                </p:cTn>
                              </p:par>
                              <p:par>
                                <p:cTn id="15" presetID="10" presetClass="entr" presetSubtype="0" fill="hold" nodeType="withEffect">
                                  <p:stCondLst>
                                    <p:cond delay="0"/>
                                  </p:stCondLst>
                                  <p:childTnLst>
                                    <p:set>
                                      <p:cBhvr>
                                        <p:cTn id="16" dur="1" fill="hold">
                                          <p:stCondLst>
                                            <p:cond delay="0"/>
                                          </p:stCondLst>
                                        </p:cTn>
                                        <p:tgtEl>
                                          <p:spTgt spid="107"/>
                                        </p:tgtEl>
                                        <p:attrNameLst>
                                          <p:attrName>style.visibility</p:attrName>
                                        </p:attrNameLst>
                                      </p:cBhvr>
                                      <p:to>
                                        <p:strVal val="visible"/>
                                      </p:to>
                                    </p:set>
                                    <p:animEffect transition="in" filter="fade">
                                      <p:cBhvr>
                                        <p:cTn id="17" dur="500"/>
                                        <p:tgtEl>
                                          <p:spTgt spid="107"/>
                                        </p:tgtEl>
                                      </p:cBhvr>
                                    </p:animEffect>
                                  </p:childTnLst>
                                </p:cTn>
                              </p:par>
                              <p:par>
                                <p:cTn id="18" presetID="42" presetClass="path" presetSubtype="0" decel="100000" fill="hold" nodeType="withEffect">
                                  <p:stCondLst>
                                    <p:cond delay="0"/>
                                  </p:stCondLst>
                                  <p:childTnLst>
                                    <p:animMotion origin="layout" path="M -4.39112E-7 -2.81434E-6 L -4.39112E-7 0.07581 " pathEditMode="relative" rAng="0" ptsTypes="AA">
                                      <p:cBhvr>
                                        <p:cTn id="19" dur="500" spd="-100000" fill="hold"/>
                                        <p:tgtEl>
                                          <p:spTgt spid="107"/>
                                        </p:tgtEl>
                                        <p:attrNameLst>
                                          <p:attrName>ppt_x</p:attrName>
                                          <p:attrName>ppt_y</p:attrName>
                                        </p:attrNameLst>
                                      </p:cBhvr>
                                      <p:rCtr x="0" y="3790"/>
                                    </p:animMotion>
                                  </p:childTnLst>
                                </p:cTn>
                              </p:par>
                              <p:par>
                                <p:cTn id="20" presetID="10" presetClass="entr" presetSubtype="0" fill="hold" nodeType="withEffect">
                                  <p:stCondLst>
                                    <p:cond delay="0"/>
                                  </p:stCondLst>
                                  <p:childTnLst>
                                    <p:set>
                                      <p:cBhvr>
                                        <p:cTn id="21" dur="1" fill="hold">
                                          <p:stCondLst>
                                            <p:cond delay="0"/>
                                          </p:stCondLst>
                                        </p:cTn>
                                        <p:tgtEl>
                                          <p:spTgt spid="111"/>
                                        </p:tgtEl>
                                        <p:attrNameLst>
                                          <p:attrName>style.visibility</p:attrName>
                                        </p:attrNameLst>
                                      </p:cBhvr>
                                      <p:to>
                                        <p:strVal val="visible"/>
                                      </p:to>
                                    </p:set>
                                    <p:animEffect transition="in" filter="fade">
                                      <p:cBhvr>
                                        <p:cTn id="22" dur="500"/>
                                        <p:tgtEl>
                                          <p:spTgt spid="111"/>
                                        </p:tgtEl>
                                      </p:cBhvr>
                                    </p:animEffect>
                                  </p:childTnLst>
                                </p:cTn>
                              </p:par>
                              <p:par>
                                <p:cTn id="23" presetID="42" presetClass="path" presetSubtype="0" decel="100000" fill="hold" nodeType="withEffect">
                                  <p:stCondLst>
                                    <p:cond delay="0"/>
                                  </p:stCondLst>
                                  <p:childTnLst>
                                    <p:animMotion origin="layout" path="M -3.47204E-6 -2.81434E-6 L -3.47204E-6 0.07581 " pathEditMode="relative" rAng="0" ptsTypes="AA">
                                      <p:cBhvr>
                                        <p:cTn id="24" dur="500" spd="-100000" fill="hold"/>
                                        <p:tgtEl>
                                          <p:spTgt spid="111"/>
                                        </p:tgtEl>
                                        <p:attrNameLst>
                                          <p:attrName>ppt_x</p:attrName>
                                          <p:attrName>ppt_y</p:attrName>
                                        </p:attrNameLst>
                                      </p:cBhvr>
                                      <p:rCtr x="0" y="3790"/>
                                    </p:animMotion>
                                  </p:childTnLst>
                                </p:cTn>
                              </p:par>
                              <p:par>
                                <p:cTn id="25" presetID="10"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par>
                                <p:cTn id="28" presetID="42" presetClass="path" presetSubtype="0" decel="100000" fill="hold" nodeType="withEffect">
                                  <p:stCondLst>
                                    <p:cond delay="0"/>
                                  </p:stCondLst>
                                  <p:childTnLst>
                                    <p:animMotion origin="layout" path="M 4.94511E-6 -9.57785E-7 L -0.00103 -0.05538 " pathEditMode="relative" rAng="0" ptsTypes="AA">
                                      <p:cBhvr>
                                        <p:cTn id="29" dur="500" spd="-100000" fill="hold"/>
                                        <p:tgtEl>
                                          <p:spTgt spid="5"/>
                                        </p:tgtEl>
                                        <p:attrNameLst>
                                          <p:attrName>ppt_x</p:attrName>
                                          <p:attrName>ppt_y</p:attrName>
                                        </p:attrNameLst>
                                      </p:cBhvr>
                                      <p:rCtr x="-51" y="-2769"/>
                                    </p:animMotion>
                                  </p:childTnLst>
                                </p:cTn>
                              </p:par>
                              <p:par>
                                <p:cTn id="30" presetID="10" presetClass="entr" presetSubtype="0" fill="hold"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par>
                                <p:cTn id="33" presetID="42" presetClass="path" presetSubtype="0" decel="100000" fill="hold" nodeType="withEffect">
                                  <p:stCondLst>
                                    <p:cond delay="0"/>
                                  </p:stCondLst>
                                  <p:childTnLst>
                                    <p:animMotion origin="layout" path="M 3.29334E-7 -9.57785E-7 L -0.00102 -0.05538 " pathEditMode="relative" rAng="0" ptsTypes="AA">
                                      <p:cBhvr>
                                        <p:cTn id="34" dur="500" spd="-100000" fill="hold"/>
                                        <p:tgtEl>
                                          <p:spTgt spid="6"/>
                                        </p:tgtEl>
                                        <p:attrNameLst>
                                          <p:attrName>ppt_x</p:attrName>
                                          <p:attrName>ppt_y</p:attrName>
                                        </p:attrNameLst>
                                      </p:cBhvr>
                                      <p:rCtr x="-51" y="-2769"/>
                                    </p:animMotion>
                                  </p:childTnLst>
                                </p:cTn>
                              </p:par>
                              <p:par>
                                <p:cTn id="35" presetID="10"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par>
                                <p:cTn id="38" presetID="42" presetClass="path" presetSubtype="0" decel="100000" fill="hold" nodeType="withEffect">
                                  <p:stCondLst>
                                    <p:cond delay="0"/>
                                  </p:stCondLst>
                                  <p:childTnLst>
                                    <p:animMotion origin="layout" path="M 1.91218E-6 -3.99455E-6 L -0.00102 -0.05538 " pathEditMode="relative" rAng="0" ptsTypes="AA">
                                      <p:cBhvr>
                                        <p:cTn id="39" dur="500" spd="-100000" fill="hold"/>
                                        <p:tgtEl>
                                          <p:spTgt spid="7"/>
                                        </p:tgtEl>
                                        <p:attrNameLst>
                                          <p:attrName>ppt_x</p:attrName>
                                          <p:attrName>ppt_y</p:attrName>
                                        </p:attrNameLst>
                                      </p:cBhvr>
                                      <p:rCtr x="-51" y="-2769"/>
                                    </p:animMotion>
                                  </p:childTnLst>
                                </p:cTn>
                              </p:par>
                              <p:par>
                                <p:cTn id="40" presetID="10" presetClass="entr" presetSubtype="0" fill="hold" nodeType="with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childTnLst>
                                </p:cTn>
                              </p:par>
                              <p:par>
                                <p:cTn id="43" presetID="42" presetClass="path" presetSubtype="0" decel="100000" fill="hold" nodeType="withEffect">
                                  <p:stCondLst>
                                    <p:cond delay="0"/>
                                  </p:stCondLst>
                                  <p:childTnLst>
                                    <p:animMotion origin="layout" path="M -3.47204E-6 -9.57785E-7 L -0.00102 -0.05538 " pathEditMode="relative" rAng="0" ptsTypes="AA">
                                      <p:cBhvr>
                                        <p:cTn id="44" dur="500" spd="-100000" fill="hold"/>
                                        <p:tgtEl>
                                          <p:spTgt spid="8"/>
                                        </p:tgtEl>
                                        <p:attrNameLst>
                                          <p:attrName>ppt_x</p:attrName>
                                          <p:attrName>ppt_y</p:attrName>
                                        </p:attrNameLst>
                                      </p:cBhvr>
                                      <p:rCtr x="-51" y="-27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63580" y="475576"/>
            <a:ext cx="11239464" cy="553998"/>
          </a:xfrm>
        </p:spPr>
        <p:txBody>
          <a:bodyPr/>
          <a:lstStyle/>
          <a:p>
            <a:r>
              <a:rPr lang="en-US" sz="3600" dirty="0"/>
              <a:t>The security dashboard</a:t>
            </a:r>
          </a:p>
        </p:txBody>
      </p:sp>
      <p:sp>
        <p:nvSpPr>
          <p:cNvPr id="9" name="TextBox 8">
            <a:extLst>
              <a:ext uri="{FF2B5EF4-FFF2-40B4-BE49-F238E27FC236}">
                <a16:creationId xmlns:a16="http://schemas.microsoft.com/office/drawing/2014/main" id="{185AEE92-485A-4185-975A-525F723A9EC1}"/>
              </a:ext>
            </a:extLst>
          </p:cNvPr>
          <p:cNvSpPr txBox="1"/>
          <p:nvPr/>
        </p:nvSpPr>
        <p:spPr>
          <a:xfrm>
            <a:off x="980212" y="2017713"/>
            <a:ext cx="4561253" cy="2994666"/>
          </a:xfrm>
          <a:prstGeom prst="rect">
            <a:avLst/>
          </a:prstGeom>
          <a:noFill/>
        </p:spPr>
        <p:txBody>
          <a:bodyPr wrap="square" lIns="0" tIns="0" rIns="0" bIns="0" rtlCol="0">
            <a:spAutoFit/>
          </a:bodyPr>
          <a:lstStyle/>
          <a:p>
            <a:pPr defTabSz="932060">
              <a:lnSpc>
                <a:spcPct val="90000"/>
              </a:lnSpc>
              <a:spcAft>
                <a:spcPts val="600"/>
              </a:spcAft>
              <a:defRPr/>
            </a:pPr>
            <a:r>
              <a:rPr lang="en-US" sz="1600" dirty="0">
                <a:ln w="3175">
                  <a:noFill/>
                </a:ln>
                <a:latin typeface="Segoe UI Semibold"/>
                <a:cs typeface="Segoe UI Semilight" panose="020B0402040204020203" pitchFamily="34" charset="0"/>
              </a:rPr>
              <a:t>Centralized posture view</a:t>
            </a:r>
          </a:p>
          <a:p>
            <a:pPr defTabSz="932060">
              <a:lnSpc>
                <a:spcPct val="90000"/>
              </a:lnSpc>
              <a:spcAft>
                <a:spcPts val="1199"/>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Your security posture across Azure, AWS, </a:t>
            </a:r>
            <a:b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b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and GCP in one place</a:t>
            </a:r>
          </a:p>
          <a:p>
            <a:pPr defTabSz="932060">
              <a:lnSpc>
                <a:spcPct val="90000"/>
              </a:lnSpc>
              <a:spcBef>
                <a:spcPts val="1200"/>
              </a:spcBef>
              <a:spcAft>
                <a:spcPts val="600"/>
              </a:spcAft>
              <a:defRPr/>
            </a:pPr>
            <a:r>
              <a:rPr lang="en-US" sz="1600" dirty="0">
                <a:ln w="3175">
                  <a:noFill/>
                </a:ln>
                <a:latin typeface="Segoe UI Semibold"/>
                <a:cs typeface="Segoe UI Semilight" panose="020B0402040204020203" pitchFamily="34" charset="0"/>
              </a:rPr>
              <a:t>Focused views </a:t>
            </a:r>
          </a:p>
          <a:p>
            <a:pPr defTabSz="932060">
              <a:lnSpc>
                <a:spcPct val="90000"/>
              </a:lnSpc>
              <a:spcAft>
                <a:spcPts val="1199"/>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Easily access deep dive views for security posture, resource inventory, workload protection, and more</a:t>
            </a:r>
          </a:p>
          <a:p>
            <a:pPr defTabSz="932060">
              <a:lnSpc>
                <a:spcPct val="90000"/>
              </a:lnSpc>
              <a:spcBef>
                <a:spcPts val="1200"/>
              </a:spcBef>
              <a:spcAft>
                <a:spcPts val="600"/>
              </a:spcAft>
              <a:defRPr/>
            </a:pPr>
            <a:r>
              <a:rPr lang="en-US" sz="1600" dirty="0">
                <a:ln w="3175">
                  <a:noFill/>
                </a:ln>
                <a:latin typeface="Segoe UI Semibold"/>
                <a:cs typeface="Segoe UI Semilight" panose="020B0402040204020203" pitchFamily="34" charset="0"/>
              </a:rPr>
              <a:t>Top insights front and center</a:t>
            </a:r>
          </a:p>
          <a:p>
            <a:pPr defTabSz="932060">
              <a:lnSpc>
                <a:spcPct val="90000"/>
              </a:lnSpc>
              <a:spcAft>
                <a:spcPts val="1199"/>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Understand which recommendations to prioritize</a:t>
            </a:r>
          </a:p>
          <a:p>
            <a:pPr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See your most attacked resources and take action</a:t>
            </a:r>
          </a:p>
        </p:txBody>
      </p:sp>
      <p:sp>
        <p:nvSpPr>
          <p:cNvPr id="7" name="Freeform: Shape 6">
            <a:extLst>
              <a:ext uri="{FF2B5EF4-FFF2-40B4-BE49-F238E27FC236}">
                <a16:creationId xmlns:a16="http://schemas.microsoft.com/office/drawing/2014/main" id="{0364AF63-F17C-419E-A855-099D541019BD}"/>
              </a:ext>
              <a:ext uri="{C183D7F6-B498-43B3-948B-1728B52AA6E4}">
                <adec:decorative xmlns:adec="http://schemas.microsoft.com/office/drawing/2017/decorative" val="1"/>
              </a:ext>
            </a:extLst>
          </p:cNvPr>
          <p:cNvSpPr/>
          <p:nvPr/>
        </p:nvSpPr>
        <p:spPr bwMode="auto">
          <a:xfrm>
            <a:off x="8164526" y="497"/>
            <a:ext cx="4270186" cy="6993533"/>
          </a:xfrm>
          <a:custGeom>
            <a:avLst/>
            <a:gdLst>
              <a:gd name="connsiteX0" fmla="*/ 0 w 4187431"/>
              <a:gd name="connsiteY0" fmla="*/ 0 h 6858000"/>
              <a:gd name="connsiteX1" fmla="*/ 4187431 w 4187431"/>
              <a:gd name="connsiteY1" fmla="*/ 0 h 6858000"/>
              <a:gd name="connsiteX2" fmla="*/ 4187431 w 4187431"/>
              <a:gd name="connsiteY2" fmla="*/ 6858000 h 6858000"/>
              <a:gd name="connsiteX3" fmla="*/ 0 w 4187431"/>
              <a:gd name="connsiteY3" fmla="*/ 6858000 h 6858000"/>
              <a:gd name="connsiteX4" fmla="*/ 3429000 w 4187431"/>
              <a:gd name="connsiteY4" fmla="*/ 3429000 h 6858000"/>
              <a:gd name="connsiteX5" fmla="*/ 0 w 4187431"/>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87431" h="6858000">
                <a:moveTo>
                  <a:pt x="0" y="0"/>
                </a:moveTo>
                <a:lnTo>
                  <a:pt x="4187431" y="0"/>
                </a:lnTo>
                <a:lnTo>
                  <a:pt x="4187431" y="6858000"/>
                </a:lnTo>
                <a:lnTo>
                  <a:pt x="0" y="6858000"/>
                </a:lnTo>
                <a:cubicBezTo>
                  <a:pt x="1893784" y="6858000"/>
                  <a:pt x="3429000" y="5322784"/>
                  <a:pt x="3429000" y="3429000"/>
                </a:cubicBezTo>
                <a:cubicBezTo>
                  <a:pt x="3429000" y="1535216"/>
                  <a:pt x="1893784" y="0"/>
                  <a:pt x="0" y="0"/>
                </a:cubicBezTo>
                <a:close/>
              </a:path>
            </a:pathLst>
          </a:cu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defRPr/>
            </a:pPr>
            <a:endParaRPr lang="en-US" sz="204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 name="Rectangle: Rounded Corners 7">
            <a:extLst>
              <a:ext uri="{FF2B5EF4-FFF2-40B4-BE49-F238E27FC236}">
                <a16:creationId xmlns:a16="http://schemas.microsoft.com/office/drawing/2014/main" id="{FD6D04B1-F25B-4C87-84EF-DAEA159404F7}"/>
              </a:ext>
              <a:ext uri="{C183D7F6-B498-43B3-948B-1728B52AA6E4}">
                <adec:decorative xmlns:adec="http://schemas.microsoft.com/office/drawing/2017/decorative" val="1"/>
              </a:ext>
            </a:extLst>
          </p:cNvPr>
          <p:cNvSpPr/>
          <p:nvPr/>
        </p:nvSpPr>
        <p:spPr>
          <a:xfrm>
            <a:off x="6689316" y="1529655"/>
            <a:ext cx="8101929" cy="4966707"/>
          </a:xfrm>
          <a:prstGeom prst="roundRect">
            <a:avLst>
              <a:gd name="adj" fmla="val 3742"/>
            </a:avLst>
          </a:prstGeom>
          <a:solidFill>
            <a:srgbClr val="000000"/>
          </a:solidFill>
          <a:ln w="31750">
            <a:solidFill>
              <a:srgbClr val="B6B6B6"/>
            </a:solidFill>
          </a:ln>
          <a:effectLst>
            <a:outerShdw blurRad="190500" dist="50800" dir="2700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384">
              <a:defRPr/>
            </a:pPr>
            <a:endParaRPr lang="en-US">
              <a:solidFill>
                <a:srgbClr val="FFFFFF"/>
              </a:solidFill>
              <a:latin typeface="Segoe UI"/>
            </a:endParaRPr>
          </a:p>
        </p:txBody>
      </p:sp>
      <p:pic>
        <p:nvPicPr>
          <p:cNvPr id="2" name="Graphic 1" descr="Screenshot Microsoft Defender for Cloud Overview dashboard">
            <a:extLst>
              <a:ext uri="{FF2B5EF4-FFF2-40B4-BE49-F238E27FC236}">
                <a16:creationId xmlns:a16="http://schemas.microsoft.com/office/drawing/2014/main" id="{B9E16A85-CF48-4E74-8F59-7D29D42D72F5}"/>
              </a:ext>
            </a:extLst>
          </p:cNvPr>
          <p:cNvPicPr>
            <a:picLocks noChangeAspect="1"/>
          </p:cNvPicPr>
          <p:nvPr/>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8792"/>
          <a:stretch/>
        </p:blipFill>
        <p:spPr>
          <a:xfrm>
            <a:off x="6971107" y="1787769"/>
            <a:ext cx="7527491" cy="4440342"/>
          </a:xfrm>
          <a:prstGeom prst="rect">
            <a:avLst/>
          </a:prstGeom>
        </p:spPr>
      </p:pic>
      <p:pic>
        <p:nvPicPr>
          <p:cNvPr id="12" name="Graphic 11">
            <a:extLst>
              <a:ext uri="{FF2B5EF4-FFF2-40B4-BE49-F238E27FC236}">
                <a16:creationId xmlns:a16="http://schemas.microsoft.com/office/drawing/2014/main" id="{EADC28AA-4EC1-1B0A-8696-24A1CAECB80A}"/>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589824" y="1998778"/>
            <a:ext cx="224853" cy="248523"/>
          </a:xfrm>
          <a:prstGeom prst="rect">
            <a:avLst/>
          </a:prstGeom>
        </p:spPr>
      </p:pic>
      <p:pic>
        <p:nvPicPr>
          <p:cNvPr id="13" name="Graphic 12">
            <a:extLst>
              <a:ext uri="{FF2B5EF4-FFF2-40B4-BE49-F238E27FC236}">
                <a16:creationId xmlns:a16="http://schemas.microsoft.com/office/drawing/2014/main" id="{0B364A57-136D-D0F2-1D40-22E33FAAF085}"/>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589824" y="3030544"/>
            <a:ext cx="224853" cy="248523"/>
          </a:xfrm>
          <a:prstGeom prst="rect">
            <a:avLst/>
          </a:prstGeom>
        </p:spPr>
      </p:pic>
      <p:pic>
        <p:nvPicPr>
          <p:cNvPr id="14" name="Graphic 13">
            <a:extLst>
              <a:ext uri="{FF2B5EF4-FFF2-40B4-BE49-F238E27FC236}">
                <a16:creationId xmlns:a16="http://schemas.microsoft.com/office/drawing/2014/main" id="{FAF53E10-0476-0F6D-7DCE-A999C9DD23BB}"/>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589823" y="4088854"/>
            <a:ext cx="224853" cy="248523"/>
          </a:xfrm>
          <a:prstGeom prst="rect">
            <a:avLst/>
          </a:prstGeom>
        </p:spPr>
      </p:pic>
    </p:spTree>
    <p:extLst>
      <p:ext uri="{BB962C8B-B14F-4D97-AF65-F5344CB8AC3E}">
        <p14:creationId xmlns:p14="http://schemas.microsoft.com/office/powerpoint/2010/main" val="16771216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42" presetClass="path" presetSubtype="0" decel="100000" fill="hold" grpId="1" nodeType="withEffect">
                                  <p:stCondLst>
                                    <p:cond delay="0"/>
                                  </p:stCondLst>
                                  <p:childTnLst>
                                    <p:animMotion origin="layout" path="M -4.51876E-7 3.40445E-6 L -0.0134 3.40445E-6 " pathEditMode="relative" rAng="0" ptsTypes="AA">
                                      <p:cBhvr>
                                        <p:cTn id="9" dur="500" spd="-100000" fill="hold"/>
                                        <p:tgtEl>
                                          <p:spTgt spid="9"/>
                                        </p:tgtEl>
                                        <p:attrNameLst>
                                          <p:attrName>ppt_x</p:attrName>
                                          <p:attrName>ppt_y</p:attrName>
                                        </p:attrNameLst>
                                      </p:cBhvr>
                                      <p:rCtr x="-677" y="0"/>
                                    </p:animMotion>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42" presetClass="path" presetSubtype="0" decel="100000" fill="hold" grpId="1" nodeType="withEffect">
                                  <p:stCondLst>
                                    <p:cond delay="0"/>
                                  </p:stCondLst>
                                  <p:childTnLst>
                                    <p:animMotion origin="layout" path="M -1.17692E-6 3.91285E-6 L 0.02272 -0.00068 " pathEditMode="relative" rAng="0" ptsTypes="AA">
                                      <p:cBhvr>
                                        <p:cTn id="14" dur="500" spd="-100000" fill="hold"/>
                                        <p:tgtEl>
                                          <p:spTgt spid="8"/>
                                        </p:tgtEl>
                                        <p:attrNameLst>
                                          <p:attrName>ppt_x</p:attrName>
                                          <p:attrName>ppt_y</p:attrName>
                                        </p:attrNameLst>
                                      </p:cBhvr>
                                      <p:rCtr x="1136" y="-45"/>
                                    </p:animMotion>
                                  </p:childTnLst>
                                </p:cTn>
                              </p:par>
                              <p:par>
                                <p:cTn id="15" presetID="10"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42" presetClass="path" presetSubtype="0" decel="100000" fill="hold" nodeType="withEffect">
                                  <p:stCondLst>
                                    <p:cond delay="0"/>
                                  </p:stCondLst>
                                  <p:childTnLst>
                                    <p:animMotion origin="layout" path="M -1.17692E-6 3.91285E-6 L 0.02272 -0.00068 " pathEditMode="relative" rAng="0" ptsTypes="AA">
                                      <p:cBhvr>
                                        <p:cTn id="19" dur="500" spd="-100000" fill="hold"/>
                                        <p:tgtEl>
                                          <p:spTgt spid="2"/>
                                        </p:tgtEl>
                                        <p:attrNameLst>
                                          <p:attrName>ppt_x</p:attrName>
                                          <p:attrName>ppt_y</p:attrName>
                                        </p:attrNameLst>
                                      </p:cBhvr>
                                      <p:rCtr x="1136" y="-4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8" grpId="0" animBg="1"/>
      <p:bldP spid="8"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628C12-3DB1-4A5C-A32E-983A6CF7E0C1}"/>
              </a:ext>
            </a:extLst>
          </p:cNvPr>
          <p:cNvSpPr>
            <a:spLocks noGrp="1"/>
          </p:cNvSpPr>
          <p:nvPr>
            <p:ph type="title"/>
          </p:nvPr>
        </p:nvSpPr>
        <p:spPr>
          <a:xfrm>
            <a:off x="562756" y="466529"/>
            <a:ext cx="6788432" cy="553998"/>
          </a:xfrm>
        </p:spPr>
        <p:txBody>
          <a:bodyPr/>
          <a:lstStyle/>
          <a:p>
            <a:r>
              <a:rPr lang="en-US" sz="3600" dirty="0">
                <a:solidFill>
                  <a:schemeClr val="tx1"/>
                </a:solidFill>
              </a:rPr>
              <a:t>Secure Score</a:t>
            </a:r>
          </a:p>
        </p:txBody>
      </p:sp>
      <p:sp>
        <p:nvSpPr>
          <p:cNvPr id="70" name="Freeform: Shape 69">
            <a:extLst>
              <a:ext uri="{FF2B5EF4-FFF2-40B4-BE49-F238E27FC236}">
                <a16:creationId xmlns:a16="http://schemas.microsoft.com/office/drawing/2014/main" id="{6A6C9D94-BF6F-493A-B0A6-EDBA67D87ECD}"/>
              </a:ext>
              <a:ext uri="{C183D7F6-B498-43B3-948B-1728B52AA6E4}">
                <adec:decorative xmlns:adec="http://schemas.microsoft.com/office/drawing/2017/decorative" val="1"/>
              </a:ext>
            </a:extLst>
          </p:cNvPr>
          <p:cNvSpPr/>
          <p:nvPr/>
        </p:nvSpPr>
        <p:spPr bwMode="auto">
          <a:xfrm>
            <a:off x="8164526" y="497"/>
            <a:ext cx="4270186" cy="6993533"/>
          </a:xfrm>
          <a:custGeom>
            <a:avLst/>
            <a:gdLst>
              <a:gd name="connsiteX0" fmla="*/ 0 w 4187431"/>
              <a:gd name="connsiteY0" fmla="*/ 0 h 6858000"/>
              <a:gd name="connsiteX1" fmla="*/ 4187431 w 4187431"/>
              <a:gd name="connsiteY1" fmla="*/ 0 h 6858000"/>
              <a:gd name="connsiteX2" fmla="*/ 4187431 w 4187431"/>
              <a:gd name="connsiteY2" fmla="*/ 6858000 h 6858000"/>
              <a:gd name="connsiteX3" fmla="*/ 0 w 4187431"/>
              <a:gd name="connsiteY3" fmla="*/ 6858000 h 6858000"/>
              <a:gd name="connsiteX4" fmla="*/ 3429000 w 4187431"/>
              <a:gd name="connsiteY4" fmla="*/ 3429000 h 6858000"/>
              <a:gd name="connsiteX5" fmla="*/ 0 w 4187431"/>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87431" h="6858000">
                <a:moveTo>
                  <a:pt x="0" y="0"/>
                </a:moveTo>
                <a:lnTo>
                  <a:pt x="4187431" y="0"/>
                </a:lnTo>
                <a:lnTo>
                  <a:pt x="4187431" y="6858000"/>
                </a:lnTo>
                <a:lnTo>
                  <a:pt x="0" y="6858000"/>
                </a:lnTo>
                <a:cubicBezTo>
                  <a:pt x="1893784" y="6858000"/>
                  <a:pt x="3429000" y="5322784"/>
                  <a:pt x="3429000" y="3429000"/>
                </a:cubicBezTo>
                <a:cubicBezTo>
                  <a:pt x="3429000" y="1535216"/>
                  <a:pt x="1893784" y="0"/>
                  <a:pt x="0" y="0"/>
                </a:cubicBezTo>
                <a:close/>
              </a:path>
            </a:pathLst>
          </a:cu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defRPr/>
            </a:pPr>
            <a:endParaRPr lang="en-US" sz="204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0" name="TextBox 39">
            <a:extLst>
              <a:ext uri="{FF2B5EF4-FFF2-40B4-BE49-F238E27FC236}">
                <a16:creationId xmlns:a16="http://schemas.microsoft.com/office/drawing/2014/main" id="{90B45073-9B59-43CC-BC6A-DAAC9001FFD0}"/>
              </a:ext>
            </a:extLst>
          </p:cNvPr>
          <p:cNvSpPr txBox="1"/>
          <p:nvPr/>
        </p:nvSpPr>
        <p:spPr>
          <a:xfrm>
            <a:off x="566928" y="2024812"/>
            <a:ext cx="6242857" cy="3486788"/>
          </a:xfrm>
          <a:prstGeom prst="rect">
            <a:avLst/>
          </a:prstGeom>
          <a:noFill/>
          <a:ln>
            <a:noFill/>
          </a:ln>
        </p:spPr>
        <p:txBody>
          <a:bodyPr wrap="square" lIns="0" tIns="0" rIns="0" bIns="0" rtlCol="0">
            <a:spAutoFit/>
          </a:bodyPr>
          <a:lstStyle/>
          <a:p>
            <a:pPr lvl="1"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Assess and implement best practices for security and compliance</a:t>
            </a:r>
          </a:p>
          <a:p>
            <a:pPr lvl="1"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Cover all critical cloud resources across network, access, compute, databases, your service layer and more</a:t>
            </a:r>
          </a:p>
          <a:p>
            <a:pPr lvl="1" defTabSz="932060">
              <a:lnSpc>
                <a:spcPct val="90000"/>
              </a:lnSpc>
              <a:spcAft>
                <a:spcPts val="2448"/>
              </a:spcAft>
              <a:defRPr/>
            </a:pPr>
            <a:r>
              <a:rPr lang="en-US" sz="1600" dirty="0">
                <a:gradFill>
                  <a:gsLst>
                    <a:gs pos="0">
                      <a:srgbClr val="000000"/>
                    </a:gs>
                    <a:gs pos="100000">
                      <a:srgbClr val="000000"/>
                    </a:gs>
                  </a:gsLst>
                  <a:lin ang="5400000" scaled="1"/>
                </a:gradFill>
                <a:latin typeface="Segoe UI"/>
                <a:cs typeface="Segoe UI"/>
              </a:rPr>
              <a:t>450+out-of-the-box recommendations</a:t>
            </a:r>
          </a:p>
          <a:p>
            <a:pPr lvl="1"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Create custom recommendations to meet organizational requirements</a:t>
            </a:r>
          </a:p>
          <a:p>
            <a:pPr lvl="1"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Use “Quick fix” to remediate with a single click or scale enforcement mechanisms to enforce policies to avoid configuration drifts</a:t>
            </a:r>
          </a:p>
        </p:txBody>
      </p:sp>
      <p:grpSp>
        <p:nvGrpSpPr>
          <p:cNvPr id="4" name="Group 3" descr="Evaluated categories with icons">
            <a:extLst>
              <a:ext uri="{FF2B5EF4-FFF2-40B4-BE49-F238E27FC236}">
                <a16:creationId xmlns:a16="http://schemas.microsoft.com/office/drawing/2014/main" id="{9BE7D906-09FA-4DFA-A037-8746821C62F7}"/>
              </a:ext>
            </a:extLst>
          </p:cNvPr>
          <p:cNvGrpSpPr/>
          <p:nvPr/>
        </p:nvGrpSpPr>
        <p:grpSpPr>
          <a:xfrm>
            <a:off x="7404397" y="3439976"/>
            <a:ext cx="4656146" cy="3207120"/>
            <a:chOff x="7404565" y="3439967"/>
            <a:chExt cx="4656806" cy="3207575"/>
          </a:xfrm>
        </p:grpSpPr>
        <p:sp>
          <p:nvSpPr>
            <p:cNvPr id="69" name="Rectangle: Rounded Corners 68">
              <a:extLst>
                <a:ext uri="{FF2B5EF4-FFF2-40B4-BE49-F238E27FC236}">
                  <a16:creationId xmlns:a16="http://schemas.microsoft.com/office/drawing/2014/main" id="{7767FE96-584F-4719-B433-61EDC938FAA9}"/>
                </a:ext>
                <a:ext uri="{C183D7F6-B498-43B3-948B-1728B52AA6E4}">
                  <adec:decorative xmlns:adec="http://schemas.microsoft.com/office/drawing/2017/decorative" val="1"/>
                </a:ext>
              </a:extLst>
            </p:cNvPr>
            <p:cNvSpPr/>
            <p:nvPr/>
          </p:nvSpPr>
          <p:spPr bwMode="auto">
            <a:xfrm>
              <a:off x="7404565" y="3439967"/>
              <a:ext cx="4656806" cy="3207575"/>
            </a:xfrm>
            <a:prstGeom prst="roundRect">
              <a:avLst>
                <a:gd name="adj" fmla="val 5821"/>
              </a:avLst>
            </a:prstGeom>
            <a:solidFill>
              <a:schemeClr val="bg1"/>
            </a:solidFill>
            <a:ln w="19050">
              <a:solidFill>
                <a:srgbClr val="D2D2D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defTabSz="932293" fontAlgn="base">
                <a:spcBef>
                  <a:spcPct val="0"/>
                </a:spcBef>
                <a:spcAft>
                  <a:spcPct val="0"/>
                </a:spcAft>
              </a:pPr>
              <a:endParaRPr lang="en-US" sz="2000" err="1">
                <a:solidFill>
                  <a:srgbClr val="FFFFFF"/>
                </a:solidFill>
                <a:latin typeface="Segoe UI"/>
                <a:ea typeface="Segoe UI" pitchFamily="34" charset="0"/>
                <a:cs typeface="Segoe UI" pitchFamily="34" charset="0"/>
              </a:endParaRPr>
            </a:p>
          </p:txBody>
        </p:sp>
        <p:sp>
          <p:nvSpPr>
            <p:cNvPr id="60" name="TextBox 59">
              <a:extLst>
                <a:ext uri="{FF2B5EF4-FFF2-40B4-BE49-F238E27FC236}">
                  <a16:creationId xmlns:a16="http://schemas.microsoft.com/office/drawing/2014/main" id="{4B49D789-3F2D-49B0-A3F4-6FD6AB04364C}"/>
                </a:ext>
              </a:extLst>
            </p:cNvPr>
            <p:cNvSpPr txBox="1"/>
            <p:nvPr/>
          </p:nvSpPr>
          <p:spPr>
            <a:xfrm>
              <a:off x="8764771" y="4583476"/>
              <a:ext cx="985150" cy="654219"/>
            </a:xfrm>
            <a:prstGeom prst="rect">
              <a:avLst/>
            </a:prstGeom>
            <a:noFill/>
          </p:spPr>
          <p:txBody>
            <a:bodyPr wrap="square" lIns="0" tIns="0" rIns="0" bIns="0" rtlCol="0" anchor="b">
              <a:noAutofit/>
            </a:bodyPr>
            <a:lstStyle/>
            <a:p>
              <a:pPr algn="ctr" defTabSz="932384">
                <a:defRPr/>
              </a:pPr>
              <a:r>
                <a:rPr lang="en-US" sz="1199">
                  <a:solidFill>
                    <a:srgbClr val="000000"/>
                  </a:solidFill>
                  <a:latin typeface="Segoe UI Semibold"/>
                </a:rPr>
                <a:t>Compute</a:t>
              </a:r>
            </a:p>
          </p:txBody>
        </p:sp>
        <p:sp>
          <p:nvSpPr>
            <p:cNvPr id="61" name="TextBox 60">
              <a:extLst>
                <a:ext uri="{FF2B5EF4-FFF2-40B4-BE49-F238E27FC236}">
                  <a16:creationId xmlns:a16="http://schemas.microsoft.com/office/drawing/2014/main" id="{441EDF4E-661A-4278-9A16-D1BE98A6950D}"/>
                </a:ext>
              </a:extLst>
            </p:cNvPr>
            <p:cNvSpPr txBox="1"/>
            <p:nvPr/>
          </p:nvSpPr>
          <p:spPr>
            <a:xfrm>
              <a:off x="9325959" y="5729938"/>
              <a:ext cx="985150" cy="654219"/>
            </a:xfrm>
            <a:prstGeom prst="rect">
              <a:avLst/>
            </a:prstGeom>
            <a:noFill/>
          </p:spPr>
          <p:txBody>
            <a:bodyPr wrap="square" lIns="0" tIns="0" rIns="0" bIns="0" rtlCol="0" anchor="b">
              <a:noAutofit/>
            </a:bodyPr>
            <a:lstStyle/>
            <a:p>
              <a:pPr algn="ctr" defTabSz="932384">
                <a:defRPr/>
              </a:pPr>
              <a:r>
                <a:rPr lang="en-US" sz="1199">
                  <a:solidFill>
                    <a:srgbClr val="000000"/>
                  </a:solidFill>
                  <a:latin typeface="Segoe UI Semibold"/>
                </a:rPr>
                <a:t>App Services</a:t>
              </a:r>
            </a:p>
          </p:txBody>
        </p:sp>
        <p:sp>
          <p:nvSpPr>
            <p:cNvPr id="62" name="TextBox 61">
              <a:extLst>
                <a:ext uri="{FF2B5EF4-FFF2-40B4-BE49-F238E27FC236}">
                  <a16:creationId xmlns:a16="http://schemas.microsoft.com/office/drawing/2014/main" id="{311B3BC3-76D6-4889-ACD8-BFB4833DD070}"/>
                </a:ext>
              </a:extLst>
            </p:cNvPr>
            <p:cNvSpPr txBox="1"/>
            <p:nvPr/>
          </p:nvSpPr>
          <p:spPr>
            <a:xfrm>
              <a:off x="8190270" y="5729938"/>
              <a:ext cx="985150" cy="654219"/>
            </a:xfrm>
            <a:prstGeom prst="rect">
              <a:avLst/>
            </a:prstGeom>
            <a:noFill/>
          </p:spPr>
          <p:txBody>
            <a:bodyPr wrap="square" lIns="0" tIns="0" rIns="0" bIns="0" rtlCol="0" anchor="b">
              <a:noAutofit/>
            </a:bodyPr>
            <a:lstStyle/>
            <a:p>
              <a:pPr algn="ctr" defTabSz="932384">
                <a:defRPr/>
              </a:pPr>
              <a:r>
                <a:rPr lang="en-US" sz="1199">
                  <a:solidFill>
                    <a:srgbClr val="000000"/>
                  </a:solidFill>
                  <a:latin typeface="Segoe UI Semibold"/>
                </a:rPr>
                <a:t>Network</a:t>
              </a:r>
            </a:p>
          </p:txBody>
        </p:sp>
        <p:sp>
          <p:nvSpPr>
            <p:cNvPr id="63" name="TextBox 62">
              <a:extLst>
                <a:ext uri="{FF2B5EF4-FFF2-40B4-BE49-F238E27FC236}">
                  <a16:creationId xmlns:a16="http://schemas.microsoft.com/office/drawing/2014/main" id="{237BCD35-D7AE-4958-BE8B-C8E72EC56388}"/>
                </a:ext>
              </a:extLst>
            </p:cNvPr>
            <p:cNvSpPr txBox="1"/>
            <p:nvPr/>
          </p:nvSpPr>
          <p:spPr>
            <a:xfrm>
              <a:off x="7629082" y="4583476"/>
              <a:ext cx="985150" cy="654219"/>
            </a:xfrm>
            <a:prstGeom prst="rect">
              <a:avLst/>
            </a:prstGeom>
            <a:noFill/>
          </p:spPr>
          <p:txBody>
            <a:bodyPr wrap="square" lIns="0" tIns="0" rIns="0" bIns="0" rtlCol="0" anchor="b">
              <a:noAutofit/>
            </a:bodyPr>
            <a:lstStyle/>
            <a:p>
              <a:pPr algn="ctr" defTabSz="932384">
                <a:defRPr/>
              </a:pPr>
              <a:r>
                <a:rPr lang="en-US" sz="1199">
                  <a:solidFill>
                    <a:srgbClr val="000000"/>
                  </a:solidFill>
                  <a:latin typeface="Segoe UI Semibold"/>
                </a:rPr>
                <a:t>Access</a:t>
              </a:r>
            </a:p>
          </p:txBody>
        </p:sp>
        <p:sp>
          <p:nvSpPr>
            <p:cNvPr id="64" name="TextBox 63">
              <a:extLst>
                <a:ext uri="{FF2B5EF4-FFF2-40B4-BE49-F238E27FC236}">
                  <a16:creationId xmlns:a16="http://schemas.microsoft.com/office/drawing/2014/main" id="{CF45DECF-4655-48E4-BE40-6D1A3BABEFE8}"/>
                </a:ext>
              </a:extLst>
            </p:cNvPr>
            <p:cNvSpPr txBox="1"/>
            <p:nvPr/>
          </p:nvSpPr>
          <p:spPr>
            <a:xfrm>
              <a:off x="9900461" y="4583476"/>
              <a:ext cx="985150" cy="654219"/>
            </a:xfrm>
            <a:prstGeom prst="rect">
              <a:avLst/>
            </a:prstGeom>
            <a:noFill/>
          </p:spPr>
          <p:txBody>
            <a:bodyPr wrap="square" lIns="0" tIns="0" rIns="0" bIns="0" rtlCol="0" anchor="b">
              <a:noAutofit/>
            </a:bodyPr>
            <a:lstStyle/>
            <a:p>
              <a:pPr algn="ctr" defTabSz="932384">
                <a:defRPr/>
              </a:pPr>
              <a:r>
                <a:rPr lang="en-US" sz="1199">
                  <a:solidFill>
                    <a:srgbClr val="000000"/>
                  </a:solidFill>
                  <a:latin typeface="Segoe UI Semibold"/>
                </a:rPr>
                <a:t>SQL server</a:t>
              </a:r>
            </a:p>
          </p:txBody>
        </p:sp>
        <p:sp>
          <p:nvSpPr>
            <p:cNvPr id="95" name="TextBox 94">
              <a:extLst>
                <a:ext uri="{FF2B5EF4-FFF2-40B4-BE49-F238E27FC236}">
                  <a16:creationId xmlns:a16="http://schemas.microsoft.com/office/drawing/2014/main" id="{5DB2B0B0-895C-415D-96D3-85E751F72B6A}"/>
                </a:ext>
              </a:extLst>
            </p:cNvPr>
            <p:cNvSpPr txBox="1"/>
            <p:nvPr/>
          </p:nvSpPr>
          <p:spPr>
            <a:xfrm>
              <a:off x="8434774" y="3732017"/>
              <a:ext cx="2630293" cy="219633"/>
            </a:xfrm>
            <a:prstGeom prst="rect">
              <a:avLst/>
            </a:prstGeom>
            <a:noFill/>
          </p:spPr>
          <p:txBody>
            <a:bodyPr wrap="square" lIns="0" tIns="0" rIns="0" bIns="0" rtlCol="0">
              <a:spAutoFit/>
            </a:bodyPr>
            <a:lstStyle/>
            <a:p>
              <a:pPr algn="ctr" defTabSz="932384">
                <a:defRPr/>
              </a:pPr>
              <a:r>
                <a:rPr lang="en-US" sz="1399">
                  <a:solidFill>
                    <a:srgbClr val="000000"/>
                  </a:solidFill>
                  <a:latin typeface="Segoe UI Semibold"/>
                </a:rPr>
                <a:t>Evaluated categories</a:t>
              </a:r>
            </a:p>
          </p:txBody>
        </p:sp>
        <p:grpSp>
          <p:nvGrpSpPr>
            <p:cNvPr id="24" name="Group 23">
              <a:extLst>
                <a:ext uri="{FF2B5EF4-FFF2-40B4-BE49-F238E27FC236}">
                  <a16:creationId xmlns:a16="http://schemas.microsoft.com/office/drawing/2014/main" id="{04CFA9F5-87CC-4614-8727-F0D98CD237B9}"/>
                </a:ext>
                <a:ext uri="{C183D7F6-B498-43B3-948B-1728B52AA6E4}">
                  <adec:decorative xmlns:adec="http://schemas.microsoft.com/office/drawing/2017/decorative" val="1"/>
                </a:ext>
              </a:extLst>
            </p:cNvPr>
            <p:cNvGrpSpPr/>
            <p:nvPr/>
          </p:nvGrpSpPr>
          <p:grpSpPr>
            <a:xfrm>
              <a:off x="7802126" y="4326700"/>
              <a:ext cx="645153" cy="645153"/>
              <a:chOff x="6581410" y="2276542"/>
              <a:chExt cx="632560" cy="632560"/>
            </a:xfrm>
          </p:grpSpPr>
          <p:sp>
            <p:nvSpPr>
              <p:cNvPr id="103" name="Oval 102">
                <a:extLst>
                  <a:ext uri="{FF2B5EF4-FFF2-40B4-BE49-F238E27FC236}">
                    <a16:creationId xmlns:a16="http://schemas.microsoft.com/office/drawing/2014/main" id="{A4578F75-9EA3-42BC-999F-054F8966C96A}"/>
                  </a:ext>
                </a:extLst>
              </p:cNvPr>
              <p:cNvSpPr/>
              <p:nvPr/>
            </p:nvSpPr>
            <p:spPr bwMode="auto">
              <a:xfrm>
                <a:off x="6581410" y="2276542"/>
                <a:ext cx="632560" cy="632560"/>
              </a:xfrm>
              <a:prstGeom prst="ellipse">
                <a:avLst/>
              </a:prstGeom>
              <a:solidFill>
                <a:srgbClr val="FFFFFF"/>
              </a:solidFill>
              <a:ln w="9525" cap="flat" cmpd="sng" algn="ctr">
                <a:noFill/>
                <a:prstDash val="solid"/>
              </a:ln>
              <a:effectLst>
                <a:outerShdw blurRad="127000" algn="tl" rotWithShape="0">
                  <a:srgbClr val="FFFFFF">
                    <a:lumMod val="50000"/>
                    <a:alpha val="20000"/>
                  </a:srgbClr>
                </a:outerShdw>
              </a:effectLst>
            </p:spPr>
            <p:txBody>
              <a:bodyPr rot="0" spcFirstLastPara="0" vert="horz" wrap="square" lIns="193994" tIns="190207" rIns="193994" bIns="190207" numCol="1" spcCol="0" rtlCol="0" fromWordArt="0" anchor="t"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950973">
                  <a:spcBef>
                    <a:spcPct val="0"/>
                  </a:spcBef>
                  <a:defRPr/>
                </a:pPr>
                <a:endParaRPr lang="en-US" sz="1122" kern="0">
                  <a:ln w="3175">
                    <a:noFill/>
                  </a:ln>
                  <a:solidFill>
                    <a:srgbClr val="000000"/>
                  </a:solidFill>
                  <a:latin typeface="Segoe UI Semibold"/>
                  <a:cs typeface="Segoe UI Semilight" panose="020B0402040204020203" pitchFamily="34" charset="0"/>
                </a:endParaRPr>
              </a:p>
            </p:txBody>
          </p:sp>
          <p:pic>
            <p:nvPicPr>
              <p:cNvPr id="65" name="Graphic 64">
                <a:extLst>
                  <a:ext uri="{FF2B5EF4-FFF2-40B4-BE49-F238E27FC236}">
                    <a16:creationId xmlns:a16="http://schemas.microsoft.com/office/drawing/2014/main" id="{439B07CD-E26B-446E-A1ED-70F0EAE3A6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97199" y="2392331"/>
                <a:ext cx="400983" cy="400983"/>
              </a:xfrm>
              <a:prstGeom prst="rect">
                <a:avLst/>
              </a:prstGeom>
              <a:effectLst>
                <a:outerShdw blurRad="190500" dist="50800" dir="2700000" algn="ctr" rotWithShape="0">
                  <a:prstClr val="black">
                    <a:alpha val="30000"/>
                  </a:prstClr>
                </a:outerShdw>
              </a:effectLst>
            </p:spPr>
          </p:pic>
        </p:grpSp>
        <p:grpSp>
          <p:nvGrpSpPr>
            <p:cNvPr id="22" name="Group 21">
              <a:extLst>
                <a:ext uri="{FF2B5EF4-FFF2-40B4-BE49-F238E27FC236}">
                  <a16:creationId xmlns:a16="http://schemas.microsoft.com/office/drawing/2014/main" id="{111487D7-B6B8-4E74-9305-829E9656D689}"/>
                </a:ext>
                <a:ext uri="{C183D7F6-B498-43B3-948B-1728B52AA6E4}">
                  <adec:decorative xmlns:adec="http://schemas.microsoft.com/office/drawing/2017/decorative" val="1"/>
                </a:ext>
              </a:extLst>
            </p:cNvPr>
            <p:cNvGrpSpPr/>
            <p:nvPr/>
          </p:nvGrpSpPr>
          <p:grpSpPr>
            <a:xfrm>
              <a:off x="10073381" y="4326700"/>
              <a:ext cx="645153" cy="645153"/>
              <a:chOff x="8781946" y="2276542"/>
              <a:chExt cx="632560" cy="632560"/>
            </a:xfrm>
          </p:grpSpPr>
          <p:sp>
            <p:nvSpPr>
              <p:cNvPr id="115" name="Oval 114">
                <a:extLst>
                  <a:ext uri="{FF2B5EF4-FFF2-40B4-BE49-F238E27FC236}">
                    <a16:creationId xmlns:a16="http://schemas.microsoft.com/office/drawing/2014/main" id="{475A5C47-A1F1-4A97-968E-2451D5F96BD7}"/>
                  </a:ext>
                </a:extLst>
              </p:cNvPr>
              <p:cNvSpPr/>
              <p:nvPr/>
            </p:nvSpPr>
            <p:spPr bwMode="auto">
              <a:xfrm>
                <a:off x="8781946" y="2276542"/>
                <a:ext cx="632560" cy="632560"/>
              </a:xfrm>
              <a:prstGeom prst="ellipse">
                <a:avLst/>
              </a:prstGeom>
              <a:solidFill>
                <a:srgbClr val="FFFFFF"/>
              </a:solidFill>
              <a:ln w="9525" cap="flat" cmpd="sng" algn="ctr">
                <a:noFill/>
                <a:prstDash val="solid"/>
              </a:ln>
              <a:effectLst>
                <a:outerShdw blurRad="127000" algn="tl" rotWithShape="0">
                  <a:srgbClr val="FFFFFF">
                    <a:lumMod val="50000"/>
                    <a:alpha val="20000"/>
                  </a:srgbClr>
                </a:outerShdw>
              </a:effectLst>
            </p:spPr>
            <p:txBody>
              <a:bodyPr rot="0" spcFirstLastPara="0" vert="horz" wrap="square" lIns="193994" tIns="190207" rIns="193994" bIns="190207" numCol="1" spcCol="0" rtlCol="0" fromWordArt="0" anchor="t"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950973">
                  <a:spcBef>
                    <a:spcPct val="0"/>
                  </a:spcBef>
                  <a:defRPr/>
                </a:pPr>
                <a:endParaRPr lang="en-US" sz="1122" kern="0">
                  <a:ln w="3175">
                    <a:noFill/>
                  </a:ln>
                  <a:solidFill>
                    <a:srgbClr val="000000"/>
                  </a:solidFill>
                  <a:latin typeface="Segoe UI Semibold"/>
                  <a:cs typeface="Segoe UI Semilight" panose="020B0402040204020203" pitchFamily="34" charset="0"/>
                </a:endParaRPr>
              </a:p>
            </p:txBody>
          </p:sp>
          <p:pic>
            <p:nvPicPr>
              <p:cNvPr id="66" name="Graphic 65">
                <a:extLst>
                  <a:ext uri="{FF2B5EF4-FFF2-40B4-BE49-F238E27FC236}">
                    <a16:creationId xmlns:a16="http://schemas.microsoft.com/office/drawing/2014/main" id="{58E5AA86-CE3F-4A55-98E8-FE28BF685AA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11570" y="2406166"/>
                <a:ext cx="373313" cy="373313"/>
              </a:xfrm>
              <a:prstGeom prst="rect">
                <a:avLst/>
              </a:prstGeom>
              <a:effectLst>
                <a:outerShdw blurRad="190500" dist="50800" dir="2700000" algn="ctr" rotWithShape="0">
                  <a:prstClr val="black">
                    <a:alpha val="30000"/>
                  </a:prstClr>
                </a:outerShdw>
              </a:effectLst>
            </p:spPr>
          </p:pic>
        </p:grpSp>
        <p:grpSp>
          <p:nvGrpSpPr>
            <p:cNvPr id="23" name="Group 22">
              <a:extLst>
                <a:ext uri="{FF2B5EF4-FFF2-40B4-BE49-F238E27FC236}">
                  <a16:creationId xmlns:a16="http://schemas.microsoft.com/office/drawing/2014/main" id="{C53E7BA9-AA2A-470E-8E1B-511456291B47}"/>
                </a:ext>
                <a:ext uri="{C183D7F6-B498-43B3-948B-1728B52AA6E4}">
                  <adec:decorative xmlns:adec="http://schemas.microsoft.com/office/drawing/2017/decorative" val="1"/>
                </a:ext>
              </a:extLst>
            </p:cNvPr>
            <p:cNvGrpSpPr/>
            <p:nvPr/>
          </p:nvGrpSpPr>
          <p:grpSpPr>
            <a:xfrm>
              <a:off x="8933884" y="4326700"/>
              <a:ext cx="645153" cy="645153"/>
              <a:chOff x="7681678" y="2276542"/>
              <a:chExt cx="632560" cy="632560"/>
            </a:xfrm>
          </p:grpSpPr>
          <p:sp>
            <p:nvSpPr>
              <p:cNvPr id="114" name="Oval 113">
                <a:extLst>
                  <a:ext uri="{FF2B5EF4-FFF2-40B4-BE49-F238E27FC236}">
                    <a16:creationId xmlns:a16="http://schemas.microsoft.com/office/drawing/2014/main" id="{63E7580C-DE32-49EF-9FD0-E3E8E698C5F4}"/>
                  </a:ext>
                </a:extLst>
              </p:cNvPr>
              <p:cNvSpPr/>
              <p:nvPr/>
            </p:nvSpPr>
            <p:spPr bwMode="auto">
              <a:xfrm>
                <a:off x="7681678" y="2276542"/>
                <a:ext cx="632560" cy="632560"/>
              </a:xfrm>
              <a:prstGeom prst="ellipse">
                <a:avLst/>
              </a:prstGeom>
              <a:solidFill>
                <a:srgbClr val="FFFFFF"/>
              </a:solidFill>
              <a:ln w="9525" cap="flat" cmpd="sng" algn="ctr">
                <a:noFill/>
                <a:prstDash val="solid"/>
              </a:ln>
              <a:effectLst>
                <a:outerShdw blurRad="127000" algn="tl" rotWithShape="0">
                  <a:srgbClr val="FFFFFF">
                    <a:lumMod val="50000"/>
                    <a:alpha val="20000"/>
                  </a:srgbClr>
                </a:outerShdw>
              </a:effectLst>
            </p:spPr>
            <p:txBody>
              <a:bodyPr rot="0" spcFirstLastPara="0" vert="horz" wrap="square" lIns="193994" tIns="190207" rIns="193994" bIns="190207" numCol="1" spcCol="0" rtlCol="0" fromWordArt="0" anchor="t"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950973">
                  <a:spcBef>
                    <a:spcPct val="0"/>
                  </a:spcBef>
                  <a:defRPr/>
                </a:pPr>
                <a:endParaRPr lang="en-US" sz="1122" kern="0">
                  <a:ln w="3175">
                    <a:noFill/>
                  </a:ln>
                  <a:solidFill>
                    <a:srgbClr val="000000"/>
                  </a:solidFill>
                  <a:latin typeface="Segoe UI Semibold"/>
                  <a:cs typeface="Segoe UI Semilight" panose="020B0402040204020203" pitchFamily="34" charset="0"/>
                </a:endParaRPr>
              </a:p>
            </p:txBody>
          </p:sp>
          <p:pic>
            <p:nvPicPr>
              <p:cNvPr id="68" name="Graphic 67">
                <a:extLst>
                  <a:ext uri="{FF2B5EF4-FFF2-40B4-BE49-F238E27FC236}">
                    <a16:creationId xmlns:a16="http://schemas.microsoft.com/office/drawing/2014/main" id="{42061F0A-DF36-47D1-9D95-9E1D92761D7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22933" y="2417797"/>
                <a:ext cx="350049" cy="350049"/>
              </a:xfrm>
              <a:prstGeom prst="rect">
                <a:avLst/>
              </a:prstGeom>
              <a:effectLst>
                <a:outerShdw blurRad="190500" dist="50800" dir="2700000" algn="ctr" rotWithShape="0">
                  <a:prstClr val="black">
                    <a:alpha val="30000"/>
                  </a:prstClr>
                </a:outerShdw>
              </a:effectLst>
            </p:spPr>
          </p:pic>
        </p:grpSp>
        <p:sp>
          <p:nvSpPr>
            <p:cNvPr id="117" name="Oval 116">
              <a:extLst>
                <a:ext uri="{FF2B5EF4-FFF2-40B4-BE49-F238E27FC236}">
                  <a16:creationId xmlns:a16="http://schemas.microsoft.com/office/drawing/2014/main" id="{476E3D1F-AA9A-4D8F-8A78-A877161A3595}"/>
                </a:ext>
                <a:ext uri="{C183D7F6-B498-43B3-948B-1728B52AA6E4}">
                  <adec:decorative xmlns:adec="http://schemas.microsoft.com/office/drawing/2017/decorative" val="1"/>
                </a:ext>
              </a:extLst>
            </p:cNvPr>
            <p:cNvSpPr/>
            <p:nvPr/>
          </p:nvSpPr>
          <p:spPr bwMode="auto">
            <a:xfrm>
              <a:off x="9490679" y="5473162"/>
              <a:ext cx="645153" cy="645153"/>
            </a:xfrm>
            <a:prstGeom prst="ellipse">
              <a:avLst/>
            </a:prstGeom>
            <a:solidFill>
              <a:srgbClr val="FFFFFF"/>
            </a:solidFill>
            <a:ln w="9525" cap="flat" cmpd="sng" algn="ctr">
              <a:noFill/>
              <a:prstDash val="solid"/>
            </a:ln>
            <a:effectLst>
              <a:outerShdw blurRad="127000" algn="tl" rotWithShape="0">
                <a:srgbClr val="FFFFFF">
                  <a:lumMod val="50000"/>
                  <a:alpha val="20000"/>
                </a:srgbClr>
              </a:outerShdw>
            </a:effectLst>
          </p:spPr>
          <p:txBody>
            <a:bodyPr rot="0" spcFirstLastPara="0" vert="horz" wrap="square" lIns="193994" tIns="190207" rIns="193994" bIns="190207" numCol="1" spcCol="0" rtlCol="0" fromWordArt="0" anchor="t"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950973">
                <a:spcBef>
                  <a:spcPct val="0"/>
                </a:spcBef>
                <a:defRPr/>
              </a:pPr>
              <a:endParaRPr lang="en-US" sz="1122" kern="0">
                <a:ln w="3175">
                  <a:noFill/>
                </a:ln>
                <a:solidFill>
                  <a:srgbClr val="000000"/>
                </a:solidFill>
                <a:latin typeface="Segoe UI Semibold"/>
                <a:cs typeface="Segoe UI Semilight" panose="020B0402040204020203" pitchFamily="34" charset="0"/>
              </a:endParaRPr>
            </a:p>
          </p:txBody>
        </p:sp>
        <p:pic>
          <p:nvPicPr>
            <p:cNvPr id="67" name="Graphic 66">
              <a:extLst>
                <a:ext uri="{FF2B5EF4-FFF2-40B4-BE49-F238E27FC236}">
                  <a16:creationId xmlns:a16="http://schemas.microsoft.com/office/drawing/2014/main" id="{7756F53A-EF38-4A5C-958D-D0331A28785D}"/>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634744" y="5617227"/>
              <a:ext cx="357022" cy="357022"/>
            </a:xfrm>
            <a:prstGeom prst="rect">
              <a:avLst/>
            </a:prstGeom>
            <a:effectLst>
              <a:outerShdw blurRad="190500" dist="50800" dir="2700000" algn="ctr" rotWithShape="0">
                <a:prstClr val="black">
                  <a:alpha val="30000"/>
                </a:prstClr>
              </a:outerShdw>
            </a:effectLst>
          </p:spPr>
        </p:pic>
        <p:sp>
          <p:nvSpPr>
            <p:cNvPr id="116" name="Oval 115">
              <a:extLst>
                <a:ext uri="{FF2B5EF4-FFF2-40B4-BE49-F238E27FC236}">
                  <a16:creationId xmlns:a16="http://schemas.microsoft.com/office/drawing/2014/main" id="{F7D663C2-8409-4F5A-A23B-6CFACB3EE960}"/>
                </a:ext>
                <a:ext uri="{C183D7F6-B498-43B3-948B-1728B52AA6E4}">
                  <adec:decorative xmlns:adec="http://schemas.microsoft.com/office/drawing/2017/decorative" val="1"/>
                </a:ext>
              </a:extLst>
            </p:cNvPr>
            <p:cNvSpPr/>
            <p:nvPr/>
          </p:nvSpPr>
          <p:spPr bwMode="auto">
            <a:xfrm>
              <a:off x="8359090" y="5473162"/>
              <a:ext cx="645153" cy="645153"/>
            </a:xfrm>
            <a:prstGeom prst="ellipse">
              <a:avLst/>
            </a:prstGeom>
            <a:solidFill>
              <a:srgbClr val="FFFFFF"/>
            </a:solidFill>
            <a:ln w="9525" cap="flat" cmpd="sng" algn="ctr">
              <a:noFill/>
              <a:prstDash val="solid"/>
            </a:ln>
            <a:effectLst>
              <a:outerShdw blurRad="127000" algn="tl" rotWithShape="0">
                <a:srgbClr val="FFFFFF">
                  <a:lumMod val="50000"/>
                  <a:alpha val="20000"/>
                </a:srgbClr>
              </a:outerShdw>
            </a:effectLst>
          </p:spPr>
          <p:txBody>
            <a:bodyPr rot="0" spcFirstLastPara="0" vert="horz" wrap="square" lIns="193994" tIns="190207" rIns="193994" bIns="190207" numCol="1" spcCol="0" rtlCol="0" fromWordArt="0" anchor="t"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950973">
                <a:spcBef>
                  <a:spcPct val="0"/>
                </a:spcBef>
                <a:defRPr/>
              </a:pPr>
              <a:endParaRPr lang="en-US" sz="1122" kern="0">
                <a:ln w="3175">
                  <a:noFill/>
                </a:ln>
                <a:solidFill>
                  <a:srgbClr val="000000"/>
                </a:solidFill>
                <a:latin typeface="Segoe UI Semibold"/>
                <a:cs typeface="Segoe UI Semilight" panose="020B0402040204020203" pitchFamily="34" charset="0"/>
              </a:endParaRPr>
            </a:p>
          </p:txBody>
        </p:sp>
        <p:pic>
          <p:nvPicPr>
            <p:cNvPr id="71" name="Graphic 70">
              <a:extLst>
                <a:ext uri="{FF2B5EF4-FFF2-40B4-BE49-F238E27FC236}">
                  <a16:creationId xmlns:a16="http://schemas.microsoft.com/office/drawing/2014/main" id="{9407EED1-2AB6-4293-BB05-C796C910FA23}"/>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477885" y="5591957"/>
              <a:ext cx="407563" cy="407563"/>
            </a:xfrm>
            <a:prstGeom prst="rect">
              <a:avLst/>
            </a:prstGeom>
            <a:effectLst>
              <a:outerShdw blurRad="190500" dist="50800" dir="2700000" algn="ctr" rotWithShape="0">
                <a:prstClr val="black">
                  <a:alpha val="30000"/>
                </a:prstClr>
              </a:outerShdw>
            </a:effectLst>
          </p:spPr>
        </p:pic>
        <p:sp>
          <p:nvSpPr>
            <p:cNvPr id="31" name="TextBox 30">
              <a:extLst>
                <a:ext uri="{FF2B5EF4-FFF2-40B4-BE49-F238E27FC236}">
                  <a16:creationId xmlns:a16="http://schemas.microsoft.com/office/drawing/2014/main" id="{3BA345FE-E449-47DD-A2D1-C4ED238E5F59}"/>
                </a:ext>
              </a:extLst>
            </p:cNvPr>
            <p:cNvSpPr txBox="1"/>
            <p:nvPr/>
          </p:nvSpPr>
          <p:spPr>
            <a:xfrm>
              <a:off x="10457548" y="5729938"/>
              <a:ext cx="985150" cy="654219"/>
            </a:xfrm>
            <a:prstGeom prst="rect">
              <a:avLst/>
            </a:prstGeom>
            <a:noFill/>
          </p:spPr>
          <p:txBody>
            <a:bodyPr wrap="square" lIns="0" tIns="0" rIns="0" bIns="0" rtlCol="0" anchor="b">
              <a:noAutofit/>
            </a:bodyPr>
            <a:lstStyle/>
            <a:p>
              <a:pPr algn="ctr" defTabSz="932384">
                <a:defRPr/>
              </a:pPr>
              <a:r>
                <a:rPr lang="en-US" sz="1199">
                  <a:solidFill>
                    <a:srgbClr val="000000"/>
                  </a:solidFill>
                  <a:latin typeface="Segoe UI Semibold"/>
                </a:rPr>
                <a:t>Containers</a:t>
              </a:r>
            </a:p>
          </p:txBody>
        </p:sp>
        <p:sp>
          <p:nvSpPr>
            <p:cNvPr id="32" name="Oval 31">
              <a:extLst>
                <a:ext uri="{FF2B5EF4-FFF2-40B4-BE49-F238E27FC236}">
                  <a16:creationId xmlns:a16="http://schemas.microsoft.com/office/drawing/2014/main" id="{BB20BDE5-EAE4-4362-87BD-46A32F0CF0FA}"/>
                </a:ext>
                <a:ext uri="{C183D7F6-B498-43B3-948B-1728B52AA6E4}">
                  <adec:decorative xmlns:adec="http://schemas.microsoft.com/office/drawing/2017/decorative" val="1"/>
                </a:ext>
              </a:extLst>
            </p:cNvPr>
            <p:cNvSpPr/>
            <p:nvPr/>
          </p:nvSpPr>
          <p:spPr bwMode="auto">
            <a:xfrm>
              <a:off x="10622268" y="5473162"/>
              <a:ext cx="645153" cy="645153"/>
            </a:xfrm>
            <a:prstGeom prst="ellipse">
              <a:avLst/>
            </a:prstGeom>
            <a:solidFill>
              <a:srgbClr val="FFFFFF"/>
            </a:solidFill>
            <a:ln w="9525" cap="flat" cmpd="sng" algn="ctr">
              <a:noFill/>
              <a:prstDash val="solid"/>
            </a:ln>
            <a:effectLst>
              <a:outerShdw blurRad="127000" algn="tl" rotWithShape="0">
                <a:srgbClr val="FFFFFF">
                  <a:lumMod val="50000"/>
                  <a:alpha val="20000"/>
                </a:srgbClr>
              </a:outerShdw>
            </a:effectLst>
          </p:spPr>
          <p:txBody>
            <a:bodyPr rot="0" spcFirstLastPara="0" vert="horz" wrap="square" lIns="193994" tIns="190207" rIns="193994" bIns="190207" numCol="1" spcCol="0" rtlCol="0" fromWordArt="0" anchor="t"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950973">
                <a:spcBef>
                  <a:spcPct val="0"/>
                </a:spcBef>
                <a:defRPr/>
              </a:pPr>
              <a:endParaRPr lang="en-US" sz="1122" kern="0">
                <a:ln w="3175">
                  <a:noFill/>
                </a:ln>
                <a:solidFill>
                  <a:srgbClr val="000000"/>
                </a:solidFill>
                <a:latin typeface="Segoe UI Semibold"/>
                <a:cs typeface="Segoe UI Semilight" panose="020B0402040204020203" pitchFamily="34" charset="0"/>
              </a:endParaRPr>
            </a:p>
          </p:txBody>
        </p:sp>
        <p:sp>
          <p:nvSpPr>
            <p:cNvPr id="34" name="TextBox 33">
              <a:extLst>
                <a:ext uri="{FF2B5EF4-FFF2-40B4-BE49-F238E27FC236}">
                  <a16:creationId xmlns:a16="http://schemas.microsoft.com/office/drawing/2014/main" id="{52A654DB-3E15-4914-8AB3-41F05E292205}"/>
                </a:ext>
              </a:extLst>
            </p:cNvPr>
            <p:cNvSpPr txBox="1"/>
            <p:nvPr/>
          </p:nvSpPr>
          <p:spPr>
            <a:xfrm>
              <a:off x="10921440" y="4583476"/>
              <a:ext cx="985150" cy="654219"/>
            </a:xfrm>
            <a:prstGeom prst="rect">
              <a:avLst/>
            </a:prstGeom>
            <a:noFill/>
          </p:spPr>
          <p:txBody>
            <a:bodyPr wrap="square" lIns="0" tIns="0" rIns="0" bIns="0" rtlCol="0" anchor="b">
              <a:noAutofit/>
            </a:bodyPr>
            <a:lstStyle/>
            <a:p>
              <a:pPr algn="ctr" defTabSz="932384">
                <a:defRPr/>
              </a:pPr>
              <a:r>
                <a:rPr lang="en-US" sz="1199">
                  <a:solidFill>
                    <a:srgbClr val="000000"/>
                  </a:solidFill>
                  <a:latin typeface="Segoe UI Semibold"/>
                </a:rPr>
                <a:t>IoT</a:t>
              </a:r>
            </a:p>
          </p:txBody>
        </p:sp>
        <p:sp>
          <p:nvSpPr>
            <p:cNvPr id="36" name="Oval 35">
              <a:extLst>
                <a:ext uri="{FF2B5EF4-FFF2-40B4-BE49-F238E27FC236}">
                  <a16:creationId xmlns:a16="http://schemas.microsoft.com/office/drawing/2014/main" id="{0B31D5CF-709B-47D7-A1CB-0B0D83ACB4DB}"/>
                </a:ext>
              </a:extLst>
            </p:cNvPr>
            <p:cNvSpPr/>
            <p:nvPr/>
          </p:nvSpPr>
          <p:spPr bwMode="auto">
            <a:xfrm>
              <a:off x="11094360" y="4326700"/>
              <a:ext cx="645153" cy="645153"/>
            </a:xfrm>
            <a:prstGeom prst="ellipse">
              <a:avLst/>
            </a:prstGeom>
            <a:solidFill>
              <a:srgbClr val="FFFFFF"/>
            </a:solidFill>
            <a:ln w="9525" cap="flat" cmpd="sng" algn="ctr">
              <a:noFill/>
              <a:prstDash val="solid"/>
            </a:ln>
            <a:effectLst>
              <a:outerShdw blurRad="127000" algn="tl" rotWithShape="0">
                <a:srgbClr val="FFFFFF">
                  <a:lumMod val="50000"/>
                  <a:alpha val="20000"/>
                </a:srgbClr>
              </a:outerShdw>
            </a:effectLst>
          </p:spPr>
          <p:txBody>
            <a:bodyPr rot="0" spcFirstLastPara="0" vert="horz" wrap="square" lIns="193994" tIns="190207" rIns="193994" bIns="190207" numCol="1" spcCol="0" rtlCol="0" fromWordArt="0" anchor="t"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950973">
                <a:spcBef>
                  <a:spcPct val="0"/>
                </a:spcBef>
                <a:defRPr/>
              </a:pPr>
              <a:endParaRPr lang="en-US" sz="1122" kern="0">
                <a:ln w="3175">
                  <a:noFill/>
                </a:ln>
                <a:solidFill>
                  <a:srgbClr val="000000"/>
                </a:solidFill>
                <a:latin typeface="Segoe UI Semibold"/>
                <a:cs typeface="Segoe UI Semilight" panose="020B0402040204020203" pitchFamily="34" charset="0"/>
              </a:endParaRPr>
            </a:p>
          </p:txBody>
        </p:sp>
        <p:pic>
          <p:nvPicPr>
            <p:cNvPr id="38" name="Container Services" descr="Container Services">
              <a:extLst>
                <a:ext uri="{FF2B5EF4-FFF2-40B4-BE49-F238E27FC236}">
                  <a16:creationId xmlns:a16="http://schemas.microsoft.com/office/drawing/2014/main" id="{689F4A82-75CD-4D8B-AAE5-06AA3C38C983}"/>
                </a:ext>
              </a:extLst>
            </p:cNvPr>
            <p:cNvPicPr>
              <a:picLocks noChangeAspect="1"/>
            </p:cNvPicPr>
            <p:nvPr/>
          </p:nvPicPr>
          <p:blipFill>
            <a:blip r:embed="rId13"/>
            <a:stretch>
              <a:fillRect/>
            </a:stretch>
          </p:blipFill>
          <p:spPr>
            <a:xfrm>
              <a:off x="10698619" y="5619215"/>
              <a:ext cx="492451" cy="353046"/>
            </a:xfrm>
            <a:prstGeom prst="rect">
              <a:avLst/>
            </a:prstGeom>
            <a:solidFill>
              <a:srgbClr val="000000"/>
            </a:solidFill>
            <a:ln w="31750">
              <a:solidFill>
                <a:srgbClr val="B6B6B6"/>
              </a:solidFill>
            </a:ln>
            <a:effectLst>
              <a:outerShdw blurRad="190500" dist="50800" dir="2700000" algn="ctr" rotWithShape="0">
                <a:prstClr val="black">
                  <a:alpha val="30000"/>
                </a:prstClr>
              </a:outerShdw>
            </a:effectLst>
          </p:spPr>
        </p:pic>
        <p:pic>
          <p:nvPicPr>
            <p:cNvPr id="39" name="IoT Hub" descr="IoT Hub">
              <a:extLst>
                <a:ext uri="{FF2B5EF4-FFF2-40B4-BE49-F238E27FC236}">
                  <a16:creationId xmlns:a16="http://schemas.microsoft.com/office/drawing/2014/main" id="{3AD2E36F-4F3E-45BF-A692-33722840932C}"/>
                </a:ext>
              </a:extLst>
            </p:cNvPr>
            <p:cNvPicPr>
              <a:picLocks noChangeAspect="1"/>
            </p:cNvPicPr>
            <p:nvPr/>
          </p:nvPicPr>
          <p:blipFill>
            <a:blip r:embed="rId14"/>
            <a:stretch>
              <a:fillRect/>
            </a:stretch>
          </p:blipFill>
          <p:spPr>
            <a:xfrm>
              <a:off x="11243429" y="4475709"/>
              <a:ext cx="347014" cy="347135"/>
            </a:xfrm>
            <a:prstGeom prst="rect">
              <a:avLst/>
            </a:prstGeom>
            <a:solidFill>
              <a:srgbClr val="000000"/>
            </a:solidFill>
            <a:ln w="31750">
              <a:solidFill>
                <a:srgbClr val="B6B6B6"/>
              </a:solidFill>
            </a:ln>
            <a:effectLst>
              <a:outerShdw blurRad="190500" dist="50800" dir="2700000" algn="ctr" rotWithShape="0">
                <a:prstClr val="black">
                  <a:alpha val="30000"/>
                </a:prstClr>
              </a:outerShdw>
            </a:effectLst>
          </p:spPr>
        </p:pic>
      </p:grpSp>
      <p:grpSp>
        <p:nvGrpSpPr>
          <p:cNvPr id="2" name="Group 1" descr="Image of chart &#10;59% secure score&#10;Azure 78%&#10;AWS 42%&#10;GCP 57%">
            <a:extLst>
              <a:ext uri="{FF2B5EF4-FFF2-40B4-BE49-F238E27FC236}">
                <a16:creationId xmlns:a16="http://schemas.microsoft.com/office/drawing/2014/main" id="{B442F26F-1CDB-BB79-8700-87CF053AD686}"/>
              </a:ext>
            </a:extLst>
          </p:cNvPr>
          <p:cNvGrpSpPr/>
          <p:nvPr/>
        </p:nvGrpSpPr>
        <p:grpSpPr>
          <a:xfrm>
            <a:off x="7404396" y="466733"/>
            <a:ext cx="4656145" cy="2799015"/>
            <a:chOff x="7404396" y="466733"/>
            <a:chExt cx="4656145" cy="2799015"/>
          </a:xfrm>
        </p:grpSpPr>
        <p:sp>
          <p:nvSpPr>
            <p:cNvPr id="5" name="Rectangle: Rounded Corners 4">
              <a:extLst>
                <a:ext uri="{FF2B5EF4-FFF2-40B4-BE49-F238E27FC236}">
                  <a16:creationId xmlns:a16="http://schemas.microsoft.com/office/drawing/2014/main" id="{EAAF1B45-BFA9-4421-9475-3EB015351213}"/>
                </a:ext>
                <a:ext uri="{C183D7F6-B498-43B3-948B-1728B52AA6E4}">
                  <adec:decorative xmlns:adec="http://schemas.microsoft.com/office/drawing/2017/decorative" val="1"/>
                </a:ext>
              </a:extLst>
            </p:cNvPr>
            <p:cNvSpPr/>
            <p:nvPr/>
          </p:nvSpPr>
          <p:spPr bwMode="auto">
            <a:xfrm>
              <a:off x="7404396" y="466733"/>
              <a:ext cx="4656145" cy="2799015"/>
            </a:xfrm>
            <a:prstGeom prst="roundRect">
              <a:avLst>
                <a:gd name="adj" fmla="val 5821"/>
              </a:avLst>
            </a:prstGeom>
            <a:solidFill>
              <a:schemeClr val="bg1"/>
            </a:solidFill>
            <a:ln w="19050">
              <a:solidFill>
                <a:srgbClr val="D2D2D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defTabSz="932293" fontAlgn="base">
                <a:spcBef>
                  <a:spcPct val="0"/>
                </a:spcBef>
                <a:spcAft>
                  <a:spcPct val="0"/>
                </a:spcAft>
              </a:pPr>
              <a:endParaRPr lang="en-US" sz="2000" err="1">
                <a:solidFill>
                  <a:srgbClr val="FFFFFF"/>
                </a:solidFill>
                <a:latin typeface="Segoe UI"/>
                <a:ea typeface="Segoe UI" pitchFamily="34" charset="0"/>
                <a:cs typeface="Segoe UI" pitchFamily="34" charset="0"/>
              </a:endParaRPr>
            </a:p>
          </p:txBody>
        </p:sp>
        <p:pic>
          <p:nvPicPr>
            <p:cNvPr id="7" name="Picture 6">
              <a:extLst>
                <a:ext uri="{FF2B5EF4-FFF2-40B4-BE49-F238E27FC236}">
                  <a16:creationId xmlns:a16="http://schemas.microsoft.com/office/drawing/2014/main" id="{1B62C4D0-91D4-4CE7-90DC-2EF91654C0E3}"/>
                </a:ext>
                <a:ext uri="{C183D7F6-B498-43B3-948B-1728B52AA6E4}">
                  <adec:decorative xmlns:adec="http://schemas.microsoft.com/office/drawing/2017/decorative" val="1"/>
                </a:ext>
              </a:extLst>
            </p:cNvPr>
            <p:cNvPicPr>
              <a:picLocks noChangeAspect="1"/>
            </p:cNvPicPr>
            <p:nvPr/>
          </p:nvPicPr>
          <p:blipFill rotWithShape="1">
            <a:blip r:embed="rId15"/>
            <a:srcRect t="9274" r="1997"/>
            <a:stretch/>
          </p:blipFill>
          <p:spPr>
            <a:xfrm>
              <a:off x="7468770" y="715861"/>
              <a:ext cx="4437014" cy="2212876"/>
            </a:xfrm>
            <a:prstGeom prst="rect">
              <a:avLst/>
            </a:prstGeom>
          </p:spPr>
        </p:pic>
        <p:sp>
          <p:nvSpPr>
            <p:cNvPr id="8" name="Rectangle 7">
              <a:extLst>
                <a:ext uri="{FF2B5EF4-FFF2-40B4-BE49-F238E27FC236}">
                  <a16:creationId xmlns:a16="http://schemas.microsoft.com/office/drawing/2014/main" id="{96EA30A2-4108-4376-B0C2-E49B5B1EC674}"/>
                </a:ext>
                <a:ext uri="{C183D7F6-B498-43B3-948B-1728B52AA6E4}">
                  <adec:decorative xmlns:adec="http://schemas.microsoft.com/office/drawing/2017/decorative" val="1"/>
                </a:ext>
              </a:extLst>
            </p:cNvPr>
            <p:cNvSpPr/>
            <p:nvPr/>
          </p:nvSpPr>
          <p:spPr bwMode="auto">
            <a:xfrm>
              <a:off x="7547471" y="662300"/>
              <a:ext cx="1068205" cy="340334"/>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defTabSz="951028" fontAlgn="base">
                <a:spcBef>
                  <a:spcPct val="0"/>
                </a:spcBef>
                <a:spcAft>
                  <a:spcPct val="0"/>
                </a:spcAft>
              </a:pPr>
              <a:endParaRPr lang="en-US" sz="2040" err="1">
                <a:solidFill>
                  <a:srgbClr val="FFFFFF"/>
                </a:solidFill>
                <a:latin typeface="Segoe UI"/>
                <a:ea typeface="Segoe UI" pitchFamily="34" charset="0"/>
                <a:cs typeface="Segoe UI" pitchFamily="34" charset="0"/>
              </a:endParaRPr>
            </a:p>
          </p:txBody>
        </p:sp>
      </p:grpSp>
      <p:sp>
        <p:nvSpPr>
          <p:cNvPr id="42" name="Rectangle 41">
            <a:extLst>
              <a:ext uri="{FF2B5EF4-FFF2-40B4-BE49-F238E27FC236}">
                <a16:creationId xmlns:a16="http://schemas.microsoft.com/office/drawing/2014/main" id="{CB9AB605-DFB0-42EA-9F16-F83BA8E5A21B}"/>
              </a:ext>
              <a:ext uri="{C183D7F6-B498-43B3-948B-1728B52AA6E4}">
                <adec:decorative xmlns:adec="http://schemas.microsoft.com/office/drawing/2017/decorative" val="1"/>
              </a:ext>
            </a:extLst>
          </p:cNvPr>
          <p:cNvSpPr/>
          <p:nvPr/>
        </p:nvSpPr>
        <p:spPr bwMode="auto">
          <a:xfrm>
            <a:off x="8072048" y="2890624"/>
            <a:ext cx="3305711" cy="340334"/>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defTabSz="951028" fontAlgn="base">
              <a:spcBef>
                <a:spcPct val="0"/>
              </a:spcBef>
              <a:spcAft>
                <a:spcPct val="0"/>
              </a:spcAft>
            </a:pPr>
            <a:endParaRPr lang="en-US" sz="2040" err="1">
              <a:solidFill>
                <a:srgbClr val="FFFFFF"/>
              </a:solidFill>
              <a:latin typeface="Segoe UI"/>
              <a:ea typeface="Segoe UI" pitchFamily="34" charset="0"/>
              <a:cs typeface="Segoe UI" pitchFamily="34" charset="0"/>
            </a:endParaRPr>
          </a:p>
        </p:txBody>
      </p:sp>
      <p:pic>
        <p:nvPicPr>
          <p:cNvPr id="10" name="Graphic 9">
            <a:extLst>
              <a:ext uri="{FF2B5EF4-FFF2-40B4-BE49-F238E27FC236}">
                <a16:creationId xmlns:a16="http://schemas.microsoft.com/office/drawing/2014/main" id="{AF263303-570D-0498-E9E1-083250B3748C}"/>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rot="16200000">
            <a:off x="595279" y="4765222"/>
            <a:ext cx="224853" cy="248523"/>
          </a:xfrm>
          <a:prstGeom prst="rect">
            <a:avLst/>
          </a:prstGeom>
        </p:spPr>
      </p:pic>
      <p:pic>
        <p:nvPicPr>
          <p:cNvPr id="11" name="Graphic 10">
            <a:extLst>
              <a:ext uri="{FF2B5EF4-FFF2-40B4-BE49-F238E27FC236}">
                <a16:creationId xmlns:a16="http://schemas.microsoft.com/office/drawing/2014/main" id="{C3FE8D3C-466C-3B9C-EE90-940166997668}"/>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rot="16200000">
            <a:off x="589824" y="2005878"/>
            <a:ext cx="224853" cy="248523"/>
          </a:xfrm>
          <a:prstGeom prst="rect">
            <a:avLst/>
          </a:prstGeom>
        </p:spPr>
      </p:pic>
      <p:pic>
        <p:nvPicPr>
          <p:cNvPr id="12" name="Graphic 11">
            <a:extLst>
              <a:ext uri="{FF2B5EF4-FFF2-40B4-BE49-F238E27FC236}">
                <a16:creationId xmlns:a16="http://schemas.microsoft.com/office/drawing/2014/main" id="{C0D5B35C-A5D6-FB06-5390-F25AA971D8C5}"/>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rot="16200000">
            <a:off x="589824" y="2754838"/>
            <a:ext cx="224853" cy="248523"/>
          </a:xfrm>
          <a:prstGeom prst="rect">
            <a:avLst/>
          </a:prstGeom>
        </p:spPr>
      </p:pic>
      <p:pic>
        <p:nvPicPr>
          <p:cNvPr id="13" name="Graphic 12">
            <a:extLst>
              <a:ext uri="{FF2B5EF4-FFF2-40B4-BE49-F238E27FC236}">
                <a16:creationId xmlns:a16="http://schemas.microsoft.com/office/drawing/2014/main" id="{E82B0BA2-58AD-DD66-A68C-F03938636377}"/>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rot="16200000">
            <a:off x="589823" y="3492633"/>
            <a:ext cx="224853" cy="248523"/>
          </a:xfrm>
          <a:prstGeom prst="rect">
            <a:avLst/>
          </a:prstGeom>
        </p:spPr>
      </p:pic>
      <p:pic>
        <p:nvPicPr>
          <p:cNvPr id="14" name="Graphic 13">
            <a:extLst>
              <a:ext uri="{FF2B5EF4-FFF2-40B4-BE49-F238E27FC236}">
                <a16:creationId xmlns:a16="http://schemas.microsoft.com/office/drawing/2014/main" id="{0E6E5BFC-A995-34C1-BCFF-40662E42DC22}"/>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rot="16200000">
            <a:off x="588242" y="4025929"/>
            <a:ext cx="224853" cy="248523"/>
          </a:xfrm>
          <a:prstGeom prst="rect">
            <a:avLst/>
          </a:prstGeom>
        </p:spPr>
      </p:pic>
    </p:spTree>
    <p:extLst>
      <p:ext uri="{BB962C8B-B14F-4D97-AF65-F5344CB8AC3E}">
        <p14:creationId xmlns:p14="http://schemas.microsoft.com/office/powerpoint/2010/main" val="609857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10" presetClass="entr" presetSubtype="0" fill="hold" nodeType="withEffect">
                                  <p:stCondLst>
                                    <p:cond delay="25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25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25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nodeType="withEffect">
                                  <p:stCondLst>
                                    <p:cond delay="25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nodeType="withEffect">
                                  <p:stCondLst>
                                    <p:cond delay="25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42" presetClass="path" presetSubtype="0" decel="100000" fill="hold" grpId="1" nodeType="withEffect">
                                  <p:stCondLst>
                                    <p:cond delay="0"/>
                                  </p:stCondLst>
                                  <p:childTnLst>
                                    <p:animMotion origin="layout" path="M 2.04493E-6 -3.74943E-6 L -0.01341 -3.74943E-6 " pathEditMode="relative" rAng="0" ptsTypes="AA">
                                      <p:cBhvr>
                                        <p:cTn id="24" dur="500" spd="-100000" fill="hold"/>
                                        <p:tgtEl>
                                          <p:spTgt spid="40"/>
                                        </p:tgtEl>
                                        <p:attrNameLst>
                                          <p:attrName>ppt_x</p:attrName>
                                          <p:attrName>ppt_y</p:attrName>
                                        </p:attrNameLst>
                                      </p:cBhvr>
                                      <p:rCtr x="-677" y="0"/>
                                    </p:animMotion>
                                  </p:childTnLst>
                                </p:cTn>
                              </p:par>
                              <p:par>
                                <p:cTn id="25" presetID="2" presetClass="entr" presetSubtype="2"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1+#ppt_w/2"/>
                                          </p:val>
                                        </p:tav>
                                        <p:tav tm="100000">
                                          <p:val>
                                            <p:strVal val="#ppt_x"/>
                                          </p:val>
                                        </p:tav>
                                      </p:tavLst>
                                    </p:anim>
                                    <p:anim calcmode="lin" valueType="num">
                                      <p:cBhvr additive="base">
                                        <p:cTn id="28" dur="500" fill="hold"/>
                                        <p:tgtEl>
                                          <p:spTgt spid="2"/>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1+#ppt_w/2"/>
                                          </p:val>
                                        </p:tav>
                                        <p:tav tm="100000">
                                          <p:val>
                                            <p:strVal val="#ppt_x"/>
                                          </p:val>
                                        </p:tav>
                                      </p:tavLst>
                                    </p:anim>
                                    <p:anim calcmode="lin" valueType="num">
                                      <p:cBhvr additive="base">
                                        <p:cTn id="32" dur="500" fill="hold"/>
                                        <p:tgtEl>
                                          <p:spTgt spid="4"/>
                                        </p:tgtEl>
                                        <p:attrNameLst>
                                          <p:attrName>ppt_y</p:attrName>
                                        </p:attrNameLst>
                                      </p:cBhvr>
                                      <p:tavLst>
                                        <p:tav tm="0">
                                          <p:val>
                                            <p:strVal val="#ppt_y"/>
                                          </p:val>
                                        </p:tav>
                                        <p:tav tm="100000">
                                          <p:val>
                                            <p:strVal val="#ppt_y"/>
                                          </p:val>
                                        </p:tav>
                                      </p:tavLst>
                                    </p:anim>
                                  </p:childTnLst>
                                </p:cTn>
                              </p:par>
                              <p:par>
                                <p:cTn id="33" presetID="10" presetClass="entr" presetSubtype="0" fill="hold" nodeType="with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fade">
                                      <p:cBhvr>
                                        <p:cTn id="35" dur="250"/>
                                        <p:tgtEl>
                                          <p:spTgt spid="2"/>
                                        </p:tgtEl>
                                      </p:cBhvr>
                                    </p:animEffect>
                                  </p:childTnLst>
                                </p:cTn>
                              </p:par>
                              <p:par>
                                <p:cTn id="36" presetID="10" presetClass="entr" presetSubtype="0" fill="hold" nodeType="with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fade">
                                      <p:cBhvr>
                                        <p:cTn id="38" dur="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0"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628C12-3DB1-4A5C-A32E-983A6CF7E0C1}"/>
              </a:ext>
            </a:extLst>
          </p:cNvPr>
          <p:cNvSpPr>
            <a:spLocks noGrp="1"/>
          </p:cNvSpPr>
          <p:nvPr>
            <p:ph type="title"/>
          </p:nvPr>
        </p:nvSpPr>
        <p:spPr>
          <a:xfrm>
            <a:off x="562755" y="466529"/>
            <a:ext cx="11237870" cy="1107996"/>
          </a:xfrm>
        </p:spPr>
        <p:txBody>
          <a:bodyPr/>
          <a:lstStyle/>
          <a:p>
            <a:r>
              <a:rPr lang="en-US" sz="3600" dirty="0"/>
              <a:t>Compliance assessment </a:t>
            </a:r>
            <a:br>
              <a:rPr lang="en-US" sz="3600" dirty="0"/>
            </a:br>
            <a:r>
              <a:rPr lang="en-US" sz="3600" dirty="0"/>
              <a:t>and management</a:t>
            </a:r>
          </a:p>
        </p:txBody>
      </p:sp>
      <p:sp>
        <p:nvSpPr>
          <p:cNvPr id="28" name="TextBox 27">
            <a:extLst>
              <a:ext uri="{FF2B5EF4-FFF2-40B4-BE49-F238E27FC236}">
                <a16:creationId xmlns:a16="http://schemas.microsoft.com/office/drawing/2014/main" id="{74121909-612D-4F72-A381-994BE4770E62}"/>
              </a:ext>
            </a:extLst>
          </p:cNvPr>
          <p:cNvSpPr txBox="1"/>
          <p:nvPr/>
        </p:nvSpPr>
        <p:spPr>
          <a:xfrm>
            <a:off x="566928" y="2004646"/>
            <a:ext cx="5521551" cy="2084516"/>
          </a:xfrm>
          <a:prstGeom prst="rect">
            <a:avLst/>
          </a:prstGeom>
          <a:noFill/>
        </p:spPr>
        <p:txBody>
          <a:bodyPr wrap="square" lIns="0" tIns="0" rIns="0" bIns="0" rtlCol="0">
            <a:spAutoFit/>
          </a:bodyPr>
          <a:lstStyle/>
          <a:p>
            <a:pPr lvl="1" defTabSz="932060">
              <a:lnSpc>
                <a:spcPct val="90000"/>
              </a:lnSpc>
              <a:spcAft>
                <a:spcPts val="1800"/>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Assess and manage your compliance status with </a:t>
            </a:r>
            <a:b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b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a continuous assessment of your cloud resources</a:t>
            </a:r>
          </a:p>
          <a:p>
            <a:pPr lvl="1" defTabSz="932060">
              <a:lnSpc>
                <a:spcPct val="90000"/>
              </a:lnSpc>
              <a:spcAft>
                <a:spcPts val="1800"/>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Use industry standards, regulatory compliance </a:t>
            </a:r>
            <a:b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b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frameworks, and vendor provided benchmarks </a:t>
            </a:r>
            <a:b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b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to implement security and compliance best practices</a:t>
            </a:r>
          </a:p>
          <a:p>
            <a:pPr lvl="1" defTabSz="932060">
              <a:lnSpc>
                <a:spcPct val="90000"/>
              </a:lnSpc>
              <a:spcAft>
                <a:spcPts val="1199"/>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Create custom recommendations to meet unique organizational needs</a:t>
            </a:r>
          </a:p>
        </p:txBody>
      </p:sp>
      <p:sp>
        <p:nvSpPr>
          <p:cNvPr id="2" name="TextBox 1">
            <a:extLst>
              <a:ext uri="{FF2B5EF4-FFF2-40B4-BE49-F238E27FC236}">
                <a16:creationId xmlns:a16="http://schemas.microsoft.com/office/drawing/2014/main" id="{7FBF12E0-794C-4539-87BB-388BCB158DE3}"/>
              </a:ext>
            </a:extLst>
          </p:cNvPr>
          <p:cNvSpPr txBox="1"/>
          <p:nvPr/>
        </p:nvSpPr>
        <p:spPr>
          <a:xfrm>
            <a:off x="572281" y="4521720"/>
            <a:ext cx="1019895" cy="246221"/>
          </a:xfrm>
          <a:prstGeom prst="rect">
            <a:avLst/>
          </a:prstGeom>
          <a:noFill/>
        </p:spPr>
        <p:txBody>
          <a:bodyPr wrap="none" lIns="0" tIns="0" rIns="0" bIns="0" rtlCol="0">
            <a:spAutoFit/>
          </a:bodyPr>
          <a:lstStyle/>
          <a:p>
            <a:pPr defTabSz="932563">
              <a:defRPr/>
            </a:pPr>
            <a:r>
              <a:rPr lang="en-US" sz="1399" dirty="0">
                <a:solidFill>
                  <a:srgbClr val="107C10"/>
                </a:solidFill>
                <a:latin typeface="Segoe UI Semibold"/>
              </a:rPr>
              <a:t>Support </a:t>
            </a:r>
            <a:r>
              <a:rPr lang="en-US" sz="1600" dirty="0">
                <a:solidFill>
                  <a:srgbClr val="107C10"/>
                </a:solidFill>
                <a:latin typeface="Segoe UI Semibold"/>
              </a:rPr>
              <a:t>for</a:t>
            </a:r>
            <a:r>
              <a:rPr lang="en-US" sz="1399" dirty="0">
                <a:solidFill>
                  <a:srgbClr val="107C10"/>
                </a:solidFill>
                <a:latin typeface="Segoe UI Semibold"/>
              </a:rPr>
              <a:t>:</a:t>
            </a:r>
          </a:p>
        </p:txBody>
      </p:sp>
      <p:sp>
        <p:nvSpPr>
          <p:cNvPr id="16" name="TextBox 15">
            <a:extLst>
              <a:ext uri="{FF2B5EF4-FFF2-40B4-BE49-F238E27FC236}">
                <a16:creationId xmlns:a16="http://schemas.microsoft.com/office/drawing/2014/main" id="{EB1BB33E-745C-48AA-BDAD-A958D925B227}"/>
              </a:ext>
            </a:extLst>
          </p:cNvPr>
          <p:cNvSpPr txBox="1"/>
          <p:nvPr/>
        </p:nvSpPr>
        <p:spPr>
          <a:xfrm>
            <a:off x="855735" y="4908014"/>
            <a:ext cx="5521551" cy="1452589"/>
          </a:xfrm>
          <a:prstGeom prst="rect">
            <a:avLst/>
          </a:prstGeom>
          <a:noFill/>
        </p:spPr>
        <p:txBody>
          <a:bodyPr wrap="square" lIns="0" tIns="0" rIns="0" bIns="0" rtlCol="0">
            <a:spAutoFit/>
          </a:bodyPr>
          <a:lstStyle/>
          <a:p>
            <a:pPr defTabSz="932060">
              <a:lnSpc>
                <a:spcPct val="90000"/>
              </a:lnSpc>
              <a:spcAft>
                <a:spcPts val="600"/>
              </a:spcAft>
              <a:defRPr/>
            </a:pPr>
            <a:r>
              <a:rPr lang="en-US" sz="1632"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CIS</a:t>
            </a:r>
          </a:p>
          <a:p>
            <a:pPr defTabSz="932060">
              <a:lnSpc>
                <a:spcPct val="90000"/>
              </a:lnSpc>
              <a:spcAft>
                <a:spcPts val="600"/>
              </a:spcAft>
              <a:defRPr/>
            </a:pPr>
            <a:r>
              <a:rPr lang="en-US" sz="16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PCI</a:t>
            </a:r>
          </a:p>
          <a:p>
            <a:pPr defTabSz="932060">
              <a:lnSpc>
                <a:spcPct val="90000"/>
              </a:lnSpc>
              <a:spcAft>
                <a:spcPts val="600"/>
              </a:spcAft>
              <a:defRPr/>
            </a:pPr>
            <a:r>
              <a:rPr lang="en-US" sz="1599" dirty="0">
                <a:solidFill>
                  <a:srgbClr val="000000"/>
                </a:solidFill>
                <a:latin typeface="Segoe UI Semibold"/>
              </a:rPr>
              <a:t>NIST</a:t>
            </a:r>
          </a:p>
          <a:p>
            <a:pPr defTabSz="932060">
              <a:lnSpc>
                <a:spcPct val="90000"/>
              </a:lnSpc>
              <a:spcAft>
                <a:spcPts val="600"/>
              </a:spcAft>
              <a:defRPr/>
            </a:pPr>
            <a:r>
              <a:rPr lang="en-US" sz="1599" dirty="0">
                <a:solidFill>
                  <a:srgbClr val="000000"/>
                </a:solidFill>
                <a:latin typeface="Segoe UI Semibold"/>
              </a:rPr>
              <a:t>SOC</a:t>
            </a:r>
          </a:p>
          <a:p>
            <a:pPr defTabSz="932060">
              <a:lnSpc>
                <a:spcPct val="90000"/>
              </a:lnSpc>
              <a:spcAft>
                <a:spcPts val="600"/>
              </a:spcAft>
              <a:defRPr/>
            </a:pPr>
            <a:r>
              <a:rPr lang="en-US" sz="1599" dirty="0">
                <a:solidFill>
                  <a:srgbClr val="000000"/>
                </a:solidFill>
                <a:latin typeface="Segoe UI Semibold"/>
              </a:rPr>
              <a:t>ISO</a:t>
            </a:r>
          </a:p>
        </p:txBody>
      </p:sp>
      <p:sp>
        <p:nvSpPr>
          <p:cNvPr id="32" name="TextBox 31">
            <a:extLst>
              <a:ext uri="{FF2B5EF4-FFF2-40B4-BE49-F238E27FC236}">
                <a16:creationId xmlns:a16="http://schemas.microsoft.com/office/drawing/2014/main" id="{7DCE5FB8-E5E1-4737-9E2C-8783841105C0}"/>
              </a:ext>
            </a:extLst>
          </p:cNvPr>
          <p:cNvSpPr txBox="1"/>
          <p:nvPr/>
        </p:nvSpPr>
        <p:spPr>
          <a:xfrm>
            <a:off x="2093933" y="4908014"/>
            <a:ext cx="5521551" cy="1138947"/>
          </a:xfrm>
          <a:prstGeom prst="rect">
            <a:avLst/>
          </a:prstGeom>
          <a:noFill/>
        </p:spPr>
        <p:txBody>
          <a:bodyPr wrap="square" lIns="0" tIns="0" rIns="0" bIns="0" rtlCol="0">
            <a:spAutoFit/>
          </a:bodyPr>
          <a:lstStyle/>
          <a:p>
            <a:pPr defTabSz="932060">
              <a:lnSpc>
                <a:spcPct val="90000"/>
              </a:lnSpc>
              <a:spcAft>
                <a:spcPts val="600"/>
              </a:spcAft>
              <a:defRPr/>
            </a:pPr>
            <a:r>
              <a:rPr lang="en-US" sz="1599" dirty="0">
                <a:solidFill>
                  <a:srgbClr val="000000"/>
                </a:solidFill>
                <a:latin typeface="Segoe UI Semibold"/>
              </a:rPr>
              <a:t>HIPAA</a:t>
            </a:r>
          </a:p>
          <a:p>
            <a:pPr defTabSz="932060">
              <a:lnSpc>
                <a:spcPct val="90000"/>
              </a:lnSpc>
              <a:spcAft>
                <a:spcPts val="600"/>
              </a:spcAft>
              <a:defRPr/>
            </a:pPr>
            <a:r>
              <a:rPr lang="en-US" sz="1599" dirty="0">
                <a:solidFill>
                  <a:srgbClr val="000000"/>
                </a:solidFill>
                <a:latin typeface="Segoe UI Semibold"/>
              </a:rPr>
              <a:t>Local/National compliance standards</a:t>
            </a:r>
          </a:p>
          <a:p>
            <a:pPr defTabSz="932060">
              <a:lnSpc>
                <a:spcPct val="90000"/>
              </a:lnSpc>
              <a:spcAft>
                <a:spcPts val="600"/>
              </a:spcAft>
              <a:defRPr/>
            </a:pPr>
            <a:r>
              <a:rPr lang="en-US" sz="1599" dirty="0">
                <a:solidFill>
                  <a:srgbClr val="000000"/>
                </a:solidFill>
                <a:latin typeface="Segoe UI Semibold"/>
              </a:rPr>
              <a:t>Azure Security Benchmark</a:t>
            </a:r>
          </a:p>
          <a:p>
            <a:pPr defTabSz="932060">
              <a:lnSpc>
                <a:spcPct val="90000"/>
              </a:lnSpc>
              <a:spcAft>
                <a:spcPts val="600"/>
              </a:spcAft>
              <a:defRPr/>
            </a:pPr>
            <a:r>
              <a:rPr lang="en-US" sz="1599" dirty="0">
                <a:solidFill>
                  <a:srgbClr val="000000"/>
                </a:solidFill>
                <a:latin typeface="Segoe UI Semibold"/>
              </a:rPr>
              <a:t>AWS Foundational Security best practices</a:t>
            </a:r>
          </a:p>
        </p:txBody>
      </p:sp>
      <p:sp>
        <p:nvSpPr>
          <p:cNvPr id="15" name="Freeform: Shape 14">
            <a:extLst>
              <a:ext uri="{FF2B5EF4-FFF2-40B4-BE49-F238E27FC236}">
                <a16:creationId xmlns:a16="http://schemas.microsoft.com/office/drawing/2014/main" id="{B2814989-6A51-49C1-893E-40A2CA6F7DBC}"/>
              </a:ext>
              <a:ext uri="{C183D7F6-B498-43B3-948B-1728B52AA6E4}">
                <adec:decorative xmlns:adec="http://schemas.microsoft.com/office/drawing/2017/decorative" val="1"/>
              </a:ext>
            </a:extLst>
          </p:cNvPr>
          <p:cNvSpPr/>
          <p:nvPr/>
        </p:nvSpPr>
        <p:spPr bwMode="auto">
          <a:xfrm>
            <a:off x="8164526" y="497"/>
            <a:ext cx="4270186" cy="6993533"/>
          </a:xfrm>
          <a:custGeom>
            <a:avLst/>
            <a:gdLst>
              <a:gd name="connsiteX0" fmla="*/ 0 w 4187431"/>
              <a:gd name="connsiteY0" fmla="*/ 0 h 6858000"/>
              <a:gd name="connsiteX1" fmla="*/ 4187431 w 4187431"/>
              <a:gd name="connsiteY1" fmla="*/ 0 h 6858000"/>
              <a:gd name="connsiteX2" fmla="*/ 4187431 w 4187431"/>
              <a:gd name="connsiteY2" fmla="*/ 6858000 h 6858000"/>
              <a:gd name="connsiteX3" fmla="*/ 0 w 4187431"/>
              <a:gd name="connsiteY3" fmla="*/ 6858000 h 6858000"/>
              <a:gd name="connsiteX4" fmla="*/ 3429000 w 4187431"/>
              <a:gd name="connsiteY4" fmla="*/ 3429000 h 6858000"/>
              <a:gd name="connsiteX5" fmla="*/ 0 w 4187431"/>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87431" h="6858000">
                <a:moveTo>
                  <a:pt x="0" y="0"/>
                </a:moveTo>
                <a:lnTo>
                  <a:pt x="4187431" y="0"/>
                </a:lnTo>
                <a:lnTo>
                  <a:pt x="4187431" y="6858000"/>
                </a:lnTo>
                <a:lnTo>
                  <a:pt x="0" y="6858000"/>
                </a:lnTo>
                <a:cubicBezTo>
                  <a:pt x="1893784" y="6858000"/>
                  <a:pt x="3429000" y="5322784"/>
                  <a:pt x="3429000" y="3429000"/>
                </a:cubicBezTo>
                <a:cubicBezTo>
                  <a:pt x="3429000" y="1535216"/>
                  <a:pt x="1893784" y="0"/>
                  <a:pt x="0" y="0"/>
                </a:cubicBezTo>
                <a:close/>
              </a:path>
            </a:pathLst>
          </a:cu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defRPr/>
            </a:pPr>
            <a:endParaRPr lang="en-US" sz="2040" err="1">
              <a:solidFill>
                <a:schemeClr val="accent3"/>
              </a:solidFill>
              <a:latin typeface="Segoe UI"/>
              <a:ea typeface="Segoe UI" pitchFamily="34" charset="0"/>
              <a:cs typeface="Segoe UI" pitchFamily="34" charset="0"/>
            </a:endParaRPr>
          </a:p>
        </p:txBody>
      </p:sp>
      <p:sp>
        <p:nvSpPr>
          <p:cNvPr id="14" name="Rectangle: Rounded Corners 13" descr="Regulatory compliance view in defender for cloud">
            <a:extLst>
              <a:ext uri="{FF2B5EF4-FFF2-40B4-BE49-F238E27FC236}">
                <a16:creationId xmlns:a16="http://schemas.microsoft.com/office/drawing/2014/main" id="{83DC389C-DDAD-42A0-8091-8A071864BC3F}"/>
              </a:ext>
              <a:ext uri="{C183D7F6-B498-43B3-948B-1728B52AA6E4}">
                <adec:decorative xmlns:adec="http://schemas.microsoft.com/office/drawing/2017/decorative" val="0"/>
              </a:ext>
            </a:extLst>
          </p:cNvPr>
          <p:cNvSpPr/>
          <p:nvPr/>
        </p:nvSpPr>
        <p:spPr>
          <a:xfrm>
            <a:off x="6693408" y="1529655"/>
            <a:ext cx="8101929" cy="4966707"/>
          </a:xfrm>
          <a:prstGeom prst="roundRect">
            <a:avLst>
              <a:gd name="adj" fmla="val 3742"/>
            </a:avLst>
          </a:prstGeom>
          <a:solidFill>
            <a:srgbClr val="000000"/>
          </a:solidFill>
          <a:ln w="31750">
            <a:solidFill>
              <a:srgbClr val="B6B6B6"/>
            </a:solidFill>
          </a:ln>
          <a:effectLst>
            <a:outerShdw blurRad="190500" dist="50800" dir="2700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384">
              <a:defRPr/>
            </a:pPr>
            <a:endParaRPr lang="en-US">
              <a:solidFill>
                <a:srgbClr val="FFFFFF"/>
              </a:solidFill>
              <a:latin typeface="Segoe UI"/>
            </a:endParaRPr>
          </a:p>
        </p:txBody>
      </p:sp>
      <p:pic>
        <p:nvPicPr>
          <p:cNvPr id="27" name="Picture 26" descr="Regulatory compliance view in defender for cloud">
            <a:extLst>
              <a:ext uri="{FF2B5EF4-FFF2-40B4-BE49-F238E27FC236}">
                <a16:creationId xmlns:a16="http://schemas.microsoft.com/office/drawing/2014/main" id="{EE9DEB2D-6986-4325-8301-1C5B16D51B46}"/>
              </a:ext>
            </a:extLst>
          </p:cNvPr>
          <p:cNvPicPr>
            <a:picLocks noChangeAspect="1"/>
          </p:cNvPicPr>
          <p:nvPr/>
        </p:nvPicPr>
        <p:blipFill rotWithShape="1">
          <a:blip r:embed="rId3"/>
          <a:srcRect r="11133" b="3587"/>
          <a:stretch/>
        </p:blipFill>
        <p:spPr>
          <a:xfrm>
            <a:off x="7037870" y="1801834"/>
            <a:ext cx="7448485" cy="4426286"/>
          </a:xfrm>
          <a:prstGeom prst="rect">
            <a:avLst/>
          </a:prstGeom>
          <a:ln>
            <a:solidFill>
              <a:schemeClr val="accent1"/>
            </a:solidFill>
          </a:ln>
        </p:spPr>
      </p:pic>
      <p:grpSp>
        <p:nvGrpSpPr>
          <p:cNvPr id="7" name="Group 6">
            <a:extLst>
              <a:ext uri="{FF2B5EF4-FFF2-40B4-BE49-F238E27FC236}">
                <a16:creationId xmlns:a16="http://schemas.microsoft.com/office/drawing/2014/main" id="{6B2ED03B-DC51-2A39-8681-7D1AE458ADB2}"/>
              </a:ext>
              <a:ext uri="{C183D7F6-B498-43B3-948B-1728B52AA6E4}">
                <adec:decorative xmlns:adec="http://schemas.microsoft.com/office/drawing/2017/decorative" val="1"/>
              </a:ext>
            </a:extLst>
          </p:cNvPr>
          <p:cNvGrpSpPr/>
          <p:nvPr/>
        </p:nvGrpSpPr>
        <p:grpSpPr>
          <a:xfrm>
            <a:off x="572281" y="4908015"/>
            <a:ext cx="1413658" cy="1364398"/>
            <a:chOff x="572281" y="4908015"/>
            <a:chExt cx="1413658" cy="1364398"/>
          </a:xfrm>
        </p:grpSpPr>
        <p:grpSp>
          <p:nvGrpSpPr>
            <p:cNvPr id="4" name="Group 3">
              <a:extLst>
                <a:ext uri="{FF2B5EF4-FFF2-40B4-BE49-F238E27FC236}">
                  <a16:creationId xmlns:a16="http://schemas.microsoft.com/office/drawing/2014/main" id="{58CEE43E-7A47-4840-B1B5-1CC1D89FAAF5}"/>
                </a:ext>
                <a:ext uri="{C183D7F6-B498-43B3-948B-1728B52AA6E4}">
                  <adec:decorative xmlns:adec="http://schemas.microsoft.com/office/drawing/2017/decorative" val="1"/>
                </a:ext>
              </a:extLst>
            </p:cNvPr>
            <p:cNvGrpSpPr/>
            <p:nvPr/>
          </p:nvGrpSpPr>
          <p:grpSpPr>
            <a:xfrm>
              <a:off x="572281" y="4931823"/>
              <a:ext cx="184986" cy="1047173"/>
              <a:chOff x="600058" y="4867191"/>
              <a:chExt cx="185012" cy="1047321"/>
            </a:xfrm>
            <a:solidFill>
              <a:schemeClr val="accent3"/>
            </a:solidFill>
          </p:grpSpPr>
          <p:sp>
            <p:nvSpPr>
              <p:cNvPr id="17" name="Freeform: Shape 16">
                <a:extLst>
                  <a:ext uri="{FF2B5EF4-FFF2-40B4-BE49-F238E27FC236}">
                    <a16:creationId xmlns:a16="http://schemas.microsoft.com/office/drawing/2014/main" id="{359B5A10-8F8B-4C19-8727-5D7E24C507D9}"/>
                  </a:ext>
                  <a:ext uri="{C183D7F6-B498-43B3-948B-1728B52AA6E4}">
                    <adec:decorative xmlns:adec="http://schemas.microsoft.com/office/drawing/2017/decorative" val="1"/>
                  </a:ext>
                </a:extLst>
              </p:cNvPr>
              <p:cNvSpPr/>
              <p:nvPr/>
            </p:nvSpPr>
            <p:spPr>
              <a:xfrm>
                <a:off x="600058" y="4867191"/>
                <a:ext cx="185012" cy="146289"/>
              </a:xfrm>
              <a:custGeom>
                <a:avLst/>
                <a:gdLst>
                  <a:gd name="connsiteX0" fmla="*/ 164983 w 185012"/>
                  <a:gd name="connsiteY0" fmla="*/ 1431 h 146288"/>
                  <a:gd name="connsiteX1" fmla="*/ 63805 w 185012"/>
                  <a:gd name="connsiteY1" fmla="*/ 102608 h 146288"/>
                  <a:gd name="connsiteX2" fmla="*/ 22899 w 185012"/>
                  <a:gd name="connsiteY2" fmla="*/ 61702 h 146288"/>
                  <a:gd name="connsiteX3" fmla="*/ 1431 w 185012"/>
                  <a:gd name="connsiteY3" fmla="*/ 82155 h 146288"/>
                  <a:gd name="connsiteX4" fmla="*/ 63805 w 185012"/>
                  <a:gd name="connsiteY4" fmla="*/ 145545 h 146288"/>
                  <a:gd name="connsiteX5" fmla="*/ 185436 w 185012"/>
                  <a:gd name="connsiteY5" fmla="*/ 22899 h 146288"/>
                  <a:gd name="connsiteX6" fmla="*/ 164983 w 185012"/>
                  <a:gd name="connsiteY6" fmla="*/ 1431 h 146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012" h="146288">
                    <a:moveTo>
                      <a:pt x="164983" y="1431"/>
                    </a:moveTo>
                    <a:lnTo>
                      <a:pt x="63805" y="102608"/>
                    </a:lnTo>
                    <a:lnTo>
                      <a:pt x="22899" y="61702"/>
                    </a:lnTo>
                    <a:lnTo>
                      <a:pt x="1431" y="82155"/>
                    </a:lnTo>
                    <a:lnTo>
                      <a:pt x="63805" y="145545"/>
                    </a:lnTo>
                    <a:lnTo>
                      <a:pt x="185436" y="22899"/>
                    </a:lnTo>
                    <a:lnTo>
                      <a:pt x="164983" y="1431"/>
                    </a:lnTo>
                    <a:close/>
                  </a:path>
                </a:pathLst>
              </a:custGeom>
              <a:grpFill/>
              <a:ln w="4222" cap="flat">
                <a:noFill/>
                <a:prstDash val="solid"/>
                <a:miter/>
              </a:ln>
            </p:spPr>
            <p:txBody>
              <a:bodyPr rtlCol="0" anchor="ctr"/>
              <a:lstStyle/>
              <a:p>
                <a:pPr defTabSz="932563">
                  <a:defRPr/>
                </a:pPr>
                <a:endParaRPr lang="en-US">
                  <a:solidFill>
                    <a:srgbClr val="000000"/>
                  </a:solidFill>
                  <a:latin typeface="Segoe UI"/>
                </a:endParaRPr>
              </a:p>
            </p:txBody>
          </p:sp>
          <p:sp>
            <p:nvSpPr>
              <p:cNvPr id="18" name="Freeform: Shape 17">
                <a:extLst>
                  <a:ext uri="{FF2B5EF4-FFF2-40B4-BE49-F238E27FC236}">
                    <a16:creationId xmlns:a16="http://schemas.microsoft.com/office/drawing/2014/main" id="{49E38364-6936-4D00-B747-2D9368CD0754}"/>
                  </a:ext>
                  <a:ext uri="{C183D7F6-B498-43B3-948B-1728B52AA6E4}">
                    <adec:decorative xmlns:adec="http://schemas.microsoft.com/office/drawing/2017/decorative" val="1"/>
                  </a:ext>
                </a:extLst>
              </p:cNvPr>
              <p:cNvSpPr/>
              <p:nvPr/>
            </p:nvSpPr>
            <p:spPr>
              <a:xfrm>
                <a:off x="600058" y="5167535"/>
                <a:ext cx="185012" cy="146289"/>
              </a:xfrm>
              <a:custGeom>
                <a:avLst/>
                <a:gdLst>
                  <a:gd name="connsiteX0" fmla="*/ 164983 w 185012"/>
                  <a:gd name="connsiteY0" fmla="*/ 1431 h 146288"/>
                  <a:gd name="connsiteX1" fmla="*/ 63805 w 185012"/>
                  <a:gd name="connsiteY1" fmla="*/ 102608 h 146288"/>
                  <a:gd name="connsiteX2" fmla="*/ 22899 w 185012"/>
                  <a:gd name="connsiteY2" fmla="*/ 61702 h 146288"/>
                  <a:gd name="connsiteX3" fmla="*/ 1431 w 185012"/>
                  <a:gd name="connsiteY3" fmla="*/ 82155 h 146288"/>
                  <a:gd name="connsiteX4" fmla="*/ 63805 w 185012"/>
                  <a:gd name="connsiteY4" fmla="*/ 145545 h 146288"/>
                  <a:gd name="connsiteX5" fmla="*/ 185436 w 185012"/>
                  <a:gd name="connsiteY5" fmla="*/ 22899 h 146288"/>
                  <a:gd name="connsiteX6" fmla="*/ 164983 w 185012"/>
                  <a:gd name="connsiteY6" fmla="*/ 1431 h 146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012" h="146288">
                    <a:moveTo>
                      <a:pt x="164983" y="1431"/>
                    </a:moveTo>
                    <a:lnTo>
                      <a:pt x="63805" y="102608"/>
                    </a:lnTo>
                    <a:lnTo>
                      <a:pt x="22899" y="61702"/>
                    </a:lnTo>
                    <a:lnTo>
                      <a:pt x="1431" y="82155"/>
                    </a:lnTo>
                    <a:lnTo>
                      <a:pt x="63805" y="145545"/>
                    </a:lnTo>
                    <a:lnTo>
                      <a:pt x="185436" y="22899"/>
                    </a:lnTo>
                    <a:lnTo>
                      <a:pt x="164983" y="1431"/>
                    </a:lnTo>
                    <a:close/>
                  </a:path>
                </a:pathLst>
              </a:custGeom>
              <a:grpFill/>
              <a:ln w="4222" cap="flat">
                <a:noFill/>
                <a:prstDash val="solid"/>
                <a:miter/>
              </a:ln>
            </p:spPr>
            <p:txBody>
              <a:bodyPr rtlCol="0" anchor="ctr"/>
              <a:lstStyle/>
              <a:p>
                <a:pPr defTabSz="932563">
                  <a:defRPr/>
                </a:pPr>
                <a:endParaRPr lang="en-US">
                  <a:solidFill>
                    <a:srgbClr val="000000"/>
                  </a:solidFill>
                  <a:latin typeface="Segoe UI"/>
                </a:endParaRPr>
              </a:p>
            </p:txBody>
          </p:sp>
          <p:sp>
            <p:nvSpPr>
              <p:cNvPr id="19" name="Freeform: Shape 18">
                <a:extLst>
                  <a:ext uri="{FF2B5EF4-FFF2-40B4-BE49-F238E27FC236}">
                    <a16:creationId xmlns:a16="http://schemas.microsoft.com/office/drawing/2014/main" id="{EC8022FC-165E-4579-9AFF-DF21BD6B8908}"/>
                  </a:ext>
                </a:extLst>
              </p:cNvPr>
              <p:cNvSpPr/>
              <p:nvPr/>
            </p:nvSpPr>
            <p:spPr>
              <a:xfrm>
                <a:off x="600058" y="5467879"/>
                <a:ext cx="185012" cy="146289"/>
              </a:xfrm>
              <a:custGeom>
                <a:avLst/>
                <a:gdLst>
                  <a:gd name="connsiteX0" fmla="*/ 164983 w 185012"/>
                  <a:gd name="connsiteY0" fmla="*/ 1431 h 146288"/>
                  <a:gd name="connsiteX1" fmla="*/ 63805 w 185012"/>
                  <a:gd name="connsiteY1" fmla="*/ 102608 h 146288"/>
                  <a:gd name="connsiteX2" fmla="*/ 22899 w 185012"/>
                  <a:gd name="connsiteY2" fmla="*/ 61702 h 146288"/>
                  <a:gd name="connsiteX3" fmla="*/ 1431 w 185012"/>
                  <a:gd name="connsiteY3" fmla="*/ 82155 h 146288"/>
                  <a:gd name="connsiteX4" fmla="*/ 63805 w 185012"/>
                  <a:gd name="connsiteY4" fmla="*/ 145545 h 146288"/>
                  <a:gd name="connsiteX5" fmla="*/ 185436 w 185012"/>
                  <a:gd name="connsiteY5" fmla="*/ 22899 h 146288"/>
                  <a:gd name="connsiteX6" fmla="*/ 164983 w 185012"/>
                  <a:gd name="connsiteY6" fmla="*/ 1431 h 146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012" h="146288">
                    <a:moveTo>
                      <a:pt x="164983" y="1431"/>
                    </a:moveTo>
                    <a:lnTo>
                      <a:pt x="63805" y="102608"/>
                    </a:lnTo>
                    <a:lnTo>
                      <a:pt x="22899" y="61702"/>
                    </a:lnTo>
                    <a:lnTo>
                      <a:pt x="1431" y="82155"/>
                    </a:lnTo>
                    <a:lnTo>
                      <a:pt x="63805" y="145545"/>
                    </a:lnTo>
                    <a:lnTo>
                      <a:pt x="185436" y="22899"/>
                    </a:lnTo>
                    <a:lnTo>
                      <a:pt x="164983" y="1431"/>
                    </a:lnTo>
                    <a:close/>
                  </a:path>
                </a:pathLst>
              </a:custGeom>
              <a:grpFill/>
              <a:ln w="4222" cap="flat">
                <a:noFill/>
                <a:prstDash val="solid"/>
                <a:miter/>
              </a:ln>
            </p:spPr>
            <p:txBody>
              <a:bodyPr rtlCol="0" anchor="ctr"/>
              <a:lstStyle/>
              <a:p>
                <a:pPr defTabSz="932563">
                  <a:defRPr/>
                </a:pPr>
                <a:endParaRPr lang="en-US">
                  <a:solidFill>
                    <a:schemeClr val="accent3"/>
                  </a:solidFill>
                  <a:latin typeface="Segoe UI"/>
                </a:endParaRPr>
              </a:p>
            </p:txBody>
          </p:sp>
          <p:sp>
            <p:nvSpPr>
              <p:cNvPr id="20" name="Freeform: Shape 19">
                <a:extLst>
                  <a:ext uri="{FF2B5EF4-FFF2-40B4-BE49-F238E27FC236}">
                    <a16:creationId xmlns:a16="http://schemas.microsoft.com/office/drawing/2014/main" id="{E7F5AFFE-270F-4924-AE56-A6182601F40B}"/>
                  </a:ext>
                </a:extLst>
              </p:cNvPr>
              <p:cNvSpPr/>
              <p:nvPr/>
            </p:nvSpPr>
            <p:spPr>
              <a:xfrm>
                <a:off x="600058" y="5768223"/>
                <a:ext cx="185012" cy="146289"/>
              </a:xfrm>
              <a:custGeom>
                <a:avLst/>
                <a:gdLst>
                  <a:gd name="connsiteX0" fmla="*/ 164983 w 185012"/>
                  <a:gd name="connsiteY0" fmla="*/ 1431 h 146288"/>
                  <a:gd name="connsiteX1" fmla="*/ 63805 w 185012"/>
                  <a:gd name="connsiteY1" fmla="*/ 102608 h 146288"/>
                  <a:gd name="connsiteX2" fmla="*/ 22899 w 185012"/>
                  <a:gd name="connsiteY2" fmla="*/ 61702 h 146288"/>
                  <a:gd name="connsiteX3" fmla="*/ 1431 w 185012"/>
                  <a:gd name="connsiteY3" fmla="*/ 82155 h 146288"/>
                  <a:gd name="connsiteX4" fmla="*/ 63805 w 185012"/>
                  <a:gd name="connsiteY4" fmla="*/ 145545 h 146288"/>
                  <a:gd name="connsiteX5" fmla="*/ 185436 w 185012"/>
                  <a:gd name="connsiteY5" fmla="*/ 22899 h 146288"/>
                  <a:gd name="connsiteX6" fmla="*/ 164983 w 185012"/>
                  <a:gd name="connsiteY6" fmla="*/ 1431 h 146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012" h="146288">
                    <a:moveTo>
                      <a:pt x="164983" y="1431"/>
                    </a:moveTo>
                    <a:lnTo>
                      <a:pt x="63805" y="102608"/>
                    </a:lnTo>
                    <a:lnTo>
                      <a:pt x="22899" y="61702"/>
                    </a:lnTo>
                    <a:lnTo>
                      <a:pt x="1431" y="82155"/>
                    </a:lnTo>
                    <a:lnTo>
                      <a:pt x="63805" y="145545"/>
                    </a:lnTo>
                    <a:lnTo>
                      <a:pt x="185436" y="22899"/>
                    </a:lnTo>
                    <a:lnTo>
                      <a:pt x="164983" y="1431"/>
                    </a:lnTo>
                    <a:close/>
                  </a:path>
                </a:pathLst>
              </a:custGeom>
              <a:grpFill/>
              <a:ln w="4222" cap="flat">
                <a:noFill/>
                <a:prstDash val="solid"/>
                <a:miter/>
              </a:ln>
            </p:spPr>
            <p:txBody>
              <a:bodyPr rtlCol="0" anchor="ctr"/>
              <a:lstStyle/>
              <a:p>
                <a:pPr defTabSz="932563">
                  <a:defRPr/>
                </a:pPr>
                <a:endParaRPr lang="en-US">
                  <a:solidFill>
                    <a:schemeClr val="accent3"/>
                  </a:solidFill>
                  <a:latin typeface="Segoe UI"/>
                </a:endParaRPr>
              </a:p>
            </p:txBody>
          </p:sp>
        </p:grpSp>
        <p:sp>
          <p:nvSpPr>
            <p:cNvPr id="5" name="Freeform: Shape 4">
              <a:extLst>
                <a:ext uri="{FF2B5EF4-FFF2-40B4-BE49-F238E27FC236}">
                  <a16:creationId xmlns:a16="http://schemas.microsoft.com/office/drawing/2014/main" id="{25C5E663-F854-4792-98BE-23B1891225CA}"/>
                </a:ext>
                <a:ext uri="{C183D7F6-B498-43B3-948B-1728B52AA6E4}">
                  <adec:decorative xmlns:adec="http://schemas.microsoft.com/office/drawing/2017/decorative" val="1"/>
                </a:ext>
              </a:extLst>
            </p:cNvPr>
            <p:cNvSpPr/>
            <p:nvPr/>
          </p:nvSpPr>
          <p:spPr>
            <a:xfrm>
              <a:off x="572281" y="6126145"/>
              <a:ext cx="184986" cy="146268"/>
            </a:xfrm>
            <a:custGeom>
              <a:avLst/>
              <a:gdLst>
                <a:gd name="connsiteX0" fmla="*/ 164983 w 185012"/>
                <a:gd name="connsiteY0" fmla="*/ 1431 h 146288"/>
                <a:gd name="connsiteX1" fmla="*/ 63805 w 185012"/>
                <a:gd name="connsiteY1" fmla="*/ 102608 h 146288"/>
                <a:gd name="connsiteX2" fmla="*/ 22899 w 185012"/>
                <a:gd name="connsiteY2" fmla="*/ 61702 h 146288"/>
                <a:gd name="connsiteX3" fmla="*/ 1431 w 185012"/>
                <a:gd name="connsiteY3" fmla="*/ 82155 h 146288"/>
                <a:gd name="connsiteX4" fmla="*/ 63805 w 185012"/>
                <a:gd name="connsiteY4" fmla="*/ 145545 h 146288"/>
                <a:gd name="connsiteX5" fmla="*/ 185436 w 185012"/>
                <a:gd name="connsiteY5" fmla="*/ 22899 h 146288"/>
                <a:gd name="connsiteX6" fmla="*/ 164983 w 185012"/>
                <a:gd name="connsiteY6" fmla="*/ 1431 h 146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012" h="146288">
                  <a:moveTo>
                    <a:pt x="164983" y="1431"/>
                  </a:moveTo>
                  <a:lnTo>
                    <a:pt x="63805" y="102608"/>
                  </a:lnTo>
                  <a:lnTo>
                    <a:pt x="22899" y="61702"/>
                  </a:lnTo>
                  <a:lnTo>
                    <a:pt x="1431" y="82155"/>
                  </a:lnTo>
                  <a:lnTo>
                    <a:pt x="63805" y="145545"/>
                  </a:lnTo>
                  <a:lnTo>
                    <a:pt x="185436" y="22899"/>
                  </a:lnTo>
                  <a:lnTo>
                    <a:pt x="164983" y="1431"/>
                  </a:lnTo>
                  <a:close/>
                </a:path>
              </a:pathLst>
            </a:custGeom>
            <a:solidFill>
              <a:schemeClr val="accent3"/>
            </a:solidFill>
            <a:ln w="4222" cap="flat">
              <a:noFill/>
              <a:prstDash val="solid"/>
              <a:miter/>
            </a:ln>
          </p:spPr>
          <p:txBody>
            <a:bodyPr rtlCol="0" anchor="ctr"/>
            <a:lstStyle/>
            <a:p>
              <a:pPr defTabSz="932563">
                <a:defRPr/>
              </a:pPr>
              <a:endParaRPr lang="en-US">
                <a:solidFill>
                  <a:srgbClr val="000000"/>
                </a:solidFill>
                <a:latin typeface="Segoe UI"/>
              </a:endParaRPr>
            </a:p>
          </p:txBody>
        </p:sp>
        <p:grpSp>
          <p:nvGrpSpPr>
            <p:cNvPr id="35" name="Group 34">
              <a:extLst>
                <a:ext uri="{FF2B5EF4-FFF2-40B4-BE49-F238E27FC236}">
                  <a16:creationId xmlns:a16="http://schemas.microsoft.com/office/drawing/2014/main" id="{8E2714BA-A685-4B88-FB31-0EA92B37D861}"/>
                </a:ext>
                <a:ext uri="{C183D7F6-B498-43B3-948B-1728B52AA6E4}">
                  <adec:decorative xmlns:adec="http://schemas.microsoft.com/office/drawing/2017/decorative" val="1"/>
                </a:ext>
              </a:extLst>
            </p:cNvPr>
            <p:cNvGrpSpPr/>
            <p:nvPr/>
          </p:nvGrpSpPr>
          <p:grpSpPr>
            <a:xfrm>
              <a:off x="1800953" y="4908015"/>
              <a:ext cx="184986" cy="1047173"/>
              <a:chOff x="600058" y="4867191"/>
              <a:chExt cx="185012" cy="1047321"/>
            </a:xfrm>
            <a:solidFill>
              <a:schemeClr val="accent3"/>
            </a:solidFill>
          </p:grpSpPr>
          <p:sp>
            <p:nvSpPr>
              <p:cNvPr id="36" name="Freeform: Shape 35">
                <a:extLst>
                  <a:ext uri="{FF2B5EF4-FFF2-40B4-BE49-F238E27FC236}">
                    <a16:creationId xmlns:a16="http://schemas.microsoft.com/office/drawing/2014/main" id="{220F6861-BEB7-51B2-6A8D-22D9A82EBC12}"/>
                  </a:ext>
                  <a:ext uri="{C183D7F6-B498-43B3-948B-1728B52AA6E4}">
                    <adec:decorative xmlns:adec="http://schemas.microsoft.com/office/drawing/2017/decorative" val="1"/>
                  </a:ext>
                </a:extLst>
              </p:cNvPr>
              <p:cNvSpPr/>
              <p:nvPr/>
            </p:nvSpPr>
            <p:spPr>
              <a:xfrm>
                <a:off x="600058" y="4867191"/>
                <a:ext cx="185012" cy="146289"/>
              </a:xfrm>
              <a:custGeom>
                <a:avLst/>
                <a:gdLst>
                  <a:gd name="connsiteX0" fmla="*/ 164983 w 185012"/>
                  <a:gd name="connsiteY0" fmla="*/ 1431 h 146288"/>
                  <a:gd name="connsiteX1" fmla="*/ 63805 w 185012"/>
                  <a:gd name="connsiteY1" fmla="*/ 102608 h 146288"/>
                  <a:gd name="connsiteX2" fmla="*/ 22899 w 185012"/>
                  <a:gd name="connsiteY2" fmla="*/ 61702 h 146288"/>
                  <a:gd name="connsiteX3" fmla="*/ 1431 w 185012"/>
                  <a:gd name="connsiteY3" fmla="*/ 82155 h 146288"/>
                  <a:gd name="connsiteX4" fmla="*/ 63805 w 185012"/>
                  <a:gd name="connsiteY4" fmla="*/ 145545 h 146288"/>
                  <a:gd name="connsiteX5" fmla="*/ 185436 w 185012"/>
                  <a:gd name="connsiteY5" fmla="*/ 22899 h 146288"/>
                  <a:gd name="connsiteX6" fmla="*/ 164983 w 185012"/>
                  <a:gd name="connsiteY6" fmla="*/ 1431 h 146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012" h="146288">
                    <a:moveTo>
                      <a:pt x="164983" y="1431"/>
                    </a:moveTo>
                    <a:lnTo>
                      <a:pt x="63805" y="102608"/>
                    </a:lnTo>
                    <a:lnTo>
                      <a:pt x="22899" y="61702"/>
                    </a:lnTo>
                    <a:lnTo>
                      <a:pt x="1431" y="82155"/>
                    </a:lnTo>
                    <a:lnTo>
                      <a:pt x="63805" y="145545"/>
                    </a:lnTo>
                    <a:lnTo>
                      <a:pt x="185436" y="22899"/>
                    </a:lnTo>
                    <a:lnTo>
                      <a:pt x="164983" y="1431"/>
                    </a:lnTo>
                    <a:close/>
                  </a:path>
                </a:pathLst>
              </a:custGeom>
              <a:grpFill/>
              <a:ln w="4222" cap="flat">
                <a:noFill/>
                <a:prstDash val="solid"/>
                <a:miter/>
              </a:ln>
            </p:spPr>
            <p:txBody>
              <a:bodyPr rtlCol="0" anchor="ctr"/>
              <a:lstStyle/>
              <a:p>
                <a:pPr defTabSz="932563">
                  <a:defRPr/>
                </a:pPr>
                <a:endParaRPr lang="en-US">
                  <a:solidFill>
                    <a:srgbClr val="000000"/>
                  </a:solidFill>
                  <a:latin typeface="Segoe UI"/>
                </a:endParaRPr>
              </a:p>
            </p:txBody>
          </p:sp>
          <p:sp>
            <p:nvSpPr>
              <p:cNvPr id="37" name="Freeform: Shape 36">
                <a:extLst>
                  <a:ext uri="{FF2B5EF4-FFF2-40B4-BE49-F238E27FC236}">
                    <a16:creationId xmlns:a16="http://schemas.microsoft.com/office/drawing/2014/main" id="{685808EC-370F-2846-FB9A-9D83249B694B}"/>
                  </a:ext>
                  <a:ext uri="{C183D7F6-B498-43B3-948B-1728B52AA6E4}">
                    <adec:decorative xmlns:adec="http://schemas.microsoft.com/office/drawing/2017/decorative" val="1"/>
                  </a:ext>
                </a:extLst>
              </p:cNvPr>
              <p:cNvSpPr/>
              <p:nvPr/>
            </p:nvSpPr>
            <p:spPr>
              <a:xfrm>
                <a:off x="600058" y="5167535"/>
                <a:ext cx="185012" cy="146289"/>
              </a:xfrm>
              <a:custGeom>
                <a:avLst/>
                <a:gdLst>
                  <a:gd name="connsiteX0" fmla="*/ 164983 w 185012"/>
                  <a:gd name="connsiteY0" fmla="*/ 1431 h 146288"/>
                  <a:gd name="connsiteX1" fmla="*/ 63805 w 185012"/>
                  <a:gd name="connsiteY1" fmla="*/ 102608 h 146288"/>
                  <a:gd name="connsiteX2" fmla="*/ 22899 w 185012"/>
                  <a:gd name="connsiteY2" fmla="*/ 61702 h 146288"/>
                  <a:gd name="connsiteX3" fmla="*/ 1431 w 185012"/>
                  <a:gd name="connsiteY3" fmla="*/ 82155 h 146288"/>
                  <a:gd name="connsiteX4" fmla="*/ 63805 w 185012"/>
                  <a:gd name="connsiteY4" fmla="*/ 145545 h 146288"/>
                  <a:gd name="connsiteX5" fmla="*/ 185436 w 185012"/>
                  <a:gd name="connsiteY5" fmla="*/ 22899 h 146288"/>
                  <a:gd name="connsiteX6" fmla="*/ 164983 w 185012"/>
                  <a:gd name="connsiteY6" fmla="*/ 1431 h 146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012" h="146288">
                    <a:moveTo>
                      <a:pt x="164983" y="1431"/>
                    </a:moveTo>
                    <a:lnTo>
                      <a:pt x="63805" y="102608"/>
                    </a:lnTo>
                    <a:lnTo>
                      <a:pt x="22899" y="61702"/>
                    </a:lnTo>
                    <a:lnTo>
                      <a:pt x="1431" y="82155"/>
                    </a:lnTo>
                    <a:lnTo>
                      <a:pt x="63805" y="145545"/>
                    </a:lnTo>
                    <a:lnTo>
                      <a:pt x="185436" y="22899"/>
                    </a:lnTo>
                    <a:lnTo>
                      <a:pt x="164983" y="1431"/>
                    </a:lnTo>
                    <a:close/>
                  </a:path>
                </a:pathLst>
              </a:custGeom>
              <a:grpFill/>
              <a:ln w="4222" cap="flat">
                <a:noFill/>
                <a:prstDash val="solid"/>
                <a:miter/>
              </a:ln>
            </p:spPr>
            <p:txBody>
              <a:bodyPr rtlCol="0" anchor="ctr"/>
              <a:lstStyle/>
              <a:p>
                <a:pPr defTabSz="932563">
                  <a:defRPr/>
                </a:pPr>
                <a:endParaRPr lang="en-US">
                  <a:solidFill>
                    <a:srgbClr val="000000"/>
                  </a:solidFill>
                  <a:latin typeface="Segoe UI"/>
                </a:endParaRPr>
              </a:p>
            </p:txBody>
          </p:sp>
          <p:sp>
            <p:nvSpPr>
              <p:cNvPr id="38" name="Freeform: Shape 37">
                <a:extLst>
                  <a:ext uri="{FF2B5EF4-FFF2-40B4-BE49-F238E27FC236}">
                    <a16:creationId xmlns:a16="http://schemas.microsoft.com/office/drawing/2014/main" id="{307BCAB0-6CD9-6BD9-C0D4-616560633527}"/>
                  </a:ext>
                </a:extLst>
              </p:cNvPr>
              <p:cNvSpPr/>
              <p:nvPr/>
            </p:nvSpPr>
            <p:spPr>
              <a:xfrm>
                <a:off x="600058" y="5467879"/>
                <a:ext cx="185012" cy="146289"/>
              </a:xfrm>
              <a:custGeom>
                <a:avLst/>
                <a:gdLst>
                  <a:gd name="connsiteX0" fmla="*/ 164983 w 185012"/>
                  <a:gd name="connsiteY0" fmla="*/ 1431 h 146288"/>
                  <a:gd name="connsiteX1" fmla="*/ 63805 w 185012"/>
                  <a:gd name="connsiteY1" fmla="*/ 102608 h 146288"/>
                  <a:gd name="connsiteX2" fmla="*/ 22899 w 185012"/>
                  <a:gd name="connsiteY2" fmla="*/ 61702 h 146288"/>
                  <a:gd name="connsiteX3" fmla="*/ 1431 w 185012"/>
                  <a:gd name="connsiteY3" fmla="*/ 82155 h 146288"/>
                  <a:gd name="connsiteX4" fmla="*/ 63805 w 185012"/>
                  <a:gd name="connsiteY4" fmla="*/ 145545 h 146288"/>
                  <a:gd name="connsiteX5" fmla="*/ 185436 w 185012"/>
                  <a:gd name="connsiteY5" fmla="*/ 22899 h 146288"/>
                  <a:gd name="connsiteX6" fmla="*/ 164983 w 185012"/>
                  <a:gd name="connsiteY6" fmla="*/ 1431 h 146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012" h="146288">
                    <a:moveTo>
                      <a:pt x="164983" y="1431"/>
                    </a:moveTo>
                    <a:lnTo>
                      <a:pt x="63805" y="102608"/>
                    </a:lnTo>
                    <a:lnTo>
                      <a:pt x="22899" y="61702"/>
                    </a:lnTo>
                    <a:lnTo>
                      <a:pt x="1431" y="82155"/>
                    </a:lnTo>
                    <a:lnTo>
                      <a:pt x="63805" y="145545"/>
                    </a:lnTo>
                    <a:lnTo>
                      <a:pt x="185436" y="22899"/>
                    </a:lnTo>
                    <a:lnTo>
                      <a:pt x="164983" y="1431"/>
                    </a:lnTo>
                    <a:close/>
                  </a:path>
                </a:pathLst>
              </a:custGeom>
              <a:grpFill/>
              <a:ln w="4222" cap="flat">
                <a:noFill/>
                <a:prstDash val="solid"/>
                <a:miter/>
              </a:ln>
            </p:spPr>
            <p:txBody>
              <a:bodyPr rtlCol="0" anchor="ctr"/>
              <a:lstStyle/>
              <a:p>
                <a:pPr defTabSz="932563">
                  <a:defRPr/>
                </a:pPr>
                <a:endParaRPr lang="en-US">
                  <a:solidFill>
                    <a:srgbClr val="000000"/>
                  </a:solidFill>
                  <a:latin typeface="Segoe UI"/>
                </a:endParaRPr>
              </a:p>
            </p:txBody>
          </p:sp>
          <p:sp>
            <p:nvSpPr>
              <p:cNvPr id="39" name="Freeform: Shape 38">
                <a:extLst>
                  <a:ext uri="{FF2B5EF4-FFF2-40B4-BE49-F238E27FC236}">
                    <a16:creationId xmlns:a16="http://schemas.microsoft.com/office/drawing/2014/main" id="{618EC353-535D-7972-C098-18C49832EC2C}"/>
                  </a:ext>
                </a:extLst>
              </p:cNvPr>
              <p:cNvSpPr/>
              <p:nvPr/>
            </p:nvSpPr>
            <p:spPr>
              <a:xfrm>
                <a:off x="600058" y="5768223"/>
                <a:ext cx="185012" cy="146289"/>
              </a:xfrm>
              <a:custGeom>
                <a:avLst/>
                <a:gdLst>
                  <a:gd name="connsiteX0" fmla="*/ 164983 w 185012"/>
                  <a:gd name="connsiteY0" fmla="*/ 1431 h 146288"/>
                  <a:gd name="connsiteX1" fmla="*/ 63805 w 185012"/>
                  <a:gd name="connsiteY1" fmla="*/ 102608 h 146288"/>
                  <a:gd name="connsiteX2" fmla="*/ 22899 w 185012"/>
                  <a:gd name="connsiteY2" fmla="*/ 61702 h 146288"/>
                  <a:gd name="connsiteX3" fmla="*/ 1431 w 185012"/>
                  <a:gd name="connsiteY3" fmla="*/ 82155 h 146288"/>
                  <a:gd name="connsiteX4" fmla="*/ 63805 w 185012"/>
                  <a:gd name="connsiteY4" fmla="*/ 145545 h 146288"/>
                  <a:gd name="connsiteX5" fmla="*/ 185436 w 185012"/>
                  <a:gd name="connsiteY5" fmla="*/ 22899 h 146288"/>
                  <a:gd name="connsiteX6" fmla="*/ 164983 w 185012"/>
                  <a:gd name="connsiteY6" fmla="*/ 1431 h 146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012" h="146288">
                    <a:moveTo>
                      <a:pt x="164983" y="1431"/>
                    </a:moveTo>
                    <a:lnTo>
                      <a:pt x="63805" y="102608"/>
                    </a:lnTo>
                    <a:lnTo>
                      <a:pt x="22899" y="61702"/>
                    </a:lnTo>
                    <a:lnTo>
                      <a:pt x="1431" y="82155"/>
                    </a:lnTo>
                    <a:lnTo>
                      <a:pt x="63805" y="145545"/>
                    </a:lnTo>
                    <a:lnTo>
                      <a:pt x="185436" y="22899"/>
                    </a:lnTo>
                    <a:lnTo>
                      <a:pt x="164983" y="1431"/>
                    </a:lnTo>
                    <a:close/>
                  </a:path>
                </a:pathLst>
              </a:custGeom>
              <a:grpFill/>
              <a:ln w="4222" cap="flat">
                <a:noFill/>
                <a:prstDash val="solid"/>
                <a:miter/>
              </a:ln>
            </p:spPr>
            <p:txBody>
              <a:bodyPr rtlCol="0" anchor="ctr"/>
              <a:lstStyle/>
              <a:p>
                <a:pPr defTabSz="932563">
                  <a:defRPr/>
                </a:pPr>
                <a:endParaRPr lang="en-US">
                  <a:solidFill>
                    <a:srgbClr val="000000"/>
                  </a:solidFill>
                  <a:latin typeface="Segoe UI"/>
                </a:endParaRPr>
              </a:p>
            </p:txBody>
          </p:sp>
        </p:grpSp>
      </p:grpSp>
      <p:pic>
        <p:nvPicPr>
          <p:cNvPr id="6" name="Graphic 5">
            <a:extLst>
              <a:ext uri="{FF2B5EF4-FFF2-40B4-BE49-F238E27FC236}">
                <a16:creationId xmlns:a16="http://schemas.microsoft.com/office/drawing/2014/main" id="{1881A689-4875-7168-DB83-ED16FD50520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597274" y="1992810"/>
            <a:ext cx="224853" cy="248523"/>
          </a:xfrm>
          <a:prstGeom prst="rect">
            <a:avLst/>
          </a:prstGeom>
        </p:spPr>
      </p:pic>
      <p:pic>
        <p:nvPicPr>
          <p:cNvPr id="8" name="Graphic 7">
            <a:extLst>
              <a:ext uri="{FF2B5EF4-FFF2-40B4-BE49-F238E27FC236}">
                <a16:creationId xmlns:a16="http://schemas.microsoft.com/office/drawing/2014/main" id="{3DDAC341-D5F5-4944-BD3B-0227DF688F7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597274" y="2653743"/>
            <a:ext cx="224853" cy="248523"/>
          </a:xfrm>
          <a:prstGeom prst="rect">
            <a:avLst/>
          </a:prstGeom>
        </p:spPr>
      </p:pic>
      <p:pic>
        <p:nvPicPr>
          <p:cNvPr id="9" name="Graphic 8">
            <a:extLst>
              <a:ext uri="{FF2B5EF4-FFF2-40B4-BE49-F238E27FC236}">
                <a16:creationId xmlns:a16="http://schemas.microsoft.com/office/drawing/2014/main" id="{B4C0DE28-7722-C50A-551A-B8717DEF5CB4}"/>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599349" y="3551922"/>
            <a:ext cx="224853" cy="248523"/>
          </a:xfrm>
          <a:prstGeom prst="rect">
            <a:avLst/>
          </a:prstGeom>
        </p:spPr>
      </p:pic>
    </p:spTree>
    <p:extLst>
      <p:ext uri="{BB962C8B-B14F-4D97-AF65-F5344CB8AC3E}">
        <p14:creationId xmlns:p14="http://schemas.microsoft.com/office/powerpoint/2010/main" val="1437534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42" presetClass="path" presetSubtype="0" decel="100000" fill="hold" grpId="1" nodeType="withEffect">
                                  <p:stCondLst>
                                    <p:cond delay="0"/>
                                  </p:stCondLst>
                                  <p:childTnLst>
                                    <p:animMotion origin="layout" path="M -1.69773E-6 -2.44212E-6 L -0.0134 -2.44212E-6 " pathEditMode="relative" rAng="0" ptsTypes="AA">
                                      <p:cBhvr>
                                        <p:cTn id="9" dur="500" spd="-100000" fill="hold"/>
                                        <p:tgtEl>
                                          <p:spTgt spid="28"/>
                                        </p:tgtEl>
                                        <p:attrNameLst>
                                          <p:attrName>ppt_x</p:attrName>
                                          <p:attrName>ppt_y</p:attrName>
                                        </p:attrNameLst>
                                      </p:cBhvr>
                                      <p:rCtr x="-677" y="0"/>
                                    </p:animMotion>
                                  </p:childTnLst>
                                </p:cTn>
                              </p:par>
                              <p:par>
                                <p:cTn id="10" presetID="10"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42" presetClass="path" presetSubtype="0" decel="100000" fill="hold" grpId="1" nodeType="withEffect">
                                  <p:stCondLst>
                                    <p:cond delay="0"/>
                                  </p:stCondLst>
                                  <p:childTnLst>
                                    <p:animMotion origin="layout" path="M 1.22798E-6 2.54653E-6 L -0.00051 0.02269 " pathEditMode="relative" rAng="0" ptsTypes="AA">
                                      <p:cBhvr>
                                        <p:cTn id="14" dur="500" spd="-100000" fill="hold"/>
                                        <p:tgtEl>
                                          <p:spTgt spid="2"/>
                                        </p:tgtEl>
                                        <p:attrNameLst>
                                          <p:attrName>ppt_x</p:attrName>
                                          <p:attrName>ppt_y</p:attrName>
                                        </p:attrNameLst>
                                      </p:cBhvr>
                                      <p:rCtr x="-26" y="1135"/>
                                    </p:animMotion>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42" presetClass="path" presetSubtype="0" decel="100000" fill="hold" grpId="1" nodeType="withEffect">
                                  <p:stCondLst>
                                    <p:cond delay="0"/>
                                  </p:stCondLst>
                                  <p:childTnLst>
                                    <p:animMotion origin="layout" path="M 3.52566E-6 -3.05039E-6 L 0.02272 -0.00068 " pathEditMode="relative" rAng="0" ptsTypes="AA">
                                      <p:cBhvr>
                                        <p:cTn id="19" dur="500" spd="-100000" fill="hold"/>
                                        <p:tgtEl>
                                          <p:spTgt spid="14"/>
                                        </p:tgtEl>
                                        <p:attrNameLst>
                                          <p:attrName>ppt_x</p:attrName>
                                          <p:attrName>ppt_y</p:attrName>
                                        </p:attrNameLst>
                                      </p:cBhvr>
                                      <p:rCtr x="1136" y="-45"/>
                                    </p:animMotion>
                                  </p:childTnLst>
                                </p:cTn>
                              </p:par>
                              <p:par>
                                <p:cTn id="20" presetID="10" presetClass="entr" presetSubtype="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par>
                                <p:cTn id="23" presetID="42" presetClass="path" presetSubtype="0" decel="100000" fill="hold" nodeType="withEffect">
                                  <p:stCondLst>
                                    <p:cond delay="0"/>
                                  </p:stCondLst>
                                  <p:childTnLst>
                                    <p:animMotion origin="layout" path="M -6.10161E-7 -1.36178E-8 L 0.02272 -0.00068 " pathEditMode="relative" rAng="0" ptsTypes="AA">
                                      <p:cBhvr>
                                        <p:cTn id="24" dur="500" spd="-100000" fill="hold"/>
                                        <p:tgtEl>
                                          <p:spTgt spid="27"/>
                                        </p:tgtEl>
                                        <p:attrNameLst>
                                          <p:attrName>ppt_x</p:attrName>
                                          <p:attrName>ppt_y</p:attrName>
                                        </p:attrNameLst>
                                      </p:cBhvr>
                                      <p:rCtr x="1136" y="-45"/>
                                    </p:animMotion>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42" presetClass="path" presetSubtype="0" decel="100000" fill="hold" grpId="1" nodeType="withEffect">
                                  <p:stCondLst>
                                    <p:cond delay="0"/>
                                  </p:stCondLst>
                                  <p:childTnLst>
                                    <p:animMotion origin="layout" path="M -3.76308E-6 -2.51021E-6 L -0.0134 -2.51021E-6 " pathEditMode="relative" rAng="0" ptsTypes="AA">
                                      <p:cBhvr>
                                        <p:cTn id="29" dur="500" spd="-100000" fill="hold"/>
                                        <p:tgtEl>
                                          <p:spTgt spid="16"/>
                                        </p:tgtEl>
                                        <p:attrNameLst>
                                          <p:attrName>ppt_x</p:attrName>
                                          <p:attrName>ppt_y</p:attrName>
                                        </p:attrNameLst>
                                      </p:cBhvr>
                                      <p:rCtr x="-677" y="0"/>
                                    </p:animMotion>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par>
                                <p:cTn id="33" presetID="42" presetClass="path" presetSubtype="0" decel="100000" fill="hold" grpId="1" nodeType="withEffect">
                                  <p:stCondLst>
                                    <p:cond delay="0"/>
                                  </p:stCondLst>
                                  <p:childTnLst>
                                    <p:animMotion origin="layout" path="M 2.42533E-7 -3.15025E-6 L -0.0134 -3.15025E-6 " pathEditMode="relative" rAng="0" ptsTypes="AA">
                                      <p:cBhvr>
                                        <p:cTn id="34" dur="500" spd="-100000" fill="hold"/>
                                        <p:tgtEl>
                                          <p:spTgt spid="32"/>
                                        </p:tgtEl>
                                        <p:attrNameLst>
                                          <p:attrName>ppt_x</p:attrName>
                                          <p:attrName>ppt_y</p:attrName>
                                        </p:attrNameLst>
                                      </p:cBhvr>
                                      <p:rCtr x="-677" y="0"/>
                                    </p:animMotion>
                                  </p:childTnLst>
                                </p:cTn>
                              </p:par>
                              <p:par>
                                <p:cTn id="35" presetID="10" presetClass="entr" presetSubtype="0" fill="hold" nodeType="withEffect">
                                  <p:stCondLst>
                                    <p:cond delay="25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par>
                                <p:cTn id="38" presetID="10" presetClass="entr" presetSubtype="0" fill="hold" nodeType="withEffect">
                                  <p:stCondLst>
                                    <p:cond delay="25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p:tgtEl>
                                          <p:spTgt spid="6"/>
                                        </p:tgtEl>
                                      </p:cBhvr>
                                    </p:animEffect>
                                  </p:childTnLst>
                                </p:cTn>
                              </p:par>
                              <p:par>
                                <p:cTn id="41" presetID="10" presetClass="entr" presetSubtype="0" fill="hold" nodeType="withEffect">
                                  <p:stCondLst>
                                    <p:cond delay="25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par>
                                <p:cTn id="44" presetID="10" presetClass="entr" presetSubtype="0" fill="hold" nodeType="withEffect">
                                  <p:stCondLst>
                                    <p:cond delay="25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8" grpId="1"/>
      <p:bldP spid="2" grpId="0"/>
      <p:bldP spid="2" grpId="1"/>
      <p:bldP spid="16" grpId="0"/>
      <p:bldP spid="16" grpId="1"/>
      <p:bldP spid="32" grpId="0"/>
      <p:bldP spid="32" grpId="1"/>
      <p:bldP spid="14" grpId="0" animBg="1"/>
      <p:bldP spid="14"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43705" y="457005"/>
            <a:ext cx="11237870" cy="553998"/>
          </a:xfrm>
        </p:spPr>
        <p:txBody>
          <a:bodyPr/>
          <a:lstStyle/>
          <a:p>
            <a:r>
              <a:rPr lang="en-US" sz="3600" dirty="0"/>
              <a:t>Identify sensitive data in cloud resources</a:t>
            </a:r>
            <a:endParaRPr lang="en-US" sz="3600" spc="0" dirty="0">
              <a:solidFill>
                <a:srgbClr val="0078D4"/>
              </a:solidFill>
            </a:endParaRPr>
          </a:p>
        </p:txBody>
      </p:sp>
      <p:sp>
        <p:nvSpPr>
          <p:cNvPr id="4" name="TextBox 3">
            <a:extLst>
              <a:ext uri="{FF2B5EF4-FFF2-40B4-BE49-F238E27FC236}">
                <a16:creationId xmlns:a16="http://schemas.microsoft.com/office/drawing/2014/main" id="{B3456B7D-CF11-4B71-8CA5-0C5A66E6FE7C}"/>
              </a:ext>
            </a:extLst>
          </p:cNvPr>
          <p:cNvSpPr txBox="1"/>
          <p:nvPr/>
        </p:nvSpPr>
        <p:spPr>
          <a:xfrm>
            <a:off x="562755" y="1035151"/>
            <a:ext cx="4060278" cy="313904"/>
          </a:xfrm>
          <a:prstGeom prst="rect">
            <a:avLst/>
          </a:prstGeom>
          <a:noFill/>
        </p:spPr>
        <p:txBody>
          <a:bodyPr wrap="none" lIns="0" tIns="0" rIns="0" bIns="0" rtlCol="0">
            <a:spAutoFit/>
          </a:bodyPr>
          <a:lstStyle/>
          <a:p>
            <a:pPr defTabSz="932563"/>
            <a:r>
              <a:rPr lang="en-US" sz="2000" dirty="0">
                <a:solidFill>
                  <a:schemeClr val="accent3"/>
                </a:solidFill>
                <a:latin typeface="Segoe UI Semibold"/>
              </a:rPr>
              <a:t>Integrated with Microsoft Purview</a:t>
            </a:r>
          </a:p>
        </p:txBody>
      </p:sp>
      <p:sp>
        <p:nvSpPr>
          <p:cNvPr id="13" name="TextBox 12">
            <a:extLst>
              <a:ext uri="{FF2B5EF4-FFF2-40B4-BE49-F238E27FC236}">
                <a16:creationId xmlns:a16="http://schemas.microsoft.com/office/drawing/2014/main" id="{36FD5726-CA73-488C-A2B4-9D6095F6465D}"/>
              </a:ext>
            </a:extLst>
          </p:cNvPr>
          <p:cNvSpPr txBox="1"/>
          <p:nvPr/>
        </p:nvSpPr>
        <p:spPr>
          <a:xfrm>
            <a:off x="567690" y="2025455"/>
            <a:ext cx="5521551" cy="3265317"/>
          </a:xfrm>
          <a:prstGeom prst="rect">
            <a:avLst/>
          </a:prstGeom>
          <a:noFill/>
        </p:spPr>
        <p:txBody>
          <a:bodyPr wrap="square" lIns="0" tIns="0" rIns="0" bIns="0" rtlCol="0">
            <a:spAutoFit/>
          </a:bodyPr>
          <a:lstStyle/>
          <a:p>
            <a:pPr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Extend visibility from cloud infrastructure resources </a:t>
            </a:r>
            <a:b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b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into the data layer</a:t>
            </a:r>
          </a:p>
          <a:p>
            <a:pPr lvl="1"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Leverage an entirely new way to prioritize security policies and the investigation of alerts</a:t>
            </a:r>
          </a:p>
          <a:p>
            <a:pPr lvl="1"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Filter recommendations and resources by data sensitivity</a:t>
            </a:r>
          </a:p>
          <a:p>
            <a:pPr lvl="1"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Easily view the number of assets that contain sensitive information across your environment</a:t>
            </a:r>
          </a:p>
          <a:p>
            <a:pPr marL="336707" indent="-336707" defTabSz="932060">
              <a:lnSpc>
                <a:spcPct val="90000"/>
              </a:lnSpc>
              <a:spcAft>
                <a:spcPts val="2448"/>
              </a:spcAft>
              <a:buBlip>
                <a:blip r:embed="rId3"/>
              </a:buBlip>
              <a:defRPr/>
            </a:pPr>
            <a:endParaRPr lang="en-US" sz="1600" dirty="0">
              <a:ln w="3175">
                <a:noFill/>
              </a:ln>
              <a:gradFill>
                <a:gsLst>
                  <a:gs pos="83000">
                    <a:srgbClr val="000000"/>
                  </a:gs>
                  <a:gs pos="100000">
                    <a:srgbClr val="000000"/>
                  </a:gs>
                </a:gsLst>
                <a:lin ang="5400000" scaled="1"/>
              </a:gradFill>
              <a:latin typeface="Segoe UI Semibold"/>
              <a:cs typeface="Segoe UI Semilight" panose="020B0402040204020203" pitchFamily="34" charset="0"/>
            </a:endParaRPr>
          </a:p>
        </p:txBody>
      </p:sp>
      <p:sp>
        <p:nvSpPr>
          <p:cNvPr id="8" name="Freeform: Shape 7">
            <a:extLst>
              <a:ext uri="{FF2B5EF4-FFF2-40B4-BE49-F238E27FC236}">
                <a16:creationId xmlns:a16="http://schemas.microsoft.com/office/drawing/2014/main" id="{B6016CBC-DCDC-4332-9823-EA1289E3D4FD}"/>
              </a:ext>
              <a:ext uri="{C183D7F6-B498-43B3-948B-1728B52AA6E4}">
                <adec:decorative xmlns:adec="http://schemas.microsoft.com/office/drawing/2017/decorative" val="1"/>
              </a:ext>
            </a:extLst>
          </p:cNvPr>
          <p:cNvSpPr/>
          <p:nvPr/>
        </p:nvSpPr>
        <p:spPr bwMode="auto">
          <a:xfrm>
            <a:off x="8164526" y="497"/>
            <a:ext cx="4270186" cy="6993533"/>
          </a:xfrm>
          <a:custGeom>
            <a:avLst/>
            <a:gdLst>
              <a:gd name="connsiteX0" fmla="*/ 0 w 4187431"/>
              <a:gd name="connsiteY0" fmla="*/ 0 h 6858000"/>
              <a:gd name="connsiteX1" fmla="*/ 4187431 w 4187431"/>
              <a:gd name="connsiteY1" fmla="*/ 0 h 6858000"/>
              <a:gd name="connsiteX2" fmla="*/ 4187431 w 4187431"/>
              <a:gd name="connsiteY2" fmla="*/ 6858000 h 6858000"/>
              <a:gd name="connsiteX3" fmla="*/ 0 w 4187431"/>
              <a:gd name="connsiteY3" fmla="*/ 6858000 h 6858000"/>
              <a:gd name="connsiteX4" fmla="*/ 3429000 w 4187431"/>
              <a:gd name="connsiteY4" fmla="*/ 3429000 h 6858000"/>
              <a:gd name="connsiteX5" fmla="*/ 0 w 4187431"/>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87431" h="6858000">
                <a:moveTo>
                  <a:pt x="0" y="0"/>
                </a:moveTo>
                <a:lnTo>
                  <a:pt x="4187431" y="0"/>
                </a:lnTo>
                <a:lnTo>
                  <a:pt x="4187431" y="6858000"/>
                </a:lnTo>
                <a:lnTo>
                  <a:pt x="0" y="6858000"/>
                </a:lnTo>
                <a:cubicBezTo>
                  <a:pt x="1893784" y="6858000"/>
                  <a:pt x="3429000" y="5322784"/>
                  <a:pt x="3429000" y="3429000"/>
                </a:cubicBezTo>
                <a:cubicBezTo>
                  <a:pt x="3429000" y="1535216"/>
                  <a:pt x="1893784" y="0"/>
                  <a:pt x="0" y="0"/>
                </a:cubicBezTo>
                <a:close/>
              </a:path>
            </a:pathLst>
          </a:cu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defRPr/>
            </a:pPr>
            <a:endParaRPr lang="en-US" sz="204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9" name="Rectangle: Rounded Corners 8">
            <a:extLst>
              <a:ext uri="{FF2B5EF4-FFF2-40B4-BE49-F238E27FC236}">
                <a16:creationId xmlns:a16="http://schemas.microsoft.com/office/drawing/2014/main" id="{59C00E73-C559-4385-8F55-02773FF59A7C}"/>
              </a:ext>
              <a:ext uri="{C183D7F6-B498-43B3-948B-1728B52AA6E4}">
                <adec:decorative xmlns:adec="http://schemas.microsoft.com/office/drawing/2017/decorative" val="1"/>
              </a:ext>
            </a:extLst>
          </p:cNvPr>
          <p:cNvSpPr/>
          <p:nvPr/>
        </p:nvSpPr>
        <p:spPr>
          <a:xfrm>
            <a:off x="6689315" y="1529654"/>
            <a:ext cx="6352618" cy="3943766"/>
          </a:xfrm>
          <a:prstGeom prst="roundRect">
            <a:avLst>
              <a:gd name="adj" fmla="val 3742"/>
            </a:avLst>
          </a:prstGeom>
          <a:solidFill>
            <a:srgbClr val="000000"/>
          </a:solidFill>
          <a:ln w="31750">
            <a:solidFill>
              <a:srgbClr val="B6B6B6"/>
            </a:solidFill>
          </a:ln>
          <a:effectLst>
            <a:outerShdw blurRad="190500" dist="50800" dir="2700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384">
              <a:defRPr/>
            </a:pPr>
            <a:endParaRPr lang="en-US">
              <a:solidFill>
                <a:srgbClr val="FFFFFF"/>
              </a:solidFill>
              <a:latin typeface="Segoe UI"/>
            </a:endParaRPr>
          </a:p>
        </p:txBody>
      </p:sp>
      <p:grpSp>
        <p:nvGrpSpPr>
          <p:cNvPr id="7" name="Group 6" descr="Microsoft Defender for Cloud Inventory section, screenshot">
            <a:extLst>
              <a:ext uri="{FF2B5EF4-FFF2-40B4-BE49-F238E27FC236}">
                <a16:creationId xmlns:a16="http://schemas.microsoft.com/office/drawing/2014/main" id="{7B3C88BE-1921-48FF-9F3D-5445EE560269}"/>
              </a:ext>
            </a:extLst>
          </p:cNvPr>
          <p:cNvGrpSpPr/>
          <p:nvPr/>
        </p:nvGrpSpPr>
        <p:grpSpPr>
          <a:xfrm>
            <a:off x="7028345" y="1801834"/>
            <a:ext cx="5734227" cy="3383792"/>
            <a:chOff x="7028459" y="1801594"/>
            <a:chExt cx="7449541" cy="4396006"/>
          </a:xfrm>
        </p:grpSpPr>
        <p:pic>
          <p:nvPicPr>
            <p:cNvPr id="12" name="Picture 11" descr="Inventory view in Defender for Cloud with sensitive data labels highlighted">
              <a:extLst>
                <a:ext uri="{FF2B5EF4-FFF2-40B4-BE49-F238E27FC236}">
                  <a16:creationId xmlns:a16="http://schemas.microsoft.com/office/drawing/2014/main" id="{3E13CABC-8522-47C8-9463-03DF5D0A9AA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bwMode="auto">
            <a:xfrm>
              <a:off x="7028459" y="1801594"/>
              <a:ext cx="7449541" cy="4396006"/>
            </a:xfrm>
            <a:prstGeom prst="rect">
              <a:avLst/>
            </a:prstGeom>
            <a:noFill/>
            <a:ln>
              <a:solidFill>
                <a:schemeClr val="accent1"/>
              </a:solidFill>
            </a:ln>
          </p:spPr>
        </p:pic>
        <p:sp>
          <p:nvSpPr>
            <p:cNvPr id="2" name="Rectangle: Rounded Corners 1">
              <a:extLst>
                <a:ext uri="{FF2B5EF4-FFF2-40B4-BE49-F238E27FC236}">
                  <a16:creationId xmlns:a16="http://schemas.microsoft.com/office/drawing/2014/main" id="{31864D9B-D952-4E86-859E-E8B1E1252ADE}"/>
                </a:ext>
                <a:ext uri="{C183D7F6-B498-43B3-948B-1728B52AA6E4}">
                  <adec:decorative xmlns:adec="http://schemas.microsoft.com/office/drawing/2017/decorative" val="1"/>
                </a:ext>
              </a:extLst>
            </p:cNvPr>
            <p:cNvSpPr/>
            <p:nvPr/>
          </p:nvSpPr>
          <p:spPr bwMode="auto">
            <a:xfrm>
              <a:off x="9163050" y="3594100"/>
              <a:ext cx="1854200" cy="2482850"/>
            </a:xfrm>
            <a:prstGeom prst="roundRect">
              <a:avLst>
                <a:gd name="adj" fmla="val 4338"/>
              </a:avLst>
            </a:prstGeom>
            <a:noFill/>
            <a:ln w="381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defTabSz="932293" fontAlgn="base">
                <a:spcBef>
                  <a:spcPct val="0"/>
                </a:spcBef>
                <a:spcAft>
                  <a:spcPct val="0"/>
                </a:spcAft>
              </a:pPr>
              <a:endParaRPr lang="en-US" sz="2000" err="1">
                <a:solidFill>
                  <a:srgbClr val="FFFFFF"/>
                </a:solidFill>
                <a:latin typeface="Segoe UI"/>
                <a:ea typeface="Segoe UI" pitchFamily="34" charset="0"/>
                <a:cs typeface="Segoe UI" pitchFamily="34" charset="0"/>
              </a:endParaRPr>
            </a:p>
          </p:txBody>
        </p:sp>
        <p:grpSp>
          <p:nvGrpSpPr>
            <p:cNvPr id="6" name="Group 5">
              <a:extLst>
                <a:ext uri="{FF2B5EF4-FFF2-40B4-BE49-F238E27FC236}">
                  <a16:creationId xmlns:a16="http://schemas.microsoft.com/office/drawing/2014/main" id="{48FBB91C-43DA-4D50-B6FE-693EB78F617F}"/>
                </a:ext>
                <a:ext uri="{C183D7F6-B498-43B3-948B-1728B52AA6E4}">
                  <adec:decorative xmlns:adec="http://schemas.microsoft.com/office/drawing/2017/decorative" val="1"/>
                </a:ext>
              </a:extLst>
            </p:cNvPr>
            <p:cNvGrpSpPr/>
            <p:nvPr/>
          </p:nvGrpSpPr>
          <p:grpSpPr>
            <a:xfrm>
              <a:off x="11242676" y="2712244"/>
              <a:ext cx="2427287" cy="202406"/>
              <a:chOff x="11242676" y="2712244"/>
              <a:chExt cx="2427287" cy="202406"/>
            </a:xfrm>
          </p:grpSpPr>
          <p:sp>
            <p:nvSpPr>
              <p:cNvPr id="3" name="Rectangle 2">
                <a:extLst>
                  <a:ext uri="{FF2B5EF4-FFF2-40B4-BE49-F238E27FC236}">
                    <a16:creationId xmlns:a16="http://schemas.microsoft.com/office/drawing/2014/main" id="{A9E4DF85-285C-47B8-86D0-61E96C24B855}"/>
                  </a:ext>
                  <a:ext uri="{C183D7F6-B498-43B3-948B-1728B52AA6E4}">
                    <adec:decorative xmlns:adec="http://schemas.microsoft.com/office/drawing/2017/decorative" val="1"/>
                  </a:ext>
                </a:extLst>
              </p:cNvPr>
              <p:cNvSpPr/>
              <p:nvPr/>
            </p:nvSpPr>
            <p:spPr bwMode="auto">
              <a:xfrm>
                <a:off x="11244263" y="2712244"/>
                <a:ext cx="2425700" cy="61912"/>
              </a:xfrm>
              <a:prstGeom prst="rect">
                <a:avLst/>
              </a:prstGeom>
              <a:solidFill>
                <a:srgbClr val="E6F2F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defTabSz="932293" fontAlgn="base">
                  <a:spcBef>
                    <a:spcPct val="0"/>
                  </a:spcBef>
                  <a:spcAft>
                    <a:spcPct val="0"/>
                  </a:spcAft>
                </a:pPr>
                <a:endParaRPr lang="en-US" sz="2000" err="1">
                  <a:solidFill>
                    <a:srgbClr val="FFFFFF"/>
                  </a:solidFill>
                  <a:latin typeface="Segoe UI"/>
                  <a:ea typeface="Segoe UI" pitchFamily="34" charset="0"/>
                  <a:cs typeface="Segoe UI" pitchFamily="34" charset="0"/>
                </a:endParaRPr>
              </a:p>
            </p:txBody>
          </p:sp>
          <p:sp>
            <p:nvSpPr>
              <p:cNvPr id="15" name="Rectangle 14">
                <a:extLst>
                  <a:ext uri="{FF2B5EF4-FFF2-40B4-BE49-F238E27FC236}">
                    <a16:creationId xmlns:a16="http://schemas.microsoft.com/office/drawing/2014/main" id="{9EC6AAC9-CA17-4B86-A9D8-8D508E516B8E}"/>
                  </a:ext>
                  <a:ext uri="{C183D7F6-B498-43B3-948B-1728B52AA6E4}">
                    <adec:decorative xmlns:adec="http://schemas.microsoft.com/office/drawing/2017/decorative" val="1"/>
                  </a:ext>
                </a:extLst>
              </p:cNvPr>
              <p:cNvSpPr/>
              <p:nvPr/>
            </p:nvSpPr>
            <p:spPr bwMode="auto">
              <a:xfrm>
                <a:off x="11244263" y="2852738"/>
                <a:ext cx="2425700" cy="61912"/>
              </a:xfrm>
              <a:prstGeom prst="rect">
                <a:avLst/>
              </a:prstGeom>
              <a:solidFill>
                <a:srgbClr val="E6F2F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defTabSz="932293" fontAlgn="base">
                  <a:spcBef>
                    <a:spcPct val="0"/>
                  </a:spcBef>
                  <a:spcAft>
                    <a:spcPct val="0"/>
                  </a:spcAft>
                </a:pPr>
                <a:endParaRPr lang="en-US" sz="2000" err="1">
                  <a:solidFill>
                    <a:srgbClr val="FFFFFF"/>
                  </a:solidFill>
                  <a:latin typeface="Segoe UI"/>
                  <a:ea typeface="Segoe UI" pitchFamily="34" charset="0"/>
                  <a:cs typeface="Segoe UI" pitchFamily="34" charset="0"/>
                </a:endParaRPr>
              </a:p>
            </p:txBody>
          </p:sp>
          <p:sp>
            <p:nvSpPr>
              <p:cNvPr id="5" name="Rectangle 4">
                <a:extLst>
                  <a:ext uri="{FF2B5EF4-FFF2-40B4-BE49-F238E27FC236}">
                    <a16:creationId xmlns:a16="http://schemas.microsoft.com/office/drawing/2014/main" id="{132631CC-2496-457D-86DD-428F34F7C116}"/>
                  </a:ext>
                </a:extLst>
              </p:cNvPr>
              <p:cNvSpPr/>
              <p:nvPr/>
            </p:nvSpPr>
            <p:spPr bwMode="auto">
              <a:xfrm>
                <a:off x="11242676" y="2722194"/>
                <a:ext cx="76199" cy="192456"/>
              </a:xfrm>
              <a:prstGeom prst="rect">
                <a:avLst/>
              </a:prstGeom>
              <a:solidFill>
                <a:srgbClr val="E6F2F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defTabSz="932293" fontAlgn="base">
                  <a:spcBef>
                    <a:spcPct val="0"/>
                  </a:spcBef>
                  <a:spcAft>
                    <a:spcPct val="0"/>
                  </a:spcAft>
                </a:pPr>
                <a:endParaRPr lang="en-US" sz="2000" err="1">
                  <a:solidFill>
                    <a:srgbClr val="FFFFFF"/>
                  </a:solidFill>
                  <a:latin typeface="Segoe UI"/>
                  <a:ea typeface="Segoe UI" pitchFamily="34" charset="0"/>
                  <a:cs typeface="Segoe UI" pitchFamily="34" charset="0"/>
                </a:endParaRPr>
              </a:p>
            </p:txBody>
          </p:sp>
        </p:grpSp>
        <p:sp>
          <p:nvSpPr>
            <p:cNvPr id="14" name="Rectangle: Rounded Corners 13">
              <a:extLst>
                <a:ext uri="{FF2B5EF4-FFF2-40B4-BE49-F238E27FC236}">
                  <a16:creationId xmlns:a16="http://schemas.microsoft.com/office/drawing/2014/main" id="{4988B36B-C3A2-4436-8228-8D7551C7D582}"/>
                </a:ext>
                <a:ext uri="{C183D7F6-B498-43B3-948B-1728B52AA6E4}">
                  <adec:decorative xmlns:adec="http://schemas.microsoft.com/office/drawing/2017/decorative" val="1"/>
                </a:ext>
              </a:extLst>
            </p:cNvPr>
            <p:cNvSpPr/>
            <p:nvPr/>
          </p:nvSpPr>
          <p:spPr bwMode="auto">
            <a:xfrm>
              <a:off x="11245850" y="2722194"/>
              <a:ext cx="2425700" cy="192456"/>
            </a:xfrm>
            <a:prstGeom prst="roundRect">
              <a:avLst>
                <a:gd name="adj" fmla="val 4338"/>
              </a:avLst>
            </a:prstGeom>
            <a:noFill/>
            <a:ln w="381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defTabSz="932293" fontAlgn="base">
                <a:spcBef>
                  <a:spcPct val="0"/>
                </a:spcBef>
                <a:spcAft>
                  <a:spcPct val="0"/>
                </a:spcAft>
              </a:pPr>
              <a:endParaRPr lang="en-US" sz="2000" err="1">
                <a:solidFill>
                  <a:srgbClr val="FFFFFF"/>
                </a:solidFill>
                <a:latin typeface="Segoe UI"/>
                <a:ea typeface="Segoe UI" pitchFamily="34" charset="0"/>
                <a:cs typeface="Segoe UI" pitchFamily="34" charset="0"/>
              </a:endParaRPr>
            </a:p>
          </p:txBody>
        </p:sp>
      </p:grpSp>
      <p:pic>
        <p:nvPicPr>
          <p:cNvPr id="11" name="Graphic 10">
            <a:extLst>
              <a:ext uri="{FF2B5EF4-FFF2-40B4-BE49-F238E27FC236}">
                <a16:creationId xmlns:a16="http://schemas.microsoft.com/office/drawing/2014/main" id="{CD558FEF-0076-3A4F-1D1E-DFA28410F3D6}"/>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592864" y="2768023"/>
            <a:ext cx="224853" cy="248523"/>
          </a:xfrm>
          <a:prstGeom prst="rect">
            <a:avLst/>
          </a:prstGeom>
        </p:spPr>
      </p:pic>
      <p:pic>
        <p:nvPicPr>
          <p:cNvPr id="20" name="Graphic 19">
            <a:extLst>
              <a:ext uri="{FF2B5EF4-FFF2-40B4-BE49-F238E27FC236}">
                <a16:creationId xmlns:a16="http://schemas.microsoft.com/office/drawing/2014/main" id="{B75D89B5-D3BB-31E4-88F3-B6C220B17C0B}"/>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603504" y="3474648"/>
            <a:ext cx="224853" cy="248523"/>
          </a:xfrm>
          <a:prstGeom prst="rect">
            <a:avLst/>
          </a:prstGeom>
        </p:spPr>
      </p:pic>
      <p:pic>
        <p:nvPicPr>
          <p:cNvPr id="22" name="Graphic 21">
            <a:extLst>
              <a:ext uri="{FF2B5EF4-FFF2-40B4-BE49-F238E27FC236}">
                <a16:creationId xmlns:a16="http://schemas.microsoft.com/office/drawing/2014/main" id="{9ACBF82F-7AA1-456E-8747-BABEE7238191}"/>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a:off x="609852" y="4232546"/>
            <a:ext cx="224853" cy="248523"/>
          </a:xfrm>
          <a:prstGeom prst="rect">
            <a:avLst/>
          </a:prstGeom>
        </p:spPr>
      </p:pic>
    </p:spTree>
    <p:extLst>
      <p:ext uri="{BB962C8B-B14F-4D97-AF65-F5344CB8AC3E}">
        <p14:creationId xmlns:p14="http://schemas.microsoft.com/office/powerpoint/2010/main" val="3550446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42" presetClass="path" presetSubtype="0" decel="100000" fill="hold" grpId="1" nodeType="withEffect">
                                  <p:stCondLst>
                                    <p:cond delay="0"/>
                                  </p:stCondLst>
                                  <p:childTnLst>
                                    <p:animMotion origin="layout" path="M 6.53561E-7 -3.28643E-6 L -0.0134 -3.28643E-6 " pathEditMode="relative" rAng="0" ptsTypes="AA">
                                      <p:cBhvr>
                                        <p:cTn id="9" dur="500" spd="-100000" fill="hold"/>
                                        <p:tgtEl>
                                          <p:spTgt spid="13"/>
                                        </p:tgtEl>
                                        <p:attrNameLst>
                                          <p:attrName>ppt_x</p:attrName>
                                          <p:attrName>ppt_y</p:attrName>
                                        </p:attrNameLst>
                                      </p:cBhvr>
                                      <p:rCtr x="-677" y="0"/>
                                    </p:animMotion>
                                  </p:childTnLst>
                                </p:cTn>
                              </p:par>
                              <p:par>
                                <p:cTn id="10" presetID="10"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42" presetClass="path" presetSubtype="0" decel="100000" fill="hold" grpId="1" nodeType="withEffect">
                                  <p:stCondLst>
                                    <p:cond delay="0"/>
                                  </p:stCondLst>
                                  <p:childTnLst>
                                    <p:animMotion origin="layout" path="M 9.11412E-7 -8.89696E-7 L 0.02272 -0.00068 " pathEditMode="relative" rAng="0" ptsTypes="AA">
                                      <p:cBhvr>
                                        <p:cTn id="14" dur="500" spd="-100000" fill="hold"/>
                                        <p:tgtEl>
                                          <p:spTgt spid="9"/>
                                        </p:tgtEl>
                                        <p:attrNameLst>
                                          <p:attrName>ppt_x</p:attrName>
                                          <p:attrName>ppt_y</p:attrName>
                                        </p:attrNameLst>
                                      </p:cBhvr>
                                      <p:rCtr x="1136" y="-45"/>
                                    </p:animMotion>
                                  </p:childTnLst>
                                </p:cTn>
                              </p:par>
                              <p:par>
                                <p:cTn id="15" presetID="10"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42" presetClass="path" presetSubtype="0" decel="100000" fill="hold" nodeType="withEffect">
                                  <p:stCondLst>
                                    <p:cond delay="0"/>
                                  </p:stCondLst>
                                  <p:childTnLst>
                                    <p:animMotion origin="layout" path="M 3.2627E-6 -3.92646E-6 L 0.02272 -0.00068 " pathEditMode="relative" rAng="0" ptsTypes="AA">
                                      <p:cBhvr>
                                        <p:cTn id="19" dur="500" spd="-100000" fill="hold"/>
                                        <p:tgtEl>
                                          <p:spTgt spid="7"/>
                                        </p:tgtEl>
                                        <p:attrNameLst>
                                          <p:attrName>ppt_x</p:attrName>
                                          <p:attrName>ppt_y</p:attrName>
                                        </p:attrNameLst>
                                      </p:cBhvr>
                                      <p:rCtr x="1136" y="-45"/>
                                    </p:animMotion>
                                  </p:childTnLst>
                                </p:cTn>
                              </p:par>
                              <p:par>
                                <p:cTn id="20" presetID="10" presetClass="entr" presetSubtype="0" fill="hold" nodeType="withEffect">
                                  <p:stCondLst>
                                    <p:cond delay="25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25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nodeType="withEffect">
                                  <p:stCondLst>
                                    <p:cond delay="25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9" grpId="0" animBg="1"/>
      <p:bldP spid="9"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ED0468C-4EB1-4BF4-B77F-8A0B9245D8D7}"/>
              </a:ext>
            </a:extLst>
          </p:cNvPr>
          <p:cNvSpPr>
            <a:spLocks noGrp="1"/>
          </p:cNvSpPr>
          <p:nvPr>
            <p:ph type="title"/>
          </p:nvPr>
        </p:nvSpPr>
        <p:spPr>
          <a:xfrm>
            <a:off x="550123" y="2960564"/>
            <a:ext cx="5250601" cy="997196"/>
          </a:xfrm>
        </p:spPr>
        <p:txBody>
          <a:bodyPr/>
          <a:lstStyle/>
          <a:p>
            <a:r>
              <a:rPr lang="en-US" sz="3600" dirty="0"/>
              <a:t>Detect threats and protect your workloads</a:t>
            </a:r>
          </a:p>
        </p:txBody>
      </p:sp>
    </p:spTree>
    <p:extLst>
      <p:ext uri="{BB962C8B-B14F-4D97-AF65-F5344CB8AC3E}">
        <p14:creationId xmlns:p14="http://schemas.microsoft.com/office/powerpoint/2010/main" val="4133638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path" presetSubtype="0" decel="100000" fill="hold" grpId="1" nodeType="withEffect">
                                  <p:stCondLst>
                                    <p:cond delay="150"/>
                                  </p:stCondLst>
                                  <p:childTnLst>
                                    <p:animMotion origin="layout" path="M 2.5785E-6 -2.88243E-6 L -0.01341 -2.88243E-6 " pathEditMode="relative" rAng="0" ptsTypes="AA">
                                      <p:cBhvr>
                                        <p:cTn id="9" dur="500" spd="-100000" fill="hold"/>
                                        <p:tgtEl>
                                          <p:spTgt spid="3"/>
                                        </p:tgtEl>
                                        <p:attrNameLst>
                                          <p:attrName>ppt_x</p:attrName>
                                          <p:attrName>ppt_y</p:attrName>
                                        </p:attrNameLst>
                                      </p:cBhvr>
                                      <p:rCtr x="-67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43705" y="466732"/>
            <a:ext cx="11237870" cy="1107996"/>
          </a:xfrm>
        </p:spPr>
        <p:txBody>
          <a:bodyPr/>
          <a:lstStyle/>
          <a:p>
            <a:r>
              <a:rPr lang="en-US" sz="3600" dirty="0"/>
              <a:t>Protect your workloads in the cloud </a:t>
            </a:r>
            <a:br>
              <a:rPr lang="en-US" sz="3600" dirty="0"/>
            </a:br>
            <a:r>
              <a:rPr lang="en-US" sz="3600" dirty="0"/>
              <a:t>and on-premises</a:t>
            </a:r>
          </a:p>
        </p:txBody>
      </p:sp>
      <p:sp>
        <p:nvSpPr>
          <p:cNvPr id="7" name="Freeform: Shape 6">
            <a:extLst>
              <a:ext uri="{FF2B5EF4-FFF2-40B4-BE49-F238E27FC236}">
                <a16:creationId xmlns:a16="http://schemas.microsoft.com/office/drawing/2014/main" id="{009707BF-26B0-481D-AD25-A8B3275E46B2}"/>
              </a:ext>
              <a:ext uri="{C183D7F6-B498-43B3-948B-1728B52AA6E4}">
                <adec:decorative xmlns:adec="http://schemas.microsoft.com/office/drawing/2017/decorative" val="1"/>
              </a:ext>
            </a:extLst>
          </p:cNvPr>
          <p:cNvSpPr/>
          <p:nvPr/>
        </p:nvSpPr>
        <p:spPr bwMode="auto">
          <a:xfrm>
            <a:off x="8164526" y="497"/>
            <a:ext cx="4270186" cy="6993533"/>
          </a:xfrm>
          <a:custGeom>
            <a:avLst/>
            <a:gdLst>
              <a:gd name="connsiteX0" fmla="*/ 0 w 4187431"/>
              <a:gd name="connsiteY0" fmla="*/ 0 h 6858000"/>
              <a:gd name="connsiteX1" fmla="*/ 4187431 w 4187431"/>
              <a:gd name="connsiteY1" fmla="*/ 0 h 6858000"/>
              <a:gd name="connsiteX2" fmla="*/ 4187431 w 4187431"/>
              <a:gd name="connsiteY2" fmla="*/ 6858000 h 6858000"/>
              <a:gd name="connsiteX3" fmla="*/ 0 w 4187431"/>
              <a:gd name="connsiteY3" fmla="*/ 6858000 h 6858000"/>
              <a:gd name="connsiteX4" fmla="*/ 3429000 w 4187431"/>
              <a:gd name="connsiteY4" fmla="*/ 3429000 h 6858000"/>
              <a:gd name="connsiteX5" fmla="*/ 0 w 4187431"/>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87431" h="6858000">
                <a:moveTo>
                  <a:pt x="0" y="0"/>
                </a:moveTo>
                <a:lnTo>
                  <a:pt x="4187431" y="0"/>
                </a:lnTo>
                <a:lnTo>
                  <a:pt x="4187431" y="6858000"/>
                </a:lnTo>
                <a:lnTo>
                  <a:pt x="0" y="6858000"/>
                </a:lnTo>
                <a:cubicBezTo>
                  <a:pt x="1893784" y="6858000"/>
                  <a:pt x="3429000" y="5322784"/>
                  <a:pt x="3429000" y="3429000"/>
                </a:cubicBezTo>
                <a:cubicBezTo>
                  <a:pt x="3429000" y="1535216"/>
                  <a:pt x="1893784" y="0"/>
                  <a:pt x="0" y="0"/>
                </a:cubicBezTo>
                <a:close/>
              </a:path>
            </a:pathLst>
          </a:cu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defRPr/>
            </a:pPr>
            <a:endParaRPr lang="en-US" sz="204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 name="Rectangle: Rounded Corners 7">
            <a:extLst>
              <a:ext uri="{FF2B5EF4-FFF2-40B4-BE49-F238E27FC236}">
                <a16:creationId xmlns:a16="http://schemas.microsoft.com/office/drawing/2014/main" id="{43E4CF17-23C0-49D1-945C-88C363E6C489}"/>
              </a:ext>
              <a:ext uri="{C183D7F6-B498-43B3-948B-1728B52AA6E4}">
                <adec:decorative xmlns:adec="http://schemas.microsoft.com/office/drawing/2017/decorative" val="1"/>
              </a:ext>
            </a:extLst>
          </p:cNvPr>
          <p:cNvSpPr/>
          <p:nvPr/>
        </p:nvSpPr>
        <p:spPr>
          <a:xfrm>
            <a:off x="6689316" y="1529655"/>
            <a:ext cx="8101929" cy="4966707"/>
          </a:xfrm>
          <a:prstGeom prst="roundRect">
            <a:avLst>
              <a:gd name="adj" fmla="val 3742"/>
            </a:avLst>
          </a:prstGeom>
          <a:solidFill>
            <a:srgbClr val="000000"/>
          </a:solidFill>
          <a:ln w="31750">
            <a:solidFill>
              <a:srgbClr val="B6B6B6"/>
            </a:solidFill>
          </a:ln>
          <a:effectLst>
            <a:outerShdw blurRad="190500" dist="50800" dir="2700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384">
              <a:defRPr/>
            </a:pPr>
            <a:endParaRPr lang="en-US">
              <a:solidFill>
                <a:srgbClr val="FFFFFF"/>
              </a:solidFill>
              <a:latin typeface="Segoe UI"/>
            </a:endParaRPr>
          </a:p>
        </p:txBody>
      </p:sp>
      <p:sp>
        <p:nvSpPr>
          <p:cNvPr id="9" name="TextBox 8">
            <a:extLst>
              <a:ext uri="{FF2B5EF4-FFF2-40B4-BE49-F238E27FC236}">
                <a16:creationId xmlns:a16="http://schemas.microsoft.com/office/drawing/2014/main" id="{4EBBE67C-A586-47CF-9833-371C7159DFFB}"/>
              </a:ext>
            </a:extLst>
          </p:cNvPr>
          <p:cNvSpPr txBox="1"/>
          <p:nvPr/>
        </p:nvSpPr>
        <p:spPr>
          <a:xfrm>
            <a:off x="566928" y="2025456"/>
            <a:ext cx="5521551" cy="2957541"/>
          </a:xfrm>
          <a:prstGeom prst="rect">
            <a:avLst/>
          </a:prstGeom>
          <a:noFill/>
        </p:spPr>
        <p:txBody>
          <a:bodyPr wrap="square" lIns="0" tIns="0" rIns="0" bIns="0" rtlCol="0">
            <a:spAutoFit/>
          </a:bodyPr>
          <a:lstStyle/>
          <a:p>
            <a:pPr lvl="1"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Use detections that are built for the unique attack vectors of each resource type, built on the powerful insights of Microsoft Threat Intelligence</a:t>
            </a:r>
          </a:p>
          <a:p>
            <a:pPr lvl="1"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Reduce your attack surface by continuously scanning workloads to identify and manage vulnerabilities </a:t>
            </a:r>
          </a:p>
          <a:p>
            <a:pPr lvl="1"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Automatically protect new workloads as soon as they are deployed </a:t>
            </a:r>
          </a:p>
          <a:p>
            <a:pPr lvl="1"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Integrate with your SIEM for easy management of incidents </a:t>
            </a:r>
          </a:p>
        </p:txBody>
      </p:sp>
      <p:pic>
        <p:nvPicPr>
          <p:cNvPr id="4" name="Picture 3" descr="Screenshot Microsoft Defender for Cloud Workload protections">
            <a:extLst>
              <a:ext uri="{FF2B5EF4-FFF2-40B4-BE49-F238E27FC236}">
                <a16:creationId xmlns:a16="http://schemas.microsoft.com/office/drawing/2014/main" id="{0157C9B3-E299-45A4-B375-893D6AB1E61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919491" y="1703132"/>
            <a:ext cx="7564594" cy="4552134"/>
          </a:xfrm>
          <a:prstGeom prst="rect">
            <a:avLst/>
          </a:prstGeom>
        </p:spPr>
      </p:pic>
      <p:pic>
        <p:nvPicPr>
          <p:cNvPr id="2" name="Graphic 1">
            <a:extLst>
              <a:ext uri="{FF2B5EF4-FFF2-40B4-BE49-F238E27FC236}">
                <a16:creationId xmlns:a16="http://schemas.microsoft.com/office/drawing/2014/main" id="{4488F8DE-A105-F09B-B035-C8409606AA0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587749" y="2003821"/>
            <a:ext cx="224853" cy="248523"/>
          </a:xfrm>
          <a:prstGeom prst="rect">
            <a:avLst/>
          </a:prstGeom>
        </p:spPr>
      </p:pic>
      <p:pic>
        <p:nvPicPr>
          <p:cNvPr id="3" name="Graphic 2">
            <a:extLst>
              <a:ext uri="{FF2B5EF4-FFF2-40B4-BE49-F238E27FC236}">
                <a16:creationId xmlns:a16="http://schemas.microsoft.com/office/drawing/2014/main" id="{06B5E717-FA77-95E9-6E4A-6AB8853E30E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587749" y="2983410"/>
            <a:ext cx="224853" cy="248523"/>
          </a:xfrm>
          <a:prstGeom prst="rect">
            <a:avLst/>
          </a:prstGeom>
        </p:spPr>
      </p:pic>
      <p:pic>
        <p:nvPicPr>
          <p:cNvPr id="5" name="Graphic 4">
            <a:extLst>
              <a:ext uri="{FF2B5EF4-FFF2-40B4-BE49-F238E27FC236}">
                <a16:creationId xmlns:a16="http://schemas.microsoft.com/office/drawing/2014/main" id="{DB59B55A-2FD0-2E35-7C27-69C02041AB8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583072" y="3730295"/>
            <a:ext cx="224853" cy="248523"/>
          </a:xfrm>
          <a:prstGeom prst="rect">
            <a:avLst/>
          </a:prstGeom>
        </p:spPr>
      </p:pic>
      <p:pic>
        <p:nvPicPr>
          <p:cNvPr id="6" name="Graphic 5">
            <a:extLst>
              <a:ext uri="{FF2B5EF4-FFF2-40B4-BE49-F238E27FC236}">
                <a16:creationId xmlns:a16="http://schemas.microsoft.com/office/drawing/2014/main" id="{1BB46BB5-8A88-FC79-4FCC-C98F1644CCAC}"/>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587748" y="4453076"/>
            <a:ext cx="224853" cy="248523"/>
          </a:xfrm>
          <a:prstGeom prst="rect">
            <a:avLst/>
          </a:prstGeom>
        </p:spPr>
      </p:pic>
    </p:spTree>
    <p:extLst>
      <p:ext uri="{BB962C8B-B14F-4D97-AF65-F5344CB8AC3E}">
        <p14:creationId xmlns:p14="http://schemas.microsoft.com/office/powerpoint/2010/main" val="30438081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42" presetClass="path" presetSubtype="0" decel="100000" fill="hold" grpId="1" nodeType="withEffect">
                                  <p:stCondLst>
                                    <p:cond delay="0"/>
                                  </p:stCondLst>
                                  <p:childTnLst>
                                    <p:animMotion origin="layout" path="M -1.69773E-6 2.14707E-6 L -0.0134 2.14707E-6 " pathEditMode="relative" rAng="0" ptsTypes="AA">
                                      <p:cBhvr>
                                        <p:cTn id="9" dur="500" spd="-100000" fill="hold"/>
                                        <p:tgtEl>
                                          <p:spTgt spid="9"/>
                                        </p:tgtEl>
                                        <p:attrNameLst>
                                          <p:attrName>ppt_x</p:attrName>
                                          <p:attrName>ppt_y</p:attrName>
                                        </p:attrNameLst>
                                      </p:cBhvr>
                                      <p:rCtr x="-677" y="0"/>
                                    </p:animMotion>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42" presetClass="path" presetSubtype="0" decel="100000" fill="hold" grpId="1" nodeType="withEffect">
                                  <p:stCondLst>
                                    <p:cond delay="0"/>
                                  </p:stCondLst>
                                  <p:childTnLst>
                                    <p:animMotion origin="layout" path="M 3.2627E-6 -3.92646E-6 L 0.02272 -0.00068 " pathEditMode="relative" rAng="0" ptsTypes="AA">
                                      <p:cBhvr>
                                        <p:cTn id="14" dur="500" spd="-100000" fill="hold"/>
                                        <p:tgtEl>
                                          <p:spTgt spid="8"/>
                                        </p:tgtEl>
                                        <p:attrNameLst>
                                          <p:attrName>ppt_x</p:attrName>
                                          <p:attrName>ppt_y</p:attrName>
                                        </p:attrNameLst>
                                      </p:cBhvr>
                                      <p:rCtr x="1136" y="-45"/>
                                    </p:animMotion>
                                  </p:childTnLst>
                                </p:cTn>
                              </p:par>
                              <p:par>
                                <p:cTn id="15" presetID="10"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42" presetClass="path" presetSubtype="0" decel="100000" fill="hold" nodeType="withEffect">
                                  <p:stCondLst>
                                    <p:cond delay="0"/>
                                  </p:stCondLst>
                                  <p:childTnLst>
                                    <p:animMotion origin="layout" path="M 3.2627E-6 -3.92646E-6 L 0.02272 -0.00068 " pathEditMode="relative" rAng="0" ptsTypes="AA">
                                      <p:cBhvr>
                                        <p:cTn id="19" dur="500" spd="-100000" fill="hold"/>
                                        <p:tgtEl>
                                          <p:spTgt spid="4"/>
                                        </p:tgtEl>
                                        <p:attrNameLst>
                                          <p:attrName>ppt_x</p:attrName>
                                          <p:attrName>ppt_y</p:attrName>
                                        </p:attrNameLst>
                                      </p:cBhvr>
                                      <p:rCtr x="1136" y="-45"/>
                                    </p:animMotion>
                                  </p:childTnLst>
                                </p:cTn>
                              </p:par>
                              <p:par>
                                <p:cTn id="20" presetID="10" presetClass="entr" presetSubtype="0" fill="hold" nodeType="withEffect">
                                  <p:stCondLst>
                                    <p:cond delay="25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par>
                                <p:cTn id="23" presetID="10" presetClass="entr" presetSubtype="0" fill="hold" nodeType="withEffect">
                                  <p:stCondLst>
                                    <p:cond delay="25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par>
                                <p:cTn id="26" presetID="10" presetClass="entr" presetSubtype="0" fill="hold" nodeType="withEffect">
                                  <p:stCondLst>
                                    <p:cond delay="25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nodeType="withEffect">
                                  <p:stCondLst>
                                    <p:cond delay="25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p:bldP spid="9"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63552" y="467163"/>
            <a:ext cx="11236276" cy="553998"/>
          </a:xfrm>
        </p:spPr>
        <p:txBody>
          <a:bodyPr/>
          <a:lstStyle/>
          <a:p>
            <a:r>
              <a:rPr lang="en-US" sz="3600" dirty="0"/>
              <a:t>Security alerts and incidents</a:t>
            </a:r>
          </a:p>
        </p:txBody>
      </p:sp>
      <p:sp>
        <p:nvSpPr>
          <p:cNvPr id="7" name="Freeform: Shape 6">
            <a:extLst>
              <a:ext uri="{FF2B5EF4-FFF2-40B4-BE49-F238E27FC236}">
                <a16:creationId xmlns:a16="http://schemas.microsoft.com/office/drawing/2014/main" id="{009707BF-26B0-481D-AD25-A8B3275E46B2}"/>
              </a:ext>
              <a:ext uri="{C183D7F6-B498-43B3-948B-1728B52AA6E4}">
                <adec:decorative xmlns:adec="http://schemas.microsoft.com/office/drawing/2017/decorative" val="1"/>
              </a:ext>
            </a:extLst>
          </p:cNvPr>
          <p:cNvSpPr/>
          <p:nvPr/>
        </p:nvSpPr>
        <p:spPr bwMode="auto">
          <a:xfrm>
            <a:off x="8164251" y="994"/>
            <a:ext cx="4269580" cy="6992541"/>
          </a:xfrm>
          <a:custGeom>
            <a:avLst/>
            <a:gdLst>
              <a:gd name="connsiteX0" fmla="*/ 0 w 4187431"/>
              <a:gd name="connsiteY0" fmla="*/ 0 h 6858000"/>
              <a:gd name="connsiteX1" fmla="*/ 4187431 w 4187431"/>
              <a:gd name="connsiteY1" fmla="*/ 0 h 6858000"/>
              <a:gd name="connsiteX2" fmla="*/ 4187431 w 4187431"/>
              <a:gd name="connsiteY2" fmla="*/ 6858000 h 6858000"/>
              <a:gd name="connsiteX3" fmla="*/ 0 w 4187431"/>
              <a:gd name="connsiteY3" fmla="*/ 6858000 h 6858000"/>
              <a:gd name="connsiteX4" fmla="*/ 3429000 w 4187431"/>
              <a:gd name="connsiteY4" fmla="*/ 3429000 h 6858000"/>
              <a:gd name="connsiteX5" fmla="*/ 0 w 4187431"/>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87431" h="6858000">
                <a:moveTo>
                  <a:pt x="0" y="0"/>
                </a:moveTo>
                <a:lnTo>
                  <a:pt x="4187431" y="0"/>
                </a:lnTo>
                <a:lnTo>
                  <a:pt x="4187431" y="6858000"/>
                </a:lnTo>
                <a:lnTo>
                  <a:pt x="0" y="6858000"/>
                </a:lnTo>
                <a:cubicBezTo>
                  <a:pt x="1893784" y="6858000"/>
                  <a:pt x="3429000" y="5322784"/>
                  <a:pt x="3429000" y="3429000"/>
                </a:cubicBezTo>
                <a:cubicBezTo>
                  <a:pt x="3429000" y="1535216"/>
                  <a:pt x="1893784" y="0"/>
                  <a:pt x="0" y="0"/>
                </a:cubicBezTo>
                <a:close/>
              </a:path>
            </a:pathLst>
          </a:cu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68" tIns="149175" rIns="186468" bIns="149175" numCol="1" spcCol="0" rtlCol="0" fromWordArt="0" anchor="t" anchorCtr="0" forceAA="0" compatLnSpc="1">
            <a:prstTxWarp prst="textNoShape">
              <a:avLst/>
            </a:prstTxWarp>
            <a:noAutofit/>
          </a:bodyPr>
          <a:lstStyle/>
          <a:p>
            <a:pPr defTabSz="950663" fontAlgn="base">
              <a:spcBef>
                <a:spcPct val="0"/>
              </a:spcBef>
              <a:spcAft>
                <a:spcPct val="0"/>
              </a:spcAft>
              <a:defRPr/>
            </a:pPr>
            <a:endParaRPr lang="en-US" sz="204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9" name="TextBox 8">
            <a:extLst>
              <a:ext uri="{FF2B5EF4-FFF2-40B4-BE49-F238E27FC236}">
                <a16:creationId xmlns:a16="http://schemas.microsoft.com/office/drawing/2014/main" id="{4EBBE67C-A586-47CF-9833-371C7159DFFB}"/>
              </a:ext>
            </a:extLst>
          </p:cNvPr>
          <p:cNvSpPr txBox="1"/>
          <p:nvPr/>
        </p:nvSpPr>
        <p:spPr>
          <a:xfrm>
            <a:off x="566928" y="2016245"/>
            <a:ext cx="5401947" cy="2241469"/>
          </a:xfrm>
          <a:prstGeom prst="rect">
            <a:avLst/>
          </a:prstGeom>
          <a:noFill/>
        </p:spPr>
        <p:txBody>
          <a:bodyPr wrap="square" lIns="0" tIns="0" rIns="0" bIns="0" rtlCol="0">
            <a:spAutoFit/>
          </a:bodyPr>
          <a:lstStyle/>
          <a:p>
            <a:pPr lvl="1" defTabSz="931881">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Use prioritized alerts when threats are detected on your resources. </a:t>
            </a:r>
          </a:p>
          <a:p>
            <a:pPr lvl="1" defTabSz="931881">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Investigate effectively with smart alert correlation that combines different alerts and low fidelity signals into security incidents.</a:t>
            </a:r>
          </a:p>
          <a:p>
            <a:pPr lvl="1" defTabSz="931881">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Manage incidents with a central view of attack campaigns and related alerts.</a:t>
            </a:r>
          </a:p>
        </p:txBody>
      </p:sp>
      <p:grpSp>
        <p:nvGrpSpPr>
          <p:cNvPr id="6" name="Group 5" descr="Image of Microsoft Azure - Security alert page">
            <a:extLst>
              <a:ext uri="{FF2B5EF4-FFF2-40B4-BE49-F238E27FC236}">
                <a16:creationId xmlns:a16="http://schemas.microsoft.com/office/drawing/2014/main" id="{ECCDC0B4-11D9-E4E6-4EDD-96B18802F05C}"/>
              </a:ext>
            </a:extLst>
          </p:cNvPr>
          <p:cNvGrpSpPr/>
          <p:nvPr/>
        </p:nvGrpSpPr>
        <p:grpSpPr>
          <a:xfrm>
            <a:off x="6689250" y="1529934"/>
            <a:ext cx="8100780" cy="4966003"/>
            <a:chOff x="6689250" y="1529934"/>
            <a:chExt cx="8100780" cy="4966003"/>
          </a:xfrm>
        </p:grpSpPr>
        <p:sp>
          <p:nvSpPr>
            <p:cNvPr id="8" name="Rectangle: Rounded Corners 7">
              <a:extLst>
                <a:ext uri="{FF2B5EF4-FFF2-40B4-BE49-F238E27FC236}">
                  <a16:creationId xmlns:a16="http://schemas.microsoft.com/office/drawing/2014/main" id="{43E4CF17-23C0-49D1-945C-88C363E6C489}"/>
                </a:ext>
                <a:ext uri="{C183D7F6-B498-43B3-948B-1728B52AA6E4}">
                  <adec:decorative xmlns:adec="http://schemas.microsoft.com/office/drawing/2017/decorative" val="1"/>
                </a:ext>
              </a:extLst>
            </p:cNvPr>
            <p:cNvSpPr/>
            <p:nvPr/>
          </p:nvSpPr>
          <p:spPr>
            <a:xfrm>
              <a:off x="6689250" y="1529934"/>
              <a:ext cx="8100780" cy="4966003"/>
            </a:xfrm>
            <a:prstGeom prst="roundRect">
              <a:avLst>
                <a:gd name="adj" fmla="val 3742"/>
              </a:avLst>
            </a:prstGeom>
            <a:solidFill>
              <a:srgbClr val="000000"/>
            </a:solidFill>
            <a:ln w="31750">
              <a:solidFill>
                <a:srgbClr val="B6B6B6"/>
              </a:solidFill>
            </a:ln>
            <a:effectLst>
              <a:outerShdw blurRad="190500" dist="50800" dir="2700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32205">
                <a:defRPr/>
              </a:pPr>
              <a:endParaRPr lang="en-US">
                <a:solidFill>
                  <a:srgbClr val="FFFFFF"/>
                </a:solidFill>
                <a:latin typeface="Segoe UI"/>
              </a:endParaRPr>
            </a:p>
          </p:txBody>
        </p:sp>
        <p:pic>
          <p:nvPicPr>
            <p:cNvPr id="3" name="Picture 2">
              <a:extLst>
                <a:ext uri="{FF2B5EF4-FFF2-40B4-BE49-F238E27FC236}">
                  <a16:creationId xmlns:a16="http://schemas.microsoft.com/office/drawing/2014/main" id="{E106E973-05ED-4834-8340-100C07971B9D}"/>
                </a:ext>
                <a:ext uri="{C183D7F6-B498-43B3-948B-1728B52AA6E4}">
                  <adec:decorative xmlns:adec="http://schemas.microsoft.com/office/drawing/2017/decorative" val="1"/>
                </a:ext>
              </a:extLst>
            </p:cNvPr>
            <p:cNvPicPr>
              <a:picLocks noChangeAspect="1"/>
            </p:cNvPicPr>
            <p:nvPr/>
          </p:nvPicPr>
          <p:blipFill rotWithShape="1">
            <a:blip r:embed="rId3"/>
            <a:srcRect r="16584" b="15607"/>
            <a:stretch/>
          </p:blipFill>
          <p:spPr>
            <a:xfrm>
              <a:off x="6913742" y="1733832"/>
              <a:ext cx="7715465" cy="4570680"/>
            </a:xfrm>
            <a:prstGeom prst="rect">
              <a:avLst/>
            </a:prstGeom>
          </p:spPr>
        </p:pic>
      </p:grpSp>
      <p:pic>
        <p:nvPicPr>
          <p:cNvPr id="2" name="Graphic 1">
            <a:extLst>
              <a:ext uri="{FF2B5EF4-FFF2-40B4-BE49-F238E27FC236}">
                <a16:creationId xmlns:a16="http://schemas.microsoft.com/office/drawing/2014/main" id="{7F5969DB-F763-BB8D-B411-4A010D208D5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606799" y="2011958"/>
            <a:ext cx="224853" cy="248523"/>
          </a:xfrm>
          <a:prstGeom prst="rect">
            <a:avLst/>
          </a:prstGeom>
        </p:spPr>
      </p:pic>
      <p:pic>
        <p:nvPicPr>
          <p:cNvPr id="4" name="Graphic 3">
            <a:extLst>
              <a:ext uri="{FF2B5EF4-FFF2-40B4-BE49-F238E27FC236}">
                <a16:creationId xmlns:a16="http://schemas.microsoft.com/office/drawing/2014/main" id="{67020346-9E10-ABDF-3A36-22F57285C97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606798" y="2753473"/>
            <a:ext cx="224853" cy="248523"/>
          </a:xfrm>
          <a:prstGeom prst="rect">
            <a:avLst/>
          </a:prstGeom>
        </p:spPr>
      </p:pic>
      <p:pic>
        <p:nvPicPr>
          <p:cNvPr id="5" name="Graphic 4">
            <a:extLst>
              <a:ext uri="{FF2B5EF4-FFF2-40B4-BE49-F238E27FC236}">
                <a16:creationId xmlns:a16="http://schemas.microsoft.com/office/drawing/2014/main" id="{1C9DE882-1A53-071C-7E55-BDCCF848D32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606798" y="3710318"/>
            <a:ext cx="224853" cy="248523"/>
          </a:xfrm>
          <a:prstGeom prst="rect">
            <a:avLst/>
          </a:prstGeom>
        </p:spPr>
      </p:pic>
    </p:spTree>
    <p:extLst>
      <p:ext uri="{BB962C8B-B14F-4D97-AF65-F5344CB8AC3E}">
        <p14:creationId xmlns:p14="http://schemas.microsoft.com/office/powerpoint/2010/main" val="16697528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42" presetClass="path" presetSubtype="0" decel="100000" fill="hold" grpId="1" nodeType="withEffect">
                                  <p:stCondLst>
                                    <p:cond delay="0"/>
                                  </p:stCondLst>
                                  <p:childTnLst>
                                    <p:animMotion origin="layout" path="M -1.04672E-6 6.53654E-7 L -0.0134 6.53654E-7 " pathEditMode="relative" rAng="0" ptsTypes="AA">
                                      <p:cBhvr>
                                        <p:cTn id="9" dur="500" spd="-100000" fill="hold"/>
                                        <p:tgtEl>
                                          <p:spTgt spid="9"/>
                                        </p:tgtEl>
                                        <p:attrNameLst>
                                          <p:attrName>ppt_x</p:attrName>
                                          <p:attrName>ppt_y</p:attrName>
                                        </p:attrNameLst>
                                      </p:cBhvr>
                                      <p:rCtr x="-677" y="0"/>
                                    </p:animMotion>
                                  </p:childTnLst>
                                </p:cTn>
                              </p:par>
                              <p:par>
                                <p:cTn id="10" presetID="10"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42" presetClass="path" presetSubtype="0" fill="hold" nodeType="withEffect">
                                  <p:stCondLst>
                                    <p:cond delay="0"/>
                                  </p:stCondLst>
                                  <p:childTnLst>
                                    <p:animMotion origin="layout" path="M 0.03306 -3.05039E-6 L -3.52821E-6 -3.05039E-6 " pathEditMode="relative" rAng="0" ptsTypes="AA">
                                      <p:cBhvr>
                                        <p:cTn id="14" dur="750" fill="hold"/>
                                        <p:tgtEl>
                                          <p:spTgt spid="6"/>
                                        </p:tgtEl>
                                        <p:attrNameLst>
                                          <p:attrName>ppt_x</p:attrName>
                                          <p:attrName>ppt_y</p:attrName>
                                        </p:attrNameLst>
                                      </p:cBhvr>
                                      <p:rCtr x="-1659" y="0"/>
                                    </p:animMotion>
                                  </p:childTnLst>
                                </p:cTn>
                              </p:par>
                              <p:par>
                                <p:cTn id="15" presetID="10"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10" presetClass="entr" presetSubtype="0"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par>
                                <p:cTn id="21" presetID="10"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54794" y="485156"/>
            <a:ext cx="11239464" cy="502246"/>
          </a:xfrm>
        </p:spPr>
        <p:txBody>
          <a:bodyPr/>
          <a:lstStyle/>
          <a:p>
            <a:r>
              <a:rPr lang="en-US" sz="3600" dirty="0"/>
              <a:t>Full-stack coverage with dedicated detections</a:t>
            </a:r>
          </a:p>
        </p:txBody>
      </p:sp>
      <p:grpSp>
        <p:nvGrpSpPr>
          <p:cNvPr id="3" name="Group 2" descr="Compute, service layer, storage and databases">
            <a:extLst>
              <a:ext uri="{FF2B5EF4-FFF2-40B4-BE49-F238E27FC236}">
                <a16:creationId xmlns:a16="http://schemas.microsoft.com/office/drawing/2014/main" id="{8731B4D0-5BE7-495D-9AC5-9051D4329E7D}"/>
              </a:ext>
            </a:extLst>
          </p:cNvPr>
          <p:cNvGrpSpPr/>
          <p:nvPr/>
        </p:nvGrpSpPr>
        <p:grpSpPr>
          <a:xfrm>
            <a:off x="583705" y="1413776"/>
            <a:ext cx="6842673" cy="5231195"/>
            <a:chOff x="601567" y="1413184"/>
            <a:chExt cx="6844615" cy="5232679"/>
          </a:xfrm>
        </p:grpSpPr>
        <p:sp>
          <p:nvSpPr>
            <p:cNvPr id="24" name="Rectangle: Rounded Corners 23">
              <a:extLst>
                <a:ext uri="{FF2B5EF4-FFF2-40B4-BE49-F238E27FC236}">
                  <a16:creationId xmlns:a16="http://schemas.microsoft.com/office/drawing/2014/main" id="{B21FAE3A-86BD-4452-8EF2-4F846D670F66}"/>
                </a:ext>
              </a:extLst>
            </p:cNvPr>
            <p:cNvSpPr/>
            <p:nvPr/>
          </p:nvSpPr>
          <p:spPr bwMode="auto">
            <a:xfrm>
              <a:off x="601570" y="1413184"/>
              <a:ext cx="3303001" cy="2191541"/>
            </a:xfrm>
            <a:prstGeom prst="roundRect">
              <a:avLst>
                <a:gd name="adj" fmla="val 5204"/>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34" tIns="137121" rIns="93234" bIns="186468" numCol="1" spcCol="0" rtlCol="0" fromWordArt="0" anchor="t" anchorCtr="0" forceAA="0" compatLnSpc="1">
              <a:prstTxWarp prst="textNoShape">
                <a:avLst/>
              </a:prstTxWarp>
              <a:noAutofit/>
            </a:bodyPr>
            <a:lstStyle/>
            <a:p>
              <a:pPr algn="ctr" defTabSz="931881">
                <a:lnSpc>
                  <a:spcPct val="90000"/>
                </a:lnSpc>
                <a:spcAft>
                  <a:spcPts val="800"/>
                </a:spcAft>
                <a:defRPr/>
              </a:pPr>
              <a:r>
                <a:rPr lang="en-US" dirty="0">
                  <a:ln w="3175">
                    <a:noFill/>
                  </a:ln>
                  <a:solidFill>
                    <a:schemeClr val="tx1"/>
                  </a:solidFill>
                  <a:latin typeface="Segoe UI Semibold"/>
                  <a:cs typeface="Segoe UI Semilight" panose="020B0402040204020203" pitchFamily="34" charset="0"/>
                </a:rPr>
                <a:t>Compute</a:t>
              </a:r>
              <a:endParaRPr lang="en-US" dirty="0">
                <a:ln w="3175">
                  <a:noFill/>
                </a:ln>
                <a:solidFill>
                  <a:schemeClr val="tx1"/>
                </a:solidFill>
                <a:latin typeface="Segoe UI"/>
                <a:cs typeface="Segoe UI Semilight" panose="020B0402040204020203" pitchFamily="34" charset="0"/>
              </a:endParaRPr>
            </a:p>
          </p:txBody>
        </p:sp>
        <p:sp>
          <p:nvSpPr>
            <p:cNvPr id="20" name="Right Bracket 19">
              <a:extLst>
                <a:ext uri="{FF2B5EF4-FFF2-40B4-BE49-F238E27FC236}">
                  <a16:creationId xmlns:a16="http://schemas.microsoft.com/office/drawing/2014/main" id="{691730BB-21AE-4F9C-AAC3-734AA5209535}"/>
                </a:ext>
                <a:ext uri="{C183D7F6-B498-43B3-948B-1728B52AA6E4}">
                  <adec:decorative xmlns:adec="http://schemas.microsoft.com/office/drawing/2017/decorative" val="1"/>
                </a:ext>
              </a:extLst>
            </p:cNvPr>
            <p:cNvSpPr/>
            <p:nvPr/>
          </p:nvSpPr>
          <p:spPr>
            <a:xfrm rot="5400000">
              <a:off x="3942558" y="2751824"/>
              <a:ext cx="162635" cy="6844613"/>
            </a:xfrm>
            <a:prstGeom prst="rightBracket">
              <a:avLst/>
            </a:prstGeom>
            <a:noFill/>
            <a:ln w="38100" cap="flat">
              <a:solidFill>
                <a:schemeClr val="bg2"/>
              </a:solidFill>
              <a:prstDash val="solid"/>
              <a:miter lim="800000"/>
              <a:headEnd/>
              <a:tailEnd/>
            </a:ln>
            <a:extLst>
              <a:ext uri="{909E8E84-426E-40DD-AFC4-6F175D3DCCD1}">
                <a14:hiddenFill xmlns:a14="http://schemas.microsoft.com/office/drawing/2010/main">
                  <a:solidFill>
                    <a:srgbClr val="FFFFFF"/>
                  </a:solidFill>
                </a14:hiddenFill>
              </a:ext>
            </a:extLst>
          </p:spPr>
          <p:txBody>
            <a:bodyPr rtlCol="0" anchor="ctr"/>
            <a:lstStyle/>
            <a:p>
              <a:pPr algn="ctr" defTabSz="932239">
                <a:defRPr/>
              </a:pPr>
              <a:endParaRPr lang="en-US" sz="1836">
                <a:solidFill>
                  <a:srgbClr val="000000"/>
                </a:solidFill>
                <a:latin typeface="Segoe UI"/>
              </a:endParaRPr>
            </a:p>
          </p:txBody>
        </p:sp>
        <p:sp>
          <p:nvSpPr>
            <p:cNvPr id="22" name="Rectangle 21">
              <a:extLst>
                <a:ext uri="{FF2B5EF4-FFF2-40B4-BE49-F238E27FC236}">
                  <a16:creationId xmlns:a16="http://schemas.microsoft.com/office/drawing/2014/main" id="{2E45624F-AD94-42A7-9F4E-AB6956D7E55F}"/>
                </a:ext>
                <a:ext uri="{C183D7F6-B498-43B3-948B-1728B52AA6E4}">
                  <adec:decorative xmlns:adec="http://schemas.microsoft.com/office/drawing/2017/decorative" val="1"/>
                </a:ext>
              </a:extLst>
            </p:cNvPr>
            <p:cNvSpPr/>
            <p:nvPr/>
          </p:nvSpPr>
          <p:spPr bwMode="auto">
            <a:xfrm>
              <a:off x="3237847" y="5998517"/>
              <a:ext cx="1586566" cy="64734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68" tIns="149175" rIns="186468" bIns="149175" numCol="1" spcCol="0" rtlCol="0" fromWordArt="0" anchor="t" anchorCtr="0" forceAA="0" compatLnSpc="1">
              <a:prstTxWarp prst="textNoShape">
                <a:avLst/>
              </a:prstTxWarp>
              <a:noAutofit/>
            </a:bodyPr>
            <a:lstStyle/>
            <a:p>
              <a:pPr defTabSz="950663" fontAlgn="base">
                <a:spcBef>
                  <a:spcPct val="0"/>
                </a:spcBef>
                <a:spcAft>
                  <a:spcPct val="0"/>
                </a:spcAft>
                <a:defRPr/>
              </a:pPr>
              <a:endParaRPr lang="en-US" sz="2040" err="1">
                <a:solidFill>
                  <a:srgbClr val="FFFFFF"/>
                </a:solidFill>
                <a:latin typeface="Segoe UI"/>
                <a:ea typeface="Segoe UI" pitchFamily="34" charset="0"/>
                <a:cs typeface="Segoe UI" pitchFamily="34" charset="0"/>
              </a:endParaRPr>
            </a:p>
          </p:txBody>
        </p:sp>
        <p:pic>
          <p:nvPicPr>
            <p:cNvPr id="7" name="Graphic 6">
              <a:extLst>
                <a:ext uri="{FF2B5EF4-FFF2-40B4-BE49-F238E27FC236}">
                  <a16:creationId xmlns:a16="http://schemas.microsoft.com/office/drawing/2014/main" id="{6F0BC9B3-324D-4A2C-B279-C46905D4E3E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43457" y="1969214"/>
              <a:ext cx="463988" cy="463988"/>
            </a:xfrm>
            <a:prstGeom prst="rect">
              <a:avLst/>
            </a:prstGeom>
          </p:spPr>
        </p:pic>
        <p:pic>
          <p:nvPicPr>
            <p:cNvPr id="5" name="Graphic 4">
              <a:extLst>
                <a:ext uri="{FF2B5EF4-FFF2-40B4-BE49-F238E27FC236}">
                  <a16:creationId xmlns:a16="http://schemas.microsoft.com/office/drawing/2014/main" id="{16DFEB87-20CC-4FBF-925B-40123562BC3F}"/>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51828" y="1995659"/>
              <a:ext cx="463230" cy="463230"/>
            </a:xfrm>
            <a:prstGeom prst="rect">
              <a:avLst/>
            </a:prstGeom>
          </p:spPr>
        </p:pic>
        <p:pic>
          <p:nvPicPr>
            <p:cNvPr id="16" name="Graphic 15">
              <a:extLst>
                <a:ext uri="{FF2B5EF4-FFF2-40B4-BE49-F238E27FC236}">
                  <a16:creationId xmlns:a16="http://schemas.microsoft.com/office/drawing/2014/main" id="{9CE4024A-A838-491B-BD15-875C0DA6C788}"/>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90950" y="5143709"/>
              <a:ext cx="377711" cy="377711"/>
            </a:xfrm>
            <a:prstGeom prst="rect">
              <a:avLst/>
            </a:prstGeom>
          </p:spPr>
        </p:pic>
        <p:sp>
          <p:nvSpPr>
            <p:cNvPr id="55" name="TextBox 54">
              <a:extLst>
                <a:ext uri="{FF2B5EF4-FFF2-40B4-BE49-F238E27FC236}">
                  <a16:creationId xmlns:a16="http://schemas.microsoft.com/office/drawing/2014/main" id="{FD41954A-6B6F-4CD2-B0E8-408EA80372D3}"/>
                </a:ext>
              </a:extLst>
            </p:cNvPr>
            <p:cNvSpPr txBox="1"/>
            <p:nvPr/>
          </p:nvSpPr>
          <p:spPr>
            <a:xfrm>
              <a:off x="1118832" y="2446839"/>
              <a:ext cx="925646" cy="258605"/>
            </a:xfrm>
            <a:prstGeom prst="rect">
              <a:avLst/>
            </a:prstGeom>
            <a:noFill/>
          </p:spPr>
          <p:txBody>
            <a:bodyPr wrap="none" anchor="ctr" anchorCtr="0">
              <a:spAutoFit/>
            </a:bodyPr>
            <a:lstStyle/>
            <a:p>
              <a:pPr algn="ctr" defTabSz="931881">
                <a:lnSpc>
                  <a:spcPct val="90000"/>
                </a:lnSpc>
                <a:spcAft>
                  <a:spcPts val="800"/>
                </a:spcAft>
                <a:defRPr/>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Any server</a:t>
              </a:r>
              <a:endParaRPr lang="en-US" sz="1200" dirty="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sp>
          <p:nvSpPr>
            <p:cNvPr id="56" name="TextBox 55">
              <a:extLst>
                <a:ext uri="{FF2B5EF4-FFF2-40B4-BE49-F238E27FC236}">
                  <a16:creationId xmlns:a16="http://schemas.microsoft.com/office/drawing/2014/main" id="{403CA2FF-2D8A-444F-B56D-E52C2F409794}"/>
                </a:ext>
              </a:extLst>
            </p:cNvPr>
            <p:cNvSpPr txBox="1"/>
            <p:nvPr/>
          </p:nvSpPr>
          <p:spPr>
            <a:xfrm>
              <a:off x="2468491" y="2451238"/>
              <a:ext cx="1038016" cy="258605"/>
            </a:xfrm>
            <a:prstGeom prst="rect">
              <a:avLst/>
            </a:prstGeom>
            <a:noFill/>
          </p:spPr>
          <p:txBody>
            <a:bodyPr wrap="none" anchor="ctr" anchorCtr="0">
              <a:spAutoFit/>
            </a:bodyPr>
            <a:lstStyle/>
            <a:p>
              <a:pPr algn="ctr" defTabSz="931881">
                <a:lnSpc>
                  <a:spcPct val="90000"/>
                </a:lnSpc>
                <a:spcAft>
                  <a:spcPts val="800"/>
                </a:spcAft>
                <a:defRPr/>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Azure VMSS</a:t>
              </a:r>
              <a:endParaRPr lang="en-US" sz="1200" dirty="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pic>
          <p:nvPicPr>
            <p:cNvPr id="12" name="Graphic 11">
              <a:extLst>
                <a:ext uri="{FF2B5EF4-FFF2-40B4-BE49-F238E27FC236}">
                  <a16:creationId xmlns:a16="http://schemas.microsoft.com/office/drawing/2014/main" id="{E56EB0EC-5E4A-4427-80E4-2365CEC44D38}"/>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761922" y="2834733"/>
              <a:ext cx="433837" cy="433837"/>
            </a:xfrm>
            <a:prstGeom prst="rect">
              <a:avLst/>
            </a:prstGeom>
          </p:spPr>
        </p:pic>
        <p:sp>
          <p:nvSpPr>
            <p:cNvPr id="70" name="TextBox 69">
              <a:extLst>
                <a:ext uri="{FF2B5EF4-FFF2-40B4-BE49-F238E27FC236}">
                  <a16:creationId xmlns:a16="http://schemas.microsoft.com/office/drawing/2014/main" id="{12597A29-18A0-4D1B-B7B8-4D555860F823}"/>
                </a:ext>
              </a:extLst>
            </p:cNvPr>
            <p:cNvSpPr txBox="1"/>
            <p:nvPr/>
          </p:nvSpPr>
          <p:spPr>
            <a:xfrm>
              <a:off x="2552417" y="3305202"/>
              <a:ext cx="874463" cy="258605"/>
            </a:xfrm>
            <a:prstGeom prst="rect">
              <a:avLst/>
            </a:prstGeom>
            <a:noFill/>
          </p:spPr>
          <p:txBody>
            <a:bodyPr wrap="none" anchor="ctr" anchorCtr="0">
              <a:spAutoFit/>
            </a:bodyPr>
            <a:lstStyle/>
            <a:p>
              <a:pPr algn="ctr" defTabSz="931881">
                <a:lnSpc>
                  <a:spcPct val="90000"/>
                </a:lnSpc>
                <a:spcAft>
                  <a:spcPts val="800"/>
                </a:spcAft>
                <a:defRPr/>
              </a:pPr>
              <a:r>
                <a:rPr lang="en-US" sz="1200">
                  <a:ln w="3175">
                    <a:noFill/>
                  </a:ln>
                  <a:gradFill>
                    <a:gsLst>
                      <a:gs pos="83000">
                        <a:srgbClr val="000000"/>
                      </a:gs>
                      <a:gs pos="100000">
                        <a:srgbClr val="000000"/>
                      </a:gs>
                    </a:gsLst>
                    <a:lin ang="5400000" scaled="1"/>
                  </a:gradFill>
                  <a:latin typeface="Segoe UI Semibold"/>
                  <a:cs typeface="Segoe UI Semilight" panose="020B0402040204020203" pitchFamily="34" charset="0"/>
                </a:rPr>
                <a:t>Azure K8s</a:t>
              </a:r>
              <a:endParaRPr lang="en-US" sz="120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sp>
          <p:nvSpPr>
            <p:cNvPr id="75" name="TextBox 74">
              <a:extLst>
                <a:ext uri="{FF2B5EF4-FFF2-40B4-BE49-F238E27FC236}">
                  <a16:creationId xmlns:a16="http://schemas.microsoft.com/office/drawing/2014/main" id="{25E93FFE-C35A-4422-B9F2-8F8EE554E189}"/>
                </a:ext>
              </a:extLst>
            </p:cNvPr>
            <p:cNvSpPr txBox="1"/>
            <p:nvPr/>
          </p:nvSpPr>
          <p:spPr>
            <a:xfrm>
              <a:off x="2004687" y="5573612"/>
              <a:ext cx="2150239" cy="252692"/>
            </a:xfrm>
            <a:prstGeom prst="rect">
              <a:avLst/>
            </a:prstGeom>
            <a:noFill/>
          </p:spPr>
          <p:txBody>
            <a:bodyPr wrap="none" anchor="ctr" anchorCtr="0">
              <a:spAutoFit/>
            </a:bodyPr>
            <a:lstStyle/>
            <a:p>
              <a:pPr algn="ctr" defTabSz="931881">
                <a:lnSpc>
                  <a:spcPct val="90000"/>
                </a:lnSpc>
                <a:spcAft>
                  <a:spcPts val="800"/>
                </a:spcAft>
                <a:defRPr/>
              </a:pPr>
              <a:r>
                <a:rPr lang="en-US" sz="1122">
                  <a:ln w="3175">
                    <a:noFill/>
                  </a:ln>
                  <a:gradFill>
                    <a:gsLst>
                      <a:gs pos="83000">
                        <a:srgbClr val="000000"/>
                      </a:gs>
                      <a:gs pos="100000">
                        <a:srgbClr val="000000"/>
                      </a:gs>
                    </a:gsLst>
                    <a:lin ang="5400000" scaled="1"/>
                  </a:gradFill>
                  <a:latin typeface="Segoe UI Semibold"/>
                  <a:cs typeface="Segoe UI Semilight" panose="020B0402040204020203" pitchFamily="34" charset="0"/>
                </a:rPr>
                <a:t>Azure Resource Management</a:t>
              </a:r>
              <a:endParaRPr lang="en-US" sz="102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sp>
          <p:nvSpPr>
            <p:cNvPr id="58" name="Rectangle: Rounded Corners 57">
              <a:extLst>
                <a:ext uri="{FF2B5EF4-FFF2-40B4-BE49-F238E27FC236}">
                  <a16:creationId xmlns:a16="http://schemas.microsoft.com/office/drawing/2014/main" id="{D01743FC-E1B6-4124-BDD7-8474702B1969}"/>
                </a:ext>
              </a:extLst>
            </p:cNvPr>
            <p:cNvSpPr/>
            <p:nvPr/>
          </p:nvSpPr>
          <p:spPr bwMode="auto">
            <a:xfrm>
              <a:off x="4031950" y="1418822"/>
              <a:ext cx="3413489" cy="2191541"/>
            </a:xfrm>
            <a:prstGeom prst="roundRect">
              <a:avLst>
                <a:gd name="adj" fmla="val 5204"/>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34" tIns="137121" rIns="93234" bIns="186468" numCol="1" spcCol="0" rtlCol="0" fromWordArt="0" anchor="t" anchorCtr="0" forceAA="0" compatLnSpc="1">
              <a:prstTxWarp prst="textNoShape">
                <a:avLst/>
              </a:prstTxWarp>
              <a:noAutofit/>
            </a:bodyPr>
            <a:lstStyle/>
            <a:p>
              <a:pPr algn="ctr" defTabSz="931881">
                <a:lnSpc>
                  <a:spcPct val="90000"/>
                </a:lnSpc>
                <a:spcAft>
                  <a:spcPts val="800"/>
                </a:spcAft>
                <a:defRPr/>
              </a:pPr>
              <a:r>
                <a:rPr lang="en-US" dirty="0">
                  <a:ln w="3175">
                    <a:noFill/>
                  </a:ln>
                  <a:solidFill>
                    <a:schemeClr val="tx1"/>
                  </a:solidFill>
                  <a:latin typeface="Segoe UI Semibold"/>
                  <a:cs typeface="Segoe UI Semilight" panose="020B0402040204020203" pitchFamily="34" charset="0"/>
                </a:rPr>
                <a:t>Service Layer</a:t>
              </a:r>
              <a:endParaRPr lang="en-US" dirty="0">
                <a:ln w="3175">
                  <a:noFill/>
                </a:ln>
                <a:solidFill>
                  <a:schemeClr val="tx1"/>
                </a:solidFill>
                <a:latin typeface="Segoe UI"/>
                <a:cs typeface="Segoe UI Semilight" panose="020B0402040204020203" pitchFamily="34" charset="0"/>
              </a:endParaRPr>
            </a:p>
          </p:txBody>
        </p:sp>
        <p:pic>
          <p:nvPicPr>
            <p:cNvPr id="14" name="Graphic 13">
              <a:extLst>
                <a:ext uri="{FF2B5EF4-FFF2-40B4-BE49-F238E27FC236}">
                  <a16:creationId xmlns:a16="http://schemas.microsoft.com/office/drawing/2014/main" id="{2E801F88-4BF9-4FF0-9A35-DFD7CB182929}"/>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311470" y="2806840"/>
              <a:ext cx="469908" cy="469908"/>
            </a:xfrm>
            <a:prstGeom prst="rect">
              <a:avLst/>
            </a:prstGeom>
          </p:spPr>
        </p:pic>
        <p:sp>
          <p:nvSpPr>
            <p:cNvPr id="72" name="TextBox 71">
              <a:extLst>
                <a:ext uri="{FF2B5EF4-FFF2-40B4-BE49-F238E27FC236}">
                  <a16:creationId xmlns:a16="http://schemas.microsoft.com/office/drawing/2014/main" id="{D55BCE4F-473D-4CB1-BC61-D5216A356F8D}"/>
                </a:ext>
              </a:extLst>
            </p:cNvPr>
            <p:cNvSpPr txBox="1"/>
            <p:nvPr/>
          </p:nvSpPr>
          <p:spPr>
            <a:xfrm>
              <a:off x="979955" y="3297081"/>
              <a:ext cx="1082398" cy="258605"/>
            </a:xfrm>
            <a:prstGeom prst="rect">
              <a:avLst/>
            </a:prstGeom>
            <a:noFill/>
          </p:spPr>
          <p:txBody>
            <a:bodyPr wrap="none" anchor="ctr" anchorCtr="0">
              <a:spAutoFit/>
            </a:bodyPr>
            <a:lstStyle/>
            <a:p>
              <a:pPr algn="ctr" defTabSz="931881">
                <a:lnSpc>
                  <a:spcPct val="90000"/>
                </a:lnSpc>
                <a:spcAft>
                  <a:spcPts val="800"/>
                </a:spcAft>
                <a:defRPr/>
              </a:pPr>
              <a:r>
                <a:rPr lang="en-US" sz="1200">
                  <a:ln w="3175">
                    <a:noFill/>
                  </a:ln>
                  <a:gradFill>
                    <a:gsLst>
                      <a:gs pos="83000">
                        <a:srgbClr val="000000"/>
                      </a:gs>
                      <a:gs pos="100000">
                        <a:srgbClr val="000000"/>
                      </a:gs>
                    </a:gsLst>
                    <a:lin ang="5400000" scaled="1"/>
                  </a:gradFill>
                  <a:latin typeface="Segoe UI Semibold"/>
                  <a:cs typeface="Segoe UI Semilight" panose="020B0402040204020203" pitchFamily="34" charset="0"/>
                </a:rPr>
                <a:t>App Services</a:t>
              </a:r>
              <a:endParaRPr lang="en-US" sz="120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pic>
          <p:nvPicPr>
            <p:cNvPr id="19" name="Graphic 18">
              <a:extLst>
                <a:ext uri="{FF2B5EF4-FFF2-40B4-BE49-F238E27FC236}">
                  <a16:creationId xmlns:a16="http://schemas.microsoft.com/office/drawing/2014/main" id="{9D2427EE-DA09-4581-97B5-A4533E91A92D}"/>
                </a:ext>
                <a:ext uri="{C183D7F6-B498-43B3-948B-1728B52AA6E4}">
                  <adec:decorative xmlns:adec="http://schemas.microsoft.com/office/drawing/2017/decorative" val="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721664" y="2844036"/>
              <a:ext cx="447000" cy="447000"/>
            </a:xfrm>
            <a:prstGeom prst="rect">
              <a:avLst/>
            </a:prstGeom>
          </p:spPr>
        </p:pic>
        <p:sp>
          <p:nvSpPr>
            <p:cNvPr id="73" name="TextBox 72">
              <a:extLst>
                <a:ext uri="{FF2B5EF4-FFF2-40B4-BE49-F238E27FC236}">
                  <a16:creationId xmlns:a16="http://schemas.microsoft.com/office/drawing/2014/main" id="{DFCDDCD8-9759-42DF-9D57-CFDED7248825}"/>
                </a:ext>
              </a:extLst>
            </p:cNvPr>
            <p:cNvSpPr txBox="1"/>
            <p:nvPr/>
          </p:nvSpPr>
          <p:spPr>
            <a:xfrm>
              <a:off x="3779830" y="3293189"/>
              <a:ext cx="2330669" cy="258605"/>
            </a:xfrm>
            <a:prstGeom prst="rect">
              <a:avLst/>
            </a:prstGeom>
            <a:noFill/>
          </p:spPr>
          <p:txBody>
            <a:bodyPr wrap="square" anchor="ctr" anchorCtr="0">
              <a:spAutoFit/>
            </a:bodyPr>
            <a:lstStyle/>
            <a:p>
              <a:pPr algn="ctr" defTabSz="931881">
                <a:lnSpc>
                  <a:spcPct val="90000"/>
                </a:lnSpc>
                <a:spcAft>
                  <a:spcPts val="800"/>
                </a:spcAft>
                <a:defRPr/>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Network Layer V1</a:t>
              </a:r>
              <a:endParaRPr lang="en-US" sz="1200" dirty="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pic>
          <p:nvPicPr>
            <p:cNvPr id="15" name="Graphic 14">
              <a:extLst>
                <a:ext uri="{FF2B5EF4-FFF2-40B4-BE49-F238E27FC236}">
                  <a16:creationId xmlns:a16="http://schemas.microsoft.com/office/drawing/2014/main" id="{600C49ED-9F2C-4035-AF56-793FC673A33A}"/>
                </a:ext>
                <a:ext uri="{C183D7F6-B498-43B3-948B-1728B52AA6E4}">
                  <adec:decorative xmlns:adec="http://schemas.microsoft.com/office/drawing/2017/decorative" val="1"/>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692758" y="1979621"/>
              <a:ext cx="453580" cy="453581"/>
            </a:xfrm>
            <a:prstGeom prst="rect">
              <a:avLst/>
            </a:prstGeom>
          </p:spPr>
        </p:pic>
        <p:sp>
          <p:nvSpPr>
            <p:cNvPr id="76" name="TextBox 75">
              <a:extLst>
                <a:ext uri="{FF2B5EF4-FFF2-40B4-BE49-F238E27FC236}">
                  <a16:creationId xmlns:a16="http://schemas.microsoft.com/office/drawing/2014/main" id="{DA061F84-C580-485B-AC68-6EC9B151C185}"/>
                </a:ext>
              </a:extLst>
            </p:cNvPr>
            <p:cNvSpPr txBox="1"/>
            <p:nvPr/>
          </p:nvSpPr>
          <p:spPr>
            <a:xfrm>
              <a:off x="4470601" y="2368113"/>
              <a:ext cx="897895" cy="424852"/>
            </a:xfrm>
            <a:prstGeom prst="rect">
              <a:avLst/>
            </a:prstGeom>
            <a:noFill/>
          </p:spPr>
          <p:txBody>
            <a:bodyPr wrap="square" anchor="ctr" anchorCtr="0">
              <a:spAutoFit/>
            </a:bodyPr>
            <a:lstStyle/>
            <a:p>
              <a:pPr algn="ctr" defTabSz="931881">
                <a:lnSpc>
                  <a:spcPct val="90000"/>
                </a:lnSpc>
                <a:spcAft>
                  <a:spcPts val="800"/>
                </a:spcAft>
                <a:defRPr/>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Azure DNS</a:t>
              </a:r>
              <a:endParaRPr lang="en-US" sz="1200" dirty="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sp>
          <p:nvSpPr>
            <p:cNvPr id="31" name="Rectangle: Rounded Corners 30">
              <a:extLst>
                <a:ext uri="{FF2B5EF4-FFF2-40B4-BE49-F238E27FC236}">
                  <a16:creationId xmlns:a16="http://schemas.microsoft.com/office/drawing/2014/main" id="{4416BD9B-9AB9-450C-A3F0-F642B68DD970}"/>
                </a:ext>
              </a:extLst>
            </p:cNvPr>
            <p:cNvSpPr/>
            <p:nvPr/>
          </p:nvSpPr>
          <p:spPr bwMode="auto">
            <a:xfrm>
              <a:off x="601567" y="3692368"/>
              <a:ext cx="6843873" cy="2191541"/>
            </a:xfrm>
            <a:prstGeom prst="roundRect">
              <a:avLst>
                <a:gd name="adj" fmla="val 5204"/>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34" tIns="137121" rIns="93234" bIns="186468" numCol="1" spcCol="0" rtlCol="0" fromWordArt="0" anchor="t" anchorCtr="0" forceAA="0" compatLnSpc="1">
              <a:prstTxWarp prst="textNoShape">
                <a:avLst/>
              </a:prstTxWarp>
              <a:noAutofit/>
            </a:bodyPr>
            <a:lstStyle/>
            <a:p>
              <a:pPr algn="ctr" defTabSz="931881">
                <a:lnSpc>
                  <a:spcPct val="90000"/>
                </a:lnSpc>
                <a:spcAft>
                  <a:spcPts val="800"/>
                </a:spcAft>
                <a:defRPr/>
              </a:pPr>
              <a:r>
                <a:rPr lang="en-US" sz="1836" dirty="0">
                  <a:ln w="3175">
                    <a:noFill/>
                  </a:ln>
                  <a:solidFill>
                    <a:schemeClr val="tx1"/>
                  </a:solidFill>
                  <a:latin typeface="Segoe UI Semibold"/>
                  <a:cs typeface="Segoe UI Semilight" panose="020B0402040204020203" pitchFamily="34" charset="0"/>
                </a:rPr>
                <a:t>Databases and Storage</a:t>
              </a:r>
              <a:endParaRPr lang="en-US" sz="1428" dirty="0">
                <a:ln w="3175">
                  <a:noFill/>
                </a:ln>
                <a:solidFill>
                  <a:schemeClr val="tx1"/>
                </a:solidFill>
                <a:latin typeface="Segoe UI"/>
                <a:cs typeface="Segoe UI Semilight" panose="020B0402040204020203" pitchFamily="34" charset="0"/>
              </a:endParaRPr>
            </a:p>
          </p:txBody>
        </p:sp>
        <p:pic>
          <p:nvPicPr>
            <p:cNvPr id="18" name="Graphic 17">
              <a:extLst>
                <a:ext uri="{FF2B5EF4-FFF2-40B4-BE49-F238E27FC236}">
                  <a16:creationId xmlns:a16="http://schemas.microsoft.com/office/drawing/2014/main" id="{8ABCA147-072B-46D9-8828-A227DA3BE471}"/>
                </a:ext>
                <a:ext uri="{C183D7F6-B498-43B3-948B-1728B52AA6E4}">
                  <adec:decorative xmlns:adec="http://schemas.microsoft.com/office/drawing/2017/decorative" val="1"/>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230041" y="1992027"/>
              <a:ext cx="457200" cy="457200"/>
            </a:xfrm>
            <a:prstGeom prst="rect">
              <a:avLst/>
            </a:prstGeom>
          </p:spPr>
        </p:pic>
        <p:sp>
          <p:nvSpPr>
            <p:cNvPr id="74" name="TextBox 73">
              <a:extLst>
                <a:ext uri="{FF2B5EF4-FFF2-40B4-BE49-F238E27FC236}">
                  <a16:creationId xmlns:a16="http://schemas.microsoft.com/office/drawing/2014/main" id="{BC9E33B8-CECE-4C8D-B29B-70BD4CC4D7FC}"/>
                </a:ext>
              </a:extLst>
            </p:cNvPr>
            <p:cNvSpPr txBox="1"/>
            <p:nvPr/>
          </p:nvSpPr>
          <p:spPr>
            <a:xfrm>
              <a:off x="5904768" y="2450023"/>
              <a:ext cx="1107746" cy="258605"/>
            </a:xfrm>
            <a:prstGeom prst="rect">
              <a:avLst/>
            </a:prstGeom>
            <a:noFill/>
          </p:spPr>
          <p:txBody>
            <a:bodyPr wrap="square" anchor="ctr" anchorCtr="0">
              <a:spAutoFit/>
            </a:bodyPr>
            <a:lstStyle/>
            <a:p>
              <a:pPr algn="ctr" defTabSz="931881">
                <a:lnSpc>
                  <a:spcPct val="90000"/>
                </a:lnSpc>
                <a:spcAft>
                  <a:spcPts val="800"/>
                </a:spcAft>
                <a:defRPr/>
              </a:pPr>
              <a:r>
                <a:rPr lang="en-US" sz="1200">
                  <a:ln w="3175">
                    <a:noFill/>
                  </a:ln>
                  <a:gradFill>
                    <a:gsLst>
                      <a:gs pos="83000">
                        <a:srgbClr val="000000"/>
                      </a:gs>
                      <a:gs pos="100000">
                        <a:srgbClr val="000000"/>
                      </a:gs>
                    </a:gsLst>
                    <a:lin ang="5400000" scaled="1"/>
                  </a:gradFill>
                  <a:latin typeface="Segoe UI Semibold"/>
                  <a:cs typeface="Segoe UI Semilight" panose="020B0402040204020203" pitchFamily="34" charset="0"/>
                </a:rPr>
                <a:t>Key Vault</a:t>
              </a:r>
              <a:endParaRPr lang="en-US" sz="120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pic>
          <p:nvPicPr>
            <p:cNvPr id="21" name="Graphic 20">
              <a:extLst>
                <a:ext uri="{FF2B5EF4-FFF2-40B4-BE49-F238E27FC236}">
                  <a16:creationId xmlns:a16="http://schemas.microsoft.com/office/drawing/2014/main" id="{A6900A10-C58F-4DCD-B205-4DC4FF1F9D22}"/>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53367" y="2874720"/>
              <a:ext cx="377711" cy="377711"/>
            </a:xfrm>
            <a:prstGeom prst="rect">
              <a:avLst/>
            </a:prstGeom>
          </p:spPr>
        </p:pic>
        <p:sp>
          <p:nvSpPr>
            <p:cNvPr id="29" name="TextBox 28">
              <a:extLst>
                <a:ext uri="{FF2B5EF4-FFF2-40B4-BE49-F238E27FC236}">
                  <a16:creationId xmlns:a16="http://schemas.microsoft.com/office/drawing/2014/main" id="{EA28BC8C-48B0-4FD6-8702-9D7F95E0E301}"/>
                </a:ext>
              </a:extLst>
            </p:cNvPr>
            <p:cNvSpPr txBox="1"/>
            <p:nvPr/>
          </p:nvSpPr>
          <p:spPr>
            <a:xfrm>
              <a:off x="5579641" y="3286845"/>
              <a:ext cx="1725162" cy="258605"/>
            </a:xfrm>
            <a:prstGeom prst="rect">
              <a:avLst/>
            </a:prstGeom>
            <a:noFill/>
          </p:spPr>
          <p:txBody>
            <a:bodyPr wrap="square" anchor="ctr" anchorCtr="0">
              <a:spAutoFit/>
            </a:bodyPr>
            <a:lstStyle/>
            <a:p>
              <a:pPr algn="ctr" defTabSz="931881">
                <a:lnSpc>
                  <a:spcPct val="90000"/>
                </a:lnSpc>
                <a:spcAft>
                  <a:spcPts val="800"/>
                </a:spcAft>
                <a:defRPr/>
              </a:pPr>
              <a:r>
                <a:rPr lang="en-US" sz="1200">
                  <a:ln w="3175">
                    <a:noFill/>
                  </a:ln>
                  <a:gradFill>
                    <a:gsLst>
                      <a:gs pos="83000">
                        <a:srgbClr val="000000"/>
                      </a:gs>
                      <a:gs pos="100000">
                        <a:srgbClr val="000000"/>
                      </a:gs>
                    </a:gsLst>
                    <a:lin ang="5400000" scaled="1"/>
                  </a:gradFill>
                  <a:latin typeface="Segoe UI Semibold"/>
                  <a:cs typeface="Segoe UI Semilight" panose="020B0402040204020203" pitchFamily="34" charset="0"/>
                </a:rPr>
                <a:t>Resource Manager</a:t>
              </a:r>
              <a:endParaRPr lang="en-US" sz="120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pic>
          <p:nvPicPr>
            <p:cNvPr id="32" name="Graphic 31">
              <a:extLst>
                <a:ext uri="{FF2B5EF4-FFF2-40B4-BE49-F238E27FC236}">
                  <a16:creationId xmlns:a16="http://schemas.microsoft.com/office/drawing/2014/main" id="{A42AFECA-23ED-486C-A287-C0AD26972F21}"/>
                </a:ext>
                <a:ext uri="{C183D7F6-B498-43B3-948B-1728B52AA6E4}">
                  <adec:decorative xmlns:adec="http://schemas.microsoft.com/office/drawing/2017/decorative" val="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392392" y="5081765"/>
              <a:ext cx="392832" cy="392832"/>
            </a:xfrm>
            <a:prstGeom prst="rect">
              <a:avLst/>
            </a:prstGeom>
          </p:spPr>
        </p:pic>
        <p:pic>
          <p:nvPicPr>
            <p:cNvPr id="35" name="Picture 34">
              <a:extLst>
                <a:ext uri="{FF2B5EF4-FFF2-40B4-BE49-F238E27FC236}">
                  <a16:creationId xmlns:a16="http://schemas.microsoft.com/office/drawing/2014/main" id="{BE64B130-FB10-46AA-809E-A968FD7EA392}"/>
                </a:ext>
                <a:ext uri="{C183D7F6-B498-43B3-948B-1728B52AA6E4}">
                  <adec:decorative xmlns:adec="http://schemas.microsoft.com/office/drawing/2017/decorative" val="1"/>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838029" y="4280117"/>
              <a:ext cx="493252" cy="493252"/>
            </a:xfrm>
            <a:prstGeom prst="rect">
              <a:avLst/>
            </a:prstGeom>
          </p:spPr>
        </p:pic>
        <p:sp>
          <p:nvSpPr>
            <p:cNvPr id="37" name="TextBox 36">
              <a:extLst>
                <a:ext uri="{FF2B5EF4-FFF2-40B4-BE49-F238E27FC236}">
                  <a16:creationId xmlns:a16="http://schemas.microsoft.com/office/drawing/2014/main" id="{4A742B59-3847-44C5-9463-124CC2624C19}"/>
                </a:ext>
              </a:extLst>
            </p:cNvPr>
            <p:cNvSpPr txBox="1"/>
            <p:nvPr/>
          </p:nvSpPr>
          <p:spPr>
            <a:xfrm>
              <a:off x="1540111" y="4780161"/>
              <a:ext cx="1068930" cy="258605"/>
            </a:xfrm>
            <a:prstGeom prst="rect">
              <a:avLst/>
            </a:prstGeom>
            <a:noFill/>
          </p:spPr>
          <p:txBody>
            <a:bodyPr wrap="none" anchor="ctr" anchorCtr="0">
              <a:spAutoFit/>
            </a:bodyPr>
            <a:lstStyle/>
            <a:p>
              <a:pPr algn="ctr" defTabSz="931881">
                <a:lnSpc>
                  <a:spcPct val="90000"/>
                </a:lnSpc>
                <a:spcAft>
                  <a:spcPts val="800"/>
                </a:spcAft>
                <a:defRPr/>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Blob storage</a:t>
              </a:r>
              <a:endParaRPr lang="en-US" sz="1200" dirty="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sp>
          <p:nvSpPr>
            <p:cNvPr id="38" name="TextBox 37">
              <a:extLst>
                <a:ext uri="{FF2B5EF4-FFF2-40B4-BE49-F238E27FC236}">
                  <a16:creationId xmlns:a16="http://schemas.microsoft.com/office/drawing/2014/main" id="{A330A9AF-C0D3-42CF-8297-02E0FDFC8F86}"/>
                </a:ext>
              </a:extLst>
            </p:cNvPr>
            <p:cNvSpPr txBox="1"/>
            <p:nvPr/>
          </p:nvSpPr>
          <p:spPr>
            <a:xfrm>
              <a:off x="2154881" y="5481985"/>
              <a:ext cx="904928" cy="258605"/>
            </a:xfrm>
            <a:prstGeom prst="rect">
              <a:avLst/>
            </a:prstGeom>
            <a:noFill/>
          </p:spPr>
          <p:txBody>
            <a:bodyPr wrap="none" anchor="ctr" anchorCtr="0">
              <a:spAutoFit/>
            </a:bodyPr>
            <a:lstStyle/>
            <a:p>
              <a:pPr algn="ctr" defTabSz="931881">
                <a:lnSpc>
                  <a:spcPct val="90000"/>
                </a:lnSpc>
                <a:spcAft>
                  <a:spcPts val="800"/>
                </a:spcAft>
                <a:defRPr/>
              </a:pPr>
              <a:r>
                <a:rPr lang="en-US" sz="1200">
                  <a:ln w="3175">
                    <a:noFill/>
                  </a:ln>
                  <a:gradFill>
                    <a:gsLst>
                      <a:gs pos="83000">
                        <a:srgbClr val="000000"/>
                      </a:gs>
                      <a:gs pos="100000">
                        <a:srgbClr val="000000"/>
                      </a:gs>
                    </a:gsLst>
                    <a:lin ang="5400000" scaled="1"/>
                  </a:gradFill>
                  <a:latin typeface="Segoe UI Semibold"/>
                  <a:cs typeface="Segoe UI Semilight" panose="020B0402040204020203" pitchFamily="34" charset="0"/>
                </a:rPr>
                <a:t>Azure SQL</a:t>
              </a:r>
              <a:endParaRPr lang="en-US" sz="120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pic>
          <p:nvPicPr>
            <p:cNvPr id="39" name="Graphic 38">
              <a:extLst>
                <a:ext uri="{FF2B5EF4-FFF2-40B4-BE49-F238E27FC236}">
                  <a16:creationId xmlns:a16="http://schemas.microsoft.com/office/drawing/2014/main" id="{CF5E0E0B-F265-4AD9-B9EE-4324044F82D6}"/>
                </a:ext>
                <a:ext uri="{C183D7F6-B498-43B3-948B-1728B52AA6E4}">
                  <adec:decorative xmlns:adec="http://schemas.microsoft.com/office/drawing/2017/decorative" val="1"/>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703996" y="5064633"/>
              <a:ext cx="396082" cy="396082"/>
            </a:xfrm>
            <a:prstGeom prst="rect">
              <a:avLst/>
            </a:prstGeom>
          </p:spPr>
        </p:pic>
        <p:pic>
          <p:nvPicPr>
            <p:cNvPr id="40" name="Picture 39">
              <a:extLst>
                <a:ext uri="{FF2B5EF4-FFF2-40B4-BE49-F238E27FC236}">
                  <a16:creationId xmlns:a16="http://schemas.microsoft.com/office/drawing/2014/main" id="{F28768CC-D790-486A-8761-9E4A58B0923E}"/>
                </a:ext>
                <a:ext uri="{C183D7F6-B498-43B3-948B-1728B52AA6E4}">
                  <adec:decorative xmlns:adec="http://schemas.microsoft.com/office/drawing/2017/decorative" val="1"/>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3237847" y="4333468"/>
              <a:ext cx="396082" cy="396082"/>
            </a:xfrm>
            <a:prstGeom prst="rect">
              <a:avLst/>
            </a:prstGeom>
          </p:spPr>
        </p:pic>
        <p:sp>
          <p:nvSpPr>
            <p:cNvPr id="41" name="TextBox 40">
              <a:extLst>
                <a:ext uri="{FF2B5EF4-FFF2-40B4-BE49-F238E27FC236}">
                  <a16:creationId xmlns:a16="http://schemas.microsoft.com/office/drawing/2014/main" id="{660C91EF-4FF1-407F-B737-BE016549537B}"/>
                </a:ext>
              </a:extLst>
            </p:cNvPr>
            <p:cNvSpPr txBox="1"/>
            <p:nvPr/>
          </p:nvSpPr>
          <p:spPr>
            <a:xfrm>
              <a:off x="2940709" y="4780161"/>
              <a:ext cx="990360" cy="258605"/>
            </a:xfrm>
            <a:prstGeom prst="rect">
              <a:avLst/>
            </a:prstGeom>
            <a:noFill/>
          </p:spPr>
          <p:txBody>
            <a:bodyPr wrap="none" anchor="ctr" anchorCtr="0">
              <a:spAutoFit/>
            </a:bodyPr>
            <a:lstStyle/>
            <a:p>
              <a:pPr algn="ctr" defTabSz="931881">
                <a:lnSpc>
                  <a:spcPct val="90000"/>
                </a:lnSpc>
                <a:spcAft>
                  <a:spcPts val="800"/>
                </a:spcAft>
                <a:defRPr/>
              </a:pPr>
              <a:r>
                <a:rPr lang="en-US" sz="1200">
                  <a:ln w="3175">
                    <a:noFill/>
                  </a:ln>
                  <a:gradFill>
                    <a:gsLst>
                      <a:gs pos="83000">
                        <a:srgbClr val="000000"/>
                      </a:gs>
                      <a:gs pos="100000">
                        <a:srgbClr val="000000"/>
                      </a:gs>
                    </a:gsLst>
                    <a:lin ang="5400000" scaled="1"/>
                  </a:gradFill>
                  <a:latin typeface="Segoe UI Semibold"/>
                  <a:cs typeface="Segoe UI Semilight" panose="020B0402040204020203" pitchFamily="34" charset="0"/>
                </a:rPr>
                <a:t>File storage</a:t>
              </a:r>
              <a:endParaRPr lang="en-US" sz="120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sp>
          <p:nvSpPr>
            <p:cNvPr id="42" name="TextBox 41">
              <a:extLst>
                <a:ext uri="{FF2B5EF4-FFF2-40B4-BE49-F238E27FC236}">
                  <a16:creationId xmlns:a16="http://schemas.microsoft.com/office/drawing/2014/main" id="{5850D998-61C4-4BA7-83C8-7CF91FA103B0}"/>
                </a:ext>
              </a:extLst>
            </p:cNvPr>
            <p:cNvSpPr txBox="1"/>
            <p:nvPr/>
          </p:nvSpPr>
          <p:spPr>
            <a:xfrm>
              <a:off x="3561143" y="5486750"/>
              <a:ext cx="681790" cy="258605"/>
            </a:xfrm>
            <a:prstGeom prst="rect">
              <a:avLst/>
            </a:prstGeom>
            <a:noFill/>
          </p:spPr>
          <p:txBody>
            <a:bodyPr wrap="none" anchor="ctr" anchorCtr="0">
              <a:spAutoFit/>
            </a:bodyPr>
            <a:lstStyle/>
            <a:p>
              <a:pPr algn="ctr" defTabSz="931881">
                <a:lnSpc>
                  <a:spcPct val="90000"/>
                </a:lnSpc>
                <a:spcAft>
                  <a:spcPts val="800"/>
                </a:spcAft>
                <a:defRPr/>
              </a:pPr>
              <a:r>
                <a:rPr lang="en-US" sz="1200">
                  <a:ln w="3175">
                    <a:noFill/>
                  </a:ln>
                  <a:gradFill>
                    <a:gsLst>
                      <a:gs pos="83000">
                        <a:srgbClr val="000000"/>
                      </a:gs>
                      <a:gs pos="100000">
                        <a:srgbClr val="000000"/>
                      </a:gs>
                    </a:gsLst>
                    <a:lin ang="5400000" scaled="1"/>
                  </a:gradFill>
                  <a:latin typeface="Segoe UI Semibold"/>
                  <a:cs typeface="Segoe UI Semilight" panose="020B0402040204020203" pitchFamily="34" charset="0"/>
                </a:rPr>
                <a:t>MySQL</a:t>
              </a:r>
              <a:endParaRPr lang="en-US" sz="120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pic>
          <p:nvPicPr>
            <p:cNvPr id="43" name="Graphic 42">
              <a:extLst>
                <a:ext uri="{FF2B5EF4-FFF2-40B4-BE49-F238E27FC236}">
                  <a16:creationId xmlns:a16="http://schemas.microsoft.com/office/drawing/2014/main" id="{05F05762-E702-4662-8518-8FC4E6C706A7}"/>
                </a:ext>
                <a:ext uri="{C183D7F6-B498-43B3-948B-1728B52AA6E4}">
                  <adec:decorative xmlns:adec="http://schemas.microsoft.com/office/drawing/2017/decorative" val="1"/>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5106023" y="5056058"/>
              <a:ext cx="396082" cy="396082"/>
            </a:xfrm>
            <a:prstGeom prst="rect">
              <a:avLst/>
            </a:prstGeom>
          </p:spPr>
        </p:pic>
        <p:pic>
          <p:nvPicPr>
            <p:cNvPr id="44" name="Graphic 43">
              <a:extLst>
                <a:ext uri="{FF2B5EF4-FFF2-40B4-BE49-F238E27FC236}">
                  <a16:creationId xmlns:a16="http://schemas.microsoft.com/office/drawing/2014/main" id="{BED25D9C-EE87-4B35-AF05-0AC647ED6ABF}"/>
                </a:ext>
                <a:ext uri="{C183D7F6-B498-43B3-948B-1728B52AA6E4}">
                  <adec:decorative xmlns:adec="http://schemas.microsoft.com/office/drawing/2017/decorative" val="1"/>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4506447" y="4333468"/>
              <a:ext cx="396081" cy="396081"/>
            </a:xfrm>
            <a:prstGeom prst="rect">
              <a:avLst/>
            </a:prstGeom>
          </p:spPr>
        </p:pic>
        <p:sp>
          <p:nvSpPr>
            <p:cNvPr id="45" name="TextBox 44">
              <a:extLst>
                <a:ext uri="{FF2B5EF4-FFF2-40B4-BE49-F238E27FC236}">
                  <a16:creationId xmlns:a16="http://schemas.microsoft.com/office/drawing/2014/main" id="{97D25FDC-712E-4FFA-8AEF-337A723BB10C}"/>
                </a:ext>
              </a:extLst>
            </p:cNvPr>
            <p:cNvSpPr txBox="1"/>
            <p:nvPr/>
          </p:nvSpPr>
          <p:spPr>
            <a:xfrm>
              <a:off x="4289031" y="4780161"/>
              <a:ext cx="830913" cy="258605"/>
            </a:xfrm>
            <a:prstGeom prst="rect">
              <a:avLst/>
            </a:prstGeom>
            <a:noFill/>
          </p:spPr>
          <p:txBody>
            <a:bodyPr wrap="none" anchor="ctr" anchorCtr="0">
              <a:spAutoFit/>
            </a:bodyPr>
            <a:lstStyle/>
            <a:p>
              <a:pPr algn="ctr" defTabSz="931881">
                <a:lnSpc>
                  <a:spcPct val="90000"/>
                </a:lnSpc>
                <a:spcAft>
                  <a:spcPts val="800"/>
                </a:spcAft>
                <a:defRPr/>
              </a:pPr>
              <a:r>
                <a:rPr lang="en-US" sz="1200">
                  <a:ln w="3175">
                    <a:noFill/>
                  </a:ln>
                  <a:gradFill>
                    <a:gsLst>
                      <a:gs pos="83000">
                        <a:srgbClr val="000000"/>
                      </a:gs>
                      <a:gs pos="100000">
                        <a:srgbClr val="000000"/>
                      </a:gs>
                    </a:gsLst>
                    <a:lin ang="5400000" scaled="1"/>
                  </a:gradFill>
                  <a:latin typeface="Segoe UI Semibold"/>
                  <a:cs typeface="Segoe UI Semilight" panose="020B0402040204020203" pitchFamily="34" charset="0"/>
                </a:rPr>
                <a:t>Maria DB</a:t>
              </a:r>
              <a:endParaRPr lang="en-US" sz="120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sp>
          <p:nvSpPr>
            <p:cNvPr id="46" name="TextBox 45">
              <a:extLst>
                <a:ext uri="{FF2B5EF4-FFF2-40B4-BE49-F238E27FC236}">
                  <a16:creationId xmlns:a16="http://schemas.microsoft.com/office/drawing/2014/main" id="{EC0A2E9E-D1B0-4A97-BACE-B4D37B0694AE}"/>
                </a:ext>
              </a:extLst>
            </p:cNvPr>
            <p:cNvSpPr txBox="1"/>
            <p:nvPr/>
          </p:nvSpPr>
          <p:spPr>
            <a:xfrm>
              <a:off x="4764781" y="5486750"/>
              <a:ext cx="1096060" cy="258605"/>
            </a:xfrm>
            <a:prstGeom prst="rect">
              <a:avLst/>
            </a:prstGeom>
            <a:noFill/>
          </p:spPr>
          <p:txBody>
            <a:bodyPr wrap="none" anchor="ctr" anchorCtr="0">
              <a:spAutoFit/>
            </a:bodyPr>
            <a:lstStyle/>
            <a:p>
              <a:pPr algn="ctr" defTabSz="931881">
                <a:lnSpc>
                  <a:spcPct val="90000"/>
                </a:lnSpc>
                <a:spcAft>
                  <a:spcPts val="800"/>
                </a:spcAft>
                <a:defRPr/>
              </a:pPr>
              <a:r>
                <a:rPr lang="en-US" sz="1200">
                  <a:ln w="3175">
                    <a:noFill/>
                  </a:ln>
                  <a:gradFill>
                    <a:gsLst>
                      <a:gs pos="83000">
                        <a:srgbClr val="000000"/>
                      </a:gs>
                      <a:gs pos="100000">
                        <a:srgbClr val="000000"/>
                      </a:gs>
                    </a:gsLst>
                    <a:lin ang="5400000" scaled="1"/>
                  </a:gradFill>
                  <a:latin typeface="Segoe UI Semibold"/>
                  <a:cs typeface="Segoe UI Semilight" panose="020B0402040204020203" pitchFamily="34" charset="0"/>
                </a:rPr>
                <a:t>Postgres SQL</a:t>
              </a:r>
              <a:endParaRPr lang="en-US" sz="120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pic>
          <p:nvPicPr>
            <p:cNvPr id="48" name="Picture 2" descr="Azure Cosmos DB | SQL Player">
              <a:extLst>
                <a:ext uri="{FF2B5EF4-FFF2-40B4-BE49-F238E27FC236}">
                  <a16:creationId xmlns:a16="http://schemas.microsoft.com/office/drawing/2014/main" id="{975D449E-B24C-48D2-9A02-5DA8813F03A8}"/>
                </a:ext>
              </a:extLst>
            </p:cNvPr>
            <p:cNvPicPr>
              <a:picLocks noChangeAspect="1" noChangeArrowheads="1"/>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5810102" y="4330448"/>
              <a:ext cx="408135" cy="409288"/>
            </a:xfrm>
            <a:prstGeom prst="rect">
              <a:avLst/>
            </a:prstGeom>
            <a:noFill/>
            <a:extLst>
              <a:ext uri="{909E8E84-426E-40DD-AFC4-6F175D3DCCD1}">
                <a14:hiddenFill xmlns:a14="http://schemas.microsoft.com/office/drawing/2010/main">
                  <a:solidFill>
                    <a:srgbClr val="FFFFFF"/>
                  </a:solidFill>
                </a14:hiddenFill>
              </a:ext>
            </a:extLst>
          </p:spPr>
        </p:pic>
        <p:sp>
          <p:nvSpPr>
            <p:cNvPr id="91" name="TextBox 90">
              <a:extLst>
                <a:ext uri="{FF2B5EF4-FFF2-40B4-BE49-F238E27FC236}">
                  <a16:creationId xmlns:a16="http://schemas.microsoft.com/office/drawing/2014/main" id="{63877395-ED54-4859-9081-DA49D8824E24}"/>
                </a:ext>
              </a:extLst>
            </p:cNvPr>
            <p:cNvSpPr txBox="1"/>
            <p:nvPr/>
          </p:nvSpPr>
          <p:spPr>
            <a:xfrm>
              <a:off x="5303549" y="4780161"/>
              <a:ext cx="1421241" cy="258605"/>
            </a:xfrm>
            <a:prstGeom prst="rect">
              <a:avLst/>
            </a:prstGeom>
            <a:noFill/>
          </p:spPr>
          <p:txBody>
            <a:bodyPr wrap="none" anchor="ctr" anchorCtr="0">
              <a:spAutoFit/>
            </a:bodyPr>
            <a:lstStyle/>
            <a:p>
              <a:pPr algn="ctr" defTabSz="931881">
                <a:lnSpc>
                  <a:spcPct val="90000"/>
                </a:lnSpc>
                <a:spcAft>
                  <a:spcPts val="800"/>
                </a:spcAft>
                <a:defRPr/>
              </a:pPr>
              <a:r>
                <a:rPr lang="en-US" sz="1200">
                  <a:ln w="3175">
                    <a:noFill/>
                  </a:ln>
                  <a:gradFill>
                    <a:gsLst>
                      <a:gs pos="83000">
                        <a:srgbClr val="000000"/>
                      </a:gs>
                      <a:gs pos="100000">
                        <a:srgbClr val="000000"/>
                      </a:gs>
                    </a:gsLst>
                    <a:lin ang="5400000" scaled="1"/>
                  </a:gradFill>
                  <a:latin typeface="Segoe UI Semibold"/>
                  <a:cs typeface="Segoe UI Semilight" panose="020B0402040204020203" pitchFamily="34" charset="0"/>
                </a:rPr>
                <a:t>Azure Cosmos DB</a:t>
              </a:r>
              <a:endParaRPr lang="en-US" sz="120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grpSp>
      <p:pic>
        <p:nvPicPr>
          <p:cNvPr id="61" name="Picture 60" descr="azure logo">
            <a:extLst>
              <a:ext uri="{FF2B5EF4-FFF2-40B4-BE49-F238E27FC236}">
                <a16:creationId xmlns:a16="http://schemas.microsoft.com/office/drawing/2014/main" id="{A7299810-9052-4362-B991-A68AEDC85A52}"/>
              </a:ext>
            </a:extLst>
          </p:cNvPr>
          <p:cNvPicPr>
            <a:picLocks noChangeAspect="1"/>
          </p:cNvPicPr>
          <p:nvPr/>
        </p:nvPicPr>
        <p:blipFill>
          <a:blip r:embed="rId30" cstate="print">
            <a:extLst>
              <a:ext uri="{28A0092B-C50C-407E-A947-70E740481C1C}">
                <a14:useLocalDpi xmlns:a14="http://schemas.microsoft.com/office/drawing/2010/main" val="0"/>
              </a:ext>
            </a:extLst>
          </a:blip>
          <a:srcRect/>
          <a:stretch/>
        </p:blipFill>
        <p:spPr>
          <a:xfrm>
            <a:off x="3656644" y="5922240"/>
            <a:ext cx="696795" cy="696795"/>
          </a:xfrm>
          <a:prstGeom prst="rect">
            <a:avLst/>
          </a:prstGeom>
        </p:spPr>
      </p:pic>
      <p:grpSp>
        <p:nvGrpSpPr>
          <p:cNvPr id="4" name="Group 3" descr="AWS workloads">
            <a:extLst>
              <a:ext uri="{FF2B5EF4-FFF2-40B4-BE49-F238E27FC236}">
                <a16:creationId xmlns:a16="http://schemas.microsoft.com/office/drawing/2014/main" id="{E913514C-8D4B-4908-B303-BF943694A01A}"/>
              </a:ext>
            </a:extLst>
          </p:cNvPr>
          <p:cNvGrpSpPr/>
          <p:nvPr/>
        </p:nvGrpSpPr>
        <p:grpSpPr>
          <a:xfrm>
            <a:off x="7654449" y="1411702"/>
            <a:ext cx="1961462" cy="5338953"/>
            <a:chOff x="7773359" y="1411109"/>
            <a:chExt cx="1962019" cy="5340467"/>
          </a:xfrm>
        </p:grpSpPr>
        <p:sp>
          <p:nvSpPr>
            <p:cNvPr id="52" name="Right Bracket 51">
              <a:extLst>
                <a:ext uri="{FF2B5EF4-FFF2-40B4-BE49-F238E27FC236}">
                  <a16:creationId xmlns:a16="http://schemas.microsoft.com/office/drawing/2014/main" id="{9F982CF9-90F0-45D1-BC8D-7835A049F97A}"/>
                </a:ext>
                <a:ext uri="{C183D7F6-B498-43B3-948B-1728B52AA6E4}">
                  <adec:decorative xmlns:adec="http://schemas.microsoft.com/office/drawing/2017/decorative" val="1"/>
                </a:ext>
              </a:extLst>
            </p:cNvPr>
            <p:cNvSpPr/>
            <p:nvPr/>
          </p:nvSpPr>
          <p:spPr>
            <a:xfrm rot="5400000">
              <a:off x="8663434" y="5211157"/>
              <a:ext cx="162636" cy="1925951"/>
            </a:xfrm>
            <a:prstGeom prst="rightBracket">
              <a:avLst/>
            </a:prstGeom>
            <a:noFill/>
            <a:ln w="38100" cap="flat">
              <a:solidFill>
                <a:schemeClr val="bg2"/>
              </a:solidFill>
              <a:prstDash val="solid"/>
              <a:miter lim="800000"/>
              <a:headEnd/>
              <a:tailEnd/>
            </a:ln>
            <a:extLst>
              <a:ext uri="{909E8E84-426E-40DD-AFC4-6F175D3DCCD1}">
                <a14:hiddenFill xmlns:a14="http://schemas.microsoft.com/office/drawing/2010/main">
                  <a:solidFill>
                    <a:srgbClr val="FFFFFF"/>
                  </a:solidFill>
                </a14:hiddenFill>
              </a:ext>
            </a:extLst>
          </p:spPr>
          <p:txBody>
            <a:bodyPr rtlCol="0" anchor="ctr"/>
            <a:lstStyle/>
            <a:p>
              <a:pPr algn="ctr" defTabSz="932239">
                <a:defRPr/>
              </a:pPr>
              <a:endParaRPr lang="en-US" sz="1836">
                <a:solidFill>
                  <a:srgbClr val="000000"/>
                </a:solidFill>
                <a:latin typeface="Segoe UI"/>
              </a:endParaRPr>
            </a:p>
          </p:txBody>
        </p:sp>
        <p:grpSp>
          <p:nvGrpSpPr>
            <p:cNvPr id="8" name="Group 7">
              <a:extLst>
                <a:ext uri="{FF2B5EF4-FFF2-40B4-BE49-F238E27FC236}">
                  <a16:creationId xmlns:a16="http://schemas.microsoft.com/office/drawing/2014/main" id="{288373FA-CE1D-4535-BBB7-A96966A1FC74}"/>
                </a:ext>
                <a:ext uri="{C183D7F6-B498-43B3-948B-1728B52AA6E4}">
                  <adec:decorative xmlns:adec="http://schemas.microsoft.com/office/drawing/2017/decorative" val="1"/>
                </a:ext>
              </a:extLst>
            </p:cNvPr>
            <p:cNvGrpSpPr/>
            <p:nvPr/>
          </p:nvGrpSpPr>
          <p:grpSpPr>
            <a:xfrm>
              <a:off x="8264601" y="5791273"/>
              <a:ext cx="960303" cy="960303"/>
              <a:chOff x="8275297" y="5678234"/>
              <a:chExt cx="941559" cy="941559"/>
            </a:xfrm>
          </p:grpSpPr>
          <p:sp>
            <p:nvSpPr>
              <p:cNvPr id="54" name="Oval 53">
                <a:extLst>
                  <a:ext uri="{FF2B5EF4-FFF2-40B4-BE49-F238E27FC236}">
                    <a16:creationId xmlns:a16="http://schemas.microsoft.com/office/drawing/2014/main" id="{06DF684A-258E-4A94-82BF-ACB94DB8B98B}"/>
                  </a:ext>
                </a:extLst>
              </p:cNvPr>
              <p:cNvSpPr/>
              <p:nvPr/>
            </p:nvSpPr>
            <p:spPr bwMode="auto">
              <a:xfrm>
                <a:off x="8275297" y="5678234"/>
                <a:ext cx="941559" cy="941559"/>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68" tIns="149175" rIns="186468" bIns="149175" numCol="1" spcCol="0" rtlCol="0" fromWordArt="0" anchor="t" anchorCtr="0" forceAA="0" compatLnSpc="1">
                <a:prstTxWarp prst="textNoShape">
                  <a:avLst/>
                </a:prstTxWarp>
                <a:noAutofit/>
              </a:bodyPr>
              <a:lstStyle/>
              <a:p>
                <a:pPr defTabSz="950663" fontAlgn="base">
                  <a:spcBef>
                    <a:spcPct val="0"/>
                  </a:spcBef>
                  <a:spcAft>
                    <a:spcPct val="0"/>
                  </a:spcAft>
                  <a:defRPr/>
                </a:pPr>
                <a:endParaRPr lang="en-US" sz="2040" err="1">
                  <a:solidFill>
                    <a:srgbClr val="FFFFFF"/>
                  </a:solidFill>
                  <a:latin typeface="Segoe UI"/>
                  <a:ea typeface="Segoe UI" pitchFamily="34" charset="0"/>
                  <a:cs typeface="Segoe UI" pitchFamily="34" charset="0"/>
                </a:endParaRPr>
              </a:p>
            </p:txBody>
          </p:sp>
          <p:pic>
            <p:nvPicPr>
              <p:cNvPr id="11" name="Graphic 10">
                <a:extLst>
                  <a:ext uri="{FF2B5EF4-FFF2-40B4-BE49-F238E27FC236}">
                    <a16:creationId xmlns:a16="http://schemas.microsoft.com/office/drawing/2014/main" id="{52E097CB-EE74-4C65-B871-647A456FFADE}"/>
                  </a:ext>
                </a:extLst>
              </p:cNvPr>
              <p:cNvPicPr>
                <a:picLocks noChangeAspect="1"/>
              </p:cNvPicPr>
              <p:nvPr/>
            </p:nvPicPr>
            <p:blipFill>
              <a:blip r:embed="rId31" cstate="print">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8404383" y="5990497"/>
                <a:ext cx="683387" cy="409133"/>
              </a:xfrm>
              <a:prstGeom prst="rect">
                <a:avLst/>
              </a:prstGeom>
            </p:spPr>
          </p:pic>
        </p:grpSp>
        <p:sp>
          <p:nvSpPr>
            <p:cNvPr id="34" name="Rectangle: Rounded Corners 33">
              <a:extLst>
                <a:ext uri="{FF2B5EF4-FFF2-40B4-BE49-F238E27FC236}">
                  <a16:creationId xmlns:a16="http://schemas.microsoft.com/office/drawing/2014/main" id="{106211C9-F4B6-4DAB-A0C7-337EED4CB0C7}"/>
                </a:ext>
              </a:extLst>
            </p:cNvPr>
            <p:cNvSpPr/>
            <p:nvPr/>
          </p:nvSpPr>
          <p:spPr bwMode="auto">
            <a:xfrm>
              <a:off x="7773359" y="1411109"/>
              <a:ext cx="1962019" cy="4472686"/>
            </a:xfrm>
            <a:prstGeom prst="roundRect">
              <a:avLst>
                <a:gd name="adj" fmla="val 4438"/>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34" tIns="137121" rIns="93234" bIns="186468" numCol="1" spcCol="0" rtlCol="0" fromWordArt="0" anchor="t" anchorCtr="0" forceAA="0" compatLnSpc="1">
              <a:prstTxWarp prst="textNoShape">
                <a:avLst/>
              </a:prstTxWarp>
              <a:noAutofit/>
            </a:bodyPr>
            <a:lstStyle/>
            <a:p>
              <a:pPr algn="ctr" defTabSz="931881">
                <a:lnSpc>
                  <a:spcPct val="90000"/>
                </a:lnSpc>
                <a:spcAft>
                  <a:spcPts val="800"/>
                </a:spcAft>
                <a:defRPr/>
              </a:pPr>
              <a:r>
                <a:rPr lang="en-US" dirty="0">
                  <a:ln w="3175">
                    <a:noFill/>
                  </a:ln>
                  <a:solidFill>
                    <a:schemeClr val="tx1"/>
                  </a:solidFill>
                  <a:latin typeface="Segoe UI Semibold"/>
                  <a:cs typeface="Segoe UI Semilight" panose="020B0402040204020203" pitchFamily="34" charset="0"/>
                </a:rPr>
                <a:t>AWS workloads</a:t>
              </a:r>
              <a:endParaRPr lang="en-US" dirty="0">
                <a:ln w="3175">
                  <a:noFill/>
                </a:ln>
                <a:solidFill>
                  <a:schemeClr val="tx1"/>
                </a:solidFill>
                <a:latin typeface="Segoe UI"/>
                <a:cs typeface="Segoe UI Semilight" panose="020B0402040204020203" pitchFamily="34" charset="0"/>
              </a:endParaRPr>
            </a:p>
          </p:txBody>
        </p:sp>
        <p:sp>
          <p:nvSpPr>
            <p:cNvPr id="81" name="TextBox 80">
              <a:extLst>
                <a:ext uri="{FF2B5EF4-FFF2-40B4-BE49-F238E27FC236}">
                  <a16:creationId xmlns:a16="http://schemas.microsoft.com/office/drawing/2014/main" id="{2F36C0CB-B671-4A24-9F48-1E4F95A84F03}"/>
                </a:ext>
              </a:extLst>
            </p:cNvPr>
            <p:cNvSpPr txBox="1"/>
            <p:nvPr/>
          </p:nvSpPr>
          <p:spPr>
            <a:xfrm>
              <a:off x="8221089" y="3231785"/>
              <a:ext cx="1057000" cy="258605"/>
            </a:xfrm>
            <a:prstGeom prst="rect">
              <a:avLst/>
            </a:prstGeom>
            <a:noFill/>
          </p:spPr>
          <p:txBody>
            <a:bodyPr wrap="none" anchor="ctr" anchorCtr="0">
              <a:spAutoFit/>
            </a:bodyPr>
            <a:lstStyle/>
            <a:p>
              <a:pPr algn="ctr" defTabSz="931881">
                <a:lnSpc>
                  <a:spcPct val="90000"/>
                </a:lnSpc>
                <a:spcAft>
                  <a:spcPts val="800"/>
                </a:spcAft>
                <a:defRPr/>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Amazon EKS</a:t>
              </a:r>
              <a:endParaRPr lang="en-US" sz="1200" dirty="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sp>
          <p:nvSpPr>
            <p:cNvPr id="82" name="TextBox 81">
              <a:extLst>
                <a:ext uri="{FF2B5EF4-FFF2-40B4-BE49-F238E27FC236}">
                  <a16:creationId xmlns:a16="http://schemas.microsoft.com/office/drawing/2014/main" id="{E09A9EBB-5655-49DD-8C57-E909C402FA0B}"/>
                </a:ext>
              </a:extLst>
            </p:cNvPr>
            <p:cNvSpPr txBox="1"/>
            <p:nvPr/>
          </p:nvSpPr>
          <p:spPr>
            <a:xfrm>
              <a:off x="8219487" y="4750078"/>
              <a:ext cx="1060207" cy="258605"/>
            </a:xfrm>
            <a:prstGeom prst="rect">
              <a:avLst/>
            </a:prstGeom>
            <a:noFill/>
          </p:spPr>
          <p:txBody>
            <a:bodyPr wrap="none" anchor="ctr" anchorCtr="0">
              <a:spAutoFit/>
            </a:bodyPr>
            <a:lstStyle/>
            <a:p>
              <a:pPr algn="ctr" defTabSz="931881">
                <a:lnSpc>
                  <a:spcPct val="90000"/>
                </a:lnSpc>
                <a:spcAft>
                  <a:spcPts val="800"/>
                </a:spcAft>
                <a:defRPr/>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Amazon EC2</a:t>
              </a:r>
              <a:endParaRPr lang="en-US" sz="1200" dirty="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pic>
          <p:nvPicPr>
            <p:cNvPr id="10" name="Graphic 23">
              <a:extLst>
                <a:ext uri="{FF2B5EF4-FFF2-40B4-BE49-F238E27FC236}">
                  <a16:creationId xmlns:a16="http://schemas.microsoft.com/office/drawing/2014/main" id="{E742FF46-AAD2-4EAB-9545-781F17D73194}"/>
                </a:ext>
                <a:ext uri="{C183D7F6-B498-43B3-948B-1728B52AA6E4}">
                  <adec:decorative xmlns:adec="http://schemas.microsoft.com/office/drawing/2017/decorative" val="1"/>
                </a:ext>
              </a:extLst>
            </p:cNvPr>
            <p:cNvPicPr>
              <a:picLocks noChangeAspect="1" noChangeArrowheads="1"/>
            </p:cNvPicPr>
            <p:nvPr/>
          </p:nvPicPr>
          <p:blipFill>
            <a:blip r:embed="rId33" cstate="print">
              <a:extLst>
                <a:ext uri="{28A0092B-C50C-407E-A947-70E740481C1C}">
                  <a14:useLocalDpi xmlns:a14="http://schemas.microsoft.com/office/drawing/2010/main" val="0"/>
                </a:ext>
              </a:extLst>
            </a:blip>
            <a:srcRect/>
            <a:stretch>
              <a:fillRect/>
            </a:stretch>
          </p:blipFill>
          <p:spPr bwMode="auto">
            <a:xfrm>
              <a:off x="8531897" y="2707228"/>
              <a:ext cx="466302" cy="466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Graphic 5">
              <a:extLst>
                <a:ext uri="{FF2B5EF4-FFF2-40B4-BE49-F238E27FC236}">
                  <a16:creationId xmlns:a16="http://schemas.microsoft.com/office/drawing/2014/main" id="{7B384D00-0109-48FC-854F-0E3D3876E1E4}"/>
                </a:ext>
                <a:ext uri="{C183D7F6-B498-43B3-948B-1728B52AA6E4}">
                  <adec:decorative xmlns:adec="http://schemas.microsoft.com/office/drawing/2017/decorative" val="1"/>
                </a:ext>
              </a:extLst>
            </p:cNvPr>
            <p:cNvPicPr>
              <a:picLocks noChangeAspect="1" noChangeArrowheads="1"/>
            </p:cNvPicPr>
            <p:nvPr/>
          </p:nvPicPr>
          <p:blipFill>
            <a:blip r:embed="rId34" cstate="print">
              <a:extLst>
                <a:ext uri="{28A0092B-C50C-407E-A947-70E740481C1C}">
                  <a14:useLocalDpi xmlns:a14="http://schemas.microsoft.com/office/drawing/2010/main" val="0"/>
                </a:ext>
              </a:extLst>
            </a:blip>
            <a:srcRect/>
            <a:stretch>
              <a:fillRect/>
            </a:stretch>
          </p:blipFill>
          <p:spPr bwMode="auto">
            <a:xfrm>
              <a:off x="8532875" y="4219585"/>
              <a:ext cx="466302" cy="466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 name="Group 5" descr="GCP workloads">
            <a:extLst>
              <a:ext uri="{FF2B5EF4-FFF2-40B4-BE49-F238E27FC236}">
                <a16:creationId xmlns:a16="http://schemas.microsoft.com/office/drawing/2014/main" id="{53A7F2E7-4745-47DA-A34E-DC6CA74047A3}"/>
              </a:ext>
            </a:extLst>
          </p:cNvPr>
          <p:cNvGrpSpPr/>
          <p:nvPr/>
        </p:nvGrpSpPr>
        <p:grpSpPr>
          <a:xfrm>
            <a:off x="9843982" y="1411702"/>
            <a:ext cx="1961462" cy="5347786"/>
            <a:chOff x="9864470" y="1411109"/>
            <a:chExt cx="1962019" cy="5349303"/>
          </a:xfrm>
        </p:grpSpPr>
        <p:sp>
          <p:nvSpPr>
            <p:cNvPr id="53" name="Right Bracket 52">
              <a:extLst>
                <a:ext uri="{FF2B5EF4-FFF2-40B4-BE49-F238E27FC236}">
                  <a16:creationId xmlns:a16="http://schemas.microsoft.com/office/drawing/2014/main" id="{51D3D1BA-020F-41F4-BC92-B657423D1C6B}"/>
                </a:ext>
                <a:ext uri="{C183D7F6-B498-43B3-948B-1728B52AA6E4}">
                  <adec:decorative xmlns:adec="http://schemas.microsoft.com/office/drawing/2017/decorative" val="1"/>
                </a:ext>
              </a:extLst>
            </p:cNvPr>
            <p:cNvSpPr/>
            <p:nvPr/>
          </p:nvSpPr>
          <p:spPr>
            <a:xfrm rot="5400000">
              <a:off x="10782194" y="5211157"/>
              <a:ext cx="162636" cy="1925951"/>
            </a:xfrm>
            <a:prstGeom prst="rightBracket">
              <a:avLst/>
            </a:prstGeom>
            <a:noFill/>
            <a:ln w="38100" cap="flat">
              <a:solidFill>
                <a:schemeClr val="bg2"/>
              </a:solidFill>
              <a:prstDash val="solid"/>
              <a:miter lim="800000"/>
              <a:headEnd/>
              <a:tailEnd/>
            </a:ln>
            <a:extLst>
              <a:ext uri="{909E8E84-426E-40DD-AFC4-6F175D3DCCD1}">
                <a14:hiddenFill xmlns:a14="http://schemas.microsoft.com/office/drawing/2010/main">
                  <a:solidFill>
                    <a:srgbClr val="FFFFFF"/>
                  </a:solidFill>
                </a14:hiddenFill>
              </a:ext>
            </a:extLst>
          </p:spPr>
          <p:txBody>
            <a:bodyPr rtlCol="0" anchor="ctr"/>
            <a:lstStyle/>
            <a:p>
              <a:pPr algn="ctr" defTabSz="932239">
                <a:defRPr/>
              </a:pPr>
              <a:endParaRPr lang="en-US" sz="1836">
                <a:solidFill>
                  <a:srgbClr val="000000"/>
                </a:solidFill>
                <a:latin typeface="Segoe UI"/>
              </a:endParaRPr>
            </a:p>
          </p:txBody>
        </p:sp>
        <p:sp>
          <p:nvSpPr>
            <p:cNvPr id="60" name="Oval 59">
              <a:extLst>
                <a:ext uri="{FF2B5EF4-FFF2-40B4-BE49-F238E27FC236}">
                  <a16:creationId xmlns:a16="http://schemas.microsoft.com/office/drawing/2014/main" id="{80B9331F-DFE4-4807-8F10-B89BD8FC5E0D}"/>
                </a:ext>
                <a:ext uri="{C183D7F6-B498-43B3-948B-1728B52AA6E4}">
                  <adec:decorative xmlns:adec="http://schemas.microsoft.com/office/drawing/2017/decorative" val="1"/>
                </a:ext>
              </a:extLst>
            </p:cNvPr>
            <p:cNvSpPr/>
            <p:nvPr/>
          </p:nvSpPr>
          <p:spPr bwMode="auto">
            <a:xfrm>
              <a:off x="10383362" y="5800109"/>
              <a:ext cx="960303" cy="960303"/>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68" tIns="149175" rIns="186468" bIns="149175" numCol="1" spcCol="0" rtlCol="0" fromWordArt="0" anchor="t" anchorCtr="0" forceAA="0" compatLnSpc="1">
              <a:prstTxWarp prst="textNoShape">
                <a:avLst/>
              </a:prstTxWarp>
              <a:noAutofit/>
            </a:bodyPr>
            <a:lstStyle/>
            <a:p>
              <a:pPr defTabSz="950663" fontAlgn="base">
                <a:spcBef>
                  <a:spcPct val="0"/>
                </a:spcBef>
                <a:spcAft>
                  <a:spcPct val="0"/>
                </a:spcAft>
                <a:defRPr/>
              </a:pPr>
              <a:endParaRPr lang="en-US" sz="2040" err="1">
                <a:solidFill>
                  <a:srgbClr val="FFFFFF"/>
                </a:solidFill>
                <a:latin typeface="Segoe UI"/>
                <a:ea typeface="Segoe UI" pitchFamily="34" charset="0"/>
                <a:cs typeface="Segoe UI" pitchFamily="34" charset="0"/>
              </a:endParaRPr>
            </a:p>
          </p:txBody>
        </p:sp>
        <p:sp>
          <p:nvSpPr>
            <p:cNvPr id="51" name="Rectangle: Rounded Corners 50">
              <a:extLst>
                <a:ext uri="{FF2B5EF4-FFF2-40B4-BE49-F238E27FC236}">
                  <a16:creationId xmlns:a16="http://schemas.microsoft.com/office/drawing/2014/main" id="{B89645C2-0BDA-4299-857B-A18DA3C8945A}"/>
                </a:ext>
              </a:extLst>
            </p:cNvPr>
            <p:cNvSpPr/>
            <p:nvPr/>
          </p:nvSpPr>
          <p:spPr bwMode="auto">
            <a:xfrm>
              <a:off x="9864470" y="1411109"/>
              <a:ext cx="1962019" cy="4472686"/>
            </a:xfrm>
            <a:prstGeom prst="roundRect">
              <a:avLst>
                <a:gd name="adj" fmla="val 4438"/>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3234" tIns="137121" rIns="93234" bIns="186468" numCol="1" spcCol="0" rtlCol="0" fromWordArt="0" anchor="t" anchorCtr="0" forceAA="0" compatLnSpc="1">
              <a:prstTxWarp prst="textNoShape">
                <a:avLst/>
              </a:prstTxWarp>
              <a:noAutofit/>
            </a:bodyPr>
            <a:lstStyle/>
            <a:p>
              <a:pPr algn="ctr" defTabSz="931881">
                <a:lnSpc>
                  <a:spcPct val="90000"/>
                </a:lnSpc>
                <a:spcAft>
                  <a:spcPts val="800"/>
                </a:spcAft>
                <a:defRPr/>
              </a:pPr>
              <a:r>
                <a:rPr lang="en-US" dirty="0">
                  <a:ln w="3175">
                    <a:noFill/>
                  </a:ln>
                  <a:solidFill>
                    <a:schemeClr val="tx1"/>
                  </a:solidFill>
                  <a:latin typeface="Segoe UI Semibold"/>
                  <a:cs typeface="Segoe UI Semilight" panose="020B0402040204020203" pitchFamily="34" charset="0"/>
                </a:rPr>
                <a:t>GCP workloads</a:t>
              </a:r>
            </a:p>
          </p:txBody>
        </p:sp>
        <p:pic>
          <p:nvPicPr>
            <p:cNvPr id="65" name="Picture 4" descr="See the source image">
              <a:extLst>
                <a:ext uri="{FF2B5EF4-FFF2-40B4-BE49-F238E27FC236}">
                  <a16:creationId xmlns:a16="http://schemas.microsoft.com/office/drawing/2014/main" id="{A6402320-BC4F-4DC6-B8D5-21CEBD0C89DB}"/>
                </a:ext>
              </a:extLst>
            </p:cNvPr>
            <p:cNvPicPr>
              <a:picLocks noChangeAspect="1" noChangeArrowheads="1"/>
            </p:cNvPicPr>
            <p:nvPr/>
          </p:nvPicPr>
          <p:blipFill rotWithShape="1">
            <a:blip r:embed="rId35" cstate="screen">
              <a:extLst>
                <a:ext uri="{28A0092B-C50C-407E-A947-70E740481C1C}">
                  <a14:useLocalDpi xmlns:a14="http://schemas.microsoft.com/office/drawing/2010/main"/>
                </a:ext>
              </a:extLst>
            </a:blip>
            <a:srcRect l="27156" t="9388" r="27156" b="39903"/>
            <a:stretch/>
          </p:blipFill>
          <p:spPr bwMode="auto">
            <a:xfrm>
              <a:off x="10531203" y="6063960"/>
              <a:ext cx="664619" cy="414927"/>
            </a:xfrm>
            <a:prstGeom prst="rect">
              <a:avLst/>
            </a:prstGeom>
            <a:extLst>
              <a:ext uri="{909E8E84-426E-40DD-AFC4-6F175D3DCCD1}">
                <a14:hiddenFill xmlns:a14="http://schemas.microsoft.com/office/drawing/2010/main">
                  <a:solidFill>
                    <a:srgbClr val="FFFFFF"/>
                  </a:solidFill>
                </a14:hiddenFill>
              </a:ext>
            </a:extLst>
          </p:spPr>
        </p:pic>
        <p:pic>
          <p:nvPicPr>
            <p:cNvPr id="1030" name="Picture 6" descr="Kicking ass the Kubernetes way. Part 1(Clusters) | by Samuel Okediji | FAUN  Publication">
              <a:extLst>
                <a:ext uri="{FF2B5EF4-FFF2-40B4-BE49-F238E27FC236}">
                  <a16:creationId xmlns:a16="http://schemas.microsoft.com/office/drawing/2014/main" id="{3E79AC72-EA8B-4AB3-81F3-EBBDF96B2EEA}"/>
                </a:ext>
              </a:extLst>
            </p:cNvPr>
            <p:cNvPicPr>
              <a:picLocks noChangeAspect="1" noChangeArrowheads="1"/>
            </p:cNvPicPr>
            <p:nvPr/>
          </p:nvPicPr>
          <p:blipFill>
            <a:blip r:embed="rId36" cstate="print">
              <a:extLst>
                <a:ext uri="{28A0092B-C50C-407E-A947-70E740481C1C}">
                  <a14:useLocalDpi xmlns:a14="http://schemas.microsoft.com/office/drawing/2010/main" val="0"/>
                </a:ext>
              </a:extLst>
            </a:blip>
            <a:srcRect/>
            <a:stretch>
              <a:fillRect/>
            </a:stretch>
          </p:blipFill>
          <p:spPr bwMode="auto">
            <a:xfrm>
              <a:off x="10551175" y="2691910"/>
              <a:ext cx="533119" cy="466302"/>
            </a:xfrm>
            <a:prstGeom prst="rect">
              <a:avLst/>
            </a:prstGeom>
            <a:noFill/>
            <a:extLst>
              <a:ext uri="{909E8E84-426E-40DD-AFC4-6F175D3DCCD1}">
                <a14:hiddenFill xmlns:a14="http://schemas.microsoft.com/office/drawing/2010/main">
                  <a:solidFill>
                    <a:srgbClr val="FFFFFF"/>
                  </a:solidFill>
                </a14:hiddenFill>
              </a:ext>
            </a:extLst>
          </p:spPr>
        </p:pic>
        <p:sp>
          <p:nvSpPr>
            <p:cNvPr id="89" name="TextBox 88">
              <a:extLst>
                <a:ext uri="{FF2B5EF4-FFF2-40B4-BE49-F238E27FC236}">
                  <a16:creationId xmlns:a16="http://schemas.microsoft.com/office/drawing/2014/main" id="{FA486A00-9BBA-4346-9B80-445196721F7E}"/>
                </a:ext>
              </a:extLst>
            </p:cNvPr>
            <p:cNvSpPr txBox="1"/>
            <p:nvPr/>
          </p:nvSpPr>
          <p:spPr>
            <a:xfrm>
              <a:off x="10298822" y="3231785"/>
              <a:ext cx="1037823" cy="258605"/>
            </a:xfrm>
            <a:prstGeom prst="rect">
              <a:avLst/>
            </a:prstGeom>
            <a:noFill/>
          </p:spPr>
          <p:txBody>
            <a:bodyPr wrap="none" anchor="ctr" anchorCtr="0">
              <a:spAutoFit/>
            </a:bodyPr>
            <a:lstStyle/>
            <a:p>
              <a:pPr algn="ctr" defTabSz="931881">
                <a:lnSpc>
                  <a:spcPct val="90000"/>
                </a:lnSpc>
                <a:spcAft>
                  <a:spcPts val="800"/>
                </a:spcAft>
                <a:defRPr/>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GKE clusters</a:t>
              </a:r>
              <a:endParaRPr lang="en-US" sz="1200" dirty="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pic>
          <p:nvPicPr>
            <p:cNvPr id="1034" name="Picture 10" descr="Colore Icon - Google Compute Engine Logo Png, Transparent Png , Transparent  Png Image - PNGitem">
              <a:extLst>
                <a:ext uri="{FF2B5EF4-FFF2-40B4-BE49-F238E27FC236}">
                  <a16:creationId xmlns:a16="http://schemas.microsoft.com/office/drawing/2014/main" id="{F80F1884-A3DA-4B11-BE00-874FEC3C71FB}"/>
                </a:ext>
              </a:extLst>
            </p:cNvPr>
            <p:cNvPicPr>
              <a:picLocks noChangeAspect="1" noChangeArrowheads="1"/>
            </p:cNvPicPr>
            <p:nvPr/>
          </p:nvPicPr>
          <p:blipFill rotWithShape="1">
            <a:blip r:embed="rId37" cstate="print">
              <a:clrChange>
                <a:clrFrom>
                  <a:srgbClr val="F7F7F7"/>
                </a:clrFrom>
                <a:clrTo>
                  <a:srgbClr val="F7F7F7">
                    <a:alpha val="0"/>
                  </a:srgbClr>
                </a:clrTo>
              </a:clrChange>
              <a:extLst>
                <a:ext uri="{28A0092B-C50C-407E-A947-70E740481C1C}">
                  <a14:useLocalDpi xmlns:a14="http://schemas.microsoft.com/office/drawing/2010/main" val="0"/>
                </a:ext>
              </a:extLst>
            </a:blip>
            <a:srcRect l="2764" t="4324" r="3180" b="5033"/>
            <a:stretch/>
          </p:blipFill>
          <p:spPr bwMode="auto">
            <a:xfrm>
              <a:off x="10551175" y="4150519"/>
              <a:ext cx="571500" cy="507206"/>
            </a:xfrm>
            <a:prstGeom prst="rect">
              <a:avLst/>
            </a:prstGeom>
            <a:noFill/>
            <a:extLst>
              <a:ext uri="{909E8E84-426E-40DD-AFC4-6F175D3DCCD1}">
                <a14:hiddenFill xmlns:a14="http://schemas.microsoft.com/office/drawing/2010/main">
                  <a:solidFill>
                    <a:srgbClr val="FFFFFF"/>
                  </a:solidFill>
                </a14:hiddenFill>
              </a:ext>
            </a:extLst>
          </p:spPr>
        </p:pic>
        <p:sp>
          <p:nvSpPr>
            <p:cNvPr id="90" name="TextBox 89">
              <a:extLst>
                <a:ext uri="{FF2B5EF4-FFF2-40B4-BE49-F238E27FC236}">
                  <a16:creationId xmlns:a16="http://schemas.microsoft.com/office/drawing/2014/main" id="{5BB25286-ABC0-4C08-85E1-2DE74528AAAD}"/>
                </a:ext>
              </a:extLst>
            </p:cNvPr>
            <p:cNvSpPr txBox="1"/>
            <p:nvPr/>
          </p:nvSpPr>
          <p:spPr>
            <a:xfrm>
              <a:off x="10175917" y="4750077"/>
              <a:ext cx="1375190" cy="258605"/>
            </a:xfrm>
            <a:prstGeom prst="rect">
              <a:avLst/>
            </a:prstGeom>
            <a:noFill/>
          </p:spPr>
          <p:txBody>
            <a:bodyPr wrap="none" anchor="ctr" anchorCtr="0">
              <a:spAutoFit/>
            </a:bodyPr>
            <a:lstStyle/>
            <a:p>
              <a:pPr algn="ctr" defTabSz="931881">
                <a:lnSpc>
                  <a:spcPct val="90000"/>
                </a:lnSpc>
                <a:spcAft>
                  <a:spcPts val="800"/>
                </a:spcAft>
                <a:defRPr/>
              </a:pPr>
              <a:r>
                <a:rPr lang="en-US" sz="1200" dirty="0">
                  <a:ln w="3175">
                    <a:noFill/>
                  </a:ln>
                  <a:gradFill>
                    <a:gsLst>
                      <a:gs pos="83000">
                        <a:srgbClr val="000000"/>
                      </a:gs>
                      <a:gs pos="100000">
                        <a:srgbClr val="000000"/>
                      </a:gs>
                    </a:gsLst>
                    <a:lin ang="5400000" scaled="1"/>
                  </a:gradFill>
                  <a:latin typeface="Segoe UI Semibold"/>
                  <a:cs typeface="Segoe UI Semilight" panose="020B0402040204020203" pitchFamily="34" charset="0"/>
                </a:rPr>
                <a:t>Google Compute</a:t>
              </a:r>
              <a:endParaRPr lang="en-US" sz="1200" dirty="0">
                <a:ln w="3175">
                  <a:noFill/>
                </a:ln>
                <a:gradFill>
                  <a:gsLst>
                    <a:gs pos="83000">
                      <a:srgbClr val="000000"/>
                    </a:gs>
                    <a:gs pos="100000">
                      <a:srgbClr val="000000"/>
                    </a:gs>
                  </a:gsLst>
                  <a:lin ang="5400000" scaled="1"/>
                </a:gradFill>
                <a:latin typeface="Segoe UI"/>
                <a:cs typeface="Segoe UI Semilight" panose="020B0402040204020203" pitchFamily="34" charset="0"/>
              </a:endParaRPr>
            </a:p>
          </p:txBody>
        </p:sp>
      </p:grpSp>
    </p:spTree>
    <p:extLst>
      <p:ext uri="{BB962C8B-B14F-4D97-AF65-F5344CB8AC3E}">
        <p14:creationId xmlns:p14="http://schemas.microsoft.com/office/powerpoint/2010/main" val="13233987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path" presetSubtype="0" decel="100000" fill="hold" nodeType="withEffect">
                                  <p:stCondLst>
                                    <p:cond delay="0"/>
                                  </p:stCondLst>
                                  <p:childTnLst>
                                    <p:animMotion origin="layout" path="M 2.30278E-6 -2.68271E-6 L 0.00064 0.03586 " pathEditMode="relative" rAng="0" ptsTypes="AA">
                                      <p:cBhvr>
                                        <p:cTn id="9" dur="500" spd="-100000" fill="hold"/>
                                        <p:tgtEl>
                                          <p:spTgt spid="3"/>
                                        </p:tgtEl>
                                        <p:attrNameLst>
                                          <p:attrName>ppt_x</p:attrName>
                                          <p:attrName>ppt_y</p:attrName>
                                        </p:attrNameLst>
                                      </p:cBhvr>
                                      <p:rCtr x="26" y="1793"/>
                                    </p:animMotion>
                                  </p:childTnLst>
                                </p:cTn>
                              </p:par>
                              <p:par>
                                <p:cTn id="10" presetID="10" presetClass="entr" presetSubtype="0" fill="hold" nodeType="withEffect">
                                  <p:stCondLst>
                                    <p:cond delay="15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42" presetClass="path" presetSubtype="0" decel="100000" fill="hold" nodeType="withEffect">
                                  <p:stCondLst>
                                    <p:cond delay="150"/>
                                  </p:stCondLst>
                                  <p:childTnLst>
                                    <p:animMotion origin="layout" path="M -1.33776E-6 4.49387E-6 L 0.00064 0.03586 " pathEditMode="relative" rAng="0" ptsTypes="AA">
                                      <p:cBhvr>
                                        <p:cTn id="14" dur="500" spd="-100000" fill="hold"/>
                                        <p:tgtEl>
                                          <p:spTgt spid="4"/>
                                        </p:tgtEl>
                                        <p:attrNameLst>
                                          <p:attrName>ppt_x</p:attrName>
                                          <p:attrName>ppt_y</p:attrName>
                                        </p:attrNameLst>
                                      </p:cBhvr>
                                      <p:rCtr x="26" y="1793"/>
                                    </p:animMotion>
                                  </p:childTnLst>
                                </p:cTn>
                              </p:par>
                              <p:par>
                                <p:cTn id="15" presetID="10" presetClass="entr" presetSubtype="0" fill="hold" nodeType="withEffect">
                                  <p:stCondLst>
                                    <p:cond delay="3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42" presetClass="path" presetSubtype="0" decel="100000" fill="hold" nodeType="withEffect">
                                  <p:stCondLst>
                                    <p:cond delay="300"/>
                                  </p:stCondLst>
                                  <p:childTnLst>
                                    <p:animMotion origin="layout" path="M 3.44141E-6 3.60418E-6 L 0.00063 0.03586 " pathEditMode="relative" rAng="0" ptsTypes="AA">
                                      <p:cBhvr>
                                        <p:cTn id="19" dur="500" spd="-100000" fill="hold"/>
                                        <p:tgtEl>
                                          <p:spTgt spid="6"/>
                                        </p:tgtEl>
                                        <p:attrNameLst>
                                          <p:attrName>ppt_x</p:attrName>
                                          <p:attrName>ppt_y</p:attrName>
                                        </p:attrNameLst>
                                      </p:cBhvr>
                                      <p:rCtr x="26" y="1793"/>
                                    </p:animMotion>
                                  </p:childTnLst>
                                </p:cTn>
                              </p:par>
                              <p:par>
                                <p:cTn id="20" presetID="10" presetClass="entr" presetSubtype="0" fill="hold" nodeType="with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fade">
                                      <p:cBhvr>
                                        <p:cTn id="22" dur="500"/>
                                        <p:tgtEl>
                                          <p:spTgt spid="61"/>
                                        </p:tgtEl>
                                      </p:cBhvr>
                                    </p:animEffect>
                                  </p:childTnLst>
                                </p:cTn>
                              </p:par>
                              <p:par>
                                <p:cTn id="23" presetID="42" presetClass="path" presetSubtype="0" decel="100000" fill="hold" nodeType="withEffect">
                                  <p:stCondLst>
                                    <p:cond delay="0"/>
                                  </p:stCondLst>
                                  <p:childTnLst>
                                    <p:animMotion origin="layout" path="M -4.85065E-8 -4.76623E-6 L 0.00064 0.03586 " pathEditMode="relative" rAng="0" ptsTypes="AA">
                                      <p:cBhvr>
                                        <p:cTn id="24" dur="500" spd="-100000" fill="hold"/>
                                        <p:tgtEl>
                                          <p:spTgt spid="61"/>
                                        </p:tgtEl>
                                        <p:attrNameLst>
                                          <p:attrName>ppt_x</p:attrName>
                                          <p:attrName>ppt_y</p:attrName>
                                        </p:attrNameLst>
                                      </p:cBhvr>
                                      <p:rCtr x="26" y="17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ED0468C-4EB1-4BF4-B77F-8A0B9245D8D7}"/>
              </a:ext>
            </a:extLst>
          </p:cNvPr>
          <p:cNvSpPr>
            <a:spLocks noGrp="1"/>
          </p:cNvSpPr>
          <p:nvPr>
            <p:ph type="title"/>
          </p:nvPr>
        </p:nvSpPr>
        <p:spPr>
          <a:xfrm>
            <a:off x="550124" y="2939496"/>
            <a:ext cx="4027292" cy="1017048"/>
          </a:xfrm>
        </p:spPr>
        <p:txBody>
          <a:bodyPr/>
          <a:lstStyle/>
          <a:p>
            <a:r>
              <a:rPr lang="en-US" sz="3600" dirty="0"/>
              <a:t>Operationalize Defender for Cloud</a:t>
            </a:r>
          </a:p>
        </p:txBody>
      </p:sp>
    </p:spTree>
    <p:extLst>
      <p:ext uri="{BB962C8B-B14F-4D97-AF65-F5344CB8AC3E}">
        <p14:creationId xmlns:p14="http://schemas.microsoft.com/office/powerpoint/2010/main" val="910316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path" presetSubtype="0" decel="100000" fill="hold" grpId="1" nodeType="withEffect">
                                  <p:stCondLst>
                                    <p:cond delay="150"/>
                                  </p:stCondLst>
                                  <p:childTnLst>
                                    <p:animMotion origin="layout" path="M -2.66786E-6 -4.13981E-6 L -0.0134 -4.13981E-6 " pathEditMode="relative" rAng="0" ptsTypes="AA">
                                      <p:cBhvr>
                                        <p:cTn id="9" dur="500" spd="-100000" fill="hold"/>
                                        <p:tgtEl>
                                          <p:spTgt spid="3"/>
                                        </p:tgtEl>
                                        <p:attrNameLst>
                                          <p:attrName>ppt_x</p:attrName>
                                          <p:attrName>ppt_y</p:attrName>
                                        </p:attrNameLst>
                                      </p:cBhvr>
                                      <p:rCtr x="-67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BEC1C-3B57-46DF-80F9-256BC1BBA89E}"/>
              </a:ext>
            </a:extLst>
          </p:cNvPr>
          <p:cNvSpPr>
            <a:spLocks noGrp="1"/>
          </p:cNvSpPr>
          <p:nvPr>
            <p:ph type="title"/>
          </p:nvPr>
        </p:nvSpPr>
        <p:spPr>
          <a:xfrm>
            <a:off x="554794" y="466302"/>
            <a:ext cx="11239464" cy="553998"/>
          </a:xfrm>
        </p:spPr>
        <p:txBody>
          <a:bodyPr/>
          <a:lstStyle/>
          <a:p>
            <a:r>
              <a:rPr lang="en-US" sz="3600" dirty="0"/>
              <a:t>Multi-cloud and hybrid protection</a:t>
            </a:r>
          </a:p>
        </p:txBody>
      </p:sp>
      <p:sp>
        <p:nvSpPr>
          <p:cNvPr id="65" name="TextBox 64">
            <a:extLst>
              <a:ext uri="{FF2B5EF4-FFF2-40B4-BE49-F238E27FC236}">
                <a16:creationId xmlns:a16="http://schemas.microsoft.com/office/drawing/2014/main" id="{D8EC742F-88A2-452F-B83E-9391EAB40DD9}"/>
              </a:ext>
            </a:extLst>
          </p:cNvPr>
          <p:cNvSpPr txBox="1"/>
          <p:nvPr/>
        </p:nvSpPr>
        <p:spPr>
          <a:xfrm>
            <a:off x="566928" y="1327785"/>
            <a:ext cx="9539161" cy="1319190"/>
          </a:xfrm>
          <a:prstGeom prst="rect">
            <a:avLst/>
          </a:prstGeom>
          <a:noFill/>
        </p:spPr>
        <p:txBody>
          <a:bodyPr wrap="square" lIns="0" tIns="0" rIns="0" bIns="0" rtlCol="0">
            <a:spAutoFit/>
          </a:bodyPr>
          <a:lstStyle/>
          <a:p>
            <a:pPr lvl="1" defTabSz="931881">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Automatic onboarding for Azure subscriptions </a:t>
            </a:r>
          </a:p>
          <a:p>
            <a:pPr lvl="1" defTabSz="931881">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Use API connectors to onboard AWS and GCP accounts to posture management capabilities</a:t>
            </a:r>
          </a:p>
          <a:p>
            <a:pPr lvl="1" defTabSz="931881">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Use the Azure Arc agent to onboard workloads outside of Azure and protect them against threats</a:t>
            </a:r>
          </a:p>
        </p:txBody>
      </p:sp>
      <p:sp>
        <p:nvSpPr>
          <p:cNvPr id="12" name="Rectangle: Top Corners Rounded 11">
            <a:extLst>
              <a:ext uri="{FF2B5EF4-FFF2-40B4-BE49-F238E27FC236}">
                <a16:creationId xmlns:a16="http://schemas.microsoft.com/office/drawing/2014/main" id="{EE78C7AF-75C0-44C4-BACA-9F7DC02BAE89}"/>
              </a:ext>
              <a:ext uri="{C183D7F6-B498-43B3-948B-1728B52AA6E4}">
                <adec:decorative xmlns:adec="http://schemas.microsoft.com/office/drawing/2017/decorative" val="1"/>
              </a:ext>
            </a:extLst>
          </p:cNvPr>
          <p:cNvSpPr/>
          <p:nvPr/>
        </p:nvSpPr>
        <p:spPr bwMode="auto">
          <a:xfrm>
            <a:off x="882" y="3226593"/>
            <a:ext cx="12434711" cy="3767933"/>
          </a:xfrm>
          <a:prstGeom prst="round2SameRect">
            <a:avLst>
              <a:gd name="adj1" fmla="val 50000"/>
              <a:gd name="adj2" fmla="val 0"/>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spcBef>
                <a:spcPct val="0"/>
              </a:spcBef>
              <a:spcAft>
                <a:spcPct val="0"/>
              </a:spcAft>
              <a:defRPr/>
            </a:pPr>
            <a:endParaRPr lang="en-US" sz="2040" dirty="0">
              <a:solidFill>
                <a:srgbClr val="FFFFFF"/>
              </a:solidFill>
              <a:latin typeface="Segoe UI"/>
              <a:ea typeface="Segoe UI" pitchFamily="34" charset="0"/>
              <a:cs typeface="Segoe UI" pitchFamily="34" charset="0"/>
            </a:endParaRPr>
          </a:p>
        </p:txBody>
      </p:sp>
      <p:sp>
        <p:nvSpPr>
          <p:cNvPr id="102" name="TextBox 101">
            <a:extLst>
              <a:ext uri="{FF2B5EF4-FFF2-40B4-BE49-F238E27FC236}">
                <a16:creationId xmlns:a16="http://schemas.microsoft.com/office/drawing/2014/main" id="{117E168E-A27E-43C1-9894-DC0E0B217817}"/>
              </a:ext>
            </a:extLst>
          </p:cNvPr>
          <p:cNvSpPr txBox="1"/>
          <p:nvPr/>
        </p:nvSpPr>
        <p:spPr>
          <a:xfrm>
            <a:off x="1623625" y="3725674"/>
            <a:ext cx="2178055" cy="738664"/>
          </a:xfrm>
          <a:prstGeom prst="rect">
            <a:avLst/>
          </a:prstGeom>
          <a:noFill/>
        </p:spPr>
        <p:txBody>
          <a:bodyPr wrap="square" lIns="91414" tIns="0" rIns="0" bIns="0" rtlCol="0" anchor="ctr">
            <a:spAutoFit/>
          </a:bodyPr>
          <a:lstStyle/>
          <a:p>
            <a:pPr algn="ctr" defTabSz="932205">
              <a:defRPr/>
            </a:pPr>
            <a:r>
              <a:rPr lang="en-US" sz="1600" dirty="0">
                <a:solidFill>
                  <a:schemeClr val="accent3"/>
                </a:solidFill>
                <a:latin typeface="Segoe UI Semibold"/>
              </a:rPr>
              <a:t>Use API connectors for agentless CSPM enablement</a:t>
            </a:r>
          </a:p>
        </p:txBody>
      </p:sp>
      <p:sp>
        <p:nvSpPr>
          <p:cNvPr id="7" name="Left Bracket 6">
            <a:extLst>
              <a:ext uri="{FF2B5EF4-FFF2-40B4-BE49-F238E27FC236}">
                <a16:creationId xmlns:a16="http://schemas.microsoft.com/office/drawing/2014/main" id="{8D8F3833-8AC4-4953-BE34-E9880608B496}"/>
              </a:ext>
              <a:ext uri="{C183D7F6-B498-43B3-948B-1728B52AA6E4}">
                <adec:decorative xmlns:adec="http://schemas.microsoft.com/office/drawing/2017/decorative" val="1"/>
              </a:ext>
            </a:extLst>
          </p:cNvPr>
          <p:cNvSpPr/>
          <p:nvPr/>
        </p:nvSpPr>
        <p:spPr>
          <a:xfrm rot="5400000">
            <a:off x="6018462" y="224203"/>
            <a:ext cx="407070" cy="10004565"/>
          </a:xfrm>
          <a:prstGeom prst="leftBracket">
            <a:avLst>
              <a:gd name="adj" fmla="val 132101"/>
            </a:avLst>
          </a:prstGeom>
          <a:ln w="12700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defTabSz="932114" fontAlgn="base">
              <a:spcBef>
                <a:spcPct val="0"/>
              </a:spcBef>
              <a:spcAft>
                <a:spcPct val="0"/>
              </a:spcAft>
              <a:defRPr/>
            </a:pPr>
            <a:endParaRPr lang="en-US" sz="2000">
              <a:solidFill>
                <a:srgbClr val="FFFFFF"/>
              </a:solidFill>
              <a:latin typeface="Segoe UI"/>
              <a:cs typeface="Segoe UI" pitchFamily="34" charset="0"/>
            </a:endParaRPr>
          </a:p>
        </p:txBody>
      </p:sp>
      <p:cxnSp>
        <p:nvCxnSpPr>
          <p:cNvPr id="15" name="Straight Connector 14">
            <a:extLst>
              <a:ext uri="{FF2B5EF4-FFF2-40B4-BE49-F238E27FC236}">
                <a16:creationId xmlns:a16="http://schemas.microsoft.com/office/drawing/2014/main" id="{418B8876-022E-488C-B0FF-A1475D050B94}"/>
              </a:ext>
              <a:ext uri="{C183D7F6-B498-43B3-948B-1728B52AA6E4}">
                <adec:decorative xmlns:adec="http://schemas.microsoft.com/office/drawing/2017/decorative" val="1"/>
              </a:ext>
            </a:extLst>
          </p:cNvPr>
          <p:cNvCxnSpPr>
            <a:cxnSpLocks/>
          </p:cNvCxnSpPr>
          <p:nvPr/>
        </p:nvCxnSpPr>
        <p:spPr>
          <a:xfrm flipH="1">
            <a:off x="1212194" y="5455643"/>
            <a:ext cx="7521" cy="1538880"/>
          </a:xfrm>
          <a:prstGeom prst="line">
            <a:avLst/>
          </a:prstGeom>
          <a:ln w="12700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E4977EC-DD39-483A-905A-FE7932854C69}"/>
              </a:ext>
              <a:ext uri="{C183D7F6-B498-43B3-948B-1728B52AA6E4}">
                <adec:decorative xmlns:adec="http://schemas.microsoft.com/office/drawing/2017/decorative" val="1"/>
              </a:ext>
            </a:extLst>
          </p:cNvPr>
          <p:cNvCxnSpPr>
            <a:cxnSpLocks/>
          </p:cNvCxnSpPr>
          <p:nvPr/>
        </p:nvCxnSpPr>
        <p:spPr>
          <a:xfrm flipH="1">
            <a:off x="11220520" y="5455642"/>
            <a:ext cx="3760" cy="1538881"/>
          </a:xfrm>
          <a:prstGeom prst="line">
            <a:avLst/>
          </a:prstGeom>
          <a:ln w="12700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4A2E60A-9B85-4667-AE25-5CD67BDB827A}"/>
              </a:ext>
              <a:ext uri="{C183D7F6-B498-43B3-948B-1728B52AA6E4}">
                <adec:decorative xmlns:adec="http://schemas.microsoft.com/office/drawing/2017/decorative" val="1"/>
              </a:ext>
            </a:extLst>
          </p:cNvPr>
          <p:cNvCxnSpPr>
            <a:cxnSpLocks/>
          </p:cNvCxnSpPr>
          <p:nvPr/>
        </p:nvCxnSpPr>
        <p:spPr>
          <a:xfrm>
            <a:off x="2572064" y="5032604"/>
            <a:ext cx="473480" cy="0"/>
          </a:xfrm>
          <a:prstGeom prst="line">
            <a:avLst/>
          </a:prstGeom>
          <a:ln w="127000" cap="rnd">
            <a:solidFill>
              <a:schemeClr val="accent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9BB219D7-968A-4A4B-BA60-0F7A4EE90F5A}"/>
              </a:ext>
              <a:ext uri="{C183D7F6-B498-43B3-948B-1728B52AA6E4}">
                <adec:decorative xmlns:adec="http://schemas.microsoft.com/office/drawing/2017/decorative" val="1"/>
              </a:ext>
            </a:extLst>
          </p:cNvPr>
          <p:cNvGrpSpPr/>
          <p:nvPr/>
        </p:nvGrpSpPr>
        <p:grpSpPr>
          <a:xfrm>
            <a:off x="1856105" y="4674624"/>
            <a:ext cx="715960" cy="715960"/>
            <a:chOff x="1534621" y="2003526"/>
            <a:chExt cx="716162" cy="716162"/>
          </a:xfrm>
        </p:grpSpPr>
        <p:sp>
          <p:nvSpPr>
            <p:cNvPr id="34" name="Oval 33">
              <a:extLst>
                <a:ext uri="{FF2B5EF4-FFF2-40B4-BE49-F238E27FC236}">
                  <a16:creationId xmlns:a16="http://schemas.microsoft.com/office/drawing/2014/main" id="{1C46A764-B356-4EB1-8BE3-20F6828BCCD8}"/>
                </a:ext>
              </a:extLst>
            </p:cNvPr>
            <p:cNvSpPr/>
            <p:nvPr/>
          </p:nvSpPr>
          <p:spPr bwMode="auto">
            <a:xfrm>
              <a:off x="1534621" y="2003526"/>
              <a:ext cx="716162" cy="716162"/>
            </a:xfrm>
            <a:prstGeom prst="ellipse">
              <a:avLst/>
            </a:prstGeom>
            <a:solidFill>
              <a:srgbClr val="FFFFFF"/>
            </a:solidFill>
            <a:ln w="5715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defTabSz="932114" fontAlgn="base">
                <a:spcBef>
                  <a:spcPct val="0"/>
                </a:spcBef>
                <a:spcAft>
                  <a:spcPct val="0"/>
                </a:spcAft>
                <a:defRPr/>
              </a:pPr>
              <a:endParaRPr lang="en-US" sz="2000" err="1">
                <a:solidFill>
                  <a:srgbClr val="FFFFFF"/>
                </a:solidFill>
                <a:latin typeface="Segoe UI"/>
                <a:cs typeface="Segoe UI" pitchFamily="34" charset="0"/>
              </a:endParaRPr>
            </a:p>
          </p:txBody>
        </p:sp>
        <p:pic>
          <p:nvPicPr>
            <p:cNvPr id="35" name="Picture 4" descr="Google Cloud Logo | evolution history and meaning, PNG">
              <a:extLst>
                <a:ext uri="{FF2B5EF4-FFF2-40B4-BE49-F238E27FC236}">
                  <a16:creationId xmlns:a16="http://schemas.microsoft.com/office/drawing/2014/main" id="{EFEF6046-BC9D-4CD2-8C71-2F6F858B924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6859" t="9653" r="26923" b="35384"/>
            <a:stretch/>
          </p:blipFill>
          <p:spPr bwMode="auto">
            <a:xfrm>
              <a:off x="1593105" y="2161195"/>
              <a:ext cx="599194" cy="400825"/>
            </a:xfrm>
            <a:prstGeom prst="rect">
              <a:avLst/>
            </a:prstGeom>
            <a:noFill/>
            <a:ln>
              <a:noFill/>
            </a:ln>
            <a:extLst>
              <a:ext uri="{909E8E84-426E-40DD-AFC4-6F175D3DCCD1}">
                <a14:hiddenFill xmlns:a14="http://schemas.microsoft.com/office/drawing/2010/main">
                  <a:solidFill>
                    <a:srgbClr val="FFFFFF"/>
                  </a:solidFill>
                </a14:hiddenFill>
              </a:ext>
            </a:extLst>
          </p:spPr>
        </p:pic>
      </p:grpSp>
      <p:grpSp>
        <p:nvGrpSpPr>
          <p:cNvPr id="36" name="Group 35">
            <a:extLst>
              <a:ext uri="{FF2B5EF4-FFF2-40B4-BE49-F238E27FC236}">
                <a16:creationId xmlns:a16="http://schemas.microsoft.com/office/drawing/2014/main" id="{9BB07689-4E17-4629-8DAF-354C0FCA4D1D}"/>
              </a:ext>
              <a:ext uri="{C183D7F6-B498-43B3-948B-1728B52AA6E4}">
                <adec:decorative xmlns:adec="http://schemas.microsoft.com/office/drawing/2017/decorative" val="1"/>
              </a:ext>
            </a:extLst>
          </p:cNvPr>
          <p:cNvGrpSpPr/>
          <p:nvPr/>
        </p:nvGrpSpPr>
        <p:grpSpPr>
          <a:xfrm>
            <a:off x="3045544" y="4663905"/>
            <a:ext cx="715960" cy="715960"/>
            <a:chOff x="2898081" y="1975113"/>
            <a:chExt cx="716162" cy="716162"/>
          </a:xfrm>
        </p:grpSpPr>
        <p:sp>
          <p:nvSpPr>
            <p:cNvPr id="37" name="Oval 36">
              <a:extLst>
                <a:ext uri="{FF2B5EF4-FFF2-40B4-BE49-F238E27FC236}">
                  <a16:creationId xmlns:a16="http://schemas.microsoft.com/office/drawing/2014/main" id="{0493825F-55DB-4D5B-AFC7-3C59CFA1A826}"/>
                </a:ext>
              </a:extLst>
            </p:cNvPr>
            <p:cNvSpPr/>
            <p:nvPr/>
          </p:nvSpPr>
          <p:spPr bwMode="auto">
            <a:xfrm>
              <a:off x="2898081" y="1975113"/>
              <a:ext cx="716162" cy="716162"/>
            </a:xfrm>
            <a:prstGeom prst="ellipse">
              <a:avLst/>
            </a:prstGeom>
            <a:solidFill>
              <a:srgbClr val="FFFFFF"/>
            </a:solidFill>
            <a:ln w="5715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defTabSz="932114" fontAlgn="base">
                <a:spcBef>
                  <a:spcPct val="0"/>
                </a:spcBef>
                <a:spcAft>
                  <a:spcPct val="0"/>
                </a:spcAft>
                <a:defRPr/>
              </a:pPr>
              <a:endParaRPr lang="en-US" sz="2000" err="1">
                <a:solidFill>
                  <a:srgbClr val="FFFFFF"/>
                </a:solidFill>
                <a:latin typeface="Segoe UI"/>
                <a:cs typeface="Segoe UI" pitchFamily="34" charset="0"/>
              </a:endParaRPr>
            </a:p>
          </p:txBody>
        </p:sp>
        <p:pic>
          <p:nvPicPr>
            <p:cNvPr id="38" name="Graphic 37" descr="aws logo">
              <a:extLst>
                <a:ext uri="{FF2B5EF4-FFF2-40B4-BE49-F238E27FC236}">
                  <a16:creationId xmlns:a16="http://schemas.microsoft.com/office/drawing/2014/main" id="{A321110F-3366-4EF5-A1C2-BC8774C2DEA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039279" y="2203350"/>
              <a:ext cx="433766" cy="259688"/>
            </a:xfrm>
            <a:prstGeom prst="rect">
              <a:avLst/>
            </a:prstGeom>
          </p:spPr>
        </p:pic>
      </p:grpSp>
      <p:sp>
        <p:nvSpPr>
          <p:cNvPr id="30" name="TextBox 29">
            <a:extLst>
              <a:ext uri="{FF2B5EF4-FFF2-40B4-BE49-F238E27FC236}">
                <a16:creationId xmlns:a16="http://schemas.microsoft.com/office/drawing/2014/main" id="{FF953757-A682-4763-86D7-1F69C5D74DBE}"/>
              </a:ext>
            </a:extLst>
          </p:cNvPr>
          <p:cNvSpPr txBox="1"/>
          <p:nvPr/>
        </p:nvSpPr>
        <p:spPr>
          <a:xfrm>
            <a:off x="1130618" y="5633092"/>
            <a:ext cx="4747231" cy="492443"/>
          </a:xfrm>
          <a:prstGeom prst="rect">
            <a:avLst/>
          </a:prstGeom>
          <a:noFill/>
          <a:ln>
            <a:noFill/>
          </a:ln>
        </p:spPr>
        <p:txBody>
          <a:bodyPr wrap="square" lIns="0" tIns="0" rIns="0" bIns="0" rtlCol="0" anchor="ctr">
            <a:spAutoFit/>
          </a:bodyPr>
          <a:lstStyle>
            <a:defPPr>
              <a:defRPr lang="en-US"/>
            </a:defPPr>
            <a:lvl1pPr defTabSz="914016">
              <a:defRPr sz="1371">
                <a:solidFill>
                  <a:srgbClr val="000000"/>
                </a:solidFill>
                <a:latin typeface="Segoe UI Semibold"/>
              </a:defRPr>
            </a:lvl1pPr>
          </a:lstStyle>
          <a:p>
            <a:pPr algn="ctr" defTabSz="932205">
              <a:defRPr/>
            </a:pPr>
            <a:r>
              <a:rPr lang="en-US" sz="1600" dirty="0"/>
              <a:t>Deploy the Azure Arc agent to enable </a:t>
            </a:r>
            <a:br>
              <a:rPr lang="en-US" sz="1600" dirty="0"/>
            </a:br>
            <a:r>
              <a:rPr lang="en-US" sz="1600" dirty="0"/>
              <a:t>workload protection</a:t>
            </a:r>
          </a:p>
        </p:txBody>
      </p:sp>
      <p:grpSp>
        <p:nvGrpSpPr>
          <p:cNvPr id="39" name="Group 38">
            <a:extLst>
              <a:ext uri="{FF2B5EF4-FFF2-40B4-BE49-F238E27FC236}">
                <a16:creationId xmlns:a16="http://schemas.microsoft.com/office/drawing/2014/main" id="{FDD4763C-6D15-4526-97B8-7EE66EC058D7}"/>
              </a:ext>
              <a:ext uri="{C183D7F6-B498-43B3-948B-1728B52AA6E4}">
                <adec:decorative xmlns:adec="http://schemas.microsoft.com/office/drawing/2017/decorative" val="1"/>
              </a:ext>
            </a:extLst>
          </p:cNvPr>
          <p:cNvGrpSpPr/>
          <p:nvPr/>
        </p:nvGrpSpPr>
        <p:grpSpPr>
          <a:xfrm>
            <a:off x="4234984" y="4663905"/>
            <a:ext cx="715960" cy="715960"/>
            <a:chOff x="4219668" y="1970619"/>
            <a:chExt cx="716162" cy="716162"/>
          </a:xfrm>
        </p:grpSpPr>
        <p:sp>
          <p:nvSpPr>
            <p:cNvPr id="40" name="Oval 39">
              <a:extLst>
                <a:ext uri="{FF2B5EF4-FFF2-40B4-BE49-F238E27FC236}">
                  <a16:creationId xmlns:a16="http://schemas.microsoft.com/office/drawing/2014/main" id="{1EB31209-F9A5-48AA-8864-413090037422}"/>
                </a:ext>
              </a:extLst>
            </p:cNvPr>
            <p:cNvSpPr/>
            <p:nvPr/>
          </p:nvSpPr>
          <p:spPr bwMode="auto">
            <a:xfrm>
              <a:off x="4219668" y="1970619"/>
              <a:ext cx="716162" cy="716162"/>
            </a:xfrm>
            <a:prstGeom prst="ellipse">
              <a:avLst/>
            </a:prstGeom>
            <a:solidFill>
              <a:srgbClr val="FFFFFF"/>
            </a:solidFill>
            <a:ln w="57150">
              <a:solidFill>
                <a:srgbClr val="E6E6E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defTabSz="932114" fontAlgn="base">
                <a:spcBef>
                  <a:spcPct val="0"/>
                </a:spcBef>
                <a:spcAft>
                  <a:spcPct val="0"/>
                </a:spcAft>
                <a:defRPr/>
              </a:pPr>
              <a:endParaRPr lang="en-US" sz="2000" err="1">
                <a:solidFill>
                  <a:srgbClr val="FFFFFF"/>
                </a:solidFill>
                <a:latin typeface="Segoe UI"/>
                <a:cs typeface="Segoe UI" pitchFamily="34" charset="0"/>
              </a:endParaRPr>
            </a:p>
          </p:txBody>
        </p:sp>
        <p:sp>
          <p:nvSpPr>
            <p:cNvPr id="41" name="building_8" descr="buildings">
              <a:extLst>
                <a:ext uri="{FF2B5EF4-FFF2-40B4-BE49-F238E27FC236}">
                  <a16:creationId xmlns:a16="http://schemas.microsoft.com/office/drawing/2014/main" id="{3072E9C0-B94C-43B2-837C-909EEEFD7E9D}"/>
                </a:ext>
              </a:extLst>
            </p:cNvPr>
            <p:cNvSpPr>
              <a:spLocks noChangeAspect="1" noEditPoints="1"/>
            </p:cNvSpPr>
            <p:nvPr/>
          </p:nvSpPr>
          <p:spPr bwMode="auto">
            <a:xfrm>
              <a:off x="4401284" y="2137046"/>
              <a:ext cx="352930" cy="383309"/>
            </a:xfrm>
            <a:custGeom>
              <a:avLst/>
              <a:gdLst>
                <a:gd name="T0" fmla="*/ 299 w 395"/>
                <a:gd name="T1" fmla="*/ 151 h 429"/>
                <a:gd name="T2" fmla="*/ 299 w 395"/>
                <a:gd name="T3" fmla="*/ 429 h 429"/>
                <a:gd name="T4" fmla="*/ 242 w 395"/>
                <a:gd name="T5" fmla="*/ 429 h 429"/>
                <a:gd name="T6" fmla="*/ 242 w 395"/>
                <a:gd name="T7" fmla="*/ 333 h 429"/>
                <a:gd name="T8" fmla="*/ 181 w 395"/>
                <a:gd name="T9" fmla="*/ 333 h 429"/>
                <a:gd name="T10" fmla="*/ 181 w 395"/>
                <a:gd name="T11" fmla="*/ 429 h 429"/>
                <a:gd name="T12" fmla="*/ 121 w 395"/>
                <a:gd name="T13" fmla="*/ 429 h 429"/>
                <a:gd name="T14" fmla="*/ 121 w 395"/>
                <a:gd name="T15" fmla="*/ 151 h 429"/>
                <a:gd name="T16" fmla="*/ 211 w 395"/>
                <a:gd name="T17" fmla="*/ 151 h 429"/>
                <a:gd name="T18" fmla="*/ 299 w 395"/>
                <a:gd name="T19" fmla="*/ 151 h 429"/>
                <a:gd name="T20" fmla="*/ 211 w 395"/>
                <a:gd name="T21" fmla="*/ 151 h 429"/>
                <a:gd name="T22" fmla="*/ 211 w 395"/>
                <a:gd name="T23" fmla="*/ 92 h 429"/>
                <a:gd name="T24" fmla="*/ 0 w 395"/>
                <a:gd name="T25" fmla="*/ 92 h 429"/>
                <a:gd name="T26" fmla="*/ 0 w 395"/>
                <a:gd name="T27" fmla="*/ 429 h 429"/>
                <a:gd name="T28" fmla="*/ 395 w 395"/>
                <a:gd name="T29" fmla="*/ 429 h 429"/>
                <a:gd name="T30" fmla="*/ 395 w 395"/>
                <a:gd name="T31" fmla="*/ 123 h 429"/>
                <a:gd name="T32" fmla="*/ 268 w 395"/>
                <a:gd name="T33" fmla="*/ 0 h 429"/>
                <a:gd name="T34" fmla="*/ 268 w 395"/>
                <a:gd name="T35" fmla="*/ 151 h 429"/>
                <a:gd name="T36" fmla="*/ 62 w 395"/>
                <a:gd name="T37" fmla="*/ 151 h 429"/>
                <a:gd name="T38" fmla="*/ 56 w 395"/>
                <a:gd name="T39" fmla="*/ 151 h 429"/>
                <a:gd name="T40" fmla="*/ 56 w 395"/>
                <a:gd name="T41" fmla="*/ 155 h 429"/>
                <a:gd name="T42" fmla="*/ 62 w 395"/>
                <a:gd name="T43" fmla="*/ 155 h 429"/>
                <a:gd name="T44" fmla="*/ 62 w 395"/>
                <a:gd name="T45" fmla="*/ 151 h 429"/>
                <a:gd name="T46" fmla="*/ 62 w 395"/>
                <a:gd name="T47" fmla="*/ 211 h 429"/>
                <a:gd name="T48" fmla="*/ 56 w 395"/>
                <a:gd name="T49" fmla="*/ 211 h 429"/>
                <a:gd name="T50" fmla="*/ 56 w 395"/>
                <a:gd name="T51" fmla="*/ 217 h 429"/>
                <a:gd name="T52" fmla="*/ 62 w 395"/>
                <a:gd name="T53" fmla="*/ 217 h 429"/>
                <a:gd name="T54" fmla="*/ 62 w 395"/>
                <a:gd name="T55" fmla="*/ 211 h 429"/>
                <a:gd name="T56" fmla="*/ 62 w 395"/>
                <a:gd name="T57" fmla="*/ 271 h 429"/>
                <a:gd name="T58" fmla="*/ 56 w 395"/>
                <a:gd name="T59" fmla="*/ 271 h 429"/>
                <a:gd name="T60" fmla="*/ 56 w 395"/>
                <a:gd name="T61" fmla="*/ 277 h 429"/>
                <a:gd name="T62" fmla="*/ 62 w 395"/>
                <a:gd name="T63" fmla="*/ 277 h 429"/>
                <a:gd name="T64" fmla="*/ 62 w 395"/>
                <a:gd name="T65" fmla="*/ 271 h 429"/>
                <a:gd name="T66" fmla="*/ 62 w 395"/>
                <a:gd name="T67" fmla="*/ 332 h 429"/>
                <a:gd name="T68" fmla="*/ 56 w 395"/>
                <a:gd name="T69" fmla="*/ 332 h 429"/>
                <a:gd name="T70" fmla="*/ 56 w 395"/>
                <a:gd name="T71" fmla="*/ 337 h 429"/>
                <a:gd name="T72" fmla="*/ 62 w 395"/>
                <a:gd name="T73" fmla="*/ 337 h 429"/>
                <a:gd name="T74" fmla="*/ 62 w 395"/>
                <a:gd name="T75" fmla="*/ 332 h 429"/>
                <a:gd name="T76" fmla="*/ 62 w 395"/>
                <a:gd name="T77" fmla="*/ 392 h 429"/>
                <a:gd name="T78" fmla="*/ 56 w 395"/>
                <a:gd name="T79" fmla="*/ 392 h 429"/>
                <a:gd name="T80" fmla="*/ 56 w 395"/>
                <a:gd name="T81" fmla="*/ 397 h 429"/>
                <a:gd name="T82" fmla="*/ 62 w 395"/>
                <a:gd name="T83" fmla="*/ 397 h 429"/>
                <a:gd name="T84" fmla="*/ 62 w 395"/>
                <a:gd name="T85" fmla="*/ 392 h 429"/>
                <a:gd name="T86" fmla="*/ 182 w 395"/>
                <a:gd name="T87" fmla="*/ 211 h 429"/>
                <a:gd name="T88" fmla="*/ 177 w 395"/>
                <a:gd name="T89" fmla="*/ 211 h 429"/>
                <a:gd name="T90" fmla="*/ 177 w 395"/>
                <a:gd name="T91" fmla="*/ 217 h 429"/>
                <a:gd name="T92" fmla="*/ 182 w 395"/>
                <a:gd name="T93" fmla="*/ 217 h 429"/>
                <a:gd name="T94" fmla="*/ 182 w 395"/>
                <a:gd name="T95" fmla="*/ 211 h 429"/>
                <a:gd name="T96" fmla="*/ 182 w 395"/>
                <a:gd name="T97" fmla="*/ 273 h 429"/>
                <a:gd name="T98" fmla="*/ 177 w 395"/>
                <a:gd name="T99" fmla="*/ 273 h 429"/>
                <a:gd name="T100" fmla="*/ 177 w 395"/>
                <a:gd name="T101" fmla="*/ 277 h 429"/>
                <a:gd name="T102" fmla="*/ 182 w 395"/>
                <a:gd name="T103" fmla="*/ 277 h 429"/>
                <a:gd name="T104" fmla="*/ 182 w 395"/>
                <a:gd name="T105" fmla="*/ 273 h 429"/>
                <a:gd name="T106" fmla="*/ 243 w 395"/>
                <a:gd name="T107" fmla="*/ 211 h 429"/>
                <a:gd name="T108" fmla="*/ 237 w 395"/>
                <a:gd name="T109" fmla="*/ 211 h 429"/>
                <a:gd name="T110" fmla="*/ 237 w 395"/>
                <a:gd name="T111" fmla="*/ 217 h 429"/>
                <a:gd name="T112" fmla="*/ 243 w 395"/>
                <a:gd name="T113" fmla="*/ 217 h 429"/>
                <a:gd name="T114" fmla="*/ 243 w 395"/>
                <a:gd name="T115" fmla="*/ 211 h 429"/>
                <a:gd name="T116" fmla="*/ 243 w 395"/>
                <a:gd name="T117" fmla="*/ 273 h 429"/>
                <a:gd name="T118" fmla="*/ 237 w 395"/>
                <a:gd name="T119" fmla="*/ 273 h 429"/>
                <a:gd name="T120" fmla="*/ 237 w 395"/>
                <a:gd name="T121" fmla="*/ 277 h 429"/>
                <a:gd name="T122" fmla="*/ 243 w 395"/>
                <a:gd name="T123" fmla="*/ 277 h 429"/>
                <a:gd name="T124" fmla="*/ 243 w 395"/>
                <a:gd name="T125" fmla="*/ 273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95" h="429">
                  <a:moveTo>
                    <a:pt x="299" y="151"/>
                  </a:moveTo>
                  <a:lnTo>
                    <a:pt x="299" y="429"/>
                  </a:lnTo>
                  <a:lnTo>
                    <a:pt x="242" y="429"/>
                  </a:lnTo>
                  <a:lnTo>
                    <a:pt x="242" y="333"/>
                  </a:lnTo>
                  <a:lnTo>
                    <a:pt x="181" y="333"/>
                  </a:lnTo>
                  <a:lnTo>
                    <a:pt x="181" y="429"/>
                  </a:lnTo>
                  <a:lnTo>
                    <a:pt x="121" y="429"/>
                  </a:lnTo>
                  <a:lnTo>
                    <a:pt x="121" y="151"/>
                  </a:lnTo>
                  <a:lnTo>
                    <a:pt x="211" y="151"/>
                  </a:lnTo>
                  <a:lnTo>
                    <a:pt x="299" y="151"/>
                  </a:lnTo>
                  <a:moveTo>
                    <a:pt x="211" y="151"/>
                  </a:moveTo>
                  <a:lnTo>
                    <a:pt x="211" y="92"/>
                  </a:lnTo>
                  <a:lnTo>
                    <a:pt x="0" y="92"/>
                  </a:lnTo>
                  <a:lnTo>
                    <a:pt x="0" y="429"/>
                  </a:lnTo>
                  <a:moveTo>
                    <a:pt x="395" y="429"/>
                  </a:moveTo>
                  <a:lnTo>
                    <a:pt x="395" y="123"/>
                  </a:lnTo>
                  <a:lnTo>
                    <a:pt x="268" y="0"/>
                  </a:lnTo>
                  <a:lnTo>
                    <a:pt x="268" y="151"/>
                  </a:lnTo>
                  <a:moveTo>
                    <a:pt x="62" y="151"/>
                  </a:moveTo>
                  <a:lnTo>
                    <a:pt x="56" y="151"/>
                  </a:lnTo>
                  <a:lnTo>
                    <a:pt x="56" y="155"/>
                  </a:lnTo>
                  <a:lnTo>
                    <a:pt x="62" y="155"/>
                  </a:lnTo>
                  <a:lnTo>
                    <a:pt x="62" y="151"/>
                  </a:lnTo>
                  <a:moveTo>
                    <a:pt x="62" y="211"/>
                  </a:moveTo>
                  <a:lnTo>
                    <a:pt x="56" y="211"/>
                  </a:lnTo>
                  <a:lnTo>
                    <a:pt x="56" y="217"/>
                  </a:lnTo>
                  <a:lnTo>
                    <a:pt x="62" y="217"/>
                  </a:lnTo>
                  <a:lnTo>
                    <a:pt x="62" y="211"/>
                  </a:lnTo>
                  <a:moveTo>
                    <a:pt x="62" y="271"/>
                  </a:moveTo>
                  <a:lnTo>
                    <a:pt x="56" y="271"/>
                  </a:lnTo>
                  <a:lnTo>
                    <a:pt x="56" y="277"/>
                  </a:lnTo>
                  <a:lnTo>
                    <a:pt x="62" y="277"/>
                  </a:lnTo>
                  <a:lnTo>
                    <a:pt x="62" y="271"/>
                  </a:lnTo>
                  <a:moveTo>
                    <a:pt x="62" y="332"/>
                  </a:moveTo>
                  <a:lnTo>
                    <a:pt x="56" y="332"/>
                  </a:lnTo>
                  <a:lnTo>
                    <a:pt x="56" y="337"/>
                  </a:lnTo>
                  <a:lnTo>
                    <a:pt x="62" y="337"/>
                  </a:lnTo>
                  <a:lnTo>
                    <a:pt x="62" y="332"/>
                  </a:lnTo>
                  <a:moveTo>
                    <a:pt x="62" y="392"/>
                  </a:moveTo>
                  <a:lnTo>
                    <a:pt x="56" y="392"/>
                  </a:lnTo>
                  <a:lnTo>
                    <a:pt x="56" y="397"/>
                  </a:lnTo>
                  <a:lnTo>
                    <a:pt x="62" y="397"/>
                  </a:lnTo>
                  <a:lnTo>
                    <a:pt x="62" y="392"/>
                  </a:lnTo>
                  <a:moveTo>
                    <a:pt x="182" y="211"/>
                  </a:moveTo>
                  <a:lnTo>
                    <a:pt x="177" y="211"/>
                  </a:lnTo>
                  <a:lnTo>
                    <a:pt x="177" y="217"/>
                  </a:lnTo>
                  <a:lnTo>
                    <a:pt x="182" y="217"/>
                  </a:lnTo>
                  <a:lnTo>
                    <a:pt x="182" y="211"/>
                  </a:lnTo>
                  <a:moveTo>
                    <a:pt x="182" y="273"/>
                  </a:moveTo>
                  <a:lnTo>
                    <a:pt x="177" y="273"/>
                  </a:lnTo>
                  <a:lnTo>
                    <a:pt x="177" y="277"/>
                  </a:lnTo>
                  <a:lnTo>
                    <a:pt x="182" y="277"/>
                  </a:lnTo>
                  <a:lnTo>
                    <a:pt x="182" y="273"/>
                  </a:lnTo>
                  <a:moveTo>
                    <a:pt x="243" y="211"/>
                  </a:moveTo>
                  <a:lnTo>
                    <a:pt x="237" y="211"/>
                  </a:lnTo>
                  <a:lnTo>
                    <a:pt x="237" y="217"/>
                  </a:lnTo>
                  <a:lnTo>
                    <a:pt x="243" y="217"/>
                  </a:lnTo>
                  <a:lnTo>
                    <a:pt x="243" y="211"/>
                  </a:lnTo>
                  <a:moveTo>
                    <a:pt x="243" y="273"/>
                  </a:moveTo>
                  <a:lnTo>
                    <a:pt x="237" y="273"/>
                  </a:lnTo>
                  <a:lnTo>
                    <a:pt x="237" y="277"/>
                  </a:lnTo>
                  <a:lnTo>
                    <a:pt x="243" y="277"/>
                  </a:lnTo>
                  <a:lnTo>
                    <a:pt x="243" y="273"/>
                  </a:ln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16" tIns="44809" rIns="89616" bIns="44809" numCol="1" anchor="t" anchorCtr="0" compatLnSpc="1">
              <a:prstTxWarp prst="textNoShape">
                <a:avLst/>
              </a:prstTxWarp>
            </a:bodyPr>
            <a:lstStyle/>
            <a:p>
              <a:pPr defTabSz="932384">
                <a:defRPr/>
              </a:pPr>
              <a:endParaRPr lang="en-US" sz="1730">
                <a:solidFill>
                  <a:srgbClr val="000000"/>
                </a:solidFill>
                <a:latin typeface="Segoe UI"/>
              </a:endParaRPr>
            </a:p>
          </p:txBody>
        </p:sp>
      </p:grpSp>
      <p:sp>
        <p:nvSpPr>
          <p:cNvPr id="59" name="Oval 58">
            <a:extLst>
              <a:ext uri="{FF2B5EF4-FFF2-40B4-BE49-F238E27FC236}">
                <a16:creationId xmlns:a16="http://schemas.microsoft.com/office/drawing/2014/main" id="{655421C6-47D4-405A-83BB-16D57DDCEEAF}"/>
              </a:ext>
              <a:ext uri="{C183D7F6-B498-43B3-948B-1728B52AA6E4}">
                <adec:decorative xmlns:adec="http://schemas.microsoft.com/office/drawing/2017/decorative" val="1"/>
              </a:ext>
            </a:extLst>
          </p:cNvPr>
          <p:cNvSpPr/>
          <p:nvPr/>
        </p:nvSpPr>
        <p:spPr bwMode="auto">
          <a:xfrm>
            <a:off x="5957007" y="4270949"/>
            <a:ext cx="1587629" cy="1587627"/>
          </a:xfrm>
          <a:prstGeom prst="ellipse">
            <a:avLst/>
          </a:prstGeom>
          <a:solidFill>
            <a:schemeClr val="bg1"/>
          </a:solidFill>
          <a:ln w="92075" cap="rnd">
            <a:solidFill>
              <a:srgbClr val="E6E6E6"/>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defTabSz="932114" fontAlgn="base">
              <a:spcBef>
                <a:spcPct val="0"/>
              </a:spcBef>
              <a:spcAft>
                <a:spcPct val="0"/>
              </a:spcAft>
              <a:defRPr/>
            </a:pPr>
            <a:endParaRPr lang="en-US" sz="2000" err="1">
              <a:solidFill>
                <a:srgbClr val="FFFFFF"/>
              </a:solidFill>
              <a:latin typeface="Segoe UI"/>
              <a:ea typeface="Segoe UI" pitchFamily="34" charset="0"/>
              <a:cs typeface="Segoe UI" pitchFamily="34" charset="0"/>
            </a:endParaRPr>
          </a:p>
        </p:txBody>
      </p:sp>
      <p:grpSp>
        <p:nvGrpSpPr>
          <p:cNvPr id="19" name="Group 18">
            <a:extLst>
              <a:ext uri="{FF2B5EF4-FFF2-40B4-BE49-F238E27FC236}">
                <a16:creationId xmlns:a16="http://schemas.microsoft.com/office/drawing/2014/main" id="{740BD07A-242C-424F-A6CB-E230897C6AC2}"/>
              </a:ext>
              <a:ext uri="{C183D7F6-B498-43B3-948B-1728B52AA6E4}">
                <adec:decorative xmlns:adec="http://schemas.microsoft.com/office/drawing/2017/decorative" val="1"/>
              </a:ext>
            </a:extLst>
          </p:cNvPr>
          <p:cNvGrpSpPr/>
          <p:nvPr/>
        </p:nvGrpSpPr>
        <p:grpSpPr>
          <a:xfrm>
            <a:off x="8643690" y="4663905"/>
            <a:ext cx="715960" cy="715960"/>
            <a:chOff x="8673039" y="1977244"/>
            <a:chExt cx="716162" cy="716162"/>
          </a:xfrm>
        </p:grpSpPr>
        <p:sp>
          <p:nvSpPr>
            <p:cNvPr id="44" name="Oval 43">
              <a:extLst>
                <a:ext uri="{FF2B5EF4-FFF2-40B4-BE49-F238E27FC236}">
                  <a16:creationId xmlns:a16="http://schemas.microsoft.com/office/drawing/2014/main" id="{B8B9CE44-6173-4121-9451-20A44E0D95A4}"/>
                </a:ext>
              </a:extLst>
            </p:cNvPr>
            <p:cNvSpPr/>
            <p:nvPr/>
          </p:nvSpPr>
          <p:spPr bwMode="auto">
            <a:xfrm>
              <a:off x="8673039" y="1977244"/>
              <a:ext cx="716162" cy="716162"/>
            </a:xfrm>
            <a:prstGeom prst="ellipse">
              <a:avLst/>
            </a:prstGeom>
            <a:solidFill>
              <a:schemeClr val="bg1"/>
            </a:solidFill>
            <a:ln w="57150">
              <a:solidFill>
                <a:srgbClr val="E6E6E6"/>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defTabSz="932114" fontAlgn="base">
                <a:spcBef>
                  <a:spcPct val="0"/>
                </a:spcBef>
                <a:spcAft>
                  <a:spcPct val="0"/>
                </a:spcAft>
                <a:defRPr/>
              </a:pPr>
              <a:endParaRPr lang="en-US" sz="2000" err="1">
                <a:solidFill>
                  <a:srgbClr val="FFFFFF"/>
                </a:solidFill>
                <a:latin typeface="Segoe UI"/>
                <a:ea typeface="Segoe UI" pitchFamily="34" charset="0"/>
                <a:cs typeface="Segoe UI" pitchFamily="34" charset="0"/>
              </a:endParaRPr>
            </a:p>
          </p:txBody>
        </p:sp>
        <p:pic>
          <p:nvPicPr>
            <p:cNvPr id="62" name="Picture 2" descr="Microsoft Azure - Wikipedia">
              <a:extLst>
                <a:ext uri="{FF2B5EF4-FFF2-40B4-BE49-F238E27FC236}">
                  <a16:creationId xmlns:a16="http://schemas.microsoft.com/office/drawing/2014/main" id="{A4450B0E-364F-49A7-9DB9-8EB66F5ACAF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835060" y="2139265"/>
              <a:ext cx="392121" cy="392121"/>
            </a:xfrm>
            <a:prstGeom prst="rect">
              <a:avLst/>
            </a:prstGeom>
            <a:noFill/>
            <a:extLst>
              <a:ext uri="{909E8E84-426E-40DD-AFC4-6F175D3DCCD1}">
                <a14:hiddenFill xmlns:a14="http://schemas.microsoft.com/office/drawing/2010/main">
                  <a:solidFill>
                    <a:srgbClr val="FFFFFF"/>
                  </a:solidFill>
                </a14:hiddenFill>
              </a:ext>
            </a:extLst>
          </p:spPr>
        </p:pic>
      </p:grpSp>
      <p:sp>
        <p:nvSpPr>
          <p:cNvPr id="63" name="TextBox 62">
            <a:extLst>
              <a:ext uri="{FF2B5EF4-FFF2-40B4-BE49-F238E27FC236}">
                <a16:creationId xmlns:a16="http://schemas.microsoft.com/office/drawing/2014/main" id="{9E0BA086-985E-42BA-90BE-8CC4CC0EB8CE}"/>
              </a:ext>
            </a:extLst>
          </p:cNvPr>
          <p:cNvSpPr txBox="1"/>
          <p:nvPr/>
        </p:nvSpPr>
        <p:spPr>
          <a:xfrm>
            <a:off x="7973543" y="5633092"/>
            <a:ext cx="2056252" cy="246221"/>
          </a:xfrm>
          <a:prstGeom prst="rect">
            <a:avLst/>
          </a:prstGeom>
          <a:noFill/>
          <a:ln>
            <a:noFill/>
          </a:ln>
        </p:spPr>
        <p:txBody>
          <a:bodyPr wrap="square" lIns="0" tIns="0" rIns="0" bIns="0" rtlCol="0" anchor="ctr">
            <a:spAutoFit/>
          </a:bodyPr>
          <a:lstStyle/>
          <a:p>
            <a:pPr algn="ctr" defTabSz="932205">
              <a:defRPr/>
            </a:pPr>
            <a:r>
              <a:rPr lang="en-US" sz="1600" dirty="0">
                <a:solidFill>
                  <a:srgbClr val="000000"/>
                </a:solidFill>
                <a:latin typeface="Segoe UI Semibold"/>
              </a:rPr>
              <a:t>Built-in</a:t>
            </a:r>
          </a:p>
        </p:txBody>
      </p:sp>
      <p:sp>
        <p:nvSpPr>
          <p:cNvPr id="5" name="Shield_EA18">
            <a:extLst>
              <a:ext uri="{FF2B5EF4-FFF2-40B4-BE49-F238E27FC236}">
                <a16:creationId xmlns:a16="http://schemas.microsoft.com/office/drawing/2014/main" id="{B69DBA7F-5959-0E35-3F40-E465AF17A65B}"/>
              </a:ext>
              <a:ext uri="{C183D7F6-B498-43B3-948B-1728B52AA6E4}">
                <adec:decorative xmlns:adec="http://schemas.microsoft.com/office/drawing/2017/decorative" val="1"/>
              </a:ext>
            </a:extLst>
          </p:cNvPr>
          <p:cNvSpPr>
            <a:spLocks noChangeAspect="1"/>
          </p:cNvSpPr>
          <p:nvPr/>
        </p:nvSpPr>
        <p:spPr bwMode="auto">
          <a:xfrm flipH="1">
            <a:off x="6414750" y="4700863"/>
            <a:ext cx="672141" cy="715605"/>
          </a:xfrm>
          <a:custGeom>
            <a:avLst/>
            <a:gdLst>
              <a:gd name="T0" fmla="*/ 3500 w 3500"/>
              <a:gd name="T1" fmla="*/ 1375 h 3725"/>
              <a:gd name="T2" fmla="*/ 1750 w 3500"/>
              <a:gd name="T3" fmla="*/ 3725 h 3725"/>
              <a:gd name="T4" fmla="*/ 0 w 3500"/>
              <a:gd name="T5" fmla="*/ 1375 h 3725"/>
              <a:gd name="T6" fmla="*/ 0 w 3500"/>
              <a:gd name="T7" fmla="*/ 500 h 3725"/>
              <a:gd name="T8" fmla="*/ 1125 w 3500"/>
              <a:gd name="T9" fmla="*/ 187 h 3725"/>
              <a:gd name="T10" fmla="*/ 1750 w 3500"/>
              <a:gd name="T11" fmla="*/ 0 h 3725"/>
              <a:gd name="T12" fmla="*/ 2375 w 3500"/>
              <a:gd name="T13" fmla="*/ 187 h 3725"/>
              <a:gd name="T14" fmla="*/ 3500 w 3500"/>
              <a:gd name="T15" fmla="*/ 500 h 3725"/>
              <a:gd name="T16" fmla="*/ 3500 w 3500"/>
              <a:gd name="T17" fmla="*/ 1375 h 3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0" h="3725">
                <a:moveTo>
                  <a:pt x="3500" y="1375"/>
                </a:moveTo>
                <a:cubicBezTo>
                  <a:pt x="3500" y="2302"/>
                  <a:pt x="2831" y="3117"/>
                  <a:pt x="1750" y="3725"/>
                </a:cubicBezTo>
                <a:cubicBezTo>
                  <a:pt x="669" y="3117"/>
                  <a:pt x="0" y="2302"/>
                  <a:pt x="0" y="1375"/>
                </a:cubicBezTo>
                <a:cubicBezTo>
                  <a:pt x="0" y="500"/>
                  <a:pt x="0" y="500"/>
                  <a:pt x="0" y="500"/>
                </a:cubicBezTo>
                <a:cubicBezTo>
                  <a:pt x="440" y="500"/>
                  <a:pt x="837" y="380"/>
                  <a:pt x="1125" y="187"/>
                </a:cubicBezTo>
                <a:cubicBezTo>
                  <a:pt x="1285" y="71"/>
                  <a:pt x="1506" y="0"/>
                  <a:pt x="1750" y="0"/>
                </a:cubicBezTo>
                <a:cubicBezTo>
                  <a:pt x="1994" y="0"/>
                  <a:pt x="2215" y="71"/>
                  <a:pt x="2375" y="187"/>
                </a:cubicBezTo>
                <a:cubicBezTo>
                  <a:pt x="2663" y="380"/>
                  <a:pt x="3060" y="500"/>
                  <a:pt x="3500" y="500"/>
                </a:cubicBezTo>
                <a:lnTo>
                  <a:pt x="3500" y="1375"/>
                </a:lnTo>
                <a:close/>
              </a:path>
            </a:pathLst>
          </a:custGeom>
          <a:noFill/>
          <a:ln w="28575" cap="sq">
            <a:solidFill>
              <a:schemeClr val="accent3"/>
            </a:solidFill>
            <a:prstDash val="solid"/>
            <a:miter lim="800000"/>
            <a:headEnd/>
            <a:tailEnd/>
          </a:ln>
        </p:spPr>
        <p:txBody>
          <a:bodyPr vert="horz" wrap="square" lIns="91401" tIns="45700" rIns="91401" bIns="45700" numCol="1" anchor="t" anchorCtr="0" compatLnSpc="1">
            <a:prstTxWarp prst="textNoShape">
              <a:avLst/>
            </a:prstTxWarp>
          </a:bodyPr>
          <a:lstStyle/>
          <a:p>
            <a:pPr defTabSz="932239">
              <a:defRPr/>
            </a:pPr>
            <a:endParaRPr lang="en-US" sz="1762">
              <a:gradFill>
                <a:gsLst>
                  <a:gs pos="0">
                    <a:srgbClr val="505050"/>
                  </a:gs>
                  <a:gs pos="100000">
                    <a:srgbClr val="505050"/>
                  </a:gs>
                </a:gsLst>
              </a:gradFill>
              <a:latin typeface="Segoe UI"/>
            </a:endParaRPr>
          </a:p>
        </p:txBody>
      </p:sp>
      <p:pic>
        <p:nvPicPr>
          <p:cNvPr id="6" name="Graphic 5">
            <a:extLst>
              <a:ext uri="{FF2B5EF4-FFF2-40B4-BE49-F238E27FC236}">
                <a16:creationId xmlns:a16="http://schemas.microsoft.com/office/drawing/2014/main" id="{0CD93C2F-583C-9B03-B3FF-CFDFC80AE6EF}"/>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6200000">
            <a:off x="596837" y="1315950"/>
            <a:ext cx="224853" cy="248523"/>
          </a:xfrm>
          <a:prstGeom prst="rect">
            <a:avLst/>
          </a:prstGeom>
        </p:spPr>
      </p:pic>
      <p:pic>
        <p:nvPicPr>
          <p:cNvPr id="8" name="Graphic 7">
            <a:extLst>
              <a:ext uri="{FF2B5EF4-FFF2-40B4-BE49-F238E27FC236}">
                <a16:creationId xmlns:a16="http://schemas.microsoft.com/office/drawing/2014/main" id="{98D9BCE0-00DE-6096-9570-42BF5104D1B2}"/>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6200000">
            <a:off x="596836" y="1841832"/>
            <a:ext cx="224853" cy="248523"/>
          </a:xfrm>
          <a:prstGeom prst="rect">
            <a:avLst/>
          </a:prstGeom>
        </p:spPr>
      </p:pic>
      <p:pic>
        <p:nvPicPr>
          <p:cNvPr id="9" name="Graphic 8">
            <a:extLst>
              <a:ext uri="{FF2B5EF4-FFF2-40B4-BE49-F238E27FC236}">
                <a16:creationId xmlns:a16="http://schemas.microsoft.com/office/drawing/2014/main" id="{D94E6BDA-8AF7-7D0E-265C-4B292885B9BB}"/>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6200000">
            <a:off x="596837" y="2367714"/>
            <a:ext cx="224853" cy="248523"/>
          </a:xfrm>
          <a:prstGeom prst="rect">
            <a:avLst/>
          </a:prstGeom>
        </p:spPr>
      </p:pic>
    </p:spTree>
    <p:extLst>
      <p:ext uri="{BB962C8B-B14F-4D97-AF65-F5344CB8AC3E}">
        <p14:creationId xmlns:p14="http://schemas.microsoft.com/office/powerpoint/2010/main" val="205713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500"/>
                                        <p:tgtEl>
                                          <p:spTgt spid="65"/>
                                        </p:tgtEl>
                                      </p:cBhvr>
                                    </p:animEffect>
                                  </p:childTnLst>
                                </p:cTn>
                              </p:par>
                              <p:par>
                                <p:cTn id="8" presetID="42" presetClass="path" presetSubtype="0" decel="100000" fill="hold" grpId="1" nodeType="withEffect">
                                  <p:stCondLst>
                                    <p:cond delay="0"/>
                                  </p:stCondLst>
                                  <p:childTnLst>
                                    <p:animMotion origin="layout" path="M 2.68318E-6 -1.00318E-6 L -0.01341 -1.00318E-6 " pathEditMode="relative" rAng="0" ptsTypes="AA">
                                      <p:cBhvr>
                                        <p:cTn id="9" dur="500" spd="-100000" fill="hold"/>
                                        <p:tgtEl>
                                          <p:spTgt spid="65"/>
                                        </p:tgtEl>
                                        <p:attrNameLst>
                                          <p:attrName>ppt_x</p:attrName>
                                          <p:attrName>ppt_y</p:attrName>
                                        </p:attrNameLst>
                                      </p:cBhvr>
                                      <p:rCtr x="-67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5"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B949DB0-81EE-47BF-8A73-1CDE0FDADB7E}"/>
              </a:ext>
            </a:extLst>
          </p:cNvPr>
          <p:cNvSpPr>
            <a:spLocks noGrp="1"/>
          </p:cNvSpPr>
          <p:nvPr>
            <p:ph type="title"/>
          </p:nvPr>
        </p:nvSpPr>
        <p:spPr>
          <a:xfrm>
            <a:off x="553232" y="485781"/>
            <a:ext cx="5537344" cy="1477328"/>
          </a:xfrm>
        </p:spPr>
        <p:txBody>
          <a:bodyPr/>
          <a:lstStyle/>
          <a:p>
            <a:r>
              <a:rPr lang="en-US" sz="3200" dirty="0"/>
              <a:t>Use Azure Arc to connect workloads anywhere to Microsoft Defender for Cloud</a:t>
            </a:r>
          </a:p>
        </p:txBody>
      </p:sp>
      <p:sp>
        <p:nvSpPr>
          <p:cNvPr id="84" name="TextBox 83">
            <a:extLst>
              <a:ext uri="{FF2B5EF4-FFF2-40B4-BE49-F238E27FC236}">
                <a16:creationId xmlns:a16="http://schemas.microsoft.com/office/drawing/2014/main" id="{63DDE4EA-2184-48DA-816B-87AD7DD39762}"/>
              </a:ext>
            </a:extLst>
          </p:cNvPr>
          <p:cNvSpPr txBox="1"/>
          <p:nvPr/>
        </p:nvSpPr>
        <p:spPr>
          <a:xfrm>
            <a:off x="566928" y="2551537"/>
            <a:ext cx="5521551" cy="3330321"/>
          </a:xfrm>
          <a:prstGeom prst="rect">
            <a:avLst/>
          </a:prstGeom>
          <a:noFill/>
        </p:spPr>
        <p:txBody>
          <a:bodyPr wrap="square" lIns="0" tIns="0" rIns="0" bIns="0" rtlCol="0">
            <a:spAutoFit/>
          </a:bodyPr>
          <a:lstStyle/>
          <a:p>
            <a:pPr lvl="1"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Azure Arc unlocks hybrid and </a:t>
            </a:r>
            <a:r>
              <a:rPr lang="en-US" sz="1600" dirty="0" err="1">
                <a:ln w="3175">
                  <a:noFill/>
                </a:ln>
                <a:gradFill>
                  <a:gsLst>
                    <a:gs pos="83000">
                      <a:srgbClr val="000000"/>
                    </a:gs>
                    <a:gs pos="100000">
                      <a:srgbClr val="000000"/>
                    </a:gs>
                  </a:gsLst>
                  <a:lin ang="5400000" scaled="1"/>
                </a:gradFill>
                <a:latin typeface="Segoe UI"/>
                <a:cs typeface="Segoe UI Semilight" panose="020B0402040204020203" pitchFamily="34" charset="0"/>
              </a:rPr>
              <a:t>multicloud</a:t>
            </a: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 scenarios so you can manage security for all your resources in a consistent way</a:t>
            </a:r>
          </a:p>
          <a:p>
            <a:pPr lvl="1"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Extension installation, e.g. Log Analytics agent</a:t>
            </a:r>
          </a:p>
          <a:p>
            <a:pPr lvl="1"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Enforce compliance and simplify audit reporting</a:t>
            </a:r>
          </a:p>
          <a:p>
            <a:pPr lvl="1"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Asset organization and inventory with a unified view in the Azure Portal—Azure Tags</a:t>
            </a:r>
          </a:p>
          <a:p>
            <a:pPr lvl="1"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Server owners can view and remediate to meet their compliance—RBAC in Azure</a:t>
            </a:r>
          </a:p>
        </p:txBody>
      </p:sp>
      <p:sp>
        <p:nvSpPr>
          <p:cNvPr id="8" name="Rectangle 7">
            <a:extLst>
              <a:ext uri="{FF2B5EF4-FFF2-40B4-BE49-F238E27FC236}">
                <a16:creationId xmlns:a16="http://schemas.microsoft.com/office/drawing/2014/main" id="{030A67B5-4D7D-4D35-AF97-863CD6EE5353}"/>
              </a:ext>
              <a:ext uri="{C183D7F6-B498-43B3-948B-1728B52AA6E4}">
                <adec:decorative xmlns:adec="http://schemas.microsoft.com/office/drawing/2017/decorative" val="1"/>
              </a:ext>
            </a:extLst>
          </p:cNvPr>
          <p:cNvSpPr/>
          <p:nvPr/>
        </p:nvSpPr>
        <p:spPr bwMode="auto">
          <a:xfrm>
            <a:off x="7032532" y="497"/>
            <a:ext cx="5402178" cy="6993533"/>
          </a:xfrm>
          <a:prstGeom prst="rect">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pPr>
            <a:endParaRPr lang="en-US" sz="2040" err="1">
              <a:solidFill>
                <a:srgbClr val="FFFFFF"/>
              </a:solidFill>
              <a:latin typeface="Segoe UI"/>
              <a:ea typeface="Segoe UI" pitchFamily="34" charset="0"/>
              <a:cs typeface="Segoe UI" pitchFamily="34" charset="0"/>
            </a:endParaRPr>
          </a:p>
        </p:txBody>
      </p:sp>
      <p:sp>
        <p:nvSpPr>
          <p:cNvPr id="112" name="Rectangle 111">
            <a:extLst>
              <a:ext uri="{FF2B5EF4-FFF2-40B4-BE49-F238E27FC236}">
                <a16:creationId xmlns:a16="http://schemas.microsoft.com/office/drawing/2014/main" id="{6F32DA00-5070-4FBB-BF0C-18631F1248D7}"/>
              </a:ext>
            </a:extLst>
          </p:cNvPr>
          <p:cNvSpPr/>
          <p:nvPr/>
        </p:nvSpPr>
        <p:spPr>
          <a:xfrm>
            <a:off x="7320843" y="3207242"/>
            <a:ext cx="1521473" cy="670577"/>
          </a:xfrm>
          <a:prstGeom prst="rect">
            <a:avLst/>
          </a:prstGeom>
        </p:spPr>
        <p:txBody>
          <a:bodyPr wrap="square" lIns="0">
            <a:spAutoFit/>
          </a:bodyPr>
          <a:lstStyle/>
          <a:p>
            <a:pPr defTabSz="932418">
              <a:defRPr/>
            </a:pPr>
            <a:r>
              <a:rPr lang="en-US" sz="1200" b="1" dirty="0">
                <a:solidFill>
                  <a:schemeClr val="accent3"/>
                </a:solidFill>
                <a:latin typeface="Segoe UI Semibold" panose="020B0702040204020203" pitchFamily="34" charset="0"/>
                <a:cs typeface="Segoe UI Semibold" panose="020B0702040204020203" pitchFamily="34" charset="0"/>
              </a:rPr>
              <a:t>Single control plane for any resource, anywhere</a:t>
            </a:r>
          </a:p>
        </p:txBody>
      </p:sp>
      <p:grpSp>
        <p:nvGrpSpPr>
          <p:cNvPr id="3" name="Group 2" descr="diagram Azure Resource Manager">
            <a:extLst>
              <a:ext uri="{FF2B5EF4-FFF2-40B4-BE49-F238E27FC236}">
                <a16:creationId xmlns:a16="http://schemas.microsoft.com/office/drawing/2014/main" id="{F8114BA3-99B2-4734-BBBC-65927F538483}"/>
              </a:ext>
            </a:extLst>
          </p:cNvPr>
          <p:cNvGrpSpPr/>
          <p:nvPr/>
        </p:nvGrpSpPr>
        <p:grpSpPr>
          <a:xfrm>
            <a:off x="9042647" y="728686"/>
            <a:ext cx="2983907" cy="5537153"/>
            <a:chOff x="9043046" y="728293"/>
            <a:chExt cx="2984331" cy="5537938"/>
          </a:xfrm>
        </p:grpSpPr>
        <p:grpSp>
          <p:nvGrpSpPr>
            <p:cNvPr id="147" name="Group 146">
              <a:extLst>
                <a:ext uri="{FF2B5EF4-FFF2-40B4-BE49-F238E27FC236}">
                  <a16:creationId xmlns:a16="http://schemas.microsoft.com/office/drawing/2014/main" id="{B30256B9-4194-49DA-A79A-6EA20959D48C}"/>
                </a:ext>
              </a:extLst>
            </p:cNvPr>
            <p:cNvGrpSpPr/>
            <p:nvPr/>
          </p:nvGrpSpPr>
          <p:grpSpPr>
            <a:xfrm>
              <a:off x="10025831" y="3673563"/>
              <a:ext cx="1037060" cy="1025864"/>
              <a:chOff x="8950587" y="2149881"/>
              <a:chExt cx="1016818" cy="1005840"/>
            </a:xfrm>
          </p:grpSpPr>
          <p:cxnSp>
            <p:nvCxnSpPr>
              <p:cNvPr id="148" name="Straight Connector 147">
                <a:extLst>
                  <a:ext uri="{FF2B5EF4-FFF2-40B4-BE49-F238E27FC236}">
                    <a16:creationId xmlns:a16="http://schemas.microsoft.com/office/drawing/2014/main" id="{C82D44EB-1312-4F57-B387-AF53D6DB2EDF}"/>
                  </a:ext>
                </a:extLst>
              </p:cNvPr>
              <p:cNvCxnSpPr>
                <a:cxnSpLocks/>
              </p:cNvCxnSpPr>
              <p:nvPr/>
            </p:nvCxnSpPr>
            <p:spPr>
              <a:xfrm>
                <a:off x="8950587" y="2149881"/>
                <a:ext cx="0" cy="1005840"/>
              </a:xfrm>
              <a:prstGeom prst="line">
                <a:avLst/>
              </a:prstGeom>
              <a:ln w="28575">
                <a:solidFill>
                  <a:schemeClr val="accent1"/>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B79D3DB2-813A-48F5-A803-27E158660A39}"/>
                  </a:ext>
                </a:extLst>
              </p:cNvPr>
              <p:cNvCxnSpPr>
                <a:cxnSpLocks/>
              </p:cNvCxnSpPr>
              <p:nvPr/>
            </p:nvCxnSpPr>
            <p:spPr>
              <a:xfrm>
                <a:off x="9458996" y="2149881"/>
                <a:ext cx="0" cy="1005840"/>
              </a:xfrm>
              <a:prstGeom prst="line">
                <a:avLst/>
              </a:prstGeom>
              <a:ln w="28575">
                <a:solidFill>
                  <a:schemeClr val="accent1"/>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EF518333-3998-4A6A-8206-C99CD80022E6}"/>
                  </a:ext>
                </a:extLst>
              </p:cNvPr>
              <p:cNvCxnSpPr>
                <a:cxnSpLocks/>
              </p:cNvCxnSpPr>
              <p:nvPr/>
            </p:nvCxnSpPr>
            <p:spPr>
              <a:xfrm>
                <a:off x="9967405" y="2149881"/>
                <a:ext cx="0" cy="1005840"/>
              </a:xfrm>
              <a:prstGeom prst="line">
                <a:avLst/>
              </a:prstGeom>
              <a:ln w="28575">
                <a:solidFill>
                  <a:schemeClr val="accent1"/>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grpSp>
        <p:sp>
          <p:nvSpPr>
            <p:cNvPr id="69" name="Rectangle: Rounded Corners 68">
              <a:extLst>
                <a:ext uri="{FF2B5EF4-FFF2-40B4-BE49-F238E27FC236}">
                  <a16:creationId xmlns:a16="http://schemas.microsoft.com/office/drawing/2014/main" id="{087F8DCA-F803-4683-B8EE-20E61AE5A5DD}"/>
                </a:ext>
              </a:extLst>
            </p:cNvPr>
            <p:cNvSpPr/>
            <p:nvPr/>
          </p:nvSpPr>
          <p:spPr>
            <a:xfrm>
              <a:off x="9043046" y="4680805"/>
              <a:ext cx="2984331" cy="1585426"/>
            </a:xfrm>
            <a:prstGeom prst="roundRect">
              <a:avLst>
                <a:gd name="adj" fmla="val 8428"/>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pPr>
              <a:endParaRPr lang="en-US" sz="1200">
                <a:solidFill>
                  <a:srgbClr val="FFFFFF"/>
                </a:solidFill>
                <a:latin typeface="Segoe UI"/>
                <a:cs typeface="Segoe UI" pitchFamily="34" charset="0"/>
              </a:endParaRPr>
            </a:p>
          </p:txBody>
        </p:sp>
        <p:sp>
          <p:nvSpPr>
            <p:cNvPr id="102" name="TextBox 101">
              <a:extLst>
                <a:ext uri="{FF2B5EF4-FFF2-40B4-BE49-F238E27FC236}">
                  <a16:creationId xmlns:a16="http://schemas.microsoft.com/office/drawing/2014/main" id="{0DE10B9C-46CE-4A13-B93B-FA4C18BE855B}"/>
                </a:ext>
              </a:extLst>
            </p:cNvPr>
            <p:cNvSpPr txBox="1"/>
            <p:nvPr/>
          </p:nvSpPr>
          <p:spPr>
            <a:xfrm>
              <a:off x="10737895" y="5542823"/>
              <a:ext cx="951036" cy="424792"/>
            </a:xfrm>
            <a:prstGeom prst="rect">
              <a:avLst/>
            </a:prstGeom>
            <a:ln>
              <a:noFill/>
              <a:prstDash val="solid"/>
            </a:ln>
          </p:spPr>
          <p:txBody>
            <a:bodyPr wrap="none" rtlCol="0">
              <a:spAutoFit/>
            </a:bodyPr>
            <a:lstStyle>
              <a:defPPr>
                <a:defRPr lang="en-US"/>
              </a:defPPr>
              <a:lvl1pPr defTabSz="932563" fontAlgn="base">
                <a:lnSpc>
                  <a:spcPct val="90000"/>
                </a:lnSpc>
                <a:spcBef>
                  <a:spcPct val="0"/>
                </a:spcBef>
                <a:spcAft>
                  <a:spcPct val="0"/>
                </a:spcAft>
                <a:defRPr sz="2400" b="1" spc="-50">
                  <a:ln w="3175">
                    <a:noFill/>
                  </a:ln>
                  <a:gradFill>
                    <a:gsLst>
                      <a:gs pos="0">
                        <a:srgbClr val="1A1A1A"/>
                      </a:gs>
                      <a:gs pos="100000">
                        <a:srgbClr val="1A1A1A"/>
                      </a:gs>
                    </a:gsLst>
                    <a:lin ang="5400000" scaled="0"/>
                  </a:gradFill>
                  <a:latin typeface="Segoe UI Semibold"/>
                  <a:cs typeface="Segoe UI" pitchFamily="34" charset="0"/>
                </a:defRPr>
              </a:lvl1pPr>
            </a:lstStyle>
            <a:p>
              <a:pPr defTabSz="950756">
                <a:defRPr/>
              </a:pPr>
              <a:r>
                <a:rPr lang="en-US" sz="1200" kern="0" spc="0" dirty="0">
                  <a:solidFill>
                    <a:srgbClr val="000000"/>
                  </a:solidFill>
                </a:rPr>
                <a:t>Datacenter</a:t>
              </a:r>
            </a:p>
            <a:p>
              <a:pPr defTabSz="950756">
                <a:defRPr/>
              </a:pPr>
              <a:r>
                <a:rPr lang="en-US" sz="1200" kern="0" spc="0" dirty="0">
                  <a:solidFill>
                    <a:srgbClr val="000000"/>
                  </a:solidFill>
                </a:rPr>
                <a:t>&amp; hosted</a:t>
              </a:r>
            </a:p>
          </p:txBody>
        </p:sp>
        <p:sp>
          <p:nvSpPr>
            <p:cNvPr id="103" name="Rectangle: Rounded Corners 102">
              <a:extLst>
                <a:ext uri="{FF2B5EF4-FFF2-40B4-BE49-F238E27FC236}">
                  <a16:creationId xmlns:a16="http://schemas.microsoft.com/office/drawing/2014/main" id="{089B8CB6-603B-4BE2-A469-3658E0A1E015}"/>
                </a:ext>
              </a:extLst>
            </p:cNvPr>
            <p:cNvSpPr/>
            <p:nvPr/>
          </p:nvSpPr>
          <p:spPr>
            <a:xfrm>
              <a:off x="9043046" y="728293"/>
              <a:ext cx="2984331" cy="1585426"/>
            </a:xfrm>
            <a:prstGeom prst="roundRect">
              <a:avLst>
                <a:gd name="adj" fmla="val 8428"/>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pPr>
              <a:endParaRPr lang="en-US" sz="1200">
                <a:solidFill>
                  <a:srgbClr val="FFFFFF"/>
                </a:solidFill>
                <a:latin typeface="Segoe UI"/>
                <a:cs typeface="Segoe UI" pitchFamily="34" charset="0"/>
              </a:endParaRPr>
            </a:p>
          </p:txBody>
        </p:sp>
        <p:grpSp>
          <p:nvGrpSpPr>
            <p:cNvPr id="18" name="Group 17">
              <a:extLst>
                <a:ext uri="{FF2B5EF4-FFF2-40B4-BE49-F238E27FC236}">
                  <a16:creationId xmlns:a16="http://schemas.microsoft.com/office/drawing/2014/main" id="{18043D24-5407-41F6-AD6A-1DBA5F6F73C3}"/>
                </a:ext>
              </a:extLst>
            </p:cNvPr>
            <p:cNvGrpSpPr/>
            <p:nvPr/>
          </p:nvGrpSpPr>
          <p:grpSpPr>
            <a:xfrm>
              <a:off x="10016681" y="2241308"/>
              <a:ext cx="1037060" cy="1025864"/>
              <a:chOff x="8950587" y="2149881"/>
              <a:chExt cx="1016818" cy="1005840"/>
            </a:xfrm>
          </p:grpSpPr>
          <p:cxnSp>
            <p:nvCxnSpPr>
              <p:cNvPr id="113" name="Straight Connector 112">
                <a:extLst>
                  <a:ext uri="{FF2B5EF4-FFF2-40B4-BE49-F238E27FC236}">
                    <a16:creationId xmlns:a16="http://schemas.microsoft.com/office/drawing/2014/main" id="{E9DB6020-5848-4AD2-9448-19B52BF19962}"/>
                  </a:ext>
                </a:extLst>
              </p:cNvPr>
              <p:cNvCxnSpPr>
                <a:cxnSpLocks/>
              </p:cNvCxnSpPr>
              <p:nvPr/>
            </p:nvCxnSpPr>
            <p:spPr>
              <a:xfrm>
                <a:off x="8950587" y="2149881"/>
                <a:ext cx="0" cy="1005840"/>
              </a:xfrm>
              <a:prstGeom prst="line">
                <a:avLst/>
              </a:prstGeom>
              <a:ln w="28575">
                <a:solidFill>
                  <a:schemeClr val="accent1"/>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4A290EC7-DB3F-4D88-9F21-E4D838ADA5F4}"/>
                  </a:ext>
                </a:extLst>
              </p:cNvPr>
              <p:cNvCxnSpPr>
                <a:cxnSpLocks/>
              </p:cNvCxnSpPr>
              <p:nvPr/>
            </p:nvCxnSpPr>
            <p:spPr>
              <a:xfrm>
                <a:off x="9458996" y="2149881"/>
                <a:ext cx="0" cy="1005840"/>
              </a:xfrm>
              <a:prstGeom prst="line">
                <a:avLst/>
              </a:prstGeom>
              <a:ln w="28575">
                <a:solidFill>
                  <a:schemeClr val="accent1"/>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CFB7AC41-E715-4839-89BC-EA95C2CFF192}"/>
                  </a:ext>
                </a:extLst>
              </p:cNvPr>
              <p:cNvCxnSpPr>
                <a:cxnSpLocks/>
              </p:cNvCxnSpPr>
              <p:nvPr/>
            </p:nvCxnSpPr>
            <p:spPr>
              <a:xfrm>
                <a:off x="9967405" y="2149881"/>
                <a:ext cx="0" cy="1005840"/>
              </a:xfrm>
              <a:prstGeom prst="line">
                <a:avLst/>
              </a:prstGeom>
              <a:ln w="28575">
                <a:solidFill>
                  <a:schemeClr val="accent1"/>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grpSp>
        <p:pic>
          <p:nvPicPr>
            <p:cNvPr id="15" name="Graphic 14">
              <a:extLst>
                <a:ext uri="{FF2B5EF4-FFF2-40B4-BE49-F238E27FC236}">
                  <a16:creationId xmlns:a16="http://schemas.microsoft.com/office/drawing/2014/main" id="{5EB9B75B-685B-4AF9-BA20-660FC977DAB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35151" y="775856"/>
              <a:ext cx="988520" cy="988520"/>
            </a:xfrm>
            <a:prstGeom prst="rect">
              <a:avLst/>
            </a:prstGeom>
          </p:spPr>
        </p:pic>
        <p:sp>
          <p:nvSpPr>
            <p:cNvPr id="104" name="TextBox 103">
              <a:extLst>
                <a:ext uri="{FF2B5EF4-FFF2-40B4-BE49-F238E27FC236}">
                  <a16:creationId xmlns:a16="http://schemas.microsoft.com/office/drawing/2014/main" id="{62F05099-CB9C-43A2-97B9-2FC12CF04FCE}"/>
                </a:ext>
              </a:extLst>
            </p:cNvPr>
            <p:cNvSpPr txBox="1"/>
            <p:nvPr/>
          </p:nvSpPr>
          <p:spPr>
            <a:xfrm>
              <a:off x="10834521" y="1231799"/>
              <a:ext cx="939815" cy="258569"/>
            </a:xfrm>
            <a:prstGeom prst="rect">
              <a:avLst/>
            </a:prstGeom>
            <a:ln>
              <a:noFill/>
              <a:prstDash val="solid"/>
            </a:ln>
          </p:spPr>
          <p:txBody>
            <a:bodyPr wrap="none" rtlCol="0">
              <a:spAutoFit/>
            </a:bodyPr>
            <a:lstStyle>
              <a:defPPr>
                <a:defRPr lang="en-US"/>
              </a:defPPr>
              <a:lvl1pPr defTabSz="932563" fontAlgn="base">
                <a:lnSpc>
                  <a:spcPct val="90000"/>
                </a:lnSpc>
                <a:spcBef>
                  <a:spcPct val="0"/>
                </a:spcBef>
                <a:spcAft>
                  <a:spcPct val="0"/>
                </a:spcAft>
                <a:defRPr sz="2400" b="1" spc="-50">
                  <a:ln w="3175">
                    <a:noFill/>
                  </a:ln>
                  <a:gradFill>
                    <a:gsLst>
                      <a:gs pos="0">
                        <a:srgbClr val="1A1A1A"/>
                      </a:gs>
                      <a:gs pos="100000">
                        <a:srgbClr val="1A1A1A"/>
                      </a:gs>
                    </a:gsLst>
                    <a:lin ang="5400000" scaled="0"/>
                  </a:gradFill>
                  <a:latin typeface="Segoe UI Semibold"/>
                  <a:cs typeface="Segoe UI" pitchFamily="34" charset="0"/>
                </a:defRPr>
              </a:lvl1pPr>
            </a:lstStyle>
            <a:p>
              <a:pPr algn="ctr" defTabSz="950756">
                <a:defRPr/>
              </a:pPr>
              <a:r>
                <a:rPr lang="en-US" sz="1200" kern="0" spc="0" dirty="0" err="1">
                  <a:solidFill>
                    <a:srgbClr val="000000"/>
                  </a:solidFill>
                </a:rPr>
                <a:t>Multicloud</a:t>
              </a:r>
              <a:endParaRPr lang="en-US" sz="1200" kern="0" spc="0" dirty="0">
                <a:solidFill>
                  <a:srgbClr val="000000"/>
                </a:solidFill>
              </a:endParaRPr>
            </a:p>
          </p:txBody>
        </p:sp>
        <p:grpSp>
          <p:nvGrpSpPr>
            <p:cNvPr id="21" name="Group 20">
              <a:extLst>
                <a:ext uri="{FF2B5EF4-FFF2-40B4-BE49-F238E27FC236}">
                  <a16:creationId xmlns:a16="http://schemas.microsoft.com/office/drawing/2014/main" id="{EC5874A5-B055-4753-9FE8-0592367511E9}"/>
                </a:ext>
              </a:extLst>
            </p:cNvPr>
            <p:cNvGrpSpPr/>
            <p:nvPr/>
          </p:nvGrpSpPr>
          <p:grpSpPr>
            <a:xfrm>
              <a:off x="9826261" y="1790174"/>
              <a:ext cx="1417903" cy="645243"/>
              <a:chOff x="8848144" y="1865285"/>
              <a:chExt cx="1390227" cy="632649"/>
            </a:xfrm>
          </p:grpSpPr>
          <p:grpSp>
            <p:nvGrpSpPr>
              <p:cNvPr id="17" name="Group 16">
                <a:extLst>
                  <a:ext uri="{FF2B5EF4-FFF2-40B4-BE49-F238E27FC236}">
                    <a16:creationId xmlns:a16="http://schemas.microsoft.com/office/drawing/2014/main" id="{ABA63F3F-319F-4646-A2DE-B3573F5D4531}"/>
                  </a:ext>
                </a:extLst>
              </p:cNvPr>
              <p:cNvGrpSpPr/>
              <p:nvPr/>
            </p:nvGrpSpPr>
            <p:grpSpPr>
              <a:xfrm>
                <a:off x="8848144" y="2252907"/>
                <a:ext cx="1390227" cy="245027"/>
                <a:chOff x="8864305" y="2182628"/>
                <a:chExt cx="1390227" cy="245027"/>
              </a:xfrm>
            </p:grpSpPr>
            <p:sp>
              <p:nvSpPr>
                <p:cNvPr id="125" name="Rectangle: Rounded Corners 124">
                  <a:extLst>
                    <a:ext uri="{FF2B5EF4-FFF2-40B4-BE49-F238E27FC236}">
                      <a16:creationId xmlns:a16="http://schemas.microsoft.com/office/drawing/2014/main" id="{96A34BB0-332D-4693-9C1C-6DD67853E2DF}"/>
                    </a:ext>
                  </a:extLst>
                </p:cNvPr>
                <p:cNvSpPr/>
                <p:nvPr/>
              </p:nvSpPr>
              <p:spPr bwMode="auto">
                <a:xfrm>
                  <a:off x="8864305" y="2189898"/>
                  <a:ext cx="1390227" cy="237757"/>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2988" tIns="149196" rIns="186494" bIns="149196" numCol="1" spcCol="0" rtlCol="0" fromWordArt="0" anchor="ctr" anchorCtr="0" forceAA="0" compatLnSpc="1">
                  <a:prstTxWarp prst="textNoShape">
                    <a:avLst/>
                  </a:prstTxWarp>
                  <a:noAutofit/>
                </a:bodyPr>
                <a:lstStyle/>
                <a:p>
                  <a:pPr defTabSz="950846" fontAlgn="base">
                    <a:spcBef>
                      <a:spcPct val="0"/>
                    </a:spcBef>
                    <a:spcAft>
                      <a:spcPct val="0"/>
                    </a:spcAft>
                  </a:pPr>
                  <a:r>
                    <a:rPr lang="en-US" sz="1200" dirty="0">
                      <a:solidFill>
                        <a:srgbClr val="FFFFFF"/>
                      </a:solidFill>
                      <a:latin typeface="Segoe UI Semibold"/>
                      <a:cs typeface="Segoe UI" pitchFamily="34" charset="0"/>
                    </a:rPr>
                    <a:t>Azure Arc</a:t>
                  </a:r>
                </a:p>
              </p:txBody>
            </p:sp>
            <p:pic>
              <p:nvPicPr>
                <p:cNvPr id="16" name="Picture 15" descr="Spot illustration of two 3D rectangle connecting">
                  <a:extLst>
                    <a:ext uri="{FF2B5EF4-FFF2-40B4-BE49-F238E27FC236}">
                      <a16:creationId xmlns:a16="http://schemas.microsoft.com/office/drawing/2014/main" id="{A2C43630-4B80-4982-A4AC-4F2CA2ADA31E}"/>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8933756" y="2182628"/>
                  <a:ext cx="258882" cy="243746"/>
                </a:xfrm>
                <a:prstGeom prst="rect">
                  <a:avLst/>
                </a:prstGeom>
              </p:spPr>
            </p:pic>
          </p:grpSp>
          <p:grpSp>
            <p:nvGrpSpPr>
              <p:cNvPr id="19" name="Group 18">
                <a:extLst>
                  <a:ext uri="{FF2B5EF4-FFF2-40B4-BE49-F238E27FC236}">
                    <a16:creationId xmlns:a16="http://schemas.microsoft.com/office/drawing/2014/main" id="{EA7DD211-9B11-4A26-AD45-2B169E28B123}"/>
                  </a:ext>
                </a:extLst>
              </p:cNvPr>
              <p:cNvGrpSpPr/>
              <p:nvPr/>
            </p:nvGrpSpPr>
            <p:grpSpPr>
              <a:xfrm>
                <a:off x="8928020" y="1865285"/>
                <a:ext cx="1240523" cy="247449"/>
                <a:chOff x="8816593" y="1809283"/>
                <a:chExt cx="1240523" cy="247449"/>
              </a:xfrm>
            </p:grpSpPr>
            <p:pic>
              <p:nvPicPr>
                <p:cNvPr id="108" name="Virtual Machines 2" descr="Virtual Machines">
                  <a:extLst>
                    <a:ext uri="{FF2B5EF4-FFF2-40B4-BE49-F238E27FC236}">
                      <a16:creationId xmlns:a16="http://schemas.microsoft.com/office/drawing/2014/main" id="{E2A0CD52-B7DC-43B6-B238-3E0E9DEC60A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816593" y="1816599"/>
                  <a:ext cx="237757" cy="237757"/>
                </a:xfrm>
                <a:prstGeom prst="rect">
                  <a:avLst/>
                </a:prstGeom>
              </p:spPr>
            </p:pic>
            <p:pic>
              <p:nvPicPr>
                <p:cNvPr id="109" name="Database" descr=" Database">
                  <a:extLst>
                    <a:ext uri="{FF2B5EF4-FFF2-40B4-BE49-F238E27FC236}">
                      <a16:creationId xmlns:a16="http://schemas.microsoft.com/office/drawing/2014/main" id="{8ECACA6A-7605-49D9-9B90-C05FD5B3D9C8}"/>
                    </a:ext>
                  </a:extLst>
                </p:cNvPr>
                <p:cNvPicPr>
                  <a:picLocks noChangeAspect="1"/>
                </p:cNvPicPr>
                <p:nvPr/>
              </p:nvPicPr>
              <p:blipFill>
                <a:blip r:embed="rId8"/>
                <a:stretch>
                  <a:fillRect/>
                </a:stretch>
              </p:blipFill>
              <p:spPr>
                <a:xfrm>
                  <a:off x="9340895" y="1809283"/>
                  <a:ext cx="191920" cy="247449"/>
                </a:xfrm>
                <a:prstGeom prst="rect">
                  <a:avLst/>
                </a:prstGeom>
              </p:spPr>
            </p:pic>
            <p:pic>
              <p:nvPicPr>
                <p:cNvPr id="110" name="Kubernetes" descr="Kubernetes">
                  <a:extLst>
                    <a:ext uri="{FF2B5EF4-FFF2-40B4-BE49-F238E27FC236}">
                      <a16:creationId xmlns:a16="http://schemas.microsoft.com/office/drawing/2014/main" id="{2016FED4-26A7-4B35-80FB-F106B189A8E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819359" y="1816599"/>
                  <a:ext cx="237757" cy="237757"/>
                </a:xfrm>
                <a:prstGeom prst="rect">
                  <a:avLst/>
                </a:prstGeom>
              </p:spPr>
            </p:pic>
          </p:grpSp>
        </p:grpSp>
        <p:grpSp>
          <p:nvGrpSpPr>
            <p:cNvPr id="140" name="Group 139">
              <a:extLst>
                <a:ext uri="{FF2B5EF4-FFF2-40B4-BE49-F238E27FC236}">
                  <a16:creationId xmlns:a16="http://schemas.microsoft.com/office/drawing/2014/main" id="{9050F476-E9EF-45F4-A4EF-B30BDCEACA42}"/>
                </a:ext>
              </a:extLst>
            </p:cNvPr>
            <p:cNvGrpSpPr/>
            <p:nvPr/>
          </p:nvGrpSpPr>
          <p:grpSpPr>
            <a:xfrm>
              <a:off x="9826261" y="4570768"/>
              <a:ext cx="1417903" cy="249905"/>
              <a:chOff x="8864305" y="2182628"/>
              <a:chExt cx="1390227" cy="245027"/>
            </a:xfrm>
            <a:effectLst/>
          </p:grpSpPr>
          <p:sp>
            <p:nvSpPr>
              <p:cNvPr id="145" name="Rectangle: Rounded Corners 144">
                <a:extLst>
                  <a:ext uri="{FF2B5EF4-FFF2-40B4-BE49-F238E27FC236}">
                    <a16:creationId xmlns:a16="http://schemas.microsoft.com/office/drawing/2014/main" id="{73394651-E987-4989-981E-F41C25B9AF50}"/>
                  </a:ext>
                </a:extLst>
              </p:cNvPr>
              <p:cNvSpPr/>
              <p:nvPr/>
            </p:nvSpPr>
            <p:spPr bwMode="auto">
              <a:xfrm>
                <a:off x="8864305" y="2189898"/>
                <a:ext cx="1390227" cy="237757"/>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72988" tIns="149196" rIns="186494" bIns="149196" numCol="1" spcCol="0" rtlCol="0" fromWordArt="0" anchor="ctr" anchorCtr="0" forceAA="0" compatLnSpc="1">
                <a:prstTxWarp prst="textNoShape">
                  <a:avLst/>
                </a:prstTxWarp>
                <a:noAutofit/>
              </a:bodyPr>
              <a:lstStyle/>
              <a:p>
                <a:pPr defTabSz="950846" fontAlgn="base">
                  <a:spcBef>
                    <a:spcPct val="0"/>
                  </a:spcBef>
                  <a:spcAft>
                    <a:spcPct val="0"/>
                  </a:spcAft>
                </a:pPr>
                <a:r>
                  <a:rPr lang="en-US" sz="1200">
                    <a:solidFill>
                      <a:srgbClr val="FFFFFF"/>
                    </a:solidFill>
                    <a:latin typeface="Segoe UI Semibold"/>
                    <a:cs typeface="Segoe UI" pitchFamily="34" charset="0"/>
                  </a:rPr>
                  <a:t>Azure Arc</a:t>
                </a:r>
              </a:p>
            </p:txBody>
          </p:sp>
          <p:pic>
            <p:nvPicPr>
              <p:cNvPr id="146" name="Picture 145" descr="Spot illustration of two 3D rectangle connecting">
                <a:extLst>
                  <a:ext uri="{FF2B5EF4-FFF2-40B4-BE49-F238E27FC236}">
                    <a16:creationId xmlns:a16="http://schemas.microsoft.com/office/drawing/2014/main" id="{1518896B-912B-4668-8243-DF6EA21A9C6E}"/>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8933756" y="2182628"/>
                <a:ext cx="258882" cy="243746"/>
              </a:xfrm>
              <a:prstGeom prst="rect">
                <a:avLst/>
              </a:prstGeom>
            </p:spPr>
          </p:pic>
        </p:grpSp>
        <p:grpSp>
          <p:nvGrpSpPr>
            <p:cNvPr id="141" name="Group 140">
              <a:extLst>
                <a:ext uri="{FF2B5EF4-FFF2-40B4-BE49-F238E27FC236}">
                  <a16:creationId xmlns:a16="http://schemas.microsoft.com/office/drawing/2014/main" id="{47C694E1-B6EB-44E7-A9FA-9EF87787FC52}"/>
                </a:ext>
              </a:extLst>
            </p:cNvPr>
            <p:cNvGrpSpPr/>
            <p:nvPr/>
          </p:nvGrpSpPr>
          <p:grpSpPr>
            <a:xfrm>
              <a:off x="9907727" y="4953242"/>
              <a:ext cx="1265219" cy="252375"/>
              <a:chOff x="8816593" y="1809283"/>
              <a:chExt cx="1240523" cy="247449"/>
            </a:xfrm>
          </p:grpSpPr>
          <p:pic>
            <p:nvPicPr>
              <p:cNvPr id="142" name="Virtual Machines 2" descr="Virtual Machines">
                <a:extLst>
                  <a:ext uri="{FF2B5EF4-FFF2-40B4-BE49-F238E27FC236}">
                    <a16:creationId xmlns:a16="http://schemas.microsoft.com/office/drawing/2014/main" id="{61DE2930-5FC0-495A-BF92-CDFCA4B3DD5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816593" y="1816599"/>
                <a:ext cx="237757" cy="237757"/>
              </a:xfrm>
              <a:prstGeom prst="rect">
                <a:avLst/>
              </a:prstGeom>
            </p:spPr>
          </p:pic>
          <p:pic>
            <p:nvPicPr>
              <p:cNvPr id="143" name="Database" descr=" Database">
                <a:extLst>
                  <a:ext uri="{FF2B5EF4-FFF2-40B4-BE49-F238E27FC236}">
                    <a16:creationId xmlns:a16="http://schemas.microsoft.com/office/drawing/2014/main" id="{78C7CF4D-0AE5-4EDD-8A80-5B92D3826B96}"/>
                  </a:ext>
                </a:extLst>
              </p:cNvPr>
              <p:cNvPicPr>
                <a:picLocks noChangeAspect="1"/>
              </p:cNvPicPr>
              <p:nvPr/>
            </p:nvPicPr>
            <p:blipFill>
              <a:blip r:embed="rId8"/>
              <a:stretch>
                <a:fillRect/>
              </a:stretch>
            </p:blipFill>
            <p:spPr>
              <a:xfrm>
                <a:off x="9340895" y="1809283"/>
                <a:ext cx="191920" cy="247449"/>
              </a:xfrm>
              <a:prstGeom prst="rect">
                <a:avLst/>
              </a:prstGeom>
            </p:spPr>
          </p:pic>
          <p:pic>
            <p:nvPicPr>
              <p:cNvPr id="144" name="Kubernetes" descr="Kubernetes">
                <a:extLst>
                  <a:ext uri="{FF2B5EF4-FFF2-40B4-BE49-F238E27FC236}">
                    <a16:creationId xmlns:a16="http://schemas.microsoft.com/office/drawing/2014/main" id="{740B5CC1-71D8-406C-8350-A82A55D59D7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819359" y="1816599"/>
                <a:ext cx="237757" cy="237757"/>
              </a:xfrm>
              <a:prstGeom prst="rect">
                <a:avLst/>
              </a:prstGeom>
            </p:spPr>
          </p:pic>
        </p:grpSp>
        <p:sp>
          <p:nvSpPr>
            <p:cNvPr id="111" name="Rectangle: Rounded Corners 110">
              <a:extLst>
                <a:ext uri="{FF2B5EF4-FFF2-40B4-BE49-F238E27FC236}">
                  <a16:creationId xmlns:a16="http://schemas.microsoft.com/office/drawing/2014/main" id="{CC1FFB27-9F21-4EF1-A327-B9D14491AE02}"/>
                </a:ext>
              </a:extLst>
            </p:cNvPr>
            <p:cNvSpPr/>
            <p:nvPr/>
          </p:nvSpPr>
          <p:spPr>
            <a:xfrm>
              <a:off x="9043046" y="3027617"/>
              <a:ext cx="2984331" cy="796163"/>
            </a:xfrm>
            <a:prstGeom prst="round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45978" tIns="149196" rIns="186494" bIns="149196" numCol="1" spcCol="0" rtlCol="0" fromWordArt="0" anchor="ctr" anchorCtr="0" forceAA="0" compatLnSpc="1">
              <a:prstTxWarp prst="textNoShape">
                <a:avLst/>
              </a:prstTxWarp>
              <a:noAutofit/>
            </a:bodyPr>
            <a:lstStyle/>
            <a:p>
              <a:pPr defTabSz="950846" fontAlgn="base">
                <a:spcBef>
                  <a:spcPct val="0"/>
                </a:spcBef>
                <a:spcAft>
                  <a:spcPct val="0"/>
                </a:spcAft>
              </a:pPr>
              <a:r>
                <a:rPr lang="en-US" sz="1200" dirty="0">
                  <a:solidFill>
                    <a:srgbClr val="000000"/>
                  </a:solidFill>
                  <a:latin typeface="Segoe UI Semibold"/>
                  <a:cs typeface="Segoe UI" pitchFamily="34" charset="0"/>
                </a:rPr>
                <a:t>Azure Resource Manager</a:t>
              </a:r>
            </a:p>
          </p:txBody>
        </p:sp>
        <p:pic>
          <p:nvPicPr>
            <p:cNvPr id="13" name="Graphic 12">
              <a:extLst>
                <a:ext uri="{FF2B5EF4-FFF2-40B4-BE49-F238E27FC236}">
                  <a16:creationId xmlns:a16="http://schemas.microsoft.com/office/drawing/2014/main" id="{6917F149-785F-41E8-819C-F59112642BC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173264" y="3164703"/>
              <a:ext cx="521991" cy="521991"/>
            </a:xfrm>
            <a:prstGeom prst="rect">
              <a:avLst/>
            </a:prstGeom>
          </p:spPr>
        </p:pic>
        <p:sp>
          <p:nvSpPr>
            <p:cNvPr id="105" name="Graphic 7">
              <a:extLst>
                <a:ext uri="{FF2B5EF4-FFF2-40B4-BE49-F238E27FC236}">
                  <a16:creationId xmlns:a16="http://schemas.microsoft.com/office/drawing/2014/main" id="{07B2A0AE-9411-4748-8992-025787DFBD77}"/>
                </a:ext>
              </a:extLst>
            </p:cNvPr>
            <p:cNvSpPr/>
            <p:nvPr/>
          </p:nvSpPr>
          <p:spPr>
            <a:xfrm>
              <a:off x="10077147" y="5478049"/>
              <a:ext cx="442346" cy="482418"/>
            </a:xfrm>
            <a:custGeom>
              <a:avLst/>
              <a:gdLst>
                <a:gd name="connsiteX0" fmla="*/ 261502 w 345463"/>
                <a:gd name="connsiteY0" fmla="*/ 124874 h 376759"/>
                <a:gd name="connsiteX1" fmla="*/ 261502 w 345463"/>
                <a:gd name="connsiteY1" fmla="*/ 376759 h 376759"/>
                <a:gd name="connsiteX2" fmla="*/ 211583 w 345463"/>
                <a:gd name="connsiteY2" fmla="*/ 376759 h 376759"/>
                <a:gd name="connsiteX3" fmla="*/ 211583 w 345463"/>
                <a:gd name="connsiteY3" fmla="*/ 292492 h 376759"/>
                <a:gd name="connsiteX4" fmla="*/ 158306 w 345463"/>
                <a:gd name="connsiteY4" fmla="*/ 292492 h 376759"/>
                <a:gd name="connsiteX5" fmla="*/ 158306 w 345463"/>
                <a:gd name="connsiteY5" fmla="*/ 376759 h 376759"/>
                <a:gd name="connsiteX6" fmla="*/ 105944 w 345463"/>
                <a:gd name="connsiteY6" fmla="*/ 376759 h 376759"/>
                <a:gd name="connsiteX7" fmla="*/ 105944 w 345463"/>
                <a:gd name="connsiteY7" fmla="*/ 132507 h 376759"/>
                <a:gd name="connsiteX8" fmla="*/ 184716 w 345463"/>
                <a:gd name="connsiteY8" fmla="*/ 132507 h 376759"/>
                <a:gd name="connsiteX9" fmla="*/ 261655 w 345463"/>
                <a:gd name="connsiteY9" fmla="*/ 132507 h 376759"/>
                <a:gd name="connsiteX10" fmla="*/ 184563 w 345463"/>
                <a:gd name="connsiteY10" fmla="*/ 132660 h 376759"/>
                <a:gd name="connsiteX11" fmla="*/ 184563 w 345463"/>
                <a:gd name="connsiteY11" fmla="*/ 80756 h 376759"/>
                <a:gd name="connsiteX12" fmla="*/ 0 w 345463"/>
                <a:gd name="connsiteY12" fmla="*/ 80756 h 376759"/>
                <a:gd name="connsiteX13" fmla="*/ 0 w 345463"/>
                <a:gd name="connsiteY13" fmla="*/ 376759 h 376759"/>
                <a:gd name="connsiteX14" fmla="*/ 345464 w 345463"/>
                <a:gd name="connsiteY14" fmla="*/ 376759 h 376759"/>
                <a:gd name="connsiteX15" fmla="*/ 345464 w 345463"/>
                <a:gd name="connsiteY15" fmla="*/ 108082 h 376759"/>
                <a:gd name="connsiteX16" fmla="*/ 234329 w 345463"/>
                <a:gd name="connsiteY16" fmla="*/ 0 h 376759"/>
                <a:gd name="connsiteX17" fmla="*/ 234329 w 345463"/>
                <a:gd name="connsiteY17" fmla="*/ 132660 h 376759"/>
                <a:gd name="connsiteX18" fmla="*/ 54346 w 345463"/>
                <a:gd name="connsiteY18" fmla="*/ 132660 h 376759"/>
                <a:gd name="connsiteX19" fmla="*/ 49003 w 345463"/>
                <a:gd name="connsiteY19" fmla="*/ 132660 h 376759"/>
                <a:gd name="connsiteX20" fmla="*/ 49003 w 345463"/>
                <a:gd name="connsiteY20" fmla="*/ 136171 h 376759"/>
                <a:gd name="connsiteX21" fmla="*/ 54193 w 345463"/>
                <a:gd name="connsiteY21" fmla="*/ 136171 h 376759"/>
                <a:gd name="connsiteX22" fmla="*/ 54193 w 345463"/>
                <a:gd name="connsiteY22" fmla="*/ 132660 h 376759"/>
                <a:gd name="connsiteX23" fmla="*/ 54346 w 345463"/>
                <a:gd name="connsiteY23" fmla="*/ 185326 h 376759"/>
                <a:gd name="connsiteX24" fmla="*/ 49003 w 345463"/>
                <a:gd name="connsiteY24" fmla="*/ 185326 h 376759"/>
                <a:gd name="connsiteX25" fmla="*/ 49003 w 345463"/>
                <a:gd name="connsiteY25" fmla="*/ 190669 h 376759"/>
                <a:gd name="connsiteX26" fmla="*/ 54193 w 345463"/>
                <a:gd name="connsiteY26" fmla="*/ 190669 h 376759"/>
                <a:gd name="connsiteX27" fmla="*/ 54193 w 345463"/>
                <a:gd name="connsiteY27" fmla="*/ 185326 h 376759"/>
                <a:gd name="connsiteX28" fmla="*/ 54346 w 345463"/>
                <a:gd name="connsiteY28" fmla="*/ 237993 h 376759"/>
                <a:gd name="connsiteX29" fmla="*/ 49003 w 345463"/>
                <a:gd name="connsiteY29" fmla="*/ 237993 h 376759"/>
                <a:gd name="connsiteX30" fmla="*/ 49003 w 345463"/>
                <a:gd name="connsiteY30" fmla="*/ 243336 h 376759"/>
                <a:gd name="connsiteX31" fmla="*/ 54193 w 345463"/>
                <a:gd name="connsiteY31" fmla="*/ 243336 h 376759"/>
                <a:gd name="connsiteX32" fmla="*/ 54193 w 345463"/>
                <a:gd name="connsiteY32" fmla="*/ 237993 h 376759"/>
                <a:gd name="connsiteX33" fmla="*/ 54346 w 345463"/>
                <a:gd name="connsiteY33" fmla="*/ 291576 h 376759"/>
                <a:gd name="connsiteX34" fmla="*/ 49003 w 345463"/>
                <a:gd name="connsiteY34" fmla="*/ 291576 h 376759"/>
                <a:gd name="connsiteX35" fmla="*/ 49003 w 345463"/>
                <a:gd name="connsiteY35" fmla="*/ 296003 h 376759"/>
                <a:gd name="connsiteX36" fmla="*/ 54193 w 345463"/>
                <a:gd name="connsiteY36" fmla="*/ 296003 h 376759"/>
                <a:gd name="connsiteX37" fmla="*/ 54193 w 345463"/>
                <a:gd name="connsiteY37" fmla="*/ 291576 h 376759"/>
                <a:gd name="connsiteX38" fmla="*/ 54346 w 345463"/>
                <a:gd name="connsiteY38" fmla="*/ 344243 h 376759"/>
                <a:gd name="connsiteX39" fmla="*/ 49003 w 345463"/>
                <a:gd name="connsiteY39" fmla="*/ 344243 h 376759"/>
                <a:gd name="connsiteX40" fmla="*/ 49003 w 345463"/>
                <a:gd name="connsiteY40" fmla="*/ 348670 h 376759"/>
                <a:gd name="connsiteX41" fmla="*/ 54193 w 345463"/>
                <a:gd name="connsiteY41" fmla="*/ 348670 h 376759"/>
                <a:gd name="connsiteX42" fmla="*/ 54193 w 345463"/>
                <a:gd name="connsiteY42" fmla="*/ 344243 h 376759"/>
                <a:gd name="connsiteX43" fmla="*/ 159222 w 345463"/>
                <a:gd name="connsiteY43" fmla="*/ 185326 h 376759"/>
                <a:gd name="connsiteX44" fmla="*/ 154795 w 345463"/>
                <a:gd name="connsiteY44" fmla="*/ 185326 h 376759"/>
                <a:gd name="connsiteX45" fmla="*/ 154795 w 345463"/>
                <a:gd name="connsiteY45" fmla="*/ 190669 h 376759"/>
                <a:gd name="connsiteX46" fmla="*/ 159222 w 345463"/>
                <a:gd name="connsiteY46" fmla="*/ 190669 h 376759"/>
                <a:gd name="connsiteX47" fmla="*/ 159222 w 345463"/>
                <a:gd name="connsiteY47" fmla="*/ 185326 h 376759"/>
                <a:gd name="connsiteX48" fmla="*/ 159222 w 345463"/>
                <a:gd name="connsiteY48" fmla="*/ 239825 h 376759"/>
                <a:gd name="connsiteX49" fmla="*/ 154795 w 345463"/>
                <a:gd name="connsiteY49" fmla="*/ 239825 h 376759"/>
                <a:gd name="connsiteX50" fmla="*/ 154795 w 345463"/>
                <a:gd name="connsiteY50" fmla="*/ 243336 h 376759"/>
                <a:gd name="connsiteX51" fmla="*/ 159222 w 345463"/>
                <a:gd name="connsiteY51" fmla="*/ 243336 h 376759"/>
                <a:gd name="connsiteX52" fmla="*/ 159222 w 345463"/>
                <a:gd name="connsiteY52" fmla="*/ 239825 h 376759"/>
                <a:gd name="connsiteX53" fmla="*/ 212652 w 345463"/>
                <a:gd name="connsiteY53" fmla="*/ 185326 h 376759"/>
                <a:gd name="connsiteX54" fmla="*/ 207462 w 345463"/>
                <a:gd name="connsiteY54" fmla="*/ 185326 h 376759"/>
                <a:gd name="connsiteX55" fmla="*/ 207462 w 345463"/>
                <a:gd name="connsiteY55" fmla="*/ 190669 h 376759"/>
                <a:gd name="connsiteX56" fmla="*/ 212652 w 345463"/>
                <a:gd name="connsiteY56" fmla="*/ 190669 h 376759"/>
                <a:gd name="connsiteX57" fmla="*/ 212652 w 345463"/>
                <a:gd name="connsiteY57" fmla="*/ 185326 h 376759"/>
                <a:gd name="connsiteX58" fmla="*/ 212652 w 345463"/>
                <a:gd name="connsiteY58" fmla="*/ 239825 h 376759"/>
                <a:gd name="connsiteX59" fmla="*/ 207462 w 345463"/>
                <a:gd name="connsiteY59" fmla="*/ 239825 h 376759"/>
                <a:gd name="connsiteX60" fmla="*/ 207462 w 345463"/>
                <a:gd name="connsiteY60" fmla="*/ 243336 h 376759"/>
                <a:gd name="connsiteX61" fmla="*/ 212652 w 345463"/>
                <a:gd name="connsiteY61" fmla="*/ 243336 h 376759"/>
                <a:gd name="connsiteX62" fmla="*/ 212652 w 345463"/>
                <a:gd name="connsiteY62" fmla="*/ 239825 h 376759"/>
                <a:gd name="connsiteX0" fmla="*/ 261502 w 345464"/>
                <a:gd name="connsiteY0" fmla="*/ 124874 h 376759"/>
                <a:gd name="connsiteX1" fmla="*/ 261502 w 345464"/>
                <a:gd name="connsiteY1" fmla="*/ 376759 h 376759"/>
                <a:gd name="connsiteX2" fmla="*/ 211583 w 345464"/>
                <a:gd name="connsiteY2" fmla="*/ 376759 h 376759"/>
                <a:gd name="connsiteX3" fmla="*/ 211583 w 345464"/>
                <a:gd name="connsiteY3" fmla="*/ 292492 h 376759"/>
                <a:gd name="connsiteX4" fmla="*/ 158306 w 345464"/>
                <a:gd name="connsiteY4" fmla="*/ 292492 h 376759"/>
                <a:gd name="connsiteX5" fmla="*/ 158306 w 345464"/>
                <a:gd name="connsiteY5" fmla="*/ 376759 h 376759"/>
                <a:gd name="connsiteX6" fmla="*/ 105944 w 345464"/>
                <a:gd name="connsiteY6" fmla="*/ 376759 h 376759"/>
                <a:gd name="connsiteX7" fmla="*/ 105944 w 345464"/>
                <a:gd name="connsiteY7" fmla="*/ 132507 h 376759"/>
                <a:gd name="connsiteX8" fmla="*/ 184716 w 345464"/>
                <a:gd name="connsiteY8" fmla="*/ 132507 h 376759"/>
                <a:gd name="connsiteX9" fmla="*/ 261655 w 345464"/>
                <a:gd name="connsiteY9" fmla="*/ 132507 h 376759"/>
                <a:gd name="connsiteX10" fmla="*/ 184563 w 345464"/>
                <a:gd name="connsiteY10" fmla="*/ 132660 h 376759"/>
                <a:gd name="connsiteX11" fmla="*/ 184563 w 345464"/>
                <a:gd name="connsiteY11" fmla="*/ 80756 h 376759"/>
                <a:gd name="connsiteX12" fmla="*/ 0 w 345464"/>
                <a:gd name="connsiteY12" fmla="*/ 80756 h 376759"/>
                <a:gd name="connsiteX13" fmla="*/ 0 w 345464"/>
                <a:gd name="connsiteY13" fmla="*/ 376759 h 376759"/>
                <a:gd name="connsiteX14" fmla="*/ 345464 w 345464"/>
                <a:gd name="connsiteY14" fmla="*/ 376759 h 376759"/>
                <a:gd name="connsiteX15" fmla="*/ 345464 w 345464"/>
                <a:gd name="connsiteY15" fmla="*/ 108082 h 376759"/>
                <a:gd name="connsiteX16" fmla="*/ 234329 w 345464"/>
                <a:gd name="connsiteY16" fmla="*/ 0 h 376759"/>
                <a:gd name="connsiteX17" fmla="*/ 234329 w 345464"/>
                <a:gd name="connsiteY17" fmla="*/ 132660 h 376759"/>
                <a:gd name="connsiteX18" fmla="*/ 54346 w 345464"/>
                <a:gd name="connsiteY18" fmla="*/ 132660 h 376759"/>
                <a:gd name="connsiteX19" fmla="*/ 49003 w 345464"/>
                <a:gd name="connsiteY19" fmla="*/ 132660 h 376759"/>
                <a:gd name="connsiteX20" fmla="*/ 49003 w 345464"/>
                <a:gd name="connsiteY20" fmla="*/ 136171 h 376759"/>
                <a:gd name="connsiteX21" fmla="*/ 54193 w 345464"/>
                <a:gd name="connsiteY21" fmla="*/ 136171 h 376759"/>
                <a:gd name="connsiteX22" fmla="*/ 54193 w 345464"/>
                <a:gd name="connsiteY22" fmla="*/ 132660 h 376759"/>
                <a:gd name="connsiteX23" fmla="*/ 54346 w 345464"/>
                <a:gd name="connsiteY23" fmla="*/ 185326 h 376759"/>
                <a:gd name="connsiteX24" fmla="*/ 49003 w 345464"/>
                <a:gd name="connsiteY24" fmla="*/ 185326 h 376759"/>
                <a:gd name="connsiteX25" fmla="*/ 49003 w 345464"/>
                <a:gd name="connsiteY25" fmla="*/ 190669 h 376759"/>
                <a:gd name="connsiteX26" fmla="*/ 54193 w 345464"/>
                <a:gd name="connsiteY26" fmla="*/ 190669 h 376759"/>
                <a:gd name="connsiteX27" fmla="*/ 54193 w 345464"/>
                <a:gd name="connsiteY27" fmla="*/ 185326 h 376759"/>
                <a:gd name="connsiteX28" fmla="*/ 54346 w 345464"/>
                <a:gd name="connsiteY28" fmla="*/ 237993 h 376759"/>
                <a:gd name="connsiteX29" fmla="*/ 49003 w 345464"/>
                <a:gd name="connsiteY29" fmla="*/ 237993 h 376759"/>
                <a:gd name="connsiteX30" fmla="*/ 49003 w 345464"/>
                <a:gd name="connsiteY30" fmla="*/ 243336 h 376759"/>
                <a:gd name="connsiteX31" fmla="*/ 54193 w 345464"/>
                <a:gd name="connsiteY31" fmla="*/ 243336 h 376759"/>
                <a:gd name="connsiteX32" fmla="*/ 54193 w 345464"/>
                <a:gd name="connsiteY32" fmla="*/ 237993 h 376759"/>
                <a:gd name="connsiteX33" fmla="*/ 54346 w 345464"/>
                <a:gd name="connsiteY33" fmla="*/ 291576 h 376759"/>
                <a:gd name="connsiteX34" fmla="*/ 49003 w 345464"/>
                <a:gd name="connsiteY34" fmla="*/ 291576 h 376759"/>
                <a:gd name="connsiteX35" fmla="*/ 49003 w 345464"/>
                <a:gd name="connsiteY35" fmla="*/ 296003 h 376759"/>
                <a:gd name="connsiteX36" fmla="*/ 54193 w 345464"/>
                <a:gd name="connsiteY36" fmla="*/ 296003 h 376759"/>
                <a:gd name="connsiteX37" fmla="*/ 54193 w 345464"/>
                <a:gd name="connsiteY37" fmla="*/ 291576 h 376759"/>
                <a:gd name="connsiteX38" fmla="*/ 54346 w 345464"/>
                <a:gd name="connsiteY38" fmla="*/ 344243 h 376759"/>
                <a:gd name="connsiteX39" fmla="*/ 49003 w 345464"/>
                <a:gd name="connsiteY39" fmla="*/ 344243 h 376759"/>
                <a:gd name="connsiteX40" fmla="*/ 49003 w 345464"/>
                <a:gd name="connsiteY40" fmla="*/ 348670 h 376759"/>
                <a:gd name="connsiteX41" fmla="*/ 54193 w 345464"/>
                <a:gd name="connsiteY41" fmla="*/ 348670 h 376759"/>
                <a:gd name="connsiteX42" fmla="*/ 54193 w 345464"/>
                <a:gd name="connsiteY42" fmla="*/ 344243 h 376759"/>
                <a:gd name="connsiteX43" fmla="*/ 159222 w 345464"/>
                <a:gd name="connsiteY43" fmla="*/ 185326 h 376759"/>
                <a:gd name="connsiteX44" fmla="*/ 154795 w 345464"/>
                <a:gd name="connsiteY44" fmla="*/ 185326 h 376759"/>
                <a:gd name="connsiteX45" fmla="*/ 154795 w 345464"/>
                <a:gd name="connsiteY45" fmla="*/ 190669 h 376759"/>
                <a:gd name="connsiteX46" fmla="*/ 159222 w 345464"/>
                <a:gd name="connsiteY46" fmla="*/ 190669 h 376759"/>
                <a:gd name="connsiteX47" fmla="*/ 159222 w 345464"/>
                <a:gd name="connsiteY47" fmla="*/ 185326 h 376759"/>
                <a:gd name="connsiteX48" fmla="*/ 159222 w 345464"/>
                <a:gd name="connsiteY48" fmla="*/ 239825 h 376759"/>
                <a:gd name="connsiteX49" fmla="*/ 154795 w 345464"/>
                <a:gd name="connsiteY49" fmla="*/ 239825 h 376759"/>
                <a:gd name="connsiteX50" fmla="*/ 154795 w 345464"/>
                <a:gd name="connsiteY50" fmla="*/ 243336 h 376759"/>
                <a:gd name="connsiteX51" fmla="*/ 159222 w 345464"/>
                <a:gd name="connsiteY51" fmla="*/ 243336 h 376759"/>
                <a:gd name="connsiteX52" fmla="*/ 159222 w 345464"/>
                <a:gd name="connsiteY52" fmla="*/ 239825 h 376759"/>
                <a:gd name="connsiteX53" fmla="*/ 212652 w 345464"/>
                <a:gd name="connsiteY53" fmla="*/ 185326 h 376759"/>
                <a:gd name="connsiteX54" fmla="*/ 207462 w 345464"/>
                <a:gd name="connsiteY54" fmla="*/ 185326 h 376759"/>
                <a:gd name="connsiteX55" fmla="*/ 207462 w 345464"/>
                <a:gd name="connsiteY55" fmla="*/ 190669 h 376759"/>
                <a:gd name="connsiteX56" fmla="*/ 212652 w 345464"/>
                <a:gd name="connsiteY56" fmla="*/ 190669 h 376759"/>
                <a:gd name="connsiteX57" fmla="*/ 212652 w 345464"/>
                <a:gd name="connsiteY57" fmla="*/ 185326 h 376759"/>
                <a:gd name="connsiteX58" fmla="*/ 212652 w 345464"/>
                <a:gd name="connsiteY58" fmla="*/ 239825 h 376759"/>
                <a:gd name="connsiteX59" fmla="*/ 207462 w 345464"/>
                <a:gd name="connsiteY59" fmla="*/ 239825 h 376759"/>
                <a:gd name="connsiteX60" fmla="*/ 207462 w 345464"/>
                <a:gd name="connsiteY60" fmla="*/ 243336 h 376759"/>
                <a:gd name="connsiteX61" fmla="*/ 212652 w 345464"/>
                <a:gd name="connsiteY61" fmla="*/ 243336 h 376759"/>
                <a:gd name="connsiteX62" fmla="*/ 212652 w 345464"/>
                <a:gd name="connsiteY62" fmla="*/ 239825 h 376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45464" h="376759">
                  <a:moveTo>
                    <a:pt x="261502" y="124874"/>
                  </a:moveTo>
                  <a:lnTo>
                    <a:pt x="261502" y="376759"/>
                  </a:lnTo>
                  <a:lnTo>
                    <a:pt x="211583" y="376759"/>
                  </a:lnTo>
                  <a:lnTo>
                    <a:pt x="211583" y="292492"/>
                  </a:lnTo>
                  <a:lnTo>
                    <a:pt x="158306" y="292492"/>
                  </a:lnTo>
                  <a:lnTo>
                    <a:pt x="158306" y="376759"/>
                  </a:lnTo>
                  <a:lnTo>
                    <a:pt x="105944" y="376759"/>
                  </a:lnTo>
                  <a:lnTo>
                    <a:pt x="105944" y="132507"/>
                  </a:lnTo>
                  <a:lnTo>
                    <a:pt x="184716" y="132507"/>
                  </a:lnTo>
                  <a:lnTo>
                    <a:pt x="261655" y="132507"/>
                  </a:lnTo>
                  <a:moveTo>
                    <a:pt x="184563" y="132660"/>
                  </a:moveTo>
                  <a:lnTo>
                    <a:pt x="184563" y="80756"/>
                  </a:lnTo>
                  <a:lnTo>
                    <a:pt x="0" y="80756"/>
                  </a:lnTo>
                  <a:lnTo>
                    <a:pt x="0" y="376759"/>
                  </a:lnTo>
                  <a:moveTo>
                    <a:pt x="345464" y="376759"/>
                  </a:moveTo>
                  <a:lnTo>
                    <a:pt x="345464" y="108082"/>
                  </a:lnTo>
                  <a:lnTo>
                    <a:pt x="234329" y="0"/>
                  </a:lnTo>
                  <a:lnTo>
                    <a:pt x="234329" y="132660"/>
                  </a:lnTo>
                  <a:moveTo>
                    <a:pt x="54346" y="132660"/>
                  </a:moveTo>
                  <a:lnTo>
                    <a:pt x="49003" y="132660"/>
                  </a:lnTo>
                  <a:lnTo>
                    <a:pt x="49003" y="136171"/>
                  </a:lnTo>
                  <a:lnTo>
                    <a:pt x="54193" y="136171"/>
                  </a:lnTo>
                  <a:lnTo>
                    <a:pt x="54193" y="132660"/>
                  </a:lnTo>
                  <a:moveTo>
                    <a:pt x="54346" y="185326"/>
                  </a:moveTo>
                  <a:lnTo>
                    <a:pt x="49003" y="185326"/>
                  </a:lnTo>
                  <a:lnTo>
                    <a:pt x="49003" y="190669"/>
                  </a:lnTo>
                  <a:lnTo>
                    <a:pt x="54193" y="190669"/>
                  </a:lnTo>
                  <a:lnTo>
                    <a:pt x="54193" y="185326"/>
                  </a:lnTo>
                  <a:moveTo>
                    <a:pt x="54346" y="237993"/>
                  </a:moveTo>
                  <a:lnTo>
                    <a:pt x="49003" y="237993"/>
                  </a:lnTo>
                  <a:lnTo>
                    <a:pt x="49003" y="243336"/>
                  </a:lnTo>
                  <a:lnTo>
                    <a:pt x="54193" y="243336"/>
                  </a:lnTo>
                  <a:lnTo>
                    <a:pt x="54193" y="237993"/>
                  </a:lnTo>
                  <a:moveTo>
                    <a:pt x="54346" y="291576"/>
                  </a:moveTo>
                  <a:lnTo>
                    <a:pt x="49003" y="291576"/>
                  </a:lnTo>
                  <a:lnTo>
                    <a:pt x="49003" y="296003"/>
                  </a:lnTo>
                  <a:lnTo>
                    <a:pt x="54193" y="296003"/>
                  </a:lnTo>
                  <a:lnTo>
                    <a:pt x="54193" y="291576"/>
                  </a:lnTo>
                  <a:moveTo>
                    <a:pt x="54346" y="344243"/>
                  </a:moveTo>
                  <a:lnTo>
                    <a:pt x="49003" y="344243"/>
                  </a:lnTo>
                  <a:lnTo>
                    <a:pt x="49003" y="348670"/>
                  </a:lnTo>
                  <a:lnTo>
                    <a:pt x="54193" y="348670"/>
                  </a:lnTo>
                  <a:lnTo>
                    <a:pt x="54193" y="344243"/>
                  </a:lnTo>
                  <a:moveTo>
                    <a:pt x="159222" y="185326"/>
                  </a:moveTo>
                  <a:lnTo>
                    <a:pt x="154795" y="185326"/>
                  </a:lnTo>
                  <a:lnTo>
                    <a:pt x="154795" y="190669"/>
                  </a:lnTo>
                  <a:lnTo>
                    <a:pt x="159222" y="190669"/>
                  </a:lnTo>
                  <a:lnTo>
                    <a:pt x="159222" y="185326"/>
                  </a:lnTo>
                  <a:moveTo>
                    <a:pt x="159222" y="239825"/>
                  </a:moveTo>
                  <a:lnTo>
                    <a:pt x="154795" y="239825"/>
                  </a:lnTo>
                  <a:lnTo>
                    <a:pt x="154795" y="243336"/>
                  </a:lnTo>
                  <a:lnTo>
                    <a:pt x="159222" y="243336"/>
                  </a:lnTo>
                  <a:lnTo>
                    <a:pt x="159222" y="239825"/>
                  </a:lnTo>
                  <a:moveTo>
                    <a:pt x="212652" y="185326"/>
                  </a:moveTo>
                  <a:lnTo>
                    <a:pt x="207462" y="185326"/>
                  </a:lnTo>
                  <a:lnTo>
                    <a:pt x="207462" y="190669"/>
                  </a:lnTo>
                  <a:lnTo>
                    <a:pt x="212652" y="190669"/>
                  </a:lnTo>
                  <a:lnTo>
                    <a:pt x="212652" y="185326"/>
                  </a:lnTo>
                  <a:moveTo>
                    <a:pt x="212652" y="239825"/>
                  </a:moveTo>
                  <a:lnTo>
                    <a:pt x="207462" y="239825"/>
                  </a:lnTo>
                  <a:lnTo>
                    <a:pt x="207462" y="243336"/>
                  </a:lnTo>
                  <a:lnTo>
                    <a:pt x="212652" y="243336"/>
                  </a:lnTo>
                  <a:lnTo>
                    <a:pt x="212652" y="239825"/>
                  </a:lnTo>
                </a:path>
              </a:pathLst>
            </a:custGeom>
            <a:noFill/>
            <a:ln w="158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29" tIns="44815" rIns="89629" bIns="44815" numCol="1" anchor="t" anchorCtr="0" compatLnSpc="1">
              <a:prstTxWarp prst="textNoShape">
                <a:avLst/>
              </a:prstTxWarp>
            </a:bodyPr>
            <a:lstStyle/>
            <a:p>
              <a:pPr defTabSz="932563"/>
              <a:endParaRPr lang="en-US" sz="1200">
                <a:gradFill>
                  <a:gsLst>
                    <a:gs pos="0">
                      <a:srgbClr val="505050"/>
                    </a:gs>
                    <a:gs pos="100000">
                      <a:srgbClr val="505050"/>
                    </a:gs>
                  </a:gsLst>
                </a:gradFill>
                <a:latin typeface="Segoe UI"/>
              </a:endParaRPr>
            </a:p>
          </p:txBody>
        </p:sp>
        <p:sp>
          <p:nvSpPr>
            <p:cNvPr id="106" name="server">
              <a:extLst>
                <a:ext uri="{FF2B5EF4-FFF2-40B4-BE49-F238E27FC236}">
                  <a16:creationId xmlns:a16="http://schemas.microsoft.com/office/drawing/2014/main" id="{328D5484-10DD-473F-88D4-8026962CE8E8}"/>
                </a:ext>
              </a:extLst>
            </p:cNvPr>
            <p:cNvSpPr>
              <a:spLocks noChangeAspect="1" noEditPoints="1"/>
            </p:cNvSpPr>
            <p:nvPr/>
          </p:nvSpPr>
          <p:spPr bwMode="auto">
            <a:xfrm>
              <a:off x="9660057" y="5514975"/>
              <a:ext cx="237714" cy="450024"/>
            </a:xfrm>
            <a:custGeom>
              <a:avLst/>
              <a:gdLst>
                <a:gd name="T0" fmla="*/ 131 w 131"/>
                <a:gd name="T1" fmla="*/ 117 h 248"/>
                <a:gd name="T2" fmla="*/ 131 w 131"/>
                <a:gd name="T3" fmla="*/ 248 h 248"/>
                <a:gd name="T4" fmla="*/ 0 w 131"/>
                <a:gd name="T5" fmla="*/ 248 h 248"/>
                <a:gd name="T6" fmla="*/ 0 w 131"/>
                <a:gd name="T7" fmla="*/ 0 h 248"/>
                <a:gd name="T8" fmla="*/ 131 w 131"/>
                <a:gd name="T9" fmla="*/ 0 h 248"/>
                <a:gd name="T10" fmla="*/ 131 w 131"/>
                <a:gd name="T11" fmla="*/ 117 h 248"/>
                <a:gd name="T12" fmla="*/ 28 w 131"/>
                <a:gd name="T13" fmla="*/ 40 h 248"/>
                <a:gd name="T14" fmla="*/ 102 w 131"/>
                <a:gd name="T15" fmla="*/ 40 h 248"/>
                <a:gd name="T16" fmla="*/ 28 w 131"/>
                <a:gd name="T17" fmla="*/ 170 h 248"/>
                <a:gd name="T18" fmla="*/ 102 w 131"/>
                <a:gd name="T19" fmla="*/ 170 h 248"/>
                <a:gd name="T20" fmla="*/ 28 w 131"/>
                <a:gd name="T21" fmla="*/ 207 h 248"/>
                <a:gd name="T22" fmla="*/ 102 w 131"/>
                <a:gd name="T23" fmla="*/ 207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1" h="248">
                  <a:moveTo>
                    <a:pt x="131" y="117"/>
                  </a:moveTo>
                  <a:lnTo>
                    <a:pt x="131" y="248"/>
                  </a:lnTo>
                  <a:lnTo>
                    <a:pt x="0" y="248"/>
                  </a:lnTo>
                  <a:lnTo>
                    <a:pt x="0" y="0"/>
                  </a:lnTo>
                  <a:lnTo>
                    <a:pt x="131" y="0"/>
                  </a:lnTo>
                  <a:lnTo>
                    <a:pt x="131" y="117"/>
                  </a:lnTo>
                  <a:moveTo>
                    <a:pt x="28" y="40"/>
                  </a:moveTo>
                  <a:lnTo>
                    <a:pt x="102" y="40"/>
                  </a:lnTo>
                  <a:moveTo>
                    <a:pt x="28" y="170"/>
                  </a:moveTo>
                  <a:lnTo>
                    <a:pt x="102" y="170"/>
                  </a:lnTo>
                  <a:moveTo>
                    <a:pt x="28" y="207"/>
                  </a:moveTo>
                  <a:lnTo>
                    <a:pt x="102" y="207"/>
                  </a:ln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29" tIns="44815" rIns="89629" bIns="44815" numCol="1" anchor="t" anchorCtr="0" compatLnSpc="1">
              <a:prstTxWarp prst="textNoShape">
                <a:avLst/>
              </a:prstTxWarp>
            </a:bodyPr>
            <a:lstStyle/>
            <a:p>
              <a:pPr defTabSz="932563"/>
              <a:endParaRPr lang="en-US" sz="1200">
                <a:gradFill>
                  <a:gsLst>
                    <a:gs pos="0">
                      <a:srgbClr val="505050"/>
                    </a:gs>
                    <a:gs pos="100000">
                      <a:srgbClr val="505050"/>
                    </a:gs>
                  </a:gsLst>
                </a:gradFill>
                <a:latin typeface="Segoe UI"/>
              </a:endParaRPr>
            </a:p>
          </p:txBody>
        </p:sp>
      </p:grpSp>
      <p:pic>
        <p:nvPicPr>
          <p:cNvPr id="2" name="Graphic 1">
            <a:extLst>
              <a:ext uri="{FF2B5EF4-FFF2-40B4-BE49-F238E27FC236}">
                <a16:creationId xmlns:a16="http://schemas.microsoft.com/office/drawing/2014/main" id="{4518015B-9C5B-225B-D662-57074419953E}"/>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16200000">
            <a:off x="587309" y="2539702"/>
            <a:ext cx="224853" cy="248523"/>
          </a:xfrm>
          <a:prstGeom prst="rect">
            <a:avLst/>
          </a:prstGeom>
        </p:spPr>
      </p:pic>
      <p:pic>
        <p:nvPicPr>
          <p:cNvPr id="4" name="Graphic 3">
            <a:extLst>
              <a:ext uri="{FF2B5EF4-FFF2-40B4-BE49-F238E27FC236}">
                <a16:creationId xmlns:a16="http://schemas.microsoft.com/office/drawing/2014/main" id="{5BDA3D8C-E994-4EA4-542C-D5B84EDA5A27}"/>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16200000">
            <a:off x="587310" y="3502353"/>
            <a:ext cx="224853" cy="248523"/>
          </a:xfrm>
          <a:prstGeom prst="rect">
            <a:avLst/>
          </a:prstGeom>
        </p:spPr>
      </p:pic>
      <p:pic>
        <p:nvPicPr>
          <p:cNvPr id="5" name="Graphic 4">
            <a:extLst>
              <a:ext uri="{FF2B5EF4-FFF2-40B4-BE49-F238E27FC236}">
                <a16:creationId xmlns:a16="http://schemas.microsoft.com/office/drawing/2014/main" id="{FAF8461A-FB3D-3092-DC7A-C07113183D12}"/>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16200000">
            <a:off x="587310" y="4017591"/>
            <a:ext cx="224853" cy="248523"/>
          </a:xfrm>
          <a:prstGeom prst="rect">
            <a:avLst/>
          </a:prstGeom>
        </p:spPr>
      </p:pic>
      <p:pic>
        <p:nvPicPr>
          <p:cNvPr id="7" name="Graphic 6">
            <a:extLst>
              <a:ext uri="{FF2B5EF4-FFF2-40B4-BE49-F238E27FC236}">
                <a16:creationId xmlns:a16="http://schemas.microsoft.com/office/drawing/2014/main" id="{BE56961C-FC3A-BDAE-CE75-D42CA0362AEA}"/>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16200000">
            <a:off x="587311" y="4550308"/>
            <a:ext cx="224853" cy="248523"/>
          </a:xfrm>
          <a:prstGeom prst="rect">
            <a:avLst/>
          </a:prstGeom>
        </p:spPr>
      </p:pic>
      <p:pic>
        <p:nvPicPr>
          <p:cNvPr id="9" name="Graphic 8">
            <a:extLst>
              <a:ext uri="{FF2B5EF4-FFF2-40B4-BE49-F238E27FC236}">
                <a16:creationId xmlns:a16="http://schemas.microsoft.com/office/drawing/2014/main" id="{923C2600-1689-3BCE-0710-D2FD54BED957}"/>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16200000">
            <a:off x="587311" y="5296709"/>
            <a:ext cx="224853" cy="248523"/>
          </a:xfrm>
          <a:prstGeom prst="rect">
            <a:avLst/>
          </a:prstGeom>
        </p:spPr>
      </p:pic>
    </p:spTree>
    <p:extLst>
      <p:ext uri="{BB962C8B-B14F-4D97-AF65-F5344CB8AC3E}">
        <p14:creationId xmlns:p14="http://schemas.microsoft.com/office/powerpoint/2010/main" val="396866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500"/>
                                        <p:tgtEl>
                                          <p:spTgt spid="84"/>
                                        </p:tgtEl>
                                      </p:cBhvr>
                                    </p:animEffect>
                                  </p:childTnLst>
                                </p:cTn>
                              </p:par>
                              <p:par>
                                <p:cTn id="8" presetID="42" presetClass="path" presetSubtype="0" decel="100000" fill="hold" grpId="1" nodeType="withEffect">
                                  <p:stCondLst>
                                    <p:cond delay="0"/>
                                  </p:stCondLst>
                                  <p:childTnLst>
                                    <p:animMotion origin="layout" path="M -1.69773E-6 -4.34408E-6 L -0.0134 -4.34408E-6 " pathEditMode="relative" rAng="0" ptsTypes="AA">
                                      <p:cBhvr>
                                        <p:cTn id="9" dur="500" spd="-100000" fill="hold"/>
                                        <p:tgtEl>
                                          <p:spTgt spid="84"/>
                                        </p:tgtEl>
                                        <p:attrNameLst>
                                          <p:attrName>ppt_x</p:attrName>
                                          <p:attrName>ppt_y</p:attrName>
                                        </p:attrNameLst>
                                      </p:cBhvr>
                                      <p:rCtr x="-677" y="0"/>
                                    </p:animMotion>
                                  </p:childTnLst>
                                </p:cTn>
                              </p:par>
                              <p:par>
                                <p:cTn id="10" presetID="2" presetClass="entr" presetSubtype="2" decel="10000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1+#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par>
                                <p:cTn id="14" presetID="10" presetClass="entr" presetSubtype="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par>
                                <p:cTn id="17" presetID="42" presetClass="path" presetSubtype="0" decel="100000" fill="hold" nodeType="withEffect">
                                  <p:stCondLst>
                                    <p:cond delay="0"/>
                                  </p:stCondLst>
                                  <p:childTnLst>
                                    <p:animMotion origin="layout" path="M 3.15548E-6 0 L 0.02476 0 " pathEditMode="relative" rAng="0" ptsTypes="AA">
                                      <p:cBhvr>
                                        <p:cTn id="18" dur="500" spd="-100000" fill="hold"/>
                                        <p:tgtEl>
                                          <p:spTgt spid="3"/>
                                        </p:tgtEl>
                                        <p:attrNameLst>
                                          <p:attrName>ppt_x</p:attrName>
                                          <p:attrName>ppt_y</p:attrName>
                                        </p:attrNameLst>
                                      </p:cBhvr>
                                      <p:rCtr x="1238" y="0"/>
                                    </p:animMotion>
                                  </p:childTnLst>
                                </p:cTn>
                              </p:par>
                              <p:par>
                                <p:cTn id="19" presetID="10" presetClass="entr" presetSubtype="0" fill="hold" grpId="0" nodeType="withEffect">
                                  <p:stCondLst>
                                    <p:cond delay="0"/>
                                  </p:stCondLst>
                                  <p:childTnLst>
                                    <p:set>
                                      <p:cBhvr>
                                        <p:cTn id="20" dur="1" fill="hold">
                                          <p:stCondLst>
                                            <p:cond delay="0"/>
                                          </p:stCondLst>
                                        </p:cTn>
                                        <p:tgtEl>
                                          <p:spTgt spid="112"/>
                                        </p:tgtEl>
                                        <p:attrNameLst>
                                          <p:attrName>style.visibility</p:attrName>
                                        </p:attrNameLst>
                                      </p:cBhvr>
                                      <p:to>
                                        <p:strVal val="visible"/>
                                      </p:to>
                                    </p:set>
                                    <p:animEffect transition="in" filter="fade">
                                      <p:cBhvr>
                                        <p:cTn id="21" dur="500"/>
                                        <p:tgtEl>
                                          <p:spTgt spid="112"/>
                                        </p:tgtEl>
                                      </p:cBhvr>
                                    </p:animEffect>
                                  </p:childTnLst>
                                </p:cTn>
                              </p:par>
                              <p:par>
                                <p:cTn id="22" presetID="42" presetClass="path" presetSubtype="0" decel="100000" fill="hold" grpId="1" nodeType="withEffect">
                                  <p:stCondLst>
                                    <p:cond delay="0"/>
                                  </p:stCondLst>
                                  <p:childTnLst>
                                    <p:animMotion origin="layout" path="M 3.15548E-6 0 L 0.02476 0 " pathEditMode="relative" rAng="0" ptsTypes="AA">
                                      <p:cBhvr>
                                        <p:cTn id="23" dur="500" spd="-100000" fill="hold"/>
                                        <p:tgtEl>
                                          <p:spTgt spid="112"/>
                                        </p:tgtEl>
                                        <p:attrNameLst>
                                          <p:attrName>ppt_x</p:attrName>
                                          <p:attrName>ppt_y</p:attrName>
                                        </p:attrNameLst>
                                      </p:cBhvr>
                                      <p:rCtr x="123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84" grpId="1"/>
      <p:bldP spid="8" grpId="0" animBg="1"/>
      <p:bldP spid="112" grpId="0"/>
      <p:bldP spid="112"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46100" y="465426"/>
            <a:ext cx="11237870" cy="553998"/>
          </a:xfrm>
        </p:spPr>
        <p:txBody>
          <a:bodyPr/>
          <a:lstStyle/>
          <a:p>
            <a:r>
              <a:rPr lang="en-US" sz="3600" dirty="0"/>
              <a:t>Respond and automate</a:t>
            </a:r>
          </a:p>
        </p:txBody>
      </p:sp>
      <p:sp>
        <p:nvSpPr>
          <p:cNvPr id="22" name="TextBox 21">
            <a:extLst>
              <a:ext uri="{FF2B5EF4-FFF2-40B4-BE49-F238E27FC236}">
                <a16:creationId xmlns:a16="http://schemas.microsoft.com/office/drawing/2014/main" id="{5FC5CC34-0E57-45BA-8C8A-E09376C8A0AB}"/>
              </a:ext>
            </a:extLst>
          </p:cNvPr>
          <p:cNvSpPr txBox="1"/>
          <p:nvPr/>
        </p:nvSpPr>
        <p:spPr>
          <a:xfrm>
            <a:off x="566928" y="1993330"/>
            <a:ext cx="5226584" cy="2423740"/>
          </a:xfrm>
          <a:prstGeom prst="rect">
            <a:avLst/>
          </a:prstGeom>
          <a:noFill/>
        </p:spPr>
        <p:txBody>
          <a:bodyPr wrap="square" lIns="0" tIns="0" rIns="0" bIns="0" rtlCol="0">
            <a:spAutoFit/>
          </a:bodyPr>
          <a:lstStyle/>
          <a:p>
            <a:pPr lvl="1"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Leverage “Quick Fixes” for the fastest way to implement recommendations</a:t>
            </a:r>
          </a:p>
          <a:p>
            <a:pPr lvl="1"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Automate threat alert responses with Azure Logic Apps and use the apps of your choice </a:t>
            </a:r>
            <a:b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b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to create intelligent workflows</a:t>
            </a:r>
          </a:p>
          <a:p>
            <a:pPr lvl="1" defTabSz="932060">
              <a:lnSpc>
                <a:spcPct val="90000"/>
              </a:lnSpc>
              <a:spcAft>
                <a:spcPts val="2448"/>
              </a:spcAft>
              <a:defRPr/>
            </a:pP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Connect to Microsoft Sentinel and easily move between the portals when investigating and </a:t>
            </a:r>
            <a:b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br>
            <a:r>
              <a:rPr lang="en-US" sz="1600" dirty="0">
                <a:ln w="3175">
                  <a:noFill/>
                </a:ln>
                <a:gradFill>
                  <a:gsLst>
                    <a:gs pos="83000">
                      <a:srgbClr val="000000"/>
                    </a:gs>
                    <a:gs pos="100000">
                      <a:srgbClr val="000000"/>
                    </a:gs>
                  </a:gsLst>
                  <a:lin ang="5400000" scaled="1"/>
                </a:gradFill>
                <a:latin typeface="Segoe UI"/>
                <a:cs typeface="Segoe UI Semilight" panose="020B0402040204020203" pitchFamily="34" charset="0"/>
              </a:rPr>
              <a:t>managing incidents</a:t>
            </a:r>
          </a:p>
        </p:txBody>
      </p:sp>
      <p:sp>
        <p:nvSpPr>
          <p:cNvPr id="4" name="Rectangle 3">
            <a:extLst>
              <a:ext uri="{FF2B5EF4-FFF2-40B4-BE49-F238E27FC236}">
                <a16:creationId xmlns:a16="http://schemas.microsoft.com/office/drawing/2014/main" id="{9648118D-BC43-4F35-A1CE-D2EA923C0C86}"/>
              </a:ext>
              <a:ext uri="{C183D7F6-B498-43B3-948B-1728B52AA6E4}">
                <adec:decorative xmlns:adec="http://schemas.microsoft.com/office/drawing/2017/decorative" val="1"/>
              </a:ext>
            </a:extLst>
          </p:cNvPr>
          <p:cNvSpPr/>
          <p:nvPr/>
        </p:nvSpPr>
        <p:spPr bwMode="auto">
          <a:xfrm>
            <a:off x="6242049" y="994"/>
            <a:ext cx="6192663" cy="6992541"/>
          </a:xfrm>
          <a:prstGeom prst="rect">
            <a:avLst/>
          </a:prstGeom>
          <a:solidFill>
            <a:schemeClr val="bg1">
              <a:lumMod val="95000"/>
            </a:schemeClr>
          </a:solidFill>
          <a:ln w="9525" cap="flat" cmpd="sng" algn="ctr">
            <a:noFill/>
            <a:prstDash val="solid"/>
            <a:headEnd type="none" w="med" len="med"/>
            <a:tailEnd type="none" w="med" len="med"/>
          </a:ln>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186468" tIns="149175" rIns="186468" bIns="149175" numCol="1" spcCol="0" rtlCol="0" fromWordArt="0" anchor="t" anchorCtr="0" forceAA="0" compatLnSpc="1">
            <a:prstTxWarp prst="textNoShape">
              <a:avLst/>
            </a:prstTxWarp>
            <a:noAutofit/>
          </a:bodyPr>
          <a:lstStyle/>
          <a:p>
            <a:pPr algn="r" defTabSz="950663" rtl="1" fontAlgn="base">
              <a:spcBef>
                <a:spcPct val="0"/>
              </a:spcBef>
              <a:spcAft>
                <a:spcPct val="0"/>
              </a:spcAft>
              <a:defRPr/>
            </a:pPr>
            <a:endParaRPr lang="en-US" sz="2040" kern="0" err="1">
              <a:solidFill>
                <a:srgbClr val="FFFFFF"/>
              </a:solidFill>
              <a:latin typeface="Segoe UI"/>
              <a:ea typeface="Segoe UI" pitchFamily="34" charset="0"/>
              <a:cs typeface="Segoe UI" pitchFamily="34" charset="0"/>
            </a:endParaRPr>
          </a:p>
        </p:txBody>
      </p:sp>
      <p:grpSp>
        <p:nvGrpSpPr>
          <p:cNvPr id="10" name="Group 9" descr="group of logos">
            <a:extLst>
              <a:ext uri="{FF2B5EF4-FFF2-40B4-BE49-F238E27FC236}">
                <a16:creationId xmlns:a16="http://schemas.microsoft.com/office/drawing/2014/main" id="{7B4C3A20-C48E-4C0E-8072-6DC1B2F2F4D3}"/>
              </a:ext>
            </a:extLst>
          </p:cNvPr>
          <p:cNvGrpSpPr/>
          <p:nvPr/>
        </p:nvGrpSpPr>
        <p:grpSpPr>
          <a:xfrm>
            <a:off x="6946796" y="1222348"/>
            <a:ext cx="5003091" cy="4772249"/>
            <a:chOff x="6946900" y="1222025"/>
            <a:chExt cx="5003800" cy="4772926"/>
          </a:xfrm>
        </p:grpSpPr>
        <p:pic>
          <p:nvPicPr>
            <p:cNvPr id="1026" name="Picture 2" descr="Image result for slack logo png">
              <a:extLst>
                <a:ext uri="{FF2B5EF4-FFF2-40B4-BE49-F238E27FC236}">
                  <a16:creationId xmlns:a16="http://schemas.microsoft.com/office/drawing/2014/main" id="{6D5CF0FD-E515-4888-A594-028C1001F7F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51416" y="4125786"/>
              <a:ext cx="1301415" cy="33145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lated image">
              <a:extLst>
                <a:ext uri="{FF2B5EF4-FFF2-40B4-BE49-F238E27FC236}">
                  <a16:creationId xmlns:a16="http://schemas.microsoft.com/office/drawing/2014/main" id="{E56452C6-52B6-4C2E-BD76-258FDD7CFA7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76861" y="4073302"/>
              <a:ext cx="1861558" cy="45957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Azure log analytics logo">
              <a:extLst>
                <a:ext uri="{FF2B5EF4-FFF2-40B4-BE49-F238E27FC236}">
                  <a16:creationId xmlns:a16="http://schemas.microsoft.com/office/drawing/2014/main" id="{00C9BA92-80E0-4BEB-B69B-7CBC86CA570C}"/>
                </a:ext>
              </a:extLst>
            </p:cNvPr>
            <p:cNvPicPr>
              <a:picLocks noChangeAspect="1"/>
            </p:cNvPicPr>
            <p:nvPr/>
          </p:nvPicPr>
          <p:blipFill>
            <a:blip r:embed="rId5"/>
            <a:stretch>
              <a:fillRect/>
            </a:stretch>
          </p:blipFill>
          <p:spPr>
            <a:xfrm>
              <a:off x="7151416" y="1222025"/>
              <a:ext cx="1806118" cy="791721"/>
            </a:xfrm>
            <a:prstGeom prst="rect">
              <a:avLst/>
            </a:prstGeom>
          </p:spPr>
        </p:pic>
        <p:pic>
          <p:nvPicPr>
            <p:cNvPr id="32" name="Picture 31" descr="Azure Logic Apps logo">
              <a:extLst>
                <a:ext uri="{FF2B5EF4-FFF2-40B4-BE49-F238E27FC236}">
                  <a16:creationId xmlns:a16="http://schemas.microsoft.com/office/drawing/2014/main" id="{5C7721AE-02FF-4FF9-8CAB-B79B357BE880}"/>
                </a:ext>
              </a:extLst>
            </p:cNvPr>
            <p:cNvPicPr>
              <a:picLocks noChangeAspect="1"/>
            </p:cNvPicPr>
            <p:nvPr/>
          </p:nvPicPr>
          <p:blipFill>
            <a:blip r:embed="rId6"/>
            <a:stretch>
              <a:fillRect/>
            </a:stretch>
          </p:blipFill>
          <p:spPr>
            <a:xfrm>
              <a:off x="9789561" y="1222025"/>
              <a:ext cx="1959716" cy="743021"/>
            </a:xfrm>
            <a:prstGeom prst="rect">
              <a:avLst/>
            </a:prstGeom>
          </p:spPr>
        </p:pic>
        <p:pic>
          <p:nvPicPr>
            <p:cNvPr id="35" name="Picture 34" descr="Outlook logo">
              <a:extLst>
                <a:ext uri="{FF2B5EF4-FFF2-40B4-BE49-F238E27FC236}">
                  <a16:creationId xmlns:a16="http://schemas.microsoft.com/office/drawing/2014/main" id="{110942D6-028D-4DC1-925A-93B1E5E60D06}"/>
                </a:ext>
              </a:extLst>
            </p:cNvPr>
            <p:cNvPicPr>
              <a:picLocks noChangeAspect="1"/>
            </p:cNvPicPr>
            <p:nvPr/>
          </p:nvPicPr>
          <p:blipFill>
            <a:blip r:embed="rId7"/>
            <a:stretch>
              <a:fillRect/>
            </a:stretch>
          </p:blipFill>
          <p:spPr>
            <a:xfrm>
              <a:off x="7151416" y="2677289"/>
              <a:ext cx="1770991" cy="597850"/>
            </a:xfrm>
            <a:prstGeom prst="rect">
              <a:avLst/>
            </a:prstGeom>
          </p:spPr>
        </p:pic>
        <p:pic>
          <p:nvPicPr>
            <p:cNvPr id="43" name="Picture 42" descr="Microsoft Teams logo">
              <a:extLst>
                <a:ext uri="{FF2B5EF4-FFF2-40B4-BE49-F238E27FC236}">
                  <a16:creationId xmlns:a16="http://schemas.microsoft.com/office/drawing/2014/main" id="{D6221F77-6C9F-47BB-A73C-B6BC4E232A2F}"/>
                </a:ext>
              </a:extLst>
            </p:cNvPr>
            <p:cNvPicPr>
              <a:picLocks noChangeAspect="1"/>
            </p:cNvPicPr>
            <p:nvPr/>
          </p:nvPicPr>
          <p:blipFill>
            <a:blip r:embed="rId8"/>
            <a:stretch>
              <a:fillRect/>
            </a:stretch>
          </p:blipFill>
          <p:spPr>
            <a:xfrm>
              <a:off x="9783633" y="2640774"/>
              <a:ext cx="1861558" cy="827358"/>
            </a:xfrm>
            <a:prstGeom prst="rect">
              <a:avLst/>
            </a:prstGeom>
          </p:spPr>
        </p:pic>
        <p:pic>
          <p:nvPicPr>
            <p:cNvPr id="2" name="Picture 1">
              <a:extLst>
                <a:ext uri="{FF2B5EF4-FFF2-40B4-BE49-F238E27FC236}">
                  <a16:creationId xmlns:a16="http://schemas.microsoft.com/office/drawing/2014/main" id="{33D2D126-7632-4253-81F2-EEF757C95610}"/>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a:ext>
              </a:extLst>
            </a:blip>
            <a:stretch>
              <a:fillRect/>
            </a:stretch>
          </p:blipFill>
          <p:spPr>
            <a:xfrm>
              <a:off x="7151416" y="5412970"/>
              <a:ext cx="507617" cy="581981"/>
            </a:xfrm>
            <a:prstGeom prst="rect">
              <a:avLst/>
            </a:prstGeom>
          </p:spPr>
        </p:pic>
        <p:sp>
          <p:nvSpPr>
            <p:cNvPr id="21" name="Title 16">
              <a:extLst>
                <a:ext uri="{FF2B5EF4-FFF2-40B4-BE49-F238E27FC236}">
                  <a16:creationId xmlns:a16="http://schemas.microsoft.com/office/drawing/2014/main" id="{67AA08FE-1779-4888-B0AB-35DAD7BC791A}"/>
                </a:ext>
              </a:extLst>
            </p:cNvPr>
            <p:cNvSpPr txBox="1">
              <a:spLocks/>
            </p:cNvSpPr>
            <p:nvPr/>
          </p:nvSpPr>
          <p:spPr>
            <a:xfrm>
              <a:off x="7787828" y="5504399"/>
              <a:ext cx="2797810" cy="362217"/>
            </a:xfrm>
            <a:prstGeom prst="rect">
              <a:avLst/>
            </a:prstGeom>
          </p:spPr>
          <p:txBody>
            <a:bodyPr vert="horz" wrap="square" lIns="0" tIns="0" rIns="0" bIns="0" rtlCol="0" anchor="t">
              <a:spAutoFit/>
            </a:bodyPr>
            <a:lstStyle>
              <a:lvl1pPr algn="l" defTabSz="914367" rtl="0" eaLnBrk="1" latinLnBrk="0" hangingPunct="1">
                <a:lnSpc>
                  <a:spcPts val="3137"/>
                </a:lnSpc>
                <a:spcBef>
                  <a:spcPct val="0"/>
                </a:spcBef>
                <a:buNone/>
                <a:defRPr lang="en-US" sz="2745" b="0" strike="noStrike" kern="1200" cap="none" spc="-49" baseline="0">
                  <a:ln w="3175">
                    <a:noFill/>
                  </a:ln>
                  <a:solidFill>
                    <a:srgbClr val="000000"/>
                  </a:solidFill>
                  <a:effectLst/>
                  <a:latin typeface="+mj-lt"/>
                  <a:ea typeface="+mn-ea"/>
                  <a:cs typeface="Segoe UI" pitchFamily="34" charset="0"/>
                </a:defRPr>
              </a:lvl1pPr>
            </a:lstStyle>
            <a:p>
              <a:pPr defTabSz="914191">
                <a:lnSpc>
                  <a:spcPts val="3136"/>
                </a:lnSpc>
              </a:pPr>
              <a:r>
                <a:rPr lang="en-US" sz="2000">
                  <a:latin typeface="Segoe UI Semibold"/>
                </a:rPr>
                <a:t>Microsoft Sentinel</a:t>
              </a:r>
            </a:p>
          </p:txBody>
        </p:sp>
        <p:cxnSp>
          <p:nvCxnSpPr>
            <p:cNvPr id="9" name="Straight Connector 8">
              <a:extLst>
                <a:ext uri="{FF2B5EF4-FFF2-40B4-BE49-F238E27FC236}">
                  <a16:creationId xmlns:a16="http://schemas.microsoft.com/office/drawing/2014/main" id="{1D2ECD02-26B0-4959-A2D5-FAE6DE2997E4}"/>
                </a:ext>
                <a:ext uri="{C183D7F6-B498-43B3-948B-1728B52AA6E4}">
                  <adec:decorative xmlns:adec="http://schemas.microsoft.com/office/drawing/2017/decorative" val="1"/>
                </a:ext>
              </a:extLst>
            </p:cNvPr>
            <p:cNvCxnSpPr/>
            <p:nvPr/>
          </p:nvCxnSpPr>
          <p:spPr>
            <a:xfrm>
              <a:off x="6946900" y="2222500"/>
              <a:ext cx="5003800"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1E7CD1E-2246-4028-9E82-DF452AB6EE45}"/>
                </a:ext>
                <a:ext uri="{C183D7F6-B498-43B3-948B-1728B52AA6E4}">
                  <adec:decorative xmlns:adec="http://schemas.microsoft.com/office/drawing/2017/decorative" val="1"/>
                </a:ext>
              </a:extLst>
            </p:cNvPr>
            <p:cNvCxnSpPr/>
            <p:nvPr/>
          </p:nvCxnSpPr>
          <p:spPr>
            <a:xfrm>
              <a:off x="6946900" y="3644900"/>
              <a:ext cx="5003800"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8B8871F-43EA-4825-949D-E5CFFA72EBA5}"/>
                </a:ext>
                <a:ext uri="{C183D7F6-B498-43B3-948B-1728B52AA6E4}">
                  <adec:decorative xmlns:adec="http://schemas.microsoft.com/office/drawing/2017/decorative" val="1"/>
                </a:ext>
              </a:extLst>
            </p:cNvPr>
            <p:cNvCxnSpPr/>
            <p:nvPr/>
          </p:nvCxnSpPr>
          <p:spPr>
            <a:xfrm>
              <a:off x="6946900" y="4953000"/>
              <a:ext cx="5003800"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pic>
        <p:nvPicPr>
          <p:cNvPr id="3" name="Graphic 2">
            <a:extLst>
              <a:ext uri="{FF2B5EF4-FFF2-40B4-BE49-F238E27FC236}">
                <a16:creationId xmlns:a16="http://schemas.microsoft.com/office/drawing/2014/main" id="{5E6BFA3F-367D-2549-2A73-3FB133A126E5}"/>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6200000">
            <a:off x="604568" y="1990279"/>
            <a:ext cx="224853" cy="248523"/>
          </a:xfrm>
          <a:prstGeom prst="rect">
            <a:avLst/>
          </a:prstGeom>
        </p:spPr>
      </p:pic>
      <p:pic>
        <p:nvPicPr>
          <p:cNvPr id="5" name="Graphic 4">
            <a:extLst>
              <a:ext uri="{FF2B5EF4-FFF2-40B4-BE49-F238E27FC236}">
                <a16:creationId xmlns:a16="http://schemas.microsoft.com/office/drawing/2014/main" id="{673981D1-2F6B-354A-B35C-5EB389F0E1C8}"/>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6200000">
            <a:off x="604569" y="2720120"/>
            <a:ext cx="224853" cy="248523"/>
          </a:xfrm>
          <a:prstGeom prst="rect">
            <a:avLst/>
          </a:prstGeom>
        </p:spPr>
      </p:pic>
      <p:pic>
        <p:nvPicPr>
          <p:cNvPr id="6" name="Graphic 5">
            <a:extLst>
              <a:ext uri="{FF2B5EF4-FFF2-40B4-BE49-F238E27FC236}">
                <a16:creationId xmlns:a16="http://schemas.microsoft.com/office/drawing/2014/main" id="{6878F169-9874-0119-9289-55C6E7021B02}"/>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6200000">
            <a:off x="604568" y="3685101"/>
            <a:ext cx="224853" cy="248523"/>
          </a:xfrm>
          <a:prstGeom prst="rect">
            <a:avLst/>
          </a:prstGeom>
        </p:spPr>
      </p:pic>
    </p:spTree>
    <p:extLst>
      <p:ext uri="{BB962C8B-B14F-4D97-AF65-F5344CB8AC3E}">
        <p14:creationId xmlns:p14="http://schemas.microsoft.com/office/powerpoint/2010/main" val="19929452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42" presetClass="path" presetSubtype="0" decel="100000" fill="hold" grpId="1" nodeType="withEffect">
                                  <p:stCondLst>
                                    <p:cond delay="0"/>
                                  </p:stCondLst>
                                  <p:childTnLst>
                                    <p:animMotion origin="layout" path="M -3.67628E-7 1.23468E-6 L -0.0134 1.23468E-6 " pathEditMode="relative" rAng="0" ptsTypes="AA">
                                      <p:cBhvr>
                                        <p:cTn id="9" dur="500" spd="-100000" fill="hold"/>
                                        <p:tgtEl>
                                          <p:spTgt spid="22"/>
                                        </p:tgtEl>
                                        <p:attrNameLst>
                                          <p:attrName>ppt_x</p:attrName>
                                          <p:attrName>ppt_y</p:attrName>
                                        </p:attrNameLst>
                                      </p:cBhvr>
                                      <p:rCtr x="-677" y="0"/>
                                    </p:animMotion>
                                  </p:childTnLst>
                                </p:cTn>
                              </p:par>
                              <p:par>
                                <p:cTn id="10" presetID="10"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42" presetClass="path" presetSubtype="0" decel="100000" fill="hold" nodeType="withEffect">
                                  <p:stCondLst>
                                    <p:cond delay="0"/>
                                  </p:stCondLst>
                                  <p:childTnLst>
                                    <p:animMotion origin="layout" path="M 2.52234E-6 2.57376E-6 L 0.02476 2.57376E-6 " pathEditMode="relative" rAng="0" ptsTypes="AA">
                                      <p:cBhvr>
                                        <p:cTn id="14" dur="500" spd="-100000" fill="hold"/>
                                        <p:tgtEl>
                                          <p:spTgt spid="10"/>
                                        </p:tgtEl>
                                        <p:attrNameLst>
                                          <p:attrName>ppt_x</p:attrName>
                                          <p:attrName>ppt_y</p:attrName>
                                        </p:attrNameLst>
                                      </p:cBhvr>
                                      <p:rCtr x="123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2"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ED0468C-4EB1-4BF4-B77F-8A0B9245D8D7}"/>
              </a:ext>
            </a:extLst>
          </p:cNvPr>
          <p:cNvSpPr>
            <a:spLocks noGrp="1"/>
          </p:cNvSpPr>
          <p:nvPr>
            <p:ph type="title"/>
          </p:nvPr>
        </p:nvSpPr>
        <p:spPr>
          <a:xfrm>
            <a:off x="540599" y="3171223"/>
            <a:ext cx="4027292" cy="508601"/>
          </a:xfrm>
        </p:spPr>
        <p:txBody>
          <a:bodyPr/>
          <a:lstStyle/>
          <a:p>
            <a:r>
              <a:rPr lang="en-US" sz="3600" dirty="0"/>
              <a:t>Demo</a:t>
            </a:r>
          </a:p>
        </p:txBody>
      </p:sp>
    </p:spTree>
    <p:extLst>
      <p:ext uri="{BB962C8B-B14F-4D97-AF65-F5344CB8AC3E}">
        <p14:creationId xmlns:p14="http://schemas.microsoft.com/office/powerpoint/2010/main" val="838562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42" presetClass="path" presetSubtype="0" decel="100000" fill="hold" grpId="1" nodeType="withEffect">
                                  <p:stCondLst>
                                    <p:cond delay="150"/>
                                  </p:stCondLst>
                                  <p:childTnLst>
                                    <p:animMotion origin="layout" path="M 3.22441E-6 3.34544E-6 L -0.01341 3.34544E-6 " pathEditMode="relative" rAng="0" ptsTypes="AA">
                                      <p:cBhvr>
                                        <p:cTn id="9" dur="500" spd="-100000" fill="hold"/>
                                        <p:tgtEl>
                                          <p:spTgt spid="3"/>
                                        </p:tgtEl>
                                        <p:attrNameLst>
                                          <p:attrName>ppt_x</p:attrName>
                                          <p:attrName>ppt_y</p:attrName>
                                        </p:attrNameLst>
                                      </p:cBhvr>
                                      <p:rCtr x="-67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25512-52D9-4944-AF25-4416FCBE1AB8}"/>
              </a:ext>
            </a:extLst>
          </p:cNvPr>
          <p:cNvSpPr>
            <a:spLocks noGrp="1"/>
          </p:cNvSpPr>
          <p:nvPr>
            <p:ph type="title" idx="4294967295"/>
          </p:nvPr>
        </p:nvSpPr>
        <p:spPr>
          <a:xfrm>
            <a:off x="600855" y="-593169"/>
            <a:ext cx="11237870" cy="565091"/>
          </a:xfrm>
        </p:spPr>
        <p:txBody>
          <a:bodyPr vert="horz" wrap="square" lIns="0" tIns="0" rIns="0" bIns="0" rtlCol="0" anchor="b">
            <a:spAutoFit/>
          </a:bodyPr>
          <a:lstStyle/>
          <a:p>
            <a:r>
              <a:rPr lang="en-US" dirty="0"/>
              <a:t>Microsoft Defender for Cloud dashboard</a:t>
            </a:r>
          </a:p>
        </p:txBody>
      </p:sp>
      <p:pic>
        <p:nvPicPr>
          <p:cNvPr id="4" name="Graphic 3">
            <a:extLst>
              <a:ext uri="{FF2B5EF4-FFF2-40B4-BE49-F238E27FC236}">
                <a16:creationId xmlns:a16="http://schemas.microsoft.com/office/drawing/2014/main" id="{0D44E551-EB11-49DA-A2A9-D197BC41FA2B}"/>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3" y="496"/>
            <a:ext cx="12434711" cy="6690134"/>
          </a:xfrm>
          <a:prstGeom prst="rect">
            <a:avLst/>
          </a:prstGeom>
        </p:spPr>
      </p:pic>
      <mc:AlternateContent xmlns:mc="http://schemas.openxmlformats.org/markup-compatibility/2006" xmlns:p14="http://schemas.microsoft.com/office/powerpoint/2010/main">
        <mc:Choice Requires="p14">
          <p:contentPart p14:bwMode="auto" r:id="rId5">
            <p14:nvContentPartPr>
              <p14:cNvPr id="30" name="Ink 29">
                <a:extLst>
                  <a:ext uri="{FF2B5EF4-FFF2-40B4-BE49-F238E27FC236}">
                    <a16:creationId xmlns:a16="http://schemas.microsoft.com/office/drawing/2014/main" id="{271D008B-2A1B-4F56-86D9-0AA6B0797DCC}"/>
                  </a:ext>
                  <a:ext uri="{C183D7F6-B498-43B3-948B-1728B52AA6E4}">
                    <adec:decorative xmlns:adec="http://schemas.microsoft.com/office/drawing/2017/decorative" val="1"/>
                  </a:ext>
                </a:extLst>
              </p14:cNvPr>
              <p14:cNvContentPartPr/>
              <p14:nvPr/>
            </p14:nvContentPartPr>
            <p14:xfrm>
              <a:off x="-992469" y="812978"/>
              <a:ext cx="367" cy="367"/>
            </p14:xfrm>
          </p:contentPart>
        </mc:Choice>
        <mc:Fallback xmlns="">
          <p:pic>
            <p:nvPicPr>
              <p:cNvPr id="30" name="Ink 29">
                <a:extLst>
                  <a:ext uri="{FF2B5EF4-FFF2-40B4-BE49-F238E27FC236}">
                    <a16:creationId xmlns:a16="http://schemas.microsoft.com/office/drawing/2014/main" id="{271D008B-2A1B-4F56-86D9-0AA6B0797DCC}"/>
                  </a:ext>
                  <a:ext uri="{C183D7F6-B498-43B3-948B-1728B52AA6E4}">
                    <adec:decorative xmlns:adec="http://schemas.microsoft.com/office/drawing/2017/decorative" val="1"/>
                  </a:ext>
                </a:extLst>
              </p:cNvPr>
              <p:cNvPicPr/>
              <p:nvPr/>
            </p:nvPicPr>
            <p:blipFill>
              <a:blip r:embed="rId6"/>
              <a:stretch>
                <a:fillRect/>
              </a:stretch>
            </p:blipFill>
            <p:spPr>
              <a:xfrm>
                <a:off x="-1010819" y="794628"/>
                <a:ext cx="36700" cy="36700"/>
              </a:xfrm>
              <a:prstGeom prst="rect">
                <a:avLst/>
              </a:prstGeom>
            </p:spPr>
          </p:pic>
        </mc:Fallback>
      </mc:AlternateContent>
      <p:sp>
        <p:nvSpPr>
          <p:cNvPr id="33" name="Rectangle 32">
            <a:extLst>
              <a:ext uri="{FF2B5EF4-FFF2-40B4-BE49-F238E27FC236}">
                <a16:creationId xmlns:a16="http://schemas.microsoft.com/office/drawing/2014/main" id="{71EC14A4-0F9A-4FED-82A6-798C7A44DBD4}"/>
              </a:ext>
              <a:ext uri="{C183D7F6-B498-43B3-948B-1728B52AA6E4}">
                <adec:decorative xmlns:adec="http://schemas.microsoft.com/office/drawing/2017/decorative" val="1"/>
              </a:ext>
            </a:extLst>
          </p:cNvPr>
          <p:cNvSpPr/>
          <p:nvPr/>
        </p:nvSpPr>
        <p:spPr bwMode="auto">
          <a:xfrm>
            <a:off x="1764" y="6457762"/>
            <a:ext cx="12432948" cy="554672"/>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defRPr/>
            </a:pPr>
            <a:endParaRPr lang="en-US" sz="2040" err="1">
              <a:solidFill>
                <a:schemeClr val="accent3"/>
              </a:solidFill>
              <a:latin typeface="Segoe UI"/>
              <a:ea typeface="Segoe UI" pitchFamily="34" charset="0"/>
              <a:cs typeface="Segoe UI" pitchFamily="34" charset="0"/>
            </a:endParaRPr>
          </a:p>
        </p:txBody>
      </p:sp>
      <p:sp>
        <p:nvSpPr>
          <p:cNvPr id="37" name="Text Placeholder 3">
            <a:extLst>
              <a:ext uri="{FF2B5EF4-FFF2-40B4-BE49-F238E27FC236}">
                <a16:creationId xmlns:a16="http://schemas.microsoft.com/office/drawing/2014/main" id="{4145C853-C743-4B47-B7F2-82CECE77A7D4}"/>
              </a:ext>
            </a:extLst>
          </p:cNvPr>
          <p:cNvSpPr txBox="1">
            <a:spLocks/>
          </p:cNvSpPr>
          <p:nvPr/>
        </p:nvSpPr>
        <p:spPr>
          <a:xfrm>
            <a:off x="916158" y="6591108"/>
            <a:ext cx="11797381" cy="282543"/>
          </a:xfrm>
          <a:prstGeom prst="rect">
            <a:avLst/>
          </a:prstGeom>
        </p:spPr>
        <p:txBody>
          <a:bodyPr wrap="square" anchor="ctr" anchorCtr="0">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chemeClr val="tx1"/>
                </a:solidFill>
                <a:latin typeface="+mj-lt"/>
                <a:ea typeface="+mn-ea"/>
                <a:cs typeface="Segoe UI" panose="020B0502040204020203" pitchFamily="34" charset="0"/>
              </a:defRPr>
            </a:lvl1pPr>
            <a:lvl2pPr marL="228594"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457189"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mn-cs"/>
              </a:defRPr>
            </a:lvl3pPr>
            <a:lvl4pPr marL="68578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4pPr>
            <a:lvl5pPr marL="914377"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32239">
              <a:spcBef>
                <a:spcPts val="0"/>
              </a:spcBef>
              <a:buSzTx/>
              <a:defRPr/>
            </a:pPr>
            <a:r>
              <a:rPr lang="en-US" sz="1800" dirty="0">
                <a:solidFill>
                  <a:srgbClr val="FFFFFF"/>
                </a:solidFill>
                <a:latin typeface="Segoe UI Semibold"/>
              </a:rPr>
              <a:t>Microsoft Defender for Cloud dashboard</a:t>
            </a:r>
            <a:endParaRPr lang="en-US" sz="1800" b="1" dirty="0">
              <a:solidFill>
                <a:srgbClr val="FFFFFF"/>
              </a:solidFill>
              <a:latin typeface="Segoe UI Semibold"/>
            </a:endParaRPr>
          </a:p>
        </p:txBody>
      </p:sp>
      <p:sp>
        <p:nvSpPr>
          <p:cNvPr id="10" name="Graphic 4">
            <a:extLst>
              <a:ext uri="{FF2B5EF4-FFF2-40B4-BE49-F238E27FC236}">
                <a16:creationId xmlns:a16="http://schemas.microsoft.com/office/drawing/2014/main" id="{3AF2075A-BF02-FD20-1EF6-5B1D3A94E0D7}"/>
              </a:ext>
              <a:ext uri="{C183D7F6-B498-43B3-948B-1728B52AA6E4}">
                <adec:decorative xmlns:adec="http://schemas.microsoft.com/office/drawing/2017/decorative" val="1"/>
              </a:ext>
            </a:extLst>
          </p:cNvPr>
          <p:cNvSpPr/>
          <p:nvPr/>
        </p:nvSpPr>
        <p:spPr>
          <a:xfrm>
            <a:off x="594360" y="6591108"/>
            <a:ext cx="173349" cy="282543"/>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bg1"/>
          </a:solidFill>
          <a:ln w="9525" cap="flat">
            <a:noFill/>
            <a:prstDash val="solid"/>
            <a:miter/>
          </a:ln>
        </p:spPr>
        <p:txBody>
          <a:bodyPr rtlCol="0" anchor="ctr"/>
          <a:lstStyle/>
          <a:p>
            <a:pPr defTabSz="932563">
              <a:defRPr/>
            </a:pPr>
            <a:endParaRPr lang="en-US" sz="1836">
              <a:solidFill>
                <a:srgbClr val="000000"/>
              </a:solidFill>
              <a:latin typeface="Segoe UI"/>
            </a:endParaRPr>
          </a:p>
        </p:txBody>
      </p:sp>
    </p:spTree>
    <p:extLst>
      <p:ext uri="{BB962C8B-B14F-4D97-AF65-F5344CB8AC3E}">
        <p14:creationId xmlns:p14="http://schemas.microsoft.com/office/powerpoint/2010/main" val="27472397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4A87503-439D-20FC-211B-545C6293705F}"/>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82" y="-1"/>
            <a:ext cx="12434711" cy="6562315"/>
          </a:xfrm>
          <a:prstGeom prst="rect">
            <a:avLst/>
          </a:prstGeom>
        </p:spPr>
      </p:pic>
      <p:sp>
        <p:nvSpPr>
          <p:cNvPr id="5" name="Rectangle 4">
            <a:extLst>
              <a:ext uri="{FF2B5EF4-FFF2-40B4-BE49-F238E27FC236}">
                <a16:creationId xmlns:a16="http://schemas.microsoft.com/office/drawing/2014/main" id="{CE087D3F-684B-A549-EE48-94FD73CA8CEC}"/>
              </a:ext>
              <a:ext uri="{C183D7F6-B498-43B3-948B-1728B52AA6E4}">
                <adec:decorative xmlns:adec="http://schemas.microsoft.com/office/drawing/2017/decorative" val="1"/>
              </a:ext>
            </a:extLst>
          </p:cNvPr>
          <p:cNvSpPr/>
          <p:nvPr/>
        </p:nvSpPr>
        <p:spPr bwMode="auto">
          <a:xfrm>
            <a:off x="1764" y="6457762"/>
            <a:ext cx="12432948" cy="554672"/>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defRPr/>
            </a:pPr>
            <a:endParaRPr lang="en-US" sz="2040" err="1">
              <a:solidFill>
                <a:srgbClr val="FFFFFF"/>
              </a:solidFill>
              <a:latin typeface="Segoe UI"/>
              <a:ea typeface="Segoe UI" pitchFamily="34" charset="0"/>
              <a:cs typeface="Segoe UI" pitchFamily="34" charset="0"/>
            </a:endParaRPr>
          </a:p>
        </p:txBody>
      </p:sp>
      <p:sp>
        <p:nvSpPr>
          <p:cNvPr id="9" name="Text Placeholder 3">
            <a:extLst>
              <a:ext uri="{FF2B5EF4-FFF2-40B4-BE49-F238E27FC236}">
                <a16:creationId xmlns:a16="http://schemas.microsoft.com/office/drawing/2014/main" id="{AEE44F76-4F47-EBAA-64EB-148D9CBE3B3C}"/>
              </a:ext>
            </a:extLst>
          </p:cNvPr>
          <p:cNvSpPr txBox="1">
            <a:spLocks noGrp="1"/>
          </p:cNvSpPr>
          <p:nvPr>
            <p:ph type="title" idx="4294967295"/>
          </p:nvPr>
        </p:nvSpPr>
        <p:spPr>
          <a:xfrm>
            <a:off x="914400" y="6591108"/>
            <a:ext cx="11797381" cy="282543"/>
          </a:xfrm>
          <a:prstGeom prst="rect">
            <a:avLst/>
          </a:prstGeom>
          <a:noFill/>
          <a:ln>
            <a:noFill/>
            <a:prstDash/>
          </a:ln>
          <a:effectLst/>
        </p:spPr>
        <p:txBody>
          <a:bodyPr rot="0" spcFirstLastPara="0" vertOverflow="overflow" horzOverflow="overflow" vert="horz" wrap="square" lIns="93260" tIns="46630" rIns="93260" bIns="46630" numCol="1" spcCol="0" rtlCol="0" fromWordArt="0" anchor="ctr" anchorCtr="0" forceAA="0" compatLnSpc="1">
            <a:prstTxWarp prst="textNoShape">
              <a:avLst/>
            </a:prstTxWarp>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chemeClr val="tx1"/>
                </a:solidFill>
                <a:latin typeface="+mj-lt"/>
                <a:ea typeface="+mn-ea"/>
                <a:cs typeface="Segoe UI" panose="020B0502040204020203" pitchFamily="34" charset="0"/>
              </a:defRPr>
            </a:lvl1pPr>
            <a:lvl2pPr marL="228594"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457189"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mn-cs"/>
              </a:defRPr>
            </a:lvl3pPr>
            <a:lvl4pPr marL="68578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4pPr>
            <a:lvl5pPr marL="914377"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32239">
              <a:spcBef>
                <a:spcPts val="0"/>
              </a:spcBef>
              <a:buSzTx/>
              <a:defRPr/>
            </a:pPr>
            <a:r>
              <a:rPr lang="en-US" sz="1800" dirty="0">
                <a:ln>
                  <a:noFill/>
                </a:ln>
                <a:solidFill>
                  <a:srgbClr val="FFFFFF"/>
                </a:solidFill>
                <a:latin typeface="Segoe UI Semibold"/>
              </a:rPr>
              <a:t>Resource</a:t>
            </a:r>
            <a:r>
              <a:rPr lang="en-US" sz="1836" dirty="0">
                <a:ln>
                  <a:noFill/>
                </a:ln>
                <a:solidFill>
                  <a:srgbClr val="FFFFFF"/>
                </a:solidFill>
                <a:latin typeface="Segoe UI Semibold"/>
              </a:rPr>
              <a:t> </a:t>
            </a:r>
            <a:r>
              <a:rPr lang="en-US" sz="1800" dirty="0">
                <a:ln>
                  <a:noFill/>
                </a:ln>
                <a:solidFill>
                  <a:srgbClr val="FFFFFF"/>
                </a:solidFill>
                <a:latin typeface="Segoe UI Semibold"/>
              </a:rPr>
              <a:t>Inventory</a:t>
            </a:r>
            <a:endParaRPr lang="en-US" sz="1800" b="1" dirty="0">
              <a:ln>
                <a:noFill/>
              </a:ln>
              <a:solidFill>
                <a:srgbClr val="FFFFFF"/>
              </a:solidFill>
              <a:latin typeface="Segoe UI Semibold"/>
            </a:endParaRPr>
          </a:p>
        </p:txBody>
      </p:sp>
      <p:sp>
        <p:nvSpPr>
          <p:cNvPr id="8" name="Graphic 4">
            <a:extLst>
              <a:ext uri="{FF2B5EF4-FFF2-40B4-BE49-F238E27FC236}">
                <a16:creationId xmlns:a16="http://schemas.microsoft.com/office/drawing/2014/main" id="{5614C542-76DC-6931-7403-281A5AE8C694}"/>
              </a:ext>
              <a:ext uri="{C183D7F6-B498-43B3-948B-1728B52AA6E4}">
                <adec:decorative xmlns:adec="http://schemas.microsoft.com/office/drawing/2017/decorative" val="1"/>
              </a:ext>
            </a:extLst>
          </p:cNvPr>
          <p:cNvSpPr/>
          <p:nvPr/>
        </p:nvSpPr>
        <p:spPr>
          <a:xfrm>
            <a:off x="594360" y="6591108"/>
            <a:ext cx="173349" cy="282543"/>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bg1"/>
          </a:solidFill>
          <a:ln w="9525" cap="flat">
            <a:noFill/>
            <a:prstDash val="solid"/>
            <a:miter/>
          </a:ln>
        </p:spPr>
        <p:txBody>
          <a:bodyPr rtlCol="0" anchor="ctr"/>
          <a:lstStyle/>
          <a:p>
            <a:pPr defTabSz="932563">
              <a:defRPr/>
            </a:pPr>
            <a:endParaRPr lang="en-US" sz="1836">
              <a:solidFill>
                <a:srgbClr val="000000"/>
              </a:solidFill>
              <a:latin typeface="Segoe UI"/>
            </a:endParaRPr>
          </a:p>
        </p:txBody>
      </p:sp>
    </p:spTree>
    <p:extLst>
      <p:ext uri="{BB962C8B-B14F-4D97-AF65-F5344CB8AC3E}">
        <p14:creationId xmlns:p14="http://schemas.microsoft.com/office/powerpoint/2010/main" val="34816928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25512-52D9-4944-AF25-4416FCBE1AB8}"/>
              </a:ext>
            </a:extLst>
          </p:cNvPr>
          <p:cNvSpPr>
            <a:spLocks noGrp="1"/>
          </p:cNvSpPr>
          <p:nvPr>
            <p:ph type="title" idx="4294967295"/>
          </p:nvPr>
        </p:nvSpPr>
        <p:spPr>
          <a:xfrm>
            <a:off x="600855" y="-612156"/>
            <a:ext cx="11237870" cy="565027"/>
          </a:xfrm>
        </p:spPr>
        <p:txBody>
          <a:bodyPr vert="horz" wrap="square" lIns="0" tIns="0" rIns="0" bIns="0" rtlCol="0" anchor="b">
            <a:spAutoFit/>
          </a:bodyPr>
          <a:lstStyle/>
          <a:p>
            <a:r>
              <a:rPr lang="en-US" dirty="0"/>
              <a:t>Secure Score dashboard</a:t>
            </a:r>
          </a:p>
        </p:txBody>
      </p:sp>
      <p:pic>
        <p:nvPicPr>
          <p:cNvPr id="5" name="Graphic 4" descr="Secure Score dashboard">
            <a:extLst>
              <a:ext uri="{FF2B5EF4-FFF2-40B4-BE49-F238E27FC236}">
                <a16:creationId xmlns:a16="http://schemas.microsoft.com/office/drawing/2014/main" id="{165850BA-CF1C-486B-BD09-FF61617AF86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2" y="-1"/>
            <a:ext cx="12434711" cy="6994525"/>
          </a:xfrm>
          <a:prstGeom prst="rect">
            <a:avLst/>
          </a:prstGeom>
        </p:spPr>
      </p:pic>
      <mc:AlternateContent xmlns:mc="http://schemas.openxmlformats.org/markup-compatibility/2006" xmlns:p14="http://schemas.microsoft.com/office/powerpoint/2010/main">
        <mc:Choice Requires="p14">
          <p:contentPart p14:bwMode="auto" r:id="rId5">
            <p14:nvContentPartPr>
              <p14:cNvPr id="30" name="Ink 29">
                <a:extLst>
                  <a:ext uri="{FF2B5EF4-FFF2-40B4-BE49-F238E27FC236}">
                    <a16:creationId xmlns:a16="http://schemas.microsoft.com/office/drawing/2014/main" id="{271D008B-2A1B-4F56-86D9-0AA6B0797DCC}"/>
                  </a:ext>
                  <a:ext uri="{C183D7F6-B498-43B3-948B-1728B52AA6E4}">
                    <adec:decorative xmlns:adec="http://schemas.microsoft.com/office/drawing/2017/decorative" val="1"/>
                  </a:ext>
                </a:extLst>
              </p14:cNvPr>
              <p14:cNvContentPartPr/>
              <p14:nvPr/>
            </p14:nvContentPartPr>
            <p14:xfrm>
              <a:off x="-992469" y="812978"/>
              <a:ext cx="367" cy="367"/>
            </p14:xfrm>
          </p:contentPart>
        </mc:Choice>
        <mc:Fallback xmlns="">
          <p:pic>
            <p:nvPicPr>
              <p:cNvPr id="30" name="Ink 29">
                <a:extLst>
                  <a:ext uri="{FF2B5EF4-FFF2-40B4-BE49-F238E27FC236}">
                    <a16:creationId xmlns:a16="http://schemas.microsoft.com/office/drawing/2014/main" id="{271D008B-2A1B-4F56-86D9-0AA6B0797DCC}"/>
                  </a:ext>
                  <a:ext uri="{C183D7F6-B498-43B3-948B-1728B52AA6E4}">
                    <adec:decorative xmlns:adec="http://schemas.microsoft.com/office/drawing/2017/decorative" val="1"/>
                  </a:ext>
                </a:extLst>
              </p:cNvPr>
              <p:cNvPicPr/>
              <p:nvPr/>
            </p:nvPicPr>
            <p:blipFill>
              <a:blip r:embed="rId6"/>
              <a:stretch>
                <a:fillRect/>
              </a:stretch>
            </p:blipFill>
            <p:spPr>
              <a:xfrm>
                <a:off x="-1010819" y="794628"/>
                <a:ext cx="36700" cy="36700"/>
              </a:xfrm>
              <a:prstGeom prst="rect">
                <a:avLst/>
              </a:prstGeom>
            </p:spPr>
          </p:pic>
        </mc:Fallback>
      </mc:AlternateContent>
      <p:sp>
        <p:nvSpPr>
          <p:cNvPr id="33" name="Rectangle 32">
            <a:extLst>
              <a:ext uri="{FF2B5EF4-FFF2-40B4-BE49-F238E27FC236}">
                <a16:creationId xmlns:a16="http://schemas.microsoft.com/office/drawing/2014/main" id="{71EC14A4-0F9A-4FED-82A6-798C7A44DBD4}"/>
              </a:ext>
              <a:ext uri="{C183D7F6-B498-43B3-948B-1728B52AA6E4}">
                <adec:decorative xmlns:adec="http://schemas.microsoft.com/office/drawing/2017/decorative" val="1"/>
              </a:ext>
            </a:extLst>
          </p:cNvPr>
          <p:cNvSpPr/>
          <p:nvPr/>
        </p:nvSpPr>
        <p:spPr bwMode="auto">
          <a:xfrm>
            <a:off x="1764" y="6457762"/>
            <a:ext cx="12432948" cy="554672"/>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defRPr/>
            </a:pPr>
            <a:endParaRPr lang="en-US" sz="2040" err="1">
              <a:solidFill>
                <a:srgbClr val="FFFFFF"/>
              </a:solidFill>
              <a:latin typeface="Segoe UI"/>
              <a:ea typeface="Segoe UI" pitchFamily="34" charset="0"/>
              <a:cs typeface="Segoe UI" pitchFamily="34" charset="0"/>
            </a:endParaRPr>
          </a:p>
        </p:txBody>
      </p:sp>
      <p:sp>
        <p:nvSpPr>
          <p:cNvPr id="37" name="Text Placeholder 3">
            <a:extLst>
              <a:ext uri="{FF2B5EF4-FFF2-40B4-BE49-F238E27FC236}">
                <a16:creationId xmlns:a16="http://schemas.microsoft.com/office/drawing/2014/main" id="{4145C853-C743-4B47-B7F2-82CECE77A7D4}"/>
              </a:ext>
            </a:extLst>
          </p:cNvPr>
          <p:cNvSpPr txBox="1">
            <a:spLocks/>
          </p:cNvSpPr>
          <p:nvPr/>
        </p:nvSpPr>
        <p:spPr>
          <a:xfrm>
            <a:off x="914400" y="6591108"/>
            <a:ext cx="11797381" cy="282543"/>
          </a:xfrm>
          <a:prstGeom prst="rect">
            <a:avLst/>
          </a:prstGeom>
        </p:spPr>
        <p:txBody>
          <a:bodyPr wrap="square" anchor="ctr" anchorCtr="0">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chemeClr val="tx1"/>
                </a:solidFill>
                <a:latin typeface="+mj-lt"/>
                <a:ea typeface="+mn-ea"/>
                <a:cs typeface="Segoe UI" panose="020B0502040204020203" pitchFamily="34" charset="0"/>
              </a:defRPr>
            </a:lvl1pPr>
            <a:lvl2pPr marL="228594"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457189"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mn-cs"/>
              </a:defRPr>
            </a:lvl3pPr>
            <a:lvl4pPr marL="68578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4pPr>
            <a:lvl5pPr marL="914377"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32239">
              <a:spcBef>
                <a:spcPts val="0"/>
              </a:spcBef>
              <a:buSzTx/>
              <a:defRPr/>
            </a:pPr>
            <a:r>
              <a:rPr lang="en-US" sz="1800" dirty="0">
                <a:solidFill>
                  <a:srgbClr val="FFFFFF"/>
                </a:solidFill>
                <a:latin typeface="Segoe UI Semibold"/>
              </a:rPr>
              <a:t>Secure Score dashboard</a:t>
            </a:r>
            <a:endParaRPr lang="en-US" sz="1800" b="1" dirty="0">
              <a:solidFill>
                <a:srgbClr val="FFFFFF"/>
              </a:solidFill>
              <a:latin typeface="Segoe UI Semibold"/>
            </a:endParaRPr>
          </a:p>
        </p:txBody>
      </p:sp>
      <p:sp>
        <p:nvSpPr>
          <p:cNvPr id="10" name="Graphic 4">
            <a:extLst>
              <a:ext uri="{FF2B5EF4-FFF2-40B4-BE49-F238E27FC236}">
                <a16:creationId xmlns:a16="http://schemas.microsoft.com/office/drawing/2014/main" id="{B33F7B80-1066-AEB7-9318-DDEDD871E48F}"/>
              </a:ext>
              <a:ext uri="{C183D7F6-B498-43B3-948B-1728B52AA6E4}">
                <adec:decorative xmlns:adec="http://schemas.microsoft.com/office/drawing/2017/decorative" val="1"/>
              </a:ext>
            </a:extLst>
          </p:cNvPr>
          <p:cNvSpPr/>
          <p:nvPr/>
        </p:nvSpPr>
        <p:spPr>
          <a:xfrm>
            <a:off x="594360" y="6591108"/>
            <a:ext cx="173349" cy="282543"/>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bg1"/>
          </a:solidFill>
          <a:ln w="9525" cap="flat">
            <a:noFill/>
            <a:prstDash val="solid"/>
            <a:miter/>
          </a:ln>
        </p:spPr>
        <p:txBody>
          <a:bodyPr rtlCol="0" anchor="ctr"/>
          <a:lstStyle/>
          <a:p>
            <a:pPr defTabSz="932563">
              <a:defRPr/>
            </a:pPr>
            <a:endParaRPr lang="en-US" sz="1836">
              <a:solidFill>
                <a:srgbClr val="000000"/>
              </a:solidFill>
              <a:latin typeface="Segoe UI"/>
            </a:endParaRPr>
          </a:p>
        </p:txBody>
      </p:sp>
    </p:spTree>
    <p:extLst>
      <p:ext uri="{BB962C8B-B14F-4D97-AF65-F5344CB8AC3E}">
        <p14:creationId xmlns:p14="http://schemas.microsoft.com/office/powerpoint/2010/main" val="28458340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955C1-EDD9-44EF-A05B-A0713F842C47}"/>
              </a:ext>
            </a:extLst>
          </p:cNvPr>
          <p:cNvSpPr>
            <a:spLocks noGrp="1"/>
          </p:cNvSpPr>
          <p:nvPr>
            <p:ph type="title" idx="4294967295"/>
          </p:nvPr>
        </p:nvSpPr>
        <p:spPr>
          <a:xfrm>
            <a:off x="600855" y="-583581"/>
            <a:ext cx="11237870" cy="565027"/>
          </a:xfrm>
        </p:spPr>
        <p:txBody>
          <a:bodyPr vert="horz" wrap="square" lIns="0" tIns="0" rIns="0" bIns="0" rtlCol="0" anchor="b">
            <a:spAutoFit/>
          </a:bodyPr>
          <a:lstStyle/>
          <a:p>
            <a:r>
              <a:rPr lang="en-US" dirty="0" err="1"/>
              <a:t>Multicloud</a:t>
            </a:r>
            <a:r>
              <a:rPr lang="en-US" dirty="0"/>
              <a:t> recommendations blade</a:t>
            </a:r>
          </a:p>
        </p:txBody>
      </p:sp>
      <p:pic>
        <p:nvPicPr>
          <p:cNvPr id="4" name="Graphic 3" descr="Multicloud recommendations blade">
            <a:extLst>
              <a:ext uri="{FF2B5EF4-FFF2-40B4-BE49-F238E27FC236}">
                <a16:creationId xmlns:a16="http://schemas.microsoft.com/office/drawing/2014/main" id="{C3804438-8607-46C7-A7E6-EFF3ACC269C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3" y="496"/>
            <a:ext cx="12434711" cy="6690134"/>
          </a:xfrm>
          <a:prstGeom prst="rect">
            <a:avLst/>
          </a:prstGeom>
        </p:spPr>
      </p:pic>
      <p:sp>
        <p:nvSpPr>
          <p:cNvPr id="7" name="Rectangle 6">
            <a:extLst>
              <a:ext uri="{FF2B5EF4-FFF2-40B4-BE49-F238E27FC236}">
                <a16:creationId xmlns:a16="http://schemas.microsoft.com/office/drawing/2014/main" id="{60F772CC-A728-4482-AB07-28FB80477716}"/>
              </a:ext>
              <a:ext uri="{C183D7F6-B498-43B3-948B-1728B52AA6E4}">
                <adec:decorative xmlns:adec="http://schemas.microsoft.com/office/drawing/2017/decorative" val="1"/>
              </a:ext>
            </a:extLst>
          </p:cNvPr>
          <p:cNvSpPr/>
          <p:nvPr/>
        </p:nvSpPr>
        <p:spPr bwMode="auto">
          <a:xfrm>
            <a:off x="1764" y="6457762"/>
            <a:ext cx="12432948" cy="554672"/>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defRPr/>
            </a:pPr>
            <a:endParaRPr lang="en-US" sz="2040">
              <a:solidFill>
                <a:srgbClr val="FFFFFF"/>
              </a:solidFill>
              <a:latin typeface="Segoe UI"/>
              <a:ea typeface="Segoe UI" pitchFamily="34" charset="0"/>
              <a:cs typeface="Segoe UI" pitchFamily="34" charset="0"/>
            </a:endParaRPr>
          </a:p>
        </p:txBody>
      </p:sp>
      <p:sp>
        <p:nvSpPr>
          <p:cNvPr id="11" name="Text Placeholder 3">
            <a:extLst>
              <a:ext uri="{FF2B5EF4-FFF2-40B4-BE49-F238E27FC236}">
                <a16:creationId xmlns:a16="http://schemas.microsoft.com/office/drawing/2014/main" id="{E54A0DCF-6B94-4C08-9B85-6D98F6E6B054}"/>
              </a:ext>
            </a:extLst>
          </p:cNvPr>
          <p:cNvSpPr txBox="1">
            <a:spLocks/>
          </p:cNvSpPr>
          <p:nvPr/>
        </p:nvSpPr>
        <p:spPr>
          <a:xfrm>
            <a:off x="914400" y="6591108"/>
            <a:ext cx="11797381" cy="282543"/>
          </a:xfrm>
          <a:prstGeom prst="rect">
            <a:avLst/>
          </a:prstGeom>
        </p:spPr>
        <p:txBody>
          <a:bodyPr wrap="square" anchor="ctr" anchorCtr="0">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chemeClr val="tx1"/>
                </a:solidFill>
                <a:latin typeface="+mj-lt"/>
                <a:ea typeface="+mn-ea"/>
                <a:cs typeface="Segoe UI" panose="020B0502040204020203" pitchFamily="34" charset="0"/>
              </a:defRPr>
            </a:lvl1pPr>
            <a:lvl2pPr marL="228594"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457189"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mn-cs"/>
              </a:defRPr>
            </a:lvl3pPr>
            <a:lvl4pPr marL="68578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4pPr>
            <a:lvl5pPr marL="914377"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32239">
              <a:spcBef>
                <a:spcPts val="0"/>
              </a:spcBef>
              <a:buSzTx/>
              <a:defRPr/>
            </a:pPr>
            <a:r>
              <a:rPr lang="en-US" sz="1800" dirty="0" err="1">
                <a:solidFill>
                  <a:srgbClr val="FFFFFF"/>
                </a:solidFill>
                <a:latin typeface="Segoe UI Semibold"/>
              </a:rPr>
              <a:t>Multicloud</a:t>
            </a:r>
            <a:r>
              <a:rPr lang="en-US" sz="1836" dirty="0">
                <a:solidFill>
                  <a:srgbClr val="FFFFFF"/>
                </a:solidFill>
                <a:latin typeface="Segoe UI Semibold"/>
              </a:rPr>
              <a:t> recommendations</a:t>
            </a:r>
            <a:endParaRPr lang="en-US" sz="1836" b="1" dirty="0">
              <a:solidFill>
                <a:srgbClr val="FFFFFF"/>
              </a:solidFill>
              <a:latin typeface="Segoe UI Semibold"/>
            </a:endParaRPr>
          </a:p>
        </p:txBody>
      </p:sp>
      <p:sp>
        <p:nvSpPr>
          <p:cNvPr id="10" name="Graphic 4">
            <a:extLst>
              <a:ext uri="{FF2B5EF4-FFF2-40B4-BE49-F238E27FC236}">
                <a16:creationId xmlns:a16="http://schemas.microsoft.com/office/drawing/2014/main" id="{EB36EA12-0034-E8DF-95AB-9A7D503D055A}"/>
              </a:ext>
              <a:ext uri="{C183D7F6-B498-43B3-948B-1728B52AA6E4}">
                <adec:decorative xmlns:adec="http://schemas.microsoft.com/office/drawing/2017/decorative" val="1"/>
              </a:ext>
            </a:extLst>
          </p:cNvPr>
          <p:cNvSpPr/>
          <p:nvPr/>
        </p:nvSpPr>
        <p:spPr>
          <a:xfrm>
            <a:off x="594360" y="6591108"/>
            <a:ext cx="173349" cy="282543"/>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bg1"/>
          </a:solidFill>
          <a:ln w="9525" cap="flat">
            <a:noFill/>
            <a:prstDash val="solid"/>
            <a:miter/>
          </a:ln>
        </p:spPr>
        <p:txBody>
          <a:bodyPr rtlCol="0" anchor="ctr"/>
          <a:lstStyle/>
          <a:p>
            <a:pPr defTabSz="932563">
              <a:defRPr/>
            </a:pPr>
            <a:endParaRPr lang="en-US" sz="1836">
              <a:solidFill>
                <a:srgbClr val="000000"/>
              </a:solidFill>
              <a:latin typeface="Segoe UI"/>
            </a:endParaRPr>
          </a:p>
        </p:txBody>
      </p:sp>
    </p:spTree>
    <p:extLst>
      <p:ext uri="{BB962C8B-B14F-4D97-AF65-F5344CB8AC3E}">
        <p14:creationId xmlns:p14="http://schemas.microsoft.com/office/powerpoint/2010/main" val="2536380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3581FF-CDB2-B8CA-3353-6B1C0766E24D}"/>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82" y="0"/>
            <a:ext cx="12434711" cy="6512032"/>
          </a:xfrm>
          <a:prstGeom prst="rect">
            <a:avLst/>
          </a:prstGeom>
        </p:spPr>
      </p:pic>
      <p:sp>
        <p:nvSpPr>
          <p:cNvPr id="5" name="Rectangle 4">
            <a:extLst>
              <a:ext uri="{FF2B5EF4-FFF2-40B4-BE49-F238E27FC236}">
                <a16:creationId xmlns:a16="http://schemas.microsoft.com/office/drawing/2014/main" id="{5CA6D813-29BD-8D67-4F9C-C4262CA51FD3}"/>
              </a:ext>
              <a:ext uri="{C183D7F6-B498-43B3-948B-1728B52AA6E4}">
                <adec:decorative xmlns:adec="http://schemas.microsoft.com/office/drawing/2017/decorative" val="1"/>
              </a:ext>
            </a:extLst>
          </p:cNvPr>
          <p:cNvSpPr/>
          <p:nvPr/>
        </p:nvSpPr>
        <p:spPr bwMode="auto">
          <a:xfrm>
            <a:off x="1764" y="6457762"/>
            <a:ext cx="12432948" cy="554672"/>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defRPr/>
            </a:pPr>
            <a:endParaRPr lang="en-US" sz="2040">
              <a:solidFill>
                <a:srgbClr val="FFFFFF"/>
              </a:solidFill>
              <a:latin typeface="Segoe UI"/>
              <a:ea typeface="Segoe UI" pitchFamily="34" charset="0"/>
              <a:cs typeface="Segoe UI" pitchFamily="34" charset="0"/>
            </a:endParaRPr>
          </a:p>
        </p:txBody>
      </p:sp>
      <p:sp>
        <p:nvSpPr>
          <p:cNvPr id="9" name="Text Placeholder 3">
            <a:extLst>
              <a:ext uri="{FF2B5EF4-FFF2-40B4-BE49-F238E27FC236}">
                <a16:creationId xmlns:a16="http://schemas.microsoft.com/office/drawing/2014/main" id="{B89569B9-9F94-5EC3-B0EE-FCA533739559}"/>
              </a:ext>
            </a:extLst>
          </p:cNvPr>
          <p:cNvSpPr txBox="1">
            <a:spLocks noGrp="1"/>
          </p:cNvSpPr>
          <p:nvPr>
            <p:ph type="title" idx="4294967295"/>
          </p:nvPr>
        </p:nvSpPr>
        <p:spPr>
          <a:xfrm>
            <a:off x="914400" y="6591108"/>
            <a:ext cx="11797381" cy="282543"/>
          </a:xfrm>
          <a:prstGeom prst="rect">
            <a:avLst/>
          </a:prstGeom>
          <a:noFill/>
          <a:ln>
            <a:noFill/>
            <a:prstDash/>
          </a:ln>
          <a:effectLst/>
        </p:spPr>
        <p:txBody>
          <a:bodyPr rot="0" spcFirstLastPara="0" vertOverflow="overflow" horzOverflow="overflow" vert="horz" wrap="square" lIns="93260" tIns="46630" rIns="93260" bIns="46630" numCol="1" spcCol="0" rtlCol="0" fromWordArt="0" anchor="ctr" anchorCtr="0" forceAA="0" compatLnSpc="1">
            <a:prstTxWarp prst="textNoShape">
              <a:avLst/>
            </a:prstTxWarp>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chemeClr val="tx1"/>
                </a:solidFill>
                <a:latin typeface="+mj-lt"/>
                <a:ea typeface="+mn-ea"/>
                <a:cs typeface="Segoe UI" panose="020B0502040204020203" pitchFamily="34" charset="0"/>
              </a:defRPr>
            </a:lvl1pPr>
            <a:lvl2pPr marL="228594"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457189"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mn-cs"/>
              </a:defRPr>
            </a:lvl3pPr>
            <a:lvl4pPr marL="68578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4pPr>
            <a:lvl5pPr marL="914377"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32239">
              <a:spcBef>
                <a:spcPts val="0"/>
              </a:spcBef>
              <a:buSzTx/>
              <a:defRPr/>
            </a:pPr>
            <a:r>
              <a:rPr lang="en-US" sz="1800" dirty="0">
                <a:ln>
                  <a:noFill/>
                </a:ln>
                <a:solidFill>
                  <a:srgbClr val="FFFFFF"/>
                </a:solidFill>
                <a:latin typeface="Segoe UI Semibold"/>
              </a:rPr>
              <a:t>Recommendation details view</a:t>
            </a:r>
            <a:endParaRPr lang="en-US" sz="1800" b="1" dirty="0">
              <a:ln>
                <a:noFill/>
              </a:ln>
              <a:solidFill>
                <a:srgbClr val="FFFFFF"/>
              </a:solidFill>
              <a:latin typeface="Segoe UI Semibold"/>
            </a:endParaRPr>
          </a:p>
        </p:txBody>
      </p:sp>
      <p:sp>
        <p:nvSpPr>
          <p:cNvPr id="10" name="Graphic 4">
            <a:extLst>
              <a:ext uri="{FF2B5EF4-FFF2-40B4-BE49-F238E27FC236}">
                <a16:creationId xmlns:a16="http://schemas.microsoft.com/office/drawing/2014/main" id="{AF1AE859-6BCD-2CFD-FCA4-2612DA61CF64}"/>
              </a:ext>
              <a:ext uri="{C183D7F6-B498-43B3-948B-1728B52AA6E4}">
                <adec:decorative xmlns:adec="http://schemas.microsoft.com/office/drawing/2017/decorative" val="1"/>
              </a:ext>
            </a:extLst>
          </p:cNvPr>
          <p:cNvSpPr/>
          <p:nvPr/>
        </p:nvSpPr>
        <p:spPr>
          <a:xfrm>
            <a:off x="594360" y="6591108"/>
            <a:ext cx="173349" cy="282543"/>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bg1"/>
          </a:solidFill>
          <a:ln w="9525" cap="flat">
            <a:noFill/>
            <a:prstDash val="solid"/>
            <a:miter/>
          </a:ln>
        </p:spPr>
        <p:txBody>
          <a:bodyPr rtlCol="0" anchor="ctr"/>
          <a:lstStyle/>
          <a:p>
            <a:pPr defTabSz="932563">
              <a:defRPr/>
            </a:pPr>
            <a:endParaRPr lang="en-US" sz="1836">
              <a:solidFill>
                <a:srgbClr val="000000"/>
              </a:solidFill>
              <a:latin typeface="Segoe UI"/>
            </a:endParaRPr>
          </a:p>
        </p:txBody>
      </p:sp>
    </p:spTree>
    <p:extLst>
      <p:ext uri="{BB962C8B-B14F-4D97-AF65-F5344CB8AC3E}">
        <p14:creationId xmlns:p14="http://schemas.microsoft.com/office/powerpoint/2010/main" val="179719260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A08D07-E26C-265D-B822-EBB2A1A4D45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82" y="0"/>
            <a:ext cx="12434711" cy="6727506"/>
          </a:xfrm>
          <a:prstGeom prst="rect">
            <a:avLst/>
          </a:prstGeom>
        </p:spPr>
      </p:pic>
      <p:sp>
        <p:nvSpPr>
          <p:cNvPr id="5" name="Rectangle 4">
            <a:extLst>
              <a:ext uri="{FF2B5EF4-FFF2-40B4-BE49-F238E27FC236}">
                <a16:creationId xmlns:a16="http://schemas.microsoft.com/office/drawing/2014/main" id="{9944FBF6-B59A-DA8B-DEE6-0C99AD89CFBC}"/>
              </a:ext>
              <a:ext uri="{C183D7F6-B498-43B3-948B-1728B52AA6E4}">
                <adec:decorative xmlns:adec="http://schemas.microsoft.com/office/drawing/2017/decorative" val="1"/>
              </a:ext>
            </a:extLst>
          </p:cNvPr>
          <p:cNvSpPr/>
          <p:nvPr/>
        </p:nvSpPr>
        <p:spPr bwMode="auto">
          <a:xfrm>
            <a:off x="1764" y="6457762"/>
            <a:ext cx="12432948" cy="554672"/>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defRPr/>
            </a:pPr>
            <a:endParaRPr lang="en-US" sz="2040">
              <a:solidFill>
                <a:srgbClr val="FFFFFF"/>
              </a:solidFill>
              <a:latin typeface="Segoe UI"/>
              <a:ea typeface="Segoe UI" pitchFamily="34" charset="0"/>
              <a:cs typeface="Segoe UI" pitchFamily="34" charset="0"/>
            </a:endParaRPr>
          </a:p>
        </p:txBody>
      </p:sp>
      <p:sp>
        <p:nvSpPr>
          <p:cNvPr id="9" name="Text Placeholder 3">
            <a:extLst>
              <a:ext uri="{FF2B5EF4-FFF2-40B4-BE49-F238E27FC236}">
                <a16:creationId xmlns:a16="http://schemas.microsoft.com/office/drawing/2014/main" id="{4A5410A9-E2C3-226A-5FE5-8D5FFBC5A43F}"/>
              </a:ext>
            </a:extLst>
          </p:cNvPr>
          <p:cNvSpPr txBox="1">
            <a:spLocks noGrp="1"/>
          </p:cNvSpPr>
          <p:nvPr>
            <p:ph type="title" idx="4294967295"/>
          </p:nvPr>
        </p:nvSpPr>
        <p:spPr>
          <a:xfrm>
            <a:off x="914400" y="6591108"/>
            <a:ext cx="11797381" cy="282543"/>
          </a:xfrm>
          <a:prstGeom prst="rect">
            <a:avLst/>
          </a:prstGeom>
          <a:noFill/>
          <a:ln>
            <a:noFill/>
            <a:prstDash/>
          </a:ln>
          <a:effectLst/>
        </p:spPr>
        <p:txBody>
          <a:bodyPr rot="0" spcFirstLastPara="0" vertOverflow="overflow" horzOverflow="overflow" vert="horz" wrap="square" lIns="93260" tIns="46630" rIns="93260" bIns="46630" numCol="1" spcCol="0" rtlCol="0" fromWordArt="0" anchor="ctr" anchorCtr="0" forceAA="0" compatLnSpc="1">
            <a:prstTxWarp prst="textNoShape">
              <a:avLst/>
            </a:prstTxWarp>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chemeClr val="tx1"/>
                </a:solidFill>
                <a:latin typeface="+mj-lt"/>
                <a:ea typeface="+mn-ea"/>
                <a:cs typeface="Segoe UI" panose="020B0502040204020203" pitchFamily="34" charset="0"/>
              </a:defRPr>
            </a:lvl1pPr>
            <a:lvl2pPr marL="228594"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457189"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mn-cs"/>
              </a:defRPr>
            </a:lvl3pPr>
            <a:lvl4pPr marL="68578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4pPr>
            <a:lvl5pPr marL="914377"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32239">
              <a:spcBef>
                <a:spcPts val="0"/>
              </a:spcBef>
              <a:buSzTx/>
              <a:defRPr/>
            </a:pPr>
            <a:r>
              <a:rPr lang="en-US" sz="1800" dirty="0">
                <a:ln>
                  <a:noFill/>
                </a:ln>
                <a:solidFill>
                  <a:srgbClr val="FFFFFF"/>
                </a:solidFill>
                <a:latin typeface="Segoe UI Semibold"/>
              </a:rPr>
              <a:t>Regulatory</a:t>
            </a:r>
            <a:r>
              <a:rPr lang="en-US" sz="1836" dirty="0">
                <a:ln>
                  <a:noFill/>
                </a:ln>
                <a:solidFill>
                  <a:srgbClr val="FFFFFF"/>
                </a:solidFill>
                <a:latin typeface="Segoe UI Semibold"/>
              </a:rPr>
              <a:t> Compliance view</a:t>
            </a:r>
            <a:endParaRPr lang="en-US" sz="1836" b="1" dirty="0">
              <a:ln>
                <a:noFill/>
              </a:ln>
              <a:solidFill>
                <a:srgbClr val="FFFFFF"/>
              </a:solidFill>
              <a:latin typeface="Segoe UI Semibold"/>
            </a:endParaRPr>
          </a:p>
        </p:txBody>
      </p:sp>
      <p:sp>
        <p:nvSpPr>
          <p:cNvPr id="8" name="Graphic 4">
            <a:extLst>
              <a:ext uri="{FF2B5EF4-FFF2-40B4-BE49-F238E27FC236}">
                <a16:creationId xmlns:a16="http://schemas.microsoft.com/office/drawing/2014/main" id="{F21FA228-1AAF-FA94-29AE-7DAF594EC8B2}"/>
              </a:ext>
              <a:ext uri="{C183D7F6-B498-43B3-948B-1728B52AA6E4}">
                <adec:decorative xmlns:adec="http://schemas.microsoft.com/office/drawing/2017/decorative" val="1"/>
              </a:ext>
            </a:extLst>
          </p:cNvPr>
          <p:cNvSpPr/>
          <p:nvPr/>
        </p:nvSpPr>
        <p:spPr>
          <a:xfrm>
            <a:off x="594360" y="6591108"/>
            <a:ext cx="173349" cy="282543"/>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bg1"/>
          </a:solidFill>
          <a:ln w="9525" cap="flat">
            <a:noFill/>
            <a:prstDash val="solid"/>
            <a:miter/>
          </a:ln>
        </p:spPr>
        <p:txBody>
          <a:bodyPr rtlCol="0" anchor="ctr"/>
          <a:lstStyle/>
          <a:p>
            <a:pPr defTabSz="932563">
              <a:defRPr/>
            </a:pPr>
            <a:endParaRPr lang="en-US" sz="1836">
              <a:solidFill>
                <a:srgbClr val="000000"/>
              </a:solidFill>
              <a:latin typeface="Segoe UI"/>
            </a:endParaRPr>
          </a:p>
        </p:txBody>
      </p:sp>
    </p:spTree>
    <p:extLst>
      <p:ext uri="{BB962C8B-B14F-4D97-AF65-F5344CB8AC3E}">
        <p14:creationId xmlns:p14="http://schemas.microsoft.com/office/powerpoint/2010/main" val="945994138"/>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955C1-EDD9-44EF-A05B-A0713F842C47}"/>
              </a:ext>
            </a:extLst>
          </p:cNvPr>
          <p:cNvSpPr>
            <a:spLocks noGrp="1"/>
          </p:cNvSpPr>
          <p:nvPr>
            <p:ph type="title" idx="4294967295"/>
          </p:nvPr>
        </p:nvSpPr>
        <p:spPr>
          <a:xfrm>
            <a:off x="600855" y="-593106"/>
            <a:ext cx="11237870" cy="565027"/>
          </a:xfrm>
        </p:spPr>
        <p:txBody>
          <a:bodyPr vert="horz" wrap="square" lIns="0" tIns="0" rIns="0" bIns="0" rtlCol="0" anchor="b">
            <a:spAutoFit/>
          </a:bodyPr>
          <a:lstStyle/>
          <a:p>
            <a:r>
              <a:rPr lang="en-US" dirty="0"/>
              <a:t>Workload protection overview</a:t>
            </a:r>
          </a:p>
        </p:txBody>
      </p:sp>
      <p:pic>
        <p:nvPicPr>
          <p:cNvPr id="5" name="Graphic 4" descr="Workload protection overview">
            <a:extLst>
              <a:ext uri="{FF2B5EF4-FFF2-40B4-BE49-F238E27FC236}">
                <a16:creationId xmlns:a16="http://schemas.microsoft.com/office/drawing/2014/main" id="{7F815EB8-9371-49C9-B387-6586AA9FA64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 y="-4184"/>
            <a:ext cx="12434711" cy="6733319"/>
          </a:xfrm>
          <a:prstGeom prst="rect">
            <a:avLst/>
          </a:prstGeom>
        </p:spPr>
      </p:pic>
      <p:sp>
        <p:nvSpPr>
          <p:cNvPr id="7" name="Rectangle 6">
            <a:extLst>
              <a:ext uri="{FF2B5EF4-FFF2-40B4-BE49-F238E27FC236}">
                <a16:creationId xmlns:a16="http://schemas.microsoft.com/office/drawing/2014/main" id="{60F772CC-A728-4482-AB07-28FB80477716}"/>
              </a:ext>
              <a:ext uri="{C183D7F6-B498-43B3-948B-1728B52AA6E4}">
                <adec:decorative xmlns:adec="http://schemas.microsoft.com/office/drawing/2017/decorative" val="1"/>
              </a:ext>
            </a:extLst>
          </p:cNvPr>
          <p:cNvSpPr/>
          <p:nvPr/>
        </p:nvSpPr>
        <p:spPr bwMode="auto">
          <a:xfrm>
            <a:off x="1764" y="6457762"/>
            <a:ext cx="12432948" cy="554672"/>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defRPr/>
            </a:pPr>
            <a:endParaRPr lang="en-US" sz="2040">
              <a:solidFill>
                <a:srgbClr val="FFFFFF"/>
              </a:solidFill>
              <a:latin typeface="Segoe UI"/>
              <a:ea typeface="Segoe UI" pitchFamily="34" charset="0"/>
              <a:cs typeface="Segoe UI" pitchFamily="34" charset="0"/>
            </a:endParaRPr>
          </a:p>
        </p:txBody>
      </p:sp>
      <p:sp>
        <p:nvSpPr>
          <p:cNvPr id="11" name="Text Placeholder 3">
            <a:extLst>
              <a:ext uri="{FF2B5EF4-FFF2-40B4-BE49-F238E27FC236}">
                <a16:creationId xmlns:a16="http://schemas.microsoft.com/office/drawing/2014/main" id="{E54A0DCF-6B94-4C08-9B85-6D98F6E6B054}"/>
              </a:ext>
            </a:extLst>
          </p:cNvPr>
          <p:cNvSpPr txBox="1">
            <a:spLocks/>
          </p:cNvSpPr>
          <p:nvPr/>
        </p:nvSpPr>
        <p:spPr>
          <a:xfrm>
            <a:off x="914400" y="6591108"/>
            <a:ext cx="11797381" cy="282543"/>
          </a:xfrm>
          <a:prstGeom prst="rect">
            <a:avLst/>
          </a:prstGeom>
        </p:spPr>
        <p:txBody>
          <a:bodyPr wrap="square" anchor="ctr" anchorCtr="0">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chemeClr val="tx1"/>
                </a:solidFill>
                <a:latin typeface="+mj-lt"/>
                <a:ea typeface="+mn-ea"/>
                <a:cs typeface="Segoe UI" panose="020B0502040204020203" pitchFamily="34" charset="0"/>
              </a:defRPr>
            </a:lvl1pPr>
            <a:lvl2pPr marL="228594"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457189"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mn-cs"/>
              </a:defRPr>
            </a:lvl3pPr>
            <a:lvl4pPr marL="68578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4pPr>
            <a:lvl5pPr marL="914377"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32239">
              <a:spcBef>
                <a:spcPts val="0"/>
              </a:spcBef>
              <a:buSzTx/>
              <a:defRPr/>
            </a:pPr>
            <a:r>
              <a:rPr lang="en-US" sz="1800" dirty="0">
                <a:solidFill>
                  <a:srgbClr val="FFFFFF"/>
                </a:solidFill>
                <a:latin typeface="Segoe UI Semibold"/>
              </a:rPr>
              <a:t>Workload</a:t>
            </a:r>
            <a:r>
              <a:rPr lang="en-US" sz="1836" dirty="0">
                <a:solidFill>
                  <a:srgbClr val="FFFFFF"/>
                </a:solidFill>
                <a:latin typeface="Segoe UI Semibold"/>
              </a:rPr>
              <a:t> protection overview</a:t>
            </a:r>
            <a:endParaRPr lang="en-US" sz="1836" b="1" dirty="0">
              <a:solidFill>
                <a:srgbClr val="FFFFFF"/>
              </a:solidFill>
              <a:latin typeface="Segoe UI Semibold"/>
            </a:endParaRPr>
          </a:p>
        </p:txBody>
      </p:sp>
      <p:sp>
        <p:nvSpPr>
          <p:cNvPr id="10" name="Graphic 4">
            <a:extLst>
              <a:ext uri="{FF2B5EF4-FFF2-40B4-BE49-F238E27FC236}">
                <a16:creationId xmlns:a16="http://schemas.microsoft.com/office/drawing/2014/main" id="{F124055F-54C2-141D-0193-08470A0DAB40}"/>
              </a:ext>
              <a:ext uri="{C183D7F6-B498-43B3-948B-1728B52AA6E4}">
                <adec:decorative xmlns:adec="http://schemas.microsoft.com/office/drawing/2017/decorative" val="1"/>
              </a:ext>
            </a:extLst>
          </p:cNvPr>
          <p:cNvSpPr/>
          <p:nvPr/>
        </p:nvSpPr>
        <p:spPr>
          <a:xfrm>
            <a:off x="594360" y="6591108"/>
            <a:ext cx="173349" cy="282543"/>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bg1"/>
          </a:solidFill>
          <a:ln w="9525" cap="flat">
            <a:noFill/>
            <a:prstDash val="solid"/>
            <a:miter/>
          </a:ln>
        </p:spPr>
        <p:txBody>
          <a:bodyPr rtlCol="0" anchor="ctr"/>
          <a:lstStyle/>
          <a:p>
            <a:pPr defTabSz="932563">
              <a:defRPr/>
            </a:pPr>
            <a:endParaRPr lang="en-US" sz="1836">
              <a:solidFill>
                <a:srgbClr val="000000"/>
              </a:solidFill>
              <a:latin typeface="Segoe UI"/>
            </a:endParaRPr>
          </a:p>
        </p:txBody>
      </p:sp>
    </p:spTree>
    <p:extLst>
      <p:ext uri="{BB962C8B-B14F-4D97-AF65-F5344CB8AC3E}">
        <p14:creationId xmlns:p14="http://schemas.microsoft.com/office/powerpoint/2010/main" val="367534042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F9C48D-C78F-4612-8CE6-C87FF7D3C740}"/>
              </a:ext>
            </a:extLst>
          </p:cNvPr>
          <p:cNvSpPr txBox="1">
            <a:spLocks noGrp="1"/>
          </p:cNvSpPr>
          <p:nvPr>
            <p:ph type="title" idx="4294967295"/>
          </p:nvPr>
        </p:nvSpPr>
        <p:spPr>
          <a:xfrm>
            <a:off x="600855" y="-613944"/>
            <a:ext cx="11237870" cy="576340"/>
          </a:xfrm>
          <a:prstGeom prst="rect">
            <a:avLst/>
          </a:prstGeom>
          <a:noFill/>
          <a:ln>
            <a:noFill/>
            <a:prstDash/>
          </a:ln>
          <a:effectLst/>
        </p:spPr>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lvl1pPr algn="l" defTabSz="932563"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defTabSz="951121">
              <a:defRPr/>
            </a:pPr>
            <a:r>
              <a:rPr lang="en-US" sz="3672" spc="-51" dirty="0"/>
              <a:t>Security Alerts view</a:t>
            </a:r>
          </a:p>
        </p:txBody>
      </p:sp>
      <p:pic>
        <p:nvPicPr>
          <p:cNvPr id="3" name="Picture 2" descr="Security Alerts view&#10;">
            <a:extLst>
              <a:ext uri="{FF2B5EF4-FFF2-40B4-BE49-F238E27FC236}">
                <a16:creationId xmlns:a16="http://schemas.microsoft.com/office/drawing/2014/main" id="{94FA9F4C-FDC2-4FF3-B206-4D6B0C8CF394}"/>
              </a:ext>
            </a:extLst>
          </p:cNvPr>
          <p:cNvPicPr>
            <a:picLocks noChangeAspect="1"/>
          </p:cNvPicPr>
          <p:nvPr/>
        </p:nvPicPr>
        <p:blipFill>
          <a:blip r:embed="rId2"/>
          <a:stretch>
            <a:fillRect/>
          </a:stretch>
        </p:blipFill>
        <p:spPr>
          <a:xfrm>
            <a:off x="882" y="-1"/>
            <a:ext cx="12434711" cy="6994525"/>
          </a:xfrm>
          <a:prstGeom prst="rect">
            <a:avLst/>
          </a:prstGeom>
        </p:spPr>
      </p:pic>
      <p:sp>
        <p:nvSpPr>
          <p:cNvPr id="5" name="Rectangle 4">
            <a:extLst>
              <a:ext uri="{FF2B5EF4-FFF2-40B4-BE49-F238E27FC236}">
                <a16:creationId xmlns:a16="http://schemas.microsoft.com/office/drawing/2014/main" id="{2A8F8744-CCAE-47E6-B385-F2D119895928}"/>
              </a:ext>
              <a:ext uri="{C183D7F6-B498-43B3-948B-1728B52AA6E4}">
                <adec:decorative xmlns:adec="http://schemas.microsoft.com/office/drawing/2017/decorative" val="1"/>
              </a:ext>
            </a:extLst>
          </p:cNvPr>
          <p:cNvSpPr/>
          <p:nvPr/>
        </p:nvSpPr>
        <p:spPr bwMode="auto">
          <a:xfrm>
            <a:off x="1764" y="6457762"/>
            <a:ext cx="12432948" cy="554672"/>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t" anchorCtr="0" forceAA="0" compatLnSpc="1">
            <a:prstTxWarp prst="textNoShape">
              <a:avLst/>
            </a:prstTxWarp>
            <a:noAutofit/>
          </a:bodyPr>
          <a:lstStyle/>
          <a:p>
            <a:pPr defTabSz="950846" fontAlgn="base">
              <a:spcBef>
                <a:spcPct val="0"/>
              </a:spcBef>
              <a:spcAft>
                <a:spcPct val="0"/>
              </a:spcAft>
              <a:defRPr/>
            </a:pPr>
            <a:endParaRPr lang="en-US" sz="2040">
              <a:solidFill>
                <a:srgbClr val="FFFFFF"/>
              </a:solidFill>
              <a:latin typeface="Segoe UI"/>
              <a:ea typeface="Segoe UI" pitchFamily="34" charset="0"/>
              <a:cs typeface="Segoe UI" pitchFamily="34" charset="0"/>
            </a:endParaRPr>
          </a:p>
        </p:txBody>
      </p:sp>
      <p:sp>
        <p:nvSpPr>
          <p:cNvPr id="7" name="Graphic 4">
            <a:extLst>
              <a:ext uri="{FF2B5EF4-FFF2-40B4-BE49-F238E27FC236}">
                <a16:creationId xmlns:a16="http://schemas.microsoft.com/office/drawing/2014/main" id="{5919A4E4-1A6D-46F7-8C16-DCEE4750102E}"/>
              </a:ext>
              <a:ext uri="{C183D7F6-B498-43B3-948B-1728B52AA6E4}">
                <adec:decorative xmlns:adec="http://schemas.microsoft.com/office/drawing/2017/decorative" val="1"/>
              </a:ext>
            </a:extLst>
          </p:cNvPr>
          <p:cNvSpPr/>
          <p:nvPr/>
        </p:nvSpPr>
        <p:spPr>
          <a:xfrm>
            <a:off x="594360" y="6591108"/>
            <a:ext cx="173349" cy="282543"/>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bg1"/>
          </a:solidFill>
          <a:ln w="9525" cap="flat">
            <a:noFill/>
            <a:prstDash val="solid"/>
            <a:miter/>
          </a:ln>
        </p:spPr>
        <p:txBody>
          <a:bodyPr rtlCol="0" anchor="ctr"/>
          <a:lstStyle/>
          <a:p>
            <a:pPr defTabSz="932563">
              <a:defRPr/>
            </a:pPr>
            <a:endParaRPr lang="en-US" sz="1836">
              <a:solidFill>
                <a:srgbClr val="000000"/>
              </a:solidFill>
              <a:latin typeface="Segoe UI"/>
            </a:endParaRPr>
          </a:p>
        </p:txBody>
      </p:sp>
      <p:sp>
        <p:nvSpPr>
          <p:cNvPr id="9" name="Text Placeholder 3">
            <a:extLst>
              <a:ext uri="{FF2B5EF4-FFF2-40B4-BE49-F238E27FC236}">
                <a16:creationId xmlns:a16="http://schemas.microsoft.com/office/drawing/2014/main" id="{43ACAC05-F2BA-48C9-A343-737BE355E795}"/>
              </a:ext>
            </a:extLst>
          </p:cNvPr>
          <p:cNvSpPr txBox="1">
            <a:spLocks/>
          </p:cNvSpPr>
          <p:nvPr/>
        </p:nvSpPr>
        <p:spPr>
          <a:xfrm>
            <a:off x="914400" y="6591108"/>
            <a:ext cx="11797381" cy="282543"/>
          </a:xfrm>
          <a:prstGeom prst="rect">
            <a:avLst/>
          </a:prstGeom>
        </p:spPr>
        <p:txBody>
          <a:bodyPr wrap="square" anchor="ctr" anchorCtr="0">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300" kern="1200" spc="0" baseline="0">
                <a:solidFill>
                  <a:schemeClr val="tx1"/>
                </a:solidFill>
                <a:latin typeface="+mj-lt"/>
                <a:ea typeface="+mn-ea"/>
                <a:cs typeface="Segoe UI" panose="020B0502040204020203" pitchFamily="34" charset="0"/>
              </a:defRPr>
            </a:lvl1pPr>
            <a:lvl2pPr marL="228594"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457189"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mn-cs"/>
              </a:defRPr>
            </a:lvl3pPr>
            <a:lvl4pPr marL="68578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4pPr>
            <a:lvl5pPr marL="914377"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32239">
              <a:spcBef>
                <a:spcPts val="0"/>
              </a:spcBef>
              <a:buSzTx/>
              <a:defRPr/>
            </a:pPr>
            <a:r>
              <a:rPr lang="en-US" sz="1800" dirty="0">
                <a:solidFill>
                  <a:srgbClr val="FFFFFF"/>
                </a:solidFill>
                <a:latin typeface="Segoe UI Semibold"/>
              </a:rPr>
              <a:t>Security Alerts view</a:t>
            </a:r>
            <a:endParaRPr lang="en-US" sz="1800" b="1" dirty="0">
              <a:solidFill>
                <a:srgbClr val="FFFFFF"/>
              </a:solidFill>
              <a:latin typeface="Segoe UI Semibold"/>
            </a:endParaRPr>
          </a:p>
        </p:txBody>
      </p:sp>
    </p:spTree>
    <p:extLst>
      <p:ext uri="{BB962C8B-B14F-4D97-AF65-F5344CB8AC3E}">
        <p14:creationId xmlns:p14="http://schemas.microsoft.com/office/powerpoint/2010/main" val="2862860453"/>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B32A64-A293-46E7-A6FD-2AADB901B77D}"/>
              </a:ext>
            </a:extLst>
          </p:cNvPr>
          <p:cNvSpPr>
            <a:spLocks noGrp="1"/>
          </p:cNvSpPr>
          <p:nvPr>
            <p:ph type="title"/>
          </p:nvPr>
        </p:nvSpPr>
        <p:spPr>
          <a:xfrm>
            <a:off x="554264" y="3138189"/>
            <a:ext cx="9327357" cy="564896"/>
          </a:xfrm>
          <a:noFill/>
        </p:spPr>
        <p:txBody>
          <a:bodyPr/>
          <a:lstStyle/>
          <a:p>
            <a:r>
              <a:rPr lang="en-US" sz="3600" spc="0" dirty="0"/>
              <a:t>Thank you!</a:t>
            </a:r>
          </a:p>
        </p:txBody>
      </p:sp>
    </p:spTree>
    <p:extLst>
      <p:ext uri="{BB962C8B-B14F-4D97-AF65-F5344CB8AC3E}">
        <p14:creationId xmlns:p14="http://schemas.microsoft.com/office/powerpoint/2010/main" val="1754888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8_Microsoft Security template">
  <a:themeElements>
    <a:clrScheme name="Microsoft Security">
      <a:dk1>
        <a:srgbClr val="000000"/>
      </a:dk1>
      <a:lt1>
        <a:srgbClr val="FFFFFF"/>
      </a:lt1>
      <a:dk2>
        <a:srgbClr val="243A5E"/>
      </a:dk2>
      <a:lt2>
        <a:srgbClr val="E6E6E6"/>
      </a:lt2>
      <a:accent1>
        <a:srgbClr val="0078D4"/>
      </a:accent1>
      <a:accent2>
        <a:srgbClr val="FFB900"/>
      </a:accent2>
      <a:accent3>
        <a:srgbClr val="107C10"/>
      </a:accent3>
      <a:accent4>
        <a:srgbClr val="737373"/>
      </a:accent4>
      <a:accent5>
        <a:srgbClr val="9BF00B"/>
      </a:accent5>
      <a:accent6>
        <a:srgbClr val="50E6F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Security_BrandTemplate_v10.potx" id="{FA44F287-60BB-48C7-B80C-62BD5504555E}" vid="{676AD5CD-2562-4982-A575-5107351C6BE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c2aa292-3b0f-44a8-8a5e-c6fc11361a24">
      <Terms xmlns="http://schemas.microsoft.com/office/infopath/2007/PartnerControls"/>
    </lcf76f155ced4ddcb4097134ff3c332f>
    <TaxCatchAll xmlns="be10886d-06f3-441b-bdb9-fe68a8f2954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AA11B43FA4950409950BBA4687DE51A" ma:contentTypeVersion="11" ma:contentTypeDescription="Create a new document." ma:contentTypeScope="" ma:versionID="c799b938c50c6a10b1141251a68d6589">
  <xsd:schema xmlns:xsd="http://www.w3.org/2001/XMLSchema" xmlns:xs="http://www.w3.org/2001/XMLSchema" xmlns:p="http://schemas.microsoft.com/office/2006/metadata/properties" xmlns:ns2="0c2aa292-3b0f-44a8-8a5e-c6fc11361a24" xmlns:ns3="be10886d-06f3-441b-bdb9-fe68a8f29546" targetNamespace="http://schemas.microsoft.com/office/2006/metadata/properties" ma:root="true" ma:fieldsID="552a736eb1f09e653b10128e3a43be30" ns2:_="" ns3:_="">
    <xsd:import namespace="0c2aa292-3b0f-44a8-8a5e-c6fc11361a24"/>
    <xsd:import namespace="be10886d-06f3-441b-bdb9-fe68a8f29546"/>
    <xsd:element name="properties">
      <xsd:complexType>
        <xsd:sequence>
          <xsd:element name="documentManagement">
            <xsd:complexType>
              <xsd:all>
                <xsd:element ref="ns2:MediaServiceMetadata" minOccurs="0"/>
                <xsd:element ref="ns2:MediaServiceFastMetadata"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2aa292-3b0f-44a8-8a5e-c6fc11361a2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2d7b555a-679a-465a-9bdb-504b4c18f74a" ma:termSetId="09814cd3-568e-fe90-9814-8d621ff8fb84" ma:anchorId="fba54fb3-c3e1-fe81-a776-ca4b69148c4d" ma:open="true" ma:isKeyword="false">
      <xsd:complexType>
        <xsd:sequence>
          <xsd:element ref="pc:Terms" minOccurs="0" maxOccurs="1"/>
        </xsd:sequence>
      </xsd:complex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e10886d-06f3-441b-bdb9-fe68a8f29546"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b8ae7d5b-6821-4275-b54b-53d24e84f497}" ma:internalName="TaxCatchAll" ma:showField="CatchAllData" ma:web="be10886d-06f3-441b-bdb9-fe68a8f2954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E13E817-4029-468D-AF39-4219847EFF13}">
  <ds:schemaRefs>
    <ds:schemaRef ds:uri="http://schemas.microsoft.com/office/2006/documentManagement/types"/>
    <ds:schemaRef ds:uri="http://schemas.microsoft.com/office/infopath/2007/PartnerControls"/>
    <ds:schemaRef ds:uri="http://purl.org/dc/dcmitype/"/>
    <ds:schemaRef ds:uri="http://purl.org/dc/elements/1.1/"/>
    <ds:schemaRef ds:uri="http://schemas.microsoft.com/office/2006/metadata/properties"/>
    <ds:schemaRef ds:uri="http://schemas.microsoft.com/sharepoint/v3"/>
    <ds:schemaRef ds:uri="http://www.w3.org/XML/1998/namespace"/>
    <ds:schemaRef ds:uri="378cb49b-c0f9-4e90-bdec-4d66e404561b"/>
    <ds:schemaRef ds:uri="http://schemas.openxmlformats.org/package/2006/metadata/core-properties"/>
    <ds:schemaRef ds:uri="6ed8276e-daf5-483c-9e49-9a78d9402858"/>
    <ds:schemaRef ds:uri="http://purl.org/dc/terms/"/>
    <ds:schemaRef ds:uri="0c2aa292-3b0f-44a8-8a5e-c6fc11361a24"/>
    <ds:schemaRef ds:uri="be10886d-06f3-441b-bdb9-fe68a8f29546"/>
  </ds:schemaRefs>
</ds:datastoreItem>
</file>

<file path=customXml/itemProps2.xml><?xml version="1.0" encoding="utf-8"?>
<ds:datastoreItem xmlns:ds="http://schemas.openxmlformats.org/officeDocument/2006/customXml" ds:itemID="{4A86DDD2-9D9B-42C9-BD27-A6677D3A8B64}">
  <ds:schemaRefs>
    <ds:schemaRef ds:uri="http://schemas.microsoft.com/sharepoint/v3/contenttype/forms"/>
  </ds:schemaRefs>
</ds:datastoreItem>
</file>

<file path=customXml/itemProps3.xml><?xml version="1.0" encoding="utf-8"?>
<ds:datastoreItem xmlns:ds="http://schemas.openxmlformats.org/officeDocument/2006/customXml" ds:itemID="{AA9161CD-A842-44E5-866D-7422B715C64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2aa292-3b0f-44a8-8a5e-c6fc11361a24"/>
    <ds:schemaRef ds:uri="be10886d-06f3-441b-bdb9-fe68a8f295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a7a471ca-2c4b-4a75-8ee2-a41ce8b6c322}" enabled="1" method="Privileged" siteId="{e79918f6-a69b-4b33-8166-e897131f7346}" removed="0"/>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Azure_PowerPoint_Template_Sept2018</Template>
  <TotalTime>0</TotalTime>
  <Words>2511</Words>
  <Application>Microsoft Office PowerPoint</Application>
  <PresentationFormat>Custom</PresentationFormat>
  <Paragraphs>290</Paragraphs>
  <Slides>29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Segoe UI</vt:lpstr>
      <vt:lpstr>Segoe UI Light</vt:lpstr>
      <vt:lpstr>Segoe UI Semibold</vt:lpstr>
      <vt:lpstr>Wingdings</vt:lpstr>
      <vt:lpstr>8_Microsoft Security template</vt:lpstr>
      <vt:lpstr>Secure Hybrid &amp; Multi-Cloud Environments</vt:lpstr>
      <vt:lpstr>Cloud security challenges</vt:lpstr>
      <vt:lpstr>Microsoft Defender For Cloud Cloud native application protection across clouds and on-prem environments</vt:lpstr>
      <vt:lpstr>How we’re different</vt:lpstr>
      <vt:lpstr>Make Microsoft Defender for Cloud work for you</vt:lpstr>
      <vt:lpstr>Harden and manage your Security Posture</vt:lpstr>
      <vt:lpstr>Holistic management of your security posture in the cloud </vt:lpstr>
      <vt:lpstr>The security dashboard</vt:lpstr>
      <vt:lpstr>Secure Score</vt:lpstr>
      <vt:lpstr>Compliance assessment  and management</vt:lpstr>
      <vt:lpstr>Identify sensitive data in cloud resources</vt:lpstr>
      <vt:lpstr>Detect threats and protect your workloads</vt:lpstr>
      <vt:lpstr>Protect your workloads in the cloud  and on-premises</vt:lpstr>
      <vt:lpstr>Security alerts and incidents</vt:lpstr>
      <vt:lpstr>Full-stack coverage with dedicated detections</vt:lpstr>
      <vt:lpstr>Operationalize Defender for Cloud</vt:lpstr>
      <vt:lpstr>Multi-cloud and hybrid protection</vt:lpstr>
      <vt:lpstr>Use Azure Arc to connect workloads anywhere to Microsoft Defender for Cloud</vt:lpstr>
      <vt:lpstr>Respond and automate</vt:lpstr>
      <vt:lpstr>Demo</vt:lpstr>
      <vt:lpstr>Microsoft Defender for Cloud dashboard</vt:lpstr>
      <vt:lpstr>Resource Inventory</vt:lpstr>
      <vt:lpstr>Secure Score dashboard</vt:lpstr>
      <vt:lpstr>Multicloud recommendations blade</vt:lpstr>
      <vt:lpstr>Recommendation details view</vt:lpstr>
      <vt:lpstr>Regulatory Compliance view</vt:lpstr>
      <vt:lpstr>Workload protection overview</vt:lpstr>
      <vt:lpstr>Security Alerts view</vt:lpstr>
      <vt:lpstr>Thank you!</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2022-02-10T22:15:10Z</dcterms:created>
  <dcterms:modified xsi:type="dcterms:W3CDTF">2025-06-22T15:11:37Z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0x01010057F3B3E3FC740140B408D8BF0CFAB129</vt:lpwstr>
  </property>
  <property fmtid="{D5CDD505-2E9C-101B-9397-08002B2CF9AE}" pid="3" name="MediaServiceImageTags">
    <vt:lpwstr/>
  </property>
  <property fmtid="{D5CDD505-2E9C-101B-9397-08002B2CF9AE}" pid="4" name="ClassificationContentMarkingFooterLocations">
    <vt:lpwstr>8_Microsoft Security template:6</vt:lpwstr>
  </property>
  <property fmtid="{D5CDD505-2E9C-101B-9397-08002B2CF9AE}" pid="5" name="ClassificationContentMarkingFooterText">
    <vt:lpwstr>Information Classification: Public </vt:lpwstr>
  </property>
</Properties>
</file>